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ags/tag7.xml" ContentType="application/vnd.openxmlformats-officedocument.presentationml.tags+xml"/>
  <Override PartName="/ppt/media/image9.bin" ContentType="image/jpeg"/>
  <Override PartName="/ppt/tags/tag8.xml" ContentType="application/vnd.openxmlformats-officedocument.presentationml.tags+xml"/>
  <Override PartName="/ppt/tags/tag9.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notesSlides/notesSlide1.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2.xml" ContentType="application/vnd.openxmlformats-officedocument.drawingml.chartshapes+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ags/tag16.xml" ContentType="application/vnd.openxmlformats-officedocument.presentationml.tags+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drawings/drawing3.xml" ContentType="application/vnd.openxmlformats-officedocument.drawingml.chartshapes+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drawings/drawing4.xml" ContentType="application/vnd.openxmlformats-officedocument.drawingml.chartshapes+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drawings/drawing5.xml" ContentType="application/vnd.openxmlformats-officedocument.drawingml.chartshapes+xml"/>
  <Override PartName="/ppt/tags/tag17.xml" ContentType="application/vnd.openxmlformats-officedocument.presentationml.tags+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drawings/drawing6.xml" ContentType="application/vnd.openxmlformats-officedocument.drawingml.chartshapes+xml"/>
  <Override PartName="/ppt/tags/tag18.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9.xml" ContentType="application/vnd.openxmlformats-officedocument.presentationml.tags+xml"/>
  <Override PartName="/ppt/charts/chart15.xml" ContentType="application/vnd.openxmlformats-officedocument.drawingml.chart+xml"/>
  <Override PartName="/ppt/charts/chart16.xml" ContentType="application/vnd.openxmlformats-officedocument.drawingml.chart+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charts/chart17.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8.xml" ContentType="application/vnd.openxmlformats-officedocument.drawingml.chart+xml"/>
  <Override PartName="/ppt/charts/style16.xml" ContentType="application/vnd.ms-office.chartstyle+xml"/>
  <Override PartName="/ppt/charts/colors16.xml" ContentType="application/vnd.ms-office.chartcolorstyle+xml"/>
  <Override PartName="/ppt/tags/tag30.xml" ContentType="application/vnd.openxmlformats-officedocument.presentationml.tags+xml"/>
  <Override PartName="/ppt/charts/chart19.xml" ContentType="application/vnd.openxmlformats-officedocument.drawingml.chart+xml"/>
  <Override PartName="/ppt/charts/style17.xml" ContentType="application/vnd.ms-office.chartstyle+xml"/>
  <Override PartName="/ppt/charts/colors17.xml" ContentType="application/vnd.ms-office.chartcolorstyle+xml"/>
  <Override PartName="/ppt/tags/tag31.xml" ContentType="application/vnd.openxmlformats-officedocument.presentationml.tags+xml"/>
  <Override PartName="/ppt/charts/chart20.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21.xml" ContentType="application/vnd.openxmlformats-officedocument.drawingml.chart+xml"/>
  <Override PartName="/ppt/charts/style19.xml" ContentType="application/vnd.ms-office.chartstyle+xml"/>
  <Override PartName="/ppt/charts/colors19.xml" ContentType="application/vnd.ms-office.chartcolorstyle+xml"/>
  <Override PartName="/ppt/tags/tag32.xml" ContentType="application/vnd.openxmlformats-officedocument.presentationml.tags+xml"/>
  <Override PartName="/ppt/charts/chart22.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3.xml" ContentType="application/vnd.openxmlformats-officedocument.drawingml.chart+xml"/>
  <Override PartName="/ppt/charts/style21.xml" ContentType="application/vnd.ms-office.chartstyle+xml"/>
  <Override PartName="/ppt/charts/colors21.xml" ContentType="application/vnd.ms-office.chartcolorstyle+xml"/>
  <Override PartName="/ppt/tags/tag33.xml" ContentType="application/vnd.openxmlformats-officedocument.presentationml.tags+xml"/>
  <Override PartName="/ppt/charts/chart24.xml" ContentType="application/vnd.openxmlformats-officedocument.drawingml.chart+xml"/>
  <Override PartName="/ppt/charts/style22.xml" ContentType="application/vnd.ms-office.chartstyle+xml"/>
  <Override PartName="/ppt/charts/colors22.xml" ContentType="application/vnd.ms-office.chartcolorstyl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37.xml" ContentType="application/vnd.openxmlformats-officedocument.presentationml.tags+xml"/>
  <Override PartName="/ppt/tags/tag38.xml" ContentType="application/vnd.openxmlformats-officedocument.presentationml.tags+xml"/>
  <Override PartName="/ppt/charts/chart25.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6.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7.xml" ContentType="application/vnd.openxmlformats-officedocument.drawingml.chart+xml"/>
  <Override PartName="/ppt/charts/style25.xml" ContentType="application/vnd.ms-office.chartstyle+xml"/>
  <Override PartName="/ppt/charts/colors25.xml" ContentType="application/vnd.ms-office.chartcolorstyle+xml"/>
  <Override PartName="/ppt/tags/tag39.xml" ContentType="application/vnd.openxmlformats-officedocument.presentationml.tags+xml"/>
  <Override PartName="/ppt/charts/chart28.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9.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30.xml" ContentType="application/vnd.openxmlformats-officedocument.drawingml.chart+xml"/>
  <Override PartName="/ppt/charts/style28.xml" ContentType="application/vnd.ms-office.chartstyle+xml"/>
  <Override PartName="/ppt/charts/colors28.xml" ContentType="application/vnd.ms-office.chartcolorstyle+xml"/>
  <Override PartName="/ppt/tags/tag40.xml" ContentType="application/vnd.openxmlformats-officedocument.presentationml.tags+xml"/>
  <Override PartName="/ppt/charts/chart31.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2.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3.xml" ContentType="application/vnd.openxmlformats-officedocument.drawingml.chart+xml"/>
  <Override PartName="/ppt/charts/style31.xml" ContentType="application/vnd.ms-office.chartstyle+xml"/>
  <Override PartName="/ppt/charts/colors31.xml" ContentType="application/vnd.ms-office.chartcolorstyle+xml"/>
  <Override PartName="/ppt/tags/tag41.xml" ContentType="application/vnd.openxmlformats-officedocument.presentationml.tags+xml"/>
  <Override PartName="/ppt/charts/chart34.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5.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6.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37.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38.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39.xml" ContentType="application/vnd.openxmlformats-officedocument.drawingml.chart+xml"/>
  <Override PartName="/ppt/charts/style37.xml" ContentType="application/vnd.ms-office.chartstyle+xml"/>
  <Override PartName="/ppt/charts/colors37.xml" ContentType="application/vnd.ms-office.chartcolorstyle+xml"/>
  <Override PartName="/ppt/notesSlides/notesSlide4.xml" ContentType="application/vnd.openxmlformats-officedocument.presentationml.notesSlide+xml"/>
  <Override PartName="/ppt/charts/chart40.xml" ContentType="application/vnd.openxmlformats-officedocument.drawingml.chart+xml"/>
  <Override PartName="/ppt/charts/style38.xml" ContentType="application/vnd.ms-office.chartstyle+xml"/>
  <Override PartName="/ppt/charts/colors38.xml" ContentType="application/vnd.ms-office.chartcolorstyle+xml"/>
  <Override PartName="/ppt/drawings/drawing7.xml" ContentType="application/vnd.openxmlformats-officedocument.drawingml.chartshapes+xml"/>
  <Override PartName="/ppt/charts/chart41.xml" ContentType="application/vnd.openxmlformats-officedocument.drawingml.chart+xml"/>
  <Override PartName="/ppt/charts/style39.xml" ContentType="application/vnd.ms-office.chartstyle+xml"/>
  <Override PartName="/ppt/charts/colors39.xml" ContentType="application/vnd.ms-office.chartcolorstyle+xml"/>
  <Override PartName="/ppt/tags/tag42.xml" ContentType="application/vnd.openxmlformats-officedocument.presentationml.tags+xml"/>
  <Override PartName="/ppt/tags/tag43.xml" ContentType="application/vnd.openxmlformats-officedocument.presentationml.tags+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5.xml" ContentType="application/vnd.openxmlformats-officedocument.presentationml.notesSlide+xml"/>
  <Override PartName="/ppt/charts/chart42.xml" ContentType="application/vnd.openxmlformats-officedocument.drawingml.chart+xml"/>
  <Override PartName="/ppt/charts/style40.xml" ContentType="application/vnd.ms-office.chartstyle+xml"/>
  <Override PartName="/ppt/charts/colors40.xml" ContentType="application/vnd.ms-office.chartcolorstyle+xml"/>
  <Override PartName="/ppt/charts/chart43.xml" ContentType="application/vnd.openxmlformats-officedocument.drawingml.chart+xml"/>
  <Override PartName="/ppt/charts/style41.xml" ContentType="application/vnd.ms-office.chartstyle+xml"/>
  <Override PartName="/ppt/charts/colors41.xml" ContentType="application/vnd.ms-office.chartcolorstyle+xml"/>
  <Override PartName="/ppt/theme/themeOverride1.xml" ContentType="application/vnd.openxmlformats-officedocument.themeOverride+xml"/>
  <Override PartName="/ppt/tags/tag49.xml" ContentType="application/vnd.openxmlformats-officedocument.presentationml.tags+xml"/>
  <Override PartName="/ppt/notesSlides/notesSlide6.xml" ContentType="application/vnd.openxmlformats-officedocument.presentationml.notesSlide+xml"/>
  <Override PartName="/ppt/charts/chart44.xml" ContentType="application/vnd.openxmlformats-officedocument.drawingml.chart+xml"/>
  <Override PartName="/ppt/charts/style42.xml" ContentType="application/vnd.ms-office.chartstyle+xml"/>
  <Override PartName="/ppt/charts/colors42.xml" ContentType="application/vnd.ms-office.chartcolorstyle+xml"/>
  <Override PartName="/ppt/tags/tag50.xml" ContentType="application/vnd.openxmlformats-officedocument.presentationml.tags+xml"/>
  <Override PartName="/ppt/notesSlides/notesSlide7.xml" ContentType="application/vnd.openxmlformats-officedocument.presentationml.notesSlide+xml"/>
  <Override PartName="/ppt/charts/chart45.xml" ContentType="application/vnd.openxmlformats-officedocument.drawingml.chart+xml"/>
  <Override PartName="/ppt/charts/style43.xml" ContentType="application/vnd.ms-office.chartstyle+xml"/>
  <Override PartName="/ppt/charts/colors43.xml" ContentType="application/vnd.ms-office.chartcolorstyle+xml"/>
  <Override PartName="/ppt/theme/themeOverride2.xml" ContentType="application/vnd.openxmlformats-officedocument.themeOverride+xml"/>
  <Override PartName="/ppt/charts/chart46.xml" ContentType="application/vnd.openxmlformats-officedocument.drawingml.chart+xml"/>
  <Override PartName="/ppt/charts/style44.xml" ContentType="application/vnd.ms-office.chartstyle+xml"/>
  <Override PartName="/ppt/charts/colors44.xml" ContentType="application/vnd.ms-office.chartcolorstyle+xml"/>
  <Override PartName="/ppt/theme/themeOverride3.xml" ContentType="application/vnd.openxmlformats-officedocument.themeOverride+xml"/>
  <Override PartName="/ppt/charts/chart47.xml" ContentType="application/vnd.openxmlformats-officedocument.drawingml.chart+xml"/>
  <Override PartName="/ppt/charts/style45.xml" ContentType="application/vnd.ms-office.chartstyle+xml"/>
  <Override PartName="/ppt/charts/colors45.xml" ContentType="application/vnd.ms-office.chartcolorstyle+xml"/>
  <Override PartName="/ppt/theme/themeOverride4.xml" ContentType="application/vnd.openxmlformats-officedocument.themeOverride+xml"/>
  <Override PartName="/ppt/tags/tag51.xml" ContentType="application/vnd.openxmlformats-officedocument.presentationml.tags+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tags/tag52.xml" ContentType="application/vnd.openxmlformats-officedocument.presentationml.tags+xml"/>
  <Override PartName="/ppt/notesSlides/notesSlide9.xml" ContentType="application/vnd.openxmlformats-officedocument.presentationml.notesSlide+xml"/>
  <Override PartName="/ppt/tags/tag53.xml" ContentType="application/vnd.openxmlformats-officedocument.presentationml.tags+xml"/>
  <Override PartName="/ppt/notesSlides/notesSlide10.xml" ContentType="application/vnd.openxmlformats-officedocument.presentationml.notesSlide+xml"/>
  <Override PartName="/ppt/tags/tag54.xml" ContentType="application/vnd.openxmlformats-officedocument.presentationml.tags+xml"/>
  <Override PartName="/ppt/notesSlides/notesSlide11.xml" ContentType="application/vnd.openxmlformats-officedocument.presentationml.notesSlide+xml"/>
  <Override PartName="/ppt/tags/tag55.xml" ContentType="application/vnd.openxmlformats-officedocument.presentationml.tags+xml"/>
  <Override PartName="/ppt/notesSlides/notesSlide12.xml" ContentType="application/vnd.openxmlformats-officedocument.presentationml.notesSlide+xml"/>
  <Override PartName="/ppt/tags/tag56.xml" ContentType="application/vnd.openxmlformats-officedocument.presentationml.tags+xml"/>
  <Override PartName="/ppt/notesSlides/notesSlide13.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tags/tag57.xml" ContentType="application/vnd.openxmlformats-officedocument.presentationml.tags+xml"/>
  <Override PartName="/ppt/notesSlides/notesSlide14.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tags/tag58.xml" ContentType="application/vnd.openxmlformats-officedocument.presentationml.tags+xml"/>
  <Override PartName="/ppt/tags/tag59.xml" ContentType="application/vnd.openxmlformats-officedocument.presentationml.tags+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tags/tag60.xml" ContentType="application/vnd.openxmlformats-officedocument.presentationml.tags+xml"/>
  <Override PartName="/ppt/notesSlides/notesSlide15.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19.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20.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48.xml" ContentType="application/vnd.openxmlformats-officedocument.drawingml.chart+xml"/>
  <Override PartName="/ppt/charts/style46.xml" ContentType="application/vnd.ms-office.chartstyle+xml"/>
  <Override PartName="/ppt/charts/colors46.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61.xml" ContentType="application/vnd.openxmlformats-officedocument.presentationml.tags+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charts/chart49.xml" ContentType="application/vnd.openxmlformats-officedocument.drawingml.chart+xml"/>
  <Override PartName="/ppt/charts/style47.xml" ContentType="application/vnd.ms-office.chartstyle+xml"/>
  <Override PartName="/ppt/charts/colors47.xml" ContentType="application/vnd.ms-office.chartcolorstyle+xml"/>
  <Override PartName="/ppt/charts/chart50.xml" ContentType="application/vnd.openxmlformats-officedocument.drawingml.chart+xml"/>
  <Override PartName="/ppt/charts/style48.xml" ContentType="application/vnd.ms-office.chartstyle+xml"/>
  <Override PartName="/ppt/charts/colors48.xml" ContentType="application/vnd.ms-office.chartcolorstyle+xml"/>
  <Override PartName="/ppt/tags/tag62.xml" ContentType="application/vnd.openxmlformats-officedocument.presentationml.tags+xml"/>
  <Override PartName="/ppt/notesSlides/notesSlide31.xml" ContentType="application/vnd.openxmlformats-officedocument.presentationml.notesSlide+xml"/>
  <Override PartName="/ppt/charts/chart51.xml" ContentType="application/vnd.openxmlformats-officedocument.drawingml.chart+xml"/>
  <Override PartName="/ppt/charts/style49.xml" ContentType="application/vnd.ms-office.chartstyle+xml"/>
  <Override PartName="/ppt/charts/colors49.xml" ContentType="application/vnd.ms-office.chartcolorstyle+xml"/>
  <Override PartName="/ppt/drawings/drawing8.xml" ContentType="application/vnd.openxmlformats-officedocument.drawingml.chartshapes+xml"/>
  <Override PartName="/ppt/notesSlides/notesSlide32.xml" ContentType="application/vnd.openxmlformats-officedocument.presentationml.notesSlide+xml"/>
  <Override PartName="/ppt/charts/chart52.xml" ContentType="application/vnd.openxmlformats-officedocument.drawingml.chart+xml"/>
  <Override PartName="/ppt/charts/style50.xml" ContentType="application/vnd.ms-office.chartstyle+xml"/>
  <Override PartName="/ppt/charts/colors50.xml" ContentType="application/vnd.ms-office.chartcolorstyle+xml"/>
  <Override PartName="/ppt/notesSlides/notesSlide33.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tags/tag63.xml" ContentType="application/vnd.openxmlformats-officedocument.presentationml.tags+xml"/>
  <Override PartName="/ppt/charts/chart53.xml" ContentType="application/vnd.openxmlformats-officedocument.drawingml.chart+xml"/>
  <Override PartName="/ppt/charts/style51.xml" ContentType="application/vnd.ms-office.chartstyle+xml"/>
  <Override PartName="/ppt/charts/colors51.xml" ContentType="application/vnd.ms-office.chartcolorstyle+xml"/>
  <Override PartName="/ppt/charts/chart54.xml" ContentType="application/vnd.openxmlformats-officedocument.drawingml.chart+xml"/>
  <Override PartName="/ppt/charts/style52.xml" ContentType="application/vnd.ms-office.chartstyle+xml"/>
  <Override PartName="/ppt/charts/colors52.xml" ContentType="application/vnd.ms-office.chartcolorstyl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tags/tag64.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65.xml" ContentType="application/vnd.openxmlformats-officedocument.presentationml.tags+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57" r:id="rId4"/>
    <p:sldMasterId id="2147484047" r:id="rId5"/>
  </p:sldMasterIdLst>
  <p:notesMasterIdLst>
    <p:notesMasterId r:id="rId176"/>
  </p:notesMasterIdLst>
  <p:handoutMasterIdLst>
    <p:handoutMasterId r:id="rId177"/>
  </p:handoutMasterIdLst>
  <p:sldIdLst>
    <p:sldId id="954" r:id="rId6"/>
    <p:sldId id="3969" r:id="rId7"/>
    <p:sldId id="3970" r:id="rId8"/>
    <p:sldId id="3991" r:id="rId9"/>
    <p:sldId id="4009" r:id="rId10"/>
    <p:sldId id="3973" r:id="rId11"/>
    <p:sldId id="12748" r:id="rId12"/>
    <p:sldId id="3995" r:id="rId13"/>
    <p:sldId id="3981" r:id="rId14"/>
    <p:sldId id="4033" r:id="rId15"/>
    <p:sldId id="3987" r:id="rId16"/>
    <p:sldId id="6261" r:id="rId17"/>
    <p:sldId id="3984" r:id="rId18"/>
    <p:sldId id="3996" r:id="rId19"/>
    <p:sldId id="3985" r:id="rId20"/>
    <p:sldId id="3989" r:id="rId21"/>
    <p:sldId id="3999" r:id="rId22"/>
    <p:sldId id="4000" r:id="rId23"/>
    <p:sldId id="4005" r:id="rId24"/>
    <p:sldId id="4001" r:id="rId25"/>
    <p:sldId id="6208" r:id="rId26"/>
    <p:sldId id="6267" r:id="rId27"/>
    <p:sldId id="6214" r:id="rId28"/>
    <p:sldId id="4019" r:id="rId29"/>
    <p:sldId id="4021" r:id="rId30"/>
    <p:sldId id="6129" r:id="rId31"/>
    <p:sldId id="6133" r:id="rId32"/>
    <p:sldId id="6132" r:id="rId33"/>
    <p:sldId id="6134" r:id="rId34"/>
    <p:sldId id="6139" r:id="rId35"/>
    <p:sldId id="6219" r:id="rId36"/>
    <p:sldId id="3994" r:id="rId37"/>
    <p:sldId id="4106" r:id="rId38"/>
    <p:sldId id="4105" r:id="rId39"/>
    <p:sldId id="4096" r:id="rId40"/>
    <p:sldId id="6235" r:id="rId41"/>
    <p:sldId id="6236" r:id="rId42"/>
    <p:sldId id="6237" r:id="rId43"/>
    <p:sldId id="6221" r:id="rId44"/>
    <p:sldId id="6222" r:id="rId45"/>
    <p:sldId id="6225" r:id="rId46"/>
    <p:sldId id="6223" r:id="rId47"/>
    <p:sldId id="6224" r:id="rId48"/>
    <p:sldId id="4010" r:id="rId49"/>
    <p:sldId id="4023" r:id="rId50"/>
    <p:sldId id="4024" r:id="rId51"/>
    <p:sldId id="4025" r:id="rId52"/>
    <p:sldId id="4026" r:id="rId53"/>
    <p:sldId id="4027" r:id="rId54"/>
    <p:sldId id="4028" r:id="rId55"/>
    <p:sldId id="4029" r:id="rId56"/>
    <p:sldId id="4006" r:id="rId57"/>
    <p:sldId id="4007" r:id="rId58"/>
    <p:sldId id="4011" r:id="rId59"/>
    <p:sldId id="4008" r:id="rId60"/>
    <p:sldId id="4030" r:id="rId61"/>
    <p:sldId id="4031" r:id="rId62"/>
    <p:sldId id="4032" r:id="rId63"/>
    <p:sldId id="4015" r:id="rId64"/>
    <p:sldId id="3964" r:id="rId65"/>
    <p:sldId id="6269" r:id="rId66"/>
    <p:sldId id="6270" r:id="rId67"/>
    <p:sldId id="6271" r:id="rId68"/>
    <p:sldId id="4082" r:id="rId69"/>
    <p:sldId id="6272" r:id="rId70"/>
    <p:sldId id="12772" r:id="rId71"/>
    <p:sldId id="12773" r:id="rId72"/>
    <p:sldId id="12774" r:id="rId73"/>
    <p:sldId id="12775" r:id="rId74"/>
    <p:sldId id="12776" r:id="rId75"/>
    <p:sldId id="4016" r:id="rId76"/>
    <p:sldId id="3990" r:id="rId77"/>
    <p:sldId id="6262" r:id="rId78"/>
    <p:sldId id="3992" r:id="rId79"/>
    <p:sldId id="3993" r:id="rId80"/>
    <p:sldId id="6205" r:id="rId81"/>
    <p:sldId id="6240" r:id="rId82"/>
    <p:sldId id="12754" r:id="rId83"/>
    <p:sldId id="6242" r:id="rId84"/>
    <p:sldId id="6217" r:id="rId85"/>
    <p:sldId id="6218" r:id="rId86"/>
    <p:sldId id="4089" r:id="rId87"/>
    <p:sldId id="12755" r:id="rId88"/>
    <p:sldId id="6239" r:id="rId89"/>
    <p:sldId id="12768" r:id="rId90"/>
    <p:sldId id="4014" r:id="rId91"/>
    <p:sldId id="6258" r:id="rId92"/>
    <p:sldId id="6227" r:id="rId93"/>
    <p:sldId id="6241" r:id="rId94"/>
    <p:sldId id="6155" r:id="rId95"/>
    <p:sldId id="6259" r:id="rId96"/>
    <p:sldId id="6252" r:id="rId97"/>
    <p:sldId id="6253" r:id="rId98"/>
    <p:sldId id="6254" r:id="rId99"/>
    <p:sldId id="6255" r:id="rId100"/>
    <p:sldId id="6256" r:id="rId101"/>
    <p:sldId id="6257" r:id="rId102"/>
    <p:sldId id="4012" r:id="rId103"/>
    <p:sldId id="4034" r:id="rId104"/>
    <p:sldId id="6245" r:id="rId105"/>
    <p:sldId id="6246" r:id="rId106"/>
    <p:sldId id="6275" r:id="rId107"/>
    <p:sldId id="258" r:id="rId108"/>
    <p:sldId id="260" r:id="rId109"/>
    <p:sldId id="261" r:id="rId110"/>
    <p:sldId id="262" r:id="rId111"/>
    <p:sldId id="263" r:id="rId112"/>
    <p:sldId id="267" r:id="rId113"/>
    <p:sldId id="4041" r:id="rId114"/>
    <p:sldId id="4036" r:id="rId115"/>
    <p:sldId id="4038" r:id="rId116"/>
    <p:sldId id="6280" r:id="rId117"/>
    <p:sldId id="6247" r:id="rId118"/>
    <p:sldId id="6248" r:id="rId119"/>
    <p:sldId id="4035" r:id="rId120"/>
    <p:sldId id="12777" r:id="rId121"/>
    <p:sldId id="12778" r:id="rId122"/>
    <p:sldId id="6244" r:id="rId123"/>
    <p:sldId id="12758" r:id="rId124"/>
    <p:sldId id="12759" r:id="rId125"/>
    <p:sldId id="6281" r:id="rId126"/>
    <p:sldId id="6283" r:id="rId127"/>
    <p:sldId id="6230" r:id="rId128"/>
    <p:sldId id="12760" r:id="rId129"/>
    <p:sldId id="4240" r:id="rId130"/>
    <p:sldId id="673" r:id="rId131"/>
    <p:sldId id="12747" r:id="rId132"/>
    <p:sldId id="4241" r:id="rId133"/>
    <p:sldId id="4239" r:id="rId134"/>
    <p:sldId id="4245" r:id="rId135"/>
    <p:sldId id="4261" r:id="rId136"/>
    <p:sldId id="4246" r:id="rId137"/>
    <p:sldId id="4250" r:id="rId138"/>
    <p:sldId id="4264" r:id="rId139"/>
    <p:sldId id="4248" r:id="rId140"/>
    <p:sldId id="4262" r:id="rId141"/>
    <p:sldId id="4252" r:id="rId142"/>
    <p:sldId id="4263" r:id="rId143"/>
    <p:sldId id="4255" r:id="rId144"/>
    <p:sldId id="4256" r:id="rId145"/>
    <p:sldId id="4257" r:id="rId146"/>
    <p:sldId id="4258" r:id="rId147"/>
    <p:sldId id="12749" r:id="rId148"/>
    <p:sldId id="12761" r:id="rId149"/>
    <p:sldId id="12762" r:id="rId150"/>
    <p:sldId id="12763" r:id="rId151"/>
    <p:sldId id="12764" r:id="rId152"/>
    <p:sldId id="12765" r:id="rId153"/>
    <p:sldId id="12766" r:id="rId154"/>
    <p:sldId id="12767" r:id="rId155"/>
    <p:sldId id="6273" r:id="rId156"/>
    <p:sldId id="6274" r:id="rId157"/>
    <p:sldId id="12769" r:id="rId158"/>
    <p:sldId id="6179" r:id="rId159"/>
    <p:sldId id="12771" r:id="rId160"/>
    <p:sldId id="6180" r:id="rId161"/>
    <p:sldId id="12770" r:id="rId162"/>
    <p:sldId id="6203" r:id="rId163"/>
    <p:sldId id="6182" r:id="rId164"/>
    <p:sldId id="6183" r:id="rId165"/>
    <p:sldId id="6184" r:id="rId166"/>
    <p:sldId id="12756" r:id="rId167"/>
    <p:sldId id="12753" r:id="rId168"/>
    <p:sldId id="286" r:id="rId169"/>
    <p:sldId id="402" r:id="rId170"/>
    <p:sldId id="414" r:id="rId171"/>
    <p:sldId id="415" r:id="rId172"/>
    <p:sldId id="324" r:id="rId173"/>
    <p:sldId id="326" r:id="rId174"/>
    <p:sldId id="512" r:id="rId175"/>
  </p:sldIdLst>
  <p:sldSz cx="12192000" cy="6858000"/>
  <p:notesSz cx="7315200" cy="9601200"/>
  <p:custDataLst>
    <p:tags r:id="rId178"/>
  </p:custDataLst>
  <p:defaultTextStyle>
    <a:defPPr>
      <a:defRPr lang="en-US"/>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2" algn="l" defTabSz="914342" rtl="0" eaLnBrk="1" latinLnBrk="0" hangingPunct="1">
      <a:defRPr sz="1800" kern="1200">
        <a:solidFill>
          <a:schemeClr val="tx1"/>
        </a:solidFill>
        <a:latin typeface="+mn-lt"/>
        <a:ea typeface="+mn-ea"/>
        <a:cs typeface="+mn-cs"/>
      </a:defRPr>
    </a:lvl4pPr>
    <a:lvl5pPr marL="1828683" algn="l" defTabSz="914342" rtl="0" eaLnBrk="1" latinLnBrk="0" hangingPunct="1">
      <a:defRPr sz="1800" kern="1200">
        <a:solidFill>
          <a:schemeClr val="tx1"/>
        </a:solidFill>
        <a:latin typeface="+mn-lt"/>
        <a:ea typeface="+mn-ea"/>
        <a:cs typeface="+mn-cs"/>
      </a:defRPr>
    </a:lvl5pPr>
    <a:lvl6pPr marL="2285854" algn="l" defTabSz="914342" rtl="0" eaLnBrk="1" latinLnBrk="0" hangingPunct="1">
      <a:defRPr sz="1800" kern="1200">
        <a:solidFill>
          <a:schemeClr val="tx1"/>
        </a:solidFill>
        <a:latin typeface="+mn-lt"/>
        <a:ea typeface="+mn-ea"/>
        <a:cs typeface="+mn-cs"/>
      </a:defRPr>
    </a:lvl6pPr>
    <a:lvl7pPr marL="2743025" algn="l" defTabSz="914342" rtl="0" eaLnBrk="1" latinLnBrk="0" hangingPunct="1">
      <a:defRPr sz="1800" kern="1200">
        <a:solidFill>
          <a:schemeClr val="tx1"/>
        </a:solidFill>
        <a:latin typeface="+mn-lt"/>
        <a:ea typeface="+mn-ea"/>
        <a:cs typeface="+mn-cs"/>
      </a:defRPr>
    </a:lvl7pPr>
    <a:lvl8pPr marL="3200195" algn="l" defTabSz="914342" rtl="0" eaLnBrk="1" latinLnBrk="0" hangingPunct="1">
      <a:defRPr sz="1800" kern="1200">
        <a:solidFill>
          <a:schemeClr val="tx1"/>
        </a:solidFill>
        <a:latin typeface="+mn-lt"/>
        <a:ea typeface="+mn-ea"/>
        <a:cs typeface="+mn-cs"/>
      </a:defRPr>
    </a:lvl8pPr>
    <a:lvl9pPr marL="3657366" algn="l" defTabSz="9143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userDrawn="1">
          <p15:clr>
            <a:srgbClr val="A4A3A4"/>
          </p15:clr>
        </p15:guide>
        <p15:guide id="11" orient="horz" pos="216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Singh, Sunny" initials="SS" lastIdx="3" clrIdx="6">
    <p:extLst>
      <p:ext uri="{19B8F6BF-5375-455C-9EA6-DF929625EA0E}">
        <p15:presenceInfo xmlns:p15="http://schemas.microsoft.com/office/powerpoint/2012/main" userId="S::ssingh4@deloitte.com::6823f1f4-71ba-4b00-ab83-ce4ca41a9632" providerId="AD"/>
      </p:ext>
    </p:extLst>
  </p:cmAuthor>
  <p:cmAuthor id="1" name="Salunkhe, Nikhil" initials="SN" lastIdx="1" clrIdx="0">
    <p:extLst>
      <p:ext uri="{19B8F6BF-5375-455C-9EA6-DF929625EA0E}">
        <p15:presenceInfo xmlns:p15="http://schemas.microsoft.com/office/powerpoint/2012/main" userId="S-1-5-21-776561741-1482476501-682003330-1288395" providerId="AD"/>
      </p:ext>
    </p:extLst>
  </p:cmAuthor>
  <p:cmAuthor id="8" name="Sinha, Arnab Kumar" initials="SAK" lastIdx="33" clrIdx="7">
    <p:extLst>
      <p:ext uri="{19B8F6BF-5375-455C-9EA6-DF929625EA0E}">
        <p15:presenceInfo xmlns:p15="http://schemas.microsoft.com/office/powerpoint/2012/main" userId="S::arsinha@deloitte.com::26f61651-58d7-4dc5-8c8d-da0f572e244d" providerId="AD"/>
      </p:ext>
    </p:extLst>
  </p:cmAuthor>
  <p:cmAuthor id="2" name="Banerjee, Sayantan" initials="BS" lastIdx="22" clrIdx="1">
    <p:extLst>
      <p:ext uri="{19B8F6BF-5375-455C-9EA6-DF929625EA0E}">
        <p15:presenceInfo xmlns:p15="http://schemas.microsoft.com/office/powerpoint/2012/main" userId="S::bsayantan@deloitte.com::29b1bc15-6d12-4f6e-8f06-28f0a453772b" providerId="AD"/>
      </p:ext>
    </p:extLst>
  </p:cmAuthor>
  <p:cmAuthor id="9" name="Banerjee, Rajeswar" initials="BR" lastIdx="11" clrIdx="8">
    <p:extLst>
      <p:ext uri="{19B8F6BF-5375-455C-9EA6-DF929625EA0E}">
        <p15:presenceInfo xmlns:p15="http://schemas.microsoft.com/office/powerpoint/2012/main" userId="S::rajbanerjee@deloitte.com::b4ff5a26-7e17-4c5f-975b-d63f3f91df5b" providerId="AD"/>
      </p:ext>
    </p:extLst>
  </p:cmAuthor>
  <p:cmAuthor id="3" name="Thomas, Emil" initials="TE" lastIdx="1" clrIdx="2">
    <p:extLst>
      <p:ext uri="{19B8F6BF-5375-455C-9EA6-DF929625EA0E}">
        <p15:presenceInfo xmlns:p15="http://schemas.microsoft.com/office/powerpoint/2012/main" userId="S::emthomas@deloitte.com::0406af67-e0e6-4502-b2cb-f66bed26e767" providerId="AD"/>
      </p:ext>
    </p:extLst>
  </p:cmAuthor>
  <p:cmAuthor id="4" name="Mani, Siddharth" initials="MS" lastIdx="17" clrIdx="3">
    <p:extLst>
      <p:ext uri="{19B8F6BF-5375-455C-9EA6-DF929625EA0E}">
        <p15:presenceInfo xmlns:p15="http://schemas.microsoft.com/office/powerpoint/2012/main" userId="S::simani@deloitte.com::ea703a10-db50-4df5-bf72-1a564ac3e541" providerId="AD"/>
      </p:ext>
    </p:extLst>
  </p:cmAuthor>
  <p:cmAuthor id="5" name="Bandyopadhyay, Anirban P" initials="BAP" lastIdx="31" clrIdx="4">
    <p:extLst>
      <p:ext uri="{19B8F6BF-5375-455C-9EA6-DF929625EA0E}">
        <p15:presenceInfo xmlns:p15="http://schemas.microsoft.com/office/powerpoint/2012/main" userId="S::anirbanb@deloitte.com::5d0adf87-8cda-4e85-a1f7-eed3388fbcac" providerId="AD"/>
      </p:ext>
    </p:extLst>
  </p:cmAuthor>
  <p:cmAuthor id="6" name="Halan, Mridul" initials="HM" lastIdx="20" clrIdx="5">
    <p:extLst>
      <p:ext uri="{19B8F6BF-5375-455C-9EA6-DF929625EA0E}">
        <p15:presenceInfo xmlns:p15="http://schemas.microsoft.com/office/powerpoint/2012/main" userId="S::mhalan@deloitte.com::d8402aca-56b7-4a75-97f5-504434d76ce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FB000"/>
    <a:srgbClr val="007CB0"/>
    <a:srgbClr val="86BC25"/>
    <a:srgbClr val="0D8390"/>
    <a:srgbClr val="9CAC00"/>
    <a:srgbClr val="648D1C"/>
    <a:srgbClr val="009A44"/>
    <a:srgbClr val="26890D"/>
    <a:srgbClr val="7F7F7F"/>
    <a:srgbClr val="BAD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82" autoAdjust="0"/>
    <p:restoredTop sz="93438" autoAdjust="0"/>
  </p:normalViewPr>
  <p:slideViewPr>
    <p:cSldViewPr snapToGrid="0" showGuides="1">
      <p:cViewPr>
        <p:scale>
          <a:sx n="60" d="100"/>
          <a:sy n="60" d="100"/>
        </p:scale>
        <p:origin x="964" y="100"/>
      </p:cViewPr>
      <p:guideLst>
        <p:guide/>
        <p:guide orient="horz" pos="2160"/>
      </p:guideLst>
    </p:cSldViewPr>
  </p:slideViewPr>
  <p:outlineViewPr>
    <p:cViewPr>
      <p:scale>
        <a:sx n="33" d="100"/>
        <a:sy n="33" d="100"/>
      </p:scale>
      <p:origin x="0" y="-59190"/>
    </p:cViewPr>
  </p:outlineViewPr>
  <p:notesTextViewPr>
    <p:cViewPr>
      <p:scale>
        <a:sx n="100" d="100"/>
        <a:sy n="100" d="100"/>
      </p:scale>
      <p:origin x="0" y="0"/>
    </p:cViewPr>
  </p:notesTextViewPr>
  <p:sorterViewPr>
    <p:cViewPr varScale="1">
      <p:scale>
        <a:sx n="1" d="1"/>
        <a:sy n="1" d="1"/>
      </p:scale>
      <p:origin x="0" y="0"/>
    </p:cViewPr>
  </p:sorterViewPr>
  <p:notesViewPr>
    <p:cSldViewPr snapToGrid="0" showGuides="1">
      <p:cViewPr varScale="1">
        <p:scale>
          <a:sx n="57" d="100"/>
          <a:sy n="57" d="100"/>
        </p:scale>
        <p:origin x="199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63" Type="http://schemas.openxmlformats.org/officeDocument/2006/relationships/slide" Target="slides/slide58.xml"/><Relationship Id="rId84" Type="http://schemas.openxmlformats.org/officeDocument/2006/relationships/slide" Target="slides/slide79.xml"/><Relationship Id="rId138" Type="http://schemas.openxmlformats.org/officeDocument/2006/relationships/slide" Target="slides/slide133.xml"/><Relationship Id="rId159" Type="http://schemas.openxmlformats.org/officeDocument/2006/relationships/slide" Target="slides/slide154.xml"/><Relationship Id="rId170" Type="http://schemas.openxmlformats.org/officeDocument/2006/relationships/slide" Target="slides/slide165.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53" Type="http://schemas.openxmlformats.org/officeDocument/2006/relationships/slide" Target="slides/slide48.xml"/><Relationship Id="rId74" Type="http://schemas.openxmlformats.org/officeDocument/2006/relationships/slide" Target="slides/slide69.xml"/><Relationship Id="rId128" Type="http://schemas.openxmlformats.org/officeDocument/2006/relationships/slide" Target="slides/slide123.xml"/><Relationship Id="rId149" Type="http://schemas.openxmlformats.org/officeDocument/2006/relationships/slide" Target="slides/slide144.xml"/><Relationship Id="rId5" Type="http://schemas.openxmlformats.org/officeDocument/2006/relationships/slideMaster" Target="slideMasters/slideMaster2.xml"/><Relationship Id="rId95" Type="http://schemas.openxmlformats.org/officeDocument/2006/relationships/slide" Target="slides/slide90.xml"/><Relationship Id="rId160" Type="http://schemas.openxmlformats.org/officeDocument/2006/relationships/slide" Target="slides/slide155.xml"/><Relationship Id="rId181" Type="http://schemas.openxmlformats.org/officeDocument/2006/relationships/viewProps" Target="viewProps.xml"/><Relationship Id="rId22" Type="http://schemas.openxmlformats.org/officeDocument/2006/relationships/slide" Target="slides/slide17.xml"/><Relationship Id="rId43" Type="http://schemas.openxmlformats.org/officeDocument/2006/relationships/slide" Target="slides/slide38.xml"/><Relationship Id="rId64" Type="http://schemas.openxmlformats.org/officeDocument/2006/relationships/slide" Target="slides/slide59.xml"/><Relationship Id="rId118" Type="http://schemas.openxmlformats.org/officeDocument/2006/relationships/slide" Target="slides/slide113.xml"/><Relationship Id="rId139" Type="http://schemas.openxmlformats.org/officeDocument/2006/relationships/slide" Target="slides/slide134.xml"/><Relationship Id="rId85" Type="http://schemas.openxmlformats.org/officeDocument/2006/relationships/slide" Target="slides/slide80.xml"/><Relationship Id="rId150" Type="http://schemas.openxmlformats.org/officeDocument/2006/relationships/slide" Target="slides/slide145.xml"/><Relationship Id="rId171" Type="http://schemas.openxmlformats.org/officeDocument/2006/relationships/slide" Target="slides/slide166.xml"/><Relationship Id="rId12" Type="http://schemas.openxmlformats.org/officeDocument/2006/relationships/slide" Target="slides/slide7.xml"/><Relationship Id="rId33" Type="http://schemas.openxmlformats.org/officeDocument/2006/relationships/slide" Target="slides/slide28.xml"/><Relationship Id="rId108" Type="http://schemas.openxmlformats.org/officeDocument/2006/relationships/slide" Target="slides/slide103.xml"/><Relationship Id="rId129" Type="http://schemas.openxmlformats.org/officeDocument/2006/relationships/slide" Target="slides/slide124.xml"/><Relationship Id="rId54" Type="http://schemas.openxmlformats.org/officeDocument/2006/relationships/slide" Target="slides/slide49.xml"/><Relationship Id="rId75" Type="http://schemas.openxmlformats.org/officeDocument/2006/relationships/slide" Target="slides/slide70.xml"/><Relationship Id="rId96" Type="http://schemas.openxmlformats.org/officeDocument/2006/relationships/slide" Target="slides/slide91.xml"/><Relationship Id="rId140" Type="http://schemas.openxmlformats.org/officeDocument/2006/relationships/slide" Target="slides/slide135.xml"/><Relationship Id="rId161" Type="http://schemas.openxmlformats.org/officeDocument/2006/relationships/slide" Target="slides/slide156.xml"/><Relationship Id="rId182" Type="http://schemas.openxmlformats.org/officeDocument/2006/relationships/theme" Target="theme/theme1.xml"/><Relationship Id="rId6" Type="http://schemas.openxmlformats.org/officeDocument/2006/relationships/slide" Target="slides/slide1.xml"/><Relationship Id="rId23" Type="http://schemas.openxmlformats.org/officeDocument/2006/relationships/slide" Target="slides/slide18.xml"/><Relationship Id="rId119" Type="http://schemas.openxmlformats.org/officeDocument/2006/relationships/slide" Target="slides/slide114.xml"/><Relationship Id="rId44" Type="http://schemas.openxmlformats.org/officeDocument/2006/relationships/slide" Target="slides/slide39.xml"/><Relationship Id="rId60" Type="http://schemas.openxmlformats.org/officeDocument/2006/relationships/slide" Target="slides/slide55.xml"/><Relationship Id="rId65" Type="http://schemas.openxmlformats.org/officeDocument/2006/relationships/slide" Target="slides/slide60.xml"/><Relationship Id="rId81" Type="http://schemas.openxmlformats.org/officeDocument/2006/relationships/slide" Target="slides/slide76.xml"/><Relationship Id="rId86" Type="http://schemas.openxmlformats.org/officeDocument/2006/relationships/slide" Target="slides/slide81.xml"/><Relationship Id="rId130" Type="http://schemas.openxmlformats.org/officeDocument/2006/relationships/slide" Target="slides/slide125.xml"/><Relationship Id="rId135" Type="http://schemas.openxmlformats.org/officeDocument/2006/relationships/slide" Target="slides/slide130.xml"/><Relationship Id="rId151" Type="http://schemas.openxmlformats.org/officeDocument/2006/relationships/slide" Target="slides/slide146.xml"/><Relationship Id="rId156" Type="http://schemas.openxmlformats.org/officeDocument/2006/relationships/slide" Target="slides/slide151.xml"/><Relationship Id="rId177" Type="http://schemas.openxmlformats.org/officeDocument/2006/relationships/handoutMaster" Target="handoutMasters/handoutMaster1.xml"/><Relationship Id="rId172" Type="http://schemas.openxmlformats.org/officeDocument/2006/relationships/slide" Target="slides/slide167.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141" Type="http://schemas.openxmlformats.org/officeDocument/2006/relationships/slide" Target="slides/slide136.xml"/><Relationship Id="rId146" Type="http://schemas.openxmlformats.org/officeDocument/2006/relationships/slide" Target="slides/slide141.xml"/><Relationship Id="rId167" Type="http://schemas.openxmlformats.org/officeDocument/2006/relationships/slide" Target="slides/slide162.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162" Type="http://schemas.openxmlformats.org/officeDocument/2006/relationships/slide" Target="slides/slide157.xml"/><Relationship Id="rId183"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slide" Target="slides/slide126.xml"/><Relationship Id="rId136" Type="http://schemas.openxmlformats.org/officeDocument/2006/relationships/slide" Target="slides/slide131.xml"/><Relationship Id="rId157" Type="http://schemas.openxmlformats.org/officeDocument/2006/relationships/slide" Target="slides/slide152.xml"/><Relationship Id="rId178" Type="http://schemas.openxmlformats.org/officeDocument/2006/relationships/tags" Target="tags/tag1.xml"/><Relationship Id="rId61" Type="http://schemas.openxmlformats.org/officeDocument/2006/relationships/slide" Target="slides/slide56.xml"/><Relationship Id="rId82" Type="http://schemas.openxmlformats.org/officeDocument/2006/relationships/slide" Target="slides/slide77.xml"/><Relationship Id="rId152" Type="http://schemas.openxmlformats.org/officeDocument/2006/relationships/slide" Target="slides/slide147.xml"/><Relationship Id="rId173" Type="http://schemas.openxmlformats.org/officeDocument/2006/relationships/slide" Target="slides/slide168.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168" Type="http://schemas.openxmlformats.org/officeDocument/2006/relationships/slide" Target="slides/slide163.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163" Type="http://schemas.openxmlformats.org/officeDocument/2006/relationships/slide" Target="slides/slide158.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slide" Target="slides/slide132.xml"/><Relationship Id="rId158" Type="http://schemas.openxmlformats.org/officeDocument/2006/relationships/slide" Target="slides/slide153.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3" Type="http://schemas.openxmlformats.org/officeDocument/2006/relationships/slide" Target="slides/slide148.xml"/><Relationship Id="rId174" Type="http://schemas.openxmlformats.org/officeDocument/2006/relationships/slide" Target="slides/slide169.xml"/><Relationship Id="rId179" Type="http://schemas.openxmlformats.org/officeDocument/2006/relationships/commentAuthors" Target="commentAuthors.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openxmlformats.org/officeDocument/2006/relationships/slide" Target="slides/slide138.xml"/><Relationship Id="rId148" Type="http://schemas.openxmlformats.org/officeDocument/2006/relationships/slide" Target="slides/slide143.xml"/><Relationship Id="rId164" Type="http://schemas.openxmlformats.org/officeDocument/2006/relationships/slide" Target="slides/slide159.xml"/><Relationship Id="rId169" Type="http://schemas.openxmlformats.org/officeDocument/2006/relationships/slide" Target="slides/slide164.xml"/><Relationship Id="rId4" Type="http://schemas.openxmlformats.org/officeDocument/2006/relationships/slideMaster" Target="slideMasters/slideMaster1.xml"/><Relationship Id="rId9" Type="http://schemas.openxmlformats.org/officeDocument/2006/relationships/slide" Target="slides/slide4.xml"/><Relationship Id="rId180" Type="http://schemas.openxmlformats.org/officeDocument/2006/relationships/presProps" Target="presProps.xml"/><Relationship Id="rId26" Type="http://schemas.openxmlformats.org/officeDocument/2006/relationships/slide" Target="slides/slide21.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54" Type="http://schemas.openxmlformats.org/officeDocument/2006/relationships/slide" Target="slides/slide149.xml"/><Relationship Id="rId175" Type="http://schemas.openxmlformats.org/officeDocument/2006/relationships/slide" Target="slides/slide170.xml"/><Relationship Id="rId16" Type="http://schemas.openxmlformats.org/officeDocument/2006/relationships/slide" Target="slides/slide11.xml"/><Relationship Id="rId37" Type="http://schemas.openxmlformats.org/officeDocument/2006/relationships/slide" Target="slides/slide32.xml"/><Relationship Id="rId58" Type="http://schemas.openxmlformats.org/officeDocument/2006/relationships/slide" Target="slides/slide53.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44" Type="http://schemas.openxmlformats.org/officeDocument/2006/relationships/slide" Target="slides/slide139.xml"/><Relationship Id="rId90" Type="http://schemas.openxmlformats.org/officeDocument/2006/relationships/slide" Target="slides/slide85.xml"/><Relationship Id="rId165" Type="http://schemas.openxmlformats.org/officeDocument/2006/relationships/slide" Target="slides/slide160.xml"/><Relationship Id="rId27" Type="http://schemas.openxmlformats.org/officeDocument/2006/relationships/slide" Target="slides/slide22.xml"/><Relationship Id="rId48" Type="http://schemas.openxmlformats.org/officeDocument/2006/relationships/slide" Target="slides/slide43.xml"/><Relationship Id="rId69" Type="http://schemas.openxmlformats.org/officeDocument/2006/relationships/slide" Target="slides/slide64.xml"/><Relationship Id="rId113" Type="http://schemas.openxmlformats.org/officeDocument/2006/relationships/slide" Target="slides/slide108.xml"/><Relationship Id="rId134" Type="http://schemas.openxmlformats.org/officeDocument/2006/relationships/slide" Target="slides/slide129.xml"/><Relationship Id="rId80" Type="http://schemas.openxmlformats.org/officeDocument/2006/relationships/slide" Target="slides/slide75.xml"/><Relationship Id="rId155" Type="http://schemas.openxmlformats.org/officeDocument/2006/relationships/slide" Target="slides/slide150.xml"/><Relationship Id="rId176" Type="http://schemas.openxmlformats.org/officeDocument/2006/relationships/notesMaster" Target="notesMasters/notesMaster1.xml"/><Relationship Id="rId17" Type="http://schemas.openxmlformats.org/officeDocument/2006/relationships/slide" Target="slides/slide12.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24" Type="http://schemas.openxmlformats.org/officeDocument/2006/relationships/slide" Target="slides/slide119.xml"/><Relationship Id="rId70" Type="http://schemas.openxmlformats.org/officeDocument/2006/relationships/slide" Target="slides/slide65.xml"/><Relationship Id="rId91" Type="http://schemas.openxmlformats.org/officeDocument/2006/relationships/slide" Target="slides/slide86.xml"/><Relationship Id="rId145" Type="http://schemas.openxmlformats.org/officeDocument/2006/relationships/slide" Target="slides/slide140.xml"/><Relationship Id="rId166" Type="http://schemas.openxmlformats.org/officeDocument/2006/relationships/slide" Target="slides/slide161.xml"/><Relationship Id="rId1" Type="http://schemas.openxmlformats.org/officeDocument/2006/relationships/customXml" Target="../customXml/item1.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2.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chartUserShapes" Target="../drawings/drawing3.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chartUserShapes" Target="../drawings/drawing4.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 Id="rId4" Type="http://schemas.openxmlformats.org/officeDocument/2006/relationships/chartUserShapes" Target="../drawings/drawing5.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 Id="rId4" Type="http://schemas.openxmlformats.org/officeDocument/2006/relationships/chartUserShapes" Target="../drawings/drawing6.xml"/></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5.xml"/><Relationship Id="rId1" Type="http://schemas.microsoft.com/office/2011/relationships/chartStyle" Target="style15.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6.xml"/><Relationship Id="rId1" Type="http://schemas.microsoft.com/office/2011/relationships/chartStyle" Target="style16.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7.xml"/><Relationship Id="rId1" Type="http://schemas.microsoft.com/office/2011/relationships/chartStyle" Target="style17.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18.xml"/><Relationship Id="rId1" Type="http://schemas.microsoft.com/office/2011/relationships/chartStyle" Target="style18.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19.xml"/><Relationship Id="rId1" Type="http://schemas.microsoft.com/office/2011/relationships/chartStyle" Target="style19.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0.xml"/><Relationship Id="rId1" Type="http://schemas.microsoft.com/office/2011/relationships/chartStyle" Target="style20.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1.xml"/><Relationship Id="rId1" Type="http://schemas.microsoft.com/office/2011/relationships/chartStyle" Target="style21.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2.xml"/><Relationship Id="rId1" Type="http://schemas.microsoft.com/office/2011/relationships/chartStyle" Target="style22.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3.xml"/><Relationship Id="rId1" Type="http://schemas.microsoft.com/office/2011/relationships/chartStyle" Target="style23.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4.xml"/><Relationship Id="rId1" Type="http://schemas.microsoft.com/office/2011/relationships/chartStyle" Target="style24.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5.xml"/><Relationship Id="rId1" Type="http://schemas.microsoft.com/office/2011/relationships/chartStyle" Target="style25.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6.xml"/><Relationship Id="rId1" Type="http://schemas.microsoft.com/office/2011/relationships/chartStyle" Target="style26.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7.xml"/><Relationship Id="rId1" Type="http://schemas.microsoft.com/office/2011/relationships/chartStyle" Target="style27.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28.xml"/><Relationship Id="rId1" Type="http://schemas.microsoft.com/office/2011/relationships/chartStyle" Target="style28.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29.xml"/><Relationship Id="rId1" Type="http://schemas.microsoft.com/office/2011/relationships/chartStyle" Target="style29.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31.xlsx"/><Relationship Id="rId2" Type="http://schemas.microsoft.com/office/2011/relationships/chartColorStyle" Target="colors30.xml"/><Relationship Id="rId1" Type="http://schemas.microsoft.com/office/2011/relationships/chartStyle" Target="style30.xml"/></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31.xml"/><Relationship Id="rId1" Type="http://schemas.microsoft.com/office/2011/relationships/chartStyle" Target="style31.xm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33.xlsx"/><Relationship Id="rId2" Type="http://schemas.microsoft.com/office/2011/relationships/chartColorStyle" Target="colors32.xml"/><Relationship Id="rId1" Type="http://schemas.microsoft.com/office/2011/relationships/chartStyle" Target="style32.xml"/></Relationships>
</file>

<file path=ppt/charts/_rels/chart35.xml.rels><?xml version="1.0" encoding="UTF-8" standalone="yes"?>
<Relationships xmlns="http://schemas.openxmlformats.org/package/2006/relationships"><Relationship Id="rId3" Type="http://schemas.openxmlformats.org/officeDocument/2006/relationships/package" Target="../embeddings/Microsoft_Excel_Worksheet34.xlsx"/><Relationship Id="rId2" Type="http://schemas.microsoft.com/office/2011/relationships/chartColorStyle" Target="colors33.xml"/><Relationship Id="rId1" Type="http://schemas.microsoft.com/office/2011/relationships/chartStyle" Target="style33.xml"/></Relationships>
</file>

<file path=ppt/charts/_rels/chart36.xml.rels><?xml version="1.0" encoding="UTF-8" standalone="yes"?>
<Relationships xmlns="http://schemas.openxmlformats.org/package/2006/relationships"><Relationship Id="rId3" Type="http://schemas.openxmlformats.org/officeDocument/2006/relationships/package" Target="../embeddings/Microsoft_Excel_Worksheet35.xlsx"/><Relationship Id="rId2" Type="http://schemas.microsoft.com/office/2011/relationships/chartColorStyle" Target="colors34.xml"/><Relationship Id="rId1" Type="http://schemas.microsoft.com/office/2011/relationships/chartStyle" Target="style34.xml"/></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36.xlsx"/><Relationship Id="rId2" Type="http://schemas.microsoft.com/office/2011/relationships/chartColorStyle" Target="colors35.xml"/><Relationship Id="rId1" Type="http://schemas.microsoft.com/office/2011/relationships/chartStyle" Target="style35.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37.xlsx"/><Relationship Id="rId2" Type="http://schemas.microsoft.com/office/2011/relationships/chartColorStyle" Target="colors36.xml"/><Relationship Id="rId1" Type="http://schemas.microsoft.com/office/2011/relationships/chartStyle" Target="style36.xml"/></Relationships>
</file>

<file path=ppt/charts/_rels/chart39.xml.rels><?xml version="1.0" encoding="UTF-8" standalone="yes"?>
<Relationships xmlns="http://schemas.openxmlformats.org/package/2006/relationships"><Relationship Id="rId3" Type="http://schemas.openxmlformats.org/officeDocument/2006/relationships/package" Target="../embeddings/Microsoft_Excel_Worksheet38.xlsx"/><Relationship Id="rId2" Type="http://schemas.microsoft.com/office/2011/relationships/chartColorStyle" Target="colors37.xml"/><Relationship Id="rId1" Type="http://schemas.microsoft.com/office/2011/relationships/chartStyle" Target="style37.xml"/></Relationships>
</file>

<file path=ppt/charts/_rels/chart40.xml.rels><?xml version="1.0" encoding="UTF-8" standalone="yes"?>
<Relationships xmlns="http://schemas.openxmlformats.org/package/2006/relationships"><Relationship Id="rId3" Type="http://schemas.openxmlformats.org/officeDocument/2006/relationships/package" Target="../embeddings/Microsoft_Excel_Worksheet39.xlsx"/><Relationship Id="rId2" Type="http://schemas.microsoft.com/office/2011/relationships/chartColorStyle" Target="colors38.xml"/><Relationship Id="rId1" Type="http://schemas.microsoft.com/office/2011/relationships/chartStyle" Target="style38.xml"/><Relationship Id="rId4" Type="http://schemas.openxmlformats.org/officeDocument/2006/relationships/chartUserShapes" Target="../drawings/drawing7.xml"/></Relationships>
</file>

<file path=ppt/charts/_rels/chart41.xml.rels><?xml version="1.0" encoding="UTF-8" standalone="yes"?>
<Relationships xmlns="http://schemas.openxmlformats.org/package/2006/relationships"><Relationship Id="rId3" Type="http://schemas.openxmlformats.org/officeDocument/2006/relationships/package" Target="../embeddings/Microsoft_Excel_Worksheet40.xlsx"/><Relationship Id="rId2" Type="http://schemas.microsoft.com/office/2011/relationships/chartColorStyle" Target="colors39.xml"/><Relationship Id="rId1" Type="http://schemas.microsoft.com/office/2011/relationships/chartStyle" Target="style39.xml"/></Relationships>
</file>

<file path=ppt/charts/_rels/chart42.xml.rels><?xml version="1.0" encoding="UTF-8" standalone="yes"?>
<Relationships xmlns="http://schemas.openxmlformats.org/package/2006/relationships"><Relationship Id="rId3" Type="http://schemas.openxmlformats.org/officeDocument/2006/relationships/package" Target="../embeddings/Microsoft_Excel_Worksheet41.xlsx"/><Relationship Id="rId2" Type="http://schemas.microsoft.com/office/2011/relationships/chartColorStyle" Target="colors40.xml"/><Relationship Id="rId1" Type="http://schemas.microsoft.com/office/2011/relationships/chartStyle" Target="style40.xml"/></Relationships>
</file>

<file path=ppt/charts/_rels/chart43.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41.xml"/><Relationship Id="rId1" Type="http://schemas.microsoft.com/office/2011/relationships/chartStyle" Target="style41.xml"/><Relationship Id="rId4" Type="http://schemas.openxmlformats.org/officeDocument/2006/relationships/package" Target="../embeddings/Microsoft_Excel_Worksheet42.xlsx"/></Relationships>
</file>

<file path=ppt/charts/_rels/chart44.xml.rels><?xml version="1.0" encoding="UTF-8" standalone="yes"?>
<Relationships xmlns="http://schemas.openxmlformats.org/package/2006/relationships"><Relationship Id="rId3" Type="http://schemas.openxmlformats.org/officeDocument/2006/relationships/package" Target="../embeddings/Microsoft_Excel_Worksheet43.xlsx"/><Relationship Id="rId2" Type="http://schemas.microsoft.com/office/2011/relationships/chartColorStyle" Target="colors42.xml"/><Relationship Id="rId1" Type="http://schemas.microsoft.com/office/2011/relationships/chartStyle" Target="style42.xml"/></Relationships>
</file>

<file path=ppt/charts/_rels/chart45.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43.xml"/><Relationship Id="rId1" Type="http://schemas.microsoft.com/office/2011/relationships/chartStyle" Target="style43.xml"/><Relationship Id="rId4" Type="http://schemas.openxmlformats.org/officeDocument/2006/relationships/package" Target="../embeddings/Microsoft_Excel_Worksheet44.xlsx"/></Relationships>
</file>

<file path=ppt/charts/_rels/chart46.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44.xml"/><Relationship Id="rId1" Type="http://schemas.microsoft.com/office/2011/relationships/chartStyle" Target="style44.xml"/><Relationship Id="rId4" Type="http://schemas.openxmlformats.org/officeDocument/2006/relationships/package" Target="../embeddings/Microsoft_Excel_Worksheet45.xlsx"/></Relationships>
</file>

<file path=ppt/charts/_rels/chart47.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5.xml"/><Relationship Id="rId1" Type="http://schemas.microsoft.com/office/2011/relationships/chartStyle" Target="style45.xml"/><Relationship Id="rId4" Type="http://schemas.openxmlformats.org/officeDocument/2006/relationships/package" Target="../embeddings/Microsoft_Excel_Worksheet46.xlsx"/></Relationships>
</file>

<file path=ppt/charts/_rels/chart48.xml.rels><?xml version="1.0" encoding="UTF-8" standalone="yes"?>
<Relationships xmlns="http://schemas.openxmlformats.org/package/2006/relationships"><Relationship Id="rId3" Type="http://schemas.openxmlformats.org/officeDocument/2006/relationships/package" Target="../embeddings/Microsoft_Excel_Worksheet48.xlsx"/><Relationship Id="rId2" Type="http://schemas.microsoft.com/office/2011/relationships/chartColorStyle" Target="colors46.xml"/><Relationship Id="rId1" Type="http://schemas.microsoft.com/office/2011/relationships/chartStyle" Target="style46.xml"/></Relationships>
</file>

<file path=ppt/charts/_rels/chart49.xml.rels><?xml version="1.0" encoding="UTF-8" standalone="yes"?>
<Relationships xmlns="http://schemas.openxmlformats.org/package/2006/relationships"><Relationship Id="rId3" Type="http://schemas.openxmlformats.org/officeDocument/2006/relationships/package" Target="../embeddings/Microsoft_Excel_Worksheet49.xlsx"/><Relationship Id="rId2" Type="http://schemas.microsoft.com/office/2011/relationships/chartColorStyle" Target="colors47.xml"/><Relationship Id="rId1" Type="http://schemas.microsoft.com/office/2011/relationships/chartStyle" Target="style47.xml"/></Relationships>
</file>

<file path=ppt/charts/_rels/chart50.xml.rels><?xml version="1.0" encoding="UTF-8" standalone="yes"?>
<Relationships xmlns="http://schemas.openxmlformats.org/package/2006/relationships"><Relationship Id="rId3" Type="http://schemas.openxmlformats.org/officeDocument/2006/relationships/package" Target="../embeddings/Microsoft_Excel_Worksheet50.xlsx"/><Relationship Id="rId2" Type="http://schemas.microsoft.com/office/2011/relationships/chartColorStyle" Target="colors48.xml"/><Relationship Id="rId1" Type="http://schemas.microsoft.com/office/2011/relationships/chartStyle" Target="style48.xml"/></Relationships>
</file>

<file path=ppt/charts/_rels/chart51.xml.rels><?xml version="1.0" encoding="UTF-8" standalone="yes"?>
<Relationships xmlns="http://schemas.openxmlformats.org/package/2006/relationships"><Relationship Id="rId3" Type="http://schemas.openxmlformats.org/officeDocument/2006/relationships/oleObject" Target="file:///C:\Users\rajbanerjee\Downloads\Backup%20sheet.xlsx" TargetMode="External"/><Relationship Id="rId2" Type="http://schemas.microsoft.com/office/2011/relationships/chartColorStyle" Target="colors49.xml"/><Relationship Id="rId1" Type="http://schemas.microsoft.com/office/2011/relationships/chartStyle" Target="style49.xml"/><Relationship Id="rId4" Type="http://schemas.openxmlformats.org/officeDocument/2006/relationships/chartUserShapes" Target="../drawings/drawing8.xml"/></Relationships>
</file>

<file path=ppt/charts/_rels/chart52.xml.rels><?xml version="1.0" encoding="UTF-8" standalone="yes"?>
<Relationships xmlns="http://schemas.openxmlformats.org/package/2006/relationships"><Relationship Id="rId3" Type="http://schemas.openxmlformats.org/officeDocument/2006/relationships/oleObject" Target="file:///C:\Users\rajbanerjee\Downloads\Backup%20sheet.xlsx" TargetMode="External"/><Relationship Id="rId2" Type="http://schemas.microsoft.com/office/2011/relationships/chartColorStyle" Target="colors50.xml"/><Relationship Id="rId1" Type="http://schemas.microsoft.com/office/2011/relationships/chartStyle" Target="style50.xml"/></Relationships>
</file>

<file path=ppt/charts/_rels/chart53.xml.rels><?xml version="1.0" encoding="UTF-8" standalone="yes"?>
<Relationships xmlns="http://schemas.openxmlformats.org/package/2006/relationships"><Relationship Id="rId3" Type="http://schemas.openxmlformats.org/officeDocument/2006/relationships/package" Target="../embeddings/Microsoft_Excel_Worksheet51.xlsx"/><Relationship Id="rId2" Type="http://schemas.microsoft.com/office/2011/relationships/chartColorStyle" Target="colors51.xml"/><Relationship Id="rId1" Type="http://schemas.microsoft.com/office/2011/relationships/chartStyle" Target="style51.xml"/></Relationships>
</file>

<file path=ppt/charts/_rels/chart54.xml.rels><?xml version="1.0" encoding="UTF-8" standalone="yes"?>
<Relationships xmlns="http://schemas.openxmlformats.org/package/2006/relationships"><Relationship Id="rId3" Type="http://schemas.openxmlformats.org/officeDocument/2006/relationships/package" Target="../embeddings/Microsoft_Excel_Worksheet52.xlsx"/><Relationship Id="rId2" Type="http://schemas.microsoft.com/office/2011/relationships/chartColorStyle" Target="colors52.xml"/><Relationship Id="rId1" Type="http://schemas.microsoft.com/office/2011/relationships/chartStyle" Target="style5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8.3676209805549573E-2"/>
          <c:w val="0.99066173503232813"/>
          <c:h val="0.69576422386042802"/>
        </c:manualLayout>
      </c:layout>
      <c:barChart>
        <c:barDir val="col"/>
        <c:grouping val="clustered"/>
        <c:varyColors val="0"/>
        <c:ser>
          <c:idx val="0"/>
          <c:order val="0"/>
          <c:tx>
            <c:strRef>
              <c:f>Sheet1!$B$1</c:f>
              <c:strCache>
                <c:ptCount val="1"/>
                <c:pt idx="0">
                  <c:v>Sanctioned GOI Grant (Rs. Cr)</c:v>
                </c:pt>
              </c:strCache>
            </c:strRef>
          </c:tx>
          <c:spPr>
            <a:solidFill>
              <a:schemeClr val="accent1"/>
            </a:solidFill>
            <a:ln>
              <a:noFill/>
            </a:ln>
            <a:effectLst/>
          </c:spPr>
          <c:invertIfNegative val="0"/>
          <c:dLbls>
            <c:dLbl>
              <c:idx val="0"/>
              <c:layout>
                <c:manualLayout>
                  <c:x val="2.2049462987628189E-3"/>
                  <c:y val="-0.1219743712957488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1F5-4A95-AC04-F75C2AF7C2FE}"/>
                </c:ext>
              </c:extLst>
            </c:dLbl>
            <c:dLbl>
              <c:idx val="2"/>
              <c:layout>
                <c:manualLayout>
                  <c:x val="5.5258195124035679E-4"/>
                  <c:y val="-0.10367805553003313"/>
                </c:manualLayout>
              </c:layout>
              <c:numFmt formatCode="0" sourceLinked="0"/>
              <c:spPr>
                <a:noFill/>
                <a:ln>
                  <a:noFill/>
                </a:ln>
                <a:effectLst/>
              </c:spPr>
              <c:txPr>
                <a:bodyPr rot="0" spcFirstLastPara="1" vertOverflow="ellipsis" vert="horz" wrap="square" lIns="38100" tIns="19050" rIns="38100" bIns="19050" anchor="ctr" anchorCtr="1">
                  <a:noAutofit/>
                </a:bodyPr>
                <a:lstStyle/>
                <a:p>
                  <a:pPr>
                    <a:defRPr sz="1050" b="1" i="0" u="none" strike="noStrike" kern="1200" baseline="0">
                      <a:solidFill>
                        <a:schemeClr val="tx1"/>
                      </a:solidFill>
                      <a:latin typeface="+mj-lt"/>
                      <a:ea typeface="+mn-ea"/>
                      <a:cs typeface="Calibri" panose="020F0502020204030204"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7.2277597402738661E-2"/>
                      <c:h val="6.7289194831488097E-2"/>
                    </c:manualLayout>
                  </c15:layout>
                </c:ext>
                <c:ext xmlns:c16="http://schemas.microsoft.com/office/drawing/2014/chart" uri="{C3380CC4-5D6E-409C-BE32-E72D297353CC}">
                  <c16:uniqueId val="{00000006-81F5-4A95-AC04-F75C2AF7C2FE}"/>
                </c:ext>
              </c:extLst>
            </c:dLbl>
            <c:dLbl>
              <c:idx val="4"/>
              <c:layout>
                <c:manualLayout>
                  <c:x val="2.2101537771048664E-3"/>
                  <c:y val="-0.1179085589192238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1F5-4A95-AC04-F75C2AF7C2FE}"/>
                </c:ext>
              </c:extLst>
            </c:dLbl>
            <c:dLbl>
              <c:idx val="6"/>
              <c:layout>
                <c:manualLayout>
                  <c:x val="-8.103803566887811E-17"/>
                  <c:y val="-0.1097769341661739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1F5-4A95-AC04-F75C2AF7C2FE}"/>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j-lt"/>
                    <a:ea typeface="+mn-ea"/>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XI Plan</c:v>
                </c:pt>
                <c:pt idx="2">
                  <c:v>XII </c:v>
                </c:pt>
                <c:pt idx="4">
                  <c:v>X Plan</c:v>
                </c:pt>
                <c:pt idx="6">
                  <c:v>XI- Ph-II</c:v>
                </c:pt>
                <c:pt idx="8">
                  <c:v>Total</c:v>
                </c:pt>
              </c:strCache>
            </c:strRef>
          </c:cat>
          <c:val>
            <c:numRef>
              <c:f>Sheet1!$B$2:$B$10</c:f>
              <c:numCache>
                <c:formatCode>General</c:formatCode>
                <c:ptCount val="9"/>
                <c:pt idx="0">
                  <c:v>2037.52</c:v>
                </c:pt>
                <c:pt idx="2">
                  <c:v>546.85</c:v>
                </c:pt>
                <c:pt idx="4">
                  <c:v>431.82</c:v>
                </c:pt>
                <c:pt idx="6">
                  <c:v>179.09</c:v>
                </c:pt>
                <c:pt idx="8">
                  <c:v>3195.28</c:v>
                </c:pt>
              </c:numCache>
            </c:numRef>
          </c:val>
          <c:extLst>
            <c:ext xmlns:c16="http://schemas.microsoft.com/office/drawing/2014/chart" uri="{C3380CC4-5D6E-409C-BE32-E72D297353CC}">
              <c16:uniqueId val="{00000000-81F5-4A95-AC04-F75C2AF7C2FE}"/>
            </c:ext>
          </c:extLst>
        </c:ser>
        <c:ser>
          <c:idx val="1"/>
          <c:order val="1"/>
          <c:tx>
            <c:strRef>
              <c:f>Sheet1!$C$1</c:f>
              <c:strCache>
                <c:ptCount val="1"/>
                <c:pt idx="0">
                  <c:v>GOI Grant Released</c:v>
                </c:pt>
              </c:strCache>
            </c:strRef>
          </c:tx>
          <c:spPr>
            <a:solidFill>
              <a:srgbClr val="0097A9"/>
            </a:solidFill>
            <a:ln>
              <a:noFill/>
            </a:ln>
            <a:effectLst/>
          </c:spPr>
          <c:invertIfNegative val="0"/>
          <c:dLbls>
            <c:dLbl>
              <c:idx val="0"/>
              <c:layout>
                <c:manualLayout>
                  <c:x val="1.1050768885524738E-3"/>
                  <c:y val="-6.09871856478743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1F5-4A95-AC04-F75C2AF7C2FE}"/>
                </c:ext>
              </c:extLst>
            </c:dLbl>
            <c:dLbl>
              <c:idx val="2"/>
              <c:layout>
                <c:manualLayout>
                  <c:x val="1.1050768885524738E-3"/>
                  <c:y val="-2.846068663567471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1F5-4A95-AC04-F75C2AF7C2FE}"/>
                </c:ext>
              </c:extLst>
            </c:dLbl>
            <c:dLbl>
              <c:idx val="4"/>
              <c:layout>
                <c:manualLayout>
                  <c:x val="1.1050768885524738E-3"/>
                  <c:y val="-2.4394874259149834E-2"/>
                </c:manualLayout>
              </c:layout>
              <c:numFmt formatCode="0" sourceLinked="0"/>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tx1"/>
                      </a:solidFill>
                      <a:latin typeface="+mj-lt"/>
                      <a:ea typeface="+mn-ea"/>
                      <a:cs typeface="Calibri" panose="020F0502020204030204"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5.3491290297346603E-2"/>
                      <c:h val="6.3223382454963131E-2"/>
                    </c:manualLayout>
                  </c15:layout>
                </c:ext>
                <c:ext xmlns:c16="http://schemas.microsoft.com/office/drawing/2014/chart" uri="{C3380CC4-5D6E-409C-BE32-E72D297353CC}">
                  <c16:uniqueId val="{00000008-81F5-4A95-AC04-F75C2AF7C2FE}"/>
                </c:ext>
              </c:extLst>
            </c:dLbl>
            <c:dLbl>
              <c:idx val="6"/>
              <c:layout>
                <c:manualLayout>
                  <c:x val="0"/>
                  <c:y val="-3.25264990121997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81F5-4A95-AC04-F75C2AF7C2FE}"/>
                </c:ext>
              </c:extLst>
            </c:dLbl>
            <c:dLbl>
              <c:idx val="8"/>
              <c:layout>
                <c:manualLayout>
                  <c:x val="1.2124390112944772E-2"/>
                  <c:y val="-2.698251620420198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81F5-4A95-AC04-F75C2AF7C2FE}"/>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j-lt"/>
                    <a:ea typeface="+mn-ea"/>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XI Plan</c:v>
                </c:pt>
                <c:pt idx="2">
                  <c:v>XII </c:v>
                </c:pt>
                <c:pt idx="4">
                  <c:v>X Plan</c:v>
                </c:pt>
                <c:pt idx="6">
                  <c:v>XI- Ph-II</c:v>
                </c:pt>
                <c:pt idx="8">
                  <c:v>Total</c:v>
                </c:pt>
              </c:strCache>
            </c:strRef>
          </c:cat>
          <c:val>
            <c:numRef>
              <c:f>Sheet1!$C$2:$C$10</c:f>
              <c:numCache>
                <c:formatCode>General</c:formatCode>
                <c:ptCount val="9"/>
                <c:pt idx="0">
                  <c:v>1788.53</c:v>
                </c:pt>
                <c:pt idx="2">
                  <c:v>511.96</c:v>
                </c:pt>
                <c:pt idx="4">
                  <c:v>399.16</c:v>
                </c:pt>
                <c:pt idx="6">
                  <c:v>123.94</c:v>
                </c:pt>
                <c:pt idx="8">
                  <c:v>2823.59</c:v>
                </c:pt>
              </c:numCache>
            </c:numRef>
          </c:val>
          <c:extLst>
            <c:ext xmlns:c16="http://schemas.microsoft.com/office/drawing/2014/chart" uri="{C3380CC4-5D6E-409C-BE32-E72D297353CC}">
              <c16:uniqueId val="{00000001-81F5-4A95-AC04-F75C2AF7C2FE}"/>
            </c:ext>
          </c:extLst>
        </c:ser>
        <c:dLbls>
          <c:showLegendKey val="0"/>
          <c:showVal val="0"/>
          <c:showCatName val="0"/>
          <c:showSerName val="0"/>
          <c:showPercent val="0"/>
          <c:showBubbleSize val="0"/>
        </c:dLbls>
        <c:gapWidth val="219"/>
        <c:overlap val="-27"/>
        <c:axId val="1986954032"/>
        <c:axId val="1986944880"/>
      </c:barChart>
      <c:catAx>
        <c:axId val="198695403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crossAx val="1986944880"/>
        <c:crosses val="autoZero"/>
        <c:auto val="1"/>
        <c:lblAlgn val="ctr"/>
        <c:lblOffset val="100"/>
        <c:noMultiLvlLbl val="0"/>
      </c:catAx>
      <c:valAx>
        <c:axId val="1986944880"/>
        <c:scaling>
          <c:orientation val="minMax"/>
          <c:max val="3200"/>
          <c:min val="0"/>
        </c:scaling>
        <c:delete val="1"/>
        <c:axPos val="l"/>
        <c:numFmt formatCode="General" sourceLinked="1"/>
        <c:majorTickMark val="out"/>
        <c:minorTickMark val="none"/>
        <c:tickLblPos val="nextTo"/>
        <c:crossAx val="1986954032"/>
        <c:crosses val="autoZero"/>
        <c:crossBetween val="between"/>
      </c:valAx>
      <c:spPr>
        <a:noFill/>
        <a:ln>
          <a:noFill/>
        </a:ln>
        <a:effectLst/>
      </c:spPr>
    </c:plotArea>
    <c:legend>
      <c:legendPos val="b"/>
      <c:layout>
        <c:manualLayout>
          <c:xMode val="edge"/>
          <c:yMode val="edge"/>
          <c:x val="2.128691337493701E-2"/>
          <c:y val="0.87213180147182412"/>
          <c:w val="0.95521593245909275"/>
          <c:h val="9.5277234492227095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780782147686777E-2"/>
          <c:y val="1.7971997572726845E-2"/>
          <c:w val="0.80957736703097594"/>
          <c:h val="0.98202812353642233"/>
        </c:manualLayout>
      </c:layout>
      <c:pieChart>
        <c:varyColors val="1"/>
        <c:ser>
          <c:idx val="0"/>
          <c:order val="0"/>
          <c:tx>
            <c:strRef>
              <c:f>Sheet1!$B$1</c:f>
              <c:strCache>
                <c:ptCount val="1"/>
                <c:pt idx="0">
                  <c:v>Funding Pattern of Scheme</c:v>
                </c:pt>
              </c:strCache>
            </c:strRef>
          </c:tx>
          <c:explosion val="3"/>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807-48D4-BF2F-17D59BEBE3C5}"/>
              </c:ext>
            </c:extLst>
          </c:dPt>
          <c:dPt>
            <c:idx val="1"/>
            <c:bubble3D val="0"/>
            <c:spPr>
              <a:solidFill>
                <a:schemeClr val="tx1">
                  <a:lumMod val="65000"/>
                  <a:lumOff val="35000"/>
                </a:schemeClr>
              </a:solidFill>
              <a:ln w="19050">
                <a:solidFill>
                  <a:schemeClr val="lt1"/>
                </a:solidFill>
              </a:ln>
              <a:effectLst/>
            </c:spPr>
            <c:extLst>
              <c:ext xmlns:c16="http://schemas.microsoft.com/office/drawing/2014/chart" uri="{C3380CC4-5D6E-409C-BE32-E72D297353CC}">
                <c16:uniqueId val="{00000003-2807-48D4-BF2F-17D59BEBE3C5}"/>
              </c:ext>
            </c:extLst>
          </c:dPt>
          <c:dPt>
            <c:idx val="2"/>
            <c:bubble3D val="0"/>
            <c:spPr>
              <a:solidFill>
                <a:srgbClr val="007680"/>
              </a:solidFill>
              <a:ln w="19050">
                <a:solidFill>
                  <a:schemeClr val="lt1"/>
                </a:solidFill>
              </a:ln>
              <a:effectLst/>
            </c:spPr>
            <c:extLst>
              <c:ext xmlns:c16="http://schemas.microsoft.com/office/drawing/2014/chart" uri="{C3380CC4-5D6E-409C-BE32-E72D297353CC}">
                <c16:uniqueId val="{00000005-2807-48D4-BF2F-17D59BEBE3C5}"/>
              </c:ext>
            </c:extLst>
          </c:dPt>
          <c:dLbls>
            <c:dLbl>
              <c:idx val="0"/>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807-48D4-BF2F-17D59BEBE3C5}"/>
                </c:ext>
              </c:extLst>
            </c:dLbl>
            <c:dLbl>
              <c:idx val="1"/>
              <c:layout>
                <c:manualLayout>
                  <c:x val="0.17384185452593556"/>
                  <c:y val="-1.8038696770730077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807-48D4-BF2F-17D59BEBE3C5}"/>
                </c:ext>
              </c:extLst>
            </c:dLbl>
            <c:dLbl>
              <c:idx val="2"/>
              <c:layout>
                <c:manualLayout>
                  <c:x val="0.20858499588732693"/>
                  <c:y val="0.29721928510810763"/>
                </c:manualLayout>
              </c:layout>
              <c:spPr>
                <a:noFill/>
                <a:ln>
                  <a:noFill/>
                </a:ln>
                <a:effectLst/>
              </c:spPr>
              <c:txPr>
                <a:bodyPr rot="0" spcFirstLastPara="1" vertOverflow="ellipsis" vert="horz" wrap="square" lIns="38100" tIns="19050" rIns="38100" bIns="19050" anchor="ctr" anchorCtr="1">
                  <a:noAutofit/>
                </a:bodyPr>
                <a:lstStyle/>
                <a:p>
                  <a:pPr>
                    <a:defRPr sz="1197" b="1"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15:layout>
                    <c:manualLayout>
                      <c:w val="0.2102102599158828"/>
                      <c:h val="0.13755110126479234"/>
                    </c:manualLayout>
                  </c15:layout>
                </c:ext>
                <c:ext xmlns:c16="http://schemas.microsoft.com/office/drawing/2014/chart" uri="{C3380CC4-5D6E-409C-BE32-E72D297353CC}">
                  <c16:uniqueId val="{00000005-2807-48D4-BF2F-17D59BEBE3C5}"/>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extLst>
          </c:dLbls>
          <c:cat>
            <c:strRef>
              <c:f>Sheet1!$A$2:$A$4</c:f>
              <c:strCache>
                <c:ptCount val="3"/>
                <c:pt idx="0">
                  <c:v>GOI</c:v>
                </c:pt>
                <c:pt idx="1">
                  <c:v>GoWB</c:v>
                </c:pt>
                <c:pt idx="2">
                  <c:v>WBSEDCL</c:v>
                </c:pt>
              </c:strCache>
            </c:strRef>
          </c:cat>
          <c:val>
            <c:numRef>
              <c:f>Sheet1!$B$2:$B$4</c:f>
              <c:numCache>
                <c:formatCode>0%</c:formatCode>
                <c:ptCount val="3"/>
                <c:pt idx="0">
                  <c:v>0.6</c:v>
                </c:pt>
                <c:pt idx="1">
                  <c:v>0.15</c:v>
                </c:pt>
                <c:pt idx="2">
                  <c:v>0.25</c:v>
                </c:pt>
              </c:numCache>
            </c:numRef>
          </c:val>
          <c:extLst>
            <c:ext xmlns:c16="http://schemas.microsoft.com/office/drawing/2014/chart" uri="{C3380CC4-5D6E-409C-BE32-E72D297353CC}">
              <c16:uniqueId val="{00000006-2807-48D4-BF2F-17D59BEBE3C5}"/>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371661335750806E-2"/>
          <c:y val="2.8117683344523095E-2"/>
          <c:w val="0.99835815280555473"/>
          <c:h val="0.83733411621338971"/>
        </c:manualLayout>
      </c:layout>
      <c:barChart>
        <c:barDir val="col"/>
        <c:grouping val="clustered"/>
        <c:varyColors val="0"/>
        <c:ser>
          <c:idx val="0"/>
          <c:order val="0"/>
          <c:tx>
            <c:strRef>
              <c:f>Sheet1!$B$1</c:f>
              <c:strCache>
                <c:ptCount val="1"/>
                <c:pt idx="0">
                  <c:v>Value ( In Crore)</c:v>
                </c:pt>
              </c:strCache>
            </c:strRef>
          </c:tx>
          <c:spPr>
            <a:solidFill>
              <a:srgbClr val="046A38"/>
            </a:solidFill>
            <a:ln>
              <a:noFill/>
            </a:ln>
            <a:effectLst/>
          </c:spPr>
          <c:invertIfNegative val="0"/>
          <c:dPt>
            <c:idx val="0"/>
            <c:invertIfNegative val="0"/>
            <c:bubble3D val="0"/>
            <c:spPr>
              <a:solidFill>
                <a:srgbClr val="007680"/>
              </a:solidFill>
              <a:ln>
                <a:noFill/>
              </a:ln>
              <a:effectLst/>
            </c:spPr>
            <c:extLst>
              <c:ext xmlns:c16="http://schemas.microsoft.com/office/drawing/2014/chart" uri="{C3380CC4-5D6E-409C-BE32-E72D297353CC}">
                <c16:uniqueId val="{00000004-8FA0-4CF7-9800-AE9572241DBF}"/>
              </c:ext>
            </c:extLst>
          </c:dPt>
          <c:dPt>
            <c:idx val="1"/>
            <c:invertIfNegative val="0"/>
            <c:bubble3D val="0"/>
            <c:spPr>
              <a:solidFill>
                <a:srgbClr val="046A38"/>
              </a:solidFill>
              <a:ln>
                <a:noFill/>
              </a:ln>
              <a:effectLst/>
            </c:spPr>
            <c:extLst>
              <c:ext xmlns:c16="http://schemas.microsoft.com/office/drawing/2014/chart" uri="{C3380CC4-5D6E-409C-BE32-E72D297353CC}">
                <c16:uniqueId val="{00000001-8FA0-4CF7-9800-AE9572241DBF}"/>
              </c:ext>
            </c:extLst>
          </c:dPt>
          <c:dPt>
            <c:idx val="2"/>
            <c:invertIfNegative val="0"/>
            <c:bubble3D val="0"/>
            <c:spPr>
              <a:solidFill>
                <a:srgbClr val="86BC25"/>
              </a:solidFill>
              <a:ln>
                <a:noFill/>
              </a:ln>
              <a:effectLst/>
            </c:spPr>
            <c:extLst>
              <c:ext xmlns:c16="http://schemas.microsoft.com/office/drawing/2014/chart" uri="{C3380CC4-5D6E-409C-BE32-E72D297353CC}">
                <c16:uniqueId val="{00000003-8FA0-4CF7-9800-AE9572241DBF}"/>
              </c:ext>
            </c:extLst>
          </c:dPt>
          <c:dLbls>
            <c:dLbl>
              <c:idx val="0"/>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FA0-4CF7-9800-AE9572241DBF}"/>
                </c:ext>
              </c:extLst>
            </c:dLbl>
            <c:dLbl>
              <c:idx val="1"/>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FA0-4CF7-9800-AE9572241DBF}"/>
                </c:ext>
              </c:extLst>
            </c:dLbl>
            <c:dLbl>
              <c:idx val="2"/>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FA0-4CF7-9800-AE9572241DBF}"/>
                </c:ext>
              </c:extLst>
            </c:dLbl>
            <c:spPr>
              <a:noFill/>
              <a:ln>
                <a:noFill/>
              </a:ln>
              <a:effectLst/>
            </c:spPr>
            <c:txPr>
              <a:bodyPr rot="5400000" spcFirstLastPara="1" vertOverflow="ellipsis"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Sanctioned Project Cost </c:v>
                </c:pt>
                <c:pt idx="1">
                  <c:v>GOI Grant Sanctioned</c:v>
                </c:pt>
                <c:pt idx="2">
                  <c:v>GOI Grant Released </c:v>
                </c:pt>
              </c:strCache>
            </c:strRef>
          </c:cat>
          <c:val>
            <c:numRef>
              <c:f>Sheet1!$B$2:$B$4</c:f>
              <c:numCache>
                <c:formatCode>General</c:formatCode>
                <c:ptCount val="3"/>
                <c:pt idx="0">
                  <c:v>4304</c:v>
                </c:pt>
                <c:pt idx="1">
                  <c:v>2565.7399999999998</c:v>
                </c:pt>
                <c:pt idx="2">
                  <c:v>2393.44</c:v>
                </c:pt>
              </c:numCache>
            </c:numRef>
          </c:val>
          <c:extLst>
            <c:ext xmlns:c16="http://schemas.microsoft.com/office/drawing/2014/chart" uri="{C3380CC4-5D6E-409C-BE32-E72D297353CC}">
              <c16:uniqueId val="{00000005-8FA0-4CF7-9800-AE9572241DBF}"/>
            </c:ext>
          </c:extLst>
        </c:ser>
        <c:dLbls>
          <c:showLegendKey val="0"/>
          <c:showVal val="0"/>
          <c:showCatName val="0"/>
          <c:showSerName val="0"/>
          <c:showPercent val="0"/>
          <c:showBubbleSize val="0"/>
        </c:dLbls>
        <c:gapWidth val="255"/>
        <c:overlap val="100"/>
        <c:axId val="1850314800"/>
        <c:axId val="1850316048"/>
      </c:barChart>
      <c:catAx>
        <c:axId val="1850314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crossAx val="1850316048"/>
        <c:crosses val="autoZero"/>
        <c:auto val="1"/>
        <c:lblAlgn val="ctr"/>
        <c:lblOffset val="100"/>
        <c:noMultiLvlLbl val="0"/>
      </c:catAx>
      <c:valAx>
        <c:axId val="1850316048"/>
        <c:scaling>
          <c:orientation val="minMax"/>
        </c:scaling>
        <c:delete val="1"/>
        <c:axPos val="l"/>
        <c:numFmt formatCode="General" sourceLinked="1"/>
        <c:majorTickMark val="none"/>
        <c:minorTickMark val="none"/>
        <c:tickLblPos val="nextTo"/>
        <c:crossAx val="18503148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0728771371444892E-2"/>
          <c:y val="0"/>
          <c:w val="0.9746648349904562"/>
          <c:h val="0.83960035215883477"/>
        </c:manualLayout>
      </c:layout>
      <c:barChart>
        <c:barDir val="col"/>
        <c:grouping val="stacked"/>
        <c:varyColors val="0"/>
        <c:ser>
          <c:idx val="0"/>
          <c:order val="0"/>
          <c:tx>
            <c:strRef>
              <c:f>Sheet1!$B$1</c:f>
              <c:strCache>
                <c:ptCount val="1"/>
                <c:pt idx="0">
                  <c:v>RE Project (Nos)</c:v>
                </c:pt>
              </c:strCache>
            </c:strRef>
          </c:tx>
          <c:spPr>
            <a:solidFill>
              <a:schemeClr val="accent1"/>
            </a:solidFill>
            <a:ln>
              <a:noFill/>
            </a:ln>
            <a:effectLst/>
          </c:spPr>
          <c:invertIfNegative val="0"/>
          <c:dLbls>
            <c:dLbl>
              <c:idx val="4"/>
              <c:delete val="1"/>
              <c:extLst>
                <c:ext xmlns:c15="http://schemas.microsoft.com/office/drawing/2012/chart" uri="{CE6537A1-D6FC-4f65-9D91-7224C49458BB}"/>
                <c:ext xmlns:c16="http://schemas.microsoft.com/office/drawing/2014/chart" uri="{C3380CC4-5D6E-409C-BE32-E72D297353CC}">
                  <c16:uniqueId val="{00000000-FE61-4214-A5D4-5E2209BB1DEB}"/>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Project Sanctioned</c:v>
                </c:pt>
                <c:pt idx="1">
                  <c:v>Work Completed</c:v>
                </c:pt>
                <c:pt idx="2">
                  <c:v>Closure submitted by PIA</c:v>
                </c:pt>
                <c:pt idx="3">
                  <c:v>ClosureApproved</c:v>
                </c:pt>
                <c:pt idx="4">
                  <c:v>Work in Progress</c:v>
                </c:pt>
              </c:strCache>
            </c:strRef>
          </c:cat>
          <c:val>
            <c:numRef>
              <c:f>Sheet1!$B$2:$B$6</c:f>
              <c:numCache>
                <c:formatCode>General</c:formatCode>
                <c:ptCount val="5"/>
                <c:pt idx="0">
                  <c:v>36</c:v>
                </c:pt>
                <c:pt idx="1">
                  <c:v>36</c:v>
                </c:pt>
                <c:pt idx="2">
                  <c:v>36</c:v>
                </c:pt>
                <c:pt idx="3">
                  <c:v>36</c:v>
                </c:pt>
                <c:pt idx="4">
                  <c:v>0</c:v>
                </c:pt>
              </c:numCache>
            </c:numRef>
          </c:val>
          <c:extLst>
            <c:ext xmlns:c16="http://schemas.microsoft.com/office/drawing/2014/chart" uri="{C3380CC4-5D6E-409C-BE32-E72D297353CC}">
              <c16:uniqueId val="{00000001-FE61-4214-A5D4-5E2209BB1DEB}"/>
            </c:ext>
          </c:extLst>
        </c:ser>
        <c:ser>
          <c:idx val="1"/>
          <c:order val="1"/>
          <c:tx>
            <c:strRef>
              <c:f>Sheet1!$C$1</c:f>
              <c:strCache>
                <c:ptCount val="1"/>
                <c:pt idx="0">
                  <c:v>New Project (Nos)</c:v>
                </c:pt>
              </c:strCache>
            </c:strRef>
          </c:tx>
          <c:spPr>
            <a:solidFill>
              <a:srgbClr val="00A3E0"/>
            </a:solidFill>
            <a:ln>
              <a:noFill/>
            </a:ln>
            <a:effectLst/>
          </c:spPr>
          <c:invertIfNegative val="0"/>
          <c:dLbls>
            <c:dLbl>
              <c:idx val="1"/>
              <c:delete val="1"/>
              <c:extLst>
                <c:ext xmlns:c15="http://schemas.microsoft.com/office/drawing/2012/chart" uri="{CE6537A1-D6FC-4f65-9D91-7224C49458BB}">
                  <c15:layout>
                    <c:manualLayout>
                      <c:w val="1.3453124999999998E-2"/>
                      <c:h val="3.8318636182155953E-2"/>
                    </c:manualLayout>
                  </c15:layout>
                </c:ext>
                <c:ext xmlns:c16="http://schemas.microsoft.com/office/drawing/2014/chart" uri="{C3380CC4-5D6E-409C-BE32-E72D297353CC}">
                  <c16:uniqueId val="{00000002-FE61-4214-A5D4-5E2209BB1DEB}"/>
                </c:ext>
              </c:extLst>
            </c:dLbl>
            <c:dLbl>
              <c:idx val="2"/>
              <c:delete val="1"/>
              <c:extLst>
                <c:ext xmlns:c15="http://schemas.microsoft.com/office/drawing/2012/chart" uri="{CE6537A1-D6FC-4f65-9D91-7224C49458BB}"/>
                <c:ext xmlns:c16="http://schemas.microsoft.com/office/drawing/2014/chart" uri="{C3380CC4-5D6E-409C-BE32-E72D297353CC}">
                  <c16:uniqueId val="{00000003-FE61-4214-A5D4-5E2209BB1DEB}"/>
                </c:ext>
              </c:extLst>
            </c:dLbl>
            <c:dLbl>
              <c:idx val="3"/>
              <c:delete val="1"/>
              <c:extLst>
                <c:ext xmlns:c15="http://schemas.microsoft.com/office/drawing/2012/chart" uri="{CE6537A1-D6FC-4f65-9D91-7224C49458BB}"/>
                <c:ext xmlns:c16="http://schemas.microsoft.com/office/drawing/2014/chart" uri="{C3380CC4-5D6E-409C-BE32-E72D297353CC}">
                  <c16:uniqueId val="{00000004-FE61-4214-A5D4-5E2209BB1DEB}"/>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Project Sanctioned</c:v>
                </c:pt>
                <c:pt idx="1">
                  <c:v>Work Completed</c:v>
                </c:pt>
                <c:pt idx="2">
                  <c:v>Closure submitted by PIA</c:v>
                </c:pt>
                <c:pt idx="3">
                  <c:v>ClosureApproved</c:v>
                </c:pt>
                <c:pt idx="4">
                  <c:v>Work in Progress</c:v>
                </c:pt>
              </c:strCache>
            </c:strRef>
          </c:cat>
          <c:val>
            <c:numRef>
              <c:f>Sheet1!$C$2:$C$6</c:f>
              <c:numCache>
                <c:formatCode>General</c:formatCode>
                <c:ptCount val="5"/>
                <c:pt idx="0">
                  <c:v>19</c:v>
                </c:pt>
                <c:pt idx="1">
                  <c:v>0</c:v>
                </c:pt>
                <c:pt idx="2">
                  <c:v>0</c:v>
                </c:pt>
                <c:pt idx="3">
                  <c:v>0</c:v>
                </c:pt>
                <c:pt idx="4">
                  <c:v>19</c:v>
                </c:pt>
              </c:numCache>
            </c:numRef>
          </c:val>
          <c:extLst>
            <c:ext xmlns:c16="http://schemas.microsoft.com/office/drawing/2014/chart" uri="{C3380CC4-5D6E-409C-BE32-E72D297353CC}">
              <c16:uniqueId val="{00000005-FE61-4214-A5D4-5E2209BB1DEB}"/>
            </c:ext>
          </c:extLst>
        </c:ser>
        <c:ser>
          <c:idx val="2"/>
          <c:order val="2"/>
          <c:tx>
            <c:strRef>
              <c:f>Sheet1!$D$1</c:f>
              <c:strCache>
                <c:ptCount val="1"/>
                <c:pt idx="0">
                  <c:v>Saubhagya (Nos)</c:v>
                </c:pt>
              </c:strCache>
            </c:strRef>
          </c:tx>
          <c:spPr>
            <a:solidFill>
              <a:schemeClr val="accent3"/>
            </a:solidFill>
            <a:ln>
              <a:noFill/>
            </a:ln>
            <a:effectLst/>
          </c:spPr>
          <c:invertIfNegative val="0"/>
          <c:dLbls>
            <c:dLbl>
              <c:idx val="0"/>
              <c:layout>
                <c:manualLayout>
                  <c:x val="3.4547952285741488E-3"/>
                  <c:y val="-2.0509034424400038E-2"/>
                </c:manualLayout>
              </c:layout>
              <c:showLegendKey val="0"/>
              <c:showVal val="1"/>
              <c:showCatName val="0"/>
              <c:showSerName val="0"/>
              <c:showPercent val="0"/>
              <c:showBubbleSize val="0"/>
              <c:extLst>
                <c:ext xmlns:c15="http://schemas.microsoft.com/office/drawing/2012/chart" uri="{CE6537A1-D6FC-4f65-9D91-7224C49458BB}">
                  <c15:layout>
                    <c:manualLayout>
                      <c:w val="5.4827600277471744E-2"/>
                      <c:h val="4.2345124017437723E-2"/>
                    </c:manualLayout>
                  </c15:layout>
                </c:ext>
                <c:ext xmlns:c16="http://schemas.microsoft.com/office/drawing/2014/chart" uri="{C3380CC4-5D6E-409C-BE32-E72D297353CC}">
                  <c16:uniqueId val="{00000006-FE61-4214-A5D4-5E2209BB1DEB}"/>
                </c:ext>
              </c:extLst>
            </c:dLbl>
            <c:dLbl>
              <c:idx val="1"/>
              <c:layout>
                <c:manualLayout>
                  <c:x val="-1.7273522757670109E-3"/>
                  <c:y val="-2.0509034424400076E-2"/>
                </c:manualLayout>
              </c:layout>
              <c:showLegendKey val="0"/>
              <c:showVal val="1"/>
              <c:showCatName val="0"/>
              <c:showSerName val="0"/>
              <c:showPercent val="0"/>
              <c:showBubbleSize val="0"/>
              <c:extLst>
                <c:ext xmlns:c15="http://schemas.microsoft.com/office/drawing/2012/chart" uri="{CE6537A1-D6FC-4f65-9D91-7224C49458BB}">
                  <c15:layout>
                    <c:manualLayout>
                      <c:w val="4.4463214591749296E-2"/>
                      <c:h val="5.4409261914143615E-2"/>
                    </c:manualLayout>
                  </c15:layout>
                </c:ext>
                <c:ext xmlns:c16="http://schemas.microsoft.com/office/drawing/2014/chart" uri="{C3380CC4-5D6E-409C-BE32-E72D297353CC}">
                  <c16:uniqueId val="{00000007-FE61-4214-A5D4-5E2209BB1DEB}"/>
                </c:ext>
              </c:extLst>
            </c:dLbl>
            <c:dLbl>
              <c:idx val="2"/>
              <c:layout>
                <c:manualLayout>
                  <c:x val="0"/>
                  <c:y val="-2.1715353220858883E-2"/>
                </c:manualLayout>
              </c:layout>
              <c:showLegendKey val="0"/>
              <c:showVal val="1"/>
              <c:showCatName val="0"/>
              <c:showSerName val="0"/>
              <c:showPercent val="0"/>
              <c:showBubbleSize val="0"/>
              <c:extLst>
                <c:ext xmlns:c15="http://schemas.microsoft.com/office/drawing/2012/chart" uri="{CE6537A1-D6FC-4f65-9D91-7224C49458BB}">
                  <c15:layout>
                    <c:manualLayout>
                      <c:w val="4.9069608229848162E-2"/>
                      <c:h val="5.4409261914143602E-2"/>
                    </c:manualLayout>
                  </c15:layout>
                </c:ext>
                <c:ext xmlns:c16="http://schemas.microsoft.com/office/drawing/2014/chart" uri="{C3380CC4-5D6E-409C-BE32-E72D297353CC}">
                  <c16:uniqueId val="{00000008-FE61-4214-A5D4-5E2209BB1DEB}"/>
                </c:ext>
              </c:extLst>
            </c:dLbl>
            <c:dLbl>
              <c:idx val="3"/>
              <c:layout>
                <c:manualLayout>
                  <c:x val="0"/>
                  <c:y val="-2.4128275793411848E-2"/>
                </c:manualLayout>
              </c:layout>
              <c:showLegendKey val="0"/>
              <c:showVal val="1"/>
              <c:showCatName val="0"/>
              <c:showSerName val="0"/>
              <c:showPercent val="0"/>
              <c:showBubbleSize val="0"/>
              <c:extLst>
                <c:ext xmlns:c15="http://schemas.microsoft.com/office/drawing/2012/chart" uri="{CE6537A1-D6FC-4f65-9D91-7224C49458BB}">
                  <c15:layout>
                    <c:manualLayout>
                      <c:w val="5.4827600277471744E-2"/>
                      <c:h val="4.717077917612008E-2"/>
                    </c:manualLayout>
                  </c15:layout>
                </c:ext>
                <c:ext xmlns:c16="http://schemas.microsoft.com/office/drawing/2014/chart" uri="{C3380CC4-5D6E-409C-BE32-E72D297353CC}">
                  <c16:uniqueId val="{00000009-FE61-4214-A5D4-5E2209BB1DEB}"/>
                </c:ext>
              </c:extLst>
            </c:dLbl>
            <c:dLbl>
              <c:idx val="4"/>
              <c:delete val="1"/>
              <c:extLst>
                <c:ext xmlns:c15="http://schemas.microsoft.com/office/drawing/2012/chart" uri="{CE6537A1-D6FC-4f65-9D91-7224C49458BB}"/>
                <c:ext xmlns:c16="http://schemas.microsoft.com/office/drawing/2014/chart" uri="{C3380CC4-5D6E-409C-BE32-E72D297353CC}">
                  <c16:uniqueId val="{0000000A-FE61-4214-A5D4-5E2209BB1DEB}"/>
                </c:ext>
              </c:extLst>
            </c:dLbl>
            <c:spPr>
              <a:solidFill>
                <a:srgbClr val="046A38"/>
              </a:solid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Project Sanctioned</c:v>
                </c:pt>
                <c:pt idx="1">
                  <c:v>Work Completed</c:v>
                </c:pt>
                <c:pt idx="2">
                  <c:v>Closure submitted by PIA</c:v>
                </c:pt>
                <c:pt idx="3">
                  <c:v>ClosureApproved</c:v>
                </c:pt>
                <c:pt idx="4">
                  <c:v>Work in Progress</c:v>
                </c:pt>
              </c:strCache>
            </c:strRef>
          </c:cat>
          <c:val>
            <c:numRef>
              <c:f>Sheet1!$D$2:$D$6</c:f>
              <c:numCache>
                <c:formatCode>General</c:formatCode>
                <c:ptCount val="5"/>
                <c:pt idx="0">
                  <c:v>1</c:v>
                </c:pt>
                <c:pt idx="1">
                  <c:v>1</c:v>
                </c:pt>
                <c:pt idx="2">
                  <c:v>1</c:v>
                </c:pt>
                <c:pt idx="3">
                  <c:v>1</c:v>
                </c:pt>
                <c:pt idx="4">
                  <c:v>0</c:v>
                </c:pt>
              </c:numCache>
            </c:numRef>
          </c:val>
          <c:extLst>
            <c:ext xmlns:c16="http://schemas.microsoft.com/office/drawing/2014/chart" uri="{C3380CC4-5D6E-409C-BE32-E72D297353CC}">
              <c16:uniqueId val="{0000000B-FE61-4214-A5D4-5E2209BB1DEB}"/>
            </c:ext>
          </c:extLst>
        </c:ser>
        <c:dLbls>
          <c:showLegendKey val="0"/>
          <c:showVal val="0"/>
          <c:showCatName val="0"/>
          <c:showSerName val="0"/>
          <c:showPercent val="0"/>
          <c:showBubbleSize val="0"/>
        </c:dLbls>
        <c:gapWidth val="150"/>
        <c:overlap val="100"/>
        <c:axId val="1738520592"/>
        <c:axId val="1738518096"/>
      </c:barChart>
      <c:catAx>
        <c:axId val="1738520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38518096"/>
        <c:crosses val="autoZero"/>
        <c:auto val="1"/>
        <c:lblAlgn val="ctr"/>
        <c:lblOffset val="100"/>
        <c:noMultiLvlLbl val="0"/>
      </c:catAx>
      <c:valAx>
        <c:axId val="1738518096"/>
        <c:scaling>
          <c:orientation val="minMax"/>
        </c:scaling>
        <c:delete val="1"/>
        <c:axPos val="l"/>
        <c:numFmt formatCode="General" sourceLinked="1"/>
        <c:majorTickMark val="none"/>
        <c:minorTickMark val="none"/>
        <c:tickLblPos val="nextTo"/>
        <c:crossAx val="1738520592"/>
        <c:crosses val="autoZero"/>
        <c:crossBetween val="between"/>
      </c:valAx>
      <c:spPr>
        <a:noFill/>
        <a:ln>
          <a:noFill/>
        </a:ln>
        <a:effectLst/>
      </c:spPr>
    </c:plotArea>
    <c:legend>
      <c:legendPos val="b"/>
      <c:layout>
        <c:manualLayout>
          <c:xMode val="edge"/>
          <c:yMode val="edge"/>
          <c:x val="0.81863775882627654"/>
          <c:y val="8.4562387171812706E-2"/>
          <c:w val="0.16193368788056023"/>
          <c:h val="0.312230717992892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0728771371444892E-2"/>
          <c:y val="0"/>
          <c:w val="0.9746648349904562"/>
          <c:h val="0.83960035215883477"/>
        </c:manualLayout>
      </c:layout>
      <c:barChart>
        <c:barDir val="col"/>
        <c:grouping val="stacked"/>
        <c:varyColors val="0"/>
        <c:ser>
          <c:idx val="0"/>
          <c:order val="0"/>
          <c:tx>
            <c:strRef>
              <c:f>Sheet1!$B$1</c:f>
              <c:strCache>
                <c:ptCount val="1"/>
                <c:pt idx="0">
                  <c:v>RE Project (Nos)</c:v>
                </c:pt>
              </c:strCache>
            </c:strRef>
          </c:tx>
          <c:spPr>
            <a:solidFill>
              <a:schemeClr val="accent1"/>
            </a:solidFill>
            <a:ln>
              <a:noFill/>
            </a:ln>
            <a:effectLst/>
          </c:spPr>
          <c:invertIfNegative val="0"/>
          <c:dLbls>
            <c:dLbl>
              <c:idx val="4"/>
              <c:delete val="1"/>
              <c:extLst>
                <c:ext xmlns:c15="http://schemas.microsoft.com/office/drawing/2012/chart" uri="{CE6537A1-D6FC-4f65-9D91-7224C49458BB}"/>
                <c:ext xmlns:c16="http://schemas.microsoft.com/office/drawing/2014/chart" uri="{C3380CC4-5D6E-409C-BE32-E72D297353CC}">
                  <c16:uniqueId val="{00000000-FE61-4214-A5D4-5E2209BB1DEB}"/>
                </c:ext>
              </c:extLst>
            </c:dLbl>
            <c:spPr>
              <a:solidFill>
                <a:srgbClr val="E3E48D"/>
              </a:solidFill>
              <a:ln>
                <a:noFill/>
              </a:ln>
              <a:effectLst/>
            </c:spPr>
            <c:txPr>
              <a:bodyPr rot="0" spcFirstLastPara="1" vertOverflow="ellipsis" vert="horz" wrap="square" anchor="ctr" anchorCtr="1"/>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Project Sanctioned</c:v>
                </c:pt>
                <c:pt idx="1">
                  <c:v>Work Completed</c:v>
                </c:pt>
                <c:pt idx="2">
                  <c:v>Closure submitted by PIA</c:v>
                </c:pt>
                <c:pt idx="3">
                  <c:v>ClosureApproved</c:v>
                </c:pt>
                <c:pt idx="4">
                  <c:v>Work in Progress</c:v>
                </c:pt>
              </c:strCache>
            </c:strRef>
          </c:cat>
          <c:val>
            <c:numRef>
              <c:f>Sheet1!$B$2:$B$6</c:f>
              <c:numCache>
                <c:formatCode>General</c:formatCode>
                <c:ptCount val="5"/>
                <c:pt idx="0">
                  <c:v>36</c:v>
                </c:pt>
                <c:pt idx="1">
                  <c:v>36</c:v>
                </c:pt>
                <c:pt idx="2">
                  <c:v>36</c:v>
                </c:pt>
                <c:pt idx="3">
                  <c:v>36</c:v>
                </c:pt>
                <c:pt idx="4">
                  <c:v>0</c:v>
                </c:pt>
              </c:numCache>
            </c:numRef>
          </c:val>
          <c:extLst>
            <c:ext xmlns:c16="http://schemas.microsoft.com/office/drawing/2014/chart" uri="{C3380CC4-5D6E-409C-BE32-E72D297353CC}">
              <c16:uniqueId val="{00000001-FE61-4214-A5D4-5E2209BB1DEB}"/>
            </c:ext>
          </c:extLst>
        </c:ser>
        <c:ser>
          <c:idx val="1"/>
          <c:order val="1"/>
          <c:tx>
            <c:strRef>
              <c:f>Sheet1!$C$1</c:f>
              <c:strCache>
                <c:ptCount val="1"/>
                <c:pt idx="0">
                  <c:v>New Project (Nos)</c:v>
                </c:pt>
              </c:strCache>
            </c:strRef>
          </c:tx>
          <c:spPr>
            <a:solidFill>
              <a:srgbClr val="00A3E0"/>
            </a:solidFill>
            <a:ln>
              <a:noFill/>
            </a:ln>
            <a:effectLst/>
          </c:spPr>
          <c:invertIfNegative val="0"/>
          <c:dLbls>
            <c:dLbl>
              <c:idx val="1"/>
              <c:delete val="1"/>
              <c:extLst>
                <c:ext xmlns:c15="http://schemas.microsoft.com/office/drawing/2012/chart" uri="{CE6537A1-D6FC-4f65-9D91-7224C49458BB}">
                  <c15:layout>
                    <c:manualLayout>
                      <c:w val="1.3453124999999998E-2"/>
                      <c:h val="3.8318636182155953E-2"/>
                    </c:manualLayout>
                  </c15:layout>
                </c:ext>
                <c:ext xmlns:c16="http://schemas.microsoft.com/office/drawing/2014/chart" uri="{C3380CC4-5D6E-409C-BE32-E72D297353CC}">
                  <c16:uniqueId val="{00000002-FE61-4214-A5D4-5E2209BB1DEB}"/>
                </c:ext>
              </c:extLst>
            </c:dLbl>
            <c:dLbl>
              <c:idx val="2"/>
              <c:delete val="1"/>
              <c:extLst>
                <c:ext xmlns:c15="http://schemas.microsoft.com/office/drawing/2012/chart" uri="{CE6537A1-D6FC-4f65-9D91-7224C49458BB}"/>
                <c:ext xmlns:c16="http://schemas.microsoft.com/office/drawing/2014/chart" uri="{C3380CC4-5D6E-409C-BE32-E72D297353CC}">
                  <c16:uniqueId val="{00000003-FE61-4214-A5D4-5E2209BB1DEB}"/>
                </c:ext>
              </c:extLst>
            </c:dLbl>
            <c:dLbl>
              <c:idx val="3"/>
              <c:delete val="1"/>
              <c:extLst>
                <c:ext xmlns:c15="http://schemas.microsoft.com/office/drawing/2012/chart" uri="{CE6537A1-D6FC-4f65-9D91-7224C49458BB}"/>
                <c:ext xmlns:c16="http://schemas.microsoft.com/office/drawing/2014/chart" uri="{C3380CC4-5D6E-409C-BE32-E72D297353CC}">
                  <c16:uniqueId val="{00000004-FE61-4214-A5D4-5E2209BB1DEB}"/>
                </c:ext>
              </c:extLst>
            </c:dLbl>
            <c:spPr>
              <a:solidFill>
                <a:schemeClr val="accent5">
                  <a:lumMod val="20000"/>
                  <a:lumOff val="80000"/>
                </a:schemeClr>
              </a:solid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Project Sanctioned</c:v>
                </c:pt>
                <c:pt idx="1">
                  <c:v>Work Completed</c:v>
                </c:pt>
                <c:pt idx="2">
                  <c:v>Closure submitted by PIA</c:v>
                </c:pt>
                <c:pt idx="3">
                  <c:v>ClosureApproved</c:v>
                </c:pt>
                <c:pt idx="4">
                  <c:v>Work in Progress</c:v>
                </c:pt>
              </c:strCache>
            </c:strRef>
          </c:cat>
          <c:val>
            <c:numRef>
              <c:f>Sheet1!$C$2:$C$6</c:f>
              <c:numCache>
                <c:formatCode>General</c:formatCode>
                <c:ptCount val="5"/>
                <c:pt idx="0">
                  <c:v>19</c:v>
                </c:pt>
                <c:pt idx="1">
                  <c:v>0</c:v>
                </c:pt>
                <c:pt idx="2">
                  <c:v>0</c:v>
                </c:pt>
                <c:pt idx="3">
                  <c:v>0</c:v>
                </c:pt>
                <c:pt idx="4">
                  <c:v>19</c:v>
                </c:pt>
              </c:numCache>
            </c:numRef>
          </c:val>
          <c:extLst>
            <c:ext xmlns:c16="http://schemas.microsoft.com/office/drawing/2014/chart" uri="{C3380CC4-5D6E-409C-BE32-E72D297353CC}">
              <c16:uniqueId val="{00000005-FE61-4214-A5D4-5E2209BB1DEB}"/>
            </c:ext>
          </c:extLst>
        </c:ser>
        <c:ser>
          <c:idx val="2"/>
          <c:order val="2"/>
          <c:tx>
            <c:strRef>
              <c:f>Sheet1!$D$1</c:f>
              <c:strCache>
                <c:ptCount val="1"/>
                <c:pt idx="0">
                  <c:v>Saubhagya (Nos)</c:v>
                </c:pt>
              </c:strCache>
            </c:strRef>
          </c:tx>
          <c:spPr>
            <a:solidFill>
              <a:schemeClr val="accent3"/>
            </a:solidFill>
            <a:ln>
              <a:noFill/>
            </a:ln>
            <a:effectLst/>
          </c:spPr>
          <c:invertIfNegative val="0"/>
          <c:dLbls>
            <c:dLbl>
              <c:idx val="0"/>
              <c:layout>
                <c:manualLayout>
                  <c:x val="3.4547952285741488E-3"/>
                  <c:y val="-2.0509034424400038E-2"/>
                </c:manualLayout>
              </c:layout>
              <c:showLegendKey val="0"/>
              <c:showVal val="1"/>
              <c:showCatName val="0"/>
              <c:showSerName val="0"/>
              <c:showPercent val="0"/>
              <c:showBubbleSize val="0"/>
              <c:extLst>
                <c:ext xmlns:c15="http://schemas.microsoft.com/office/drawing/2012/chart" uri="{CE6537A1-D6FC-4f65-9D91-7224C49458BB}">
                  <c15:layout>
                    <c:manualLayout>
                      <c:w val="5.4827600277471744E-2"/>
                      <c:h val="4.2345124017437723E-2"/>
                    </c:manualLayout>
                  </c15:layout>
                </c:ext>
                <c:ext xmlns:c16="http://schemas.microsoft.com/office/drawing/2014/chart" uri="{C3380CC4-5D6E-409C-BE32-E72D297353CC}">
                  <c16:uniqueId val="{00000006-FE61-4214-A5D4-5E2209BB1DEB}"/>
                </c:ext>
              </c:extLst>
            </c:dLbl>
            <c:dLbl>
              <c:idx val="1"/>
              <c:layout>
                <c:manualLayout>
                  <c:x val="-1.7273522757670109E-3"/>
                  <c:y val="-2.0509034424400076E-2"/>
                </c:manualLayout>
              </c:layout>
              <c:showLegendKey val="0"/>
              <c:showVal val="1"/>
              <c:showCatName val="0"/>
              <c:showSerName val="0"/>
              <c:showPercent val="0"/>
              <c:showBubbleSize val="0"/>
              <c:extLst>
                <c:ext xmlns:c15="http://schemas.microsoft.com/office/drawing/2012/chart" uri="{CE6537A1-D6FC-4f65-9D91-7224C49458BB}">
                  <c15:layout>
                    <c:manualLayout>
                      <c:w val="4.4463214591749296E-2"/>
                      <c:h val="5.4409261914143615E-2"/>
                    </c:manualLayout>
                  </c15:layout>
                </c:ext>
                <c:ext xmlns:c16="http://schemas.microsoft.com/office/drawing/2014/chart" uri="{C3380CC4-5D6E-409C-BE32-E72D297353CC}">
                  <c16:uniqueId val="{00000007-FE61-4214-A5D4-5E2209BB1DEB}"/>
                </c:ext>
              </c:extLst>
            </c:dLbl>
            <c:dLbl>
              <c:idx val="2"/>
              <c:layout>
                <c:manualLayout>
                  <c:x val="0"/>
                  <c:y val="-2.1715353220858883E-2"/>
                </c:manualLayout>
              </c:layout>
              <c:showLegendKey val="0"/>
              <c:showVal val="1"/>
              <c:showCatName val="0"/>
              <c:showSerName val="0"/>
              <c:showPercent val="0"/>
              <c:showBubbleSize val="0"/>
              <c:extLst>
                <c:ext xmlns:c15="http://schemas.microsoft.com/office/drawing/2012/chart" uri="{CE6537A1-D6FC-4f65-9D91-7224C49458BB}">
                  <c15:layout>
                    <c:manualLayout>
                      <c:w val="4.9069608229848162E-2"/>
                      <c:h val="5.4409261914143602E-2"/>
                    </c:manualLayout>
                  </c15:layout>
                </c:ext>
                <c:ext xmlns:c16="http://schemas.microsoft.com/office/drawing/2014/chart" uri="{C3380CC4-5D6E-409C-BE32-E72D297353CC}">
                  <c16:uniqueId val="{00000008-FE61-4214-A5D4-5E2209BB1DEB}"/>
                </c:ext>
              </c:extLst>
            </c:dLbl>
            <c:dLbl>
              <c:idx val="3"/>
              <c:layout>
                <c:manualLayout>
                  <c:x val="0"/>
                  <c:y val="-2.4128275793411848E-2"/>
                </c:manualLayout>
              </c:layout>
              <c:showLegendKey val="0"/>
              <c:showVal val="1"/>
              <c:showCatName val="0"/>
              <c:showSerName val="0"/>
              <c:showPercent val="0"/>
              <c:showBubbleSize val="0"/>
              <c:extLst>
                <c:ext xmlns:c15="http://schemas.microsoft.com/office/drawing/2012/chart" uri="{CE6537A1-D6FC-4f65-9D91-7224C49458BB}">
                  <c15:layout>
                    <c:manualLayout>
                      <c:w val="5.4827600277471744E-2"/>
                      <c:h val="4.717077917612008E-2"/>
                    </c:manualLayout>
                  </c15:layout>
                </c:ext>
                <c:ext xmlns:c16="http://schemas.microsoft.com/office/drawing/2014/chart" uri="{C3380CC4-5D6E-409C-BE32-E72D297353CC}">
                  <c16:uniqueId val="{00000009-FE61-4214-A5D4-5E2209BB1DEB}"/>
                </c:ext>
              </c:extLst>
            </c:dLbl>
            <c:dLbl>
              <c:idx val="4"/>
              <c:delete val="1"/>
              <c:extLst>
                <c:ext xmlns:c15="http://schemas.microsoft.com/office/drawing/2012/chart" uri="{CE6537A1-D6FC-4f65-9D91-7224C49458BB}"/>
                <c:ext xmlns:c16="http://schemas.microsoft.com/office/drawing/2014/chart" uri="{C3380CC4-5D6E-409C-BE32-E72D297353CC}">
                  <c16:uniqueId val="{0000000A-FE61-4214-A5D4-5E2209BB1DEB}"/>
                </c:ext>
              </c:extLst>
            </c:dLbl>
            <c:spPr>
              <a:solidFill>
                <a:schemeClr val="accent4">
                  <a:lumMod val="60000"/>
                  <a:lumOff val="40000"/>
                </a:schemeClr>
              </a:solid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Project Sanctioned</c:v>
                </c:pt>
                <c:pt idx="1">
                  <c:v>Work Completed</c:v>
                </c:pt>
                <c:pt idx="2">
                  <c:v>Closure submitted by PIA</c:v>
                </c:pt>
                <c:pt idx="3">
                  <c:v>ClosureApproved</c:v>
                </c:pt>
                <c:pt idx="4">
                  <c:v>Work in Progress</c:v>
                </c:pt>
              </c:strCache>
            </c:strRef>
          </c:cat>
          <c:val>
            <c:numRef>
              <c:f>Sheet1!$D$2:$D$6</c:f>
              <c:numCache>
                <c:formatCode>General</c:formatCode>
                <c:ptCount val="5"/>
                <c:pt idx="0">
                  <c:v>1</c:v>
                </c:pt>
                <c:pt idx="1">
                  <c:v>1</c:v>
                </c:pt>
                <c:pt idx="2">
                  <c:v>1</c:v>
                </c:pt>
                <c:pt idx="3">
                  <c:v>1</c:v>
                </c:pt>
                <c:pt idx="4">
                  <c:v>0</c:v>
                </c:pt>
              </c:numCache>
            </c:numRef>
          </c:val>
          <c:extLst>
            <c:ext xmlns:c16="http://schemas.microsoft.com/office/drawing/2014/chart" uri="{C3380CC4-5D6E-409C-BE32-E72D297353CC}">
              <c16:uniqueId val="{0000000B-FE61-4214-A5D4-5E2209BB1DEB}"/>
            </c:ext>
          </c:extLst>
        </c:ser>
        <c:dLbls>
          <c:showLegendKey val="0"/>
          <c:showVal val="0"/>
          <c:showCatName val="0"/>
          <c:showSerName val="0"/>
          <c:showPercent val="0"/>
          <c:showBubbleSize val="0"/>
        </c:dLbls>
        <c:gapWidth val="150"/>
        <c:overlap val="100"/>
        <c:axId val="1738520592"/>
        <c:axId val="1738518096"/>
      </c:barChart>
      <c:catAx>
        <c:axId val="1738520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38518096"/>
        <c:crosses val="autoZero"/>
        <c:auto val="1"/>
        <c:lblAlgn val="ctr"/>
        <c:lblOffset val="100"/>
        <c:noMultiLvlLbl val="0"/>
      </c:catAx>
      <c:valAx>
        <c:axId val="1738518096"/>
        <c:scaling>
          <c:orientation val="minMax"/>
        </c:scaling>
        <c:delete val="1"/>
        <c:axPos val="l"/>
        <c:numFmt formatCode="General" sourceLinked="1"/>
        <c:majorTickMark val="none"/>
        <c:minorTickMark val="none"/>
        <c:tickLblPos val="nextTo"/>
        <c:crossAx val="17385205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7.9389623115597441E-2"/>
          <c:w val="0.99176432234221301"/>
          <c:h val="0.7505686253703816"/>
        </c:manualLayout>
      </c:layout>
      <c:barChart>
        <c:barDir val="col"/>
        <c:grouping val="clustered"/>
        <c:varyColors val="0"/>
        <c:ser>
          <c:idx val="0"/>
          <c:order val="0"/>
          <c:tx>
            <c:strRef>
              <c:f>Sheet1!$B$1</c:f>
              <c:strCache>
                <c:ptCount val="1"/>
                <c:pt idx="0">
                  <c:v>Value ( In Crore)</c:v>
                </c:pt>
              </c:strCache>
            </c:strRef>
          </c:tx>
          <c:spPr>
            <a:solidFill>
              <a:srgbClr val="046A38"/>
            </a:solidFill>
            <a:ln>
              <a:noFill/>
            </a:ln>
            <a:effectLst/>
          </c:spPr>
          <c:invertIfNegative val="0"/>
          <c:dPt>
            <c:idx val="0"/>
            <c:invertIfNegative val="0"/>
            <c:bubble3D val="0"/>
            <c:extLst>
              <c:ext xmlns:c16="http://schemas.microsoft.com/office/drawing/2014/chart" uri="{C3380CC4-5D6E-409C-BE32-E72D297353CC}">
                <c16:uniqueId val="{00000001-F9AF-4CC0-8820-FAC1D9DF1A15}"/>
              </c:ext>
            </c:extLst>
          </c:dPt>
          <c:dPt>
            <c:idx val="1"/>
            <c:invertIfNegative val="0"/>
            <c:bubble3D val="0"/>
            <c:extLst>
              <c:ext xmlns:c16="http://schemas.microsoft.com/office/drawing/2014/chart" uri="{C3380CC4-5D6E-409C-BE32-E72D297353CC}">
                <c16:uniqueId val="{00000003-F9AF-4CC0-8820-FAC1D9DF1A15}"/>
              </c:ext>
            </c:extLst>
          </c:dPt>
          <c:dPt>
            <c:idx val="2"/>
            <c:invertIfNegative val="0"/>
            <c:bubble3D val="0"/>
            <c:spPr>
              <a:solidFill>
                <a:srgbClr val="86BC25"/>
              </a:solidFill>
              <a:ln>
                <a:noFill/>
              </a:ln>
              <a:effectLst/>
            </c:spPr>
            <c:extLst>
              <c:ext xmlns:c16="http://schemas.microsoft.com/office/drawing/2014/chart" uri="{C3380CC4-5D6E-409C-BE32-E72D297353CC}">
                <c16:uniqueId val="{00000004-AAC1-4729-A9C4-584F8D9E1EC0}"/>
              </c:ext>
            </c:extLst>
          </c:dPt>
          <c:dLbls>
            <c:dLbl>
              <c:idx val="0"/>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9AF-4CC0-8820-FAC1D9DF1A15}"/>
                </c:ext>
              </c:extLst>
            </c:dLbl>
            <c:dLbl>
              <c:idx val="1"/>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9AF-4CC0-8820-FAC1D9DF1A15}"/>
                </c:ext>
              </c:extLst>
            </c:dLbl>
            <c:dLbl>
              <c:idx val="2"/>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AC1-4729-A9C4-584F8D9E1EC0}"/>
                </c:ext>
              </c:extLst>
            </c:dLbl>
            <c:spPr>
              <a:noFill/>
              <a:ln>
                <a:noFill/>
              </a:ln>
              <a:effectLst/>
            </c:spPr>
            <c:txPr>
              <a:bodyPr rot="5400000" spcFirstLastPara="1" vertOverflow="ellipsis"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Sanctioned Project Cost</c:v>
                </c:pt>
                <c:pt idx="1">
                  <c:v>GOI Grant Sanctioned</c:v>
                </c:pt>
                <c:pt idx="2">
                  <c:v>GOI Grant Released </c:v>
                </c:pt>
              </c:strCache>
            </c:strRef>
          </c:cat>
          <c:val>
            <c:numRef>
              <c:f>Sheet1!$B$2:$B$4</c:f>
              <c:numCache>
                <c:formatCode>General</c:formatCode>
                <c:ptCount val="3"/>
                <c:pt idx="0">
                  <c:v>259.06</c:v>
                </c:pt>
                <c:pt idx="1">
                  <c:v>155.43</c:v>
                </c:pt>
                <c:pt idx="2">
                  <c:v>136.5</c:v>
                </c:pt>
              </c:numCache>
            </c:numRef>
          </c:val>
          <c:extLst>
            <c:ext xmlns:c16="http://schemas.microsoft.com/office/drawing/2014/chart" uri="{C3380CC4-5D6E-409C-BE32-E72D297353CC}">
              <c16:uniqueId val="{00000004-F9AF-4CC0-8820-FAC1D9DF1A15}"/>
            </c:ext>
          </c:extLst>
        </c:ser>
        <c:dLbls>
          <c:showLegendKey val="0"/>
          <c:showVal val="0"/>
          <c:showCatName val="0"/>
          <c:showSerName val="0"/>
          <c:showPercent val="0"/>
          <c:showBubbleSize val="0"/>
        </c:dLbls>
        <c:gapWidth val="219"/>
        <c:overlap val="-27"/>
        <c:axId val="1850314800"/>
        <c:axId val="1850316048"/>
      </c:barChart>
      <c:catAx>
        <c:axId val="1850314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crossAx val="1850316048"/>
        <c:crosses val="autoZero"/>
        <c:auto val="1"/>
        <c:lblAlgn val="ctr"/>
        <c:lblOffset val="100"/>
        <c:noMultiLvlLbl val="0"/>
      </c:catAx>
      <c:valAx>
        <c:axId val="1850316048"/>
        <c:scaling>
          <c:orientation val="minMax"/>
          <c:max val="270"/>
          <c:min val="0"/>
        </c:scaling>
        <c:delete val="1"/>
        <c:axPos val="l"/>
        <c:numFmt formatCode="General" sourceLinked="1"/>
        <c:majorTickMark val="none"/>
        <c:minorTickMark val="none"/>
        <c:tickLblPos val="nextTo"/>
        <c:crossAx val="18503148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8867654973676531E-3"/>
          <c:y val="1.1907928273641066E-2"/>
          <c:w val="0.99611329565704976"/>
          <c:h val="0.88640680295879204"/>
        </c:manualLayout>
      </c:layout>
      <c:barChart>
        <c:barDir val="col"/>
        <c:grouping val="stacked"/>
        <c:varyColors val="0"/>
        <c:ser>
          <c:idx val="1"/>
          <c:order val="0"/>
          <c:tx>
            <c:strRef>
              <c:f>Sheet1!$C$1</c:f>
              <c:strCache>
                <c:ptCount val="1"/>
                <c:pt idx="0">
                  <c:v>Series 2</c:v>
                </c:pt>
              </c:strCache>
            </c:strRef>
          </c:tx>
          <c:spPr>
            <a:solidFill>
              <a:schemeClr val="bg1"/>
            </a:solidFill>
            <a:ln>
              <a:noFill/>
            </a:ln>
            <a:effectLst/>
          </c:spPr>
          <c:invertIfNegative val="0"/>
          <c:dPt>
            <c:idx val="5"/>
            <c:invertIfNegative val="0"/>
            <c:bubble3D val="0"/>
            <c:spPr>
              <a:solidFill>
                <a:srgbClr val="046A38"/>
              </a:solidFill>
              <a:ln>
                <a:noFill/>
              </a:ln>
              <a:effectLst/>
            </c:spPr>
            <c:extLst>
              <c:ext xmlns:c16="http://schemas.microsoft.com/office/drawing/2014/chart" uri="{C3380CC4-5D6E-409C-BE32-E72D297353CC}">
                <c16:uniqueId val="{0000000F-7AD2-49FC-B54A-BD2707F630DD}"/>
              </c:ext>
            </c:extLst>
          </c:dPt>
          <c:dPt>
            <c:idx val="8"/>
            <c:invertIfNegative val="0"/>
            <c:bubble3D val="0"/>
            <c:spPr>
              <a:solidFill>
                <a:srgbClr val="046A38"/>
              </a:solidFill>
              <a:ln>
                <a:solidFill>
                  <a:srgbClr val="009A44"/>
                </a:solidFill>
              </a:ln>
              <a:effectLst/>
            </c:spPr>
            <c:extLst>
              <c:ext xmlns:c16="http://schemas.microsoft.com/office/drawing/2014/chart" uri="{C3380CC4-5D6E-409C-BE32-E72D297353CC}">
                <c16:uniqueId val="{00000001-7AD2-49FC-B54A-BD2707F630DD}"/>
              </c:ext>
            </c:extLst>
          </c:dPt>
          <c:dLbls>
            <c:dLbl>
              <c:idx val="5"/>
              <c:layout>
                <c:manualLayout>
                  <c:x val="0"/>
                  <c:y val="-0.4072683368812292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7AD2-49FC-B54A-BD2707F630DD}"/>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2017-18</c:v>
                </c:pt>
                <c:pt idx="1">
                  <c:v>2018-19</c:v>
                </c:pt>
                <c:pt idx="2">
                  <c:v>2019-20</c:v>
                </c:pt>
                <c:pt idx="3">
                  <c:v>2020-21</c:v>
                </c:pt>
                <c:pt idx="4">
                  <c:v>2021-22</c:v>
                </c:pt>
                <c:pt idx="5">
                  <c:v>Total</c:v>
                </c:pt>
              </c:strCache>
            </c:strRef>
          </c:cat>
          <c:val>
            <c:numRef>
              <c:f>Sheet1!$C$2:$C$7</c:f>
              <c:numCache>
                <c:formatCode>General</c:formatCode>
                <c:ptCount val="6"/>
                <c:pt idx="1">
                  <c:v>13.71</c:v>
                </c:pt>
                <c:pt idx="2">
                  <c:v>86.91</c:v>
                </c:pt>
                <c:pt idx="3">
                  <c:v>107.19</c:v>
                </c:pt>
                <c:pt idx="4">
                  <c:v>123.11</c:v>
                </c:pt>
                <c:pt idx="5">
                  <c:v>136.51</c:v>
                </c:pt>
              </c:numCache>
            </c:numRef>
          </c:val>
          <c:extLst>
            <c:ext xmlns:c16="http://schemas.microsoft.com/office/drawing/2014/chart" uri="{C3380CC4-5D6E-409C-BE32-E72D297353CC}">
              <c16:uniqueId val="{00000002-7AD2-49FC-B54A-BD2707F630DD}"/>
            </c:ext>
          </c:extLst>
        </c:ser>
        <c:ser>
          <c:idx val="0"/>
          <c:order val="1"/>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046A38"/>
              </a:solidFill>
              <a:ln>
                <a:noFill/>
              </a:ln>
              <a:effectLst/>
            </c:spPr>
            <c:extLst>
              <c:ext xmlns:c16="http://schemas.microsoft.com/office/drawing/2014/chart" uri="{C3380CC4-5D6E-409C-BE32-E72D297353CC}">
                <c16:uniqueId val="{00000004-7AD2-49FC-B54A-BD2707F630DD}"/>
              </c:ext>
            </c:extLst>
          </c:dPt>
          <c:dLbls>
            <c:dLbl>
              <c:idx val="0"/>
              <c:layout>
                <c:manualLayout>
                  <c:x val="2.4224799288897004E-3"/>
                  <c:y val="-7.758284160722878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AD2-49FC-B54A-BD2707F630DD}"/>
                </c:ext>
              </c:extLst>
            </c:dLbl>
            <c:dLbl>
              <c:idx val="1"/>
              <c:layout>
                <c:manualLayout>
                  <c:x val="-3.1249309800885886E-3"/>
                  <c:y val="-0.23969175030605877"/>
                </c:manualLayout>
              </c:layout>
              <c:spPr>
                <a:noFill/>
                <a:ln>
                  <a:noFill/>
                </a:ln>
                <a:effectLst/>
              </c:spPr>
              <c:txPr>
                <a:bodyPr rot="0" spcFirstLastPara="1" vertOverflow="ellipsis" vert="horz" wrap="square" lIns="38100" tIns="19050" rIns="38100" bIns="19050" anchor="ctr" anchorCtr="1">
                  <a:noAutofit/>
                </a:bodyPr>
                <a:lstStyle/>
                <a:p>
                  <a:pPr>
                    <a:defRPr sz="1197" b="1"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9.0820177411686479E-2"/>
                      <c:h val="6.5900537857054214E-2"/>
                    </c:manualLayout>
                  </c15:layout>
                </c:ext>
                <c:ext xmlns:c16="http://schemas.microsoft.com/office/drawing/2014/chart" uri="{C3380CC4-5D6E-409C-BE32-E72D297353CC}">
                  <c16:uniqueId val="{00000005-7AD2-49FC-B54A-BD2707F630DD}"/>
                </c:ext>
              </c:extLst>
            </c:dLbl>
            <c:dLbl>
              <c:idx val="2"/>
              <c:layout>
                <c:manualLayout>
                  <c:x val="3.9736579332502672E-3"/>
                  <c:y val="-9.593383317461308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AD2-49FC-B54A-BD2707F630DD}"/>
                </c:ext>
              </c:extLst>
            </c:dLbl>
            <c:dLbl>
              <c:idx val="3"/>
              <c:layout>
                <c:manualLayout>
                  <c:x val="1.8453744744314699E-3"/>
                  <c:y val="-8.370679742676233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AD2-49FC-B54A-BD2707F630DD}"/>
                </c:ext>
              </c:extLst>
            </c:dLbl>
            <c:dLbl>
              <c:idx val="4"/>
              <c:layout>
                <c:manualLayout>
                  <c:x val="-2.4111924432060577E-3"/>
                  <c:y val="-8.312359023099817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AD2-49FC-B54A-BD2707F630DD}"/>
                </c:ext>
              </c:extLst>
            </c:dLbl>
            <c:dLbl>
              <c:idx val="5"/>
              <c:layout>
                <c:manualLayout>
                  <c:x val="0"/>
                  <c:y val="-6.093749625138435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AD2-49FC-B54A-BD2707F630DD}"/>
                </c:ext>
              </c:extLst>
            </c:dLbl>
            <c:dLbl>
              <c:idx val="6"/>
              <c:layout>
                <c:manualLayout>
                  <c:x val="4.6874999999999998E-3"/>
                  <c:y val="-4.921874697227197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AD2-49FC-B54A-BD2707F630DD}"/>
                </c:ext>
              </c:extLst>
            </c:dLbl>
            <c:dLbl>
              <c:idx val="7"/>
              <c:layout>
                <c:manualLayout>
                  <c:x val="-3.1250000000001147E-3"/>
                  <c:y val="-4.218749740480454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AD2-49FC-B54A-BD2707F630DD}"/>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2017-18</c:v>
                </c:pt>
                <c:pt idx="1">
                  <c:v>2018-19</c:v>
                </c:pt>
                <c:pt idx="2">
                  <c:v>2019-20</c:v>
                </c:pt>
                <c:pt idx="3">
                  <c:v>2020-21</c:v>
                </c:pt>
                <c:pt idx="4">
                  <c:v>2021-22</c:v>
                </c:pt>
                <c:pt idx="5">
                  <c:v>Total</c:v>
                </c:pt>
              </c:strCache>
            </c:strRef>
          </c:cat>
          <c:val>
            <c:numRef>
              <c:f>Sheet1!$B$2:$B$7</c:f>
              <c:numCache>
                <c:formatCode>General</c:formatCode>
                <c:ptCount val="6"/>
                <c:pt idx="0">
                  <c:v>13.71</c:v>
                </c:pt>
                <c:pt idx="1">
                  <c:v>73.2</c:v>
                </c:pt>
                <c:pt idx="2">
                  <c:v>20.28</c:v>
                </c:pt>
                <c:pt idx="3">
                  <c:v>15.92</c:v>
                </c:pt>
                <c:pt idx="4">
                  <c:v>13.4</c:v>
                </c:pt>
              </c:numCache>
            </c:numRef>
          </c:val>
          <c:extLst>
            <c:ext xmlns:c16="http://schemas.microsoft.com/office/drawing/2014/chart" uri="{C3380CC4-5D6E-409C-BE32-E72D297353CC}">
              <c16:uniqueId val="{0000000C-7AD2-49FC-B54A-BD2707F630DD}"/>
            </c:ext>
          </c:extLst>
        </c:ser>
        <c:dLbls>
          <c:showLegendKey val="0"/>
          <c:showVal val="0"/>
          <c:showCatName val="0"/>
          <c:showSerName val="0"/>
          <c:showPercent val="0"/>
          <c:showBubbleSize val="0"/>
        </c:dLbls>
        <c:gapWidth val="150"/>
        <c:overlap val="100"/>
        <c:axId val="1308441791"/>
        <c:axId val="1308443871"/>
      </c:barChart>
      <c:catAx>
        <c:axId val="13084417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crossAx val="1308443871"/>
        <c:crosses val="autoZero"/>
        <c:auto val="1"/>
        <c:lblAlgn val="ctr"/>
        <c:lblOffset val="100"/>
        <c:noMultiLvlLbl val="0"/>
      </c:catAx>
      <c:valAx>
        <c:axId val="1308443871"/>
        <c:scaling>
          <c:orientation val="minMax"/>
        </c:scaling>
        <c:delete val="1"/>
        <c:axPos val="l"/>
        <c:numFmt formatCode="General" sourceLinked="1"/>
        <c:majorTickMark val="none"/>
        <c:minorTickMark val="none"/>
        <c:tickLblPos val="nextTo"/>
        <c:crossAx val="130844179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0.99835815280555473"/>
          <c:h val="0.87461033857907322"/>
        </c:manualLayout>
      </c:layout>
      <c:barChart>
        <c:barDir val="col"/>
        <c:grouping val="clustered"/>
        <c:varyColors val="0"/>
        <c:ser>
          <c:idx val="0"/>
          <c:order val="0"/>
          <c:tx>
            <c:strRef>
              <c:f>Sheet1!$B$1</c:f>
              <c:strCache>
                <c:ptCount val="1"/>
                <c:pt idx="0">
                  <c:v>Value ( In Crore)</c:v>
                </c:pt>
              </c:strCache>
            </c:strRef>
          </c:tx>
          <c:spPr>
            <a:solidFill>
              <a:srgbClr val="046A38"/>
            </a:solidFill>
            <a:ln>
              <a:noFill/>
            </a:ln>
            <a:effectLst/>
          </c:spPr>
          <c:invertIfNegative val="0"/>
          <c:dPt>
            <c:idx val="0"/>
            <c:invertIfNegative val="0"/>
            <c:bubble3D val="0"/>
            <c:spPr>
              <a:solidFill>
                <a:srgbClr val="004F59"/>
              </a:solidFill>
              <a:ln>
                <a:noFill/>
              </a:ln>
              <a:effectLst/>
            </c:spPr>
            <c:extLst>
              <c:ext xmlns:c16="http://schemas.microsoft.com/office/drawing/2014/chart" uri="{C3380CC4-5D6E-409C-BE32-E72D297353CC}">
                <c16:uniqueId val="{00000004-6E46-41D9-86BA-3523A602D542}"/>
              </c:ext>
            </c:extLst>
          </c:dPt>
          <c:dPt>
            <c:idx val="1"/>
            <c:invertIfNegative val="0"/>
            <c:bubble3D val="0"/>
            <c:spPr>
              <a:solidFill>
                <a:srgbClr val="046A38"/>
              </a:solidFill>
              <a:ln>
                <a:noFill/>
              </a:ln>
              <a:effectLst/>
            </c:spPr>
            <c:extLst>
              <c:ext xmlns:c16="http://schemas.microsoft.com/office/drawing/2014/chart" uri="{C3380CC4-5D6E-409C-BE32-E72D297353CC}">
                <c16:uniqueId val="{00000001-6E46-41D9-86BA-3523A602D542}"/>
              </c:ext>
            </c:extLst>
          </c:dPt>
          <c:dPt>
            <c:idx val="2"/>
            <c:invertIfNegative val="0"/>
            <c:bubble3D val="0"/>
            <c:spPr>
              <a:solidFill>
                <a:srgbClr val="86BC25"/>
              </a:solidFill>
              <a:ln>
                <a:noFill/>
              </a:ln>
              <a:effectLst/>
            </c:spPr>
            <c:extLst>
              <c:ext xmlns:c16="http://schemas.microsoft.com/office/drawing/2014/chart" uri="{C3380CC4-5D6E-409C-BE32-E72D297353CC}">
                <c16:uniqueId val="{00000003-6E46-41D9-86BA-3523A602D542}"/>
              </c:ext>
            </c:extLst>
          </c:dPt>
          <c:dLbls>
            <c:dLbl>
              <c:idx val="0"/>
              <c:spPr>
                <a:solidFill>
                  <a:schemeClr val="accent6">
                    <a:lumMod val="20000"/>
                    <a:lumOff val="80000"/>
                  </a:schemeClr>
                </a:solidFill>
                <a:ln>
                  <a:noFill/>
                </a:ln>
                <a:effectLst/>
              </c:spPr>
              <c:txPr>
                <a:bodyPr rot="0" spcFirstLastPara="1" vertOverflow="ellipsis" vert="horz" wrap="square" lIns="38100" tIns="19050" rIns="38100" bIns="19050" anchor="ctr" anchorCtr="0">
                  <a:spAutoFit/>
                </a:bodyPr>
                <a:lstStyle/>
                <a:p>
                  <a:pPr>
                    <a:defRPr sz="1197" b="1"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E46-41D9-86BA-3523A602D542}"/>
                </c:ext>
              </c:extLst>
            </c:dLbl>
            <c:dLbl>
              <c:idx val="1"/>
              <c:spPr>
                <a:solidFill>
                  <a:schemeClr val="accent3">
                    <a:lumMod val="60000"/>
                    <a:lumOff val="40000"/>
                  </a:schemeClr>
                </a:solidFill>
                <a:ln>
                  <a:noFill/>
                </a:ln>
                <a:effectLst/>
              </c:spPr>
              <c:txPr>
                <a:bodyPr rot="0" spcFirstLastPara="1" vertOverflow="ellipsis" vert="horz" wrap="square" lIns="38100" tIns="19050" rIns="38100" bIns="19050" anchor="ctr" anchorCtr="0">
                  <a:spAutoFit/>
                </a:bodyPr>
                <a:lstStyle/>
                <a:p>
                  <a:pPr>
                    <a:defRPr sz="1197" b="1"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E46-41D9-86BA-3523A602D542}"/>
                </c:ext>
              </c:extLst>
            </c:dLbl>
            <c:dLbl>
              <c:idx val="2"/>
              <c:layout>
                <c:manualLayout>
                  <c:x val="-2.8840799694060432E-3"/>
                  <c:y val="0.22401851133823622"/>
                </c:manualLayout>
              </c:layout>
              <c:spPr>
                <a:solidFill>
                  <a:srgbClr val="E3E48D"/>
                </a:solidFill>
                <a:ln>
                  <a:noFill/>
                </a:ln>
                <a:effectLst/>
              </c:spPr>
              <c:txPr>
                <a:bodyPr rot="0" spcFirstLastPara="1" vertOverflow="ellipsis" vert="horz" wrap="square" lIns="38100" tIns="19050" rIns="38100" bIns="19050" anchor="ctr" anchorCtr="0">
                  <a:spAutoFit/>
                </a:bodyPr>
                <a:lstStyle/>
                <a:p>
                  <a:pPr>
                    <a:defRPr sz="1197" b="1"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E46-41D9-86BA-3523A602D542}"/>
                </c:ext>
              </c:extLst>
            </c:dLbl>
            <c:spPr>
              <a:noFill/>
              <a:ln>
                <a:noFill/>
              </a:ln>
              <a:effectLst/>
            </c:spPr>
            <c:txPr>
              <a:bodyPr rot="0" spcFirstLastPara="1" vertOverflow="ellipsis" vert="horz" wrap="square" lIns="38100" tIns="19050" rIns="38100" bIns="19050" anchor="ctr" anchorCtr="0">
                <a:spAutoFit/>
              </a:bodyPr>
              <a:lstStyle/>
              <a:p>
                <a:pPr>
                  <a:defRPr sz="1197" b="1"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Project Cost</c:v>
                </c:pt>
                <c:pt idx="1">
                  <c:v>GOI Loan Sanctioned</c:v>
                </c:pt>
                <c:pt idx="2">
                  <c:v>GoI Loan Disbursement **</c:v>
                </c:pt>
              </c:strCache>
            </c:strRef>
          </c:cat>
          <c:val>
            <c:numRef>
              <c:f>Sheet1!$B$2:$B$4</c:f>
              <c:numCache>
                <c:formatCode>General</c:formatCode>
                <c:ptCount val="3"/>
                <c:pt idx="0">
                  <c:v>700.34</c:v>
                </c:pt>
                <c:pt idx="1">
                  <c:v>310.69</c:v>
                </c:pt>
                <c:pt idx="2">
                  <c:v>324.24</c:v>
                </c:pt>
              </c:numCache>
            </c:numRef>
          </c:val>
          <c:extLst>
            <c:ext xmlns:c16="http://schemas.microsoft.com/office/drawing/2014/chart" uri="{C3380CC4-5D6E-409C-BE32-E72D297353CC}">
              <c16:uniqueId val="{00000005-6E46-41D9-86BA-3523A602D542}"/>
            </c:ext>
          </c:extLst>
        </c:ser>
        <c:dLbls>
          <c:showLegendKey val="0"/>
          <c:showVal val="0"/>
          <c:showCatName val="0"/>
          <c:showSerName val="0"/>
          <c:showPercent val="0"/>
          <c:showBubbleSize val="0"/>
        </c:dLbls>
        <c:gapWidth val="395"/>
        <c:overlap val="5"/>
        <c:axId val="1850314800"/>
        <c:axId val="1850316048"/>
      </c:barChart>
      <c:catAx>
        <c:axId val="1850314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crossAx val="1850316048"/>
        <c:crosses val="autoZero"/>
        <c:auto val="1"/>
        <c:lblAlgn val="ctr"/>
        <c:lblOffset val="100"/>
        <c:noMultiLvlLbl val="0"/>
      </c:catAx>
      <c:valAx>
        <c:axId val="1850316048"/>
        <c:scaling>
          <c:orientation val="minMax"/>
        </c:scaling>
        <c:delete val="1"/>
        <c:axPos val="l"/>
        <c:numFmt formatCode="General" sourceLinked="1"/>
        <c:majorTickMark val="none"/>
        <c:minorTickMark val="none"/>
        <c:tickLblPos val="nextTo"/>
        <c:crossAx val="18503148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200" b="1" dirty="0"/>
              <a:t>RAPDRP</a:t>
            </a:r>
            <a:r>
              <a:rPr lang="en-US" sz="1200" b="1" baseline="0" dirty="0"/>
              <a:t> Part – B  (Upgradation and strengthening of sub-transmission and distribution system in multiple towns)</a:t>
            </a:r>
            <a:endParaRPr lang="en-US" sz="1200" b="1" dirty="0"/>
          </a:p>
        </c:rich>
      </c:tx>
      <c:layout>
        <c:manualLayout>
          <c:xMode val="edge"/>
          <c:yMode val="edge"/>
          <c:x val="0.15119299538692502"/>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5.6032333096336956E-2"/>
          <c:y val="0.23856654615855707"/>
          <c:w val="0.87501655833405845"/>
          <c:h val="0.41873186869630891"/>
        </c:manualLayout>
      </c:layout>
      <c:barChart>
        <c:barDir val="col"/>
        <c:grouping val="clustered"/>
        <c:varyColors val="0"/>
        <c:ser>
          <c:idx val="0"/>
          <c:order val="0"/>
          <c:tx>
            <c:strRef>
              <c:f>Sheet1!$B$1</c:f>
              <c:strCache>
                <c:ptCount val="1"/>
                <c:pt idx="0">
                  <c:v>No. of towns covered (cumulative)</c:v>
                </c:pt>
              </c:strCache>
            </c:strRef>
          </c:tx>
          <c:spPr>
            <a:solidFill>
              <a:srgbClr val="007680"/>
            </a:solidFill>
            <a:ln>
              <a:noFill/>
            </a:ln>
            <a:effectLst/>
          </c:spPr>
          <c:invertIfNegative val="0"/>
          <c:dLbls>
            <c:spPr>
              <a:solidFill>
                <a:schemeClr val="accent4">
                  <a:lumMod val="60000"/>
                  <a:lumOff val="40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FY 15</c:v>
                </c:pt>
                <c:pt idx="1">
                  <c:v>FY 16</c:v>
                </c:pt>
                <c:pt idx="2">
                  <c:v>FY 17</c:v>
                </c:pt>
                <c:pt idx="3">
                  <c:v>FY 18</c:v>
                </c:pt>
                <c:pt idx="4">
                  <c:v>FY 19</c:v>
                </c:pt>
                <c:pt idx="5">
                  <c:v>FY 20</c:v>
                </c:pt>
                <c:pt idx="6">
                  <c:v>FY 21 (Planned)</c:v>
                </c:pt>
              </c:strCache>
            </c:strRef>
          </c:cat>
          <c:val>
            <c:numRef>
              <c:f>Sheet1!$B$2:$B$8</c:f>
              <c:numCache>
                <c:formatCode>General</c:formatCode>
                <c:ptCount val="7"/>
                <c:pt idx="0">
                  <c:v>16</c:v>
                </c:pt>
                <c:pt idx="1">
                  <c:v>46</c:v>
                </c:pt>
                <c:pt idx="2">
                  <c:v>60</c:v>
                </c:pt>
                <c:pt idx="3">
                  <c:v>67</c:v>
                </c:pt>
                <c:pt idx="4">
                  <c:v>67</c:v>
                </c:pt>
                <c:pt idx="5">
                  <c:v>67</c:v>
                </c:pt>
                <c:pt idx="6">
                  <c:v>67</c:v>
                </c:pt>
              </c:numCache>
            </c:numRef>
          </c:val>
          <c:extLst>
            <c:ext xmlns:c16="http://schemas.microsoft.com/office/drawing/2014/chart" uri="{C3380CC4-5D6E-409C-BE32-E72D297353CC}">
              <c16:uniqueId val="{00000000-1EE2-4913-8B80-F4F05618BDF1}"/>
            </c:ext>
          </c:extLst>
        </c:ser>
        <c:dLbls>
          <c:showLegendKey val="0"/>
          <c:showVal val="0"/>
          <c:showCatName val="0"/>
          <c:showSerName val="0"/>
          <c:showPercent val="0"/>
          <c:showBubbleSize val="0"/>
        </c:dLbls>
        <c:gapWidth val="219"/>
        <c:overlap val="-27"/>
        <c:axId val="928666288"/>
        <c:axId val="928659216"/>
      </c:barChart>
      <c:lineChart>
        <c:grouping val="standard"/>
        <c:varyColors val="0"/>
        <c:ser>
          <c:idx val="1"/>
          <c:order val="1"/>
          <c:tx>
            <c:strRef>
              <c:f>Sheet1!$C$1</c:f>
              <c:strCache>
                <c:ptCount val="1"/>
                <c:pt idx="0">
                  <c:v>Cumulative Financial outlay (Rs. Cr.) </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FY 15</c:v>
                </c:pt>
                <c:pt idx="1">
                  <c:v>FY 16</c:v>
                </c:pt>
                <c:pt idx="2">
                  <c:v>FY 17</c:v>
                </c:pt>
                <c:pt idx="3">
                  <c:v>FY 18</c:v>
                </c:pt>
                <c:pt idx="4">
                  <c:v>FY 19</c:v>
                </c:pt>
                <c:pt idx="5">
                  <c:v>FY 20</c:v>
                </c:pt>
                <c:pt idx="6">
                  <c:v>FY 21 (Planned)</c:v>
                </c:pt>
              </c:strCache>
            </c:strRef>
          </c:cat>
          <c:val>
            <c:numRef>
              <c:f>Sheet1!$C$2:$C$8</c:f>
              <c:numCache>
                <c:formatCode>General</c:formatCode>
                <c:ptCount val="7"/>
                <c:pt idx="0">
                  <c:v>207.16</c:v>
                </c:pt>
                <c:pt idx="1">
                  <c:v>347.08</c:v>
                </c:pt>
                <c:pt idx="2">
                  <c:v>439</c:v>
                </c:pt>
                <c:pt idx="3">
                  <c:v>483</c:v>
                </c:pt>
                <c:pt idx="4">
                  <c:v>510</c:v>
                </c:pt>
                <c:pt idx="5">
                  <c:v>535.6</c:v>
                </c:pt>
                <c:pt idx="6">
                  <c:v>544.6</c:v>
                </c:pt>
              </c:numCache>
            </c:numRef>
          </c:val>
          <c:smooth val="0"/>
          <c:extLst>
            <c:ext xmlns:c16="http://schemas.microsoft.com/office/drawing/2014/chart" uri="{C3380CC4-5D6E-409C-BE32-E72D297353CC}">
              <c16:uniqueId val="{00000001-1EE2-4913-8B80-F4F05618BDF1}"/>
            </c:ext>
          </c:extLst>
        </c:ser>
        <c:dLbls>
          <c:showLegendKey val="0"/>
          <c:showVal val="0"/>
          <c:showCatName val="0"/>
          <c:showSerName val="0"/>
          <c:showPercent val="0"/>
          <c:showBubbleSize val="0"/>
        </c:dLbls>
        <c:marker val="1"/>
        <c:smooth val="0"/>
        <c:axId val="944782512"/>
        <c:axId val="944768784"/>
      </c:lineChart>
      <c:catAx>
        <c:axId val="928666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28659216"/>
        <c:crosses val="autoZero"/>
        <c:auto val="1"/>
        <c:lblAlgn val="ctr"/>
        <c:lblOffset val="100"/>
        <c:noMultiLvlLbl val="0"/>
      </c:catAx>
      <c:valAx>
        <c:axId val="92865921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en-US"/>
          </a:p>
        </c:txPr>
        <c:crossAx val="928666288"/>
        <c:crosses val="autoZero"/>
        <c:crossBetween val="between"/>
      </c:valAx>
      <c:valAx>
        <c:axId val="944768784"/>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944782512"/>
        <c:crosses val="max"/>
        <c:crossBetween val="between"/>
      </c:valAx>
      <c:catAx>
        <c:axId val="944782512"/>
        <c:scaling>
          <c:orientation val="minMax"/>
        </c:scaling>
        <c:delete val="1"/>
        <c:axPos val="b"/>
        <c:numFmt formatCode="General" sourceLinked="1"/>
        <c:majorTickMark val="out"/>
        <c:minorTickMark val="none"/>
        <c:tickLblPos val="nextTo"/>
        <c:crossAx val="94476878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780782147686777E-2"/>
          <c:y val="1.7971997572726845E-2"/>
          <c:w val="0.80957736703097594"/>
          <c:h val="0.98202812353642233"/>
        </c:manualLayout>
      </c:layout>
      <c:pieChart>
        <c:varyColors val="1"/>
        <c:ser>
          <c:idx val="0"/>
          <c:order val="0"/>
          <c:tx>
            <c:strRef>
              <c:f>Sheet1!$B$1</c:f>
              <c:strCache>
                <c:ptCount val="1"/>
                <c:pt idx="0">
                  <c:v>Funding Pattern of Scheme</c:v>
                </c:pt>
              </c:strCache>
            </c:strRef>
          </c:tx>
          <c:explosion val="5"/>
          <c:dPt>
            <c:idx val="0"/>
            <c:bubble3D val="0"/>
            <c:spPr>
              <a:solidFill>
                <a:schemeClr val="accent1"/>
              </a:solidFill>
              <a:ln w="19050">
                <a:solidFill>
                  <a:schemeClr val="lt1"/>
                </a:solidFill>
              </a:ln>
              <a:effectLst/>
            </c:spPr>
            <c:extLst>
              <c:ext xmlns:c16="http://schemas.microsoft.com/office/drawing/2014/chart" uri="{C3380CC4-5D6E-409C-BE32-E72D297353CC}">
                <c16:uniqueId val="{00000001-D40A-4D38-AA27-5C18DA6E0F93}"/>
              </c:ext>
            </c:extLst>
          </c:dPt>
          <c:dPt>
            <c:idx val="1"/>
            <c:bubble3D val="0"/>
            <c:spPr>
              <a:solidFill>
                <a:schemeClr val="tx1">
                  <a:lumMod val="65000"/>
                  <a:lumOff val="35000"/>
                </a:schemeClr>
              </a:solidFill>
              <a:ln w="19050">
                <a:solidFill>
                  <a:schemeClr val="lt1"/>
                </a:solidFill>
              </a:ln>
              <a:effectLst/>
            </c:spPr>
            <c:extLst>
              <c:ext xmlns:c16="http://schemas.microsoft.com/office/drawing/2014/chart" uri="{C3380CC4-5D6E-409C-BE32-E72D297353CC}">
                <c16:uniqueId val="{00000003-D40A-4D38-AA27-5C18DA6E0F93}"/>
              </c:ext>
            </c:extLst>
          </c:dPt>
          <c:dPt>
            <c:idx val="2"/>
            <c:bubble3D val="0"/>
            <c:spPr>
              <a:solidFill>
                <a:srgbClr val="007680"/>
              </a:solidFill>
              <a:ln w="19050">
                <a:solidFill>
                  <a:schemeClr val="lt1"/>
                </a:solidFill>
              </a:ln>
              <a:effectLst/>
            </c:spPr>
            <c:extLst>
              <c:ext xmlns:c16="http://schemas.microsoft.com/office/drawing/2014/chart" uri="{C3380CC4-5D6E-409C-BE32-E72D297353CC}">
                <c16:uniqueId val="{00000005-D40A-4D38-AA27-5C18DA6E0F93}"/>
              </c:ext>
            </c:extLst>
          </c:dPt>
          <c:dLbls>
            <c:dLbl>
              <c:idx val="0"/>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40A-4D38-AA27-5C18DA6E0F93}"/>
                </c:ext>
              </c:extLst>
            </c:dLbl>
            <c:dLbl>
              <c:idx val="1"/>
              <c:layout>
                <c:manualLayout>
                  <c:x val="0.17725151726849697"/>
                  <c:y val="-5.613577467355458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40A-4D38-AA27-5C18DA6E0F93}"/>
                </c:ext>
              </c:extLst>
            </c:dLbl>
            <c:dLbl>
              <c:idx val="2"/>
              <c:layout>
                <c:manualLayout>
                  <c:x val="0.18616601313896886"/>
                  <c:y val="0.29405441812359878"/>
                </c:manualLayout>
              </c:layout>
              <c:spPr>
                <a:noFill/>
                <a:ln>
                  <a:noFill/>
                </a:ln>
                <a:effectLst/>
              </c:spPr>
              <c:txPr>
                <a:bodyPr rot="0" spcFirstLastPara="1" vertOverflow="ellipsis" vert="horz" wrap="square" lIns="38100" tIns="19050" rIns="38100" bIns="19050" anchor="ctr" anchorCtr="1">
                  <a:noAutofit/>
                </a:bodyPr>
                <a:lstStyle/>
                <a:p>
                  <a:pPr>
                    <a:defRPr sz="1100" b="1"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15:layout>
                    <c:manualLayout>
                      <c:w val="0.2102102599158828"/>
                      <c:h val="0.13755110126479234"/>
                    </c:manualLayout>
                  </c15:layout>
                </c:ext>
                <c:ext xmlns:c16="http://schemas.microsoft.com/office/drawing/2014/chart" uri="{C3380CC4-5D6E-409C-BE32-E72D297353CC}">
                  <c16:uniqueId val="{00000005-D40A-4D38-AA27-5C18DA6E0F93}"/>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extLst>
          </c:dLbls>
          <c:cat>
            <c:strRef>
              <c:f>Sheet1!$A$2:$A$4</c:f>
              <c:strCache>
                <c:ptCount val="3"/>
                <c:pt idx="0">
                  <c:v>GOI</c:v>
                </c:pt>
                <c:pt idx="1">
                  <c:v>GoWB</c:v>
                </c:pt>
                <c:pt idx="2">
                  <c:v>WBSEDCL</c:v>
                </c:pt>
              </c:strCache>
            </c:strRef>
          </c:cat>
          <c:val>
            <c:numRef>
              <c:f>Sheet1!$B$2:$B$4</c:f>
              <c:numCache>
                <c:formatCode>0%</c:formatCode>
                <c:ptCount val="3"/>
                <c:pt idx="0">
                  <c:v>0.6</c:v>
                </c:pt>
                <c:pt idx="1">
                  <c:v>0.15</c:v>
                </c:pt>
                <c:pt idx="2">
                  <c:v>0.25</c:v>
                </c:pt>
              </c:numCache>
            </c:numRef>
          </c:val>
          <c:extLst>
            <c:ext xmlns:c16="http://schemas.microsoft.com/office/drawing/2014/chart" uri="{C3380CC4-5D6E-409C-BE32-E72D297353CC}">
              <c16:uniqueId val="{00000006-D40A-4D38-AA27-5C18DA6E0F93}"/>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102715241245806E-2"/>
          <c:y val="1.4858911680832639E-2"/>
          <c:w val="0.96562499999999996"/>
          <c:h val="0.83055091135588777"/>
        </c:manualLayout>
      </c:layout>
      <c:barChart>
        <c:barDir val="col"/>
        <c:grouping val="stacked"/>
        <c:varyColors val="0"/>
        <c:ser>
          <c:idx val="1"/>
          <c:order val="0"/>
          <c:tx>
            <c:strRef>
              <c:f>Sheet1!$C$1</c:f>
              <c:strCache>
                <c:ptCount val="1"/>
                <c:pt idx="0">
                  <c:v>Series 2</c:v>
                </c:pt>
              </c:strCache>
            </c:strRef>
          </c:tx>
          <c:spPr>
            <a:solidFill>
              <a:schemeClr val="accent2"/>
            </a:solidFill>
            <a:ln>
              <a:noFill/>
            </a:ln>
            <a:effectLst/>
          </c:spPr>
          <c:invertIfNegative val="0"/>
          <c:dPt>
            <c:idx val="1"/>
            <c:invertIfNegative val="0"/>
            <c:bubble3D val="0"/>
            <c:spPr>
              <a:solidFill>
                <a:schemeClr val="bg1"/>
              </a:solidFill>
              <a:ln>
                <a:noFill/>
              </a:ln>
              <a:effectLst/>
            </c:spPr>
            <c:extLst>
              <c:ext xmlns:c16="http://schemas.microsoft.com/office/drawing/2014/chart" uri="{C3380CC4-5D6E-409C-BE32-E72D297353CC}">
                <c16:uniqueId val="{00000001-ADFD-4FC4-A393-29504025141B}"/>
              </c:ext>
            </c:extLst>
          </c:dPt>
          <c:dPt>
            <c:idx val="2"/>
            <c:invertIfNegative val="0"/>
            <c:bubble3D val="0"/>
            <c:spPr>
              <a:solidFill>
                <a:schemeClr val="bg1"/>
              </a:solidFill>
              <a:ln>
                <a:noFill/>
              </a:ln>
              <a:effectLst/>
            </c:spPr>
            <c:extLst>
              <c:ext xmlns:c16="http://schemas.microsoft.com/office/drawing/2014/chart" uri="{C3380CC4-5D6E-409C-BE32-E72D297353CC}">
                <c16:uniqueId val="{00000003-ADFD-4FC4-A393-29504025141B}"/>
              </c:ext>
            </c:extLst>
          </c:dPt>
          <c:dLbls>
            <c:dLbl>
              <c:idx val="3"/>
              <c:layout>
                <c:manualLayout>
                  <c:x val="0"/>
                  <c:y val="-0.4194387447222198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DFD-4FC4-A393-29504025141B}"/>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Sheet1!$A$2:$A$5</c:f>
              <c:strCache>
                <c:ptCount val="4"/>
                <c:pt idx="0">
                  <c:v>ST&amp;D </c:v>
                </c:pt>
                <c:pt idx="1">
                  <c:v>IT </c:v>
                </c:pt>
                <c:pt idx="2">
                  <c:v>GIS </c:v>
                </c:pt>
                <c:pt idx="3">
                  <c:v>Total</c:v>
                </c:pt>
              </c:strCache>
            </c:strRef>
          </c:cat>
          <c:val>
            <c:numRef>
              <c:f>Sheet1!$C$2:$C$5</c:f>
              <c:numCache>
                <c:formatCode>General</c:formatCode>
                <c:ptCount val="4"/>
                <c:pt idx="1">
                  <c:v>2939.65</c:v>
                </c:pt>
                <c:pt idx="2">
                  <c:v>2971.32</c:v>
                </c:pt>
                <c:pt idx="3">
                  <c:v>3058.86</c:v>
                </c:pt>
              </c:numCache>
            </c:numRef>
          </c:val>
          <c:extLst>
            <c:ext xmlns:c16="http://schemas.microsoft.com/office/drawing/2014/chart" uri="{C3380CC4-5D6E-409C-BE32-E72D297353CC}">
              <c16:uniqueId val="{00000005-ADFD-4FC4-A393-29504025141B}"/>
            </c:ext>
          </c:extLst>
        </c:ser>
        <c:ser>
          <c:idx val="0"/>
          <c:order val="1"/>
          <c:tx>
            <c:strRef>
              <c:f>Sheet1!$B$1</c:f>
              <c:strCache>
                <c:ptCount val="1"/>
                <c:pt idx="0">
                  <c:v>Series 1</c:v>
                </c:pt>
              </c:strCache>
            </c:strRef>
          </c:tx>
          <c:spPr>
            <a:solidFill>
              <a:schemeClr val="accent1"/>
            </a:solidFill>
            <a:ln>
              <a:noFill/>
            </a:ln>
            <a:effectLst/>
          </c:spPr>
          <c:invertIfNegative val="0"/>
          <c:dPt>
            <c:idx val="3"/>
            <c:invertIfNegative val="0"/>
            <c:bubble3D val="0"/>
            <c:spPr>
              <a:solidFill>
                <a:schemeClr val="bg1"/>
              </a:solidFill>
              <a:ln>
                <a:noFill/>
              </a:ln>
              <a:effectLst/>
            </c:spPr>
            <c:extLst>
              <c:ext xmlns:c16="http://schemas.microsoft.com/office/drawing/2014/chart" uri="{C3380CC4-5D6E-409C-BE32-E72D297353CC}">
                <c16:uniqueId val="{00000007-ADFD-4FC4-A393-29504025141B}"/>
              </c:ext>
            </c:extLst>
          </c:dPt>
          <c:dLbls>
            <c:dLbl>
              <c:idx val="0"/>
              <c:layout>
                <c:manualLayout>
                  <c:x val="7.9132123729243886E-3"/>
                  <c:y val="-0.39801689611642976"/>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5509896250931826"/>
                      <c:h val="0.15100681116023568"/>
                    </c:manualLayout>
                  </c15:layout>
                </c:ext>
                <c:ext xmlns:c16="http://schemas.microsoft.com/office/drawing/2014/chart" uri="{C3380CC4-5D6E-409C-BE32-E72D297353CC}">
                  <c16:uniqueId val="{00000008-ADFD-4FC4-A393-29504025141B}"/>
                </c:ext>
              </c:extLst>
            </c:dLbl>
            <c:dLbl>
              <c:idx val="1"/>
              <c:layout>
                <c:manualLayout>
                  <c:x val="-1.5625000000000001E-3"/>
                  <c:y val="-7.78957668769836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DFD-4FC4-A393-29504025141B}"/>
                </c:ext>
              </c:extLst>
            </c:dLbl>
            <c:dLbl>
              <c:idx val="2"/>
              <c:layout>
                <c:manualLayout>
                  <c:x val="0"/>
                  <c:y val="-7.78957668769836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DFD-4FC4-A393-29504025141B}"/>
                </c:ext>
              </c:extLst>
            </c:dLbl>
            <c:dLbl>
              <c:idx val="3"/>
              <c:layout>
                <c:manualLayout>
                  <c:x val="0"/>
                  <c:y val="0.1078556772142850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DFD-4FC4-A393-29504025141B}"/>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ST&amp;D </c:v>
                </c:pt>
                <c:pt idx="1">
                  <c:v>IT </c:v>
                </c:pt>
                <c:pt idx="2">
                  <c:v>GIS </c:v>
                </c:pt>
                <c:pt idx="3">
                  <c:v>Total</c:v>
                </c:pt>
              </c:strCache>
            </c:strRef>
          </c:cat>
          <c:val>
            <c:numRef>
              <c:f>Sheet1!$B$2:$B$5</c:f>
              <c:numCache>
                <c:formatCode>General</c:formatCode>
                <c:ptCount val="4"/>
                <c:pt idx="0">
                  <c:v>2939.65</c:v>
                </c:pt>
                <c:pt idx="1">
                  <c:v>31.67</c:v>
                </c:pt>
                <c:pt idx="2">
                  <c:v>87.54</c:v>
                </c:pt>
                <c:pt idx="3">
                  <c:v>3058.86</c:v>
                </c:pt>
              </c:numCache>
            </c:numRef>
          </c:val>
          <c:extLst>
            <c:ext xmlns:c16="http://schemas.microsoft.com/office/drawing/2014/chart" uri="{C3380CC4-5D6E-409C-BE32-E72D297353CC}">
              <c16:uniqueId val="{0000000B-ADFD-4FC4-A393-29504025141B}"/>
            </c:ext>
          </c:extLst>
        </c:ser>
        <c:dLbls>
          <c:showLegendKey val="0"/>
          <c:showVal val="0"/>
          <c:showCatName val="0"/>
          <c:showSerName val="0"/>
          <c:showPercent val="0"/>
          <c:showBubbleSize val="0"/>
        </c:dLbls>
        <c:gapWidth val="150"/>
        <c:overlap val="100"/>
        <c:axId val="500182383"/>
        <c:axId val="500190703"/>
      </c:barChart>
      <c:catAx>
        <c:axId val="5001823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crossAx val="500190703"/>
        <c:crosses val="autoZero"/>
        <c:auto val="1"/>
        <c:lblAlgn val="ctr"/>
        <c:lblOffset val="100"/>
        <c:noMultiLvlLbl val="0"/>
      </c:catAx>
      <c:valAx>
        <c:axId val="500190703"/>
        <c:scaling>
          <c:orientation val="minMax"/>
          <c:max val="3500"/>
        </c:scaling>
        <c:delete val="1"/>
        <c:axPos val="l"/>
        <c:numFmt formatCode="General" sourceLinked="1"/>
        <c:majorTickMark val="none"/>
        <c:minorTickMark val="none"/>
        <c:tickLblPos val="nextTo"/>
        <c:crossAx val="5001823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068603937365242E-3"/>
          <c:y val="2.2750107508129991E-3"/>
          <c:w val="0.96562499999999996"/>
          <c:h val="0.85168730883016575"/>
        </c:manualLayout>
      </c:layout>
      <c:barChart>
        <c:barDir val="col"/>
        <c:grouping val="stacked"/>
        <c:varyColors val="0"/>
        <c:ser>
          <c:idx val="1"/>
          <c:order val="0"/>
          <c:tx>
            <c:strRef>
              <c:f>Sheet1!$C$1</c:f>
              <c:strCache>
                <c:ptCount val="1"/>
                <c:pt idx="0">
                  <c:v>Series 2</c:v>
                </c:pt>
              </c:strCache>
            </c:strRef>
          </c:tx>
          <c:spPr>
            <a:solidFill>
              <a:schemeClr val="accent2"/>
            </a:solidFill>
            <a:ln>
              <a:noFill/>
            </a:ln>
            <a:effectLst/>
          </c:spPr>
          <c:invertIfNegative val="0"/>
          <c:dPt>
            <c:idx val="1"/>
            <c:invertIfNegative val="0"/>
            <c:bubble3D val="0"/>
            <c:spPr>
              <a:solidFill>
                <a:schemeClr val="bg1"/>
              </a:solidFill>
              <a:ln>
                <a:noFill/>
              </a:ln>
              <a:effectLst/>
            </c:spPr>
            <c:extLst>
              <c:ext xmlns:c16="http://schemas.microsoft.com/office/drawing/2014/chart" uri="{C3380CC4-5D6E-409C-BE32-E72D297353CC}">
                <c16:uniqueId val="{00000001-FC58-4E9E-9BA4-F968B70268AA}"/>
              </c:ext>
            </c:extLst>
          </c:dPt>
          <c:dPt>
            <c:idx val="2"/>
            <c:invertIfNegative val="0"/>
            <c:bubble3D val="0"/>
            <c:spPr>
              <a:solidFill>
                <a:schemeClr val="bg1"/>
              </a:solidFill>
              <a:ln>
                <a:noFill/>
              </a:ln>
              <a:effectLst/>
            </c:spPr>
            <c:extLst>
              <c:ext xmlns:c16="http://schemas.microsoft.com/office/drawing/2014/chart" uri="{C3380CC4-5D6E-409C-BE32-E72D297353CC}">
                <c16:uniqueId val="{00000003-FC58-4E9E-9BA4-F968B70268AA}"/>
              </c:ext>
            </c:extLst>
          </c:dPt>
          <c:dLbls>
            <c:dLbl>
              <c:idx val="3"/>
              <c:layout>
                <c:manualLayout>
                  <c:x val="0"/>
                  <c:y val="-0.4194387447222198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C58-4E9E-9BA4-F968B70268AA}"/>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Sheet1!$A$2:$A$5</c:f>
              <c:strCache>
                <c:ptCount val="4"/>
                <c:pt idx="0">
                  <c:v>ST&amp;D </c:v>
                </c:pt>
                <c:pt idx="1">
                  <c:v>IT </c:v>
                </c:pt>
                <c:pt idx="2">
                  <c:v>GIS </c:v>
                </c:pt>
                <c:pt idx="3">
                  <c:v>Total</c:v>
                </c:pt>
              </c:strCache>
            </c:strRef>
          </c:cat>
          <c:val>
            <c:numRef>
              <c:f>Sheet1!$C$2:$C$5</c:f>
              <c:numCache>
                <c:formatCode>General</c:formatCode>
                <c:ptCount val="4"/>
                <c:pt idx="1">
                  <c:v>2939.65</c:v>
                </c:pt>
                <c:pt idx="2">
                  <c:v>2971.32</c:v>
                </c:pt>
                <c:pt idx="3">
                  <c:v>3041.21</c:v>
                </c:pt>
              </c:numCache>
            </c:numRef>
          </c:val>
          <c:extLst>
            <c:ext xmlns:c16="http://schemas.microsoft.com/office/drawing/2014/chart" uri="{C3380CC4-5D6E-409C-BE32-E72D297353CC}">
              <c16:uniqueId val="{00000005-FC58-4E9E-9BA4-F968B70268AA}"/>
            </c:ext>
          </c:extLst>
        </c:ser>
        <c:ser>
          <c:idx val="0"/>
          <c:order val="1"/>
          <c:tx>
            <c:strRef>
              <c:f>Sheet1!$B$1</c:f>
              <c:strCache>
                <c:ptCount val="1"/>
                <c:pt idx="0">
                  <c:v>Series 1</c:v>
                </c:pt>
              </c:strCache>
            </c:strRef>
          </c:tx>
          <c:spPr>
            <a:solidFill>
              <a:schemeClr val="accent1"/>
            </a:solidFill>
            <a:ln>
              <a:noFill/>
            </a:ln>
            <a:effectLst/>
          </c:spPr>
          <c:invertIfNegative val="0"/>
          <c:dPt>
            <c:idx val="3"/>
            <c:invertIfNegative val="0"/>
            <c:bubble3D val="0"/>
            <c:spPr>
              <a:solidFill>
                <a:schemeClr val="bg1"/>
              </a:solidFill>
              <a:ln>
                <a:noFill/>
              </a:ln>
              <a:effectLst/>
            </c:spPr>
            <c:extLst>
              <c:ext xmlns:c16="http://schemas.microsoft.com/office/drawing/2014/chart" uri="{C3380CC4-5D6E-409C-BE32-E72D297353CC}">
                <c16:uniqueId val="{00000007-FC58-4E9E-9BA4-F968B70268AA}"/>
              </c:ext>
            </c:extLst>
          </c:dPt>
          <c:dLbls>
            <c:dLbl>
              <c:idx val="0"/>
              <c:layout>
                <c:manualLayout>
                  <c:x val="7.9132123729243886E-3"/>
                  <c:y val="-0.39801689611642976"/>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5509896250931826"/>
                      <c:h val="0.15100681116023568"/>
                    </c:manualLayout>
                  </c15:layout>
                </c:ext>
                <c:ext xmlns:c16="http://schemas.microsoft.com/office/drawing/2014/chart" uri="{C3380CC4-5D6E-409C-BE32-E72D297353CC}">
                  <c16:uniqueId val="{00000008-FC58-4E9E-9BA4-F968B70268AA}"/>
                </c:ext>
              </c:extLst>
            </c:dLbl>
            <c:dLbl>
              <c:idx val="1"/>
              <c:layout>
                <c:manualLayout>
                  <c:x val="-1.5625000000000001E-3"/>
                  <c:y val="-7.78957668769836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FC58-4E9E-9BA4-F968B70268AA}"/>
                </c:ext>
              </c:extLst>
            </c:dLbl>
            <c:dLbl>
              <c:idx val="2"/>
              <c:layout>
                <c:manualLayout>
                  <c:x val="0"/>
                  <c:y val="-7.78957668769836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FC58-4E9E-9BA4-F968B70268AA}"/>
                </c:ext>
              </c:extLst>
            </c:dLbl>
            <c:dLbl>
              <c:idx val="3"/>
              <c:layout>
                <c:manualLayout>
                  <c:x val="0"/>
                  <c:y val="0.1078556772142850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C58-4E9E-9BA4-F968B70268AA}"/>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ST&amp;D </c:v>
                </c:pt>
                <c:pt idx="1">
                  <c:v>IT </c:v>
                </c:pt>
                <c:pt idx="2">
                  <c:v>GIS </c:v>
                </c:pt>
                <c:pt idx="3">
                  <c:v>Total</c:v>
                </c:pt>
              </c:strCache>
            </c:strRef>
          </c:cat>
          <c:val>
            <c:numRef>
              <c:f>Sheet1!$B$2:$B$5</c:f>
              <c:numCache>
                <c:formatCode>General</c:formatCode>
                <c:ptCount val="4"/>
                <c:pt idx="0">
                  <c:v>2939.65</c:v>
                </c:pt>
                <c:pt idx="1">
                  <c:v>31.67</c:v>
                </c:pt>
                <c:pt idx="2">
                  <c:v>69.89</c:v>
                </c:pt>
                <c:pt idx="3">
                  <c:v>3041.21</c:v>
                </c:pt>
              </c:numCache>
            </c:numRef>
          </c:val>
          <c:extLst>
            <c:ext xmlns:c16="http://schemas.microsoft.com/office/drawing/2014/chart" uri="{C3380CC4-5D6E-409C-BE32-E72D297353CC}">
              <c16:uniqueId val="{0000000B-FC58-4E9E-9BA4-F968B70268AA}"/>
            </c:ext>
          </c:extLst>
        </c:ser>
        <c:dLbls>
          <c:showLegendKey val="0"/>
          <c:showVal val="0"/>
          <c:showCatName val="0"/>
          <c:showSerName val="0"/>
          <c:showPercent val="0"/>
          <c:showBubbleSize val="0"/>
        </c:dLbls>
        <c:gapWidth val="150"/>
        <c:overlap val="100"/>
        <c:axId val="500182383"/>
        <c:axId val="500190703"/>
      </c:barChart>
      <c:catAx>
        <c:axId val="5001823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crossAx val="500190703"/>
        <c:crosses val="autoZero"/>
        <c:auto val="1"/>
        <c:lblAlgn val="ctr"/>
        <c:lblOffset val="100"/>
        <c:noMultiLvlLbl val="0"/>
      </c:catAx>
      <c:valAx>
        <c:axId val="500190703"/>
        <c:scaling>
          <c:orientation val="minMax"/>
          <c:max val="3500"/>
        </c:scaling>
        <c:delete val="1"/>
        <c:axPos val="l"/>
        <c:numFmt formatCode="General" sourceLinked="1"/>
        <c:majorTickMark val="none"/>
        <c:minorTickMark val="none"/>
        <c:tickLblPos val="nextTo"/>
        <c:crossAx val="5001823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4.6151531865817582E-3"/>
          <c:w val="0.99835815280555473"/>
          <c:h val="0.87461033857907322"/>
        </c:manualLayout>
      </c:layout>
      <c:barChart>
        <c:barDir val="col"/>
        <c:grouping val="clustered"/>
        <c:varyColors val="0"/>
        <c:ser>
          <c:idx val="0"/>
          <c:order val="0"/>
          <c:tx>
            <c:strRef>
              <c:f>Sheet1!$B$1</c:f>
              <c:strCache>
                <c:ptCount val="1"/>
                <c:pt idx="0">
                  <c:v>Value ( In Crore)</c:v>
                </c:pt>
              </c:strCache>
            </c:strRef>
          </c:tx>
          <c:spPr>
            <a:solidFill>
              <a:srgbClr val="046A38"/>
            </a:solidFill>
            <a:ln>
              <a:noFill/>
            </a:ln>
            <a:effectLst/>
          </c:spPr>
          <c:invertIfNegative val="0"/>
          <c:dPt>
            <c:idx val="1"/>
            <c:invertIfNegative val="0"/>
            <c:bubble3D val="0"/>
            <c:spPr>
              <a:solidFill>
                <a:srgbClr val="046A38"/>
              </a:solidFill>
              <a:ln>
                <a:noFill/>
              </a:ln>
              <a:effectLst/>
            </c:spPr>
            <c:extLst>
              <c:ext xmlns:c16="http://schemas.microsoft.com/office/drawing/2014/chart" uri="{C3380CC4-5D6E-409C-BE32-E72D297353CC}">
                <c16:uniqueId val="{00000001-D0E5-4993-9441-5329765C3FDF}"/>
              </c:ext>
            </c:extLst>
          </c:dPt>
          <c:dPt>
            <c:idx val="2"/>
            <c:invertIfNegative val="0"/>
            <c:bubble3D val="0"/>
            <c:spPr>
              <a:solidFill>
                <a:srgbClr val="86BC25"/>
              </a:solidFill>
              <a:ln>
                <a:noFill/>
              </a:ln>
              <a:effectLst/>
            </c:spPr>
            <c:extLst>
              <c:ext xmlns:c16="http://schemas.microsoft.com/office/drawing/2014/chart" uri="{C3380CC4-5D6E-409C-BE32-E72D297353CC}">
                <c16:uniqueId val="{00000003-D0E5-4993-9441-5329765C3FDF}"/>
              </c:ext>
            </c:extLst>
          </c:dPt>
          <c:dLbls>
            <c:dLbl>
              <c:idx val="0"/>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0E5-4993-9441-5329765C3FDF}"/>
                </c:ext>
              </c:extLst>
            </c:dLbl>
            <c:dLbl>
              <c:idx val="1"/>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0E5-4993-9441-5329765C3FDF}"/>
                </c:ext>
              </c:extLst>
            </c:dLbl>
            <c:dLbl>
              <c:idx val="2"/>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0E5-4993-9441-5329765C3FDF}"/>
                </c:ext>
              </c:extLst>
            </c:dLbl>
            <c:spPr>
              <a:noFill/>
              <a:ln>
                <a:noFill/>
              </a:ln>
              <a:effectLst/>
            </c:spPr>
            <c:txPr>
              <a:bodyPr rot="5400000" spcFirstLastPara="1" vertOverflow="ellipsis" wrap="square" lIns="38100" tIns="19050" rIns="38100" bIns="19050" anchor="ctr" anchorCtr="1">
                <a:spAutoFit/>
              </a:bodyPr>
              <a:lstStyle/>
              <a:p>
                <a:pPr>
                  <a:defRPr sz="1197" b="1"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Sanctioned Project Cost </c:v>
                </c:pt>
                <c:pt idx="1">
                  <c:v>GOI Grant Sanctioned</c:v>
                </c:pt>
                <c:pt idx="2">
                  <c:v>GOI Grant Released </c:v>
                </c:pt>
              </c:strCache>
            </c:strRef>
          </c:cat>
          <c:val>
            <c:numRef>
              <c:f>Sheet1!$B$2:$B$4</c:f>
              <c:numCache>
                <c:formatCode>General</c:formatCode>
                <c:ptCount val="3"/>
                <c:pt idx="0">
                  <c:v>3058.86</c:v>
                </c:pt>
                <c:pt idx="1">
                  <c:v>1841.42</c:v>
                </c:pt>
                <c:pt idx="2">
                  <c:v>1572.72</c:v>
                </c:pt>
              </c:numCache>
            </c:numRef>
          </c:val>
          <c:extLst>
            <c:ext xmlns:c16="http://schemas.microsoft.com/office/drawing/2014/chart" uri="{C3380CC4-5D6E-409C-BE32-E72D297353CC}">
              <c16:uniqueId val="{00000005-D0E5-4993-9441-5329765C3FDF}"/>
            </c:ext>
          </c:extLst>
        </c:ser>
        <c:dLbls>
          <c:showLegendKey val="0"/>
          <c:showVal val="0"/>
          <c:showCatName val="0"/>
          <c:showSerName val="0"/>
          <c:showPercent val="0"/>
          <c:showBubbleSize val="0"/>
        </c:dLbls>
        <c:gapWidth val="395"/>
        <c:overlap val="5"/>
        <c:axId val="1850314800"/>
        <c:axId val="1850316048"/>
      </c:barChart>
      <c:catAx>
        <c:axId val="1850314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crossAx val="1850316048"/>
        <c:crosses val="autoZero"/>
        <c:auto val="1"/>
        <c:lblAlgn val="ctr"/>
        <c:lblOffset val="100"/>
        <c:noMultiLvlLbl val="0"/>
      </c:catAx>
      <c:valAx>
        <c:axId val="1850316048"/>
        <c:scaling>
          <c:orientation val="minMax"/>
        </c:scaling>
        <c:delete val="1"/>
        <c:axPos val="l"/>
        <c:numFmt formatCode="General" sourceLinked="1"/>
        <c:majorTickMark val="none"/>
        <c:minorTickMark val="none"/>
        <c:tickLblPos val="nextTo"/>
        <c:crossAx val="18503148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Source of Funding</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E4C7-4346-ADC3-8A24C1E0225E}"/>
              </c:ext>
            </c:extLst>
          </c:dPt>
          <c:dPt>
            <c:idx val="1"/>
            <c:bubble3D val="0"/>
            <c:spPr>
              <a:solidFill>
                <a:srgbClr val="007680"/>
              </a:solidFill>
              <a:ln w="19050">
                <a:solidFill>
                  <a:schemeClr val="lt1"/>
                </a:solidFill>
              </a:ln>
              <a:effectLst/>
            </c:spPr>
            <c:extLst>
              <c:ext xmlns:c16="http://schemas.microsoft.com/office/drawing/2014/chart" uri="{C3380CC4-5D6E-409C-BE32-E72D297353CC}">
                <c16:uniqueId val="{00000002-FAEC-4FFB-8FB5-D2348353A7E3}"/>
              </c:ext>
            </c:extLst>
          </c:dPt>
          <c:dLbls>
            <c:dLbl>
              <c:idx val="1"/>
              <c:layout>
                <c:manualLayout>
                  <c:x val="9.944069782689216E-2"/>
                  <c:y val="-0.31253858622149266"/>
                </c:manualLayout>
              </c:layout>
              <c:showLegendKey val="0"/>
              <c:showVal val="1"/>
              <c:showCatName val="0"/>
              <c:showSerName val="0"/>
              <c:showPercent val="0"/>
              <c:showBubbleSize val="0"/>
              <c:extLst>
                <c:ext xmlns:c15="http://schemas.microsoft.com/office/drawing/2012/chart" uri="{CE6537A1-D6FC-4f65-9D91-7224C49458BB}">
                  <c15:layout>
                    <c:manualLayout>
                      <c:w val="0.1008311169691736"/>
                      <c:h val="0.10536459462528779"/>
                    </c:manualLayout>
                  </c15:layout>
                </c:ext>
                <c:ext xmlns:c16="http://schemas.microsoft.com/office/drawing/2014/chart" uri="{C3380CC4-5D6E-409C-BE32-E72D297353CC}">
                  <c16:uniqueId val="{00000002-FAEC-4FFB-8FB5-D2348353A7E3}"/>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WBSEDCL Own Fund </c:v>
                </c:pt>
                <c:pt idx="1">
                  <c:v>GOI through REC</c:v>
                </c:pt>
              </c:strCache>
            </c:strRef>
          </c:cat>
          <c:val>
            <c:numRef>
              <c:f>Sheet1!$B$2:$B$3</c:f>
              <c:numCache>
                <c:formatCode>0%</c:formatCode>
                <c:ptCount val="2"/>
                <c:pt idx="0">
                  <c:v>0.1</c:v>
                </c:pt>
                <c:pt idx="1">
                  <c:v>0.9</c:v>
                </c:pt>
              </c:numCache>
            </c:numRef>
          </c:val>
          <c:extLst>
            <c:ext xmlns:c16="http://schemas.microsoft.com/office/drawing/2014/chart" uri="{C3380CC4-5D6E-409C-BE32-E72D297353CC}">
              <c16:uniqueId val="{00000000-FAEC-4FFB-8FB5-D2348353A7E3}"/>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a:pPr>
            <a:r>
              <a:rPr lang="en-US" sz="1200" dirty="0"/>
              <a:t>ACS-ARR GAP in Rs/kWh</a:t>
            </a:r>
          </a:p>
        </c:rich>
      </c:tx>
      <c:overlay val="0"/>
    </c:title>
    <c:autoTitleDeleted val="0"/>
    <c:plotArea>
      <c:layout>
        <c:manualLayout>
          <c:layoutTarget val="inner"/>
          <c:xMode val="edge"/>
          <c:yMode val="edge"/>
          <c:x val="0.11583111760738943"/>
          <c:y val="0.13155472397244938"/>
          <c:w val="0.81412306539224888"/>
          <c:h val="0.77833596629048496"/>
        </c:manualLayout>
      </c:layout>
      <c:lineChart>
        <c:grouping val="standard"/>
        <c:varyColors val="0"/>
        <c:ser>
          <c:idx val="0"/>
          <c:order val="0"/>
          <c:tx>
            <c:strRef>
              <c:f>Sheet1!$B$1</c:f>
              <c:strCache>
                <c:ptCount val="1"/>
                <c:pt idx="0">
                  <c:v>ACS-ARR</c:v>
                </c:pt>
              </c:strCache>
            </c:strRef>
          </c:tx>
          <c:spPr>
            <a:ln w="34925"/>
          </c:spPr>
          <c:dLbls>
            <c:dLbl>
              <c:idx val="0"/>
              <c:layout>
                <c:manualLayout>
                  <c:x val="3.0864197530864252E-3"/>
                  <c:y val="-3.58974358974358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60C-4E9B-968A-E9674E8AC0A9}"/>
                </c:ext>
              </c:extLst>
            </c:dLbl>
            <c:dLbl>
              <c:idx val="1"/>
              <c:layout>
                <c:manualLayout>
                  <c:x val="4.6296296296296389E-3"/>
                  <c:y val="-4.358974358974356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60C-4E9B-968A-E9674E8AC0A9}"/>
                </c:ext>
              </c:extLst>
            </c:dLbl>
            <c:dLbl>
              <c:idx val="2"/>
              <c:layout>
                <c:manualLayout>
                  <c:x val="7.7160493827159535E-3"/>
                  <c:y val="-3.58974358974358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60C-4E9B-968A-E9674E8AC0A9}"/>
                </c:ext>
              </c:extLst>
            </c:dLbl>
            <c:dLbl>
              <c:idx val="3"/>
              <c:layout>
                <c:manualLayout>
                  <c:x val="1.5432098765430981E-3"/>
                  <c:y val="-4.358974358974356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60C-4E9B-968A-E9674E8AC0A9}"/>
                </c:ext>
              </c:extLst>
            </c:dLbl>
            <c:dLbl>
              <c:idx val="4"/>
              <c:layout>
                <c:manualLayout>
                  <c:x val="-1.0802469135802606E-2"/>
                  <c:y val="-5.384615384615393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60C-4E9B-968A-E9674E8AC0A9}"/>
                </c:ext>
              </c:extLst>
            </c:dLbl>
            <c:spPr>
              <a:noFill/>
              <a:ln>
                <a:solidFill>
                  <a:schemeClr val="tx1"/>
                </a:solid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FY:21</c:v>
                </c:pt>
                <c:pt idx="1">
                  <c:v>FY:22</c:v>
                </c:pt>
                <c:pt idx="2">
                  <c:v>FY:23</c:v>
                </c:pt>
                <c:pt idx="3">
                  <c:v>FY:24</c:v>
                </c:pt>
                <c:pt idx="4">
                  <c:v>FY:25</c:v>
                </c:pt>
              </c:strCache>
            </c:strRef>
          </c:cat>
          <c:val>
            <c:numRef>
              <c:f>Sheet1!$B$2:$B$6</c:f>
              <c:numCache>
                <c:formatCode>General</c:formatCode>
                <c:ptCount val="5"/>
                <c:pt idx="0">
                  <c:v>1</c:v>
                </c:pt>
                <c:pt idx="1">
                  <c:v>0.75</c:v>
                </c:pt>
                <c:pt idx="2">
                  <c:v>0.44</c:v>
                </c:pt>
                <c:pt idx="3">
                  <c:v>0.08</c:v>
                </c:pt>
                <c:pt idx="4">
                  <c:v>0</c:v>
                </c:pt>
              </c:numCache>
            </c:numRef>
          </c:val>
          <c:smooth val="0"/>
          <c:extLst>
            <c:ext xmlns:c16="http://schemas.microsoft.com/office/drawing/2014/chart" uri="{C3380CC4-5D6E-409C-BE32-E72D297353CC}">
              <c16:uniqueId val="{00000005-A60C-4E9B-968A-E9674E8AC0A9}"/>
            </c:ext>
          </c:extLst>
        </c:ser>
        <c:dLbls>
          <c:showLegendKey val="0"/>
          <c:showVal val="0"/>
          <c:showCatName val="0"/>
          <c:showSerName val="0"/>
          <c:showPercent val="0"/>
          <c:showBubbleSize val="0"/>
        </c:dLbls>
        <c:marker val="1"/>
        <c:smooth val="0"/>
        <c:axId val="102391808"/>
        <c:axId val="102393344"/>
      </c:lineChart>
      <c:catAx>
        <c:axId val="102391808"/>
        <c:scaling>
          <c:orientation val="minMax"/>
        </c:scaling>
        <c:delete val="0"/>
        <c:axPos val="b"/>
        <c:numFmt formatCode="General" sourceLinked="0"/>
        <c:majorTickMark val="out"/>
        <c:minorTickMark val="none"/>
        <c:tickLblPos val="nextTo"/>
        <c:crossAx val="102393344"/>
        <c:crosses val="autoZero"/>
        <c:auto val="1"/>
        <c:lblAlgn val="ctr"/>
        <c:lblOffset val="100"/>
        <c:noMultiLvlLbl val="0"/>
      </c:catAx>
      <c:valAx>
        <c:axId val="102393344"/>
        <c:scaling>
          <c:orientation val="minMax"/>
        </c:scaling>
        <c:delete val="0"/>
        <c:axPos val="l"/>
        <c:majorGridlines/>
        <c:numFmt formatCode="General" sourceLinked="1"/>
        <c:majorTickMark val="out"/>
        <c:minorTickMark val="none"/>
        <c:tickLblPos val="nextTo"/>
        <c:crossAx val="102391808"/>
        <c:crosses val="autoZero"/>
        <c:crossBetween val="between"/>
      </c:valAx>
    </c:plotArea>
    <c:plotVisOnly val="1"/>
    <c:dispBlanksAs val="gap"/>
    <c:showDLblsOverMax val="0"/>
  </c:chart>
  <c:spPr>
    <a:solidFill>
      <a:schemeClr val="accent5">
        <a:lumMod val="20000"/>
        <a:lumOff val="80000"/>
      </a:schemeClr>
    </a:solidFill>
    <a:ln>
      <a:solidFill>
        <a:schemeClr val="tx1"/>
      </a:solidFill>
    </a:ln>
  </c:spPr>
  <c:txPr>
    <a:bodyPr/>
    <a:lstStyle/>
    <a:p>
      <a:pPr>
        <a:defRPr sz="9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itle>
    <c:autoTitleDeleted val="0"/>
    <c:plotArea>
      <c:layout>
        <c:manualLayout>
          <c:layoutTarget val="inner"/>
          <c:xMode val="edge"/>
          <c:yMode val="edge"/>
          <c:x val="6.4825143384854678E-2"/>
          <c:y val="0.10925157260370398"/>
          <c:w val="0.85097404491105277"/>
          <c:h val="0.80026705622695848"/>
        </c:manualLayout>
      </c:layout>
      <c:lineChart>
        <c:grouping val="standard"/>
        <c:varyColors val="0"/>
        <c:ser>
          <c:idx val="0"/>
          <c:order val="0"/>
          <c:tx>
            <c:strRef>
              <c:f>Sheet1!$B$1</c:f>
              <c:strCache>
                <c:ptCount val="1"/>
                <c:pt idx="0">
                  <c:v>AT&amp;C LOSS (%)</c:v>
                </c:pt>
              </c:strCache>
            </c:strRef>
          </c:tx>
          <c:spPr>
            <a:ln w="34925"/>
          </c:spPr>
          <c:dLbls>
            <c:dLbl>
              <c:idx val="0"/>
              <c:layout>
                <c:manualLayout>
                  <c:x val="-8.379431201570868E-2"/>
                  <c:y val="-3.762916878845146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A2C-485C-AE18-BCFAF30DA9B0}"/>
                </c:ext>
              </c:extLst>
            </c:dLbl>
            <c:dLbl>
              <c:idx val="1"/>
              <c:layout>
                <c:manualLayout>
                  <c:x val="-5.1207043572573984E-17"/>
                  <c:y val="-3.512055753588797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A2C-485C-AE18-BCFAF30DA9B0}"/>
                </c:ext>
              </c:extLst>
            </c:dLbl>
            <c:dLbl>
              <c:idx val="2"/>
              <c:layout>
                <c:manualLayout>
                  <c:x val="1.6758862403141693E-2"/>
                  <c:y val="-3.762916878845147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A2C-485C-AE18-BCFAF30DA9B0}"/>
                </c:ext>
              </c:extLst>
            </c:dLbl>
            <c:dLbl>
              <c:idx val="3"/>
              <c:layout>
                <c:manualLayout>
                  <c:x val="-5.5862874677140122E-3"/>
                  <c:y val="-4.013778004101488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A2C-485C-AE18-BCFAF30DA9B0}"/>
                </c:ext>
              </c:extLst>
            </c:dLbl>
            <c:dLbl>
              <c:idx val="4"/>
              <c:layout>
                <c:manualLayout>
                  <c:x val="-2.6021698864060808E-2"/>
                  <c:y val="-3.42218560713166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A2C-485C-AE18-BCFAF30DA9B0}"/>
                </c:ext>
              </c:extLst>
            </c:dLbl>
            <c:spPr>
              <a:noFill/>
              <a:ln>
                <a:solidFill>
                  <a:schemeClr val="tx1"/>
                </a:solid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FY:21</c:v>
                </c:pt>
                <c:pt idx="1">
                  <c:v>FY:22</c:v>
                </c:pt>
                <c:pt idx="2">
                  <c:v>FY:23</c:v>
                </c:pt>
                <c:pt idx="3">
                  <c:v>FY:24</c:v>
                </c:pt>
                <c:pt idx="4">
                  <c:v>FY:25</c:v>
                </c:pt>
              </c:strCache>
            </c:strRef>
          </c:cat>
          <c:val>
            <c:numRef>
              <c:f>Sheet1!$B$2:$B$6</c:f>
              <c:numCache>
                <c:formatCode>General</c:formatCode>
                <c:ptCount val="5"/>
                <c:pt idx="0">
                  <c:v>21.35</c:v>
                </c:pt>
                <c:pt idx="1">
                  <c:v>20</c:v>
                </c:pt>
                <c:pt idx="2">
                  <c:v>17.5</c:v>
                </c:pt>
                <c:pt idx="3">
                  <c:v>15.5</c:v>
                </c:pt>
                <c:pt idx="4">
                  <c:v>13.5</c:v>
                </c:pt>
              </c:numCache>
            </c:numRef>
          </c:val>
          <c:smooth val="0"/>
          <c:extLst>
            <c:ext xmlns:c16="http://schemas.microsoft.com/office/drawing/2014/chart" uri="{C3380CC4-5D6E-409C-BE32-E72D297353CC}">
              <c16:uniqueId val="{00000005-5A2C-485C-AE18-BCFAF30DA9B0}"/>
            </c:ext>
          </c:extLst>
        </c:ser>
        <c:dLbls>
          <c:showLegendKey val="0"/>
          <c:showVal val="0"/>
          <c:showCatName val="0"/>
          <c:showSerName val="0"/>
          <c:showPercent val="0"/>
          <c:showBubbleSize val="0"/>
        </c:dLbls>
        <c:marker val="1"/>
        <c:smooth val="0"/>
        <c:axId val="45091456"/>
        <c:axId val="45113728"/>
      </c:lineChart>
      <c:catAx>
        <c:axId val="45091456"/>
        <c:scaling>
          <c:orientation val="minMax"/>
        </c:scaling>
        <c:delete val="0"/>
        <c:axPos val="b"/>
        <c:numFmt formatCode="General" sourceLinked="0"/>
        <c:majorTickMark val="out"/>
        <c:minorTickMark val="none"/>
        <c:tickLblPos val="nextTo"/>
        <c:crossAx val="45113728"/>
        <c:crosses val="autoZero"/>
        <c:auto val="1"/>
        <c:lblAlgn val="ctr"/>
        <c:lblOffset val="100"/>
        <c:noMultiLvlLbl val="0"/>
      </c:catAx>
      <c:valAx>
        <c:axId val="45113728"/>
        <c:scaling>
          <c:orientation val="minMax"/>
        </c:scaling>
        <c:delete val="0"/>
        <c:axPos val="l"/>
        <c:majorGridlines/>
        <c:numFmt formatCode="General" sourceLinked="1"/>
        <c:majorTickMark val="out"/>
        <c:minorTickMark val="none"/>
        <c:tickLblPos val="nextTo"/>
        <c:crossAx val="45091456"/>
        <c:crosses val="autoZero"/>
        <c:crossBetween val="between"/>
      </c:valAx>
    </c:plotArea>
    <c:plotVisOnly val="1"/>
    <c:dispBlanksAs val="zero"/>
    <c:showDLblsOverMax val="0"/>
  </c:chart>
  <c:spPr>
    <a:solidFill>
      <a:schemeClr val="accent1">
        <a:lumMod val="20000"/>
        <a:lumOff val="80000"/>
      </a:schemeClr>
    </a:solidFill>
    <a:ln>
      <a:solidFill>
        <a:schemeClr val="tx1"/>
      </a:solidFill>
    </a:ln>
  </c:spPr>
  <c:txPr>
    <a:bodyPr/>
    <a:lstStyle/>
    <a:p>
      <a:pPr>
        <a:defRPr sz="10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cap="none" spc="20" baseline="0">
                <a:solidFill>
                  <a:schemeClr val="tx1">
                    <a:lumMod val="50000"/>
                    <a:lumOff val="50000"/>
                  </a:schemeClr>
                </a:solidFill>
                <a:latin typeface="+mn-lt"/>
                <a:ea typeface="+mn-ea"/>
                <a:cs typeface="+mn-cs"/>
              </a:defRPr>
            </a:pPr>
            <a:r>
              <a:rPr lang="en-US" sz="1600" b="1" dirty="0">
                <a:solidFill>
                  <a:schemeClr val="tx1"/>
                </a:solidFill>
                <a:latin typeface="Calibri" panose="020F0502020204030204" pitchFamily="34" charset="0"/>
                <a:cs typeface="Calibri" panose="020F0502020204030204" pitchFamily="34" charset="0"/>
              </a:rPr>
              <a:t>Funding</a:t>
            </a:r>
            <a:r>
              <a:rPr lang="en-US" sz="1600" b="1" baseline="0" dirty="0">
                <a:solidFill>
                  <a:schemeClr val="tx1"/>
                </a:solidFill>
                <a:latin typeface="Calibri" panose="020F0502020204030204" pitchFamily="34" charset="0"/>
                <a:cs typeface="Calibri" panose="020F0502020204030204" pitchFamily="34" charset="0"/>
              </a:rPr>
              <a:t> of Project Cost (In Rs. Crore)</a:t>
            </a:r>
            <a:endParaRPr lang="en-US" sz="1600" b="1" dirty="0">
              <a:solidFill>
                <a:schemeClr val="tx1"/>
              </a:solidFill>
              <a:latin typeface="Calibri" panose="020F0502020204030204" pitchFamily="34" charset="0"/>
              <a:cs typeface="Calibri" panose="020F0502020204030204" pitchFamily="34" charset="0"/>
            </a:endParaRPr>
          </a:p>
        </c:rich>
      </c:tx>
      <c:layout>
        <c:manualLayout>
          <c:xMode val="edge"/>
          <c:yMode val="edge"/>
          <c:x val="0.15772590117209337"/>
          <c:y val="3.2812491926060054E-2"/>
        </c:manualLayout>
      </c:layout>
      <c:overlay val="0"/>
      <c:spPr>
        <a:noFill/>
        <a:ln>
          <a:noFill/>
        </a:ln>
        <a:effectLst/>
      </c:spPr>
      <c:txPr>
        <a:bodyPr rot="0" spcFirstLastPara="1" vertOverflow="ellipsis" vert="horz" wrap="square" anchor="ctr" anchorCtr="1"/>
        <a:lstStyle/>
        <a:p>
          <a:pPr>
            <a:defRPr sz="1862"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manualLayout>
          <c:layoutTarget val="inner"/>
          <c:xMode val="edge"/>
          <c:yMode val="edge"/>
          <c:x val="0.19037127137449936"/>
          <c:y val="0.13580344389959143"/>
          <c:w val="0.56263059659363712"/>
          <c:h val="0.79819495239025939"/>
        </c:manualLayout>
      </c:layout>
      <c:pieChart>
        <c:varyColors val="1"/>
        <c:ser>
          <c:idx val="0"/>
          <c:order val="0"/>
          <c:tx>
            <c:strRef>
              <c:f>Sheet1!$B$1</c:f>
              <c:strCache>
                <c:ptCount val="1"/>
                <c:pt idx="0">
                  <c:v>Sales</c:v>
                </c:pt>
              </c:strCache>
            </c:strRef>
          </c:tx>
          <c:dPt>
            <c:idx val="0"/>
            <c:bubble3D val="0"/>
            <c:spPr>
              <a:solidFill>
                <a:schemeClr val="tx1">
                  <a:lumMod val="65000"/>
                  <a:lumOff val="35000"/>
                </a:schemeClr>
              </a:solidFill>
              <a:ln w="9525" cap="flat" cmpd="sng" algn="ctr">
                <a:noFill/>
                <a:round/>
              </a:ln>
              <a:effectLst>
                <a:outerShdw blurRad="40000" dist="20000" dir="5400000" rotWithShape="0">
                  <a:srgbClr val="000000">
                    <a:alpha val="38000"/>
                  </a:srgbClr>
                </a:outerShdw>
              </a:effectLst>
            </c:spPr>
            <c:extLst>
              <c:ext xmlns:c16="http://schemas.microsoft.com/office/drawing/2014/chart" uri="{C3380CC4-5D6E-409C-BE32-E72D297353CC}">
                <c16:uniqueId val="{00000003-C8FC-4240-91AC-068CD3EB4900}"/>
              </c:ext>
            </c:extLst>
          </c:dPt>
          <c:dPt>
            <c:idx val="1"/>
            <c:bubble3D val="0"/>
            <c:spPr>
              <a:solidFill>
                <a:srgbClr val="009A44"/>
              </a:solidFill>
              <a:ln w="9525" cap="flat" cmpd="sng" algn="ctr">
                <a:solidFill>
                  <a:schemeClr val="accent2">
                    <a:shade val="95000"/>
                  </a:schemeClr>
                </a:solidFill>
                <a:round/>
              </a:ln>
              <a:effectLst>
                <a:outerShdw blurRad="40000" dist="20000" dir="5400000" rotWithShape="0">
                  <a:srgbClr val="000000">
                    <a:alpha val="38000"/>
                  </a:srgbClr>
                </a:outerShdw>
              </a:effectLst>
            </c:spPr>
            <c:extLst>
              <c:ext xmlns:c16="http://schemas.microsoft.com/office/drawing/2014/chart" uri="{C3380CC4-5D6E-409C-BE32-E72D297353CC}">
                <c16:uniqueId val="{00000002-C8FC-4240-91AC-068CD3EB4900}"/>
              </c:ext>
            </c:extLst>
          </c:dPt>
          <c:dLbls>
            <c:dLbl>
              <c:idx val="0"/>
              <c:layout>
                <c:manualLayout>
                  <c:x val="-0.15731544306577158"/>
                  <c:y val="-0.23734086951102853"/>
                </c:manualLayout>
              </c:layout>
              <c:spPr>
                <a:noFill/>
                <a:ln>
                  <a:noFill/>
                </a:ln>
                <a:effectLst/>
              </c:spPr>
              <c:txPr>
                <a:bodyPr rot="0" spcFirstLastPara="1" vertOverflow="ellipsis" vert="horz" wrap="square" lIns="38100" tIns="19050" rIns="38100" bIns="19050" anchor="ctr" anchorCtr="1">
                  <a:noAutofit/>
                </a:bodyPr>
                <a:lstStyle/>
                <a:p>
                  <a:pPr>
                    <a:defRPr sz="1400" b="1"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bestFit"/>
              <c:showLegendKey val="0"/>
              <c:showVal val="1"/>
              <c:showCatName val="0"/>
              <c:showSerName val="0"/>
              <c:showPercent val="1"/>
              <c:showBubbleSize val="0"/>
              <c:extLst>
                <c:ext xmlns:c15="http://schemas.microsoft.com/office/drawing/2012/chart" uri="{CE6537A1-D6FC-4f65-9D91-7224C49458BB}">
                  <c15:layout>
                    <c:manualLayout>
                      <c:w val="0.17130623622470381"/>
                      <c:h val="0.22804534250852793"/>
                    </c:manualLayout>
                  </c15:layout>
                </c:ext>
                <c:ext xmlns:c16="http://schemas.microsoft.com/office/drawing/2014/chart" uri="{C3380CC4-5D6E-409C-BE32-E72D297353CC}">
                  <c16:uniqueId val="{00000003-C8FC-4240-91AC-068CD3EB4900}"/>
                </c:ext>
              </c:extLst>
            </c:dLbl>
            <c:dLbl>
              <c:idx val="1"/>
              <c:layout>
                <c:manualLayout>
                  <c:x val="8.4238247664987498E-2"/>
                  <c:y val="0.14047618933854411"/>
                </c:manualLayout>
              </c:layout>
              <c:spPr>
                <a:noFill/>
                <a:ln>
                  <a:noFill/>
                </a:ln>
                <a:effectLst/>
              </c:spPr>
              <c:txPr>
                <a:bodyPr rot="0" spcFirstLastPara="1" vertOverflow="ellipsis" vert="horz" wrap="square" lIns="38100" tIns="19050" rIns="38100" bIns="19050" anchor="ctr" anchorCtr="1">
                  <a:noAutofit/>
                </a:bodyPr>
                <a:lstStyle/>
                <a:p>
                  <a:pPr>
                    <a:defRPr sz="1400" b="1"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bestFit"/>
              <c:showLegendKey val="0"/>
              <c:showVal val="1"/>
              <c:showCatName val="0"/>
              <c:showSerName val="0"/>
              <c:showPercent val="1"/>
              <c:showBubbleSize val="0"/>
              <c:extLst>
                <c:ext xmlns:c15="http://schemas.microsoft.com/office/drawing/2012/chart" uri="{CE6537A1-D6FC-4f65-9D91-7224C49458BB}">
                  <c15:layout>
                    <c:manualLayout>
                      <c:w val="0.13007871206811175"/>
                      <c:h val="0.21410501621431688"/>
                    </c:manualLayout>
                  </c15:layout>
                </c:ext>
                <c:ext xmlns:c16="http://schemas.microsoft.com/office/drawing/2014/chart" uri="{C3380CC4-5D6E-409C-BE32-E72D297353CC}">
                  <c16:uniqueId val="{00000002-C8FC-4240-91AC-068CD3EB4900}"/>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ctr"/>
            <c:showLegendKey val="0"/>
            <c:showVal val="1"/>
            <c:showCatName val="0"/>
            <c:showSerName val="0"/>
            <c:showPercent val="1"/>
            <c:showBubbleSize val="0"/>
            <c:showLeaderLines val="1"/>
            <c:leaderLines>
              <c:spPr>
                <a:ln w="9525">
                  <a:solidFill>
                    <a:schemeClr val="tx1">
                      <a:lumMod val="35000"/>
                      <a:lumOff val="65000"/>
                    </a:schemeClr>
                  </a:solidFill>
                </a:ln>
                <a:effectLst/>
              </c:spPr>
            </c:leaderLines>
            <c:extLst>
              <c:ext xmlns:c15="http://schemas.microsoft.com/office/drawing/2012/chart" uri="{CE6537A1-D6FC-4f65-9D91-7224C49458BB}"/>
            </c:extLst>
          </c:dLbls>
          <c:cat>
            <c:strRef>
              <c:f>Sheet1!$A$2:$A$3</c:f>
              <c:strCache>
                <c:ptCount val="2"/>
                <c:pt idx="0">
                  <c:v>REC (Loan)</c:v>
                </c:pt>
                <c:pt idx="1">
                  <c:v>WBSEDCL (Equity)</c:v>
                </c:pt>
              </c:strCache>
            </c:strRef>
          </c:cat>
          <c:val>
            <c:numRef>
              <c:f>Sheet1!$B$2:$B$3</c:f>
              <c:numCache>
                <c:formatCode>0.00</c:formatCode>
                <c:ptCount val="2"/>
                <c:pt idx="0">
                  <c:v>113.36399999999999</c:v>
                </c:pt>
                <c:pt idx="1">
                  <c:v>12.596000000000004</c:v>
                </c:pt>
              </c:numCache>
            </c:numRef>
          </c:val>
          <c:extLst>
            <c:ext xmlns:c16="http://schemas.microsoft.com/office/drawing/2014/chart" uri="{C3380CC4-5D6E-409C-BE32-E72D297353CC}">
              <c16:uniqueId val="{00000000-C8FC-4240-91AC-068CD3EB4900}"/>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b"/>
      <c:layout>
        <c:manualLayout>
          <c:xMode val="edge"/>
          <c:yMode val="edge"/>
          <c:x val="0.76399433975754483"/>
          <c:y val="0.60861894472959033"/>
          <c:w val="0.2324199773572756"/>
          <c:h val="0.344383527464683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00B050">
        <a:alpha val="10000"/>
      </a:srgbClr>
    </a:solid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r>
              <a:rPr lang="en-US" sz="1400" b="1" dirty="0">
                <a:solidFill>
                  <a:schemeClr val="tx1"/>
                </a:solidFill>
                <a:latin typeface="Calibri" panose="020F0502020204030204" pitchFamily="34" charset="0"/>
                <a:cs typeface="Calibri" panose="020F0502020204030204" pitchFamily="34" charset="0"/>
              </a:rPr>
              <a:t>Phasing of Project (In Rs. Crore)</a:t>
            </a:r>
          </a:p>
        </c:rich>
      </c:tx>
      <c:layout>
        <c:manualLayout>
          <c:xMode val="edge"/>
          <c:yMode val="edge"/>
          <c:x val="0.23353743527335355"/>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Phasing of Project (In Crore)</c:v>
                </c:pt>
              </c:strCache>
            </c:strRef>
          </c:tx>
          <c:spPr>
            <a:solidFill>
              <a:schemeClr val="accent1"/>
            </a:solidFill>
            <a:ln>
              <a:noFill/>
            </a:ln>
            <a:effectLst/>
          </c:spPr>
          <c:invertIfNegative val="0"/>
          <c:dPt>
            <c:idx val="0"/>
            <c:invertIfNegative val="0"/>
            <c:bubble3D val="0"/>
            <c:spPr>
              <a:solidFill>
                <a:srgbClr val="005587"/>
              </a:solidFill>
              <a:ln>
                <a:noFill/>
              </a:ln>
              <a:effectLst/>
            </c:spPr>
            <c:extLst>
              <c:ext xmlns:c16="http://schemas.microsoft.com/office/drawing/2014/chart" uri="{C3380CC4-5D6E-409C-BE32-E72D297353CC}">
                <c16:uniqueId val="{00000004-0B92-4FCC-864D-9A658F1F1214}"/>
              </c:ext>
            </c:extLst>
          </c:dPt>
          <c:dPt>
            <c:idx val="1"/>
            <c:invertIfNegative val="0"/>
            <c:bubble3D val="0"/>
            <c:spPr>
              <a:solidFill>
                <a:srgbClr val="007680"/>
              </a:solidFill>
              <a:ln>
                <a:noFill/>
              </a:ln>
              <a:effectLst/>
            </c:spPr>
            <c:extLst>
              <c:ext xmlns:c16="http://schemas.microsoft.com/office/drawing/2014/chart" uri="{C3380CC4-5D6E-409C-BE32-E72D297353CC}">
                <c16:uniqueId val="{00000005-0B92-4FCC-864D-9A658F1F1214}"/>
              </c:ext>
            </c:extLst>
          </c:dPt>
          <c:dPt>
            <c:idx val="2"/>
            <c:invertIfNegative val="0"/>
            <c:bubble3D val="0"/>
            <c:spPr>
              <a:solidFill>
                <a:srgbClr val="009A44"/>
              </a:solidFill>
              <a:ln>
                <a:noFill/>
              </a:ln>
              <a:effectLst/>
            </c:spPr>
            <c:extLst>
              <c:ext xmlns:c16="http://schemas.microsoft.com/office/drawing/2014/chart" uri="{C3380CC4-5D6E-409C-BE32-E72D297353CC}">
                <c16:uniqueId val="{00000006-0B92-4FCC-864D-9A658F1F1214}"/>
              </c:ext>
            </c:extLst>
          </c:dPt>
          <c:dLbls>
            <c:spPr>
              <a:noFill/>
              <a:ln>
                <a:noFill/>
              </a:ln>
              <a:effectLst/>
            </c:spPr>
            <c:txPr>
              <a:bodyPr rot="5400000" spcFirstLastPara="1" vertOverflow="ellipsis" wrap="square" lIns="38100" tIns="19050" rIns="38100" bIns="19050" anchor="ctr" anchorCtr="1">
                <a:spAutoFit/>
              </a:bodyPr>
              <a:lstStyle/>
              <a:p>
                <a:pPr>
                  <a:defRPr sz="1400" b="1"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FY 2020-21</c:v>
                </c:pt>
                <c:pt idx="1">
                  <c:v>FY 2021-22</c:v>
                </c:pt>
                <c:pt idx="2">
                  <c:v>FY 2022-23</c:v>
                </c:pt>
              </c:strCache>
            </c:strRef>
          </c:cat>
          <c:val>
            <c:numRef>
              <c:f>Sheet1!$B$2:$B$4</c:f>
              <c:numCache>
                <c:formatCode>General</c:formatCode>
                <c:ptCount val="3"/>
                <c:pt idx="0">
                  <c:v>25</c:v>
                </c:pt>
                <c:pt idx="1">
                  <c:v>50</c:v>
                </c:pt>
                <c:pt idx="2">
                  <c:v>50.96</c:v>
                </c:pt>
              </c:numCache>
            </c:numRef>
          </c:val>
          <c:extLst>
            <c:ext xmlns:c16="http://schemas.microsoft.com/office/drawing/2014/chart" uri="{C3380CC4-5D6E-409C-BE32-E72D297353CC}">
              <c16:uniqueId val="{00000000-0B92-4FCC-864D-9A658F1F1214}"/>
            </c:ext>
          </c:extLst>
        </c:ser>
        <c:dLbls>
          <c:showLegendKey val="0"/>
          <c:showVal val="0"/>
          <c:showCatName val="0"/>
          <c:showSerName val="0"/>
          <c:showPercent val="0"/>
          <c:showBubbleSize val="0"/>
        </c:dLbls>
        <c:gapWidth val="219"/>
        <c:overlap val="-27"/>
        <c:axId val="1749755920"/>
        <c:axId val="1749735952"/>
      </c:barChart>
      <c:catAx>
        <c:axId val="1749755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crossAx val="1749735952"/>
        <c:crosses val="autoZero"/>
        <c:auto val="1"/>
        <c:lblAlgn val="ctr"/>
        <c:lblOffset val="100"/>
        <c:noMultiLvlLbl val="0"/>
      </c:catAx>
      <c:valAx>
        <c:axId val="1749735952"/>
        <c:scaling>
          <c:orientation val="minMax"/>
        </c:scaling>
        <c:delete val="1"/>
        <c:axPos val="l"/>
        <c:numFmt formatCode="General" sourceLinked="1"/>
        <c:majorTickMark val="none"/>
        <c:minorTickMark val="none"/>
        <c:tickLblPos val="nextTo"/>
        <c:crossAx val="174975592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0097A9">
        <a:alpha val="10000"/>
      </a:srgbClr>
    </a:solid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5602432044167279E-3"/>
          <c:y val="0.1393308412740713"/>
          <c:w val="0.98141677930144189"/>
          <c:h val="0.4535091699618029"/>
        </c:manualLayout>
      </c:layout>
      <c:lineChart>
        <c:grouping val="standard"/>
        <c:varyColors val="0"/>
        <c:ser>
          <c:idx val="0"/>
          <c:order val="0"/>
          <c:tx>
            <c:strRef>
              <c:f>Sheet1!$B$1</c:f>
              <c:strCache>
                <c:ptCount val="1"/>
                <c:pt idx="0">
                  <c:v>Existing AT&amp;C Loss</c:v>
                </c:pt>
              </c:strCache>
            </c:strRef>
          </c:tx>
          <c:spPr>
            <a:ln w="28575" cap="rnd">
              <a:solidFill>
                <a:srgbClr val="007680"/>
              </a:solidFill>
              <a:round/>
            </a:ln>
            <a:effectLst/>
          </c:spPr>
          <c:marker>
            <c:symbol val="circle"/>
            <c:size val="5"/>
            <c:spPr>
              <a:solidFill>
                <a:schemeClr val="accent1"/>
              </a:solidFill>
              <a:ln w="9525">
                <a:solidFill>
                  <a:srgbClr val="007680"/>
                </a:solidFill>
              </a:ln>
              <a:effectLst/>
            </c:spPr>
          </c:marker>
          <c:dLbls>
            <c:dLbl>
              <c:idx val="3"/>
              <c:layout>
                <c:manualLayout>
                  <c:x val="-2.9087255176503533E-2"/>
                  <c:y val="2.675805701952324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8EE-4678-8474-6A54C8E03E8B}"/>
                </c:ext>
              </c:extLst>
            </c:dLbl>
            <c:dLbl>
              <c:idx val="5"/>
              <c:layout>
                <c:manualLayout>
                  <c:x val="-2.0746762057267304E-2"/>
                  <c:y val="-6.098102625785371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53B-4063-A951-4017A5E1CB70}"/>
                </c:ext>
              </c:extLst>
            </c:dLbl>
            <c:dLbl>
              <c:idx val="11"/>
              <c:layout>
                <c:manualLayout>
                  <c:x val="-2.3581950577103307E-2"/>
                  <c:y val="3.210966842342791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8EE-4678-8474-6A54C8E03E8B}"/>
                </c:ext>
              </c:extLst>
            </c:dLbl>
            <c:numFmt formatCode="0%" sourceLinked="0"/>
            <c:spPr>
              <a:solidFill>
                <a:srgbClr val="007680"/>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Sheet1!$A$2:$A$14</c:f>
              <c:strCache>
                <c:ptCount val="13"/>
                <c:pt idx="0">
                  <c:v>Alipurduar</c:v>
                </c:pt>
                <c:pt idx="1">
                  <c:v>Bankura</c:v>
                </c:pt>
                <c:pt idx="2">
                  <c:v>Coochbehar</c:v>
                </c:pt>
                <c:pt idx="3">
                  <c:v>Dakshin Dinajpur</c:v>
                </c:pt>
                <c:pt idx="4">
                  <c:v>East Midnapur</c:v>
                </c:pt>
                <c:pt idx="5">
                  <c:v>Howrah</c:v>
                </c:pt>
                <c:pt idx="6">
                  <c:v>Jalpaiguri</c:v>
                </c:pt>
                <c:pt idx="7">
                  <c:v>Malda</c:v>
                </c:pt>
                <c:pt idx="8">
                  <c:v>Purulia </c:v>
                </c:pt>
                <c:pt idx="9">
                  <c:v>Uttar Dinajpur</c:v>
                </c:pt>
                <c:pt idx="10">
                  <c:v>Darjeeling </c:v>
                </c:pt>
                <c:pt idx="11">
                  <c:v>Murshidabad</c:v>
                </c:pt>
                <c:pt idx="12">
                  <c:v>Nadia</c:v>
                </c:pt>
              </c:strCache>
            </c:strRef>
          </c:cat>
          <c:val>
            <c:numRef>
              <c:f>Sheet1!$B$2:$B$14</c:f>
              <c:numCache>
                <c:formatCode>0.00%</c:formatCode>
                <c:ptCount val="13"/>
                <c:pt idx="0">
                  <c:v>0.26290000000000002</c:v>
                </c:pt>
                <c:pt idx="1">
                  <c:v>0.3906</c:v>
                </c:pt>
                <c:pt idx="2">
                  <c:v>0.40679999999999999</c:v>
                </c:pt>
                <c:pt idx="3">
                  <c:v>0.48630000000000001</c:v>
                </c:pt>
                <c:pt idx="4">
                  <c:v>0.38340000000000002</c:v>
                </c:pt>
                <c:pt idx="5">
                  <c:v>0.16489999999999999</c:v>
                </c:pt>
                <c:pt idx="6">
                  <c:v>0.31530000000000002</c:v>
                </c:pt>
                <c:pt idx="7">
                  <c:v>0.43530000000000002</c:v>
                </c:pt>
                <c:pt idx="8">
                  <c:v>0.373</c:v>
                </c:pt>
                <c:pt idx="9">
                  <c:v>0.43430000000000002</c:v>
                </c:pt>
                <c:pt idx="10">
                  <c:v>0.2477</c:v>
                </c:pt>
                <c:pt idx="11">
                  <c:v>0.49819999999999998</c:v>
                </c:pt>
                <c:pt idx="12">
                  <c:v>0.32200000000000001</c:v>
                </c:pt>
              </c:numCache>
            </c:numRef>
          </c:val>
          <c:smooth val="0"/>
          <c:extLst>
            <c:ext xmlns:c16="http://schemas.microsoft.com/office/drawing/2014/chart" uri="{C3380CC4-5D6E-409C-BE32-E72D297353CC}">
              <c16:uniqueId val="{00000001-78EE-4678-8474-6A54C8E03E8B}"/>
            </c:ext>
          </c:extLst>
        </c:ser>
        <c:ser>
          <c:idx val="1"/>
          <c:order val="1"/>
          <c:tx>
            <c:strRef>
              <c:f>Sheet1!$C$1</c:f>
              <c:strCache>
                <c:ptCount val="1"/>
                <c:pt idx="0">
                  <c:v>Proposed AT&amp;C Loss</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numFmt formatCode="0%" sourceLinked="0"/>
            <c:spPr>
              <a:solidFill>
                <a:srgbClr val="012169"/>
              </a:solidFill>
              <a:ln>
                <a:solidFill>
                  <a:srgbClr val="0070C0"/>
                </a:solid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Sheet1!$A$2:$A$14</c:f>
              <c:strCache>
                <c:ptCount val="13"/>
                <c:pt idx="0">
                  <c:v>Alipurduar</c:v>
                </c:pt>
                <c:pt idx="1">
                  <c:v>Bankura</c:v>
                </c:pt>
                <c:pt idx="2">
                  <c:v>Coochbehar</c:v>
                </c:pt>
                <c:pt idx="3">
                  <c:v>Dakshin Dinajpur</c:v>
                </c:pt>
                <c:pt idx="4">
                  <c:v>East Midnapur</c:v>
                </c:pt>
                <c:pt idx="5">
                  <c:v>Howrah</c:v>
                </c:pt>
                <c:pt idx="6">
                  <c:v>Jalpaiguri</c:v>
                </c:pt>
                <c:pt idx="7">
                  <c:v>Malda</c:v>
                </c:pt>
                <c:pt idx="8">
                  <c:v>Purulia </c:v>
                </c:pt>
                <c:pt idx="9">
                  <c:v>Uttar Dinajpur</c:v>
                </c:pt>
                <c:pt idx="10">
                  <c:v>Darjeeling </c:v>
                </c:pt>
                <c:pt idx="11">
                  <c:v>Murshidabad</c:v>
                </c:pt>
                <c:pt idx="12">
                  <c:v>Nadia</c:v>
                </c:pt>
              </c:strCache>
            </c:strRef>
          </c:cat>
          <c:val>
            <c:numRef>
              <c:f>Sheet1!$C$2:$C$14</c:f>
              <c:numCache>
                <c:formatCode>0.00%</c:formatCode>
                <c:ptCount val="13"/>
                <c:pt idx="0" formatCode="0%">
                  <c:v>0.15</c:v>
                </c:pt>
                <c:pt idx="1">
                  <c:v>0.1615</c:v>
                </c:pt>
                <c:pt idx="2">
                  <c:v>0.1578</c:v>
                </c:pt>
                <c:pt idx="3">
                  <c:v>0.17780000000000001</c:v>
                </c:pt>
                <c:pt idx="4">
                  <c:v>0.13730000000000001</c:v>
                </c:pt>
                <c:pt idx="5">
                  <c:v>0.1069</c:v>
                </c:pt>
                <c:pt idx="6">
                  <c:v>0.10920000000000001</c:v>
                </c:pt>
                <c:pt idx="7">
                  <c:v>0.17169999999999999</c:v>
                </c:pt>
                <c:pt idx="8" formatCode="0%">
                  <c:v>0.16</c:v>
                </c:pt>
                <c:pt idx="9">
                  <c:v>0.16450000000000001</c:v>
                </c:pt>
                <c:pt idx="10">
                  <c:v>9.4500000000000001E-2</c:v>
                </c:pt>
                <c:pt idx="11">
                  <c:v>0.18490000000000001</c:v>
                </c:pt>
                <c:pt idx="12">
                  <c:v>0.16880000000000001</c:v>
                </c:pt>
              </c:numCache>
            </c:numRef>
          </c:val>
          <c:smooth val="0"/>
          <c:extLst>
            <c:ext xmlns:c16="http://schemas.microsoft.com/office/drawing/2014/chart" uri="{C3380CC4-5D6E-409C-BE32-E72D297353CC}">
              <c16:uniqueId val="{00000000-78EE-4678-8474-6A54C8E03E8B}"/>
            </c:ext>
          </c:extLst>
        </c:ser>
        <c:dLbls>
          <c:showLegendKey val="0"/>
          <c:showVal val="0"/>
          <c:showCatName val="0"/>
          <c:showSerName val="0"/>
          <c:showPercent val="0"/>
          <c:showBubbleSize val="0"/>
        </c:dLbls>
        <c:marker val="1"/>
        <c:smooth val="0"/>
        <c:axId val="2138081359"/>
        <c:axId val="2138073039"/>
      </c:lineChart>
      <c:catAx>
        <c:axId val="21380813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crossAx val="2138073039"/>
        <c:crosses val="autoZero"/>
        <c:auto val="1"/>
        <c:lblAlgn val="ctr"/>
        <c:lblOffset val="100"/>
        <c:noMultiLvlLbl val="0"/>
      </c:catAx>
      <c:valAx>
        <c:axId val="2138073039"/>
        <c:scaling>
          <c:orientation val="minMax"/>
          <c:max val="0.5"/>
        </c:scaling>
        <c:delete val="1"/>
        <c:axPos val="l"/>
        <c:numFmt formatCode="0.00%" sourceLinked="1"/>
        <c:majorTickMark val="none"/>
        <c:minorTickMark val="none"/>
        <c:tickLblPos val="nextTo"/>
        <c:crossAx val="2138081359"/>
        <c:crosses val="autoZero"/>
        <c:crossBetween val="between"/>
      </c:valAx>
      <c:spPr>
        <a:noFill/>
        <a:ln>
          <a:noFill/>
        </a:ln>
        <a:effectLst/>
      </c:spPr>
    </c:plotArea>
    <c:legend>
      <c:legendPos val="b"/>
      <c:layout>
        <c:manualLayout>
          <c:xMode val="edge"/>
          <c:yMode val="edge"/>
          <c:x val="4.187305219734789E-4"/>
          <c:y val="0"/>
          <c:w val="0.9995812694780265"/>
          <c:h val="0.11601510891966435"/>
        </c:manualLayout>
      </c:layout>
      <c:overlay val="0"/>
      <c:spPr>
        <a:solidFill>
          <a:schemeClr val="bg1">
            <a:lumMod val="95000"/>
          </a:schemeClr>
        </a:solidFill>
        <a:ln>
          <a:noFill/>
        </a:ln>
        <a:effectLst/>
      </c:spPr>
      <c:txPr>
        <a:bodyPr rot="0" spcFirstLastPara="1" vertOverflow="ellipsis" vert="horz" wrap="square" anchor="ctr" anchorCtr="1"/>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lumMod val="95000"/>
      </a:schemeClr>
    </a:solid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7.1180241261784676E-3"/>
          <c:w val="1"/>
          <c:h val="0.64431883536453549"/>
        </c:manualLayout>
      </c:layout>
      <c:barChart>
        <c:barDir val="col"/>
        <c:grouping val="clustered"/>
        <c:varyColors val="0"/>
        <c:ser>
          <c:idx val="0"/>
          <c:order val="0"/>
          <c:tx>
            <c:strRef>
              <c:f>Sheet1!$B$1</c:f>
              <c:strCache>
                <c:ptCount val="1"/>
                <c:pt idx="0">
                  <c:v>Series 1</c:v>
                </c:pt>
              </c:strCache>
            </c:strRef>
          </c:tx>
          <c:spPr>
            <a:solidFill>
              <a:srgbClr val="86BC25"/>
            </a:solidFill>
            <a:ln>
              <a:noFill/>
            </a:ln>
            <a:effectLst/>
          </c:spPr>
          <c:invertIfNegative val="0"/>
          <c:dPt>
            <c:idx val="1"/>
            <c:invertIfNegative val="0"/>
            <c:bubble3D val="0"/>
            <c:spPr>
              <a:solidFill>
                <a:srgbClr val="0076A8"/>
              </a:solidFill>
              <a:ln>
                <a:noFill/>
              </a:ln>
              <a:effectLst/>
            </c:spPr>
            <c:extLst>
              <c:ext xmlns:c16="http://schemas.microsoft.com/office/drawing/2014/chart" uri="{C3380CC4-5D6E-409C-BE32-E72D297353CC}">
                <c16:uniqueId val="{00000005-6CDF-455E-AEFA-839A9DFEF4E1}"/>
              </c:ext>
            </c:extLst>
          </c:dPt>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Project Cost
(In Crore)</c:v>
                </c:pt>
                <c:pt idx="1">
                  <c:v>Amount Spend
(In Crore)</c:v>
                </c:pt>
              </c:strCache>
            </c:strRef>
          </c:cat>
          <c:val>
            <c:numRef>
              <c:f>Sheet1!$B$2:$B$3</c:f>
              <c:numCache>
                <c:formatCode>General</c:formatCode>
                <c:ptCount val="2"/>
                <c:pt idx="0">
                  <c:v>308</c:v>
                </c:pt>
                <c:pt idx="1">
                  <c:v>119.16</c:v>
                </c:pt>
              </c:numCache>
            </c:numRef>
          </c:val>
          <c:extLst>
            <c:ext xmlns:c16="http://schemas.microsoft.com/office/drawing/2014/chart" uri="{C3380CC4-5D6E-409C-BE32-E72D297353CC}">
              <c16:uniqueId val="{00000000-6CDF-455E-AEFA-839A9DFEF4E1}"/>
            </c:ext>
          </c:extLst>
        </c:ser>
        <c:dLbls>
          <c:showLegendKey val="0"/>
          <c:showVal val="0"/>
          <c:showCatName val="0"/>
          <c:showSerName val="0"/>
          <c:showPercent val="0"/>
          <c:showBubbleSize val="0"/>
        </c:dLbls>
        <c:gapWidth val="219"/>
        <c:overlap val="-27"/>
        <c:axId val="911141343"/>
        <c:axId val="911153823"/>
      </c:barChart>
      <c:catAx>
        <c:axId val="911141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crossAx val="911153823"/>
        <c:crosses val="autoZero"/>
        <c:auto val="1"/>
        <c:lblAlgn val="ctr"/>
        <c:lblOffset val="100"/>
        <c:noMultiLvlLbl val="0"/>
      </c:catAx>
      <c:valAx>
        <c:axId val="911153823"/>
        <c:scaling>
          <c:orientation val="minMax"/>
          <c:max val="310"/>
          <c:min val="0"/>
        </c:scaling>
        <c:delete val="1"/>
        <c:axPos val="l"/>
        <c:numFmt formatCode="General" sourceLinked="1"/>
        <c:majorTickMark val="none"/>
        <c:minorTickMark val="none"/>
        <c:tickLblPos val="nextTo"/>
        <c:crossAx val="9111413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012169">
        <a:alpha val="10000"/>
      </a:srgbClr>
    </a:solid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7.1180241261784676E-3"/>
          <c:w val="1"/>
          <c:h val="0.64431883536453549"/>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43B02A"/>
              </a:solidFill>
              <a:ln>
                <a:noFill/>
              </a:ln>
              <a:effectLst/>
            </c:spPr>
            <c:extLst>
              <c:ext xmlns:c16="http://schemas.microsoft.com/office/drawing/2014/chart" uri="{C3380CC4-5D6E-409C-BE32-E72D297353CC}">
                <c16:uniqueId val="{00000004-9292-406E-831D-5ED710D4DE59}"/>
              </c:ext>
            </c:extLst>
          </c:dPt>
          <c:dPt>
            <c:idx val="1"/>
            <c:invertIfNegative val="0"/>
            <c:bubble3D val="0"/>
            <c:spPr>
              <a:solidFill>
                <a:srgbClr val="00ABAB"/>
              </a:solidFill>
              <a:ln>
                <a:noFill/>
              </a:ln>
              <a:effectLst/>
            </c:spPr>
            <c:extLst>
              <c:ext xmlns:c16="http://schemas.microsoft.com/office/drawing/2014/chart" uri="{C3380CC4-5D6E-409C-BE32-E72D297353CC}">
                <c16:uniqueId val="{00000001-9292-406E-831D-5ED710D4DE59}"/>
              </c:ext>
            </c:extLst>
          </c:dPt>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Project Cost
(In Crore)</c:v>
                </c:pt>
                <c:pt idx="1">
                  <c:v>Amount Spend
(In Crore)</c:v>
                </c:pt>
              </c:strCache>
            </c:strRef>
          </c:cat>
          <c:val>
            <c:numRef>
              <c:f>Sheet1!$B$2:$B$3</c:f>
              <c:numCache>
                <c:formatCode>General</c:formatCode>
                <c:ptCount val="2"/>
                <c:pt idx="0">
                  <c:v>2200</c:v>
                </c:pt>
                <c:pt idx="1">
                  <c:v>681.91</c:v>
                </c:pt>
              </c:numCache>
            </c:numRef>
          </c:val>
          <c:extLst>
            <c:ext xmlns:c16="http://schemas.microsoft.com/office/drawing/2014/chart" uri="{C3380CC4-5D6E-409C-BE32-E72D297353CC}">
              <c16:uniqueId val="{00000002-9292-406E-831D-5ED710D4DE59}"/>
            </c:ext>
          </c:extLst>
        </c:ser>
        <c:dLbls>
          <c:showLegendKey val="0"/>
          <c:showVal val="0"/>
          <c:showCatName val="0"/>
          <c:showSerName val="0"/>
          <c:showPercent val="0"/>
          <c:showBubbleSize val="0"/>
        </c:dLbls>
        <c:gapWidth val="219"/>
        <c:overlap val="-27"/>
        <c:axId val="911141343"/>
        <c:axId val="911153823"/>
      </c:barChart>
      <c:catAx>
        <c:axId val="911141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crossAx val="911153823"/>
        <c:crosses val="autoZero"/>
        <c:auto val="1"/>
        <c:lblAlgn val="ctr"/>
        <c:lblOffset val="100"/>
        <c:noMultiLvlLbl val="0"/>
      </c:catAx>
      <c:valAx>
        <c:axId val="911153823"/>
        <c:scaling>
          <c:orientation val="minMax"/>
          <c:max val="2300"/>
          <c:min val="0"/>
        </c:scaling>
        <c:delete val="1"/>
        <c:axPos val="l"/>
        <c:numFmt formatCode="General" sourceLinked="1"/>
        <c:majorTickMark val="none"/>
        <c:minorTickMark val="none"/>
        <c:tickLblPos val="nextTo"/>
        <c:crossAx val="9111413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62B5E5">
        <a:alpha val="15000"/>
      </a:srgbClr>
    </a:solid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4.9423272092542957E-2"/>
          <c:w val="1"/>
          <c:h val="0.6363432963430965"/>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1"/>
            <c:invertIfNegative val="0"/>
            <c:bubble3D val="0"/>
            <c:spPr>
              <a:solidFill>
                <a:srgbClr val="0076A8"/>
              </a:solidFill>
              <a:ln>
                <a:noFill/>
              </a:ln>
              <a:effectLst/>
            </c:spPr>
            <c:extLst>
              <c:ext xmlns:c16="http://schemas.microsoft.com/office/drawing/2014/chart" uri="{C3380CC4-5D6E-409C-BE32-E72D297353CC}">
                <c16:uniqueId val="{00000005-6CDF-455E-AEFA-839A9DFEF4E1}"/>
              </c:ext>
            </c:extLst>
          </c:dPt>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Project Cost
(In Crore)</c:v>
                </c:pt>
                <c:pt idx="1">
                  <c:v>Amount Spend
(In Crore)</c:v>
                </c:pt>
              </c:strCache>
            </c:strRef>
          </c:cat>
          <c:val>
            <c:numRef>
              <c:f>Sheet1!$B$2:$B$3</c:f>
              <c:numCache>
                <c:formatCode>General</c:formatCode>
                <c:ptCount val="2"/>
                <c:pt idx="0">
                  <c:v>51</c:v>
                </c:pt>
                <c:pt idx="1">
                  <c:v>41.99</c:v>
                </c:pt>
              </c:numCache>
            </c:numRef>
          </c:val>
          <c:extLst>
            <c:ext xmlns:c16="http://schemas.microsoft.com/office/drawing/2014/chart" uri="{C3380CC4-5D6E-409C-BE32-E72D297353CC}">
              <c16:uniqueId val="{00000000-6CDF-455E-AEFA-839A9DFEF4E1}"/>
            </c:ext>
          </c:extLst>
        </c:ser>
        <c:dLbls>
          <c:showLegendKey val="0"/>
          <c:showVal val="0"/>
          <c:showCatName val="0"/>
          <c:showSerName val="0"/>
          <c:showPercent val="0"/>
          <c:showBubbleSize val="0"/>
        </c:dLbls>
        <c:gapWidth val="219"/>
        <c:overlap val="-27"/>
        <c:axId val="911141343"/>
        <c:axId val="911153823"/>
      </c:barChart>
      <c:catAx>
        <c:axId val="911141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crossAx val="911153823"/>
        <c:crosses val="autoZero"/>
        <c:auto val="1"/>
        <c:lblAlgn val="ctr"/>
        <c:lblOffset val="100"/>
        <c:noMultiLvlLbl val="0"/>
      </c:catAx>
      <c:valAx>
        <c:axId val="911153823"/>
        <c:scaling>
          <c:orientation val="minMax"/>
          <c:max val="60"/>
        </c:scaling>
        <c:delete val="1"/>
        <c:axPos val="l"/>
        <c:numFmt formatCode="General" sourceLinked="1"/>
        <c:majorTickMark val="none"/>
        <c:minorTickMark val="none"/>
        <c:tickLblPos val="nextTo"/>
        <c:crossAx val="9111413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012169">
        <a:alpha val="10000"/>
      </a:srgbClr>
    </a:solidFill>
    <a:ln>
      <a:solidFill>
        <a:schemeClr val="tx2">
          <a:alpha val="10000"/>
        </a:schemeClr>
      </a:solid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7.1180241261784676E-3"/>
          <c:w val="1"/>
          <c:h val="0.67205234744025633"/>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009A44"/>
              </a:solidFill>
              <a:ln>
                <a:noFill/>
              </a:ln>
              <a:effectLst/>
            </c:spPr>
            <c:extLst>
              <c:ext xmlns:c16="http://schemas.microsoft.com/office/drawing/2014/chart" uri="{C3380CC4-5D6E-409C-BE32-E72D297353CC}">
                <c16:uniqueId val="{00000004-9292-406E-831D-5ED710D4DE59}"/>
              </c:ext>
            </c:extLst>
          </c:dPt>
          <c:dPt>
            <c:idx val="1"/>
            <c:invertIfNegative val="0"/>
            <c:bubble3D val="0"/>
            <c:spPr>
              <a:solidFill>
                <a:srgbClr val="0097A9"/>
              </a:solidFill>
              <a:ln>
                <a:noFill/>
              </a:ln>
              <a:effectLst/>
            </c:spPr>
            <c:extLst>
              <c:ext xmlns:c16="http://schemas.microsoft.com/office/drawing/2014/chart" uri="{C3380CC4-5D6E-409C-BE32-E72D297353CC}">
                <c16:uniqueId val="{00000001-9292-406E-831D-5ED710D4DE59}"/>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Project Cost
(In Crore)</c:v>
                </c:pt>
                <c:pt idx="1">
                  <c:v>Amount Spend
(In Crore)</c:v>
                </c:pt>
              </c:strCache>
            </c:strRef>
          </c:cat>
          <c:val>
            <c:numRef>
              <c:f>Sheet1!$B$2:$B$3</c:f>
              <c:numCache>
                <c:formatCode>General</c:formatCode>
                <c:ptCount val="2"/>
                <c:pt idx="0">
                  <c:v>22.68</c:v>
                </c:pt>
                <c:pt idx="1">
                  <c:v>14.4</c:v>
                </c:pt>
              </c:numCache>
            </c:numRef>
          </c:val>
          <c:extLst>
            <c:ext xmlns:c16="http://schemas.microsoft.com/office/drawing/2014/chart" uri="{C3380CC4-5D6E-409C-BE32-E72D297353CC}">
              <c16:uniqueId val="{00000002-9292-406E-831D-5ED710D4DE59}"/>
            </c:ext>
          </c:extLst>
        </c:ser>
        <c:dLbls>
          <c:showLegendKey val="0"/>
          <c:showVal val="0"/>
          <c:showCatName val="0"/>
          <c:showSerName val="0"/>
          <c:showPercent val="0"/>
          <c:showBubbleSize val="0"/>
        </c:dLbls>
        <c:gapWidth val="219"/>
        <c:overlap val="-27"/>
        <c:axId val="911141343"/>
        <c:axId val="911153823"/>
      </c:barChart>
      <c:catAx>
        <c:axId val="911141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crossAx val="911153823"/>
        <c:crosses val="autoZero"/>
        <c:auto val="1"/>
        <c:lblAlgn val="ctr"/>
        <c:lblOffset val="100"/>
        <c:noMultiLvlLbl val="0"/>
      </c:catAx>
      <c:valAx>
        <c:axId val="911153823"/>
        <c:scaling>
          <c:orientation val="minMax"/>
          <c:max val="23"/>
          <c:min val="0"/>
        </c:scaling>
        <c:delete val="1"/>
        <c:axPos val="l"/>
        <c:numFmt formatCode="General" sourceLinked="1"/>
        <c:majorTickMark val="none"/>
        <c:minorTickMark val="none"/>
        <c:tickLblPos val="nextTo"/>
        <c:crossAx val="9111413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62B5E5">
        <a:alpha val="15000"/>
      </a:srgbClr>
    </a:solid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3112699530552292"/>
          <c:y val="0"/>
          <c:w val="0.61842990899772232"/>
          <c:h val="1"/>
        </c:manualLayout>
      </c:layout>
      <c:barChart>
        <c:barDir val="bar"/>
        <c:grouping val="clustered"/>
        <c:varyColors val="0"/>
        <c:ser>
          <c:idx val="0"/>
          <c:order val="0"/>
          <c:tx>
            <c:strRef>
              <c:f>Sheet1!$B$1</c:f>
              <c:strCache>
                <c:ptCount val="1"/>
                <c:pt idx="0">
                  <c:v>Investment (In Crore)</c:v>
                </c:pt>
              </c:strCache>
            </c:strRef>
          </c:tx>
          <c:spPr>
            <a:solidFill>
              <a:schemeClr val="accent1"/>
            </a:solidFill>
            <a:ln>
              <a:noFill/>
            </a:ln>
            <a:effectLst/>
          </c:spPr>
          <c:invertIfNegative val="0"/>
          <c:dPt>
            <c:idx val="0"/>
            <c:invertIfNegative val="0"/>
            <c:bubble3D val="0"/>
            <c:spPr>
              <a:solidFill>
                <a:srgbClr val="046A38"/>
              </a:solidFill>
              <a:ln>
                <a:noFill/>
              </a:ln>
              <a:effectLst/>
            </c:spPr>
            <c:extLst>
              <c:ext xmlns:c16="http://schemas.microsoft.com/office/drawing/2014/chart" uri="{C3380CC4-5D6E-409C-BE32-E72D297353CC}">
                <c16:uniqueId val="{00000004-12E9-4240-A3A0-0A61E70C6BD9}"/>
              </c:ext>
            </c:extLst>
          </c:dPt>
          <c:dPt>
            <c:idx val="1"/>
            <c:invertIfNegative val="0"/>
            <c:bubble3D val="0"/>
            <c:spPr>
              <a:solidFill>
                <a:srgbClr val="0076A8"/>
              </a:solidFill>
              <a:ln>
                <a:noFill/>
              </a:ln>
              <a:effectLst/>
            </c:spPr>
            <c:extLst>
              <c:ext xmlns:c16="http://schemas.microsoft.com/office/drawing/2014/chart" uri="{C3380CC4-5D6E-409C-BE32-E72D297353CC}">
                <c16:uniqueId val="{00000005-12E9-4240-A3A0-0A61E70C6BD9}"/>
              </c:ext>
            </c:extLst>
          </c:dPt>
          <c:dPt>
            <c:idx val="2"/>
            <c:invertIfNegative val="0"/>
            <c:bubble3D val="0"/>
            <c:spPr>
              <a:solidFill>
                <a:srgbClr val="86BC25"/>
              </a:solidFill>
              <a:ln>
                <a:noFill/>
              </a:ln>
              <a:effectLst/>
            </c:spPr>
            <c:extLst>
              <c:ext xmlns:c16="http://schemas.microsoft.com/office/drawing/2014/chart" uri="{C3380CC4-5D6E-409C-BE32-E72D297353CC}">
                <c16:uniqueId val="{00000006-12E9-4240-A3A0-0A61E70C6BD9}"/>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 2016-17</c:v>
                </c:pt>
                <c:pt idx="1">
                  <c:v>FY 2017-18</c:v>
                </c:pt>
                <c:pt idx="2">
                  <c:v>FY 2018-19</c:v>
                </c:pt>
                <c:pt idx="3">
                  <c:v>FY 2019-20</c:v>
                </c:pt>
              </c:strCache>
            </c:strRef>
          </c:cat>
          <c:val>
            <c:numRef>
              <c:f>Sheet1!$B$2:$B$5</c:f>
              <c:numCache>
                <c:formatCode>General</c:formatCode>
                <c:ptCount val="4"/>
                <c:pt idx="0">
                  <c:v>319</c:v>
                </c:pt>
                <c:pt idx="1">
                  <c:v>300</c:v>
                </c:pt>
                <c:pt idx="2">
                  <c:v>300</c:v>
                </c:pt>
                <c:pt idx="3">
                  <c:v>218</c:v>
                </c:pt>
              </c:numCache>
            </c:numRef>
          </c:val>
          <c:extLst>
            <c:ext xmlns:c16="http://schemas.microsoft.com/office/drawing/2014/chart" uri="{C3380CC4-5D6E-409C-BE32-E72D297353CC}">
              <c16:uniqueId val="{00000000-12E9-4240-A3A0-0A61E70C6BD9}"/>
            </c:ext>
          </c:extLst>
        </c:ser>
        <c:dLbls>
          <c:showLegendKey val="0"/>
          <c:showVal val="0"/>
          <c:showCatName val="0"/>
          <c:showSerName val="0"/>
          <c:showPercent val="0"/>
          <c:showBubbleSize val="0"/>
        </c:dLbls>
        <c:gapWidth val="182"/>
        <c:axId val="160560687"/>
        <c:axId val="160560271"/>
      </c:barChart>
      <c:catAx>
        <c:axId val="16056068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crossAx val="160560271"/>
        <c:crosses val="autoZero"/>
        <c:auto val="1"/>
        <c:lblAlgn val="ctr"/>
        <c:lblOffset val="100"/>
        <c:noMultiLvlLbl val="0"/>
      </c:catAx>
      <c:valAx>
        <c:axId val="160560271"/>
        <c:scaling>
          <c:orientation val="minMax"/>
        </c:scaling>
        <c:delete val="1"/>
        <c:axPos val="b"/>
        <c:numFmt formatCode="General" sourceLinked="1"/>
        <c:majorTickMark val="none"/>
        <c:minorTickMark val="none"/>
        <c:tickLblPos val="nextTo"/>
        <c:crossAx val="16056068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400" b="1" dirty="0">
                <a:solidFill>
                  <a:schemeClr val="tx1"/>
                </a:solidFill>
              </a:rPr>
              <a:t>Summer</a:t>
            </a:r>
          </a:p>
        </c:rich>
      </c:tx>
      <c:layout>
        <c:manualLayout>
          <c:xMode val="edge"/>
          <c:yMode val="edge"/>
          <c:x val="0.22998896320471462"/>
          <c:y val="1.3623810129141919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768457630966379"/>
          <c:y val="0.10213499706652548"/>
          <c:w val="0.88231542369033622"/>
          <c:h val="0.61792417831171675"/>
        </c:manualLayout>
      </c:layout>
      <c:lineChart>
        <c:grouping val="standard"/>
        <c:varyColors val="0"/>
        <c:ser>
          <c:idx val="1"/>
          <c:order val="0"/>
          <c:tx>
            <c:strRef>
              <c:f>Sheet1!$C$1</c:f>
              <c:strCache>
                <c:ptCount val="1"/>
                <c:pt idx="0">
                  <c:v>Availability (Long Term &amp; Short Term)</c:v>
                </c:pt>
              </c:strCache>
            </c:strRef>
          </c:tx>
          <c:spPr>
            <a:ln w="28575" cap="rnd">
              <a:solidFill>
                <a:srgbClr val="007CB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0</c:formatCode>
                <c:ptCount val="24"/>
                <c:pt idx="0">
                  <c:v>4408.6985202019996</c:v>
                </c:pt>
                <c:pt idx="1">
                  <c:v>4222.9339448839992</c:v>
                </c:pt>
                <c:pt idx="2">
                  <c:v>4132.572714848</c:v>
                </c:pt>
                <c:pt idx="3">
                  <c:v>4100.3538617479999</c:v>
                </c:pt>
                <c:pt idx="4">
                  <c:v>4065.4755111499994</c:v>
                </c:pt>
                <c:pt idx="5">
                  <c:v>4050.6351777260002</c:v>
                </c:pt>
                <c:pt idx="6">
                  <c:v>4021.6504742719999</c:v>
                </c:pt>
                <c:pt idx="7">
                  <c:v>4015.7097207119987</c:v>
                </c:pt>
                <c:pt idx="8">
                  <c:v>4053.116746075998</c:v>
                </c:pt>
                <c:pt idx="9">
                  <c:v>4100.1356173060003</c:v>
                </c:pt>
                <c:pt idx="10">
                  <c:v>4172.7099344939998</c:v>
                </c:pt>
                <c:pt idx="11">
                  <c:v>4159.7603721899995</c:v>
                </c:pt>
                <c:pt idx="12">
                  <c:v>4174.1736447419989</c:v>
                </c:pt>
                <c:pt idx="13">
                  <c:v>4137.0072431079989</c:v>
                </c:pt>
                <c:pt idx="14">
                  <c:v>4206.0461244440003</c:v>
                </c:pt>
                <c:pt idx="15">
                  <c:v>4171.8140087760003</c:v>
                </c:pt>
                <c:pt idx="16">
                  <c:v>4096.0374836979991</c:v>
                </c:pt>
                <c:pt idx="17">
                  <c:v>5179.3474893619987</c:v>
                </c:pt>
                <c:pt idx="18">
                  <c:v>6845.9402355019984</c:v>
                </c:pt>
                <c:pt idx="19">
                  <c:v>7208.1990425240019</c:v>
                </c:pt>
                <c:pt idx="20">
                  <c:v>7036.1523820460006</c:v>
                </c:pt>
                <c:pt idx="21">
                  <c:v>6308.133585044</c:v>
                </c:pt>
                <c:pt idx="22">
                  <c:v>5790.5630030120001</c:v>
                </c:pt>
                <c:pt idx="23">
                  <c:v>5485.2389000119992</c:v>
                </c:pt>
              </c:numCache>
            </c:numRef>
          </c:val>
          <c:smooth val="0"/>
          <c:extLst>
            <c:ext xmlns:c16="http://schemas.microsoft.com/office/drawing/2014/chart" uri="{C3380CC4-5D6E-409C-BE32-E72D297353CC}">
              <c16:uniqueId val="{00000001-E307-43ED-9E3E-7CE148A2F4D8}"/>
            </c:ext>
          </c:extLst>
        </c:ser>
        <c:ser>
          <c:idx val="2"/>
          <c:order val="1"/>
          <c:tx>
            <c:strRef>
              <c:f>Sheet1!$D$1</c:f>
              <c:strCache>
                <c:ptCount val="1"/>
                <c:pt idx="0">
                  <c:v>Demand</c:v>
                </c:pt>
              </c:strCache>
            </c:strRef>
          </c:tx>
          <c:spPr>
            <a:ln w="28575" cap="rnd">
              <a:solidFill>
                <a:srgbClr val="86BC25"/>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0.00</c:formatCode>
                <c:ptCount val="24"/>
                <c:pt idx="0">
                  <c:v>3907.0453814951534</c:v>
                </c:pt>
                <c:pt idx="1">
                  <c:v>3748.0950709361468</c:v>
                </c:pt>
                <c:pt idx="2">
                  <c:v>3673.3000398802469</c:v>
                </c:pt>
                <c:pt idx="3">
                  <c:v>3649.2834767332488</c:v>
                </c:pt>
                <c:pt idx="4">
                  <c:v>3622.9874104806609</c:v>
                </c:pt>
                <c:pt idx="5">
                  <c:v>3626.9480730065407</c:v>
                </c:pt>
                <c:pt idx="6">
                  <c:v>3611.2876175199981</c:v>
                </c:pt>
                <c:pt idx="7">
                  <c:v>3608.779335946499</c:v>
                </c:pt>
                <c:pt idx="8">
                  <c:v>3642.3383421576791</c:v>
                </c:pt>
                <c:pt idx="9">
                  <c:v>3671.0940357394597</c:v>
                </c:pt>
                <c:pt idx="10">
                  <c:v>3721.3621516814892</c:v>
                </c:pt>
                <c:pt idx="11">
                  <c:v>3697.7586320127516</c:v>
                </c:pt>
                <c:pt idx="12">
                  <c:v>3703.8083214537455</c:v>
                </c:pt>
                <c:pt idx="13">
                  <c:v>3667.3331661742427</c:v>
                </c:pt>
                <c:pt idx="14">
                  <c:v>3725.0557334620271</c:v>
                </c:pt>
                <c:pt idx="15">
                  <c:v>3695.0909301493975</c:v>
                </c:pt>
                <c:pt idx="16">
                  <c:v>3629.915981909232</c:v>
                </c:pt>
                <c:pt idx="17">
                  <c:v>4592.1364788036426</c:v>
                </c:pt>
                <c:pt idx="18">
                  <c:v>6054.7565616193779</c:v>
                </c:pt>
                <c:pt idx="19">
                  <c:v>6370.236892882318</c:v>
                </c:pt>
                <c:pt idx="20">
                  <c:v>6218.111634083145</c:v>
                </c:pt>
                <c:pt idx="21">
                  <c:v>5576.6406195903919</c:v>
                </c:pt>
                <c:pt idx="22">
                  <c:v>5120.6499363605781</c:v>
                </c:pt>
                <c:pt idx="23">
                  <c:v>4852.9625657601637</c:v>
                </c:pt>
              </c:numCache>
            </c:numRef>
          </c:val>
          <c:smooth val="0"/>
          <c:extLst>
            <c:ext xmlns:c16="http://schemas.microsoft.com/office/drawing/2014/chart" uri="{C3380CC4-5D6E-409C-BE32-E72D297353CC}">
              <c16:uniqueId val="{00000002-E307-43ED-9E3E-7CE148A2F4D8}"/>
            </c:ext>
          </c:extLst>
        </c:ser>
        <c:dLbls>
          <c:showLegendKey val="0"/>
          <c:showVal val="0"/>
          <c:showCatName val="0"/>
          <c:showSerName val="0"/>
          <c:showPercent val="0"/>
          <c:showBubbleSize val="0"/>
        </c:dLbls>
        <c:smooth val="0"/>
        <c:axId val="134544384"/>
        <c:axId val="166610048"/>
      </c:lineChart>
      <c:catAx>
        <c:axId val="134544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610048"/>
        <c:crosses val="autoZero"/>
        <c:auto val="1"/>
        <c:lblAlgn val="ctr"/>
        <c:lblOffset val="100"/>
        <c:noMultiLvlLbl val="0"/>
      </c:catAx>
      <c:valAx>
        <c:axId val="166610048"/>
        <c:scaling>
          <c:orientation val="minMax"/>
          <c:max val="8000"/>
          <c:min val="2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34544384"/>
        <c:crosses val="autoZero"/>
        <c:crossBetween val="between"/>
      </c:valAx>
      <c:spPr>
        <a:noFill/>
        <a:ln>
          <a:noFill/>
        </a:ln>
        <a:effectLst/>
      </c:spPr>
    </c:plotArea>
    <c:legend>
      <c:legendPos val="b"/>
      <c:layout>
        <c:manualLayout>
          <c:xMode val="edge"/>
          <c:yMode val="edge"/>
          <c:x val="0"/>
          <c:y val="0.84035397590874117"/>
          <c:w val="0.99737428532011441"/>
          <c:h val="0.14602221396211684"/>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1" dirty="0">
                <a:solidFill>
                  <a:schemeClr val="tx1"/>
                </a:solidFill>
              </a:rPr>
              <a:t>Monsoon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387185764162429"/>
          <c:y val="9.8369272837179889E-2"/>
          <c:w val="0.8311150615513353"/>
          <c:h val="0.62541494961067556"/>
        </c:manualLayout>
      </c:layout>
      <c:lineChart>
        <c:grouping val="standard"/>
        <c:varyColors val="0"/>
        <c:ser>
          <c:idx val="1"/>
          <c:order val="0"/>
          <c:tx>
            <c:strRef>
              <c:f>Sheet1!$C$1</c:f>
              <c:strCache>
                <c:ptCount val="1"/>
                <c:pt idx="0">
                  <c:v>Availability (Long Term &amp; Short Term)</c:v>
                </c:pt>
              </c:strCache>
            </c:strRef>
          </c:tx>
          <c:spPr>
            <a:ln w="28575" cap="rnd">
              <a:solidFill>
                <a:srgbClr val="012169"/>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0</c:formatCode>
                <c:ptCount val="24"/>
                <c:pt idx="0">
                  <c:v>4716.3503007260006</c:v>
                </c:pt>
                <c:pt idx="1">
                  <c:v>4432.4122485800044</c:v>
                </c:pt>
                <c:pt idx="2">
                  <c:v>4269.4984863379996</c:v>
                </c:pt>
                <c:pt idx="3">
                  <c:v>4222.126734092004</c:v>
                </c:pt>
                <c:pt idx="4">
                  <c:v>4211.7291815000044</c:v>
                </c:pt>
                <c:pt idx="5">
                  <c:v>4210.228040684</c:v>
                </c:pt>
                <c:pt idx="6">
                  <c:v>4136.3646136340003</c:v>
                </c:pt>
                <c:pt idx="7">
                  <c:v>4178.0345192079994</c:v>
                </c:pt>
                <c:pt idx="8">
                  <c:v>4254.2238605760003</c:v>
                </c:pt>
                <c:pt idx="9">
                  <c:v>4291.195642136001</c:v>
                </c:pt>
                <c:pt idx="10">
                  <c:v>4323.7941755780002</c:v>
                </c:pt>
                <c:pt idx="11">
                  <c:v>4274.9880321499986</c:v>
                </c:pt>
                <c:pt idx="12">
                  <c:v>4272.250952293999</c:v>
                </c:pt>
                <c:pt idx="13">
                  <c:v>4269.3130232480007</c:v>
                </c:pt>
                <c:pt idx="14">
                  <c:v>4371.1632112260013</c:v>
                </c:pt>
                <c:pt idx="15">
                  <c:v>4348.5043135660007</c:v>
                </c:pt>
                <c:pt idx="16">
                  <c:v>4329.0167214220055</c:v>
                </c:pt>
                <c:pt idx="17">
                  <c:v>6127.2506260640039</c:v>
                </c:pt>
                <c:pt idx="18">
                  <c:v>7403.3171872459998</c:v>
                </c:pt>
                <c:pt idx="19">
                  <c:v>7698.5428508600007</c:v>
                </c:pt>
                <c:pt idx="20">
                  <c:v>7688.2962937280008</c:v>
                </c:pt>
                <c:pt idx="21">
                  <c:v>7631.5953163039994</c:v>
                </c:pt>
                <c:pt idx="22">
                  <c:v>6879.1859959279991</c:v>
                </c:pt>
                <c:pt idx="23">
                  <c:v>5825.527739186</c:v>
                </c:pt>
              </c:numCache>
            </c:numRef>
          </c:val>
          <c:smooth val="0"/>
          <c:extLst>
            <c:ext xmlns:c16="http://schemas.microsoft.com/office/drawing/2014/chart" uri="{C3380CC4-5D6E-409C-BE32-E72D297353CC}">
              <c16:uniqueId val="{00000001-762B-4CEB-9E86-4476FF693975}"/>
            </c:ext>
          </c:extLst>
        </c:ser>
        <c:ser>
          <c:idx val="2"/>
          <c:order val="1"/>
          <c:tx>
            <c:strRef>
              <c:f>Sheet1!$D$1</c:f>
              <c:strCache>
                <c:ptCount val="1"/>
                <c:pt idx="0">
                  <c:v>Demand</c:v>
                </c:pt>
              </c:strCache>
            </c:strRef>
          </c:tx>
          <c:spPr>
            <a:ln w="28575" cap="rnd">
              <a:solidFill>
                <a:srgbClr val="86BC25"/>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0</c:formatCode>
                <c:ptCount val="24"/>
                <c:pt idx="0">
                  <c:v>4130.5030787819705</c:v>
                </c:pt>
                <c:pt idx="1">
                  <c:v>3896.6883789890053</c:v>
                </c:pt>
                <c:pt idx="2">
                  <c:v>3777.3736791960446</c:v>
                </c:pt>
                <c:pt idx="3">
                  <c:v>3752.8612568357998</c:v>
                </c:pt>
                <c:pt idx="4">
                  <c:v>3748.0620849931447</c:v>
                </c:pt>
                <c:pt idx="5">
                  <c:v>3741.1873437923177</c:v>
                </c:pt>
                <c:pt idx="6">
                  <c:v>3677.7794762974963</c:v>
                </c:pt>
                <c:pt idx="7">
                  <c:v>3719.4181926536016</c:v>
                </c:pt>
                <c:pt idx="8">
                  <c:v>3784.8736791960446</c:v>
                </c:pt>
                <c:pt idx="9">
                  <c:v>3799.3467640821732</c:v>
                </c:pt>
                <c:pt idx="10">
                  <c:v>3813.401629506604</c:v>
                </c:pt>
                <c:pt idx="11">
                  <c:v>3764.0227475190259</c:v>
                </c:pt>
                <c:pt idx="12">
                  <c:v>3756.2556667736844</c:v>
                </c:pt>
                <c:pt idx="13">
                  <c:v>3748.4564949310352</c:v>
                </c:pt>
                <c:pt idx="14">
                  <c:v>3829.3281305418022</c:v>
                </c:pt>
                <c:pt idx="15">
                  <c:v>3808.4585653244089</c:v>
                </c:pt>
                <c:pt idx="16">
                  <c:v>3791.4575301277218</c:v>
                </c:pt>
                <c:pt idx="17">
                  <c:v>5356.5589794030884</c:v>
                </c:pt>
                <c:pt idx="18">
                  <c:v>6463.4016295066103</c:v>
                </c:pt>
                <c:pt idx="19">
                  <c:v>6719.3364121152999</c:v>
                </c:pt>
                <c:pt idx="20">
                  <c:v>6710.756701970372</c:v>
                </c:pt>
                <c:pt idx="21">
                  <c:v>6661.6542174983224</c:v>
                </c:pt>
                <c:pt idx="22">
                  <c:v>6006.6521471049518</c:v>
                </c:pt>
                <c:pt idx="23">
                  <c:v>5092.9140518668528</c:v>
                </c:pt>
              </c:numCache>
            </c:numRef>
          </c:val>
          <c:smooth val="0"/>
          <c:extLst>
            <c:ext xmlns:c16="http://schemas.microsoft.com/office/drawing/2014/chart" uri="{C3380CC4-5D6E-409C-BE32-E72D297353CC}">
              <c16:uniqueId val="{00000002-762B-4CEB-9E86-4476FF693975}"/>
            </c:ext>
          </c:extLst>
        </c:ser>
        <c:dLbls>
          <c:showLegendKey val="0"/>
          <c:showVal val="0"/>
          <c:showCatName val="0"/>
          <c:showSerName val="0"/>
          <c:showPercent val="0"/>
          <c:showBubbleSize val="0"/>
        </c:dLbls>
        <c:smooth val="0"/>
        <c:axId val="166496128"/>
        <c:axId val="166723584"/>
      </c:lineChart>
      <c:catAx>
        <c:axId val="166496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6723584"/>
        <c:crosses val="autoZero"/>
        <c:auto val="1"/>
        <c:lblAlgn val="ctr"/>
        <c:lblOffset val="100"/>
        <c:noMultiLvlLbl val="0"/>
      </c:catAx>
      <c:valAx>
        <c:axId val="166723584"/>
        <c:scaling>
          <c:orientation val="minMax"/>
          <c:min val="2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6496128"/>
        <c:crosses val="autoZero"/>
        <c:crossBetween val="between"/>
      </c:valAx>
      <c:spPr>
        <a:noFill/>
        <a:ln>
          <a:noFill/>
        </a:ln>
        <a:effectLst/>
      </c:spPr>
    </c:plotArea>
    <c:legend>
      <c:legendPos val="b"/>
      <c:layout>
        <c:manualLayout>
          <c:xMode val="edge"/>
          <c:yMode val="edge"/>
          <c:x val="0"/>
          <c:y val="0.85151903366480031"/>
          <c:w val="0.9973437526967508"/>
          <c:h val="0.13437599088840799"/>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400" b="1" baseline="0" dirty="0">
                <a:solidFill>
                  <a:schemeClr val="tx1"/>
                </a:solidFill>
              </a:rPr>
              <a:t>Winter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941144316658644"/>
          <c:y val="0.1037607573720858"/>
          <c:w val="0.82139727360600101"/>
          <c:h val="0.63560833026708441"/>
        </c:manualLayout>
      </c:layout>
      <c:lineChart>
        <c:grouping val="standard"/>
        <c:varyColors val="0"/>
        <c:ser>
          <c:idx val="1"/>
          <c:order val="0"/>
          <c:tx>
            <c:strRef>
              <c:f>Sheet1!$C$1</c:f>
              <c:strCache>
                <c:ptCount val="1"/>
                <c:pt idx="0">
                  <c:v>Availability (Long Term &amp; Short Term)</c:v>
                </c:pt>
              </c:strCache>
            </c:strRef>
          </c:tx>
          <c:spPr>
            <a:ln w="28575" cap="rnd">
              <a:solidFill>
                <a:srgbClr val="005587"/>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0</c:formatCode>
                <c:ptCount val="24"/>
                <c:pt idx="0">
                  <c:v>3427.3472532500014</c:v>
                </c:pt>
                <c:pt idx="1">
                  <c:v>3362.0964271759999</c:v>
                </c:pt>
                <c:pt idx="2">
                  <c:v>3335.5676009779995</c:v>
                </c:pt>
                <c:pt idx="3">
                  <c:v>3316.8261171259996</c:v>
                </c:pt>
                <c:pt idx="4">
                  <c:v>3309.1488717319976</c:v>
                </c:pt>
                <c:pt idx="5">
                  <c:v>3372.3271602620002</c:v>
                </c:pt>
                <c:pt idx="6">
                  <c:v>3500.3653607480001</c:v>
                </c:pt>
                <c:pt idx="7">
                  <c:v>3568.7697717219985</c:v>
                </c:pt>
                <c:pt idx="8">
                  <c:v>3623.5922559659998</c:v>
                </c:pt>
                <c:pt idx="9">
                  <c:v>3682.493432778002</c:v>
                </c:pt>
                <c:pt idx="10">
                  <c:v>3681.2240856739986</c:v>
                </c:pt>
                <c:pt idx="11">
                  <c:v>3607.7673861619987</c:v>
                </c:pt>
                <c:pt idx="12">
                  <c:v>3547.9619378300026</c:v>
                </c:pt>
                <c:pt idx="13">
                  <c:v>3494.4681648740002</c:v>
                </c:pt>
                <c:pt idx="14">
                  <c:v>3453.4308512880002</c:v>
                </c:pt>
                <c:pt idx="15">
                  <c:v>3451.578085425997</c:v>
                </c:pt>
                <c:pt idx="16">
                  <c:v>3547.880388262</c:v>
                </c:pt>
                <c:pt idx="17">
                  <c:v>4983.2312380520034</c:v>
                </c:pt>
                <c:pt idx="18">
                  <c:v>5070.7322889200004</c:v>
                </c:pt>
                <c:pt idx="19">
                  <c:v>5048.639401376</c:v>
                </c:pt>
                <c:pt idx="20">
                  <c:v>4794.6218970620002</c:v>
                </c:pt>
                <c:pt idx="21">
                  <c:v>4318.9111311680044</c:v>
                </c:pt>
                <c:pt idx="22">
                  <c:v>3960.7424686099985</c:v>
                </c:pt>
                <c:pt idx="23">
                  <c:v>3459.3548160680002</c:v>
                </c:pt>
              </c:numCache>
            </c:numRef>
          </c:val>
          <c:smooth val="0"/>
          <c:extLst>
            <c:ext xmlns:c16="http://schemas.microsoft.com/office/drawing/2014/chart" uri="{C3380CC4-5D6E-409C-BE32-E72D297353CC}">
              <c16:uniqueId val="{00000001-912E-4F90-8CF1-1651BB3C4E09}"/>
            </c:ext>
          </c:extLst>
        </c:ser>
        <c:ser>
          <c:idx val="2"/>
          <c:order val="1"/>
          <c:tx>
            <c:strRef>
              <c:f>Sheet1!$D$1</c:f>
              <c:strCache>
                <c:ptCount val="1"/>
                <c:pt idx="0">
                  <c:v>Demand</c:v>
                </c:pt>
              </c:strCache>
            </c:strRef>
          </c:tx>
          <c:spPr>
            <a:ln w="28575" cap="rnd">
              <a:solidFill>
                <a:srgbClr val="92D05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0</c:formatCode>
                <c:ptCount val="24"/>
                <c:pt idx="0">
                  <c:v>3101.1290527833949</c:v>
                </c:pt>
                <c:pt idx="1">
                  <c:v>3054.4603157233514</c:v>
                </c:pt>
                <c:pt idx="2">
                  <c:v>3034.3443736943682</c:v>
                </c:pt>
                <c:pt idx="3">
                  <c:v>3019.835056924182</c:v>
                </c:pt>
                <c:pt idx="4">
                  <c:v>3008.4458229697284</c:v>
                </c:pt>
                <c:pt idx="5">
                  <c:v>3042.9696324935376</c:v>
                </c:pt>
                <c:pt idx="6">
                  <c:v>3122.0452018517158</c:v>
                </c:pt>
                <c:pt idx="7">
                  <c:v>3166.0607298020263</c:v>
                </c:pt>
                <c:pt idx="8">
                  <c:v>3210.9603157233514</c:v>
                </c:pt>
                <c:pt idx="9">
                  <c:v>3261.8961335287363</c:v>
                </c:pt>
                <c:pt idx="10">
                  <c:v>3260.4975828040992</c:v>
                </c:pt>
                <c:pt idx="11">
                  <c:v>3195.5628001953992</c:v>
                </c:pt>
                <c:pt idx="12">
                  <c:v>3142.8360921208673</c:v>
                </c:pt>
                <c:pt idx="13">
                  <c:v>3100.2812266964365</c:v>
                </c:pt>
                <c:pt idx="14">
                  <c:v>3067.5100051643453</c:v>
                </c:pt>
                <c:pt idx="15">
                  <c:v>3064.5493426384674</c:v>
                </c:pt>
                <c:pt idx="16">
                  <c:v>3145.4106262823607</c:v>
                </c:pt>
                <c:pt idx="17">
                  <c:v>4408.7501707958199</c:v>
                </c:pt>
                <c:pt idx="18">
                  <c:v>4485.1435455370174</c:v>
                </c:pt>
                <c:pt idx="19">
                  <c:v>4466.1435455370174</c:v>
                </c:pt>
                <c:pt idx="20">
                  <c:v>4242.1435455370174</c:v>
                </c:pt>
                <c:pt idx="21">
                  <c:v>3805.0400258682794</c:v>
                </c:pt>
                <c:pt idx="22">
                  <c:v>3513.5617649987139</c:v>
                </c:pt>
                <c:pt idx="23">
                  <c:v>3100.8278105473705</c:v>
                </c:pt>
              </c:numCache>
            </c:numRef>
          </c:val>
          <c:smooth val="0"/>
          <c:extLst>
            <c:ext xmlns:c16="http://schemas.microsoft.com/office/drawing/2014/chart" uri="{C3380CC4-5D6E-409C-BE32-E72D297353CC}">
              <c16:uniqueId val="{00000002-912E-4F90-8CF1-1651BB3C4E09}"/>
            </c:ext>
          </c:extLst>
        </c:ser>
        <c:dLbls>
          <c:showLegendKey val="0"/>
          <c:showVal val="0"/>
          <c:showCatName val="0"/>
          <c:showSerName val="0"/>
          <c:showPercent val="0"/>
          <c:showBubbleSize val="0"/>
        </c:dLbls>
        <c:smooth val="0"/>
        <c:axId val="166458112"/>
        <c:axId val="166460032"/>
      </c:lineChart>
      <c:catAx>
        <c:axId val="166458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460032"/>
        <c:crosses val="autoZero"/>
        <c:auto val="1"/>
        <c:lblAlgn val="ctr"/>
        <c:lblOffset val="100"/>
        <c:noMultiLvlLbl val="0"/>
      </c:catAx>
      <c:valAx>
        <c:axId val="166460032"/>
        <c:scaling>
          <c:orientation val="minMax"/>
          <c:max val="8000"/>
          <c:min val="2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458112"/>
        <c:crosses val="autoZero"/>
        <c:crossBetween val="between"/>
        <c:minorUnit val="100"/>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400" b="1" dirty="0">
                <a:solidFill>
                  <a:schemeClr val="tx1"/>
                </a:solidFill>
              </a:rPr>
              <a:t>Summer</a:t>
            </a:r>
          </a:p>
        </c:rich>
      </c:tx>
      <c:layout>
        <c:manualLayout>
          <c:xMode val="edge"/>
          <c:yMode val="edge"/>
          <c:x val="0.22998896320471462"/>
          <c:y val="1.3623810129141919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768457630966379"/>
          <c:y val="0.10213499706652548"/>
          <c:w val="0.88231542369033622"/>
          <c:h val="0.61792417831171675"/>
        </c:manualLayout>
      </c:layout>
      <c:lineChart>
        <c:grouping val="standard"/>
        <c:varyColors val="0"/>
        <c:ser>
          <c:idx val="1"/>
          <c:order val="0"/>
          <c:tx>
            <c:strRef>
              <c:f>Sheet1!$C$1</c:f>
              <c:strCache>
                <c:ptCount val="1"/>
                <c:pt idx="0">
                  <c:v>Availability (Long Term &amp; Short Term)</c:v>
                </c:pt>
              </c:strCache>
            </c:strRef>
          </c:tx>
          <c:spPr>
            <a:ln w="28575" cap="rnd">
              <a:solidFill>
                <a:srgbClr val="007CB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0</c:formatCode>
                <c:ptCount val="24"/>
                <c:pt idx="0">
                  <c:v>4853.6221281891994</c:v>
                </c:pt>
                <c:pt idx="1">
                  <c:v>4687.350730589199</c:v>
                </c:pt>
                <c:pt idx="2">
                  <c:v>4609.6901748891987</c:v>
                </c:pt>
                <c:pt idx="3">
                  <c:v>4581.4253452611993</c:v>
                </c:pt>
                <c:pt idx="4">
                  <c:v>4554.3748491171982</c:v>
                </c:pt>
                <c:pt idx="5">
                  <c:v>4543.8302896792002</c:v>
                </c:pt>
                <c:pt idx="6">
                  <c:v>4543.8102867171983</c:v>
                </c:pt>
                <c:pt idx="7">
                  <c:v>4546.7822089312003</c:v>
                </c:pt>
                <c:pt idx="8">
                  <c:v>4592.2834369251996</c:v>
                </c:pt>
                <c:pt idx="9">
                  <c:v>4617.849526935197</c:v>
                </c:pt>
                <c:pt idx="10">
                  <c:v>4684.0864744871988</c:v>
                </c:pt>
                <c:pt idx="11">
                  <c:v>4694.4582628931994</c:v>
                </c:pt>
                <c:pt idx="12">
                  <c:v>4672.6592238551993</c:v>
                </c:pt>
                <c:pt idx="13">
                  <c:v>4618.5241835991992</c:v>
                </c:pt>
                <c:pt idx="14">
                  <c:v>4696.6827676631992</c:v>
                </c:pt>
                <c:pt idx="15">
                  <c:v>4704.3988979472006</c:v>
                </c:pt>
                <c:pt idx="16">
                  <c:v>4618.7479527992</c:v>
                </c:pt>
                <c:pt idx="17">
                  <c:v>4810.3389912292005</c:v>
                </c:pt>
                <c:pt idx="18">
                  <c:v>6616.2310094391996</c:v>
                </c:pt>
                <c:pt idx="19">
                  <c:v>7228.0828881471989</c:v>
                </c:pt>
                <c:pt idx="20">
                  <c:v>7110.7629454911976</c:v>
                </c:pt>
                <c:pt idx="21">
                  <c:v>6608.4515960211993</c:v>
                </c:pt>
                <c:pt idx="22">
                  <c:v>6218.2222676931979</c:v>
                </c:pt>
                <c:pt idx="23">
                  <c:v>5550.5110830851991</c:v>
                </c:pt>
              </c:numCache>
            </c:numRef>
          </c:val>
          <c:smooth val="0"/>
          <c:extLst>
            <c:ext xmlns:c16="http://schemas.microsoft.com/office/drawing/2014/chart" uri="{C3380CC4-5D6E-409C-BE32-E72D297353CC}">
              <c16:uniqueId val="{00000001-E307-43ED-9E3E-7CE148A2F4D8}"/>
            </c:ext>
          </c:extLst>
        </c:ser>
        <c:ser>
          <c:idx val="2"/>
          <c:order val="1"/>
          <c:tx>
            <c:strRef>
              <c:f>Sheet1!$D$1</c:f>
              <c:strCache>
                <c:ptCount val="1"/>
                <c:pt idx="0">
                  <c:v>Demand</c:v>
                </c:pt>
              </c:strCache>
            </c:strRef>
          </c:tx>
          <c:spPr>
            <a:ln w="28575" cap="rnd">
              <a:solidFill>
                <a:srgbClr val="86BC25"/>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0</c:formatCode>
                <c:ptCount val="24"/>
                <c:pt idx="0">
                  <c:v>4433.7273377079518</c:v>
                </c:pt>
                <c:pt idx="1">
                  <c:v>4285.7770271489462</c:v>
                </c:pt>
                <c:pt idx="2">
                  <c:v>4218.9819960930445</c:v>
                </c:pt>
                <c:pt idx="3">
                  <c:v>4196.9654329460473</c:v>
                </c:pt>
                <c:pt idx="4">
                  <c:v>4175.6693666934589</c:v>
                </c:pt>
                <c:pt idx="5">
                  <c:v>4178.6300292193382</c:v>
                </c:pt>
                <c:pt idx="6">
                  <c:v>4186.9695737327957</c:v>
                </c:pt>
                <c:pt idx="7">
                  <c:v>4191.461292159297</c:v>
                </c:pt>
                <c:pt idx="8">
                  <c:v>4233.0202983704776</c:v>
                </c:pt>
                <c:pt idx="9">
                  <c:v>4246.7759919522578</c:v>
                </c:pt>
                <c:pt idx="10">
                  <c:v>4296.0441078942868</c:v>
                </c:pt>
                <c:pt idx="11">
                  <c:v>4296.4405882255505</c:v>
                </c:pt>
                <c:pt idx="12">
                  <c:v>4270.490277666544</c:v>
                </c:pt>
                <c:pt idx="13">
                  <c:v>4219.0151223870407</c:v>
                </c:pt>
                <c:pt idx="14">
                  <c:v>4287.7376896748256</c:v>
                </c:pt>
                <c:pt idx="15">
                  <c:v>4294.7728863621969</c:v>
                </c:pt>
                <c:pt idx="16">
                  <c:v>4217.5979381220313</c:v>
                </c:pt>
                <c:pt idx="17">
                  <c:v>4397.8184350164411</c:v>
                </c:pt>
                <c:pt idx="18">
                  <c:v>6035.4385178321763</c:v>
                </c:pt>
                <c:pt idx="19">
                  <c:v>6587.9188490951165</c:v>
                </c:pt>
                <c:pt idx="20">
                  <c:v>6480.7935902959434</c:v>
                </c:pt>
                <c:pt idx="21">
                  <c:v>6024.3225758031904</c:v>
                </c:pt>
                <c:pt idx="22">
                  <c:v>5670.3318925733765</c:v>
                </c:pt>
                <c:pt idx="23">
                  <c:v>5063.6445219729621</c:v>
                </c:pt>
              </c:numCache>
            </c:numRef>
          </c:val>
          <c:smooth val="0"/>
          <c:extLst>
            <c:ext xmlns:c16="http://schemas.microsoft.com/office/drawing/2014/chart" uri="{C3380CC4-5D6E-409C-BE32-E72D297353CC}">
              <c16:uniqueId val="{00000002-E307-43ED-9E3E-7CE148A2F4D8}"/>
            </c:ext>
          </c:extLst>
        </c:ser>
        <c:dLbls>
          <c:showLegendKey val="0"/>
          <c:showVal val="0"/>
          <c:showCatName val="0"/>
          <c:showSerName val="0"/>
          <c:showPercent val="0"/>
          <c:showBubbleSize val="0"/>
        </c:dLbls>
        <c:smooth val="0"/>
        <c:axId val="134544384"/>
        <c:axId val="166610048"/>
      </c:lineChart>
      <c:catAx>
        <c:axId val="134544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610048"/>
        <c:crosses val="autoZero"/>
        <c:auto val="1"/>
        <c:lblAlgn val="ctr"/>
        <c:lblOffset val="100"/>
        <c:noMultiLvlLbl val="0"/>
      </c:catAx>
      <c:valAx>
        <c:axId val="166610048"/>
        <c:scaling>
          <c:orientation val="minMax"/>
          <c:max val="8000"/>
          <c:min val="2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34544384"/>
        <c:crosses val="autoZero"/>
        <c:crossBetween val="between"/>
      </c:valAx>
      <c:spPr>
        <a:noFill/>
        <a:ln>
          <a:noFill/>
        </a:ln>
        <a:effectLst/>
      </c:spPr>
    </c:plotArea>
    <c:legend>
      <c:legendPos val="b"/>
      <c:layout>
        <c:manualLayout>
          <c:xMode val="edge"/>
          <c:yMode val="edge"/>
          <c:x val="0"/>
          <c:y val="0.84035397590874117"/>
          <c:w val="0.99737428532011441"/>
          <c:h val="0.14602221396211684"/>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1" dirty="0">
                <a:solidFill>
                  <a:schemeClr val="tx1"/>
                </a:solidFill>
              </a:rPr>
              <a:t>Monsoon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387185764162429"/>
          <c:y val="9.8369272837179889E-2"/>
          <c:w val="0.8311150615513353"/>
          <c:h val="0.62541494961067556"/>
        </c:manualLayout>
      </c:layout>
      <c:lineChart>
        <c:grouping val="standard"/>
        <c:varyColors val="0"/>
        <c:ser>
          <c:idx val="1"/>
          <c:order val="0"/>
          <c:tx>
            <c:strRef>
              <c:f>Sheet1!$C$1</c:f>
              <c:strCache>
                <c:ptCount val="1"/>
                <c:pt idx="0">
                  <c:v>Availability (Long Term &amp; Short Term)</c:v>
                </c:pt>
              </c:strCache>
            </c:strRef>
          </c:tx>
          <c:spPr>
            <a:ln w="28575" cap="rnd">
              <a:solidFill>
                <a:srgbClr val="012169"/>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0</c:formatCode>
                <c:ptCount val="24"/>
                <c:pt idx="0">
                  <c:v>5110.4469340000005</c:v>
                </c:pt>
                <c:pt idx="1">
                  <c:v>5070.7559260000016</c:v>
                </c:pt>
                <c:pt idx="2">
                  <c:v>5012.493567999999</c:v>
                </c:pt>
                <c:pt idx="3">
                  <c:v>4953.2941899999978</c:v>
                </c:pt>
                <c:pt idx="4">
                  <c:v>4933.3598139999995</c:v>
                </c:pt>
                <c:pt idx="5">
                  <c:v>4916.0143179999995</c:v>
                </c:pt>
                <c:pt idx="6">
                  <c:v>4935.2058399999996</c:v>
                </c:pt>
                <c:pt idx="7">
                  <c:v>4961.1080419999989</c:v>
                </c:pt>
                <c:pt idx="8">
                  <c:v>5001.5092779999986</c:v>
                </c:pt>
                <c:pt idx="9">
                  <c:v>5054.1420399999997</c:v>
                </c:pt>
                <c:pt idx="10">
                  <c:v>5065.4096820000004</c:v>
                </c:pt>
                <c:pt idx="11">
                  <c:v>5035.3641840000009</c:v>
                </c:pt>
                <c:pt idx="12">
                  <c:v>4983.5585699999992</c:v>
                </c:pt>
                <c:pt idx="13">
                  <c:v>4953.7375579999998</c:v>
                </c:pt>
                <c:pt idx="14">
                  <c:v>4955.1940680000007</c:v>
                </c:pt>
                <c:pt idx="15">
                  <c:v>4953.9196619999993</c:v>
                </c:pt>
                <c:pt idx="16">
                  <c:v>4945.5664419999994</c:v>
                </c:pt>
                <c:pt idx="17">
                  <c:v>5479.5487720000001</c:v>
                </c:pt>
                <c:pt idx="18">
                  <c:v>6674.9747379999981</c:v>
                </c:pt>
                <c:pt idx="19">
                  <c:v>7239.4046740000003</c:v>
                </c:pt>
                <c:pt idx="20">
                  <c:v>7592.4264760000005</c:v>
                </c:pt>
                <c:pt idx="21">
                  <c:v>7142.5525479999997</c:v>
                </c:pt>
                <c:pt idx="22">
                  <c:v>6510.4755639999994</c:v>
                </c:pt>
                <c:pt idx="23">
                  <c:v>6025.947963999999</c:v>
                </c:pt>
              </c:numCache>
            </c:numRef>
          </c:val>
          <c:smooth val="0"/>
          <c:extLst>
            <c:ext xmlns:c16="http://schemas.microsoft.com/office/drawing/2014/chart" uri="{C3380CC4-5D6E-409C-BE32-E72D297353CC}">
              <c16:uniqueId val="{00000001-762B-4CEB-9E86-4476FF693975}"/>
            </c:ext>
          </c:extLst>
        </c:ser>
        <c:ser>
          <c:idx val="2"/>
          <c:order val="1"/>
          <c:tx>
            <c:strRef>
              <c:f>Sheet1!$D$1</c:f>
              <c:strCache>
                <c:ptCount val="1"/>
                <c:pt idx="0">
                  <c:v>Demand</c:v>
                </c:pt>
              </c:strCache>
            </c:strRef>
          </c:tx>
          <c:spPr>
            <a:ln w="28575" cap="rnd">
              <a:solidFill>
                <a:srgbClr val="86BC25"/>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0</c:formatCode>
                <c:ptCount val="24"/>
                <c:pt idx="0">
                  <c:v>4573.8443357499627</c:v>
                </c:pt>
                <c:pt idx="1">
                  <c:v>4548.8950603876438</c:v>
                </c:pt>
                <c:pt idx="2">
                  <c:v>4516.0534454808112</c:v>
                </c:pt>
                <c:pt idx="3">
                  <c:v>4477.4582073855736</c:v>
                </c:pt>
                <c:pt idx="4">
                  <c:v>4462.7149361640422</c:v>
                </c:pt>
                <c:pt idx="5">
                  <c:v>4406.2563440315362</c:v>
                </c:pt>
                <c:pt idx="6">
                  <c:v>4460.5669030377476</c:v>
                </c:pt>
                <c:pt idx="7">
                  <c:v>4483.5669030377476</c:v>
                </c:pt>
                <c:pt idx="8">
                  <c:v>4519.5669030377476</c:v>
                </c:pt>
                <c:pt idx="9">
                  <c:v>4566.5669030377476</c:v>
                </c:pt>
                <c:pt idx="10">
                  <c:v>4576.5669030377476</c:v>
                </c:pt>
                <c:pt idx="11">
                  <c:v>4549.5669030377476</c:v>
                </c:pt>
                <c:pt idx="12">
                  <c:v>4470.6010645284305</c:v>
                </c:pt>
                <c:pt idx="13">
                  <c:v>4440.0472343006868</c:v>
                </c:pt>
                <c:pt idx="14">
                  <c:v>4435.7366752944754</c:v>
                </c:pt>
                <c:pt idx="15">
                  <c:v>4432.3319133897139</c:v>
                </c:pt>
                <c:pt idx="16">
                  <c:v>4425.3629692903351</c:v>
                </c:pt>
                <c:pt idx="17">
                  <c:v>4900.3360541764632</c:v>
                </c:pt>
                <c:pt idx="18">
                  <c:v>5961.341230159901</c:v>
                </c:pt>
                <c:pt idx="19">
                  <c:v>6462.4654537623846</c:v>
                </c:pt>
                <c:pt idx="20">
                  <c:v>6776.8722860605212</c:v>
                </c:pt>
                <c:pt idx="21">
                  <c:v>6377.5855365781199</c:v>
                </c:pt>
                <c:pt idx="22">
                  <c:v>5814.520319186815</c:v>
                </c:pt>
                <c:pt idx="23">
                  <c:v>5386.0244599735643</c:v>
                </c:pt>
              </c:numCache>
            </c:numRef>
          </c:val>
          <c:smooth val="0"/>
          <c:extLst>
            <c:ext xmlns:c16="http://schemas.microsoft.com/office/drawing/2014/chart" uri="{C3380CC4-5D6E-409C-BE32-E72D297353CC}">
              <c16:uniqueId val="{00000002-762B-4CEB-9E86-4476FF693975}"/>
            </c:ext>
          </c:extLst>
        </c:ser>
        <c:dLbls>
          <c:showLegendKey val="0"/>
          <c:showVal val="0"/>
          <c:showCatName val="0"/>
          <c:showSerName val="0"/>
          <c:showPercent val="0"/>
          <c:showBubbleSize val="0"/>
        </c:dLbls>
        <c:smooth val="0"/>
        <c:axId val="166496128"/>
        <c:axId val="166723584"/>
      </c:lineChart>
      <c:catAx>
        <c:axId val="166496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6723584"/>
        <c:crosses val="autoZero"/>
        <c:auto val="1"/>
        <c:lblAlgn val="ctr"/>
        <c:lblOffset val="100"/>
        <c:noMultiLvlLbl val="0"/>
      </c:catAx>
      <c:valAx>
        <c:axId val="166723584"/>
        <c:scaling>
          <c:orientation val="minMax"/>
          <c:min val="2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6496128"/>
        <c:crosses val="autoZero"/>
        <c:crossBetween val="between"/>
      </c:valAx>
      <c:spPr>
        <a:noFill/>
        <a:ln>
          <a:noFill/>
        </a:ln>
        <a:effectLst/>
      </c:spPr>
    </c:plotArea>
    <c:legend>
      <c:legendPos val="b"/>
      <c:layout>
        <c:manualLayout>
          <c:xMode val="edge"/>
          <c:yMode val="edge"/>
          <c:x val="0"/>
          <c:y val="0.85151903366480031"/>
          <c:w val="0.9973437526967508"/>
          <c:h val="0.13437599088840799"/>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400" b="1" baseline="0" dirty="0">
                <a:solidFill>
                  <a:schemeClr val="tx1"/>
                </a:solidFill>
              </a:rPr>
              <a:t>Winter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941144316658644"/>
          <c:y val="0.1037607573720858"/>
          <c:w val="0.82139727360600101"/>
          <c:h val="0.63560833026708441"/>
        </c:manualLayout>
      </c:layout>
      <c:lineChart>
        <c:grouping val="standard"/>
        <c:varyColors val="0"/>
        <c:ser>
          <c:idx val="1"/>
          <c:order val="0"/>
          <c:tx>
            <c:strRef>
              <c:f>Sheet1!$C$1</c:f>
              <c:strCache>
                <c:ptCount val="1"/>
                <c:pt idx="0">
                  <c:v>Availability (Long Term &amp; Short Term)</c:v>
                </c:pt>
              </c:strCache>
            </c:strRef>
          </c:tx>
          <c:spPr>
            <a:ln w="28575" cap="rnd">
              <a:solidFill>
                <a:srgbClr val="005587"/>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0</c:formatCode>
                <c:ptCount val="24"/>
                <c:pt idx="0">
                  <c:v>5110.4469340000005</c:v>
                </c:pt>
                <c:pt idx="1">
                  <c:v>5070.7559260000016</c:v>
                </c:pt>
                <c:pt idx="2">
                  <c:v>5012.493567999999</c:v>
                </c:pt>
                <c:pt idx="3">
                  <c:v>4953.2941899999978</c:v>
                </c:pt>
                <c:pt idx="4">
                  <c:v>4933.3598139999995</c:v>
                </c:pt>
                <c:pt idx="5">
                  <c:v>4916.0143179999995</c:v>
                </c:pt>
                <c:pt idx="6">
                  <c:v>4935.2058399999996</c:v>
                </c:pt>
                <c:pt idx="7">
                  <c:v>4961.1080419999989</c:v>
                </c:pt>
                <c:pt idx="8">
                  <c:v>5001.5092779999986</c:v>
                </c:pt>
                <c:pt idx="9">
                  <c:v>5054.1420399999997</c:v>
                </c:pt>
                <c:pt idx="10">
                  <c:v>5065.4096820000004</c:v>
                </c:pt>
                <c:pt idx="11">
                  <c:v>5035.3641840000009</c:v>
                </c:pt>
                <c:pt idx="12">
                  <c:v>4983.5585699999992</c:v>
                </c:pt>
                <c:pt idx="13">
                  <c:v>4953.7375579999998</c:v>
                </c:pt>
                <c:pt idx="14">
                  <c:v>4955.1940680000007</c:v>
                </c:pt>
                <c:pt idx="15">
                  <c:v>4953.9196619999993</c:v>
                </c:pt>
                <c:pt idx="16">
                  <c:v>4945.5664419999994</c:v>
                </c:pt>
                <c:pt idx="17">
                  <c:v>5479.5487720000001</c:v>
                </c:pt>
                <c:pt idx="18">
                  <c:v>6674.9747379999981</c:v>
                </c:pt>
                <c:pt idx="19">
                  <c:v>7239.4046740000003</c:v>
                </c:pt>
                <c:pt idx="20">
                  <c:v>7592.4264760000005</c:v>
                </c:pt>
                <c:pt idx="21">
                  <c:v>7142.5525479999997</c:v>
                </c:pt>
                <c:pt idx="22">
                  <c:v>6510.4755639999994</c:v>
                </c:pt>
                <c:pt idx="23">
                  <c:v>6025.947963999999</c:v>
                </c:pt>
              </c:numCache>
            </c:numRef>
          </c:val>
          <c:smooth val="0"/>
          <c:extLst>
            <c:ext xmlns:c16="http://schemas.microsoft.com/office/drawing/2014/chart" uri="{C3380CC4-5D6E-409C-BE32-E72D297353CC}">
              <c16:uniqueId val="{00000001-912E-4F90-8CF1-1651BB3C4E09}"/>
            </c:ext>
          </c:extLst>
        </c:ser>
        <c:ser>
          <c:idx val="2"/>
          <c:order val="1"/>
          <c:tx>
            <c:strRef>
              <c:f>Sheet1!$D$1</c:f>
              <c:strCache>
                <c:ptCount val="1"/>
                <c:pt idx="0">
                  <c:v>Demand</c:v>
                </c:pt>
              </c:strCache>
            </c:strRef>
          </c:tx>
          <c:spPr>
            <a:ln w="28575" cap="rnd">
              <a:solidFill>
                <a:srgbClr val="92D05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0</c:formatCode>
                <c:ptCount val="24"/>
                <c:pt idx="0">
                  <c:v>4573.8443357499627</c:v>
                </c:pt>
                <c:pt idx="1">
                  <c:v>4548.8950603876438</c:v>
                </c:pt>
                <c:pt idx="2">
                  <c:v>4516.0534454808112</c:v>
                </c:pt>
                <c:pt idx="3">
                  <c:v>4477.4582073855736</c:v>
                </c:pt>
                <c:pt idx="4">
                  <c:v>4462.7149361640422</c:v>
                </c:pt>
                <c:pt idx="5">
                  <c:v>4406.2563440315362</c:v>
                </c:pt>
                <c:pt idx="6">
                  <c:v>4460.5669030377476</c:v>
                </c:pt>
                <c:pt idx="7">
                  <c:v>4483.5669030377476</c:v>
                </c:pt>
                <c:pt idx="8">
                  <c:v>4519.5669030377476</c:v>
                </c:pt>
                <c:pt idx="9">
                  <c:v>4566.5669030377476</c:v>
                </c:pt>
                <c:pt idx="10">
                  <c:v>4576.5669030377476</c:v>
                </c:pt>
                <c:pt idx="11">
                  <c:v>4549.5669030377476</c:v>
                </c:pt>
                <c:pt idx="12">
                  <c:v>4470.6010645284305</c:v>
                </c:pt>
                <c:pt idx="13">
                  <c:v>4440.0472343006868</c:v>
                </c:pt>
                <c:pt idx="14">
                  <c:v>4435.7366752944754</c:v>
                </c:pt>
                <c:pt idx="15">
                  <c:v>4432.3319133897139</c:v>
                </c:pt>
                <c:pt idx="16">
                  <c:v>4425.3629692903351</c:v>
                </c:pt>
                <c:pt idx="17">
                  <c:v>4900.3360541764632</c:v>
                </c:pt>
                <c:pt idx="18">
                  <c:v>5961.341230159901</c:v>
                </c:pt>
                <c:pt idx="19">
                  <c:v>6462.4654537623846</c:v>
                </c:pt>
                <c:pt idx="20">
                  <c:v>6776.8722860605212</c:v>
                </c:pt>
                <c:pt idx="21">
                  <c:v>6377.5855365781199</c:v>
                </c:pt>
                <c:pt idx="22">
                  <c:v>5814.520319186815</c:v>
                </c:pt>
                <c:pt idx="23">
                  <c:v>5386.0244599735643</c:v>
                </c:pt>
              </c:numCache>
            </c:numRef>
          </c:val>
          <c:smooth val="0"/>
          <c:extLst>
            <c:ext xmlns:c16="http://schemas.microsoft.com/office/drawing/2014/chart" uri="{C3380CC4-5D6E-409C-BE32-E72D297353CC}">
              <c16:uniqueId val="{00000002-912E-4F90-8CF1-1651BB3C4E09}"/>
            </c:ext>
          </c:extLst>
        </c:ser>
        <c:dLbls>
          <c:showLegendKey val="0"/>
          <c:showVal val="0"/>
          <c:showCatName val="0"/>
          <c:showSerName val="0"/>
          <c:showPercent val="0"/>
          <c:showBubbleSize val="0"/>
        </c:dLbls>
        <c:smooth val="0"/>
        <c:axId val="166458112"/>
        <c:axId val="166460032"/>
      </c:lineChart>
      <c:catAx>
        <c:axId val="166458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460032"/>
        <c:crosses val="autoZero"/>
        <c:auto val="1"/>
        <c:lblAlgn val="ctr"/>
        <c:lblOffset val="100"/>
        <c:noMultiLvlLbl val="0"/>
      </c:catAx>
      <c:valAx>
        <c:axId val="166460032"/>
        <c:scaling>
          <c:orientation val="minMax"/>
          <c:max val="8000"/>
          <c:min val="2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458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400" b="1" dirty="0">
                <a:solidFill>
                  <a:schemeClr val="tx1"/>
                </a:solidFill>
              </a:rPr>
              <a:t>Summer</a:t>
            </a:r>
          </a:p>
        </c:rich>
      </c:tx>
      <c:layout>
        <c:manualLayout>
          <c:xMode val="edge"/>
          <c:yMode val="edge"/>
          <c:x val="0.22998896320471462"/>
          <c:y val="1.3623810129141919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768457630966379"/>
          <c:y val="0.10213499706652548"/>
          <c:w val="0.88231542369033622"/>
          <c:h val="0.61792417831171675"/>
        </c:manualLayout>
      </c:layout>
      <c:lineChart>
        <c:grouping val="standard"/>
        <c:varyColors val="0"/>
        <c:ser>
          <c:idx val="1"/>
          <c:order val="0"/>
          <c:tx>
            <c:strRef>
              <c:f>Sheet1!$C$1</c:f>
              <c:strCache>
                <c:ptCount val="1"/>
                <c:pt idx="0">
                  <c:v>Availability (Long Term &amp; Short Term)</c:v>
                </c:pt>
              </c:strCache>
            </c:strRef>
          </c:tx>
          <c:spPr>
            <a:ln w="28575" cap="rnd">
              <a:solidFill>
                <a:srgbClr val="007CB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General</c:formatCode>
                <c:ptCount val="24"/>
                <c:pt idx="0">
                  <c:v>5100</c:v>
                </c:pt>
                <c:pt idx="1">
                  <c:v>5070</c:v>
                </c:pt>
                <c:pt idx="2">
                  <c:v>5040</c:v>
                </c:pt>
                <c:pt idx="3">
                  <c:v>5010</c:v>
                </c:pt>
                <c:pt idx="4">
                  <c:v>4980</c:v>
                </c:pt>
                <c:pt idx="5">
                  <c:v>4950</c:v>
                </c:pt>
                <c:pt idx="6">
                  <c:v>4920</c:v>
                </c:pt>
                <c:pt idx="7">
                  <c:v>4900</c:v>
                </c:pt>
                <c:pt idx="8">
                  <c:v>5050</c:v>
                </c:pt>
                <c:pt idx="9">
                  <c:v>5200</c:v>
                </c:pt>
                <c:pt idx="10">
                  <c:v>5350</c:v>
                </c:pt>
                <c:pt idx="11">
                  <c:v>5500</c:v>
                </c:pt>
                <c:pt idx="12">
                  <c:v>5650</c:v>
                </c:pt>
                <c:pt idx="13">
                  <c:v>5700</c:v>
                </c:pt>
                <c:pt idx="14">
                  <c:v>5550</c:v>
                </c:pt>
                <c:pt idx="15">
                  <c:v>5390</c:v>
                </c:pt>
                <c:pt idx="16">
                  <c:v>5550</c:v>
                </c:pt>
                <c:pt idx="17">
                  <c:v>5710</c:v>
                </c:pt>
                <c:pt idx="18">
                  <c:v>5870</c:v>
                </c:pt>
                <c:pt idx="19">
                  <c:v>6030</c:v>
                </c:pt>
                <c:pt idx="20">
                  <c:v>6180</c:v>
                </c:pt>
                <c:pt idx="21">
                  <c:v>5880</c:v>
                </c:pt>
                <c:pt idx="22">
                  <c:v>5580</c:v>
                </c:pt>
                <c:pt idx="23">
                  <c:v>5280</c:v>
                </c:pt>
              </c:numCache>
            </c:numRef>
          </c:val>
          <c:smooth val="0"/>
          <c:extLst>
            <c:ext xmlns:c16="http://schemas.microsoft.com/office/drawing/2014/chart" uri="{C3380CC4-5D6E-409C-BE32-E72D297353CC}">
              <c16:uniqueId val="{00000001-E307-43ED-9E3E-7CE148A2F4D8}"/>
            </c:ext>
          </c:extLst>
        </c:ser>
        <c:ser>
          <c:idx val="2"/>
          <c:order val="1"/>
          <c:tx>
            <c:strRef>
              <c:f>Sheet1!$D$1</c:f>
              <c:strCache>
                <c:ptCount val="1"/>
                <c:pt idx="0">
                  <c:v>Demand</c:v>
                </c:pt>
              </c:strCache>
            </c:strRef>
          </c:tx>
          <c:spPr>
            <a:ln w="28575" cap="rnd">
              <a:solidFill>
                <a:srgbClr val="86BC25"/>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General</c:formatCode>
                <c:ptCount val="24"/>
                <c:pt idx="0">
                  <c:v>4300</c:v>
                </c:pt>
                <c:pt idx="1">
                  <c:v>4270</c:v>
                </c:pt>
                <c:pt idx="2">
                  <c:v>4240</c:v>
                </c:pt>
                <c:pt idx="3">
                  <c:v>4210</c:v>
                </c:pt>
                <c:pt idx="4">
                  <c:v>4180</c:v>
                </c:pt>
                <c:pt idx="5">
                  <c:v>4150</c:v>
                </c:pt>
                <c:pt idx="6">
                  <c:v>4120</c:v>
                </c:pt>
                <c:pt idx="7">
                  <c:v>4100</c:v>
                </c:pt>
                <c:pt idx="8">
                  <c:v>4150</c:v>
                </c:pt>
                <c:pt idx="9">
                  <c:v>4200</c:v>
                </c:pt>
                <c:pt idx="10">
                  <c:v>4250</c:v>
                </c:pt>
                <c:pt idx="11">
                  <c:v>4300</c:v>
                </c:pt>
                <c:pt idx="12">
                  <c:v>4350</c:v>
                </c:pt>
                <c:pt idx="13">
                  <c:v>4450</c:v>
                </c:pt>
                <c:pt idx="14">
                  <c:v>4220</c:v>
                </c:pt>
                <c:pt idx="15">
                  <c:v>4490</c:v>
                </c:pt>
                <c:pt idx="16">
                  <c:v>4760</c:v>
                </c:pt>
                <c:pt idx="17">
                  <c:v>5030</c:v>
                </c:pt>
                <c:pt idx="18">
                  <c:v>5300</c:v>
                </c:pt>
                <c:pt idx="19">
                  <c:v>5570</c:v>
                </c:pt>
                <c:pt idx="20">
                  <c:v>5600</c:v>
                </c:pt>
                <c:pt idx="21">
                  <c:v>5300</c:v>
                </c:pt>
                <c:pt idx="22">
                  <c:v>5000</c:v>
                </c:pt>
                <c:pt idx="23">
                  <c:v>4700</c:v>
                </c:pt>
              </c:numCache>
            </c:numRef>
          </c:val>
          <c:smooth val="0"/>
          <c:extLst>
            <c:ext xmlns:c16="http://schemas.microsoft.com/office/drawing/2014/chart" uri="{C3380CC4-5D6E-409C-BE32-E72D297353CC}">
              <c16:uniqueId val="{00000002-E307-43ED-9E3E-7CE148A2F4D8}"/>
            </c:ext>
          </c:extLst>
        </c:ser>
        <c:dLbls>
          <c:showLegendKey val="0"/>
          <c:showVal val="0"/>
          <c:showCatName val="0"/>
          <c:showSerName val="0"/>
          <c:showPercent val="0"/>
          <c:showBubbleSize val="0"/>
        </c:dLbls>
        <c:smooth val="0"/>
        <c:axId val="134544384"/>
        <c:axId val="166610048"/>
      </c:lineChart>
      <c:catAx>
        <c:axId val="134544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610048"/>
        <c:crosses val="autoZero"/>
        <c:auto val="1"/>
        <c:lblAlgn val="ctr"/>
        <c:lblOffset val="100"/>
        <c:noMultiLvlLbl val="0"/>
      </c:catAx>
      <c:valAx>
        <c:axId val="166610048"/>
        <c:scaling>
          <c:orientation val="minMax"/>
          <c:max val="8000"/>
          <c:min val="2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34544384"/>
        <c:crosses val="autoZero"/>
        <c:crossBetween val="between"/>
      </c:valAx>
      <c:spPr>
        <a:noFill/>
        <a:ln>
          <a:noFill/>
        </a:ln>
        <a:effectLst/>
      </c:spPr>
    </c:plotArea>
    <c:legend>
      <c:legendPos val="b"/>
      <c:layout>
        <c:manualLayout>
          <c:xMode val="edge"/>
          <c:yMode val="edge"/>
          <c:x val="0"/>
          <c:y val="0.84035397590874117"/>
          <c:w val="0.99737428532011441"/>
          <c:h val="0.14602221396211684"/>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1" dirty="0">
                <a:solidFill>
                  <a:schemeClr val="tx1"/>
                </a:solidFill>
              </a:rPr>
              <a:t>Monsoon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387185764162429"/>
          <c:y val="9.8369272837179889E-2"/>
          <c:w val="0.8311150615513353"/>
          <c:h val="0.62541494961067556"/>
        </c:manualLayout>
      </c:layout>
      <c:lineChart>
        <c:grouping val="standard"/>
        <c:varyColors val="0"/>
        <c:ser>
          <c:idx val="1"/>
          <c:order val="0"/>
          <c:tx>
            <c:strRef>
              <c:f>Sheet1!$C$1</c:f>
              <c:strCache>
                <c:ptCount val="1"/>
                <c:pt idx="0">
                  <c:v>Availability (Long Term &amp; Short Term)</c:v>
                </c:pt>
              </c:strCache>
            </c:strRef>
          </c:tx>
          <c:spPr>
            <a:ln w="28575" cap="rnd">
              <a:solidFill>
                <a:srgbClr val="012169"/>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General</c:formatCode>
                <c:ptCount val="24"/>
                <c:pt idx="0">
                  <c:v>5950</c:v>
                </c:pt>
                <c:pt idx="1">
                  <c:v>5920</c:v>
                </c:pt>
                <c:pt idx="2">
                  <c:v>5890</c:v>
                </c:pt>
                <c:pt idx="3">
                  <c:v>5860</c:v>
                </c:pt>
                <c:pt idx="4">
                  <c:v>5830</c:v>
                </c:pt>
                <c:pt idx="5">
                  <c:v>5790</c:v>
                </c:pt>
                <c:pt idx="6">
                  <c:v>5750</c:v>
                </c:pt>
                <c:pt idx="7">
                  <c:v>5700</c:v>
                </c:pt>
                <c:pt idx="8">
                  <c:v>5770</c:v>
                </c:pt>
                <c:pt idx="9">
                  <c:v>5840</c:v>
                </c:pt>
                <c:pt idx="10">
                  <c:v>5910</c:v>
                </c:pt>
                <c:pt idx="11">
                  <c:v>5980</c:v>
                </c:pt>
                <c:pt idx="12">
                  <c:v>6050</c:v>
                </c:pt>
                <c:pt idx="13">
                  <c:v>6100</c:v>
                </c:pt>
                <c:pt idx="14">
                  <c:v>6075</c:v>
                </c:pt>
                <c:pt idx="15">
                  <c:v>6050</c:v>
                </c:pt>
                <c:pt idx="16">
                  <c:v>6275</c:v>
                </c:pt>
                <c:pt idx="17">
                  <c:v>6500</c:v>
                </c:pt>
                <c:pt idx="18">
                  <c:v>6725</c:v>
                </c:pt>
                <c:pt idx="19">
                  <c:v>6940</c:v>
                </c:pt>
                <c:pt idx="20">
                  <c:v>7150</c:v>
                </c:pt>
                <c:pt idx="21">
                  <c:v>6875</c:v>
                </c:pt>
                <c:pt idx="22">
                  <c:v>6600</c:v>
                </c:pt>
                <c:pt idx="23">
                  <c:v>6350</c:v>
                </c:pt>
              </c:numCache>
            </c:numRef>
          </c:val>
          <c:smooth val="0"/>
          <c:extLst>
            <c:ext xmlns:c16="http://schemas.microsoft.com/office/drawing/2014/chart" uri="{C3380CC4-5D6E-409C-BE32-E72D297353CC}">
              <c16:uniqueId val="{00000001-762B-4CEB-9E86-4476FF693975}"/>
            </c:ext>
          </c:extLst>
        </c:ser>
        <c:ser>
          <c:idx val="2"/>
          <c:order val="1"/>
          <c:tx>
            <c:strRef>
              <c:f>Sheet1!$D$1</c:f>
              <c:strCache>
                <c:ptCount val="1"/>
                <c:pt idx="0">
                  <c:v>Demand</c:v>
                </c:pt>
              </c:strCache>
            </c:strRef>
          </c:tx>
          <c:spPr>
            <a:ln w="28575" cap="rnd">
              <a:solidFill>
                <a:srgbClr val="86BC25"/>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0</c:formatCode>
                <c:ptCount val="24"/>
                <c:pt idx="0">
                  <c:v>4200</c:v>
                </c:pt>
                <c:pt idx="1">
                  <c:v>4250</c:v>
                </c:pt>
                <c:pt idx="2">
                  <c:v>4300</c:v>
                </c:pt>
                <c:pt idx="3">
                  <c:v>4350</c:v>
                </c:pt>
                <c:pt idx="4">
                  <c:v>4225</c:v>
                </c:pt>
                <c:pt idx="5">
                  <c:v>4100</c:v>
                </c:pt>
                <c:pt idx="6">
                  <c:v>4125</c:v>
                </c:pt>
                <c:pt idx="7">
                  <c:v>4150</c:v>
                </c:pt>
                <c:pt idx="8">
                  <c:v>4175</c:v>
                </c:pt>
                <c:pt idx="9">
                  <c:v>4200</c:v>
                </c:pt>
                <c:pt idx="10">
                  <c:v>4225</c:v>
                </c:pt>
                <c:pt idx="11">
                  <c:v>4250</c:v>
                </c:pt>
                <c:pt idx="12">
                  <c:v>4275</c:v>
                </c:pt>
                <c:pt idx="13">
                  <c:v>4300</c:v>
                </c:pt>
                <c:pt idx="14">
                  <c:v>4200</c:v>
                </c:pt>
                <c:pt idx="15">
                  <c:v>4100</c:v>
                </c:pt>
                <c:pt idx="16">
                  <c:v>4600</c:v>
                </c:pt>
                <c:pt idx="17">
                  <c:v>5100</c:v>
                </c:pt>
                <c:pt idx="18">
                  <c:v>5600</c:v>
                </c:pt>
                <c:pt idx="19">
                  <c:v>6000</c:v>
                </c:pt>
                <c:pt idx="20">
                  <c:v>5950</c:v>
                </c:pt>
                <c:pt idx="21">
                  <c:v>5650</c:v>
                </c:pt>
                <c:pt idx="22">
                  <c:v>5350</c:v>
                </c:pt>
                <c:pt idx="23">
                  <c:v>4950</c:v>
                </c:pt>
              </c:numCache>
            </c:numRef>
          </c:val>
          <c:smooth val="0"/>
          <c:extLst>
            <c:ext xmlns:c16="http://schemas.microsoft.com/office/drawing/2014/chart" uri="{C3380CC4-5D6E-409C-BE32-E72D297353CC}">
              <c16:uniqueId val="{00000002-762B-4CEB-9E86-4476FF693975}"/>
            </c:ext>
          </c:extLst>
        </c:ser>
        <c:dLbls>
          <c:showLegendKey val="0"/>
          <c:showVal val="0"/>
          <c:showCatName val="0"/>
          <c:showSerName val="0"/>
          <c:showPercent val="0"/>
          <c:showBubbleSize val="0"/>
        </c:dLbls>
        <c:smooth val="0"/>
        <c:axId val="166496128"/>
        <c:axId val="166723584"/>
      </c:lineChart>
      <c:catAx>
        <c:axId val="166496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6723584"/>
        <c:crosses val="autoZero"/>
        <c:auto val="1"/>
        <c:lblAlgn val="ctr"/>
        <c:lblOffset val="100"/>
        <c:noMultiLvlLbl val="0"/>
      </c:catAx>
      <c:valAx>
        <c:axId val="166723584"/>
        <c:scaling>
          <c:orientation val="minMax"/>
          <c:max val="8000"/>
          <c:min val="2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6496128"/>
        <c:crosses val="autoZero"/>
        <c:crossBetween val="between"/>
      </c:valAx>
      <c:spPr>
        <a:noFill/>
        <a:ln>
          <a:noFill/>
        </a:ln>
        <a:effectLst/>
      </c:spPr>
    </c:plotArea>
    <c:legend>
      <c:legendPos val="b"/>
      <c:layout>
        <c:manualLayout>
          <c:xMode val="edge"/>
          <c:yMode val="edge"/>
          <c:x val="0"/>
          <c:y val="0.85151903366480031"/>
          <c:w val="0.9973437526967508"/>
          <c:h val="0.13437599088840799"/>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400" b="1" baseline="0" dirty="0">
                <a:solidFill>
                  <a:schemeClr val="tx1"/>
                </a:solidFill>
              </a:rPr>
              <a:t>Winter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941144316658644"/>
          <c:y val="0.1037607573720858"/>
          <c:w val="0.82139727360600101"/>
          <c:h val="0.63560833026708441"/>
        </c:manualLayout>
      </c:layout>
      <c:lineChart>
        <c:grouping val="standard"/>
        <c:varyColors val="0"/>
        <c:ser>
          <c:idx val="1"/>
          <c:order val="0"/>
          <c:tx>
            <c:strRef>
              <c:f>Sheet1!$C$1</c:f>
              <c:strCache>
                <c:ptCount val="1"/>
                <c:pt idx="0">
                  <c:v>Availability (Long Term &amp; Short Term)</c:v>
                </c:pt>
              </c:strCache>
            </c:strRef>
          </c:tx>
          <c:spPr>
            <a:ln w="28575" cap="rnd">
              <a:solidFill>
                <a:srgbClr val="005587"/>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General</c:formatCode>
                <c:ptCount val="24"/>
                <c:pt idx="0">
                  <c:v>5000</c:v>
                </c:pt>
                <c:pt idx="1">
                  <c:v>4972</c:v>
                </c:pt>
                <c:pt idx="2">
                  <c:v>4944</c:v>
                </c:pt>
                <c:pt idx="3">
                  <c:v>4916</c:v>
                </c:pt>
                <c:pt idx="4">
                  <c:v>4888</c:v>
                </c:pt>
                <c:pt idx="5">
                  <c:v>4860</c:v>
                </c:pt>
                <c:pt idx="6">
                  <c:v>4832</c:v>
                </c:pt>
                <c:pt idx="7">
                  <c:v>4800</c:v>
                </c:pt>
                <c:pt idx="8">
                  <c:v>4855</c:v>
                </c:pt>
                <c:pt idx="9">
                  <c:v>4910</c:v>
                </c:pt>
                <c:pt idx="10">
                  <c:v>4965</c:v>
                </c:pt>
                <c:pt idx="11">
                  <c:v>5020</c:v>
                </c:pt>
                <c:pt idx="12">
                  <c:v>5075</c:v>
                </c:pt>
                <c:pt idx="13">
                  <c:v>5150</c:v>
                </c:pt>
                <c:pt idx="14">
                  <c:v>5105</c:v>
                </c:pt>
                <c:pt idx="15">
                  <c:v>5060</c:v>
                </c:pt>
                <c:pt idx="16">
                  <c:v>5000</c:v>
                </c:pt>
                <c:pt idx="17">
                  <c:v>5200</c:v>
                </c:pt>
                <c:pt idx="18">
                  <c:v>5400</c:v>
                </c:pt>
                <c:pt idx="19">
                  <c:v>5600</c:v>
                </c:pt>
                <c:pt idx="20">
                  <c:v>5650</c:v>
                </c:pt>
                <c:pt idx="21">
                  <c:v>5450</c:v>
                </c:pt>
                <c:pt idx="22">
                  <c:v>5250</c:v>
                </c:pt>
                <c:pt idx="23">
                  <c:v>5200</c:v>
                </c:pt>
              </c:numCache>
            </c:numRef>
          </c:val>
          <c:smooth val="0"/>
          <c:extLst>
            <c:ext xmlns:c16="http://schemas.microsoft.com/office/drawing/2014/chart" uri="{C3380CC4-5D6E-409C-BE32-E72D297353CC}">
              <c16:uniqueId val="{00000001-912E-4F90-8CF1-1651BB3C4E09}"/>
            </c:ext>
          </c:extLst>
        </c:ser>
        <c:ser>
          <c:idx val="2"/>
          <c:order val="1"/>
          <c:tx>
            <c:strRef>
              <c:f>Sheet1!$D$1</c:f>
              <c:strCache>
                <c:ptCount val="1"/>
                <c:pt idx="0">
                  <c:v>Demand</c:v>
                </c:pt>
              </c:strCache>
            </c:strRef>
          </c:tx>
          <c:spPr>
            <a:ln w="28575" cap="rnd">
              <a:solidFill>
                <a:srgbClr val="92D05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General</c:formatCode>
                <c:ptCount val="24"/>
                <c:pt idx="0">
                  <c:v>4150</c:v>
                </c:pt>
                <c:pt idx="1">
                  <c:v>4130</c:v>
                </c:pt>
                <c:pt idx="2">
                  <c:v>4110</c:v>
                </c:pt>
                <c:pt idx="3">
                  <c:v>4090</c:v>
                </c:pt>
                <c:pt idx="4">
                  <c:v>4070</c:v>
                </c:pt>
                <c:pt idx="5">
                  <c:v>4050</c:v>
                </c:pt>
                <c:pt idx="6">
                  <c:v>4030</c:v>
                </c:pt>
                <c:pt idx="7">
                  <c:v>4000</c:v>
                </c:pt>
                <c:pt idx="8">
                  <c:v>4060</c:v>
                </c:pt>
                <c:pt idx="9">
                  <c:v>4120</c:v>
                </c:pt>
                <c:pt idx="10">
                  <c:v>4180</c:v>
                </c:pt>
                <c:pt idx="11">
                  <c:v>4240</c:v>
                </c:pt>
                <c:pt idx="12">
                  <c:v>4300</c:v>
                </c:pt>
                <c:pt idx="13">
                  <c:v>4400</c:v>
                </c:pt>
                <c:pt idx="14">
                  <c:v>4335</c:v>
                </c:pt>
                <c:pt idx="15">
                  <c:v>4270</c:v>
                </c:pt>
                <c:pt idx="16">
                  <c:v>4200</c:v>
                </c:pt>
                <c:pt idx="17">
                  <c:v>4360</c:v>
                </c:pt>
                <c:pt idx="18">
                  <c:v>4520</c:v>
                </c:pt>
                <c:pt idx="19">
                  <c:v>4680</c:v>
                </c:pt>
                <c:pt idx="20">
                  <c:v>4750</c:v>
                </c:pt>
                <c:pt idx="21">
                  <c:v>4550</c:v>
                </c:pt>
                <c:pt idx="22">
                  <c:v>4350</c:v>
                </c:pt>
                <c:pt idx="23">
                  <c:v>4150</c:v>
                </c:pt>
              </c:numCache>
            </c:numRef>
          </c:val>
          <c:smooth val="0"/>
          <c:extLst>
            <c:ext xmlns:c16="http://schemas.microsoft.com/office/drawing/2014/chart" uri="{C3380CC4-5D6E-409C-BE32-E72D297353CC}">
              <c16:uniqueId val="{00000002-912E-4F90-8CF1-1651BB3C4E09}"/>
            </c:ext>
          </c:extLst>
        </c:ser>
        <c:dLbls>
          <c:showLegendKey val="0"/>
          <c:showVal val="0"/>
          <c:showCatName val="0"/>
          <c:showSerName val="0"/>
          <c:showPercent val="0"/>
          <c:showBubbleSize val="0"/>
        </c:dLbls>
        <c:smooth val="0"/>
        <c:axId val="166458112"/>
        <c:axId val="166460032"/>
      </c:lineChart>
      <c:catAx>
        <c:axId val="166458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460032"/>
        <c:crosses val="autoZero"/>
        <c:auto val="1"/>
        <c:lblAlgn val="ctr"/>
        <c:lblOffset val="100"/>
        <c:noMultiLvlLbl val="0"/>
      </c:catAx>
      <c:valAx>
        <c:axId val="166460032"/>
        <c:scaling>
          <c:orientation val="minMax"/>
          <c:max val="8000"/>
          <c:min val="2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458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400" b="1" dirty="0">
                <a:solidFill>
                  <a:schemeClr val="tx1"/>
                </a:solidFill>
              </a:rPr>
              <a:t>Summer</a:t>
            </a:r>
          </a:p>
        </c:rich>
      </c:tx>
      <c:layout>
        <c:manualLayout>
          <c:xMode val="edge"/>
          <c:yMode val="edge"/>
          <c:x val="0.22998896320471462"/>
          <c:y val="1.3623810129141919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768457630966379"/>
          <c:y val="0.10213499706652548"/>
          <c:w val="0.88231542369033622"/>
          <c:h val="0.61792417831171675"/>
        </c:manualLayout>
      </c:layout>
      <c:lineChart>
        <c:grouping val="standard"/>
        <c:varyColors val="0"/>
        <c:ser>
          <c:idx val="1"/>
          <c:order val="0"/>
          <c:tx>
            <c:strRef>
              <c:f>Sheet1!$C$1</c:f>
              <c:strCache>
                <c:ptCount val="1"/>
                <c:pt idx="0">
                  <c:v>Availability (Long Term &amp; Short Term)</c:v>
                </c:pt>
              </c:strCache>
            </c:strRef>
          </c:tx>
          <c:spPr>
            <a:ln w="28575" cap="rnd">
              <a:solidFill>
                <a:srgbClr val="007CB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General</c:formatCode>
                <c:ptCount val="24"/>
                <c:pt idx="0">
                  <c:v>5850</c:v>
                </c:pt>
                <c:pt idx="1">
                  <c:v>5800</c:v>
                </c:pt>
                <c:pt idx="2">
                  <c:v>5750</c:v>
                </c:pt>
                <c:pt idx="3">
                  <c:v>5700</c:v>
                </c:pt>
                <c:pt idx="4">
                  <c:v>5650</c:v>
                </c:pt>
                <c:pt idx="5">
                  <c:v>5600</c:v>
                </c:pt>
                <c:pt idx="6">
                  <c:v>5550</c:v>
                </c:pt>
                <c:pt idx="7">
                  <c:v>5500</c:v>
                </c:pt>
                <c:pt idx="8" formatCode="0">
                  <c:v>5608</c:v>
                </c:pt>
                <c:pt idx="9" formatCode="0">
                  <c:v>5716</c:v>
                </c:pt>
                <c:pt idx="10" formatCode="0">
                  <c:v>5824</c:v>
                </c:pt>
                <c:pt idx="11" formatCode="0">
                  <c:v>5932</c:v>
                </c:pt>
                <c:pt idx="12" formatCode="0">
                  <c:v>6040</c:v>
                </c:pt>
                <c:pt idx="13">
                  <c:v>6150</c:v>
                </c:pt>
                <c:pt idx="14">
                  <c:v>6025</c:v>
                </c:pt>
                <c:pt idx="15">
                  <c:v>5900</c:v>
                </c:pt>
                <c:pt idx="16">
                  <c:v>5975</c:v>
                </c:pt>
                <c:pt idx="17">
                  <c:v>6050</c:v>
                </c:pt>
                <c:pt idx="18">
                  <c:v>6110</c:v>
                </c:pt>
                <c:pt idx="19">
                  <c:v>6170</c:v>
                </c:pt>
                <c:pt idx="20">
                  <c:v>6850</c:v>
                </c:pt>
                <c:pt idx="21">
                  <c:v>6600</c:v>
                </c:pt>
                <c:pt idx="22">
                  <c:v>6350</c:v>
                </c:pt>
                <c:pt idx="23">
                  <c:v>6100</c:v>
                </c:pt>
              </c:numCache>
            </c:numRef>
          </c:val>
          <c:smooth val="0"/>
          <c:extLst>
            <c:ext xmlns:c16="http://schemas.microsoft.com/office/drawing/2014/chart" uri="{C3380CC4-5D6E-409C-BE32-E72D297353CC}">
              <c16:uniqueId val="{00000001-E307-43ED-9E3E-7CE148A2F4D8}"/>
            </c:ext>
          </c:extLst>
        </c:ser>
        <c:ser>
          <c:idx val="2"/>
          <c:order val="1"/>
          <c:tx>
            <c:strRef>
              <c:f>Sheet1!$D$1</c:f>
              <c:strCache>
                <c:ptCount val="1"/>
                <c:pt idx="0">
                  <c:v>Demand</c:v>
                </c:pt>
              </c:strCache>
            </c:strRef>
          </c:tx>
          <c:spPr>
            <a:ln w="28575" cap="rnd">
              <a:solidFill>
                <a:srgbClr val="86BC25"/>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General</c:formatCode>
                <c:ptCount val="24"/>
                <c:pt idx="0">
                  <c:v>4150</c:v>
                </c:pt>
                <c:pt idx="1">
                  <c:v>4130</c:v>
                </c:pt>
                <c:pt idx="2">
                  <c:v>4110</c:v>
                </c:pt>
                <c:pt idx="3">
                  <c:v>4090</c:v>
                </c:pt>
                <c:pt idx="4">
                  <c:v>4070</c:v>
                </c:pt>
                <c:pt idx="5">
                  <c:v>4050</c:v>
                </c:pt>
                <c:pt idx="6">
                  <c:v>4030</c:v>
                </c:pt>
                <c:pt idx="7">
                  <c:v>4000</c:v>
                </c:pt>
                <c:pt idx="8" formatCode="0">
                  <c:v>4150</c:v>
                </c:pt>
                <c:pt idx="9" formatCode="0">
                  <c:v>4300</c:v>
                </c:pt>
                <c:pt idx="10" formatCode="0">
                  <c:v>4450</c:v>
                </c:pt>
                <c:pt idx="11" formatCode="0">
                  <c:v>4600</c:v>
                </c:pt>
                <c:pt idx="12" formatCode="0">
                  <c:v>4750</c:v>
                </c:pt>
                <c:pt idx="13">
                  <c:v>4750</c:v>
                </c:pt>
                <c:pt idx="14">
                  <c:v>4600</c:v>
                </c:pt>
                <c:pt idx="15">
                  <c:v>4450</c:v>
                </c:pt>
                <c:pt idx="16">
                  <c:v>4550</c:v>
                </c:pt>
                <c:pt idx="17">
                  <c:v>4650</c:v>
                </c:pt>
                <c:pt idx="18">
                  <c:v>5330</c:v>
                </c:pt>
                <c:pt idx="19">
                  <c:v>6010</c:v>
                </c:pt>
                <c:pt idx="20">
                  <c:v>6550</c:v>
                </c:pt>
                <c:pt idx="21">
                  <c:v>6270</c:v>
                </c:pt>
                <c:pt idx="22">
                  <c:v>5840</c:v>
                </c:pt>
                <c:pt idx="23">
                  <c:v>5400</c:v>
                </c:pt>
              </c:numCache>
            </c:numRef>
          </c:val>
          <c:smooth val="0"/>
          <c:extLst>
            <c:ext xmlns:c16="http://schemas.microsoft.com/office/drawing/2014/chart" uri="{C3380CC4-5D6E-409C-BE32-E72D297353CC}">
              <c16:uniqueId val="{00000002-E307-43ED-9E3E-7CE148A2F4D8}"/>
            </c:ext>
          </c:extLst>
        </c:ser>
        <c:dLbls>
          <c:showLegendKey val="0"/>
          <c:showVal val="0"/>
          <c:showCatName val="0"/>
          <c:showSerName val="0"/>
          <c:showPercent val="0"/>
          <c:showBubbleSize val="0"/>
        </c:dLbls>
        <c:smooth val="0"/>
        <c:axId val="134544384"/>
        <c:axId val="166610048"/>
      </c:lineChart>
      <c:catAx>
        <c:axId val="134544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610048"/>
        <c:crosses val="autoZero"/>
        <c:auto val="1"/>
        <c:lblAlgn val="ctr"/>
        <c:lblOffset val="100"/>
        <c:noMultiLvlLbl val="0"/>
      </c:catAx>
      <c:valAx>
        <c:axId val="166610048"/>
        <c:scaling>
          <c:orientation val="minMax"/>
          <c:max val="8000"/>
          <c:min val="2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34544384"/>
        <c:crosses val="autoZero"/>
        <c:crossBetween val="between"/>
      </c:valAx>
      <c:spPr>
        <a:noFill/>
        <a:ln>
          <a:noFill/>
        </a:ln>
        <a:effectLst/>
      </c:spPr>
    </c:plotArea>
    <c:legend>
      <c:legendPos val="b"/>
      <c:layout>
        <c:manualLayout>
          <c:xMode val="edge"/>
          <c:yMode val="edge"/>
          <c:x val="0"/>
          <c:y val="0.84035397590874117"/>
          <c:w val="0.99737428532011441"/>
          <c:h val="0.14602221396211684"/>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1" dirty="0">
                <a:solidFill>
                  <a:schemeClr val="tx1"/>
                </a:solidFill>
              </a:rPr>
              <a:t>Monsoon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387185764162429"/>
          <c:y val="9.8369272837179889E-2"/>
          <c:w val="0.8311150615513353"/>
          <c:h val="0.62541494961067556"/>
        </c:manualLayout>
      </c:layout>
      <c:lineChart>
        <c:grouping val="standard"/>
        <c:varyColors val="0"/>
        <c:ser>
          <c:idx val="1"/>
          <c:order val="0"/>
          <c:tx>
            <c:strRef>
              <c:f>Sheet1!$C$1</c:f>
              <c:strCache>
                <c:ptCount val="1"/>
                <c:pt idx="0">
                  <c:v>Availability (Long Term &amp; Short Term)</c:v>
                </c:pt>
              </c:strCache>
            </c:strRef>
          </c:tx>
          <c:spPr>
            <a:ln w="28575" cap="rnd">
              <a:solidFill>
                <a:srgbClr val="012169"/>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General</c:formatCode>
                <c:ptCount val="24"/>
                <c:pt idx="0">
                  <c:v>6150</c:v>
                </c:pt>
                <c:pt idx="1">
                  <c:v>6110</c:v>
                </c:pt>
                <c:pt idx="2">
                  <c:v>6070</c:v>
                </c:pt>
                <c:pt idx="3">
                  <c:v>6030</c:v>
                </c:pt>
                <c:pt idx="4">
                  <c:v>5990</c:v>
                </c:pt>
                <c:pt idx="5">
                  <c:v>5950</c:v>
                </c:pt>
                <c:pt idx="6">
                  <c:v>5910</c:v>
                </c:pt>
                <c:pt idx="7">
                  <c:v>5900</c:v>
                </c:pt>
                <c:pt idx="8" formatCode="0">
                  <c:v>6040</c:v>
                </c:pt>
                <c:pt idx="9" formatCode="0">
                  <c:v>6180</c:v>
                </c:pt>
                <c:pt idx="10" formatCode="0">
                  <c:v>6320</c:v>
                </c:pt>
                <c:pt idx="11" formatCode="0">
                  <c:v>6460</c:v>
                </c:pt>
                <c:pt idx="12" formatCode="0">
                  <c:v>6600</c:v>
                </c:pt>
                <c:pt idx="13">
                  <c:v>6750</c:v>
                </c:pt>
                <c:pt idx="14">
                  <c:v>6575</c:v>
                </c:pt>
                <c:pt idx="15">
                  <c:v>6400</c:v>
                </c:pt>
                <c:pt idx="16">
                  <c:v>6525</c:v>
                </c:pt>
                <c:pt idx="17">
                  <c:v>6650</c:v>
                </c:pt>
                <c:pt idx="18">
                  <c:v>6910</c:v>
                </c:pt>
                <c:pt idx="19">
                  <c:v>7170</c:v>
                </c:pt>
                <c:pt idx="20">
                  <c:v>7450</c:v>
                </c:pt>
                <c:pt idx="21">
                  <c:v>7335</c:v>
                </c:pt>
                <c:pt idx="22">
                  <c:v>7220</c:v>
                </c:pt>
                <c:pt idx="23">
                  <c:v>7100</c:v>
                </c:pt>
              </c:numCache>
            </c:numRef>
          </c:val>
          <c:smooth val="0"/>
          <c:extLst>
            <c:ext xmlns:c16="http://schemas.microsoft.com/office/drawing/2014/chart" uri="{C3380CC4-5D6E-409C-BE32-E72D297353CC}">
              <c16:uniqueId val="{00000001-762B-4CEB-9E86-4476FF693975}"/>
            </c:ext>
          </c:extLst>
        </c:ser>
        <c:ser>
          <c:idx val="2"/>
          <c:order val="1"/>
          <c:tx>
            <c:strRef>
              <c:f>Sheet1!$D$1</c:f>
              <c:strCache>
                <c:ptCount val="1"/>
                <c:pt idx="0">
                  <c:v>Demand</c:v>
                </c:pt>
              </c:strCache>
            </c:strRef>
          </c:tx>
          <c:spPr>
            <a:ln w="28575" cap="rnd">
              <a:solidFill>
                <a:srgbClr val="86BC25"/>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0</c:formatCode>
                <c:ptCount val="24"/>
                <c:pt idx="0">
                  <c:v>4750</c:v>
                </c:pt>
                <c:pt idx="1">
                  <c:v>4650</c:v>
                </c:pt>
                <c:pt idx="2">
                  <c:v>4550</c:v>
                </c:pt>
                <c:pt idx="3">
                  <c:v>4450</c:v>
                </c:pt>
                <c:pt idx="4">
                  <c:v>4350</c:v>
                </c:pt>
                <c:pt idx="5">
                  <c:v>4450</c:v>
                </c:pt>
                <c:pt idx="6">
                  <c:v>5000</c:v>
                </c:pt>
                <c:pt idx="7">
                  <c:v>5060</c:v>
                </c:pt>
                <c:pt idx="8">
                  <c:v>5120</c:v>
                </c:pt>
                <c:pt idx="9">
                  <c:v>5180</c:v>
                </c:pt>
                <c:pt idx="10">
                  <c:v>5240</c:v>
                </c:pt>
                <c:pt idx="11">
                  <c:v>5300</c:v>
                </c:pt>
                <c:pt idx="12">
                  <c:v>5360</c:v>
                </c:pt>
                <c:pt idx="13">
                  <c:v>4950</c:v>
                </c:pt>
                <c:pt idx="14" formatCode="General">
                  <c:v>4875</c:v>
                </c:pt>
                <c:pt idx="15">
                  <c:v>4800</c:v>
                </c:pt>
                <c:pt idx="16" formatCode="General">
                  <c:v>4840</c:v>
                </c:pt>
                <c:pt idx="17">
                  <c:v>4880</c:v>
                </c:pt>
                <c:pt idx="18">
                  <c:v>5330</c:v>
                </c:pt>
                <c:pt idx="19">
                  <c:v>5780</c:v>
                </c:pt>
                <c:pt idx="20">
                  <c:v>6250</c:v>
                </c:pt>
                <c:pt idx="21">
                  <c:v>5970</c:v>
                </c:pt>
                <c:pt idx="22">
                  <c:v>5690</c:v>
                </c:pt>
                <c:pt idx="23">
                  <c:v>5400</c:v>
                </c:pt>
              </c:numCache>
            </c:numRef>
          </c:val>
          <c:smooth val="0"/>
          <c:extLst>
            <c:ext xmlns:c16="http://schemas.microsoft.com/office/drawing/2014/chart" uri="{C3380CC4-5D6E-409C-BE32-E72D297353CC}">
              <c16:uniqueId val="{00000002-762B-4CEB-9E86-4476FF693975}"/>
            </c:ext>
          </c:extLst>
        </c:ser>
        <c:dLbls>
          <c:showLegendKey val="0"/>
          <c:showVal val="0"/>
          <c:showCatName val="0"/>
          <c:showSerName val="0"/>
          <c:showPercent val="0"/>
          <c:showBubbleSize val="0"/>
        </c:dLbls>
        <c:smooth val="0"/>
        <c:axId val="166496128"/>
        <c:axId val="166723584"/>
      </c:lineChart>
      <c:catAx>
        <c:axId val="166496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6723584"/>
        <c:crosses val="autoZero"/>
        <c:auto val="1"/>
        <c:lblAlgn val="ctr"/>
        <c:lblOffset val="100"/>
        <c:noMultiLvlLbl val="0"/>
      </c:catAx>
      <c:valAx>
        <c:axId val="166723584"/>
        <c:scaling>
          <c:orientation val="minMax"/>
          <c:min val="2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6496128"/>
        <c:crosses val="autoZero"/>
        <c:crossBetween val="between"/>
      </c:valAx>
      <c:spPr>
        <a:noFill/>
        <a:ln>
          <a:noFill/>
        </a:ln>
        <a:effectLst/>
      </c:spPr>
    </c:plotArea>
    <c:legend>
      <c:legendPos val="b"/>
      <c:layout>
        <c:manualLayout>
          <c:xMode val="edge"/>
          <c:yMode val="edge"/>
          <c:x val="0"/>
          <c:y val="0.85151903366480031"/>
          <c:w val="0.9973437526967508"/>
          <c:h val="0.13437599088840799"/>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400" b="1" baseline="0" dirty="0">
                <a:solidFill>
                  <a:schemeClr val="tx1"/>
                </a:solidFill>
              </a:rPr>
              <a:t>Winter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941144316658644"/>
          <c:y val="0.1037607573720858"/>
          <c:w val="0.82139727360600101"/>
          <c:h val="0.63560833026708441"/>
        </c:manualLayout>
      </c:layout>
      <c:lineChart>
        <c:grouping val="standard"/>
        <c:varyColors val="0"/>
        <c:ser>
          <c:idx val="1"/>
          <c:order val="0"/>
          <c:tx>
            <c:strRef>
              <c:f>Sheet1!$C$1</c:f>
              <c:strCache>
                <c:ptCount val="1"/>
                <c:pt idx="0">
                  <c:v>Availability (Long Term &amp; Short Term)</c:v>
                </c:pt>
              </c:strCache>
            </c:strRef>
          </c:tx>
          <c:spPr>
            <a:ln w="28575" cap="rnd">
              <a:solidFill>
                <a:srgbClr val="005587"/>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Sheet1!$C$2:$C$25</c:f>
              <c:numCache>
                <c:formatCode>General</c:formatCode>
                <c:ptCount val="24"/>
                <c:pt idx="0">
                  <c:v>5050</c:v>
                </c:pt>
                <c:pt idx="1">
                  <c:v>5035</c:v>
                </c:pt>
                <c:pt idx="2">
                  <c:v>5020</c:v>
                </c:pt>
                <c:pt idx="3">
                  <c:v>5005</c:v>
                </c:pt>
                <c:pt idx="4">
                  <c:v>4990</c:v>
                </c:pt>
                <c:pt idx="5">
                  <c:v>4975</c:v>
                </c:pt>
                <c:pt idx="6">
                  <c:v>4960</c:v>
                </c:pt>
                <c:pt idx="7">
                  <c:v>4950</c:v>
                </c:pt>
                <c:pt idx="8" formatCode="0">
                  <c:v>5060</c:v>
                </c:pt>
                <c:pt idx="9" formatCode="0">
                  <c:v>5170</c:v>
                </c:pt>
                <c:pt idx="10" formatCode="0">
                  <c:v>5280</c:v>
                </c:pt>
                <c:pt idx="11" formatCode="0">
                  <c:v>5390</c:v>
                </c:pt>
                <c:pt idx="12" formatCode="0">
                  <c:v>5500</c:v>
                </c:pt>
                <c:pt idx="13">
                  <c:v>5650</c:v>
                </c:pt>
                <c:pt idx="14">
                  <c:v>5500</c:v>
                </c:pt>
                <c:pt idx="15">
                  <c:v>5350</c:v>
                </c:pt>
                <c:pt idx="16">
                  <c:v>5400</c:v>
                </c:pt>
                <c:pt idx="17">
                  <c:v>5450</c:v>
                </c:pt>
                <c:pt idx="18">
                  <c:v>5660</c:v>
                </c:pt>
                <c:pt idx="19">
                  <c:v>5870</c:v>
                </c:pt>
                <c:pt idx="20">
                  <c:v>6100</c:v>
                </c:pt>
                <c:pt idx="21">
                  <c:v>5840</c:v>
                </c:pt>
                <c:pt idx="22">
                  <c:v>5580</c:v>
                </c:pt>
                <c:pt idx="23">
                  <c:v>5300</c:v>
                </c:pt>
              </c:numCache>
            </c:numRef>
          </c:val>
          <c:smooth val="0"/>
          <c:extLst>
            <c:ext xmlns:c16="http://schemas.microsoft.com/office/drawing/2014/chart" uri="{C3380CC4-5D6E-409C-BE32-E72D297353CC}">
              <c16:uniqueId val="{00000001-912E-4F90-8CF1-1651BB3C4E09}"/>
            </c:ext>
          </c:extLst>
        </c:ser>
        <c:ser>
          <c:idx val="2"/>
          <c:order val="1"/>
          <c:tx>
            <c:strRef>
              <c:f>Sheet1!$D$1</c:f>
              <c:strCache>
                <c:ptCount val="1"/>
                <c:pt idx="0">
                  <c:v>Demand</c:v>
                </c:pt>
              </c:strCache>
            </c:strRef>
          </c:tx>
          <c:spPr>
            <a:ln w="28575" cap="rnd">
              <a:solidFill>
                <a:srgbClr val="92D05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General</c:formatCode>
                <c:ptCount val="24"/>
                <c:pt idx="0">
                  <c:v>4750</c:v>
                </c:pt>
                <c:pt idx="1">
                  <c:v>4670</c:v>
                </c:pt>
                <c:pt idx="2">
                  <c:v>4590</c:v>
                </c:pt>
                <c:pt idx="3">
                  <c:v>4510</c:v>
                </c:pt>
                <c:pt idx="4">
                  <c:v>4430</c:v>
                </c:pt>
                <c:pt idx="5">
                  <c:v>4350</c:v>
                </c:pt>
                <c:pt idx="6">
                  <c:v>4270</c:v>
                </c:pt>
                <c:pt idx="7">
                  <c:v>4250</c:v>
                </c:pt>
                <c:pt idx="8" formatCode="0">
                  <c:v>4355</c:v>
                </c:pt>
                <c:pt idx="9" formatCode="0">
                  <c:v>4460</c:v>
                </c:pt>
                <c:pt idx="10" formatCode="0">
                  <c:v>4565</c:v>
                </c:pt>
                <c:pt idx="11" formatCode="0">
                  <c:v>4670</c:v>
                </c:pt>
                <c:pt idx="12" formatCode="0">
                  <c:v>4775</c:v>
                </c:pt>
                <c:pt idx="13">
                  <c:v>4900</c:v>
                </c:pt>
                <c:pt idx="14">
                  <c:v>4825</c:v>
                </c:pt>
                <c:pt idx="15">
                  <c:v>4750</c:v>
                </c:pt>
                <c:pt idx="16">
                  <c:v>4800</c:v>
                </c:pt>
                <c:pt idx="17">
                  <c:v>4850</c:v>
                </c:pt>
                <c:pt idx="18">
                  <c:v>4900</c:v>
                </c:pt>
                <c:pt idx="19">
                  <c:v>4950</c:v>
                </c:pt>
                <c:pt idx="20">
                  <c:v>5000</c:v>
                </c:pt>
                <c:pt idx="21">
                  <c:v>4770</c:v>
                </c:pt>
                <c:pt idx="22">
                  <c:v>4540</c:v>
                </c:pt>
                <c:pt idx="23">
                  <c:v>4300</c:v>
                </c:pt>
              </c:numCache>
            </c:numRef>
          </c:val>
          <c:smooth val="0"/>
          <c:extLst>
            <c:ext xmlns:c16="http://schemas.microsoft.com/office/drawing/2014/chart" uri="{C3380CC4-5D6E-409C-BE32-E72D297353CC}">
              <c16:uniqueId val="{00000002-912E-4F90-8CF1-1651BB3C4E09}"/>
            </c:ext>
          </c:extLst>
        </c:ser>
        <c:dLbls>
          <c:showLegendKey val="0"/>
          <c:showVal val="0"/>
          <c:showCatName val="0"/>
          <c:showSerName val="0"/>
          <c:showPercent val="0"/>
          <c:showBubbleSize val="0"/>
        </c:dLbls>
        <c:smooth val="0"/>
        <c:axId val="166458112"/>
        <c:axId val="166460032"/>
      </c:lineChart>
      <c:catAx>
        <c:axId val="166458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460032"/>
        <c:crosses val="autoZero"/>
        <c:auto val="1"/>
        <c:lblAlgn val="ctr"/>
        <c:lblOffset val="100"/>
        <c:noMultiLvlLbl val="0"/>
      </c:catAx>
      <c:valAx>
        <c:axId val="166460032"/>
        <c:scaling>
          <c:orientation val="minMax"/>
          <c:max val="8000"/>
          <c:min val="2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6458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600" b="1" dirty="0">
                <a:solidFill>
                  <a:schemeClr val="tx1"/>
                </a:solidFill>
              </a:rPr>
              <a:t>Summer</a:t>
            </a:r>
          </a:p>
        </c:rich>
      </c:tx>
      <c:layout>
        <c:manualLayout>
          <c:xMode val="edge"/>
          <c:yMode val="edge"/>
          <c:x val="0.46826614962114899"/>
          <c:y val="2.2719087133960324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6.0521852768213084E-2"/>
          <c:y val="4.6024681663105409E-2"/>
          <c:w val="0.93887075156858657"/>
          <c:h val="0.88568852678365351"/>
        </c:manualLayout>
      </c:layout>
      <c:lineChart>
        <c:grouping val="standard"/>
        <c:varyColors val="0"/>
        <c:ser>
          <c:idx val="2"/>
          <c:order val="0"/>
          <c:tx>
            <c:strRef>
              <c:f>Sheet1!$D$1</c:f>
              <c:strCache>
                <c:ptCount val="1"/>
                <c:pt idx="0">
                  <c:v>FY 2020-21</c:v>
                </c:pt>
              </c:strCache>
            </c:strRef>
          </c:tx>
          <c:spPr>
            <a:ln w="28575" cap="rnd">
              <a:solidFill>
                <a:srgbClr val="7030A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General</c:formatCode>
                <c:ptCount val="24"/>
                <c:pt idx="0">
                  <c:v>4300</c:v>
                </c:pt>
                <c:pt idx="1">
                  <c:v>4270</c:v>
                </c:pt>
                <c:pt idx="2">
                  <c:v>4240</c:v>
                </c:pt>
                <c:pt idx="3">
                  <c:v>4210</c:v>
                </c:pt>
                <c:pt idx="4">
                  <c:v>4180</c:v>
                </c:pt>
                <c:pt idx="5">
                  <c:v>4150</c:v>
                </c:pt>
                <c:pt idx="6">
                  <c:v>4120</c:v>
                </c:pt>
                <c:pt idx="7">
                  <c:v>4100</c:v>
                </c:pt>
                <c:pt idx="8">
                  <c:v>4150</c:v>
                </c:pt>
                <c:pt idx="9">
                  <c:v>4200</c:v>
                </c:pt>
                <c:pt idx="10">
                  <c:v>4250</c:v>
                </c:pt>
                <c:pt idx="11">
                  <c:v>4300</c:v>
                </c:pt>
                <c:pt idx="12">
                  <c:v>4350</c:v>
                </c:pt>
                <c:pt idx="13">
                  <c:v>4450</c:v>
                </c:pt>
                <c:pt idx="14">
                  <c:v>4220</c:v>
                </c:pt>
                <c:pt idx="15">
                  <c:v>4490</c:v>
                </c:pt>
                <c:pt idx="16">
                  <c:v>4760</c:v>
                </c:pt>
                <c:pt idx="17">
                  <c:v>5030</c:v>
                </c:pt>
                <c:pt idx="18">
                  <c:v>5300</c:v>
                </c:pt>
                <c:pt idx="19">
                  <c:v>5570</c:v>
                </c:pt>
                <c:pt idx="20">
                  <c:v>5600</c:v>
                </c:pt>
                <c:pt idx="21">
                  <c:v>5300</c:v>
                </c:pt>
                <c:pt idx="22">
                  <c:v>5000</c:v>
                </c:pt>
                <c:pt idx="23">
                  <c:v>4700</c:v>
                </c:pt>
              </c:numCache>
            </c:numRef>
          </c:val>
          <c:smooth val="0"/>
          <c:extLst>
            <c:ext xmlns:c16="http://schemas.microsoft.com/office/drawing/2014/chart" uri="{C3380CC4-5D6E-409C-BE32-E72D297353CC}">
              <c16:uniqueId val="{00000000-C9CA-4589-BE79-FF856AA2B253}"/>
            </c:ext>
          </c:extLst>
        </c:ser>
        <c:ser>
          <c:idx val="3"/>
          <c:order val="1"/>
          <c:tx>
            <c:strRef>
              <c:f>Sheet1!$E$1</c:f>
              <c:strCache>
                <c:ptCount val="1"/>
                <c:pt idx="0">
                  <c:v>FY 2021-22</c:v>
                </c:pt>
              </c:strCache>
            </c:strRef>
          </c:tx>
          <c:spPr>
            <a:ln w="28575" cap="rnd">
              <a:solidFill>
                <a:srgbClr val="046A38"/>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Sheet1!$E$2:$E$25</c:f>
              <c:numCache>
                <c:formatCode>General</c:formatCode>
                <c:ptCount val="24"/>
                <c:pt idx="0">
                  <c:v>4150</c:v>
                </c:pt>
                <c:pt idx="1">
                  <c:v>4130</c:v>
                </c:pt>
                <c:pt idx="2">
                  <c:v>4110</c:v>
                </c:pt>
                <c:pt idx="3">
                  <c:v>4090</c:v>
                </c:pt>
                <c:pt idx="4">
                  <c:v>4070</c:v>
                </c:pt>
                <c:pt idx="5">
                  <c:v>4050</c:v>
                </c:pt>
                <c:pt idx="6">
                  <c:v>4030</c:v>
                </c:pt>
                <c:pt idx="7">
                  <c:v>4000</c:v>
                </c:pt>
                <c:pt idx="8">
                  <c:v>4150</c:v>
                </c:pt>
                <c:pt idx="9">
                  <c:v>4300</c:v>
                </c:pt>
                <c:pt idx="10">
                  <c:v>4450</c:v>
                </c:pt>
                <c:pt idx="11">
                  <c:v>4600</c:v>
                </c:pt>
                <c:pt idx="12">
                  <c:v>4750</c:v>
                </c:pt>
                <c:pt idx="13">
                  <c:v>4750</c:v>
                </c:pt>
                <c:pt idx="14">
                  <c:v>4600</c:v>
                </c:pt>
                <c:pt idx="15">
                  <c:v>4450</c:v>
                </c:pt>
                <c:pt idx="16">
                  <c:v>4550</c:v>
                </c:pt>
                <c:pt idx="17">
                  <c:v>4650</c:v>
                </c:pt>
                <c:pt idx="18">
                  <c:v>5330</c:v>
                </c:pt>
                <c:pt idx="19">
                  <c:v>6010</c:v>
                </c:pt>
                <c:pt idx="20">
                  <c:v>6700</c:v>
                </c:pt>
                <c:pt idx="21">
                  <c:v>6270</c:v>
                </c:pt>
                <c:pt idx="22">
                  <c:v>5840</c:v>
                </c:pt>
                <c:pt idx="23">
                  <c:v>5400</c:v>
                </c:pt>
              </c:numCache>
            </c:numRef>
          </c:val>
          <c:smooth val="0"/>
          <c:extLst>
            <c:ext xmlns:c16="http://schemas.microsoft.com/office/drawing/2014/chart" uri="{C3380CC4-5D6E-409C-BE32-E72D297353CC}">
              <c16:uniqueId val="{00000001-C9CA-4589-BE79-FF856AA2B253}"/>
            </c:ext>
          </c:extLst>
        </c:ser>
        <c:ser>
          <c:idx val="4"/>
          <c:order val="2"/>
          <c:tx>
            <c:strRef>
              <c:f>Sheet1!$F$1</c:f>
              <c:strCache>
                <c:ptCount val="1"/>
                <c:pt idx="0">
                  <c:v>FY 2022-23</c:v>
                </c:pt>
              </c:strCache>
            </c:strRef>
          </c:tx>
          <c:spPr>
            <a:ln w="28575" cap="rnd">
              <a:solidFill>
                <a:srgbClr val="FFCD0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Sheet1!$F$2:$F$25</c:f>
              <c:numCache>
                <c:formatCode>General</c:formatCode>
                <c:ptCount val="24"/>
                <c:pt idx="0">
                  <c:v>4350</c:v>
                </c:pt>
                <c:pt idx="1">
                  <c:v>4325</c:v>
                </c:pt>
                <c:pt idx="2">
                  <c:v>4300</c:v>
                </c:pt>
                <c:pt idx="3">
                  <c:v>4275</c:v>
                </c:pt>
                <c:pt idx="4">
                  <c:v>4250</c:v>
                </c:pt>
                <c:pt idx="5">
                  <c:v>4225</c:v>
                </c:pt>
                <c:pt idx="6">
                  <c:v>4200</c:v>
                </c:pt>
                <c:pt idx="7">
                  <c:v>4150</c:v>
                </c:pt>
                <c:pt idx="8">
                  <c:v>4280</c:v>
                </c:pt>
                <c:pt idx="9">
                  <c:v>4410</c:v>
                </c:pt>
                <c:pt idx="10">
                  <c:v>4540</c:v>
                </c:pt>
                <c:pt idx="11">
                  <c:v>4670</c:v>
                </c:pt>
                <c:pt idx="12">
                  <c:v>4800</c:v>
                </c:pt>
                <c:pt idx="13">
                  <c:v>4950</c:v>
                </c:pt>
                <c:pt idx="14">
                  <c:v>4850</c:v>
                </c:pt>
                <c:pt idx="15">
                  <c:v>4750</c:v>
                </c:pt>
                <c:pt idx="16">
                  <c:v>4800</c:v>
                </c:pt>
                <c:pt idx="17">
                  <c:v>4850</c:v>
                </c:pt>
                <c:pt idx="18">
                  <c:v>5500</c:v>
                </c:pt>
                <c:pt idx="19">
                  <c:v>6150</c:v>
                </c:pt>
                <c:pt idx="20">
                  <c:v>6800</c:v>
                </c:pt>
                <c:pt idx="21">
                  <c:v>6450</c:v>
                </c:pt>
                <c:pt idx="22">
                  <c:v>6100</c:v>
                </c:pt>
                <c:pt idx="23">
                  <c:v>5750</c:v>
                </c:pt>
              </c:numCache>
            </c:numRef>
          </c:val>
          <c:smooth val="0"/>
          <c:extLst>
            <c:ext xmlns:c16="http://schemas.microsoft.com/office/drawing/2014/chart" uri="{C3380CC4-5D6E-409C-BE32-E72D297353CC}">
              <c16:uniqueId val="{00000002-C9CA-4589-BE79-FF856AA2B253}"/>
            </c:ext>
          </c:extLst>
        </c:ser>
        <c:dLbls>
          <c:showLegendKey val="0"/>
          <c:showVal val="0"/>
          <c:showCatName val="0"/>
          <c:showSerName val="0"/>
          <c:showPercent val="0"/>
          <c:showBubbleSize val="0"/>
        </c:dLbls>
        <c:smooth val="0"/>
        <c:axId val="546461936"/>
        <c:axId val="546461520"/>
      </c:lineChart>
      <c:catAx>
        <c:axId val="546461936"/>
        <c:scaling>
          <c:orientation val="minMax"/>
        </c:scaling>
        <c:delete val="1"/>
        <c:axPos val="b"/>
        <c:numFmt formatCode="General" sourceLinked="1"/>
        <c:majorTickMark val="none"/>
        <c:minorTickMark val="none"/>
        <c:tickLblPos val="nextTo"/>
        <c:crossAx val="546461520"/>
        <c:crosses val="autoZero"/>
        <c:auto val="1"/>
        <c:lblAlgn val="ctr"/>
        <c:lblOffset val="100"/>
        <c:noMultiLvlLbl val="0"/>
      </c:catAx>
      <c:valAx>
        <c:axId val="546461520"/>
        <c:scaling>
          <c:orientation val="minMax"/>
          <c:max val="7000"/>
          <c:min val="3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46461936"/>
        <c:crosses val="autoZero"/>
        <c:crossBetween val="between"/>
        <c:majorUnit val="1000"/>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alpha val="15000"/>
      </a:schemeClr>
    </a:solidFill>
    <a:ln>
      <a:noFill/>
    </a:ln>
    <a:effectLst/>
  </c:spPr>
  <c:txPr>
    <a:bodyPr/>
    <a:lstStyle/>
    <a:p>
      <a:pPr>
        <a:defRPr/>
      </a:pPr>
      <a:endParaRPr lang="en-US"/>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600" b="1" dirty="0">
                <a:solidFill>
                  <a:schemeClr val="tx1"/>
                </a:solidFill>
              </a:rPr>
              <a:t>Monsoon</a:t>
            </a:r>
          </a:p>
        </c:rich>
      </c:tx>
      <c:layout>
        <c:manualLayout>
          <c:xMode val="edge"/>
          <c:yMode val="edge"/>
          <c:x val="0.45129475821090537"/>
          <c:y val="4.8648627942699321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5.1635168709573478E-2"/>
          <c:y val="5.0291955610999951E-2"/>
          <c:w val="0.94498287960021088"/>
          <c:h val="0.90043148348383595"/>
        </c:manualLayout>
      </c:layout>
      <c:lineChart>
        <c:grouping val="standard"/>
        <c:varyColors val="0"/>
        <c:ser>
          <c:idx val="2"/>
          <c:order val="0"/>
          <c:tx>
            <c:strRef>
              <c:f>Sheet1!$D$1</c:f>
              <c:strCache>
                <c:ptCount val="1"/>
                <c:pt idx="0">
                  <c:v>FY 2020-21</c:v>
                </c:pt>
              </c:strCache>
            </c:strRef>
          </c:tx>
          <c:spPr>
            <a:ln w="28575" cap="rnd">
              <a:solidFill>
                <a:srgbClr val="7030A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General</c:formatCode>
                <c:ptCount val="24"/>
                <c:pt idx="0">
                  <c:v>4200</c:v>
                </c:pt>
                <c:pt idx="1">
                  <c:v>4250</c:v>
                </c:pt>
                <c:pt idx="2">
                  <c:v>4300</c:v>
                </c:pt>
                <c:pt idx="3">
                  <c:v>4350</c:v>
                </c:pt>
                <c:pt idx="4">
                  <c:v>4225</c:v>
                </c:pt>
                <c:pt idx="5">
                  <c:v>4100</c:v>
                </c:pt>
                <c:pt idx="6">
                  <c:v>4125</c:v>
                </c:pt>
                <c:pt idx="7">
                  <c:v>4150</c:v>
                </c:pt>
                <c:pt idx="8">
                  <c:v>4175</c:v>
                </c:pt>
                <c:pt idx="9">
                  <c:v>4200</c:v>
                </c:pt>
                <c:pt idx="10">
                  <c:v>4225</c:v>
                </c:pt>
                <c:pt idx="11">
                  <c:v>4250</c:v>
                </c:pt>
                <c:pt idx="12">
                  <c:v>4275</c:v>
                </c:pt>
                <c:pt idx="13">
                  <c:v>4300</c:v>
                </c:pt>
                <c:pt idx="14">
                  <c:v>4200</c:v>
                </c:pt>
                <c:pt idx="15">
                  <c:v>4100</c:v>
                </c:pt>
                <c:pt idx="16">
                  <c:v>4600</c:v>
                </c:pt>
                <c:pt idx="17">
                  <c:v>5100</c:v>
                </c:pt>
                <c:pt idx="18">
                  <c:v>5600</c:v>
                </c:pt>
                <c:pt idx="19">
                  <c:v>6000</c:v>
                </c:pt>
                <c:pt idx="20">
                  <c:v>5950</c:v>
                </c:pt>
                <c:pt idx="21">
                  <c:v>5650</c:v>
                </c:pt>
                <c:pt idx="22">
                  <c:v>5350</c:v>
                </c:pt>
                <c:pt idx="23">
                  <c:v>4950</c:v>
                </c:pt>
              </c:numCache>
            </c:numRef>
          </c:val>
          <c:smooth val="0"/>
          <c:extLst>
            <c:ext xmlns:c16="http://schemas.microsoft.com/office/drawing/2014/chart" uri="{C3380CC4-5D6E-409C-BE32-E72D297353CC}">
              <c16:uniqueId val="{00000000-033D-4C6D-A4E3-EBC35AC01C7D}"/>
            </c:ext>
          </c:extLst>
        </c:ser>
        <c:ser>
          <c:idx val="3"/>
          <c:order val="1"/>
          <c:tx>
            <c:strRef>
              <c:f>Sheet1!$E$1</c:f>
              <c:strCache>
                <c:ptCount val="1"/>
                <c:pt idx="0">
                  <c:v>FY 2021-22</c:v>
                </c:pt>
              </c:strCache>
            </c:strRef>
          </c:tx>
          <c:spPr>
            <a:ln w="28575" cap="rnd">
              <a:solidFill>
                <a:srgbClr val="046A38"/>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Sheet1!$E$2:$E$25</c:f>
              <c:numCache>
                <c:formatCode>General</c:formatCode>
                <c:ptCount val="24"/>
                <c:pt idx="0">
                  <c:v>4750</c:v>
                </c:pt>
                <c:pt idx="1">
                  <c:v>4650</c:v>
                </c:pt>
                <c:pt idx="2">
                  <c:v>4550</c:v>
                </c:pt>
                <c:pt idx="3">
                  <c:v>4450</c:v>
                </c:pt>
                <c:pt idx="4">
                  <c:v>4350</c:v>
                </c:pt>
                <c:pt idx="5">
                  <c:v>4450</c:v>
                </c:pt>
                <c:pt idx="6">
                  <c:v>5000</c:v>
                </c:pt>
                <c:pt idx="7">
                  <c:v>5060</c:v>
                </c:pt>
                <c:pt idx="8">
                  <c:v>5120</c:v>
                </c:pt>
                <c:pt idx="9">
                  <c:v>5180</c:v>
                </c:pt>
                <c:pt idx="10">
                  <c:v>5240</c:v>
                </c:pt>
                <c:pt idx="11">
                  <c:v>5300</c:v>
                </c:pt>
                <c:pt idx="12">
                  <c:v>5360</c:v>
                </c:pt>
                <c:pt idx="13">
                  <c:v>4950</c:v>
                </c:pt>
                <c:pt idx="14">
                  <c:v>4875</c:v>
                </c:pt>
                <c:pt idx="15">
                  <c:v>4800</c:v>
                </c:pt>
                <c:pt idx="16">
                  <c:v>4840</c:v>
                </c:pt>
                <c:pt idx="17">
                  <c:v>4880</c:v>
                </c:pt>
                <c:pt idx="18">
                  <c:v>5330</c:v>
                </c:pt>
                <c:pt idx="19">
                  <c:v>5780</c:v>
                </c:pt>
                <c:pt idx="20">
                  <c:v>6250</c:v>
                </c:pt>
                <c:pt idx="21">
                  <c:v>5970</c:v>
                </c:pt>
                <c:pt idx="22">
                  <c:v>5690</c:v>
                </c:pt>
                <c:pt idx="23">
                  <c:v>5400</c:v>
                </c:pt>
              </c:numCache>
            </c:numRef>
          </c:val>
          <c:smooth val="0"/>
          <c:extLst>
            <c:ext xmlns:c16="http://schemas.microsoft.com/office/drawing/2014/chart" uri="{C3380CC4-5D6E-409C-BE32-E72D297353CC}">
              <c16:uniqueId val="{00000001-033D-4C6D-A4E3-EBC35AC01C7D}"/>
            </c:ext>
          </c:extLst>
        </c:ser>
        <c:ser>
          <c:idx val="4"/>
          <c:order val="2"/>
          <c:tx>
            <c:strRef>
              <c:f>Sheet1!$F$1</c:f>
              <c:strCache>
                <c:ptCount val="1"/>
                <c:pt idx="0">
                  <c:v>FY 2022-23</c:v>
                </c:pt>
              </c:strCache>
            </c:strRef>
          </c:tx>
          <c:spPr>
            <a:ln w="28575" cap="rnd">
              <a:solidFill>
                <a:srgbClr val="FFCD0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Sheet1!$F$2:$F$25</c:f>
              <c:numCache>
                <c:formatCode>General</c:formatCode>
                <c:ptCount val="24"/>
                <c:pt idx="0">
                  <c:v>4850</c:v>
                </c:pt>
                <c:pt idx="1">
                  <c:v>4832</c:v>
                </c:pt>
                <c:pt idx="2">
                  <c:v>4814</c:v>
                </c:pt>
                <c:pt idx="3">
                  <c:v>4796</c:v>
                </c:pt>
                <c:pt idx="4">
                  <c:v>4778</c:v>
                </c:pt>
                <c:pt idx="5">
                  <c:v>4760</c:v>
                </c:pt>
                <c:pt idx="6">
                  <c:v>4742</c:v>
                </c:pt>
                <c:pt idx="7">
                  <c:v>4700</c:v>
                </c:pt>
                <c:pt idx="8">
                  <c:v>4775</c:v>
                </c:pt>
                <c:pt idx="9">
                  <c:v>4850</c:v>
                </c:pt>
                <c:pt idx="10">
                  <c:v>4925</c:v>
                </c:pt>
                <c:pt idx="11">
                  <c:v>5000</c:v>
                </c:pt>
                <c:pt idx="12">
                  <c:v>5075</c:v>
                </c:pt>
                <c:pt idx="13">
                  <c:v>5150</c:v>
                </c:pt>
                <c:pt idx="14">
                  <c:v>5050</c:v>
                </c:pt>
                <c:pt idx="15">
                  <c:v>4950</c:v>
                </c:pt>
                <c:pt idx="16">
                  <c:v>5000</c:v>
                </c:pt>
                <c:pt idx="17">
                  <c:v>5050</c:v>
                </c:pt>
                <c:pt idx="18">
                  <c:v>5630</c:v>
                </c:pt>
                <c:pt idx="19">
                  <c:v>6215</c:v>
                </c:pt>
                <c:pt idx="20">
                  <c:v>6800</c:v>
                </c:pt>
                <c:pt idx="21">
                  <c:v>6485</c:v>
                </c:pt>
                <c:pt idx="22">
                  <c:v>6170</c:v>
                </c:pt>
                <c:pt idx="23">
                  <c:v>5850</c:v>
                </c:pt>
              </c:numCache>
            </c:numRef>
          </c:val>
          <c:smooth val="0"/>
          <c:extLst>
            <c:ext xmlns:c16="http://schemas.microsoft.com/office/drawing/2014/chart" uri="{C3380CC4-5D6E-409C-BE32-E72D297353CC}">
              <c16:uniqueId val="{00000002-033D-4C6D-A4E3-EBC35AC01C7D}"/>
            </c:ext>
          </c:extLst>
        </c:ser>
        <c:dLbls>
          <c:showLegendKey val="0"/>
          <c:showVal val="0"/>
          <c:showCatName val="0"/>
          <c:showSerName val="0"/>
          <c:showPercent val="0"/>
          <c:showBubbleSize val="0"/>
        </c:dLbls>
        <c:smooth val="0"/>
        <c:axId val="546461936"/>
        <c:axId val="546461520"/>
      </c:lineChart>
      <c:catAx>
        <c:axId val="546461936"/>
        <c:scaling>
          <c:orientation val="minMax"/>
        </c:scaling>
        <c:delete val="1"/>
        <c:axPos val="b"/>
        <c:numFmt formatCode="General" sourceLinked="1"/>
        <c:majorTickMark val="none"/>
        <c:minorTickMark val="none"/>
        <c:tickLblPos val="nextTo"/>
        <c:crossAx val="546461520"/>
        <c:crosses val="autoZero"/>
        <c:auto val="1"/>
        <c:lblAlgn val="ctr"/>
        <c:lblOffset val="100"/>
        <c:noMultiLvlLbl val="0"/>
      </c:catAx>
      <c:valAx>
        <c:axId val="546461520"/>
        <c:scaling>
          <c:orientation val="minMax"/>
          <c:min val="3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46461936"/>
        <c:crosses val="autoZero"/>
        <c:crossBetween val="between"/>
        <c:majorUnit val="1000"/>
      </c:valAx>
      <c:spPr>
        <a:solidFill>
          <a:srgbClr val="00B0F0">
            <a:alpha val="8000"/>
          </a:srgb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600" b="1" dirty="0">
                <a:solidFill>
                  <a:schemeClr val="tx1"/>
                </a:solidFill>
              </a:rPr>
              <a:t>Winter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6.0845673084400441E-2"/>
          <c:y val="4.5814304331243526E-2"/>
          <c:w val="0.93555698841623525"/>
          <c:h val="0.54915132064921757"/>
        </c:manualLayout>
      </c:layout>
      <c:lineChart>
        <c:grouping val="standard"/>
        <c:varyColors val="0"/>
        <c:ser>
          <c:idx val="2"/>
          <c:order val="0"/>
          <c:tx>
            <c:strRef>
              <c:f>Sheet1!$D$1</c:f>
              <c:strCache>
                <c:ptCount val="1"/>
                <c:pt idx="0">
                  <c:v>FY 2020-21</c:v>
                </c:pt>
              </c:strCache>
            </c:strRef>
          </c:tx>
          <c:spPr>
            <a:ln w="28575" cap="rnd">
              <a:solidFill>
                <a:srgbClr val="7030A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Sheet1!$D$2:$D$25</c:f>
              <c:numCache>
                <c:formatCode>General</c:formatCode>
                <c:ptCount val="24"/>
                <c:pt idx="0">
                  <c:v>4150</c:v>
                </c:pt>
                <c:pt idx="1">
                  <c:v>4130</c:v>
                </c:pt>
                <c:pt idx="2">
                  <c:v>4110</c:v>
                </c:pt>
                <c:pt idx="3">
                  <c:v>4090</c:v>
                </c:pt>
                <c:pt idx="4">
                  <c:v>4070</c:v>
                </c:pt>
                <c:pt idx="5">
                  <c:v>4050</c:v>
                </c:pt>
                <c:pt idx="6">
                  <c:v>4030</c:v>
                </c:pt>
                <c:pt idx="7">
                  <c:v>4000</c:v>
                </c:pt>
                <c:pt idx="8">
                  <c:v>4060</c:v>
                </c:pt>
                <c:pt idx="9">
                  <c:v>4120</c:v>
                </c:pt>
                <c:pt idx="10">
                  <c:v>4180</c:v>
                </c:pt>
                <c:pt idx="11">
                  <c:v>4240</c:v>
                </c:pt>
                <c:pt idx="12">
                  <c:v>4300</c:v>
                </c:pt>
                <c:pt idx="13">
                  <c:v>4400</c:v>
                </c:pt>
                <c:pt idx="14">
                  <c:v>4335</c:v>
                </c:pt>
                <c:pt idx="15">
                  <c:v>4270</c:v>
                </c:pt>
                <c:pt idx="16">
                  <c:v>4200</c:v>
                </c:pt>
                <c:pt idx="17">
                  <c:v>4360</c:v>
                </c:pt>
                <c:pt idx="18">
                  <c:v>4520</c:v>
                </c:pt>
                <c:pt idx="19">
                  <c:v>4680</c:v>
                </c:pt>
                <c:pt idx="20">
                  <c:v>4750</c:v>
                </c:pt>
                <c:pt idx="21">
                  <c:v>4550</c:v>
                </c:pt>
                <c:pt idx="22">
                  <c:v>4350</c:v>
                </c:pt>
                <c:pt idx="23">
                  <c:v>4150</c:v>
                </c:pt>
              </c:numCache>
            </c:numRef>
          </c:val>
          <c:smooth val="0"/>
          <c:extLst>
            <c:ext xmlns:c16="http://schemas.microsoft.com/office/drawing/2014/chart" uri="{C3380CC4-5D6E-409C-BE32-E72D297353CC}">
              <c16:uniqueId val="{00000000-39A7-4F72-BE99-E3DB058CC71F}"/>
            </c:ext>
          </c:extLst>
        </c:ser>
        <c:ser>
          <c:idx val="3"/>
          <c:order val="1"/>
          <c:tx>
            <c:strRef>
              <c:f>Sheet1!$E$1</c:f>
              <c:strCache>
                <c:ptCount val="1"/>
                <c:pt idx="0">
                  <c:v>FY 2021-22</c:v>
                </c:pt>
              </c:strCache>
            </c:strRef>
          </c:tx>
          <c:spPr>
            <a:ln w="28575" cap="rnd">
              <a:solidFill>
                <a:srgbClr val="046A38"/>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Sheet1!$E$2:$E$25</c:f>
              <c:numCache>
                <c:formatCode>General</c:formatCode>
                <c:ptCount val="24"/>
                <c:pt idx="0">
                  <c:v>4750</c:v>
                </c:pt>
                <c:pt idx="1">
                  <c:v>4670</c:v>
                </c:pt>
                <c:pt idx="2">
                  <c:v>4590</c:v>
                </c:pt>
                <c:pt idx="3">
                  <c:v>4510</c:v>
                </c:pt>
                <c:pt idx="4">
                  <c:v>4430</c:v>
                </c:pt>
                <c:pt idx="5">
                  <c:v>4350</c:v>
                </c:pt>
                <c:pt idx="6">
                  <c:v>4270</c:v>
                </c:pt>
                <c:pt idx="7">
                  <c:v>4250</c:v>
                </c:pt>
                <c:pt idx="8">
                  <c:v>4355</c:v>
                </c:pt>
                <c:pt idx="9">
                  <c:v>4460</c:v>
                </c:pt>
                <c:pt idx="10">
                  <c:v>4565</c:v>
                </c:pt>
                <c:pt idx="11">
                  <c:v>4670</c:v>
                </c:pt>
                <c:pt idx="12">
                  <c:v>4775</c:v>
                </c:pt>
                <c:pt idx="13">
                  <c:v>4900</c:v>
                </c:pt>
                <c:pt idx="14">
                  <c:v>4825</c:v>
                </c:pt>
                <c:pt idx="15">
                  <c:v>4750</c:v>
                </c:pt>
                <c:pt idx="16">
                  <c:v>4800</c:v>
                </c:pt>
                <c:pt idx="17">
                  <c:v>4850</c:v>
                </c:pt>
                <c:pt idx="18">
                  <c:v>4900</c:v>
                </c:pt>
                <c:pt idx="19">
                  <c:v>4950</c:v>
                </c:pt>
                <c:pt idx="20">
                  <c:v>5000</c:v>
                </c:pt>
                <c:pt idx="21">
                  <c:v>4770</c:v>
                </c:pt>
                <c:pt idx="22">
                  <c:v>4540</c:v>
                </c:pt>
                <c:pt idx="23">
                  <c:v>4300</c:v>
                </c:pt>
              </c:numCache>
            </c:numRef>
          </c:val>
          <c:smooth val="0"/>
          <c:extLst>
            <c:ext xmlns:c16="http://schemas.microsoft.com/office/drawing/2014/chart" uri="{C3380CC4-5D6E-409C-BE32-E72D297353CC}">
              <c16:uniqueId val="{00000001-39A7-4F72-BE99-E3DB058CC71F}"/>
            </c:ext>
          </c:extLst>
        </c:ser>
        <c:ser>
          <c:idx val="4"/>
          <c:order val="2"/>
          <c:tx>
            <c:strRef>
              <c:f>Sheet1!$F$1</c:f>
              <c:strCache>
                <c:ptCount val="1"/>
                <c:pt idx="0">
                  <c:v>FY 2022-23</c:v>
                </c:pt>
              </c:strCache>
            </c:strRef>
          </c:tx>
          <c:spPr>
            <a:ln w="28575" cap="rnd">
              <a:solidFill>
                <a:srgbClr val="FFCD00"/>
              </a:solidFill>
              <a:round/>
            </a:ln>
            <a:effectLst/>
          </c:spPr>
          <c:marker>
            <c:symbol val="none"/>
          </c:marker>
          <c:cat>
            <c:strRef>
              <c:f>Sheet1!$A$2:$A$25</c:f>
              <c:strCache>
                <c:ptCount val="24"/>
                <c:pt idx="0">
                  <c:v>00-01</c:v>
                </c:pt>
                <c:pt idx="1">
                  <c:v>01-02</c:v>
                </c:pt>
                <c:pt idx="2">
                  <c:v>02-03</c:v>
                </c:pt>
                <c:pt idx="3">
                  <c:v>03-04</c:v>
                </c:pt>
                <c:pt idx="4">
                  <c:v>04-05</c:v>
                </c:pt>
                <c:pt idx="5">
                  <c:v>05-06</c:v>
                </c:pt>
                <c:pt idx="6">
                  <c:v>06-07</c:v>
                </c:pt>
                <c:pt idx="7">
                  <c:v>07-08</c:v>
                </c:pt>
                <c:pt idx="8">
                  <c:v>08-09</c:v>
                </c:pt>
                <c:pt idx="9">
                  <c:v>09-10</c:v>
                </c:pt>
                <c:pt idx="10">
                  <c:v>10-11</c:v>
                </c:pt>
                <c:pt idx="11">
                  <c:v>11-12</c:v>
                </c:pt>
                <c:pt idx="12">
                  <c:v>12-13</c:v>
                </c:pt>
                <c:pt idx="13">
                  <c:v>13-14</c:v>
                </c:pt>
                <c:pt idx="14">
                  <c:v>14-15</c:v>
                </c:pt>
                <c:pt idx="15">
                  <c:v>15-16</c:v>
                </c:pt>
                <c:pt idx="16">
                  <c:v>16-17</c:v>
                </c:pt>
                <c:pt idx="17">
                  <c:v>17-18</c:v>
                </c:pt>
                <c:pt idx="18">
                  <c:v>18-19</c:v>
                </c:pt>
                <c:pt idx="19">
                  <c:v>19-20</c:v>
                </c:pt>
                <c:pt idx="20">
                  <c:v>20-21</c:v>
                </c:pt>
                <c:pt idx="21">
                  <c:v>21-22</c:v>
                </c:pt>
                <c:pt idx="22">
                  <c:v>22-23</c:v>
                </c:pt>
                <c:pt idx="23">
                  <c:v>23-24</c:v>
                </c:pt>
              </c:strCache>
            </c:strRef>
          </c:cat>
          <c:val>
            <c:numRef>
              <c:f>Sheet1!$F$2:$F$25</c:f>
              <c:numCache>
                <c:formatCode>General</c:formatCode>
                <c:ptCount val="24"/>
                <c:pt idx="0">
                  <c:v>4800</c:v>
                </c:pt>
                <c:pt idx="1">
                  <c:v>4750</c:v>
                </c:pt>
                <c:pt idx="2">
                  <c:v>4700</c:v>
                </c:pt>
                <c:pt idx="3">
                  <c:v>4650</c:v>
                </c:pt>
                <c:pt idx="4">
                  <c:v>4600</c:v>
                </c:pt>
                <c:pt idx="5">
                  <c:v>4550</c:v>
                </c:pt>
                <c:pt idx="6">
                  <c:v>4500</c:v>
                </c:pt>
                <c:pt idx="7">
                  <c:v>4400</c:v>
                </c:pt>
                <c:pt idx="8">
                  <c:v>4555</c:v>
                </c:pt>
                <c:pt idx="9">
                  <c:v>4710</c:v>
                </c:pt>
                <c:pt idx="10">
                  <c:v>4865</c:v>
                </c:pt>
                <c:pt idx="11">
                  <c:v>5020</c:v>
                </c:pt>
                <c:pt idx="12">
                  <c:v>5175</c:v>
                </c:pt>
                <c:pt idx="13">
                  <c:v>5350</c:v>
                </c:pt>
                <c:pt idx="14">
                  <c:v>5225</c:v>
                </c:pt>
                <c:pt idx="15">
                  <c:v>5100</c:v>
                </c:pt>
                <c:pt idx="16">
                  <c:v>5000</c:v>
                </c:pt>
                <c:pt idx="17">
                  <c:v>4900</c:v>
                </c:pt>
                <c:pt idx="18">
                  <c:v>5015</c:v>
                </c:pt>
                <c:pt idx="19">
                  <c:v>5130</c:v>
                </c:pt>
                <c:pt idx="20">
                  <c:v>5250</c:v>
                </c:pt>
                <c:pt idx="21">
                  <c:v>5050</c:v>
                </c:pt>
                <c:pt idx="22">
                  <c:v>4850</c:v>
                </c:pt>
                <c:pt idx="23">
                  <c:v>4650</c:v>
                </c:pt>
              </c:numCache>
            </c:numRef>
          </c:val>
          <c:smooth val="0"/>
          <c:extLst>
            <c:ext xmlns:c16="http://schemas.microsoft.com/office/drawing/2014/chart" uri="{C3380CC4-5D6E-409C-BE32-E72D297353CC}">
              <c16:uniqueId val="{00000002-39A7-4F72-BE99-E3DB058CC71F}"/>
            </c:ext>
          </c:extLst>
        </c:ser>
        <c:dLbls>
          <c:showLegendKey val="0"/>
          <c:showVal val="0"/>
          <c:showCatName val="0"/>
          <c:showSerName val="0"/>
          <c:showPercent val="0"/>
          <c:showBubbleSize val="0"/>
        </c:dLbls>
        <c:smooth val="0"/>
        <c:axId val="2078184032"/>
        <c:axId val="2078181952"/>
      </c:lineChart>
      <c:catAx>
        <c:axId val="2078184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078181952"/>
        <c:crosses val="autoZero"/>
        <c:auto val="1"/>
        <c:lblAlgn val="ctr"/>
        <c:lblOffset val="100"/>
        <c:noMultiLvlLbl val="0"/>
      </c:catAx>
      <c:valAx>
        <c:axId val="2078181952"/>
        <c:scaling>
          <c:orientation val="minMax"/>
          <c:max val="7000"/>
          <c:min val="3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078184032"/>
        <c:crosses val="autoZero"/>
        <c:crossBetween val="between"/>
        <c:majorUnit val="1000"/>
      </c:valAx>
      <c:spPr>
        <a:solidFill>
          <a:srgbClr val="012169">
            <a:alpha val="8000"/>
          </a:srgbClr>
        </a:solidFill>
        <a:ln>
          <a:noFill/>
        </a:ln>
        <a:effectLst/>
      </c:spPr>
    </c:plotArea>
    <c:legend>
      <c:legendPos val="b"/>
      <c:layout>
        <c:manualLayout>
          <c:xMode val="edge"/>
          <c:yMode val="edge"/>
          <c:x val="0.15565168199596205"/>
          <c:y val="0.85243879510970644"/>
          <c:w val="0.56482669429990628"/>
          <c:h val="0.109916852136031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9685702999743599E-2"/>
          <c:y val="4.2828950848878701E-2"/>
          <c:w val="0.80047993892786218"/>
          <c:h val="0.45596042645126433"/>
        </c:manualLayout>
      </c:layout>
      <c:lineChart>
        <c:grouping val="standard"/>
        <c:varyColors val="0"/>
        <c:ser>
          <c:idx val="0"/>
          <c:order val="0"/>
          <c:tx>
            <c:strRef>
              <c:f>Sheet1!$B$1</c:f>
              <c:strCache>
                <c:ptCount val="1"/>
                <c:pt idx="0">
                  <c:v>Quantum of energy approved by WBERC (MU)</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dLbl>
              <c:idx val="18"/>
              <c:layout>
                <c:manualLayout>
                  <c:x val="-3.2142928180092338E-2"/>
                  <c:y val="4.4988370756128722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5.4181696830129134E-2"/>
                      <c:h val="5.2992184240146144E-2"/>
                    </c:manualLayout>
                  </c15:layout>
                </c:ext>
                <c:ext xmlns:c16="http://schemas.microsoft.com/office/drawing/2014/chart" uri="{C3380CC4-5D6E-409C-BE32-E72D297353CC}">
                  <c16:uniqueId val="{00000010-0627-4EB2-9E16-E6FF3FE944D7}"/>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Sheet1!$A$2:$A$20</c:f>
              <c:strCache>
                <c:ptCount val="19"/>
                <c:pt idx="0">
                  <c:v>DVC (RTPS)</c:v>
                </c:pt>
                <c:pt idx="1">
                  <c:v>Kolaghat TPS</c:v>
                </c:pt>
                <c:pt idx="2">
                  <c:v>DVC (Mejia V)</c:v>
                </c:pt>
                <c:pt idx="3">
                  <c:v>Farakka TPS stage I &amp; Il</c:v>
                </c:pt>
                <c:pt idx="4">
                  <c:v>Bandel TPS (U#l&amp;II)</c:v>
                </c:pt>
                <c:pt idx="5">
                  <c:v>Farakka TPS stage Ill</c:v>
                </c:pt>
                <c:pt idx="6">
                  <c:v>Kanti Bijlee</c:v>
                </c:pt>
                <c:pt idx="7">
                  <c:v>TPTCL (Maithon Right Bank)</c:v>
                </c:pt>
                <c:pt idx="8">
                  <c:v>PTC (Adhunik)</c:v>
                </c:pt>
                <c:pt idx="9">
                  <c:v>Kahalgaon Stage I</c:v>
                </c:pt>
                <c:pt idx="10">
                  <c:v>Bandel TPS (U#5)</c:v>
                </c:pt>
                <c:pt idx="11">
                  <c:v>DPL (U#8)</c:v>
                </c:pt>
                <c:pt idx="12">
                  <c:v>DPL (U#7)</c:v>
                </c:pt>
                <c:pt idx="13">
                  <c:v>Santaldih TPS</c:v>
                </c:pt>
                <c:pt idx="14">
                  <c:v>Talcher STPS</c:v>
                </c:pt>
                <c:pt idx="15">
                  <c:v>Bakreswar TPS (U# 4&amp;5)</c:v>
                </c:pt>
                <c:pt idx="16">
                  <c:v>Bakreswar TPS (U# 1,2&amp;3)</c:v>
                </c:pt>
                <c:pt idx="17">
                  <c:v>Sagardighi TPS (U#l&amp;2)</c:v>
                </c:pt>
                <c:pt idx="18">
                  <c:v>Sagardighi TPS (U#3&amp;4)</c:v>
                </c:pt>
              </c:strCache>
            </c:strRef>
          </c:cat>
          <c:val>
            <c:numRef>
              <c:f>Sheet1!$B$2:$B$20</c:f>
              <c:numCache>
                <c:formatCode>General</c:formatCode>
                <c:ptCount val="19"/>
                <c:pt idx="0">
                  <c:v>1432</c:v>
                </c:pt>
                <c:pt idx="1">
                  <c:v>1710</c:v>
                </c:pt>
                <c:pt idx="2">
                  <c:v>339</c:v>
                </c:pt>
                <c:pt idx="3">
                  <c:v>3546</c:v>
                </c:pt>
                <c:pt idx="4">
                  <c:v>221</c:v>
                </c:pt>
                <c:pt idx="5">
                  <c:v>1248</c:v>
                </c:pt>
                <c:pt idx="6">
                  <c:v>255</c:v>
                </c:pt>
                <c:pt idx="7">
                  <c:v>2105</c:v>
                </c:pt>
                <c:pt idx="8">
                  <c:v>470</c:v>
                </c:pt>
                <c:pt idx="9">
                  <c:v>345</c:v>
                </c:pt>
                <c:pt idx="10">
                  <c:v>1371</c:v>
                </c:pt>
                <c:pt idx="11">
                  <c:v>1594</c:v>
                </c:pt>
                <c:pt idx="12">
                  <c:v>1924</c:v>
                </c:pt>
                <c:pt idx="13">
                  <c:v>3189</c:v>
                </c:pt>
                <c:pt idx="14">
                  <c:v>637</c:v>
                </c:pt>
                <c:pt idx="15">
                  <c:v>2678</c:v>
                </c:pt>
                <c:pt idx="16">
                  <c:v>4018</c:v>
                </c:pt>
                <c:pt idx="17">
                  <c:v>3826</c:v>
                </c:pt>
                <c:pt idx="18">
                  <c:v>6640</c:v>
                </c:pt>
              </c:numCache>
            </c:numRef>
          </c:val>
          <c:smooth val="0"/>
          <c:extLst>
            <c:ext xmlns:c16="http://schemas.microsoft.com/office/drawing/2014/chart" uri="{C3380CC4-5D6E-409C-BE32-E72D297353CC}">
              <c16:uniqueId val="{00000000-0627-4EB2-9E16-E6FF3FE944D7}"/>
            </c:ext>
          </c:extLst>
        </c:ser>
        <c:dLbls>
          <c:showLegendKey val="0"/>
          <c:showVal val="0"/>
          <c:showCatName val="0"/>
          <c:showSerName val="0"/>
          <c:showPercent val="0"/>
          <c:showBubbleSize val="0"/>
        </c:dLbls>
        <c:marker val="1"/>
        <c:smooth val="0"/>
        <c:axId val="1881137184"/>
        <c:axId val="1881129696"/>
      </c:lineChart>
      <c:lineChart>
        <c:grouping val="standard"/>
        <c:varyColors val="0"/>
        <c:ser>
          <c:idx val="1"/>
          <c:order val="1"/>
          <c:tx>
            <c:strRef>
              <c:f>Sheet1!$C$1</c:f>
              <c:strCache>
                <c:ptCount val="1"/>
                <c:pt idx="0">
                  <c:v>Approved Energy Rate ( Rs/KWh)</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dLbls>
            <c:dLbl>
              <c:idx val="9"/>
              <c:delete val="1"/>
              <c:extLst>
                <c:ext xmlns:c15="http://schemas.microsoft.com/office/drawing/2012/chart" uri="{CE6537A1-D6FC-4f65-9D91-7224C49458BB}"/>
                <c:ext xmlns:c16="http://schemas.microsoft.com/office/drawing/2014/chart" uri="{C3380CC4-5D6E-409C-BE32-E72D297353CC}">
                  <c16:uniqueId val="{00000007-0627-4EB2-9E16-E6FF3FE944D7}"/>
                </c:ext>
              </c:extLst>
            </c:dLbl>
            <c:dLbl>
              <c:idx val="10"/>
              <c:layout>
                <c:manualLayout>
                  <c:x val="-2.0903346884501829E-2"/>
                  <c:y val="4.1472745972395059E-2"/>
                </c:manualLayout>
              </c:layout>
              <c:dLblPos val="r"/>
              <c:showLegendKey val="0"/>
              <c:showVal val="1"/>
              <c:showCatName val="0"/>
              <c:showSerName val="0"/>
              <c:showPercent val="0"/>
              <c:showBubbleSize val="0"/>
              <c:extLst>
                <c:ext xmlns:c15="http://schemas.microsoft.com/office/drawing/2012/chart" uri="{CE6537A1-D6FC-4f65-9D91-7224C49458BB}">
                  <c15:layout>
                    <c:manualLayout>
                      <c:w val="3.7517556554508946E-2"/>
                      <c:h val="4.1968340297458634E-2"/>
                    </c:manualLayout>
                  </c15:layout>
                </c:ext>
                <c:ext xmlns:c16="http://schemas.microsoft.com/office/drawing/2014/chart" uri="{C3380CC4-5D6E-409C-BE32-E72D297353CC}">
                  <c16:uniqueId val="{00000008-0627-4EB2-9E16-E6FF3FE944D7}"/>
                </c:ext>
              </c:extLst>
            </c:dLbl>
            <c:dLbl>
              <c:idx val="11"/>
              <c:layout>
                <c:manualLayout>
                  <c:x val="-2.1452133690182305E-2"/>
                  <c:y val="3.6785338534366475E-2"/>
                </c:manualLayout>
              </c:layout>
              <c:dLblPos val="r"/>
              <c:showLegendKey val="0"/>
              <c:showVal val="1"/>
              <c:showCatName val="0"/>
              <c:showSerName val="0"/>
              <c:showPercent val="0"/>
              <c:showBubbleSize val="0"/>
              <c:extLst>
                <c:ext xmlns:c15="http://schemas.microsoft.com/office/drawing/2012/chart" uri="{CE6537A1-D6FC-4f65-9D91-7224C49458BB}">
                  <c15:layout>
                    <c:manualLayout>
                      <c:w val="3.0554434570444152E-2"/>
                      <c:h val="4.1273434961033771E-2"/>
                    </c:manualLayout>
                  </c15:layout>
                </c:ext>
                <c:ext xmlns:c16="http://schemas.microsoft.com/office/drawing/2014/chart" uri="{C3380CC4-5D6E-409C-BE32-E72D297353CC}">
                  <c16:uniqueId val="{00000009-0627-4EB2-9E16-E6FF3FE944D7}"/>
                </c:ext>
              </c:extLst>
            </c:dLbl>
            <c:dLbl>
              <c:idx val="12"/>
              <c:layout>
                <c:manualLayout>
                  <c:x val="-2.1452133690182305E-2"/>
                  <c:y val="3.209774654910516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0627-4EB2-9E16-E6FF3FE944D7}"/>
                </c:ext>
              </c:extLst>
            </c:dLbl>
            <c:dLbl>
              <c:idx val="13"/>
              <c:layout>
                <c:manualLayout>
                  <c:x val="-2.1452133690182389E-2"/>
                  <c:y val="4.1472838246011424E-2"/>
                </c:manualLayout>
              </c:layout>
              <c:dLblPos val="r"/>
              <c:showLegendKey val="0"/>
              <c:showVal val="1"/>
              <c:showCatName val="0"/>
              <c:showSerName val="0"/>
              <c:showPercent val="0"/>
              <c:showBubbleSize val="0"/>
              <c:extLst>
                <c:ext xmlns:c15="http://schemas.microsoft.com/office/drawing/2012/chart" uri="{CE6537A1-D6FC-4f65-9D91-7224C49458BB}">
                  <c15:layout>
                    <c:manualLayout>
                      <c:w val="3.0554434570444152E-2"/>
                      <c:h val="4.1273434961033771E-2"/>
                    </c:manualLayout>
                  </c15:layout>
                </c:ext>
                <c:ext xmlns:c16="http://schemas.microsoft.com/office/drawing/2014/chart" uri="{C3380CC4-5D6E-409C-BE32-E72D297353CC}">
                  <c16:uniqueId val="{0000000B-0627-4EB2-9E16-E6FF3FE944D7}"/>
                </c:ext>
              </c:extLst>
            </c:dLbl>
            <c:dLbl>
              <c:idx val="14"/>
              <c:layout>
                <c:manualLayout>
                  <c:x val="-2.3697541764369175E-2"/>
                  <c:y val="3.2097746549105161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3.0554434570444152E-2"/>
                      <c:h val="3.6585935249388829E-2"/>
                    </c:manualLayout>
                  </c15:layout>
                </c:ext>
                <c:ext xmlns:c16="http://schemas.microsoft.com/office/drawing/2014/chart" uri="{C3380CC4-5D6E-409C-BE32-E72D297353CC}">
                  <c16:uniqueId val="{0000000C-0627-4EB2-9E16-E6FF3FE944D7}"/>
                </c:ext>
              </c:extLst>
            </c:dLbl>
            <c:dLbl>
              <c:idx val="15"/>
              <c:layout>
                <c:manualLayout>
                  <c:x val="-2.4820245801462772E-2"/>
                  <c:y val="3.0925963894810293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3.0554434570444152E-2"/>
                      <c:h val="2.9554685681921398E-2"/>
                    </c:manualLayout>
                  </c15:layout>
                </c:ext>
                <c:ext xmlns:c16="http://schemas.microsoft.com/office/drawing/2014/chart" uri="{C3380CC4-5D6E-409C-BE32-E72D297353CC}">
                  <c16:uniqueId val="{0000000D-0627-4EB2-9E16-E6FF3FE944D7}"/>
                </c:ext>
              </c:extLst>
            </c:dLbl>
            <c:dLbl>
              <c:idx val="16"/>
              <c:layout>
                <c:manualLayout>
                  <c:x val="-2.257483772727574E-2"/>
                  <c:y val="3.5613463606455238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3.0554434570444152E-2"/>
                      <c:h val="4.3617184816856246E-2"/>
                    </c:manualLayout>
                  </c15:layout>
                </c:ext>
                <c:ext xmlns:c16="http://schemas.microsoft.com/office/drawing/2014/chart" uri="{C3380CC4-5D6E-409C-BE32-E72D297353CC}">
                  <c16:uniqueId val="{0000000E-0627-4EB2-9E16-E6FF3FE944D7}"/>
                </c:ext>
              </c:extLst>
            </c:dLbl>
            <c:dLbl>
              <c:idx val="17"/>
              <c:layout>
                <c:manualLayout>
                  <c:x val="-2.5942949838556044E-2"/>
                  <c:y val="2.8582214038987773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3.0554434570444152E-2"/>
                      <c:h val="3.8929685105211297E-2"/>
                    </c:manualLayout>
                  </c15:layout>
                </c:ext>
                <c:ext xmlns:c16="http://schemas.microsoft.com/office/drawing/2014/chart" uri="{C3380CC4-5D6E-409C-BE32-E72D297353CC}">
                  <c16:uniqueId val="{0000000F-0627-4EB2-9E16-E6FF3FE944D7}"/>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Sheet1!$A$2:$A$20</c:f>
              <c:strCache>
                <c:ptCount val="19"/>
                <c:pt idx="0">
                  <c:v>DVC (RTPS)</c:v>
                </c:pt>
                <c:pt idx="1">
                  <c:v>Kolaghat TPS</c:v>
                </c:pt>
                <c:pt idx="2">
                  <c:v>DVC (Mejia V)</c:v>
                </c:pt>
                <c:pt idx="3">
                  <c:v>Farakka TPS stage I &amp; Il</c:v>
                </c:pt>
                <c:pt idx="4">
                  <c:v>Bandel TPS (U#l&amp;II)</c:v>
                </c:pt>
                <c:pt idx="5">
                  <c:v>Farakka TPS stage Ill</c:v>
                </c:pt>
                <c:pt idx="6">
                  <c:v>Kanti Bijlee</c:v>
                </c:pt>
                <c:pt idx="7">
                  <c:v>TPTCL (Maithon Right Bank)</c:v>
                </c:pt>
                <c:pt idx="8">
                  <c:v>PTC (Adhunik)</c:v>
                </c:pt>
                <c:pt idx="9">
                  <c:v>Kahalgaon Stage I</c:v>
                </c:pt>
                <c:pt idx="10">
                  <c:v>Bandel TPS (U#5)</c:v>
                </c:pt>
                <c:pt idx="11">
                  <c:v>DPL (U#8)</c:v>
                </c:pt>
                <c:pt idx="12">
                  <c:v>DPL (U#7)</c:v>
                </c:pt>
                <c:pt idx="13">
                  <c:v>Santaldih TPS</c:v>
                </c:pt>
                <c:pt idx="14">
                  <c:v>Talcher STPS</c:v>
                </c:pt>
                <c:pt idx="15">
                  <c:v>Bakreswar TPS (U# 4&amp;5)</c:v>
                </c:pt>
                <c:pt idx="16">
                  <c:v>Bakreswar TPS (U# 1,2&amp;3)</c:v>
                </c:pt>
                <c:pt idx="17">
                  <c:v>Sagardighi TPS (U#l&amp;2)</c:v>
                </c:pt>
                <c:pt idx="18">
                  <c:v>Sagardighi TPS (U#3&amp;4)</c:v>
                </c:pt>
              </c:strCache>
            </c:strRef>
          </c:cat>
          <c:val>
            <c:numRef>
              <c:f>Sheet1!$C$2:$C$20</c:f>
              <c:numCache>
                <c:formatCode>0.00</c:formatCode>
                <c:ptCount val="19"/>
                <c:pt idx="0">
                  <c:v>2.9086731843575415</c:v>
                </c:pt>
                <c:pt idx="1">
                  <c:v>2.8600818713450291</c:v>
                </c:pt>
                <c:pt idx="2">
                  <c:v>2.792693215339233</c:v>
                </c:pt>
                <c:pt idx="3">
                  <c:v>2.7090403271291597</c:v>
                </c:pt>
                <c:pt idx="4">
                  <c:v>2.7506334841628957</c:v>
                </c:pt>
                <c:pt idx="5">
                  <c:v>2.666965544871795</c:v>
                </c:pt>
                <c:pt idx="6">
                  <c:v>2.6323019607843139</c:v>
                </c:pt>
                <c:pt idx="7">
                  <c:v>2.5475315914489314</c:v>
                </c:pt>
                <c:pt idx="8">
                  <c:v>2.4822574468085108</c:v>
                </c:pt>
                <c:pt idx="9">
                  <c:v>2.2630927536231886</c:v>
                </c:pt>
                <c:pt idx="10">
                  <c:v>2.1994850474106489</c:v>
                </c:pt>
                <c:pt idx="11">
                  <c:v>2.1534322459222084</c:v>
                </c:pt>
                <c:pt idx="12">
                  <c:v>2.071872661122661</c:v>
                </c:pt>
                <c:pt idx="13">
                  <c:v>2.0506685481342113</c:v>
                </c:pt>
                <c:pt idx="14">
                  <c:v>2.0038492935635794</c:v>
                </c:pt>
                <c:pt idx="15">
                  <c:v>1.9819387602688574</c:v>
                </c:pt>
                <c:pt idx="16">
                  <c:v>1.9814452463912395</c:v>
                </c:pt>
                <c:pt idx="17">
                  <c:v>1.7912723470987977</c:v>
                </c:pt>
                <c:pt idx="18">
                  <c:v>1.7392209337349398</c:v>
                </c:pt>
              </c:numCache>
            </c:numRef>
          </c:val>
          <c:smooth val="0"/>
          <c:extLst>
            <c:ext xmlns:c16="http://schemas.microsoft.com/office/drawing/2014/chart" uri="{C3380CC4-5D6E-409C-BE32-E72D297353CC}">
              <c16:uniqueId val="{00000001-0627-4EB2-9E16-E6FF3FE944D7}"/>
            </c:ext>
          </c:extLst>
        </c:ser>
        <c:ser>
          <c:idx val="2"/>
          <c:order val="2"/>
          <c:tx>
            <c:strRef>
              <c:f>Sheet1!$D$1</c:f>
              <c:strCache>
                <c:ptCount val="1"/>
                <c:pt idx="0">
                  <c:v>Average Energy Rate ( Rs/KWh)</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Sheet1!$A$2:$A$20</c:f>
              <c:strCache>
                <c:ptCount val="19"/>
                <c:pt idx="0">
                  <c:v>DVC (RTPS)</c:v>
                </c:pt>
                <c:pt idx="1">
                  <c:v>Kolaghat TPS</c:v>
                </c:pt>
                <c:pt idx="2">
                  <c:v>DVC (Mejia V)</c:v>
                </c:pt>
                <c:pt idx="3">
                  <c:v>Farakka TPS stage I &amp; Il</c:v>
                </c:pt>
                <c:pt idx="4">
                  <c:v>Bandel TPS (U#l&amp;II)</c:v>
                </c:pt>
                <c:pt idx="5">
                  <c:v>Farakka TPS stage Ill</c:v>
                </c:pt>
                <c:pt idx="6">
                  <c:v>Kanti Bijlee</c:v>
                </c:pt>
                <c:pt idx="7">
                  <c:v>TPTCL (Maithon Right Bank)</c:v>
                </c:pt>
                <c:pt idx="8">
                  <c:v>PTC (Adhunik)</c:v>
                </c:pt>
                <c:pt idx="9">
                  <c:v>Kahalgaon Stage I</c:v>
                </c:pt>
                <c:pt idx="10">
                  <c:v>Bandel TPS (U#5)</c:v>
                </c:pt>
                <c:pt idx="11">
                  <c:v>DPL (U#8)</c:v>
                </c:pt>
                <c:pt idx="12">
                  <c:v>DPL (U#7)</c:v>
                </c:pt>
                <c:pt idx="13">
                  <c:v>Santaldih TPS</c:v>
                </c:pt>
                <c:pt idx="14">
                  <c:v>Talcher STPS</c:v>
                </c:pt>
                <c:pt idx="15">
                  <c:v>Bakreswar TPS (U# 4&amp;5)</c:v>
                </c:pt>
                <c:pt idx="16">
                  <c:v>Bakreswar TPS (U# 1,2&amp;3)</c:v>
                </c:pt>
                <c:pt idx="17">
                  <c:v>Sagardighi TPS (U#l&amp;2)</c:v>
                </c:pt>
                <c:pt idx="18">
                  <c:v>Sagardighi TPS (U#3&amp;4)</c:v>
                </c:pt>
              </c:strCache>
            </c:strRef>
          </c:cat>
          <c:val>
            <c:numRef>
              <c:f>Sheet1!$D$2:$D$20</c:f>
              <c:numCache>
                <c:formatCode>General</c:formatCode>
                <c:ptCount val="19"/>
                <c:pt idx="0">
                  <c:v>2.34</c:v>
                </c:pt>
                <c:pt idx="1">
                  <c:v>2.34</c:v>
                </c:pt>
                <c:pt idx="2">
                  <c:v>2.34</c:v>
                </c:pt>
                <c:pt idx="3">
                  <c:v>2.34</c:v>
                </c:pt>
                <c:pt idx="4">
                  <c:v>2.34</c:v>
                </c:pt>
                <c:pt idx="5">
                  <c:v>2.34</c:v>
                </c:pt>
                <c:pt idx="6">
                  <c:v>2.34</c:v>
                </c:pt>
                <c:pt idx="7">
                  <c:v>2.34</c:v>
                </c:pt>
                <c:pt idx="8">
                  <c:v>2.34</c:v>
                </c:pt>
                <c:pt idx="9">
                  <c:v>2.34</c:v>
                </c:pt>
                <c:pt idx="10">
                  <c:v>2.34</c:v>
                </c:pt>
                <c:pt idx="11">
                  <c:v>2.34</c:v>
                </c:pt>
                <c:pt idx="12">
                  <c:v>2.34</c:v>
                </c:pt>
                <c:pt idx="13">
                  <c:v>2.34</c:v>
                </c:pt>
                <c:pt idx="14">
                  <c:v>2.34</c:v>
                </c:pt>
                <c:pt idx="15">
                  <c:v>2.34</c:v>
                </c:pt>
                <c:pt idx="16">
                  <c:v>2.34</c:v>
                </c:pt>
                <c:pt idx="17">
                  <c:v>2.34</c:v>
                </c:pt>
                <c:pt idx="18">
                  <c:v>2.34</c:v>
                </c:pt>
              </c:numCache>
            </c:numRef>
          </c:val>
          <c:smooth val="0"/>
          <c:extLst>
            <c:ext xmlns:c16="http://schemas.microsoft.com/office/drawing/2014/chart" uri="{C3380CC4-5D6E-409C-BE32-E72D297353CC}">
              <c16:uniqueId val="{00000002-0627-4EB2-9E16-E6FF3FE944D7}"/>
            </c:ext>
          </c:extLst>
        </c:ser>
        <c:dLbls>
          <c:showLegendKey val="0"/>
          <c:showVal val="0"/>
          <c:showCatName val="0"/>
          <c:showSerName val="0"/>
          <c:showPercent val="0"/>
          <c:showBubbleSize val="0"/>
        </c:dLbls>
        <c:marker val="1"/>
        <c:smooth val="0"/>
        <c:axId val="1863784752"/>
        <c:axId val="1863783504"/>
      </c:lineChart>
      <c:catAx>
        <c:axId val="1881137184"/>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5400000" spcFirstLastPara="1" vertOverflow="ellipsis" wrap="square" anchor="ctr" anchorCtr="1"/>
          <a:lstStyle/>
          <a:p>
            <a:pPr>
              <a:defRPr sz="1050"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crossAx val="1881129696"/>
        <c:crosses val="autoZero"/>
        <c:auto val="0"/>
        <c:lblAlgn val="ctr"/>
        <c:lblOffset val="100"/>
        <c:noMultiLvlLbl val="0"/>
      </c:catAx>
      <c:valAx>
        <c:axId val="1881129696"/>
        <c:scaling>
          <c:orientation val="minMax"/>
          <c:max val="130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sz="1400" b="1" dirty="0">
                    <a:solidFill>
                      <a:schemeClr val="tx1"/>
                    </a:solidFill>
                    <a:latin typeface="Calibri" panose="020F0502020204030204" pitchFamily="34" charset="0"/>
                    <a:cs typeface="Calibri" panose="020F0502020204030204" pitchFamily="34" charset="0"/>
                  </a:rPr>
                  <a:t>Approved</a:t>
                </a:r>
                <a:r>
                  <a:rPr lang="en-US" sz="1400" b="1" baseline="0" dirty="0">
                    <a:solidFill>
                      <a:schemeClr val="tx1"/>
                    </a:solidFill>
                    <a:latin typeface="Calibri" panose="020F0502020204030204" pitchFamily="34" charset="0"/>
                    <a:cs typeface="Calibri" panose="020F0502020204030204" pitchFamily="34" charset="0"/>
                  </a:rPr>
                  <a:t> Quantum of Energy ( In MU)</a:t>
                </a:r>
                <a:endParaRPr lang="en-US" sz="1400" b="1" dirty="0">
                  <a:solidFill>
                    <a:schemeClr val="tx1"/>
                  </a:solidFill>
                  <a:latin typeface="Calibri" panose="020F0502020204030204" pitchFamily="34" charset="0"/>
                  <a:cs typeface="Calibri" panose="020F0502020204030204" pitchFamily="34" charset="0"/>
                </a:endParaRP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881137184"/>
        <c:crosses val="autoZero"/>
        <c:crossBetween val="between"/>
        <c:majorUnit val="4000"/>
      </c:valAx>
      <c:valAx>
        <c:axId val="1863783504"/>
        <c:scaling>
          <c:orientation val="minMax"/>
          <c:max val="3"/>
        </c:scaling>
        <c:delete val="0"/>
        <c:axPos val="r"/>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sz="1400" b="1" dirty="0">
                    <a:solidFill>
                      <a:schemeClr val="tx1"/>
                    </a:solidFill>
                    <a:latin typeface="Calibri" panose="020F0502020204030204" pitchFamily="34" charset="0"/>
                    <a:cs typeface="Calibri" panose="020F0502020204030204" pitchFamily="34" charset="0"/>
                  </a:rPr>
                  <a:t>Approved</a:t>
                </a:r>
                <a:r>
                  <a:rPr lang="en-US" sz="1400" b="1" baseline="0" dirty="0">
                    <a:solidFill>
                      <a:schemeClr val="tx1"/>
                    </a:solidFill>
                    <a:latin typeface="Calibri" panose="020F0502020204030204" pitchFamily="34" charset="0"/>
                    <a:cs typeface="Calibri" panose="020F0502020204030204" pitchFamily="34" charset="0"/>
                  </a:rPr>
                  <a:t> Energy Rate of each source ( Rs/KWh)</a:t>
                </a:r>
                <a:endParaRPr lang="en-US" sz="1400" b="1" dirty="0">
                  <a:solidFill>
                    <a:schemeClr val="tx1"/>
                  </a:solidFill>
                  <a:latin typeface="Calibri" panose="020F0502020204030204" pitchFamily="34" charset="0"/>
                  <a:cs typeface="Calibri" panose="020F0502020204030204" pitchFamily="34" charset="0"/>
                </a:endParaRPr>
              </a:p>
            </c:rich>
          </c:tx>
          <c:layout>
            <c:manualLayout>
              <c:xMode val="edge"/>
              <c:yMode val="edge"/>
              <c:x val="0.96349809439063927"/>
              <c:y val="4.7827921613907087E-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863784752"/>
        <c:crosses val="max"/>
        <c:crossBetween val="between"/>
        <c:majorUnit val="1"/>
      </c:valAx>
      <c:catAx>
        <c:axId val="1863784752"/>
        <c:scaling>
          <c:orientation val="minMax"/>
        </c:scaling>
        <c:delete val="1"/>
        <c:axPos val="b"/>
        <c:numFmt formatCode="General" sourceLinked="1"/>
        <c:majorTickMark val="out"/>
        <c:minorTickMark val="none"/>
        <c:tickLblPos val="nextTo"/>
        <c:crossAx val="1863783504"/>
        <c:crosses val="autoZero"/>
        <c:auto val="1"/>
        <c:lblAlgn val="ctr"/>
        <c:lblOffset val="100"/>
        <c:noMultiLvlLbl val="0"/>
      </c:catAx>
      <c:spPr>
        <a:noFill/>
        <a:ln>
          <a:noFill/>
        </a:ln>
        <a:effectLst/>
      </c:spPr>
    </c:plotArea>
    <c:legend>
      <c:legendPos val="b"/>
      <c:layout>
        <c:manualLayout>
          <c:xMode val="edge"/>
          <c:yMode val="edge"/>
          <c:x val="6.1652275575220065E-2"/>
          <c:y val="0.93797515145330024"/>
          <c:w val="0.84975046355742456"/>
          <c:h val="4.7962349411764922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657999940883899E-3"/>
          <c:y val="8.7216996990594584E-2"/>
          <c:w val="0.99463033363093356"/>
          <c:h val="0.5008454215217587"/>
        </c:manualLayout>
      </c:layout>
      <c:barChart>
        <c:barDir val="col"/>
        <c:grouping val="clustered"/>
        <c:varyColors val="0"/>
        <c:ser>
          <c:idx val="0"/>
          <c:order val="0"/>
          <c:tx>
            <c:strRef>
              <c:f>Sheet1!$B$1</c:f>
              <c:strCache>
                <c:ptCount val="1"/>
                <c:pt idx="0">
                  <c:v>Average Rate ( RS/KWh)</c:v>
                </c:pt>
              </c:strCache>
            </c:strRef>
          </c:tx>
          <c:spPr>
            <a:solidFill>
              <a:schemeClr val="accent1"/>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4-0B75-497D-8327-D8D7A17CCED3}"/>
              </c:ext>
            </c:extLst>
          </c:dPt>
          <c:dPt>
            <c:idx val="1"/>
            <c:invertIfNegative val="0"/>
            <c:bubble3D val="0"/>
            <c:spPr>
              <a:solidFill>
                <a:srgbClr val="FF0000"/>
              </a:solidFill>
              <a:ln>
                <a:noFill/>
              </a:ln>
              <a:effectLst/>
            </c:spPr>
            <c:extLst>
              <c:ext xmlns:c16="http://schemas.microsoft.com/office/drawing/2014/chart" uri="{C3380CC4-5D6E-409C-BE32-E72D297353CC}">
                <c16:uniqueId val="{00000005-0B75-497D-8327-D8D7A17CCED3}"/>
              </c:ext>
            </c:extLst>
          </c:dPt>
          <c:dPt>
            <c:idx val="2"/>
            <c:invertIfNegative val="0"/>
            <c:bubble3D val="0"/>
            <c:spPr>
              <a:solidFill>
                <a:srgbClr val="FF0000"/>
              </a:solidFill>
              <a:ln>
                <a:noFill/>
              </a:ln>
              <a:effectLst/>
            </c:spPr>
            <c:extLst>
              <c:ext xmlns:c16="http://schemas.microsoft.com/office/drawing/2014/chart" uri="{C3380CC4-5D6E-409C-BE32-E72D297353CC}">
                <c16:uniqueId val="{00000006-0B75-497D-8327-D8D7A17CCED3}"/>
              </c:ext>
            </c:extLst>
          </c:dPt>
          <c:dLbls>
            <c:spPr>
              <a:noFill/>
              <a:ln>
                <a:noFill/>
              </a:ln>
              <a:effectLst/>
            </c:spPr>
            <c:txPr>
              <a:bodyPr rot="-5400000" spcFirstLastPara="1" vertOverflow="clip" horzOverflow="clip" vert="horz" wrap="square" lIns="38100" tIns="19050" rIns="38100" bIns="19050" anchor="ctr" anchorCtr="1">
                <a:spAutoFit/>
              </a:bodyPr>
              <a:lstStyle/>
              <a:p>
                <a:pPr>
                  <a:defRPr sz="1200"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Sheet1!$A$2:$A$11</c:f>
              <c:strCache>
                <c:ptCount val="10"/>
                <c:pt idx="0">
                  <c:v>Kolaghat</c:v>
                </c:pt>
                <c:pt idx="1">
                  <c:v>DVC</c:v>
                </c:pt>
                <c:pt idx="2">
                  <c:v>Farakka U#1 &amp; 2</c:v>
                </c:pt>
                <c:pt idx="3">
                  <c:v>WBPDCL excluding Kolaghat</c:v>
                </c:pt>
                <c:pt idx="4">
                  <c:v>DPL</c:v>
                </c:pt>
                <c:pt idx="5">
                  <c:v>NTPC Excluding Farakka U#1&amp;2</c:v>
                </c:pt>
                <c:pt idx="6">
                  <c:v>PTC- Themal</c:v>
                </c:pt>
                <c:pt idx="7">
                  <c:v>PTC- Hydro</c:v>
                </c:pt>
                <c:pt idx="8">
                  <c:v>NHPC</c:v>
                </c:pt>
                <c:pt idx="9">
                  <c:v>HMEL</c:v>
                </c:pt>
              </c:strCache>
            </c:strRef>
          </c:cat>
          <c:val>
            <c:numRef>
              <c:f>Sheet1!$B$2:$B$11</c:f>
              <c:numCache>
                <c:formatCode>0.00</c:formatCode>
                <c:ptCount val="10"/>
                <c:pt idx="0">
                  <c:v>3.4765099415204679</c:v>
                </c:pt>
                <c:pt idx="1">
                  <c:v>4.4935928853754943</c:v>
                </c:pt>
                <c:pt idx="2">
                  <c:v>3.540551043429216</c:v>
                </c:pt>
                <c:pt idx="3">
                  <c:v>3.1363207856719679</c:v>
                </c:pt>
                <c:pt idx="4">
                  <c:v>3.8442760090960775</c:v>
                </c:pt>
                <c:pt idx="5">
                  <c:v>3.6506298913043467</c:v>
                </c:pt>
                <c:pt idx="6">
                  <c:v>4.6515917874396138</c:v>
                </c:pt>
                <c:pt idx="7">
                  <c:v>3.0031998786775866</c:v>
                </c:pt>
                <c:pt idx="8">
                  <c:v>4.2618471849865962</c:v>
                </c:pt>
                <c:pt idx="9">
                  <c:v>5.174520895522388</c:v>
                </c:pt>
              </c:numCache>
            </c:numRef>
          </c:val>
          <c:extLst>
            <c:ext xmlns:c16="http://schemas.microsoft.com/office/drawing/2014/chart" uri="{C3380CC4-5D6E-409C-BE32-E72D297353CC}">
              <c16:uniqueId val="{00000000-0B75-497D-8327-D8D7A17CCED3}"/>
            </c:ext>
          </c:extLst>
        </c:ser>
        <c:ser>
          <c:idx val="1"/>
          <c:order val="1"/>
          <c:tx>
            <c:strRef>
              <c:f>Sheet1!$C$1</c:f>
              <c:strCache>
                <c:ptCount val="1"/>
                <c:pt idx="0">
                  <c:v>Utilization Factor (%)</c:v>
                </c:pt>
              </c:strCache>
            </c:strRef>
          </c:tx>
          <c:spPr>
            <a:solidFill>
              <a:schemeClr val="accent2"/>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7-0B75-497D-8327-D8D7A17CCED3}"/>
              </c:ext>
            </c:extLst>
          </c:dPt>
          <c:dPt>
            <c:idx val="1"/>
            <c:invertIfNegative val="0"/>
            <c:bubble3D val="0"/>
            <c:spPr>
              <a:solidFill>
                <a:srgbClr val="FF0000"/>
              </a:solidFill>
              <a:ln>
                <a:noFill/>
              </a:ln>
              <a:effectLst/>
            </c:spPr>
            <c:extLst>
              <c:ext xmlns:c16="http://schemas.microsoft.com/office/drawing/2014/chart" uri="{C3380CC4-5D6E-409C-BE32-E72D297353CC}">
                <c16:uniqueId val="{00000008-0B75-497D-8327-D8D7A17CCED3}"/>
              </c:ext>
            </c:extLst>
          </c:dPt>
          <c:dPt>
            <c:idx val="2"/>
            <c:invertIfNegative val="0"/>
            <c:bubble3D val="0"/>
            <c:spPr>
              <a:solidFill>
                <a:srgbClr val="FF0000"/>
              </a:solidFill>
              <a:ln>
                <a:noFill/>
              </a:ln>
              <a:effectLst/>
            </c:spPr>
            <c:extLst>
              <c:ext xmlns:c16="http://schemas.microsoft.com/office/drawing/2014/chart" uri="{C3380CC4-5D6E-409C-BE32-E72D297353CC}">
                <c16:uniqueId val="{00000009-0B75-497D-8327-D8D7A17CCED3}"/>
              </c:ext>
            </c:extLst>
          </c:dPt>
          <c:dLbls>
            <c:spPr>
              <a:noFill/>
              <a:ln>
                <a:noFill/>
              </a:ln>
              <a:effectLst/>
            </c:spPr>
            <c:txPr>
              <a:bodyPr rot="-5400000" spcFirstLastPara="1" vertOverflow="clip" horzOverflow="clip" vert="horz" wrap="square" lIns="38100" tIns="19050" rIns="38100" bIns="19050" anchor="ctr" anchorCtr="1">
                <a:spAutoFit/>
              </a:bodyPr>
              <a:lstStyle/>
              <a:p>
                <a:pPr>
                  <a:defRPr sz="1200"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Sheet1!$A$2:$A$11</c:f>
              <c:strCache>
                <c:ptCount val="10"/>
                <c:pt idx="0">
                  <c:v>Kolaghat</c:v>
                </c:pt>
                <c:pt idx="1">
                  <c:v>DVC</c:v>
                </c:pt>
                <c:pt idx="2">
                  <c:v>Farakka U#1 &amp; 2</c:v>
                </c:pt>
                <c:pt idx="3">
                  <c:v>WBPDCL excluding Kolaghat</c:v>
                </c:pt>
                <c:pt idx="4">
                  <c:v>DPL</c:v>
                </c:pt>
                <c:pt idx="5">
                  <c:v>NTPC Excluding Farakka U#1&amp;2</c:v>
                </c:pt>
                <c:pt idx="6">
                  <c:v>PTC- Themal</c:v>
                </c:pt>
                <c:pt idx="7">
                  <c:v>PTC- Hydro</c:v>
                </c:pt>
                <c:pt idx="8">
                  <c:v>NHPC</c:v>
                </c:pt>
                <c:pt idx="9">
                  <c:v>HMEL</c:v>
                </c:pt>
              </c:strCache>
            </c:strRef>
          </c:cat>
          <c:val>
            <c:numRef>
              <c:f>Sheet1!$C$2:$C$11</c:f>
              <c:numCache>
                <c:formatCode>0%</c:formatCode>
                <c:ptCount val="10"/>
                <c:pt idx="0">
                  <c:v>0.17137719434967588</c:v>
                </c:pt>
                <c:pt idx="1">
                  <c:v>0.81029639187049896</c:v>
                </c:pt>
                <c:pt idx="2">
                  <c:v>0.84997592601247707</c:v>
                </c:pt>
                <c:pt idx="3">
                  <c:v>0.79027427959348651</c:v>
                </c:pt>
                <c:pt idx="4">
                  <c:v>0.79999636158562104</c:v>
                </c:pt>
                <c:pt idx="5">
                  <c:v>0.67986295486018633</c:v>
                </c:pt>
                <c:pt idx="6">
                  <c:v>0.4726027397260274</c:v>
                </c:pt>
                <c:pt idx="7">
                  <c:v>0.38227059186980084</c:v>
                </c:pt>
                <c:pt idx="8">
                  <c:v>0.49961597162198534</c:v>
                </c:pt>
                <c:pt idx="9">
                  <c:v>0.84982242516489093</c:v>
                </c:pt>
              </c:numCache>
            </c:numRef>
          </c:val>
          <c:extLst>
            <c:ext xmlns:c16="http://schemas.microsoft.com/office/drawing/2014/chart" uri="{C3380CC4-5D6E-409C-BE32-E72D297353CC}">
              <c16:uniqueId val="{00000001-0B75-497D-8327-D8D7A17CCED3}"/>
            </c:ext>
          </c:extLst>
        </c:ser>
        <c:dLbls>
          <c:dLblPos val="outEnd"/>
          <c:showLegendKey val="0"/>
          <c:showVal val="1"/>
          <c:showCatName val="0"/>
          <c:showSerName val="0"/>
          <c:showPercent val="0"/>
          <c:showBubbleSize val="0"/>
        </c:dLbls>
        <c:gapWidth val="444"/>
        <c:overlap val="-90"/>
        <c:axId val="471357952"/>
        <c:axId val="471354208"/>
      </c:barChart>
      <c:catAx>
        <c:axId val="4713579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1" i="0" u="none" strike="noStrike" kern="1200" cap="all" spc="120" normalizeH="0" baseline="0">
                <a:solidFill>
                  <a:schemeClr val="tx1"/>
                </a:solidFill>
                <a:latin typeface="Calibri" panose="020F0502020204030204" pitchFamily="34" charset="0"/>
                <a:ea typeface="+mn-ea"/>
                <a:cs typeface="Calibri" panose="020F0502020204030204" pitchFamily="34" charset="0"/>
              </a:defRPr>
            </a:pPr>
            <a:endParaRPr lang="en-US"/>
          </a:p>
        </c:txPr>
        <c:crossAx val="471354208"/>
        <c:crosses val="autoZero"/>
        <c:auto val="1"/>
        <c:lblAlgn val="ctr"/>
        <c:lblOffset val="100"/>
        <c:noMultiLvlLbl val="0"/>
      </c:catAx>
      <c:valAx>
        <c:axId val="471354208"/>
        <c:scaling>
          <c:orientation val="minMax"/>
        </c:scaling>
        <c:delete val="1"/>
        <c:axPos val="l"/>
        <c:numFmt formatCode="0.00" sourceLinked="1"/>
        <c:majorTickMark val="none"/>
        <c:minorTickMark val="none"/>
        <c:tickLblPos val="nextTo"/>
        <c:crossAx val="471357952"/>
        <c:crosses val="autoZero"/>
        <c:crossBetween val="between"/>
      </c:valAx>
      <c:spPr>
        <a:noFill/>
        <a:ln>
          <a:noFill/>
        </a:ln>
        <a:effectLst/>
      </c:spPr>
    </c:plotArea>
    <c:legend>
      <c:legendPos val="t"/>
      <c:layout>
        <c:manualLayout>
          <c:xMode val="edge"/>
          <c:yMode val="edge"/>
          <c:x val="3.4783238894005447E-3"/>
          <c:y val="0.85833818500873305"/>
          <c:w val="0.99461005113785406"/>
          <c:h val="0.14166204060192564"/>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lumMod val="95000"/>
        <a:alpha val="10000"/>
      </a:schemeClr>
    </a:solidFill>
    <a:ln>
      <a:noFill/>
    </a:ln>
    <a:effectLst/>
  </c:spPr>
  <c:txPr>
    <a:bodyPr/>
    <a:lstStyle/>
    <a:p>
      <a:pPr>
        <a:defRPr/>
      </a:pPr>
      <a:endParaRPr lang="en-US"/>
    </a:p>
  </c:txPr>
  <c:externalData r:id="rId3">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mn-lt"/>
                <a:ea typeface="+mn-ea"/>
                <a:cs typeface="+mn-cs"/>
              </a:defRPr>
            </a:pPr>
            <a:r>
              <a:rPr lang="en-US" sz="1600">
                <a:solidFill>
                  <a:schemeClr val="tx1"/>
                </a:solidFill>
              </a:rPr>
              <a:t>RE Potential vs Installed Capacity</a:t>
            </a: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Potential</c:v>
                </c:pt>
              </c:strCache>
            </c:strRef>
          </c:tx>
          <c:spPr>
            <a:solidFill>
              <a:srgbClr val="0D8390"/>
            </a:solidFill>
            <a:ln>
              <a:noFill/>
            </a:ln>
            <a:effectLst/>
          </c:spPr>
          <c:invertIfNegative val="0"/>
          <c:dLbls>
            <c:dLbl>
              <c:idx val="5"/>
              <c:tx>
                <c:rich>
                  <a:bodyPr/>
                  <a:lstStyle/>
                  <a:p>
                    <a:fld id="{64A16B9E-68A3-41C0-8DF4-6A07ED7B9F68}" type="VALUE">
                      <a:rPr lang="en-US" b="1"/>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B8DC-4F7E-8582-440D589EAC92}"/>
                </c:ext>
              </c:extLst>
            </c:dLbl>
            <c:numFmt formatCode="#,##0" sourceLinked="0"/>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Solar</c:v>
                </c:pt>
                <c:pt idx="1">
                  <c:v>Bio-Mass</c:v>
                </c:pt>
                <c:pt idx="2">
                  <c:v>Waste to Energy</c:v>
                </c:pt>
                <c:pt idx="3">
                  <c:v>Small Hydro Power</c:v>
                </c:pt>
                <c:pt idx="4">
                  <c:v>Wind</c:v>
                </c:pt>
                <c:pt idx="5">
                  <c:v>Total</c:v>
                </c:pt>
              </c:strCache>
            </c:strRef>
          </c:cat>
          <c:val>
            <c:numRef>
              <c:f>Sheet1!$B$2:$B$7</c:f>
              <c:numCache>
                <c:formatCode>General</c:formatCode>
                <c:ptCount val="6"/>
                <c:pt idx="0">
                  <c:v>6260</c:v>
                </c:pt>
                <c:pt idx="1">
                  <c:v>396</c:v>
                </c:pt>
                <c:pt idx="2">
                  <c:v>148</c:v>
                </c:pt>
                <c:pt idx="3">
                  <c:v>392.06</c:v>
                </c:pt>
                <c:pt idx="4">
                  <c:v>2</c:v>
                </c:pt>
                <c:pt idx="5">
                  <c:v>7198.06</c:v>
                </c:pt>
              </c:numCache>
            </c:numRef>
          </c:val>
          <c:extLst>
            <c:ext xmlns:c16="http://schemas.microsoft.com/office/drawing/2014/chart" uri="{C3380CC4-5D6E-409C-BE32-E72D297353CC}">
              <c16:uniqueId val="{00000000-B8DC-4F7E-8582-440D589EAC92}"/>
            </c:ext>
          </c:extLst>
        </c:ser>
        <c:ser>
          <c:idx val="1"/>
          <c:order val="1"/>
          <c:tx>
            <c:strRef>
              <c:f>Sheet1!$C$1</c:f>
              <c:strCache>
                <c:ptCount val="1"/>
                <c:pt idx="0">
                  <c:v>Actual Installed Capacity</c:v>
                </c:pt>
              </c:strCache>
            </c:strRef>
          </c:tx>
          <c:spPr>
            <a:solidFill>
              <a:schemeClr val="accent2"/>
            </a:solidFill>
            <a:ln>
              <a:noFill/>
            </a:ln>
            <a:effectLst/>
          </c:spPr>
          <c:invertIfNegative val="0"/>
          <c:dLbls>
            <c:dLbl>
              <c:idx val="5"/>
              <c:tx>
                <c:rich>
                  <a:bodyPr/>
                  <a:lstStyle/>
                  <a:p>
                    <a:fld id="{4AD8A229-B4BA-4000-A9C4-7697419F2F40}" type="VALUE">
                      <a:rPr lang="en-US" b="1"/>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B8DC-4F7E-8582-440D589EAC92}"/>
                </c:ext>
              </c:extLst>
            </c:dLbl>
            <c:numFmt formatCode="#,##0" sourceLinked="0"/>
            <c:spPr>
              <a:noFill/>
              <a:ln>
                <a:noFill/>
              </a:ln>
              <a:effectLst/>
            </c:spPr>
            <c:txPr>
              <a:bodyPr rot="0" spcFirstLastPara="1" vertOverflow="ellipsis" vert="horz" wrap="square" anchor="ctr" anchorCtr="1"/>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Solar</c:v>
                </c:pt>
                <c:pt idx="1">
                  <c:v>Bio-Mass</c:v>
                </c:pt>
                <c:pt idx="2">
                  <c:v>Waste to Energy</c:v>
                </c:pt>
                <c:pt idx="3">
                  <c:v>Small Hydro Power</c:v>
                </c:pt>
                <c:pt idx="4">
                  <c:v>Wind</c:v>
                </c:pt>
                <c:pt idx="5">
                  <c:v>Total</c:v>
                </c:pt>
              </c:strCache>
            </c:strRef>
          </c:cat>
          <c:val>
            <c:numRef>
              <c:f>Sheet1!$C$2:$C$7</c:f>
              <c:numCache>
                <c:formatCode>General</c:formatCode>
                <c:ptCount val="6"/>
                <c:pt idx="0">
                  <c:v>165.99</c:v>
                </c:pt>
                <c:pt idx="1">
                  <c:v>319.92</c:v>
                </c:pt>
                <c:pt idx="2">
                  <c:v>1.17</c:v>
                </c:pt>
                <c:pt idx="3">
                  <c:v>2.8</c:v>
                </c:pt>
                <c:pt idx="4">
                  <c:v>0</c:v>
                </c:pt>
                <c:pt idx="5">
                  <c:v>586.94000000000005</c:v>
                </c:pt>
              </c:numCache>
            </c:numRef>
          </c:val>
          <c:extLst>
            <c:ext xmlns:c16="http://schemas.microsoft.com/office/drawing/2014/chart" uri="{C3380CC4-5D6E-409C-BE32-E72D297353CC}">
              <c16:uniqueId val="{00000001-B8DC-4F7E-8582-440D589EAC92}"/>
            </c:ext>
          </c:extLst>
        </c:ser>
        <c:dLbls>
          <c:showLegendKey val="0"/>
          <c:showVal val="0"/>
          <c:showCatName val="0"/>
          <c:showSerName val="0"/>
          <c:showPercent val="0"/>
          <c:showBubbleSize val="0"/>
        </c:dLbls>
        <c:gapWidth val="219"/>
        <c:overlap val="-27"/>
        <c:axId val="171986720"/>
        <c:axId val="172002944"/>
      </c:barChart>
      <c:catAx>
        <c:axId val="1719867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172002944"/>
        <c:crosses val="autoZero"/>
        <c:auto val="1"/>
        <c:lblAlgn val="ctr"/>
        <c:lblOffset val="100"/>
        <c:noMultiLvlLbl val="0"/>
      </c:catAx>
      <c:valAx>
        <c:axId val="172002944"/>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71986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lumMod val="75000"/>
          <a:lumOff val="25000"/>
        </a:schemeClr>
      </a:solidFill>
    </a:ln>
    <a:effectLst/>
  </c:spPr>
  <c:txPr>
    <a:bodyPr/>
    <a:lstStyle/>
    <a:p>
      <a:pPr>
        <a:defRPr sz="1600"/>
      </a:pPr>
      <a:endParaRPr lang="en-US"/>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sz="1200" b="1" i="0" u="none" strike="noStrike" baseline="0" dirty="0">
                <a:solidFill>
                  <a:schemeClr val="tx1"/>
                </a:solidFill>
                <a:effectLst/>
              </a:rPr>
              <a:t>WEST BENGAL RPO TARGET vs ACHIEVEMENT</a:t>
            </a:r>
            <a:endParaRPr lang="en-US" sz="1200" b="1" dirty="0">
              <a:solidFill>
                <a:schemeClr val="tx1"/>
              </a:solidFill>
            </a:endParaRPr>
          </a:p>
        </c:rich>
      </c:tx>
      <c:layout>
        <c:manualLayout>
          <c:xMode val="edge"/>
          <c:yMode val="edge"/>
          <c:x val="0.20102561691390242"/>
          <c:y val="1.4141235189106439E-2"/>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1.264693832445E-2"/>
          <c:y val="6.2300781130506924E-2"/>
          <c:w val="0.97448759466138768"/>
          <c:h val="0.67046318293326335"/>
        </c:manualLayout>
      </c:layout>
      <c:barChart>
        <c:barDir val="col"/>
        <c:grouping val="clustered"/>
        <c:varyColors val="0"/>
        <c:ser>
          <c:idx val="0"/>
          <c:order val="0"/>
          <c:tx>
            <c:strRef>
              <c:f>Sheet1!$B$1</c:f>
              <c:strCache>
                <c:ptCount val="1"/>
                <c:pt idx="0">
                  <c:v>Solar RPO Target</c:v>
                </c:pt>
              </c:strCache>
            </c:strRef>
          </c:tx>
          <c:spPr>
            <a:solidFill>
              <a:srgbClr val="FFC000"/>
            </a:solidFill>
            <a:ln>
              <a:noFill/>
            </a:ln>
            <a:effectLst/>
          </c:spPr>
          <c:invertIfNegative val="0"/>
          <c:dLbls>
            <c:dLbl>
              <c:idx val="0"/>
              <c:layout>
                <c:manualLayout>
                  <c:x val="-3.4225682185949166E-2"/>
                  <c:y val="4.801019577793009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B13-4311-9111-A63DCB410628}"/>
                </c:ext>
              </c:extLst>
            </c:dLbl>
            <c:dLbl>
              <c:idx val="1"/>
              <c:layout>
                <c:manualLayout>
                  <c:x val="-3.8634504125898292E-2"/>
                  <c:y val="3.192989316246821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B13-4311-9111-A63DCB410628}"/>
                </c:ext>
              </c:extLst>
            </c:dLbl>
            <c:dLbl>
              <c:idx val="2"/>
              <c:layout>
                <c:manualLayout>
                  <c:x val="-3.7684913242274139E-2"/>
                  <c:y val="4.603469130839654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B13-4311-9111-A63DCB410628}"/>
                </c:ext>
              </c:extLst>
            </c:dLbl>
            <c:dLbl>
              <c:idx val="3"/>
              <c:layout>
                <c:manualLayout>
                  <c:x val="6.2345509691282682E-3"/>
                  <c:y val="-1.026501967423079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B13-4311-9111-A63DCB410628}"/>
                </c:ext>
              </c:extLst>
            </c:dLbl>
            <c:dLbl>
              <c:idx val="4"/>
              <c:layout>
                <c:manualLayout>
                  <c:x val="-4.6377418197691749E-2"/>
                  <c:y val="-4.471889658832274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B13-4311-9111-A63DCB410628}"/>
                </c:ext>
              </c:extLst>
            </c:dLbl>
            <c:dLbl>
              <c:idx val="5"/>
              <c:layout>
                <c:manualLayout>
                  <c:x val="-3.2450897514180475E-2"/>
                  <c:y val="4.2197979558036087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B13-4311-9111-A63DCB410628}"/>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 18</c:v>
                </c:pt>
                <c:pt idx="1">
                  <c:v>FY 19</c:v>
                </c:pt>
                <c:pt idx="2">
                  <c:v>FY 20</c:v>
                </c:pt>
                <c:pt idx="3">
                  <c:v>FY 21</c:v>
                </c:pt>
              </c:strCache>
            </c:strRef>
          </c:cat>
          <c:val>
            <c:numRef>
              <c:f>Sheet1!$B$2:$B$5</c:f>
              <c:numCache>
                <c:formatCode>0.00%</c:formatCode>
                <c:ptCount val="4"/>
                <c:pt idx="0">
                  <c:v>3.0000000000000001E-3</c:v>
                </c:pt>
                <c:pt idx="1">
                  <c:v>4.0000000000000001E-3</c:v>
                </c:pt>
                <c:pt idx="2">
                  <c:v>5.0000000000000001E-3</c:v>
                </c:pt>
                <c:pt idx="3">
                  <c:v>0.03</c:v>
                </c:pt>
              </c:numCache>
            </c:numRef>
          </c:val>
          <c:extLst>
            <c:ext xmlns:c16="http://schemas.microsoft.com/office/drawing/2014/chart" uri="{C3380CC4-5D6E-409C-BE32-E72D297353CC}">
              <c16:uniqueId val="{00000006-8B13-4311-9111-A63DCB410628}"/>
            </c:ext>
          </c:extLst>
        </c:ser>
        <c:ser>
          <c:idx val="1"/>
          <c:order val="1"/>
          <c:tx>
            <c:strRef>
              <c:f>Sheet1!$C$1</c:f>
              <c:strCache>
                <c:ptCount val="1"/>
                <c:pt idx="0">
                  <c:v>Solar RPO Achieved</c:v>
                </c:pt>
              </c:strCache>
            </c:strRef>
          </c:tx>
          <c:spPr>
            <a:solidFill>
              <a:schemeClr val="tx2"/>
            </a:solidFill>
            <a:ln>
              <a:noFill/>
            </a:ln>
            <a:effectLst/>
          </c:spPr>
          <c:invertIfNegative val="0"/>
          <c:dLbls>
            <c:dLbl>
              <c:idx val="0"/>
              <c:layout>
                <c:manualLayout>
                  <c:x val="-6.8267879935613174E-3"/>
                  <c:y val="-9.598134355886729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B13-4311-9111-A63DCB410628}"/>
                </c:ext>
              </c:extLst>
            </c:dLbl>
            <c:dLbl>
              <c:idx val="1"/>
              <c:layout>
                <c:manualLayout>
                  <c:x val="-4.6774065512929074E-3"/>
                  <c:y val="-0.1071438745688274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B13-4311-9111-A63DCB410628}"/>
                </c:ext>
              </c:extLst>
            </c:dLbl>
            <c:dLbl>
              <c:idx val="2"/>
              <c:layout>
                <c:manualLayout>
                  <c:x val="2.3401010812574181E-3"/>
                  <c:y val="-0.1271200378599075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B13-4311-9111-A63DCB410628}"/>
                </c:ext>
              </c:extLst>
            </c:dLbl>
            <c:dLbl>
              <c:idx val="3"/>
              <c:layout>
                <c:manualLayout>
                  <c:x val="1.6375009922747968E-2"/>
                  <c:y val="-3.011369024413373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B13-4311-9111-A63DCB410628}"/>
                </c:ext>
              </c:extLst>
            </c:dLbl>
            <c:dLbl>
              <c:idx val="4"/>
              <c:layout>
                <c:manualLayout>
                  <c:x val="-1.7002464900499649E-2"/>
                  <c:y val="-3.88279983373310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8B13-4311-9111-A63DCB410628}"/>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 18</c:v>
                </c:pt>
                <c:pt idx="1">
                  <c:v>FY 19</c:v>
                </c:pt>
                <c:pt idx="2">
                  <c:v>FY 20</c:v>
                </c:pt>
                <c:pt idx="3">
                  <c:v>FY 21</c:v>
                </c:pt>
              </c:strCache>
            </c:strRef>
          </c:cat>
          <c:val>
            <c:numRef>
              <c:f>Sheet1!$C$2:$C$5</c:f>
              <c:numCache>
                <c:formatCode>0.00%</c:formatCode>
                <c:ptCount val="4"/>
                <c:pt idx="0">
                  <c:v>3.8E-3</c:v>
                </c:pt>
                <c:pt idx="1">
                  <c:v>4.4000000000000003E-3</c:v>
                </c:pt>
                <c:pt idx="2">
                  <c:v>5.1000000000000004E-3</c:v>
                </c:pt>
                <c:pt idx="3">
                  <c:v>4.7000000000000002E-3</c:v>
                </c:pt>
              </c:numCache>
            </c:numRef>
          </c:val>
          <c:extLst>
            <c:ext xmlns:c16="http://schemas.microsoft.com/office/drawing/2014/chart" uri="{C3380CC4-5D6E-409C-BE32-E72D297353CC}">
              <c16:uniqueId val="{0000000C-8B13-4311-9111-A63DCB410628}"/>
            </c:ext>
          </c:extLst>
        </c:ser>
        <c:ser>
          <c:idx val="2"/>
          <c:order val="2"/>
          <c:tx>
            <c:strRef>
              <c:f>Sheet1!$D$1</c:f>
              <c:strCache>
                <c:ptCount val="1"/>
                <c:pt idx="0">
                  <c:v>Column2</c:v>
                </c:pt>
              </c:strCache>
            </c:strRef>
          </c:tx>
          <c:spPr>
            <a:solidFill>
              <a:schemeClr val="accent3"/>
            </a:solidFill>
            <a:ln>
              <a:noFill/>
            </a:ln>
            <a:effectLst/>
          </c:spPr>
          <c:invertIfNegative val="0"/>
          <c:dLbls>
            <c:dLbl>
              <c:idx val="2"/>
              <c:layout>
                <c:manualLayout>
                  <c:x val="3.9822929962441023E-2"/>
                  <c:y val="1.828216067787944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8B13-4311-9111-A63DCB410628}"/>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 18</c:v>
                </c:pt>
                <c:pt idx="1">
                  <c:v>FY 19</c:v>
                </c:pt>
                <c:pt idx="2">
                  <c:v>FY 20</c:v>
                </c:pt>
                <c:pt idx="3">
                  <c:v>FY 21</c:v>
                </c:pt>
              </c:strCache>
            </c:strRef>
          </c:cat>
          <c:val>
            <c:numRef>
              <c:f>Sheet1!$D$2:$D$5</c:f>
              <c:numCache>
                <c:formatCode>General</c:formatCode>
                <c:ptCount val="4"/>
              </c:numCache>
            </c:numRef>
          </c:val>
          <c:extLst>
            <c:ext xmlns:c16="http://schemas.microsoft.com/office/drawing/2014/chart" uri="{C3380CC4-5D6E-409C-BE32-E72D297353CC}">
              <c16:uniqueId val="{0000000E-8B13-4311-9111-A63DCB410628}"/>
            </c:ext>
          </c:extLst>
        </c:ser>
        <c:ser>
          <c:idx val="3"/>
          <c:order val="3"/>
          <c:tx>
            <c:strRef>
              <c:f>Sheet1!$E$1</c:f>
              <c:strCache>
                <c:ptCount val="1"/>
                <c:pt idx="0">
                  <c:v>Non-Solar RPO Target</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 18</c:v>
                </c:pt>
                <c:pt idx="1">
                  <c:v>FY 19</c:v>
                </c:pt>
                <c:pt idx="2">
                  <c:v>FY 20</c:v>
                </c:pt>
                <c:pt idx="3">
                  <c:v>FY 21</c:v>
                </c:pt>
              </c:strCache>
            </c:strRef>
          </c:cat>
          <c:val>
            <c:numRef>
              <c:f>Sheet1!$E$2:$E$5</c:f>
              <c:numCache>
                <c:formatCode>0.00%</c:formatCode>
                <c:ptCount val="4"/>
                <c:pt idx="0">
                  <c:v>5.7000000000000002E-2</c:v>
                </c:pt>
                <c:pt idx="1">
                  <c:v>5.7000000000000002E-2</c:v>
                </c:pt>
                <c:pt idx="2">
                  <c:v>5.7000000000000002E-2</c:v>
                </c:pt>
                <c:pt idx="3">
                  <c:v>0.09</c:v>
                </c:pt>
              </c:numCache>
            </c:numRef>
          </c:val>
          <c:extLst>
            <c:ext xmlns:c16="http://schemas.microsoft.com/office/drawing/2014/chart" uri="{C3380CC4-5D6E-409C-BE32-E72D297353CC}">
              <c16:uniqueId val="{00000010-8B13-4311-9111-A63DCB410628}"/>
            </c:ext>
          </c:extLst>
        </c:ser>
        <c:ser>
          <c:idx val="4"/>
          <c:order val="4"/>
          <c:tx>
            <c:strRef>
              <c:f>Sheet1!$F$1</c:f>
              <c:strCache>
                <c:ptCount val="1"/>
                <c:pt idx="0">
                  <c:v>Non-Solar RPO Achieved</c:v>
                </c:pt>
              </c:strCache>
            </c:strRef>
          </c:tx>
          <c:spPr>
            <a:solidFill>
              <a:schemeClr val="accent5"/>
            </a:solidFill>
            <a:ln>
              <a:noFill/>
            </a:ln>
            <a:effectLst/>
          </c:spPr>
          <c:invertIfNegative val="0"/>
          <c:dLbls>
            <c:dLbl>
              <c:idx val="0"/>
              <c:layout>
                <c:manualLayout>
                  <c:x val="4.3919457938945E-2"/>
                  <c:y val="-4.956118836022365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8B13-4311-9111-A63DCB410628}"/>
                </c:ext>
              </c:extLst>
            </c:dLbl>
            <c:dLbl>
              <c:idx val="1"/>
              <c:layout>
                <c:manualLayout>
                  <c:x val="2.5952406963922068E-2"/>
                  <c:y val="-1.48683565080670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8B13-4311-9111-A63DCB410628}"/>
                </c:ext>
              </c:extLst>
            </c:dLbl>
            <c:dLbl>
              <c:idx val="2"/>
              <c:layout>
                <c:manualLayout>
                  <c:x val="3.6098368907991653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8B13-4311-9111-A63DCB410628}"/>
                </c:ext>
              </c:extLst>
            </c:dLbl>
            <c:dLbl>
              <c:idx val="3"/>
              <c:layout>
                <c:manualLayout>
                  <c:x val="2.0928863525078813E-2"/>
                  <c:y val="-1.486835650806705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8B13-4311-9111-A63DCB410628}"/>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 18</c:v>
                </c:pt>
                <c:pt idx="1">
                  <c:v>FY 19</c:v>
                </c:pt>
                <c:pt idx="2">
                  <c:v>FY 20</c:v>
                </c:pt>
                <c:pt idx="3">
                  <c:v>FY 21</c:v>
                </c:pt>
              </c:strCache>
            </c:strRef>
          </c:cat>
          <c:val>
            <c:numRef>
              <c:f>Sheet1!$F$2:$F$5</c:f>
              <c:numCache>
                <c:formatCode>0.00%</c:formatCode>
                <c:ptCount val="4"/>
                <c:pt idx="0">
                  <c:v>3.6400000000000002E-2</c:v>
                </c:pt>
                <c:pt idx="1">
                  <c:v>3.4500000000000003E-2</c:v>
                </c:pt>
                <c:pt idx="2">
                  <c:v>3.1099999999999999E-2</c:v>
                </c:pt>
                <c:pt idx="3">
                  <c:v>1.06E-2</c:v>
                </c:pt>
              </c:numCache>
            </c:numRef>
          </c:val>
          <c:extLst>
            <c:ext xmlns:c16="http://schemas.microsoft.com/office/drawing/2014/chart" uri="{C3380CC4-5D6E-409C-BE32-E72D297353CC}">
              <c16:uniqueId val="{00000011-8B13-4311-9111-A63DCB410628}"/>
            </c:ext>
          </c:extLst>
        </c:ser>
        <c:dLbls>
          <c:showLegendKey val="0"/>
          <c:showVal val="0"/>
          <c:showCatName val="0"/>
          <c:showSerName val="0"/>
          <c:showPercent val="0"/>
          <c:showBubbleSize val="0"/>
        </c:dLbls>
        <c:gapWidth val="219"/>
        <c:axId val="144511792"/>
        <c:axId val="144505968"/>
      </c:barChart>
      <c:catAx>
        <c:axId val="144511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44505968"/>
        <c:crosses val="autoZero"/>
        <c:auto val="1"/>
        <c:lblAlgn val="ctr"/>
        <c:lblOffset val="100"/>
        <c:noMultiLvlLbl val="0"/>
      </c:catAx>
      <c:valAx>
        <c:axId val="144505968"/>
        <c:scaling>
          <c:orientation val="minMax"/>
        </c:scaling>
        <c:delete val="1"/>
        <c:axPos val="l"/>
        <c:numFmt formatCode="0.00%" sourceLinked="1"/>
        <c:majorTickMark val="none"/>
        <c:minorTickMark val="none"/>
        <c:tickLblPos val="nextTo"/>
        <c:crossAx val="144511792"/>
        <c:crosses val="autoZero"/>
        <c:crossBetween val="between"/>
      </c:valAx>
      <c:spPr>
        <a:noFill/>
        <a:ln>
          <a:noFill/>
        </a:ln>
        <a:effectLst/>
      </c:spPr>
    </c:plotArea>
    <c:legend>
      <c:legendPos val="b"/>
      <c:legendEntry>
        <c:idx val="2"/>
        <c:delete val="1"/>
      </c:legendEntry>
      <c:layout>
        <c:manualLayout>
          <c:xMode val="edge"/>
          <c:yMode val="edge"/>
          <c:x val="0.1957898785005647"/>
          <c:y val="0.84225031870854727"/>
          <c:w val="0.6562068089766695"/>
          <c:h val="0.15774968129145275"/>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rgbClr val="046A38"/>
      </a:solidFill>
    </a:ln>
    <a:effectLst/>
  </c:spPr>
  <c:txPr>
    <a:bodyPr/>
    <a:lstStyle/>
    <a:p>
      <a:pPr>
        <a:defRPr/>
      </a:pPr>
      <a:endParaRPr lang="en-US"/>
    </a:p>
  </c:txPr>
  <c:externalData r:id="rId4">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US" sz="1400" b="1" dirty="0">
                <a:solidFill>
                  <a:schemeClr val="tx1"/>
                </a:solidFill>
              </a:rPr>
              <a:t>Utility-wise</a:t>
            </a:r>
            <a:r>
              <a:rPr lang="en-US" sz="1400" b="1" baseline="0" dirty="0">
                <a:solidFill>
                  <a:schemeClr val="tx1"/>
                </a:solidFill>
              </a:rPr>
              <a:t> Solar Portfolio</a:t>
            </a:r>
            <a:endParaRPr lang="en-US" sz="1400" b="1" dirty="0">
              <a:solidFill>
                <a:schemeClr val="tx1"/>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1.2486304838519098E-2"/>
          <c:y val="0.13828117416231067"/>
          <c:w val="0.97502739032296182"/>
          <c:h val="0.65446399943521605"/>
        </c:manualLayout>
      </c:layout>
      <c:barChart>
        <c:barDir val="col"/>
        <c:grouping val="clustered"/>
        <c:varyColors val="0"/>
        <c:ser>
          <c:idx val="0"/>
          <c:order val="0"/>
          <c:tx>
            <c:strRef>
              <c:f>Sheet1!$B$1</c:f>
              <c:strCache>
                <c:ptCount val="1"/>
                <c:pt idx="0">
                  <c:v>Commissioned</c:v>
                </c:pt>
              </c:strCache>
            </c:strRef>
          </c:tx>
          <c:spPr>
            <a:solidFill>
              <a:schemeClr val="tx1">
                <a:lumMod val="75000"/>
                <a:lumOff val="25000"/>
              </a:schemeClr>
            </a:solidFill>
            <a:ln>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WBSEDCL</c:v>
                </c:pt>
                <c:pt idx="1">
                  <c:v>WBPDCL</c:v>
                </c:pt>
                <c:pt idx="2">
                  <c:v>DPL</c:v>
                </c:pt>
              </c:strCache>
            </c:strRef>
          </c:cat>
          <c:val>
            <c:numRef>
              <c:f>Sheet1!$B$2:$B$4</c:f>
              <c:numCache>
                <c:formatCode>General</c:formatCode>
                <c:ptCount val="3"/>
                <c:pt idx="0">
                  <c:v>121.14</c:v>
                </c:pt>
                <c:pt idx="1">
                  <c:v>32.619999999999997</c:v>
                </c:pt>
                <c:pt idx="2">
                  <c:v>0.5</c:v>
                </c:pt>
              </c:numCache>
            </c:numRef>
          </c:val>
          <c:extLst>
            <c:ext xmlns:c16="http://schemas.microsoft.com/office/drawing/2014/chart" uri="{C3380CC4-5D6E-409C-BE32-E72D297353CC}">
              <c16:uniqueId val="{00000000-D135-45DA-AC7F-DF1F35B7C7D6}"/>
            </c:ext>
          </c:extLst>
        </c:ser>
        <c:ser>
          <c:idx val="1"/>
          <c:order val="1"/>
          <c:tx>
            <c:strRef>
              <c:f>Sheet1!$C$1</c:f>
              <c:strCache>
                <c:ptCount val="1"/>
                <c:pt idx="0">
                  <c:v>Under Construction</c:v>
                </c:pt>
              </c:strCache>
            </c:strRef>
          </c:tx>
          <c:spPr>
            <a:solidFill>
              <a:schemeClr val="accent2"/>
            </a:solidFill>
            <a:ln>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WBSEDCL</c:v>
                </c:pt>
                <c:pt idx="1">
                  <c:v>WBPDCL</c:v>
                </c:pt>
                <c:pt idx="2">
                  <c:v>DPL</c:v>
                </c:pt>
              </c:strCache>
            </c:strRef>
          </c:cat>
          <c:val>
            <c:numRef>
              <c:f>Sheet1!$C$2:$C$4</c:f>
              <c:numCache>
                <c:formatCode>General</c:formatCode>
                <c:ptCount val="3"/>
                <c:pt idx="0">
                  <c:v>275</c:v>
                </c:pt>
                <c:pt idx="1">
                  <c:v>10</c:v>
                </c:pt>
                <c:pt idx="2">
                  <c:v>0</c:v>
                </c:pt>
              </c:numCache>
            </c:numRef>
          </c:val>
          <c:extLst>
            <c:ext xmlns:c16="http://schemas.microsoft.com/office/drawing/2014/chart" uri="{C3380CC4-5D6E-409C-BE32-E72D297353CC}">
              <c16:uniqueId val="{00000001-D135-45DA-AC7F-DF1F35B7C7D6}"/>
            </c:ext>
          </c:extLst>
        </c:ser>
        <c:ser>
          <c:idx val="2"/>
          <c:order val="2"/>
          <c:tx>
            <c:strRef>
              <c:f>Sheet1!$D$1</c:f>
              <c:strCache>
                <c:ptCount val="1"/>
                <c:pt idx="0">
                  <c:v>Current Proposed Pipeline</c:v>
                </c:pt>
              </c:strCache>
            </c:strRef>
          </c:tx>
          <c:spPr>
            <a:solidFill>
              <a:srgbClr val="0D8390"/>
            </a:solidFill>
            <a:ln>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WBSEDCL</c:v>
                </c:pt>
                <c:pt idx="1">
                  <c:v>WBPDCL</c:v>
                </c:pt>
                <c:pt idx="2">
                  <c:v>DPL</c:v>
                </c:pt>
              </c:strCache>
            </c:strRef>
          </c:cat>
          <c:val>
            <c:numRef>
              <c:f>Sheet1!$D$2:$D$4</c:f>
              <c:numCache>
                <c:formatCode>General</c:formatCode>
                <c:ptCount val="3"/>
                <c:pt idx="0">
                  <c:v>270</c:v>
                </c:pt>
                <c:pt idx="1">
                  <c:v>2190</c:v>
                </c:pt>
                <c:pt idx="2">
                  <c:v>27</c:v>
                </c:pt>
              </c:numCache>
            </c:numRef>
          </c:val>
          <c:extLst>
            <c:ext xmlns:c16="http://schemas.microsoft.com/office/drawing/2014/chart" uri="{C3380CC4-5D6E-409C-BE32-E72D297353CC}">
              <c16:uniqueId val="{00000002-D135-45DA-AC7F-DF1F35B7C7D6}"/>
            </c:ext>
          </c:extLst>
        </c:ser>
        <c:dLbls>
          <c:showLegendKey val="0"/>
          <c:showVal val="0"/>
          <c:showCatName val="0"/>
          <c:showSerName val="0"/>
          <c:showPercent val="0"/>
          <c:showBubbleSize val="0"/>
        </c:dLbls>
        <c:gapWidth val="219"/>
        <c:overlap val="-27"/>
        <c:axId val="28047584"/>
        <c:axId val="28051328"/>
      </c:barChart>
      <c:catAx>
        <c:axId val="28047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28051328"/>
        <c:crosses val="autoZero"/>
        <c:auto val="1"/>
        <c:lblAlgn val="ctr"/>
        <c:lblOffset val="100"/>
        <c:noMultiLvlLbl val="0"/>
      </c:catAx>
      <c:valAx>
        <c:axId val="28051328"/>
        <c:scaling>
          <c:orientation val="minMax"/>
          <c:max val="2500"/>
          <c:min val="0"/>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28047584"/>
        <c:crosses val="autoZero"/>
        <c:crossBetween val="between"/>
        <c:majorUnit val="1000"/>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accent1"/>
      </a:solidFill>
    </a:ln>
    <a:effectLst/>
  </c:spPr>
  <c:txPr>
    <a:bodyPr/>
    <a:lstStyle/>
    <a:p>
      <a:pPr>
        <a:defRPr/>
      </a:pPr>
      <a:endParaRPr lang="en-US"/>
    </a:p>
  </c:txPr>
  <c:externalData r:id="rId3">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sz="1200" b="1" i="0" u="none" strike="noStrike" baseline="0" dirty="0">
                <a:solidFill>
                  <a:schemeClr val="tx1"/>
                </a:solidFill>
                <a:effectLst/>
              </a:rPr>
              <a:t>RAJASTHAN RPO TARGET TRAJECTORY</a:t>
            </a:r>
            <a:endParaRPr lang="en-US" sz="1200" b="1" dirty="0">
              <a:solidFill>
                <a:schemeClr val="tx1"/>
              </a:solidFill>
            </a:endParaRPr>
          </a:p>
        </c:rich>
      </c:tx>
      <c:layout>
        <c:manualLayout>
          <c:xMode val="edge"/>
          <c:yMode val="edge"/>
          <c:x val="0.34578781071790282"/>
          <c:y val="7.152588364034082E-3"/>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1.264693832445E-2"/>
          <c:y val="6.2300781130506924E-2"/>
          <c:w val="0.97448759466138768"/>
          <c:h val="0.67046318293326335"/>
        </c:manualLayout>
      </c:layout>
      <c:barChart>
        <c:barDir val="col"/>
        <c:grouping val="clustered"/>
        <c:varyColors val="0"/>
        <c:ser>
          <c:idx val="0"/>
          <c:order val="0"/>
          <c:tx>
            <c:strRef>
              <c:f>Sheet1!$B$1</c:f>
              <c:strCache>
                <c:ptCount val="1"/>
                <c:pt idx="0">
                  <c:v>Solar RPO</c:v>
                </c:pt>
              </c:strCache>
            </c:strRef>
          </c:tx>
          <c:spPr>
            <a:solidFill>
              <a:srgbClr val="FFC000"/>
            </a:solidFill>
            <a:ln>
              <a:noFill/>
            </a:ln>
            <a:effectLst/>
          </c:spPr>
          <c:invertIfNegative val="0"/>
          <c:dLbls>
            <c:dLbl>
              <c:idx val="0"/>
              <c:layout>
                <c:manualLayout>
                  <c:x val="-3.4225682185949166E-2"/>
                  <c:y val="4.801019577793009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037-4886-B9D9-1C674F302C4A}"/>
                </c:ext>
              </c:extLst>
            </c:dLbl>
            <c:dLbl>
              <c:idx val="1"/>
              <c:layout>
                <c:manualLayout>
                  <c:x val="-3.6638110096655373E-2"/>
                  <c:y val="2.301734565419827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037-4886-B9D9-1C674F302C4A}"/>
                </c:ext>
              </c:extLst>
            </c:dLbl>
            <c:dLbl>
              <c:idx val="2"/>
              <c:layout>
                <c:manualLayout>
                  <c:x val="-3.7684913242274139E-2"/>
                  <c:y val="4.603469130839654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3037-4886-B9D9-1C674F302C4A}"/>
                </c:ext>
              </c:extLst>
            </c:dLbl>
            <c:dLbl>
              <c:idx val="3"/>
              <c:layout>
                <c:manualLayout>
                  <c:x val="-3.7684913242274097E-2"/>
                  <c:y val="4.603469130839654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037-4886-B9D9-1C674F302C4A}"/>
                </c:ext>
              </c:extLst>
            </c:dLbl>
            <c:dLbl>
              <c:idx val="4"/>
              <c:layout>
                <c:manualLayout>
                  <c:x val="-4.6377418197691749E-2"/>
                  <c:y val="-4.471889658832274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037-4886-B9D9-1C674F302C4A}"/>
                </c:ext>
              </c:extLst>
            </c:dLbl>
            <c:dLbl>
              <c:idx val="5"/>
              <c:layout>
                <c:manualLayout>
                  <c:x val="-3.2450897514180475E-2"/>
                  <c:y val="4.2197979558036087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3037-4886-B9D9-1C674F302C4A}"/>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 19</c:v>
                </c:pt>
                <c:pt idx="1">
                  <c:v>FY 20</c:v>
                </c:pt>
                <c:pt idx="2">
                  <c:v>FY 21</c:v>
                </c:pt>
                <c:pt idx="3">
                  <c:v>FY 22</c:v>
                </c:pt>
                <c:pt idx="4">
                  <c:v>FY 23</c:v>
                </c:pt>
                <c:pt idx="5">
                  <c:v>FY 24</c:v>
                </c:pt>
              </c:strCache>
            </c:strRef>
          </c:cat>
          <c:val>
            <c:numRef>
              <c:f>Sheet1!$B$2:$B$7</c:f>
              <c:numCache>
                <c:formatCode>0.00%</c:formatCode>
                <c:ptCount val="6"/>
                <c:pt idx="0">
                  <c:v>8.5999999999999993E-2</c:v>
                </c:pt>
                <c:pt idx="1">
                  <c:v>0.09</c:v>
                </c:pt>
                <c:pt idx="2">
                  <c:v>9.4E-2</c:v>
                </c:pt>
                <c:pt idx="3">
                  <c:v>9.8000000000000004E-2</c:v>
                </c:pt>
                <c:pt idx="4">
                  <c:v>0.10100000000000001</c:v>
                </c:pt>
                <c:pt idx="5">
                  <c:v>0.105</c:v>
                </c:pt>
              </c:numCache>
            </c:numRef>
          </c:val>
          <c:extLst>
            <c:ext xmlns:c16="http://schemas.microsoft.com/office/drawing/2014/chart" uri="{C3380CC4-5D6E-409C-BE32-E72D297353CC}">
              <c16:uniqueId val="{00000002-3037-4886-B9D9-1C674F302C4A}"/>
            </c:ext>
          </c:extLst>
        </c:ser>
        <c:ser>
          <c:idx val="1"/>
          <c:order val="1"/>
          <c:tx>
            <c:strRef>
              <c:f>Sheet1!$C$1</c:f>
              <c:strCache>
                <c:ptCount val="1"/>
                <c:pt idx="0">
                  <c:v>Non-Solar RPO</c:v>
                </c:pt>
              </c:strCache>
            </c:strRef>
          </c:tx>
          <c:spPr>
            <a:solidFill>
              <a:schemeClr val="tx2"/>
            </a:solidFill>
            <a:ln>
              <a:noFill/>
            </a:ln>
            <a:effectLst/>
          </c:spPr>
          <c:invertIfNegative val="0"/>
          <c:dLbls>
            <c:dLbl>
              <c:idx val="0"/>
              <c:layout>
                <c:manualLayout>
                  <c:x val="-6.8267879935613174E-3"/>
                  <c:y val="-9.598134355886729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037-4886-B9D9-1C674F302C4A}"/>
                </c:ext>
              </c:extLst>
            </c:dLbl>
            <c:dLbl>
              <c:idx val="2"/>
              <c:layout>
                <c:manualLayout>
                  <c:x val="2.3401010812574181E-3"/>
                  <c:y val="-0.1271200378599075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037-4886-B9D9-1C674F302C4A}"/>
                </c:ext>
              </c:extLst>
            </c:dLbl>
            <c:dLbl>
              <c:idx val="3"/>
              <c:layout>
                <c:manualLayout>
                  <c:x val="-8.3744251649497999E-3"/>
                  <c:y val="-6.44485678317551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3037-4886-B9D9-1C674F302C4A}"/>
                </c:ext>
              </c:extLst>
            </c:dLbl>
            <c:dLbl>
              <c:idx val="4"/>
              <c:layout>
                <c:manualLayout>
                  <c:x val="-1.7002464900499649E-2"/>
                  <c:y val="-3.88279983373310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037-4886-B9D9-1C674F302C4A}"/>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 19</c:v>
                </c:pt>
                <c:pt idx="1">
                  <c:v>FY 20</c:v>
                </c:pt>
                <c:pt idx="2">
                  <c:v>FY 21</c:v>
                </c:pt>
                <c:pt idx="3">
                  <c:v>FY 22</c:v>
                </c:pt>
                <c:pt idx="4">
                  <c:v>FY 23</c:v>
                </c:pt>
                <c:pt idx="5">
                  <c:v>FY 24</c:v>
                </c:pt>
              </c:strCache>
            </c:strRef>
          </c:cat>
          <c:val>
            <c:numRef>
              <c:f>Sheet1!$C$2:$C$7</c:f>
              <c:numCache>
                <c:formatCode>0.00%</c:formatCode>
                <c:ptCount val="6"/>
                <c:pt idx="0">
                  <c:v>4.7500000000000001E-2</c:v>
                </c:pt>
                <c:pt idx="1">
                  <c:v>0.06</c:v>
                </c:pt>
                <c:pt idx="2">
                  <c:v>7.2499999999999995E-2</c:v>
                </c:pt>
                <c:pt idx="3">
                  <c:v>8.5000000000000006E-2</c:v>
                </c:pt>
                <c:pt idx="4">
                  <c:v>9.5000000000000001E-2</c:v>
                </c:pt>
                <c:pt idx="5">
                  <c:v>0.105</c:v>
                </c:pt>
              </c:numCache>
            </c:numRef>
          </c:val>
          <c:extLst>
            <c:ext xmlns:c16="http://schemas.microsoft.com/office/drawing/2014/chart" uri="{C3380CC4-5D6E-409C-BE32-E72D297353CC}">
              <c16:uniqueId val="{00000006-3037-4886-B9D9-1C674F302C4A}"/>
            </c:ext>
          </c:extLst>
        </c:ser>
        <c:ser>
          <c:idx val="2"/>
          <c:order val="2"/>
          <c:tx>
            <c:strRef>
              <c:f>Sheet1!$D$1</c:f>
              <c:strCache>
                <c:ptCount val="1"/>
                <c:pt idx="0">
                  <c:v>Total RPO</c:v>
                </c:pt>
              </c:strCache>
            </c:strRef>
          </c:tx>
          <c:spPr>
            <a:solidFill>
              <a:schemeClr val="accent3"/>
            </a:solidFill>
            <a:ln>
              <a:noFill/>
            </a:ln>
            <a:effectLst/>
          </c:spPr>
          <c:invertIfNegative val="0"/>
          <c:dLbls>
            <c:dLbl>
              <c:idx val="0"/>
              <c:layout>
                <c:manualLayout>
                  <c:x val="1.4048860468467638E-2"/>
                  <c:y val="-6.437329527630673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B29-4A22-BF53-5508E631637B}"/>
                </c:ext>
              </c:extLst>
            </c:dLbl>
            <c:dLbl>
              <c:idx val="2"/>
              <c:layout>
                <c:manualLayout>
                  <c:x val="3.9822929962441023E-2"/>
                  <c:y val="1.828216067787944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037-4886-B9D9-1C674F302C4A}"/>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 19</c:v>
                </c:pt>
                <c:pt idx="1">
                  <c:v>FY 20</c:v>
                </c:pt>
                <c:pt idx="2">
                  <c:v>FY 21</c:v>
                </c:pt>
                <c:pt idx="3">
                  <c:v>FY 22</c:v>
                </c:pt>
                <c:pt idx="4">
                  <c:v>FY 23</c:v>
                </c:pt>
                <c:pt idx="5">
                  <c:v>FY 24</c:v>
                </c:pt>
              </c:strCache>
            </c:strRef>
          </c:cat>
          <c:val>
            <c:numRef>
              <c:f>Sheet1!$D$2:$D$7</c:f>
              <c:numCache>
                <c:formatCode>0.00%</c:formatCode>
                <c:ptCount val="6"/>
                <c:pt idx="0">
                  <c:v>0.13350000000000001</c:v>
                </c:pt>
                <c:pt idx="1">
                  <c:v>0.15</c:v>
                </c:pt>
                <c:pt idx="2">
                  <c:v>0.16650000000000001</c:v>
                </c:pt>
                <c:pt idx="3">
                  <c:v>0.183</c:v>
                </c:pt>
                <c:pt idx="4">
                  <c:v>0.19600000000000001</c:v>
                </c:pt>
                <c:pt idx="5">
                  <c:v>0.21</c:v>
                </c:pt>
              </c:numCache>
            </c:numRef>
          </c:val>
          <c:extLst>
            <c:ext xmlns:c16="http://schemas.microsoft.com/office/drawing/2014/chart" uri="{C3380CC4-5D6E-409C-BE32-E72D297353CC}">
              <c16:uniqueId val="{00000008-3037-4886-B9D9-1C674F302C4A}"/>
            </c:ext>
          </c:extLst>
        </c:ser>
        <c:dLbls>
          <c:showLegendKey val="0"/>
          <c:showVal val="0"/>
          <c:showCatName val="0"/>
          <c:showSerName val="0"/>
          <c:showPercent val="0"/>
          <c:showBubbleSize val="0"/>
        </c:dLbls>
        <c:gapWidth val="219"/>
        <c:axId val="144511792"/>
        <c:axId val="144505968"/>
      </c:barChart>
      <c:catAx>
        <c:axId val="144511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44505968"/>
        <c:crosses val="autoZero"/>
        <c:auto val="1"/>
        <c:lblAlgn val="ctr"/>
        <c:lblOffset val="100"/>
        <c:noMultiLvlLbl val="0"/>
      </c:catAx>
      <c:valAx>
        <c:axId val="144505968"/>
        <c:scaling>
          <c:orientation val="minMax"/>
        </c:scaling>
        <c:delete val="1"/>
        <c:axPos val="l"/>
        <c:numFmt formatCode="0.00%" sourceLinked="1"/>
        <c:majorTickMark val="none"/>
        <c:minorTickMark val="none"/>
        <c:tickLblPos val="nextTo"/>
        <c:crossAx val="144511792"/>
        <c:crosses val="autoZero"/>
        <c:crossBetween val="between"/>
      </c:valAx>
      <c:spPr>
        <a:noFill/>
        <a:ln>
          <a:noFill/>
        </a:ln>
        <a:effectLst/>
      </c:spPr>
    </c:plotArea>
    <c:legend>
      <c:legendPos val="b"/>
      <c:layout>
        <c:manualLayout>
          <c:xMode val="edge"/>
          <c:yMode val="edge"/>
          <c:x val="0.34379319096882244"/>
          <c:y val="0.91546586654038298"/>
          <c:w val="0.31005040265954459"/>
          <c:h val="8.2422674197861201E-2"/>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rgbClr val="046A38"/>
      </a:solidFill>
    </a:ln>
    <a:effectLst/>
  </c:spPr>
  <c:txPr>
    <a:bodyPr/>
    <a:lstStyle/>
    <a:p>
      <a:pPr>
        <a:defRPr/>
      </a:pPr>
      <a:endParaRPr lang="en-US"/>
    </a:p>
  </c:txPr>
  <c:externalData r:id="rId4">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sz="1200" b="1" i="0" u="none" strike="noStrike" baseline="0" dirty="0">
                <a:solidFill>
                  <a:schemeClr val="tx1"/>
                </a:solidFill>
                <a:effectLst/>
              </a:rPr>
              <a:t>WEST BENGAL RPO TARGET TRAJECTORY</a:t>
            </a:r>
            <a:endParaRPr lang="en-US" sz="1200" b="1" dirty="0">
              <a:solidFill>
                <a:schemeClr val="tx1"/>
              </a:solidFill>
            </a:endParaRPr>
          </a:p>
        </c:rich>
      </c:tx>
      <c:layout>
        <c:manualLayout>
          <c:xMode val="edge"/>
          <c:yMode val="edge"/>
          <c:x val="0.33584067445793475"/>
          <c:y val="1.2621193269226947E-2"/>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1.264693832445E-2"/>
          <c:y val="6.2300781130506924E-2"/>
          <c:w val="0.97448759466138768"/>
          <c:h val="0.67046318293326335"/>
        </c:manualLayout>
      </c:layout>
      <c:barChart>
        <c:barDir val="col"/>
        <c:grouping val="clustered"/>
        <c:varyColors val="0"/>
        <c:ser>
          <c:idx val="0"/>
          <c:order val="0"/>
          <c:tx>
            <c:strRef>
              <c:f>Sheet1!$B$1</c:f>
              <c:strCache>
                <c:ptCount val="1"/>
                <c:pt idx="0">
                  <c:v>Solar RPO</c:v>
                </c:pt>
              </c:strCache>
            </c:strRef>
          </c:tx>
          <c:spPr>
            <a:solidFill>
              <a:srgbClr val="FFC000"/>
            </a:solidFill>
            <a:ln>
              <a:noFill/>
            </a:ln>
            <a:effectLst/>
          </c:spPr>
          <c:invertIfNegative val="0"/>
          <c:dLbls>
            <c:dLbl>
              <c:idx val="0"/>
              <c:layout>
                <c:manualLayout>
                  <c:x val="-3.4225682185949166E-2"/>
                  <c:y val="4.801019577793009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B45-4B45-95B1-96E83FC9DFFC}"/>
                </c:ext>
              </c:extLst>
            </c:dLbl>
            <c:dLbl>
              <c:idx val="1"/>
              <c:layout>
                <c:manualLayout>
                  <c:x val="-3.6638110096655373E-2"/>
                  <c:y val="2.301734565419827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B45-4B45-95B1-96E83FC9DFFC}"/>
                </c:ext>
              </c:extLst>
            </c:dLbl>
            <c:dLbl>
              <c:idx val="2"/>
              <c:layout>
                <c:manualLayout>
                  <c:x val="-3.7684913242274139E-2"/>
                  <c:y val="4.603469130839654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B45-4B45-95B1-96E83FC9DFFC}"/>
                </c:ext>
              </c:extLst>
            </c:dLbl>
            <c:dLbl>
              <c:idx val="3"/>
              <c:layout>
                <c:manualLayout>
                  <c:x val="-3.7684913242274097E-2"/>
                  <c:y val="4.603469130839654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B45-4B45-95B1-96E83FC9DFFC}"/>
                </c:ext>
              </c:extLst>
            </c:dLbl>
            <c:dLbl>
              <c:idx val="4"/>
              <c:layout>
                <c:manualLayout>
                  <c:x val="-4.6377418197691749E-2"/>
                  <c:y val="-4.471889658832274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B45-4B45-95B1-96E83FC9DFFC}"/>
                </c:ext>
              </c:extLst>
            </c:dLbl>
            <c:dLbl>
              <c:idx val="5"/>
              <c:layout>
                <c:manualLayout>
                  <c:x val="-3.2450897514180475E-2"/>
                  <c:y val="4.2197979558036087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B45-4B45-95B1-96E83FC9DFFC}"/>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 18</c:v>
                </c:pt>
                <c:pt idx="1">
                  <c:v>FY 19</c:v>
                </c:pt>
                <c:pt idx="2">
                  <c:v>FY 20</c:v>
                </c:pt>
                <c:pt idx="3">
                  <c:v>FY 21</c:v>
                </c:pt>
                <c:pt idx="4">
                  <c:v>FY 22</c:v>
                </c:pt>
                <c:pt idx="5">
                  <c:v>FY 23</c:v>
                </c:pt>
              </c:strCache>
            </c:strRef>
          </c:cat>
          <c:val>
            <c:numRef>
              <c:f>Sheet1!$B$2:$B$7</c:f>
              <c:numCache>
                <c:formatCode>0.00%</c:formatCode>
                <c:ptCount val="6"/>
                <c:pt idx="0">
                  <c:v>3.0000000000000001E-3</c:v>
                </c:pt>
                <c:pt idx="1">
                  <c:v>4.0000000000000001E-3</c:v>
                </c:pt>
                <c:pt idx="2">
                  <c:v>5.0000000000000001E-3</c:v>
                </c:pt>
                <c:pt idx="3">
                  <c:v>0.03</c:v>
                </c:pt>
                <c:pt idx="4">
                  <c:v>4.4999999999999998E-2</c:v>
                </c:pt>
                <c:pt idx="5">
                  <c:v>0.06</c:v>
                </c:pt>
              </c:numCache>
            </c:numRef>
          </c:val>
          <c:extLst>
            <c:ext xmlns:c16="http://schemas.microsoft.com/office/drawing/2014/chart" uri="{C3380CC4-5D6E-409C-BE32-E72D297353CC}">
              <c16:uniqueId val="{00000006-6B45-4B45-95B1-96E83FC9DFFC}"/>
            </c:ext>
          </c:extLst>
        </c:ser>
        <c:ser>
          <c:idx val="1"/>
          <c:order val="1"/>
          <c:tx>
            <c:strRef>
              <c:f>Sheet1!$C$1</c:f>
              <c:strCache>
                <c:ptCount val="1"/>
                <c:pt idx="0">
                  <c:v>Non-Solar RPO</c:v>
                </c:pt>
              </c:strCache>
            </c:strRef>
          </c:tx>
          <c:spPr>
            <a:solidFill>
              <a:schemeClr val="tx2"/>
            </a:solidFill>
            <a:ln>
              <a:noFill/>
            </a:ln>
            <a:effectLst/>
          </c:spPr>
          <c:invertIfNegative val="0"/>
          <c:dLbls>
            <c:dLbl>
              <c:idx val="0"/>
              <c:layout>
                <c:manualLayout>
                  <c:x val="-6.8267879935613174E-3"/>
                  <c:y val="-9.598134355886729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B45-4B45-95B1-96E83FC9DFFC}"/>
                </c:ext>
              </c:extLst>
            </c:dLbl>
            <c:dLbl>
              <c:idx val="1"/>
              <c:layout>
                <c:manualLayout>
                  <c:x val="-2.6637178826388334E-2"/>
                  <c:y val="-2.288982200459874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6B45-4B45-95B1-96E83FC9DFFC}"/>
                </c:ext>
              </c:extLst>
            </c:dLbl>
            <c:dLbl>
              <c:idx val="2"/>
              <c:layout>
                <c:manualLayout>
                  <c:x val="2.3401010812574181E-3"/>
                  <c:y val="-0.1271200378599075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B45-4B45-95B1-96E83FC9DFFC}"/>
                </c:ext>
              </c:extLst>
            </c:dLbl>
            <c:dLbl>
              <c:idx val="3"/>
              <c:layout>
                <c:manualLayout>
                  <c:x val="-3.1537197757844512E-2"/>
                  <c:y val="-3.01136335474673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B45-4B45-95B1-96E83FC9DFFC}"/>
                </c:ext>
              </c:extLst>
            </c:dLbl>
            <c:dLbl>
              <c:idx val="4"/>
              <c:layout>
                <c:manualLayout>
                  <c:x val="-1.7002464900499649E-2"/>
                  <c:y val="-3.88279983373310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B45-4B45-95B1-96E83FC9DFFC}"/>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 18</c:v>
                </c:pt>
                <c:pt idx="1">
                  <c:v>FY 19</c:v>
                </c:pt>
                <c:pt idx="2">
                  <c:v>FY 20</c:v>
                </c:pt>
                <c:pt idx="3">
                  <c:v>FY 21</c:v>
                </c:pt>
                <c:pt idx="4">
                  <c:v>FY 22</c:v>
                </c:pt>
                <c:pt idx="5">
                  <c:v>FY 23</c:v>
                </c:pt>
              </c:strCache>
            </c:strRef>
          </c:cat>
          <c:val>
            <c:numRef>
              <c:f>Sheet1!$C$2:$C$7</c:f>
              <c:numCache>
                <c:formatCode>0.00%</c:formatCode>
                <c:ptCount val="6"/>
                <c:pt idx="0">
                  <c:v>5.7000000000000002E-2</c:v>
                </c:pt>
                <c:pt idx="1">
                  <c:v>5.7000000000000002E-2</c:v>
                </c:pt>
                <c:pt idx="2">
                  <c:v>5.7000000000000002E-2</c:v>
                </c:pt>
                <c:pt idx="3">
                  <c:v>0.09</c:v>
                </c:pt>
                <c:pt idx="4">
                  <c:v>0.1</c:v>
                </c:pt>
                <c:pt idx="5">
                  <c:v>0.11</c:v>
                </c:pt>
              </c:numCache>
            </c:numRef>
          </c:val>
          <c:extLst>
            <c:ext xmlns:c16="http://schemas.microsoft.com/office/drawing/2014/chart" uri="{C3380CC4-5D6E-409C-BE32-E72D297353CC}">
              <c16:uniqueId val="{0000000B-6B45-4B45-95B1-96E83FC9DFFC}"/>
            </c:ext>
          </c:extLst>
        </c:ser>
        <c:ser>
          <c:idx val="2"/>
          <c:order val="2"/>
          <c:tx>
            <c:strRef>
              <c:f>Sheet1!$D$1</c:f>
              <c:strCache>
                <c:ptCount val="1"/>
                <c:pt idx="0">
                  <c:v>Total RPO</c:v>
                </c:pt>
              </c:strCache>
            </c:strRef>
          </c:tx>
          <c:spPr>
            <a:solidFill>
              <a:schemeClr val="accent3"/>
            </a:solidFill>
            <a:ln>
              <a:noFill/>
            </a:ln>
            <a:effectLst/>
          </c:spPr>
          <c:invertIfNegative val="0"/>
          <c:dLbls>
            <c:dLbl>
              <c:idx val="2"/>
              <c:layout>
                <c:manualLayout>
                  <c:x val="3.9822929962441023E-2"/>
                  <c:y val="1.828216067787944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6B45-4B45-95B1-96E83FC9DFFC}"/>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 18</c:v>
                </c:pt>
                <c:pt idx="1">
                  <c:v>FY 19</c:v>
                </c:pt>
                <c:pt idx="2">
                  <c:v>FY 20</c:v>
                </c:pt>
                <c:pt idx="3">
                  <c:v>FY 21</c:v>
                </c:pt>
                <c:pt idx="4">
                  <c:v>FY 22</c:v>
                </c:pt>
                <c:pt idx="5">
                  <c:v>FY 23</c:v>
                </c:pt>
              </c:strCache>
            </c:strRef>
          </c:cat>
          <c:val>
            <c:numRef>
              <c:f>Sheet1!$D$2:$D$7</c:f>
              <c:numCache>
                <c:formatCode>0.00%</c:formatCode>
                <c:ptCount val="6"/>
                <c:pt idx="0">
                  <c:v>0.06</c:v>
                </c:pt>
                <c:pt idx="1">
                  <c:v>6.0999999999999999E-2</c:v>
                </c:pt>
                <c:pt idx="2">
                  <c:v>6.2E-2</c:v>
                </c:pt>
                <c:pt idx="3">
                  <c:v>0.12</c:v>
                </c:pt>
                <c:pt idx="4">
                  <c:v>0.14499999999999999</c:v>
                </c:pt>
                <c:pt idx="5">
                  <c:v>0.17</c:v>
                </c:pt>
              </c:numCache>
            </c:numRef>
          </c:val>
          <c:extLst>
            <c:ext xmlns:c16="http://schemas.microsoft.com/office/drawing/2014/chart" uri="{C3380CC4-5D6E-409C-BE32-E72D297353CC}">
              <c16:uniqueId val="{0000000D-6B45-4B45-95B1-96E83FC9DFFC}"/>
            </c:ext>
          </c:extLst>
        </c:ser>
        <c:dLbls>
          <c:showLegendKey val="0"/>
          <c:showVal val="0"/>
          <c:showCatName val="0"/>
          <c:showSerName val="0"/>
          <c:showPercent val="0"/>
          <c:showBubbleSize val="0"/>
        </c:dLbls>
        <c:gapWidth val="219"/>
        <c:axId val="144511792"/>
        <c:axId val="144505968"/>
      </c:barChart>
      <c:catAx>
        <c:axId val="144511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44505968"/>
        <c:crosses val="autoZero"/>
        <c:auto val="1"/>
        <c:lblAlgn val="ctr"/>
        <c:lblOffset val="100"/>
        <c:noMultiLvlLbl val="0"/>
      </c:catAx>
      <c:valAx>
        <c:axId val="144505968"/>
        <c:scaling>
          <c:orientation val="minMax"/>
        </c:scaling>
        <c:delete val="1"/>
        <c:axPos val="l"/>
        <c:numFmt formatCode="0.00%" sourceLinked="1"/>
        <c:majorTickMark val="none"/>
        <c:minorTickMark val="none"/>
        <c:tickLblPos val="nextTo"/>
        <c:crossAx val="144511792"/>
        <c:crosses val="autoZero"/>
        <c:crossBetween val="between"/>
      </c:valAx>
      <c:spPr>
        <a:noFill/>
        <a:ln>
          <a:noFill/>
        </a:ln>
        <a:effectLst/>
      </c:spPr>
    </c:plotArea>
    <c:legend>
      <c:legendPos val="b"/>
      <c:layout>
        <c:manualLayout>
          <c:xMode val="edge"/>
          <c:yMode val="edge"/>
          <c:x val="0.34379319096882244"/>
          <c:y val="0.91546586654038298"/>
          <c:w val="0.31005040265954459"/>
          <c:h val="8.2422674197861201E-2"/>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rgbClr val="046A38"/>
      </a:solidFill>
    </a:ln>
    <a:effectLst/>
  </c:spPr>
  <c:txPr>
    <a:bodyPr/>
    <a:lstStyle/>
    <a:p>
      <a:pPr>
        <a:defRPr/>
      </a:pPr>
      <a:endParaRPr lang="en-US"/>
    </a:p>
  </c:txPr>
  <c:externalData r:id="rId4">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sz="1200" b="1" i="0" u="none" strike="noStrike" baseline="0" dirty="0">
                <a:solidFill>
                  <a:schemeClr val="tx1"/>
                </a:solidFill>
                <a:effectLst/>
              </a:rPr>
              <a:t>GUJARAT RPO TARGET TRAJECTORY</a:t>
            </a:r>
            <a:endParaRPr lang="en-US" sz="1200" b="1" dirty="0">
              <a:solidFill>
                <a:schemeClr val="tx1"/>
              </a:solidFill>
            </a:endParaRPr>
          </a:p>
        </c:rich>
      </c:tx>
      <c:layout>
        <c:manualLayout>
          <c:xMode val="edge"/>
          <c:yMode val="edge"/>
          <c:x val="0.35728233291937633"/>
          <c:y val="7.152588364034082E-3"/>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1.26468907920832E-2"/>
          <c:y val="4.7995557510471222E-2"/>
          <c:w val="0.97448759466138768"/>
          <c:h val="0.67046318293326335"/>
        </c:manualLayout>
      </c:layout>
      <c:barChart>
        <c:barDir val="col"/>
        <c:grouping val="clustered"/>
        <c:varyColors val="0"/>
        <c:ser>
          <c:idx val="0"/>
          <c:order val="0"/>
          <c:tx>
            <c:strRef>
              <c:f>Sheet1!$B$1</c:f>
              <c:strCache>
                <c:ptCount val="1"/>
                <c:pt idx="0">
                  <c:v>Solar RPO</c:v>
                </c:pt>
              </c:strCache>
            </c:strRef>
          </c:tx>
          <c:spPr>
            <a:solidFill>
              <a:srgbClr val="FFC000"/>
            </a:solidFill>
            <a:ln>
              <a:noFill/>
            </a:ln>
            <a:effectLst/>
          </c:spPr>
          <c:invertIfNegative val="0"/>
          <c:dLbls>
            <c:dLbl>
              <c:idx val="0"/>
              <c:layout>
                <c:manualLayout>
                  <c:x val="-3.4225682185949166E-2"/>
                  <c:y val="4.801019577793009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E7E-4A84-8EB1-58586BCB083D}"/>
                </c:ext>
              </c:extLst>
            </c:dLbl>
            <c:dLbl>
              <c:idx val="1"/>
              <c:layout>
                <c:manualLayout>
                  <c:x val="-3.6638110096655373E-2"/>
                  <c:y val="2.301734565419827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E7E-4A84-8EB1-58586BCB083D}"/>
                </c:ext>
              </c:extLst>
            </c:dLbl>
            <c:dLbl>
              <c:idx val="2"/>
              <c:layout>
                <c:manualLayout>
                  <c:x val="-3.7684913242274139E-2"/>
                  <c:y val="4.603469130839654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E7E-4A84-8EB1-58586BCB083D}"/>
                </c:ext>
              </c:extLst>
            </c:dLbl>
            <c:dLbl>
              <c:idx val="3"/>
              <c:layout>
                <c:manualLayout>
                  <c:x val="-3.7684913242274097E-2"/>
                  <c:y val="4.603469130839654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E7E-4A84-8EB1-58586BCB083D}"/>
                </c:ext>
              </c:extLst>
            </c:dLbl>
            <c:dLbl>
              <c:idx val="4"/>
              <c:layout>
                <c:manualLayout>
                  <c:x val="-4.6377418197691749E-2"/>
                  <c:y val="-4.471889658832274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E7E-4A84-8EB1-58586BCB083D}"/>
                </c:ext>
              </c:extLst>
            </c:dLbl>
            <c:dLbl>
              <c:idx val="5"/>
              <c:layout>
                <c:manualLayout>
                  <c:x val="-3.2450897514180475E-2"/>
                  <c:y val="4.2197979558036087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E7E-4A84-8EB1-58586BCB083D}"/>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FY 18</c:v>
                </c:pt>
                <c:pt idx="1">
                  <c:v>FY 19</c:v>
                </c:pt>
                <c:pt idx="2">
                  <c:v>FY 20</c:v>
                </c:pt>
                <c:pt idx="3">
                  <c:v>FY 21</c:v>
                </c:pt>
                <c:pt idx="4">
                  <c:v>FY 22</c:v>
                </c:pt>
              </c:strCache>
            </c:strRef>
          </c:cat>
          <c:val>
            <c:numRef>
              <c:f>Sheet1!$B$2:$B$6</c:f>
              <c:numCache>
                <c:formatCode>0.00%</c:formatCode>
                <c:ptCount val="5"/>
                <c:pt idx="0">
                  <c:v>1.7500000000000002E-2</c:v>
                </c:pt>
                <c:pt idx="1">
                  <c:v>4.2500000000000003E-2</c:v>
                </c:pt>
                <c:pt idx="2">
                  <c:v>5.5E-2</c:v>
                </c:pt>
                <c:pt idx="3">
                  <c:v>6.7500000000000004E-2</c:v>
                </c:pt>
                <c:pt idx="4">
                  <c:v>0.08</c:v>
                </c:pt>
              </c:numCache>
            </c:numRef>
          </c:val>
          <c:extLst>
            <c:ext xmlns:c16="http://schemas.microsoft.com/office/drawing/2014/chart" uri="{C3380CC4-5D6E-409C-BE32-E72D297353CC}">
              <c16:uniqueId val="{00000006-6E7E-4A84-8EB1-58586BCB083D}"/>
            </c:ext>
          </c:extLst>
        </c:ser>
        <c:ser>
          <c:idx val="1"/>
          <c:order val="1"/>
          <c:tx>
            <c:strRef>
              <c:f>Sheet1!$C$1</c:f>
              <c:strCache>
                <c:ptCount val="1"/>
                <c:pt idx="0">
                  <c:v>Non-Solar RPO</c:v>
                </c:pt>
              </c:strCache>
            </c:strRef>
          </c:tx>
          <c:spPr>
            <a:solidFill>
              <a:schemeClr val="tx2"/>
            </a:solidFill>
            <a:ln>
              <a:noFill/>
            </a:ln>
            <a:effectLst/>
          </c:spPr>
          <c:invertIfNegative val="0"/>
          <c:dLbls>
            <c:dLbl>
              <c:idx val="0"/>
              <c:layout>
                <c:manualLayout>
                  <c:x val="-6.8267879935613174E-3"/>
                  <c:y val="-9.598134355886729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E7E-4A84-8EB1-58586BCB083D}"/>
                </c:ext>
              </c:extLst>
            </c:dLbl>
            <c:dLbl>
              <c:idx val="2"/>
              <c:layout>
                <c:manualLayout>
                  <c:x val="-1.5540231984196892E-2"/>
                  <c:y val="-5.559419705437265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E7E-4A84-8EB1-58586BCB083D}"/>
                </c:ext>
              </c:extLst>
            </c:dLbl>
            <c:dLbl>
              <c:idx val="3"/>
              <c:layout>
                <c:manualLayout>
                  <c:x val="-8.3744251649497999E-3"/>
                  <c:y val="-6.44485678317551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E7E-4A84-8EB1-58586BCB083D}"/>
                </c:ext>
              </c:extLst>
            </c:dLbl>
            <c:dLbl>
              <c:idx val="4"/>
              <c:layout>
                <c:manualLayout>
                  <c:x val="-1.7002464900499649E-2"/>
                  <c:y val="-3.88279983373310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E7E-4A84-8EB1-58586BCB083D}"/>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FY 18</c:v>
                </c:pt>
                <c:pt idx="1">
                  <c:v>FY 19</c:v>
                </c:pt>
                <c:pt idx="2">
                  <c:v>FY 20</c:v>
                </c:pt>
                <c:pt idx="3">
                  <c:v>FY 21</c:v>
                </c:pt>
                <c:pt idx="4">
                  <c:v>FY 22</c:v>
                </c:pt>
              </c:strCache>
            </c:strRef>
          </c:cat>
          <c:val>
            <c:numRef>
              <c:f>Sheet1!$C$2:$C$6</c:f>
              <c:numCache>
                <c:formatCode>0.00%</c:formatCode>
                <c:ptCount val="5"/>
                <c:pt idx="0">
                  <c:v>8.2500000000000004E-2</c:v>
                </c:pt>
                <c:pt idx="1">
                  <c:v>8.4500000000000006E-2</c:v>
                </c:pt>
                <c:pt idx="2">
                  <c:v>8.7999999999999995E-2</c:v>
                </c:pt>
                <c:pt idx="3">
                  <c:v>8.8999999999999996E-2</c:v>
                </c:pt>
                <c:pt idx="4">
                  <c:v>0.09</c:v>
                </c:pt>
              </c:numCache>
            </c:numRef>
          </c:val>
          <c:extLst>
            <c:ext xmlns:c16="http://schemas.microsoft.com/office/drawing/2014/chart" uri="{C3380CC4-5D6E-409C-BE32-E72D297353CC}">
              <c16:uniqueId val="{0000000B-6E7E-4A84-8EB1-58586BCB083D}"/>
            </c:ext>
          </c:extLst>
        </c:ser>
        <c:ser>
          <c:idx val="2"/>
          <c:order val="2"/>
          <c:tx>
            <c:strRef>
              <c:f>Sheet1!$D$1</c:f>
              <c:strCache>
                <c:ptCount val="1"/>
                <c:pt idx="0">
                  <c:v>Total RPO</c:v>
                </c:pt>
              </c:strCache>
            </c:strRef>
          </c:tx>
          <c:spPr>
            <a:solidFill>
              <a:schemeClr val="accent3"/>
            </a:solidFill>
            <a:ln>
              <a:noFill/>
            </a:ln>
            <a:effectLst/>
          </c:spPr>
          <c:invertIfNegative val="0"/>
          <c:dLbls>
            <c:dLbl>
              <c:idx val="0"/>
              <c:layout>
                <c:manualLayout>
                  <c:x val="2.0434706135952944E-2"/>
                  <c:y val="-7.15258836403411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5B8-4A71-BEAF-DCFE1CB6929A}"/>
                </c:ext>
              </c:extLst>
            </c:dLbl>
            <c:dLbl>
              <c:idx val="2"/>
              <c:layout>
                <c:manualLayout>
                  <c:x val="-1.277169133497059E-3"/>
                  <c:y val="5.006811854823857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6E7E-4A84-8EB1-58586BCB083D}"/>
                </c:ext>
              </c:extLst>
            </c:dLbl>
            <c:dLbl>
              <c:idx val="3"/>
              <c:layout>
                <c:manualLayout>
                  <c:x val="5.874978014086462E-2"/>
                  <c:y val="5.621709175757118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5B8-4A71-BEAF-DCFE1CB6929A}"/>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FY 18</c:v>
                </c:pt>
                <c:pt idx="1">
                  <c:v>FY 19</c:v>
                </c:pt>
                <c:pt idx="2">
                  <c:v>FY 20</c:v>
                </c:pt>
                <c:pt idx="3">
                  <c:v>FY 21</c:v>
                </c:pt>
                <c:pt idx="4">
                  <c:v>FY 22</c:v>
                </c:pt>
              </c:strCache>
            </c:strRef>
          </c:cat>
          <c:val>
            <c:numRef>
              <c:f>Sheet1!$D$2:$D$6</c:f>
              <c:numCache>
                <c:formatCode>0.00%</c:formatCode>
                <c:ptCount val="5"/>
                <c:pt idx="0">
                  <c:v>0.1</c:v>
                </c:pt>
                <c:pt idx="1">
                  <c:v>0.127</c:v>
                </c:pt>
                <c:pt idx="2">
                  <c:v>0.14299999999999999</c:v>
                </c:pt>
                <c:pt idx="3">
                  <c:v>0.1565</c:v>
                </c:pt>
                <c:pt idx="4">
                  <c:v>0.17</c:v>
                </c:pt>
              </c:numCache>
            </c:numRef>
          </c:val>
          <c:extLst>
            <c:ext xmlns:c16="http://schemas.microsoft.com/office/drawing/2014/chart" uri="{C3380CC4-5D6E-409C-BE32-E72D297353CC}">
              <c16:uniqueId val="{0000000D-6E7E-4A84-8EB1-58586BCB083D}"/>
            </c:ext>
          </c:extLst>
        </c:ser>
        <c:dLbls>
          <c:showLegendKey val="0"/>
          <c:showVal val="0"/>
          <c:showCatName val="0"/>
          <c:showSerName val="0"/>
          <c:showPercent val="0"/>
          <c:showBubbleSize val="0"/>
        </c:dLbls>
        <c:gapWidth val="219"/>
        <c:axId val="144511792"/>
        <c:axId val="144505968"/>
      </c:barChart>
      <c:catAx>
        <c:axId val="144511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44505968"/>
        <c:crosses val="autoZero"/>
        <c:auto val="1"/>
        <c:lblAlgn val="ctr"/>
        <c:lblOffset val="100"/>
        <c:noMultiLvlLbl val="0"/>
      </c:catAx>
      <c:valAx>
        <c:axId val="144505968"/>
        <c:scaling>
          <c:orientation val="minMax"/>
        </c:scaling>
        <c:delete val="1"/>
        <c:axPos val="l"/>
        <c:numFmt formatCode="0.00%" sourceLinked="1"/>
        <c:majorTickMark val="none"/>
        <c:minorTickMark val="none"/>
        <c:tickLblPos val="nextTo"/>
        <c:crossAx val="144511792"/>
        <c:crosses val="autoZero"/>
        <c:crossBetween val="between"/>
      </c:valAx>
      <c:spPr>
        <a:noFill/>
        <a:ln>
          <a:noFill/>
        </a:ln>
        <a:effectLst/>
      </c:spPr>
    </c:plotArea>
    <c:legend>
      <c:legendPos val="b"/>
      <c:layout>
        <c:manualLayout>
          <c:xMode val="edge"/>
          <c:yMode val="edge"/>
          <c:x val="0.34379319096882244"/>
          <c:y val="0.91546586654038298"/>
          <c:w val="0.31005040265954459"/>
          <c:h val="8.2422674197861201E-2"/>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rgbClr val="046A38"/>
      </a:solidFill>
    </a:ln>
    <a:effectLst/>
  </c:spPr>
  <c:txPr>
    <a:bodyPr/>
    <a:lstStyle/>
    <a:p>
      <a:pPr>
        <a:defRPr/>
      </a:pPr>
      <a:endParaRPr lang="en-US"/>
    </a:p>
  </c:txPr>
  <c:externalData r:id="rId4">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b="1" i="0" u="none" strike="noStrike" baseline="0" dirty="0">
                <a:effectLst/>
              </a:rPr>
              <a:t>Industrial and Commercial Tariffs for Karnataka as per KERC BESCOM Tariff Order FY 2020-21*</a:t>
            </a:r>
            <a:endParaRPr lang="en-US" sz="1400" b="1" dirty="0"/>
          </a:p>
        </c:rich>
      </c:tx>
      <c:layout>
        <c:manualLayout>
          <c:xMode val="edge"/>
          <c:yMode val="edge"/>
          <c:x val="0.10001313195265818"/>
          <c:y val="1.195935701976589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4"/>
            <c:invertIfNegative val="0"/>
            <c:bubble3D val="0"/>
            <c:spPr>
              <a:solidFill>
                <a:srgbClr val="004F59"/>
              </a:solidFill>
              <a:ln>
                <a:noFill/>
              </a:ln>
              <a:effectLst/>
            </c:spPr>
            <c:extLst>
              <c:ext xmlns:c16="http://schemas.microsoft.com/office/drawing/2014/chart" uri="{C3380CC4-5D6E-409C-BE32-E72D297353CC}">
                <c16:uniqueId val="{00000004-D8A4-40D7-8F96-1331F64DE251}"/>
              </c:ext>
            </c:extLst>
          </c:dPt>
          <c:dPt>
            <c:idx val="5"/>
            <c:invertIfNegative val="0"/>
            <c:bubble3D val="0"/>
            <c:spPr>
              <a:solidFill>
                <a:srgbClr val="004F59"/>
              </a:solidFill>
              <a:ln>
                <a:noFill/>
              </a:ln>
              <a:effectLst/>
            </c:spPr>
            <c:extLst>
              <c:ext xmlns:c16="http://schemas.microsoft.com/office/drawing/2014/chart" uri="{C3380CC4-5D6E-409C-BE32-E72D297353CC}">
                <c16:uniqueId val="{00000005-D8A4-40D7-8F96-1331F64DE251}"/>
              </c:ext>
            </c:extLst>
          </c:dPt>
          <c:dPt>
            <c:idx val="6"/>
            <c:invertIfNegative val="0"/>
            <c:bubble3D val="0"/>
            <c:spPr>
              <a:solidFill>
                <a:srgbClr val="004F59"/>
              </a:solidFill>
              <a:ln>
                <a:noFill/>
              </a:ln>
              <a:effectLst/>
            </c:spPr>
            <c:extLst>
              <c:ext xmlns:c16="http://schemas.microsoft.com/office/drawing/2014/chart" uri="{C3380CC4-5D6E-409C-BE32-E72D297353CC}">
                <c16:uniqueId val="{00000006-D8A4-40D7-8F96-1331F64DE251}"/>
              </c:ext>
            </c:extLst>
          </c:dPt>
          <c:dPt>
            <c:idx val="7"/>
            <c:invertIfNegative val="0"/>
            <c:bubble3D val="0"/>
            <c:spPr>
              <a:solidFill>
                <a:srgbClr val="004F59"/>
              </a:solidFill>
              <a:ln>
                <a:noFill/>
              </a:ln>
              <a:effectLst/>
            </c:spPr>
            <c:extLst>
              <c:ext xmlns:c16="http://schemas.microsoft.com/office/drawing/2014/chart" uri="{C3380CC4-5D6E-409C-BE32-E72D297353CC}">
                <c16:uniqueId val="{00000007-D8A4-40D7-8F96-1331F64DE251}"/>
              </c:ext>
            </c:extLst>
          </c:dPt>
          <c:dLbls>
            <c:dLbl>
              <c:idx val="4"/>
              <c:spPr>
                <a:solidFill>
                  <a:schemeClr val="accent6">
                    <a:lumMod val="60000"/>
                    <a:lumOff val="40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4-D8A4-40D7-8F96-1331F64DE251}"/>
                </c:ext>
              </c:extLst>
            </c:dLbl>
            <c:dLbl>
              <c:idx val="5"/>
              <c:spPr>
                <a:solidFill>
                  <a:schemeClr val="accent6">
                    <a:lumMod val="60000"/>
                    <a:lumOff val="40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5-D8A4-40D7-8F96-1331F64DE251}"/>
                </c:ext>
              </c:extLst>
            </c:dLbl>
            <c:dLbl>
              <c:idx val="6"/>
              <c:spPr>
                <a:solidFill>
                  <a:schemeClr val="accent6">
                    <a:lumMod val="60000"/>
                    <a:lumOff val="40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6-D8A4-40D7-8F96-1331F64DE251}"/>
                </c:ext>
              </c:extLst>
            </c:dLbl>
            <c:dLbl>
              <c:idx val="7"/>
              <c:spPr>
                <a:solidFill>
                  <a:schemeClr val="accent6">
                    <a:lumMod val="60000"/>
                    <a:lumOff val="40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7-D8A4-40D7-8F96-1331F64DE251}"/>
                </c:ext>
              </c:extLst>
            </c:dLbl>
            <c:spPr>
              <a:solidFill>
                <a:schemeClr val="accent3"/>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HT Industrial: Applicable to Areas under Bruhat Bangalore Mahanagara Palike and Municipal Corporations (0-1 Lakh Units)</c:v>
                </c:pt>
                <c:pt idx="1">
                  <c:v>HT Industrial: Applicable to Areas under Bruhat Bangalore Mahanagara Palike and Municipal Corporations (&gt;1 Lakh Units)</c:v>
                </c:pt>
                <c:pt idx="2">
                  <c:v>HT Industrial: Applicable to remaining areas (except BMRCL) (0-1 Lakh Units)</c:v>
                </c:pt>
                <c:pt idx="3">
                  <c:v>HT Industrial: Applicable to remaining areas (except BMRCL) (&gt;1 Lakh Units)</c:v>
                </c:pt>
                <c:pt idx="4">
                  <c:v>HT Commercial Areas under Bruhat Bangalore Mahanagara Palike and Municipal Corporations. (0-2 Lakh Units)</c:v>
                </c:pt>
                <c:pt idx="5">
                  <c:v>HT Commercial Areas under Bruhat Bangalore Mahanagara Palike and Municipal Corporations. (&gt;2 Lakh Units)</c:v>
                </c:pt>
                <c:pt idx="6">
                  <c:v>HT Commercial for remaining Areas  (0-2 Lakh Units)</c:v>
                </c:pt>
                <c:pt idx="7">
                  <c:v>HT Commercial for remaining Areas  (&gt;2 Lakh Units)</c:v>
                </c:pt>
              </c:strCache>
            </c:strRef>
          </c:cat>
          <c:val>
            <c:numRef>
              <c:f>Sheet1!$B$2:$B$9</c:f>
              <c:numCache>
                <c:formatCode>0.00</c:formatCode>
                <c:ptCount val="8"/>
                <c:pt idx="0">
                  <c:v>7.8584967320261443</c:v>
                </c:pt>
                <c:pt idx="1">
                  <c:v>8.1584967320261441</c:v>
                </c:pt>
                <c:pt idx="2">
                  <c:v>7.7421568627450981</c:v>
                </c:pt>
                <c:pt idx="3">
                  <c:v>7.9421568627450982</c:v>
                </c:pt>
                <c:pt idx="4">
                  <c:v>9.6911764705882355</c:v>
                </c:pt>
                <c:pt idx="5">
                  <c:v>9.7911764705882351</c:v>
                </c:pt>
                <c:pt idx="6">
                  <c:v>9.4748366013071905</c:v>
                </c:pt>
                <c:pt idx="7">
                  <c:v>9.5748366013071902</c:v>
                </c:pt>
              </c:numCache>
            </c:numRef>
          </c:val>
          <c:extLst>
            <c:ext xmlns:c16="http://schemas.microsoft.com/office/drawing/2014/chart" uri="{C3380CC4-5D6E-409C-BE32-E72D297353CC}">
              <c16:uniqueId val="{00000000-D8A4-40D7-8F96-1331F64DE251}"/>
            </c:ext>
          </c:extLst>
        </c:ser>
        <c:dLbls>
          <c:showLegendKey val="0"/>
          <c:showVal val="0"/>
          <c:showCatName val="0"/>
          <c:showSerName val="0"/>
          <c:showPercent val="0"/>
          <c:showBubbleSize val="0"/>
        </c:dLbls>
        <c:gapWidth val="219"/>
        <c:overlap val="-27"/>
        <c:axId val="1231903296"/>
        <c:axId val="1231904960"/>
      </c:barChart>
      <c:catAx>
        <c:axId val="12319032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1904960"/>
        <c:crosses val="autoZero"/>
        <c:auto val="1"/>
        <c:lblAlgn val="ctr"/>
        <c:lblOffset val="100"/>
        <c:noMultiLvlLbl val="0"/>
      </c:catAx>
      <c:valAx>
        <c:axId val="1231904960"/>
        <c:scaling>
          <c:orientation val="minMax"/>
        </c:scaling>
        <c:delete val="1"/>
        <c:axPos val="l"/>
        <c:numFmt formatCode="0.00" sourceLinked="1"/>
        <c:majorTickMark val="none"/>
        <c:minorTickMark val="none"/>
        <c:tickLblPos val="nextTo"/>
        <c:crossAx val="123190329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2.0101430231421656E-2"/>
          <c:w val="1"/>
          <c:h val="0.65190692525092198"/>
        </c:manualLayout>
      </c:layout>
      <c:barChart>
        <c:barDir val="col"/>
        <c:grouping val="clustered"/>
        <c:varyColors val="0"/>
        <c:ser>
          <c:idx val="0"/>
          <c:order val="0"/>
          <c:tx>
            <c:strRef>
              <c:f>Sheet1!$B$1</c:f>
              <c:strCache>
                <c:ptCount val="1"/>
                <c:pt idx="0">
                  <c:v>Billing Efficiency (%)</c:v>
                </c:pt>
              </c:strCache>
            </c:strRef>
          </c:tx>
          <c:spPr>
            <a:solidFill>
              <a:srgbClr val="0076A8"/>
            </a:solidFill>
            <a:ln>
              <a:noFill/>
            </a:ln>
            <a:effectLst/>
          </c:spPr>
          <c:invertIfNegative val="0"/>
          <c:dLbls>
            <c:spPr>
              <a:noFill/>
              <a:ln>
                <a:noFill/>
              </a:ln>
              <a:effectLst/>
            </c:spPr>
            <c:txPr>
              <a:bodyPr rot="5400000" spcFirstLastPara="1" vertOverflow="ellipsis" wrap="square" anchor="ctr" anchorCtr="1"/>
              <a:lstStyle/>
              <a:p>
                <a:pPr>
                  <a:defRPr sz="1197"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FY 16</c:v>
                </c:pt>
                <c:pt idx="1">
                  <c:v>FY 17</c:v>
                </c:pt>
                <c:pt idx="2">
                  <c:v>FY 18</c:v>
                </c:pt>
                <c:pt idx="3">
                  <c:v>FY 19</c:v>
                </c:pt>
                <c:pt idx="4">
                  <c:v>FY 20</c:v>
                </c:pt>
                <c:pt idx="5">
                  <c:v>FY 21</c:v>
                </c:pt>
                <c:pt idx="6">
                  <c:v>FY 22</c:v>
                </c:pt>
              </c:strCache>
            </c:strRef>
          </c:cat>
          <c:val>
            <c:numRef>
              <c:f>Sheet1!$B$2:$B$8</c:f>
              <c:numCache>
                <c:formatCode>0.00%</c:formatCode>
                <c:ptCount val="7"/>
                <c:pt idx="0">
                  <c:v>0.72260000000000002</c:v>
                </c:pt>
                <c:pt idx="1">
                  <c:v>0.7198</c:v>
                </c:pt>
                <c:pt idx="2">
                  <c:v>0.73360000000000003</c:v>
                </c:pt>
                <c:pt idx="3">
                  <c:v>0.77039999999999997</c:v>
                </c:pt>
                <c:pt idx="4">
                  <c:v>0.81430000000000002</c:v>
                </c:pt>
                <c:pt idx="5">
                  <c:v>0.79020000000000001</c:v>
                </c:pt>
                <c:pt idx="6">
                  <c:v>0.84830000000000005</c:v>
                </c:pt>
              </c:numCache>
            </c:numRef>
          </c:val>
          <c:extLst>
            <c:ext xmlns:c16="http://schemas.microsoft.com/office/drawing/2014/chart" uri="{C3380CC4-5D6E-409C-BE32-E72D297353CC}">
              <c16:uniqueId val="{00000000-AB33-4014-A2F1-84816339582E}"/>
            </c:ext>
          </c:extLst>
        </c:ser>
        <c:ser>
          <c:idx val="1"/>
          <c:order val="1"/>
          <c:tx>
            <c:strRef>
              <c:f>Sheet1!$C$1</c:f>
              <c:strCache>
                <c:ptCount val="1"/>
                <c:pt idx="0">
                  <c:v>Collection Efficiency (%)</c:v>
                </c:pt>
              </c:strCache>
            </c:strRef>
          </c:tx>
          <c:spPr>
            <a:solidFill>
              <a:schemeClr val="accent2"/>
            </a:solidFill>
            <a:ln>
              <a:noFill/>
            </a:ln>
            <a:effectLst/>
          </c:spPr>
          <c:invertIfNegative val="0"/>
          <c:dLbls>
            <c:spPr>
              <a:noFill/>
              <a:ln>
                <a:noFill/>
              </a:ln>
              <a:effectLst/>
            </c:spPr>
            <c:txPr>
              <a:bodyPr rot="5400000" spcFirstLastPara="1" vertOverflow="ellipsis" wrap="square" anchor="ctr" anchorCtr="1"/>
              <a:lstStyle/>
              <a:p>
                <a:pPr>
                  <a:defRPr sz="1197"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FY 16</c:v>
                </c:pt>
                <c:pt idx="1">
                  <c:v>FY 17</c:v>
                </c:pt>
                <c:pt idx="2">
                  <c:v>FY 18</c:v>
                </c:pt>
                <c:pt idx="3">
                  <c:v>FY 19</c:v>
                </c:pt>
                <c:pt idx="4">
                  <c:v>FY 20</c:v>
                </c:pt>
                <c:pt idx="5">
                  <c:v>FY 21</c:v>
                </c:pt>
                <c:pt idx="6">
                  <c:v>FY 22</c:v>
                </c:pt>
              </c:strCache>
            </c:strRef>
          </c:cat>
          <c:val>
            <c:numRef>
              <c:f>Sheet1!$C$2:$C$8</c:f>
              <c:numCache>
                <c:formatCode>0.00%</c:formatCode>
                <c:ptCount val="7"/>
                <c:pt idx="0">
                  <c:v>0.9709382784389704</c:v>
                </c:pt>
                <c:pt idx="1">
                  <c:v>0.97082522923034176</c:v>
                </c:pt>
                <c:pt idx="2">
                  <c:v>0.9905917643850557</c:v>
                </c:pt>
                <c:pt idx="3">
                  <c:v>1</c:v>
                </c:pt>
                <c:pt idx="4">
                  <c:v>0.98119999999999996</c:v>
                </c:pt>
                <c:pt idx="5">
                  <c:v>0.99539999999999995</c:v>
                </c:pt>
                <c:pt idx="6">
                  <c:v>0.98250000000000004</c:v>
                </c:pt>
              </c:numCache>
            </c:numRef>
          </c:val>
          <c:extLst>
            <c:ext xmlns:c16="http://schemas.microsoft.com/office/drawing/2014/chart" uri="{C3380CC4-5D6E-409C-BE32-E72D297353CC}">
              <c16:uniqueId val="{00000001-AB33-4014-A2F1-84816339582E}"/>
            </c:ext>
          </c:extLst>
        </c:ser>
        <c:dLbls>
          <c:showLegendKey val="0"/>
          <c:showVal val="0"/>
          <c:showCatName val="0"/>
          <c:showSerName val="0"/>
          <c:showPercent val="0"/>
          <c:showBubbleSize val="0"/>
        </c:dLbls>
        <c:gapWidth val="219"/>
        <c:overlap val="-27"/>
        <c:axId val="1795916080"/>
        <c:axId val="1795924400"/>
      </c:barChart>
      <c:catAx>
        <c:axId val="1795916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dk1"/>
                </a:solidFill>
                <a:latin typeface="Calibri" panose="020F0502020204030204" pitchFamily="34" charset="0"/>
                <a:ea typeface="+mn-ea"/>
                <a:cs typeface="Calibri" panose="020F0502020204030204" pitchFamily="34" charset="0"/>
              </a:defRPr>
            </a:pPr>
            <a:endParaRPr lang="en-US"/>
          </a:p>
        </c:txPr>
        <c:crossAx val="1795924400"/>
        <c:crosses val="autoZero"/>
        <c:auto val="1"/>
        <c:lblAlgn val="ctr"/>
        <c:lblOffset val="100"/>
        <c:noMultiLvlLbl val="0"/>
      </c:catAx>
      <c:valAx>
        <c:axId val="1795924400"/>
        <c:scaling>
          <c:orientation val="minMax"/>
          <c:max val="1"/>
        </c:scaling>
        <c:delete val="1"/>
        <c:axPos val="l"/>
        <c:numFmt formatCode="0.00%" sourceLinked="1"/>
        <c:majorTickMark val="none"/>
        <c:minorTickMark val="none"/>
        <c:tickLblPos val="nextTo"/>
        <c:crossAx val="1795916080"/>
        <c:crosses val="autoZero"/>
        <c:crossBetween val="between"/>
      </c:valAx>
      <c:spPr>
        <a:noFill/>
        <a:ln>
          <a:solidFill>
            <a:schemeClr val="bg1"/>
          </a:solidFill>
        </a:ln>
        <a:effectLst/>
      </c:spPr>
    </c:plotArea>
    <c:legend>
      <c:legendPos val="b"/>
      <c:layout>
        <c:manualLayout>
          <c:xMode val="edge"/>
          <c:yMode val="edge"/>
          <c:x val="0"/>
          <c:y val="0.85027215663035949"/>
          <c:w val="0.99948022692823923"/>
          <c:h val="0.1497275651952914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dk1"/>
              </a:solidFill>
              <a:latin typeface="Calibri" panose="020F0502020204030204" pitchFamily="34" charset="0"/>
              <a:ea typeface="+mn-ea"/>
              <a:cs typeface="Calibri" panose="020F050202020403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3175" cap="flat" cmpd="sng" algn="ctr">
      <a:solidFill>
        <a:srgbClr val="046A38"/>
      </a:solidFill>
      <a:prstDash val="solid"/>
    </a:ln>
    <a:effectLst/>
  </c:spPr>
  <c:txPr>
    <a:bodyPr/>
    <a:lstStyle/>
    <a:p>
      <a:pPr>
        <a:defRPr>
          <a:solidFill>
            <a:schemeClr val="dk1"/>
          </a:solidFill>
          <a:latin typeface="+mn-lt"/>
          <a:ea typeface="+mn-ea"/>
          <a:cs typeface="+mn-cs"/>
        </a:defRPr>
      </a:pPr>
      <a:endParaRPr lang="en-US"/>
    </a:p>
  </c:txPr>
  <c:externalData r:id="rId3">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4.8134613842710436E-3"/>
          <c:w val="1"/>
          <c:h val="0.66059137337429563"/>
        </c:manualLayout>
      </c:layout>
      <c:barChart>
        <c:barDir val="col"/>
        <c:grouping val="clustered"/>
        <c:varyColors val="0"/>
        <c:ser>
          <c:idx val="0"/>
          <c:order val="0"/>
          <c:tx>
            <c:strRef>
              <c:f>Sheet1!$B$1</c:f>
              <c:strCache>
                <c:ptCount val="1"/>
                <c:pt idx="0">
                  <c:v>Distribution Loss (%)</c:v>
                </c:pt>
              </c:strCache>
            </c:strRef>
          </c:tx>
          <c:spPr>
            <a:solidFill>
              <a:srgbClr val="0076A8"/>
            </a:solidFill>
            <a:ln>
              <a:noFill/>
            </a:ln>
            <a:effectLst/>
          </c:spPr>
          <c:invertIfNegative val="0"/>
          <c:dLbls>
            <c:spPr>
              <a:noFill/>
              <a:ln>
                <a:noFill/>
              </a:ln>
              <a:effectLst/>
            </c:spPr>
            <c:txPr>
              <a:bodyPr rot="5400000" spcFirstLastPara="1" vertOverflow="ellipsis" wrap="square" anchor="ctr" anchorCtr="1"/>
              <a:lstStyle/>
              <a:p>
                <a:pPr>
                  <a:defRPr sz="12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FY 16</c:v>
                </c:pt>
                <c:pt idx="1">
                  <c:v>FY 17</c:v>
                </c:pt>
                <c:pt idx="2">
                  <c:v>FY 18</c:v>
                </c:pt>
                <c:pt idx="3">
                  <c:v>FY 19</c:v>
                </c:pt>
                <c:pt idx="4">
                  <c:v>FY 20</c:v>
                </c:pt>
                <c:pt idx="5">
                  <c:v>FY 21</c:v>
                </c:pt>
                <c:pt idx="6">
                  <c:v>FY 22</c:v>
                </c:pt>
              </c:strCache>
            </c:strRef>
          </c:cat>
          <c:val>
            <c:numRef>
              <c:f>Sheet1!$B$2:$B$8</c:f>
              <c:numCache>
                <c:formatCode>0.00%</c:formatCode>
                <c:ptCount val="7"/>
                <c:pt idx="0">
                  <c:v>0.27739999999999998</c:v>
                </c:pt>
                <c:pt idx="1">
                  <c:v>0.2802</c:v>
                </c:pt>
                <c:pt idx="2">
                  <c:v>0.2666</c:v>
                </c:pt>
                <c:pt idx="3">
                  <c:v>0.22969999999999999</c:v>
                </c:pt>
                <c:pt idx="4">
                  <c:v>0.18479999999999999</c:v>
                </c:pt>
                <c:pt idx="5">
                  <c:v>0.2089</c:v>
                </c:pt>
              </c:numCache>
            </c:numRef>
          </c:val>
          <c:extLst>
            <c:ext xmlns:c16="http://schemas.microsoft.com/office/drawing/2014/chart" uri="{C3380CC4-5D6E-409C-BE32-E72D297353CC}">
              <c16:uniqueId val="{00000001-9B21-4175-B3C9-6A89441CE571}"/>
            </c:ext>
          </c:extLst>
        </c:ser>
        <c:ser>
          <c:idx val="1"/>
          <c:order val="1"/>
          <c:tx>
            <c:strRef>
              <c:f>Sheet1!$C$1</c:f>
              <c:strCache>
                <c:ptCount val="1"/>
                <c:pt idx="0">
                  <c:v>AT&amp;C Loss (%)</c:v>
                </c:pt>
              </c:strCache>
            </c:strRef>
          </c:tx>
          <c:spPr>
            <a:solidFill>
              <a:schemeClr val="accent2"/>
            </a:solidFill>
            <a:ln>
              <a:noFill/>
            </a:ln>
            <a:effectLst/>
          </c:spPr>
          <c:invertIfNegative val="0"/>
          <c:dLbls>
            <c:spPr>
              <a:noFill/>
              <a:ln>
                <a:noFill/>
              </a:ln>
              <a:effectLst/>
            </c:spPr>
            <c:txPr>
              <a:bodyPr rot="5400000" spcFirstLastPara="1" vertOverflow="ellipsis" wrap="square" anchor="ctr" anchorCtr="1"/>
              <a:lstStyle/>
              <a:p>
                <a:pPr>
                  <a:defRPr sz="12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FY 16</c:v>
                </c:pt>
                <c:pt idx="1">
                  <c:v>FY 17</c:v>
                </c:pt>
                <c:pt idx="2">
                  <c:v>FY 18</c:v>
                </c:pt>
                <c:pt idx="3">
                  <c:v>FY 19</c:v>
                </c:pt>
                <c:pt idx="4">
                  <c:v>FY 20</c:v>
                </c:pt>
                <c:pt idx="5">
                  <c:v>FY 21</c:v>
                </c:pt>
                <c:pt idx="6">
                  <c:v>FY 22</c:v>
                </c:pt>
              </c:strCache>
            </c:strRef>
          </c:cat>
          <c:val>
            <c:numRef>
              <c:f>Sheet1!$C$2:$C$8</c:f>
              <c:numCache>
                <c:formatCode>0.00%</c:formatCode>
                <c:ptCount val="7"/>
                <c:pt idx="0">
                  <c:v>0.2984</c:v>
                </c:pt>
                <c:pt idx="1">
                  <c:v>0.30120000000000002</c:v>
                </c:pt>
                <c:pt idx="2">
                  <c:v>0.27350000000000002</c:v>
                </c:pt>
                <c:pt idx="3">
                  <c:v>0.22969999999999999</c:v>
                </c:pt>
                <c:pt idx="4">
                  <c:v>0.20100000000000001</c:v>
                </c:pt>
                <c:pt idx="5">
                  <c:v>0.2135</c:v>
                </c:pt>
                <c:pt idx="6">
                  <c:v>0.2</c:v>
                </c:pt>
              </c:numCache>
            </c:numRef>
          </c:val>
          <c:extLst>
            <c:ext xmlns:c16="http://schemas.microsoft.com/office/drawing/2014/chart" uri="{C3380CC4-5D6E-409C-BE32-E72D297353CC}">
              <c16:uniqueId val="{00000003-9B21-4175-B3C9-6A89441CE571}"/>
            </c:ext>
          </c:extLst>
        </c:ser>
        <c:dLbls>
          <c:showLegendKey val="0"/>
          <c:showVal val="0"/>
          <c:showCatName val="0"/>
          <c:showSerName val="0"/>
          <c:showPercent val="0"/>
          <c:showBubbleSize val="0"/>
        </c:dLbls>
        <c:gapWidth val="219"/>
        <c:overlap val="-27"/>
        <c:axId val="1795916080"/>
        <c:axId val="1795924400"/>
      </c:barChart>
      <c:catAx>
        <c:axId val="1795916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dk1"/>
                </a:solidFill>
                <a:latin typeface="+mn-lt"/>
                <a:ea typeface="+mn-ea"/>
                <a:cs typeface="+mn-cs"/>
              </a:defRPr>
            </a:pPr>
            <a:endParaRPr lang="en-US"/>
          </a:p>
        </c:txPr>
        <c:crossAx val="1795924400"/>
        <c:crosses val="autoZero"/>
        <c:auto val="1"/>
        <c:lblAlgn val="ctr"/>
        <c:lblOffset val="100"/>
        <c:noMultiLvlLbl val="0"/>
      </c:catAx>
      <c:valAx>
        <c:axId val="1795924400"/>
        <c:scaling>
          <c:orientation val="minMax"/>
          <c:max val="0.30000000000000004"/>
        </c:scaling>
        <c:delete val="1"/>
        <c:axPos val="l"/>
        <c:numFmt formatCode="0.00%" sourceLinked="1"/>
        <c:majorTickMark val="none"/>
        <c:minorTickMark val="none"/>
        <c:tickLblPos val="nextTo"/>
        <c:crossAx val="1795916080"/>
        <c:crosses val="autoZero"/>
        <c:crossBetween val="between"/>
      </c:valAx>
      <c:spPr>
        <a:noFill/>
        <a:ln>
          <a:noFill/>
        </a:ln>
        <a:effectLst/>
      </c:spPr>
    </c:plotArea>
    <c:legend>
      <c:legendPos val="b"/>
      <c:layout>
        <c:manualLayout>
          <c:xMode val="edge"/>
          <c:yMode val="edge"/>
          <c:x val="6.4641671886868813E-4"/>
          <c:y val="0.81317549529913502"/>
          <c:w val="0.99935358328113133"/>
          <c:h val="0.1586379905477348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dk1"/>
              </a:solidFill>
              <a:latin typeface="Calibri" panose="020F0502020204030204" pitchFamily="34" charset="0"/>
              <a:ea typeface="+mn-ea"/>
              <a:cs typeface="Calibri" panose="020F050202020403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3175" cap="flat" cmpd="sng" algn="ctr">
      <a:solidFill>
        <a:srgbClr val="046A38"/>
      </a:solidFill>
      <a:prstDash val="solid"/>
    </a:ln>
    <a:effectLst/>
  </c:spPr>
  <c:txPr>
    <a:bodyPr/>
    <a:lstStyle/>
    <a:p>
      <a:pPr>
        <a:defRPr>
          <a:solidFill>
            <a:schemeClr val="dk1"/>
          </a:solidFill>
          <a:latin typeface="+mn-lt"/>
          <a:ea typeface="+mn-ea"/>
          <a:cs typeface="+mn-cs"/>
        </a:defRPr>
      </a:pPr>
      <a:endParaRPr lang="en-US"/>
    </a:p>
  </c:txPr>
  <c:externalData r:id="rId3">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000" b="1" dirty="0">
                <a:latin typeface="Verdana" panose="020B0604030504040204" pitchFamily="34" charset="0"/>
                <a:ea typeface="Verdana" panose="020B0604030504040204" pitchFamily="34" charset="0"/>
              </a:rPr>
              <a:t>Domestic LV Fixed Charge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Pt>
            <c:idx val="4"/>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2-0E91-4EDF-AF20-AE5F2CDE522E}"/>
              </c:ext>
            </c:extLst>
          </c:dPt>
          <c:dPt>
            <c:idx val="5"/>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3-0E91-4EDF-AF20-AE5F2CDE522E}"/>
              </c:ext>
            </c:extLst>
          </c:dPt>
          <c:dPt>
            <c:idx val="6"/>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4-0E91-4EDF-AF20-AE5F2CDE522E}"/>
              </c:ext>
            </c:extLst>
          </c:dPt>
          <c:dPt>
            <c:idx val="7"/>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5-0E91-4EDF-AF20-AE5F2CDE522E}"/>
              </c:ext>
            </c:extLst>
          </c:dPt>
          <c:dPt>
            <c:idx val="8"/>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6-0E91-4EDF-AF20-AE5F2CDE522E}"/>
              </c:ext>
            </c:extLst>
          </c:dPt>
          <c:dPt>
            <c:idx val="9"/>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7-0E91-4EDF-AF20-AE5F2CDE522E}"/>
              </c:ext>
            </c:extLst>
          </c:dPt>
          <c:dPt>
            <c:idx val="10"/>
            <c:invertIfNegative val="0"/>
            <c:bubble3D val="0"/>
            <c:spPr>
              <a:solidFill>
                <a:srgbClr val="FFC000"/>
              </a:solidFill>
              <a:ln>
                <a:noFill/>
              </a:ln>
              <a:effectLst/>
            </c:spPr>
            <c:extLst>
              <c:ext xmlns:c16="http://schemas.microsoft.com/office/drawing/2014/chart" uri="{C3380CC4-5D6E-409C-BE32-E72D297353CC}">
                <c16:uniqueId val="{00000008-0E91-4EDF-AF20-AE5F2CDE522E}"/>
              </c:ext>
            </c:extLst>
          </c:dPt>
          <c:dPt>
            <c:idx val="11"/>
            <c:invertIfNegative val="0"/>
            <c:bubble3D val="0"/>
            <c:spPr>
              <a:solidFill>
                <a:srgbClr val="FFC000"/>
              </a:solidFill>
              <a:ln>
                <a:noFill/>
              </a:ln>
              <a:effectLst/>
            </c:spPr>
            <c:extLst>
              <c:ext xmlns:c16="http://schemas.microsoft.com/office/drawing/2014/chart" uri="{C3380CC4-5D6E-409C-BE32-E72D297353CC}">
                <c16:uniqueId val="{00000009-0E91-4EDF-AF20-AE5F2CDE522E}"/>
              </c:ext>
            </c:extLst>
          </c:dPt>
          <c:dPt>
            <c:idx val="12"/>
            <c:invertIfNegative val="0"/>
            <c:bubble3D val="0"/>
            <c:spPr>
              <a:solidFill>
                <a:srgbClr val="FFC000"/>
              </a:solidFill>
              <a:ln>
                <a:noFill/>
              </a:ln>
              <a:effectLst/>
            </c:spPr>
            <c:extLst>
              <c:ext xmlns:c16="http://schemas.microsoft.com/office/drawing/2014/chart" uri="{C3380CC4-5D6E-409C-BE32-E72D297353CC}">
                <c16:uniqueId val="{0000000A-0E91-4EDF-AF20-AE5F2CDE522E}"/>
              </c:ext>
            </c:extLst>
          </c:dPt>
          <c:dPt>
            <c:idx val="13"/>
            <c:invertIfNegative val="0"/>
            <c:bubble3D val="0"/>
            <c:spPr>
              <a:solidFill>
                <a:srgbClr val="FFC000"/>
              </a:solidFill>
              <a:ln>
                <a:noFill/>
              </a:ln>
              <a:effectLst/>
            </c:spPr>
            <c:extLst>
              <c:ext xmlns:c16="http://schemas.microsoft.com/office/drawing/2014/chart" uri="{C3380CC4-5D6E-409C-BE32-E72D297353CC}">
                <c16:uniqueId val="{0000000B-0E91-4EDF-AF20-AE5F2CDE522E}"/>
              </c:ext>
            </c:extLst>
          </c:dPt>
          <c:dPt>
            <c:idx val="14"/>
            <c:invertIfNegative val="0"/>
            <c:bubble3D val="0"/>
            <c:spPr>
              <a:solidFill>
                <a:srgbClr val="FFC000"/>
              </a:solidFill>
              <a:ln>
                <a:noFill/>
              </a:ln>
              <a:effectLst/>
            </c:spPr>
            <c:extLst>
              <c:ext xmlns:c16="http://schemas.microsoft.com/office/drawing/2014/chart" uri="{C3380CC4-5D6E-409C-BE32-E72D297353CC}">
                <c16:uniqueId val="{0000000C-0E91-4EDF-AF20-AE5F2CDE522E}"/>
              </c:ext>
            </c:extLst>
          </c:dPt>
          <c:dPt>
            <c:idx val="15"/>
            <c:invertIfNegative val="0"/>
            <c:bubble3D val="0"/>
            <c:spPr>
              <a:solidFill>
                <a:srgbClr val="FFC000"/>
              </a:solidFill>
              <a:ln>
                <a:noFill/>
              </a:ln>
              <a:effectLst/>
            </c:spPr>
            <c:extLst>
              <c:ext xmlns:c16="http://schemas.microsoft.com/office/drawing/2014/chart" uri="{C3380CC4-5D6E-409C-BE32-E72D297353CC}">
                <c16:uniqueId val="{0000000D-0E91-4EDF-AF20-AE5F2CDE522E}"/>
              </c:ext>
            </c:extLst>
          </c:dPt>
          <c:dPt>
            <c:idx val="16"/>
            <c:invertIfNegative val="0"/>
            <c:bubble3D val="0"/>
            <c:spPr>
              <a:solidFill>
                <a:srgbClr val="009A44"/>
              </a:solidFill>
              <a:ln>
                <a:noFill/>
              </a:ln>
              <a:effectLst/>
            </c:spPr>
            <c:extLst>
              <c:ext xmlns:c16="http://schemas.microsoft.com/office/drawing/2014/chart" uri="{C3380CC4-5D6E-409C-BE32-E72D297353CC}">
                <c16:uniqueId val="{0000000E-0E91-4EDF-AF20-AE5F2CDE522E}"/>
              </c:ext>
            </c:extLst>
          </c:dPt>
          <c:dPt>
            <c:idx val="17"/>
            <c:invertIfNegative val="0"/>
            <c:bubble3D val="0"/>
            <c:spPr>
              <a:solidFill>
                <a:srgbClr val="009A44"/>
              </a:solidFill>
              <a:ln>
                <a:noFill/>
              </a:ln>
              <a:effectLst/>
            </c:spPr>
            <c:extLst>
              <c:ext xmlns:c16="http://schemas.microsoft.com/office/drawing/2014/chart" uri="{C3380CC4-5D6E-409C-BE32-E72D297353CC}">
                <c16:uniqueId val="{0000000F-0E91-4EDF-AF20-AE5F2CDE522E}"/>
              </c:ext>
            </c:extLst>
          </c:dPt>
          <c:dPt>
            <c:idx val="18"/>
            <c:invertIfNegative val="0"/>
            <c:bubble3D val="0"/>
            <c:spPr>
              <a:solidFill>
                <a:schemeClr val="accent5"/>
              </a:solidFill>
              <a:ln>
                <a:noFill/>
              </a:ln>
              <a:effectLst/>
            </c:spPr>
            <c:extLst>
              <c:ext xmlns:c16="http://schemas.microsoft.com/office/drawing/2014/chart" uri="{C3380CC4-5D6E-409C-BE32-E72D297353CC}">
                <c16:uniqueId val="{00000010-0E91-4EDF-AF20-AE5F2CDE522E}"/>
              </c:ext>
            </c:extLst>
          </c:dPt>
          <c:dPt>
            <c:idx val="19"/>
            <c:invertIfNegative val="0"/>
            <c:bubble3D val="0"/>
            <c:spPr>
              <a:solidFill>
                <a:schemeClr val="accent5"/>
              </a:solidFill>
              <a:ln>
                <a:noFill/>
              </a:ln>
              <a:effectLst/>
            </c:spPr>
            <c:extLst>
              <c:ext xmlns:c16="http://schemas.microsoft.com/office/drawing/2014/chart" uri="{C3380CC4-5D6E-409C-BE32-E72D297353CC}">
                <c16:uniqueId val="{00000011-0E91-4EDF-AF20-AE5F2CDE522E}"/>
              </c:ext>
            </c:extLst>
          </c:dPt>
          <c:dPt>
            <c:idx val="20"/>
            <c:invertIfNegative val="0"/>
            <c:bubble3D val="0"/>
            <c:spPr>
              <a:solidFill>
                <a:schemeClr val="accent5"/>
              </a:solidFill>
              <a:ln>
                <a:noFill/>
              </a:ln>
              <a:effectLst/>
            </c:spPr>
            <c:extLst>
              <c:ext xmlns:c16="http://schemas.microsoft.com/office/drawing/2014/chart" uri="{C3380CC4-5D6E-409C-BE32-E72D297353CC}">
                <c16:uniqueId val="{00000012-0E91-4EDF-AF20-AE5F2CDE522E}"/>
              </c:ext>
            </c:extLst>
          </c:dPt>
          <c:dPt>
            <c:idx val="21"/>
            <c:invertIfNegative val="0"/>
            <c:bubble3D val="0"/>
            <c:spPr>
              <a:solidFill>
                <a:schemeClr val="accent5"/>
              </a:solidFill>
              <a:ln>
                <a:noFill/>
              </a:ln>
              <a:effectLst/>
            </c:spPr>
            <c:extLst>
              <c:ext xmlns:c16="http://schemas.microsoft.com/office/drawing/2014/chart" uri="{C3380CC4-5D6E-409C-BE32-E72D297353CC}">
                <c16:uniqueId val="{00000013-0E91-4EDF-AF20-AE5F2CDE522E}"/>
              </c:ext>
            </c:extLst>
          </c:dPt>
          <c:dPt>
            <c:idx val="22"/>
            <c:invertIfNegative val="0"/>
            <c:bubble3D val="0"/>
            <c:spPr>
              <a:solidFill>
                <a:schemeClr val="accent5"/>
              </a:solidFill>
              <a:ln>
                <a:noFill/>
              </a:ln>
              <a:effectLst/>
            </c:spPr>
            <c:extLst>
              <c:ext xmlns:c16="http://schemas.microsoft.com/office/drawing/2014/chart" uri="{C3380CC4-5D6E-409C-BE32-E72D297353CC}">
                <c16:uniqueId val="{00000014-0E91-4EDF-AF20-AE5F2CDE522E}"/>
              </c:ext>
            </c:extLst>
          </c:dPt>
          <c:dPt>
            <c:idx val="23"/>
            <c:invertIfNegative val="0"/>
            <c:bubble3D val="0"/>
            <c:spPr>
              <a:solidFill>
                <a:schemeClr val="accent5"/>
              </a:solidFill>
              <a:ln>
                <a:noFill/>
              </a:ln>
              <a:effectLst/>
            </c:spPr>
            <c:extLst>
              <c:ext xmlns:c16="http://schemas.microsoft.com/office/drawing/2014/chart" uri="{C3380CC4-5D6E-409C-BE32-E72D297353CC}">
                <c16:uniqueId val="{00000015-0E91-4EDF-AF20-AE5F2CDE522E}"/>
              </c:ext>
            </c:extLst>
          </c:dPt>
          <c:dPt>
            <c:idx val="24"/>
            <c:invertIfNegative val="0"/>
            <c:bubble3D val="0"/>
            <c:spPr>
              <a:solidFill>
                <a:schemeClr val="accent5"/>
              </a:solidFill>
              <a:ln>
                <a:noFill/>
              </a:ln>
              <a:effectLst/>
            </c:spPr>
            <c:extLst>
              <c:ext xmlns:c16="http://schemas.microsoft.com/office/drawing/2014/chart" uri="{C3380CC4-5D6E-409C-BE32-E72D297353CC}">
                <c16:uniqueId val="{00000016-0E91-4EDF-AF20-AE5F2CDE522E}"/>
              </c:ext>
            </c:extLst>
          </c:dPt>
          <c:dPt>
            <c:idx val="25"/>
            <c:invertIfNegative val="0"/>
            <c:bubble3D val="0"/>
            <c:spPr>
              <a:solidFill>
                <a:schemeClr val="accent5"/>
              </a:solidFill>
              <a:ln>
                <a:noFill/>
              </a:ln>
              <a:effectLst/>
            </c:spPr>
            <c:extLst>
              <c:ext xmlns:c16="http://schemas.microsoft.com/office/drawing/2014/chart" uri="{C3380CC4-5D6E-409C-BE32-E72D297353CC}">
                <c16:uniqueId val="{00000017-0E91-4EDF-AF20-AE5F2CDE522E}"/>
              </c:ext>
            </c:extLst>
          </c:dPt>
          <c:dPt>
            <c:idx val="26"/>
            <c:invertIfNegative val="0"/>
            <c:bubble3D val="0"/>
            <c:spPr>
              <a:solidFill>
                <a:schemeClr val="accent5"/>
              </a:solidFill>
              <a:ln>
                <a:noFill/>
              </a:ln>
              <a:effectLst/>
            </c:spPr>
            <c:extLst>
              <c:ext xmlns:c16="http://schemas.microsoft.com/office/drawing/2014/chart" uri="{C3380CC4-5D6E-409C-BE32-E72D297353CC}">
                <c16:uniqueId val="{00000018-0E91-4EDF-AF20-AE5F2CDE522E}"/>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'FC - LV Domestic'!$C$6:$D$32</c:f>
              <c:multiLvlStrCache>
                <c:ptCount val="27"/>
                <c:lvl>
                  <c:pt idx="0">
                    <c:v>WBSEDCL erstwhile DPL Rs/KVA/month </c:v>
                  </c:pt>
                  <c:pt idx="1">
                    <c:v>WBSEDCL  Rs/KVA/month </c:v>
                  </c:pt>
                  <c:pt idx="2">
                    <c:v>IPCL  Rs/KVA/month </c:v>
                  </c:pt>
                  <c:pt idx="3">
                    <c:v>CESC Rs/KVA/month </c:v>
                  </c:pt>
                  <c:pt idx="4">
                    <c:v>TPDDL (0-2 kW connection)</c:v>
                  </c:pt>
                  <c:pt idx="5">
                    <c:v>TPDDL (2-5 kW connection)</c:v>
                  </c:pt>
                  <c:pt idx="6">
                    <c:v>TPDDL (5-15 kW connection)</c:v>
                  </c:pt>
                  <c:pt idx="7">
                    <c:v>BRPL (0-2 kW connection)</c:v>
                  </c:pt>
                  <c:pt idx="8">
                    <c:v>BRPL (2-5 kW connection)</c:v>
                  </c:pt>
                  <c:pt idx="9">
                    <c:v>BRPL (5-15 kW connection)</c:v>
                  </c:pt>
                  <c:pt idx="10">
                    <c:v>BESCOM Urban (0-1 kW)</c:v>
                  </c:pt>
                  <c:pt idx="11">
                    <c:v>BESCOM Urban (1-50 kW)</c:v>
                  </c:pt>
                  <c:pt idx="12">
                    <c:v>BESCOM Urban (above 50 kW)</c:v>
                  </c:pt>
                  <c:pt idx="13">
                    <c:v>BESCOM Rural (0-1 kW)</c:v>
                  </c:pt>
                  <c:pt idx="14">
                    <c:v>BESCOM Rural (1-50 kW)</c:v>
                  </c:pt>
                  <c:pt idx="15">
                    <c:v>BESCOM Rural (above 50 kW)</c:v>
                  </c:pt>
                  <c:pt idx="16">
                    <c:v>JBVNL rural per KW connnection</c:v>
                  </c:pt>
                  <c:pt idx="17">
                    <c:v>JBVNL Urban per KW connnection</c:v>
                  </c:pt>
                  <c:pt idx="18">
                    <c:v>MAHADISCOM</c:v>
                  </c:pt>
                  <c:pt idx="19">
                    <c:v>Tata Power - 0-100 KWh</c:v>
                  </c:pt>
                  <c:pt idx="20">
                    <c:v>Tata Power - 100-300  KWh</c:v>
                  </c:pt>
                  <c:pt idx="21">
                    <c:v>Tata Power - 301-500  KWh</c:v>
                  </c:pt>
                  <c:pt idx="22">
                    <c:v>Tata Power - above 500  KWh</c:v>
                  </c:pt>
                  <c:pt idx="23">
                    <c:v>Adani - 0-100 KWh</c:v>
                  </c:pt>
                  <c:pt idx="24">
                    <c:v>Adani - 100-300  KWh</c:v>
                  </c:pt>
                  <c:pt idx="25">
                    <c:v>Adani - 301-500  KWh</c:v>
                  </c:pt>
                  <c:pt idx="26">
                    <c:v>Adani - above 500  KWh</c:v>
                  </c:pt>
                </c:lvl>
                <c:lvl>
                  <c:pt idx="0">
                    <c:v>West Bengal</c:v>
                  </c:pt>
                  <c:pt idx="4">
                    <c:v>Delhi</c:v>
                  </c:pt>
                  <c:pt idx="10">
                    <c:v>Karnataka</c:v>
                  </c:pt>
                  <c:pt idx="16">
                    <c:v>Jharkhand</c:v>
                  </c:pt>
                  <c:pt idx="18">
                    <c:v>Maharashtra</c:v>
                  </c:pt>
                </c:lvl>
              </c:multiLvlStrCache>
            </c:multiLvlStrRef>
          </c:cat>
          <c:val>
            <c:numRef>
              <c:f>'FC - LV Domestic'!$E$6:$E$33</c:f>
              <c:numCache>
                <c:formatCode>General</c:formatCode>
                <c:ptCount val="28"/>
                <c:pt idx="0">
                  <c:v>15</c:v>
                </c:pt>
                <c:pt idx="1">
                  <c:v>15</c:v>
                </c:pt>
                <c:pt idx="2">
                  <c:v>15</c:v>
                </c:pt>
                <c:pt idx="3">
                  <c:v>15</c:v>
                </c:pt>
                <c:pt idx="4">
                  <c:v>20</c:v>
                </c:pt>
                <c:pt idx="5">
                  <c:v>50</c:v>
                </c:pt>
                <c:pt idx="6">
                  <c:v>100</c:v>
                </c:pt>
                <c:pt idx="7">
                  <c:v>20</c:v>
                </c:pt>
                <c:pt idx="8">
                  <c:v>50</c:v>
                </c:pt>
                <c:pt idx="9">
                  <c:v>100</c:v>
                </c:pt>
                <c:pt idx="10">
                  <c:v>85</c:v>
                </c:pt>
                <c:pt idx="11">
                  <c:v>95</c:v>
                </c:pt>
                <c:pt idx="12">
                  <c:v>150</c:v>
                </c:pt>
                <c:pt idx="13">
                  <c:v>70</c:v>
                </c:pt>
                <c:pt idx="14">
                  <c:v>85</c:v>
                </c:pt>
                <c:pt idx="15">
                  <c:v>140</c:v>
                </c:pt>
                <c:pt idx="16">
                  <c:v>75</c:v>
                </c:pt>
                <c:pt idx="17">
                  <c:v>150</c:v>
                </c:pt>
                <c:pt idx="18">
                  <c:v>105</c:v>
                </c:pt>
                <c:pt idx="19">
                  <c:v>115</c:v>
                </c:pt>
                <c:pt idx="20">
                  <c:v>165</c:v>
                </c:pt>
                <c:pt idx="21">
                  <c:v>175</c:v>
                </c:pt>
                <c:pt idx="22">
                  <c:v>185</c:v>
                </c:pt>
                <c:pt idx="23">
                  <c:v>80</c:v>
                </c:pt>
                <c:pt idx="24">
                  <c:v>120</c:v>
                </c:pt>
                <c:pt idx="25">
                  <c:v>120</c:v>
                </c:pt>
                <c:pt idx="26">
                  <c:v>145</c:v>
                </c:pt>
              </c:numCache>
            </c:numRef>
          </c:val>
          <c:extLst>
            <c:ext xmlns:c16="http://schemas.microsoft.com/office/drawing/2014/chart" uri="{C3380CC4-5D6E-409C-BE32-E72D297353CC}">
              <c16:uniqueId val="{00000000-0E91-4EDF-AF20-AE5F2CDE522E}"/>
            </c:ext>
          </c:extLst>
        </c:ser>
        <c:dLbls>
          <c:showLegendKey val="0"/>
          <c:showVal val="0"/>
          <c:showCatName val="0"/>
          <c:showSerName val="0"/>
          <c:showPercent val="0"/>
          <c:showBubbleSize val="0"/>
        </c:dLbls>
        <c:gapWidth val="219"/>
        <c:overlap val="-27"/>
        <c:axId val="373015503"/>
        <c:axId val="373008015"/>
      </c:barChart>
      <c:catAx>
        <c:axId val="373015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373008015"/>
        <c:crosses val="autoZero"/>
        <c:auto val="1"/>
        <c:lblAlgn val="ctr"/>
        <c:lblOffset val="100"/>
        <c:noMultiLvlLbl val="0"/>
      </c:catAx>
      <c:valAx>
        <c:axId val="373008015"/>
        <c:scaling>
          <c:orientation val="minMax"/>
        </c:scaling>
        <c:delete val="1"/>
        <c:axPos val="l"/>
        <c:numFmt formatCode="General" sourceLinked="1"/>
        <c:majorTickMark val="none"/>
        <c:minorTickMark val="none"/>
        <c:tickLblPos val="nextTo"/>
        <c:crossAx val="37301550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a:pPr>
      <a:endParaRPr lang="en-US"/>
    </a:p>
  </c:txPr>
  <c:externalData r:id="rId3">
    <c:autoUpdate val="0"/>
  </c:externalData>
  <c:userShapes r:id="rId4"/>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sz="1800" dirty="0">
                <a:latin typeface="Verdana" panose="020B0604030504040204" pitchFamily="34" charset="0"/>
                <a:ea typeface="Verdana" panose="020B0604030504040204" pitchFamily="34" charset="0"/>
              </a:rPr>
              <a:t>HV (including Group Housing Society) Fixed Charge Comparison</a:t>
            </a:r>
          </a:p>
        </c:rich>
      </c:tx>
      <c:layout>
        <c:manualLayout>
          <c:xMode val="edge"/>
          <c:yMode val="edge"/>
          <c:x val="0.14957487890765647"/>
          <c:y val="3.0977938253008375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Pt>
            <c:idx val="4"/>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2-C88D-4FE7-BBBF-62C1C2DC0DDC}"/>
              </c:ext>
            </c:extLst>
          </c:dPt>
          <c:dPt>
            <c:idx val="5"/>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3-C88D-4FE7-BBBF-62C1C2DC0DDC}"/>
              </c:ext>
            </c:extLst>
          </c:dPt>
          <c:dPt>
            <c:idx val="6"/>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4-C88D-4FE7-BBBF-62C1C2DC0DDC}"/>
              </c:ext>
            </c:extLst>
          </c:dPt>
          <c:dPt>
            <c:idx val="7"/>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5-C88D-4FE7-BBBF-62C1C2DC0DDC}"/>
              </c:ext>
            </c:extLst>
          </c:dPt>
          <c:dPt>
            <c:idx val="8"/>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6-C88D-4FE7-BBBF-62C1C2DC0DDC}"/>
              </c:ext>
            </c:extLst>
          </c:dPt>
          <c:dPt>
            <c:idx val="9"/>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07-C88D-4FE7-BBBF-62C1C2DC0DDC}"/>
              </c:ext>
            </c:extLst>
          </c:dPt>
          <c:dPt>
            <c:idx val="10"/>
            <c:invertIfNegative val="0"/>
            <c:bubble3D val="0"/>
            <c:spPr>
              <a:solidFill>
                <a:srgbClr val="ED8B00"/>
              </a:solidFill>
              <a:ln>
                <a:noFill/>
              </a:ln>
              <a:effectLst/>
            </c:spPr>
            <c:extLst>
              <c:ext xmlns:c16="http://schemas.microsoft.com/office/drawing/2014/chart" uri="{C3380CC4-5D6E-409C-BE32-E72D297353CC}">
                <c16:uniqueId val="{00000008-C88D-4FE7-BBBF-62C1C2DC0DDC}"/>
              </c:ext>
            </c:extLst>
          </c:dPt>
          <c:dPt>
            <c:idx val="11"/>
            <c:invertIfNegative val="0"/>
            <c:bubble3D val="0"/>
            <c:spPr>
              <a:solidFill>
                <a:srgbClr val="43B02A"/>
              </a:solidFill>
              <a:ln>
                <a:noFill/>
              </a:ln>
              <a:effectLst/>
            </c:spPr>
            <c:extLst>
              <c:ext xmlns:c16="http://schemas.microsoft.com/office/drawing/2014/chart" uri="{C3380CC4-5D6E-409C-BE32-E72D297353CC}">
                <c16:uniqueId val="{00000009-C88D-4FE7-BBBF-62C1C2DC0DDC}"/>
              </c:ext>
            </c:extLst>
          </c:dPt>
          <c:dPt>
            <c:idx val="12"/>
            <c:invertIfNegative val="0"/>
            <c:bubble3D val="0"/>
            <c:spPr>
              <a:solidFill>
                <a:schemeClr val="accent5"/>
              </a:solidFill>
              <a:ln>
                <a:noFill/>
              </a:ln>
              <a:effectLst/>
            </c:spPr>
            <c:extLst>
              <c:ext xmlns:c16="http://schemas.microsoft.com/office/drawing/2014/chart" uri="{C3380CC4-5D6E-409C-BE32-E72D297353CC}">
                <c16:uniqueId val="{0000000A-C88D-4FE7-BBBF-62C1C2DC0DDC}"/>
              </c:ext>
            </c:extLst>
          </c:dPt>
          <c:dPt>
            <c:idx val="13"/>
            <c:invertIfNegative val="0"/>
            <c:bubble3D val="0"/>
            <c:spPr>
              <a:solidFill>
                <a:schemeClr val="accent5"/>
              </a:solidFill>
              <a:ln>
                <a:noFill/>
              </a:ln>
              <a:effectLst/>
            </c:spPr>
            <c:extLst>
              <c:ext xmlns:c16="http://schemas.microsoft.com/office/drawing/2014/chart" uri="{C3380CC4-5D6E-409C-BE32-E72D297353CC}">
                <c16:uniqueId val="{0000000B-C88D-4FE7-BBBF-62C1C2DC0DDC}"/>
              </c:ext>
            </c:extLst>
          </c:dPt>
          <c:dPt>
            <c:idx val="14"/>
            <c:invertIfNegative val="0"/>
            <c:bubble3D val="0"/>
            <c:spPr>
              <a:solidFill>
                <a:schemeClr val="accent5"/>
              </a:solidFill>
              <a:ln>
                <a:noFill/>
              </a:ln>
              <a:effectLst/>
            </c:spPr>
            <c:extLst>
              <c:ext xmlns:c16="http://schemas.microsoft.com/office/drawing/2014/chart" uri="{C3380CC4-5D6E-409C-BE32-E72D297353CC}">
                <c16:uniqueId val="{0000000C-C88D-4FE7-BBBF-62C1C2DC0DDC}"/>
              </c:ext>
            </c:extLst>
          </c:dPt>
          <c:dPt>
            <c:idx val="15"/>
            <c:invertIfNegative val="0"/>
            <c:bubble3D val="0"/>
            <c:spPr>
              <a:solidFill>
                <a:schemeClr val="accent5"/>
              </a:solidFill>
              <a:ln>
                <a:noFill/>
              </a:ln>
              <a:effectLst/>
            </c:spPr>
            <c:extLst>
              <c:ext xmlns:c16="http://schemas.microsoft.com/office/drawing/2014/chart" uri="{C3380CC4-5D6E-409C-BE32-E72D297353CC}">
                <c16:uniqueId val="{0000000D-C88D-4FE7-BBBF-62C1C2DC0DDC}"/>
              </c:ext>
            </c:extLst>
          </c:dPt>
          <c:dPt>
            <c:idx val="16"/>
            <c:invertIfNegative val="0"/>
            <c:bubble3D val="0"/>
            <c:spPr>
              <a:solidFill>
                <a:schemeClr val="accent5"/>
              </a:solidFill>
              <a:ln>
                <a:noFill/>
              </a:ln>
              <a:effectLst/>
            </c:spPr>
            <c:extLst>
              <c:ext xmlns:c16="http://schemas.microsoft.com/office/drawing/2014/chart" uri="{C3380CC4-5D6E-409C-BE32-E72D297353CC}">
                <c16:uniqueId val="{0000000E-C88D-4FE7-BBBF-62C1C2DC0DDC}"/>
              </c:ext>
            </c:extLst>
          </c:dPt>
          <c:dPt>
            <c:idx val="17"/>
            <c:invertIfNegative val="0"/>
            <c:bubble3D val="0"/>
            <c:spPr>
              <a:solidFill>
                <a:schemeClr val="accent5"/>
              </a:solidFill>
              <a:ln>
                <a:noFill/>
              </a:ln>
              <a:effectLst/>
            </c:spPr>
            <c:extLst>
              <c:ext xmlns:c16="http://schemas.microsoft.com/office/drawing/2014/chart" uri="{C3380CC4-5D6E-409C-BE32-E72D297353CC}">
                <c16:uniqueId val="{0000000F-C88D-4FE7-BBBF-62C1C2DC0DDC}"/>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'FC - HV Domestic'!$D$6:$E$23</c:f>
              <c:multiLvlStrCache>
                <c:ptCount val="18"/>
                <c:lvl>
                  <c:pt idx="0">
                    <c:v>WBSEDCL erstwhile DPL Rs/KVA/month </c:v>
                  </c:pt>
                  <c:pt idx="1">
                    <c:v>WBSEDCL  Rs/KVA/month </c:v>
                  </c:pt>
                  <c:pt idx="2">
                    <c:v>IPCL  Rs/KVA/month </c:v>
                  </c:pt>
                  <c:pt idx="3">
                    <c:v>CESC Rs/KVA/month </c:v>
                  </c:pt>
                  <c:pt idx="4">
                    <c:v>TPDDL (15-25 kW connection)</c:v>
                  </c:pt>
                  <c:pt idx="5">
                    <c:v>TPDDL (above 25 kW connection)</c:v>
                  </c:pt>
                  <c:pt idx="6">
                    <c:v>TPDDL - Group Housing Society</c:v>
                  </c:pt>
                  <c:pt idx="7">
                    <c:v>BRPL (15-25 kW connection)</c:v>
                  </c:pt>
                  <c:pt idx="8">
                    <c:v>BRPL (above 25 kW connection)</c:v>
                  </c:pt>
                  <c:pt idx="9">
                    <c:v>BRPL - Group Housing Society</c:v>
                  </c:pt>
                  <c:pt idx="10">
                    <c:v>BESCOM</c:v>
                  </c:pt>
                  <c:pt idx="11">
                    <c:v>JBVNL</c:v>
                  </c:pt>
                  <c:pt idx="12">
                    <c:v>MAHADISCOM - All Units</c:v>
                  </c:pt>
                  <c:pt idx="13">
                    <c:v>MAHADISCOM - Group Housing Society</c:v>
                  </c:pt>
                  <c:pt idx="14">
                    <c:v>Tata Power - All Units</c:v>
                  </c:pt>
                  <c:pt idx="15">
                    <c:v>Tata Power - Group Housing Society</c:v>
                  </c:pt>
                  <c:pt idx="16">
                    <c:v>Adani - All units</c:v>
                  </c:pt>
                  <c:pt idx="17">
                    <c:v>Adani - Group Housing Society</c:v>
                  </c:pt>
                </c:lvl>
                <c:lvl>
                  <c:pt idx="0">
                    <c:v>West Bengal</c:v>
                  </c:pt>
                  <c:pt idx="4">
                    <c:v>Delhi</c:v>
                  </c:pt>
                  <c:pt idx="10">
                    <c:v>Ktk</c:v>
                  </c:pt>
                  <c:pt idx="11">
                    <c:v>JH</c:v>
                  </c:pt>
                  <c:pt idx="12">
                    <c:v>Maharashtra</c:v>
                  </c:pt>
                </c:lvl>
              </c:multiLvlStrCache>
            </c:multiLvlStrRef>
          </c:cat>
          <c:val>
            <c:numRef>
              <c:f>'FC - HV Domestic'!$F$6:$F$23</c:f>
              <c:numCache>
                <c:formatCode>General</c:formatCode>
                <c:ptCount val="18"/>
                <c:pt idx="0">
                  <c:v>25</c:v>
                </c:pt>
                <c:pt idx="1">
                  <c:v>35</c:v>
                </c:pt>
                <c:pt idx="2">
                  <c:v>36</c:v>
                </c:pt>
                <c:pt idx="3">
                  <c:v>26</c:v>
                </c:pt>
                <c:pt idx="4">
                  <c:v>200</c:v>
                </c:pt>
                <c:pt idx="5">
                  <c:v>250</c:v>
                </c:pt>
                <c:pt idx="6">
                  <c:v>150</c:v>
                </c:pt>
                <c:pt idx="7">
                  <c:v>200</c:v>
                </c:pt>
                <c:pt idx="8">
                  <c:v>250</c:v>
                </c:pt>
                <c:pt idx="9">
                  <c:v>150</c:v>
                </c:pt>
                <c:pt idx="10">
                  <c:v>155</c:v>
                </c:pt>
                <c:pt idx="11">
                  <c:v>300</c:v>
                </c:pt>
                <c:pt idx="12">
                  <c:v>362</c:v>
                </c:pt>
                <c:pt idx="13">
                  <c:v>362</c:v>
                </c:pt>
                <c:pt idx="14">
                  <c:v>500</c:v>
                </c:pt>
                <c:pt idx="15">
                  <c:v>500</c:v>
                </c:pt>
                <c:pt idx="16">
                  <c:v>355</c:v>
                </c:pt>
                <c:pt idx="17">
                  <c:v>355</c:v>
                </c:pt>
              </c:numCache>
            </c:numRef>
          </c:val>
          <c:extLst>
            <c:ext xmlns:c16="http://schemas.microsoft.com/office/drawing/2014/chart" uri="{C3380CC4-5D6E-409C-BE32-E72D297353CC}">
              <c16:uniqueId val="{00000000-C88D-4FE7-BBBF-62C1C2DC0DDC}"/>
            </c:ext>
          </c:extLst>
        </c:ser>
        <c:dLbls>
          <c:showLegendKey val="0"/>
          <c:showVal val="0"/>
          <c:showCatName val="0"/>
          <c:showSerName val="0"/>
          <c:showPercent val="0"/>
          <c:showBubbleSize val="0"/>
        </c:dLbls>
        <c:gapWidth val="219"/>
        <c:overlap val="-27"/>
        <c:axId val="1150166895"/>
        <c:axId val="1150166063"/>
      </c:barChart>
      <c:catAx>
        <c:axId val="11501668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crossAx val="1150166063"/>
        <c:crosses val="autoZero"/>
        <c:auto val="1"/>
        <c:lblAlgn val="ctr"/>
        <c:lblOffset val="100"/>
        <c:noMultiLvlLbl val="0"/>
      </c:catAx>
      <c:valAx>
        <c:axId val="1150166063"/>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1501668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lumMod val="85000"/>
          <a:lumOff val="15000"/>
        </a:schemeClr>
      </a:solidFill>
    </a:ln>
    <a:effectLst/>
  </c:spPr>
  <c:txPr>
    <a:bodyPr/>
    <a:lstStyle/>
    <a:p>
      <a:pPr>
        <a:defRPr b="1"/>
      </a:pPr>
      <a:endParaRPr lang="en-US"/>
    </a:p>
  </c:txPr>
  <c:externalData r:id="rId3">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0.99444176598836953"/>
          <c:h val="0.7503692247449586"/>
        </c:manualLayout>
      </c:layout>
      <c:barChart>
        <c:barDir val="col"/>
        <c:grouping val="clustered"/>
        <c:varyColors val="0"/>
        <c:ser>
          <c:idx val="0"/>
          <c:order val="0"/>
          <c:tx>
            <c:strRef>
              <c:f>Sheet1!$B$1</c:f>
              <c:strCache>
                <c:ptCount val="1"/>
                <c:pt idx="0">
                  <c:v>Industrial Average Tariff ( Rs/KWh)*</c:v>
                </c:pt>
              </c:strCache>
            </c:strRef>
          </c:tx>
          <c:spPr>
            <a:solidFill>
              <a:srgbClr val="0076A8"/>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Chandigarh</c:v>
                </c:pt>
                <c:pt idx="1">
                  <c:v>Haryana</c:v>
                </c:pt>
                <c:pt idx="2">
                  <c:v>Gujarat</c:v>
                </c:pt>
                <c:pt idx="3">
                  <c:v>Andhra Pradesh</c:v>
                </c:pt>
                <c:pt idx="4">
                  <c:v>Maharshtra </c:v>
                </c:pt>
                <c:pt idx="5">
                  <c:v>West Bengal</c:v>
                </c:pt>
              </c:strCache>
            </c:strRef>
          </c:cat>
          <c:val>
            <c:numRef>
              <c:f>Sheet1!$B$2:$B$7</c:f>
              <c:numCache>
                <c:formatCode>General</c:formatCode>
                <c:ptCount val="6"/>
                <c:pt idx="0">
                  <c:v>5.79</c:v>
                </c:pt>
                <c:pt idx="1">
                  <c:v>6.44</c:v>
                </c:pt>
                <c:pt idx="2">
                  <c:v>5.26</c:v>
                </c:pt>
                <c:pt idx="3">
                  <c:v>8.44</c:v>
                </c:pt>
                <c:pt idx="4">
                  <c:v>9.4700000000000006</c:v>
                </c:pt>
                <c:pt idx="5">
                  <c:v>9.9499999999999993</c:v>
                </c:pt>
              </c:numCache>
            </c:numRef>
          </c:val>
          <c:extLst>
            <c:ext xmlns:c16="http://schemas.microsoft.com/office/drawing/2014/chart" uri="{C3380CC4-5D6E-409C-BE32-E72D297353CC}">
              <c16:uniqueId val="{00000000-5CA8-4BA8-BBB3-DAA788C18DEC}"/>
            </c:ext>
          </c:extLst>
        </c:ser>
        <c:ser>
          <c:idx val="1"/>
          <c:order val="1"/>
          <c:tx>
            <c:strRef>
              <c:f>Sheet1!$C$1</c:f>
              <c:strCache>
                <c:ptCount val="1"/>
                <c:pt idx="0">
                  <c:v>Average Billing Rate considering  all consumer categories  ( Rs /KWh)</c:v>
                </c:pt>
              </c:strCache>
            </c:strRef>
          </c:tx>
          <c:spPr>
            <a:solidFill>
              <a:schemeClr val="accent2"/>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Chandigarh</c:v>
                </c:pt>
                <c:pt idx="1">
                  <c:v>Haryana</c:v>
                </c:pt>
                <c:pt idx="2">
                  <c:v>Gujarat</c:v>
                </c:pt>
                <c:pt idx="3">
                  <c:v>Andhra Pradesh</c:v>
                </c:pt>
                <c:pt idx="4">
                  <c:v>Maharshtra </c:v>
                </c:pt>
                <c:pt idx="5">
                  <c:v>West Bengal</c:v>
                </c:pt>
              </c:strCache>
            </c:strRef>
          </c:cat>
          <c:val>
            <c:numRef>
              <c:f>Sheet1!$C$2:$C$7</c:f>
              <c:numCache>
                <c:formatCode>General</c:formatCode>
                <c:ptCount val="6"/>
                <c:pt idx="0">
                  <c:v>5.22</c:v>
                </c:pt>
                <c:pt idx="1">
                  <c:v>5.0999999999999996</c:v>
                </c:pt>
                <c:pt idx="2">
                  <c:v>4.7</c:v>
                </c:pt>
                <c:pt idx="3">
                  <c:v>5.1100000000000003</c:v>
                </c:pt>
                <c:pt idx="4">
                  <c:v>7.26</c:v>
                </c:pt>
                <c:pt idx="5">
                  <c:v>6.98</c:v>
                </c:pt>
              </c:numCache>
            </c:numRef>
          </c:val>
          <c:extLst>
            <c:ext xmlns:c16="http://schemas.microsoft.com/office/drawing/2014/chart" uri="{C3380CC4-5D6E-409C-BE32-E72D297353CC}">
              <c16:uniqueId val="{00000001-5CA8-4BA8-BBB3-DAA788C18DEC}"/>
            </c:ext>
          </c:extLst>
        </c:ser>
        <c:dLbls>
          <c:showLegendKey val="0"/>
          <c:showVal val="0"/>
          <c:showCatName val="0"/>
          <c:showSerName val="0"/>
          <c:showPercent val="0"/>
          <c:showBubbleSize val="0"/>
        </c:dLbls>
        <c:gapWidth val="219"/>
        <c:overlap val="-27"/>
        <c:axId val="1674033184"/>
        <c:axId val="1674049824"/>
      </c:barChart>
      <c:catAx>
        <c:axId val="16740331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674049824"/>
        <c:crosses val="autoZero"/>
        <c:auto val="1"/>
        <c:lblAlgn val="ctr"/>
        <c:lblOffset val="100"/>
        <c:noMultiLvlLbl val="0"/>
      </c:catAx>
      <c:valAx>
        <c:axId val="1674049824"/>
        <c:scaling>
          <c:orientation val="minMax"/>
          <c:max val="10"/>
          <c:min val="0"/>
        </c:scaling>
        <c:delete val="1"/>
        <c:axPos val="l"/>
        <c:numFmt formatCode="General" sourceLinked="1"/>
        <c:majorTickMark val="none"/>
        <c:minorTickMark val="none"/>
        <c:tickLblPos val="nextTo"/>
        <c:crossAx val="1674033184"/>
        <c:crosses val="autoZero"/>
        <c:crossBetween val="between"/>
      </c:valAx>
      <c:spPr>
        <a:noFill/>
        <a:ln>
          <a:noFill/>
        </a:ln>
        <a:effectLst/>
      </c:spPr>
    </c:plotArea>
    <c:legend>
      <c:legendPos val="b"/>
      <c:layout>
        <c:manualLayout>
          <c:xMode val="edge"/>
          <c:yMode val="edge"/>
          <c:x val="1.4641876417787329E-2"/>
          <c:y val="0.91012988963243779"/>
          <c:w val="0.98405600879233845"/>
          <c:h val="5.8834774628691154E-2"/>
        </c:manualLayout>
      </c:layout>
      <c:overlay val="0"/>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lumMod val="85000"/>
      </a:schemeClr>
    </a:solidFill>
    <a:ln>
      <a:noFill/>
    </a:ln>
    <a:effectLst/>
  </c:spPr>
  <c:txPr>
    <a:bodyPr/>
    <a:lstStyle/>
    <a:p>
      <a:pPr>
        <a:defRPr/>
      </a:pPr>
      <a:endParaRPr lang="en-US"/>
    </a:p>
  </c:txPr>
  <c:externalData r:id="rId3">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2232936046521806E-3"/>
          <c:y val="0"/>
          <c:w val="0.99444176598836953"/>
          <c:h val="0.67982000530556563"/>
        </c:manualLayout>
      </c:layout>
      <c:barChart>
        <c:barDir val="col"/>
        <c:grouping val="clustered"/>
        <c:varyColors val="0"/>
        <c:ser>
          <c:idx val="0"/>
          <c:order val="0"/>
          <c:tx>
            <c:strRef>
              <c:f>Sheet1!$B$1</c:f>
              <c:strCache>
                <c:ptCount val="1"/>
                <c:pt idx="0">
                  <c:v>Industrial Average Tariff ( Rs/KWh)*</c:v>
                </c:pt>
              </c:strCache>
            </c:strRef>
          </c:tx>
          <c:spPr>
            <a:solidFill>
              <a:srgbClr val="0076A8"/>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Chandigarh</c:v>
                </c:pt>
                <c:pt idx="1">
                  <c:v>Haryana</c:v>
                </c:pt>
                <c:pt idx="2">
                  <c:v>Gujarat</c:v>
                </c:pt>
                <c:pt idx="3">
                  <c:v>Andhra Pradesh</c:v>
                </c:pt>
                <c:pt idx="4">
                  <c:v>Maharshtra </c:v>
                </c:pt>
                <c:pt idx="5">
                  <c:v>West Bengal</c:v>
                </c:pt>
              </c:strCache>
            </c:strRef>
          </c:cat>
          <c:val>
            <c:numRef>
              <c:f>Sheet1!$B$2:$B$7</c:f>
              <c:numCache>
                <c:formatCode>General</c:formatCode>
                <c:ptCount val="6"/>
                <c:pt idx="0">
                  <c:v>5.79</c:v>
                </c:pt>
                <c:pt idx="1">
                  <c:v>6.35</c:v>
                </c:pt>
                <c:pt idx="2">
                  <c:v>6.81</c:v>
                </c:pt>
                <c:pt idx="3">
                  <c:v>7.95</c:v>
                </c:pt>
                <c:pt idx="4">
                  <c:v>9.7200000000000006</c:v>
                </c:pt>
                <c:pt idx="5">
                  <c:v>9.9</c:v>
                </c:pt>
              </c:numCache>
            </c:numRef>
          </c:val>
          <c:extLst>
            <c:ext xmlns:c16="http://schemas.microsoft.com/office/drawing/2014/chart" uri="{C3380CC4-5D6E-409C-BE32-E72D297353CC}">
              <c16:uniqueId val="{00000000-35C4-4DA9-9FC7-EED981C5C553}"/>
            </c:ext>
          </c:extLst>
        </c:ser>
        <c:ser>
          <c:idx val="1"/>
          <c:order val="1"/>
          <c:tx>
            <c:strRef>
              <c:f>Sheet1!$C$1</c:f>
              <c:strCache>
                <c:ptCount val="1"/>
                <c:pt idx="0">
                  <c:v>Average Billing Rate considering  all consumer categories  ( Rs /KWh)</c:v>
                </c:pt>
              </c:strCache>
            </c:strRef>
          </c:tx>
          <c:spPr>
            <a:solidFill>
              <a:schemeClr val="accent2"/>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Chandigarh</c:v>
                </c:pt>
                <c:pt idx="1">
                  <c:v>Haryana</c:v>
                </c:pt>
                <c:pt idx="2">
                  <c:v>Gujarat</c:v>
                </c:pt>
                <c:pt idx="3">
                  <c:v>Andhra Pradesh</c:v>
                </c:pt>
                <c:pt idx="4">
                  <c:v>Maharshtra </c:v>
                </c:pt>
                <c:pt idx="5">
                  <c:v>West Bengal</c:v>
                </c:pt>
              </c:strCache>
            </c:strRef>
          </c:cat>
          <c:val>
            <c:numRef>
              <c:f>Sheet1!$C$2:$C$7</c:f>
              <c:numCache>
                <c:formatCode>General</c:formatCode>
                <c:ptCount val="6"/>
                <c:pt idx="0">
                  <c:v>5.22</c:v>
                </c:pt>
                <c:pt idx="1">
                  <c:v>5.0999999999999996</c:v>
                </c:pt>
                <c:pt idx="2">
                  <c:v>4.7</c:v>
                </c:pt>
                <c:pt idx="3">
                  <c:v>5.1100000000000003</c:v>
                </c:pt>
                <c:pt idx="4">
                  <c:v>7.26</c:v>
                </c:pt>
                <c:pt idx="5">
                  <c:v>6.98</c:v>
                </c:pt>
              </c:numCache>
            </c:numRef>
          </c:val>
          <c:extLst>
            <c:ext xmlns:c16="http://schemas.microsoft.com/office/drawing/2014/chart" uri="{C3380CC4-5D6E-409C-BE32-E72D297353CC}">
              <c16:uniqueId val="{00000001-35C4-4DA9-9FC7-EED981C5C553}"/>
            </c:ext>
          </c:extLst>
        </c:ser>
        <c:dLbls>
          <c:showLegendKey val="0"/>
          <c:showVal val="0"/>
          <c:showCatName val="0"/>
          <c:showSerName val="0"/>
          <c:showPercent val="0"/>
          <c:showBubbleSize val="0"/>
        </c:dLbls>
        <c:gapWidth val="219"/>
        <c:overlap val="-27"/>
        <c:axId val="1674033184"/>
        <c:axId val="1674049824"/>
      </c:barChart>
      <c:catAx>
        <c:axId val="16740331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674049824"/>
        <c:crosses val="autoZero"/>
        <c:auto val="1"/>
        <c:lblAlgn val="ctr"/>
        <c:lblOffset val="100"/>
        <c:noMultiLvlLbl val="0"/>
      </c:catAx>
      <c:valAx>
        <c:axId val="1674049824"/>
        <c:scaling>
          <c:orientation val="minMax"/>
          <c:max val="10"/>
          <c:min val="0"/>
        </c:scaling>
        <c:delete val="1"/>
        <c:axPos val="l"/>
        <c:numFmt formatCode="General" sourceLinked="1"/>
        <c:majorTickMark val="none"/>
        <c:minorTickMark val="none"/>
        <c:tickLblPos val="nextTo"/>
        <c:crossAx val="1674033184"/>
        <c:crosses val="autoZero"/>
        <c:crossBetween val="between"/>
      </c:valAx>
      <c:spPr>
        <a:noFill/>
        <a:ln>
          <a:noFill/>
        </a:ln>
        <a:effectLst/>
      </c:spPr>
    </c:plotArea>
    <c:legend>
      <c:legendPos val="b"/>
      <c:layout>
        <c:manualLayout>
          <c:xMode val="edge"/>
          <c:yMode val="edge"/>
          <c:x val="1.4641876417787329E-2"/>
          <c:y val="0.81123450964268418"/>
          <c:w val="0.98405600879233845"/>
          <c:h val="0.15773000692007752"/>
        </c:manualLayout>
      </c:layout>
      <c:overlay val="0"/>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lumMod val="85000"/>
      </a:schemeClr>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4">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fillRef idx="2">
      <cs:styleClr val="auto"/>
    </cs:fillRef>
    <cs:effectRef idx="1"/>
    <cs:fontRef idx="minor">
      <a:schemeClr val="dk1"/>
    </cs:fontRef>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4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AB997A-0723-45A0-A69C-5DD9BFC3634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6EF1B00-7D58-4B3C-A66F-2CABF891C180}">
      <dgm:prSet phldrT="[Text]" custT="1"/>
      <dgm:spPr>
        <a:noFill/>
        <a:ln>
          <a:solidFill>
            <a:schemeClr val="accent1"/>
          </a:solidFill>
        </a:ln>
      </dgm:spPr>
      <dgm:t>
        <a:bodyPr/>
        <a:lstStyle/>
        <a:p>
          <a:pPr>
            <a:buClr>
              <a:srgbClr val="000000"/>
            </a:buClr>
            <a:buSzPts val="1400"/>
            <a:buFont typeface="+mj-lt"/>
            <a:buAutoNum type="alphaLcParenR"/>
          </a:pPr>
          <a:r>
            <a:rPr lang="en-US" sz="1200" i="1" u="none" strike="noStrike" dirty="0">
              <a:solidFill>
                <a:schemeClr val="tx1"/>
              </a:solidFill>
              <a:effectLst/>
              <a:uFill>
                <a:solidFill>
                  <a:srgbClr val="000000"/>
                </a:solidFill>
              </a:uFill>
              <a:latin typeface="+mj-lt"/>
              <a:ea typeface="Calibri" panose="020F0502020204030204" pitchFamily="34" charset="0"/>
              <a:cs typeface="Calibri" panose="020F0502020204030204" pitchFamily="34" charset="0"/>
            </a:rPr>
            <a:t>Installation of Distribution transformers of appropriate capacity close to irrigation pump sets considering HVDS to minimize distribution losses</a:t>
          </a:r>
          <a:endParaRPr lang="en-US" sz="1200" i="1" dirty="0">
            <a:solidFill>
              <a:schemeClr val="tx1"/>
            </a:solidFill>
          </a:endParaRPr>
        </a:p>
      </dgm:t>
    </dgm:pt>
    <dgm:pt modelId="{A4AFF6A6-FC8D-43A5-B98E-C322F2E3083A}" type="parTrans" cxnId="{E2273974-536B-4C1C-AA0C-2CF7420B957B}">
      <dgm:prSet/>
      <dgm:spPr/>
      <dgm:t>
        <a:bodyPr/>
        <a:lstStyle/>
        <a:p>
          <a:endParaRPr lang="en-US" sz="1200"/>
        </a:p>
      </dgm:t>
    </dgm:pt>
    <dgm:pt modelId="{CC20A5FF-D0BD-4DE0-B00D-D14D2ED2ABA7}" type="sibTrans" cxnId="{E2273974-536B-4C1C-AA0C-2CF7420B957B}">
      <dgm:prSet/>
      <dgm:spPr/>
      <dgm:t>
        <a:bodyPr/>
        <a:lstStyle/>
        <a:p>
          <a:endParaRPr lang="en-US" sz="1200"/>
        </a:p>
      </dgm:t>
    </dgm:pt>
    <dgm:pt modelId="{3B032836-28D5-4B84-AC24-338875255936}">
      <dgm:prSet phldrT="[Text]" custT="1"/>
      <dgm:spPr>
        <a:solidFill>
          <a:srgbClr val="007680"/>
        </a:solidFill>
      </dgm:spPr>
      <dgm:t>
        <a:bodyPr/>
        <a:lstStyle/>
        <a:p>
          <a:pPr>
            <a:buClr>
              <a:srgbClr val="000000"/>
            </a:buClr>
            <a:buSzPts val="1400"/>
            <a:buFont typeface="+mj-lt"/>
            <a:buNone/>
          </a:pPr>
          <a:r>
            <a:rPr lang="en-US" sz="1200" i="1" u="none" strike="noStrike" dirty="0">
              <a:solidFill>
                <a:schemeClr val="bg1"/>
              </a:solidFill>
              <a:effectLst/>
              <a:uFill>
                <a:solidFill>
                  <a:srgbClr val="000000"/>
                </a:solidFill>
              </a:uFill>
              <a:latin typeface="+mj-lt"/>
              <a:ea typeface="Calibri" panose="020F0502020204030204" pitchFamily="34" charset="0"/>
              <a:cs typeface="Calibri" panose="020F0502020204030204" pitchFamily="34" charset="0"/>
            </a:rPr>
            <a:t>Installation of energy meters at DTR end and </a:t>
          </a:r>
          <a:r>
            <a:rPr lang="en-US" sz="1200" i="1" u="none" strike="noStrike" dirty="0" err="1">
              <a:solidFill>
                <a:schemeClr val="bg1"/>
              </a:solidFill>
              <a:effectLst/>
              <a:uFill>
                <a:solidFill>
                  <a:srgbClr val="000000"/>
                </a:solidFill>
              </a:uFill>
              <a:latin typeface="+mj-lt"/>
              <a:ea typeface="Calibri" panose="020F0502020204030204" pitchFamily="34" charset="0"/>
              <a:cs typeface="Calibri" panose="020F0502020204030204" pitchFamily="34" charset="0"/>
            </a:rPr>
            <a:t>drawal</a:t>
          </a:r>
          <a:r>
            <a:rPr lang="en-US" sz="1200" i="1" u="none" strike="noStrike" dirty="0">
              <a:solidFill>
                <a:schemeClr val="bg1"/>
              </a:solidFill>
              <a:effectLst/>
              <a:uFill>
                <a:solidFill>
                  <a:srgbClr val="000000"/>
                </a:solidFill>
              </a:uFill>
              <a:latin typeface="+mj-lt"/>
              <a:ea typeface="Calibri" panose="020F0502020204030204" pitchFamily="34" charset="0"/>
              <a:cs typeface="Calibri" panose="020F0502020204030204" pitchFamily="34" charset="0"/>
            </a:rPr>
            <a:t> of LT service line with insulated cable to prevent accident as well as theft of electricity.</a:t>
          </a:r>
          <a:endParaRPr lang="en-US" sz="1200" i="1" dirty="0">
            <a:solidFill>
              <a:schemeClr val="bg1"/>
            </a:solidFill>
          </a:endParaRPr>
        </a:p>
      </dgm:t>
    </dgm:pt>
    <dgm:pt modelId="{08F55003-D04F-4222-AE53-D7A73C61207E}" type="parTrans" cxnId="{DAFB9F38-DC55-444B-80B9-5FCF200B63EF}">
      <dgm:prSet/>
      <dgm:spPr/>
      <dgm:t>
        <a:bodyPr/>
        <a:lstStyle/>
        <a:p>
          <a:endParaRPr lang="en-US" sz="1200"/>
        </a:p>
      </dgm:t>
    </dgm:pt>
    <dgm:pt modelId="{94EE8308-5153-44F4-92A7-81790671798F}" type="sibTrans" cxnId="{DAFB9F38-DC55-444B-80B9-5FCF200B63EF}">
      <dgm:prSet/>
      <dgm:spPr/>
      <dgm:t>
        <a:bodyPr/>
        <a:lstStyle/>
        <a:p>
          <a:endParaRPr lang="en-US" sz="1200"/>
        </a:p>
      </dgm:t>
    </dgm:pt>
    <dgm:pt modelId="{F8C02CB5-2CD2-4269-879E-E922F0153DCD}">
      <dgm:prSet phldrT="[Text]" custT="1"/>
      <dgm:spPr>
        <a:noFill/>
        <a:ln>
          <a:solidFill>
            <a:schemeClr val="accent1"/>
          </a:solidFill>
        </a:ln>
      </dgm:spPr>
      <dgm:t>
        <a:bodyPr/>
        <a:lstStyle/>
        <a:p>
          <a:r>
            <a:rPr lang="en-US" sz="1200" i="1" u="none" strike="noStrike" dirty="0">
              <a:solidFill>
                <a:schemeClr val="tx1"/>
              </a:solidFill>
              <a:effectLst/>
              <a:uFill>
                <a:solidFill>
                  <a:srgbClr val="000000"/>
                </a:solidFill>
              </a:uFill>
              <a:latin typeface="+mj-lt"/>
              <a:ea typeface="Calibri" panose="020F0502020204030204" pitchFamily="34" charset="0"/>
              <a:cs typeface="Calibri" panose="020F0502020204030204" pitchFamily="34" charset="0"/>
            </a:rPr>
            <a:t>GPS survey of proposed infrastructure for electrification of agricultural pump sets of all intending farmers who have applied to WBSEDCL within 30.04.2015 including those under OTA scheme of Government of West Bengal</a:t>
          </a:r>
          <a:endParaRPr lang="en-US" sz="1200" i="1" dirty="0">
            <a:solidFill>
              <a:schemeClr val="tx1"/>
            </a:solidFill>
          </a:endParaRPr>
        </a:p>
      </dgm:t>
    </dgm:pt>
    <dgm:pt modelId="{3EBF645B-E900-4381-A152-3861BD9348D4}" type="parTrans" cxnId="{96CBFCA7-B524-4439-BC9E-85D9068803AC}">
      <dgm:prSet/>
      <dgm:spPr/>
      <dgm:t>
        <a:bodyPr/>
        <a:lstStyle/>
        <a:p>
          <a:endParaRPr lang="en-US" sz="1200"/>
        </a:p>
      </dgm:t>
    </dgm:pt>
    <dgm:pt modelId="{E3F7DDD2-A63E-4122-B1D7-7853E4F7A6A9}" type="sibTrans" cxnId="{96CBFCA7-B524-4439-BC9E-85D9068803AC}">
      <dgm:prSet/>
      <dgm:spPr/>
      <dgm:t>
        <a:bodyPr/>
        <a:lstStyle/>
        <a:p>
          <a:endParaRPr lang="en-US" sz="1200"/>
        </a:p>
      </dgm:t>
    </dgm:pt>
    <dgm:pt modelId="{1FEF20D5-0F06-4FC9-B273-80A047392FC7}" type="pres">
      <dgm:prSet presAssocID="{53AB997A-0723-45A0-A69C-5DD9BFC36347}" presName="linear" presStyleCnt="0">
        <dgm:presLayoutVars>
          <dgm:animLvl val="lvl"/>
          <dgm:resizeHandles val="exact"/>
        </dgm:presLayoutVars>
      </dgm:prSet>
      <dgm:spPr/>
    </dgm:pt>
    <dgm:pt modelId="{06DF2E92-3B22-4141-BC72-9F3F67256946}" type="pres">
      <dgm:prSet presAssocID="{26EF1B00-7D58-4B3C-A66F-2CABF891C180}" presName="parentText" presStyleLbl="node1" presStyleIdx="0" presStyleCnt="3" custLinFactY="-48705" custLinFactNeighborX="-979" custLinFactNeighborY="-100000">
        <dgm:presLayoutVars>
          <dgm:chMax val="0"/>
          <dgm:bulletEnabled val="1"/>
        </dgm:presLayoutVars>
      </dgm:prSet>
      <dgm:spPr/>
    </dgm:pt>
    <dgm:pt modelId="{575849AF-B0DA-4A04-982F-01136E975CDF}" type="pres">
      <dgm:prSet presAssocID="{CC20A5FF-D0BD-4DE0-B00D-D14D2ED2ABA7}" presName="spacer" presStyleCnt="0"/>
      <dgm:spPr/>
    </dgm:pt>
    <dgm:pt modelId="{7F47E246-29FB-442F-A05A-8F3B3CB7B2BE}" type="pres">
      <dgm:prSet presAssocID="{3B032836-28D5-4B84-AC24-338875255936}" presName="parentText" presStyleLbl="node1" presStyleIdx="1" presStyleCnt="3" custLinFactNeighborY="-31655">
        <dgm:presLayoutVars>
          <dgm:chMax val="0"/>
          <dgm:bulletEnabled val="1"/>
        </dgm:presLayoutVars>
      </dgm:prSet>
      <dgm:spPr/>
    </dgm:pt>
    <dgm:pt modelId="{0F3EEB30-34C1-4EA0-8D1D-FF3D55D6FED0}" type="pres">
      <dgm:prSet presAssocID="{94EE8308-5153-44F4-92A7-81790671798F}" presName="spacer" presStyleCnt="0"/>
      <dgm:spPr/>
    </dgm:pt>
    <dgm:pt modelId="{27FDE3E8-5274-4BE7-B0C6-D33CD90FE2A0}" type="pres">
      <dgm:prSet presAssocID="{F8C02CB5-2CD2-4269-879E-E922F0153DCD}" presName="parentText" presStyleLbl="node1" presStyleIdx="2" presStyleCnt="3" custLinFactNeighborY="-2903">
        <dgm:presLayoutVars>
          <dgm:chMax val="0"/>
          <dgm:bulletEnabled val="1"/>
        </dgm:presLayoutVars>
      </dgm:prSet>
      <dgm:spPr/>
    </dgm:pt>
  </dgm:ptLst>
  <dgm:cxnLst>
    <dgm:cxn modelId="{5C4B1B1E-C2DF-42BE-A9C9-B0CF0992F360}" type="presOf" srcId="{53AB997A-0723-45A0-A69C-5DD9BFC36347}" destId="{1FEF20D5-0F06-4FC9-B273-80A047392FC7}" srcOrd="0" destOrd="0" presId="urn:microsoft.com/office/officeart/2005/8/layout/vList2"/>
    <dgm:cxn modelId="{DAFB9F38-DC55-444B-80B9-5FCF200B63EF}" srcId="{53AB997A-0723-45A0-A69C-5DD9BFC36347}" destId="{3B032836-28D5-4B84-AC24-338875255936}" srcOrd="1" destOrd="0" parTransId="{08F55003-D04F-4222-AE53-D7A73C61207E}" sibTransId="{94EE8308-5153-44F4-92A7-81790671798F}"/>
    <dgm:cxn modelId="{E2273974-536B-4C1C-AA0C-2CF7420B957B}" srcId="{53AB997A-0723-45A0-A69C-5DD9BFC36347}" destId="{26EF1B00-7D58-4B3C-A66F-2CABF891C180}" srcOrd="0" destOrd="0" parTransId="{A4AFF6A6-FC8D-43A5-B98E-C322F2E3083A}" sibTransId="{CC20A5FF-D0BD-4DE0-B00D-D14D2ED2ABA7}"/>
    <dgm:cxn modelId="{96CBFCA7-B524-4439-BC9E-85D9068803AC}" srcId="{53AB997A-0723-45A0-A69C-5DD9BFC36347}" destId="{F8C02CB5-2CD2-4269-879E-E922F0153DCD}" srcOrd="2" destOrd="0" parTransId="{3EBF645B-E900-4381-A152-3861BD9348D4}" sibTransId="{E3F7DDD2-A63E-4122-B1D7-7853E4F7A6A9}"/>
    <dgm:cxn modelId="{1CDAB8BB-CDC2-4E02-B265-E7AED1AA6F51}" type="presOf" srcId="{26EF1B00-7D58-4B3C-A66F-2CABF891C180}" destId="{06DF2E92-3B22-4141-BC72-9F3F67256946}" srcOrd="0" destOrd="0" presId="urn:microsoft.com/office/officeart/2005/8/layout/vList2"/>
    <dgm:cxn modelId="{1D82C0D0-2996-4011-8988-E0BF1716B9BA}" type="presOf" srcId="{3B032836-28D5-4B84-AC24-338875255936}" destId="{7F47E246-29FB-442F-A05A-8F3B3CB7B2BE}" srcOrd="0" destOrd="0" presId="urn:microsoft.com/office/officeart/2005/8/layout/vList2"/>
    <dgm:cxn modelId="{6FC8D3D2-88DB-4430-8A69-2BEEDD03B47F}" type="presOf" srcId="{F8C02CB5-2CD2-4269-879E-E922F0153DCD}" destId="{27FDE3E8-5274-4BE7-B0C6-D33CD90FE2A0}" srcOrd="0" destOrd="0" presId="urn:microsoft.com/office/officeart/2005/8/layout/vList2"/>
    <dgm:cxn modelId="{AF50EB13-B259-4A83-BCFE-7792636F84AC}" type="presParOf" srcId="{1FEF20D5-0F06-4FC9-B273-80A047392FC7}" destId="{06DF2E92-3B22-4141-BC72-9F3F67256946}" srcOrd="0" destOrd="0" presId="urn:microsoft.com/office/officeart/2005/8/layout/vList2"/>
    <dgm:cxn modelId="{E436FD9F-8DA3-45D0-8911-369B038D2B48}" type="presParOf" srcId="{1FEF20D5-0F06-4FC9-B273-80A047392FC7}" destId="{575849AF-B0DA-4A04-982F-01136E975CDF}" srcOrd="1" destOrd="0" presId="urn:microsoft.com/office/officeart/2005/8/layout/vList2"/>
    <dgm:cxn modelId="{67C99349-3AE9-467F-959C-B14B492A2865}" type="presParOf" srcId="{1FEF20D5-0F06-4FC9-B273-80A047392FC7}" destId="{7F47E246-29FB-442F-A05A-8F3B3CB7B2BE}" srcOrd="2" destOrd="0" presId="urn:microsoft.com/office/officeart/2005/8/layout/vList2"/>
    <dgm:cxn modelId="{6D8B3F9A-5328-444B-AC64-092FA9DE559D}" type="presParOf" srcId="{1FEF20D5-0F06-4FC9-B273-80A047392FC7}" destId="{0F3EEB30-34C1-4EA0-8D1D-FF3D55D6FED0}" srcOrd="3" destOrd="0" presId="urn:microsoft.com/office/officeart/2005/8/layout/vList2"/>
    <dgm:cxn modelId="{26238FA8-4AFF-4166-B8CB-A423DC4A1E9C}" type="presParOf" srcId="{1FEF20D5-0F06-4FC9-B273-80A047392FC7}" destId="{27FDE3E8-5274-4BE7-B0C6-D33CD90FE2A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7436465-E87B-431D-9439-E17E3F34606A}"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5406CD63-A162-4CDE-89A0-86FF4BA9D2F5}">
      <dgm:prSet custT="1"/>
      <dgm:spPr>
        <a:solidFill>
          <a:schemeClr val="accent6">
            <a:lumMod val="40000"/>
            <a:lumOff val="60000"/>
          </a:schemeClr>
        </a:solidFill>
      </dgm:spPr>
      <dgm:t>
        <a:bodyPr/>
        <a:lstStyle/>
        <a:p>
          <a:r>
            <a:rPr lang="en-IN" sz="1100" dirty="0">
              <a:solidFill>
                <a:schemeClr val="tx1"/>
              </a:solidFill>
              <a:effectLst/>
              <a:latin typeface="Verdana" panose="020B0604030504040204" pitchFamily="34" charset="0"/>
              <a:ea typeface="Verdana" panose="020B0604030504040204" pitchFamily="34" charset="0"/>
              <a:cs typeface="Arial" panose="020B0604020202020204" pitchFamily="34" charset="0"/>
            </a:rPr>
            <a:t>Permissible area of 6800 acres available for Renewable Energy project development.</a:t>
          </a:r>
        </a:p>
      </dgm:t>
    </dgm:pt>
    <dgm:pt modelId="{A6516B22-2C78-444C-9781-792F6806D48B}" type="parTrans" cxnId="{70C884F1-D6FC-4288-B64B-040B47F0030B}">
      <dgm:prSet/>
      <dgm:spPr/>
      <dgm:t>
        <a:bodyPr/>
        <a:lstStyle/>
        <a:p>
          <a:endParaRPr lang="en-US"/>
        </a:p>
      </dgm:t>
    </dgm:pt>
    <dgm:pt modelId="{8BF78846-CED6-49DB-9D9F-53485A3DAED8}" type="sibTrans" cxnId="{70C884F1-D6FC-4288-B64B-040B47F0030B}">
      <dgm:prSet/>
      <dgm:spPr/>
      <dgm:t>
        <a:bodyPr/>
        <a:lstStyle/>
        <a:p>
          <a:endParaRPr lang="en-US"/>
        </a:p>
      </dgm:t>
    </dgm:pt>
    <dgm:pt modelId="{BB538F95-9C69-4B43-B382-A56ACCF525E9}">
      <dgm:prSet custT="1"/>
      <dgm:spPr>
        <a:solidFill>
          <a:schemeClr val="tx1">
            <a:lumMod val="65000"/>
            <a:lumOff val="35000"/>
          </a:schemeClr>
        </a:solidFill>
      </dgm:spPr>
      <dgm:t>
        <a:bodyPr/>
        <a:lstStyle/>
        <a:p>
          <a:r>
            <a:rPr lang="en-IN" sz="1100" dirty="0">
              <a:latin typeface="Verdana" panose="020B0604030504040204" pitchFamily="34" charset="0"/>
              <a:ea typeface="Verdana" panose="020B0604030504040204" pitchFamily="34" charset="0"/>
              <a:cs typeface="Arial" panose="020B0604020202020204" pitchFamily="34" charset="0"/>
            </a:rPr>
            <a:t>The Project size is determined to be 1200 MW under the Ultra Mega Solar Park project having a project life of 25 years.</a:t>
          </a:r>
        </a:p>
      </dgm:t>
    </dgm:pt>
    <dgm:pt modelId="{C668BC8E-5492-4FF1-A881-180949309BAF}" type="parTrans" cxnId="{B7C69245-EF69-45CA-945E-EE446F25E903}">
      <dgm:prSet/>
      <dgm:spPr/>
      <dgm:t>
        <a:bodyPr/>
        <a:lstStyle/>
        <a:p>
          <a:endParaRPr lang="en-US"/>
        </a:p>
      </dgm:t>
    </dgm:pt>
    <dgm:pt modelId="{3FD6042B-0744-4579-BEE9-9AA139547846}" type="sibTrans" cxnId="{B7C69245-EF69-45CA-945E-EE446F25E903}">
      <dgm:prSet/>
      <dgm:spPr/>
      <dgm:t>
        <a:bodyPr/>
        <a:lstStyle/>
        <a:p>
          <a:endParaRPr lang="en-US"/>
        </a:p>
      </dgm:t>
    </dgm:pt>
    <dgm:pt modelId="{242703DA-5E97-4876-B22C-2099E8D71FD7}">
      <dgm:prSet custT="1"/>
      <dgm:spPr>
        <a:solidFill>
          <a:schemeClr val="accent6">
            <a:lumMod val="40000"/>
            <a:lumOff val="60000"/>
          </a:schemeClr>
        </a:solidFill>
      </dgm:spPr>
      <dgm:t>
        <a:bodyPr/>
        <a:lstStyle/>
        <a:p>
          <a:r>
            <a:rPr lang="en-IN" sz="1100" dirty="0">
              <a:solidFill>
                <a:schemeClr val="tx1"/>
              </a:solidFill>
              <a:latin typeface="Verdana" panose="020B0604030504040204" pitchFamily="34" charset="0"/>
              <a:ea typeface="Verdana" panose="020B0604030504040204" pitchFamily="34" charset="0"/>
              <a:cs typeface="Arial" panose="020B0604020202020204" pitchFamily="34" charset="0"/>
            </a:rPr>
            <a:t>Monocrystalline solar PV modules are to be used in this project.</a:t>
          </a:r>
        </a:p>
      </dgm:t>
    </dgm:pt>
    <dgm:pt modelId="{DFBBA4E8-2997-4A08-AF69-C5932F026A7C}" type="parTrans" cxnId="{B9B5E008-7DFD-4279-B8C6-3A99982B4801}">
      <dgm:prSet/>
      <dgm:spPr/>
      <dgm:t>
        <a:bodyPr/>
        <a:lstStyle/>
        <a:p>
          <a:endParaRPr lang="en-US"/>
        </a:p>
      </dgm:t>
    </dgm:pt>
    <dgm:pt modelId="{C02FF5EF-C858-4432-85C0-5832169C5718}" type="sibTrans" cxnId="{B9B5E008-7DFD-4279-B8C6-3A99982B4801}">
      <dgm:prSet/>
      <dgm:spPr/>
      <dgm:t>
        <a:bodyPr/>
        <a:lstStyle/>
        <a:p>
          <a:endParaRPr lang="en-US"/>
        </a:p>
      </dgm:t>
    </dgm:pt>
    <dgm:pt modelId="{3C415B27-862D-43AD-8A48-1EE15157374C}">
      <dgm:prSet custT="1"/>
      <dgm:spPr>
        <a:solidFill>
          <a:schemeClr val="tx1">
            <a:lumMod val="65000"/>
            <a:lumOff val="35000"/>
          </a:schemeClr>
        </a:solidFill>
      </dgm:spPr>
      <dgm:t>
        <a:bodyPr/>
        <a:lstStyle/>
        <a:p>
          <a:r>
            <a:rPr lang="en-IN" sz="1100" dirty="0">
              <a:effectLst/>
              <a:latin typeface="Verdana" panose="020B0604030504040204" pitchFamily="34" charset="0"/>
              <a:ea typeface="Verdana" panose="020B0604030504040204" pitchFamily="34" charset="0"/>
              <a:cs typeface="Times New Roman" panose="02020603050405020304" pitchFamily="18" charset="0"/>
            </a:rPr>
            <a:t>24 </a:t>
          </a:r>
          <a:r>
            <a:rPr lang="en-US" sz="1100" dirty="0">
              <a:latin typeface="Verdana" panose="020B0604030504040204" pitchFamily="34" charset="0"/>
              <a:ea typeface="Verdana" panose="020B0604030504040204" pitchFamily="34" charset="0"/>
              <a:cs typeface="Arial" panose="020B0604020202020204" pitchFamily="34" charset="0"/>
            </a:rPr>
            <a:t>Pooling substations (33/132 kV each) are proposed to be developed which will be connected from </a:t>
          </a:r>
          <a:r>
            <a:rPr lang="en-US" sz="1100" dirty="0" err="1">
              <a:latin typeface="Verdana" panose="020B0604030504040204" pitchFamily="34" charset="0"/>
              <a:ea typeface="Verdana" panose="020B0604030504040204" pitchFamily="34" charset="0"/>
              <a:cs typeface="Arial" panose="020B0604020202020204" pitchFamily="34" charset="0"/>
            </a:rPr>
            <a:t>Nayachar</a:t>
          </a:r>
          <a:r>
            <a:rPr lang="en-US" sz="1100" dirty="0">
              <a:latin typeface="Verdana" panose="020B0604030504040204" pitchFamily="34" charset="0"/>
              <a:ea typeface="Verdana" panose="020B0604030504040204" pitchFamily="34" charset="0"/>
              <a:cs typeface="Arial" panose="020B0604020202020204" pitchFamily="34" charset="0"/>
            </a:rPr>
            <a:t> to Haldia NIZ 132 kV substations. </a:t>
          </a:r>
          <a:endParaRPr lang="en-IN" sz="1100" dirty="0">
            <a:latin typeface="Verdana" panose="020B0604030504040204" pitchFamily="34" charset="0"/>
            <a:ea typeface="Verdana" panose="020B0604030504040204" pitchFamily="34" charset="0"/>
            <a:cs typeface="Arial" panose="020B0604020202020204" pitchFamily="34" charset="0"/>
          </a:endParaRPr>
        </a:p>
      </dgm:t>
    </dgm:pt>
    <dgm:pt modelId="{331A8DE1-DC61-4C20-A067-86B6083C340D}" type="parTrans" cxnId="{4763846B-AF87-43ED-AD3F-CF665119ADCC}">
      <dgm:prSet/>
      <dgm:spPr/>
      <dgm:t>
        <a:bodyPr/>
        <a:lstStyle/>
        <a:p>
          <a:endParaRPr lang="en-US"/>
        </a:p>
      </dgm:t>
    </dgm:pt>
    <dgm:pt modelId="{B07B985F-C4C4-42FE-993B-DEB90D07B13D}" type="sibTrans" cxnId="{4763846B-AF87-43ED-AD3F-CF665119ADCC}">
      <dgm:prSet/>
      <dgm:spPr/>
      <dgm:t>
        <a:bodyPr/>
        <a:lstStyle/>
        <a:p>
          <a:endParaRPr lang="en-US"/>
        </a:p>
      </dgm:t>
    </dgm:pt>
    <dgm:pt modelId="{10866DE7-1C27-47F4-AEFA-5FDD04ED72F8}">
      <dgm:prSet custT="1"/>
      <dgm:spPr>
        <a:solidFill>
          <a:schemeClr val="accent6">
            <a:lumMod val="40000"/>
            <a:lumOff val="60000"/>
          </a:schemeClr>
        </a:solidFill>
      </dgm:spPr>
      <dgm:t>
        <a:bodyPr/>
        <a:lstStyle/>
        <a:p>
          <a:r>
            <a:rPr lang="en-US" sz="1100" dirty="0">
              <a:solidFill>
                <a:schemeClr val="tx1"/>
              </a:solidFill>
              <a:latin typeface="Verdana" panose="020B0604030504040204" pitchFamily="34" charset="0"/>
              <a:ea typeface="Verdana" panose="020B0604030504040204" pitchFamily="34" charset="0"/>
              <a:cs typeface="Arial" panose="020B0604020202020204" pitchFamily="34" charset="0"/>
            </a:rPr>
            <a:t>The 1200 MW </a:t>
          </a:r>
          <a:r>
            <a:rPr lang="en-US" sz="1100" dirty="0" err="1">
              <a:solidFill>
                <a:schemeClr val="tx1"/>
              </a:solidFill>
              <a:latin typeface="Verdana" panose="020B0604030504040204" pitchFamily="34" charset="0"/>
              <a:ea typeface="Verdana" panose="020B0604030504040204" pitchFamily="34" charset="0"/>
              <a:cs typeface="Arial" panose="020B0604020202020204" pitchFamily="34" charset="0"/>
            </a:rPr>
            <a:t>Nayachar</a:t>
          </a:r>
          <a:r>
            <a:rPr lang="en-US" sz="1100" dirty="0">
              <a:solidFill>
                <a:schemeClr val="tx1"/>
              </a:solidFill>
              <a:latin typeface="Verdana" panose="020B0604030504040204" pitchFamily="34" charset="0"/>
              <a:ea typeface="Verdana" panose="020B0604030504040204" pitchFamily="34" charset="0"/>
              <a:cs typeface="Arial" panose="020B0604020202020204" pitchFamily="34" charset="0"/>
            </a:rPr>
            <a:t> Solar Park will be implemented in a time frame of about 36 months.</a:t>
          </a:r>
        </a:p>
      </dgm:t>
    </dgm:pt>
    <dgm:pt modelId="{583243B0-48FF-4E74-88BA-BAD12CCA98C8}" type="parTrans" cxnId="{B9BFA06D-9A81-45A3-8616-36CD8C26974E}">
      <dgm:prSet/>
      <dgm:spPr/>
      <dgm:t>
        <a:bodyPr/>
        <a:lstStyle/>
        <a:p>
          <a:endParaRPr lang="en-US"/>
        </a:p>
      </dgm:t>
    </dgm:pt>
    <dgm:pt modelId="{80251CC9-4A49-4B30-A9E3-7B9B31891C02}" type="sibTrans" cxnId="{B9BFA06D-9A81-45A3-8616-36CD8C26974E}">
      <dgm:prSet/>
      <dgm:spPr/>
      <dgm:t>
        <a:bodyPr/>
        <a:lstStyle/>
        <a:p>
          <a:endParaRPr lang="en-US"/>
        </a:p>
      </dgm:t>
    </dgm:pt>
    <dgm:pt modelId="{0A1FE140-FF34-4CC7-A3C5-0B869B5A20AA}">
      <dgm:prSet phldrT="[Text]" custT="1"/>
      <dgm:spPr>
        <a:solidFill>
          <a:schemeClr val="tx1">
            <a:lumMod val="65000"/>
            <a:lumOff val="35000"/>
          </a:schemeClr>
        </a:solidFill>
      </dgm:spPr>
      <dgm:t>
        <a:bodyPr/>
        <a:lstStyle/>
        <a:p>
          <a:r>
            <a:rPr lang="en-IN" sz="1100" dirty="0" err="1">
              <a:effectLst/>
              <a:latin typeface="Verdana" panose="020B0604030504040204" pitchFamily="34" charset="0"/>
              <a:ea typeface="Verdana" panose="020B0604030504040204" pitchFamily="34" charset="0"/>
              <a:cs typeface="Arial" panose="020B0604020202020204" pitchFamily="34" charset="0"/>
            </a:rPr>
            <a:t>Nayachar</a:t>
          </a:r>
          <a:r>
            <a:rPr lang="en-IN" sz="1100" dirty="0">
              <a:effectLst/>
              <a:latin typeface="Verdana" panose="020B0604030504040204" pitchFamily="34" charset="0"/>
              <a:ea typeface="Verdana" panose="020B0604030504040204" pitchFamily="34" charset="0"/>
              <a:cs typeface="Arial" panose="020B0604020202020204" pitchFamily="34" charset="0"/>
            </a:rPr>
            <a:t> is an island located in the Hooghly River, off Haldia in </a:t>
          </a:r>
          <a:r>
            <a:rPr lang="en-IN" sz="1100" dirty="0" err="1">
              <a:effectLst/>
              <a:latin typeface="Verdana" panose="020B0604030504040204" pitchFamily="34" charset="0"/>
              <a:ea typeface="Verdana" panose="020B0604030504040204" pitchFamily="34" charset="0"/>
              <a:cs typeface="Arial" panose="020B0604020202020204" pitchFamily="34" charset="0"/>
            </a:rPr>
            <a:t>Purba</a:t>
          </a:r>
          <a:r>
            <a:rPr lang="en-IN" sz="1100" dirty="0">
              <a:effectLst/>
              <a:latin typeface="Verdana" panose="020B0604030504040204" pitchFamily="34" charset="0"/>
              <a:ea typeface="Verdana" panose="020B0604030504040204" pitchFamily="34" charset="0"/>
              <a:cs typeface="Arial" panose="020B0604020202020204" pitchFamily="34" charset="0"/>
            </a:rPr>
            <a:t> Medinipur district, connected via Ferry Services. The river Hooghly has a width around 1.1 KM.</a:t>
          </a:r>
          <a:endParaRPr lang="en-US" sz="1600" dirty="0"/>
        </a:p>
      </dgm:t>
    </dgm:pt>
    <dgm:pt modelId="{DD5ADDA0-8015-49B3-891A-F472095F9FB0}" type="sibTrans" cxnId="{0C716F57-2172-47BD-AEA1-3E10B351B0C8}">
      <dgm:prSet/>
      <dgm:spPr/>
      <dgm:t>
        <a:bodyPr/>
        <a:lstStyle/>
        <a:p>
          <a:endParaRPr lang="en-US"/>
        </a:p>
      </dgm:t>
    </dgm:pt>
    <dgm:pt modelId="{5CC152F0-03DE-42B9-AB05-A141E4EA42B0}" type="parTrans" cxnId="{0C716F57-2172-47BD-AEA1-3E10B351B0C8}">
      <dgm:prSet/>
      <dgm:spPr/>
      <dgm:t>
        <a:bodyPr/>
        <a:lstStyle/>
        <a:p>
          <a:endParaRPr lang="en-US"/>
        </a:p>
      </dgm:t>
    </dgm:pt>
    <dgm:pt modelId="{5A2982D7-7ACE-4B3D-B9F9-649D9CB5863A}" type="pres">
      <dgm:prSet presAssocID="{47436465-E87B-431D-9439-E17E3F34606A}" presName="Name0" presStyleCnt="0">
        <dgm:presLayoutVars>
          <dgm:chMax val="7"/>
          <dgm:chPref val="7"/>
          <dgm:dir/>
        </dgm:presLayoutVars>
      </dgm:prSet>
      <dgm:spPr/>
    </dgm:pt>
    <dgm:pt modelId="{5C8B90A8-C254-4723-A906-C1E0A0C58415}" type="pres">
      <dgm:prSet presAssocID="{47436465-E87B-431D-9439-E17E3F34606A}" presName="Name1" presStyleCnt="0"/>
      <dgm:spPr/>
    </dgm:pt>
    <dgm:pt modelId="{1129D1C5-7ADC-439C-B79E-4A65CD98A9B3}" type="pres">
      <dgm:prSet presAssocID="{47436465-E87B-431D-9439-E17E3F34606A}" presName="cycle" presStyleCnt="0"/>
      <dgm:spPr/>
    </dgm:pt>
    <dgm:pt modelId="{3966D353-DC9F-4562-86A9-9F02AA32303A}" type="pres">
      <dgm:prSet presAssocID="{47436465-E87B-431D-9439-E17E3F34606A}" presName="srcNode" presStyleLbl="node1" presStyleIdx="0" presStyleCnt="6"/>
      <dgm:spPr/>
    </dgm:pt>
    <dgm:pt modelId="{81DE1F50-A314-41C0-A42C-062F168E30A0}" type="pres">
      <dgm:prSet presAssocID="{47436465-E87B-431D-9439-E17E3F34606A}" presName="conn" presStyleLbl="parChTrans1D2" presStyleIdx="0" presStyleCnt="1"/>
      <dgm:spPr/>
    </dgm:pt>
    <dgm:pt modelId="{43525925-0146-47C1-BADB-B947B2B7DD93}" type="pres">
      <dgm:prSet presAssocID="{47436465-E87B-431D-9439-E17E3F34606A}" presName="extraNode" presStyleLbl="node1" presStyleIdx="0" presStyleCnt="6"/>
      <dgm:spPr/>
    </dgm:pt>
    <dgm:pt modelId="{715E4A15-8E21-48E6-9135-5DE4DAB1952E}" type="pres">
      <dgm:prSet presAssocID="{47436465-E87B-431D-9439-E17E3F34606A}" presName="dstNode" presStyleLbl="node1" presStyleIdx="0" presStyleCnt="6"/>
      <dgm:spPr/>
    </dgm:pt>
    <dgm:pt modelId="{5F48A031-C23C-47B5-8D79-7C5B9CDB0EE5}" type="pres">
      <dgm:prSet presAssocID="{0A1FE140-FF34-4CC7-A3C5-0B869B5A20AA}" presName="text_1" presStyleLbl="node1" presStyleIdx="0" presStyleCnt="6">
        <dgm:presLayoutVars>
          <dgm:bulletEnabled val="1"/>
        </dgm:presLayoutVars>
      </dgm:prSet>
      <dgm:spPr/>
    </dgm:pt>
    <dgm:pt modelId="{053C93B2-5DBE-40BA-B502-B7D5CE79B4FC}" type="pres">
      <dgm:prSet presAssocID="{0A1FE140-FF34-4CC7-A3C5-0B869B5A20AA}" presName="accent_1" presStyleCnt="0"/>
      <dgm:spPr/>
    </dgm:pt>
    <dgm:pt modelId="{F3924EA1-C6FA-48A3-9A9A-EB2FAD8CD2F2}" type="pres">
      <dgm:prSet presAssocID="{0A1FE140-FF34-4CC7-A3C5-0B869B5A20AA}" presName="accentRepeatNode" presStyleLbl="solidFgAcc1" presStyleIdx="0" presStyleCnt="6"/>
      <dgm:spPr/>
    </dgm:pt>
    <dgm:pt modelId="{CFD0DBE4-AB81-4FBF-B868-760F6A1FACC2}" type="pres">
      <dgm:prSet presAssocID="{5406CD63-A162-4CDE-89A0-86FF4BA9D2F5}" presName="text_2" presStyleLbl="node1" presStyleIdx="1" presStyleCnt="6">
        <dgm:presLayoutVars>
          <dgm:bulletEnabled val="1"/>
        </dgm:presLayoutVars>
      </dgm:prSet>
      <dgm:spPr/>
    </dgm:pt>
    <dgm:pt modelId="{2B26C86B-8604-48E5-9F57-4D18A688624D}" type="pres">
      <dgm:prSet presAssocID="{5406CD63-A162-4CDE-89A0-86FF4BA9D2F5}" presName="accent_2" presStyleCnt="0"/>
      <dgm:spPr/>
    </dgm:pt>
    <dgm:pt modelId="{4295AD70-0F43-4044-881D-31E3DF337C41}" type="pres">
      <dgm:prSet presAssocID="{5406CD63-A162-4CDE-89A0-86FF4BA9D2F5}" presName="accentRepeatNode" presStyleLbl="solidFgAcc1" presStyleIdx="1" presStyleCnt="6"/>
      <dgm:spPr/>
    </dgm:pt>
    <dgm:pt modelId="{F5A30BFE-022A-4937-A7C5-22AE59E00987}" type="pres">
      <dgm:prSet presAssocID="{BB538F95-9C69-4B43-B382-A56ACCF525E9}" presName="text_3" presStyleLbl="node1" presStyleIdx="2" presStyleCnt="6">
        <dgm:presLayoutVars>
          <dgm:bulletEnabled val="1"/>
        </dgm:presLayoutVars>
      </dgm:prSet>
      <dgm:spPr/>
    </dgm:pt>
    <dgm:pt modelId="{0697E8F2-EED5-48CD-93DB-B99D1403005A}" type="pres">
      <dgm:prSet presAssocID="{BB538F95-9C69-4B43-B382-A56ACCF525E9}" presName="accent_3" presStyleCnt="0"/>
      <dgm:spPr/>
    </dgm:pt>
    <dgm:pt modelId="{E5CBACAD-446B-486F-8639-F5B56C7A04FD}" type="pres">
      <dgm:prSet presAssocID="{BB538F95-9C69-4B43-B382-A56ACCF525E9}" presName="accentRepeatNode" presStyleLbl="solidFgAcc1" presStyleIdx="2" presStyleCnt="6"/>
      <dgm:spPr/>
    </dgm:pt>
    <dgm:pt modelId="{31749DC1-B6DA-463B-86D6-662394E9A309}" type="pres">
      <dgm:prSet presAssocID="{242703DA-5E97-4876-B22C-2099E8D71FD7}" presName="text_4" presStyleLbl="node1" presStyleIdx="3" presStyleCnt="6">
        <dgm:presLayoutVars>
          <dgm:bulletEnabled val="1"/>
        </dgm:presLayoutVars>
      </dgm:prSet>
      <dgm:spPr/>
    </dgm:pt>
    <dgm:pt modelId="{E52A89EB-944D-4CF8-A3CC-D7C80666350E}" type="pres">
      <dgm:prSet presAssocID="{242703DA-5E97-4876-B22C-2099E8D71FD7}" presName="accent_4" presStyleCnt="0"/>
      <dgm:spPr/>
    </dgm:pt>
    <dgm:pt modelId="{CC4CB7E8-EEB8-4E82-A5ED-B7AC161E3485}" type="pres">
      <dgm:prSet presAssocID="{242703DA-5E97-4876-B22C-2099E8D71FD7}" presName="accentRepeatNode" presStyleLbl="solidFgAcc1" presStyleIdx="3" presStyleCnt="6"/>
      <dgm:spPr/>
    </dgm:pt>
    <dgm:pt modelId="{810411B2-B009-4050-8991-B740ECEDEE73}" type="pres">
      <dgm:prSet presAssocID="{3C415B27-862D-43AD-8A48-1EE15157374C}" presName="text_5" presStyleLbl="node1" presStyleIdx="4" presStyleCnt="6">
        <dgm:presLayoutVars>
          <dgm:bulletEnabled val="1"/>
        </dgm:presLayoutVars>
      </dgm:prSet>
      <dgm:spPr/>
    </dgm:pt>
    <dgm:pt modelId="{AAA4D2BA-DC71-43D2-A43F-9A73783D6A9E}" type="pres">
      <dgm:prSet presAssocID="{3C415B27-862D-43AD-8A48-1EE15157374C}" presName="accent_5" presStyleCnt="0"/>
      <dgm:spPr/>
    </dgm:pt>
    <dgm:pt modelId="{4432F258-D1AA-4500-A8E7-BB63CEDA5396}" type="pres">
      <dgm:prSet presAssocID="{3C415B27-862D-43AD-8A48-1EE15157374C}" presName="accentRepeatNode" presStyleLbl="solidFgAcc1" presStyleIdx="4" presStyleCnt="6"/>
      <dgm:spPr/>
    </dgm:pt>
    <dgm:pt modelId="{68634BCF-5A44-4B97-B3B0-306F74E77DBF}" type="pres">
      <dgm:prSet presAssocID="{10866DE7-1C27-47F4-AEFA-5FDD04ED72F8}" presName="text_6" presStyleLbl="node1" presStyleIdx="5" presStyleCnt="6">
        <dgm:presLayoutVars>
          <dgm:bulletEnabled val="1"/>
        </dgm:presLayoutVars>
      </dgm:prSet>
      <dgm:spPr/>
    </dgm:pt>
    <dgm:pt modelId="{33E517E4-C5C1-44B0-A26F-969035529546}" type="pres">
      <dgm:prSet presAssocID="{10866DE7-1C27-47F4-AEFA-5FDD04ED72F8}" presName="accent_6" presStyleCnt="0"/>
      <dgm:spPr/>
    </dgm:pt>
    <dgm:pt modelId="{54005ABF-6C96-4C11-B0B6-6D45D98645B5}" type="pres">
      <dgm:prSet presAssocID="{10866DE7-1C27-47F4-AEFA-5FDD04ED72F8}" presName="accentRepeatNode" presStyleLbl="solidFgAcc1" presStyleIdx="5" presStyleCnt="6"/>
      <dgm:spPr/>
    </dgm:pt>
  </dgm:ptLst>
  <dgm:cxnLst>
    <dgm:cxn modelId="{B9B5E008-7DFD-4279-B8C6-3A99982B4801}" srcId="{47436465-E87B-431D-9439-E17E3F34606A}" destId="{242703DA-5E97-4876-B22C-2099E8D71FD7}" srcOrd="3" destOrd="0" parTransId="{DFBBA4E8-2997-4A08-AF69-C5932F026A7C}" sibTransId="{C02FF5EF-C858-4432-85C0-5832169C5718}"/>
    <dgm:cxn modelId="{20F61A13-E829-4B2A-823E-9B2B94DA25A0}" type="presOf" srcId="{BB538F95-9C69-4B43-B382-A56ACCF525E9}" destId="{F5A30BFE-022A-4937-A7C5-22AE59E00987}" srcOrd="0" destOrd="0" presId="urn:microsoft.com/office/officeart/2008/layout/VerticalCurvedList"/>
    <dgm:cxn modelId="{E084D414-55F4-4FDF-B22A-DBAC88C525B8}" type="presOf" srcId="{242703DA-5E97-4876-B22C-2099E8D71FD7}" destId="{31749DC1-B6DA-463B-86D6-662394E9A309}" srcOrd="0" destOrd="0" presId="urn:microsoft.com/office/officeart/2008/layout/VerticalCurvedList"/>
    <dgm:cxn modelId="{FFB0BA34-9F6E-4C17-967B-1FAF78E03373}" type="presOf" srcId="{0A1FE140-FF34-4CC7-A3C5-0B869B5A20AA}" destId="{5F48A031-C23C-47B5-8D79-7C5B9CDB0EE5}" srcOrd="0" destOrd="0" presId="urn:microsoft.com/office/officeart/2008/layout/VerticalCurvedList"/>
    <dgm:cxn modelId="{EA3F9E35-6795-4846-B3A0-2251A9314634}" type="presOf" srcId="{3C415B27-862D-43AD-8A48-1EE15157374C}" destId="{810411B2-B009-4050-8991-B740ECEDEE73}" srcOrd="0" destOrd="0" presId="urn:microsoft.com/office/officeart/2008/layout/VerticalCurvedList"/>
    <dgm:cxn modelId="{B7C69245-EF69-45CA-945E-EE446F25E903}" srcId="{47436465-E87B-431D-9439-E17E3F34606A}" destId="{BB538F95-9C69-4B43-B382-A56ACCF525E9}" srcOrd="2" destOrd="0" parTransId="{C668BC8E-5492-4FF1-A881-180949309BAF}" sibTransId="{3FD6042B-0744-4579-BEE9-9AA139547846}"/>
    <dgm:cxn modelId="{AF4B8368-40D2-4BC8-B465-9166B6544365}" type="presOf" srcId="{5406CD63-A162-4CDE-89A0-86FF4BA9D2F5}" destId="{CFD0DBE4-AB81-4FBF-B868-760F6A1FACC2}" srcOrd="0" destOrd="0" presId="urn:microsoft.com/office/officeart/2008/layout/VerticalCurvedList"/>
    <dgm:cxn modelId="{4763846B-AF87-43ED-AD3F-CF665119ADCC}" srcId="{47436465-E87B-431D-9439-E17E3F34606A}" destId="{3C415B27-862D-43AD-8A48-1EE15157374C}" srcOrd="4" destOrd="0" parTransId="{331A8DE1-DC61-4C20-A067-86B6083C340D}" sibTransId="{B07B985F-C4C4-42FE-993B-DEB90D07B13D}"/>
    <dgm:cxn modelId="{B9BFA06D-9A81-45A3-8616-36CD8C26974E}" srcId="{47436465-E87B-431D-9439-E17E3F34606A}" destId="{10866DE7-1C27-47F4-AEFA-5FDD04ED72F8}" srcOrd="5" destOrd="0" parTransId="{583243B0-48FF-4E74-88BA-BAD12CCA98C8}" sibTransId="{80251CC9-4A49-4B30-A9E3-7B9B31891C02}"/>
    <dgm:cxn modelId="{A75CDB50-6272-4168-9CEE-6FCD3048337C}" type="presOf" srcId="{47436465-E87B-431D-9439-E17E3F34606A}" destId="{5A2982D7-7ACE-4B3D-B9F9-649D9CB5863A}" srcOrd="0" destOrd="0" presId="urn:microsoft.com/office/officeart/2008/layout/VerticalCurvedList"/>
    <dgm:cxn modelId="{0C716F57-2172-47BD-AEA1-3E10B351B0C8}" srcId="{47436465-E87B-431D-9439-E17E3F34606A}" destId="{0A1FE140-FF34-4CC7-A3C5-0B869B5A20AA}" srcOrd="0" destOrd="0" parTransId="{5CC152F0-03DE-42B9-AB05-A141E4EA42B0}" sibTransId="{DD5ADDA0-8015-49B3-891A-F472095F9FB0}"/>
    <dgm:cxn modelId="{BD6DF6DE-6198-46D6-8088-DC5FE8F5F0CD}" type="presOf" srcId="{10866DE7-1C27-47F4-AEFA-5FDD04ED72F8}" destId="{68634BCF-5A44-4B97-B3B0-306F74E77DBF}" srcOrd="0" destOrd="0" presId="urn:microsoft.com/office/officeart/2008/layout/VerticalCurvedList"/>
    <dgm:cxn modelId="{70C884F1-D6FC-4288-B64B-040B47F0030B}" srcId="{47436465-E87B-431D-9439-E17E3F34606A}" destId="{5406CD63-A162-4CDE-89A0-86FF4BA9D2F5}" srcOrd="1" destOrd="0" parTransId="{A6516B22-2C78-444C-9781-792F6806D48B}" sibTransId="{8BF78846-CED6-49DB-9D9F-53485A3DAED8}"/>
    <dgm:cxn modelId="{7BF6EEFF-344C-4248-8D8A-29AABFFA3C0A}" type="presOf" srcId="{DD5ADDA0-8015-49B3-891A-F472095F9FB0}" destId="{81DE1F50-A314-41C0-A42C-062F168E30A0}" srcOrd="0" destOrd="0" presId="urn:microsoft.com/office/officeart/2008/layout/VerticalCurvedList"/>
    <dgm:cxn modelId="{431A981D-8FF6-4F4B-A627-147496B3FC3D}" type="presParOf" srcId="{5A2982D7-7ACE-4B3D-B9F9-649D9CB5863A}" destId="{5C8B90A8-C254-4723-A906-C1E0A0C58415}" srcOrd="0" destOrd="0" presId="urn:microsoft.com/office/officeart/2008/layout/VerticalCurvedList"/>
    <dgm:cxn modelId="{BEF9B1F7-5A4F-4F0C-B99A-A275182CFA29}" type="presParOf" srcId="{5C8B90A8-C254-4723-A906-C1E0A0C58415}" destId="{1129D1C5-7ADC-439C-B79E-4A65CD98A9B3}" srcOrd="0" destOrd="0" presId="urn:microsoft.com/office/officeart/2008/layout/VerticalCurvedList"/>
    <dgm:cxn modelId="{490879D6-2429-4412-ADEC-F57B8076B3B8}" type="presParOf" srcId="{1129D1C5-7ADC-439C-B79E-4A65CD98A9B3}" destId="{3966D353-DC9F-4562-86A9-9F02AA32303A}" srcOrd="0" destOrd="0" presId="urn:microsoft.com/office/officeart/2008/layout/VerticalCurvedList"/>
    <dgm:cxn modelId="{F5045914-E96E-41DC-806E-8B9457F27158}" type="presParOf" srcId="{1129D1C5-7ADC-439C-B79E-4A65CD98A9B3}" destId="{81DE1F50-A314-41C0-A42C-062F168E30A0}" srcOrd="1" destOrd="0" presId="urn:microsoft.com/office/officeart/2008/layout/VerticalCurvedList"/>
    <dgm:cxn modelId="{F92AD53C-7C0A-4266-B339-5F8B9B49F3D4}" type="presParOf" srcId="{1129D1C5-7ADC-439C-B79E-4A65CD98A9B3}" destId="{43525925-0146-47C1-BADB-B947B2B7DD93}" srcOrd="2" destOrd="0" presId="urn:microsoft.com/office/officeart/2008/layout/VerticalCurvedList"/>
    <dgm:cxn modelId="{B5042D7C-210F-432E-9858-0C545494A378}" type="presParOf" srcId="{1129D1C5-7ADC-439C-B79E-4A65CD98A9B3}" destId="{715E4A15-8E21-48E6-9135-5DE4DAB1952E}" srcOrd="3" destOrd="0" presId="urn:microsoft.com/office/officeart/2008/layout/VerticalCurvedList"/>
    <dgm:cxn modelId="{419DEC60-D900-44DA-9491-4BEEA9209C85}" type="presParOf" srcId="{5C8B90A8-C254-4723-A906-C1E0A0C58415}" destId="{5F48A031-C23C-47B5-8D79-7C5B9CDB0EE5}" srcOrd="1" destOrd="0" presId="urn:microsoft.com/office/officeart/2008/layout/VerticalCurvedList"/>
    <dgm:cxn modelId="{AF839728-96F2-4563-9B92-94CA70A47E71}" type="presParOf" srcId="{5C8B90A8-C254-4723-A906-C1E0A0C58415}" destId="{053C93B2-5DBE-40BA-B502-B7D5CE79B4FC}" srcOrd="2" destOrd="0" presId="urn:microsoft.com/office/officeart/2008/layout/VerticalCurvedList"/>
    <dgm:cxn modelId="{45171148-6396-4529-AB98-303BD30C656C}" type="presParOf" srcId="{053C93B2-5DBE-40BA-B502-B7D5CE79B4FC}" destId="{F3924EA1-C6FA-48A3-9A9A-EB2FAD8CD2F2}" srcOrd="0" destOrd="0" presId="urn:microsoft.com/office/officeart/2008/layout/VerticalCurvedList"/>
    <dgm:cxn modelId="{48E85158-5086-45E9-9AC6-F017321CB36A}" type="presParOf" srcId="{5C8B90A8-C254-4723-A906-C1E0A0C58415}" destId="{CFD0DBE4-AB81-4FBF-B868-760F6A1FACC2}" srcOrd="3" destOrd="0" presId="urn:microsoft.com/office/officeart/2008/layout/VerticalCurvedList"/>
    <dgm:cxn modelId="{DAE81D6D-8075-4755-8B6D-33B2936B14B6}" type="presParOf" srcId="{5C8B90A8-C254-4723-A906-C1E0A0C58415}" destId="{2B26C86B-8604-48E5-9F57-4D18A688624D}" srcOrd="4" destOrd="0" presId="urn:microsoft.com/office/officeart/2008/layout/VerticalCurvedList"/>
    <dgm:cxn modelId="{8588D7E0-8F44-47CD-9CB8-F1180B9D46B4}" type="presParOf" srcId="{2B26C86B-8604-48E5-9F57-4D18A688624D}" destId="{4295AD70-0F43-4044-881D-31E3DF337C41}" srcOrd="0" destOrd="0" presId="urn:microsoft.com/office/officeart/2008/layout/VerticalCurvedList"/>
    <dgm:cxn modelId="{4A7F02CF-F67E-4E0A-AC00-B3E02808E7BB}" type="presParOf" srcId="{5C8B90A8-C254-4723-A906-C1E0A0C58415}" destId="{F5A30BFE-022A-4937-A7C5-22AE59E00987}" srcOrd="5" destOrd="0" presId="urn:microsoft.com/office/officeart/2008/layout/VerticalCurvedList"/>
    <dgm:cxn modelId="{088C22B9-0795-4FFF-9586-B122E7B84B56}" type="presParOf" srcId="{5C8B90A8-C254-4723-A906-C1E0A0C58415}" destId="{0697E8F2-EED5-48CD-93DB-B99D1403005A}" srcOrd="6" destOrd="0" presId="urn:microsoft.com/office/officeart/2008/layout/VerticalCurvedList"/>
    <dgm:cxn modelId="{DBADEDF3-9D3B-4CB8-A30F-66D1D548F780}" type="presParOf" srcId="{0697E8F2-EED5-48CD-93DB-B99D1403005A}" destId="{E5CBACAD-446B-486F-8639-F5B56C7A04FD}" srcOrd="0" destOrd="0" presId="urn:microsoft.com/office/officeart/2008/layout/VerticalCurvedList"/>
    <dgm:cxn modelId="{B991902C-6557-4C95-AB82-81EA1252466A}" type="presParOf" srcId="{5C8B90A8-C254-4723-A906-C1E0A0C58415}" destId="{31749DC1-B6DA-463B-86D6-662394E9A309}" srcOrd="7" destOrd="0" presId="urn:microsoft.com/office/officeart/2008/layout/VerticalCurvedList"/>
    <dgm:cxn modelId="{BAA10FCA-5131-41A4-826F-7FC8AD0F9DD7}" type="presParOf" srcId="{5C8B90A8-C254-4723-A906-C1E0A0C58415}" destId="{E52A89EB-944D-4CF8-A3CC-D7C80666350E}" srcOrd="8" destOrd="0" presId="urn:microsoft.com/office/officeart/2008/layout/VerticalCurvedList"/>
    <dgm:cxn modelId="{B67A6923-4167-4F72-8B15-E59A806C624C}" type="presParOf" srcId="{E52A89EB-944D-4CF8-A3CC-D7C80666350E}" destId="{CC4CB7E8-EEB8-4E82-A5ED-B7AC161E3485}" srcOrd="0" destOrd="0" presId="urn:microsoft.com/office/officeart/2008/layout/VerticalCurvedList"/>
    <dgm:cxn modelId="{2AFE484B-B0E4-4950-A0E0-C5FA1A668726}" type="presParOf" srcId="{5C8B90A8-C254-4723-A906-C1E0A0C58415}" destId="{810411B2-B009-4050-8991-B740ECEDEE73}" srcOrd="9" destOrd="0" presId="urn:microsoft.com/office/officeart/2008/layout/VerticalCurvedList"/>
    <dgm:cxn modelId="{4CAD5F27-60E4-42F1-82E1-1214B229B5B5}" type="presParOf" srcId="{5C8B90A8-C254-4723-A906-C1E0A0C58415}" destId="{AAA4D2BA-DC71-43D2-A43F-9A73783D6A9E}" srcOrd="10" destOrd="0" presId="urn:microsoft.com/office/officeart/2008/layout/VerticalCurvedList"/>
    <dgm:cxn modelId="{D50D02BA-D10A-43F7-BF8A-427A8AF2C250}" type="presParOf" srcId="{AAA4D2BA-DC71-43D2-A43F-9A73783D6A9E}" destId="{4432F258-D1AA-4500-A8E7-BB63CEDA5396}" srcOrd="0" destOrd="0" presId="urn:microsoft.com/office/officeart/2008/layout/VerticalCurvedList"/>
    <dgm:cxn modelId="{253FB8A6-32C7-47DE-BE08-FA3733A41101}" type="presParOf" srcId="{5C8B90A8-C254-4723-A906-C1E0A0C58415}" destId="{68634BCF-5A44-4B97-B3B0-306F74E77DBF}" srcOrd="11" destOrd="0" presId="urn:microsoft.com/office/officeart/2008/layout/VerticalCurvedList"/>
    <dgm:cxn modelId="{98409FD7-459C-4C56-9454-9BC1CF9F9C4E}" type="presParOf" srcId="{5C8B90A8-C254-4723-A906-C1E0A0C58415}" destId="{33E517E4-C5C1-44B0-A26F-969035529546}" srcOrd="12" destOrd="0" presId="urn:microsoft.com/office/officeart/2008/layout/VerticalCurvedList"/>
    <dgm:cxn modelId="{8D367635-88DA-4620-8DE5-C8BA7D9B7794}" type="presParOf" srcId="{33E517E4-C5C1-44B0-A26F-969035529546}" destId="{54005ABF-6C96-4C11-B0B6-6D45D98645B5}"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06A6897-2C4A-46AE-A052-0B372799160B}" type="doc">
      <dgm:prSet loTypeId="urn:microsoft.com/office/officeart/2005/8/layout/cycle4" loCatId="cycle" qsTypeId="urn:microsoft.com/office/officeart/2005/8/quickstyle/simple1" qsCatId="simple" csTypeId="urn:microsoft.com/office/officeart/2005/8/colors/accent1_2" csCatId="accent1" phldr="1"/>
      <dgm:spPr/>
      <dgm:t>
        <a:bodyPr/>
        <a:lstStyle/>
        <a:p>
          <a:endParaRPr lang="en-US"/>
        </a:p>
      </dgm:t>
    </dgm:pt>
    <dgm:pt modelId="{16A4987A-65EE-4DFB-A1AF-58A24654B744}">
      <dgm:prSet phldrT="[Text]"/>
      <dgm:spPr>
        <a:solidFill>
          <a:schemeClr val="tx1">
            <a:lumMod val="75000"/>
            <a:lumOff val="25000"/>
          </a:schemeClr>
        </a:solidFill>
      </dgm:spPr>
      <dgm:t>
        <a:bodyPr/>
        <a:lstStyle/>
        <a:p>
          <a:r>
            <a:rPr lang="en-US" dirty="0"/>
            <a:t>Increase penetration of affordable clean energy sources</a:t>
          </a:r>
        </a:p>
      </dgm:t>
    </dgm:pt>
    <dgm:pt modelId="{BA3CD93F-5D32-4CDD-BD95-C68486830560}" type="parTrans" cxnId="{073088AF-5CEA-48F2-8105-76C00D1C6828}">
      <dgm:prSet/>
      <dgm:spPr/>
      <dgm:t>
        <a:bodyPr/>
        <a:lstStyle/>
        <a:p>
          <a:endParaRPr lang="en-US"/>
        </a:p>
      </dgm:t>
    </dgm:pt>
    <dgm:pt modelId="{50D6442B-81DB-42FA-AFE6-AAF886FF4550}" type="sibTrans" cxnId="{073088AF-5CEA-48F2-8105-76C00D1C6828}">
      <dgm:prSet/>
      <dgm:spPr/>
      <dgm:t>
        <a:bodyPr/>
        <a:lstStyle/>
        <a:p>
          <a:endParaRPr lang="en-US"/>
        </a:p>
      </dgm:t>
    </dgm:pt>
    <dgm:pt modelId="{650689CE-968D-4943-8FBC-E33F6065A292}">
      <dgm:prSet phldrT="[Text]" custT="1"/>
      <dgm:spPr/>
      <dgm:t>
        <a:bodyPr/>
        <a:lstStyle/>
        <a:p>
          <a:r>
            <a:rPr lang="en-US" sz="1050" b="1" dirty="0">
              <a:latin typeface="Verdana" panose="020B0604030504040204" pitchFamily="34" charset="0"/>
              <a:ea typeface="Verdana" panose="020B0604030504040204" pitchFamily="34" charset="0"/>
            </a:rPr>
            <a:t>Clean Energy Production and :  </a:t>
          </a:r>
          <a:r>
            <a:rPr lang="en-US" sz="1050" dirty="0">
              <a:latin typeface="Verdana" panose="020B0604030504040204" pitchFamily="34" charset="0"/>
              <a:ea typeface="Verdana" panose="020B0604030504040204" pitchFamily="34" charset="0"/>
            </a:rPr>
            <a:t>solar power plant will help to produce around </a:t>
          </a:r>
          <a:r>
            <a:rPr lang="en-US" sz="1050" b="1" dirty="0">
              <a:latin typeface="Verdana" panose="020B0604030504040204" pitchFamily="34" charset="0"/>
              <a:ea typeface="Verdana" panose="020B0604030504040204" pitchFamily="34" charset="0"/>
            </a:rPr>
            <a:t>1700 MU </a:t>
          </a:r>
          <a:r>
            <a:rPr lang="en-US" sz="1050" dirty="0">
              <a:latin typeface="Verdana" panose="020B0604030504040204" pitchFamily="34" charset="0"/>
              <a:ea typeface="Verdana" panose="020B0604030504040204" pitchFamily="34" charset="0"/>
            </a:rPr>
            <a:t>electricity per year</a:t>
          </a:r>
          <a:endParaRPr lang="en-US" sz="1050" dirty="0"/>
        </a:p>
      </dgm:t>
    </dgm:pt>
    <dgm:pt modelId="{B226DDAB-88C5-4EE5-9ADE-56BD8F472381}" type="parTrans" cxnId="{0A28D9CE-6BEE-481F-A540-AF447DCA5AD1}">
      <dgm:prSet/>
      <dgm:spPr/>
      <dgm:t>
        <a:bodyPr/>
        <a:lstStyle/>
        <a:p>
          <a:endParaRPr lang="en-US"/>
        </a:p>
      </dgm:t>
    </dgm:pt>
    <dgm:pt modelId="{56611A4B-BA5E-4BD7-A62F-64E20B7777BB}" type="sibTrans" cxnId="{0A28D9CE-6BEE-481F-A540-AF447DCA5AD1}">
      <dgm:prSet/>
      <dgm:spPr/>
      <dgm:t>
        <a:bodyPr/>
        <a:lstStyle/>
        <a:p>
          <a:endParaRPr lang="en-US"/>
        </a:p>
      </dgm:t>
    </dgm:pt>
    <dgm:pt modelId="{5E0920A1-F0C4-4B25-B30A-B7E96F77379A}">
      <dgm:prSet phldrT="[Text]"/>
      <dgm:spPr>
        <a:solidFill>
          <a:srgbClr val="92D050"/>
        </a:solidFill>
      </dgm:spPr>
      <dgm:t>
        <a:bodyPr/>
        <a:lstStyle/>
        <a:p>
          <a:r>
            <a:rPr lang="en-US" dirty="0"/>
            <a:t>Promote economic activities and alternate livelihood</a:t>
          </a:r>
        </a:p>
      </dgm:t>
    </dgm:pt>
    <dgm:pt modelId="{DFE3B2E5-422C-475E-9108-907E4C4D729E}" type="parTrans" cxnId="{F3048C51-28F8-4956-B29F-BA92585374C1}">
      <dgm:prSet/>
      <dgm:spPr/>
      <dgm:t>
        <a:bodyPr/>
        <a:lstStyle/>
        <a:p>
          <a:endParaRPr lang="en-US"/>
        </a:p>
      </dgm:t>
    </dgm:pt>
    <dgm:pt modelId="{4DEC4A32-B9EB-4FA3-B385-4C83CBC4ED0D}" type="sibTrans" cxnId="{F3048C51-28F8-4956-B29F-BA92585374C1}">
      <dgm:prSet/>
      <dgm:spPr/>
      <dgm:t>
        <a:bodyPr/>
        <a:lstStyle/>
        <a:p>
          <a:endParaRPr lang="en-US"/>
        </a:p>
      </dgm:t>
    </dgm:pt>
    <dgm:pt modelId="{3C6FF1BF-668E-4522-9B71-73B1DA1E5881}">
      <dgm:prSet phldrT="[Text]" custT="1"/>
      <dgm:spPr/>
      <dgm:t>
        <a:bodyPr/>
        <a:lstStyle/>
        <a:p>
          <a:r>
            <a:rPr lang="en-IN" sz="1000" b="1" dirty="0">
              <a:latin typeface="Verdana" panose="020B0604030504040204" pitchFamily="34" charset="0"/>
              <a:ea typeface="Verdana" panose="020B0604030504040204" pitchFamily="34" charset="0"/>
            </a:rPr>
            <a:t>Community Involvement: </a:t>
          </a:r>
          <a:r>
            <a:rPr lang="en-IN" sz="1000" dirty="0">
              <a:latin typeface="Verdana" panose="020B0604030504040204" pitchFamily="34" charset="0"/>
              <a:ea typeface="Verdana" panose="020B0604030504040204" pitchFamily="34" charset="0"/>
            </a:rPr>
            <a:t>other income opportunity will be created simultaneously boosting overall economic development of the region (Further scope for indirect employment of </a:t>
          </a:r>
          <a:r>
            <a:rPr lang="en-IN" sz="1000" dirty="0" err="1">
              <a:latin typeface="Verdana" panose="020B0604030504040204" pitchFamily="34" charset="0"/>
              <a:ea typeface="Verdana" panose="020B0604030504040204" pitchFamily="34" charset="0"/>
            </a:rPr>
            <a:t>upto</a:t>
          </a:r>
          <a:r>
            <a:rPr lang="en-IN" sz="1000" dirty="0">
              <a:latin typeface="Verdana" panose="020B0604030504040204" pitchFamily="34" charset="0"/>
              <a:ea typeface="Verdana" panose="020B0604030504040204" pitchFamily="34" charset="0"/>
            </a:rPr>
            <a:t> ~20000)</a:t>
          </a:r>
          <a:endParaRPr lang="en-US" sz="1000" dirty="0"/>
        </a:p>
      </dgm:t>
    </dgm:pt>
    <dgm:pt modelId="{252E3417-4E78-410F-AE43-E1C7816A2373}" type="parTrans" cxnId="{5ED67251-C6E5-477D-AF37-A5DFEE02B25E}">
      <dgm:prSet/>
      <dgm:spPr/>
      <dgm:t>
        <a:bodyPr/>
        <a:lstStyle/>
        <a:p>
          <a:endParaRPr lang="en-US"/>
        </a:p>
      </dgm:t>
    </dgm:pt>
    <dgm:pt modelId="{A41D61E6-41E3-4619-BC94-C9542619D526}" type="sibTrans" cxnId="{5ED67251-C6E5-477D-AF37-A5DFEE02B25E}">
      <dgm:prSet/>
      <dgm:spPr/>
      <dgm:t>
        <a:bodyPr/>
        <a:lstStyle/>
        <a:p>
          <a:endParaRPr lang="en-US"/>
        </a:p>
      </dgm:t>
    </dgm:pt>
    <dgm:pt modelId="{A3B4772D-9D75-4790-BB6F-19B5B44D74AD}">
      <dgm:prSet phldrT="[Text]"/>
      <dgm:spPr>
        <a:solidFill>
          <a:schemeClr val="tx1">
            <a:lumMod val="75000"/>
            <a:lumOff val="25000"/>
          </a:schemeClr>
        </a:solidFill>
      </dgm:spPr>
      <dgm:t>
        <a:bodyPr/>
        <a:lstStyle/>
        <a:p>
          <a:r>
            <a:rPr lang="en-US" dirty="0"/>
            <a:t>Create employment and sustainable development </a:t>
          </a:r>
        </a:p>
      </dgm:t>
    </dgm:pt>
    <dgm:pt modelId="{F0D707A9-5D2E-44CE-ACD0-4D501B50A31D}" type="parTrans" cxnId="{C31A825F-994B-4244-9047-7F88B8F8EF77}">
      <dgm:prSet/>
      <dgm:spPr/>
      <dgm:t>
        <a:bodyPr/>
        <a:lstStyle/>
        <a:p>
          <a:endParaRPr lang="en-US"/>
        </a:p>
      </dgm:t>
    </dgm:pt>
    <dgm:pt modelId="{EDD5EC9D-EEA8-4720-8D93-B3920346D7F6}" type="sibTrans" cxnId="{C31A825F-994B-4244-9047-7F88B8F8EF77}">
      <dgm:prSet/>
      <dgm:spPr/>
      <dgm:t>
        <a:bodyPr/>
        <a:lstStyle/>
        <a:p>
          <a:endParaRPr lang="en-US"/>
        </a:p>
      </dgm:t>
    </dgm:pt>
    <dgm:pt modelId="{72A4D0A9-AD59-4C24-9C9E-9187D9911EC5}">
      <dgm:prSet phldrT="[Text]" custT="1"/>
      <dgm:spPr/>
      <dgm:t>
        <a:bodyPr/>
        <a:lstStyle/>
        <a:p>
          <a:pPr marL="115888" indent="0"/>
          <a:r>
            <a:rPr lang="en-IN" sz="1000" b="1" dirty="0">
              <a:latin typeface="Verdana" panose="020B0604030504040204" pitchFamily="34" charset="0"/>
              <a:ea typeface="Verdana" panose="020B0604030504040204" pitchFamily="34" charset="0"/>
            </a:rPr>
            <a:t>Employment Opportunity : </a:t>
          </a:r>
          <a:r>
            <a:rPr lang="en-IN" sz="1000" dirty="0">
              <a:latin typeface="Verdana" panose="020B0604030504040204" pitchFamily="34" charset="0"/>
              <a:ea typeface="Verdana" panose="020B0604030504040204" pitchFamily="34" charset="0"/>
            </a:rPr>
            <a:t>The project will provide direct employment opportunities around </a:t>
          </a:r>
          <a:r>
            <a:rPr lang="en-IN" sz="1000" b="1" dirty="0">
              <a:latin typeface="Verdana" panose="020B0604030504040204" pitchFamily="34" charset="0"/>
              <a:ea typeface="Verdana" panose="020B0604030504040204" pitchFamily="34" charset="0"/>
            </a:rPr>
            <a:t>5000</a:t>
          </a:r>
          <a:endParaRPr lang="en-US" sz="1000" dirty="0"/>
        </a:p>
      </dgm:t>
    </dgm:pt>
    <dgm:pt modelId="{9869A1FA-0367-458E-9610-001E2BFFEED1}" type="parTrans" cxnId="{57799488-39C2-44D0-AD01-A81D611FFB4C}">
      <dgm:prSet/>
      <dgm:spPr/>
      <dgm:t>
        <a:bodyPr/>
        <a:lstStyle/>
        <a:p>
          <a:endParaRPr lang="en-US"/>
        </a:p>
      </dgm:t>
    </dgm:pt>
    <dgm:pt modelId="{229990AB-3AD7-44F4-A821-805479731A2D}" type="sibTrans" cxnId="{57799488-39C2-44D0-AD01-A81D611FFB4C}">
      <dgm:prSet/>
      <dgm:spPr/>
      <dgm:t>
        <a:bodyPr/>
        <a:lstStyle/>
        <a:p>
          <a:endParaRPr lang="en-US"/>
        </a:p>
      </dgm:t>
    </dgm:pt>
    <dgm:pt modelId="{614EC6EF-604A-4889-9A19-4C08054FB550}">
      <dgm:prSet phldrT="[Text]"/>
      <dgm:spPr>
        <a:solidFill>
          <a:srgbClr val="92D050"/>
        </a:solidFill>
      </dgm:spPr>
      <dgm:t>
        <a:bodyPr/>
        <a:lstStyle/>
        <a:p>
          <a:r>
            <a:rPr lang="en-US" dirty="0"/>
            <a:t>Transition towards a Carbon Neutral future</a:t>
          </a:r>
        </a:p>
      </dgm:t>
    </dgm:pt>
    <dgm:pt modelId="{761C7604-EF56-455A-8919-D15A1943091E}" type="parTrans" cxnId="{337E2F6A-7A89-436C-A17B-8EF346A865EF}">
      <dgm:prSet/>
      <dgm:spPr/>
      <dgm:t>
        <a:bodyPr/>
        <a:lstStyle/>
        <a:p>
          <a:endParaRPr lang="en-US"/>
        </a:p>
      </dgm:t>
    </dgm:pt>
    <dgm:pt modelId="{1DF7F659-EB8C-4CAF-9D2A-A58E435E1B25}" type="sibTrans" cxnId="{337E2F6A-7A89-436C-A17B-8EF346A865EF}">
      <dgm:prSet/>
      <dgm:spPr/>
      <dgm:t>
        <a:bodyPr/>
        <a:lstStyle/>
        <a:p>
          <a:endParaRPr lang="en-US"/>
        </a:p>
      </dgm:t>
    </dgm:pt>
    <dgm:pt modelId="{244CD113-7FD5-4EFC-9E67-51CF952E30D6}">
      <dgm:prSet phldrT="[Text]" custT="1"/>
      <dgm:spPr/>
      <dgm:t>
        <a:bodyPr/>
        <a:lstStyle/>
        <a:p>
          <a:r>
            <a:rPr lang="en-US" sz="1000" b="1" dirty="0">
              <a:latin typeface="Verdana" panose="020B0604030504040204" pitchFamily="34" charset="0"/>
              <a:ea typeface="Verdana" panose="020B0604030504040204" pitchFamily="34" charset="0"/>
            </a:rPr>
            <a:t>Reduction of Carbon Footprint: </a:t>
          </a:r>
          <a:r>
            <a:rPr lang="en-US" sz="1000" dirty="0">
              <a:latin typeface="Verdana" panose="020B0604030504040204" pitchFamily="34" charset="0"/>
              <a:ea typeface="Verdana" panose="020B0604030504040204" pitchFamily="34" charset="0"/>
            </a:rPr>
            <a:t>Reduction of 7800000 tons CO2 production per year</a:t>
          </a:r>
          <a:endParaRPr lang="en-US" sz="1000" dirty="0"/>
        </a:p>
      </dgm:t>
    </dgm:pt>
    <dgm:pt modelId="{7E690D8B-56EB-49B9-8AB3-584C3DCC2621}" type="parTrans" cxnId="{70F621AA-4C49-440D-AB35-CA48208CEC9E}">
      <dgm:prSet/>
      <dgm:spPr/>
      <dgm:t>
        <a:bodyPr/>
        <a:lstStyle/>
        <a:p>
          <a:endParaRPr lang="en-US"/>
        </a:p>
      </dgm:t>
    </dgm:pt>
    <dgm:pt modelId="{44B06C0C-51F4-47C0-8600-E83BBD41EAF7}" type="sibTrans" cxnId="{70F621AA-4C49-440D-AB35-CA48208CEC9E}">
      <dgm:prSet/>
      <dgm:spPr/>
      <dgm:t>
        <a:bodyPr/>
        <a:lstStyle/>
        <a:p>
          <a:endParaRPr lang="en-US"/>
        </a:p>
      </dgm:t>
    </dgm:pt>
    <dgm:pt modelId="{07796208-F9C8-48C2-9AA4-58D6CBF933E5}" type="pres">
      <dgm:prSet presAssocID="{506A6897-2C4A-46AE-A052-0B372799160B}" presName="cycleMatrixDiagram" presStyleCnt="0">
        <dgm:presLayoutVars>
          <dgm:chMax val="1"/>
          <dgm:dir/>
          <dgm:animLvl val="lvl"/>
          <dgm:resizeHandles val="exact"/>
        </dgm:presLayoutVars>
      </dgm:prSet>
      <dgm:spPr/>
    </dgm:pt>
    <dgm:pt modelId="{9C09033B-149D-49FA-B754-F76B83906F9F}" type="pres">
      <dgm:prSet presAssocID="{506A6897-2C4A-46AE-A052-0B372799160B}" presName="children" presStyleCnt="0"/>
      <dgm:spPr/>
    </dgm:pt>
    <dgm:pt modelId="{BF258AB6-8765-45DD-8384-2E0D87D890E4}" type="pres">
      <dgm:prSet presAssocID="{506A6897-2C4A-46AE-A052-0B372799160B}" presName="child1group" presStyleCnt="0"/>
      <dgm:spPr/>
    </dgm:pt>
    <dgm:pt modelId="{598CEBB7-7E45-454B-9C19-843F17019302}" type="pres">
      <dgm:prSet presAssocID="{506A6897-2C4A-46AE-A052-0B372799160B}" presName="child1" presStyleLbl="bgAcc1" presStyleIdx="0" presStyleCnt="4"/>
      <dgm:spPr/>
    </dgm:pt>
    <dgm:pt modelId="{401F8345-7A83-4ED9-A8E1-8E25F3644D0A}" type="pres">
      <dgm:prSet presAssocID="{506A6897-2C4A-46AE-A052-0B372799160B}" presName="child1Text" presStyleLbl="bgAcc1" presStyleIdx="0" presStyleCnt="4">
        <dgm:presLayoutVars>
          <dgm:bulletEnabled val="1"/>
        </dgm:presLayoutVars>
      </dgm:prSet>
      <dgm:spPr/>
    </dgm:pt>
    <dgm:pt modelId="{367E019B-3447-42DC-8A92-3ED6F27B8958}" type="pres">
      <dgm:prSet presAssocID="{506A6897-2C4A-46AE-A052-0B372799160B}" presName="child2group" presStyleCnt="0"/>
      <dgm:spPr/>
    </dgm:pt>
    <dgm:pt modelId="{BA95E4B5-F863-4488-98CD-5FB6553BFE8F}" type="pres">
      <dgm:prSet presAssocID="{506A6897-2C4A-46AE-A052-0B372799160B}" presName="child2" presStyleLbl="bgAcc1" presStyleIdx="1" presStyleCnt="4" custLinFactNeighborX="16162"/>
      <dgm:spPr/>
    </dgm:pt>
    <dgm:pt modelId="{627B9D64-3053-479D-86DF-43DD68EFF74C}" type="pres">
      <dgm:prSet presAssocID="{506A6897-2C4A-46AE-A052-0B372799160B}" presName="child2Text" presStyleLbl="bgAcc1" presStyleIdx="1" presStyleCnt="4">
        <dgm:presLayoutVars>
          <dgm:bulletEnabled val="1"/>
        </dgm:presLayoutVars>
      </dgm:prSet>
      <dgm:spPr/>
    </dgm:pt>
    <dgm:pt modelId="{62D07866-5BCB-49B1-ACFE-83F9D7AA2828}" type="pres">
      <dgm:prSet presAssocID="{506A6897-2C4A-46AE-A052-0B372799160B}" presName="child3group" presStyleCnt="0"/>
      <dgm:spPr/>
    </dgm:pt>
    <dgm:pt modelId="{D2706C14-2B6A-4AC2-9282-BF14A64FF7CC}" type="pres">
      <dgm:prSet presAssocID="{506A6897-2C4A-46AE-A052-0B372799160B}" presName="child3" presStyleLbl="bgAcc1" presStyleIdx="2" presStyleCnt="4"/>
      <dgm:spPr/>
    </dgm:pt>
    <dgm:pt modelId="{44E6EF19-D7E8-4EF0-BD84-E1648AEC7E6D}" type="pres">
      <dgm:prSet presAssocID="{506A6897-2C4A-46AE-A052-0B372799160B}" presName="child3Text" presStyleLbl="bgAcc1" presStyleIdx="2" presStyleCnt="4">
        <dgm:presLayoutVars>
          <dgm:bulletEnabled val="1"/>
        </dgm:presLayoutVars>
      </dgm:prSet>
      <dgm:spPr/>
    </dgm:pt>
    <dgm:pt modelId="{5D45ACE1-94FC-4307-B116-AED2A2CEBC7A}" type="pres">
      <dgm:prSet presAssocID="{506A6897-2C4A-46AE-A052-0B372799160B}" presName="child4group" presStyleCnt="0"/>
      <dgm:spPr/>
    </dgm:pt>
    <dgm:pt modelId="{9869788D-E140-46B2-8EC2-B006AD88A95B}" type="pres">
      <dgm:prSet presAssocID="{506A6897-2C4A-46AE-A052-0B372799160B}" presName="child4" presStyleLbl="bgAcc1" presStyleIdx="3" presStyleCnt="4"/>
      <dgm:spPr/>
    </dgm:pt>
    <dgm:pt modelId="{631399FD-9AD9-405E-9EAB-CCA8BE6B31B9}" type="pres">
      <dgm:prSet presAssocID="{506A6897-2C4A-46AE-A052-0B372799160B}" presName="child4Text" presStyleLbl="bgAcc1" presStyleIdx="3" presStyleCnt="4">
        <dgm:presLayoutVars>
          <dgm:bulletEnabled val="1"/>
        </dgm:presLayoutVars>
      </dgm:prSet>
      <dgm:spPr/>
    </dgm:pt>
    <dgm:pt modelId="{9752BD63-ADE1-4283-A34D-640C991852AC}" type="pres">
      <dgm:prSet presAssocID="{506A6897-2C4A-46AE-A052-0B372799160B}" presName="childPlaceholder" presStyleCnt="0"/>
      <dgm:spPr/>
    </dgm:pt>
    <dgm:pt modelId="{D7414CF6-5AE8-4A91-AAE1-C07F3DBE76A8}" type="pres">
      <dgm:prSet presAssocID="{506A6897-2C4A-46AE-A052-0B372799160B}" presName="circle" presStyleCnt="0"/>
      <dgm:spPr/>
    </dgm:pt>
    <dgm:pt modelId="{1BEF06E7-588E-44F0-BF77-1AEF43786113}" type="pres">
      <dgm:prSet presAssocID="{506A6897-2C4A-46AE-A052-0B372799160B}" presName="quadrant1" presStyleLbl="node1" presStyleIdx="0" presStyleCnt="4">
        <dgm:presLayoutVars>
          <dgm:chMax val="1"/>
          <dgm:bulletEnabled val="1"/>
        </dgm:presLayoutVars>
      </dgm:prSet>
      <dgm:spPr/>
    </dgm:pt>
    <dgm:pt modelId="{93E41E07-7B81-43A5-80DC-1CD20842FC8E}" type="pres">
      <dgm:prSet presAssocID="{506A6897-2C4A-46AE-A052-0B372799160B}" presName="quadrant2" presStyleLbl="node1" presStyleIdx="1" presStyleCnt="4">
        <dgm:presLayoutVars>
          <dgm:chMax val="1"/>
          <dgm:bulletEnabled val="1"/>
        </dgm:presLayoutVars>
      </dgm:prSet>
      <dgm:spPr/>
    </dgm:pt>
    <dgm:pt modelId="{F53EEA81-6CE3-4DD9-AC07-0BE03CE99901}" type="pres">
      <dgm:prSet presAssocID="{506A6897-2C4A-46AE-A052-0B372799160B}" presName="quadrant3" presStyleLbl="node1" presStyleIdx="2" presStyleCnt="4">
        <dgm:presLayoutVars>
          <dgm:chMax val="1"/>
          <dgm:bulletEnabled val="1"/>
        </dgm:presLayoutVars>
      </dgm:prSet>
      <dgm:spPr/>
    </dgm:pt>
    <dgm:pt modelId="{7862E6BF-CFBD-4CF5-9312-4CC33C11F29F}" type="pres">
      <dgm:prSet presAssocID="{506A6897-2C4A-46AE-A052-0B372799160B}" presName="quadrant4" presStyleLbl="node1" presStyleIdx="3" presStyleCnt="4">
        <dgm:presLayoutVars>
          <dgm:chMax val="1"/>
          <dgm:bulletEnabled val="1"/>
        </dgm:presLayoutVars>
      </dgm:prSet>
      <dgm:spPr/>
    </dgm:pt>
    <dgm:pt modelId="{78116CDE-2248-49B3-99FC-E33F3AC7F91D}" type="pres">
      <dgm:prSet presAssocID="{506A6897-2C4A-46AE-A052-0B372799160B}" presName="quadrantPlaceholder" presStyleCnt="0"/>
      <dgm:spPr/>
    </dgm:pt>
    <dgm:pt modelId="{D831D7DB-CD1A-4865-AE43-818A4E329120}" type="pres">
      <dgm:prSet presAssocID="{506A6897-2C4A-46AE-A052-0B372799160B}" presName="center1" presStyleLbl="fgShp" presStyleIdx="0" presStyleCnt="2"/>
      <dgm:spPr/>
    </dgm:pt>
    <dgm:pt modelId="{EC9A467B-0685-45F2-A327-E17CE97FE451}" type="pres">
      <dgm:prSet presAssocID="{506A6897-2C4A-46AE-A052-0B372799160B}" presName="center2" presStyleLbl="fgShp" presStyleIdx="1" presStyleCnt="2"/>
      <dgm:spPr/>
    </dgm:pt>
  </dgm:ptLst>
  <dgm:cxnLst>
    <dgm:cxn modelId="{EF3B2F0B-D457-43EA-BF4C-ECE7620BB188}" type="presOf" srcId="{72A4D0A9-AD59-4C24-9C9E-9187D9911EC5}" destId="{D2706C14-2B6A-4AC2-9282-BF14A64FF7CC}" srcOrd="0" destOrd="0" presId="urn:microsoft.com/office/officeart/2005/8/layout/cycle4"/>
    <dgm:cxn modelId="{08437F1F-22E3-49F4-B10D-DCD81533BCD9}" type="presOf" srcId="{5E0920A1-F0C4-4B25-B30A-B7E96F77379A}" destId="{93E41E07-7B81-43A5-80DC-1CD20842FC8E}" srcOrd="0" destOrd="0" presId="urn:microsoft.com/office/officeart/2005/8/layout/cycle4"/>
    <dgm:cxn modelId="{99C68736-834F-43D7-B32F-0FED82DFD09F}" type="presOf" srcId="{72A4D0A9-AD59-4C24-9C9E-9187D9911EC5}" destId="{44E6EF19-D7E8-4EF0-BD84-E1648AEC7E6D}" srcOrd="1" destOrd="0" presId="urn:microsoft.com/office/officeart/2005/8/layout/cycle4"/>
    <dgm:cxn modelId="{C31A825F-994B-4244-9047-7F88B8F8EF77}" srcId="{506A6897-2C4A-46AE-A052-0B372799160B}" destId="{A3B4772D-9D75-4790-BB6F-19B5B44D74AD}" srcOrd="2" destOrd="0" parTransId="{F0D707A9-5D2E-44CE-ACD0-4D501B50A31D}" sibTransId="{EDD5EC9D-EEA8-4720-8D93-B3920346D7F6}"/>
    <dgm:cxn modelId="{337E2F6A-7A89-436C-A17B-8EF346A865EF}" srcId="{506A6897-2C4A-46AE-A052-0B372799160B}" destId="{614EC6EF-604A-4889-9A19-4C08054FB550}" srcOrd="3" destOrd="0" parTransId="{761C7604-EF56-455A-8919-D15A1943091E}" sibTransId="{1DF7F659-EB8C-4CAF-9D2A-A58E435E1B25}"/>
    <dgm:cxn modelId="{5ED67251-C6E5-477D-AF37-A5DFEE02B25E}" srcId="{5E0920A1-F0C4-4B25-B30A-B7E96F77379A}" destId="{3C6FF1BF-668E-4522-9B71-73B1DA1E5881}" srcOrd="0" destOrd="0" parTransId="{252E3417-4E78-410F-AE43-E1C7816A2373}" sibTransId="{A41D61E6-41E3-4619-BC94-C9542619D526}"/>
    <dgm:cxn modelId="{F3048C51-28F8-4956-B29F-BA92585374C1}" srcId="{506A6897-2C4A-46AE-A052-0B372799160B}" destId="{5E0920A1-F0C4-4B25-B30A-B7E96F77379A}" srcOrd="1" destOrd="0" parTransId="{DFE3B2E5-422C-475E-9108-907E4C4D729E}" sibTransId="{4DEC4A32-B9EB-4FA3-B385-4C83CBC4ED0D}"/>
    <dgm:cxn modelId="{7279AF55-C7A7-4F8B-9C5F-39DF0974238D}" type="presOf" srcId="{614EC6EF-604A-4889-9A19-4C08054FB550}" destId="{7862E6BF-CFBD-4CF5-9312-4CC33C11F29F}" srcOrd="0" destOrd="0" presId="urn:microsoft.com/office/officeart/2005/8/layout/cycle4"/>
    <dgm:cxn modelId="{30895282-E854-4BC9-AC13-F1D5037BBC99}" type="presOf" srcId="{244CD113-7FD5-4EFC-9E67-51CF952E30D6}" destId="{631399FD-9AD9-405E-9EAB-CCA8BE6B31B9}" srcOrd="1" destOrd="0" presId="urn:microsoft.com/office/officeart/2005/8/layout/cycle4"/>
    <dgm:cxn modelId="{0D285084-D2A2-4598-BF44-34E10F451222}" type="presOf" srcId="{650689CE-968D-4943-8FBC-E33F6065A292}" destId="{598CEBB7-7E45-454B-9C19-843F17019302}" srcOrd="0" destOrd="0" presId="urn:microsoft.com/office/officeart/2005/8/layout/cycle4"/>
    <dgm:cxn modelId="{57799488-39C2-44D0-AD01-A81D611FFB4C}" srcId="{A3B4772D-9D75-4790-BB6F-19B5B44D74AD}" destId="{72A4D0A9-AD59-4C24-9C9E-9187D9911EC5}" srcOrd="0" destOrd="0" parTransId="{9869A1FA-0367-458E-9610-001E2BFFEED1}" sibTransId="{229990AB-3AD7-44F4-A821-805479731A2D}"/>
    <dgm:cxn modelId="{197E5CA1-4044-4E43-A2B4-43BD75168515}" type="presOf" srcId="{16A4987A-65EE-4DFB-A1AF-58A24654B744}" destId="{1BEF06E7-588E-44F0-BF77-1AEF43786113}" srcOrd="0" destOrd="0" presId="urn:microsoft.com/office/officeart/2005/8/layout/cycle4"/>
    <dgm:cxn modelId="{BD3239A3-6D92-4B7E-AB07-016B14FAE3B1}" type="presOf" srcId="{506A6897-2C4A-46AE-A052-0B372799160B}" destId="{07796208-F9C8-48C2-9AA4-58D6CBF933E5}" srcOrd="0" destOrd="0" presId="urn:microsoft.com/office/officeart/2005/8/layout/cycle4"/>
    <dgm:cxn modelId="{70F621AA-4C49-440D-AB35-CA48208CEC9E}" srcId="{614EC6EF-604A-4889-9A19-4C08054FB550}" destId="{244CD113-7FD5-4EFC-9E67-51CF952E30D6}" srcOrd="0" destOrd="0" parTransId="{7E690D8B-56EB-49B9-8AB3-584C3DCC2621}" sibTransId="{44B06C0C-51F4-47C0-8600-E83BBD41EAF7}"/>
    <dgm:cxn modelId="{073088AF-5CEA-48F2-8105-76C00D1C6828}" srcId="{506A6897-2C4A-46AE-A052-0B372799160B}" destId="{16A4987A-65EE-4DFB-A1AF-58A24654B744}" srcOrd="0" destOrd="0" parTransId="{BA3CD93F-5D32-4CDD-BD95-C68486830560}" sibTransId="{50D6442B-81DB-42FA-AFE6-AAF886FF4550}"/>
    <dgm:cxn modelId="{2E18DEB7-F427-41C8-8431-3E21E410EFDB}" type="presOf" srcId="{A3B4772D-9D75-4790-BB6F-19B5B44D74AD}" destId="{F53EEA81-6CE3-4DD9-AC07-0BE03CE99901}" srcOrd="0" destOrd="0" presId="urn:microsoft.com/office/officeart/2005/8/layout/cycle4"/>
    <dgm:cxn modelId="{42E8DFBA-8F8B-4077-80EA-3A06F52A0CFE}" type="presOf" srcId="{650689CE-968D-4943-8FBC-E33F6065A292}" destId="{401F8345-7A83-4ED9-A8E1-8E25F3644D0A}" srcOrd="1" destOrd="0" presId="urn:microsoft.com/office/officeart/2005/8/layout/cycle4"/>
    <dgm:cxn modelId="{0A28D9CE-6BEE-481F-A540-AF447DCA5AD1}" srcId="{16A4987A-65EE-4DFB-A1AF-58A24654B744}" destId="{650689CE-968D-4943-8FBC-E33F6065A292}" srcOrd="0" destOrd="0" parTransId="{B226DDAB-88C5-4EE5-9ADE-56BD8F472381}" sibTransId="{56611A4B-BA5E-4BD7-A62F-64E20B7777BB}"/>
    <dgm:cxn modelId="{D48BA3D8-1389-4352-AA9F-129CC917BFE1}" type="presOf" srcId="{3C6FF1BF-668E-4522-9B71-73B1DA1E5881}" destId="{BA95E4B5-F863-4488-98CD-5FB6553BFE8F}" srcOrd="0" destOrd="0" presId="urn:microsoft.com/office/officeart/2005/8/layout/cycle4"/>
    <dgm:cxn modelId="{F8A6ABE8-D270-456C-A3B4-339D4B2DC551}" type="presOf" srcId="{244CD113-7FD5-4EFC-9E67-51CF952E30D6}" destId="{9869788D-E140-46B2-8EC2-B006AD88A95B}" srcOrd="0" destOrd="0" presId="urn:microsoft.com/office/officeart/2005/8/layout/cycle4"/>
    <dgm:cxn modelId="{54845EF1-8223-4B1B-A398-25B9305FE851}" type="presOf" srcId="{3C6FF1BF-668E-4522-9B71-73B1DA1E5881}" destId="{627B9D64-3053-479D-86DF-43DD68EFF74C}" srcOrd="1" destOrd="0" presId="urn:microsoft.com/office/officeart/2005/8/layout/cycle4"/>
    <dgm:cxn modelId="{FDE5CDC3-7DB3-4309-AC75-F9C296B1FEAA}" type="presParOf" srcId="{07796208-F9C8-48C2-9AA4-58D6CBF933E5}" destId="{9C09033B-149D-49FA-B754-F76B83906F9F}" srcOrd="0" destOrd="0" presId="urn:microsoft.com/office/officeart/2005/8/layout/cycle4"/>
    <dgm:cxn modelId="{773DE7D2-0E7E-4A48-B9BC-F6893B0C2207}" type="presParOf" srcId="{9C09033B-149D-49FA-B754-F76B83906F9F}" destId="{BF258AB6-8765-45DD-8384-2E0D87D890E4}" srcOrd="0" destOrd="0" presId="urn:microsoft.com/office/officeart/2005/8/layout/cycle4"/>
    <dgm:cxn modelId="{887C1358-B12A-4159-AB98-C22589EACACD}" type="presParOf" srcId="{BF258AB6-8765-45DD-8384-2E0D87D890E4}" destId="{598CEBB7-7E45-454B-9C19-843F17019302}" srcOrd="0" destOrd="0" presId="urn:microsoft.com/office/officeart/2005/8/layout/cycle4"/>
    <dgm:cxn modelId="{55B5B598-7221-4086-8321-65E420465C2C}" type="presParOf" srcId="{BF258AB6-8765-45DD-8384-2E0D87D890E4}" destId="{401F8345-7A83-4ED9-A8E1-8E25F3644D0A}" srcOrd="1" destOrd="0" presId="urn:microsoft.com/office/officeart/2005/8/layout/cycle4"/>
    <dgm:cxn modelId="{C4FE2F76-776E-45B3-9DC9-1CBE9AE11381}" type="presParOf" srcId="{9C09033B-149D-49FA-B754-F76B83906F9F}" destId="{367E019B-3447-42DC-8A92-3ED6F27B8958}" srcOrd="1" destOrd="0" presId="urn:microsoft.com/office/officeart/2005/8/layout/cycle4"/>
    <dgm:cxn modelId="{86E84D0B-97C0-4145-A764-35C887A660A1}" type="presParOf" srcId="{367E019B-3447-42DC-8A92-3ED6F27B8958}" destId="{BA95E4B5-F863-4488-98CD-5FB6553BFE8F}" srcOrd="0" destOrd="0" presId="urn:microsoft.com/office/officeart/2005/8/layout/cycle4"/>
    <dgm:cxn modelId="{A2C2BDBD-5386-40C4-BDE4-779BCB488C1B}" type="presParOf" srcId="{367E019B-3447-42DC-8A92-3ED6F27B8958}" destId="{627B9D64-3053-479D-86DF-43DD68EFF74C}" srcOrd="1" destOrd="0" presId="urn:microsoft.com/office/officeart/2005/8/layout/cycle4"/>
    <dgm:cxn modelId="{0B680C4A-4334-4995-AE9D-052D80E275EF}" type="presParOf" srcId="{9C09033B-149D-49FA-B754-F76B83906F9F}" destId="{62D07866-5BCB-49B1-ACFE-83F9D7AA2828}" srcOrd="2" destOrd="0" presId="urn:microsoft.com/office/officeart/2005/8/layout/cycle4"/>
    <dgm:cxn modelId="{13C7C68B-3716-47BA-86FB-EAC7EA733D7A}" type="presParOf" srcId="{62D07866-5BCB-49B1-ACFE-83F9D7AA2828}" destId="{D2706C14-2B6A-4AC2-9282-BF14A64FF7CC}" srcOrd="0" destOrd="0" presId="urn:microsoft.com/office/officeart/2005/8/layout/cycle4"/>
    <dgm:cxn modelId="{F7FF99BC-AD41-4180-81E0-AB8C66422834}" type="presParOf" srcId="{62D07866-5BCB-49B1-ACFE-83F9D7AA2828}" destId="{44E6EF19-D7E8-4EF0-BD84-E1648AEC7E6D}" srcOrd="1" destOrd="0" presId="urn:microsoft.com/office/officeart/2005/8/layout/cycle4"/>
    <dgm:cxn modelId="{804AA8E9-3694-444D-9699-6E196E7B0F3E}" type="presParOf" srcId="{9C09033B-149D-49FA-B754-F76B83906F9F}" destId="{5D45ACE1-94FC-4307-B116-AED2A2CEBC7A}" srcOrd="3" destOrd="0" presId="urn:microsoft.com/office/officeart/2005/8/layout/cycle4"/>
    <dgm:cxn modelId="{450AB25E-E87E-4534-8699-8FC42153514E}" type="presParOf" srcId="{5D45ACE1-94FC-4307-B116-AED2A2CEBC7A}" destId="{9869788D-E140-46B2-8EC2-B006AD88A95B}" srcOrd="0" destOrd="0" presId="urn:microsoft.com/office/officeart/2005/8/layout/cycle4"/>
    <dgm:cxn modelId="{B60C6F47-BC4B-4264-AC8D-01B506F2D898}" type="presParOf" srcId="{5D45ACE1-94FC-4307-B116-AED2A2CEBC7A}" destId="{631399FD-9AD9-405E-9EAB-CCA8BE6B31B9}" srcOrd="1" destOrd="0" presId="urn:microsoft.com/office/officeart/2005/8/layout/cycle4"/>
    <dgm:cxn modelId="{806CBF4F-678B-44C9-B11C-32C66CB32D5B}" type="presParOf" srcId="{9C09033B-149D-49FA-B754-F76B83906F9F}" destId="{9752BD63-ADE1-4283-A34D-640C991852AC}" srcOrd="4" destOrd="0" presId="urn:microsoft.com/office/officeart/2005/8/layout/cycle4"/>
    <dgm:cxn modelId="{4D2CBD08-FF6C-46FD-BAF6-5E639FAD04F3}" type="presParOf" srcId="{07796208-F9C8-48C2-9AA4-58D6CBF933E5}" destId="{D7414CF6-5AE8-4A91-AAE1-C07F3DBE76A8}" srcOrd="1" destOrd="0" presId="urn:microsoft.com/office/officeart/2005/8/layout/cycle4"/>
    <dgm:cxn modelId="{081BDE06-F1E4-47DD-88A9-FAB9358CEFF1}" type="presParOf" srcId="{D7414CF6-5AE8-4A91-AAE1-C07F3DBE76A8}" destId="{1BEF06E7-588E-44F0-BF77-1AEF43786113}" srcOrd="0" destOrd="0" presId="urn:microsoft.com/office/officeart/2005/8/layout/cycle4"/>
    <dgm:cxn modelId="{96884596-451A-44F6-AF20-67B8D8313AD3}" type="presParOf" srcId="{D7414CF6-5AE8-4A91-AAE1-C07F3DBE76A8}" destId="{93E41E07-7B81-43A5-80DC-1CD20842FC8E}" srcOrd="1" destOrd="0" presId="urn:microsoft.com/office/officeart/2005/8/layout/cycle4"/>
    <dgm:cxn modelId="{968E4A42-2EEF-4223-BE10-CE122A40ACC1}" type="presParOf" srcId="{D7414CF6-5AE8-4A91-AAE1-C07F3DBE76A8}" destId="{F53EEA81-6CE3-4DD9-AC07-0BE03CE99901}" srcOrd="2" destOrd="0" presId="urn:microsoft.com/office/officeart/2005/8/layout/cycle4"/>
    <dgm:cxn modelId="{72ED2360-9064-47E4-BC48-DDB5EF31315A}" type="presParOf" srcId="{D7414CF6-5AE8-4A91-AAE1-C07F3DBE76A8}" destId="{7862E6BF-CFBD-4CF5-9312-4CC33C11F29F}" srcOrd="3" destOrd="0" presId="urn:microsoft.com/office/officeart/2005/8/layout/cycle4"/>
    <dgm:cxn modelId="{5D526445-372A-4854-BCA2-1F9B71B7EA74}" type="presParOf" srcId="{D7414CF6-5AE8-4A91-AAE1-C07F3DBE76A8}" destId="{78116CDE-2248-49B3-99FC-E33F3AC7F91D}" srcOrd="4" destOrd="0" presId="urn:microsoft.com/office/officeart/2005/8/layout/cycle4"/>
    <dgm:cxn modelId="{5E7FAAA4-0A7A-4DAB-8727-C22113FF7D46}" type="presParOf" srcId="{07796208-F9C8-48C2-9AA4-58D6CBF933E5}" destId="{D831D7DB-CD1A-4865-AE43-818A4E329120}" srcOrd="2" destOrd="0" presId="urn:microsoft.com/office/officeart/2005/8/layout/cycle4"/>
    <dgm:cxn modelId="{B2D860A6-09F3-4FBA-A9C6-703EC01B3D08}" type="presParOf" srcId="{07796208-F9C8-48C2-9AA4-58D6CBF933E5}" destId="{EC9A467B-0685-45F2-A327-E17CE97FE451}"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7F2C0D3-9710-4A9C-A132-AAD0719E719E}" type="doc">
      <dgm:prSet loTypeId="urn:microsoft.com/office/officeart/2009/3/layout/IncreasingArrowsProcess" loCatId="process" qsTypeId="urn:microsoft.com/office/officeart/2005/8/quickstyle/simple4" qsCatId="simple" csTypeId="urn:microsoft.com/office/officeart/2005/8/colors/accent1_2" csCatId="accent1" phldr="1"/>
      <dgm:spPr/>
      <dgm:t>
        <a:bodyPr/>
        <a:lstStyle/>
        <a:p>
          <a:endParaRPr lang="en-US"/>
        </a:p>
      </dgm:t>
    </dgm:pt>
    <dgm:pt modelId="{AD003C64-FB4E-4BE5-85A9-1313DA09A7B1}">
      <dgm:prSet phldrT="[Text]"/>
      <dgm:spPr>
        <a:solidFill>
          <a:schemeClr val="accent6">
            <a:lumMod val="75000"/>
          </a:schemeClr>
        </a:solidFill>
      </dgm:spPr>
      <dgm:t>
        <a:bodyPr/>
        <a:lstStyle/>
        <a:p>
          <a:r>
            <a:rPr lang="en-US" b="1" dirty="0"/>
            <a:t>Option 1*</a:t>
          </a:r>
        </a:p>
      </dgm:t>
    </dgm:pt>
    <dgm:pt modelId="{C9E0C3AE-EC4E-4736-B1EA-025EA2715689}" type="parTrans" cxnId="{D8790FC9-480B-4447-8F13-C27C1E0698C9}">
      <dgm:prSet/>
      <dgm:spPr/>
      <dgm:t>
        <a:bodyPr/>
        <a:lstStyle/>
        <a:p>
          <a:endParaRPr lang="en-US"/>
        </a:p>
      </dgm:t>
    </dgm:pt>
    <dgm:pt modelId="{448DFF5D-86F5-455D-95EB-F063185C3F42}" type="sibTrans" cxnId="{D8790FC9-480B-4447-8F13-C27C1E0698C9}">
      <dgm:prSet/>
      <dgm:spPr/>
      <dgm:t>
        <a:bodyPr/>
        <a:lstStyle/>
        <a:p>
          <a:endParaRPr lang="en-US"/>
        </a:p>
      </dgm:t>
    </dgm:pt>
    <dgm:pt modelId="{B40A4E6B-980C-48FF-BEAB-4F7D70A6DD66}">
      <dgm:prSet phldrT="[Text]" custT="1"/>
      <dgm:spPr/>
      <dgm:t>
        <a:bodyPr/>
        <a:lstStyle/>
        <a:p>
          <a:pPr marL="231775" indent="0" algn="just">
            <a:buFont typeface="Wingdings" panose="05000000000000000000" pitchFamily="2" charset="2"/>
            <a:buChar char="Ø"/>
          </a:pPr>
          <a:r>
            <a:rPr lang="en-US" sz="1050" b="1" dirty="0"/>
            <a:t>MNRE grant</a:t>
          </a:r>
          <a:r>
            <a:rPr lang="en-US" sz="1050" dirty="0"/>
            <a:t> under the ‘Scheme for Development of Solar Parks and Ultra Mega Solar Power Projects’</a:t>
          </a:r>
        </a:p>
      </dgm:t>
    </dgm:pt>
    <dgm:pt modelId="{F741D14F-62A1-4146-96D5-239666686031}" type="parTrans" cxnId="{01FDA271-01DA-4E00-8201-C9E9C3CE6B10}">
      <dgm:prSet/>
      <dgm:spPr/>
      <dgm:t>
        <a:bodyPr/>
        <a:lstStyle/>
        <a:p>
          <a:endParaRPr lang="en-US"/>
        </a:p>
      </dgm:t>
    </dgm:pt>
    <dgm:pt modelId="{2AD2F9E8-E362-446A-88F2-A88705949CE0}" type="sibTrans" cxnId="{01FDA271-01DA-4E00-8201-C9E9C3CE6B10}">
      <dgm:prSet/>
      <dgm:spPr/>
      <dgm:t>
        <a:bodyPr/>
        <a:lstStyle/>
        <a:p>
          <a:endParaRPr lang="en-US"/>
        </a:p>
      </dgm:t>
    </dgm:pt>
    <dgm:pt modelId="{209A69AE-CD70-40DB-84B2-93EB467E9378}">
      <dgm:prSet phldrT="[Text]"/>
      <dgm:spPr>
        <a:solidFill>
          <a:schemeClr val="tx1">
            <a:lumMod val="75000"/>
            <a:lumOff val="25000"/>
          </a:schemeClr>
        </a:solidFill>
      </dgm:spPr>
      <dgm:t>
        <a:bodyPr/>
        <a:lstStyle/>
        <a:p>
          <a:r>
            <a:rPr lang="en-US" b="1" dirty="0"/>
            <a:t>Option 2</a:t>
          </a:r>
        </a:p>
      </dgm:t>
    </dgm:pt>
    <dgm:pt modelId="{B128B33D-0928-4242-9E4F-E6475101F492}" type="parTrans" cxnId="{570C1DA3-60D3-4C82-9201-7765D76DF9F9}">
      <dgm:prSet/>
      <dgm:spPr/>
      <dgm:t>
        <a:bodyPr/>
        <a:lstStyle/>
        <a:p>
          <a:endParaRPr lang="en-US"/>
        </a:p>
      </dgm:t>
    </dgm:pt>
    <dgm:pt modelId="{A409F572-CF81-4B7B-A7E5-E74E4CFCEF0C}" type="sibTrans" cxnId="{570C1DA3-60D3-4C82-9201-7765D76DF9F9}">
      <dgm:prSet/>
      <dgm:spPr/>
      <dgm:t>
        <a:bodyPr/>
        <a:lstStyle/>
        <a:p>
          <a:endParaRPr lang="en-US"/>
        </a:p>
      </dgm:t>
    </dgm:pt>
    <dgm:pt modelId="{14448312-75E0-4A01-8371-31BDA7D2B84E}">
      <dgm:prSet phldrT="[Text]" custT="1"/>
      <dgm:spPr/>
      <dgm:t>
        <a:bodyPr/>
        <a:lstStyle/>
        <a:p>
          <a:pPr marL="230188" indent="0" algn="just"/>
          <a:r>
            <a:rPr lang="en-US" sz="1050" dirty="0"/>
            <a:t>As per the policy, these solar parks will be developed </a:t>
          </a:r>
          <a:r>
            <a:rPr lang="en-US" sz="1050" b="1" dirty="0"/>
            <a:t>in collaboration with the State Governments.</a:t>
          </a:r>
        </a:p>
      </dgm:t>
    </dgm:pt>
    <dgm:pt modelId="{6579E462-8AE4-4779-B59E-7DD8E0180DB2}" type="parTrans" cxnId="{983B9B49-D3CE-4316-85AA-1F6BF36AF9C1}">
      <dgm:prSet/>
      <dgm:spPr/>
      <dgm:t>
        <a:bodyPr/>
        <a:lstStyle/>
        <a:p>
          <a:endParaRPr lang="en-US"/>
        </a:p>
      </dgm:t>
    </dgm:pt>
    <dgm:pt modelId="{F6BFE8C8-5578-487C-9AAF-34866B65D2F3}" type="sibTrans" cxnId="{983B9B49-D3CE-4316-85AA-1F6BF36AF9C1}">
      <dgm:prSet/>
      <dgm:spPr/>
      <dgm:t>
        <a:bodyPr/>
        <a:lstStyle/>
        <a:p>
          <a:endParaRPr lang="en-US"/>
        </a:p>
      </dgm:t>
    </dgm:pt>
    <dgm:pt modelId="{5D922C31-7C62-4030-8036-CCB41C29BCBC}">
      <dgm:prSet phldrT="[Text]"/>
      <dgm:spPr>
        <a:solidFill>
          <a:schemeClr val="bg2">
            <a:lumMod val="75000"/>
          </a:schemeClr>
        </a:solidFill>
      </dgm:spPr>
      <dgm:t>
        <a:bodyPr/>
        <a:lstStyle/>
        <a:p>
          <a:r>
            <a:rPr lang="en-US" b="1" dirty="0">
              <a:solidFill>
                <a:schemeClr val="tx1"/>
              </a:solidFill>
            </a:rPr>
            <a:t>Option 3</a:t>
          </a:r>
        </a:p>
      </dgm:t>
    </dgm:pt>
    <dgm:pt modelId="{C029E313-E03A-467E-837F-82C35F448CEF}" type="parTrans" cxnId="{AE25669B-E0E4-4FFB-B144-5C8A388701B5}">
      <dgm:prSet/>
      <dgm:spPr/>
      <dgm:t>
        <a:bodyPr/>
        <a:lstStyle/>
        <a:p>
          <a:endParaRPr lang="en-US"/>
        </a:p>
      </dgm:t>
    </dgm:pt>
    <dgm:pt modelId="{9EF4AD53-A40F-403E-99E7-E7A48FFBF4B6}" type="sibTrans" cxnId="{AE25669B-E0E4-4FFB-B144-5C8A388701B5}">
      <dgm:prSet/>
      <dgm:spPr/>
      <dgm:t>
        <a:bodyPr/>
        <a:lstStyle/>
        <a:p>
          <a:endParaRPr lang="en-US"/>
        </a:p>
      </dgm:t>
    </dgm:pt>
    <dgm:pt modelId="{33923A98-B54A-4E94-9B32-FE3AD884EBFF}">
      <dgm:prSet phldrT="[Text]" custT="1"/>
      <dgm:spPr/>
      <dgm:t>
        <a:bodyPr/>
        <a:lstStyle/>
        <a:p>
          <a:pPr marL="342900" indent="0" algn="just"/>
          <a:r>
            <a:rPr lang="en-US" sz="1050" dirty="0"/>
            <a:t>The proposed 1200 MW Solar Power would be </a:t>
          </a:r>
          <a:r>
            <a:rPr lang="en-US" sz="1050" b="1" dirty="0"/>
            <a:t>developed in 24 no of blocks of 50 MW capacities.</a:t>
          </a:r>
        </a:p>
        <a:p>
          <a:pPr marL="342900" indent="0" algn="just"/>
          <a:endParaRPr lang="en-US" sz="1050" dirty="0"/>
        </a:p>
      </dgm:t>
    </dgm:pt>
    <dgm:pt modelId="{B9714736-2002-4C8A-93B5-50C03CDC2288}" type="parTrans" cxnId="{896D8DD9-4393-47D3-87EC-7F4A9C1B3AF5}">
      <dgm:prSet/>
      <dgm:spPr/>
      <dgm:t>
        <a:bodyPr/>
        <a:lstStyle/>
        <a:p>
          <a:endParaRPr lang="en-US"/>
        </a:p>
      </dgm:t>
    </dgm:pt>
    <dgm:pt modelId="{D58ACA7B-6229-444C-A0D4-982ED2690313}" type="sibTrans" cxnId="{896D8DD9-4393-47D3-87EC-7F4A9C1B3AF5}">
      <dgm:prSet/>
      <dgm:spPr/>
      <dgm:t>
        <a:bodyPr/>
        <a:lstStyle/>
        <a:p>
          <a:endParaRPr lang="en-US"/>
        </a:p>
      </dgm:t>
    </dgm:pt>
    <dgm:pt modelId="{CB68BAE7-92D7-4B94-82CB-497CA92C6281}">
      <dgm:prSet phldrT="[Text]" custT="1"/>
      <dgm:spPr/>
      <dgm:t>
        <a:bodyPr/>
        <a:lstStyle/>
        <a:p>
          <a:pPr marL="231775" indent="0" algn="just"/>
          <a:r>
            <a:rPr lang="en-US" sz="1050" b="1" dirty="0"/>
            <a:t>Developers will be involved in an PPP basis</a:t>
          </a:r>
          <a:r>
            <a:rPr lang="en-US" sz="1050" dirty="0"/>
            <a:t> by Renewable Energy Service Company (RESCO) Model for Solar Power Generation.</a:t>
          </a:r>
        </a:p>
        <a:p>
          <a:pPr marL="231775" indent="0" algn="just"/>
          <a:endParaRPr lang="en-US" sz="1050" dirty="0"/>
        </a:p>
      </dgm:t>
    </dgm:pt>
    <dgm:pt modelId="{08CB9004-F414-4C58-8479-2F967EBDC522}" type="parTrans" cxnId="{0CA2F0A3-BCCF-4344-A7DA-AF3C2C43D52C}">
      <dgm:prSet/>
      <dgm:spPr/>
      <dgm:t>
        <a:bodyPr/>
        <a:lstStyle/>
        <a:p>
          <a:endParaRPr lang="en-US"/>
        </a:p>
      </dgm:t>
    </dgm:pt>
    <dgm:pt modelId="{D0A51A05-92C5-4CD2-81E4-BB2A0B31749F}" type="sibTrans" cxnId="{0CA2F0A3-BCCF-4344-A7DA-AF3C2C43D52C}">
      <dgm:prSet/>
      <dgm:spPr/>
      <dgm:t>
        <a:bodyPr/>
        <a:lstStyle/>
        <a:p>
          <a:endParaRPr lang="en-US"/>
        </a:p>
      </dgm:t>
    </dgm:pt>
    <dgm:pt modelId="{D420223B-B209-4631-BDD1-C856F6F48DEF}">
      <dgm:prSet phldrT="[Text]"/>
      <dgm:spPr>
        <a:solidFill>
          <a:schemeClr val="bg2"/>
        </a:solidFill>
      </dgm:spPr>
      <dgm:t>
        <a:bodyPr/>
        <a:lstStyle/>
        <a:p>
          <a:r>
            <a:rPr lang="en-US" b="1" dirty="0">
              <a:solidFill>
                <a:schemeClr val="tx1"/>
              </a:solidFill>
            </a:rPr>
            <a:t>Option 4</a:t>
          </a:r>
        </a:p>
      </dgm:t>
    </dgm:pt>
    <dgm:pt modelId="{0F2C5BD9-F8E2-47CC-98F7-9F82248F4D99}" type="parTrans" cxnId="{A6C4EA60-82C8-4E9B-9BAB-77A455E88F55}">
      <dgm:prSet/>
      <dgm:spPr/>
      <dgm:t>
        <a:bodyPr/>
        <a:lstStyle/>
        <a:p>
          <a:endParaRPr lang="en-US"/>
        </a:p>
      </dgm:t>
    </dgm:pt>
    <dgm:pt modelId="{E4106399-2CAE-44F6-8E22-A98D00EFC6B8}" type="sibTrans" cxnId="{A6C4EA60-82C8-4E9B-9BAB-77A455E88F55}">
      <dgm:prSet/>
      <dgm:spPr/>
      <dgm:t>
        <a:bodyPr/>
        <a:lstStyle/>
        <a:p>
          <a:endParaRPr lang="en-US"/>
        </a:p>
      </dgm:t>
    </dgm:pt>
    <dgm:pt modelId="{957495F2-747C-4774-806E-CE0927B9AE5F}">
      <dgm:prSet phldrT="[Text]" custT="1"/>
      <dgm:spPr/>
      <dgm:t>
        <a:bodyPr/>
        <a:lstStyle/>
        <a:p>
          <a:pPr marL="231775" indent="0" algn="just">
            <a:buNone/>
          </a:pPr>
          <a:endParaRPr lang="en-US" sz="1050" dirty="0"/>
        </a:p>
        <a:p>
          <a:pPr marL="231775" indent="0" algn="just">
            <a:buNone/>
          </a:pPr>
          <a:r>
            <a:rPr lang="en-US" sz="1050" dirty="0"/>
            <a:t>The </a:t>
          </a:r>
          <a:r>
            <a:rPr lang="en-US" sz="1050" b="1" dirty="0"/>
            <a:t>grant sought</a:t>
          </a:r>
          <a:r>
            <a:rPr lang="en-US" sz="1050" dirty="0"/>
            <a:t> would be up to </a:t>
          </a:r>
          <a:r>
            <a:rPr lang="en-US" sz="1050" b="1" dirty="0"/>
            <a:t>Rs.20 lakhs per MW</a:t>
          </a:r>
          <a:r>
            <a:rPr lang="en-US" sz="1050" dirty="0"/>
            <a:t> for Solar Power Park Developer (SPPD) </a:t>
          </a:r>
          <a:r>
            <a:rPr lang="en-US" sz="1050" b="1" dirty="0"/>
            <a:t>or 30% of the project cost.</a:t>
          </a:r>
        </a:p>
      </dgm:t>
    </dgm:pt>
    <dgm:pt modelId="{76EF2FF3-E497-4751-9195-F4B522B81CA5}" type="parTrans" cxnId="{62883B66-59D9-4CDB-A192-1FA71043ADD4}">
      <dgm:prSet/>
      <dgm:spPr/>
      <dgm:t>
        <a:bodyPr/>
        <a:lstStyle/>
        <a:p>
          <a:endParaRPr lang="en-US"/>
        </a:p>
      </dgm:t>
    </dgm:pt>
    <dgm:pt modelId="{ECE353CC-DB58-47B2-B300-669D4CCF25DD}" type="sibTrans" cxnId="{62883B66-59D9-4CDB-A192-1FA71043ADD4}">
      <dgm:prSet/>
      <dgm:spPr/>
      <dgm:t>
        <a:bodyPr/>
        <a:lstStyle/>
        <a:p>
          <a:endParaRPr lang="en-US"/>
        </a:p>
      </dgm:t>
    </dgm:pt>
    <dgm:pt modelId="{476FD117-4060-4F08-8C2D-201742A3A6D5}">
      <dgm:prSet phldrT="[Text]" custT="1"/>
      <dgm:spPr/>
      <dgm:t>
        <a:bodyPr/>
        <a:lstStyle/>
        <a:p>
          <a:pPr marL="231775" indent="0" algn="just">
            <a:buNone/>
          </a:pPr>
          <a:endParaRPr lang="en-US" sz="1050" dirty="0"/>
        </a:p>
        <a:p>
          <a:pPr marL="231775" indent="0" algn="just">
            <a:buNone/>
          </a:pPr>
          <a:r>
            <a:rPr lang="en-US" sz="1050" dirty="0"/>
            <a:t>The </a:t>
          </a:r>
          <a:r>
            <a:rPr lang="en-US" sz="1050" b="1" dirty="0"/>
            <a:t>remaining Capex shall be funded through</a:t>
          </a:r>
          <a:r>
            <a:rPr lang="en-US" sz="1050" dirty="0"/>
            <a:t> a combination of contribution from solar project developers, multilateral funding, PFC and IREDA, </a:t>
          </a:r>
        </a:p>
        <a:p>
          <a:pPr marL="231775" indent="0" algn="just">
            <a:buNone/>
          </a:pPr>
          <a:endParaRPr lang="en-US" sz="1050" dirty="0"/>
        </a:p>
        <a:p>
          <a:pPr marL="231775" indent="0" algn="just">
            <a:buNone/>
          </a:pPr>
          <a:r>
            <a:rPr lang="en-US" sz="1050" dirty="0"/>
            <a:t>25 Lakh support will be provided by MNRE for DPR Preparation. </a:t>
          </a:r>
        </a:p>
      </dgm:t>
    </dgm:pt>
    <dgm:pt modelId="{B11C9EC6-22E2-42DB-9727-958874EBF9E9}" type="parTrans" cxnId="{CFBE4F20-9145-44C9-B77C-DCBED862DF2D}">
      <dgm:prSet/>
      <dgm:spPr/>
      <dgm:t>
        <a:bodyPr/>
        <a:lstStyle/>
        <a:p>
          <a:endParaRPr lang="en-US"/>
        </a:p>
      </dgm:t>
    </dgm:pt>
    <dgm:pt modelId="{7291C4BA-D4C4-494A-BBE9-7DCC7239C346}" type="sibTrans" cxnId="{CFBE4F20-9145-44C9-B77C-DCBED862DF2D}">
      <dgm:prSet/>
      <dgm:spPr/>
      <dgm:t>
        <a:bodyPr/>
        <a:lstStyle/>
        <a:p>
          <a:endParaRPr lang="en-US"/>
        </a:p>
      </dgm:t>
    </dgm:pt>
    <dgm:pt modelId="{5EE8A4DC-293C-4C77-8084-4C34078DFD88}">
      <dgm:prSet phldrT="[Text]" custT="1"/>
      <dgm:spPr/>
      <dgm:t>
        <a:bodyPr/>
        <a:lstStyle/>
        <a:p>
          <a:pPr marL="230188" indent="0" algn="just"/>
          <a:r>
            <a:rPr lang="en-US" sz="1050" dirty="0"/>
            <a:t>The </a:t>
          </a:r>
          <a:r>
            <a:rPr lang="en-US" sz="1050" b="1" dirty="0"/>
            <a:t>implementation agency would be Solar Energy Corporation of India (SECI) </a:t>
          </a:r>
          <a:r>
            <a:rPr lang="en-US" sz="1050" dirty="0"/>
            <a:t>on behalf of Government of India (GOI). SECI will handle funds to be made available under the scheme on behalf of GOI</a:t>
          </a:r>
        </a:p>
        <a:p>
          <a:pPr marL="230188" indent="0" algn="just"/>
          <a:endParaRPr lang="en-US" sz="1050" dirty="0"/>
        </a:p>
      </dgm:t>
    </dgm:pt>
    <dgm:pt modelId="{1E987B4B-A47A-4FD4-8E55-86E31FC72F60}" type="parTrans" cxnId="{3818C082-8F9D-4610-80F9-1854B4D043F4}">
      <dgm:prSet/>
      <dgm:spPr/>
      <dgm:t>
        <a:bodyPr/>
        <a:lstStyle/>
        <a:p>
          <a:endParaRPr lang="en-US"/>
        </a:p>
      </dgm:t>
    </dgm:pt>
    <dgm:pt modelId="{C92832D9-ED20-4917-B75B-1E47E3DB13C8}" type="sibTrans" cxnId="{3818C082-8F9D-4610-80F9-1854B4D043F4}">
      <dgm:prSet/>
      <dgm:spPr/>
      <dgm:t>
        <a:bodyPr/>
        <a:lstStyle/>
        <a:p>
          <a:endParaRPr lang="en-US"/>
        </a:p>
      </dgm:t>
    </dgm:pt>
    <dgm:pt modelId="{C435C8D2-4671-43D7-AE4B-F1BFA8165C84}">
      <dgm:prSet phldrT="[Text]" custT="1"/>
      <dgm:spPr/>
      <dgm:t>
        <a:bodyPr/>
        <a:lstStyle/>
        <a:p>
          <a:pPr marL="230188" indent="0" algn="just"/>
          <a:r>
            <a:rPr lang="en-IN" sz="1050" dirty="0"/>
            <a:t>SECI will act as Nodal Agency on behalf of MNRE, </a:t>
          </a:r>
          <a:r>
            <a:rPr lang="en-IN" sz="1050" b="1" dirty="0" err="1"/>
            <a:t>GoI</a:t>
          </a:r>
          <a:r>
            <a:rPr lang="en-IN" sz="1050" b="1" dirty="0"/>
            <a:t> to administer the scheme and funds will be routed through SECI </a:t>
          </a:r>
          <a:r>
            <a:rPr lang="en-IN" sz="1050" dirty="0"/>
            <a:t>and designated agency of the State government will act as Solar Power Park Developer .</a:t>
          </a:r>
        </a:p>
        <a:p>
          <a:pPr marL="230188" indent="0" algn="just"/>
          <a:endParaRPr lang="en-IN" sz="1050" dirty="0"/>
        </a:p>
      </dgm:t>
    </dgm:pt>
    <dgm:pt modelId="{C822410F-4E87-4461-A7CD-89243D8FCD55}" type="parTrans" cxnId="{097FD30E-09FE-4463-ADDA-DBD02BFBE648}">
      <dgm:prSet/>
      <dgm:spPr/>
      <dgm:t>
        <a:bodyPr/>
        <a:lstStyle/>
        <a:p>
          <a:endParaRPr lang="en-US"/>
        </a:p>
      </dgm:t>
    </dgm:pt>
    <dgm:pt modelId="{21F37D39-7B30-482C-AE81-5825738BCBBD}" type="sibTrans" cxnId="{097FD30E-09FE-4463-ADDA-DBD02BFBE648}">
      <dgm:prSet/>
      <dgm:spPr/>
      <dgm:t>
        <a:bodyPr/>
        <a:lstStyle/>
        <a:p>
          <a:endParaRPr lang="en-US"/>
        </a:p>
      </dgm:t>
    </dgm:pt>
    <dgm:pt modelId="{E9C6420A-FE95-470F-95A0-7D36A523C4C4}">
      <dgm:prSet phldrT="[Text]" custT="1"/>
      <dgm:spPr/>
      <dgm:t>
        <a:bodyPr/>
        <a:lstStyle/>
        <a:p>
          <a:pPr marL="230188" indent="0" algn="just"/>
          <a:r>
            <a:rPr lang="en-IN" sz="1050" dirty="0"/>
            <a:t>The </a:t>
          </a:r>
          <a:r>
            <a:rPr lang="en-IN" sz="1050" b="1" dirty="0"/>
            <a:t>SPPD may arrange fund for developing the proposed solar park from own sources </a:t>
          </a:r>
          <a:r>
            <a:rPr lang="en-IN" sz="1050" dirty="0"/>
            <a:t>by way of loan and equity.</a:t>
          </a:r>
        </a:p>
      </dgm:t>
    </dgm:pt>
    <dgm:pt modelId="{6620C082-7AD3-47F9-B79D-528ACBCFE3FA}" type="parTrans" cxnId="{2CFAF549-1166-4625-80B2-290C1172B57A}">
      <dgm:prSet/>
      <dgm:spPr/>
      <dgm:t>
        <a:bodyPr/>
        <a:lstStyle/>
        <a:p>
          <a:endParaRPr lang="en-US"/>
        </a:p>
      </dgm:t>
    </dgm:pt>
    <dgm:pt modelId="{39ED8B43-776B-4F57-BF9F-A255E5778A14}" type="sibTrans" cxnId="{2CFAF549-1166-4625-80B2-290C1172B57A}">
      <dgm:prSet/>
      <dgm:spPr/>
      <dgm:t>
        <a:bodyPr/>
        <a:lstStyle/>
        <a:p>
          <a:endParaRPr lang="en-US"/>
        </a:p>
      </dgm:t>
    </dgm:pt>
    <dgm:pt modelId="{26970085-053A-45B5-A8F6-68946992C794}">
      <dgm:prSet phldrT="[Text]" custT="1"/>
      <dgm:spPr/>
      <dgm:t>
        <a:bodyPr/>
        <a:lstStyle/>
        <a:p>
          <a:pPr marL="342900" indent="0" algn="just"/>
          <a:r>
            <a:rPr lang="en-US" sz="1050" dirty="0"/>
            <a:t>Each 50 MW Solar Power capacity block, </a:t>
          </a:r>
          <a:r>
            <a:rPr lang="en-US" sz="1050" b="1" dirty="0"/>
            <a:t>one pooling substation of 33/ 132 kV is proposed </a:t>
          </a:r>
          <a:r>
            <a:rPr lang="en-US" sz="1050" dirty="0"/>
            <a:t>and may be developed through developer mode by </a:t>
          </a:r>
          <a:r>
            <a:rPr lang="en-US" sz="1050" b="1" dirty="0"/>
            <a:t>competitive bidding process. The bidding will be done by state nodal agency.</a:t>
          </a:r>
        </a:p>
        <a:p>
          <a:pPr marL="342900" indent="0" algn="just"/>
          <a:endParaRPr lang="en-US" sz="1050" dirty="0"/>
        </a:p>
      </dgm:t>
    </dgm:pt>
    <dgm:pt modelId="{0E9C8E24-2189-426A-B303-7F29A9F3C9A2}" type="parTrans" cxnId="{8FFBB269-BEDC-4B81-AFDC-8C488AC16141}">
      <dgm:prSet/>
      <dgm:spPr/>
      <dgm:t>
        <a:bodyPr/>
        <a:lstStyle/>
        <a:p>
          <a:endParaRPr lang="en-US"/>
        </a:p>
      </dgm:t>
    </dgm:pt>
    <dgm:pt modelId="{ED02F0AC-116A-494A-9BB0-861F6B3BA726}" type="sibTrans" cxnId="{8FFBB269-BEDC-4B81-AFDC-8C488AC16141}">
      <dgm:prSet/>
      <dgm:spPr/>
      <dgm:t>
        <a:bodyPr/>
        <a:lstStyle/>
        <a:p>
          <a:endParaRPr lang="en-US"/>
        </a:p>
      </dgm:t>
    </dgm:pt>
    <dgm:pt modelId="{291EAE90-5A22-492F-B008-C19D893239E8}">
      <dgm:prSet phldrT="[Text]" custT="1"/>
      <dgm:spPr/>
      <dgm:t>
        <a:bodyPr/>
        <a:lstStyle/>
        <a:p>
          <a:pPr marL="342900" indent="0" algn="just"/>
          <a:r>
            <a:rPr lang="en-US" sz="1050" dirty="0"/>
            <a:t> The plant supporting Infrastructure will be developed through </a:t>
          </a:r>
          <a:r>
            <a:rPr lang="en-US" sz="1050" b="1" dirty="0"/>
            <a:t>CAPEX investment by Govt. of West Bengal</a:t>
          </a:r>
          <a:r>
            <a:rPr lang="en-US" sz="1050" dirty="0"/>
            <a:t>.</a:t>
          </a:r>
        </a:p>
      </dgm:t>
    </dgm:pt>
    <dgm:pt modelId="{48583B2C-B631-424B-97D0-A99D8A2BD7A4}" type="parTrans" cxnId="{0A957B8C-A4DE-4B26-B5B7-E42554C5E5E3}">
      <dgm:prSet/>
      <dgm:spPr/>
      <dgm:t>
        <a:bodyPr/>
        <a:lstStyle/>
        <a:p>
          <a:endParaRPr lang="en-US"/>
        </a:p>
      </dgm:t>
    </dgm:pt>
    <dgm:pt modelId="{019C51DF-7C6E-4F76-8C75-88AE3FD9F80B}" type="sibTrans" cxnId="{0A957B8C-A4DE-4B26-B5B7-E42554C5E5E3}">
      <dgm:prSet/>
      <dgm:spPr/>
      <dgm:t>
        <a:bodyPr/>
        <a:lstStyle/>
        <a:p>
          <a:endParaRPr lang="en-US"/>
        </a:p>
      </dgm:t>
    </dgm:pt>
    <dgm:pt modelId="{57FB14F2-6D28-4D20-993B-04BED1FC062C}">
      <dgm:prSet phldrT="[Text]" custT="1"/>
      <dgm:spPr/>
      <dgm:t>
        <a:bodyPr/>
        <a:lstStyle/>
        <a:p>
          <a:pPr marL="342900" indent="0" algn="just"/>
          <a:r>
            <a:rPr lang="en-US" sz="1050" dirty="0"/>
            <a:t>Capex shall be funded through a </a:t>
          </a:r>
          <a:r>
            <a:rPr lang="en-US" sz="1050" b="1" dirty="0"/>
            <a:t>combination of contribution from multilateral funding, PFC, IREDA</a:t>
          </a:r>
          <a:r>
            <a:rPr lang="en-US" sz="1050" dirty="0"/>
            <a:t> </a:t>
          </a:r>
          <a:r>
            <a:rPr lang="en-US" sz="1050" dirty="0" err="1"/>
            <a:t>etc</a:t>
          </a:r>
          <a:endParaRPr lang="en-US" sz="1050" dirty="0"/>
        </a:p>
      </dgm:t>
    </dgm:pt>
    <dgm:pt modelId="{B54AFDE3-547A-4DDA-9942-1836233DD56F}" type="parTrans" cxnId="{9B55969A-8FD1-4EE0-9C82-01538CC866CC}">
      <dgm:prSet/>
      <dgm:spPr/>
      <dgm:t>
        <a:bodyPr/>
        <a:lstStyle/>
        <a:p>
          <a:endParaRPr lang="en-US"/>
        </a:p>
      </dgm:t>
    </dgm:pt>
    <dgm:pt modelId="{F01518EE-446A-4888-BA23-AA4FB88FBEEB}" type="sibTrans" cxnId="{9B55969A-8FD1-4EE0-9C82-01538CC866CC}">
      <dgm:prSet/>
      <dgm:spPr/>
      <dgm:t>
        <a:bodyPr/>
        <a:lstStyle/>
        <a:p>
          <a:endParaRPr lang="en-US"/>
        </a:p>
      </dgm:t>
    </dgm:pt>
    <dgm:pt modelId="{46DACC2E-AB83-4E93-8D0A-2FF591FEA8CE}">
      <dgm:prSet phldrT="[Text]" custT="1"/>
      <dgm:spPr/>
      <dgm:t>
        <a:bodyPr/>
        <a:lstStyle/>
        <a:p>
          <a:pPr marL="231775" indent="0" algn="just"/>
          <a:r>
            <a:rPr lang="en-US" sz="1050" b="1" dirty="0"/>
            <a:t>State Govt. will provide land and power evacuation infrastructure</a:t>
          </a:r>
          <a:r>
            <a:rPr lang="en-US" sz="1050" dirty="0"/>
            <a:t> through a lease agreement for 25 Years </a:t>
          </a:r>
        </a:p>
        <a:p>
          <a:pPr marL="231775" indent="0" algn="just"/>
          <a:endParaRPr lang="en-US" sz="1050" dirty="0"/>
        </a:p>
      </dgm:t>
    </dgm:pt>
    <dgm:pt modelId="{E7D91A18-8705-4F9C-88F9-9A8D7CA04B70}" type="parTrans" cxnId="{5B142B24-98C5-498C-847B-7512E975245D}">
      <dgm:prSet/>
      <dgm:spPr/>
      <dgm:t>
        <a:bodyPr/>
        <a:lstStyle/>
        <a:p>
          <a:endParaRPr lang="en-US"/>
        </a:p>
      </dgm:t>
    </dgm:pt>
    <dgm:pt modelId="{BDF6C34B-D5EC-40AD-9B54-80533553D2A2}" type="sibTrans" cxnId="{5B142B24-98C5-498C-847B-7512E975245D}">
      <dgm:prSet/>
      <dgm:spPr/>
      <dgm:t>
        <a:bodyPr/>
        <a:lstStyle/>
        <a:p>
          <a:endParaRPr lang="en-US"/>
        </a:p>
      </dgm:t>
    </dgm:pt>
    <dgm:pt modelId="{EE8669D6-FF89-46C4-9F37-70568B8E9916}">
      <dgm:prSet phldrT="[Text]" custT="1"/>
      <dgm:spPr/>
      <dgm:t>
        <a:bodyPr/>
        <a:lstStyle/>
        <a:p>
          <a:pPr marL="231775" indent="0" algn="just"/>
          <a:r>
            <a:rPr lang="en-US" sz="1050" b="1" dirty="0"/>
            <a:t>Nodal agency selected by the State Govt</a:t>
          </a:r>
          <a:r>
            <a:rPr lang="en-US" sz="1050" dirty="0"/>
            <a:t>. will engage private developer through Tender </a:t>
          </a:r>
          <a:r>
            <a:rPr lang="en-US" sz="1050" b="1" dirty="0"/>
            <a:t>on RESCO model</a:t>
          </a:r>
          <a:r>
            <a:rPr lang="en-US" sz="1050" dirty="0"/>
            <a:t> </a:t>
          </a:r>
        </a:p>
        <a:p>
          <a:pPr marL="231775" indent="0" algn="just"/>
          <a:endParaRPr lang="en-US" sz="1050" dirty="0"/>
        </a:p>
      </dgm:t>
    </dgm:pt>
    <dgm:pt modelId="{7121B457-F691-473C-86D6-20396BB91640}" type="parTrans" cxnId="{BDC472C4-A29E-45F3-89EC-36974D6742BB}">
      <dgm:prSet/>
      <dgm:spPr/>
      <dgm:t>
        <a:bodyPr/>
        <a:lstStyle/>
        <a:p>
          <a:endParaRPr lang="en-US"/>
        </a:p>
      </dgm:t>
    </dgm:pt>
    <dgm:pt modelId="{317B9EF1-EB92-42D7-A7B3-1CE55735544C}" type="sibTrans" cxnId="{BDC472C4-A29E-45F3-89EC-36974D6742BB}">
      <dgm:prSet/>
      <dgm:spPr/>
      <dgm:t>
        <a:bodyPr/>
        <a:lstStyle/>
        <a:p>
          <a:endParaRPr lang="en-US"/>
        </a:p>
      </dgm:t>
    </dgm:pt>
    <dgm:pt modelId="{A9E40872-DC19-4DCD-8192-9EBC04E74974}">
      <dgm:prSet custT="1"/>
      <dgm:spPr/>
      <dgm:t>
        <a:bodyPr/>
        <a:lstStyle/>
        <a:p>
          <a:pPr marL="231775" indent="0" algn="just"/>
          <a:r>
            <a:rPr lang="en-US" sz="1050" dirty="0"/>
            <a:t>Energy generated </a:t>
          </a:r>
          <a:r>
            <a:rPr lang="en-US" sz="1050" b="1" dirty="0"/>
            <a:t>may be transferred to the grid</a:t>
          </a:r>
          <a:r>
            <a:rPr lang="en-US" sz="1050" dirty="0"/>
            <a:t> and / </a:t>
          </a:r>
          <a:r>
            <a:rPr lang="en-US" sz="1050" b="1" dirty="0"/>
            <a:t>or may be allowed for consumption</a:t>
          </a:r>
          <a:r>
            <a:rPr lang="en-US" sz="1050" dirty="0"/>
            <a:t> by local residential and commercial units. </a:t>
          </a:r>
          <a:r>
            <a:rPr lang="en-US" sz="1050" b="1" dirty="0"/>
            <a:t>The developer will take up all infrastructure cost from the revenue received from state government.</a:t>
          </a:r>
        </a:p>
      </dgm:t>
    </dgm:pt>
    <dgm:pt modelId="{C7EFFA5A-01CB-43ED-97EA-8F6E180E76BF}" type="parTrans" cxnId="{07473AD4-4D64-4EBA-BAD8-0FD3D092A8F6}">
      <dgm:prSet/>
      <dgm:spPr/>
      <dgm:t>
        <a:bodyPr/>
        <a:lstStyle/>
        <a:p>
          <a:endParaRPr lang="en-US"/>
        </a:p>
      </dgm:t>
    </dgm:pt>
    <dgm:pt modelId="{3868546D-FA58-4B92-BB9C-A322AA8A7425}" type="sibTrans" cxnId="{07473AD4-4D64-4EBA-BAD8-0FD3D092A8F6}">
      <dgm:prSet/>
      <dgm:spPr/>
      <dgm:t>
        <a:bodyPr/>
        <a:lstStyle/>
        <a:p>
          <a:endParaRPr lang="en-US"/>
        </a:p>
      </dgm:t>
    </dgm:pt>
    <dgm:pt modelId="{CF259D66-6C79-44D0-9A7C-133B2169AD34}" type="pres">
      <dgm:prSet presAssocID="{77F2C0D3-9710-4A9C-A132-AAD0719E719E}" presName="Name0" presStyleCnt="0">
        <dgm:presLayoutVars>
          <dgm:chMax val="5"/>
          <dgm:chPref val="5"/>
          <dgm:dir/>
          <dgm:animLvl val="lvl"/>
        </dgm:presLayoutVars>
      </dgm:prSet>
      <dgm:spPr/>
    </dgm:pt>
    <dgm:pt modelId="{F783197F-CF02-4088-A3F2-B31DAC2C568F}" type="pres">
      <dgm:prSet presAssocID="{AD003C64-FB4E-4BE5-85A9-1313DA09A7B1}" presName="parentText1" presStyleLbl="node1" presStyleIdx="0" presStyleCnt="4">
        <dgm:presLayoutVars>
          <dgm:chMax/>
          <dgm:chPref val="3"/>
          <dgm:bulletEnabled val="1"/>
        </dgm:presLayoutVars>
      </dgm:prSet>
      <dgm:spPr/>
    </dgm:pt>
    <dgm:pt modelId="{B8A0D8E7-FC30-42BC-92B8-2E318C4DD6EF}" type="pres">
      <dgm:prSet presAssocID="{AD003C64-FB4E-4BE5-85A9-1313DA09A7B1}" presName="childText1" presStyleLbl="solidAlignAcc1" presStyleIdx="0" presStyleCnt="4">
        <dgm:presLayoutVars>
          <dgm:chMax val="0"/>
          <dgm:chPref val="0"/>
          <dgm:bulletEnabled val="1"/>
        </dgm:presLayoutVars>
      </dgm:prSet>
      <dgm:spPr/>
    </dgm:pt>
    <dgm:pt modelId="{DF8ED0BF-8B9A-4D4D-AA09-E98AB06CDE6B}" type="pres">
      <dgm:prSet presAssocID="{209A69AE-CD70-40DB-84B2-93EB467E9378}" presName="parentText2" presStyleLbl="node1" presStyleIdx="1" presStyleCnt="4">
        <dgm:presLayoutVars>
          <dgm:chMax/>
          <dgm:chPref val="3"/>
          <dgm:bulletEnabled val="1"/>
        </dgm:presLayoutVars>
      </dgm:prSet>
      <dgm:spPr/>
    </dgm:pt>
    <dgm:pt modelId="{D0FDD6B0-79D5-4D66-A10B-5E2AE85C698C}" type="pres">
      <dgm:prSet presAssocID="{209A69AE-CD70-40DB-84B2-93EB467E9378}" presName="childText2" presStyleLbl="solidAlignAcc1" presStyleIdx="1" presStyleCnt="4" custScaleY="125445" custLinFactNeighborX="1059" custLinFactNeighborY="11948">
        <dgm:presLayoutVars>
          <dgm:chMax val="0"/>
          <dgm:chPref val="0"/>
          <dgm:bulletEnabled val="1"/>
        </dgm:presLayoutVars>
      </dgm:prSet>
      <dgm:spPr/>
    </dgm:pt>
    <dgm:pt modelId="{ED3777B1-EE07-411C-9996-DD790592F5CD}" type="pres">
      <dgm:prSet presAssocID="{5D922C31-7C62-4030-8036-CCB41C29BCBC}" presName="parentText3" presStyleLbl="node1" presStyleIdx="2" presStyleCnt="4" custLinFactNeighborX="749">
        <dgm:presLayoutVars>
          <dgm:chMax/>
          <dgm:chPref val="3"/>
          <dgm:bulletEnabled val="1"/>
        </dgm:presLayoutVars>
      </dgm:prSet>
      <dgm:spPr/>
    </dgm:pt>
    <dgm:pt modelId="{51BC0585-8F3C-4845-97F1-D5612B108E4D}" type="pres">
      <dgm:prSet presAssocID="{5D922C31-7C62-4030-8036-CCB41C29BCBC}" presName="childText3" presStyleLbl="solidAlignAcc1" presStyleIdx="2" presStyleCnt="4" custScaleY="118702" custLinFactNeighborX="2152" custLinFactNeighborY="8902">
        <dgm:presLayoutVars>
          <dgm:chMax val="0"/>
          <dgm:chPref val="0"/>
          <dgm:bulletEnabled val="1"/>
        </dgm:presLayoutVars>
      </dgm:prSet>
      <dgm:spPr/>
    </dgm:pt>
    <dgm:pt modelId="{04A25DE0-5FC9-44A9-825C-187B491F5A84}" type="pres">
      <dgm:prSet presAssocID="{D420223B-B209-4631-BDD1-C856F6F48DEF}" presName="parentText4" presStyleLbl="node1" presStyleIdx="3" presStyleCnt="4" custLinFactNeighborX="3327" custLinFactNeighborY="-10008">
        <dgm:presLayoutVars>
          <dgm:chMax/>
          <dgm:chPref val="3"/>
          <dgm:bulletEnabled val="1"/>
        </dgm:presLayoutVars>
      </dgm:prSet>
      <dgm:spPr/>
    </dgm:pt>
    <dgm:pt modelId="{60F163B3-7A1C-4A4B-AF6A-D36C548AF926}" type="pres">
      <dgm:prSet presAssocID="{D420223B-B209-4631-BDD1-C856F6F48DEF}" presName="childText4" presStyleLbl="solidAlignAcc1" presStyleIdx="3" presStyleCnt="4" custScaleX="103298" custScaleY="126558" custLinFactNeighborX="6026" custLinFactNeighborY="4583">
        <dgm:presLayoutVars>
          <dgm:chMax val="0"/>
          <dgm:chPref val="0"/>
          <dgm:bulletEnabled val="1"/>
        </dgm:presLayoutVars>
      </dgm:prSet>
      <dgm:spPr/>
    </dgm:pt>
  </dgm:ptLst>
  <dgm:cxnLst>
    <dgm:cxn modelId="{097FD30E-09FE-4463-ADDA-DBD02BFBE648}" srcId="{209A69AE-CD70-40DB-84B2-93EB467E9378}" destId="{C435C8D2-4671-43D7-AE4B-F1BFA8165C84}" srcOrd="2" destOrd="0" parTransId="{C822410F-4E87-4461-A7CD-89243D8FCD55}" sibTransId="{21F37D39-7B30-482C-AE81-5825738BCBBD}"/>
    <dgm:cxn modelId="{E0E8E013-FFAF-4C5C-9C68-40FCD6B19C74}" type="presOf" srcId="{26970085-053A-45B5-A8F6-68946992C794}" destId="{51BC0585-8F3C-4845-97F1-D5612B108E4D}" srcOrd="0" destOrd="1" presId="urn:microsoft.com/office/officeart/2009/3/layout/IncreasingArrowsProcess"/>
    <dgm:cxn modelId="{1F575B1E-78DE-4EF4-B7A5-F052B9549776}" type="presOf" srcId="{D420223B-B209-4631-BDD1-C856F6F48DEF}" destId="{04A25DE0-5FC9-44A9-825C-187B491F5A84}" srcOrd="0" destOrd="0" presId="urn:microsoft.com/office/officeart/2009/3/layout/IncreasingArrowsProcess"/>
    <dgm:cxn modelId="{CFBE4F20-9145-44C9-B77C-DCBED862DF2D}" srcId="{AD003C64-FB4E-4BE5-85A9-1313DA09A7B1}" destId="{476FD117-4060-4F08-8C2D-201742A3A6D5}" srcOrd="2" destOrd="0" parTransId="{B11C9EC6-22E2-42DB-9727-958874EBF9E9}" sibTransId="{7291C4BA-D4C4-494A-BBE9-7DCC7239C346}"/>
    <dgm:cxn modelId="{492D6A22-6EAD-480D-9252-30707F707382}" type="presOf" srcId="{476FD117-4060-4F08-8C2D-201742A3A6D5}" destId="{B8A0D8E7-FC30-42BC-92B8-2E318C4DD6EF}" srcOrd="0" destOrd="2" presId="urn:microsoft.com/office/officeart/2009/3/layout/IncreasingArrowsProcess"/>
    <dgm:cxn modelId="{5B142B24-98C5-498C-847B-7512E975245D}" srcId="{D420223B-B209-4631-BDD1-C856F6F48DEF}" destId="{46DACC2E-AB83-4E93-8D0A-2FF591FEA8CE}" srcOrd="1" destOrd="0" parTransId="{E7D91A18-8705-4F9C-88F9-9A8D7CA04B70}" sibTransId="{BDF6C34B-D5EC-40AD-9B54-80533553D2A2}"/>
    <dgm:cxn modelId="{12A3282A-40C9-42A9-8285-5B52968CA81C}" type="presOf" srcId="{14448312-75E0-4A01-8371-31BDA7D2B84E}" destId="{D0FDD6B0-79D5-4D66-A10B-5E2AE85C698C}" srcOrd="0" destOrd="0" presId="urn:microsoft.com/office/officeart/2009/3/layout/IncreasingArrowsProcess"/>
    <dgm:cxn modelId="{2E5BD43B-583C-496B-83D3-8C4D42497A6F}" type="presOf" srcId="{E9C6420A-FE95-470F-95A0-7D36A523C4C4}" destId="{D0FDD6B0-79D5-4D66-A10B-5E2AE85C698C}" srcOrd="0" destOrd="3" presId="urn:microsoft.com/office/officeart/2009/3/layout/IncreasingArrowsProcess"/>
    <dgm:cxn modelId="{563D1C3F-CD6B-41D4-8F63-F653592ECE16}" type="presOf" srcId="{B40A4E6B-980C-48FF-BEAB-4F7D70A6DD66}" destId="{B8A0D8E7-FC30-42BC-92B8-2E318C4DD6EF}" srcOrd="0" destOrd="0" presId="urn:microsoft.com/office/officeart/2009/3/layout/IncreasingArrowsProcess"/>
    <dgm:cxn modelId="{A6C4EA60-82C8-4E9B-9BAB-77A455E88F55}" srcId="{77F2C0D3-9710-4A9C-A132-AAD0719E719E}" destId="{D420223B-B209-4631-BDD1-C856F6F48DEF}" srcOrd="3" destOrd="0" parTransId="{0F2C5BD9-F8E2-47CC-98F7-9F82248F4D99}" sibTransId="{E4106399-2CAE-44F6-8E22-A98D00EFC6B8}"/>
    <dgm:cxn modelId="{6160B741-05C3-4589-88E6-043414D6A178}" type="presOf" srcId="{291EAE90-5A22-492F-B008-C19D893239E8}" destId="{51BC0585-8F3C-4845-97F1-D5612B108E4D}" srcOrd="0" destOrd="2" presId="urn:microsoft.com/office/officeart/2009/3/layout/IncreasingArrowsProcess"/>
    <dgm:cxn modelId="{62883B66-59D9-4CDB-A192-1FA71043ADD4}" srcId="{AD003C64-FB4E-4BE5-85A9-1313DA09A7B1}" destId="{957495F2-747C-4774-806E-CE0927B9AE5F}" srcOrd="1" destOrd="0" parTransId="{76EF2FF3-E497-4751-9195-F4B522B81CA5}" sibTransId="{ECE353CC-DB58-47B2-B300-669D4CCF25DD}"/>
    <dgm:cxn modelId="{983B9B49-D3CE-4316-85AA-1F6BF36AF9C1}" srcId="{209A69AE-CD70-40DB-84B2-93EB467E9378}" destId="{14448312-75E0-4A01-8371-31BDA7D2B84E}" srcOrd="0" destOrd="0" parTransId="{6579E462-8AE4-4779-B59E-7DD8E0180DB2}" sibTransId="{F6BFE8C8-5578-487C-9AAF-34866B65D2F3}"/>
    <dgm:cxn modelId="{8FFBB269-BEDC-4B81-AFDC-8C488AC16141}" srcId="{5D922C31-7C62-4030-8036-CCB41C29BCBC}" destId="{26970085-053A-45B5-A8F6-68946992C794}" srcOrd="1" destOrd="0" parTransId="{0E9C8E24-2189-426A-B303-7F29A9F3C9A2}" sibTransId="{ED02F0AC-116A-494A-9BB0-861F6B3BA726}"/>
    <dgm:cxn modelId="{2CFAF549-1166-4625-80B2-290C1172B57A}" srcId="{209A69AE-CD70-40DB-84B2-93EB467E9378}" destId="{E9C6420A-FE95-470F-95A0-7D36A523C4C4}" srcOrd="3" destOrd="0" parTransId="{6620C082-7AD3-47F9-B79D-528ACBCFE3FA}" sibTransId="{39ED8B43-776B-4F57-BF9F-A255E5778A14}"/>
    <dgm:cxn modelId="{B65EB34A-5A4D-4E65-B230-B21AE693E8D1}" type="presOf" srcId="{C435C8D2-4671-43D7-AE4B-F1BFA8165C84}" destId="{D0FDD6B0-79D5-4D66-A10B-5E2AE85C698C}" srcOrd="0" destOrd="2" presId="urn:microsoft.com/office/officeart/2009/3/layout/IncreasingArrowsProcess"/>
    <dgm:cxn modelId="{603E2A71-C51C-4727-9388-6587400280E9}" type="presOf" srcId="{77F2C0D3-9710-4A9C-A132-AAD0719E719E}" destId="{CF259D66-6C79-44D0-9A7C-133B2169AD34}" srcOrd="0" destOrd="0" presId="urn:microsoft.com/office/officeart/2009/3/layout/IncreasingArrowsProcess"/>
    <dgm:cxn modelId="{01FDA271-01DA-4E00-8201-C9E9C3CE6B10}" srcId="{AD003C64-FB4E-4BE5-85A9-1313DA09A7B1}" destId="{B40A4E6B-980C-48FF-BEAB-4F7D70A6DD66}" srcOrd="0" destOrd="0" parTransId="{F741D14F-62A1-4146-96D5-239666686031}" sibTransId="{2AD2F9E8-E362-446A-88F2-A88705949CE0}"/>
    <dgm:cxn modelId="{6A137B81-E7BE-47DE-BDFB-D1D181C0498C}" type="presOf" srcId="{AD003C64-FB4E-4BE5-85A9-1313DA09A7B1}" destId="{F783197F-CF02-4088-A3F2-B31DAC2C568F}" srcOrd="0" destOrd="0" presId="urn:microsoft.com/office/officeart/2009/3/layout/IncreasingArrowsProcess"/>
    <dgm:cxn modelId="{3818C082-8F9D-4610-80F9-1854B4D043F4}" srcId="{209A69AE-CD70-40DB-84B2-93EB467E9378}" destId="{5EE8A4DC-293C-4C77-8084-4C34078DFD88}" srcOrd="1" destOrd="0" parTransId="{1E987B4B-A47A-4FD4-8E55-86E31FC72F60}" sibTransId="{C92832D9-ED20-4917-B75B-1E47E3DB13C8}"/>
    <dgm:cxn modelId="{E080858A-ECA5-49F5-B952-0C4DB773C534}" type="presOf" srcId="{57FB14F2-6D28-4D20-993B-04BED1FC062C}" destId="{51BC0585-8F3C-4845-97F1-D5612B108E4D}" srcOrd="0" destOrd="3" presId="urn:microsoft.com/office/officeart/2009/3/layout/IncreasingArrowsProcess"/>
    <dgm:cxn modelId="{0A957B8C-A4DE-4B26-B5B7-E42554C5E5E3}" srcId="{5D922C31-7C62-4030-8036-CCB41C29BCBC}" destId="{291EAE90-5A22-492F-B008-C19D893239E8}" srcOrd="2" destOrd="0" parTransId="{48583B2C-B631-424B-97D0-A99D8A2BD7A4}" sibTransId="{019C51DF-7C6E-4F76-8C75-88AE3FD9F80B}"/>
    <dgm:cxn modelId="{C8EDE497-3C4E-4A48-A2EF-38993A4B2C05}" type="presOf" srcId="{5EE8A4DC-293C-4C77-8084-4C34078DFD88}" destId="{D0FDD6B0-79D5-4D66-A10B-5E2AE85C698C}" srcOrd="0" destOrd="1" presId="urn:microsoft.com/office/officeart/2009/3/layout/IncreasingArrowsProcess"/>
    <dgm:cxn modelId="{9B55969A-8FD1-4EE0-9C82-01538CC866CC}" srcId="{5D922C31-7C62-4030-8036-CCB41C29BCBC}" destId="{57FB14F2-6D28-4D20-993B-04BED1FC062C}" srcOrd="3" destOrd="0" parTransId="{B54AFDE3-547A-4DDA-9942-1836233DD56F}" sibTransId="{F01518EE-446A-4888-BA23-AA4FB88FBEEB}"/>
    <dgm:cxn modelId="{AE25669B-E0E4-4FFB-B144-5C8A388701B5}" srcId="{77F2C0D3-9710-4A9C-A132-AAD0719E719E}" destId="{5D922C31-7C62-4030-8036-CCB41C29BCBC}" srcOrd="2" destOrd="0" parTransId="{C029E313-E03A-467E-837F-82C35F448CEF}" sibTransId="{9EF4AD53-A40F-403E-99E7-E7A48FFBF4B6}"/>
    <dgm:cxn modelId="{4AE7A79D-7E7B-4570-93E2-015C63C31156}" type="presOf" srcId="{A9E40872-DC19-4DCD-8192-9EBC04E74974}" destId="{60F163B3-7A1C-4A4B-AF6A-D36C548AF926}" srcOrd="0" destOrd="3" presId="urn:microsoft.com/office/officeart/2009/3/layout/IncreasingArrowsProcess"/>
    <dgm:cxn modelId="{570C1DA3-60D3-4C82-9201-7765D76DF9F9}" srcId="{77F2C0D3-9710-4A9C-A132-AAD0719E719E}" destId="{209A69AE-CD70-40DB-84B2-93EB467E9378}" srcOrd="1" destOrd="0" parTransId="{B128B33D-0928-4242-9E4F-E6475101F492}" sibTransId="{A409F572-CF81-4B7B-A7E5-E74E4CFCEF0C}"/>
    <dgm:cxn modelId="{0CA2F0A3-BCCF-4344-A7DA-AF3C2C43D52C}" srcId="{D420223B-B209-4631-BDD1-C856F6F48DEF}" destId="{CB68BAE7-92D7-4B94-82CB-497CA92C6281}" srcOrd="0" destOrd="0" parTransId="{08CB9004-F414-4C58-8479-2F967EBDC522}" sibTransId="{D0A51A05-92C5-4CD2-81E4-BB2A0B31749F}"/>
    <dgm:cxn modelId="{FE4B72B1-7273-4400-9E2C-925070B646EC}" type="presOf" srcId="{EE8669D6-FF89-46C4-9F37-70568B8E9916}" destId="{60F163B3-7A1C-4A4B-AF6A-D36C548AF926}" srcOrd="0" destOrd="2" presId="urn:microsoft.com/office/officeart/2009/3/layout/IncreasingArrowsProcess"/>
    <dgm:cxn modelId="{A2ACB4B8-EE66-4258-B783-211263F272F6}" type="presOf" srcId="{957495F2-747C-4774-806E-CE0927B9AE5F}" destId="{B8A0D8E7-FC30-42BC-92B8-2E318C4DD6EF}" srcOrd="0" destOrd="1" presId="urn:microsoft.com/office/officeart/2009/3/layout/IncreasingArrowsProcess"/>
    <dgm:cxn modelId="{EDA402BB-921A-43C8-9288-40B61EAD9535}" type="presOf" srcId="{209A69AE-CD70-40DB-84B2-93EB467E9378}" destId="{DF8ED0BF-8B9A-4D4D-AA09-E98AB06CDE6B}" srcOrd="0" destOrd="0" presId="urn:microsoft.com/office/officeart/2009/3/layout/IncreasingArrowsProcess"/>
    <dgm:cxn modelId="{BDC472C4-A29E-45F3-89EC-36974D6742BB}" srcId="{D420223B-B209-4631-BDD1-C856F6F48DEF}" destId="{EE8669D6-FF89-46C4-9F37-70568B8E9916}" srcOrd="2" destOrd="0" parTransId="{7121B457-F691-473C-86D6-20396BB91640}" sibTransId="{317B9EF1-EB92-42D7-A7B3-1CE55735544C}"/>
    <dgm:cxn modelId="{D8790FC9-480B-4447-8F13-C27C1E0698C9}" srcId="{77F2C0D3-9710-4A9C-A132-AAD0719E719E}" destId="{AD003C64-FB4E-4BE5-85A9-1313DA09A7B1}" srcOrd="0" destOrd="0" parTransId="{C9E0C3AE-EC4E-4736-B1EA-025EA2715689}" sibTransId="{448DFF5D-86F5-455D-95EB-F063185C3F42}"/>
    <dgm:cxn modelId="{07473AD4-4D64-4EBA-BAD8-0FD3D092A8F6}" srcId="{D420223B-B209-4631-BDD1-C856F6F48DEF}" destId="{A9E40872-DC19-4DCD-8192-9EBC04E74974}" srcOrd="3" destOrd="0" parTransId="{C7EFFA5A-01CB-43ED-97EA-8F6E180E76BF}" sibTransId="{3868546D-FA58-4B92-BB9C-A322AA8A7425}"/>
    <dgm:cxn modelId="{896D8DD9-4393-47D3-87EC-7F4A9C1B3AF5}" srcId="{5D922C31-7C62-4030-8036-CCB41C29BCBC}" destId="{33923A98-B54A-4E94-9B32-FE3AD884EBFF}" srcOrd="0" destOrd="0" parTransId="{B9714736-2002-4C8A-93B5-50C03CDC2288}" sibTransId="{D58ACA7B-6229-444C-A0D4-982ED2690313}"/>
    <dgm:cxn modelId="{28AF54DB-FFAA-4699-BC3C-F9ED31BC2DC4}" type="presOf" srcId="{46DACC2E-AB83-4E93-8D0A-2FF591FEA8CE}" destId="{60F163B3-7A1C-4A4B-AF6A-D36C548AF926}" srcOrd="0" destOrd="1" presId="urn:microsoft.com/office/officeart/2009/3/layout/IncreasingArrowsProcess"/>
    <dgm:cxn modelId="{CB3509E5-096F-42E2-A035-88708541BADD}" type="presOf" srcId="{CB68BAE7-92D7-4B94-82CB-497CA92C6281}" destId="{60F163B3-7A1C-4A4B-AF6A-D36C548AF926}" srcOrd="0" destOrd="0" presId="urn:microsoft.com/office/officeart/2009/3/layout/IncreasingArrowsProcess"/>
    <dgm:cxn modelId="{BAACC5F1-8651-4B30-A93B-882FD8145E31}" type="presOf" srcId="{5D922C31-7C62-4030-8036-CCB41C29BCBC}" destId="{ED3777B1-EE07-411C-9996-DD790592F5CD}" srcOrd="0" destOrd="0" presId="urn:microsoft.com/office/officeart/2009/3/layout/IncreasingArrowsProcess"/>
    <dgm:cxn modelId="{D9AAA4F5-F15F-43B7-981C-2C4079B2D678}" type="presOf" srcId="{33923A98-B54A-4E94-9B32-FE3AD884EBFF}" destId="{51BC0585-8F3C-4845-97F1-D5612B108E4D}" srcOrd="0" destOrd="0" presId="urn:microsoft.com/office/officeart/2009/3/layout/IncreasingArrowsProcess"/>
    <dgm:cxn modelId="{D78A9EC1-A2A1-4C45-983B-CBB27AE460FB}" type="presParOf" srcId="{CF259D66-6C79-44D0-9A7C-133B2169AD34}" destId="{F783197F-CF02-4088-A3F2-B31DAC2C568F}" srcOrd="0" destOrd="0" presId="urn:microsoft.com/office/officeart/2009/3/layout/IncreasingArrowsProcess"/>
    <dgm:cxn modelId="{12646BAB-F9E8-4CCC-9794-11A934C97847}" type="presParOf" srcId="{CF259D66-6C79-44D0-9A7C-133B2169AD34}" destId="{B8A0D8E7-FC30-42BC-92B8-2E318C4DD6EF}" srcOrd="1" destOrd="0" presId="urn:microsoft.com/office/officeart/2009/3/layout/IncreasingArrowsProcess"/>
    <dgm:cxn modelId="{FC5398FD-0721-4690-BCD4-E2411DB73BC9}" type="presParOf" srcId="{CF259D66-6C79-44D0-9A7C-133B2169AD34}" destId="{DF8ED0BF-8B9A-4D4D-AA09-E98AB06CDE6B}" srcOrd="2" destOrd="0" presId="urn:microsoft.com/office/officeart/2009/3/layout/IncreasingArrowsProcess"/>
    <dgm:cxn modelId="{D783CA55-544D-4145-B89A-F2A348D04994}" type="presParOf" srcId="{CF259D66-6C79-44D0-9A7C-133B2169AD34}" destId="{D0FDD6B0-79D5-4D66-A10B-5E2AE85C698C}" srcOrd="3" destOrd="0" presId="urn:microsoft.com/office/officeart/2009/3/layout/IncreasingArrowsProcess"/>
    <dgm:cxn modelId="{4D609B0E-7ACD-459B-8FB7-4ED4AA9F30DC}" type="presParOf" srcId="{CF259D66-6C79-44D0-9A7C-133B2169AD34}" destId="{ED3777B1-EE07-411C-9996-DD790592F5CD}" srcOrd="4" destOrd="0" presId="urn:microsoft.com/office/officeart/2009/3/layout/IncreasingArrowsProcess"/>
    <dgm:cxn modelId="{4E00D99F-B0BC-4301-9761-D5099AEE704E}" type="presParOf" srcId="{CF259D66-6C79-44D0-9A7C-133B2169AD34}" destId="{51BC0585-8F3C-4845-97F1-D5612B108E4D}" srcOrd="5" destOrd="0" presId="urn:microsoft.com/office/officeart/2009/3/layout/IncreasingArrowsProcess"/>
    <dgm:cxn modelId="{CB84A642-4E33-43AD-8546-1C1F893A1E75}" type="presParOf" srcId="{CF259D66-6C79-44D0-9A7C-133B2169AD34}" destId="{04A25DE0-5FC9-44A9-825C-187B491F5A84}" srcOrd="6" destOrd="0" presId="urn:microsoft.com/office/officeart/2009/3/layout/IncreasingArrowsProcess"/>
    <dgm:cxn modelId="{CCEA1B78-9FD8-4853-8BCA-DBF58E128897}" type="presParOf" srcId="{CF259D66-6C79-44D0-9A7C-133B2169AD34}" destId="{60F163B3-7A1C-4A4B-AF6A-D36C548AF926}" srcOrd="7" destOrd="0" presId="urn:microsoft.com/office/officeart/2009/3/layout/IncreasingArrows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90C8DB7-0CDB-4CA8-856B-9E676227AFE9}"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D0397B20-0B09-450A-BA75-2422BD1F9B2E}">
      <dgm:prSet phldrT="[Text]" custT="1"/>
      <dgm:spPr/>
      <dgm:t>
        <a:bodyPr/>
        <a:lstStyle/>
        <a:p>
          <a:r>
            <a:rPr lang="en-US" sz="1100" b="1" dirty="0">
              <a:latin typeface="Verdana" panose="020B0604030504040204" pitchFamily="34" charset="0"/>
              <a:ea typeface="Verdana" panose="020B0604030504040204" pitchFamily="34" charset="0"/>
            </a:rPr>
            <a:t>Taking back the Land</a:t>
          </a:r>
          <a:r>
            <a:rPr lang="en-US" sz="1100" dirty="0">
              <a:latin typeface="Verdana" panose="020B0604030504040204" pitchFamily="34" charset="0"/>
              <a:ea typeface="Verdana" panose="020B0604030504040204" pitchFamily="34" charset="0"/>
            </a:rPr>
            <a:t> at </a:t>
          </a:r>
          <a:r>
            <a:rPr lang="en-US" sz="1100" dirty="0" err="1">
              <a:latin typeface="Verdana" panose="020B0604030504040204" pitchFamily="34" charset="0"/>
              <a:ea typeface="Verdana" panose="020B0604030504040204" pitchFamily="34" charset="0"/>
            </a:rPr>
            <a:t>Nayachar</a:t>
          </a:r>
          <a:r>
            <a:rPr lang="en-US" sz="1100" dirty="0">
              <a:latin typeface="Verdana" panose="020B0604030504040204" pitchFamily="34" charset="0"/>
              <a:ea typeface="Verdana" panose="020B0604030504040204" pitchFamily="34" charset="0"/>
            </a:rPr>
            <a:t> Island leased out to the Universal Success (USE) Group by </a:t>
          </a:r>
          <a:r>
            <a:rPr lang="en-US" sz="1100" dirty="0" err="1">
              <a:latin typeface="Verdana" panose="020B0604030504040204" pitchFamily="34" charset="0"/>
              <a:ea typeface="Verdana" panose="020B0604030504040204" pitchFamily="34" charset="0"/>
            </a:rPr>
            <a:t>GoWB</a:t>
          </a:r>
          <a:r>
            <a:rPr lang="en-US" sz="1100" dirty="0">
              <a:latin typeface="Verdana" panose="020B0604030504040204" pitchFamily="34" charset="0"/>
              <a:ea typeface="Verdana" panose="020B0604030504040204" pitchFamily="34" charset="0"/>
            </a:rPr>
            <a:t> </a:t>
          </a:r>
          <a:r>
            <a:rPr lang="en-US" sz="1100" b="1" dirty="0">
              <a:latin typeface="Verdana" panose="020B0604030504040204" pitchFamily="34" charset="0"/>
              <a:ea typeface="Verdana" panose="020B0604030504040204" pitchFamily="34" charset="0"/>
            </a:rPr>
            <a:t>and subsequent action for transfer of the said land to the </a:t>
          </a:r>
          <a:r>
            <a:rPr lang="en-US" sz="1100" b="1" dirty="0" err="1">
              <a:latin typeface="Verdana" panose="020B0604030504040204" pitchFamily="34" charset="0"/>
              <a:ea typeface="Verdana" panose="020B0604030504040204" pitchFamily="34" charset="0"/>
            </a:rPr>
            <a:t>DoP</a:t>
          </a:r>
          <a:r>
            <a:rPr lang="en-US" sz="1100" b="1" dirty="0">
              <a:latin typeface="Verdana" panose="020B0604030504040204" pitchFamily="34" charset="0"/>
              <a:ea typeface="Verdana" panose="020B0604030504040204" pitchFamily="34" charset="0"/>
            </a:rPr>
            <a:t>, </a:t>
          </a:r>
          <a:r>
            <a:rPr lang="en-US" sz="1100" b="1" dirty="0" err="1">
              <a:latin typeface="Verdana" panose="020B0604030504040204" pitchFamily="34" charset="0"/>
              <a:ea typeface="Verdana" panose="020B0604030504040204" pitchFamily="34" charset="0"/>
            </a:rPr>
            <a:t>GoWB</a:t>
          </a:r>
          <a:r>
            <a:rPr lang="en-US" sz="1100" b="1" dirty="0">
              <a:latin typeface="Verdana" panose="020B0604030504040204" pitchFamily="34" charset="0"/>
              <a:ea typeface="Verdana" panose="020B0604030504040204" pitchFamily="34" charset="0"/>
            </a:rPr>
            <a:t>. </a:t>
          </a:r>
          <a:endParaRPr lang="en-US" sz="1600" b="1" dirty="0">
            <a:latin typeface="Verdana" panose="020B0604030504040204" pitchFamily="34" charset="0"/>
            <a:ea typeface="Verdana" panose="020B0604030504040204" pitchFamily="34" charset="0"/>
          </a:endParaRPr>
        </a:p>
      </dgm:t>
    </dgm:pt>
    <dgm:pt modelId="{025874A4-692B-4324-9B83-705764E9BBD2}" type="parTrans" cxnId="{409216AD-7246-48DE-9532-26BAFFC61C22}">
      <dgm:prSet/>
      <dgm:spPr/>
      <dgm:t>
        <a:bodyPr/>
        <a:lstStyle/>
        <a:p>
          <a:endParaRPr lang="en-US"/>
        </a:p>
      </dgm:t>
    </dgm:pt>
    <dgm:pt modelId="{380D8D32-C6A2-429D-BFF5-F5CDC00BD2DC}" type="sibTrans" cxnId="{409216AD-7246-48DE-9532-26BAFFC61C22}">
      <dgm:prSet/>
      <dgm:spPr/>
      <dgm:t>
        <a:bodyPr/>
        <a:lstStyle/>
        <a:p>
          <a:endParaRPr lang="en-US"/>
        </a:p>
      </dgm:t>
    </dgm:pt>
    <dgm:pt modelId="{A9865881-DD26-464D-B3F3-5E0DF9677C3A}">
      <dgm:prSet custT="1"/>
      <dgm:spPr/>
      <dgm:t>
        <a:bodyPr/>
        <a:lstStyle/>
        <a:p>
          <a:r>
            <a:rPr lang="en-US" sz="1100" b="1" dirty="0">
              <a:latin typeface="Verdana" panose="020B0604030504040204" pitchFamily="34" charset="0"/>
              <a:ea typeface="Verdana" panose="020B0604030504040204" pitchFamily="34" charset="0"/>
            </a:rPr>
            <a:t>Survey and Investigation of the proposed area</a:t>
          </a:r>
          <a:r>
            <a:rPr lang="en-US" sz="1100" dirty="0">
              <a:latin typeface="Verdana" panose="020B0604030504040204" pitchFamily="34" charset="0"/>
              <a:ea typeface="Verdana" panose="020B0604030504040204" pitchFamily="34" charset="0"/>
            </a:rPr>
            <a:t> including soil stability assessment</a:t>
          </a:r>
        </a:p>
      </dgm:t>
    </dgm:pt>
    <dgm:pt modelId="{56AFC21D-044C-462B-A6D3-39A2F5CA05F3}" type="parTrans" cxnId="{1C6F3B14-29A7-47CF-A148-E740ABB4CD12}">
      <dgm:prSet/>
      <dgm:spPr/>
      <dgm:t>
        <a:bodyPr/>
        <a:lstStyle/>
        <a:p>
          <a:endParaRPr lang="en-US"/>
        </a:p>
      </dgm:t>
    </dgm:pt>
    <dgm:pt modelId="{871FDB5F-421C-4070-B4AD-7DBCCAAB8789}" type="sibTrans" cxnId="{1C6F3B14-29A7-47CF-A148-E740ABB4CD12}">
      <dgm:prSet/>
      <dgm:spPr/>
      <dgm:t>
        <a:bodyPr/>
        <a:lstStyle/>
        <a:p>
          <a:endParaRPr lang="en-US"/>
        </a:p>
      </dgm:t>
    </dgm:pt>
    <dgm:pt modelId="{6B929003-705A-400F-B517-1CE7F1D5CE17}">
      <dgm:prSet custT="1"/>
      <dgm:spPr/>
      <dgm:t>
        <a:bodyPr/>
        <a:lstStyle/>
        <a:p>
          <a:r>
            <a:rPr lang="en-US" sz="1100" b="1" dirty="0">
              <a:latin typeface="Verdana" panose="020B0604030504040204" pitchFamily="34" charset="0"/>
              <a:ea typeface="Verdana" panose="020B0604030504040204" pitchFamily="34" charset="0"/>
            </a:rPr>
            <a:t>CRZ Mapping</a:t>
          </a:r>
          <a:r>
            <a:rPr lang="en-US" sz="1100" dirty="0">
              <a:latin typeface="Verdana" panose="020B0604030504040204" pitchFamily="34" charset="0"/>
              <a:ea typeface="Verdana" panose="020B0604030504040204" pitchFamily="34" charset="0"/>
            </a:rPr>
            <a:t> of the Area</a:t>
          </a:r>
        </a:p>
      </dgm:t>
    </dgm:pt>
    <dgm:pt modelId="{2D33BE5C-A140-4A86-9379-F7206C504091}" type="parTrans" cxnId="{B271A862-90C4-4C22-9022-97D19DE5EF63}">
      <dgm:prSet/>
      <dgm:spPr/>
      <dgm:t>
        <a:bodyPr/>
        <a:lstStyle/>
        <a:p>
          <a:endParaRPr lang="en-US"/>
        </a:p>
      </dgm:t>
    </dgm:pt>
    <dgm:pt modelId="{7BA50986-84EE-4FE8-87D9-5811F65C0552}" type="sibTrans" cxnId="{B271A862-90C4-4C22-9022-97D19DE5EF63}">
      <dgm:prSet/>
      <dgm:spPr/>
      <dgm:t>
        <a:bodyPr/>
        <a:lstStyle/>
        <a:p>
          <a:endParaRPr lang="en-US"/>
        </a:p>
      </dgm:t>
    </dgm:pt>
    <dgm:pt modelId="{5F524D10-D8E4-40C4-9BE1-1AD148D22EDD}">
      <dgm:prSet custT="1"/>
      <dgm:spPr/>
      <dgm:t>
        <a:bodyPr/>
        <a:lstStyle/>
        <a:p>
          <a:r>
            <a:rPr lang="en-US" sz="1100" b="1" dirty="0">
              <a:latin typeface="Verdana" panose="020B0604030504040204" pitchFamily="34" charset="0"/>
              <a:ea typeface="Verdana" panose="020B0604030504040204" pitchFamily="34" charset="0"/>
            </a:rPr>
            <a:t>Preparation of DPR</a:t>
          </a:r>
          <a:r>
            <a:rPr lang="en-US" sz="1100" dirty="0">
              <a:latin typeface="Verdana" panose="020B0604030504040204" pitchFamily="34" charset="0"/>
              <a:ea typeface="Verdana" panose="020B0604030504040204" pitchFamily="34" charset="0"/>
            </a:rPr>
            <a:t> covering all related studies, preparation of Transmission Network plan, Project Master Plan, Cost Estimates and financial analysis to facilitate in decision making</a:t>
          </a:r>
        </a:p>
      </dgm:t>
    </dgm:pt>
    <dgm:pt modelId="{F83F10DE-38C7-406E-87D2-B96876C5605F}" type="parTrans" cxnId="{9289C4C3-7495-4E31-9125-821261FEC8BA}">
      <dgm:prSet/>
      <dgm:spPr/>
      <dgm:t>
        <a:bodyPr/>
        <a:lstStyle/>
        <a:p>
          <a:endParaRPr lang="en-US"/>
        </a:p>
      </dgm:t>
    </dgm:pt>
    <dgm:pt modelId="{A2F2496E-0A3F-4DE0-8550-B074B1BEEAAE}" type="sibTrans" cxnId="{9289C4C3-7495-4E31-9125-821261FEC8BA}">
      <dgm:prSet/>
      <dgm:spPr/>
      <dgm:t>
        <a:bodyPr/>
        <a:lstStyle/>
        <a:p>
          <a:endParaRPr lang="en-US"/>
        </a:p>
      </dgm:t>
    </dgm:pt>
    <dgm:pt modelId="{9AEAAEED-A981-453E-ACDD-BE3E5C5EDB7C}">
      <dgm:prSet custT="1"/>
      <dgm:spPr/>
      <dgm:t>
        <a:bodyPr/>
        <a:lstStyle/>
        <a:p>
          <a:r>
            <a:rPr lang="en-US" sz="1100" b="1" dirty="0">
              <a:latin typeface="Verdana" panose="020B0604030504040204" pitchFamily="34" charset="0"/>
              <a:ea typeface="Verdana" panose="020B0604030504040204" pitchFamily="34" charset="0"/>
            </a:rPr>
            <a:t>Acquiring Statutory Clearances </a:t>
          </a:r>
          <a:r>
            <a:rPr lang="en-US" sz="1100" dirty="0">
              <a:latin typeface="Verdana" panose="020B0604030504040204" pitchFamily="34" charset="0"/>
              <a:ea typeface="Verdana" panose="020B0604030504040204" pitchFamily="34" charset="0"/>
            </a:rPr>
            <a:t>as mentioned in the above note. </a:t>
          </a:r>
        </a:p>
      </dgm:t>
    </dgm:pt>
    <dgm:pt modelId="{5F94BDAA-1F43-41AA-9F0C-D56B49A05B3A}" type="parTrans" cxnId="{EF20BE8E-D63A-486F-B1FB-6B964893D6DF}">
      <dgm:prSet/>
      <dgm:spPr/>
      <dgm:t>
        <a:bodyPr/>
        <a:lstStyle/>
        <a:p>
          <a:endParaRPr lang="en-US"/>
        </a:p>
      </dgm:t>
    </dgm:pt>
    <dgm:pt modelId="{24D33F2A-CD2D-45B7-B104-4361B6498508}" type="sibTrans" cxnId="{EF20BE8E-D63A-486F-B1FB-6B964893D6DF}">
      <dgm:prSet/>
      <dgm:spPr/>
      <dgm:t>
        <a:bodyPr/>
        <a:lstStyle/>
        <a:p>
          <a:endParaRPr lang="en-US"/>
        </a:p>
      </dgm:t>
    </dgm:pt>
    <dgm:pt modelId="{F6336FCE-0290-4151-A0D4-FF6C4E6F545E}">
      <dgm:prSet custT="1"/>
      <dgm:spPr/>
      <dgm:t>
        <a:bodyPr/>
        <a:lstStyle/>
        <a:p>
          <a:r>
            <a:rPr lang="en-US" sz="1200" b="1" dirty="0">
              <a:latin typeface="Verdana" panose="020B0604030504040204" pitchFamily="34" charset="0"/>
              <a:ea typeface="Verdana" panose="020B0604030504040204" pitchFamily="34" charset="0"/>
            </a:rPr>
            <a:t>Issue relating connectivity</a:t>
          </a:r>
          <a:r>
            <a:rPr lang="en-US" sz="1200" dirty="0">
              <a:latin typeface="Verdana" panose="020B0604030504040204" pitchFamily="34" charset="0"/>
              <a:ea typeface="Verdana" panose="020B0604030504040204" pitchFamily="34" charset="0"/>
            </a:rPr>
            <a:t> with mainland.</a:t>
          </a:r>
        </a:p>
      </dgm:t>
    </dgm:pt>
    <dgm:pt modelId="{1400FAA7-FFED-42BD-957E-8A9CE3D8F38A}" type="parTrans" cxnId="{736D6B52-B3CD-4227-ACBB-3C38901D2AFD}">
      <dgm:prSet/>
      <dgm:spPr/>
      <dgm:t>
        <a:bodyPr/>
        <a:lstStyle/>
        <a:p>
          <a:endParaRPr lang="en-US"/>
        </a:p>
      </dgm:t>
    </dgm:pt>
    <dgm:pt modelId="{99A736F1-DD7D-4666-93D0-EA7AB578FFFA}" type="sibTrans" cxnId="{736D6B52-B3CD-4227-ACBB-3C38901D2AFD}">
      <dgm:prSet/>
      <dgm:spPr/>
      <dgm:t>
        <a:bodyPr/>
        <a:lstStyle/>
        <a:p>
          <a:endParaRPr lang="en-US"/>
        </a:p>
      </dgm:t>
    </dgm:pt>
    <dgm:pt modelId="{AE931798-8377-48A9-BC19-602479E44A58}">
      <dgm:prSet custT="1"/>
      <dgm:spPr/>
      <dgm:t>
        <a:bodyPr/>
        <a:lstStyle/>
        <a:p>
          <a:r>
            <a:rPr lang="en-US" sz="1200" b="1" dirty="0">
              <a:latin typeface="Verdana" panose="020B0604030504040204" pitchFamily="34" charset="0"/>
              <a:ea typeface="Verdana" panose="020B0604030504040204" pitchFamily="34" charset="0"/>
            </a:rPr>
            <a:t>Funding Mechanism</a:t>
          </a:r>
          <a:r>
            <a:rPr lang="en-US" sz="1200" dirty="0">
              <a:latin typeface="Verdana" panose="020B0604030504040204" pitchFamily="34" charset="0"/>
              <a:ea typeface="Verdana" panose="020B0604030504040204" pitchFamily="34" charset="0"/>
            </a:rPr>
            <a:t> to be worked out. </a:t>
          </a:r>
        </a:p>
      </dgm:t>
    </dgm:pt>
    <dgm:pt modelId="{A277E6DD-3A5A-4F25-896F-A3ED19870C17}" type="parTrans" cxnId="{CE7BEBC4-9752-4828-95B3-FA228B0F4A7A}">
      <dgm:prSet/>
      <dgm:spPr/>
      <dgm:t>
        <a:bodyPr/>
        <a:lstStyle/>
        <a:p>
          <a:endParaRPr lang="en-US"/>
        </a:p>
      </dgm:t>
    </dgm:pt>
    <dgm:pt modelId="{8F156E9E-DEA2-4AB6-A32F-7BD3F7EF2072}" type="sibTrans" cxnId="{CE7BEBC4-9752-4828-95B3-FA228B0F4A7A}">
      <dgm:prSet/>
      <dgm:spPr/>
      <dgm:t>
        <a:bodyPr/>
        <a:lstStyle/>
        <a:p>
          <a:endParaRPr lang="en-US"/>
        </a:p>
      </dgm:t>
    </dgm:pt>
    <dgm:pt modelId="{17C44F9B-C1E6-4934-87D0-222E8C079851}">
      <dgm:prSet custT="1"/>
      <dgm:spPr/>
      <dgm:t>
        <a:bodyPr/>
        <a:lstStyle/>
        <a:p>
          <a:r>
            <a:rPr lang="en-US" sz="1200" b="1" dirty="0">
              <a:latin typeface="Verdana" panose="020B0604030504040204" pitchFamily="34" charset="0"/>
              <a:ea typeface="Verdana" panose="020B0604030504040204" pitchFamily="34" charset="0"/>
            </a:rPr>
            <a:t>Proposal to be placed </a:t>
          </a:r>
          <a:r>
            <a:rPr lang="en-US" sz="1200" dirty="0">
              <a:latin typeface="Verdana" panose="020B0604030504040204" pitchFamily="34" charset="0"/>
              <a:ea typeface="Verdana" panose="020B0604030504040204" pitchFamily="34" charset="0"/>
            </a:rPr>
            <a:t>before MNRE, GoI for sanction </a:t>
          </a:r>
        </a:p>
      </dgm:t>
    </dgm:pt>
    <dgm:pt modelId="{8D4A3CC8-EF35-40DE-BF7D-38410ECD0DC3}" type="parTrans" cxnId="{4D60CBD5-CD97-49D4-9E8E-53FF51F028A4}">
      <dgm:prSet/>
      <dgm:spPr/>
      <dgm:t>
        <a:bodyPr/>
        <a:lstStyle/>
        <a:p>
          <a:endParaRPr lang="en-US"/>
        </a:p>
      </dgm:t>
    </dgm:pt>
    <dgm:pt modelId="{E5773BA3-0831-445C-A7DA-E650D2B4F5ED}" type="sibTrans" cxnId="{4D60CBD5-CD97-49D4-9E8E-53FF51F028A4}">
      <dgm:prSet/>
      <dgm:spPr/>
      <dgm:t>
        <a:bodyPr/>
        <a:lstStyle/>
        <a:p>
          <a:endParaRPr lang="en-US"/>
        </a:p>
      </dgm:t>
    </dgm:pt>
    <dgm:pt modelId="{80642F21-E2A1-465D-9037-0DE5887C56BD}" type="pres">
      <dgm:prSet presAssocID="{C90C8DB7-0CDB-4CA8-856B-9E676227AFE9}" presName="rootnode" presStyleCnt="0">
        <dgm:presLayoutVars>
          <dgm:chMax/>
          <dgm:chPref/>
          <dgm:dir/>
          <dgm:animLvl val="lvl"/>
        </dgm:presLayoutVars>
      </dgm:prSet>
      <dgm:spPr/>
    </dgm:pt>
    <dgm:pt modelId="{784C5CF2-9470-4819-961D-06D09ED61701}" type="pres">
      <dgm:prSet presAssocID="{D0397B20-0B09-450A-BA75-2422BD1F9B2E}" presName="composite" presStyleCnt="0"/>
      <dgm:spPr/>
    </dgm:pt>
    <dgm:pt modelId="{2D3C0C13-A697-4435-9164-FDAA383410EB}" type="pres">
      <dgm:prSet presAssocID="{D0397B20-0B09-450A-BA75-2422BD1F9B2E}" presName="LShape" presStyleLbl="alignNode1" presStyleIdx="0" presStyleCnt="15" custLinFactNeighborY="0"/>
      <dgm:spPr>
        <a:solidFill>
          <a:schemeClr val="tx1">
            <a:lumMod val="75000"/>
            <a:lumOff val="25000"/>
          </a:schemeClr>
        </a:solidFill>
      </dgm:spPr>
    </dgm:pt>
    <dgm:pt modelId="{F6994594-F34C-4644-AEDB-79BC4F348261}" type="pres">
      <dgm:prSet presAssocID="{D0397B20-0B09-450A-BA75-2422BD1F9B2E}" presName="ParentText" presStyleLbl="revTx" presStyleIdx="0" presStyleCnt="8" custScaleX="140425" custLinFactNeighborX="21875">
        <dgm:presLayoutVars>
          <dgm:chMax val="0"/>
          <dgm:chPref val="0"/>
          <dgm:bulletEnabled val="1"/>
        </dgm:presLayoutVars>
      </dgm:prSet>
      <dgm:spPr/>
    </dgm:pt>
    <dgm:pt modelId="{D85A67E5-3B0B-49F9-98F8-BA7273F4DBAB}" type="pres">
      <dgm:prSet presAssocID="{D0397B20-0B09-450A-BA75-2422BD1F9B2E}" presName="Triangle" presStyleLbl="alignNode1" presStyleIdx="1" presStyleCnt="15"/>
      <dgm:spPr/>
    </dgm:pt>
    <dgm:pt modelId="{249890A8-FEDD-43A1-84EF-ACF662C96D38}" type="pres">
      <dgm:prSet presAssocID="{380D8D32-C6A2-429D-BFF5-F5CDC00BD2DC}" presName="sibTrans" presStyleCnt="0"/>
      <dgm:spPr/>
    </dgm:pt>
    <dgm:pt modelId="{27F63683-381A-41C2-9C6B-43F3C315A26E}" type="pres">
      <dgm:prSet presAssocID="{380D8D32-C6A2-429D-BFF5-F5CDC00BD2DC}" presName="space" presStyleCnt="0"/>
      <dgm:spPr/>
    </dgm:pt>
    <dgm:pt modelId="{1DEC8ECF-E4FF-41D4-B4F2-FBFAEFC965B6}" type="pres">
      <dgm:prSet presAssocID="{A9865881-DD26-464D-B3F3-5E0DF9677C3A}" presName="composite" presStyleCnt="0"/>
      <dgm:spPr/>
    </dgm:pt>
    <dgm:pt modelId="{573B8D3C-66CB-4B24-9243-B216D4A47F09}" type="pres">
      <dgm:prSet presAssocID="{A9865881-DD26-464D-B3F3-5E0DF9677C3A}" presName="LShape" presStyleLbl="alignNode1" presStyleIdx="2" presStyleCnt="15" custLinFactNeighborY="0"/>
      <dgm:spPr>
        <a:solidFill>
          <a:srgbClr val="00B050"/>
        </a:solidFill>
      </dgm:spPr>
    </dgm:pt>
    <dgm:pt modelId="{B5A660DE-5387-446F-8AD2-D5D2EC3392A9}" type="pres">
      <dgm:prSet presAssocID="{A9865881-DD26-464D-B3F3-5E0DF9677C3A}" presName="ParentText" presStyleLbl="revTx" presStyleIdx="1" presStyleCnt="8">
        <dgm:presLayoutVars>
          <dgm:chMax val="0"/>
          <dgm:chPref val="0"/>
          <dgm:bulletEnabled val="1"/>
        </dgm:presLayoutVars>
      </dgm:prSet>
      <dgm:spPr/>
    </dgm:pt>
    <dgm:pt modelId="{CA966735-1F30-4EB9-B916-DF070245D0CF}" type="pres">
      <dgm:prSet presAssocID="{A9865881-DD26-464D-B3F3-5E0DF9677C3A}" presName="Triangle" presStyleLbl="alignNode1" presStyleIdx="3" presStyleCnt="15"/>
      <dgm:spPr/>
    </dgm:pt>
    <dgm:pt modelId="{BA202457-A544-4A60-93BC-D36C9CB9A2CF}" type="pres">
      <dgm:prSet presAssocID="{871FDB5F-421C-4070-B4AD-7DBCCAAB8789}" presName="sibTrans" presStyleCnt="0"/>
      <dgm:spPr/>
    </dgm:pt>
    <dgm:pt modelId="{355A8803-A4E5-493B-AC56-1DD25867891E}" type="pres">
      <dgm:prSet presAssocID="{871FDB5F-421C-4070-B4AD-7DBCCAAB8789}" presName="space" presStyleCnt="0"/>
      <dgm:spPr/>
    </dgm:pt>
    <dgm:pt modelId="{1D12E42E-6F90-46F0-B376-B797DE718F03}" type="pres">
      <dgm:prSet presAssocID="{6B929003-705A-400F-B517-1CE7F1D5CE17}" presName="composite" presStyleCnt="0"/>
      <dgm:spPr/>
    </dgm:pt>
    <dgm:pt modelId="{3F3AEA45-5A75-4D92-9FFF-76A16B9F60D2}" type="pres">
      <dgm:prSet presAssocID="{6B929003-705A-400F-B517-1CE7F1D5CE17}" presName="LShape" presStyleLbl="alignNode1" presStyleIdx="4" presStyleCnt="15" custLinFactNeighborY="0"/>
      <dgm:spPr>
        <a:solidFill>
          <a:schemeClr val="tx1">
            <a:lumMod val="75000"/>
            <a:lumOff val="25000"/>
          </a:schemeClr>
        </a:solidFill>
      </dgm:spPr>
    </dgm:pt>
    <dgm:pt modelId="{4ACCC4AC-8770-4E18-B5C3-98D373E91834}" type="pres">
      <dgm:prSet presAssocID="{6B929003-705A-400F-B517-1CE7F1D5CE17}" presName="ParentText" presStyleLbl="revTx" presStyleIdx="2" presStyleCnt="8">
        <dgm:presLayoutVars>
          <dgm:chMax val="0"/>
          <dgm:chPref val="0"/>
          <dgm:bulletEnabled val="1"/>
        </dgm:presLayoutVars>
      </dgm:prSet>
      <dgm:spPr/>
    </dgm:pt>
    <dgm:pt modelId="{0A82E749-88DD-4FBB-BDCE-CE4DC7F0C0DE}" type="pres">
      <dgm:prSet presAssocID="{6B929003-705A-400F-B517-1CE7F1D5CE17}" presName="Triangle" presStyleLbl="alignNode1" presStyleIdx="5" presStyleCnt="15"/>
      <dgm:spPr/>
    </dgm:pt>
    <dgm:pt modelId="{5CAF8ADB-2DF6-4198-8DD8-820B88FD0BF9}" type="pres">
      <dgm:prSet presAssocID="{7BA50986-84EE-4FE8-87D9-5811F65C0552}" presName="sibTrans" presStyleCnt="0"/>
      <dgm:spPr/>
    </dgm:pt>
    <dgm:pt modelId="{B84B4F17-0312-4772-8356-CDE6EA5A3856}" type="pres">
      <dgm:prSet presAssocID="{7BA50986-84EE-4FE8-87D9-5811F65C0552}" presName="space" presStyleCnt="0"/>
      <dgm:spPr/>
    </dgm:pt>
    <dgm:pt modelId="{B6651242-A924-4E94-8C5F-9D085040E93B}" type="pres">
      <dgm:prSet presAssocID="{5F524D10-D8E4-40C4-9BE1-1AD148D22EDD}" presName="composite" presStyleCnt="0"/>
      <dgm:spPr/>
    </dgm:pt>
    <dgm:pt modelId="{5C5FA654-C8B4-4BB6-B49F-4B16B59A318D}" type="pres">
      <dgm:prSet presAssocID="{5F524D10-D8E4-40C4-9BE1-1AD148D22EDD}" presName="LShape" presStyleLbl="alignNode1" presStyleIdx="6" presStyleCnt="15" custLinFactNeighborY="0"/>
      <dgm:spPr>
        <a:solidFill>
          <a:srgbClr val="00B050"/>
        </a:solidFill>
      </dgm:spPr>
    </dgm:pt>
    <dgm:pt modelId="{97A0CE0B-84EA-444E-B4A4-0F21968CFE8F}" type="pres">
      <dgm:prSet presAssocID="{5F524D10-D8E4-40C4-9BE1-1AD148D22EDD}" presName="ParentText" presStyleLbl="revTx" presStyleIdx="3" presStyleCnt="8" custScaleX="147307" custScaleY="108146" custLinFactNeighborX="21937">
        <dgm:presLayoutVars>
          <dgm:chMax val="0"/>
          <dgm:chPref val="0"/>
          <dgm:bulletEnabled val="1"/>
        </dgm:presLayoutVars>
      </dgm:prSet>
      <dgm:spPr/>
    </dgm:pt>
    <dgm:pt modelId="{EAF3E0E8-A419-4785-944F-5FD7921E1DD9}" type="pres">
      <dgm:prSet presAssocID="{5F524D10-D8E4-40C4-9BE1-1AD148D22EDD}" presName="Triangle" presStyleLbl="alignNode1" presStyleIdx="7" presStyleCnt="15"/>
      <dgm:spPr/>
    </dgm:pt>
    <dgm:pt modelId="{D21A734A-6BC0-423C-B8B8-A1F10E9B3E9E}" type="pres">
      <dgm:prSet presAssocID="{A2F2496E-0A3F-4DE0-8550-B074B1BEEAAE}" presName="sibTrans" presStyleCnt="0"/>
      <dgm:spPr/>
    </dgm:pt>
    <dgm:pt modelId="{F95F91F0-831E-44E0-AD7D-FF821CAF868D}" type="pres">
      <dgm:prSet presAssocID="{A2F2496E-0A3F-4DE0-8550-B074B1BEEAAE}" presName="space" presStyleCnt="0"/>
      <dgm:spPr/>
    </dgm:pt>
    <dgm:pt modelId="{77365BDB-E193-4E9B-A1B6-D8A918F19400}" type="pres">
      <dgm:prSet presAssocID="{9AEAAEED-A981-453E-ACDD-BE3E5C5EDB7C}" presName="composite" presStyleCnt="0"/>
      <dgm:spPr/>
    </dgm:pt>
    <dgm:pt modelId="{5623BD59-C2CB-459E-BCD1-F014BEB7DAA5}" type="pres">
      <dgm:prSet presAssocID="{9AEAAEED-A981-453E-ACDD-BE3E5C5EDB7C}" presName="LShape" presStyleLbl="alignNode1" presStyleIdx="8" presStyleCnt="15" custLinFactNeighborY="0"/>
      <dgm:spPr>
        <a:solidFill>
          <a:schemeClr val="tx1">
            <a:lumMod val="75000"/>
            <a:lumOff val="25000"/>
          </a:schemeClr>
        </a:solidFill>
      </dgm:spPr>
    </dgm:pt>
    <dgm:pt modelId="{2C5E8F87-46A1-407A-8480-A3E83A07BFBF}" type="pres">
      <dgm:prSet presAssocID="{9AEAAEED-A981-453E-ACDD-BE3E5C5EDB7C}" presName="ParentText" presStyleLbl="revTx" presStyleIdx="4" presStyleCnt="8">
        <dgm:presLayoutVars>
          <dgm:chMax val="0"/>
          <dgm:chPref val="0"/>
          <dgm:bulletEnabled val="1"/>
        </dgm:presLayoutVars>
      </dgm:prSet>
      <dgm:spPr/>
    </dgm:pt>
    <dgm:pt modelId="{135B3125-F534-4332-A588-EE94582FCEEF}" type="pres">
      <dgm:prSet presAssocID="{9AEAAEED-A981-453E-ACDD-BE3E5C5EDB7C}" presName="Triangle" presStyleLbl="alignNode1" presStyleIdx="9" presStyleCnt="15"/>
      <dgm:spPr/>
    </dgm:pt>
    <dgm:pt modelId="{8292C903-77A9-4270-80C3-DD2FE99ACB1A}" type="pres">
      <dgm:prSet presAssocID="{24D33F2A-CD2D-45B7-B104-4361B6498508}" presName="sibTrans" presStyleCnt="0"/>
      <dgm:spPr/>
    </dgm:pt>
    <dgm:pt modelId="{F52E2E1D-3266-4A2E-B72D-506C6B564539}" type="pres">
      <dgm:prSet presAssocID="{24D33F2A-CD2D-45B7-B104-4361B6498508}" presName="space" presStyleCnt="0"/>
      <dgm:spPr/>
    </dgm:pt>
    <dgm:pt modelId="{EF890894-54FB-44A4-8288-806484120282}" type="pres">
      <dgm:prSet presAssocID="{F6336FCE-0290-4151-A0D4-FF6C4E6F545E}" presName="composite" presStyleCnt="0"/>
      <dgm:spPr/>
    </dgm:pt>
    <dgm:pt modelId="{88BC37E3-5FC9-4642-A463-DCCE354A3065}" type="pres">
      <dgm:prSet presAssocID="{F6336FCE-0290-4151-A0D4-FF6C4E6F545E}" presName="LShape" presStyleLbl="alignNode1" presStyleIdx="10" presStyleCnt="15" custLinFactNeighborY="0"/>
      <dgm:spPr>
        <a:solidFill>
          <a:srgbClr val="00B050"/>
        </a:solidFill>
      </dgm:spPr>
    </dgm:pt>
    <dgm:pt modelId="{A0A6EEA9-0F5A-48BB-9545-4AAFCB1EA82A}" type="pres">
      <dgm:prSet presAssocID="{F6336FCE-0290-4151-A0D4-FF6C4E6F545E}" presName="ParentText" presStyleLbl="revTx" presStyleIdx="5" presStyleCnt="8" custScaleX="110437" custLinFactNeighborX="8427" custLinFactNeighborY="2403">
        <dgm:presLayoutVars>
          <dgm:chMax val="0"/>
          <dgm:chPref val="0"/>
          <dgm:bulletEnabled val="1"/>
        </dgm:presLayoutVars>
      </dgm:prSet>
      <dgm:spPr/>
    </dgm:pt>
    <dgm:pt modelId="{A0878174-8112-4003-A4B0-509B10BDA09C}" type="pres">
      <dgm:prSet presAssocID="{F6336FCE-0290-4151-A0D4-FF6C4E6F545E}" presName="Triangle" presStyleLbl="alignNode1" presStyleIdx="11" presStyleCnt="15"/>
      <dgm:spPr/>
    </dgm:pt>
    <dgm:pt modelId="{09C2493D-0688-46F5-B6D6-2C0616BEFA7D}" type="pres">
      <dgm:prSet presAssocID="{99A736F1-DD7D-4666-93D0-EA7AB578FFFA}" presName="sibTrans" presStyleCnt="0"/>
      <dgm:spPr/>
    </dgm:pt>
    <dgm:pt modelId="{F50EF0BB-92C5-471D-9CFE-24A7C0EFFD34}" type="pres">
      <dgm:prSet presAssocID="{99A736F1-DD7D-4666-93D0-EA7AB578FFFA}" presName="space" presStyleCnt="0"/>
      <dgm:spPr/>
    </dgm:pt>
    <dgm:pt modelId="{5FA7C5A1-BF34-4A0D-9317-D47F647F9A73}" type="pres">
      <dgm:prSet presAssocID="{AE931798-8377-48A9-BC19-602479E44A58}" presName="composite" presStyleCnt="0"/>
      <dgm:spPr/>
    </dgm:pt>
    <dgm:pt modelId="{6A31E50F-34E9-4F43-A782-6C8445BFEDAE}" type="pres">
      <dgm:prSet presAssocID="{AE931798-8377-48A9-BC19-602479E44A58}" presName="LShape" presStyleLbl="alignNode1" presStyleIdx="12" presStyleCnt="15" custLinFactNeighborY="0"/>
      <dgm:spPr>
        <a:solidFill>
          <a:schemeClr val="tx1">
            <a:lumMod val="75000"/>
            <a:lumOff val="25000"/>
          </a:schemeClr>
        </a:solidFill>
      </dgm:spPr>
    </dgm:pt>
    <dgm:pt modelId="{A084FD33-BCD4-4EEA-9CD9-FCEC8AE39F32}" type="pres">
      <dgm:prSet presAssocID="{AE931798-8377-48A9-BC19-602479E44A58}" presName="ParentText" presStyleLbl="revTx" presStyleIdx="6" presStyleCnt="8">
        <dgm:presLayoutVars>
          <dgm:chMax val="0"/>
          <dgm:chPref val="0"/>
          <dgm:bulletEnabled val="1"/>
        </dgm:presLayoutVars>
      </dgm:prSet>
      <dgm:spPr/>
    </dgm:pt>
    <dgm:pt modelId="{C2FBEBD8-8E83-4BA7-BF2B-86B5A6A52572}" type="pres">
      <dgm:prSet presAssocID="{AE931798-8377-48A9-BC19-602479E44A58}" presName="Triangle" presStyleLbl="alignNode1" presStyleIdx="13" presStyleCnt="15"/>
      <dgm:spPr/>
    </dgm:pt>
    <dgm:pt modelId="{F8F80D98-5890-4D3B-A787-444D037F33A2}" type="pres">
      <dgm:prSet presAssocID="{8F156E9E-DEA2-4AB6-A32F-7BD3F7EF2072}" presName="sibTrans" presStyleCnt="0"/>
      <dgm:spPr/>
    </dgm:pt>
    <dgm:pt modelId="{F16691B3-52B1-452F-80D3-ECFC4ADAC4B2}" type="pres">
      <dgm:prSet presAssocID="{8F156E9E-DEA2-4AB6-A32F-7BD3F7EF2072}" presName="space" presStyleCnt="0"/>
      <dgm:spPr/>
    </dgm:pt>
    <dgm:pt modelId="{DD9EBF4B-75AD-481E-B21B-15ADA6D6E327}" type="pres">
      <dgm:prSet presAssocID="{17C44F9B-C1E6-4934-87D0-222E8C079851}" presName="composite" presStyleCnt="0"/>
      <dgm:spPr/>
    </dgm:pt>
    <dgm:pt modelId="{15058E29-7C38-41C1-ABE1-1090A630F007}" type="pres">
      <dgm:prSet presAssocID="{17C44F9B-C1E6-4934-87D0-222E8C079851}" presName="LShape" presStyleLbl="alignNode1" presStyleIdx="14" presStyleCnt="15" custLinFactNeighborY="0"/>
      <dgm:spPr>
        <a:solidFill>
          <a:srgbClr val="00B050"/>
        </a:solidFill>
      </dgm:spPr>
    </dgm:pt>
    <dgm:pt modelId="{84F5CC90-6AF6-4EFE-9E83-9FBD2635AA2E}" type="pres">
      <dgm:prSet presAssocID="{17C44F9B-C1E6-4934-87D0-222E8C079851}" presName="ParentText" presStyleLbl="revTx" presStyleIdx="7" presStyleCnt="8">
        <dgm:presLayoutVars>
          <dgm:chMax val="0"/>
          <dgm:chPref val="0"/>
          <dgm:bulletEnabled val="1"/>
        </dgm:presLayoutVars>
      </dgm:prSet>
      <dgm:spPr/>
    </dgm:pt>
  </dgm:ptLst>
  <dgm:cxnLst>
    <dgm:cxn modelId="{635A3C10-9732-4ACD-9A3B-0E026D6D30F7}" type="presOf" srcId="{5F524D10-D8E4-40C4-9BE1-1AD148D22EDD}" destId="{97A0CE0B-84EA-444E-B4A4-0F21968CFE8F}" srcOrd="0" destOrd="0" presId="urn:microsoft.com/office/officeart/2009/3/layout/StepUpProcess"/>
    <dgm:cxn modelId="{1C6F3B14-29A7-47CF-A148-E740ABB4CD12}" srcId="{C90C8DB7-0CDB-4CA8-856B-9E676227AFE9}" destId="{A9865881-DD26-464D-B3F3-5E0DF9677C3A}" srcOrd="1" destOrd="0" parTransId="{56AFC21D-044C-462B-A6D3-39A2F5CA05F3}" sibTransId="{871FDB5F-421C-4070-B4AD-7DBCCAAB8789}"/>
    <dgm:cxn modelId="{DD5CF217-4CC8-4588-82DA-3997E16B97CE}" type="presOf" srcId="{F6336FCE-0290-4151-A0D4-FF6C4E6F545E}" destId="{A0A6EEA9-0F5A-48BB-9545-4AAFCB1EA82A}" srcOrd="0" destOrd="0" presId="urn:microsoft.com/office/officeart/2009/3/layout/StepUpProcess"/>
    <dgm:cxn modelId="{6A980E21-51EE-4891-BA16-1DF7DEFE3A6C}" type="presOf" srcId="{D0397B20-0B09-450A-BA75-2422BD1F9B2E}" destId="{F6994594-F34C-4644-AEDB-79BC4F348261}" srcOrd="0" destOrd="0" presId="urn:microsoft.com/office/officeart/2009/3/layout/StepUpProcess"/>
    <dgm:cxn modelId="{1ACF2F2B-810C-4990-A3BC-3B91A80ADF05}" type="presOf" srcId="{C90C8DB7-0CDB-4CA8-856B-9E676227AFE9}" destId="{80642F21-E2A1-465D-9037-0DE5887C56BD}" srcOrd="0" destOrd="0" presId="urn:microsoft.com/office/officeart/2009/3/layout/StepUpProcess"/>
    <dgm:cxn modelId="{FBBB9E62-554B-4004-A9A7-8CC0C9CEA9AC}" type="presOf" srcId="{AE931798-8377-48A9-BC19-602479E44A58}" destId="{A084FD33-BCD4-4EEA-9CD9-FCEC8AE39F32}" srcOrd="0" destOrd="0" presId="urn:microsoft.com/office/officeart/2009/3/layout/StepUpProcess"/>
    <dgm:cxn modelId="{B271A862-90C4-4C22-9022-97D19DE5EF63}" srcId="{C90C8DB7-0CDB-4CA8-856B-9E676227AFE9}" destId="{6B929003-705A-400F-B517-1CE7F1D5CE17}" srcOrd="2" destOrd="0" parTransId="{2D33BE5C-A140-4A86-9379-F7206C504091}" sibTransId="{7BA50986-84EE-4FE8-87D9-5811F65C0552}"/>
    <dgm:cxn modelId="{343A4070-4559-41E7-909A-C3DFF069BBE5}" type="presOf" srcId="{6B929003-705A-400F-B517-1CE7F1D5CE17}" destId="{4ACCC4AC-8770-4E18-B5C3-98D373E91834}" srcOrd="0" destOrd="0" presId="urn:microsoft.com/office/officeart/2009/3/layout/StepUpProcess"/>
    <dgm:cxn modelId="{736D6B52-B3CD-4227-ACBB-3C38901D2AFD}" srcId="{C90C8DB7-0CDB-4CA8-856B-9E676227AFE9}" destId="{F6336FCE-0290-4151-A0D4-FF6C4E6F545E}" srcOrd="5" destOrd="0" parTransId="{1400FAA7-FFED-42BD-957E-8A9CE3D8F38A}" sibTransId="{99A736F1-DD7D-4666-93D0-EA7AB578FFFA}"/>
    <dgm:cxn modelId="{EF20BE8E-D63A-486F-B1FB-6B964893D6DF}" srcId="{C90C8DB7-0CDB-4CA8-856B-9E676227AFE9}" destId="{9AEAAEED-A981-453E-ACDD-BE3E5C5EDB7C}" srcOrd="4" destOrd="0" parTransId="{5F94BDAA-1F43-41AA-9F0C-D56B49A05B3A}" sibTransId="{24D33F2A-CD2D-45B7-B104-4361B6498508}"/>
    <dgm:cxn modelId="{409216AD-7246-48DE-9532-26BAFFC61C22}" srcId="{C90C8DB7-0CDB-4CA8-856B-9E676227AFE9}" destId="{D0397B20-0B09-450A-BA75-2422BD1F9B2E}" srcOrd="0" destOrd="0" parTransId="{025874A4-692B-4324-9B83-705764E9BBD2}" sibTransId="{380D8D32-C6A2-429D-BFF5-F5CDC00BD2DC}"/>
    <dgm:cxn modelId="{9289C4C3-7495-4E31-9125-821261FEC8BA}" srcId="{C90C8DB7-0CDB-4CA8-856B-9E676227AFE9}" destId="{5F524D10-D8E4-40C4-9BE1-1AD148D22EDD}" srcOrd="3" destOrd="0" parTransId="{F83F10DE-38C7-406E-87D2-B96876C5605F}" sibTransId="{A2F2496E-0A3F-4DE0-8550-B074B1BEEAAE}"/>
    <dgm:cxn modelId="{CE7BEBC4-9752-4828-95B3-FA228B0F4A7A}" srcId="{C90C8DB7-0CDB-4CA8-856B-9E676227AFE9}" destId="{AE931798-8377-48A9-BC19-602479E44A58}" srcOrd="6" destOrd="0" parTransId="{A277E6DD-3A5A-4F25-896F-A3ED19870C17}" sibTransId="{8F156E9E-DEA2-4AB6-A32F-7BD3F7EF2072}"/>
    <dgm:cxn modelId="{4D60CBD5-CD97-49D4-9E8E-53FF51F028A4}" srcId="{C90C8DB7-0CDB-4CA8-856B-9E676227AFE9}" destId="{17C44F9B-C1E6-4934-87D0-222E8C079851}" srcOrd="7" destOrd="0" parTransId="{8D4A3CC8-EF35-40DE-BF7D-38410ECD0DC3}" sibTransId="{E5773BA3-0831-445C-A7DA-E650D2B4F5ED}"/>
    <dgm:cxn modelId="{7C3B29DF-0E10-4F77-BC37-E464CF6E02C7}" type="presOf" srcId="{9AEAAEED-A981-453E-ACDD-BE3E5C5EDB7C}" destId="{2C5E8F87-46A1-407A-8480-A3E83A07BFBF}" srcOrd="0" destOrd="0" presId="urn:microsoft.com/office/officeart/2009/3/layout/StepUpProcess"/>
    <dgm:cxn modelId="{D26A8FE4-9386-465E-A87A-1C7B5B925015}" type="presOf" srcId="{17C44F9B-C1E6-4934-87D0-222E8C079851}" destId="{84F5CC90-6AF6-4EFE-9E83-9FBD2635AA2E}" srcOrd="0" destOrd="0" presId="urn:microsoft.com/office/officeart/2009/3/layout/StepUpProcess"/>
    <dgm:cxn modelId="{F41431EE-C4DF-4695-83F0-DE42AC380BAD}" type="presOf" srcId="{A9865881-DD26-464D-B3F3-5E0DF9677C3A}" destId="{B5A660DE-5387-446F-8AD2-D5D2EC3392A9}" srcOrd="0" destOrd="0" presId="urn:microsoft.com/office/officeart/2009/3/layout/StepUpProcess"/>
    <dgm:cxn modelId="{7DE5B3AF-97DE-4C86-878F-924980A36F9C}" type="presParOf" srcId="{80642F21-E2A1-465D-9037-0DE5887C56BD}" destId="{784C5CF2-9470-4819-961D-06D09ED61701}" srcOrd="0" destOrd="0" presId="urn:microsoft.com/office/officeart/2009/3/layout/StepUpProcess"/>
    <dgm:cxn modelId="{BDB776D1-BB98-49E4-A1F9-50E6E750956E}" type="presParOf" srcId="{784C5CF2-9470-4819-961D-06D09ED61701}" destId="{2D3C0C13-A697-4435-9164-FDAA383410EB}" srcOrd="0" destOrd="0" presId="urn:microsoft.com/office/officeart/2009/3/layout/StepUpProcess"/>
    <dgm:cxn modelId="{3CBC3A87-E22A-4A10-A3D3-C9BD2E4C21AE}" type="presParOf" srcId="{784C5CF2-9470-4819-961D-06D09ED61701}" destId="{F6994594-F34C-4644-AEDB-79BC4F348261}" srcOrd="1" destOrd="0" presId="urn:microsoft.com/office/officeart/2009/3/layout/StepUpProcess"/>
    <dgm:cxn modelId="{DE342081-4A81-4632-BF97-D05F6F619E18}" type="presParOf" srcId="{784C5CF2-9470-4819-961D-06D09ED61701}" destId="{D85A67E5-3B0B-49F9-98F8-BA7273F4DBAB}" srcOrd="2" destOrd="0" presId="urn:microsoft.com/office/officeart/2009/3/layout/StepUpProcess"/>
    <dgm:cxn modelId="{B00A3179-E4AF-48CB-8A7A-2D8BC85B2A1D}" type="presParOf" srcId="{80642F21-E2A1-465D-9037-0DE5887C56BD}" destId="{249890A8-FEDD-43A1-84EF-ACF662C96D38}" srcOrd="1" destOrd="0" presId="urn:microsoft.com/office/officeart/2009/3/layout/StepUpProcess"/>
    <dgm:cxn modelId="{626A8E81-EB0F-41F2-95E0-C20F2291DDA0}" type="presParOf" srcId="{249890A8-FEDD-43A1-84EF-ACF662C96D38}" destId="{27F63683-381A-41C2-9C6B-43F3C315A26E}" srcOrd="0" destOrd="0" presId="urn:microsoft.com/office/officeart/2009/3/layout/StepUpProcess"/>
    <dgm:cxn modelId="{9180C7C6-9081-4524-BDE9-9738C65F542E}" type="presParOf" srcId="{80642F21-E2A1-465D-9037-0DE5887C56BD}" destId="{1DEC8ECF-E4FF-41D4-B4F2-FBFAEFC965B6}" srcOrd="2" destOrd="0" presId="urn:microsoft.com/office/officeart/2009/3/layout/StepUpProcess"/>
    <dgm:cxn modelId="{3BF8B5FA-BB7F-4443-BBB2-E6B76A59571A}" type="presParOf" srcId="{1DEC8ECF-E4FF-41D4-B4F2-FBFAEFC965B6}" destId="{573B8D3C-66CB-4B24-9243-B216D4A47F09}" srcOrd="0" destOrd="0" presId="urn:microsoft.com/office/officeart/2009/3/layout/StepUpProcess"/>
    <dgm:cxn modelId="{8812B4DB-2FB8-4BD9-BBB6-6C2D29A7B5C5}" type="presParOf" srcId="{1DEC8ECF-E4FF-41D4-B4F2-FBFAEFC965B6}" destId="{B5A660DE-5387-446F-8AD2-D5D2EC3392A9}" srcOrd="1" destOrd="0" presId="urn:microsoft.com/office/officeart/2009/3/layout/StepUpProcess"/>
    <dgm:cxn modelId="{6D0BB5AC-DFF5-411C-B9C0-63FE481C4154}" type="presParOf" srcId="{1DEC8ECF-E4FF-41D4-B4F2-FBFAEFC965B6}" destId="{CA966735-1F30-4EB9-B916-DF070245D0CF}" srcOrd="2" destOrd="0" presId="urn:microsoft.com/office/officeart/2009/3/layout/StepUpProcess"/>
    <dgm:cxn modelId="{1763E35E-7030-414F-AA62-BB643E9EFF96}" type="presParOf" srcId="{80642F21-E2A1-465D-9037-0DE5887C56BD}" destId="{BA202457-A544-4A60-93BC-D36C9CB9A2CF}" srcOrd="3" destOrd="0" presId="urn:microsoft.com/office/officeart/2009/3/layout/StepUpProcess"/>
    <dgm:cxn modelId="{1938E00B-8F15-49B7-8471-B08965656D2C}" type="presParOf" srcId="{BA202457-A544-4A60-93BC-D36C9CB9A2CF}" destId="{355A8803-A4E5-493B-AC56-1DD25867891E}" srcOrd="0" destOrd="0" presId="urn:microsoft.com/office/officeart/2009/3/layout/StepUpProcess"/>
    <dgm:cxn modelId="{C8729545-7A02-4F42-9FC0-0BA460A08501}" type="presParOf" srcId="{80642F21-E2A1-465D-9037-0DE5887C56BD}" destId="{1D12E42E-6F90-46F0-B376-B797DE718F03}" srcOrd="4" destOrd="0" presId="urn:microsoft.com/office/officeart/2009/3/layout/StepUpProcess"/>
    <dgm:cxn modelId="{FCD76700-3FB9-409F-906A-C0561AC44823}" type="presParOf" srcId="{1D12E42E-6F90-46F0-B376-B797DE718F03}" destId="{3F3AEA45-5A75-4D92-9FFF-76A16B9F60D2}" srcOrd="0" destOrd="0" presId="urn:microsoft.com/office/officeart/2009/3/layout/StepUpProcess"/>
    <dgm:cxn modelId="{86EA2BE3-218E-4EE5-9DF9-06ECCA62CE09}" type="presParOf" srcId="{1D12E42E-6F90-46F0-B376-B797DE718F03}" destId="{4ACCC4AC-8770-4E18-B5C3-98D373E91834}" srcOrd="1" destOrd="0" presId="urn:microsoft.com/office/officeart/2009/3/layout/StepUpProcess"/>
    <dgm:cxn modelId="{14124FC0-218C-4AA0-867B-333C34F040C8}" type="presParOf" srcId="{1D12E42E-6F90-46F0-B376-B797DE718F03}" destId="{0A82E749-88DD-4FBB-BDCE-CE4DC7F0C0DE}" srcOrd="2" destOrd="0" presId="urn:microsoft.com/office/officeart/2009/3/layout/StepUpProcess"/>
    <dgm:cxn modelId="{F05092DE-134F-488E-9094-1AF9F8AA50F9}" type="presParOf" srcId="{80642F21-E2A1-465D-9037-0DE5887C56BD}" destId="{5CAF8ADB-2DF6-4198-8DD8-820B88FD0BF9}" srcOrd="5" destOrd="0" presId="urn:microsoft.com/office/officeart/2009/3/layout/StepUpProcess"/>
    <dgm:cxn modelId="{C5CD005D-1EA0-4FB9-BEFF-1C635390EF5A}" type="presParOf" srcId="{5CAF8ADB-2DF6-4198-8DD8-820B88FD0BF9}" destId="{B84B4F17-0312-4772-8356-CDE6EA5A3856}" srcOrd="0" destOrd="0" presId="urn:microsoft.com/office/officeart/2009/3/layout/StepUpProcess"/>
    <dgm:cxn modelId="{D1BF8227-D3BA-4636-A395-DDFD9FF26A6E}" type="presParOf" srcId="{80642F21-E2A1-465D-9037-0DE5887C56BD}" destId="{B6651242-A924-4E94-8C5F-9D085040E93B}" srcOrd="6" destOrd="0" presId="urn:microsoft.com/office/officeart/2009/3/layout/StepUpProcess"/>
    <dgm:cxn modelId="{36D260B7-7960-454E-8FE9-14EB2EEBE7FB}" type="presParOf" srcId="{B6651242-A924-4E94-8C5F-9D085040E93B}" destId="{5C5FA654-C8B4-4BB6-B49F-4B16B59A318D}" srcOrd="0" destOrd="0" presId="urn:microsoft.com/office/officeart/2009/3/layout/StepUpProcess"/>
    <dgm:cxn modelId="{48E3B152-A75E-4FC4-AF0B-580F195695C7}" type="presParOf" srcId="{B6651242-A924-4E94-8C5F-9D085040E93B}" destId="{97A0CE0B-84EA-444E-B4A4-0F21968CFE8F}" srcOrd="1" destOrd="0" presId="urn:microsoft.com/office/officeart/2009/3/layout/StepUpProcess"/>
    <dgm:cxn modelId="{4C9DD603-0981-44A2-BDA3-2FA7A8CE586A}" type="presParOf" srcId="{B6651242-A924-4E94-8C5F-9D085040E93B}" destId="{EAF3E0E8-A419-4785-944F-5FD7921E1DD9}" srcOrd="2" destOrd="0" presId="urn:microsoft.com/office/officeart/2009/3/layout/StepUpProcess"/>
    <dgm:cxn modelId="{09E8CAE3-7DE2-40CD-9F12-FC04F68B4B73}" type="presParOf" srcId="{80642F21-E2A1-465D-9037-0DE5887C56BD}" destId="{D21A734A-6BC0-423C-B8B8-A1F10E9B3E9E}" srcOrd="7" destOrd="0" presId="urn:microsoft.com/office/officeart/2009/3/layout/StepUpProcess"/>
    <dgm:cxn modelId="{D62557AB-C4FD-44D7-8024-C6F36E5908C6}" type="presParOf" srcId="{D21A734A-6BC0-423C-B8B8-A1F10E9B3E9E}" destId="{F95F91F0-831E-44E0-AD7D-FF821CAF868D}" srcOrd="0" destOrd="0" presId="urn:microsoft.com/office/officeart/2009/3/layout/StepUpProcess"/>
    <dgm:cxn modelId="{B718A3BA-C3C1-44E9-A614-CA05BF26E5E9}" type="presParOf" srcId="{80642F21-E2A1-465D-9037-0DE5887C56BD}" destId="{77365BDB-E193-4E9B-A1B6-D8A918F19400}" srcOrd="8" destOrd="0" presId="urn:microsoft.com/office/officeart/2009/3/layout/StepUpProcess"/>
    <dgm:cxn modelId="{9C76E0BF-B9F0-471A-9C91-D83EF2642C58}" type="presParOf" srcId="{77365BDB-E193-4E9B-A1B6-D8A918F19400}" destId="{5623BD59-C2CB-459E-BCD1-F014BEB7DAA5}" srcOrd="0" destOrd="0" presId="urn:microsoft.com/office/officeart/2009/3/layout/StepUpProcess"/>
    <dgm:cxn modelId="{7E14E7B9-9FE6-46E9-8B02-11095DBE5433}" type="presParOf" srcId="{77365BDB-E193-4E9B-A1B6-D8A918F19400}" destId="{2C5E8F87-46A1-407A-8480-A3E83A07BFBF}" srcOrd="1" destOrd="0" presId="urn:microsoft.com/office/officeart/2009/3/layout/StepUpProcess"/>
    <dgm:cxn modelId="{1B589BEE-C6A6-47D2-9FAD-61719DA335FA}" type="presParOf" srcId="{77365BDB-E193-4E9B-A1B6-D8A918F19400}" destId="{135B3125-F534-4332-A588-EE94582FCEEF}" srcOrd="2" destOrd="0" presId="urn:microsoft.com/office/officeart/2009/3/layout/StepUpProcess"/>
    <dgm:cxn modelId="{7A701D25-7795-4404-800A-7B0EDE393BDC}" type="presParOf" srcId="{80642F21-E2A1-465D-9037-0DE5887C56BD}" destId="{8292C903-77A9-4270-80C3-DD2FE99ACB1A}" srcOrd="9" destOrd="0" presId="urn:microsoft.com/office/officeart/2009/3/layout/StepUpProcess"/>
    <dgm:cxn modelId="{6FA571B1-8218-40E9-A2FA-0E5CCB481C83}" type="presParOf" srcId="{8292C903-77A9-4270-80C3-DD2FE99ACB1A}" destId="{F52E2E1D-3266-4A2E-B72D-506C6B564539}" srcOrd="0" destOrd="0" presId="urn:microsoft.com/office/officeart/2009/3/layout/StepUpProcess"/>
    <dgm:cxn modelId="{555E3DE0-A002-40BB-9391-7E30C6CCFFAB}" type="presParOf" srcId="{80642F21-E2A1-465D-9037-0DE5887C56BD}" destId="{EF890894-54FB-44A4-8288-806484120282}" srcOrd="10" destOrd="0" presId="urn:microsoft.com/office/officeart/2009/3/layout/StepUpProcess"/>
    <dgm:cxn modelId="{874A4DE3-905E-4919-B8DC-CAAC3A3D335D}" type="presParOf" srcId="{EF890894-54FB-44A4-8288-806484120282}" destId="{88BC37E3-5FC9-4642-A463-DCCE354A3065}" srcOrd="0" destOrd="0" presId="urn:microsoft.com/office/officeart/2009/3/layout/StepUpProcess"/>
    <dgm:cxn modelId="{FE6BAD96-2AD3-41A3-BDA8-58DCA4D9DD39}" type="presParOf" srcId="{EF890894-54FB-44A4-8288-806484120282}" destId="{A0A6EEA9-0F5A-48BB-9545-4AAFCB1EA82A}" srcOrd="1" destOrd="0" presId="urn:microsoft.com/office/officeart/2009/3/layout/StepUpProcess"/>
    <dgm:cxn modelId="{B4918D6B-90AB-4E42-ABB6-817A909D5DDC}" type="presParOf" srcId="{EF890894-54FB-44A4-8288-806484120282}" destId="{A0878174-8112-4003-A4B0-509B10BDA09C}" srcOrd="2" destOrd="0" presId="urn:microsoft.com/office/officeart/2009/3/layout/StepUpProcess"/>
    <dgm:cxn modelId="{68F7F99E-4504-41DC-8E1C-FBD513B63A65}" type="presParOf" srcId="{80642F21-E2A1-465D-9037-0DE5887C56BD}" destId="{09C2493D-0688-46F5-B6D6-2C0616BEFA7D}" srcOrd="11" destOrd="0" presId="urn:microsoft.com/office/officeart/2009/3/layout/StepUpProcess"/>
    <dgm:cxn modelId="{A129896D-6FF4-4348-ABC8-01B2353CD0A4}" type="presParOf" srcId="{09C2493D-0688-46F5-B6D6-2C0616BEFA7D}" destId="{F50EF0BB-92C5-471D-9CFE-24A7C0EFFD34}" srcOrd="0" destOrd="0" presId="urn:microsoft.com/office/officeart/2009/3/layout/StepUpProcess"/>
    <dgm:cxn modelId="{61B35D77-44F4-4460-8C90-D63D9DD04ACE}" type="presParOf" srcId="{80642F21-E2A1-465D-9037-0DE5887C56BD}" destId="{5FA7C5A1-BF34-4A0D-9317-D47F647F9A73}" srcOrd="12" destOrd="0" presId="urn:microsoft.com/office/officeart/2009/3/layout/StepUpProcess"/>
    <dgm:cxn modelId="{D658EF6A-46CB-4DEA-8117-CE3DFE63C22F}" type="presParOf" srcId="{5FA7C5A1-BF34-4A0D-9317-D47F647F9A73}" destId="{6A31E50F-34E9-4F43-A782-6C8445BFEDAE}" srcOrd="0" destOrd="0" presId="urn:microsoft.com/office/officeart/2009/3/layout/StepUpProcess"/>
    <dgm:cxn modelId="{D4CEBD61-F9E4-4E08-B1FB-C1CC14BA9209}" type="presParOf" srcId="{5FA7C5A1-BF34-4A0D-9317-D47F647F9A73}" destId="{A084FD33-BCD4-4EEA-9CD9-FCEC8AE39F32}" srcOrd="1" destOrd="0" presId="urn:microsoft.com/office/officeart/2009/3/layout/StepUpProcess"/>
    <dgm:cxn modelId="{3D8ECDC4-BD49-4644-A979-AE6481676728}" type="presParOf" srcId="{5FA7C5A1-BF34-4A0D-9317-D47F647F9A73}" destId="{C2FBEBD8-8E83-4BA7-BF2B-86B5A6A52572}" srcOrd="2" destOrd="0" presId="urn:microsoft.com/office/officeart/2009/3/layout/StepUpProcess"/>
    <dgm:cxn modelId="{175FC3B9-C3B0-4775-B496-DBD0E78B1285}" type="presParOf" srcId="{80642F21-E2A1-465D-9037-0DE5887C56BD}" destId="{F8F80D98-5890-4D3B-A787-444D037F33A2}" srcOrd="13" destOrd="0" presId="urn:microsoft.com/office/officeart/2009/3/layout/StepUpProcess"/>
    <dgm:cxn modelId="{4775594F-770E-4E6E-8C72-B501BDB31AC7}" type="presParOf" srcId="{F8F80D98-5890-4D3B-A787-444D037F33A2}" destId="{F16691B3-52B1-452F-80D3-ECFC4ADAC4B2}" srcOrd="0" destOrd="0" presId="urn:microsoft.com/office/officeart/2009/3/layout/StepUpProcess"/>
    <dgm:cxn modelId="{713F5E9F-D247-4006-B2E2-7E1CDE530FA4}" type="presParOf" srcId="{80642F21-E2A1-465D-9037-0DE5887C56BD}" destId="{DD9EBF4B-75AD-481E-B21B-15ADA6D6E327}" srcOrd="14" destOrd="0" presId="urn:microsoft.com/office/officeart/2009/3/layout/StepUpProcess"/>
    <dgm:cxn modelId="{A41702DE-54B8-444C-809B-07E86D94C0CD}" type="presParOf" srcId="{DD9EBF4B-75AD-481E-B21B-15ADA6D6E327}" destId="{15058E29-7C38-41C1-ABE1-1090A630F007}" srcOrd="0" destOrd="0" presId="urn:microsoft.com/office/officeart/2009/3/layout/StepUpProcess"/>
    <dgm:cxn modelId="{0B5E9797-7793-486F-868B-F3BB89BCD21A}" type="presParOf" srcId="{DD9EBF4B-75AD-481E-B21B-15ADA6D6E327}" destId="{84F5CC90-6AF6-4EFE-9E83-9FBD2635AA2E}" srcOrd="1" destOrd="0" presId="urn:microsoft.com/office/officeart/2009/3/layout/StepUpProcess"/>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2040852-E783-411A-9A9A-B04D5E41F7F9}" type="doc">
      <dgm:prSet loTypeId="urn:microsoft.com/office/officeart/2008/layout/VerticalCurvedList" loCatId="list" qsTypeId="urn:microsoft.com/office/officeart/2005/8/quickstyle/simple1" qsCatId="simple" csTypeId="urn:microsoft.com/office/officeart/2005/8/colors/colorful1" csCatId="colorful" phldr="1"/>
      <dgm:spPr/>
      <dgm:t>
        <a:bodyPr/>
        <a:lstStyle/>
        <a:p>
          <a:endParaRPr lang="en-US"/>
        </a:p>
      </dgm:t>
    </dgm:pt>
    <dgm:pt modelId="{31659025-9D60-4EEB-AD70-1D2D06B6D977}">
      <dgm:prSet phldrT="[Text]" custT="1"/>
      <dgm:spPr/>
      <dgm:t>
        <a:bodyPr/>
        <a:lstStyle/>
        <a:p>
          <a:r>
            <a:rPr lang="en-US" sz="1200" dirty="0"/>
            <a:t>Revised minimum Thermal Capacity from 55% to 40% within 2 to 3 years.</a:t>
          </a:r>
        </a:p>
      </dgm:t>
    </dgm:pt>
    <dgm:pt modelId="{CD26B271-1658-4656-9E61-C383CAD807FB}" type="parTrans" cxnId="{E38AB618-45E1-440A-AB85-6A8B6361CFCB}">
      <dgm:prSet/>
      <dgm:spPr/>
      <dgm:t>
        <a:bodyPr/>
        <a:lstStyle/>
        <a:p>
          <a:endParaRPr lang="en-US"/>
        </a:p>
      </dgm:t>
    </dgm:pt>
    <dgm:pt modelId="{AE217F4C-5E8F-4F50-9F00-CE53F705DD53}" type="sibTrans" cxnId="{E38AB618-45E1-440A-AB85-6A8B6361CFCB}">
      <dgm:prSet/>
      <dgm:spPr/>
      <dgm:t>
        <a:bodyPr/>
        <a:lstStyle/>
        <a:p>
          <a:endParaRPr lang="en-US"/>
        </a:p>
      </dgm:t>
    </dgm:pt>
    <dgm:pt modelId="{CDDB0D88-BAE6-4EFB-92DB-44D17E84F1F9}">
      <dgm:prSet phldrT="[Text]" custT="1"/>
      <dgm:spPr/>
      <dgm:t>
        <a:bodyPr/>
        <a:lstStyle/>
        <a:p>
          <a:r>
            <a:rPr lang="en-US" sz="1200" dirty="0"/>
            <a:t>Energy from thermal plants which is having high tariff  need to be replaced with cheaper renewable energy </a:t>
          </a:r>
        </a:p>
      </dgm:t>
    </dgm:pt>
    <dgm:pt modelId="{F1298495-DFE0-4750-8FF2-836B5AF617F0}" type="parTrans" cxnId="{EA7AAA51-0D1D-4659-BCA0-9B669F3CFD77}">
      <dgm:prSet/>
      <dgm:spPr/>
      <dgm:t>
        <a:bodyPr/>
        <a:lstStyle/>
        <a:p>
          <a:endParaRPr lang="en-US"/>
        </a:p>
      </dgm:t>
    </dgm:pt>
    <dgm:pt modelId="{76B71868-9206-4256-BEB5-58519019AD59}" type="sibTrans" cxnId="{EA7AAA51-0D1D-4659-BCA0-9B669F3CFD77}">
      <dgm:prSet/>
      <dgm:spPr/>
      <dgm:t>
        <a:bodyPr/>
        <a:lstStyle/>
        <a:p>
          <a:endParaRPr lang="en-US"/>
        </a:p>
      </dgm:t>
    </dgm:pt>
    <dgm:pt modelId="{ACC1A639-DFB8-4487-AB74-6115099F8288}">
      <dgm:prSet phldrT="[Text]" custT="1"/>
      <dgm:spPr/>
      <dgm:t>
        <a:bodyPr/>
        <a:lstStyle/>
        <a:p>
          <a:r>
            <a:rPr lang="en-US" sz="1200" dirty="0"/>
            <a:t>58,000 MU from thermal station can be substitute with RE generation  ( 30,000 MW @ 22% CUF)</a:t>
          </a:r>
        </a:p>
      </dgm:t>
    </dgm:pt>
    <dgm:pt modelId="{58BF3442-38E0-43DB-8059-7BAE95D097E6}" type="parTrans" cxnId="{158F67C9-C374-4155-9429-B07E0F2ACAB1}">
      <dgm:prSet/>
      <dgm:spPr/>
      <dgm:t>
        <a:bodyPr/>
        <a:lstStyle/>
        <a:p>
          <a:endParaRPr lang="en-US"/>
        </a:p>
      </dgm:t>
    </dgm:pt>
    <dgm:pt modelId="{AC1B5B84-7AA4-4612-BE01-FA8F470CDA40}" type="sibTrans" cxnId="{158F67C9-C374-4155-9429-B07E0F2ACAB1}">
      <dgm:prSet/>
      <dgm:spPr/>
      <dgm:t>
        <a:bodyPr/>
        <a:lstStyle/>
        <a:p>
          <a:endParaRPr lang="en-US"/>
        </a:p>
      </dgm:t>
    </dgm:pt>
    <dgm:pt modelId="{3DF72754-B4AE-4727-BF68-B9C570E9EDAF}">
      <dgm:prSet phldrT="[Text]" custT="1"/>
      <dgm:spPr/>
      <dgm:t>
        <a:bodyPr/>
        <a:lstStyle/>
        <a:p>
          <a:r>
            <a:rPr lang="en-US" sz="1200" dirty="0"/>
            <a:t>All generating stations and States are directed to implement inorder to reduce their tariffs, meet their RPO commitments, increase utilization of transmission lines and reduce emission.</a:t>
          </a:r>
        </a:p>
      </dgm:t>
    </dgm:pt>
    <dgm:pt modelId="{E8463FDF-CA84-4CC2-B20D-60EDEFDF1B62}" type="parTrans" cxnId="{61F8ACE3-4AB2-4F34-8A7C-AB23FB8674CE}">
      <dgm:prSet/>
      <dgm:spPr/>
      <dgm:t>
        <a:bodyPr/>
        <a:lstStyle/>
        <a:p>
          <a:endParaRPr lang="en-US"/>
        </a:p>
      </dgm:t>
    </dgm:pt>
    <dgm:pt modelId="{B95A200E-7484-4375-A159-A6C111C4FA39}" type="sibTrans" cxnId="{61F8ACE3-4AB2-4F34-8A7C-AB23FB8674CE}">
      <dgm:prSet/>
      <dgm:spPr/>
      <dgm:t>
        <a:bodyPr/>
        <a:lstStyle/>
        <a:p>
          <a:endParaRPr lang="en-US"/>
        </a:p>
      </dgm:t>
    </dgm:pt>
    <dgm:pt modelId="{4D31E85A-3F4E-4D08-916A-7BFA52657F92}">
      <dgm:prSet phldrT="[Text]" custT="1"/>
      <dgm:spPr/>
      <dgm:t>
        <a:bodyPr/>
        <a:lstStyle/>
        <a:p>
          <a:r>
            <a:rPr lang="en-US" sz="1200" dirty="0"/>
            <a:t>Replacement of thermal power will save coal and leading to reduction of emission. </a:t>
          </a:r>
        </a:p>
      </dgm:t>
    </dgm:pt>
    <dgm:pt modelId="{85A0C849-EE86-4A8F-8B9E-6497AC9F0A2B}" type="parTrans" cxnId="{5A91248E-7FF1-4736-8788-8136A136ECE5}">
      <dgm:prSet/>
      <dgm:spPr/>
      <dgm:t>
        <a:bodyPr/>
        <a:lstStyle/>
        <a:p>
          <a:endParaRPr lang="en-US"/>
        </a:p>
      </dgm:t>
    </dgm:pt>
    <dgm:pt modelId="{305B5712-7571-416D-A9B5-DB69132D0262}" type="sibTrans" cxnId="{5A91248E-7FF1-4736-8788-8136A136ECE5}">
      <dgm:prSet/>
      <dgm:spPr/>
      <dgm:t>
        <a:bodyPr/>
        <a:lstStyle/>
        <a:p>
          <a:endParaRPr lang="en-US"/>
        </a:p>
      </dgm:t>
    </dgm:pt>
    <dgm:pt modelId="{477ABB65-A964-4C4A-9654-FF523C7106A6}">
      <dgm:prSet phldrT="[Text]" custT="1"/>
      <dgm:spPr/>
      <dgm:t>
        <a:bodyPr/>
        <a:lstStyle/>
        <a:p>
          <a:r>
            <a:rPr lang="en-US" sz="1200" dirty="0"/>
            <a:t>Implementation of scheme is estimated to conserve 34.7 MMT of coal and reduces carbon emission by 60.2 MMT.</a:t>
          </a:r>
        </a:p>
      </dgm:t>
    </dgm:pt>
    <dgm:pt modelId="{521C3AB8-3295-4606-94A0-87DDD6304596}" type="parTrans" cxnId="{9FA50A1B-B7B0-49D9-A653-9E4FC9E1735D}">
      <dgm:prSet/>
      <dgm:spPr/>
      <dgm:t>
        <a:bodyPr/>
        <a:lstStyle/>
        <a:p>
          <a:endParaRPr lang="en-US"/>
        </a:p>
      </dgm:t>
    </dgm:pt>
    <dgm:pt modelId="{EB6856FB-BE47-430A-8340-91ACC0B5FCCF}" type="sibTrans" cxnId="{9FA50A1B-B7B0-49D9-A653-9E4FC9E1735D}">
      <dgm:prSet/>
      <dgm:spPr/>
      <dgm:t>
        <a:bodyPr/>
        <a:lstStyle/>
        <a:p>
          <a:endParaRPr lang="en-US"/>
        </a:p>
      </dgm:t>
    </dgm:pt>
    <dgm:pt modelId="{FE041771-269F-49AF-95FF-F45CAE30BD3B}" type="pres">
      <dgm:prSet presAssocID="{F2040852-E783-411A-9A9A-B04D5E41F7F9}" presName="Name0" presStyleCnt="0">
        <dgm:presLayoutVars>
          <dgm:chMax val="7"/>
          <dgm:chPref val="7"/>
          <dgm:dir/>
        </dgm:presLayoutVars>
      </dgm:prSet>
      <dgm:spPr/>
    </dgm:pt>
    <dgm:pt modelId="{8401FD8A-0AA6-42E6-862D-56C0000C5C61}" type="pres">
      <dgm:prSet presAssocID="{F2040852-E783-411A-9A9A-B04D5E41F7F9}" presName="Name1" presStyleCnt="0"/>
      <dgm:spPr/>
    </dgm:pt>
    <dgm:pt modelId="{CB6AA300-4EB4-48C4-AB8D-73A0F56AD31E}" type="pres">
      <dgm:prSet presAssocID="{F2040852-E783-411A-9A9A-B04D5E41F7F9}" presName="cycle" presStyleCnt="0"/>
      <dgm:spPr/>
    </dgm:pt>
    <dgm:pt modelId="{9D9E192B-535C-4DA8-9E37-079221278A03}" type="pres">
      <dgm:prSet presAssocID="{F2040852-E783-411A-9A9A-B04D5E41F7F9}" presName="srcNode" presStyleLbl="node1" presStyleIdx="0" presStyleCnt="6"/>
      <dgm:spPr/>
    </dgm:pt>
    <dgm:pt modelId="{44444053-CB23-4F6D-9444-29CDEC355407}" type="pres">
      <dgm:prSet presAssocID="{F2040852-E783-411A-9A9A-B04D5E41F7F9}" presName="conn" presStyleLbl="parChTrans1D2" presStyleIdx="0" presStyleCnt="1"/>
      <dgm:spPr/>
    </dgm:pt>
    <dgm:pt modelId="{F171C001-3D3A-42BA-8638-7525C4F14E98}" type="pres">
      <dgm:prSet presAssocID="{F2040852-E783-411A-9A9A-B04D5E41F7F9}" presName="extraNode" presStyleLbl="node1" presStyleIdx="0" presStyleCnt="6"/>
      <dgm:spPr/>
    </dgm:pt>
    <dgm:pt modelId="{9032903F-BA35-4457-ABC8-29294E124A4A}" type="pres">
      <dgm:prSet presAssocID="{F2040852-E783-411A-9A9A-B04D5E41F7F9}" presName="dstNode" presStyleLbl="node1" presStyleIdx="0" presStyleCnt="6"/>
      <dgm:spPr/>
    </dgm:pt>
    <dgm:pt modelId="{7CB6B862-D267-4F84-B323-20423B352986}" type="pres">
      <dgm:prSet presAssocID="{31659025-9D60-4EEB-AD70-1D2D06B6D977}" presName="text_1" presStyleLbl="node1" presStyleIdx="0" presStyleCnt="6">
        <dgm:presLayoutVars>
          <dgm:bulletEnabled val="1"/>
        </dgm:presLayoutVars>
      </dgm:prSet>
      <dgm:spPr/>
    </dgm:pt>
    <dgm:pt modelId="{56C30202-FACE-4782-8A25-B13086FC8C5B}" type="pres">
      <dgm:prSet presAssocID="{31659025-9D60-4EEB-AD70-1D2D06B6D977}" presName="accent_1" presStyleCnt="0"/>
      <dgm:spPr/>
    </dgm:pt>
    <dgm:pt modelId="{349E29B7-C9E8-4746-85AA-144272BA81ED}" type="pres">
      <dgm:prSet presAssocID="{31659025-9D60-4EEB-AD70-1D2D06B6D977}" presName="accentRepeatNode" presStyleLbl="solidFgAcc1" presStyleIdx="0" presStyleCnt="6"/>
      <dgm:spPr/>
    </dgm:pt>
    <dgm:pt modelId="{246D47DB-FF37-4CA6-A4DE-492AB6E22374}" type="pres">
      <dgm:prSet presAssocID="{CDDB0D88-BAE6-4EFB-92DB-44D17E84F1F9}" presName="text_2" presStyleLbl="node1" presStyleIdx="1" presStyleCnt="6">
        <dgm:presLayoutVars>
          <dgm:bulletEnabled val="1"/>
        </dgm:presLayoutVars>
      </dgm:prSet>
      <dgm:spPr/>
    </dgm:pt>
    <dgm:pt modelId="{81981913-F385-4EBD-ACFA-809872C5BF2B}" type="pres">
      <dgm:prSet presAssocID="{CDDB0D88-BAE6-4EFB-92DB-44D17E84F1F9}" presName="accent_2" presStyleCnt="0"/>
      <dgm:spPr/>
    </dgm:pt>
    <dgm:pt modelId="{3A4C38DF-B95F-4627-957D-51539CD657D0}" type="pres">
      <dgm:prSet presAssocID="{CDDB0D88-BAE6-4EFB-92DB-44D17E84F1F9}" presName="accentRepeatNode" presStyleLbl="solidFgAcc1" presStyleIdx="1" presStyleCnt="6"/>
      <dgm:spPr/>
    </dgm:pt>
    <dgm:pt modelId="{AECA0399-C238-41AB-AA87-72BC59B7E3CE}" type="pres">
      <dgm:prSet presAssocID="{ACC1A639-DFB8-4487-AB74-6115099F8288}" presName="text_3" presStyleLbl="node1" presStyleIdx="2" presStyleCnt="6">
        <dgm:presLayoutVars>
          <dgm:bulletEnabled val="1"/>
        </dgm:presLayoutVars>
      </dgm:prSet>
      <dgm:spPr/>
    </dgm:pt>
    <dgm:pt modelId="{CCD61C73-A761-4371-A2A0-076C7D702995}" type="pres">
      <dgm:prSet presAssocID="{ACC1A639-DFB8-4487-AB74-6115099F8288}" presName="accent_3" presStyleCnt="0"/>
      <dgm:spPr/>
    </dgm:pt>
    <dgm:pt modelId="{667B66E6-84A4-4383-96F3-52F26ACE83F0}" type="pres">
      <dgm:prSet presAssocID="{ACC1A639-DFB8-4487-AB74-6115099F8288}" presName="accentRepeatNode" presStyleLbl="solidFgAcc1" presStyleIdx="2" presStyleCnt="6"/>
      <dgm:spPr/>
    </dgm:pt>
    <dgm:pt modelId="{E267D053-B39A-44FB-B777-9CBC6F67D23C}" type="pres">
      <dgm:prSet presAssocID="{4D31E85A-3F4E-4D08-916A-7BFA52657F92}" presName="text_4" presStyleLbl="node1" presStyleIdx="3" presStyleCnt="6">
        <dgm:presLayoutVars>
          <dgm:bulletEnabled val="1"/>
        </dgm:presLayoutVars>
      </dgm:prSet>
      <dgm:spPr/>
    </dgm:pt>
    <dgm:pt modelId="{17190506-55D5-47EE-AA2D-4C83C93D27CB}" type="pres">
      <dgm:prSet presAssocID="{4D31E85A-3F4E-4D08-916A-7BFA52657F92}" presName="accent_4" presStyleCnt="0"/>
      <dgm:spPr/>
    </dgm:pt>
    <dgm:pt modelId="{1D8B9C7F-7845-4E5F-AF52-21DB8527B9D1}" type="pres">
      <dgm:prSet presAssocID="{4D31E85A-3F4E-4D08-916A-7BFA52657F92}" presName="accentRepeatNode" presStyleLbl="solidFgAcc1" presStyleIdx="3" presStyleCnt="6"/>
      <dgm:spPr/>
    </dgm:pt>
    <dgm:pt modelId="{58290DDC-60C8-4E4C-BFD2-50F46EE17AA2}" type="pres">
      <dgm:prSet presAssocID="{477ABB65-A964-4C4A-9654-FF523C7106A6}" presName="text_5" presStyleLbl="node1" presStyleIdx="4" presStyleCnt="6">
        <dgm:presLayoutVars>
          <dgm:bulletEnabled val="1"/>
        </dgm:presLayoutVars>
      </dgm:prSet>
      <dgm:spPr/>
    </dgm:pt>
    <dgm:pt modelId="{286D9200-60CD-48CE-87AF-4276081B259D}" type="pres">
      <dgm:prSet presAssocID="{477ABB65-A964-4C4A-9654-FF523C7106A6}" presName="accent_5" presStyleCnt="0"/>
      <dgm:spPr/>
    </dgm:pt>
    <dgm:pt modelId="{86202DBC-639B-4F58-AF07-51E73C45CF57}" type="pres">
      <dgm:prSet presAssocID="{477ABB65-A964-4C4A-9654-FF523C7106A6}" presName="accentRepeatNode" presStyleLbl="solidFgAcc1" presStyleIdx="4" presStyleCnt="6"/>
      <dgm:spPr/>
    </dgm:pt>
    <dgm:pt modelId="{F23584EE-C61D-4AFC-878F-01DF17422AA8}" type="pres">
      <dgm:prSet presAssocID="{3DF72754-B4AE-4727-BF68-B9C570E9EDAF}" presName="text_6" presStyleLbl="node1" presStyleIdx="5" presStyleCnt="6" custScaleY="140769">
        <dgm:presLayoutVars>
          <dgm:bulletEnabled val="1"/>
        </dgm:presLayoutVars>
      </dgm:prSet>
      <dgm:spPr/>
    </dgm:pt>
    <dgm:pt modelId="{82A50B2B-61B4-4D64-AE74-BE196A5C4D05}" type="pres">
      <dgm:prSet presAssocID="{3DF72754-B4AE-4727-BF68-B9C570E9EDAF}" presName="accent_6" presStyleCnt="0"/>
      <dgm:spPr/>
    </dgm:pt>
    <dgm:pt modelId="{91F7EF8A-FBEB-4651-B561-A616E3F6761E}" type="pres">
      <dgm:prSet presAssocID="{3DF72754-B4AE-4727-BF68-B9C570E9EDAF}" presName="accentRepeatNode" presStyleLbl="solidFgAcc1" presStyleIdx="5" presStyleCnt="6"/>
      <dgm:spPr/>
    </dgm:pt>
  </dgm:ptLst>
  <dgm:cxnLst>
    <dgm:cxn modelId="{167DCC10-8FE6-4E64-832E-549203FD1894}" type="presOf" srcId="{F2040852-E783-411A-9A9A-B04D5E41F7F9}" destId="{FE041771-269F-49AF-95FF-F45CAE30BD3B}" srcOrd="0" destOrd="0" presId="urn:microsoft.com/office/officeart/2008/layout/VerticalCurvedList"/>
    <dgm:cxn modelId="{E38AB618-45E1-440A-AB85-6A8B6361CFCB}" srcId="{F2040852-E783-411A-9A9A-B04D5E41F7F9}" destId="{31659025-9D60-4EEB-AD70-1D2D06B6D977}" srcOrd="0" destOrd="0" parTransId="{CD26B271-1658-4656-9E61-C383CAD807FB}" sibTransId="{AE217F4C-5E8F-4F50-9F00-CE53F705DD53}"/>
    <dgm:cxn modelId="{9FA50A1B-B7B0-49D9-A653-9E4FC9E1735D}" srcId="{F2040852-E783-411A-9A9A-B04D5E41F7F9}" destId="{477ABB65-A964-4C4A-9654-FF523C7106A6}" srcOrd="4" destOrd="0" parTransId="{521C3AB8-3295-4606-94A0-87DDD6304596}" sibTransId="{EB6856FB-BE47-430A-8340-91ACC0B5FCCF}"/>
    <dgm:cxn modelId="{A2241261-608E-47AF-8CCE-25AF5BB61FC2}" type="presOf" srcId="{3DF72754-B4AE-4727-BF68-B9C570E9EDAF}" destId="{F23584EE-C61D-4AFC-878F-01DF17422AA8}" srcOrd="0" destOrd="0" presId="urn:microsoft.com/office/officeart/2008/layout/VerticalCurvedList"/>
    <dgm:cxn modelId="{44B2854E-FE01-4CD3-B5AE-45B1F34B1CFA}" type="presOf" srcId="{ACC1A639-DFB8-4487-AB74-6115099F8288}" destId="{AECA0399-C238-41AB-AA87-72BC59B7E3CE}" srcOrd="0" destOrd="0" presId="urn:microsoft.com/office/officeart/2008/layout/VerticalCurvedList"/>
    <dgm:cxn modelId="{EA7AAA51-0D1D-4659-BCA0-9B669F3CFD77}" srcId="{F2040852-E783-411A-9A9A-B04D5E41F7F9}" destId="{CDDB0D88-BAE6-4EFB-92DB-44D17E84F1F9}" srcOrd="1" destOrd="0" parTransId="{F1298495-DFE0-4750-8FF2-836B5AF617F0}" sibTransId="{76B71868-9206-4256-BEB5-58519019AD59}"/>
    <dgm:cxn modelId="{36F57854-F07C-4D95-A3DB-2B6F81C37F7E}" type="presOf" srcId="{AE217F4C-5E8F-4F50-9F00-CE53F705DD53}" destId="{44444053-CB23-4F6D-9444-29CDEC355407}" srcOrd="0" destOrd="0" presId="urn:microsoft.com/office/officeart/2008/layout/VerticalCurvedList"/>
    <dgm:cxn modelId="{1303A784-BA88-4F47-927A-B580734A8DC2}" type="presOf" srcId="{CDDB0D88-BAE6-4EFB-92DB-44D17E84F1F9}" destId="{246D47DB-FF37-4CA6-A4DE-492AB6E22374}" srcOrd="0" destOrd="0" presId="urn:microsoft.com/office/officeart/2008/layout/VerticalCurvedList"/>
    <dgm:cxn modelId="{5A91248E-7FF1-4736-8788-8136A136ECE5}" srcId="{F2040852-E783-411A-9A9A-B04D5E41F7F9}" destId="{4D31E85A-3F4E-4D08-916A-7BFA52657F92}" srcOrd="3" destOrd="0" parTransId="{85A0C849-EE86-4A8F-8B9E-6497AC9F0A2B}" sibTransId="{305B5712-7571-416D-A9B5-DB69132D0262}"/>
    <dgm:cxn modelId="{C0B331B6-753B-4208-9B69-BE68CA62AEDE}" type="presOf" srcId="{477ABB65-A964-4C4A-9654-FF523C7106A6}" destId="{58290DDC-60C8-4E4C-BFD2-50F46EE17AA2}" srcOrd="0" destOrd="0" presId="urn:microsoft.com/office/officeart/2008/layout/VerticalCurvedList"/>
    <dgm:cxn modelId="{A58809C2-F886-45E3-8F06-0F73CE7C7E60}" type="presOf" srcId="{31659025-9D60-4EEB-AD70-1D2D06B6D977}" destId="{7CB6B862-D267-4F84-B323-20423B352986}" srcOrd="0" destOrd="0" presId="urn:microsoft.com/office/officeart/2008/layout/VerticalCurvedList"/>
    <dgm:cxn modelId="{158F67C9-C374-4155-9429-B07E0F2ACAB1}" srcId="{F2040852-E783-411A-9A9A-B04D5E41F7F9}" destId="{ACC1A639-DFB8-4487-AB74-6115099F8288}" srcOrd="2" destOrd="0" parTransId="{58BF3442-38E0-43DB-8059-7BAE95D097E6}" sibTransId="{AC1B5B84-7AA4-4612-BE01-FA8F470CDA40}"/>
    <dgm:cxn modelId="{61F8ACE3-4AB2-4F34-8A7C-AB23FB8674CE}" srcId="{F2040852-E783-411A-9A9A-B04D5E41F7F9}" destId="{3DF72754-B4AE-4727-BF68-B9C570E9EDAF}" srcOrd="5" destOrd="0" parTransId="{E8463FDF-CA84-4CC2-B20D-60EDEFDF1B62}" sibTransId="{B95A200E-7484-4375-A159-A6C111C4FA39}"/>
    <dgm:cxn modelId="{3AC4D1E5-AA13-4FB9-A3EE-7DC09B8BAF9B}" type="presOf" srcId="{4D31E85A-3F4E-4D08-916A-7BFA52657F92}" destId="{E267D053-B39A-44FB-B777-9CBC6F67D23C}" srcOrd="0" destOrd="0" presId="urn:microsoft.com/office/officeart/2008/layout/VerticalCurvedList"/>
    <dgm:cxn modelId="{67760D64-A852-4054-B68B-59CA4E0950FE}" type="presParOf" srcId="{FE041771-269F-49AF-95FF-F45CAE30BD3B}" destId="{8401FD8A-0AA6-42E6-862D-56C0000C5C61}" srcOrd="0" destOrd="0" presId="urn:microsoft.com/office/officeart/2008/layout/VerticalCurvedList"/>
    <dgm:cxn modelId="{9C903BCA-92DE-4009-97C6-BA0336900322}" type="presParOf" srcId="{8401FD8A-0AA6-42E6-862D-56C0000C5C61}" destId="{CB6AA300-4EB4-48C4-AB8D-73A0F56AD31E}" srcOrd="0" destOrd="0" presId="urn:microsoft.com/office/officeart/2008/layout/VerticalCurvedList"/>
    <dgm:cxn modelId="{D5844916-843E-460C-A314-A64321F762F8}" type="presParOf" srcId="{CB6AA300-4EB4-48C4-AB8D-73A0F56AD31E}" destId="{9D9E192B-535C-4DA8-9E37-079221278A03}" srcOrd="0" destOrd="0" presId="urn:microsoft.com/office/officeart/2008/layout/VerticalCurvedList"/>
    <dgm:cxn modelId="{F58294DD-370E-471E-830B-2577A2795D85}" type="presParOf" srcId="{CB6AA300-4EB4-48C4-AB8D-73A0F56AD31E}" destId="{44444053-CB23-4F6D-9444-29CDEC355407}" srcOrd="1" destOrd="0" presId="urn:microsoft.com/office/officeart/2008/layout/VerticalCurvedList"/>
    <dgm:cxn modelId="{4087FFFC-CB57-4B31-B6C4-5D32F74CC1D7}" type="presParOf" srcId="{CB6AA300-4EB4-48C4-AB8D-73A0F56AD31E}" destId="{F171C001-3D3A-42BA-8638-7525C4F14E98}" srcOrd="2" destOrd="0" presId="urn:microsoft.com/office/officeart/2008/layout/VerticalCurvedList"/>
    <dgm:cxn modelId="{5126C436-67CF-4288-B109-193101254110}" type="presParOf" srcId="{CB6AA300-4EB4-48C4-AB8D-73A0F56AD31E}" destId="{9032903F-BA35-4457-ABC8-29294E124A4A}" srcOrd="3" destOrd="0" presId="urn:microsoft.com/office/officeart/2008/layout/VerticalCurvedList"/>
    <dgm:cxn modelId="{38B1FBA3-0D29-437C-BC85-22F133E5CEF3}" type="presParOf" srcId="{8401FD8A-0AA6-42E6-862D-56C0000C5C61}" destId="{7CB6B862-D267-4F84-B323-20423B352986}" srcOrd="1" destOrd="0" presId="urn:microsoft.com/office/officeart/2008/layout/VerticalCurvedList"/>
    <dgm:cxn modelId="{0DA2484B-EFDD-4ADA-9D38-F03D464474A2}" type="presParOf" srcId="{8401FD8A-0AA6-42E6-862D-56C0000C5C61}" destId="{56C30202-FACE-4782-8A25-B13086FC8C5B}" srcOrd="2" destOrd="0" presId="urn:microsoft.com/office/officeart/2008/layout/VerticalCurvedList"/>
    <dgm:cxn modelId="{832161A5-72E5-4515-A3FC-47AE25F9C278}" type="presParOf" srcId="{56C30202-FACE-4782-8A25-B13086FC8C5B}" destId="{349E29B7-C9E8-4746-85AA-144272BA81ED}" srcOrd="0" destOrd="0" presId="urn:microsoft.com/office/officeart/2008/layout/VerticalCurvedList"/>
    <dgm:cxn modelId="{7B6A3608-3351-43A4-B00F-41F23A66B55E}" type="presParOf" srcId="{8401FD8A-0AA6-42E6-862D-56C0000C5C61}" destId="{246D47DB-FF37-4CA6-A4DE-492AB6E22374}" srcOrd="3" destOrd="0" presId="urn:microsoft.com/office/officeart/2008/layout/VerticalCurvedList"/>
    <dgm:cxn modelId="{EB160CA1-A6F8-4F91-BFE2-45853B1B0224}" type="presParOf" srcId="{8401FD8A-0AA6-42E6-862D-56C0000C5C61}" destId="{81981913-F385-4EBD-ACFA-809872C5BF2B}" srcOrd="4" destOrd="0" presId="urn:microsoft.com/office/officeart/2008/layout/VerticalCurvedList"/>
    <dgm:cxn modelId="{4629D5C1-79BB-45AD-8892-23BF19ADFF1D}" type="presParOf" srcId="{81981913-F385-4EBD-ACFA-809872C5BF2B}" destId="{3A4C38DF-B95F-4627-957D-51539CD657D0}" srcOrd="0" destOrd="0" presId="urn:microsoft.com/office/officeart/2008/layout/VerticalCurvedList"/>
    <dgm:cxn modelId="{CEB159EC-4D6A-4FE7-AC11-4C8FFFE70E70}" type="presParOf" srcId="{8401FD8A-0AA6-42E6-862D-56C0000C5C61}" destId="{AECA0399-C238-41AB-AA87-72BC59B7E3CE}" srcOrd="5" destOrd="0" presId="urn:microsoft.com/office/officeart/2008/layout/VerticalCurvedList"/>
    <dgm:cxn modelId="{E7077724-C45D-44B5-89BD-503783CCBFF3}" type="presParOf" srcId="{8401FD8A-0AA6-42E6-862D-56C0000C5C61}" destId="{CCD61C73-A761-4371-A2A0-076C7D702995}" srcOrd="6" destOrd="0" presId="urn:microsoft.com/office/officeart/2008/layout/VerticalCurvedList"/>
    <dgm:cxn modelId="{CC13EDBC-6B1D-468E-A573-1873DE2812C6}" type="presParOf" srcId="{CCD61C73-A761-4371-A2A0-076C7D702995}" destId="{667B66E6-84A4-4383-96F3-52F26ACE83F0}" srcOrd="0" destOrd="0" presId="urn:microsoft.com/office/officeart/2008/layout/VerticalCurvedList"/>
    <dgm:cxn modelId="{E821CECF-6788-4917-A1F9-E23269B62776}" type="presParOf" srcId="{8401FD8A-0AA6-42E6-862D-56C0000C5C61}" destId="{E267D053-B39A-44FB-B777-9CBC6F67D23C}" srcOrd="7" destOrd="0" presId="urn:microsoft.com/office/officeart/2008/layout/VerticalCurvedList"/>
    <dgm:cxn modelId="{47655D6F-D4BE-4953-AEEB-BB8263D100E5}" type="presParOf" srcId="{8401FD8A-0AA6-42E6-862D-56C0000C5C61}" destId="{17190506-55D5-47EE-AA2D-4C83C93D27CB}" srcOrd="8" destOrd="0" presId="urn:microsoft.com/office/officeart/2008/layout/VerticalCurvedList"/>
    <dgm:cxn modelId="{39B63ECD-9482-4B82-9C18-70AB9B2D493A}" type="presParOf" srcId="{17190506-55D5-47EE-AA2D-4C83C93D27CB}" destId="{1D8B9C7F-7845-4E5F-AF52-21DB8527B9D1}" srcOrd="0" destOrd="0" presId="urn:microsoft.com/office/officeart/2008/layout/VerticalCurvedList"/>
    <dgm:cxn modelId="{BD9543D7-F168-4C02-AF89-84DCB1B30889}" type="presParOf" srcId="{8401FD8A-0AA6-42E6-862D-56C0000C5C61}" destId="{58290DDC-60C8-4E4C-BFD2-50F46EE17AA2}" srcOrd="9" destOrd="0" presId="urn:microsoft.com/office/officeart/2008/layout/VerticalCurvedList"/>
    <dgm:cxn modelId="{7CF8AAFD-D949-47D8-83FC-3D917012C3C5}" type="presParOf" srcId="{8401FD8A-0AA6-42E6-862D-56C0000C5C61}" destId="{286D9200-60CD-48CE-87AF-4276081B259D}" srcOrd="10" destOrd="0" presId="urn:microsoft.com/office/officeart/2008/layout/VerticalCurvedList"/>
    <dgm:cxn modelId="{2579648F-CCD4-4D25-B0E5-D4C00B626387}" type="presParOf" srcId="{286D9200-60CD-48CE-87AF-4276081B259D}" destId="{86202DBC-639B-4F58-AF07-51E73C45CF57}" srcOrd="0" destOrd="0" presId="urn:microsoft.com/office/officeart/2008/layout/VerticalCurvedList"/>
    <dgm:cxn modelId="{95E23873-C3C8-45D0-BB12-8C2765271731}" type="presParOf" srcId="{8401FD8A-0AA6-42E6-862D-56C0000C5C61}" destId="{F23584EE-C61D-4AFC-878F-01DF17422AA8}" srcOrd="11" destOrd="0" presId="urn:microsoft.com/office/officeart/2008/layout/VerticalCurvedList"/>
    <dgm:cxn modelId="{816F78C7-A9C4-48CC-8747-EA53EB50FE64}" type="presParOf" srcId="{8401FD8A-0AA6-42E6-862D-56C0000C5C61}" destId="{82A50B2B-61B4-4D64-AE74-BE196A5C4D05}" srcOrd="12" destOrd="0" presId="urn:microsoft.com/office/officeart/2008/layout/VerticalCurvedList"/>
    <dgm:cxn modelId="{25691799-FED8-44BD-B6B5-EBC5FD08DEF1}" type="presParOf" srcId="{82A50B2B-61B4-4D64-AE74-BE196A5C4D05}" destId="{91F7EF8A-FBEB-4651-B561-A616E3F6761E}" srcOrd="0" destOrd="0" presId="urn:microsoft.com/office/officeart/2008/layout/VerticalCurvedList"/>
  </dgm:cxnLst>
  <dgm:bg>
    <a:solidFill>
      <a:schemeClr val="bg1">
        <a:lumMod val="85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53EE6CD-43A6-4500-ACCC-FB9B6DC7488E}" type="doc">
      <dgm:prSet loTypeId="urn:microsoft.com/office/officeart/2005/8/layout/process5" loCatId="process" qsTypeId="urn:microsoft.com/office/officeart/2005/8/quickstyle/simple1" qsCatId="simple" csTypeId="urn:microsoft.com/office/officeart/2005/8/colors/colorful1" csCatId="colorful" phldr="1"/>
      <dgm:spPr/>
      <dgm:t>
        <a:bodyPr/>
        <a:lstStyle/>
        <a:p>
          <a:endParaRPr lang="en-US"/>
        </a:p>
      </dgm:t>
    </dgm:pt>
    <dgm:pt modelId="{D5DA5B8E-AD64-4BDF-93F9-1A3DF1BB5E28}">
      <dgm:prSet phldrT="[Text]" custT="1"/>
      <dgm:spPr>
        <a:solidFill>
          <a:srgbClr val="0076A8"/>
        </a:solidFill>
      </dgm:spPr>
      <dgm:t>
        <a:bodyPr/>
        <a:lstStyle/>
        <a:p>
          <a:pPr algn="ctr"/>
          <a:r>
            <a:rPr lang="en-US" sz="1100" b="1" dirty="0"/>
            <a:t>Demand Assessment</a:t>
          </a:r>
        </a:p>
      </dgm:t>
    </dgm:pt>
    <dgm:pt modelId="{B229AE57-69B2-4608-973A-4A2B2414EE68}" type="parTrans" cxnId="{5610622B-E8F6-4ECB-A170-BC7FFF631A4E}">
      <dgm:prSet/>
      <dgm:spPr/>
      <dgm:t>
        <a:bodyPr/>
        <a:lstStyle/>
        <a:p>
          <a:endParaRPr lang="en-US"/>
        </a:p>
      </dgm:t>
    </dgm:pt>
    <dgm:pt modelId="{CF0EA060-6F5A-475B-98B3-8B3EFD37B4E1}" type="sibTrans" cxnId="{5610622B-E8F6-4ECB-A170-BC7FFF631A4E}">
      <dgm:prSet/>
      <dgm:spPr/>
      <dgm:t>
        <a:bodyPr/>
        <a:lstStyle/>
        <a:p>
          <a:endParaRPr lang="en-US"/>
        </a:p>
      </dgm:t>
    </dgm:pt>
    <dgm:pt modelId="{C3BCD781-8BBA-49A4-B34C-9ACE85EE4254}">
      <dgm:prSet phldrT="[Text]" custT="1"/>
      <dgm:spPr>
        <a:solidFill>
          <a:srgbClr val="009A44"/>
        </a:solidFill>
      </dgm:spPr>
      <dgm:t>
        <a:bodyPr/>
        <a:lstStyle/>
        <a:p>
          <a:pPr algn="ctr"/>
          <a:r>
            <a:rPr lang="en-US" sz="1100" b="1" dirty="0"/>
            <a:t>Peak and Off-Peak Power  Demand Assessment</a:t>
          </a:r>
        </a:p>
      </dgm:t>
    </dgm:pt>
    <dgm:pt modelId="{FBD0BF2B-C5D2-4FBA-8324-1162140DAFDD}" type="parTrans" cxnId="{1366382D-A1FE-46B7-A70D-9261D60AE54B}">
      <dgm:prSet/>
      <dgm:spPr/>
      <dgm:t>
        <a:bodyPr/>
        <a:lstStyle/>
        <a:p>
          <a:endParaRPr lang="en-US"/>
        </a:p>
      </dgm:t>
    </dgm:pt>
    <dgm:pt modelId="{756F30DD-07C2-4914-B482-3ACDF62C7E62}" type="sibTrans" cxnId="{1366382D-A1FE-46B7-A70D-9261D60AE54B}">
      <dgm:prSet/>
      <dgm:spPr>
        <a:solidFill>
          <a:srgbClr val="007680"/>
        </a:solidFill>
      </dgm:spPr>
      <dgm:t>
        <a:bodyPr/>
        <a:lstStyle/>
        <a:p>
          <a:endParaRPr lang="en-US"/>
        </a:p>
      </dgm:t>
    </dgm:pt>
    <dgm:pt modelId="{CDA213F3-0D4F-4727-B6D5-A49D15E7CBF7}">
      <dgm:prSet phldrT="[Text]" custT="1"/>
      <dgm:spPr>
        <a:solidFill>
          <a:srgbClr val="007680"/>
        </a:solidFill>
      </dgm:spPr>
      <dgm:t>
        <a:bodyPr/>
        <a:lstStyle/>
        <a:p>
          <a:pPr algn="ctr"/>
          <a:r>
            <a:rPr lang="en-US" sz="1100" b="1" dirty="0"/>
            <a:t>Power Supply Assessment </a:t>
          </a:r>
        </a:p>
      </dgm:t>
    </dgm:pt>
    <dgm:pt modelId="{6D961603-3672-4741-8983-C34FCF0721B0}" type="parTrans" cxnId="{6DCED5D1-E533-4DD9-964E-65506F06354A}">
      <dgm:prSet/>
      <dgm:spPr/>
      <dgm:t>
        <a:bodyPr/>
        <a:lstStyle/>
        <a:p>
          <a:endParaRPr lang="en-US"/>
        </a:p>
      </dgm:t>
    </dgm:pt>
    <dgm:pt modelId="{2D70D953-C1DE-4D60-B53D-6CB78A0E30D6}" type="sibTrans" cxnId="{6DCED5D1-E533-4DD9-964E-65506F06354A}">
      <dgm:prSet/>
      <dgm:spPr/>
      <dgm:t>
        <a:bodyPr/>
        <a:lstStyle/>
        <a:p>
          <a:endParaRPr lang="en-US"/>
        </a:p>
      </dgm:t>
    </dgm:pt>
    <dgm:pt modelId="{DA017871-ED04-45E6-A2BB-0A9199FB92A7}">
      <dgm:prSet phldrT="[Text]" custT="1"/>
      <dgm:spPr>
        <a:solidFill>
          <a:srgbClr val="009A44"/>
        </a:solidFill>
      </dgm:spPr>
      <dgm:t>
        <a:bodyPr/>
        <a:lstStyle/>
        <a:p>
          <a:pPr algn="ctr"/>
          <a:r>
            <a:rPr lang="en-US" sz="1100" b="1" dirty="0"/>
            <a:t>RPO Obligation</a:t>
          </a:r>
        </a:p>
      </dgm:t>
    </dgm:pt>
    <dgm:pt modelId="{1FFAB29A-4684-4B31-9741-C1A1C6B1DEBE}" type="parTrans" cxnId="{F57F9CCA-5A84-4BA0-BFFF-2EDAE3E93BF4}">
      <dgm:prSet/>
      <dgm:spPr/>
      <dgm:t>
        <a:bodyPr/>
        <a:lstStyle/>
        <a:p>
          <a:endParaRPr lang="en-US"/>
        </a:p>
      </dgm:t>
    </dgm:pt>
    <dgm:pt modelId="{99FEF920-59FF-4228-9958-25992FBFCB64}" type="sibTrans" cxnId="{F57F9CCA-5A84-4BA0-BFFF-2EDAE3E93BF4}">
      <dgm:prSet/>
      <dgm:spPr/>
      <dgm:t>
        <a:bodyPr/>
        <a:lstStyle/>
        <a:p>
          <a:endParaRPr lang="en-US"/>
        </a:p>
      </dgm:t>
    </dgm:pt>
    <dgm:pt modelId="{8C6E1F90-D052-4E0E-A632-97B41D3B1072}">
      <dgm:prSet phldrT="[Text]" custT="1"/>
      <dgm:spPr/>
      <dgm:t>
        <a:bodyPr/>
        <a:lstStyle/>
        <a:p>
          <a:pPr algn="ctr"/>
          <a:r>
            <a:rPr lang="en-US" sz="1200" b="1" dirty="0"/>
            <a:t>Gap Assessment</a:t>
          </a:r>
        </a:p>
      </dgm:t>
    </dgm:pt>
    <dgm:pt modelId="{58019763-9505-4F25-9D3B-6E0B991406B6}" type="parTrans" cxnId="{0161D3F5-C4A2-40B0-AB98-BAEEA07D1AD5}">
      <dgm:prSet/>
      <dgm:spPr/>
      <dgm:t>
        <a:bodyPr/>
        <a:lstStyle/>
        <a:p>
          <a:endParaRPr lang="en-US"/>
        </a:p>
      </dgm:t>
    </dgm:pt>
    <dgm:pt modelId="{682277EC-CC73-4B17-8AF8-4113A663CE8A}" type="sibTrans" cxnId="{0161D3F5-C4A2-40B0-AB98-BAEEA07D1AD5}">
      <dgm:prSet/>
      <dgm:spPr>
        <a:noFill/>
      </dgm:spPr>
      <dgm:t>
        <a:bodyPr/>
        <a:lstStyle/>
        <a:p>
          <a:endParaRPr lang="en-US"/>
        </a:p>
      </dgm:t>
    </dgm:pt>
    <dgm:pt modelId="{9815CBB8-E641-4427-8867-77926CCF5673}">
      <dgm:prSet phldrT="[Text]" custT="1"/>
      <dgm:spPr>
        <a:solidFill>
          <a:srgbClr val="0097A9"/>
        </a:solidFill>
      </dgm:spPr>
      <dgm:t>
        <a:bodyPr/>
        <a:lstStyle/>
        <a:p>
          <a:r>
            <a:rPr lang="en-US" sz="1000" b="1" dirty="0"/>
            <a:t>Selection of PPAs  which need to be considered for evaluation based on </a:t>
          </a:r>
          <a:r>
            <a:rPr lang="en-US" sz="1000" dirty="0"/>
            <a:t>:</a:t>
          </a:r>
        </a:p>
      </dgm:t>
    </dgm:pt>
    <dgm:pt modelId="{7B4E63F7-137E-4B7C-8265-C76C0B5A7623}" type="parTrans" cxnId="{D59783FE-E629-4C50-8AFE-C405BF8BC593}">
      <dgm:prSet/>
      <dgm:spPr/>
      <dgm:t>
        <a:bodyPr/>
        <a:lstStyle/>
        <a:p>
          <a:endParaRPr lang="en-US"/>
        </a:p>
      </dgm:t>
    </dgm:pt>
    <dgm:pt modelId="{B293D8A8-CF32-4CBA-B9B6-2356C8E3E389}" type="sibTrans" cxnId="{D59783FE-E629-4C50-8AFE-C405BF8BC593}">
      <dgm:prSet/>
      <dgm:spPr/>
      <dgm:t>
        <a:bodyPr/>
        <a:lstStyle/>
        <a:p>
          <a:endParaRPr lang="en-US"/>
        </a:p>
      </dgm:t>
    </dgm:pt>
    <dgm:pt modelId="{2FEF3A4F-D0F8-47DB-B7CC-8C3FD7F6EC16}">
      <dgm:prSet phldrT="[Text]" custT="1"/>
      <dgm:spPr/>
      <dgm:t>
        <a:bodyPr/>
        <a:lstStyle/>
        <a:p>
          <a:pPr algn="ctr"/>
          <a:r>
            <a:rPr lang="en-US" sz="1100" b="1" dirty="0"/>
            <a:t>Assessment of Terms and Conditions of PPA</a:t>
          </a:r>
        </a:p>
      </dgm:t>
    </dgm:pt>
    <dgm:pt modelId="{2FB4EA05-83B1-49C4-9074-8DFF599932F6}" type="parTrans" cxnId="{A52D8065-1733-444A-B8F1-60FCC5F120D5}">
      <dgm:prSet/>
      <dgm:spPr/>
      <dgm:t>
        <a:bodyPr/>
        <a:lstStyle/>
        <a:p>
          <a:endParaRPr lang="en-US"/>
        </a:p>
      </dgm:t>
    </dgm:pt>
    <dgm:pt modelId="{3914D450-45E6-4E47-9D52-2DF88A076702}" type="sibTrans" cxnId="{A52D8065-1733-444A-B8F1-60FCC5F120D5}">
      <dgm:prSet/>
      <dgm:spPr/>
      <dgm:t>
        <a:bodyPr/>
        <a:lstStyle/>
        <a:p>
          <a:endParaRPr lang="en-US"/>
        </a:p>
      </dgm:t>
    </dgm:pt>
    <dgm:pt modelId="{0E1B7645-4B10-48E3-8631-9D61E8867B22}">
      <dgm:prSet phldrT="[Text]" custT="1"/>
      <dgm:spPr>
        <a:solidFill>
          <a:schemeClr val="accent5">
            <a:lumMod val="75000"/>
          </a:schemeClr>
        </a:solidFill>
      </dgm:spPr>
      <dgm:t>
        <a:bodyPr/>
        <a:lstStyle/>
        <a:p>
          <a:pPr algn="ctr"/>
          <a:r>
            <a:rPr lang="en-US" sz="1100" dirty="0"/>
            <a:t> </a:t>
          </a:r>
          <a:r>
            <a:rPr lang="en-US" sz="1100" b="1" dirty="0"/>
            <a:t>Regulation and Policy Assessment</a:t>
          </a:r>
        </a:p>
      </dgm:t>
    </dgm:pt>
    <dgm:pt modelId="{77755EA4-2BCD-4007-8377-361E5F9742B7}" type="parTrans" cxnId="{38AED80D-6A0C-4189-88FF-9256D1541585}">
      <dgm:prSet/>
      <dgm:spPr/>
      <dgm:t>
        <a:bodyPr/>
        <a:lstStyle/>
        <a:p>
          <a:endParaRPr lang="en-US"/>
        </a:p>
      </dgm:t>
    </dgm:pt>
    <dgm:pt modelId="{2D681F62-75BB-413A-999B-97A7EC009F64}" type="sibTrans" cxnId="{38AED80D-6A0C-4189-88FF-9256D1541585}">
      <dgm:prSet/>
      <dgm:spPr/>
      <dgm:t>
        <a:bodyPr/>
        <a:lstStyle/>
        <a:p>
          <a:endParaRPr lang="en-US"/>
        </a:p>
      </dgm:t>
    </dgm:pt>
    <dgm:pt modelId="{6D54731F-AA46-44DF-96DB-EAD2BA25B924}">
      <dgm:prSet phldrT="[Text]" custT="1"/>
      <dgm:spPr>
        <a:solidFill>
          <a:srgbClr val="046A38"/>
        </a:solidFill>
      </dgm:spPr>
      <dgm:t>
        <a:bodyPr/>
        <a:lstStyle/>
        <a:p>
          <a:pPr algn="ctr"/>
          <a:r>
            <a:rPr lang="en-US" sz="1100" b="1" dirty="0"/>
            <a:t>Stakeholders Discussion </a:t>
          </a:r>
        </a:p>
      </dgm:t>
    </dgm:pt>
    <dgm:pt modelId="{EC8FA9BE-F70F-4E93-A677-959608F163E4}" type="parTrans" cxnId="{3F5B017F-9CE6-43D9-8FA5-9BC3BD70A1E4}">
      <dgm:prSet/>
      <dgm:spPr/>
      <dgm:t>
        <a:bodyPr/>
        <a:lstStyle/>
        <a:p>
          <a:endParaRPr lang="en-US"/>
        </a:p>
      </dgm:t>
    </dgm:pt>
    <dgm:pt modelId="{21101CF1-139E-4CF4-BAED-CE611E1A142E}" type="sibTrans" cxnId="{3F5B017F-9CE6-43D9-8FA5-9BC3BD70A1E4}">
      <dgm:prSet/>
      <dgm:spPr/>
      <dgm:t>
        <a:bodyPr/>
        <a:lstStyle/>
        <a:p>
          <a:endParaRPr lang="en-US"/>
        </a:p>
      </dgm:t>
    </dgm:pt>
    <dgm:pt modelId="{E43F85DE-4636-43E3-BA72-349DD2FE3207}">
      <dgm:prSet phldrT="[Text]" custT="1"/>
      <dgm:spPr>
        <a:solidFill>
          <a:srgbClr val="0076A8"/>
        </a:solidFill>
      </dgm:spPr>
      <dgm:t>
        <a:bodyPr/>
        <a:lstStyle/>
        <a:p>
          <a:pPr algn="just"/>
          <a:r>
            <a:rPr lang="en-US" sz="1100" dirty="0"/>
            <a:t>Consumer consumption assessment </a:t>
          </a:r>
        </a:p>
      </dgm:t>
    </dgm:pt>
    <dgm:pt modelId="{07C0CE27-E89E-45E9-BDFD-F205655F9E78}" type="parTrans" cxnId="{5BFB8822-D9B2-49E4-856C-12F92F72EA66}">
      <dgm:prSet/>
      <dgm:spPr/>
      <dgm:t>
        <a:bodyPr/>
        <a:lstStyle/>
        <a:p>
          <a:endParaRPr lang="en-US"/>
        </a:p>
      </dgm:t>
    </dgm:pt>
    <dgm:pt modelId="{E726F6F7-E364-4C0F-A987-501584750E22}" type="sibTrans" cxnId="{5BFB8822-D9B2-49E4-856C-12F92F72EA66}">
      <dgm:prSet/>
      <dgm:spPr/>
      <dgm:t>
        <a:bodyPr/>
        <a:lstStyle/>
        <a:p>
          <a:endParaRPr lang="en-US"/>
        </a:p>
      </dgm:t>
    </dgm:pt>
    <dgm:pt modelId="{708707B7-9C6F-4F55-8A7B-87217ECDDC51}">
      <dgm:prSet phldrT="[Text]" custT="1"/>
      <dgm:spPr>
        <a:solidFill>
          <a:srgbClr val="009A44"/>
        </a:solidFill>
      </dgm:spPr>
      <dgm:t>
        <a:bodyPr/>
        <a:lstStyle/>
        <a:p>
          <a:pPr algn="l"/>
          <a:r>
            <a:rPr lang="en-US" sz="1100" dirty="0"/>
            <a:t>Current and Future Peak and Off- Peak Demand Analysis </a:t>
          </a:r>
        </a:p>
      </dgm:t>
    </dgm:pt>
    <dgm:pt modelId="{B6FD3475-A89A-4C5F-B432-4D24FC200CB2}" type="parTrans" cxnId="{975B708F-05E8-4445-9B3A-F003893A8E9C}">
      <dgm:prSet/>
      <dgm:spPr/>
      <dgm:t>
        <a:bodyPr/>
        <a:lstStyle/>
        <a:p>
          <a:endParaRPr lang="en-US"/>
        </a:p>
      </dgm:t>
    </dgm:pt>
    <dgm:pt modelId="{4F7FC879-8085-4677-B428-9DE24E0D3D7C}" type="sibTrans" cxnId="{975B708F-05E8-4445-9B3A-F003893A8E9C}">
      <dgm:prSet/>
      <dgm:spPr/>
      <dgm:t>
        <a:bodyPr/>
        <a:lstStyle/>
        <a:p>
          <a:endParaRPr lang="en-US"/>
        </a:p>
      </dgm:t>
    </dgm:pt>
    <dgm:pt modelId="{37D0D305-B098-4144-A432-A8ED9E6F5D09}">
      <dgm:prSet phldrT="[Text]" custT="1"/>
      <dgm:spPr>
        <a:solidFill>
          <a:srgbClr val="009A44"/>
        </a:solidFill>
      </dgm:spPr>
      <dgm:t>
        <a:bodyPr/>
        <a:lstStyle/>
        <a:p>
          <a:pPr algn="l"/>
          <a:r>
            <a:rPr lang="en-US" sz="1100" dirty="0"/>
            <a:t>Peak Demand Period Analysis </a:t>
          </a:r>
        </a:p>
      </dgm:t>
    </dgm:pt>
    <dgm:pt modelId="{E10494C4-A3A7-4C5E-BB06-5496F1ADA9BD}" type="parTrans" cxnId="{AC0D52EC-8E4D-432B-99CC-814352AB41F4}">
      <dgm:prSet/>
      <dgm:spPr/>
      <dgm:t>
        <a:bodyPr/>
        <a:lstStyle/>
        <a:p>
          <a:endParaRPr lang="en-US"/>
        </a:p>
      </dgm:t>
    </dgm:pt>
    <dgm:pt modelId="{E0651EA8-2E77-4A1C-B2F9-721AF9994BC5}" type="sibTrans" cxnId="{AC0D52EC-8E4D-432B-99CC-814352AB41F4}">
      <dgm:prSet/>
      <dgm:spPr/>
      <dgm:t>
        <a:bodyPr/>
        <a:lstStyle/>
        <a:p>
          <a:endParaRPr lang="en-US"/>
        </a:p>
      </dgm:t>
    </dgm:pt>
    <dgm:pt modelId="{EDD1B5C0-74B9-44CE-A966-AB8F92FEDA04}">
      <dgm:prSet phldrT="[Text]" custT="1"/>
      <dgm:spPr>
        <a:solidFill>
          <a:srgbClr val="009A44"/>
        </a:solidFill>
      </dgm:spPr>
      <dgm:t>
        <a:bodyPr/>
        <a:lstStyle/>
        <a:p>
          <a:pPr algn="l"/>
          <a:r>
            <a:rPr lang="en-US" sz="1100" dirty="0"/>
            <a:t>Target Vs Actual Achievement</a:t>
          </a:r>
        </a:p>
      </dgm:t>
    </dgm:pt>
    <dgm:pt modelId="{90F90097-3840-4A2A-BAC3-17B4739AEBA7}" type="parTrans" cxnId="{379072BF-544C-4B8F-A537-1C0155E161AF}">
      <dgm:prSet/>
      <dgm:spPr/>
      <dgm:t>
        <a:bodyPr/>
        <a:lstStyle/>
        <a:p>
          <a:endParaRPr lang="en-US"/>
        </a:p>
      </dgm:t>
    </dgm:pt>
    <dgm:pt modelId="{3878B5EC-C2CD-4B00-9D50-B5334EC327EE}" type="sibTrans" cxnId="{379072BF-544C-4B8F-A537-1C0155E161AF}">
      <dgm:prSet/>
      <dgm:spPr/>
      <dgm:t>
        <a:bodyPr/>
        <a:lstStyle/>
        <a:p>
          <a:endParaRPr lang="en-US"/>
        </a:p>
      </dgm:t>
    </dgm:pt>
    <dgm:pt modelId="{7AC0C4D1-E99D-4A51-8FE8-A0F65D293091}">
      <dgm:prSet phldrT="[Text]" custT="1"/>
      <dgm:spPr>
        <a:solidFill>
          <a:srgbClr val="009A44"/>
        </a:solidFill>
      </dgm:spPr>
      <dgm:t>
        <a:bodyPr/>
        <a:lstStyle/>
        <a:p>
          <a:pPr algn="l"/>
          <a:r>
            <a:rPr lang="en-US" sz="1100" dirty="0"/>
            <a:t>Future Projection to meet Target </a:t>
          </a:r>
        </a:p>
      </dgm:t>
    </dgm:pt>
    <dgm:pt modelId="{E09CBBEF-F2E6-4C0B-A660-D9E83087122E}" type="parTrans" cxnId="{51928553-6465-41E5-AB39-69042208AB11}">
      <dgm:prSet/>
      <dgm:spPr/>
      <dgm:t>
        <a:bodyPr/>
        <a:lstStyle/>
        <a:p>
          <a:endParaRPr lang="en-US"/>
        </a:p>
      </dgm:t>
    </dgm:pt>
    <dgm:pt modelId="{4CCE8ECB-AA1E-4159-8B1B-30DF6160E1C3}" type="sibTrans" cxnId="{51928553-6465-41E5-AB39-69042208AB11}">
      <dgm:prSet/>
      <dgm:spPr/>
      <dgm:t>
        <a:bodyPr/>
        <a:lstStyle/>
        <a:p>
          <a:endParaRPr lang="en-US"/>
        </a:p>
      </dgm:t>
    </dgm:pt>
    <dgm:pt modelId="{CC1D68D1-EAF8-4465-964D-4B1A52860577}">
      <dgm:prSet phldrT="[Text]" custT="1"/>
      <dgm:spPr/>
      <dgm:t>
        <a:bodyPr/>
        <a:lstStyle/>
        <a:p>
          <a:pPr algn="l"/>
          <a:r>
            <a:rPr lang="en-US" sz="1100" dirty="0"/>
            <a:t>Termination Clause</a:t>
          </a:r>
        </a:p>
      </dgm:t>
    </dgm:pt>
    <dgm:pt modelId="{57E0510C-C894-4CD7-B4BE-264E052AAF3B}" type="parTrans" cxnId="{66B347EC-EB62-40DF-9656-FF180AE68BD2}">
      <dgm:prSet/>
      <dgm:spPr/>
      <dgm:t>
        <a:bodyPr/>
        <a:lstStyle/>
        <a:p>
          <a:endParaRPr lang="en-US"/>
        </a:p>
      </dgm:t>
    </dgm:pt>
    <dgm:pt modelId="{FC771CC2-2C49-4000-84B2-F20F14E61110}" type="sibTrans" cxnId="{66B347EC-EB62-40DF-9656-FF180AE68BD2}">
      <dgm:prSet/>
      <dgm:spPr/>
      <dgm:t>
        <a:bodyPr/>
        <a:lstStyle/>
        <a:p>
          <a:endParaRPr lang="en-US"/>
        </a:p>
      </dgm:t>
    </dgm:pt>
    <dgm:pt modelId="{ECA1AE84-0E25-4096-AD11-7C0759976594}">
      <dgm:prSet phldrT="[Text]" custT="1"/>
      <dgm:spPr/>
      <dgm:t>
        <a:bodyPr/>
        <a:lstStyle/>
        <a:p>
          <a:pPr algn="l"/>
          <a:r>
            <a:rPr lang="en-US" sz="1100" dirty="0"/>
            <a:t>Revision of Cost of Generation and Escalation Factor)</a:t>
          </a:r>
        </a:p>
      </dgm:t>
    </dgm:pt>
    <dgm:pt modelId="{C5F8D2DE-A8BC-40DE-937D-C3BCBF91A85F}" type="parTrans" cxnId="{81A8D00A-829F-426A-B1BB-E67D8EC2F3A2}">
      <dgm:prSet/>
      <dgm:spPr/>
      <dgm:t>
        <a:bodyPr/>
        <a:lstStyle/>
        <a:p>
          <a:endParaRPr lang="en-US"/>
        </a:p>
      </dgm:t>
    </dgm:pt>
    <dgm:pt modelId="{37A812DB-9D68-48DA-8E37-D9A3CFB282B1}" type="sibTrans" cxnId="{81A8D00A-829F-426A-B1BB-E67D8EC2F3A2}">
      <dgm:prSet/>
      <dgm:spPr/>
      <dgm:t>
        <a:bodyPr/>
        <a:lstStyle/>
        <a:p>
          <a:endParaRPr lang="en-US"/>
        </a:p>
      </dgm:t>
    </dgm:pt>
    <dgm:pt modelId="{E698FFA1-4B36-4E09-B19F-A5BEB4C63AAD}">
      <dgm:prSet phldrT="[Text]" custT="1"/>
      <dgm:spPr>
        <a:solidFill>
          <a:srgbClr val="0097A9"/>
        </a:solidFill>
      </dgm:spPr>
      <dgm:t>
        <a:bodyPr/>
        <a:lstStyle/>
        <a:p>
          <a:r>
            <a:rPr lang="en-US" sz="1000" dirty="0"/>
            <a:t>Availability Factor</a:t>
          </a:r>
        </a:p>
      </dgm:t>
    </dgm:pt>
    <dgm:pt modelId="{F4AB8DDD-85D0-41AB-A06F-55438B9B2FCB}" type="parTrans" cxnId="{44F5EC2C-8E82-4A3C-A44E-398BA624273C}">
      <dgm:prSet/>
      <dgm:spPr/>
      <dgm:t>
        <a:bodyPr/>
        <a:lstStyle/>
        <a:p>
          <a:endParaRPr lang="en-US"/>
        </a:p>
      </dgm:t>
    </dgm:pt>
    <dgm:pt modelId="{DCB489EA-BC8F-4D40-BF5D-936EA0619B9D}" type="sibTrans" cxnId="{44F5EC2C-8E82-4A3C-A44E-398BA624273C}">
      <dgm:prSet/>
      <dgm:spPr/>
      <dgm:t>
        <a:bodyPr/>
        <a:lstStyle/>
        <a:p>
          <a:endParaRPr lang="en-US"/>
        </a:p>
      </dgm:t>
    </dgm:pt>
    <dgm:pt modelId="{6BB3416D-42B8-4F8D-9981-707F52D82B2F}">
      <dgm:prSet phldrT="[Text]" custT="1"/>
      <dgm:spPr>
        <a:solidFill>
          <a:srgbClr val="0097A9"/>
        </a:solidFill>
      </dgm:spPr>
      <dgm:t>
        <a:bodyPr/>
        <a:lstStyle/>
        <a:p>
          <a:r>
            <a:rPr lang="en-US" sz="1000" dirty="0"/>
            <a:t>Reliability Factor</a:t>
          </a:r>
        </a:p>
      </dgm:t>
    </dgm:pt>
    <dgm:pt modelId="{F00ED528-D284-4BE1-80ED-2C8ACF62D701}" type="parTrans" cxnId="{52265232-4A4A-4F7A-BFD7-A8B05EB1DFF1}">
      <dgm:prSet/>
      <dgm:spPr/>
      <dgm:t>
        <a:bodyPr/>
        <a:lstStyle/>
        <a:p>
          <a:endParaRPr lang="en-US"/>
        </a:p>
      </dgm:t>
    </dgm:pt>
    <dgm:pt modelId="{FE11E651-2BEE-40E2-BEA1-5A1EAEC21429}" type="sibTrans" cxnId="{52265232-4A4A-4F7A-BFD7-A8B05EB1DFF1}">
      <dgm:prSet/>
      <dgm:spPr/>
      <dgm:t>
        <a:bodyPr/>
        <a:lstStyle/>
        <a:p>
          <a:endParaRPr lang="en-US"/>
        </a:p>
      </dgm:t>
    </dgm:pt>
    <dgm:pt modelId="{98E63B99-24B4-4EB4-B7D6-641FC5E2D165}">
      <dgm:prSet phldrT="[Text]" custT="1"/>
      <dgm:spPr>
        <a:solidFill>
          <a:srgbClr val="0097A9"/>
        </a:solidFill>
      </dgm:spPr>
      <dgm:t>
        <a:bodyPr/>
        <a:lstStyle/>
        <a:p>
          <a:r>
            <a:rPr lang="en-US" sz="1000" dirty="0"/>
            <a:t>Cost of Generation </a:t>
          </a:r>
        </a:p>
      </dgm:t>
    </dgm:pt>
    <dgm:pt modelId="{8564DE37-4465-4D2D-BEC1-FB8618C03990}" type="parTrans" cxnId="{9D052EB9-3F95-44FE-B9AD-30EF56F3B00C}">
      <dgm:prSet/>
      <dgm:spPr/>
      <dgm:t>
        <a:bodyPr/>
        <a:lstStyle/>
        <a:p>
          <a:endParaRPr lang="en-US"/>
        </a:p>
      </dgm:t>
    </dgm:pt>
    <dgm:pt modelId="{C1A41779-6730-44F9-A863-E723FEFFD6CC}" type="sibTrans" cxnId="{9D052EB9-3F95-44FE-B9AD-30EF56F3B00C}">
      <dgm:prSet/>
      <dgm:spPr/>
      <dgm:t>
        <a:bodyPr/>
        <a:lstStyle/>
        <a:p>
          <a:endParaRPr lang="en-US"/>
        </a:p>
      </dgm:t>
    </dgm:pt>
    <dgm:pt modelId="{D94E3F1B-5CDE-4305-BDB3-FC4D23059EFA}">
      <dgm:prSet phldrT="[Text]" custT="1"/>
      <dgm:spPr>
        <a:solidFill>
          <a:srgbClr val="0097A9"/>
        </a:solidFill>
      </dgm:spPr>
      <dgm:t>
        <a:bodyPr/>
        <a:lstStyle/>
        <a:p>
          <a:r>
            <a:rPr lang="en-US" sz="1000" dirty="0"/>
            <a:t>Quantum of Energy</a:t>
          </a:r>
        </a:p>
      </dgm:t>
    </dgm:pt>
    <dgm:pt modelId="{E96AFD5D-A6FB-42A3-962F-A79BF880AE0D}" type="parTrans" cxnId="{C8F69B52-69B8-401A-A458-148357CCD374}">
      <dgm:prSet/>
      <dgm:spPr/>
      <dgm:t>
        <a:bodyPr/>
        <a:lstStyle/>
        <a:p>
          <a:endParaRPr lang="en-US"/>
        </a:p>
      </dgm:t>
    </dgm:pt>
    <dgm:pt modelId="{31A0334F-59B6-4485-9AC1-75CD054E836C}" type="sibTrans" cxnId="{C8F69B52-69B8-401A-A458-148357CCD374}">
      <dgm:prSet/>
      <dgm:spPr/>
      <dgm:t>
        <a:bodyPr/>
        <a:lstStyle/>
        <a:p>
          <a:endParaRPr lang="en-US"/>
        </a:p>
      </dgm:t>
    </dgm:pt>
    <dgm:pt modelId="{DED945C7-10F1-4B7F-B355-F979F01F87FC}">
      <dgm:prSet phldrT="[Text]" custT="1"/>
      <dgm:spPr>
        <a:solidFill>
          <a:srgbClr val="0097A9"/>
        </a:solidFill>
      </dgm:spPr>
      <dgm:t>
        <a:bodyPr/>
        <a:lstStyle/>
        <a:p>
          <a:r>
            <a:rPr lang="en-US" sz="1000" dirty="0"/>
            <a:t>Dependency on Network</a:t>
          </a:r>
        </a:p>
      </dgm:t>
    </dgm:pt>
    <dgm:pt modelId="{47F8D257-C666-44D8-BD9E-2326BE5692FF}" type="parTrans" cxnId="{AC754F56-6C75-4750-9977-3240865212EC}">
      <dgm:prSet/>
      <dgm:spPr/>
      <dgm:t>
        <a:bodyPr/>
        <a:lstStyle/>
        <a:p>
          <a:endParaRPr lang="en-US"/>
        </a:p>
      </dgm:t>
    </dgm:pt>
    <dgm:pt modelId="{EB23DA8D-A56B-4467-B6D7-B6C41C1364C4}" type="sibTrans" cxnId="{AC754F56-6C75-4750-9977-3240865212EC}">
      <dgm:prSet/>
      <dgm:spPr/>
      <dgm:t>
        <a:bodyPr/>
        <a:lstStyle/>
        <a:p>
          <a:endParaRPr lang="en-US"/>
        </a:p>
      </dgm:t>
    </dgm:pt>
    <dgm:pt modelId="{45C1D72D-D007-4D8A-B987-8AB330A3D5E7}">
      <dgm:prSet phldrT="[Text]" custT="1"/>
      <dgm:spPr/>
      <dgm:t>
        <a:bodyPr/>
        <a:lstStyle/>
        <a:p>
          <a:pPr algn="l"/>
          <a:r>
            <a:rPr lang="en-US" sz="1200" dirty="0"/>
            <a:t>Gap Assessment based on Power Demand and Supply</a:t>
          </a:r>
        </a:p>
      </dgm:t>
    </dgm:pt>
    <dgm:pt modelId="{E68A7F8F-C601-4A8E-9ED5-D4CFC02945AC}" type="parTrans" cxnId="{D87712C7-01B5-4E1F-93EC-A45E4ABBC6F5}">
      <dgm:prSet/>
      <dgm:spPr/>
      <dgm:t>
        <a:bodyPr/>
        <a:lstStyle/>
        <a:p>
          <a:endParaRPr lang="en-US"/>
        </a:p>
      </dgm:t>
    </dgm:pt>
    <dgm:pt modelId="{93897DBC-C1A5-4395-9464-848A2088FB97}" type="sibTrans" cxnId="{D87712C7-01B5-4E1F-93EC-A45E4ABBC6F5}">
      <dgm:prSet/>
      <dgm:spPr/>
      <dgm:t>
        <a:bodyPr/>
        <a:lstStyle/>
        <a:p>
          <a:endParaRPr lang="en-US"/>
        </a:p>
      </dgm:t>
    </dgm:pt>
    <dgm:pt modelId="{E203AC57-443C-4137-B016-F0951E047097}">
      <dgm:prSet phldrT="[Text]" custT="1"/>
      <dgm:spPr>
        <a:solidFill>
          <a:schemeClr val="accent5">
            <a:lumMod val="75000"/>
          </a:schemeClr>
        </a:solidFill>
      </dgm:spPr>
      <dgm:t>
        <a:bodyPr/>
        <a:lstStyle/>
        <a:p>
          <a:pPr algn="l"/>
          <a:r>
            <a:rPr lang="en-US" sz="1100" dirty="0"/>
            <a:t>MOP guideline for exit of PPA</a:t>
          </a:r>
        </a:p>
      </dgm:t>
    </dgm:pt>
    <dgm:pt modelId="{EAE47AD0-D6F4-4796-819D-BA00E1B36E17}" type="parTrans" cxnId="{D6CFF2F8-FE62-4E79-8199-E55D3C185398}">
      <dgm:prSet/>
      <dgm:spPr/>
      <dgm:t>
        <a:bodyPr/>
        <a:lstStyle/>
        <a:p>
          <a:endParaRPr lang="en-US"/>
        </a:p>
      </dgm:t>
    </dgm:pt>
    <dgm:pt modelId="{7B714CD7-8890-45AD-989F-0067325C730F}" type="sibTrans" cxnId="{D6CFF2F8-FE62-4E79-8199-E55D3C185398}">
      <dgm:prSet/>
      <dgm:spPr/>
      <dgm:t>
        <a:bodyPr/>
        <a:lstStyle/>
        <a:p>
          <a:endParaRPr lang="en-US"/>
        </a:p>
      </dgm:t>
    </dgm:pt>
    <dgm:pt modelId="{3C23CA36-C646-4492-8541-688CA84789A6}">
      <dgm:prSet phldrT="[Text]" custT="1"/>
      <dgm:spPr>
        <a:solidFill>
          <a:schemeClr val="accent5">
            <a:lumMod val="75000"/>
          </a:schemeClr>
        </a:solidFill>
      </dgm:spPr>
      <dgm:t>
        <a:bodyPr/>
        <a:lstStyle/>
        <a:p>
          <a:pPr algn="l"/>
          <a:r>
            <a:rPr lang="en-US" sz="1100" dirty="0"/>
            <a:t>CERC Orders on PPA Exit  </a:t>
          </a:r>
        </a:p>
      </dgm:t>
    </dgm:pt>
    <dgm:pt modelId="{77BA4E43-41A3-48A5-9598-29A01A30912B}" type="parTrans" cxnId="{78C943DE-39CB-4AAD-8C27-2334C7BE0303}">
      <dgm:prSet/>
      <dgm:spPr/>
      <dgm:t>
        <a:bodyPr/>
        <a:lstStyle/>
        <a:p>
          <a:endParaRPr lang="en-US"/>
        </a:p>
      </dgm:t>
    </dgm:pt>
    <dgm:pt modelId="{7B8F587A-8166-46E0-A3F2-5BEAD667CD65}" type="sibTrans" cxnId="{78C943DE-39CB-4AAD-8C27-2334C7BE0303}">
      <dgm:prSet/>
      <dgm:spPr/>
      <dgm:t>
        <a:bodyPr/>
        <a:lstStyle/>
        <a:p>
          <a:endParaRPr lang="en-US"/>
        </a:p>
      </dgm:t>
    </dgm:pt>
    <dgm:pt modelId="{EA6547F3-BCE3-47EA-803C-E097943687FB}">
      <dgm:prSet phldrT="[Text]" custT="1"/>
      <dgm:spPr>
        <a:solidFill>
          <a:srgbClr val="046A38"/>
        </a:solidFill>
      </dgm:spPr>
      <dgm:t>
        <a:bodyPr/>
        <a:lstStyle/>
        <a:p>
          <a:pPr algn="l"/>
          <a:r>
            <a:rPr lang="en-US" sz="1100" dirty="0"/>
            <a:t>Bilateral Negotiation with revised terms and condition with GENCOs</a:t>
          </a:r>
        </a:p>
      </dgm:t>
    </dgm:pt>
    <dgm:pt modelId="{A614E3E5-B28D-42FA-B71D-7C3D9A6DF0B5}" type="parTrans" cxnId="{0FD09559-8C61-4353-887E-532FFB154029}">
      <dgm:prSet/>
      <dgm:spPr/>
      <dgm:t>
        <a:bodyPr/>
        <a:lstStyle/>
        <a:p>
          <a:endParaRPr lang="en-US"/>
        </a:p>
      </dgm:t>
    </dgm:pt>
    <dgm:pt modelId="{1E8C7357-9DDE-4AB0-9B3D-B97E2009D229}" type="sibTrans" cxnId="{0FD09559-8C61-4353-887E-532FFB154029}">
      <dgm:prSet/>
      <dgm:spPr/>
      <dgm:t>
        <a:bodyPr/>
        <a:lstStyle/>
        <a:p>
          <a:endParaRPr lang="en-US"/>
        </a:p>
      </dgm:t>
    </dgm:pt>
    <dgm:pt modelId="{D29C196E-8E3C-4BB4-B528-44B8A53ADBC5}">
      <dgm:prSet phldrT="[Text]" custT="1"/>
      <dgm:spPr>
        <a:solidFill>
          <a:srgbClr val="007680"/>
        </a:solidFill>
      </dgm:spPr>
      <dgm:t>
        <a:bodyPr/>
        <a:lstStyle/>
        <a:p>
          <a:pPr algn="l"/>
          <a:r>
            <a:rPr lang="en-US" sz="1100" dirty="0"/>
            <a:t>PPA Termination Petition to WBERC  </a:t>
          </a:r>
        </a:p>
      </dgm:t>
    </dgm:pt>
    <dgm:pt modelId="{C854AF71-2777-435B-AE90-C4FE7ED61EF4}" type="parTrans" cxnId="{3DFAD7D5-E914-4901-B448-46EBE8970277}">
      <dgm:prSet/>
      <dgm:spPr/>
      <dgm:t>
        <a:bodyPr/>
        <a:lstStyle/>
        <a:p>
          <a:endParaRPr lang="en-US"/>
        </a:p>
      </dgm:t>
    </dgm:pt>
    <dgm:pt modelId="{C67FA3F3-652E-4293-A284-F680CF4971FE}" type="sibTrans" cxnId="{3DFAD7D5-E914-4901-B448-46EBE8970277}">
      <dgm:prSet/>
      <dgm:spPr/>
      <dgm:t>
        <a:bodyPr/>
        <a:lstStyle/>
        <a:p>
          <a:endParaRPr lang="en-US"/>
        </a:p>
      </dgm:t>
    </dgm:pt>
    <dgm:pt modelId="{D5DBDF51-24E3-48CD-AAD4-5856CE6FE342}">
      <dgm:prSet phldrT="[Text]" custT="1"/>
      <dgm:spPr>
        <a:solidFill>
          <a:srgbClr val="0076A8"/>
        </a:solidFill>
      </dgm:spPr>
      <dgm:t>
        <a:bodyPr/>
        <a:lstStyle/>
        <a:p>
          <a:pPr algn="just"/>
          <a:r>
            <a:rPr lang="en-US" sz="1100" dirty="0"/>
            <a:t>Seasonal consumer demand assessment for different categories </a:t>
          </a:r>
        </a:p>
      </dgm:t>
    </dgm:pt>
    <dgm:pt modelId="{12D913BB-6AFF-42DD-A2FA-9ECD0B07705B}" type="parTrans" cxnId="{D8D0D2EA-83E5-4AF6-B7EC-B131C1FCDC71}">
      <dgm:prSet/>
      <dgm:spPr/>
      <dgm:t>
        <a:bodyPr/>
        <a:lstStyle/>
        <a:p>
          <a:endParaRPr lang="en-US"/>
        </a:p>
      </dgm:t>
    </dgm:pt>
    <dgm:pt modelId="{D20623C0-BC47-494E-BA99-2FE97C7D513E}" type="sibTrans" cxnId="{D8D0D2EA-83E5-4AF6-B7EC-B131C1FCDC71}">
      <dgm:prSet/>
      <dgm:spPr/>
      <dgm:t>
        <a:bodyPr/>
        <a:lstStyle/>
        <a:p>
          <a:endParaRPr lang="en-US"/>
        </a:p>
      </dgm:t>
    </dgm:pt>
    <dgm:pt modelId="{DD2B062B-A243-434A-A155-665341098011}">
      <dgm:prSet phldrT="[Text]" custT="1"/>
      <dgm:spPr>
        <a:solidFill>
          <a:srgbClr val="0076A8"/>
        </a:solidFill>
      </dgm:spPr>
      <dgm:t>
        <a:bodyPr/>
        <a:lstStyle/>
        <a:p>
          <a:pPr algn="just"/>
          <a:r>
            <a:rPr lang="en-US" sz="1100" dirty="0"/>
            <a:t>Additional Power demand growth drivers – Industrial Park, SEZ, Real Estate, Commercial etc </a:t>
          </a:r>
        </a:p>
      </dgm:t>
    </dgm:pt>
    <dgm:pt modelId="{8650A8B5-903D-44BB-91AA-B497299C98C8}" type="parTrans" cxnId="{7A4B5651-61F2-4F62-A26F-609232F69086}">
      <dgm:prSet/>
      <dgm:spPr/>
      <dgm:t>
        <a:bodyPr/>
        <a:lstStyle/>
        <a:p>
          <a:endParaRPr lang="en-US"/>
        </a:p>
      </dgm:t>
    </dgm:pt>
    <dgm:pt modelId="{E1D22C0A-202A-4C0A-8E7B-CA6A62CC5665}" type="sibTrans" cxnId="{7A4B5651-61F2-4F62-A26F-609232F69086}">
      <dgm:prSet/>
      <dgm:spPr/>
      <dgm:t>
        <a:bodyPr/>
        <a:lstStyle/>
        <a:p>
          <a:endParaRPr lang="en-US"/>
        </a:p>
      </dgm:t>
    </dgm:pt>
    <dgm:pt modelId="{4A4FC72B-A31C-4FE2-8544-CB4CCD218D1B}">
      <dgm:prSet phldrT="[Text]" custT="1"/>
      <dgm:spPr>
        <a:solidFill>
          <a:srgbClr val="009A44"/>
        </a:solidFill>
      </dgm:spPr>
      <dgm:t>
        <a:bodyPr/>
        <a:lstStyle/>
        <a:p>
          <a:pPr algn="l"/>
          <a:r>
            <a:rPr lang="en-US" sz="1100" dirty="0"/>
            <a:t>Seasonal Peak Demand Analysis</a:t>
          </a:r>
        </a:p>
      </dgm:t>
    </dgm:pt>
    <dgm:pt modelId="{44AE67EE-64AF-45D9-8221-C7B160E7CCAB}" type="parTrans" cxnId="{3DF1162F-31EC-415E-9FEC-4B6D7E1DAC08}">
      <dgm:prSet/>
      <dgm:spPr/>
      <dgm:t>
        <a:bodyPr/>
        <a:lstStyle/>
        <a:p>
          <a:endParaRPr lang="en-US"/>
        </a:p>
      </dgm:t>
    </dgm:pt>
    <dgm:pt modelId="{6452EA0C-7680-4D69-9735-9CD89FBA3860}" type="sibTrans" cxnId="{3DF1162F-31EC-415E-9FEC-4B6D7E1DAC08}">
      <dgm:prSet/>
      <dgm:spPr/>
      <dgm:t>
        <a:bodyPr/>
        <a:lstStyle/>
        <a:p>
          <a:endParaRPr lang="en-US"/>
        </a:p>
      </dgm:t>
    </dgm:pt>
    <dgm:pt modelId="{CB1EC1B1-84B1-4834-AF64-6D5EFE96EEF5}">
      <dgm:prSet phldrT="[Text]" custT="1"/>
      <dgm:spPr>
        <a:solidFill>
          <a:srgbClr val="0076A8"/>
        </a:solidFill>
      </dgm:spPr>
      <dgm:t>
        <a:bodyPr/>
        <a:lstStyle/>
        <a:p>
          <a:pPr algn="just"/>
          <a:r>
            <a:rPr lang="en-US" sz="1100" dirty="0"/>
            <a:t>EV demand Impact Assessment </a:t>
          </a:r>
        </a:p>
      </dgm:t>
    </dgm:pt>
    <dgm:pt modelId="{2E92189C-80E3-46E2-B9F0-9A3FDEDA05E7}" type="parTrans" cxnId="{FBB5AA41-4EE0-4B2B-AC13-F6B3ED1F3534}">
      <dgm:prSet/>
      <dgm:spPr/>
      <dgm:t>
        <a:bodyPr/>
        <a:lstStyle/>
        <a:p>
          <a:endParaRPr lang="en-US"/>
        </a:p>
      </dgm:t>
    </dgm:pt>
    <dgm:pt modelId="{53617641-FBDE-46B7-AC7E-B4B7CD9288AB}" type="sibTrans" cxnId="{FBB5AA41-4EE0-4B2B-AC13-F6B3ED1F3534}">
      <dgm:prSet/>
      <dgm:spPr/>
      <dgm:t>
        <a:bodyPr/>
        <a:lstStyle/>
        <a:p>
          <a:endParaRPr lang="en-US"/>
        </a:p>
      </dgm:t>
    </dgm:pt>
    <dgm:pt modelId="{2F8CFAEA-86CE-40D1-99D0-13087588FEDE}">
      <dgm:prSet phldrT="[Text]" custT="1"/>
      <dgm:spPr>
        <a:solidFill>
          <a:srgbClr val="007680"/>
        </a:solidFill>
      </dgm:spPr>
      <dgm:t>
        <a:bodyPr/>
        <a:lstStyle/>
        <a:p>
          <a:pPr algn="ctr"/>
          <a:r>
            <a:rPr lang="en-US" sz="1100" b="1" dirty="0"/>
            <a:t>Decision Points </a:t>
          </a:r>
          <a:r>
            <a:rPr lang="en-US" sz="1100" b="1" baseline="0" dirty="0"/>
            <a:t> </a:t>
          </a:r>
          <a:endParaRPr lang="en-US" sz="1100" b="1" dirty="0"/>
        </a:p>
      </dgm:t>
    </dgm:pt>
    <dgm:pt modelId="{50B85A1B-E799-4DE6-A629-C36B19942322}" type="parTrans" cxnId="{08A5CA07-9BA8-4F83-A882-63622A728661}">
      <dgm:prSet/>
      <dgm:spPr/>
      <dgm:t>
        <a:bodyPr/>
        <a:lstStyle/>
        <a:p>
          <a:endParaRPr lang="en-US"/>
        </a:p>
      </dgm:t>
    </dgm:pt>
    <dgm:pt modelId="{831F2C79-EEB6-49A7-A6B4-7BA08FF6DA4B}" type="sibTrans" cxnId="{08A5CA07-9BA8-4F83-A882-63622A728661}">
      <dgm:prSet/>
      <dgm:spPr/>
      <dgm:t>
        <a:bodyPr/>
        <a:lstStyle/>
        <a:p>
          <a:endParaRPr lang="en-US"/>
        </a:p>
      </dgm:t>
    </dgm:pt>
    <dgm:pt modelId="{FDE36D1D-E3FE-4336-89A8-B75FAC97757F}">
      <dgm:prSet phldrT="[Text]" custT="1"/>
      <dgm:spPr>
        <a:solidFill>
          <a:srgbClr val="007680"/>
        </a:solidFill>
      </dgm:spPr>
      <dgm:t>
        <a:bodyPr/>
        <a:lstStyle/>
        <a:p>
          <a:pPr algn="l"/>
          <a:r>
            <a:rPr lang="en-US" sz="1100" dirty="0"/>
            <a:t>Utility Wise Power Availability  Assessment – Central, State &amp; Private GENCOs</a:t>
          </a:r>
        </a:p>
      </dgm:t>
    </dgm:pt>
    <dgm:pt modelId="{1F25C38D-EC72-4229-BFB4-99A6C3EA20DA}" type="parTrans" cxnId="{E84FD26C-D0C6-4252-A921-6197D72B43EC}">
      <dgm:prSet/>
      <dgm:spPr/>
      <dgm:t>
        <a:bodyPr/>
        <a:lstStyle/>
        <a:p>
          <a:endParaRPr lang="en-US"/>
        </a:p>
      </dgm:t>
    </dgm:pt>
    <dgm:pt modelId="{D872D676-5F71-4857-AA83-4C6CE70AD20D}" type="sibTrans" cxnId="{E84FD26C-D0C6-4252-A921-6197D72B43EC}">
      <dgm:prSet/>
      <dgm:spPr/>
      <dgm:t>
        <a:bodyPr/>
        <a:lstStyle/>
        <a:p>
          <a:endParaRPr lang="en-US"/>
        </a:p>
      </dgm:t>
    </dgm:pt>
    <dgm:pt modelId="{ADB37457-F084-495D-B7CB-E6DE7E0271C1}">
      <dgm:prSet phldrT="[Text]" custT="1"/>
      <dgm:spPr>
        <a:solidFill>
          <a:srgbClr val="007680"/>
        </a:solidFill>
      </dgm:spPr>
      <dgm:t>
        <a:bodyPr/>
        <a:lstStyle/>
        <a:p>
          <a:pPr algn="l"/>
          <a:r>
            <a:rPr lang="en-US" sz="1100" dirty="0"/>
            <a:t>Source Wise Power Availability assessment – Thermal, RE, Hydro etc</a:t>
          </a:r>
        </a:p>
      </dgm:t>
    </dgm:pt>
    <dgm:pt modelId="{8EECF349-8637-4526-AA18-5FFDBAADED08}" type="parTrans" cxnId="{C05C2855-CCC6-40C3-A064-3FCAC40CEF06}">
      <dgm:prSet/>
      <dgm:spPr/>
      <dgm:t>
        <a:bodyPr/>
        <a:lstStyle/>
        <a:p>
          <a:endParaRPr lang="en-US"/>
        </a:p>
      </dgm:t>
    </dgm:pt>
    <dgm:pt modelId="{23725AFE-1C34-4CE7-AB6E-0E77D8A9DA55}" type="sibTrans" cxnId="{C05C2855-CCC6-40C3-A064-3FCAC40CEF06}">
      <dgm:prSet/>
      <dgm:spPr/>
      <dgm:t>
        <a:bodyPr/>
        <a:lstStyle/>
        <a:p>
          <a:endParaRPr lang="en-US"/>
        </a:p>
      </dgm:t>
    </dgm:pt>
    <dgm:pt modelId="{2370C19B-BCF7-45BA-8800-2FB97829B0C5}">
      <dgm:prSet phldrT="[Text]" custT="1"/>
      <dgm:spPr>
        <a:solidFill>
          <a:srgbClr val="007680"/>
        </a:solidFill>
      </dgm:spPr>
      <dgm:t>
        <a:bodyPr/>
        <a:lstStyle/>
        <a:p>
          <a:pPr algn="l"/>
          <a:r>
            <a:rPr lang="en-US" sz="1100" dirty="0"/>
            <a:t>Short Term availability through Power Exchange and other Bilateral Platforms </a:t>
          </a:r>
        </a:p>
      </dgm:t>
    </dgm:pt>
    <dgm:pt modelId="{5B44EFFE-9E55-4B4B-A56F-78A5695BC2C7}" type="parTrans" cxnId="{87DD84D9-40A1-4000-9DEF-D53B3061E4AB}">
      <dgm:prSet/>
      <dgm:spPr/>
      <dgm:t>
        <a:bodyPr/>
        <a:lstStyle/>
        <a:p>
          <a:endParaRPr lang="en-US"/>
        </a:p>
      </dgm:t>
    </dgm:pt>
    <dgm:pt modelId="{3C4E3990-EF4A-4D0B-88A8-70A089DB3EFC}" type="sibTrans" cxnId="{87DD84D9-40A1-4000-9DEF-D53B3061E4AB}">
      <dgm:prSet/>
      <dgm:spPr/>
      <dgm:t>
        <a:bodyPr/>
        <a:lstStyle/>
        <a:p>
          <a:endParaRPr lang="en-US"/>
        </a:p>
      </dgm:t>
    </dgm:pt>
    <dgm:pt modelId="{2BB9A52E-4733-48B7-BC7B-4A001F8040E0}">
      <dgm:prSet phldrT="[Text]" custT="1"/>
      <dgm:spPr>
        <a:solidFill>
          <a:srgbClr val="007680"/>
        </a:solidFill>
      </dgm:spPr>
      <dgm:t>
        <a:bodyPr/>
        <a:lstStyle/>
        <a:p>
          <a:pPr algn="l"/>
          <a:r>
            <a:rPr lang="en-US" sz="1100" dirty="0"/>
            <a:t>Notice to GENCO for Termination</a:t>
          </a:r>
        </a:p>
      </dgm:t>
    </dgm:pt>
    <dgm:pt modelId="{BFE9A5E9-7494-4B8C-83EC-430A499B183A}" type="parTrans" cxnId="{72130F4B-F0C2-4DC0-B24A-95B9E8951D1A}">
      <dgm:prSet/>
      <dgm:spPr/>
      <dgm:t>
        <a:bodyPr/>
        <a:lstStyle/>
        <a:p>
          <a:endParaRPr lang="en-US"/>
        </a:p>
      </dgm:t>
    </dgm:pt>
    <dgm:pt modelId="{C9581126-7C8C-4D58-9CD5-7305944746E2}" type="sibTrans" cxnId="{72130F4B-F0C2-4DC0-B24A-95B9E8951D1A}">
      <dgm:prSet/>
      <dgm:spPr/>
      <dgm:t>
        <a:bodyPr/>
        <a:lstStyle/>
        <a:p>
          <a:endParaRPr lang="en-US"/>
        </a:p>
      </dgm:t>
    </dgm:pt>
    <dgm:pt modelId="{07B57336-04E1-45D5-855A-401D0A92D692}">
      <dgm:prSet phldrT="[Text]" custT="1"/>
      <dgm:spPr>
        <a:solidFill>
          <a:srgbClr val="0097A9"/>
        </a:solidFill>
      </dgm:spPr>
      <dgm:t>
        <a:bodyPr/>
        <a:lstStyle/>
        <a:p>
          <a:r>
            <a:rPr lang="en-US" sz="1000" dirty="0"/>
            <a:t>PPA Tenure &gt; 25 Years  </a:t>
          </a:r>
        </a:p>
      </dgm:t>
    </dgm:pt>
    <dgm:pt modelId="{93259101-72AB-4DEB-93F0-D09E9802D085}" type="parTrans" cxnId="{6A687EE0-C76E-42DE-85EE-CC0C4F6BECC4}">
      <dgm:prSet/>
      <dgm:spPr/>
      <dgm:t>
        <a:bodyPr/>
        <a:lstStyle/>
        <a:p>
          <a:endParaRPr lang="en-US"/>
        </a:p>
      </dgm:t>
    </dgm:pt>
    <dgm:pt modelId="{D8D2E43C-D3F7-4CB9-9C20-C8CECF3DC61C}" type="sibTrans" cxnId="{6A687EE0-C76E-42DE-85EE-CC0C4F6BECC4}">
      <dgm:prSet/>
      <dgm:spPr/>
      <dgm:t>
        <a:bodyPr/>
        <a:lstStyle/>
        <a:p>
          <a:endParaRPr lang="en-US"/>
        </a:p>
      </dgm:t>
    </dgm:pt>
    <dgm:pt modelId="{65C3E87E-7EB0-4E84-AC5A-2E277DF6AD6B}">
      <dgm:prSet phldrT="[Text]" custT="1"/>
      <dgm:spPr>
        <a:noFill/>
        <a:ln>
          <a:noFill/>
        </a:ln>
      </dgm:spPr>
      <dgm:t>
        <a:bodyPr/>
        <a:lstStyle/>
        <a:p>
          <a:r>
            <a:rPr lang="en-US" sz="1200" dirty="0"/>
            <a:t>  </a:t>
          </a:r>
        </a:p>
      </dgm:t>
    </dgm:pt>
    <dgm:pt modelId="{08FF1EF7-8159-4321-80C0-DB561ECA8849}" type="parTrans" cxnId="{4DFE088B-E3F5-4B09-95B4-C25D240F978A}">
      <dgm:prSet/>
      <dgm:spPr/>
      <dgm:t>
        <a:bodyPr/>
        <a:lstStyle/>
        <a:p>
          <a:endParaRPr lang="en-US"/>
        </a:p>
      </dgm:t>
    </dgm:pt>
    <dgm:pt modelId="{54325A2E-CD28-4DA9-9CFC-E24973E6E5C5}" type="sibTrans" cxnId="{4DFE088B-E3F5-4B09-95B4-C25D240F978A}">
      <dgm:prSet/>
      <dgm:spPr>
        <a:noFill/>
      </dgm:spPr>
      <dgm:t>
        <a:bodyPr/>
        <a:lstStyle/>
        <a:p>
          <a:endParaRPr lang="en-US"/>
        </a:p>
      </dgm:t>
    </dgm:pt>
    <dgm:pt modelId="{1D21593E-E4DA-4778-B7B4-7026129222E7}">
      <dgm:prSet phldrT="[Text]" custT="1"/>
      <dgm:spPr>
        <a:noFill/>
        <a:ln>
          <a:noFill/>
        </a:ln>
      </dgm:spPr>
      <dgm:t>
        <a:bodyPr/>
        <a:lstStyle/>
        <a:p>
          <a:endParaRPr lang="en-US" sz="1200" dirty="0"/>
        </a:p>
      </dgm:t>
    </dgm:pt>
    <dgm:pt modelId="{620DEA19-7E8F-447B-BA70-90AD8503544E}" type="sibTrans" cxnId="{E9ECDB9C-E710-4F7A-B46C-BD213BAE4B4D}">
      <dgm:prSet/>
      <dgm:spPr>
        <a:noFill/>
      </dgm:spPr>
      <dgm:t>
        <a:bodyPr/>
        <a:lstStyle/>
        <a:p>
          <a:endParaRPr lang="en-US"/>
        </a:p>
      </dgm:t>
    </dgm:pt>
    <dgm:pt modelId="{DA7BB20C-EC74-484C-9789-F40D556C92B0}" type="parTrans" cxnId="{E9ECDB9C-E710-4F7A-B46C-BD213BAE4B4D}">
      <dgm:prSet/>
      <dgm:spPr/>
      <dgm:t>
        <a:bodyPr/>
        <a:lstStyle/>
        <a:p>
          <a:endParaRPr lang="en-US"/>
        </a:p>
      </dgm:t>
    </dgm:pt>
    <dgm:pt modelId="{E8FB273A-60A8-4A2C-95A2-B32A0D068C9D}">
      <dgm:prSet phldrT="[Text]" custT="1"/>
      <dgm:spPr>
        <a:solidFill>
          <a:srgbClr val="0097A9"/>
        </a:solidFill>
      </dgm:spPr>
      <dgm:t>
        <a:bodyPr/>
        <a:lstStyle/>
        <a:p>
          <a:r>
            <a:rPr lang="en-US" sz="1000" dirty="0"/>
            <a:t>Future REW Integration requirements (Ramp up, System Margin)</a:t>
          </a:r>
        </a:p>
      </dgm:t>
    </dgm:pt>
    <dgm:pt modelId="{A9D45B79-953E-474D-9C1B-1544CF3856DB}" type="parTrans" cxnId="{23B07BD3-ED71-4788-ABB8-5D327C8AE29B}">
      <dgm:prSet/>
      <dgm:spPr/>
      <dgm:t>
        <a:bodyPr/>
        <a:lstStyle/>
        <a:p>
          <a:endParaRPr lang="en-US"/>
        </a:p>
      </dgm:t>
    </dgm:pt>
    <dgm:pt modelId="{DBCFEC0D-88DA-4A4F-B5BA-46317F1EA897}" type="sibTrans" cxnId="{23B07BD3-ED71-4788-ABB8-5D327C8AE29B}">
      <dgm:prSet/>
      <dgm:spPr/>
      <dgm:t>
        <a:bodyPr/>
        <a:lstStyle/>
        <a:p>
          <a:endParaRPr lang="en-US"/>
        </a:p>
      </dgm:t>
    </dgm:pt>
    <dgm:pt modelId="{1DAD7954-98E5-4530-BC44-29BF5BC46F35}" type="pres">
      <dgm:prSet presAssocID="{253EE6CD-43A6-4500-ACCC-FB9B6DC7488E}" presName="diagram" presStyleCnt="0">
        <dgm:presLayoutVars>
          <dgm:dir/>
          <dgm:resizeHandles val="exact"/>
        </dgm:presLayoutVars>
      </dgm:prSet>
      <dgm:spPr/>
    </dgm:pt>
    <dgm:pt modelId="{8CDEFA49-E519-41FD-913F-F03726B20366}" type="pres">
      <dgm:prSet presAssocID="{D5DA5B8E-AD64-4BDF-93F9-1A3DF1BB5E28}" presName="node" presStyleLbl="node1" presStyleIdx="0" presStyleCnt="12" custScaleX="247713" custScaleY="235234" custLinFactNeighborX="6267" custLinFactNeighborY="-8893">
        <dgm:presLayoutVars>
          <dgm:bulletEnabled val="1"/>
        </dgm:presLayoutVars>
      </dgm:prSet>
      <dgm:spPr/>
    </dgm:pt>
    <dgm:pt modelId="{1307BEFB-A66D-448C-A7EC-8AD24638FF7E}" type="pres">
      <dgm:prSet presAssocID="{CF0EA060-6F5A-475B-98B3-8B3EFD37B4E1}" presName="sibTrans" presStyleLbl="sibTrans2D1" presStyleIdx="0" presStyleCnt="11" custAng="21594209" custScaleX="165406" custScaleY="102948" custLinFactNeighborX="13417" custLinFactNeighborY="-50351"/>
      <dgm:spPr/>
    </dgm:pt>
    <dgm:pt modelId="{73FD6D17-CEDB-4705-B1AE-5D353CC225C4}" type="pres">
      <dgm:prSet presAssocID="{CF0EA060-6F5A-475B-98B3-8B3EFD37B4E1}" presName="connectorText" presStyleLbl="sibTrans2D1" presStyleIdx="0" presStyleCnt="11"/>
      <dgm:spPr/>
    </dgm:pt>
    <dgm:pt modelId="{D8513727-FFD1-4C89-8CEB-75B71B759A52}" type="pres">
      <dgm:prSet presAssocID="{C3BCD781-8BBA-49A4-B34C-9ACE85EE4254}" presName="node" presStyleLbl="node1" presStyleIdx="1" presStyleCnt="12" custScaleX="199431" custScaleY="209800" custLinFactNeighborX="-3334" custLinFactNeighborY="-8060">
        <dgm:presLayoutVars>
          <dgm:bulletEnabled val="1"/>
        </dgm:presLayoutVars>
      </dgm:prSet>
      <dgm:spPr/>
    </dgm:pt>
    <dgm:pt modelId="{4A14B3CF-E6D1-4783-A61F-96F2676D1790}" type="pres">
      <dgm:prSet presAssocID="{756F30DD-07C2-4914-B482-3ACDF62C7E62}" presName="sibTrans" presStyleLbl="sibTrans2D1" presStyleIdx="1" presStyleCnt="11" custAng="21580684" custScaleX="134183" custScaleY="94041" custLinFactNeighborX="4887" custLinFactNeighborY="-37366"/>
      <dgm:spPr/>
    </dgm:pt>
    <dgm:pt modelId="{FA77DC0D-8E5A-4CE4-93B5-68F5FA178F1D}" type="pres">
      <dgm:prSet presAssocID="{756F30DD-07C2-4914-B482-3ACDF62C7E62}" presName="connectorText" presStyleLbl="sibTrans2D1" presStyleIdx="1" presStyleCnt="11"/>
      <dgm:spPr/>
    </dgm:pt>
    <dgm:pt modelId="{924B314A-07D5-4046-BB3A-8978FFF6BBC0}" type="pres">
      <dgm:prSet presAssocID="{CDA213F3-0D4F-4727-B6D5-A49D15E7CBF7}" presName="node" presStyleLbl="node1" presStyleIdx="2" presStyleCnt="12" custScaleX="260214" custScaleY="230224" custLinFactNeighborX="-7825" custLinFactNeighborY="-12228">
        <dgm:presLayoutVars>
          <dgm:bulletEnabled val="1"/>
        </dgm:presLayoutVars>
      </dgm:prSet>
      <dgm:spPr/>
    </dgm:pt>
    <dgm:pt modelId="{72908EF8-B364-431E-978B-83770DD08793}" type="pres">
      <dgm:prSet presAssocID="{2D70D953-C1DE-4D60-B53D-6CB78A0E30D6}" presName="sibTrans" presStyleLbl="sibTrans2D1" presStyleIdx="2" presStyleCnt="11" custAng="342289" custLinFactNeighborX="-8813" custLinFactNeighborY="-21372"/>
      <dgm:spPr/>
    </dgm:pt>
    <dgm:pt modelId="{D3316DC7-4A6C-4216-A217-6F30F9FFC4BE}" type="pres">
      <dgm:prSet presAssocID="{2D70D953-C1DE-4D60-B53D-6CB78A0E30D6}" presName="connectorText" presStyleLbl="sibTrans2D1" presStyleIdx="2" presStyleCnt="11"/>
      <dgm:spPr/>
    </dgm:pt>
    <dgm:pt modelId="{B293559D-6945-4902-97A4-5D9221575E35}" type="pres">
      <dgm:prSet presAssocID="{DA017871-ED04-45E6-A2BB-0A9199FB92A7}" presName="node" presStyleLbl="node1" presStyleIdx="3" presStyleCnt="12" custScaleX="158651" custScaleY="163278" custLinFactNeighborX="-7062" custLinFactNeighborY="-40758">
        <dgm:presLayoutVars>
          <dgm:bulletEnabled val="1"/>
        </dgm:presLayoutVars>
      </dgm:prSet>
      <dgm:spPr/>
    </dgm:pt>
    <dgm:pt modelId="{EDC3D61E-E87A-4839-963F-9C0C154D3F4F}" type="pres">
      <dgm:prSet presAssocID="{99FEF920-59FF-4228-9958-25992FBFCB64}" presName="sibTrans" presStyleLbl="sibTrans2D1" presStyleIdx="3" presStyleCnt="11" custLinFactNeighborX="-2051" custLinFactNeighborY="-719"/>
      <dgm:spPr/>
    </dgm:pt>
    <dgm:pt modelId="{A17572C6-F70A-436B-A1D7-3A0636D412FD}" type="pres">
      <dgm:prSet presAssocID="{99FEF920-59FF-4228-9958-25992FBFCB64}" presName="connectorText" presStyleLbl="sibTrans2D1" presStyleIdx="3" presStyleCnt="11"/>
      <dgm:spPr/>
    </dgm:pt>
    <dgm:pt modelId="{664048F8-E304-488B-9668-B813944484C0}" type="pres">
      <dgm:prSet presAssocID="{8C6E1F90-D052-4E0E-A632-97B41D3B1072}" presName="node" presStyleLbl="node1" presStyleIdx="4" presStyleCnt="12" custScaleX="110220" custScaleY="241757" custLinFactNeighborX="-22160" custLinFactNeighborY="-81905">
        <dgm:presLayoutVars>
          <dgm:bulletEnabled val="1"/>
        </dgm:presLayoutVars>
      </dgm:prSet>
      <dgm:spPr/>
    </dgm:pt>
    <dgm:pt modelId="{3969676E-7B95-4525-8050-52C20DA16970}" type="pres">
      <dgm:prSet presAssocID="{682277EC-CC73-4B17-8AF8-4113A663CE8A}" presName="sibTrans" presStyleLbl="sibTrans2D1" presStyleIdx="4" presStyleCnt="11" custFlipVert="1" custScaleX="466872" custScaleY="190100" custLinFactX="-8538" custLinFactY="-170363" custLinFactNeighborX="-100000" custLinFactNeighborY="-200000"/>
      <dgm:spPr/>
    </dgm:pt>
    <dgm:pt modelId="{F12ADF00-8B59-40FE-BB0D-F6C423F7A2F8}" type="pres">
      <dgm:prSet presAssocID="{682277EC-CC73-4B17-8AF8-4113A663CE8A}" presName="connectorText" presStyleLbl="sibTrans2D1" presStyleIdx="4" presStyleCnt="11"/>
      <dgm:spPr/>
    </dgm:pt>
    <dgm:pt modelId="{611E9F35-5D83-418F-BA1D-5BB639BB6FAF}" type="pres">
      <dgm:prSet presAssocID="{1D21593E-E4DA-4778-B7B4-7026129222E7}" presName="node" presStyleLbl="node1" presStyleIdx="5" presStyleCnt="12" custScaleY="206975">
        <dgm:presLayoutVars>
          <dgm:bulletEnabled val="1"/>
        </dgm:presLayoutVars>
      </dgm:prSet>
      <dgm:spPr/>
    </dgm:pt>
    <dgm:pt modelId="{17E7198A-11CF-405A-ADE8-F09A10F53A3E}" type="pres">
      <dgm:prSet presAssocID="{620DEA19-7E8F-447B-BA70-90AD8503544E}" presName="sibTrans" presStyleLbl="sibTrans2D1" presStyleIdx="5" presStyleCnt="11"/>
      <dgm:spPr/>
    </dgm:pt>
    <dgm:pt modelId="{78AAD8FD-5159-40DF-A663-16D939CC55C4}" type="pres">
      <dgm:prSet presAssocID="{620DEA19-7E8F-447B-BA70-90AD8503544E}" presName="connectorText" presStyleLbl="sibTrans2D1" presStyleIdx="5" presStyleCnt="11"/>
      <dgm:spPr/>
    </dgm:pt>
    <dgm:pt modelId="{E724B4C3-6727-419D-A393-85AEF67CB49C}" type="pres">
      <dgm:prSet presAssocID="{65C3E87E-7EB0-4E84-AC5A-2E277DF6AD6B}" presName="node" presStyleLbl="node1" presStyleIdx="6" presStyleCnt="12" custScaleY="252363">
        <dgm:presLayoutVars>
          <dgm:bulletEnabled val="1"/>
        </dgm:presLayoutVars>
      </dgm:prSet>
      <dgm:spPr/>
    </dgm:pt>
    <dgm:pt modelId="{CE83ED77-746D-48D0-A285-495F3A8C50D6}" type="pres">
      <dgm:prSet presAssocID="{54325A2E-CD28-4DA9-9CFC-E24973E6E5C5}" presName="sibTrans" presStyleLbl="sibTrans2D1" presStyleIdx="6" presStyleCnt="11"/>
      <dgm:spPr/>
    </dgm:pt>
    <dgm:pt modelId="{2BD025FB-91B7-47B3-88F1-A204D0DCFD5E}" type="pres">
      <dgm:prSet presAssocID="{54325A2E-CD28-4DA9-9CFC-E24973E6E5C5}" presName="connectorText" presStyleLbl="sibTrans2D1" presStyleIdx="6" presStyleCnt="11"/>
      <dgm:spPr/>
    </dgm:pt>
    <dgm:pt modelId="{DCF6EF26-AD1A-418D-8E1B-187ED459C45C}" type="pres">
      <dgm:prSet presAssocID="{9815CBB8-E641-4427-8867-77926CCF5673}" presName="node" presStyleLbl="node1" presStyleIdx="7" presStyleCnt="12" custScaleX="196857" custScaleY="286236" custLinFactNeighborX="-73052" custLinFactNeighborY="-48276">
        <dgm:presLayoutVars>
          <dgm:bulletEnabled val="1"/>
        </dgm:presLayoutVars>
      </dgm:prSet>
      <dgm:spPr/>
    </dgm:pt>
    <dgm:pt modelId="{91DB6F46-D868-444E-946F-4F1903D17459}" type="pres">
      <dgm:prSet presAssocID="{B293D8A8-CF32-4CBA-B9B6-2356C8E3E389}" presName="sibTrans" presStyleLbl="sibTrans2D1" presStyleIdx="7" presStyleCnt="11" custLinFactNeighborX="-9603" custLinFactNeighborY="4242"/>
      <dgm:spPr/>
    </dgm:pt>
    <dgm:pt modelId="{59B32563-FEF2-4DD1-80A6-4D319B2B2CB4}" type="pres">
      <dgm:prSet presAssocID="{B293D8A8-CF32-4CBA-B9B6-2356C8E3E389}" presName="connectorText" presStyleLbl="sibTrans2D1" presStyleIdx="7" presStyleCnt="11"/>
      <dgm:spPr/>
    </dgm:pt>
    <dgm:pt modelId="{571D2867-100C-4DC0-991B-E612BF31C8B4}" type="pres">
      <dgm:prSet presAssocID="{2FEF3A4F-D0F8-47DB-B7CC-8C3FD7F6EC16}" presName="node" presStyleLbl="node1" presStyleIdx="8" presStyleCnt="12" custScaleX="191805" custScaleY="188825" custLinFactX="-991" custLinFactNeighborX="-100000" custLinFactNeighborY="-39014">
        <dgm:presLayoutVars>
          <dgm:bulletEnabled val="1"/>
        </dgm:presLayoutVars>
      </dgm:prSet>
      <dgm:spPr/>
    </dgm:pt>
    <dgm:pt modelId="{A40436EC-7ACF-433B-A253-3F80D6F91804}" type="pres">
      <dgm:prSet presAssocID="{3914D450-45E6-4E47-9D52-2DF88A076702}" presName="sibTrans" presStyleLbl="sibTrans2D1" presStyleIdx="8" presStyleCnt="11" custAng="574921" custLinFactNeighborX="-78816" custLinFactNeighborY="22944"/>
      <dgm:spPr/>
    </dgm:pt>
    <dgm:pt modelId="{C25B7AF6-72DE-4FD1-B36C-00A8833F316F}" type="pres">
      <dgm:prSet presAssocID="{3914D450-45E6-4E47-9D52-2DF88A076702}" presName="connectorText" presStyleLbl="sibTrans2D1" presStyleIdx="8" presStyleCnt="11"/>
      <dgm:spPr/>
    </dgm:pt>
    <dgm:pt modelId="{282500A8-9A09-4542-9A53-0999611927C2}" type="pres">
      <dgm:prSet presAssocID="{0E1B7645-4B10-48E3-8631-9D61E8867B22}" presName="node" presStyleLbl="node1" presStyleIdx="9" presStyleCnt="12" custScaleX="245021" custScaleY="141655" custLinFactNeighborX="-97604" custLinFactNeighborY="-43733">
        <dgm:presLayoutVars>
          <dgm:bulletEnabled val="1"/>
        </dgm:presLayoutVars>
      </dgm:prSet>
      <dgm:spPr/>
    </dgm:pt>
    <dgm:pt modelId="{C3655BE6-FA4B-446B-9BB0-B080EB3489EE}" type="pres">
      <dgm:prSet presAssocID="{2D681F62-75BB-413A-999B-97A7EC009F64}" presName="sibTrans" presStyleLbl="sibTrans2D1" presStyleIdx="9" presStyleCnt="11"/>
      <dgm:spPr/>
    </dgm:pt>
    <dgm:pt modelId="{AC80700F-46D9-4593-9BBA-A19563670892}" type="pres">
      <dgm:prSet presAssocID="{2D681F62-75BB-413A-999B-97A7EC009F64}" presName="connectorText" presStyleLbl="sibTrans2D1" presStyleIdx="9" presStyleCnt="11"/>
      <dgm:spPr/>
    </dgm:pt>
    <dgm:pt modelId="{F4E24810-B3F9-48A5-9F8A-4DDFCD75482B}" type="pres">
      <dgm:prSet presAssocID="{6D54731F-AA46-44DF-96DB-EAD2BA25B924}" presName="node" presStyleLbl="node1" presStyleIdx="10" presStyleCnt="12" custScaleX="239978" custScaleY="122465" custLinFactNeighborX="-40627" custLinFactNeighborY="-34230">
        <dgm:presLayoutVars>
          <dgm:bulletEnabled val="1"/>
        </dgm:presLayoutVars>
      </dgm:prSet>
      <dgm:spPr/>
    </dgm:pt>
    <dgm:pt modelId="{FB5FF877-A278-41D8-8D51-6C62B6DD9915}" type="pres">
      <dgm:prSet presAssocID="{21101CF1-139E-4CF4-BAED-CE611E1A142E}" presName="sibTrans" presStyleLbl="sibTrans2D1" presStyleIdx="10" presStyleCnt="11"/>
      <dgm:spPr/>
    </dgm:pt>
    <dgm:pt modelId="{FC52B720-9517-486C-91CB-CF36B8C896DF}" type="pres">
      <dgm:prSet presAssocID="{21101CF1-139E-4CF4-BAED-CE611E1A142E}" presName="connectorText" presStyleLbl="sibTrans2D1" presStyleIdx="10" presStyleCnt="11"/>
      <dgm:spPr/>
    </dgm:pt>
    <dgm:pt modelId="{7E3A22F2-7493-471D-9D5C-DE6AE78EB534}" type="pres">
      <dgm:prSet presAssocID="{2F8CFAEA-86CE-40D1-99D0-13087588FEDE}" presName="node" presStyleLbl="node1" presStyleIdx="11" presStyleCnt="12" custScaleX="277244" custScaleY="110061" custLinFactNeighborX="-7409" custLinFactNeighborY="-39038">
        <dgm:presLayoutVars>
          <dgm:bulletEnabled val="1"/>
        </dgm:presLayoutVars>
      </dgm:prSet>
      <dgm:spPr/>
    </dgm:pt>
  </dgm:ptLst>
  <dgm:cxnLst>
    <dgm:cxn modelId="{2D415900-EF84-4A67-B982-FF37EE6CFC4A}" type="presOf" srcId="{0E1B7645-4B10-48E3-8631-9D61E8867B22}" destId="{282500A8-9A09-4542-9A53-0999611927C2}" srcOrd="0" destOrd="0" presId="urn:microsoft.com/office/officeart/2005/8/layout/process5"/>
    <dgm:cxn modelId="{08A5CA07-9BA8-4F83-A882-63622A728661}" srcId="{253EE6CD-43A6-4500-ACCC-FB9B6DC7488E}" destId="{2F8CFAEA-86CE-40D1-99D0-13087588FEDE}" srcOrd="11" destOrd="0" parTransId="{50B85A1B-E799-4DE6-A629-C36B19942322}" sibTransId="{831F2C79-EEB6-49A7-A6B4-7BA08FF6DA4B}"/>
    <dgm:cxn modelId="{300DB008-F05E-4333-B810-8D849B841853}" type="presOf" srcId="{21101CF1-139E-4CF4-BAED-CE611E1A142E}" destId="{FC52B720-9517-486C-91CB-CF36B8C896DF}" srcOrd="1" destOrd="0" presId="urn:microsoft.com/office/officeart/2005/8/layout/process5"/>
    <dgm:cxn modelId="{81A8D00A-829F-426A-B1BB-E67D8EC2F3A2}" srcId="{2FEF3A4F-D0F8-47DB-B7CC-8C3FD7F6EC16}" destId="{ECA1AE84-0E25-4096-AD11-7C0759976594}" srcOrd="1" destOrd="0" parTransId="{C5F8D2DE-A8BC-40DE-937D-C3BCBF91A85F}" sibTransId="{37A812DB-9D68-48DA-8E37-D9A3CFB282B1}"/>
    <dgm:cxn modelId="{275BD60B-1113-42A6-A935-9AAB76FB75E8}" type="presOf" srcId="{DED945C7-10F1-4B7F-B355-F979F01F87FC}" destId="{DCF6EF26-AD1A-418D-8E1B-187ED459C45C}" srcOrd="0" destOrd="6" presId="urn:microsoft.com/office/officeart/2005/8/layout/process5"/>
    <dgm:cxn modelId="{2A4D0A0C-710F-47C8-8135-F3BEC190E859}" type="presOf" srcId="{21101CF1-139E-4CF4-BAED-CE611E1A142E}" destId="{FB5FF877-A278-41D8-8D51-6C62B6DD9915}" srcOrd="0" destOrd="0" presId="urn:microsoft.com/office/officeart/2005/8/layout/process5"/>
    <dgm:cxn modelId="{80096E0D-FE97-463C-AF5C-7A31208C45DC}" type="presOf" srcId="{E8FB273A-60A8-4A2C-95A2-B32A0D068C9D}" destId="{DCF6EF26-AD1A-418D-8E1B-187ED459C45C}" srcOrd="0" destOrd="3" presId="urn:microsoft.com/office/officeart/2005/8/layout/process5"/>
    <dgm:cxn modelId="{38AED80D-6A0C-4189-88FF-9256D1541585}" srcId="{253EE6CD-43A6-4500-ACCC-FB9B6DC7488E}" destId="{0E1B7645-4B10-48E3-8631-9D61E8867B22}" srcOrd="9" destOrd="0" parTransId="{77755EA4-2BCD-4007-8377-361E5F9742B7}" sibTransId="{2D681F62-75BB-413A-999B-97A7EC009F64}"/>
    <dgm:cxn modelId="{0B44F90F-A70D-4F0B-A10C-402061BF9835}" type="presOf" srcId="{DA017871-ED04-45E6-A2BB-0A9199FB92A7}" destId="{B293559D-6945-4902-97A4-5D9221575E35}" srcOrd="0" destOrd="0" presId="urn:microsoft.com/office/officeart/2005/8/layout/process5"/>
    <dgm:cxn modelId="{66164913-CBE1-4682-AE33-EEBFD769602C}" type="presOf" srcId="{2D681F62-75BB-413A-999B-97A7EC009F64}" destId="{C3655BE6-FA4B-446B-9BB0-B080EB3489EE}" srcOrd="0" destOrd="0" presId="urn:microsoft.com/office/officeart/2005/8/layout/process5"/>
    <dgm:cxn modelId="{F107E118-DFFC-4EE4-B0D6-E5978C5651BD}" type="presOf" srcId="{3914D450-45E6-4E47-9D52-2DF88A076702}" destId="{C25B7AF6-72DE-4FD1-B36C-00A8833F316F}" srcOrd="1" destOrd="0" presId="urn:microsoft.com/office/officeart/2005/8/layout/process5"/>
    <dgm:cxn modelId="{CAADDD1B-011F-40D9-813C-31C93AB1333A}" type="presOf" srcId="{253EE6CD-43A6-4500-ACCC-FB9B6DC7488E}" destId="{1DAD7954-98E5-4530-BC44-29BF5BC46F35}" srcOrd="0" destOrd="0" presId="urn:microsoft.com/office/officeart/2005/8/layout/process5"/>
    <dgm:cxn modelId="{302F381F-C827-4B71-9C52-F4C3611684CF}" type="presOf" srcId="{45C1D72D-D007-4D8A-B987-8AB330A3D5E7}" destId="{664048F8-E304-488B-9668-B813944484C0}" srcOrd="0" destOrd="1" presId="urn:microsoft.com/office/officeart/2005/8/layout/process5"/>
    <dgm:cxn modelId="{5BFB8822-D9B2-49E4-856C-12F92F72EA66}" srcId="{D5DA5B8E-AD64-4BDF-93F9-1A3DF1BB5E28}" destId="{E43F85DE-4636-43E3-BA72-349DD2FE3207}" srcOrd="0" destOrd="0" parTransId="{07C0CE27-E89E-45E9-BDFD-F205655F9E78}" sibTransId="{E726F6F7-E364-4C0F-A987-501584750E22}"/>
    <dgm:cxn modelId="{F1C76B26-2AA2-4AA3-8A8D-BEBA2118013D}" type="presOf" srcId="{ECA1AE84-0E25-4096-AD11-7C0759976594}" destId="{571D2867-100C-4DC0-991B-E612BF31C8B4}" srcOrd="0" destOrd="2" presId="urn:microsoft.com/office/officeart/2005/8/layout/process5"/>
    <dgm:cxn modelId="{04F2C627-612A-423B-AC79-3269D2F974E6}" type="presOf" srcId="{2D70D953-C1DE-4D60-B53D-6CB78A0E30D6}" destId="{72908EF8-B364-431E-978B-83770DD08793}" srcOrd="0" destOrd="0" presId="urn:microsoft.com/office/officeart/2005/8/layout/process5"/>
    <dgm:cxn modelId="{5610622B-E8F6-4ECB-A170-BC7FFF631A4E}" srcId="{253EE6CD-43A6-4500-ACCC-FB9B6DC7488E}" destId="{D5DA5B8E-AD64-4BDF-93F9-1A3DF1BB5E28}" srcOrd="0" destOrd="0" parTransId="{B229AE57-69B2-4608-973A-4A2B2414EE68}" sibTransId="{CF0EA060-6F5A-475B-98B3-8B3EFD37B4E1}"/>
    <dgm:cxn modelId="{03B4542C-5C33-4539-8112-80D643549955}" type="presOf" srcId="{37D0D305-B098-4144-A432-A8ED9E6F5D09}" destId="{D8513727-FFD1-4C89-8CEB-75B71B759A52}" srcOrd="0" destOrd="2" presId="urn:microsoft.com/office/officeart/2005/8/layout/process5"/>
    <dgm:cxn modelId="{44F5EC2C-8E82-4A3C-A44E-398BA624273C}" srcId="{9815CBB8-E641-4427-8867-77926CCF5673}" destId="{E698FFA1-4B36-4E09-B19F-A5BEB4C63AAD}" srcOrd="0" destOrd="0" parTransId="{F4AB8DDD-85D0-41AB-A06F-55438B9B2FCB}" sibTransId="{DCB489EA-BC8F-4D40-BF5D-936EA0619B9D}"/>
    <dgm:cxn modelId="{1366382D-A1FE-46B7-A70D-9261D60AE54B}" srcId="{253EE6CD-43A6-4500-ACCC-FB9B6DC7488E}" destId="{C3BCD781-8BBA-49A4-B34C-9ACE85EE4254}" srcOrd="1" destOrd="0" parTransId="{FBD0BF2B-C5D2-4FBA-8324-1162140DAFDD}" sibTransId="{756F30DD-07C2-4914-B482-3ACDF62C7E62}"/>
    <dgm:cxn modelId="{302D382E-241C-4C05-91D1-C5710468C0EE}" type="presOf" srcId="{65C3E87E-7EB0-4E84-AC5A-2E277DF6AD6B}" destId="{E724B4C3-6727-419D-A393-85AEF67CB49C}" srcOrd="0" destOrd="0" presId="urn:microsoft.com/office/officeart/2005/8/layout/process5"/>
    <dgm:cxn modelId="{3DF1162F-31EC-415E-9FEC-4B6D7E1DAC08}" srcId="{C3BCD781-8BBA-49A4-B34C-9ACE85EE4254}" destId="{4A4FC72B-A31C-4FE2-8544-CB4CCD218D1B}" srcOrd="2" destOrd="0" parTransId="{44AE67EE-64AF-45D9-8221-C7B160E7CCAB}" sibTransId="{6452EA0C-7680-4D69-9735-9CD89FBA3860}"/>
    <dgm:cxn modelId="{5296F82F-C0F6-42D9-BF5F-23844D3DEEED}" type="presOf" srcId="{D5DBDF51-24E3-48CD-AAD4-5856CE6FE342}" destId="{8CDEFA49-E519-41FD-913F-F03726B20366}" srcOrd="0" destOrd="2" presId="urn:microsoft.com/office/officeart/2005/8/layout/process5"/>
    <dgm:cxn modelId="{52265232-4A4A-4F7A-BFD7-A8B05EB1DFF1}" srcId="{9815CBB8-E641-4427-8867-77926CCF5673}" destId="{6BB3416D-42B8-4F8D-9981-707F52D82B2F}" srcOrd="1" destOrd="0" parTransId="{F00ED528-D284-4BE1-80ED-2C8ACF62D701}" sibTransId="{FE11E651-2BEE-40E2-BEA1-5A1EAEC21429}"/>
    <dgm:cxn modelId="{2928BC35-5636-41A7-B035-DF25F3323AA5}" type="presOf" srcId="{E203AC57-443C-4137-B016-F0951E047097}" destId="{282500A8-9A09-4542-9A53-0999611927C2}" srcOrd="0" destOrd="1" presId="urn:microsoft.com/office/officeart/2005/8/layout/process5"/>
    <dgm:cxn modelId="{AC77405B-1242-4655-9028-A8FCBE9AEE32}" type="presOf" srcId="{7AC0C4D1-E99D-4A51-8FE8-A0F65D293091}" destId="{B293559D-6945-4902-97A4-5D9221575E35}" srcOrd="0" destOrd="2" presId="urn:microsoft.com/office/officeart/2005/8/layout/process5"/>
    <dgm:cxn modelId="{FBE7535F-05D3-4FF1-B0E5-EE8C0317F678}" type="presOf" srcId="{756F30DD-07C2-4914-B482-3ACDF62C7E62}" destId="{FA77DC0D-8E5A-4CE4-93B5-68F5FA178F1D}" srcOrd="1" destOrd="0" presId="urn:microsoft.com/office/officeart/2005/8/layout/process5"/>
    <dgm:cxn modelId="{FBB5AA41-4EE0-4B2B-AC13-F6B3ED1F3534}" srcId="{D5DA5B8E-AD64-4BDF-93F9-1A3DF1BB5E28}" destId="{CB1EC1B1-84B1-4834-AF64-6D5EFE96EEF5}" srcOrd="3" destOrd="0" parTransId="{2E92189C-80E3-46E2-B9F0-9A3FDEDA05E7}" sibTransId="{53617641-FBDE-46B7-AC7E-B4B7CD9288AB}"/>
    <dgm:cxn modelId="{5AB92842-6375-4027-B17B-0123F8CED014}" type="presOf" srcId="{9815CBB8-E641-4427-8867-77926CCF5673}" destId="{DCF6EF26-AD1A-418D-8E1B-187ED459C45C}" srcOrd="0" destOrd="0" presId="urn:microsoft.com/office/officeart/2005/8/layout/process5"/>
    <dgm:cxn modelId="{43257742-B290-49DC-8C97-372EB96BAAB0}" type="presOf" srcId="{54325A2E-CD28-4DA9-9CFC-E24973E6E5C5}" destId="{2BD025FB-91B7-47B3-88F1-A204D0DCFD5E}" srcOrd="1" destOrd="0" presId="urn:microsoft.com/office/officeart/2005/8/layout/process5"/>
    <dgm:cxn modelId="{3DCD3C64-A2CA-4971-ACCF-3D3BBEC6CA71}" type="presOf" srcId="{DD2B062B-A243-434A-A155-665341098011}" destId="{8CDEFA49-E519-41FD-913F-F03726B20366}" srcOrd="0" destOrd="3" presId="urn:microsoft.com/office/officeart/2005/8/layout/process5"/>
    <dgm:cxn modelId="{A52D8065-1733-444A-B8F1-60FCC5F120D5}" srcId="{253EE6CD-43A6-4500-ACCC-FB9B6DC7488E}" destId="{2FEF3A4F-D0F8-47DB-B7CC-8C3FD7F6EC16}" srcOrd="8" destOrd="0" parTransId="{2FB4EA05-83B1-49C4-9074-8DFF599932F6}" sibTransId="{3914D450-45E6-4E47-9D52-2DF88A076702}"/>
    <dgm:cxn modelId="{3AC4C748-EC4D-4D6E-A34E-FD3FAC9E386E}" type="presOf" srcId="{07B57336-04E1-45D5-855A-401D0A92D692}" destId="{DCF6EF26-AD1A-418D-8E1B-187ED459C45C}" srcOrd="0" destOrd="7" presId="urn:microsoft.com/office/officeart/2005/8/layout/process5"/>
    <dgm:cxn modelId="{F5C3686A-123E-4DE0-A9F4-891B049FB1B7}" type="presOf" srcId="{EA6547F3-BCE3-47EA-803C-E097943687FB}" destId="{F4E24810-B3F9-48A5-9F8A-4DDFCD75482B}" srcOrd="0" destOrd="1" presId="urn:microsoft.com/office/officeart/2005/8/layout/process5"/>
    <dgm:cxn modelId="{72130F4B-F0C2-4DC0-B24A-95B9E8951D1A}" srcId="{2F8CFAEA-86CE-40D1-99D0-13087588FEDE}" destId="{2BB9A52E-4733-48B7-BC7B-4A001F8040E0}" srcOrd="0" destOrd="0" parTransId="{BFE9A5E9-7494-4B8C-83EC-430A499B183A}" sibTransId="{C9581126-7C8C-4D58-9CD5-7305944746E2}"/>
    <dgm:cxn modelId="{E84FD26C-D0C6-4252-A921-6197D72B43EC}" srcId="{CDA213F3-0D4F-4727-B6D5-A49D15E7CBF7}" destId="{FDE36D1D-E3FE-4336-89A8-B75FAC97757F}" srcOrd="0" destOrd="0" parTransId="{1F25C38D-EC72-4229-BFB4-99A6C3EA20DA}" sibTransId="{D872D676-5F71-4857-AA83-4C6CE70AD20D}"/>
    <dgm:cxn modelId="{1E0CD66D-C07B-4CE0-81B7-89C7B068FED6}" type="presOf" srcId="{D5DA5B8E-AD64-4BDF-93F9-1A3DF1BB5E28}" destId="{8CDEFA49-E519-41FD-913F-F03726B20366}" srcOrd="0" destOrd="0" presId="urn:microsoft.com/office/officeart/2005/8/layout/process5"/>
    <dgm:cxn modelId="{7A4B5651-61F2-4F62-A26F-609232F69086}" srcId="{D5DA5B8E-AD64-4BDF-93F9-1A3DF1BB5E28}" destId="{DD2B062B-A243-434A-A155-665341098011}" srcOrd="2" destOrd="0" parTransId="{8650A8B5-903D-44BB-91AA-B497299C98C8}" sibTransId="{E1D22C0A-202A-4C0A-8E7B-CA6A62CC5665}"/>
    <dgm:cxn modelId="{C8F69B52-69B8-401A-A458-148357CCD374}" srcId="{9815CBB8-E641-4427-8867-77926CCF5673}" destId="{D94E3F1B-5CDE-4305-BDB3-FC4D23059EFA}" srcOrd="4" destOrd="0" parTransId="{E96AFD5D-A6FB-42A3-962F-A79BF880AE0D}" sibTransId="{31A0334F-59B6-4485-9AC1-75CD054E836C}"/>
    <dgm:cxn modelId="{51928553-6465-41E5-AB39-69042208AB11}" srcId="{DA017871-ED04-45E6-A2BB-0A9199FB92A7}" destId="{7AC0C4D1-E99D-4A51-8FE8-A0F65D293091}" srcOrd="1" destOrd="0" parTransId="{E09CBBEF-F2E6-4C0B-A660-D9E83087122E}" sibTransId="{4CCE8ECB-AA1E-4159-8B1B-30DF6160E1C3}"/>
    <dgm:cxn modelId="{C05C2855-CCC6-40C3-A064-3FCAC40CEF06}" srcId="{CDA213F3-0D4F-4727-B6D5-A49D15E7CBF7}" destId="{ADB37457-F084-495D-B7CB-E6DE7E0271C1}" srcOrd="1" destOrd="0" parTransId="{8EECF349-8637-4526-AA18-5FFDBAADED08}" sibTransId="{23725AFE-1C34-4CE7-AB6E-0E77D8A9DA55}"/>
    <dgm:cxn modelId="{CD7D6676-94B3-45CC-97D5-731DB0A7E539}" type="presOf" srcId="{D94E3F1B-5CDE-4305-BDB3-FC4D23059EFA}" destId="{DCF6EF26-AD1A-418D-8E1B-187ED459C45C}" srcOrd="0" destOrd="5" presId="urn:microsoft.com/office/officeart/2005/8/layout/process5"/>
    <dgm:cxn modelId="{AC754F56-6C75-4750-9977-3240865212EC}" srcId="{9815CBB8-E641-4427-8867-77926CCF5673}" destId="{DED945C7-10F1-4B7F-B355-F979F01F87FC}" srcOrd="5" destOrd="0" parTransId="{47F8D257-C666-44D8-BD9E-2326BE5692FF}" sibTransId="{EB23DA8D-A56B-4467-B6D7-B6C41C1364C4}"/>
    <dgm:cxn modelId="{C5D8AB76-3531-4C2F-B17A-C5A657C5D64C}" type="presOf" srcId="{2FEF3A4F-D0F8-47DB-B7CC-8C3FD7F6EC16}" destId="{571D2867-100C-4DC0-991B-E612BF31C8B4}" srcOrd="0" destOrd="0" presId="urn:microsoft.com/office/officeart/2005/8/layout/process5"/>
    <dgm:cxn modelId="{95290757-A46C-4DE9-9D63-7D19A9B039FB}" type="presOf" srcId="{682277EC-CC73-4B17-8AF8-4113A663CE8A}" destId="{F12ADF00-8B59-40FE-BB0D-F6C423F7A2F8}" srcOrd="1" destOrd="0" presId="urn:microsoft.com/office/officeart/2005/8/layout/process5"/>
    <dgm:cxn modelId="{2A142559-78D9-46A9-B47B-E313CB2841B1}" type="presOf" srcId="{FDE36D1D-E3FE-4336-89A8-B75FAC97757F}" destId="{924B314A-07D5-4046-BB3A-8978FFF6BBC0}" srcOrd="0" destOrd="1" presId="urn:microsoft.com/office/officeart/2005/8/layout/process5"/>
    <dgm:cxn modelId="{0FD09559-8C61-4353-887E-532FFB154029}" srcId="{6D54731F-AA46-44DF-96DB-EAD2BA25B924}" destId="{EA6547F3-BCE3-47EA-803C-E097943687FB}" srcOrd="0" destOrd="0" parTransId="{A614E3E5-B28D-42FA-B71D-7C3D9A6DF0B5}" sibTransId="{1E8C7357-9DDE-4AB0-9B3D-B97E2009D229}"/>
    <dgm:cxn modelId="{3F5B017F-9CE6-43D9-8FA5-9BC3BD70A1E4}" srcId="{253EE6CD-43A6-4500-ACCC-FB9B6DC7488E}" destId="{6D54731F-AA46-44DF-96DB-EAD2BA25B924}" srcOrd="10" destOrd="0" parTransId="{EC8FA9BE-F70F-4E93-A677-959608F163E4}" sibTransId="{21101CF1-139E-4CF4-BAED-CE611E1A142E}"/>
    <dgm:cxn modelId="{579E1082-3C38-4944-BB81-25AA4CF117FB}" type="presOf" srcId="{CB1EC1B1-84B1-4834-AF64-6D5EFE96EEF5}" destId="{8CDEFA49-E519-41FD-913F-F03726B20366}" srcOrd="0" destOrd="4" presId="urn:microsoft.com/office/officeart/2005/8/layout/process5"/>
    <dgm:cxn modelId="{F3CB1B84-C25D-4E3A-9E67-ECA8479F2F62}" type="presOf" srcId="{8C6E1F90-D052-4E0E-A632-97B41D3B1072}" destId="{664048F8-E304-488B-9668-B813944484C0}" srcOrd="0" destOrd="0" presId="urn:microsoft.com/office/officeart/2005/8/layout/process5"/>
    <dgm:cxn modelId="{9C217487-F963-488E-B78E-51C882D12642}" type="presOf" srcId="{B293D8A8-CF32-4CBA-B9B6-2356C8E3E389}" destId="{91DB6F46-D868-444E-946F-4F1903D17459}" srcOrd="0" destOrd="0" presId="urn:microsoft.com/office/officeart/2005/8/layout/process5"/>
    <dgm:cxn modelId="{0A146A89-8CF0-4A7D-931F-CDC50676A2E8}" type="presOf" srcId="{C3BCD781-8BBA-49A4-B34C-9ACE85EE4254}" destId="{D8513727-FFD1-4C89-8CEB-75B71B759A52}" srcOrd="0" destOrd="0" presId="urn:microsoft.com/office/officeart/2005/8/layout/process5"/>
    <dgm:cxn modelId="{4DFE088B-E3F5-4B09-95B4-C25D240F978A}" srcId="{253EE6CD-43A6-4500-ACCC-FB9B6DC7488E}" destId="{65C3E87E-7EB0-4E84-AC5A-2E277DF6AD6B}" srcOrd="6" destOrd="0" parTransId="{08FF1EF7-8159-4321-80C0-DB561ECA8849}" sibTransId="{54325A2E-CD28-4DA9-9CFC-E24973E6E5C5}"/>
    <dgm:cxn modelId="{975B708F-05E8-4445-9B3A-F003893A8E9C}" srcId="{C3BCD781-8BBA-49A4-B34C-9ACE85EE4254}" destId="{708707B7-9C6F-4F55-8A7B-87217ECDDC51}" srcOrd="0" destOrd="0" parTransId="{B6FD3475-A89A-4C5F-B432-4D24FC200CB2}" sibTransId="{4F7FC879-8085-4677-B428-9DE24E0D3D7C}"/>
    <dgm:cxn modelId="{D9DC5390-9E9C-442E-85FD-9EB70006F1CE}" type="presOf" srcId="{E698FFA1-4B36-4E09-B19F-A5BEB4C63AAD}" destId="{DCF6EF26-AD1A-418D-8E1B-187ED459C45C}" srcOrd="0" destOrd="1" presId="urn:microsoft.com/office/officeart/2005/8/layout/process5"/>
    <dgm:cxn modelId="{9C45C190-7417-4F14-B618-7111B7D78E70}" type="presOf" srcId="{1D21593E-E4DA-4778-B7B4-7026129222E7}" destId="{611E9F35-5D83-418F-BA1D-5BB639BB6FAF}" srcOrd="0" destOrd="0" presId="urn:microsoft.com/office/officeart/2005/8/layout/process5"/>
    <dgm:cxn modelId="{A710DF94-D90E-4797-A165-0A2DB02E5A43}" type="presOf" srcId="{ADB37457-F084-495D-B7CB-E6DE7E0271C1}" destId="{924B314A-07D5-4046-BB3A-8978FFF6BBC0}" srcOrd="0" destOrd="2" presId="urn:microsoft.com/office/officeart/2005/8/layout/process5"/>
    <dgm:cxn modelId="{7C803196-DA99-48EA-982D-060D660B5FD1}" type="presOf" srcId="{E43F85DE-4636-43E3-BA72-349DD2FE3207}" destId="{8CDEFA49-E519-41FD-913F-F03726B20366}" srcOrd="0" destOrd="1" presId="urn:microsoft.com/office/officeart/2005/8/layout/process5"/>
    <dgm:cxn modelId="{16653197-7410-4E6B-AD64-2CA20D788815}" type="presOf" srcId="{99FEF920-59FF-4228-9958-25992FBFCB64}" destId="{EDC3D61E-E87A-4839-963F-9C0C154D3F4F}" srcOrd="0" destOrd="0" presId="urn:microsoft.com/office/officeart/2005/8/layout/process5"/>
    <dgm:cxn modelId="{E9ECDB9C-E710-4F7A-B46C-BD213BAE4B4D}" srcId="{253EE6CD-43A6-4500-ACCC-FB9B6DC7488E}" destId="{1D21593E-E4DA-4778-B7B4-7026129222E7}" srcOrd="5" destOrd="0" parTransId="{DA7BB20C-EC74-484C-9789-F40D556C92B0}" sibTransId="{620DEA19-7E8F-447B-BA70-90AD8503544E}"/>
    <dgm:cxn modelId="{A014B19F-C31D-4C71-862C-6C1BAB2E76BE}" type="presOf" srcId="{2D681F62-75BB-413A-999B-97A7EC009F64}" destId="{AC80700F-46D9-4593-9BBA-A19563670892}" srcOrd="1" destOrd="0" presId="urn:microsoft.com/office/officeart/2005/8/layout/process5"/>
    <dgm:cxn modelId="{79D4D4A4-F7A9-4B65-A71E-9C556D142F04}" type="presOf" srcId="{2BB9A52E-4733-48B7-BC7B-4A001F8040E0}" destId="{7E3A22F2-7493-471D-9D5C-DE6AE78EB534}" srcOrd="0" destOrd="1" presId="urn:microsoft.com/office/officeart/2005/8/layout/process5"/>
    <dgm:cxn modelId="{E0FCA1A6-E663-4EB0-A7A1-8C709585FE94}" type="presOf" srcId="{6BB3416D-42B8-4F8D-9981-707F52D82B2F}" destId="{DCF6EF26-AD1A-418D-8E1B-187ED459C45C}" srcOrd="0" destOrd="2" presId="urn:microsoft.com/office/officeart/2005/8/layout/process5"/>
    <dgm:cxn modelId="{9D41D2A9-0885-4A7F-A8CE-F85A46F83ACD}" type="presOf" srcId="{6D54731F-AA46-44DF-96DB-EAD2BA25B924}" destId="{F4E24810-B3F9-48A5-9F8A-4DDFCD75482B}" srcOrd="0" destOrd="0" presId="urn:microsoft.com/office/officeart/2005/8/layout/process5"/>
    <dgm:cxn modelId="{BF9B2DAD-18D4-4640-9937-FD61CB6FBE46}" type="presOf" srcId="{CDA213F3-0D4F-4727-B6D5-A49D15E7CBF7}" destId="{924B314A-07D5-4046-BB3A-8978FFF6BBC0}" srcOrd="0" destOrd="0" presId="urn:microsoft.com/office/officeart/2005/8/layout/process5"/>
    <dgm:cxn modelId="{563BA3B1-2C2A-4E7E-9977-FEDC1C2744E3}" type="presOf" srcId="{CF0EA060-6F5A-475B-98B3-8B3EFD37B4E1}" destId="{1307BEFB-A66D-448C-A7EC-8AD24638FF7E}" srcOrd="0" destOrd="0" presId="urn:microsoft.com/office/officeart/2005/8/layout/process5"/>
    <dgm:cxn modelId="{EFFF97B2-32F8-4899-B692-D35185A1CEE2}" type="presOf" srcId="{3C23CA36-C646-4492-8541-688CA84789A6}" destId="{282500A8-9A09-4542-9A53-0999611927C2}" srcOrd="0" destOrd="2" presId="urn:microsoft.com/office/officeart/2005/8/layout/process5"/>
    <dgm:cxn modelId="{9D052EB9-3F95-44FE-B9AD-30EF56F3B00C}" srcId="{9815CBB8-E641-4427-8867-77926CCF5673}" destId="{98E63B99-24B4-4EB4-B7D6-641FC5E2D165}" srcOrd="3" destOrd="0" parTransId="{8564DE37-4465-4D2D-BEC1-FB8618C03990}" sibTransId="{C1A41779-6730-44F9-A863-E723FEFFD6CC}"/>
    <dgm:cxn modelId="{59B891BA-2343-4467-952F-F4E96D7F557A}" type="presOf" srcId="{D29C196E-8E3C-4BB4-B528-44B8A53ADBC5}" destId="{7E3A22F2-7493-471D-9D5C-DE6AE78EB534}" srcOrd="0" destOrd="2" presId="urn:microsoft.com/office/officeart/2005/8/layout/process5"/>
    <dgm:cxn modelId="{379072BF-544C-4B8F-A537-1C0155E161AF}" srcId="{DA017871-ED04-45E6-A2BB-0A9199FB92A7}" destId="{EDD1B5C0-74B9-44CE-A966-AB8F92FEDA04}" srcOrd="0" destOrd="0" parTransId="{90F90097-3840-4A2A-BAC3-17B4739AEBA7}" sibTransId="{3878B5EC-C2CD-4B00-9D50-B5334EC327EE}"/>
    <dgm:cxn modelId="{D87712C7-01B5-4E1F-93EC-A45E4ABBC6F5}" srcId="{8C6E1F90-D052-4E0E-A632-97B41D3B1072}" destId="{45C1D72D-D007-4D8A-B987-8AB330A3D5E7}" srcOrd="0" destOrd="0" parTransId="{E68A7F8F-C601-4A8E-9ED5-D4CFC02945AC}" sibTransId="{93897DBC-C1A5-4395-9464-848A2088FB97}"/>
    <dgm:cxn modelId="{A81BADC8-560B-4E58-89E5-691C6469DD77}" type="presOf" srcId="{3914D450-45E6-4E47-9D52-2DF88A076702}" destId="{A40436EC-7ACF-433B-A253-3F80D6F91804}" srcOrd="0" destOrd="0" presId="urn:microsoft.com/office/officeart/2005/8/layout/process5"/>
    <dgm:cxn modelId="{DF660BC9-4767-4273-8628-518B54CC50A0}" type="presOf" srcId="{4A4FC72B-A31C-4FE2-8544-CB4CCD218D1B}" destId="{D8513727-FFD1-4C89-8CEB-75B71B759A52}" srcOrd="0" destOrd="3" presId="urn:microsoft.com/office/officeart/2005/8/layout/process5"/>
    <dgm:cxn modelId="{C9F053C9-2990-456F-B03E-D66BE1A76C17}" type="presOf" srcId="{2F8CFAEA-86CE-40D1-99D0-13087588FEDE}" destId="{7E3A22F2-7493-471D-9D5C-DE6AE78EB534}" srcOrd="0" destOrd="0" presId="urn:microsoft.com/office/officeart/2005/8/layout/process5"/>
    <dgm:cxn modelId="{F57F9CCA-5A84-4BA0-BFFF-2EDAE3E93BF4}" srcId="{253EE6CD-43A6-4500-ACCC-FB9B6DC7488E}" destId="{DA017871-ED04-45E6-A2BB-0A9199FB92A7}" srcOrd="3" destOrd="0" parTransId="{1FFAB29A-4684-4B31-9741-C1A1C6B1DEBE}" sibTransId="{99FEF920-59FF-4228-9958-25992FBFCB64}"/>
    <dgm:cxn modelId="{372D8DCD-0D7E-4796-8AD6-8AFC34D7A8EB}" type="presOf" srcId="{682277EC-CC73-4B17-8AF8-4113A663CE8A}" destId="{3969676E-7B95-4525-8050-52C20DA16970}" srcOrd="0" destOrd="0" presId="urn:microsoft.com/office/officeart/2005/8/layout/process5"/>
    <dgm:cxn modelId="{6DCED5D1-E533-4DD9-964E-65506F06354A}" srcId="{253EE6CD-43A6-4500-ACCC-FB9B6DC7488E}" destId="{CDA213F3-0D4F-4727-B6D5-A49D15E7CBF7}" srcOrd="2" destOrd="0" parTransId="{6D961603-3672-4741-8983-C34FCF0721B0}" sibTransId="{2D70D953-C1DE-4D60-B53D-6CB78A0E30D6}"/>
    <dgm:cxn modelId="{E5322ED2-0FCB-4CC8-AC48-21C4E1F30395}" type="presOf" srcId="{2370C19B-BCF7-45BA-8800-2FB97829B0C5}" destId="{924B314A-07D5-4046-BB3A-8978FFF6BBC0}" srcOrd="0" destOrd="3" presId="urn:microsoft.com/office/officeart/2005/8/layout/process5"/>
    <dgm:cxn modelId="{D1EFF2D2-C3C0-4858-ACDF-2BD88AFE64B0}" type="presOf" srcId="{708707B7-9C6F-4F55-8A7B-87217ECDDC51}" destId="{D8513727-FFD1-4C89-8CEB-75B71B759A52}" srcOrd="0" destOrd="1" presId="urn:microsoft.com/office/officeart/2005/8/layout/process5"/>
    <dgm:cxn modelId="{23B07BD3-ED71-4788-ABB8-5D327C8AE29B}" srcId="{9815CBB8-E641-4427-8867-77926CCF5673}" destId="{E8FB273A-60A8-4A2C-95A2-B32A0D068C9D}" srcOrd="2" destOrd="0" parTransId="{A9D45B79-953E-474D-9C1B-1544CF3856DB}" sibTransId="{DBCFEC0D-88DA-4A4F-B5BA-46317F1EA897}"/>
    <dgm:cxn modelId="{3DFAD7D5-E914-4901-B448-46EBE8970277}" srcId="{2F8CFAEA-86CE-40D1-99D0-13087588FEDE}" destId="{D29C196E-8E3C-4BB4-B528-44B8A53ADBC5}" srcOrd="1" destOrd="0" parTransId="{C854AF71-2777-435B-AE90-C4FE7ED61EF4}" sibTransId="{C67FA3F3-652E-4293-A284-F680CF4971FE}"/>
    <dgm:cxn modelId="{E271A0D7-A293-4F6A-BB29-D13BCD5BF803}" type="presOf" srcId="{CC1D68D1-EAF8-4465-964D-4B1A52860577}" destId="{571D2867-100C-4DC0-991B-E612BF31C8B4}" srcOrd="0" destOrd="1" presId="urn:microsoft.com/office/officeart/2005/8/layout/process5"/>
    <dgm:cxn modelId="{87DD84D9-40A1-4000-9DEF-D53B3061E4AB}" srcId="{CDA213F3-0D4F-4727-B6D5-A49D15E7CBF7}" destId="{2370C19B-BCF7-45BA-8800-2FB97829B0C5}" srcOrd="2" destOrd="0" parTransId="{5B44EFFE-9E55-4B4B-A56F-78A5695BC2C7}" sibTransId="{3C4E3990-EF4A-4D0B-88A8-70A089DB3EFC}"/>
    <dgm:cxn modelId="{78C943DE-39CB-4AAD-8C27-2334C7BE0303}" srcId="{0E1B7645-4B10-48E3-8631-9D61E8867B22}" destId="{3C23CA36-C646-4492-8541-688CA84789A6}" srcOrd="1" destOrd="0" parTransId="{77BA4E43-41A3-48A5-9598-29A01A30912B}" sibTransId="{7B8F587A-8166-46E0-A3F2-5BEAD667CD65}"/>
    <dgm:cxn modelId="{4B731FDF-0F65-44F8-9F1D-260A80115C88}" type="presOf" srcId="{756F30DD-07C2-4914-B482-3ACDF62C7E62}" destId="{4A14B3CF-E6D1-4783-A61F-96F2676D1790}" srcOrd="0" destOrd="0" presId="urn:microsoft.com/office/officeart/2005/8/layout/process5"/>
    <dgm:cxn modelId="{6A687EE0-C76E-42DE-85EE-CC0C4F6BECC4}" srcId="{9815CBB8-E641-4427-8867-77926CCF5673}" destId="{07B57336-04E1-45D5-855A-401D0A92D692}" srcOrd="6" destOrd="0" parTransId="{93259101-72AB-4DEB-93F0-D09E9802D085}" sibTransId="{D8D2E43C-D3F7-4CB9-9C20-C8CECF3DC61C}"/>
    <dgm:cxn modelId="{B9A4A7E6-013C-4504-9253-F75461A05954}" type="presOf" srcId="{EDD1B5C0-74B9-44CE-A966-AB8F92FEDA04}" destId="{B293559D-6945-4902-97A4-5D9221575E35}" srcOrd="0" destOrd="1" presId="urn:microsoft.com/office/officeart/2005/8/layout/process5"/>
    <dgm:cxn modelId="{4284CFE8-20D7-48C0-98C5-2B939FD39401}" type="presOf" srcId="{620DEA19-7E8F-447B-BA70-90AD8503544E}" destId="{17E7198A-11CF-405A-ADE8-F09A10F53A3E}" srcOrd="0" destOrd="0" presId="urn:microsoft.com/office/officeart/2005/8/layout/process5"/>
    <dgm:cxn modelId="{D8D0D2EA-83E5-4AF6-B7EC-B131C1FCDC71}" srcId="{D5DA5B8E-AD64-4BDF-93F9-1A3DF1BB5E28}" destId="{D5DBDF51-24E3-48CD-AAD4-5856CE6FE342}" srcOrd="1" destOrd="0" parTransId="{12D913BB-6AFF-42DD-A2FA-9ECD0B07705B}" sibTransId="{D20623C0-BC47-494E-BA99-2FE97C7D513E}"/>
    <dgm:cxn modelId="{66B347EC-EB62-40DF-9656-FF180AE68BD2}" srcId="{2FEF3A4F-D0F8-47DB-B7CC-8C3FD7F6EC16}" destId="{CC1D68D1-EAF8-4465-964D-4B1A52860577}" srcOrd="0" destOrd="0" parTransId="{57E0510C-C894-4CD7-B4BE-264E052AAF3B}" sibTransId="{FC771CC2-2C49-4000-84B2-F20F14E61110}"/>
    <dgm:cxn modelId="{AC0D52EC-8E4D-432B-99CC-814352AB41F4}" srcId="{C3BCD781-8BBA-49A4-B34C-9ACE85EE4254}" destId="{37D0D305-B098-4144-A432-A8ED9E6F5D09}" srcOrd="1" destOrd="0" parTransId="{E10494C4-A3A7-4C5E-BB06-5496F1ADA9BD}" sibTransId="{E0651EA8-2E77-4A1C-B2F9-721AF9994BC5}"/>
    <dgm:cxn modelId="{8C790AEE-DAB7-4096-BC5E-9A540B274B03}" type="presOf" srcId="{98E63B99-24B4-4EB4-B7D6-641FC5E2D165}" destId="{DCF6EF26-AD1A-418D-8E1B-187ED459C45C}" srcOrd="0" destOrd="4" presId="urn:microsoft.com/office/officeart/2005/8/layout/process5"/>
    <dgm:cxn modelId="{6ED460F1-360C-47B7-AD4D-E9A18A4849E3}" type="presOf" srcId="{CF0EA060-6F5A-475B-98B3-8B3EFD37B4E1}" destId="{73FD6D17-CEDB-4705-B1AE-5D353CC225C4}" srcOrd="1" destOrd="0" presId="urn:microsoft.com/office/officeart/2005/8/layout/process5"/>
    <dgm:cxn modelId="{0161D3F5-C4A2-40B0-AB98-BAEEA07D1AD5}" srcId="{253EE6CD-43A6-4500-ACCC-FB9B6DC7488E}" destId="{8C6E1F90-D052-4E0E-A632-97B41D3B1072}" srcOrd="4" destOrd="0" parTransId="{58019763-9505-4F25-9D3B-6E0B991406B6}" sibTransId="{682277EC-CC73-4B17-8AF8-4113A663CE8A}"/>
    <dgm:cxn modelId="{D6CFF2F8-FE62-4E79-8199-E55D3C185398}" srcId="{0E1B7645-4B10-48E3-8631-9D61E8867B22}" destId="{E203AC57-443C-4137-B016-F0951E047097}" srcOrd="0" destOrd="0" parTransId="{EAE47AD0-D6F4-4796-819D-BA00E1B36E17}" sibTransId="{7B714CD7-8890-45AD-989F-0067325C730F}"/>
    <dgm:cxn modelId="{6CBA9FFA-54AB-4841-8639-7E95CF0C5029}" type="presOf" srcId="{620DEA19-7E8F-447B-BA70-90AD8503544E}" destId="{78AAD8FD-5159-40DF-A663-16D939CC55C4}" srcOrd="1" destOrd="0" presId="urn:microsoft.com/office/officeart/2005/8/layout/process5"/>
    <dgm:cxn modelId="{930D52FC-78A7-4D83-9684-6971B80F1ECF}" type="presOf" srcId="{2D70D953-C1DE-4D60-B53D-6CB78A0E30D6}" destId="{D3316DC7-4A6C-4216-A217-6F30F9FFC4BE}" srcOrd="1" destOrd="0" presId="urn:microsoft.com/office/officeart/2005/8/layout/process5"/>
    <dgm:cxn modelId="{E6D9DAFD-27A2-4CCB-9DC4-8673D3877797}" type="presOf" srcId="{54325A2E-CD28-4DA9-9CFC-E24973E6E5C5}" destId="{CE83ED77-746D-48D0-A285-495F3A8C50D6}" srcOrd="0" destOrd="0" presId="urn:microsoft.com/office/officeart/2005/8/layout/process5"/>
    <dgm:cxn modelId="{D59783FE-E629-4C50-8AFE-C405BF8BC593}" srcId="{253EE6CD-43A6-4500-ACCC-FB9B6DC7488E}" destId="{9815CBB8-E641-4427-8867-77926CCF5673}" srcOrd="7" destOrd="0" parTransId="{7B4E63F7-137E-4B7C-8265-C76C0B5A7623}" sibTransId="{B293D8A8-CF32-4CBA-B9B6-2356C8E3E389}"/>
    <dgm:cxn modelId="{30E0C2FE-ECAD-44B0-8554-D6B80CF6413F}" type="presOf" srcId="{B293D8A8-CF32-4CBA-B9B6-2356C8E3E389}" destId="{59B32563-FEF2-4DD1-80A6-4D319B2B2CB4}" srcOrd="1" destOrd="0" presId="urn:microsoft.com/office/officeart/2005/8/layout/process5"/>
    <dgm:cxn modelId="{0EDB85FF-39E4-4CDE-A26F-074A747D6FBB}" type="presOf" srcId="{99FEF920-59FF-4228-9958-25992FBFCB64}" destId="{A17572C6-F70A-436B-A1D7-3A0636D412FD}" srcOrd="1" destOrd="0" presId="urn:microsoft.com/office/officeart/2005/8/layout/process5"/>
    <dgm:cxn modelId="{81FE7408-413C-47F9-9C90-0FC1E180CF3D}" type="presParOf" srcId="{1DAD7954-98E5-4530-BC44-29BF5BC46F35}" destId="{8CDEFA49-E519-41FD-913F-F03726B20366}" srcOrd="0" destOrd="0" presId="urn:microsoft.com/office/officeart/2005/8/layout/process5"/>
    <dgm:cxn modelId="{6F0BADD4-336F-4B19-8CF6-1C28A99D0FA4}" type="presParOf" srcId="{1DAD7954-98E5-4530-BC44-29BF5BC46F35}" destId="{1307BEFB-A66D-448C-A7EC-8AD24638FF7E}" srcOrd="1" destOrd="0" presId="urn:microsoft.com/office/officeart/2005/8/layout/process5"/>
    <dgm:cxn modelId="{A8947F86-3A9C-4F9C-9AFA-B8CFBC4770FC}" type="presParOf" srcId="{1307BEFB-A66D-448C-A7EC-8AD24638FF7E}" destId="{73FD6D17-CEDB-4705-B1AE-5D353CC225C4}" srcOrd="0" destOrd="0" presId="urn:microsoft.com/office/officeart/2005/8/layout/process5"/>
    <dgm:cxn modelId="{7B9450EC-D58A-4D50-B70E-A1F9021F4DBC}" type="presParOf" srcId="{1DAD7954-98E5-4530-BC44-29BF5BC46F35}" destId="{D8513727-FFD1-4C89-8CEB-75B71B759A52}" srcOrd="2" destOrd="0" presId="urn:microsoft.com/office/officeart/2005/8/layout/process5"/>
    <dgm:cxn modelId="{9E7BF6EB-CCFF-42BD-80D9-E511527817F8}" type="presParOf" srcId="{1DAD7954-98E5-4530-BC44-29BF5BC46F35}" destId="{4A14B3CF-E6D1-4783-A61F-96F2676D1790}" srcOrd="3" destOrd="0" presId="urn:microsoft.com/office/officeart/2005/8/layout/process5"/>
    <dgm:cxn modelId="{CFB99D14-6D51-4548-9FDB-6DDEAFF8B395}" type="presParOf" srcId="{4A14B3CF-E6D1-4783-A61F-96F2676D1790}" destId="{FA77DC0D-8E5A-4CE4-93B5-68F5FA178F1D}" srcOrd="0" destOrd="0" presId="urn:microsoft.com/office/officeart/2005/8/layout/process5"/>
    <dgm:cxn modelId="{87170BAA-008E-4897-9942-914BF23D2EED}" type="presParOf" srcId="{1DAD7954-98E5-4530-BC44-29BF5BC46F35}" destId="{924B314A-07D5-4046-BB3A-8978FFF6BBC0}" srcOrd="4" destOrd="0" presId="urn:microsoft.com/office/officeart/2005/8/layout/process5"/>
    <dgm:cxn modelId="{A45459E0-4641-4456-8FB5-A59811F80BF8}" type="presParOf" srcId="{1DAD7954-98E5-4530-BC44-29BF5BC46F35}" destId="{72908EF8-B364-431E-978B-83770DD08793}" srcOrd="5" destOrd="0" presId="urn:microsoft.com/office/officeart/2005/8/layout/process5"/>
    <dgm:cxn modelId="{514AC81B-D43E-46D8-9BD1-C087FF03FAA7}" type="presParOf" srcId="{72908EF8-B364-431E-978B-83770DD08793}" destId="{D3316DC7-4A6C-4216-A217-6F30F9FFC4BE}" srcOrd="0" destOrd="0" presId="urn:microsoft.com/office/officeart/2005/8/layout/process5"/>
    <dgm:cxn modelId="{4B0B9E6E-18E2-4C9B-9281-993C2D58CA24}" type="presParOf" srcId="{1DAD7954-98E5-4530-BC44-29BF5BC46F35}" destId="{B293559D-6945-4902-97A4-5D9221575E35}" srcOrd="6" destOrd="0" presId="urn:microsoft.com/office/officeart/2005/8/layout/process5"/>
    <dgm:cxn modelId="{6B167571-8A34-41CE-BC45-30D4D5D8C0B6}" type="presParOf" srcId="{1DAD7954-98E5-4530-BC44-29BF5BC46F35}" destId="{EDC3D61E-E87A-4839-963F-9C0C154D3F4F}" srcOrd="7" destOrd="0" presId="urn:microsoft.com/office/officeart/2005/8/layout/process5"/>
    <dgm:cxn modelId="{42C5DA21-0A80-4C26-B628-131FC26B0862}" type="presParOf" srcId="{EDC3D61E-E87A-4839-963F-9C0C154D3F4F}" destId="{A17572C6-F70A-436B-A1D7-3A0636D412FD}" srcOrd="0" destOrd="0" presId="urn:microsoft.com/office/officeart/2005/8/layout/process5"/>
    <dgm:cxn modelId="{DF298C47-B11E-44D0-8D81-21ACF2B57194}" type="presParOf" srcId="{1DAD7954-98E5-4530-BC44-29BF5BC46F35}" destId="{664048F8-E304-488B-9668-B813944484C0}" srcOrd="8" destOrd="0" presId="urn:microsoft.com/office/officeart/2005/8/layout/process5"/>
    <dgm:cxn modelId="{C7AFC217-FB9C-44A9-AD5C-061A3B49B01A}" type="presParOf" srcId="{1DAD7954-98E5-4530-BC44-29BF5BC46F35}" destId="{3969676E-7B95-4525-8050-52C20DA16970}" srcOrd="9" destOrd="0" presId="urn:microsoft.com/office/officeart/2005/8/layout/process5"/>
    <dgm:cxn modelId="{B7AC17F0-1550-46FD-BDA7-FE5B41CDAE8C}" type="presParOf" srcId="{3969676E-7B95-4525-8050-52C20DA16970}" destId="{F12ADF00-8B59-40FE-BB0D-F6C423F7A2F8}" srcOrd="0" destOrd="0" presId="urn:microsoft.com/office/officeart/2005/8/layout/process5"/>
    <dgm:cxn modelId="{5B8F92C2-2AFA-4E66-9228-892478730211}" type="presParOf" srcId="{1DAD7954-98E5-4530-BC44-29BF5BC46F35}" destId="{611E9F35-5D83-418F-BA1D-5BB639BB6FAF}" srcOrd="10" destOrd="0" presId="urn:microsoft.com/office/officeart/2005/8/layout/process5"/>
    <dgm:cxn modelId="{55A96F02-82D3-4256-BA12-C9B83C8920D3}" type="presParOf" srcId="{1DAD7954-98E5-4530-BC44-29BF5BC46F35}" destId="{17E7198A-11CF-405A-ADE8-F09A10F53A3E}" srcOrd="11" destOrd="0" presId="urn:microsoft.com/office/officeart/2005/8/layout/process5"/>
    <dgm:cxn modelId="{6065C034-2169-4B6B-A214-0D893FA30D98}" type="presParOf" srcId="{17E7198A-11CF-405A-ADE8-F09A10F53A3E}" destId="{78AAD8FD-5159-40DF-A663-16D939CC55C4}" srcOrd="0" destOrd="0" presId="urn:microsoft.com/office/officeart/2005/8/layout/process5"/>
    <dgm:cxn modelId="{7A029DE9-8B75-46FD-A9C5-F48CA0E866BC}" type="presParOf" srcId="{1DAD7954-98E5-4530-BC44-29BF5BC46F35}" destId="{E724B4C3-6727-419D-A393-85AEF67CB49C}" srcOrd="12" destOrd="0" presId="urn:microsoft.com/office/officeart/2005/8/layout/process5"/>
    <dgm:cxn modelId="{9BAF28E5-9D9E-4B2A-881A-5F148AC972B2}" type="presParOf" srcId="{1DAD7954-98E5-4530-BC44-29BF5BC46F35}" destId="{CE83ED77-746D-48D0-A285-495F3A8C50D6}" srcOrd="13" destOrd="0" presId="urn:microsoft.com/office/officeart/2005/8/layout/process5"/>
    <dgm:cxn modelId="{D3429DFD-E728-4F1C-BAE5-46638D355D33}" type="presParOf" srcId="{CE83ED77-746D-48D0-A285-495F3A8C50D6}" destId="{2BD025FB-91B7-47B3-88F1-A204D0DCFD5E}" srcOrd="0" destOrd="0" presId="urn:microsoft.com/office/officeart/2005/8/layout/process5"/>
    <dgm:cxn modelId="{2DC6B052-788B-4BF8-B903-E6B0C0446070}" type="presParOf" srcId="{1DAD7954-98E5-4530-BC44-29BF5BC46F35}" destId="{DCF6EF26-AD1A-418D-8E1B-187ED459C45C}" srcOrd="14" destOrd="0" presId="urn:microsoft.com/office/officeart/2005/8/layout/process5"/>
    <dgm:cxn modelId="{451E8CCE-F79F-4AA9-A18A-86B7CB44C639}" type="presParOf" srcId="{1DAD7954-98E5-4530-BC44-29BF5BC46F35}" destId="{91DB6F46-D868-444E-946F-4F1903D17459}" srcOrd="15" destOrd="0" presId="urn:microsoft.com/office/officeart/2005/8/layout/process5"/>
    <dgm:cxn modelId="{73AC24DB-3429-46AA-B099-1C9B47C7A8C1}" type="presParOf" srcId="{91DB6F46-D868-444E-946F-4F1903D17459}" destId="{59B32563-FEF2-4DD1-80A6-4D319B2B2CB4}" srcOrd="0" destOrd="0" presId="urn:microsoft.com/office/officeart/2005/8/layout/process5"/>
    <dgm:cxn modelId="{766B54C6-03A3-473F-984D-73AB11329415}" type="presParOf" srcId="{1DAD7954-98E5-4530-BC44-29BF5BC46F35}" destId="{571D2867-100C-4DC0-991B-E612BF31C8B4}" srcOrd="16" destOrd="0" presId="urn:microsoft.com/office/officeart/2005/8/layout/process5"/>
    <dgm:cxn modelId="{D22D06FD-D31C-4414-B779-EB494C266AAB}" type="presParOf" srcId="{1DAD7954-98E5-4530-BC44-29BF5BC46F35}" destId="{A40436EC-7ACF-433B-A253-3F80D6F91804}" srcOrd="17" destOrd="0" presId="urn:microsoft.com/office/officeart/2005/8/layout/process5"/>
    <dgm:cxn modelId="{8E248F74-F5F1-4FA2-AC06-A26126814285}" type="presParOf" srcId="{A40436EC-7ACF-433B-A253-3F80D6F91804}" destId="{C25B7AF6-72DE-4FD1-B36C-00A8833F316F}" srcOrd="0" destOrd="0" presId="urn:microsoft.com/office/officeart/2005/8/layout/process5"/>
    <dgm:cxn modelId="{8C4D0100-D402-4C1E-8DEB-098917085CD7}" type="presParOf" srcId="{1DAD7954-98E5-4530-BC44-29BF5BC46F35}" destId="{282500A8-9A09-4542-9A53-0999611927C2}" srcOrd="18" destOrd="0" presId="urn:microsoft.com/office/officeart/2005/8/layout/process5"/>
    <dgm:cxn modelId="{21F17B29-F61C-47F5-9DBC-52AB7FF64044}" type="presParOf" srcId="{1DAD7954-98E5-4530-BC44-29BF5BC46F35}" destId="{C3655BE6-FA4B-446B-9BB0-B080EB3489EE}" srcOrd="19" destOrd="0" presId="urn:microsoft.com/office/officeart/2005/8/layout/process5"/>
    <dgm:cxn modelId="{230C5AEA-5BBE-4648-BD80-771F11D95F15}" type="presParOf" srcId="{C3655BE6-FA4B-446B-9BB0-B080EB3489EE}" destId="{AC80700F-46D9-4593-9BBA-A19563670892}" srcOrd="0" destOrd="0" presId="urn:microsoft.com/office/officeart/2005/8/layout/process5"/>
    <dgm:cxn modelId="{D2A629C5-40C5-47C4-B1ED-78DB1C0C84A3}" type="presParOf" srcId="{1DAD7954-98E5-4530-BC44-29BF5BC46F35}" destId="{F4E24810-B3F9-48A5-9F8A-4DDFCD75482B}" srcOrd="20" destOrd="0" presId="urn:microsoft.com/office/officeart/2005/8/layout/process5"/>
    <dgm:cxn modelId="{C3B70219-89AD-4D22-A5EC-A52D1CE40E2E}" type="presParOf" srcId="{1DAD7954-98E5-4530-BC44-29BF5BC46F35}" destId="{FB5FF877-A278-41D8-8D51-6C62B6DD9915}" srcOrd="21" destOrd="0" presId="urn:microsoft.com/office/officeart/2005/8/layout/process5"/>
    <dgm:cxn modelId="{04FDE0BF-A22F-4839-89CC-09AA42DCBF03}" type="presParOf" srcId="{FB5FF877-A278-41D8-8D51-6C62B6DD9915}" destId="{FC52B720-9517-486C-91CB-CF36B8C896DF}" srcOrd="0" destOrd="0" presId="urn:microsoft.com/office/officeart/2005/8/layout/process5"/>
    <dgm:cxn modelId="{A02B852A-B630-4434-9A9A-87A0CDE92E7B}" type="presParOf" srcId="{1DAD7954-98E5-4530-BC44-29BF5BC46F35}" destId="{7E3A22F2-7493-471D-9D5C-DE6AE78EB534}" srcOrd="22" destOrd="0" presId="urn:microsoft.com/office/officeart/2005/8/layout/process5"/>
  </dgm:cxnLst>
  <dgm:bg>
    <a:solidFill>
      <a:srgbClr val="D0D0CE"/>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DB28753-708B-48F1-94AD-F79F39E7598F}"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13438B7E-4555-46A9-BAC3-ABA29DC2C8F3}">
      <dgm:prSet custT="1">
        <dgm:style>
          <a:lnRef idx="2">
            <a:schemeClr val="accent6"/>
          </a:lnRef>
          <a:fillRef idx="1">
            <a:schemeClr val="lt1"/>
          </a:fillRef>
          <a:effectRef idx="0">
            <a:schemeClr val="accent6"/>
          </a:effectRef>
          <a:fontRef idx="minor">
            <a:schemeClr val="dk1"/>
          </a:fontRef>
        </dgm:style>
      </dgm:prSet>
      <dgm:spPr>
        <a:solidFill>
          <a:srgbClr val="86BC25"/>
        </a:solidFill>
        <a:ln w="12700" cap="flat" cmpd="sng" algn="ctr">
          <a:solidFill>
            <a:prstClr val="white">
              <a:hueOff val="0"/>
              <a:satOff val="0"/>
              <a:lumOff val="0"/>
              <a:alphaOff val="0"/>
            </a:prstClr>
          </a:solidFill>
          <a:prstDash val="solid"/>
          <a:miter lim="800000"/>
        </a:ln>
        <a:effectLst/>
      </dgm:spPr>
      <dgm:t>
        <a:bodyPr spcFirstLastPara="0" vert="horz" wrap="square" lIns="64770" tIns="32385" rIns="64770" bIns="32385" numCol="1" spcCol="1270" anchor="ctr" anchorCtr="0"/>
        <a:lstStyle/>
        <a:p>
          <a:pPr marL="344488" lvl="0" indent="0" algn="ctr" defTabSz="755650">
            <a:lnSpc>
              <a:spcPct val="90000"/>
            </a:lnSpc>
            <a:spcBef>
              <a:spcPct val="0"/>
            </a:spcBef>
            <a:spcAft>
              <a:spcPct val="35000"/>
            </a:spcAft>
            <a:buNone/>
          </a:pPr>
          <a:r>
            <a:rPr lang="en-GB" sz="1100" kern="1200" dirty="0">
              <a:solidFill>
                <a:prstClr val="white"/>
              </a:solidFill>
              <a:latin typeface="Verdana" panose="020B0604030504040204" pitchFamily="34" charset="0"/>
              <a:ea typeface="Verdana" panose="020B0604030504040204" pitchFamily="34" charset="0"/>
              <a:cs typeface="+mn-cs"/>
            </a:rPr>
            <a:t>Target of 1600 MW through land based solar projects (less than 10 MW) till 2027</a:t>
          </a:r>
          <a:endParaRPr lang="en-US" sz="1100" kern="1200" dirty="0">
            <a:solidFill>
              <a:prstClr val="white"/>
            </a:solidFill>
            <a:latin typeface="Verdana" panose="020B0604030504040204" pitchFamily="34" charset="0"/>
            <a:ea typeface="Verdana" panose="020B0604030504040204" pitchFamily="34" charset="0"/>
            <a:cs typeface="+mn-cs"/>
          </a:endParaRPr>
        </a:p>
      </dgm:t>
    </dgm:pt>
    <dgm:pt modelId="{FC0A7A79-5E8D-4007-975E-DA5287D90353}" type="parTrans" cxnId="{B308E3BB-0C54-4AC6-A541-7620AC4FA905}">
      <dgm:prSet/>
      <dgm:spPr/>
      <dgm:t>
        <a:bodyPr/>
        <a:lstStyle/>
        <a:p>
          <a:endParaRPr lang="en-US" sz="1100">
            <a:latin typeface="Verdana" panose="020B0604030504040204" pitchFamily="34" charset="0"/>
            <a:ea typeface="Verdana" panose="020B0604030504040204" pitchFamily="34" charset="0"/>
          </a:endParaRPr>
        </a:p>
      </dgm:t>
    </dgm:pt>
    <dgm:pt modelId="{286D118D-4840-480F-B566-15FC03232482}" type="sibTrans" cxnId="{B308E3BB-0C54-4AC6-A541-7620AC4FA905}">
      <dgm:prSet/>
      <dgm:spPr/>
      <dgm:t>
        <a:bodyPr/>
        <a:lstStyle/>
        <a:p>
          <a:endParaRPr lang="en-US" sz="1100">
            <a:latin typeface="Verdana" panose="020B0604030504040204" pitchFamily="34" charset="0"/>
            <a:ea typeface="Verdana" panose="020B0604030504040204" pitchFamily="34" charset="0"/>
          </a:endParaRPr>
        </a:p>
      </dgm:t>
    </dgm:pt>
    <dgm:pt modelId="{02B7DA79-E3FC-4213-9B60-AC3B5E16FF81}">
      <dgm:prSet custT="1">
        <dgm:style>
          <a:lnRef idx="2">
            <a:schemeClr val="accent5"/>
          </a:lnRef>
          <a:fillRef idx="1">
            <a:schemeClr val="lt1"/>
          </a:fillRef>
          <a:effectRef idx="0">
            <a:schemeClr val="accent5"/>
          </a:effectRef>
          <a:fontRef idx="minor">
            <a:schemeClr val="dk1"/>
          </a:fontRef>
        </dgm:style>
      </dgm:prSet>
      <dgm:spPr>
        <a:solidFill>
          <a:schemeClr val="tx1">
            <a:lumMod val="65000"/>
            <a:lumOff val="35000"/>
          </a:schemeClr>
        </a:solidFill>
        <a:ln w="25400" cap="flat" cmpd="sng" algn="ctr">
          <a:solidFill>
            <a:prstClr val="black"/>
          </a:solidFill>
          <a:prstDash val="solid"/>
        </a:ln>
        <a:effectLst/>
      </dgm:spPr>
      <dgm:t>
        <a:bodyPr spcFirstLastPara="0" vert="horz" wrap="square" lIns="475655" tIns="27940" rIns="27940" bIns="27940" numCol="1" spcCol="1270" anchor="ctr" anchorCtr="0"/>
        <a:lstStyle/>
        <a:p>
          <a:pPr marL="0" lvl="0" indent="0" algn="l" defTabSz="488950">
            <a:lnSpc>
              <a:spcPct val="90000"/>
            </a:lnSpc>
            <a:spcBef>
              <a:spcPct val="0"/>
            </a:spcBef>
            <a:spcAft>
              <a:spcPct val="35000"/>
            </a:spcAft>
            <a:buNone/>
          </a:pPr>
          <a:r>
            <a:rPr lang="en-US" sz="1100" b="0" kern="1200" dirty="0">
              <a:solidFill>
                <a:schemeClr val="bg1"/>
              </a:solidFill>
              <a:latin typeface="Verdana" panose="020B0604030504040204" pitchFamily="34" charset="0"/>
              <a:ea typeface="Verdana" panose="020B0604030504040204" pitchFamily="34" charset="0"/>
              <a:cs typeface="+mn-cs"/>
            </a:rPr>
            <a:t>DISCOMs could use any spare land available in </a:t>
          </a:r>
          <a:r>
            <a:rPr lang="en-GB" sz="1100" b="0" kern="1200" dirty="0">
              <a:solidFill>
                <a:schemeClr val="bg1"/>
              </a:solidFill>
              <a:latin typeface="Verdana" panose="020B0604030504040204" pitchFamily="34" charset="0"/>
              <a:ea typeface="Verdana" panose="020B0604030504040204" pitchFamily="34" charset="0"/>
              <a:cs typeface="+mn-cs"/>
            </a:rPr>
            <a:t>their substations to develop solar projects with a minimum capacity of 1 MW</a:t>
          </a:r>
          <a:endParaRPr lang="en-US" sz="1100" b="0" kern="1200" dirty="0">
            <a:solidFill>
              <a:schemeClr val="bg1"/>
            </a:solidFill>
            <a:latin typeface="Verdana" panose="020B0604030504040204" pitchFamily="34" charset="0"/>
            <a:ea typeface="Verdana" panose="020B0604030504040204" pitchFamily="34" charset="0"/>
            <a:cs typeface="+mn-cs"/>
          </a:endParaRPr>
        </a:p>
      </dgm:t>
    </dgm:pt>
    <dgm:pt modelId="{B2B7EAF1-BF93-4E20-9F6C-FE4365BE60BF}" type="parTrans" cxnId="{788EDA33-A068-4164-A2E1-794EB9C0E769}">
      <dgm:prSet/>
      <dgm:spPr/>
      <dgm:t>
        <a:bodyPr/>
        <a:lstStyle/>
        <a:p>
          <a:endParaRPr lang="en-US" sz="1100">
            <a:latin typeface="Verdana" panose="020B0604030504040204" pitchFamily="34" charset="0"/>
            <a:ea typeface="Verdana" panose="020B0604030504040204" pitchFamily="34" charset="0"/>
          </a:endParaRPr>
        </a:p>
      </dgm:t>
    </dgm:pt>
    <dgm:pt modelId="{F918C0AB-1277-403C-B9B9-C72DA6E55A32}" type="sibTrans" cxnId="{788EDA33-A068-4164-A2E1-794EB9C0E769}">
      <dgm:prSet/>
      <dgm:spPr/>
      <dgm:t>
        <a:bodyPr/>
        <a:lstStyle/>
        <a:p>
          <a:endParaRPr lang="en-US" sz="1100">
            <a:latin typeface="Verdana" panose="020B0604030504040204" pitchFamily="34" charset="0"/>
            <a:ea typeface="Verdana" panose="020B0604030504040204" pitchFamily="34" charset="0"/>
          </a:endParaRPr>
        </a:p>
      </dgm:t>
    </dgm:pt>
    <dgm:pt modelId="{DF5499B3-68DC-48D9-BC86-10219070FC92}">
      <dgm:prSet custT="1"/>
      <dgm:spPr>
        <a:solidFill>
          <a:srgbClr val="86BC25"/>
        </a:solidFill>
      </dgm:spPr>
      <dgm:t>
        <a:bodyPr/>
        <a:lstStyle/>
        <a:p>
          <a:r>
            <a:rPr lang="en-US" sz="1100" dirty="0">
              <a:latin typeface="Verdana" panose="020B0604030504040204" pitchFamily="34" charset="0"/>
              <a:ea typeface="Verdana" panose="020B0604030504040204" pitchFamily="34" charset="0"/>
            </a:rPr>
            <a:t>Obligated Entities are to either set up their own solar projects or purchase power from solar projects to meet their RPOs</a:t>
          </a:r>
        </a:p>
      </dgm:t>
    </dgm:pt>
    <dgm:pt modelId="{E46EE166-38FF-4F2D-B13A-B8C2A047DD66}" type="parTrans" cxnId="{05488DD8-2724-4BE2-A17E-C1C6E466245B}">
      <dgm:prSet/>
      <dgm:spPr/>
      <dgm:t>
        <a:bodyPr/>
        <a:lstStyle/>
        <a:p>
          <a:endParaRPr lang="en-US" sz="1100">
            <a:latin typeface="Verdana" panose="020B0604030504040204" pitchFamily="34" charset="0"/>
            <a:ea typeface="Verdana" panose="020B0604030504040204" pitchFamily="34" charset="0"/>
          </a:endParaRPr>
        </a:p>
      </dgm:t>
    </dgm:pt>
    <dgm:pt modelId="{6ABCE44C-C733-445A-9BA2-DB647112A636}" type="sibTrans" cxnId="{05488DD8-2724-4BE2-A17E-C1C6E466245B}">
      <dgm:prSet/>
      <dgm:spPr/>
      <dgm:t>
        <a:bodyPr/>
        <a:lstStyle/>
        <a:p>
          <a:endParaRPr lang="en-US" sz="1100">
            <a:latin typeface="Verdana" panose="020B0604030504040204" pitchFamily="34" charset="0"/>
            <a:ea typeface="Verdana" panose="020B0604030504040204" pitchFamily="34" charset="0"/>
          </a:endParaRPr>
        </a:p>
      </dgm:t>
    </dgm:pt>
    <dgm:pt modelId="{EEC02FC2-BC39-40DA-9411-9627BD6EEBD8}">
      <dgm:prSet custT="1"/>
      <dgm:spPr>
        <a:solidFill>
          <a:schemeClr val="tx1">
            <a:lumMod val="65000"/>
            <a:lumOff val="35000"/>
          </a:schemeClr>
        </a:solidFill>
        <a:ln>
          <a:solidFill>
            <a:schemeClr val="tx1"/>
          </a:solidFill>
        </a:ln>
      </dgm:spPr>
      <dgm:t>
        <a:bodyPr/>
        <a:lstStyle/>
        <a:p>
          <a:r>
            <a:rPr lang="en-US" sz="1100" b="1" dirty="0">
              <a:solidFill>
                <a:schemeClr val="bg1"/>
              </a:solidFill>
              <a:latin typeface="Verdana" panose="020B0604030504040204" pitchFamily="34" charset="0"/>
              <a:ea typeface="Verdana" panose="020B0604030504040204" pitchFamily="34" charset="0"/>
            </a:rPr>
            <a:t>No stamp duty shall be levied </a:t>
          </a:r>
          <a:r>
            <a:rPr lang="en-US" sz="1100" dirty="0">
              <a:solidFill>
                <a:schemeClr val="bg1"/>
              </a:solidFill>
              <a:latin typeface="Verdana" panose="020B0604030504040204" pitchFamily="34" charset="0"/>
              <a:ea typeface="Verdana" panose="020B0604030504040204" pitchFamily="34" charset="0"/>
            </a:rPr>
            <a:t>for land conversion as per Industrial Policy 2013</a:t>
          </a:r>
        </a:p>
      </dgm:t>
    </dgm:pt>
    <dgm:pt modelId="{D1A6B80E-F5F6-4762-B241-227215794267}" type="parTrans" cxnId="{CB38D9EE-F162-4D3B-8C7E-655EBC0BADFC}">
      <dgm:prSet/>
      <dgm:spPr/>
      <dgm:t>
        <a:bodyPr/>
        <a:lstStyle/>
        <a:p>
          <a:endParaRPr lang="en-US" sz="1100">
            <a:latin typeface="Verdana" panose="020B0604030504040204" pitchFamily="34" charset="0"/>
            <a:ea typeface="Verdana" panose="020B0604030504040204" pitchFamily="34" charset="0"/>
          </a:endParaRPr>
        </a:p>
      </dgm:t>
    </dgm:pt>
    <dgm:pt modelId="{93521B2E-AB63-4AAA-A679-CDF881F57A40}" type="sibTrans" cxnId="{CB38D9EE-F162-4D3B-8C7E-655EBC0BADFC}">
      <dgm:prSet/>
      <dgm:spPr/>
      <dgm:t>
        <a:bodyPr/>
        <a:lstStyle/>
        <a:p>
          <a:endParaRPr lang="en-US" sz="1100">
            <a:latin typeface="Verdana" panose="020B0604030504040204" pitchFamily="34" charset="0"/>
            <a:ea typeface="Verdana" panose="020B0604030504040204" pitchFamily="34" charset="0"/>
          </a:endParaRPr>
        </a:p>
      </dgm:t>
    </dgm:pt>
    <dgm:pt modelId="{6853D3D1-3946-48AF-A76E-B3486B3B32AE}">
      <dgm:prSet custT="1"/>
      <dgm:spPr>
        <a:solidFill>
          <a:srgbClr val="86BC25"/>
        </a:solidFill>
      </dgm:spPr>
      <dgm:t>
        <a:bodyPr/>
        <a:lstStyle/>
        <a:p>
          <a:r>
            <a:rPr lang="en-GB" sz="1100" dirty="0">
              <a:latin typeface="Verdana" panose="020B0604030504040204" pitchFamily="34" charset="0"/>
              <a:ea typeface="Verdana" panose="020B0604030504040204" pitchFamily="34" charset="0"/>
            </a:rPr>
            <a:t>The </a:t>
          </a:r>
          <a:r>
            <a:rPr lang="en-GB" sz="1100" b="1" dirty="0">
              <a:latin typeface="Verdana" panose="020B0604030504040204" pitchFamily="34" charset="0"/>
              <a:ea typeface="Verdana" panose="020B0604030504040204" pitchFamily="34" charset="0"/>
            </a:rPr>
            <a:t>Project Developer shall contribute </a:t>
          </a:r>
          <a:r>
            <a:rPr lang="en-GB" sz="1100" b="1" dirty="0">
              <a:solidFill>
                <a:srgbClr val="FFCD00"/>
              </a:solidFill>
              <a:latin typeface="Verdana" panose="020B0604030504040204" pitchFamily="34" charset="0"/>
              <a:ea typeface="Verdana" panose="020B0604030504040204" pitchFamily="34" charset="0"/>
            </a:rPr>
            <a:t>₹15 lakhs/MW</a:t>
          </a:r>
          <a:r>
            <a:rPr lang="en-GB" sz="1100" b="1" dirty="0">
              <a:solidFill>
                <a:schemeClr val="accent4"/>
              </a:solidFill>
              <a:latin typeface="Verdana" panose="020B0604030504040204" pitchFamily="34" charset="0"/>
              <a:ea typeface="Verdana" panose="020B0604030504040204" pitchFamily="34" charset="0"/>
            </a:rPr>
            <a:t> </a:t>
          </a:r>
          <a:r>
            <a:rPr lang="en-GB" sz="1100" b="1" dirty="0">
              <a:latin typeface="Verdana" panose="020B0604030504040204" pitchFamily="34" charset="0"/>
              <a:ea typeface="Verdana" panose="020B0604030504040204" pitchFamily="34" charset="0"/>
            </a:rPr>
            <a:t>towards West Bengal Green Energy Fund</a:t>
          </a:r>
          <a:endParaRPr lang="en-US" sz="1100" b="1" dirty="0">
            <a:latin typeface="Verdana" panose="020B0604030504040204" pitchFamily="34" charset="0"/>
            <a:ea typeface="Verdana" panose="020B0604030504040204" pitchFamily="34" charset="0"/>
          </a:endParaRPr>
        </a:p>
      </dgm:t>
    </dgm:pt>
    <dgm:pt modelId="{46A82745-9756-413F-AC75-AE5B38754F6F}" type="parTrans" cxnId="{6FD0A92F-1075-4020-A5EE-AFE57E684651}">
      <dgm:prSet/>
      <dgm:spPr/>
      <dgm:t>
        <a:bodyPr/>
        <a:lstStyle/>
        <a:p>
          <a:endParaRPr lang="en-US" sz="1100">
            <a:latin typeface="Verdana" panose="020B0604030504040204" pitchFamily="34" charset="0"/>
            <a:ea typeface="Verdana" panose="020B0604030504040204" pitchFamily="34" charset="0"/>
          </a:endParaRPr>
        </a:p>
      </dgm:t>
    </dgm:pt>
    <dgm:pt modelId="{3548FF2E-6036-4677-85A7-2EC98C664804}" type="sibTrans" cxnId="{6FD0A92F-1075-4020-A5EE-AFE57E684651}">
      <dgm:prSet/>
      <dgm:spPr/>
      <dgm:t>
        <a:bodyPr/>
        <a:lstStyle/>
        <a:p>
          <a:endParaRPr lang="en-US" sz="1100">
            <a:latin typeface="Verdana" panose="020B0604030504040204" pitchFamily="34" charset="0"/>
            <a:ea typeface="Verdana" panose="020B0604030504040204" pitchFamily="34" charset="0"/>
          </a:endParaRPr>
        </a:p>
      </dgm:t>
    </dgm:pt>
    <dgm:pt modelId="{E0D0AAD6-7237-4601-B7D7-AC102E21359C}" type="pres">
      <dgm:prSet presAssocID="{9DB28753-708B-48F1-94AD-F79F39E7598F}" presName="Name0" presStyleCnt="0">
        <dgm:presLayoutVars>
          <dgm:chMax val="7"/>
          <dgm:chPref val="7"/>
          <dgm:dir/>
        </dgm:presLayoutVars>
      </dgm:prSet>
      <dgm:spPr/>
    </dgm:pt>
    <dgm:pt modelId="{56FC3638-0C10-454B-AD4C-E54762336D2A}" type="pres">
      <dgm:prSet presAssocID="{9DB28753-708B-48F1-94AD-F79F39E7598F}" presName="Name1" presStyleCnt="0"/>
      <dgm:spPr/>
    </dgm:pt>
    <dgm:pt modelId="{83B17EF4-9EA3-40E2-AAE3-879424FCA8FB}" type="pres">
      <dgm:prSet presAssocID="{9DB28753-708B-48F1-94AD-F79F39E7598F}" presName="cycle" presStyleCnt="0"/>
      <dgm:spPr/>
    </dgm:pt>
    <dgm:pt modelId="{F591790E-D79B-4312-BB00-6458DF45797B}" type="pres">
      <dgm:prSet presAssocID="{9DB28753-708B-48F1-94AD-F79F39E7598F}" presName="srcNode" presStyleLbl="node1" presStyleIdx="0" presStyleCnt="5"/>
      <dgm:spPr/>
    </dgm:pt>
    <dgm:pt modelId="{F614C1CA-1180-4D51-85B2-CDB48620094E}" type="pres">
      <dgm:prSet presAssocID="{9DB28753-708B-48F1-94AD-F79F39E7598F}" presName="conn" presStyleLbl="parChTrans1D2" presStyleIdx="0" presStyleCnt="1"/>
      <dgm:spPr/>
    </dgm:pt>
    <dgm:pt modelId="{B20C0C23-0257-413E-BEA0-39774A1D3741}" type="pres">
      <dgm:prSet presAssocID="{9DB28753-708B-48F1-94AD-F79F39E7598F}" presName="extraNode" presStyleLbl="node1" presStyleIdx="0" presStyleCnt="5"/>
      <dgm:spPr/>
    </dgm:pt>
    <dgm:pt modelId="{027CA2EB-A086-4426-AC07-911150BF63F4}" type="pres">
      <dgm:prSet presAssocID="{9DB28753-708B-48F1-94AD-F79F39E7598F}" presName="dstNode" presStyleLbl="node1" presStyleIdx="0" presStyleCnt="5"/>
      <dgm:spPr/>
    </dgm:pt>
    <dgm:pt modelId="{2B663F31-05A2-46C0-BE55-34AFE9EE33D2}" type="pres">
      <dgm:prSet presAssocID="{13438B7E-4555-46A9-BAC3-ABA29DC2C8F3}" presName="text_1" presStyleLbl="node1" presStyleIdx="0" presStyleCnt="5">
        <dgm:presLayoutVars>
          <dgm:bulletEnabled val="1"/>
        </dgm:presLayoutVars>
      </dgm:prSet>
      <dgm:spPr/>
    </dgm:pt>
    <dgm:pt modelId="{1502499A-8923-422E-9007-C18D8E233219}" type="pres">
      <dgm:prSet presAssocID="{13438B7E-4555-46A9-BAC3-ABA29DC2C8F3}" presName="accent_1" presStyleCnt="0"/>
      <dgm:spPr/>
    </dgm:pt>
    <dgm:pt modelId="{00FF04CB-C685-4FDD-8F8D-194E6636FC19}" type="pres">
      <dgm:prSet presAssocID="{13438B7E-4555-46A9-BAC3-ABA29DC2C8F3}" presName="accentRepeatNode" presStyleLbl="solidFgAcc1" presStyleIdx="0" presStyleCnt="5"/>
      <dgm:spPr/>
    </dgm:pt>
    <dgm:pt modelId="{43C05D2D-284E-4658-BF41-422963C24DB6}" type="pres">
      <dgm:prSet presAssocID="{02B7DA79-E3FC-4213-9B60-AC3B5E16FF81}" presName="text_2" presStyleLbl="node1" presStyleIdx="1" presStyleCnt="5">
        <dgm:presLayoutVars>
          <dgm:bulletEnabled val="1"/>
        </dgm:presLayoutVars>
      </dgm:prSet>
      <dgm:spPr>
        <a:xfrm>
          <a:off x="881257" y="1198020"/>
          <a:ext cx="5091143" cy="599249"/>
        </a:xfrm>
        <a:prstGeom prst="rect">
          <a:avLst/>
        </a:prstGeom>
      </dgm:spPr>
    </dgm:pt>
    <dgm:pt modelId="{D4662D6A-AFFD-45D7-AEF6-1F588049F470}" type="pres">
      <dgm:prSet presAssocID="{02B7DA79-E3FC-4213-9B60-AC3B5E16FF81}" presName="accent_2" presStyleCnt="0"/>
      <dgm:spPr/>
    </dgm:pt>
    <dgm:pt modelId="{67877702-3A89-48D8-9DB5-7AAC693DB326}" type="pres">
      <dgm:prSet presAssocID="{02B7DA79-E3FC-4213-9B60-AC3B5E16FF81}" presName="accentRepeatNode" presStyleLbl="solidFgAcc1" presStyleIdx="1" presStyleCnt="5"/>
      <dgm:spPr/>
    </dgm:pt>
    <dgm:pt modelId="{076ED324-406D-410A-BD84-7B4EC747F9FC}" type="pres">
      <dgm:prSet presAssocID="{DF5499B3-68DC-48D9-BC86-10219070FC92}" presName="text_3" presStyleLbl="node1" presStyleIdx="2" presStyleCnt="5" custLinFactNeighborX="-224" custLinFactNeighborY="4877">
        <dgm:presLayoutVars>
          <dgm:bulletEnabled val="1"/>
        </dgm:presLayoutVars>
      </dgm:prSet>
      <dgm:spPr/>
    </dgm:pt>
    <dgm:pt modelId="{E9A13345-7EC1-4A34-B036-1FF255B6638E}" type="pres">
      <dgm:prSet presAssocID="{DF5499B3-68DC-48D9-BC86-10219070FC92}" presName="accent_3" presStyleCnt="0"/>
      <dgm:spPr/>
    </dgm:pt>
    <dgm:pt modelId="{C0538CE7-7BEC-48CE-BED6-D3509E92E348}" type="pres">
      <dgm:prSet presAssocID="{DF5499B3-68DC-48D9-BC86-10219070FC92}" presName="accentRepeatNode" presStyleLbl="solidFgAcc1" presStyleIdx="2" presStyleCnt="5"/>
      <dgm:spPr/>
    </dgm:pt>
    <dgm:pt modelId="{ECE24E53-26B2-4513-861E-265FA6646673}" type="pres">
      <dgm:prSet presAssocID="{EEC02FC2-BC39-40DA-9411-9627BD6EEBD8}" presName="text_4" presStyleLbl="node1" presStyleIdx="3" presStyleCnt="5">
        <dgm:presLayoutVars>
          <dgm:bulletEnabled val="1"/>
        </dgm:presLayoutVars>
      </dgm:prSet>
      <dgm:spPr/>
    </dgm:pt>
    <dgm:pt modelId="{C9315D13-BF65-44C8-AE36-A0CB2DD76109}" type="pres">
      <dgm:prSet presAssocID="{EEC02FC2-BC39-40DA-9411-9627BD6EEBD8}" presName="accent_4" presStyleCnt="0"/>
      <dgm:spPr/>
    </dgm:pt>
    <dgm:pt modelId="{F62A1658-EC31-4780-9E25-21AF11439F38}" type="pres">
      <dgm:prSet presAssocID="{EEC02FC2-BC39-40DA-9411-9627BD6EEBD8}" presName="accentRepeatNode" presStyleLbl="solidFgAcc1" presStyleIdx="3" presStyleCnt="5"/>
      <dgm:spPr/>
    </dgm:pt>
    <dgm:pt modelId="{EF6807E0-3E13-419F-B92D-3C876C086B64}" type="pres">
      <dgm:prSet presAssocID="{6853D3D1-3946-48AF-A76E-B3486B3B32AE}" presName="text_5" presStyleLbl="node1" presStyleIdx="4" presStyleCnt="5">
        <dgm:presLayoutVars>
          <dgm:bulletEnabled val="1"/>
        </dgm:presLayoutVars>
      </dgm:prSet>
      <dgm:spPr/>
    </dgm:pt>
    <dgm:pt modelId="{616FEEB6-9E26-444F-BF45-05CD9C9B3370}" type="pres">
      <dgm:prSet presAssocID="{6853D3D1-3946-48AF-A76E-B3486B3B32AE}" presName="accent_5" presStyleCnt="0"/>
      <dgm:spPr/>
    </dgm:pt>
    <dgm:pt modelId="{FDDDAC9F-EDB8-4E10-8EBB-72CC9FCC76D6}" type="pres">
      <dgm:prSet presAssocID="{6853D3D1-3946-48AF-A76E-B3486B3B32AE}" presName="accentRepeatNode" presStyleLbl="solidFgAcc1" presStyleIdx="4" presStyleCnt="5"/>
      <dgm:spPr/>
    </dgm:pt>
  </dgm:ptLst>
  <dgm:cxnLst>
    <dgm:cxn modelId="{93FA1502-DA3B-4274-AECB-51A5CD7F1871}" type="presOf" srcId="{286D118D-4840-480F-B566-15FC03232482}" destId="{F614C1CA-1180-4D51-85B2-CDB48620094E}" srcOrd="0" destOrd="0" presId="urn:microsoft.com/office/officeart/2008/layout/VerticalCurvedList"/>
    <dgm:cxn modelId="{20459D03-9443-4A62-B3D2-EA396E8B2412}" type="presOf" srcId="{DF5499B3-68DC-48D9-BC86-10219070FC92}" destId="{076ED324-406D-410A-BD84-7B4EC747F9FC}" srcOrd="0" destOrd="0" presId="urn:microsoft.com/office/officeart/2008/layout/VerticalCurvedList"/>
    <dgm:cxn modelId="{7F582E0B-C531-4E7A-A3F2-B4830BCFDE5B}" type="presOf" srcId="{6853D3D1-3946-48AF-A76E-B3486B3B32AE}" destId="{EF6807E0-3E13-419F-B92D-3C876C086B64}" srcOrd="0" destOrd="0" presId="urn:microsoft.com/office/officeart/2008/layout/VerticalCurvedList"/>
    <dgm:cxn modelId="{6FD0A92F-1075-4020-A5EE-AFE57E684651}" srcId="{9DB28753-708B-48F1-94AD-F79F39E7598F}" destId="{6853D3D1-3946-48AF-A76E-B3486B3B32AE}" srcOrd="4" destOrd="0" parTransId="{46A82745-9756-413F-AC75-AE5B38754F6F}" sibTransId="{3548FF2E-6036-4677-85A7-2EC98C664804}"/>
    <dgm:cxn modelId="{788EDA33-A068-4164-A2E1-794EB9C0E769}" srcId="{9DB28753-708B-48F1-94AD-F79F39E7598F}" destId="{02B7DA79-E3FC-4213-9B60-AC3B5E16FF81}" srcOrd="1" destOrd="0" parTransId="{B2B7EAF1-BF93-4E20-9F6C-FE4365BE60BF}" sibTransId="{F918C0AB-1277-403C-B9B9-C72DA6E55A32}"/>
    <dgm:cxn modelId="{F3FDC13D-E873-43F5-9525-A1F0646D6BD7}" type="presOf" srcId="{13438B7E-4555-46A9-BAC3-ABA29DC2C8F3}" destId="{2B663F31-05A2-46C0-BE55-34AFE9EE33D2}" srcOrd="0" destOrd="0" presId="urn:microsoft.com/office/officeart/2008/layout/VerticalCurvedList"/>
    <dgm:cxn modelId="{5BF75EAB-BFE6-4759-965D-1C55E0CB6228}" type="presOf" srcId="{EEC02FC2-BC39-40DA-9411-9627BD6EEBD8}" destId="{ECE24E53-26B2-4513-861E-265FA6646673}" srcOrd="0" destOrd="0" presId="urn:microsoft.com/office/officeart/2008/layout/VerticalCurvedList"/>
    <dgm:cxn modelId="{B308E3BB-0C54-4AC6-A541-7620AC4FA905}" srcId="{9DB28753-708B-48F1-94AD-F79F39E7598F}" destId="{13438B7E-4555-46A9-BAC3-ABA29DC2C8F3}" srcOrd="0" destOrd="0" parTransId="{FC0A7A79-5E8D-4007-975E-DA5287D90353}" sibTransId="{286D118D-4840-480F-B566-15FC03232482}"/>
    <dgm:cxn modelId="{4BC2EBD3-28E4-4C79-895A-E5EA88024768}" type="presOf" srcId="{9DB28753-708B-48F1-94AD-F79F39E7598F}" destId="{E0D0AAD6-7237-4601-B7D7-AC102E21359C}" srcOrd="0" destOrd="0" presId="urn:microsoft.com/office/officeart/2008/layout/VerticalCurvedList"/>
    <dgm:cxn modelId="{05488DD8-2724-4BE2-A17E-C1C6E466245B}" srcId="{9DB28753-708B-48F1-94AD-F79F39E7598F}" destId="{DF5499B3-68DC-48D9-BC86-10219070FC92}" srcOrd="2" destOrd="0" parTransId="{E46EE166-38FF-4F2D-B13A-B8C2A047DD66}" sibTransId="{6ABCE44C-C733-445A-9BA2-DB647112A636}"/>
    <dgm:cxn modelId="{50A980E2-B139-4E97-861C-BE8B556097B0}" type="presOf" srcId="{02B7DA79-E3FC-4213-9B60-AC3B5E16FF81}" destId="{43C05D2D-284E-4658-BF41-422963C24DB6}" srcOrd="0" destOrd="0" presId="urn:microsoft.com/office/officeart/2008/layout/VerticalCurvedList"/>
    <dgm:cxn modelId="{CB38D9EE-F162-4D3B-8C7E-655EBC0BADFC}" srcId="{9DB28753-708B-48F1-94AD-F79F39E7598F}" destId="{EEC02FC2-BC39-40DA-9411-9627BD6EEBD8}" srcOrd="3" destOrd="0" parTransId="{D1A6B80E-F5F6-4762-B241-227215794267}" sibTransId="{93521B2E-AB63-4AAA-A679-CDF881F57A40}"/>
    <dgm:cxn modelId="{EB16FA1B-4B19-4144-8AF6-A46F48E21DB8}" type="presParOf" srcId="{E0D0AAD6-7237-4601-B7D7-AC102E21359C}" destId="{56FC3638-0C10-454B-AD4C-E54762336D2A}" srcOrd="0" destOrd="0" presId="urn:microsoft.com/office/officeart/2008/layout/VerticalCurvedList"/>
    <dgm:cxn modelId="{ADB06454-C8F6-411D-8A93-75BCDB5C915D}" type="presParOf" srcId="{56FC3638-0C10-454B-AD4C-E54762336D2A}" destId="{83B17EF4-9EA3-40E2-AAE3-879424FCA8FB}" srcOrd="0" destOrd="0" presId="urn:microsoft.com/office/officeart/2008/layout/VerticalCurvedList"/>
    <dgm:cxn modelId="{D4D708D0-64CB-4212-AB71-F3642153FA32}" type="presParOf" srcId="{83B17EF4-9EA3-40E2-AAE3-879424FCA8FB}" destId="{F591790E-D79B-4312-BB00-6458DF45797B}" srcOrd="0" destOrd="0" presId="urn:microsoft.com/office/officeart/2008/layout/VerticalCurvedList"/>
    <dgm:cxn modelId="{D1E844E8-FCC7-495E-B2CE-25578EF356F7}" type="presParOf" srcId="{83B17EF4-9EA3-40E2-AAE3-879424FCA8FB}" destId="{F614C1CA-1180-4D51-85B2-CDB48620094E}" srcOrd="1" destOrd="0" presId="urn:microsoft.com/office/officeart/2008/layout/VerticalCurvedList"/>
    <dgm:cxn modelId="{A2354F32-A7CB-4060-A678-D16AB2B23FB3}" type="presParOf" srcId="{83B17EF4-9EA3-40E2-AAE3-879424FCA8FB}" destId="{B20C0C23-0257-413E-BEA0-39774A1D3741}" srcOrd="2" destOrd="0" presId="urn:microsoft.com/office/officeart/2008/layout/VerticalCurvedList"/>
    <dgm:cxn modelId="{D9243324-F573-47B0-9BC0-3ED8462D2880}" type="presParOf" srcId="{83B17EF4-9EA3-40E2-AAE3-879424FCA8FB}" destId="{027CA2EB-A086-4426-AC07-911150BF63F4}" srcOrd="3" destOrd="0" presId="urn:microsoft.com/office/officeart/2008/layout/VerticalCurvedList"/>
    <dgm:cxn modelId="{603AB991-5412-4DAE-A47A-6041FD55A79A}" type="presParOf" srcId="{56FC3638-0C10-454B-AD4C-E54762336D2A}" destId="{2B663F31-05A2-46C0-BE55-34AFE9EE33D2}" srcOrd="1" destOrd="0" presId="urn:microsoft.com/office/officeart/2008/layout/VerticalCurvedList"/>
    <dgm:cxn modelId="{F5FE24D9-68B5-44BB-BBAB-6726FB6E8D05}" type="presParOf" srcId="{56FC3638-0C10-454B-AD4C-E54762336D2A}" destId="{1502499A-8923-422E-9007-C18D8E233219}" srcOrd="2" destOrd="0" presId="urn:microsoft.com/office/officeart/2008/layout/VerticalCurvedList"/>
    <dgm:cxn modelId="{BA91076F-10F2-4052-BBAF-23BE9F7A6D40}" type="presParOf" srcId="{1502499A-8923-422E-9007-C18D8E233219}" destId="{00FF04CB-C685-4FDD-8F8D-194E6636FC19}" srcOrd="0" destOrd="0" presId="urn:microsoft.com/office/officeart/2008/layout/VerticalCurvedList"/>
    <dgm:cxn modelId="{DF8CB381-0E76-47DA-8AA9-B6E9DD0DA637}" type="presParOf" srcId="{56FC3638-0C10-454B-AD4C-E54762336D2A}" destId="{43C05D2D-284E-4658-BF41-422963C24DB6}" srcOrd="3" destOrd="0" presId="urn:microsoft.com/office/officeart/2008/layout/VerticalCurvedList"/>
    <dgm:cxn modelId="{3775E999-1249-48B0-B4B9-46B987BEA850}" type="presParOf" srcId="{56FC3638-0C10-454B-AD4C-E54762336D2A}" destId="{D4662D6A-AFFD-45D7-AEF6-1F588049F470}" srcOrd="4" destOrd="0" presId="urn:microsoft.com/office/officeart/2008/layout/VerticalCurvedList"/>
    <dgm:cxn modelId="{B5D52C01-BABE-4F78-9BA6-B053103B85B1}" type="presParOf" srcId="{D4662D6A-AFFD-45D7-AEF6-1F588049F470}" destId="{67877702-3A89-48D8-9DB5-7AAC693DB326}" srcOrd="0" destOrd="0" presId="urn:microsoft.com/office/officeart/2008/layout/VerticalCurvedList"/>
    <dgm:cxn modelId="{D911C13C-1B6C-4F8F-8B7B-BDACE8890685}" type="presParOf" srcId="{56FC3638-0C10-454B-AD4C-E54762336D2A}" destId="{076ED324-406D-410A-BD84-7B4EC747F9FC}" srcOrd="5" destOrd="0" presId="urn:microsoft.com/office/officeart/2008/layout/VerticalCurvedList"/>
    <dgm:cxn modelId="{BFCF16DF-5E01-43D5-97BD-9ADDDBA592B1}" type="presParOf" srcId="{56FC3638-0C10-454B-AD4C-E54762336D2A}" destId="{E9A13345-7EC1-4A34-B036-1FF255B6638E}" srcOrd="6" destOrd="0" presId="urn:microsoft.com/office/officeart/2008/layout/VerticalCurvedList"/>
    <dgm:cxn modelId="{BC813DA3-C53D-48D1-9605-27B343F7006F}" type="presParOf" srcId="{E9A13345-7EC1-4A34-B036-1FF255B6638E}" destId="{C0538CE7-7BEC-48CE-BED6-D3509E92E348}" srcOrd="0" destOrd="0" presId="urn:microsoft.com/office/officeart/2008/layout/VerticalCurvedList"/>
    <dgm:cxn modelId="{1C8F99EB-2AC0-4DEC-9F89-E8B2363ED3D9}" type="presParOf" srcId="{56FC3638-0C10-454B-AD4C-E54762336D2A}" destId="{ECE24E53-26B2-4513-861E-265FA6646673}" srcOrd="7" destOrd="0" presId="urn:microsoft.com/office/officeart/2008/layout/VerticalCurvedList"/>
    <dgm:cxn modelId="{A0B23FDD-E1E9-4920-8AD8-7A0C6E36521A}" type="presParOf" srcId="{56FC3638-0C10-454B-AD4C-E54762336D2A}" destId="{C9315D13-BF65-44C8-AE36-A0CB2DD76109}" srcOrd="8" destOrd="0" presId="urn:microsoft.com/office/officeart/2008/layout/VerticalCurvedList"/>
    <dgm:cxn modelId="{41D5B9F6-9233-4593-B5BA-C6CF968A5F81}" type="presParOf" srcId="{C9315D13-BF65-44C8-AE36-A0CB2DD76109}" destId="{F62A1658-EC31-4780-9E25-21AF11439F38}" srcOrd="0" destOrd="0" presId="urn:microsoft.com/office/officeart/2008/layout/VerticalCurvedList"/>
    <dgm:cxn modelId="{57779B29-178D-4E8B-8A6D-AFECA3963D1C}" type="presParOf" srcId="{56FC3638-0C10-454B-AD4C-E54762336D2A}" destId="{EF6807E0-3E13-419F-B92D-3C876C086B64}" srcOrd="9" destOrd="0" presId="urn:microsoft.com/office/officeart/2008/layout/VerticalCurvedList"/>
    <dgm:cxn modelId="{E0003E8B-DD42-4AB5-859A-541FB176F035}" type="presParOf" srcId="{56FC3638-0C10-454B-AD4C-E54762336D2A}" destId="{616FEEB6-9E26-444F-BF45-05CD9C9B3370}" srcOrd="10" destOrd="0" presId="urn:microsoft.com/office/officeart/2008/layout/VerticalCurvedList"/>
    <dgm:cxn modelId="{1AB683BF-8CE0-49E1-8425-9E10969C1BF4}" type="presParOf" srcId="{616FEEB6-9E26-444F-BF45-05CD9C9B3370}" destId="{FDDDAC9F-EDB8-4E10-8EBB-72CC9FCC76D6}"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C53B594-B328-4348-AAB2-F0E4F123607E}"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8F321AD1-92B6-4197-89BD-92C250D18D0E}">
      <dgm:prSet phldrT="[Text]" custT="1"/>
      <dgm:spPr>
        <a:solidFill>
          <a:srgbClr val="009A44"/>
        </a:solidFill>
      </dgm:spPr>
      <dgm:t>
        <a:bodyPr/>
        <a:lstStyle/>
        <a:p>
          <a:pPr>
            <a:buFont typeface="+mj-lt"/>
            <a:buAutoNum type="alphaLcParenR"/>
          </a:pPr>
          <a:r>
            <a:rPr lang="en-GB" sz="1200" dirty="0"/>
            <a:t>Performance guarantee of Rs.10 Lakh/MW or Rs 2.5 Laky/acre of land allotted, whichever is higher shall be levied.</a:t>
          </a:r>
          <a:endParaRPr lang="en-US" sz="1200" dirty="0"/>
        </a:p>
      </dgm:t>
    </dgm:pt>
    <dgm:pt modelId="{3E8F33AE-3A0A-4068-87F6-8B3133934432}" type="sibTrans" cxnId="{F4C1701D-C3A6-4226-8F13-A0AE1B161D9A}">
      <dgm:prSet/>
      <dgm:spPr/>
      <dgm:t>
        <a:bodyPr/>
        <a:lstStyle/>
        <a:p>
          <a:endParaRPr lang="en-US" sz="1200"/>
        </a:p>
      </dgm:t>
    </dgm:pt>
    <dgm:pt modelId="{97818C3D-4042-441F-B2F7-CD3DC8D3315A}" type="parTrans" cxnId="{F4C1701D-C3A6-4226-8F13-A0AE1B161D9A}">
      <dgm:prSet/>
      <dgm:spPr/>
      <dgm:t>
        <a:bodyPr/>
        <a:lstStyle/>
        <a:p>
          <a:endParaRPr lang="en-US" sz="1200"/>
        </a:p>
      </dgm:t>
    </dgm:pt>
    <dgm:pt modelId="{CA33CEAC-D038-4CAA-9ED8-0A8325CE1BC0}">
      <dgm:prSet phldrT="[Text]" custT="1"/>
      <dgm:spPr>
        <a:solidFill>
          <a:schemeClr val="accent1">
            <a:lumMod val="50000"/>
          </a:schemeClr>
        </a:solidFill>
      </dgm:spPr>
      <dgm:t>
        <a:bodyPr/>
        <a:lstStyle/>
        <a:p>
          <a:r>
            <a:rPr lang="en-GB" sz="1200" dirty="0"/>
            <a:t>Project developer shall confirm acceptance of the project within 4 weeks of issuance of LOA</a:t>
          </a:r>
          <a:endParaRPr lang="en-US" sz="1200" dirty="0"/>
        </a:p>
      </dgm:t>
    </dgm:pt>
    <dgm:pt modelId="{08914E1B-7F6A-4DBC-B561-E0DC77923990}" type="sibTrans" cxnId="{552F5C0F-C021-44EF-B95C-56FA05104A35}">
      <dgm:prSet/>
      <dgm:spPr/>
      <dgm:t>
        <a:bodyPr/>
        <a:lstStyle/>
        <a:p>
          <a:endParaRPr lang="en-US" sz="1200"/>
        </a:p>
      </dgm:t>
    </dgm:pt>
    <dgm:pt modelId="{BA29C71E-0AE1-4195-B206-E8D070A39C9A}" type="parTrans" cxnId="{552F5C0F-C021-44EF-B95C-56FA05104A35}">
      <dgm:prSet/>
      <dgm:spPr/>
      <dgm:t>
        <a:bodyPr/>
        <a:lstStyle/>
        <a:p>
          <a:endParaRPr lang="en-US" sz="1200"/>
        </a:p>
      </dgm:t>
    </dgm:pt>
    <dgm:pt modelId="{A66D6441-43B7-41A0-B35F-95DF12F55F3B}">
      <dgm:prSet phldrT="[Text]" custT="1"/>
      <dgm:spPr>
        <a:solidFill>
          <a:srgbClr val="009A44"/>
        </a:solidFill>
      </dgm:spPr>
      <dgm:t>
        <a:bodyPr/>
        <a:lstStyle/>
        <a:p>
          <a:pPr>
            <a:buFont typeface="+mj-lt"/>
            <a:buAutoNum type="alphaLcParenR"/>
          </a:pPr>
          <a:r>
            <a:rPr lang="en-GB" sz="1200" dirty="0"/>
            <a:t>On selection of developer, a LOA shall be issued to the developer.</a:t>
          </a:r>
          <a:endParaRPr lang="en-US" sz="1200" dirty="0"/>
        </a:p>
      </dgm:t>
    </dgm:pt>
    <dgm:pt modelId="{53BD4064-4C37-4819-B459-3890B4055801}" type="sibTrans" cxnId="{8D992306-F40A-4309-82E8-B99715426D94}">
      <dgm:prSet/>
      <dgm:spPr/>
      <dgm:t>
        <a:bodyPr/>
        <a:lstStyle/>
        <a:p>
          <a:endParaRPr lang="en-US" sz="1200"/>
        </a:p>
      </dgm:t>
    </dgm:pt>
    <dgm:pt modelId="{2A14D592-6773-4452-8AB0-07A9D2CC1426}" type="parTrans" cxnId="{8D992306-F40A-4309-82E8-B99715426D94}">
      <dgm:prSet/>
      <dgm:spPr/>
      <dgm:t>
        <a:bodyPr/>
        <a:lstStyle/>
        <a:p>
          <a:endParaRPr lang="en-US" sz="1200"/>
        </a:p>
      </dgm:t>
    </dgm:pt>
    <dgm:pt modelId="{2C1249CB-9CCF-478F-B1B9-54AAFA137FD4}" type="asst">
      <dgm:prSet phldrT="[Text]" custT="1"/>
      <dgm:spPr>
        <a:solidFill>
          <a:schemeClr val="accent3">
            <a:lumMod val="50000"/>
          </a:schemeClr>
        </a:solidFill>
      </dgm:spPr>
      <dgm:t>
        <a:bodyPr/>
        <a:lstStyle/>
        <a:p>
          <a:pPr>
            <a:buFont typeface="+mj-lt"/>
            <a:buAutoNum type="arabicPeriod"/>
          </a:pPr>
          <a:r>
            <a:rPr lang="en-IN" sz="1200" b="1" dirty="0"/>
            <a:t>Performance guarantee by project developer </a:t>
          </a:r>
          <a:endParaRPr lang="en-US" sz="1200" dirty="0"/>
        </a:p>
      </dgm:t>
    </dgm:pt>
    <dgm:pt modelId="{41680983-5C4C-4FFB-AC19-B62D884D425C}" type="sibTrans" cxnId="{B0232F48-5F5A-4941-BDD3-0A23AC72C731}">
      <dgm:prSet/>
      <dgm:spPr/>
      <dgm:t>
        <a:bodyPr/>
        <a:lstStyle/>
        <a:p>
          <a:endParaRPr lang="en-US" sz="1200"/>
        </a:p>
      </dgm:t>
    </dgm:pt>
    <dgm:pt modelId="{343930E3-3E57-4A52-9BDD-643D01563D88}" type="parTrans" cxnId="{B0232F48-5F5A-4941-BDD3-0A23AC72C731}">
      <dgm:prSet/>
      <dgm:spPr/>
      <dgm:t>
        <a:bodyPr/>
        <a:lstStyle/>
        <a:p>
          <a:endParaRPr lang="en-US" sz="1200"/>
        </a:p>
      </dgm:t>
    </dgm:pt>
    <dgm:pt modelId="{42C3DD29-5897-453A-BAD2-2691CA7C8861}">
      <dgm:prSet custT="1"/>
      <dgm:spPr>
        <a:solidFill>
          <a:schemeClr val="accent1">
            <a:lumMod val="50000"/>
          </a:schemeClr>
        </a:solidFill>
      </dgm:spPr>
      <dgm:t>
        <a:bodyPr/>
        <a:lstStyle/>
        <a:p>
          <a:pPr>
            <a:buFont typeface="+mj-lt"/>
            <a:buAutoNum type="alphaLcParenR"/>
          </a:pPr>
          <a:r>
            <a:rPr lang="en-GB" sz="1200" dirty="0"/>
            <a:t>Performance guarantee shall be returned to the developers within 3 months of project commissioning after deducting the penalty, if any</a:t>
          </a:r>
          <a:r>
            <a:rPr lang="en-IN" sz="1200" dirty="0"/>
            <a:t>.</a:t>
          </a:r>
          <a:endParaRPr lang="en-US" sz="1200" dirty="0"/>
        </a:p>
      </dgm:t>
    </dgm:pt>
    <dgm:pt modelId="{E4C77FFD-618C-4915-A1DD-8582A2528681}" type="parTrans" cxnId="{F884A3DA-A33B-4CB1-AD51-1B6E2F8F99A9}">
      <dgm:prSet/>
      <dgm:spPr/>
      <dgm:t>
        <a:bodyPr/>
        <a:lstStyle/>
        <a:p>
          <a:endParaRPr lang="en-US" sz="1200"/>
        </a:p>
      </dgm:t>
    </dgm:pt>
    <dgm:pt modelId="{68F8D8FB-F7B2-4BC8-8348-6023946D4E63}" type="sibTrans" cxnId="{F884A3DA-A33B-4CB1-AD51-1B6E2F8F99A9}">
      <dgm:prSet/>
      <dgm:spPr/>
      <dgm:t>
        <a:bodyPr/>
        <a:lstStyle/>
        <a:p>
          <a:endParaRPr lang="en-US" sz="1200"/>
        </a:p>
      </dgm:t>
    </dgm:pt>
    <dgm:pt modelId="{EEF916B9-0399-487A-9D00-9117B9BC0D69}" type="pres">
      <dgm:prSet presAssocID="{9C53B594-B328-4348-AAB2-F0E4F123607E}" presName="hierChild1" presStyleCnt="0">
        <dgm:presLayoutVars>
          <dgm:orgChart val="1"/>
          <dgm:chPref val="1"/>
          <dgm:dir/>
          <dgm:animOne val="branch"/>
          <dgm:animLvl val="lvl"/>
          <dgm:resizeHandles/>
        </dgm:presLayoutVars>
      </dgm:prSet>
      <dgm:spPr/>
    </dgm:pt>
    <dgm:pt modelId="{2FC372C1-ABAD-4158-B94D-ABE86A1D2878}" type="pres">
      <dgm:prSet presAssocID="{2C1249CB-9CCF-478F-B1B9-54AAFA137FD4}" presName="hierRoot1" presStyleCnt="0">
        <dgm:presLayoutVars>
          <dgm:hierBranch val="init"/>
        </dgm:presLayoutVars>
      </dgm:prSet>
      <dgm:spPr/>
    </dgm:pt>
    <dgm:pt modelId="{47916583-E159-4482-B1DD-753DA2B5A972}" type="pres">
      <dgm:prSet presAssocID="{2C1249CB-9CCF-478F-B1B9-54AAFA137FD4}" presName="rootComposite1" presStyleCnt="0"/>
      <dgm:spPr/>
    </dgm:pt>
    <dgm:pt modelId="{75B90C2C-FB2D-4ED9-83B6-9E30F310A3FA}" type="pres">
      <dgm:prSet presAssocID="{2C1249CB-9CCF-478F-B1B9-54AAFA137FD4}" presName="rootText1" presStyleLbl="node0" presStyleIdx="0" presStyleCnt="1" custLinFactNeighborY="2282">
        <dgm:presLayoutVars>
          <dgm:chPref val="3"/>
        </dgm:presLayoutVars>
      </dgm:prSet>
      <dgm:spPr/>
    </dgm:pt>
    <dgm:pt modelId="{38971719-205F-4828-8572-046B2CABFF9D}" type="pres">
      <dgm:prSet presAssocID="{2C1249CB-9CCF-478F-B1B9-54AAFA137FD4}" presName="rootConnector1" presStyleLbl="asst0" presStyleIdx="0" presStyleCnt="0"/>
      <dgm:spPr/>
    </dgm:pt>
    <dgm:pt modelId="{1CDD62B0-6F25-454D-A905-8CD16297F63A}" type="pres">
      <dgm:prSet presAssocID="{2C1249CB-9CCF-478F-B1B9-54AAFA137FD4}" presName="hierChild2" presStyleCnt="0"/>
      <dgm:spPr/>
    </dgm:pt>
    <dgm:pt modelId="{B904A58B-6E05-4E49-99AF-348203DB9CAB}" type="pres">
      <dgm:prSet presAssocID="{2A14D592-6773-4452-8AB0-07A9D2CC1426}" presName="Name37" presStyleLbl="parChTrans1D2" presStyleIdx="0" presStyleCnt="4"/>
      <dgm:spPr/>
    </dgm:pt>
    <dgm:pt modelId="{4388FCA2-9C69-4FB1-BDD5-6DF0B2D41A10}" type="pres">
      <dgm:prSet presAssocID="{A66D6441-43B7-41A0-B35F-95DF12F55F3B}" presName="hierRoot2" presStyleCnt="0">
        <dgm:presLayoutVars>
          <dgm:hierBranch val="init"/>
        </dgm:presLayoutVars>
      </dgm:prSet>
      <dgm:spPr/>
    </dgm:pt>
    <dgm:pt modelId="{ECA18DF1-9DD6-4F21-8F55-0914212F3126}" type="pres">
      <dgm:prSet presAssocID="{A66D6441-43B7-41A0-B35F-95DF12F55F3B}" presName="rootComposite" presStyleCnt="0"/>
      <dgm:spPr/>
    </dgm:pt>
    <dgm:pt modelId="{E05247F8-0464-4597-B277-D2AF5FD11FBA}" type="pres">
      <dgm:prSet presAssocID="{A66D6441-43B7-41A0-B35F-95DF12F55F3B}" presName="rootText" presStyleLbl="node2" presStyleIdx="0" presStyleCnt="4">
        <dgm:presLayoutVars>
          <dgm:chPref val="3"/>
        </dgm:presLayoutVars>
      </dgm:prSet>
      <dgm:spPr/>
    </dgm:pt>
    <dgm:pt modelId="{E11BC34C-F822-4D8C-9DE3-4797116D9C57}" type="pres">
      <dgm:prSet presAssocID="{A66D6441-43B7-41A0-B35F-95DF12F55F3B}" presName="rootConnector" presStyleLbl="node2" presStyleIdx="0" presStyleCnt="4"/>
      <dgm:spPr/>
    </dgm:pt>
    <dgm:pt modelId="{6AD8EDF4-EA46-423E-985E-C3F25D475456}" type="pres">
      <dgm:prSet presAssocID="{A66D6441-43B7-41A0-B35F-95DF12F55F3B}" presName="hierChild4" presStyleCnt="0"/>
      <dgm:spPr/>
    </dgm:pt>
    <dgm:pt modelId="{EAD386BE-F022-4BC3-B205-0E67EA5EEA0E}" type="pres">
      <dgm:prSet presAssocID="{A66D6441-43B7-41A0-B35F-95DF12F55F3B}" presName="hierChild5" presStyleCnt="0"/>
      <dgm:spPr/>
    </dgm:pt>
    <dgm:pt modelId="{75AC0870-958A-486E-B841-C54CB583E419}" type="pres">
      <dgm:prSet presAssocID="{BA29C71E-0AE1-4195-B206-E8D070A39C9A}" presName="Name37" presStyleLbl="parChTrans1D2" presStyleIdx="1" presStyleCnt="4"/>
      <dgm:spPr/>
    </dgm:pt>
    <dgm:pt modelId="{F4E5B0EA-CB6C-42CB-BFC5-3422991A81CB}" type="pres">
      <dgm:prSet presAssocID="{CA33CEAC-D038-4CAA-9ED8-0A8325CE1BC0}" presName="hierRoot2" presStyleCnt="0">
        <dgm:presLayoutVars>
          <dgm:hierBranch val="init"/>
        </dgm:presLayoutVars>
      </dgm:prSet>
      <dgm:spPr/>
    </dgm:pt>
    <dgm:pt modelId="{C1E91572-A07B-42EE-AF34-90D7E5D85FC7}" type="pres">
      <dgm:prSet presAssocID="{CA33CEAC-D038-4CAA-9ED8-0A8325CE1BC0}" presName="rootComposite" presStyleCnt="0"/>
      <dgm:spPr/>
    </dgm:pt>
    <dgm:pt modelId="{AF188180-CDE7-4FCA-AF2A-F9DFAC77B3DF}" type="pres">
      <dgm:prSet presAssocID="{CA33CEAC-D038-4CAA-9ED8-0A8325CE1BC0}" presName="rootText" presStyleLbl="node2" presStyleIdx="1" presStyleCnt="4">
        <dgm:presLayoutVars>
          <dgm:chPref val="3"/>
        </dgm:presLayoutVars>
      </dgm:prSet>
      <dgm:spPr/>
    </dgm:pt>
    <dgm:pt modelId="{0677869A-1E75-4FA5-A103-9190AD80BCEC}" type="pres">
      <dgm:prSet presAssocID="{CA33CEAC-D038-4CAA-9ED8-0A8325CE1BC0}" presName="rootConnector" presStyleLbl="node2" presStyleIdx="1" presStyleCnt="4"/>
      <dgm:spPr/>
    </dgm:pt>
    <dgm:pt modelId="{5E3F74A4-73B9-4E77-B54A-7322B45B97A7}" type="pres">
      <dgm:prSet presAssocID="{CA33CEAC-D038-4CAA-9ED8-0A8325CE1BC0}" presName="hierChild4" presStyleCnt="0"/>
      <dgm:spPr/>
    </dgm:pt>
    <dgm:pt modelId="{3078A522-995A-4ED6-B401-0E6E2CB74150}" type="pres">
      <dgm:prSet presAssocID="{CA33CEAC-D038-4CAA-9ED8-0A8325CE1BC0}" presName="hierChild5" presStyleCnt="0"/>
      <dgm:spPr/>
    </dgm:pt>
    <dgm:pt modelId="{9EFD42C7-A66F-4C45-AB6B-1B5A67496028}" type="pres">
      <dgm:prSet presAssocID="{97818C3D-4042-441F-B2F7-CD3DC8D3315A}" presName="Name37" presStyleLbl="parChTrans1D2" presStyleIdx="2" presStyleCnt="4"/>
      <dgm:spPr/>
    </dgm:pt>
    <dgm:pt modelId="{B5ADB9C2-A00E-4FA0-88EB-E58D8ED0F349}" type="pres">
      <dgm:prSet presAssocID="{8F321AD1-92B6-4197-89BD-92C250D18D0E}" presName="hierRoot2" presStyleCnt="0">
        <dgm:presLayoutVars>
          <dgm:hierBranch val="init"/>
        </dgm:presLayoutVars>
      </dgm:prSet>
      <dgm:spPr/>
    </dgm:pt>
    <dgm:pt modelId="{081D8970-46E2-408C-95AD-2D3938EDF20C}" type="pres">
      <dgm:prSet presAssocID="{8F321AD1-92B6-4197-89BD-92C250D18D0E}" presName="rootComposite" presStyleCnt="0"/>
      <dgm:spPr/>
    </dgm:pt>
    <dgm:pt modelId="{6AD40C3E-48DB-4F30-9EF5-3DD3790B1C91}" type="pres">
      <dgm:prSet presAssocID="{8F321AD1-92B6-4197-89BD-92C250D18D0E}" presName="rootText" presStyleLbl="node2" presStyleIdx="2" presStyleCnt="4" custLinFactNeighborX="3098">
        <dgm:presLayoutVars>
          <dgm:chPref val="3"/>
        </dgm:presLayoutVars>
      </dgm:prSet>
      <dgm:spPr/>
    </dgm:pt>
    <dgm:pt modelId="{8FBE7C83-22B3-446B-A3BC-25F30CE0EFD6}" type="pres">
      <dgm:prSet presAssocID="{8F321AD1-92B6-4197-89BD-92C250D18D0E}" presName="rootConnector" presStyleLbl="node2" presStyleIdx="2" presStyleCnt="4"/>
      <dgm:spPr/>
    </dgm:pt>
    <dgm:pt modelId="{51B699D6-BFEB-4D7B-83A5-4A84C2729FC5}" type="pres">
      <dgm:prSet presAssocID="{8F321AD1-92B6-4197-89BD-92C250D18D0E}" presName="hierChild4" presStyleCnt="0"/>
      <dgm:spPr/>
    </dgm:pt>
    <dgm:pt modelId="{BA502333-339E-4F6D-AD27-64109C1FC1F5}" type="pres">
      <dgm:prSet presAssocID="{8F321AD1-92B6-4197-89BD-92C250D18D0E}" presName="hierChild5" presStyleCnt="0"/>
      <dgm:spPr/>
    </dgm:pt>
    <dgm:pt modelId="{99667645-B07C-4735-B6CD-42969AD395F8}" type="pres">
      <dgm:prSet presAssocID="{E4C77FFD-618C-4915-A1DD-8582A2528681}" presName="Name37" presStyleLbl="parChTrans1D2" presStyleIdx="3" presStyleCnt="4"/>
      <dgm:spPr/>
    </dgm:pt>
    <dgm:pt modelId="{D1C35FD5-6724-4306-A51E-8B6E3AB27201}" type="pres">
      <dgm:prSet presAssocID="{42C3DD29-5897-453A-BAD2-2691CA7C8861}" presName="hierRoot2" presStyleCnt="0">
        <dgm:presLayoutVars>
          <dgm:hierBranch val="init"/>
        </dgm:presLayoutVars>
      </dgm:prSet>
      <dgm:spPr/>
    </dgm:pt>
    <dgm:pt modelId="{E39EE800-C680-4C40-9FDB-EDADF718CD7C}" type="pres">
      <dgm:prSet presAssocID="{42C3DD29-5897-453A-BAD2-2691CA7C8861}" presName="rootComposite" presStyleCnt="0"/>
      <dgm:spPr/>
    </dgm:pt>
    <dgm:pt modelId="{73DA8723-6D31-46B5-AD93-EFFF81EF9A17}" type="pres">
      <dgm:prSet presAssocID="{42C3DD29-5897-453A-BAD2-2691CA7C8861}" presName="rootText" presStyleLbl="node2" presStyleIdx="3" presStyleCnt="4">
        <dgm:presLayoutVars>
          <dgm:chPref val="3"/>
        </dgm:presLayoutVars>
      </dgm:prSet>
      <dgm:spPr/>
    </dgm:pt>
    <dgm:pt modelId="{5F7BEFA0-6B76-4789-B968-37A1964404D5}" type="pres">
      <dgm:prSet presAssocID="{42C3DD29-5897-453A-BAD2-2691CA7C8861}" presName="rootConnector" presStyleLbl="node2" presStyleIdx="3" presStyleCnt="4"/>
      <dgm:spPr/>
    </dgm:pt>
    <dgm:pt modelId="{BECC265D-1455-40A3-AC3D-741447920D0F}" type="pres">
      <dgm:prSet presAssocID="{42C3DD29-5897-453A-BAD2-2691CA7C8861}" presName="hierChild4" presStyleCnt="0"/>
      <dgm:spPr/>
    </dgm:pt>
    <dgm:pt modelId="{4AEC06A7-9770-4538-9DD4-6D3A602F07E7}" type="pres">
      <dgm:prSet presAssocID="{42C3DD29-5897-453A-BAD2-2691CA7C8861}" presName="hierChild5" presStyleCnt="0"/>
      <dgm:spPr/>
    </dgm:pt>
    <dgm:pt modelId="{2A4D5312-B12D-4521-853B-C23EB21893E9}" type="pres">
      <dgm:prSet presAssocID="{2C1249CB-9CCF-478F-B1B9-54AAFA137FD4}" presName="hierChild3" presStyleCnt="0"/>
      <dgm:spPr/>
    </dgm:pt>
  </dgm:ptLst>
  <dgm:cxnLst>
    <dgm:cxn modelId="{1ABE1C00-00BE-41B8-AFAD-4A35D00DBC4C}" type="presOf" srcId="{8F321AD1-92B6-4197-89BD-92C250D18D0E}" destId="{8FBE7C83-22B3-446B-A3BC-25F30CE0EFD6}" srcOrd="1" destOrd="0" presId="urn:microsoft.com/office/officeart/2005/8/layout/orgChart1"/>
    <dgm:cxn modelId="{8D992306-F40A-4309-82E8-B99715426D94}" srcId="{2C1249CB-9CCF-478F-B1B9-54AAFA137FD4}" destId="{A66D6441-43B7-41A0-B35F-95DF12F55F3B}" srcOrd="0" destOrd="0" parTransId="{2A14D592-6773-4452-8AB0-07A9D2CC1426}" sibTransId="{53BD4064-4C37-4819-B459-3890B4055801}"/>
    <dgm:cxn modelId="{2A5BFB06-4FD4-4B3E-9363-C2CBF57341C0}" type="presOf" srcId="{42C3DD29-5897-453A-BAD2-2691CA7C8861}" destId="{73DA8723-6D31-46B5-AD93-EFFF81EF9A17}" srcOrd="0" destOrd="0" presId="urn:microsoft.com/office/officeart/2005/8/layout/orgChart1"/>
    <dgm:cxn modelId="{552F5C0F-C021-44EF-B95C-56FA05104A35}" srcId="{2C1249CB-9CCF-478F-B1B9-54AAFA137FD4}" destId="{CA33CEAC-D038-4CAA-9ED8-0A8325CE1BC0}" srcOrd="1" destOrd="0" parTransId="{BA29C71E-0AE1-4195-B206-E8D070A39C9A}" sibTransId="{08914E1B-7F6A-4DBC-B561-E0DC77923990}"/>
    <dgm:cxn modelId="{1979B91C-518D-4F10-A4FF-AE5D53AE97CF}" type="presOf" srcId="{CA33CEAC-D038-4CAA-9ED8-0A8325CE1BC0}" destId="{AF188180-CDE7-4FCA-AF2A-F9DFAC77B3DF}" srcOrd="0" destOrd="0" presId="urn:microsoft.com/office/officeart/2005/8/layout/orgChart1"/>
    <dgm:cxn modelId="{F4C1701D-C3A6-4226-8F13-A0AE1B161D9A}" srcId="{2C1249CB-9CCF-478F-B1B9-54AAFA137FD4}" destId="{8F321AD1-92B6-4197-89BD-92C250D18D0E}" srcOrd="2" destOrd="0" parTransId="{97818C3D-4042-441F-B2F7-CD3DC8D3315A}" sibTransId="{3E8F33AE-3A0A-4068-87F6-8B3133934432}"/>
    <dgm:cxn modelId="{868F9632-992D-43B2-A88F-8B42BBFA3219}" type="presOf" srcId="{2A14D592-6773-4452-8AB0-07A9D2CC1426}" destId="{B904A58B-6E05-4E49-99AF-348203DB9CAB}" srcOrd="0" destOrd="0" presId="urn:microsoft.com/office/officeart/2005/8/layout/orgChart1"/>
    <dgm:cxn modelId="{B0232F48-5F5A-4941-BDD3-0A23AC72C731}" srcId="{9C53B594-B328-4348-AAB2-F0E4F123607E}" destId="{2C1249CB-9CCF-478F-B1B9-54AAFA137FD4}" srcOrd="0" destOrd="0" parTransId="{343930E3-3E57-4A52-9BDD-643D01563D88}" sibTransId="{41680983-5C4C-4FFB-AC19-B62D884D425C}"/>
    <dgm:cxn modelId="{6DABAF51-0307-4F60-9B9B-D49F985DC026}" type="presOf" srcId="{CA33CEAC-D038-4CAA-9ED8-0A8325CE1BC0}" destId="{0677869A-1E75-4FA5-A103-9190AD80BCEC}" srcOrd="1" destOrd="0" presId="urn:microsoft.com/office/officeart/2005/8/layout/orgChart1"/>
    <dgm:cxn modelId="{EAF0E151-1A98-440F-93E9-4613F5357A02}" type="presOf" srcId="{97818C3D-4042-441F-B2F7-CD3DC8D3315A}" destId="{9EFD42C7-A66F-4C45-AB6B-1B5A67496028}" srcOrd="0" destOrd="0" presId="urn:microsoft.com/office/officeart/2005/8/layout/orgChart1"/>
    <dgm:cxn modelId="{6B387677-A6ED-46EA-B6EF-02D069CB3D8D}" type="presOf" srcId="{2C1249CB-9CCF-478F-B1B9-54AAFA137FD4}" destId="{38971719-205F-4828-8572-046B2CABFF9D}" srcOrd="1" destOrd="0" presId="urn:microsoft.com/office/officeart/2005/8/layout/orgChart1"/>
    <dgm:cxn modelId="{49CCA559-930C-4031-B961-970DA8C5C1F9}" type="presOf" srcId="{42C3DD29-5897-453A-BAD2-2691CA7C8861}" destId="{5F7BEFA0-6B76-4789-B968-37A1964404D5}" srcOrd="1" destOrd="0" presId="urn:microsoft.com/office/officeart/2005/8/layout/orgChart1"/>
    <dgm:cxn modelId="{339DD57F-3406-412F-925B-5C6C62505915}" type="presOf" srcId="{2C1249CB-9CCF-478F-B1B9-54AAFA137FD4}" destId="{75B90C2C-FB2D-4ED9-83B6-9E30F310A3FA}" srcOrd="0" destOrd="0" presId="urn:microsoft.com/office/officeart/2005/8/layout/orgChart1"/>
    <dgm:cxn modelId="{8E369B8E-1FB2-4D81-AE2E-9C96D2F1A04B}" type="presOf" srcId="{9C53B594-B328-4348-AAB2-F0E4F123607E}" destId="{EEF916B9-0399-487A-9D00-9117B9BC0D69}" srcOrd="0" destOrd="0" presId="urn:microsoft.com/office/officeart/2005/8/layout/orgChart1"/>
    <dgm:cxn modelId="{25BBB094-B125-4956-8206-FAD3CB9FDBBE}" type="presOf" srcId="{A66D6441-43B7-41A0-B35F-95DF12F55F3B}" destId="{E11BC34C-F822-4D8C-9DE3-4797116D9C57}" srcOrd="1" destOrd="0" presId="urn:microsoft.com/office/officeart/2005/8/layout/orgChart1"/>
    <dgm:cxn modelId="{83EABBC6-0E44-4FE4-AD8B-AC0F07348F88}" type="presOf" srcId="{A66D6441-43B7-41A0-B35F-95DF12F55F3B}" destId="{E05247F8-0464-4597-B277-D2AF5FD11FBA}" srcOrd="0" destOrd="0" presId="urn:microsoft.com/office/officeart/2005/8/layout/orgChart1"/>
    <dgm:cxn modelId="{2C89AAD1-EA4A-4487-AC17-16E17AAF25FD}" type="presOf" srcId="{BA29C71E-0AE1-4195-B206-E8D070A39C9A}" destId="{75AC0870-958A-486E-B841-C54CB583E419}" srcOrd="0" destOrd="0" presId="urn:microsoft.com/office/officeart/2005/8/layout/orgChart1"/>
    <dgm:cxn modelId="{9F1FC1D3-60CB-4F02-8E09-C7FC20828C5C}" type="presOf" srcId="{E4C77FFD-618C-4915-A1DD-8582A2528681}" destId="{99667645-B07C-4735-B6CD-42969AD395F8}" srcOrd="0" destOrd="0" presId="urn:microsoft.com/office/officeart/2005/8/layout/orgChart1"/>
    <dgm:cxn modelId="{F884A3DA-A33B-4CB1-AD51-1B6E2F8F99A9}" srcId="{2C1249CB-9CCF-478F-B1B9-54AAFA137FD4}" destId="{42C3DD29-5897-453A-BAD2-2691CA7C8861}" srcOrd="3" destOrd="0" parTransId="{E4C77FFD-618C-4915-A1DD-8582A2528681}" sibTransId="{68F8D8FB-F7B2-4BC8-8348-6023946D4E63}"/>
    <dgm:cxn modelId="{8EF9A7E8-323A-4468-9628-A3909287C9C5}" type="presOf" srcId="{8F321AD1-92B6-4197-89BD-92C250D18D0E}" destId="{6AD40C3E-48DB-4F30-9EF5-3DD3790B1C91}" srcOrd="0" destOrd="0" presId="urn:microsoft.com/office/officeart/2005/8/layout/orgChart1"/>
    <dgm:cxn modelId="{DC8708AF-687F-4CA3-BB62-AD6CB234B897}" type="presParOf" srcId="{EEF916B9-0399-487A-9D00-9117B9BC0D69}" destId="{2FC372C1-ABAD-4158-B94D-ABE86A1D2878}" srcOrd="0" destOrd="0" presId="urn:microsoft.com/office/officeart/2005/8/layout/orgChart1"/>
    <dgm:cxn modelId="{8543CC6B-DE09-49BC-80D9-10135C587A22}" type="presParOf" srcId="{2FC372C1-ABAD-4158-B94D-ABE86A1D2878}" destId="{47916583-E159-4482-B1DD-753DA2B5A972}" srcOrd="0" destOrd="0" presId="urn:microsoft.com/office/officeart/2005/8/layout/orgChart1"/>
    <dgm:cxn modelId="{DC84E235-0C77-4DA5-B42D-2F456332E7FF}" type="presParOf" srcId="{47916583-E159-4482-B1DD-753DA2B5A972}" destId="{75B90C2C-FB2D-4ED9-83B6-9E30F310A3FA}" srcOrd="0" destOrd="0" presId="urn:microsoft.com/office/officeart/2005/8/layout/orgChart1"/>
    <dgm:cxn modelId="{F8142014-F6BB-425D-B139-D6DE9867E412}" type="presParOf" srcId="{47916583-E159-4482-B1DD-753DA2B5A972}" destId="{38971719-205F-4828-8572-046B2CABFF9D}" srcOrd="1" destOrd="0" presId="urn:microsoft.com/office/officeart/2005/8/layout/orgChart1"/>
    <dgm:cxn modelId="{3FA05F2E-4340-41A3-AB86-67609F205B34}" type="presParOf" srcId="{2FC372C1-ABAD-4158-B94D-ABE86A1D2878}" destId="{1CDD62B0-6F25-454D-A905-8CD16297F63A}" srcOrd="1" destOrd="0" presId="urn:microsoft.com/office/officeart/2005/8/layout/orgChart1"/>
    <dgm:cxn modelId="{0A5F0231-E79B-4F38-BCD8-6D26DF796698}" type="presParOf" srcId="{1CDD62B0-6F25-454D-A905-8CD16297F63A}" destId="{B904A58B-6E05-4E49-99AF-348203DB9CAB}" srcOrd="0" destOrd="0" presId="urn:microsoft.com/office/officeart/2005/8/layout/orgChart1"/>
    <dgm:cxn modelId="{01A1D0C7-79EF-4769-9FAE-DCFD139C2478}" type="presParOf" srcId="{1CDD62B0-6F25-454D-A905-8CD16297F63A}" destId="{4388FCA2-9C69-4FB1-BDD5-6DF0B2D41A10}" srcOrd="1" destOrd="0" presId="urn:microsoft.com/office/officeart/2005/8/layout/orgChart1"/>
    <dgm:cxn modelId="{F59CFCD7-5FD4-4A2C-9448-41C111B67EC2}" type="presParOf" srcId="{4388FCA2-9C69-4FB1-BDD5-6DF0B2D41A10}" destId="{ECA18DF1-9DD6-4F21-8F55-0914212F3126}" srcOrd="0" destOrd="0" presId="urn:microsoft.com/office/officeart/2005/8/layout/orgChart1"/>
    <dgm:cxn modelId="{21CEC2CA-8025-4EC7-B243-36C22A348077}" type="presParOf" srcId="{ECA18DF1-9DD6-4F21-8F55-0914212F3126}" destId="{E05247F8-0464-4597-B277-D2AF5FD11FBA}" srcOrd="0" destOrd="0" presId="urn:microsoft.com/office/officeart/2005/8/layout/orgChart1"/>
    <dgm:cxn modelId="{2EF457B1-1C8E-4363-B32F-C733AF5FC50E}" type="presParOf" srcId="{ECA18DF1-9DD6-4F21-8F55-0914212F3126}" destId="{E11BC34C-F822-4D8C-9DE3-4797116D9C57}" srcOrd="1" destOrd="0" presId="urn:microsoft.com/office/officeart/2005/8/layout/orgChart1"/>
    <dgm:cxn modelId="{06C71B78-65C3-4A40-B22D-C31535320558}" type="presParOf" srcId="{4388FCA2-9C69-4FB1-BDD5-6DF0B2D41A10}" destId="{6AD8EDF4-EA46-423E-985E-C3F25D475456}" srcOrd="1" destOrd="0" presId="urn:microsoft.com/office/officeart/2005/8/layout/orgChart1"/>
    <dgm:cxn modelId="{F13D0416-C451-4DA2-B9C3-CB9DF7EB917F}" type="presParOf" srcId="{4388FCA2-9C69-4FB1-BDD5-6DF0B2D41A10}" destId="{EAD386BE-F022-4BC3-B205-0E67EA5EEA0E}" srcOrd="2" destOrd="0" presId="urn:microsoft.com/office/officeart/2005/8/layout/orgChart1"/>
    <dgm:cxn modelId="{288F163C-45B4-4413-809C-F52C921BDD29}" type="presParOf" srcId="{1CDD62B0-6F25-454D-A905-8CD16297F63A}" destId="{75AC0870-958A-486E-B841-C54CB583E419}" srcOrd="2" destOrd="0" presId="urn:microsoft.com/office/officeart/2005/8/layout/orgChart1"/>
    <dgm:cxn modelId="{4B8761C4-C03C-4736-8DA1-6B7378D7041D}" type="presParOf" srcId="{1CDD62B0-6F25-454D-A905-8CD16297F63A}" destId="{F4E5B0EA-CB6C-42CB-BFC5-3422991A81CB}" srcOrd="3" destOrd="0" presId="urn:microsoft.com/office/officeart/2005/8/layout/orgChart1"/>
    <dgm:cxn modelId="{7E55EB4C-4681-42D9-9DBF-23F8B562F40D}" type="presParOf" srcId="{F4E5B0EA-CB6C-42CB-BFC5-3422991A81CB}" destId="{C1E91572-A07B-42EE-AF34-90D7E5D85FC7}" srcOrd="0" destOrd="0" presId="urn:microsoft.com/office/officeart/2005/8/layout/orgChart1"/>
    <dgm:cxn modelId="{AEB24FF0-986A-46EA-8FC8-6FE0E2B1870E}" type="presParOf" srcId="{C1E91572-A07B-42EE-AF34-90D7E5D85FC7}" destId="{AF188180-CDE7-4FCA-AF2A-F9DFAC77B3DF}" srcOrd="0" destOrd="0" presId="urn:microsoft.com/office/officeart/2005/8/layout/orgChart1"/>
    <dgm:cxn modelId="{987ED2BC-F705-4D4E-AC77-8D72EBC02187}" type="presParOf" srcId="{C1E91572-A07B-42EE-AF34-90D7E5D85FC7}" destId="{0677869A-1E75-4FA5-A103-9190AD80BCEC}" srcOrd="1" destOrd="0" presId="urn:microsoft.com/office/officeart/2005/8/layout/orgChart1"/>
    <dgm:cxn modelId="{237BFC36-92E2-49AF-9D11-A8B47B71030A}" type="presParOf" srcId="{F4E5B0EA-CB6C-42CB-BFC5-3422991A81CB}" destId="{5E3F74A4-73B9-4E77-B54A-7322B45B97A7}" srcOrd="1" destOrd="0" presId="urn:microsoft.com/office/officeart/2005/8/layout/orgChart1"/>
    <dgm:cxn modelId="{8ED608DC-8AB5-430E-9FB3-0552DF15F9B7}" type="presParOf" srcId="{F4E5B0EA-CB6C-42CB-BFC5-3422991A81CB}" destId="{3078A522-995A-4ED6-B401-0E6E2CB74150}" srcOrd="2" destOrd="0" presId="urn:microsoft.com/office/officeart/2005/8/layout/orgChart1"/>
    <dgm:cxn modelId="{73399000-3B60-4614-BA66-B74C4DD4E3C9}" type="presParOf" srcId="{1CDD62B0-6F25-454D-A905-8CD16297F63A}" destId="{9EFD42C7-A66F-4C45-AB6B-1B5A67496028}" srcOrd="4" destOrd="0" presId="urn:microsoft.com/office/officeart/2005/8/layout/orgChart1"/>
    <dgm:cxn modelId="{38F27C7F-ED06-417F-96C4-82D97C7DECF1}" type="presParOf" srcId="{1CDD62B0-6F25-454D-A905-8CD16297F63A}" destId="{B5ADB9C2-A00E-4FA0-88EB-E58D8ED0F349}" srcOrd="5" destOrd="0" presId="urn:microsoft.com/office/officeart/2005/8/layout/orgChart1"/>
    <dgm:cxn modelId="{BB8A8BF6-C652-48EA-B20D-E73CBE15340C}" type="presParOf" srcId="{B5ADB9C2-A00E-4FA0-88EB-E58D8ED0F349}" destId="{081D8970-46E2-408C-95AD-2D3938EDF20C}" srcOrd="0" destOrd="0" presId="urn:microsoft.com/office/officeart/2005/8/layout/orgChart1"/>
    <dgm:cxn modelId="{3B940E6B-186B-4CE4-9525-5ABE9B096003}" type="presParOf" srcId="{081D8970-46E2-408C-95AD-2D3938EDF20C}" destId="{6AD40C3E-48DB-4F30-9EF5-3DD3790B1C91}" srcOrd="0" destOrd="0" presId="urn:microsoft.com/office/officeart/2005/8/layout/orgChart1"/>
    <dgm:cxn modelId="{A738E144-124F-41B7-89CA-D1D191615F3E}" type="presParOf" srcId="{081D8970-46E2-408C-95AD-2D3938EDF20C}" destId="{8FBE7C83-22B3-446B-A3BC-25F30CE0EFD6}" srcOrd="1" destOrd="0" presId="urn:microsoft.com/office/officeart/2005/8/layout/orgChart1"/>
    <dgm:cxn modelId="{AC51B94E-CAC5-45EE-ABF4-8867A1142B05}" type="presParOf" srcId="{B5ADB9C2-A00E-4FA0-88EB-E58D8ED0F349}" destId="{51B699D6-BFEB-4D7B-83A5-4A84C2729FC5}" srcOrd="1" destOrd="0" presId="urn:microsoft.com/office/officeart/2005/8/layout/orgChart1"/>
    <dgm:cxn modelId="{98DD35E4-5505-4E39-8ED8-800C7BF3F797}" type="presParOf" srcId="{B5ADB9C2-A00E-4FA0-88EB-E58D8ED0F349}" destId="{BA502333-339E-4F6D-AD27-64109C1FC1F5}" srcOrd="2" destOrd="0" presId="urn:microsoft.com/office/officeart/2005/8/layout/orgChart1"/>
    <dgm:cxn modelId="{619FF34E-5982-4707-BC3E-E7BDAC361613}" type="presParOf" srcId="{1CDD62B0-6F25-454D-A905-8CD16297F63A}" destId="{99667645-B07C-4735-B6CD-42969AD395F8}" srcOrd="6" destOrd="0" presId="urn:microsoft.com/office/officeart/2005/8/layout/orgChart1"/>
    <dgm:cxn modelId="{6F6B6630-9AEA-4CA9-B4B9-C622FE8C510B}" type="presParOf" srcId="{1CDD62B0-6F25-454D-A905-8CD16297F63A}" destId="{D1C35FD5-6724-4306-A51E-8B6E3AB27201}" srcOrd="7" destOrd="0" presId="urn:microsoft.com/office/officeart/2005/8/layout/orgChart1"/>
    <dgm:cxn modelId="{DACADF1F-C394-4B9C-B98F-F01E6F688061}" type="presParOf" srcId="{D1C35FD5-6724-4306-A51E-8B6E3AB27201}" destId="{E39EE800-C680-4C40-9FDB-EDADF718CD7C}" srcOrd="0" destOrd="0" presId="urn:microsoft.com/office/officeart/2005/8/layout/orgChart1"/>
    <dgm:cxn modelId="{C09566A4-7DAF-4722-B058-5B3E0CA223A5}" type="presParOf" srcId="{E39EE800-C680-4C40-9FDB-EDADF718CD7C}" destId="{73DA8723-6D31-46B5-AD93-EFFF81EF9A17}" srcOrd="0" destOrd="0" presId="urn:microsoft.com/office/officeart/2005/8/layout/orgChart1"/>
    <dgm:cxn modelId="{D50B2B63-36EE-49C9-8DF1-BE8066BBEBF2}" type="presParOf" srcId="{E39EE800-C680-4C40-9FDB-EDADF718CD7C}" destId="{5F7BEFA0-6B76-4789-B968-37A1964404D5}" srcOrd="1" destOrd="0" presId="urn:microsoft.com/office/officeart/2005/8/layout/orgChart1"/>
    <dgm:cxn modelId="{E8472E95-167F-49F0-85AC-64F97DFA637D}" type="presParOf" srcId="{D1C35FD5-6724-4306-A51E-8B6E3AB27201}" destId="{BECC265D-1455-40A3-AC3D-741447920D0F}" srcOrd="1" destOrd="0" presId="urn:microsoft.com/office/officeart/2005/8/layout/orgChart1"/>
    <dgm:cxn modelId="{0F83044F-963F-4304-8C43-2C800F0DD9E7}" type="presParOf" srcId="{D1C35FD5-6724-4306-A51E-8B6E3AB27201}" destId="{4AEC06A7-9770-4538-9DD4-6D3A602F07E7}" srcOrd="2" destOrd="0" presId="urn:microsoft.com/office/officeart/2005/8/layout/orgChart1"/>
    <dgm:cxn modelId="{A96706BB-A7EB-45B9-8270-0B3FB4352C95}" type="presParOf" srcId="{2FC372C1-ABAD-4158-B94D-ABE86A1D2878}" destId="{2A4D5312-B12D-4521-853B-C23EB21893E9}"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99E5B6D-EA5E-43B5-8B42-D61BE9A94D68}"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99BD1A1B-64C5-4FA4-A526-DCE64605B189}">
      <dgm:prSet phldrT="[Text]" custT="1"/>
      <dgm:spPr/>
      <dgm:t>
        <a:bodyPr/>
        <a:lstStyle/>
        <a:p>
          <a:pPr algn="ctr"/>
          <a:r>
            <a:rPr lang="en-US" sz="1600" b="1" dirty="0">
              <a:effectLst/>
              <a:latin typeface="+mn-lt"/>
              <a:ea typeface="Verdana" panose="020B0604030504040204" pitchFamily="34" charset="0"/>
              <a:cs typeface="Times New Roman" panose="02020603050405020304" pitchFamily="18" charset="0"/>
            </a:rPr>
            <a:t>Solar/Hybrid parks</a:t>
          </a:r>
          <a:endParaRPr lang="en-US" sz="1600" b="1" dirty="0">
            <a:latin typeface="+mn-lt"/>
          </a:endParaRPr>
        </a:p>
      </dgm:t>
    </dgm:pt>
    <dgm:pt modelId="{0D0C9E6B-44CE-4434-BEB9-601D48B366BD}" type="parTrans" cxnId="{8DC2FFE8-78ED-41F4-8DDA-24FB9822D2A4}">
      <dgm:prSet/>
      <dgm:spPr/>
      <dgm:t>
        <a:bodyPr/>
        <a:lstStyle/>
        <a:p>
          <a:endParaRPr lang="en-US" sz="1400">
            <a:latin typeface="+mn-lt"/>
          </a:endParaRPr>
        </a:p>
      </dgm:t>
    </dgm:pt>
    <dgm:pt modelId="{ACE93ACF-5B18-4CB8-8F4A-171826411864}" type="sibTrans" cxnId="{8DC2FFE8-78ED-41F4-8DDA-24FB9822D2A4}">
      <dgm:prSet/>
      <dgm:spPr/>
      <dgm:t>
        <a:bodyPr/>
        <a:lstStyle/>
        <a:p>
          <a:endParaRPr lang="en-US" sz="1400">
            <a:latin typeface="+mn-lt"/>
          </a:endParaRPr>
        </a:p>
      </dgm:t>
    </dgm:pt>
    <dgm:pt modelId="{C24CB6B0-33D7-439A-9CCB-3AF5F4516717}">
      <dgm:prSet phldrT="[Text]" custT="1"/>
      <dgm:spPr/>
      <dgm:t>
        <a:bodyPr anchor="ctr"/>
        <a:lstStyle/>
        <a:p>
          <a:pPr>
            <a:buFont typeface="Symbol" panose="05050102010706020507" pitchFamily="18" charset="2"/>
            <a:buChar char=""/>
          </a:pPr>
          <a:r>
            <a:rPr lang="en-US" sz="1400" dirty="0">
              <a:effectLst/>
              <a:latin typeface="+mn-lt"/>
              <a:ea typeface="Verdana" panose="020B0604030504040204" pitchFamily="34" charset="0"/>
              <a:cs typeface="Times New Roman" panose="02020603050405020304" pitchFamily="18" charset="0"/>
            </a:rPr>
            <a:t>The </a:t>
          </a:r>
          <a:r>
            <a:rPr lang="en-IN" sz="1400" dirty="0">
              <a:latin typeface="+mn-lt"/>
            </a:rPr>
            <a:t>ratio of solar generation, in energy terms</a:t>
          </a:r>
          <a:r>
            <a:rPr lang="en-US" sz="1400" dirty="0">
              <a:effectLst/>
              <a:latin typeface="+mn-lt"/>
              <a:ea typeface="Verdana" panose="020B0604030504040204" pitchFamily="34" charset="0"/>
              <a:cs typeface="Times New Roman" panose="02020603050405020304" pitchFamily="18" charset="0"/>
            </a:rPr>
            <a:t>, should be at least 50% of total electricity generated in Hybrid Project.</a:t>
          </a:r>
          <a:endParaRPr lang="en-US" sz="1400" dirty="0">
            <a:latin typeface="+mn-lt"/>
          </a:endParaRPr>
        </a:p>
      </dgm:t>
    </dgm:pt>
    <dgm:pt modelId="{5488C0FB-18C9-4A9C-9114-304C515DBF4D}" type="parTrans" cxnId="{3D570FA4-52D0-4C8C-85CD-32E1B7C9C710}">
      <dgm:prSet/>
      <dgm:spPr/>
      <dgm:t>
        <a:bodyPr/>
        <a:lstStyle/>
        <a:p>
          <a:endParaRPr lang="en-US" sz="1400">
            <a:latin typeface="+mn-lt"/>
          </a:endParaRPr>
        </a:p>
      </dgm:t>
    </dgm:pt>
    <dgm:pt modelId="{B43E4FA2-E823-4B7E-AEE2-A841C1C780DA}" type="sibTrans" cxnId="{3D570FA4-52D0-4C8C-85CD-32E1B7C9C710}">
      <dgm:prSet/>
      <dgm:spPr/>
      <dgm:t>
        <a:bodyPr/>
        <a:lstStyle/>
        <a:p>
          <a:endParaRPr lang="en-US" sz="1400">
            <a:latin typeface="+mn-lt"/>
          </a:endParaRPr>
        </a:p>
      </dgm:t>
    </dgm:pt>
    <dgm:pt modelId="{4C461B9E-A78D-4072-AA67-646142A27C62}">
      <dgm:prSet phldrT="[Text]" custT="1"/>
      <dgm:spPr/>
      <dgm:t>
        <a:bodyPr anchor="ctr"/>
        <a:lstStyle/>
        <a:p>
          <a:pPr>
            <a:buFont typeface="Symbol" panose="05050102010706020507" pitchFamily="18" charset="2"/>
            <a:buChar char=""/>
          </a:pPr>
          <a:r>
            <a:rPr lang="en-US" sz="1400" dirty="0">
              <a:effectLst/>
              <a:latin typeface="+mn-lt"/>
              <a:ea typeface="Verdana" panose="020B0604030504040204" pitchFamily="34" charset="0"/>
              <a:cs typeface="Times New Roman" panose="02020603050405020304" pitchFamily="18" charset="0"/>
            </a:rPr>
            <a:t>Solar/Hybrid parks would have a minimum capacity of 50 MW</a:t>
          </a:r>
          <a:endParaRPr lang="en-US" sz="1400" dirty="0">
            <a:latin typeface="+mn-lt"/>
          </a:endParaRPr>
        </a:p>
      </dgm:t>
    </dgm:pt>
    <dgm:pt modelId="{7D6BABBC-4283-4B44-9720-B4BBEF1AED6F}" type="parTrans" cxnId="{7302D846-1FF3-4D91-B853-12D7D545CD5B}">
      <dgm:prSet/>
      <dgm:spPr/>
      <dgm:t>
        <a:bodyPr/>
        <a:lstStyle/>
        <a:p>
          <a:endParaRPr lang="en-US" sz="1400">
            <a:latin typeface="+mn-lt"/>
          </a:endParaRPr>
        </a:p>
      </dgm:t>
    </dgm:pt>
    <dgm:pt modelId="{231CC1A0-36D9-447F-A5BF-FF9B98EE3441}" type="sibTrans" cxnId="{7302D846-1FF3-4D91-B853-12D7D545CD5B}">
      <dgm:prSet/>
      <dgm:spPr/>
      <dgm:t>
        <a:bodyPr/>
        <a:lstStyle/>
        <a:p>
          <a:endParaRPr lang="en-US" sz="1400">
            <a:latin typeface="+mn-lt"/>
          </a:endParaRPr>
        </a:p>
      </dgm:t>
    </dgm:pt>
    <dgm:pt modelId="{DDBB9395-A959-4992-A9E8-7F3ECD03D316}">
      <dgm:prSet phldrT="[Text]" custT="1"/>
      <dgm:spPr/>
      <dgm:t>
        <a:bodyPr anchor="ctr"/>
        <a:lstStyle/>
        <a:p>
          <a:pPr>
            <a:buFont typeface="Symbol" panose="05050102010706020507" pitchFamily="18" charset="2"/>
            <a:buChar char=""/>
          </a:pPr>
          <a:r>
            <a:rPr lang="en-US" sz="1400" dirty="0">
              <a:effectLst/>
              <a:latin typeface="+mn-lt"/>
              <a:ea typeface="Verdana" panose="020B0604030504040204" pitchFamily="34" charset="0"/>
              <a:cs typeface="Times New Roman" panose="02020603050405020304" pitchFamily="18" charset="0"/>
            </a:rPr>
            <a:t>Minimum capacity allotted to any individual solar power developer is 1 MW and maximum capacity allocated to a single developer shall be 20% of the Solar Park capacity</a:t>
          </a:r>
          <a:endParaRPr lang="en-US" sz="1400" dirty="0">
            <a:latin typeface="+mn-lt"/>
          </a:endParaRPr>
        </a:p>
      </dgm:t>
    </dgm:pt>
    <dgm:pt modelId="{F0F013F4-429F-49CB-8585-E72BD6538CA2}" type="parTrans" cxnId="{F1CAB2AC-C3DA-43DE-A83B-36798AB5FC45}">
      <dgm:prSet/>
      <dgm:spPr/>
      <dgm:t>
        <a:bodyPr/>
        <a:lstStyle/>
        <a:p>
          <a:endParaRPr lang="en-US" sz="1400">
            <a:latin typeface="+mn-lt"/>
          </a:endParaRPr>
        </a:p>
      </dgm:t>
    </dgm:pt>
    <dgm:pt modelId="{23549957-023C-421F-9F49-9B83EBA4EDAA}" type="sibTrans" cxnId="{F1CAB2AC-C3DA-43DE-A83B-36798AB5FC45}">
      <dgm:prSet/>
      <dgm:spPr/>
      <dgm:t>
        <a:bodyPr/>
        <a:lstStyle/>
        <a:p>
          <a:endParaRPr lang="en-US" sz="1400">
            <a:latin typeface="+mn-lt"/>
          </a:endParaRPr>
        </a:p>
      </dgm:t>
    </dgm:pt>
    <dgm:pt modelId="{C8C21032-6906-45D0-91B6-565FEE2411A7}">
      <dgm:prSet phldrT="[Text]" custT="1"/>
      <dgm:spPr/>
      <dgm:t>
        <a:bodyPr anchor="ctr"/>
        <a:lstStyle/>
        <a:p>
          <a:pPr>
            <a:buFont typeface="Symbol" panose="05050102010706020507" pitchFamily="18" charset="2"/>
            <a:buChar char=""/>
          </a:pPr>
          <a:r>
            <a:rPr lang="en-US" sz="1400" dirty="0">
              <a:latin typeface="+mn-lt"/>
            </a:rPr>
            <a:t>There will be two modes of implementation of the Solar/hybrid Parks, viz, Government Owned Parks and Private Developer  Parks</a:t>
          </a:r>
        </a:p>
      </dgm:t>
    </dgm:pt>
    <dgm:pt modelId="{A633EE51-1231-4D48-9700-464590A89928}" type="parTrans" cxnId="{1622F387-5145-4177-91F3-A8C3BC63A4B9}">
      <dgm:prSet/>
      <dgm:spPr/>
      <dgm:t>
        <a:bodyPr/>
        <a:lstStyle/>
        <a:p>
          <a:endParaRPr lang="en-US" sz="1400">
            <a:latin typeface="+mn-lt"/>
          </a:endParaRPr>
        </a:p>
      </dgm:t>
    </dgm:pt>
    <dgm:pt modelId="{371831F7-049E-4C23-BEBB-5B40F9ABD4E5}" type="sibTrans" cxnId="{1622F387-5145-4177-91F3-A8C3BC63A4B9}">
      <dgm:prSet/>
      <dgm:spPr/>
      <dgm:t>
        <a:bodyPr/>
        <a:lstStyle/>
        <a:p>
          <a:endParaRPr lang="en-US" sz="1400">
            <a:latin typeface="+mn-lt"/>
          </a:endParaRPr>
        </a:p>
      </dgm:t>
    </dgm:pt>
    <dgm:pt modelId="{F10E4569-FC8F-4082-B74D-BDE333D7EAE4}" type="pres">
      <dgm:prSet presAssocID="{D99E5B6D-EA5E-43B5-8B42-D61BE9A94D68}" presName="vert0" presStyleCnt="0">
        <dgm:presLayoutVars>
          <dgm:dir/>
          <dgm:animOne val="branch"/>
          <dgm:animLvl val="lvl"/>
        </dgm:presLayoutVars>
      </dgm:prSet>
      <dgm:spPr/>
    </dgm:pt>
    <dgm:pt modelId="{312190E4-101B-4416-A482-AE3ADE6713C4}" type="pres">
      <dgm:prSet presAssocID="{99BD1A1B-64C5-4FA4-A526-DCE64605B189}" presName="thickLine" presStyleLbl="alignNode1" presStyleIdx="0" presStyleCnt="1"/>
      <dgm:spPr/>
    </dgm:pt>
    <dgm:pt modelId="{14218AE5-26DA-46CC-B93E-DAC366667917}" type="pres">
      <dgm:prSet presAssocID="{99BD1A1B-64C5-4FA4-A526-DCE64605B189}" presName="horz1" presStyleCnt="0"/>
      <dgm:spPr/>
    </dgm:pt>
    <dgm:pt modelId="{F3731533-F053-4A30-9366-2D631E5E6DD4}" type="pres">
      <dgm:prSet presAssocID="{99BD1A1B-64C5-4FA4-A526-DCE64605B189}" presName="tx1" presStyleLbl="revTx" presStyleIdx="0" presStyleCnt="5"/>
      <dgm:spPr/>
    </dgm:pt>
    <dgm:pt modelId="{17265505-8103-49C0-A871-3210C96F9884}" type="pres">
      <dgm:prSet presAssocID="{99BD1A1B-64C5-4FA4-A526-DCE64605B189}" presName="vert1" presStyleCnt="0"/>
      <dgm:spPr/>
    </dgm:pt>
    <dgm:pt modelId="{F7DB8842-C016-4444-AEFA-3164E0DA1914}" type="pres">
      <dgm:prSet presAssocID="{C8C21032-6906-45D0-91B6-565FEE2411A7}" presName="vertSpace2a" presStyleCnt="0"/>
      <dgm:spPr/>
    </dgm:pt>
    <dgm:pt modelId="{B5C9D94C-FF36-4862-84BA-3DD03850928A}" type="pres">
      <dgm:prSet presAssocID="{C8C21032-6906-45D0-91B6-565FEE2411A7}" presName="horz2" presStyleCnt="0"/>
      <dgm:spPr/>
    </dgm:pt>
    <dgm:pt modelId="{7E9920A0-CE4E-494D-B335-E7B8BBED398A}" type="pres">
      <dgm:prSet presAssocID="{C8C21032-6906-45D0-91B6-565FEE2411A7}" presName="horzSpace2" presStyleCnt="0"/>
      <dgm:spPr/>
    </dgm:pt>
    <dgm:pt modelId="{C10D68C7-6B3E-4FCD-835F-47179A9BD26D}" type="pres">
      <dgm:prSet presAssocID="{C8C21032-6906-45D0-91B6-565FEE2411A7}" presName="tx2" presStyleLbl="revTx" presStyleIdx="1" presStyleCnt="5"/>
      <dgm:spPr/>
    </dgm:pt>
    <dgm:pt modelId="{04CC132E-30D5-4075-AFE5-7288DE88C880}" type="pres">
      <dgm:prSet presAssocID="{C8C21032-6906-45D0-91B6-565FEE2411A7}" presName="vert2" presStyleCnt="0"/>
      <dgm:spPr/>
    </dgm:pt>
    <dgm:pt modelId="{7082BC1E-102E-49CA-BF58-026A21EE4144}" type="pres">
      <dgm:prSet presAssocID="{C8C21032-6906-45D0-91B6-565FEE2411A7}" presName="thinLine2b" presStyleLbl="callout" presStyleIdx="0" presStyleCnt="4"/>
      <dgm:spPr/>
    </dgm:pt>
    <dgm:pt modelId="{8624B759-7817-4D01-8256-1BFC2628597C}" type="pres">
      <dgm:prSet presAssocID="{C8C21032-6906-45D0-91B6-565FEE2411A7}" presName="vertSpace2b" presStyleCnt="0"/>
      <dgm:spPr/>
    </dgm:pt>
    <dgm:pt modelId="{60D719D7-A0F0-4FB5-9F83-FD2D0328125F}" type="pres">
      <dgm:prSet presAssocID="{C24CB6B0-33D7-439A-9CCB-3AF5F4516717}" presName="horz2" presStyleCnt="0"/>
      <dgm:spPr/>
    </dgm:pt>
    <dgm:pt modelId="{F30DA7E5-81AE-4457-8548-3A64B9A02960}" type="pres">
      <dgm:prSet presAssocID="{C24CB6B0-33D7-439A-9CCB-3AF5F4516717}" presName="horzSpace2" presStyleCnt="0"/>
      <dgm:spPr/>
    </dgm:pt>
    <dgm:pt modelId="{0C83A1B2-47F4-483F-8C2F-05FE34C3D73B}" type="pres">
      <dgm:prSet presAssocID="{C24CB6B0-33D7-439A-9CCB-3AF5F4516717}" presName="tx2" presStyleLbl="revTx" presStyleIdx="2" presStyleCnt="5"/>
      <dgm:spPr/>
    </dgm:pt>
    <dgm:pt modelId="{E631603A-D0BE-4FED-8531-A126202F7A8B}" type="pres">
      <dgm:prSet presAssocID="{C24CB6B0-33D7-439A-9CCB-3AF5F4516717}" presName="vert2" presStyleCnt="0"/>
      <dgm:spPr/>
    </dgm:pt>
    <dgm:pt modelId="{AF9CC577-06B1-4F7B-881C-5B7F5195FD50}" type="pres">
      <dgm:prSet presAssocID="{C24CB6B0-33D7-439A-9CCB-3AF5F4516717}" presName="thinLine2b" presStyleLbl="callout" presStyleIdx="1" presStyleCnt="4"/>
      <dgm:spPr/>
    </dgm:pt>
    <dgm:pt modelId="{D8E91880-3DE0-492E-8B30-652DE6DE97F3}" type="pres">
      <dgm:prSet presAssocID="{C24CB6B0-33D7-439A-9CCB-3AF5F4516717}" presName="vertSpace2b" presStyleCnt="0"/>
      <dgm:spPr/>
    </dgm:pt>
    <dgm:pt modelId="{FE4FF0DE-5BE9-42F6-9DC7-941D0FA67F3D}" type="pres">
      <dgm:prSet presAssocID="{4C461B9E-A78D-4072-AA67-646142A27C62}" presName="horz2" presStyleCnt="0"/>
      <dgm:spPr/>
    </dgm:pt>
    <dgm:pt modelId="{B0C65980-117D-4DA8-932D-A9CB1E6D0962}" type="pres">
      <dgm:prSet presAssocID="{4C461B9E-A78D-4072-AA67-646142A27C62}" presName="horzSpace2" presStyleCnt="0"/>
      <dgm:spPr/>
    </dgm:pt>
    <dgm:pt modelId="{E7EE6B12-C954-4ED5-A611-2AF10047D389}" type="pres">
      <dgm:prSet presAssocID="{4C461B9E-A78D-4072-AA67-646142A27C62}" presName="tx2" presStyleLbl="revTx" presStyleIdx="3" presStyleCnt="5"/>
      <dgm:spPr/>
    </dgm:pt>
    <dgm:pt modelId="{3D3A7EE3-45C8-4DEC-871A-D7556044BFC1}" type="pres">
      <dgm:prSet presAssocID="{4C461B9E-A78D-4072-AA67-646142A27C62}" presName="vert2" presStyleCnt="0"/>
      <dgm:spPr/>
    </dgm:pt>
    <dgm:pt modelId="{927291E7-241F-41B8-9253-B702E9A0C3CD}" type="pres">
      <dgm:prSet presAssocID="{4C461B9E-A78D-4072-AA67-646142A27C62}" presName="thinLine2b" presStyleLbl="callout" presStyleIdx="2" presStyleCnt="4"/>
      <dgm:spPr/>
    </dgm:pt>
    <dgm:pt modelId="{BBB8EA09-5B63-4115-B54F-A14977DB3F2E}" type="pres">
      <dgm:prSet presAssocID="{4C461B9E-A78D-4072-AA67-646142A27C62}" presName="vertSpace2b" presStyleCnt="0"/>
      <dgm:spPr/>
    </dgm:pt>
    <dgm:pt modelId="{E5A08EC0-AF5C-438D-970D-6E81985B82DA}" type="pres">
      <dgm:prSet presAssocID="{DDBB9395-A959-4992-A9E8-7F3ECD03D316}" presName="horz2" presStyleCnt="0"/>
      <dgm:spPr/>
    </dgm:pt>
    <dgm:pt modelId="{B7EAFCA9-F0E5-4A0E-9FFA-AC8DB20F40E7}" type="pres">
      <dgm:prSet presAssocID="{DDBB9395-A959-4992-A9E8-7F3ECD03D316}" presName="horzSpace2" presStyleCnt="0"/>
      <dgm:spPr/>
    </dgm:pt>
    <dgm:pt modelId="{BDE709A4-DCA6-4FF7-992F-45B5F8D174BD}" type="pres">
      <dgm:prSet presAssocID="{DDBB9395-A959-4992-A9E8-7F3ECD03D316}" presName="tx2" presStyleLbl="revTx" presStyleIdx="4" presStyleCnt="5"/>
      <dgm:spPr/>
    </dgm:pt>
    <dgm:pt modelId="{2370B8D7-FC59-4B99-8853-782BBFF67240}" type="pres">
      <dgm:prSet presAssocID="{DDBB9395-A959-4992-A9E8-7F3ECD03D316}" presName="vert2" presStyleCnt="0"/>
      <dgm:spPr/>
    </dgm:pt>
    <dgm:pt modelId="{8D5FB2D1-07FF-45FD-9996-B3043D3C780F}" type="pres">
      <dgm:prSet presAssocID="{DDBB9395-A959-4992-A9E8-7F3ECD03D316}" presName="thinLine2b" presStyleLbl="callout" presStyleIdx="3" presStyleCnt="4"/>
      <dgm:spPr/>
    </dgm:pt>
    <dgm:pt modelId="{64692010-9670-4F4F-BA82-C19268B5BD40}" type="pres">
      <dgm:prSet presAssocID="{DDBB9395-A959-4992-A9E8-7F3ECD03D316}" presName="vertSpace2b" presStyleCnt="0"/>
      <dgm:spPr/>
    </dgm:pt>
  </dgm:ptLst>
  <dgm:cxnLst>
    <dgm:cxn modelId="{89B6FB62-4C67-446D-8168-5EBE5CCE7E6C}" type="presOf" srcId="{C24CB6B0-33D7-439A-9CCB-3AF5F4516717}" destId="{0C83A1B2-47F4-483F-8C2F-05FE34C3D73B}" srcOrd="0" destOrd="0" presId="urn:microsoft.com/office/officeart/2008/layout/LinedList"/>
    <dgm:cxn modelId="{7302D846-1FF3-4D91-B853-12D7D545CD5B}" srcId="{99BD1A1B-64C5-4FA4-A526-DCE64605B189}" destId="{4C461B9E-A78D-4072-AA67-646142A27C62}" srcOrd="2" destOrd="0" parTransId="{7D6BABBC-4283-4B44-9720-B4BBEF1AED6F}" sibTransId="{231CC1A0-36D9-447F-A5BF-FF9B98EE3441}"/>
    <dgm:cxn modelId="{34C0E256-C080-409E-852A-41CBDDB53363}" type="presOf" srcId="{D99E5B6D-EA5E-43B5-8B42-D61BE9A94D68}" destId="{F10E4569-FC8F-4082-B74D-BDE333D7EAE4}" srcOrd="0" destOrd="0" presId="urn:microsoft.com/office/officeart/2008/layout/LinedList"/>
    <dgm:cxn modelId="{2918ED80-F903-4A19-9846-25B59F694BE3}" type="presOf" srcId="{DDBB9395-A959-4992-A9E8-7F3ECD03D316}" destId="{BDE709A4-DCA6-4FF7-992F-45B5F8D174BD}" srcOrd="0" destOrd="0" presId="urn:microsoft.com/office/officeart/2008/layout/LinedList"/>
    <dgm:cxn modelId="{1622F387-5145-4177-91F3-A8C3BC63A4B9}" srcId="{99BD1A1B-64C5-4FA4-A526-DCE64605B189}" destId="{C8C21032-6906-45D0-91B6-565FEE2411A7}" srcOrd="0" destOrd="0" parTransId="{A633EE51-1231-4D48-9700-464590A89928}" sibTransId="{371831F7-049E-4C23-BEBB-5B40F9ABD4E5}"/>
    <dgm:cxn modelId="{6DAE6589-651B-4EE3-A591-244715C35AA4}" type="presOf" srcId="{C8C21032-6906-45D0-91B6-565FEE2411A7}" destId="{C10D68C7-6B3E-4FCD-835F-47179A9BD26D}" srcOrd="0" destOrd="0" presId="urn:microsoft.com/office/officeart/2008/layout/LinedList"/>
    <dgm:cxn modelId="{3D570FA4-52D0-4C8C-85CD-32E1B7C9C710}" srcId="{99BD1A1B-64C5-4FA4-A526-DCE64605B189}" destId="{C24CB6B0-33D7-439A-9CCB-3AF5F4516717}" srcOrd="1" destOrd="0" parTransId="{5488C0FB-18C9-4A9C-9114-304C515DBF4D}" sibTransId="{B43E4FA2-E823-4B7E-AEE2-A841C1C780DA}"/>
    <dgm:cxn modelId="{F1CAB2AC-C3DA-43DE-A83B-36798AB5FC45}" srcId="{99BD1A1B-64C5-4FA4-A526-DCE64605B189}" destId="{DDBB9395-A959-4992-A9E8-7F3ECD03D316}" srcOrd="3" destOrd="0" parTransId="{F0F013F4-429F-49CB-8585-E72BD6538CA2}" sibTransId="{23549957-023C-421F-9F49-9B83EBA4EDAA}"/>
    <dgm:cxn modelId="{300E38B2-2881-49EB-9F38-448D69FE37CC}" type="presOf" srcId="{99BD1A1B-64C5-4FA4-A526-DCE64605B189}" destId="{F3731533-F053-4A30-9366-2D631E5E6DD4}" srcOrd="0" destOrd="0" presId="urn:microsoft.com/office/officeart/2008/layout/LinedList"/>
    <dgm:cxn modelId="{A1683ECF-76FD-4113-A211-CE3B8991BD96}" type="presOf" srcId="{4C461B9E-A78D-4072-AA67-646142A27C62}" destId="{E7EE6B12-C954-4ED5-A611-2AF10047D389}" srcOrd="0" destOrd="0" presId="urn:microsoft.com/office/officeart/2008/layout/LinedList"/>
    <dgm:cxn modelId="{8DC2FFE8-78ED-41F4-8DDA-24FB9822D2A4}" srcId="{D99E5B6D-EA5E-43B5-8B42-D61BE9A94D68}" destId="{99BD1A1B-64C5-4FA4-A526-DCE64605B189}" srcOrd="0" destOrd="0" parTransId="{0D0C9E6B-44CE-4434-BEB9-601D48B366BD}" sibTransId="{ACE93ACF-5B18-4CB8-8F4A-171826411864}"/>
    <dgm:cxn modelId="{31044420-BDCA-47DA-BB36-D85F52A0CAF8}" type="presParOf" srcId="{F10E4569-FC8F-4082-B74D-BDE333D7EAE4}" destId="{312190E4-101B-4416-A482-AE3ADE6713C4}" srcOrd="0" destOrd="0" presId="urn:microsoft.com/office/officeart/2008/layout/LinedList"/>
    <dgm:cxn modelId="{337E95D0-1BEB-4312-84A5-E8B19A198792}" type="presParOf" srcId="{F10E4569-FC8F-4082-B74D-BDE333D7EAE4}" destId="{14218AE5-26DA-46CC-B93E-DAC366667917}" srcOrd="1" destOrd="0" presId="urn:microsoft.com/office/officeart/2008/layout/LinedList"/>
    <dgm:cxn modelId="{6354983A-D143-455F-B70B-BC84ED9F3223}" type="presParOf" srcId="{14218AE5-26DA-46CC-B93E-DAC366667917}" destId="{F3731533-F053-4A30-9366-2D631E5E6DD4}" srcOrd="0" destOrd="0" presId="urn:microsoft.com/office/officeart/2008/layout/LinedList"/>
    <dgm:cxn modelId="{C0A837EF-97A4-4E56-AEE4-9675C0246211}" type="presParOf" srcId="{14218AE5-26DA-46CC-B93E-DAC366667917}" destId="{17265505-8103-49C0-A871-3210C96F9884}" srcOrd="1" destOrd="0" presId="urn:microsoft.com/office/officeart/2008/layout/LinedList"/>
    <dgm:cxn modelId="{D4936A2B-23A2-4540-B1DF-554B410D2CB8}" type="presParOf" srcId="{17265505-8103-49C0-A871-3210C96F9884}" destId="{F7DB8842-C016-4444-AEFA-3164E0DA1914}" srcOrd="0" destOrd="0" presId="urn:microsoft.com/office/officeart/2008/layout/LinedList"/>
    <dgm:cxn modelId="{4A61A26D-01F0-4F7F-9998-32E9C6891DF0}" type="presParOf" srcId="{17265505-8103-49C0-A871-3210C96F9884}" destId="{B5C9D94C-FF36-4862-84BA-3DD03850928A}" srcOrd="1" destOrd="0" presId="urn:microsoft.com/office/officeart/2008/layout/LinedList"/>
    <dgm:cxn modelId="{94F27950-3540-41FD-AC2F-0B047D63E47A}" type="presParOf" srcId="{B5C9D94C-FF36-4862-84BA-3DD03850928A}" destId="{7E9920A0-CE4E-494D-B335-E7B8BBED398A}" srcOrd="0" destOrd="0" presId="urn:microsoft.com/office/officeart/2008/layout/LinedList"/>
    <dgm:cxn modelId="{A76FA635-DD01-43B8-9AFA-0CAF1C598BD5}" type="presParOf" srcId="{B5C9D94C-FF36-4862-84BA-3DD03850928A}" destId="{C10D68C7-6B3E-4FCD-835F-47179A9BD26D}" srcOrd="1" destOrd="0" presId="urn:microsoft.com/office/officeart/2008/layout/LinedList"/>
    <dgm:cxn modelId="{0C511CB2-1A97-49A2-A28F-E0609D385ECD}" type="presParOf" srcId="{B5C9D94C-FF36-4862-84BA-3DD03850928A}" destId="{04CC132E-30D5-4075-AFE5-7288DE88C880}" srcOrd="2" destOrd="0" presId="urn:microsoft.com/office/officeart/2008/layout/LinedList"/>
    <dgm:cxn modelId="{BBDFEFAD-658D-4011-8B3C-9377DD795A62}" type="presParOf" srcId="{17265505-8103-49C0-A871-3210C96F9884}" destId="{7082BC1E-102E-49CA-BF58-026A21EE4144}" srcOrd="2" destOrd="0" presId="urn:microsoft.com/office/officeart/2008/layout/LinedList"/>
    <dgm:cxn modelId="{BC580931-258D-4B62-92C7-CC686489BB4E}" type="presParOf" srcId="{17265505-8103-49C0-A871-3210C96F9884}" destId="{8624B759-7817-4D01-8256-1BFC2628597C}" srcOrd="3" destOrd="0" presId="urn:microsoft.com/office/officeart/2008/layout/LinedList"/>
    <dgm:cxn modelId="{649AA6BC-36DE-49DB-B981-61AD7D0ED9CC}" type="presParOf" srcId="{17265505-8103-49C0-A871-3210C96F9884}" destId="{60D719D7-A0F0-4FB5-9F83-FD2D0328125F}" srcOrd="4" destOrd="0" presId="urn:microsoft.com/office/officeart/2008/layout/LinedList"/>
    <dgm:cxn modelId="{FFD47517-2473-4B9D-9108-13AF24783B90}" type="presParOf" srcId="{60D719D7-A0F0-4FB5-9F83-FD2D0328125F}" destId="{F30DA7E5-81AE-4457-8548-3A64B9A02960}" srcOrd="0" destOrd="0" presId="urn:microsoft.com/office/officeart/2008/layout/LinedList"/>
    <dgm:cxn modelId="{F9482C6D-3C4F-4CA7-8BC9-A843077486AB}" type="presParOf" srcId="{60D719D7-A0F0-4FB5-9F83-FD2D0328125F}" destId="{0C83A1B2-47F4-483F-8C2F-05FE34C3D73B}" srcOrd="1" destOrd="0" presId="urn:microsoft.com/office/officeart/2008/layout/LinedList"/>
    <dgm:cxn modelId="{6293D118-213D-41DE-93CE-E7E9A24D9433}" type="presParOf" srcId="{60D719D7-A0F0-4FB5-9F83-FD2D0328125F}" destId="{E631603A-D0BE-4FED-8531-A126202F7A8B}" srcOrd="2" destOrd="0" presId="urn:microsoft.com/office/officeart/2008/layout/LinedList"/>
    <dgm:cxn modelId="{AF5BE61A-D0A6-41D2-8FE4-8589AF5A6653}" type="presParOf" srcId="{17265505-8103-49C0-A871-3210C96F9884}" destId="{AF9CC577-06B1-4F7B-881C-5B7F5195FD50}" srcOrd="5" destOrd="0" presId="urn:microsoft.com/office/officeart/2008/layout/LinedList"/>
    <dgm:cxn modelId="{1FF46790-2A8A-42C1-9B46-B37E464363EB}" type="presParOf" srcId="{17265505-8103-49C0-A871-3210C96F9884}" destId="{D8E91880-3DE0-492E-8B30-652DE6DE97F3}" srcOrd="6" destOrd="0" presId="urn:microsoft.com/office/officeart/2008/layout/LinedList"/>
    <dgm:cxn modelId="{6444A89A-B11D-4F7B-B500-655EE9F2EC09}" type="presParOf" srcId="{17265505-8103-49C0-A871-3210C96F9884}" destId="{FE4FF0DE-5BE9-42F6-9DC7-941D0FA67F3D}" srcOrd="7" destOrd="0" presId="urn:microsoft.com/office/officeart/2008/layout/LinedList"/>
    <dgm:cxn modelId="{09666C1A-BF5A-49E2-9B22-30C157764211}" type="presParOf" srcId="{FE4FF0DE-5BE9-42F6-9DC7-941D0FA67F3D}" destId="{B0C65980-117D-4DA8-932D-A9CB1E6D0962}" srcOrd="0" destOrd="0" presId="urn:microsoft.com/office/officeart/2008/layout/LinedList"/>
    <dgm:cxn modelId="{D97D6E71-B506-4FF1-83FD-9AE190946191}" type="presParOf" srcId="{FE4FF0DE-5BE9-42F6-9DC7-941D0FA67F3D}" destId="{E7EE6B12-C954-4ED5-A611-2AF10047D389}" srcOrd="1" destOrd="0" presId="urn:microsoft.com/office/officeart/2008/layout/LinedList"/>
    <dgm:cxn modelId="{D6400B7A-4367-4EAA-833F-241C85494D72}" type="presParOf" srcId="{FE4FF0DE-5BE9-42F6-9DC7-941D0FA67F3D}" destId="{3D3A7EE3-45C8-4DEC-871A-D7556044BFC1}" srcOrd="2" destOrd="0" presId="urn:microsoft.com/office/officeart/2008/layout/LinedList"/>
    <dgm:cxn modelId="{D57DFFA1-2F14-48FB-BA26-C40DB96DB2BE}" type="presParOf" srcId="{17265505-8103-49C0-A871-3210C96F9884}" destId="{927291E7-241F-41B8-9253-B702E9A0C3CD}" srcOrd="8" destOrd="0" presId="urn:microsoft.com/office/officeart/2008/layout/LinedList"/>
    <dgm:cxn modelId="{07D733EA-8F08-4CB2-AA93-072BBB196454}" type="presParOf" srcId="{17265505-8103-49C0-A871-3210C96F9884}" destId="{BBB8EA09-5B63-4115-B54F-A14977DB3F2E}" srcOrd="9" destOrd="0" presId="urn:microsoft.com/office/officeart/2008/layout/LinedList"/>
    <dgm:cxn modelId="{BB2A8511-BF21-4200-9E9F-0663ED979845}" type="presParOf" srcId="{17265505-8103-49C0-A871-3210C96F9884}" destId="{E5A08EC0-AF5C-438D-970D-6E81985B82DA}" srcOrd="10" destOrd="0" presId="urn:microsoft.com/office/officeart/2008/layout/LinedList"/>
    <dgm:cxn modelId="{E809D83F-E5A7-4AC9-B6A5-B68F7A47B1D4}" type="presParOf" srcId="{E5A08EC0-AF5C-438D-970D-6E81985B82DA}" destId="{B7EAFCA9-F0E5-4A0E-9FFA-AC8DB20F40E7}" srcOrd="0" destOrd="0" presId="urn:microsoft.com/office/officeart/2008/layout/LinedList"/>
    <dgm:cxn modelId="{ECEA4729-CB00-4E3F-86C0-DFC951900EF9}" type="presParOf" srcId="{E5A08EC0-AF5C-438D-970D-6E81985B82DA}" destId="{BDE709A4-DCA6-4FF7-992F-45B5F8D174BD}" srcOrd="1" destOrd="0" presId="urn:microsoft.com/office/officeart/2008/layout/LinedList"/>
    <dgm:cxn modelId="{30F235F3-A95A-4C74-A0DC-2CAFB1DE13F0}" type="presParOf" srcId="{E5A08EC0-AF5C-438D-970D-6E81985B82DA}" destId="{2370B8D7-FC59-4B99-8853-782BBFF67240}" srcOrd="2" destOrd="0" presId="urn:microsoft.com/office/officeart/2008/layout/LinedList"/>
    <dgm:cxn modelId="{170B3F63-5E43-4EC9-8E27-642BC3DB841F}" type="presParOf" srcId="{17265505-8103-49C0-A871-3210C96F9884}" destId="{8D5FB2D1-07FF-45FD-9996-B3043D3C780F}" srcOrd="11" destOrd="0" presId="urn:microsoft.com/office/officeart/2008/layout/LinedList"/>
    <dgm:cxn modelId="{1769CE23-0BC0-4481-89E7-21581CF0FE3F}" type="presParOf" srcId="{17265505-8103-49C0-A871-3210C96F9884}" destId="{64692010-9670-4F4F-BA82-C19268B5BD40}" srcOrd="12" destOrd="0" presId="urn:microsoft.com/office/officeart/2008/layout/LinedList"/>
  </dgm:cxnLst>
  <dgm:bg/>
  <dgm:whole>
    <a:ln>
      <a:noFill/>
    </a:ln>
  </dgm:whole>
  <dgm:extLst>
    <a:ext uri="http://schemas.microsoft.com/office/drawing/2008/diagram">
      <dsp:dataModelExt xmlns:dsp="http://schemas.microsoft.com/office/drawing/2008/diagram" relId="rId1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99E5B6D-EA5E-43B5-8B42-D61BE9A94D68}" type="doc">
      <dgm:prSet loTypeId="urn:microsoft.com/office/officeart/2005/8/layout/hierarchy4" loCatId="list" qsTypeId="urn:microsoft.com/office/officeart/2005/8/quickstyle/simple1" qsCatId="simple" csTypeId="urn:microsoft.com/office/officeart/2005/8/colors/accent1_2" csCatId="accent1" phldr="1"/>
      <dgm:spPr/>
      <dgm:t>
        <a:bodyPr/>
        <a:lstStyle/>
        <a:p>
          <a:endParaRPr lang="en-US"/>
        </a:p>
      </dgm:t>
    </dgm:pt>
    <dgm:pt modelId="{99BD1A1B-64C5-4FA4-A526-DCE64605B189}">
      <dgm:prSet phldrT="[Text]" custT="1"/>
      <dgm:spPr>
        <a:solidFill>
          <a:srgbClr val="007680"/>
        </a:solidFill>
      </dgm:spPr>
      <dgm:t>
        <a:bodyPr/>
        <a:lstStyle/>
        <a:p>
          <a:r>
            <a:rPr lang="en-US" sz="1600" dirty="0">
              <a:latin typeface="Verdana" panose="020B0604030504040204" pitchFamily="34" charset="0"/>
              <a:ea typeface="Verdana" panose="020B0604030504040204" pitchFamily="34" charset="0"/>
            </a:rPr>
            <a:t>Private Park Development</a:t>
          </a:r>
        </a:p>
      </dgm:t>
    </dgm:pt>
    <dgm:pt modelId="{0D0C9E6B-44CE-4434-BEB9-601D48B366BD}" type="parTrans" cxnId="{8DC2FFE8-78ED-41F4-8DDA-24FB9822D2A4}">
      <dgm:prSet/>
      <dgm:spPr/>
      <dgm:t>
        <a:bodyPr/>
        <a:lstStyle/>
        <a:p>
          <a:endParaRPr lang="en-US" sz="1400">
            <a:latin typeface="Verdana" panose="020B0604030504040204" pitchFamily="34" charset="0"/>
            <a:ea typeface="Verdana" panose="020B0604030504040204" pitchFamily="34" charset="0"/>
          </a:endParaRPr>
        </a:p>
      </dgm:t>
    </dgm:pt>
    <dgm:pt modelId="{ACE93ACF-5B18-4CB8-8F4A-171826411864}" type="sibTrans" cxnId="{8DC2FFE8-78ED-41F4-8DDA-24FB9822D2A4}">
      <dgm:prSet/>
      <dgm:spPr/>
      <dgm:t>
        <a:bodyPr/>
        <a:lstStyle/>
        <a:p>
          <a:endParaRPr lang="en-US" sz="1400">
            <a:latin typeface="Verdana" panose="020B0604030504040204" pitchFamily="34" charset="0"/>
            <a:ea typeface="Verdana" panose="020B0604030504040204" pitchFamily="34" charset="0"/>
          </a:endParaRPr>
        </a:p>
      </dgm:t>
    </dgm:pt>
    <dgm:pt modelId="{C24CB6B0-33D7-439A-9CCB-3AF5F4516717}">
      <dgm:prSet phldrT="[Text]" custT="1"/>
      <dgm:spPr>
        <a:solidFill>
          <a:schemeClr val="accent6">
            <a:lumMod val="50000"/>
          </a:schemeClr>
        </a:solidFill>
      </dgm:spPr>
      <dgm:t>
        <a:bodyPr/>
        <a:lstStyle/>
        <a:p>
          <a:pPr>
            <a:buFont typeface="Wingdings" panose="05000000000000000000" pitchFamily="2" charset="2"/>
            <a:buChar char="Ø"/>
          </a:pPr>
          <a:r>
            <a:rPr lang="en-US" sz="1200" dirty="0">
              <a:latin typeface="Verdana" panose="020B0604030504040204" pitchFamily="34" charset="0"/>
              <a:ea typeface="Verdana" panose="020B0604030504040204" pitchFamily="34" charset="0"/>
            </a:rPr>
            <a:t>Developer shall identify suitable site and procure at least 25% of land before approaching nodal agency. In case of Govt. land, WBREDA would have to be approached</a:t>
          </a:r>
        </a:p>
      </dgm:t>
    </dgm:pt>
    <dgm:pt modelId="{5488C0FB-18C9-4A9C-9114-304C515DBF4D}" type="parTrans" cxnId="{3D570FA4-52D0-4C8C-85CD-32E1B7C9C710}">
      <dgm:prSet/>
      <dgm:spPr/>
      <dgm:t>
        <a:bodyPr/>
        <a:lstStyle/>
        <a:p>
          <a:endParaRPr lang="en-US" sz="1400">
            <a:latin typeface="Verdana" panose="020B0604030504040204" pitchFamily="34" charset="0"/>
            <a:ea typeface="Verdana" panose="020B0604030504040204" pitchFamily="34" charset="0"/>
          </a:endParaRPr>
        </a:p>
      </dgm:t>
    </dgm:pt>
    <dgm:pt modelId="{B43E4FA2-E823-4B7E-AEE2-A841C1C780DA}" type="sibTrans" cxnId="{3D570FA4-52D0-4C8C-85CD-32E1B7C9C710}">
      <dgm:prSet/>
      <dgm:spPr/>
      <dgm:t>
        <a:bodyPr/>
        <a:lstStyle/>
        <a:p>
          <a:endParaRPr lang="en-US" sz="1400">
            <a:latin typeface="Verdana" panose="020B0604030504040204" pitchFamily="34" charset="0"/>
            <a:ea typeface="Verdana" panose="020B0604030504040204" pitchFamily="34" charset="0"/>
          </a:endParaRPr>
        </a:p>
      </dgm:t>
    </dgm:pt>
    <dgm:pt modelId="{4C461B9E-A78D-4072-AA67-646142A27C62}">
      <dgm:prSet phldrT="[Text]" custT="1"/>
      <dgm:spPr>
        <a:solidFill>
          <a:schemeClr val="accent6">
            <a:lumMod val="75000"/>
          </a:schemeClr>
        </a:solidFill>
      </dgm:spPr>
      <dgm:t>
        <a:bodyPr/>
        <a:lstStyle/>
        <a:p>
          <a:pPr>
            <a:buFont typeface="Symbol" panose="05050102010706020507" pitchFamily="18" charset="2"/>
            <a:buChar char=""/>
          </a:pPr>
          <a:r>
            <a:rPr lang="en-US" sz="1200" dirty="0">
              <a:latin typeface="Verdana" panose="020B0604030504040204" pitchFamily="34" charset="0"/>
              <a:ea typeface="Verdana" panose="020B0604030504040204" pitchFamily="34" charset="0"/>
            </a:rPr>
            <a:t>The land allotted for solar power generation cannot be diverted for any other purpose and developer should initiate within 6 months of allotment</a:t>
          </a:r>
        </a:p>
      </dgm:t>
    </dgm:pt>
    <dgm:pt modelId="{7D6BABBC-4283-4B44-9720-B4BBEF1AED6F}" type="parTrans" cxnId="{7302D846-1FF3-4D91-B853-12D7D545CD5B}">
      <dgm:prSet/>
      <dgm:spPr/>
      <dgm:t>
        <a:bodyPr/>
        <a:lstStyle/>
        <a:p>
          <a:endParaRPr lang="en-US" sz="1400">
            <a:latin typeface="Verdana" panose="020B0604030504040204" pitchFamily="34" charset="0"/>
            <a:ea typeface="Verdana" panose="020B0604030504040204" pitchFamily="34" charset="0"/>
          </a:endParaRPr>
        </a:p>
      </dgm:t>
    </dgm:pt>
    <dgm:pt modelId="{231CC1A0-36D9-447F-A5BF-FF9B98EE3441}" type="sibTrans" cxnId="{7302D846-1FF3-4D91-B853-12D7D545CD5B}">
      <dgm:prSet/>
      <dgm:spPr/>
      <dgm:t>
        <a:bodyPr/>
        <a:lstStyle/>
        <a:p>
          <a:endParaRPr lang="en-US" sz="1400">
            <a:latin typeface="Verdana" panose="020B0604030504040204" pitchFamily="34" charset="0"/>
            <a:ea typeface="Verdana" panose="020B0604030504040204" pitchFamily="34" charset="0"/>
          </a:endParaRPr>
        </a:p>
      </dgm:t>
    </dgm:pt>
    <dgm:pt modelId="{DDBB9395-A959-4992-A9E8-7F3ECD03D316}">
      <dgm:prSet phldrT="[Text]" custT="1"/>
      <dgm:spPr>
        <a:solidFill>
          <a:srgbClr val="00B050"/>
        </a:solidFill>
      </dgm:spPr>
      <dgm:t>
        <a:bodyPr/>
        <a:lstStyle/>
        <a:p>
          <a:pPr>
            <a:buFont typeface="Symbol" panose="05050102010706020507" pitchFamily="18" charset="2"/>
            <a:buChar char=""/>
          </a:pPr>
          <a:r>
            <a:rPr lang="en-US" sz="1200" dirty="0">
              <a:latin typeface="Verdana" panose="020B0604030504040204" pitchFamily="34" charset="0"/>
              <a:ea typeface="Verdana" panose="020B0604030504040204" pitchFamily="34" charset="0"/>
            </a:rPr>
            <a:t>PPD may either develop project on his own or further sub-let plots after creating basic infrastructure necessary</a:t>
          </a:r>
        </a:p>
      </dgm:t>
    </dgm:pt>
    <dgm:pt modelId="{F0F013F4-429F-49CB-8585-E72BD6538CA2}" type="parTrans" cxnId="{F1CAB2AC-C3DA-43DE-A83B-36798AB5FC45}">
      <dgm:prSet/>
      <dgm:spPr/>
      <dgm:t>
        <a:bodyPr/>
        <a:lstStyle/>
        <a:p>
          <a:endParaRPr lang="en-US" sz="1400">
            <a:latin typeface="Verdana" panose="020B0604030504040204" pitchFamily="34" charset="0"/>
            <a:ea typeface="Verdana" panose="020B0604030504040204" pitchFamily="34" charset="0"/>
          </a:endParaRPr>
        </a:p>
      </dgm:t>
    </dgm:pt>
    <dgm:pt modelId="{23549957-023C-421F-9F49-9B83EBA4EDAA}" type="sibTrans" cxnId="{F1CAB2AC-C3DA-43DE-A83B-36798AB5FC45}">
      <dgm:prSet/>
      <dgm:spPr/>
      <dgm:t>
        <a:bodyPr/>
        <a:lstStyle/>
        <a:p>
          <a:endParaRPr lang="en-US" sz="1400">
            <a:latin typeface="Verdana" panose="020B0604030504040204" pitchFamily="34" charset="0"/>
            <a:ea typeface="Verdana" panose="020B0604030504040204" pitchFamily="34" charset="0"/>
          </a:endParaRPr>
        </a:p>
      </dgm:t>
    </dgm:pt>
    <dgm:pt modelId="{049264D7-176E-4226-A1BB-6056D1BFEBCD}">
      <dgm:prSet phldrT="[Text]" custT="1"/>
      <dgm:spPr>
        <a:solidFill>
          <a:srgbClr val="92D050"/>
        </a:solidFill>
      </dgm:spPr>
      <dgm:t>
        <a:bodyPr/>
        <a:lstStyle/>
        <a:p>
          <a:pPr>
            <a:buFont typeface="Symbol" panose="05050102010706020507" pitchFamily="18" charset="2"/>
            <a:buChar char=""/>
          </a:pPr>
          <a:r>
            <a:rPr lang="en-US" sz="1200" dirty="0">
              <a:latin typeface="Verdana" panose="020B0604030504040204" pitchFamily="34" charset="0"/>
              <a:ea typeface="Verdana" panose="020B0604030504040204" pitchFamily="34" charset="0"/>
            </a:rPr>
            <a:t>The project developer shall be responsible for execution of the project and the same shall be monitored by the Steering Committee</a:t>
          </a:r>
        </a:p>
      </dgm:t>
    </dgm:pt>
    <dgm:pt modelId="{55BC58E8-25CA-4B79-A43C-780BF19DF0B4}" type="parTrans" cxnId="{891DD951-EBC6-418A-87FF-4C430BFA909C}">
      <dgm:prSet/>
      <dgm:spPr/>
      <dgm:t>
        <a:bodyPr/>
        <a:lstStyle/>
        <a:p>
          <a:endParaRPr lang="en-US" sz="1400">
            <a:latin typeface="Verdana" panose="020B0604030504040204" pitchFamily="34" charset="0"/>
            <a:ea typeface="Verdana" panose="020B0604030504040204" pitchFamily="34" charset="0"/>
          </a:endParaRPr>
        </a:p>
      </dgm:t>
    </dgm:pt>
    <dgm:pt modelId="{6CAE8563-2522-4686-939F-69C801CFD803}" type="sibTrans" cxnId="{891DD951-EBC6-418A-87FF-4C430BFA909C}">
      <dgm:prSet/>
      <dgm:spPr/>
      <dgm:t>
        <a:bodyPr/>
        <a:lstStyle/>
        <a:p>
          <a:endParaRPr lang="en-US" sz="1400">
            <a:latin typeface="Verdana" panose="020B0604030504040204" pitchFamily="34" charset="0"/>
            <a:ea typeface="Verdana" panose="020B0604030504040204" pitchFamily="34" charset="0"/>
          </a:endParaRPr>
        </a:p>
      </dgm:t>
    </dgm:pt>
    <dgm:pt modelId="{C7FA8E64-3D1C-41A3-908B-B76843894A74}">
      <dgm:prSet phldrT="[Text]" custT="1"/>
      <dgm:spPr>
        <a:solidFill>
          <a:schemeClr val="accent6">
            <a:lumMod val="20000"/>
            <a:lumOff val="80000"/>
          </a:schemeClr>
        </a:solidFill>
      </dgm:spPr>
      <dgm:t>
        <a:bodyPr/>
        <a:lstStyle/>
        <a:p>
          <a:r>
            <a:rPr lang="en-US" sz="1200" dirty="0">
              <a:solidFill>
                <a:schemeClr val="tx1"/>
              </a:solidFill>
              <a:latin typeface="Verdana" panose="020B0604030504040204" pitchFamily="34" charset="0"/>
              <a:ea typeface="Verdana" panose="020B0604030504040204" pitchFamily="34" charset="0"/>
            </a:rPr>
            <a:t>The private park developer shall pay 3 times the lease rent for every year for every 1 MW shortfall if 80% of project capacity is not developed within a period of 5 years</a:t>
          </a:r>
        </a:p>
      </dgm:t>
    </dgm:pt>
    <dgm:pt modelId="{9C7CAB12-A988-4B38-8C1C-B8AC3E8A2689}" type="parTrans" cxnId="{CDC7C1D1-2086-4E27-9DA9-D261823F5682}">
      <dgm:prSet/>
      <dgm:spPr/>
      <dgm:t>
        <a:bodyPr/>
        <a:lstStyle/>
        <a:p>
          <a:endParaRPr lang="en-US" sz="1400">
            <a:latin typeface="Verdana" panose="020B0604030504040204" pitchFamily="34" charset="0"/>
            <a:ea typeface="Verdana" panose="020B0604030504040204" pitchFamily="34" charset="0"/>
          </a:endParaRPr>
        </a:p>
      </dgm:t>
    </dgm:pt>
    <dgm:pt modelId="{9F9967B2-9333-4E9E-B2D2-07C1F282A8F9}" type="sibTrans" cxnId="{CDC7C1D1-2086-4E27-9DA9-D261823F5682}">
      <dgm:prSet/>
      <dgm:spPr/>
      <dgm:t>
        <a:bodyPr/>
        <a:lstStyle/>
        <a:p>
          <a:endParaRPr lang="en-US" sz="1400">
            <a:latin typeface="Verdana" panose="020B0604030504040204" pitchFamily="34" charset="0"/>
            <a:ea typeface="Verdana" panose="020B0604030504040204" pitchFamily="34" charset="0"/>
          </a:endParaRPr>
        </a:p>
      </dgm:t>
    </dgm:pt>
    <dgm:pt modelId="{2CC25685-4BD9-4142-B84A-9C078E1BE90F}" type="pres">
      <dgm:prSet presAssocID="{D99E5B6D-EA5E-43B5-8B42-D61BE9A94D68}" presName="Name0" presStyleCnt="0">
        <dgm:presLayoutVars>
          <dgm:chPref val="1"/>
          <dgm:dir/>
          <dgm:animOne val="branch"/>
          <dgm:animLvl val="lvl"/>
          <dgm:resizeHandles/>
        </dgm:presLayoutVars>
      </dgm:prSet>
      <dgm:spPr/>
    </dgm:pt>
    <dgm:pt modelId="{170A547C-9517-4588-ABB7-B150812393B2}" type="pres">
      <dgm:prSet presAssocID="{99BD1A1B-64C5-4FA4-A526-DCE64605B189}" presName="vertOne" presStyleCnt="0"/>
      <dgm:spPr/>
    </dgm:pt>
    <dgm:pt modelId="{C31371B3-D972-475E-B028-D41B48E62429}" type="pres">
      <dgm:prSet presAssocID="{99BD1A1B-64C5-4FA4-A526-DCE64605B189}" presName="txOne" presStyleLbl="node0" presStyleIdx="0" presStyleCnt="1" custScaleY="23592" custLinFactNeighborY="-11943">
        <dgm:presLayoutVars>
          <dgm:chPref val="3"/>
        </dgm:presLayoutVars>
      </dgm:prSet>
      <dgm:spPr/>
    </dgm:pt>
    <dgm:pt modelId="{A748C71E-6177-4D07-8AAD-563684EAD039}" type="pres">
      <dgm:prSet presAssocID="{99BD1A1B-64C5-4FA4-A526-DCE64605B189}" presName="parTransOne" presStyleCnt="0"/>
      <dgm:spPr/>
    </dgm:pt>
    <dgm:pt modelId="{B8FC72B2-3A62-4AA7-A659-FEE53CB9B1FB}" type="pres">
      <dgm:prSet presAssocID="{99BD1A1B-64C5-4FA4-A526-DCE64605B189}" presName="horzOne" presStyleCnt="0"/>
      <dgm:spPr/>
    </dgm:pt>
    <dgm:pt modelId="{85B9D0E8-FA0F-418D-8E63-A0DFD42B38AD}" type="pres">
      <dgm:prSet presAssocID="{C24CB6B0-33D7-439A-9CCB-3AF5F4516717}" presName="vertTwo" presStyleCnt="0"/>
      <dgm:spPr/>
    </dgm:pt>
    <dgm:pt modelId="{3A2419F7-4F15-4FF7-BF84-E651678C1596}" type="pres">
      <dgm:prSet presAssocID="{C24CB6B0-33D7-439A-9CCB-3AF5F4516717}" presName="txTwo" presStyleLbl="node2" presStyleIdx="0" presStyleCnt="5">
        <dgm:presLayoutVars>
          <dgm:chPref val="3"/>
        </dgm:presLayoutVars>
      </dgm:prSet>
      <dgm:spPr/>
    </dgm:pt>
    <dgm:pt modelId="{76D78BAB-306A-45C6-826E-65791D881F78}" type="pres">
      <dgm:prSet presAssocID="{C24CB6B0-33D7-439A-9CCB-3AF5F4516717}" presName="horzTwo" presStyleCnt="0"/>
      <dgm:spPr/>
    </dgm:pt>
    <dgm:pt modelId="{FB6D0E7C-D39B-469C-94BF-BCBC0188930C}" type="pres">
      <dgm:prSet presAssocID="{B43E4FA2-E823-4B7E-AEE2-A841C1C780DA}" presName="sibSpaceTwo" presStyleCnt="0"/>
      <dgm:spPr/>
    </dgm:pt>
    <dgm:pt modelId="{51694ADA-BC17-44E8-B37F-E2CDB03F6006}" type="pres">
      <dgm:prSet presAssocID="{4C461B9E-A78D-4072-AA67-646142A27C62}" presName="vertTwo" presStyleCnt="0"/>
      <dgm:spPr/>
    </dgm:pt>
    <dgm:pt modelId="{C5DB8990-A5CD-4987-AB97-681A4683DFA7}" type="pres">
      <dgm:prSet presAssocID="{4C461B9E-A78D-4072-AA67-646142A27C62}" presName="txTwo" presStyleLbl="node2" presStyleIdx="1" presStyleCnt="5">
        <dgm:presLayoutVars>
          <dgm:chPref val="3"/>
        </dgm:presLayoutVars>
      </dgm:prSet>
      <dgm:spPr/>
    </dgm:pt>
    <dgm:pt modelId="{A4A854FE-77E1-4FC1-A1BB-82A5A78037D8}" type="pres">
      <dgm:prSet presAssocID="{4C461B9E-A78D-4072-AA67-646142A27C62}" presName="horzTwo" presStyleCnt="0"/>
      <dgm:spPr/>
    </dgm:pt>
    <dgm:pt modelId="{5A05F72A-0DCC-43A1-AD4D-93157BF8AA2D}" type="pres">
      <dgm:prSet presAssocID="{231CC1A0-36D9-447F-A5BF-FF9B98EE3441}" presName="sibSpaceTwo" presStyleCnt="0"/>
      <dgm:spPr/>
    </dgm:pt>
    <dgm:pt modelId="{51029175-8179-4374-B7A9-FD8480168D0A}" type="pres">
      <dgm:prSet presAssocID="{DDBB9395-A959-4992-A9E8-7F3ECD03D316}" presName="vertTwo" presStyleCnt="0"/>
      <dgm:spPr/>
    </dgm:pt>
    <dgm:pt modelId="{1CD0DBE7-9137-481C-A7B2-A61E2BE88A7D}" type="pres">
      <dgm:prSet presAssocID="{DDBB9395-A959-4992-A9E8-7F3ECD03D316}" presName="txTwo" presStyleLbl="node2" presStyleIdx="2" presStyleCnt="5">
        <dgm:presLayoutVars>
          <dgm:chPref val="3"/>
        </dgm:presLayoutVars>
      </dgm:prSet>
      <dgm:spPr/>
    </dgm:pt>
    <dgm:pt modelId="{D40C062F-CE4D-44CF-9236-6241025E4C5E}" type="pres">
      <dgm:prSet presAssocID="{DDBB9395-A959-4992-A9E8-7F3ECD03D316}" presName="horzTwo" presStyleCnt="0"/>
      <dgm:spPr/>
    </dgm:pt>
    <dgm:pt modelId="{462728EA-1616-457A-9E1B-D32C8ACB6C73}" type="pres">
      <dgm:prSet presAssocID="{23549957-023C-421F-9F49-9B83EBA4EDAA}" presName="sibSpaceTwo" presStyleCnt="0"/>
      <dgm:spPr/>
    </dgm:pt>
    <dgm:pt modelId="{8433DC42-11AE-4230-B453-D398051A94E2}" type="pres">
      <dgm:prSet presAssocID="{049264D7-176E-4226-A1BB-6056D1BFEBCD}" presName="vertTwo" presStyleCnt="0"/>
      <dgm:spPr/>
    </dgm:pt>
    <dgm:pt modelId="{2A7C177C-30D4-424B-92E4-3AD7A97298D7}" type="pres">
      <dgm:prSet presAssocID="{049264D7-176E-4226-A1BB-6056D1BFEBCD}" presName="txTwo" presStyleLbl="node2" presStyleIdx="3" presStyleCnt="5">
        <dgm:presLayoutVars>
          <dgm:chPref val="3"/>
        </dgm:presLayoutVars>
      </dgm:prSet>
      <dgm:spPr/>
    </dgm:pt>
    <dgm:pt modelId="{B1F7FA85-722C-4DB6-AB28-2327200342E2}" type="pres">
      <dgm:prSet presAssocID="{049264D7-176E-4226-A1BB-6056D1BFEBCD}" presName="horzTwo" presStyleCnt="0"/>
      <dgm:spPr/>
    </dgm:pt>
    <dgm:pt modelId="{06F6E8F2-DD14-4677-A024-918C2FFA8FDA}" type="pres">
      <dgm:prSet presAssocID="{6CAE8563-2522-4686-939F-69C801CFD803}" presName="sibSpaceTwo" presStyleCnt="0"/>
      <dgm:spPr/>
    </dgm:pt>
    <dgm:pt modelId="{8809FFAF-7DA9-4DD9-997A-63D931B83E51}" type="pres">
      <dgm:prSet presAssocID="{C7FA8E64-3D1C-41A3-908B-B76843894A74}" presName="vertTwo" presStyleCnt="0"/>
      <dgm:spPr/>
    </dgm:pt>
    <dgm:pt modelId="{0ACFB40F-3DD7-4BEB-AA6A-334B97DFBCB4}" type="pres">
      <dgm:prSet presAssocID="{C7FA8E64-3D1C-41A3-908B-B76843894A74}" presName="txTwo" presStyleLbl="node2" presStyleIdx="4" presStyleCnt="5">
        <dgm:presLayoutVars>
          <dgm:chPref val="3"/>
        </dgm:presLayoutVars>
      </dgm:prSet>
      <dgm:spPr/>
    </dgm:pt>
    <dgm:pt modelId="{6E81C47D-A134-40AE-9081-1FA7990A2FE1}" type="pres">
      <dgm:prSet presAssocID="{C7FA8E64-3D1C-41A3-908B-B76843894A74}" presName="horzTwo" presStyleCnt="0"/>
      <dgm:spPr/>
    </dgm:pt>
  </dgm:ptLst>
  <dgm:cxnLst>
    <dgm:cxn modelId="{B9666C04-33C1-4A22-B033-3899D2C28C89}" type="presOf" srcId="{C24CB6B0-33D7-439A-9CCB-3AF5F4516717}" destId="{3A2419F7-4F15-4FF7-BF84-E651678C1596}" srcOrd="0" destOrd="0" presId="urn:microsoft.com/office/officeart/2005/8/layout/hierarchy4"/>
    <dgm:cxn modelId="{ACD8C61B-12BF-4923-8819-B1A7D69447DE}" type="presOf" srcId="{DDBB9395-A959-4992-A9E8-7F3ECD03D316}" destId="{1CD0DBE7-9137-481C-A7B2-A61E2BE88A7D}" srcOrd="0" destOrd="0" presId="urn:microsoft.com/office/officeart/2005/8/layout/hierarchy4"/>
    <dgm:cxn modelId="{40A6A244-F629-4BC6-8BFB-CE2085CE61D6}" type="presOf" srcId="{99BD1A1B-64C5-4FA4-A526-DCE64605B189}" destId="{C31371B3-D972-475E-B028-D41B48E62429}" srcOrd="0" destOrd="0" presId="urn:microsoft.com/office/officeart/2005/8/layout/hierarchy4"/>
    <dgm:cxn modelId="{7302D846-1FF3-4D91-B853-12D7D545CD5B}" srcId="{99BD1A1B-64C5-4FA4-A526-DCE64605B189}" destId="{4C461B9E-A78D-4072-AA67-646142A27C62}" srcOrd="1" destOrd="0" parTransId="{7D6BABBC-4283-4B44-9720-B4BBEF1AED6F}" sibTransId="{231CC1A0-36D9-447F-A5BF-FF9B98EE3441}"/>
    <dgm:cxn modelId="{891DD951-EBC6-418A-87FF-4C430BFA909C}" srcId="{99BD1A1B-64C5-4FA4-A526-DCE64605B189}" destId="{049264D7-176E-4226-A1BB-6056D1BFEBCD}" srcOrd="3" destOrd="0" parTransId="{55BC58E8-25CA-4B79-A43C-780BF19DF0B4}" sibTransId="{6CAE8563-2522-4686-939F-69C801CFD803}"/>
    <dgm:cxn modelId="{CBF03E74-BC84-4352-A9FC-69763EF9833F}" type="presOf" srcId="{C7FA8E64-3D1C-41A3-908B-B76843894A74}" destId="{0ACFB40F-3DD7-4BEB-AA6A-334B97DFBCB4}" srcOrd="0" destOrd="0" presId="urn:microsoft.com/office/officeart/2005/8/layout/hierarchy4"/>
    <dgm:cxn modelId="{D28D587A-DB4D-49B9-AA04-A853473B7724}" type="presOf" srcId="{4C461B9E-A78D-4072-AA67-646142A27C62}" destId="{C5DB8990-A5CD-4987-AB97-681A4683DFA7}" srcOrd="0" destOrd="0" presId="urn:microsoft.com/office/officeart/2005/8/layout/hierarchy4"/>
    <dgm:cxn modelId="{EBD19B9A-4648-4311-9595-03616186E02A}" type="presOf" srcId="{D99E5B6D-EA5E-43B5-8B42-D61BE9A94D68}" destId="{2CC25685-4BD9-4142-B84A-9C078E1BE90F}" srcOrd="0" destOrd="0" presId="urn:microsoft.com/office/officeart/2005/8/layout/hierarchy4"/>
    <dgm:cxn modelId="{3D570FA4-52D0-4C8C-85CD-32E1B7C9C710}" srcId="{99BD1A1B-64C5-4FA4-A526-DCE64605B189}" destId="{C24CB6B0-33D7-439A-9CCB-3AF5F4516717}" srcOrd="0" destOrd="0" parTransId="{5488C0FB-18C9-4A9C-9114-304C515DBF4D}" sibTransId="{B43E4FA2-E823-4B7E-AEE2-A841C1C780DA}"/>
    <dgm:cxn modelId="{F1CAB2AC-C3DA-43DE-A83B-36798AB5FC45}" srcId="{99BD1A1B-64C5-4FA4-A526-DCE64605B189}" destId="{DDBB9395-A959-4992-A9E8-7F3ECD03D316}" srcOrd="2" destOrd="0" parTransId="{F0F013F4-429F-49CB-8585-E72BD6538CA2}" sibTransId="{23549957-023C-421F-9F49-9B83EBA4EDAA}"/>
    <dgm:cxn modelId="{CDC7C1D1-2086-4E27-9DA9-D261823F5682}" srcId="{99BD1A1B-64C5-4FA4-A526-DCE64605B189}" destId="{C7FA8E64-3D1C-41A3-908B-B76843894A74}" srcOrd="4" destOrd="0" parTransId="{9C7CAB12-A988-4B38-8C1C-B8AC3E8A2689}" sibTransId="{9F9967B2-9333-4E9E-B2D2-07C1F282A8F9}"/>
    <dgm:cxn modelId="{8DC2FFE8-78ED-41F4-8DDA-24FB9822D2A4}" srcId="{D99E5B6D-EA5E-43B5-8B42-D61BE9A94D68}" destId="{99BD1A1B-64C5-4FA4-A526-DCE64605B189}" srcOrd="0" destOrd="0" parTransId="{0D0C9E6B-44CE-4434-BEB9-601D48B366BD}" sibTransId="{ACE93ACF-5B18-4CB8-8F4A-171826411864}"/>
    <dgm:cxn modelId="{86890DEA-7A9D-470C-A7FD-3A0FC7169FEC}" type="presOf" srcId="{049264D7-176E-4226-A1BB-6056D1BFEBCD}" destId="{2A7C177C-30D4-424B-92E4-3AD7A97298D7}" srcOrd="0" destOrd="0" presId="urn:microsoft.com/office/officeart/2005/8/layout/hierarchy4"/>
    <dgm:cxn modelId="{BA1784C6-B1BC-4EA7-8DC0-2A3E304A5E8B}" type="presParOf" srcId="{2CC25685-4BD9-4142-B84A-9C078E1BE90F}" destId="{170A547C-9517-4588-ABB7-B150812393B2}" srcOrd="0" destOrd="0" presId="urn:microsoft.com/office/officeart/2005/8/layout/hierarchy4"/>
    <dgm:cxn modelId="{F09EFF5C-9D2D-4B65-8C4B-25ED75D47A70}" type="presParOf" srcId="{170A547C-9517-4588-ABB7-B150812393B2}" destId="{C31371B3-D972-475E-B028-D41B48E62429}" srcOrd="0" destOrd="0" presId="urn:microsoft.com/office/officeart/2005/8/layout/hierarchy4"/>
    <dgm:cxn modelId="{BF0B698F-9CE7-48F0-A6E1-A94160A5638C}" type="presParOf" srcId="{170A547C-9517-4588-ABB7-B150812393B2}" destId="{A748C71E-6177-4D07-8AAD-563684EAD039}" srcOrd="1" destOrd="0" presId="urn:microsoft.com/office/officeart/2005/8/layout/hierarchy4"/>
    <dgm:cxn modelId="{A6150933-1CD8-4482-9893-CFE21BCA4694}" type="presParOf" srcId="{170A547C-9517-4588-ABB7-B150812393B2}" destId="{B8FC72B2-3A62-4AA7-A659-FEE53CB9B1FB}" srcOrd="2" destOrd="0" presId="urn:microsoft.com/office/officeart/2005/8/layout/hierarchy4"/>
    <dgm:cxn modelId="{86956B74-309F-4C45-8E2F-EEE4BCFD7339}" type="presParOf" srcId="{B8FC72B2-3A62-4AA7-A659-FEE53CB9B1FB}" destId="{85B9D0E8-FA0F-418D-8E63-A0DFD42B38AD}" srcOrd="0" destOrd="0" presId="urn:microsoft.com/office/officeart/2005/8/layout/hierarchy4"/>
    <dgm:cxn modelId="{D78CCA83-C9C6-4C7C-AD94-2D3E54BBE20F}" type="presParOf" srcId="{85B9D0E8-FA0F-418D-8E63-A0DFD42B38AD}" destId="{3A2419F7-4F15-4FF7-BF84-E651678C1596}" srcOrd="0" destOrd="0" presId="urn:microsoft.com/office/officeart/2005/8/layout/hierarchy4"/>
    <dgm:cxn modelId="{68F64FA3-AEC5-4C0F-873A-C77A17AE6EC6}" type="presParOf" srcId="{85B9D0E8-FA0F-418D-8E63-A0DFD42B38AD}" destId="{76D78BAB-306A-45C6-826E-65791D881F78}" srcOrd="1" destOrd="0" presId="urn:microsoft.com/office/officeart/2005/8/layout/hierarchy4"/>
    <dgm:cxn modelId="{758AFC05-A9A4-4CD7-941E-0EBB58462E08}" type="presParOf" srcId="{B8FC72B2-3A62-4AA7-A659-FEE53CB9B1FB}" destId="{FB6D0E7C-D39B-469C-94BF-BCBC0188930C}" srcOrd="1" destOrd="0" presId="urn:microsoft.com/office/officeart/2005/8/layout/hierarchy4"/>
    <dgm:cxn modelId="{4C415A27-14F9-4B0B-9253-117CA26AADD1}" type="presParOf" srcId="{B8FC72B2-3A62-4AA7-A659-FEE53CB9B1FB}" destId="{51694ADA-BC17-44E8-B37F-E2CDB03F6006}" srcOrd="2" destOrd="0" presId="urn:microsoft.com/office/officeart/2005/8/layout/hierarchy4"/>
    <dgm:cxn modelId="{472344FC-CE49-4F8A-A713-6A3DA75612F5}" type="presParOf" srcId="{51694ADA-BC17-44E8-B37F-E2CDB03F6006}" destId="{C5DB8990-A5CD-4987-AB97-681A4683DFA7}" srcOrd="0" destOrd="0" presId="urn:microsoft.com/office/officeart/2005/8/layout/hierarchy4"/>
    <dgm:cxn modelId="{476665C6-A6B1-46C9-8FE1-AE9AEFD141FC}" type="presParOf" srcId="{51694ADA-BC17-44E8-B37F-E2CDB03F6006}" destId="{A4A854FE-77E1-4FC1-A1BB-82A5A78037D8}" srcOrd="1" destOrd="0" presId="urn:microsoft.com/office/officeart/2005/8/layout/hierarchy4"/>
    <dgm:cxn modelId="{DA99E8F5-80FE-4CAC-8E5D-3DEB071E3F16}" type="presParOf" srcId="{B8FC72B2-3A62-4AA7-A659-FEE53CB9B1FB}" destId="{5A05F72A-0DCC-43A1-AD4D-93157BF8AA2D}" srcOrd="3" destOrd="0" presId="urn:microsoft.com/office/officeart/2005/8/layout/hierarchy4"/>
    <dgm:cxn modelId="{955FB0DE-3C7E-4410-BBE5-08BE09B314BC}" type="presParOf" srcId="{B8FC72B2-3A62-4AA7-A659-FEE53CB9B1FB}" destId="{51029175-8179-4374-B7A9-FD8480168D0A}" srcOrd="4" destOrd="0" presId="urn:microsoft.com/office/officeart/2005/8/layout/hierarchy4"/>
    <dgm:cxn modelId="{EC286D5B-BC00-4A86-9B05-35A97DE3E5DB}" type="presParOf" srcId="{51029175-8179-4374-B7A9-FD8480168D0A}" destId="{1CD0DBE7-9137-481C-A7B2-A61E2BE88A7D}" srcOrd="0" destOrd="0" presId="urn:microsoft.com/office/officeart/2005/8/layout/hierarchy4"/>
    <dgm:cxn modelId="{3D79C209-86B5-4892-8C43-6B03DB9F4BDB}" type="presParOf" srcId="{51029175-8179-4374-B7A9-FD8480168D0A}" destId="{D40C062F-CE4D-44CF-9236-6241025E4C5E}" srcOrd="1" destOrd="0" presId="urn:microsoft.com/office/officeart/2005/8/layout/hierarchy4"/>
    <dgm:cxn modelId="{102AE50E-B20E-429A-BDD0-55DCF24EB06D}" type="presParOf" srcId="{B8FC72B2-3A62-4AA7-A659-FEE53CB9B1FB}" destId="{462728EA-1616-457A-9E1B-D32C8ACB6C73}" srcOrd="5" destOrd="0" presId="urn:microsoft.com/office/officeart/2005/8/layout/hierarchy4"/>
    <dgm:cxn modelId="{6DC103AD-3429-45BA-88AE-72C494C478E7}" type="presParOf" srcId="{B8FC72B2-3A62-4AA7-A659-FEE53CB9B1FB}" destId="{8433DC42-11AE-4230-B453-D398051A94E2}" srcOrd="6" destOrd="0" presId="urn:microsoft.com/office/officeart/2005/8/layout/hierarchy4"/>
    <dgm:cxn modelId="{5D9C3312-575D-4D95-98B2-09C12306B1D6}" type="presParOf" srcId="{8433DC42-11AE-4230-B453-D398051A94E2}" destId="{2A7C177C-30D4-424B-92E4-3AD7A97298D7}" srcOrd="0" destOrd="0" presId="urn:microsoft.com/office/officeart/2005/8/layout/hierarchy4"/>
    <dgm:cxn modelId="{2F73FC87-D3F0-471C-B253-7A63648AEF7D}" type="presParOf" srcId="{8433DC42-11AE-4230-B453-D398051A94E2}" destId="{B1F7FA85-722C-4DB6-AB28-2327200342E2}" srcOrd="1" destOrd="0" presId="urn:microsoft.com/office/officeart/2005/8/layout/hierarchy4"/>
    <dgm:cxn modelId="{B5615A88-1224-42CD-BA06-C50CBE019B93}" type="presParOf" srcId="{B8FC72B2-3A62-4AA7-A659-FEE53CB9B1FB}" destId="{06F6E8F2-DD14-4677-A024-918C2FFA8FDA}" srcOrd="7" destOrd="0" presId="urn:microsoft.com/office/officeart/2005/8/layout/hierarchy4"/>
    <dgm:cxn modelId="{5136CE98-2C79-4B2C-AF7E-BA3FDE9439A9}" type="presParOf" srcId="{B8FC72B2-3A62-4AA7-A659-FEE53CB9B1FB}" destId="{8809FFAF-7DA9-4DD9-997A-63D931B83E51}" srcOrd="8" destOrd="0" presId="urn:microsoft.com/office/officeart/2005/8/layout/hierarchy4"/>
    <dgm:cxn modelId="{DB491509-898A-4BA7-B379-B6E8F83CB817}" type="presParOf" srcId="{8809FFAF-7DA9-4DD9-997A-63D931B83E51}" destId="{0ACFB40F-3DD7-4BEB-AA6A-334B97DFBCB4}" srcOrd="0" destOrd="0" presId="urn:microsoft.com/office/officeart/2005/8/layout/hierarchy4"/>
    <dgm:cxn modelId="{7141CBFF-3589-4B27-99AD-741DB6A2D317}" type="presParOf" srcId="{8809FFAF-7DA9-4DD9-997A-63D931B83E51}" destId="{6E81C47D-A134-40AE-9081-1FA7990A2FE1}"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99E5B6D-EA5E-43B5-8B42-D61BE9A94D68}" type="doc">
      <dgm:prSet loTypeId="urn:microsoft.com/office/officeart/2005/8/layout/hierarchy4" loCatId="list" qsTypeId="urn:microsoft.com/office/officeart/2005/8/quickstyle/simple1" qsCatId="simple" csTypeId="urn:microsoft.com/office/officeart/2005/8/colors/accent1_2" csCatId="accent1" phldr="1"/>
      <dgm:spPr/>
      <dgm:t>
        <a:bodyPr/>
        <a:lstStyle/>
        <a:p>
          <a:endParaRPr lang="en-US"/>
        </a:p>
      </dgm:t>
    </dgm:pt>
    <dgm:pt modelId="{99BD1A1B-64C5-4FA4-A526-DCE64605B189}">
      <dgm:prSet phldrT="[Text]" custT="1"/>
      <dgm:spPr>
        <a:solidFill>
          <a:srgbClr val="007680"/>
        </a:solidFill>
      </dgm:spPr>
      <dgm:t>
        <a:bodyPr/>
        <a:lstStyle/>
        <a:p>
          <a:r>
            <a:rPr lang="en-US" sz="1600" dirty="0">
              <a:latin typeface="Verdana" panose="020B0604030504040204" pitchFamily="34" charset="0"/>
              <a:ea typeface="Verdana" panose="020B0604030504040204" pitchFamily="34" charset="0"/>
            </a:rPr>
            <a:t>Projects Utilizing Water Bodies</a:t>
          </a:r>
        </a:p>
      </dgm:t>
    </dgm:pt>
    <dgm:pt modelId="{0D0C9E6B-44CE-4434-BEB9-601D48B366BD}" type="parTrans" cxnId="{8DC2FFE8-78ED-41F4-8DDA-24FB9822D2A4}">
      <dgm:prSet/>
      <dgm:spPr/>
      <dgm:t>
        <a:bodyPr/>
        <a:lstStyle/>
        <a:p>
          <a:endParaRPr lang="en-US" sz="1400">
            <a:latin typeface="Verdana" panose="020B0604030504040204" pitchFamily="34" charset="0"/>
            <a:ea typeface="Verdana" panose="020B0604030504040204" pitchFamily="34" charset="0"/>
          </a:endParaRPr>
        </a:p>
      </dgm:t>
    </dgm:pt>
    <dgm:pt modelId="{ACE93ACF-5B18-4CB8-8F4A-171826411864}" type="sibTrans" cxnId="{8DC2FFE8-78ED-41F4-8DDA-24FB9822D2A4}">
      <dgm:prSet/>
      <dgm:spPr/>
      <dgm:t>
        <a:bodyPr/>
        <a:lstStyle/>
        <a:p>
          <a:endParaRPr lang="en-US" sz="1400">
            <a:latin typeface="Verdana" panose="020B0604030504040204" pitchFamily="34" charset="0"/>
            <a:ea typeface="Verdana" panose="020B0604030504040204" pitchFamily="34" charset="0"/>
          </a:endParaRPr>
        </a:p>
      </dgm:t>
    </dgm:pt>
    <dgm:pt modelId="{C24CB6B0-33D7-439A-9CCB-3AF5F4516717}">
      <dgm:prSet phldrT="[Text]" custT="1"/>
      <dgm:spPr>
        <a:solidFill>
          <a:schemeClr val="accent5">
            <a:lumMod val="50000"/>
          </a:schemeClr>
        </a:solidFill>
      </dgm:spPr>
      <dgm:t>
        <a:bodyPr/>
        <a:lstStyle/>
        <a:p>
          <a:pPr>
            <a:buFont typeface="Symbol" panose="05050102010706020507" pitchFamily="18" charset="2"/>
            <a:buChar char=""/>
          </a:pPr>
          <a:r>
            <a:rPr lang="en-US" sz="1200" dirty="0">
              <a:latin typeface="Verdana" panose="020B0604030504040204" pitchFamily="34" charset="0"/>
              <a:ea typeface="Verdana" panose="020B0604030504040204" pitchFamily="34" charset="0"/>
            </a:rPr>
            <a:t>WBREDA shall be the Nodal Agency for development of solar projects utilizing water bodies &amp; </a:t>
          </a:r>
          <a:r>
            <a:rPr lang="en-GB" sz="1200" dirty="0">
              <a:latin typeface="Verdana" panose="020B0604030504040204" pitchFamily="34" charset="0"/>
              <a:ea typeface="Verdana" panose="020B0604030504040204" pitchFamily="34" charset="0"/>
            </a:rPr>
            <a:t>co-ordinate with the concerned Departments</a:t>
          </a:r>
          <a:r>
            <a:rPr lang="en-GB" sz="1200" dirty="0"/>
            <a:t>.</a:t>
          </a:r>
          <a:endParaRPr lang="en-US" sz="1200" dirty="0">
            <a:latin typeface="Verdana" panose="020B0604030504040204" pitchFamily="34" charset="0"/>
            <a:ea typeface="Verdana" panose="020B0604030504040204" pitchFamily="34" charset="0"/>
          </a:endParaRPr>
        </a:p>
      </dgm:t>
    </dgm:pt>
    <dgm:pt modelId="{5488C0FB-18C9-4A9C-9114-304C515DBF4D}" type="parTrans" cxnId="{3D570FA4-52D0-4C8C-85CD-32E1B7C9C710}">
      <dgm:prSet/>
      <dgm:spPr/>
      <dgm:t>
        <a:bodyPr/>
        <a:lstStyle/>
        <a:p>
          <a:endParaRPr lang="en-US" sz="1400">
            <a:latin typeface="Verdana" panose="020B0604030504040204" pitchFamily="34" charset="0"/>
            <a:ea typeface="Verdana" panose="020B0604030504040204" pitchFamily="34" charset="0"/>
          </a:endParaRPr>
        </a:p>
      </dgm:t>
    </dgm:pt>
    <dgm:pt modelId="{B43E4FA2-E823-4B7E-AEE2-A841C1C780DA}" type="sibTrans" cxnId="{3D570FA4-52D0-4C8C-85CD-32E1B7C9C710}">
      <dgm:prSet/>
      <dgm:spPr/>
      <dgm:t>
        <a:bodyPr/>
        <a:lstStyle/>
        <a:p>
          <a:endParaRPr lang="en-US" sz="1400">
            <a:latin typeface="Verdana" panose="020B0604030504040204" pitchFamily="34" charset="0"/>
            <a:ea typeface="Verdana" panose="020B0604030504040204" pitchFamily="34" charset="0"/>
          </a:endParaRPr>
        </a:p>
      </dgm:t>
    </dgm:pt>
    <dgm:pt modelId="{4C461B9E-A78D-4072-AA67-646142A27C62}">
      <dgm:prSet phldrT="[Text]" custT="1"/>
      <dgm:spPr>
        <a:solidFill>
          <a:schemeClr val="accent1">
            <a:lumMod val="75000"/>
          </a:schemeClr>
        </a:solidFill>
      </dgm:spPr>
      <dgm:t>
        <a:bodyPr/>
        <a:lstStyle/>
        <a:p>
          <a:pPr>
            <a:buFont typeface="Symbol" panose="05050102010706020507" pitchFamily="18" charset="2"/>
            <a:buChar char=""/>
          </a:pPr>
          <a:endParaRPr lang="en-GB" sz="1200" dirty="0">
            <a:latin typeface="Verdana" panose="020B0604030504040204" pitchFamily="34" charset="0"/>
            <a:ea typeface="Verdana" panose="020B0604030504040204" pitchFamily="34" charset="0"/>
          </a:endParaRPr>
        </a:p>
        <a:p>
          <a:pPr>
            <a:buFont typeface="Symbol" panose="05050102010706020507" pitchFamily="18" charset="2"/>
            <a:buChar char=""/>
          </a:pPr>
          <a:r>
            <a:rPr lang="en-GB" sz="1200" dirty="0">
              <a:latin typeface="Verdana" panose="020B0604030504040204" pitchFamily="34" charset="0"/>
              <a:ea typeface="Verdana" panose="020B0604030504040204" pitchFamily="34" charset="0"/>
            </a:rPr>
            <a:t>The entity controlling water body shall provide full cooperation to the agency developing solar project selected by the state Government</a:t>
          </a:r>
          <a:endParaRPr lang="en-US" sz="1200" dirty="0">
            <a:latin typeface="Verdana" panose="020B0604030504040204" pitchFamily="34" charset="0"/>
            <a:ea typeface="Verdana" panose="020B0604030504040204" pitchFamily="34" charset="0"/>
          </a:endParaRPr>
        </a:p>
      </dgm:t>
    </dgm:pt>
    <dgm:pt modelId="{7D6BABBC-4283-4B44-9720-B4BBEF1AED6F}" type="parTrans" cxnId="{7302D846-1FF3-4D91-B853-12D7D545CD5B}">
      <dgm:prSet/>
      <dgm:spPr/>
      <dgm:t>
        <a:bodyPr/>
        <a:lstStyle/>
        <a:p>
          <a:endParaRPr lang="en-US" sz="1400">
            <a:latin typeface="Verdana" panose="020B0604030504040204" pitchFamily="34" charset="0"/>
            <a:ea typeface="Verdana" panose="020B0604030504040204" pitchFamily="34" charset="0"/>
          </a:endParaRPr>
        </a:p>
      </dgm:t>
    </dgm:pt>
    <dgm:pt modelId="{231CC1A0-36D9-447F-A5BF-FF9B98EE3441}" type="sibTrans" cxnId="{7302D846-1FF3-4D91-B853-12D7D545CD5B}">
      <dgm:prSet/>
      <dgm:spPr/>
      <dgm:t>
        <a:bodyPr/>
        <a:lstStyle/>
        <a:p>
          <a:endParaRPr lang="en-US" sz="1400">
            <a:latin typeface="Verdana" panose="020B0604030504040204" pitchFamily="34" charset="0"/>
            <a:ea typeface="Verdana" panose="020B0604030504040204" pitchFamily="34" charset="0"/>
          </a:endParaRPr>
        </a:p>
      </dgm:t>
    </dgm:pt>
    <dgm:pt modelId="{DDBB9395-A959-4992-A9E8-7F3ECD03D316}">
      <dgm:prSet phldrT="[Text]" custT="1"/>
      <dgm:spPr>
        <a:solidFill>
          <a:schemeClr val="accent1">
            <a:lumMod val="60000"/>
            <a:lumOff val="40000"/>
          </a:schemeClr>
        </a:solidFill>
      </dgm:spPr>
      <dgm:t>
        <a:bodyPr/>
        <a:lstStyle/>
        <a:p>
          <a:pPr>
            <a:buFont typeface="Symbol" panose="05050102010706020507" pitchFamily="18" charset="2"/>
            <a:buChar char=""/>
          </a:pPr>
          <a:r>
            <a:rPr lang="en-GB" sz="1200" dirty="0">
              <a:solidFill>
                <a:schemeClr val="tx1"/>
              </a:solidFill>
              <a:latin typeface="Verdana" panose="020B0604030504040204" pitchFamily="34" charset="0"/>
              <a:ea typeface="Verdana" panose="020B0604030504040204" pitchFamily="34" charset="0"/>
            </a:rPr>
            <a:t>The project developers need not pay any lease charges for water surface area/ canal top area.</a:t>
          </a:r>
          <a:endParaRPr lang="en-US" sz="1200" dirty="0">
            <a:solidFill>
              <a:schemeClr val="tx1"/>
            </a:solidFill>
            <a:latin typeface="Verdana" panose="020B0604030504040204" pitchFamily="34" charset="0"/>
            <a:ea typeface="Verdana" panose="020B0604030504040204" pitchFamily="34" charset="0"/>
          </a:endParaRPr>
        </a:p>
      </dgm:t>
    </dgm:pt>
    <dgm:pt modelId="{F0F013F4-429F-49CB-8585-E72BD6538CA2}" type="parTrans" cxnId="{F1CAB2AC-C3DA-43DE-A83B-36798AB5FC45}">
      <dgm:prSet/>
      <dgm:spPr/>
      <dgm:t>
        <a:bodyPr/>
        <a:lstStyle/>
        <a:p>
          <a:endParaRPr lang="en-US" sz="1400">
            <a:latin typeface="Verdana" panose="020B0604030504040204" pitchFamily="34" charset="0"/>
            <a:ea typeface="Verdana" panose="020B0604030504040204" pitchFamily="34" charset="0"/>
          </a:endParaRPr>
        </a:p>
      </dgm:t>
    </dgm:pt>
    <dgm:pt modelId="{23549957-023C-421F-9F49-9B83EBA4EDAA}" type="sibTrans" cxnId="{F1CAB2AC-C3DA-43DE-A83B-36798AB5FC45}">
      <dgm:prSet/>
      <dgm:spPr/>
      <dgm:t>
        <a:bodyPr/>
        <a:lstStyle/>
        <a:p>
          <a:endParaRPr lang="en-US" sz="1400">
            <a:latin typeface="Verdana" panose="020B0604030504040204" pitchFamily="34" charset="0"/>
            <a:ea typeface="Verdana" panose="020B0604030504040204" pitchFamily="34" charset="0"/>
          </a:endParaRPr>
        </a:p>
      </dgm:t>
    </dgm:pt>
    <dgm:pt modelId="{049264D7-176E-4226-A1BB-6056D1BFEBCD}">
      <dgm:prSet phldrT="[Text]" custT="1"/>
      <dgm:spPr>
        <a:solidFill>
          <a:schemeClr val="accent1">
            <a:lumMod val="40000"/>
            <a:lumOff val="60000"/>
          </a:schemeClr>
        </a:solidFill>
      </dgm:spPr>
      <dgm:t>
        <a:bodyPr/>
        <a:lstStyle/>
        <a:p>
          <a:pPr>
            <a:buFont typeface="Symbol" panose="05050102010706020507" pitchFamily="18" charset="2"/>
            <a:buChar char=""/>
          </a:pPr>
          <a:endParaRPr lang="en-GB" sz="1200" dirty="0">
            <a:solidFill>
              <a:srgbClr val="002060"/>
            </a:solidFill>
            <a:latin typeface="Verdana" panose="020B0604030504040204" pitchFamily="34" charset="0"/>
            <a:ea typeface="Verdana" panose="020B0604030504040204" pitchFamily="34" charset="0"/>
          </a:endParaRPr>
        </a:p>
        <a:p>
          <a:pPr>
            <a:buFont typeface="Symbol" panose="05050102010706020507" pitchFamily="18" charset="2"/>
            <a:buChar char=""/>
          </a:pPr>
          <a:r>
            <a:rPr lang="en-GB" sz="1200" dirty="0">
              <a:solidFill>
                <a:srgbClr val="002060"/>
              </a:solidFill>
              <a:latin typeface="Verdana" panose="020B0604030504040204" pitchFamily="34" charset="0"/>
              <a:ea typeface="Verdana" panose="020B0604030504040204" pitchFamily="34" charset="0"/>
            </a:rPr>
            <a:t>WBREDA shall co-ordinate with DISCOM for floating tenders for power procurement from floating solar plant through competitive bidding</a:t>
          </a:r>
          <a:endParaRPr lang="en-US" sz="1200" dirty="0">
            <a:solidFill>
              <a:srgbClr val="002060"/>
            </a:solidFill>
            <a:latin typeface="Verdana" panose="020B0604030504040204" pitchFamily="34" charset="0"/>
            <a:ea typeface="Verdana" panose="020B0604030504040204" pitchFamily="34" charset="0"/>
          </a:endParaRPr>
        </a:p>
      </dgm:t>
    </dgm:pt>
    <dgm:pt modelId="{55BC58E8-25CA-4B79-A43C-780BF19DF0B4}" type="parTrans" cxnId="{891DD951-EBC6-418A-87FF-4C430BFA909C}">
      <dgm:prSet/>
      <dgm:spPr/>
      <dgm:t>
        <a:bodyPr/>
        <a:lstStyle/>
        <a:p>
          <a:endParaRPr lang="en-US" sz="1400">
            <a:latin typeface="Verdana" panose="020B0604030504040204" pitchFamily="34" charset="0"/>
            <a:ea typeface="Verdana" panose="020B0604030504040204" pitchFamily="34" charset="0"/>
          </a:endParaRPr>
        </a:p>
      </dgm:t>
    </dgm:pt>
    <dgm:pt modelId="{6CAE8563-2522-4686-939F-69C801CFD803}" type="sibTrans" cxnId="{891DD951-EBC6-418A-87FF-4C430BFA909C}">
      <dgm:prSet/>
      <dgm:spPr/>
      <dgm:t>
        <a:bodyPr/>
        <a:lstStyle/>
        <a:p>
          <a:endParaRPr lang="en-US" sz="1400">
            <a:latin typeface="Verdana" panose="020B0604030504040204" pitchFamily="34" charset="0"/>
            <a:ea typeface="Verdana" panose="020B0604030504040204" pitchFamily="34" charset="0"/>
          </a:endParaRPr>
        </a:p>
      </dgm:t>
    </dgm:pt>
    <dgm:pt modelId="{C7FA8E64-3D1C-41A3-908B-B76843894A74}">
      <dgm:prSet phldrT="[Text]" custT="1"/>
      <dgm:spPr>
        <a:solidFill>
          <a:schemeClr val="accent1">
            <a:lumMod val="20000"/>
            <a:lumOff val="80000"/>
          </a:schemeClr>
        </a:solidFill>
      </dgm:spPr>
      <dgm:t>
        <a:bodyPr/>
        <a:lstStyle/>
        <a:p>
          <a:endParaRPr lang="en-US" sz="1200" dirty="0">
            <a:solidFill>
              <a:schemeClr val="tx1"/>
            </a:solidFill>
            <a:latin typeface="Verdana" panose="020B0604030504040204" pitchFamily="34" charset="0"/>
            <a:ea typeface="Verdana" panose="020B0604030504040204" pitchFamily="34" charset="0"/>
          </a:endParaRPr>
        </a:p>
        <a:p>
          <a:r>
            <a:rPr lang="en-US" sz="1200" dirty="0">
              <a:solidFill>
                <a:schemeClr val="tx1"/>
              </a:solidFill>
              <a:latin typeface="Verdana" panose="020B0604030504040204" pitchFamily="34" charset="0"/>
              <a:ea typeface="Verdana" panose="020B0604030504040204" pitchFamily="34" charset="0"/>
            </a:rPr>
            <a:t>DISCOMs shall procure power by competitive bidding process</a:t>
          </a:r>
        </a:p>
        <a:p>
          <a:r>
            <a:rPr lang="en-US" sz="1200" dirty="0">
              <a:solidFill>
                <a:schemeClr val="tx1"/>
              </a:solidFill>
              <a:latin typeface="Verdana" panose="020B0604030504040204" pitchFamily="34" charset="0"/>
              <a:ea typeface="Verdana" panose="020B0604030504040204" pitchFamily="34" charset="0"/>
            </a:rPr>
            <a:t>Alternatively, WBERC may determine tariff under Sec 62 of EA 2003</a:t>
          </a:r>
        </a:p>
      </dgm:t>
    </dgm:pt>
    <dgm:pt modelId="{9C7CAB12-A988-4B38-8C1C-B8AC3E8A2689}" type="parTrans" cxnId="{CDC7C1D1-2086-4E27-9DA9-D261823F5682}">
      <dgm:prSet/>
      <dgm:spPr/>
      <dgm:t>
        <a:bodyPr/>
        <a:lstStyle/>
        <a:p>
          <a:endParaRPr lang="en-US" sz="1400">
            <a:latin typeface="Verdana" panose="020B0604030504040204" pitchFamily="34" charset="0"/>
            <a:ea typeface="Verdana" panose="020B0604030504040204" pitchFamily="34" charset="0"/>
          </a:endParaRPr>
        </a:p>
      </dgm:t>
    </dgm:pt>
    <dgm:pt modelId="{9F9967B2-9333-4E9E-B2D2-07C1F282A8F9}" type="sibTrans" cxnId="{CDC7C1D1-2086-4E27-9DA9-D261823F5682}">
      <dgm:prSet/>
      <dgm:spPr/>
      <dgm:t>
        <a:bodyPr/>
        <a:lstStyle/>
        <a:p>
          <a:endParaRPr lang="en-US" sz="1400">
            <a:latin typeface="Verdana" panose="020B0604030504040204" pitchFamily="34" charset="0"/>
            <a:ea typeface="Verdana" panose="020B0604030504040204" pitchFamily="34" charset="0"/>
          </a:endParaRPr>
        </a:p>
      </dgm:t>
    </dgm:pt>
    <dgm:pt modelId="{2CC25685-4BD9-4142-B84A-9C078E1BE90F}" type="pres">
      <dgm:prSet presAssocID="{D99E5B6D-EA5E-43B5-8B42-D61BE9A94D68}" presName="Name0" presStyleCnt="0">
        <dgm:presLayoutVars>
          <dgm:chPref val="1"/>
          <dgm:dir/>
          <dgm:animOne val="branch"/>
          <dgm:animLvl val="lvl"/>
          <dgm:resizeHandles/>
        </dgm:presLayoutVars>
      </dgm:prSet>
      <dgm:spPr/>
    </dgm:pt>
    <dgm:pt modelId="{170A547C-9517-4588-ABB7-B150812393B2}" type="pres">
      <dgm:prSet presAssocID="{99BD1A1B-64C5-4FA4-A526-DCE64605B189}" presName="vertOne" presStyleCnt="0"/>
      <dgm:spPr/>
    </dgm:pt>
    <dgm:pt modelId="{C31371B3-D972-475E-B028-D41B48E62429}" type="pres">
      <dgm:prSet presAssocID="{99BD1A1B-64C5-4FA4-A526-DCE64605B189}" presName="txOne" presStyleLbl="node0" presStyleIdx="0" presStyleCnt="1" custScaleY="23592" custLinFactNeighborX="40" custLinFactNeighborY="53839">
        <dgm:presLayoutVars>
          <dgm:chPref val="3"/>
        </dgm:presLayoutVars>
      </dgm:prSet>
      <dgm:spPr/>
    </dgm:pt>
    <dgm:pt modelId="{A748C71E-6177-4D07-8AAD-563684EAD039}" type="pres">
      <dgm:prSet presAssocID="{99BD1A1B-64C5-4FA4-A526-DCE64605B189}" presName="parTransOne" presStyleCnt="0"/>
      <dgm:spPr/>
    </dgm:pt>
    <dgm:pt modelId="{B8FC72B2-3A62-4AA7-A659-FEE53CB9B1FB}" type="pres">
      <dgm:prSet presAssocID="{99BD1A1B-64C5-4FA4-A526-DCE64605B189}" presName="horzOne" presStyleCnt="0"/>
      <dgm:spPr/>
    </dgm:pt>
    <dgm:pt modelId="{85B9D0E8-FA0F-418D-8E63-A0DFD42B38AD}" type="pres">
      <dgm:prSet presAssocID="{C24CB6B0-33D7-439A-9CCB-3AF5F4516717}" presName="vertTwo" presStyleCnt="0"/>
      <dgm:spPr/>
    </dgm:pt>
    <dgm:pt modelId="{3A2419F7-4F15-4FF7-BF84-E651678C1596}" type="pres">
      <dgm:prSet presAssocID="{C24CB6B0-33D7-439A-9CCB-3AF5F4516717}" presName="txTwo" presStyleLbl="node2" presStyleIdx="0" presStyleCnt="5" custLinFactNeighborX="-214" custLinFactNeighborY="2483">
        <dgm:presLayoutVars>
          <dgm:chPref val="3"/>
        </dgm:presLayoutVars>
      </dgm:prSet>
      <dgm:spPr/>
    </dgm:pt>
    <dgm:pt modelId="{76D78BAB-306A-45C6-826E-65791D881F78}" type="pres">
      <dgm:prSet presAssocID="{C24CB6B0-33D7-439A-9CCB-3AF5F4516717}" presName="horzTwo" presStyleCnt="0"/>
      <dgm:spPr/>
    </dgm:pt>
    <dgm:pt modelId="{FB6D0E7C-D39B-469C-94BF-BCBC0188930C}" type="pres">
      <dgm:prSet presAssocID="{B43E4FA2-E823-4B7E-AEE2-A841C1C780DA}" presName="sibSpaceTwo" presStyleCnt="0"/>
      <dgm:spPr/>
    </dgm:pt>
    <dgm:pt modelId="{51694ADA-BC17-44E8-B37F-E2CDB03F6006}" type="pres">
      <dgm:prSet presAssocID="{4C461B9E-A78D-4072-AA67-646142A27C62}" presName="vertTwo" presStyleCnt="0"/>
      <dgm:spPr/>
    </dgm:pt>
    <dgm:pt modelId="{C5DB8990-A5CD-4987-AB97-681A4683DFA7}" type="pres">
      <dgm:prSet presAssocID="{4C461B9E-A78D-4072-AA67-646142A27C62}" presName="txTwo" presStyleLbl="node2" presStyleIdx="1" presStyleCnt="5" custLinFactNeighborX="-214" custLinFactNeighborY="2483">
        <dgm:presLayoutVars>
          <dgm:chPref val="3"/>
        </dgm:presLayoutVars>
      </dgm:prSet>
      <dgm:spPr/>
    </dgm:pt>
    <dgm:pt modelId="{A4A854FE-77E1-4FC1-A1BB-82A5A78037D8}" type="pres">
      <dgm:prSet presAssocID="{4C461B9E-A78D-4072-AA67-646142A27C62}" presName="horzTwo" presStyleCnt="0"/>
      <dgm:spPr/>
    </dgm:pt>
    <dgm:pt modelId="{5A05F72A-0DCC-43A1-AD4D-93157BF8AA2D}" type="pres">
      <dgm:prSet presAssocID="{231CC1A0-36D9-447F-A5BF-FF9B98EE3441}" presName="sibSpaceTwo" presStyleCnt="0"/>
      <dgm:spPr/>
    </dgm:pt>
    <dgm:pt modelId="{51029175-8179-4374-B7A9-FD8480168D0A}" type="pres">
      <dgm:prSet presAssocID="{DDBB9395-A959-4992-A9E8-7F3ECD03D316}" presName="vertTwo" presStyleCnt="0"/>
      <dgm:spPr/>
    </dgm:pt>
    <dgm:pt modelId="{1CD0DBE7-9137-481C-A7B2-A61E2BE88A7D}" type="pres">
      <dgm:prSet presAssocID="{DDBB9395-A959-4992-A9E8-7F3ECD03D316}" presName="txTwo" presStyleLbl="node2" presStyleIdx="2" presStyleCnt="5" custLinFactNeighborX="-214" custLinFactNeighborY="2483">
        <dgm:presLayoutVars>
          <dgm:chPref val="3"/>
        </dgm:presLayoutVars>
      </dgm:prSet>
      <dgm:spPr/>
    </dgm:pt>
    <dgm:pt modelId="{D40C062F-CE4D-44CF-9236-6241025E4C5E}" type="pres">
      <dgm:prSet presAssocID="{DDBB9395-A959-4992-A9E8-7F3ECD03D316}" presName="horzTwo" presStyleCnt="0"/>
      <dgm:spPr/>
    </dgm:pt>
    <dgm:pt modelId="{462728EA-1616-457A-9E1B-D32C8ACB6C73}" type="pres">
      <dgm:prSet presAssocID="{23549957-023C-421F-9F49-9B83EBA4EDAA}" presName="sibSpaceTwo" presStyleCnt="0"/>
      <dgm:spPr/>
    </dgm:pt>
    <dgm:pt modelId="{8433DC42-11AE-4230-B453-D398051A94E2}" type="pres">
      <dgm:prSet presAssocID="{049264D7-176E-4226-A1BB-6056D1BFEBCD}" presName="vertTwo" presStyleCnt="0"/>
      <dgm:spPr/>
    </dgm:pt>
    <dgm:pt modelId="{2A7C177C-30D4-424B-92E4-3AD7A97298D7}" type="pres">
      <dgm:prSet presAssocID="{049264D7-176E-4226-A1BB-6056D1BFEBCD}" presName="txTwo" presStyleLbl="node2" presStyleIdx="3" presStyleCnt="5" custLinFactNeighborX="-214" custLinFactNeighborY="2483">
        <dgm:presLayoutVars>
          <dgm:chPref val="3"/>
        </dgm:presLayoutVars>
      </dgm:prSet>
      <dgm:spPr/>
    </dgm:pt>
    <dgm:pt modelId="{B1F7FA85-722C-4DB6-AB28-2327200342E2}" type="pres">
      <dgm:prSet presAssocID="{049264D7-176E-4226-A1BB-6056D1BFEBCD}" presName="horzTwo" presStyleCnt="0"/>
      <dgm:spPr/>
    </dgm:pt>
    <dgm:pt modelId="{06F6E8F2-DD14-4677-A024-918C2FFA8FDA}" type="pres">
      <dgm:prSet presAssocID="{6CAE8563-2522-4686-939F-69C801CFD803}" presName="sibSpaceTwo" presStyleCnt="0"/>
      <dgm:spPr/>
    </dgm:pt>
    <dgm:pt modelId="{8809FFAF-7DA9-4DD9-997A-63D931B83E51}" type="pres">
      <dgm:prSet presAssocID="{C7FA8E64-3D1C-41A3-908B-B76843894A74}" presName="vertTwo" presStyleCnt="0"/>
      <dgm:spPr/>
    </dgm:pt>
    <dgm:pt modelId="{0ACFB40F-3DD7-4BEB-AA6A-334B97DFBCB4}" type="pres">
      <dgm:prSet presAssocID="{C7FA8E64-3D1C-41A3-908B-B76843894A74}" presName="txTwo" presStyleLbl="node2" presStyleIdx="4" presStyleCnt="5">
        <dgm:presLayoutVars>
          <dgm:chPref val="3"/>
        </dgm:presLayoutVars>
      </dgm:prSet>
      <dgm:spPr/>
    </dgm:pt>
    <dgm:pt modelId="{6E81C47D-A134-40AE-9081-1FA7990A2FE1}" type="pres">
      <dgm:prSet presAssocID="{C7FA8E64-3D1C-41A3-908B-B76843894A74}" presName="horzTwo" presStyleCnt="0"/>
      <dgm:spPr/>
    </dgm:pt>
  </dgm:ptLst>
  <dgm:cxnLst>
    <dgm:cxn modelId="{B9666C04-33C1-4A22-B033-3899D2C28C89}" type="presOf" srcId="{C24CB6B0-33D7-439A-9CCB-3AF5F4516717}" destId="{3A2419F7-4F15-4FF7-BF84-E651678C1596}" srcOrd="0" destOrd="0" presId="urn:microsoft.com/office/officeart/2005/8/layout/hierarchy4"/>
    <dgm:cxn modelId="{ACD8C61B-12BF-4923-8819-B1A7D69447DE}" type="presOf" srcId="{DDBB9395-A959-4992-A9E8-7F3ECD03D316}" destId="{1CD0DBE7-9137-481C-A7B2-A61E2BE88A7D}" srcOrd="0" destOrd="0" presId="urn:microsoft.com/office/officeart/2005/8/layout/hierarchy4"/>
    <dgm:cxn modelId="{40A6A244-F629-4BC6-8BFB-CE2085CE61D6}" type="presOf" srcId="{99BD1A1B-64C5-4FA4-A526-DCE64605B189}" destId="{C31371B3-D972-475E-B028-D41B48E62429}" srcOrd="0" destOrd="0" presId="urn:microsoft.com/office/officeart/2005/8/layout/hierarchy4"/>
    <dgm:cxn modelId="{7302D846-1FF3-4D91-B853-12D7D545CD5B}" srcId="{99BD1A1B-64C5-4FA4-A526-DCE64605B189}" destId="{4C461B9E-A78D-4072-AA67-646142A27C62}" srcOrd="1" destOrd="0" parTransId="{7D6BABBC-4283-4B44-9720-B4BBEF1AED6F}" sibTransId="{231CC1A0-36D9-447F-A5BF-FF9B98EE3441}"/>
    <dgm:cxn modelId="{891DD951-EBC6-418A-87FF-4C430BFA909C}" srcId="{99BD1A1B-64C5-4FA4-A526-DCE64605B189}" destId="{049264D7-176E-4226-A1BB-6056D1BFEBCD}" srcOrd="3" destOrd="0" parTransId="{55BC58E8-25CA-4B79-A43C-780BF19DF0B4}" sibTransId="{6CAE8563-2522-4686-939F-69C801CFD803}"/>
    <dgm:cxn modelId="{CBF03E74-BC84-4352-A9FC-69763EF9833F}" type="presOf" srcId="{C7FA8E64-3D1C-41A3-908B-B76843894A74}" destId="{0ACFB40F-3DD7-4BEB-AA6A-334B97DFBCB4}" srcOrd="0" destOrd="0" presId="urn:microsoft.com/office/officeart/2005/8/layout/hierarchy4"/>
    <dgm:cxn modelId="{D28D587A-DB4D-49B9-AA04-A853473B7724}" type="presOf" srcId="{4C461B9E-A78D-4072-AA67-646142A27C62}" destId="{C5DB8990-A5CD-4987-AB97-681A4683DFA7}" srcOrd="0" destOrd="0" presId="urn:microsoft.com/office/officeart/2005/8/layout/hierarchy4"/>
    <dgm:cxn modelId="{EBD19B9A-4648-4311-9595-03616186E02A}" type="presOf" srcId="{D99E5B6D-EA5E-43B5-8B42-D61BE9A94D68}" destId="{2CC25685-4BD9-4142-B84A-9C078E1BE90F}" srcOrd="0" destOrd="0" presId="urn:microsoft.com/office/officeart/2005/8/layout/hierarchy4"/>
    <dgm:cxn modelId="{3D570FA4-52D0-4C8C-85CD-32E1B7C9C710}" srcId="{99BD1A1B-64C5-4FA4-A526-DCE64605B189}" destId="{C24CB6B0-33D7-439A-9CCB-3AF5F4516717}" srcOrd="0" destOrd="0" parTransId="{5488C0FB-18C9-4A9C-9114-304C515DBF4D}" sibTransId="{B43E4FA2-E823-4B7E-AEE2-A841C1C780DA}"/>
    <dgm:cxn modelId="{F1CAB2AC-C3DA-43DE-A83B-36798AB5FC45}" srcId="{99BD1A1B-64C5-4FA4-A526-DCE64605B189}" destId="{DDBB9395-A959-4992-A9E8-7F3ECD03D316}" srcOrd="2" destOrd="0" parTransId="{F0F013F4-429F-49CB-8585-E72BD6538CA2}" sibTransId="{23549957-023C-421F-9F49-9B83EBA4EDAA}"/>
    <dgm:cxn modelId="{CDC7C1D1-2086-4E27-9DA9-D261823F5682}" srcId="{99BD1A1B-64C5-4FA4-A526-DCE64605B189}" destId="{C7FA8E64-3D1C-41A3-908B-B76843894A74}" srcOrd="4" destOrd="0" parTransId="{9C7CAB12-A988-4B38-8C1C-B8AC3E8A2689}" sibTransId="{9F9967B2-9333-4E9E-B2D2-07C1F282A8F9}"/>
    <dgm:cxn modelId="{8DC2FFE8-78ED-41F4-8DDA-24FB9822D2A4}" srcId="{D99E5B6D-EA5E-43B5-8B42-D61BE9A94D68}" destId="{99BD1A1B-64C5-4FA4-A526-DCE64605B189}" srcOrd="0" destOrd="0" parTransId="{0D0C9E6B-44CE-4434-BEB9-601D48B366BD}" sibTransId="{ACE93ACF-5B18-4CB8-8F4A-171826411864}"/>
    <dgm:cxn modelId="{86890DEA-7A9D-470C-A7FD-3A0FC7169FEC}" type="presOf" srcId="{049264D7-176E-4226-A1BB-6056D1BFEBCD}" destId="{2A7C177C-30D4-424B-92E4-3AD7A97298D7}" srcOrd="0" destOrd="0" presId="urn:microsoft.com/office/officeart/2005/8/layout/hierarchy4"/>
    <dgm:cxn modelId="{BA1784C6-B1BC-4EA7-8DC0-2A3E304A5E8B}" type="presParOf" srcId="{2CC25685-4BD9-4142-B84A-9C078E1BE90F}" destId="{170A547C-9517-4588-ABB7-B150812393B2}" srcOrd="0" destOrd="0" presId="urn:microsoft.com/office/officeart/2005/8/layout/hierarchy4"/>
    <dgm:cxn modelId="{F09EFF5C-9D2D-4B65-8C4B-25ED75D47A70}" type="presParOf" srcId="{170A547C-9517-4588-ABB7-B150812393B2}" destId="{C31371B3-D972-475E-B028-D41B48E62429}" srcOrd="0" destOrd="0" presId="urn:microsoft.com/office/officeart/2005/8/layout/hierarchy4"/>
    <dgm:cxn modelId="{BF0B698F-9CE7-48F0-A6E1-A94160A5638C}" type="presParOf" srcId="{170A547C-9517-4588-ABB7-B150812393B2}" destId="{A748C71E-6177-4D07-8AAD-563684EAD039}" srcOrd="1" destOrd="0" presId="urn:microsoft.com/office/officeart/2005/8/layout/hierarchy4"/>
    <dgm:cxn modelId="{A6150933-1CD8-4482-9893-CFE21BCA4694}" type="presParOf" srcId="{170A547C-9517-4588-ABB7-B150812393B2}" destId="{B8FC72B2-3A62-4AA7-A659-FEE53CB9B1FB}" srcOrd="2" destOrd="0" presId="urn:microsoft.com/office/officeart/2005/8/layout/hierarchy4"/>
    <dgm:cxn modelId="{86956B74-309F-4C45-8E2F-EEE4BCFD7339}" type="presParOf" srcId="{B8FC72B2-3A62-4AA7-A659-FEE53CB9B1FB}" destId="{85B9D0E8-FA0F-418D-8E63-A0DFD42B38AD}" srcOrd="0" destOrd="0" presId="urn:microsoft.com/office/officeart/2005/8/layout/hierarchy4"/>
    <dgm:cxn modelId="{D78CCA83-C9C6-4C7C-AD94-2D3E54BBE20F}" type="presParOf" srcId="{85B9D0E8-FA0F-418D-8E63-A0DFD42B38AD}" destId="{3A2419F7-4F15-4FF7-BF84-E651678C1596}" srcOrd="0" destOrd="0" presId="urn:microsoft.com/office/officeart/2005/8/layout/hierarchy4"/>
    <dgm:cxn modelId="{68F64FA3-AEC5-4C0F-873A-C77A17AE6EC6}" type="presParOf" srcId="{85B9D0E8-FA0F-418D-8E63-A0DFD42B38AD}" destId="{76D78BAB-306A-45C6-826E-65791D881F78}" srcOrd="1" destOrd="0" presId="urn:microsoft.com/office/officeart/2005/8/layout/hierarchy4"/>
    <dgm:cxn modelId="{758AFC05-A9A4-4CD7-941E-0EBB58462E08}" type="presParOf" srcId="{B8FC72B2-3A62-4AA7-A659-FEE53CB9B1FB}" destId="{FB6D0E7C-D39B-469C-94BF-BCBC0188930C}" srcOrd="1" destOrd="0" presId="urn:microsoft.com/office/officeart/2005/8/layout/hierarchy4"/>
    <dgm:cxn modelId="{4C415A27-14F9-4B0B-9253-117CA26AADD1}" type="presParOf" srcId="{B8FC72B2-3A62-4AA7-A659-FEE53CB9B1FB}" destId="{51694ADA-BC17-44E8-B37F-E2CDB03F6006}" srcOrd="2" destOrd="0" presId="urn:microsoft.com/office/officeart/2005/8/layout/hierarchy4"/>
    <dgm:cxn modelId="{472344FC-CE49-4F8A-A713-6A3DA75612F5}" type="presParOf" srcId="{51694ADA-BC17-44E8-B37F-E2CDB03F6006}" destId="{C5DB8990-A5CD-4987-AB97-681A4683DFA7}" srcOrd="0" destOrd="0" presId="urn:microsoft.com/office/officeart/2005/8/layout/hierarchy4"/>
    <dgm:cxn modelId="{476665C6-A6B1-46C9-8FE1-AE9AEFD141FC}" type="presParOf" srcId="{51694ADA-BC17-44E8-B37F-E2CDB03F6006}" destId="{A4A854FE-77E1-4FC1-A1BB-82A5A78037D8}" srcOrd="1" destOrd="0" presId="urn:microsoft.com/office/officeart/2005/8/layout/hierarchy4"/>
    <dgm:cxn modelId="{DA99E8F5-80FE-4CAC-8E5D-3DEB071E3F16}" type="presParOf" srcId="{B8FC72B2-3A62-4AA7-A659-FEE53CB9B1FB}" destId="{5A05F72A-0DCC-43A1-AD4D-93157BF8AA2D}" srcOrd="3" destOrd="0" presId="urn:microsoft.com/office/officeart/2005/8/layout/hierarchy4"/>
    <dgm:cxn modelId="{955FB0DE-3C7E-4410-BBE5-08BE09B314BC}" type="presParOf" srcId="{B8FC72B2-3A62-4AA7-A659-FEE53CB9B1FB}" destId="{51029175-8179-4374-B7A9-FD8480168D0A}" srcOrd="4" destOrd="0" presId="urn:microsoft.com/office/officeart/2005/8/layout/hierarchy4"/>
    <dgm:cxn modelId="{EC286D5B-BC00-4A86-9B05-35A97DE3E5DB}" type="presParOf" srcId="{51029175-8179-4374-B7A9-FD8480168D0A}" destId="{1CD0DBE7-9137-481C-A7B2-A61E2BE88A7D}" srcOrd="0" destOrd="0" presId="urn:microsoft.com/office/officeart/2005/8/layout/hierarchy4"/>
    <dgm:cxn modelId="{3D79C209-86B5-4892-8C43-6B03DB9F4BDB}" type="presParOf" srcId="{51029175-8179-4374-B7A9-FD8480168D0A}" destId="{D40C062F-CE4D-44CF-9236-6241025E4C5E}" srcOrd="1" destOrd="0" presId="urn:microsoft.com/office/officeart/2005/8/layout/hierarchy4"/>
    <dgm:cxn modelId="{102AE50E-B20E-429A-BDD0-55DCF24EB06D}" type="presParOf" srcId="{B8FC72B2-3A62-4AA7-A659-FEE53CB9B1FB}" destId="{462728EA-1616-457A-9E1B-D32C8ACB6C73}" srcOrd="5" destOrd="0" presId="urn:microsoft.com/office/officeart/2005/8/layout/hierarchy4"/>
    <dgm:cxn modelId="{6DC103AD-3429-45BA-88AE-72C494C478E7}" type="presParOf" srcId="{B8FC72B2-3A62-4AA7-A659-FEE53CB9B1FB}" destId="{8433DC42-11AE-4230-B453-D398051A94E2}" srcOrd="6" destOrd="0" presId="urn:microsoft.com/office/officeart/2005/8/layout/hierarchy4"/>
    <dgm:cxn modelId="{5D9C3312-575D-4D95-98B2-09C12306B1D6}" type="presParOf" srcId="{8433DC42-11AE-4230-B453-D398051A94E2}" destId="{2A7C177C-30D4-424B-92E4-3AD7A97298D7}" srcOrd="0" destOrd="0" presId="urn:microsoft.com/office/officeart/2005/8/layout/hierarchy4"/>
    <dgm:cxn modelId="{2F73FC87-D3F0-471C-B253-7A63648AEF7D}" type="presParOf" srcId="{8433DC42-11AE-4230-B453-D398051A94E2}" destId="{B1F7FA85-722C-4DB6-AB28-2327200342E2}" srcOrd="1" destOrd="0" presId="urn:microsoft.com/office/officeart/2005/8/layout/hierarchy4"/>
    <dgm:cxn modelId="{B5615A88-1224-42CD-BA06-C50CBE019B93}" type="presParOf" srcId="{B8FC72B2-3A62-4AA7-A659-FEE53CB9B1FB}" destId="{06F6E8F2-DD14-4677-A024-918C2FFA8FDA}" srcOrd="7" destOrd="0" presId="urn:microsoft.com/office/officeart/2005/8/layout/hierarchy4"/>
    <dgm:cxn modelId="{5136CE98-2C79-4B2C-AF7E-BA3FDE9439A9}" type="presParOf" srcId="{B8FC72B2-3A62-4AA7-A659-FEE53CB9B1FB}" destId="{8809FFAF-7DA9-4DD9-997A-63D931B83E51}" srcOrd="8" destOrd="0" presId="urn:microsoft.com/office/officeart/2005/8/layout/hierarchy4"/>
    <dgm:cxn modelId="{DB491509-898A-4BA7-B379-B6E8F83CB817}" type="presParOf" srcId="{8809FFAF-7DA9-4DD9-997A-63D931B83E51}" destId="{0ACFB40F-3DD7-4BEB-AA6A-334B97DFBCB4}" srcOrd="0" destOrd="0" presId="urn:microsoft.com/office/officeart/2005/8/layout/hierarchy4"/>
    <dgm:cxn modelId="{7141CBFF-3589-4B27-99AD-741DB6A2D317}" type="presParOf" srcId="{8809FFAF-7DA9-4DD9-997A-63D931B83E51}" destId="{6E81C47D-A134-40AE-9081-1FA7990A2FE1}" srcOrd="1" destOrd="0" presId="urn:microsoft.com/office/officeart/2005/8/layout/hierarchy4"/>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C03A928-0308-4EC7-8688-8BE84D0EB8F5}"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715899C0-E586-46D9-80FD-4452E0790EE0}">
      <dgm:prSet phldrT="[Text]" custT="1"/>
      <dgm:spPr/>
      <dgm:t>
        <a:bodyPr anchor="ctr"/>
        <a:lstStyle/>
        <a:p>
          <a:r>
            <a:rPr lang="en-US" sz="1400" b="1" dirty="0">
              <a:latin typeface="Verdana" panose="020B0604030504040204" pitchFamily="34" charset="0"/>
              <a:ea typeface="Verdana" panose="020B0604030504040204" pitchFamily="34" charset="0"/>
            </a:rPr>
            <a:t>Projects on consumer side of meter: </a:t>
          </a:r>
        </a:p>
        <a:p>
          <a:r>
            <a:rPr lang="en-US" sz="1400" i="1" dirty="0">
              <a:latin typeface="Verdana" panose="020B0604030504040204" pitchFamily="34" charset="0"/>
              <a:ea typeface="Verdana" panose="020B0604030504040204" pitchFamily="34" charset="0"/>
            </a:rPr>
            <a:t>These projects would use the solar power within the premises of the consumer during the day in tandem with grid power and export excess power.</a:t>
          </a:r>
        </a:p>
      </dgm:t>
    </dgm:pt>
    <dgm:pt modelId="{DA4872D9-1BAA-4F50-86E4-CABEC4C38F33}" type="parTrans" cxnId="{41C726E7-D9E0-49E2-8614-9ABCF1CB1BDF}">
      <dgm:prSet/>
      <dgm:spPr/>
      <dgm:t>
        <a:bodyPr/>
        <a:lstStyle/>
        <a:p>
          <a:endParaRPr lang="en-US" sz="1400">
            <a:latin typeface="Verdana" panose="020B0604030504040204" pitchFamily="34" charset="0"/>
            <a:ea typeface="Verdana" panose="020B0604030504040204" pitchFamily="34" charset="0"/>
          </a:endParaRPr>
        </a:p>
      </dgm:t>
    </dgm:pt>
    <dgm:pt modelId="{CB2B6BAD-CB7A-4840-8FB0-5AF41AD80122}" type="sibTrans" cxnId="{41C726E7-D9E0-49E2-8614-9ABCF1CB1BDF}">
      <dgm:prSet/>
      <dgm:spPr/>
      <dgm:t>
        <a:bodyPr/>
        <a:lstStyle/>
        <a:p>
          <a:endParaRPr lang="en-US" sz="1400">
            <a:latin typeface="Verdana" panose="020B0604030504040204" pitchFamily="34" charset="0"/>
            <a:ea typeface="Verdana" panose="020B0604030504040204" pitchFamily="34" charset="0"/>
          </a:endParaRPr>
        </a:p>
      </dgm:t>
    </dgm:pt>
    <dgm:pt modelId="{4EC8BE81-8CF0-4B35-B2E0-328017C5D5E4}">
      <dgm:prSet phldrT="[Text]" custT="1"/>
      <dgm:spPr/>
      <dgm:t>
        <a:bodyPr anchor="ctr"/>
        <a:lstStyle/>
        <a:p>
          <a:r>
            <a:rPr lang="en-US" sz="1400" dirty="0">
              <a:latin typeface="Verdana" panose="020B0604030504040204" pitchFamily="34" charset="0"/>
              <a:ea typeface="Verdana" panose="020B0604030504040204" pitchFamily="34" charset="0"/>
            </a:rPr>
            <a:t>A </a:t>
          </a:r>
          <a:r>
            <a:rPr lang="en-US" sz="1400" b="1" dirty="0">
              <a:latin typeface="Verdana" panose="020B0604030504040204" pitchFamily="34" charset="0"/>
              <a:ea typeface="Verdana" panose="020B0604030504040204" pitchFamily="34" charset="0"/>
            </a:rPr>
            <a:t>target of 1300 MW by 2027</a:t>
          </a:r>
          <a:r>
            <a:rPr lang="en-US" sz="1400" dirty="0">
              <a:latin typeface="Verdana" panose="020B0604030504040204" pitchFamily="34" charset="0"/>
              <a:ea typeface="Verdana" panose="020B0604030504040204" pitchFamily="34" charset="0"/>
            </a:rPr>
            <a:t> is set for Small scale solar PV project on consumer side of the meter. It can be either RESCO or CAPEX model</a:t>
          </a:r>
        </a:p>
      </dgm:t>
    </dgm:pt>
    <dgm:pt modelId="{5DC23257-04B8-4501-9CDA-7DDE179B5E1A}" type="parTrans" cxnId="{37CE5062-30DC-43E7-BC46-60964D82984B}">
      <dgm:prSet/>
      <dgm:spPr/>
      <dgm:t>
        <a:bodyPr/>
        <a:lstStyle/>
        <a:p>
          <a:endParaRPr lang="en-US" sz="1400">
            <a:latin typeface="Verdana" panose="020B0604030504040204" pitchFamily="34" charset="0"/>
            <a:ea typeface="Verdana" panose="020B0604030504040204" pitchFamily="34" charset="0"/>
          </a:endParaRPr>
        </a:p>
      </dgm:t>
    </dgm:pt>
    <dgm:pt modelId="{410EEE7D-89B5-4267-B132-5B73996E7380}" type="sibTrans" cxnId="{37CE5062-30DC-43E7-BC46-60964D82984B}">
      <dgm:prSet/>
      <dgm:spPr/>
      <dgm:t>
        <a:bodyPr/>
        <a:lstStyle/>
        <a:p>
          <a:endParaRPr lang="en-US" sz="1400">
            <a:latin typeface="Verdana" panose="020B0604030504040204" pitchFamily="34" charset="0"/>
            <a:ea typeface="Verdana" panose="020B0604030504040204" pitchFamily="34" charset="0"/>
          </a:endParaRPr>
        </a:p>
      </dgm:t>
    </dgm:pt>
    <dgm:pt modelId="{1323C24F-7D95-4098-9BB5-C1973DC1CDE2}">
      <dgm:prSet phldrT="[Text]" custT="1"/>
      <dgm:spPr/>
      <dgm:t>
        <a:bodyPr anchor="ctr"/>
        <a:lstStyle/>
        <a:p>
          <a:r>
            <a:rPr lang="en-US" sz="1400" dirty="0">
              <a:latin typeface="Verdana" panose="020B0604030504040204" pitchFamily="34" charset="0"/>
              <a:ea typeface="Verdana" panose="020B0604030504040204" pitchFamily="34" charset="0"/>
            </a:rPr>
            <a:t>The consumer may set up the project using net metering, net billing or behind the meter framework</a:t>
          </a:r>
        </a:p>
      </dgm:t>
    </dgm:pt>
    <dgm:pt modelId="{FAA765E7-21A3-4118-AA49-0B39749F5B4A}" type="parTrans" cxnId="{DDBC850A-4990-4E47-B657-F3D2802786E9}">
      <dgm:prSet/>
      <dgm:spPr/>
      <dgm:t>
        <a:bodyPr/>
        <a:lstStyle/>
        <a:p>
          <a:endParaRPr lang="en-US" sz="1400">
            <a:latin typeface="Verdana" panose="020B0604030504040204" pitchFamily="34" charset="0"/>
            <a:ea typeface="Verdana" panose="020B0604030504040204" pitchFamily="34" charset="0"/>
          </a:endParaRPr>
        </a:p>
      </dgm:t>
    </dgm:pt>
    <dgm:pt modelId="{0FBF6F0F-7D31-472F-B6A9-07053FBA5CEC}" type="sibTrans" cxnId="{DDBC850A-4990-4E47-B657-F3D2802786E9}">
      <dgm:prSet/>
      <dgm:spPr/>
      <dgm:t>
        <a:bodyPr/>
        <a:lstStyle/>
        <a:p>
          <a:endParaRPr lang="en-US" sz="1400">
            <a:latin typeface="Verdana" panose="020B0604030504040204" pitchFamily="34" charset="0"/>
            <a:ea typeface="Verdana" panose="020B0604030504040204" pitchFamily="34" charset="0"/>
          </a:endParaRPr>
        </a:p>
      </dgm:t>
    </dgm:pt>
    <dgm:pt modelId="{F235B129-B35D-4384-9D3F-00B70110B61D}">
      <dgm:prSet phldrT="[Text]" custT="1"/>
      <dgm:spPr/>
      <dgm:t>
        <a:bodyPr anchor="ctr"/>
        <a:lstStyle/>
        <a:p>
          <a:pPr>
            <a:buFont typeface="Symbol" panose="05050102010706020507" pitchFamily="18" charset="2"/>
            <a:buChar char=""/>
          </a:pPr>
          <a:r>
            <a:rPr lang="en-US" sz="1400" dirty="0">
              <a:latin typeface="Verdana" panose="020B0604030504040204" pitchFamily="34" charset="0"/>
              <a:ea typeface="Verdana" panose="020B0604030504040204" pitchFamily="34" charset="0"/>
            </a:rPr>
            <a:t>The consumer shall be allowed to set up solar project up to its Contract Demand, Connected Load as the case may be.</a:t>
          </a:r>
        </a:p>
      </dgm:t>
    </dgm:pt>
    <dgm:pt modelId="{7570FEB1-CBD0-464A-89A4-E41A009DF421}" type="parTrans" cxnId="{8B76E6BC-855E-41F3-B6D2-BCDF2CDC206E}">
      <dgm:prSet/>
      <dgm:spPr/>
      <dgm:t>
        <a:bodyPr/>
        <a:lstStyle/>
        <a:p>
          <a:endParaRPr lang="en-US" sz="1400">
            <a:latin typeface="Verdana" panose="020B0604030504040204" pitchFamily="34" charset="0"/>
            <a:ea typeface="Verdana" panose="020B0604030504040204" pitchFamily="34" charset="0"/>
          </a:endParaRPr>
        </a:p>
      </dgm:t>
    </dgm:pt>
    <dgm:pt modelId="{10BB20E8-E4E2-4B9D-8393-304749128589}" type="sibTrans" cxnId="{8B76E6BC-855E-41F3-B6D2-BCDF2CDC206E}">
      <dgm:prSet/>
      <dgm:spPr/>
      <dgm:t>
        <a:bodyPr/>
        <a:lstStyle/>
        <a:p>
          <a:endParaRPr lang="en-US" sz="1400">
            <a:latin typeface="Verdana" panose="020B0604030504040204" pitchFamily="34" charset="0"/>
            <a:ea typeface="Verdana" panose="020B0604030504040204" pitchFamily="34" charset="0"/>
          </a:endParaRPr>
        </a:p>
      </dgm:t>
    </dgm:pt>
    <dgm:pt modelId="{BA6AA19D-EF92-499D-A302-4C751E6F9160}">
      <dgm:prSet phldrT="[Text]" custT="1"/>
      <dgm:spPr/>
      <dgm:t>
        <a:bodyPr anchor="ctr"/>
        <a:lstStyle/>
        <a:p>
          <a:r>
            <a:rPr lang="en-US" sz="1400" dirty="0">
              <a:latin typeface="Verdana" panose="020B0604030504040204" pitchFamily="34" charset="0"/>
              <a:ea typeface="Verdana" panose="020B0604030504040204" pitchFamily="34" charset="0"/>
            </a:rPr>
            <a:t>The Consumer who wants to develop rooftop PV projects can set up their facility by connecting to the grid as per the relevant regulation of WBERC</a:t>
          </a:r>
        </a:p>
      </dgm:t>
    </dgm:pt>
    <dgm:pt modelId="{AE063D06-1832-4830-B4F1-CAC271296F33}" type="parTrans" cxnId="{3AD272E0-5E95-4061-AE33-48D0E5313072}">
      <dgm:prSet/>
      <dgm:spPr/>
      <dgm:t>
        <a:bodyPr/>
        <a:lstStyle/>
        <a:p>
          <a:endParaRPr lang="en-US" sz="1400">
            <a:latin typeface="Verdana" panose="020B0604030504040204" pitchFamily="34" charset="0"/>
            <a:ea typeface="Verdana" panose="020B0604030504040204" pitchFamily="34" charset="0"/>
          </a:endParaRPr>
        </a:p>
      </dgm:t>
    </dgm:pt>
    <dgm:pt modelId="{6F14AD85-6DA3-407E-8C2F-BEDF49D5E2A8}" type="sibTrans" cxnId="{3AD272E0-5E95-4061-AE33-48D0E5313072}">
      <dgm:prSet/>
      <dgm:spPr/>
      <dgm:t>
        <a:bodyPr/>
        <a:lstStyle/>
        <a:p>
          <a:endParaRPr lang="en-US" sz="1400">
            <a:latin typeface="Verdana" panose="020B0604030504040204" pitchFamily="34" charset="0"/>
            <a:ea typeface="Verdana" panose="020B0604030504040204" pitchFamily="34" charset="0"/>
          </a:endParaRPr>
        </a:p>
      </dgm:t>
    </dgm:pt>
    <dgm:pt modelId="{063227A8-00E1-429D-9E92-B30B4EE283CA}">
      <dgm:prSet phldrT="[Text]" custT="1"/>
      <dgm:spPr/>
      <dgm:t>
        <a:bodyPr anchor="ctr"/>
        <a:lstStyle/>
        <a:p>
          <a:pPr>
            <a:buFont typeface="Symbol" panose="05050102010706020507" pitchFamily="18" charset="2"/>
            <a:buChar char=""/>
          </a:pPr>
          <a:r>
            <a:rPr lang="en-US" sz="1400" b="1" dirty="0">
              <a:latin typeface="Verdana" panose="020B0604030504040204" pitchFamily="34" charset="0"/>
              <a:ea typeface="Verdana" panose="020B0604030504040204" pitchFamily="34" charset="0"/>
            </a:rPr>
            <a:t>DISCOMs would act as the implementing agency </a:t>
          </a:r>
          <a:r>
            <a:rPr lang="en-US" sz="1400" dirty="0">
              <a:latin typeface="Verdana" panose="020B0604030504040204" pitchFamily="34" charset="0"/>
              <a:ea typeface="Verdana" panose="020B0604030504040204" pitchFamily="34" charset="0"/>
            </a:rPr>
            <a:t>for all projects installed in consumer side of the meter. </a:t>
          </a:r>
        </a:p>
      </dgm:t>
    </dgm:pt>
    <dgm:pt modelId="{F7014AFD-4B21-4561-B97B-4A8F8322C1FB}" type="parTrans" cxnId="{71183F6B-35ED-4DDA-80A8-FD8CD6C6809F}">
      <dgm:prSet/>
      <dgm:spPr/>
      <dgm:t>
        <a:bodyPr/>
        <a:lstStyle/>
        <a:p>
          <a:endParaRPr lang="en-US" sz="1400">
            <a:latin typeface="Verdana" panose="020B0604030504040204" pitchFamily="34" charset="0"/>
            <a:ea typeface="Verdana" panose="020B0604030504040204" pitchFamily="34" charset="0"/>
          </a:endParaRPr>
        </a:p>
      </dgm:t>
    </dgm:pt>
    <dgm:pt modelId="{6CD4DBE2-EF95-48D7-97F6-53418703E918}" type="sibTrans" cxnId="{71183F6B-35ED-4DDA-80A8-FD8CD6C6809F}">
      <dgm:prSet/>
      <dgm:spPr/>
      <dgm:t>
        <a:bodyPr/>
        <a:lstStyle/>
        <a:p>
          <a:endParaRPr lang="en-US" sz="1400">
            <a:latin typeface="Verdana" panose="020B0604030504040204" pitchFamily="34" charset="0"/>
            <a:ea typeface="Verdana" panose="020B0604030504040204" pitchFamily="34" charset="0"/>
          </a:endParaRPr>
        </a:p>
      </dgm:t>
    </dgm:pt>
    <dgm:pt modelId="{F01669B9-3E19-4AFB-8636-CE610DD9A116}">
      <dgm:prSet phldrT="[Text]" custT="1"/>
      <dgm:spPr/>
      <dgm:t>
        <a:bodyPr anchor="ctr"/>
        <a:lstStyle/>
        <a:p>
          <a:r>
            <a:rPr lang="en-US" sz="1400" dirty="0">
              <a:latin typeface="Verdana" panose="020B0604030504040204" pitchFamily="34" charset="0"/>
              <a:ea typeface="Verdana" panose="020B0604030504040204" pitchFamily="34" charset="0"/>
            </a:rPr>
            <a:t>The consumer/ Project developer shall follow the net metering/gross metering regulations as issued by the WBERC </a:t>
          </a:r>
        </a:p>
      </dgm:t>
    </dgm:pt>
    <dgm:pt modelId="{AF0707DA-34E9-4658-B32B-33426001E938}" type="parTrans" cxnId="{F87E4297-3F9D-4BCA-BBB5-E1FED3231FE4}">
      <dgm:prSet/>
      <dgm:spPr/>
      <dgm:t>
        <a:bodyPr/>
        <a:lstStyle/>
        <a:p>
          <a:endParaRPr lang="en-US" sz="1400">
            <a:latin typeface="Verdana" panose="020B0604030504040204" pitchFamily="34" charset="0"/>
            <a:ea typeface="Verdana" panose="020B0604030504040204" pitchFamily="34" charset="0"/>
          </a:endParaRPr>
        </a:p>
      </dgm:t>
    </dgm:pt>
    <dgm:pt modelId="{57C6C793-84E7-44B7-94CE-B9B14F04B5BF}" type="sibTrans" cxnId="{F87E4297-3F9D-4BCA-BBB5-E1FED3231FE4}">
      <dgm:prSet/>
      <dgm:spPr/>
      <dgm:t>
        <a:bodyPr/>
        <a:lstStyle/>
        <a:p>
          <a:endParaRPr lang="en-US" sz="1400">
            <a:latin typeface="Verdana" panose="020B0604030504040204" pitchFamily="34" charset="0"/>
            <a:ea typeface="Verdana" panose="020B0604030504040204" pitchFamily="34" charset="0"/>
          </a:endParaRPr>
        </a:p>
      </dgm:t>
    </dgm:pt>
    <dgm:pt modelId="{FD0D95A3-5BE4-4E82-9C0A-3DCE0799E421}">
      <dgm:prSet phldrT="[Text]" custT="1"/>
      <dgm:spPr/>
      <dgm:t>
        <a:bodyPr anchor="ctr"/>
        <a:lstStyle/>
        <a:p>
          <a:r>
            <a:rPr lang="en-US" sz="1400" b="1" dirty="0">
              <a:latin typeface="Verdana" panose="020B0604030504040204" pitchFamily="34" charset="0"/>
              <a:ea typeface="Verdana" panose="020B0604030504040204" pitchFamily="34" charset="0"/>
            </a:rPr>
            <a:t>DISCOMs shall coordinate with MNRE for implementation of its scheme</a:t>
          </a:r>
          <a:r>
            <a:rPr lang="en-US" sz="1400" dirty="0">
              <a:latin typeface="Verdana" panose="020B0604030504040204" pitchFamily="34" charset="0"/>
              <a:ea typeface="Verdana" panose="020B0604030504040204" pitchFamily="34" charset="0"/>
            </a:rPr>
            <a:t> announced from time to time, including incentives/subsidies</a:t>
          </a:r>
        </a:p>
      </dgm:t>
    </dgm:pt>
    <dgm:pt modelId="{63B6A27A-F552-45A1-931E-C07050F25BD1}" type="parTrans" cxnId="{18CA5357-DE80-463F-9A8D-756A6C4362C2}">
      <dgm:prSet/>
      <dgm:spPr/>
      <dgm:t>
        <a:bodyPr/>
        <a:lstStyle/>
        <a:p>
          <a:endParaRPr lang="en-US" sz="1400">
            <a:latin typeface="Verdana" panose="020B0604030504040204" pitchFamily="34" charset="0"/>
            <a:ea typeface="Verdana" panose="020B0604030504040204" pitchFamily="34" charset="0"/>
          </a:endParaRPr>
        </a:p>
      </dgm:t>
    </dgm:pt>
    <dgm:pt modelId="{501769E8-60DB-41FC-AC92-FECD1FBA3CA1}" type="sibTrans" cxnId="{18CA5357-DE80-463F-9A8D-756A6C4362C2}">
      <dgm:prSet/>
      <dgm:spPr/>
      <dgm:t>
        <a:bodyPr/>
        <a:lstStyle/>
        <a:p>
          <a:endParaRPr lang="en-US" sz="1400">
            <a:latin typeface="Verdana" panose="020B0604030504040204" pitchFamily="34" charset="0"/>
            <a:ea typeface="Verdana" panose="020B0604030504040204" pitchFamily="34" charset="0"/>
          </a:endParaRPr>
        </a:p>
      </dgm:t>
    </dgm:pt>
    <dgm:pt modelId="{6EDBF813-F5AF-43FD-873B-6FEB81DAA17E}" type="pres">
      <dgm:prSet presAssocID="{8C03A928-0308-4EC7-8688-8BE84D0EB8F5}" presName="vert0" presStyleCnt="0">
        <dgm:presLayoutVars>
          <dgm:dir/>
          <dgm:animOne val="branch"/>
          <dgm:animLvl val="lvl"/>
        </dgm:presLayoutVars>
      </dgm:prSet>
      <dgm:spPr/>
    </dgm:pt>
    <dgm:pt modelId="{F40089FF-F072-4B07-A232-1712FE9D35F9}" type="pres">
      <dgm:prSet presAssocID="{715899C0-E586-46D9-80FD-4452E0790EE0}" presName="thickLine" presStyleLbl="alignNode1" presStyleIdx="0" presStyleCnt="1"/>
      <dgm:spPr/>
    </dgm:pt>
    <dgm:pt modelId="{DF3B0FA8-23F6-4A7F-A7D2-3F392A455D62}" type="pres">
      <dgm:prSet presAssocID="{715899C0-E586-46D9-80FD-4452E0790EE0}" presName="horz1" presStyleCnt="0"/>
      <dgm:spPr/>
    </dgm:pt>
    <dgm:pt modelId="{4A37B1E5-FFA9-4C7C-A6AB-40649108BA42}" type="pres">
      <dgm:prSet presAssocID="{715899C0-E586-46D9-80FD-4452E0790EE0}" presName="tx1" presStyleLbl="revTx" presStyleIdx="0" presStyleCnt="8"/>
      <dgm:spPr/>
    </dgm:pt>
    <dgm:pt modelId="{17223214-2A66-418D-B921-21A79337DE45}" type="pres">
      <dgm:prSet presAssocID="{715899C0-E586-46D9-80FD-4452E0790EE0}" presName="vert1" presStyleCnt="0"/>
      <dgm:spPr/>
    </dgm:pt>
    <dgm:pt modelId="{1FCB23DD-33AA-42CC-B516-5032DE94BD06}" type="pres">
      <dgm:prSet presAssocID="{4EC8BE81-8CF0-4B35-B2E0-328017C5D5E4}" presName="vertSpace2a" presStyleCnt="0"/>
      <dgm:spPr/>
    </dgm:pt>
    <dgm:pt modelId="{6BA65DB5-6684-4039-8FE3-C061A2C80C51}" type="pres">
      <dgm:prSet presAssocID="{4EC8BE81-8CF0-4B35-B2E0-328017C5D5E4}" presName="horz2" presStyleCnt="0"/>
      <dgm:spPr/>
    </dgm:pt>
    <dgm:pt modelId="{CC154F4F-37C4-4ADE-9318-6164C95C9BE1}" type="pres">
      <dgm:prSet presAssocID="{4EC8BE81-8CF0-4B35-B2E0-328017C5D5E4}" presName="horzSpace2" presStyleCnt="0"/>
      <dgm:spPr/>
    </dgm:pt>
    <dgm:pt modelId="{6DE755C2-DBC3-4114-AA5F-54A5EACCF1A2}" type="pres">
      <dgm:prSet presAssocID="{4EC8BE81-8CF0-4B35-B2E0-328017C5D5E4}" presName="tx2" presStyleLbl="revTx" presStyleIdx="1" presStyleCnt="8"/>
      <dgm:spPr/>
    </dgm:pt>
    <dgm:pt modelId="{E9B392C0-7FFC-465C-9081-6467775E506A}" type="pres">
      <dgm:prSet presAssocID="{4EC8BE81-8CF0-4B35-B2E0-328017C5D5E4}" presName="vert2" presStyleCnt="0"/>
      <dgm:spPr/>
    </dgm:pt>
    <dgm:pt modelId="{94F7AA55-150D-4AC4-B60D-E3AE05C9C223}" type="pres">
      <dgm:prSet presAssocID="{4EC8BE81-8CF0-4B35-B2E0-328017C5D5E4}" presName="thinLine2b" presStyleLbl="callout" presStyleIdx="0" presStyleCnt="7"/>
      <dgm:spPr/>
    </dgm:pt>
    <dgm:pt modelId="{FBD8A880-AA43-4243-A94D-8FCAAF859AA2}" type="pres">
      <dgm:prSet presAssocID="{4EC8BE81-8CF0-4B35-B2E0-328017C5D5E4}" presName="vertSpace2b" presStyleCnt="0"/>
      <dgm:spPr/>
    </dgm:pt>
    <dgm:pt modelId="{6AAD5E22-CD9E-4F98-9867-3A1AF04F6D8F}" type="pres">
      <dgm:prSet presAssocID="{1323C24F-7D95-4098-9BB5-C1973DC1CDE2}" presName="horz2" presStyleCnt="0"/>
      <dgm:spPr/>
    </dgm:pt>
    <dgm:pt modelId="{258C3FE1-81F8-40C5-B378-4A2F27302969}" type="pres">
      <dgm:prSet presAssocID="{1323C24F-7D95-4098-9BB5-C1973DC1CDE2}" presName="horzSpace2" presStyleCnt="0"/>
      <dgm:spPr/>
    </dgm:pt>
    <dgm:pt modelId="{A5598906-20AE-46BC-8916-BF1CC7DD8CC3}" type="pres">
      <dgm:prSet presAssocID="{1323C24F-7D95-4098-9BB5-C1973DC1CDE2}" presName="tx2" presStyleLbl="revTx" presStyleIdx="2" presStyleCnt="8"/>
      <dgm:spPr/>
    </dgm:pt>
    <dgm:pt modelId="{EFDEF251-2D6A-45DD-BF60-EBEF776C6646}" type="pres">
      <dgm:prSet presAssocID="{1323C24F-7D95-4098-9BB5-C1973DC1CDE2}" presName="vert2" presStyleCnt="0"/>
      <dgm:spPr/>
    </dgm:pt>
    <dgm:pt modelId="{A1DDDB66-DEB4-4BB6-9100-D2B590BF9685}" type="pres">
      <dgm:prSet presAssocID="{1323C24F-7D95-4098-9BB5-C1973DC1CDE2}" presName="thinLine2b" presStyleLbl="callout" presStyleIdx="1" presStyleCnt="7"/>
      <dgm:spPr/>
    </dgm:pt>
    <dgm:pt modelId="{71FC0254-082B-4C72-814F-2BE203E82FAD}" type="pres">
      <dgm:prSet presAssocID="{1323C24F-7D95-4098-9BB5-C1973DC1CDE2}" presName="vertSpace2b" presStyleCnt="0"/>
      <dgm:spPr/>
    </dgm:pt>
    <dgm:pt modelId="{28DB326C-67FF-48E0-80C4-384C7B1A3E9F}" type="pres">
      <dgm:prSet presAssocID="{F235B129-B35D-4384-9D3F-00B70110B61D}" presName="horz2" presStyleCnt="0"/>
      <dgm:spPr/>
    </dgm:pt>
    <dgm:pt modelId="{71323313-4DE3-4F6E-B13B-F6D26D360224}" type="pres">
      <dgm:prSet presAssocID="{F235B129-B35D-4384-9D3F-00B70110B61D}" presName="horzSpace2" presStyleCnt="0"/>
      <dgm:spPr/>
    </dgm:pt>
    <dgm:pt modelId="{DCE668C2-BAD8-4BF1-BC2B-0E10B24A5537}" type="pres">
      <dgm:prSet presAssocID="{F235B129-B35D-4384-9D3F-00B70110B61D}" presName="tx2" presStyleLbl="revTx" presStyleIdx="3" presStyleCnt="8"/>
      <dgm:spPr/>
    </dgm:pt>
    <dgm:pt modelId="{2D4C1CDD-1A83-461F-A417-3EB5FE8DA863}" type="pres">
      <dgm:prSet presAssocID="{F235B129-B35D-4384-9D3F-00B70110B61D}" presName="vert2" presStyleCnt="0"/>
      <dgm:spPr/>
    </dgm:pt>
    <dgm:pt modelId="{4A7AB2CC-A650-4D7C-8F87-E18285EB2CE8}" type="pres">
      <dgm:prSet presAssocID="{F235B129-B35D-4384-9D3F-00B70110B61D}" presName="thinLine2b" presStyleLbl="callout" presStyleIdx="2" presStyleCnt="7"/>
      <dgm:spPr/>
    </dgm:pt>
    <dgm:pt modelId="{92B89A3C-51DF-4774-83A9-3693613ED395}" type="pres">
      <dgm:prSet presAssocID="{F235B129-B35D-4384-9D3F-00B70110B61D}" presName="vertSpace2b" presStyleCnt="0"/>
      <dgm:spPr/>
    </dgm:pt>
    <dgm:pt modelId="{2D1C52C6-4A7E-4C3A-9787-C61ADFF1D0BF}" type="pres">
      <dgm:prSet presAssocID="{BA6AA19D-EF92-499D-A302-4C751E6F9160}" presName="horz2" presStyleCnt="0"/>
      <dgm:spPr/>
    </dgm:pt>
    <dgm:pt modelId="{683FCB4E-6FEE-44B4-B405-1487205B4008}" type="pres">
      <dgm:prSet presAssocID="{BA6AA19D-EF92-499D-A302-4C751E6F9160}" presName="horzSpace2" presStyleCnt="0"/>
      <dgm:spPr/>
    </dgm:pt>
    <dgm:pt modelId="{310FF0EF-CC9C-4A66-AF57-2FA655B3872A}" type="pres">
      <dgm:prSet presAssocID="{BA6AA19D-EF92-499D-A302-4C751E6F9160}" presName="tx2" presStyleLbl="revTx" presStyleIdx="4" presStyleCnt="8"/>
      <dgm:spPr/>
    </dgm:pt>
    <dgm:pt modelId="{CD413612-57E3-47FA-9CB2-9BA97B5C3AB2}" type="pres">
      <dgm:prSet presAssocID="{BA6AA19D-EF92-499D-A302-4C751E6F9160}" presName="vert2" presStyleCnt="0"/>
      <dgm:spPr/>
    </dgm:pt>
    <dgm:pt modelId="{7772CAF0-7D06-4A3F-A9EA-6F406D0E686D}" type="pres">
      <dgm:prSet presAssocID="{BA6AA19D-EF92-499D-A302-4C751E6F9160}" presName="thinLine2b" presStyleLbl="callout" presStyleIdx="3" presStyleCnt="7"/>
      <dgm:spPr/>
    </dgm:pt>
    <dgm:pt modelId="{471CD4CA-CC7D-4C1E-9D1C-818B1DB26934}" type="pres">
      <dgm:prSet presAssocID="{BA6AA19D-EF92-499D-A302-4C751E6F9160}" presName="vertSpace2b" presStyleCnt="0"/>
      <dgm:spPr/>
    </dgm:pt>
    <dgm:pt modelId="{3C41E9CE-C30D-4868-82D6-99202C7F93F7}" type="pres">
      <dgm:prSet presAssocID="{063227A8-00E1-429D-9E92-B30B4EE283CA}" presName="horz2" presStyleCnt="0"/>
      <dgm:spPr/>
    </dgm:pt>
    <dgm:pt modelId="{0683665A-2B6C-4E1D-9CB4-345E03EFF7C8}" type="pres">
      <dgm:prSet presAssocID="{063227A8-00E1-429D-9E92-B30B4EE283CA}" presName="horzSpace2" presStyleCnt="0"/>
      <dgm:spPr/>
    </dgm:pt>
    <dgm:pt modelId="{40787AB5-BB32-4139-B2EF-8D2D82CADD69}" type="pres">
      <dgm:prSet presAssocID="{063227A8-00E1-429D-9E92-B30B4EE283CA}" presName="tx2" presStyleLbl="revTx" presStyleIdx="5" presStyleCnt="8"/>
      <dgm:spPr/>
    </dgm:pt>
    <dgm:pt modelId="{A4AD055B-5AEA-489D-B442-95D3870EA4D7}" type="pres">
      <dgm:prSet presAssocID="{063227A8-00E1-429D-9E92-B30B4EE283CA}" presName="vert2" presStyleCnt="0"/>
      <dgm:spPr/>
    </dgm:pt>
    <dgm:pt modelId="{C95A5FA1-EA7B-4469-B592-0C1A12D50ECA}" type="pres">
      <dgm:prSet presAssocID="{063227A8-00E1-429D-9E92-B30B4EE283CA}" presName="thinLine2b" presStyleLbl="callout" presStyleIdx="4" presStyleCnt="7"/>
      <dgm:spPr/>
    </dgm:pt>
    <dgm:pt modelId="{66430AB7-BAC4-47AD-B7D7-5A8BB6D60DF1}" type="pres">
      <dgm:prSet presAssocID="{063227A8-00E1-429D-9E92-B30B4EE283CA}" presName="vertSpace2b" presStyleCnt="0"/>
      <dgm:spPr/>
    </dgm:pt>
    <dgm:pt modelId="{3A6FBC6D-4FF5-4750-99C8-009DE6A899A1}" type="pres">
      <dgm:prSet presAssocID="{F01669B9-3E19-4AFB-8636-CE610DD9A116}" presName="horz2" presStyleCnt="0"/>
      <dgm:spPr/>
    </dgm:pt>
    <dgm:pt modelId="{E3E24D1F-3F79-4C48-857E-BA738B685586}" type="pres">
      <dgm:prSet presAssocID="{F01669B9-3E19-4AFB-8636-CE610DD9A116}" presName="horzSpace2" presStyleCnt="0"/>
      <dgm:spPr/>
    </dgm:pt>
    <dgm:pt modelId="{C29E034B-75AE-41FE-BA8D-7933AA1067C7}" type="pres">
      <dgm:prSet presAssocID="{F01669B9-3E19-4AFB-8636-CE610DD9A116}" presName="tx2" presStyleLbl="revTx" presStyleIdx="6" presStyleCnt="8"/>
      <dgm:spPr/>
    </dgm:pt>
    <dgm:pt modelId="{8D096D89-448B-476D-9DB2-E9CE7DB7C21E}" type="pres">
      <dgm:prSet presAssocID="{F01669B9-3E19-4AFB-8636-CE610DD9A116}" presName="vert2" presStyleCnt="0"/>
      <dgm:spPr/>
    </dgm:pt>
    <dgm:pt modelId="{5DDB31D8-6405-4A49-B27A-16B10F9D7599}" type="pres">
      <dgm:prSet presAssocID="{F01669B9-3E19-4AFB-8636-CE610DD9A116}" presName="thinLine2b" presStyleLbl="callout" presStyleIdx="5" presStyleCnt="7"/>
      <dgm:spPr/>
    </dgm:pt>
    <dgm:pt modelId="{BCEFB67E-93A2-4EE1-B426-6C058102835B}" type="pres">
      <dgm:prSet presAssocID="{F01669B9-3E19-4AFB-8636-CE610DD9A116}" presName="vertSpace2b" presStyleCnt="0"/>
      <dgm:spPr/>
    </dgm:pt>
    <dgm:pt modelId="{26BB8210-AEF1-40B6-9E6D-CB37AEB4BDE9}" type="pres">
      <dgm:prSet presAssocID="{FD0D95A3-5BE4-4E82-9C0A-3DCE0799E421}" presName="horz2" presStyleCnt="0"/>
      <dgm:spPr/>
    </dgm:pt>
    <dgm:pt modelId="{7D6A50FF-7F7C-4F76-B29C-96BF8EEA5686}" type="pres">
      <dgm:prSet presAssocID="{FD0D95A3-5BE4-4E82-9C0A-3DCE0799E421}" presName="horzSpace2" presStyleCnt="0"/>
      <dgm:spPr/>
    </dgm:pt>
    <dgm:pt modelId="{7E59ECFF-C9B2-4197-8452-DCADAAAECEB4}" type="pres">
      <dgm:prSet presAssocID="{FD0D95A3-5BE4-4E82-9C0A-3DCE0799E421}" presName="tx2" presStyleLbl="revTx" presStyleIdx="7" presStyleCnt="8"/>
      <dgm:spPr/>
    </dgm:pt>
    <dgm:pt modelId="{AD740219-BA0F-4531-BF5E-5EF26AA89FCC}" type="pres">
      <dgm:prSet presAssocID="{FD0D95A3-5BE4-4E82-9C0A-3DCE0799E421}" presName="vert2" presStyleCnt="0"/>
      <dgm:spPr/>
    </dgm:pt>
    <dgm:pt modelId="{2E02307B-1302-4207-8CBD-EF96F4A380B0}" type="pres">
      <dgm:prSet presAssocID="{FD0D95A3-5BE4-4E82-9C0A-3DCE0799E421}" presName="thinLine2b" presStyleLbl="callout" presStyleIdx="6" presStyleCnt="7"/>
      <dgm:spPr/>
    </dgm:pt>
    <dgm:pt modelId="{B54AF16F-4674-4B41-89C9-F7B108260C05}" type="pres">
      <dgm:prSet presAssocID="{FD0D95A3-5BE4-4E82-9C0A-3DCE0799E421}" presName="vertSpace2b" presStyleCnt="0"/>
      <dgm:spPr/>
    </dgm:pt>
  </dgm:ptLst>
  <dgm:cxnLst>
    <dgm:cxn modelId="{C0BFA000-354B-4710-86AC-5E797B662CDE}" type="presOf" srcId="{4EC8BE81-8CF0-4B35-B2E0-328017C5D5E4}" destId="{6DE755C2-DBC3-4114-AA5F-54A5EACCF1A2}" srcOrd="0" destOrd="0" presId="urn:microsoft.com/office/officeart/2008/layout/LinedList"/>
    <dgm:cxn modelId="{DDBC850A-4990-4E47-B657-F3D2802786E9}" srcId="{715899C0-E586-46D9-80FD-4452E0790EE0}" destId="{1323C24F-7D95-4098-9BB5-C1973DC1CDE2}" srcOrd="1" destOrd="0" parTransId="{FAA765E7-21A3-4118-AA49-0B39749F5B4A}" sibTransId="{0FBF6F0F-7D31-472F-B6A9-07053FBA5CEC}"/>
    <dgm:cxn modelId="{37CE5062-30DC-43E7-BC46-60964D82984B}" srcId="{715899C0-E586-46D9-80FD-4452E0790EE0}" destId="{4EC8BE81-8CF0-4B35-B2E0-328017C5D5E4}" srcOrd="0" destOrd="0" parTransId="{5DC23257-04B8-4501-9CDA-7DDE179B5E1A}" sibTransId="{410EEE7D-89B5-4267-B132-5B73996E7380}"/>
    <dgm:cxn modelId="{6237CA62-36CB-438E-9EED-AE5BC7D7161C}" type="presOf" srcId="{BA6AA19D-EF92-499D-A302-4C751E6F9160}" destId="{310FF0EF-CC9C-4A66-AF57-2FA655B3872A}" srcOrd="0" destOrd="0" presId="urn:microsoft.com/office/officeart/2008/layout/LinedList"/>
    <dgm:cxn modelId="{71183F6B-35ED-4DDA-80A8-FD8CD6C6809F}" srcId="{715899C0-E586-46D9-80FD-4452E0790EE0}" destId="{063227A8-00E1-429D-9E92-B30B4EE283CA}" srcOrd="4" destOrd="0" parTransId="{F7014AFD-4B21-4561-B97B-4A8F8322C1FB}" sibTransId="{6CD4DBE2-EF95-48D7-97F6-53418703E918}"/>
    <dgm:cxn modelId="{FC09EA53-D539-4633-B49C-E41E14D712E2}" type="presOf" srcId="{8C03A928-0308-4EC7-8688-8BE84D0EB8F5}" destId="{6EDBF813-F5AF-43FD-873B-6FEB81DAA17E}" srcOrd="0" destOrd="0" presId="urn:microsoft.com/office/officeart/2008/layout/LinedList"/>
    <dgm:cxn modelId="{18CA5357-DE80-463F-9A8D-756A6C4362C2}" srcId="{715899C0-E586-46D9-80FD-4452E0790EE0}" destId="{FD0D95A3-5BE4-4E82-9C0A-3DCE0799E421}" srcOrd="6" destOrd="0" parTransId="{63B6A27A-F552-45A1-931E-C07050F25BD1}" sibTransId="{501769E8-60DB-41FC-AC92-FECD1FBA3CA1}"/>
    <dgm:cxn modelId="{F87E4297-3F9D-4BCA-BBB5-E1FED3231FE4}" srcId="{715899C0-E586-46D9-80FD-4452E0790EE0}" destId="{F01669B9-3E19-4AFB-8636-CE610DD9A116}" srcOrd="5" destOrd="0" parTransId="{AF0707DA-34E9-4658-B32B-33426001E938}" sibTransId="{57C6C793-84E7-44B7-94CE-B9B14F04B5BF}"/>
    <dgm:cxn modelId="{766D60AC-BBD2-4265-A228-EC19CC58E986}" type="presOf" srcId="{1323C24F-7D95-4098-9BB5-C1973DC1CDE2}" destId="{A5598906-20AE-46BC-8916-BF1CC7DD8CC3}" srcOrd="0" destOrd="0" presId="urn:microsoft.com/office/officeart/2008/layout/LinedList"/>
    <dgm:cxn modelId="{8B76E6BC-855E-41F3-B6D2-BCDF2CDC206E}" srcId="{715899C0-E586-46D9-80FD-4452E0790EE0}" destId="{F235B129-B35D-4384-9D3F-00B70110B61D}" srcOrd="2" destOrd="0" parTransId="{7570FEB1-CBD0-464A-89A4-E41A009DF421}" sibTransId="{10BB20E8-E4E2-4B9D-8393-304749128589}"/>
    <dgm:cxn modelId="{577B48CC-D64F-4705-9684-7C806E2F14B7}" type="presOf" srcId="{FD0D95A3-5BE4-4E82-9C0A-3DCE0799E421}" destId="{7E59ECFF-C9B2-4197-8452-DCADAAAECEB4}" srcOrd="0" destOrd="0" presId="urn:microsoft.com/office/officeart/2008/layout/LinedList"/>
    <dgm:cxn modelId="{844C30D7-CA38-42D0-B2E9-F7BB35E42C2B}" type="presOf" srcId="{063227A8-00E1-429D-9E92-B30B4EE283CA}" destId="{40787AB5-BB32-4139-B2EF-8D2D82CADD69}" srcOrd="0" destOrd="0" presId="urn:microsoft.com/office/officeart/2008/layout/LinedList"/>
    <dgm:cxn modelId="{6BAB49DC-5664-42F4-B288-22DABFC39034}" type="presOf" srcId="{F235B129-B35D-4384-9D3F-00B70110B61D}" destId="{DCE668C2-BAD8-4BF1-BC2B-0E10B24A5537}" srcOrd="0" destOrd="0" presId="urn:microsoft.com/office/officeart/2008/layout/LinedList"/>
    <dgm:cxn modelId="{3AD272E0-5E95-4061-AE33-48D0E5313072}" srcId="{715899C0-E586-46D9-80FD-4452E0790EE0}" destId="{BA6AA19D-EF92-499D-A302-4C751E6F9160}" srcOrd="3" destOrd="0" parTransId="{AE063D06-1832-4830-B4F1-CAC271296F33}" sibTransId="{6F14AD85-6DA3-407E-8C2F-BEDF49D5E2A8}"/>
    <dgm:cxn modelId="{41C726E7-D9E0-49E2-8614-9ABCF1CB1BDF}" srcId="{8C03A928-0308-4EC7-8688-8BE84D0EB8F5}" destId="{715899C0-E586-46D9-80FD-4452E0790EE0}" srcOrd="0" destOrd="0" parTransId="{DA4872D9-1BAA-4F50-86E4-CABEC4C38F33}" sibTransId="{CB2B6BAD-CB7A-4840-8FB0-5AF41AD80122}"/>
    <dgm:cxn modelId="{CA6220EA-675A-4AA6-B3AC-F164C279ECE0}" type="presOf" srcId="{F01669B9-3E19-4AFB-8636-CE610DD9A116}" destId="{C29E034B-75AE-41FE-BA8D-7933AA1067C7}" srcOrd="0" destOrd="0" presId="urn:microsoft.com/office/officeart/2008/layout/LinedList"/>
    <dgm:cxn modelId="{6CAF74F2-6F80-420C-8D2F-EA1F049E96E3}" type="presOf" srcId="{715899C0-E586-46D9-80FD-4452E0790EE0}" destId="{4A37B1E5-FFA9-4C7C-A6AB-40649108BA42}" srcOrd="0" destOrd="0" presId="urn:microsoft.com/office/officeart/2008/layout/LinedList"/>
    <dgm:cxn modelId="{7E63A5A3-A1A8-4EA7-A5DD-6F68FF4B5B49}" type="presParOf" srcId="{6EDBF813-F5AF-43FD-873B-6FEB81DAA17E}" destId="{F40089FF-F072-4B07-A232-1712FE9D35F9}" srcOrd="0" destOrd="0" presId="urn:microsoft.com/office/officeart/2008/layout/LinedList"/>
    <dgm:cxn modelId="{3195385A-E444-4328-AC25-5E7510466D3C}" type="presParOf" srcId="{6EDBF813-F5AF-43FD-873B-6FEB81DAA17E}" destId="{DF3B0FA8-23F6-4A7F-A7D2-3F392A455D62}" srcOrd="1" destOrd="0" presId="urn:microsoft.com/office/officeart/2008/layout/LinedList"/>
    <dgm:cxn modelId="{35572F53-2E72-4C5E-8856-BEB36D53C024}" type="presParOf" srcId="{DF3B0FA8-23F6-4A7F-A7D2-3F392A455D62}" destId="{4A37B1E5-FFA9-4C7C-A6AB-40649108BA42}" srcOrd="0" destOrd="0" presId="urn:microsoft.com/office/officeart/2008/layout/LinedList"/>
    <dgm:cxn modelId="{3D2CA63A-EFE0-47EC-A6F7-094AC70994A4}" type="presParOf" srcId="{DF3B0FA8-23F6-4A7F-A7D2-3F392A455D62}" destId="{17223214-2A66-418D-B921-21A79337DE45}" srcOrd="1" destOrd="0" presId="urn:microsoft.com/office/officeart/2008/layout/LinedList"/>
    <dgm:cxn modelId="{EB1F1343-4199-4463-9CC4-0966C3F3D9BB}" type="presParOf" srcId="{17223214-2A66-418D-B921-21A79337DE45}" destId="{1FCB23DD-33AA-42CC-B516-5032DE94BD06}" srcOrd="0" destOrd="0" presId="urn:microsoft.com/office/officeart/2008/layout/LinedList"/>
    <dgm:cxn modelId="{846141B6-79B0-4179-A359-B977EAF67473}" type="presParOf" srcId="{17223214-2A66-418D-B921-21A79337DE45}" destId="{6BA65DB5-6684-4039-8FE3-C061A2C80C51}" srcOrd="1" destOrd="0" presId="urn:microsoft.com/office/officeart/2008/layout/LinedList"/>
    <dgm:cxn modelId="{A0E995FF-253D-40EE-AE1F-C178DCF8F40A}" type="presParOf" srcId="{6BA65DB5-6684-4039-8FE3-C061A2C80C51}" destId="{CC154F4F-37C4-4ADE-9318-6164C95C9BE1}" srcOrd="0" destOrd="0" presId="urn:microsoft.com/office/officeart/2008/layout/LinedList"/>
    <dgm:cxn modelId="{D18AA187-336B-4973-B9A9-D9B928452EF5}" type="presParOf" srcId="{6BA65DB5-6684-4039-8FE3-C061A2C80C51}" destId="{6DE755C2-DBC3-4114-AA5F-54A5EACCF1A2}" srcOrd="1" destOrd="0" presId="urn:microsoft.com/office/officeart/2008/layout/LinedList"/>
    <dgm:cxn modelId="{B1CF1B97-CC79-4D85-B4A7-7FCCD6FCF7AD}" type="presParOf" srcId="{6BA65DB5-6684-4039-8FE3-C061A2C80C51}" destId="{E9B392C0-7FFC-465C-9081-6467775E506A}" srcOrd="2" destOrd="0" presId="urn:microsoft.com/office/officeart/2008/layout/LinedList"/>
    <dgm:cxn modelId="{E0D99311-1F26-4037-B6E0-AFFEE65298D2}" type="presParOf" srcId="{17223214-2A66-418D-B921-21A79337DE45}" destId="{94F7AA55-150D-4AC4-B60D-E3AE05C9C223}" srcOrd="2" destOrd="0" presId="urn:microsoft.com/office/officeart/2008/layout/LinedList"/>
    <dgm:cxn modelId="{A179D73A-0F5C-4F1C-8A1C-5C5DF05DE4EB}" type="presParOf" srcId="{17223214-2A66-418D-B921-21A79337DE45}" destId="{FBD8A880-AA43-4243-A94D-8FCAAF859AA2}" srcOrd="3" destOrd="0" presId="urn:microsoft.com/office/officeart/2008/layout/LinedList"/>
    <dgm:cxn modelId="{65A17558-B619-4C57-AA58-0B650BD801D0}" type="presParOf" srcId="{17223214-2A66-418D-B921-21A79337DE45}" destId="{6AAD5E22-CD9E-4F98-9867-3A1AF04F6D8F}" srcOrd="4" destOrd="0" presId="urn:microsoft.com/office/officeart/2008/layout/LinedList"/>
    <dgm:cxn modelId="{02EB845F-647C-4A14-99AA-E6F95466FB6E}" type="presParOf" srcId="{6AAD5E22-CD9E-4F98-9867-3A1AF04F6D8F}" destId="{258C3FE1-81F8-40C5-B378-4A2F27302969}" srcOrd="0" destOrd="0" presId="urn:microsoft.com/office/officeart/2008/layout/LinedList"/>
    <dgm:cxn modelId="{FA053EB0-0EE8-4B12-9E5D-647E19AFCB67}" type="presParOf" srcId="{6AAD5E22-CD9E-4F98-9867-3A1AF04F6D8F}" destId="{A5598906-20AE-46BC-8916-BF1CC7DD8CC3}" srcOrd="1" destOrd="0" presId="urn:microsoft.com/office/officeart/2008/layout/LinedList"/>
    <dgm:cxn modelId="{C992D935-A17A-4862-B0B6-366993A09CB3}" type="presParOf" srcId="{6AAD5E22-CD9E-4F98-9867-3A1AF04F6D8F}" destId="{EFDEF251-2D6A-45DD-BF60-EBEF776C6646}" srcOrd="2" destOrd="0" presId="urn:microsoft.com/office/officeart/2008/layout/LinedList"/>
    <dgm:cxn modelId="{B1908C13-9DE1-4B41-9024-337FFADE823D}" type="presParOf" srcId="{17223214-2A66-418D-B921-21A79337DE45}" destId="{A1DDDB66-DEB4-4BB6-9100-D2B590BF9685}" srcOrd="5" destOrd="0" presId="urn:microsoft.com/office/officeart/2008/layout/LinedList"/>
    <dgm:cxn modelId="{069D47BF-FD28-47D1-89A8-0F104798473F}" type="presParOf" srcId="{17223214-2A66-418D-B921-21A79337DE45}" destId="{71FC0254-082B-4C72-814F-2BE203E82FAD}" srcOrd="6" destOrd="0" presId="urn:microsoft.com/office/officeart/2008/layout/LinedList"/>
    <dgm:cxn modelId="{64727611-E398-4719-AAA1-DE7CF6A0925C}" type="presParOf" srcId="{17223214-2A66-418D-B921-21A79337DE45}" destId="{28DB326C-67FF-48E0-80C4-384C7B1A3E9F}" srcOrd="7" destOrd="0" presId="urn:microsoft.com/office/officeart/2008/layout/LinedList"/>
    <dgm:cxn modelId="{ED31CFF0-1205-42A9-88EE-E176DA7137C5}" type="presParOf" srcId="{28DB326C-67FF-48E0-80C4-384C7B1A3E9F}" destId="{71323313-4DE3-4F6E-B13B-F6D26D360224}" srcOrd="0" destOrd="0" presId="urn:microsoft.com/office/officeart/2008/layout/LinedList"/>
    <dgm:cxn modelId="{67BDE5E2-356B-430D-BF5A-0CAC9EF50636}" type="presParOf" srcId="{28DB326C-67FF-48E0-80C4-384C7B1A3E9F}" destId="{DCE668C2-BAD8-4BF1-BC2B-0E10B24A5537}" srcOrd="1" destOrd="0" presId="urn:microsoft.com/office/officeart/2008/layout/LinedList"/>
    <dgm:cxn modelId="{FE2F9B7A-CCF0-4E99-BB98-F278F03238FF}" type="presParOf" srcId="{28DB326C-67FF-48E0-80C4-384C7B1A3E9F}" destId="{2D4C1CDD-1A83-461F-A417-3EB5FE8DA863}" srcOrd="2" destOrd="0" presId="urn:microsoft.com/office/officeart/2008/layout/LinedList"/>
    <dgm:cxn modelId="{DEE41F12-C137-48E4-BEFD-D7FF849F7978}" type="presParOf" srcId="{17223214-2A66-418D-B921-21A79337DE45}" destId="{4A7AB2CC-A650-4D7C-8F87-E18285EB2CE8}" srcOrd="8" destOrd="0" presId="urn:microsoft.com/office/officeart/2008/layout/LinedList"/>
    <dgm:cxn modelId="{B82B3159-DA45-453D-AC17-6A0856443E29}" type="presParOf" srcId="{17223214-2A66-418D-B921-21A79337DE45}" destId="{92B89A3C-51DF-4774-83A9-3693613ED395}" srcOrd="9" destOrd="0" presId="urn:microsoft.com/office/officeart/2008/layout/LinedList"/>
    <dgm:cxn modelId="{E5AA82AA-159E-44F1-B7F4-FE2E75A635DE}" type="presParOf" srcId="{17223214-2A66-418D-B921-21A79337DE45}" destId="{2D1C52C6-4A7E-4C3A-9787-C61ADFF1D0BF}" srcOrd="10" destOrd="0" presId="urn:microsoft.com/office/officeart/2008/layout/LinedList"/>
    <dgm:cxn modelId="{18C75D8B-65B4-44FB-BBC3-1846BE65F788}" type="presParOf" srcId="{2D1C52C6-4A7E-4C3A-9787-C61ADFF1D0BF}" destId="{683FCB4E-6FEE-44B4-B405-1487205B4008}" srcOrd="0" destOrd="0" presId="urn:microsoft.com/office/officeart/2008/layout/LinedList"/>
    <dgm:cxn modelId="{15D3D1C9-188E-4EC9-A9CE-C1B56EF647A9}" type="presParOf" srcId="{2D1C52C6-4A7E-4C3A-9787-C61ADFF1D0BF}" destId="{310FF0EF-CC9C-4A66-AF57-2FA655B3872A}" srcOrd="1" destOrd="0" presId="urn:microsoft.com/office/officeart/2008/layout/LinedList"/>
    <dgm:cxn modelId="{58B4CBF6-271A-451B-AD0D-BCFEF6788F1E}" type="presParOf" srcId="{2D1C52C6-4A7E-4C3A-9787-C61ADFF1D0BF}" destId="{CD413612-57E3-47FA-9CB2-9BA97B5C3AB2}" srcOrd="2" destOrd="0" presId="urn:microsoft.com/office/officeart/2008/layout/LinedList"/>
    <dgm:cxn modelId="{1E843011-295E-47E4-80CC-95C00C770731}" type="presParOf" srcId="{17223214-2A66-418D-B921-21A79337DE45}" destId="{7772CAF0-7D06-4A3F-A9EA-6F406D0E686D}" srcOrd="11" destOrd="0" presId="urn:microsoft.com/office/officeart/2008/layout/LinedList"/>
    <dgm:cxn modelId="{CEBC5C7D-36BA-4136-A45E-B87E500F8D1C}" type="presParOf" srcId="{17223214-2A66-418D-B921-21A79337DE45}" destId="{471CD4CA-CC7D-4C1E-9D1C-818B1DB26934}" srcOrd="12" destOrd="0" presId="urn:microsoft.com/office/officeart/2008/layout/LinedList"/>
    <dgm:cxn modelId="{77D33479-29EA-4978-86F9-4A1D8B83AB8F}" type="presParOf" srcId="{17223214-2A66-418D-B921-21A79337DE45}" destId="{3C41E9CE-C30D-4868-82D6-99202C7F93F7}" srcOrd="13" destOrd="0" presId="urn:microsoft.com/office/officeart/2008/layout/LinedList"/>
    <dgm:cxn modelId="{AA071327-BA93-4256-AB24-5689ED49F842}" type="presParOf" srcId="{3C41E9CE-C30D-4868-82D6-99202C7F93F7}" destId="{0683665A-2B6C-4E1D-9CB4-345E03EFF7C8}" srcOrd="0" destOrd="0" presId="urn:microsoft.com/office/officeart/2008/layout/LinedList"/>
    <dgm:cxn modelId="{A2A20640-A138-412A-A187-51EF6089AEC1}" type="presParOf" srcId="{3C41E9CE-C30D-4868-82D6-99202C7F93F7}" destId="{40787AB5-BB32-4139-B2EF-8D2D82CADD69}" srcOrd="1" destOrd="0" presId="urn:microsoft.com/office/officeart/2008/layout/LinedList"/>
    <dgm:cxn modelId="{DB5D4CDE-E6C3-4C91-B769-19A04EDC462A}" type="presParOf" srcId="{3C41E9CE-C30D-4868-82D6-99202C7F93F7}" destId="{A4AD055B-5AEA-489D-B442-95D3870EA4D7}" srcOrd="2" destOrd="0" presId="urn:microsoft.com/office/officeart/2008/layout/LinedList"/>
    <dgm:cxn modelId="{BAF2BBA2-7D6E-4188-9985-4CC253653D4B}" type="presParOf" srcId="{17223214-2A66-418D-B921-21A79337DE45}" destId="{C95A5FA1-EA7B-4469-B592-0C1A12D50ECA}" srcOrd="14" destOrd="0" presId="urn:microsoft.com/office/officeart/2008/layout/LinedList"/>
    <dgm:cxn modelId="{F939B8A0-E6AD-4BF5-90D8-4BABC3A05AA8}" type="presParOf" srcId="{17223214-2A66-418D-B921-21A79337DE45}" destId="{66430AB7-BAC4-47AD-B7D7-5A8BB6D60DF1}" srcOrd="15" destOrd="0" presId="urn:microsoft.com/office/officeart/2008/layout/LinedList"/>
    <dgm:cxn modelId="{E97385CE-16C0-4981-92A6-672076BECA6E}" type="presParOf" srcId="{17223214-2A66-418D-B921-21A79337DE45}" destId="{3A6FBC6D-4FF5-4750-99C8-009DE6A899A1}" srcOrd="16" destOrd="0" presId="urn:microsoft.com/office/officeart/2008/layout/LinedList"/>
    <dgm:cxn modelId="{E9240D92-0692-4D06-9504-F1CE50BFEBD2}" type="presParOf" srcId="{3A6FBC6D-4FF5-4750-99C8-009DE6A899A1}" destId="{E3E24D1F-3F79-4C48-857E-BA738B685586}" srcOrd="0" destOrd="0" presId="urn:microsoft.com/office/officeart/2008/layout/LinedList"/>
    <dgm:cxn modelId="{AA3E9220-2925-4EBF-BEF0-F7CDD8C3E7E9}" type="presParOf" srcId="{3A6FBC6D-4FF5-4750-99C8-009DE6A899A1}" destId="{C29E034B-75AE-41FE-BA8D-7933AA1067C7}" srcOrd="1" destOrd="0" presId="urn:microsoft.com/office/officeart/2008/layout/LinedList"/>
    <dgm:cxn modelId="{083DE508-D7CA-4332-A88A-20ECC5D203FE}" type="presParOf" srcId="{3A6FBC6D-4FF5-4750-99C8-009DE6A899A1}" destId="{8D096D89-448B-476D-9DB2-E9CE7DB7C21E}" srcOrd="2" destOrd="0" presId="urn:microsoft.com/office/officeart/2008/layout/LinedList"/>
    <dgm:cxn modelId="{80C09F07-CF8B-40D2-9A1A-5ACC013F182C}" type="presParOf" srcId="{17223214-2A66-418D-B921-21A79337DE45}" destId="{5DDB31D8-6405-4A49-B27A-16B10F9D7599}" srcOrd="17" destOrd="0" presId="urn:microsoft.com/office/officeart/2008/layout/LinedList"/>
    <dgm:cxn modelId="{E4D12B3F-8C9F-4BB4-A451-B0DBB9C18C1B}" type="presParOf" srcId="{17223214-2A66-418D-B921-21A79337DE45}" destId="{BCEFB67E-93A2-4EE1-B426-6C058102835B}" srcOrd="18" destOrd="0" presId="urn:microsoft.com/office/officeart/2008/layout/LinedList"/>
    <dgm:cxn modelId="{142C2FC2-DB26-45BE-97AF-7A6BD6A25E1C}" type="presParOf" srcId="{17223214-2A66-418D-B921-21A79337DE45}" destId="{26BB8210-AEF1-40B6-9E6D-CB37AEB4BDE9}" srcOrd="19" destOrd="0" presId="urn:microsoft.com/office/officeart/2008/layout/LinedList"/>
    <dgm:cxn modelId="{4342666B-185D-448F-9E3D-3F319AB09245}" type="presParOf" srcId="{26BB8210-AEF1-40B6-9E6D-CB37AEB4BDE9}" destId="{7D6A50FF-7F7C-4F76-B29C-96BF8EEA5686}" srcOrd="0" destOrd="0" presId="urn:microsoft.com/office/officeart/2008/layout/LinedList"/>
    <dgm:cxn modelId="{B9B4B902-4A35-4E53-B362-0F524B50A70A}" type="presParOf" srcId="{26BB8210-AEF1-40B6-9E6D-CB37AEB4BDE9}" destId="{7E59ECFF-C9B2-4197-8452-DCADAAAECEB4}" srcOrd="1" destOrd="0" presId="urn:microsoft.com/office/officeart/2008/layout/LinedList"/>
    <dgm:cxn modelId="{403CF978-0E5B-46AB-A8EA-37DD682D4696}" type="presParOf" srcId="{26BB8210-AEF1-40B6-9E6D-CB37AEB4BDE9}" destId="{AD740219-BA0F-4531-BF5E-5EF26AA89FCC}" srcOrd="2" destOrd="0" presId="urn:microsoft.com/office/officeart/2008/layout/LinedList"/>
    <dgm:cxn modelId="{6BA4EC85-C23A-45FB-87CD-059CC9D5F055}" type="presParOf" srcId="{17223214-2A66-418D-B921-21A79337DE45}" destId="{2E02307B-1302-4207-8CBD-EF96F4A380B0}" srcOrd="20" destOrd="0" presId="urn:microsoft.com/office/officeart/2008/layout/LinedList"/>
    <dgm:cxn modelId="{E3CD7AD3-BB86-4326-9135-DE3FCF4E5E80}" type="presParOf" srcId="{17223214-2A66-418D-B921-21A79337DE45}" destId="{B54AF16F-4674-4B41-89C9-F7B108260C05}" srcOrd="21" destOrd="0" presId="urn:microsoft.com/office/officeart/2008/layout/LinedList"/>
  </dgm:cxnLst>
  <dgm:bg/>
  <dgm:whole>
    <a:ln>
      <a:solidFill>
        <a:schemeClr val="tx1"/>
      </a:solidFill>
    </a:ln>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4.xml><?xml version="1.0" encoding="utf-8"?>
<dgm:dataModel xmlns:dgm="http://schemas.openxmlformats.org/drawingml/2006/diagram" xmlns:a="http://schemas.openxmlformats.org/drawingml/2006/main">
  <dgm:ptLst>
    <dgm:pt modelId="{6E1A6C9F-5BAA-4C4D-A898-213198CB4575}" type="doc">
      <dgm:prSet loTypeId="urn:microsoft.com/office/officeart/2005/8/layout/radial6" loCatId="relationship" qsTypeId="urn:microsoft.com/office/officeart/2005/8/quickstyle/simple1" qsCatId="simple" csTypeId="urn:microsoft.com/office/officeart/2005/8/colors/accent1_2" csCatId="accent1" phldr="1"/>
      <dgm:spPr/>
      <dgm:t>
        <a:bodyPr/>
        <a:lstStyle/>
        <a:p>
          <a:endParaRPr lang="en-US"/>
        </a:p>
      </dgm:t>
    </dgm:pt>
    <dgm:pt modelId="{87AAB36F-FFE9-4CFB-868F-9B2FD7E8E302}">
      <dgm:prSet phldrT="[Text]" custT="1"/>
      <dgm:spPr>
        <a:noFill/>
        <a:ln w="38100">
          <a:solidFill>
            <a:srgbClr val="002060"/>
          </a:solidFill>
        </a:ln>
      </dgm:spPr>
      <dgm:t>
        <a:bodyPr/>
        <a:lstStyle/>
        <a:p>
          <a:r>
            <a:rPr lang="en-US" sz="1550" b="1" dirty="0">
              <a:solidFill>
                <a:schemeClr val="tx1"/>
              </a:solidFill>
            </a:rPr>
            <a:t>Major Solar Components</a:t>
          </a:r>
        </a:p>
      </dgm:t>
    </dgm:pt>
    <dgm:pt modelId="{50330EC5-E0EF-4BF8-9881-8E30B4BFCFEB}" type="parTrans" cxnId="{D9B4D66B-88E1-4B92-9058-6307D6716433}">
      <dgm:prSet/>
      <dgm:spPr/>
      <dgm:t>
        <a:bodyPr/>
        <a:lstStyle/>
        <a:p>
          <a:endParaRPr lang="en-US" sz="2000"/>
        </a:p>
      </dgm:t>
    </dgm:pt>
    <dgm:pt modelId="{68142EA5-AF22-48C8-A9B1-58A1C50F61D1}" type="sibTrans" cxnId="{D9B4D66B-88E1-4B92-9058-6307D6716433}">
      <dgm:prSet/>
      <dgm:spPr/>
      <dgm:t>
        <a:bodyPr/>
        <a:lstStyle/>
        <a:p>
          <a:endParaRPr lang="en-US" sz="2000"/>
        </a:p>
      </dgm:t>
    </dgm:pt>
    <dgm:pt modelId="{50222600-0F08-4257-A083-D13DB48EFBDD}">
      <dgm:prSet phldrT="[Text]" custT="1"/>
      <dgm:spPr>
        <a:solidFill>
          <a:schemeClr val="tx1">
            <a:lumMod val="75000"/>
            <a:lumOff val="25000"/>
          </a:schemeClr>
        </a:solidFill>
      </dgm:spPr>
      <dgm:t>
        <a:bodyPr/>
        <a:lstStyle/>
        <a:p>
          <a:r>
            <a:rPr lang="en-US" sz="900" b="1" dirty="0">
              <a:solidFill>
                <a:schemeClr val="bg1"/>
              </a:solidFill>
            </a:rPr>
            <a:t>Silver Paste</a:t>
          </a:r>
          <a:r>
            <a:rPr lang="en-US" sz="900" dirty="0">
              <a:solidFill>
                <a:schemeClr val="bg1"/>
              </a:solidFill>
            </a:rPr>
            <a:t> (for printing of finders and bus bars for Solar PV cells)</a:t>
          </a:r>
        </a:p>
      </dgm:t>
    </dgm:pt>
    <dgm:pt modelId="{4655B1C1-7F62-41C5-BBDA-2FC766C90350}" type="parTrans" cxnId="{A1E2A5BC-5098-4774-8BBC-F881C4C9D0AE}">
      <dgm:prSet/>
      <dgm:spPr/>
      <dgm:t>
        <a:bodyPr/>
        <a:lstStyle/>
        <a:p>
          <a:endParaRPr lang="en-US" sz="2000"/>
        </a:p>
      </dgm:t>
    </dgm:pt>
    <dgm:pt modelId="{C5622370-892C-4C73-A92E-304A37CE21AC}" type="sibTrans" cxnId="{A1E2A5BC-5098-4774-8BBC-F881C4C9D0AE}">
      <dgm:prSet/>
      <dgm:spPr/>
      <dgm:t>
        <a:bodyPr/>
        <a:lstStyle/>
        <a:p>
          <a:endParaRPr lang="en-US" sz="2000"/>
        </a:p>
      </dgm:t>
    </dgm:pt>
    <dgm:pt modelId="{D90D3D89-337A-42EF-85E6-4FFF0E5EA95B}">
      <dgm:prSet phldrT="[Text]" custT="1"/>
      <dgm:spPr>
        <a:solidFill>
          <a:srgbClr val="FFC000"/>
        </a:solidFill>
      </dgm:spPr>
      <dgm:t>
        <a:bodyPr/>
        <a:lstStyle/>
        <a:p>
          <a:r>
            <a:rPr lang="en-US" sz="900" b="1" dirty="0">
              <a:solidFill>
                <a:schemeClr val="tx1"/>
              </a:solidFill>
            </a:rPr>
            <a:t>Aluminum Paste</a:t>
          </a:r>
        </a:p>
        <a:p>
          <a:r>
            <a:rPr lang="en-US" sz="900" dirty="0">
              <a:solidFill>
                <a:schemeClr val="tx1"/>
              </a:solidFill>
            </a:rPr>
            <a:t>(</a:t>
          </a:r>
          <a:r>
            <a:rPr lang="en-GB" sz="900" dirty="0">
              <a:solidFill>
                <a:schemeClr val="tx1"/>
              </a:solidFill>
            </a:rPr>
            <a:t>used for the back-surface field of PV cells)</a:t>
          </a:r>
          <a:endParaRPr lang="en-US" sz="900" dirty="0">
            <a:solidFill>
              <a:schemeClr val="tx1"/>
            </a:solidFill>
          </a:endParaRPr>
        </a:p>
      </dgm:t>
    </dgm:pt>
    <dgm:pt modelId="{5D85E6DA-B3EE-4BE6-9A80-9E5B96474B29}" type="parTrans" cxnId="{831D3A93-3616-4E8A-8CA3-6B6B94BC43AA}">
      <dgm:prSet/>
      <dgm:spPr/>
      <dgm:t>
        <a:bodyPr/>
        <a:lstStyle/>
        <a:p>
          <a:endParaRPr lang="en-US" sz="2000"/>
        </a:p>
      </dgm:t>
    </dgm:pt>
    <dgm:pt modelId="{A403A301-8F78-4596-A2B9-669D393D87B7}" type="sibTrans" cxnId="{831D3A93-3616-4E8A-8CA3-6B6B94BC43AA}">
      <dgm:prSet/>
      <dgm:spPr/>
      <dgm:t>
        <a:bodyPr/>
        <a:lstStyle/>
        <a:p>
          <a:endParaRPr lang="en-US" sz="2000"/>
        </a:p>
      </dgm:t>
    </dgm:pt>
    <dgm:pt modelId="{55C67C25-7112-4D47-A29D-C29E52E676BC}">
      <dgm:prSet phldrT="[Text]" custT="1"/>
      <dgm:spPr>
        <a:solidFill>
          <a:srgbClr val="43B02A"/>
        </a:solidFill>
      </dgm:spPr>
      <dgm:t>
        <a:bodyPr/>
        <a:lstStyle/>
        <a:p>
          <a:r>
            <a:rPr lang="en-GB" sz="900" b="1" dirty="0"/>
            <a:t>Chemicals</a:t>
          </a:r>
        </a:p>
        <a:p>
          <a:r>
            <a:rPr lang="en-GB" sz="900" b="1" dirty="0"/>
            <a:t>(</a:t>
          </a:r>
          <a:r>
            <a:rPr lang="en-GB" sz="900" dirty="0"/>
            <a:t>e.g. </a:t>
          </a:r>
          <a:r>
            <a:rPr lang="en-IN" sz="900" dirty="0"/>
            <a:t>POCl</a:t>
          </a:r>
          <a:r>
            <a:rPr lang="en-IN" sz="900" baseline="-25000" dirty="0"/>
            <a:t>3</a:t>
          </a:r>
          <a:r>
            <a:rPr lang="en-IN" sz="900" dirty="0"/>
            <a:t>, Hydrogen Peroxide, HF, KOH, HCl, H</a:t>
          </a:r>
          <a:r>
            <a:rPr lang="en-IN" sz="900" baseline="-25000" dirty="0"/>
            <a:t>2</a:t>
          </a:r>
          <a:r>
            <a:rPr lang="en-IN" sz="900" dirty="0"/>
            <a:t>SO</a:t>
          </a:r>
          <a:r>
            <a:rPr lang="en-IN" sz="900" baseline="-25000" dirty="0"/>
            <a:t>4, </a:t>
          </a:r>
          <a:r>
            <a:rPr lang="en-IN" sz="900" dirty="0"/>
            <a:t>HNO</a:t>
          </a:r>
          <a:r>
            <a:rPr lang="en-IN" sz="900" baseline="-25000" dirty="0"/>
            <a:t>3)</a:t>
          </a:r>
          <a:endParaRPr lang="en-US" sz="900" dirty="0"/>
        </a:p>
      </dgm:t>
    </dgm:pt>
    <dgm:pt modelId="{C24D01C4-95C8-49CB-9CFF-87F81726665F}" type="parTrans" cxnId="{95D6DFFE-9E6F-4E4F-8A9C-1C50704A8701}">
      <dgm:prSet/>
      <dgm:spPr/>
      <dgm:t>
        <a:bodyPr/>
        <a:lstStyle/>
        <a:p>
          <a:endParaRPr lang="en-US" sz="2000"/>
        </a:p>
      </dgm:t>
    </dgm:pt>
    <dgm:pt modelId="{22AA837B-A3B6-4F6B-86C9-64B3C2DD9F94}" type="sibTrans" cxnId="{95D6DFFE-9E6F-4E4F-8A9C-1C50704A8701}">
      <dgm:prSet/>
      <dgm:spPr/>
      <dgm:t>
        <a:bodyPr/>
        <a:lstStyle/>
        <a:p>
          <a:endParaRPr lang="en-US" sz="2000"/>
        </a:p>
      </dgm:t>
    </dgm:pt>
    <dgm:pt modelId="{85E68CD4-CCE9-4F7B-8A91-9B4A5CC7E2E6}">
      <dgm:prSet phldrT="[Text]" custT="1"/>
      <dgm:spPr>
        <a:solidFill>
          <a:schemeClr val="accent2">
            <a:lumMod val="40000"/>
            <a:lumOff val="60000"/>
          </a:schemeClr>
        </a:solidFill>
      </dgm:spPr>
      <dgm:t>
        <a:bodyPr/>
        <a:lstStyle/>
        <a:p>
          <a:r>
            <a:rPr lang="en-GB" sz="1000" b="1" dirty="0">
              <a:solidFill>
                <a:schemeClr val="tx1"/>
              </a:solidFill>
            </a:rPr>
            <a:t>Gases</a:t>
          </a:r>
        </a:p>
        <a:p>
          <a:r>
            <a:rPr lang="en-GB" sz="1000" b="0" dirty="0">
              <a:solidFill>
                <a:schemeClr val="tx1"/>
              </a:solidFill>
            </a:rPr>
            <a:t>(e.g. Nitrogen, Oxygen, Mono Silane, Ammonia, TMA, N</a:t>
          </a:r>
          <a:r>
            <a:rPr lang="en-GB" sz="700" b="0" dirty="0">
              <a:solidFill>
                <a:schemeClr val="tx1"/>
              </a:solidFill>
            </a:rPr>
            <a:t>2</a:t>
          </a:r>
          <a:r>
            <a:rPr lang="en-GB" sz="1000" b="0" dirty="0">
              <a:solidFill>
                <a:schemeClr val="tx1"/>
              </a:solidFill>
            </a:rPr>
            <a:t>O)</a:t>
          </a:r>
          <a:endParaRPr lang="en-US" sz="1000" b="0" dirty="0">
            <a:solidFill>
              <a:schemeClr val="tx1"/>
            </a:solidFill>
          </a:endParaRPr>
        </a:p>
      </dgm:t>
    </dgm:pt>
    <dgm:pt modelId="{F3906B7B-ACAE-4D2E-B2FA-063A3DA49B20}" type="parTrans" cxnId="{C4370EC8-05A2-4001-896B-FCDD5B0118F6}">
      <dgm:prSet/>
      <dgm:spPr/>
      <dgm:t>
        <a:bodyPr/>
        <a:lstStyle/>
        <a:p>
          <a:endParaRPr lang="en-US" sz="2000"/>
        </a:p>
      </dgm:t>
    </dgm:pt>
    <dgm:pt modelId="{041A7E1B-F12A-42DE-A17B-6EFF6B0A8EA4}" type="sibTrans" cxnId="{C4370EC8-05A2-4001-896B-FCDD5B0118F6}">
      <dgm:prSet/>
      <dgm:spPr/>
      <dgm:t>
        <a:bodyPr/>
        <a:lstStyle/>
        <a:p>
          <a:endParaRPr lang="en-US" sz="2000"/>
        </a:p>
      </dgm:t>
    </dgm:pt>
    <dgm:pt modelId="{F8D9F62C-941B-4871-8F07-1068EE35B8E0}">
      <dgm:prSet phldrT="[Text]" custT="1"/>
      <dgm:spPr>
        <a:solidFill>
          <a:schemeClr val="accent2"/>
        </a:solidFill>
      </dgm:spPr>
      <dgm:t>
        <a:bodyPr/>
        <a:lstStyle/>
        <a:p>
          <a:r>
            <a:rPr lang="en-GB" sz="900" b="1" dirty="0"/>
            <a:t>Junction box</a:t>
          </a:r>
        </a:p>
        <a:p>
          <a:r>
            <a:rPr lang="en-GB" sz="900" b="0" dirty="0"/>
            <a:t>(helps prevent system damage)</a:t>
          </a:r>
          <a:endParaRPr lang="en-US" sz="900" b="0" dirty="0"/>
        </a:p>
      </dgm:t>
    </dgm:pt>
    <dgm:pt modelId="{8A3E701F-A964-4257-BA89-961C49FD2D3A}" type="parTrans" cxnId="{845A0DDF-56BD-45AA-A63F-D9A2A8C255DB}">
      <dgm:prSet/>
      <dgm:spPr/>
      <dgm:t>
        <a:bodyPr/>
        <a:lstStyle/>
        <a:p>
          <a:endParaRPr lang="en-US" sz="2000"/>
        </a:p>
      </dgm:t>
    </dgm:pt>
    <dgm:pt modelId="{B520625A-9F09-4E5E-92D7-B653C9C57412}" type="sibTrans" cxnId="{845A0DDF-56BD-45AA-A63F-D9A2A8C255DB}">
      <dgm:prSet/>
      <dgm:spPr/>
      <dgm:t>
        <a:bodyPr/>
        <a:lstStyle/>
        <a:p>
          <a:endParaRPr lang="en-US" sz="2000"/>
        </a:p>
      </dgm:t>
    </dgm:pt>
    <dgm:pt modelId="{AE6EED4A-DF74-4DF6-9EAD-C9BDE7C17E9B}">
      <dgm:prSet phldrT="[Text]" custT="1"/>
      <dgm:spPr>
        <a:solidFill>
          <a:srgbClr val="FFC000"/>
        </a:solidFill>
      </dgm:spPr>
      <dgm:t>
        <a:bodyPr/>
        <a:lstStyle/>
        <a:p>
          <a:r>
            <a:rPr lang="en-GB" sz="900" b="1" dirty="0">
              <a:solidFill>
                <a:schemeClr val="tx1"/>
              </a:solidFill>
            </a:rPr>
            <a:t>Aluminium frame</a:t>
          </a:r>
        </a:p>
        <a:p>
          <a:r>
            <a:rPr lang="en-GB" sz="900" b="1" dirty="0">
              <a:solidFill>
                <a:schemeClr val="tx1"/>
              </a:solidFill>
            </a:rPr>
            <a:t>(</a:t>
          </a:r>
          <a:r>
            <a:rPr lang="en-GB" sz="900" dirty="0">
              <a:solidFill>
                <a:schemeClr val="tx1"/>
              </a:solidFill>
            </a:rPr>
            <a:t>Protects the laminate and play a certain role in sealing and supporting)</a:t>
          </a:r>
          <a:endParaRPr lang="en-US" sz="900" dirty="0">
            <a:solidFill>
              <a:schemeClr val="tx1"/>
            </a:solidFill>
          </a:endParaRPr>
        </a:p>
      </dgm:t>
    </dgm:pt>
    <dgm:pt modelId="{70A52572-A4A9-4393-B1A6-8809662E28F6}" type="parTrans" cxnId="{0487F26F-E9ED-499B-9E29-D98717B76C0B}">
      <dgm:prSet/>
      <dgm:spPr/>
      <dgm:t>
        <a:bodyPr/>
        <a:lstStyle/>
        <a:p>
          <a:endParaRPr lang="en-US" sz="2000"/>
        </a:p>
      </dgm:t>
    </dgm:pt>
    <dgm:pt modelId="{0C5AE920-2434-4BDC-AEC9-8D8F139025C7}" type="sibTrans" cxnId="{0487F26F-E9ED-499B-9E29-D98717B76C0B}">
      <dgm:prSet/>
      <dgm:spPr/>
      <dgm:t>
        <a:bodyPr/>
        <a:lstStyle/>
        <a:p>
          <a:endParaRPr lang="en-US" sz="2000"/>
        </a:p>
      </dgm:t>
    </dgm:pt>
    <dgm:pt modelId="{ECF3CC8E-B05E-4B8A-A6CB-5C8623DA3C2C}">
      <dgm:prSet phldrT="[Text]" custT="1"/>
      <dgm:spPr>
        <a:solidFill>
          <a:schemeClr val="accent2"/>
        </a:solidFill>
      </dgm:spPr>
      <dgm:t>
        <a:bodyPr/>
        <a:lstStyle/>
        <a:p>
          <a:r>
            <a:rPr lang="en-GB" sz="900" b="1" dirty="0"/>
            <a:t>Glass </a:t>
          </a:r>
        </a:p>
        <a:p>
          <a:r>
            <a:rPr lang="en-GB" sz="900" b="0" dirty="0"/>
            <a:t>(Ultra-white tempered, high transmittance)</a:t>
          </a:r>
          <a:endParaRPr lang="en-US" sz="900" b="0" dirty="0"/>
        </a:p>
      </dgm:t>
    </dgm:pt>
    <dgm:pt modelId="{4C734054-A671-4500-A132-F943A91BD1E2}" type="parTrans" cxnId="{A99A2763-2CBC-4156-9F44-224A5DEEE80C}">
      <dgm:prSet/>
      <dgm:spPr/>
      <dgm:t>
        <a:bodyPr/>
        <a:lstStyle/>
        <a:p>
          <a:endParaRPr lang="en-US" sz="2000"/>
        </a:p>
      </dgm:t>
    </dgm:pt>
    <dgm:pt modelId="{B22116E2-8004-4089-AA99-1315BF92A73C}" type="sibTrans" cxnId="{A99A2763-2CBC-4156-9F44-224A5DEEE80C}">
      <dgm:prSet/>
      <dgm:spPr/>
      <dgm:t>
        <a:bodyPr/>
        <a:lstStyle/>
        <a:p>
          <a:endParaRPr lang="en-US" sz="2000"/>
        </a:p>
      </dgm:t>
    </dgm:pt>
    <dgm:pt modelId="{9AE36470-548C-4797-AA20-38AD1335FBD9}">
      <dgm:prSet phldrT="[Text]" custT="1"/>
      <dgm:spPr>
        <a:solidFill>
          <a:schemeClr val="accent2"/>
        </a:solidFill>
      </dgm:spPr>
      <dgm:t>
        <a:bodyPr/>
        <a:lstStyle/>
        <a:p>
          <a:r>
            <a:rPr lang="en-GB" sz="900" b="1" dirty="0"/>
            <a:t>EVA </a:t>
          </a:r>
        </a:p>
        <a:p>
          <a:r>
            <a:rPr lang="en-GB" sz="900" b="1" dirty="0"/>
            <a:t>(</a:t>
          </a:r>
          <a:r>
            <a:rPr lang="en-GB" sz="900" dirty="0"/>
            <a:t>common encapsulation)</a:t>
          </a:r>
          <a:endParaRPr lang="en-US" sz="900" dirty="0"/>
        </a:p>
      </dgm:t>
    </dgm:pt>
    <dgm:pt modelId="{E84031A9-0657-41A5-941A-7625F6533725}" type="parTrans" cxnId="{FC1DE2D4-54A1-4196-A73A-5BF7084F8431}">
      <dgm:prSet/>
      <dgm:spPr/>
      <dgm:t>
        <a:bodyPr/>
        <a:lstStyle/>
        <a:p>
          <a:endParaRPr lang="en-US" sz="2000"/>
        </a:p>
      </dgm:t>
    </dgm:pt>
    <dgm:pt modelId="{C7707A83-A924-4EDF-A6A8-50DA15F053FD}" type="sibTrans" cxnId="{FC1DE2D4-54A1-4196-A73A-5BF7084F8431}">
      <dgm:prSet/>
      <dgm:spPr/>
      <dgm:t>
        <a:bodyPr/>
        <a:lstStyle/>
        <a:p>
          <a:endParaRPr lang="en-US" sz="2000"/>
        </a:p>
      </dgm:t>
    </dgm:pt>
    <dgm:pt modelId="{85914527-054F-499C-9FC6-8B2368F66BD7}">
      <dgm:prSet phldrT="[Text]" custT="1"/>
      <dgm:spPr>
        <a:solidFill>
          <a:schemeClr val="accent2"/>
        </a:solidFill>
      </dgm:spPr>
      <dgm:t>
        <a:bodyPr/>
        <a:lstStyle/>
        <a:p>
          <a:r>
            <a:rPr lang="en-GB" sz="900" b="1" dirty="0"/>
            <a:t>Anodized </a:t>
          </a:r>
          <a:r>
            <a:rPr lang="en-GB" sz="900" b="1" dirty="0" err="1"/>
            <a:t>aluminum</a:t>
          </a:r>
          <a:r>
            <a:rPr lang="en-GB" sz="900" b="1" dirty="0"/>
            <a:t> frame</a:t>
          </a:r>
        </a:p>
        <a:p>
          <a:r>
            <a:rPr lang="en-GB" sz="900" b="1" dirty="0"/>
            <a:t>(offers </a:t>
          </a:r>
          <a:r>
            <a:rPr lang="en-IN" sz="900" dirty="0"/>
            <a:t>resistance to corrosion)</a:t>
          </a:r>
          <a:endParaRPr lang="en-US" sz="900" dirty="0"/>
        </a:p>
      </dgm:t>
    </dgm:pt>
    <dgm:pt modelId="{F1D21FE8-060C-4A2C-88B5-9037F11AAC44}" type="parTrans" cxnId="{EE5EC745-9226-45A2-8661-8D486E1513E3}">
      <dgm:prSet/>
      <dgm:spPr/>
      <dgm:t>
        <a:bodyPr/>
        <a:lstStyle/>
        <a:p>
          <a:endParaRPr lang="en-US" sz="2000"/>
        </a:p>
      </dgm:t>
    </dgm:pt>
    <dgm:pt modelId="{BAECAAD6-05E3-46AE-9A7D-D1E4F4E2F777}" type="sibTrans" cxnId="{EE5EC745-9226-45A2-8661-8D486E1513E3}">
      <dgm:prSet/>
      <dgm:spPr/>
      <dgm:t>
        <a:bodyPr/>
        <a:lstStyle/>
        <a:p>
          <a:endParaRPr lang="en-US" sz="2000"/>
        </a:p>
      </dgm:t>
    </dgm:pt>
    <dgm:pt modelId="{7449C356-8166-458F-A16C-8E8DFA428EC2}">
      <dgm:prSet phldrT="[Text]" custT="1"/>
      <dgm:spPr>
        <a:solidFill>
          <a:schemeClr val="accent2"/>
        </a:solidFill>
      </dgm:spPr>
      <dgm:t>
        <a:bodyPr/>
        <a:lstStyle/>
        <a:p>
          <a:r>
            <a:rPr lang="en-GB" sz="900" b="1" dirty="0"/>
            <a:t>Ribbon</a:t>
          </a:r>
        </a:p>
        <a:p>
          <a:r>
            <a:rPr lang="en-GB" sz="900" b="1" dirty="0"/>
            <a:t>(</a:t>
          </a:r>
          <a:r>
            <a:rPr lang="en-IN" sz="900" dirty="0"/>
            <a:t>copper core material with Sn/Pb-60/40 coating and thickness of 0.21 mm)</a:t>
          </a:r>
          <a:endParaRPr lang="en-US" sz="900" dirty="0"/>
        </a:p>
      </dgm:t>
    </dgm:pt>
    <dgm:pt modelId="{2AD6C67B-AEA9-45A9-9C24-452F2FB94C3F}" type="parTrans" cxnId="{95167875-232A-46C8-8F77-E0D1424600C8}">
      <dgm:prSet/>
      <dgm:spPr/>
      <dgm:t>
        <a:bodyPr/>
        <a:lstStyle/>
        <a:p>
          <a:endParaRPr lang="en-US" sz="2000"/>
        </a:p>
      </dgm:t>
    </dgm:pt>
    <dgm:pt modelId="{3FDD3BCA-2B8A-4D9B-BAC8-996606A98EBA}" type="sibTrans" cxnId="{95167875-232A-46C8-8F77-E0D1424600C8}">
      <dgm:prSet/>
      <dgm:spPr/>
      <dgm:t>
        <a:bodyPr/>
        <a:lstStyle/>
        <a:p>
          <a:endParaRPr lang="en-US" sz="2000"/>
        </a:p>
      </dgm:t>
    </dgm:pt>
    <dgm:pt modelId="{DE30A5B3-E0BA-4A8F-8A8C-A18B86DAB7C6}" type="pres">
      <dgm:prSet presAssocID="{6E1A6C9F-5BAA-4C4D-A898-213198CB4575}" presName="Name0" presStyleCnt="0">
        <dgm:presLayoutVars>
          <dgm:chMax val="1"/>
          <dgm:dir/>
          <dgm:animLvl val="ctr"/>
          <dgm:resizeHandles val="exact"/>
        </dgm:presLayoutVars>
      </dgm:prSet>
      <dgm:spPr/>
    </dgm:pt>
    <dgm:pt modelId="{7236356A-8127-43A4-90D3-7398D450059B}" type="pres">
      <dgm:prSet presAssocID="{87AAB36F-FFE9-4CFB-868F-9B2FD7E8E302}" presName="centerShape" presStyleLbl="node0" presStyleIdx="0" presStyleCnt="1" custScaleX="186599" custScaleY="173766"/>
      <dgm:spPr/>
    </dgm:pt>
    <dgm:pt modelId="{E2CCC8D8-CAF3-44E9-9B39-43B92DCC33C7}" type="pres">
      <dgm:prSet presAssocID="{50222600-0F08-4257-A083-D13DB48EFBDD}" presName="node" presStyleLbl="node1" presStyleIdx="0" presStyleCnt="10" custScaleX="147167" custScaleY="152039">
        <dgm:presLayoutVars>
          <dgm:bulletEnabled val="1"/>
        </dgm:presLayoutVars>
      </dgm:prSet>
      <dgm:spPr/>
    </dgm:pt>
    <dgm:pt modelId="{79351BD4-B96A-4391-BA76-2FB58230ABAA}" type="pres">
      <dgm:prSet presAssocID="{50222600-0F08-4257-A083-D13DB48EFBDD}" presName="dummy" presStyleCnt="0"/>
      <dgm:spPr/>
    </dgm:pt>
    <dgm:pt modelId="{75989309-D123-4643-A7E7-CAA090AD28E7}" type="pres">
      <dgm:prSet presAssocID="{C5622370-892C-4C73-A92E-304A37CE21AC}" presName="sibTrans" presStyleLbl="sibTrans2D1" presStyleIdx="0" presStyleCnt="10"/>
      <dgm:spPr/>
    </dgm:pt>
    <dgm:pt modelId="{0F1F77AC-C827-4166-AEA4-13B71466B6B5}" type="pres">
      <dgm:prSet presAssocID="{D90D3D89-337A-42EF-85E6-4FFF0E5EA95B}" presName="node" presStyleLbl="node1" presStyleIdx="1" presStyleCnt="10" custScaleX="147167" custScaleY="152039">
        <dgm:presLayoutVars>
          <dgm:bulletEnabled val="1"/>
        </dgm:presLayoutVars>
      </dgm:prSet>
      <dgm:spPr/>
    </dgm:pt>
    <dgm:pt modelId="{C06266B3-C008-4359-A00F-3B6CBD581CAB}" type="pres">
      <dgm:prSet presAssocID="{D90D3D89-337A-42EF-85E6-4FFF0E5EA95B}" presName="dummy" presStyleCnt="0"/>
      <dgm:spPr/>
    </dgm:pt>
    <dgm:pt modelId="{311F77CB-F70E-41BD-BA57-341AB8EE0BB5}" type="pres">
      <dgm:prSet presAssocID="{A403A301-8F78-4596-A2B9-669D393D87B7}" presName="sibTrans" presStyleLbl="sibTrans2D1" presStyleIdx="1" presStyleCnt="10"/>
      <dgm:spPr/>
    </dgm:pt>
    <dgm:pt modelId="{5E208683-5D7C-4C56-B76A-8206E6F0DB69}" type="pres">
      <dgm:prSet presAssocID="{55C67C25-7112-4D47-A29D-C29E52E676BC}" presName="node" presStyleLbl="node1" presStyleIdx="2" presStyleCnt="10" custScaleX="147167" custScaleY="152039">
        <dgm:presLayoutVars>
          <dgm:bulletEnabled val="1"/>
        </dgm:presLayoutVars>
      </dgm:prSet>
      <dgm:spPr/>
    </dgm:pt>
    <dgm:pt modelId="{95E0A7F7-8C24-48E4-BBC3-EA61B41473EC}" type="pres">
      <dgm:prSet presAssocID="{55C67C25-7112-4D47-A29D-C29E52E676BC}" presName="dummy" presStyleCnt="0"/>
      <dgm:spPr/>
    </dgm:pt>
    <dgm:pt modelId="{F97EB7C4-644D-4A21-8C2D-FC2449969818}" type="pres">
      <dgm:prSet presAssocID="{22AA837B-A3B6-4F6B-86C9-64B3C2DD9F94}" presName="sibTrans" presStyleLbl="sibTrans2D1" presStyleIdx="2" presStyleCnt="10"/>
      <dgm:spPr/>
    </dgm:pt>
    <dgm:pt modelId="{5FAFA827-BBA2-4C5C-9130-FF8CFE925631}" type="pres">
      <dgm:prSet presAssocID="{85E68CD4-CCE9-4F7B-8A91-9B4A5CC7E2E6}" presName="node" presStyleLbl="node1" presStyleIdx="3" presStyleCnt="10" custScaleX="147167" custScaleY="152039">
        <dgm:presLayoutVars>
          <dgm:bulletEnabled val="1"/>
        </dgm:presLayoutVars>
      </dgm:prSet>
      <dgm:spPr/>
    </dgm:pt>
    <dgm:pt modelId="{5301AC43-C7C3-47DF-8262-253AD1CF7BF4}" type="pres">
      <dgm:prSet presAssocID="{85E68CD4-CCE9-4F7B-8A91-9B4A5CC7E2E6}" presName="dummy" presStyleCnt="0"/>
      <dgm:spPr/>
    </dgm:pt>
    <dgm:pt modelId="{2043DA83-90E9-43AA-9F29-B7E0B9227EA1}" type="pres">
      <dgm:prSet presAssocID="{041A7E1B-F12A-42DE-A17B-6EFF6B0A8EA4}" presName="sibTrans" presStyleLbl="sibTrans2D1" presStyleIdx="3" presStyleCnt="10"/>
      <dgm:spPr/>
    </dgm:pt>
    <dgm:pt modelId="{6C2497DB-3731-4D11-B237-D9BF146D3200}" type="pres">
      <dgm:prSet presAssocID="{AE6EED4A-DF74-4DF6-9EAD-C9BDE7C17E9B}" presName="node" presStyleLbl="node1" presStyleIdx="4" presStyleCnt="10" custScaleX="147167" custScaleY="152039">
        <dgm:presLayoutVars>
          <dgm:bulletEnabled val="1"/>
        </dgm:presLayoutVars>
      </dgm:prSet>
      <dgm:spPr/>
    </dgm:pt>
    <dgm:pt modelId="{B89DFE27-163C-47F1-AB40-FED996DAE800}" type="pres">
      <dgm:prSet presAssocID="{AE6EED4A-DF74-4DF6-9EAD-C9BDE7C17E9B}" presName="dummy" presStyleCnt="0"/>
      <dgm:spPr/>
    </dgm:pt>
    <dgm:pt modelId="{2152D778-D8C4-49B5-8127-5A4AD46B4962}" type="pres">
      <dgm:prSet presAssocID="{0C5AE920-2434-4BDC-AEC9-8D8F139025C7}" presName="sibTrans" presStyleLbl="sibTrans2D1" presStyleIdx="4" presStyleCnt="10"/>
      <dgm:spPr/>
    </dgm:pt>
    <dgm:pt modelId="{0D6AD583-4E4A-4AAD-B65F-29873D8A6858}" type="pres">
      <dgm:prSet presAssocID="{ECF3CC8E-B05E-4B8A-A6CB-5C8623DA3C2C}" presName="node" presStyleLbl="node1" presStyleIdx="5" presStyleCnt="10" custScaleX="147167" custScaleY="152039">
        <dgm:presLayoutVars>
          <dgm:bulletEnabled val="1"/>
        </dgm:presLayoutVars>
      </dgm:prSet>
      <dgm:spPr/>
    </dgm:pt>
    <dgm:pt modelId="{F2AF3CC4-B8C0-4788-97DA-A55E625FF019}" type="pres">
      <dgm:prSet presAssocID="{ECF3CC8E-B05E-4B8A-A6CB-5C8623DA3C2C}" presName="dummy" presStyleCnt="0"/>
      <dgm:spPr/>
    </dgm:pt>
    <dgm:pt modelId="{40A62CC0-DCA2-4D54-A6E1-CC9F671ED535}" type="pres">
      <dgm:prSet presAssocID="{B22116E2-8004-4089-AA99-1315BF92A73C}" presName="sibTrans" presStyleLbl="sibTrans2D1" presStyleIdx="5" presStyleCnt="10"/>
      <dgm:spPr/>
    </dgm:pt>
    <dgm:pt modelId="{F2C3E2D3-BB7C-40E0-8E01-75110CAA10E7}" type="pres">
      <dgm:prSet presAssocID="{9AE36470-548C-4797-AA20-38AD1335FBD9}" presName="node" presStyleLbl="node1" presStyleIdx="6" presStyleCnt="10" custScaleX="147167" custScaleY="152039">
        <dgm:presLayoutVars>
          <dgm:bulletEnabled val="1"/>
        </dgm:presLayoutVars>
      </dgm:prSet>
      <dgm:spPr/>
    </dgm:pt>
    <dgm:pt modelId="{C873E15A-DE05-4639-A7C2-255F6E09B17B}" type="pres">
      <dgm:prSet presAssocID="{9AE36470-548C-4797-AA20-38AD1335FBD9}" presName="dummy" presStyleCnt="0"/>
      <dgm:spPr/>
    </dgm:pt>
    <dgm:pt modelId="{C61C95D4-7B97-4324-8323-A8BCAA2ED7CB}" type="pres">
      <dgm:prSet presAssocID="{C7707A83-A924-4EDF-A6A8-50DA15F053FD}" presName="sibTrans" presStyleLbl="sibTrans2D1" presStyleIdx="6" presStyleCnt="10"/>
      <dgm:spPr/>
    </dgm:pt>
    <dgm:pt modelId="{81869AF4-37DD-4942-AA56-10E6F663EAEC}" type="pres">
      <dgm:prSet presAssocID="{85914527-054F-499C-9FC6-8B2368F66BD7}" presName="node" presStyleLbl="node1" presStyleIdx="7" presStyleCnt="10" custScaleX="147167" custScaleY="152039">
        <dgm:presLayoutVars>
          <dgm:bulletEnabled val="1"/>
        </dgm:presLayoutVars>
      </dgm:prSet>
      <dgm:spPr/>
    </dgm:pt>
    <dgm:pt modelId="{926E1675-1770-4E7C-90C0-9BD85F5B68C2}" type="pres">
      <dgm:prSet presAssocID="{85914527-054F-499C-9FC6-8B2368F66BD7}" presName="dummy" presStyleCnt="0"/>
      <dgm:spPr/>
    </dgm:pt>
    <dgm:pt modelId="{506F6845-64BF-4336-83B1-38A719775AEC}" type="pres">
      <dgm:prSet presAssocID="{BAECAAD6-05E3-46AE-9A7D-D1E4F4E2F777}" presName="sibTrans" presStyleLbl="sibTrans2D1" presStyleIdx="7" presStyleCnt="10"/>
      <dgm:spPr/>
    </dgm:pt>
    <dgm:pt modelId="{E06BC2B2-07DA-4805-828F-9DA6C748ED1E}" type="pres">
      <dgm:prSet presAssocID="{7449C356-8166-458F-A16C-8E8DFA428EC2}" presName="node" presStyleLbl="node1" presStyleIdx="8" presStyleCnt="10" custScaleX="147167" custScaleY="152039">
        <dgm:presLayoutVars>
          <dgm:bulletEnabled val="1"/>
        </dgm:presLayoutVars>
      </dgm:prSet>
      <dgm:spPr/>
    </dgm:pt>
    <dgm:pt modelId="{EB764C53-56E9-486F-BFF8-152BD84C2B2E}" type="pres">
      <dgm:prSet presAssocID="{7449C356-8166-458F-A16C-8E8DFA428EC2}" presName="dummy" presStyleCnt="0"/>
      <dgm:spPr/>
    </dgm:pt>
    <dgm:pt modelId="{D1B0DA6A-D988-4B8E-B695-647CCEE9359F}" type="pres">
      <dgm:prSet presAssocID="{3FDD3BCA-2B8A-4D9B-BAC8-996606A98EBA}" presName="sibTrans" presStyleLbl="sibTrans2D1" presStyleIdx="8" presStyleCnt="10"/>
      <dgm:spPr/>
    </dgm:pt>
    <dgm:pt modelId="{4C7A12AE-1228-4F67-A0F5-7B904879289B}" type="pres">
      <dgm:prSet presAssocID="{F8D9F62C-941B-4871-8F07-1068EE35B8E0}" presName="node" presStyleLbl="node1" presStyleIdx="9" presStyleCnt="10" custScaleX="147167" custScaleY="152039">
        <dgm:presLayoutVars>
          <dgm:bulletEnabled val="1"/>
        </dgm:presLayoutVars>
      </dgm:prSet>
      <dgm:spPr/>
    </dgm:pt>
    <dgm:pt modelId="{9F6C36A2-2B17-43A7-8CFE-27F524615CD1}" type="pres">
      <dgm:prSet presAssocID="{F8D9F62C-941B-4871-8F07-1068EE35B8E0}" presName="dummy" presStyleCnt="0"/>
      <dgm:spPr/>
    </dgm:pt>
    <dgm:pt modelId="{69AAD94B-2728-47F8-AF7C-F1D7AAEF59BF}" type="pres">
      <dgm:prSet presAssocID="{B520625A-9F09-4E5E-92D7-B653C9C57412}" presName="sibTrans" presStyleLbl="sibTrans2D1" presStyleIdx="9" presStyleCnt="10"/>
      <dgm:spPr/>
    </dgm:pt>
  </dgm:ptLst>
  <dgm:cxnLst>
    <dgm:cxn modelId="{F2BB7105-9DAC-45CA-9AF7-FBBC5AD387AE}" type="presOf" srcId="{55C67C25-7112-4D47-A29D-C29E52E676BC}" destId="{5E208683-5D7C-4C56-B76A-8206E6F0DB69}" srcOrd="0" destOrd="0" presId="urn:microsoft.com/office/officeart/2005/8/layout/radial6"/>
    <dgm:cxn modelId="{F97F1712-32F1-4F66-9C2C-62C9172F6BD9}" type="presOf" srcId="{BAECAAD6-05E3-46AE-9A7D-D1E4F4E2F777}" destId="{506F6845-64BF-4336-83B1-38A719775AEC}" srcOrd="0" destOrd="0" presId="urn:microsoft.com/office/officeart/2005/8/layout/radial6"/>
    <dgm:cxn modelId="{5CA67812-DCE4-406F-857D-BC4E58111D3D}" type="presOf" srcId="{AE6EED4A-DF74-4DF6-9EAD-C9BDE7C17E9B}" destId="{6C2497DB-3731-4D11-B237-D9BF146D3200}" srcOrd="0" destOrd="0" presId="urn:microsoft.com/office/officeart/2005/8/layout/radial6"/>
    <dgm:cxn modelId="{18B46C17-3591-4A66-92B9-E50D2D762183}" type="presOf" srcId="{041A7E1B-F12A-42DE-A17B-6EFF6B0A8EA4}" destId="{2043DA83-90E9-43AA-9F29-B7E0B9227EA1}" srcOrd="0" destOrd="0" presId="urn:microsoft.com/office/officeart/2005/8/layout/radial6"/>
    <dgm:cxn modelId="{B543782B-D882-43C1-A887-71C5E6763227}" type="presOf" srcId="{A403A301-8F78-4596-A2B9-669D393D87B7}" destId="{311F77CB-F70E-41BD-BA57-341AB8EE0BB5}" srcOrd="0" destOrd="0" presId="urn:microsoft.com/office/officeart/2005/8/layout/radial6"/>
    <dgm:cxn modelId="{9D7F762D-1D19-4287-AE9E-CF4CF7D55F83}" type="presOf" srcId="{ECF3CC8E-B05E-4B8A-A6CB-5C8623DA3C2C}" destId="{0D6AD583-4E4A-4AAD-B65F-29873D8A6858}" srcOrd="0" destOrd="0" presId="urn:microsoft.com/office/officeart/2005/8/layout/radial6"/>
    <dgm:cxn modelId="{84C87633-F1A8-4FA7-B4FA-3085160158BF}" type="presOf" srcId="{C7707A83-A924-4EDF-A6A8-50DA15F053FD}" destId="{C61C95D4-7B97-4324-8323-A8BCAA2ED7CB}" srcOrd="0" destOrd="0" presId="urn:microsoft.com/office/officeart/2005/8/layout/radial6"/>
    <dgm:cxn modelId="{8CB2A933-00F7-43B2-B5A8-64D23A3B299E}" type="presOf" srcId="{85914527-054F-499C-9FC6-8B2368F66BD7}" destId="{81869AF4-37DD-4942-AA56-10E6F663EAEC}" srcOrd="0" destOrd="0" presId="urn:microsoft.com/office/officeart/2005/8/layout/radial6"/>
    <dgm:cxn modelId="{7C3ABE36-3085-4B09-B0F0-76092AF6E151}" type="presOf" srcId="{B22116E2-8004-4089-AA99-1315BF92A73C}" destId="{40A62CC0-DCA2-4D54-A6E1-CC9F671ED535}" srcOrd="0" destOrd="0" presId="urn:microsoft.com/office/officeart/2005/8/layout/radial6"/>
    <dgm:cxn modelId="{67A53461-E83C-47FF-9F36-B8C3E50167F9}" type="presOf" srcId="{85E68CD4-CCE9-4F7B-8A91-9B4A5CC7E2E6}" destId="{5FAFA827-BBA2-4C5C-9130-FF8CFE925631}" srcOrd="0" destOrd="0" presId="urn:microsoft.com/office/officeart/2005/8/layout/radial6"/>
    <dgm:cxn modelId="{A99A2763-2CBC-4156-9F44-224A5DEEE80C}" srcId="{87AAB36F-FFE9-4CFB-868F-9B2FD7E8E302}" destId="{ECF3CC8E-B05E-4B8A-A6CB-5C8623DA3C2C}" srcOrd="5" destOrd="0" parTransId="{4C734054-A671-4500-A132-F943A91BD1E2}" sibTransId="{B22116E2-8004-4089-AA99-1315BF92A73C}"/>
    <dgm:cxn modelId="{EE5EC745-9226-45A2-8661-8D486E1513E3}" srcId="{87AAB36F-FFE9-4CFB-868F-9B2FD7E8E302}" destId="{85914527-054F-499C-9FC6-8B2368F66BD7}" srcOrd="7" destOrd="0" parTransId="{F1D21FE8-060C-4A2C-88B5-9037F11AAC44}" sibTransId="{BAECAAD6-05E3-46AE-9A7D-D1E4F4E2F777}"/>
    <dgm:cxn modelId="{D9B4D66B-88E1-4B92-9058-6307D6716433}" srcId="{6E1A6C9F-5BAA-4C4D-A898-213198CB4575}" destId="{87AAB36F-FFE9-4CFB-868F-9B2FD7E8E302}" srcOrd="0" destOrd="0" parTransId="{50330EC5-E0EF-4BF8-9881-8E30B4BFCFEB}" sibTransId="{68142EA5-AF22-48C8-A9B1-58A1C50F61D1}"/>
    <dgm:cxn modelId="{D441646C-6E95-4F64-9CF0-11E220DF3E27}" type="presOf" srcId="{3FDD3BCA-2B8A-4D9B-BAC8-996606A98EBA}" destId="{D1B0DA6A-D988-4B8E-B695-647CCEE9359F}" srcOrd="0" destOrd="0" presId="urn:microsoft.com/office/officeart/2005/8/layout/radial6"/>
    <dgm:cxn modelId="{E0EE7D6D-D697-4188-9043-54AD5AEFE0C8}" type="presOf" srcId="{50222600-0F08-4257-A083-D13DB48EFBDD}" destId="{E2CCC8D8-CAF3-44E9-9B39-43B92DCC33C7}" srcOrd="0" destOrd="0" presId="urn:microsoft.com/office/officeart/2005/8/layout/radial6"/>
    <dgm:cxn modelId="{0487F26F-E9ED-499B-9E29-D98717B76C0B}" srcId="{87AAB36F-FFE9-4CFB-868F-9B2FD7E8E302}" destId="{AE6EED4A-DF74-4DF6-9EAD-C9BDE7C17E9B}" srcOrd="4" destOrd="0" parTransId="{70A52572-A4A9-4393-B1A6-8809662E28F6}" sibTransId="{0C5AE920-2434-4BDC-AEC9-8D8F139025C7}"/>
    <dgm:cxn modelId="{F22A1B73-B62F-4A22-81E5-69661D3F0989}" type="presOf" srcId="{C5622370-892C-4C73-A92E-304A37CE21AC}" destId="{75989309-D123-4643-A7E7-CAA090AD28E7}" srcOrd="0" destOrd="0" presId="urn:microsoft.com/office/officeart/2005/8/layout/radial6"/>
    <dgm:cxn modelId="{95167875-232A-46C8-8F77-E0D1424600C8}" srcId="{87AAB36F-FFE9-4CFB-868F-9B2FD7E8E302}" destId="{7449C356-8166-458F-A16C-8E8DFA428EC2}" srcOrd="8" destOrd="0" parTransId="{2AD6C67B-AEA9-45A9-9C24-452F2FB94C3F}" sibTransId="{3FDD3BCA-2B8A-4D9B-BAC8-996606A98EBA}"/>
    <dgm:cxn modelId="{93313557-F037-4FCA-A3E3-784ECA105858}" type="presOf" srcId="{F8D9F62C-941B-4871-8F07-1068EE35B8E0}" destId="{4C7A12AE-1228-4F67-A0F5-7B904879289B}" srcOrd="0" destOrd="0" presId="urn:microsoft.com/office/officeart/2005/8/layout/radial6"/>
    <dgm:cxn modelId="{B202E582-53CF-4849-B30F-D5B3EDF0EA51}" type="presOf" srcId="{22AA837B-A3B6-4F6B-86C9-64B3C2DD9F94}" destId="{F97EB7C4-644D-4A21-8C2D-FC2449969818}" srcOrd="0" destOrd="0" presId="urn:microsoft.com/office/officeart/2005/8/layout/radial6"/>
    <dgm:cxn modelId="{831D3A93-3616-4E8A-8CA3-6B6B94BC43AA}" srcId="{87AAB36F-FFE9-4CFB-868F-9B2FD7E8E302}" destId="{D90D3D89-337A-42EF-85E6-4FFF0E5EA95B}" srcOrd="1" destOrd="0" parTransId="{5D85E6DA-B3EE-4BE6-9A80-9E5B96474B29}" sibTransId="{A403A301-8F78-4596-A2B9-669D393D87B7}"/>
    <dgm:cxn modelId="{B82F6997-7AC3-45D6-B4EC-BEB649E13905}" type="presOf" srcId="{6E1A6C9F-5BAA-4C4D-A898-213198CB4575}" destId="{DE30A5B3-E0BA-4A8F-8A8C-A18B86DAB7C6}" srcOrd="0" destOrd="0" presId="urn:microsoft.com/office/officeart/2005/8/layout/radial6"/>
    <dgm:cxn modelId="{A1E2A5BC-5098-4774-8BBC-F881C4C9D0AE}" srcId="{87AAB36F-FFE9-4CFB-868F-9B2FD7E8E302}" destId="{50222600-0F08-4257-A083-D13DB48EFBDD}" srcOrd="0" destOrd="0" parTransId="{4655B1C1-7F62-41C5-BBDA-2FC766C90350}" sibTransId="{C5622370-892C-4C73-A92E-304A37CE21AC}"/>
    <dgm:cxn modelId="{A683F1C3-D9B5-4C5E-9F88-D9D949EED48B}" type="presOf" srcId="{87AAB36F-FFE9-4CFB-868F-9B2FD7E8E302}" destId="{7236356A-8127-43A4-90D3-7398D450059B}" srcOrd="0" destOrd="0" presId="urn:microsoft.com/office/officeart/2005/8/layout/radial6"/>
    <dgm:cxn modelId="{C4370EC8-05A2-4001-896B-FCDD5B0118F6}" srcId="{87AAB36F-FFE9-4CFB-868F-9B2FD7E8E302}" destId="{85E68CD4-CCE9-4F7B-8A91-9B4A5CC7E2E6}" srcOrd="3" destOrd="0" parTransId="{F3906B7B-ACAE-4D2E-B2FA-063A3DA49B20}" sibTransId="{041A7E1B-F12A-42DE-A17B-6EFF6B0A8EA4}"/>
    <dgm:cxn modelId="{BC4682CD-0A61-4899-B3AE-E8069507471E}" type="presOf" srcId="{0C5AE920-2434-4BDC-AEC9-8D8F139025C7}" destId="{2152D778-D8C4-49B5-8127-5A4AD46B4962}" srcOrd="0" destOrd="0" presId="urn:microsoft.com/office/officeart/2005/8/layout/radial6"/>
    <dgm:cxn modelId="{FC1DE2D4-54A1-4196-A73A-5BF7084F8431}" srcId="{87AAB36F-FFE9-4CFB-868F-9B2FD7E8E302}" destId="{9AE36470-548C-4797-AA20-38AD1335FBD9}" srcOrd="6" destOrd="0" parTransId="{E84031A9-0657-41A5-941A-7625F6533725}" sibTransId="{C7707A83-A924-4EDF-A6A8-50DA15F053FD}"/>
    <dgm:cxn modelId="{845A0DDF-56BD-45AA-A63F-D9A2A8C255DB}" srcId="{87AAB36F-FFE9-4CFB-868F-9B2FD7E8E302}" destId="{F8D9F62C-941B-4871-8F07-1068EE35B8E0}" srcOrd="9" destOrd="0" parTransId="{8A3E701F-A964-4257-BA89-961C49FD2D3A}" sibTransId="{B520625A-9F09-4E5E-92D7-B653C9C57412}"/>
    <dgm:cxn modelId="{A51D41DF-78EA-4880-889B-88AF56796E0E}" type="presOf" srcId="{D90D3D89-337A-42EF-85E6-4FFF0E5EA95B}" destId="{0F1F77AC-C827-4166-AEA4-13B71466B6B5}" srcOrd="0" destOrd="0" presId="urn:microsoft.com/office/officeart/2005/8/layout/radial6"/>
    <dgm:cxn modelId="{239549DF-5497-4052-BCC4-BB0DFC4BA6A6}" type="presOf" srcId="{B520625A-9F09-4E5E-92D7-B653C9C57412}" destId="{69AAD94B-2728-47F8-AF7C-F1D7AAEF59BF}" srcOrd="0" destOrd="0" presId="urn:microsoft.com/office/officeart/2005/8/layout/radial6"/>
    <dgm:cxn modelId="{30FD71E3-ED33-425D-9773-DEBD34E0AD1B}" type="presOf" srcId="{9AE36470-548C-4797-AA20-38AD1335FBD9}" destId="{F2C3E2D3-BB7C-40E0-8E01-75110CAA10E7}" srcOrd="0" destOrd="0" presId="urn:microsoft.com/office/officeart/2005/8/layout/radial6"/>
    <dgm:cxn modelId="{86BD87EE-35C8-45FD-8561-DDFDABF8E5EB}" type="presOf" srcId="{7449C356-8166-458F-A16C-8E8DFA428EC2}" destId="{E06BC2B2-07DA-4805-828F-9DA6C748ED1E}" srcOrd="0" destOrd="0" presId="urn:microsoft.com/office/officeart/2005/8/layout/radial6"/>
    <dgm:cxn modelId="{95D6DFFE-9E6F-4E4F-8A9C-1C50704A8701}" srcId="{87AAB36F-FFE9-4CFB-868F-9B2FD7E8E302}" destId="{55C67C25-7112-4D47-A29D-C29E52E676BC}" srcOrd="2" destOrd="0" parTransId="{C24D01C4-95C8-49CB-9CFF-87F81726665F}" sibTransId="{22AA837B-A3B6-4F6B-86C9-64B3C2DD9F94}"/>
    <dgm:cxn modelId="{CB3F5C5E-7207-4150-9FCF-B7A8ABCD562E}" type="presParOf" srcId="{DE30A5B3-E0BA-4A8F-8A8C-A18B86DAB7C6}" destId="{7236356A-8127-43A4-90D3-7398D450059B}" srcOrd="0" destOrd="0" presId="urn:microsoft.com/office/officeart/2005/8/layout/radial6"/>
    <dgm:cxn modelId="{DD64DF5A-9153-47B3-93D5-AB8314F30F88}" type="presParOf" srcId="{DE30A5B3-E0BA-4A8F-8A8C-A18B86DAB7C6}" destId="{E2CCC8D8-CAF3-44E9-9B39-43B92DCC33C7}" srcOrd="1" destOrd="0" presId="urn:microsoft.com/office/officeart/2005/8/layout/radial6"/>
    <dgm:cxn modelId="{939DB9DD-17BC-4319-AC57-15800CB53480}" type="presParOf" srcId="{DE30A5B3-E0BA-4A8F-8A8C-A18B86DAB7C6}" destId="{79351BD4-B96A-4391-BA76-2FB58230ABAA}" srcOrd="2" destOrd="0" presId="urn:microsoft.com/office/officeart/2005/8/layout/radial6"/>
    <dgm:cxn modelId="{B7129F94-7E85-4D40-9B88-68099528637B}" type="presParOf" srcId="{DE30A5B3-E0BA-4A8F-8A8C-A18B86DAB7C6}" destId="{75989309-D123-4643-A7E7-CAA090AD28E7}" srcOrd="3" destOrd="0" presId="urn:microsoft.com/office/officeart/2005/8/layout/radial6"/>
    <dgm:cxn modelId="{A8AAF037-0490-410A-ADB7-1EE10BA07FDB}" type="presParOf" srcId="{DE30A5B3-E0BA-4A8F-8A8C-A18B86DAB7C6}" destId="{0F1F77AC-C827-4166-AEA4-13B71466B6B5}" srcOrd="4" destOrd="0" presId="urn:microsoft.com/office/officeart/2005/8/layout/radial6"/>
    <dgm:cxn modelId="{5553E5AC-7905-4770-BC3E-DA12F8E425C8}" type="presParOf" srcId="{DE30A5B3-E0BA-4A8F-8A8C-A18B86DAB7C6}" destId="{C06266B3-C008-4359-A00F-3B6CBD581CAB}" srcOrd="5" destOrd="0" presId="urn:microsoft.com/office/officeart/2005/8/layout/radial6"/>
    <dgm:cxn modelId="{B823E0F7-AC93-46E2-B1FD-172F54624D22}" type="presParOf" srcId="{DE30A5B3-E0BA-4A8F-8A8C-A18B86DAB7C6}" destId="{311F77CB-F70E-41BD-BA57-341AB8EE0BB5}" srcOrd="6" destOrd="0" presId="urn:microsoft.com/office/officeart/2005/8/layout/radial6"/>
    <dgm:cxn modelId="{983CB18E-EB12-40A3-9FFC-D20F1832B3A4}" type="presParOf" srcId="{DE30A5B3-E0BA-4A8F-8A8C-A18B86DAB7C6}" destId="{5E208683-5D7C-4C56-B76A-8206E6F0DB69}" srcOrd="7" destOrd="0" presId="urn:microsoft.com/office/officeart/2005/8/layout/radial6"/>
    <dgm:cxn modelId="{9DA375B1-88E9-4F26-AD19-042AE80D0D86}" type="presParOf" srcId="{DE30A5B3-E0BA-4A8F-8A8C-A18B86DAB7C6}" destId="{95E0A7F7-8C24-48E4-BBC3-EA61B41473EC}" srcOrd="8" destOrd="0" presId="urn:microsoft.com/office/officeart/2005/8/layout/radial6"/>
    <dgm:cxn modelId="{3625632B-6575-4BDA-8DE1-5529244A556E}" type="presParOf" srcId="{DE30A5B3-E0BA-4A8F-8A8C-A18B86DAB7C6}" destId="{F97EB7C4-644D-4A21-8C2D-FC2449969818}" srcOrd="9" destOrd="0" presId="urn:microsoft.com/office/officeart/2005/8/layout/radial6"/>
    <dgm:cxn modelId="{BE16D1C6-8A0C-4228-A63F-7B51549DBA3A}" type="presParOf" srcId="{DE30A5B3-E0BA-4A8F-8A8C-A18B86DAB7C6}" destId="{5FAFA827-BBA2-4C5C-9130-FF8CFE925631}" srcOrd="10" destOrd="0" presId="urn:microsoft.com/office/officeart/2005/8/layout/radial6"/>
    <dgm:cxn modelId="{41AD1ACE-3BAB-4302-A143-8CB57359BF78}" type="presParOf" srcId="{DE30A5B3-E0BA-4A8F-8A8C-A18B86DAB7C6}" destId="{5301AC43-C7C3-47DF-8262-253AD1CF7BF4}" srcOrd="11" destOrd="0" presId="urn:microsoft.com/office/officeart/2005/8/layout/radial6"/>
    <dgm:cxn modelId="{B7104A05-258F-4AA9-BA70-07435FEB8759}" type="presParOf" srcId="{DE30A5B3-E0BA-4A8F-8A8C-A18B86DAB7C6}" destId="{2043DA83-90E9-43AA-9F29-B7E0B9227EA1}" srcOrd="12" destOrd="0" presId="urn:microsoft.com/office/officeart/2005/8/layout/radial6"/>
    <dgm:cxn modelId="{E55B7B01-74A9-4107-8F05-BE8BD5DE80B5}" type="presParOf" srcId="{DE30A5B3-E0BA-4A8F-8A8C-A18B86DAB7C6}" destId="{6C2497DB-3731-4D11-B237-D9BF146D3200}" srcOrd="13" destOrd="0" presId="urn:microsoft.com/office/officeart/2005/8/layout/radial6"/>
    <dgm:cxn modelId="{6F2F8422-7168-4582-9AF8-1228EF52E99F}" type="presParOf" srcId="{DE30A5B3-E0BA-4A8F-8A8C-A18B86DAB7C6}" destId="{B89DFE27-163C-47F1-AB40-FED996DAE800}" srcOrd="14" destOrd="0" presId="urn:microsoft.com/office/officeart/2005/8/layout/radial6"/>
    <dgm:cxn modelId="{BDC9035F-5537-48EC-B37C-EB104A942800}" type="presParOf" srcId="{DE30A5B3-E0BA-4A8F-8A8C-A18B86DAB7C6}" destId="{2152D778-D8C4-49B5-8127-5A4AD46B4962}" srcOrd="15" destOrd="0" presId="urn:microsoft.com/office/officeart/2005/8/layout/radial6"/>
    <dgm:cxn modelId="{A775A53F-E986-4677-9D9E-DC3CC68D1D38}" type="presParOf" srcId="{DE30A5B3-E0BA-4A8F-8A8C-A18B86DAB7C6}" destId="{0D6AD583-4E4A-4AAD-B65F-29873D8A6858}" srcOrd="16" destOrd="0" presId="urn:microsoft.com/office/officeart/2005/8/layout/radial6"/>
    <dgm:cxn modelId="{846DFA9A-2C8F-40BA-90BD-B159D6F7BAB7}" type="presParOf" srcId="{DE30A5B3-E0BA-4A8F-8A8C-A18B86DAB7C6}" destId="{F2AF3CC4-B8C0-4788-97DA-A55E625FF019}" srcOrd="17" destOrd="0" presId="urn:microsoft.com/office/officeart/2005/8/layout/radial6"/>
    <dgm:cxn modelId="{5075FD68-E5C2-401C-A147-682559C25171}" type="presParOf" srcId="{DE30A5B3-E0BA-4A8F-8A8C-A18B86DAB7C6}" destId="{40A62CC0-DCA2-4D54-A6E1-CC9F671ED535}" srcOrd="18" destOrd="0" presId="urn:microsoft.com/office/officeart/2005/8/layout/radial6"/>
    <dgm:cxn modelId="{7DD67EB2-447B-4AA5-A119-B4FE6BACCA34}" type="presParOf" srcId="{DE30A5B3-E0BA-4A8F-8A8C-A18B86DAB7C6}" destId="{F2C3E2D3-BB7C-40E0-8E01-75110CAA10E7}" srcOrd="19" destOrd="0" presId="urn:microsoft.com/office/officeart/2005/8/layout/radial6"/>
    <dgm:cxn modelId="{66A8D295-FA0F-4C22-9D1D-DED0A50E6597}" type="presParOf" srcId="{DE30A5B3-E0BA-4A8F-8A8C-A18B86DAB7C6}" destId="{C873E15A-DE05-4639-A7C2-255F6E09B17B}" srcOrd="20" destOrd="0" presId="urn:microsoft.com/office/officeart/2005/8/layout/radial6"/>
    <dgm:cxn modelId="{815D54DE-43D1-4D51-990F-751A47259D57}" type="presParOf" srcId="{DE30A5B3-E0BA-4A8F-8A8C-A18B86DAB7C6}" destId="{C61C95D4-7B97-4324-8323-A8BCAA2ED7CB}" srcOrd="21" destOrd="0" presId="urn:microsoft.com/office/officeart/2005/8/layout/radial6"/>
    <dgm:cxn modelId="{2BB21D6B-08AC-45B3-A810-2E603584CC9A}" type="presParOf" srcId="{DE30A5B3-E0BA-4A8F-8A8C-A18B86DAB7C6}" destId="{81869AF4-37DD-4942-AA56-10E6F663EAEC}" srcOrd="22" destOrd="0" presId="urn:microsoft.com/office/officeart/2005/8/layout/radial6"/>
    <dgm:cxn modelId="{2A9AA8C5-7C44-4013-8F28-427A072F6D18}" type="presParOf" srcId="{DE30A5B3-E0BA-4A8F-8A8C-A18B86DAB7C6}" destId="{926E1675-1770-4E7C-90C0-9BD85F5B68C2}" srcOrd="23" destOrd="0" presId="urn:microsoft.com/office/officeart/2005/8/layout/radial6"/>
    <dgm:cxn modelId="{7DB7E112-F86A-49BC-806A-593D4137B0B1}" type="presParOf" srcId="{DE30A5B3-E0BA-4A8F-8A8C-A18B86DAB7C6}" destId="{506F6845-64BF-4336-83B1-38A719775AEC}" srcOrd="24" destOrd="0" presId="urn:microsoft.com/office/officeart/2005/8/layout/radial6"/>
    <dgm:cxn modelId="{E3FE70B6-B749-4C1C-A6B1-FCF6A947E1E8}" type="presParOf" srcId="{DE30A5B3-E0BA-4A8F-8A8C-A18B86DAB7C6}" destId="{E06BC2B2-07DA-4805-828F-9DA6C748ED1E}" srcOrd="25" destOrd="0" presId="urn:microsoft.com/office/officeart/2005/8/layout/radial6"/>
    <dgm:cxn modelId="{67586EEC-A837-420B-96E0-803306C1273A}" type="presParOf" srcId="{DE30A5B3-E0BA-4A8F-8A8C-A18B86DAB7C6}" destId="{EB764C53-56E9-486F-BFF8-152BD84C2B2E}" srcOrd="26" destOrd="0" presId="urn:microsoft.com/office/officeart/2005/8/layout/radial6"/>
    <dgm:cxn modelId="{063EAA42-AB18-4C8B-BDE3-4C90712A628A}" type="presParOf" srcId="{DE30A5B3-E0BA-4A8F-8A8C-A18B86DAB7C6}" destId="{D1B0DA6A-D988-4B8E-B695-647CCEE9359F}" srcOrd="27" destOrd="0" presId="urn:microsoft.com/office/officeart/2005/8/layout/radial6"/>
    <dgm:cxn modelId="{22B6705B-1DF2-43EC-AF0B-2E458F14067E}" type="presParOf" srcId="{DE30A5B3-E0BA-4A8F-8A8C-A18B86DAB7C6}" destId="{4C7A12AE-1228-4F67-A0F5-7B904879289B}" srcOrd="28" destOrd="0" presId="urn:microsoft.com/office/officeart/2005/8/layout/radial6"/>
    <dgm:cxn modelId="{4E107CC6-4A26-4437-9FD4-B732689D1ED5}" type="presParOf" srcId="{DE30A5B3-E0BA-4A8F-8A8C-A18B86DAB7C6}" destId="{9F6C36A2-2B17-43A7-8CFE-27F524615CD1}" srcOrd="29" destOrd="0" presId="urn:microsoft.com/office/officeart/2005/8/layout/radial6"/>
    <dgm:cxn modelId="{AC883B57-56F2-4F38-8547-70EED7A8CEA2}" type="presParOf" srcId="{DE30A5B3-E0BA-4A8F-8A8C-A18B86DAB7C6}" destId="{69AAD94B-2728-47F8-AF7C-F1D7AAEF59BF}" srcOrd="30"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523DB35B-72C8-44FD-9388-6F34F63C42CD}"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029488A9-2A9E-4460-8C29-4C3FAE112CC3}">
      <dgm:prSet phldrT="[Text]" custT="1"/>
      <dgm:spPr>
        <a:solidFill>
          <a:schemeClr val="tx1">
            <a:lumMod val="65000"/>
            <a:lumOff val="35000"/>
          </a:schemeClr>
        </a:solidFill>
      </dgm:spPr>
      <dgm:t>
        <a:bodyPr/>
        <a:lstStyle/>
        <a:p>
          <a:r>
            <a:rPr lang="en-US" sz="1300" b="1" dirty="0"/>
            <a:t>Energy Banking</a:t>
          </a:r>
        </a:p>
      </dgm:t>
    </dgm:pt>
    <dgm:pt modelId="{CF3CC447-6140-4248-9B83-7CF1565F3A68}" type="parTrans" cxnId="{DB0F6BE3-458A-4C84-97A3-2240D8F6BF1F}">
      <dgm:prSet/>
      <dgm:spPr/>
      <dgm:t>
        <a:bodyPr/>
        <a:lstStyle/>
        <a:p>
          <a:endParaRPr lang="en-US"/>
        </a:p>
      </dgm:t>
    </dgm:pt>
    <dgm:pt modelId="{38E1DE85-8EF2-4AA6-956B-4A4C1DEA7F59}" type="sibTrans" cxnId="{DB0F6BE3-458A-4C84-97A3-2240D8F6BF1F}">
      <dgm:prSet/>
      <dgm:spPr/>
      <dgm:t>
        <a:bodyPr/>
        <a:lstStyle/>
        <a:p>
          <a:endParaRPr lang="en-US"/>
        </a:p>
      </dgm:t>
    </dgm:pt>
    <dgm:pt modelId="{01DE186E-3CCF-44F6-9F77-4DE500DBCBC5}">
      <dgm:prSet phldrT="[Text]" custT="1"/>
      <dgm:spPr/>
      <dgm:t>
        <a:bodyPr/>
        <a:lstStyle/>
        <a:p>
          <a:pPr>
            <a:buFont typeface="Wingdings" panose="05000000000000000000" pitchFamily="2" charset="2"/>
            <a:buChar char="q"/>
          </a:pPr>
          <a:r>
            <a:rPr lang="en-US" sz="1300" b="1" u="none" strike="noStrike" dirty="0">
              <a:effectLst/>
              <a:latin typeface="+mn-lt"/>
            </a:rPr>
            <a:t>Banking may be allowed </a:t>
          </a:r>
          <a:r>
            <a:rPr lang="en-US" sz="1300" b="0" u="none" strike="noStrike" dirty="0">
              <a:effectLst/>
              <a:latin typeface="+mn-lt"/>
            </a:rPr>
            <a:t>for Captive and Third Party Sale on yearly basis</a:t>
          </a:r>
          <a:endParaRPr lang="en-US" sz="1300" b="0" dirty="0"/>
        </a:p>
      </dgm:t>
    </dgm:pt>
    <dgm:pt modelId="{FF8D0E7C-2A95-4FE8-89EF-2A53B07614F2}" type="parTrans" cxnId="{DD57E3DB-0421-46DF-9B84-8B11EECA4018}">
      <dgm:prSet/>
      <dgm:spPr/>
      <dgm:t>
        <a:bodyPr/>
        <a:lstStyle/>
        <a:p>
          <a:endParaRPr lang="en-US"/>
        </a:p>
      </dgm:t>
    </dgm:pt>
    <dgm:pt modelId="{877B02A7-A179-4D44-AE07-EC5DCC733DCE}" type="sibTrans" cxnId="{DD57E3DB-0421-46DF-9B84-8B11EECA4018}">
      <dgm:prSet/>
      <dgm:spPr/>
      <dgm:t>
        <a:bodyPr/>
        <a:lstStyle/>
        <a:p>
          <a:endParaRPr lang="en-US"/>
        </a:p>
      </dgm:t>
    </dgm:pt>
    <dgm:pt modelId="{2FA54F66-12B8-4A48-B5B1-D717F30EB195}">
      <dgm:prSet phldrT="[Text]" custT="1"/>
      <dgm:spPr>
        <a:solidFill>
          <a:srgbClr val="007680"/>
        </a:solidFill>
      </dgm:spPr>
      <dgm:t>
        <a:bodyPr/>
        <a:lstStyle/>
        <a:p>
          <a:endParaRPr lang="en-US" sz="1300" b="1" dirty="0"/>
        </a:p>
        <a:p>
          <a:r>
            <a:rPr lang="en-US" sz="1300" b="1" dirty="0"/>
            <a:t>Exemption of Electricity Duty</a:t>
          </a:r>
        </a:p>
      </dgm:t>
    </dgm:pt>
    <dgm:pt modelId="{6F19E61E-7BCC-440B-A2EB-C5C7D719830A}" type="parTrans" cxnId="{3218FBAA-74D8-404D-93A7-4F26DB309486}">
      <dgm:prSet/>
      <dgm:spPr/>
      <dgm:t>
        <a:bodyPr/>
        <a:lstStyle/>
        <a:p>
          <a:endParaRPr lang="en-US"/>
        </a:p>
      </dgm:t>
    </dgm:pt>
    <dgm:pt modelId="{330444CE-BA1B-486C-9B52-1EDDA17B288D}" type="sibTrans" cxnId="{3218FBAA-74D8-404D-93A7-4F26DB309486}">
      <dgm:prSet/>
      <dgm:spPr/>
      <dgm:t>
        <a:bodyPr/>
        <a:lstStyle/>
        <a:p>
          <a:endParaRPr lang="en-US"/>
        </a:p>
      </dgm:t>
    </dgm:pt>
    <dgm:pt modelId="{87E936C5-B52E-4EFC-B2B0-B8D99CF61469}">
      <dgm:prSet phldrT="[Text]" custT="1"/>
      <dgm:spPr/>
      <dgm:t>
        <a:bodyPr/>
        <a:lstStyle/>
        <a:p>
          <a:pPr>
            <a:buFont typeface="Wingdings" panose="05000000000000000000" pitchFamily="2" charset="2"/>
            <a:buChar char="q"/>
          </a:pPr>
          <a:r>
            <a:rPr lang="en-US" sz="1300" b="0" u="none" strike="noStrike" dirty="0">
              <a:effectLst/>
              <a:latin typeface="+mn-lt"/>
            </a:rPr>
            <a:t>Exemption/Relaxation from Electricity Duty for captive use may be extended </a:t>
          </a:r>
          <a:r>
            <a:rPr lang="en-US" sz="1300" b="1" u="none" strike="noStrike" dirty="0">
              <a:effectLst/>
              <a:latin typeface="+mn-lt"/>
            </a:rPr>
            <a:t>beyond</a:t>
          </a:r>
          <a:r>
            <a:rPr lang="en-US" sz="1300" b="0" u="none" strike="noStrike" dirty="0">
              <a:effectLst/>
              <a:latin typeface="+mn-lt"/>
            </a:rPr>
            <a:t> 5 years as originally proposed in draft RE policy (7 years for Rajasthan)</a:t>
          </a:r>
          <a:endParaRPr lang="en-US" sz="1300" b="0" dirty="0"/>
        </a:p>
      </dgm:t>
    </dgm:pt>
    <dgm:pt modelId="{97CA2160-E143-4BA8-8946-C0D6E306F276}" type="parTrans" cxnId="{C35FCB98-957C-456B-90B2-037F10252B5E}">
      <dgm:prSet/>
      <dgm:spPr/>
      <dgm:t>
        <a:bodyPr/>
        <a:lstStyle/>
        <a:p>
          <a:endParaRPr lang="en-US"/>
        </a:p>
      </dgm:t>
    </dgm:pt>
    <dgm:pt modelId="{6903DA5D-B57E-495E-8279-99F637A09578}" type="sibTrans" cxnId="{C35FCB98-957C-456B-90B2-037F10252B5E}">
      <dgm:prSet/>
      <dgm:spPr/>
      <dgm:t>
        <a:bodyPr/>
        <a:lstStyle/>
        <a:p>
          <a:endParaRPr lang="en-US"/>
        </a:p>
      </dgm:t>
    </dgm:pt>
    <dgm:pt modelId="{1A258077-5A74-4937-AF6D-7AD0E6843EF4}">
      <dgm:prSet phldrT="[Text]" custT="1"/>
      <dgm:spPr>
        <a:solidFill>
          <a:srgbClr val="009A44"/>
        </a:solidFill>
      </dgm:spPr>
      <dgm:t>
        <a:bodyPr/>
        <a:lstStyle/>
        <a:p>
          <a:r>
            <a:rPr lang="en-US" sz="1300" b="1" dirty="0"/>
            <a:t>Exemption of T&amp;D Charges</a:t>
          </a:r>
        </a:p>
      </dgm:t>
    </dgm:pt>
    <dgm:pt modelId="{E19C10BC-D7E6-4B07-B296-7E6AA74B0B3A}" type="parTrans" cxnId="{DA84E8CC-DFEC-4F7E-B898-0F3BCA59E3C2}">
      <dgm:prSet/>
      <dgm:spPr/>
      <dgm:t>
        <a:bodyPr/>
        <a:lstStyle/>
        <a:p>
          <a:endParaRPr lang="en-US"/>
        </a:p>
      </dgm:t>
    </dgm:pt>
    <dgm:pt modelId="{7F7F2CE6-F010-4EAC-A3E8-35393EDEEF3C}" type="sibTrans" cxnId="{DA84E8CC-DFEC-4F7E-B898-0F3BCA59E3C2}">
      <dgm:prSet/>
      <dgm:spPr/>
      <dgm:t>
        <a:bodyPr/>
        <a:lstStyle/>
        <a:p>
          <a:endParaRPr lang="en-US"/>
        </a:p>
      </dgm:t>
    </dgm:pt>
    <dgm:pt modelId="{14D490A9-7356-48E9-A1EB-F831CF63D1EF}">
      <dgm:prSet phldrT="[Text]" custT="1"/>
      <dgm:spPr/>
      <dgm:t>
        <a:bodyPr/>
        <a:lstStyle/>
        <a:p>
          <a:pPr>
            <a:buFont typeface="Wingdings" panose="05000000000000000000" pitchFamily="2" charset="2"/>
            <a:buChar char="q"/>
          </a:pPr>
          <a:r>
            <a:rPr lang="en-US" sz="1300" b="1" u="none" strike="noStrike" dirty="0">
              <a:effectLst/>
              <a:latin typeface="+mn-lt"/>
            </a:rPr>
            <a:t>Transmission and wheeling charge discount</a:t>
          </a:r>
          <a:r>
            <a:rPr lang="en-US" sz="1300" b="0" u="none" strike="noStrike" dirty="0">
              <a:effectLst/>
              <a:latin typeface="+mn-lt"/>
            </a:rPr>
            <a:t> (for projects </a:t>
          </a:r>
          <a:r>
            <a:rPr lang="en-US" sz="1300" b="0" u="none" strike="noStrike" dirty="0" err="1">
              <a:effectLst/>
              <a:latin typeface="+mn-lt"/>
            </a:rPr>
            <a:t>upto</a:t>
          </a:r>
          <a:r>
            <a:rPr lang="en-US" sz="1300" b="0" u="none" strike="noStrike" dirty="0">
              <a:effectLst/>
              <a:latin typeface="+mn-lt"/>
            </a:rPr>
            <a:t> 25 MW capacity) as per suggestions below:</a:t>
          </a:r>
          <a:endParaRPr lang="en-US" sz="1300" b="0" dirty="0"/>
        </a:p>
      </dgm:t>
    </dgm:pt>
    <dgm:pt modelId="{FA3E745F-4B36-4122-B303-F25AC4AA4103}" type="parTrans" cxnId="{1517BB6C-0E83-4FE7-9CDC-35F8E53BAD60}">
      <dgm:prSet/>
      <dgm:spPr/>
      <dgm:t>
        <a:bodyPr/>
        <a:lstStyle/>
        <a:p>
          <a:endParaRPr lang="en-US"/>
        </a:p>
      </dgm:t>
    </dgm:pt>
    <dgm:pt modelId="{7BE8DBBF-05FC-4242-870D-F0351B2811A9}" type="sibTrans" cxnId="{1517BB6C-0E83-4FE7-9CDC-35F8E53BAD60}">
      <dgm:prSet/>
      <dgm:spPr/>
      <dgm:t>
        <a:bodyPr/>
        <a:lstStyle/>
        <a:p>
          <a:endParaRPr lang="en-US"/>
        </a:p>
      </dgm:t>
    </dgm:pt>
    <dgm:pt modelId="{F6E94CBA-AF9B-4864-8659-277E82B2C8BD}">
      <dgm:prSet phldrT="[Text]" custT="1"/>
      <dgm:spPr/>
      <dgm:t>
        <a:bodyPr/>
        <a:lstStyle/>
        <a:p>
          <a:pPr>
            <a:buFont typeface="Wingdings" panose="05000000000000000000" pitchFamily="2" charset="2"/>
            <a:buChar char="q"/>
          </a:pPr>
          <a:r>
            <a:rPr lang="en-US" sz="1300" u="none" strike="noStrike" dirty="0">
              <a:effectLst/>
              <a:latin typeface="+mn-lt"/>
            </a:rPr>
            <a:t>Banking charges may be </a:t>
          </a:r>
          <a:r>
            <a:rPr lang="en-US" sz="1300" b="1" u="none" strike="noStrike" dirty="0">
              <a:effectLst/>
              <a:latin typeface="+mn-lt"/>
            </a:rPr>
            <a:t>exempted</a:t>
          </a:r>
          <a:endParaRPr lang="en-US" sz="1300" b="1" dirty="0"/>
        </a:p>
      </dgm:t>
    </dgm:pt>
    <dgm:pt modelId="{7F077D07-C288-453F-A471-DB2015F9CD4B}" type="parTrans" cxnId="{E7691089-1EDF-462E-846B-50C10CD8E7BB}">
      <dgm:prSet/>
      <dgm:spPr/>
      <dgm:t>
        <a:bodyPr/>
        <a:lstStyle/>
        <a:p>
          <a:endParaRPr lang="en-US"/>
        </a:p>
      </dgm:t>
    </dgm:pt>
    <dgm:pt modelId="{AF062CF1-B5F1-4BCD-9C61-261670857447}" type="sibTrans" cxnId="{E7691089-1EDF-462E-846B-50C10CD8E7BB}">
      <dgm:prSet/>
      <dgm:spPr/>
      <dgm:t>
        <a:bodyPr/>
        <a:lstStyle/>
        <a:p>
          <a:endParaRPr lang="en-US"/>
        </a:p>
      </dgm:t>
    </dgm:pt>
    <dgm:pt modelId="{499A5222-CE52-4A22-9707-79B2CF3FAEBA}">
      <dgm:prSet custT="1"/>
      <dgm:spPr/>
      <dgm:t>
        <a:bodyPr/>
        <a:lstStyle/>
        <a:p>
          <a:pPr>
            <a:buFont typeface="Wingdings" panose="05000000000000000000" pitchFamily="2" charset="2"/>
            <a:buChar char="v"/>
          </a:pPr>
          <a:r>
            <a:rPr lang="en-US" sz="1300" u="none" strike="noStrike" dirty="0">
              <a:effectLst/>
              <a:latin typeface="+mn-lt"/>
            </a:rPr>
            <a:t>25% applicable for solar projects with storage system for third party or captive sale </a:t>
          </a:r>
        </a:p>
      </dgm:t>
    </dgm:pt>
    <dgm:pt modelId="{927FCEB2-372C-4A22-A6C0-5DD29FBE19FB}" type="parTrans" cxnId="{621ED7AD-DB42-45CE-BD7E-BDEB04F929EE}">
      <dgm:prSet/>
      <dgm:spPr/>
      <dgm:t>
        <a:bodyPr/>
        <a:lstStyle/>
        <a:p>
          <a:endParaRPr lang="en-US"/>
        </a:p>
      </dgm:t>
    </dgm:pt>
    <dgm:pt modelId="{47D7F27C-1799-48F8-B10F-E02785B950C4}" type="sibTrans" cxnId="{621ED7AD-DB42-45CE-BD7E-BDEB04F929EE}">
      <dgm:prSet/>
      <dgm:spPr/>
      <dgm:t>
        <a:bodyPr/>
        <a:lstStyle/>
        <a:p>
          <a:endParaRPr lang="en-US"/>
        </a:p>
      </dgm:t>
    </dgm:pt>
    <dgm:pt modelId="{1BBEF9A7-CC9D-4F54-894D-5FF51946BA37}">
      <dgm:prSet custT="1"/>
      <dgm:spPr/>
      <dgm:t>
        <a:bodyPr/>
        <a:lstStyle/>
        <a:p>
          <a:pPr>
            <a:buFont typeface="Wingdings" panose="05000000000000000000" pitchFamily="2" charset="2"/>
            <a:buChar char="v"/>
          </a:pPr>
          <a:r>
            <a:rPr lang="en-US" sz="1300" u="none" strike="noStrike" dirty="0">
              <a:effectLst/>
              <a:latin typeface="+mn-lt"/>
            </a:rPr>
            <a:t>No charges applicable for solar projects set up in vicinity of EV charging stations</a:t>
          </a:r>
          <a:endParaRPr lang="en-US" sz="1300" dirty="0"/>
        </a:p>
      </dgm:t>
    </dgm:pt>
    <dgm:pt modelId="{CE95623B-123D-40D7-870D-C7E7131650CA}" type="parTrans" cxnId="{F5BECA50-2828-43EF-9FE0-2E00F0C28FA2}">
      <dgm:prSet/>
      <dgm:spPr/>
      <dgm:t>
        <a:bodyPr/>
        <a:lstStyle/>
        <a:p>
          <a:endParaRPr lang="en-US"/>
        </a:p>
      </dgm:t>
    </dgm:pt>
    <dgm:pt modelId="{16D386FC-D816-47FF-B4F7-4FB24C4F6BBF}" type="sibTrans" cxnId="{F5BECA50-2828-43EF-9FE0-2E00F0C28FA2}">
      <dgm:prSet/>
      <dgm:spPr/>
      <dgm:t>
        <a:bodyPr/>
        <a:lstStyle/>
        <a:p>
          <a:endParaRPr lang="en-US"/>
        </a:p>
      </dgm:t>
    </dgm:pt>
    <dgm:pt modelId="{82ADD492-162E-495B-B705-4751FF4AF8A2}">
      <dgm:prSet phldrT="[Text]" custT="1"/>
      <dgm:spPr/>
      <dgm:t>
        <a:bodyPr/>
        <a:lstStyle/>
        <a:p>
          <a:pPr>
            <a:buFont typeface="Wingdings" panose="05000000000000000000" pitchFamily="2" charset="2"/>
            <a:buChar char="v"/>
          </a:pPr>
          <a:r>
            <a:rPr lang="en-US" sz="1300" u="none" strike="noStrike" dirty="0">
              <a:effectLst/>
              <a:latin typeface="+mn-lt"/>
            </a:rPr>
            <a:t>50% applicable only for solar projects outside premises of WB consumers and for solar projects with sale of power within state through open access</a:t>
          </a:r>
          <a:endParaRPr lang="en-US" sz="1300" b="0" dirty="0"/>
        </a:p>
      </dgm:t>
    </dgm:pt>
    <dgm:pt modelId="{ED7000F5-6D51-4DC9-A078-A830BDA203D5}" type="parTrans" cxnId="{A99E903A-8C03-428E-A14C-19C79E3BA681}">
      <dgm:prSet/>
      <dgm:spPr/>
      <dgm:t>
        <a:bodyPr/>
        <a:lstStyle/>
        <a:p>
          <a:endParaRPr lang="en-US"/>
        </a:p>
      </dgm:t>
    </dgm:pt>
    <dgm:pt modelId="{1A844E73-A697-4B4F-B7DA-EE9732CF00E6}" type="sibTrans" cxnId="{A99E903A-8C03-428E-A14C-19C79E3BA681}">
      <dgm:prSet/>
      <dgm:spPr/>
      <dgm:t>
        <a:bodyPr/>
        <a:lstStyle/>
        <a:p>
          <a:endParaRPr lang="en-US"/>
        </a:p>
      </dgm:t>
    </dgm:pt>
    <dgm:pt modelId="{AB561989-E7F8-4D58-8CA2-8B5433D442DB}">
      <dgm:prSet phldrT="[Text]" custT="1"/>
      <dgm:spPr/>
      <dgm:t>
        <a:bodyPr/>
        <a:lstStyle/>
        <a:p>
          <a:pPr>
            <a:buFont typeface="Wingdings" panose="05000000000000000000" pitchFamily="2" charset="2"/>
            <a:buChar char="v"/>
          </a:pPr>
          <a:r>
            <a:rPr lang="en-US" sz="1300" b="0" dirty="0"/>
            <a:t>75-100% exemption for solar projects within WB premises</a:t>
          </a:r>
        </a:p>
      </dgm:t>
    </dgm:pt>
    <dgm:pt modelId="{57766C29-D141-4197-9B5F-BF130A1B8937}" type="parTrans" cxnId="{288DBDBE-AF29-4957-A6F3-F7D4C519DF01}">
      <dgm:prSet/>
      <dgm:spPr/>
      <dgm:t>
        <a:bodyPr/>
        <a:lstStyle/>
        <a:p>
          <a:endParaRPr lang="en-US"/>
        </a:p>
      </dgm:t>
    </dgm:pt>
    <dgm:pt modelId="{848081A1-A9A0-4955-AD2D-79E28E7CBE50}" type="sibTrans" cxnId="{288DBDBE-AF29-4957-A6F3-F7D4C519DF01}">
      <dgm:prSet/>
      <dgm:spPr/>
      <dgm:t>
        <a:bodyPr/>
        <a:lstStyle/>
        <a:p>
          <a:endParaRPr lang="en-US"/>
        </a:p>
      </dgm:t>
    </dgm:pt>
    <dgm:pt modelId="{A7FD5AD9-F215-449A-B7B6-CCBD786C5EE3}">
      <dgm:prSet phldrT="[Text]" custT="1"/>
      <dgm:spPr/>
      <dgm:t>
        <a:bodyPr/>
        <a:lstStyle/>
        <a:p>
          <a:pPr>
            <a:buFont typeface="Wingdings" panose="05000000000000000000" pitchFamily="2" charset="2"/>
            <a:buChar char="v"/>
          </a:pPr>
          <a:r>
            <a:rPr lang="en-US" sz="1300" b="0" dirty="0"/>
            <a:t>The banking period may suitably be decided post appropriate load study by DISCOM</a:t>
          </a:r>
        </a:p>
      </dgm:t>
    </dgm:pt>
    <dgm:pt modelId="{1AEDBF60-FF52-4301-862C-ED6E733CF321}" type="parTrans" cxnId="{DA15B384-07E3-4CC3-A788-10BA64F4D1E0}">
      <dgm:prSet/>
      <dgm:spPr/>
      <dgm:t>
        <a:bodyPr/>
        <a:lstStyle/>
        <a:p>
          <a:endParaRPr lang="en-US"/>
        </a:p>
      </dgm:t>
    </dgm:pt>
    <dgm:pt modelId="{1DB54FCC-33B7-48E4-AF74-5AED90E82020}" type="sibTrans" cxnId="{DA15B384-07E3-4CC3-A788-10BA64F4D1E0}">
      <dgm:prSet/>
      <dgm:spPr/>
      <dgm:t>
        <a:bodyPr/>
        <a:lstStyle/>
        <a:p>
          <a:endParaRPr lang="en-US"/>
        </a:p>
      </dgm:t>
    </dgm:pt>
    <dgm:pt modelId="{99DABE9E-013C-488A-8D3D-52233A245141}">
      <dgm:prSet phldrT="[Text]" custT="1"/>
      <dgm:spPr/>
      <dgm:t>
        <a:bodyPr/>
        <a:lstStyle/>
        <a:p>
          <a:pPr>
            <a:buFont typeface="Wingdings" panose="05000000000000000000" pitchFamily="2" charset="2"/>
            <a:buChar char="v"/>
          </a:pPr>
          <a:r>
            <a:rPr lang="en-US" sz="1300" b="0" dirty="0"/>
            <a:t>Drawl of banked energy may not be allowed during peak hours as determined by DISCOM</a:t>
          </a:r>
        </a:p>
      </dgm:t>
    </dgm:pt>
    <dgm:pt modelId="{85DF010D-B53E-45B6-9B8A-3A6910458FA6}" type="parTrans" cxnId="{36493C05-7B0C-4CB2-AD10-2E7574993B5C}">
      <dgm:prSet/>
      <dgm:spPr/>
      <dgm:t>
        <a:bodyPr/>
        <a:lstStyle/>
        <a:p>
          <a:endParaRPr lang="en-US"/>
        </a:p>
      </dgm:t>
    </dgm:pt>
    <dgm:pt modelId="{DDD33A5E-EAAA-44F1-A0B6-27A81F2CA67B}" type="sibTrans" cxnId="{36493C05-7B0C-4CB2-AD10-2E7574993B5C}">
      <dgm:prSet/>
      <dgm:spPr/>
      <dgm:t>
        <a:bodyPr/>
        <a:lstStyle/>
        <a:p>
          <a:endParaRPr lang="en-US"/>
        </a:p>
      </dgm:t>
    </dgm:pt>
    <dgm:pt modelId="{1746EA52-9C38-466F-8931-902C9DF092F4}">
      <dgm:prSet phldrT="[Text]" custT="1"/>
      <dgm:spPr/>
      <dgm:t>
        <a:bodyPr/>
        <a:lstStyle/>
        <a:p>
          <a:pPr>
            <a:buFont typeface="Wingdings" panose="05000000000000000000" pitchFamily="2" charset="2"/>
            <a:buChar char="v"/>
          </a:pPr>
          <a:r>
            <a:rPr lang="en-US" sz="1300" b="0" dirty="0"/>
            <a:t>The unutilized banked energy at the end of year shall lapse; mechanism for lapsed energy may be envisaged</a:t>
          </a:r>
        </a:p>
      </dgm:t>
    </dgm:pt>
    <dgm:pt modelId="{A7B92805-AB04-425D-95F4-355164BEB004}" type="parTrans" cxnId="{A29BC7C8-330B-4351-B273-687A5CA0B878}">
      <dgm:prSet/>
      <dgm:spPr/>
      <dgm:t>
        <a:bodyPr/>
        <a:lstStyle/>
        <a:p>
          <a:endParaRPr lang="en-US"/>
        </a:p>
      </dgm:t>
    </dgm:pt>
    <dgm:pt modelId="{DE018645-15B5-485F-B6E0-3AA9623AF540}" type="sibTrans" cxnId="{A29BC7C8-330B-4351-B273-687A5CA0B878}">
      <dgm:prSet/>
      <dgm:spPr/>
      <dgm:t>
        <a:bodyPr/>
        <a:lstStyle/>
        <a:p>
          <a:endParaRPr lang="en-US"/>
        </a:p>
      </dgm:t>
    </dgm:pt>
    <dgm:pt modelId="{5A6141FF-6305-4193-B1F9-A886DEF20540}">
      <dgm:prSet phldrT="[Text]" custT="1"/>
      <dgm:spPr/>
      <dgm:t>
        <a:bodyPr/>
        <a:lstStyle/>
        <a:p>
          <a:pPr>
            <a:buFont typeface="Wingdings" panose="05000000000000000000" pitchFamily="2" charset="2"/>
            <a:buChar char="v"/>
          </a:pPr>
          <a:r>
            <a:rPr lang="en-US" sz="1300" b="0" dirty="0"/>
            <a:t>Specific Operating protocols may be put in place to safeguard network operations management</a:t>
          </a:r>
        </a:p>
      </dgm:t>
    </dgm:pt>
    <dgm:pt modelId="{17620C6C-42DC-4A59-83BF-FD263719A355}" type="parTrans" cxnId="{AB0C46DD-5490-4784-BB0E-FD5B9908D1EC}">
      <dgm:prSet/>
      <dgm:spPr/>
      <dgm:t>
        <a:bodyPr/>
        <a:lstStyle/>
        <a:p>
          <a:endParaRPr lang="en-US"/>
        </a:p>
      </dgm:t>
    </dgm:pt>
    <dgm:pt modelId="{23CE275E-46FC-416B-B559-1EF173F99F5B}" type="sibTrans" cxnId="{AB0C46DD-5490-4784-BB0E-FD5B9908D1EC}">
      <dgm:prSet/>
      <dgm:spPr/>
      <dgm:t>
        <a:bodyPr/>
        <a:lstStyle/>
        <a:p>
          <a:endParaRPr lang="en-US"/>
        </a:p>
      </dgm:t>
    </dgm:pt>
    <dgm:pt modelId="{8847264E-7EEA-4B36-9DF8-1372624FA328}" type="pres">
      <dgm:prSet presAssocID="{523DB35B-72C8-44FD-9388-6F34F63C42CD}" presName="linearFlow" presStyleCnt="0">
        <dgm:presLayoutVars>
          <dgm:dir/>
          <dgm:animLvl val="lvl"/>
          <dgm:resizeHandles val="exact"/>
        </dgm:presLayoutVars>
      </dgm:prSet>
      <dgm:spPr/>
    </dgm:pt>
    <dgm:pt modelId="{81890066-942F-4B36-9482-7CAA1783FBE7}" type="pres">
      <dgm:prSet presAssocID="{029488A9-2A9E-4460-8C29-4C3FAE112CC3}" presName="composite" presStyleCnt="0"/>
      <dgm:spPr/>
    </dgm:pt>
    <dgm:pt modelId="{E22D0917-526D-42A8-B025-F0D8E3E456D5}" type="pres">
      <dgm:prSet presAssocID="{029488A9-2A9E-4460-8C29-4C3FAE112CC3}" presName="parentText" presStyleLbl="alignNode1" presStyleIdx="0" presStyleCnt="3">
        <dgm:presLayoutVars>
          <dgm:chMax val="1"/>
          <dgm:bulletEnabled val="1"/>
        </dgm:presLayoutVars>
      </dgm:prSet>
      <dgm:spPr/>
    </dgm:pt>
    <dgm:pt modelId="{3DE82043-A48D-415C-8D85-6C767394D0FE}" type="pres">
      <dgm:prSet presAssocID="{029488A9-2A9E-4460-8C29-4C3FAE112CC3}" presName="descendantText" presStyleLbl="alignAcc1" presStyleIdx="0" presStyleCnt="3" custScaleY="113015" custLinFactNeighborX="0">
        <dgm:presLayoutVars>
          <dgm:bulletEnabled val="1"/>
        </dgm:presLayoutVars>
      </dgm:prSet>
      <dgm:spPr/>
    </dgm:pt>
    <dgm:pt modelId="{5349F40B-8203-45F9-8552-734CD8FE8EB5}" type="pres">
      <dgm:prSet presAssocID="{38E1DE85-8EF2-4AA6-956B-4A4C1DEA7F59}" presName="sp" presStyleCnt="0"/>
      <dgm:spPr/>
    </dgm:pt>
    <dgm:pt modelId="{3340B41A-9555-41D8-B0C5-080B46E3912A}" type="pres">
      <dgm:prSet presAssocID="{2FA54F66-12B8-4A48-B5B1-D717F30EB195}" presName="composite" presStyleCnt="0"/>
      <dgm:spPr/>
    </dgm:pt>
    <dgm:pt modelId="{6C54E85B-9169-4F16-9022-E4A989D806D1}" type="pres">
      <dgm:prSet presAssocID="{2FA54F66-12B8-4A48-B5B1-D717F30EB195}" presName="parentText" presStyleLbl="alignNode1" presStyleIdx="1" presStyleCnt="3">
        <dgm:presLayoutVars>
          <dgm:chMax val="1"/>
          <dgm:bulletEnabled val="1"/>
        </dgm:presLayoutVars>
      </dgm:prSet>
      <dgm:spPr/>
    </dgm:pt>
    <dgm:pt modelId="{74201CF7-6425-41C7-9745-8818CF457ADE}" type="pres">
      <dgm:prSet presAssocID="{2FA54F66-12B8-4A48-B5B1-D717F30EB195}" presName="descendantText" presStyleLbl="alignAcc1" presStyleIdx="1" presStyleCnt="3">
        <dgm:presLayoutVars>
          <dgm:bulletEnabled val="1"/>
        </dgm:presLayoutVars>
      </dgm:prSet>
      <dgm:spPr/>
    </dgm:pt>
    <dgm:pt modelId="{7CFF4358-14E2-44C2-B850-2C1D0890D15E}" type="pres">
      <dgm:prSet presAssocID="{330444CE-BA1B-486C-9B52-1EDDA17B288D}" presName="sp" presStyleCnt="0"/>
      <dgm:spPr/>
    </dgm:pt>
    <dgm:pt modelId="{AED06098-20E8-41A5-9836-F205D3A7649C}" type="pres">
      <dgm:prSet presAssocID="{1A258077-5A74-4937-AF6D-7AD0E6843EF4}" presName="composite" presStyleCnt="0"/>
      <dgm:spPr/>
    </dgm:pt>
    <dgm:pt modelId="{8C1FEB7F-F9B9-478E-BA99-09CC923B8FDA}" type="pres">
      <dgm:prSet presAssocID="{1A258077-5A74-4937-AF6D-7AD0E6843EF4}" presName="parentText" presStyleLbl="alignNode1" presStyleIdx="2" presStyleCnt="3" custLinFactNeighborY="0">
        <dgm:presLayoutVars>
          <dgm:chMax val="1"/>
          <dgm:bulletEnabled val="1"/>
        </dgm:presLayoutVars>
      </dgm:prSet>
      <dgm:spPr/>
    </dgm:pt>
    <dgm:pt modelId="{119D5FAA-8CE6-4F9A-9C27-0E016A372AFF}" type="pres">
      <dgm:prSet presAssocID="{1A258077-5A74-4937-AF6D-7AD0E6843EF4}" presName="descendantText" presStyleLbl="alignAcc1" presStyleIdx="2" presStyleCnt="3" custLinFactNeighborX="0">
        <dgm:presLayoutVars>
          <dgm:bulletEnabled val="1"/>
        </dgm:presLayoutVars>
      </dgm:prSet>
      <dgm:spPr/>
    </dgm:pt>
  </dgm:ptLst>
  <dgm:cxnLst>
    <dgm:cxn modelId="{36493C05-7B0C-4CB2-AD10-2E7574993B5C}" srcId="{029488A9-2A9E-4460-8C29-4C3FAE112CC3}" destId="{99DABE9E-013C-488A-8D3D-52233A245141}" srcOrd="3" destOrd="0" parTransId="{85DF010D-B53E-45B6-9B8A-3A6910458FA6}" sibTransId="{DDD33A5E-EAAA-44F1-A0B6-27A81F2CA67B}"/>
    <dgm:cxn modelId="{1F9CF613-8DA4-445B-9C81-611C6454C2DA}" type="presOf" srcId="{523DB35B-72C8-44FD-9388-6F34F63C42CD}" destId="{8847264E-7EEA-4B36-9DF8-1372624FA328}" srcOrd="0" destOrd="0" presId="urn:microsoft.com/office/officeart/2005/8/layout/chevron2"/>
    <dgm:cxn modelId="{B5489524-DEA5-477A-9BDD-0F5BDD039FC7}" type="presOf" srcId="{99DABE9E-013C-488A-8D3D-52233A245141}" destId="{3DE82043-A48D-415C-8D85-6C767394D0FE}" srcOrd="0" destOrd="3" presId="urn:microsoft.com/office/officeart/2005/8/layout/chevron2"/>
    <dgm:cxn modelId="{BBD0F524-3C93-4CEE-B1AA-738441CBC24F}" type="presOf" srcId="{1A258077-5A74-4937-AF6D-7AD0E6843EF4}" destId="{8C1FEB7F-F9B9-478E-BA99-09CC923B8FDA}" srcOrd="0" destOrd="0" presId="urn:microsoft.com/office/officeart/2005/8/layout/chevron2"/>
    <dgm:cxn modelId="{BC388828-909A-460D-83F7-EAD0AF888C8C}" type="presOf" srcId="{499A5222-CE52-4A22-9707-79B2CF3FAEBA}" destId="{119D5FAA-8CE6-4F9A-9C27-0E016A372AFF}" srcOrd="0" destOrd="3" presId="urn:microsoft.com/office/officeart/2005/8/layout/chevron2"/>
    <dgm:cxn modelId="{A99E903A-8C03-428E-A14C-19C79E3BA681}" srcId="{1A258077-5A74-4937-AF6D-7AD0E6843EF4}" destId="{82ADD492-162E-495B-B705-4751FF4AF8A2}" srcOrd="2" destOrd="0" parTransId="{ED7000F5-6D51-4DC9-A078-A830BDA203D5}" sibTransId="{1A844E73-A697-4B4F-B7DA-EE9732CF00E6}"/>
    <dgm:cxn modelId="{D24A725C-1E7C-45BA-AEA4-7EF8B1AC8D4D}" type="presOf" srcId="{1BBEF9A7-CC9D-4F54-894D-5FF51946BA37}" destId="{119D5FAA-8CE6-4F9A-9C27-0E016A372AFF}" srcOrd="0" destOrd="4" presId="urn:microsoft.com/office/officeart/2005/8/layout/chevron2"/>
    <dgm:cxn modelId="{9F40EB49-98F0-41FA-9BF9-6021C51CFDA6}" type="presOf" srcId="{F6E94CBA-AF9B-4864-8659-277E82B2C8BD}" destId="{3DE82043-A48D-415C-8D85-6C767394D0FE}" srcOrd="0" destOrd="1" presId="urn:microsoft.com/office/officeart/2005/8/layout/chevron2"/>
    <dgm:cxn modelId="{1517BB6C-0E83-4FE7-9CDC-35F8E53BAD60}" srcId="{1A258077-5A74-4937-AF6D-7AD0E6843EF4}" destId="{14D490A9-7356-48E9-A1EB-F831CF63D1EF}" srcOrd="0" destOrd="0" parTransId="{FA3E745F-4B36-4122-B303-F25AC4AA4103}" sibTransId="{7BE8DBBF-05FC-4242-870D-F0351B2811A9}"/>
    <dgm:cxn modelId="{9D152D6F-C966-4E60-A6F6-65D52C78AC2B}" type="presOf" srcId="{AB561989-E7F8-4D58-8CA2-8B5433D442DB}" destId="{119D5FAA-8CE6-4F9A-9C27-0E016A372AFF}" srcOrd="0" destOrd="1" presId="urn:microsoft.com/office/officeart/2005/8/layout/chevron2"/>
    <dgm:cxn modelId="{F5BECA50-2828-43EF-9FE0-2E00F0C28FA2}" srcId="{1A258077-5A74-4937-AF6D-7AD0E6843EF4}" destId="{1BBEF9A7-CC9D-4F54-894D-5FF51946BA37}" srcOrd="4" destOrd="0" parTransId="{CE95623B-123D-40D7-870D-C7E7131650CA}" sibTransId="{16D386FC-D816-47FF-B4F7-4FB24C4F6BBF}"/>
    <dgm:cxn modelId="{1C15DE55-7864-440B-81C1-6ADF66B6FE9B}" type="presOf" srcId="{82ADD492-162E-495B-B705-4751FF4AF8A2}" destId="{119D5FAA-8CE6-4F9A-9C27-0E016A372AFF}" srcOrd="0" destOrd="2" presId="urn:microsoft.com/office/officeart/2005/8/layout/chevron2"/>
    <dgm:cxn modelId="{5812C658-9164-43B6-ADF9-29A99298CADC}" type="presOf" srcId="{1746EA52-9C38-466F-8931-902C9DF092F4}" destId="{3DE82043-A48D-415C-8D85-6C767394D0FE}" srcOrd="0" destOrd="4" presId="urn:microsoft.com/office/officeart/2005/8/layout/chevron2"/>
    <dgm:cxn modelId="{DA15B384-07E3-4CC3-A788-10BA64F4D1E0}" srcId="{029488A9-2A9E-4460-8C29-4C3FAE112CC3}" destId="{A7FD5AD9-F215-449A-B7B6-CCBD786C5EE3}" srcOrd="2" destOrd="0" parTransId="{1AEDBF60-FF52-4301-862C-ED6E733CF321}" sibTransId="{1DB54FCC-33B7-48E4-AF74-5AED90E82020}"/>
    <dgm:cxn modelId="{E7691089-1EDF-462E-846B-50C10CD8E7BB}" srcId="{029488A9-2A9E-4460-8C29-4C3FAE112CC3}" destId="{F6E94CBA-AF9B-4864-8659-277E82B2C8BD}" srcOrd="1" destOrd="0" parTransId="{7F077D07-C288-453F-A471-DB2015F9CD4B}" sibTransId="{AF062CF1-B5F1-4BCD-9C61-261670857447}"/>
    <dgm:cxn modelId="{D9BBF495-F0BE-4604-A19A-745C75B11B29}" type="presOf" srcId="{2FA54F66-12B8-4A48-B5B1-D717F30EB195}" destId="{6C54E85B-9169-4F16-9022-E4A989D806D1}" srcOrd="0" destOrd="0" presId="urn:microsoft.com/office/officeart/2005/8/layout/chevron2"/>
    <dgm:cxn modelId="{C35FCB98-957C-456B-90B2-037F10252B5E}" srcId="{2FA54F66-12B8-4A48-B5B1-D717F30EB195}" destId="{87E936C5-B52E-4EFC-B2B0-B8D99CF61469}" srcOrd="0" destOrd="0" parTransId="{97CA2160-E143-4BA8-8946-C0D6E306F276}" sibTransId="{6903DA5D-B57E-495E-8279-99F637A09578}"/>
    <dgm:cxn modelId="{B9AEC8A1-72B0-403D-92E0-A25D9A7D1ED7}" type="presOf" srcId="{01DE186E-3CCF-44F6-9F77-4DE500DBCBC5}" destId="{3DE82043-A48D-415C-8D85-6C767394D0FE}" srcOrd="0" destOrd="0" presId="urn:microsoft.com/office/officeart/2005/8/layout/chevron2"/>
    <dgm:cxn modelId="{44B841A6-851D-4F8A-894F-35725B16FEFE}" type="presOf" srcId="{87E936C5-B52E-4EFC-B2B0-B8D99CF61469}" destId="{74201CF7-6425-41C7-9745-8818CF457ADE}" srcOrd="0" destOrd="0" presId="urn:microsoft.com/office/officeart/2005/8/layout/chevron2"/>
    <dgm:cxn modelId="{3218FBAA-74D8-404D-93A7-4F26DB309486}" srcId="{523DB35B-72C8-44FD-9388-6F34F63C42CD}" destId="{2FA54F66-12B8-4A48-B5B1-D717F30EB195}" srcOrd="1" destOrd="0" parTransId="{6F19E61E-7BCC-440B-A2EB-C5C7D719830A}" sibTransId="{330444CE-BA1B-486C-9B52-1EDDA17B288D}"/>
    <dgm:cxn modelId="{621ED7AD-DB42-45CE-BD7E-BDEB04F929EE}" srcId="{1A258077-5A74-4937-AF6D-7AD0E6843EF4}" destId="{499A5222-CE52-4A22-9707-79B2CF3FAEBA}" srcOrd="3" destOrd="0" parTransId="{927FCEB2-372C-4A22-A6C0-5DD29FBE19FB}" sibTransId="{47D7F27C-1799-48F8-B10F-E02785B950C4}"/>
    <dgm:cxn modelId="{288DBDBE-AF29-4957-A6F3-F7D4C519DF01}" srcId="{1A258077-5A74-4937-AF6D-7AD0E6843EF4}" destId="{AB561989-E7F8-4D58-8CA2-8B5433D442DB}" srcOrd="1" destOrd="0" parTransId="{57766C29-D141-4197-9B5F-BF130A1B8937}" sibTransId="{848081A1-A9A0-4955-AD2D-79E28E7CBE50}"/>
    <dgm:cxn modelId="{1F2B2BC7-E986-4580-897C-4CCB8B9EF229}" type="presOf" srcId="{029488A9-2A9E-4460-8C29-4C3FAE112CC3}" destId="{E22D0917-526D-42A8-B025-F0D8E3E456D5}" srcOrd="0" destOrd="0" presId="urn:microsoft.com/office/officeart/2005/8/layout/chevron2"/>
    <dgm:cxn modelId="{11D36DC7-AFCF-4988-BA68-D77C89130E74}" type="presOf" srcId="{5A6141FF-6305-4193-B1F9-A886DEF20540}" destId="{3DE82043-A48D-415C-8D85-6C767394D0FE}" srcOrd="0" destOrd="5" presId="urn:microsoft.com/office/officeart/2005/8/layout/chevron2"/>
    <dgm:cxn modelId="{84147EC7-0674-4EEB-8BB4-82EA7E5419F4}" type="presOf" srcId="{14D490A9-7356-48E9-A1EB-F831CF63D1EF}" destId="{119D5FAA-8CE6-4F9A-9C27-0E016A372AFF}" srcOrd="0" destOrd="0" presId="urn:microsoft.com/office/officeart/2005/8/layout/chevron2"/>
    <dgm:cxn modelId="{A29BC7C8-330B-4351-B273-687A5CA0B878}" srcId="{029488A9-2A9E-4460-8C29-4C3FAE112CC3}" destId="{1746EA52-9C38-466F-8931-902C9DF092F4}" srcOrd="4" destOrd="0" parTransId="{A7B92805-AB04-425D-95F4-355164BEB004}" sibTransId="{DE018645-15B5-485F-B6E0-3AA9623AF540}"/>
    <dgm:cxn modelId="{DA84E8CC-DFEC-4F7E-B898-0F3BCA59E3C2}" srcId="{523DB35B-72C8-44FD-9388-6F34F63C42CD}" destId="{1A258077-5A74-4937-AF6D-7AD0E6843EF4}" srcOrd="2" destOrd="0" parTransId="{E19C10BC-D7E6-4B07-B296-7E6AA74B0B3A}" sibTransId="{7F7F2CE6-F010-4EAC-A3E8-35393EDEEF3C}"/>
    <dgm:cxn modelId="{DD57E3DB-0421-46DF-9B84-8B11EECA4018}" srcId="{029488A9-2A9E-4460-8C29-4C3FAE112CC3}" destId="{01DE186E-3CCF-44F6-9F77-4DE500DBCBC5}" srcOrd="0" destOrd="0" parTransId="{FF8D0E7C-2A95-4FE8-89EF-2A53B07614F2}" sibTransId="{877B02A7-A179-4D44-AE07-EC5DCC733DCE}"/>
    <dgm:cxn modelId="{AB0C46DD-5490-4784-BB0E-FD5B9908D1EC}" srcId="{029488A9-2A9E-4460-8C29-4C3FAE112CC3}" destId="{5A6141FF-6305-4193-B1F9-A886DEF20540}" srcOrd="5" destOrd="0" parTransId="{17620C6C-42DC-4A59-83BF-FD263719A355}" sibTransId="{23CE275E-46FC-416B-B559-1EF173F99F5B}"/>
    <dgm:cxn modelId="{DB0F6BE3-458A-4C84-97A3-2240D8F6BF1F}" srcId="{523DB35B-72C8-44FD-9388-6F34F63C42CD}" destId="{029488A9-2A9E-4460-8C29-4C3FAE112CC3}" srcOrd="0" destOrd="0" parTransId="{CF3CC447-6140-4248-9B83-7CF1565F3A68}" sibTransId="{38E1DE85-8EF2-4AA6-956B-4A4C1DEA7F59}"/>
    <dgm:cxn modelId="{3DC6DFF7-A656-47E2-8B5E-DA75069B6B0C}" type="presOf" srcId="{A7FD5AD9-F215-449A-B7B6-CCBD786C5EE3}" destId="{3DE82043-A48D-415C-8D85-6C767394D0FE}" srcOrd="0" destOrd="2" presId="urn:microsoft.com/office/officeart/2005/8/layout/chevron2"/>
    <dgm:cxn modelId="{CF05B256-39B2-42C5-B981-ED28039BE27A}" type="presParOf" srcId="{8847264E-7EEA-4B36-9DF8-1372624FA328}" destId="{81890066-942F-4B36-9482-7CAA1783FBE7}" srcOrd="0" destOrd="0" presId="urn:microsoft.com/office/officeart/2005/8/layout/chevron2"/>
    <dgm:cxn modelId="{331331B2-F039-427E-BD30-A1AAA9898941}" type="presParOf" srcId="{81890066-942F-4B36-9482-7CAA1783FBE7}" destId="{E22D0917-526D-42A8-B025-F0D8E3E456D5}" srcOrd="0" destOrd="0" presId="urn:microsoft.com/office/officeart/2005/8/layout/chevron2"/>
    <dgm:cxn modelId="{72600C2C-BDFC-440A-B3B3-27E3E7BE6D25}" type="presParOf" srcId="{81890066-942F-4B36-9482-7CAA1783FBE7}" destId="{3DE82043-A48D-415C-8D85-6C767394D0FE}" srcOrd="1" destOrd="0" presId="urn:microsoft.com/office/officeart/2005/8/layout/chevron2"/>
    <dgm:cxn modelId="{DD49C72C-19F4-4426-9EEB-D721044A4BE6}" type="presParOf" srcId="{8847264E-7EEA-4B36-9DF8-1372624FA328}" destId="{5349F40B-8203-45F9-8552-734CD8FE8EB5}" srcOrd="1" destOrd="0" presId="urn:microsoft.com/office/officeart/2005/8/layout/chevron2"/>
    <dgm:cxn modelId="{2D55B884-6D4B-401D-B93D-0DD15BA16A59}" type="presParOf" srcId="{8847264E-7EEA-4B36-9DF8-1372624FA328}" destId="{3340B41A-9555-41D8-B0C5-080B46E3912A}" srcOrd="2" destOrd="0" presId="urn:microsoft.com/office/officeart/2005/8/layout/chevron2"/>
    <dgm:cxn modelId="{A1ADDEE3-5FFA-44BF-889D-5873945DF317}" type="presParOf" srcId="{3340B41A-9555-41D8-B0C5-080B46E3912A}" destId="{6C54E85B-9169-4F16-9022-E4A989D806D1}" srcOrd="0" destOrd="0" presId="urn:microsoft.com/office/officeart/2005/8/layout/chevron2"/>
    <dgm:cxn modelId="{EC53951D-8347-4386-8EDE-2A184E5EEDB1}" type="presParOf" srcId="{3340B41A-9555-41D8-B0C5-080B46E3912A}" destId="{74201CF7-6425-41C7-9745-8818CF457ADE}" srcOrd="1" destOrd="0" presId="urn:microsoft.com/office/officeart/2005/8/layout/chevron2"/>
    <dgm:cxn modelId="{8D94B178-148C-46C7-813E-1D0869B66AAA}" type="presParOf" srcId="{8847264E-7EEA-4B36-9DF8-1372624FA328}" destId="{7CFF4358-14E2-44C2-B850-2C1D0890D15E}" srcOrd="3" destOrd="0" presId="urn:microsoft.com/office/officeart/2005/8/layout/chevron2"/>
    <dgm:cxn modelId="{3EFFC036-3AA1-4BCE-A822-CBA431AC0EFE}" type="presParOf" srcId="{8847264E-7EEA-4B36-9DF8-1372624FA328}" destId="{AED06098-20E8-41A5-9836-F205D3A7649C}" srcOrd="4" destOrd="0" presId="urn:microsoft.com/office/officeart/2005/8/layout/chevron2"/>
    <dgm:cxn modelId="{25A50C6D-8084-4949-BFFC-04074B75FEE3}" type="presParOf" srcId="{AED06098-20E8-41A5-9836-F205D3A7649C}" destId="{8C1FEB7F-F9B9-478E-BA99-09CC923B8FDA}" srcOrd="0" destOrd="0" presId="urn:microsoft.com/office/officeart/2005/8/layout/chevron2"/>
    <dgm:cxn modelId="{591D20C7-AC57-440C-BCAC-46A3C53A8A24}" type="presParOf" srcId="{AED06098-20E8-41A5-9836-F205D3A7649C}" destId="{119D5FAA-8CE6-4F9A-9C27-0E016A372AFF}" srcOrd="1" destOrd="0" presId="urn:microsoft.com/office/officeart/2005/8/layout/chevron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523DB35B-72C8-44FD-9388-6F34F63C42CD}"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029488A9-2A9E-4460-8C29-4C3FAE112CC3}">
      <dgm:prSet phldrT="[Text]" custT="1"/>
      <dgm:spPr>
        <a:solidFill>
          <a:schemeClr val="tx1">
            <a:lumMod val="75000"/>
            <a:lumOff val="25000"/>
          </a:schemeClr>
        </a:solidFill>
      </dgm:spPr>
      <dgm:t>
        <a:bodyPr/>
        <a:lstStyle/>
        <a:p>
          <a:endParaRPr lang="en-US" sz="1300" b="1" dirty="0"/>
        </a:p>
        <a:p>
          <a:r>
            <a:rPr lang="en-US" sz="1300" b="1" dirty="0"/>
            <a:t>Allowable capacity for Net-Metering</a:t>
          </a:r>
        </a:p>
      </dgm:t>
    </dgm:pt>
    <dgm:pt modelId="{CF3CC447-6140-4248-9B83-7CF1565F3A68}" type="parTrans" cxnId="{DB0F6BE3-458A-4C84-97A3-2240D8F6BF1F}">
      <dgm:prSet/>
      <dgm:spPr/>
      <dgm:t>
        <a:bodyPr/>
        <a:lstStyle/>
        <a:p>
          <a:endParaRPr lang="en-US"/>
        </a:p>
      </dgm:t>
    </dgm:pt>
    <dgm:pt modelId="{38E1DE85-8EF2-4AA6-956B-4A4C1DEA7F59}" type="sibTrans" cxnId="{DB0F6BE3-458A-4C84-97A3-2240D8F6BF1F}">
      <dgm:prSet/>
      <dgm:spPr/>
      <dgm:t>
        <a:bodyPr/>
        <a:lstStyle/>
        <a:p>
          <a:endParaRPr lang="en-US"/>
        </a:p>
      </dgm:t>
    </dgm:pt>
    <dgm:pt modelId="{01DE186E-3CCF-44F6-9F77-4DE500DBCBC5}">
      <dgm:prSet phldrT="[Text]" custT="1"/>
      <dgm:spPr/>
      <dgm:t>
        <a:bodyPr/>
        <a:lstStyle/>
        <a:p>
          <a:pPr>
            <a:buFont typeface="Wingdings" panose="05000000000000000000" pitchFamily="2" charset="2"/>
            <a:buChar char="q"/>
          </a:pPr>
          <a:r>
            <a:rPr lang="en-US" sz="1300" dirty="0"/>
            <a:t>Net-metering may be allowed to consumers for </a:t>
          </a:r>
          <a:r>
            <a:rPr lang="en-US" sz="1300" b="1" dirty="0"/>
            <a:t>loads </a:t>
          </a:r>
          <a:r>
            <a:rPr lang="en-US" sz="1300" b="1" dirty="0" err="1"/>
            <a:t>upto</a:t>
          </a:r>
          <a:r>
            <a:rPr lang="en-US" sz="1300" b="1" dirty="0"/>
            <a:t> 500kW </a:t>
          </a:r>
          <a:r>
            <a:rPr lang="en-US" sz="1300" dirty="0"/>
            <a:t>or up to 90% of the sanctioned load, whichever is lower</a:t>
          </a:r>
        </a:p>
      </dgm:t>
    </dgm:pt>
    <dgm:pt modelId="{FF8D0E7C-2A95-4FE8-89EF-2A53B07614F2}" type="parTrans" cxnId="{DD57E3DB-0421-46DF-9B84-8B11EECA4018}">
      <dgm:prSet/>
      <dgm:spPr/>
      <dgm:t>
        <a:bodyPr/>
        <a:lstStyle/>
        <a:p>
          <a:endParaRPr lang="en-US"/>
        </a:p>
      </dgm:t>
    </dgm:pt>
    <dgm:pt modelId="{877B02A7-A179-4D44-AE07-EC5DCC733DCE}" type="sibTrans" cxnId="{DD57E3DB-0421-46DF-9B84-8B11EECA4018}">
      <dgm:prSet/>
      <dgm:spPr/>
      <dgm:t>
        <a:bodyPr/>
        <a:lstStyle/>
        <a:p>
          <a:endParaRPr lang="en-US"/>
        </a:p>
      </dgm:t>
    </dgm:pt>
    <dgm:pt modelId="{2FA54F66-12B8-4A48-B5B1-D717F30EB195}">
      <dgm:prSet phldrT="[Text]" custT="1"/>
      <dgm:spPr/>
      <dgm:t>
        <a:bodyPr/>
        <a:lstStyle/>
        <a:p>
          <a:endParaRPr lang="en-US" sz="1300" b="1" dirty="0"/>
        </a:p>
        <a:p>
          <a:r>
            <a:rPr lang="en-US" sz="1300" b="1" dirty="0"/>
            <a:t>Implementation of RPO</a:t>
          </a:r>
        </a:p>
      </dgm:t>
    </dgm:pt>
    <dgm:pt modelId="{6F19E61E-7BCC-440B-A2EB-C5C7D719830A}" type="parTrans" cxnId="{3218FBAA-74D8-404D-93A7-4F26DB309486}">
      <dgm:prSet/>
      <dgm:spPr/>
      <dgm:t>
        <a:bodyPr/>
        <a:lstStyle/>
        <a:p>
          <a:endParaRPr lang="en-US"/>
        </a:p>
      </dgm:t>
    </dgm:pt>
    <dgm:pt modelId="{330444CE-BA1B-486C-9B52-1EDDA17B288D}" type="sibTrans" cxnId="{3218FBAA-74D8-404D-93A7-4F26DB309486}">
      <dgm:prSet/>
      <dgm:spPr/>
      <dgm:t>
        <a:bodyPr/>
        <a:lstStyle/>
        <a:p>
          <a:endParaRPr lang="en-US"/>
        </a:p>
      </dgm:t>
    </dgm:pt>
    <dgm:pt modelId="{87E936C5-B52E-4EFC-B2B0-B8D99CF61469}">
      <dgm:prSet phldrT="[Text]" custT="1"/>
      <dgm:spPr/>
      <dgm:t>
        <a:bodyPr/>
        <a:lstStyle/>
        <a:p>
          <a:pPr>
            <a:buFont typeface="Wingdings" panose="05000000000000000000" pitchFamily="2" charset="2"/>
            <a:buChar char="q"/>
          </a:pPr>
          <a:r>
            <a:rPr lang="en-US" sz="1300" dirty="0"/>
            <a:t>Additional penalty for Obligated Entities over and above the WBERC mandated penalty currently in place for non-fulfillment of RPO obligations</a:t>
          </a:r>
        </a:p>
      </dgm:t>
    </dgm:pt>
    <dgm:pt modelId="{97CA2160-E143-4BA8-8946-C0D6E306F276}" type="parTrans" cxnId="{C35FCB98-957C-456B-90B2-037F10252B5E}">
      <dgm:prSet/>
      <dgm:spPr/>
      <dgm:t>
        <a:bodyPr/>
        <a:lstStyle/>
        <a:p>
          <a:endParaRPr lang="en-US"/>
        </a:p>
      </dgm:t>
    </dgm:pt>
    <dgm:pt modelId="{6903DA5D-B57E-495E-8279-99F637A09578}" type="sibTrans" cxnId="{C35FCB98-957C-456B-90B2-037F10252B5E}">
      <dgm:prSet/>
      <dgm:spPr/>
      <dgm:t>
        <a:bodyPr/>
        <a:lstStyle/>
        <a:p>
          <a:endParaRPr lang="en-US"/>
        </a:p>
      </dgm:t>
    </dgm:pt>
    <dgm:pt modelId="{1A258077-5A74-4937-AF6D-7AD0E6843EF4}">
      <dgm:prSet phldrT="[Text]" custT="1"/>
      <dgm:spPr>
        <a:solidFill>
          <a:srgbClr val="007680"/>
        </a:solidFill>
      </dgm:spPr>
      <dgm:t>
        <a:bodyPr/>
        <a:lstStyle/>
        <a:p>
          <a:endParaRPr lang="en-US" sz="1300" b="1" dirty="0"/>
        </a:p>
        <a:p>
          <a:r>
            <a:rPr lang="en-US" sz="1300" b="1" dirty="0"/>
            <a:t>Promoting Green Energy for EV Charging stations</a:t>
          </a:r>
        </a:p>
      </dgm:t>
    </dgm:pt>
    <dgm:pt modelId="{E19C10BC-D7E6-4B07-B296-7E6AA74B0B3A}" type="parTrans" cxnId="{DA84E8CC-DFEC-4F7E-B898-0F3BCA59E3C2}">
      <dgm:prSet/>
      <dgm:spPr/>
      <dgm:t>
        <a:bodyPr/>
        <a:lstStyle/>
        <a:p>
          <a:endParaRPr lang="en-US"/>
        </a:p>
      </dgm:t>
    </dgm:pt>
    <dgm:pt modelId="{7F7F2CE6-F010-4EAC-A3E8-35393EDEEF3C}" type="sibTrans" cxnId="{DA84E8CC-DFEC-4F7E-B898-0F3BCA59E3C2}">
      <dgm:prSet/>
      <dgm:spPr/>
      <dgm:t>
        <a:bodyPr/>
        <a:lstStyle/>
        <a:p>
          <a:endParaRPr lang="en-US"/>
        </a:p>
      </dgm:t>
    </dgm:pt>
    <dgm:pt modelId="{14D490A9-7356-48E9-A1EB-F831CF63D1EF}">
      <dgm:prSet phldrT="[Text]" custT="1"/>
      <dgm:spPr/>
      <dgm:t>
        <a:bodyPr/>
        <a:lstStyle/>
        <a:p>
          <a:pPr>
            <a:buFont typeface="Wingdings" panose="05000000000000000000" pitchFamily="2" charset="2"/>
            <a:buChar char="q"/>
          </a:pPr>
          <a:r>
            <a:rPr lang="en-US" sz="1300" dirty="0">
              <a:solidFill>
                <a:schemeClr val="tx1"/>
              </a:solidFill>
            </a:rPr>
            <a:t>Exemption of Open Access Charges with respect to RE generation used for EV Charging infrastructure</a:t>
          </a:r>
        </a:p>
      </dgm:t>
    </dgm:pt>
    <dgm:pt modelId="{FA3E745F-4B36-4122-B303-F25AC4AA4103}" type="parTrans" cxnId="{1517BB6C-0E83-4FE7-9CDC-35F8E53BAD60}">
      <dgm:prSet/>
      <dgm:spPr/>
      <dgm:t>
        <a:bodyPr/>
        <a:lstStyle/>
        <a:p>
          <a:endParaRPr lang="en-US"/>
        </a:p>
      </dgm:t>
    </dgm:pt>
    <dgm:pt modelId="{7BE8DBBF-05FC-4242-870D-F0351B2811A9}" type="sibTrans" cxnId="{1517BB6C-0E83-4FE7-9CDC-35F8E53BAD60}">
      <dgm:prSet/>
      <dgm:spPr/>
      <dgm:t>
        <a:bodyPr/>
        <a:lstStyle/>
        <a:p>
          <a:endParaRPr lang="en-US"/>
        </a:p>
      </dgm:t>
    </dgm:pt>
    <dgm:pt modelId="{E4670958-0CC8-40A5-A3EB-865D1A2F1CB7}">
      <dgm:prSet phldrT="[Text]" custT="1"/>
      <dgm:spPr/>
      <dgm:t>
        <a:bodyPr/>
        <a:lstStyle/>
        <a:p>
          <a:pPr>
            <a:buFont typeface="Wingdings" panose="05000000000000000000" pitchFamily="2" charset="2"/>
            <a:buChar char="q"/>
          </a:pPr>
          <a:r>
            <a:rPr lang="en-US" sz="1300" dirty="0"/>
            <a:t>DISCOM should develop a suitable and comprehensive consumer-friendly IT application for facilitating online timely approvals and monitoring of these projects</a:t>
          </a:r>
        </a:p>
      </dgm:t>
    </dgm:pt>
    <dgm:pt modelId="{F3EA4E3C-18EB-4B6E-BAF4-296768EE61A7}" type="parTrans" cxnId="{A666A65C-1C80-412D-992C-2732A4150732}">
      <dgm:prSet/>
      <dgm:spPr/>
      <dgm:t>
        <a:bodyPr/>
        <a:lstStyle/>
        <a:p>
          <a:endParaRPr lang="en-US"/>
        </a:p>
      </dgm:t>
    </dgm:pt>
    <dgm:pt modelId="{86722BC9-E8CF-4D09-8904-191E8614F0B8}" type="sibTrans" cxnId="{A666A65C-1C80-412D-992C-2732A4150732}">
      <dgm:prSet/>
      <dgm:spPr/>
      <dgm:t>
        <a:bodyPr/>
        <a:lstStyle/>
        <a:p>
          <a:endParaRPr lang="en-US"/>
        </a:p>
      </dgm:t>
    </dgm:pt>
    <dgm:pt modelId="{567D62E2-C68E-4547-8970-F08F9BED9B9B}">
      <dgm:prSet phldrT="[Text]" custT="1"/>
      <dgm:spPr/>
      <dgm:t>
        <a:bodyPr/>
        <a:lstStyle/>
        <a:p>
          <a:pPr>
            <a:buFont typeface="Wingdings" panose="05000000000000000000" pitchFamily="2" charset="2"/>
            <a:buChar char="q"/>
          </a:pPr>
          <a:r>
            <a:rPr lang="en-US" sz="1300" dirty="0"/>
            <a:t>RE generation for consumers “behind the meter” other than Obligated Entities may also be considered for contribution towards fulfillment of RPO obligations by DISCOM</a:t>
          </a:r>
        </a:p>
      </dgm:t>
    </dgm:pt>
    <dgm:pt modelId="{5D0B849E-C10A-4B62-A061-3215DC139AB6}" type="parTrans" cxnId="{62BD1C57-96F9-4151-8C5A-D850849EDA02}">
      <dgm:prSet/>
      <dgm:spPr/>
      <dgm:t>
        <a:bodyPr/>
        <a:lstStyle/>
        <a:p>
          <a:endParaRPr lang="en-US"/>
        </a:p>
      </dgm:t>
    </dgm:pt>
    <dgm:pt modelId="{C9A96507-1D39-4898-8176-86FCF3110E79}" type="sibTrans" cxnId="{62BD1C57-96F9-4151-8C5A-D850849EDA02}">
      <dgm:prSet/>
      <dgm:spPr/>
      <dgm:t>
        <a:bodyPr/>
        <a:lstStyle/>
        <a:p>
          <a:endParaRPr lang="en-US"/>
        </a:p>
      </dgm:t>
    </dgm:pt>
    <dgm:pt modelId="{E4503273-79CE-4E87-BE73-ECC23488B3CB}">
      <dgm:prSet phldrT="[Text]" custT="1"/>
      <dgm:spPr/>
      <dgm:t>
        <a:bodyPr/>
        <a:lstStyle/>
        <a:p>
          <a:pPr>
            <a:buFont typeface="Wingdings" panose="05000000000000000000" pitchFamily="2" charset="2"/>
            <a:buChar char="q"/>
          </a:pPr>
          <a:r>
            <a:rPr lang="en-US" sz="1300" dirty="0"/>
            <a:t>Certain timelines/deadlines for processing of such Net-metering applications may suitably be decided</a:t>
          </a:r>
        </a:p>
      </dgm:t>
    </dgm:pt>
    <dgm:pt modelId="{7F834EFE-5FD8-4C35-AE7A-203268513118}" type="parTrans" cxnId="{4D73E281-B87B-40A3-911F-3A2C509DBA1D}">
      <dgm:prSet/>
      <dgm:spPr/>
      <dgm:t>
        <a:bodyPr/>
        <a:lstStyle/>
        <a:p>
          <a:endParaRPr lang="en-US"/>
        </a:p>
      </dgm:t>
    </dgm:pt>
    <dgm:pt modelId="{7AC4D146-BDA9-44E6-B700-32ED389BCF67}" type="sibTrans" cxnId="{4D73E281-B87B-40A3-911F-3A2C509DBA1D}">
      <dgm:prSet/>
      <dgm:spPr/>
      <dgm:t>
        <a:bodyPr/>
        <a:lstStyle/>
        <a:p>
          <a:endParaRPr lang="en-US"/>
        </a:p>
      </dgm:t>
    </dgm:pt>
    <dgm:pt modelId="{8847264E-7EEA-4B36-9DF8-1372624FA328}" type="pres">
      <dgm:prSet presAssocID="{523DB35B-72C8-44FD-9388-6F34F63C42CD}" presName="linearFlow" presStyleCnt="0">
        <dgm:presLayoutVars>
          <dgm:dir/>
          <dgm:animLvl val="lvl"/>
          <dgm:resizeHandles val="exact"/>
        </dgm:presLayoutVars>
      </dgm:prSet>
      <dgm:spPr/>
    </dgm:pt>
    <dgm:pt modelId="{81890066-942F-4B36-9482-7CAA1783FBE7}" type="pres">
      <dgm:prSet presAssocID="{029488A9-2A9E-4460-8C29-4C3FAE112CC3}" presName="composite" presStyleCnt="0"/>
      <dgm:spPr/>
    </dgm:pt>
    <dgm:pt modelId="{E22D0917-526D-42A8-B025-F0D8E3E456D5}" type="pres">
      <dgm:prSet presAssocID="{029488A9-2A9E-4460-8C29-4C3FAE112CC3}" presName="parentText" presStyleLbl="alignNode1" presStyleIdx="0" presStyleCnt="3">
        <dgm:presLayoutVars>
          <dgm:chMax val="1"/>
          <dgm:bulletEnabled val="1"/>
        </dgm:presLayoutVars>
      </dgm:prSet>
      <dgm:spPr/>
    </dgm:pt>
    <dgm:pt modelId="{3DE82043-A48D-415C-8D85-6C767394D0FE}" type="pres">
      <dgm:prSet presAssocID="{029488A9-2A9E-4460-8C29-4C3FAE112CC3}" presName="descendantText" presStyleLbl="alignAcc1" presStyleIdx="0" presStyleCnt="3">
        <dgm:presLayoutVars>
          <dgm:bulletEnabled val="1"/>
        </dgm:presLayoutVars>
      </dgm:prSet>
      <dgm:spPr/>
    </dgm:pt>
    <dgm:pt modelId="{5349F40B-8203-45F9-8552-734CD8FE8EB5}" type="pres">
      <dgm:prSet presAssocID="{38E1DE85-8EF2-4AA6-956B-4A4C1DEA7F59}" presName="sp" presStyleCnt="0"/>
      <dgm:spPr/>
    </dgm:pt>
    <dgm:pt modelId="{3340B41A-9555-41D8-B0C5-080B46E3912A}" type="pres">
      <dgm:prSet presAssocID="{2FA54F66-12B8-4A48-B5B1-D717F30EB195}" presName="composite" presStyleCnt="0"/>
      <dgm:spPr/>
    </dgm:pt>
    <dgm:pt modelId="{6C54E85B-9169-4F16-9022-E4A989D806D1}" type="pres">
      <dgm:prSet presAssocID="{2FA54F66-12B8-4A48-B5B1-D717F30EB195}" presName="parentText" presStyleLbl="alignNode1" presStyleIdx="1" presStyleCnt="3">
        <dgm:presLayoutVars>
          <dgm:chMax val="1"/>
          <dgm:bulletEnabled val="1"/>
        </dgm:presLayoutVars>
      </dgm:prSet>
      <dgm:spPr/>
    </dgm:pt>
    <dgm:pt modelId="{74201CF7-6425-41C7-9745-8818CF457ADE}" type="pres">
      <dgm:prSet presAssocID="{2FA54F66-12B8-4A48-B5B1-D717F30EB195}" presName="descendantText" presStyleLbl="alignAcc1" presStyleIdx="1" presStyleCnt="3">
        <dgm:presLayoutVars>
          <dgm:bulletEnabled val="1"/>
        </dgm:presLayoutVars>
      </dgm:prSet>
      <dgm:spPr/>
    </dgm:pt>
    <dgm:pt modelId="{7CFF4358-14E2-44C2-B850-2C1D0890D15E}" type="pres">
      <dgm:prSet presAssocID="{330444CE-BA1B-486C-9B52-1EDDA17B288D}" presName="sp" presStyleCnt="0"/>
      <dgm:spPr/>
    </dgm:pt>
    <dgm:pt modelId="{AED06098-20E8-41A5-9836-F205D3A7649C}" type="pres">
      <dgm:prSet presAssocID="{1A258077-5A74-4937-AF6D-7AD0E6843EF4}" presName="composite" presStyleCnt="0"/>
      <dgm:spPr/>
    </dgm:pt>
    <dgm:pt modelId="{8C1FEB7F-F9B9-478E-BA99-09CC923B8FDA}" type="pres">
      <dgm:prSet presAssocID="{1A258077-5A74-4937-AF6D-7AD0E6843EF4}" presName="parentText" presStyleLbl="alignNode1" presStyleIdx="2" presStyleCnt="3">
        <dgm:presLayoutVars>
          <dgm:chMax val="1"/>
          <dgm:bulletEnabled val="1"/>
        </dgm:presLayoutVars>
      </dgm:prSet>
      <dgm:spPr/>
    </dgm:pt>
    <dgm:pt modelId="{119D5FAA-8CE6-4F9A-9C27-0E016A372AFF}" type="pres">
      <dgm:prSet presAssocID="{1A258077-5A74-4937-AF6D-7AD0E6843EF4}" presName="descendantText" presStyleLbl="alignAcc1" presStyleIdx="2" presStyleCnt="3" custLinFactNeighborX="0">
        <dgm:presLayoutVars>
          <dgm:bulletEnabled val="1"/>
        </dgm:presLayoutVars>
      </dgm:prSet>
      <dgm:spPr/>
    </dgm:pt>
  </dgm:ptLst>
  <dgm:cxnLst>
    <dgm:cxn modelId="{1F9CF613-8DA4-445B-9C81-611C6454C2DA}" type="presOf" srcId="{523DB35B-72C8-44FD-9388-6F34F63C42CD}" destId="{8847264E-7EEA-4B36-9DF8-1372624FA328}" srcOrd="0" destOrd="0" presId="urn:microsoft.com/office/officeart/2005/8/layout/chevron2"/>
    <dgm:cxn modelId="{BBD0F524-3C93-4CEE-B1AA-738441CBC24F}" type="presOf" srcId="{1A258077-5A74-4937-AF6D-7AD0E6843EF4}" destId="{8C1FEB7F-F9B9-478E-BA99-09CC923B8FDA}" srcOrd="0" destOrd="0" presId="urn:microsoft.com/office/officeart/2005/8/layout/chevron2"/>
    <dgm:cxn modelId="{477A4B3A-E340-4348-AED4-A993E5B08E74}" type="presOf" srcId="{567D62E2-C68E-4547-8970-F08F9BED9B9B}" destId="{74201CF7-6425-41C7-9745-8818CF457ADE}" srcOrd="0" destOrd="1" presId="urn:microsoft.com/office/officeart/2005/8/layout/chevron2"/>
    <dgm:cxn modelId="{A666A65C-1C80-412D-992C-2732A4150732}" srcId="{029488A9-2A9E-4460-8C29-4C3FAE112CC3}" destId="{E4670958-0CC8-40A5-A3EB-865D1A2F1CB7}" srcOrd="1" destOrd="0" parTransId="{F3EA4E3C-18EB-4B6E-BAF4-296768EE61A7}" sibTransId="{86722BC9-E8CF-4D09-8904-191E8614F0B8}"/>
    <dgm:cxn modelId="{010DEA66-8BEF-411E-81E4-E3E5897028C2}" type="presOf" srcId="{E4670958-0CC8-40A5-A3EB-865D1A2F1CB7}" destId="{3DE82043-A48D-415C-8D85-6C767394D0FE}" srcOrd="0" destOrd="1" presId="urn:microsoft.com/office/officeart/2005/8/layout/chevron2"/>
    <dgm:cxn modelId="{1517BB6C-0E83-4FE7-9CDC-35F8E53BAD60}" srcId="{1A258077-5A74-4937-AF6D-7AD0E6843EF4}" destId="{14D490A9-7356-48E9-A1EB-F831CF63D1EF}" srcOrd="0" destOrd="0" parTransId="{FA3E745F-4B36-4122-B303-F25AC4AA4103}" sibTransId="{7BE8DBBF-05FC-4242-870D-F0351B2811A9}"/>
    <dgm:cxn modelId="{62BD1C57-96F9-4151-8C5A-D850849EDA02}" srcId="{2FA54F66-12B8-4A48-B5B1-D717F30EB195}" destId="{567D62E2-C68E-4547-8970-F08F9BED9B9B}" srcOrd="1" destOrd="0" parTransId="{5D0B849E-C10A-4B62-A061-3215DC139AB6}" sibTransId="{C9A96507-1D39-4898-8176-86FCF3110E79}"/>
    <dgm:cxn modelId="{4D73E281-B87B-40A3-911F-3A2C509DBA1D}" srcId="{029488A9-2A9E-4460-8C29-4C3FAE112CC3}" destId="{E4503273-79CE-4E87-BE73-ECC23488B3CB}" srcOrd="2" destOrd="0" parTransId="{7F834EFE-5FD8-4C35-AE7A-203268513118}" sibTransId="{7AC4D146-BDA9-44E6-B700-32ED389BCF67}"/>
    <dgm:cxn modelId="{D9BBF495-F0BE-4604-A19A-745C75B11B29}" type="presOf" srcId="{2FA54F66-12B8-4A48-B5B1-D717F30EB195}" destId="{6C54E85B-9169-4F16-9022-E4A989D806D1}" srcOrd="0" destOrd="0" presId="urn:microsoft.com/office/officeart/2005/8/layout/chevron2"/>
    <dgm:cxn modelId="{C35FCB98-957C-456B-90B2-037F10252B5E}" srcId="{2FA54F66-12B8-4A48-B5B1-D717F30EB195}" destId="{87E936C5-B52E-4EFC-B2B0-B8D99CF61469}" srcOrd="0" destOrd="0" parTransId="{97CA2160-E143-4BA8-8946-C0D6E306F276}" sibTransId="{6903DA5D-B57E-495E-8279-99F637A09578}"/>
    <dgm:cxn modelId="{B9AEC8A1-72B0-403D-92E0-A25D9A7D1ED7}" type="presOf" srcId="{01DE186E-3CCF-44F6-9F77-4DE500DBCBC5}" destId="{3DE82043-A48D-415C-8D85-6C767394D0FE}" srcOrd="0" destOrd="0" presId="urn:microsoft.com/office/officeart/2005/8/layout/chevron2"/>
    <dgm:cxn modelId="{44B841A6-851D-4F8A-894F-35725B16FEFE}" type="presOf" srcId="{87E936C5-B52E-4EFC-B2B0-B8D99CF61469}" destId="{74201CF7-6425-41C7-9745-8818CF457ADE}" srcOrd="0" destOrd="0" presId="urn:microsoft.com/office/officeart/2005/8/layout/chevron2"/>
    <dgm:cxn modelId="{3218FBAA-74D8-404D-93A7-4F26DB309486}" srcId="{523DB35B-72C8-44FD-9388-6F34F63C42CD}" destId="{2FA54F66-12B8-4A48-B5B1-D717F30EB195}" srcOrd="1" destOrd="0" parTransId="{6F19E61E-7BCC-440B-A2EB-C5C7D719830A}" sibTransId="{330444CE-BA1B-486C-9B52-1EDDA17B288D}"/>
    <dgm:cxn modelId="{1F2B2BC7-E986-4580-897C-4CCB8B9EF229}" type="presOf" srcId="{029488A9-2A9E-4460-8C29-4C3FAE112CC3}" destId="{E22D0917-526D-42A8-B025-F0D8E3E456D5}" srcOrd="0" destOrd="0" presId="urn:microsoft.com/office/officeart/2005/8/layout/chevron2"/>
    <dgm:cxn modelId="{84147EC7-0674-4EEB-8BB4-82EA7E5419F4}" type="presOf" srcId="{14D490A9-7356-48E9-A1EB-F831CF63D1EF}" destId="{119D5FAA-8CE6-4F9A-9C27-0E016A372AFF}" srcOrd="0" destOrd="0" presId="urn:microsoft.com/office/officeart/2005/8/layout/chevron2"/>
    <dgm:cxn modelId="{92E412C8-9E39-4BBE-94A5-DCFF0B5AFB22}" type="presOf" srcId="{E4503273-79CE-4E87-BE73-ECC23488B3CB}" destId="{3DE82043-A48D-415C-8D85-6C767394D0FE}" srcOrd="0" destOrd="2" presId="urn:microsoft.com/office/officeart/2005/8/layout/chevron2"/>
    <dgm:cxn modelId="{DA84E8CC-DFEC-4F7E-B898-0F3BCA59E3C2}" srcId="{523DB35B-72C8-44FD-9388-6F34F63C42CD}" destId="{1A258077-5A74-4937-AF6D-7AD0E6843EF4}" srcOrd="2" destOrd="0" parTransId="{E19C10BC-D7E6-4B07-B296-7E6AA74B0B3A}" sibTransId="{7F7F2CE6-F010-4EAC-A3E8-35393EDEEF3C}"/>
    <dgm:cxn modelId="{DD57E3DB-0421-46DF-9B84-8B11EECA4018}" srcId="{029488A9-2A9E-4460-8C29-4C3FAE112CC3}" destId="{01DE186E-3CCF-44F6-9F77-4DE500DBCBC5}" srcOrd="0" destOrd="0" parTransId="{FF8D0E7C-2A95-4FE8-89EF-2A53B07614F2}" sibTransId="{877B02A7-A179-4D44-AE07-EC5DCC733DCE}"/>
    <dgm:cxn modelId="{DB0F6BE3-458A-4C84-97A3-2240D8F6BF1F}" srcId="{523DB35B-72C8-44FD-9388-6F34F63C42CD}" destId="{029488A9-2A9E-4460-8C29-4C3FAE112CC3}" srcOrd="0" destOrd="0" parTransId="{CF3CC447-6140-4248-9B83-7CF1565F3A68}" sibTransId="{38E1DE85-8EF2-4AA6-956B-4A4C1DEA7F59}"/>
    <dgm:cxn modelId="{CF05B256-39B2-42C5-B981-ED28039BE27A}" type="presParOf" srcId="{8847264E-7EEA-4B36-9DF8-1372624FA328}" destId="{81890066-942F-4B36-9482-7CAA1783FBE7}" srcOrd="0" destOrd="0" presId="urn:microsoft.com/office/officeart/2005/8/layout/chevron2"/>
    <dgm:cxn modelId="{331331B2-F039-427E-BD30-A1AAA9898941}" type="presParOf" srcId="{81890066-942F-4B36-9482-7CAA1783FBE7}" destId="{E22D0917-526D-42A8-B025-F0D8E3E456D5}" srcOrd="0" destOrd="0" presId="urn:microsoft.com/office/officeart/2005/8/layout/chevron2"/>
    <dgm:cxn modelId="{72600C2C-BDFC-440A-B3B3-27E3E7BE6D25}" type="presParOf" srcId="{81890066-942F-4B36-9482-7CAA1783FBE7}" destId="{3DE82043-A48D-415C-8D85-6C767394D0FE}" srcOrd="1" destOrd="0" presId="urn:microsoft.com/office/officeart/2005/8/layout/chevron2"/>
    <dgm:cxn modelId="{DD49C72C-19F4-4426-9EEB-D721044A4BE6}" type="presParOf" srcId="{8847264E-7EEA-4B36-9DF8-1372624FA328}" destId="{5349F40B-8203-45F9-8552-734CD8FE8EB5}" srcOrd="1" destOrd="0" presId="urn:microsoft.com/office/officeart/2005/8/layout/chevron2"/>
    <dgm:cxn modelId="{2D55B884-6D4B-401D-B93D-0DD15BA16A59}" type="presParOf" srcId="{8847264E-7EEA-4B36-9DF8-1372624FA328}" destId="{3340B41A-9555-41D8-B0C5-080B46E3912A}" srcOrd="2" destOrd="0" presId="urn:microsoft.com/office/officeart/2005/8/layout/chevron2"/>
    <dgm:cxn modelId="{A1ADDEE3-5FFA-44BF-889D-5873945DF317}" type="presParOf" srcId="{3340B41A-9555-41D8-B0C5-080B46E3912A}" destId="{6C54E85B-9169-4F16-9022-E4A989D806D1}" srcOrd="0" destOrd="0" presId="urn:microsoft.com/office/officeart/2005/8/layout/chevron2"/>
    <dgm:cxn modelId="{EC53951D-8347-4386-8EDE-2A184E5EEDB1}" type="presParOf" srcId="{3340B41A-9555-41D8-B0C5-080B46E3912A}" destId="{74201CF7-6425-41C7-9745-8818CF457ADE}" srcOrd="1" destOrd="0" presId="urn:microsoft.com/office/officeart/2005/8/layout/chevron2"/>
    <dgm:cxn modelId="{8D94B178-148C-46C7-813E-1D0869B66AAA}" type="presParOf" srcId="{8847264E-7EEA-4B36-9DF8-1372624FA328}" destId="{7CFF4358-14E2-44C2-B850-2C1D0890D15E}" srcOrd="3" destOrd="0" presId="urn:microsoft.com/office/officeart/2005/8/layout/chevron2"/>
    <dgm:cxn modelId="{3EFFC036-3AA1-4BCE-A822-CBA431AC0EFE}" type="presParOf" srcId="{8847264E-7EEA-4B36-9DF8-1372624FA328}" destId="{AED06098-20E8-41A5-9836-F205D3A7649C}" srcOrd="4" destOrd="0" presId="urn:microsoft.com/office/officeart/2005/8/layout/chevron2"/>
    <dgm:cxn modelId="{25A50C6D-8084-4949-BFFC-04074B75FEE3}" type="presParOf" srcId="{AED06098-20E8-41A5-9836-F205D3A7649C}" destId="{8C1FEB7F-F9B9-478E-BA99-09CC923B8FDA}" srcOrd="0" destOrd="0" presId="urn:microsoft.com/office/officeart/2005/8/layout/chevron2"/>
    <dgm:cxn modelId="{591D20C7-AC57-440C-BCAC-46A3C53A8A24}" type="presParOf" srcId="{AED06098-20E8-41A5-9836-F205D3A7649C}" destId="{119D5FAA-8CE6-4F9A-9C27-0E016A372AFF}" srcOrd="1" destOrd="0" presId="urn:microsoft.com/office/officeart/2005/8/layout/chevron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5378C942-D00F-43D4-8C88-E57E3194ADA3}"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67348C83-D61E-4059-A67F-1FF45BC073AD}">
      <dgm:prSet phldrT="[Text]" custT="1"/>
      <dgm:spPr>
        <a:solidFill>
          <a:srgbClr val="007680"/>
        </a:solidFill>
      </dgm:spPr>
      <dgm:t>
        <a:bodyPr/>
        <a:lstStyle/>
        <a:p>
          <a:r>
            <a:rPr lang="en-US" sz="1200" b="1" dirty="0"/>
            <a:t>Improvement in Service Delivery Time and Beneficiary Feedback: </a:t>
          </a:r>
          <a:r>
            <a:rPr lang="en-US" sz="1200" i="1" dirty="0"/>
            <a:t>The State catered to only about 50 solar systems in 2010-11, but to about 4,500 units in 2012-13, an escalation 90 times,</a:t>
          </a:r>
        </a:p>
      </dgm:t>
    </dgm:pt>
    <dgm:pt modelId="{84A3AA7E-570E-41D7-AA36-149964591EFE}" type="parTrans" cxnId="{87E3AB3F-41D9-47D5-B396-8003FBF40834}">
      <dgm:prSet/>
      <dgm:spPr/>
      <dgm:t>
        <a:bodyPr/>
        <a:lstStyle/>
        <a:p>
          <a:endParaRPr lang="en-US"/>
        </a:p>
      </dgm:t>
    </dgm:pt>
    <dgm:pt modelId="{53DD984F-FBC5-42D2-B0C3-634302226F34}" type="sibTrans" cxnId="{87E3AB3F-41D9-47D5-B396-8003FBF40834}">
      <dgm:prSet/>
      <dgm:spPr/>
      <dgm:t>
        <a:bodyPr/>
        <a:lstStyle/>
        <a:p>
          <a:endParaRPr lang="en-US"/>
        </a:p>
      </dgm:t>
    </dgm:pt>
    <dgm:pt modelId="{8498290F-1F0F-42F6-A101-85A4054F94EB}">
      <dgm:prSet phldrT="[Text]" custT="1"/>
      <dgm:spPr>
        <a:solidFill>
          <a:srgbClr val="009A44"/>
        </a:solidFill>
      </dgm:spPr>
      <dgm:t>
        <a:bodyPr/>
        <a:lstStyle/>
        <a:p>
          <a:r>
            <a:rPr lang="en-US" sz="1200" b="1" dirty="0"/>
            <a:t>Procedures Simplified: </a:t>
          </a:r>
          <a:r>
            <a:rPr lang="en-US" sz="1200" b="0" i="1" dirty="0"/>
            <a:t>Ease of project monitoring, funding and implementation</a:t>
          </a:r>
        </a:p>
      </dgm:t>
    </dgm:pt>
    <dgm:pt modelId="{FAE2E062-639C-4655-8068-3786C61BC312}" type="parTrans" cxnId="{C054D422-59D8-4303-AC22-F70EFED453DA}">
      <dgm:prSet/>
      <dgm:spPr/>
      <dgm:t>
        <a:bodyPr/>
        <a:lstStyle/>
        <a:p>
          <a:endParaRPr lang="en-US"/>
        </a:p>
      </dgm:t>
    </dgm:pt>
    <dgm:pt modelId="{EDE4390A-DCEA-44DF-8E23-AD21F8320FCC}" type="sibTrans" cxnId="{C054D422-59D8-4303-AC22-F70EFED453DA}">
      <dgm:prSet/>
      <dgm:spPr/>
      <dgm:t>
        <a:bodyPr/>
        <a:lstStyle/>
        <a:p>
          <a:endParaRPr lang="en-US"/>
        </a:p>
      </dgm:t>
    </dgm:pt>
    <dgm:pt modelId="{DBD83BD9-8392-491A-AB87-F645798AF795}" type="pres">
      <dgm:prSet presAssocID="{5378C942-D00F-43D4-8C88-E57E3194ADA3}" presName="Name0" presStyleCnt="0">
        <dgm:presLayoutVars>
          <dgm:chMax val="7"/>
          <dgm:chPref val="7"/>
          <dgm:dir/>
        </dgm:presLayoutVars>
      </dgm:prSet>
      <dgm:spPr/>
    </dgm:pt>
    <dgm:pt modelId="{E600CDAF-FA3B-415B-A970-C758D34643CE}" type="pres">
      <dgm:prSet presAssocID="{5378C942-D00F-43D4-8C88-E57E3194ADA3}" presName="Name1" presStyleCnt="0"/>
      <dgm:spPr/>
    </dgm:pt>
    <dgm:pt modelId="{57C9292D-9CD7-40D9-8381-809CA6537BEC}" type="pres">
      <dgm:prSet presAssocID="{5378C942-D00F-43D4-8C88-E57E3194ADA3}" presName="cycle" presStyleCnt="0"/>
      <dgm:spPr/>
    </dgm:pt>
    <dgm:pt modelId="{B9801E9C-D15A-4F66-BE38-2C0AEFE358EF}" type="pres">
      <dgm:prSet presAssocID="{5378C942-D00F-43D4-8C88-E57E3194ADA3}" presName="srcNode" presStyleLbl="node1" presStyleIdx="0" presStyleCnt="2"/>
      <dgm:spPr/>
    </dgm:pt>
    <dgm:pt modelId="{9D5B742C-5E24-4A79-B76E-034F1C3C95C7}" type="pres">
      <dgm:prSet presAssocID="{5378C942-D00F-43D4-8C88-E57E3194ADA3}" presName="conn" presStyleLbl="parChTrans1D2" presStyleIdx="0" presStyleCnt="1"/>
      <dgm:spPr/>
    </dgm:pt>
    <dgm:pt modelId="{576672E3-EC22-4A12-816D-F013CAA16BE6}" type="pres">
      <dgm:prSet presAssocID="{5378C942-D00F-43D4-8C88-E57E3194ADA3}" presName="extraNode" presStyleLbl="node1" presStyleIdx="0" presStyleCnt="2"/>
      <dgm:spPr/>
    </dgm:pt>
    <dgm:pt modelId="{81FCB76C-8B8A-4DB6-B65C-CE52397DA24D}" type="pres">
      <dgm:prSet presAssocID="{5378C942-D00F-43D4-8C88-E57E3194ADA3}" presName="dstNode" presStyleLbl="node1" presStyleIdx="0" presStyleCnt="2"/>
      <dgm:spPr/>
    </dgm:pt>
    <dgm:pt modelId="{A67FAB15-F78C-4606-9590-12DDD35236F3}" type="pres">
      <dgm:prSet presAssocID="{67348C83-D61E-4059-A67F-1FF45BC073AD}" presName="text_1" presStyleLbl="node1" presStyleIdx="0" presStyleCnt="2" custLinFactNeighborX="-97" custLinFactNeighborY="-1056">
        <dgm:presLayoutVars>
          <dgm:bulletEnabled val="1"/>
        </dgm:presLayoutVars>
      </dgm:prSet>
      <dgm:spPr/>
    </dgm:pt>
    <dgm:pt modelId="{47D94C88-3045-41AA-A4B8-C6DABE7426D3}" type="pres">
      <dgm:prSet presAssocID="{67348C83-D61E-4059-A67F-1FF45BC073AD}" presName="accent_1" presStyleCnt="0"/>
      <dgm:spPr/>
    </dgm:pt>
    <dgm:pt modelId="{972658EB-AF78-41F0-8B4A-2B233A24E225}" type="pres">
      <dgm:prSet presAssocID="{67348C83-D61E-4059-A67F-1FF45BC073AD}" presName="accentRepeatNode" presStyleLbl="solidFgAcc1" presStyleIdx="0" presStyleCnt="2"/>
      <dgm:spPr/>
    </dgm:pt>
    <dgm:pt modelId="{A1BD471A-0BAA-4BCB-ABA8-C15213C14F6B}" type="pres">
      <dgm:prSet presAssocID="{8498290F-1F0F-42F6-A101-85A4054F94EB}" presName="text_2" presStyleLbl="node1" presStyleIdx="1" presStyleCnt="2">
        <dgm:presLayoutVars>
          <dgm:bulletEnabled val="1"/>
        </dgm:presLayoutVars>
      </dgm:prSet>
      <dgm:spPr/>
    </dgm:pt>
    <dgm:pt modelId="{FF6920A6-1DD8-4554-990A-C6C51E940E6D}" type="pres">
      <dgm:prSet presAssocID="{8498290F-1F0F-42F6-A101-85A4054F94EB}" presName="accent_2" presStyleCnt="0"/>
      <dgm:spPr/>
    </dgm:pt>
    <dgm:pt modelId="{33783576-4C33-45C4-A532-F52280F7689B}" type="pres">
      <dgm:prSet presAssocID="{8498290F-1F0F-42F6-A101-85A4054F94EB}" presName="accentRepeatNode" presStyleLbl="solidFgAcc1" presStyleIdx="1" presStyleCnt="2"/>
      <dgm:spPr/>
    </dgm:pt>
  </dgm:ptLst>
  <dgm:cxnLst>
    <dgm:cxn modelId="{228F6B19-F40F-4E43-B6CD-096BCB079416}" type="presOf" srcId="{53DD984F-FBC5-42D2-B0C3-634302226F34}" destId="{9D5B742C-5E24-4A79-B76E-034F1C3C95C7}" srcOrd="0" destOrd="0" presId="urn:microsoft.com/office/officeart/2008/layout/VerticalCurvedList"/>
    <dgm:cxn modelId="{C054D422-59D8-4303-AC22-F70EFED453DA}" srcId="{5378C942-D00F-43D4-8C88-E57E3194ADA3}" destId="{8498290F-1F0F-42F6-A101-85A4054F94EB}" srcOrd="1" destOrd="0" parTransId="{FAE2E062-639C-4655-8068-3786C61BC312}" sibTransId="{EDE4390A-DCEA-44DF-8E23-AD21F8320FCC}"/>
    <dgm:cxn modelId="{87E3AB3F-41D9-47D5-B396-8003FBF40834}" srcId="{5378C942-D00F-43D4-8C88-E57E3194ADA3}" destId="{67348C83-D61E-4059-A67F-1FF45BC073AD}" srcOrd="0" destOrd="0" parTransId="{84A3AA7E-570E-41D7-AA36-149964591EFE}" sibTransId="{53DD984F-FBC5-42D2-B0C3-634302226F34}"/>
    <dgm:cxn modelId="{2524007A-13BE-4002-91CD-FDE0A638C546}" type="presOf" srcId="{67348C83-D61E-4059-A67F-1FF45BC073AD}" destId="{A67FAB15-F78C-4606-9590-12DDD35236F3}" srcOrd="0" destOrd="0" presId="urn:microsoft.com/office/officeart/2008/layout/VerticalCurvedList"/>
    <dgm:cxn modelId="{4A81849B-533F-43E1-A0BA-BD45E1125FA7}" type="presOf" srcId="{5378C942-D00F-43D4-8C88-E57E3194ADA3}" destId="{DBD83BD9-8392-491A-AB87-F645798AF795}" srcOrd="0" destOrd="0" presId="urn:microsoft.com/office/officeart/2008/layout/VerticalCurvedList"/>
    <dgm:cxn modelId="{9925DACE-2841-432D-B85B-16089E0C20EC}" type="presOf" srcId="{8498290F-1F0F-42F6-A101-85A4054F94EB}" destId="{A1BD471A-0BAA-4BCB-ABA8-C15213C14F6B}" srcOrd="0" destOrd="0" presId="urn:microsoft.com/office/officeart/2008/layout/VerticalCurvedList"/>
    <dgm:cxn modelId="{D85FFFCF-371F-43FC-84E3-87FA4656293F}" type="presParOf" srcId="{DBD83BD9-8392-491A-AB87-F645798AF795}" destId="{E600CDAF-FA3B-415B-A970-C758D34643CE}" srcOrd="0" destOrd="0" presId="urn:microsoft.com/office/officeart/2008/layout/VerticalCurvedList"/>
    <dgm:cxn modelId="{91837D16-4A2B-4457-B320-3BCDF9868C06}" type="presParOf" srcId="{E600CDAF-FA3B-415B-A970-C758D34643CE}" destId="{57C9292D-9CD7-40D9-8381-809CA6537BEC}" srcOrd="0" destOrd="0" presId="urn:microsoft.com/office/officeart/2008/layout/VerticalCurvedList"/>
    <dgm:cxn modelId="{DF7A2DF8-C07B-4C1B-A457-358AABE834E0}" type="presParOf" srcId="{57C9292D-9CD7-40D9-8381-809CA6537BEC}" destId="{B9801E9C-D15A-4F66-BE38-2C0AEFE358EF}" srcOrd="0" destOrd="0" presId="urn:microsoft.com/office/officeart/2008/layout/VerticalCurvedList"/>
    <dgm:cxn modelId="{EC3220C2-4CF4-4FDA-930A-E68DAB358094}" type="presParOf" srcId="{57C9292D-9CD7-40D9-8381-809CA6537BEC}" destId="{9D5B742C-5E24-4A79-B76E-034F1C3C95C7}" srcOrd="1" destOrd="0" presId="urn:microsoft.com/office/officeart/2008/layout/VerticalCurvedList"/>
    <dgm:cxn modelId="{CD3ECC0C-32E0-4D0F-BEBA-3EEC86D4DDE1}" type="presParOf" srcId="{57C9292D-9CD7-40D9-8381-809CA6537BEC}" destId="{576672E3-EC22-4A12-816D-F013CAA16BE6}" srcOrd="2" destOrd="0" presId="urn:microsoft.com/office/officeart/2008/layout/VerticalCurvedList"/>
    <dgm:cxn modelId="{1F47A81A-13D7-4C8F-9E31-80262E5A01CB}" type="presParOf" srcId="{57C9292D-9CD7-40D9-8381-809CA6537BEC}" destId="{81FCB76C-8B8A-4DB6-B65C-CE52397DA24D}" srcOrd="3" destOrd="0" presId="urn:microsoft.com/office/officeart/2008/layout/VerticalCurvedList"/>
    <dgm:cxn modelId="{2D0A4B34-5D83-41D7-B822-91857E9431D6}" type="presParOf" srcId="{E600CDAF-FA3B-415B-A970-C758D34643CE}" destId="{A67FAB15-F78C-4606-9590-12DDD35236F3}" srcOrd="1" destOrd="0" presId="urn:microsoft.com/office/officeart/2008/layout/VerticalCurvedList"/>
    <dgm:cxn modelId="{8FDF5965-8859-4B3E-A207-29CA5A7BDCD0}" type="presParOf" srcId="{E600CDAF-FA3B-415B-A970-C758D34643CE}" destId="{47D94C88-3045-41AA-A4B8-C6DABE7426D3}" srcOrd="2" destOrd="0" presId="urn:microsoft.com/office/officeart/2008/layout/VerticalCurvedList"/>
    <dgm:cxn modelId="{C299E1C5-8FFA-43F1-883B-99AC48350848}" type="presParOf" srcId="{47D94C88-3045-41AA-A4B8-C6DABE7426D3}" destId="{972658EB-AF78-41F0-8B4A-2B233A24E225}" srcOrd="0" destOrd="0" presId="urn:microsoft.com/office/officeart/2008/layout/VerticalCurvedList"/>
    <dgm:cxn modelId="{E65C7D87-73E2-4F02-AC59-0C23FCF50784}" type="presParOf" srcId="{E600CDAF-FA3B-415B-A970-C758D34643CE}" destId="{A1BD471A-0BAA-4BCB-ABA8-C15213C14F6B}" srcOrd="3" destOrd="0" presId="urn:microsoft.com/office/officeart/2008/layout/VerticalCurvedList"/>
    <dgm:cxn modelId="{01F38E8E-5FF4-49B7-8A5A-6D9EDBEB3690}" type="presParOf" srcId="{E600CDAF-FA3B-415B-A970-C758D34643CE}" destId="{FF6920A6-1DD8-4554-990A-C6C51E940E6D}" srcOrd="4" destOrd="0" presId="urn:microsoft.com/office/officeart/2008/layout/VerticalCurvedList"/>
    <dgm:cxn modelId="{E38058CF-2D70-4716-9279-3091382E3504}" type="presParOf" srcId="{FF6920A6-1DD8-4554-990A-C6C51E940E6D}" destId="{33783576-4C33-45C4-A532-F52280F7689B}"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97FBE895-F7E4-417D-8E35-34A20A7769B2}"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E52931F9-98C5-45CB-B684-67C6724FCEBD}">
      <dgm:prSet phldrT="[Text]" custT="1"/>
      <dgm:spPr>
        <a:solidFill>
          <a:schemeClr val="tx1">
            <a:lumMod val="75000"/>
            <a:lumOff val="25000"/>
          </a:schemeClr>
        </a:solidFill>
      </dgm:spPr>
      <dgm:t>
        <a:bodyPr/>
        <a:lstStyle/>
        <a:p>
          <a:r>
            <a:rPr lang="en-US" sz="1000" dirty="0"/>
            <a:t>With introduction of KUSUM scheme and with availability of funds from schemes like RIDF and REAPS, a convergent scheme can be envisaged</a:t>
          </a:r>
        </a:p>
      </dgm:t>
    </dgm:pt>
    <dgm:pt modelId="{C5F2380A-A123-4912-81EC-4CEEE156766B}" type="parTrans" cxnId="{A585A649-1007-41B0-AC00-11779A90231B}">
      <dgm:prSet/>
      <dgm:spPr/>
      <dgm:t>
        <a:bodyPr/>
        <a:lstStyle/>
        <a:p>
          <a:endParaRPr lang="en-US" sz="1000"/>
        </a:p>
      </dgm:t>
    </dgm:pt>
    <dgm:pt modelId="{5F17667C-BD89-4CC1-92A6-8F6F0C81BC1B}" type="sibTrans" cxnId="{A585A649-1007-41B0-AC00-11779A90231B}">
      <dgm:prSet/>
      <dgm:spPr/>
      <dgm:t>
        <a:bodyPr/>
        <a:lstStyle/>
        <a:p>
          <a:endParaRPr lang="en-US" sz="1000"/>
        </a:p>
      </dgm:t>
    </dgm:pt>
    <dgm:pt modelId="{92882A72-1BD1-4BC1-B064-C5C4CFBED18D}">
      <dgm:prSet phldrT="[Text]" custT="1"/>
      <dgm:spPr/>
      <dgm:t>
        <a:bodyPr/>
        <a:lstStyle/>
        <a:p>
          <a:r>
            <a:rPr lang="en-US" sz="1000" dirty="0"/>
            <a:t>Power Department ,Irrigation department, WRID inter alia can join forces to implement this convergent scheme</a:t>
          </a:r>
        </a:p>
      </dgm:t>
    </dgm:pt>
    <dgm:pt modelId="{20CEB8FC-1D54-4B00-90FB-CE1DFC86E564}" type="parTrans" cxnId="{1C45D945-3E03-43AE-925E-518DB3E3413C}">
      <dgm:prSet/>
      <dgm:spPr/>
      <dgm:t>
        <a:bodyPr/>
        <a:lstStyle/>
        <a:p>
          <a:endParaRPr lang="en-US" sz="1000"/>
        </a:p>
      </dgm:t>
    </dgm:pt>
    <dgm:pt modelId="{653BFF26-36C8-45E9-9313-B0A6D62D0DE7}" type="sibTrans" cxnId="{1C45D945-3E03-43AE-925E-518DB3E3413C}">
      <dgm:prSet/>
      <dgm:spPr/>
      <dgm:t>
        <a:bodyPr/>
        <a:lstStyle/>
        <a:p>
          <a:endParaRPr lang="en-US" sz="1000"/>
        </a:p>
      </dgm:t>
    </dgm:pt>
    <dgm:pt modelId="{DD644E80-F843-4D9F-9159-3B67875E800F}">
      <dgm:prSet phldrT="[Text]" custT="1"/>
      <dgm:spPr>
        <a:solidFill>
          <a:schemeClr val="tx1">
            <a:lumMod val="75000"/>
            <a:lumOff val="25000"/>
          </a:schemeClr>
        </a:solidFill>
      </dgm:spPr>
      <dgm:t>
        <a:bodyPr/>
        <a:lstStyle/>
        <a:p>
          <a:r>
            <a:rPr lang="en-US" sz="1000" dirty="0"/>
            <a:t>Solarization of agricultural/irrigation pumps and sale of excess energy (if any) can be achieved leading to decrease in subsidy requirement </a:t>
          </a:r>
        </a:p>
      </dgm:t>
    </dgm:pt>
    <dgm:pt modelId="{45BA348B-9722-4D6C-A325-1615F65E63F8}" type="parTrans" cxnId="{7E43ED48-F18E-4FEE-9A36-496B856D45FF}">
      <dgm:prSet/>
      <dgm:spPr/>
      <dgm:t>
        <a:bodyPr/>
        <a:lstStyle/>
        <a:p>
          <a:endParaRPr lang="en-US" sz="1000"/>
        </a:p>
      </dgm:t>
    </dgm:pt>
    <dgm:pt modelId="{91FB99EE-DC7C-4393-BBC5-37138A76229A}" type="sibTrans" cxnId="{7E43ED48-F18E-4FEE-9A36-496B856D45FF}">
      <dgm:prSet/>
      <dgm:spPr/>
      <dgm:t>
        <a:bodyPr/>
        <a:lstStyle/>
        <a:p>
          <a:endParaRPr lang="en-US" sz="1000"/>
        </a:p>
      </dgm:t>
    </dgm:pt>
    <dgm:pt modelId="{BF9610DD-4032-4286-BD33-17CEA4B6B614}" type="pres">
      <dgm:prSet presAssocID="{97FBE895-F7E4-417D-8E35-34A20A7769B2}" presName="Name0" presStyleCnt="0">
        <dgm:presLayoutVars>
          <dgm:dir/>
          <dgm:resizeHandles val="exact"/>
        </dgm:presLayoutVars>
      </dgm:prSet>
      <dgm:spPr/>
    </dgm:pt>
    <dgm:pt modelId="{C274A3E2-B53E-4E11-8FE4-78D90B38740D}" type="pres">
      <dgm:prSet presAssocID="{E52931F9-98C5-45CB-B684-67C6724FCEBD}" presName="node" presStyleLbl="node1" presStyleIdx="0" presStyleCnt="3">
        <dgm:presLayoutVars>
          <dgm:bulletEnabled val="1"/>
        </dgm:presLayoutVars>
      </dgm:prSet>
      <dgm:spPr/>
    </dgm:pt>
    <dgm:pt modelId="{19BEB97A-3856-420E-B0DC-C2F9C1B04152}" type="pres">
      <dgm:prSet presAssocID="{5F17667C-BD89-4CC1-92A6-8F6F0C81BC1B}" presName="sibTrans" presStyleCnt="0"/>
      <dgm:spPr/>
    </dgm:pt>
    <dgm:pt modelId="{F1139F9E-729A-4A71-8F6C-AE3B54779F05}" type="pres">
      <dgm:prSet presAssocID="{92882A72-1BD1-4BC1-B064-C5C4CFBED18D}" presName="node" presStyleLbl="node1" presStyleIdx="1" presStyleCnt="3">
        <dgm:presLayoutVars>
          <dgm:bulletEnabled val="1"/>
        </dgm:presLayoutVars>
      </dgm:prSet>
      <dgm:spPr/>
    </dgm:pt>
    <dgm:pt modelId="{8E8B4B0E-EA4D-416D-B82A-25FA4E8FE00A}" type="pres">
      <dgm:prSet presAssocID="{653BFF26-36C8-45E9-9313-B0A6D62D0DE7}" presName="sibTrans" presStyleCnt="0"/>
      <dgm:spPr/>
    </dgm:pt>
    <dgm:pt modelId="{7B62E607-F30A-4B6C-9F1E-66C21F2527B7}" type="pres">
      <dgm:prSet presAssocID="{DD644E80-F843-4D9F-9159-3B67875E800F}" presName="node" presStyleLbl="node1" presStyleIdx="2" presStyleCnt="3" custLinFactNeighborX="1">
        <dgm:presLayoutVars>
          <dgm:bulletEnabled val="1"/>
        </dgm:presLayoutVars>
      </dgm:prSet>
      <dgm:spPr/>
    </dgm:pt>
  </dgm:ptLst>
  <dgm:cxnLst>
    <dgm:cxn modelId="{1C45D945-3E03-43AE-925E-518DB3E3413C}" srcId="{97FBE895-F7E4-417D-8E35-34A20A7769B2}" destId="{92882A72-1BD1-4BC1-B064-C5C4CFBED18D}" srcOrd="1" destOrd="0" parTransId="{20CEB8FC-1D54-4B00-90FB-CE1DFC86E564}" sibTransId="{653BFF26-36C8-45E9-9313-B0A6D62D0DE7}"/>
    <dgm:cxn modelId="{7E43ED48-F18E-4FEE-9A36-496B856D45FF}" srcId="{97FBE895-F7E4-417D-8E35-34A20A7769B2}" destId="{DD644E80-F843-4D9F-9159-3B67875E800F}" srcOrd="2" destOrd="0" parTransId="{45BA348B-9722-4D6C-A325-1615F65E63F8}" sibTransId="{91FB99EE-DC7C-4393-BBC5-37138A76229A}"/>
    <dgm:cxn modelId="{A585A649-1007-41B0-AC00-11779A90231B}" srcId="{97FBE895-F7E4-417D-8E35-34A20A7769B2}" destId="{E52931F9-98C5-45CB-B684-67C6724FCEBD}" srcOrd="0" destOrd="0" parTransId="{C5F2380A-A123-4912-81EC-4CEEE156766B}" sibTransId="{5F17667C-BD89-4CC1-92A6-8F6F0C81BC1B}"/>
    <dgm:cxn modelId="{C3131580-4CB7-4F39-9736-222165E41C31}" type="presOf" srcId="{97FBE895-F7E4-417D-8E35-34A20A7769B2}" destId="{BF9610DD-4032-4286-BD33-17CEA4B6B614}" srcOrd="0" destOrd="0" presId="urn:microsoft.com/office/officeart/2005/8/layout/hList6"/>
    <dgm:cxn modelId="{354A4299-8709-43E4-989F-AEA233B72ED6}" type="presOf" srcId="{92882A72-1BD1-4BC1-B064-C5C4CFBED18D}" destId="{F1139F9E-729A-4A71-8F6C-AE3B54779F05}" srcOrd="0" destOrd="0" presId="urn:microsoft.com/office/officeart/2005/8/layout/hList6"/>
    <dgm:cxn modelId="{2F9D73B7-800F-427C-9290-B331888F9868}" type="presOf" srcId="{E52931F9-98C5-45CB-B684-67C6724FCEBD}" destId="{C274A3E2-B53E-4E11-8FE4-78D90B38740D}" srcOrd="0" destOrd="0" presId="urn:microsoft.com/office/officeart/2005/8/layout/hList6"/>
    <dgm:cxn modelId="{CE91FCE2-15B0-4DF1-8D70-95F16D8A73C7}" type="presOf" srcId="{DD644E80-F843-4D9F-9159-3B67875E800F}" destId="{7B62E607-F30A-4B6C-9F1E-66C21F2527B7}" srcOrd="0" destOrd="0" presId="urn:microsoft.com/office/officeart/2005/8/layout/hList6"/>
    <dgm:cxn modelId="{C0FF6CDC-1FAE-4941-959E-B99820B72D97}" type="presParOf" srcId="{BF9610DD-4032-4286-BD33-17CEA4B6B614}" destId="{C274A3E2-B53E-4E11-8FE4-78D90B38740D}" srcOrd="0" destOrd="0" presId="urn:microsoft.com/office/officeart/2005/8/layout/hList6"/>
    <dgm:cxn modelId="{A96BE9F3-AA5A-4B9C-A2C9-AA9213974D43}" type="presParOf" srcId="{BF9610DD-4032-4286-BD33-17CEA4B6B614}" destId="{19BEB97A-3856-420E-B0DC-C2F9C1B04152}" srcOrd="1" destOrd="0" presId="urn:microsoft.com/office/officeart/2005/8/layout/hList6"/>
    <dgm:cxn modelId="{90DF1169-06B4-4A34-8EDC-D206D3BFD2A9}" type="presParOf" srcId="{BF9610DD-4032-4286-BD33-17CEA4B6B614}" destId="{F1139F9E-729A-4A71-8F6C-AE3B54779F05}" srcOrd="2" destOrd="0" presId="urn:microsoft.com/office/officeart/2005/8/layout/hList6"/>
    <dgm:cxn modelId="{581A7F36-BBA6-4181-8AA2-8E1C654E5A6C}" type="presParOf" srcId="{BF9610DD-4032-4286-BD33-17CEA4B6B614}" destId="{8E8B4B0E-EA4D-416D-B82A-25FA4E8FE00A}" srcOrd="3" destOrd="0" presId="urn:microsoft.com/office/officeart/2005/8/layout/hList6"/>
    <dgm:cxn modelId="{7A52A330-577E-4C6D-94C2-391BEEC3BAB3}" type="presParOf" srcId="{BF9610DD-4032-4286-BD33-17CEA4B6B614}" destId="{7B62E607-F30A-4B6C-9F1E-66C21F2527B7}"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8CEE290-D2EB-46C1-B35C-6B45A015B72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2FC16537-3143-44C1-8B34-AA0743B38F81}">
      <dgm:prSet phldrT="[Text]" custT="1"/>
      <dgm:spPr>
        <a:solidFill>
          <a:srgbClr val="009A44"/>
        </a:solidFill>
      </dgm:spPr>
      <dgm:t>
        <a:bodyPr/>
        <a:lstStyle/>
        <a:p>
          <a:pPr algn="just"/>
          <a:r>
            <a:rPr lang="en-GB" sz="1100" b="0" i="1" u="none" dirty="0"/>
            <a:t>Identification of all existing central/schemes in the country </a:t>
          </a:r>
          <a:endParaRPr lang="en-US" sz="1100" b="0" i="1" u="none" dirty="0"/>
        </a:p>
      </dgm:t>
    </dgm:pt>
    <dgm:pt modelId="{A42A6071-7223-48CB-8C78-ADDC6B52327A}" type="parTrans" cxnId="{FC2F1511-ACD7-4AC7-8D94-9891D194E51B}">
      <dgm:prSet/>
      <dgm:spPr/>
      <dgm:t>
        <a:bodyPr/>
        <a:lstStyle/>
        <a:p>
          <a:endParaRPr lang="en-US" sz="1200"/>
        </a:p>
      </dgm:t>
    </dgm:pt>
    <dgm:pt modelId="{525D2ACE-64DE-4216-B449-D96D8A43B67D}" type="sibTrans" cxnId="{FC2F1511-ACD7-4AC7-8D94-9891D194E51B}">
      <dgm:prSet/>
      <dgm:spPr/>
      <dgm:t>
        <a:bodyPr/>
        <a:lstStyle/>
        <a:p>
          <a:endParaRPr lang="en-US" sz="1200"/>
        </a:p>
      </dgm:t>
    </dgm:pt>
    <dgm:pt modelId="{EA310CE2-D783-470C-A5E1-DBE2B2C63215}">
      <dgm:prSet phldrT="[Text]" custT="1"/>
      <dgm:spPr>
        <a:solidFill>
          <a:schemeClr val="bg2">
            <a:lumMod val="50000"/>
          </a:schemeClr>
        </a:solidFill>
      </dgm:spPr>
      <dgm:t>
        <a:bodyPr/>
        <a:lstStyle/>
        <a:p>
          <a:pPr algn="just"/>
          <a:r>
            <a:rPr lang="en-GB" sz="1100" b="0" i="1" dirty="0"/>
            <a:t>Mapping of central schemes, its key features, implementation status and progress </a:t>
          </a:r>
          <a:endParaRPr lang="en-US" sz="1100" b="0" i="1" u="none" dirty="0"/>
        </a:p>
      </dgm:t>
    </dgm:pt>
    <dgm:pt modelId="{11DDB1B1-7B4D-47EF-A783-67B7B250366E}" type="parTrans" cxnId="{84799C2E-7B36-4498-8695-E3CB7A15FBEA}">
      <dgm:prSet/>
      <dgm:spPr/>
      <dgm:t>
        <a:bodyPr/>
        <a:lstStyle/>
        <a:p>
          <a:endParaRPr lang="en-US" sz="1200"/>
        </a:p>
      </dgm:t>
    </dgm:pt>
    <dgm:pt modelId="{5BFC6AC1-68E8-4CF0-994E-52ECF61D74ED}" type="sibTrans" cxnId="{84799C2E-7B36-4498-8695-E3CB7A15FBEA}">
      <dgm:prSet/>
      <dgm:spPr/>
      <dgm:t>
        <a:bodyPr/>
        <a:lstStyle/>
        <a:p>
          <a:endParaRPr lang="en-US" sz="1200"/>
        </a:p>
      </dgm:t>
    </dgm:pt>
    <dgm:pt modelId="{FA86B143-B741-435F-81A4-61DADECCE22E}">
      <dgm:prSet phldrT="[Text]" custT="1"/>
      <dgm:spPr>
        <a:solidFill>
          <a:srgbClr val="009A44"/>
        </a:solidFill>
      </dgm:spPr>
      <dgm:t>
        <a:bodyPr/>
        <a:lstStyle/>
        <a:p>
          <a:pPr algn="just"/>
          <a:r>
            <a:rPr lang="en-US" sz="1100" b="0" i="1" u="none" dirty="0"/>
            <a:t>Mapping, and shortlisting of </a:t>
          </a:r>
          <a:r>
            <a:rPr lang="en-GB" sz="1100" b="0" dirty="0"/>
            <a:t>key parameters for consideration, along with detailed justification for each parameter selected</a:t>
          </a:r>
          <a:endParaRPr lang="en-US" sz="1100" b="0" i="1" u="none" dirty="0"/>
        </a:p>
      </dgm:t>
    </dgm:pt>
    <dgm:pt modelId="{92EE60C3-B918-4AC2-8F15-357383DEE496}" type="parTrans" cxnId="{FA0B9B2D-A97E-4E06-B2B0-DA99D6B45A9D}">
      <dgm:prSet/>
      <dgm:spPr/>
      <dgm:t>
        <a:bodyPr/>
        <a:lstStyle/>
        <a:p>
          <a:endParaRPr lang="en-US"/>
        </a:p>
      </dgm:t>
    </dgm:pt>
    <dgm:pt modelId="{3ADC61E0-6F7C-4B2C-99B2-50794E81A7C7}" type="sibTrans" cxnId="{FA0B9B2D-A97E-4E06-B2B0-DA99D6B45A9D}">
      <dgm:prSet/>
      <dgm:spPr/>
      <dgm:t>
        <a:bodyPr/>
        <a:lstStyle/>
        <a:p>
          <a:endParaRPr lang="en-US"/>
        </a:p>
      </dgm:t>
    </dgm:pt>
    <dgm:pt modelId="{1F2F655D-C90B-4AE1-8BC3-6951E34D1696}">
      <dgm:prSet phldrT="[Text]" custT="1"/>
      <dgm:spPr>
        <a:solidFill>
          <a:srgbClr val="009A44"/>
        </a:solidFill>
      </dgm:spPr>
      <dgm:t>
        <a:bodyPr/>
        <a:lstStyle/>
        <a:p>
          <a:pPr algn="just"/>
          <a:r>
            <a:rPr lang="en-US" sz="1100" b="0" i="1" u="none" dirty="0"/>
            <a:t>Finalizing on pooling of available funds for each scheme, setting up of Project Monitoring Unit (PMU) and determination of nodal implementing agency</a:t>
          </a:r>
        </a:p>
      </dgm:t>
    </dgm:pt>
    <dgm:pt modelId="{8767627E-EDF1-4E85-AE4D-1F5FFD59EC56}" type="parTrans" cxnId="{6B1C9512-AC5E-418B-976A-B8EBA2CB85ED}">
      <dgm:prSet/>
      <dgm:spPr/>
      <dgm:t>
        <a:bodyPr/>
        <a:lstStyle/>
        <a:p>
          <a:endParaRPr lang="en-US"/>
        </a:p>
      </dgm:t>
    </dgm:pt>
    <dgm:pt modelId="{A72EF140-3FE7-41F9-8615-EE1508294F12}" type="sibTrans" cxnId="{6B1C9512-AC5E-418B-976A-B8EBA2CB85ED}">
      <dgm:prSet/>
      <dgm:spPr/>
      <dgm:t>
        <a:bodyPr/>
        <a:lstStyle/>
        <a:p>
          <a:endParaRPr lang="en-US"/>
        </a:p>
      </dgm:t>
    </dgm:pt>
    <dgm:pt modelId="{515024B8-1BDB-4975-B710-81D58B8457B2}">
      <dgm:prSet phldrT="[Text]" custT="1"/>
      <dgm:spPr>
        <a:solidFill>
          <a:schemeClr val="bg2">
            <a:lumMod val="50000"/>
          </a:schemeClr>
        </a:solidFill>
      </dgm:spPr>
      <dgm:t>
        <a:bodyPr/>
        <a:lstStyle/>
        <a:p>
          <a:pPr algn="just"/>
          <a:r>
            <a:rPr lang="en-US" sz="1100" b="0" i="1" u="none" dirty="0"/>
            <a:t>Carrying out stakeholder consultations (Beneficiaries, Officials under Nodal Agencies under MNRE, Water Resource Dept, Irrigation Dept, Dept. of Power etc.)</a:t>
          </a:r>
        </a:p>
      </dgm:t>
    </dgm:pt>
    <dgm:pt modelId="{47C42A02-305E-4EE1-8427-A5E37DE4CF65}" type="parTrans" cxnId="{3C5A0FEF-B3DB-4E93-8922-C33C1F3D7891}">
      <dgm:prSet/>
      <dgm:spPr/>
      <dgm:t>
        <a:bodyPr/>
        <a:lstStyle/>
        <a:p>
          <a:endParaRPr lang="en-US"/>
        </a:p>
      </dgm:t>
    </dgm:pt>
    <dgm:pt modelId="{CA1BA9C2-4341-40D4-AF18-0D64202B3185}" type="sibTrans" cxnId="{3C5A0FEF-B3DB-4E93-8922-C33C1F3D7891}">
      <dgm:prSet/>
      <dgm:spPr/>
      <dgm:t>
        <a:bodyPr/>
        <a:lstStyle/>
        <a:p>
          <a:endParaRPr lang="en-US"/>
        </a:p>
      </dgm:t>
    </dgm:pt>
    <dgm:pt modelId="{47F65175-ED32-4D15-B4C5-BF63E0406F2E}" type="pres">
      <dgm:prSet presAssocID="{38CEE290-D2EB-46C1-B35C-6B45A015B72E}" presName="Name0" presStyleCnt="0">
        <dgm:presLayoutVars>
          <dgm:chMax val="7"/>
          <dgm:chPref val="7"/>
          <dgm:dir/>
        </dgm:presLayoutVars>
      </dgm:prSet>
      <dgm:spPr/>
    </dgm:pt>
    <dgm:pt modelId="{13517ECD-D2E6-4DC5-9C65-6B9D391A0594}" type="pres">
      <dgm:prSet presAssocID="{38CEE290-D2EB-46C1-B35C-6B45A015B72E}" presName="Name1" presStyleCnt="0"/>
      <dgm:spPr/>
    </dgm:pt>
    <dgm:pt modelId="{13F117E5-E0CF-472D-B97B-46683ACA8110}" type="pres">
      <dgm:prSet presAssocID="{38CEE290-D2EB-46C1-B35C-6B45A015B72E}" presName="cycle" presStyleCnt="0"/>
      <dgm:spPr/>
    </dgm:pt>
    <dgm:pt modelId="{B2F5B2AA-CB6F-4683-A12C-3F0FC05EC87C}" type="pres">
      <dgm:prSet presAssocID="{38CEE290-D2EB-46C1-B35C-6B45A015B72E}" presName="srcNode" presStyleLbl="node1" presStyleIdx="0" presStyleCnt="5"/>
      <dgm:spPr/>
    </dgm:pt>
    <dgm:pt modelId="{0EFBA8FE-FE64-48D7-B1E9-BF6B4ADB8343}" type="pres">
      <dgm:prSet presAssocID="{38CEE290-D2EB-46C1-B35C-6B45A015B72E}" presName="conn" presStyleLbl="parChTrans1D2" presStyleIdx="0" presStyleCnt="1"/>
      <dgm:spPr/>
    </dgm:pt>
    <dgm:pt modelId="{69BD61A3-F1D6-4B16-A654-E015EE3ED4F0}" type="pres">
      <dgm:prSet presAssocID="{38CEE290-D2EB-46C1-B35C-6B45A015B72E}" presName="extraNode" presStyleLbl="node1" presStyleIdx="0" presStyleCnt="5"/>
      <dgm:spPr/>
    </dgm:pt>
    <dgm:pt modelId="{49572B29-4359-4DF3-BBE8-649C0A06FD78}" type="pres">
      <dgm:prSet presAssocID="{38CEE290-D2EB-46C1-B35C-6B45A015B72E}" presName="dstNode" presStyleLbl="node1" presStyleIdx="0" presStyleCnt="5"/>
      <dgm:spPr/>
    </dgm:pt>
    <dgm:pt modelId="{4D925616-D083-4010-9AC2-125FFD4AE711}" type="pres">
      <dgm:prSet presAssocID="{2FC16537-3143-44C1-8B34-AA0743B38F81}" presName="text_1" presStyleLbl="node1" presStyleIdx="0" presStyleCnt="5">
        <dgm:presLayoutVars>
          <dgm:bulletEnabled val="1"/>
        </dgm:presLayoutVars>
      </dgm:prSet>
      <dgm:spPr/>
    </dgm:pt>
    <dgm:pt modelId="{9F4EB3C7-20B2-4E2B-9929-8C3C653ACC03}" type="pres">
      <dgm:prSet presAssocID="{2FC16537-3143-44C1-8B34-AA0743B38F81}" presName="accent_1" presStyleCnt="0"/>
      <dgm:spPr/>
    </dgm:pt>
    <dgm:pt modelId="{880C8B22-CE3E-4A4E-8893-154D1FB3B3E5}" type="pres">
      <dgm:prSet presAssocID="{2FC16537-3143-44C1-8B34-AA0743B38F81}" presName="accentRepeatNode" presStyleLbl="solidFgAcc1" presStyleIdx="0" presStyleCnt="5"/>
      <dgm:spPr/>
    </dgm:pt>
    <dgm:pt modelId="{72530D34-073E-416D-AF92-5C70E9B911D1}" type="pres">
      <dgm:prSet presAssocID="{EA310CE2-D783-470C-A5E1-DBE2B2C63215}" presName="text_2" presStyleLbl="node1" presStyleIdx="1" presStyleCnt="5">
        <dgm:presLayoutVars>
          <dgm:bulletEnabled val="1"/>
        </dgm:presLayoutVars>
      </dgm:prSet>
      <dgm:spPr/>
    </dgm:pt>
    <dgm:pt modelId="{9D3A3FA7-E6BF-4DFB-B4C9-D3B9E453D3EA}" type="pres">
      <dgm:prSet presAssocID="{EA310CE2-D783-470C-A5E1-DBE2B2C63215}" presName="accent_2" presStyleCnt="0"/>
      <dgm:spPr/>
    </dgm:pt>
    <dgm:pt modelId="{182283F8-2219-4BAB-B711-22D818814F08}" type="pres">
      <dgm:prSet presAssocID="{EA310CE2-D783-470C-A5E1-DBE2B2C63215}" presName="accentRepeatNode" presStyleLbl="solidFgAcc1" presStyleIdx="1" presStyleCnt="5"/>
      <dgm:spPr/>
    </dgm:pt>
    <dgm:pt modelId="{8E096FF7-55E6-4165-9FFD-A09AB6E16D21}" type="pres">
      <dgm:prSet presAssocID="{FA86B143-B741-435F-81A4-61DADECCE22E}" presName="text_3" presStyleLbl="node1" presStyleIdx="2" presStyleCnt="5">
        <dgm:presLayoutVars>
          <dgm:bulletEnabled val="1"/>
        </dgm:presLayoutVars>
      </dgm:prSet>
      <dgm:spPr/>
    </dgm:pt>
    <dgm:pt modelId="{31E63988-845A-4A1B-8C51-6731B93CFE64}" type="pres">
      <dgm:prSet presAssocID="{FA86B143-B741-435F-81A4-61DADECCE22E}" presName="accent_3" presStyleCnt="0"/>
      <dgm:spPr/>
    </dgm:pt>
    <dgm:pt modelId="{367E9D9C-330A-4A79-9F2C-23718EFEBFDC}" type="pres">
      <dgm:prSet presAssocID="{FA86B143-B741-435F-81A4-61DADECCE22E}" presName="accentRepeatNode" presStyleLbl="solidFgAcc1" presStyleIdx="2" presStyleCnt="5"/>
      <dgm:spPr/>
    </dgm:pt>
    <dgm:pt modelId="{DEADFD7C-191A-49ED-9ABA-9C7DF44E7D23}" type="pres">
      <dgm:prSet presAssocID="{515024B8-1BDB-4975-B710-81D58B8457B2}" presName="text_4" presStyleLbl="node1" presStyleIdx="3" presStyleCnt="5">
        <dgm:presLayoutVars>
          <dgm:bulletEnabled val="1"/>
        </dgm:presLayoutVars>
      </dgm:prSet>
      <dgm:spPr/>
    </dgm:pt>
    <dgm:pt modelId="{E334A5DC-2053-47AE-80AC-4B1DB501CA79}" type="pres">
      <dgm:prSet presAssocID="{515024B8-1BDB-4975-B710-81D58B8457B2}" presName="accent_4" presStyleCnt="0"/>
      <dgm:spPr/>
    </dgm:pt>
    <dgm:pt modelId="{00DE1CBC-B6CC-4DDB-B48D-A10E1BB83FB2}" type="pres">
      <dgm:prSet presAssocID="{515024B8-1BDB-4975-B710-81D58B8457B2}" presName="accentRepeatNode" presStyleLbl="solidFgAcc1" presStyleIdx="3" presStyleCnt="5"/>
      <dgm:spPr/>
    </dgm:pt>
    <dgm:pt modelId="{82169436-5AAB-4737-B3D8-3C6F46BF3E5E}" type="pres">
      <dgm:prSet presAssocID="{1F2F655D-C90B-4AE1-8BC3-6951E34D1696}" presName="text_5" presStyleLbl="node1" presStyleIdx="4" presStyleCnt="5">
        <dgm:presLayoutVars>
          <dgm:bulletEnabled val="1"/>
        </dgm:presLayoutVars>
      </dgm:prSet>
      <dgm:spPr/>
    </dgm:pt>
    <dgm:pt modelId="{B13C4323-802A-439A-BE3E-259A490AB51A}" type="pres">
      <dgm:prSet presAssocID="{1F2F655D-C90B-4AE1-8BC3-6951E34D1696}" presName="accent_5" presStyleCnt="0"/>
      <dgm:spPr/>
    </dgm:pt>
    <dgm:pt modelId="{A409FDD8-5A42-4710-871E-55288FD914E8}" type="pres">
      <dgm:prSet presAssocID="{1F2F655D-C90B-4AE1-8BC3-6951E34D1696}" presName="accentRepeatNode" presStyleLbl="solidFgAcc1" presStyleIdx="4" presStyleCnt="5"/>
      <dgm:spPr/>
    </dgm:pt>
  </dgm:ptLst>
  <dgm:cxnLst>
    <dgm:cxn modelId="{FC2F1511-ACD7-4AC7-8D94-9891D194E51B}" srcId="{38CEE290-D2EB-46C1-B35C-6B45A015B72E}" destId="{2FC16537-3143-44C1-8B34-AA0743B38F81}" srcOrd="0" destOrd="0" parTransId="{A42A6071-7223-48CB-8C78-ADDC6B52327A}" sibTransId="{525D2ACE-64DE-4216-B449-D96D8A43B67D}"/>
    <dgm:cxn modelId="{6B1C9512-AC5E-418B-976A-B8EBA2CB85ED}" srcId="{38CEE290-D2EB-46C1-B35C-6B45A015B72E}" destId="{1F2F655D-C90B-4AE1-8BC3-6951E34D1696}" srcOrd="4" destOrd="0" parTransId="{8767627E-EDF1-4E85-AE4D-1F5FFD59EC56}" sibTransId="{A72EF140-3FE7-41F9-8615-EE1508294F12}"/>
    <dgm:cxn modelId="{AA00F012-B904-4AF0-A3E2-A6361CDD3A87}" type="presOf" srcId="{FA86B143-B741-435F-81A4-61DADECCE22E}" destId="{8E096FF7-55E6-4165-9FFD-A09AB6E16D21}" srcOrd="0" destOrd="0" presId="urn:microsoft.com/office/officeart/2008/layout/VerticalCurvedList"/>
    <dgm:cxn modelId="{B5715E2B-696E-44A5-9890-8ADD6D615B63}" type="presOf" srcId="{EA310CE2-D783-470C-A5E1-DBE2B2C63215}" destId="{72530D34-073E-416D-AF92-5C70E9B911D1}" srcOrd="0" destOrd="0" presId="urn:microsoft.com/office/officeart/2008/layout/VerticalCurvedList"/>
    <dgm:cxn modelId="{FA0B9B2D-A97E-4E06-B2B0-DA99D6B45A9D}" srcId="{38CEE290-D2EB-46C1-B35C-6B45A015B72E}" destId="{FA86B143-B741-435F-81A4-61DADECCE22E}" srcOrd="2" destOrd="0" parTransId="{92EE60C3-B918-4AC2-8F15-357383DEE496}" sibTransId="{3ADC61E0-6F7C-4B2C-99B2-50794E81A7C7}"/>
    <dgm:cxn modelId="{84799C2E-7B36-4498-8695-E3CB7A15FBEA}" srcId="{38CEE290-D2EB-46C1-B35C-6B45A015B72E}" destId="{EA310CE2-D783-470C-A5E1-DBE2B2C63215}" srcOrd="1" destOrd="0" parTransId="{11DDB1B1-7B4D-47EF-A783-67B7B250366E}" sibTransId="{5BFC6AC1-68E8-4CF0-994E-52ECF61D74ED}"/>
    <dgm:cxn modelId="{CA9FA362-7607-49B7-B7E0-AEEA69BEE1D5}" type="presOf" srcId="{1F2F655D-C90B-4AE1-8BC3-6951E34D1696}" destId="{82169436-5AAB-4737-B3D8-3C6F46BF3E5E}" srcOrd="0" destOrd="0" presId="urn:microsoft.com/office/officeart/2008/layout/VerticalCurvedList"/>
    <dgm:cxn modelId="{B0777C55-B7DE-4B3E-B706-33FFC721E13F}" type="presOf" srcId="{2FC16537-3143-44C1-8B34-AA0743B38F81}" destId="{4D925616-D083-4010-9AC2-125FFD4AE711}" srcOrd="0" destOrd="0" presId="urn:microsoft.com/office/officeart/2008/layout/VerticalCurvedList"/>
    <dgm:cxn modelId="{6B5A4D8B-FEDF-46EA-BB7F-F2180818A728}" type="presOf" srcId="{525D2ACE-64DE-4216-B449-D96D8A43B67D}" destId="{0EFBA8FE-FE64-48D7-B1E9-BF6B4ADB8343}" srcOrd="0" destOrd="0" presId="urn:microsoft.com/office/officeart/2008/layout/VerticalCurvedList"/>
    <dgm:cxn modelId="{FECA029F-4FF5-4271-A511-63DFD17DDB9B}" type="presOf" srcId="{38CEE290-D2EB-46C1-B35C-6B45A015B72E}" destId="{47F65175-ED32-4D15-B4C5-BF63E0406F2E}" srcOrd="0" destOrd="0" presId="urn:microsoft.com/office/officeart/2008/layout/VerticalCurvedList"/>
    <dgm:cxn modelId="{679B69A6-BBF1-40FD-B485-B288F047D0F7}" type="presOf" srcId="{515024B8-1BDB-4975-B710-81D58B8457B2}" destId="{DEADFD7C-191A-49ED-9ABA-9C7DF44E7D23}" srcOrd="0" destOrd="0" presId="urn:microsoft.com/office/officeart/2008/layout/VerticalCurvedList"/>
    <dgm:cxn modelId="{3C5A0FEF-B3DB-4E93-8922-C33C1F3D7891}" srcId="{38CEE290-D2EB-46C1-B35C-6B45A015B72E}" destId="{515024B8-1BDB-4975-B710-81D58B8457B2}" srcOrd="3" destOrd="0" parTransId="{47C42A02-305E-4EE1-8427-A5E37DE4CF65}" sibTransId="{CA1BA9C2-4341-40D4-AF18-0D64202B3185}"/>
    <dgm:cxn modelId="{7C8E2558-B51C-46C3-B2EF-E0DFC703999F}" type="presParOf" srcId="{47F65175-ED32-4D15-B4C5-BF63E0406F2E}" destId="{13517ECD-D2E6-4DC5-9C65-6B9D391A0594}" srcOrd="0" destOrd="0" presId="urn:microsoft.com/office/officeart/2008/layout/VerticalCurvedList"/>
    <dgm:cxn modelId="{E6A20EBD-FD40-4C53-BBF2-F9716E4B32FB}" type="presParOf" srcId="{13517ECD-D2E6-4DC5-9C65-6B9D391A0594}" destId="{13F117E5-E0CF-472D-B97B-46683ACA8110}" srcOrd="0" destOrd="0" presId="urn:microsoft.com/office/officeart/2008/layout/VerticalCurvedList"/>
    <dgm:cxn modelId="{6E714DC9-0B2F-4B47-A800-62ECA40935CC}" type="presParOf" srcId="{13F117E5-E0CF-472D-B97B-46683ACA8110}" destId="{B2F5B2AA-CB6F-4683-A12C-3F0FC05EC87C}" srcOrd="0" destOrd="0" presId="urn:microsoft.com/office/officeart/2008/layout/VerticalCurvedList"/>
    <dgm:cxn modelId="{38350350-BFA1-4DC6-98B6-EC692688FD68}" type="presParOf" srcId="{13F117E5-E0CF-472D-B97B-46683ACA8110}" destId="{0EFBA8FE-FE64-48D7-B1E9-BF6B4ADB8343}" srcOrd="1" destOrd="0" presId="urn:microsoft.com/office/officeart/2008/layout/VerticalCurvedList"/>
    <dgm:cxn modelId="{8E81C79E-1B2F-4AB2-B9B2-454809907CD7}" type="presParOf" srcId="{13F117E5-E0CF-472D-B97B-46683ACA8110}" destId="{69BD61A3-F1D6-4B16-A654-E015EE3ED4F0}" srcOrd="2" destOrd="0" presId="urn:microsoft.com/office/officeart/2008/layout/VerticalCurvedList"/>
    <dgm:cxn modelId="{D41EF91A-CED7-4D80-8D4A-D9067B9CC391}" type="presParOf" srcId="{13F117E5-E0CF-472D-B97B-46683ACA8110}" destId="{49572B29-4359-4DF3-BBE8-649C0A06FD78}" srcOrd="3" destOrd="0" presId="urn:microsoft.com/office/officeart/2008/layout/VerticalCurvedList"/>
    <dgm:cxn modelId="{CDBA375F-8D23-4B8D-B642-47DB2399BB8A}" type="presParOf" srcId="{13517ECD-D2E6-4DC5-9C65-6B9D391A0594}" destId="{4D925616-D083-4010-9AC2-125FFD4AE711}" srcOrd="1" destOrd="0" presId="urn:microsoft.com/office/officeart/2008/layout/VerticalCurvedList"/>
    <dgm:cxn modelId="{A626E90E-916D-4D7F-B52A-9EBD674FD9BA}" type="presParOf" srcId="{13517ECD-D2E6-4DC5-9C65-6B9D391A0594}" destId="{9F4EB3C7-20B2-4E2B-9929-8C3C653ACC03}" srcOrd="2" destOrd="0" presId="urn:microsoft.com/office/officeart/2008/layout/VerticalCurvedList"/>
    <dgm:cxn modelId="{2D37B3E7-3947-418A-80BA-7B8C044C9C46}" type="presParOf" srcId="{9F4EB3C7-20B2-4E2B-9929-8C3C653ACC03}" destId="{880C8B22-CE3E-4A4E-8893-154D1FB3B3E5}" srcOrd="0" destOrd="0" presId="urn:microsoft.com/office/officeart/2008/layout/VerticalCurvedList"/>
    <dgm:cxn modelId="{E9064DCD-9060-4EB1-843D-966D398DE102}" type="presParOf" srcId="{13517ECD-D2E6-4DC5-9C65-6B9D391A0594}" destId="{72530D34-073E-416D-AF92-5C70E9B911D1}" srcOrd="3" destOrd="0" presId="urn:microsoft.com/office/officeart/2008/layout/VerticalCurvedList"/>
    <dgm:cxn modelId="{6A2EA5F1-AACB-49DF-B3D4-C3C18ED9223F}" type="presParOf" srcId="{13517ECD-D2E6-4DC5-9C65-6B9D391A0594}" destId="{9D3A3FA7-E6BF-4DFB-B4C9-D3B9E453D3EA}" srcOrd="4" destOrd="0" presId="urn:microsoft.com/office/officeart/2008/layout/VerticalCurvedList"/>
    <dgm:cxn modelId="{73F4D43C-074A-4DC0-A83A-954CDDC71224}" type="presParOf" srcId="{9D3A3FA7-E6BF-4DFB-B4C9-D3B9E453D3EA}" destId="{182283F8-2219-4BAB-B711-22D818814F08}" srcOrd="0" destOrd="0" presId="urn:microsoft.com/office/officeart/2008/layout/VerticalCurvedList"/>
    <dgm:cxn modelId="{F9ACF3B1-A53D-4993-8D5F-924933F220D1}" type="presParOf" srcId="{13517ECD-D2E6-4DC5-9C65-6B9D391A0594}" destId="{8E096FF7-55E6-4165-9FFD-A09AB6E16D21}" srcOrd="5" destOrd="0" presId="urn:microsoft.com/office/officeart/2008/layout/VerticalCurvedList"/>
    <dgm:cxn modelId="{E0461D78-E755-4AD9-8D84-BCECC4C72B14}" type="presParOf" srcId="{13517ECD-D2E6-4DC5-9C65-6B9D391A0594}" destId="{31E63988-845A-4A1B-8C51-6731B93CFE64}" srcOrd="6" destOrd="0" presId="urn:microsoft.com/office/officeart/2008/layout/VerticalCurvedList"/>
    <dgm:cxn modelId="{7E433ED8-1FCB-462A-803C-79D341B29056}" type="presParOf" srcId="{31E63988-845A-4A1B-8C51-6731B93CFE64}" destId="{367E9D9C-330A-4A79-9F2C-23718EFEBFDC}" srcOrd="0" destOrd="0" presId="urn:microsoft.com/office/officeart/2008/layout/VerticalCurvedList"/>
    <dgm:cxn modelId="{F778BE53-796A-4B64-AD03-3A517EB3EC17}" type="presParOf" srcId="{13517ECD-D2E6-4DC5-9C65-6B9D391A0594}" destId="{DEADFD7C-191A-49ED-9ABA-9C7DF44E7D23}" srcOrd="7" destOrd="0" presId="urn:microsoft.com/office/officeart/2008/layout/VerticalCurvedList"/>
    <dgm:cxn modelId="{10D1D71B-BC22-4CE7-9A15-7D5FFA5F1B1E}" type="presParOf" srcId="{13517ECD-D2E6-4DC5-9C65-6B9D391A0594}" destId="{E334A5DC-2053-47AE-80AC-4B1DB501CA79}" srcOrd="8" destOrd="0" presId="urn:microsoft.com/office/officeart/2008/layout/VerticalCurvedList"/>
    <dgm:cxn modelId="{40B63AC8-D86E-4643-98A4-32F195236AA0}" type="presParOf" srcId="{E334A5DC-2053-47AE-80AC-4B1DB501CA79}" destId="{00DE1CBC-B6CC-4DDB-B48D-A10E1BB83FB2}" srcOrd="0" destOrd="0" presId="urn:microsoft.com/office/officeart/2008/layout/VerticalCurvedList"/>
    <dgm:cxn modelId="{F9B54164-980A-46EF-A101-33DD318BF062}" type="presParOf" srcId="{13517ECD-D2E6-4DC5-9C65-6B9D391A0594}" destId="{82169436-5AAB-4737-B3D8-3C6F46BF3E5E}" srcOrd="9" destOrd="0" presId="urn:microsoft.com/office/officeart/2008/layout/VerticalCurvedList"/>
    <dgm:cxn modelId="{1E869EC5-9EEE-42CC-B0F7-F38308ABADDF}" type="presParOf" srcId="{13517ECD-D2E6-4DC5-9C65-6B9D391A0594}" destId="{B13C4323-802A-439A-BE3E-259A490AB51A}" srcOrd="10" destOrd="0" presId="urn:microsoft.com/office/officeart/2008/layout/VerticalCurvedList"/>
    <dgm:cxn modelId="{90660172-8778-4615-A0BC-5F634EC4CDCD}" type="presParOf" srcId="{B13C4323-802A-439A-BE3E-259A490AB51A}" destId="{A409FDD8-5A42-4710-871E-55288FD914E8}" srcOrd="0" destOrd="0" presId="urn:microsoft.com/office/officeart/2008/layout/VerticalCurv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6F654A4-1FAF-4E72-8411-2FE716CECC5C}" type="doc">
      <dgm:prSet loTypeId="urn:microsoft.com/office/officeart/2009/layout/CircleArrowProcess" loCatId="cycle" qsTypeId="urn:microsoft.com/office/officeart/2005/8/quickstyle/simple1" qsCatId="simple" csTypeId="urn:microsoft.com/office/officeart/2005/8/colors/accent1_2" csCatId="accent1" phldr="1"/>
      <dgm:spPr/>
      <dgm:t>
        <a:bodyPr/>
        <a:lstStyle/>
        <a:p>
          <a:endParaRPr lang="en-US"/>
        </a:p>
      </dgm:t>
    </dgm:pt>
    <dgm:pt modelId="{084C662A-99FB-403D-9460-C81166FED621}">
      <dgm:prSet phldrT="[Text]"/>
      <dgm:spPr/>
      <dgm:t>
        <a:bodyPr/>
        <a:lstStyle/>
        <a:p>
          <a:pPr>
            <a:buFont typeface="Arial" panose="020B0604020202020204" pitchFamily="34" charset="0"/>
            <a:buChar char="•"/>
          </a:pPr>
          <a:r>
            <a:rPr lang="en-US" b="1" dirty="0">
              <a:solidFill>
                <a:sysClr val="windowText" lastClr="000000"/>
              </a:solidFill>
            </a:rPr>
            <a:t>Government Targets; Policy push</a:t>
          </a:r>
          <a:endParaRPr lang="en-US" b="1" dirty="0"/>
        </a:p>
      </dgm:t>
    </dgm:pt>
    <dgm:pt modelId="{1667F70D-8FF7-45B1-8825-E4FBBE3E45FC}" type="parTrans" cxnId="{152F83C5-8064-4F7A-9B96-F46AF4DEB6B5}">
      <dgm:prSet/>
      <dgm:spPr/>
      <dgm:t>
        <a:bodyPr/>
        <a:lstStyle/>
        <a:p>
          <a:endParaRPr lang="en-US"/>
        </a:p>
      </dgm:t>
    </dgm:pt>
    <dgm:pt modelId="{1327CA4C-EE75-4A7E-969F-D897854C1378}" type="sibTrans" cxnId="{152F83C5-8064-4F7A-9B96-F46AF4DEB6B5}">
      <dgm:prSet/>
      <dgm:spPr/>
      <dgm:t>
        <a:bodyPr/>
        <a:lstStyle/>
        <a:p>
          <a:endParaRPr lang="en-US"/>
        </a:p>
      </dgm:t>
    </dgm:pt>
    <dgm:pt modelId="{5C728A74-4254-4E06-9A0B-49F9F6B2A251}">
      <dgm:prSet phldrT="[Text]"/>
      <dgm:spPr/>
      <dgm:t>
        <a:bodyPr/>
        <a:lstStyle/>
        <a:p>
          <a:r>
            <a:rPr lang="en-US" b="1" dirty="0"/>
            <a:t>Sustainability targets among various stakeholders</a:t>
          </a:r>
        </a:p>
      </dgm:t>
    </dgm:pt>
    <dgm:pt modelId="{0CC8FA96-859E-485C-B621-0235F9DBBD81}" type="parTrans" cxnId="{128B304C-61A2-47C7-B9E5-11E9EE5D533A}">
      <dgm:prSet/>
      <dgm:spPr/>
      <dgm:t>
        <a:bodyPr/>
        <a:lstStyle/>
        <a:p>
          <a:endParaRPr lang="en-US"/>
        </a:p>
      </dgm:t>
    </dgm:pt>
    <dgm:pt modelId="{CB3A4FF8-AA9A-446F-AD9E-50AC6D967A09}" type="sibTrans" cxnId="{128B304C-61A2-47C7-B9E5-11E9EE5D533A}">
      <dgm:prSet/>
      <dgm:spPr/>
      <dgm:t>
        <a:bodyPr/>
        <a:lstStyle/>
        <a:p>
          <a:endParaRPr lang="en-US"/>
        </a:p>
      </dgm:t>
    </dgm:pt>
    <dgm:pt modelId="{BAC4A1DE-2AE5-44F5-AA7F-D644CD34AD7D}">
      <dgm:prSet phldrT="[Text]"/>
      <dgm:spPr/>
      <dgm:t>
        <a:bodyPr/>
        <a:lstStyle/>
        <a:p>
          <a:r>
            <a:rPr lang="en-US" b="1" dirty="0">
              <a:solidFill>
                <a:sysClr val="windowText" lastClr="000000"/>
              </a:solidFill>
            </a:rPr>
            <a:t>Falling RE prices</a:t>
          </a:r>
          <a:endParaRPr lang="en-US" b="1" dirty="0"/>
        </a:p>
      </dgm:t>
    </dgm:pt>
    <dgm:pt modelId="{D10D1A59-448A-4825-9B22-05BBE06C0B49}" type="parTrans" cxnId="{5A3FE16F-D894-497E-B3A4-337E987C7552}">
      <dgm:prSet/>
      <dgm:spPr/>
      <dgm:t>
        <a:bodyPr/>
        <a:lstStyle/>
        <a:p>
          <a:endParaRPr lang="en-US"/>
        </a:p>
      </dgm:t>
    </dgm:pt>
    <dgm:pt modelId="{A98F6E0B-2BAD-4B2E-9EDC-ABD01E7F4E89}" type="sibTrans" cxnId="{5A3FE16F-D894-497E-B3A4-337E987C7552}">
      <dgm:prSet/>
      <dgm:spPr/>
      <dgm:t>
        <a:bodyPr/>
        <a:lstStyle/>
        <a:p>
          <a:endParaRPr lang="en-US"/>
        </a:p>
      </dgm:t>
    </dgm:pt>
    <dgm:pt modelId="{BBC86066-2977-4059-83BC-7B8BEBB6D2E6}" type="pres">
      <dgm:prSet presAssocID="{A6F654A4-1FAF-4E72-8411-2FE716CECC5C}" presName="Name0" presStyleCnt="0">
        <dgm:presLayoutVars>
          <dgm:chMax val="7"/>
          <dgm:chPref val="7"/>
          <dgm:dir/>
          <dgm:animLvl val="lvl"/>
        </dgm:presLayoutVars>
      </dgm:prSet>
      <dgm:spPr/>
    </dgm:pt>
    <dgm:pt modelId="{6C6C8C60-5965-4344-B300-E087BF4FADE9}" type="pres">
      <dgm:prSet presAssocID="{084C662A-99FB-403D-9460-C81166FED621}" presName="Accent1" presStyleCnt="0"/>
      <dgm:spPr/>
    </dgm:pt>
    <dgm:pt modelId="{5AFE20E5-B7E7-45DD-9787-73F7CB55C788}" type="pres">
      <dgm:prSet presAssocID="{084C662A-99FB-403D-9460-C81166FED621}" presName="Accent" presStyleLbl="node1" presStyleIdx="0" presStyleCnt="3"/>
      <dgm:spPr>
        <a:solidFill>
          <a:schemeClr val="accent5">
            <a:lumMod val="75000"/>
          </a:schemeClr>
        </a:solidFill>
      </dgm:spPr>
    </dgm:pt>
    <dgm:pt modelId="{C79D1CD3-BA60-4382-92CD-7AD08CCBE30D}" type="pres">
      <dgm:prSet presAssocID="{084C662A-99FB-403D-9460-C81166FED621}" presName="Parent1" presStyleLbl="revTx" presStyleIdx="0" presStyleCnt="3">
        <dgm:presLayoutVars>
          <dgm:chMax val="1"/>
          <dgm:chPref val="1"/>
          <dgm:bulletEnabled val="1"/>
        </dgm:presLayoutVars>
      </dgm:prSet>
      <dgm:spPr/>
    </dgm:pt>
    <dgm:pt modelId="{832FBF76-D7FC-4763-A35C-14C2A372D343}" type="pres">
      <dgm:prSet presAssocID="{5C728A74-4254-4E06-9A0B-49F9F6B2A251}" presName="Accent2" presStyleCnt="0"/>
      <dgm:spPr/>
    </dgm:pt>
    <dgm:pt modelId="{EA4BF34C-7246-4B7E-941C-14399C4CD7A7}" type="pres">
      <dgm:prSet presAssocID="{5C728A74-4254-4E06-9A0B-49F9F6B2A251}" presName="Accent" presStyleLbl="node1" presStyleIdx="1" presStyleCnt="3"/>
      <dgm:spPr>
        <a:solidFill>
          <a:schemeClr val="tx1"/>
        </a:solidFill>
      </dgm:spPr>
    </dgm:pt>
    <dgm:pt modelId="{99014024-57D8-4588-A813-9D3D61446584}" type="pres">
      <dgm:prSet presAssocID="{5C728A74-4254-4E06-9A0B-49F9F6B2A251}" presName="Parent2" presStyleLbl="revTx" presStyleIdx="1" presStyleCnt="3">
        <dgm:presLayoutVars>
          <dgm:chMax val="1"/>
          <dgm:chPref val="1"/>
          <dgm:bulletEnabled val="1"/>
        </dgm:presLayoutVars>
      </dgm:prSet>
      <dgm:spPr/>
    </dgm:pt>
    <dgm:pt modelId="{7056BF57-6E07-4D3A-BC01-1F6400C83D15}" type="pres">
      <dgm:prSet presAssocID="{BAC4A1DE-2AE5-44F5-AA7F-D644CD34AD7D}" presName="Accent3" presStyleCnt="0"/>
      <dgm:spPr/>
    </dgm:pt>
    <dgm:pt modelId="{4BFB64F7-7929-449C-B212-3D45360F932B}" type="pres">
      <dgm:prSet presAssocID="{BAC4A1DE-2AE5-44F5-AA7F-D644CD34AD7D}" presName="Accent" presStyleLbl="node1" presStyleIdx="2" presStyleCnt="3"/>
      <dgm:spPr>
        <a:solidFill>
          <a:schemeClr val="accent3">
            <a:lumMod val="60000"/>
            <a:lumOff val="40000"/>
          </a:schemeClr>
        </a:solidFill>
      </dgm:spPr>
    </dgm:pt>
    <dgm:pt modelId="{A8E3B27F-0CA9-4A0F-B7D3-379A18F9C2CB}" type="pres">
      <dgm:prSet presAssocID="{BAC4A1DE-2AE5-44F5-AA7F-D644CD34AD7D}" presName="Parent3" presStyleLbl="revTx" presStyleIdx="2" presStyleCnt="3">
        <dgm:presLayoutVars>
          <dgm:chMax val="1"/>
          <dgm:chPref val="1"/>
          <dgm:bulletEnabled val="1"/>
        </dgm:presLayoutVars>
      </dgm:prSet>
      <dgm:spPr/>
    </dgm:pt>
  </dgm:ptLst>
  <dgm:cxnLst>
    <dgm:cxn modelId="{EC45FA5B-D73B-40E7-A67C-2C365664311A}" type="presOf" srcId="{5C728A74-4254-4E06-9A0B-49F9F6B2A251}" destId="{99014024-57D8-4588-A813-9D3D61446584}" srcOrd="0" destOrd="0" presId="urn:microsoft.com/office/officeart/2009/layout/CircleArrowProcess"/>
    <dgm:cxn modelId="{128B304C-61A2-47C7-B9E5-11E9EE5D533A}" srcId="{A6F654A4-1FAF-4E72-8411-2FE716CECC5C}" destId="{5C728A74-4254-4E06-9A0B-49F9F6B2A251}" srcOrd="1" destOrd="0" parTransId="{0CC8FA96-859E-485C-B621-0235F9DBBD81}" sibTransId="{CB3A4FF8-AA9A-446F-AD9E-50AC6D967A09}"/>
    <dgm:cxn modelId="{5A3FE16F-D894-497E-B3A4-337E987C7552}" srcId="{A6F654A4-1FAF-4E72-8411-2FE716CECC5C}" destId="{BAC4A1DE-2AE5-44F5-AA7F-D644CD34AD7D}" srcOrd="2" destOrd="0" parTransId="{D10D1A59-448A-4825-9B22-05BBE06C0B49}" sibTransId="{A98F6E0B-2BAD-4B2E-9EDC-ABD01E7F4E89}"/>
    <dgm:cxn modelId="{79D56171-9686-4793-8F01-36FDC31B7B72}" type="presOf" srcId="{A6F654A4-1FAF-4E72-8411-2FE716CECC5C}" destId="{BBC86066-2977-4059-83BC-7B8BEBB6D2E6}" srcOrd="0" destOrd="0" presId="urn:microsoft.com/office/officeart/2009/layout/CircleArrowProcess"/>
    <dgm:cxn modelId="{9AC81F9B-BCB2-43BD-B806-ECE0AF2D1218}" type="presOf" srcId="{084C662A-99FB-403D-9460-C81166FED621}" destId="{C79D1CD3-BA60-4382-92CD-7AD08CCBE30D}" srcOrd="0" destOrd="0" presId="urn:microsoft.com/office/officeart/2009/layout/CircleArrowProcess"/>
    <dgm:cxn modelId="{152F83C5-8064-4F7A-9B96-F46AF4DEB6B5}" srcId="{A6F654A4-1FAF-4E72-8411-2FE716CECC5C}" destId="{084C662A-99FB-403D-9460-C81166FED621}" srcOrd="0" destOrd="0" parTransId="{1667F70D-8FF7-45B1-8825-E4FBBE3E45FC}" sibTransId="{1327CA4C-EE75-4A7E-969F-D897854C1378}"/>
    <dgm:cxn modelId="{650FDFEC-C9E7-42E8-A8D9-4DBF80D408BC}" type="presOf" srcId="{BAC4A1DE-2AE5-44F5-AA7F-D644CD34AD7D}" destId="{A8E3B27F-0CA9-4A0F-B7D3-379A18F9C2CB}" srcOrd="0" destOrd="0" presId="urn:microsoft.com/office/officeart/2009/layout/CircleArrowProcess"/>
    <dgm:cxn modelId="{191C8B3B-5691-4E39-8984-80A82CB2691D}" type="presParOf" srcId="{BBC86066-2977-4059-83BC-7B8BEBB6D2E6}" destId="{6C6C8C60-5965-4344-B300-E087BF4FADE9}" srcOrd="0" destOrd="0" presId="urn:microsoft.com/office/officeart/2009/layout/CircleArrowProcess"/>
    <dgm:cxn modelId="{657C9224-872B-41E2-A0A3-52BC67228DA3}" type="presParOf" srcId="{6C6C8C60-5965-4344-B300-E087BF4FADE9}" destId="{5AFE20E5-B7E7-45DD-9787-73F7CB55C788}" srcOrd="0" destOrd="0" presId="urn:microsoft.com/office/officeart/2009/layout/CircleArrowProcess"/>
    <dgm:cxn modelId="{FC286025-EADA-4489-9D10-1235AAF64DDE}" type="presParOf" srcId="{BBC86066-2977-4059-83BC-7B8BEBB6D2E6}" destId="{C79D1CD3-BA60-4382-92CD-7AD08CCBE30D}" srcOrd="1" destOrd="0" presId="urn:microsoft.com/office/officeart/2009/layout/CircleArrowProcess"/>
    <dgm:cxn modelId="{6CDEAB87-CF51-4B68-9FE4-E9DB941FBB14}" type="presParOf" srcId="{BBC86066-2977-4059-83BC-7B8BEBB6D2E6}" destId="{832FBF76-D7FC-4763-A35C-14C2A372D343}" srcOrd="2" destOrd="0" presId="urn:microsoft.com/office/officeart/2009/layout/CircleArrowProcess"/>
    <dgm:cxn modelId="{DD8AC86A-9980-4FE9-B2A0-762E15E7444D}" type="presParOf" srcId="{832FBF76-D7FC-4763-A35C-14C2A372D343}" destId="{EA4BF34C-7246-4B7E-941C-14399C4CD7A7}" srcOrd="0" destOrd="0" presId="urn:microsoft.com/office/officeart/2009/layout/CircleArrowProcess"/>
    <dgm:cxn modelId="{CF66F54C-7BA6-45E4-A4E2-01BFE541329A}" type="presParOf" srcId="{BBC86066-2977-4059-83BC-7B8BEBB6D2E6}" destId="{99014024-57D8-4588-A813-9D3D61446584}" srcOrd="3" destOrd="0" presId="urn:microsoft.com/office/officeart/2009/layout/CircleArrowProcess"/>
    <dgm:cxn modelId="{604BF989-E64E-4B94-8D4C-73CCD2CB7B58}" type="presParOf" srcId="{BBC86066-2977-4059-83BC-7B8BEBB6D2E6}" destId="{7056BF57-6E07-4D3A-BC01-1F6400C83D15}" srcOrd="4" destOrd="0" presId="urn:microsoft.com/office/officeart/2009/layout/CircleArrowProcess"/>
    <dgm:cxn modelId="{276829B0-1B4A-4D48-8EB1-3EEB781F3E8B}" type="presParOf" srcId="{7056BF57-6E07-4D3A-BC01-1F6400C83D15}" destId="{4BFB64F7-7929-449C-B212-3D45360F932B}" srcOrd="0" destOrd="0" presId="urn:microsoft.com/office/officeart/2009/layout/CircleArrowProcess"/>
    <dgm:cxn modelId="{A80F9510-18EF-4C06-A4B2-543FA6DD97F7}" type="presParOf" srcId="{BBC86066-2977-4059-83BC-7B8BEBB6D2E6}" destId="{A8E3B27F-0CA9-4A0F-B7D3-379A18F9C2CB}" srcOrd="5" destOrd="0" presId="urn:microsoft.com/office/officeart/2009/layout/Circle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CA50BEF7-E62E-4193-818F-33387DE2F297}"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16136E95-759C-4542-B0B5-AB0E47D21548}">
      <dgm:prSet phldrT="[Text]" custT="1"/>
      <dgm:spPr>
        <a:solidFill>
          <a:schemeClr val="tx1">
            <a:lumMod val="65000"/>
            <a:lumOff val="35000"/>
          </a:schemeClr>
        </a:solidFill>
      </dgm:spPr>
      <dgm:t>
        <a:bodyPr/>
        <a:lstStyle/>
        <a:p>
          <a:r>
            <a:rPr lang="en-US" sz="1300" dirty="0"/>
            <a:t>Lower cost electricity generated from RE sources</a:t>
          </a:r>
        </a:p>
      </dgm:t>
    </dgm:pt>
    <dgm:pt modelId="{D466CFD9-17C2-4FB8-A63F-857697A018BC}" type="parTrans" cxnId="{41C15D5C-67A9-47E3-83D1-13D17AC69D9A}">
      <dgm:prSet/>
      <dgm:spPr/>
      <dgm:t>
        <a:bodyPr/>
        <a:lstStyle/>
        <a:p>
          <a:endParaRPr lang="en-US" sz="1300"/>
        </a:p>
      </dgm:t>
    </dgm:pt>
    <dgm:pt modelId="{D2AAE825-0B39-41FF-BE5A-DA032A7DBC08}" type="sibTrans" cxnId="{41C15D5C-67A9-47E3-83D1-13D17AC69D9A}">
      <dgm:prSet/>
      <dgm:spPr/>
      <dgm:t>
        <a:bodyPr/>
        <a:lstStyle/>
        <a:p>
          <a:endParaRPr lang="en-US" sz="1300"/>
        </a:p>
      </dgm:t>
    </dgm:pt>
    <dgm:pt modelId="{3491977D-2357-4597-B1D3-98EEF4DAB785}">
      <dgm:prSet phldrT="[Text]" custT="1"/>
      <dgm:spPr/>
      <dgm:t>
        <a:bodyPr/>
        <a:lstStyle/>
        <a:p>
          <a:r>
            <a:rPr lang="en-US" sz="1300" dirty="0"/>
            <a:t>Improvement of T&amp;D losses</a:t>
          </a:r>
        </a:p>
      </dgm:t>
    </dgm:pt>
    <dgm:pt modelId="{29703F60-EC88-47D6-AF40-B449367CA044}" type="parTrans" cxnId="{39BECD70-37A3-4DA4-B71F-8E6C4E240A3B}">
      <dgm:prSet/>
      <dgm:spPr/>
      <dgm:t>
        <a:bodyPr/>
        <a:lstStyle/>
        <a:p>
          <a:endParaRPr lang="en-US" sz="1300"/>
        </a:p>
      </dgm:t>
    </dgm:pt>
    <dgm:pt modelId="{9871DDED-B2B2-4CE1-B277-FFC3A7ABB0B8}" type="sibTrans" cxnId="{39BECD70-37A3-4DA4-B71F-8E6C4E240A3B}">
      <dgm:prSet/>
      <dgm:spPr/>
      <dgm:t>
        <a:bodyPr/>
        <a:lstStyle/>
        <a:p>
          <a:endParaRPr lang="en-US" sz="1300"/>
        </a:p>
      </dgm:t>
    </dgm:pt>
    <dgm:pt modelId="{A67ED61C-CEA8-4264-BACA-BACA05C225AB}">
      <dgm:prSet phldrT="[Text]" custT="1"/>
      <dgm:spPr>
        <a:solidFill>
          <a:schemeClr val="tx1">
            <a:lumMod val="65000"/>
            <a:lumOff val="35000"/>
          </a:schemeClr>
        </a:solidFill>
      </dgm:spPr>
      <dgm:t>
        <a:bodyPr/>
        <a:lstStyle/>
        <a:p>
          <a:r>
            <a:rPr lang="en-US" sz="1300" dirty="0"/>
            <a:t>Scope for increase in Per capita consumption</a:t>
          </a:r>
        </a:p>
      </dgm:t>
    </dgm:pt>
    <dgm:pt modelId="{71CC0E07-5C22-4666-B3AB-2ECFA90D0CFD}" type="parTrans" cxnId="{426F5E54-C715-42D7-B2F9-21B3AA45B6D3}">
      <dgm:prSet/>
      <dgm:spPr/>
      <dgm:t>
        <a:bodyPr/>
        <a:lstStyle/>
        <a:p>
          <a:endParaRPr lang="en-US" sz="1300"/>
        </a:p>
      </dgm:t>
    </dgm:pt>
    <dgm:pt modelId="{41E9F1A0-D559-4D2E-B1D7-D34E4ED4CCA7}" type="sibTrans" cxnId="{426F5E54-C715-42D7-B2F9-21B3AA45B6D3}">
      <dgm:prSet/>
      <dgm:spPr/>
      <dgm:t>
        <a:bodyPr/>
        <a:lstStyle/>
        <a:p>
          <a:endParaRPr lang="en-US" sz="1300"/>
        </a:p>
      </dgm:t>
    </dgm:pt>
    <dgm:pt modelId="{A5D501C4-618B-42C4-A67A-0F9A67C13560}">
      <dgm:prSet phldrT="[Text]" custT="1"/>
      <dgm:spPr/>
      <dgm:t>
        <a:bodyPr/>
        <a:lstStyle/>
        <a:p>
          <a:r>
            <a:rPr lang="en-US" sz="1300" dirty="0"/>
            <a:t>Growth of EV sector</a:t>
          </a:r>
        </a:p>
      </dgm:t>
    </dgm:pt>
    <dgm:pt modelId="{9C756F1E-9114-417F-8569-18A8A13AD7EC}" type="parTrans" cxnId="{F2594C68-4CA5-4CCF-9D16-93BB89B58F0E}">
      <dgm:prSet/>
      <dgm:spPr/>
      <dgm:t>
        <a:bodyPr/>
        <a:lstStyle/>
        <a:p>
          <a:endParaRPr lang="en-US" sz="1300"/>
        </a:p>
      </dgm:t>
    </dgm:pt>
    <dgm:pt modelId="{D6DEDA77-9BF6-4E42-9C85-810B2DB6F555}" type="sibTrans" cxnId="{F2594C68-4CA5-4CCF-9D16-93BB89B58F0E}">
      <dgm:prSet/>
      <dgm:spPr/>
      <dgm:t>
        <a:bodyPr/>
        <a:lstStyle/>
        <a:p>
          <a:endParaRPr lang="en-US" sz="1300"/>
        </a:p>
      </dgm:t>
    </dgm:pt>
    <dgm:pt modelId="{7681309A-F104-4843-A947-23D6D3E20FE7}">
      <dgm:prSet phldrT="[Text]" custT="1"/>
      <dgm:spPr>
        <a:solidFill>
          <a:schemeClr val="tx1">
            <a:lumMod val="65000"/>
            <a:lumOff val="35000"/>
          </a:schemeClr>
        </a:solidFill>
      </dgm:spPr>
      <dgm:t>
        <a:bodyPr/>
        <a:lstStyle/>
        <a:p>
          <a:r>
            <a:rPr lang="en-US" sz="1300" dirty="0"/>
            <a:t>Increased penetration of cheaper RE with envisaged decrease in price of Lithium-ion batteries</a:t>
          </a:r>
        </a:p>
      </dgm:t>
    </dgm:pt>
    <dgm:pt modelId="{58B397F3-5826-40C9-A686-0F72E8CEAEE9}" type="parTrans" cxnId="{A0712D36-C31A-44C0-8765-3C42010CF4B4}">
      <dgm:prSet/>
      <dgm:spPr/>
      <dgm:t>
        <a:bodyPr/>
        <a:lstStyle/>
        <a:p>
          <a:endParaRPr lang="en-US" sz="1300"/>
        </a:p>
      </dgm:t>
    </dgm:pt>
    <dgm:pt modelId="{21CBA6C5-276D-4B3F-8D55-597518905E8C}" type="sibTrans" cxnId="{A0712D36-C31A-44C0-8765-3C42010CF4B4}">
      <dgm:prSet/>
      <dgm:spPr/>
      <dgm:t>
        <a:bodyPr/>
        <a:lstStyle/>
        <a:p>
          <a:endParaRPr lang="en-US" sz="1300"/>
        </a:p>
      </dgm:t>
    </dgm:pt>
    <dgm:pt modelId="{B739D677-857A-412C-A6F5-610C3A9A90A9}" type="pres">
      <dgm:prSet presAssocID="{CA50BEF7-E62E-4193-818F-33387DE2F297}" presName="Name0" presStyleCnt="0">
        <dgm:presLayoutVars>
          <dgm:chMax val="7"/>
          <dgm:chPref val="7"/>
          <dgm:dir/>
        </dgm:presLayoutVars>
      </dgm:prSet>
      <dgm:spPr/>
    </dgm:pt>
    <dgm:pt modelId="{AB5993E3-5058-4D73-98F3-B6F81570C8BA}" type="pres">
      <dgm:prSet presAssocID="{CA50BEF7-E62E-4193-818F-33387DE2F297}" presName="Name1" presStyleCnt="0"/>
      <dgm:spPr/>
    </dgm:pt>
    <dgm:pt modelId="{BF61EC61-D714-4BFF-9318-525BABFB609A}" type="pres">
      <dgm:prSet presAssocID="{CA50BEF7-E62E-4193-818F-33387DE2F297}" presName="cycle" presStyleCnt="0"/>
      <dgm:spPr/>
    </dgm:pt>
    <dgm:pt modelId="{181BDF35-6043-4CDF-AD03-8A490B3BD8AD}" type="pres">
      <dgm:prSet presAssocID="{CA50BEF7-E62E-4193-818F-33387DE2F297}" presName="srcNode" presStyleLbl="node1" presStyleIdx="0" presStyleCnt="5"/>
      <dgm:spPr/>
    </dgm:pt>
    <dgm:pt modelId="{CE2F1EED-317C-47DA-A71C-5D49A570650C}" type="pres">
      <dgm:prSet presAssocID="{CA50BEF7-E62E-4193-818F-33387DE2F297}" presName="conn" presStyleLbl="parChTrans1D2" presStyleIdx="0" presStyleCnt="1"/>
      <dgm:spPr/>
    </dgm:pt>
    <dgm:pt modelId="{BCB29753-7DAB-4FEB-A2C0-ED59FB923EEB}" type="pres">
      <dgm:prSet presAssocID="{CA50BEF7-E62E-4193-818F-33387DE2F297}" presName="extraNode" presStyleLbl="node1" presStyleIdx="0" presStyleCnt="5"/>
      <dgm:spPr/>
    </dgm:pt>
    <dgm:pt modelId="{87152D0E-6770-4993-962E-640347A5869F}" type="pres">
      <dgm:prSet presAssocID="{CA50BEF7-E62E-4193-818F-33387DE2F297}" presName="dstNode" presStyleLbl="node1" presStyleIdx="0" presStyleCnt="5"/>
      <dgm:spPr/>
    </dgm:pt>
    <dgm:pt modelId="{FA214A2C-AC36-421F-835F-2AA5FDD64E6C}" type="pres">
      <dgm:prSet presAssocID="{16136E95-759C-4542-B0B5-AB0E47D21548}" presName="text_1" presStyleLbl="node1" presStyleIdx="0" presStyleCnt="5">
        <dgm:presLayoutVars>
          <dgm:bulletEnabled val="1"/>
        </dgm:presLayoutVars>
      </dgm:prSet>
      <dgm:spPr/>
    </dgm:pt>
    <dgm:pt modelId="{AAA30F2A-F788-49B6-A20E-DD0AE4743BCA}" type="pres">
      <dgm:prSet presAssocID="{16136E95-759C-4542-B0B5-AB0E47D21548}" presName="accent_1" presStyleCnt="0"/>
      <dgm:spPr/>
    </dgm:pt>
    <dgm:pt modelId="{D1EDFF3F-AD4A-481C-BA9A-69B0EE84FF1B}" type="pres">
      <dgm:prSet presAssocID="{16136E95-759C-4542-B0B5-AB0E47D21548}" presName="accentRepeatNode" presStyleLbl="solidFgAcc1" presStyleIdx="0" presStyleCnt="5"/>
      <dgm:spPr/>
    </dgm:pt>
    <dgm:pt modelId="{20758045-BAAA-4647-B9ED-84539941BF6D}" type="pres">
      <dgm:prSet presAssocID="{3491977D-2357-4597-B1D3-98EEF4DAB785}" presName="text_2" presStyleLbl="node1" presStyleIdx="1" presStyleCnt="5">
        <dgm:presLayoutVars>
          <dgm:bulletEnabled val="1"/>
        </dgm:presLayoutVars>
      </dgm:prSet>
      <dgm:spPr/>
    </dgm:pt>
    <dgm:pt modelId="{A339ECE6-5C53-4F4A-85AE-CA6D633FC332}" type="pres">
      <dgm:prSet presAssocID="{3491977D-2357-4597-B1D3-98EEF4DAB785}" presName="accent_2" presStyleCnt="0"/>
      <dgm:spPr/>
    </dgm:pt>
    <dgm:pt modelId="{7ADBE974-9D2E-4F43-B388-EC2971802BA6}" type="pres">
      <dgm:prSet presAssocID="{3491977D-2357-4597-B1D3-98EEF4DAB785}" presName="accentRepeatNode" presStyleLbl="solidFgAcc1" presStyleIdx="1" presStyleCnt="5"/>
      <dgm:spPr/>
    </dgm:pt>
    <dgm:pt modelId="{FA67A52C-12F5-4240-BEDB-3A7D0663CB94}" type="pres">
      <dgm:prSet presAssocID="{A67ED61C-CEA8-4264-BACA-BACA05C225AB}" presName="text_3" presStyleLbl="node1" presStyleIdx="2" presStyleCnt="5">
        <dgm:presLayoutVars>
          <dgm:bulletEnabled val="1"/>
        </dgm:presLayoutVars>
      </dgm:prSet>
      <dgm:spPr/>
    </dgm:pt>
    <dgm:pt modelId="{FC8563AE-7FF6-4E8C-A064-A78D60AC2DD8}" type="pres">
      <dgm:prSet presAssocID="{A67ED61C-CEA8-4264-BACA-BACA05C225AB}" presName="accent_3" presStyleCnt="0"/>
      <dgm:spPr/>
    </dgm:pt>
    <dgm:pt modelId="{18B56BCB-E27B-407B-A164-858B03D4D4B6}" type="pres">
      <dgm:prSet presAssocID="{A67ED61C-CEA8-4264-BACA-BACA05C225AB}" presName="accentRepeatNode" presStyleLbl="solidFgAcc1" presStyleIdx="2" presStyleCnt="5"/>
      <dgm:spPr/>
    </dgm:pt>
    <dgm:pt modelId="{80F8A2BB-9494-4C88-A80E-64E48E21466E}" type="pres">
      <dgm:prSet presAssocID="{A5D501C4-618B-42C4-A67A-0F9A67C13560}" presName="text_4" presStyleLbl="node1" presStyleIdx="3" presStyleCnt="5">
        <dgm:presLayoutVars>
          <dgm:bulletEnabled val="1"/>
        </dgm:presLayoutVars>
      </dgm:prSet>
      <dgm:spPr/>
    </dgm:pt>
    <dgm:pt modelId="{E6EF2F09-1709-421E-B200-31E271BF1A65}" type="pres">
      <dgm:prSet presAssocID="{A5D501C4-618B-42C4-A67A-0F9A67C13560}" presName="accent_4" presStyleCnt="0"/>
      <dgm:spPr/>
    </dgm:pt>
    <dgm:pt modelId="{EB22FBD1-195E-456D-B891-669FEED6F9F1}" type="pres">
      <dgm:prSet presAssocID="{A5D501C4-618B-42C4-A67A-0F9A67C13560}" presName="accentRepeatNode" presStyleLbl="solidFgAcc1" presStyleIdx="3" presStyleCnt="5"/>
      <dgm:spPr/>
    </dgm:pt>
    <dgm:pt modelId="{823C308C-BA49-43AF-A81F-5542EC34B619}" type="pres">
      <dgm:prSet presAssocID="{7681309A-F104-4843-A947-23D6D3E20FE7}" presName="text_5" presStyleLbl="node1" presStyleIdx="4" presStyleCnt="5" custLinFactNeighborY="1183">
        <dgm:presLayoutVars>
          <dgm:bulletEnabled val="1"/>
        </dgm:presLayoutVars>
      </dgm:prSet>
      <dgm:spPr/>
    </dgm:pt>
    <dgm:pt modelId="{0EE6BA29-785E-41AA-936F-D02203CB1F57}" type="pres">
      <dgm:prSet presAssocID="{7681309A-F104-4843-A947-23D6D3E20FE7}" presName="accent_5" presStyleCnt="0"/>
      <dgm:spPr/>
    </dgm:pt>
    <dgm:pt modelId="{B422BC19-CF8C-4FD8-A909-C1F1AB467108}" type="pres">
      <dgm:prSet presAssocID="{7681309A-F104-4843-A947-23D6D3E20FE7}" presName="accentRepeatNode" presStyleLbl="solidFgAcc1" presStyleIdx="4" presStyleCnt="5"/>
      <dgm:spPr/>
    </dgm:pt>
  </dgm:ptLst>
  <dgm:cxnLst>
    <dgm:cxn modelId="{97A46B35-38F6-404F-9C1C-E91824192008}" type="presOf" srcId="{3491977D-2357-4597-B1D3-98EEF4DAB785}" destId="{20758045-BAAA-4647-B9ED-84539941BF6D}" srcOrd="0" destOrd="0" presId="urn:microsoft.com/office/officeart/2008/layout/VerticalCurvedList"/>
    <dgm:cxn modelId="{A0712D36-C31A-44C0-8765-3C42010CF4B4}" srcId="{CA50BEF7-E62E-4193-818F-33387DE2F297}" destId="{7681309A-F104-4843-A947-23D6D3E20FE7}" srcOrd="4" destOrd="0" parTransId="{58B397F3-5826-40C9-A686-0F72E8CEAEE9}" sibTransId="{21CBA6C5-276D-4B3F-8D55-597518905E8C}"/>
    <dgm:cxn modelId="{41C15D5C-67A9-47E3-83D1-13D17AC69D9A}" srcId="{CA50BEF7-E62E-4193-818F-33387DE2F297}" destId="{16136E95-759C-4542-B0B5-AB0E47D21548}" srcOrd="0" destOrd="0" parTransId="{D466CFD9-17C2-4FB8-A63F-857697A018BC}" sibTransId="{D2AAE825-0B39-41FF-BE5A-DA032A7DBC08}"/>
    <dgm:cxn modelId="{AE49CD5E-36EB-4818-863A-B8D6F0BDF270}" type="presOf" srcId="{7681309A-F104-4843-A947-23D6D3E20FE7}" destId="{823C308C-BA49-43AF-A81F-5542EC34B619}" srcOrd="0" destOrd="0" presId="urn:microsoft.com/office/officeart/2008/layout/VerticalCurvedList"/>
    <dgm:cxn modelId="{F2594C68-4CA5-4CCF-9D16-93BB89B58F0E}" srcId="{CA50BEF7-E62E-4193-818F-33387DE2F297}" destId="{A5D501C4-618B-42C4-A67A-0F9A67C13560}" srcOrd="3" destOrd="0" parTransId="{9C756F1E-9114-417F-8569-18A8A13AD7EC}" sibTransId="{D6DEDA77-9BF6-4E42-9C85-810B2DB6F555}"/>
    <dgm:cxn modelId="{3B4ECA4D-661C-4C1B-A1F2-9FBFB09AF63A}" type="presOf" srcId="{CA50BEF7-E62E-4193-818F-33387DE2F297}" destId="{B739D677-857A-412C-A6F5-610C3A9A90A9}" srcOrd="0" destOrd="0" presId="urn:microsoft.com/office/officeart/2008/layout/VerticalCurvedList"/>
    <dgm:cxn modelId="{D530AA70-B218-4220-B140-A827012A16BB}" type="presOf" srcId="{A67ED61C-CEA8-4264-BACA-BACA05C225AB}" destId="{FA67A52C-12F5-4240-BEDB-3A7D0663CB94}" srcOrd="0" destOrd="0" presId="urn:microsoft.com/office/officeart/2008/layout/VerticalCurvedList"/>
    <dgm:cxn modelId="{39BECD70-37A3-4DA4-B71F-8E6C4E240A3B}" srcId="{CA50BEF7-E62E-4193-818F-33387DE2F297}" destId="{3491977D-2357-4597-B1D3-98EEF4DAB785}" srcOrd="1" destOrd="0" parTransId="{29703F60-EC88-47D6-AF40-B449367CA044}" sibTransId="{9871DDED-B2B2-4CE1-B277-FFC3A7ABB0B8}"/>
    <dgm:cxn modelId="{426F5E54-C715-42D7-B2F9-21B3AA45B6D3}" srcId="{CA50BEF7-E62E-4193-818F-33387DE2F297}" destId="{A67ED61C-CEA8-4264-BACA-BACA05C225AB}" srcOrd="2" destOrd="0" parTransId="{71CC0E07-5C22-4666-B3AB-2ECFA90D0CFD}" sibTransId="{41E9F1A0-D559-4D2E-B1D7-D34E4ED4CCA7}"/>
    <dgm:cxn modelId="{9873A292-8EDE-4463-B361-5AE79D4F3A86}" type="presOf" srcId="{16136E95-759C-4542-B0B5-AB0E47D21548}" destId="{FA214A2C-AC36-421F-835F-2AA5FDD64E6C}" srcOrd="0" destOrd="0" presId="urn:microsoft.com/office/officeart/2008/layout/VerticalCurvedList"/>
    <dgm:cxn modelId="{11240C9D-D3E6-4AE3-BA41-99BC6D588C17}" type="presOf" srcId="{D2AAE825-0B39-41FF-BE5A-DA032A7DBC08}" destId="{CE2F1EED-317C-47DA-A71C-5D49A570650C}" srcOrd="0" destOrd="0" presId="urn:microsoft.com/office/officeart/2008/layout/VerticalCurvedList"/>
    <dgm:cxn modelId="{F8D94FFA-6E9D-4947-88C9-F73CE4A5D18E}" type="presOf" srcId="{A5D501C4-618B-42C4-A67A-0F9A67C13560}" destId="{80F8A2BB-9494-4C88-A80E-64E48E21466E}" srcOrd="0" destOrd="0" presId="urn:microsoft.com/office/officeart/2008/layout/VerticalCurvedList"/>
    <dgm:cxn modelId="{92D63364-6BB3-4E6F-8675-F6DBA20A9874}" type="presParOf" srcId="{B739D677-857A-412C-A6F5-610C3A9A90A9}" destId="{AB5993E3-5058-4D73-98F3-B6F81570C8BA}" srcOrd="0" destOrd="0" presId="urn:microsoft.com/office/officeart/2008/layout/VerticalCurvedList"/>
    <dgm:cxn modelId="{9497CBE4-A1F0-4D06-8D20-E496E18B564D}" type="presParOf" srcId="{AB5993E3-5058-4D73-98F3-B6F81570C8BA}" destId="{BF61EC61-D714-4BFF-9318-525BABFB609A}" srcOrd="0" destOrd="0" presId="urn:microsoft.com/office/officeart/2008/layout/VerticalCurvedList"/>
    <dgm:cxn modelId="{9794B8DF-AF50-4487-8108-9DF765E3C3E1}" type="presParOf" srcId="{BF61EC61-D714-4BFF-9318-525BABFB609A}" destId="{181BDF35-6043-4CDF-AD03-8A490B3BD8AD}" srcOrd="0" destOrd="0" presId="urn:microsoft.com/office/officeart/2008/layout/VerticalCurvedList"/>
    <dgm:cxn modelId="{9CC4AA39-80E1-4F61-8ECB-3334AF663801}" type="presParOf" srcId="{BF61EC61-D714-4BFF-9318-525BABFB609A}" destId="{CE2F1EED-317C-47DA-A71C-5D49A570650C}" srcOrd="1" destOrd="0" presId="urn:microsoft.com/office/officeart/2008/layout/VerticalCurvedList"/>
    <dgm:cxn modelId="{2106B1A7-66E7-4CF1-9B07-26DAD0ADC68D}" type="presParOf" srcId="{BF61EC61-D714-4BFF-9318-525BABFB609A}" destId="{BCB29753-7DAB-4FEB-A2C0-ED59FB923EEB}" srcOrd="2" destOrd="0" presId="urn:microsoft.com/office/officeart/2008/layout/VerticalCurvedList"/>
    <dgm:cxn modelId="{60EFC86D-EB64-4923-B73E-8AEE4EC5F407}" type="presParOf" srcId="{BF61EC61-D714-4BFF-9318-525BABFB609A}" destId="{87152D0E-6770-4993-962E-640347A5869F}" srcOrd="3" destOrd="0" presId="urn:microsoft.com/office/officeart/2008/layout/VerticalCurvedList"/>
    <dgm:cxn modelId="{35B25C90-C051-41E0-A347-016BDD8778D7}" type="presParOf" srcId="{AB5993E3-5058-4D73-98F3-B6F81570C8BA}" destId="{FA214A2C-AC36-421F-835F-2AA5FDD64E6C}" srcOrd="1" destOrd="0" presId="urn:microsoft.com/office/officeart/2008/layout/VerticalCurvedList"/>
    <dgm:cxn modelId="{91EE0718-D6FF-47D2-A5CD-7E30018747DD}" type="presParOf" srcId="{AB5993E3-5058-4D73-98F3-B6F81570C8BA}" destId="{AAA30F2A-F788-49B6-A20E-DD0AE4743BCA}" srcOrd="2" destOrd="0" presId="urn:microsoft.com/office/officeart/2008/layout/VerticalCurvedList"/>
    <dgm:cxn modelId="{D1B107A4-D132-4FF7-9E9A-18B5F7BE2074}" type="presParOf" srcId="{AAA30F2A-F788-49B6-A20E-DD0AE4743BCA}" destId="{D1EDFF3F-AD4A-481C-BA9A-69B0EE84FF1B}" srcOrd="0" destOrd="0" presId="urn:microsoft.com/office/officeart/2008/layout/VerticalCurvedList"/>
    <dgm:cxn modelId="{83B4D046-D6BE-4088-BD30-477FC9CD6CAF}" type="presParOf" srcId="{AB5993E3-5058-4D73-98F3-B6F81570C8BA}" destId="{20758045-BAAA-4647-B9ED-84539941BF6D}" srcOrd="3" destOrd="0" presId="urn:microsoft.com/office/officeart/2008/layout/VerticalCurvedList"/>
    <dgm:cxn modelId="{15FB3DE3-7190-4E34-B21A-52F39BC131AF}" type="presParOf" srcId="{AB5993E3-5058-4D73-98F3-B6F81570C8BA}" destId="{A339ECE6-5C53-4F4A-85AE-CA6D633FC332}" srcOrd="4" destOrd="0" presId="urn:microsoft.com/office/officeart/2008/layout/VerticalCurvedList"/>
    <dgm:cxn modelId="{3F650E97-508C-445F-BB2B-A47165393182}" type="presParOf" srcId="{A339ECE6-5C53-4F4A-85AE-CA6D633FC332}" destId="{7ADBE974-9D2E-4F43-B388-EC2971802BA6}" srcOrd="0" destOrd="0" presId="urn:microsoft.com/office/officeart/2008/layout/VerticalCurvedList"/>
    <dgm:cxn modelId="{A8807ED8-9FE2-4310-BBC5-B7D6E9DF0014}" type="presParOf" srcId="{AB5993E3-5058-4D73-98F3-B6F81570C8BA}" destId="{FA67A52C-12F5-4240-BEDB-3A7D0663CB94}" srcOrd="5" destOrd="0" presId="urn:microsoft.com/office/officeart/2008/layout/VerticalCurvedList"/>
    <dgm:cxn modelId="{298F12CA-4023-4624-9E57-DA46A6A424CA}" type="presParOf" srcId="{AB5993E3-5058-4D73-98F3-B6F81570C8BA}" destId="{FC8563AE-7FF6-4E8C-A064-A78D60AC2DD8}" srcOrd="6" destOrd="0" presId="urn:microsoft.com/office/officeart/2008/layout/VerticalCurvedList"/>
    <dgm:cxn modelId="{5E993192-B775-4567-967D-4A8934A31007}" type="presParOf" srcId="{FC8563AE-7FF6-4E8C-A064-A78D60AC2DD8}" destId="{18B56BCB-E27B-407B-A164-858B03D4D4B6}" srcOrd="0" destOrd="0" presId="urn:microsoft.com/office/officeart/2008/layout/VerticalCurvedList"/>
    <dgm:cxn modelId="{1B65BAAC-CDA0-4820-B78A-63C6A94B7669}" type="presParOf" srcId="{AB5993E3-5058-4D73-98F3-B6F81570C8BA}" destId="{80F8A2BB-9494-4C88-A80E-64E48E21466E}" srcOrd="7" destOrd="0" presId="urn:microsoft.com/office/officeart/2008/layout/VerticalCurvedList"/>
    <dgm:cxn modelId="{F94A87D8-8C2A-4564-B472-A57455E3E0E1}" type="presParOf" srcId="{AB5993E3-5058-4D73-98F3-B6F81570C8BA}" destId="{E6EF2F09-1709-421E-B200-31E271BF1A65}" srcOrd="8" destOrd="0" presId="urn:microsoft.com/office/officeart/2008/layout/VerticalCurvedList"/>
    <dgm:cxn modelId="{EA3FE6B2-AE7A-42E7-8471-915DAA7A3625}" type="presParOf" srcId="{E6EF2F09-1709-421E-B200-31E271BF1A65}" destId="{EB22FBD1-195E-456D-B891-669FEED6F9F1}" srcOrd="0" destOrd="0" presId="urn:microsoft.com/office/officeart/2008/layout/VerticalCurvedList"/>
    <dgm:cxn modelId="{7A2E037F-16AA-472E-8092-3156B5379C87}" type="presParOf" srcId="{AB5993E3-5058-4D73-98F3-B6F81570C8BA}" destId="{823C308C-BA49-43AF-A81F-5542EC34B619}" srcOrd="9" destOrd="0" presId="urn:microsoft.com/office/officeart/2008/layout/VerticalCurvedList"/>
    <dgm:cxn modelId="{BF5D4D5C-0863-42FA-A75E-A9A63B220145}" type="presParOf" srcId="{AB5993E3-5058-4D73-98F3-B6F81570C8BA}" destId="{0EE6BA29-785E-41AA-936F-D02203CB1F57}" srcOrd="10" destOrd="0" presId="urn:microsoft.com/office/officeart/2008/layout/VerticalCurvedList"/>
    <dgm:cxn modelId="{6CFA836E-7B3C-4334-B678-948441C60CD4}" type="presParOf" srcId="{0EE6BA29-785E-41AA-936F-D02203CB1F57}" destId="{B422BC19-CF8C-4FD8-A909-C1F1AB467108}"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A9406275-E369-4C50-A208-383BA7F358C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749BBBD-1557-4075-A278-61C2EF2ACF8F}">
      <dgm:prSet phldrT="[Text]" custT="1"/>
      <dgm:spPr>
        <a:solidFill>
          <a:srgbClr val="009A44"/>
        </a:solidFill>
      </dgm:spPr>
      <dgm:t>
        <a:bodyPr/>
        <a:lstStyle/>
        <a:p>
          <a:r>
            <a:rPr lang="en-US" sz="1400" dirty="0"/>
            <a:t>High Industrial and Commercial Tariff; need for cheaper RE options to encourage further industrialization and </a:t>
          </a:r>
          <a:r>
            <a:rPr lang="en-US" sz="1400" b="1" dirty="0"/>
            <a:t>prevent migration</a:t>
          </a:r>
        </a:p>
      </dgm:t>
    </dgm:pt>
    <dgm:pt modelId="{DF759B92-9EE2-495C-A06A-776B3D00A299}" type="parTrans" cxnId="{6FE4419F-36BC-4872-8213-E06C756F8FBF}">
      <dgm:prSet/>
      <dgm:spPr/>
      <dgm:t>
        <a:bodyPr/>
        <a:lstStyle/>
        <a:p>
          <a:endParaRPr lang="en-US" sz="1400"/>
        </a:p>
      </dgm:t>
    </dgm:pt>
    <dgm:pt modelId="{101F9979-C342-43CB-B583-47A9A4ECEC92}" type="sibTrans" cxnId="{6FE4419F-36BC-4872-8213-E06C756F8FBF}">
      <dgm:prSet/>
      <dgm:spPr/>
      <dgm:t>
        <a:bodyPr/>
        <a:lstStyle/>
        <a:p>
          <a:endParaRPr lang="en-US" sz="1400"/>
        </a:p>
      </dgm:t>
    </dgm:pt>
    <dgm:pt modelId="{D6D17732-87D5-489D-8F8B-FB85D38CE20B}">
      <dgm:prSet phldrT="[Text]" custT="1"/>
      <dgm:spPr>
        <a:solidFill>
          <a:schemeClr val="tx2"/>
        </a:solidFill>
      </dgm:spPr>
      <dgm:t>
        <a:bodyPr/>
        <a:lstStyle/>
        <a:p>
          <a:r>
            <a:rPr lang="en-US" sz="1400" dirty="0"/>
            <a:t>Growing interest among corporate entities to shift to RE to achieve sustainability goals</a:t>
          </a:r>
        </a:p>
      </dgm:t>
    </dgm:pt>
    <dgm:pt modelId="{09A161A3-162B-4B3C-A41E-DC2B82500080}" type="parTrans" cxnId="{F3C981E5-4F61-4030-A95E-01752DFC9E02}">
      <dgm:prSet/>
      <dgm:spPr/>
      <dgm:t>
        <a:bodyPr/>
        <a:lstStyle/>
        <a:p>
          <a:endParaRPr lang="en-US" sz="1400"/>
        </a:p>
      </dgm:t>
    </dgm:pt>
    <dgm:pt modelId="{F545DE9F-82B2-4A72-8BDE-03A8BB0207E4}" type="sibTrans" cxnId="{F3C981E5-4F61-4030-A95E-01752DFC9E02}">
      <dgm:prSet custLinFactNeighborY="0"/>
      <dgm:spPr/>
      <dgm:t>
        <a:bodyPr/>
        <a:lstStyle/>
        <a:p>
          <a:endParaRPr lang="en-US" sz="1400"/>
        </a:p>
      </dgm:t>
    </dgm:pt>
    <dgm:pt modelId="{5555DFDB-D761-49EB-A76F-DA2E6E099CFC}">
      <dgm:prSet phldrT="[Text]" custT="1"/>
      <dgm:spPr>
        <a:solidFill>
          <a:srgbClr val="009A44"/>
        </a:solidFill>
      </dgm:spPr>
      <dgm:t>
        <a:bodyPr/>
        <a:lstStyle/>
        <a:p>
          <a:r>
            <a:rPr lang="en-US" sz="1400" dirty="0">
              <a:solidFill>
                <a:schemeClr val="bg1"/>
              </a:solidFill>
            </a:rPr>
            <a:t>Significant scope for further RE integration, considering that actual installed capacity of RE in West Bengal is 587 MW as on January 2022, whereas total potential of RE is 7198 MW (~8.16%) </a:t>
          </a:r>
        </a:p>
      </dgm:t>
    </dgm:pt>
    <dgm:pt modelId="{1E623351-EDA8-473E-857C-FA59DAD9B2F2}" type="parTrans" cxnId="{D424390C-CE6E-42D1-A0F4-3DDA64C1F168}">
      <dgm:prSet/>
      <dgm:spPr/>
      <dgm:t>
        <a:bodyPr/>
        <a:lstStyle/>
        <a:p>
          <a:endParaRPr lang="en-US" sz="1400"/>
        </a:p>
      </dgm:t>
    </dgm:pt>
    <dgm:pt modelId="{5BCBEA5F-999B-4410-8C82-F2D02C9F857C}" type="sibTrans" cxnId="{D424390C-CE6E-42D1-A0F4-3DDA64C1F168}">
      <dgm:prSet custLinFactNeighborY="5"/>
      <dgm:spPr/>
      <dgm:t>
        <a:bodyPr/>
        <a:lstStyle/>
        <a:p>
          <a:endParaRPr lang="en-US" sz="1400"/>
        </a:p>
      </dgm:t>
    </dgm:pt>
    <dgm:pt modelId="{6FDF0E47-39C5-4EFB-8BF1-CA3F76D5E4B2}">
      <dgm:prSet custT="1"/>
      <dgm:spPr>
        <a:solidFill>
          <a:schemeClr val="tx2"/>
        </a:solidFill>
      </dgm:spPr>
      <dgm:t>
        <a:bodyPr/>
        <a:lstStyle/>
        <a:p>
          <a:r>
            <a:rPr lang="en-US" sz="1400" dirty="0"/>
            <a:t>Impending penetration of EV inter alia to drive significant growth in demand</a:t>
          </a:r>
        </a:p>
      </dgm:t>
    </dgm:pt>
    <dgm:pt modelId="{DC29FFB0-931B-40A0-B84D-432E07538651}" type="parTrans" cxnId="{9C2B91F7-9353-480C-816B-53A1D7448C29}">
      <dgm:prSet/>
      <dgm:spPr/>
      <dgm:t>
        <a:bodyPr/>
        <a:lstStyle/>
        <a:p>
          <a:endParaRPr lang="en-US" sz="1400"/>
        </a:p>
      </dgm:t>
    </dgm:pt>
    <dgm:pt modelId="{795EE8FF-9B8C-4676-A57B-D55BA2D4FD0E}" type="sibTrans" cxnId="{9C2B91F7-9353-480C-816B-53A1D7448C29}">
      <dgm:prSet/>
      <dgm:spPr/>
      <dgm:t>
        <a:bodyPr/>
        <a:lstStyle/>
        <a:p>
          <a:endParaRPr lang="en-US" sz="1400"/>
        </a:p>
      </dgm:t>
    </dgm:pt>
    <dgm:pt modelId="{F657C574-9150-4ABE-9A18-B52DD19080C3}">
      <dgm:prSet custT="1"/>
      <dgm:spPr>
        <a:solidFill>
          <a:srgbClr val="009A44"/>
        </a:solidFill>
      </dgm:spPr>
      <dgm:t>
        <a:bodyPr/>
        <a:lstStyle/>
        <a:p>
          <a:r>
            <a:rPr lang="en-US" sz="1400" dirty="0"/>
            <a:t>Significant Precedent cases in India to learn from and implement the Green Tariff Scheme successfully</a:t>
          </a:r>
        </a:p>
      </dgm:t>
    </dgm:pt>
    <dgm:pt modelId="{1248BFAC-31B7-4196-8870-19991897079A}" type="parTrans" cxnId="{2E6D3A24-DFFC-4F60-BD64-728C3360BCA1}">
      <dgm:prSet/>
      <dgm:spPr/>
      <dgm:t>
        <a:bodyPr/>
        <a:lstStyle/>
        <a:p>
          <a:endParaRPr lang="en-US" sz="1400"/>
        </a:p>
      </dgm:t>
    </dgm:pt>
    <dgm:pt modelId="{4833D9A1-D510-43EA-AC9B-69CA524EF8BB}" type="sibTrans" cxnId="{2E6D3A24-DFFC-4F60-BD64-728C3360BCA1}">
      <dgm:prSet/>
      <dgm:spPr/>
      <dgm:t>
        <a:bodyPr/>
        <a:lstStyle/>
        <a:p>
          <a:endParaRPr lang="en-US" sz="1400"/>
        </a:p>
      </dgm:t>
    </dgm:pt>
    <dgm:pt modelId="{FCD4C3CC-4D1B-4AC1-9B99-7F5EC7E70597}" type="pres">
      <dgm:prSet presAssocID="{A9406275-E369-4C50-A208-383BA7F358CA}" presName="linear" presStyleCnt="0">
        <dgm:presLayoutVars>
          <dgm:animLvl val="lvl"/>
          <dgm:resizeHandles val="exact"/>
        </dgm:presLayoutVars>
      </dgm:prSet>
      <dgm:spPr/>
    </dgm:pt>
    <dgm:pt modelId="{C495CA32-0EE8-4B32-B057-FA8ECBDED8E9}" type="pres">
      <dgm:prSet presAssocID="{D749BBBD-1557-4075-A278-61C2EF2ACF8F}" presName="parentText" presStyleLbl="node1" presStyleIdx="0" presStyleCnt="5" custLinFactNeighborY="8447">
        <dgm:presLayoutVars>
          <dgm:chMax val="0"/>
          <dgm:bulletEnabled val="1"/>
        </dgm:presLayoutVars>
      </dgm:prSet>
      <dgm:spPr/>
    </dgm:pt>
    <dgm:pt modelId="{0E47F16F-EB9E-4C45-ADFA-2C1D2F461B97}" type="pres">
      <dgm:prSet presAssocID="{101F9979-C342-43CB-B583-47A9A4ECEC92}" presName="spacer" presStyleCnt="0"/>
      <dgm:spPr/>
    </dgm:pt>
    <dgm:pt modelId="{CCDFA2BA-882F-4868-BC54-86E37D673645}" type="pres">
      <dgm:prSet presAssocID="{D6D17732-87D5-489D-8F8B-FB85D38CE20B}" presName="parentText" presStyleLbl="node1" presStyleIdx="1" presStyleCnt="5">
        <dgm:presLayoutVars>
          <dgm:chMax val="0"/>
          <dgm:bulletEnabled val="1"/>
        </dgm:presLayoutVars>
      </dgm:prSet>
      <dgm:spPr/>
    </dgm:pt>
    <dgm:pt modelId="{664555D6-F493-43F5-9A45-6A8650825918}" type="pres">
      <dgm:prSet presAssocID="{F545DE9F-82B2-4A72-8BDE-03A8BB0207E4}" presName="spacer" presStyleCnt="0"/>
      <dgm:spPr/>
    </dgm:pt>
    <dgm:pt modelId="{5B97A3F0-FBDD-40F8-B383-9FDA8104BABA}" type="pres">
      <dgm:prSet presAssocID="{5555DFDB-D761-49EB-A76F-DA2E6E099CFC}" presName="parentText" presStyleLbl="node1" presStyleIdx="2" presStyleCnt="5">
        <dgm:presLayoutVars>
          <dgm:chMax val="0"/>
          <dgm:bulletEnabled val="1"/>
        </dgm:presLayoutVars>
      </dgm:prSet>
      <dgm:spPr/>
    </dgm:pt>
    <dgm:pt modelId="{E898E455-9B4A-435E-9826-533D95FC4E5A}" type="pres">
      <dgm:prSet presAssocID="{5BCBEA5F-999B-4410-8C82-F2D02C9F857C}" presName="spacer" presStyleCnt="0"/>
      <dgm:spPr/>
    </dgm:pt>
    <dgm:pt modelId="{B1D5CE44-FA9B-4910-BCCF-B406ABF35280}" type="pres">
      <dgm:prSet presAssocID="{6FDF0E47-39C5-4EFB-8BF1-CA3F76D5E4B2}" presName="parentText" presStyleLbl="node1" presStyleIdx="3" presStyleCnt="5">
        <dgm:presLayoutVars>
          <dgm:chMax val="0"/>
          <dgm:bulletEnabled val="1"/>
        </dgm:presLayoutVars>
      </dgm:prSet>
      <dgm:spPr/>
    </dgm:pt>
    <dgm:pt modelId="{5D97C75F-9774-412F-BDE3-FAFFC5F76EEF}" type="pres">
      <dgm:prSet presAssocID="{795EE8FF-9B8C-4676-A57B-D55BA2D4FD0E}" presName="spacer" presStyleCnt="0"/>
      <dgm:spPr/>
    </dgm:pt>
    <dgm:pt modelId="{76725D29-2C4E-44C9-896F-9CCC6B809224}" type="pres">
      <dgm:prSet presAssocID="{F657C574-9150-4ABE-9A18-B52DD19080C3}" presName="parentText" presStyleLbl="node1" presStyleIdx="4" presStyleCnt="5" custLinFactY="993" custLinFactNeighborY="100000">
        <dgm:presLayoutVars>
          <dgm:chMax val="0"/>
          <dgm:bulletEnabled val="1"/>
        </dgm:presLayoutVars>
      </dgm:prSet>
      <dgm:spPr/>
    </dgm:pt>
  </dgm:ptLst>
  <dgm:cxnLst>
    <dgm:cxn modelId="{D424390C-CE6E-42D1-A0F4-3DDA64C1F168}" srcId="{A9406275-E369-4C50-A208-383BA7F358CA}" destId="{5555DFDB-D761-49EB-A76F-DA2E6E099CFC}" srcOrd="2" destOrd="0" parTransId="{1E623351-EDA8-473E-857C-FA59DAD9B2F2}" sibTransId="{5BCBEA5F-999B-4410-8C82-F2D02C9F857C}"/>
    <dgm:cxn modelId="{DC3CD816-C76E-4620-AF9F-C1BF5F16E11D}" type="presOf" srcId="{5555DFDB-D761-49EB-A76F-DA2E6E099CFC}" destId="{5B97A3F0-FBDD-40F8-B383-9FDA8104BABA}" srcOrd="0" destOrd="0" presId="urn:microsoft.com/office/officeart/2005/8/layout/vList2"/>
    <dgm:cxn modelId="{16BACF20-FFBE-4BF5-96C6-4DCCDA87128B}" type="presOf" srcId="{6FDF0E47-39C5-4EFB-8BF1-CA3F76D5E4B2}" destId="{B1D5CE44-FA9B-4910-BCCF-B406ABF35280}" srcOrd="0" destOrd="0" presId="urn:microsoft.com/office/officeart/2005/8/layout/vList2"/>
    <dgm:cxn modelId="{2E6D3A24-DFFC-4F60-BD64-728C3360BCA1}" srcId="{A9406275-E369-4C50-A208-383BA7F358CA}" destId="{F657C574-9150-4ABE-9A18-B52DD19080C3}" srcOrd="4" destOrd="0" parTransId="{1248BFAC-31B7-4196-8870-19991897079A}" sibTransId="{4833D9A1-D510-43EA-AC9B-69CA524EF8BB}"/>
    <dgm:cxn modelId="{D3B2DC2F-AB96-4121-BB69-84F29AFF1DBC}" type="presOf" srcId="{A9406275-E369-4C50-A208-383BA7F358CA}" destId="{FCD4C3CC-4D1B-4AC1-9B99-7F5EC7E70597}" srcOrd="0" destOrd="0" presId="urn:microsoft.com/office/officeart/2005/8/layout/vList2"/>
    <dgm:cxn modelId="{6FE4419F-36BC-4872-8213-E06C756F8FBF}" srcId="{A9406275-E369-4C50-A208-383BA7F358CA}" destId="{D749BBBD-1557-4075-A278-61C2EF2ACF8F}" srcOrd="0" destOrd="0" parTransId="{DF759B92-9EE2-495C-A06A-776B3D00A299}" sibTransId="{101F9979-C342-43CB-B583-47A9A4ECEC92}"/>
    <dgm:cxn modelId="{C09D74D4-1BD9-49A3-8B38-4265683FDBD7}" type="presOf" srcId="{D749BBBD-1557-4075-A278-61C2EF2ACF8F}" destId="{C495CA32-0EE8-4B32-B057-FA8ECBDED8E9}" srcOrd="0" destOrd="0" presId="urn:microsoft.com/office/officeart/2005/8/layout/vList2"/>
    <dgm:cxn modelId="{8648D6D8-B17B-4B84-BA4C-FE1C89257153}" type="presOf" srcId="{D6D17732-87D5-489D-8F8B-FB85D38CE20B}" destId="{CCDFA2BA-882F-4868-BC54-86E37D673645}" srcOrd="0" destOrd="0" presId="urn:microsoft.com/office/officeart/2005/8/layout/vList2"/>
    <dgm:cxn modelId="{BB44B2DB-D7FD-4833-A68F-6F3BD6BBC9BE}" type="presOf" srcId="{F657C574-9150-4ABE-9A18-B52DD19080C3}" destId="{76725D29-2C4E-44C9-896F-9CCC6B809224}" srcOrd="0" destOrd="0" presId="urn:microsoft.com/office/officeart/2005/8/layout/vList2"/>
    <dgm:cxn modelId="{F3C981E5-4F61-4030-A95E-01752DFC9E02}" srcId="{A9406275-E369-4C50-A208-383BA7F358CA}" destId="{D6D17732-87D5-489D-8F8B-FB85D38CE20B}" srcOrd="1" destOrd="0" parTransId="{09A161A3-162B-4B3C-A41E-DC2B82500080}" sibTransId="{F545DE9F-82B2-4A72-8BDE-03A8BB0207E4}"/>
    <dgm:cxn modelId="{9C2B91F7-9353-480C-816B-53A1D7448C29}" srcId="{A9406275-E369-4C50-A208-383BA7F358CA}" destId="{6FDF0E47-39C5-4EFB-8BF1-CA3F76D5E4B2}" srcOrd="3" destOrd="0" parTransId="{DC29FFB0-931B-40A0-B84D-432E07538651}" sibTransId="{795EE8FF-9B8C-4676-A57B-D55BA2D4FD0E}"/>
    <dgm:cxn modelId="{61A1BFEF-E198-4201-B764-B52E77E14751}" type="presParOf" srcId="{FCD4C3CC-4D1B-4AC1-9B99-7F5EC7E70597}" destId="{C495CA32-0EE8-4B32-B057-FA8ECBDED8E9}" srcOrd="0" destOrd="0" presId="urn:microsoft.com/office/officeart/2005/8/layout/vList2"/>
    <dgm:cxn modelId="{E3365804-3C9A-4697-9334-ADE9251307FE}" type="presParOf" srcId="{FCD4C3CC-4D1B-4AC1-9B99-7F5EC7E70597}" destId="{0E47F16F-EB9E-4C45-ADFA-2C1D2F461B97}" srcOrd="1" destOrd="0" presId="urn:microsoft.com/office/officeart/2005/8/layout/vList2"/>
    <dgm:cxn modelId="{A8CAE1F1-3318-48A0-B333-E22522B0D44F}" type="presParOf" srcId="{FCD4C3CC-4D1B-4AC1-9B99-7F5EC7E70597}" destId="{CCDFA2BA-882F-4868-BC54-86E37D673645}" srcOrd="2" destOrd="0" presId="urn:microsoft.com/office/officeart/2005/8/layout/vList2"/>
    <dgm:cxn modelId="{2FB608F8-0AC4-43B1-958E-451A76A3F9AD}" type="presParOf" srcId="{FCD4C3CC-4D1B-4AC1-9B99-7F5EC7E70597}" destId="{664555D6-F493-43F5-9A45-6A8650825918}" srcOrd="3" destOrd="0" presId="urn:microsoft.com/office/officeart/2005/8/layout/vList2"/>
    <dgm:cxn modelId="{5BFC6CAD-F127-46D4-A514-1F0A5082B007}" type="presParOf" srcId="{FCD4C3CC-4D1B-4AC1-9B99-7F5EC7E70597}" destId="{5B97A3F0-FBDD-40F8-B383-9FDA8104BABA}" srcOrd="4" destOrd="0" presId="urn:microsoft.com/office/officeart/2005/8/layout/vList2"/>
    <dgm:cxn modelId="{4CD94D40-44E6-4564-A283-355ECB625162}" type="presParOf" srcId="{FCD4C3CC-4D1B-4AC1-9B99-7F5EC7E70597}" destId="{E898E455-9B4A-435E-9826-533D95FC4E5A}" srcOrd="5" destOrd="0" presId="urn:microsoft.com/office/officeart/2005/8/layout/vList2"/>
    <dgm:cxn modelId="{4DB7B592-3F03-47EE-9565-B8C8843D6F53}" type="presParOf" srcId="{FCD4C3CC-4D1B-4AC1-9B99-7F5EC7E70597}" destId="{B1D5CE44-FA9B-4910-BCCF-B406ABF35280}" srcOrd="6" destOrd="0" presId="urn:microsoft.com/office/officeart/2005/8/layout/vList2"/>
    <dgm:cxn modelId="{6322CAC3-B86A-4484-A848-36ABEB723605}" type="presParOf" srcId="{FCD4C3CC-4D1B-4AC1-9B99-7F5EC7E70597}" destId="{5D97C75F-9774-412F-BDE3-FAFFC5F76EEF}" srcOrd="7" destOrd="0" presId="urn:microsoft.com/office/officeart/2005/8/layout/vList2"/>
    <dgm:cxn modelId="{0A0515BC-30DE-41C0-B808-1899A145851B}" type="presParOf" srcId="{FCD4C3CC-4D1B-4AC1-9B99-7F5EC7E70597}" destId="{76725D29-2C4E-44C9-896F-9CCC6B809224}"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B50B4EAD-F6B6-49F6-A646-56B33E49F8CE}" type="doc">
      <dgm:prSet loTypeId="urn:microsoft.com/office/officeart/2005/8/layout/arrow2" loCatId="process" qsTypeId="urn:microsoft.com/office/officeart/2005/8/quickstyle/3d4" qsCatId="3D" csTypeId="urn:microsoft.com/office/officeart/2005/8/colors/accent1_2" csCatId="accent1" phldr="1"/>
      <dgm:spPr/>
      <dgm:t>
        <a:bodyPr/>
        <a:lstStyle/>
        <a:p>
          <a:endParaRPr lang="en-US"/>
        </a:p>
      </dgm:t>
    </dgm:pt>
    <dgm:pt modelId="{24682B54-50AD-47C5-BDCA-EC06AB905D13}">
      <dgm:prSet custT="1"/>
      <dgm:spPr/>
      <dgm:t>
        <a:bodyPr/>
        <a:lstStyle/>
        <a:p>
          <a:pPr algn="just"/>
          <a:r>
            <a:rPr lang="en-US" sz="1200" dirty="0"/>
            <a:t>In 2008–09, for the first time, Andhra Pradesh introduced an optional green power tariff for C&amp;I consumers at a premium price of Rs. 6.7/kWh (IDFC 2010)</a:t>
          </a:r>
        </a:p>
      </dgm:t>
    </dgm:pt>
    <dgm:pt modelId="{2E432DE4-6515-4942-A0C5-B95AFFF4042A}" type="parTrans" cxnId="{D9BF26C2-7361-4FEB-A952-A00FDE7E0589}">
      <dgm:prSet/>
      <dgm:spPr/>
      <dgm:t>
        <a:bodyPr/>
        <a:lstStyle/>
        <a:p>
          <a:endParaRPr lang="en-US"/>
        </a:p>
      </dgm:t>
    </dgm:pt>
    <dgm:pt modelId="{D378CFCB-6B43-443B-B96D-0B3DF939F844}" type="sibTrans" cxnId="{D9BF26C2-7361-4FEB-A952-A00FDE7E0589}">
      <dgm:prSet/>
      <dgm:spPr/>
      <dgm:t>
        <a:bodyPr/>
        <a:lstStyle/>
        <a:p>
          <a:endParaRPr lang="en-US"/>
        </a:p>
      </dgm:t>
    </dgm:pt>
    <dgm:pt modelId="{E3C4C78C-7778-47E3-BE2D-311FEBBA0DF1}">
      <dgm:prSet custT="1"/>
      <dgm:spPr>
        <a:noFill/>
      </dgm:spPr>
      <dgm:t>
        <a:bodyPr/>
        <a:lstStyle/>
        <a:p>
          <a:pPr algn="just"/>
          <a:r>
            <a:rPr lang="en-US" sz="1200" dirty="0"/>
            <a:t>Citing absence of sales, this category was removed vide 2017-18 tariff order</a:t>
          </a:r>
        </a:p>
      </dgm:t>
    </dgm:pt>
    <dgm:pt modelId="{9DFF2B35-A5D6-46D1-A1A6-2509042867F7}" type="parTrans" cxnId="{D3AC1AB5-1C46-4401-B0FC-9811C5A34018}">
      <dgm:prSet/>
      <dgm:spPr/>
      <dgm:t>
        <a:bodyPr/>
        <a:lstStyle/>
        <a:p>
          <a:endParaRPr lang="en-US"/>
        </a:p>
      </dgm:t>
    </dgm:pt>
    <dgm:pt modelId="{2271B16C-04A8-4E46-9744-5FDE70C2BCA4}" type="sibTrans" cxnId="{D3AC1AB5-1C46-4401-B0FC-9811C5A34018}">
      <dgm:prSet/>
      <dgm:spPr/>
      <dgm:t>
        <a:bodyPr/>
        <a:lstStyle/>
        <a:p>
          <a:endParaRPr lang="en-US"/>
        </a:p>
      </dgm:t>
    </dgm:pt>
    <dgm:pt modelId="{E80EC2D0-7F61-40A9-BF00-38EE62F2359C}">
      <dgm:prSet custT="1"/>
      <dgm:spPr/>
      <dgm:t>
        <a:bodyPr/>
        <a:lstStyle/>
        <a:p>
          <a:pPr algn="just"/>
          <a:r>
            <a:rPr lang="en-US" sz="1150" dirty="0"/>
            <a:t>In response to a petition by the only consumer who subscribed to this tariff category in 2016 and 2017, APERC re-introduced the “HT Category VII-Green Power” tariff category in 2018–19 for HT consumers “who wish to avail power from Non-conventional sources of energy voluntarily and show their support to an environmental cause” (APERC 2018)</a:t>
          </a:r>
        </a:p>
      </dgm:t>
    </dgm:pt>
    <dgm:pt modelId="{6C0A1F22-7BB9-4A15-8393-FB63F35BA84E}" type="parTrans" cxnId="{5A75EF04-273A-4066-810C-F20023665DF4}">
      <dgm:prSet/>
      <dgm:spPr/>
      <dgm:t>
        <a:bodyPr/>
        <a:lstStyle/>
        <a:p>
          <a:endParaRPr lang="en-US"/>
        </a:p>
      </dgm:t>
    </dgm:pt>
    <dgm:pt modelId="{6F213BCE-A3A1-46C0-9591-EA22AF3486E4}" type="sibTrans" cxnId="{5A75EF04-273A-4066-810C-F20023665DF4}">
      <dgm:prSet/>
      <dgm:spPr/>
      <dgm:t>
        <a:bodyPr/>
        <a:lstStyle/>
        <a:p>
          <a:endParaRPr lang="en-US"/>
        </a:p>
      </dgm:t>
    </dgm:pt>
    <dgm:pt modelId="{D81622CF-92D6-410A-9977-7781A4DD4802}">
      <dgm:prSet custT="1"/>
      <dgm:spPr/>
      <dgm:t>
        <a:bodyPr/>
        <a:lstStyle/>
        <a:p>
          <a:pPr algn="l"/>
          <a:r>
            <a:rPr lang="en-US" sz="1200" dirty="0"/>
            <a:t>At Rs. 11.32/</a:t>
          </a:r>
          <a:r>
            <a:rPr lang="en-US" sz="1200" dirty="0" err="1"/>
            <a:t>kVAh</a:t>
          </a:r>
          <a:r>
            <a:rPr lang="en-US" sz="1200" dirty="0"/>
            <a:t>, subscription to this tariff category is optional and concomitantly entitles the subscribing HT consumers to RECs as well</a:t>
          </a:r>
        </a:p>
      </dgm:t>
    </dgm:pt>
    <dgm:pt modelId="{CF15B2F7-E848-4EA3-A14A-0A1C2FD987A1}" type="parTrans" cxnId="{A8BC900B-6417-4A5A-9647-4E622665D064}">
      <dgm:prSet/>
      <dgm:spPr/>
      <dgm:t>
        <a:bodyPr/>
        <a:lstStyle/>
        <a:p>
          <a:endParaRPr lang="en-US"/>
        </a:p>
      </dgm:t>
    </dgm:pt>
    <dgm:pt modelId="{EFD7306F-F46F-4B59-B894-F6BBFCEBE550}" type="sibTrans" cxnId="{A8BC900B-6417-4A5A-9647-4E622665D064}">
      <dgm:prSet/>
      <dgm:spPr/>
      <dgm:t>
        <a:bodyPr/>
        <a:lstStyle/>
        <a:p>
          <a:endParaRPr lang="en-US"/>
        </a:p>
      </dgm:t>
    </dgm:pt>
    <dgm:pt modelId="{EDA02674-AB42-40ED-9D2E-8839C8BFCF70}">
      <dgm:prSet custT="1"/>
      <dgm:spPr/>
      <dgm:t>
        <a:bodyPr/>
        <a:lstStyle/>
        <a:p>
          <a:pPr algn="just"/>
          <a:r>
            <a:rPr lang="en-US" sz="1200" dirty="0"/>
            <a:t>There is no restriction on the end-use purpose of this green energy (except for use as start-up power for generating plants), and no monthly minimum charges are levied under this category</a:t>
          </a:r>
        </a:p>
      </dgm:t>
    </dgm:pt>
    <dgm:pt modelId="{1F7AF316-6076-4AB3-B570-79B983D97E41}" type="parTrans" cxnId="{8B0F280B-3564-47FC-B38E-763FE3494F6D}">
      <dgm:prSet/>
      <dgm:spPr/>
      <dgm:t>
        <a:bodyPr/>
        <a:lstStyle/>
        <a:p>
          <a:endParaRPr lang="en-US"/>
        </a:p>
      </dgm:t>
    </dgm:pt>
    <dgm:pt modelId="{A42A6169-DD35-45CF-8171-F9CEE81E1D5F}" type="sibTrans" cxnId="{8B0F280B-3564-47FC-B38E-763FE3494F6D}">
      <dgm:prSet/>
      <dgm:spPr/>
      <dgm:t>
        <a:bodyPr/>
        <a:lstStyle/>
        <a:p>
          <a:endParaRPr lang="en-US"/>
        </a:p>
      </dgm:t>
    </dgm:pt>
    <dgm:pt modelId="{4DC57452-4C49-479B-A86A-E4F9C1D1CD7C}" type="pres">
      <dgm:prSet presAssocID="{B50B4EAD-F6B6-49F6-A646-56B33E49F8CE}" presName="arrowDiagram" presStyleCnt="0">
        <dgm:presLayoutVars>
          <dgm:chMax val="5"/>
          <dgm:dir/>
          <dgm:resizeHandles val="exact"/>
        </dgm:presLayoutVars>
      </dgm:prSet>
      <dgm:spPr/>
    </dgm:pt>
    <dgm:pt modelId="{E6DA4C51-3858-4E14-8583-8DB0AC90FBE5}" type="pres">
      <dgm:prSet presAssocID="{B50B4EAD-F6B6-49F6-A646-56B33E49F8CE}" presName="arrow" presStyleLbl="bgShp" presStyleIdx="0" presStyleCnt="1" custScaleX="135061" custScaleY="81002" custLinFactNeighborX="2794" custLinFactNeighborY="3693"/>
      <dgm:spPr>
        <a:solidFill>
          <a:schemeClr val="accent4">
            <a:lumMod val="75000"/>
          </a:schemeClr>
        </a:solidFill>
      </dgm:spPr>
    </dgm:pt>
    <dgm:pt modelId="{CCE851D1-EDBC-460F-A6FF-3DD8105AB472}" type="pres">
      <dgm:prSet presAssocID="{B50B4EAD-F6B6-49F6-A646-56B33E49F8CE}" presName="arrowDiagram5" presStyleCnt="0"/>
      <dgm:spPr/>
    </dgm:pt>
    <dgm:pt modelId="{BBBCABE8-87B5-4F37-A375-215DC189B020}" type="pres">
      <dgm:prSet presAssocID="{24682B54-50AD-47C5-BDCA-EC06AB905D13}" presName="bullet5a" presStyleLbl="node1" presStyleIdx="0" presStyleCnt="5" custLinFactX="-200000" custLinFactNeighborX="-295642" custLinFactNeighborY="-32757"/>
      <dgm:spPr>
        <a:solidFill>
          <a:schemeClr val="accent3">
            <a:lumMod val="60000"/>
            <a:lumOff val="40000"/>
          </a:schemeClr>
        </a:solidFill>
      </dgm:spPr>
    </dgm:pt>
    <dgm:pt modelId="{CC3C197A-D335-487A-831B-198BCE2D4B66}" type="pres">
      <dgm:prSet presAssocID="{24682B54-50AD-47C5-BDCA-EC06AB905D13}" presName="textBox5a" presStyleLbl="revTx" presStyleIdx="0" presStyleCnt="5" custScaleX="146742" custLinFactNeighborX="-66532" custLinFactNeighborY="8977">
        <dgm:presLayoutVars>
          <dgm:bulletEnabled val="1"/>
        </dgm:presLayoutVars>
      </dgm:prSet>
      <dgm:spPr/>
    </dgm:pt>
    <dgm:pt modelId="{EB6A4A88-0AC0-40E7-9666-C60F7CA3189A}" type="pres">
      <dgm:prSet presAssocID="{E3C4C78C-7778-47E3-BE2D-311FEBBA0DF1}" presName="bullet5b" presStyleLbl="node1" presStyleIdx="1" presStyleCnt="5" custLinFactX="-20394" custLinFactNeighborX="-100000" custLinFactNeighborY="20070"/>
      <dgm:spPr>
        <a:solidFill>
          <a:schemeClr val="bg1">
            <a:lumMod val="95000"/>
          </a:schemeClr>
        </a:solidFill>
      </dgm:spPr>
    </dgm:pt>
    <dgm:pt modelId="{1E41EC20-EA58-4F4A-BC4A-7696664CC6AD}" type="pres">
      <dgm:prSet presAssocID="{E3C4C78C-7778-47E3-BE2D-311FEBBA0DF1}" presName="textBox5b" presStyleLbl="revTx" presStyleIdx="1" presStyleCnt="5" custScaleX="141118" custScaleY="36904" custLinFactX="-1728" custLinFactNeighborX="-100000" custLinFactNeighborY="-78969">
        <dgm:presLayoutVars>
          <dgm:bulletEnabled val="1"/>
        </dgm:presLayoutVars>
      </dgm:prSet>
      <dgm:spPr/>
    </dgm:pt>
    <dgm:pt modelId="{F899BC9E-E809-41EB-ACF7-E46E3160B0DB}" type="pres">
      <dgm:prSet presAssocID="{E80EC2D0-7F61-40A9-BF00-38EE62F2359C}" presName="bullet5c" presStyleLbl="node1" presStyleIdx="2" presStyleCnt="5" custLinFactNeighborX="10715" custLinFactNeighborY="67859"/>
      <dgm:spPr>
        <a:solidFill>
          <a:schemeClr val="accent5">
            <a:lumMod val="60000"/>
            <a:lumOff val="40000"/>
          </a:schemeClr>
        </a:solidFill>
      </dgm:spPr>
    </dgm:pt>
    <dgm:pt modelId="{7062C486-151F-428B-981A-D9C84892347C}" type="pres">
      <dgm:prSet presAssocID="{E80EC2D0-7F61-40A9-BF00-38EE62F2359C}" presName="textBox5c" presStyleLbl="revTx" presStyleIdx="2" presStyleCnt="5" custScaleX="166619" custScaleY="66183" custLinFactNeighborX="-8734" custLinFactNeighborY="11907">
        <dgm:presLayoutVars>
          <dgm:bulletEnabled val="1"/>
        </dgm:presLayoutVars>
      </dgm:prSet>
      <dgm:spPr/>
    </dgm:pt>
    <dgm:pt modelId="{194AAD07-2FB0-4A4D-8A7D-100D5F268A19}" type="pres">
      <dgm:prSet presAssocID="{D81622CF-92D6-410A-9977-7781A4DD4802}" presName="bullet5d" presStyleLbl="node1" presStyleIdx="3" presStyleCnt="5" custLinFactX="22439" custLinFactNeighborX="100000" custLinFactNeighborY="78433"/>
      <dgm:spPr>
        <a:solidFill>
          <a:srgbClr val="C4D600"/>
        </a:solidFill>
      </dgm:spPr>
    </dgm:pt>
    <dgm:pt modelId="{E5002E7E-6838-48D2-BB84-E0D1542AABCD}" type="pres">
      <dgm:prSet presAssocID="{D81622CF-92D6-410A-9977-7781A4DD4802}" presName="textBox5d" presStyleLbl="revTx" presStyleIdx="3" presStyleCnt="5" custScaleX="146020" custScaleY="37518" custLinFactNeighborX="-61310" custLinFactNeighborY="-61674">
        <dgm:presLayoutVars>
          <dgm:bulletEnabled val="1"/>
        </dgm:presLayoutVars>
      </dgm:prSet>
      <dgm:spPr/>
    </dgm:pt>
    <dgm:pt modelId="{16686257-0D1A-4AF0-920C-DB9DDDE4B1F5}" type="pres">
      <dgm:prSet presAssocID="{EDA02674-AB42-40ED-9D2E-8839C8BFCF70}" presName="bullet5e" presStyleLbl="node1" presStyleIdx="4" presStyleCnt="5" custLinFactX="100000" custLinFactNeighborX="100132" custLinFactNeighborY="66794"/>
      <dgm:spPr>
        <a:solidFill>
          <a:srgbClr val="86BC25"/>
        </a:solidFill>
      </dgm:spPr>
    </dgm:pt>
    <dgm:pt modelId="{D29020AA-81C0-4093-B2AA-6EB3081C98B8}" type="pres">
      <dgm:prSet presAssocID="{EDA02674-AB42-40ED-9D2E-8839C8BFCF70}" presName="textBox5e" presStyleLbl="revTx" presStyleIdx="4" presStyleCnt="5" custScaleX="151625" custScaleY="30630" custLinFactNeighborX="11092" custLinFactNeighborY="-4571">
        <dgm:presLayoutVars>
          <dgm:bulletEnabled val="1"/>
        </dgm:presLayoutVars>
      </dgm:prSet>
      <dgm:spPr/>
    </dgm:pt>
  </dgm:ptLst>
  <dgm:cxnLst>
    <dgm:cxn modelId="{5A75EF04-273A-4066-810C-F20023665DF4}" srcId="{B50B4EAD-F6B6-49F6-A646-56B33E49F8CE}" destId="{E80EC2D0-7F61-40A9-BF00-38EE62F2359C}" srcOrd="2" destOrd="0" parTransId="{6C0A1F22-7BB9-4A15-8393-FB63F35BA84E}" sibTransId="{6F213BCE-A3A1-46C0-9591-EA22AF3486E4}"/>
    <dgm:cxn modelId="{8B0F280B-3564-47FC-B38E-763FE3494F6D}" srcId="{B50B4EAD-F6B6-49F6-A646-56B33E49F8CE}" destId="{EDA02674-AB42-40ED-9D2E-8839C8BFCF70}" srcOrd="4" destOrd="0" parTransId="{1F7AF316-6076-4AB3-B570-79B983D97E41}" sibTransId="{A42A6169-DD35-45CF-8171-F9CEE81E1D5F}"/>
    <dgm:cxn modelId="{A8BC900B-6417-4A5A-9647-4E622665D064}" srcId="{B50B4EAD-F6B6-49F6-A646-56B33E49F8CE}" destId="{D81622CF-92D6-410A-9977-7781A4DD4802}" srcOrd="3" destOrd="0" parTransId="{CF15B2F7-E848-4EA3-A14A-0A1C2FD987A1}" sibTransId="{EFD7306F-F46F-4B59-B894-F6BBFCEBE550}"/>
    <dgm:cxn modelId="{7DCF6314-60C7-4B55-A794-07AA5DF61CEE}" type="presOf" srcId="{D81622CF-92D6-410A-9977-7781A4DD4802}" destId="{E5002E7E-6838-48D2-BB84-E0D1542AABCD}" srcOrd="0" destOrd="0" presId="urn:microsoft.com/office/officeart/2005/8/layout/arrow2"/>
    <dgm:cxn modelId="{1E839962-EE0F-4508-91D4-40E05D7BF858}" type="presOf" srcId="{E80EC2D0-7F61-40A9-BF00-38EE62F2359C}" destId="{7062C486-151F-428B-981A-D9C84892347C}" srcOrd="0" destOrd="0" presId="urn:microsoft.com/office/officeart/2005/8/layout/arrow2"/>
    <dgm:cxn modelId="{10A3BF8C-5D20-4A35-BFDF-E1EFAFFB7954}" type="presOf" srcId="{24682B54-50AD-47C5-BDCA-EC06AB905D13}" destId="{CC3C197A-D335-487A-831B-198BCE2D4B66}" srcOrd="0" destOrd="0" presId="urn:microsoft.com/office/officeart/2005/8/layout/arrow2"/>
    <dgm:cxn modelId="{76E264AB-5C17-47C3-8E85-FF6C39844C3D}" type="presOf" srcId="{E3C4C78C-7778-47E3-BE2D-311FEBBA0DF1}" destId="{1E41EC20-EA58-4F4A-BC4A-7696664CC6AD}" srcOrd="0" destOrd="0" presId="urn:microsoft.com/office/officeart/2005/8/layout/arrow2"/>
    <dgm:cxn modelId="{56D2B0AE-CB9A-4B48-8CD7-B8CCDA2A80CD}" type="presOf" srcId="{B50B4EAD-F6B6-49F6-A646-56B33E49F8CE}" destId="{4DC57452-4C49-479B-A86A-E4F9C1D1CD7C}" srcOrd="0" destOrd="0" presId="urn:microsoft.com/office/officeart/2005/8/layout/arrow2"/>
    <dgm:cxn modelId="{D3AC1AB5-1C46-4401-B0FC-9811C5A34018}" srcId="{B50B4EAD-F6B6-49F6-A646-56B33E49F8CE}" destId="{E3C4C78C-7778-47E3-BE2D-311FEBBA0DF1}" srcOrd="1" destOrd="0" parTransId="{9DFF2B35-A5D6-46D1-A1A6-2509042867F7}" sibTransId="{2271B16C-04A8-4E46-9744-5FDE70C2BCA4}"/>
    <dgm:cxn modelId="{D9BF26C2-7361-4FEB-A952-A00FDE7E0589}" srcId="{B50B4EAD-F6B6-49F6-A646-56B33E49F8CE}" destId="{24682B54-50AD-47C5-BDCA-EC06AB905D13}" srcOrd="0" destOrd="0" parTransId="{2E432DE4-6515-4942-A0C5-B95AFFF4042A}" sibTransId="{D378CFCB-6B43-443B-B96D-0B3DF939F844}"/>
    <dgm:cxn modelId="{AF2700DF-C3B6-42F5-BD4D-C7C50F8663DB}" type="presOf" srcId="{EDA02674-AB42-40ED-9D2E-8839C8BFCF70}" destId="{D29020AA-81C0-4093-B2AA-6EB3081C98B8}" srcOrd="0" destOrd="0" presId="urn:microsoft.com/office/officeart/2005/8/layout/arrow2"/>
    <dgm:cxn modelId="{B210414C-9177-438B-85AD-5F0EBFAA16CB}" type="presParOf" srcId="{4DC57452-4C49-479B-A86A-E4F9C1D1CD7C}" destId="{E6DA4C51-3858-4E14-8583-8DB0AC90FBE5}" srcOrd="0" destOrd="0" presId="urn:microsoft.com/office/officeart/2005/8/layout/arrow2"/>
    <dgm:cxn modelId="{80266D5F-2D84-4D56-83B9-972F0D00C7B6}" type="presParOf" srcId="{4DC57452-4C49-479B-A86A-E4F9C1D1CD7C}" destId="{CCE851D1-EDBC-460F-A6FF-3DD8105AB472}" srcOrd="1" destOrd="0" presId="urn:microsoft.com/office/officeart/2005/8/layout/arrow2"/>
    <dgm:cxn modelId="{CD01BEC2-7E9D-4355-80CE-61DB6E2FED54}" type="presParOf" srcId="{CCE851D1-EDBC-460F-A6FF-3DD8105AB472}" destId="{BBBCABE8-87B5-4F37-A375-215DC189B020}" srcOrd="0" destOrd="0" presId="urn:microsoft.com/office/officeart/2005/8/layout/arrow2"/>
    <dgm:cxn modelId="{F3AE0F58-7A59-4A51-BFA7-F6FA3F4F4C99}" type="presParOf" srcId="{CCE851D1-EDBC-460F-A6FF-3DD8105AB472}" destId="{CC3C197A-D335-487A-831B-198BCE2D4B66}" srcOrd="1" destOrd="0" presId="urn:microsoft.com/office/officeart/2005/8/layout/arrow2"/>
    <dgm:cxn modelId="{162FA9C7-6770-4388-8988-273BBDFBFFDB}" type="presParOf" srcId="{CCE851D1-EDBC-460F-A6FF-3DD8105AB472}" destId="{EB6A4A88-0AC0-40E7-9666-C60F7CA3189A}" srcOrd="2" destOrd="0" presId="urn:microsoft.com/office/officeart/2005/8/layout/arrow2"/>
    <dgm:cxn modelId="{682E22B2-356E-4A22-9D05-71CBC8EE46C1}" type="presParOf" srcId="{CCE851D1-EDBC-460F-A6FF-3DD8105AB472}" destId="{1E41EC20-EA58-4F4A-BC4A-7696664CC6AD}" srcOrd="3" destOrd="0" presId="urn:microsoft.com/office/officeart/2005/8/layout/arrow2"/>
    <dgm:cxn modelId="{ED42B83F-A13E-483F-B2FB-7DEDAF6D99F7}" type="presParOf" srcId="{CCE851D1-EDBC-460F-A6FF-3DD8105AB472}" destId="{F899BC9E-E809-41EB-ACF7-E46E3160B0DB}" srcOrd="4" destOrd="0" presId="urn:microsoft.com/office/officeart/2005/8/layout/arrow2"/>
    <dgm:cxn modelId="{4E1F2688-494F-4218-BB4C-A105B4D36134}" type="presParOf" srcId="{CCE851D1-EDBC-460F-A6FF-3DD8105AB472}" destId="{7062C486-151F-428B-981A-D9C84892347C}" srcOrd="5" destOrd="0" presId="urn:microsoft.com/office/officeart/2005/8/layout/arrow2"/>
    <dgm:cxn modelId="{E5003063-F103-4EB0-A67E-25CDEBA678A0}" type="presParOf" srcId="{CCE851D1-EDBC-460F-A6FF-3DD8105AB472}" destId="{194AAD07-2FB0-4A4D-8A7D-100D5F268A19}" srcOrd="6" destOrd="0" presId="urn:microsoft.com/office/officeart/2005/8/layout/arrow2"/>
    <dgm:cxn modelId="{A597FD6A-182F-4187-9498-F6D232A24F87}" type="presParOf" srcId="{CCE851D1-EDBC-460F-A6FF-3DD8105AB472}" destId="{E5002E7E-6838-48D2-BB84-E0D1542AABCD}" srcOrd="7" destOrd="0" presId="urn:microsoft.com/office/officeart/2005/8/layout/arrow2"/>
    <dgm:cxn modelId="{C40879C5-FCA3-477D-A3A3-6377166B57CE}" type="presParOf" srcId="{CCE851D1-EDBC-460F-A6FF-3DD8105AB472}" destId="{16686257-0D1A-4AF0-920C-DB9DDDE4B1F5}" srcOrd="8" destOrd="0" presId="urn:microsoft.com/office/officeart/2005/8/layout/arrow2"/>
    <dgm:cxn modelId="{B77FBA6F-568D-40E8-A402-837B79633DBA}" type="presParOf" srcId="{CCE851D1-EDBC-460F-A6FF-3DD8105AB472}" destId="{D29020AA-81C0-4093-B2AA-6EB3081C98B8}" srcOrd="9"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5378C942-D00F-43D4-8C88-E57E3194ADA3}"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67348C83-D61E-4059-A67F-1FF45BC073AD}">
      <dgm:prSet phldrT="[Text]" custT="1"/>
      <dgm:spPr>
        <a:solidFill>
          <a:srgbClr val="007680"/>
        </a:solidFill>
      </dgm:spPr>
      <dgm:t>
        <a:bodyPr/>
        <a:lstStyle/>
        <a:p>
          <a:r>
            <a:rPr lang="en-US" sz="1200" b="1" dirty="0"/>
            <a:t>AMI is not a single technology implementation, </a:t>
          </a:r>
          <a:r>
            <a:rPr lang="en-US" sz="1200" dirty="0"/>
            <a:t>but</a:t>
          </a:r>
          <a:r>
            <a:rPr lang="en-US" sz="1200" b="1" dirty="0"/>
            <a:t> </a:t>
          </a:r>
          <a:r>
            <a:rPr lang="en-US" sz="1200" dirty="0"/>
            <a:t>an integrated system of </a:t>
          </a:r>
          <a:r>
            <a:rPr lang="en-US" sz="1200" b="1" dirty="0"/>
            <a:t>smart meters</a:t>
          </a:r>
          <a:r>
            <a:rPr lang="en-US" sz="1200" dirty="0"/>
            <a:t>, </a:t>
          </a:r>
          <a:r>
            <a:rPr lang="en-US" sz="1200" b="1" dirty="0"/>
            <a:t>communications networks, and data management systems</a:t>
          </a:r>
          <a:r>
            <a:rPr lang="en-US" sz="1200" dirty="0"/>
            <a:t> that enables two-way communication between utilities and customers</a:t>
          </a:r>
          <a:endParaRPr lang="en-US" sz="1200" i="1" dirty="0"/>
        </a:p>
      </dgm:t>
    </dgm:pt>
    <dgm:pt modelId="{84A3AA7E-570E-41D7-AA36-149964591EFE}" type="parTrans" cxnId="{87E3AB3F-41D9-47D5-B396-8003FBF40834}">
      <dgm:prSet/>
      <dgm:spPr/>
      <dgm:t>
        <a:bodyPr/>
        <a:lstStyle/>
        <a:p>
          <a:endParaRPr lang="en-US"/>
        </a:p>
      </dgm:t>
    </dgm:pt>
    <dgm:pt modelId="{53DD984F-FBC5-42D2-B0C3-634302226F34}" type="sibTrans" cxnId="{87E3AB3F-41D9-47D5-B396-8003FBF40834}">
      <dgm:prSet/>
      <dgm:spPr/>
      <dgm:t>
        <a:bodyPr/>
        <a:lstStyle/>
        <a:p>
          <a:endParaRPr lang="en-US"/>
        </a:p>
      </dgm:t>
    </dgm:pt>
    <dgm:pt modelId="{8498290F-1F0F-42F6-A101-85A4054F94EB}">
      <dgm:prSet phldrT="[Text]" custT="1"/>
      <dgm:spPr>
        <a:solidFill>
          <a:srgbClr val="009A44"/>
        </a:solidFill>
      </dgm:spPr>
      <dgm:t>
        <a:bodyPr/>
        <a:lstStyle/>
        <a:p>
          <a:r>
            <a:rPr lang="en-US" sz="1200" b="1" dirty="0"/>
            <a:t>Billing is no longer the only function of smart meters</a:t>
          </a:r>
          <a:r>
            <a:rPr lang="en-US" sz="1200" dirty="0"/>
            <a:t>. High-resolution data from smart meters provide rich information on the electricity consumption behaviors and lifestyles of the consumers. </a:t>
          </a:r>
          <a:endParaRPr lang="en-US" sz="1200" b="0" i="1" dirty="0"/>
        </a:p>
      </dgm:t>
    </dgm:pt>
    <dgm:pt modelId="{FAE2E062-639C-4655-8068-3786C61BC312}" type="parTrans" cxnId="{C054D422-59D8-4303-AC22-F70EFED453DA}">
      <dgm:prSet/>
      <dgm:spPr/>
      <dgm:t>
        <a:bodyPr/>
        <a:lstStyle/>
        <a:p>
          <a:endParaRPr lang="en-US"/>
        </a:p>
      </dgm:t>
    </dgm:pt>
    <dgm:pt modelId="{EDE4390A-DCEA-44DF-8E23-AD21F8320FCC}" type="sibTrans" cxnId="{C054D422-59D8-4303-AC22-F70EFED453DA}">
      <dgm:prSet/>
      <dgm:spPr/>
      <dgm:t>
        <a:bodyPr/>
        <a:lstStyle/>
        <a:p>
          <a:endParaRPr lang="en-US"/>
        </a:p>
      </dgm:t>
    </dgm:pt>
    <dgm:pt modelId="{1EF6C1AA-C318-4F6D-8EF7-228F8847443B}">
      <dgm:prSet phldrT="[Text]" custT="1"/>
      <dgm:spPr>
        <a:solidFill>
          <a:schemeClr val="tx1">
            <a:lumMod val="65000"/>
            <a:lumOff val="35000"/>
          </a:schemeClr>
        </a:solidFill>
      </dgm:spPr>
      <dgm:t>
        <a:bodyPr/>
        <a:lstStyle/>
        <a:p>
          <a:r>
            <a:rPr lang="en-US" sz="1200" dirty="0"/>
            <a:t>The </a:t>
          </a:r>
          <a:r>
            <a:rPr lang="en-US" sz="1200" b="1" dirty="0"/>
            <a:t>system can provide important functions</a:t>
          </a:r>
          <a:r>
            <a:rPr lang="en-US" sz="1200" dirty="0"/>
            <a:t> that were earlier not possible or had to be done manually, like, the ability to remotely/automatically measure electricity use, connect and disconnect service, detect tampering, identify and isolate outages, monitor voltage.</a:t>
          </a:r>
          <a:endParaRPr lang="en-US" sz="1200" b="0" i="1" dirty="0"/>
        </a:p>
      </dgm:t>
    </dgm:pt>
    <dgm:pt modelId="{0D92D419-27CF-47F6-AD8F-99D07EB6B3DB}" type="parTrans" cxnId="{B9E74A42-FF2D-42A9-9097-2977D31AACE6}">
      <dgm:prSet/>
      <dgm:spPr/>
      <dgm:t>
        <a:bodyPr/>
        <a:lstStyle/>
        <a:p>
          <a:endParaRPr lang="en-US"/>
        </a:p>
      </dgm:t>
    </dgm:pt>
    <dgm:pt modelId="{97175A3B-48F0-4A3F-9088-3B61954D2DEF}" type="sibTrans" cxnId="{B9E74A42-FF2D-42A9-9097-2977D31AACE6}">
      <dgm:prSet/>
      <dgm:spPr/>
      <dgm:t>
        <a:bodyPr/>
        <a:lstStyle/>
        <a:p>
          <a:endParaRPr lang="en-US"/>
        </a:p>
      </dgm:t>
    </dgm:pt>
    <dgm:pt modelId="{DBD83BD9-8392-491A-AB87-F645798AF795}" type="pres">
      <dgm:prSet presAssocID="{5378C942-D00F-43D4-8C88-E57E3194ADA3}" presName="Name0" presStyleCnt="0">
        <dgm:presLayoutVars>
          <dgm:chMax val="7"/>
          <dgm:chPref val="7"/>
          <dgm:dir/>
        </dgm:presLayoutVars>
      </dgm:prSet>
      <dgm:spPr/>
    </dgm:pt>
    <dgm:pt modelId="{E600CDAF-FA3B-415B-A970-C758D34643CE}" type="pres">
      <dgm:prSet presAssocID="{5378C942-D00F-43D4-8C88-E57E3194ADA3}" presName="Name1" presStyleCnt="0"/>
      <dgm:spPr/>
    </dgm:pt>
    <dgm:pt modelId="{57C9292D-9CD7-40D9-8381-809CA6537BEC}" type="pres">
      <dgm:prSet presAssocID="{5378C942-D00F-43D4-8C88-E57E3194ADA3}" presName="cycle" presStyleCnt="0"/>
      <dgm:spPr/>
    </dgm:pt>
    <dgm:pt modelId="{B9801E9C-D15A-4F66-BE38-2C0AEFE358EF}" type="pres">
      <dgm:prSet presAssocID="{5378C942-D00F-43D4-8C88-E57E3194ADA3}" presName="srcNode" presStyleLbl="node1" presStyleIdx="0" presStyleCnt="3"/>
      <dgm:spPr/>
    </dgm:pt>
    <dgm:pt modelId="{9D5B742C-5E24-4A79-B76E-034F1C3C95C7}" type="pres">
      <dgm:prSet presAssocID="{5378C942-D00F-43D4-8C88-E57E3194ADA3}" presName="conn" presStyleLbl="parChTrans1D2" presStyleIdx="0" presStyleCnt="1"/>
      <dgm:spPr/>
    </dgm:pt>
    <dgm:pt modelId="{576672E3-EC22-4A12-816D-F013CAA16BE6}" type="pres">
      <dgm:prSet presAssocID="{5378C942-D00F-43D4-8C88-E57E3194ADA3}" presName="extraNode" presStyleLbl="node1" presStyleIdx="0" presStyleCnt="3"/>
      <dgm:spPr/>
    </dgm:pt>
    <dgm:pt modelId="{81FCB76C-8B8A-4DB6-B65C-CE52397DA24D}" type="pres">
      <dgm:prSet presAssocID="{5378C942-D00F-43D4-8C88-E57E3194ADA3}" presName="dstNode" presStyleLbl="node1" presStyleIdx="0" presStyleCnt="3"/>
      <dgm:spPr/>
    </dgm:pt>
    <dgm:pt modelId="{A67FAB15-F78C-4606-9590-12DDD35236F3}" type="pres">
      <dgm:prSet presAssocID="{67348C83-D61E-4059-A67F-1FF45BC073AD}" presName="text_1" presStyleLbl="node1" presStyleIdx="0" presStyleCnt="3" custLinFactNeighborX="-97" custLinFactNeighborY="-1056">
        <dgm:presLayoutVars>
          <dgm:bulletEnabled val="1"/>
        </dgm:presLayoutVars>
      </dgm:prSet>
      <dgm:spPr/>
    </dgm:pt>
    <dgm:pt modelId="{47D94C88-3045-41AA-A4B8-C6DABE7426D3}" type="pres">
      <dgm:prSet presAssocID="{67348C83-D61E-4059-A67F-1FF45BC073AD}" presName="accent_1" presStyleCnt="0"/>
      <dgm:spPr/>
    </dgm:pt>
    <dgm:pt modelId="{972658EB-AF78-41F0-8B4A-2B233A24E225}" type="pres">
      <dgm:prSet presAssocID="{67348C83-D61E-4059-A67F-1FF45BC073AD}" presName="accentRepeatNode" presStyleLbl="solidFgAcc1" presStyleIdx="0" presStyleCnt="3"/>
      <dgm:spPr/>
    </dgm:pt>
    <dgm:pt modelId="{A1BD471A-0BAA-4BCB-ABA8-C15213C14F6B}" type="pres">
      <dgm:prSet presAssocID="{8498290F-1F0F-42F6-A101-85A4054F94EB}" presName="text_2" presStyleLbl="node1" presStyleIdx="1" presStyleCnt="3">
        <dgm:presLayoutVars>
          <dgm:bulletEnabled val="1"/>
        </dgm:presLayoutVars>
      </dgm:prSet>
      <dgm:spPr/>
    </dgm:pt>
    <dgm:pt modelId="{FF6920A6-1DD8-4554-990A-C6C51E940E6D}" type="pres">
      <dgm:prSet presAssocID="{8498290F-1F0F-42F6-A101-85A4054F94EB}" presName="accent_2" presStyleCnt="0"/>
      <dgm:spPr/>
    </dgm:pt>
    <dgm:pt modelId="{33783576-4C33-45C4-A532-F52280F7689B}" type="pres">
      <dgm:prSet presAssocID="{8498290F-1F0F-42F6-A101-85A4054F94EB}" presName="accentRepeatNode" presStyleLbl="solidFgAcc1" presStyleIdx="1" presStyleCnt="3"/>
      <dgm:spPr/>
    </dgm:pt>
    <dgm:pt modelId="{7302959F-F935-4534-86F7-EC6F7B0FA5BA}" type="pres">
      <dgm:prSet presAssocID="{1EF6C1AA-C318-4F6D-8EF7-228F8847443B}" presName="text_3" presStyleLbl="node1" presStyleIdx="2" presStyleCnt="3">
        <dgm:presLayoutVars>
          <dgm:bulletEnabled val="1"/>
        </dgm:presLayoutVars>
      </dgm:prSet>
      <dgm:spPr/>
    </dgm:pt>
    <dgm:pt modelId="{3935020F-2316-4C56-8870-4A63939F8F96}" type="pres">
      <dgm:prSet presAssocID="{1EF6C1AA-C318-4F6D-8EF7-228F8847443B}" presName="accent_3" presStyleCnt="0"/>
      <dgm:spPr/>
    </dgm:pt>
    <dgm:pt modelId="{F7BA802F-7B7D-48A8-8F3B-7A78BDE69FA2}" type="pres">
      <dgm:prSet presAssocID="{1EF6C1AA-C318-4F6D-8EF7-228F8847443B}" presName="accentRepeatNode" presStyleLbl="solidFgAcc1" presStyleIdx="2" presStyleCnt="3"/>
      <dgm:spPr/>
    </dgm:pt>
  </dgm:ptLst>
  <dgm:cxnLst>
    <dgm:cxn modelId="{228F6B19-F40F-4E43-B6CD-096BCB079416}" type="presOf" srcId="{53DD984F-FBC5-42D2-B0C3-634302226F34}" destId="{9D5B742C-5E24-4A79-B76E-034F1C3C95C7}" srcOrd="0" destOrd="0" presId="urn:microsoft.com/office/officeart/2008/layout/VerticalCurvedList"/>
    <dgm:cxn modelId="{C054D422-59D8-4303-AC22-F70EFED453DA}" srcId="{5378C942-D00F-43D4-8C88-E57E3194ADA3}" destId="{8498290F-1F0F-42F6-A101-85A4054F94EB}" srcOrd="1" destOrd="0" parTransId="{FAE2E062-639C-4655-8068-3786C61BC312}" sibTransId="{EDE4390A-DCEA-44DF-8E23-AD21F8320FCC}"/>
    <dgm:cxn modelId="{87E3AB3F-41D9-47D5-B396-8003FBF40834}" srcId="{5378C942-D00F-43D4-8C88-E57E3194ADA3}" destId="{67348C83-D61E-4059-A67F-1FF45BC073AD}" srcOrd="0" destOrd="0" parTransId="{84A3AA7E-570E-41D7-AA36-149964591EFE}" sibTransId="{53DD984F-FBC5-42D2-B0C3-634302226F34}"/>
    <dgm:cxn modelId="{B9E74A42-FF2D-42A9-9097-2977D31AACE6}" srcId="{5378C942-D00F-43D4-8C88-E57E3194ADA3}" destId="{1EF6C1AA-C318-4F6D-8EF7-228F8847443B}" srcOrd="2" destOrd="0" parTransId="{0D92D419-27CF-47F6-AD8F-99D07EB6B3DB}" sibTransId="{97175A3B-48F0-4A3F-9088-3B61954D2DEF}"/>
    <dgm:cxn modelId="{2524007A-13BE-4002-91CD-FDE0A638C546}" type="presOf" srcId="{67348C83-D61E-4059-A67F-1FF45BC073AD}" destId="{A67FAB15-F78C-4606-9590-12DDD35236F3}" srcOrd="0" destOrd="0" presId="urn:microsoft.com/office/officeart/2008/layout/VerticalCurvedList"/>
    <dgm:cxn modelId="{5E6A5393-E761-4ECA-AFE1-45B126FCC336}" type="presOf" srcId="{1EF6C1AA-C318-4F6D-8EF7-228F8847443B}" destId="{7302959F-F935-4534-86F7-EC6F7B0FA5BA}" srcOrd="0" destOrd="0" presId="urn:microsoft.com/office/officeart/2008/layout/VerticalCurvedList"/>
    <dgm:cxn modelId="{4A81849B-533F-43E1-A0BA-BD45E1125FA7}" type="presOf" srcId="{5378C942-D00F-43D4-8C88-E57E3194ADA3}" destId="{DBD83BD9-8392-491A-AB87-F645798AF795}" srcOrd="0" destOrd="0" presId="urn:microsoft.com/office/officeart/2008/layout/VerticalCurvedList"/>
    <dgm:cxn modelId="{9925DACE-2841-432D-B85B-16089E0C20EC}" type="presOf" srcId="{8498290F-1F0F-42F6-A101-85A4054F94EB}" destId="{A1BD471A-0BAA-4BCB-ABA8-C15213C14F6B}" srcOrd="0" destOrd="0" presId="urn:microsoft.com/office/officeart/2008/layout/VerticalCurvedList"/>
    <dgm:cxn modelId="{D85FFFCF-371F-43FC-84E3-87FA4656293F}" type="presParOf" srcId="{DBD83BD9-8392-491A-AB87-F645798AF795}" destId="{E600CDAF-FA3B-415B-A970-C758D34643CE}" srcOrd="0" destOrd="0" presId="urn:microsoft.com/office/officeart/2008/layout/VerticalCurvedList"/>
    <dgm:cxn modelId="{91837D16-4A2B-4457-B320-3BCDF9868C06}" type="presParOf" srcId="{E600CDAF-FA3B-415B-A970-C758D34643CE}" destId="{57C9292D-9CD7-40D9-8381-809CA6537BEC}" srcOrd="0" destOrd="0" presId="urn:microsoft.com/office/officeart/2008/layout/VerticalCurvedList"/>
    <dgm:cxn modelId="{DF7A2DF8-C07B-4C1B-A457-358AABE834E0}" type="presParOf" srcId="{57C9292D-9CD7-40D9-8381-809CA6537BEC}" destId="{B9801E9C-D15A-4F66-BE38-2C0AEFE358EF}" srcOrd="0" destOrd="0" presId="urn:microsoft.com/office/officeart/2008/layout/VerticalCurvedList"/>
    <dgm:cxn modelId="{EC3220C2-4CF4-4FDA-930A-E68DAB358094}" type="presParOf" srcId="{57C9292D-9CD7-40D9-8381-809CA6537BEC}" destId="{9D5B742C-5E24-4A79-B76E-034F1C3C95C7}" srcOrd="1" destOrd="0" presId="urn:microsoft.com/office/officeart/2008/layout/VerticalCurvedList"/>
    <dgm:cxn modelId="{CD3ECC0C-32E0-4D0F-BEBA-3EEC86D4DDE1}" type="presParOf" srcId="{57C9292D-9CD7-40D9-8381-809CA6537BEC}" destId="{576672E3-EC22-4A12-816D-F013CAA16BE6}" srcOrd="2" destOrd="0" presId="urn:microsoft.com/office/officeart/2008/layout/VerticalCurvedList"/>
    <dgm:cxn modelId="{1F47A81A-13D7-4C8F-9E31-80262E5A01CB}" type="presParOf" srcId="{57C9292D-9CD7-40D9-8381-809CA6537BEC}" destId="{81FCB76C-8B8A-4DB6-B65C-CE52397DA24D}" srcOrd="3" destOrd="0" presId="urn:microsoft.com/office/officeart/2008/layout/VerticalCurvedList"/>
    <dgm:cxn modelId="{2D0A4B34-5D83-41D7-B822-91857E9431D6}" type="presParOf" srcId="{E600CDAF-FA3B-415B-A970-C758D34643CE}" destId="{A67FAB15-F78C-4606-9590-12DDD35236F3}" srcOrd="1" destOrd="0" presId="urn:microsoft.com/office/officeart/2008/layout/VerticalCurvedList"/>
    <dgm:cxn modelId="{8FDF5965-8859-4B3E-A207-29CA5A7BDCD0}" type="presParOf" srcId="{E600CDAF-FA3B-415B-A970-C758D34643CE}" destId="{47D94C88-3045-41AA-A4B8-C6DABE7426D3}" srcOrd="2" destOrd="0" presId="urn:microsoft.com/office/officeart/2008/layout/VerticalCurvedList"/>
    <dgm:cxn modelId="{C299E1C5-8FFA-43F1-883B-99AC48350848}" type="presParOf" srcId="{47D94C88-3045-41AA-A4B8-C6DABE7426D3}" destId="{972658EB-AF78-41F0-8B4A-2B233A24E225}" srcOrd="0" destOrd="0" presId="urn:microsoft.com/office/officeart/2008/layout/VerticalCurvedList"/>
    <dgm:cxn modelId="{E65C7D87-73E2-4F02-AC59-0C23FCF50784}" type="presParOf" srcId="{E600CDAF-FA3B-415B-A970-C758D34643CE}" destId="{A1BD471A-0BAA-4BCB-ABA8-C15213C14F6B}" srcOrd="3" destOrd="0" presId="urn:microsoft.com/office/officeart/2008/layout/VerticalCurvedList"/>
    <dgm:cxn modelId="{01F38E8E-5FF4-49B7-8A5A-6D9EDBEB3690}" type="presParOf" srcId="{E600CDAF-FA3B-415B-A970-C758D34643CE}" destId="{FF6920A6-1DD8-4554-990A-C6C51E940E6D}" srcOrd="4" destOrd="0" presId="urn:microsoft.com/office/officeart/2008/layout/VerticalCurvedList"/>
    <dgm:cxn modelId="{E38058CF-2D70-4716-9279-3091382E3504}" type="presParOf" srcId="{FF6920A6-1DD8-4554-990A-C6C51E940E6D}" destId="{33783576-4C33-45C4-A532-F52280F7689B}" srcOrd="0" destOrd="0" presId="urn:microsoft.com/office/officeart/2008/layout/VerticalCurvedList"/>
    <dgm:cxn modelId="{AFC60968-3360-48E3-B941-B0D208057241}" type="presParOf" srcId="{E600CDAF-FA3B-415B-A970-C758D34643CE}" destId="{7302959F-F935-4534-86F7-EC6F7B0FA5BA}" srcOrd="5" destOrd="0" presId="urn:microsoft.com/office/officeart/2008/layout/VerticalCurvedList"/>
    <dgm:cxn modelId="{2483BB8C-44C6-4DF0-ABC9-361C0C7E3BC5}" type="presParOf" srcId="{E600CDAF-FA3B-415B-A970-C758D34643CE}" destId="{3935020F-2316-4C56-8870-4A63939F8F96}" srcOrd="6" destOrd="0" presId="urn:microsoft.com/office/officeart/2008/layout/VerticalCurvedList"/>
    <dgm:cxn modelId="{CD25AA4B-7625-44CF-8D7A-C3DB15425CD6}" type="presParOf" srcId="{3935020F-2316-4C56-8870-4A63939F8F96}" destId="{F7BA802F-7B7D-48A8-8F3B-7A78BDE69FA2}"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0FDD713F-8232-4E95-97BC-E93AE1EB6769}" type="doc">
      <dgm:prSet loTypeId="urn:microsoft.com/office/officeart/2008/layout/HalfCircleOrganizationChart" loCatId="hierarchy" qsTypeId="urn:microsoft.com/office/officeart/2005/8/quickstyle/simple1" qsCatId="simple" csTypeId="urn:microsoft.com/office/officeart/2005/8/colors/accent1_2" csCatId="accent1" phldr="1"/>
      <dgm:spPr/>
      <dgm:t>
        <a:bodyPr/>
        <a:lstStyle/>
        <a:p>
          <a:endParaRPr lang="en-US"/>
        </a:p>
      </dgm:t>
    </dgm:pt>
    <dgm:pt modelId="{8A7CBD5A-C703-4341-B355-A4622989E262}">
      <dgm:prSet phldrT="[Text]" custT="1"/>
      <dgm:spPr/>
      <dgm:t>
        <a:bodyPr/>
        <a:lstStyle/>
        <a:p>
          <a:r>
            <a:rPr lang="en-US" sz="1200" dirty="0"/>
            <a:t>Smart Meter Data Analytics</a:t>
          </a:r>
        </a:p>
      </dgm:t>
    </dgm:pt>
    <dgm:pt modelId="{0500A176-735B-40CD-BBF8-E99742368EFB}" type="parTrans" cxnId="{B1B55140-BC99-4C47-A3CC-5EA5BA54F5D7}">
      <dgm:prSet/>
      <dgm:spPr/>
      <dgm:t>
        <a:bodyPr/>
        <a:lstStyle/>
        <a:p>
          <a:endParaRPr lang="en-US"/>
        </a:p>
      </dgm:t>
    </dgm:pt>
    <dgm:pt modelId="{4DB02E27-88BE-4B3A-8FE1-C0F8F93AC119}" type="sibTrans" cxnId="{B1B55140-BC99-4C47-A3CC-5EA5BA54F5D7}">
      <dgm:prSet/>
      <dgm:spPr/>
      <dgm:t>
        <a:bodyPr/>
        <a:lstStyle/>
        <a:p>
          <a:endParaRPr lang="en-US"/>
        </a:p>
      </dgm:t>
    </dgm:pt>
    <dgm:pt modelId="{C145273D-FBD3-4B62-9E81-0A3548CB593C}">
      <dgm:prSet phldrT="[Text]" custT="1"/>
      <dgm:spPr/>
      <dgm:t>
        <a:bodyPr/>
        <a:lstStyle/>
        <a:p>
          <a:r>
            <a:rPr lang="en-US" sz="1200" dirty="0"/>
            <a:t>A. Load Analytics</a:t>
          </a:r>
        </a:p>
      </dgm:t>
    </dgm:pt>
    <dgm:pt modelId="{70DB4814-AE0F-4BC8-A98E-4C6091684820}" type="parTrans" cxnId="{66111C66-0455-491D-B79B-BDF23F2BDCB9}">
      <dgm:prSet/>
      <dgm:spPr/>
      <dgm:t>
        <a:bodyPr/>
        <a:lstStyle/>
        <a:p>
          <a:endParaRPr lang="en-US"/>
        </a:p>
      </dgm:t>
    </dgm:pt>
    <dgm:pt modelId="{0F5ECC31-74CF-430A-AE6F-8A733D6AA481}" type="sibTrans" cxnId="{66111C66-0455-491D-B79B-BDF23F2BDCB9}">
      <dgm:prSet/>
      <dgm:spPr/>
      <dgm:t>
        <a:bodyPr/>
        <a:lstStyle/>
        <a:p>
          <a:endParaRPr lang="en-US"/>
        </a:p>
      </dgm:t>
    </dgm:pt>
    <dgm:pt modelId="{B6EA2005-DC82-4BB9-BB9D-43342ED310B6}">
      <dgm:prSet phldrT="[Text]" custT="1"/>
      <dgm:spPr/>
      <dgm:t>
        <a:bodyPr/>
        <a:lstStyle/>
        <a:p>
          <a:r>
            <a:rPr lang="en-US" sz="1200" dirty="0"/>
            <a:t>B. Load Forecasting</a:t>
          </a:r>
        </a:p>
      </dgm:t>
    </dgm:pt>
    <dgm:pt modelId="{72F020C5-C9FC-40A1-8FDB-7F2EDA578EB2}" type="parTrans" cxnId="{8A7A3F5F-09E5-4F9A-8014-81AB857E1B6C}">
      <dgm:prSet/>
      <dgm:spPr/>
      <dgm:t>
        <a:bodyPr/>
        <a:lstStyle/>
        <a:p>
          <a:endParaRPr lang="en-US"/>
        </a:p>
      </dgm:t>
    </dgm:pt>
    <dgm:pt modelId="{DA34388B-3B43-4D2B-AEAF-66E91D0720A1}" type="sibTrans" cxnId="{8A7A3F5F-09E5-4F9A-8014-81AB857E1B6C}">
      <dgm:prSet/>
      <dgm:spPr/>
      <dgm:t>
        <a:bodyPr/>
        <a:lstStyle/>
        <a:p>
          <a:endParaRPr lang="en-US"/>
        </a:p>
      </dgm:t>
    </dgm:pt>
    <dgm:pt modelId="{3DD1812C-C297-44AA-834C-B68B28FE1600}">
      <dgm:prSet phldrT="[Text]" custT="1"/>
      <dgm:spPr/>
      <dgm:t>
        <a:bodyPr/>
        <a:lstStyle/>
        <a:p>
          <a:r>
            <a:rPr lang="en-US" sz="1200" dirty="0"/>
            <a:t>C. Load Management</a:t>
          </a:r>
        </a:p>
      </dgm:t>
    </dgm:pt>
    <dgm:pt modelId="{A8EDF45D-80AB-472B-B435-B42FBE23BF06}" type="parTrans" cxnId="{DE8E13DF-0C11-4B55-8E17-2FC5A12C6F38}">
      <dgm:prSet/>
      <dgm:spPr/>
      <dgm:t>
        <a:bodyPr/>
        <a:lstStyle/>
        <a:p>
          <a:endParaRPr lang="en-US"/>
        </a:p>
      </dgm:t>
    </dgm:pt>
    <dgm:pt modelId="{51ED6977-A50B-4F04-B7F5-E840188F453D}" type="sibTrans" cxnId="{DE8E13DF-0C11-4B55-8E17-2FC5A12C6F38}">
      <dgm:prSet/>
      <dgm:spPr/>
      <dgm:t>
        <a:bodyPr/>
        <a:lstStyle/>
        <a:p>
          <a:endParaRPr lang="en-US"/>
        </a:p>
      </dgm:t>
    </dgm:pt>
    <dgm:pt modelId="{1736A698-77CA-4478-A34F-DD5C1B7FA4C9}" type="pres">
      <dgm:prSet presAssocID="{0FDD713F-8232-4E95-97BC-E93AE1EB6769}" presName="Name0" presStyleCnt="0">
        <dgm:presLayoutVars>
          <dgm:orgChart val="1"/>
          <dgm:chPref val="1"/>
          <dgm:dir/>
          <dgm:animOne val="branch"/>
          <dgm:animLvl val="lvl"/>
          <dgm:resizeHandles/>
        </dgm:presLayoutVars>
      </dgm:prSet>
      <dgm:spPr/>
    </dgm:pt>
    <dgm:pt modelId="{EC940000-CCE0-4641-BBB0-451516344BB9}" type="pres">
      <dgm:prSet presAssocID="{8A7CBD5A-C703-4341-B355-A4622989E262}" presName="hierRoot1" presStyleCnt="0">
        <dgm:presLayoutVars>
          <dgm:hierBranch val="init"/>
        </dgm:presLayoutVars>
      </dgm:prSet>
      <dgm:spPr/>
    </dgm:pt>
    <dgm:pt modelId="{8150AC52-ADAD-4E27-AEA9-0F0799B29EF2}" type="pres">
      <dgm:prSet presAssocID="{8A7CBD5A-C703-4341-B355-A4622989E262}" presName="rootComposite1" presStyleCnt="0"/>
      <dgm:spPr/>
    </dgm:pt>
    <dgm:pt modelId="{8B88C013-88DE-4D61-8EB3-0232D92BA313}" type="pres">
      <dgm:prSet presAssocID="{8A7CBD5A-C703-4341-B355-A4622989E262}" presName="rootText1" presStyleLbl="alignAcc1" presStyleIdx="0" presStyleCnt="0">
        <dgm:presLayoutVars>
          <dgm:chPref val="3"/>
        </dgm:presLayoutVars>
      </dgm:prSet>
      <dgm:spPr/>
    </dgm:pt>
    <dgm:pt modelId="{57166657-9B03-4233-B10C-12DBB27366FC}" type="pres">
      <dgm:prSet presAssocID="{8A7CBD5A-C703-4341-B355-A4622989E262}" presName="topArc1" presStyleLbl="parChTrans1D1" presStyleIdx="0" presStyleCnt="8"/>
      <dgm:spPr/>
    </dgm:pt>
    <dgm:pt modelId="{331E0E7D-91A0-40BA-8919-06C557A6597B}" type="pres">
      <dgm:prSet presAssocID="{8A7CBD5A-C703-4341-B355-A4622989E262}" presName="bottomArc1" presStyleLbl="parChTrans1D1" presStyleIdx="1" presStyleCnt="8"/>
      <dgm:spPr/>
    </dgm:pt>
    <dgm:pt modelId="{2553F571-F0D2-46F4-8B0F-371695F75B25}" type="pres">
      <dgm:prSet presAssocID="{8A7CBD5A-C703-4341-B355-A4622989E262}" presName="topConnNode1" presStyleLbl="node1" presStyleIdx="0" presStyleCnt="0"/>
      <dgm:spPr/>
    </dgm:pt>
    <dgm:pt modelId="{C65CA705-7E2F-43ED-803B-45F1D9E19FF0}" type="pres">
      <dgm:prSet presAssocID="{8A7CBD5A-C703-4341-B355-A4622989E262}" presName="hierChild2" presStyleCnt="0"/>
      <dgm:spPr/>
    </dgm:pt>
    <dgm:pt modelId="{67F74CED-EE8B-444B-B745-42FFA4F751FE}" type="pres">
      <dgm:prSet presAssocID="{70DB4814-AE0F-4BC8-A98E-4C6091684820}" presName="Name28" presStyleLbl="parChTrans1D2" presStyleIdx="0" presStyleCnt="3"/>
      <dgm:spPr/>
    </dgm:pt>
    <dgm:pt modelId="{242259BD-CB25-4A4D-8857-59EAF704F81B}" type="pres">
      <dgm:prSet presAssocID="{C145273D-FBD3-4B62-9E81-0A3548CB593C}" presName="hierRoot2" presStyleCnt="0">
        <dgm:presLayoutVars>
          <dgm:hierBranch val="init"/>
        </dgm:presLayoutVars>
      </dgm:prSet>
      <dgm:spPr/>
    </dgm:pt>
    <dgm:pt modelId="{FB4D11EE-5997-47E2-9F15-670C6D97BB12}" type="pres">
      <dgm:prSet presAssocID="{C145273D-FBD3-4B62-9E81-0A3548CB593C}" presName="rootComposite2" presStyleCnt="0"/>
      <dgm:spPr/>
    </dgm:pt>
    <dgm:pt modelId="{5E864825-48D4-4498-A640-6ED266BC8D16}" type="pres">
      <dgm:prSet presAssocID="{C145273D-FBD3-4B62-9E81-0A3548CB593C}" presName="rootText2" presStyleLbl="alignAcc1" presStyleIdx="0" presStyleCnt="0">
        <dgm:presLayoutVars>
          <dgm:chPref val="3"/>
        </dgm:presLayoutVars>
      </dgm:prSet>
      <dgm:spPr/>
    </dgm:pt>
    <dgm:pt modelId="{00696834-D8BD-47E4-BD68-6E081CACBD79}" type="pres">
      <dgm:prSet presAssocID="{C145273D-FBD3-4B62-9E81-0A3548CB593C}" presName="topArc2" presStyleLbl="parChTrans1D1" presStyleIdx="2" presStyleCnt="8"/>
      <dgm:spPr/>
    </dgm:pt>
    <dgm:pt modelId="{D682A211-AB41-4ACC-98EB-B4E027B94F54}" type="pres">
      <dgm:prSet presAssocID="{C145273D-FBD3-4B62-9E81-0A3548CB593C}" presName="bottomArc2" presStyleLbl="parChTrans1D1" presStyleIdx="3" presStyleCnt="8"/>
      <dgm:spPr/>
    </dgm:pt>
    <dgm:pt modelId="{820B4AAD-4FCC-4303-B3D7-EAB5940D4ECC}" type="pres">
      <dgm:prSet presAssocID="{C145273D-FBD3-4B62-9E81-0A3548CB593C}" presName="topConnNode2" presStyleLbl="node2" presStyleIdx="0" presStyleCnt="0"/>
      <dgm:spPr/>
    </dgm:pt>
    <dgm:pt modelId="{B412DE82-FD9C-42BC-BC08-64A35F5F2307}" type="pres">
      <dgm:prSet presAssocID="{C145273D-FBD3-4B62-9E81-0A3548CB593C}" presName="hierChild4" presStyleCnt="0"/>
      <dgm:spPr/>
    </dgm:pt>
    <dgm:pt modelId="{786052E7-009C-4176-9AD7-B874A451DF7D}" type="pres">
      <dgm:prSet presAssocID="{C145273D-FBD3-4B62-9E81-0A3548CB593C}" presName="hierChild5" presStyleCnt="0"/>
      <dgm:spPr/>
    </dgm:pt>
    <dgm:pt modelId="{6AB8F81B-4564-4A1D-A5C4-01E3F55D9463}" type="pres">
      <dgm:prSet presAssocID="{72F020C5-C9FC-40A1-8FDB-7F2EDA578EB2}" presName="Name28" presStyleLbl="parChTrans1D2" presStyleIdx="1" presStyleCnt="3"/>
      <dgm:spPr/>
    </dgm:pt>
    <dgm:pt modelId="{D2B9D959-406D-4463-AC01-62BD0CBC9003}" type="pres">
      <dgm:prSet presAssocID="{B6EA2005-DC82-4BB9-BB9D-43342ED310B6}" presName="hierRoot2" presStyleCnt="0">
        <dgm:presLayoutVars>
          <dgm:hierBranch val="init"/>
        </dgm:presLayoutVars>
      </dgm:prSet>
      <dgm:spPr/>
    </dgm:pt>
    <dgm:pt modelId="{EAF41EDB-BAC6-4D17-A06D-709F2C5C63D9}" type="pres">
      <dgm:prSet presAssocID="{B6EA2005-DC82-4BB9-BB9D-43342ED310B6}" presName="rootComposite2" presStyleCnt="0"/>
      <dgm:spPr/>
    </dgm:pt>
    <dgm:pt modelId="{BB562336-79E8-4FCC-8327-095C1561E490}" type="pres">
      <dgm:prSet presAssocID="{B6EA2005-DC82-4BB9-BB9D-43342ED310B6}" presName="rootText2" presStyleLbl="alignAcc1" presStyleIdx="0" presStyleCnt="0">
        <dgm:presLayoutVars>
          <dgm:chPref val="3"/>
        </dgm:presLayoutVars>
      </dgm:prSet>
      <dgm:spPr/>
    </dgm:pt>
    <dgm:pt modelId="{CF718EE6-4516-418E-AA04-46F6C11735A4}" type="pres">
      <dgm:prSet presAssocID="{B6EA2005-DC82-4BB9-BB9D-43342ED310B6}" presName="topArc2" presStyleLbl="parChTrans1D1" presStyleIdx="4" presStyleCnt="8"/>
      <dgm:spPr/>
    </dgm:pt>
    <dgm:pt modelId="{C0CDCA57-3F34-456C-9F72-70465CEDF476}" type="pres">
      <dgm:prSet presAssocID="{B6EA2005-DC82-4BB9-BB9D-43342ED310B6}" presName="bottomArc2" presStyleLbl="parChTrans1D1" presStyleIdx="5" presStyleCnt="8"/>
      <dgm:spPr/>
    </dgm:pt>
    <dgm:pt modelId="{76BE6E71-7365-429E-8CCD-861DDFF268AF}" type="pres">
      <dgm:prSet presAssocID="{B6EA2005-DC82-4BB9-BB9D-43342ED310B6}" presName="topConnNode2" presStyleLbl="node2" presStyleIdx="0" presStyleCnt="0"/>
      <dgm:spPr/>
    </dgm:pt>
    <dgm:pt modelId="{F1238AAA-B060-404A-AF7F-1222FAA77455}" type="pres">
      <dgm:prSet presAssocID="{B6EA2005-DC82-4BB9-BB9D-43342ED310B6}" presName="hierChild4" presStyleCnt="0"/>
      <dgm:spPr/>
    </dgm:pt>
    <dgm:pt modelId="{2DC62CF5-B49E-4840-AF2F-DFAECDD6BE4F}" type="pres">
      <dgm:prSet presAssocID="{B6EA2005-DC82-4BB9-BB9D-43342ED310B6}" presName="hierChild5" presStyleCnt="0"/>
      <dgm:spPr/>
    </dgm:pt>
    <dgm:pt modelId="{58AB3D97-AF0D-4C05-9E2A-0F004C58CCF3}" type="pres">
      <dgm:prSet presAssocID="{A8EDF45D-80AB-472B-B435-B42FBE23BF06}" presName="Name28" presStyleLbl="parChTrans1D2" presStyleIdx="2" presStyleCnt="3"/>
      <dgm:spPr/>
    </dgm:pt>
    <dgm:pt modelId="{F2DC65CD-239C-4785-B0DB-1D4C53CD6B6A}" type="pres">
      <dgm:prSet presAssocID="{3DD1812C-C297-44AA-834C-B68B28FE1600}" presName="hierRoot2" presStyleCnt="0">
        <dgm:presLayoutVars>
          <dgm:hierBranch val="init"/>
        </dgm:presLayoutVars>
      </dgm:prSet>
      <dgm:spPr/>
    </dgm:pt>
    <dgm:pt modelId="{BED8A232-2968-4757-B568-192FD4F5AE19}" type="pres">
      <dgm:prSet presAssocID="{3DD1812C-C297-44AA-834C-B68B28FE1600}" presName="rootComposite2" presStyleCnt="0"/>
      <dgm:spPr/>
    </dgm:pt>
    <dgm:pt modelId="{15C27ABE-F8A4-4620-A914-8A47855CB029}" type="pres">
      <dgm:prSet presAssocID="{3DD1812C-C297-44AA-834C-B68B28FE1600}" presName="rootText2" presStyleLbl="alignAcc1" presStyleIdx="0" presStyleCnt="0" custLinFactNeighborX="133" custLinFactNeighborY="1291">
        <dgm:presLayoutVars>
          <dgm:chPref val="3"/>
        </dgm:presLayoutVars>
      </dgm:prSet>
      <dgm:spPr/>
    </dgm:pt>
    <dgm:pt modelId="{A5763F9D-F364-4AF5-972E-419853B382EE}" type="pres">
      <dgm:prSet presAssocID="{3DD1812C-C297-44AA-834C-B68B28FE1600}" presName="topArc2" presStyleLbl="parChTrans1D1" presStyleIdx="6" presStyleCnt="8"/>
      <dgm:spPr/>
    </dgm:pt>
    <dgm:pt modelId="{6366E23D-1035-4CB4-B8FE-5DDE35E6A853}" type="pres">
      <dgm:prSet presAssocID="{3DD1812C-C297-44AA-834C-B68B28FE1600}" presName="bottomArc2" presStyleLbl="parChTrans1D1" presStyleIdx="7" presStyleCnt="8"/>
      <dgm:spPr/>
    </dgm:pt>
    <dgm:pt modelId="{6B0D0A12-3930-4C94-ACA9-B25503041C5F}" type="pres">
      <dgm:prSet presAssocID="{3DD1812C-C297-44AA-834C-B68B28FE1600}" presName="topConnNode2" presStyleLbl="node2" presStyleIdx="0" presStyleCnt="0"/>
      <dgm:spPr/>
    </dgm:pt>
    <dgm:pt modelId="{6227D2BF-6333-4A7F-BCB4-AD376C276509}" type="pres">
      <dgm:prSet presAssocID="{3DD1812C-C297-44AA-834C-B68B28FE1600}" presName="hierChild4" presStyleCnt="0"/>
      <dgm:spPr/>
    </dgm:pt>
    <dgm:pt modelId="{51B3AF4E-D74D-42BB-82C3-732528387F23}" type="pres">
      <dgm:prSet presAssocID="{3DD1812C-C297-44AA-834C-B68B28FE1600}" presName="hierChild5" presStyleCnt="0"/>
      <dgm:spPr/>
    </dgm:pt>
    <dgm:pt modelId="{4D0095DD-6383-4D88-8CC2-1BDCC48CC441}" type="pres">
      <dgm:prSet presAssocID="{8A7CBD5A-C703-4341-B355-A4622989E262}" presName="hierChild3" presStyleCnt="0"/>
      <dgm:spPr/>
    </dgm:pt>
  </dgm:ptLst>
  <dgm:cxnLst>
    <dgm:cxn modelId="{C5D2B71C-08FE-4988-92DB-D9B8A770F881}" type="presOf" srcId="{3DD1812C-C297-44AA-834C-B68B28FE1600}" destId="{6B0D0A12-3930-4C94-ACA9-B25503041C5F}" srcOrd="1" destOrd="0" presId="urn:microsoft.com/office/officeart/2008/layout/HalfCircleOrganizationChart"/>
    <dgm:cxn modelId="{91BA0D21-AB12-4114-8E26-E5593ADB4FD7}" type="presOf" srcId="{72F020C5-C9FC-40A1-8FDB-7F2EDA578EB2}" destId="{6AB8F81B-4564-4A1D-A5C4-01E3F55D9463}" srcOrd="0" destOrd="0" presId="urn:microsoft.com/office/officeart/2008/layout/HalfCircleOrganizationChart"/>
    <dgm:cxn modelId="{B1B55140-BC99-4C47-A3CC-5EA5BA54F5D7}" srcId="{0FDD713F-8232-4E95-97BC-E93AE1EB6769}" destId="{8A7CBD5A-C703-4341-B355-A4622989E262}" srcOrd="0" destOrd="0" parTransId="{0500A176-735B-40CD-BBF8-E99742368EFB}" sibTransId="{4DB02E27-88BE-4B3A-8FE1-C0F8F93AC119}"/>
    <dgm:cxn modelId="{8A7A3F5F-09E5-4F9A-8014-81AB857E1B6C}" srcId="{8A7CBD5A-C703-4341-B355-A4622989E262}" destId="{B6EA2005-DC82-4BB9-BB9D-43342ED310B6}" srcOrd="1" destOrd="0" parTransId="{72F020C5-C9FC-40A1-8FDB-7F2EDA578EB2}" sibTransId="{DA34388B-3B43-4D2B-AEAF-66E91D0720A1}"/>
    <dgm:cxn modelId="{911D7D63-21C0-4703-980F-4D4CF55BBF00}" type="presOf" srcId="{8A7CBD5A-C703-4341-B355-A4622989E262}" destId="{8B88C013-88DE-4D61-8EB3-0232D92BA313}" srcOrd="0" destOrd="0" presId="urn:microsoft.com/office/officeart/2008/layout/HalfCircleOrganizationChart"/>
    <dgm:cxn modelId="{66111C66-0455-491D-B79B-BDF23F2BDCB9}" srcId="{8A7CBD5A-C703-4341-B355-A4622989E262}" destId="{C145273D-FBD3-4B62-9E81-0A3548CB593C}" srcOrd="0" destOrd="0" parTransId="{70DB4814-AE0F-4BC8-A98E-4C6091684820}" sibTransId="{0F5ECC31-74CF-430A-AE6F-8A733D6AA481}"/>
    <dgm:cxn modelId="{7A843B6C-A904-4E29-8220-5446756E394F}" type="presOf" srcId="{A8EDF45D-80AB-472B-B435-B42FBE23BF06}" destId="{58AB3D97-AF0D-4C05-9E2A-0F004C58CCF3}" srcOrd="0" destOrd="0" presId="urn:microsoft.com/office/officeart/2008/layout/HalfCircleOrganizationChart"/>
    <dgm:cxn modelId="{3F915F53-C48D-4C68-AB74-D2113A2C8592}" type="presOf" srcId="{C145273D-FBD3-4B62-9E81-0A3548CB593C}" destId="{820B4AAD-4FCC-4303-B3D7-EAB5940D4ECC}" srcOrd="1" destOrd="0" presId="urn:microsoft.com/office/officeart/2008/layout/HalfCircleOrganizationChart"/>
    <dgm:cxn modelId="{B2CCA75A-BEDC-43B5-84E2-CC22CB90E75B}" type="presOf" srcId="{C145273D-FBD3-4B62-9E81-0A3548CB593C}" destId="{5E864825-48D4-4498-A640-6ED266BC8D16}" srcOrd="0" destOrd="0" presId="urn:microsoft.com/office/officeart/2008/layout/HalfCircleOrganizationChart"/>
    <dgm:cxn modelId="{BD75C77B-6E62-4FFD-8C60-C46576F4696D}" type="presOf" srcId="{B6EA2005-DC82-4BB9-BB9D-43342ED310B6}" destId="{76BE6E71-7365-429E-8CCD-861DDFF268AF}" srcOrd="1" destOrd="0" presId="urn:microsoft.com/office/officeart/2008/layout/HalfCircleOrganizationChart"/>
    <dgm:cxn modelId="{2A67CD7D-B37B-49B4-8D47-A768AD16791C}" type="presOf" srcId="{8A7CBD5A-C703-4341-B355-A4622989E262}" destId="{2553F571-F0D2-46F4-8B0F-371695F75B25}" srcOrd="1" destOrd="0" presId="urn:microsoft.com/office/officeart/2008/layout/HalfCircleOrganizationChart"/>
    <dgm:cxn modelId="{655B5BC2-8A93-47CA-AC4E-CC0903FDEF1A}" type="presOf" srcId="{B6EA2005-DC82-4BB9-BB9D-43342ED310B6}" destId="{BB562336-79E8-4FCC-8327-095C1561E490}" srcOrd="0" destOrd="0" presId="urn:microsoft.com/office/officeart/2008/layout/HalfCircleOrganizationChart"/>
    <dgm:cxn modelId="{BCBC6FD2-AF18-4FBA-95AA-8C49733CAD6F}" type="presOf" srcId="{3DD1812C-C297-44AA-834C-B68B28FE1600}" destId="{15C27ABE-F8A4-4620-A914-8A47855CB029}" srcOrd="0" destOrd="0" presId="urn:microsoft.com/office/officeart/2008/layout/HalfCircleOrganizationChart"/>
    <dgm:cxn modelId="{DE8E13DF-0C11-4B55-8E17-2FC5A12C6F38}" srcId="{8A7CBD5A-C703-4341-B355-A4622989E262}" destId="{3DD1812C-C297-44AA-834C-B68B28FE1600}" srcOrd="2" destOrd="0" parTransId="{A8EDF45D-80AB-472B-B435-B42FBE23BF06}" sibTransId="{51ED6977-A50B-4F04-B7F5-E840188F453D}"/>
    <dgm:cxn modelId="{0BE5D5F3-F6B8-41B3-BBE3-3CDA28280C15}" type="presOf" srcId="{0FDD713F-8232-4E95-97BC-E93AE1EB6769}" destId="{1736A698-77CA-4478-A34F-DD5C1B7FA4C9}" srcOrd="0" destOrd="0" presId="urn:microsoft.com/office/officeart/2008/layout/HalfCircleOrganizationChart"/>
    <dgm:cxn modelId="{460EEDF8-462C-4679-BCAC-4B55C7BC2B42}" type="presOf" srcId="{70DB4814-AE0F-4BC8-A98E-4C6091684820}" destId="{67F74CED-EE8B-444B-B745-42FFA4F751FE}" srcOrd="0" destOrd="0" presId="urn:microsoft.com/office/officeart/2008/layout/HalfCircleOrganizationChart"/>
    <dgm:cxn modelId="{4C3343F7-B75A-49D3-876A-0E6010F9C9AC}" type="presParOf" srcId="{1736A698-77CA-4478-A34F-DD5C1B7FA4C9}" destId="{EC940000-CCE0-4641-BBB0-451516344BB9}" srcOrd="0" destOrd="0" presId="urn:microsoft.com/office/officeart/2008/layout/HalfCircleOrganizationChart"/>
    <dgm:cxn modelId="{58E03D7C-87C1-4A1A-817E-3222DB428A3B}" type="presParOf" srcId="{EC940000-CCE0-4641-BBB0-451516344BB9}" destId="{8150AC52-ADAD-4E27-AEA9-0F0799B29EF2}" srcOrd="0" destOrd="0" presId="urn:microsoft.com/office/officeart/2008/layout/HalfCircleOrganizationChart"/>
    <dgm:cxn modelId="{DF2AD0F1-1364-4FAF-91E2-21FD30F54792}" type="presParOf" srcId="{8150AC52-ADAD-4E27-AEA9-0F0799B29EF2}" destId="{8B88C013-88DE-4D61-8EB3-0232D92BA313}" srcOrd="0" destOrd="0" presId="urn:microsoft.com/office/officeart/2008/layout/HalfCircleOrganizationChart"/>
    <dgm:cxn modelId="{BA276B57-9BD0-4796-A94F-84DD02FDF442}" type="presParOf" srcId="{8150AC52-ADAD-4E27-AEA9-0F0799B29EF2}" destId="{57166657-9B03-4233-B10C-12DBB27366FC}" srcOrd="1" destOrd="0" presId="urn:microsoft.com/office/officeart/2008/layout/HalfCircleOrganizationChart"/>
    <dgm:cxn modelId="{66B7466C-5B52-4393-B7C3-C2216C454CAF}" type="presParOf" srcId="{8150AC52-ADAD-4E27-AEA9-0F0799B29EF2}" destId="{331E0E7D-91A0-40BA-8919-06C557A6597B}" srcOrd="2" destOrd="0" presId="urn:microsoft.com/office/officeart/2008/layout/HalfCircleOrganizationChart"/>
    <dgm:cxn modelId="{17BF4791-4174-41A5-A7B2-A3E269917876}" type="presParOf" srcId="{8150AC52-ADAD-4E27-AEA9-0F0799B29EF2}" destId="{2553F571-F0D2-46F4-8B0F-371695F75B25}" srcOrd="3" destOrd="0" presId="urn:microsoft.com/office/officeart/2008/layout/HalfCircleOrganizationChart"/>
    <dgm:cxn modelId="{54613536-2AC1-4838-B994-FC162AD0FA18}" type="presParOf" srcId="{EC940000-CCE0-4641-BBB0-451516344BB9}" destId="{C65CA705-7E2F-43ED-803B-45F1D9E19FF0}" srcOrd="1" destOrd="0" presId="urn:microsoft.com/office/officeart/2008/layout/HalfCircleOrganizationChart"/>
    <dgm:cxn modelId="{B8169567-189E-484D-965E-CD7C220A6BB0}" type="presParOf" srcId="{C65CA705-7E2F-43ED-803B-45F1D9E19FF0}" destId="{67F74CED-EE8B-444B-B745-42FFA4F751FE}" srcOrd="0" destOrd="0" presId="urn:microsoft.com/office/officeart/2008/layout/HalfCircleOrganizationChart"/>
    <dgm:cxn modelId="{C1852B53-EB50-4B44-905D-669D4AC8A02D}" type="presParOf" srcId="{C65CA705-7E2F-43ED-803B-45F1D9E19FF0}" destId="{242259BD-CB25-4A4D-8857-59EAF704F81B}" srcOrd="1" destOrd="0" presId="urn:microsoft.com/office/officeart/2008/layout/HalfCircleOrganizationChart"/>
    <dgm:cxn modelId="{4BD2581B-588D-45CF-A74E-B698A57CB943}" type="presParOf" srcId="{242259BD-CB25-4A4D-8857-59EAF704F81B}" destId="{FB4D11EE-5997-47E2-9F15-670C6D97BB12}" srcOrd="0" destOrd="0" presId="urn:microsoft.com/office/officeart/2008/layout/HalfCircleOrganizationChart"/>
    <dgm:cxn modelId="{2B1EFB9F-F381-47D7-8A08-1E3BB06B5EC3}" type="presParOf" srcId="{FB4D11EE-5997-47E2-9F15-670C6D97BB12}" destId="{5E864825-48D4-4498-A640-6ED266BC8D16}" srcOrd="0" destOrd="0" presId="urn:microsoft.com/office/officeart/2008/layout/HalfCircleOrganizationChart"/>
    <dgm:cxn modelId="{4CBF4B4E-5D00-46AB-94C7-E47F44B6A03F}" type="presParOf" srcId="{FB4D11EE-5997-47E2-9F15-670C6D97BB12}" destId="{00696834-D8BD-47E4-BD68-6E081CACBD79}" srcOrd="1" destOrd="0" presId="urn:microsoft.com/office/officeart/2008/layout/HalfCircleOrganizationChart"/>
    <dgm:cxn modelId="{85321F3F-D71C-413C-9C76-B3D0BBDD47AB}" type="presParOf" srcId="{FB4D11EE-5997-47E2-9F15-670C6D97BB12}" destId="{D682A211-AB41-4ACC-98EB-B4E027B94F54}" srcOrd="2" destOrd="0" presId="urn:microsoft.com/office/officeart/2008/layout/HalfCircleOrganizationChart"/>
    <dgm:cxn modelId="{A6D7424A-797C-4BE8-A1D9-037E70441211}" type="presParOf" srcId="{FB4D11EE-5997-47E2-9F15-670C6D97BB12}" destId="{820B4AAD-4FCC-4303-B3D7-EAB5940D4ECC}" srcOrd="3" destOrd="0" presId="urn:microsoft.com/office/officeart/2008/layout/HalfCircleOrganizationChart"/>
    <dgm:cxn modelId="{F2906448-C609-4BB4-8492-8C3225119F4F}" type="presParOf" srcId="{242259BD-CB25-4A4D-8857-59EAF704F81B}" destId="{B412DE82-FD9C-42BC-BC08-64A35F5F2307}" srcOrd="1" destOrd="0" presId="urn:microsoft.com/office/officeart/2008/layout/HalfCircleOrganizationChart"/>
    <dgm:cxn modelId="{7E15EDE8-6AB6-4A6B-B1FE-E3E310708D10}" type="presParOf" srcId="{242259BD-CB25-4A4D-8857-59EAF704F81B}" destId="{786052E7-009C-4176-9AD7-B874A451DF7D}" srcOrd="2" destOrd="0" presId="urn:microsoft.com/office/officeart/2008/layout/HalfCircleOrganizationChart"/>
    <dgm:cxn modelId="{F85FA08E-E29C-4BDD-A766-F003528946E5}" type="presParOf" srcId="{C65CA705-7E2F-43ED-803B-45F1D9E19FF0}" destId="{6AB8F81B-4564-4A1D-A5C4-01E3F55D9463}" srcOrd="2" destOrd="0" presId="urn:microsoft.com/office/officeart/2008/layout/HalfCircleOrganizationChart"/>
    <dgm:cxn modelId="{1614BA70-07A2-4F3D-8471-59D472615A45}" type="presParOf" srcId="{C65CA705-7E2F-43ED-803B-45F1D9E19FF0}" destId="{D2B9D959-406D-4463-AC01-62BD0CBC9003}" srcOrd="3" destOrd="0" presId="urn:microsoft.com/office/officeart/2008/layout/HalfCircleOrganizationChart"/>
    <dgm:cxn modelId="{81E33F7C-E469-45CB-8273-1DD4EF32C16F}" type="presParOf" srcId="{D2B9D959-406D-4463-AC01-62BD0CBC9003}" destId="{EAF41EDB-BAC6-4D17-A06D-709F2C5C63D9}" srcOrd="0" destOrd="0" presId="urn:microsoft.com/office/officeart/2008/layout/HalfCircleOrganizationChart"/>
    <dgm:cxn modelId="{DF6F180A-D0F6-41AA-86F4-676991CA629B}" type="presParOf" srcId="{EAF41EDB-BAC6-4D17-A06D-709F2C5C63D9}" destId="{BB562336-79E8-4FCC-8327-095C1561E490}" srcOrd="0" destOrd="0" presId="urn:microsoft.com/office/officeart/2008/layout/HalfCircleOrganizationChart"/>
    <dgm:cxn modelId="{5C266FCC-D763-4DF2-86CD-A66C3F01AA96}" type="presParOf" srcId="{EAF41EDB-BAC6-4D17-A06D-709F2C5C63D9}" destId="{CF718EE6-4516-418E-AA04-46F6C11735A4}" srcOrd="1" destOrd="0" presId="urn:microsoft.com/office/officeart/2008/layout/HalfCircleOrganizationChart"/>
    <dgm:cxn modelId="{4F2036AF-3B71-442D-8DDB-B2437303BFB9}" type="presParOf" srcId="{EAF41EDB-BAC6-4D17-A06D-709F2C5C63D9}" destId="{C0CDCA57-3F34-456C-9F72-70465CEDF476}" srcOrd="2" destOrd="0" presId="urn:microsoft.com/office/officeart/2008/layout/HalfCircleOrganizationChart"/>
    <dgm:cxn modelId="{8271613B-B581-478F-90D2-AE51116AF82E}" type="presParOf" srcId="{EAF41EDB-BAC6-4D17-A06D-709F2C5C63D9}" destId="{76BE6E71-7365-429E-8CCD-861DDFF268AF}" srcOrd="3" destOrd="0" presId="urn:microsoft.com/office/officeart/2008/layout/HalfCircleOrganizationChart"/>
    <dgm:cxn modelId="{022BAB43-6A2A-40CF-9065-C4168D3D39B0}" type="presParOf" srcId="{D2B9D959-406D-4463-AC01-62BD0CBC9003}" destId="{F1238AAA-B060-404A-AF7F-1222FAA77455}" srcOrd="1" destOrd="0" presId="urn:microsoft.com/office/officeart/2008/layout/HalfCircleOrganizationChart"/>
    <dgm:cxn modelId="{4D205D9E-C646-4FFA-805F-413D41753AAB}" type="presParOf" srcId="{D2B9D959-406D-4463-AC01-62BD0CBC9003}" destId="{2DC62CF5-B49E-4840-AF2F-DFAECDD6BE4F}" srcOrd="2" destOrd="0" presId="urn:microsoft.com/office/officeart/2008/layout/HalfCircleOrganizationChart"/>
    <dgm:cxn modelId="{7A4275C8-D5C3-4C27-9881-E5B73B968C96}" type="presParOf" srcId="{C65CA705-7E2F-43ED-803B-45F1D9E19FF0}" destId="{58AB3D97-AF0D-4C05-9E2A-0F004C58CCF3}" srcOrd="4" destOrd="0" presId="urn:microsoft.com/office/officeart/2008/layout/HalfCircleOrganizationChart"/>
    <dgm:cxn modelId="{5A8777A1-BABD-452E-86FB-B780572B25EF}" type="presParOf" srcId="{C65CA705-7E2F-43ED-803B-45F1D9E19FF0}" destId="{F2DC65CD-239C-4785-B0DB-1D4C53CD6B6A}" srcOrd="5" destOrd="0" presId="urn:microsoft.com/office/officeart/2008/layout/HalfCircleOrganizationChart"/>
    <dgm:cxn modelId="{29BF7EED-5031-4958-88B0-66A7566C3DD0}" type="presParOf" srcId="{F2DC65CD-239C-4785-B0DB-1D4C53CD6B6A}" destId="{BED8A232-2968-4757-B568-192FD4F5AE19}" srcOrd="0" destOrd="0" presId="urn:microsoft.com/office/officeart/2008/layout/HalfCircleOrganizationChart"/>
    <dgm:cxn modelId="{CE637743-0A8A-48D4-914B-911DCDC85E9E}" type="presParOf" srcId="{BED8A232-2968-4757-B568-192FD4F5AE19}" destId="{15C27ABE-F8A4-4620-A914-8A47855CB029}" srcOrd="0" destOrd="0" presId="urn:microsoft.com/office/officeart/2008/layout/HalfCircleOrganizationChart"/>
    <dgm:cxn modelId="{60CB6AE0-9B79-4799-B133-FBA795469870}" type="presParOf" srcId="{BED8A232-2968-4757-B568-192FD4F5AE19}" destId="{A5763F9D-F364-4AF5-972E-419853B382EE}" srcOrd="1" destOrd="0" presId="urn:microsoft.com/office/officeart/2008/layout/HalfCircleOrganizationChart"/>
    <dgm:cxn modelId="{3B9A485E-6621-48D1-94B3-BE3F954334BB}" type="presParOf" srcId="{BED8A232-2968-4757-B568-192FD4F5AE19}" destId="{6366E23D-1035-4CB4-B8FE-5DDE35E6A853}" srcOrd="2" destOrd="0" presId="urn:microsoft.com/office/officeart/2008/layout/HalfCircleOrganizationChart"/>
    <dgm:cxn modelId="{B0475D8F-9C54-499C-892C-33DEF1FF11A2}" type="presParOf" srcId="{BED8A232-2968-4757-B568-192FD4F5AE19}" destId="{6B0D0A12-3930-4C94-ACA9-B25503041C5F}" srcOrd="3" destOrd="0" presId="urn:microsoft.com/office/officeart/2008/layout/HalfCircleOrganizationChart"/>
    <dgm:cxn modelId="{3434A0A4-6BD4-44AB-BC81-A22488D8BE93}" type="presParOf" srcId="{F2DC65CD-239C-4785-B0DB-1D4C53CD6B6A}" destId="{6227D2BF-6333-4A7F-BCB4-AD376C276509}" srcOrd="1" destOrd="0" presId="urn:microsoft.com/office/officeart/2008/layout/HalfCircleOrganizationChart"/>
    <dgm:cxn modelId="{FE66A3AA-52DC-469C-82F1-C776B66E1489}" type="presParOf" srcId="{F2DC65CD-239C-4785-B0DB-1D4C53CD6B6A}" destId="{51B3AF4E-D74D-42BB-82C3-732528387F23}" srcOrd="2" destOrd="0" presId="urn:microsoft.com/office/officeart/2008/layout/HalfCircleOrganizationChart"/>
    <dgm:cxn modelId="{C4C99A23-DFBB-4CAD-A155-93FD0F984B4B}" type="presParOf" srcId="{EC940000-CCE0-4641-BBB0-451516344BB9}" destId="{4D0095DD-6383-4D88-8CC2-1BDCC48CC441}" srcOrd="2" destOrd="0" presId="urn:microsoft.com/office/officeart/2008/layout/HalfCircle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B481B8B4-7783-45D4-A7BD-27DE66D13C4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68522BA-D260-423E-B324-D62B63C127E3}">
      <dgm:prSet phldrT="[Text]" custT="1">
        <dgm:style>
          <a:lnRef idx="2">
            <a:schemeClr val="accent3"/>
          </a:lnRef>
          <a:fillRef idx="1">
            <a:schemeClr val="lt1"/>
          </a:fillRef>
          <a:effectRef idx="0">
            <a:schemeClr val="accent3"/>
          </a:effectRef>
          <a:fontRef idx="minor">
            <a:schemeClr val="dk1"/>
          </a:fontRef>
        </dgm:style>
      </dgm:prSet>
      <dgm:spPr/>
      <dgm:t>
        <a:bodyPr/>
        <a:lstStyle/>
        <a:p>
          <a:pPr>
            <a:buFont typeface="Wingdings" panose="05000000000000000000" pitchFamily="2" charset="2"/>
            <a:buChar char="Ø"/>
          </a:pPr>
          <a:r>
            <a:rPr lang="en-US" sz="1300" dirty="0">
              <a:solidFill>
                <a:schemeClr val="tx1"/>
              </a:solidFill>
            </a:rPr>
            <a:t>AMI will enable WBSEDCL </a:t>
          </a:r>
          <a:r>
            <a:rPr lang="en-US" sz="1300" b="1" dirty="0">
              <a:solidFill>
                <a:schemeClr val="tx1"/>
              </a:solidFill>
            </a:rPr>
            <a:t>to identify and isolate outages faster </a:t>
          </a:r>
          <a:r>
            <a:rPr lang="en-US" sz="1300" dirty="0">
              <a:solidFill>
                <a:schemeClr val="tx1"/>
              </a:solidFill>
            </a:rPr>
            <a:t>and </a:t>
          </a:r>
          <a:r>
            <a:rPr lang="en-US" sz="1300" b="1" dirty="0">
              <a:solidFill>
                <a:schemeClr val="tx1"/>
              </a:solidFill>
            </a:rPr>
            <a:t>dispatch repair crews more precisely,</a:t>
          </a:r>
          <a:r>
            <a:rPr lang="en-US" sz="1300" dirty="0">
              <a:solidFill>
                <a:schemeClr val="tx1"/>
              </a:solidFill>
            </a:rPr>
            <a:t> reducing outage duration, limiting inconvenience</a:t>
          </a:r>
        </a:p>
      </dgm:t>
    </dgm:pt>
    <dgm:pt modelId="{BA1163E7-505E-445C-A87E-4AE7B423F2D1}" type="parTrans" cxnId="{0C180FC1-81C9-4170-AEBF-6EDD001E5CF0}">
      <dgm:prSet/>
      <dgm:spPr/>
      <dgm:t>
        <a:bodyPr/>
        <a:lstStyle/>
        <a:p>
          <a:endParaRPr lang="en-US" sz="1300"/>
        </a:p>
      </dgm:t>
    </dgm:pt>
    <dgm:pt modelId="{4223BBBA-F392-40D6-B775-26FAC1E3C8AC}" type="sibTrans" cxnId="{0C180FC1-81C9-4170-AEBF-6EDD001E5CF0}">
      <dgm:prSet/>
      <dgm:spPr/>
      <dgm:t>
        <a:bodyPr/>
        <a:lstStyle/>
        <a:p>
          <a:endParaRPr lang="en-US" sz="1300"/>
        </a:p>
      </dgm:t>
    </dgm:pt>
    <dgm:pt modelId="{5F2D48CE-EDC6-4E38-8B0A-B7DD58F06A55}">
      <dgm:prSet phldrT="[Text]" custT="1"/>
      <dgm:spPr>
        <a:solidFill>
          <a:srgbClr val="007680"/>
        </a:solidFill>
      </dgm:spPr>
      <dgm:t>
        <a:bodyPr/>
        <a:lstStyle/>
        <a:p>
          <a:pPr>
            <a:buFont typeface="Symbol" panose="05050102010706020507" pitchFamily="18" charset="2"/>
            <a:buChar char=""/>
          </a:pPr>
          <a:r>
            <a:rPr lang="en-US" sz="1300" dirty="0"/>
            <a:t>Utilities facing regular, severe weather events and storm-induced outages </a:t>
          </a:r>
          <a:r>
            <a:rPr lang="en-US" sz="1300" b="1" dirty="0"/>
            <a:t>have greater incentives for using AMI</a:t>
          </a:r>
          <a:r>
            <a:rPr lang="en-US" sz="1300" dirty="0"/>
            <a:t> for outage management than those that do not</a:t>
          </a:r>
        </a:p>
      </dgm:t>
    </dgm:pt>
    <dgm:pt modelId="{39B19B2C-6DA6-4940-A353-F95144E2AD51}" type="parTrans" cxnId="{B08EE818-85D2-4837-A367-2079171B8CA9}">
      <dgm:prSet/>
      <dgm:spPr/>
      <dgm:t>
        <a:bodyPr/>
        <a:lstStyle/>
        <a:p>
          <a:endParaRPr lang="en-US" sz="1300"/>
        </a:p>
      </dgm:t>
    </dgm:pt>
    <dgm:pt modelId="{15207C09-8802-443A-A3AE-043DBD639A8C}" type="sibTrans" cxnId="{B08EE818-85D2-4837-A367-2079171B8CA9}">
      <dgm:prSet/>
      <dgm:spPr/>
      <dgm:t>
        <a:bodyPr/>
        <a:lstStyle/>
        <a:p>
          <a:endParaRPr lang="en-US" sz="1300"/>
        </a:p>
      </dgm:t>
    </dgm:pt>
    <dgm:pt modelId="{9ADBFA14-CF63-4B7E-9D53-8E4D71D30637}">
      <dgm:prSet phldrT="[Text]" custT="1">
        <dgm:style>
          <a:lnRef idx="2">
            <a:schemeClr val="accent3"/>
          </a:lnRef>
          <a:fillRef idx="1">
            <a:schemeClr val="lt1"/>
          </a:fillRef>
          <a:effectRef idx="0">
            <a:schemeClr val="accent3"/>
          </a:effectRef>
          <a:fontRef idx="minor">
            <a:schemeClr val="dk1"/>
          </a:fontRef>
        </dgm:style>
      </dgm:prSet>
      <dgm:spPr/>
      <dgm:t>
        <a:bodyPr/>
        <a:lstStyle/>
        <a:p>
          <a:pPr>
            <a:buFont typeface="Symbol" panose="05050102010706020507" pitchFamily="18" charset="2"/>
            <a:buChar char=""/>
          </a:pPr>
          <a:r>
            <a:rPr lang="en-US" sz="1300" dirty="0">
              <a:solidFill>
                <a:schemeClr val="tx1"/>
              </a:solidFill>
            </a:rPr>
            <a:t>AMI would also </a:t>
          </a:r>
          <a:r>
            <a:rPr lang="en-US" sz="1300" b="1" dirty="0">
              <a:solidFill>
                <a:schemeClr val="tx1"/>
              </a:solidFill>
            </a:rPr>
            <a:t>enable WBSEDCL to proactively identify and notify customers of unusual usage patterns </a:t>
          </a:r>
          <a:r>
            <a:rPr lang="en-US" sz="1300" dirty="0">
              <a:solidFill>
                <a:schemeClr val="tx1"/>
              </a:solidFill>
            </a:rPr>
            <a:t>in advance of bills. </a:t>
          </a:r>
        </a:p>
      </dgm:t>
    </dgm:pt>
    <dgm:pt modelId="{33F24E7E-D555-4749-8B2A-6357A7516D23}" type="parTrans" cxnId="{078A9D9E-98C9-41E0-8B86-F003DBAC4F77}">
      <dgm:prSet/>
      <dgm:spPr/>
      <dgm:t>
        <a:bodyPr/>
        <a:lstStyle/>
        <a:p>
          <a:endParaRPr lang="en-US" sz="1300"/>
        </a:p>
      </dgm:t>
    </dgm:pt>
    <dgm:pt modelId="{DB17BC32-93F4-4FED-8A79-9B6AD52367EB}" type="sibTrans" cxnId="{078A9D9E-98C9-41E0-8B86-F003DBAC4F77}">
      <dgm:prSet/>
      <dgm:spPr/>
      <dgm:t>
        <a:bodyPr/>
        <a:lstStyle/>
        <a:p>
          <a:endParaRPr lang="en-US" sz="1300"/>
        </a:p>
      </dgm:t>
    </dgm:pt>
    <dgm:pt modelId="{E42B925C-7362-4B0F-B88C-F2A0256ECF0F}">
      <dgm:prSet phldrT="[Text]" custT="1"/>
      <dgm:spPr>
        <a:solidFill>
          <a:srgbClr val="007680"/>
        </a:solidFill>
      </dgm:spPr>
      <dgm:t>
        <a:bodyPr/>
        <a:lstStyle/>
        <a:p>
          <a:pPr>
            <a:buFont typeface="Symbol" panose="05050102010706020507" pitchFamily="18" charset="2"/>
            <a:buChar char=""/>
          </a:pPr>
          <a:r>
            <a:rPr lang="en-US" sz="1300" dirty="0"/>
            <a:t>AMI data integration with other information and management systems, including outage management systems (OMS) and geographic information systems (GIS), </a:t>
          </a:r>
          <a:r>
            <a:rPr lang="en-US" sz="1300" b="1" dirty="0"/>
            <a:t>enabled utilities to create detailed outage maps</a:t>
          </a:r>
          <a:r>
            <a:rPr lang="en-US" sz="1300" dirty="0"/>
            <a:t>, and in some cases posted these maps on utility websites to keep the public informed on service restoration progress</a:t>
          </a:r>
        </a:p>
      </dgm:t>
    </dgm:pt>
    <dgm:pt modelId="{50F04683-FFBA-4201-8A1F-E4C84BC23D51}" type="parTrans" cxnId="{389E47B2-4D29-4424-A9A7-6E4DC22BFF60}">
      <dgm:prSet/>
      <dgm:spPr/>
      <dgm:t>
        <a:bodyPr/>
        <a:lstStyle/>
        <a:p>
          <a:endParaRPr lang="en-US" sz="1300"/>
        </a:p>
      </dgm:t>
    </dgm:pt>
    <dgm:pt modelId="{F57B934D-991B-4246-AA2B-0E6AD9474244}" type="sibTrans" cxnId="{389E47B2-4D29-4424-A9A7-6E4DC22BFF60}">
      <dgm:prSet/>
      <dgm:spPr/>
      <dgm:t>
        <a:bodyPr/>
        <a:lstStyle/>
        <a:p>
          <a:endParaRPr lang="en-US" sz="1300"/>
        </a:p>
      </dgm:t>
    </dgm:pt>
    <dgm:pt modelId="{A21FD054-5852-4C97-92FF-FDECCB7FBDAE}">
      <dgm:prSet custT="1">
        <dgm:style>
          <a:lnRef idx="2">
            <a:schemeClr val="accent3"/>
          </a:lnRef>
          <a:fillRef idx="1">
            <a:schemeClr val="lt1"/>
          </a:fillRef>
          <a:effectRef idx="0">
            <a:schemeClr val="accent3"/>
          </a:effectRef>
          <a:fontRef idx="minor">
            <a:schemeClr val="dk1"/>
          </a:fontRef>
        </dgm:style>
      </dgm:prSet>
      <dgm:spPr/>
      <dgm:t>
        <a:bodyPr/>
        <a:lstStyle/>
        <a:p>
          <a:r>
            <a:rPr lang="en-US" sz="1300" dirty="0">
              <a:solidFill>
                <a:schemeClr val="tx1"/>
              </a:solidFill>
            </a:rPr>
            <a:t>Utilities can use </a:t>
          </a:r>
          <a:r>
            <a:rPr lang="en-US" sz="1300" b="1" dirty="0">
              <a:solidFill>
                <a:schemeClr val="tx1"/>
              </a:solidFill>
            </a:rPr>
            <a:t>AMI voltage monitoring capabilities to enhance the effectiveness of automated controls</a:t>
          </a:r>
          <a:r>
            <a:rPr lang="en-US" sz="1300" dirty="0">
              <a:solidFill>
                <a:schemeClr val="tx1"/>
              </a:solidFill>
            </a:rPr>
            <a:t> for voltage and reactive power management</a:t>
          </a:r>
        </a:p>
      </dgm:t>
    </dgm:pt>
    <dgm:pt modelId="{27AB94F7-AD87-4253-83DD-F6BEC01BE2D5}" type="parTrans" cxnId="{01128BEB-C82F-46C7-AB88-CE072BFCE411}">
      <dgm:prSet/>
      <dgm:spPr/>
      <dgm:t>
        <a:bodyPr/>
        <a:lstStyle/>
        <a:p>
          <a:endParaRPr lang="en-US" sz="1300"/>
        </a:p>
      </dgm:t>
    </dgm:pt>
    <dgm:pt modelId="{961FA1A7-FB86-4C6C-BE6F-B05FDDFB2EFE}" type="sibTrans" cxnId="{01128BEB-C82F-46C7-AB88-CE072BFCE411}">
      <dgm:prSet/>
      <dgm:spPr/>
      <dgm:t>
        <a:bodyPr/>
        <a:lstStyle/>
        <a:p>
          <a:endParaRPr lang="en-US" sz="1300"/>
        </a:p>
      </dgm:t>
    </dgm:pt>
    <dgm:pt modelId="{F8C0C5CC-F7F9-44B0-A7B8-B6C75A33849F}" type="pres">
      <dgm:prSet presAssocID="{B481B8B4-7783-45D4-A7BD-27DE66D13C44}" presName="linear" presStyleCnt="0">
        <dgm:presLayoutVars>
          <dgm:animLvl val="lvl"/>
          <dgm:resizeHandles val="exact"/>
        </dgm:presLayoutVars>
      </dgm:prSet>
      <dgm:spPr/>
    </dgm:pt>
    <dgm:pt modelId="{D4A92020-651E-4CD8-9D5A-845BDC2B0A4F}" type="pres">
      <dgm:prSet presAssocID="{468522BA-D260-423E-B324-D62B63C127E3}" presName="parentText" presStyleLbl="node1" presStyleIdx="0" presStyleCnt="5" custLinFactNeighborX="0" custLinFactNeighborY="-15554">
        <dgm:presLayoutVars>
          <dgm:chMax val="0"/>
          <dgm:bulletEnabled val="1"/>
        </dgm:presLayoutVars>
      </dgm:prSet>
      <dgm:spPr/>
    </dgm:pt>
    <dgm:pt modelId="{C63F863C-4543-4D2C-81B7-12A2083C6BEF}" type="pres">
      <dgm:prSet presAssocID="{4223BBBA-F392-40D6-B775-26FAC1E3C8AC}" presName="spacer" presStyleCnt="0"/>
      <dgm:spPr/>
    </dgm:pt>
    <dgm:pt modelId="{974EEC80-CBA2-4521-A469-6E9EFE696357}" type="pres">
      <dgm:prSet presAssocID="{5F2D48CE-EDC6-4E38-8B0A-B7DD58F06A55}" presName="parentText" presStyleLbl="node1" presStyleIdx="1" presStyleCnt="5" custLinFactY="-354" custLinFactNeighborX="0" custLinFactNeighborY="-100000">
        <dgm:presLayoutVars>
          <dgm:chMax val="0"/>
          <dgm:bulletEnabled val="1"/>
        </dgm:presLayoutVars>
      </dgm:prSet>
      <dgm:spPr/>
    </dgm:pt>
    <dgm:pt modelId="{F6AD9EA8-F7B9-4FCA-92DF-6D822AA585AD}" type="pres">
      <dgm:prSet presAssocID="{15207C09-8802-443A-A3AE-043DBD639A8C}" presName="spacer" presStyleCnt="0"/>
      <dgm:spPr/>
    </dgm:pt>
    <dgm:pt modelId="{B7C99BF8-BFD2-4D6C-87D1-CBA8EBACC3CA}" type="pres">
      <dgm:prSet presAssocID="{9ADBFA14-CF63-4B7E-9D53-8E4D71D30637}" presName="parentText" presStyleLbl="node1" presStyleIdx="2" presStyleCnt="5">
        <dgm:presLayoutVars>
          <dgm:chMax val="0"/>
          <dgm:bulletEnabled val="1"/>
        </dgm:presLayoutVars>
      </dgm:prSet>
      <dgm:spPr/>
    </dgm:pt>
    <dgm:pt modelId="{33DF9398-6987-47C1-8FA8-A2C57669D0C1}" type="pres">
      <dgm:prSet presAssocID="{DB17BC32-93F4-4FED-8A79-9B6AD52367EB}" presName="spacer" presStyleCnt="0"/>
      <dgm:spPr/>
    </dgm:pt>
    <dgm:pt modelId="{F621D2AD-6B8F-41E3-9264-7E469208DC79}" type="pres">
      <dgm:prSet presAssocID="{E42B925C-7362-4B0F-B88C-F2A0256ECF0F}" presName="parentText" presStyleLbl="node1" presStyleIdx="3" presStyleCnt="5">
        <dgm:presLayoutVars>
          <dgm:chMax val="0"/>
          <dgm:bulletEnabled val="1"/>
        </dgm:presLayoutVars>
      </dgm:prSet>
      <dgm:spPr/>
    </dgm:pt>
    <dgm:pt modelId="{C38DEA54-57F4-477F-BAD3-EAC17D8FB802}" type="pres">
      <dgm:prSet presAssocID="{F57B934D-991B-4246-AA2B-0E6AD9474244}" presName="spacer" presStyleCnt="0"/>
      <dgm:spPr/>
    </dgm:pt>
    <dgm:pt modelId="{701992BA-24E8-41EB-8A45-4C1CC9894924}" type="pres">
      <dgm:prSet presAssocID="{A21FD054-5852-4C97-92FF-FDECCB7FBDAE}" presName="parentText" presStyleLbl="node1" presStyleIdx="4" presStyleCnt="5">
        <dgm:presLayoutVars>
          <dgm:chMax val="0"/>
          <dgm:bulletEnabled val="1"/>
        </dgm:presLayoutVars>
      </dgm:prSet>
      <dgm:spPr/>
    </dgm:pt>
  </dgm:ptLst>
  <dgm:cxnLst>
    <dgm:cxn modelId="{B08EE818-85D2-4837-A367-2079171B8CA9}" srcId="{B481B8B4-7783-45D4-A7BD-27DE66D13C44}" destId="{5F2D48CE-EDC6-4E38-8B0A-B7DD58F06A55}" srcOrd="1" destOrd="0" parTransId="{39B19B2C-6DA6-4940-A353-F95144E2AD51}" sibTransId="{15207C09-8802-443A-A3AE-043DBD639A8C}"/>
    <dgm:cxn modelId="{52394F5B-897B-47DA-B252-1A99CF5CD163}" type="presOf" srcId="{5F2D48CE-EDC6-4E38-8B0A-B7DD58F06A55}" destId="{974EEC80-CBA2-4521-A469-6E9EFE696357}" srcOrd="0" destOrd="0" presId="urn:microsoft.com/office/officeart/2005/8/layout/vList2"/>
    <dgm:cxn modelId="{E1283D47-806D-4B02-B857-FE4D65D2F5C2}" type="presOf" srcId="{468522BA-D260-423E-B324-D62B63C127E3}" destId="{D4A92020-651E-4CD8-9D5A-845BDC2B0A4F}" srcOrd="0" destOrd="0" presId="urn:microsoft.com/office/officeart/2005/8/layout/vList2"/>
    <dgm:cxn modelId="{01BD3355-E909-4AE7-A31E-0E2C46AF48B9}" type="presOf" srcId="{B481B8B4-7783-45D4-A7BD-27DE66D13C44}" destId="{F8C0C5CC-F7F9-44B0-A7B8-B6C75A33849F}" srcOrd="0" destOrd="0" presId="urn:microsoft.com/office/officeart/2005/8/layout/vList2"/>
    <dgm:cxn modelId="{D7495A8F-BF99-442B-BEEF-8F8C3F8BE9B9}" type="presOf" srcId="{9ADBFA14-CF63-4B7E-9D53-8E4D71D30637}" destId="{B7C99BF8-BFD2-4D6C-87D1-CBA8EBACC3CA}" srcOrd="0" destOrd="0" presId="urn:microsoft.com/office/officeart/2005/8/layout/vList2"/>
    <dgm:cxn modelId="{078A9D9E-98C9-41E0-8B86-F003DBAC4F77}" srcId="{B481B8B4-7783-45D4-A7BD-27DE66D13C44}" destId="{9ADBFA14-CF63-4B7E-9D53-8E4D71D30637}" srcOrd="2" destOrd="0" parTransId="{33F24E7E-D555-4749-8B2A-6357A7516D23}" sibTransId="{DB17BC32-93F4-4FED-8A79-9B6AD52367EB}"/>
    <dgm:cxn modelId="{389E47B2-4D29-4424-A9A7-6E4DC22BFF60}" srcId="{B481B8B4-7783-45D4-A7BD-27DE66D13C44}" destId="{E42B925C-7362-4B0F-B88C-F2A0256ECF0F}" srcOrd="3" destOrd="0" parTransId="{50F04683-FFBA-4201-8A1F-E4C84BC23D51}" sibTransId="{F57B934D-991B-4246-AA2B-0E6AD9474244}"/>
    <dgm:cxn modelId="{0C180FC1-81C9-4170-AEBF-6EDD001E5CF0}" srcId="{B481B8B4-7783-45D4-A7BD-27DE66D13C44}" destId="{468522BA-D260-423E-B324-D62B63C127E3}" srcOrd="0" destOrd="0" parTransId="{BA1163E7-505E-445C-A87E-4AE7B423F2D1}" sibTransId="{4223BBBA-F392-40D6-B775-26FAC1E3C8AC}"/>
    <dgm:cxn modelId="{F45F65D2-56B6-435B-817B-A8DFACF558A0}" type="presOf" srcId="{A21FD054-5852-4C97-92FF-FDECCB7FBDAE}" destId="{701992BA-24E8-41EB-8A45-4C1CC9894924}" srcOrd="0" destOrd="0" presId="urn:microsoft.com/office/officeart/2005/8/layout/vList2"/>
    <dgm:cxn modelId="{01128BEB-C82F-46C7-AB88-CE072BFCE411}" srcId="{B481B8B4-7783-45D4-A7BD-27DE66D13C44}" destId="{A21FD054-5852-4C97-92FF-FDECCB7FBDAE}" srcOrd="4" destOrd="0" parTransId="{27AB94F7-AD87-4253-83DD-F6BEC01BE2D5}" sibTransId="{961FA1A7-FB86-4C6C-BE6F-B05FDDFB2EFE}"/>
    <dgm:cxn modelId="{EAA401F5-0753-44C3-BE1B-57B8854DB522}" type="presOf" srcId="{E42B925C-7362-4B0F-B88C-F2A0256ECF0F}" destId="{F621D2AD-6B8F-41E3-9264-7E469208DC79}" srcOrd="0" destOrd="0" presId="urn:microsoft.com/office/officeart/2005/8/layout/vList2"/>
    <dgm:cxn modelId="{9D91B0D6-B1AF-4BEF-92E2-29D5D39D4AE1}" type="presParOf" srcId="{F8C0C5CC-F7F9-44B0-A7B8-B6C75A33849F}" destId="{D4A92020-651E-4CD8-9D5A-845BDC2B0A4F}" srcOrd="0" destOrd="0" presId="urn:microsoft.com/office/officeart/2005/8/layout/vList2"/>
    <dgm:cxn modelId="{61680774-664C-4BC5-93E0-C31D6BCFAEA9}" type="presParOf" srcId="{F8C0C5CC-F7F9-44B0-A7B8-B6C75A33849F}" destId="{C63F863C-4543-4D2C-81B7-12A2083C6BEF}" srcOrd="1" destOrd="0" presId="urn:microsoft.com/office/officeart/2005/8/layout/vList2"/>
    <dgm:cxn modelId="{7AC3C55E-833C-4339-9D24-5C59C47AD772}" type="presParOf" srcId="{F8C0C5CC-F7F9-44B0-A7B8-B6C75A33849F}" destId="{974EEC80-CBA2-4521-A469-6E9EFE696357}" srcOrd="2" destOrd="0" presId="urn:microsoft.com/office/officeart/2005/8/layout/vList2"/>
    <dgm:cxn modelId="{77E4DD0C-42C1-4CC9-8941-AFAE3813A119}" type="presParOf" srcId="{F8C0C5CC-F7F9-44B0-A7B8-B6C75A33849F}" destId="{F6AD9EA8-F7B9-4FCA-92DF-6D822AA585AD}" srcOrd="3" destOrd="0" presId="urn:microsoft.com/office/officeart/2005/8/layout/vList2"/>
    <dgm:cxn modelId="{323D421E-A543-4122-9F02-F1690A4C188A}" type="presParOf" srcId="{F8C0C5CC-F7F9-44B0-A7B8-B6C75A33849F}" destId="{B7C99BF8-BFD2-4D6C-87D1-CBA8EBACC3CA}" srcOrd="4" destOrd="0" presId="urn:microsoft.com/office/officeart/2005/8/layout/vList2"/>
    <dgm:cxn modelId="{459E0A13-973D-4256-806A-6CE2E92488CE}" type="presParOf" srcId="{F8C0C5CC-F7F9-44B0-A7B8-B6C75A33849F}" destId="{33DF9398-6987-47C1-8FA8-A2C57669D0C1}" srcOrd="5" destOrd="0" presId="urn:microsoft.com/office/officeart/2005/8/layout/vList2"/>
    <dgm:cxn modelId="{AD5B382C-13CE-499F-9A86-E5D9F2CCADD4}" type="presParOf" srcId="{F8C0C5CC-F7F9-44B0-A7B8-B6C75A33849F}" destId="{F621D2AD-6B8F-41E3-9264-7E469208DC79}" srcOrd="6" destOrd="0" presId="urn:microsoft.com/office/officeart/2005/8/layout/vList2"/>
    <dgm:cxn modelId="{26DDFEC6-410A-4216-A20D-E2B59362ACF8}" type="presParOf" srcId="{F8C0C5CC-F7F9-44B0-A7B8-B6C75A33849F}" destId="{C38DEA54-57F4-477F-BAD3-EAC17D8FB802}" srcOrd="7" destOrd="0" presId="urn:microsoft.com/office/officeart/2005/8/layout/vList2"/>
    <dgm:cxn modelId="{D87A2DC2-1665-4204-8E19-97A5D89D05F1}" type="presParOf" srcId="{F8C0C5CC-F7F9-44B0-A7B8-B6C75A33849F}" destId="{701992BA-24E8-41EB-8A45-4C1CC9894924}"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EEF5C63F-F789-427A-9AA7-7711DDC9A3FB}"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6ECEB462-7DA1-497E-B3DC-0EA08DF5C904}">
      <dgm:prSet phldrT="[Text]" custT="1"/>
      <dgm:spPr/>
      <dgm:t>
        <a:bodyPr/>
        <a:lstStyle/>
        <a:p>
          <a:pPr algn="just"/>
          <a:r>
            <a:rPr lang="en-US" sz="1300" dirty="0"/>
            <a:t>For LV consumers in West Bengal, Fixed Charge is Rs. 15/kVA /month - considerably low in comparison to other states</a:t>
          </a:r>
        </a:p>
      </dgm:t>
    </dgm:pt>
    <dgm:pt modelId="{00F9B184-198B-4FF1-9F50-A7747EB40C8C}" type="parTrans" cxnId="{F695C923-AB47-42C2-8D11-0E106ECDBC13}">
      <dgm:prSet/>
      <dgm:spPr/>
      <dgm:t>
        <a:bodyPr/>
        <a:lstStyle/>
        <a:p>
          <a:endParaRPr lang="en-US"/>
        </a:p>
      </dgm:t>
    </dgm:pt>
    <dgm:pt modelId="{D9F9B5B3-D97D-47DC-9EBB-F022FF3FDD2E}" type="sibTrans" cxnId="{F695C923-AB47-42C2-8D11-0E106ECDBC13}">
      <dgm:prSet/>
      <dgm:spPr/>
      <dgm:t>
        <a:bodyPr/>
        <a:lstStyle/>
        <a:p>
          <a:endParaRPr lang="en-US"/>
        </a:p>
      </dgm:t>
    </dgm:pt>
    <dgm:pt modelId="{D5AB4A5B-B500-4E7A-A124-6F4C3233C33E}">
      <dgm:prSet phldrT="[Text]" custT="1"/>
      <dgm:spPr/>
      <dgm:t>
        <a:bodyPr/>
        <a:lstStyle/>
        <a:p>
          <a:pPr algn="l"/>
          <a:r>
            <a:rPr lang="en-US" sz="1400" dirty="0"/>
            <a:t>For consumers with Nil monthly energy consumption- </a:t>
          </a:r>
        </a:p>
        <a:p>
          <a:pPr algn="l"/>
          <a:r>
            <a:rPr lang="en-US" sz="1400" dirty="0"/>
            <a:t>No Energy charge recovery for WBSEDCL, low FC recovery</a:t>
          </a:r>
        </a:p>
      </dgm:t>
    </dgm:pt>
    <dgm:pt modelId="{1ADF3D6A-5E10-4657-A0E7-653EF0E38742}" type="parTrans" cxnId="{FEB60C58-6C93-4688-B2A1-96DE1013D843}">
      <dgm:prSet/>
      <dgm:spPr/>
      <dgm:t>
        <a:bodyPr/>
        <a:lstStyle/>
        <a:p>
          <a:endParaRPr lang="en-US"/>
        </a:p>
      </dgm:t>
    </dgm:pt>
    <dgm:pt modelId="{C37317A0-2E84-4DCA-92F0-4270B7C65F4C}" type="sibTrans" cxnId="{FEB60C58-6C93-4688-B2A1-96DE1013D843}">
      <dgm:prSet/>
      <dgm:spPr/>
      <dgm:t>
        <a:bodyPr/>
        <a:lstStyle/>
        <a:p>
          <a:endParaRPr lang="en-US"/>
        </a:p>
      </dgm:t>
    </dgm:pt>
    <dgm:pt modelId="{8476C4D7-570A-4169-AFB5-F0BAF739188E}">
      <dgm:prSet phldrT="[Text]" custT="1"/>
      <dgm:spPr/>
      <dgm:t>
        <a:bodyPr/>
        <a:lstStyle/>
        <a:p>
          <a:pPr algn="l"/>
          <a:r>
            <a:rPr lang="en-US" sz="1300" dirty="0"/>
            <a:t>Fixed Charge per month need to be increased to a level at par with certain other states- Revenue recovery from Idle valid consumers of WBSEDCL would substantially increase</a:t>
          </a:r>
        </a:p>
      </dgm:t>
    </dgm:pt>
    <dgm:pt modelId="{3AA78468-EB36-4A52-8B4D-555ECB608819}" type="parTrans" cxnId="{1E42814A-7A5A-487E-9069-5DFEC05840A2}">
      <dgm:prSet/>
      <dgm:spPr/>
      <dgm:t>
        <a:bodyPr/>
        <a:lstStyle/>
        <a:p>
          <a:endParaRPr lang="en-US"/>
        </a:p>
      </dgm:t>
    </dgm:pt>
    <dgm:pt modelId="{D8C0C9D5-E11C-4687-9746-83E6CEDBFC51}" type="sibTrans" cxnId="{1E42814A-7A5A-487E-9069-5DFEC05840A2}">
      <dgm:prSet/>
      <dgm:spPr/>
      <dgm:t>
        <a:bodyPr/>
        <a:lstStyle/>
        <a:p>
          <a:endParaRPr lang="en-US"/>
        </a:p>
      </dgm:t>
    </dgm:pt>
    <dgm:pt modelId="{A14290DC-8B26-402C-B203-92C9F2D192F1}">
      <dgm:prSet phldrT="[Text]" custT="1"/>
      <dgm:spPr/>
      <dgm:t>
        <a:bodyPr/>
        <a:lstStyle/>
        <a:p>
          <a:pPr algn="just"/>
          <a:r>
            <a:rPr lang="en-US" sz="1300" dirty="0"/>
            <a:t>Care must however be taken to reduce the Energy Charge Rate simultaneously to the point that the overall tariff for LV consumers with Average monthly consumption does not increase significantly</a:t>
          </a:r>
        </a:p>
      </dgm:t>
    </dgm:pt>
    <dgm:pt modelId="{99BFE1F9-FBD5-4851-97F3-D8F1659A7292}" type="parTrans" cxnId="{A4C9CB7E-3C10-40CE-A6D2-52A465E3827A}">
      <dgm:prSet/>
      <dgm:spPr/>
      <dgm:t>
        <a:bodyPr/>
        <a:lstStyle/>
        <a:p>
          <a:endParaRPr lang="en-US"/>
        </a:p>
      </dgm:t>
    </dgm:pt>
    <dgm:pt modelId="{B98385A9-BD05-4629-AC85-65EBF59EA806}" type="sibTrans" cxnId="{A4C9CB7E-3C10-40CE-A6D2-52A465E3827A}">
      <dgm:prSet/>
      <dgm:spPr/>
      <dgm:t>
        <a:bodyPr/>
        <a:lstStyle/>
        <a:p>
          <a:endParaRPr lang="en-US"/>
        </a:p>
      </dgm:t>
    </dgm:pt>
    <dgm:pt modelId="{FBBA11CD-D35E-43FB-A89B-50124C02F98C}" type="pres">
      <dgm:prSet presAssocID="{EEF5C63F-F789-427A-9AA7-7711DDC9A3FB}" presName="Name0" presStyleCnt="0">
        <dgm:presLayoutVars>
          <dgm:chMax val="11"/>
          <dgm:chPref val="11"/>
          <dgm:dir/>
          <dgm:resizeHandles/>
        </dgm:presLayoutVars>
      </dgm:prSet>
      <dgm:spPr/>
    </dgm:pt>
    <dgm:pt modelId="{4D0F31F9-FE5E-4B22-B425-1F16D2B442A3}" type="pres">
      <dgm:prSet presAssocID="{A14290DC-8B26-402C-B203-92C9F2D192F1}" presName="Accent4" presStyleCnt="0"/>
      <dgm:spPr/>
    </dgm:pt>
    <dgm:pt modelId="{F7DEEDB2-30C0-470F-AD34-2DF242BD0489}" type="pres">
      <dgm:prSet presAssocID="{A14290DC-8B26-402C-B203-92C9F2D192F1}" presName="Accent" presStyleLbl="node1" presStyleIdx="0" presStyleCnt="4"/>
      <dgm:spPr/>
    </dgm:pt>
    <dgm:pt modelId="{A3BB2EFA-BF95-4360-8655-8BF8FB8A3355}" type="pres">
      <dgm:prSet presAssocID="{A14290DC-8B26-402C-B203-92C9F2D192F1}" presName="ParentBackground4" presStyleCnt="0"/>
      <dgm:spPr/>
    </dgm:pt>
    <dgm:pt modelId="{8086BDF6-8266-46D5-80C5-FAB1212B8B13}" type="pres">
      <dgm:prSet presAssocID="{A14290DC-8B26-402C-B203-92C9F2D192F1}" presName="ParentBackground" presStyleLbl="fgAcc1" presStyleIdx="0" presStyleCnt="4"/>
      <dgm:spPr/>
    </dgm:pt>
    <dgm:pt modelId="{8B8AB168-B39D-4071-BB09-A70F6091F0E1}" type="pres">
      <dgm:prSet presAssocID="{A14290DC-8B26-402C-B203-92C9F2D192F1}" presName="Parent4" presStyleLbl="revTx" presStyleIdx="0" presStyleCnt="0">
        <dgm:presLayoutVars>
          <dgm:chMax val="1"/>
          <dgm:chPref val="1"/>
          <dgm:bulletEnabled val="1"/>
        </dgm:presLayoutVars>
      </dgm:prSet>
      <dgm:spPr/>
    </dgm:pt>
    <dgm:pt modelId="{5C0A902D-2057-461E-9144-544DB73C2412}" type="pres">
      <dgm:prSet presAssocID="{8476C4D7-570A-4169-AFB5-F0BAF739188E}" presName="Accent3" presStyleCnt="0"/>
      <dgm:spPr/>
    </dgm:pt>
    <dgm:pt modelId="{714BEE28-6B14-49E5-BBB0-1C9D6B834AAF}" type="pres">
      <dgm:prSet presAssocID="{8476C4D7-570A-4169-AFB5-F0BAF739188E}" presName="Accent" presStyleLbl="node1" presStyleIdx="1" presStyleCnt="4"/>
      <dgm:spPr>
        <a:solidFill>
          <a:schemeClr val="tx1">
            <a:lumMod val="75000"/>
            <a:lumOff val="25000"/>
          </a:schemeClr>
        </a:solidFill>
      </dgm:spPr>
    </dgm:pt>
    <dgm:pt modelId="{E07F5188-3B35-46A7-87DD-1E1B6CA526CA}" type="pres">
      <dgm:prSet presAssocID="{8476C4D7-570A-4169-AFB5-F0BAF739188E}" presName="ParentBackground3" presStyleCnt="0"/>
      <dgm:spPr/>
    </dgm:pt>
    <dgm:pt modelId="{31F7FE53-01E4-4F5B-A45E-EDCB61D97827}" type="pres">
      <dgm:prSet presAssocID="{8476C4D7-570A-4169-AFB5-F0BAF739188E}" presName="ParentBackground" presStyleLbl="fgAcc1" presStyleIdx="1" presStyleCnt="4"/>
      <dgm:spPr/>
    </dgm:pt>
    <dgm:pt modelId="{2663BBDE-A848-417B-8E5A-C2231CDAB745}" type="pres">
      <dgm:prSet presAssocID="{8476C4D7-570A-4169-AFB5-F0BAF739188E}" presName="Parent3" presStyleLbl="revTx" presStyleIdx="0" presStyleCnt="0">
        <dgm:presLayoutVars>
          <dgm:chMax val="1"/>
          <dgm:chPref val="1"/>
          <dgm:bulletEnabled val="1"/>
        </dgm:presLayoutVars>
      </dgm:prSet>
      <dgm:spPr/>
    </dgm:pt>
    <dgm:pt modelId="{84BDBE70-4786-4D33-B0CD-25D7A792B64C}" type="pres">
      <dgm:prSet presAssocID="{D5AB4A5B-B500-4E7A-A124-6F4C3233C33E}" presName="Accent2" presStyleCnt="0"/>
      <dgm:spPr/>
    </dgm:pt>
    <dgm:pt modelId="{1BF33C12-C1DE-44CF-84A9-359303C6D37C}" type="pres">
      <dgm:prSet presAssocID="{D5AB4A5B-B500-4E7A-A124-6F4C3233C33E}" presName="Accent" presStyleLbl="node1" presStyleIdx="2" presStyleCnt="4"/>
      <dgm:spPr/>
    </dgm:pt>
    <dgm:pt modelId="{1F3B6A88-4577-4B60-8634-6928E1EF71B1}" type="pres">
      <dgm:prSet presAssocID="{D5AB4A5B-B500-4E7A-A124-6F4C3233C33E}" presName="ParentBackground2" presStyleCnt="0"/>
      <dgm:spPr/>
    </dgm:pt>
    <dgm:pt modelId="{D52880F6-5649-4691-84F1-71D5AD3D062C}" type="pres">
      <dgm:prSet presAssocID="{D5AB4A5B-B500-4E7A-A124-6F4C3233C33E}" presName="ParentBackground" presStyleLbl="fgAcc1" presStyleIdx="2" presStyleCnt="4"/>
      <dgm:spPr/>
    </dgm:pt>
    <dgm:pt modelId="{1A95FACF-449F-42E6-A969-5DC59D8CF0B4}" type="pres">
      <dgm:prSet presAssocID="{D5AB4A5B-B500-4E7A-A124-6F4C3233C33E}" presName="Parent2" presStyleLbl="revTx" presStyleIdx="0" presStyleCnt="0">
        <dgm:presLayoutVars>
          <dgm:chMax val="1"/>
          <dgm:chPref val="1"/>
          <dgm:bulletEnabled val="1"/>
        </dgm:presLayoutVars>
      </dgm:prSet>
      <dgm:spPr/>
    </dgm:pt>
    <dgm:pt modelId="{ABDFB9FD-37E3-41B1-B7A3-BDA1C7490E49}" type="pres">
      <dgm:prSet presAssocID="{6ECEB462-7DA1-497E-B3DC-0EA08DF5C904}" presName="Accent1" presStyleCnt="0"/>
      <dgm:spPr/>
    </dgm:pt>
    <dgm:pt modelId="{F46E0055-CA2D-46EF-AA8F-6470804F6917}" type="pres">
      <dgm:prSet presAssocID="{6ECEB462-7DA1-497E-B3DC-0EA08DF5C904}" presName="Accent" presStyleLbl="node1" presStyleIdx="3" presStyleCnt="4"/>
      <dgm:spPr>
        <a:solidFill>
          <a:schemeClr val="tx1">
            <a:lumMod val="75000"/>
            <a:lumOff val="25000"/>
          </a:schemeClr>
        </a:solidFill>
      </dgm:spPr>
    </dgm:pt>
    <dgm:pt modelId="{3BC81711-DE16-4579-BEC9-1F36D9EF30CD}" type="pres">
      <dgm:prSet presAssocID="{6ECEB462-7DA1-497E-B3DC-0EA08DF5C904}" presName="ParentBackground1" presStyleCnt="0"/>
      <dgm:spPr/>
    </dgm:pt>
    <dgm:pt modelId="{3FF3C7F0-CD1E-4572-B0AF-9488CED1181B}" type="pres">
      <dgm:prSet presAssocID="{6ECEB462-7DA1-497E-B3DC-0EA08DF5C904}" presName="ParentBackground" presStyleLbl="fgAcc1" presStyleIdx="3" presStyleCnt="4"/>
      <dgm:spPr/>
    </dgm:pt>
    <dgm:pt modelId="{7B25DF28-302C-4C10-8CDF-7A47B4A1646B}" type="pres">
      <dgm:prSet presAssocID="{6ECEB462-7DA1-497E-B3DC-0EA08DF5C904}" presName="Parent1" presStyleLbl="revTx" presStyleIdx="0" presStyleCnt="0">
        <dgm:presLayoutVars>
          <dgm:chMax val="1"/>
          <dgm:chPref val="1"/>
          <dgm:bulletEnabled val="1"/>
        </dgm:presLayoutVars>
      </dgm:prSet>
      <dgm:spPr/>
    </dgm:pt>
  </dgm:ptLst>
  <dgm:cxnLst>
    <dgm:cxn modelId="{C66FED19-D9F1-47B9-B6F5-59B7F1F1CC37}" type="presOf" srcId="{8476C4D7-570A-4169-AFB5-F0BAF739188E}" destId="{31F7FE53-01E4-4F5B-A45E-EDCB61D97827}" srcOrd="0" destOrd="0" presId="urn:microsoft.com/office/officeart/2011/layout/CircleProcess"/>
    <dgm:cxn modelId="{F695C923-AB47-42C2-8D11-0E106ECDBC13}" srcId="{EEF5C63F-F789-427A-9AA7-7711DDC9A3FB}" destId="{6ECEB462-7DA1-497E-B3DC-0EA08DF5C904}" srcOrd="0" destOrd="0" parTransId="{00F9B184-198B-4FF1-9F50-A7747EB40C8C}" sibTransId="{D9F9B5B3-D97D-47DC-9EBB-F022FF3FDD2E}"/>
    <dgm:cxn modelId="{4AB13A31-C823-45CD-ACF4-DD7EEED44B96}" type="presOf" srcId="{A14290DC-8B26-402C-B203-92C9F2D192F1}" destId="{8086BDF6-8266-46D5-80C5-FAB1212B8B13}" srcOrd="0" destOrd="0" presId="urn:microsoft.com/office/officeart/2011/layout/CircleProcess"/>
    <dgm:cxn modelId="{9D4A8334-6186-4E12-A406-069CDE2A47A5}" type="presOf" srcId="{6ECEB462-7DA1-497E-B3DC-0EA08DF5C904}" destId="{3FF3C7F0-CD1E-4572-B0AF-9488CED1181B}" srcOrd="0" destOrd="0" presId="urn:microsoft.com/office/officeart/2011/layout/CircleProcess"/>
    <dgm:cxn modelId="{1E42814A-7A5A-487E-9069-5DFEC05840A2}" srcId="{EEF5C63F-F789-427A-9AA7-7711DDC9A3FB}" destId="{8476C4D7-570A-4169-AFB5-F0BAF739188E}" srcOrd="2" destOrd="0" parTransId="{3AA78468-EB36-4A52-8B4D-555ECB608819}" sibTransId="{D8C0C9D5-E11C-4687-9746-83E6CEDBFC51}"/>
    <dgm:cxn modelId="{A2AC9B71-0CCA-4135-BE54-A85E2BF44B1D}" type="presOf" srcId="{8476C4D7-570A-4169-AFB5-F0BAF739188E}" destId="{2663BBDE-A848-417B-8E5A-C2231CDAB745}" srcOrd="1" destOrd="0" presId="urn:microsoft.com/office/officeart/2011/layout/CircleProcess"/>
    <dgm:cxn modelId="{FEB60C58-6C93-4688-B2A1-96DE1013D843}" srcId="{EEF5C63F-F789-427A-9AA7-7711DDC9A3FB}" destId="{D5AB4A5B-B500-4E7A-A124-6F4C3233C33E}" srcOrd="1" destOrd="0" parTransId="{1ADF3D6A-5E10-4657-A0E7-653EF0E38742}" sibTransId="{C37317A0-2E84-4DCA-92F0-4270B7C65F4C}"/>
    <dgm:cxn modelId="{C3058E7A-2D79-43C3-9DEE-7CE183010514}" type="presOf" srcId="{D5AB4A5B-B500-4E7A-A124-6F4C3233C33E}" destId="{D52880F6-5649-4691-84F1-71D5AD3D062C}" srcOrd="0" destOrd="0" presId="urn:microsoft.com/office/officeart/2011/layout/CircleProcess"/>
    <dgm:cxn modelId="{A4C9CB7E-3C10-40CE-A6D2-52A465E3827A}" srcId="{EEF5C63F-F789-427A-9AA7-7711DDC9A3FB}" destId="{A14290DC-8B26-402C-B203-92C9F2D192F1}" srcOrd="3" destOrd="0" parTransId="{99BFE1F9-FBD5-4851-97F3-D8F1659A7292}" sibTransId="{B98385A9-BD05-4629-AC85-65EBF59EA806}"/>
    <dgm:cxn modelId="{56CE959C-F1A3-4FB8-AEA1-D5E4FB91179F}" type="presOf" srcId="{EEF5C63F-F789-427A-9AA7-7711DDC9A3FB}" destId="{FBBA11CD-D35E-43FB-A89B-50124C02F98C}" srcOrd="0" destOrd="0" presId="urn:microsoft.com/office/officeart/2011/layout/CircleProcess"/>
    <dgm:cxn modelId="{BA236BB0-12D7-436C-9EFD-7A89DF04AF83}" type="presOf" srcId="{6ECEB462-7DA1-497E-B3DC-0EA08DF5C904}" destId="{7B25DF28-302C-4C10-8CDF-7A47B4A1646B}" srcOrd="1" destOrd="0" presId="urn:microsoft.com/office/officeart/2011/layout/CircleProcess"/>
    <dgm:cxn modelId="{F2FD8DB8-9737-4C76-910D-AEBBCCEABBA5}" type="presOf" srcId="{D5AB4A5B-B500-4E7A-A124-6F4C3233C33E}" destId="{1A95FACF-449F-42E6-A969-5DC59D8CF0B4}" srcOrd="1" destOrd="0" presId="urn:microsoft.com/office/officeart/2011/layout/CircleProcess"/>
    <dgm:cxn modelId="{CD1195DF-0A56-4FBF-BD08-3D6D6E8D9A36}" type="presOf" srcId="{A14290DC-8B26-402C-B203-92C9F2D192F1}" destId="{8B8AB168-B39D-4071-BB09-A70F6091F0E1}" srcOrd="1" destOrd="0" presId="urn:microsoft.com/office/officeart/2011/layout/CircleProcess"/>
    <dgm:cxn modelId="{38A20BA3-3B4D-4BBF-865B-4E63605CEFA9}" type="presParOf" srcId="{FBBA11CD-D35E-43FB-A89B-50124C02F98C}" destId="{4D0F31F9-FE5E-4B22-B425-1F16D2B442A3}" srcOrd="0" destOrd="0" presId="urn:microsoft.com/office/officeart/2011/layout/CircleProcess"/>
    <dgm:cxn modelId="{AD203EBF-9112-45CF-8AB0-C3D8581954FA}" type="presParOf" srcId="{4D0F31F9-FE5E-4B22-B425-1F16D2B442A3}" destId="{F7DEEDB2-30C0-470F-AD34-2DF242BD0489}" srcOrd="0" destOrd="0" presId="urn:microsoft.com/office/officeart/2011/layout/CircleProcess"/>
    <dgm:cxn modelId="{6D89D880-5202-4214-A872-E46913603EDE}" type="presParOf" srcId="{FBBA11CD-D35E-43FB-A89B-50124C02F98C}" destId="{A3BB2EFA-BF95-4360-8655-8BF8FB8A3355}" srcOrd="1" destOrd="0" presId="urn:microsoft.com/office/officeart/2011/layout/CircleProcess"/>
    <dgm:cxn modelId="{16E51907-CC1F-407E-9CC1-1DF84ACC003F}" type="presParOf" srcId="{A3BB2EFA-BF95-4360-8655-8BF8FB8A3355}" destId="{8086BDF6-8266-46D5-80C5-FAB1212B8B13}" srcOrd="0" destOrd="0" presId="urn:microsoft.com/office/officeart/2011/layout/CircleProcess"/>
    <dgm:cxn modelId="{B124626E-DCC7-4E8E-8CED-F786DDCC0DF2}" type="presParOf" srcId="{FBBA11CD-D35E-43FB-A89B-50124C02F98C}" destId="{8B8AB168-B39D-4071-BB09-A70F6091F0E1}" srcOrd="2" destOrd="0" presId="urn:microsoft.com/office/officeart/2011/layout/CircleProcess"/>
    <dgm:cxn modelId="{BDA82ACA-B681-44AE-96D0-893D16901261}" type="presParOf" srcId="{FBBA11CD-D35E-43FB-A89B-50124C02F98C}" destId="{5C0A902D-2057-461E-9144-544DB73C2412}" srcOrd="3" destOrd="0" presId="urn:microsoft.com/office/officeart/2011/layout/CircleProcess"/>
    <dgm:cxn modelId="{7230EA79-9C01-4FA8-B113-F9BA2F19CD55}" type="presParOf" srcId="{5C0A902D-2057-461E-9144-544DB73C2412}" destId="{714BEE28-6B14-49E5-BBB0-1C9D6B834AAF}" srcOrd="0" destOrd="0" presId="urn:microsoft.com/office/officeart/2011/layout/CircleProcess"/>
    <dgm:cxn modelId="{94BFB3FD-4C61-489F-A509-7A5E8679560A}" type="presParOf" srcId="{FBBA11CD-D35E-43FB-A89B-50124C02F98C}" destId="{E07F5188-3B35-46A7-87DD-1E1B6CA526CA}" srcOrd="4" destOrd="0" presId="urn:microsoft.com/office/officeart/2011/layout/CircleProcess"/>
    <dgm:cxn modelId="{39A363B0-7AF0-48FE-A52A-C12BD9197617}" type="presParOf" srcId="{E07F5188-3B35-46A7-87DD-1E1B6CA526CA}" destId="{31F7FE53-01E4-4F5B-A45E-EDCB61D97827}" srcOrd="0" destOrd="0" presId="urn:microsoft.com/office/officeart/2011/layout/CircleProcess"/>
    <dgm:cxn modelId="{3BA2ADA5-ECA7-4FA3-80C6-19AEAC709BB7}" type="presParOf" srcId="{FBBA11CD-D35E-43FB-A89B-50124C02F98C}" destId="{2663BBDE-A848-417B-8E5A-C2231CDAB745}" srcOrd="5" destOrd="0" presId="urn:microsoft.com/office/officeart/2011/layout/CircleProcess"/>
    <dgm:cxn modelId="{C80500E3-3357-4C92-91CC-CAF00E44FB28}" type="presParOf" srcId="{FBBA11CD-D35E-43FB-A89B-50124C02F98C}" destId="{84BDBE70-4786-4D33-B0CD-25D7A792B64C}" srcOrd="6" destOrd="0" presId="urn:microsoft.com/office/officeart/2011/layout/CircleProcess"/>
    <dgm:cxn modelId="{8F7AF902-8381-473E-A0EC-6681E171EC0F}" type="presParOf" srcId="{84BDBE70-4786-4D33-B0CD-25D7A792B64C}" destId="{1BF33C12-C1DE-44CF-84A9-359303C6D37C}" srcOrd="0" destOrd="0" presId="urn:microsoft.com/office/officeart/2011/layout/CircleProcess"/>
    <dgm:cxn modelId="{AB4F5BE7-9A18-4769-A5FA-DFFA46DF6FD8}" type="presParOf" srcId="{FBBA11CD-D35E-43FB-A89B-50124C02F98C}" destId="{1F3B6A88-4577-4B60-8634-6928E1EF71B1}" srcOrd="7" destOrd="0" presId="urn:microsoft.com/office/officeart/2011/layout/CircleProcess"/>
    <dgm:cxn modelId="{01728DD5-87DF-467F-A386-6CCA118F4327}" type="presParOf" srcId="{1F3B6A88-4577-4B60-8634-6928E1EF71B1}" destId="{D52880F6-5649-4691-84F1-71D5AD3D062C}" srcOrd="0" destOrd="0" presId="urn:microsoft.com/office/officeart/2011/layout/CircleProcess"/>
    <dgm:cxn modelId="{F33CF8EF-6A9E-454D-8AA3-0559366A6B58}" type="presParOf" srcId="{FBBA11CD-D35E-43FB-A89B-50124C02F98C}" destId="{1A95FACF-449F-42E6-A969-5DC59D8CF0B4}" srcOrd="8" destOrd="0" presId="urn:microsoft.com/office/officeart/2011/layout/CircleProcess"/>
    <dgm:cxn modelId="{6AE26B0F-25E5-46DE-A287-52468AAE3586}" type="presParOf" srcId="{FBBA11CD-D35E-43FB-A89B-50124C02F98C}" destId="{ABDFB9FD-37E3-41B1-B7A3-BDA1C7490E49}" srcOrd="9" destOrd="0" presId="urn:microsoft.com/office/officeart/2011/layout/CircleProcess"/>
    <dgm:cxn modelId="{E0C574DE-92B1-4C34-9FC7-0FB5564129BA}" type="presParOf" srcId="{ABDFB9FD-37E3-41B1-B7A3-BDA1C7490E49}" destId="{F46E0055-CA2D-46EF-AA8F-6470804F6917}" srcOrd="0" destOrd="0" presId="urn:microsoft.com/office/officeart/2011/layout/CircleProcess"/>
    <dgm:cxn modelId="{FB7416E8-95E8-4C42-ADB3-5605708563E3}" type="presParOf" srcId="{FBBA11CD-D35E-43FB-A89B-50124C02F98C}" destId="{3BC81711-DE16-4579-BEC9-1F36D9EF30CD}" srcOrd="10" destOrd="0" presId="urn:microsoft.com/office/officeart/2011/layout/CircleProcess"/>
    <dgm:cxn modelId="{63A29E0B-CD87-4794-AD8F-995362A9E5DB}" type="presParOf" srcId="{3BC81711-DE16-4579-BEC9-1F36D9EF30CD}" destId="{3FF3C7F0-CD1E-4572-B0AF-9488CED1181B}" srcOrd="0" destOrd="0" presId="urn:microsoft.com/office/officeart/2011/layout/CircleProcess"/>
    <dgm:cxn modelId="{7D2D4CDB-3EE9-41F1-8E95-9021F3541D55}" type="presParOf" srcId="{FBBA11CD-D35E-43FB-A89B-50124C02F98C}" destId="{7B25DF28-302C-4C10-8CDF-7A47B4A1646B}" srcOrd="11"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F2040852-E783-411A-9A9A-B04D5E41F7F9}" type="doc">
      <dgm:prSet loTypeId="urn:microsoft.com/office/officeart/2008/layout/VerticalCurvedList" loCatId="list" qsTypeId="urn:microsoft.com/office/officeart/2005/8/quickstyle/simple1" qsCatId="simple" csTypeId="urn:microsoft.com/office/officeart/2005/8/colors/colorful1" csCatId="colorful" phldr="1"/>
      <dgm:spPr/>
      <dgm:t>
        <a:bodyPr/>
        <a:lstStyle/>
        <a:p>
          <a:endParaRPr lang="en-US"/>
        </a:p>
      </dgm:t>
    </dgm:pt>
    <dgm:pt modelId="{31659025-9D60-4EEB-AD70-1D2D06B6D977}">
      <dgm:prSet phldrT="[Text]" custT="1"/>
      <dgm:spPr/>
      <dgm:t>
        <a:bodyPr/>
        <a:lstStyle/>
        <a:p>
          <a:pPr algn="just"/>
          <a:r>
            <a:rPr lang="en-US" sz="1200" dirty="0">
              <a:solidFill>
                <a:schemeClr val="bg1"/>
              </a:solidFill>
            </a:rPr>
            <a:t>Promotional TOD Tariff Design (Across State for all Industrial Consumers- New and Existing)</a:t>
          </a:r>
        </a:p>
      </dgm:t>
    </dgm:pt>
    <dgm:pt modelId="{CD26B271-1658-4656-9E61-C383CAD807FB}" type="parTrans" cxnId="{E38AB618-45E1-440A-AB85-6A8B6361CFCB}">
      <dgm:prSet/>
      <dgm:spPr/>
      <dgm:t>
        <a:bodyPr/>
        <a:lstStyle/>
        <a:p>
          <a:endParaRPr lang="en-US"/>
        </a:p>
      </dgm:t>
    </dgm:pt>
    <dgm:pt modelId="{AE217F4C-5E8F-4F50-9F00-CE53F705DD53}" type="sibTrans" cxnId="{E38AB618-45E1-440A-AB85-6A8B6361CFCB}">
      <dgm:prSet/>
      <dgm:spPr/>
      <dgm:t>
        <a:bodyPr/>
        <a:lstStyle/>
        <a:p>
          <a:endParaRPr lang="en-US"/>
        </a:p>
      </dgm:t>
    </dgm:pt>
    <dgm:pt modelId="{CDDB0D88-BAE6-4EFB-92DB-44D17E84F1F9}">
      <dgm:prSet phldrT="[Text]" custT="1"/>
      <dgm:spPr/>
      <dgm:t>
        <a:bodyPr/>
        <a:lstStyle/>
        <a:p>
          <a:pPr algn="just"/>
          <a:r>
            <a:rPr lang="en-US" sz="1200" dirty="0">
              <a:solidFill>
                <a:schemeClr val="bg1"/>
              </a:solidFill>
            </a:rPr>
            <a:t>Reduction in Peak Hours Rate by 10-50 Paisa per unit to motivate consumers to increase their consumption</a:t>
          </a:r>
        </a:p>
      </dgm:t>
    </dgm:pt>
    <dgm:pt modelId="{F1298495-DFE0-4750-8FF2-836B5AF617F0}" type="parTrans" cxnId="{EA7AAA51-0D1D-4659-BCA0-9B669F3CFD77}">
      <dgm:prSet/>
      <dgm:spPr/>
      <dgm:t>
        <a:bodyPr/>
        <a:lstStyle/>
        <a:p>
          <a:endParaRPr lang="en-US"/>
        </a:p>
      </dgm:t>
    </dgm:pt>
    <dgm:pt modelId="{76B71868-9206-4256-BEB5-58519019AD59}" type="sibTrans" cxnId="{EA7AAA51-0D1D-4659-BCA0-9B669F3CFD77}">
      <dgm:prSet/>
      <dgm:spPr/>
      <dgm:t>
        <a:bodyPr/>
        <a:lstStyle/>
        <a:p>
          <a:endParaRPr lang="en-US"/>
        </a:p>
      </dgm:t>
    </dgm:pt>
    <dgm:pt modelId="{ACC1A639-DFB8-4487-AB74-6115099F8288}">
      <dgm:prSet phldrT="[Text]" custT="1"/>
      <dgm:spPr/>
      <dgm:t>
        <a:bodyPr/>
        <a:lstStyle/>
        <a:p>
          <a:pPr algn="just"/>
          <a:r>
            <a:rPr lang="en-US" sz="1200" dirty="0">
              <a:solidFill>
                <a:schemeClr val="bg1"/>
              </a:solidFill>
            </a:rPr>
            <a:t>Offer Differential lower than approved Ceiling Normal Tariff for a particular industry based on their power consumption pattern during normal hours of operation – which may further lead to increase the load factor utilization of that industry as well as additional revenue for WBSEDCL</a:t>
          </a:r>
        </a:p>
      </dgm:t>
    </dgm:pt>
    <dgm:pt modelId="{58BF3442-38E0-43DB-8059-7BAE95D097E6}" type="parTrans" cxnId="{158F67C9-C374-4155-9429-B07E0F2ACAB1}">
      <dgm:prSet/>
      <dgm:spPr/>
      <dgm:t>
        <a:bodyPr/>
        <a:lstStyle/>
        <a:p>
          <a:endParaRPr lang="en-US"/>
        </a:p>
      </dgm:t>
    </dgm:pt>
    <dgm:pt modelId="{AC1B5B84-7AA4-4612-BE01-FA8F470CDA40}" type="sibTrans" cxnId="{158F67C9-C374-4155-9429-B07E0F2ACAB1}">
      <dgm:prSet/>
      <dgm:spPr/>
      <dgm:t>
        <a:bodyPr/>
        <a:lstStyle/>
        <a:p>
          <a:endParaRPr lang="en-US"/>
        </a:p>
      </dgm:t>
    </dgm:pt>
    <dgm:pt modelId="{4D31E85A-3F4E-4D08-916A-7BFA52657F92}">
      <dgm:prSet phldrT="[Text]" custT="1"/>
      <dgm:spPr/>
      <dgm:t>
        <a:bodyPr/>
        <a:lstStyle/>
        <a:p>
          <a:pPr algn="just"/>
          <a:r>
            <a:rPr lang="en-US" sz="1200" dirty="0">
              <a:solidFill>
                <a:schemeClr val="bg1"/>
              </a:solidFill>
            </a:rPr>
            <a:t>Promote Off-Peak tariff incentive scheme considering seasonal consumption pattern of industry class and WBSEDCL may offer lower than ceiling tariff during particular season as per the choice of consumer</a:t>
          </a:r>
        </a:p>
      </dgm:t>
    </dgm:pt>
    <dgm:pt modelId="{85A0C849-EE86-4A8F-8B9E-6497AC9F0A2B}" type="parTrans" cxnId="{5A91248E-7FF1-4736-8788-8136A136ECE5}">
      <dgm:prSet/>
      <dgm:spPr/>
      <dgm:t>
        <a:bodyPr/>
        <a:lstStyle/>
        <a:p>
          <a:endParaRPr lang="en-US"/>
        </a:p>
      </dgm:t>
    </dgm:pt>
    <dgm:pt modelId="{305B5712-7571-416D-A9B5-DB69132D0262}" type="sibTrans" cxnId="{5A91248E-7FF1-4736-8788-8136A136ECE5}">
      <dgm:prSet/>
      <dgm:spPr/>
      <dgm:t>
        <a:bodyPr/>
        <a:lstStyle/>
        <a:p>
          <a:endParaRPr lang="en-US"/>
        </a:p>
      </dgm:t>
    </dgm:pt>
    <dgm:pt modelId="{477ABB65-A964-4C4A-9654-FF523C7106A6}">
      <dgm:prSet phldrT="[Text]" custT="1"/>
      <dgm:spPr/>
      <dgm:t>
        <a:bodyPr/>
        <a:lstStyle/>
        <a:p>
          <a:pPr algn="just"/>
          <a:r>
            <a:rPr lang="en-US" sz="1200" dirty="0">
              <a:solidFill>
                <a:schemeClr val="bg1"/>
              </a:solidFill>
            </a:rPr>
            <a:t>Offer Promotional tariff during festival seasons to avoid sudden jump in consumption level- this will help the utility to ascertain the demand of Utility beforehand and power procurement can be planned in advance .</a:t>
          </a:r>
        </a:p>
      </dgm:t>
    </dgm:pt>
    <dgm:pt modelId="{521C3AB8-3295-4606-94A0-87DDD6304596}" type="parTrans" cxnId="{9FA50A1B-B7B0-49D9-A653-9E4FC9E1735D}">
      <dgm:prSet/>
      <dgm:spPr/>
      <dgm:t>
        <a:bodyPr/>
        <a:lstStyle/>
        <a:p>
          <a:endParaRPr lang="en-US"/>
        </a:p>
      </dgm:t>
    </dgm:pt>
    <dgm:pt modelId="{EB6856FB-BE47-430A-8340-91ACC0B5FCCF}" type="sibTrans" cxnId="{9FA50A1B-B7B0-49D9-A653-9E4FC9E1735D}">
      <dgm:prSet/>
      <dgm:spPr/>
      <dgm:t>
        <a:bodyPr/>
        <a:lstStyle/>
        <a:p>
          <a:endParaRPr lang="en-US"/>
        </a:p>
      </dgm:t>
    </dgm:pt>
    <dgm:pt modelId="{FE041771-269F-49AF-95FF-F45CAE30BD3B}" type="pres">
      <dgm:prSet presAssocID="{F2040852-E783-411A-9A9A-B04D5E41F7F9}" presName="Name0" presStyleCnt="0">
        <dgm:presLayoutVars>
          <dgm:chMax val="7"/>
          <dgm:chPref val="7"/>
          <dgm:dir/>
        </dgm:presLayoutVars>
      </dgm:prSet>
      <dgm:spPr/>
    </dgm:pt>
    <dgm:pt modelId="{8401FD8A-0AA6-42E6-862D-56C0000C5C61}" type="pres">
      <dgm:prSet presAssocID="{F2040852-E783-411A-9A9A-B04D5E41F7F9}" presName="Name1" presStyleCnt="0"/>
      <dgm:spPr/>
    </dgm:pt>
    <dgm:pt modelId="{CB6AA300-4EB4-48C4-AB8D-73A0F56AD31E}" type="pres">
      <dgm:prSet presAssocID="{F2040852-E783-411A-9A9A-B04D5E41F7F9}" presName="cycle" presStyleCnt="0"/>
      <dgm:spPr/>
    </dgm:pt>
    <dgm:pt modelId="{9D9E192B-535C-4DA8-9E37-079221278A03}" type="pres">
      <dgm:prSet presAssocID="{F2040852-E783-411A-9A9A-B04D5E41F7F9}" presName="srcNode" presStyleLbl="node1" presStyleIdx="0" presStyleCnt="5"/>
      <dgm:spPr/>
    </dgm:pt>
    <dgm:pt modelId="{44444053-CB23-4F6D-9444-29CDEC355407}" type="pres">
      <dgm:prSet presAssocID="{F2040852-E783-411A-9A9A-B04D5E41F7F9}" presName="conn" presStyleLbl="parChTrans1D2" presStyleIdx="0" presStyleCnt="1"/>
      <dgm:spPr/>
    </dgm:pt>
    <dgm:pt modelId="{F171C001-3D3A-42BA-8638-7525C4F14E98}" type="pres">
      <dgm:prSet presAssocID="{F2040852-E783-411A-9A9A-B04D5E41F7F9}" presName="extraNode" presStyleLbl="node1" presStyleIdx="0" presStyleCnt="5"/>
      <dgm:spPr/>
    </dgm:pt>
    <dgm:pt modelId="{9032903F-BA35-4457-ABC8-29294E124A4A}" type="pres">
      <dgm:prSet presAssocID="{F2040852-E783-411A-9A9A-B04D5E41F7F9}" presName="dstNode" presStyleLbl="node1" presStyleIdx="0" presStyleCnt="5"/>
      <dgm:spPr/>
    </dgm:pt>
    <dgm:pt modelId="{7CB6B862-D267-4F84-B323-20423B352986}" type="pres">
      <dgm:prSet presAssocID="{31659025-9D60-4EEB-AD70-1D2D06B6D977}" presName="text_1" presStyleLbl="node1" presStyleIdx="0" presStyleCnt="5" custLinFactNeighborX="-408">
        <dgm:presLayoutVars>
          <dgm:bulletEnabled val="1"/>
        </dgm:presLayoutVars>
      </dgm:prSet>
      <dgm:spPr/>
    </dgm:pt>
    <dgm:pt modelId="{56C30202-FACE-4782-8A25-B13086FC8C5B}" type="pres">
      <dgm:prSet presAssocID="{31659025-9D60-4EEB-AD70-1D2D06B6D977}" presName="accent_1" presStyleCnt="0"/>
      <dgm:spPr/>
    </dgm:pt>
    <dgm:pt modelId="{349E29B7-C9E8-4746-85AA-144272BA81ED}" type="pres">
      <dgm:prSet presAssocID="{31659025-9D60-4EEB-AD70-1D2D06B6D977}" presName="accentRepeatNode" presStyleLbl="solidFgAcc1" presStyleIdx="0" presStyleCnt="5"/>
      <dgm:spPr/>
    </dgm:pt>
    <dgm:pt modelId="{246D47DB-FF37-4CA6-A4DE-492AB6E22374}" type="pres">
      <dgm:prSet presAssocID="{CDDB0D88-BAE6-4EFB-92DB-44D17E84F1F9}" presName="text_2" presStyleLbl="node1" presStyleIdx="1" presStyleCnt="5" custLinFactNeighborX="-280">
        <dgm:presLayoutVars>
          <dgm:bulletEnabled val="1"/>
        </dgm:presLayoutVars>
      </dgm:prSet>
      <dgm:spPr/>
    </dgm:pt>
    <dgm:pt modelId="{81981913-F385-4EBD-ACFA-809872C5BF2B}" type="pres">
      <dgm:prSet presAssocID="{CDDB0D88-BAE6-4EFB-92DB-44D17E84F1F9}" presName="accent_2" presStyleCnt="0"/>
      <dgm:spPr/>
    </dgm:pt>
    <dgm:pt modelId="{3A4C38DF-B95F-4627-957D-51539CD657D0}" type="pres">
      <dgm:prSet presAssocID="{CDDB0D88-BAE6-4EFB-92DB-44D17E84F1F9}" presName="accentRepeatNode" presStyleLbl="solidFgAcc1" presStyleIdx="1" presStyleCnt="5"/>
      <dgm:spPr/>
    </dgm:pt>
    <dgm:pt modelId="{AECA0399-C238-41AB-AA87-72BC59B7E3CE}" type="pres">
      <dgm:prSet presAssocID="{ACC1A639-DFB8-4487-AB74-6115099F8288}" presName="text_3" presStyleLbl="node1" presStyleIdx="2" presStyleCnt="5" custScaleY="159956" custLinFactNeighborX="-282">
        <dgm:presLayoutVars>
          <dgm:bulletEnabled val="1"/>
        </dgm:presLayoutVars>
      </dgm:prSet>
      <dgm:spPr/>
    </dgm:pt>
    <dgm:pt modelId="{CCD61C73-A761-4371-A2A0-076C7D702995}" type="pres">
      <dgm:prSet presAssocID="{ACC1A639-DFB8-4487-AB74-6115099F8288}" presName="accent_3" presStyleCnt="0"/>
      <dgm:spPr/>
    </dgm:pt>
    <dgm:pt modelId="{667B66E6-84A4-4383-96F3-52F26ACE83F0}" type="pres">
      <dgm:prSet presAssocID="{ACC1A639-DFB8-4487-AB74-6115099F8288}" presName="accentRepeatNode" presStyleLbl="solidFgAcc1" presStyleIdx="2" presStyleCnt="5"/>
      <dgm:spPr/>
    </dgm:pt>
    <dgm:pt modelId="{E267D053-B39A-44FB-B777-9CBC6F67D23C}" type="pres">
      <dgm:prSet presAssocID="{4D31E85A-3F4E-4D08-916A-7BFA52657F92}" presName="text_4" presStyleLbl="node1" presStyleIdx="3" presStyleCnt="5" custScaleY="135120" custLinFactNeighborX="-140">
        <dgm:presLayoutVars>
          <dgm:bulletEnabled val="1"/>
        </dgm:presLayoutVars>
      </dgm:prSet>
      <dgm:spPr/>
    </dgm:pt>
    <dgm:pt modelId="{17190506-55D5-47EE-AA2D-4C83C93D27CB}" type="pres">
      <dgm:prSet presAssocID="{4D31E85A-3F4E-4D08-916A-7BFA52657F92}" presName="accent_4" presStyleCnt="0"/>
      <dgm:spPr/>
    </dgm:pt>
    <dgm:pt modelId="{1D8B9C7F-7845-4E5F-AF52-21DB8527B9D1}" type="pres">
      <dgm:prSet presAssocID="{4D31E85A-3F4E-4D08-916A-7BFA52657F92}" presName="accentRepeatNode" presStyleLbl="solidFgAcc1" presStyleIdx="3" presStyleCnt="5"/>
      <dgm:spPr/>
    </dgm:pt>
    <dgm:pt modelId="{58290DDC-60C8-4E4C-BFD2-50F46EE17AA2}" type="pres">
      <dgm:prSet presAssocID="{477ABB65-A964-4C4A-9654-FF523C7106A6}" presName="text_5" presStyleLbl="node1" presStyleIdx="4" presStyleCnt="5" custScaleY="143210" custLinFactNeighborX="-136">
        <dgm:presLayoutVars>
          <dgm:bulletEnabled val="1"/>
        </dgm:presLayoutVars>
      </dgm:prSet>
      <dgm:spPr/>
    </dgm:pt>
    <dgm:pt modelId="{286D9200-60CD-48CE-87AF-4276081B259D}" type="pres">
      <dgm:prSet presAssocID="{477ABB65-A964-4C4A-9654-FF523C7106A6}" presName="accent_5" presStyleCnt="0"/>
      <dgm:spPr/>
    </dgm:pt>
    <dgm:pt modelId="{86202DBC-639B-4F58-AF07-51E73C45CF57}" type="pres">
      <dgm:prSet presAssocID="{477ABB65-A964-4C4A-9654-FF523C7106A6}" presName="accentRepeatNode" presStyleLbl="solidFgAcc1" presStyleIdx="4" presStyleCnt="5"/>
      <dgm:spPr/>
    </dgm:pt>
  </dgm:ptLst>
  <dgm:cxnLst>
    <dgm:cxn modelId="{167DCC10-8FE6-4E64-832E-549203FD1894}" type="presOf" srcId="{F2040852-E783-411A-9A9A-B04D5E41F7F9}" destId="{FE041771-269F-49AF-95FF-F45CAE30BD3B}" srcOrd="0" destOrd="0" presId="urn:microsoft.com/office/officeart/2008/layout/VerticalCurvedList"/>
    <dgm:cxn modelId="{E38AB618-45E1-440A-AB85-6A8B6361CFCB}" srcId="{F2040852-E783-411A-9A9A-B04D5E41F7F9}" destId="{31659025-9D60-4EEB-AD70-1D2D06B6D977}" srcOrd="0" destOrd="0" parTransId="{CD26B271-1658-4656-9E61-C383CAD807FB}" sibTransId="{AE217F4C-5E8F-4F50-9F00-CE53F705DD53}"/>
    <dgm:cxn modelId="{9FA50A1B-B7B0-49D9-A653-9E4FC9E1735D}" srcId="{F2040852-E783-411A-9A9A-B04D5E41F7F9}" destId="{477ABB65-A964-4C4A-9654-FF523C7106A6}" srcOrd="4" destOrd="0" parTransId="{521C3AB8-3295-4606-94A0-87DDD6304596}" sibTransId="{EB6856FB-BE47-430A-8340-91ACC0B5FCCF}"/>
    <dgm:cxn modelId="{44B2854E-FE01-4CD3-B5AE-45B1F34B1CFA}" type="presOf" srcId="{ACC1A639-DFB8-4487-AB74-6115099F8288}" destId="{AECA0399-C238-41AB-AA87-72BC59B7E3CE}" srcOrd="0" destOrd="0" presId="urn:microsoft.com/office/officeart/2008/layout/VerticalCurvedList"/>
    <dgm:cxn modelId="{EA7AAA51-0D1D-4659-BCA0-9B669F3CFD77}" srcId="{F2040852-E783-411A-9A9A-B04D5E41F7F9}" destId="{CDDB0D88-BAE6-4EFB-92DB-44D17E84F1F9}" srcOrd="1" destOrd="0" parTransId="{F1298495-DFE0-4750-8FF2-836B5AF617F0}" sibTransId="{76B71868-9206-4256-BEB5-58519019AD59}"/>
    <dgm:cxn modelId="{36F57854-F07C-4D95-A3DB-2B6F81C37F7E}" type="presOf" srcId="{AE217F4C-5E8F-4F50-9F00-CE53F705DD53}" destId="{44444053-CB23-4F6D-9444-29CDEC355407}" srcOrd="0" destOrd="0" presId="urn:microsoft.com/office/officeart/2008/layout/VerticalCurvedList"/>
    <dgm:cxn modelId="{1303A784-BA88-4F47-927A-B580734A8DC2}" type="presOf" srcId="{CDDB0D88-BAE6-4EFB-92DB-44D17E84F1F9}" destId="{246D47DB-FF37-4CA6-A4DE-492AB6E22374}" srcOrd="0" destOrd="0" presId="urn:microsoft.com/office/officeart/2008/layout/VerticalCurvedList"/>
    <dgm:cxn modelId="{5A91248E-7FF1-4736-8788-8136A136ECE5}" srcId="{F2040852-E783-411A-9A9A-B04D5E41F7F9}" destId="{4D31E85A-3F4E-4D08-916A-7BFA52657F92}" srcOrd="3" destOrd="0" parTransId="{85A0C849-EE86-4A8F-8B9E-6497AC9F0A2B}" sibTransId="{305B5712-7571-416D-A9B5-DB69132D0262}"/>
    <dgm:cxn modelId="{C0B331B6-753B-4208-9B69-BE68CA62AEDE}" type="presOf" srcId="{477ABB65-A964-4C4A-9654-FF523C7106A6}" destId="{58290DDC-60C8-4E4C-BFD2-50F46EE17AA2}" srcOrd="0" destOrd="0" presId="urn:microsoft.com/office/officeart/2008/layout/VerticalCurvedList"/>
    <dgm:cxn modelId="{A58809C2-F886-45E3-8F06-0F73CE7C7E60}" type="presOf" srcId="{31659025-9D60-4EEB-AD70-1D2D06B6D977}" destId="{7CB6B862-D267-4F84-B323-20423B352986}" srcOrd="0" destOrd="0" presId="urn:microsoft.com/office/officeart/2008/layout/VerticalCurvedList"/>
    <dgm:cxn modelId="{158F67C9-C374-4155-9429-B07E0F2ACAB1}" srcId="{F2040852-E783-411A-9A9A-B04D5E41F7F9}" destId="{ACC1A639-DFB8-4487-AB74-6115099F8288}" srcOrd="2" destOrd="0" parTransId="{58BF3442-38E0-43DB-8059-7BAE95D097E6}" sibTransId="{AC1B5B84-7AA4-4612-BE01-FA8F470CDA40}"/>
    <dgm:cxn modelId="{3AC4D1E5-AA13-4FB9-A3EE-7DC09B8BAF9B}" type="presOf" srcId="{4D31E85A-3F4E-4D08-916A-7BFA52657F92}" destId="{E267D053-B39A-44FB-B777-9CBC6F67D23C}" srcOrd="0" destOrd="0" presId="urn:microsoft.com/office/officeart/2008/layout/VerticalCurvedList"/>
    <dgm:cxn modelId="{67760D64-A852-4054-B68B-59CA4E0950FE}" type="presParOf" srcId="{FE041771-269F-49AF-95FF-F45CAE30BD3B}" destId="{8401FD8A-0AA6-42E6-862D-56C0000C5C61}" srcOrd="0" destOrd="0" presId="urn:microsoft.com/office/officeart/2008/layout/VerticalCurvedList"/>
    <dgm:cxn modelId="{9C903BCA-92DE-4009-97C6-BA0336900322}" type="presParOf" srcId="{8401FD8A-0AA6-42E6-862D-56C0000C5C61}" destId="{CB6AA300-4EB4-48C4-AB8D-73A0F56AD31E}" srcOrd="0" destOrd="0" presId="urn:microsoft.com/office/officeart/2008/layout/VerticalCurvedList"/>
    <dgm:cxn modelId="{D5844916-843E-460C-A314-A64321F762F8}" type="presParOf" srcId="{CB6AA300-4EB4-48C4-AB8D-73A0F56AD31E}" destId="{9D9E192B-535C-4DA8-9E37-079221278A03}" srcOrd="0" destOrd="0" presId="urn:microsoft.com/office/officeart/2008/layout/VerticalCurvedList"/>
    <dgm:cxn modelId="{F58294DD-370E-471E-830B-2577A2795D85}" type="presParOf" srcId="{CB6AA300-4EB4-48C4-AB8D-73A0F56AD31E}" destId="{44444053-CB23-4F6D-9444-29CDEC355407}" srcOrd="1" destOrd="0" presId="urn:microsoft.com/office/officeart/2008/layout/VerticalCurvedList"/>
    <dgm:cxn modelId="{4087FFFC-CB57-4B31-B6C4-5D32F74CC1D7}" type="presParOf" srcId="{CB6AA300-4EB4-48C4-AB8D-73A0F56AD31E}" destId="{F171C001-3D3A-42BA-8638-7525C4F14E98}" srcOrd="2" destOrd="0" presId="urn:microsoft.com/office/officeart/2008/layout/VerticalCurvedList"/>
    <dgm:cxn modelId="{5126C436-67CF-4288-B109-193101254110}" type="presParOf" srcId="{CB6AA300-4EB4-48C4-AB8D-73A0F56AD31E}" destId="{9032903F-BA35-4457-ABC8-29294E124A4A}" srcOrd="3" destOrd="0" presId="urn:microsoft.com/office/officeart/2008/layout/VerticalCurvedList"/>
    <dgm:cxn modelId="{38B1FBA3-0D29-437C-BC85-22F133E5CEF3}" type="presParOf" srcId="{8401FD8A-0AA6-42E6-862D-56C0000C5C61}" destId="{7CB6B862-D267-4F84-B323-20423B352986}" srcOrd="1" destOrd="0" presId="urn:microsoft.com/office/officeart/2008/layout/VerticalCurvedList"/>
    <dgm:cxn modelId="{0DA2484B-EFDD-4ADA-9D38-F03D464474A2}" type="presParOf" srcId="{8401FD8A-0AA6-42E6-862D-56C0000C5C61}" destId="{56C30202-FACE-4782-8A25-B13086FC8C5B}" srcOrd="2" destOrd="0" presId="urn:microsoft.com/office/officeart/2008/layout/VerticalCurvedList"/>
    <dgm:cxn modelId="{832161A5-72E5-4515-A3FC-47AE25F9C278}" type="presParOf" srcId="{56C30202-FACE-4782-8A25-B13086FC8C5B}" destId="{349E29B7-C9E8-4746-85AA-144272BA81ED}" srcOrd="0" destOrd="0" presId="urn:microsoft.com/office/officeart/2008/layout/VerticalCurvedList"/>
    <dgm:cxn modelId="{7B6A3608-3351-43A4-B00F-41F23A66B55E}" type="presParOf" srcId="{8401FD8A-0AA6-42E6-862D-56C0000C5C61}" destId="{246D47DB-FF37-4CA6-A4DE-492AB6E22374}" srcOrd="3" destOrd="0" presId="urn:microsoft.com/office/officeart/2008/layout/VerticalCurvedList"/>
    <dgm:cxn modelId="{EB160CA1-A6F8-4F91-BFE2-45853B1B0224}" type="presParOf" srcId="{8401FD8A-0AA6-42E6-862D-56C0000C5C61}" destId="{81981913-F385-4EBD-ACFA-809872C5BF2B}" srcOrd="4" destOrd="0" presId="urn:microsoft.com/office/officeart/2008/layout/VerticalCurvedList"/>
    <dgm:cxn modelId="{4629D5C1-79BB-45AD-8892-23BF19ADFF1D}" type="presParOf" srcId="{81981913-F385-4EBD-ACFA-809872C5BF2B}" destId="{3A4C38DF-B95F-4627-957D-51539CD657D0}" srcOrd="0" destOrd="0" presId="urn:microsoft.com/office/officeart/2008/layout/VerticalCurvedList"/>
    <dgm:cxn modelId="{CEB159EC-4D6A-4FE7-AC11-4C8FFFE70E70}" type="presParOf" srcId="{8401FD8A-0AA6-42E6-862D-56C0000C5C61}" destId="{AECA0399-C238-41AB-AA87-72BC59B7E3CE}" srcOrd="5" destOrd="0" presId="urn:microsoft.com/office/officeart/2008/layout/VerticalCurvedList"/>
    <dgm:cxn modelId="{E7077724-C45D-44B5-89BD-503783CCBFF3}" type="presParOf" srcId="{8401FD8A-0AA6-42E6-862D-56C0000C5C61}" destId="{CCD61C73-A761-4371-A2A0-076C7D702995}" srcOrd="6" destOrd="0" presId="urn:microsoft.com/office/officeart/2008/layout/VerticalCurvedList"/>
    <dgm:cxn modelId="{CC13EDBC-6B1D-468E-A573-1873DE2812C6}" type="presParOf" srcId="{CCD61C73-A761-4371-A2A0-076C7D702995}" destId="{667B66E6-84A4-4383-96F3-52F26ACE83F0}" srcOrd="0" destOrd="0" presId="urn:microsoft.com/office/officeart/2008/layout/VerticalCurvedList"/>
    <dgm:cxn modelId="{E821CECF-6788-4917-A1F9-E23269B62776}" type="presParOf" srcId="{8401FD8A-0AA6-42E6-862D-56C0000C5C61}" destId="{E267D053-B39A-44FB-B777-9CBC6F67D23C}" srcOrd="7" destOrd="0" presId="urn:microsoft.com/office/officeart/2008/layout/VerticalCurvedList"/>
    <dgm:cxn modelId="{47655D6F-D4BE-4953-AEEB-BB8263D100E5}" type="presParOf" srcId="{8401FD8A-0AA6-42E6-862D-56C0000C5C61}" destId="{17190506-55D5-47EE-AA2D-4C83C93D27CB}" srcOrd="8" destOrd="0" presId="urn:microsoft.com/office/officeart/2008/layout/VerticalCurvedList"/>
    <dgm:cxn modelId="{39B63ECD-9482-4B82-9C18-70AB9B2D493A}" type="presParOf" srcId="{17190506-55D5-47EE-AA2D-4C83C93D27CB}" destId="{1D8B9C7F-7845-4E5F-AF52-21DB8527B9D1}" srcOrd="0" destOrd="0" presId="urn:microsoft.com/office/officeart/2008/layout/VerticalCurvedList"/>
    <dgm:cxn modelId="{BD9543D7-F168-4C02-AF89-84DCB1B30889}" type="presParOf" srcId="{8401FD8A-0AA6-42E6-862D-56C0000C5C61}" destId="{58290DDC-60C8-4E4C-BFD2-50F46EE17AA2}" srcOrd="9" destOrd="0" presId="urn:microsoft.com/office/officeart/2008/layout/VerticalCurvedList"/>
    <dgm:cxn modelId="{7CF8AAFD-D949-47D8-83FC-3D917012C3C5}" type="presParOf" srcId="{8401FD8A-0AA6-42E6-862D-56C0000C5C61}" destId="{286D9200-60CD-48CE-87AF-4276081B259D}" srcOrd="10" destOrd="0" presId="urn:microsoft.com/office/officeart/2008/layout/VerticalCurvedList"/>
    <dgm:cxn modelId="{2579648F-CCD4-4D25-B0E5-D4C00B626387}" type="presParOf" srcId="{286D9200-60CD-48CE-87AF-4276081B259D}" destId="{86202DBC-639B-4F58-AF07-51E73C45CF57}" srcOrd="0" destOrd="0" presId="urn:microsoft.com/office/officeart/2008/layout/VerticalCurvedList"/>
  </dgm:cxnLst>
  <dgm:bg>
    <a:solidFill>
      <a:schemeClr val="bg1">
        <a:lumMod val="85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DF2E92-3B22-4141-BC72-9F3F67256946}">
      <dsp:nvSpPr>
        <dsp:cNvPr id="0" name=""/>
        <dsp:cNvSpPr/>
      </dsp:nvSpPr>
      <dsp:spPr>
        <a:xfrm>
          <a:off x="0" y="0"/>
          <a:ext cx="3890075" cy="1027651"/>
        </a:xfrm>
        <a:prstGeom prst="roundRect">
          <a:avLst/>
        </a:prstGeom>
        <a:no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Clr>
              <a:srgbClr val="000000"/>
            </a:buClr>
            <a:buSzPts val="1400"/>
            <a:buFont typeface="+mj-lt"/>
            <a:buNone/>
          </a:pPr>
          <a:r>
            <a:rPr lang="en-US" sz="1200" i="1" u="none" strike="noStrike" kern="1200" dirty="0">
              <a:solidFill>
                <a:schemeClr val="tx1"/>
              </a:solidFill>
              <a:effectLst/>
              <a:uFill>
                <a:solidFill>
                  <a:srgbClr val="000000"/>
                </a:solidFill>
              </a:uFill>
              <a:latin typeface="+mj-lt"/>
              <a:ea typeface="Calibri" panose="020F0502020204030204" pitchFamily="34" charset="0"/>
              <a:cs typeface="Calibri" panose="020F0502020204030204" pitchFamily="34" charset="0"/>
            </a:rPr>
            <a:t>Installation of Distribution transformers of appropriate capacity close to irrigation pump sets considering HVDS to minimize distribution losses</a:t>
          </a:r>
          <a:endParaRPr lang="en-US" sz="1200" i="1" kern="1200" dirty="0">
            <a:solidFill>
              <a:schemeClr val="tx1"/>
            </a:solidFill>
          </a:endParaRPr>
        </a:p>
      </dsp:txBody>
      <dsp:txXfrm>
        <a:off x="50166" y="50166"/>
        <a:ext cx="3789743" cy="927319"/>
      </dsp:txXfrm>
    </dsp:sp>
    <dsp:sp modelId="{7F47E246-29FB-442F-A05A-8F3B3CB7B2BE}">
      <dsp:nvSpPr>
        <dsp:cNvPr id="0" name=""/>
        <dsp:cNvSpPr/>
      </dsp:nvSpPr>
      <dsp:spPr>
        <a:xfrm>
          <a:off x="0" y="1036300"/>
          <a:ext cx="3890075" cy="1027651"/>
        </a:xfrm>
        <a:prstGeom prst="roundRect">
          <a:avLst/>
        </a:prstGeom>
        <a:solidFill>
          <a:srgbClr val="00768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Clr>
              <a:srgbClr val="000000"/>
            </a:buClr>
            <a:buSzPts val="1400"/>
            <a:buFont typeface="+mj-lt"/>
            <a:buNone/>
          </a:pPr>
          <a:r>
            <a:rPr lang="en-US" sz="1200" i="1" u="none" strike="noStrike" kern="1200" dirty="0">
              <a:solidFill>
                <a:schemeClr val="bg1"/>
              </a:solidFill>
              <a:effectLst/>
              <a:uFill>
                <a:solidFill>
                  <a:srgbClr val="000000"/>
                </a:solidFill>
              </a:uFill>
              <a:latin typeface="+mj-lt"/>
              <a:ea typeface="Calibri" panose="020F0502020204030204" pitchFamily="34" charset="0"/>
              <a:cs typeface="Calibri" panose="020F0502020204030204" pitchFamily="34" charset="0"/>
            </a:rPr>
            <a:t>Installation of energy meters at DTR end and </a:t>
          </a:r>
          <a:r>
            <a:rPr lang="en-US" sz="1200" i="1" u="none" strike="noStrike" kern="1200" dirty="0" err="1">
              <a:solidFill>
                <a:schemeClr val="bg1"/>
              </a:solidFill>
              <a:effectLst/>
              <a:uFill>
                <a:solidFill>
                  <a:srgbClr val="000000"/>
                </a:solidFill>
              </a:uFill>
              <a:latin typeface="+mj-lt"/>
              <a:ea typeface="Calibri" panose="020F0502020204030204" pitchFamily="34" charset="0"/>
              <a:cs typeface="Calibri" panose="020F0502020204030204" pitchFamily="34" charset="0"/>
            </a:rPr>
            <a:t>drawal</a:t>
          </a:r>
          <a:r>
            <a:rPr lang="en-US" sz="1200" i="1" u="none" strike="noStrike" kern="1200" dirty="0">
              <a:solidFill>
                <a:schemeClr val="bg1"/>
              </a:solidFill>
              <a:effectLst/>
              <a:uFill>
                <a:solidFill>
                  <a:srgbClr val="000000"/>
                </a:solidFill>
              </a:uFill>
              <a:latin typeface="+mj-lt"/>
              <a:ea typeface="Calibri" panose="020F0502020204030204" pitchFamily="34" charset="0"/>
              <a:cs typeface="Calibri" panose="020F0502020204030204" pitchFamily="34" charset="0"/>
            </a:rPr>
            <a:t> of LT service line with insulated cable to prevent accident as well as theft of electricity.</a:t>
          </a:r>
          <a:endParaRPr lang="en-US" sz="1200" i="1" kern="1200" dirty="0">
            <a:solidFill>
              <a:schemeClr val="bg1"/>
            </a:solidFill>
          </a:endParaRPr>
        </a:p>
      </dsp:txBody>
      <dsp:txXfrm>
        <a:off x="50166" y="1086466"/>
        <a:ext cx="3789743" cy="927319"/>
      </dsp:txXfrm>
    </dsp:sp>
    <dsp:sp modelId="{27FDE3E8-5274-4BE7-B0C6-D33CD90FE2A0}">
      <dsp:nvSpPr>
        <dsp:cNvPr id="0" name=""/>
        <dsp:cNvSpPr/>
      </dsp:nvSpPr>
      <dsp:spPr>
        <a:xfrm>
          <a:off x="0" y="2079686"/>
          <a:ext cx="3890075" cy="1027651"/>
        </a:xfrm>
        <a:prstGeom prst="roundRect">
          <a:avLst/>
        </a:prstGeom>
        <a:no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i="1" u="none" strike="noStrike" kern="1200" dirty="0">
              <a:solidFill>
                <a:schemeClr val="tx1"/>
              </a:solidFill>
              <a:effectLst/>
              <a:uFill>
                <a:solidFill>
                  <a:srgbClr val="000000"/>
                </a:solidFill>
              </a:uFill>
              <a:latin typeface="+mj-lt"/>
              <a:ea typeface="Calibri" panose="020F0502020204030204" pitchFamily="34" charset="0"/>
              <a:cs typeface="Calibri" panose="020F0502020204030204" pitchFamily="34" charset="0"/>
            </a:rPr>
            <a:t>GPS survey of proposed infrastructure for electrification of agricultural pump sets of all intending farmers who have applied to WBSEDCL within 30.04.2015 including those under OTA scheme of Government of West Bengal</a:t>
          </a:r>
          <a:endParaRPr lang="en-US" sz="1200" i="1" kern="1200" dirty="0">
            <a:solidFill>
              <a:schemeClr val="tx1"/>
            </a:solidFill>
          </a:endParaRPr>
        </a:p>
      </dsp:txBody>
      <dsp:txXfrm>
        <a:off x="50166" y="2129852"/>
        <a:ext cx="3789743" cy="9273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DE1F50-A314-41C0-A42C-062F168E30A0}">
      <dsp:nvSpPr>
        <dsp:cNvPr id="0" name=""/>
        <dsp:cNvSpPr/>
      </dsp:nvSpPr>
      <dsp:spPr>
        <a:xfrm>
          <a:off x="-5750458" y="-880169"/>
          <a:ext cx="6846206" cy="6846206"/>
        </a:xfrm>
        <a:prstGeom prst="blockArc">
          <a:avLst>
            <a:gd name="adj1" fmla="val 18900000"/>
            <a:gd name="adj2" fmla="val 2700000"/>
            <a:gd name="adj3" fmla="val 316"/>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48A031-C23C-47B5-8D79-7C5B9CDB0EE5}">
      <dsp:nvSpPr>
        <dsp:cNvPr id="0" name=""/>
        <dsp:cNvSpPr/>
      </dsp:nvSpPr>
      <dsp:spPr>
        <a:xfrm>
          <a:off x="408271" y="267821"/>
          <a:ext cx="5167231" cy="535440"/>
        </a:xfrm>
        <a:prstGeom prst="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5006" tIns="27940" rIns="27940" bIns="27940" numCol="1" spcCol="1270" anchor="ctr" anchorCtr="0">
          <a:noAutofit/>
        </a:bodyPr>
        <a:lstStyle/>
        <a:p>
          <a:pPr marL="0" lvl="0" indent="0" algn="l" defTabSz="488950">
            <a:lnSpc>
              <a:spcPct val="90000"/>
            </a:lnSpc>
            <a:spcBef>
              <a:spcPct val="0"/>
            </a:spcBef>
            <a:spcAft>
              <a:spcPct val="35000"/>
            </a:spcAft>
            <a:buNone/>
          </a:pPr>
          <a:r>
            <a:rPr lang="en-IN" sz="1100" kern="1200" dirty="0" err="1">
              <a:effectLst/>
              <a:latin typeface="Verdana" panose="020B0604030504040204" pitchFamily="34" charset="0"/>
              <a:ea typeface="Verdana" panose="020B0604030504040204" pitchFamily="34" charset="0"/>
              <a:cs typeface="Arial" panose="020B0604020202020204" pitchFamily="34" charset="0"/>
            </a:rPr>
            <a:t>Nayachar</a:t>
          </a:r>
          <a:r>
            <a:rPr lang="en-IN" sz="1100" kern="1200" dirty="0">
              <a:effectLst/>
              <a:latin typeface="Verdana" panose="020B0604030504040204" pitchFamily="34" charset="0"/>
              <a:ea typeface="Verdana" panose="020B0604030504040204" pitchFamily="34" charset="0"/>
              <a:cs typeface="Arial" panose="020B0604020202020204" pitchFamily="34" charset="0"/>
            </a:rPr>
            <a:t> is an island located in the Hooghly River, off Haldia in </a:t>
          </a:r>
          <a:r>
            <a:rPr lang="en-IN" sz="1100" kern="1200" dirty="0" err="1">
              <a:effectLst/>
              <a:latin typeface="Verdana" panose="020B0604030504040204" pitchFamily="34" charset="0"/>
              <a:ea typeface="Verdana" panose="020B0604030504040204" pitchFamily="34" charset="0"/>
              <a:cs typeface="Arial" panose="020B0604020202020204" pitchFamily="34" charset="0"/>
            </a:rPr>
            <a:t>Purba</a:t>
          </a:r>
          <a:r>
            <a:rPr lang="en-IN" sz="1100" kern="1200" dirty="0">
              <a:effectLst/>
              <a:latin typeface="Verdana" panose="020B0604030504040204" pitchFamily="34" charset="0"/>
              <a:ea typeface="Verdana" panose="020B0604030504040204" pitchFamily="34" charset="0"/>
              <a:cs typeface="Arial" panose="020B0604020202020204" pitchFamily="34" charset="0"/>
            </a:rPr>
            <a:t> Medinipur district, connected via Ferry Services. The river Hooghly has a width around 1.1 KM.</a:t>
          </a:r>
          <a:endParaRPr lang="en-US" sz="1600" kern="1200" dirty="0"/>
        </a:p>
      </dsp:txBody>
      <dsp:txXfrm>
        <a:off x="408271" y="267821"/>
        <a:ext cx="5167231" cy="535440"/>
      </dsp:txXfrm>
    </dsp:sp>
    <dsp:sp modelId="{F3924EA1-C6FA-48A3-9A9A-EB2FAD8CD2F2}">
      <dsp:nvSpPr>
        <dsp:cNvPr id="0" name=""/>
        <dsp:cNvSpPr/>
      </dsp:nvSpPr>
      <dsp:spPr>
        <a:xfrm>
          <a:off x="73621" y="200891"/>
          <a:ext cx="669300" cy="66930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FD0DBE4-AB81-4FBF-B868-760F6A1FACC2}">
      <dsp:nvSpPr>
        <dsp:cNvPr id="0" name=""/>
        <dsp:cNvSpPr/>
      </dsp:nvSpPr>
      <dsp:spPr>
        <a:xfrm>
          <a:off x="848707" y="1070880"/>
          <a:ext cx="4726795" cy="535440"/>
        </a:xfrm>
        <a:prstGeom prst="rect">
          <a:avLst/>
        </a:prstGeom>
        <a:solidFill>
          <a:schemeClr val="accent6">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5006" tIns="27940" rIns="27940" bIns="27940" numCol="1" spcCol="1270" anchor="ctr" anchorCtr="0">
          <a:noAutofit/>
        </a:bodyPr>
        <a:lstStyle/>
        <a:p>
          <a:pPr marL="0" lvl="0" indent="0" algn="l" defTabSz="488950">
            <a:lnSpc>
              <a:spcPct val="90000"/>
            </a:lnSpc>
            <a:spcBef>
              <a:spcPct val="0"/>
            </a:spcBef>
            <a:spcAft>
              <a:spcPct val="35000"/>
            </a:spcAft>
            <a:buNone/>
          </a:pPr>
          <a:r>
            <a:rPr lang="en-IN" sz="1100" kern="1200" dirty="0">
              <a:solidFill>
                <a:schemeClr val="tx1"/>
              </a:solidFill>
              <a:effectLst/>
              <a:latin typeface="Verdana" panose="020B0604030504040204" pitchFamily="34" charset="0"/>
              <a:ea typeface="Verdana" panose="020B0604030504040204" pitchFamily="34" charset="0"/>
              <a:cs typeface="Arial" panose="020B0604020202020204" pitchFamily="34" charset="0"/>
            </a:rPr>
            <a:t>Permissible area of 6800 acres available for Renewable Energy project development.</a:t>
          </a:r>
        </a:p>
      </dsp:txBody>
      <dsp:txXfrm>
        <a:off x="848707" y="1070880"/>
        <a:ext cx="4726795" cy="535440"/>
      </dsp:txXfrm>
    </dsp:sp>
    <dsp:sp modelId="{4295AD70-0F43-4044-881D-31E3DF337C41}">
      <dsp:nvSpPr>
        <dsp:cNvPr id="0" name=""/>
        <dsp:cNvSpPr/>
      </dsp:nvSpPr>
      <dsp:spPr>
        <a:xfrm>
          <a:off x="514057" y="1003950"/>
          <a:ext cx="669300" cy="66930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5A30BFE-022A-4937-A7C5-22AE59E00987}">
      <dsp:nvSpPr>
        <dsp:cNvPr id="0" name=""/>
        <dsp:cNvSpPr/>
      </dsp:nvSpPr>
      <dsp:spPr>
        <a:xfrm>
          <a:off x="1050108" y="1873938"/>
          <a:ext cx="4525395" cy="535440"/>
        </a:xfrm>
        <a:prstGeom prst="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5006" tIns="27940" rIns="27940" bIns="27940" numCol="1" spcCol="1270" anchor="ctr" anchorCtr="0">
          <a:noAutofit/>
        </a:bodyPr>
        <a:lstStyle/>
        <a:p>
          <a:pPr marL="0" lvl="0" indent="0" algn="l" defTabSz="488950">
            <a:lnSpc>
              <a:spcPct val="90000"/>
            </a:lnSpc>
            <a:spcBef>
              <a:spcPct val="0"/>
            </a:spcBef>
            <a:spcAft>
              <a:spcPct val="35000"/>
            </a:spcAft>
            <a:buNone/>
          </a:pPr>
          <a:r>
            <a:rPr lang="en-IN" sz="1100" kern="1200" dirty="0">
              <a:latin typeface="Verdana" panose="020B0604030504040204" pitchFamily="34" charset="0"/>
              <a:ea typeface="Verdana" panose="020B0604030504040204" pitchFamily="34" charset="0"/>
              <a:cs typeface="Arial" panose="020B0604020202020204" pitchFamily="34" charset="0"/>
            </a:rPr>
            <a:t>The Project size is determined to be 1200 MW under the Ultra Mega Solar Park project having a project life of 25 years.</a:t>
          </a:r>
        </a:p>
      </dsp:txBody>
      <dsp:txXfrm>
        <a:off x="1050108" y="1873938"/>
        <a:ext cx="4525395" cy="535440"/>
      </dsp:txXfrm>
    </dsp:sp>
    <dsp:sp modelId="{E5CBACAD-446B-486F-8639-F5B56C7A04FD}">
      <dsp:nvSpPr>
        <dsp:cNvPr id="0" name=""/>
        <dsp:cNvSpPr/>
      </dsp:nvSpPr>
      <dsp:spPr>
        <a:xfrm>
          <a:off x="715457" y="1807008"/>
          <a:ext cx="669300" cy="66930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1749DC1-B6DA-463B-86D6-662394E9A309}">
      <dsp:nvSpPr>
        <dsp:cNvPr id="0" name=""/>
        <dsp:cNvSpPr/>
      </dsp:nvSpPr>
      <dsp:spPr>
        <a:xfrm>
          <a:off x="1050108" y="2676488"/>
          <a:ext cx="4525395" cy="535440"/>
        </a:xfrm>
        <a:prstGeom prst="rect">
          <a:avLst/>
        </a:prstGeom>
        <a:solidFill>
          <a:schemeClr val="accent6">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5006" tIns="27940" rIns="27940" bIns="27940" numCol="1" spcCol="1270" anchor="ctr" anchorCtr="0">
          <a:noAutofit/>
        </a:bodyPr>
        <a:lstStyle/>
        <a:p>
          <a:pPr marL="0" lvl="0" indent="0" algn="l" defTabSz="488950">
            <a:lnSpc>
              <a:spcPct val="90000"/>
            </a:lnSpc>
            <a:spcBef>
              <a:spcPct val="0"/>
            </a:spcBef>
            <a:spcAft>
              <a:spcPct val="35000"/>
            </a:spcAft>
            <a:buNone/>
          </a:pPr>
          <a:r>
            <a:rPr lang="en-IN" sz="1100" kern="1200" dirty="0">
              <a:solidFill>
                <a:schemeClr val="tx1"/>
              </a:solidFill>
              <a:latin typeface="Verdana" panose="020B0604030504040204" pitchFamily="34" charset="0"/>
              <a:ea typeface="Verdana" panose="020B0604030504040204" pitchFamily="34" charset="0"/>
              <a:cs typeface="Arial" panose="020B0604020202020204" pitchFamily="34" charset="0"/>
            </a:rPr>
            <a:t>Monocrystalline solar PV modules are to be used in this project.</a:t>
          </a:r>
        </a:p>
      </dsp:txBody>
      <dsp:txXfrm>
        <a:off x="1050108" y="2676488"/>
        <a:ext cx="4525395" cy="535440"/>
      </dsp:txXfrm>
    </dsp:sp>
    <dsp:sp modelId="{CC4CB7E8-EEB8-4E82-A5ED-B7AC161E3485}">
      <dsp:nvSpPr>
        <dsp:cNvPr id="0" name=""/>
        <dsp:cNvSpPr/>
      </dsp:nvSpPr>
      <dsp:spPr>
        <a:xfrm>
          <a:off x="715457" y="2609558"/>
          <a:ext cx="669300" cy="66930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10411B2-B009-4050-8991-B740ECEDEE73}">
      <dsp:nvSpPr>
        <dsp:cNvPr id="0" name=""/>
        <dsp:cNvSpPr/>
      </dsp:nvSpPr>
      <dsp:spPr>
        <a:xfrm>
          <a:off x="848707" y="3479547"/>
          <a:ext cx="4726795" cy="535440"/>
        </a:xfrm>
        <a:prstGeom prst="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5006" tIns="27940" rIns="27940" bIns="27940" numCol="1" spcCol="1270" anchor="ctr" anchorCtr="0">
          <a:noAutofit/>
        </a:bodyPr>
        <a:lstStyle/>
        <a:p>
          <a:pPr marL="0" lvl="0" indent="0" algn="l" defTabSz="488950">
            <a:lnSpc>
              <a:spcPct val="90000"/>
            </a:lnSpc>
            <a:spcBef>
              <a:spcPct val="0"/>
            </a:spcBef>
            <a:spcAft>
              <a:spcPct val="35000"/>
            </a:spcAft>
            <a:buNone/>
          </a:pPr>
          <a:r>
            <a:rPr lang="en-IN" sz="1100" kern="1200" dirty="0">
              <a:effectLst/>
              <a:latin typeface="Verdana" panose="020B0604030504040204" pitchFamily="34" charset="0"/>
              <a:ea typeface="Verdana" panose="020B0604030504040204" pitchFamily="34" charset="0"/>
              <a:cs typeface="Times New Roman" panose="02020603050405020304" pitchFamily="18" charset="0"/>
            </a:rPr>
            <a:t>24 </a:t>
          </a:r>
          <a:r>
            <a:rPr lang="en-US" sz="1100" kern="1200" dirty="0">
              <a:latin typeface="Verdana" panose="020B0604030504040204" pitchFamily="34" charset="0"/>
              <a:ea typeface="Verdana" panose="020B0604030504040204" pitchFamily="34" charset="0"/>
              <a:cs typeface="Arial" panose="020B0604020202020204" pitchFamily="34" charset="0"/>
            </a:rPr>
            <a:t>Pooling substations (33/132 kV each) are proposed to be developed which will be connected from </a:t>
          </a:r>
          <a:r>
            <a:rPr lang="en-US" sz="1100" kern="1200" dirty="0" err="1">
              <a:latin typeface="Verdana" panose="020B0604030504040204" pitchFamily="34" charset="0"/>
              <a:ea typeface="Verdana" panose="020B0604030504040204" pitchFamily="34" charset="0"/>
              <a:cs typeface="Arial" panose="020B0604020202020204" pitchFamily="34" charset="0"/>
            </a:rPr>
            <a:t>Nayachar</a:t>
          </a:r>
          <a:r>
            <a:rPr lang="en-US" sz="1100" kern="1200" dirty="0">
              <a:latin typeface="Verdana" panose="020B0604030504040204" pitchFamily="34" charset="0"/>
              <a:ea typeface="Verdana" panose="020B0604030504040204" pitchFamily="34" charset="0"/>
              <a:cs typeface="Arial" panose="020B0604020202020204" pitchFamily="34" charset="0"/>
            </a:rPr>
            <a:t> to Haldia NIZ 132 kV substations. </a:t>
          </a:r>
          <a:endParaRPr lang="en-IN" sz="1100" kern="1200" dirty="0">
            <a:latin typeface="Verdana" panose="020B0604030504040204" pitchFamily="34" charset="0"/>
            <a:ea typeface="Verdana" panose="020B0604030504040204" pitchFamily="34" charset="0"/>
            <a:cs typeface="Arial" panose="020B0604020202020204" pitchFamily="34" charset="0"/>
          </a:endParaRPr>
        </a:p>
      </dsp:txBody>
      <dsp:txXfrm>
        <a:off x="848707" y="3479547"/>
        <a:ext cx="4726795" cy="535440"/>
      </dsp:txXfrm>
    </dsp:sp>
    <dsp:sp modelId="{4432F258-D1AA-4500-A8E7-BB63CEDA5396}">
      <dsp:nvSpPr>
        <dsp:cNvPr id="0" name=""/>
        <dsp:cNvSpPr/>
      </dsp:nvSpPr>
      <dsp:spPr>
        <a:xfrm>
          <a:off x="514057" y="3412617"/>
          <a:ext cx="669300" cy="66930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8634BCF-5A44-4B97-B3B0-306F74E77DBF}">
      <dsp:nvSpPr>
        <dsp:cNvPr id="0" name=""/>
        <dsp:cNvSpPr/>
      </dsp:nvSpPr>
      <dsp:spPr>
        <a:xfrm>
          <a:off x="408271" y="4282606"/>
          <a:ext cx="5167231" cy="535440"/>
        </a:xfrm>
        <a:prstGeom prst="rect">
          <a:avLst/>
        </a:prstGeom>
        <a:solidFill>
          <a:schemeClr val="accent6">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5006" tIns="27940" rIns="27940" bIns="27940" numCol="1" spcCol="1270" anchor="ctr" anchorCtr="0">
          <a:noAutofit/>
        </a:bodyPr>
        <a:lstStyle/>
        <a:p>
          <a:pPr marL="0" lvl="0" indent="0" algn="l" defTabSz="488950">
            <a:lnSpc>
              <a:spcPct val="90000"/>
            </a:lnSpc>
            <a:spcBef>
              <a:spcPct val="0"/>
            </a:spcBef>
            <a:spcAft>
              <a:spcPct val="35000"/>
            </a:spcAft>
            <a:buNone/>
          </a:pPr>
          <a:r>
            <a:rPr lang="en-US" sz="1100" kern="1200" dirty="0">
              <a:solidFill>
                <a:schemeClr val="tx1"/>
              </a:solidFill>
              <a:latin typeface="Verdana" panose="020B0604030504040204" pitchFamily="34" charset="0"/>
              <a:ea typeface="Verdana" panose="020B0604030504040204" pitchFamily="34" charset="0"/>
              <a:cs typeface="Arial" panose="020B0604020202020204" pitchFamily="34" charset="0"/>
            </a:rPr>
            <a:t>The 1200 MW </a:t>
          </a:r>
          <a:r>
            <a:rPr lang="en-US" sz="1100" kern="1200" dirty="0" err="1">
              <a:solidFill>
                <a:schemeClr val="tx1"/>
              </a:solidFill>
              <a:latin typeface="Verdana" panose="020B0604030504040204" pitchFamily="34" charset="0"/>
              <a:ea typeface="Verdana" panose="020B0604030504040204" pitchFamily="34" charset="0"/>
              <a:cs typeface="Arial" panose="020B0604020202020204" pitchFamily="34" charset="0"/>
            </a:rPr>
            <a:t>Nayachar</a:t>
          </a:r>
          <a:r>
            <a:rPr lang="en-US" sz="1100" kern="1200" dirty="0">
              <a:solidFill>
                <a:schemeClr val="tx1"/>
              </a:solidFill>
              <a:latin typeface="Verdana" panose="020B0604030504040204" pitchFamily="34" charset="0"/>
              <a:ea typeface="Verdana" panose="020B0604030504040204" pitchFamily="34" charset="0"/>
              <a:cs typeface="Arial" panose="020B0604020202020204" pitchFamily="34" charset="0"/>
            </a:rPr>
            <a:t> Solar Park will be implemented in a time frame of about 36 months.</a:t>
          </a:r>
        </a:p>
      </dsp:txBody>
      <dsp:txXfrm>
        <a:off x="408271" y="4282606"/>
        <a:ext cx="5167231" cy="535440"/>
      </dsp:txXfrm>
    </dsp:sp>
    <dsp:sp modelId="{54005ABF-6C96-4C11-B0B6-6D45D98645B5}">
      <dsp:nvSpPr>
        <dsp:cNvPr id="0" name=""/>
        <dsp:cNvSpPr/>
      </dsp:nvSpPr>
      <dsp:spPr>
        <a:xfrm>
          <a:off x="73621" y="4215675"/>
          <a:ext cx="669300" cy="66930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706C14-2B6A-4AC2-9282-BF14A64FF7CC}">
      <dsp:nvSpPr>
        <dsp:cNvPr id="0" name=""/>
        <dsp:cNvSpPr/>
      </dsp:nvSpPr>
      <dsp:spPr>
        <a:xfrm>
          <a:off x="7654978" y="3462798"/>
          <a:ext cx="2515621" cy="162955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115888" lvl="1" indent="0" algn="l" defTabSz="444500">
            <a:lnSpc>
              <a:spcPct val="90000"/>
            </a:lnSpc>
            <a:spcBef>
              <a:spcPct val="0"/>
            </a:spcBef>
            <a:spcAft>
              <a:spcPct val="15000"/>
            </a:spcAft>
            <a:buChar char="•"/>
          </a:pPr>
          <a:r>
            <a:rPr lang="en-IN" sz="1000" b="1" kern="1200" dirty="0">
              <a:latin typeface="Verdana" panose="020B0604030504040204" pitchFamily="34" charset="0"/>
              <a:ea typeface="Verdana" panose="020B0604030504040204" pitchFamily="34" charset="0"/>
            </a:rPr>
            <a:t>Employment Opportunity : </a:t>
          </a:r>
          <a:r>
            <a:rPr lang="en-IN" sz="1000" kern="1200" dirty="0">
              <a:latin typeface="Verdana" panose="020B0604030504040204" pitchFamily="34" charset="0"/>
              <a:ea typeface="Verdana" panose="020B0604030504040204" pitchFamily="34" charset="0"/>
            </a:rPr>
            <a:t>The project will provide direct employment opportunities around </a:t>
          </a:r>
          <a:r>
            <a:rPr lang="en-IN" sz="1000" b="1" kern="1200" dirty="0">
              <a:latin typeface="Verdana" panose="020B0604030504040204" pitchFamily="34" charset="0"/>
              <a:ea typeface="Verdana" panose="020B0604030504040204" pitchFamily="34" charset="0"/>
            </a:rPr>
            <a:t>5000</a:t>
          </a:r>
          <a:endParaRPr lang="en-US" sz="1000" kern="1200" dirty="0"/>
        </a:p>
      </dsp:txBody>
      <dsp:txXfrm>
        <a:off x="8445461" y="3905982"/>
        <a:ext cx="1689342" cy="1150572"/>
      </dsp:txXfrm>
    </dsp:sp>
    <dsp:sp modelId="{9869788D-E140-46B2-8EC2-B006AD88A95B}">
      <dsp:nvSpPr>
        <dsp:cNvPr id="0" name=""/>
        <dsp:cNvSpPr/>
      </dsp:nvSpPr>
      <dsp:spPr>
        <a:xfrm>
          <a:off x="3550543" y="3462798"/>
          <a:ext cx="2515621" cy="162955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57150" lvl="1" indent="-57150" algn="l" defTabSz="444500">
            <a:lnSpc>
              <a:spcPct val="90000"/>
            </a:lnSpc>
            <a:spcBef>
              <a:spcPct val="0"/>
            </a:spcBef>
            <a:spcAft>
              <a:spcPct val="15000"/>
            </a:spcAft>
            <a:buChar char="•"/>
          </a:pPr>
          <a:r>
            <a:rPr lang="en-US" sz="1000" b="1" kern="1200" dirty="0">
              <a:latin typeface="Verdana" panose="020B0604030504040204" pitchFamily="34" charset="0"/>
              <a:ea typeface="Verdana" panose="020B0604030504040204" pitchFamily="34" charset="0"/>
            </a:rPr>
            <a:t>Reduction of Carbon Footprint: </a:t>
          </a:r>
          <a:r>
            <a:rPr lang="en-US" sz="1000" kern="1200" dirty="0">
              <a:latin typeface="Verdana" panose="020B0604030504040204" pitchFamily="34" charset="0"/>
              <a:ea typeface="Verdana" panose="020B0604030504040204" pitchFamily="34" charset="0"/>
            </a:rPr>
            <a:t>Reduction of 7800000 tons CO2 production per year</a:t>
          </a:r>
          <a:endParaRPr lang="en-US" sz="1000" kern="1200" dirty="0"/>
        </a:p>
      </dsp:txBody>
      <dsp:txXfrm>
        <a:off x="3586339" y="3905982"/>
        <a:ext cx="1689342" cy="1150572"/>
      </dsp:txXfrm>
    </dsp:sp>
    <dsp:sp modelId="{BA95E4B5-F863-4488-98CD-5FB6553BFE8F}">
      <dsp:nvSpPr>
        <dsp:cNvPr id="0" name=""/>
        <dsp:cNvSpPr/>
      </dsp:nvSpPr>
      <dsp:spPr>
        <a:xfrm>
          <a:off x="8061553" y="0"/>
          <a:ext cx="2515621" cy="162955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57150" lvl="1" indent="-57150" algn="l" defTabSz="444500">
            <a:lnSpc>
              <a:spcPct val="90000"/>
            </a:lnSpc>
            <a:spcBef>
              <a:spcPct val="0"/>
            </a:spcBef>
            <a:spcAft>
              <a:spcPct val="15000"/>
            </a:spcAft>
            <a:buChar char="•"/>
          </a:pPr>
          <a:r>
            <a:rPr lang="en-IN" sz="1000" b="1" kern="1200" dirty="0">
              <a:latin typeface="Verdana" panose="020B0604030504040204" pitchFamily="34" charset="0"/>
              <a:ea typeface="Verdana" panose="020B0604030504040204" pitchFamily="34" charset="0"/>
            </a:rPr>
            <a:t>Community Involvement: </a:t>
          </a:r>
          <a:r>
            <a:rPr lang="en-IN" sz="1000" kern="1200" dirty="0">
              <a:latin typeface="Verdana" panose="020B0604030504040204" pitchFamily="34" charset="0"/>
              <a:ea typeface="Verdana" panose="020B0604030504040204" pitchFamily="34" charset="0"/>
            </a:rPr>
            <a:t>other income opportunity will be created simultaneously boosting overall economic development of the region (Further scope for indirect employment of </a:t>
          </a:r>
          <a:r>
            <a:rPr lang="en-IN" sz="1000" kern="1200" dirty="0" err="1">
              <a:latin typeface="Verdana" panose="020B0604030504040204" pitchFamily="34" charset="0"/>
              <a:ea typeface="Verdana" panose="020B0604030504040204" pitchFamily="34" charset="0"/>
            </a:rPr>
            <a:t>upto</a:t>
          </a:r>
          <a:r>
            <a:rPr lang="en-IN" sz="1000" kern="1200" dirty="0">
              <a:latin typeface="Verdana" panose="020B0604030504040204" pitchFamily="34" charset="0"/>
              <a:ea typeface="Verdana" panose="020B0604030504040204" pitchFamily="34" charset="0"/>
            </a:rPr>
            <a:t> ~20000)</a:t>
          </a:r>
          <a:endParaRPr lang="en-US" sz="1000" kern="1200" dirty="0"/>
        </a:p>
      </dsp:txBody>
      <dsp:txXfrm>
        <a:off x="8852035" y="35796"/>
        <a:ext cx="1689342" cy="1150572"/>
      </dsp:txXfrm>
    </dsp:sp>
    <dsp:sp modelId="{598CEBB7-7E45-454B-9C19-843F17019302}">
      <dsp:nvSpPr>
        <dsp:cNvPr id="0" name=""/>
        <dsp:cNvSpPr/>
      </dsp:nvSpPr>
      <dsp:spPr>
        <a:xfrm>
          <a:off x="3550543" y="0"/>
          <a:ext cx="2515621" cy="162955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57150" lvl="1" indent="-57150" algn="l" defTabSz="466725">
            <a:lnSpc>
              <a:spcPct val="90000"/>
            </a:lnSpc>
            <a:spcBef>
              <a:spcPct val="0"/>
            </a:spcBef>
            <a:spcAft>
              <a:spcPct val="15000"/>
            </a:spcAft>
            <a:buChar char="•"/>
          </a:pPr>
          <a:r>
            <a:rPr lang="en-US" sz="1050" b="1" kern="1200" dirty="0">
              <a:latin typeface="Verdana" panose="020B0604030504040204" pitchFamily="34" charset="0"/>
              <a:ea typeface="Verdana" panose="020B0604030504040204" pitchFamily="34" charset="0"/>
            </a:rPr>
            <a:t>Clean Energy Production and :  </a:t>
          </a:r>
          <a:r>
            <a:rPr lang="en-US" sz="1050" kern="1200" dirty="0">
              <a:latin typeface="Verdana" panose="020B0604030504040204" pitchFamily="34" charset="0"/>
              <a:ea typeface="Verdana" panose="020B0604030504040204" pitchFamily="34" charset="0"/>
            </a:rPr>
            <a:t>solar power plant will help to produce around </a:t>
          </a:r>
          <a:r>
            <a:rPr lang="en-US" sz="1050" b="1" kern="1200" dirty="0">
              <a:latin typeface="Verdana" panose="020B0604030504040204" pitchFamily="34" charset="0"/>
              <a:ea typeface="Verdana" panose="020B0604030504040204" pitchFamily="34" charset="0"/>
            </a:rPr>
            <a:t>1700 MU </a:t>
          </a:r>
          <a:r>
            <a:rPr lang="en-US" sz="1050" kern="1200" dirty="0">
              <a:latin typeface="Verdana" panose="020B0604030504040204" pitchFamily="34" charset="0"/>
              <a:ea typeface="Verdana" panose="020B0604030504040204" pitchFamily="34" charset="0"/>
            </a:rPr>
            <a:t>electricity per year</a:t>
          </a:r>
          <a:endParaRPr lang="en-US" sz="1050" kern="1200" dirty="0"/>
        </a:p>
      </dsp:txBody>
      <dsp:txXfrm>
        <a:off x="3586339" y="35796"/>
        <a:ext cx="1689342" cy="1150572"/>
      </dsp:txXfrm>
    </dsp:sp>
    <dsp:sp modelId="{1BEF06E7-588E-44F0-BF77-1AEF43786113}">
      <dsp:nvSpPr>
        <dsp:cNvPr id="0" name=""/>
        <dsp:cNvSpPr/>
      </dsp:nvSpPr>
      <dsp:spPr>
        <a:xfrm>
          <a:off x="4604660" y="290264"/>
          <a:ext cx="2204987" cy="2204987"/>
        </a:xfrm>
        <a:prstGeom prst="pieWedge">
          <a:avLst/>
        </a:prstGeom>
        <a:solidFill>
          <a:schemeClr val="tx1">
            <a:lumMod val="75000"/>
            <a:lumOff val="2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dirty="0"/>
            <a:t>Increase penetration of affordable clean energy sources</a:t>
          </a:r>
        </a:p>
      </dsp:txBody>
      <dsp:txXfrm>
        <a:off x="5250486" y="936090"/>
        <a:ext cx="1559161" cy="1559161"/>
      </dsp:txXfrm>
    </dsp:sp>
    <dsp:sp modelId="{93E41E07-7B81-43A5-80DC-1CD20842FC8E}">
      <dsp:nvSpPr>
        <dsp:cNvPr id="0" name=""/>
        <dsp:cNvSpPr/>
      </dsp:nvSpPr>
      <dsp:spPr>
        <a:xfrm rot="5400000">
          <a:off x="6911495" y="290264"/>
          <a:ext cx="2204987" cy="2204987"/>
        </a:xfrm>
        <a:prstGeom prst="pieWedge">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dirty="0"/>
            <a:t>Promote economic activities and alternate livelihood</a:t>
          </a:r>
        </a:p>
      </dsp:txBody>
      <dsp:txXfrm rot="-5400000">
        <a:off x="6911495" y="936090"/>
        <a:ext cx="1559161" cy="1559161"/>
      </dsp:txXfrm>
    </dsp:sp>
    <dsp:sp modelId="{F53EEA81-6CE3-4DD9-AC07-0BE03CE99901}">
      <dsp:nvSpPr>
        <dsp:cNvPr id="0" name=""/>
        <dsp:cNvSpPr/>
      </dsp:nvSpPr>
      <dsp:spPr>
        <a:xfrm rot="10800000">
          <a:off x="6911495" y="2597099"/>
          <a:ext cx="2204987" cy="2204987"/>
        </a:xfrm>
        <a:prstGeom prst="pieWedge">
          <a:avLst/>
        </a:prstGeom>
        <a:solidFill>
          <a:schemeClr val="tx1">
            <a:lumMod val="75000"/>
            <a:lumOff val="2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dirty="0"/>
            <a:t>Create employment and sustainable development </a:t>
          </a:r>
        </a:p>
      </dsp:txBody>
      <dsp:txXfrm rot="10800000">
        <a:off x="6911495" y="2597099"/>
        <a:ext cx="1559161" cy="1559161"/>
      </dsp:txXfrm>
    </dsp:sp>
    <dsp:sp modelId="{7862E6BF-CFBD-4CF5-9312-4CC33C11F29F}">
      <dsp:nvSpPr>
        <dsp:cNvPr id="0" name=""/>
        <dsp:cNvSpPr/>
      </dsp:nvSpPr>
      <dsp:spPr>
        <a:xfrm rot="16200000">
          <a:off x="4604660" y="2597099"/>
          <a:ext cx="2204987" cy="2204987"/>
        </a:xfrm>
        <a:prstGeom prst="pieWedge">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dirty="0"/>
            <a:t>Transition towards a Carbon Neutral future</a:t>
          </a:r>
        </a:p>
      </dsp:txBody>
      <dsp:txXfrm rot="5400000">
        <a:off x="5250486" y="2597099"/>
        <a:ext cx="1559161" cy="1559161"/>
      </dsp:txXfrm>
    </dsp:sp>
    <dsp:sp modelId="{D831D7DB-CD1A-4865-AE43-818A4E329120}">
      <dsp:nvSpPr>
        <dsp:cNvPr id="0" name=""/>
        <dsp:cNvSpPr/>
      </dsp:nvSpPr>
      <dsp:spPr>
        <a:xfrm>
          <a:off x="6479918" y="2087863"/>
          <a:ext cx="761306" cy="662005"/>
        </a:xfrm>
        <a:prstGeom prst="circular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C9A467B-0685-45F2-A327-E17CE97FE451}">
      <dsp:nvSpPr>
        <dsp:cNvPr id="0" name=""/>
        <dsp:cNvSpPr/>
      </dsp:nvSpPr>
      <dsp:spPr>
        <a:xfrm rot="10800000">
          <a:off x="6479918" y="2342481"/>
          <a:ext cx="761306" cy="662005"/>
        </a:xfrm>
        <a:prstGeom prst="circular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83197F-CF02-4088-A3F2-B31DAC2C568F}">
      <dsp:nvSpPr>
        <dsp:cNvPr id="0" name=""/>
        <dsp:cNvSpPr/>
      </dsp:nvSpPr>
      <dsp:spPr>
        <a:xfrm>
          <a:off x="516778" y="-136913"/>
          <a:ext cx="10464209" cy="1523431"/>
        </a:xfrm>
        <a:prstGeom prst="rightArrow">
          <a:avLst>
            <a:gd name="adj1" fmla="val 50000"/>
            <a:gd name="adj2" fmla="val 50000"/>
          </a:avLst>
        </a:prstGeom>
        <a:solidFill>
          <a:schemeClr val="accent6">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254000" bIns="241845" numCol="1" spcCol="1270" anchor="ctr" anchorCtr="0">
          <a:noAutofit/>
        </a:bodyPr>
        <a:lstStyle/>
        <a:p>
          <a:pPr marL="0" lvl="0" indent="0" algn="l" defTabSz="1289050">
            <a:lnSpc>
              <a:spcPct val="90000"/>
            </a:lnSpc>
            <a:spcBef>
              <a:spcPct val="0"/>
            </a:spcBef>
            <a:spcAft>
              <a:spcPct val="35000"/>
            </a:spcAft>
            <a:buNone/>
          </a:pPr>
          <a:r>
            <a:rPr lang="en-US" sz="2900" b="1" kern="1200" dirty="0"/>
            <a:t>Option 1*</a:t>
          </a:r>
        </a:p>
      </dsp:txBody>
      <dsp:txXfrm>
        <a:off x="516778" y="243945"/>
        <a:ext cx="10083351" cy="761715"/>
      </dsp:txXfrm>
    </dsp:sp>
    <dsp:sp modelId="{B8A0D8E7-FC30-42BC-92B8-2E318C4DD6EF}">
      <dsp:nvSpPr>
        <dsp:cNvPr id="0" name=""/>
        <dsp:cNvSpPr/>
      </dsp:nvSpPr>
      <dsp:spPr>
        <a:xfrm>
          <a:off x="516778" y="1040357"/>
          <a:ext cx="2412000" cy="2817889"/>
        </a:xfrm>
        <a:prstGeom prst="rect">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231775" lvl="0" indent="0" algn="just" defTabSz="466725">
            <a:lnSpc>
              <a:spcPct val="90000"/>
            </a:lnSpc>
            <a:spcBef>
              <a:spcPct val="0"/>
            </a:spcBef>
            <a:spcAft>
              <a:spcPct val="35000"/>
            </a:spcAft>
            <a:buFont typeface="Wingdings" panose="05000000000000000000" pitchFamily="2" charset="2"/>
            <a:buNone/>
          </a:pPr>
          <a:r>
            <a:rPr lang="en-US" sz="1050" b="1" kern="1200" dirty="0"/>
            <a:t>MNRE grant</a:t>
          </a:r>
          <a:r>
            <a:rPr lang="en-US" sz="1050" kern="1200" dirty="0"/>
            <a:t> under the ‘Scheme for Development of Solar Parks and Ultra Mega Solar Power Projects’</a:t>
          </a:r>
        </a:p>
        <a:p>
          <a:pPr marL="231775" lvl="0" indent="0" algn="just" defTabSz="466725">
            <a:lnSpc>
              <a:spcPct val="90000"/>
            </a:lnSpc>
            <a:spcBef>
              <a:spcPct val="0"/>
            </a:spcBef>
            <a:spcAft>
              <a:spcPct val="35000"/>
            </a:spcAft>
            <a:buNone/>
          </a:pPr>
          <a:endParaRPr lang="en-US" sz="1050" kern="1200" dirty="0"/>
        </a:p>
        <a:p>
          <a:pPr marL="231775" lvl="0" indent="0" algn="just" defTabSz="466725">
            <a:lnSpc>
              <a:spcPct val="90000"/>
            </a:lnSpc>
            <a:spcBef>
              <a:spcPct val="0"/>
            </a:spcBef>
            <a:spcAft>
              <a:spcPct val="35000"/>
            </a:spcAft>
            <a:buNone/>
          </a:pPr>
          <a:r>
            <a:rPr lang="en-US" sz="1050" kern="1200" dirty="0"/>
            <a:t>The </a:t>
          </a:r>
          <a:r>
            <a:rPr lang="en-US" sz="1050" b="1" kern="1200" dirty="0"/>
            <a:t>grant sought</a:t>
          </a:r>
          <a:r>
            <a:rPr lang="en-US" sz="1050" kern="1200" dirty="0"/>
            <a:t> would be up to </a:t>
          </a:r>
          <a:r>
            <a:rPr lang="en-US" sz="1050" b="1" kern="1200" dirty="0"/>
            <a:t>Rs.20 lakhs per MW</a:t>
          </a:r>
          <a:r>
            <a:rPr lang="en-US" sz="1050" kern="1200" dirty="0"/>
            <a:t> for Solar Power Park Developer (SPPD) </a:t>
          </a:r>
          <a:r>
            <a:rPr lang="en-US" sz="1050" b="1" kern="1200" dirty="0"/>
            <a:t>or 30% of the project cost.</a:t>
          </a:r>
        </a:p>
        <a:p>
          <a:pPr marL="231775" lvl="0" indent="0" algn="just" defTabSz="466725">
            <a:lnSpc>
              <a:spcPct val="90000"/>
            </a:lnSpc>
            <a:spcBef>
              <a:spcPct val="0"/>
            </a:spcBef>
            <a:spcAft>
              <a:spcPct val="35000"/>
            </a:spcAft>
            <a:buNone/>
          </a:pPr>
          <a:endParaRPr lang="en-US" sz="1050" kern="1200" dirty="0"/>
        </a:p>
        <a:p>
          <a:pPr marL="231775" lvl="0" indent="0" algn="just" defTabSz="466725">
            <a:lnSpc>
              <a:spcPct val="90000"/>
            </a:lnSpc>
            <a:spcBef>
              <a:spcPct val="0"/>
            </a:spcBef>
            <a:spcAft>
              <a:spcPct val="35000"/>
            </a:spcAft>
            <a:buNone/>
          </a:pPr>
          <a:r>
            <a:rPr lang="en-US" sz="1050" kern="1200" dirty="0"/>
            <a:t>The </a:t>
          </a:r>
          <a:r>
            <a:rPr lang="en-US" sz="1050" b="1" kern="1200" dirty="0"/>
            <a:t>remaining Capex shall be funded through</a:t>
          </a:r>
          <a:r>
            <a:rPr lang="en-US" sz="1050" kern="1200" dirty="0"/>
            <a:t> a combination of contribution from solar project developers, multilateral funding, PFC and IREDA, </a:t>
          </a:r>
        </a:p>
        <a:p>
          <a:pPr marL="231775" lvl="0" indent="0" algn="just" defTabSz="466725">
            <a:lnSpc>
              <a:spcPct val="90000"/>
            </a:lnSpc>
            <a:spcBef>
              <a:spcPct val="0"/>
            </a:spcBef>
            <a:spcAft>
              <a:spcPct val="35000"/>
            </a:spcAft>
            <a:buNone/>
          </a:pPr>
          <a:endParaRPr lang="en-US" sz="1050" kern="1200" dirty="0"/>
        </a:p>
        <a:p>
          <a:pPr marL="231775" lvl="0" indent="0" algn="just" defTabSz="466725">
            <a:lnSpc>
              <a:spcPct val="90000"/>
            </a:lnSpc>
            <a:spcBef>
              <a:spcPct val="0"/>
            </a:spcBef>
            <a:spcAft>
              <a:spcPct val="35000"/>
            </a:spcAft>
            <a:buNone/>
          </a:pPr>
          <a:r>
            <a:rPr lang="en-US" sz="1050" kern="1200" dirty="0"/>
            <a:t>25 Lakh support will be provided by MNRE for DPR Preparation. </a:t>
          </a:r>
        </a:p>
      </dsp:txBody>
      <dsp:txXfrm>
        <a:off x="516778" y="1040357"/>
        <a:ext cx="2412000" cy="2817889"/>
      </dsp:txXfrm>
    </dsp:sp>
    <dsp:sp modelId="{DF8ED0BF-8B9A-4D4D-AA09-E98AB06CDE6B}">
      <dsp:nvSpPr>
        <dsp:cNvPr id="0" name=""/>
        <dsp:cNvSpPr/>
      </dsp:nvSpPr>
      <dsp:spPr>
        <a:xfrm>
          <a:off x="2928779" y="370717"/>
          <a:ext cx="8052208" cy="1523431"/>
        </a:xfrm>
        <a:prstGeom prst="rightArrow">
          <a:avLst>
            <a:gd name="adj1" fmla="val 50000"/>
            <a:gd name="adj2" fmla="val 50000"/>
          </a:avLst>
        </a:prstGeom>
        <a:solidFill>
          <a:schemeClr val="tx1">
            <a:lumMod val="75000"/>
            <a:lumOff val="2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254000" bIns="241845" numCol="1" spcCol="1270" anchor="ctr" anchorCtr="0">
          <a:noAutofit/>
        </a:bodyPr>
        <a:lstStyle/>
        <a:p>
          <a:pPr marL="0" lvl="0" indent="0" algn="l" defTabSz="1289050">
            <a:lnSpc>
              <a:spcPct val="90000"/>
            </a:lnSpc>
            <a:spcBef>
              <a:spcPct val="0"/>
            </a:spcBef>
            <a:spcAft>
              <a:spcPct val="35000"/>
            </a:spcAft>
            <a:buNone/>
          </a:pPr>
          <a:r>
            <a:rPr lang="en-US" sz="2900" b="1" kern="1200" dirty="0"/>
            <a:t>Option 2</a:t>
          </a:r>
        </a:p>
      </dsp:txBody>
      <dsp:txXfrm>
        <a:off x="2928779" y="751575"/>
        <a:ext cx="7671350" cy="761715"/>
      </dsp:txXfrm>
    </dsp:sp>
    <dsp:sp modelId="{D0FDD6B0-79D5-4D66-A10B-5E2AE85C698C}">
      <dsp:nvSpPr>
        <dsp:cNvPr id="0" name=""/>
        <dsp:cNvSpPr/>
      </dsp:nvSpPr>
      <dsp:spPr>
        <a:xfrm>
          <a:off x="2954322" y="1526719"/>
          <a:ext cx="2412000" cy="3444801"/>
        </a:xfrm>
        <a:prstGeom prst="rect">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230188" lvl="0" indent="0" algn="just" defTabSz="466725">
            <a:lnSpc>
              <a:spcPct val="90000"/>
            </a:lnSpc>
            <a:spcBef>
              <a:spcPct val="0"/>
            </a:spcBef>
            <a:spcAft>
              <a:spcPct val="35000"/>
            </a:spcAft>
            <a:buNone/>
          </a:pPr>
          <a:r>
            <a:rPr lang="en-US" sz="1050" kern="1200" dirty="0"/>
            <a:t>As per the policy, these solar parks will be developed </a:t>
          </a:r>
          <a:r>
            <a:rPr lang="en-US" sz="1050" b="1" kern="1200" dirty="0"/>
            <a:t>in collaboration with the State Governments.</a:t>
          </a:r>
        </a:p>
        <a:p>
          <a:pPr marL="230188" lvl="0" indent="0" algn="just" defTabSz="466725">
            <a:lnSpc>
              <a:spcPct val="90000"/>
            </a:lnSpc>
            <a:spcBef>
              <a:spcPct val="0"/>
            </a:spcBef>
            <a:spcAft>
              <a:spcPct val="35000"/>
            </a:spcAft>
            <a:buNone/>
          </a:pPr>
          <a:r>
            <a:rPr lang="en-US" sz="1050" kern="1200" dirty="0"/>
            <a:t>The </a:t>
          </a:r>
          <a:r>
            <a:rPr lang="en-US" sz="1050" b="1" kern="1200" dirty="0"/>
            <a:t>implementation agency would be Solar Energy Corporation of India (SECI) </a:t>
          </a:r>
          <a:r>
            <a:rPr lang="en-US" sz="1050" kern="1200" dirty="0"/>
            <a:t>on behalf of Government of India (GOI). SECI will handle funds to be made available under the scheme on behalf of GOI</a:t>
          </a:r>
        </a:p>
        <a:p>
          <a:pPr marL="230188" lvl="0" indent="0" algn="just" defTabSz="466725">
            <a:lnSpc>
              <a:spcPct val="90000"/>
            </a:lnSpc>
            <a:spcBef>
              <a:spcPct val="0"/>
            </a:spcBef>
            <a:spcAft>
              <a:spcPct val="35000"/>
            </a:spcAft>
            <a:buNone/>
          </a:pPr>
          <a:endParaRPr lang="en-US" sz="1050" kern="1200" dirty="0"/>
        </a:p>
        <a:p>
          <a:pPr marL="230188" lvl="0" indent="0" algn="just" defTabSz="466725">
            <a:lnSpc>
              <a:spcPct val="90000"/>
            </a:lnSpc>
            <a:spcBef>
              <a:spcPct val="0"/>
            </a:spcBef>
            <a:spcAft>
              <a:spcPct val="35000"/>
            </a:spcAft>
            <a:buNone/>
          </a:pPr>
          <a:r>
            <a:rPr lang="en-IN" sz="1050" kern="1200" dirty="0"/>
            <a:t>SECI will act as Nodal Agency on behalf of MNRE, </a:t>
          </a:r>
          <a:r>
            <a:rPr lang="en-IN" sz="1050" b="1" kern="1200" dirty="0" err="1"/>
            <a:t>GoI</a:t>
          </a:r>
          <a:r>
            <a:rPr lang="en-IN" sz="1050" b="1" kern="1200" dirty="0"/>
            <a:t> to administer the scheme and funds will be routed through SECI </a:t>
          </a:r>
          <a:r>
            <a:rPr lang="en-IN" sz="1050" kern="1200" dirty="0"/>
            <a:t>and designated agency of the State government will act as Solar Power Park Developer .</a:t>
          </a:r>
        </a:p>
        <a:p>
          <a:pPr marL="230188" lvl="0" indent="0" algn="just" defTabSz="466725">
            <a:lnSpc>
              <a:spcPct val="90000"/>
            </a:lnSpc>
            <a:spcBef>
              <a:spcPct val="0"/>
            </a:spcBef>
            <a:spcAft>
              <a:spcPct val="35000"/>
            </a:spcAft>
            <a:buNone/>
          </a:pPr>
          <a:endParaRPr lang="en-IN" sz="1050" kern="1200" dirty="0"/>
        </a:p>
        <a:p>
          <a:pPr marL="230188" lvl="0" indent="0" algn="just" defTabSz="466725">
            <a:lnSpc>
              <a:spcPct val="90000"/>
            </a:lnSpc>
            <a:spcBef>
              <a:spcPct val="0"/>
            </a:spcBef>
            <a:spcAft>
              <a:spcPct val="35000"/>
            </a:spcAft>
            <a:buNone/>
          </a:pPr>
          <a:r>
            <a:rPr lang="en-IN" sz="1050" kern="1200" dirty="0"/>
            <a:t>The </a:t>
          </a:r>
          <a:r>
            <a:rPr lang="en-IN" sz="1050" b="1" kern="1200" dirty="0"/>
            <a:t>SPPD may arrange fund for developing the proposed solar park from own sources </a:t>
          </a:r>
          <a:r>
            <a:rPr lang="en-IN" sz="1050" kern="1200" dirty="0"/>
            <a:t>by way of loan and equity.</a:t>
          </a:r>
        </a:p>
      </dsp:txBody>
      <dsp:txXfrm>
        <a:off x="2954322" y="1526719"/>
        <a:ext cx="2412000" cy="3444801"/>
      </dsp:txXfrm>
    </dsp:sp>
    <dsp:sp modelId="{ED3777B1-EE07-411C-9996-DD790592F5CD}">
      <dsp:nvSpPr>
        <dsp:cNvPr id="0" name=""/>
        <dsp:cNvSpPr/>
      </dsp:nvSpPr>
      <dsp:spPr>
        <a:xfrm>
          <a:off x="5383024" y="878347"/>
          <a:ext cx="5640208" cy="1523431"/>
        </a:xfrm>
        <a:prstGeom prst="rightArrow">
          <a:avLst>
            <a:gd name="adj1" fmla="val 50000"/>
            <a:gd name="adj2" fmla="val 50000"/>
          </a:avLst>
        </a:prstGeom>
        <a:solidFill>
          <a:schemeClr val="bg2">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254000" bIns="241845" numCol="1" spcCol="1270" anchor="ctr" anchorCtr="0">
          <a:noAutofit/>
        </a:bodyPr>
        <a:lstStyle/>
        <a:p>
          <a:pPr marL="0" lvl="0" indent="0" algn="l" defTabSz="1289050">
            <a:lnSpc>
              <a:spcPct val="90000"/>
            </a:lnSpc>
            <a:spcBef>
              <a:spcPct val="0"/>
            </a:spcBef>
            <a:spcAft>
              <a:spcPct val="35000"/>
            </a:spcAft>
            <a:buNone/>
          </a:pPr>
          <a:r>
            <a:rPr lang="en-US" sz="2900" b="1" kern="1200" dirty="0">
              <a:solidFill>
                <a:schemeClr val="tx1"/>
              </a:solidFill>
            </a:rPr>
            <a:t>Option 3</a:t>
          </a:r>
        </a:p>
      </dsp:txBody>
      <dsp:txXfrm>
        <a:off x="5383024" y="1259205"/>
        <a:ext cx="5259350" cy="761715"/>
      </dsp:txXfrm>
    </dsp:sp>
    <dsp:sp modelId="{51BC0585-8F3C-4845-97F1-D5612B108E4D}">
      <dsp:nvSpPr>
        <dsp:cNvPr id="0" name=""/>
        <dsp:cNvSpPr/>
      </dsp:nvSpPr>
      <dsp:spPr>
        <a:xfrm>
          <a:off x="5392685" y="2043206"/>
          <a:ext cx="2412000" cy="3281429"/>
        </a:xfrm>
        <a:prstGeom prst="rect">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342900" lvl="0" indent="0" algn="just" defTabSz="466725">
            <a:lnSpc>
              <a:spcPct val="90000"/>
            </a:lnSpc>
            <a:spcBef>
              <a:spcPct val="0"/>
            </a:spcBef>
            <a:spcAft>
              <a:spcPct val="35000"/>
            </a:spcAft>
            <a:buNone/>
          </a:pPr>
          <a:r>
            <a:rPr lang="en-US" sz="1050" kern="1200" dirty="0"/>
            <a:t>The proposed 1200 MW Solar Power would be </a:t>
          </a:r>
          <a:r>
            <a:rPr lang="en-US" sz="1050" b="1" kern="1200" dirty="0"/>
            <a:t>developed in 24 no of blocks of 50 MW capacities.</a:t>
          </a:r>
        </a:p>
        <a:p>
          <a:pPr marL="342900" lvl="0" indent="0" algn="just" defTabSz="466725">
            <a:lnSpc>
              <a:spcPct val="90000"/>
            </a:lnSpc>
            <a:spcBef>
              <a:spcPct val="0"/>
            </a:spcBef>
            <a:spcAft>
              <a:spcPct val="35000"/>
            </a:spcAft>
            <a:buNone/>
          </a:pPr>
          <a:endParaRPr lang="en-US" sz="1050" kern="1200" dirty="0"/>
        </a:p>
        <a:p>
          <a:pPr marL="342900" lvl="0" indent="0" algn="just" defTabSz="466725">
            <a:lnSpc>
              <a:spcPct val="90000"/>
            </a:lnSpc>
            <a:spcBef>
              <a:spcPct val="0"/>
            </a:spcBef>
            <a:spcAft>
              <a:spcPct val="35000"/>
            </a:spcAft>
            <a:buNone/>
          </a:pPr>
          <a:r>
            <a:rPr lang="en-US" sz="1050" kern="1200" dirty="0"/>
            <a:t>Each 50 MW Solar Power capacity block, </a:t>
          </a:r>
          <a:r>
            <a:rPr lang="en-US" sz="1050" b="1" kern="1200" dirty="0"/>
            <a:t>one pooling substation of 33/ 132 kV is proposed </a:t>
          </a:r>
          <a:r>
            <a:rPr lang="en-US" sz="1050" kern="1200" dirty="0"/>
            <a:t>and may be developed through developer mode by </a:t>
          </a:r>
          <a:r>
            <a:rPr lang="en-US" sz="1050" b="1" kern="1200" dirty="0"/>
            <a:t>competitive bidding process. The bidding will be done by state nodal agency.</a:t>
          </a:r>
        </a:p>
        <a:p>
          <a:pPr marL="342900" lvl="0" indent="0" algn="just" defTabSz="466725">
            <a:lnSpc>
              <a:spcPct val="90000"/>
            </a:lnSpc>
            <a:spcBef>
              <a:spcPct val="0"/>
            </a:spcBef>
            <a:spcAft>
              <a:spcPct val="35000"/>
            </a:spcAft>
            <a:buNone/>
          </a:pPr>
          <a:endParaRPr lang="en-US" sz="1050" kern="1200" dirty="0"/>
        </a:p>
        <a:p>
          <a:pPr marL="342900" lvl="0" indent="0" algn="just" defTabSz="466725">
            <a:lnSpc>
              <a:spcPct val="90000"/>
            </a:lnSpc>
            <a:spcBef>
              <a:spcPct val="0"/>
            </a:spcBef>
            <a:spcAft>
              <a:spcPct val="35000"/>
            </a:spcAft>
            <a:buNone/>
          </a:pPr>
          <a:r>
            <a:rPr lang="en-US" sz="1050" kern="1200" dirty="0"/>
            <a:t> The plant supporting Infrastructure will be developed through </a:t>
          </a:r>
          <a:r>
            <a:rPr lang="en-US" sz="1050" b="1" kern="1200" dirty="0"/>
            <a:t>CAPEX investment by Govt. of West Bengal</a:t>
          </a:r>
          <a:r>
            <a:rPr lang="en-US" sz="1050" kern="1200" dirty="0"/>
            <a:t>.</a:t>
          </a:r>
        </a:p>
        <a:p>
          <a:pPr marL="342900" lvl="0" indent="0" algn="just" defTabSz="466725">
            <a:lnSpc>
              <a:spcPct val="90000"/>
            </a:lnSpc>
            <a:spcBef>
              <a:spcPct val="0"/>
            </a:spcBef>
            <a:spcAft>
              <a:spcPct val="35000"/>
            </a:spcAft>
            <a:buNone/>
          </a:pPr>
          <a:r>
            <a:rPr lang="en-US" sz="1050" kern="1200" dirty="0"/>
            <a:t>Capex shall be funded through a </a:t>
          </a:r>
          <a:r>
            <a:rPr lang="en-US" sz="1050" b="1" kern="1200" dirty="0"/>
            <a:t>combination of contribution from multilateral funding, PFC, IREDA</a:t>
          </a:r>
          <a:r>
            <a:rPr lang="en-US" sz="1050" kern="1200" dirty="0"/>
            <a:t> </a:t>
          </a:r>
          <a:r>
            <a:rPr lang="en-US" sz="1050" kern="1200" dirty="0" err="1"/>
            <a:t>etc</a:t>
          </a:r>
          <a:endParaRPr lang="en-US" sz="1050" kern="1200" dirty="0"/>
        </a:p>
      </dsp:txBody>
      <dsp:txXfrm>
        <a:off x="5392685" y="2043206"/>
        <a:ext cx="2412000" cy="3281429"/>
      </dsp:txXfrm>
    </dsp:sp>
    <dsp:sp modelId="{04A25DE0-5FC9-44A9-825C-187B491F5A84}">
      <dsp:nvSpPr>
        <dsp:cNvPr id="0" name=""/>
        <dsp:cNvSpPr/>
      </dsp:nvSpPr>
      <dsp:spPr>
        <a:xfrm>
          <a:off x="7860182" y="1233513"/>
          <a:ext cx="3228208" cy="1523431"/>
        </a:xfrm>
        <a:prstGeom prst="rightArrow">
          <a:avLst>
            <a:gd name="adj1" fmla="val 50000"/>
            <a:gd name="adj2" fmla="val 50000"/>
          </a:avLst>
        </a:prstGeom>
        <a:solidFill>
          <a:schemeClr val="bg2"/>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254000" bIns="241845" numCol="1" spcCol="1270" anchor="ctr" anchorCtr="0">
          <a:noAutofit/>
        </a:bodyPr>
        <a:lstStyle/>
        <a:p>
          <a:pPr marL="0" lvl="0" indent="0" algn="l" defTabSz="1289050">
            <a:lnSpc>
              <a:spcPct val="90000"/>
            </a:lnSpc>
            <a:spcBef>
              <a:spcPct val="0"/>
            </a:spcBef>
            <a:spcAft>
              <a:spcPct val="35000"/>
            </a:spcAft>
            <a:buNone/>
          </a:pPr>
          <a:r>
            <a:rPr lang="en-US" sz="2900" b="1" kern="1200" dirty="0">
              <a:solidFill>
                <a:schemeClr val="tx1"/>
              </a:solidFill>
            </a:rPr>
            <a:t>Option 4</a:t>
          </a:r>
        </a:p>
      </dsp:txBody>
      <dsp:txXfrm>
        <a:off x="7860182" y="1614371"/>
        <a:ext cx="2847350" cy="761715"/>
      </dsp:txXfrm>
    </dsp:sp>
    <dsp:sp modelId="{60F163B3-7A1C-4A4B-AF6A-D36C548AF926}">
      <dsp:nvSpPr>
        <dsp:cNvPr id="0" name=""/>
        <dsp:cNvSpPr/>
      </dsp:nvSpPr>
      <dsp:spPr>
        <a:xfrm>
          <a:off x="7859314" y="2191858"/>
          <a:ext cx="2514247" cy="3539609"/>
        </a:xfrm>
        <a:prstGeom prst="rect">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231775" lvl="0" indent="0" algn="just" defTabSz="466725">
            <a:lnSpc>
              <a:spcPct val="90000"/>
            </a:lnSpc>
            <a:spcBef>
              <a:spcPct val="0"/>
            </a:spcBef>
            <a:spcAft>
              <a:spcPct val="35000"/>
            </a:spcAft>
            <a:buNone/>
          </a:pPr>
          <a:r>
            <a:rPr lang="en-US" sz="1050" b="1" kern="1200" dirty="0"/>
            <a:t>Developers will be involved in an PPP basis</a:t>
          </a:r>
          <a:r>
            <a:rPr lang="en-US" sz="1050" kern="1200" dirty="0"/>
            <a:t> by Renewable Energy Service Company (RESCO) Model for Solar Power Generation.</a:t>
          </a:r>
        </a:p>
        <a:p>
          <a:pPr marL="231775" lvl="0" indent="0" algn="just" defTabSz="466725">
            <a:lnSpc>
              <a:spcPct val="90000"/>
            </a:lnSpc>
            <a:spcBef>
              <a:spcPct val="0"/>
            </a:spcBef>
            <a:spcAft>
              <a:spcPct val="35000"/>
            </a:spcAft>
            <a:buNone/>
          </a:pPr>
          <a:endParaRPr lang="en-US" sz="1050" kern="1200" dirty="0"/>
        </a:p>
        <a:p>
          <a:pPr marL="231775" lvl="0" indent="0" algn="just" defTabSz="466725">
            <a:lnSpc>
              <a:spcPct val="90000"/>
            </a:lnSpc>
            <a:spcBef>
              <a:spcPct val="0"/>
            </a:spcBef>
            <a:spcAft>
              <a:spcPct val="35000"/>
            </a:spcAft>
            <a:buNone/>
          </a:pPr>
          <a:r>
            <a:rPr lang="en-US" sz="1050" b="1" kern="1200" dirty="0"/>
            <a:t>State Govt. will provide land and power evacuation infrastructure</a:t>
          </a:r>
          <a:r>
            <a:rPr lang="en-US" sz="1050" kern="1200" dirty="0"/>
            <a:t> through a lease agreement for 25 Years </a:t>
          </a:r>
        </a:p>
        <a:p>
          <a:pPr marL="231775" lvl="0" indent="0" algn="just" defTabSz="466725">
            <a:lnSpc>
              <a:spcPct val="90000"/>
            </a:lnSpc>
            <a:spcBef>
              <a:spcPct val="0"/>
            </a:spcBef>
            <a:spcAft>
              <a:spcPct val="35000"/>
            </a:spcAft>
            <a:buNone/>
          </a:pPr>
          <a:endParaRPr lang="en-US" sz="1050" kern="1200" dirty="0"/>
        </a:p>
        <a:p>
          <a:pPr marL="231775" lvl="0" indent="0" algn="just" defTabSz="466725">
            <a:lnSpc>
              <a:spcPct val="90000"/>
            </a:lnSpc>
            <a:spcBef>
              <a:spcPct val="0"/>
            </a:spcBef>
            <a:spcAft>
              <a:spcPct val="35000"/>
            </a:spcAft>
            <a:buNone/>
          </a:pPr>
          <a:r>
            <a:rPr lang="en-US" sz="1050" b="1" kern="1200" dirty="0"/>
            <a:t>Nodal agency selected by the State Govt</a:t>
          </a:r>
          <a:r>
            <a:rPr lang="en-US" sz="1050" kern="1200" dirty="0"/>
            <a:t>. will engage private developer through Tender </a:t>
          </a:r>
          <a:r>
            <a:rPr lang="en-US" sz="1050" b="1" kern="1200" dirty="0"/>
            <a:t>on RESCO model</a:t>
          </a:r>
          <a:r>
            <a:rPr lang="en-US" sz="1050" kern="1200" dirty="0"/>
            <a:t> </a:t>
          </a:r>
        </a:p>
        <a:p>
          <a:pPr marL="231775" lvl="0" indent="0" algn="just" defTabSz="466725">
            <a:lnSpc>
              <a:spcPct val="90000"/>
            </a:lnSpc>
            <a:spcBef>
              <a:spcPct val="0"/>
            </a:spcBef>
            <a:spcAft>
              <a:spcPct val="35000"/>
            </a:spcAft>
            <a:buNone/>
          </a:pPr>
          <a:endParaRPr lang="en-US" sz="1050" kern="1200" dirty="0"/>
        </a:p>
        <a:p>
          <a:pPr marL="231775" lvl="0" indent="0" algn="just" defTabSz="466725">
            <a:lnSpc>
              <a:spcPct val="90000"/>
            </a:lnSpc>
            <a:spcBef>
              <a:spcPct val="0"/>
            </a:spcBef>
            <a:spcAft>
              <a:spcPct val="35000"/>
            </a:spcAft>
            <a:buNone/>
          </a:pPr>
          <a:r>
            <a:rPr lang="en-US" sz="1050" kern="1200" dirty="0"/>
            <a:t>Energy generated </a:t>
          </a:r>
          <a:r>
            <a:rPr lang="en-US" sz="1050" b="1" kern="1200" dirty="0"/>
            <a:t>may be transferred to the grid</a:t>
          </a:r>
          <a:r>
            <a:rPr lang="en-US" sz="1050" kern="1200" dirty="0"/>
            <a:t> and / </a:t>
          </a:r>
          <a:r>
            <a:rPr lang="en-US" sz="1050" b="1" kern="1200" dirty="0"/>
            <a:t>or may be allowed for consumption</a:t>
          </a:r>
          <a:r>
            <a:rPr lang="en-US" sz="1050" kern="1200" dirty="0"/>
            <a:t> by local residential and commercial units. </a:t>
          </a:r>
          <a:r>
            <a:rPr lang="en-US" sz="1050" b="1" kern="1200" dirty="0"/>
            <a:t>The developer will take up all infrastructure cost from the revenue received from state government.</a:t>
          </a:r>
        </a:p>
      </dsp:txBody>
      <dsp:txXfrm>
        <a:off x="7859314" y="2191858"/>
        <a:ext cx="2514247" cy="353960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3C0C13-A697-4435-9164-FDAA383410EB}">
      <dsp:nvSpPr>
        <dsp:cNvPr id="0" name=""/>
        <dsp:cNvSpPr/>
      </dsp:nvSpPr>
      <dsp:spPr>
        <a:xfrm rot="5400000">
          <a:off x="312998" y="2869484"/>
          <a:ext cx="649269" cy="1080370"/>
        </a:xfrm>
        <a:prstGeom prst="corner">
          <a:avLst>
            <a:gd name="adj1" fmla="val 16120"/>
            <a:gd name="adj2" fmla="val 16110"/>
          </a:avLst>
        </a:prstGeom>
        <a:solidFill>
          <a:schemeClr val="tx1">
            <a:lumMod val="75000"/>
            <a:lumOff val="25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6994594-F34C-4644-AEDB-79BC4F348261}">
      <dsp:nvSpPr>
        <dsp:cNvPr id="0" name=""/>
        <dsp:cNvSpPr/>
      </dsp:nvSpPr>
      <dsp:spPr>
        <a:xfrm>
          <a:off x="220834" y="3192282"/>
          <a:ext cx="1369655" cy="854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dirty="0">
              <a:latin typeface="Verdana" panose="020B0604030504040204" pitchFamily="34" charset="0"/>
              <a:ea typeface="Verdana" panose="020B0604030504040204" pitchFamily="34" charset="0"/>
            </a:rPr>
            <a:t>Taking back the Land</a:t>
          </a:r>
          <a:r>
            <a:rPr lang="en-US" sz="1100" kern="1200" dirty="0">
              <a:latin typeface="Verdana" panose="020B0604030504040204" pitchFamily="34" charset="0"/>
              <a:ea typeface="Verdana" panose="020B0604030504040204" pitchFamily="34" charset="0"/>
            </a:rPr>
            <a:t> at </a:t>
          </a:r>
          <a:r>
            <a:rPr lang="en-US" sz="1100" kern="1200" dirty="0" err="1">
              <a:latin typeface="Verdana" panose="020B0604030504040204" pitchFamily="34" charset="0"/>
              <a:ea typeface="Verdana" panose="020B0604030504040204" pitchFamily="34" charset="0"/>
            </a:rPr>
            <a:t>Nayachar</a:t>
          </a:r>
          <a:r>
            <a:rPr lang="en-US" sz="1100" kern="1200" dirty="0">
              <a:latin typeface="Verdana" panose="020B0604030504040204" pitchFamily="34" charset="0"/>
              <a:ea typeface="Verdana" panose="020B0604030504040204" pitchFamily="34" charset="0"/>
            </a:rPr>
            <a:t> Island leased out to the Universal Success (USE) Group by </a:t>
          </a:r>
          <a:r>
            <a:rPr lang="en-US" sz="1100" kern="1200" dirty="0" err="1">
              <a:latin typeface="Verdana" panose="020B0604030504040204" pitchFamily="34" charset="0"/>
              <a:ea typeface="Verdana" panose="020B0604030504040204" pitchFamily="34" charset="0"/>
            </a:rPr>
            <a:t>GoWB</a:t>
          </a:r>
          <a:r>
            <a:rPr lang="en-US" sz="1100" kern="1200" dirty="0">
              <a:latin typeface="Verdana" panose="020B0604030504040204" pitchFamily="34" charset="0"/>
              <a:ea typeface="Verdana" panose="020B0604030504040204" pitchFamily="34" charset="0"/>
            </a:rPr>
            <a:t> </a:t>
          </a:r>
          <a:r>
            <a:rPr lang="en-US" sz="1100" b="1" kern="1200" dirty="0">
              <a:latin typeface="Verdana" panose="020B0604030504040204" pitchFamily="34" charset="0"/>
              <a:ea typeface="Verdana" panose="020B0604030504040204" pitchFamily="34" charset="0"/>
            </a:rPr>
            <a:t>and subsequent action for transfer of the said land to the </a:t>
          </a:r>
          <a:r>
            <a:rPr lang="en-US" sz="1100" b="1" kern="1200" dirty="0" err="1">
              <a:latin typeface="Verdana" panose="020B0604030504040204" pitchFamily="34" charset="0"/>
              <a:ea typeface="Verdana" panose="020B0604030504040204" pitchFamily="34" charset="0"/>
            </a:rPr>
            <a:t>DoP</a:t>
          </a:r>
          <a:r>
            <a:rPr lang="en-US" sz="1100" b="1" kern="1200" dirty="0">
              <a:latin typeface="Verdana" panose="020B0604030504040204" pitchFamily="34" charset="0"/>
              <a:ea typeface="Verdana" panose="020B0604030504040204" pitchFamily="34" charset="0"/>
            </a:rPr>
            <a:t>, </a:t>
          </a:r>
          <a:r>
            <a:rPr lang="en-US" sz="1100" b="1" kern="1200" dirty="0" err="1">
              <a:latin typeface="Verdana" panose="020B0604030504040204" pitchFamily="34" charset="0"/>
              <a:ea typeface="Verdana" panose="020B0604030504040204" pitchFamily="34" charset="0"/>
            </a:rPr>
            <a:t>GoWB</a:t>
          </a:r>
          <a:r>
            <a:rPr lang="en-US" sz="1100" b="1" kern="1200" dirty="0">
              <a:latin typeface="Verdana" panose="020B0604030504040204" pitchFamily="34" charset="0"/>
              <a:ea typeface="Verdana" panose="020B0604030504040204" pitchFamily="34" charset="0"/>
            </a:rPr>
            <a:t>. </a:t>
          </a:r>
          <a:endParaRPr lang="en-US" sz="1600" b="1" kern="1200" dirty="0">
            <a:latin typeface="Verdana" panose="020B0604030504040204" pitchFamily="34" charset="0"/>
            <a:ea typeface="Verdana" panose="020B0604030504040204" pitchFamily="34" charset="0"/>
          </a:endParaRPr>
        </a:p>
      </dsp:txBody>
      <dsp:txXfrm>
        <a:off x="220834" y="3192282"/>
        <a:ext cx="1369655" cy="854963"/>
      </dsp:txXfrm>
    </dsp:sp>
    <dsp:sp modelId="{D85A67E5-3B0B-49F9-98F8-BA7273F4DBAB}">
      <dsp:nvSpPr>
        <dsp:cNvPr id="0" name=""/>
        <dsp:cNvSpPr/>
      </dsp:nvSpPr>
      <dsp:spPr>
        <a:xfrm>
          <a:off x="995952" y="2789946"/>
          <a:ext cx="184031" cy="184031"/>
        </a:xfrm>
        <a:prstGeom prst="triangle">
          <a:avLst>
            <a:gd name="adj" fmla="val 100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73B8D3C-66CB-4B24-9243-B216D4A47F09}">
      <dsp:nvSpPr>
        <dsp:cNvPr id="0" name=""/>
        <dsp:cNvSpPr/>
      </dsp:nvSpPr>
      <dsp:spPr>
        <a:xfrm rot="5400000">
          <a:off x="1704179" y="2574018"/>
          <a:ext cx="649269" cy="1080370"/>
        </a:xfrm>
        <a:prstGeom prst="corner">
          <a:avLst>
            <a:gd name="adj1" fmla="val 16120"/>
            <a:gd name="adj2" fmla="val 16110"/>
          </a:avLst>
        </a:prstGeom>
        <a:solidFill>
          <a:srgbClr val="00B050"/>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A660DE-5387-446F-8AD2-D5D2EC3392A9}">
      <dsp:nvSpPr>
        <dsp:cNvPr id="0" name=""/>
        <dsp:cNvSpPr/>
      </dsp:nvSpPr>
      <dsp:spPr>
        <a:xfrm>
          <a:off x="1595800" y="2896816"/>
          <a:ext cx="975364" cy="854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dirty="0">
              <a:latin typeface="Verdana" panose="020B0604030504040204" pitchFamily="34" charset="0"/>
              <a:ea typeface="Verdana" panose="020B0604030504040204" pitchFamily="34" charset="0"/>
            </a:rPr>
            <a:t>Survey and Investigation of the proposed area</a:t>
          </a:r>
          <a:r>
            <a:rPr lang="en-US" sz="1100" kern="1200" dirty="0">
              <a:latin typeface="Verdana" panose="020B0604030504040204" pitchFamily="34" charset="0"/>
              <a:ea typeface="Verdana" panose="020B0604030504040204" pitchFamily="34" charset="0"/>
            </a:rPr>
            <a:t> including soil stability assessment</a:t>
          </a:r>
        </a:p>
      </dsp:txBody>
      <dsp:txXfrm>
        <a:off x="1595800" y="2896816"/>
        <a:ext cx="975364" cy="854963"/>
      </dsp:txXfrm>
    </dsp:sp>
    <dsp:sp modelId="{CA966735-1F30-4EB9-B916-DF070245D0CF}">
      <dsp:nvSpPr>
        <dsp:cNvPr id="0" name=""/>
        <dsp:cNvSpPr/>
      </dsp:nvSpPr>
      <dsp:spPr>
        <a:xfrm>
          <a:off x="2387133" y="2494480"/>
          <a:ext cx="184031" cy="184031"/>
        </a:xfrm>
        <a:prstGeom prst="triangle">
          <a:avLst>
            <a:gd name="adj" fmla="val 100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3AEA45-5A75-4D92-9FFF-76A16B9F60D2}">
      <dsp:nvSpPr>
        <dsp:cNvPr id="0" name=""/>
        <dsp:cNvSpPr/>
      </dsp:nvSpPr>
      <dsp:spPr>
        <a:xfrm rot="5400000">
          <a:off x="3185336" y="2278553"/>
          <a:ext cx="649269" cy="1080370"/>
        </a:xfrm>
        <a:prstGeom prst="corner">
          <a:avLst>
            <a:gd name="adj1" fmla="val 16120"/>
            <a:gd name="adj2" fmla="val 16110"/>
          </a:avLst>
        </a:prstGeom>
        <a:solidFill>
          <a:schemeClr val="tx1">
            <a:lumMod val="75000"/>
            <a:lumOff val="25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CCC4AC-8770-4E18-B5C3-98D373E91834}">
      <dsp:nvSpPr>
        <dsp:cNvPr id="0" name=""/>
        <dsp:cNvSpPr/>
      </dsp:nvSpPr>
      <dsp:spPr>
        <a:xfrm>
          <a:off x="3076957" y="2601351"/>
          <a:ext cx="975364" cy="854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dirty="0">
              <a:latin typeface="Verdana" panose="020B0604030504040204" pitchFamily="34" charset="0"/>
              <a:ea typeface="Verdana" panose="020B0604030504040204" pitchFamily="34" charset="0"/>
            </a:rPr>
            <a:t>CRZ Mapping</a:t>
          </a:r>
          <a:r>
            <a:rPr lang="en-US" sz="1100" kern="1200" dirty="0">
              <a:latin typeface="Verdana" panose="020B0604030504040204" pitchFamily="34" charset="0"/>
              <a:ea typeface="Verdana" panose="020B0604030504040204" pitchFamily="34" charset="0"/>
            </a:rPr>
            <a:t> of the Area</a:t>
          </a:r>
        </a:p>
      </dsp:txBody>
      <dsp:txXfrm>
        <a:off x="3076957" y="2601351"/>
        <a:ext cx="975364" cy="854963"/>
      </dsp:txXfrm>
    </dsp:sp>
    <dsp:sp modelId="{0A82E749-88DD-4FBB-BDCE-CE4DC7F0C0DE}">
      <dsp:nvSpPr>
        <dsp:cNvPr id="0" name=""/>
        <dsp:cNvSpPr/>
      </dsp:nvSpPr>
      <dsp:spPr>
        <a:xfrm>
          <a:off x="3868290" y="2199015"/>
          <a:ext cx="184031" cy="184031"/>
        </a:xfrm>
        <a:prstGeom prst="triangle">
          <a:avLst>
            <a:gd name="adj" fmla="val 100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5FA654-C8B4-4BB6-B49F-4B16B59A318D}">
      <dsp:nvSpPr>
        <dsp:cNvPr id="0" name=""/>
        <dsp:cNvSpPr/>
      </dsp:nvSpPr>
      <dsp:spPr>
        <a:xfrm rot="5400000">
          <a:off x="4790029" y="1948265"/>
          <a:ext cx="649269" cy="1080370"/>
        </a:xfrm>
        <a:prstGeom prst="corner">
          <a:avLst>
            <a:gd name="adj1" fmla="val 16120"/>
            <a:gd name="adj2" fmla="val 16110"/>
          </a:avLst>
        </a:prstGeom>
        <a:solidFill>
          <a:srgbClr val="00B050"/>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7A0CE0B-84EA-444E-B4A4-0F21968CFE8F}">
      <dsp:nvSpPr>
        <dsp:cNvPr id="0" name=""/>
        <dsp:cNvSpPr/>
      </dsp:nvSpPr>
      <dsp:spPr>
        <a:xfrm>
          <a:off x="4664908" y="2236240"/>
          <a:ext cx="1436779" cy="9246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dirty="0">
              <a:latin typeface="Verdana" panose="020B0604030504040204" pitchFamily="34" charset="0"/>
              <a:ea typeface="Verdana" panose="020B0604030504040204" pitchFamily="34" charset="0"/>
            </a:rPr>
            <a:t>Preparation of DPR</a:t>
          </a:r>
          <a:r>
            <a:rPr lang="en-US" sz="1100" kern="1200" dirty="0">
              <a:latin typeface="Verdana" panose="020B0604030504040204" pitchFamily="34" charset="0"/>
              <a:ea typeface="Verdana" panose="020B0604030504040204" pitchFamily="34" charset="0"/>
            </a:rPr>
            <a:t> covering all related studies, preparation of Transmission Network plan, Project Master Plan, Cost Estimates and financial analysis to facilitate in decision making</a:t>
          </a:r>
        </a:p>
      </dsp:txBody>
      <dsp:txXfrm>
        <a:off x="4664908" y="2236240"/>
        <a:ext cx="1436779" cy="924609"/>
      </dsp:txXfrm>
    </dsp:sp>
    <dsp:sp modelId="{EAF3E0E8-A419-4785-944F-5FD7921E1DD9}">
      <dsp:nvSpPr>
        <dsp:cNvPr id="0" name=""/>
        <dsp:cNvSpPr/>
      </dsp:nvSpPr>
      <dsp:spPr>
        <a:xfrm>
          <a:off x="5472983" y="1868727"/>
          <a:ext cx="184031" cy="184031"/>
        </a:xfrm>
        <a:prstGeom prst="triangle">
          <a:avLst>
            <a:gd name="adj" fmla="val 100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23BD59-C2CB-459E-BCD1-F014BEB7DAA5}">
      <dsp:nvSpPr>
        <dsp:cNvPr id="0" name=""/>
        <dsp:cNvSpPr/>
      </dsp:nvSpPr>
      <dsp:spPr>
        <a:xfrm rot="5400000">
          <a:off x="6147649" y="1652799"/>
          <a:ext cx="649269" cy="1080370"/>
        </a:xfrm>
        <a:prstGeom prst="corner">
          <a:avLst>
            <a:gd name="adj1" fmla="val 16120"/>
            <a:gd name="adj2" fmla="val 16110"/>
          </a:avLst>
        </a:prstGeom>
        <a:solidFill>
          <a:schemeClr val="tx1">
            <a:lumMod val="75000"/>
            <a:lumOff val="25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5E8F87-46A1-407A-8480-A3E83A07BFBF}">
      <dsp:nvSpPr>
        <dsp:cNvPr id="0" name=""/>
        <dsp:cNvSpPr/>
      </dsp:nvSpPr>
      <dsp:spPr>
        <a:xfrm>
          <a:off x="6039270" y="1975597"/>
          <a:ext cx="975364" cy="854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dirty="0">
              <a:latin typeface="Verdana" panose="020B0604030504040204" pitchFamily="34" charset="0"/>
              <a:ea typeface="Verdana" panose="020B0604030504040204" pitchFamily="34" charset="0"/>
            </a:rPr>
            <a:t>Acquiring Statutory Clearances </a:t>
          </a:r>
          <a:r>
            <a:rPr lang="en-US" sz="1100" kern="1200" dirty="0">
              <a:latin typeface="Verdana" panose="020B0604030504040204" pitchFamily="34" charset="0"/>
              <a:ea typeface="Verdana" panose="020B0604030504040204" pitchFamily="34" charset="0"/>
            </a:rPr>
            <a:t>as mentioned in the above note. </a:t>
          </a:r>
        </a:p>
      </dsp:txBody>
      <dsp:txXfrm>
        <a:off x="6039270" y="1975597"/>
        <a:ext cx="975364" cy="854963"/>
      </dsp:txXfrm>
    </dsp:sp>
    <dsp:sp modelId="{135B3125-F534-4332-A588-EE94582FCEEF}">
      <dsp:nvSpPr>
        <dsp:cNvPr id="0" name=""/>
        <dsp:cNvSpPr/>
      </dsp:nvSpPr>
      <dsp:spPr>
        <a:xfrm>
          <a:off x="6830603" y="1573261"/>
          <a:ext cx="184031" cy="184031"/>
        </a:xfrm>
        <a:prstGeom prst="triangle">
          <a:avLst>
            <a:gd name="adj" fmla="val 100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BC37E3-5FC9-4642-A463-DCCE354A3065}">
      <dsp:nvSpPr>
        <dsp:cNvPr id="0" name=""/>
        <dsp:cNvSpPr/>
      </dsp:nvSpPr>
      <dsp:spPr>
        <a:xfrm rot="5400000">
          <a:off x="7628805" y="1357334"/>
          <a:ext cx="649269" cy="1080370"/>
        </a:xfrm>
        <a:prstGeom prst="corner">
          <a:avLst>
            <a:gd name="adj1" fmla="val 16120"/>
            <a:gd name="adj2" fmla="val 16110"/>
          </a:avLst>
        </a:prstGeom>
        <a:solidFill>
          <a:srgbClr val="00B050"/>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0A6EEA9-0F5A-48BB-9545-4AAFCB1EA82A}">
      <dsp:nvSpPr>
        <dsp:cNvPr id="0" name=""/>
        <dsp:cNvSpPr/>
      </dsp:nvSpPr>
      <dsp:spPr>
        <a:xfrm>
          <a:off x="7551721" y="1700677"/>
          <a:ext cx="1077163" cy="854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latin typeface="Verdana" panose="020B0604030504040204" pitchFamily="34" charset="0"/>
              <a:ea typeface="Verdana" panose="020B0604030504040204" pitchFamily="34" charset="0"/>
            </a:rPr>
            <a:t>Issue relating connectivity</a:t>
          </a:r>
          <a:r>
            <a:rPr lang="en-US" sz="1200" kern="1200" dirty="0">
              <a:latin typeface="Verdana" panose="020B0604030504040204" pitchFamily="34" charset="0"/>
              <a:ea typeface="Verdana" panose="020B0604030504040204" pitchFamily="34" charset="0"/>
            </a:rPr>
            <a:t> with mainland.</a:t>
          </a:r>
        </a:p>
      </dsp:txBody>
      <dsp:txXfrm>
        <a:off x="7551721" y="1700677"/>
        <a:ext cx="1077163" cy="854963"/>
      </dsp:txXfrm>
    </dsp:sp>
    <dsp:sp modelId="{A0878174-8112-4003-A4B0-509B10BDA09C}">
      <dsp:nvSpPr>
        <dsp:cNvPr id="0" name=""/>
        <dsp:cNvSpPr/>
      </dsp:nvSpPr>
      <dsp:spPr>
        <a:xfrm>
          <a:off x="8311759" y="1277796"/>
          <a:ext cx="184031" cy="184031"/>
        </a:xfrm>
        <a:prstGeom prst="triangle">
          <a:avLst>
            <a:gd name="adj" fmla="val 100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A31E50F-34E9-4F43-A782-6C8445BFEDAE}">
      <dsp:nvSpPr>
        <dsp:cNvPr id="0" name=""/>
        <dsp:cNvSpPr/>
      </dsp:nvSpPr>
      <dsp:spPr>
        <a:xfrm rot="5400000">
          <a:off x="9109962" y="1061868"/>
          <a:ext cx="649269" cy="1080370"/>
        </a:xfrm>
        <a:prstGeom prst="corner">
          <a:avLst>
            <a:gd name="adj1" fmla="val 16120"/>
            <a:gd name="adj2" fmla="val 16110"/>
          </a:avLst>
        </a:prstGeom>
        <a:solidFill>
          <a:schemeClr val="tx1">
            <a:lumMod val="75000"/>
            <a:lumOff val="25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084FD33-BCD4-4EEA-9CD9-FCEC8AE39F32}">
      <dsp:nvSpPr>
        <dsp:cNvPr id="0" name=""/>
        <dsp:cNvSpPr/>
      </dsp:nvSpPr>
      <dsp:spPr>
        <a:xfrm>
          <a:off x="9001582" y="1384666"/>
          <a:ext cx="975364" cy="854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latin typeface="Verdana" panose="020B0604030504040204" pitchFamily="34" charset="0"/>
              <a:ea typeface="Verdana" panose="020B0604030504040204" pitchFamily="34" charset="0"/>
            </a:rPr>
            <a:t>Funding Mechanism</a:t>
          </a:r>
          <a:r>
            <a:rPr lang="en-US" sz="1200" kern="1200" dirty="0">
              <a:latin typeface="Verdana" panose="020B0604030504040204" pitchFamily="34" charset="0"/>
              <a:ea typeface="Verdana" panose="020B0604030504040204" pitchFamily="34" charset="0"/>
            </a:rPr>
            <a:t> to be worked out. </a:t>
          </a:r>
        </a:p>
      </dsp:txBody>
      <dsp:txXfrm>
        <a:off x="9001582" y="1384666"/>
        <a:ext cx="975364" cy="854963"/>
      </dsp:txXfrm>
    </dsp:sp>
    <dsp:sp modelId="{C2FBEBD8-8E83-4BA7-BF2B-86B5A6A52572}">
      <dsp:nvSpPr>
        <dsp:cNvPr id="0" name=""/>
        <dsp:cNvSpPr/>
      </dsp:nvSpPr>
      <dsp:spPr>
        <a:xfrm>
          <a:off x="9792916" y="982330"/>
          <a:ext cx="184031" cy="184031"/>
        </a:xfrm>
        <a:prstGeom prst="triangle">
          <a:avLst>
            <a:gd name="adj" fmla="val 100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058E29-7C38-41C1-ABE1-1090A630F007}">
      <dsp:nvSpPr>
        <dsp:cNvPr id="0" name=""/>
        <dsp:cNvSpPr/>
      </dsp:nvSpPr>
      <dsp:spPr>
        <a:xfrm rot="5400000">
          <a:off x="10591118" y="766403"/>
          <a:ext cx="649269" cy="1080370"/>
        </a:xfrm>
        <a:prstGeom prst="corner">
          <a:avLst>
            <a:gd name="adj1" fmla="val 16120"/>
            <a:gd name="adj2" fmla="val 16110"/>
          </a:avLst>
        </a:prstGeom>
        <a:solidFill>
          <a:srgbClr val="00B050"/>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4F5CC90-6AF6-4EFE-9E83-9FBD2635AA2E}">
      <dsp:nvSpPr>
        <dsp:cNvPr id="0" name=""/>
        <dsp:cNvSpPr/>
      </dsp:nvSpPr>
      <dsp:spPr>
        <a:xfrm>
          <a:off x="10482739" y="1089201"/>
          <a:ext cx="975364" cy="854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latin typeface="Verdana" panose="020B0604030504040204" pitchFamily="34" charset="0"/>
              <a:ea typeface="Verdana" panose="020B0604030504040204" pitchFamily="34" charset="0"/>
            </a:rPr>
            <a:t>Proposal to be placed </a:t>
          </a:r>
          <a:r>
            <a:rPr lang="en-US" sz="1200" kern="1200" dirty="0">
              <a:latin typeface="Verdana" panose="020B0604030504040204" pitchFamily="34" charset="0"/>
              <a:ea typeface="Verdana" panose="020B0604030504040204" pitchFamily="34" charset="0"/>
            </a:rPr>
            <a:t>before MNRE, GoI for sanction </a:t>
          </a:r>
        </a:p>
      </dsp:txBody>
      <dsp:txXfrm>
        <a:off x="10482739" y="1089201"/>
        <a:ext cx="975364" cy="85496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444053-CB23-4F6D-9444-29CDEC355407}">
      <dsp:nvSpPr>
        <dsp:cNvPr id="0" name=""/>
        <dsp:cNvSpPr/>
      </dsp:nvSpPr>
      <dsp:spPr>
        <a:xfrm>
          <a:off x="-3737869" y="-574202"/>
          <a:ext cx="4455395" cy="4455395"/>
        </a:xfrm>
        <a:prstGeom prst="blockArc">
          <a:avLst>
            <a:gd name="adj1" fmla="val 18900000"/>
            <a:gd name="adj2" fmla="val 2700000"/>
            <a:gd name="adj3" fmla="val 485"/>
          </a:avLst>
        </a:pr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CB6B862-D267-4F84-B323-20423B352986}">
      <dsp:nvSpPr>
        <dsp:cNvPr id="0" name=""/>
        <dsp:cNvSpPr/>
      </dsp:nvSpPr>
      <dsp:spPr>
        <a:xfrm>
          <a:off x="268618" y="174146"/>
          <a:ext cx="10940350" cy="348160"/>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352" tIns="30480" rIns="30480" bIns="30480" numCol="1" spcCol="1270" anchor="ctr" anchorCtr="0">
          <a:noAutofit/>
        </a:bodyPr>
        <a:lstStyle/>
        <a:p>
          <a:pPr marL="0" lvl="0" indent="0" algn="l" defTabSz="533400">
            <a:lnSpc>
              <a:spcPct val="90000"/>
            </a:lnSpc>
            <a:spcBef>
              <a:spcPct val="0"/>
            </a:spcBef>
            <a:spcAft>
              <a:spcPct val="35000"/>
            </a:spcAft>
            <a:buNone/>
          </a:pPr>
          <a:r>
            <a:rPr lang="en-US" sz="1200" kern="1200" dirty="0"/>
            <a:t>Revised minimum Thermal Capacity from 55% to 40% within 2 to 3 years.</a:t>
          </a:r>
        </a:p>
      </dsp:txBody>
      <dsp:txXfrm>
        <a:off x="268618" y="174146"/>
        <a:ext cx="10940350" cy="348160"/>
      </dsp:txXfrm>
    </dsp:sp>
    <dsp:sp modelId="{349E29B7-C9E8-4746-85AA-144272BA81ED}">
      <dsp:nvSpPr>
        <dsp:cNvPr id="0" name=""/>
        <dsp:cNvSpPr/>
      </dsp:nvSpPr>
      <dsp:spPr>
        <a:xfrm>
          <a:off x="51018" y="130626"/>
          <a:ext cx="435200" cy="435200"/>
        </a:xfrm>
        <a:prstGeom prst="ellipse">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46D47DB-FF37-4CA6-A4DE-492AB6E22374}">
      <dsp:nvSpPr>
        <dsp:cNvPr id="0" name=""/>
        <dsp:cNvSpPr/>
      </dsp:nvSpPr>
      <dsp:spPr>
        <a:xfrm>
          <a:off x="555004" y="696320"/>
          <a:ext cx="10653965" cy="348160"/>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352" tIns="30480" rIns="30480" bIns="30480" numCol="1" spcCol="1270" anchor="ctr" anchorCtr="0">
          <a:noAutofit/>
        </a:bodyPr>
        <a:lstStyle/>
        <a:p>
          <a:pPr marL="0" lvl="0" indent="0" algn="l" defTabSz="533400">
            <a:lnSpc>
              <a:spcPct val="90000"/>
            </a:lnSpc>
            <a:spcBef>
              <a:spcPct val="0"/>
            </a:spcBef>
            <a:spcAft>
              <a:spcPct val="35000"/>
            </a:spcAft>
            <a:buNone/>
          </a:pPr>
          <a:r>
            <a:rPr lang="en-US" sz="1200" kern="1200" dirty="0"/>
            <a:t>Energy from thermal plants which is having high tariff  need to be replaced with cheaper renewable energy </a:t>
          </a:r>
        </a:p>
      </dsp:txBody>
      <dsp:txXfrm>
        <a:off x="555004" y="696320"/>
        <a:ext cx="10653965" cy="348160"/>
      </dsp:txXfrm>
    </dsp:sp>
    <dsp:sp modelId="{3A4C38DF-B95F-4627-957D-51539CD657D0}">
      <dsp:nvSpPr>
        <dsp:cNvPr id="0" name=""/>
        <dsp:cNvSpPr/>
      </dsp:nvSpPr>
      <dsp:spPr>
        <a:xfrm>
          <a:off x="337404" y="652800"/>
          <a:ext cx="435200" cy="435200"/>
        </a:xfrm>
        <a:prstGeom prst="ellipse">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ECA0399-C238-41AB-AA87-72BC59B7E3CE}">
      <dsp:nvSpPr>
        <dsp:cNvPr id="0" name=""/>
        <dsp:cNvSpPr/>
      </dsp:nvSpPr>
      <dsp:spPr>
        <a:xfrm>
          <a:off x="685961" y="1218493"/>
          <a:ext cx="10523008" cy="348160"/>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352" tIns="30480" rIns="30480" bIns="30480" numCol="1" spcCol="1270" anchor="ctr" anchorCtr="0">
          <a:noAutofit/>
        </a:bodyPr>
        <a:lstStyle/>
        <a:p>
          <a:pPr marL="0" lvl="0" indent="0" algn="l" defTabSz="533400">
            <a:lnSpc>
              <a:spcPct val="90000"/>
            </a:lnSpc>
            <a:spcBef>
              <a:spcPct val="0"/>
            </a:spcBef>
            <a:spcAft>
              <a:spcPct val="35000"/>
            </a:spcAft>
            <a:buNone/>
          </a:pPr>
          <a:r>
            <a:rPr lang="en-US" sz="1200" kern="1200" dirty="0"/>
            <a:t>58,000 MU from thermal station can be substitute with RE generation  ( 30,000 MW @ 22% CUF)</a:t>
          </a:r>
        </a:p>
      </dsp:txBody>
      <dsp:txXfrm>
        <a:off x="685961" y="1218493"/>
        <a:ext cx="10523008" cy="348160"/>
      </dsp:txXfrm>
    </dsp:sp>
    <dsp:sp modelId="{667B66E6-84A4-4383-96F3-52F26ACE83F0}">
      <dsp:nvSpPr>
        <dsp:cNvPr id="0" name=""/>
        <dsp:cNvSpPr/>
      </dsp:nvSpPr>
      <dsp:spPr>
        <a:xfrm>
          <a:off x="468361" y="1174973"/>
          <a:ext cx="435200" cy="435200"/>
        </a:xfrm>
        <a:prstGeom prst="ellipse">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267D053-B39A-44FB-B777-9CBC6F67D23C}">
      <dsp:nvSpPr>
        <dsp:cNvPr id="0" name=""/>
        <dsp:cNvSpPr/>
      </dsp:nvSpPr>
      <dsp:spPr>
        <a:xfrm>
          <a:off x="685961" y="1740337"/>
          <a:ext cx="10523008" cy="348160"/>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352" tIns="30480" rIns="30480" bIns="30480" numCol="1" spcCol="1270" anchor="ctr" anchorCtr="0">
          <a:noAutofit/>
        </a:bodyPr>
        <a:lstStyle/>
        <a:p>
          <a:pPr marL="0" lvl="0" indent="0" algn="l" defTabSz="533400">
            <a:lnSpc>
              <a:spcPct val="90000"/>
            </a:lnSpc>
            <a:spcBef>
              <a:spcPct val="0"/>
            </a:spcBef>
            <a:spcAft>
              <a:spcPct val="35000"/>
            </a:spcAft>
            <a:buNone/>
          </a:pPr>
          <a:r>
            <a:rPr lang="en-US" sz="1200" kern="1200" dirty="0"/>
            <a:t>Replacement of thermal power will save coal and leading to reduction of emission. </a:t>
          </a:r>
        </a:p>
      </dsp:txBody>
      <dsp:txXfrm>
        <a:off x="685961" y="1740337"/>
        <a:ext cx="10523008" cy="348160"/>
      </dsp:txXfrm>
    </dsp:sp>
    <dsp:sp modelId="{1D8B9C7F-7845-4E5F-AF52-21DB8527B9D1}">
      <dsp:nvSpPr>
        <dsp:cNvPr id="0" name=""/>
        <dsp:cNvSpPr/>
      </dsp:nvSpPr>
      <dsp:spPr>
        <a:xfrm>
          <a:off x="468361" y="1696817"/>
          <a:ext cx="435200" cy="435200"/>
        </a:xfrm>
        <a:prstGeom prst="ellipse">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8290DDC-60C8-4E4C-BFD2-50F46EE17AA2}">
      <dsp:nvSpPr>
        <dsp:cNvPr id="0" name=""/>
        <dsp:cNvSpPr/>
      </dsp:nvSpPr>
      <dsp:spPr>
        <a:xfrm>
          <a:off x="555004" y="2262510"/>
          <a:ext cx="10653965" cy="348160"/>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352" tIns="30480" rIns="30480" bIns="30480" numCol="1" spcCol="1270" anchor="ctr" anchorCtr="0">
          <a:noAutofit/>
        </a:bodyPr>
        <a:lstStyle/>
        <a:p>
          <a:pPr marL="0" lvl="0" indent="0" algn="l" defTabSz="533400">
            <a:lnSpc>
              <a:spcPct val="90000"/>
            </a:lnSpc>
            <a:spcBef>
              <a:spcPct val="0"/>
            </a:spcBef>
            <a:spcAft>
              <a:spcPct val="35000"/>
            </a:spcAft>
            <a:buNone/>
          </a:pPr>
          <a:r>
            <a:rPr lang="en-US" sz="1200" kern="1200" dirty="0"/>
            <a:t>Implementation of scheme is estimated to conserve 34.7 MMT of coal and reduces carbon emission by 60.2 MMT.</a:t>
          </a:r>
        </a:p>
      </dsp:txBody>
      <dsp:txXfrm>
        <a:off x="555004" y="2262510"/>
        <a:ext cx="10653965" cy="348160"/>
      </dsp:txXfrm>
    </dsp:sp>
    <dsp:sp modelId="{86202DBC-639B-4F58-AF07-51E73C45CF57}">
      <dsp:nvSpPr>
        <dsp:cNvPr id="0" name=""/>
        <dsp:cNvSpPr/>
      </dsp:nvSpPr>
      <dsp:spPr>
        <a:xfrm>
          <a:off x="337404" y="2218990"/>
          <a:ext cx="435200" cy="435200"/>
        </a:xfrm>
        <a:prstGeom prst="ellipse">
          <a:avLst/>
        </a:prstGeom>
        <a:solidFill>
          <a:schemeClr val="lt1">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23584EE-C61D-4AFC-878F-01DF17422AA8}">
      <dsp:nvSpPr>
        <dsp:cNvPr id="0" name=""/>
        <dsp:cNvSpPr/>
      </dsp:nvSpPr>
      <dsp:spPr>
        <a:xfrm>
          <a:off x="268618" y="2713714"/>
          <a:ext cx="10940350" cy="490101"/>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352" tIns="30480" rIns="30480" bIns="30480" numCol="1" spcCol="1270" anchor="ctr" anchorCtr="0">
          <a:noAutofit/>
        </a:bodyPr>
        <a:lstStyle/>
        <a:p>
          <a:pPr marL="0" lvl="0" indent="0" algn="l" defTabSz="533400">
            <a:lnSpc>
              <a:spcPct val="90000"/>
            </a:lnSpc>
            <a:spcBef>
              <a:spcPct val="0"/>
            </a:spcBef>
            <a:spcAft>
              <a:spcPct val="35000"/>
            </a:spcAft>
            <a:buNone/>
          </a:pPr>
          <a:r>
            <a:rPr lang="en-US" sz="1200" kern="1200" dirty="0"/>
            <a:t>All generating stations and States are directed to implement inorder to reduce their tariffs, meet their RPO commitments, increase utilization of transmission lines and reduce emission.</a:t>
          </a:r>
        </a:p>
      </dsp:txBody>
      <dsp:txXfrm>
        <a:off x="268618" y="2713714"/>
        <a:ext cx="10940350" cy="490101"/>
      </dsp:txXfrm>
    </dsp:sp>
    <dsp:sp modelId="{91F7EF8A-FBEB-4651-B561-A616E3F6761E}">
      <dsp:nvSpPr>
        <dsp:cNvPr id="0" name=""/>
        <dsp:cNvSpPr/>
      </dsp:nvSpPr>
      <dsp:spPr>
        <a:xfrm>
          <a:off x="51018" y="2741164"/>
          <a:ext cx="435200" cy="435200"/>
        </a:xfrm>
        <a:prstGeom prst="ellipse">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DEFA49-E519-41FD-913F-F03726B20366}">
      <dsp:nvSpPr>
        <dsp:cNvPr id="0" name=""/>
        <dsp:cNvSpPr/>
      </dsp:nvSpPr>
      <dsp:spPr>
        <a:xfrm>
          <a:off x="77934" y="79742"/>
          <a:ext cx="2857303" cy="1628016"/>
        </a:xfrm>
        <a:prstGeom prst="roundRect">
          <a:avLst>
            <a:gd name="adj" fmla="val 10000"/>
          </a:avLst>
        </a:prstGeom>
        <a:solidFill>
          <a:srgbClr val="0076A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t" anchorCtr="0">
          <a:noAutofit/>
        </a:bodyPr>
        <a:lstStyle/>
        <a:p>
          <a:pPr marL="0" lvl="0" indent="0" algn="ctr" defTabSz="488950">
            <a:lnSpc>
              <a:spcPct val="90000"/>
            </a:lnSpc>
            <a:spcBef>
              <a:spcPct val="0"/>
            </a:spcBef>
            <a:spcAft>
              <a:spcPct val="35000"/>
            </a:spcAft>
            <a:buNone/>
          </a:pPr>
          <a:r>
            <a:rPr lang="en-US" sz="1100" b="1" kern="1200" dirty="0"/>
            <a:t>Demand Assessment</a:t>
          </a:r>
        </a:p>
        <a:p>
          <a:pPr marL="57150" lvl="1" indent="-57150" algn="just" defTabSz="488950">
            <a:lnSpc>
              <a:spcPct val="90000"/>
            </a:lnSpc>
            <a:spcBef>
              <a:spcPct val="0"/>
            </a:spcBef>
            <a:spcAft>
              <a:spcPct val="15000"/>
            </a:spcAft>
            <a:buChar char="•"/>
          </a:pPr>
          <a:r>
            <a:rPr lang="en-US" sz="1100" kern="1200" dirty="0"/>
            <a:t>Consumer consumption assessment </a:t>
          </a:r>
        </a:p>
        <a:p>
          <a:pPr marL="57150" lvl="1" indent="-57150" algn="just" defTabSz="488950">
            <a:lnSpc>
              <a:spcPct val="90000"/>
            </a:lnSpc>
            <a:spcBef>
              <a:spcPct val="0"/>
            </a:spcBef>
            <a:spcAft>
              <a:spcPct val="15000"/>
            </a:spcAft>
            <a:buChar char="•"/>
          </a:pPr>
          <a:r>
            <a:rPr lang="en-US" sz="1100" kern="1200" dirty="0"/>
            <a:t>Seasonal consumer demand assessment for different categories </a:t>
          </a:r>
        </a:p>
        <a:p>
          <a:pPr marL="57150" lvl="1" indent="-57150" algn="just" defTabSz="488950">
            <a:lnSpc>
              <a:spcPct val="90000"/>
            </a:lnSpc>
            <a:spcBef>
              <a:spcPct val="0"/>
            </a:spcBef>
            <a:spcAft>
              <a:spcPct val="15000"/>
            </a:spcAft>
            <a:buChar char="•"/>
          </a:pPr>
          <a:r>
            <a:rPr lang="en-US" sz="1100" kern="1200" dirty="0"/>
            <a:t>Additional Power demand growth drivers – Industrial Park, SEZ, Real Estate, Commercial etc </a:t>
          </a:r>
        </a:p>
        <a:p>
          <a:pPr marL="57150" lvl="1" indent="-57150" algn="just" defTabSz="488950">
            <a:lnSpc>
              <a:spcPct val="90000"/>
            </a:lnSpc>
            <a:spcBef>
              <a:spcPct val="0"/>
            </a:spcBef>
            <a:spcAft>
              <a:spcPct val="15000"/>
            </a:spcAft>
            <a:buChar char="•"/>
          </a:pPr>
          <a:r>
            <a:rPr lang="en-US" sz="1100" kern="1200" dirty="0"/>
            <a:t>EV demand Impact Assessment </a:t>
          </a:r>
        </a:p>
      </dsp:txBody>
      <dsp:txXfrm>
        <a:off x="125617" y="127425"/>
        <a:ext cx="2761937" cy="1532650"/>
      </dsp:txXfrm>
    </dsp:sp>
    <dsp:sp modelId="{1307BEFB-A66D-448C-A7EC-8AD24638FF7E}">
      <dsp:nvSpPr>
        <dsp:cNvPr id="0" name=""/>
        <dsp:cNvSpPr/>
      </dsp:nvSpPr>
      <dsp:spPr>
        <a:xfrm rot="974">
          <a:off x="2976537" y="605615"/>
          <a:ext cx="307393" cy="294494"/>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2976537" y="664501"/>
        <a:ext cx="219045" cy="176696"/>
      </dsp:txXfrm>
    </dsp:sp>
    <dsp:sp modelId="{D8513727-FFD1-4C89-8CEB-75B71B759A52}">
      <dsp:nvSpPr>
        <dsp:cNvPr id="0" name=""/>
        <dsp:cNvSpPr/>
      </dsp:nvSpPr>
      <dsp:spPr>
        <a:xfrm>
          <a:off x="3285881" y="173519"/>
          <a:ext cx="2300383" cy="1451992"/>
        </a:xfrm>
        <a:prstGeom prst="roundRect">
          <a:avLst>
            <a:gd name="adj" fmla="val 10000"/>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t" anchorCtr="0">
          <a:noAutofit/>
        </a:bodyPr>
        <a:lstStyle/>
        <a:p>
          <a:pPr marL="0" lvl="0" indent="0" algn="ctr" defTabSz="488950">
            <a:lnSpc>
              <a:spcPct val="90000"/>
            </a:lnSpc>
            <a:spcBef>
              <a:spcPct val="0"/>
            </a:spcBef>
            <a:spcAft>
              <a:spcPct val="35000"/>
            </a:spcAft>
            <a:buNone/>
          </a:pPr>
          <a:r>
            <a:rPr lang="en-US" sz="1100" b="1" kern="1200" dirty="0"/>
            <a:t>Peak and Off-Peak Power  Demand Assessment</a:t>
          </a:r>
        </a:p>
        <a:p>
          <a:pPr marL="57150" lvl="1" indent="-57150" algn="l" defTabSz="488950">
            <a:lnSpc>
              <a:spcPct val="90000"/>
            </a:lnSpc>
            <a:spcBef>
              <a:spcPct val="0"/>
            </a:spcBef>
            <a:spcAft>
              <a:spcPct val="15000"/>
            </a:spcAft>
            <a:buChar char="•"/>
          </a:pPr>
          <a:r>
            <a:rPr lang="en-US" sz="1100" kern="1200" dirty="0"/>
            <a:t>Current and Future Peak and Off- Peak Demand Analysis </a:t>
          </a:r>
        </a:p>
        <a:p>
          <a:pPr marL="57150" lvl="1" indent="-57150" algn="l" defTabSz="488950">
            <a:lnSpc>
              <a:spcPct val="90000"/>
            </a:lnSpc>
            <a:spcBef>
              <a:spcPct val="0"/>
            </a:spcBef>
            <a:spcAft>
              <a:spcPct val="15000"/>
            </a:spcAft>
            <a:buChar char="•"/>
          </a:pPr>
          <a:r>
            <a:rPr lang="en-US" sz="1100" kern="1200" dirty="0"/>
            <a:t>Peak Demand Period Analysis </a:t>
          </a:r>
        </a:p>
        <a:p>
          <a:pPr marL="57150" lvl="1" indent="-57150" algn="l" defTabSz="488950">
            <a:lnSpc>
              <a:spcPct val="90000"/>
            </a:lnSpc>
            <a:spcBef>
              <a:spcPct val="0"/>
            </a:spcBef>
            <a:spcAft>
              <a:spcPct val="15000"/>
            </a:spcAft>
            <a:buChar char="•"/>
          </a:pPr>
          <a:r>
            <a:rPr lang="en-US" sz="1100" kern="1200" dirty="0"/>
            <a:t>Seasonal Peak Demand Analysis</a:t>
          </a:r>
        </a:p>
      </dsp:txBody>
      <dsp:txXfrm>
        <a:off x="3328408" y="216046"/>
        <a:ext cx="2215329" cy="1366938"/>
      </dsp:txXfrm>
    </dsp:sp>
    <dsp:sp modelId="{4A14B3CF-E6D1-4783-A61F-96F2676D1790}">
      <dsp:nvSpPr>
        <dsp:cNvPr id="0" name=""/>
        <dsp:cNvSpPr/>
      </dsp:nvSpPr>
      <dsp:spPr>
        <a:xfrm rot="21548284">
          <a:off x="5649874" y="645405"/>
          <a:ext cx="291298" cy="269014"/>
        </a:xfrm>
        <a:prstGeom prst="rightArrow">
          <a:avLst>
            <a:gd name="adj1" fmla="val 60000"/>
            <a:gd name="adj2" fmla="val 50000"/>
          </a:avLst>
        </a:prstGeom>
        <a:solidFill>
          <a:srgbClr val="00768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5649879" y="699815"/>
        <a:ext cx="210594" cy="161408"/>
      </dsp:txXfrm>
    </dsp:sp>
    <dsp:sp modelId="{924B314A-07D5-4046-BB3A-8978FFF6BBC0}">
      <dsp:nvSpPr>
        <dsp:cNvPr id="0" name=""/>
        <dsp:cNvSpPr/>
      </dsp:nvSpPr>
      <dsp:spPr>
        <a:xfrm>
          <a:off x="5995852" y="73998"/>
          <a:ext cx="3001499" cy="1593343"/>
        </a:xfrm>
        <a:prstGeom prst="roundRect">
          <a:avLst>
            <a:gd name="adj" fmla="val 10000"/>
          </a:avLst>
        </a:prstGeom>
        <a:solidFill>
          <a:srgbClr val="00768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t" anchorCtr="0">
          <a:noAutofit/>
        </a:bodyPr>
        <a:lstStyle/>
        <a:p>
          <a:pPr marL="0" lvl="0" indent="0" algn="ctr" defTabSz="488950">
            <a:lnSpc>
              <a:spcPct val="90000"/>
            </a:lnSpc>
            <a:spcBef>
              <a:spcPct val="0"/>
            </a:spcBef>
            <a:spcAft>
              <a:spcPct val="35000"/>
            </a:spcAft>
            <a:buNone/>
          </a:pPr>
          <a:r>
            <a:rPr lang="en-US" sz="1100" b="1" kern="1200" dirty="0"/>
            <a:t>Power Supply Assessment </a:t>
          </a:r>
        </a:p>
        <a:p>
          <a:pPr marL="57150" lvl="1" indent="-57150" algn="l" defTabSz="488950">
            <a:lnSpc>
              <a:spcPct val="90000"/>
            </a:lnSpc>
            <a:spcBef>
              <a:spcPct val="0"/>
            </a:spcBef>
            <a:spcAft>
              <a:spcPct val="15000"/>
            </a:spcAft>
            <a:buChar char="•"/>
          </a:pPr>
          <a:r>
            <a:rPr lang="en-US" sz="1100" kern="1200" dirty="0"/>
            <a:t>Utility Wise Power Availability  Assessment – Central, State &amp; Private GENCOs</a:t>
          </a:r>
        </a:p>
        <a:p>
          <a:pPr marL="57150" lvl="1" indent="-57150" algn="l" defTabSz="488950">
            <a:lnSpc>
              <a:spcPct val="90000"/>
            </a:lnSpc>
            <a:spcBef>
              <a:spcPct val="0"/>
            </a:spcBef>
            <a:spcAft>
              <a:spcPct val="15000"/>
            </a:spcAft>
            <a:buChar char="•"/>
          </a:pPr>
          <a:r>
            <a:rPr lang="en-US" sz="1100" kern="1200" dirty="0"/>
            <a:t>Source Wise Power Availability assessment – Thermal, RE, Hydro etc</a:t>
          </a:r>
        </a:p>
        <a:p>
          <a:pPr marL="57150" lvl="1" indent="-57150" algn="l" defTabSz="488950">
            <a:lnSpc>
              <a:spcPct val="90000"/>
            </a:lnSpc>
            <a:spcBef>
              <a:spcPct val="0"/>
            </a:spcBef>
            <a:spcAft>
              <a:spcPct val="15000"/>
            </a:spcAft>
            <a:buChar char="•"/>
          </a:pPr>
          <a:r>
            <a:rPr lang="en-US" sz="1100" kern="1200" dirty="0"/>
            <a:t>Short Term availability through Power Exchange and other Bilateral Platforms </a:t>
          </a:r>
        </a:p>
      </dsp:txBody>
      <dsp:txXfrm>
        <a:off x="6042519" y="120665"/>
        <a:ext cx="2908165" cy="1500009"/>
      </dsp:txXfrm>
    </dsp:sp>
    <dsp:sp modelId="{72908EF8-B364-431E-978B-83770DD08793}">
      <dsp:nvSpPr>
        <dsp:cNvPr id="0" name=""/>
        <dsp:cNvSpPr/>
      </dsp:nvSpPr>
      <dsp:spPr>
        <a:xfrm rot="107450">
          <a:off x="9078488" y="548220"/>
          <a:ext cx="249783" cy="286061"/>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9078506" y="604261"/>
        <a:ext cx="174848" cy="171637"/>
      </dsp:txXfrm>
    </dsp:sp>
    <dsp:sp modelId="{B293559D-6945-4902-97A4-5D9221575E35}">
      <dsp:nvSpPr>
        <dsp:cNvPr id="0" name=""/>
        <dsp:cNvSpPr/>
      </dsp:nvSpPr>
      <dsp:spPr>
        <a:xfrm>
          <a:off x="9467541" y="108207"/>
          <a:ext cx="1829997" cy="1130020"/>
        </a:xfrm>
        <a:prstGeom prst="roundRect">
          <a:avLst>
            <a:gd name="adj" fmla="val 10000"/>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t" anchorCtr="0">
          <a:noAutofit/>
        </a:bodyPr>
        <a:lstStyle/>
        <a:p>
          <a:pPr marL="0" lvl="0" indent="0" algn="ctr" defTabSz="488950">
            <a:lnSpc>
              <a:spcPct val="90000"/>
            </a:lnSpc>
            <a:spcBef>
              <a:spcPct val="0"/>
            </a:spcBef>
            <a:spcAft>
              <a:spcPct val="35000"/>
            </a:spcAft>
            <a:buNone/>
          </a:pPr>
          <a:r>
            <a:rPr lang="en-US" sz="1100" b="1" kern="1200" dirty="0"/>
            <a:t>RPO Obligation</a:t>
          </a:r>
        </a:p>
        <a:p>
          <a:pPr marL="57150" lvl="1" indent="-57150" algn="l" defTabSz="488950">
            <a:lnSpc>
              <a:spcPct val="90000"/>
            </a:lnSpc>
            <a:spcBef>
              <a:spcPct val="0"/>
            </a:spcBef>
            <a:spcAft>
              <a:spcPct val="15000"/>
            </a:spcAft>
            <a:buChar char="•"/>
          </a:pPr>
          <a:r>
            <a:rPr lang="en-US" sz="1100" kern="1200" dirty="0"/>
            <a:t>Target Vs Actual Achievement</a:t>
          </a:r>
        </a:p>
        <a:p>
          <a:pPr marL="57150" lvl="1" indent="-57150" algn="l" defTabSz="488950">
            <a:lnSpc>
              <a:spcPct val="90000"/>
            </a:lnSpc>
            <a:spcBef>
              <a:spcPct val="0"/>
            </a:spcBef>
            <a:spcAft>
              <a:spcPct val="15000"/>
            </a:spcAft>
            <a:buChar char="•"/>
          </a:pPr>
          <a:r>
            <a:rPr lang="en-US" sz="1100" kern="1200" dirty="0"/>
            <a:t>Future Projection to meet Target </a:t>
          </a:r>
        </a:p>
      </dsp:txBody>
      <dsp:txXfrm>
        <a:off x="9500638" y="141304"/>
        <a:ext cx="1763803" cy="1063826"/>
      </dsp:txXfrm>
    </dsp:sp>
    <dsp:sp modelId="{EDC3D61E-E87A-4839-963F-9C0C154D3F4F}">
      <dsp:nvSpPr>
        <dsp:cNvPr id="0" name=""/>
        <dsp:cNvSpPr/>
      </dsp:nvSpPr>
      <dsp:spPr>
        <a:xfrm rot="5217678">
          <a:off x="10267353" y="1374214"/>
          <a:ext cx="307584" cy="286061"/>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5400000">
        <a:off x="10333051" y="1363513"/>
        <a:ext cx="171637" cy="221766"/>
      </dsp:txXfrm>
    </dsp:sp>
    <dsp:sp modelId="{664048F8-E304-488B-9668-B813944484C0}">
      <dsp:nvSpPr>
        <dsp:cNvPr id="0" name=""/>
        <dsp:cNvSpPr/>
      </dsp:nvSpPr>
      <dsp:spPr>
        <a:xfrm>
          <a:off x="9852029" y="1817760"/>
          <a:ext cx="1271358" cy="1673161"/>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t" anchorCtr="0">
          <a:noAutofit/>
        </a:bodyPr>
        <a:lstStyle/>
        <a:p>
          <a:pPr marL="0" lvl="0" indent="0" algn="ctr" defTabSz="533400">
            <a:lnSpc>
              <a:spcPct val="90000"/>
            </a:lnSpc>
            <a:spcBef>
              <a:spcPct val="0"/>
            </a:spcBef>
            <a:spcAft>
              <a:spcPct val="35000"/>
            </a:spcAft>
            <a:buNone/>
          </a:pPr>
          <a:r>
            <a:rPr lang="en-US" sz="1200" b="1" kern="1200" dirty="0"/>
            <a:t>Gap Assessment</a:t>
          </a:r>
        </a:p>
        <a:p>
          <a:pPr marL="114300" lvl="1" indent="-114300" algn="l" defTabSz="533400">
            <a:lnSpc>
              <a:spcPct val="90000"/>
            </a:lnSpc>
            <a:spcBef>
              <a:spcPct val="0"/>
            </a:spcBef>
            <a:spcAft>
              <a:spcPct val="15000"/>
            </a:spcAft>
            <a:buChar char="•"/>
          </a:pPr>
          <a:r>
            <a:rPr lang="en-US" sz="1200" kern="1200" dirty="0"/>
            <a:t>Gap Assessment based on Power Demand and Supply</a:t>
          </a:r>
        </a:p>
      </dsp:txBody>
      <dsp:txXfrm>
        <a:off x="9889266" y="1854997"/>
        <a:ext cx="1196884" cy="1598687"/>
      </dsp:txXfrm>
    </dsp:sp>
    <dsp:sp modelId="{3969676E-7B95-4525-8050-52C20DA16970}">
      <dsp:nvSpPr>
        <dsp:cNvPr id="0" name=""/>
        <dsp:cNvSpPr/>
      </dsp:nvSpPr>
      <dsp:spPr>
        <a:xfrm rot="12107193" flipV="1">
          <a:off x="9350568" y="1616945"/>
          <a:ext cx="548352" cy="543802"/>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rot="10800000">
        <a:off x="9507883" y="1755980"/>
        <a:ext cx="385211" cy="326282"/>
      </dsp:txXfrm>
    </dsp:sp>
    <dsp:sp modelId="{611E9F35-5D83-418F-BA1D-5BB639BB6FAF}">
      <dsp:nvSpPr>
        <dsp:cNvPr id="0" name=""/>
        <dsp:cNvSpPr/>
      </dsp:nvSpPr>
      <dsp:spPr>
        <a:xfrm>
          <a:off x="8492776" y="2504972"/>
          <a:ext cx="1153473" cy="1432440"/>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en-US" sz="1200" kern="1200" dirty="0"/>
        </a:p>
      </dsp:txBody>
      <dsp:txXfrm>
        <a:off x="8526560" y="2538756"/>
        <a:ext cx="1085905" cy="1364872"/>
      </dsp:txXfrm>
    </dsp:sp>
    <dsp:sp modelId="{17E7198A-11CF-405A-ADE8-F09A10F53A3E}">
      <dsp:nvSpPr>
        <dsp:cNvPr id="0" name=""/>
        <dsp:cNvSpPr/>
      </dsp:nvSpPr>
      <dsp:spPr>
        <a:xfrm rot="10800000">
          <a:off x="8146734" y="3078161"/>
          <a:ext cx="244536" cy="286061"/>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8220095" y="3135373"/>
        <a:ext cx="171175" cy="171637"/>
      </dsp:txXfrm>
    </dsp:sp>
    <dsp:sp modelId="{E724B4C3-6727-419D-A393-85AEF67CB49C}">
      <dsp:nvSpPr>
        <dsp:cNvPr id="0" name=""/>
        <dsp:cNvSpPr/>
      </dsp:nvSpPr>
      <dsp:spPr>
        <a:xfrm>
          <a:off x="6877913" y="2347910"/>
          <a:ext cx="1153473" cy="1746563"/>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  </a:t>
          </a:r>
        </a:p>
      </dsp:txBody>
      <dsp:txXfrm>
        <a:off x="6911697" y="2381694"/>
        <a:ext cx="1085905" cy="1678995"/>
      </dsp:txXfrm>
    </dsp:sp>
    <dsp:sp modelId="{CE83ED77-746D-48D0-A285-495F3A8C50D6}">
      <dsp:nvSpPr>
        <dsp:cNvPr id="0" name=""/>
        <dsp:cNvSpPr/>
      </dsp:nvSpPr>
      <dsp:spPr>
        <a:xfrm rot="11179271">
          <a:off x="5897781" y="2944213"/>
          <a:ext cx="695360" cy="286061"/>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5983338" y="3006149"/>
        <a:ext cx="609542" cy="171637"/>
      </dsp:txXfrm>
    </dsp:sp>
    <dsp:sp modelId="{DCF6EF26-AD1A-418D-8E1B-187ED459C45C}">
      <dsp:nvSpPr>
        <dsp:cNvPr id="0" name=""/>
        <dsp:cNvSpPr/>
      </dsp:nvSpPr>
      <dsp:spPr>
        <a:xfrm>
          <a:off x="3303195" y="1896585"/>
          <a:ext cx="2270693" cy="1980993"/>
        </a:xfrm>
        <a:prstGeom prst="roundRect">
          <a:avLst>
            <a:gd name="adj" fmla="val 10000"/>
          </a:avLst>
        </a:prstGeom>
        <a:solidFill>
          <a:srgbClr val="0097A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b="1" kern="1200" dirty="0"/>
            <a:t>Selection of PPAs  which need to be considered for evaluation based on </a:t>
          </a:r>
          <a:r>
            <a:rPr lang="en-US" sz="1000" kern="1200" dirty="0"/>
            <a:t>:</a:t>
          </a:r>
        </a:p>
        <a:p>
          <a:pPr marL="57150" lvl="1" indent="-57150" algn="l" defTabSz="444500">
            <a:lnSpc>
              <a:spcPct val="90000"/>
            </a:lnSpc>
            <a:spcBef>
              <a:spcPct val="0"/>
            </a:spcBef>
            <a:spcAft>
              <a:spcPct val="15000"/>
            </a:spcAft>
            <a:buChar char="•"/>
          </a:pPr>
          <a:r>
            <a:rPr lang="en-US" sz="1000" kern="1200" dirty="0"/>
            <a:t>Availability Factor</a:t>
          </a:r>
        </a:p>
        <a:p>
          <a:pPr marL="57150" lvl="1" indent="-57150" algn="l" defTabSz="444500">
            <a:lnSpc>
              <a:spcPct val="90000"/>
            </a:lnSpc>
            <a:spcBef>
              <a:spcPct val="0"/>
            </a:spcBef>
            <a:spcAft>
              <a:spcPct val="15000"/>
            </a:spcAft>
            <a:buChar char="•"/>
          </a:pPr>
          <a:r>
            <a:rPr lang="en-US" sz="1000" kern="1200" dirty="0"/>
            <a:t>Reliability Factor</a:t>
          </a:r>
        </a:p>
        <a:p>
          <a:pPr marL="57150" lvl="1" indent="-57150" algn="l" defTabSz="444500">
            <a:lnSpc>
              <a:spcPct val="90000"/>
            </a:lnSpc>
            <a:spcBef>
              <a:spcPct val="0"/>
            </a:spcBef>
            <a:spcAft>
              <a:spcPct val="15000"/>
            </a:spcAft>
            <a:buChar char="•"/>
          </a:pPr>
          <a:r>
            <a:rPr lang="en-US" sz="1000" kern="1200" dirty="0"/>
            <a:t>Future REW Integration requirements (Ramp up, System Margin)</a:t>
          </a:r>
        </a:p>
        <a:p>
          <a:pPr marL="57150" lvl="1" indent="-57150" algn="l" defTabSz="444500">
            <a:lnSpc>
              <a:spcPct val="90000"/>
            </a:lnSpc>
            <a:spcBef>
              <a:spcPct val="0"/>
            </a:spcBef>
            <a:spcAft>
              <a:spcPct val="15000"/>
            </a:spcAft>
            <a:buChar char="•"/>
          </a:pPr>
          <a:r>
            <a:rPr lang="en-US" sz="1000" kern="1200" dirty="0"/>
            <a:t>Cost of Generation </a:t>
          </a:r>
        </a:p>
        <a:p>
          <a:pPr marL="57150" lvl="1" indent="-57150" algn="l" defTabSz="444500">
            <a:lnSpc>
              <a:spcPct val="90000"/>
            </a:lnSpc>
            <a:spcBef>
              <a:spcPct val="0"/>
            </a:spcBef>
            <a:spcAft>
              <a:spcPct val="15000"/>
            </a:spcAft>
            <a:buChar char="•"/>
          </a:pPr>
          <a:r>
            <a:rPr lang="en-US" sz="1000" kern="1200" dirty="0"/>
            <a:t>Quantum of Energy</a:t>
          </a:r>
        </a:p>
        <a:p>
          <a:pPr marL="57150" lvl="1" indent="-57150" algn="l" defTabSz="444500">
            <a:lnSpc>
              <a:spcPct val="90000"/>
            </a:lnSpc>
            <a:spcBef>
              <a:spcPct val="0"/>
            </a:spcBef>
            <a:spcAft>
              <a:spcPct val="15000"/>
            </a:spcAft>
            <a:buChar char="•"/>
          </a:pPr>
          <a:r>
            <a:rPr lang="en-US" sz="1000" kern="1200" dirty="0"/>
            <a:t>Dependency on Network</a:t>
          </a:r>
        </a:p>
        <a:p>
          <a:pPr marL="57150" lvl="1" indent="-57150" algn="l" defTabSz="444500">
            <a:lnSpc>
              <a:spcPct val="90000"/>
            </a:lnSpc>
            <a:spcBef>
              <a:spcPct val="0"/>
            </a:spcBef>
            <a:spcAft>
              <a:spcPct val="15000"/>
            </a:spcAft>
            <a:buChar char="•"/>
          </a:pPr>
          <a:r>
            <a:rPr lang="en-US" sz="1000" kern="1200" dirty="0"/>
            <a:t>PPA Tenure &gt; 25 Years  </a:t>
          </a:r>
        </a:p>
      </dsp:txBody>
      <dsp:txXfrm>
        <a:off x="3361216" y="1954606"/>
        <a:ext cx="2154651" cy="1864951"/>
      </dsp:txXfrm>
    </dsp:sp>
    <dsp:sp modelId="{91DB6F46-D868-444E-946F-4F1903D17459}">
      <dsp:nvSpPr>
        <dsp:cNvPr id="0" name=""/>
        <dsp:cNvSpPr/>
      </dsp:nvSpPr>
      <dsp:spPr>
        <a:xfrm rot="10727169">
          <a:off x="2675511" y="2788296"/>
          <a:ext cx="415432" cy="286061"/>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2761319" y="2844599"/>
        <a:ext cx="329614" cy="171637"/>
      </dsp:txXfrm>
    </dsp:sp>
    <dsp:sp modelId="{571D2867-100C-4DC0-991B-E612BF31C8B4}">
      <dsp:nvSpPr>
        <dsp:cNvPr id="0" name=""/>
        <dsp:cNvSpPr/>
      </dsp:nvSpPr>
      <dsp:spPr>
        <a:xfrm>
          <a:off x="307117" y="2297769"/>
          <a:ext cx="2212419" cy="1306827"/>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t" anchorCtr="0">
          <a:noAutofit/>
        </a:bodyPr>
        <a:lstStyle/>
        <a:p>
          <a:pPr marL="0" lvl="0" indent="0" algn="ctr" defTabSz="488950">
            <a:lnSpc>
              <a:spcPct val="90000"/>
            </a:lnSpc>
            <a:spcBef>
              <a:spcPct val="0"/>
            </a:spcBef>
            <a:spcAft>
              <a:spcPct val="35000"/>
            </a:spcAft>
            <a:buNone/>
          </a:pPr>
          <a:r>
            <a:rPr lang="en-US" sz="1100" b="1" kern="1200" dirty="0"/>
            <a:t>Assessment of Terms and Conditions of PPA</a:t>
          </a:r>
        </a:p>
        <a:p>
          <a:pPr marL="57150" lvl="1" indent="-57150" algn="l" defTabSz="488950">
            <a:lnSpc>
              <a:spcPct val="90000"/>
            </a:lnSpc>
            <a:spcBef>
              <a:spcPct val="0"/>
            </a:spcBef>
            <a:spcAft>
              <a:spcPct val="15000"/>
            </a:spcAft>
            <a:buChar char="•"/>
          </a:pPr>
          <a:r>
            <a:rPr lang="en-US" sz="1100" kern="1200" dirty="0"/>
            <a:t>Termination Clause</a:t>
          </a:r>
        </a:p>
        <a:p>
          <a:pPr marL="57150" lvl="1" indent="-57150" algn="l" defTabSz="488950">
            <a:lnSpc>
              <a:spcPct val="90000"/>
            </a:lnSpc>
            <a:spcBef>
              <a:spcPct val="0"/>
            </a:spcBef>
            <a:spcAft>
              <a:spcPct val="15000"/>
            </a:spcAft>
            <a:buChar char="•"/>
          </a:pPr>
          <a:r>
            <a:rPr lang="en-US" sz="1100" kern="1200" dirty="0"/>
            <a:t>Revision of Cost of Generation and Escalation Factor)</a:t>
          </a:r>
        </a:p>
      </dsp:txBody>
      <dsp:txXfrm>
        <a:off x="345393" y="2336045"/>
        <a:ext cx="2135867" cy="1230275"/>
      </dsp:txXfrm>
    </dsp:sp>
    <dsp:sp modelId="{A40436EC-7ACF-433B-A253-3F80D6F91804}">
      <dsp:nvSpPr>
        <dsp:cNvPr id="0" name=""/>
        <dsp:cNvSpPr/>
      </dsp:nvSpPr>
      <dsp:spPr>
        <a:xfrm rot="5358690">
          <a:off x="1067673" y="3898619"/>
          <a:ext cx="412490" cy="286061"/>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rot="-5400000">
        <a:off x="1187583" y="3835408"/>
        <a:ext cx="171637" cy="326672"/>
      </dsp:txXfrm>
    </dsp:sp>
    <dsp:sp modelId="{282500A8-9A09-4542-9A53-0999611927C2}">
      <dsp:nvSpPr>
        <dsp:cNvPr id="0" name=""/>
        <dsp:cNvSpPr/>
      </dsp:nvSpPr>
      <dsp:spPr>
        <a:xfrm>
          <a:off x="346185" y="4370409"/>
          <a:ext cx="2826251" cy="980371"/>
        </a:xfrm>
        <a:prstGeom prst="roundRect">
          <a:avLst>
            <a:gd name="adj" fmla="val 10000"/>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t" anchorCtr="0">
          <a:noAutofit/>
        </a:bodyPr>
        <a:lstStyle/>
        <a:p>
          <a:pPr marL="0" lvl="0" indent="0" algn="ctr" defTabSz="488950">
            <a:lnSpc>
              <a:spcPct val="90000"/>
            </a:lnSpc>
            <a:spcBef>
              <a:spcPct val="0"/>
            </a:spcBef>
            <a:spcAft>
              <a:spcPct val="35000"/>
            </a:spcAft>
            <a:buNone/>
          </a:pPr>
          <a:r>
            <a:rPr lang="en-US" sz="1100" kern="1200" dirty="0"/>
            <a:t> </a:t>
          </a:r>
          <a:r>
            <a:rPr lang="en-US" sz="1100" b="1" kern="1200" dirty="0"/>
            <a:t>Regulation and Policy Assessment</a:t>
          </a:r>
        </a:p>
        <a:p>
          <a:pPr marL="57150" lvl="1" indent="-57150" algn="l" defTabSz="488950">
            <a:lnSpc>
              <a:spcPct val="90000"/>
            </a:lnSpc>
            <a:spcBef>
              <a:spcPct val="0"/>
            </a:spcBef>
            <a:spcAft>
              <a:spcPct val="15000"/>
            </a:spcAft>
            <a:buChar char="•"/>
          </a:pPr>
          <a:r>
            <a:rPr lang="en-US" sz="1100" kern="1200" dirty="0"/>
            <a:t>MOP guideline for exit of PPA</a:t>
          </a:r>
        </a:p>
        <a:p>
          <a:pPr marL="57150" lvl="1" indent="-57150" algn="l" defTabSz="488950">
            <a:lnSpc>
              <a:spcPct val="90000"/>
            </a:lnSpc>
            <a:spcBef>
              <a:spcPct val="0"/>
            </a:spcBef>
            <a:spcAft>
              <a:spcPct val="15000"/>
            </a:spcAft>
            <a:buChar char="•"/>
          </a:pPr>
          <a:r>
            <a:rPr lang="en-US" sz="1100" kern="1200" dirty="0"/>
            <a:t>CERC Orders on PPA Exit  </a:t>
          </a:r>
        </a:p>
      </dsp:txBody>
      <dsp:txXfrm>
        <a:off x="374899" y="4399123"/>
        <a:ext cx="2768823" cy="922943"/>
      </dsp:txXfrm>
    </dsp:sp>
    <dsp:sp modelId="{C3655BE6-FA4B-446B-9BB0-B080EB3489EE}">
      <dsp:nvSpPr>
        <dsp:cNvPr id="0" name=""/>
        <dsp:cNvSpPr/>
      </dsp:nvSpPr>
      <dsp:spPr>
        <a:xfrm rot="57734">
          <a:off x="3418488" y="4750411"/>
          <a:ext cx="592943" cy="286061"/>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418494" y="4806902"/>
        <a:ext cx="507125" cy="171637"/>
      </dsp:txXfrm>
    </dsp:sp>
    <dsp:sp modelId="{F4E24810-B3F9-48A5-9F8A-4DDFCD75482B}">
      <dsp:nvSpPr>
        <dsp:cNvPr id="0" name=""/>
        <dsp:cNvSpPr/>
      </dsp:nvSpPr>
      <dsp:spPr>
        <a:xfrm>
          <a:off x="4291041" y="4502583"/>
          <a:ext cx="2768082" cy="847560"/>
        </a:xfrm>
        <a:prstGeom prst="roundRect">
          <a:avLst>
            <a:gd name="adj" fmla="val 10000"/>
          </a:avLst>
        </a:prstGeom>
        <a:solidFill>
          <a:srgbClr val="046A3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t" anchorCtr="0">
          <a:noAutofit/>
        </a:bodyPr>
        <a:lstStyle/>
        <a:p>
          <a:pPr marL="0" lvl="0" indent="0" algn="ctr" defTabSz="488950">
            <a:lnSpc>
              <a:spcPct val="90000"/>
            </a:lnSpc>
            <a:spcBef>
              <a:spcPct val="0"/>
            </a:spcBef>
            <a:spcAft>
              <a:spcPct val="35000"/>
            </a:spcAft>
            <a:buNone/>
          </a:pPr>
          <a:r>
            <a:rPr lang="en-US" sz="1100" b="1" kern="1200" dirty="0"/>
            <a:t>Stakeholders Discussion </a:t>
          </a:r>
        </a:p>
        <a:p>
          <a:pPr marL="57150" lvl="1" indent="-57150" algn="l" defTabSz="488950">
            <a:lnSpc>
              <a:spcPct val="90000"/>
            </a:lnSpc>
            <a:spcBef>
              <a:spcPct val="0"/>
            </a:spcBef>
            <a:spcAft>
              <a:spcPct val="15000"/>
            </a:spcAft>
            <a:buChar char="•"/>
          </a:pPr>
          <a:r>
            <a:rPr lang="en-US" sz="1100" kern="1200" dirty="0"/>
            <a:t>Bilateral Negotiation with revised terms and condition with GENCOs</a:t>
          </a:r>
        </a:p>
      </dsp:txBody>
      <dsp:txXfrm>
        <a:off x="4315865" y="4527407"/>
        <a:ext cx="2718434" cy="797912"/>
      </dsp:txXfrm>
    </dsp:sp>
    <dsp:sp modelId="{FB5FF877-A278-41D8-8D51-6C62B6DD9915}">
      <dsp:nvSpPr>
        <dsp:cNvPr id="0" name=""/>
        <dsp:cNvSpPr/>
      </dsp:nvSpPr>
      <dsp:spPr>
        <a:xfrm rot="21570114">
          <a:off x="7244916" y="4767740"/>
          <a:ext cx="447628" cy="286061"/>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7244918" y="4825325"/>
        <a:ext cx="361810" cy="171637"/>
      </dsp:txXfrm>
    </dsp:sp>
    <dsp:sp modelId="{7E3A22F2-7493-471D-9D5C-DE6AE78EB534}">
      <dsp:nvSpPr>
        <dsp:cNvPr id="0" name=""/>
        <dsp:cNvSpPr/>
      </dsp:nvSpPr>
      <dsp:spPr>
        <a:xfrm>
          <a:off x="7903674" y="4512231"/>
          <a:ext cx="3197935" cy="761714"/>
        </a:xfrm>
        <a:prstGeom prst="roundRect">
          <a:avLst>
            <a:gd name="adj" fmla="val 10000"/>
          </a:avLst>
        </a:prstGeom>
        <a:solidFill>
          <a:srgbClr val="00768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t" anchorCtr="0">
          <a:noAutofit/>
        </a:bodyPr>
        <a:lstStyle/>
        <a:p>
          <a:pPr marL="0" lvl="0" indent="0" algn="ctr" defTabSz="488950">
            <a:lnSpc>
              <a:spcPct val="90000"/>
            </a:lnSpc>
            <a:spcBef>
              <a:spcPct val="0"/>
            </a:spcBef>
            <a:spcAft>
              <a:spcPct val="35000"/>
            </a:spcAft>
            <a:buNone/>
          </a:pPr>
          <a:r>
            <a:rPr lang="en-US" sz="1100" b="1" kern="1200" dirty="0"/>
            <a:t>Decision Points </a:t>
          </a:r>
          <a:r>
            <a:rPr lang="en-US" sz="1100" b="1" kern="1200" baseline="0" dirty="0"/>
            <a:t> </a:t>
          </a:r>
          <a:endParaRPr lang="en-US" sz="1100" b="1" kern="1200" dirty="0"/>
        </a:p>
        <a:p>
          <a:pPr marL="57150" lvl="1" indent="-57150" algn="l" defTabSz="488950">
            <a:lnSpc>
              <a:spcPct val="90000"/>
            </a:lnSpc>
            <a:spcBef>
              <a:spcPct val="0"/>
            </a:spcBef>
            <a:spcAft>
              <a:spcPct val="15000"/>
            </a:spcAft>
            <a:buChar char="•"/>
          </a:pPr>
          <a:r>
            <a:rPr lang="en-US" sz="1100" kern="1200" dirty="0"/>
            <a:t>Notice to GENCO for Termination</a:t>
          </a:r>
        </a:p>
        <a:p>
          <a:pPr marL="57150" lvl="1" indent="-57150" algn="l" defTabSz="488950">
            <a:lnSpc>
              <a:spcPct val="90000"/>
            </a:lnSpc>
            <a:spcBef>
              <a:spcPct val="0"/>
            </a:spcBef>
            <a:spcAft>
              <a:spcPct val="15000"/>
            </a:spcAft>
            <a:buChar char="•"/>
          </a:pPr>
          <a:r>
            <a:rPr lang="en-US" sz="1100" kern="1200" dirty="0"/>
            <a:t>PPA Termination Petition to WBERC  </a:t>
          </a:r>
        </a:p>
      </dsp:txBody>
      <dsp:txXfrm>
        <a:off x="7925984" y="4534541"/>
        <a:ext cx="3153315" cy="71709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14C1CA-1180-4D51-85B2-CDB48620094E}">
      <dsp:nvSpPr>
        <dsp:cNvPr id="0" name=""/>
        <dsp:cNvSpPr/>
      </dsp:nvSpPr>
      <dsp:spPr>
        <a:xfrm>
          <a:off x="-4913172" y="-752879"/>
          <a:ext cx="5851571" cy="5851571"/>
        </a:xfrm>
        <a:prstGeom prst="blockArc">
          <a:avLst>
            <a:gd name="adj1" fmla="val 18900000"/>
            <a:gd name="adj2" fmla="val 2700000"/>
            <a:gd name="adj3" fmla="val 369"/>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B663F31-05A2-46C0-BE55-34AFE9EE33D2}">
      <dsp:nvSpPr>
        <dsp:cNvPr id="0" name=""/>
        <dsp:cNvSpPr/>
      </dsp:nvSpPr>
      <dsp:spPr>
        <a:xfrm>
          <a:off x="410579" y="271526"/>
          <a:ext cx="5006039" cy="543400"/>
        </a:xfrm>
        <a:prstGeom prst="rect">
          <a:avLst/>
        </a:prstGeom>
        <a:solidFill>
          <a:srgbClr val="86BC25"/>
        </a:solidFill>
        <a:ln w="12700" cap="flat" cmpd="sng" algn="ctr">
          <a:solidFill>
            <a:prstClr val="white">
              <a:hueOff val="0"/>
              <a:satOff val="0"/>
              <a:lumOff val="0"/>
              <a:alphaOff val="0"/>
            </a:prstClr>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64770" tIns="32385" rIns="64770" bIns="32385" numCol="1" spcCol="1270" anchor="ctr" anchorCtr="0">
          <a:noAutofit/>
        </a:bodyPr>
        <a:lstStyle/>
        <a:p>
          <a:pPr marL="344488" lvl="0" indent="0" algn="ctr" defTabSz="755650">
            <a:lnSpc>
              <a:spcPct val="90000"/>
            </a:lnSpc>
            <a:spcBef>
              <a:spcPct val="0"/>
            </a:spcBef>
            <a:spcAft>
              <a:spcPct val="35000"/>
            </a:spcAft>
            <a:buNone/>
          </a:pPr>
          <a:r>
            <a:rPr lang="en-GB" sz="1100" kern="1200" dirty="0">
              <a:solidFill>
                <a:prstClr val="white"/>
              </a:solidFill>
              <a:latin typeface="Verdana" panose="020B0604030504040204" pitchFamily="34" charset="0"/>
              <a:ea typeface="Verdana" panose="020B0604030504040204" pitchFamily="34" charset="0"/>
              <a:cs typeface="+mn-cs"/>
            </a:rPr>
            <a:t>Target of 1600 MW through land based solar projects (less than 10 MW) till 2027</a:t>
          </a:r>
          <a:endParaRPr lang="en-US" sz="1100" kern="1200" dirty="0">
            <a:solidFill>
              <a:prstClr val="white"/>
            </a:solidFill>
            <a:latin typeface="Verdana" panose="020B0604030504040204" pitchFamily="34" charset="0"/>
            <a:ea typeface="Verdana" panose="020B0604030504040204" pitchFamily="34" charset="0"/>
            <a:cs typeface="+mn-cs"/>
          </a:endParaRPr>
        </a:p>
      </dsp:txBody>
      <dsp:txXfrm>
        <a:off x="410579" y="271526"/>
        <a:ext cx="5006039" cy="543400"/>
      </dsp:txXfrm>
    </dsp:sp>
    <dsp:sp modelId="{00FF04CB-C685-4FDD-8F8D-194E6636FC19}">
      <dsp:nvSpPr>
        <dsp:cNvPr id="0" name=""/>
        <dsp:cNvSpPr/>
      </dsp:nvSpPr>
      <dsp:spPr>
        <a:xfrm>
          <a:off x="70954" y="203601"/>
          <a:ext cx="679250" cy="67925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3C05D2D-284E-4658-BF41-422963C24DB6}">
      <dsp:nvSpPr>
        <dsp:cNvPr id="0" name=""/>
        <dsp:cNvSpPr/>
      </dsp:nvSpPr>
      <dsp:spPr>
        <a:xfrm>
          <a:off x="799964" y="1086366"/>
          <a:ext cx="4616654" cy="543400"/>
        </a:xfrm>
        <a:prstGeom prst="rect">
          <a:avLst/>
        </a:prstGeom>
        <a:solidFill>
          <a:schemeClr val="tx1">
            <a:lumMod val="65000"/>
            <a:lumOff val="35000"/>
          </a:schemeClr>
        </a:solidFill>
        <a:ln w="25400" cap="flat" cmpd="sng" algn="ctr">
          <a:solidFill>
            <a:prstClr val="black"/>
          </a:solidFill>
          <a:prstDash val="solid"/>
        </a:ln>
        <a:effectLst/>
      </dsp:spPr>
      <dsp:style>
        <a:lnRef idx="2">
          <a:schemeClr val="accent5"/>
        </a:lnRef>
        <a:fillRef idx="1">
          <a:schemeClr val="lt1"/>
        </a:fillRef>
        <a:effectRef idx="0">
          <a:schemeClr val="accent5"/>
        </a:effectRef>
        <a:fontRef idx="minor">
          <a:schemeClr val="dk1"/>
        </a:fontRef>
      </dsp:style>
      <dsp:txBody>
        <a:bodyPr spcFirstLastPara="0" vert="horz" wrap="square" lIns="475655" tIns="27940" rIns="27940" bIns="27940" numCol="1" spcCol="1270" anchor="ctr" anchorCtr="0">
          <a:noAutofit/>
        </a:bodyPr>
        <a:lstStyle/>
        <a:p>
          <a:pPr marL="0" lvl="0" indent="0" algn="l" defTabSz="488950">
            <a:lnSpc>
              <a:spcPct val="90000"/>
            </a:lnSpc>
            <a:spcBef>
              <a:spcPct val="0"/>
            </a:spcBef>
            <a:spcAft>
              <a:spcPct val="35000"/>
            </a:spcAft>
            <a:buNone/>
          </a:pPr>
          <a:r>
            <a:rPr lang="en-US" sz="1100" b="0" kern="1200" dirty="0">
              <a:solidFill>
                <a:schemeClr val="bg1"/>
              </a:solidFill>
              <a:latin typeface="Verdana" panose="020B0604030504040204" pitchFamily="34" charset="0"/>
              <a:ea typeface="Verdana" panose="020B0604030504040204" pitchFamily="34" charset="0"/>
              <a:cs typeface="+mn-cs"/>
            </a:rPr>
            <a:t>DISCOMs could use any spare land available in </a:t>
          </a:r>
          <a:r>
            <a:rPr lang="en-GB" sz="1100" b="0" kern="1200" dirty="0">
              <a:solidFill>
                <a:schemeClr val="bg1"/>
              </a:solidFill>
              <a:latin typeface="Verdana" panose="020B0604030504040204" pitchFamily="34" charset="0"/>
              <a:ea typeface="Verdana" panose="020B0604030504040204" pitchFamily="34" charset="0"/>
              <a:cs typeface="+mn-cs"/>
            </a:rPr>
            <a:t>their substations to develop solar projects with a minimum capacity of 1 MW</a:t>
          </a:r>
          <a:endParaRPr lang="en-US" sz="1100" b="0" kern="1200" dirty="0">
            <a:solidFill>
              <a:schemeClr val="bg1"/>
            </a:solidFill>
            <a:latin typeface="Verdana" panose="020B0604030504040204" pitchFamily="34" charset="0"/>
            <a:ea typeface="Verdana" panose="020B0604030504040204" pitchFamily="34" charset="0"/>
            <a:cs typeface="+mn-cs"/>
          </a:endParaRPr>
        </a:p>
      </dsp:txBody>
      <dsp:txXfrm>
        <a:off x="799964" y="1086366"/>
        <a:ext cx="4616654" cy="543400"/>
      </dsp:txXfrm>
    </dsp:sp>
    <dsp:sp modelId="{67877702-3A89-48D8-9DB5-7AAC693DB326}">
      <dsp:nvSpPr>
        <dsp:cNvPr id="0" name=""/>
        <dsp:cNvSpPr/>
      </dsp:nvSpPr>
      <dsp:spPr>
        <a:xfrm>
          <a:off x="460338" y="1018441"/>
          <a:ext cx="679250" cy="67925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76ED324-406D-410A-BD84-7B4EC747F9FC}">
      <dsp:nvSpPr>
        <dsp:cNvPr id="0" name=""/>
        <dsp:cNvSpPr/>
      </dsp:nvSpPr>
      <dsp:spPr>
        <a:xfrm>
          <a:off x="909400" y="1927707"/>
          <a:ext cx="4497144" cy="543400"/>
        </a:xfrm>
        <a:prstGeom prst="rect">
          <a:avLst/>
        </a:prstGeom>
        <a:solidFill>
          <a:srgbClr val="86BC2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324" tIns="27940" rIns="27940" bIns="27940" numCol="1" spcCol="1270" anchor="ctr" anchorCtr="0">
          <a:noAutofit/>
        </a:bodyPr>
        <a:lstStyle/>
        <a:p>
          <a:pPr marL="0" lvl="0" indent="0" algn="l" defTabSz="488950">
            <a:lnSpc>
              <a:spcPct val="90000"/>
            </a:lnSpc>
            <a:spcBef>
              <a:spcPct val="0"/>
            </a:spcBef>
            <a:spcAft>
              <a:spcPct val="35000"/>
            </a:spcAft>
            <a:buNone/>
          </a:pPr>
          <a:r>
            <a:rPr lang="en-US" sz="1100" kern="1200" dirty="0">
              <a:latin typeface="Verdana" panose="020B0604030504040204" pitchFamily="34" charset="0"/>
              <a:ea typeface="Verdana" panose="020B0604030504040204" pitchFamily="34" charset="0"/>
            </a:rPr>
            <a:t>Obligated Entities are to either set up their own solar projects or purchase power from solar projects to meet their RPOs</a:t>
          </a:r>
        </a:p>
      </dsp:txBody>
      <dsp:txXfrm>
        <a:off x="909400" y="1927707"/>
        <a:ext cx="4497144" cy="543400"/>
      </dsp:txXfrm>
    </dsp:sp>
    <dsp:sp modelId="{C0538CE7-7BEC-48CE-BED6-D3509E92E348}">
      <dsp:nvSpPr>
        <dsp:cNvPr id="0" name=""/>
        <dsp:cNvSpPr/>
      </dsp:nvSpPr>
      <dsp:spPr>
        <a:xfrm>
          <a:off x="579848" y="1833280"/>
          <a:ext cx="679250" cy="67925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CE24E53-26B2-4513-861E-265FA6646673}">
      <dsp:nvSpPr>
        <dsp:cNvPr id="0" name=""/>
        <dsp:cNvSpPr/>
      </dsp:nvSpPr>
      <dsp:spPr>
        <a:xfrm>
          <a:off x="799964" y="2716045"/>
          <a:ext cx="4616654" cy="543400"/>
        </a:xfrm>
        <a:prstGeom prst="rect">
          <a:avLst/>
        </a:prstGeom>
        <a:solidFill>
          <a:schemeClr val="tx1">
            <a:lumMod val="65000"/>
            <a:lumOff val="3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324" tIns="27940" rIns="27940" bIns="27940" numCol="1" spcCol="1270" anchor="ctr" anchorCtr="0">
          <a:noAutofit/>
        </a:bodyPr>
        <a:lstStyle/>
        <a:p>
          <a:pPr marL="0" lvl="0" indent="0" algn="l" defTabSz="488950">
            <a:lnSpc>
              <a:spcPct val="90000"/>
            </a:lnSpc>
            <a:spcBef>
              <a:spcPct val="0"/>
            </a:spcBef>
            <a:spcAft>
              <a:spcPct val="35000"/>
            </a:spcAft>
            <a:buNone/>
          </a:pPr>
          <a:r>
            <a:rPr lang="en-US" sz="1100" b="1" kern="1200" dirty="0">
              <a:solidFill>
                <a:schemeClr val="bg1"/>
              </a:solidFill>
              <a:latin typeface="Verdana" panose="020B0604030504040204" pitchFamily="34" charset="0"/>
              <a:ea typeface="Verdana" panose="020B0604030504040204" pitchFamily="34" charset="0"/>
            </a:rPr>
            <a:t>No stamp duty shall be levied </a:t>
          </a:r>
          <a:r>
            <a:rPr lang="en-US" sz="1100" kern="1200" dirty="0">
              <a:solidFill>
                <a:schemeClr val="bg1"/>
              </a:solidFill>
              <a:latin typeface="Verdana" panose="020B0604030504040204" pitchFamily="34" charset="0"/>
              <a:ea typeface="Verdana" panose="020B0604030504040204" pitchFamily="34" charset="0"/>
            </a:rPr>
            <a:t>for land conversion as per Industrial Policy 2013</a:t>
          </a:r>
        </a:p>
      </dsp:txBody>
      <dsp:txXfrm>
        <a:off x="799964" y="2716045"/>
        <a:ext cx="4616654" cy="543400"/>
      </dsp:txXfrm>
    </dsp:sp>
    <dsp:sp modelId="{F62A1658-EC31-4780-9E25-21AF11439F38}">
      <dsp:nvSpPr>
        <dsp:cNvPr id="0" name=""/>
        <dsp:cNvSpPr/>
      </dsp:nvSpPr>
      <dsp:spPr>
        <a:xfrm>
          <a:off x="460338" y="2648120"/>
          <a:ext cx="679250" cy="67925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F6807E0-3E13-419F-B92D-3C876C086B64}">
      <dsp:nvSpPr>
        <dsp:cNvPr id="0" name=""/>
        <dsp:cNvSpPr/>
      </dsp:nvSpPr>
      <dsp:spPr>
        <a:xfrm>
          <a:off x="410579" y="3530885"/>
          <a:ext cx="5006039" cy="543400"/>
        </a:xfrm>
        <a:prstGeom prst="rect">
          <a:avLst/>
        </a:prstGeom>
        <a:solidFill>
          <a:srgbClr val="86BC2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324" tIns="27940" rIns="27940" bIns="27940" numCol="1" spcCol="1270" anchor="ctr" anchorCtr="0">
          <a:noAutofit/>
        </a:bodyPr>
        <a:lstStyle/>
        <a:p>
          <a:pPr marL="0" lvl="0" indent="0" algn="l" defTabSz="488950">
            <a:lnSpc>
              <a:spcPct val="90000"/>
            </a:lnSpc>
            <a:spcBef>
              <a:spcPct val="0"/>
            </a:spcBef>
            <a:spcAft>
              <a:spcPct val="35000"/>
            </a:spcAft>
            <a:buNone/>
          </a:pPr>
          <a:r>
            <a:rPr lang="en-GB" sz="1100" kern="1200" dirty="0">
              <a:latin typeface="Verdana" panose="020B0604030504040204" pitchFamily="34" charset="0"/>
              <a:ea typeface="Verdana" panose="020B0604030504040204" pitchFamily="34" charset="0"/>
            </a:rPr>
            <a:t>The </a:t>
          </a:r>
          <a:r>
            <a:rPr lang="en-GB" sz="1100" b="1" kern="1200" dirty="0">
              <a:latin typeface="Verdana" panose="020B0604030504040204" pitchFamily="34" charset="0"/>
              <a:ea typeface="Verdana" panose="020B0604030504040204" pitchFamily="34" charset="0"/>
            </a:rPr>
            <a:t>Project Developer shall contribute </a:t>
          </a:r>
          <a:r>
            <a:rPr lang="en-GB" sz="1100" b="1" kern="1200" dirty="0">
              <a:solidFill>
                <a:srgbClr val="FFCD00"/>
              </a:solidFill>
              <a:latin typeface="Verdana" panose="020B0604030504040204" pitchFamily="34" charset="0"/>
              <a:ea typeface="Verdana" panose="020B0604030504040204" pitchFamily="34" charset="0"/>
            </a:rPr>
            <a:t>₹15 lakhs/MW</a:t>
          </a:r>
          <a:r>
            <a:rPr lang="en-GB" sz="1100" b="1" kern="1200" dirty="0">
              <a:solidFill>
                <a:schemeClr val="accent4"/>
              </a:solidFill>
              <a:latin typeface="Verdana" panose="020B0604030504040204" pitchFamily="34" charset="0"/>
              <a:ea typeface="Verdana" panose="020B0604030504040204" pitchFamily="34" charset="0"/>
            </a:rPr>
            <a:t> </a:t>
          </a:r>
          <a:r>
            <a:rPr lang="en-GB" sz="1100" b="1" kern="1200" dirty="0">
              <a:latin typeface="Verdana" panose="020B0604030504040204" pitchFamily="34" charset="0"/>
              <a:ea typeface="Verdana" panose="020B0604030504040204" pitchFamily="34" charset="0"/>
            </a:rPr>
            <a:t>towards West Bengal Green Energy Fund</a:t>
          </a:r>
          <a:endParaRPr lang="en-US" sz="1100" b="1" kern="1200" dirty="0">
            <a:latin typeface="Verdana" panose="020B0604030504040204" pitchFamily="34" charset="0"/>
            <a:ea typeface="Verdana" panose="020B0604030504040204" pitchFamily="34" charset="0"/>
          </a:endParaRPr>
        </a:p>
      </dsp:txBody>
      <dsp:txXfrm>
        <a:off x="410579" y="3530885"/>
        <a:ext cx="5006039" cy="543400"/>
      </dsp:txXfrm>
    </dsp:sp>
    <dsp:sp modelId="{FDDDAC9F-EDB8-4E10-8EBB-72CC9FCC76D6}">
      <dsp:nvSpPr>
        <dsp:cNvPr id="0" name=""/>
        <dsp:cNvSpPr/>
      </dsp:nvSpPr>
      <dsp:spPr>
        <a:xfrm>
          <a:off x="70954" y="3462960"/>
          <a:ext cx="679250" cy="67925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667645-B07C-4735-B6CD-42969AD395F8}">
      <dsp:nvSpPr>
        <dsp:cNvPr id="0" name=""/>
        <dsp:cNvSpPr/>
      </dsp:nvSpPr>
      <dsp:spPr>
        <a:xfrm>
          <a:off x="5377635" y="1270901"/>
          <a:ext cx="4211796" cy="460837"/>
        </a:xfrm>
        <a:custGeom>
          <a:avLst/>
          <a:gdLst/>
          <a:ahLst/>
          <a:cxnLst/>
          <a:rect l="0" t="0" r="0" b="0"/>
          <a:pathLst>
            <a:path>
              <a:moveTo>
                <a:pt x="0" y="0"/>
              </a:moveTo>
              <a:lnTo>
                <a:pt x="0" y="217180"/>
              </a:lnTo>
              <a:lnTo>
                <a:pt x="4211796" y="217180"/>
              </a:lnTo>
              <a:lnTo>
                <a:pt x="4211796" y="46083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FD42C7-A66F-4C45-AB6B-1B5A67496028}">
      <dsp:nvSpPr>
        <dsp:cNvPr id="0" name=""/>
        <dsp:cNvSpPr/>
      </dsp:nvSpPr>
      <dsp:spPr>
        <a:xfrm>
          <a:off x="5377635" y="1270901"/>
          <a:ext cx="1475822" cy="460837"/>
        </a:xfrm>
        <a:custGeom>
          <a:avLst/>
          <a:gdLst/>
          <a:ahLst/>
          <a:cxnLst/>
          <a:rect l="0" t="0" r="0" b="0"/>
          <a:pathLst>
            <a:path>
              <a:moveTo>
                <a:pt x="0" y="0"/>
              </a:moveTo>
              <a:lnTo>
                <a:pt x="0" y="217180"/>
              </a:lnTo>
              <a:lnTo>
                <a:pt x="1475822" y="217180"/>
              </a:lnTo>
              <a:lnTo>
                <a:pt x="1475822" y="46083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AC0870-958A-486E-B841-C54CB583E419}">
      <dsp:nvSpPr>
        <dsp:cNvPr id="0" name=""/>
        <dsp:cNvSpPr/>
      </dsp:nvSpPr>
      <dsp:spPr>
        <a:xfrm>
          <a:off x="3973702" y="1270901"/>
          <a:ext cx="1403932" cy="460837"/>
        </a:xfrm>
        <a:custGeom>
          <a:avLst/>
          <a:gdLst/>
          <a:ahLst/>
          <a:cxnLst/>
          <a:rect l="0" t="0" r="0" b="0"/>
          <a:pathLst>
            <a:path>
              <a:moveTo>
                <a:pt x="1403932" y="0"/>
              </a:moveTo>
              <a:lnTo>
                <a:pt x="1403932" y="217180"/>
              </a:lnTo>
              <a:lnTo>
                <a:pt x="0" y="217180"/>
              </a:lnTo>
              <a:lnTo>
                <a:pt x="0" y="46083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904A58B-6E05-4E49-99AF-348203DB9CAB}">
      <dsp:nvSpPr>
        <dsp:cNvPr id="0" name=""/>
        <dsp:cNvSpPr/>
      </dsp:nvSpPr>
      <dsp:spPr>
        <a:xfrm>
          <a:off x="1165838" y="1270901"/>
          <a:ext cx="4211796" cy="460837"/>
        </a:xfrm>
        <a:custGeom>
          <a:avLst/>
          <a:gdLst/>
          <a:ahLst/>
          <a:cxnLst/>
          <a:rect l="0" t="0" r="0" b="0"/>
          <a:pathLst>
            <a:path>
              <a:moveTo>
                <a:pt x="4211796" y="0"/>
              </a:moveTo>
              <a:lnTo>
                <a:pt x="4211796" y="217180"/>
              </a:lnTo>
              <a:lnTo>
                <a:pt x="0" y="217180"/>
              </a:lnTo>
              <a:lnTo>
                <a:pt x="0" y="46083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B90C2C-FB2D-4ED9-83B6-9E30F310A3FA}">
      <dsp:nvSpPr>
        <dsp:cNvPr id="0" name=""/>
        <dsp:cNvSpPr/>
      </dsp:nvSpPr>
      <dsp:spPr>
        <a:xfrm>
          <a:off x="4217360" y="110627"/>
          <a:ext cx="2320549" cy="1160274"/>
        </a:xfrm>
        <a:prstGeom prst="rect">
          <a:avLst/>
        </a:prstGeom>
        <a:solidFill>
          <a:schemeClr val="accent3">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Font typeface="+mj-lt"/>
            <a:buNone/>
          </a:pPr>
          <a:r>
            <a:rPr lang="en-IN" sz="1200" b="1" kern="1200" dirty="0"/>
            <a:t>Performance guarantee by project developer </a:t>
          </a:r>
          <a:endParaRPr lang="en-US" sz="1200" kern="1200" dirty="0"/>
        </a:p>
      </dsp:txBody>
      <dsp:txXfrm>
        <a:off x="4217360" y="110627"/>
        <a:ext cx="2320549" cy="1160274"/>
      </dsp:txXfrm>
    </dsp:sp>
    <dsp:sp modelId="{E05247F8-0464-4597-B277-D2AF5FD11FBA}">
      <dsp:nvSpPr>
        <dsp:cNvPr id="0" name=""/>
        <dsp:cNvSpPr/>
      </dsp:nvSpPr>
      <dsp:spPr>
        <a:xfrm>
          <a:off x="5563" y="1731739"/>
          <a:ext cx="2320549" cy="1160274"/>
        </a:xfrm>
        <a:prstGeom prst="rect">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Font typeface="+mj-lt"/>
            <a:buNone/>
          </a:pPr>
          <a:r>
            <a:rPr lang="en-GB" sz="1200" kern="1200" dirty="0"/>
            <a:t>On selection of developer, a LOA shall be issued to the developer.</a:t>
          </a:r>
          <a:endParaRPr lang="en-US" sz="1200" kern="1200" dirty="0"/>
        </a:p>
      </dsp:txBody>
      <dsp:txXfrm>
        <a:off x="5563" y="1731739"/>
        <a:ext cx="2320549" cy="1160274"/>
      </dsp:txXfrm>
    </dsp:sp>
    <dsp:sp modelId="{AF188180-CDE7-4FCA-AF2A-F9DFAC77B3DF}">
      <dsp:nvSpPr>
        <dsp:cNvPr id="0" name=""/>
        <dsp:cNvSpPr/>
      </dsp:nvSpPr>
      <dsp:spPr>
        <a:xfrm>
          <a:off x="2813428" y="1731739"/>
          <a:ext cx="2320549" cy="1160274"/>
        </a:xfrm>
        <a:prstGeom prst="rect">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dirty="0"/>
            <a:t>Project developer shall confirm acceptance of the project within 4 weeks of issuance of LOA</a:t>
          </a:r>
          <a:endParaRPr lang="en-US" sz="1200" kern="1200" dirty="0"/>
        </a:p>
      </dsp:txBody>
      <dsp:txXfrm>
        <a:off x="2813428" y="1731739"/>
        <a:ext cx="2320549" cy="1160274"/>
      </dsp:txXfrm>
    </dsp:sp>
    <dsp:sp modelId="{6AD40C3E-48DB-4F30-9EF5-3DD3790B1C91}">
      <dsp:nvSpPr>
        <dsp:cNvPr id="0" name=""/>
        <dsp:cNvSpPr/>
      </dsp:nvSpPr>
      <dsp:spPr>
        <a:xfrm>
          <a:off x="5693183" y="1731739"/>
          <a:ext cx="2320549" cy="1160274"/>
        </a:xfrm>
        <a:prstGeom prst="rect">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Font typeface="+mj-lt"/>
            <a:buNone/>
          </a:pPr>
          <a:r>
            <a:rPr lang="en-GB" sz="1200" kern="1200" dirty="0"/>
            <a:t>Performance guarantee of Rs.10 Lakh/MW or Rs 2.5 Laky/acre of land allotted, whichever is higher shall be levied.</a:t>
          </a:r>
          <a:endParaRPr lang="en-US" sz="1200" kern="1200" dirty="0"/>
        </a:p>
      </dsp:txBody>
      <dsp:txXfrm>
        <a:off x="5693183" y="1731739"/>
        <a:ext cx="2320549" cy="1160274"/>
      </dsp:txXfrm>
    </dsp:sp>
    <dsp:sp modelId="{73DA8723-6D31-46B5-AD93-EFFF81EF9A17}">
      <dsp:nvSpPr>
        <dsp:cNvPr id="0" name=""/>
        <dsp:cNvSpPr/>
      </dsp:nvSpPr>
      <dsp:spPr>
        <a:xfrm>
          <a:off x="8429157" y="1731739"/>
          <a:ext cx="2320549" cy="1160274"/>
        </a:xfrm>
        <a:prstGeom prst="rect">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Font typeface="+mj-lt"/>
            <a:buNone/>
          </a:pPr>
          <a:r>
            <a:rPr lang="en-GB" sz="1200" kern="1200" dirty="0"/>
            <a:t>Performance guarantee shall be returned to the developers within 3 months of project commissioning after deducting the penalty, if any</a:t>
          </a:r>
          <a:r>
            <a:rPr lang="en-IN" sz="1200" kern="1200" dirty="0"/>
            <a:t>.</a:t>
          </a:r>
          <a:endParaRPr lang="en-US" sz="1200" kern="1200" dirty="0"/>
        </a:p>
      </dsp:txBody>
      <dsp:txXfrm>
        <a:off x="8429157" y="1731739"/>
        <a:ext cx="2320549" cy="116027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2190E4-101B-4416-A482-AE3ADE6713C4}">
      <dsp:nvSpPr>
        <dsp:cNvPr id="0" name=""/>
        <dsp:cNvSpPr/>
      </dsp:nvSpPr>
      <dsp:spPr>
        <a:xfrm>
          <a:off x="0" y="1003"/>
          <a:ext cx="113141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731533-F053-4A30-9366-2D631E5E6DD4}">
      <dsp:nvSpPr>
        <dsp:cNvPr id="0" name=""/>
        <dsp:cNvSpPr/>
      </dsp:nvSpPr>
      <dsp:spPr>
        <a:xfrm>
          <a:off x="0" y="1003"/>
          <a:ext cx="2262820" cy="2052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ctr" defTabSz="711200">
            <a:lnSpc>
              <a:spcPct val="90000"/>
            </a:lnSpc>
            <a:spcBef>
              <a:spcPct val="0"/>
            </a:spcBef>
            <a:spcAft>
              <a:spcPct val="35000"/>
            </a:spcAft>
            <a:buNone/>
          </a:pPr>
          <a:r>
            <a:rPr lang="en-US" sz="1600" b="1" kern="1200" dirty="0">
              <a:effectLst/>
              <a:latin typeface="+mn-lt"/>
              <a:ea typeface="Verdana" panose="020B0604030504040204" pitchFamily="34" charset="0"/>
              <a:cs typeface="Times New Roman" panose="02020603050405020304" pitchFamily="18" charset="0"/>
            </a:rPr>
            <a:t>Solar/Hybrid parks</a:t>
          </a:r>
          <a:endParaRPr lang="en-US" sz="1600" b="1" kern="1200" dirty="0">
            <a:latin typeface="+mn-lt"/>
          </a:endParaRPr>
        </a:p>
      </dsp:txBody>
      <dsp:txXfrm>
        <a:off x="0" y="1003"/>
        <a:ext cx="2262820" cy="2052690"/>
      </dsp:txXfrm>
    </dsp:sp>
    <dsp:sp modelId="{C10D68C7-6B3E-4FCD-835F-47179A9BD26D}">
      <dsp:nvSpPr>
        <dsp:cNvPr id="0" name=""/>
        <dsp:cNvSpPr/>
      </dsp:nvSpPr>
      <dsp:spPr>
        <a:xfrm>
          <a:off x="2432531" y="25133"/>
          <a:ext cx="8881568" cy="4826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Font typeface="Symbol" panose="05050102010706020507" pitchFamily="18" charset="2"/>
            <a:buNone/>
          </a:pPr>
          <a:r>
            <a:rPr lang="en-US" sz="1400" kern="1200" dirty="0">
              <a:latin typeface="+mn-lt"/>
            </a:rPr>
            <a:t>There will be two modes of implementation of the Solar/hybrid Parks, viz, Government Owned Parks and Private Developer  Parks</a:t>
          </a:r>
        </a:p>
      </dsp:txBody>
      <dsp:txXfrm>
        <a:off x="2432531" y="25133"/>
        <a:ext cx="8881568" cy="482602"/>
      </dsp:txXfrm>
    </dsp:sp>
    <dsp:sp modelId="{7082BC1E-102E-49CA-BF58-026A21EE4144}">
      <dsp:nvSpPr>
        <dsp:cNvPr id="0" name=""/>
        <dsp:cNvSpPr/>
      </dsp:nvSpPr>
      <dsp:spPr>
        <a:xfrm>
          <a:off x="2262820" y="507736"/>
          <a:ext cx="905128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C83A1B2-47F4-483F-8C2F-05FE34C3D73B}">
      <dsp:nvSpPr>
        <dsp:cNvPr id="0" name=""/>
        <dsp:cNvSpPr/>
      </dsp:nvSpPr>
      <dsp:spPr>
        <a:xfrm>
          <a:off x="2432531" y="531866"/>
          <a:ext cx="8881568" cy="4826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Font typeface="Symbol" panose="05050102010706020507" pitchFamily="18" charset="2"/>
            <a:buNone/>
          </a:pPr>
          <a:r>
            <a:rPr lang="en-US" sz="1400" kern="1200" dirty="0">
              <a:effectLst/>
              <a:latin typeface="+mn-lt"/>
              <a:ea typeface="Verdana" panose="020B0604030504040204" pitchFamily="34" charset="0"/>
              <a:cs typeface="Times New Roman" panose="02020603050405020304" pitchFamily="18" charset="0"/>
            </a:rPr>
            <a:t>The </a:t>
          </a:r>
          <a:r>
            <a:rPr lang="en-IN" sz="1400" kern="1200" dirty="0">
              <a:latin typeface="+mn-lt"/>
            </a:rPr>
            <a:t>ratio of solar generation, in energy terms</a:t>
          </a:r>
          <a:r>
            <a:rPr lang="en-US" sz="1400" kern="1200" dirty="0">
              <a:effectLst/>
              <a:latin typeface="+mn-lt"/>
              <a:ea typeface="Verdana" panose="020B0604030504040204" pitchFamily="34" charset="0"/>
              <a:cs typeface="Times New Roman" panose="02020603050405020304" pitchFamily="18" charset="0"/>
            </a:rPr>
            <a:t>, should be at least 50% of total electricity generated in Hybrid Project.</a:t>
          </a:r>
          <a:endParaRPr lang="en-US" sz="1400" kern="1200" dirty="0">
            <a:latin typeface="+mn-lt"/>
          </a:endParaRPr>
        </a:p>
      </dsp:txBody>
      <dsp:txXfrm>
        <a:off x="2432531" y="531866"/>
        <a:ext cx="8881568" cy="482602"/>
      </dsp:txXfrm>
    </dsp:sp>
    <dsp:sp modelId="{AF9CC577-06B1-4F7B-881C-5B7F5195FD50}">
      <dsp:nvSpPr>
        <dsp:cNvPr id="0" name=""/>
        <dsp:cNvSpPr/>
      </dsp:nvSpPr>
      <dsp:spPr>
        <a:xfrm>
          <a:off x="2262820" y="1014469"/>
          <a:ext cx="905128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7EE6B12-C954-4ED5-A611-2AF10047D389}">
      <dsp:nvSpPr>
        <dsp:cNvPr id="0" name=""/>
        <dsp:cNvSpPr/>
      </dsp:nvSpPr>
      <dsp:spPr>
        <a:xfrm>
          <a:off x="2432531" y="1038599"/>
          <a:ext cx="8881568" cy="4826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Font typeface="Symbol" panose="05050102010706020507" pitchFamily="18" charset="2"/>
            <a:buNone/>
          </a:pPr>
          <a:r>
            <a:rPr lang="en-US" sz="1400" kern="1200" dirty="0">
              <a:effectLst/>
              <a:latin typeface="+mn-lt"/>
              <a:ea typeface="Verdana" panose="020B0604030504040204" pitchFamily="34" charset="0"/>
              <a:cs typeface="Times New Roman" panose="02020603050405020304" pitchFamily="18" charset="0"/>
            </a:rPr>
            <a:t>Solar/Hybrid parks would have a minimum capacity of 50 MW</a:t>
          </a:r>
          <a:endParaRPr lang="en-US" sz="1400" kern="1200" dirty="0">
            <a:latin typeface="+mn-lt"/>
          </a:endParaRPr>
        </a:p>
      </dsp:txBody>
      <dsp:txXfrm>
        <a:off x="2432531" y="1038599"/>
        <a:ext cx="8881568" cy="482602"/>
      </dsp:txXfrm>
    </dsp:sp>
    <dsp:sp modelId="{927291E7-241F-41B8-9253-B702E9A0C3CD}">
      <dsp:nvSpPr>
        <dsp:cNvPr id="0" name=""/>
        <dsp:cNvSpPr/>
      </dsp:nvSpPr>
      <dsp:spPr>
        <a:xfrm>
          <a:off x="2262820" y="1521201"/>
          <a:ext cx="905128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DE709A4-DCA6-4FF7-992F-45B5F8D174BD}">
      <dsp:nvSpPr>
        <dsp:cNvPr id="0" name=""/>
        <dsp:cNvSpPr/>
      </dsp:nvSpPr>
      <dsp:spPr>
        <a:xfrm>
          <a:off x="2432531" y="1545332"/>
          <a:ext cx="8881568" cy="4826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Font typeface="Symbol" panose="05050102010706020507" pitchFamily="18" charset="2"/>
            <a:buNone/>
          </a:pPr>
          <a:r>
            <a:rPr lang="en-US" sz="1400" kern="1200" dirty="0">
              <a:effectLst/>
              <a:latin typeface="+mn-lt"/>
              <a:ea typeface="Verdana" panose="020B0604030504040204" pitchFamily="34" charset="0"/>
              <a:cs typeface="Times New Roman" panose="02020603050405020304" pitchFamily="18" charset="0"/>
            </a:rPr>
            <a:t>Minimum capacity allotted to any individual solar power developer is 1 MW and maximum capacity allocated to a single developer shall be 20% of the Solar Park capacity</a:t>
          </a:r>
          <a:endParaRPr lang="en-US" sz="1400" kern="1200" dirty="0">
            <a:latin typeface="+mn-lt"/>
          </a:endParaRPr>
        </a:p>
      </dsp:txBody>
      <dsp:txXfrm>
        <a:off x="2432531" y="1545332"/>
        <a:ext cx="8881568" cy="482602"/>
      </dsp:txXfrm>
    </dsp:sp>
    <dsp:sp modelId="{8D5FB2D1-07FF-45FD-9996-B3043D3C780F}">
      <dsp:nvSpPr>
        <dsp:cNvPr id="0" name=""/>
        <dsp:cNvSpPr/>
      </dsp:nvSpPr>
      <dsp:spPr>
        <a:xfrm>
          <a:off x="2262820" y="2027934"/>
          <a:ext cx="905128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1371B3-D972-475E-B028-D41B48E62429}">
      <dsp:nvSpPr>
        <dsp:cNvPr id="0" name=""/>
        <dsp:cNvSpPr/>
      </dsp:nvSpPr>
      <dsp:spPr>
        <a:xfrm>
          <a:off x="4493" y="0"/>
          <a:ext cx="11186674" cy="410662"/>
        </a:xfrm>
        <a:prstGeom prst="roundRect">
          <a:avLst>
            <a:gd name="adj" fmla="val 10000"/>
          </a:avLst>
        </a:prstGeom>
        <a:solidFill>
          <a:srgbClr val="00768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Verdana" panose="020B0604030504040204" pitchFamily="34" charset="0"/>
              <a:ea typeface="Verdana" panose="020B0604030504040204" pitchFamily="34" charset="0"/>
            </a:rPr>
            <a:t>Private Park Development</a:t>
          </a:r>
        </a:p>
      </dsp:txBody>
      <dsp:txXfrm>
        <a:off x="16521" y="12028"/>
        <a:ext cx="11162618" cy="386606"/>
      </dsp:txXfrm>
    </dsp:sp>
    <dsp:sp modelId="{3A2419F7-4F15-4FF7-BF84-E651678C1596}">
      <dsp:nvSpPr>
        <dsp:cNvPr id="0" name=""/>
        <dsp:cNvSpPr/>
      </dsp:nvSpPr>
      <dsp:spPr>
        <a:xfrm>
          <a:off x="4493" y="834737"/>
          <a:ext cx="2096453" cy="1740686"/>
        </a:xfrm>
        <a:prstGeom prst="roundRect">
          <a:avLst>
            <a:gd name="adj" fmla="val 10000"/>
          </a:avLst>
        </a:prstGeom>
        <a:solidFill>
          <a:schemeClr val="accent6">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Wingdings" panose="05000000000000000000" pitchFamily="2" charset="2"/>
            <a:buNone/>
          </a:pPr>
          <a:r>
            <a:rPr lang="en-US" sz="1200" kern="1200" dirty="0">
              <a:latin typeface="Verdana" panose="020B0604030504040204" pitchFamily="34" charset="0"/>
              <a:ea typeface="Verdana" panose="020B0604030504040204" pitchFamily="34" charset="0"/>
            </a:rPr>
            <a:t>Developer shall identify suitable site and procure at least 25% of land before approaching nodal agency. In case of Govt. land, WBREDA would have to be approached</a:t>
          </a:r>
        </a:p>
      </dsp:txBody>
      <dsp:txXfrm>
        <a:off x="55476" y="885720"/>
        <a:ext cx="1994487" cy="1638720"/>
      </dsp:txXfrm>
    </dsp:sp>
    <dsp:sp modelId="{C5DB8990-A5CD-4987-AB97-681A4683DFA7}">
      <dsp:nvSpPr>
        <dsp:cNvPr id="0" name=""/>
        <dsp:cNvSpPr/>
      </dsp:nvSpPr>
      <dsp:spPr>
        <a:xfrm>
          <a:off x="2277048" y="834737"/>
          <a:ext cx="2096453" cy="1740686"/>
        </a:xfrm>
        <a:prstGeom prst="roundRect">
          <a:avLst>
            <a:gd name="adj" fmla="val 10000"/>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Symbol" panose="05050102010706020507" pitchFamily="18" charset="2"/>
            <a:buNone/>
          </a:pPr>
          <a:r>
            <a:rPr lang="en-US" sz="1200" kern="1200" dirty="0">
              <a:latin typeface="Verdana" panose="020B0604030504040204" pitchFamily="34" charset="0"/>
              <a:ea typeface="Verdana" panose="020B0604030504040204" pitchFamily="34" charset="0"/>
            </a:rPr>
            <a:t>The land allotted for solar power generation cannot be diverted for any other purpose and developer should initiate within 6 months of allotment</a:t>
          </a:r>
        </a:p>
      </dsp:txBody>
      <dsp:txXfrm>
        <a:off x="2328031" y="885720"/>
        <a:ext cx="1994487" cy="1638720"/>
      </dsp:txXfrm>
    </dsp:sp>
    <dsp:sp modelId="{1CD0DBE7-9137-481C-A7B2-A61E2BE88A7D}">
      <dsp:nvSpPr>
        <dsp:cNvPr id="0" name=""/>
        <dsp:cNvSpPr/>
      </dsp:nvSpPr>
      <dsp:spPr>
        <a:xfrm>
          <a:off x="4549604" y="834737"/>
          <a:ext cx="2096453" cy="1740686"/>
        </a:xfrm>
        <a:prstGeom prst="roundRect">
          <a:avLst>
            <a:gd name="adj" fmla="val 10000"/>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Symbol" panose="05050102010706020507" pitchFamily="18" charset="2"/>
            <a:buNone/>
          </a:pPr>
          <a:r>
            <a:rPr lang="en-US" sz="1200" kern="1200" dirty="0">
              <a:latin typeface="Verdana" panose="020B0604030504040204" pitchFamily="34" charset="0"/>
              <a:ea typeface="Verdana" panose="020B0604030504040204" pitchFamily="34" charset="0"/>
            </a:rPr>
            <a:t>PPD may either develop project on his own or further sub-let plots after creating basic infrastructure necessary</a:t>
          </a:r>
        </a:p>
      </dsp:txBody>
      <dsp:txXfrm>
        <a:off x="4600587" y="885720"/>
        <a:ext cx="1994487" cy="1638720"/>
      </dsp:txXfrm>
    </dsp:sp>
    <dsp:sp modelId="{2A7C177C-30D4-424B-92E4-3AD7A97298D7}">
      <dsp:nvSpPr>
        <dsp:cNvPr id="0" name=""/>
        <dsp:cNvSpPr/>
      </dsp:nvSpPr>
      <dsp:spPr>
        <a:xfrm>
          <a:off x="6822159" y="834737"/>
          <a:ext cx="2096453" cy="1740686"/>
        </a:xfrm>
        <a:prstGeom prst="roundRect">
          <a:avLst>
            <a:gd name="adj" fmla="val 10000"/>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Symbol" panose="05050102010706020507" pitchFamily="18" charset="2"/>
            <a:buNone/>
          </a:pPr>
          <a:r>
            <a:rPr lang="en-US" sz="1200" kern="1200" dirty="0">
              <a:latin typeface="Verdana" panose="020B0604030504040204" pitchFamily="34" charset="0"/>
              <a:ea typeface="Verdana" panose="020B0604030504040204" pitchFamily="34" charset="0"/>
            </a:rPr>
            <a:t>The project developer shall be responsible for execution of the project and the same shall be monitored by the Steering Committee</a:t>
          </a:r>
        </a:p>
      </dsp:txBody>
      <dsp:txXfrm>
        <a:off x="6873142" y="885720"/>
        <a:ext cx="1994487" cy="1638720"/>
      </dsp:txXfrm>
    </dsp:sp>
    <dsp:sp modelId="{0ACFB40F-3DD7-4BEB-AA6A-334B97DFBCB4}">
      <dsp:nvSpPr>
        <dsp:cNvPr id="0" name=""/>
        <dsp:cNvSpPr/>
      </dsp:nvSpPr>
      <dsp:spPr>
        <a:xfrm>
          <a:off x="9094715" y="834737"/>
          <a:ext cx="2096453" cy="1740686"/>
        </a:xfrm>
        <a:prstGeom prst="roundRect">
          <a:avLst>
            <a:gd name="adj" fmla="val 10000"/>
          </a:avLst>
        </a:prstGeom>
        <a:solidFill>
          <a:schemeClr val="accent6">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solidFill>
              <a:latin typeface="Verdana" panose="020B0604030504040204" pitchFamily="34" charset="0"/>
              <a:ea typeface="Verdana" panose="020B0604030504040204" pitchFamily="34" charset="0"/>
            </a:rPr>
            <a:t>The private park developer shall pay 3 times the lease rent for every year for every 1 MW shortfall if 80% of project capacity is not developed within a period of 5 years</a:t>
          </a:r>
        </a:p>
      </dsp:txBody>
      <dsp:txXfrm>
        <a:off x="9145698" y="885720"/>
        <a:ext cx="1994487" cy="163872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1371B3-D972-475E-B028-D41B48E62429}">
      <dsp:nvSpPr>
        <dsp:cNvPr id="0" name=""/>
        <dsp:cNvSpPr/>
      </dsp:nvSpPr>
      <dsp:spPr>
        <a:xfrm>
          <a:off x="8968" y="228497"/>
          <a:ext cx="11186674" cy="410662"/>
        </a:xfrm>
        <a:prstGeom prst="roundRect">
          <a:avLst>
            <a:gd name="adj" fmla="val 10000"/>
          </a:avLst>
        </a:prstGeom>
        <a:solidFill>
          <a:srgbClr val="00768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Verdana" panose="020B0604030504040204" pitchFamily="34" charset="0"/>
              <a:ea typeface="Verdana" panose="020B0604030504040204" pitchFamily="34" charset="0"/>
            </a:rPr>
            <a:t>Projects Utilizing Water Bodies</a:t>
          </a:r>
        </a:p>
      </dsp:txBody>
      <dsp:txXfrm>
        <a:off x="20996" y="240525"/>
        <a:ext cx="11162618" cy="386606"/>
      </dsp:txXfrm>
    </dsp:sp>
    <dsp:sp modelId="{3A2419F7-4F15-4FF7-BF84-E651678C1596}">
      <dsp:nvSpPr>
        <dsp:cNvPr id="0" name=""/>
        <dsp:cNvSpPr/>
      </dsp:nvSpPr>
      <dsp:spPr>
        <a:xfrm>
          <a:off x="7" y="835127"/>
          <a:ext cx="2096453" cy="1740686"/>
        </a:xfrm>
        <a:prstGeom prst="roundRect">
          <a:avLst>
            <a:gd name="adj" fmla="val 10000"/>
          </a:avLst>
        </a:prstGeom>
        <a:solidFill>
          <a:schemeClr val="accent5">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Symbol" panose="05050102010706020507" pitchFamily="18" charset="2"/>
            <a:buNone/>
          </a:pPr>
          <a:r>
            <a:rPr lang="en-US" sz="1200" kern="1200" dirty="0">
              <a:latin typeface="Verdana" panose="020B0604030504040204" pitchFamily="34" charset="0"/>
              <a:ea typeface="Verdana" panose="020B0604030504040204" pitchFamily="34" charset="0"/>
            </a:rPr>
            <a:t>WBREDA shall be the Nodal Agency for development of solar projects utilizing water bodies &amp; </a:t>
          </a:r>
          <a:r>
            <a:rPr lang="en-GB" sz="1200" kern="1200" dirty="0">
              <a:latin typeface="Verdana" panose="020B0604030504040204" pitchFamily="34" charset="0"/>
              <a:ea typeface="Verdana" panose="020B0604030504040204" pitchFamily="34" charset="0"/>
            </a:rPr>
            <a:t>co-ordinate with the concerned Departments</a:t>
          </a:r>
          <a:r>
            <a:rPr lang="en-GB" sz="1200" kern="1200" dirty="0"/>
            <a:t>.</a:t>
          </a:r>
          <a:endParaRPr lang="en-US" sz="1200" kern="1200" dirty="0">
            <a:latin typeface="Verdana" panose="020B0604030504040204" pitchFamily="34" charset="0"/>
            <a:ea typeface="Verdana" panose="020B0604030504040204" pitchFamily="34" charset="0"/>
          </a:endParaRPr>
        </a:p>
      </dsp:txBody>
      <dsp:txXfrm>
        <a:off x="50990" y="886110"/>
        <a:ext cx="1994487" cy="1638720"/>
      </dsp:txXfrm>
    </dsp:sp>
    <dsp:sp modelId="{C5DB8990-A5CD-4987-AB97-681A4683DFA7}">
      <dsp:nvSpPr>
        <dsp:cNvPr id="0" name=""/>
        <dsp:cNvSpPr/>
      </dsp:nvSpPr>
      <dsp:spPr>
        <a:xfrm>
          <a:off x="2272562" y="835127"/>
          <a:ext cx="2096453" cy="1740686"/>
        </a:xfrm>
        <a:prstGeom prst="roundRect">
          <a:avLst>
            <a:gd name="adj" fmla="val 10000"/>
          </a:avLst>
        </a:prstGeom>
        <a:solidFill>
          <a:schemeClr val="accent1">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Symbol" panose="05050102010706020507" pitchFamily="18" charset="2"/>
            <a:buNone/>
          </a:pPr>
          <a:endParaRPr lang="en-GB" sz="1200" kern="1200" dirty="0">
            <a:latin typeface="Verdana" panose="020B0604030504040204" pitchFamily="34" charset="0"/>
            <a:ea typeface="Verdana" panose="020B0604030504040204" pitchFamily="34" charset="0"/>
          </a:endParaRPr>
        </a:p>
        <a:p>
          <a:pPr marL="0" lvl="0" indent="0" algn="ctr" defTabSz="533400">
            <a:lnSpc>
              <a:spcPct val="90000"/>
            </a:lnSpc>
            <a:spcBef>
              <a:spcPct val="0"/>
            </a:spcBef>
            <a:spcAft>
              <a:spcPct val="35000"/>
            </a:spcAft>
            <a:buFont typeface="Symbol" panose="05050102010706020507" pitchFamily="18" charset="2"/>
            <a:buNone/>
          </a:pPr>
          <a:r>
            <a:rPr lang="en-GB" sz="1200" kern="1200" dirty="0">
              <a:latin typeface="Verdana" panose="020B0604030504040204" pitchFamily="34" charset="0"/>
              <a:ea typeface="Verdana" panose="020B0604030504040204" pitchFamily="34" charset="0"/>
            </a:rPr>
            <a:t>The entity controlling water body shall provide full cooperation to the agency developing solar project selected by the state Government</a:t>
          </a:r>
          <a:endParaRPr lang="en-US" sz="1200" kern="1200" dirty="0">
            <a:latin typeface="Verdana" panose="020B0604030504040204" pitchFamily="34" charset="0"/>
            <a:ea typeface="Verdana" panose="020B0604030504040204" pitchFamily="34" charset="0"/>
          </a:endParaRPr>
        </a:p>
      </dsp:txBody>
      <dsp:txXfrm>
        <a:off x="2323545" y="886110"/>
        <a:ext cx="1994487" cy="1638720"/>
      </dsp:txXfrm>
    </dsp:sp>
    <dsp:sp modelId="{1CD0DBE7-9137-481C-A7B2-A61E2BE88A7D}">
      <dsp:nvSpPr>
        <dsp:cNvPr id="0" name=""/>
        <dsp:cNvSpPr/>
      </dsp:nvSpPr>
      <dsp:spPr>
        <a:xfrm>
          <a:off x="4545117" y="835127"/>
          <a:ext cx="2096453" cy="1740686"/>
        </a:xfrm>
        <a:prstGeom prst="roundRect">
          <a:avLst>
            <a:gd name="adj" fmla="val 10000"/>
          </a:avLst>
        </a:prstGeom>
        <a:solidFill>
          <a:schemeClr val="accent1">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Symbol" panose="05050102010706020507" pitchFamily="18" charset="2"/>
            <a:buNone/>
          </a:pPr>
          <a:r>
            <a:rPr lang="en-GB" sz="1200" kern="1200" dirty="0">
              <a:solidFill>
                <a:schemeClr val="tx1"/>
              </a:solidFill>
              <a:latin typeface="Verdana" panose="020B0604030504040204" pitchFamily="34" charset="0"/>
              <a:ea typeface="Verdana" panose="020B0604030504040204" pitchFamily="34" charset="0"/>
            </a:rPr>
            <a:t>The project developers need not pay any lease charges for water surface area/ canal top area.</a:t>
          </a:r>
          <a:endParaRPr lang="en-US" sz="1200" kern="1200" dirty="0">
            <a:solidFill>
              <a:schemeClr val="tx1"/>
            </a:solidFill>
            <a:latin typeface="Verdana" panose="020B0604030504040204" pitchFamily="34" charset="0"/>
            <a:ea typeface="Verdana" panose="020B0604030504040204" pitchFamily="34" charset="0"/>
          </a:endParaRPr>
        </a:p>
      </dsp:txBody>
      <dsp:txXfrm>
        <a:off x="4596100" y="886110"/>
        <a:ext cx="1994487" cy="1638720"/>
      </dsp:txXfrm>
    </dsp:sp>
    <dsp:sp modelId="{2A7C177C-30D4-424B-92E4-3AD7A97298D7}">
      <dsp:nvSpPr>
        <dsp:cNvPr id="0" name=""/>
        <dsp:cNvSpPr/>
      </dsp:nvSpPr>
      <dsp:spPr>
        <a:xfrm>
          <a:off x="6817673" y="835127"/>
          <a:ext cx="2096453" cy="1740686"/>
        </a:xfrm>
        <a:prstGeom prst="roundRect">
          <a:avLst>
            <a:gd name="adj" fmla="val 10000"/>
          </a:avLst>
        </a:prstGeom>
        <a:solidFill>
          <a:schemeClr val="accent1">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Symbol" panose="05050102010706020507" pitchFamily="18" charset="2"/>
            <a:buNone/>
          </a:pPr>
          <a:endParaRPr lang="en-GB" sz="1200" kern="1200" dirty="0">
            <a:solidFill>
              <a:srgbClr val="002060"/>
            </a:solidFill>
            <a:latin typeface="Verdana" panose="020B0604030504040204" pitchFamily="34" charset="0"/>
            <a:ea typeface="Verdana" panose="020B0604030504040204" pitchFamily="34" charset="0"/>
          </a:endParaRPr>
        </a:p>
        <a:p>
          <a:pPr marL="0" lvl="0" indent="0" algn="ctr" defTabSz="533400">
            <a:lnSpc>
              <a:spcPct val="90000"/>
            </a:lnSpc>
            <a:spcBef>
              <a:spcPct val="0"/>
            </a:spcBef>
            <a:spcAft>
              <a:spcPct val="35000"/>
            </a:spcAft>
            <a:buFont typeface="Symbol" panose="05050102010706020507" pitchFamily="18" charset="2"/>
            <a:buNone/>
          </a:pPr>
          <a:r>
            <a:rPr lang="en-GB" sz="1200" kern="1200" dirty="0">
              <a:solidFill>
                <a:srgbClr val="002060"/>
              </a:solidFill>
              <a:latin typeface="Verdana" panose="020B0604030504040204" pitchFamily="34" charset="0"/>
              <a:ea typeface="Verdana" panose="020B0604030504040204" pitchFamily="34" charset="0"/>
            </a:rPr>
            <a:t>WBREDA shall co-ordinate with DISCOM for floating tenders for power procurement from floating solar plant through competitive bidding</a:t>
          </a:r>
          <a:endParaRPr lang="en-US" sz="1200" kern="1200" dirty="0">
            <a:solidFill>
              <a:srgbClr val="002060"/>
            </a:solidFill>
            <a:latin typeface="Verdana" panose="020B0604030504040204" pitchFamily="34" charset="0"/>
            <a:ea typeface="Verdana" panose="020B0604030504040204" pitchFamily="34" charset="0"/>
          </a:endParaRPr>
        </a:p>
      </dsp:txBody>
      <dsp:txXfrm>
        <a:off x="6868656" y="886110"/>
        <a:ext cx="1994487" cy="1638720"/>
      </dsp:txXfrm>
    </dsp:sp>
    <dsp:sp modelId="{0ACFB40F-3DD7-4BEB-AA6A-334B97DFBCB4}">
      <dsp:nvSpPr>
        <dsp:cNvPr id="0" name=""/>
        <dsp:cNvSpPr/>
      </dsp:nvSpPr>
      <dsp:spPr>
        <a:xfrm>
          <a:off x="9094715" y="834737"/>
          <a:ext cx="2096453" cy="1740686"/>
        </a:xfrm>
        <a:prstGeom prst="roundRect">
          <a:avLst>
            <a:gd name="adj" fmla="val 10000"/>
          </a:avLst>
        </a:prstGeom>
        <a:solidFill>
          <a:schemeClr val="accent1">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en-US" sz="1200" kern="1200" dirty="0">
            <a:solidFill>
              <a:schemeClr val="tx1"/>
            </a:solidFill>
            <a:latin typeface="Verdana" panose="020B0604030504040204" pitchFamily="34" charset="0"/>
            <a:ea typeface="Verdana" panose="020B0604030504040204" pitchFamily="34" charset="0"/>
          </a:endParaRPr>
        </a:p>
        <a:p>
          <a:pPr marL="0" lvl="0" indent="0" algn="ctr" defTabSz="533400">
            <a:lnSpc>
              <a:spcPct val="90000"/>
            </a:lnSpc>
            <a:spcBef>
              <a:spcPct val="0"/>
            </a:spcBef>
            <a:spcAft>
              <a:spcPct val="35000"/>
            </a:spcAft>
            <a:buNone/>
          </a:pPr>
          <a:r>
            <a:rPr lang="en-US" sz="1200" kern="1200" dirty="0">
              <a:solidFill>
                <a:schemeClr val="tx1"/>
              </a:solidFill>
              <a:latin typeface="Verdana" panose="020B0604030504040204" pitchFamily="34" charset="0"/>
              <a:ea typeface="Verdana" panose="020B0604030504040204" pitchFamily="34" charset="0"/>
            </a:rPr>
            <a:t>DISCOMs shall procure power by competitive bidding process</a:t>
          </a:r>
        </a:p>
        <a:p>
          <a:pPr marL="0" lvl="0" indent="0" algn="ctr" defTabSz="533400">
            <a:lnSpc>
              <a:spcPct val="90000"/>
            </a:lnSpc>
            <a:spcBef>
              <a:spcPct val="0"/>
            </a:spcBef>
            <a:spcAft>
              <a:spcPct val="35000"/>
            </a:spcAft>
            <a:buNone/>
          </a:pPr>
          <a:r>
            <a:rPr lang="en-US" sz="1200" kern="1200" dirty="0">
              <a:solidFill>
                <a:schemeClr val="tx1"/>
              </a:solidFill>
              <a:latin typeface="Verdana" panose="020B0604030504040204" pitchFamily="34" charset="0"/>
              <a:ea typeface="Verdana" panose="020B0604030504040204" pitchFamily="34" charset="0"/>
            </a:rPr>
            <a:t>Alternatively, WBERC may determine tariff under Sec 62 of EA 2003</a:t>
          </a:r>
        </a:p>
      </dsp:txBody>
      <dsp:txXfrm>
        <a:off x="9145698" y="885720"/>
        <a:ext cx="1994487" cy="163872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0089FF-F072-4B07-A232-1712FE9D35F9}">
      <dsp:nvSpPr>
        <dsp:cNvPr id="0" name=""/>
        <dsp:cNvSpPr/>
      </dsp:nvSpPr>
      <dsp:spPr>
        <a:xfrm>
          <a:off x="0" y="1676"/>
          <a:ext cx="10515186"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37B1E5-FFA9-4C7C-A6AB-40649108BA42}">
      <dsp:nvSpPr>
        <dsp:cNvPr id="0" name=""/>
        <dsp:cNvSpPr/>
      </dsp:nvSpPr>
      <dsp:spPr>
        <a:xfrm>
          <a:off x="0" y="1676"/>
          <a:ext cx="2103037" cy="34303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Verdana" panose="020B0604030504040204" pitchFamily="34" charset="0"/>
              <a:ea typeface="Verdana" panose="020B0604030504040204" pitchFamily="34" charset="0"/>
            </a:rPr>
            <a:t>Projects on consumer side of meter: </a:t>
          </a:r>
        </a:p>
        <a:p>
          <a:pPr marL="0" lvl="0" indent="0" algn="l" defTabSz="622300">
            <a:lnSpc>
              <a:spcPct val="90000"/>
            </a:lnSpc>
            <a:spcBef>
              <a:spcPct val="0"/>
            </a:spcBef>
            <a:spcAft>
              <a:spcPct val="35000"/>
            </a:spcAft>
            <a:buNone/>
          </a:pPr>
          <a:r>
            <a:rPr lang="en-US" sz="1400" i="1" kern="1200" dirty="0">
              <a:latin typeface="Verdana" panose="020B0604030504040204" pitchFamily="34" charset="0"/>
              <a:ea typeface="Verdana" panose="020B0604030504040204" pitchFamily="34" charset="0"/>
            </a:rPr>
            <a:t>These projects would use the solar power within the premises of the consumer during the day in tandem with grid power and export excess power.</a:t>
          </a:r>
        </a:p>
      </dsp:txBody>
      <dsp:txXfrm>
        <a:off x="0" y="1676"/>
        <a:ext cx="2103037" cy="3430321"/>
      </dsp:txXfrm>
    </dsp:sp>
    <dsp:sp modelId="{6DE755C2-DBC3-4114-AA5F-54A5EACCF1A2}">
      <dsp:nvSpPr>
        <dsp:cNvPr id="0" name=""/>
        <dsp:cNvSpPr/>
      </dsp:nvSpPr>
      <dsp:spPr>
        <a:xfrm>
          <a:off x="2260764" y="24832"/>
          <a:ext cx="8254421" cy="46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latin typeface="Verdana" panose="020B0604030504040204" pitchFamily="34" charset="0"/>
              <a:ea typeface="Verdana" panose="020B0604030504040204" pitchFamily="34" charset="0"/>
            </a:rPr>
            <a:t>A </a:t>
          </a:r>
          <a:r>
            <a:rPr lang="en-US" sz="1400" b="1" kern="1200" dirty="0">
              <a:latin typeface="Verdana" panose="020B0604030504040204" pitchFamily="34" charset="0"/>
              <a:ea typeface="Verdana" panose="020B0604030504040204" pitchFamily="34" charset="0"/>
            </a:rPr>
            <a:t>target of 1300 MW by 2027</a:t>
          </a:r>
          <a:r>
            <a:rPr lang="en-US" sz="1400" kern="1200" dirty="0">
              <a:latin typeface="Verdana" panose="020B0604030504040204" pitchFamily="34" charset="0"/>
              <a:ea typeface="Verdana" panose="020B0604030504040204" pitchFamily="34" charset="0"/>
            </a:rPr>
            <a:t> is set for Small scale solar PV project on consumer side of the meter. It can be either RESCO or CAPEX model</a:t>
          </a:r>
        </a:p>
      </dsp:txBody>
      <dsp:txXfrm>
        <a:off x="2260764" y="24832"/>
        <a:ext cx="8254421" cy="463126"/>
      </dsp:txXfrm>
    </dsp:sp>
    <dsp:sp modelId="{94F7AA55-150D-4AC4-B60D-E3AE05C9C223}">
      <dsp:nvSpPr>
        <dsp:cNvPr id="0" name=""/>
        <dsp:cNvSpPr/>
      </dsp:nvSpPr>
      <dsp:spPr>
        <a:xfrm>
          <a:off x="2103037" y="487959"/>
          <a:ext cx="8412148"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5598906-20AE-46BC-8916-BF1CC7DD8CC3}">
      <dsp:nvSpPr>
        <dsp:cNvPr id="0" name=""/>
        <dsp:cNvSpPr/>
      </dsp:nvSpPr>
      <dsp:spPr>
        <a:xfrm>
          <a:off x="2260764" y="511116"/>
          <a:ext cx="8254421" cy="46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latin typeface="Verdana" panose="020B0604030504040204" pitchFamily="34" charset="0"/>
              <a:ea typeface="Verdana" panose="020B0604030504040204" pitchFamily="34" charset="0"/>
            </a:rPr>
            <a:t>The consumer may set up the project using net metering, net billing or behind the meter framework</a:t>
          </a:r>
        </a:p>
      </dsp:txBody>
      <dsp:txXfrm>
        <a:off x="2260764" y="511116"/>
        <a:ext cx="8254421" cy="463126"/>
      </dsp:txXfrm>
    </dsp:sp>
    <dsp:sp modelId="{A1DDDB66-DEB4-4BB6-9100-D2B590BF9685}">
      <dsp:nvSpPr>
        <dsp:cNvPr id="0" name=""/>
        <dsp:cNvSpPr/>
      </dsp:nvSpPr>
      <dsp:spPr>
        <a:xfrm>
          <a:off x="2103037" y="974243"/>
          <a:ext cx="8412148"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CE668C2-BAD8-4BF1-BC2B-0E10B24A5537}">
      <dsp:nvSpPr>
        <dsp:cNvPr id="0" name=""/>
        <dsp:cNvSpPr/>
      </dsp:nvSpPr>
      <dsp:spPr>
        <a:xfrm>
          <a:off x="2260764" y="997399"/>
          <a:ext cx="8254421" cy="46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Font typeface="Symbol" panose="05050102010706020507" pitchFamily="18" charset="2"/>
            <a:buNone/>
          </a:pPr>
          <a:r>
            <a:rPr lang="en-US" sz="1400" kern="1200" dirty="0">
              <a:latin typeface="Verdana" panose="020B0604030504040204" pitchFamily="34" charset="0"/>
              <a:ea typeface="Verdana" panose="020B0604030504040204" pitchFamily="34" charset="0"/>
            </a:rPr>
            <a:t>The consumer shall be allowed to set up solar project up to its Contract Demand, Connected Load as the case may be.</a:t>
          </a:r>
        </a:p>
      </dsp:txBody>
      <dsp:txXfrm>
        <a:off x="2260764" y="997399"/>
        <a:ext cx="8254421" cy="463126"/>
      </dsp:txXfrm>
    </dsp:sp>
    <dsp:sp modelId="{4A7AB2CC-A650-4D7C-8F87-E18285EB2CE8}">
      <dsp:nvSpPr>
        <dsp:cNvPr id="0" name=""/>
        <dsp:cNvSpPr/>
      </dsp:nvSpPr>
      <dsp:spPr>
        <a:xfrm>
          <a:off x="2103037" y="1460526"/>
          <a:ext cx="8412148"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10FF0EF-CC9C-4A66-AF57-2FA655B3872A}">
      <dsp:nvSpPr>
        <dsp:cNvPr id="0" name=""/>
        <dsp:cNvSpPr/>
      </dsp:nvSpPr>
      <dsp:spPr>
        <a:xfrm>
          <a:off x="2260764" y="1483682"/>
          <a:ext cx="8254421" cy="46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latin typeface="Verdana" panose="020B0604030504040204" pitchFamily="34" charset="0"/>
              <a:ea typeface="Verdana" panose="020B0604030504040204" pitchFamily="34" charset="0"/>
            </a:rPr>
            <a:t>The Consumer who wants to develop rooftop PV projects can set up their facility by connecting to the grid as per the relevant regulation of WBERC</a:t>
          </a:r>
        </a:p>
      </dsp:txBody>
      <dsp:txXfrm>
        <a:off x="2260764" y="1483682"/>
        <a:ext cx="8254421" cy="463126"/>
      </dsp:txXfrm>
    </dsp:sp>
    <dsp:sp modelId="{7772CAF0-7D06-4A3F-A9EA-6F406D0E686D}">
      <dsp:nvSpPr>
        <dsp:cNvPr id="0" name=""/>
        <dsp:cNvSpPr/>
      </dsp:nvSpPr>
      <dsp:spPr>
        <a:xfrm>
          <a:off x="2103037" y="1946809"/>
          <a:ext cx="8412148"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0787AB5-BB32-4139-B2EF-8D2D82CADD69}">
      <dsp:nvSpPr>
        <dsp:cNvPr id="0" name=""/>
        <dsp:cNvSpPr/>
      </dsp:nvSpPr>
      <dsp:spPr>
        <a:xfrm>
          <a:off x="2260764" y="1969966"/>
          <a:ext cx="8254421" cy="46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Font typeface="Symbol" panose="05050102010706020507" pitchFamily="18" charset="2"/>
            <a:buNone/>
          </a:pPr>
          <a:r>
            <a:rPr lang="en-US" sz="1400" b="1" kern="1200" dirty="0">
              <a:latin typeface="Verdana" panose="020B0604030504040204" pitchFamily="34" charset="0"/>
              <a:ea typeface="Verdana" panose="020B0604030504040204" pitchFamily="34" charset="0"/>
            </a:rPr>
            <a:t>DISCOMs would act as the implementing agency </a:t>
          </a:r>
          <a:r>
            <a:rPr lang="en-US" sz="1400" kern="1200" dirty="0">
              <a:latin typeface="Verdana" panose="020B0604030504040204" pitchFamily="34" charset="0"/>
              <a:ea typeface="Verdana" panose="020B0604030504040204" pitchFamily="34" charset="0"/>
            </a:rPr>
            <a:t>for all projects installed in consumer side of the meter. </a:t>
          </a:r>
        </a:p>
      </dsp:txBody>
      <dsp:txXfrm>
        <a:off x="2260764" y="1969966"/>
        <a:ext cx="8254421" cy="463126"/>
      </dsp:txXfrm>
    </dsp:sp>
    <dsp:sp modelId="{C95A5FA1-EA7B-4469-B592-0C1A12D50ECA}">
      <dsp:nvSpPr>
        <dsp:cNvPr id="0" name=""/>
        <dsp:cNvSpPr/>
      </dsp:nvSpPr>
      <dsp:spPr>
        <a:xfrm>
          <a:off x="2103037" y="2433093"/>
          <a:ext cx="8412148"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29E034B-75AE-41FE-BA8D-7933AA1067C7}">
      <dsp:nvSpPr>
        <dsp:cNvPr id="0" name=""/>
        <dsp:cNvSpPr/>
      </dsp:nvSpPr>
      <dsp:spPr>
        <a:xfrm>
          <a:off x="2260764" y="2456249"/>
          <a:ext cx="8254421" cy="46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latin typeface="Verdana" panose="020B0604030504040204" pitchFamily="34" charset="0"/>
              <a:ea typeface="Verdana" panose="020B0604030504040204" pitchFamily="34" charset="0"/>
            </a:rPr>
            <a:t>The consumer/ Project developer shall follow the net metering/gross metering regulations as issued by the WBERC </a:t>
          </a:r>
        </a:p>
      </dsp:txBody>
      <dsp:txXfrm>
        <a:off x="2260764" y="2456249"/>
        <a:ext cx="8254421" cy="463126"/>
      </dsp:txXfrm>
    </dsp:sp>
    <dsp:sp modelId="{5DDB31D8-6405-4A49-B27A-16B10F9D7599}">
      <dsp:nvSpPr>
        <dsp:cNvPr id="0" name=""/>
        <dsp:cNvSpPr/>
      </dsp:nvSpPr>
      <dsp:spPr>
        <a:xfrm>
          <a:off x="2103037" y="2919376"/>
          <a:ext cx="8412148"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E59ECFF-C9B2-4197-8452-DCADAAAECEB4}">
      <dsp:nvSpPr>
        <dsp:cNvPr id="0" name=""/>
        <dsp:cNvSpPr/>
      </dsp:nvSpPr>
      <dsp:spPr>
        <a:xfrm>
          <a:off x="2260764" y="2942532"/>
          <a:ext cx="8254421" cy="46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Verdana" panose="020B0604030504040204" pitchFamily="34" charset="0"/>
              <a:ea typeface="Verdana" panose="020B0604030504040204" pitchFamily="34" charset="0"/>
            </a:rPr>
            <a:t>DISCOMs shall coordinate with MNRE for implementation of its scheme</a:t>
          </a:r>
          <a:r>
            <a:rPr lang="en-US" sz="1400" kern="1200" dirty="0">
              <a:latin typeface="Verdana" panose="020B0604030504040204" pitchFamily="34" charset="0"/>
              <a:ea typeface="Verdana" panose="020B0604030504040204" pitchFamily="34" charset="0"/>
            </a:rPr>
            <a:t> announced from time to time, including incentives/subsidies</a:t>
          </a:r>
        </a:p>
      </dsp:txBody>
      <dsp:txXfrm>
        <a:off x="2260764" y="2942532"/>
        <a:ext cx="8254421" cy="463126"/>
      </dsp:txXfrm>
    </dsp:sp>
    <dsp:sp modelId="{2E02307B-1302-4207-8CBD-EF96F4A380B0}">
      <dsp:nvSpPr>
        <dsp:cNvPr id="0" name=""/>
        <dsp:cNvSpPr/>
      </dsp:nvSpPr>
      <dsp:spPr>
        <a:xfrm>
          <a:off x="2103037" y="3405659"/>
          <a:ext cx="8412148"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AAD94B-2728-47F8-AF7C-F1D7AAEF59BF}">
      <dsp:nvSpPr>
        <dsp:cNvPr id="0" name=""/>
        <dsp:cNvSpPr/>
      </dsp:nvSpPr>
      <dsp:spPr>
        <a:xfrm>
          <a:off x="1739815" y="390640"/>
          <a:ext cx="4351213" cy="4351213"/>
        </a:xfrm>
        <a:prstGeom prst="blockArc">
          <a:avLst>
            <a:gd name="adj1" fmla="val 14040000"/>
            <a:gd name="adj2" fmla="val 16200000"/>
            <a:gd name="adj3" fmla="val 275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1B0DA6A-D988-4B8E-B695-647CCEE9359F}">
      <dsp:nvSpPr>
        <dsp:cNvPr id="0" name=""/>
        <dsp:cNvSpPr/>
      </dsp:nvSpPr>
      <dsp:spPr>
        <a:xfrm>
          <a:off x="1739815" y="390640"/>
          <a:ext cx="4351213" cy="4351213"/>
        </a:xfrm>
        <a:prstGeom prst="blockArc">
          <a:avLst>
            <a:gd name="adj1" fmla="val 11880000"/>
            <a:gd name="adj2" fmla="val 14040000"/>
            <a:gd name="adj3" fmla="val 275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06F6845-64BF-4336-83B1-38A719775AEC}">
      <dsp:nvSpPr>
        <dsp:cNvPr id="0" name=""/>
        <dsp:cNvSpPr/>
      </dsp:nvSpPr>
      <dsp:spPr>
        <a:xfrm>
          <a:off x="1739815" y="390640"/>
          <a:ext cx="4351213" cy="4351213"/>
        </a:xfrm>
        <a:prstGeom prst="blockArc">
          <a:avLst>
            <a:gd name="adj1" fmla="val 9720000"/>
            <a:gd name="adj2" fmla="val 11880000"/>
            <a:gd name="adj3" fmla="val 275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61C95D4-7B97-4324-8323-A8BCAA2ED7CB}">
      <dsp:nvSpPr>
        <dsp:cNvPr id="0" name=""/>
        <dsp:cNvSpPr/>
      </dsp:nvSpPr>
      <dsp:spPr>
        <a:xfrm>
          <a:off x="1739815" y="390640"/>
          <a:ext cx="4351213" cy="4351213"/>
        </a:xfrm>
        <a:prstGeom prst="blockArc">
          <a:avLst>
            <a:gd name="adj1" fmla="val 7560000"/>
            <a:gd name="adj2" fmla="val 9720000"/>
            <a:gd name="adj3" fmla="val 275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0A62CC0-DCA2-4D54-A6E1-CC9F671ED535}">
      <dsp:nvSpPr>
        <dsp:cNvPr id="0" name=""/>
        <dsp:cNvSpPr/>
      </dsp:nvSpPr>
      <dsp:spPr>
        <a:xfrm>
          <a:off x="1739815" y="390640"/>
          <a:ext cx="4351213" cy="4351213"/>
        </a:xfrm>
        <a:prstGeom prst="blockArc">
          <a:avLst>
            <a:gd name="adj1" fmla="val 5400000"/>
            <a:gd name="adj2" fmla="val 7560000"/>
            <a:gd name="adj3" fmla="val 275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152D778-D8C4-49B5-8127-5A4AD46B4962}">
      <dsp:nvSpPr>
        <dsp:cNvPr id="0" name=""/>
        <dsp:cNvSpPr/>
      </dsp:nvSpPr>
      <dsp:spPr>
        <a:xfrm>
          <a:off x="1739815" y="390640"/>
          <a:ext cx="4351213" cy="4351213"/>
        </a:xfrm>
        <a:prstGeom prst="blockArc">
          <a:avLst>
            <a:gd name="adj1" fmla="val 3240000"/>
            <a:gd name="adj2" fmla="val 5400000"/>
            <a:gd name="adj3" fmla="val 275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043DA83-90E9-43AA-9F29-B7E0B9227EA1}">
      <dsp:nvSpPr>
        <dsp:cNvPr id="0" name=""/>
        <dsp:cNvSpPr/>
      </dsp:nvSpPr>
      <dsp:spPr>
        <a:xfrm>
          <a:off x="1739815" y="390640"/>
          <a:ext cx="4351213" cy="4351213"/>
        </a:xfrm>
        <a:prstGeom prst="blockArc">
          <a:avLst>
            <a:gd name="adj1" fmla="val 1080000"/>
            <a:gd name="adj2" fmla="val 3240000"/>
            <a:gd name="adj3" fmla="val 275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97EB7C4-644D-4A21-8C2D-FC2449969818}">
      <dsp:nvSpPr>
        <dsp:cNvPr id="0" name=""/>
        <dsp:cNvSpPr/>
      </dsp:nvSpPr>
      <dsp:spPr>
        <a:xfrm>
          <a:off x="1739815" y="390640"/>
          <a:ext cx="4351213" cy="4351213"/>
        </a:xfrm>
        <a:prstGeom prst="blockArc">
          <a:avLst>
            <a:gd name="adj1" fmla="val 20520000"/>
            <a:gd name="adj2" fmla="val 1080000"/>
            <a:gd name="adj3" fmla="val 275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11F77CB-F70E-41BD-BA57-341AB8EE0BB5}">
      <dsp:nvSpPr>
        <dsp:cNvPr id="0" name=""/>
        <dsp:cNvSpPr/>
      </dsp:nvSpPr>
      <dsp:spPr>
        <a:xfrm>
          <a:off x="1739815" y="390640"/>
          <a:ext cx="4351213" cy="4351213"/>
        </a:xfrm>
        <a:prstGeom prst="blockArc">
          <a:avLst>
            <a:gd name="adj1" fmla="val 18360000"/>
            <a:gd name="adj2" fmla="val 20520000"/>
            <a:gd name="adj3" fmla="val 275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5989309-D123-4643-A7E7-CAA090AD28E7}">
      <dsp:nvSpPr>
        <dsp:cNvPr id="0" name=""/>
        <dsp:cNvSpPr/>
      </dsp:nvSpPr>
      <dsp:spPr>
        <a:xfrm>
          <a:off x="1739815" y="390640"/>
          <a:ext cx="4351213" cy="4351213"/>
        </a:xfrm>
        <a:prstGeom prst="blockArc">
          <a:avLst>
            <a:gd name="adj1" fmla="val 16200000"/>
            <a:gd name="adj2" fmla="val 18360000"/>
            <a:gd name="adj3" fmla="val 275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236356A-8127-43A4-90D3-7398D450059B}">
      <dsp:nvSpPr>
        <dsp:cNvPr id="0" name=""/>
        <dsp:cNvSpPr/>
      </dsp:nvSpPr>
      <dsp:spPr>
        <a:xfrm>
          <a:off x="2804161" y="1531410"/>
          <a:ext cx="2222521" cy="2069672"/>
        </a:xfrm>
        <a:prstGeom prst="ellipse">
          <a:avLst/>
        </a:prstGeom>
        <a:noFill/>
        <a:ln w="38100" cap="flat" cmpd="sng" algn="ctr">
          <a:solidFill>
            <a:srgbClr val="00206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688975">
            <a:lnSpc>
              <a:spcPct val="90000"/>
            </a:lnSpc>
            <a:spcBef>
              <a:spcPct val="0"/>
            </a:spcBef>
            <a:spcAft>
              <a:spcPct val="35000"/>
            </a:spcAft>
            <a:buNone/>
          </a:pPr>
          <a:r>
            <a:rPr lang="en-US" sz="1550" b="1" kern="1200" dirty="0">
              <a:solidFill>
                <a:schemeClr val="tx1"/>
              </a:solidFill>
            </a:rPr>
            <a:t>Major Solar Components</a:t>
          </a:r>
        </a:p>
      </dsp:txBody>
      <dsp:txXfrm>
        <a:off x="3129642" y="1834506"/>
        <a:ext cx="1571559" cy="1463480"/>
      </dsp:txXfrm>
    </dsp:sp>
    <dsp:sp modelId="{E2CCC8D8-CAF3-44E9-9B39-43B92DCC33C7}">
      <dsp:nvSpPr>
        <dsp:cNvPr id="0" name=""/>
        <dsp:cNvSpPr/>
      </dsp:nvSpPr>
      <dsp:spPr>
        <a:xfrm>
          <a:off x="3301921" y="-213155"/>
          <a:ext cx="1227001" cy="1267622"/>
        </a:xfrm>
        <a:prstGeom prst="ellipse">
          <a:avLst/>
        </a:prstGeom>
        <a:solidFill>
          <a:schemeClr val="tx1">
            <a:lumMod val="75000"/>
            <a:lumOff val="2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chemeClr val="bg1"/>
              </a:solidFill>
            </a:rPr>
            <a:t>Silver Paste</a:t>
          </a:r>
          <a:r>
            <a:rPr lang="en-US" sz="900" kern="1200" dirty="0">
              <a:solidFill>
                <a:schemeClr val="bg1"/>
              </a:solidFill>
            </a:rPr>
            <a:t> (for printing of finders and bus bars for Solar PV cells)</a:t>
          </a:r>
        </a:p>
      </dsp:txBody>
      <dsp:txXfrm>
        <a:off x="3481611" y="-27516"/>
        <a:ext cx="867621" cy="896344"/>
      </dsp:txXfrm>
    </dsp:sp>
    <dsp:sp modelId="{0F1F77AC-C827-4166-AEA4-13B71466B6B5}">
      <dsp:nvSpPr>
        <dsp:cNvPr id="0" name=""/>
        <dsp:cNvSpPr/>
      </dsp:nvSpPr>
      <dsp:spPr>
        <a:xfrm>
          <a:off x="4563068" y="196615"/>
          <a:ext cx="1227001" cy="1267622"/>
        </a:xfrm>
        <a:prstGeom prst="ellipse">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chemeClr val="tx1"/>
              </a:solidFill>
            </a:rPr>
            <a:t>Aluminum Paste</a:t>
          </a:r>
        </a:p>
        <a:p>
          <a:pPr marL="0" lvl="0" indent="0" algn="ctr" defTabSz="400050">
            <a:lnSpc>
              <a:spcPct val="90000"/>
            </a:lnSpc>
            <a:spcBef>
              <a:spcPct val="0"/>
            </a:spcBef>
            <a:spcAft>
              <a:spcPct val="35000"/>
            </a:spcAft>
            <a:buNone/>
          </a:pPr>
          <a:r>
            <a:rPr lang="en-US" sz="900" kern="1200" dirty="0">
              <a:solidFill>
                <a:schemeClr val="tx1"/>
              </a:solidFill>
            </a:rPr>
            <a:t>(</a:t>
          </a:r>
          <a:r>
            <a:rPr lang="en-GB" sz="900" kern="1200" dirty="0">
              <a:solidFill>
                <a:schemeClr val="tx1"/>
              </a:solidFill>
            </a:rPr>
            <a:t>used for the back-surface field of PV cells)</a:t>
          </a:r>
          <a:endParaRPr lang="en-US" sz="900" kern="1200" dirty="0">
            <a:solidFill>
              <a:schemeClr val="tx1"/>
            </a:solidFill>
          </a:endParaRPr>
        </a:p>
      </dsp:txBody>
      <dsp:txXfrm>
        <a:off x="4742758" y="382254"/>
        <a:ext cx="867621" cy="896344"/>
      </dsp:txXfrm>
    </dsp:sp>
    <dsp:sp modelId="{5E208683-5D7C-4C56-B76A-8206E6F0DB69}">
      <dsp:nvSpPr>
        <dsp:cNvPr id="0" name=""/>
        <dsp:cNvSpPr/>
      </dsp:nvSpPr>
      <dsp:spPr>
        <a:xfrm>
          <a:off x="5342500" y="1269411"/>
          <a:ext cx="1227001" cy="1267622"/>
        </a:xfrm>
        <a:prstGeom prst="ellipse">
          <a:avLst/>
        </a:prstGeom>
        <a:solidFill>
          <a:srgbClr val="43B02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GB" sz="900" b="1" kern="1200" dirty="0"/>
            <a:t>Chemicals</a:t>
          </a:r>
        </a:p>
        <a:p>
          <a:pPr marL="0" lvl="0" indent="0" algn="ctr" defTabSz="400050">
            <a:lnSpc>
              <a:spcPct val="90000"/>
            </a:lnSpc>
            <a:spcBef>
              <a:spcPct val="0"/>
            </a:spcBef>
            <a:spcAft>
              <a:spcPct val="35000"/>
            </a:spcAft>
            <a:buNone/>
          </a:pPr>
          <a:r>
            <a:rPr lang="en-GB" sz="900" b="1" kern="1200" dirty="0"/>
            <a:t>(</a:t>
          </a:r>
          <a:r>
            <a:rPr lang="en-GB" sz="900" kern="1200" dirty="0"/>
            <a:t>e.g. </a:t>
          </a:r>
          <a:r>
            <a:rPr lang="en-IN" sz="900" kern="1200" dirty="0"/>
            <a:t>POCl</a:t>
          </a:r>
          <a:r>
            <a:rPr lang="en-IN" sz="900" kern="1200" baseline="-25000" dirty="0"/>
            <a:t>3</a:t>
          </a:r>
          <a:r>
            <a:rPr lang="en-IN" sz="900" kern="1200" dirty="0"/>
            <a:t>, Hydrogen Peroxide, HF, KOH, HCl, H</a:t>
          </a:r>
          <a:r>
            <a:rPr lang="en-IN" sz="900" kern="1200" baseline="-25000" dirty="0"/>
            <a:t>2</a:t>
          </a:r>
          <a:r>
            <a:rPr lang="en-IN" sz="900" kern="1200" dirty="0"/>
            <a:t>SO</a:t>
          </a:r>
          <a:r>
            <a:rPr lang="en-IN" sz="900" kern="1200" baseline="-25000" dirty="0"/>
            <a:t>4, </a:t>
          </a:r>
          <a:r>
            <a:rPr lang="en-IN" sz="900" kern="1200" dirty="0"/>
            <a:t>HNO</a:t>
          </a:r>
          <a:r>
            <a:rPr lang="en-IN" sz="900" kern="1200" baseline="-25000" dirty="0"/>
            <a:t>3)</a:t>
          </a:r>
          <a:endParaRPr lang="en-US" sz="900" kern="1200" dirty="0"/>
        </a:p>
      </dsp:txBody>
      <dsp:txXfrm>
        <a:off x="5522190" y="1455050"/>
        <a:ext cx="867621" cy="896344"/>
      </dsp:txXfrm>
    </dsp:sp>
    <dsp:sp modelId="{5FAFA827-BBA2-4C5C-9130-FF8CFE925631}">
      <dsp:nvSpPr>
        <dsp:cNvPr id="0" name=""/>
        <dsp:cNvSpPr/>
      </dsp:nvSpPr>
      <dsp:spPr>
        <a:xfrm>
          <a:off x="5342500" y="2595460"/>
          <a:ext cx="1227001" cy="1267622"/>
        </a:xfrm>
        <a:prstGeom prst="ellipse">
          <a:avLst/>
        </a:prstGeom>
        <a:solidFill>
          <a:schemeClr val="accent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GB" sz="1000" b="1" kern="1200" dirty="0">
              <a:solidFill>
                <a:schemeClr val="tx1"/>
              </a:solidFill>
            </a:rPr>
            <a:t>Gases</a:t>
          </a:r>
        </a:p>
        <a:p>
          <a:pPr marL="0" lvl="0" indent="0" algn="ctr" defTabSz="444500">
            <a:lnSpc>
              <a:spcPct val="90000"/>
            </a:lnSpc>
            <a:spcBef>
              <a:spcPct val="0"/>
            </a:spcBef>
            <a:spcAft>
              <a:spcPct val="35000"/>
            </a:spcAft>
            <a:buNone/>
          </a:pPr>
          <a:r>
            <a:rPr lang="en-GB" sz="1000" b="0" kern="1200" dirty="0">
              <a:solidFill>
                <a:schemeClr val="tx1"/>
              </a:solidFill>
            </a:rPr>
            <a:t>(e.g. Nitrogen, Oxygen, Mono Silane, Ammonia, TMA, N</a:t>
          </a:r>
          <a:r>
            <a:rPr lang="en-GB" sz="700" b="0" kern="1200" dirty="0">
              <a:solidFill>
                <a:schemeClr val="tx1"/>
              </a:solidFill>
            </a:rPr>
            <a:t>2</a:t>
          </a:r>
          <a:r>
            <a:rPr lang="en-GB" sz="1000" b="0" kern="1200" dirty="0">
              <a:solidFill>
                <a:schemeClr val="tx1"/>
              </a:solidFill>
            </a:rPr>
            <a:t>O)</a:t>
          </a:r>
          <a:endParaRPr lang="en-US" sz="1000" b="0" kern="1200" dirty="0">
            <a:solidFill>
              <a:schemeClr val="tx1"/>
            </a:solidFill>
          </a:endParaRPr>
        </a:p>
      </dsp:txBody>
      <dsp:txXfrm>
        <a:off x="5522190" y="2781099"/>
        <a:ext cx="867621" cy="896344"/>
      </dsp:txXfrm>
    </dsp:sp>
    <dsp:sp modelId="{6C2497DB-3731-4D11-B237-D9BF146D3200}">
      <dsp:nvSpPr>
        <dsp:cNvPr id="0" name=""/>
        <dsp:cNvSpPr/>
      </dsp:nvSpPr>
      <dsp:spPr>
        <a:xfrm>
          <a:off x="4563068" y="3668256"/>
          <a:ext cx="1227001" cy="1267622"/>
        </a:xfrm>
        <a:prstGeom prst="ellipse">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GB" sz="900" b="1" kern="1200" dirty="0">
              <a:solidFill>
                <a:schemeClr val="tx1"/>
              </a:solidFill>
            </a:rPr>
            <a:t>Aluminium frame</a:t>
          </a:r>
        </a:p>
        <a:p>
          <a:pPr marL="0" lvl="0" indent="0" algn="ctr" defTabSz="400050">
            <a:lnSpc>
              <a:spcPct val="90000"/>
            </a:lnSpc>
            <a:spcBef>
              <a:spcPct val="0"/>
            </a:spcBef>
            <a:spcAft>
              <a:spcPct val="35000"/>
            </a:spcAft>
            <a:buNone/>
          </a:pPr>
          <a:r>
            <a:rPr lang="en-GB" sz="900" b="1" kern="1200" dirty="0">
              <a:solidFill>
                <a:schemeClr val="tx1"/>
              </a:solidFill>
            </a:rPr>
            <a:t>(</a:t>
          </a:r>
          <a:r>
            <a:rPr lang="en-GB" sz="900" kern="1200" dirty="0">
              <a:solidFill>
                <a:schemeClr val="tx1"/>
              </a:solidFill>
            </a:rPr>
            <a:t>Protects the laminate and play a certain role in sealing and supporting)</a:t>
          </a:r>
          <a:endParaRPr lang="en-US" sz="900" kern="1200" dirty="0">
            <a:solidFill>
              <a:schemeClr val="tx1"/>
            </a:solidFill>
          </a:endParaRPr>
        </a:p>
      </dsp:txBody>
      <dsp:txXfrm>
        <a:off x="4742758" y="3853895"/>
        <a:ext cx="867621" cy="896344"/>
      </dsp:txXfrm>
    </dsp:sp>
    <dsp:sp modelId="{0D6AD583-4E4A-4AAD-B65F-29873D8A6858}">
      <dsp:nvSpPr>
        <dsp:cNvPr id="0" name=""/>
        <dsp:cNvSpPr/>
      </dsp:nvSpPr>
      <dsp:spPr>
        <a:xfrm>
          <a:off x="3301921" y="4078027"/>
          <a:ext cx="1227001" cy="1267622"/>
        </a:xfrm>
        <a:prstGeom prst="ellipse">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GB" sz="900" b="1" kern="1200" dirty="0"/>
            <a:t>Glass </a:t>
          </a:r>
        </a:p>
        <a:p>
          <a:pPr marL="0" lvl="0" indent="0" algn="ctr" defTabSz="400050">
            <a:lnSpc>
              <a:spcPct val="90000"/>
            </a:lnSpc>
            <a:spcBef>
              <a:spcPct val="0"/>
            </a:spcBef>
            <a:spcAft>
              <a:spcPct val="35000"/>
            </a:spcAft>
            <a:buNone/>
          </a:pPr>
          <a:r>
            <a:rPr lang="en-GB" sz="900" b="0" kern="1200" dirty="0"/>
            <a:t>(Ultra-white tempered, high transmittance)</a:t>
          </a:r>
          <a:endParaRPr lang="en-US" sz="900" b="0" kern="1200" dirty="0"/>
        </a:p>
      </dsp:txBody>
      <dsp:txXfrm>
        <a:off x="3481611" y="4263666"/>
        <a:ext cx="867621" cy="896344"/>
      </dsp:txXfrm>
    </dsp:sp>
    <dsp:sp modelId="{F2C3E2D3-BB7C-40E0-8E01-75110CAA10E7}">
      <dsp:nvSpPr>
        <dsp:cNvPr id="0" name=""/>
        <dsp:cNvSpPr/>
      </dsp:nvSpPr>
      <dsp:spPr>
        <a:xfrm>
          <a:off x="2040774" y="3668256"/>
          <a:ext cx="1227001" cy="1267622"/>
        </a:xfrm>
        <a:prstGeom prst="ellipse">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GB" sz="900" b="1" kern="1200" dirty="0"/>
            <a:t>EVA </a:t>
          </a:r>
        </a:p>
        <a:p>
          <a:pPr marL="0" lvl="0" indent="0" algn="ctr" defTabSz="400050">
            <a:lnSpc>
              <a:spcPct val="90000"/>
            </a:lnSpc>
            <a:spcBef>
              <a:spcPct val="0"/>
            </a:spcBef>
            <a:spcAft>
              <a:spcPct val="35000"/>
            </a:spcAft>
            <a:buNone/>
          </a:pPr>
          <a:r>
            <a:rPr lang="en-GB" sz="900" b="1" kern="1200" dirty="0"/>
            <a:t>(</a:t>
          </a:r>
          <a:r>
            <a:rPr lang="en-GB" sz="900" kern="1200" dirty="0"/>
            <a:t>common encapsulation)</a:t>
          </a:r>
          <a:endParaRPr lang="en-US" sz="900" kern="1200" dirty="0"/>
        </a:p>
      </dsp:txBody>
      <dsp:txXfrm>
        <a:off x="2220464" y="3853895"/>
        <a:ext cx="867621" cy="896344"/>
      </dsp:txXfrm>
    </dsp:sp>
    <dsp:sp modelId="{81869AF4-37DD-4942-AA56-10E6F663EAEC}">
      <dsp:nvSpPr>
        <dsp:cNvPr id="0" name=""/>
        <dsp:cNvSpPr/>
      </dsp:nvSpPr>
      <dsp:spPr>
        <a:xfrm>
          <a:off x="1261342" y="2595460"/>
          <a:ext cx="1227001" cy="1267622"/>
        </a:xfrm>
        <a:prstGeom prst="ellipse">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GB" sz="900" b="1" kern="1200" dirty="0"/>
            <a:t>Anodized </a:t>
          </a:r>
          <a:r>
            <a:rPr lang="en-GB" sz="900" b="1" kern="1200" dirty="0" err="1"/>
            <a:t>aluminum</a:t>
          </a:r>
          <a:r>
            <a:rPr lang="en-GB" sz="900" b="1" kern="1200" dirty="0"/>
            <a:t> frame</a:t>
          </a:r>
        </a:p>
        <a:p>
          <a:pPr marL="0" lvl="0" indent="0" algn="ctr" defTabSz="400050">
            <a:lnSpc>
              <a:spcPct val="90000"/>
            </a:lnSpc>
            <a:spcBef>
              <a:spcPct val="0"/>
            </a:spcBef>
            <a:spcAft>
              <a:spcPct val="35000"/>
            </a:spcAft>
            <a:buNone/>
          </a:pPr>
          <a:r>
            <a:rPr lang="en-GB" sz="900" b="1" kern="1200" dirty="0"/>
            <a:t>(offers </a:t>
          </a:r>
          <a:r>
            <a:rPr lang="en-IN" sz="900" kern="1200" dirty="0"/>
            <a:t>resistance to corrosion)</a:t>
          </a:r>
          <a:endParaRPr lang="en-US" sz="900" kern="1200" dirty="0"/>
        </a:p>
      </dsp:txBody>
      <dsp:txXfrm>
        <a:off x="1441032" y="2781099"/>
        <a:ext cx="867621" cy="896344"/>
      </dsp:txXfrm>
    </dsp:sp>
    <dsp:sp modelId="{E06BC2B2-07DA-4805-828F-9DA6C748ED1E}">
      <dsp:nvSpPr>
        <dsp:cNvPr id="0" name=""/>
        <dsp:cNvSpPr/>
      </dsp:nvSpPr>
      <dsp:spPr>
        <a:xfrm>
          <a:off x="1261342" y="1269411"/>
          <a:ext cx="1227001" cy="1267622"/>
        </a:xfrm>
        <a:prstGeom prst="ellipse">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GB" sz="900" b="1" kern="1200" dirty="0"/>
            <a:t>Ribbon</a:t>
          </a:r>
        </a:p>
        <a:p>
          <a:pPr marL="0" lvl="0" indent="0" algn="ctr" defTabSz="400050">
            <a:lnSpc>
              <a:spcPct val="90000"/>
            </a:lnSpc>
            <a:spcBef>
              <a:spcPct val="0"/>
            </a:spcBef>
            <a:spcAft>
              <a:spcPct val="35000"/>
            </a:spcAft>
            <a:buNone/>
          </a:pPr>
          <a:r>
            <a:rPr lang="en-GB" sz="900" b="1" kern="1200" dirty="0"/>
            <a:t>(</a:t>
          </a:r>
          <a:r>
            <a:rPr lang="en-IN" sz="900" kern="1200" dirty="0"/>
            <a:t>copper core material with Sn/Pb-60/40 coating and thickness of 0.21 mm)</a:t>
          </a:r>
          <a:endParaRPr lang="en-US" sz="900" kern="1200" dirty="0"/>
        </a:p>
      </dsp:txBody>
      <dsp:txXfrm>
        <a:off x="1441032" y="1455050"/>
        <a:ext cx="867621" cy="896344"/>
      </dsp:txXfrm>
    </dsp:sp>
    <dsp:sp modelId="{4C7A12AE-1228-4F67-A0F5-7B904879289B}">
      <dsp:nvSpPr>
        <dsp:cNvPr id="0" name=""/>
        <dsp:cNvSpPr/>
      </dsp:nvSpPr>
      <dsp:spPr>
        <a:xfrm>
          <a:off x="2040774" y="196615"/>
          <a:ext cx="1227001" cy="1267622"/>
        </a:xfrm>
        <a:prstGeom prst="ellipse">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GB" sz="900" b="1" kern="1200" dirty="0"/>
            <a:t>Junction box</a:t>
          </a:r>
        </a:p>
        <a:p>
          <a:pPr marL="0" lvl="0" indent="0" algn="ctr" defTabSz="400050">
            <a:lnSpc>
              <a:spcPct val="90000"/>
            </a:lnSpc>
            <a:spcBef>
              <a:spcPct val="0"/>
            </a:spcBef>
            <a:spcAft>
              <a:spcPct val="35000"/>
            </a:spcAft>
            <a:buNone/>
          </a:pPr>
          <a:r>
            <a:rPr lang="en-GB" sz="900" b="0" kern="1200" dirty="0"/>
            <a:t>(helps prevent system damage)</a:t>
          </a:r>
          <a:endParaRPr lang="en-US" sz="900" b="0" kern="1200" dirty="0"/>
        </a:p>
      </dsp:txBody>
      <dsp:txXfrm>
        <a:off x="2220464" y="382254"/>
        <a:ext cx="867621" cy="89634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2D0917-526D-42A8-B025-F0D8E3E456D5}">
      <dsp:nvSpPr>
        <dsp:cNvPr id="0" name=""/>
        <dsp:cNvSpPr/>
      </dsp:nvSpPr>
      <dsp:spPr>
        <a:xfrm rot="5400000">
          <a:off x="-279614" y="361366"/>
          <a:ext cx="1864094" cy="1304865"/>
        </a:xfrm>
        <a:prstGeom prst="chevron">
          <a:avLst/>
        </a:prstGeom>
        <a:solidFill>
          <a:schemeClr val="tx1">
            <a:lumMod val="65000"/>
            <a:lumOff val="35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b="1" kern="1200" dirty="0"/>
            <a:t>Energy Banking</a:t>
          </a:r>
        </a:p>
      </dsp:txBody>
      <dsp:txXfrm rot="-5400000">
        <a:off x="1" y="734185"/>
        <a:ext cx="1304865" cy="559229"/>
      </dsp:txXfrm>
    </dsp:sp>
    <dsp:sp modelId="{3DE82043-A48D-415C-8D85-6C767394D0FE}">
      <dsp:nvSpPr>
        <dsp:cNvPr id="0" name=""/>
        <dsp:cNvSpPr/>
      </dsp:nvSpPr>
      <dsp:spPr>
        <a:xfrm rot="5400000">
          <a:off x="5405167" y="-4097397"/>
          <a:ext cx="1369358" cy="9569962"/>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Font typeface="Wingdings" panose="05000000000000000000" pitchFamily="2" charset="2"/>
            <a:buChar char="q"/>
          </a:pPr>
          <a:r>
            <a:rPr lang="en-US" sz="1300" b="1" u="none" strike="noStrike" kern="1200" dirty="0">
              <a:effectLst/>
              <a:latin typeface="+mn-lt"/>
            </a:rPr>
            <a:t>Banking may be allowed </a:t>
          </a:r>
          <a:r>
            <a:rPr lang="en-US" sz="1300" b="0" u="none" strike="noStrike" kern="1200" dirty="0">
              <a:effectLst/>
              <a:latin typeface="+mn-lt"/>
            </a:rPr>
            <a:t>for Captive and Third Party Sale on yearly basis</a:t>
          </a:r>
          <a:endParaRPr lang="en-US" sz="1300" b="0" kern="1200" dirty="0"/>
        </a:p>
        <a:p>
          <a:pPr marL="114300" lvl="1" indent="-114300" algn="l" defTabSz="577850">
            <a:lnSpc>
              <a:spcPct val="90000"/>
            </a:lnSpc>
            <a:spcBef>
              <a:spcPct val="0"/>
            </a:spcBef>
            <a:spcAft>
              <a:spcPct val="15000"/>
            </a:spcAft>
            <a:buFont typeface="Wingdings" panose="05000000000000000000" pitchFamily="2" charset="2"/>
            <a:buChar char="q"/>
          </a:pPr>
          <a:r>
            <a:rPr lang="en-US" sz="1300" u="none" strike="noStrike" kern="1200" dirty="0">
              <a:effectLst/>
              <a:latin typeface="+mn-lt"/>
            </a:rPr>
            <a:t>Banking charges may be </a:t>
          </a:r>
          <a:r>
            <a:rPr lang="en-US" sz="1300" b="1" u="none" strike="noStrike" kern="1200" dirty="0">
              <a:effectLst/>
              <a:latin typeface="+mn-lt"/>
            </a:rPr>
            <a:t>exempted</a:t>
          </a:r>
          <a:endParaRPr lang="en-US" sz="1300" b="1" kern="1200" dirty="0"/>
        </a:p>
        <a:p>
          <a:pPr marL="114300" lvl="1" indent="-114300" algn="l" defTabSz="577850">
            <a:lnSpc>
              <a:spcPct val="90000"/>
            </a:lnSpc>
            <a:spcBef>
              <a:spcPct val="0"/>
            </a:spcBef>
            <a:spcAft>
              <a:spcPct val="15000"/>
            </a:spcAft>
            <a:buFont typeface="Wingdings" panose="05000000000000000000" pitchFamily="2" charset="2"/>
            <a:buChar char="v"/>
          </a:pPr>
          <a:r>
            <a:rPr lang="en-US" sz="1300" b="0" kern="1200" dirty="0"/>
            <a:t>The banking period may suitably be decided post appropriate load study by DISCOM</a:t>
          </a:r>
        </a:p>
        <a:p>
          <a:pPr marL="114300" lvl="1" indent="-114300" algn="l" defTabSz="577850">
            <a:lnSpc>
              <a:spcPct val="90000"/>
            </a:lnSpc>
            <a:spcBef>
              <a:spcPct val="0"/>
            </a:spcBef>
            <a:spcAft>
              <a:spcPct val="15000"/>
            </a:spcAft>
            <a:buFont typeface="Wingdings" panose="05000000000000000000" pitchFamily="2" charset="2"/>
            <a:buChar char="v"/>
          </a:pPr>
          <a:r>
            <a:rPr lang="en-US" sz="1300" b="0" kern="1200" dirty="0"/>
            <a:t>Drawl of banked energy may not be allowed during peak hours as determined by DISCOM</a:t>
          </a:r>
        </a:p>
        <a:p>
          <a:pPr marL="114300" lvl="1" indent="-114300" algn="l" defTabSz="577850">
            <a:lnSpc>
              <a:spcPct val="90000"/>
            </a:lnSpc>
            <a:spcBef>
              <a:spcPct val="0"/>
            </a:spcBef>
            <a:spcAft>
              <a:spcPct val="15000"/>
            </a:spcAft>
            <a:buFont typeface="Wingdings" panose="05000000000000000000" pitchFamily="2" charset="2"/>
            <a:buChar char="v"/>
          </a:pPr>
          <a:r>
            <a:rPr lang="en-US" sz="1300" b="0" kern="1200" dirty="0"/>
            <a:t>The unutilized banked energy at the end of year shall lapse; mechanism for lapsed energy may be envisaged</a:t>
          </a:r>
        </a:p>
        <a:p>
          <a:pPr marL="114300" lvl="1" indent="-114300" algn="l" defTabSz="577850">
            <a:lnSpc>
              <a:spcPct val="90000"/>
            </a:lnSpc>
            <a:spcBef>
              <a:spcPct val="0"/>
            </a:spcBef>
            <a:spcAft>
              <a:spcPct val="15000"/>
            </a:spcAft>
            <a:buFont typeface="Wingdings" panose="05000000000000000000" pitchFamily="2" charset="2"/>
            <a:buChar char="v"/>
          </a:pPr>
          <a:r>
            <a:rPr lang="en-US" sz="1300" b="0" kern="1200" dirty="0"/>
            <a:t>Specific Operating protocols may be put in place to safeguard network operations management</a:t>
          </a:r>
        </a:p>
      </dsp:txBody>
      <dsp:txXfrm rot="-5400000">
        <a:off x="1304866" y="69751"/>
        <a:ext cx="9503115" cy="1235664"/>
      </dsp:txXfrm>
    </dsp:sp>
    <dsp:sp modelId="{6C54E85B-9169-4F16-9022-E4A989D806D1}">
      <dsp:nvSpPr>
        <dsp:cNvPr id="0" name=""/>
        <dsp:cNvSpPr/>
      </dsp:nvSpPr>
      <dsp:spPr>
        <a:xfrm rot="5400000">
          <a:off x="-279614" y="2037058"/>
          <a:ext cx="1864094" cy="1304865"/>
        </a:xfrm>
        <a:prstGeom prst="chevron">
          <a:avLst/>
        </a:prstGeom>
        <a:solidFill>
          <a:srgbClr val="007680"/>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endParaRPr lang="en-US" sz="1300" b="1" kern="1200" dirty="0"/>
        </a:p>
        <a:p>
          <a:pPr marL="0" lvl="0" indent="0" algn="ctr" defTabSz="577850">
            <a:lnSpc>
              <a:spcPct val="90000"/>
            </a:lnSpc>
            <a:spcBef>
              <a:spcPct val="0"/>
            </a:spcBef>
            <a:spcAft>
              <a:spcPct val="35000"/>
            </a:spcAft>
            <a:buNone/>
          </a:pPr>
          <a:r>
            <a:rPr lang="en-US" sz="1300" b="1" kern="1200" dirty="0"/>
            <a:t>Exemption of Electricity Duty</a:t>
          </a:r>
        </a:p>
      </dsp:txBody>
      <dsp:txXfrm rot="-5400000">
        <a:off x="1" y="2409877"/>
        <a:ext cx="1304865" cy="559229"/>
      </dsp:txXfrm>
    </dsp:sp>
    <dsp:sp modelId="{74201CF7-6425-41C7-9745-8818CF457ADE}">
      <dsp:nvSpPr>
        <dsp:cNvPr id="0" name=""/>
        <dsp:cNvSpPr/>
      </dsp:nvSpPr>
      <dsp:spPr>
        <a:xfrm rot="5400000">
          <a:off x="5483697" y="-2421387"/>
          <a:ext cx="1212298" cy="9569962"/>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Font typeface="Wingdings" panose="05000000000000000000" pitchFamily="2" charset="2"/>
            <a:buChar char="q"/>
          </a:pPr>
          <a:r>
            <a:rPr lang="en-US" sz="1300" b="0" u="none" strike="noStrike" kern="1200" dirty="0">
              <a:effectLst/>
              <a:latin typeface="+mn-lt"/>
            </a:rPr>
            <a:t>Exemption/Relaxation from Electricity Duty for captive use may be extended </a:t>
          </a:r>
          <a:r>
            <a:rPr lang="en-US" sz="1300" b="1" u="none" strike="noStrike" kern="1200" dirty="0">
              <a:effectLst/>
              <a:latin typeface="+mn-lt"/>
            </a:rPr>
            <a:t>beyond</a:t>
          </a:r>
          <a:r>
            <a:rPr lang="en-US" sz="1300" b="0" u="none" strike="noStrike" kern="1200" dirty="0">
              <a:effectLst/>
              <a:latin typeface="+mn-lt"/>
            </a:rPr>
            <a:t> 5 years as originally proposed in draft RE policy (7 years for Rajasthan)</a:t>
          </a:r>
          <a:endParaRPr lang="en-US" sz="1300" b="0" kern="1200" dirty="0"/>
        </a:p>
      </dsp:txBody>
      <dsp:txXfrm rot="-5400000">
        <a:off x="1304865" y="1816625"/>
        <a:ext cx="9510782" cy="1093938"/>
      </dsp:txXfrm>
    </dsp:sp>
    <dsp:sp modelId="{8C1FEB7F-F9B9-478E-BA99-09CC923B8FDA}">
      <dsp:nvSpPr>
        <dsp:cNvPr id="0" name=""/>
        <dsp:cNvSpPr/>
      </dsp:nvSpPr>
      <dsp:spPr>
        <a:xfrm rot="5400000">
          <a:off x="-279614" y="3712750"/>
          <a:ext cx="1864094" cy="1304865"/>
        </a:xfrm>
        <a:prstGeom prst="chevron">
          <a:avLst/>
        </a:prstGeom>
        <a:solidFill>
          <a:srgbClr val="009A44"/>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b="1" kern="1200" dirty="0"/>
            <a:t>Exemption of T&amp;D Charges</a:t>
          </a:r>
        </a:p>
      </dsp:txBody>
      <dsp:txXfrm rot="-5400000">
        <a:off x="1" y="4085569"/>
        <a:ext cx="1304865" cy="559229"/>
      </dsp:txXfrm>
    </dsp:sp>
    <dsp:sp modelId="{119D5FAA-8CE6-4F9A-9C27-0E016A372AFF}">
      <dsp:nvSpPr>
        <dsp:cNvPr id="0" name=""/>
        <dsp:cNvSpPr/>
      </dsp:nvSpPr>
      <dsp:spPr>
        <a:xfrm rot="5400000">
          <a:off x="5484016" y="-746014"/>
          <a:ext cx="1211661" cy="9569962"/>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Font typeface="Wingdings" panose="05000000000000000000" pitchFamily="2" charset="2"/>
            <a:buChar char="q"/>
          </a:pPr>
          <a:r>
            <a:rPr lang="en-US" sz="1300" b="1" u="none" strike="noStrike" kern="1200" dirty="0">
              <a:effectLst/>
              <a:latin typeface="+mn-lt"/>
            </a:rPr>
            <a:t>Transmission and wheeling charge discount</a:t>
          </a:r>
          <a:r>
            <a:rPr lang="en-US" sz="1300" b="0" u="none" strike="noStrike" kern="1200" dirty="0">
              <a:effectLst/>
              <a:latin typeface="+mn-lt"/>
            </a:rPr>
            <a:t> (for projects </a:t>
          </a:r>
          <a:r>
            <a:rPr lang="en-US" sz="1300" b="0" u="none" strike="noStrike" kern="1200" dirty="0" err="1">
              <a:effectLst/>
              <a:latin typeface="+mn-lt"/>
            </a:rPr>
            <a:t>upto</a:t>
          </a:r>
          <a:r>
            <a:rPr lang="en-US" sz="1300" b="0" u="none" strike="noStrike" kern="1200" dirty="0">
              <a:effectLst/>
              <a:latin typeface="+mn-lt"/>
            </a:rPr>
            <a:t> 25 MW capacity) as per suggestions below:</a:t>
          </a:r>
          <a:endParaRPr lang="en-US" sz="1300" b="0" kern="1200" dirty="0"/>
        </a:p>
        <a:p>
          <a:pPr marL="114300" lvl="1" indent="-114300" algn="l" defTabSz="577850">
            <a:lnSpc>
              <a:spcPct val="90000"/>
            </a:lnSpc>
            <a:spcBef>
              <a:spcPct val="0"/>
            </a:spcBef>
            <a:spcAft>
              <a:spcPct val="15000"/>
            </a:spcAft>
            <a:buFont typeface="Wingdings" panose="05000000000000000000" pitchFamily="2" charset="2"/>
            <a:buChar char="v"/>
          </a:pPr>
          <a:r>
            <a:rPr lang="en-US" sz="1300" b="0" kern="1200" dirty="0"/>
            <a:t>75-100% exemption for solar projects within WB premises</a:t>
          </a:r>
        </a:p>
        <a:p>
          <a:pPr marL="114300" lvl="1" indent="-114300" algn="l" defTabSz="577850">
            <a:lnSpc>
              <a:spcPct val="90000"/>
            </a:lnSpc>
            <a:spcBef>
              <a:spcPct val="0"/>
            </a:spcBef>
            <a:spcAft>
              <a:spcPct val="15000"/>
            </a:spcAft>
            <a:buFont typeface="Wingdings" panose="05000000000000000000" pitchFamily="2" charset="2"/>
            <a:buChar char="v"/>
          </a:pPr>
          <a:r>
            <a:rPr lang="en-US" sz="1300" u="none" strike="noStrike" kern="1200" dirty="0">
              <a:effectLst/>
              <a:latin typeface="+mn-lt"/>
            </a:rPr>
            <a:t>50% applicable only for solar projects outside premises of WB consumers and for solar projects with sale of power within state through open access</a:t>
          </a:r>
          <a:endParaRPr lang="en-US" sz="1300" b="0" kern="1200" dirty="0"/>
        </a:p>
        <a:p>
          <a:pPr marL="114300" lvl="1" indent="-114300" algn="l" defTabSz="577850">
            <a:lnSpc>
              <a:spcPct val="90000"/>
            </a:lnSpc>
            <a:spcBef>
              <a:spcPct val="0"/>
            </a:spcBef>
            <a:spcAft>
              <a:spcPct val="15000"/>
            </a:spcAft>
            <a:buFont typeface="Wingdings" panose="05000000000000000000" pitchFamily="2" charset="2"/>
            <a:buChar char="v"/>
          </a:pPr>
          <a:r>
            <a:rPr lang="en-US" sz="1300" u="none" strike="noStrike" kern="1200" dirty="0">
              <a:effectLst/>
              <a:latin typeface="+mn-lt"/>
            </a:rPr>
            <a:t>25% applicable for solar projects with storage system for third party or captive sale </a:t>
          </a:r>
        </a:p>
        <a:p>
          <a:pPr marL="114300" lvl="1" indent="-114300" algn="l" defTabSz="577850">
            <a:lnSpc>
              <a:spcPct val="90000"/>
            </a:lnSpc>
            <a:spcBef>
              <a:spcPct val="0"/>
            </a:spcBef>
            <a:spcAft>
              <a:spcPct val="15000"/>
            </a:spcAft>
            <a:buFont typeface="Wingdings" panose="05000000000000000000" pitchFamily="2" charset="2"/>
            <a:buChar char="v"/>
          </a:pPr>
          <a:r>
            <a:rPr lang="en-US" sz="1300" u="none" strike="noStrike" kern="1200" dirty="0">
              <a:effectLst/>
              <a:latin typeface="+mn-lt"/>
            </a:rPr>
            <a:t>No charges applicable for solar projects set up in vicinity of EV charging stations</a:t>
          </a:r>
          <a:endParaRPr lang="en-US" sz="1300" kern="1200" dirty="0"/>
        </a:p>
      </dsp:txBody>
      <dsp:txXfrm rot="-5400000">
        <a:off x="1304866" y="3492284"/>
        <a:ext cx="9510814" cy="1093365"/>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2D0917-526D-42A8-B025-F0D8E3E456D5}">
      <dsp:nvSpPr>
        <dsp:cNvPr id="0" name=""/>
        <dsp:cNvSpPr/>
      </dsp:nvSpPr>
      <dsp:spPr>
        <a:xfrm rot="5400000">
          <a:off x="-283492" y="289652"/>
          <a:ext cx="1889948" cy="1322963"/>
        </a:xfrm>
        <a:prstGeom prst="chevron">
          <a:avLst/>
        </a:prstGeom>
        <a:solidFill>
          <a:schemeClr val="tx1">
            <a:lumMod val="75000"/>
            <a:lumOff val="25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endParaRPr lang="en-US" sz="1300" b="1" kern="1200" dirty="0"/>
        </a:p>
        <a:p>
          <a:pPr marL="0" lvl="0" indent="0" algn="ctr" defTabSz="577850">
            <a:lnSpc>
              <a:spcPct val="90000"/>
            </a:lnSpc>
            <a:spcBef>
              <a:spcPct val="0"/>
            </a:spcBef>
            <a:spcAft>
              <a:spcPct val="35000"/>
            </a:spcAft>
            <a:buNone/>
          </a:pPr>
          <a:r>
            <a:rPr lang="en-US" sz="1300" b="1" kern="1200" dirty="0"/>
            <a:t>Allowable capacity for Net-Metering</a:t>
          </a:r>
        </a:p>
      </dsp:txBody>
      <dsp:txXfrm rot="-5400000">
        <a:off x="1" y="667642"/>
        <a:ext cx="1322963" cy="566985"/>
      </dsp:txXfrm>
    </dsp:sp>
    <dsp:sp modelId="{3DE82043-A48D-415C-8D85-6C767394D0FE}">
      <dsp:nvSpPr>
        <dsp:cNvPr id="0" name=""/>
        <dsp:cNvSpPr/>
      </dsp:nvSpPr>
      <dsp:spPr>
        <a:xfrm rot="5400000">
          <a:off x="5484339" y="-4155215"/>
          <a:ext cx="1229112" cy="9551864"/>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Font typeface="Wingdings" panose="05000000000000000000" pitchFamily="2" charset="2"/>
            <a:buChar char="q"/>
          </a:pPr>
          <a:r>
            <a:rPr lang="en-US" sz="1300" kern="1200" dirty="0"/>
            <a:t>Net-metering may be allowed to consumers for </a:t>
          </a:r>
          <a:r>
            <a:rPr lang="en-US" sz="1300" b="1" kern="1200" dirty="0"/>
            <a:t>loads </a:t>
          </a:r>
          <a:r>
            <a:rPr lang="en-US" sz="1300" b="1" kern="1200" dirty="0" err="1"/>
            <a:t>upto</a:t>
          </a:r>
          <a:r>
            <a:rPr lang="en-US" sz="1300" b="1" kern="1200" dirty="0"/>
            <a:t> 500kW </a:t>
          </a:r>
          <a:r>
            <a:rPr lang="en-US" sz="1300" kern="1200" dirty="0"/>
            <a:t>or up to 90% of the sanctioned load, whichever is lower</a:t>
          </a:r>
        </a:p>
        <a:p>
          <a:pPr marL="114300" lvl="1" indent="-114300" algn="l" defTabSz="577850">
            <a:lnSpc>
              <a:spcPct val="90000"/>
            </a:lnSpc>
            <a:spcBef>
              <a:spcPct val="0"/>
            </a:spcBef>
            <a:spcAft>
              <a:spcPct val="15000"/>
            </a:spcAft>
            <a:buFont typeface="Wingdings" panose="05000000000000000000" pitchFamily="2" charset="2"/>
            <a:buChar char="q"/>
          </a:pPr>
          <a:r>
            <a:rPr lang="en-US" sz="1300" kern="1200" dirty="0"/>
            <a:t>DISCOM should develop a suitable and comprehensive consumer-friendly IT application for facilitating online timely approvals and monitoring of these projects</a:t>
          </a:r>
        </a:p>
        <a:p>
          <a:pPr marL="114300" lvl="1" indent="-114300" algn="l" defTabSz="577850">
            <a:lnSpc>
              <a:spcPct val="90000"/>
            </a:lnSpc>
            <a:spcBef>
              <a:spcPct val="0"/>
            </a:spcBef>
            <a:spcAft>
              <a:spcPct val="15000"/>
            </a:spcAft>
            <a:buFont typeface="Wingdings" panose="05000000000000000000" pitchFamily="2" charset="2"/>
            <a:buChar char="q"/>
          </a:pPr>
          <a:r>
            <a:rPr lang="en-US" sz="1300" kern="1200" dirty="0"/>
            <a:t>Certain timelines/deadlines for processing of such Net-metering applications may suitably be decided</a:t>
          </a:r>
        </a:p>
      </dsp:txBody>
      <dsp:txXfrm rot="-5400000">
        <a:off x="1322963" y="66161"/>
        <a:ext cx="9491864" cy="1109112"/>
      </dsp:txXfrm>
    </dsp:sp>
    <dsp:sp modelId="{6C54E85B-9169-4F16-9022-E4A989D806D1}">
      <dsp:nvSpPr>
        <dsp:cNvPr id="0" name=""/>
        <dsp:cNvSpPr/>
      </dsp:nvSpPr>
      <dsp:spPr>
        <a:xfrm rot="5400000">
          <a:off x="-283492" y="1988585"/>
          <a:ext cx="1889948" cy="1322963"/>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endParaRPr lang="en-US" sz="1300" b="1" kern="1200" dirty="0"/>
        </a:p>
        <a:p>
          <a:pPr marL="0" lvl="0" indent="0" algn="ctr" defTabSz="577850">
            <a:lnSpc>
              <a:spcPct val="90000"/>
            </a:lnSpc>
            <a:spcBef>
              <a:spcPct val="0"/>
            </a:spcBef>
            <a:spcAft>
              <a:spcPct val="35000"/>
            </a:spcAft>
            <a:buNone/>
          </a:pPr>
          <a:r>
            <a:rPr lang="en-US" sz="1300" b="1" kern="1200" dirty="0"/>
            <a:t>Implementation of RPO</a:t>
          </a:r>
        </a:p>
      </dsp:txBody>
      <dsp:txXfrm rot="-5400000">
        <a:off x="1" y="2366575"/>
        <a:ext cx="1322963" cy="566985"/>
      </dsp:txXfrm>
    </dsp:sp>
    <dsp:sp modelId="{74201CF7-6425-41C7-9745-8818CF457ADE}">
      <dsp:nvSpPr>
        <dsp:cNvPr id="0" name=""/>
        <dsp:cNvSpPr/>
      </dsp:nvSpPr>
      <dsp:spPr>
        <a:xfrm rot="5400000">
          <a:off x="5484662" y="-2456606"/>
          <a:ext cx="1228466" cy="9551864"/>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Font typeface="Wingdings" panose="05000000000000000000" pitchFamily="2" charset="2"/>
            <a:buChar char="q"/>
          </a:pPr>
          <a:r>
            <a:rPr lang="en-US" sz="1300" kern="1200" dirty="0"/>
            <a:t>Additional penalty for Obligated Entities over and above the WBERC mandated penalty currently in place for non-fulfillment of RPO obligations</a:t>
          </a:r>
        </a:p>
        <a:p>
          <a:pPr marL="114300" lvl="1" indent="-114300" algn="l" defTabSz="577850">
            <a:lnSpc>
              <a:spcPct val="90000"/>
            </a:lnSpc>
            <a:spcBef>
              <a:spcPct val="0"/>
            </a:spcBef>
            <a:spcAft>
              <a:spcPct val="15000"/>
            </a:spcAft>
            <a:buFont typeface="Wingdings" panose="05000000000000000000" pitchFamily="2" charset="2"/>
            <a:buChar char="q"/>
          </a:pPr>
          <a:r>
            <a:rPr lang="en-US" sz="1300" kern="1200" dirty="0"/>
            <a:t>RE generation for consumers “behind the meter” other than Obligated Entities may also be considered for contribution towards fulfillment of RPO obligations by DISCOM</a:t>
          </a:r>
        </a:p>
      </dsp:txBody>
      <dsp:txXfrm rot="-5400000">
        <a:off x="1322964" y="1765061"/>
        <a:ext cx="9491895" cy="1108528"/>
      </dsp:txXfrm>
    </dsp:sp>
    <dsp:sp modelId="{8C1FEB7F-F9B9-478E-BA99-09CC923B8FDA}">
      <dsp:nvSpPr>
        <dsp:cNvPr id="0" name=""/>
        <dsp:cNvSpPr/>
      </dsp:nvSpPr>
      <dsp:spPr>
        <a:xfrm rot="5400000">
          <a:off x="-283492" y="3687518"/>
          <a:ext cx="1889948" cy="1322963"/>
        </a:xfrm>
        <a:prstGeom prst="chevron">
          <a:avLst/>
        </a:prstGeom>
        <a:solidFill>
          <a:srgbClr val="007680"/>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endParaRPr lang="en-US" sz="1300" b="1" kern="1200" dirty="0"/>
        </a:p>
        <a:p>
          <a:pPr marL="0" lvl="0" indent="0" algn="ctr" defTabSz="577850">
            <a:lnSpc>
              <a:spcPct val="90000"/>
            </a:lnSpc>
            <a:spcBef>
              <a:spcPct val="0"/>
            </a:spcBef>
            <a:spcAft>
              <a:spcPct val="35000"/>
            </a:spcAft>
            <a:buNone/>
          </a:pPr>
          <a:r>
            <a:rPr lang="en-US" sz="1300" b="1" kern="1200" dirty="0"/>
            <a:t>Promoting Green Energy for EV Charging stations</a:t>
          </a:r>
        </a:p>
      </dsp:txBody>
      <dsp:txXfrm rot="-5400000">
        <a:off x="1" y="4065508"/>
        <a:ext cx="1322963" cy="566985"/>
      </dsp:txXfrm>
    </dsp:sp>
    <dsp:sp modelId="{119D5FAA-8CE6-4F9A-9C27-0E016A372AFF}">
      <dsp:nvSpPr>
        <dsp:cNvPr id="0" name=""/>
        <dsp:cNvSpPr/>
      </dsp:nvSpPr>
      <dsp:spPr>
        <a:xfrm rot="5400000">
          <a:off x="5484662" y="-757673"/>
          <a:ext cx="1228466" cy="9551864"/>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Font typeface="Wingdings" panose="05000000000000000000" pitchFamily="2" charset="2"/>
            <a:buChar char="q"/>
          </a:pPr>
          <a:r>
            <a:rPr lang="en-US" sz="1300" kern="1200" dirty="0">
              <a:solidFill>
                <a:schemeClr val="tx1"/>
              </a:solidFill>
            </a:rPr>
            <a:t>Exemption of Open Access Charges with respect to RE generation used for EV Charging infrastructure</a:t>
          </a:r>
        </a:p>
      </dsp:txBody>
      <dsp:txXfrm rot="-5400000">
        <a:off x="1322964" y="3463994"/>
        <a:ext cx="9491895" cy="110852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5B742C-5E24-4A79-B76E-034F1C3C95C7}">
      <dsp:nvSpPr>
        <dsp:cNvPr id="0" name=""/>
        <dsp:cNvSpPr/>
      </dsp:nvSpPr>
      <dsp:spPr>
        <a:xfrm>
          <a:off x="-3113895" y="-482408"/>
          <a:ext cx="3738123" cy="3738123"/>
        </a:xfrm>
        <a:prstGeom prst="blockArc">
          <a:avLst>
            <a:gd name="adj1" fmla="val 18900000"/>
            <a:gd name="adj2" fmla="val 2700000"/>
            <a:gd name="adj3" fmla="val 578"/>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67FAB15-F78C-4606-9590-12DDD35236F3}">
      <dsp:nvSpPr>
        <dsp:cNvPr id="0" name=""/>
        <dsp:cNvSpPr/>
      </dsp:nvSpPr>
      <dsp:spPr>
        <a:xfrm>
          <a:off x="504999" y="387828"/>
          <a:ext cx="4952181" cy="792278"/>
        </a:xfrm>
        <a:prstGeom prst="rect">
          <a:avLst/>
        </a:prstGeom>
        <a:solidFill>
          <a:srgbClr val="00768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28871" tIns="30480" rIns="30480" bIns="30480" numCol="1" spcCol="1270" anchor="ctr" anchorCtr="0">
          <a:noAutofit/>
        </a:bodyPr>
        <a:lstStyle/>
        <a:p>
          <a:pPr marL="0" lvl="0" indent="0" algn="l" defTabSz="533400">
            <a:lnSpc>
              <a:spcPct val="90000"/>
            </a:lnSpc>
            <a:spcBef>
              <a:spcPct val="0"/>
            </a:spcBef>
            <a:spcAft>
              <a:spcPct val="35000"/>
            </a:spcAft>
            <a:buNone/>
          </a:pPr>
          <a:r>
            <a:rPr lang="en-US" sz="1200" b="1" kern="1200" dirty="0"/>
            <a:t>Improvement in Service Delivery Time and Beneficiary Feedback: </a:t>
          </a:r>
          <a:r>
            <a:rPr lang="en-US" sz="1200" i="1" kern="1200" dirty="0"/>
            <a:t>The State catered to only about 50 solar systems in 2010-11, but to about 4,500 units in 2012-13, an escalation 90 times,</a:t>
          </a:r>
        </a:p>
      </dsp:txBody>
      <dsp:txXfrm>
        <a:off x="504999" y="387828"/>
        <a:ext cx="4952181" cy="792278"/>
      </dsp:txXfrm>
    </dsp:sp>
    <dsp:sp modelId="{972658EB-AF78-41F0-8B4A-2B233A24E225}">
      <dsp:nvSpPr>
        <dsp:cNvPr id="0" name=""/>
        <dsp:cNvSpPr/>
      </dsp:nvSpPr>
      <dsp:spPr>
        <a:xfrm>
          <a:off x="14629" y="297159"/>
          <a:ext cx="990347" cy="99034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1BD471A-0BAA-4BCB-ABA8-C15213C14F6B}">
      <dsp:nvSpPr>
        <dsp:cNvPr id="0" name=""/>
        <dsp:cNvSpPr/>
      </dsp:nvSpPr>
      <dsp:spPr>
        <a:xfrm>
          <a:off x="509802" y="1584833"/>
          <a:ext cx="4952181" cy="792278"/>
        </a:xfrm>
        <a:prstGeom prst="rect">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28871" tIns="30480" rIns="30480" bIns="30480" numCol="1" spcCol="1270" anchor="ctr" anchorCtr="0">
          <a:noAutofit/>
        </a:bodyPr>
        <a:lstStyle/>
        <a:p>
          <a:pPr marL="0" lvl="0" indent="0" algn="l" defTabSz="533400">
            <a:lnSpc>
              <a:spcPct val="90000"/>
            </a:lnSpc>
            <a:spcBef>
              <a:spcPct val="0"/>
            </a:spcBef>
            <a:spcAft>
              <a:spcPct val="35000"/>
            </a:spcAft>
            <a:buNone/>
          </a:pPr>
          <a:r>
            <a:rPr lang="en-US" sz="1200" b="1" kern="1200" dirty="0"/>
            <a:t>Procedures Simplified: </a:t>
          </a:r>
          <a:r>
            <a:rPr lang="en-US" sz="1200" b="0" i="1" kern="1200" dirty="0"/>
            <a:t>Ease of project monitoring, funding and implementation</a:t>
          </a:r>
        </a:p>
      </dsp:txBody>
      <dsp:txXfrm>
        <a:off x="509802" y="1584833"/>
        <a:ext cx="4952181" cy="792278"/>
      </dsp:txXfrm>
    </dsp:sp>
    <dsp:sp modelId="{33783576-4C33-45C4-A532-F52280F7689B}">
      <dsp:nvSpPr>
        <dsp:cNvPr id="0" name=""/>
        <dsp:cNvSpPr/>
      </dsp:nvSpPr>
      <dsp:spPr>
        <a:xfrm>
          <a:off x="14629" y="1485798"/>
          <a:ext cx="990347" cy="99034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74A3E2-B53E-4E11-8FE4-78D90B38740D}">
      <dsp:nvSpPr>
        <dsp:cNvPr id="0" name=""/>
        <dsp:cNvSpPr/>
      </dsp:nvSpPr>
      <dsp:spPr>
        <a:xfrm rot="16200000">
          <a:off x="-18427" y="19115"/>
          <a:ext cx="1827525" cy="1789293"/>
        </a:xfrm>
        <a:prstGeom prst="flowChartManualOperation">
          <a:avLst/>
        </a:prstGeom>
        <a:solidFill>
          <a:schemeClr val="tx1">
            <a:lumMod val="75000"/>
            <a:lumOff val="2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0" rIns="63500" bIns="0" numCol="1" spcCol="1270" anchor="ctr" anchorCtr="0">
          <a:noAutofit/>
        </a:bodyPr>
        <a:lstStyle/>
        <a:p>
          <a:pPr marL="0" lvl="0" indent="0" algn="ctr" defTabSz="444500">
            <a:lnSpc>
              <a:spcPct val="90000"/>
            </a:lnSpc>
            <a:spcBef>
              <a:spcPct val="0"/>
            </a:spcBef>
            <a:spcAft>
              <a:spcPct val="35000"/>
            </a:spcAft>
            <a:buNone/>
          </a:pPr>
          <a:r>
            <a:rPr lang="en-US" sz="1000" kern="1200" dirty="0"/>
            <a:t>With introduction of KUSUM scheme and with availability of funds from schemes like RIDF and REAPS, a convergent scheme can be envisaged</a:t>
          </a:r>
        </a:p>
      </dsp:txBody>
      <dsp:txXfrm rot="5400000">
        <a:off x="689" y="365504"/>
        <a:ext cx="1789293" cy="1096515"/>
      </dsp:txXfrm>
    </dsp:sp>
    <dsp:sp modelId="{F1139F9E-729A-4A71-8F6C-AE3B54779F05}">
      <dsp:nvSpPr>
        <dsp:cNvPr id="0" name=""/>
        <dsp:cNvSpPr/>
      </dsp:nvSpPr>
      <dsp:spPr>
        <a:xfrm rot="16200000">
          <a:off x="1905062" y="19115"/>
          <a:ext cx="1827525" cy="178929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0" rIns="63500" bIns="0" numCol="1" spcCol="1270" anchor="ctr" anchorCtr="0">
          <a:noAutofit/>
        </a:bodyPr>
        <a:lstStyle/>
        <a:p>
          <a:pPr marL="0" lvl="0" indent="0" algn="ctr" defTabSz="444500">
            <a:lnSpc>
              <a:spcPct val="90000"/>
            </a:lnSpc>
            <a:spcBef>
              <a:spcPct val="0"/>
            </a:spcBef>
            <a:spcAft>
              <a:spcPct val="35000"/>
            </a:spcAft>
            <a:buNone/>
          </a:pPr>
          <a:r>
            <a:rPr lang="en-US" sz="1000" kern="1200" dirty="0"/>
            <a:t>Power Department ,Irrigation department, WRID inter alia can join forces to implement this convergent scheme</a:t>
          </a:r>
        </a:p>
      </dsp:txBody>
      <dsp:txXfrm rot="5400000">
        <a:off x="1924178" y="365504"/>
        <a:ext cx="1789293" cy="1096515"/>
      </dsp:txXfrm>
    </dsp:sp>
    <dsp:sp modelId="{7B62E607-F30A-4B6C-9F1E-66C21F2527B7}">
      <dsp:nvSpPr>
        <dsp:cNvPr id="0" name=""/>
        <dsp:cNvSpPr/>
      </dsp:nvSpPr>
      <dsp:spPr>
        <a:xfrm rot="16200000">
          <a:off x="3828554" y="19115"/>
          <a:ext cx="1827525" cy="1789293"/>
        </a:xfrm>
        <a:prstGeom prst="flowChartManualOperation">
          <a:avLst/>
        </a:prstGeom>
        <a:solidFill>
          <a:schemeClr val="tx1">
            <a:lumMod val="75000"/>
            <a:lumOff val="2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0" rIns="63500" bIns="0" numCol="1" spcCol="1270" anchor="ctr" anchorCtr="0">
          <a:noAutofit/>
        </a:bodyPr>
        <a:lstStyle/>
        <a:p>
          <a:pPr marL="0" lvl="0" indent="0" algn="ctr" defTabSz="444500">
            <a:lnSpc>
              <a:spcPct val="90000"/>
            </a:lnSpc>
            <a:spcBef>
              <a:spcPct val="0"/>
            </a:spcBef>
            <a:spcAft>
              <a:spcPct val="35000"/>
            </a:spcAft>
            <a:buNone/>
          </a:pPr>
          <a:r>
            <a:rPr lang="en-US" sz="1000" kern="1200" dirty="0"/>
            <a:t>Solarization of agricultural/irrigation pumps and sale of excess energy (if any) can be achieved leading to decrease in subsidy requirement </a:t>
          </a:r>
        </a:p>
      </dsp:txBody>
      <dsp:txXfrm rot="5400000">
        <a:off x="3847670" y="365504"/>
        <a:ext cx="1789293" cy="1096515"/>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FBA8FE-FE64-48D7-B1E9-BF6B4ADB8343}">
      <dsp:nvSpPr>
        <dsp:cNvPr id="0" name=""/>
        <dsp:cNvSpPr/>
      </dsp:nvSpPr>
      <dsp:spPr>
        <a:xfrm>
          <a:off x="-5702448" y="-872870"/>
          <a:ext cx="6789173" cy="6789173"/>
        </a:xfrm>
        <a:prstGeom prst="blockArc">
          <a:avLst>
            <a:gd name="adj1" fmla="val 18900000"/>
            <a:gd name="adj2" fmla="val 2700000"/>
            <a:gd name="adj3" fmla="val 318"/>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D925616-D083-4010-9AC2-125FFD4AE711}">
      <dsp:nvSpPr>
        <dsp:cNvPr id="0" name=""/>
        <dsp:cNvSpPr/>
      </dsp:nvSpPr>
      <dsp:spPr>
        <a:xfrm>
          <a:off x="475043" y="315113"/>
          <a:ext cx="4973356" cy="630630"/>
        </a:xfrm>
        <a:prstGeom prst="rect">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0563" tIns="27940" rIns="27940" bIns="27940" numCol="1" spcCol="1270" anchor="ctr" anchorCtr="0">
          <a:noAutofit/>
        </a:bodyPr>
        <a:lstStyle/>
        <a:p>
          <a:pPr marL="0" lvl="0" indent="0" algn="just" defTabSz="488950">
            <a:lnSpc>
              <a:spcPct val="90000"/>
            </a:lnSpc>
            <a:spcBef>
              <a:spcPct val="0"/>
            </a:spcBef>
            <a:spcAft>
              <a:spcPct val="35000"/>
            </a:spcAft>
            <a:buNone/>
          </a:pPr>
          <a:r>
            <a:rPr lang="en-GB" sz="1100" b="0" i="1" u="none" kern="1200" dirty="0"/>
            <a:t>Identification of all existing central/schemes in the country </a:t>
          </a:r>
          <a:endParaRPr lang="en-US" sz="1100" b="0" i="1" u="none" kern="1200" dirty="0"/>
        </a:p>
      </dsp:txBody>
      <dsp:txXfrm>
        <a:off x="475043" y="315113"/>
        <a:ext cx="4973356" cy="630630"/>
      </dsp:txXfrm>
    </dsp:sp>
    <dsp:sp modelId="{880C8B22-CE3E-4A4E-8893-154D1FB3B3E5}">
      <dsp:nvSpPr>
        <dsp:cNvPr id="0" name=""/>
        <dsp:cNvSpPr/>
      </dsp:nvSpPr>
      <dsp:spPr>
        <a:xfrm>
          <a:off x="80899" y="236284"/>
          <a:ext cx="788288" cy="78828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2530D34-073E-416D-AF92-5C70E9B911D1}">
      <dsp:nvSpPr>
        <dsp:cNvPr id="0" name=""/>
        <dsp:cNvSpPr/>
      </dsp:nvSpPr>
      <dsp:spPr>
        <a:xfrm>
          <a:off x="926935" y="1260757"/>
          <a:ext cx="4521464" cy="630630"/>
        </a:xfrm>
        <a:prstGeom prst="rect">
          <a:avLst/>
        </a:prstGeom>
        <a:solidFill>
          <a:schemeClr val="bg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0563" tIns="27940" rIns="27940" bIns="27940" numCol="1" spcCol="1270" anchor="ctr" anchorCtr="0">
          <a:noAutofit/>
        </a:bodyPr>
        <a:lstStyle/>
        <a:p>
          <a:pPr marL="0" lvl="0" indent="0" algn="just" defTabSz="488950">
            <a:lnSpc>
              <a:spcPct val="90000"/>
            </a:lnSpc>
            <a:spcBef>
              <a:spcPct val="0"/>
            </a:spcBef>
            <a:spcAft>
              <a:spcPct val="35000"/>
            </a:spcAft>
            <a:buNone/>
          </a:pPr>
          <a:r>
            <a:rPr lang="en-GB" sz="1100" b="0" i="1" kern="1200" dirty="0"/>
            <a:t>Mapping of central schemes, its key features, implementation status and progress </a:t>
          </a:r>
          <a:endParaRPr lang="en-US" sz="1100" b="0" i="1" u="none" kern="1200" dirty="0"/>
        </a:p>
      </dsp:txBody>
      <dsp:txXfrm>
        <a:off x="926935" y="1260757"/>
        <a:ext cx="4521464" cy="630630"/>
      </dsp:txXfrm>
    </dsp:sp>
    <dsp:sp modelId="{182283F8-2219-4BAB-B711-22D818814F08}">
      <dsp:nvSpPr>
        <dsp:cNvPr id="0" name=""/>
        <dsp:cNvSpPr/>
      </dsp:nvSpPr>
      <dsp:spPr>
        <a:xfrm>
          <a:off x="532791" y="1181928"/>
          <a:ext cx="788288" cy="78828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E096FF7-55E6-4165-9FFD-A09AB6E16D21}">
      <dsp:nvSpPr>
        <dsp:cNvPr id="0" name=""/>
        <dsp:cNvSpPr/>
      </dsp:nvSpPr>
      <dsp:spPr>
        <a:xfrm>
          <a:off x="1065629" y="2206401"/>
          <a:ext cx="4382770" cy="630630"/>
        </a:xfrm>
        <a:prstGeom prst="rect">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0563" tIns="27940" rIns="27940" bIns="27940" numCol="1" spcCol="1270" anchor="ctr" anchorCtr="0">
          <a:noAutofit/>
        </a:bodyPr>
        <a:lstStyle/>
        <a:p>
          <a:pPr marL="0" lvl="0" indent="0" algn="just" defTabSz="488950">
            <a:lnSpc>
              <a:spcPct val="90000"/>
            </a:lnSpc>
            <a:spcBef>
              <a:spcPct val="0"/>
            </a:spcBef>
            <a:spcAft>
              <a:spcPct val="35000"/>
            </a:spcAft>
            <a:buNone/>
          </a:pPr>
          <a:r>
            <a:rPr lang="en-US" sz="1100" b="0" i="1" u="none" kern="1200" dirty="0"/>
            <a:t>Mapping, and shortlisting of </a:t>
          </a:r>
          <a:r>
            <a:rPr lang="en-GB" sz="1100" b="0" kern="1200" dirty="0"/>
            <a:t>key parameters for consideration, along with detailed justification for each parameter selected</a:t>
          </a:r>
          <a:endParaRPr lang="en-US" sz="1100" b="0" i="1" u="none" kern="1200" dirty="0"/>
        </a:p>
      </dsp:txBody>
      <dsp:txXfrm>
        <a:off x="1065629" y="2206401"/>
        <a:ext cx="4382770" cy="630630"/>
      </dsp:txXfrm>
    </dsp:sp>
    <dsp:sp modelId="{367E9D9C-330A-4A79-9F2C-23718EFEBFDC}">
      <dsp:nvSpPr>
        <dsp:cNvPr id="0" name=""/>
        <dsp:cNvSpPr/>
      </dsp:nvSpPr>
      <dsp:spPr>
        <a:xfrm>
          <a:off x="671485" y="2127572"/>
          <a:ext cx="788288" cy="78828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EADFD7C-191A-49ED-9ABA-9C7DF44E7D23}">
      <dsp:nvSpPr>
        <dsp:cNvPr id="0" name=""/>
        <dsp:cNvSpPr/>
      </dsp:nvSpPr>
      <dsp:spPr>
        <a:xfrm>
          <a:off x="926935" y="3152044"/>
          <a:ext cx="4521464" cy="630630"/>
        </a:xfrm>
        <a:prstGeom prst="rect">
          <a:avLst/>
        </a:prstGeom>
        <a:solidFill>
          <a:schemeClr val="bg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0563" tIns="27940" rIns="27940" bIns="27940" numCol="1" spcCol="1270" anchor="ctr" anchorCtr="0">
          <a:noAutofit/>
        </a:bodyPr>
        <a:lstStyle/>
        <a:p>
          <a:pPr marL="0" lvl="0" indent="0" algn="just" defTabSz="488950">
            <a:lnSpc>
              <a:spcPct val="90000"/>
            </a:lnSpc>
            <a:spcBef>
              <a:spcPct val="0"/>
            </a:spcBef>
            <a:spcAft>
              <a:spcPct val="35000"/>
            </a:spcAft>
            <a:buNone/>
          </a:pPr>
          <a:r>
            <a:rPr lang="en-US" sz="1100" b="0" i="1" u="none" kern="1200" dirty="0"/>
            <a:t>Carrying out stakeholder consultations (Beneficiaries, Officials under Nodal Agencies under MNRE, Water Resource Dept, Irrigation Dept, Dept. of Power etc.)</a:t>
          </a:r>
        </a:p>
      </dsp:txBody>
      <dsp:txXfrm>
        <a:off x="926935" y="3152044"/>
        <a:ext cx="4521464" cy="630630"/>
      </dsp:txXfrm>
    </dsp:sp>
    <dsp:sp modelId="{00DE1CBC-B6CC-4DDB-B48D-A10E1BB83FB2}">
      <dsp:nvSpPr>
        <dsp:cNvPr id="0" name=""/>
        <dsp:cNvSpPr/>
      </dsp:nvSpPr>
      <dsp:spPr>
        <a:xfrm>
          <a:off x="532791" y="3073215"/>
          <a:ext cx="788288" cy="78828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2169436-5AAB-4737-B3D8-3C6F46BF3E5E}">
      <dsp:nvSpPr>
        <dsp:cNvPr id="0" name=""/>
        <dsp:cNvSpPr/>
      </dsp:nvSpPr>
      <dsp:spPr>
        <a:xfrm>
          <a:off x="475043" y="4097688"/>
          <a:ext cx="4973356" cy="630630"/>
        </a:xfrm>
        <a:prstGeom prst="rect">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0563" tIns="27940" rIns="27940" bIns="27940" numCol="1" spcCol="1270" anchor="ctr" anchorCtr="0">
          <a:noAutofit/>
        </a:bodyPr>
        <a:lstStyle/>
        <a:p>
          <a:pPr marL="0" lvl="0" indent="0" algn="just" defTabSz="488950">
            <a:lnSpc>
              <a:spcPct val="90000"/>
            </a:lnSpc>
            <a:spcBef>
              <a:spcPct val="0"/>
            </a:spcBef>
            <a:spcAft>
              <a:spcPct val="35000"/>
            </a:spcAft>
            <a:buNone/>
          </a:pPr>
          <a:r>
            <a:rPr lang="en-US" sz="1100" b="0" i="1" u="none" kern="1200" dirty="0"/>
            <a:t>Finalizing on pooling of available funds for each scheme, setting up of Project Monitoring Unit (PMU) and determination of nodal implementing agency</a:t>
          </a:r>
        </a:p>
      </dsp:txBody>
      <dsp:txXfrm>
        <a:off x="475043" y="4097688"/>
        <a:ext cx="4973356" cy="630630"/>
      </dsp:txXfrm>
    </dsp:sp>
    <dsp:sp modelId="{A409FDD8-5A42-4710-871E-55288FD914E8}">
      <dsp:nvSpPr>
        <dsp:cNvPr id="0" name=""/>
        <dsp:cNvSpPr/>
      </dsp:nvSpPr>
      <dsp:spPr>
        <a:xfrm>
          <a:off x="80899" y="4018859"/>
          <a:ext cx="788288" cy="78828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FE20E5-B7E7-45DD-9787-73F7CB55C788}">
      <dsp:nvSpPr>
        <dsp:cNvPr id="0" name=""/>
        <dsp:cNvSpPr/>
      </dsp:nvSpPr>
      <dsp:spPr>
        <a:xfrm>
          <a:off x="2473953" y="0"/>
          <a:ext cx="2251996" cy="2252339"/>
        </a:xfrm>
        <a:prstGeom prst="circularArrow">
          <a:avLst>
            <a:gd name="adj1" fmla="val 10980"/>
            <a:gd name="adj2" fmla="val 1142322"/>
            <a:gd name="adj3" fmla="val 4500000"/>
            <a:gd name="adj4" fmla="val 10800000"/>
            <a:gd name="adj5" fmla="val 12500"/>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9D1CD3-BA60-4382-92CD-7AD08CCBE30D}">
      <dsp:nvSpPr>
        <dsp:cNvPr id="0" name=""/>
        <dsp:cNvSpPr/>
      </dsp:nvSpPr>
      <dsp:spPr>
        <a:xfrm>
          <a:off x="2971718" y="813162"/>
          <a:ext cx="1251391" cy="625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en-US" sz="1100" b="1" kern="1200" dirty="0">
              <a:solidFill>
                <a:sysClr val="windowText" lastClr="000000"/>
              </a:solidFill>
            </a:rPr>
            <a:t>Government Targets; Policy push</a:t>
          </a:r>
          <a:endParaRPr lang="en-US" sz="1100" b="1" kern="1200" dirty="0"/>
        </a:p>
      </dsp:txBody>
      <dsp:txXfrm>
        <a:off x="2971718" y="813162"/>
        <a:ext cx="1251391" cy="625545"/>
      </dsp:txXfrm>
    </dsp:sp>
    <dsp:sp modelId="{EA4BF34C-7246-4B7E-941C-14399C4CD7A7}">
      <dsp:nvSpPr>
        <dsp:cNvPr id="0" name=""/>
        <dsp:cNvSpPr/>
      </dsp:nvSpPr>
      <dsp:spPr>
        <a:xfrm>
          <a:off x="1848469" y="1294136"/>
          <a:ext cx="2251996" cy="2252339"/>
        </a:xfrm>
        <a:prstGeom prst="leftCircularArrow">
          <a:avLst>
            <a:gd name="adj1" fmla="val 10980"/>
            <a:gd name="adj2" fmla="val 1142322"/>
            <a:gd name="adj3" fmla="val 6300000"/>
            <a:gd name="adj4" fmla="val 18900000"/>
            <a:gd name="adj5" fmla="val 12500"/>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014024-57D8-4588-A813-9D3D61446584}">
      <dsp:nvSpPr>
        <dsp:cNvPr id="0" name=""/>
        <dsp:cNvSpPr/>
      </dsp:nvSpPr>
      <dsp:spPr>
        <a:xfrm>
          <a:off x="2348772" y="2114785"/>
          <a:ext cx="1251391" cy="625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t>Sustainability targets among various stakeholders</a:t>
          </a:r>
        </a:p>
      </dsp:txBody>
      <dsp:txXfrm>
        <a:off x="2348772" y="2114785"/>
        <a:ext cx="1251391" cy="625545"/>
      </dsp:txXfrm>
    </dsp:sp>
    <dsp:sp modelId="{4BFB64F7-7929-449C-B212-3D45360F932B}">
      <dsp:nvSpPr>
        <dsp:cNvPr id="0" name=""/>
        <dsp:cNvSpPr/>
      </dsp:nvSpPr>
      <dsp:spPr>
        <a:xfrm>
          <a:off x="2634236" y="2743138"/>
          <a:ext cx="1934814" cy="1935589"/>
        </a:xfrm>
        <a:prstGeom prst="blockArc">
          <a:avLst>
            <a:gd name="adj1" fmla="val 13500000"/>
            <a:gd name="adj2" fmla="val 10800000"/>
            <a:gd name="adj3" fmla="val 12740"/>
          </a:avLst>
        </a:prstGeom>
        <a:solidFill>
          <a:schemeClr val="accent3">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8E3B27F-0CA9-4A0F-B7D3-379A18F9C2CB}">
      <dsp:nvSpPr>
        <dsp:cNvPr id="0" name=""/>
        <dsp:cNvSpPr/>
      </dsp:nvSpPr>
      <dsp:spPr>
        <a:xfrm>
          <a:off x="2974679" y="3418278"/>
          <a:ext cx="1251391" cy="625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ysClr val="windowText" lastClr="000000"/>
              </a:solidFill>
            </a:rPr>
            <a:t>Falling RE prices</a:t>
          </a:r>
          <a:endParaRPr lang="en-US" sz="1100" b="1" kern="1200" dirty="0"/>
        </a:p>
      </dsp:txBody>
      <dsp:txXfrm>
        <a:off x="2974679" y="3418278"/>
        <a:ext cx="1251391" cy="625545"/>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2F1EED-317C-47DA-A71C-5D49A570650C}">
      <dsp:nvSpPr>
        <dsp:cNvPr id="0" name=""/>
        <dsp:cNvSpPr/>
      </dsp:nvSpPr>
      <dsp:spPr>
        <a:xfrm>
          <a:off x="-5012828" y="-768029"/>
          <a:ext cx="5969954" cy="5969954"/>
        </a:xfrm>
        <a:prstGeom prst="blockArc">
          <a:avLst>
            <a:gd name="adj1" fmla="val 18900000"/>
            <a:gd name="adj2" fmla="val 2700000"/>
            <a:gd name="adj3" fmla="val 362"/>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A214A2C-AC36-421F-835F-2AA5FDD64E6C}">
      <dsp:nvSpPr>
        <dsp:cNvPr id="0" name=""/>
        <dsp:cNvSpPr/>
      </dsp:nvSpPr>
      <dsp:spPr>
        <a:xfrm>
          <a:off x="418718" y="277029"/>
          <a:ext cx="4906863" cy="554414"/>
        </a:xfrm>
        <a:prstGeom prst="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6" tIns="33020" rIns="33020" bIns="33020" numCol="1" spcCol="1270" anchor="ctr" anchorCtr="0">
          <a:noAutofit/>
        </a:bodyPr>
        <a:lstStyle/>
        <a:p>
          <a:pPr marL="0" lvl="0" indent="0" algn="l" defTabSz="577850">
            <a:lnSpc>
              <a:spcPct val="90000"/>
            </a:lnSpc>
            <a:spcBef>
              <a:spcPct val="0"/>
            </a:spcBef>
            <a:spcAft>
              <a:spcPct val="35000"/>
            </a:spcAft>
            <a:buNone/>
          </a:pPr>
          <a:r>
            <a:rPr lang="en-US" sz="1300" kern="1200" dirty="0"/>
            <a:t>Lower cost electricity generated from RE sources</a:t>
          </a:r>
        </a:p>
      </dsp:txBody>
      <dsp:txXfrm>
        <a:off x="418718" y="277029"/>
        <a:ext cx="4906863" cy="554414"/>
      </dsp:txXfrm>
    </dsp:sp>
    <dsp:sp modelId="{D1EDFF3F-AD4A-481C-BA9A-69B0EE84FF1B}">
      <dsp:nvSpPr>
        <dsp:cNvPr id="0" name=""/>
        <dsp:cNvSpPr/>
      </dsp:nvSpPr>
      <dsp:spPr>
        <a:xfrm>
          <a:off x="72209" y="207727"/>
          <a:ext cx="693017" cy="69301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758045-BAAA-4647-B9ED-84539941BF6D}">
      <dsp:nvSpPr>
        <dsp:cNvPr id="0" name=""/>
        <dsp:cNvSpPr/>
      </dsp:nvSpPr>
      <dsp:spPr>
        <a:xfrm>
          <a:off x="815995" y="1108385"/>
          <a:ext cx="4509586" cy="55441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6" tIns="33020" rIns="33020" bIns="33020" numCol="1" spcCol="1270" anchor="ctr" anchorCtr="0">
          <a:noAutofit/>
        </a:bodyPr>
        <a:lstStyle/>
        <a:p>
          <a:pPr marL="0" lvl="0" indent="0" algn="l" defTabSz="577850">
            <a:lnSpc>
              <a:spcPct val="90000"/>
            </a:lnSpc>
            <a:spcBef>
              <a:spcPct val="0"/>
            </a:spcBef>
            <a:spcAft>
              <a:spcPct val="35000"/>
            </a:spcAft>
            <a:buNone/>
          </a:pPr>
          <a:r>
            <a:rPr lang="en-US" sz="1300" kern="1200" dirty="0"/>
            <a:t>Improvement of T&amp;D losses</a:t>
          </a:r>
        </a:p>
      </dsp:txBody>
      <dsp:txXfrm>
        <a:off x="815995" y="1108385"/>
        <a:ext cx="4509586" cy="554414"/>
      </dsp:txXfrm>
    </dsp:sp>
    <dsp:sp modelId="{7ADBE974-9D2E-4F43-B388-EC2971802BA6}">
      <dsp:nvSpPr>
        <dsp:cNvPr id="0" name=""/>
        <dsp:cNvSpPr/>
      </dsp:nvSpPr>
      <dsp:spPr>
        <a:xfrm>
          <a:off x="469486" y="1039083"/>
          <a:ext cx="693017" cy="69301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A67A52C-12F5-4240-BEDB-3A7D0663CB94}">
      <dsp:nvSpPr>
        <dsp:cNvPr id="0" name=""/>
        <dsp:cNvSpPr/>
      </dsp:nvSpPr>
      <dsp:spPr>
        <a:xfrm>
          <a:off x="937927" y="1939740"/>
          <a:ext cx="4387654" cy="554414"/>
        </a:xfrm>
        <a:prstGeom prst="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6" tIns="33020" rIns="33020" bIns="33020" numCol="1" spcCol="1270" anchor="ctr" anchorCtr="0">
          <a:noAutofit/>
        </a:bodyPr>
        <a:lstStyle/>
        <a:p>
          <a:pPr marL="0" lvl="0" indent="0" algn="l" defTabSz="577850">
            <a:lnSpc>
              <a:spcPct val="90000"/>
            </a:lnSpc>
            <a:spcBef>
              <a:spcPct val="0"/>
            </a:spcBef>
            <a:spcAft>
              <a:spcPct val="35000"/>
            </a:spcAft>
            <a:buNone/>
          </a:pPr>
          <a:r>
            <a:rPr lang="en-US" sz="1300" kern="1200" dirty="0"/>
            <a:t>Scope for increase in Per capita consumption</a:t>
          </a:r>
        </a:p>
      </dsp:txBody>
      <dsp:txXfrm>
        <a:off x="937927" y="1939740"/>
        <a:ext cx="4387654" cy="554414"/>
      </dsp:txXfrm>
    </dsp:sp>
    <dsp:sp modelId="{18B56BCB-E27B-407B-A164-858B03D4D4B6}">
      <dsp:nvSpPr>
        <dsp:cNvPr id="0" name=""/>
        <dsp:cNvSpPr/>
      </dsp:nvSpPr>
      <dsp:spPr>
        <a:xfrm>
          <a:off x="591418" y="1870438"/>
          <a:ext cx="693017" cy="69301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0F8A2BB-9494-4C88-A80E-64E48E21466E}">
      <dsp:nvSpPr>
        <dsp:cNvPr id="0" name=""/>
        <dsp:cNvSpPr/>
      </dsp:nvSpPr>
      <dsp:spPr>
        <a:xfrm>
          <a:off x="815995" y="2771095"/>
          <a:ext cx="4509586" cy="55441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6" tIns="33020" rIns="33020" bIns="33020" numCol="1" spcCol="1270" anchor="ctr" anchorCtr="0">
          <a:noAutofit/>
        </a:bodyPr>
        <a:lstStyle/>
        <a:p>
          <a:pPr marL="0" lvl="0" indent="0" algn="l" defTabSz="577850">
            <a:lnSpc>
              <a:spcPct val="90000"/>
            </a:lnSpc>
            <a:spcBef>
              <a:spcPct val="0"/>
            </a:spcBef>
            <a:spcAft>
              <a:spcPct val="35000"/>
            </a:spcAft>
            <a:buNone/>
          </a:pPr>
          <a:r>
            <a:rPr lang="en-US" sz="1300" kern="1200" dirty="0"/>
            <a:t>Growth of EV sector</a:t>
          </a:r>
        </a:p>
      </dsp:txBody>
      <dsp:txXfrm>
        <a:off x="815995" y="2771095"/>
        <a:ext cx="4509586" cy="554414"/>
      </dsp:txXfrm>
    </dsp:sp>
    <dsp:sp modelId="{EB22FBD1-195E-456D-B891-669FEED6F9F1}">
      <dsp:nvSpPr>
        <dsp:cNvPr id="0" name=""/>
        <dsp:cNvSpPr/>
      </dsp:nvSpPr>
      <dsp:spPr>
        <a:xfrm>
          <a:off x="469486" y="2701793"/>
          <a:ext cx="693017" cy="69301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23C308C-BA49-43AF-A81F-5542EC34B619}">
      <dsp:nvSpPr>
        <dsp:cNvPr id="0" name=""/>
        <dsp:cNvSpPr/>
      </dsp:nvSpPr>
      <dsp:spPr>
        <a:xfrm>
          <a:off x="418718" y="3609009"/>
          <a:ext cx="4906863" cy="554414"/>
        </a:xfrm>
        <a:prstGeom prst="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6" tIns="33020" rIns="33020" bIns="33020" numCol="1" spcCol="1270" anchor="ctr" anchorCtr="0">
          <a:noAutofit/>
        </a:bodyPr>
        <a:lstStyle/>
        <a:p>
          <a:pPr marL="0" lvl="0" indent="0" algn="l" defTabSz="577850">
            <a:lnSpc>
              <a:spcPct val="90000"/>
            </a:lnSpc>
            <a:spcBef>
              <a:spcPct val="0"/>
            </a:spcBef>
            <a:spcAft>
              <a:spcPct val="35000"/>
            </a:spcAft>
            <a:buNone/>
          </a:pPr>
          <a:r>
            <a:rPr lang="en-US" sz="1300" kern="1200" dirty="0"/>
            <a:t>Increased penetration of cheaper RE with envisaged decrease in price of Lithium-ion batteries</a:t>
          </a:r>
        </a:p>
      </dsp:txBody>
      <dsp:txXfrm>
        <a:off x="418718" y="3609009"/>
        <a:ext cx="4906863" cy="554414"/>
      </dsp:txXfrm>
    </dsp:sp>
    <dsp:sp modelId="{B422BC19-CF8C-4FD8-A909-C1F1AB467108}">
      <dsp:nvSpPr>
        <dsp:cNvPr id="0" name=""/>
        <dsp:cNvSpPr/>
      </dsp:nvSpPr>
      <dsp:spPr>
        <a:xfrm>
          <a:off x="72209" y="3533149"/>
          <a:ext cx="693017" cy="69301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95CA32-0EE8-4B32-B057-FA8ECBDED8E9}">
      <dsp:nvSpPr>
        <dsp:cNvPr id="0" name=""/>
        <dsp:cNvSpPr/>
      </dsp:nvSpPr>
      <dsp:spPr>
        <a:xfrm>
          <a:off x="0" y="36486"/>
          <a:ext cx="11337475" cy="786240"/>
        </a:xfrm>
        <a:prstGeom prst="roundRect">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High Industrial and Commercial Tariff; need for cheaper RE options to encourage further industrialization and </a:t>
          </a:r>
          <a:r>
            <a:rPr lang="en-US" sz="1400" b="1" kern="1200" dirty="0"/>
            <a:t>prevent migration</a:t>
          </a:r>
        </a:p>
      </dsp:txBody>
      <dsp:txXfrm>
        <a:off x="38381" y="74867"/>
        <a:ext cx="11260713" cy="709478"/>
      </dsp:txXfrm>
    </dsp:sp>
    <dsp:sp modelId="{CCDFA2BA-882F-4868-BC54-86E37D673645}">
      <dsp:nvSpPr>
        <dsp:cNvPr id="0" name=""/>
        <dsp:cNvSpPr/>
      </dsp:nvSpPr>
      <dsp:spPr>
        <a:xfrm>
          <a:off x="0" y="933469"/>
          <a:ext cx="11337475" cy="786240"/>
        </a:xfrm>
        <a:prstGeom prst="roundRect">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Growing interest among corporate entities to shift to RE to achieve sustainability goals</a:t>
          </a:r>
        </a:p>
      </dsp:txBody>
      <dsp:txXfrm>
        <a:off x="38381" y="971850"/>
        <a:ext cx="11260713" cy="709478"/>
      </dsp:txXfrm>
    </dsp:sp>
    <dsp:sp modelId="{5B97A3F0-FBDD-40F8-B383-9FDA8104BABA}">
      <dsp:nvSpPr>
        <dsp:cNvPr id="0" name=""/>
        <dsp:cNvSpPr/>
      </dsp:nvSpPr>
      <dsp:spPr>
        <a:xfrm>
          <a:off x="0" y="1840669"/>
          <a:ext cx="11337475" cy="786240"/>
        </a:xfrm>
        <a:prstGeom prst="roundRect">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bg1"/>
              </a:solidFill>
            </a:rPr>
            <a:t>Significant scope for further RE integration, considering that actual installed capacity of RE in West Bengal is 587 MW as on January 2022, whereas total potential of RE is 7198 MW (~8.16%) </a:t>
          </a:r>
        </a:p>
      </dsp:txBody>
      <dsp:txXfrm>
        <a:off x="38381" y="1879050"/>
        <a:ext cx="11260713" cy="709478"/>
      </dsp:txXfrm>
    </dsp:sp>
    <dsp:sp modelId="{B1D5CE44-FA9B-4910-BCCF-B406ABF35280}">
      <dsp:nvSpPr>
        <dsp:cNvPr id="0" name=""/>
        <dsp:cNvSpPr/>
      </dsp:nvSpPr>
      <dsp:spPr>
        <a:xfrm>
          <a:off x="0" y="2747869"/>
          <a:ext cx="11337475" cy="786240"/>
        </a:xfrm>
        <a:prstGeom prst="roundRect">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Impending penetration of EV inter alia to drive significant growth in demand</a:t>
          </a:r>
        </a:p>
      </dsp:txBody>
      <dsp:txXfrm>
        <a:off x="38381" y="2786250"/>
        <a:ext cx="11260713" cy="709478"/>
      </dsp:txXfrm>
    </dsp:sp>
    <dsp:sp modelId="{76725D29-2C4E-44C9-896F-9CCC6B809224}">
      <dsp:nvSpPr>
        <dsp:cNvPr id="0" name=""/>
        <dsp:cNvSpPr/>
      </dsp:nvSpPr>
      <dsp:spPr>
        <a:xfrm>
          <a:off x="0" y="3681339"/>
          <a:ext cx="11337475" cy="786240"/>
        </a:xfrm>
        <a:prstGeom prst="roundRect">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Significant Precedent cases in India to learn from and implement the Green Tariff Scheme successfully</a:t>
          </a:r>
        </a:p>
      </dsp:txBody>
      <dsp:txXfrm>
        <a:off x="38381" y="3719720"/>
        <a:ext cx="11260713" cy="709478"/>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DA4C51-3858-4E14-8583-8DB0AC90FBE5}">
      <dsp:nvSpPr>
        <dsp:cNvPr id="0" name=""/>
        <dsp:cNvSpPr/>
      </dsp:nvSpPr>
      <dsp:spPr>
        <a:xfrm>
          <a:off x="1025038" y="429296"/>
          <a:ext cx="10988444" cy="4118907"/>
        </a:xfrm>
        <a:prstGeom prst="swooshArrow">
          <a:avLst>
            <a:gd name="adj1" fmla="val 25000"/>
            <a:gd name="adj2" fmla="val 25000"/>
          </a:avLst>
        </a:prstGeom>
        <a:solidFill>
          <a:schemeClr val="accent4">
            <a:lumMod val="7500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BBBCABE8-87B5-4F37-A375-215DC189B020}">
      <dsp:nvSpPr>
        <dsp:cNvPr id="0" name=""/>
        <dsp:cNvSpPr/>
      </dsp:nvSpPr>
      <dsp:spPr>
        <a:xfrm>
          <a:off x="2097899" y="3478358"/>
          <a:ext cx="187125" cy="187125"/>
        </a:xfrm>
        <a:prstGeom prst="ellipse">
          <a:avLst/>
        </a:prstGeom>
        <a:solidFill>
          <a:schemeClr val="accent3">
            <a:lumMod val="60000"/>
            <a:lumOff val="40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CC3C197A-D335-487A-831B-198BCE2D4B66}">
      <dsp:nvSpPr>
        <dsp:cNvPr id="0" name=""/>
        <dsp:cNvSpPr/>
      </dsp:nvSpPr>
      <dsp:spPr>
        <a:xfrm>
          <a:off x="2160747" y="3741859"/>
          <a:ext cx="1563982" cy="12102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154" tIns="0" rIns="0" bIns="0" numCol="1" spcCol="1270" anchor="t" anchorCtr="0">
          <a:noAutofit/>
        </a:bodyPr>
        <a:lstStyle/>
        <a:p>
          <a:pPr marL="0" lvl="0" indent="0" algn="just" defTabSz="533400">
            <a:lnSpc>
              <a:spcPct val="90000"/>
            </a:lnSpc>
            <a:spcBef>
              <a:spcPct val="0"/>
            </a:spcBef>
            <a:spcAft>
              <a:spcPct val="35000"/>
            </a:spcAft>
            <a:buNone/>
          </a:pPr>
          <a:r>
            <a:rPr lang="en-US" sz="1200" kern="1200" dirty="0"/>
            <a:t>In 2008–09, for the first time, Andhra Pradesh introduced an optional green power tariff for C&amp;I consumers at a premium price of Rs. 6.7/kWh (IDFC 2010)</a:t>
          </a:r>
        </a:p>
      </dsp:txBody>
      <dsp:txXfrm>
        <a:off x="2160747" y="3741859"/>
        <a:ext cx="1563982" cy="1210216"/>
      </dsp:txXfrm>
    </dsp:sp>
    <dsp:sp modelId="{EB6A4A88-0AC0-40E7-9666-C60F7CA3189A}">
      <dsp:nvSpPr>
        <dsp:cNvPr id="0" name=""/>
        <dsp:cNvSpPr/>
      </dsp:nvSpPr>
      <dsp:spPr>
        <a:xfrm>
          <a:off x="3685669" y="2625180"/>
          <a:ext cx="292892" cy="292892"/>
        </a:xfrm>
        <a:prstGeom prst="ellipse">
          <a:avLst/>
        </a:prstGeom>
        <a:solidFill>
          <a:schemeClr val="bg1">
            <a:lumMod val="95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1E41EC20-EA58-4F4A-BC4A-7696664CC6AD}">
      <dsp:nvSpPr>
        <dsp:cNvPr id="0" name=""/>
        <dsp:cNvSpPr/>
      </dsp:nvSpPr>
      <dsp:spPr>
        <a:xfrm>
          <a:off x="2533180" y="1702495"/>
          <a:ext cx="1905885" cy="7862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5198" tIns="0" rIns="0" bIns="0" numCol="1" spcCol="1270" anchor="t" anchorCtr="0">
          <a:noAutofit/>
        </a:bodyPr>
        <a:lstStyle/>
        <a:p>
          <a:pPr marL="0" lvl="0" indent="0" algn="just" defTabSz="533400">
            <a:lnSpc>
              <a:spcPct val="90000"/>
            </a:lnSpc>
            <a:spcBef>
              <a:spcPct val="0"/>
            </a:spcBef>
            <a:spcAft>
              <a:spcPct val="35000"/>
            </a:spcAft>
            <a:buNone/>
          </a:pPr>
          <a:r>
            <a:rPr lang="en-US" sz="1200" kern="1200" dirty="0"/>
            <a:t>Citing absence of sales, this category was removed vide 2017-18 tariff order</a:t>
          </a:r>
        </a:p>
      </dsp:txBody>
      <dsp:txXfrm>
        <a:off x="2533180" y="1702495"/>
        <a:ext cx="1905885" cy="786273"/>
      </dsp:txXfrm>
    </dsp:sp>
    <dsp:sp modelId="{F899BC9E-E809-41EB-ACF7-E46E3160B0DB}">
      <dsp:nvSpPr>
        <dsp:cNvPr id="0" name=""/>
        <dsp:cNvSpPr/>
      </dsp:nvSpPr>
      <dsp:spPr>
        <a:xfrm>
          <a:off x="5381885" y="2055440"/>
          <a:ext cx="390523" cy="390523"/>
        </a:xfrm>
        <a:prstGeom prst="ellipse">
          <a:avLst/>
        </a:prstGeom>
        <a:solidFill>
          <a:schemeClr val="accent5">
            <a:lumMod val="60000"/>
            <a:lumOff val="40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7062C486-151F-428B-981A-D9C84892347C}">
      <dsp:nvSpPr>
        <dsp:cNvPr id="0" name=""/>
        <dsp:cNvSpPr/>
      </dsp:nvSpPr>
      <dsp:spPr>
        <a:xfrm>
          <a:off x="4875123" y="2809168"/>
          <a:ext cx="2616303" cy="1891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930" tIns="0" rIns="0" bIns="0" numCol="1" spcCol="1270" anchor="t" anchorCtr="0">
          <a:noAutofit/>
        </a:bodyPr>
        <a:lstStyle/>
        <a:p>
          <a:pPr marL="0" lvl="0" indent="0" algn="just" defTabSz="511175">
            <a:lnSpc>
              <a:spcPct val="90000"/>
            </a:lnSpc>
            <a:spcBef>
              <a:spcPct val="0"/>
            </a:spcBef>
            <a:spcAft>
              <a:spcPct val="35000"/>
            </a:spcAft>
            <a:buNone/>
          </a:pPr>
          <a:r>
            <a:rPr lang="en-US" sz="1150" kern="1200" dirty="0"/>
            <a:t>In response to a petition by the only consumer who subscribed to this tariff category in 2016 and 2017, APERC re-introduced the “HT Category VII-Green Power” tariff category in 2018–19 for HT consumers “who wish to avail power from Non-conventional sources of energy voluntarily and show their support to an environmental cause” (APERC 2018)</a:t>
          </a:r>
        </a:p>
      </dsp:txBody>
      <dsp:txXfrm>
        <a:off x="4875123" y="2809168"/>
        <a:ext cx="2616303" cy="1891337"/>
      </dsp:txXfrm>
    </dsp:sp>
    <dsp:sp modelId="{194AAD07-2FB0-4A4D-8A7D-100D5F268A19}">
      <dsp:nvSpPr>
        <dsp:cNvPr id="0" name=""/>
        <dsp:cNvSpPr/>
      </dsp:nvSpPr>
      <dsp:spPr>
        <a:xfrm>
          <a:off x="7470935" y="1579945"/>
          <a:ext cx="504426" cy="504426"/>
        </a:xfrm>
        <a:prstGeom prst="ellipse">
          <a:avLst/>
        </a:prstGeom>
        <a:solidFill>
          <a:srgbClr val="C4D60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E5002E7E-6838-48D2-BB84-E0D1542AABCD}">
      <dsp:nvSpPr>
        <dsp:cNvPr id="0" name=""/>
        <dsp:cNvSpPr/>
      </dsp:nvSpPr>
      <dsp:spPr>
        <a:xfrm>
          <a:off x="5733494" y="399696"/>
          <a:ext cx="2376011" cy="12782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7285" tIns="0" rIns="0" bIns="0" numCol="1" spcCol="1270" anchor="t" anchorCtr="0">
          <a:noAutofit/>
        </a:bodyPr>
        <a:lstStyle/>
        <a:p>
          <a:pPr marL="0" lvl="0" indent="0" algn="l" defTabSz="533400">
            <a:lnSpc>
              <a:spcPct val="90000"/>
            </a:lnSpc>
            <a:spcBef>
              <a:spcPct val="0"/>
            </a:spcBef>
            <a:spcAft>
              <a:spcPct val="35000"/>
            </a:spcAft>
            <a:buNone/>
          </a:pPr>
          <a:r>
            <a:rPr lang="en-US" sz="1200" kern="1200" dirty="0"/>
            <a:t>At Rs. 11.32/</a:t>
          </a:r>
          <a:r>
            <a:rPr lang="en-US" sz="1200" kern="1200" dirty="0" err="1"/>
            <a:t>kVAh</a:t>
          </a:r>
          <a:r>
            <a:rPr lang="en-US" sz="1200" kern="1200" dirty="0"/>
            <a:t>, subscription to this tariff category is optional and concomitantly entitles the subscribing HT consumers to RECs as well</a:t>
          </a:r>
        </a:p>
      </dsp:txBody>
      <dsp:txXfrm>
        <a:off x="5733494" y="399696"/>
        <a:ext cx="2376011" cy="1278205"/>
      </dsp:txXfrm>
    </dsp:sp>
    <dsp:sp modelId="{16686257-0D1A-4AF0-920C-DB9DDDE4B1F5}">
      <dsp:nvSpPr>
        <dsp:cNvPr id="0" name=""/>
        <dsp:cNvSpPr/>
      </dsp:nvSpPr>
      <dsp:spPr>
        <a:xfrm>
          <a:off x="9697670" y="1208857"/>
          <a:ext cx="642737" cy="642737"/>
        </a:xfrm>
        <a:prstGeom prst="ellipse">
          <a:avLst/>
        </a:prstGeom>
        <a:solidFill>
          <a:srgbClr val="86BC25"/>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D29020AA-81C0-4093-B2AA-6EB3081C98B8}">
      <dsp:nvSpPr>
        <dsp:cNvPr id="0" name=""/>
        <dsp:cNvSpPr/>
      </dsp:nvSpPr>
      <dsp:spPr>
        <a:xfrm>
          <a:off x="8493187" y="2227938"/>
          <a:ext cx="2467215" cy="1146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0573" tIns="0" rIns="0" bIns="0" numCol="1" spcCol="1270" anchor="t" anchorCtr="0">
          <a:noAutofit/>
        </a:bodyPr>
        <a:lstStyle/>
        <a:p>
          <a:pPr marL="0" lvl="0" indent="0" algn="just" defTabSz="533400">
            <a:lnSpc>
              <a:spcPct val="90000"/>
            </a:lnSpc>
            <a:spcBef>
              <a:spcPct val="0"/>
            </a:spcBef>
            <a:spcAft>
              <a:spcPct val="35000"/>
            </a:spcAft>
            <a:buNone/>
          </a:pPr>
          <a:r>
            <a:rPr lang="en-US" sz="1200" kern="1200" dirty="0"/>
            <a:t>There is no restriction on the end-use purpose of this green energy (except for use as start-up power for generating plants), and no monthly minimum charges are levied under this category</a:t>
          </a:r>
        </a:p>
      </dsp:txBody>
      <dsp:txXfrm>
        <a:off x="8493187" y="2227938"/>
        <a:ext cx="2467215" cy="1146333"/>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5B742C-5E24-4A79-B76E-034F1C3C95C7}">
      <dsp:nvSpPr>
        <dsp:cNvPr id="0" name=""/>
        <dsp:cNvSpPr/>
      </dsp:nvSpPr>
      <dsp:spPr>
        <a:xfrm>
          <a:off x="-6095206" y="-932846"/>
          <a:ext cx="7257822" cy="7257822"/>
        </a:xfrm>
        <a:prstGeom prst="blockArc">
          <a:avLst>
            <a:gd name="adj1" fmla="val 18900000"/>
            <a:gd name="adj2" fmla="val 2700000"/>
            <a:gd name="adj3" fmla="val 298"/>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67FAB15-F78C-4606-9590-12DDD35236F3}">
      <dsp:nvSpPr>
        <dsp:cNvPr id="0" name=""/>
        <dsp:cNvSpPr/>
      </dsp:nvSpPr>
      <dsp:spPr>
        <a:xfrm>
          <a:off x="743248" y="527824"/>
          <a:ext cx="5339397" cy="1078426"/>
        </a:xfrm>
        <a:prstGeom prst="rect">
          <a:avLst/>
        </a:prstGeom>
        <a:solidFill>
          <a:srgbClr val="00768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6001" tIns="30480" rIns="30480" bIns="30480" numCol="1" spcCol="1270" anchor="ctr" anchorCtr="0">
          <a:noAutofit/>
        </a:bodyPr>
        <a:lstStyle/>
        <a:p>
          <a:pPr marL="0" lvl="0" indent="0" algn="l" defTabSz="533400">
            <a:lnSpc>
              <a:spcPct val="90000"/>
            </a:lnSpc>
            <a:spcBef>
              <a:spcPct val="0"/>
            </a:spcBef>
            <a:spcAft>
              <a:spcPct val="35000"/>
            </a:spcAft>
            <a:buNone/>
          </a:pPr>
          <a:r>
            <a:rPr lang="en-US" sz="1200" b="1" kern="1200" dirty="0"/>
            <a:t>AMI is not a single technology implementation, </a:t>
          </a:r>
          <a:r>
            <a:rPr lang="en-US" sz="1200" kern="1200" dirty="0"/>
            <a:t>but</a:t>
          </a:r>
          <a:r>
            <a:rPr lang="en-US" sz="1200" b="1" kern="1200" dirty="0"/>
            <a:t> </a:t>
          </a:r>
          <a:r>
            <a:rPr lang="en-US" sz="1200" kern="1200" dirty="0"/>
            <a:t>an integrated system of </a:t>
          </a:r>
          <a:r>
            <a:rPr lang="en-US" sz="1200" b="1" kern="1200" dirty="0"/>
            <a:t>smart meters</a:t>
          </a:r>
          <a:r>
            <a:rPr lang="en-US" sz="1200" kern="1200" dirty="0"/>
            <a:t>, </a:t>
          </a:r>
          <a:r>
            <a:rPr lang="en-US" sz="1200" b="1" kern="1200" dirty="0"/>
            <a:t>communications networks, and data management systems</a:t>
          </a:r>
          <a:r>
            <a:rPr lang="en-US" sz="1200" kern="1200" dirty="0"/>
            <a:t> that enables two-way communication between utilities and customers</a:t>
          </a:r>
          <a:endParaRPr lang="en-US" sz="1200" i="1" kern="1200" dirty="0"/>
        </a:p>
      </dsp:txBody>
      <dsp:txXfrm>
        <a:off x="743248" y="527824"/>
        <a:ext cx="5339397" cy="1078426"/>
      </dsp:txXfrm>
    </dsp:sp>
    <dsp:sp modelId="{972658EB-AF78-41F0-8B4A-2B233A24E225}">
      <dsp:nvSpPr>
        <dsp:cNvPr id="0" name=""/>
        <dsp:cNvSpPr/>
      </dsp:nvSpPr>
      <dsp:spPr>
        <a:xfrm>
          <a:off x="74411" y="404409"/>
          <a:ext cx="1348032" cy="1348032"/>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1BD471A-0BAA-4BCB-ABA8-C15213C14F6B}">
      <dsp:nvSpPr>
        <dsp:cNvPr id="0" name=""/>
        <dsp:cNvSpPr/>
      </dsp:nvSpPr>
      <dsp:spPr>
        <a:xfrm>
          <a:off x="1140435" y="2156852"/>
          <a:ext cx="4947390" cy="1078426"/>
        </a:xfrm>
        <a:prstGeom prst="rect">
          <a:avLst/>
        </a:prstGeom>
        <a:solidFill>
          <a:srgbClr val="009A4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6001" tIns="30480" rIns="30480" bIns="30480" numCol="1" spcCol="1270" anchor="ctr" anchorCtr="0">
          <a:noAutofit/>
        </a:bodyPr>
        <a:lstStyle/>
        <a:p>
          <a:pPr marL="0" lvl="0" indent="0" algn="l" defTabSz="533400">
            <a:lnSpc>
              <a:spcPct val="90000"/>
            </a:lnSpc>
            <a:spcBef>
              <a:spcPct val="0"/>
            </a:spcBef>
            <a:spcAft>
              <a:spcPct val="35000"/>
            </a:spcAft>
            <a:buNone/>
          </a:pPr>
          <a:r>
            <a:rPr lang="en-US" sz="1200" b="1" kern="1200" dirty="0"/>
            <a:t>Billing is no longer the only function of smart meters</a:t>
          </a:r>
          <a:r>
            <a:rPr lang="en-US" sz="1200" kern="1200" dirty="0"/>
            <a:t>. High-resolution data from smart meters provide rich information on the electricity consumption behaviors and lifestyles of the consumers. </a:t>
          </a:r>
          <a:endParaRPr lang="en-US" sz="1200" b="0" i="1" kern="1200" dirty="0"/>
        </a:p>
      </dsp:txBody>
      <dsp:txXfrm>
        <a:off x="1140435" y="2156852"/>
        <a:ext cx="4947390" cy="1078426"/>
      </dsp:txXfrm>
    </dsp:sp>
    <dsp:sp modelId="{33783576-4C33-45C4-A532-F52280F7689B}">
      <dsp:nvSpPr>
        <dsp:cNvPr id="0" name=""/>
        <dsp:cNvSpPr/>
      </dsp:nvSpPr>
      <dsp:spPr>
        <a:xfrm>
          <a:off x="466419" y="2022048"/>
          <a:ext cx="1348032" cy="1348032"/>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302959F-F935-4534-86F7-EC6F7B0FA5BA}">
      <dsp:nvSpPr>
        <dsp:cNvPr id="0" name=""/>
        <dsp:cNvSpPr/>
      </dsp:nvSpPr>
      <dsp:spPr>
        <a:xfrm>
          <a:off x="748427" y="3774491"/>
          <a:ext cx="5339397" cy="1078426"/>
        </a:xfrm>
        <a:prstGeom prst="rect">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6001" tIns="30480" rIns="30480" bIns="30480" numCol="1" spcCol="1270" anchor="ctr" anchorCtr="0">
          <a:noAutofit/>
        </a:bodyPr>
        <a:lstStyle/>
        <a:p>
          <a:pPr marL="0" lvl="0" indent="0" algn="l" defTabSz="533400">
            <a:lnSpc>
              <a:spcPct val="90000"/>
            </a:lnSpc>
            <a:spcBef>
              <a:spcPct val="0"/>
            </a:spcBef>
            <a:spcAft>
              <a:spcPct val="35000"/>
            </a:spcAft>
            <a:buNone/>
          </a:pPr>
          <a:r>
            <a:rPr lang="en-US" sz="1200" kern="1200" dirty="0"/>
            <a:t>The </a:t>
          </a:r>
          <a:r>
            <a:rPr lang="en-US" sz="1200" b="1" kern="1200" dirty="0"/>
            <a:t>system can provide important functions</a:t>
          </a:r>
          <a:r>
            <a:rPr lang="en-US" sz="1200" kern="1200" dirty="0"/>
            <a:t> that were earlier not possible or had to be done manually, like, the ability to remotely/automatically measure electricity use, connect and disconnect service, detect tampering, identify and isolate outages, monitor voltage.</a:t>
          </a:r>
          <a:endParaRPr lang="en-US" sz="1200" b="0" i="1" kern="1200" dirty="0"/>
        </a:p>
      </dsp:txBody>
      <dsp:txXfrm>
        <a:off x="748427" y="3774491"/>
        <a:ext cx="5339397" cy="1078426"/>
      </dsp:txXfrm>
    </dsp:sp>
    <dsp:sp modelId="{F7BA802F-7B7D-48A8-8F3B-7A78BDE69FA2}">
      <dsp:nvSpPr>
        <dsp:cNvPr id="0" name=""/>
        <dsp:cNvSpPr/>
      </dsp:nvSpPr>
      <dsp:spPr>
        <a:xfrm>
          <a:off x="74411" y="3639687"/>
          <a:ext cx="1348032" cy="1348032"/>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AB3D97-AF0D-4C05-9E2A-0F004C58CCF3}">
      <dsp:nvSpPr>
        <dsp:cNvPr id="0" name=""/>
        <dsp:cNvSpPr/>
      </dsp:nvSpPr>
      <dsp:spPr>
        <a:xfrm>
          <a:off x="3542662" y="894152"/>
          <a:ext cx="2163477" cy="382445"/>
        </a:xfrm>
        <a:custGeom>
          <a:avLst/>
          <a:gdLst/>
          <a:ahLst/>
          <a:cxnLst/>
          <a:rect l="0" t="0" r="0" b="0"/>
          <a:pathLst>
            <a:path>
              <a:moveTo>
                <a:pt x="0" y="0"/>
              </a:moveTo>
              <a:lnTo>
                <a:pt x="0" y="194912"/>
              </a:lnTo>
              <a:lnTo>
                <a:pt x="2163477" y="194912"/>
              </a:lnTo>
              <a:lnTo>
                <a:pt x="2163477" y="38244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AB8F81B-4564-4A1D-A5C4-01E3F55D9463}">
      <dsp:nvSpPr>
        <dsp:cNvPr id="0" name=""/>
        <dsp:cNvSpPr/>
      </dsp:nvSpPr>
      <dsp:spPr>
        <a:xfrm>
          <a:off x="3496942" y="894152"/>
          <a:ext cx="91440" cy="375067"/>
        </a:xfrm>
        <a:custGeom>
          <a:avLst/>
          <a:gdLst/>
          <a:ahLst/>
          <a:cxnLst/>
          <a:rect l="0" t="0" r="0" b="0"/>
          <a:pathLst>
            <a:path>
              <a:moveTo>
                <a:pt x="45720" y="0"/>
              </a:moveTo>
              <a:lnTo>
                <a:pt x="45720" y="37506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7F74CED-EE8B-444B-B745-42FFA4F751FE}">
      <dsp:nvSpPr>
        <dsp:cNvPr id="0" name=""/>
        <dsp:cNvSpPr/>
      </dsp:nvSpPr>
      <dsp:spPr>
        <a:xfrm>
          <a:off x="1381560" y="894152"/>
          <a:ext cx="2161101" cy="375067"/>
        </a:xfrm>
        <a:custGeom>
          <a:avLst/>
          <a:gdLst/>
          <a:ahLst/>
          <a:cxnLst/>
          <a:rect l="0" t="0" r="0" b="0"/>
          <a:pathLst>
            <a:path>
              <a:moveTo>
                <a:pt x="2161101" y="0"/>
              </a:moveTo>
              <a:lnTo>
                <a:pt x="2161101" y="187533"/>
              </a:lnTo>
              <a:lnTo>
                <a:pt x="0" y="187533"/>
              </a:lnTo>
              <a:lnTo>
                <a:pt x="0" y="37506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7166657-9B03-4233-B10C-12DBB27366FC}">
      <dsp:nvSpPr>
        <dsp:cNvPr id="0" name=""/>
        <dsp:cNvSpPr/>
      </dsp:nvSpPr>
      <dsp:spPr>
        <a:xfrm>
          <a:off x="3096153" y="1135"/>
          <a:ext cx="893017" cy="893017"/>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31E0E7D-91A0-40BA-8919-06C557A6597B}">
      <dsp:nvSpPr>
        <dsp:cNvPr id="0" name=""/>
        <dsp:cNvSpPr/>
      </dsp:nvSpPr>
      <dsp:spPr>
        <a:xfrm>
          <a:off x="3096153" y="1135"/>
          <a:ext cx="893017" cy="893017"/>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88C013-88DE-4D61-8EB3-0232D92BA313}">
      <dsp:nvSpPr>
        <dsp:cNvPr id="0" name=""/>
        <dsp:cNvSpPr/>
      </dsp:nvSpPr>
      <dsp:spPr>
        <a:xfrm>
          <a:off x="2649645" y="161878"/>
          <a:ext cx="1786034" cy="571531"/>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Smart Meter Data Analytics</a:t>
          </a:r>
        </a:p>
      </dsp:txBody>
      <dsp:txXfrm>
        <a:off x="2649645" y="161878"/>
        <a:ext cx="1786034" cy="571531"/>
      </dsp:txXfrm>
    </dsp:sp>
    <dsp:sp modelId="{00696834-D8BD-47E4-BD68-6E081CACBD79}">
      <dsp:nvSpPr>
        <dsp:cNvPr id="0" name=""/>
        <dsp:cNvSpPr/>
      </dsp:nvSpPr>
      <dsp:spPr>
        <a:xfrm>
          <a:off x="935051" y="1269220"/>
          <a:ext cx="893017" cy="893017"/>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82A211-AB41-4ACC-98EB-B4E027B94F54}">
      <dsp:nvSpPr>
        <dsp:cNvPr id="0" name=""/>
        <dsp:cNvSpPr/>
      </dsp:nvSpPr>
      <dsp:spPr>
        <a:xfrm>
          <a:off x="935051" y="1269220"/>
          <a:ext cx="893017" cy="893017"/>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864825-48D4-4498-A640-6ED266BC8D16}">
      <dsp:nvSpPr>
        <dsp:cNvPr id="0" name=""/>
        <dsp:cNvSpPr/>
      </dsp:nvSpPr>
      <dsp:spPr>
        <a:xfrm>
          <a:off x="488543" y="1429963"/>
          <a:ext cx="1786034" cy="571531"/>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A. Load Analytics</a:t>
          </a:r>
        </a:p>
      </dsp:txBody>
      <dsp:txXfrm>
        <a:off x="488543" y="1429963"/>
        <a:ext cx="1786034" cy="571531"/>
      </dsp:txXfrm>
    </dsp:sp>
    <dsp:sp modelId="{CF718EE6-4516-418E-AA04-46F6C11735A4}">
      <dsp:nvSpPr>
        <dsp:cNvPr id="0" name=""/>
        <dsp:cNvSpPr/>
      </dsp:nvSpPr>
      <dsp:spPr>
        <a:xfrm>
          <a:off x="3096153" y="1269220"/>
          <a:ext cx="893017" cy="893017"/>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0CDCA57-3F34-456C-9F72-70465CEDF476}">
      <dsp:nvSpPr>
        <dsp:cNvPr id="0" name=""/>
        <dsp:cNvSpPr/>
      </dsp:nvSpPr>
      <dsp:spPr>
        <a:xfrm>
          <a:off x="3096153" y="1269220"/>
          <a:ext cx="893017" cy="893017"/>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562336-79E8-4FCC-8327-095C1561E490}">
      <dsp:nvSpPr>
        <dsp:cNvPr id="0" name=""/>
        <dsp:cNvSpPr/>
      </dsp:nvSpPr>
      <dsp:spPr>
        <a:xfrm>
          <a:off x="2649645" y="1429963"/>
          <a:ext cx="1786034" cy="571531"/>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B. Load Forecasting</a:t>
          </a:r>
        </a:p>
      </dsp:txBody>
      <dsp:txXfrm>
        <a:off x="2649645" y="1429963"/>
        <a:ext cx="1786034" cy="571531"/>
      </dsp:txXfrm>
    </dsp:sp>
    <dsp:sp modelId="{A5763F9D-F364-4AF5-972E-419853B382EE}">
      <dsp:nvSpPr>
        <dsp:cNvPr id="0" name=""/>
        <dsp:cNvSpPr/>
      </dsp:nvSpPr>
      <dsp:spPr>
        <a:xfrm>
          <a:off x="5259631" y="1276598"/>
          <a:ext cx="893017" cy="893017"/>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66E23D-1035-4CB4-B8FE-5DDE35E6A853}">
      <dsp:nvSpPr>
        <dsp:cNvPr id="0" name=""/>
        <dsp:cNvSpPr/>
      </dsp:nvSpPr>
      <dsp:spPr>
        <a:xfrm>
          <a:off x="5259631" y="1276598"/>
          <a:ext cx="893017" cy="893017"/>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5C27ABE-F8A4-4620-A914-8A47855CB029}">
      <dsp:nvSpPr>
        <dsp:cNvPr id="0" name=""/>
        <dsp:cNvSpPr/>
      </dsp:nvSpPr>
      <dsp:spPr>
        <a:xfrm>
          <a:off x="4813122" y="1437341"/>
          <a:ext cx="1786034" cy="571531"/>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C. Load Management</a:t>
          </a:r>
        </a:p>
      </dsp:txBody>
      <dsp:txXfrm>
        <a:off x="4813122" y="1437341"/>
        <a:ext cx="1786034" cy="571531"/>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A92020-651E-4CD8-9D5A-845BDC2B0A4F}">
      <dsp:nvSpPr>
        <dsp:cNvPr id="0" name=""/>
        <dsp:cNvSpPr/>
      </dsp:nvSpPr>
      <dsp:spPr>
        <a:xfrm>
          <a:off x="0" y="0"/>
          <a:ext cx="7697121" cy="916987"/>
        </a:xfrm>
        <a:prstGeom prst="roundRect">
          <a:avLst/>
        </a:prstGeom>
        <a:solidFill>
          <a:schemeClr val="lt1"/>
        </a:solidFill>
        <a:ln w="25400" cap="flat" cmpd="sng" algn="ctr">
          <a:solidFill>
            <a:schemeClr val="accent3"/>
          </a:solidFill>
          <a:prstDash val="solid"/>
        </a:ln>
        <a:effectLst/>
      </dsp:spPr>
      <dsp:style>
        <a:lnRef idx="2">
          <a:schemeClr val="accent3"/>
        </a:lnRef>
        <a:fillRef idx="1">
          <a:schemeClr val="lt1"/>
        </a:fillRef>
        <a:effectRef idx="0">
          <a:schemeClr val="accent3"/>
        </a:effectRef>
        <a:fontRef idx="minor">
          <a:schemeClr val="dk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Font typeface="Wingdings" panose="05000000000000000000" pitchFamily="2" charset="2"/>
            <a:buNone/>
          </a:pPr>
          <a:r>
            <a:rPr lang="en-US" sz="1300" kern="1200" dirty="0">
              <a:solidFill>
                <a:schemeClr val="tx1"/>
              </a:solidFill>
            </a:rPr>
            <a:t>AMI will enable WBSEDCL </a:t>
          </a:r>
          <a:r>
            <a:rPr lang="en-US" sz="1300" b="1" kern="1200" dirty="0">
              <a:solidFill>
                <a:schemeClr val="tx1"/>
              </a:solidFill>
            </a:rPr>
            <a:t>to identify and isolate outages faster </a:t>
          </a:r>
          <a:r>
            <a:rPr lang="en-US" sz="1300" kern="1200" dirty="0">
              <a:solidFill>
                <a:schemeClr val="tx1"/>
              </a:solidFill>
            </a:rPr>
            <a:t>and </a:t>
          </a:r>
          <a:r>
            <a:rPr lang="en-US" sz="1300" b="1" kern="1200" dirty="0">
              <a:solidFill>
                <a:schemeClr val="tx1"/>
              </a:solidFill>
            </a:rPr>
            <a:t>dispatch repair crews more precisely,</a:t>
          </a:r>
          <a:r>
            <a:rPr lang="en-US" sz="1300" kern="1200" dirty="0">
              <a:solidFill>
                <a:schemeClr val="tx1"/>
              </a:solidFill>
            </a:rPr>
            <a:t> reducing outage duration, limiting inconvenience</a:t>
          </a:r>
        </a:p>
      </dsp:txBody>
      <dsp:txXfrm>
        <a:off x="44764" y="44764"/>
        <a:ext cx="7607593" cy="827459"/>
      </dsp:txXfrm>
    </dsp:sp>
    <dsp:sp modelId="{974EEC80-CBA2-4521-A469-6E9EFE696357}">
      <dsp:nvSpPr>
        <dsp:cNvPr id="0" name=""/>
        <dsp:cNvSpPr/>
      </dsp:nvSpPr>
      <dsp:spPr>
        <a:xfrm>
          <a:off x="0" y="922701"/>
          <a:ext cx="7697121" cy="916987"/>
        </a:xfrm>
        <a:prstGeom prst="roundRect">
          <a:avLst/>
        </a:prstGeom>
        <a:solidFill>
          <a:srgbClr val="00768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Font typeface="Symbol" panose="05050102010706020507" pitchFamily="18" charset="2"/>
            <a:buNone/>
          </a:pPr>
          <a:r>
            <a:rPr lang="en-US" sz="1300" kern="1200" dirty="0"/>
            <a:t>Utilities facing regular, severe weather events and storm-induced outages </a:t>
          </a:r>
          <a:r>
            <a:rPr lang="en-US" sz="1300" b="1" kern="1200" dirty="0"/>
            <a:t>have greater incentives for using AMI</a:t>
          </a:r>
          <a:r>
            <a:rPr lang="en-US" sz="1300" kern="1200" dirty="0"/>
            <a:t> for outage management than those that do not</a:t>
          </a:r>
        </a:p>
      </dsp:txBody>
      <dsp:txXfrm>
        <a:off x="44764" y="967465"/>
        <a:ext cx="7607593" cy="827459"/>
      </dsp:txXfrm>
    </dsp:sp>
    <dsp:sp modelId="{B7C99BF8-BFD2-4D6C-87D1-CBA8EBACC3CA}">
      <dsp:nvSpPr>
        <dsp:cNvPr id="0" name=""/>
        <dsp:cNvSpPr/>
      </dsp:nvSpPr>
      <dsp:spPr>
        <a:xfrm>
          <a:off x="0" y="1958134"/>
          <a:ext cx="7697121" cy="916987"/>
        </a:xfrm>
        <a:prstGeom prst="roundRect">
          <a:avLst/>
        </a:prstGeom>
        <a:solidFill>
          <a:schemeClr val="lt1"/>
        </a:solidFill>
        <a:ln w="25400" cap="flat" cmpd="sng" algn="ctr">
          <a:solidFill>
            <a:schemeClr val="accent3"/>
          </a:solidFill>
          <a:prstDash val="solid"/>
        </a:ln>
        <a:effectLst/>
      </dsp:spPr>
      <dsp:style>
        <a:lnRef idx="2">
          <a:schemeClr val="accent3"/>
        </a:lnRef>
        <a:fillRef idx="1">
          <a:schemeClr val="lt1"/>
        </a:fillRef>
        <a:effectRef idx="0">
          <a:schemeClr val="accent3"/>
        </a:effectRef>
        <a:fontRef idx="minor">
          <a:schemeClr val="dk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Font typeface="Symbol" panose="05050102010706020507" pitchFamily="18" charset="2"/>
            <a:buNone/>
          </a:pPr>
          <a:r>
            <a:rPr lang="en-US" sz="1300" kern="1200" dirty="0">
              <a:solidFill>
                <a:schemeClr val="tx1"/>
              </a:solidFill>
            </a:rPr>
            <a:t>AMI would also </a:t>
          </a:r>
          <a:r>
            <a:rPr lang="en-US" sz="1300" b="1" kern="1200" dirty="0">
              <a:solidFill>
                <a:schemeClr val="tx1"/>
              </a:solidFill>
            </a:rPr>
            <a:t>enable WBSEDCL to proactively identify and notify customers of unusual usage patterns </a:t>
          </a:r>
          <a:r>
            <a:rPr lang="en-US" sz="1300" kern="1200" dirty="0">
              <a:solidFill>
                <a:schemeClr val="tx1"/>
              </a:solidFill>
            </a:rPr>
            <a:t>in advance of bills. </a:t>
          </a:r>
        </a:p>
      </dsp:txBody>
      <dsp:txXfrm>
        <a:off x="44764" y="2002898"/>
        <a:ext cx="7607593" cy="827459"/>
      </dsp:txXfrm>
    </dsp:sp>
    <dsp:sp modelId="{F621D2AD-6B8F-41E3-9264-7E469208DC79}">
      <dsp:nvSpPr>
        <dsp:cNvPr id="0" name=""/>
        <dsp:cNvSpPr/>
      </dsp:nvSpPr>
      <dsp:spPr>
        <a:xfrm>
          <a:off x="0" y="2932722"/>
          <a:ext cx="7697121" cy="916987"/>
        </a:xfrm>
        <a:prstGeom prst="roundRect">
          <a:avLst/>
        </a:prstGeom>
        <a:solidFill>
          <a:srgbClr val="00768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Font typeface="Symbol" panose="05050102010706020507" pitchFamily="18" charset="2"/>
            <a:buNone/>
          </a:pPr>
          <a:r>
            <a:rPr lang="en-US" sz="1300" kern="1200" dirty="0"/>
            <a:t>AMI data integration with other information and management systems, including outage management systems (OMS) and geographic information systems (GIS), </a:t>
          </a:r>
          <a:r>
            <a:rPr lang="en-US" sz="1300" b="1" kern="1200" dirty="0"/>
            <a:t>enabled utilities to create detailed outage maps</a:t>
          </a:r>
          <a:r>
            <a:rPr lang="en-US" sz="1300" kern="1200" dirty="0"/>
            <a:t>, and in some cases posted these maps on utility websites to keep the public informed on service restoration progress</a:t>
          </a:r>
        </a:p>
      </dsp:txBody>
      <dsp:txXfrm>
        <a:off x="44764" y="2977486"/>
        <a:ext cx="7607593" cy="827459"/>
      </dsp:txXfrm>
    </dsp:sp>
    <dsp:sp modelId="{701992BA-24E8-41EB-8A45-4C1CC9894924}">
      <dsp:nvSpPr>
        <dsp:cNvPr id="0" name=""/>
        <dsp:cNvSpPr/>
      </dsp:nvSpPr>
      <dsp:spPr>
        <a:xfrm>
          <a:off x="0" y="3907309"/>
          <a:ext cx="7697121" cy="916987"/>
        </a:xfrm>
        <a:prstGeom prst="roundRect">
          <a:avLst/>
        </a:prstGeom>
        <a:solidFill>
          <a:schemeClr val="lt1"/>
        </a:solidFill>
        <a:ln w="25400" cap="flat" cmpd="sng" algn="ctr">
          <a:solidFill>
            <a:schemeClr val="accent3"/>
          </a:solidFill>
          <a:prstDash val="solid"/>
        </a:ln>
        <a:effectLst/>
      </dsp:spPr>
      <dsp:style>
        <a:lnRef idx="2">
          <a:schemeClr val="accent3"/>
        </a:lnRef>
        <a:fillRef idx="1">
          <a:schemeClr val="lt1"/>
        </a:fillRef>
        <a:effectRef idx="0">
          <a:schemeClr val="accent3"/>
        </a:effectRef>
        <a:fontRef idx="minor">
          <a:schemeClr val="dk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dirty="0">
              <a:solidFill>
                <a:schemeClr val="tx1"/>
              </a:solidFill>
            </a:rPr>
            <a:t>Utilities can use </a:t>
          </a:r>
          <a:r>
            <a:rPr lang="en-US" sz="1300" b="1" kern="1200" dirty="0">
              <a:solidFill>
                <a:schemeClr val="tx1"/>
              </a:solidFill>
            </a:rPr>
            <a:t>AMI voltage monitoring capabilities to enhance the effectiveness of automated controls</a:t>
          </a:r>
          <a:r>
            <a:rPr lang="en-US" sz="1300" kern="1200" dirty="0">
              <a:solidFill>
                <a:schemeClr val="tx1"/>
              </a:solidFill>
            </a:rPr>
            <a:t> for voltage and reactive power management</a:t>
          </a:r>
        </a:p>
      </dsp:txBody>
      <dsp:txXfrm>
        <a:off x="44764" y="3952073"/>
        <a:ext cx="7607593" cy="827459"/>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DEEDB2-30C0-470F-AD34-2DF242BD0489}">
      <dsp:nvSpPr>
        <dsp:cNvPr id="0" name=""/>
        <dsp:cNvSpPr/>
      </dsp:nvSpPr>
      <dsp:spPr>
        <a:xfrm>
          <a:off x="9385758" y="1305033"/>
          <a:ext cx="2808950" cy="280909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86BDF6-8266-46D5-80C5-FAB1212B8B13}">
      <dsp:nvSpPr>
        <dsp:cNvPr id="0" name=""/>
        <dsp:cNvSpPr/>
      </dsp:nvSpPr>
      <dsp:spPr>
        <a:xfrm>
          <a:off x="9479710" y="1398685"/>
          <a:ext cx="2622248" cy="2621788"/>
        </a:xfrm>
        <a:prstGeom prst="ellipse">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just" defTabSz="577850">
            <a:lnSpc>
              <a:spcPct val="90000"/>
            </a:lnSpc>
            <a:spcBef>
              <a:spcPct val="0"/>
            </a:spcBef>
            <a:spcAft>
              <a:spcPct val="35000"/>
            </a:spcAft>
            <a:buNone/>
          </a:pPr>
          <a:r>
            <a:rPr lang="en-US" sz="1300" kern="1200" dirty="0"/>
            <a:t>Care must however be taken to reduce the Energy Charge Rate simultaneously to the point that the overall tariff for LV consumers with Average monthly consumption does not increase significantly</a:t>
          </a:r>
        </a:p>
      </dsp:txBody>
      <dsp:txXfrm>
        <a:off x="9854317" y="1773297"/>
        <a:ext cx="1873034" cy="1872564"/>
      </dsp:txXfrm>
    </dsp:sp>
    <dsp:sp modelId="{714BEE28-6B14-49E5-BBB0-1C9D6B834AAF}">
      <dsp:nvSpPr>
        <dsp:cNvPr id="0" name=""/>
        <dsp:cNvSpPr/>
      </dsp:nvSpPr>
      <dsp:spPr>
        <a:xfrm rot="2700000">
          <a:off x="6470786" y="1304835"/>
          <a:ext cx="2808996" cy="2808996"/>
        </a:xfrm>
        <a:prstGeom prst="teardrop">
          <a:avLst>
            <a:gd name="adj" fmla="val 100000"/>
          </a:avLst>
        </a:prstGeom>
        <a:solidFill>
          <a:schemeClr val="tx1">
            <a:lumMod val="75000"/>
            <a:lumOff val="2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1F7FE53-01E4-4F5B-A45E-EDCB61D97827}">
      <dsp:nvSpPr>
        <dsp:cNvPr id="0" name=""/>
        <dsp:cNvSpPr/>
      </dsp:nvSpPr>
      <dsp:spPr>
        <a:xfrm>
          <a:off x="6576807" y="1398685"/>
          <a:ext cx="2622248" cy="2621788"/>
        </a:xfrm>
        <a:prstGeom prst="ellipse">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l" defTabSz="577850">
            <a:lnSpc>
              <a:spcPct val="90000"/>
            </a:lnSpc>
            <a:spcBef>
              <a:spcPct val="0"/>
            </a:spcBef>
            <a:spcAft>
              <a:spcPct val="35000"/>
            </a:spcAft>
            <a:buNone/>
          </a:pPr>
          <a:r>
            <a:rPr lang="en-US" sz="1300" kern="1200" dirty="0"/>
            <a:t>Fixed Charge per month need to be increased to a level at par with certain other states- Revenue recovery from Idle valid consumers of WBSEDCL would substantially increase</a:t>
          </a:r>
        </a:p>
      </dsp:txBody>
      <dsp:txXfrm>
        <a:off x="6951414" y="1773297"/>
        <a:ext cx="1873034" cy="1872564"/>
      </dsp:txXfrm>
    </dsp:sp>
    <dsp:sp modelId="{1BF33C12-C1DE-44CF-84A9-359303C6D37C}">
      <dsp:nvSpPr>
        <dsp:cNvPr id="0" name=""/>
        <dsp:cNvSpPr/>
      </dsp:nvSpPr>
      <dsp:spPr>
        <a:xfrm rot="2700000">
          <a:off x="3579929" y="1304835"/>
          <a:ext cx="2808996" cy="2808996"/>
        </a:xfrm>
        <a:prstGeom prst="teardrop">
          <a:avLst>
            <a:gd name="adj" fmla="val 1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52880F6-5649-4691-84F1-71D5AD3D062C}">
      <dsp:nvSpPr>
        <dsp:cNvPr id="0" name=""/>
        <dsp:cNvSpPr/>
      </dsp:nvSpPr>
      <dsp:spPr>
        <a:xfrm>
          <a:off x="3673904" y="1398685"/>
          <a:ext cx="2622248" cy="2621788"/>
        </a:xfrm>
        <a:prstGeom prst="ellipse">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l" defTabSz="622300">
            <a:lnSpc>
              <a:spcPct val="90000"/>
            </a:lnSpc>
            <a:spcBef>
              <a:spcPct val="0"/>
            </a:spcBef>
            <a:spcAft>
              <a:spcPct val="35000"/>
            </a:spcAft>
            <a:buNone/>
          </a:pPr>
          <a:r>
            <a:rPr lang="en-US" sz="1400" kern="1200" dirty="0"/>
            <a:t>For consumers with Nil monthly energy consumption- </a:t>
          </a:r>
        </a:p>
        <a:p>
          <a:pPr marL="0" lvl="0" indent="0" algn="l" defTabSz="622300">
            <a:lnSpc>
              <a:spcPct val="90000"/>
            </a:lnSpc>
            <a:spcBef>
              <a:spcPct val="0"/>
            </a:spcBef>
            <a:spcAft>
              <a:spcPct val="35000"/>
            </a:spcAft>
            <a:buNone/>
          </a:pPr>
          <a:r>
            <a:rPr lang="en-US" sz="1400" kern="1200" dirty="0"/>
            <a:t>No Energy charge recovery for WBSEDCL, low FC recovery</a:t>
          </a:r>
        </a:p>
      </dsp:txBody>
      <dsp:txXfrm>
        <a:off x="4048511" y="1773297"/>
        <a:ext cx="1873034" cy="1872564"/>
      </dsp:txXfrm>
    </dsp:sp>
    <dsp:sp modelId="{F46E0055-CA2D-46EF-AA8F-6470804F6917}">
      <dsp:nvSpPr>
        <dsp:cNvPr id="0" name=""/>
        <dsp:cNvSpPr/>
      </dsp:nvSpPr>
      <dsp:spPr>
        <a:xfrm rot="2700000">
          <a:off x="677025" y="1304835"/>
          <a:ext cx="2808996" cy="2808996"/>
        </a:xfrm>
        <a:prstGeom prst="teardrop">
          <a:avLst>
            <a:gd name="adj" fmla="val 100000"/>
          </a:avLst>
        </a:prstGeom>
        <a:solidFill>
          <a:schemeClr val="tx1">
            <a:lumMod val="75000"/>
            <a:lumOff val="2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F3C7F0-CD1E-4572-B0AF-9488CED1181B}">
      <dsp:nvSpPr>
        <dsp:cNvPr id="0" name=""/>
        <dsp:cNvSpPr/>
      </dsp:nvSpPr>
      <dsp:spPr>
        <a:xfrm>
          <a:off x="771001" y="1398685"/>
          <a:ext cx="2622248" cy="2621788"/>
        </a:xfrm>
        <a:prstGeom prst="ellipse">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just" defTabSz="577850">
            <a:lnSpc>
              <a:spcPct val="90000"/>
            </a:lnSpc>
            <a:spcBef>
              <a:spcPct val="0"/>
            </a:spcBef>
            <a:spcAft>
              <a:spcPct val="35000"/>
            </a:spcAft>
            <a:buNone/>
          </a:pPr>
          <a:r>
            <a:rPr lang="en-US" sz="1300" kern="1200" dirty="0"/>
            <a:t>For LV consumers in West Bengal, Fixed Charge is Rs. 15/kVA /month - considerably low in comparison to other states</a:t>
          </a:r>
        </a:p>
      </dsp:txBody>
      <dsp:txXfrm>
        <a:off x="1145608" y="1773297"/>
        <a:ext cx="1873034" cy="1872564"/>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444053-CB23-4F6D-9444-29CDEC355407}">
      <dsp:nvSpPr>
        <dsp:cNvPr id="0" name=""/>
        <dsp:cNvSpPr/>
      </dsp:nvSpPr>
      <dsp:spPr>
        <a:xfrm>
          <a:off x="-3309016" y="-509005"/>
          <a:ext cx="3945950" cy="3945950"/>
        </a:xfrm>
        <a:prstGeom prst="blockArc">
          <a:avLst>
            <a:gd name="adj1" fmla="val 18900000"/>
            <a:gd name="adj2" fmla="val 2700000"/>
            <a:gd name="adj3" fmla="val 547"/>
          </a:avLst>
        </a:pr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CB6B862-D267-4F84-B323-20423B352986}">
      <dsp:nvSpPr>
        <dsp:cNvPr id="0" name=""/>
        <dsp:cNvSpPr/>
      </dsp:nvSpPr>
      <dsp:spPr>
        <a:xfrm>
          <a:off x="234178" y="182937"/>
          <a:ext cx="11122799" cy="36610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0599" tIns="30480" rIns="30480" bIns="30480" numCol="1" spcCol="1270" anchor="ctr" anchorCtr="0">
          <a:noAutofit/>
        </a:bodyPr>
        <a:lstStyle/>
        <a:p>
          <a:pPr marL="0" lvl="0" indent="0" algn="just" defTabSz="533400">
            <a:lnSpc>
              <a:spcPct val="90000"/>
            </a:lnSpc>
            <a:spcBef>
              <a:spcPct val="0"/>
            </a:spcBef>
            <a:spcAft>
              <a:spcPct val="35000"/>
            </a:spcAft>
            <a:buNone/>
          </a:pPr>
          <a:r>
            <a:rPr lang="en-US" sz="1200" kern="1200" dirty="0">
              <a:solidFill>
                <a:schemeClr val="bg1"/>
              </a:solidFill>
            </a:rPr>
            <a:t>Promotional TOD Tariff Design (Across State for all Industrial Consumers- New and Existing)</a:t>
          </a:r>
        </a:p>
      </dsp:txBody>
      <dsp:txXfrm>
        <a:off x="234178" y="182937"/>
        <a:ext cx="11122799" cy="366109"/>
      </dsp:txXfrm>
    </dsp:sp>
    <dsp:sp modelId="{349E29B7-C9E8-4746-85AA-144272BA81ED}">
      <dsp:nvSpPr>
        <dsp:cNvPr id="0" name=""/>
        <dsp:cNvSpPr/>
      </dsp:nvSpPr>
      <dsp:spPr>
        <a:xfrm>
          <a:off x="50740" y="137173"/>
          <a:ext cx="457636" cy="457636"/>
        </a:xfrm>
        <a:prstGeom prst="ellipse">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46D47DB-FF37-4CA6-A4DE-492AB6E22374}">
      <dsp:nvSpPr>
        <dsp:cNvPr id="0" name=""/>
        <dsp:cNvSpPr/>
      </dsp:nvSpPr>
      <dsp:spPr>
        <a:xfrm>
          <a:off x="511493" y="731926"/>
          <a:ext cx="10860455" cy="366109"/>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0599" tIns="30480" rIns="30480" bIns="30480" numCol="1" spcCol="1270" anchor="ctr" anchorCtr="0">
          <a:noAutofit/>
        </a:bodyPr>
        <a:lstStyle/>
        <a:p>
          <a:pPr marL="0" lvl="0" indent="0" algn="just" defTabSz="533400">
            <a:lnSpc>
              <a:spcPct val="90000"/>
            </a:lnSpc>
            <a:spcBef>
              <a:spcPct val="0"/>
            </a:spcBef>
            <a:spcAft>
              <a:spcPct val="35000"/>
            </a:spcAft>
            <a:buNone/>
          </a:pPr>
          <a:r>
            <a:rPr lang="en-US" sz="1200" kern="1200" dirty="0">
              <a:solidFill>
                <a:schemeClr val="bg1"/>
              </a:solidFill>
            </a:rPr>
            <a:t>Reduction in Peak Hours Rate by 10-50 Paisa per unit to motivate consumers to increase their consumption</a:t>
          </a:r>
        </a:p>
      </dsp:txBody>
      <dsp:txXfrm>
        <a:off x="511493" y="731926"/>
        <a:ext cx="10860455" cy="366109"/>
      </dsp:txXfrm>
    </dsp:sp>
    <dsp:sp modelId="{3A4C38DF-B95F-4627-957D-51539CD657D0}">
      <dsp:nvSpPr>
        <dsp:cNvPr id="0" name=""/>
        <dsp:cNvSpPr/>
      </dsp:nvSpPr>
      <dsp:spPr>
        <a:xfrm>
          <a:off x="313084" y="686162"/>
          <a:ext cx="457636" cy="457636"/>
        </a:xfrm>
        <a:prstGeom prst="ellipse">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ECA0399-C238-41AB-AA87-72BC59B7E3CE}">
      <dsp:nvSpPr>
        <dsp:cNvPr id="0" name=""/>
        <dsp:cNvSpPr/>
      </dsp:nvSpPr>
      <dsp:spPr>
        <a:xfrm>
          <a:off x="592021" y="1171162"/>
          <a:ext cx="10779937" cy="585614"/>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0599" tIns="30480" rIns="30480" bIns="30480" numCol="1" spcCol="1270" anchor="ctr" anchorCtr="0">
          <a:noAutofit/>
        </a:bodyPr>
        <a:lstStyle/>
        <a:p>
          <a:pPr marL="0" lvl="0" indent="0" algn="just" defTabSz="533400">
            <a:lnSpc>
              <a:spcPct val="90000"/>
            </a:lnSpc>
            <a:spcBef>
              <a:spcPct val="0"/>
            </a:spcBef>
            <a:spcAft>
              <a:spcPct val="35000"/>
            </a:spcAft>
            <a:buNone/>
          </a:pPr>
          <a:r>
            <a:rPr lang="en-US" sz="1200" kern="1200" dirty="0">
              <a:solidFill>
                <a:schemeClr val="bg1"/>
              </a:solidFill>
            </a:rPr>
            <a:t>Offer Differential lower than approved Ceiling Normal Tariff for a particular industry based on their power consumption pattern during normal hours of operation – which may further lead to increase the load factor utilization of that industry as well as additional revenue for WBSEDCL</a:t>
          </a:r>
        </a:p>
      </dsp:txBody>
      <dsp:txXfrm>
        <a:off x="592021" y="1171162"/>
        <a:ext cx="10779937" cy="585614"/>
      </dsp:txXfrm>
    </dsp:sp>
    <dsp:sp modelId="{667B66E6-84A4-4383-96F3-52F26ACE83F0}">
      <dsp:nvSpPr>
        <dsp:cNvPr id="0" name=""/>
        <dsp:cNvSpPr/>
      </dsp:nvSpPr>
      <dsp:spPr>
        <a:xfrm>
          <a:off x="393602" y="1235151"/>
          <a:ext cx="457636" cy="457636"/>
        </a:xfrm>
        <a:prstGeom prst="ellipse">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267D053-B39A-44FB-B777-9CBC6F67D23C}">
      <dsp:nvSpPr>
        <dsp:cNvPr id="0" name=""/>
        <dsp:cNvSpPr/>
      </dsp:nvSpPr>
      <dsp:spPr>
        <a:xfrm>
          <a:off x="526698" y="1765614"/>
          <a:ext cx="10860455" cy="494687"/>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0599" tIns="30480" rIns="30480" bIns="30480" numCol="1" spcCol="1270" anchor="ctr" anchorCtr="0">
          <a:noAutofit/>
        </a:bodyPr>
        <a:lstStyle/>
        <a:p>
          <a:pPr marL="0" lvl="0" indent="0" algn="just" defTabSz="533400">
            <a:lnSpc>
              <a:spcPct val="90000"/>
            </a:lnSpc>
            <a:spcBef>
              <a:spcPct val="0"/>
            </a:spcBef>
            <a:spcAft>
              <a:spcPct val="35000"/>
            </a:spcAft>
            <a:buNone/>
          </a:pPr>
          <a:r>
            <a:rPr lang="en-US" sz="1200" kern="1200" dirty="0">
              <a:solidFill>
                <a:schemeClr val="bg1"/>
              </a:solidFill>
            </a:rPr>
            <a:t>Promote Off-Peak tariff incentive scheme considering seasonal consumption pattern of industry class and WBSEDCL may offer lower than ceiling tariff during particular season as per the choice of consumer</a:t>
          </a:r>
        </a:p>
      </dsp:txBody>
      <dsp:txXfrm>
        <a:off x="526698" y="1765614"/>
        <a:ext cx="10860455" cy="494687"/>
      </dsp:txXfrm>
    </dsp:sp>
    <dsp:sp modelId="{1D8B9C7F-7845-4E5F-AF52-21DB8527B9D1}">
      <dsp:nvSpPr>
        <dsp:cNvPr id="0" name=""/>
        <dsp:cNvSpPr/>
      </dsp:nvSpPr>
      <dsp:spPr>
        <a:xfrm>
          <a:off x="313084" y="1784139"/>
          <a:ext cx="457636" cy="457636"/>
        </a:xfrm>
        <a:prstGeom prst="ellipse">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8290DDC-60C8-4E4C-BFD2-50F46EE17AA2}">
      <dsp:nvSpPr>
        <dsp:cNvPr id="0" name=""/>
        <dsp:cNvSpPr/>
      </dsp:nvSpPr>
      <dsp:spPr>
        <a:xfrm>
          <a:off x="264432" y="2299793"/>
          <a:ext cx="11122799" cy="524305"/>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0599" tIns="30480" rIns="30480" bIns="30480" numCol="1" spcCol="1270" anchor="ctr" anchorCtr="0">
          <a:noAutofit/>
        </a:bodyPr>
        <a:lstStyle/>
        <a:p>
          <a:pPr marL="0" lvl="0" indent="0" algn="just" defTabSz="533400">
            <a:lnSpc>
              <a:spcPct val="90000"/>
            </a:lnSpc>
            <a:spcBef>
              <a:spcPct val="0"/>
            </a:spcBef>
            <a:spcAft>
              <a:spcPct val="35000"/>
            </a:spcAft>
            <a:buNone/>
          </a:pPr>
          <a:r>
            <a:rPr lang="en-US" sz="1200" kern="1200" dirty="0">
              <a:solidFill>
                <a:schemeClr val="bg1"/>
              </a:solidFill>
            </a:rPr>
            <a:t>Offer Promotional tariff during festival seasons to avoid sudden jump in consumption level- this will help the utility to ascertain the demand of Utility beforehand and power procurement can be planned in advance .</a:t>
          </a:r>
        </a:p>
      </dsp:txBody>
      <dsp:txXfrm>
        <a:off x="264432" y="2299793"/>
        <a:ext cx="11122799" cy="524305"/>
      </dsp:txXfrm>
    </dsp:sp>
    <dsp:sp modelId="{86202DBC-639B-4F58-AF07-51E73C45CF57}">
      <dsp:nvSpPr>
        <dsp:cNvPr id="0" name=""/>
        <dsp:cNvSpPr/>
      </dsp:nvSpPr>
      <dsp:spPr>
        <a:xfrm>
          <a:off x="50740" y="2333128"/>
          <a:ext cx="457636" cy="457636"/>
        </a:xfrm>
        <a:prstGeom prst="ellipse">
          <a:avLst/>
        </a:prstGeom>
        <a:solidFill>
          <a:schemeClr val="lt1">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4.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5.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4.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8.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0.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2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2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5.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8.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51.vml.rels><?xml version="1.0" encoding="UTF-8" standalone="yes"?>
<Relationships xmlns="http://schemas.openxmlformats.org/package/2006/relationships"><Relationship Id="rId2" Type="http://schemas.openxmlformats.org/officeDocument/2006/relationships/image" Target="../media/image81.emf"/><Relationship Id="rId1" Type="http://schemas.openxmlformats.org/officeDocument/2006/relationships/image" Target="../media/image13.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13.emf"/></Relationships>
</file>

<file path=ppt/drawings/drawing1.xml><?xml version="1.0" encoding="utf-8"?>
<c:userShapes xmlns:c="http://schemas.openxmlformats.org/drawingml/2006/chart">
  <cdr:relSizeAnchor xmlns:cdr="http://schemas.openxmlformats.org/drawingml/2006/chartDrawing">
    <cdr:from>
      <cdr:x>0.55992</cdr:x>
      <cdr:y>0.39371</cdr:y>
    </cdr:from>
    <cdr:to>
      <cdr:x>0.78998</cdr:x>
      <cdr:y>0.5</cdr:y>
    </cdr:to>
    <cdr:cxnSp macro="">
      <cdr:nvCxnSpPr>
        <cdr:cNvPr id="3" name="Straight Arrow Connector 2">
          <a:extLst xmlns:a="http://schemas.openxmlformats.org/drawingml/2006/main">
            <a:ext uri="{FF2B5EF4-FFF2-40B4-BE49-F238E27FC236}">
              <a16:creationId xmlns:a16="http://schemas.microsoft.com/office/drawing/2014/main" id="{F558EA9F-77EF-4E66-8B64-04C2DD9EEDFC}"/>
            </a:ext>
          </a:extLst>
        </cdr:cNvPr>
        <cdr:cNvCxnSpPr/>
      </cdr:nvCxnSpPr>
      <cdr:spPr>
        <a:xfrm xmlns:a="http://schemas.openxmlformats.org/drawingml/2006/main">
          <a:off x="2611986" y="924189"/>
          <a:ext cx="1073213" cy="249503"/>
        </a:xfrm>
        <a:prstGeom xmlns:a="http://schemas.openxmlformats.org/drawingml/2006/main" prst="straightConnector1">
          <a:avLst/>
        </a:prstGeom>
        <a:ln xmlns:a="http://schemas.openxmlformats.org/drawingml/2006/main">
          <a:tailEnd type="triangle"/>
        </a:ln>
      </cdr:spPr>
      <cdr:style>
        <a:lnRef xmlns:a="http://schemas.openxmlformats.org/drawingml/2006/main" idx="2">
          <a:schemeClr val="accent2"/>
        </a:lnRef>
        <a:fillRef xmlns:a="http://schemas.openxmlformats.org/drawingml/2006/main" idx="0">
          <a:schemeClr val="accent2"/>
        </a:fillRef>
        <a:effectRef xmlns:a="http://schemas.openxmlformats.org/drawingml/2006/main" idx="1">
          <a:schemeClr val="accent2"/>
        </a:effectRef>
        <a:fontRef xmlns:a="http://schemas.openxmlformats.org/drawingml/2006/main" idx="minor">
          <a:schemeClr val="tx1"/>
        </a:fontRef>
      </cdr:style>
    </cdr:cxnSp>
  </cdr:relSizeAnchor>
</c:userShapes>
</file>

<file path=ppt/drawings/drawing2.xml><?xml version="1.0" encoding="utf-8"?>
<c:userShapes xmlns:c="http://schemas.openxmlformats.org/drawingml/2006/chart">
  <cdr:relSizeAnchor xmlns:cdr="http://schemas.openxmlformats.org/drawingml/2006/chartDrawing">
    <cdr:from>
      <cdr:x>0.55768</cdr:x>
      <cdr:y>0.40468</cdr:y>
    </cdr:from>
    <cdr:to>
      <cdr:x>0.78632</cdr:x>
      <cdr:y>0.46821</cdr:y>
    </cdr:to>
    <cdr:cxnSp macro="">
      <cdr:nvCxnSpPr>
        <cdr:cNvPr id="3" name="Straight Arrow Connector 2">
          <a:extLst xmlns:a="http://schemas.openxmlformats.org/drawingml/2006/main">
            <a:ext uri="{FF2B5EF4-FFF2-40B4-BE49-F238E27FC236}">
              <a16:creationId xmlns:a16="http://schemas.microsoft.com/office/drawing/2014/main" id="{F558EA9F-77EF-4E66-8B64-04C2DD9EEDFC}"/>
            </a:ext>
          </a:extLst>
        </cdr:cNvPr>
        <cdr:cNvCxnSpPr/>
      </cdr:nvCxnSpPr>
      <cdr:spPr>
        <a:xfrm xmlns:a="http://schemas.openxmlformats.org/drawingml/2006/main">
          <a:off x="2401717" y="1559844"/>
          <a:ext cx="984662" cy="244842"/>
        </a:xfrm>
        <a:prstGeom xmlns:a="http://schemas.openxmlformats.org/drawingml/2006/main" prst="straightConnector1">
          <a:avLst/>
        </a:prstGeom>
        <a:ln xmlns:a="http://schemas.openxmlformats.org/drawingml/2006/main">
          <a:tailEnd type="triangle"/>
        </a:ln>
      </cdr:spPr>
      <cdr:style>
        <a:lnRef xmlns:a="http://schemas.openxmlformats.org/drawingml/2006/main" idx="2">
          <a:schemeClr val="accent2"/>
        </a:lnRef>
        <a:fillRef xmlns:a="http://schemas.openxmlformats.org/drawingml/2006/main" idx="0">
          <a:schemeClr val="accent2"/>
        </a:fillRef>
        <a:effectRef xmlns:a="http://schemas.openxmlformats.org/drawingml/2006/main" idx="1">
          <a:schemeClr val="accent2"/>
        </a:effectRef>
        <a:fontRef xmlns:a="http://schemas.openxmlformats.org/drawingml/2006/main" idx="minor">
          <a:schemeClr val="tx1"/>
        </a:fontRef>
      </cdr:style>
    </cdr:cxnSp>
  </cdr:relSizeAnchor>
</c:userShapes>
</file>

<file path=ppt/drawings/drawing3.xml><?xml version="1.0" encoding="utf-8"?>
<c:userShapes xmlns:c="http://schemas.openxmlformats.org/drawingml/2006/chart">
  <cdr:relSizeAnchor xmlns:cdr="http://schemas.openxmlformats.org/drawingml/2006/chartDrawing">
    <cdr:from>
      <cdr:x>0.34046</cdr:x>
      <cdr:y>0.17009</cdr:y>
    </cdr:from>
    <cdr:to>
      <cdr:x>0.38649</cdr:x>
      <cdr:y>0.81726</cdr:y>
    </cdr:to>
    <cdr:sp macro="" textlink="">
      <cdr:nvSpPr>
        <cdr:cNvPr id="2" name="TextBox 1">
          <a:extLst xmlns:a="http://schemas.openxmlformats.org/drawingml/2006/main">
            <a:ext uri="{FF2B5EF4-FFF2-40B4-BE49-F238E27FC236}">
              <a16:creationId xmlns:a16="http://schemas.microsoft.com/office/drawing/2014/main" id="{D9917BF8-3D93-4858-968F-29361EC87722}"/>
            </a:ext>
          </a:extLst>
        </cdr:cNvPr>
        <cdr:cNvSpPr txBox="1"/>
      </cdr:nvSpPr>
      <cdr:spPr>
        <a:xfrm xmlns:a="http://schemas.openxmlformats.org/drawingml/2006/main">
          <a:off x="1366039" y="397648"/>
          <a:ext cx="184666" cy="1512997"/>
        </a:xfrm>
        <a:prstGeom xmlns:a="http://schemas.openxmlformats.org/drawingml/2006/main" prst="rect">
          <a:avLst/>
        </a:prstGeom>
        <a:noFill xmlns:a="http://schemas.openxmlformats.org/drawingml/2006/main"/>
      </cdr:spPr>
      <cdr:txBody>
        <a:bodyPr xmlns:a="http://schemas.openxmlformats.org/drawingml/2006/main" vertOverflow="clip" vert="vert" wrap="square" lIns="0" tIns="0" rIns="0" bIns="0" rtlCol="0">
          <a:spAutoFit/>
        </a:bodyPr>
        <a:lstStyle xmlns:a="http://schemas.openxmlformats.org/drawingml/2006/main"/>
        <a:p xmlns:a="http://schemas.openxmlformats.org/drawingml/2006/main">
          <a:pPr>
            <a:spcBef>
              <a:spcPts val="600"/>
            </a:spcBef>
            <a:buSzPct val="100000"/>
          </a:pPr>
          <a:r>
            <a:rPr lang="en-US" sz="1200" b="1" dirty="0">
              <a:solidFill>
                <a:schemeClr val="tx1"/>
              </a:solidFill>
              <a:latin typeface="Calibri" panose="020F0502020204030204" pitchFamily="34" charset="0"/>
              <a:cs typeface="Calibri" panose="020F0502020204030204" pitchFamily="34" charset="0"/>
            </a:rPr>
            <a:t>Town Covered : 50</a:t>
          </a:r>
        </a:p>
      </cdr:txBody>
    </cdr:sp>
  </cdr:relSizeAnchor>
</c:userShapes>
</file>

<file path=ppt/drawings/drawing4.xml><?xml version="1.0" encoding="utf-8"?>
<c:userShapes xmlns:c="http://schemas.openxmlformats.org/drawingml/2006/chart">
  <cdr:relSizeAnchor xmlns:cdr="http://schemas.openxmlformats.org/drawingml/2006/chartDrawing">
    <cdr:from>
      <cdr:x>0.311</cdr:x>
      <cdr:y>0.17485</cdr:y>
    </cdr:from>
    <cdr:to>
      <cdr:x>0.40305</cdr:x>
      <cdr:y>0.84142</cdr:y>
    </cdr:to>
    <cdr:sp macro="" textlink="">
      <cdr:nvSpPr>
        <cdr:cNvPr id="2" name="TextBox 1">
          <a:extLst xmlns:a="http://schemas.openxmlformats.org/drawingml/2006/main">
            <a:ext uri="{FF2B5EF4-FFF2-40B4-BE49-F238E27FC236}">
              <a16:creationId xmlns:a16="http://schemas.microsoft.com/office/drawing/2014/main" id="{D9917BF8-3D93-4858-968F-29361EC87722}"/>
            </a:ext>
          </a:extLst>
        </cdr:cNvPr>
        <cdr:cNvSpPr txBox="1"/>
      </cdr:nvSpPr>
      <cdr:spPr>
        <a:xfrm xmlns:a="http://schemas.openxmlformats.org/drawingml/2006/main">
          <a:off x="1247808" y="435876"/>
          <a:ext cx="369332" cy="1661676"/>
        </a:xfrm>
        <a:prstGeom xmlns:a="http://schemas.openxmlformats.org/drawingml/2006/main" prst="rect">
          <a:avLst/>
        </a:prstGeom>
        <a:noFill xmlns:a="http://schemas.openxmlformats.org/drawingml/2006/main"/>
      </cdr:spPr>
      <cdr:txBody>
        <a:bodyPr xmlns:a="http://schemas.openxmlformats.org/drawingml/2006/main" vertOverflow="clip" vert="vert" wrap="square" lIns="0" tIns="0" rIns="0" bIns="0" rtlCol="0">
          <a:spAutoFit/>
        </a:bodyPr>
        <a:lstStyle xmlns:a="http://schemas.openxmlformats.org/drawingml/2006/main"/>
        <a:p xmlns:a="http://schemas.openxmlformats.org/drawingml/2006/main">
          <a:pPr algn="ctr">
            <a:spcBef>
              <a:spcPts val="600"/>
            </a:spcBef>
            <a:buSzPct val="100000"/>
          </a:pPr>
          <a:r>
            <a:rPr lang="en-US" sz="1200" b="1" dirty="0">
              <a:solidFill>
                <a:schemeClr val="tx1"/>
              </a:solidFill>
              <a:latin typeface="Calibri" panose="020F0502020204030204" pitchFamily="34" charset="0"/>
              <a:cs typeface="Calibri" panose="020F0502020204030204" pitchFamily="34" charset="0"/>
            </a:rPr>
            <a:t>50 Nos of Town declared Go Live on NPP</a:t>
          </a:r>
        </a:p>
      </cdr:txBody>
    </cdr:sp>
  </cdr:relSizeAnchor>
</c:userShapes>
</file>

<file path=ppt/drawings/drawing5.xml><?xml version="1.0" encoding="utf-8"?>
<c:userShapes xmlns:c="http://schemas.openxmlformats.org/drawingml/2006/chart">
  <cdr:relSizeAnchor xmlns:cdr="http://schemas.openxmlformats.org/drawingml/2006/chartDrawing">
    <cdr:from>
      <cdr:x>0.53584</cdr:x>
      <cdr:y>0.41465</cdr:y>
    </cdr:from>
    <cdr:to>
      <cdr:x>0.79945</cdr:x>
      <cdr:y>0.5</cdr:y>
    </cdr:to>
    <cdr:cxnSp macro="">
      <cdr:nvCxnSpPr>
        <cdr:cNvPr id="3" name="Straight Arrow Connector 2">
          <a:extLst xmlns:a="http://schemas.openxmlformats.org/drawingml/2006/main">
            <a:ext uri="{FF2B5EF4-FFF2-40B4-BE49-F238E27FC236}">
              <a16:creationId xmlns:a16="http://schemas.microsoft.com/office/drawing/2014/main" id="{F558EA9F-77EF-4E66-8B64-04C2DD9EEDFC}"/>
            </a:ext>
          </a:extLst>
        </cdr:cNvPr>
        <cdr:cNvCxnSpPr/>
      </cdr:nvCxnSpPr>
      <cdr:spPr>
        <a:xfrm xmlns:a="http://schemas.openxmlformats.org/drawingml/2006/main">
          <a:off x="5485278" y="995619"/>
          <a:ext cx="2698595" cy="204942"/>
        </a:xfrm>
        <a:prstGeom xmlns:a="http://schemas.openxmlformats.org/drawingml/2006/main" prst="straightConnector1">
          <a:avLst/>
        </a:prstGeom>
        <a:ln xmlns:a="http://schemas.openxmlformats.org/drawingml/2006/main">
          <a:tailEnd type="triangle"/>
        </a:ln>
      </cdr:spPr>
      <cdr:style>
        <a:lnRef xmlns:a="http://schemas.openxmlformats.org/drawingml/2006/main" idx="2">
          <a:schemeClr val="accent2"/>
        </a:lnRef>
        <a:fillRef xmlns:a="http://schemas.openxmlformats.org/drawingml/2006/main" idx="0">
          <a:schemeClr val="accent2"/>
        </a:fillRef>
        <a:effectRef xmlns:a="http://schemas.openxmlformats.org/drawingml/2006/main" idx="1">
          <a:schemeClr val="accent2"/>
        </a:effectRef>
        <a:fontRef xmlns:a="http://schemas.openxmlformats.org/drawingml/2006/main" idx="minor">
          <a:schemeClr val="tx1"/>
        </a:fontRef>
      </cdr:style>
    </cdr:cxnSp>
  </cdr:relSizeAnchor>
  <cdr:relSizeAnchor xmlns:cdr="http://schemas.openxmlformats.org/drawingml/2006/chartDrawing">
    <cdr:from>
      <cdr:x>0.57069</cdr:x>
      <cdr:y>0.40643</cdr:y>
    </cdr:from>
    <cdr:to>
      <cdr:x>0.75795</cdr:x>
      <cdr:y>0.49616</cdr:y>
    </cdr:to>
    <cdr:sp macro="" textlink="">
      <cdr:nvSpPr>
        <cdr:cNvPr id="5" name="TextBox 25">
          <a:extLst xmlns:a="http://schemas.openxmlformats.org/drawingml/2006/main">
            <a:ext uri="{FF2B5EF4-FFF2-40B4-BE49-F238E27FC236}">
              <a16:creationId xmlns:a16="http://schemas.microsoft.com/office/drawing/2014/main" id="{BA4759B6-09D6-492D-A99F-63F84D0E89F1}"/>
            </a:ext>
          </a:extLst>
        </cdr:cNvPr>
        <cdr:cNvSpPr txBox="1"/>
      </cdr:nvSpPr>
      <cdr:spPr>
        <a:xfrm xmlns:a="http://schemas.openxmlformats.org/drawingml/2006/main" rot="274606">
          <a:off x="5842036" y="975898"/>
          <a:ext cx="1917002" cy="215444"/>
        </a:xfrm>
        <a:prstGeom xmlns:a="http://schemas.openxmlformats.org/drawingml/2006/main" prst="rect">
          <a:avLst/>
        </a:prstGeom>
        <a:solidFill xmlns:a="http://schemas.openxmlformats.org/drawingml/2006/main">
          <a:schemeClr val="bg1"/>
        </a:solidFill>
        <a:effectLst xmlns:a="http://schemas.openxmlformats.org/drawingml/2006/main">
          <a:outerShdw blurRad="50800" dist="50800" dir="13320000" sx="1000" sy="1000" algn="ctr" rotWithShape="0">
            <a:srgbClr val="000000">
              <a:alpha val="87000"/>
            </a:srgbClr>
          </a:outerShdw>
        </a:effectLst>
      </cdr:spPr>
      <cdr:txBody>
        <a:bodyPr xmlns:a="http://schemas.openxmlformats.org/drawingml/2006/main" wrap="square" lIns="0" tIns="0" rIns="0" bIns="0" rtlCol="0">
          <a:spAutoFit/>
        </a:bodyPr>
        <a:lstStyle xmlns:a="http://schemas.openxmlformats.org/drawingml/2006/main">
          <a:defPPr>
            <a:defRPr lang="en-US"/>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2" algn="l" defTabSz="914342" rtl="0" eaLnBrk="1" latinLnBrk="0" hangingPunct="1">
            <a:defRPr sz="1800" kern="1200">
              <a:solidFill>
                <a:schemeClr val="tx1"/>
              </a:solidFill>
              <a:latin typeface="+mn-lt"/>
              <a:ea typeface="+mn-ea"/>
              <a:cs typeface="+mn-cs"/>
            </a:defRPr>
          </a:lvl4pPr>
          <a:lvl5pPr marL="1828683" algn="l" defTabSz="914342" rtl="0" eaLnBrk="1" latinLnBrk="0" hangingPunct="1">
            <a:defRPr sz="1800" kern="1200">
              <a:solidFill>
                <a:schemeClr val="tx1"/>
              </a:solidFill>
              <a:latin typeface="+mn-lt"/>
              <a:ea typeface="+mn-ea"/>
              <a:cs typeface="+mn-cs"/>
            </a:defRPr>
          </a:lvl5pPr>
          <a:lvl6pPr marL="2285854" algn="l" defTabSz="914342" rtl="0" eaLnBrk="1" latinLnBrk="0" hangingPunct="1">
            <a:defRPr sz="1800" kern="1200">
              <a:solidFill>
                <a:schemeClr val="tx1"/>
              </a:solidFill>
              <a:latin typeface="+mn-lt"/>
              <a:ea typeface="+mn-ea"/>
              <a:cs typeface="+mn-cs"/>
            </a:defRPr>
          </a:lvl6pPr>
          <a:lvl7pPr marL="2743025" algn="l" defTabSz="914342" rtl="0" eaLnBrk="1" latinLnBrk="0" hangingPunct="1">
            <a:defRPr sz="1800" kern="1200">
              <a:solidFill>
                <a:schemeClr val="tx1"/>
              </a:solidFill>
              <a:latin typeface="+mn-lt"/>
              <a:ea typeface="+mn-ea"/>
              <a:cs typeface="+mn-cs"/>
            </a:defRPr>
          </a:lvl7pPr>
          <a:lvl8pPr marL="3200195" algn="l" defTabSz="914342" rtl="0" eaLnBrk="1" latinLnBrk="0" hangingPunct="1">
            <a:defRPr sz="1800" kern="1200">
              <a:solidFill>
                <a:schemeClr val="tx1"/>
              </a:solidFill>
              <a:latin typeface="+mn-lt"/>
              <a:ea typeface="+mn-ea"/>
              <a:cs typeface="+mn-cs"/>
            </a:defRPr>
          </a:lvl8pPr>
          <a:lvl9pPr marL="3657366" algn="l" defTabSz="914342" rtl="0" eaLnBrk="1" latinLnBrk="0" hangingPunct="1">
            <a:defRPr sz="1800" kern="1200">
              <a:solidFill>
                <a:schemeClr val="tx1"/>
              </a:solidFill>
              <a:latin typeface="+mn-lt"/>
              <a:ea typeface="+mn-ea"/>
              <a:cs typeface="+mn-cs"/>
            </a:defRPr>
          </a:lvl9pPr>
        </a:lstStyle>
        <a:p xmlns:a="http://schemas.openxmlformats.org/drawingml/2006/main">
          <a:pPr algn="ctr">
            <a:spcBef>
              <a:spcPts val="600"/>
            </a:spcBef>
            <a:buSzPct val="100000"/>
          </a:pPr>
          <a:r>
            <a:rPr lang="en-US" sz="1400" b="1" dirty="0">
              <a:latin typeface="Calibri" panose="020F0502020204030204" pitchFamily="34" charset="0"/>
              <a:cs typeface="Calibri" panose="020F0502020204030204" pitchFamily="34" charset="0"/>
            </a:rPr>
            <a:t>85% amount released</a:t>
          </a:r>
        </a:p>
      </cdr:txBody>
    </cdr:sp>
  </cdr:relSizeAnchor>
</c:userShapes>
</file>

<file path=ppt/drawings/drawing6.xml><?xml version="1.0" encoding="utf-8"?>
<c:userShapes xmlns:c="http://schemas.openxmlformats.org/drawingml/2006/chart">
  <cdr:relSizeAnchor xmlns:cdr="http://schemas.openxmlformats.org/drawingml/2006/chartDrawing">
    <cdr:from>
      <cdr:x>0.31449</cdr:x>
      <cdr:y>0.68177</cdr:y>
    </cdr:from>
    <cdr:to>
      <cdr:x>0.69347</cdr:x>
      <cdr:y>0.75168</cdr:y>
    </cdr:to>
    <cdr:sp macro="" textlink="">
      <cdr:nvSpPr>
        <cdr:cNvPr id="2" name="TextBox 1">
          <a:extLst xmlns:a="http://schemas.openxmlformats.org/drawingml/2006/main">
            <a:ext uri="{FF2B5EF4-FFF2-40B4-BE49-F238E27FC236}">
              <a16:creationId xmlns:a16="http://schemas.microsoft.com/office/drawing/2014/main" id="{8A055353-052B-4EC3-90FB-CE1A2E4043B2}"/>
            </a:ext>
          </a:extLst>
        </cdr:cNvPr>
        <cdr:cNvSpPr txBox="1"/>
      </cdr:nvSpPr>
      <cdr:spPr>
        <a:xfrm xmlns:a="http://schemas.openxmlformats.org/drawingml/2006/main">
          <a:off x="1203975" y="1650923"/>
          <a:ext cx="1450865" cy="169277"/>
        </a:xfrm>
        <a:prstGeom xmlns:a="http://schemas.openxmlformats.org/drawingml/2006/main" prst="rect">
          <a:avLst/>
        </a:prstGeom>
        <a:noFill xmlns:a="http://schemas.openxmlformats.org/drawingml/2006/main"/>
      </cdr:spPr>
      <cdr:txBody>
        <a:bodyPr xmlns:a="http://schemas.openxmlformats.org/drawingml/2006/main" vertOverflow="clip" wrap="square" lIns="0" tIns="0" rIns="0" bIns="0" rtlCol="0">
          <a:spAutoFit/>
        </a:bodyPr>
        <a:lstStyle xmlns:a="http://schemas.openxmlformats.org/drawingml/2006/main"/>
        <a:p xmlns:a="http://schemas.openxmlformats.org/drawingml/2006/main">
          <a:pPr algn="ctr">
            <a:spcBef>
              <a:spcPts val="600"/>
            </a:spcBef>
            <a:buSzPct val="100000"/>
          </a:pPr>
          <a:r>
            <a:rPr lang="en-US" dirty="0">
              <a:solidFill>
                <a:schemeClr val="bg1"/>
              </a:solidFill>
              <a:latin typeface="+mj-lt"/>
              <a:cs typeface="Calibri" panose="020F0502020204030204" pitchFamily="34" charset="0"/>
            </a:rPr>
            <a:t>GOI through REC</a:t>
          </a:r>
        </a:p>
      </cdr:txBody>
    </cdr:sp>
  </cdr:relSizeAnchor>
  <cdr:relSizeAnchor xmlns:cdr="http://schemas.openxmlformats.org/drawingml/2006/chartDrawing">
    <cdr:from>
      <cdr:x>0.60481</cdr:x>
      <cdr:y>0</cdr:y>
    </cdr:from>
    <cdr:to>
      <cdr:x>0.82475</cdr:x>
      <cdr:y>0.13981</cdr:y>
    </cdr:to>
    <cdr:sp macro="" textlink="">
      <cdr:nvSpPr>
        <cdr:cNvPr id="3" name="TextBox 1">
          <a:extLst xmlns:a="http://schemas.openxmlformats.org/drawingml/2006/main">
            <a:ext uri="{FF2B5EF4-FFF2-40B4-BE49-F238E27FC236}">
              <a16:creationId xmlns:a16="http://schemas.microsoft.com/office/drawing/2014/main" id="{315FC61A-097E-4BC1-9C60-638785E8AD21}"/>
            </a:ext>
          </a:extLst>
        </cdr:cNvPr>
        <cdr:cNvSpPr txBox="1"/>
      </cdr:nvSpPr>
      <cdr:spPr>
        <a:xfrm xmlns:a="http://schemas.openxmlformats.org/drawingml/2006/main">
          <a:off x="2315408" y="0"/>
          <a:ext cx="842006" cy="338554"/>
        </a:xfrm>
        <a:prstGeom xmlns:a="http://schemas.openxmlformats.org/drawingml/2006/main" prst="rect">
          <a:avLst/>
        </a:prstGeom>
        <a:solidFill xmlns:a="http://schemas.openxmlformats.org/drawingml/2006/main">
          <a:srgbClr val="86BC25"/>
        </a:solidFill>
      </cdr:spPr>
      <cdr:txBody>
        <a:bodyPr xmlns:a="http://schemas.openxmlformats.org/drawingml/2006/main" wrap="square" lIns="0" tIns="0" rIns="0" bIns="0" rtlCol="0">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spcBef>
              <a:spcPts val="600"/>
            </a:spcBef>
            <a:buSzPct val="100000"/>
          </a:pPr>
          <a:r>
            <a:rPr lang="en-US" dirty="0">
              <a:solidFill>
                <a:schemeClr val="bg1"/>
              </a:solidFill>
              <a:latin typeface="+mj-lt"/>
              <a:cs typeface="Calibri" panose="020F0502020204030204" pitchFamily="34" charset="0"/>
            </a:rPr>
            <a:t>Own Fund (WBSEDCL)</a:t>
          </a:r>
        </a:p>
      </cdr:txBody>
    </cdr:sp>
  </cdr:relSizeAnchor>
</c:userShapes>
</file>

<file path=ppt/drawings/drawing7.xml><?xml version="1.0" encoding="utf-8"?>
<c:userShapes xmlns:c="http://schemas.openxmlformats.org/drawingml/2006/chart">
  <cdr:relSizeAnchor xmlns:cdr="http://schemas.openxmlformats.org/drawingml/2006/chartDrawing">
    <cdr:from>
      <cdr:x>0.07795</cdr:x>
      <cdr:y>0.50873</cdr:y>
    </cdr:from>
    <cdr:to>
      <cdr:x>0.25609</cdr:x>
      <cdr:y>0.86309</cdr:y>
    </cdr:to>
    <cdr:sp macro="" textlink="">
      <cdr:nvSpPr>
        <cdr:cNvPr id="3" name="Rectangle: Rounded Corners 2">
          <a:extLst xmlns:a="http://schemas.openxmlformats.org/drawingml/2006/main">
            <a:ext uri="{FF2B5EF4-FFF2-40B4-BE49-F238E27FC236}">
              <a16:creationId xmlns:a16="http://schemas.microsoft.com/office/drawing/2014/main" id="{F8CDE05D-B3D7-4E0D-A764-0641A7988EDC}"/>
            </a:ext>
          </a:extLst>
        </cdr:cNvPr>
        <cdr:cNvSpPr/>
      </cdr:nvSpPr>
      <cdr:spPr bwMode="gray">
        <a:xfrm xmlns:a="http://schemas.openxmlformats.org/drawingml/2006/main">
          <a:off x="902029" y="1904008"/>
          <a:ext cx="2061416" cy="1326264"/>
        </a:xfrm>
        <a:prstGeom xmlns:a="http://schemas.openxmlformats.org/drawingml/2006/main" prst="roundRect">
          <a:avLst/>
        </a:prstGeom>
        <a:solidFill xmlns:a="http://schemas.openxmlformats.org/drawingml/2006/main">
          <a:srgbClr val="FFC000">
            <a:alpha val="20000"/>
          </a:srgbClr>
        </a:solidFill>
        <a:ln xmlns:a="http://schemas.openxmlformats.org/drawingml/2006/main" w="19050" algn="ctr">
          <a:noFill/>
          <a:miter lim="800000"/>
          <a:headEnd/>
          <a:tailEnd/>
        </a:ln>
      </cdr:spPr>
      <cdr:txBody>
        <a:bodyPr xmlns:a="http://schemas.openxmlformats.org/drawingml/2006/main" vertOverflow="clip" wrap="square" lIns="88900" tIns="88900" rIns="88900" bIns="88900" rtlCol="0" anchor="ctr"/>
        <a:lstStyle xmlns:a="http://schemas.openxmlformats.org/drawingml/2006/main"/>
        <a:p xmlns:a="http://schemas.openxmlformats.org/drawingml/2006/main">
          <a:endParaRPr lang="en-US"/>
        </a:p>
      </cdr:txBody>
    </cdr:sp>
  </cdr:relSizeAnchor>
  <cdr:relSizeAnchor xmlns:cdr="http://schemas.openxmlformats.org/drawingml/2006/chartDrawing">
    <cdr:from>
      <cdr:x>0.58662</cdr:x>
      <cdr:y>0.02637</cdr:y>
    </cdr:from>
    <cdr:to>
      <cdr:x>0.87971</cdr:x>
      <cdr:y>0.07571</cdr:y>
    </cdr:to>
    <cdr:sp macro="" textlink="">
      <cdr:nvSpPr>
        <cdr:cNvPr id="2" name="TextBox 1">
          <a:extLst xmlns:a="http://schemas.openxmlformats.org/drawingml/2006/main">
            <a:ext uri="{FF2B5EF4-FFF2-40B4-BE49-F238E27FC236}">
              <a16:creationId xmlns:a16="http://schemas.microsoft.com/office/drawing/2014/main" id="{C2051A9F-3931-473C-AF2B-BD47475D0455}"/>
            </a:ext>
          </a:extLst>
        </cdr:cNvPr>
        <cdr:cNvSpPr txBox="1"/>
      </cdr:nvSpPr>
      <cdr:spPr>
        <a:xfrm xmlns:a="http://schemas.openxmlformats.org/drawingml/2006/main">
          <a:off x="6788312" y="98689"/>
          <a:ext cx="3391548" cy="184666"/>
        </a:xfrm>
        <a:prstGeom xmlns:a="http://schemas.openxmlformats.org/drawingml/2006/main" prst="rect">
          <a:avLst/>
        </a:prstGeom>
        <a:solidFill xmlns:a="http://schemas.openxmlformats.org/drawingml/2006/main">
          <a:schemeClr val="accent1">
            <a:lumMod val="20000"/>
            <a:lumOff val="80000"/>
          </a:schemeClr>
        </a:solidFill>
      </cdr:spPr>
      <cdr:txBody>
        <a:bodyPr xmlns:a="http://schemas.openxmlformats.org/drawingml/2006/main" vertOverflow="clip" wrap="square" lIns="0" tIns="0" rIns="0" bIns="0" rtlCol="0">
          <a:spAutoFit/>
        </a:bodyPr>
        <a:lstStyle xmlns:a="http://schemas.openxmlformats.org/drawingml/2006/main"/>
        <a:p xmlns:a="http://schemas.openxmlformats.org/drawingml/2006/main">
          <a:pPr algn="ctr">
            <a:spcBef>
              <a:spcPts val="600"/>
            </a:spcBef>
            <a:buSzPct val="100000"/>
          </a:pPr>
          <a:r>
            <a:rPr lang="en-US" sz="1200" dirty="0">
              <a:solidFill>
                <a:srgbClr val="313131"/>
              </a:solidFill>
              <a:latin typeface="Calibri" panose="020F0502020204030204" pitchFamily="34" charset="0"/>
              <a:cs typeface="Calibri" panose="020F0502020204030204" pitchFamily="34" charset="0"/>
            </a:rPr>
            <a:t>Average Energy Rate of Portfolio= Rs. 2.34/ KWh</a:t>
          </a:r>
          <a:endParaRPr lang="en-US" sz="1100" dirty="0">
            <a:solidFill>
              <a:srgbClr val="313131"/>
            </a:solidFill>
            <a:latin typeface="Calibri" panose="020F0502020204030204" pitchFamily="34" charset="0"/>
            <a:cs typeface="Calibri" panose="020F0502020204030204" pitchFamily="34" charset="0"/>
          </a:endParaRPr>
        </a:p>
      </cdr:txBody>
    </cdr:sp>
  </cdr:relSizeAnchor>
  <cdr:relSizeAnchor xmlns:cdr="http://schemas.openxmlformats.org/drawingml/2006/chartDrawing">
    <cdr:from>
      <cdr:x>0.46937</cdr:x>
      <cdr:y>0.13683</cdr:y>
    </cdr:from>
    <cdr:to>
      <cdr:x>0.48775</cdr:x>
      <cdr:y>0.17287</cdr:y>
    </cdr:to>
    <cdr:sp macro="" textlink="">
      <cdr:nvSpPr>
        <cdr:cNvPr id="5" name="Oval 4">
          <a:extLst xmlns:a="http://schemas.openxmlformats.org/drawingml/2006/main">
            <a:ext uri="{FF2B5EF4-FFF2-40B4-BE49-F238E27FC236}">
              <a16:creationId xmlns:a16="http://schemas.microsoft.com/office/drawing/2014/main" id="{0AEDADDB-368B-44AA-934A-A90B41446BA0}"/>
            </a:ext>
          </a:extLst>
        </cdr:cNvPr>
        <cdr:cNvSpPr/>
      </cdr:nvSpPr>
      <cdr:spPr bwMode="gray">
        <a:xfrm xmlns:a="http://schemas.openxmlformats.org/drawingml/2006/main">
          <a:off x="5431526" y="726681"/>
          <a:ext cx="212652" cy="191386"/>
        </a:xfrm>
        <a:prstGeom xmlns:a="http://schemas.openxmlformats.org/drawingml/2006/main" prst="ellipse">
          <a:avLst/>
        </a:prstGeom>
        <a:solidFill xmlns:a="http://schemas.openxmlformats.org/drawingml/2006/main">
          <a:srgbClr val="004F59"/>
        </a:solidFill>
        <a:ln xmlns:a="http://schemas.openxmlformats.org/drawingml/2006/main" w="19050" algn="ctr">
          <a:noFill/>
          <a:miter lim="800000"/>
          <a:headEnd/>
          <a:tailEnd/>
        </a:ln>
      </cdr:spPr>
      <cdr:txBody>
        <a:bodyPr xmlns:a="http://schemas.openxmlformats.org/drawingml/2006/main" vertOverflow="clip" wrap="square" lIns="88900" tIns="88900" rIns="88900" bIns="88900" rtlCol="0" anchor="ctr"/>
        <a:lstStyle xmlns:a="http://schemas.openxmlformats.org/drawingml/2006/main"/>
        <a:p xmlns:a="http://schemas.openxmlformats.org/drawingml/2006/main">
          <a:endParaRPr lang="en-US"/>
        </a:p>
      </cdr:txBody>
    </cdr:sp>
  </cdr:relSizeAnchor>
</c:userShapes>
</file>

<file path=ppt/drawings/drawing8.xml><?xml version="1.0" encoding="utf-8"?>
<c:userShapes xmlns:c="http://schemas.openxmlformats.org/drawingml/2006/chart">
  <cdr:relSizeAnchor xmlns:cdr="http://schemas.openxmlformats.org/drawingml/2006/chartDrawing">
    <cdr:from>
      <cdr:x>0.01789</cdr:x>
      <cdr:y>0.02042</cdr:y>
    </cdr:from>
    <cdr:to>
      <cdr:x>0.17939</cdr:x>
      <cdr:y>0.27624</cdr:y>
    </cdr:to>
    <cdr:sp macro="" textlink="">
      <cdr:nvSpPr>
        <cdr:cNvPr id="2" name="Speech Bubble: Rectangle 1">
          <a:extLst xmlns:a="http://schemas.openxmlformats.org/drawingml/2006/main">
            <a:ext uri="{FF2B5EF4-FFF2-40B4-BE49-F238E27FC236}">
              <a16:creationId xmlns:a16="http://schemas.microsoft.com/office/drawing/2014/main" id="{2892D82E-8DAE-4A72-A44B-BB9D660BE0B5}"/>
            </a:ext>
          </a:extLst>
        </cdr:cNvPr>
        <cdr:cNvSpPr/>
      </cdr:nvSpPr>
      <cdr:spPr bwMode="gray">
        <a:xfrm xmlns:a="http://schemas.openxmlformats.org/drawingml/2006/main">
          <a:off x="197795" y="96429"/>
          <a:ext cx="1785258" cy="1208315"/>
        </a:xfrm>
        <a:prstGeom xmlns:a="http://schemas.openxmlformats.org/drawingml/2006/main" prst="wedgeRectCallout">
          <a:avLst>
            <a:gd name="adj1" fmla="val -11687"/>
            <a:gd name="adj2" fmla="val 76014"/>
          </a:avLst>
        </a:prstGeom>
        <a:solidFill xmlns:a="http://schemas.openxmlformats.org/drawingml/2006/main">
          <a:srgbClr val="E3E48D"/>
        </a:solidFill>
        <a:ln xmlns:a="http://schemas.openxmlformats.org/drawingml/2006/main">
          <a:headEnd/>
          <a:tailEnd/>
        </a:ln>
      </cdr:spPr>
      <cdr: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cdr:style>
      <cdr:txBody>
        <a:bodyPr xmlns:a="http://schemas.openxmlformats.org/drawingml/2006/main" vertOverflow="clip" wrap="square" lIns="88900" tIns="88900" rIns="88900" bIns="88900" rtlCol="0" anchor="ctr"/>
        <a:lstStyle xmlns:a="http://schemas.openxmlformats.org/drawingml/2006/main"/>
        <a:p xmlns:a="http://schemas.openxmlformats.org/drawingml/2006/main">
          <a:pPr algn="just"/>
          <a:r>
            <a:rPr lang="en-US" b="0" i="1" cap="none" spc="0" dirty="0">
              <a:ln w="0"/>
              <a:solidFill>
                <a:schemeClr val="tx1"/>
              </a:solidFill>
              <a:effectLst>
                <a:outerShdw blurRad="38100" dist="19050" dir="2700000" algn="tl" rotWithShape="0">
                  <a:schemeClr val="dk1">
                    <a:alpha val="40000"/>
                  </a:schemeClr>
                </a:outerShdw>
              </a:effectLst>
            </a:rPr>
            <a:t>As can be seen, Fixed Charge for West Bengal </a:t>
          </a:r>
          <a:r>
            <a:rPr lang="en-US" i="1" u="sng" cap="none" spc="0" dirty="0">
              <a:ln w="0"/>
              <a:solidFill>
                <a:schemeClr val="tx1"/>
              </a:solidFill>
              <a:effectLst>
                <a:outerShdw blurRad="38100" dist="19050" dir="2700000" algn="tl" rotWithShape="0">
                  <a:schemeClr val="dk1">
                    <a:alpha val="40000"/>
                  </a:schemeClr>
                </a:outerShdw>
              </a:effectLst>
            </a:rPr>
            <a:t>is</a:t>
          </a:r>
          <a:r>
            <a:rPr lang="en-US" b="1" i="1" u="sng" cap="none" spc="0" dirty="0">
              <a:ln w="0"/>
              <a:solidFill>
                <a:schemeClr val="tx1"/>
              </a:solidFill>
              <a:effectLst>
                <a:outerShdw blurRad="38100" dist="19050" dir="2700000" algn="tl" rotWithShape="0">
                  <a:schemeClr val="dk1">
                    <a:alpha val="40000"/>
                  </a:schemeClr>
                </a:outerShdw>
              </a:effectLst>
            </a:rPr>
            <a:t> considerably lower</a:t>
          </a:r>
          <a:r>
            <a:rPr lang="en-US" b="1" i="1" cap="none" spc="0" dirty="0">
              <a:ln w="0"/>
              <a:solidFill>
                <a:schemeClr val="tx1"/>
              </a:solidFill>
              <a:effectLst>
                <a:outerShdw blurRad="38100" dist="19050" dir="2700000" algn="tl" rotWithShape="0">
                  <a:schemeClr val="dk1">
                    <a:alpha val="40000"/>
                  </a:schemeClr>
                </a:outerShdw>
              </a:effectLst>
            </a:rPr>
            <a:t> </a:t>
          </a:r>
          <a:r>
            <a:rPr lang="en-US" i="1" cap="none" spc="0" dirty="0">
              <a:ln w="0"/>
              <a:solidFill>
                <a:schemeClr val="tx1"/>
              </a:solidFill>
              <a:effectLst>
                <a:outerShdw blurRad="38100" dist="19050" dir="2700000" algn="tl" rotWithShape="0">
                  <a:schemeClr val="dk1">
                    <a:alpha val="40000"/>
                  </a:schemeClr>
                </a:outerShdw>
              </a:effectLst>
            </a:rPr>
            <a:t>in</a:t>
          </a:r>
          <a:r>
            <a:rPr lang="en-US" b="1" i="1" cap="none" spc="0" dirty="0">
              <a:ln w="0"/>
              <a:solidFill>
                <a:schemeClr val="tx1"/>
              </a:solidFill>
              <a:effectLst>
                <a:outerShdw blurRad="38100" dist="19050" dir="2700000" algn="tl" rotWithShape="0">
                  <a:schemeClr val="dk1">
                    <a:alpha val="40000"/>
                  </a:schemeClr>
                </a:outerShdw>
              </a:effectLst>
            </a:rPr>
            <a:t> </a:t>
          </a:r>
          <a:r>
            <a:rPr lang="en-US" b="0" i="1" cap="none" spc="0" dirty="0">
              <a:ln w="0"/>
              <a:solidFill>
                <a:schemeClr val="tx1"/>
              </a:solidFill>
              <a:effectLst>
                <a:outerShdw blurRad="38100" dist="19050" dir="2700000" algn="tl" rotWithShape="0">
                  <a:schemeClr val="dk1">
                    <a:alpha val="40000"/>
                  </a:schemeClr>
                </a:outerShdw>
              </a:effectLst>
            </a:rPr>
            <a:t>comparison to some other states</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6/30/22</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6/30/22</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914342" rtl="0" eaLnBrk="1" latinLnBrk="0" hangingPunct="1">
      <a:defRPr sz="1200" kern="1200">
        <a:solidFill>
          <a:schemeClr val="tx1"/>
        </a:solidFill>
        <a:latin typeface="Arial" panose="020B0604020202020204" pitchFamily="34" charset="0"/>
        <a:ea typeface="+mn-ea"/>
        <a:cs typeface="+mn-cs"/>
      </a:defRPr>
    </a:lvl1pPr>
    <a:lvl2pPr marL="457171" algn="l" defTabSz="914342" rtl="0" eaLnBrk="1" latinLnBrk="0" hangingPunct="1">
      <a:defRPr sz="1200" kern="1200">
        <a:solidFill>
          <a:schemeClr val="tx1"/>
        </a:solidFill>
        <a:latin typeface="Arial" panose="020B0604020202020204" pitchFamily="34" charset="0"/>
        <a:ea typeface="+mn-ea"/>
        <a:cs typeface="+mn-cs"/>
      </a:defRPr>
    </a:lvl2pPr>
    <a:lvl3pPr marL="914342" algn="l" defTabSz="914342" rtl="0" eaLnBrk="1" latinLnBrk="0" hangingPunct="1">
      <a:defRPr sz="1200" kern="1200">
        <a:solidFill>
          <a:schemeClr val="tx1"/>
        </a:solidFill>
        <a:latin typeface="Arial" panose="020B0604020202020204" pitchFamily="34" charset="0"/>
        <a:ea typeface="+mn-ea"/>
        <a:cs typeface="+mn-cs"/>
      </a:defRPr>
    </a:lvl3pPr>
    <a:lvl4pPr marL="1371512" algn="l" defTabSz="914342" rtl="0" eaLnBrk="1" latinLnBrk="0" hangingPunct="1">
      <a:defRPr sz="1200" kern="1200">
        <a:solidFill>
          <a:schemeClr val="tx1"/>
        </a:solidFill>
        <a:latin typeface="Arial" panose="020B0604020202020204" pitchFamily="34" charset="0"/>
        <a:ea typeface="+mn-ea"/>
        <a:cs typeface="+mn-cs"/>
      </a:defRPr>
    </a:lvl4pPr>
    <a:lvl5pPr marL="1828683" algn="l" defTabSz="914342" rtl="0" eaLnBrk="1" latinLnBrk="0" hangingPunct="1">
      <a:defRPr sz="1200" kern="1200">
        <a:solidFill>
          <a:schemeClr val="tx1"/>
        </a:solidFill>
        <a:latin typeface="Arial" panose="020B0604020202020204" pitchFamily="34" charset="0"/>
        <a:ea typeface="+mn-ea"/>
        <a:cs typeface="+mn-cs"/>
      </a:defRPr>
    </a:lvl5pPr>
    <a:lvl6pPr marL="2285854" algn="l" defTabSz="914342" rtl="0" eaLnBrk="1" latinLnBrk="0" hangingPunct="1">
      <a:defRPr sz="1200" kern="1200">
        <a:solidFill>
          <a:schemeClr val="tx1"/>
        </a:solidFill>
        <a:latin typeface="+mn-lt"/>
        <a:ea typeface="+mn-ea"/>
        <a:cs typeface="+mn-cs"/>
      </a:defRPr>
    </a:lvl6pPr>
    <a:lvl7pPr marL="2743025" algn="l" defTabSz="914342" rtl="0" eaLnBrk="1" latinLnBrk="0" hangingPunct="1">
      <a:defRPr sz="1200" kern="1200">
        <a:solidFill>
          <a:schemeClr val="tx1"/>
        </a:solidFill>
        <a:latin typeface="+mn-lt"/>
        <a:ea typeface="+mn-ea"/>
        <a:cs typeface="+mn-cs"/>
      </a:defRPr>
    </a:lvl7pPr>
    <a:lvl8pPr marL="3200195" algn="l" defTabSz="914342" rtl="0" eaLnBrk="1" latinLnBrk="0" hangingPunct="1">
      <a:defRPr sz="1200" kern="1200">
        <a:solidFill>
          <a:schemeClr val="tx1"/>
        </a:solidFill>
        <a:latin typeface="+mn-lt"/>
        <a:ea typeface="+mn-ea"/>
        <a:cs typeface="+mn-cs"/>
      </a:defRPr>
    </a:lvl8pPr>
    <a:lvl9pPr marL="3657366" algn="l" defTabSz="9143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r>
              <a:rPr lang="en-GB" dirty="0"/>
              <a:t>To be picked from</a:t>
            </a:r>
            <a:r>
              <a:rPr lang="en-GB" baseline="0" dirty="0"/>
              <a:t> https://consulting.deloitteresources.com/brand/Pages/Imagery.aspx</a:t>
            </a:r>
          </a:p>
          <a:p>
            <a:r>
              <a:rPr lang="en-GB" dirty="0"/>
              <a:t>https://brandspace.deloitte.com/content/index/guid/image_library?search_term=&amp;list_size=25&amp;assettag%5B16%5D%5B%5D=43&amp;assettag%5B19%5D%5B%5D=50</a:t>
            </a:r>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dirty="0"/>
          </a:p>
        </p:txBody>
      </p:sp>
    </p:spTree>
    <p:extLst>
      <p:ext uri="{BB962C8B-B14F-4D97-AF65-F5344CB8AC3E}">
        <p14:creationId xmlns:p14="http://schemas.microsoft.com/office/powerpoint/2010/main" val="3860582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4478D6-6C8A-4DF4-86AB-6503E81A3DFC}" type="slidenum">
              <a:rPr lang="en-US" smtClean="0"/>
              <a:t>67</a:t>
            </a:fld>
            <a:endParaRPr lang="en-US"/>
          </a:p>
        </p:txBody>
      </p:sp>
    </p:spTree>
    <p:extLst>
      <p:ext uri="{BB962C8B-B14F-4D97-AF65-F5344CB8AC3E}">
        <p14:creationId xmlns:p14="http://schemas.microsoft.com/office/powerpoint/2010/main" val="3976731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4478D6-6C8A-4DF4-86AB-6503E81A3DFC}" type="slidenum">
              <a:rPr lang="en-US" smtClean="0"/>
              <a:t>69</a:t>
            </a:fld>
            <a:endParaRPr lang="en-US"/>
          </a:p>
        </p:txBody>
      </p:sp>
    </p:spTree>
    <p:extLst>
      <p:ext uri="{BB962C8B-B14F-4D97-AF65-F5344CB8AC3E}">
        <p14:creationId xmlns:p14="http://schemas.microsoft.com/office/powerpoint/2010/main" val="1756164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63892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342"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342" rtl="0" eaLnBrk="1" fontAlgn="auto" latinLnBrk="0" hangingPunct="1">
                <a:lnSpc>
                  <a:spcPct val="100000"/>
                </a:lnSpc>
                <a:spcBef>
                  <a:spcPts val="0"/>
                </a:spcBef>
                <a:spcAft>
                  <a:spcPts val="0"/>
                </a:spcAft>
                <a:buClrTx/>
                <a:buSzTx/>
                <a:buFontTx/>
                <a:buNone/>
                <a:tabLst/>
                <a:defRPr/>
              </a:pPr>
              <a:t>99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89349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342"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342" rtl="0" eaLnBrk="1" fontAlgn="auto" latinLnBrk="0" hangingPunct="1">
                <a:lnSpc>
                  <a:spcPct val="100000"/>
                </a:lnSpc>
                <a:spcBef>
                  <a:spcPts val="0"/>
                </a:spcBef>
                <a:spcAft>
                  <a:spcPts val="0"/>
                </a:spcAft>
                <a:buClrTx/>
                <a:buSzTx/>
                <a:buFontTx/>
                <a:buNone/>
                <a:tabLst/>
                <a:defRPr/>
              </a:pPr>
              <a:t>100</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088030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831298-3354-461E-8A08-CECE510DEEBF}" type="slidenum">
              <a:rPr lang="en-US" smtClean="0"/>
              <a:t>101</a:t>
            </a:fld>
            <a:endParaRPr lang="en-US"/>
          </a:p>
        </p:txBody>
      </p:sp>
    </p:spTree>
    <p:extLst>
      <p:ext uri="{BB962C8B-B14F-4D97-AF65-F5344CB8AC3E}">
        <p14:creationId xmlns:p14="http://schemas.microsoft.com/office/powerpoint/2010/main" val="14465742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7115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342"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342" rtl="0" eaLnBrk="1" fontAlgn="auto" latinLnBrk="0" hangingPunct="1">
                <a:lnSpc>
                  <a:spcPct val="100000"/>
                </a:lnSpc>
                <a:spcBef>
                  <a:spcPts val="0"/>
                </a:spcBef>
                <a:spcAft>
                  <a:spcPts val="0"/>
                </a:spcAft>
                <a:buClrTx/>
                <a:buSzTx/>
                <a:buFontTx/>
                <a:buNone/>
                <a:tabLst/>
                <a:defRPr/>
              </a:pPr>
              <a:t>110</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670266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831298-3354-461E-8A08-CECE510DEEBF}" type="slidenum">
              <a:rPr lang="en-US" smtClean="0"/>
              <a:t>113</a:t>
            </a:fld>
            <a:endParaRPr lang="en-US"/>
          </a:p>
        </p:txBody>
      </p:sp>
    </p:spTree>
    <p:extLst>
      <p:ext uri="{BB962C8B-B14F-4D97-AF65-F5344CB8AC3E}">
        <p14:creationId xmlns:p14="http://schemas.microsoft.com/office/powerpoint/2010/main" val="20840107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831298-3354-461E-8A08-CECE510DEEBF}" type="slidenum">
              <a:rPr lang="en-US" smtClean="0"/>
              <a:t>114</a:t>
            </a:fld>
            <a:endParaRPr lang="en-US"/>
          </a:p>
        </p:txBody>
      </p:sp>
    </p:spTree>
    <p:extLst>
      <p:ext uri="{BB962C8B-B14F-4D97-AF65-F5344CB8AC3E}">
        <p14:creationId xmlns:p14="http://schemas.microsoft.com/office/powerpoint/2010/main" val="24507509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831298-3354-461E-8A08-CECE510DEEBF}" type="slidenum">
              <a:rPr lang="en-US" smtClean="0"/>
              <a:t>115</a:t>
            </a:fld>
            <a:endParaRPr lang="en-US"/>
          </a:p>
        </p:txBody>
      </p:sp>
    </p:spTree>
    <p:extLst>
      <p:ext uri="{BB962C8B-B14F-4D97-AF65-F5344CB8AC3E}">
        <p14:creationId xmlns:p14="http://schemas.microsoft.com/office/powerpoint/2010/main" val="11755091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831298-3354-461E-8A08-CECE510DEEBF}" type="slidenum">
              <a:rPr lang="en-US" smtClean="0"/>
              <a:t>116</a:t>
            </a:fld>
            <a:endParaRPr lang="en-US"/>
          </a:p>
        </p:txBody>
      </p:sp>
    </p:spTree>
    <p:extLst>
      <p:ext uri="{BB962C8B-B14F-4D97-AF65-F5344CB8AC3E}">
        <p14:creationId xmlns:p14="http://schemas.microsoft.com/office/powerpoint/2010/main" val="19804564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831298-3354-461E-8A08-CECE510DEEBF}" type="slidenum">
              <a:rPr lang="en-US" smtClean="0"/>
              <a:t>117</a:t>
            </a:fld>
            <a:endParaRPr lang="en-US"/>
          </a:p>
        </p:txBody>
      </p:sp>
    </p:spTree>
    <p:extLst>
      <p:ext uri="{BB962C8B-B14F-4D97-AF65-F5344CB8AC3E}">
        <p14:creationId xmlns:p14="http://schemas.microsoft.com/office/powerpoint/2010/main" val="11675900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52498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58123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369012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6083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47375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07654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79484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23161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15192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497006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75282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31298-3354-461E-8A08-CECE510DEE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78930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95698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marL="0" marR="0" lvl="0" indent="0" algn="r" defTabSz="1233427"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33427" rtl="0" eaLnBrk="1" fontAlgn="auto" latinLnBrk="0" hangingPunct="1">
                <a:lnSpc>
                  <a:spcPct val="100000"/>
                </a:lnSpc>
                <a:spcBef>
                  <a:spcPts val="0"/>
                </a:spcBef>
                <a:spcAft>
                  <a:spcPts val="0"/>
                </a:spcAft>
                <a:buClrTx/>
                <a:buSzTx/>
                <a:buFontTx/>
                <a:buNone/>
                <a:tabLst/>
                <a:defRPr/>
              </a:pPr>
              <a:t>169</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295525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1228876"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1228876" rtl="0" eaLnBrk="1" fontAlgn="auto" latinLnBrk="0" hangingPunct="1">
                <a:lnSpc>
                  <a:spcPct val="100000"/>
                </a:lnSpc>
                <a:spcBef>
                  <a:spcPts val="0"/>
                </a:spcBef>
                <a:spcAft>
                  <a:spcPts val="0"/>
                </a:spcAft>
                <a:buClrTx/>
                <a:buSzTx/>
                <a:buFontTx/>
                <a:buNone/>
                <a:tabLst/>
                <a:defRPr/>
              </a:pPr>
              <a:t>170</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5994409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6.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vmlDrawing" Target="../drawings/vmlDrawing3.vml"/><Relationship Id="rId5" Type="http://schemas.openxmlformats.org/officeDocument/2006/relationships/image" Target="../media/image8.emf"/><Relationship Id="rId4" Type="http://schemas.openxmlformats.org/officeDocument/2006/relationships/oleObject" Target="../embeddings/oleObject3.bin"/></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bin"/><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vmlDrawing" Target="../drawings/vmlDrawing5.vml"/><Relationship Id="rId5" Type="http://schemas.openxmlformats.org/officeDocument/2006/relationships/image" Target="../media/image8.emf"/><Relationship Id="rId4" Type="http://schemas.openxmlformats.org/officeDocument/2006/relationships/oleObject" Target="../embeddings/oleObject5.bin"/></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vmlDrawing" Target="../drawings/vmlDrawing6.vml"/><Relationship Id="rId5" Type="http://schemas.openxmlformats.org/officeDocument/2006/relationships/image" Target="../media/image8.emf"/><Relationship Id="rId4" Type="http://schemas.openxmlformats.org/officeDocument/2006/relationships/oleObject" Target="../embeddings/oleObject6.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3601788" y="1066768"/>
            <a:ext cx="4988426" cy="4724464"/>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1" y="5791233"/>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231"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marL="0" marR="0" lvl="1" indent="0" algn="l" defTabSz="1219231"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spTree>
    <p:extLst>
      <p:ext uri="{BB962C8B-B14F-4D97-AF65-F5344CB8AC3E}">
        <p14:creationId xmlns:p14="http://schemas.microsoft.com/office/powerpoint/2010/main" val="23722059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8"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dirty="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400" b="1">
                <a:solidFill>
                  <a:schemeClr val="tx1"/>
                </a:solidFill>
              </a:defRPr>
            </a:lvl1pPr>
            <a:lvl2pPr marL="0" indent="0" algn="l">
              <a:buNone/>
              <a:defRPr sz="2134" b="0"/>
            </a:lvl2pPr>
            <a:lvl3pPr marL="1219231" indent="0" algn="ctr">
              <a:buNone/>
              <a:defRPr sz="2400"/>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grpSp>
    </p:spTree>
    <p:extLst>
      <p:ext uri="{BB962C8B-B14F-4D97-AF65-F5344CB8AC3E}">
        <p14:creationId xmlns:p14="http://schemas.microsoft.com/office/powerpoint/2010/main" val="882068736"/>
      </p:ext>
    </p:extLst>
  </p:cSld>
  <p:clrMapOvr>
    <a:masterClrMapping/>
  </p:clrMapOvr>
  <p:transition>
    <p:fade/>
  </p:transition>
  <p:extLst>
    <p:ext uri="{DCECCB84-F9BA-43D5-87BE-67443E8EF086}">
      <p15:sldGuideLst xmlns:p15="http://schemas.microsoft.com/office/powerpoint/2012/main">
        <p15:guide id="1" orient="horz" pos="463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7"/>
            <a:ext cx="12192000" cy="6007753"/>
          </a:xfrm>
        </p:spPr>
        <p:txBody>
          <a:bodyPr/>
          <a:lstStyle/>
          <a:p>
            <a:endParaRPr lang="en-US" dirty="0"/>
          </a:p>
        </p:txBody>
      </p:sp>
      <p:grpSp>
        <p:nvGrpSpPr>
          <p:cNvPr id="9" name="Group 8"/>
          <p:cNvGrpSpPr/>
          <p:nvPr userDrawn="1"/>
        </p:nvGrpSpPr>
        <p:grpSpPr>
          <a:xfrm>
            <a:off x="0" y="4629685"/>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grpSp>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
        <p:nvSpPr>
          <p:cNvPr id="12" name="TextBox 11"/>
          <p:cNvSpPr txBox="1"/>
          <p:nvPr userDrawn="1"/>
        </p:nvSpPr>
        <p:spPr>
          <a:xfrm>
            <a:off x="5843374" y="6501537"/>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dirty="0">
                <a:solidFill>
                  <a:prstClr val="white"/>
                </a:solidFill>
              </a:rPr>
              <a:t>Presentation on Supply, Implementation and Maintenance of an ERP solution to Hirdaramani Group</a:t>
            </a:r>
            <a:endParaRPr lang="fr-FR" sz="867" dirty="0">
              <a:solidFill>
                <a:prstClr val="white"/>
              </a:solidFill>
            </a:endParaRPr>
          </a:p>
        </p:txBody>
      </p:sp>
    </p:spTree>
    <p:extLst>
      <p:ext uri="{BB962C8B-B14F-4D97-AF65-F5344CB8AC3E}">
        <p14:creationId xmlns:p14="http://schemas.microsoft.com/office/powerpoint/2010/main" val="3519907682"/>
      </p:ext>
    </p:extLst>
  </p:cSld>
  <p:clrMapOvr>
    <a:masterClrMapping/>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3256207203"/>
      </p:ext>
    </p:extLst>
  </p:cSld>
  <p:clrMapOvr>
    <a:masterClrMapping/>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800188973"/>
      </p:ext>
    </p:extLst>
  </p:cSld>
  <p:clrMapOvr>
    <a:masterClrMapping/>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sz="1941">
                <a:latin typeface="+mj-lt"/>
              </a:defRPr>
            </a:lvl1pPr>
          </a:lstStyle>
          <a:p>
            <a:r>
              <a:rPr lang="en-US" noProof="0" dirty="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33939154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1500"/>
            </a:lvl1pPr>
          </a:lstStyle>
          <a:p>
            <a:r>
              <a:rPr lang="en-GB" noProof="0" dirty="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dirty="0"/>
              <a:t>Click to add subtitle</a:t>
            </a:r>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6729406" algn="r"/>
              </a:tabLst>
              <a:defRPr/>
            </a:lvl1pPr>
            <a:lvl2pPr>
              <a:tabLst>
                <a:tab pos="6729406" algn="r"/>
              </a:tabLst>
              <a:defRPr/>
            </a:lvl2pPr>
            <a:lvl3pPr>
              <a:tabLst>
                <a:tab pos="6729406" algn="r"/>
              </a:tabLst>
              <a:defRPr/>
            </a:lvl3pPr>
            <a:lvl4pPr>
              <a:tabLst>
                <a:tab pos="6729406" algn="r"/>
              </a:tabLst>
              <a:defRPr/>
            </a:lvl4pPr>
            <a:lvl5pPr>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Footer Placeholder 1"/>
          <p:cNvSpPr>
            <a:spLocks noGrp="1"/>
          </p:cNvSpPr>
          <p:nvPr>
            <p:ph type="ftr" sz="quarter" idx="14"/>
          </p:nvPr>
        </p:nvSpPr>
        <p:spPr/>
        <p:txBody>
          <a:bodyPr/>
          <a:lstStyle/>
          <a:p>
            <a:endParaRPr lang="en-GB" dirty="0">
              <a:solidFill>
                <a:srgbClr val="000000"/>
              </a:solidFill>
            </a:endParaRPr>
          </a:p>
        </p:txBody>
      </p:sp>
    </p:spTree>
    <p:extLst>
      <p:ext uri="{BB962C8B-B14F-4D97-AF65-F5344CB8AC3E}">
        <p14:creationId xmlns:p14="http://schemas.microsoft.com/office/powerpoint/2010/main" val="122323089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©2018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484114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8063039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30224162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604519466"/>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495909434"/>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44703947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8" name="TextBox 7"/>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9" name="TextBox 8"/>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5320815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44761870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21" name="TextBox 20"/>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2" name="TextBox 21"/>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23548353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97647450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24062041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1" y="1665289"/>
            <a:ext cx="4431857" cy="4633913"/>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459137549"/>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394754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354264943"/>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490382625"/>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1914980"/>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9" name="TextBox 18"/>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0" name="TextBox 19"/>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79534154"/>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7452822"/>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1"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8"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4" y="1851443"/>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1" y="1851443"/>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7" y="1851443"/>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836064133"/>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256735680"/>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Box 12"/>
          <p:cNvSpPr txBox="1"/>
          <p:nvPr userDrawn="1"/>
        </p:nvSpPr>
        <p:spPr>
          <a:xfrm>
            <a:off x="6335184" y="6477003"/>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501654"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11382379"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21366493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211" indent="0" algn="ctr">
              <a:buNone/>
              <a:defRPr>
                <a:solidFill>
                  <a:schemeClr val="tx1">
                    <a:tint val="75000"/>
                  </a:schemeClr>
                </a:solidFill>
              </a:defRPr>
            </a:lvl2pPr>
            <a:lvl3pPr marL="914422" indent="0" algn="ctr">
              <a:buNone/>
              <a:defRPr>
                <a:solidFill>
                  <a:schemeClr val="tx1">
                    <a:tint val="75000"/>
                  </a:schemeClr>
                </a:solidFill>
              </a:defRPr>
            </a:lvl3pPr>
            <a:lvl4pPr marL="1371633" indent="0" algn="ctr">
              <a:buNone/>
              <a:defRPr>
                <a:solidFill>
                  <a:schemeClr val="tx1">
                    <a:tint val="75000"/>
                  </a:schemeClr>
                </a:solidFill>
              </a:defRPr>
            </a:lvl4pPr>
            <a:lvl5pPr marL="1828844" indent="0" algn="ctr">
              <a:buNone/>
              <a:defRPr>
                <a:solidFill>
                  <a:schemeClr val="tx1">
                    <a:tint val="75000"/>
                  </a:schemeClr>
                </a:solidFill>
              </a:defRPr>
            </a:lvl5pPr>
            <a:lvl6pPr marL="2286055" indent="0" algn="ctr">
              <a:buNone/>
              <a:defRPr>
                <a:solidFill>
                  <a:schemeClr val="tx1">
                    <a:tint val="75000"/>
                  </a:schemeClr>
                </a:solidFill>
              </a:defRPr>
            </a:lvl6pPr>
            <a:lvl7pPr marL="2743266" indent="0" algn="ctr">
              <a:buNone/>
              <a:defRPr>
                <a:solidFill>
                  <a:schemeClr val="tx1">
                    <a:tint val="75000"/>
                  </a:schemeClr>
                </a:solidFill>
              </a:defRPr>
            </a:lvl7pPr>
            <a:lvl8pPr marL="3200476" indent="0" algn="ctr">
              <a:buNone/>
              <a:defRPr>
                <a:solidFill>
                  <a:schemeClr val="tx1">
                    <a:tint val="75000"/>
                  </a:schemeClr>
                </a:solidFill>
              </a:defRPr>
            </a:lvl8pPr>
            <a:lvl9pPr marL="3657687"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0"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dirty="0"/>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2019.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09127380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22"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n-US" noProof="0" dirty="0"/>
              <a:t>Click to edit Master title style</a:t>
            </a:r>
          </a:p>
          <a:p>
            <a:pPr marL="0" marR="0" lvl="1" indent="0" algn="l" defTabSz="914422"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grpSp>
    </p:spTree>
    <p:extLst>
      <p:ext uri="{BB962C8B-B14F-4D97-AF65-F5344CB8AC3E}">
        <p14:creationId xmlns:p14="http://schemas.microsoft.com/office/powerpoint/2010/main" val="6514415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
        <p:nvSpPr>
          <p:cNvPr id="3" name="TextBox 2">
            <a:extLst>
              <a:ext uri="{FF2B5EF4-FFF2-40B4-BE49-F238E27FC236}">
                <a16:creationId xmlns:a16="http://schemas.microsoft.com/office/drawing/2014/main" id="{BEC5FB2D-51C4-446B-B46B-3B301738D071}"/>
              </a:ext>
            </a:extLst>
          </p:cNvPr>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4" name="TextBox 3">
            <a:extLst>
              <a:ext uri="{FF2B5EF4-FFF2-40B4-BE49-F238E27FC236}">
                <a16:creationId xmlns:a16="http://schemas.microsoft.com/office/drawing/2014/main" id="{2DCDCA34-5067-4E2C-9834-B642B8C03FF8}"/>
              </a:ext>
            </a:extLst>
          </p:cNvPr>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2226598454"/>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spid="_x0000_s2104" name="think-cell Slide" r:id="rId5" imgW="470" imgH="469" progId="TCLayout.ActiveDocument.1">
                  <p:embed/>
                </p:oleObj>
              </mc:Choice>
              <mc:Fallback>
                <p:oleObj name="think-cell Slide" r:id="rId5" imgW="470" imgH="469" progId="TCLayout.ActiveDocument.1">
                  <p:embed/>
                  <p:pic>
                    <p:nvPicPr>
                      <p:cNvPr id="3" name="Object 2" hidden="1"/>
                      <p:cNvPicPr/>
                      <p:nvPr/>
                    </p:nvPicPr>
                    <p:blipFill>
                      <a:blip r:embed="rId6"/>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7" y="1700213"/>
            <a:ext cx="6117233" cy="4598988"/>
          </a:xfrm>
        </p:spPr>
        <p:txBody>
          <a:bodyPr/>
          <a:lstStyle/>
          <a:p>
            <a:r>
              <a:rPr lang="en-US" noProof="0" dirty="0"/>
              <a:t>Drag picture to placeholder or click icon to add</a:t>
            </a:r>
          </a:p>
        </p:txBody>
      </p:sp>
      <p:sp>
        <p:nvSpPr>
          <p:cNvPr id="6" name="Content Placeholder 3"/>
          <p:cNvSpPr>
            <a:spLocks noGrp="1"/>
          </p:cNvSpPr>
          <p:nvPr>
            <p:ph sz="quarter" idx="10"/>
          </p:nvPr>
        </p:nvSpPr>
        <p:spPr>
          <a:xfrm>
            <a:off x="469902" y="1665291"/>
            <a:ext cx="4333663" cy="4633911"/>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dirty="0"/>
              <a:t>Click to edit Master title style</a:t>
            </a:r>
          </a:p>
        </p:txBody>
      </p:sp>
    </p:spTree>
    <p:extLst>
      <p:ext uri="{BB962C8B-B14F-4D97-AF65-F5344CB8AC3E}">
        <p14:creationId xmlns:p14="http://schemas.microsoft.com/office/powerpoint/2010/main" val="414210609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2"/>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2"/>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2" y="1665291"/>
            <a:ext cx="4456429" cy="4716463"/>
          </a:xfrm>
          <a:prstGeom prst="rect">
            <a:avLst/>
          </a:prstGeom>
        </p:spPr>
        <p:txBody>
          <a:bodyPr/>
          <a:lstStyle>
            <a:lvl1pPr>
              <a:tabLst>
                <a:tab pos="5029320" algn="r"/>
              </a:tabLst>
              <a:defRPr/>
            </a:lvl1pPr>
            <a:lvl2pPr>
              <a:tabLst>
                <a:tab pos="5029320" algn="r"/>
              </a:tabLst>
              <a:defRPr/>
            </a:lvl2pPr>
            <a:lvl3pPr>
              <a:tabLst>
                <a:tab pos="5029320" algn="r"/>
              </a:tabLst>
              <a:defRPr/>
            </a:lvl3pPr>
            <a:lvl4pPr>
              <a:tabLst>
                <a:tab pos="5029320" algn="r"/>
              </a:tabLst>
              <a:defRPr/>
            </a:lvl4pPr>
            <a:lvl5pPr>
              <a:tabLst>
                <a:tab pos="502932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604650941"/>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69902" y="1665292"/>
            <a:ext cx="9348787" cy="4633910"/>
          </a:xfrm>
          <a:prstGeom prst="rect">
            <a:avLst/>
          </a:prstGeom>
        </p:spPr>
        <p:txBody>
          <a:bodyPr/>
          <a:lstStyle>
            <a:lvl1pPr>
              <a:tabLst>
                <a:tab pos="8972541" algn="r"/>
              </a:tabLst>
              <a:defRPr/>
            </a:lvl1pPr>
            <a:lvl2pPr>
              <a:tabLst>
                <a:tab pos="8972541" algn="r"/>
              </a:tabLst>
              <a:defRPr/>
            </a:lvl2pPr>
            <a:lvl3pPr>
              <a:tabLst>
                <a:tab pos="8972541" algn="r"/>
              </a:tabLst>
              <a:defRPr/>
            </a:lvl3pPr>
            <a:lvl4pPr>
              <a:tabLst>
                <a:tab pos="8972541" algn="r"/>
              </a:tabLst>
              <a:defRPr/>
            </a:lvl4pPr>
            <a:lvl5pPr>
              <a:tabLst>
                <a:tab pos="6705592" algn="r"/>
              </a:tabLst>
              <a:defRPr baseline="0"/>
            </a:lvl5pPr>
            <a:lvl6pPr marL="475200" indent="0">
              <a:buNone/>
              <a:tabLst>
                <a:tab pos="8972541" algn="r"/>
              </a:tabLst>
              <a:defRPr/>
            </a:lvl6pPr>
            <a:lvl7pPr>
              <a:tabLst>
                <a:tab pos="8972541" algn="r"/>
              </a:tabLst>
              <a:defRPr/>
            </a:lvl7pPr>
            <a:lvl8pPr>
              <a:tabLst>
                <a:tab pos="8972541" algn="r"/>
              </a:tabLst>
              <a:defRPr/>
            </a:lvl8pPr>
            <a:lvl9pPr>
              <a:tabLst>
                <a:tab pos="8972541" algn="r"/>
              </a:tabLst>
              <a:defRPr/>
            </a:lvl9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678503751"/>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76404"/>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1216339411"/>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8"/>
            <a:ext cx="11252200" cy="410433"/>
          </a:xfrm>
        </p:spPr>
        <p:txBody>
          <a:bodyPr>
            <a:spAutoFit/>
          </a:bodyPr>
          <a:lstStyle/>
          <a:p>
            <a:r>
              <a:rPr lang="en-US"/>
              <a:t>Click to edit Master title style</a:t>
            </a:r>
            <a:endParaRPr lang="en-US" dirty="0"/>
          </a:p>
        </p:txBody>
      </p:sp>
      <p:sp>
        <p:nvSpPr>
          <p:cNvPr id="8" name="Text Placeholder 7"/>
          <p:cNvSpPr>
            <a:spLocks noGrp="1"/>
          </p:cNvSpPr>
          <p:nvPr>
            <p:ph type="body" sz="quarter" idx="11"/>
          </p:nvPr>
        </p:nvSpPr>
        <p:spPr bwMode="gray">
          <a:xfrm>
            <a:off x="552451" y="779466"/>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2786527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2" y="317502"/>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dirty="0"/>
              <a:t>Click to add title</a:t>
            </a:r>
          </a:p>
        </p:txBody>
      </p:sp>
    </p:spTree>
    <p:extLst>
      <p:ext uri="{BB962C8B-B14F-4D97-AF65-F5344CB8AC3E}">
        <p14:creationId xmlns:p14="http://schemas.microsoft.com/office/powerpoint/2010/main" val="2743589401"/>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940952472"/>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16">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5" lvl="0" indent="-228605">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5" lvl="0" indent="-228605"/>
            <a:r>
              <a:rPr lang="en-US" dirty="0"/>
              <a:t>BREADCRUMBS</a:t>
            </a:r>
          </a:p>
        </p:txBody>
      </p:sp>
    </p:spTree>
    <p:extLst>
      <p:ext uri="{BB962C8B-B14F-4D97-AF65-F5344CB8AC3E}">
        <p14:creationId xmlns:p14="http://schemas.microsoft.com/office/powerpoint/2010/main" val="23428849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1">
                <a:solidFill>
                  <a:schemeClr val="bg1"/>
                </a:solidFill>
                <a:latin typeface="Verdana"/>
                <a:cs typeface="Verdana"/>
              </a:defRPr>
            </a:lvl1pPr>
          </a:lstStyle>
          <a:p>
            <a:endParaRPr lang="en-GB" dirty="0"/>
          </a:p>
        </p:txBody>
      </p:sp>
      <p:sp>
        <p:nvSpPr>
          <p:cNvPr id="3" name="Holder 3"/>
          <p:cNvSpPr>
            <a:spLocks noGrp="1"/>
          </p:cNvSpPr>
          <p:nvPr>
            <p:ph type="body" idx="1"/>
          </p:nvPr>
        </p:nvSpPr>
        <p:spPr/>
        <p:txBody>
          <a:bodyPr lIns="0" tIns="0" rIns="0" bIns="0"/>
          <a:lstStyle>
            <a:lvl1pPr>
              <a:defRPr sz="2000" b="0" i="0">
                <a:solidFill>
                  <a:srgbClr val="2C5234"/>
                </a:solidFill>
                <a:latin typeface="Verdana"/>
                <a:cs typeface="Verdana"/>
              </a:defRPr>
            </a:lvl1pPr>
          </a:lstStyle>
          <a:p>
            <a:endParaRPr lang="en-GB" dirty="0"/>
          </a:p>
        </p:txBody>
      </p:sp>
      <p:sp>
        <p:nvSpPr>
          <p:cNvPr id="4" name="Holder 4"/>
          <p:cNvSpPr>
            <a:spLocks noGrp="1"/>
          </p:cNvSpPr>
          <p:nvPr>
            <p:ph type="ftr" sz="quarter" idx="5"/>
          </p:nvPr>
        </p:nvSpPr>
        <p:spPr>
          <a:xfrm>
            <a:off x="4145280" y="6377940"/>
            <a:ext cx="3901440" cy="342900"/>
          </a:xfrm>
          <a:prstGeom prst="rect">
            <a:avLst/>
          </a:prstGeom>
        </p:spPr>
        <p:txBody>
          <a:bodyPr lIns="0" tIns="0" rIns="0" bIns="0"/>
          <a:lstStyle>
            <a:lvl1pPr algn="ctr">
              <a:defRPr>
                <a:solidFill>
                  <a:schemeClr val="tx1">
                    <a:tint val="75000"/>
                  </a:schemeClr>
                </a:solidFill>
              </a:defRPr>
            </a:lvl1pPr>
          </a:lstStyle>
          <a:p>
            <a:endParaRPr lang="en-GB"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GB" smtClean="0"/>
              <a:t>30/06/2022</a:t>
            </a:fld>
            <a:endParaRPr lang="en-GB" dirty="0"/>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lang="en-GB" smtClean="0"/>
              <a:t>‹#›</a:t>
            </a:fld>
            <a:endParaRPr lang="en-GB" dirty="0"/>
          </a:p>
        </p:txBody>
      </p:sp>
    </p:spTree>
    <p:extLst>
      <p:ext uri="{BB962C8B-B14F-4D97-AF65-F5344CB8AC3E}">
        <p14:creationId xmlns:p14="http://schemas.microsoft.com/office/powerpoint/2010/main" val="12186418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6"/>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dirty="0"/>
              <a:t>Click to edit Master title style</a:t>
            </a:r>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lvl1pPr marL="0" indent="0" algn="l">
              <a:buFontTx/>
              <a:buNone/>
              <a:defRPr/>
            </a:lvl1pPr>
            <a:lvl2pPr marL="126997" indent="-126997" algn="l">
              <a:buClrTx/>
              <a:buSzPct val="100000"/>
              <a:buFont typeface="Arial" panose="020B0604020202020204" pitchFamily="34" charset="0"/>
              <a:buChar char="•"/>
              <a:defRPr/>
            </a:lvl2pPr>
            <a:lvl3pPr marL="279393" indent="-126997" algn="l">
              <a:buClrTx/>
              <a:buSzPct val="100000"/>
              <a:buFont typeface="Arial" panose="020B0604020202020204" pitchFamily="34" charset="0"/>
              <a:buChar char="−"/>
              <a:defRPr/>
            </a:lvl3pPr>
            <a:lvl4pPr marL="431789" indent="-126997" algn="l">
              <a:buClrTx/>
              <a:buSzPct val="100000"/>
              <a:buFont typeface="Arial" panose="020B0604020202020204" pitchFamily="34" charset="0"/>
              <a:buChar char="◦"/>
              <a:defRPr/>
            </a:lvl4pPr>
            <a:lvl5pPr marL="584185" indent="-126997"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755658993"/>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2014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2014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425205788"/>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2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rm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1167417395"/>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89D248-2687-458D-9C3F-AAAD1C88D05C}" type="datetimeFigureOut">
              <a:rPr lang="en-IN" smtClean="0"/>
              <a:t>30-06-2022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CF7345D-F4EF-4EF0-B60C-AA03B339D3BA}" type="slidenum">
              <a:rPr lang="en-IN" smtClean="0"/>
              <a:t>‹#›</a:t>
            </a:fld>
            <a:endParaRPr lang="en-IN"/>
          </a:p>
        </p:txBody>
      </p:sp>
    </p:spTree>
    <p:extLst>
      <p:ext uri="{BB962C8B-B14F-4D97-AF65-F5344CB8AC3E}">
        <p14:creationId xmlns:p14="http://schemas.microsoft.com/office/powerpoint/2010/main" val="17599576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1234567890">
    <p:spTree>
      <p:nvGrpSpPr>
        <p:cNvPr id="1" name=""/>
        <p:cNvGrpSpPr/>
        <p:nvPr/>
      </p:nvGrpSpPr>
      <p:grpSpPr>
        <a:xfrm>
          <a:off x="0" y="0"/>
          <a:ext cx="0" cy="0"/>
          <a:chOff x="0" y="0"/>
          <a:chExt cx="0" cy="0"/>
        </a:xfrm>
      </p:grpSpPr>
      <p:graphicFrame>
        <p:nvGraphicFramePr>
          <p:cNvPr id="6" name="Object 7"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7048" name="think-cell Slide" r:id="rId4" imgW="530" imgH="531" progId="TCLayout.ActiveDocument.1">
                  <p:embed/>
                </p:oleObj>
              </mc:Choice>
              <mc:Fallback>
                <p:oleObj name="think-cell Slide" r:id="rId4" imgW="530" imgH="531" progId="TCLayout.ActiveDocument.1">
                  <p:embed/>
                  <p:pic>
                    <p:nvPicPr>
                      <p:cNvPr id="6" name="Object 7"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 Placeholder 8"/>
          <p:cNvSpPr>
            <a:spLocks noGrp="1"/>
          </p:cNvSpPr>
          <p:nvPr>
            <p:ph type="body" sz="quarter" idx="13"/>
          </p:nvPr>
        </p:nvSpPr>
        <p:spPr>
          <a:xfrm>
            <a:off x="501651" y="651601"/>
            <a:ext cx="11162350" cy="757255"/>
          </a:xfrm>
          <a:prstGeom prst="rect">
            <a:avLst/>
          </a:prstGeom>
        </p:spPr>
        <p:txBody>
          <a:bodyPr>
            <a:noAutofit/>
          </a:bodyPr>
          <a:lstStyle>
            <a:lvl1pPr marL="0" indent="0">
              <a:buNone/>
              <a:defRPr sz="1588" b="0">
                <a:solidFill>
                  <a:srgbClr val="575757"/>
                </a:solidFill>
                <a:latin typeface="+mj-lt"/>
              </a:defRPr>
            </a:lvl1pPr>
          </a:lstStyle>
          <a:p>
            <a:pPr lvl="0"/>
            <a:r>
              <a:rPr lang="en-US" noProof="0"/>
              <a:t>Edit Master text styles</a:t>
            </a:r>
          </a:p>
        </p:txBody>
      </p:sp>
      <p:sp>
        <p:nvSpPr>
          <p:cNvPr id="14" name="Title Placeholder 1"/>
          <p:cNvSpPr>
            <a:spLocks noGrp="1"/>
          </p:cNvSpPr>
          <p:nvPr>
            <p:ph type="title"/>
          </p:nvPr>
        </p:nvSpPr>
        <p:spPr>
          <a:xfrm>
            <a:off x="501651" y="317500"/>
            <a:ext cx="11162350" cy="334101"/>
          </a:xfrm>
          <a:prstGeom prst="rect">
            <a:avLst/>
          </a:prstGeom>
        </p:spPr>
        <p:txBody>
          <a:bodyPr/>
          <a:lstStyle>
            <a:lvl1pPr>
              <a:defRPr sz="1941">
                <a:latin typeface="+mj-lt"/>
              </a:defRPr>
            </a:lvl1pPr>
          </a:lstStyle>
          <a:p>
            <a:r>
              <a:rPr lang="en-US" noProof="0" dirty="0"/>
              <a:t>Click to edit Master title style</a:t>
            </a:r>
          </a:p>
        </p:txBody>
      </p:sp>
      <p:sp>
        <p:nvSpPr>
          <p:cNvPr id="8" name="Text Placeholder 18"/>
          <p:cNvSpPr>
            <a:spLocks noGrp="1"/>
          </p:cNvSpPr>
          <p:nvPr>
            <p:ph idx="1"/>
          </p:nvPr>
        </p:nvSpPr>
        <p:spPr>
          <a:xfrm>
            <a:off x="501651" y="1665288"/>
            <a:ext cx="11165417" cy="4713911"/>
          </a:xfrm>
          <a:prstGeom prst="rect">
            <a:avLst/>
          </a:prstGeom>
        </p:spPr>
        <p:txBody>
          <a:bodyPr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p:cNvSpPr>
            <a:spLocks noGrp="1"/>
          </p:cNvSpPr>
          <p:nvPr>
            <p:ph sz="quarter" idx="14" hasCustomPrompt="1"/>
          </p:nvPr>
        </p:nvSpPr>
        <p:spPr>
          <a:xfrm>
            <a:off x="501650" y="-14226"/>
            <a:ext cx="11162351" cy="331726"/>
          </a:xfrm>
        </p:spPr>
        <p:txBody>
          <a:bodyPr anchor="ctr"/>
          <a:lstStyle>
            <a:lvl1pPr>
              <a:defRPr sz="1412" i="1" baseline="0">
                <a:solidFill>
                  <a:schemeClr val="bg1">
                    <a:lumMod val="50000"/>
                  </a:schemeClr>
                </a:solidFill>
              </a:defRPr>
            </a:lvl1pPr>
          </a:lstStyle>
          <a:p>
            <a:pPr lvl="0"/>
            <a:r>
              <a:rPr lang="en-US" dirty="0"/>
              <a:t>Draft for internal review only</a:t>
            </a:r>
          </a:p>
        </p:txBody>
      </p:sp>
    </p:spTree>
    <p:extLst>
      <p:ext uri="{BB962C8B-B14F-4D97-AF65-F5344CB8AC3E}">
        <p14:creationId xmlns:p14="http://schemas.microsoft.com/office/powerpoint/2010/main" val="1657074271"/>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13BE68E-7E26-4520-A69B-80ECD0EE566C}" type="datetimeFigureOut">
              <a:rPr lang="en-IN" smtClean="0"/>
              <a:t>30-06-2022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2E4BD1-D6E2-4350-AF94-E36EED65F159}" type="slidenum">
              <a:rPr lang="en-IN" smtClean="0"/>
              <a:t>‹#›</a:t>
            </a:fld>
            <a:endParaRPr lang="en-IN"/>
          </a:p>
        </p:txBody>
      </p:sp>
    </p:spTree>
    <p:extLst>
      <p:ext uri="{BB962C8B-B14F-4D97-AF65-F5344CB8AC3E}">
        <p14:creationId xmlns:p14="http://schemas.microsoft.com/office/powerpoint/2010/main" val="358458521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Ref idx="1001">
        <a:schemeClr val="bg1"/>
      </p:bgRef>
    </p:bg>
    <p:spTree>
      <p:nvGrpSpPr>
        <p:cNvPr id="1" name=""/>
        <p:cNvGrpSpPr/>
        <p:nvPr/>
      </p:nvGrpSpPr>
      <p:grpSpPr>
        <a:xfrm>
          <a:off x="0" y="0"/>
          <a:ext cx="0" cy="0"/>
          <a:chOff x="0" y="0"/>
          <a:chExt cx="0" cy="0"/>
        </a:xfrm>
      </p:grpSpPr>
      <p:pic>
        <p:nvPicPr>
          <p:cNvPr id="20" name="Background Picture 3"/>
          <p:cNvPicPr>
            <a:picLocks/>
          </p:cNvPicPr>
          <p:nvPr userDrawn="1"/>
        </p:nvPicPr>
        <p:blipFill>
          <a:blip r:embed="rId2">
            <a:extLst>
              <a:ext uri="{28A0092B-C50C-407E-A947-70E740481C1C}">
                <a14:useLocalDpi xmlns:a14="http://schemas.microsoft.com/office/drawing/2010/main"/>
              </a:ext>
            </a:extLst>
          </a:blip>
          <a:stretch>
            <a:fillRect/>
          </a:stretch>
        </p:blipFill>
        <p:spPr>
          <a:xfrm>
            <a:off x="0" y="0"/>
            <a:ext cx="12189600" cy="6858000"/>
          </a:xfrm>
          <a:prstGeom prst="rect">
            <a:avLst/>
          </a:prstGeom>
        </p:spPr>
      </p:pic>
      <p:sp>
        <p:nvSpPr>
          <p:cNvPr id="33" name="Picture Placeholder 8"/>
          <p:cNvSpPr>
            <a:spLocks noGrp="1"/>
          </p:cNvSpPr>
          <p:nvPr>
            <p:ph type="pic" sz="quarter" idx="11"/>
          </p:nvPr>
        </p:nvSpPr>
        <p:spPr>
          <a:xfrm>
            <a:off x="3393716" y="727595"/>
            <a:ext cx="5400000" cy="5400000"/>
          </a:xfrm>
          <a:prstGeom prst="rect">
            <a:avLst/>
          </a:prstGeom>
        </p:spPr>
        <p:txBody>
          <a:bodyPr/>
          <a:lstStyle>
            <a:lvl1pPr>
              <a:defRPr>
                <a:solidFill>
                  <a:schemeClr val="tx1"/>
                </a:solidFill>
              </a:defRPr>
            </a:lvl1pPr>
          </a:lstStyle>
          <a:p>
            <a:r>
              <a:rPr lang="en-GB" noProof="0"/>
              <a:t>Click icon to add picture</a:t>
            </a:r>
            <a:endParaRPr lang="en-GB" noProof="0" dirty="0"/>
          </a:p>
        </p:txBody>
      </p:sp>
      <p:sp>
        <p:nvSpPr>
          <p:cNvPr id="2" name="Title"/>
          <p:cNvSpPr>
            <a:spLocks noGrp="1"/>
          </p:cNvSpPr>
          <p:nvPr>
            <p:ph type="ctrTitle" hasCustomPrompt="1"/>
          </p:nvPr>
        </p:nvSpPr>
        <p:spPr bwMode="gray">
          <a:xfrm>
            <a:off x="475200" y="5480578"/>
            <a:ext cx="5620800" cy="324000"/>
          </a:xfrm>
        </p:spPr>
        <p:txBody>
          <a:bodyPr anchor="b" anchorCtr="0">
            <a:noAutofit/>
          </a:bodyPr>
          <a:lstStyle>
            <a:lvl1pPr algn="l">
              <a:lnSpc>
                <a:spcPct val="100000"/>
              </a:lnSpc>
              <a:defRPr sz="1565" b="1">
                <a:solidFill>
                  <a:schemeClr val="tx1"/>
                </a:solidFill>
                <a:latin typeface="+mj-lt"/>
                <a:ea typeface="Open Sans" panose="020B0606030504020204" pitchFamily="34" charset="0"/>
                <a:cs typeface="Open Sans" panose="020B0606030504020204" pitchFamily="34" charset="0"/>
              </a:defRPr>
            </a:lvl1pPr>
          </a:lstStyle>
          <a:p>
            <a:r>
              <a:rPr lang="en-GB" dirty="0"/>
              <a:t>Presentation  title runs here</a:t>
            </a:r>
            <a:endParaRPr lang="en-GB" noProof="0" dirty="0"/>
          </a:p>
        </p:txBody>
      </p:sp>
      <p:sp>
        <p:nvSpPr>
          <p:cNvPr id="3" name="Subtitle"/>
          <p:cNvSpPr>
            <a:spLocks noGrp="1"/>
          </p:cNvSpPr>
          <p:nvPr>
            <p:ph type="subTitle" idx="1" hasCustomPrompt="1"/>
          </p:nvPr>
        </p:nvSpPr>
        <p:spPr bwMode="gray">
          <a:xfrm>
            <a:off x="475200" y="5845189"/>
            <a:ext cx="5620800" cy="505645"/>
          </a:xfrm>
          <a:prstGeom prst="rect">
            <a:avLst/>
          </a:prstGeom>
        </p:spPr>
        <p:txBody>
          <a:bodyPr lIns="0" tIns="0" rIns="0" bIns="0">
            <a:noAutofit/>
          </a:bodyPr>
          <a:lstStyle>
            <a:lvl1pPr marL="0" indent="0" algn="l">
              <a:lnSpc>
                <a:spcPct val="100000"/>
              </a:lnSpc>
              <a:spcAft>
                <a:spcPts val="0"/>
              </a:spcAft>
              <a:buNone/>
              <a:defRPr sz="1391">
                <a:solidFill>
                  <a:schemeClr val="tx1"/>
                </a:solidFill>
              </a:defRPr>
            </a:lvl1pPr>
            <a:lvl2pPr marL="529900" indent="0" algn="ctr">
              <a:buNone/>
              <a:defRPr sz="2318"/>
            </a:lvl2pPr>
            <a:lvl3pPr marL="1059800" indent="0" algn="ctr">
              <a:buNone/>
              <a:defRPr sz="2086"/>
            </a:lvl3pPr>
            <a:lvl4pPr marL="1589699" indent="0" algn="ctr">
              <a:buNone/>
              <a:defRPr sz="1854"/>
            </a:lvl4pPr>
            <a:lvl5pPr marL="2119598" indent="0" algn="ctr">
              <a:buNone/>
              <a:defRPr sz="1854"/>
            </a:lvl5pPr>
            <a:lvl6pPr marL="2649499" indent="0" algn="ctr">
              <a:buNone/>
              <a:defRPr sz="1854"/>
            </a:lvl6pPr>
            <a:lvl7pPr marL="3179398" indent="0" algn="ctr">
              <a:buNone/>
              <a:defRPr sz="1854"/>
            </a:lvl7pPr>
            <a:lvl8pPr marL="3709298" indent="0" algn="ctr">
              <a:buNone/>
              <a:defRPr sz="1854"/>
            </a:lvl8pPr>
            <a:lvl9pPr marL="4239197" indent="0" algn="ctr">
              <a:buNone/>
              <a:defRPr sz="1854"/>
            </a:lvl9pPr>
          </a:lstStyle>
          <a:p>
            <a:pPr lvl="0"/>
            <a:r>
              <a:rPr lang="en-GB" dirty="0"/>
              <a:t>Subtitle here two lines max</a:t>
            </a:r>
            <a:endParaRPr lang="en-GB"/>
          </a:p>
        </p:txBody>
      </p:sp>
      <p:sp>
        <p:nvSpPr>
          <p:cNvPr id="18" name="SD_ART_Logo_White"/>
          <p:cNvSpPr/>
          <p:nvPr userDrawn="1"/>
        </p:nvSpPr>
        <p:spPr>
          <a:xfrm>
            <a:off x="475439"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65" dirty="0"/>
          </a:p>
        </p:txBody>
      </p:sp>
      <p:pic>
        <p:nvPicPr>
          <p:cNvPr id="678483047" name="LogoFrontSlid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14005" y="504003"/>
            <a:ext cx="1655999" cy="725867"/>
          </a:xfrm>
          <a:prstGeom prst="rect">
            <a:avLst/>
          </a:prstGeom>
        </p:spPr>
      </p:pic>
      <p:sp>
        <p:nvSpPr>
          <p:cNvPr id="4" name="Footer Placeholder 3" hidden="1"/>
          <p:cNvSpPr>
            <a:spLocks noGrp="1"/>
          </p:cNvSpPr>
          <p:nvPr>
            <p:ph type="ftr" sz="quarter" idx="12"/>
          </p:nvPr>
        </p:nvSpPr>
        <p:spPr>
          <a:xfrm>
            <a:off x="6184905" y="6477000"/>
            <a:ext cx="4536727"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324595154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5996"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77282" tIns="77282" rIns="77282" bIns="77282" rtlCol="0" anchor="ctr"/>
          <a:lstStyle/>
          <a:p>
            <a:pPr algn="ctr">
              <a:lnSpc>
                <a:spcPct val="106000"/>
              </a:lnSpc>
              <a:buFont typeface="Wingdings 2" pitchFamily="18" charset="2"/>
              <a:buNone/>
            </a:pPr>
            <a:endParaRPr lang="en-GB" sz="1391" b="1" dirty="0">
              <a:solidFill>
                <a:schemeClr val="tx1"/>
              </a:solidFill>
            </a:endParaRPr>
          </a:p>
        </p:txBody>
      </p:sp>
      <p:sp>
        <p:nvSpPr>
          <p:cNvPr id="18" name="Title 1"/>
          <p:cNvSpPr>
            <a:spLocks noGrp="1"/>
          </p:cNvSpPr>
          <p:nvPr>
            <p:ph type="title"/>
          </p:nvPr>
        </p:nvSpPr>
        <p:spPr bwMode="gray">
          <a:xfrm>
            <a:off x="469905" y="1705672"/>
            <a:ext cx="10418233" cy="1592403"/>
          </a:xfrm>
        </p:spPr>
        <p:txBody>
          <a:bodyPr anchor="b"/>
          <a:lstStyle>
            <a:lvl1pPr>
              <a:lnSpc>
                <a:spcPct val="95000"/>
              </a:lnSpc>
              <a:defRPr sz="3347"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5" y="3429000"/>
            <a:ext cx="10418233" cy="1566532"/>
          </a:xfrm>
        </p:spPr>
        <p:txBody>
          <a:bodyPr lIns="0" tIns="0" rIns="0" bIns="0">
            <a:noAutofit/>
          </a:bodyPr>
          <a:lstStyle>
            <a:lvl1pPr marL="0" indent="0">
              <a:lnSpc>
                <a:spcPct val="95000"/>
              </a:lnSpc>
              <a:spcAft>
                <a:spcPts val="0"/>
              </a:spcAft>
              <a:buNone/>
              <a:defRPr sz="3347">
                <a:solidFill>
                  <a:schemeClr val="tx1"/>
                </a:solidFill>
              </a:defRPr>
            </a:lvl1pPr>
            <a:lvl2pPr marL="529900" indent="0">
              <a:buNone/>
              <a:defRPr sz="2318">
                <a:solidFill>
                  <a:schemeClr val="tx1">
                    <a:tint val="75000"/>
                  </a:schemeClr>
                </a:solidFill>
              </a:defRPr>
            </a:lvl2pPr>
            <a:lvl3pPr marL="1059800" indent="0">
              <a:buNone/>
              <a:defRPr sz="2086">
                <a:solidFill>
                  <a:schemeClr val="tx1">
                    <a:tint val="75000"/>
                  </a:schemeClr>
                </a:solidFill>
              </a:defRPr>
            </a:lvl3pPr>
            <a:lvl4pPr marL="1589699" indent="0">
              <a:buNone/>
              <a:defRPr sz="1854">
                <a:solidFill>
                  <a:schemeClr val="tx1">
                    <a:tint val="75000"/>
                  </a:schemeClr>
                </a:solidFill>
              </a:defRPr>
            </a:lvl4pPr>
            <a:lvl5pPr marL="2119598" indent="0">
              <a:buNone/>
              <a:defRPr sz="1854">
                <a:solidFill>
                  <a:schemeClr val="tx1">
                    <a:tint val="75000"/>
                  </a:schemeClr>
                </a:solidFill>
              </a:defRPr>
            </a:lvl5pPr>
            <a:lvl6pPr marL="2649499" indent="0">
              <a:buNone/>
              <a:defRPr sz="1854">
                <a:solidFill>
                  <a:schemeClr val="tx1">
                    <a:tint val="75000"/>
                  </a:schemeClr>
                </a:solidFill>
              </a:defRPr>
            </a:lvl6pPr>
            <a:lvl7pPr marL="3179398" indent="0">
              <a:buNone/>
              <a:defRPr sz="1854">
                <a:solidFill>
                  <a:schemeClr val="tx1">
                    <a:tint val="75000"/>
                  </a:schemeClr>
                </a:solidFill>
              </a:defRPr>
            </a:lvl7pPr>
            <a:lvl8pPr marL="3709298" indent="0">
              <a:buNone/>
              <a:defRPr sz="1854">
                <a:solidFill>
                  <a:schemeClr val="tx1">
                    <a:tint val="75000"/>
                  </a:schemeClr>
                </a:solidFill>
              </a:defRPr>
            </a:lvl8pPr>
            <a:lvl9pPr marL="4239197" indent="0">
              <a:buNone/>
              <a:defRPr sz="1854">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9" y="6659888"/>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GB" sz="565" noProof="0">
                <a:solidFill>
                  <a:schemeClr val="tx1"/>
                </a:solidFill>
              </a:rPr>
              <a:pPr marL="0" indent="0" algn="r">
                <a:spcBef>
                  <a:spcPts val="695"/>
                </a:spcBef>
                <a:buSzPct val="100000"/>
                <a:buFont typeface="Arial"/>
                <a:buNone/>
              </a:pPr>
              <a:t>‹#›</a:t>
            </a:fld>
            <a:endParaRPr lang="en-GB" sz="565" noProof="0" dirty="0">
              <a:solidFill>
                <a:schemeClr val="tx1"/>
              </a:solidFill>
            </a:endParaRPr>
          </a:p>
        </p:txBody>
      </p:sp>
      <p:sp>
        <p:nvSpPr>
          <p:cNvPr id="2" name="Footer Placeholder 1"/>
          <p:cNvSpPr>
            <a:spLocks noGrp="1"/>
          </p:cNvSpPr>
          <p:nvPr>
            <p:ph type="ftr" sz="quarter" idx="10"/>
          </p:nvPr>
        </p:nvSpPr>
        <p:spPr>
          <a:xfrm>
            <a:off x="6184905" y="6477000"/>
            <a:ext cx="4536727" cy="244476"/>
          </a:xfrm>
          <a:prstGeom prst="rect">
            <a:avLst/>
          </a:prstGeom>
        </p:spPr>
        <p:txBody>
          <a:bodyPr/>
          <a:lstStyle/>
          <a:p>
            <a:endParaRPr lang="en-GB" dirty="0"/>
          </a:p>
        </p:txBody>
      </p:sp>
      <p:sp>
        <p:nvSpPr>
          <p:cNvPr id="8" name="TextBox 7"/>
          <p:cNvSpPr txBox="1"/>
          <p:nvPr userDrawn="1"/>
        </p:nvSpPr>
        <p:spPr>
          <a:xfrm>
            <a:off x="501651" y="6654810"/>
            <a:ext cx="5355168" cy="201260"/>
          </a:xfrm>
          <a:prstGeom prst="rect">
            <a:avLst/>
          </a:prstGeom>
          <a:noFill/>
        </p:spPr>
        <p:txBody>
          <a:bodyPr wrap="square" lIns="0" tIns="0" rIns="0" bIns="0" rtlCol="0">
            <a:noAutofit/>
          </a:bodyPr>
          <a:lstStyle/>
          <a:p>
            <a:pPr marL="0" indent="0">
              <a:spcBef>
                <a:spcPts val="623"/>
              </a:spcBef>
              <a:buSzPct val="100000"/>
              <a:buFont typeface="Arial"/>
              <a:buNone/>
            </a:pPr>
            <a:r>
              <a:rPr lang="fr-FR" sz="565" noProof="0" dirty="0">
                <a:solidFill>
                  <a:schemeClr val="tx1"/>
                </a:solidFill>
              </a:rPr>
              <a:t>© 2020 Deloitte Touche Tohmatsu India LLP</a:t>
            </a:r>
          </a:p>
        </p:txBody>
      </p:sp>
    </p:spTree>
    <p:extLst>
      <p:ext uri="{BB962C8B-B14F-4D97-AF65-F5344CB8AC3E}">
        <p14:creationId xmlns:p14="http://schemas.microsoft.com/office/powerpoint/2010/main" val="217538313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3168"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2" y="1665294"/>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917897474"/>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3250471497"/>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76408"/>
            <a:ext cx="11252200" cy="4622799"/>
          </a:xfrm>
          <a:prstGeom prst="rect">
            <a:avLst/>
          </a:prstGeom>
        </p:spPr>
        <p:txBody>
          <a:bodyPr vert="horz" lIns="0" tIns="0" rIns="0" bIns="0" rtlCol="0">
            <a:noAutofit/>
          </a:bodyPr>
          <a:lstStyle>
            <a:lvl1pPr>
              <a:defRPr sz="1391"/>
            </a:lvl1pPr>
            <a:lvl2pPr>
              <a:defRPr sz="1391"/>
            </a:lvl2pPr>
            <a:lvl3pPr>
              <a:defRPr sz="1391"/>
            </a:lvl3pPr>
            <a:lvl4pPr>
              <a:defRPr sz="1391"/>
            </a:lvl4pPr>
            <a:lvl5pPr>
              <a:defRPr sz="1391"/>
            </a:lvl5pPr>
            <a:lvl6pPr>
              <a:defRPr sz="1391"/>
            </a:lvl6pPr>
            <a:lvl7pPr>
              <a:defRPr sz="1391"/>
            </a:lvl7pPr>
            <a:lvl8pPr>
              <a:defRPr sz="1391"/>
            </a:lvl8pPr>
            <a:lvl9pPr>
              <a:defRPr sz="1391"/>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2261506538"/>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8"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18" name="Text Placeholder 8"/>
          <p:cNvSpPr>
            <a:spLocks noGrp="1"/>
          </p:cNvSpPr>
          <p:nvPr>
            <p:ph type="body" sz="quarter" idx="18"/>
          </p:nvPr>
        </p:nvSpPr>
        <p:spPr>
          <a:xfrm>
            <a:off x="468000" y="1684872"/>
            <a:ext cx="11252200" cy="357187"/>
          </a:xfrm>
        </p:spPr>
        <p:txBody>
          <a:bodyPr/>
          <a:lstStyle/>
          <a:p>
            <a:pPr lvl="0"/>
            <a:r>
              <a:rPr lang="en-GB" noProof="0"/>
              <a:t>Edit Master text styles</a:t>
            </a:r>
            <a:endParaRPr lang="en-GB"/>
          </a:p>
        </p:txBody>
      </p:sp>
      <p:sp>
        <p:nvSpPr>
          <p:cNvPr id="19" name="Text Placeholder 7"/>
          <p:cNvSpPr>
            <a:spLocks noGrp="1"/>
          </p:cNvSpPr>
          <p:nvPr>
            <p:ph type="body" sz="quarter" idx="23"/>
          </p:nvPr>
        </p:nvSpPr>
        <p:spPr>
          <a:xfrm>
            <a:off x="468004" y="5982798"/>
            <a:ext cx="11252201" cy="316411"/>
          </a:xfrm>
        </p:spPr>
        <p:txBody>
          <a:bodyPr>
            <a:noAutofit/>
          </a:bodyPr>
          <a:lstStyle>
            <a:lvl1pPr>
              <a:spcAft>
                <a:spcPts val="0"/>
              </a:spcAft>
              <a:defRPr sz="783"/>
            </a:lvl1pPr>
          </a:lstStyle>
          <a:p>
            <a:pPr lvl="0"/>
            <a:r>
              <a:rPr lang="en-GB" noProof="0"/>
              <a:t>Edit Master text styles</a:t>
            </a:r>
            <a:endParaRPr lang="en-GB"/>
          </a:p>
        </p:txBody>
      </p:sp>
      <p:sp>
        <p:nvSpPr>
          <p:cNvPr id="17" name="Chart Placeholder 3"/>
          <p:cNvSpPr>
            <a:spLocks noGrp="1"/>
          </p:cNvSpPr>
          <p:nvPr>
            <p:ph type="chart" sz="quarter" idx="15"/>
          </p:nvPr>
        </p:nvSpPr>
        <p:spPr>
          <a:xfrm>
            <a:off x="468000" y="2036659"/>
            <a:ext cx="11252200" cy="3946134"/>
          </a:xfrm>
          <a:prstGeom prst="rect">
            <a:avLst/>
          </a:prstGeom>
        </p:spPr>
        <p:txBody>
          <a:bodyPr/>
          <a:lstStyle/>
          <a:p>
            <a:r>
              <a:rPr lang="en-GB" noProof="0"/>
              <a:t>Click icon to add chart</a:t>
            </a:r>
            <a:endParaRPr lang="en-GB" noProof="0" dirty="0"/>
          </a:p>
        </p:txBody>
      </p:sp>
      <p:sp>
        <p:nvSpPr>
          <p:cNvPr id="2" name="Footer Placeholder 1"/>
          <p:cNvSpPr>
            <a:spLocks noGrp="1"/>
          </p:cNvSpPr>
          <p:nvPr>
            <p:ph type="ftr" sz="quarter" idx="24"/>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4096492078"/>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95"/>
            <a:ext cx="5328000" cy="4622507"/>
          </a:xfrm>
          <a:prstGeom prst="rect">
            <a:avLst/>
          </a:prstGeom>
        </p:spPr>
        <p:txBody>
          <a:bodyPr/>
          <a:lstStyle>
            <a:lvl1pPr>
              <a:spcAft>
                <a:spcPts val="435"/>
              </a:spcAft>
              <a:tabLst>
                <a:tab pos="5828897" algn="r"/>
              </a:tabLst>
              <a:defRPr sz="957"/>
            </a:lvl1pPr>
            <a:lvl2pPr>
              <a:spcAft>
                <a:spcPts val="435"/>
              </a:spcAft>
              <a:tabLst>
                <a:tab pos="5828897" algn="r"/>
              </a:tabLst>
              <a:defRPr sz="957"/>
            </a:lvl2pPr>
            <a:lvl3pPr>
              <a:spcAft>
                <a:spcPts val="435"/>
              </a:spcAft>
              <a:tabLst>
                <a:tab pos="5828897" algn="r"/>
              </a:tabLst>
              <a:defRPr sz="957"/>
            </a:lvl3pPr>
            <a:lvl4pPr>
              <a:spcAft>
                <a:spcPts val="435"/>
              </a:spcAft>
              <a:tabLst>
                <a:tab pos="5828897" algn="r"/>
              </a:tabLst>
              <a:defRPr sz="957"/>
            </a:lvl4pPr>
            <a:lvl5pPr>
              <a:spcAft>
                <a:spcPts val="435"/>
              </a:spcAft>
              <a:tabLst>
                <a:tab pos="5828897" algn="r"/>
              </a:tabLst>
              <a:defRPr sz="957" baseline="0"/>
            </a:lvl5pPr>
          </a:lstStyle>
          <a:p>
            <a:pPr lvl="0"/>
            <a:r>
              <a:rPr lang="en-GB" noProof="0" dirty="0"/>
              <a:t>Edit Master text styles</a:t>
            </a:r>
            <a:endParaRPr lang="en-GB" dirty="0"/>
          </a:p>
          <a:p>
            <a:pPr lvl="1"/>
            <a:r>
              <a:rPr lang="en-GB" noProof="0" dirty="0"/>
              <a:t>Second level</a:t>
            </a:r>
            <a:endParaRPr lang="en-GB" dirty="0"/>
          </a:p>
          <a:p>
            <a:pPr lvl="2"/>
            <a:r>
              <a:rPr lang="en-GB" noProof="0" dirty="0"/>
              <a:t>Third level</a:t>
            </a:r>
            <a:endParaRPr lang="en-GB" dirty="0"/>
          </a:p>
          <a:p>
            <a:pPr lvl="3"/>
            <a:r>
              <a:rPr lang="en-GB" noProof="0" dirty="0"/>
              <a:t>Fourth level</a:t>
            </a:r>
            <a:endParaRPr lang="en-GB" dirty="0"/>
          </a:p>
          <a:p>
            <a:pPr lvl="4"/>
            <a:r>
              <a:rPr lang="en-GB" noProof="0" dirty="0"/>
              <a:t>Fifth level</a:t>
            </a:r>
          </a:p>
        </p:txBody>
      </p:sp>
      <p:sp>
        <p:nvSpPr>
          <p:cNvPr id="15" name="Content Placeholder 3"/>
          <p:cNvSpPr>
            <a:spLocks noGrp="1"/>
          </p:cNvSpPr>
          <p:nvPr>
            <p:ph sz="quarter" idx="20"/>
          </p:nvPr>
        </p:nvSpPr>
        <p:spPr>
          <a:xfrm>
            <a:off x="6394100" y="1656008"/>
            <a:ext cx="5328000" cy="4631795"/>
          </a:xfrm>
          <a:prstGeom prst="rect">
            <a:avLst/>
          </a:prstGeom>
        </p:spPr>
        <p:txBody>
          <a:bodyPr/>
          <a:lstStyle>
            <a:lvl1pPr>
              <a:spcAft>
                <a:spcPts val="435"/>
              </a:spcAft>
              <a:tabLst>
                <a:tab pos="5828897" algn="r"/>
              </a:tabLst>
              <a:defRPr sz="957"/>
            </a:lvl1pPr>
            <a:lvl2pPr>
              <a:spcAft>
                <a:spcPts val="435"/>
              </a:spcAft>
              <a:tabLst>
                <a:tab pos="5828897" algn="r"/>
              </a:tabLst>
              <a:defRPr sz="957"/>
            </a:lvl2pPr>
            <a:lvl3pPr>
              <a:spcAft>
                <a:spcPts val="435"/>
              </a:spcAft>
              <a:tabLst>
                <a:tab pos="5828897" algn="r"/>
              </a:tabLst>
              <a:defRPr sz="957"/>
            </a:lvl3pPr>
            <a:lvl4pPr>
              <a:spcAft>
                <a:spcPts val="435"/>
              </a:spcAft>
              <a:tabLst>
                <a:tab pos="5828897" algn="r"/>
              </a:tabLst>
              <a:defRPr sz="957"/>
            </a:lvl4pPr>
            <a:lvl5pPr>
              <a:spcAft>
                <a:spcPts val="435"/>
              </a:spcAft>
              <a:tabLst>
                <a:tab pos="5828897" algn="r"/>
              </a:tabLst>
              <a:defRPr sz="957" baseline="0"/>
            </a:lvl5pPr>
          </a:lstStyle>
          <a:p>
            <a:pPr lvl="0"/>
            <a:r>
              <a:rPr lang="en-GB" noProof="0" dirty="0"/>
              <a:t>Edit Master text styles</a:t>
            </a:r>
            <a:endParaRPr lang="en-GB" dirty="0"/>
          </a:p>
          <a:p>
            <a:pPr lvl="1"/>
            <a:r>
              <a:rPr lang="en-GB" noProof="0" dirty="0"/>
              <a:t>Second level</a:t>
            </a:r>
            <a:endParaRPr lang="en-GB" dirty="0"/>
          </a:p>
          <a:p>
            <a:pPr lvl="2"/>
            <a:r>
              <a:rPr lang="en-GB" noProof="0" dirty="0"/>
              <a:t>Third level</a:t>
            </a:r>
            <a:endParaRPr lang="en-GB" dirty="0"/>
          </a:p>
          <a:p>
            <a:pPr lvl="3"/>
            <a:r>
              <a:rPr lang="en-GB" noProof="0" dirty="0"/>
              <a:t>Fourth level</a:t>
            </a:r>
            <a:endParaRPr lang="en-GB" dirty="0"/>
          </a:p>
          <a:p>
            <a:pPr lvl="4"/>
            <a:r>
              <a:rPr lang="en-GB" noProof="0" dirty="0"/>
              <a:t>Fifth level</a:t>
            </a:r>
          </a:p>
        </p:txBody>
      </p:sp>
      <p:sp>
        <p:nvSpPr>
          <p:cNvPr id="7"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6"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1750961354"/>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6" y="2125020"/>
            <a:ext cx="5482516" cy="3857777"/>
          </a:xfrm>
        </p:spPr>
        <p:txBody>
          <a:bodyPr>
            <a:noAutofit/>
          </a:bodyPr>
          <a:lstStyle/>
          <a:p>
            <a:r>
              <a:rPr lang="en-GB" noProof="0"/>
              <a:t>Click icon to add chart</a:t>
            </a:r>
            <a:endParaRPr lang="en-GB" noProof="0" dirty="0"/>
          </a:p>
        </p:txBody>
      </p:sp>
      <p:sp>
        <p:nvSpPr>
          <p:cNvPr id="6" name="Text Placeholder 5"/>
          <p:cNvSpPr>
            <a:spLocks noGrp="1"/>
          </p:cNvSpPr>
          <p:nvPr>
            <p:ph type="body" sz="quarter" idx="22"/>
          </p:nvPr>
        </p:nvSpPr>
        <p:spPr>
          <a:xfrm>
            <a:off x="6239587" y="1654032"/>
            <a:ext cx="5482516" cy="420687"/>
          </a:xfrm>
        </p:spPr>
        <p:txBody>
          <a:bodyPr>
            <a:noAutofit/>
          </a:bodyPr>
          <a:lstStyle/>
          <a:p>
            <a:pPr lvl="0"/>
            <a:r>
              <a:rPr lang="en-GB" noProof="0"/>
              <a:t>Edit Master text styles</a:t>
            </a:r>
            <a:endParaRPr lang="en-GB"/>
          </a:p>
        </p:txBody>
      </p:sp>
      <p:sp>
        <p:nvSpPr>
          <p:cNvPr id="9" name="Chart Placeholder 2"/>
          <p:cNvSpPr>
            <a:spLocks noGrp="1"/>
          </p:cNvSpPr>
          <p:nvPr>
            <p:ph type="chart" sz="quarter" idx="24"/>
          </p:nvPr>
        </p:nvSpPr>
        <p:spPr>
          <a:xfrm>
            <a:off x="469902" y="2125020"/>
            <a:ext cx="5482518" cy="3857777"/>
          </a:xfrm>
        </p:spPr>
        <p:txBody>
          <a:bodyPr>
            <a:noAutofit/>
          </a:bodyPr>
          <a:lstStyle/>
          <a:p>
            <a:r>
              <a:rPr lang="en-GB" noProof="0"/>
              <a:t>Click icon to add chart</a:t>
            </a:r>
            <a:endParaRPr lang="en-GB" noProof="0" dirty="0"/>
          </a:p>
        </p:txBody>
      </p:sp>
      <p:sp>
        <p:nvSpPr>
          <p:cNvPr id="12" name="Text Placeholder 5"/>
          <p:cNvSpPr>
            <a:spLocks noGrp="1"/>
          </p:cNvSpPr>
          <p:nvPr>
            <p:ph type="body" sz="quarter" idx="25"/>
          </p:nvPr>
        </p:nvSpPr>
        <p:spPr>
          <a:xfrm>
            <a:off x="469902" y="1665295"/>
            <a:ext cx="5482518" cy="409427"/>
          </a:xfrm>
        </p:spPr>
        <p:txBody>
          <a:bodyPr>
            <a:noAutofit/>
          </a:bodyPr>
          <a:lstStyle/>
          <a:p>
            <a:pPr lvl="0"/>
            <a:r>
              <a:rPr lang="en-GB" noProof="0"/>
              <a:t>Edit Master text styles</a:t>
            </a:r>
            <a:endParaRPr lang="en-GB"/>
          </a:p>
        </p:txBody>
      </p:sp>
      <p:sp>
        <p:nvSpPr>
          <p:cNvPr id="14" name="Text Placeholder 7"/>
          <p:cNvSpPr>
            <a:spLocks noGrp="1"/>
          </p:cNvSpPr>
          <p:nvPr>
            <p:ph type="body" sz="quarter" idx="23"/>
          </p:nvPr>
        </p:nvSpPr>
        <p:spPr>
          <a:xfrm>
            <a:off x="468004" y="5982798"/>
            <a:ext cx="11252201" cy="316411"/>
          </a:xfrm>
        </p:spPr>
        <p:txBody>
          <a:bodyPr>
            <a:noAutofit/>
          </a:bodyPr>
          <a:lstStyle>
            <a:lvl1pPr>
              <a:spcAft>
                <a:spcPts val="0"/>
              </a:spcAft>
              <a:defRPr sz="783"/>
            </a:lvl1pPr>
          </a:lstStyle>
          <a:p>
            <a:pPr lvl="0"/>
            <a:r>
              <a:rPr lang="en-GB" noProof="0"/>
              <a:t>Edit Master text styles</a:t>
            </a:r>
            <a:endParaRPr lang="en-GB"/>
          </a:p>
        </p:txBody>
      </p:sp>
      <p:sp>
        <p:nvSpPr>
          <p:cNvPr id="17"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16"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6"/>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2432114390"/>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23" y="1626108"/>
            <a:ext cx="4266983" cy="4673101"/>
          </a:xfrm>
          <a:prstGeom prst="rect">
            <a:avLst/>
          </a:prstGeom>
        </p:spPr>
        <p:txBody>
          <a:bodyPr>
            <a:noAutofit/>
          </a:bodyPr>
          <a:lstStyle>
            <a:lvl1pPr>
              <a:tabLst>
                <a:tab pos="5828897" algn="r"/>
              </a:tabLst>
              <a:defRPr sz="2086">
                <a:solidFill>
                  <a:schemeClr val="accent3"/>
                </a:solidFill>
              </a:defRPr>
            </a:lvl1pPr>
            <a:lvl2pPr>
              <a:tabLst>
                <a:tab pos="5828897" algn="r"/>
              </a:tabLst>
              <a:defRPr/>
            </a:lvl2pPr>
            <a:lvl3pPr>
              <a:tabLst>
                <a:tab pos="5828897" algn="r"/>
              </a:tabLst>
              <a:defRPr/>
            </a:lvl3pPr>
            <a:lvl4pPr>
              <a:tabLst>
                <a:tab pos="5828897" algn="r"/>
              </a:tabLst>
              <a:defRPr/>
            </a:lvl4pPr>
            <a:lvl5pPr>
              <a:tabLst>
                <a:tab pos="5828897" algn="r"/>
              </a:tabLst>
              <a:defRPr baseline="0"/>
            </a:lvl5pPr>
          </a:lstStyle>
          <a:p>
            <a:pPr lvl="0"/>
            <a:r>
              <a:rPr lang="en-GB" noProof="0"/>
              <a:t>Edit Master text styles</a:t>
            </a:r>
            <a:endParaRPr lang="en-GB"/>
          </a:p>
        </p:txBody>
      </p:sp>
      <p:sp>
        <p:nvSpPr>
          <p:cNvPr id="8" name="Content Placeholder 3"/>
          <p:cNvSpPr>
            <a:spLocks noGrp="1"/>
          </p:cNvSpPr>
          <p:nvPr>
            <p:ph sz="quarter" idx="16"/>
          </p:nvPr>
        </p:nvSpPr>
        <p:spPr>
          <a:xfrm>
            <a:off x="469906" y="1665288"/>
            <a:ext cx="6660867" cy="4633913"/>
          </a:xfrm>
          <a:prstGeom prst="rect">
            <a:avLst/>
          </a:prstGeom>
        </p:spPr>
        <p:txBody>
          <a:bodyPr>
            <a:noAutofit/>
          </a:bodyPr>
          <a:lstStyle>
            <a:lvl1pPr>
              <a:tabLst>
                <a:tab pos="5828897" algn="r"/>
              </a:tabLst>
              <a:defRPr/>
            </a:lvl1pPr>
            <a:lvl2pPr>
              <a:tabLst>
                <a:tab pos="5828897" algn="r"/>
              </a:tabLst>
              <a:defRPr/>
            </a:lvl2pPr>
            <a:lvl3pPr>
              <a:tabLst>
                <a:tab pos="5828897" algn="r"/>
              </a:tabLst>
              <a:defRPr/>
            </a:lvl3pPr>
            <a:lvl4pPr>
              <a:tabLst>
                <a:tab pos="5828897" algn="r"/>
              </a:tabLst>
              <a:defRPr/>
            </a:lvl4pPr>
            <a:lvl5pPr>
              <a:tabLst>
                <a:tab pos="5828897"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7"/>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523878823"/>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4"/>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3179902242"/>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2" name="Footer Placeholder 1"/>
          <p:cNvSpPr>
            <a:spLocks noGrp="1"/>
          </p:cNvSpPr>
          <p:nvPr>
            <p:ph type="ftr" sz="quarter" idx="10"/>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2364071659"/>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3" name="Picture Placeholder 2"/>
          <p:cNvSpPr>
            <a:spLocks noGrp="1"/>
          </p:cNvSpPr>
          <p:nvPr>
            <p:ph type="pic" sz="quarter" idx="14" hasCustomPrompt="1"/>
          </p:nvPr>
        </p:nvSpPr>
        <p:spPr>
          <a:xfrm>
            <a:off x="9402601" y="4102100"/>
            <a:ext cx="2319503" cy="1725448"/>
          </a:xfrm>
        </p:spPr>
        <p:txBody>
          <a:bodyPr anchor="ctr" anchorCtr="0"/>
          <a:lstStyle>
            <a:lvl1pPr algn="ctr">
              <a:defRPr sz="1043"/>
            </a:lvl1pPr>
          </a:lstStyle>
          <a:p>
            <a:r>
              <a:rPr lang="en-GB" sz="1043" noProof="0" dirty="0"/>
              <a:t>Insert sponsorship mark here</a:t>
            </a:r>
            <a:endParaRPr lang="en-GB" noProof="0" dirty="0"/>
          </a:p>
        </p:txBody>
      </p:sp>
      <p:sp>
        <p:nvSpPr>
          <p:cNvPr id="8" name="Text Placeholder 7"/>
          <p:cNvSpPr>
            <a:spLocks noGrp="1"/>
          </p:cNvSpPr>
          <p:nvPr>
            <p:ph type="body" sz="quarter" idx="15"/>
          </p:nvPr>
        </p:nvSpPr>
        <p:spPr>
          <a:xfrm>
            <a:off x="9402602" y="5935484"/>
            <a:ext cx="2319501" cy="363723"/>
          </a:xfrm>
        </p:spPr>
        <p:txBody>
          <a:bodyPr anchor="b" anchorCtr="0"/>
          <a:lstStyle>
            <a:lvl1pPr>
              <a:lnSpc>
                <a:spcPct val="100000"/>
              </a:lnSpc>
              <a:defRPr sz="1101"/>
            </a:lvl1pPr>
          </a:lstStyle>
          <a:p>
            <a:pPr lvl="0"/>
            <a:r>
              <a:rPr lang="en-GB" noProof="0"/>
              <a:t>Edit Master text styles</a:t>
            </a:r>
            <a:endParaRPr lang="en-GB"/>
          </a:p>
        </p:txBody>
      </p:sp>
      <p:sp>
        <p:nvSpPr>
          <p:cNvPr id="20" name="SD_ART_Logo"/>
          <p:cNvSpPr/>
          <p:nvPr userDrawn="1"/>
        </p:nvSpPr>
        <p:spPr>
          <a:xfrm>
            <a:off x="475439"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65" dirty="0"/>
          </a:p>
        </p:txBody>
      </p:sp>
      <p:pic>
        <p:nvPicPr>
          <p:cNvPr id="1037916276" name="LogoDisclaimerPage"/>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75205" y="464408"/>
            <a:ext cx="1655999" cy="725867"/>
          </a:xfrm>
          <a:prstGeom prst="rect">
            <a:avLst/>
          </a:prstGeom>
        </p:spPr>
      </p:pic>
      <p:sp>
        <p:nvSpPr>
          <p:cNvPr id="2" name="Footer Placeholder 1"/>
          <p:cNvSpPr>
            <a:spLocks noGrp="1"/>
          </p:cNvSpPr>
          <p:nvPr>
            <p:ph type="ftr" sz="quarter" idx="16"/>
          </p:nvPr>
        </p:nvSpPr>
        <p:spPr>
          <a:xfrm>
            <a:off x="6184905" y="6477000"/>
            <a:ext cx="4536727"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15495130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userDrawn="1">
  <p:cSld name="2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304802" y="266701"/>
            <a:ext cx="11560811" cy="334017"/>
          </a:xfrm>
          <a:prstGeom prst="rect">
            <a:avLst/>
          </a:prstGeom>
        </p:spPr>
        <p:txBody>
          <a:bodyPr vert="horz" lIns="0" tIns="0" rIns="0" bIns="0" rtlCol="0" anchor="t" anchorCtr="0">
            <a:noAutofit/>
          </a:bodyPr>
          <a:lstStyle>
            <a:lvl1pPr>
              <a:defRPr sz="1565">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dirty="0"/>
              <a:t>Click to edit Master title style</a:t>
            </a:r>
          </a:p>
        </p:txBody>
      </p:sp>
      <p:sp>
        <p:nvSpPr>
          <p:cNvPr id="17" name="TextBox 16"/>
          <p:cNvSpPr txBox="1"/>
          <p:nvPr userDrawn="1"/>
        </p:nvSpPr>
        <p:spPr>
          <a:xfrm>
            <a:off x="304803" y="6577035"/>
            <a:ext cx="5355167" cy="86947"/>
          </a:xfrm>
          <a:prstGeom prst="rect">
            <a:avLst/>
          </a:prstGeom>
          <a:noFill/>
        </p:spPr>
        <p:txBody>
          <a:bodyPr wrap="square" lIns="0" tIns="0" rIns="0" bIns="0" rtlCol="0">
            <a:spAutoFit/>
          </a:bodyPr>
          <a:lstStyle/>
          <a:p>
            <a:pPr marL="0" indent="0">
              <a:spcBef>
                <a:spcPts val="695"/>
              </a:spcBef>
              <a:buSzPct val="100000"/>
              <a:buFont typeface="Arial"/>
              <a:buNone/>
            </a:pPr>
            <a:r>
              <a:rPr lang="en-US" sz="565" noProof="0" dirty="0">
                <a:solidFill>
                  <a:schemeClr val="tx1"/>
                </a:solidFill>
              </a:rPr>
              <a:t>©2018 Deloitte </a:t>
            </a:r>
            <a:r>
              <a:rPr lang="en-US" sz="565" noProof="0" dirty="0" err="1">
                <a:solidFill>
                  <a:schemeClr val="tx1"/>
                </a:solidFill>
              </a:rPr>
              <a:t>Touche</a:t>
            </a:r>
            <a:r>
              <a:rPr lang="en-US" sz="565" noProof="0" dirty="0">
                <a:solidFill>
                  <a:schemeClr val="tx1"/>
                </a:solidFill>
              </a:rPr>
              <a:t> Tohmatsu India LLP. All Rights Reserved</a:t>
            </a:r>
          </a:p>
        </p:txBody>
      </p:sp>
      <p:sp>
        <p:nvSpPr>
          <p:cNvPr id="18" name="TextBox 17"/>
          <p:cNvSpPr txBox="1"/>
          <p:nvPr userDrawn="1"/>
        </p:nvSpPr>
        <p:spPr>
          <a:xfrm>
            <a:off x="11568115" y="6577035"/>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US" sz="565" noProof="0" smtClean="0">
                <a:solidFill>
                  <a:schemeClr val="tx1"/>
                </a:solidFill>
              </a:rPr>
              <a:pPr marL="0" indent="0" algn="r">
                <a:spcBef>
                  <a:spcPts val="695"/>
                </a:spcBef>
                <a:buSzPct val="100000"/>
                <a:buFont typeface="Arial"/>
                <a:buNone/>
              </a:pPr>
              <a:t>‹#›</a:t>
            </a:fld>
            <a:endParaRPr lang="en-US" sz="565" noProof="0" dirty="0">
              <a:solidFill>
                <a:schemeClr val="tx1"/>
              </a:solidFill>
            </a:endParaRPr>
          </a:p>
        </p:txBody>
      </p:sp>
    </p:spTree>
    <p:extLst>
      <p:ext uri="{BB962C8B-B14F-4D97-AF65-F5344CB8AC3E}">
        <p14:creationId xmlns:p14="http://schemas.microsoft.com/office/powerpoint/2010/main" val="985454780"/>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MAIN CONTENT LAYOU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88"/>
            <a:ext cx="11226800" cy="4633913"/>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Text Placeholder 8"/>
          <p:cNvSpPr>
            <a:spLocks noGrp="1"/>
          </p:cNvSpPr>
          <p:nvPr>
            <p:ph type="body" sz="quarter" idx="13" hasCustomPrompt="1"/>
          </p:nvPr>
        </p:nvSpPr>
        <p:spPr>
          <a:xfrm>
            <a:off x="469900" y="736691"/>
            <a:ext cx="11226800" cy="453483"/>
          </a:xfrm>
          <a:prstGeom prst="rect">
            <a:avLst/>
          </a:prstGeom>
        </p:spPr>
        <p:txBody>
          <a:bodyPr lIns="0" tIns="0" rIns="0" bIns="0">
            <a:noAutofit/>
          </a:bodyPr>
          <a:lstStyle>
            <a:lvl1pPr marL="0" indent="0">
              <a:buNone/>
              <a:defRPr sz="1565"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26800" cy="334102"/>
          </a:xfrm>
          <a:prstGeom prst="rect">
            <a:avLst/>
          </a:prstGeom>
        </p:spPr>
        <p:txBody>
          <a:bodyPr vert="horz" lIns="0" tIns="0" rIns="0" bIns="0" rtlCol="0" anchor="t" anchorCtr="0">
            <a:noAutofit/>
          </a:bodyPr>
          <a:lstStyle>
            <a:lvl1pPr>
              <a:defRPr sz="1739"/>
            </a:lvl1pPr>
          </a:lstStyle>
          <a:p>
            <a:r>
              <a:rPr lang="en-US" noProof="0" dirty="0"/>
              <a:t>Click to edit Master title style</a:t>
            </a:r>
          </a:p>
        </p:txBody>
      </p:sp>
    </p:spTree>
    <p:extLst>
      <p:ext uri="{BB962C8B-B14F-4D97-AF65-F5344CB8AC3E}">
        <p14:creationId xmlns:p14="http://schemas.microsoft.com/office/powerpoint/2010/main" val="3410255586"/>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93" y="1592"/>
          <a:ext cx="1587" cy="1587"/>
        </p:xfrm>
        <a:graphic>
          <a:graphicData uri="http://schemas.openxmlformats.org/presentationml/2006/ole">
            <mc:AlternateContent xmlns:mc="http://schemas.openxmlformats.org/markup-compatibility/2006">
              <mc:Choice xmlns:v="urn:schemas-microsoft-com:vml" Requires="v">
                <p:oleObj spid="_x0000_s4152"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593" y="1592"/>
                        <a:ext cx="1587" cy="1587"/>
                      </a:xfrm>
                      <a:prstGeom prst="rect">
                        <a:avLst/>
                      </a:prstGeom>
                    </p:spPr>
                  </p:pic>
                </p:oleObj>
              </mc:Fallback>
            </mc:AlternateContent>
          </a:graphicData>
        </a:graphic>
      </p:graphicFrame>
      <p:sp>
        <p:nvSpPr>
          <p:cNvPr id="13" name="Text Placeholder 8"/>
          <p:cNvSpPr>
            <a:spLocks noGrp="1"/>
          </p:cNvSpPr>
          <p:nvPr>
            <p:ph type="body" sz="quarter" idx="13" hasCustomPrompt="1"/>
          </p:nvPr>
        </p:nvSpPr>
        <p:spPr>
          <a:xfrm>
            <a:off x="501651" y="725142"/>
            <a:ext cx="11185627" cy="858222"/>
          </a:xfrm>
          <a:prstGeom prst="rect">
            <a:avLst/>
          </a:prstGeom>
        </p:spPr>
        <p:txBody>
          <a:bodyPr lIns="0" tIns="0" rIns="0" bIns="0">
            <a:noAutofit/>
          </a:bodyPr>
          <a:lstStyle>
            <a:lvl1pPr marL="0" indent="0">
              <a:buNone/>
              <a:defRPr sz="1391" b="0">
                <a:solidFill>
                  <a:srgbClr val="575757"/>
                </a:solidFill>
              </a:defRPr>
            </a:lvl1pPr>
          </a:lstStyle>
          <a:p>
            <a:pPr lvl="0"/>
            <a:r>
              <a:rPr lang="en-US" noProof="0" dirty="0"/>
              <a:t>Click to add subtitle</a:t>
            </a:r>
          </a:p>
        </p:txBody>
      </p:sp>
      <p:sp>
        <p:nvSpPr>
          <p:cNvPr id="15" name="Title Placeholder 1"/>
          <p:cNvSpPr>
            <a:spLocks noGrp="1"/>
          </p:cNvSpPr>
          <p:nvPr>
            <p:ph type="title"/>
          </p:nvPr>
        </p:nvSpPr>
        <p:spPr>
          <a:xfrm>
            <a:off x="501651" y="346493"/>
            <a:ext cx="11185627" cy="378648"/>
          </a:xfrm>
          <a:prstGeom prst="rect">
            <a:avLst/>
          </a:prstGeom>
        </p:spPr>
        <p:txBody>
          <a:bodyPr vert="horz" lIns="0" tIns="0" rIns="0" bIns="0" rtlCol="0" anchor="t" anchorCtr="0">
            <a:noAutofit/>
          </a:bodyPr>
          <a:lstStyle>
            <a:lvl1pPr>
              <a:defRPr/>
            </a:lvl1pPr>
          </a:lstStyle>
          <a:p>
            <a:r>
              <a:rPr lang="en-US" noProof="0" dirty="0"/>
              <a:t>Click to edit Master title style</a:t>
            </a:r>
          </a:p>
        </p:txBody>
      </p:sp>
      <p:sp>
        <p:nvSpPr>
          <p:cNvPr id="16" name="Text Placeholder 18"/>
          <p:cNvSpPr>
            <a:spLocks noGrp="1"/>
          </p:cNvSpPr>
          <p:nvPr>
            <p:ph idx="1"/>
          </p:nvPr>
        </p:nvSpPr>
        <p:spPr>
          <a:xfrm>
            <a:off x="501653" y="1665288"/>
            <a:ext cx="11188700" cy="4716462"/>
          </a:xfrm>
          <a:prstGeom prst="rect">
            <a:avLst/>
          </a:prstGeom>
        </p:spPr>
        <p:txBody>
          <a:bodyPr vert="horz" lIns="0" tIns="0" rIns="0" bIns="0" rtlCol="0">
            <a:noAutofit/>
          </a:bodyPr>
          <a:lstStyle>
            <a:lvl3pPr marL="158974" indent="-158974">
              <a:defRPr/>
            </a:lvl3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591941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958" y="1594"/>
          <a:ext cx="1953" cy="1587"/>
        </p:xfrm>
        <a:graphic>
          <a:graphicData uri="http://schemas.openxmlformats.org/presentationml/2006/ole">
            <mc:AlternateContent xmlns:mc="http://schemas.openxmlformats.org/markup-compatibility/2006">
              <mc:Choice xmlns:v="urn:schemas-microsoft-com:vml" Requires="v">
                <p:oleObj spid="_x0000_s5176"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8" y="1594"/>
                        <a:ext cx="1953" cy="1587"/>
                      </a:xfrm>
                      <a:prstGeom prst="rect">
                        <a:avLst/>
                      </a:prstGeom>
                    </p:spPr>
                  </p:pic>
                </p:oleObj>
              </mc:Fallback>
            </mc:AlternateContent>
          </a:graphicData>
        </a:graphic>
      </p:graphicFrame>
    </p:spTree>
    <p:extLst>
      <p:ext uri="{BB962C8B-B14F-4D97-AF65-F5344CB8AC3E}">
        <p14:creationId xmlns:p14="http://schemas.microsoft.com/office/powerpoint/2010/main" val="14764810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50" Type="http://schemas.openxmlformats.org/officeDocument/2006/relationships/tags" Target="../tags/tag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vmlDrawing" Target="../drawings/vmlDrawing1.vml"/><Relationship Id="rId8" Type="http://schemas.openxmlformats.org/officeDocument/2006/relationships/slideLayout" Target="../slideLayouts/slideLayout8.xml"/><Relationship Id="rId51" Type="http://schemas.openxmlformats.org/officeDocument/2006/relationships/oleObject" Target="../embeddings/oleObject1.bin"/><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vmlDrawing" Target="../drawings/vmlDrawing4.vml"/><Relationship Id="rId3" Type="http://schemas.openxmlformats.org/officeDocument/2006/relationships/slideLayout" Target="../slideLayouts/slideLayout49.xml"/><Relationship Id="rId21" Type="http://schemas.openxmlformats.org/officeDocument/2006/relationships/image" Target="../media/image1.emf"/><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theme" Target="../theme/theme2.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oleObject" Target="../embeddings/oleObject4.bin"/><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10" Type="http://schemas.openxmlformats.org/officeDocument/2006/relationships/slideLayout" Target="../slideLayouts/slideLayout56.xml"/><Relationship Id="rId19" Type="http://schemas.openxmlformats.org/officeDocument/2006/relationships/tags" Target="../tags/tag7.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9"/>
            </p:custDataLst>
            <p:extLst>
              <p:ext uri="{D42A27DB-BD31-4B8C-83A1-F6EECF244321}">
                <p14:modId xmlns:p14="http://schemas.microsoft.com/office/powerpoint/2010/main" val="1644318490"/>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spid="_x0000_s1082" name="think-cell Slide" r:id="rId51" imgW="270" imgH="270" progId="TCLayout.ActiveDocument.1">
                  <p:embed/>
                </p:oleObj>
              </mc:Choice>
              <mc:Fallback>
                <p:oleObj name="think-cell Slide" r:id="rId51" imgW="270" imgH="270" progId="TCLayout.ActiveDocument.1">
                  <p:embed/>
                  <p:pic>
                    <p:nvPicPr>
                      <p:cNvPr id="4" name="Object 3" hidden="1"/>
                      <p:cNvPicPr/>
                      <p:nvPr/>
                    </p:nvPicPr>
                    <p:blipFill>
                      <a:blip r:embed="rId52"/>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50"/>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TextBox 17"/>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19" name="Text Placeholder 18"/>
          <p:cNvSpPr>
            <a:spLocks noGrp="1"/>
          </p:cNvSpPr>
          <p:nvPr>
            <p:ph type="body" idx="1"/>
          </p:nvPr>
        </p:nvSpPr>
        <p:spPr>
          <a:xfrm>
            <a:off x="501652" y="1665289"/>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3197474883"/>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75" r:id="rId17"/>
    <p:sldLayoutId id="2147483776" r:id="rId18"/>
    <p:sldLayoutId id="2147483777" r:id="rId19"/>
    <p:sldLayoutId id="2147483778" r:id="rId20"/>
    <p:sldLayoutId id="2147483779" r:id="rId21"/>
    <p:sldLayoutId id="2147483780" r:id="rId22"/>
    <p:sldLayoutId id="2147483781" r:id="rId23"/>
    <p:sldLayoutId id="2147483782" r:id="rId24"/>
    <p:sldLayoutId id="2147483783" r:id="rId25"/>
    <p:sldLayoutId id="2147483784" r:id="rId26"/>
    <p:sldLayoutId id="2147483785" r:id="rId27"/>
    <p:sldLayoutId id="2147483786" r:id="rId28"/>
    <p:sldLayoutId id="2147483787" r:id="rId29"/>
    <p:sldLayoutId id="2147483788" r:id="rId30"/>
    <p:sldLayoutId id="2147483789" r:id="rId31"/>
    <p:sldLayoutId id="2147483790" r:id="rId32"/>
    <p:sldLayoutId id="2147483791" r:id="rId33"/>
    <p:sldLayoutId id="2147483794" r:id="rId34"/>
    <p:sldLayoutId id="2147483795" r:id="rId35"/>
    <p:sldLayoutId id="2147483796" r:id="rId36"/>
    <p:sldLayoutId id="2147483797" r:id="rId37"/>
    <p:sldLayoutId id="2147483826" r:id="rId38"/>
    <p:sldLayoutId id="2147483830" r:id="rId39"/>
    <p:sldLayoutId id="2147484003" r:id="rId40"/>
    <p:sldLayoutId id="2147484064" r:id="rId41"/>
    <p:sldLayoutId id="2147484065" r:id="rId42"/>
    <p:sldLayoutId id="2147484066" r:id="rId43"/>
    <p:sldLayoutId id="2147484067" r:id="rId44"/>
    <p:sldLayoutId id="2147484069" r:id="rId45"/>
    <p:sldLayoutId id="2147484070" r:id="rId46"/>
  </p:sldLayoutIdLst>
  <p:transition>
    <p:fade/>
  </p:transition>
  <p:hf hdr="0" dt="0"/>
  <p:txStyles>
    <p:titleStyle>
      <a:lvl1pPr algn="l" defTabSz="1219231" rtl="0" eaLnBrk="1" latinLnBrk="0" hangingPunct="1">
        <a:spcBef>
          <a:spcPct val="0"/>
        </a:spcBef>
        <a:buNone/>
        <a:defRPr sz="2667" kern="1200">
          <a:solidFill>
            <a:schemeClr val="tx1"/>
          </a:solidFill>
          <a:latin typeface="+mj-lt"/>
          <a:ea typeface="+mj-ea"/>
          <a:cs typeface="+mj-cs"/>
        </a:defRPr>
      </a:lvl1pPr>
    </p:titleStyle>
    <p:body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userDrawn="1">
          <p15:clr>
            <a:srgbClr val="F26B43"/>
          </p15:clr>
        </p15:guide>
        <p15:guide id="2" pos="359" userDrawn="1">
          <p15:clr>
            <a:srgbClr val="F26B43"/>
          </p15:clr>
        </p15:guide>
        <p15:guide id="3" pos="8345" userDrawn="1">
          <p15:clr>
            <a:srgbClr val="F26B43"/>
          </p15:clr>
        </p15:guide>
        <p15:guide id="4" orient="horz" pos="227" userDrawn="1">
          <p15:clr>
            <a:srgbClr val="F26B43"/>
          </p15:clr>
        </p15:guide>
        <p15:guide id="5" orient="horz" pos="1189" userDrawn="1">
          <p15:clr>
            <a:srgbClr val="F26B43"/>
          </p15:clr>
        </p15:guide>
        <p15:guide id="6" orient="horz" pos="72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9"/>
            </p:custDataLst>
            <p:extLst>
              <p:ext uri="{D42A27DB-BD31-4B8C-83A1-F6EECF244321}">
                <p14:modId xmlns:p14="http://schemas.microsoft.com/office/powerpoint/2010/main" val="1994941365"/>
              </p:ext>
            </p:extLst>
          </p:nvPr>
        </p:nvGraphicFramePr>
        <p:xfrm>
          <a:off x="2119" y="1594"/>
          <a:ext cx="2116" cy="1587"/>
        </p:xfrm>
        <a:graphic>
          <a:graphicData uri="http://schemas.openxmlformats.org/presentationml/2006/ole">
            <mc:AlternateContent xmlns:mc="http://schemas.openxmlformats.org/markup-compatibility/2006">
              <mc:Choice xmlns:v="urn:schemas-microsoft-com:vml" Requires="v">
                <p:oleObj spid="_x0000_s3128" name="think-cell Slide" r:id="rId20" imgW="270" imgH="270" progId="TCLayout.ActiveDocument.1">
                  <p:embed/>
                </p:oleObj>
              </mc:Choice>
              <mc:Fallback>
                <p:oleObj name="think-cell Slide" r:id="rId20" imgW="270" imgH="270" progId="TCLayout.ActiveDocument.1">
                  <p:embed/>
                  <p:pic>
                    <p:nvPicPr>
                      <p:cNvPr id="4" name="Object 3" hidden="1"/>
                      <p:cNvPicPr/>
                      <p:nvPr/>
                    </p:nvPicPr>
                    <p:blipFill>
                      <a:blip r:embed="rId21"/>
                      <a:stretch>
                        <a:fillRect/>
                      </a:stretch>
                    </p:blipFill>
                    <p:spPr>
                      <a:xfrm>
                        <a:off x="2119" y="1594"/>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2" y="402594"/>
            <a:ext cx="11252200" cy="692151"/>
          </a:xfrm>
          <a:prstGeom prst="rect">
            <a:avLst/>
          </a:prstGeom>
        </p:spPr>
        <p:txBody>
          <a:bodyPr vert="horz" lIns="0" tIns="0" rIns="0" bIns="0" rtlCol="0" anchor="t" anchorCtr="0">
            <a:noAutofit/>
          </a:bodyPr>
          <a:lstStyle/>
          <a:p>
            <a:r>
              <a:rPr lang="en-GB" noProof="0"/>
              <a:t>Click to edit Master title style</a:t>
            </a:r>
            <a:endParaRPr lang="en-GB" noProof="0" dirty="0"/>
          </a:p>
        </p:txBody>
      </p:sp>
      <p:sp>
        <p:nvSpPr>
          <p:cNvPr id="19" name="Text Placeholder 18"/>
          <p:cNvSpPr>
            <a:spLocks noGrp="1"/>
          </p:cNvSpPr>
          <p:nvPr>
            <p:ph type="body" idx="1"/>
          </p:nvPr>
        </p:nvSpPr>
        <p:spPr>
          <a:xfrm>
            <a:off x="469902" y="1665294"/>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extBox 11"/>
          <p:cNvSpPr txBox="1"/>
          <p:nvPr userDrawn="1"/>
        </p:nvSpPr>
        <p:spPr>
          <a:xfrm>
            <a:off x="11410955" y="6656303"/>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GB" sz="565" noProof="0">
                <a:solidFill>
                  <a:schemeClr val="tx1"/>
                </a:solidFill>
              </a:rPr>
              <a:pPr marL="0" indent="0" algn="r">
                <a:spcBef>
                  <a:spcPts val="695"/>
                </a:spcBef>
                <a:buSzPct val="100000"/>
                <a:buFont typeface="Arial"/>
                <a:buNone/>
              </a:pPr>
              <a:t>‹#›</a:t>
            </a:fld>
            <a:endParaRPr lang="en-GB" sz="565" noProof="0" dirty="0">
              <a:solidFill>
                <a:schemeClr val="tx1"/>
              </a:solidFill>
            </a:endParaRPr>
          </a:p>
        </p:txBody>
      </p:sp>
      <p:sp>
        <p:nvSpPr>
          <p:cNvPr id="8" name="TextBox 7"/>
          <p:cNvSpPr txBox="1"/>
          <p:nvPr userDrawn="1"/>
        </p:nvSpPr>
        <p:spPr>
          <a:xfrm>
            <a:off x="501651" y="6654810"/>
            <a:ext cx="5355168" cy="201260"/>
          </a:xfrm>
          <a:prstGeom prst="rect">
            <a:avLst/>
          </a:prstGeom>
          <a:noFill/>
        </p:spPr>
        <p:txBody>
          <a:bodyPr wrap="square" lIns="0" tIns="0" rIns="0" bIns="0" rtlCol="0">
            <a:noAutofit/>
          </a:bodyPr>
          <a:lstStyle/>
          <a:p>
            <a:pPr marL="0" indent="0">
              <a:spcBef>
                <a:spcPts val="623"/>
              </a:spcBef>
              <a:buSzPct val="100000"/>
              <a:buFont typeface="Arial"/>
              <a:buNone/>
            </a:pPr>
            <a:r>
              <a:rPr lang="fr-FR" sz="565" noProof="0" dirty="0">
                <a:solidFill>
                  <a:schemeClr val="tx1"/>
                </a:solidFill>
              </a:rPr>
              <a:t>© 2020 Deloitte Touche Tohmatsu India LLP</a:t>
            </a:r>
          </a:p>
        </p:txBody>
      </p:sp>
    </p:spTree>
    <p:extLst>
      <p:ext uri="{BB962C8B-B14F-4D97-AF65-F5344CB8AC3E}">
        <p14:creationId xmlns:p14="http://schemas.microsoft.com/office/powerpoint/2010/main" val="1114690223"/>
      </p:ext>
    </p:extLst>
  </p:cSld>
  <p:clrMap bg1="lt1" tx1="dk1" bg2="lt2" tx2="dk2" accent1="accent1" accent2="accent2" accent3="accent3" accent4="accent4" accent5="accent5" accent6="accent6" hlink="hlink" folHlink="folHlink"/>
  <p:sldLayoutIdLst>
    <p:sldLayoutId id="2147484048" r:id="rId1"/>
    <p:sldLayoutId id="2147484049" r:id="rId2"/>
    <p:sldLayoutId id="2147484050" r:id="rId3"/>
    <p:sldLayoutId id="2147484051" r:id="rId4"/>
    <p:sldLayoutId id="2147484052" r:id="rId5"/>
    <p:sldLayoutId id="2147484053" r:id="rId6"/>
    <p:sldLayoutId id="2147484054" r:id="rId7"/>
    <p:sldLayoutId id="2147484055" r:id="rId8"/>
    <p:sldLayoutId id="2147484056" r:id="rId9"/>
    <p:sldLayoutId id="2147484057" r:id="rId10"/>
    <p:sldLayoutId id="2147484058" r:id="rId11"/>
    <p:sldLayoutId id="2147484059" r:id="rId12"/>
    <p:sldLayoutId id="2147484060" r:id="rId13"/>
    <p:sldLayoutId id="2147484061" r:id="rId14"/>
    <p:sldLayoutId id="2147484062" r:id="rId15"/>
    <p:sldLayoutId id="2147484063" r:id="rId16"/>
  </p:sldLayoutIdLst>
  <p:transition>
    <p:fade/>
  </p:transition>
  <p:hf sldNum="0" hdr="0" dt="0"/>
  <p:txStyles>
    <p:titleStyle>
      <a:lvl1pPr algn="l" defTabSz="1059800" rtl="0" eaLnBrk="1" latinLnBrk="0" hangingPunct="1">
        <a:spcBef>
          <a:spcPct val="0"/>
        </a:spcBef>
        <a:buNone/>
        <a:defRPr sz="1739" kern="1200">
          <a:solidFill>
            <a:schemeClr val="tx1"/>
          </a:solidFill>
          <a:latin typeface="+mj-lt"/>
          <a:ea typeface="+mj-ea"/>
          <a:cs typeface="+mj-cs"/>
        </a:defRPr>
      </a:lvl1pPr>
    </p:titleStyle>
    <p:bodyStyle>
      <a:lvl1pPr marL="0" indent="0" algn="l" defTabSz="1059800" rtl="0" eaLnBrk="1" latinLnBrk="0" hangingPunct="1">
        <a:spcBef>
          <a:spcPts val="0"/>
        </a:spcBef>
        <a:spcAft>
          <a:spcPts val="1159"/>
        </a:spcAft>
        <a:buClrTx/>
        <a:buSzPct val="100000"/>
        <a:buFont typeface="Arial" panose="020B0604020202020204" pitchFamily="34" charset="0"/>
        <a:buChar char="​"/>
        <a:defRPr sz="1043" b="0" kern="1200">
          <a:solidFill>
            <a:schemeClr val="tx1"/>
          </a:solidFill>
          <a:latin typeface="+mn-lt"/>
          <a:ea typeface="+mn-ea"/>
          <a:cs typeface="+mn-cs"/>
        </a:defRPr>
      </a:lvl1pPr>
      <a:lvl2pPr marL="0" indent="0" algn="l" defTabSz="1059800" rtl="0" eaLnBrk="1" latinLnBrk="0" hangingPunct="1">
        <a:spcBef>
          <a:spcPts val="0"/>
        </a:spcBef>
        <a:spcAft>
          <a:spcPts val="1159"/>
        </a:spcAft>
        <a:buClrTx/>
        <a:buSzPct val="100000"/>
        <a:buFont typeface="Arial" panose="020B0604020202020204" pitchFamily="34" charset="0"/>
        <a:buChar char="​"/>
        <a:defRPr lang="en-US" sz="1043" b="1" kern="1200" dirty="0">
          <a:solidFill>
            <a:schemeClr val="tx1"/>
          </a:solidFill>
          <a:latin typeface="+mn-lt"/>
          <a:ea typeface="+mn-ea"/>
          <a:cs typeface="+mn-cs"/>
        </a:defRPr>
      </a:lvl2pPr>
      <a:lvl3pPr marL="204449" indent="-204449" algn="l" defTabSz="1059800" rtl="0" eaLnBrk="1" latinLnBrk="0" hangingPunct="1">
        <a:spcBef>
          <a:spcPts val="0"/>
        </a:spcBef>
        <a:spcAft>
          <a:spcPts val="1159"/>
        </a:spcAft>
        <a:buClrTx/>
        <a:buSzPct val="100000"/>
        <a:buFont typeface="Arial" panose="020B0604020202020204" pitchFamily="34" charset="0"/>
        <a:buChar char="•"/>
        <a:defRPr lang="en-US" sz="1043" kern="1200" dirty="0">
          <a:solidFill>
            <a:schemeClr val="tx1"/>
          </a:solidFill>
          <a:latin typeface="+mn-lt"/>
          <a:ea typeface="+mn-ea"/>
          <a:cs typeface="+mn-cs"/>
        </a:defRPr>
      </a:lvl3pPr>
      <a:lvl4pPr marL="413072" indent="-204449" algn="l" defTabSz="1059800" rtl="0" eaLnBrk="1" latinLnBrk="0" hangingPunct="1">
        <a:spcBef>
          <a:spcPts val="0"/>
        </a:spcBef>
        <a:spcAft>
          <a:spcPts val="1159"/>
        </a:spcAft>
        <a:buClrTx/>
        <a:buSzPct val="100000"/>
        <a:buFont typeface="Verdana" panose="020B0604030504040204" pitchFamily="34" charset="0"/>
        <a:buChar char="−"/>
        <a:defRPr lang="en-US" sz="1043" kern="1200" baseline="0" dirty="0">
          <a:solidFill>
            <a:schemeClr val="tx1"/>
          </a:solidFill>
          <a:latin typeface="+mn-lt"/>
          <a:ea typeface="+mn-ea"/>
          <a:cs typeface="+mn-cs"/>
        </a:defRPr>
      </a:lvl4pPr>
      <a:lvl5pPr marL="617521" indent="-204449" algn="l" defTabSz="925486" rtl="0" eaLnBrk="1" latinLnBrk="0" hangingPunct="1">
        <a:spcBef>
          <a:spcPts val="0"/>
        </a:spcBef>
        <a:spcAft>
          <a:spcPts val="1159"/>
        </a:spcAft>
        <a:buClrTx/>
        <a:buSzPct val="100000"/>
        <a:buFont typeface="Verdana" panose="020B0604030504040204" pitchFamily="34" charset="0"/>
        <a:buChar char="−"/>
        <a:tabLst/>
        <a:defRPr lang="en-US" sz="1043" kern="1200" baseline="0" dirty="0">
          <a:solidFill>
            <a:schemeClr val="tx1"/>
          </a:solidFill>
          <a:latin typeface="+mn-lt"/>
          <a:ea typeface="+mn-ea"/>
          <a:cs typeface="+mn-cs"/>
        </a:defRPr>
      </a:lvl5pPr>
      <a:lvl6pPr marL="617521" indent="-204449" algn="l" defTabSz="1059800" rtl="0" eaLnBrk="1" latinLnBrk="0" hangingPunct="1">
        <a:spcBef>
          <a:spcPts val="0"/>
        </a:spcBef>
        <a:spcAft>
          <a:spcPts val="1159"/>
        </a:spcAft>
        <a:buFont typeface="Verdana" panose="020B0604030504040204" pitchFamily="34" charset="0"/>
        <a:buChar char="−"/>
        <a:defRPr sz="1043" kern="1200" baseline="0">
          <a:solidFill>
            <a:schemeClr val="tx1"/>
          </a:solidFill>
          <a:latin typeface="+mn-lt"/>
          <a:ea typeface="+mn-ea"/>
          <a:cs typeface="+mn-cs"/>
        </a:defRPr>
      </a:lvl6pPr>
      <a:lvl7pPr marL="617521" indent="-204449" algn="l" defTabSz="1059800" rtl="0" eaLnBrk="1" latinLnBrk="0" hangingPunct="1">
        <a:spcBef>
          <a:spcPts val="0"/>
        </a:spcBef>
        <a:spcAft>
          <a:spcPts val="1159"/>
        </a:spcAft>
        <a:buFont typeface="Verdana" panose="020B0604030504040204" pitchFamily="34" charset="0"/>
        <a:buChar char="−"/>
        <a:defRPr sz="1043" kern="1200">
          <a:solidFill>
            <a:schemeClr val="tx1"/>
          </a:solidFill>
          <a:latin typeface="+mn-lt"/>
          <a:ea typeface="+mn-ea"/>
          <a:cs typeface="+mn-cs"/>
        </a:defRPr>
      </a:lvl7pPr>
      <a:lvl8pPr marL="617521" indent="-204449" algn="l" defTabSz="1059800" rtl="0" eaLnBrk="1" latinLnBrk="0" hangingPunct="1">
        <a:spcBef>
          <a:spcPts val="0"/>
        </a:spcBef>
        <a:spcAft>
          <a:spcPts val="1159"/>
        </a:spcAft>
        <a:buFont typeface="Verdana" panose="020B0604030504040204" pitchFamily="34" charset="0"/>
        <a:buChar char="−"/>
        <a:defRPr sz="1043" kern="1200" baseline="0">
          <a:solidFill>
            <a:schemeClr val="tx1"/>
          </a:solidFill>
          <a:latin typeface="+mn-lt"/>
          <a:ea typeface="+mn-ea"/>
          <a:cs typeface="+mn-cs"/>
        </a:defRPr>
      </a:lvl8pPr>
      <a:lvl9pPr marL="617521" indent="-204449" algn="l" defTabSz="1059800" rtl="0" eaLnBrk="1" latinLnBrk="0" hangingPunct="1">
        <a:spcBef>
          <a:spcPts val="0"/>
        </a:spcBef>
        <a:spcAft>
          <a:spcPts val="1159"/>
        </a:spcAft>
        <a:buFont typeface="Verdana" panose="020B0604030504040204" pitchFamily="34" charset="0"/>
        <a:buChar char="−"/>
        <a:defRPr sz="1043" kern="1200" baseline="0">
          <a:solidFill>
            <a:schemeClr val="tx1"/>
          </a:solidFill>
          <a:latin typeface="+mn-lt"/>
          <a:ea typeface="+mn-ea"/>
          <a:cs typeface="+mn-cs"/>
        </a:defRPr>
      </a:lvl9pPr>
    </p:bodyStyle>
    <p:otherStyle>
      <a:defPPr>
        <a:defRPr lang="en-US"/>
      </a:defPPr>
      <a:lvl1pPr marL="0" algn="l" defTabSz="1059800" rtl="0" eaLnBrk="1" latinLnBrk="0" hangingPunct="1">
        <a:defRPr sz="2086" kern="1200">
          <a:solidFill>
            <a:schemeClr val="tx1"/>
          </a:solidFill>
          <a:latin typeface="+mn-lt"/>
          <a:ea typeface="+mn-ea"/>
          <a:cs typeface="+mn-cs"/>
        </a:defRPr>
      </a:lvl1pPr>
      <a:lvl2pPr marL="529900" algn="l" defTabSz="1059800" rtl="0" eaLnBrk="1" latinLnBrk="0" hangingPunct="1">
        <a:defRPr sz="2086" kern="1200">
          <a:solidFill>
            <a:schemeClr val="tx1"/>
          </a:solidFill>
          <a:latin typeface="+mn-lt"/>
          <a:ea typeface="+mn-ea"/>
          <a:cs typeface="+mn-cs"/>
        </a:defRPr>
      </a:lvl2pPr>
      <a:lvl3pPr marL="1059800" algn="l" defTabSz="1059800" rtl="0" eaLnBrk="1" latinLnBrk="0" hangingPunct="1">
        <a:defRPr sz="2086" kern="1200">
          <a:solidFill>
            <a:schemeClr val="tx1"/>
          </a:solidFill>
          <a:latin typeface="+mn-lt"/>
          <a:ea typeface="+mn-ea"/>
          <a:cs typeface="+mn-cs"/>
        </a:defRPr>
      </a:lvl3pPr>
      <a:lvl4pPr marL="1589699" algn="l" defTabSz="1059800" rtl="0" eaLnBrk="1" latinLnBrk="0" hangingPunct="1">
        <a:defRPr sz="2086" kern="1200">
          <a:solidFill>
            <a:schemeClr val="tx1"/>
          </a:solidFill>
          <a:latin typeface="+mn-lt"/>
          <a:ea typeface="+mn-ea"/>
          <a:cs typeface="+mn-cs"/>
        </a:defRPr>
      </a:lvl4pPr>
      <a:lvl5pPr marL="2119598" algn="l" defTabSz="1059800" rtl="0" eaLnBrk="1" latinLnBrk="0" hangingPunct="1">
        <a:defRPr sz="2086" kern="1200">
          <a:solidFill>
            <a:schemeClr val="tx1"/>
          </a:solidFill>
          <a:latin typeface="+mn-lt"/>
          <a:ea typeface="+mn-ea"/>
          <a:cs typeface="+mn-cs"/>
        </a:defRPr>
      </a:lvl5pPr>
      <a:lvl6pPr marL="2649499" algn="l" defTabSz="1059800" rtl="0" eaLnBrk="1" latinLnBrk="0" hangingPunct="1">
        <a:defRPr sz="2086" kern="1200">
          <a:solidFill>
            <a:schemeClr val="tx1"/>
          </a:solidFill>
          <a:latin typeface="+mn-lt"/>
          <a:ea typeface="+mn-ea"/>
          <a:cs typeface="+mn-cs"/>
        </a:defRPr>
      </a:lvl6pPr>
      <a:lvl7pPr marL="3179398" algn="l" defTabSz="1059800" rtl="0" eaLnBrk="1" latinLnBrk="0" hangingPunct="1">
        <a:defRPr sz="2086" kern="1200">
          <a:solidFill>
            <a:schemeClr val="tx1"/>
          </a:solidFill>
          <a:latin typeface="+mn-lt"/>
          <a:ea typeface="+mn-ea"/>
          <a:cs typeface="+mn-cs"/>
        </a:defRPr>
      </a:lvl7pPr>
      <a:lvl8pPr marL="3709298" algn="l" defTabSz="1059800" rtl="0" eaLnBrk="1" latinLnBrk="0" hangingPunct="1">
        <a:defRPr sz="2086" kern="1200">
          <a:solidFill>
            <a:schemeClr val="tx1"/>
          </a:solidFill>
          <a:latin typeface="+mn-lt"/>
          <a:ea typeface="+mn-ea"/>
          <a:cs typeface="+mn-cs"/>
        </a:defRPr>
      </a:lvl8pPr>
      <a:lvl9pPr marL="4239197" algn="l" defTabSz="1059800" rtl="0" eaLnBrk="1" latinLnBrk="0" hangingPunct="1">
        <a:defRPr sz="208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501" userDrawn="1">
          <p15:clr>
            <a:srgbClr val="F26B43"/>
          </p15:clr>
        </p15:guide>
        <p15:guide id="2" orient="horz" pos="3168" userDrawn="1">
          <p15:clr>
            <a:srgbClr val="F26B43"/>
          </p15:clr>
        </p15:guide>
        <p15:guide id="3" orient="horz" pos="5820" userDrawn="1">
          <p15:clr>
            <a:srgbClr val="F26B43"/>
          </p15:clr>
        </p15:guide>
        <p15:guide id="4" pos="377" userDrawn="1">
          <p15:clr>
            <a:srgbClr val="F26B43"/>
          </p15:clr>
        </p15:guide>
        <p15:guide id="5" pos="9415" userDrawn="1">
          <p15:clr>
            <a:srgbClr val="F26B43"/>
          </p15:clr>
        </p15:guide>
        <p15:guide id="6" orient="horz" pos="1571" userDrawn="1">
          <p15:clr>
            <a:srgbClr val="F26B43"/>
          </p15:clr>
        </p15:guide>
        <p15:guide id="7" orient="horz" pos="359" userDrawn="1">
          <p15:clr>
            <a:srgbClr val="F26B43"/>
          </p15:clr>
        </p15:guide>
        <p15:guide id="8" orient="horz" pos="5985" userDrawn="1">
          <p15:clr>
            <a:srgbClr val="F26B43"/>
          </p15:clr>
        </p15:guide>
        <p15:guide id="10" pos="6358" userDrawn="1">
          <p15:clr>
            <a:srgbClr val="F26B43"/>
          </p15:clr>
        </p15:guide>
        <p15:guide id="12" pos="1763" userDrawn="1">
          <p15:clr>
            <a:srgbClr val="F26B43"/>
          </p15:clr>
        </p15:guide>
        <p15:guide id="13" pos="1907" userDrawn="1">
          <p15:clr>
            <a:srgbClr val="F26B43"/>
          </p15:clr>
        </p15:guide>
        <p15:guide id="14" pos="3291" userDrawn="1">
          <p15:clr>
            <a:srgbClr val="F26B43"/>
          </p15:clr>
        </p15:guide>
        <p15:guide id="15" pos="3436" userDrawn="1">
          <p15:clr>
            <a:srgbClr val="F26B43"/>
          </p15:clr>
        </p15:guide>
        <p15:guide id="16" pos="7886" userDrawn="1">
          <p15:clr>
            <a:srgbClr val="F26B43"/>
          </p15:clr>
        </p15:guide>
        <p15:guide id="17" pos="4823" userDrawn="1">
          <p15:clr>
            <a:srgbClr val="F26B43"/>
          </p15:clr>
        </p15:guide>
        <p15:guide id="18" pos="4967" userDrawn="1">
          <p15:clr>
            <a:srgbClr val="F26B43"/>
          </p15:clr>
        </p15:guide>
        <p15:guide id="19" pos="4896" userDrawn="1">
          <p15:clr>
            <a:srgbClr val="F26B43"/>
          </p15:clr>
        </p15:guide>
        <p15:guide id="20" pos="8031" userDrawn="1">
          <p15:clr>
            <a:srgbClr val="F26B43"/>
          </p15:clr>
        </p15:guide>
        <p15:guide id="21" orient="horz" pos="1539" userDrawn="1">
          <p15:clr>
            <a:srgbClr val="F26B43"/>
          </p15:clr>
        </p15:guide>
        <p15:guide id="22" orient="horz" pos="940" userDrawn="1">
          <p15:clr>
            <a:srgbClr val="F26B43"/>
          </p15:clr>
        </p15:guide>
        <p15:guide id="23" orient="horz" pos="422"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tags" Target="../tags/tag11.xml"/><Relationship Id="rId7" Type="http://schemas.openxmlformats.org/officeDocument/2006/relationships/oleObject" Target="../embeddings/oleObject7.bin"/><Relationship Id="rId2" Type="http://schemas.openxmlformats.org/officeDocument/2006/relationships/tags" Target="../tags/tag10.xml"/><Relationship Id="rId1" Type="http://schemas.openxmlformats.org/officeDocument/2006/relationships/vmlDrawing" Target="../drawings/vmlDrawing7.vml"/><Relationship Id="rId6" Type="http://schemas.openxmlformats.org/officeDocument/2006/relationships/image" Target="../media/image12.JP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tags" Target="../tags/tag12.xml"/><Relationship Id="rId1" Type="http://schemas.openxmlformats.org/officeDocument/2006/relationships/vmlDrawing" Target="../drawings/vmlDrawing8.vml"/><Relationship Id="rId5" Type="http://schemas.openxmlformats.org/officeDocument/2006/relationships/image" Target="../media/image13.emf"/><Relationship Id="rId4" Type="http://schemas.openxmlformats.org/officeDocument/2006/relationships/oleObject" Target="../embeddings/oleObject8.bin"/></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13.xml"/><Relationship Id="rId1" Type="http://schemas.openxmlformats.org/officeDocument/2006/relationships/vmlDrawing" Target="../drawings/vmlDrawing9.vml"/><Relationship Id="rId5" Type="http://schemas.openxmlformats.org/officeDocument/2006/relationships/image" Target="../media/image13.emf"/><Relationship Id="rId4" Type="http://schemas.openxmlformats.org/officeDocument/2006/relationships/oleObject" Target="../embeddings/oleObject9.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14.xml"/><Relationship Id="rId1" Type="http://schemas.openxmlformats.org/officeDocument/2006/relationships/vmlDrawing" Target="../drawings/vmlDrawing10.vml"/><Relationship Id="rId5" Type="http://schemas.openxmlformats.org/officeDocument/2006/relationships/image" Target="../media/image13.emf"/><Relationship Id="rId4" Type="http://schemas.openxmlformats.org/officeDocument/2006/relationships/oleObject" Target="../embeddings/oleObject9.bin"/></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15.xml"/><Relationship Id="rId1" Type="http://schemas.openxmlformats.org/officeDocument/2006/relationships/vmlDrawing" Target="../drawings/vmlDrawing11.vml"/><Relationship Id="rId6" Type="http://schemas.openxmlformats.org/officeDocument/2006/relationships/image" Target="../media/image13.emf"/><Relationship Id="rId5" Type="http://schemas.openxmlformats.org/officeDocument/2006/relationships/oleObject" Target="../embeddings/oleObject10.bin"/><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40.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40.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16.xml"/><Relationship Id="rId1" Type="http://schemas.openxmlformats.org/officeDocument/2006/relationships/vmlDrawing" Target="../drawings/vmlDrawing12.vml"/><Relationship Id="rId5" Type="http://schemas.openxmlformats.org/officeDocument/2006/relationships/image" Target="../media/image13.emf"/><Relationship Id="rId4" Type="http://schemas.openxmlformats.org/officeDocument/2006/relationships/oleObject" Target="../embeddings/oleObject10.bin"/></Relationships>
</file>

<file path=ppt/slides/_rels/slide1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40.xml"/><Relationship Id="rId4" Type="http://schemas.openxmlformats.org/officeDocument/2006/relationships/chart" Target="../charts/chart13.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17.xml"/><Relationship Id="rId1" Type="http://schemas.openxmlformats.org/officeDocument/2006/relationships/vmlDrawing" Target="../drawings/vmlDrawing13.vml"/><Relationship Id="rId5" Type="http://schemas.openxmlformats.org/officeDocument/2006/relationships/image" Target="../media/image13.emf"/><Relationship Id="rId4" Type="http://schemas.openxmlformats.org/officeDocument/2006/relationships/oleObject" Target="../embeddings/oleObject10.bin"/></Relationships>
</file>

<file path=ppt/slides/_rels/slide18.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18.xml"/><Relationship Id="rId1" Type="http://schemas.openxmlformats.org/officeDocument/2006/relationships/vmlDrawing" Target="../drawings/vmlDrawing14.vml"/><Relationship Id="rId5" Type="http://schemas.openxmlformats.org/officeDocument/2006/relationships/image" Target="../media/image13.emf"/><Relationship Id="rId4" Type="http://schemas.openxmlformats.org/officeDocument/2006/relationships/oleObject" Target="../embeddings/oleObject10.bin"/></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19.xml"/><Relationship Id="rId1" Type="http://schemas.openxmlformats.org/officeDocument/2006/relationships/vmlDrawing" Target="../drawings/vmlDrawing15.vml"/><Relationship Id="rId5" Type="http://schemas.openxmlformats.org/officeDocument/2006/relationships/image" Target="../media/image13.emf"/><Relationship Id="rId4" Type="http://schemas.openxmlformats.org/officeDocument/2006/relationships/oleObject" Target="../embeddings/oleObject10.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3" Type="http://schemas.openxmlformats.org/officeDocument/2006/relationships/hyperlink" Target="http://www.ddugjy.gov.in/" TargetMode="External"/><Relationship Id="rId2" Type="http://schemas.openxmlformats.org/officeDocument/2006/relationships/hyperlink" Target="https://www.ipds.gov.in/" TargetMode="External"/><Relationship Id="rId1" Type="http://schemas.openxmlformats.org/officeDocument/2006/relationships/slideLayout" Target="../slideLayouts/slideLayout42.xml"/><Relationship Id="rId4" Type="http://schemas.openxmlformats.org/officeDocument/2006/relationships/hyperlink" Target="https://www.india.gov.in/spotlight/pradhan-mantri-sahaj-bijli-har-ghar-yojana-saubhagya"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1.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chart" Target="../charts/chart15.xml"/><Relationship Id="rId1" Type="http://schemas.openxmlformats.org/officeDocument/2006/relationships/slideLayout" Target="../slideLayouts/slideLayout43.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tags" Target="../tags/tag20.xml"/><Relationship Id="rId1" Type="http://schemas.openxmlformats.org/officeDocument/2006/relationships/vmlDrawing" Target="../drawings/vmlDrawing16.vml"/><Relationship Id="rId5" Type="http://schemas.openxmlformats.org/officeDocument/2006/relationships/image" Target="../media/image13.emf"/><Relationship Id="rId4" Type="http://schemas.openxmlformats.org/officeDocument/2006/relationships/oleObject" Target="../embeddings/oleObject11.bin"/></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tags" Target="../tags/tag21.xml"/><Relationship Id="rId1" Type="http://schemas.openxmlformats.org/officeDocument/2006/relationships/vmlDrawing" Target="../drawings/vmlDrawing17.vml"/><Relationship Id="rId5" Type="http://schemas.openxmlformats.org/officeDocument/2006/relationships/image" Target="../media/image13.emf"/><Relationship Id="rId4" Type="http://schemas.openxmlformats.org/officeDocument/2006/relationships/oleObject" Target="../embeddings/oleObject12.bin"/></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tags" Target="../tags/tag22.xml"/><Relationship Id="rId1" Type="http://schemas.openxmlformats.org/officeDocument/2006/relationships/vmlDrawing" Target="../drawings/vmlDrawing18.vml"/><Relationship Id="rId5" Type="http://schemas.openxmlformats.org/officeDocument/2006/relationships/image" Target="../media/image13.emf"/><Relationship Id="rId4" Type="http://schemas.openxmlformats.org/officeDocument/2006/relationships/oleObject" Target="../embeddings/oleObject13.bin"/></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tags" Target="../tags/tag23.xml"/><Relationship Id="rId1" Type="http://schemas.openxmlformats.org/officeDocument/2006/relationships/vmlDrawing" Target="../drawings/vmlDrawing19.vml"/><Relationship Id="rId5" Type="http://schemas.openxmlformats.org/officeDocument/2006/relationships/image" Target="../media/image13.emf"/><Relationship Id="rId4" Type="http://schemas.openxmlformats.org/officeDocument/2006/relationships/oleObject" Target="../embeddings/oleObject14.bin"/></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tags" Target="../tags/tag24.xml"/><Relationship Id="rId1" Type="http://schemas.openxmlformats.org/officeDocument/2006/relationships/vmlDrawing" Target="../drawings/vmlDrawing20.vml"/><Relationship Id="rId5" Type="http://schemas.openxmlformats.org/officeDocument/2006/relationships/image" Target="../media/image13.emf"/><Relationship Id="rId4" Type="http://schemas.openxmlformats.org/officeDocument/2006/relationships/oleObject" Target="../embeddings/oleObject15.bin"/></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tags" Target="../tags/tag25.xml"/><Relationship Id="rId1" Type="http://schemas.openxmlformats.org/officeDocument/2006/relationships/vmlDrawing" Target="../drawings/vmlDrawing21.vml"/><Relationship Id="rId5" Type="http://schemas.openxmlformats.org/officeDocument/2006/relationships/image" Target="../media/image13.emf"/><Relationship Id="rId4" Type="http://schemas.openxmlformats.org/officeDocument/2006/relationships/oleObject" Target="../embeddings/oleObject16.bin"/></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tags" Target="../tags/tag26.xml"/><Relationship Id="rId1" Type="http://schemas.openxmlformats.org/officeDocument/2006/relationships/vmlDrawing" Target="../drawings/vmlDrawing22.vml"/><Relationship Id="rId5" Type="http://schemas.openxmlformats.org/officeDocument/2006/relationships/image" Target="../media/image13.emf"/><Relationship Id="rId4" Type="http://schemas.openxmlformats.org/officeDocument/2006/relationships/oleObject" Target="../embeddings/oleObject17.bin"/></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27.xml"/><Relationship Id="rId1" Type="http://schemas.openxmlformats.org/officeDocument/2006/relationships/vmlDrawing" Target="../drawings/vmlDrawing23.vml"/><Relationship Id="rId5" Type="http://schemas.openxmlformats.org/officeDocument/2006/relationships/image" Target="../media/image13.emf"/><Relationship Id="rId4" Type="http://schemas.openxmlformats.org/officeDocument/2006/relationships/oleObject" Target="../embeddings/oleObject10.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28.xml"/><Relationship Id="rId1" Type="http://schemas.openxmlformats.org/officeDocument/2006/relationships/vmlDrawing" Target="../drawings/vmlDrawing24.vml"/><Relationship Id="rId5" Type="http://schemas.openxmlformats.org/officeDocument/2006/relationships/image" Target="../media/image13.emf"/><Relationship Id="rId4" Type="http://schemas.openxmlformats.org/officeDocument/2006/relationships/oleObject" Target="../embeddings/oleObject9.bin"/></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29.xml"/><Relationship Id="rId1" Type="http://schemas.openxmlformats.org/officeDocument/2006/relationships/vmlDrawing" Target="../drawings/vmlDrawing25.vml"/><Relationship Id="rId5" Type="http://schemas.openxmlformats.org/officeDocument/2006/relationships/image" Target="../media/image13.emf"/><Relationship Id="rId4" Type="http://schemas.openxmlformats.org/officeDocument/2006/relationships/oleObject" Target="../embeddings/oleObject10.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7.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chart" Target="../charts/chart17.xml"/><Relationship Id="rId1" Type="http://schemas.openxmlformats.org/officeDocument/2006/relationships/slideLayout" Target="../slideLayouts/slideLayout40.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30.xml"/><Relationship Id="rId1" Type="http://schemas.openxmlformats.org/officeDocument/2006/relationships/vmlDrawing" Target="../drawings/vmlDrawing26.vml"/><Relationship Id="rId5" Type="http://schemas.openxmlformats.org/officeDocument/2006/relationships/image" Target="../media/image13.emf"/><Relationship Id="rId4" Type="http://schemas.openxmlformats.org/officeDocument/2006/relationships/oleObject" Target="../embeddings/oleObject10.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1.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40.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31.xml"/><Relationship Id="rId1" Type="http://schemas.openxmlformats.org/officeDocument/2006/relationships/vmlDrawing" Target="../drawings/vmlDrawing27.vml"/><Relationship Id="rId5" Type="http://schemas.openxmlformats.org/officeDocument/2006/relationships/image" Target="../media/image13.emf"/><Relationship Id="rId4" Type="http://schemas.openxmlformats.org/officeDocument/2006/relationships/oleObject" Target="../embeddings/oleObject10.bin"/></Relationships>
</file>

<file path=ppt/slides/_rels/slide53.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chart" Target="../charts/chart20.xml"/><Relationship Id="rId1" Type="http://schemas.openxmlformats.org/officeDocument/2006/relationships/slideLayout" Target="../slideLayouts/slideLayout40.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32.xml"/><Relationship Id="rId1" Type="http://schemas.openxmlformats.org/officeDocument/2006/relationships/vmlDrawing" Target="../drawings/vmlDrawing28.vml"/><Relationship Id="rId5" Type="http://schemas.openxmlformats.org/officeDocument/2006/relationships/image" Target="../media/image13.emf"/><Relationship Id="rId4" Type="http://schemas.openxmlformats.org/officeDocument/2006/relationships/oleObject" Target="../embeddings/oleObject18.bin"/></Relationships>
</file>

<file path=ppt/slides/_rels/slide55.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chart" Target="../charts/chart22.xml"/><Relationship Id="rId1" Type="http://schemas.openxmlformats.org/officeDocument/2006/relationships/slideLayout" Target="../slideLayouts/slideLayout40.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33.xml"/><Relationship Id="rId1" Type="http://schemas.openxmlformats.org/officeDocument/2006/relationships/vmlDrawing" Target="../drawings/vmlDrawing29.vml"/><Relationship Id="rId5" Type="http://schemas.openxmlformats.org/officeDocument/2006/relationships/image" Target="../media/image13.emf"/><Relationship Id="rId4" Type="http://schemas.openxmlformats.org/officeDocument/2006/relationships/oleObject" Target="../embeddings/oleObject18.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8.xml.rels><?xml version="1.0" encoding="UTF-8" standalone="yes"?>
<Relationships xmlns="http://schemas.openxmlformats.org/package/2006/relationships"><Relationship Id="rId2" Type="http://schemas.openxmlformats.org/officeDocument/2006/relationships/chart" Target="../charts/chart24.xml"/><Relationship Id="rId1" Type="http://schemas.openxmlformats.org/officeDocument/2006/relationships/slideLayout" Target="../slideLayouts/slideLayout40.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34.xml"/><Relationship Id="rId1" Type="http://schemas.openxmlformats.org/officeDocument/2006/relationships/vmlDrawing" Target="../drawings/vmlDrawing30.vml"/><Relationship Id="rId5" Type="http://schemas.openxmlformats.org/officeDocument/2006/relationships/image" Target="../media/image13.emf"/><Relationship Id="rId4" Type="http://schemas.openxmlformats.org/officeDocument/2006/relationships/oleObject" Target="../embeddings/oleObject19.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tags" Target="../tags/tag35.xml"/><Relationship Id="rId1" Type="http://schemas.openxmlformats.org/officeDocument/2006/relationships/vmlDrawing" Target="../drawings/vmlDrawing31.vml"/><Relationship Id="rId5" Type="http://schemas.openxmlformats.org/officeDocument/2006/relationships/image" Target="../media/image13.emf"/><Relationship Id="rId4" Type="http://schemas.openxmlformats.org/officeDocument/2006/relationships/oleObject" Target="../embeddings/oleObject20.bin"/></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tags" Target="../tags/tag36.xml"/><Relationship Id="rId1" Type="http://schemas.openxmlformats.org/officeDocument/2006/relationships/vmlDrawing" Target="../drawings/vmlDrawing32.vml"/><Relationship Id="rId5" Type="http://schemas.openxmlformats.org/officeDocument/2006/relationships/image" Target="../media/image13.emf"/><Relationship Id="rId4" Type="http://schemas.openxmlformats.org/officeDocument/2006/relationships/oleObject" Target="../embeddings/oleObject21.bin"/></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4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4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0.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37.xml"/><Relationship Id="rId1" Type="http://schemas.openxmlformats.org/officeDocument/2006/relationships/vmlDrawing" Target="../drawings/vmlDrawing33.vml"/><Relationship Id="rId5" Type="http://schemas.openxmlformats.org/officeDocument/2006/relationships/image" Target="../media/image13.emf"/><Relationship Id="rId4" Type="http://schemas.openxmlformats.org/officeDocument/2006/relationships/oleObject" Target="../embeddings/oleObject22.bin"/></Relationships>
</file>

<file path=ppt/slides/_rels/slide72.xml.rels><?xml version="1.0" encoding="UTF-8" standalone="yes"?>
<Relationships xmlns="http://schemas.openxmlformats.org/package/2006/relationships"><Relationship Id="rId8" Type="http://schemas.openxmlformats.org/officeDocument/2006/relationships/chart" Target="../charts/chart27.xml"/><Relationship Id="rId3" Type="http://schemas.openxmlformats.org/officeDocument/2006/relationships/slideLayout" Target="../slideLayouts/slideLayout41.xml"/><Relationship Id="rId7" Type="http://schemas.openxmlformats.org/officeDocument/2006/relationships/chart" Target="../charts/chart26.xml"/><Relationship Id="rId2" Type="http://schemas.openxmlformats.org/officeDocument/2006/relationships/tags" Target="../tags/tag38.xml"/><Relationship Id="rId1" Type="http://schemas.openxmlformats.org/officeDocument/2006/relationships/vmlDrawing" Target="../drawings/vmlDrawing34.vml"/><Relationship Id="rId6" Type="http://schemas.openxmlformats.org/officeDocument/2006/relationships/chart" Target="../charts/chart25.xml"/><Relationship Id="rId5" Type="http://schemas.openxmlformats.org/officeDocument/2006/relationships/image" Target="../media/image13.emf"/><Relationship Id="rId4" Type="http://schemas.openxmlformats.org/officeDocument/2006/relationships/oleObject" Target="../embeddings/oleObject23.bin"/></Relationships>
</file>

<file path=ppt/slides/_rels/slide73.xml.rels><?xml version="1.0" encoding="UTF-8" standalone="yes"?>
<Relationships xmlns="http://schemas.openxmlformats.org/package/2006/relationships"><Relationship Id="rId8" Type="http://schemas.openxmlformats.org/officeDocument/2006/relationships/chart" Target="../charts/chart30.xml"/><Relationship Id="rId3" Type="http://schemas.openxmlformats.org/officeDocument/2006/relationships/slideLayout" Target="../slideLayouts/slideLayout41.xml"/><Relationship Id="rId7" Type="http://schemas.openxmlformats.org/officeDocument/2006/relationships/chart" Target="../charts/chart29.xml"/><Relationship Id="rId2" Type="http://schemas.openxmlformats.org/officeDocument/2006/relationships/tags" Target="../tags/tag39.xml"/><Relationship Id="rId1" Type="http://schemas.openxmlformats.org/officeDocument/2006/relationships/vmlDrawing" Target="../drawings/vmlDrawing35.vml"/><Relationship Id="rId6" Type="http://schemas.openxmlformats.org/officeDocument/2006/relationships/chart" Target="../charts/chart28.xml"/><Relationship Id="rId5" Type="http://schemas.openxmlformats.org/officeDocument/2006/relationships/image" Target="../media/image13.emf"/><Relationship Id="rId4" Type="http://schemas.openxmlformats.org/officeDocument/2006/relationships/oleObject" Target="../embeddings/oleObject24.bin"/></Relationships>
</file>

<file path=ppt/slides/_rels/slide74.xml.rels><?xml version="1.0" encoding="UTF-8" standalone="yes"?>
<Relationships xmlns="http://schemas.openxmlformats.org/package/2006/relationships"><Relationship Id="rId8" Type="http://schemas.openxmlformats.org/officeDocument/2006/relationships/chart" Target="../charts/chart33.xml"/><Relationship Id="rId3" Type="http://schemas.openxmlformats.org/officeDocument/2006/relationships/slideLayout" Target="../slideLayouts/slideLayout41.xml"/><Relationship Id="rId7" Type="http://schemas.openxmlformats.org/officeDocument/2006/relationships/chart" Target="../charts/chart32.xml"/><Relationship Id="rId2" Type="http://schemas.openxmlformats.org/officeDocument/2006/relationships/tags" Target="../tags/tag40.xml"/><Relationship Id="rId1" Type="http://schemas.openxmlformats.org/officeDocument/2006/relationships/vmlDrawing" Target="../drawings/vmlDrawing36.vml"/><Relationship Id="rId6" Type="http://schemas.openxmlformats.org/officeDocument/2006/relationships/chart" Target="../charts/chart31.xml"/><Relationship Id="rId5" Type="http://schemas.openxmlformats.org/officeDocument/2006/relationships/image" Target="../media/image13.emf"/><Relationship Id="rId4" Type="http://schemas.openxmlformats.org/officeDocument/2006/relationships/oleObject" Target="../embeddings/oleObject25.bin"/></Relationships>
</file>

<file path=ppt/slides/_rels/slide75.xml.rels><?xml version="1.0" encoding="UTF-8" standalone="yes"?>
<Relationships xmlns="http://schemas.openxmlformats.org/package/2006/relationships"><Relationship Id="rId8" Type="http://schemas.openxmlformats.org/officeDocument/2006/relationships/chart" Target="../charts/chart36.xml"/><Relationship Id="rId3" Type="http://schemas.openxmlformats.org/officeDocument/2006/relationships/slideLayout" Target="../slideLayouts/slideLayout41.xml"/><Relationship Id="rId7" Type="http://schemas.openxmlformats.org/officeDocument/2006/relationships/chart" Target="../charts/chart35.xml"/><Relationship Id="rId2" Type="http://schemas.openxmlformats.org/officeDocument/2006/relationships/tags" Target="../tags/tag41.xml"/><Relationship Id="rId1" Type="http://schemas.openxmlformats.org/officeDocument/2006/relationships/vmlDrawing" Target="../drawings/vmlDrawing37.vml"/><Relationship Id="rId6" Type="http://schemas.openxmlformats.org/officeDocument/2006/relationships/chart" Target="../charts/chart34.xml"/><Relationship Id="rId5" Type="http://schemas.openxmlformats.org/officeDocument/2006/relationships/image" Target="../media/image13.emf"/><Relationship Id="rId4" Type="http://schemas.openxmlformats.org/officeDocument/2006/relationships/oleObject" Target="../embeddings/oleObject26.bin"/></Relationships>
</file>

<file path=ppt/slides/_rels/slide76.xml.rels><?xml version="1.0" encoding="UTF-8" standalone="yes"?>
<Relationships xmlns="http://schemas.openxmlformats.org/package/2006/relationships"><Relationship Id="rId3" Type="http://schemas.openxmlformats.org/officeDocument/2006/relationships/chart" Target="../charts/chart38.xml"/><Relationship Id="rId2" Type="http://schemas.openxmlformats.org/officeDocument/2006/relationships/chart" Target="../charts/chart37.xml"/><Relationship Id="rId1" Type="http://schemas.openxmlformats.org/officeDocument/2006/relationships/slideLayout" Target="../slideLayouts/slideLayout41.xml"/><Relationship Id="rId4" Type="http://schemas.openxmlformats.org/officeDocument/2006/relationships/chart" Target="../charts/chart3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80.xml.rels><?xml version="1.0" encoding="UTF-8" standalone="yes"?>
<Relationships xmlns="http://schemas.openxmlformats.org/package/2006/relationships"><Relationship Id="rId3" Type="http://schemas.openxmlformats.org/officeDocument/2006/relationships/chart" Target="../charts/chart40.xm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chart" Target="../charts/chart41.xml"/><Relationship Id="rId1" Type="http://schemas.openxmlformats.org/officeDocument/2006/relationships/slideLayout" Target="../slideLayouts/slideLayout41.xml"/></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tags" Target="../tags/tag42.xml"/><Relationship Id="rId1" Type="http://schemas.openxmlformats.org/officeDocument/2006/relationships/vmlDrawing" Target="../drawings/vmlDrawing38.vml"/><Relationship Id="rId5" Type="http://schemas.openxmlformats.org/officeDocument/2006/relationships/image" Target="../media/image13.emf"/><Relationship Id="rId4" Type="http://schemas.openxmlformats.org/officeDocument/2006/relationships/oleObject" Target="../embeddings/oleObject27.bin"/></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tags" Target="../tags/tag43.xml"/><Relationship Id="rId1" Type="http://schemas.openxmlformats.org/officeDocument/2006/relationships/vmlDrawing" Target="../drawings/vmlDrawing39.vml"/><Relationship Id="rId5" Type="http://schemas.openxmlformats.org/officeDocument/2006/relationships/image" Target="../media/image13.emf"/><Relationship Id="rId4" Type="http://schemas.openxmlformats.org/officeDocument/2006/relationships/oleObject" Target="../embeddings/oleObject27.bin"/></Relationships>
</file>

<file path=ppt/slides/_rels/slide8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1.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41.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44.xml"/><Relationship Id="rId1" Type="http://schemas.openxmlformats.org/officeDocument/2006/relationships/vmlDrawing" Target="../drawings/vmlDrawing40.vml"/><Relationship Id="rId5" Type="http://schemas.openxmlformats.org/officeDocument/2006/relationships/image" Target="../media/image13.emf"/><Relationship Id="rId4" Type="http://schemas.openxmlformats.org/officeDocument/2006/relationships/oleObject" Target="../embeddings/oleObject28.bin"/></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45.xml"/><Relationship Id="rId1" Type="http://schemas.openxmlformats.org/officeDocument/2006/relationships/vmlDrawing" Target="../drawings/vmlDrawing41.vml"/><Relationship Id="rId5" Type="http://schemas.openxmlformats.org/officeDocument/2006/relationships/image" Target="../media/image13.emf"/><Relationship Id="rId4" Type="http://schemas.openxmlformats.org/officeDocument/2006/relationships/oleObject" Target="../embeddings/oleObject10.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46.xml"/><Relationship Id="rId1" Type="http://schemas.openxmlformats.org/officeDocument/2006/relationships/vmlDrawing" Target="../drawings/vmlDrawing42.vml"/><Relationship Id="rId5" Type="http://schemas.openxmlformats.org/officeDocument/2006/relationships/image" Target="../media/image13.emf"/><Relationship Id="rId4" Type="http://schemas.openxmlformats.org/officeDocument/2006/relationships/oleObject" Target="../embeddings/oleObject10.bin"/></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47.xml"/><Relationship Id="rId1" Type="http://schemas.openxmlformats.org/officeDocument/2006/relationships/vmlDrawing" Target="../drawings/vmlDrawing43.vml"/><Relationship Id="rId5" Type="http://schemas.openxmlformats.org/officeDocument/2006/relationships/image" Target="../media/image13.emf"/><Relationship Id="rId4" Type="http://schemas.openxmlformats.org/officeDocument/2006/relationships/oleObject" Target="../embeddings/oleObject9.bin"/></Relationships>
</file>

<file path=ppt/slides/_rels/slide99.xml.rels><?xml version="1.0" encoding="UTF-8" standalone="yes"?>
<Relationships xmlns="http://schemas.openxmlformats.org/package/2006/relationships"><Relationship Id="rId8" Type="http://schemas.openxmlformats.org/officeDocument/2006/relationships/chart" Target="../charts/chart43.xml"/><Relationship Id="rId3" Type="http://schemas.openxmlformats.org/officeDocument/2006/relationships/slideLayout" Target="../slideLayouts/slideLayout41.xml"/><Relationship Id="rId7" Type="http://schemas.openxmlformats.org/officeDocument/2006/relationships/chart" Target="../charts/chart42.xml"/><Relationship Id="rId2" Type="http://schemas.openxmlformats.org/officeDocument/2006/relationships/tags" Target="../tags/tag48.xml"/><Relationship Id="rId1" Type="http://schemas.openxmlformats.org/officeDocument/2006/relationships/vmlDrawing" Target="../drawings/vmlDrawing44.vml"/><Relationship Id="rId6" Type="http://schemas.openxmlformats.org/officeDocument/2006/relationships/image" Target="../media/image13.emf"/><Relationship Id="rId5" Type="http://schemas.openxmlformats.org/officeDocument/2006/relationships/oleObject" Target="../embeddings/oleObject29.bin"/><Relationship Id="rId4" Type="http://schemas.openxmlformats.org/officeDocument/2006/relationships/notesSlide" Target="../notesSlides/notesSlide5.xml"/></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41.xml"/><Relationship Id="rId7" Type="http://schemas.openxmlformats.org/officeDocument/2006/relationships/chart" Target="../charts/chart44.xml"/><Relationship Id="rId2" Type="http://schemas.openxmlformats.org/officeDocument/2006/relationships/tags" Target="../tags/tag49.xml"/><Relationship Id="rId1" Type="http://schemas.openxmlformats.org/officeDocument/2006/relationships/vmlDrawing" Target="../drawings/vmlDrawing45.vml"/><Relationship Id="rId6" Type="http://schemas.openxmlformats.org/officeDocument/2006/relationships/image" Target="../media/image13.emf"/><Relationship Id="rId5" Type="http://schemas.openxmlformats.org/officeDocument/2006/relationships/oleObject" Target="../embeddings/oleObject30.bin"/><Relationship Id="rId4" Type="http://schemas.openxmlformats.org/officeDocument/2006/relationships/notesSlide" Target="../notesSlides/notesSlide6.xml"/></Relationships>
</file>

<file path=ppt/slides/_rels/slide101.xml.rels><?xml version="1.0" encoding="UTF-8" standalone="yes"?>
<Relationships xmlns="http://schemas.openxmlformats.org/package/2006/relationships"><Relationship Id="rId8" Type="http://schemas.openxmlformats.org/officeDocument/2006/relationships/chart" Target="../charts/chart46.xml"/><Relationship Id="rId3" Type="http://schemas.openxmlformats.org/officeDocument/2006/relationships/slideLayout" Target="../slideLayouts/slideLayout41.xml"/><Relationship Id="rId7" Type="http://schemas.openxmlformats.org/officeDocument/2006/relationships/chart" Target="../charts/chart45.xml"/><Relationship Id="rId2" Type="http://schemas.openxmlformats.org/officeDocument/2006/relationships/tags" Target="../tags/tag50.xml"/><Relationship Id="rId1" Type="http://schemas.openxmlformats.org/officeDocument/2006/relationships/vmlDrawing" Target="../drawings/vmlDrawing46.vml"/><Relationship Id="rId6" Type="http://schemas.openxmlformats.org/officeDocument/2006/relationships/image" Target="../media/image13.emf"/><Relationship Id="rId5" Type="http://schemas.openxmlformats.org/officeDocument/2006/relationships/oleObject" Target="../embeddings/oleObject31.bin"/><Relationship Id="rId4" Type="http://schemas.openxmlformats.org/officeDocument/2006/relationships/notesSlide" Target="../notesSlides/notesSlide7.xml"/><Relationship Id="rId9" Type="http://schemas.openxmlformats.org/officeDocument/2006/relationships/chart" Target="../charts/chart47.xml"/></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tags" Target="../tags/tag51.xml"/><Relationship Id="rId1" Type="http://schemas.openxmlformats.org/officeDocument/2006/relationships/vmlDrawing" Target="../drawings/vmlDrawing47.vml"/><Relationship Id="rId6" Type="http://schemas.openxmlformats.org/officeDocument/2006/relationships/image" Target="../media/image13.emf"/><Relationship Id="rId5" Type="http://schemas.openxmlformats.org/officeDocument/2006/relationships/oleObject" Target="../embeddings/oleObject32.bin"/><Relationship Id="rId4" Type="http://schemas.openxmlformats.org/officeDocument/2006/relationships/notesSlide" Target="../notesSlides/notesSlide8.xml"/></Relationships>
</file>

<file path=ppt/slides/_rels/slide10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40.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04.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9.xml"/><Relationship Id="rId7" Type="http://schemas.openxmlformats.org/officeDocument/2006/relationships/diagramData" Target="../diagrams/data10.xml"/><Relationship Id="rId2" Type="http://schemas.openxmlformats.org/officeDocument/2006/relationships/diagramData" Target="../diagrams/data9.xml"/><Relationship Id="rId1" Type="http://schemas.openxmlformats.org/officeDocument/2006/relationships/slideLayout" Target="../slideLayouts/slideLayout40.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s>
</file>

<file path=ppt/slides/_rels/slide105.xml.rels><?xml version="1.0" encoding="UTF-8" standalone="yes"?>
<Relationships xmlns="http://schemas.openxmlformats.org/package/2006/relationships"><Relationship Id="rId8" Type="http://schemas.openxmlformats.org/officeDocument/2006/relationships/diagramLayout" Target="../diagrams/layout12.xml"/><Relationship Id="rId3" Type="http://schemas.openxmlformats.org/officeDocument/2006/relationships/diagramLayout" Target="../diagrams/layout11.xml"/><Relationship Id="rId7" Type="http://schemas.openxmlformats.org/officeDocument/2006/relationships/diagramData" Target="../diagrams/data12.xml"/><Relationship Id="rId2" Type="http://schemas.openxmlformats.org/officeDocument/2006/relationships/diagramData" Target="../diagrams/data11.xml"/><Relationship Id="rId1" Type="http://schemas.openxmlformats.org/officeDocument/2006/relationships/slideLayout" Target="../slideLayouts/slideLayout40.xml"/><Relationship Id="rId6" Type="http://schemas.microsoft.com/office/2007/relationships/diagramDrawing" Target="../diagrams/drawing11.xml"/><Relationship Id="rId11" Type="http://schemas.microsoft.com/office/2007/relationships/diagramDrawing" Target="../diagrams/drawing12.xml"/><Relationship Id="rId5" Type="http://schemas.openxmlformats.org/officeDocument/2006/relationships/diagramColors" Target="../diagrams/colors11.xml"/><Relationship Id="rId10" Type="http://schemas.openxmlformats.org/officeDocument/2006/relationships/diagramColors" Target="../diagrams/colors12.xml"/><Relationship Id="rId4" Type="http://schemas.openxmlformats.org/officeDocument/2006/relationships/diagramQuickStyle" Target="../diagrams/quickStyle11.xml"/><Relationship Id="rId9" Type="http://schemas.openxmlformats.org/officeDocument/2006/relationships/diagramQuickStyle" Target="../diagrams/quickStyle12.xml"/></Relationships>
</file>

<file path=ppt/slides/_rels/slide10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15.png"/><Relationship Id="rId1" Type="http://schemas.openxmlformats.org/officeDocument/2006/relationships/slideLayout" Target="../slideLayouts/slideLayout40.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09.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40.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10.xml.rels><?xml version="1.0" encoding="UTF-8" standalone="yes"?>
<Relationships xmlns="http://schemas.openxmlformats.org/package/2006/relationships"><Relationship Id="rId26" Type="http://schemas.openxmlformats.org/officeDocument/2006/relationships/image" Target="../media/image36.png"/><Relationship Id="rId21" Type="http://schemas.openxmlformats.org/officeDocument/2006/relationships/image" Target="../media/image31.png"/><Relationship Id="rId42" Type="http://schemas.openxmlformats.org/officeDocument/2006/relationships/image" Target="../media/image52.png"/><Relationship Id="rId47" Type="http://schemas.openxmlformats.org/officeDocument/2006/relationships/image" Target="../media/image57.png"/><Relationship Id="rId63" Type="http://schemas.openxmlformats.org/officeDocument/2006/relationships/image" Target="../media/image73.png"/><Relationship Id="rId68" Type="http://schemas.openxmlformats.org/officeDocument/2006/relationships/image" Target="../media/image78.png"/><Relationship Id="rId7" Type="http://schemas.openxmlformats.org/officeDocument/2006/relationships/image" Target="../media/image13.emf"/><Relationship Id="rId2" Type="http://schemas.openxmlformats.org/officeDocument/2006/relationships/tags" Target="../tags/tag52.xml"/><Relationship Id="rId16" Type="http://schemas.openxmlformats.org/officeDocument/2006/relationships/image" Target="../media/image26.png"/><Relationship Id="rId29" Type="http://schemas.openxmlformats.org/officeDocument/2006/relationships/image" Target="../media/image39.png"/><Relationship Id="rId11" Type="http://schemas.openxmlformats.org/officeDocument/2006/relationships/image" Target="../media/image21.png"/><Relationship Id="rId24" Type="http://schemas.openxmlformats.org/officeDocument/2006/relationships/image" Target="../media/image34.png"/><Relationship Id="rId32" Type="http://schemas.openxmlformats.org/officeDocument/2006/relationships/image" Target="../media/image42.png"/><Relationship Id="rId37" Type="http://schemas.openxmlformats.org/officeDocument/2006/relationships/image" Target="../media/image47.png"/><Relationship Id="rId40" Type="http://schemas.openxmlformats.org/officeDocument/2006/relationships/image" Target="../media/image50.png"/><Relationship Id="rId45" Type="http://schemas.openxmlformats.org/officeDocument/2006/relationships/image" Target="../media/image55.png"/><Relationship Id="rId53" Type="http://schemas.openxmlformats.org/officeDocument/2006/relationships/image" Target="../media/image63.png"/><Relationship Id="rId58" Type="http://schemas.openxmlformats.org/officeDocument/2006/relationships/image" Target="../media/image68.png"/><Relationship Id="rId66" Type="http://schemas.openxmlformats.org/officeDocument/2006/relationships/image" Target="../media/image76.png"/><Relationship Id="rId5" Type="http://schemas.openxmlformats.org/officeDocument/2006/relationships/image" Target="../media/image17.png"/><Relationship Id="rId61" Type="http://schemas.openxmlformats.org/officeDocument/2006/relationships/image" Target="../media/image71.png"/><Relationship Id="rId19" Type="http://schemas.openxmlformats.org/officeDocument/2006/relationships/image" Target="../media/image29.png"/><Relationship Id="rId14" Type="http://schemas.openxmlformats.org/officeDocument/2006/relationships/image" Target="../media/image24.png"/><Relationship Id="rId22" Type="http://schemas.openxmlformats.org/officeDocument/2006/relationships/image" Target="../media/image32.png"/><Relationship Id="rId27" Type="http://schemas.openxmlformats.org/officeDocument/2006/relationships/image" Target="../media/image37.png"/><Relationship Id="rId30" Type="http://schemas.openxmlformats.org/officeDocument/2006/relationships/image" Target="../media/image40.png"/><Relationship Id="rId35" Type="http://schemas.openxmlformats.org/officeDocument/2006/relationships/image" Target="../media/image45.png"/><Relationship Id="rId43" Type="http://schemas.openxmlformats.org/officeDocument/2006/relationships/image" Target="../media/image53.png"/><Relationship Id="rId48" Type="http://schemas.openxmlformats.org/officeDocument/2006/relationships/image" Target="../media/image58.png"/><Relationship Id="rId56" Type="http://schemas.openxmlformats.org/officeDocument/2006/relationships/image" Target="../media/image66.png"/><Relationship Id="rId64" Type="http://schemas.openxmlformats.org/officeDocument/2006/relationships/image" Target="../media/image74.png"/><Relationship Id="rId69" Type="http://schemas.openxmlformats.org/officeDocument/2006/relationships/image" Target="../media/image79.png"/><Relationship Id="rId8" Type="http://schemas.openxmlformats.org/officeDocument/2006/relationships/image" Target="../media/image18.png"/><Relationship Id="rId51" Type="http://schemas.openxmlformats.org/officeDocument/2006/relationships/image" Target="../media/image61.png"/><Relationship Id="rId3" Type="http://schemas.openxmlformats.org/officeDocument/2006/relationships/slideLayout" Target="../slideLayouts/slideLayout41.xml"/><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33" Type="http://schemas.openxmlformats.org/officeDocument/2006/relationships/image" Target="../media/image43.png"/><Relationship Id="rId38" Type="http://schemas.openxmlformats.org/officeDocument/2006/relationships/image" Target="../media/image48.png"/><Relationship Id="rId46" Type="http://schemas.openxmlformats.org/officeDocument/2006/relationships/image" Target="../media/image56.png"/><Relationship Id="rId59" Type="http://schemas.openxmlformats.org/officeDocument/2006/relationships/image" Target="../media/image69.png"/><Relationship Id="rId67" Type="http://schemas.openxmlformats.org/officeDocument/2006/relationships/image" Target="../media/image77.png"/><Relationship Id="rId20" Type="http://schemas.openxmlformats.org/officeDocument/2006/relationships/image" Target="../media/image30.png"/><Relationship Id="rId41" Type="http://schemas.openxmlformats.org/officeDocument/2006/relationships/image" Target="../media/image51.png"/><Relationship Id="rId54" Type="http://schemas.openxmlformats.org/officeDocument/2006/relationships/image" Target="../media/image64.png"/><Relationship Id="rId62" Type="http://schemas.openxmlformats.org/officeDocument/2006/relationships/image" Target="../media/image72.png"/><Relationship Id="rId70" Type="http://schemas.openxmlformats.org/officeDocument/2006/relationships/image" Target="../media/image80.png"/><Relationship Id="rId1" Type="http://schemas.openxmlformats.org/officeDocument/2006/relationships/vmlDrawing" Target="../drawings/vmlDrawing48.vml"/><Relationship Id="rId6" Type="http://schemas.openxmlformats.org/officeDocument/2006/relationships/oleObject" Target="../embeddings/oleObject33.bin"/><Relationship Id="rId15" Type="http://schemas.openxmlformats.org/officeDocument/2006/relationships/image" Target="../media/image25.png"/><Relationship Id="rId23" Type="http://schemas.openxmlformats.org/officeDocument/2006/relationships/image" Target="../media/image33.png"/><Relationship Id="rId28" Type="http://schemas.openxmlformats.org/officeDocument/2006/relationships/image" Target="../media/image38.png"/><Relationship Id="rId36" Type="http://schemas.openxmlformats.org/officeDocument/2006/relationships/image" Target="../media/image46.png"/><Relationship Id="rId49" Type="http://schemas.openxmlformats.org/officeDocument/2006/relationships/image" Target="../media/image59.png"/><Relationship Id="rId57" Type="http://schemas.openxmlformats.org/officeDocument/2006/relationships/image" Target="../media/image67.png"/><Relationship Id="rId10" Type="http://schemas.openxmlformats.org/officeDocument/2006/relationships/image" Target="../media/image20.png"/><Relationship Id="rId31" Type="http://schemas.openxmlformats.org/officeDocument/2006/relationships/image" Target="../media/image41.png"/><Relationship Id="rId44" Type="http://schemas.openxmlformats.org/officeDocument/2006/relationships/image" Target="../media/image54.png"/><Relationship Id="rId52" Type="http://schemas.openxmlformats.org/officeDocument/2006/relationships/image" Target="../media/image62.png"/><Relationship Id="rId60" Type="http://schemas.openxmlformats.org/officeDocument/2006/relationships/image" Target="../media/image70.png"/><Relationship Id="rId65" Type="http://schemas.openxmlformats.org/officeDocument/2006/relationships/image" Target="../media/image75.png"/><Relationship Id="rId4" Type="http://schemas.openxmlformats.org/officeDocument/2006/relationships/notesSlide" Target="../notesSlides/notesSlide9.xml"/><Relationship Id="rId9" Type="http://schemas.openxmlformats.org/officeDocument/2006/relationships/image" Target="../media/image19.png"/><Relationship Id="rId13" Type="http://schemas.openxmlformats.org/officeDocument/2006/relationships/image" Target="../media/image23.png"/><Relationship Id="rId18" Type="http://schemas.openxmlformats.org/officeDocument/2006/relationships/image" Target="../media/image28.png"/><Relationship Id="rId39" Type="http://schemas.openxmlformats.org/officeDocument/2006/relationships/image" Target="../media/image49.png"/><Relationship Id="rId34" Type="http://schemas.openxmlformats.org/officeDocument/2006/relationships/image" Target="../media/image44.png"/><Relationship Id="rId50" Type="http://schemas.openxmlformats.org/officeDocument/2006/relationships/image" Target="../media/image60.png"/><Relationship Id="rId55" Type="http://schemas.openxmlformats.org/officeDocument/2006/relationships/image" Target="../media/image65.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13.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tags" Target="../tags/tag53.xml"/><Relationship Id="rId1" Type="http://schemas.openxmlformats.org/officeDocument/2006/relationships/vmlDrawing" Target="../drawings/vmlDrawing49.vml"/><Relationship Id="rId6" Type="http://schemas.openxmlformats.org/officeDocument/2006/relationships/image" Target="../media/image13.emf"/><Relationship Id="rId5" Type="http://schemas.openxmlformats.org/officeDocument/2006/relationships/oleObject" Target="../embeddings/oleObject34.bin"/><Relationship Id="rId4" Type="http://schemas.openxmlformats.org/officeDocument/2006/relationships/notesSlide" Target="../notesSlides/notesSlide10.xml"/></Relationships>
</file>

<file path=ppt/slides/_rels/slide114.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tags" Target="../tags/tag54.xml"/><Relationship Id="rId1" Type="http://schemas.openxmlformats.org/officeDocument/2006/relationships/vmlDrawing" Target="../drawings/vmlDrawing50.vml"/><Relationship Id="rId6" Type="http://schemas.openxmlformats.org/officeDocument/2006/relationships/image" Target="../media/image13.emf"/><Relationship Id="rId5" Type="http://schemas.openxmlformats.org/officeDocument/2006/relationships/oleObject" Target="../embeddings/oleObject35.bin"/><Relationship Id="rId4" Type="http://schemas.openxmlformats.org/officeDocument/2006/relationships/notesSlide" Target="../notesSlides/notesSlide11.xml"/></Relationships>
</file>

<file path=ppt/slides/_rels/slide115.xml.rels><?xml version="1.0" encoding="UTF-8" standalone="yes"?>
<Relationships xmlns="http://schemas.openxmlformats.org/package/2006/relationships"><Relationship Id="rId8" Type="http://schemas.openxmlformats.org/officeDocument/2006/relationships/image" Target="../media/image81.emf"/><Relationship Id="rId3" Type="http://schemas.openxmlformats.org/officeDocument/2006/relationships/slideLayout" Target="../slideLayouts/slideLayout41.xml"/><Relationship Id="rId7" Type="http://schemas.openxmlformats.org/officeDocument/2006/relationships/package" Target="../embeddings/Microsoft_Excel_Worksheet47.xlsx"/><Relationship Id="rId2" Type="http://schemas.openxmlformats.org/officeDocument/2006/relationships/tags" Target="../tags/tag55.xml"/><Relationship Id="rId1" Type="http://schemas.openxmlformats.org/officeDocument/2006/relationships/vmlDrawing" Target="../drawings/vmlDrawing51.vml"/><Relationship Id="rId6" Type="http://schemas.openxmlformats.org/officeDocument/2006/relationships/image" Target="../media/image13.emf"/><Relationship Id="rId5" Type="http://schemas.openxmlformats.org/officeDocument/2006/relationships/oleObject" Target="../embeddings/oleObject36.bin"/><Relationship Id="rId4" Type="http://schemas.openxmlformats.org/officeDocument/2006/relationships/notesSlide" Target="../notesSlides/notesSlide12.xml"/></Relationships>
</file>

<file path=ppt/slides/_rels/slide116.xml.rels><?xml version="1.0" encoding="UTF-8" standalone="yes"?>
<Relationships xmlns="http://schemas.openxmlformats.org/package/2006/relationships"><Relationship Id="rId8" Type="http://schemas.openxmlformats.org/officeDocument/2006/relationships/diagramLayout" Target="../diagrams/layout15.xml"/><Relationship Id="rId3" Type="http://schemas.openxmlformats.org/officeDocument/2006/relationships/slideLayout" Target="../slideLayouts/slideLayout41.xml"/><Relationship Id="rId7" Type="http://schemas.openxmlformats.org/officeDocument/2006/relationships/diagramData" Target="../diagrams/data15.xml"/><Relationship Id="rId2" Type="http://schemas.openxmlformats.org/officeDocument/2006/relationships/tags" Target="../tags/tag56.xml"/><Relationship Id="rId1" Type="http://schemas.openxmlformats.org/officeDocument/2006/relationships/vmlDrawing" Target="../drawings/vmlDrawing52.vml"/><Relationship Id="rId6" Type="http://schemas.openxmlformats.org/officeDocument/2006/relationships/image" Target="../media/image13.emf"/><Relationship Id="rId11" Type="http://schemas.microsoft.com/office/2007/relationships/diagramDrawing" Target="../diagrams/drawing15.xml"/><Relationship Id="rId5" Type="http://schemas.openxmlformats.org/officeDocument/2006/relationships/oleObject" Target="../embeddings/oleObject37.bin"/><Relationship Id="rId10" Type="http://schemas.openxmlformats.org/officeDocument/2006/relationships/diagramColors" Target="../diagrams/colors15.xml"/><Relationship Id="rId4" Type="http://schemas.openxmlformats.org/officeDocument/2006/relationships/notesSlide" Target="../notesSlides/notesSlide13.xml"/><Relationship Id="rId9" Type="http://schemas.openxmlformats.org/officeDocument/2006/relationships/diagramQuickStyle" Target="../diagrams/quickStyle15.xml"/></Relationships>
</file>

<file path=ppt/slides/_rels/slide117.xml.rels><?xml version="1.0" encoding="UTF-8" standalone="yes"?>
<Relationships xmlns="http://schemas.openxmlformats.org/package/2006/relationships"><Relationship Id="rId8" Type="http://schemas.openxmlformats.org/officeDocument/2006/relationships/diagramLayout" Target="../diagrams/layout16.xml"/><Relationship Id="rId3" Type="http://schemas.openxmlformats.org/officeDocument/2006/relationships/slideLayout" Target="../slideLayouts/slideLayout41.xml"/><Relationship Id="rId7" Type="http://schemas.openxmlformats.org/officeDocument/2006/relationships/diagramData" Target="../diagrams/data16.xml"/><Relationship Id="rId2" Type="http://schemas.openxmlformats.org/officeDocument/2006/relationships/tags" Target="../tags/tag57.xml"/><Relationship Id="rId1" Type="http://schemas.openxmlformats.org/officeDocument/2006/relationships/vmlDrawing" Target="../drawings/vmlDrawing53.vml"/><Relationship Id="rId6" Type="http://schemas.openxmlformats.org/officeDocument/2006/relationships/image" Target="../media/image13.emf"/><Relationship Id="rId11" Type="http://schemas.microsoft.com/office/2007/relationships/diagramDrawing" Target="../diagrams/drawing16.xml"/><Relationship Id="rId5" Type="http://schemas.openxmlformats.org/officeDocument/2006/relationships/oleObject" Target="../embeddings/oleObject38.bin"/><Relationship Id="rId10" Type="http://schemas.openxmlformats.org/officeDocument/2006/relationships/diagramColors" Target="../diagrams/colors16.xml"/><Relationship Id="rId4" Type="http://schemas.openxmlformats.org/officeDocument/2006/relationships/notesSlide" Target="../notesSlides/notesSlide14.xml"/><Relationship Id="rId9" Type="http://schemas.openxmlformats.org/officeDocument/2006/relationships/diagramQuickStyle" Target="../diagrams/quickStyle16.xml"/></Relationships>
</file>

<file path=ppt/slides/_rels/slide118.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58.xml"/><Relationship Id="rId1" Type="http://schemas.openxmlformats.org/officeDocument/2006/relationships/vmlDrawing" Target="../drawings/vmlDrawing54.vml"/><Relationship Id="rId5" Type="http://schemas.openxmlformats.org/officeDocument/2006/relationships/image" Target="../media/image13.emf"/><Relationship Id="rId4" Type="http://schemas.openxmlformats.org/officeDocument/2006/relationships/oleObject" Target="../embeddings/oleObject39.bin"/></Relationships>
</file>

<file path=ppt/slides/_rels/slide119.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59.xml"/><Relationship Id="rId1" Type="http://schemas.openxmlformats.org/officeDocument/2006/relationships/vmlDrawing" Target="../drawings/vmlDrawing55.vml"/><Relationship Id="rId5" Type="http://schemas.openxmlformats.org/officeDocument/2006/relationships/image" Target="../media/image13.emf"/><Relationship Id="rId4" Type="http://schemas.openxmlformats.org/officeDocument/2006/relationships/oleObject" Target="../embeddings/oleObject40.bin"/></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2.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41.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123.xml.rels><?xml version="1.0" encoding="UTF-8" standalone="yes"?>
<Relationships xmlns="http://schemas.openxmlformats.org/package/2006/relationships"><Relationship Id="rId8" Type="http://schemas.openxmlformats.org/officeDocument/2006/relationships/diagramLayout" Target="../diagrams/layout19.xml"/><Relationship Id="rId3" Type="http://schemas.openxmlformats.org/officeDocument/2006/relationships/diagramLayout" Target="../diagrams/layout18.xml"/><Relationship Id="rId7" Type="http://schemas.openxmlformats.org/officeDocument/2006/relationships/diagramData" Target="../diagrams/data19.xml"/><Relationship Id="rId12" Type="http://schemas.openxmlformats.org/officeDocument/2006/relationships/image" Target="../media/image82.png"/><Relationship Id="rId2" Type="http://schemas.openxmlformats.org/officeDocument/2006/relationships/diagramData" Target="../diagrams/data18.xml"/><Relationship Id="rId1" Type="http://schemas.openxmlformats.org/officeDocument/2006/relationships/slideLayout" Target="../slideLayouts/slideLayout41.xml"/><Relationship Id="rId6" Type="http://schemas.microsoft.com/office/2007/relationships/diagramDrawing" Target="../diagrams/drawing18.xml"/><Relationship Id="rId11" Type="http://schemas.microsoft.com/office/2007/relationships/diagramDrawing" Target="../diagrams/drawing19.xml"/><Relationship Id="rId5" Type="http://schemas.openxmlformats.org/officeDocument/2006/relationships/diagramColors" Target="../diagrams/colors18.xml"/><Relationship Id="rId10" Type="http://schemas.openxmlformats.org/officeDocument/2006/relationships/diagramColors" Target="../diagrams/colors19.xml"/><Relationship Id="rId4" Type="http://schemas.openxmlformats.org/officeDocument/2006/relationships/diagramQuickStyle" Target="../diagrams/quickStyle18.xml"/><Relationship Id="rId9" Type="http://schemas.openxmlformats.org/officeDocument/2006/relationships/diagramQuickStyle" Target="../diagrams/quickStyle19.xml"/></Relationships>
</file>

<file path=ppt/slides/_rels/slide124.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60.xml"/><Relationship Id="rId1" Type="http://schemas.openxmlformats.org/officeDocument/2006/relationships/vmlDrawing" Target="../drawings/vmlDrawing56.vml"/><Relationship Id="rId5" Type="http://schemas.openxmlformats.org/officeDocument/2006/relationships/image" Target="../media/image13.emf"/><Relationship Id="rId4" Type="http://schemas.openxmlformats.org/officeDocument/2006/relationships/oleObject" Target="../embeddings/oleObject40.bin"/></Relationships>
</file>

<file path=ppt/slides/_rels/slide125.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15.xml"/><Relationship Id="rId1" Type="http://schemas.openxmlformats.org/officeDocument/2006/relationships/slideLayout" Target="../slideLayouts/slideLayout41.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2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41.xml"/><Relationship Id="rId6" Type="http://schemas.openxmlformats.org/officeDocument/2006/relationships/image" Target="../media/image87.png"/><Relationship Id="rId5" Type="http://schemas.openxmlformats.org/officeDocument/2006/relationships/image" Target="../media/image86.jpeg"/><Relationship Id="rId4" Type="http://schemas.openxmlformats.org/officeDocument/2006/relationships/image" Target="../media/image85.png"/></Relationships>
</file>

<file path=ppt/slides/_rels/slide12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6.xml"/><Relationship Id="rId1" Type="http://schemas.openxmlformats.org/officeDocument/2006/relationships/slideLayout" Target="../slideLayouts/slideLayout41.xml"/><Relationship Id="rId5" Type="http://schemas.openxmlformats.org/officeDocument/2006/relationships/hyperlink" Target="https://www.wbcsd.org/contentwbc/download/11241/165820/1" TargetMode="External"/><Relationship Id="rId4" Type="http://schemas.openxmlformats.org/officeDocument/2006/relationships/image" Target="../media/image89.png"/></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1.xml"/></Relationships>
</file>

<file path=ppt/slides/_rels/slide130.xml.rels><?xml version="1.0" encoding="UTF-8" standalone="yes"?>
<Relationships xmlns="http://schemas.openxmlformats.org/package/2006/relationships"><Relationship Id="rId8" Type="http://schemas.openxmlformats.org/officeDocument/2006/relationships/hyperlink" Target="https://www.pace-d.com/wp-content/uploads/2021/07/Green-ToD-White-Paper_1.pdf" TargetMode="External"/><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18.xml"/><Relationship Id="rId1" Type="http://schemas.openxmlformats.org/officeDocument/2006/relationships/slideLayout" Target="../slideLayouts/slideLayout41.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131.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19.xml"/><Relationship Id="rId1" Type="http://schemas.openxmlformats.org/officeDocument/2006/relationships/slideLayout" Target="../slideLayouts/slideLayout41.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132.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20.xml"/><Relationship Id="rId1" Type="http://schemas.openxmlformats.org/officeDocument/2006/relationships/slideLayout" Target="../slideLayouts/slideLayout41.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1.xml"/></Relationships>
</file>

<file path=ppt/slides/_rels/slide134.xml.rels><?xml version="1.0" encoding="UTF-8" standalone="yes"?>
<Relationships xmlns="http://schemas.openxmlformats.org/package/2006/relationships"><Relationship Id="rId3" Type="http://schemas.openxmlformats.org/officeDocument/2006/relationships/chart" Target="../charts/chart48.xml"/><Relationship Id="rId2" Type="http://schemas.openxmlformats.org/officeDocument/2006/relationships/notesSlide" Target="../notesSlides/notesSlide22.xml"/><Relationship Id="rId1" Type="http://schemas.openxmlformats.org/officeDocument/2006/relationships/slideLayout" Target="../slideLayouts/slideLayout41.xml"/><Relationship Id="rId4" Type="http://schemas.openxmlformats.org/officeDocument/2006/relationships/hyperlink" Target="https://bescom.karnataka.gov.in/storage/pdf-files/RA%20section/Electricity%20rates.xlsx" TargetMode="Externa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1.xml"/></Relationships>
</file>

<file path=ppt/slides/_rels/slide143.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61.xml"/><Relationship Id="rId1" Type="http://schemas.openxmlformats.org/officeDocument/2006/relationships/vmlDrawing" Target="../drawings/vmlDrawing57.vml"/><Relationship Id="rId5" Type="http://schemas.openxmlformats.org/officeDocument/2006/relationships/image" Target="../media/image13.emf"/><Relationship Id="rId4" Type="http://schemas.openxmlformats.org/officeDocument/2006/relationships/oleObject" Target="../embeddings/oleObject41.bin"/></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46.xml.rels><?xml version="1.0" encoding="UTF-8" standalone="yes"?>
<Relationships xmlns="http://schemas.openxmlformats.org/package/2006/relationships"><Relationship Id="rId3" Type="http://schemas.openxmlformats.org/officeDocument/2006/relationships/diagramLayout" Target="../diagrams/layout24.xml"/><Relationship Id="rId7" Type="http://schemas.openxmlformats.org/officeDocument/2006/relationships/image" Target="../media/image90.png"/><Relationship Id="rId2" Type="http://schemas.openxmlformats.org/officeDocument/2006/relationships/diagramData" Target="../diagrams/data24.xml"/><Relationship Id="rId1" Type="http://schemas.openxmlformats.org/officeDocument/2006/relationships/slideLayout" Target="../slideLayouts/slideLayout40.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147.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40.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50.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40.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151.xml.rels><?xml version="1.0" encoding="UTF-8" standalone="yes"?>
<Relationships xmlns="http://schemas.openxmlformats.org/package/2006/relationships"><Relationship Id="rId3" Type="http://schemas.openxmlformats.org/officeDocument/2006/relationships/chart" Target="../charts/chart50.xml"/><Relationship Id="rId2" Type="http://schemas.openxmlformats.org/officeDocument/2006/relationships/chart" Target="../charts/chart49.xml"/><Relationship Id="rId1" Type="http://schemas.openxmlformats.org/officeDocument/2006/relationships/slideLayout" Target="../slideLayouts/slideLayout4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53.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62.xml"/><Relationship Id="rId1" Type="http://schemas.openxmlformats.org/officeDocument/2006/relationships/vmlDrawing" Target="../drawings/vmlDrawing58.vml"/><Relationship Id="rId5" Type="http://schemas.openxmlformats.org/officeDocument/2006/relationships/image" Target="../media/image13.emf"/><Relationship Id="rId4" Type="http://schemas.openxmlformats.org/officeDocument/2006/relationships/oleObject" Target="../embeddings/oleObject41.bin"/></Relationships>
</file>

<file path=ppt/slides/_rels/slide154.xml.rels><?xml version="1.0" encoding="UTF-8" standalone="yes"?>
<Relationships xmlns="http://schemas.openxmlformats.org/package/2006/relationships"><Relationship Id="rId3" Type="http://schemas.openxmlformats.org/officeDocument/2006/relationships/chart" Target="../charts/chart51.xml"/><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155.xml.rels><?xml version="1.0" encoding="UTF-8" standalone="yes"?>
<Relationships xmlns="http://schemas.openxmlformats.org/package/2006/relationships"><Relationship Id="rId3" Type="http://schemas.openxmlformats.org/officeDocument/2006/relationships/chart" Target="../charts/chart52.xml"/><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156.xml.rels><?xml version="1.0" encoding="UTF-8" standalone="yes"?>
<Relationships xmlns="http://schemas.openxmlformats.org/package/2006/relationships"><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notesSlide" Target="../notesSlides/notesSlide33.xml"/><Relationship Id="rId1" Type="http://schemas.openxmlformats.org/officeDocument/2006/relationships/slideLayout" Target="../slideLayouts/slideLayout6.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157.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63.xml"/><Relationship Id="rId1" Type="http://schemas.openxmlformats.org/officeDocument/2006/relationships/vmlDrawing" Target="../drawings/vmlDrawing59.vml"/><Relationship Id="rId5" Type="http://schemas.openxmlformats.org/officeDocument/2006/relationships/image" Target="../media/image13.emf"/><Relationship Id="rId4" Type="http://schemas.openxmlformats.org/officeDocument/2006/relationships/oleObject" Target="../embeddings/oleObject42.bin"/></Relationships>
</file>

<file path=ppt/slides/_rels/slide158.xml.rels><?xml version="1.0" encoding="UTF-8" standalone="yes"?>
<Relationships xmlns="http://schemas.openxmlformats.org/package/2006/relationships"><Relationship Id="rId3" Type="http://schemas.openxmlformats.org/officeDocument/2006/relationships/chart" Target="../charts/chart54.xml"/><Relationship Id="rId2" Type="http://schemas.openxmlformats.org/officeDocument/2006/relationships/chart" Target="../charts/chart53.xml"/><Relationship Id="rId1" Type="http://schemas.openxmlformats.org/officeDocument/2006/relationships/slideLayout" Target="../slideLayouts/slideLayout4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6.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162.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64.xml"/><Relationship Id="rId1" Type="http://schemas.openxmlformats.org/officeDocument/2006/relationships/vmlDrawing" Target="../drawings/vmlDrawing60.vml"/><Relationship Id="rId5" Type="http://schemas.openxmlformats.org/officeDocument/2006/relationships/image" Target="../media/image13.emf"/><Relationship Id="rId4" Type="http://schemas.openxmlformats.org/officeDocument/2006/relationships/oleObject" Target="../embeddings/oleObject43.bin"/></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1.xml"/></Relationships>
</file>

<file path=ppt/slides/_rels/slide164.xml.rels><?xml version="1.0" encoding="UTF-8" standalone="yes"?>
<Relationships xmlns="http://schemas.openxmlformats.org/package/2006/relationships"><Relationship Id="rId3" Type="http://schemas.openxmlformats.org/officeDocument/2006/relationships/slide" Target="slide167.xml"/><Relationship Id="rId2" Type="http://schemas.openxmlformats.org/officeDocument/2006/relationships/slide" Target="slide8.xml"/><Relationship Id="rId1" Type="http://schemas.openxmlformats.org/officeDocument/2006/relationships/slideLayout" Target="../slideLayouts/slideLayout18.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6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46.xml"/><Relationship Id="rId5" Type="http://schemas.openxmlformats.org/officeDocument/2006/relationships/image" Target="../media/image94.png"/><Relationship Id="rId4" Type="http://schemas.openxmlformats.org/officeDocument/2006/relationships/image" Target="../media/image93.png"/></Relationships>
</file>

<file path=ppt/slides/_rels/slide167.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06.png"/><Relationship Id="rId3" Type="http://schemas.openxmlformats.org/officeDocument/2006/relationships/image" Target="../media/image96.png"/><Relationship Id="rId7" Type="http://schemas.openxmlformats.org/officeDocument/2006/relationships/image" Target="../media/image100.png"/><Relationship Id="rId12" Type="http://schemas.openxmlformats.org/officeDocument/2006/relationships/image" Target="../media/image105.png"/><Relationship Id="rId2" Type="http://schemas.openxmlformats.org/officeDocument/2006/relationships/image" Target="../media/image95.png"/><Relationship Id="rId16" Type="http://schemas.openxmlformats.org/officeDocument/2006/relationships/image" Target="../media/image109.png"/><Relationship Id="rId1" Type="http://schemas.openxmlformats.org/officeDocument/2006/relationships/slideLayout" Target="../slideLayouts/slideLayout40.xml"/><Relationship Id="rId6" Type="http://schemas.openxmlformats.org/officeDocument/2006/relationships/image" Target="../media/image99.png"/><Relationship Id="rId11" Type="http://schemas.openxmlformats.org/officeDocument/2006/relationships/image" Target="../media/image104.png"/><Relationship Id="rId5" Type="http://schemas.openxmlformats.org/officeDocument/2006/relationships/image" Target="../media/image98.png"/><Relationship Id="rId15" Type="http://schemas.openxmlformats.org/officeDocument/2006/relationships/image" Target="../media/image108.png"/><Relationship Id="rId10" Type="http://schemas.openxmlformats.org/officeDocument/2006/relationships/image" Target="../media/image103.png"/><Relationship Id="rId4" Type="http://schemas.openxmlformats.org/officeDocument/2006/relationships/image" Target="../media/image97.png"/><Relationship Id="rId9" Type="http://schemas.openxmlformats.org/officeDocument/2006/relationships/image" Target="../media/image102.png"/><Relationship Id="rId14" Type="http://schemas.openxmlformats.org/officeDocument/2006/relationships/image" Target="../media/image107.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6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35.xml"/><Relationship Id="rId1" Type="http://schemas.openxmlformats.org/officeDocument/2006/relationships/slideLayout" Target="../slideLayouts/slideLayout31.xml"/><Relationship Id="rId6" Type="http://schemas.openxmlformats.org/officeDocument/2006/relationships/image" Target="../media/image113.jpeg"/><Relationship Id="rId5" Type="http://schemas.openxmlformats.org/officeDocument/2006/relationships/image" Target="../media/image112.jpeg"/><Relationship Id="rId4" Type="http://schemas.openxmlformats.org/officeDocument/2006/relationships/image" Target="../media/image111.png"/></Relationships>
</file>

<file path=ppt/slides/_rels/slide170.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8.xml"/><Relationship Id="rId1" Type="http://schemas.openxmlformats.org/officeDocument/2006/relationships/tags" Target="../tags/tag65.xml"/><Relationship Id="rId4" Type="http://schemas.openxmlformats.org/officeDocument/2006/relationships/image" Target="../media/image114.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l="-1000" r="-1000"/>
          </a:stretch>
        </a:blipFill>
        <a:effectLst/>
      </p:bgPr>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1791764" y="-246912"/>
          <a:ext cx="1495" cy="1495"/>
        </p:xfrm>
        <a:graphic>
          <a:graphicData uri="http://schemas.openxmlformats.org/presentationml/2006/ole">
            <mc:AlternateContent xmlns:mc="http://schemas.openxmlformats.org/markup-compatibility/2006">
              <mc:Choice xmlns:v="urn:schemas-microsoft-com:vml" Requires="v">
                <p:oleObj spid="_x0000_s6200" name="think-cell Slide" r:id="rId7" imgW="530" imgH="531" progId="TCLayout.ActiveDocument.1">
                  <p:embed/>
                </p:oleObj>
              </mc:Choice>
              <mc:Fallback>
                <p:oleObj name="think-cell Slide" r:id="rId7" imgW="530" imgH="531" progId="TCLayout.ActiveDocument.1">
                  <p:embed/>
                  <p:pic>
                    <p:nvPicPr>
                      <p:cNvPr id="8" name="Object 7" hidden="1"/>
                      <p:cNvPicPr/>
                      <p:nvPr/>
                    </p:nvPicPr>
                    <p:blipFill>
                      <a:blip r:embed="rId8"/>
                      <a:stretch>
                        <a:fillRect/>
                      </a:stretch>
                    </p:blipFill>
                    <p:spPr>
                      <a:xfrm>
                        <a:off x="1791764" y="-246912"/>
                        <a:ext cx="1495" cy="1495"/>
                      </a:xfrm>
                      <a:prstGeom prst="rect">
                        <a:avLst/>
                      </a:prstGeom>
                    </p:spPr>
                  </p:pic>
                </p:oleObj>
              </mc:Fallback>
            </mc:AlternateContent>
          </a:graphicData>
        </a:graphic>
      </p:graphicFrame>
      <p:sp>
        <p:nvSpPr>
          <p:cNvPr id="2" name="Rectangle 1" hidden="1"/>
          <p:cNvSpPr/>
          <p:nvPr>
            <p:custDataLst>
              <p:tags r:id="rId3"/>
            </p:custDataLst>
          </p:nvPr>
        </p:nvSpPr>
        <p:spPr bwMode="gray">
          <a:xfrm>
            <a:off x="796636" y="448108"/>
            <a:ext cx="138004" cy="138004"/>
          </a:xfrm>
          <a:prstGeom prst="rect">
            <a:avLst/>
          </a:prstGeom>
          <a:solidFill>
            <a:schemeClr val="accent3"/>
          </a:solidFill>
          <a:ln w="19050" algn="ctr">
            <a:noFill/>
            <a:miter lim="800000"/>
            <a:headEnd/>
            <a:tailEnd/>
          </a:ln>
        </p:spPr>
        <p:txBody>
          <a:bodyPr wrap="none" lIns="0" tIns="0" rIns="0" bIns="0" rtlCol="0" anchor="ctr"/>
          <a:lstStyle/>
          <a:p>
            <a:pPr algn="ctr">
              <a:spcBef>
                <a:spcPct val="0"/>
              </a:spcBef>
              <a:spcAft>
                <a:spcPct val="0"/>
              </a:spcAft>
              <a:buFont typeface="Wingdings 2" pitchFamily="18" charset="2"/>
              <a:buNone/>
            </a:pPr>
            <a:endParaRPr lang="en-US" sz="1739"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Text Placeholder 4"/>
          <p:cNvSpPr>
            <a:spLocks noGrp="1"/>
          </p:cNvSpPr>
          <p:nvPr>
            <p:ph type="body" sz="quarter" idx="10"/>
          </p:nvPr>
        </p:nvSpPr>
        <p:spPr>
          <a:xfrm>
            <a:off x="262165" y="6400252"/>
            <a:ext cx="6084205" cy="169277"/>
          </a:xfrm>
        </p:spPr>
        <p:txBody>
          <a:bodyPr anchor="ctr" anchorCtr="0">
            <a:spAutoFit/>
          </a:bodyPr>
          <a:lstStyle/>
          <a:p>
            <a:r>
              <a:rPr lang="en-US" sz="1100" dirty="0"/>
              <a:t>Deloitte Touche Tohmatsu India LLP, June 2022</a:t>
            </a:r>
            <a:endParaRPr lang="en-US" sz="1050" dirty="0"/>
          </a:p>
        </p:txBody>
      </p:sp>
      <p:sp>
        <p:nvSpPr>
          <p:cNvPr id="4" name="Subtitle 3"/>
          <p:cNvSpPr>
            <a:spLocks noGrp="1"/>
          </p:cNvSpPr>
          <p:nvPr>
            <p:ph type="subTitle" idx="1"/>
          </p:nvPr>
        </p:nvSpPr>
        <p:spPr>
          <a:xfrm>
            <a:off x="262166" y="3032494"/>
            <a:ext cx="6202429" cy="3118803"/>
          </a:xfrm>
        </p:spPr>
        <p:txBody>
          <a:bodyPr wrap="square" anchor="ctr" anchorCtr="0">
            <a:spAutoFit/>
          </a:bodyPr>
          <a:lstStyle/>
          <a:p>
            <a:pPr>
              <a:lnSpc>
                <a:spcPct val="114000"/>
              </a:lnSpc>
              <a:spcAft>
                <a:spcPts val="600"/>
              </a:spcAft>
            </a:pPr>
            <a:endParaRPr lang="en-IN" sz="2000" b="0" dirty="0"/>
          </a:p>
          <a:p>
            <a:pPr>
              <a:lnSpc>
                <a:spcPct val="114000"/>
              </a:lnSpc>
              <a:spcAft>
                <a:spcPts val="600"/>
              </a:spcAft>
            </a:pPr>
            <a:r>
              <a:rPr lang="en-IN" sz="2400" b="0" dirty="0"/>
              <a:t>As-Is Analysis Report -</a:t>
            </a:r>
            <a:r>
              <a:rPr lang="en-US" sz="2400" b="0" dirty="0"/>
              <a:t>Review of impact of past completed (2015–2019) on-going and proposed State and Central schemes running in West Bengal</a:t>
            </a:r>
          </a:p>
          <a:p>
            <a:pPr>
              <a:lnSpc>
                <a:spcPct val="114000"/>
              </a:lnSpc>
              <a:spcAft>
                <a:spcPts val="600"/>
              </a:spcAft>
            </a:pPr>
            <a:r>
              <a:rPr lang="en-US" sz="1800" b="0" dirty="0">
                <a:solidFill>
                  <a:srgbClr val="BFD300"/>
                </a:solidFill>
              </a:rPr>
              <a:t>Strategic planning and transformation of the West Bengal Power Sector</a:t>
            </a:r>
            <a:endParaRPr lang="en-IN" sz="1800" b="0" dirty="0">
              <a:solidFill>
                <a:srgbClr val="BFD300"/>
              </a:solidFill>
            </a:endParaRPr>
          </a:p>
          <a:p>
            <a:pPr>
              <a:lnSpc>
                <a:spcPct val="114000"/>
              </a:lnSpc>
              <a:spcAft>
                <a:spcPts val="600"/>
              </a:spcAft>
            </a:pPr>
            <a:r>
              <a:rPr lang="en-US" sz="1400" dirty="0">
                <a:solidFill>
                  <a:srgbClr val="767A7B"/>
                </a:solidFill>
              </a:rPr>
              <a:t>Department of Power, Government of West Bengal</a:t>
            </a:r>
            <a:endParaRPr lang="en-US" sz="1043" dirty="0">
              <a:solidFill>
                <a:srgbClr val="767A7B"/>
              </a:solidFill>
            </a:endParaRPr>
          </a:p>
        </p:txBody>
      </p:sp>
    </p:spTree>
    <p:extLst>
      <p:ext uri="{BB962C8B-B14F-4D97-AF65-F5344CB8AC3E}">
        <p14:creationId xmlns:p14="http://schemas.microsoft.com/office/powerpoint/2010/main" val="28917335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224"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4"/>
            <a:ext cx="11188700" cy="368299"/>
          </a:xfrm>
        </p:spPr>
        <p:txBody>
          <a:bodyPr vert="horz"/>
          <a:lstStyle/>
          <a:p>
            <a:pPr algn="just"/>
            <a:r>
              <a:rPr lang="en-US" sz="1800" b="0" i="0" dirty="0">
                <a:solidFill>
                  <a:schemeClr val="tx1"/>
                </a:solidFill>
              </a:rPr>
              <a:t>Contents</a:t>
            </a:r>
            <a:endParaRPr lang="en-US" sz="1800" b="0" i="0" dirty="0">
              <a:solidFill>
                <a:schemeClr val="tx1"/>
              </a:solidFill>
              <a:highlight>
                <a:srgbClr val="FFFF00"/>
              </a:highlight>
            </a:endParaRPr>
          </a:p>
        </p:txBody>
      </p:sp>
      <p:sp>
        <p:nvSpPr>
          <p:cNvPr id="25" name="Oval 24">
            <a:extLst>
              <a:ext uri="{FF2B5EF4-FFF2-40B4-BE49-F238E27FC236}">
                <a16:creationId xmlns:a16="http://schemas.microsoft.com/office/drawing/2014/main" id="{A9FBFFD1-1922-4B81-AF78-AB9D908A727D}"/>
              </a:ext>
            </a:extLst>
          </p:cNvPr>
          <p:cNvSpPr/>
          <p:nvPr/>
        </p:nvSpPr>
        <p:spPr bwMode="gray">
          <a:xfrm>
            <a:off x="501652" y="909217"/>
            <a:ext cx="334099" cy="334099"/>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0" cap="none" spc="0" normalizeH="0" baseline="0" noProof="0">
                <a:ln>
                  <a:noFill/>
                </a:ln>
                <a:solidFill>
                  <a:prstClr val="white"/>
                </a:solidFill>
                <a:effectLst/>
                <a:uLnTx/>
                <a:uFillTx/>
                <a:latin typeface="Calibri"/>
              </a:rPr>
              <a:t>1</a:t>
            </a:r>
            <a:endParaRPr kumimoji="0" lang="en-IN" sz="1600" b="1" i="0" u="none" strike="noStrike" kern="0" cap="none" spc="0" normalizeH="0" baseline="0" noProof="0">
              <a:ln>
                <a:noFill/>
              </a:ln>
              <a:solidFill>
                <a:prstClr val="white"/>
              </a:solidFill>
              <a:effectLst/>
              <a:uLnTx/>
              <a:uFillTx/>
              <a:latin typeface="Calibri"/>
            </a:endParaRPr>
          </a:p>
        </p:txBody>
      </p:sp>
      <p:sp>
        <p:nvSpPr>
          <p:cNvPr id="26" name="TextBox 25">
            <a:extLst>
              <a:ext uri="{FF2B5EF4-FFF2-40B4-BE49-F238E27FC236}">
                <a16:creationId xmlns:a16="http://schemas.microsoft.com/office/drawing/2014/main" id="{5BA4FCD5-4905-46D3-A784-8731C575D565}"/>
              </a:ext>
            </a:extLst>
          </p:cNvPr>
          <p:cNvSpPr txBox="1"/>
          <p:nvPr/>
        </p:nvSpPr>
        <p:spPr>
          <a:xfrm>
            <a:off x="1127762" y="933956"/>
            <a:ext cx="8255726" cy="276999"/>
          </a:xfrm>
          <a:prstGeom prst="rect">
            <a:avLst/>
          </a:prstGeom>
          <a:noFill/>
        </p:spPr>
        <p:txBody>
          <a:bodyPr wrap="square" lIns="0" tIns="0" rIns="0" bIns="0" rtlCol="0">
            <a:spAutoFit/>
          </a:bodyPr>
          <a:lstStyle/>
          <a:p>
            <a:pPr defTabSz="914400">
              <a:spcBef>
                <a:spcPts val="600"/>
              </a:spcBef>
              <a:buSzPct val="100000"/>
            </a:pPr>
            <a:r>
              <a:rPr lang="en-US" b="1" dirty="0">
                <a:latin typeface="Calibri"/>
              </a:rPr>
              <a:t>Introduction</a:t>
            </a:r>
            <a:endParaRPr lang="en-IN" b="1" dirty="0">
              <a:latin typeface="Calibri"/>
            </a:endParaRPr>
          </a:p>
        </p:txBody>
      </p:sp>
      <p:sp>
        <p:nvSpPr>
          <p:cNvPr id="27" name="Oval 26">
            <a:extLst>
              <a:ext uri="{FF2B5EF4-FFF2-40B4-BE49-F238E27FC236}">
                <a16:creationId xmlns:a16="http://schemas.microsoft.com/office/drawing/2014/main" id="{1B0C322B-64AC-42FE-A1C4-61FF5DFDAECA}"/>
              </a:ext>
            </a:extLst>
          </p:cNvPr>
          <p:cNvSpPr/>
          <p:nvPr/>
        </p:nvSpPr>
        <p:spPr bwMode="gray">
          <a:xfrm>
            <a:off x="501652" y="2024841"/>
            <a:ext cx="334099" cy="334099"/>
          </a:xfrm>
          <a:prstGeom prst="ellipse">
            <a:avLst/>
          </a:prstGeom>
          <a:solidFill>
            <a:srgbClr val="43B02A"/>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0" cap="none" spc="0" normalizeH="0" baseline="0" noProof="0" dirty="0">
                <a:ln>
                  <a:noFill/>
                </a:ln>
                <a:solidFill>
                  <a:prstClr val="white"/>
                </a:solidFill>
                <a:effectLst/>
                <a:uLnTx/>
                <a:uFillTx/>
                <a:latin typeface="Calibri"/>
              </a:rPr>
              <a:t>3</a:t>
            </a:r>
            <a:endParaRPr kumimoji="0" lang="en-IN" sz="1600" b="1" i="0" u="none" strike="noStrike" kern="0" cap="none" spc="0" normalizeH="0" baseline="0" noProof="0" dirty="0">
              <a:ln>
                <a:noFill/>
              </a:ln>
              <a:solidFill>
                <a:prstClr val="white"/>
              </a:solidFill>
              <a:effectLst/>
              <a:uLnTx/>
              <a:uFillTx/>
              <a:latin typeface="Calibri"/>
            </a:endParaRPr>
          </a:p>
        </p:txBody>
      </p:sp>
      <p:sp>
        <p:nvSpPr>
          <p:cNvPr id="28" name="Rectangle 27">
            <a:extLst>
              <a:ext uri="{FF2B5EF4-FFF2-40B4-BE49-F238E27FC236}">
                <a16:creationId xmlns:a16="http://schemas.microsoft.com/office/drawing/2014/main" id="{A44F4B57-6219-4542-8BF2-D297602A3CF1}"/>
              </a:ext>
            </a:extLst>
          </p:cNvPr>
          <p:cNvSpPr/>
          <p:nvPr/>
        </p:nvSpPr>
        <p:spPr bwMode="gray">
          <a:xfrm>
            <a:off x="933452" y="1988974"/>
            <a:ext cx="83820" cy="400751"/>
          </a:xfrm>
          <a:prstGeom prst="rect">
            <a:avLst/>
          </a:prstGeom>
          <a:solidFill>
            <a:srgbClr val="43B02A">
              <a:lumMod val="40000"/>
              <a:lumOff val="6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ndParaRPr>
          </a:p>
        </p:txBody>
      </p:sp>
      <p:sp>
        <p:nvSpPr>
          <p:cNvPr id="29" name="TextBox 28">
            <a:extLst>
              <a:ext uri="{FF2B5EF4-FFF2-40B4-BE49-F238E27FC236}">
                <a16:creationId xmlns:a16="http://schemas.microsoft.com/office/drawing/2014/main" id="{CC652346-BBC4-49DD-A7C8-BBCF7F7DA393}"/>
              </a:ext>
            </a:extLst>
          </p:cNvPr>
          <p:cNvSpPr txBox="1"/>
          <p:nvPr/>
        </p:nvSpPr>
        <p:spPr>
          <a:xfrm>
            <a:off x="1127762" y="2050849"/>
            <a:ext cx="8254800" cy="276999"/>
          </a:xfrm>
          <a:prstGeom prst="rect">
            <a:avLst/>
          </a:prstGeom>
          <a:noFill/>
        </p:spPr>
        <p:txBody>
          <a:bodyPr wrap="square" lIns="0" tIns="0" rIns="0" bIns="0" rtlCol="0">
            <a:spAutoFit/>
          </a:bodyPr>
          <a:lstStyle/>
          <a:p>
            <a:pPr defTabSz="914400">
              <a:spcBef>
                <a:spcPts val="600"/>
              </a:spcBef>
              <a:buSzPct val="100000"/>
            </a:pPr>
            <a:r>
              <a:rPr lang="en-US" b="1" dirty="0">
                <a:latin typeface="Calibri"/>
              </a:rPr>
              <a:t>Distribution Sector Performance Improvement Projects</a:t>
            </a:r>
            <a:endParaRPr lang="en-IN" b="1" dirty="0">
              <a:latin typeface="Calibri"/>
            </a:endParaRPr>
          </a:p>
        </p:txBody>
      </p:sp>
      <p:sp>
        <p:nvSpPr>
          <p:cNvPr id="31" name="Rectangle 30">
            <a:extLst>
              <a:ext uri="{FF2B5EF4-FFF2-40B4-BE49-F238E27FC236}">
                <a16:creationId xmlns:a16="http://schemas.microsoft.com/office/drawing/2014/main" id="{F15C2EF2-1C62-40E8-ABE5-264100F36F3B}"/>
              </a:ext>
            </a:extLst>
          </p:cNvPr>
          <p:cNvSpPr/>
          <p:nvPr/>
        </p:nvSpPr>
        <p:spPr bwMode="gray">
          <a:xfrm>
            <a:off x="933452" y="872080"/>
            <a:ext cx="83820" cy="400751"/>
          </a:xfrm>
          <a:prstGeom prst="rect">
            <a:avLst/>
          </a:prstGeom>
          <a:solidFill>
            <a:srgbClr val="86BC25">
              <a:lumMod val="40000"/>
              <a:lumOff val="6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ndParaRPr>
          </a:p>
        </p:txBody>
      </p:sp>
      <p:sp>
        <p:nvSpPr>
          <p:cNvPr id="32" name="Oval 31">
            <a:extLst>
              <a:ext uri="{FF2B5EF4-FFF2-40B4-BE49-F238E27FC236}">
                <a16:creationId xmlns:a16="http://schemas.microsoft.com/office/drawing/2014/main" id="{47E110A6-BD2B-445A-AE1B-315CA8FFF138}"/>
              </a:ext>
            </a:extLst>
          </p:cNvPr>
          <p:cNvSpPr/>
          <p:nvPr/>
        </p:nvSpPr>
        <p:spPr bwMode="gray">
          <a:xfrm>
            <a:off x="501652" y="2596023"/>
            <a:ext cx="334099" cy="334099"/>
          </a:xfrm>
          <a:prstGeom prst="ellipse">
            <a:avLst/>
          </a:prstGeom>
          <a:solidFill>
            <a:srgbClr val="26890D"/>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600" b="1" i="0" u="none" strike="noStrike" kern="0" cap="none" spc="0" normalizeH="0" baseline="0" noProof="0" dirty="0">
                <a:ln>
                  <a:noFill/>
                </a:ln>
                <a:solidFill>
                  <a:prstClr val="white"/>
                </a:solidFill>
                <a:effectLst/>
                <a:uLnTx/>
                <a:uFillTx/>
                <a:latin typeface="Calibri"/>
              </a:rPr>
              <a:t>4</a:t>
            </a:r>
          </a:p>
        </p:txBody>
      </p:sp>
      <p:sp>
        <p:nvSpPr>
          <p:cNvPr id="33" name="Rectangle 32">
            <a:extLst>
              <a:ext uri="{FF2B5EF4-FFF2-40B4-BE49-F238E27FC236}">
                <a16:creationId xmlns:a16="http://schemas.microsoft.com/office/drawing/2014/main" id="{68891175-ECF2-4DC4-9EC6-F8A597D7E66D}"/>
              </a:ext>
            </a:extLst>
          </p:cNvPr>
          <p:cNvSpPr/>
          <p:nvPr/>
        </p:nvSpPr>
        <p:spPr bwMode="gray">
          <a:xfrm>
            <a:off x="933452" y="2560156"/>
            <a:ext cx="83820" cy="400751"/>
          </a:xfrm>
          <a:prstGeom prst="rect">
            <a:avLst/>
          </a:prstGeom>
          <a:solidFill>
            <a:srgbClr val="26890D">
              <a:lumMod val="40000"/>
              <a:lumOff val="6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ndParaRPr>
          </a:p>
        </p:txBody>
      </p:sp>
      <p:sp>
        <p:nvSpPr>
          <p:cNvPr id="34" name="TextBox 33">
            <a:extLst>
              <a:ext uri="{FF2B5EF4-FFF2-40B4-BE49-F238E27FC236}">
                <a16:creationId xmlns:a16="http://schemas.microsoft.com/office/drawing/2014/main" id="{B2C77052-D024-44B6-9AF8-15000940C6EE}"/>
              </a:ext>
            </a:extLst>
          </p:cNvPr>
          <p:cNvSpPr txBox="1"/>
          <p:nvPr/>
        </p:nvSpPr>
        <p:spPr>
          <a:xfrm>
            <a:off x="1127762" y="2610096"/>
            <a:ext cx="8254800" cy="276999"/>
          </a:xfrm>
          <a:prstGeom prst="rect">
            <a:avLst/>
          </a:prstGeom>
          <a:noFill/>
        </p:spPr>
        <p:txBody>
          <a:bodyPr wrap="square" lIns="0" tIns="0" rIns="0" bIns="0" rtlCol="0">
            <a:spAutoFit/>
          </a:bodyPr>
          <a:lstStyle/>
          <a:p>
            <a:pPr defTabSz="914400">
              <a:spcBef>
                <a:spcPts val="600"/>
              </a:spcBef>
              <a:buSzPct val="100000"/>
            </a:pPr>
            <a:r>
              <a:rPr lang="en-IN" b="1" dirty="0">
                <a:latin typeface="Calibri"/>
              </a:rPr>
              <a:t>Power Generation Projects implemented by WBPDCL including Upcoming Projects</a:t>
            </a:r>
          </a:p>
        </p:txBody>
      </p:sp>
      <p:sp>
        <p:nvSpPr>
          <p:cNvPr id="38" name="Oval 37">
            <a:extLst>
              <a:ext uri="{FF2B5EF4-FFF2-40B4-BE49-F238E27FC236}">
                <a16:creationId xmlns:a16="http://schemas.microsoft.com/office/drawing/2014/main" id="{3632D40D-B0E0-4DCD-88BB-74D5754B1607}"/>
              </a:ext>
            </a:extLst>
          </p:cNvPr>
          <p:cNvSpPr/>
          <p:nvPr/>
        </p:nvSpPr>
        <p:spPr bwMode="gray">
          <a:xfrm>
            <a:off x="501652" y="3147226"/>
            <a:ext cx="334099" cy="334099"/>
          </a:xfrm>
          <a:prstGeom prst="ellipse">
            <a:avLst/>
          </a:prstGeom>
          <a:solidFill>
            <a:srgbClr val="046A38"/>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0" cap="none" spc="0" normalizeH="0" baseline="0" noProof="0" dirty="0">
                <a:ln>
                  <a:noFill/>
                </a:ln>
                <a:solidFill>
                  <a:prstClr val="white"/>
                </a:solidFill>
                <a:effectLst/>
                <a:uLnTx/>
                <a:uFillTx/>
                <a:latin typeface="Calibri"/>
              </a:rPr>
              <a:t>5</a:t>
            </a:r>
            <a:endParaRPr kumimoji="0" lang="en-IN" sz="1600" b="1" i="0" u="none" strike="noStrike" kern="0" cap="none" spc="0" normalizeH="0" baseline="0" noProof="0" dirty="0">
              <a:ln>
                <a:noFill/>
              </a:ln>
              <a:solidFill>
                <a:prstClr val="white"/>
              </a:solidFill>
              <a:effectLst/>
              <a:uLnTx/>
              <a:uFillTx/>
              <a:latin typeface="Calibri"/>
            </a:endParaRPr>
          </a:p>
        </p:txBody>
      </p:sp>
      <p:sp>
        <p:nvSpPr>
          <p:cNvPr id="39" name="Rectangle 38">
            <a:extLst>
              <a:ext uri="{FF2B5EF4-FFF2-40B4-BE49-F238E27FC236}">
                <a16:creationId xmlns:a16="http://schemas.microsoft.com/office/drawing/2014/main" id="{D781BB71-6629-4F02-BC41-036521A83030}"/>
              </a:ext>
            </a:extLst>
          </p:cNvPr>
          <p:cNvSpPr/>
          <p:nvPr/>
        </p:nvSpPr>
        <p:spPr bwMode="gray">
          <a:xfrm>
            <a:off x="933452" y="3111359"/>
            <a:ext cx="83820" cy="400751"/>
          </a:xfrm>
          <a:prstGeom prst="rect">
            <a:avLst/>
          </a:prstGeom>
          <a:solidFill>
            <a:srgbClr val="046A38">
              <a:lumMod val="40000"/>
              <a:lumOff val="6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ndParaRPr>
          </a:p>
        </p:txBody>
      </p:sp>
      <p:sp>
        <p:nvSpPr>
          <p:cNvPr id="40" name="TextBox 39">
            <a:extLst>
              <a:ext uri="{FF2B5EF4-FFF2-40B4-BE49-F238E27FC236}">
                <a16:creationId xmlns:a16="http://schemas.microsoft.com/office/drawing/2014/main" id="{10159DDF-261E-4654-83E5-BDCED961F61D}"/>
              </a:ext>
            </a:extLst>
          </p:cNvPr>
          <p:cNvSpPr txBox="1"/>
          <p:nvPr/>
        </p:nvSpPr>
        <p:spPr>
          <a:xfrm>
            <a:off x="1127761" y="3173234"/>
            <a:ext cx="9660106" cy="276999"/>
          </a:xfrm>
          <a:prstGeom prst="rect">
            <a:avLst/>
          </a:prstGeom>
          <a:noFill/>
        </p:spPr>
        <p:txBody>
          <a:bodyPr wrap="square" lIns="0" tIns="0" rIns="0" bIns="0" rtlCol="0">
            <a:spAutoFit/>
          </a:bodyPr>
          <a:lstStyle/>
          <a:p>
            <a:pPr defTabSz="914400">
              <a:spcBef>
                <a:spcPts val="600"/>
              </a:spcBef>
              <a:buSzPct val="100000"/>
            </a:pPr>
            <a:r>
              <a:rPr lang="en-US" b="1" dirty="0">
                <a:latin typeface="Calibri"/>
              </a:rPr>
              <a:t>Long Term PPA from CGS and IPPs within and outside West Bengal- Option to Surrender Excess PPA</a:t>
            </a:r>
            <a:endParaRPr lang="en-IN" b="1" dirty="0">
              <a:latin typeface="Calibri"/>
            </a:endParaRPr>
          </a:p>
        </p:txBody>
      </p:sp>
      <p:sp>
        <p:nvSpPr>
          <p:cNvPr id="41" name="Oval 40">
            <a:extLst>
              <a:ext uri="{FF2B5EF4-FFF2-40B4-BE49-F238E27FC236}">
                <a16:creationId xmlns:a16="http://schemas.microsoft.com/office/drawing/2014/main" id="{DF04AEDF-625F-4846-9781-E6DF368BBDF3}"/>
              </a:ext>
            </a:extLst>
          </p:cNvPr>
          <p:cNvSpPr/>
          <p:nvPr/>
        </p:nvSpPr>
        <p:spPr bwMode="gray">
          <a:xfrm>
            <a:off x="501652" y="3692836"/>
            <a:ext cx="334099" cy="334099"/>
          </a:xfrm>
          <a:prstGeom prst="ellipse">
            <a:avLst/>
          </a:prstGeom>
          <a:solidFill>
            <a:srgbClr val="0D839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600" b="1" i="0" u="none" strike="noStrike" kern="0" cap="none" spc="0" normalizeH="0" baseline="0" noProof="0" dirty="0">
                <a:ln>
                  <a:noFill/>
                </a:ln>
                <a:solidFill>
                  <a:prstClr val="white"/>
                </a:solidFill>
                <a:effectLst/>
                <a:uLnTx/>
                <a:uFillTx/>
                <a:latin typeface="Calibri"/>
              </a:rPr>
              <a:t>6</a:t>
            </a:r>
          </a:p>
        </p:txBody>
      </p:sp>
      <p:sp>
        <p:nvSpPr>
          <p:cNvPr id="42" name="Rectangle 41">
            <a:extLst>
              <a:ext uri="{FF2B5EF4-FFF2-40B4-BE49-F238E27FC236}">
                <a16:creationId xmlns:a16="http://schemas.microsoft.com/office/drawing/2014/main" id="{EFA52845-FE84-43B7-8E5C-99E381D2F06E}"/>
              </a:ext>
            </a:extLst>
          </p:cNvPr>
          <p:cNvSpPr/>
          <p:nvPr/>
        </p:nvSpPr>
        <p:spPr bwMode="gray">
          <a:xfrm>
            <a:off x="933452" y="3656969"/>
            <a:ext cx="83820" cy="400751"/>
          </a:xfrm>
          <a:prstGeom prst="rect">
            <a:avLst/>
          </a:prstGeom>
          <a:solidFill>
            <a:srgbClr val="0D8390">
              <a:lumMod val="40000"/>
              <a:lumOff val="6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ndParaRPr>
          </a:p>
        </p:txBody>
      </p:sp>
      <p:sp>
        <p:nvSpPr>
          <p:cNvPr id="43" name="TextBox 42">
            <a:extLst>
              <a:ext uri="{FF2B5EF4-FFF2-40B4-BE49-F238E27FC236}">
                <a16:creationId xmlns:a16="http://schemas.microsoft.com/office/drawing/2014/main" id="{04E4A496-5C49-4B07-9DB6-F58218621319}"/>
              </a:ext>
            </a:extLst>
          </p:cNvPr>
          <p:cNvSpPr txBox="1"/>
          <p:nvPr/>
        </p:nvSpPr>
        <p:spPr>
          <a:xfrm>
            <a:off x="1127762" y="3718844"/>
            <a:ext cx="10130790" cy="276999"/>
          </a:xfrm>
          <a:prstGeom prst="rect">
            <a:avLst/>
          </a:prstGeom>
          <a:noFill/>
        </p:spPr>
        <p:txBody>
          <a:bodyPr wrap="square" lIns="0" tIns="0" rIns="0" bIns="0" rtlCol="0">
            <a:spAutoFit/>
          </a:bodyPr>
          <a:lstStyle/>
          <a:p>
            <a:pPr defTabSz="914400">
              <a:spcBef>
                <a:spcPts val="600"/>
              </a:spcBef>
              <a:buSzPct val="100000"/>
            </a:pPr>
            <a:r>
              <a:rPr lang="en-US" b="1" dirty="0">
                <a:latin typeface="Calibri"/>
              </a:rPr>
              <a:t>Conversion of Agriculture Water Pumps to Solar Energy based Pumps- Existing Schemes &amp; Way Forward</a:t>
            </a:r>
            <a:endParaRPr lang="en-IN" b="1" dirty="0">
              <a:latin typeface="Calibri"/>
            </a:endParaRPr>
          </a:p>
        </p:txBody>
      </p:sp>
      <p:sp>
        <p:nvSpPr>
          <p:cNvPr id="44" name="Oval 43">
            <a:extLst>
              <a:ext uri="{FF2B5EF4-FFF2-40B4-BE49-F238E27FC236}">
                <a16:creationId xmlns:a16="http://schemas.microsoft.com/office/drawing/2014/main" id="{9738B50D-611A-40E6-BCC0-26F1444AFEB6}"/>
              </a:ext>
            </a:extLst>
          </p:cNvPr>
          <p:cNvSpPr/>
          <p:nvPr/>
        </p:nvSpPr>
        <p:spPr bwMode="gray">
          <a:xfrm>
            <a:off x="501652" y="1467311"/>
            <a:ext cx="334099" cy="334099"/>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0" cap="none" spc="0" normalizeH="0" baseline="0" noProof="0" dirty="0">
                <a:ln>
                  <a:noFill/>
                </a:ln>
                <a:solidFill>
                  <a:prstClr val="white"/>
                </a:solidFill>
                <a:effectLst/>
                <a:uLnTx/>
                <a:uFillTx/>
                <a:latin typeface="Calibri"/>
              </a:rPr>
              <a:t>2</a:t>
            </a:r>
            <a:endParaRPr kumimoji="0" lang="en-IN" sz="1600" b="1" i="0" u="none" strike="noStrike" kern="0" cap="none" spc="0" normalizeH="0" baseline="0" noProof="0" dirty="0">
              <a:ln>
                <a:noFill/>
              </a:ln>
              <a:solidFill>
                <a:prstClr val="white"/>
              </a:solidFill>
              <a:effectLst/>
              <a:uLnTx/>
              <a:uFillTx/>
              <a:latin typeface="Calibri"/>
            </a:endParaRPr>
          </a:p>
        </p:txBody>
      </p:sp>
      <p:sp>
        <p:nvSpPr>
          <p:cNvPr id="45" name="TextBox 44">
            <a:extLst>
              <a:ext uri="{FF2B5EF4-FFF2-40B4-BE49-F238E27FC236}">
                <a16:creationId xmlns:a16="http://schemas.microsoft.com/office/drawing/2014/main" id="{70ABCDB0-9ED1-47BF-97F2-257E6385E498}"/>
              </a:ext>
            </a:extLst>
          </p:cNvPr>
          <p:cNvSpPr txBox="1"/>
          <p:nvPr/>
        </p:nvSpPr>
        <p:spPr>
          <a:xfrm>
            <a:off x="1127762" y="1467311"/>
            <a:ext cx="10562590" cy="276999"/>
          </a:xfrm>
          <a:prstGeom prst="rect">
            <a:avLst/>
          </a:prstGeom>
          <a:noFill/>
        </p:spPr>
        <p:txBody>
          <a:bodyPr wrap="square" lIns="0" tIns="0" rIns="0" bIns="0" rtlCol="0">
            <a:spAutoFit/>
          </a:bodyPr>
          <a:lstStyle/>
          <a:p>
            <a:pPr defTabSz="914400">
              <a:spcBef>
                <a:spcPts val="600"/>
              </a:spcBef>
              <a:buSzPct val="100000"/>
            </a:pPr>
            <a:r>
              <a:rPr lang="en-US" b="1" i="0" dirty="0">
                <a:latin typeface="Calibri" panose="020F0502020204030204" pitchFamily="34" charset="0"/>
                <a:cs typeface="Calibri" panose="020F0502020204030204" pitchFamily="34" charset="0"/>
              </a:rPr>
              <a:t>Review of Programs /Schemes Completed, Ongoing and Proposed under Central and State level Schemes</a:t>
            </a:r>
            <a:endParaRPr lang="en-IN" b="1" dirty="0">
              <a:latin typeface="Calibri" panose="020F0502020204030204" pitchFamily="34" charset="0"/>
              <a:cs typeface="Calibri" panose="020F0502020204030204" pitchFamily="34" charset="0"/>
            </a:endParaRPr>
          </a:p>
        </p:txBody>
      </p:sp>
      <p:sp>
        <p:nvSpPr>
          <p:cNvPr id="46" name="Rectangle 45">
            <a:extLst>
              <a:ext uri="{FF2B5EF4-FFF2-40B4-BE49-F238E27FC236}">
                <a16:creationId xmlns:a16="http://schemas.microsoft.com/office/drawing/2014/main" id="{E0DA58F7-26E9-40F5-826A-243D5A63D21E}"/>
              </a:ext>
            </a:extLst>
          </p:cNvPr>
          <p:cNvSpPr/>
          <p:nvPr/>
        </p:nvSpPr>
        <p:spPr bwMode="gray">
          <a:xfrm>
            <a:off x="933452" y="1430174"/>
            <a:ext cx="83820" cy="400751"/>
          </a:xfrm>
          <a:prstGeom prst="rect">
            <a:avLst/>
          </a:prstGeom>
          <a:solidFill>
            <a:srgbClr val="86BC25">
              <a:lumMod val="40000"/>
              <a:lumOff val="6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ndParaRPr>
          </a:p>
        </p:txBody>
      </p:sp>
      <p:sp>
        <p:nvSpPr>
          <p:cNvPr id="24" name="Oval 23">
            <a:extLst>
              <a:ext uri="{FF2B5EF4-FFF2-40B4-BE49-F238E27FC236}">
                <a16:creationId xmlns:a16="http://schemas.microsoft.com/office/drawing/2014/main" id="{A81DECC0-CF81-497B-90A7-638C532210A2}"/>
              </a:ext>
            </a:extLst>
          </p:cNvPr>
          <p:cNvSpPr/>
          <p:nvPr/>
        </p:nvSpPr>
        <p:spPr bwMode="gray">
          <a:xfrm>
            <a:off x="501652" y="4212438"/>
            <a:ext cx="334099" cy="334099"/>
          </a:xfrm>
          <a:prstGeom prst="ellipse">
            <a:avLst/>
          </a:prstGeom>
          <a:solidFill>
            <a:srgbClr val="1D670A"/>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600" b="1" i="0" u="none" strike="noStrike" kern="0" cap="none" spc="0" normalizeH="0" baseline="0" noProof="0" dirty="0">
                <a:ln>
                  <a:noFill/>
                </a:ln>
                <a:solidFill>
                  <a:prstClr val="white"/>
                </a:solidFill>
                <a:effectLst/>
                <a:uLnTx/>
                <a:uFillTx/>
                <a:latin typeface="Calibri"/>
              </a:rPr>
              <a:t>7</a:t>
            </a:r>
          </a:p>
        </p:txBody>
      </p:sp>
      <p:sp>
        <p:nvSpPr>
          <p:cNvPr id="30" name="Rectangle 29">
            <a:extLst>
              <a:ext uri="{FF2B5EF4-FFF2-40B4-BE49-F238E27FC236}">
                <a16:creationId xmlns:a16="http://schemas.microsoft.com/office/drawing/2014/main" id="{D198880C-DE9E-410A-B682-56E58DF759D8}"/>
              </a:ext>
            </a:extLst>
          </p:cNvPr>
          <p:cNvSpPr/>
          <p:nvPr/>
        </p:nvSpPr>
        <p:spPr bwMode="gray">
          <a:xfrm>
            <a:off x="933452" y="4176571"/>
            <a:ext cx="83820" cy="400751"/>
          </a:xfrm>
          <a:prstGeom prst="rect">
            <a:avLst/>
          </a:prstGeom>
          <a:solidFill>
            <a:srgbClr val="AEE8A1"/>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ndParaRPr>
          </a:p>
        </p:txBody>
      </p:sp>
      <p:sp>
        <p:nvSpPr>
          <p:cNvPr id="35" name="TextBox 34">
            <a:extLst>
              <a:ext uri="{FF2B5EF4-FFF2-40B4-BE49-F238E27FC236}">
                <a16:creationId xmlns:a16="http://schemas.microsoft.com/office/drawing/2014/main" id="{E69162A4-B3E9-4CE9-A925-B8083336FBE5}"/>
              </a:ext>
            </a:extLst>
          </p:cNvPr>
          <p:cNvSpPr txBox="1"/>
          <p:nvPr/>
        </p:nvSpPr>
        <p:spPr>
          <a:xfrm>
            <a:off x="1127762" y="4238446"/>
            <a:ext cx="10046970" cy="276999"/>
          </a:xfrm>
          <a:prstGeom prst="rect">
            <a:avLst/>
          </a:prstGeom>
          <a:noFill/>
        </p:spPr>
        <p:txBody>
          <a:bodyPr wrap="square" lIns="0" tIns="0" rIns="0" bIns="0" rtlCol="0">
            <a:spAutoFit/>
          </a:bodyPr>
          <a:lstStyle/>
          <a:p>
            <a:pPr defTabSz="914400">
              <a:spcBef>
                <a:spcPts val="600"/>
              </a:spcBef>
              <a:buSzPct val="100000"/>
            </a:pPr>
            <a:r>
              <a:rPr lang="en-US" b="1" dirty="0">
                <a:latin typeface="Calibri"/>
              </a:rPr>
              <a:t>Identification of Policy and Regulatory Interventions to accelerate Grid Connected and off grid RE Projects</a:t>
            </a:r>
            <a:endParaRPr lang="en-IN" b="1" dirty="0">
              <a:latin typeface="Calibri"/>
            </a:endParaRPr>
          </a:p>
        </p:txBody>
      </p:sp>
      <p:sp>
        <p:nvSpPr>
          <p:cNvPr id="47" name="Oval 46">
            <a:extLst>
              <a:ext uri="{FF2B5EF4-FFF2-40B4-BE49-F238E27FC236}">
                <a16:creationId xmlns:a16="http://schemas.microsoft.com/office/drawing/2014/main" id="{17240338-35CD-415F-A56C-03D499B39883}"/>
              </a:ext>
            </a:extLst>
          </p:cNvPr>
          <p:cNvSpPr/>
          <p:nvPr/>
        </p:nvSpPr>
        <p:spPr bwMode="gray">
          <a:xfrm>
            <a:off x="501652" y="4763132"/>
            <a:ext cx="334099" cy="334099"/>
          </a:xfrm>
          <a:prstGeom prst="ellipse">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600" b="1" i="0" u="none" strike="noStrike" kern="0" cap="none" spc="0" normalizeH="0" baseline="0" noProof="0" dirty="0">
                <a:ln>
                  <a:noFill/>
                </a:ln>
                <a:solidFill>
                  <a:prstClr val="white"/>
                </a:solidFill>
                <a:effectLst/>
                <a:uLnTx/>
                <a:uFillTx/>
                <a:latin typeface="Calibri"/>
              </a:rPr>
              <a:t>8</a:t>
            </a:r>
          </a:p>
        </p:txBody>
      </p:sp>
      <p:sp>
        <p:nvSpPr>
          <p:cNvPr id="48" name="Rectangle 47">
            <a:extLst>
              <a:ext uri="{FF2B5EF4-FFF2-40B4-BE49-F238E27FC236}">
                <a16:creationId xmlns:a16="http://schemas.microsoft.com/office/drawing/2014/main" id="{8065B9DB-A516-465F-B181-1C9807BC9379}"/>
              </a:ext>
            </a:extLst>
          </p:cNvPr>
          <p:cNvSpPr/>
          <p:nvPr/>
        </p:nvSpPr>
        <p:spPr bwMode="gray">
          <a:xfrm>
            <a:off x="933452" y="4727263"/>
            <a:ext cx="83820" cy="400751"/>
          </a:xfrm>
          <a:prstGeom prst="rect">
            <a:avLst/>
          </a:prstGeom>
          <a:solidFill>
            <a:srgbClr val="7DE8F3"/>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ndParaRPr>
          </a:p>
        </p:txBody>
      </p:sp>
      <p:sp>
        <p:nvSpPr>
          <p:cNvPr id="49" name="TextBox 48">
            <a:extLst>
              <a:ext uri="{FF2B5EF4-FFF2-40B4-BE49-F238E27FC236}">
                <a16:creationId xmlns:a16="http://schemas.microsoft.com/office/drawing/2014/main" id="{D4BFD981-AE00-4C48-90D1-31738F2F86A0}"/>
              </a:ext>
            </a:extLst>
          </p:cNvPr>
          <p:cNvSpPr txBox="1"/>
          <p:nvPr/>
        </p:nvSpPr>
        <p:spPr>
          <a:xfrm>
            <a:off x="1127762" y="4789140"/>
            <a:ext cx="8254800" cy="276999"/>
          </a:xfrm>
          <a:prstGeom prst="rect">
            <a:avLst/>
          </a:prstGeom>
          <a:noFill/>
        </p:spPr>
        <p:txBody>
          <a:bodyPr wrap="square" lIns="0" tIns="0" rIns="0" bIns="0" rtlCol="0">
            <a:spAutoFit/>
          </a:bodyPr>
          <a:lstStyle/>
          <a:p>
            <a:pPr defTabSz="914400">
              <a:spcBef>
                <a:spcPts val="600"/>
              </a:spcBef>
              <a:buSzPct val="100000"/>
            </a:pPr>
            <a:r>
              <a:rPr lang="en-US" b="1" dirty="0">
                <a:latin typeface="Calibri"/>
              </a:rPr>
              <a:t>Proposed Scheme</a:t>
            </a:r>
            <a:endParaRPr lang="en-IN" b="1" dirty="0">
              <a:latin typeface="Calibri"/>
            </a:endParaRPr>
          </a:p>
        </p:txBody>
      </p:sp>
      <p:sp>
        <p:nvSpPr>
          <p:cNvPr id="50" name="Oval 49">
            <a:extLst>
              <a:ext uri="{FF2B5EF4-FFF2-40B4-BE49-F238E27FC236}">
                <a16:creationId xmlns:a16="http://schemas.microsoft.com/office/drawing/2014/main" id="{10FB201D-3577-4715-9899-829F1DF1E0EC}"/>
              </a:ext>
            </a:extLst>
          </p:cNvPr>
          <p:cNvSpPr/>
          <p:nvPr/>
        </p:nvSpPr>
        <p:spPr bwMode="gray">
          <a:xfrm>
            <a:off x="501652" y="5344918"/>
            <a:ext cx="334099" cy="334099"/>
          </a:xfrm>
          <a:prstGeom prst="ellipse">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600" b="1" i="0" u="none" strike="noStrike" kern="0" cap="none" spc="0" normalizeH="0" baseline="0" noProof="0" dirty="0">
                <a:ln>
                  <a:noFill/>
                </a:ln>
                <a:solidFill>
                  <a:prstClr val="white"/>
                </a:solidFill>
                <a:effectLst/>
                <a:uLnTx/>
                <a:uFillTx/>
                <a:latin typeface="Calibri"/>
              </a:rPr>
              <a:t>9</a:t>
            </a:r>
          </a:p>
        </p:txBody>
      </p:sp>
      <p:sp>
        <p:nvSpPr>
          <p:cNvPr id="51" name="Rectangle 50">
            <a:extLst>
              <a:ext uri="{FF2B5EF4-FFF2-40B4-BE49-F238E27FC236}">
                <a16:creationId xmlns:a16="http://schemas.microsoft.com/office/drawing/2014/main" id="{E8220727-24B9-4A65-A08F-395D9BD8F850}"/>
              </a:ext>
            </a:extLst>
          </p:cNvPr>
          <p:cNvSpPr/>
          <p:nvPr/>
        </p:nvSpPr>
        <p:spPr bwMode="gray">
          <a:xfrm>
            <a:off x="933452" y="5309049"/>
            <a:ext cx="83820" cy="400751"/>
          </a:xfrm>
          <a:prstGeom prst="rect">
            <a:avLst/>
          </a:prstGeom>
          <a:solidFill>
            <a:srgbClr val="7DE8F3"/>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ndParaRPr>
          </a:p>
        </p:txBody>
      </p:sp>
      <p:sp>
        <p:nvSpPr>
          <p:cNvPr id="52" name="TextBox 51">
            <a:extLst>
              <a:ext uri="{FF2B5EF4-FFF2-40B4-BE49-F238E27FC236}">
                <a16:creationId xmlns:a16="http://schemas.microsoft.com/office/drawing/2014/main" id="{E28F1716-C6C5-4B44-8A19-081F0B040C72}"/>
              </a:ext>
            </a:extLst>
          </p:cNvPr>
          <p:cNvSpPr txBox="1"/>
          <p:nvPr/>
        </p:nvSpPr>
        <p:spPr>
          <a:xfrm>
            <a:off x="1127762" y="5370926"/>
            <a:ext cx="8254800" cy="276999"/>
          </a:xfrm>
          <a:prstGeom prst="rect">
            <a:avLst/>
          </a:prstGeom>
          <a:noFill/>
        </p:spPr>
        <p:txBody>
          <a:bodyPr wrap="square" lIns="0" tIns="0" rIns="0" bIns="0" rtlCol="0">
            <a:spAutoFit/>
          </a:bodyPr>
          <a:lstStyle/>
          <a:p>
            <a:pPr defTabSz="914400">
              <a:spcBef>
                <a:spcPts val="600"/>
              </a:spcBef>
              <a:buSzPct val="100000"/>
            </a:pPr>
            <a:r>
              <a:rPr lang="en-US" b="1" dirty="0">
                <a:latin typeface="Calibri"/>
              </a:rPr>
              <a:t>Way Forward</a:t>
            </a:r>
            <a:endParaRPr lang="en-IN" b="1" dirty="0">
              <a:latin typeface="Calibri"/>
            </a:endParaRPr>
          </a:p>
        </p:txBody>
      </p:sp>
    </p:spTree>
    <p:extLst>
      <p:ext uri="{BB962C8B-B14F-4D97-AF65-F5344CB8AC3E}">
        <p14:creationId xmlns:p14="http://schemas.microsoft.com/office/powerpoint/2010/main" val="247393984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248"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5" y="1631651"/>
            <a:ext cx="9630230" cy="430887"/>
          </a:xfrm>
        </p:spPr>
        <p:txBody>
          <a:bodyPr anchor="ctr" anchorCtr="0">
            <a:spAutoFit/>
          </a:bodyPr>
          <a:lstStyle/>
          <a:p>
            <a:r>
              <a:rPr lang="en-US" sz="2800" i="0" dirty="0">
                <a:solidFill>
                  <a:schemeClr val="tx1"/>
                </a:solidFill>
              </a:rPr>
              <a:t>Introduction</a:t>
            </a:r>
            <a:endParaRPr lang="en-US" i="0" dirty="0">
              <a:solidFill>
                <a:schemeClr val="tx1"/>
              </a:solidFill>
            </a:endParaRP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68992" y="1590786"/>
            <a:ext cx="501149" cy="501149"/>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2000" b="1" i="0" u="none" strike="noStrike" kern="0" cap="none" spc="0" normalizeH="0" baseline="0" noProof="0">
                <a:ln>
                  <a:noFill/>
                </a:ln>
                <a:solidFill>
                  <a:prstClr val="white"/>
                </a:solidFill>
                <a:effectLst/>
                <a:uLnTx/>
                <a:uFillTx/>
              </a:rPr>
              <a:t>1</a:t>
            </a:r>
            <a:endParaRPr kumimoji="0" lang="en-IN" sz="2000" b="1" i="0" u="none" strike="noStrike" kern="0" cap="none" spc="0" normalizeH="0" baseline="0" noProof="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3840324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222100"/>
            <a:ext cx="11188700" cy="368299"/>
          </a:xfrm>
        </p:spPr>
        <p:txBody>
          <a:bodyPr vert="horz"/>
          <a:lstStyle/>
          <a:p>
            <a:pPr algn="just"/>
            <a:r>
              <a:rPr lang="en-US" sz="1600" i="0" dirty="0">
                <a:solidFill>
                  <a:schemeClr val="tx1"/>
                </a:solidFill>
                <a:latin typeface="+mj-lt"/>
              </a:rPr>
              <a:t>Summary: Ongoing Schemes/ Funded Projects for WBSEDCL- Capex Flow As on 2021-22</a:t>
            </a:r>
          </a:p>
        </p:txBody>
      </p:sp>
      <p:sp>
        <p:nvSpPr>
          <p:cNvPr id="9" name="TextBox 8">
            <a:extLst>
              <a:ext uri="{FF2B5EF4-FFF2-40B4-BE49-F238E27FC236}">
                <a16:creationId xmlns:a16="http://schemas.microsoft.com/office/drawing/2014/main" id="{11117D5E-5FBC-48DB-B486-2EE8A846ACA8}"/>
              </a:ext>
            </a:extLst>
          </p:cNvPr>
          <p:cNvSpPr txBox="1"/>
          <p:nvPr/>
        </p:nvSpPr>
        <p:spPr>
          <a:xfrm>
            <a:off x="3146562" y="6605078"/>
            <a:ext cx="3950923" cy="169277"/>
          </a:xfrm>
          <a:prstGeom prst="rect">
            <a:avLst/>
          </a:prstGeom>
          <a:noFill/>
        </p:spPr>
        <p:txBody>
          <a:bodyPr wrap="square" lIns="0" tIns="0" rIns="0" bIns="0" rtlCol="0">
            <a:spAutoFit/>
          </a:bodyPr>
          <a:lstStyle/>
          <a:p>
            <a:pPr>
              <a:spcBef>
                <a:spcPts val="600"/>
              </a:spcBef>
              <a:buSzPct val="100000"/>
            </a:pPr>
            <a:r>
              <a:rPr lang="en-US" sz="1100" b="1" dirty="0">
                <a:solidFill>
                  <a:srgbClr val="313131"/>
                </a:solidFill>
                <a:latin typeface="+mj-lt"/>
                <a:cs typeface="Calibri" panose="020F0502020204030204" pitchFamily="34" charset="0"/>
              </a:rPr>
              <a:t>Source </a:t>
            </a:r>
            <a:r>
              <a:rPr lang="en-US" sz="1100" dirty="0">
                <a:solidFill>
                  <a:srgbClr val="313131"/>
                </a:solidFill>
                <a:latin typeface="+mj-lt"/>
                <a:cs typeface="Calibri" panose="020F0502020204030204" pitchFamily="34" charset="0"/>
              </a:rPr>
              <a:t>: WBSEDCL RDSS Proposal, June 2022</a:t>
            </a:r>
          </a:p>
        </p:txBody>
      </p:sp>
      <p:graphicFrame>
        <p:nvGraphicFramePr>
          <p:cNvPr id="2" name="Table 1">
            <a:extLst>
              <a:ext uri="{FF2B5EF4-FFF2-40B4-BE49-F238E27FC236}">
                <a16:creationId xmlns:a16="http://schemas.microsoft.com/office/drawing/2014/main" id="{0A8E3989-CAB5-43AD-8682-054D66246883}"/>
              </a:ext>
            </a:extLst>
          </p:cNvPr>
          <p:cNvGraphicFramePr>
            <a:graphicFrameLocks noGrp="1"/>
          </p:cNvGraphicFramePr>
          <p:nvPr>
            <p:extLst>
              <p:ext uri="{D42A27DB-BD31-4B8C-83A1-F6EECF244321}">
                <p14:modId xmlns:p14="http://schemas.microsoft.com/office/powerpoint/2010/main" val="440030725"/>
              </p:ext>
            </p:extLst>
          </p:nvPr>
        </p:nvGraphicFramePr>
        <p:xfrm>
          <a:off x="488936" y="621222"/>
          <a:ext cx="11322064" cy="4291237"/>
        </p:xfrm>
        <a:graphic>
          <a:graphicData uri="http://schemas.openxmlformats.org/drawingml/2006/table">
            <a:tbl>
              <a:tblPr firstRow="1" firstCol="1" bandRow="1">
                <a:tableStyleId>{7DF18680-E054-41AD-8BC1-D1AEF772440D}</a:tableStyleId>
              </a:tblPr>
              <a:tblGrid>
                <a:gridCol w="570636">
                  <a:extLst>
                    <a:ext uri="{9D8B030D-6E8A-4147-A177-3AD203B41FA5}">
                      <a16:colId xmlns:a16="http://schemas.microsoft.com/office/drawing/2014/main" val="353040971"/>
                    </a:ext>
                  </a:extLst>
                </a:gridCol>
                <a:gridCol w="1614284">
                  <a:extLst>
                    <a:ext uri="{9D8B030D-6E8A-4147-A177-3AD203B41FA5}">
                      <a16:colId xmlns:a16="http://schemas.microsoft.com/office/drawing/2014/main" val="1319493138"/>
                    </a:ext>
                  </a:extLst>
                </a:gridCol>
                <a:gridCol w="1266787">
                  <a:extLst>
                    <a:ext uri="{9D8B030D-6E8A-4147-A177-3AD203B41FA5}">
                      <a16:colId xmlns:a16="http://schemas.microsoft.com/office/drawing/2014/main" val="190049376"/>
                    </a:ext>
                  </a:extLst>
                </a:gridCol>
                <a:gridCol w="1249355">
                  <a:extLst>
                    <a:ext uri="{9D8B030D-6E8A-4147-A177-3AD203B41FA5}">
                      <a16:colId xmlns:a16="http://schemas.microsoft.com/office/drawing/2014/main" val="428172753"/>
                    </a:ext>
                  </a:extLst>
                </a:gridCol>
                <a:gridCol w="1396954">
                  <a:extLst>
                    <a:ext uri="{9D8B030D-6E8A-4147-A177-3AD203B41FA5}">
                      <a16:colId xmlns:a16="http://schemas.microsoft.com/office/drawing/2014/main" val="171636669"/>
                    </a:ext>
                  </a:extLst>
                </a:gridCol>
                <a:gridCol w="1263303">
                  <a:extLst>
                    <a:ext uri="{9D8B030D-6E8A-4147-A177-3AD203B41FA5}">
                      <a16:colId xmlns:a16="http://schemas.microsoft.com/office/drawing/2014/main" val="3672479904"/>
                    </a:ext>
                  </a:extLst>
                </a:gridCol>
                <a:gridCol w="1482955">
                  <a:extLst>
                    <a:ext uri="{9D8B030D-6E8A-4147-A177-3AD203B41FA5}">
                      <a16:colId xmlns:a16="http://schemas.microsoft.com/office/drawing/2014/main" val="3734105299"/>
                    </a:ext>
                  </a:extLst>
                </a:gridCol>
                <a:gridCol w="1266787">
                  <a:extLst>
                    <a:ext uri="{9D8B030D-6E8A-4147-A177-3AD203B41FA5}">
                      <a16:colId xmlns:a16="http://schemas.microsoft.com/office/drawing/2014/main" val="94815302"/>
                    </a:ext>
                  </a:extLst>
                </a:gridCol>
                <a:gridCol w="1211003">
                  <a:extLst>
                    <a:ext uri="{9D8B030D-6E8A-4147-A177-3AD203B41FA5}">
                      <a16:colId xmlns:a16="http://schemas.microsoft.com/office/drawing/2014/main" val="1324881781"/>
                    </a:ext>
                  </a:extLst>
                </a:gridCol>
              </a:tblGrid>
              <a:tr h="315195">
                <a:tc>
                  <a:txBody>
                    <a:bodyPr/>
                    <a:lstStyle/>
                    <a:p>
                      <a:pPr marL="0" marR="0" algn="ctr">
                        <a:spcBef>
                          <a:spcPts val="0"/>
                        </a:spcBef>
                        <a:spcAft>
                          <a:spcPts val="0"/>
                        </a:spcAft>
                      </a:pPr>
                      <a:r>
                        <a:rPr lang="en-US" sz="1200">
                          <a:effectLst/>
                          <a:latin typeface="+mj-lt"/>
                        </a:rPr>
                        <a:t>Sl. No</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Name of the Project</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Central Share</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Released</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State Share</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Released</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Total Sanctioned</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Total Released</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Remarks</a:t>
                      </a:r>
                      <a:endParaRPr lang="en-US" sz="1200">
                        <a:effectLst/>
                        <a:latin typeface="+mj-lt"/>
                        <a:ea typeface="Libre Franklin Thin" pitchFamily="2" charset="0"/>
                        <a:cs typeface="Libre Franklin Thin" pitchFamily="2" charset="0"/>
                      </a:endParaRPr>
                    </a:p>
                  </a:txBody>
                  <a:tcPr marL="62886" marR="62886" marT="0" marB="0" anchor="ctr"/>
                </a:tc>
                <a:extLst>
                  <a:ext uri="{0D108BD9-81ED-4DB2-BD59-A6C34878D82A}">
                    <a16:rowId xmlns:a16="http://schemas.microsoft.com/office/drawing/2014/main" val="3722483100"/>
                  </a:ext>
                </a:extLst>
              </a:tr>
              <a:tr h="315195">
                <a:tc>
                  <a:txBody>
                    <a:bodyPr/>
                    <a:lstStyle/>
                    <a:p>
                      <a:pPr marL="0" marR="0" algn="ctr">
                        <a:spcBef>
                          <a:spcPts val="0"/>
                        </a:spcBef>
                        <a:spcAft>
                          <a:spcPts val="0"/>
                        </a:spcAft>
                      </a:pPr>
                      <a:r>
                        <a:rPr lang="en-US" sz="1200">
                          <a:effectLst/>
                          <a:latin typeface="+mj-lt"/>
                        </a:rPr>
                        <a:t>1</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l">
                        <a:spcBef>
                          <a:spcPts val="0"/>
                        </a:spcBef>
                        <a:spcAft>
                          <a:spcPts val="0"/>
                        </a:spcAft>
                      </a:pPr>
                      <a:r>
                        <a:rPr lang="en-US" sz="1200" dirty="0">
                          <a:effectLst/>
                          <a:latin typeface="+mj-lt"/>
                        </a:rPr>
                        <a:t>DDUGJY</a:t>
                      </a:r>
                      <a:endParaRPr lang="en-US" sz="1200" dirty="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2565.74</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2007.07</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1067</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1045</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3632.74</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3052.07</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just">
                        <a:spcBef>
                          <a:spcPts val="0"/>
                        </a:spcBef>
                        <a:spcAft>
                          <a:spcPts val="0"/>
                        </a:spcAft>
                      </a:pPr>
                      <a:r>
                        <a:rPr lang="en-US" sz="1200">
                          <a:effectLst/>
                          <a:latin typeface="+mj-lt"/>
                        </a:rPr>
                        <a:t>671.61-Utility share</a:t>
                      </a:r>
                      <a:endParaRPr lang="en-US" sz="1200">
                        <a:effectLst/>
                        <a:latin typeface="+mj-lt"/>
                        <a:ea typeface="Libre Franklin Thin" pitchFamily="2" charset="0"/>
                        <a:cs typeface="Libre Franklin Thin" pitchFamily="2" charset="0"/>
                      </a:endParaRPr>
                    </a:p>
                  </a:txBody>
                  <a:tcPr marL="62886" marR="62886" marT="0" marB="0" anchor="ctr"/>
                </a:tc>
                <a:extLst>
                  <a:ext uri="{0D108BD9-81ED-4DB2-BD59-A6C34878D82A}">
                    <a16:rowId xmlns:a16="http://schemas.microsoft.com/office/drawing/2014/main" val="1502835826"/>
                  </a:ext>
                </a:extLst>
              </a:tr>
              <a:tr h="315195">
                <a:tc>
                  <a:txBody>
                    <a:bodyPr/>
                    <a:lstStyle/>
                    <a:p>
                      <a:pPr marL="0" marR="0" algn="ctr">
                        <a:spcBef>
                          <a:spcPts val="0"/>
                        </a:spcBef>
                        <a:spcAft>
                          <a:spcPts val="0"/>
                        </a:spcAft>
                      </a:pPr>
                      <a:r>
                        <a:rPr lang="en-US" sz="1200">
                          <a:effectLst/>
                          <a:latin typeface="+mj-lt"/>
                        </a:rPr>
                        <a:t>2</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l">
                        <a:spcBef>
                          <a:spcPts val="0"/>
                        </a:spcBef>
                        <a:spcAft>
                          <a:spcPts val="0"/>
                        </a:spcAft>
                      </a:pPr>
                      <a:r>
                        <a:rPr lang="en-US" sz="1200">
                          <a:effectLst/>
                          <a:latin typeface="+mj-lt"/>
                        </a:rPr>
                        <a:t>IPDS</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1755.01</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1543</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731</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643.5</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2486.01</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2186.5</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just">
                        <a:spcBef>
                          <a:spcPts val="0"/>
                        </a:spcBef>
                        <a:spcAft>
                          <a:spcPts val="0"/>
                        </a:spcAft>
                      </a:pPr>
                      <a:r>
                        <a:rPr lang="en-US" sz="1200">
                          <a:effectLst/>
                          <a:latin typeface="+mj-lt"/>
                        </a:rPr>
                        <a:t>438.75-utility share</a:t>
                      </a:r>
                      <a:endParaRPr lang="en-US" sz="1200">
                        <a:effectLst/>
                        <a:latin typeface="+mj-lt"/>
                        <a:ea typeface="Libre Franklin Thin" pitchFamily="2" charset="0"/>
                        <a:cs typeface="Libre Franklin Thin" pitchFamily="2" charset="0"/>
                      </a:endParaRPr>
                    </a:p>
                  </a:txBody>
                  <a:tcPr marL="62886" marR="62886" marT="0" marB="0" anchor="ctr"/>
                </a:tc>
                <a:extLst>
                  <a:ext uri="{0D108BD9-81ED-4DB2-BD59-A6C34878D82A}">
                    <a16:rowId xmlns:a16="http://schemas.microsoft.com/office/drawing/2014/main" val="384990549"/>
                  </a:ext>
                </a:extLst>
              </a:tr>
              <a:tr h="157597">
                <a:tc>
                  <a:txBody>
                    <a:bodyPr/>
                    <a:lstStyle/>
                    <a:p>
                      <a:pPr marL="0" marR="0" algn="ctr">
                        <a:spcBef>
                          <a:spcPts val="0"/>
                        </a:spcBef>
                        <a:spcAft>
                          <a:spcPts val="0"/>
                        </a:spcAft>
                      </a:pPr>
                      <a:r>
                        <a:rPr lang="en-US" sz="1200">
                          <a:effectLst/>
                          <a:latin typeface="+mj-lt"/>
                        </a:rPr>
                        <a:t>3</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l">
                        <a:spcBef>
                          <a:spcPts val="0"/>
                        </a:spcBef>
                        <a:spcAft>
                          <a:spcPts val="0"/>
                        </a:spcAft>
                      </a:pPr>
                      <a:r>
                        <a:rPr lang="en-US" sz="1200">
                          <a:effectLst/>
                          <a:latin typeface="+mj-lt"/>
                        </a:rPr>
                        <a:t>SAUBHAGYA</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155.43</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136.5</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64.77</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64.77</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220.2</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201.27</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algn="ctr"/>
                      <a:endParaRPr lang="en-US" sz="1200">
                        <a:effectLst/>
                        <a:latin typeface="+mj-lt"/>
                        <a:cs typeface="Times New Roman" panose="02020603050405020304" pitchFamily="18" charset="0"/>
                      </a:endParaRPr>
                    </a:p>
                  </a:txBody>
                  <a:tcPr marL="62886" marR="62886" marT="0" marB="0" anchor="ctr"/>
                </a:tc>
                <a:extLst>
                  <a:ext uri="{0D108BD9-81ED-4DB2-BD59-A6C34878D82A}">
                    <a16:rowId xmlns:a16="http://schemas.microsoft.com/office/drawing/2014/main" val="3758906135"/>
                  </a:ext>
                </a:extLst>
              </a:tr>
              <a:tr h="157597">
                <a:tc>
                  <a:txBody>
                    <a:bodyPr/>
                    <a:lstStyle/>
                    <a:p>
                      <a:pPr marL="0" marR="0" algn="ctr">
                        <a:spcBef>
                          <a:spcPts val="0"/>
                        </a:spcBef>
                        <a:spcAft>
                          <a:spcPts val="0"/>
                        </a:spcAft>
                      </a:pPr>
                      <a:r>
                        <a:rPr lang="en-US" sz="1200">
                          <a:effectLst/>
                          <a:latin typeface="+mj-lt"/>
                        </a:rPr>
                        <a:t>4</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l">
                        <a:spcBef>
                          <a:spcPts val="0"/>
                        </a:spcBef>
                        <a:spcAft>
                          <a:spcPts val="0"/>
                        </a:spcAft>
                      </a:pPr>
                      <a:r>
                        <a:rPr lang="en-US" sz="1200">
                          <a:effectLst/>
                          <a:latin typeface="+mj-lt"/>
                        </a:rPr>
                        <a:t>TURGA PSP</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1921</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165.41</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1921</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165.41</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algn="ctr"/>
                      <a:endParaRPr lang="en-US" sz="1200">
                        <a:effectLst/>
                        <a:latin typeface="+mj-lt"/>
                        <a:cs typeface="Times New Roman" panose="02020603050405020304" pitchFamily="18" charset="0"/>
                      </a:endParaRPr>
                    </a:p>
                  </a:txBody>
                  <a:tcPr marL="62886" marR="62886" marT="0" marB="0" anchor="ctr"/>
                </a:tc>
                <a:extLst>
                  <a:ext uri="{0D108BD9-81ED-4DB2-BD59-A6C34878D82A}">
                    <a16:rowId xmlns:a16="http://schemas.microsoft.com/office/drawing/2014/main" val="1518741281"/>
                  </a:ext>
                </a:extLst>
              </a:tr>
              <a:tr h="157597">
                <a:tc>
                  <a:txBody>
                    <a:bodyPr/>
                    <a:lstStyle/>
                    <a:p>
                      <a:pPr marL="0" marR="0" algn="ctr">
                        <a:spcBef>
                          <a:spcPts val="0"/>
                        </a:spcBef>
                        <a:spcAft>
                          <a:spcPts val="0"/>
                        </a:spcAft>
                      </a:pPr>
                      <a:r>
                        <a:rPr lang="en-US" sz="1200">
                          <a:effectLst/>
                          <a:latin typeface="+mj-lt"/>
                        </a:rPr>
                        <a:t>5</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l">
                        <a:spcBef>
                          <a:spcPts val="0"/>
                        </a:spcBef>
                        <a:spcAft>
                          <a:spcPts val="0"/>
                        </a:spcAft>
                      </a:pPr>
                      <a:r>
                        <a:rPr lang="en-US" sz="1200">
                          <a:effectLst/>
                          <a:latin typeface="+mj-lt"/>
                        </a:rPr>
                        <a:t>HVDS II</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2200.91</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1141.45</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2200.91</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1141.45</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algn="ctr"/>
                      <a:endParaRPr lang="en-US" sz="1200">
                        <a:effectLst/>
                        <a:latin typeface="+mj-lt"/>
                        <a:cs typeface="Times New Roman" panose="02020603050405020304" pitchFamily="18" charset="0"/>
                      </a:endParaRPr>
                    </a:p>
                  </a:txBody>
                  <a:tcPr marL="62886" marR="62886" marT="0" marB="0" anchor="ctr"/>
                </a:tc>
                <a:extLst>
                  <a:ext uri="{0D108BD9-81ED-4DB2-BD59-A6C34878D82A}">
                    <a16:rowId xmlns:a16="http://schemas.microsoft.com/office/drawing/2014/main" val="2484097750"/>
                  </a:ext>
                </a:extLst>
              </a:tr>
              <a:tr h="157597">
                <a:tc>
                  <a:txBody>
                    <a:bodyPr/>
                    <a:lstStyle/>
                    <a:p>
                      <a:pPr marL="0" marR="0" algn="ctr">
                        <a:spcBef>
                          <a:spcPts val="0"/>
                        </a:spcBef>
                        <a:spcAft>
                          <a:spcPts val="0"/>
                        </a:spcAft>
                      </a:pPr>
                      <a:r>
                        <a:rPr lang="en-US" sz="1200">
                          <a:effectLst/>
                          <a:latin typeface="+mj-lt"/>
                        </a:rPr>
                        <a:t>6</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l">
                        <a:spcBef>
                          <a:spcPts val="0"/>
                        </a:spcBef>
                        <a:spcAft>
                          <a:spcPts val="0"/>
                        </a:spcAft>
                      </a:pPr>
                      <a:r>
                        <a:rPr lang="en-US" sz="1200">
                          <a:effectLst/>
                          <a:latin typeface="+mj-lt"/>
                        </a:rPr>
                        <a:t>HVDS I</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308</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205.11</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308</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205.11</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algn="ctr"/>
                      <a:endParaRPr lang="en-US" sz="1200">
                        <a:effectLst/>
                        <a:latin typeface="+mj-lt"/>
                        <a:cs typeface="Times New Roman" panose="02020603050405020304" pitchFamily="18" charset="0"/>
                      </a:endParaRPr>
                    </a:p>
                  </a:txBody>
                  <a:tcPr marL="62886" marR="62886" marT="0" marB="0" anchor="ctr"/>
                </a:tc>
                <a:extLst>
                  <a:ext uri="{0D108BD9-81ED-4DB2-BD59-A6C34878D82A}">
                    <a16:rowId xmlns:a16="http://schemas.microsoft.com/office/drawing/2014/main" val="2771091641"/>
                  </a:ext>
                </a:extLst>
              </a:tr>
              <a:tr h="157597">
                <a:tc>
                  <a:txBody>
                    <a:bodyPr/>
                    <a:lstStyle/>
                    <a:p>
                      <a:pPr marL="0" marR="0" algn="ctr">
                        <a:spcBef>
                          <a:spcPts val="0"/>
                        </a:spcBef>
                        <a:spcAft>
                          <a:spcPts val="0"/>
                        </a:spcAft>
                      </a:pPr>
                      <a:r>
                        <a:rPr lang="en-US" sz="1200">
                          <a:effectLst/>
                          <a:latin typeface="+mj-lt"/>
                        </a:rPr>
                        <a:t>7</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l">
                        <a:spcBef>
                          <a:spcPts val="0"/>
                        </a:spcBef>
                        <a:spcAft>
                          <a:spcPts val="0"/>
                        </a:spcAft>
                      </a:pPr>
                      <a:r>
                        <a:rPr lang="en-US" sz="1200">
                          <a:effectLst/>
                          <a:latin typeface="+mj-lt"/>
                        </a:rPr>
                        <a:t>UG Cabling</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290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160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290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160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algn="ctr"/>
                      <a:endParaRPr lang="en-US" sz="1200">
                        <a:effectLst/>
                        <a:latin typeface="+mj-lt"/>
                        <a:cs typeface="Times New Roman" panose="02020603050405020304" pitchFamily="18" charset="0"/>
                      </a:endParaRPr>
                    </a:p>
                  </a:txBody>
                  <a:tcPr marL="62886" marR="62886" marT="0" marB="0" anchor="ctr"/>
                </a:tc>
                <a:extLst>
                  <a:ext uri="{0D108BD9-81ED-4DB2-BD59-A6C34878D82A}">
                    <a16:rowId xmlns:a16="http://schemas.microsoft.com/office/drawing/2014/main" val="3976235612"/>
                  </a:ext>
                </a:extLst>
              </a:tr>
              <a:tr h="157597">
                <a:tc>
                  <a:txBody>
                    <a:bodyPr/>
                    <a:lstStyle/>
                    <a:p>
                      <a:pPr marL="0" marR="0" algn="ctr">
                        <a:spcBef>
                          <a:spcPts val="0"/>
                        </a:spcBef>
                        <a:spcAft>
                          <a:spcPts val="0"/>
                        </a:spcAft>
                      </a:pPr>
                      <a:r>
                        <a:rPr lang="en-US" sz="1200">
                          <a:effectLst/>
                          <a:latin typeface="+mj-lt"/>
                        </a:rPr>
                        <a:t>8</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l">
                        <a:spcBef>
                          <a:spcPts val="0"/>
                        </a:spcBef>
                        <a:spcAft>
                          <a:spcPts val="0"/>
                        </a:spcAft>
                      </a:pPr>
                      <a:r>
                        <a:rPr lang="en-US" sz="1200">
                          <a:effectLst/>
                          <a:latin typeface="+mj-lt"/>
                        </a:rPr>
                        <a:t>RIDF</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1081</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912</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1081</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912</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algn="ctr"/>
                      <a:endParaRPr lang="en-US" sz="1200">
                        <a:effectLst/>
                        <a:latin typeface="+mj-lt"/>
                        <a:cs typeface="Times New Roman" panose="02020603050405020304" pitchFamily="18" charset="0"/>
                      </a:endParaRPr>
                    </a:p>
                  </a:txBody>
                  <a:tcPr marL="62886" marR="62886" marT="0" marB="0" anchor="ctr"/>
                </a:tc>
                <a:extLst>
                  <a:ext uri="{0D108BD9-81ED-4DB2-BD59-A6C34878D82A}">
                    <a16:rowId xmlns:a16="http://schemas.microsoft.com/office/drawing/2014/main" val="3645840392"/>
                  </a:ext>
                </a:extLst>
              </a:tr>
              <a:tr h="157597">
                <a:tc>
                  <a:txBody>
                    <a:bodyPr/>
                    <a:lstStyle/>
                    <a:p>
                      <a:pPr marL="0" marR="0" algn="ctr">
                        <a:spcBef>
                          <a:spcPts val="0"/>
                        </a:spcBef>
                        <a:spcAft>
                          <a:spcPts val="0"/>
                        </a:spcAft>
                      </a:pPr>
                      <a:r>
                        <a:rPr lang="en-US" sz="1200">
                          <a:effectLst/>
                          <a:latin typeface="+mj-lt"/>
                        </a:rPr>
                        <a:t>9</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l">
                        <a:spcBef>
                          <a:spcPts val="0"/>
                        </a:spcBef>
                        <a:spcAft>
                          <a:spcPts val="0"/>
                        </a:spcAft>
                      </a:pPr>
                      <a:r>
                        <a:rPr lang="en-US" sz="1200">
                          <a:effectLst/>
                          <a:latin typeface="+mj-lt"/>
                        </a:rPr>
                        <a:t>SEEDN I</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319</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319</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319</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319</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algn="ctr"/>
                      <a:endParaRPr lang="en-US" sz="1200">
                        <a:effectLst/>
                        <a:latin typeface="+mj-lt"/>
                        <a:cs typeface="Times New Roman" panose="02020603050405020304" pitchFamily="18" charset="0"/>
                      </a:endParaRPr>
                    </a:p>
                  </a:txBody>
                  <a:tcPr marL="62886" marR="62886" marT="0" marB="0" anchor="ctr"/>
                </a:tc>
                <a:extLst>
                  <a:ext uri="{0D108BD9-81ED-4DB2-BD59-A6C34878D82A}">
                    <a16:rowId xmlns:a16="http://schemas.microsoft.com/office/drawing/2014/main" val="1770664153"/>
                  </a:ext>
                </a:extLst>
              </a:tr>
              <a:tr h="157597">
                <a:tc>
                  <a:txBody>
                    <a:bodyPr/>
                    <a:lstStyle/>
                    <a:p>
                      <a:pPr marL="0" marR="0" algn="ctr">
                        <a:spcBef>
                          <a:spcPts val="0"/>
                        </a:spcBef>
                        <a:spcAft>
                          <a:spcPts val="0"/>
                        </a:spcAft>
                      </a:pPr>
                      <a:r>
                        <a:rPr lang="en-US" sz="1200">
                          <a:effectLst/>
                          <a:latin typeface="+mj-lt"/>
                        </a:rPr>
                        <a:t>10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l">
                        <a:spcBef>
                          <a:spcPts val="0"/>
                        </a:spcBef>
                        <a:spcAft>
                          <a:spcPts val="0"/>
                        </a:spcAft>
                      </a:pPr>
                      <a:r>
                        <a:rPr lang="en-US" sz="1200">
                          <a:effectLst/>
                          <a:latin typeface="+mj-lt"/>
                        </a:rPr>
                        <a:t>SSEDN II</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400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400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400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400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algn="ctr"/>
                      <a:endParaRPr lang="en-US" sz="1200">
                        <a:effectLst/>
                        <a:latin typeface="+mj-lt"/>
                        <a:cs typeface="Times New Roman" panose="02020603050405020304" pitchFamily="18" charset="0"/>
                      </a:endParaRPr>
                    </a:p>
                  </a:txBody>
                  <a:tcPr marL="62886" marR="62886" marT="0" marB="0" anchor="ctr"/>
                </a:tc>
                <a:extLst>
                  <a:ext uri="{0D108BD9-81ED-4DB2-BD59-A6C34878D82A}">
                    <a16:rowId xmlns:a16="http://schemas.microsoft.com/office/drawing/2014/main" val="33251001"/>
                  </a:ext>
                </a:extLst>
              </a:tr>
              <a:tr h="157597">
                <a:tc>
                  <a:txBody>
                    <a:bodyPr/>
                    <a:lstStyle/>
                    <a:p>
                      <a:pPr marL="0" marR="0" algn="ctr">
                        <a:spcBef>
                          <a:spcPts val="0"/>
                        </a:spcBef>
                        <a:spcAft>
                          <a:spcPts val="0"/>
                        </a:spcAft>
                      </a:pPr>
                      <a:r>
                        <a:rPr lang="en-US" sz="1200">
                          <a:effectLst/>
                          <a:latin typeface="+mj-lt"/>
                        </a:rPr>
                        <a:t>11</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l">
                        <a:spcBef>
                          <a:spcPts val="0"/>
                        </a:spcBef>
                        <a:spcAft>
                          <a:spcPts val="0"/>
                        </a:spcAft>
                      </a:pPr>
                      <a:r>
                        <a:rPr lang="en-US" sz="1200">
                          <a:effectLst/>
                          <a:latin typeface="+mj-lt"/>
                        </a:rPr>
                        <a:t>SEEDN III</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300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132.5</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300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132.5</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algn="ctr"/>
                      <a:endParaRPr lang="en-US" sz="1200">
                        <a:effectLst/>
                        <a:latin typeface="+mj-lt"/>
                        <a:cs typeface="Times New Roman" panose="02020603050405020304" pitchFamily="18" charset="0"/>
                      </a:endParaRPr>
                    </a:p>
                  </a:txBody>
                  <a:tcPr marL="62886" marR="62886" marT="0" marB="0" anchor="ctr"/>
                </a:tc>
                <a:extLst>
                  <a:ext uri="{0D108BD9-81ED-4DB2-BD59-A6C34878D82A}">
                    <a16:rowId xmlns:a16="http://schemas.microsoft.com/office/drawing/2014/main" val="2834075086"/>
                  </a:ext>
                </a:extLst>
              </a:tr>
              <a:tr h="157597">
                <a:tc>
                  <a:txBody>
                    <a:bodyPr/>
                    <a:lstStyle/>
                    <a:p>
                      <a:pPr marL="0" marR="0" algn="ctr">
                        <a:spcBef>
                          <a:spcPts val="0"/>
                        </a:spcBef>
                        <a:spcAft>
                          <a:spcPts val="0"/>
                        </a:spcAft>
                      </a:pPr>
                      <a:r>
                        <a:rPr lang="en-US" sz="1200">
                          <a:effectLst/>
                          <a:latin typeface="+mj-lt"/>
                        </a:rPr>
                        <a:t>12</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l">
                        <a:spcBef>
                          <a:spcPts val="0"/>
                        </a:spcBef>
                        <a:spcAft>
                          <a:spcPts val="0"/>
                        </a:spcAft>
                      </a:pPr>
                      <a:r>
                        <a:rPr lang="en-US" sz="1200">
                          <a:effectLst/>
                          <a:latin typeface="+mj-lt"/>
                        </a:rPr>
                        <a:t>RE X PLAN</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431.62</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399.16</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43.57</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43.57</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475.19</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442.73</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algn="ctr"/>
                      <a:endParaRPr lang="en-US" sz="1200">
                        <a:effectLst/>
                        <a:latin typeface="+mj-lt"/>
                        <a:cs typeface="Times New Roman" panose="02020603050405020304" pitchFamily="18" charset="0"/>
                      </a:endParaRPr>
                    </a:p>
                  </a:txBody>
                  <a:tcPr marL="62886" marR="62886" marT="0" marB="0" anchor="ctr"/>
                </a:tc>
                <a:extLst>
                  <a:ext uri="{0D108BD9-81ED-4DB2-BD59-A6C34878D82A}">
                    <a16:rowId xmlns:a16="http://schemas.microsoft.com/office/drawing/2014/main" val="2561092370"/>
                  </a:ext>
                </a:extLst>
              </a:tr>
              <a:tr h="157597">
                <a:tc>
                  <a:txBody>
                    <a:bodyPr/>
                    <a:lstStyle/>
                    <a:p>
                      <a:pPr marL="0" marR="0" algn="ctr">
                        <a:spcBef>
                          <a:spcPts val="0"/>
                        </a:spcBef>
                        <a:spcAft>
                          <a:spcPts val="0"/>
                        </a:spcAft>
                      </a:pPr>
                      <a:r>
                        <a:rPr lang="en-US" sz="1200">
                          <a:effectLst/>
                          <a:latin typeface="+mj-lt"/>
                        </a:rPr>
                        <a:t>13</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l">
                        <a:spcBef>
                          <a:spcPts val="0"/>
                        </a:spcBef>
                        <a:spcAft>
                          <a:spcPts val="0"/>
                        </a:spcAft>
                      </a:pPr>
                      <a:r>
                        <a:rPr lang="en-US" sz="1200">
                          <a:effectLst/>
                          <a:latin typeface="+mj-lt"/>
                        </a:rPr>
                        <a:t>RE XI PLAN</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2037.52</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1788.83</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199.96</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199.96</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2237.48</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1988.79</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algn="ctr"/>
                      <a:endParaRPr lang="en-US" sz="1200">
                        <a:effectLst/>
                        <a:latin typeface="+mj-lt"/>
                        <a:cs typeface="Times New Roman" panose="02020603050405020304" pitchFamily="18" charset="0"/>
                      </a:endParaRPr>
                    </a:p>
                  </a:txBody>
                  <a:tcPr marL="62886" marR="62886" marT="0" marB="0" anchor="ctr"/>
                </a:tc>
                <a:extLst>
                  <a:ext uri="{0D108BD9-81ED-4DB2-BD59-A6C34878D82A}">
                    <a16:rowId xmlns:a16="http://schemas.microsoft.com/office/drawing/2014/main" val="646764684"/>
                  </a:ext>
                </a:extLst>
              </a:tr>
              <a:tr h="157597">
                <a:tc>
                  <a:txBody>
                    <a:bodyPr/>
                    <a:lstStyle/>
                    <a:p>
                      <a:pPr marL="0" marR="0" algn="ctr">
                        <a:spcBef>
                          <a:spcPts val="0"/>
                        </a:spcBef>
                        <a:spcAft>
                          <a:spcPts val="0"/>
                        </a:spcAft>
                      </a:pPr>
                      <a:r>
                        <a:rPr lang="en-US" sz="1200">
                          <a:effectLst/>
                          <a:latin typeface="+mj-lt"/>
                        </a:rPr>
                        <a:t>14</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l">
                        <a:spcBef>
                          <a:spcPts val="0"/>
                        </a:spcBef>
                        <a:spcAft>
                          <a:spcPts val="0"/>
                        </a:spcAft>
                      </a:pPr>
                      <a:r>
                        <a:rPr lang="en-US" sz="1200">
                          <a:effectLst/>
                          <a:latin typeface="+mj-lt"/>
                        </a:rPr>
                        <a:t>RE XI-Ph-II</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179.09</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123.94</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179.09</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123.94</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algn="ctr"/>
                      <a:endParaRPr lang="en-US" sz="1200">
                        <a:effectLst/>
                        <a:latin typeface="+mj-lt"/>
                        <a:cs typeface="Times New Roman" panose="02020603050405020304" pitchFamily="18" charset="0"/>
                      </a:endParaRPr>
                    </a:p>
                  </a:txBody>
                  <a:tcPr marL="62886" marR="62886" marT="0" marB="0" anchor="ctr"/>
                </a:tc>
                <a:extLst>
                  <a:ext uri="{0D108BD9-81ED-4DB2-BD59-A6C34878D82A}">
                    <a16:rowId xmlns:a16="http://schemas.microsoft.com/office/drawing/2014/main" val="3658398140"/>
                  </a:ext>
                </a:extLst>
              </a:tr>
              <a:tr h="157597">
                <a:tc>
                  <a:txBody>
                    <a:bodyPr/>
                    <a:lstStyle/>
                    <a:p>
                      <a:pPr marL="0" marR="0" algn="ctr">
                        <a:spcBef>
                          <a:spcPts val="0"/>
                        </a:spcBef>
                        <a:spcAft>
                          <a:spcPts val="0"/>
                        </a:spcAft>
                      </a:pPr>
                      <a:r>
                        <a:rPr lang="en-US" sz="1200">
                          <a:effectLst/>
                          <a:latin typeface="+mj-lt"/>
                        </a:rPr>
                        <a:t>15</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l">
                        <a:spcBef>
                          <a:spcPts val="0"/>
                        </a:spcBef>
                        <a:spcAft>
                          <a:spcPts val="0"/>
                        </a:spcAft>
                      </a:pPr>
                      <a:r>
                        <a:rPr lang="en-US" sz="1200">
                          <a:effectLst/>
                          <a:latin typeface="+mj-lt"/>
                        </a:rPr>
                        <a:t>RE XII PLAN</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546.85</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511.96</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132.03</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132.03</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678.88</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643.99</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algn="ctr"/>
                      <a:endParaRPr lang="en-US" sz="1200">
                        <a:effectLst/>
                        <a:latin typeface="+mj-lt"/>
                        <a:cs typeface="Times New Roman" panose="02020603050405020304" pitchFamily="18" charset="0"/>
                      </a:endParaRPr>
                    </a:p>
                  </a:txBody>
                  <a:tcPr marL="62886" marR="62886" marT="0" marB="0" anchor="ctr"/>
                </a:tc>
                <a:extLst>
                  <a:ext uri="{0D108BD9-81ED-4DB2-BD59-A6C34878D82A}">
                    <a16:rowId xmlns:a16="http://schemas.microsoft.com/office/drawing/2014/main" val="3208920193"/>
                  </a:ext>
                </a:extLst>
              </a:tr>
              <a:tr h="157597">
                <a:tc>
                  <a:txBody>
                    <a:bodyPr/>
                    <a:lstStyle/>
                    <a:p>
                      <a:pPr marL="0" marR="0" algn="ctr">
                        <a:spcBef>
                          <a:spcPts val="0"/>
                        </a:spcBef>
                        <a:spcAft>
                          <a:spcPts val="0"/>
                        </a:spcAft>
                      </a:pPr>
                      <a:r>
                        <a:rPr lang="en-US" sz="1200">
                          <a:effectLst/>
                          <a:latin typeface="+mj-lt"/>
                        </a:rPr>
                        <a:t>16</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l">
                        <a:spcBef>
                          <a:spcPts val="0"/>
                        </a:spcBef>
                        <a:spcAft>
                          <a:spcPts val="0"/>
                        </a:spcAft>
                      </a:pPr>
                      <a:r>
                        <a:rPr lang="en-US" sz="1200">
                          <a:effectLst/>
                          <a:latin typeface="+mj-lt"/>
                        </a:rPr>
                        <a:t>BRGF</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2511</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2511</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2511</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2511</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algn="ctr"/>
                      <a:endParaRPr lang="en-US" sz="1200">
                        <a:effectLst/>
                        <a:latin typeface="+mj-lt"/>
                        <a:cs typeface="Times New Roman" panose="02020603050405020304" pitchFamily="18" charset="0"/>
                      </a:endParaRPr>
                    </a:p>
                  </a:txBody>
                  <a:tcPr marL="62886" marR="62886" marT="0" marB="0" anchor="ctr"/>
                </a:tc>
                <a:extLst>
                  <a:ext uri="{0D108BD9-81ED-4DB2-BD59-A6C34878D82A}">
                    <a16:rowId xmlns:a16="http://schemas.microsoft.com/office/drawing/2014/main" val="3857214944"/>
                  </a:ext>
                </a:extLst>
              </a:tr>
              <a:tr h="157597">
                <a:tc>
                  <a:txBody>
                    <a:bodyPr/>
                    <a:lstStyle/>
                    <a:p>
                      <a:pPr marL="0" marR="0" algn="ctr">
                        <a:spcBef>
                          <a:spcPts val="0"/>
                        </a:spcBef>
                        <a:spcAft>
                          <a:spcPts val="0"/>
                        </a:spcAft>
                      </a:pPr>
                      <a:r>
                        <a:rPr lang="en-US" sz="1200">
                          <a:effectLst/>
                          <a:latin typeface="+mj-lt"/>
                        </a:rPr>
                        <a:t>17</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l">
                        <a:spcBef>
                          <a:spcPts val="0"/>
                        </a:spcBef>
                        <a:spcAft>
                          <a:spcPts val="0"/>
                        </a:spcAft>
                      </a:pPr>
                      <a:r>
                        <a:rPr lang="en-US" sz="1200">
                          <a:effectLst/>
                          <a:latin typeface="+mj-lt"/>
                        </a:rPr>
                        <a:t>WBEGMP</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44.5</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algn="ctr"/>
                      <a:endParaRPr lang="en-US" sz="1200">
                        <a:effectLst/>
                        <a:latin typeface="+mj-lt"/>
                        <a:cs typeface="Times New Roman" panose="02020603050405020304" pitchFamily="18" charset="0"/>
                      </a:endParaRPr>
                    </a:p>
                  </a:txBody>
                  <a:tcPr marL="62886" marR="62886" marT="0" marB="0" anchor="ctr"/>
                </a:tc>
                <a:tc>
                  <a:txBody>
                    <a:bodyPr/>
                    <a:lstStyle/>
                    <a:p>
                      <a:pPr marL="0" marR="0" algn="ctr">
                        <a:spcBef>
                          <a:spcPts val="0"/>
                        </a:spcBef>
                        <a:spcAft>
                          <a:spcPts val="0"/>
                        </a:spcAft>
                      </a:pPr>
                      <a:r>
                        <a:rPr lang="en-US" sz="1200">
                          <a:effectLst/>
                          <a:latin typeface="+mj-lt"/>
                        </a:rPr>
                        <a:t>44.5</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algn="ctr"/>
                      <a:endParaRPr lang="en-US" sz="1200">
                        <a:effectLst/>
                        <a:latin typeface="+mj-lt"/>
                        <a:cs typeface="Times New Roman" panose="02020603050405020304" pitchFamily="18" charset="0"/>
                      </a:endParaRPr>
                    </a:p>
                  </a:txBody>
                  <a:tcPr marL="62886" marR="62886" marT="0" marB="0" anchor="ctr"/>
                </a:tc>
                <a:extLst>
                  <a:ext uri="{0D108BD9-81ED-4DB2-BD59-A6C34878D82A}">
                    <a16:rowId xmlns:a16="http://schemas.microsoft.com/office/drawing/2014/main" val="1176605105"/>
                  </a:ext>
                </a:extLst>
              </a:tr>
              <a:tr h="267877">
                <a:tc>
                  <a:txBody>
                    <a:bodyPr/>
                    <a:lstStyle/>
                    <a:p>
                      <a:pPr marL="0" marR="0" algn="ctr">
                        <a:spcBef>
                          <a:spcPts val="0"/>
                        </a:spcBef>
                        <a:spcAft>
                          <a:spcPts val="0"/>
                        </a:spcAft>
                      </a:pPr>
                      <a:r>
                        <a:rPr lang="en-US" sz="1200">
                          <a:effectLst/>
                          <a:latin typeface="+mj-lt"/>
                        </a:rPr>
                        <a:t>18</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l">
                        <a:spcBef>
                          <a:spcPts val="0"/>
                        </a:spcBef>
                        <a:spcAft>
                          <a:spcPts val="0"/>
                        </a:spcAft>
                      </a:pPr>
                      <a:r>
                        <a:rPr lang="en-US" sz="1200" dirty="0">
                          <a:effectLst/>
                          <a:latin typeface="+mj-lt"/>
                        </a:rPr>
                        <a:t>125 MW Solar Park</a:t>
                      </a:r>
                      <a:endParaRPr lang="en-US" sz="1200" dirty="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dirty="0">
                          <a:effectLst/>
                          <a:latin typeface="+mj-lt"/>
                        </a:rPr>
                        <a:t>0</a:t>
                      </a:r>
                      <a:endParaRPr lang="en-US" sz="1200" dirty="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14.16</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algn="ctr"/>
                      <a:endParaRPr lang="en-US" sz="1200">
                        <a:effectLst/>
                        <a:latin typeface="+mj-lt"/>
                        <a:cs typeface="Times New Roman" panose="02020603050405020304" pitchFamily="18" charset="0"/>
                      </a:endParaRPr>
                    </a:p>
                  </a:txBody>
                  <a:tcPr marL="62886" marR="62886" marT="0" marB="0" anchor="ctr"/>
                </a:tc>
                <a:tc>
                  <a:txBody>
                    <a:bodyPr/>
                    <a:lstStyle/>
                    <a:p>
                      <a:pPr marL="0" marR="0" algn="ctr">
                        <a:spcBef>
                          <a:spcPts val="0"/>
                        </a:spcBef>
                        <a:spcAft>
                          <a:spcPts val="0"/>
                        </a:spcAft>
                      </a:pPr>
                      <a:r>
                        <a:rPr lang="en-US" sz="1200" dirty="0">
                          <a:effectLst/>
                          <a:latin typeface="+mj-lt"/>
                        </a:rPr>
                        <a:t>14.16</a:t>
                      </a:r>
                      <a:endParaRPr lang="en-US" sz="1200" dirty="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a:effectLst/>
                          <a:latin typeface="+mj-lt"/>
                        </a:rPr>
                        <a:t>0</a:t>
                      </a:r>
                      <a:endParaRPr lang="en-US" sz="1200">
                        <a:effectLst/>
                        <a:latin typeface="+mj-lt"/>
                        <a:ea typeface="Libre Franklin Thin" pitchFamily="2" charset="0"/>
                        <a:cs typeface="Libre Franklin Thin" pitchFamily="2" charset="0"/>
                      </a:endParaRPr>
                    </a:p>
                  </a:txBody>
                  <a:tcPr marL="62886" marR="62886" marT="0" marB="0" anchor="ctr"/>
                </a:tc>
                <a:tc>
                  <a:txBody>
                    <a:bodyPr/>
                    <a:lstStyle/>
                    <a:p>
                      <a:pPr algn="ctr"/>
                      <a:endParaRPr lang="en-US" sz="1200">
                        <a:effectLst/>
                        <a:latin typeface="+mj-lt"/>
                        <a:cs typeface="Times New Roman" panose="02020603050405020304" pitchFamily="18" charset="0"/>
                      </a:endParaRPr>
                    </a:p>
                  </a:txBody>
                  <a:tcPr marL="62886" marR="62886" marT="0" marB="0" anchor="ctr"/>
                </a:tc>
                <a:extLst>
                  <a:ext uri="{0D108BD9-81ED-4DB2-BD59-A6C34878D82A}">
                    <a16:rowId xmlns:a16="http://schemas.microsoft.com/office/drawing/2014/main" val="1507264254"/>
                  </a:ext>
                </a:extLst>
              </a:tr>
              <a:tr h="157597">
                <a:tc>
                  <a:txBody>
                    <a:bodyPr/>
                    <a:lstStyle/>
                    <a:p>
                      <a:pPr algn="ctr"/>
                      <a:endParaRPr lang="en-US" sz="1200">
                        <a:effectLst/>
                        <a:latin typeface="+mj-lt"/>
                        <a:cs typeface="Times New Roman" panose="02020603050405020304" pitchFamily="18" charset="0"/>
                      </a:endParaRPr>
                    </a:p>
                  </a:txBody>
                  <a:tcPr marL="62886" marR="62886" marT="0" marB="0" anchor="ctr"/>
                </a:tc>
                <a:tc>
                  <a:txBody>
                    <a:bodyPr/>
                    <a:lstStyle/>
                    <a:p>
                      <a:pPr marL="0" marR="0" algn="just">
                        <a:spcBef>
                          <a:spcPts val="0"/>
                        </a:spcBef>
                        <a:spcAft>
                          <a:spcPts val="0"/>
                        </a:spcAft>
                      </a:pPr>
                      <a:r>
                        <a:rPr lang="en-US" sz="1200" b="1" dirty="0">
                          <a:effectLst/>
                          <a:latin typeface="+mj-lt"/>
                        </a:rPr>
                        <a:t>TOTAL</a:t>
                      </a:r>
                      <a:endParaRPr lang="en-US" sz="1200" b="1" dirty="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b="1" dirty="0">
                          <a:effectLst/>
                          <a:latin typeface="+mj-lt"/>
                        </a:rPr>
                        <a:t>10182.26</a:t>
                      </a:r>
                      <a:endParaRPr lang="en-US" sz="1200" b="1" dirty="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b="1" dirty="0">
                          <a:effectLst/>
                          <a:latin typeface="+mj-lt"/>
                        </a:rPr>
                        <a:t>9021.46</a:t>
                      </a:r>
                      <a:endParaRPr lang="en-US" sz="1200" b="1" dirty="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b="1" dirty="0">
                          <a:effectLst/>
                          <a:latin typeface="+mj-lt"/>
                        </a:rPr>
                        <a:t>9058.24</a:t>
                      </a:r>
                      <a:endParaRPr lang="en-US" sz="1200" b="1" dirty="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b="1" dirty="0">
                          <a:effectLst/>
                          <a:latin typeface="+mj-lt"/>
                        </a:rPr>
                        <a:t>5564.3</a:t>
                      </a:r>
                      <a:endParaRPr lang="en-US" sz="1200" b="1" dirty="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b="1" dirty="0">
                          <a:effectLst/>
                          <a:latin typeface="+mj-lt"/>
                        </a:rPr>
                        <a:t>19299.16</a:t>
                      </a:r>
                      <a:endParaRPr lang="en-US" sz="1200" b="1" dirty="0">
                        <a:effectLst/>
                        <a:latin typeface="+mj-lt"/>
                        <a:ea typeface="Libre Franklin Thin" pitchFamily="2" charset="0"/>
                        <a:cs typeface="Libre Franklin Thin" pitchFamily="2" charset="0"/>
                      </a:endParaRPr>
                    </a:p>
                  </a:txBody>
                  <a:tcPr marL="62886" marR="62886" marT="0" marB="0" anchor="ctr"/>
                </a:tc>
                <a:tc>
                  <a:txBody>
                    <a:bodyPr/>
                    <a:lstStyle/>
                    <a:p>
                      <a:pPr marL="0" marR="0" algn="ctr">
                        <a:spcBef>
                          <a:spcPts val="0"/>
                        </a:spcBef>
                        <a:spcAft>
                          <a:spcPts val="0"/>
                        </a:spcAft>
                      </a:pPr>
                      <a:r>
                        <a:rPr lang="en-US" sz="1200" b="1" dirty="0">
                          <a:effectLst/>
                          <a:latin typeface="+mj-lt"/>
                        </a:rPr>
                        <a:t>14585.76</a:t>
                      </a:r>
                      <a:endParaRPr lang="en-US" sz="1200" b="1" dirty="0">
                        <a:effectLst/>
                        <a:latin typeface="+mj-lt"/>
                        <a:ea typeface="Libre Franklin Thin" pitchFamily="2" charset="0"/>
                        <a:cs typeface="Libre Franklin Thin" pitchFamily="2" charset="0"/>
                      </a:endParaRPr>
                    </a:p>
                  </a:txBody>
                  <a:tcPr marL="62886" marR="62886" marT="0" marB="0" anchor="ctr"/>
                </a:tc>
                <a:tc>
                  <a:txBody>
                    <a:bodyPr/>
                    <a:lstStyle/>
                    <a:p>
                      <a:pPr algn="ctr"/>
                      <a:endParaRPr lang="en-US" sz="1200" b="1" dirty="0">
                        <a:effectLst/>
                        <a:latin typeface="+mj-lt"/>
                        <a:cs typeface="Times New Roman" panose="02020603050405020304" pitchFamily="18" charset="0"/>
                      </a:endParaRPr>
                    </a:p>
                  </a:txBody>
                  <a:tcPr marL="62886" marR="62886" marT="0" marB="0" anchor="ctr"/>
                </a:tc>
                <a:extLst>
                  <a:ext uri="{0D108BD9-81ED-4DB2-BD59-A6C34878D82A}">
                    <a16:rowId xmlns:a16="http://schemas.microsoft.com/office/drawing/2014/main" val="3519445960"/>
                  </a:ext>
                </a:extLst>
              </a:tr>
            </a:tbl>
          </a:graphicData>
        </a:graphic>
      </p:graphicFrame>
      <p:sp>
        <p:nvSpPr>
          <p:cNvPr id="11" name="TextBox 10">
            <a:extLst>
              <a:ext uri="{FF2B5EF4-FFF2-40B4-BE49-F238E27FC236}">
                <a16:creationId xmlns:a16="http://schemas.microsoft.com/office/drawing/2014/main" id="{456FFF91-0837-4559-808B-D593A5FA009E}"/>
              </a:ext>
            </a:extLst>
          </p:cNvPr>
          <p:cNvSpPr txBox="1"/>
          <p:nvPr/>
        </p:nvSpPr>
        <p:spPr>
          <a:xfrm>
            <a:off x="488936" y="5773564"/>
            <a:ext cx="11322064" cy="795539"/>
          </a:xfrm>
          <a:prstGeom prst="rect">
            <a:avLst/>
          </a:prstGeom>
          <a:solidFill>
            <a:srgbClr val="D0D0CE">
              <a:alpha val="32000"/>
            </a:srgbClr>
          </a:solidFill>
        </p:spPr>
        <p:txBody>
          <a:bodyPr wrap="square" lIns="91440" tIns="91440" rIns="91440" bIns="91440" rtlCol="0">
            <a:spAutoFit/>
          </a:bodyPr>
          <a:lstStyle/>
          <a:p>
            <a:pPr marL="171450" marR="0" lvl="0" indent="-171450" algn="just" defTabSz="914342" rtl="0" eaLnBrk="1" fontAlgn="auto" latinLnBrk="0" hangingPunct="1">
              <a:lnSpc>
                <a:spcPct val="114000"/>
              </a:lnSpc>
              <a:spcBef>
                <a:spcPts val="0"/>
              </a:spcBef>
              <a:spcAft>
                <a:spcPts val="0"/>
              </a:spcAft>
              <a:buClrTx/>
              <a:buSzPct val="100000"/>
              <a:buFont typeface="Arial" panose="020B0604020202020204" pitchFamily="34" charset="0"/>
              <a:buChar char="•"/>
              <a:tabLst/>
              <a:defRPr/>
            </a:pPr>
            <a:r>
              <a:rPr kumimoji="0" lang="en-US" sz="1200" b="0" i="1" u="none" strike="noStrike" kern="1200" cap="none" spc="0" normalizeH="0" baseline="0" noProof="0" dirty="0">
                <a:ln>
                  <a:noFill/>
                </a:ln>
                <a:solidFill>
                  <a:prstClr val="black"/>
                </a:solidFill>
                <a:effectLst/>
                <a:uLnTx/>
                <a:uFillTx/>
                <a:latin typeface="+mn-lt"/>
                <a:ea typeface="+mn-ea"/>
                <a:cs typeface="+mn-cs"/>
              </a:rPr>
              <a:t>Centre: Rs 9021.46 Cr out of Rs. 10182.26 Cr (~88.5%) released</a:t>
            </a:r>
          </a:p>
          <a:p>
            <a:pPr marL="171450" marR="0" lvl="0" indent="-171450" algn="just" defTabSz="914342" rtl="0" eaLnBrk="1" fontAlgn="auto" latinLnBrk="0" hangingPunct="1">
              <a:lnSpc>
                <a:spcPct val="114000"/>
              </a:lnSpc>
              <a:spcBef>
                <a:spcPts val="0"/>
              </a:spcBef>
              <a:spcAft>
                <a:spcPts val="0"/>
              </a:spcAft>
              <a:buClrTx/>
              <a:buSzPct val="100000"/>
              <a:buFont typeface="Arial" panose="020B0604020202020204" pitchFamily="34" charset="0"/>
              <a:buChar char="•"/>
              <a:tabLst/>
              <a:defRPr/>
            </a:pPr>
            <a:r>
              <a:rPr kumimoji="0" lang="en-US" sz="1200" b="0" i="1" u="none" strike="noStrike" kern="1200" cap="none" spc="0" normalizeH="0" baseline="0" noProof="0" dirty="0">
                <a:ln>
                  <a:noFill/>
                </a:ln>
                <a:solidFill>
                  <a:prstClr val="black"/>
                </a:solidFill>
                <a:effectLst/>
                <a:uLnTx/>
                <a:uFillTx/>
                <a:latin typeface="+mn-lt"/>
                <a:ea typeface="+mn-ea"/>
                <a:cs typeface="+mn-cs"/>
              </a:rPr>
              <a:t>State: Rs. 5564.3 Cr. 9058.24 Cr. released (~61.4%)</a:t>
            </a:r>
          </a:p>
          <a:p>
            <a:pPr marL="171450" marR="0" lvl="0" indent="-171450" algn="just" defTabSz="914342" rtl="0" eaLnBrk="1" fontAlgn="auto" latinLnBrk="0" hangingPunct="1">
              <a:lnSpc>
                <a:spcPct val="114000"/>
              </a:lnSpc>
              <a:spcBef>
                <a:spcPts val="0"/>
              </a:spcBef>
              <a:spcAft>
                <a:spcPts val="0"/>
              </a:spcAft>
              <a:buClrTx/>
              <a:buSzPct val="100000"/>
              <a:buFont typeface="Arial" panose="020B0604020202020204" pitchFamily="34" charset="0"/>
              <a:buChar char="•"/>
              <a:tabLst/>
              <a:defRPr/>
            </a:pPr>
            <a:r>
              <a:rPr kumimoji="0" lang="en-US" sz="1200" b="0" i="1" u="none" strike="noStrike" kern="1200" cap="none" spc="0" normalizeH="0" baseline="0" noProof="0" dirty="0">
                <a:ln>
                  <a:noFill/>
                </a:ln>
                <a:solidFill>
                  <a:prstClr val="black"/>
                </a:solidFill>
                <a:effectLst/>
                <a:uLnTx/>
                <a:uFillTx/>
                <a:latin typeface="+mn-lt"/>
                <a:ea typeface="+mn-ea"/>
                <a:cs typeface="+mn-cs"/>
              </a:rPr>
              <a:t>Considerable amount of funds pending to be released from state in comparison to Centre’s share</a:t>
            </a:r>
          </a:p>
        </p:txBody>
      </p:sp>
      <p:sp>
        <p:nvSpPr>
          <p:cNvPr id="7" name="TextBox 6">
            <a:extLst>
              <a:ext uri="{FF2B5EF4-FFF2-40B4-BE49-F238E27FC236}">
                <a16:creationId xmlns:a16="http://schemas.microsoft.com/office/drawing/2014/main" id="{B9A89866-EC4F-42D1-9F1C-1A82828C8BEC}"/>
              </a:ext>
            </a:extLst>
          </p:cNvPr>
          <p:cNvSpPr txBox="1"/>
          <p:nvPr/>
        </p:nvSpPr>
        <p:spPr>
          <a:xfrm>
            <a:off x="488936" y="4973522"/>
            <a:ext cx="11188700" cy="738664"/>
          </a:xfrm>
          <a:prstGeom prst="rect">
            <a:avLst/>
          </a:prstGeom>
          <a:solidFill>
            <a:schemeClr val="accent5">
              <a:lumMod val="20000"/>
              <a:lumOff val="80000"/>
            </a:schemeClr>
          </a:solidFill>
        </p:spPr>
        <p:txBody>
          <a:bodyPr wrap="square">
            <a:spAutoFit/>
          </a:bodyPr>
          <a:lstStyle/>
          <a:p>
            <a:r>
              <a:rPr lang="en-US" sz="1400" dirty="0">
                <a:effectLst/>
                <a:ea typeface="Verdana" panose="020B0604030504040204" pitchFamily="34" charset="0"/>
              </a:rPr>
              <a:t>WBSEDCL has been receiving financial support continuous basis for capital projects for Distribution infrastructure strengthening named as SEEDN, UG cabling, HVDS project etc. and electrification of agriculture pump-sets, up to FY 2021-22 which helps to WBSEDCL to avoid a loan burden and reducing its impact on tariff on the consumers. </a:t>
            </a:r>
            <a:endParaRPr lang="en-US" sz="1400" dirty="0"/>
          </a:p>
        </p:txBody>
      </p:sp>
    </p:spTree>
    <p:extLst>
      <p:ext uri="{BB962C8B-B14F-4D97-AF65-F5344CB8AC3E}">
        <p14:creationId xmlns:p14="http://schemas.microsoft.com/office/powerpoint/2010/main" val="3988923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272"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5" y="1200764"/>
            <a:ext cx="9630230" cy="1292662"/>
          </a:xfrm>
        </p:spPr>
        <p:txBody>
          <a:bodyPr anchor="ctr" anchorCtr="0">
            <a:spAutoFit/>
          </a:bodyPr>
          <a:lstStyle/>
          <a:p>
            <a:r>
              <a:rPr lang="en-US" sz="2800" i="0" dirty="0">
                <a:solidFill>
                  <a:schemeClr val="tx1"/>
                </a:solidFill>
              </a:rPr>
              <a:t>Review of Programs /Schemes Completed, Ongoing and Proposed under Central and State level Schemes</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68992" y="1590786"/>
            <a:ext cx="501149" cy="501149"/>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lang="en-US" sz="2000" b="1" kern="0" dirty="0">
                <a:solidFill>
                  <a:prstClr val="white"/>
                </a:solidFill>
              </a:rPr>
              <a:t>2</a:t>
            </a:r>
            <a:endParaRPr kumimoji="0" lang="en-IN" sz="20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1B748CB-0B57-4CA1-9B41-81AB5E897267}"/>
              </a:ext>
            </a:extLst>
          </p:cNvPr>
          <p:cNvSpPr txBox="1"/>
          <p:nvPr/>
        </p:nvSpPr>
        <p:spPr>
          <a:xfrm>
            <a:off x="4972286" y="2929535"/>
            <a:ext cx="6452575" cy="2369880"/>
          </a:xfrm>
          <a:prstGeom prst="rect">
            <a:avLst/>
          </a:prstGeom>
          <a:noFill/>
        </p:spPr>
        <p:txBody>
          <a:bodyPr wrap="square" lIns="0" tIns="0" rIns="0" bIns="0" rtlCol="0">
            <a:spAutoFit/>
          </a:bodyPr>
          <a:lstStyle/>
          <a:p>
            <a:pPr>
              <a:spcBef>
                <a:spcPts val="1800"/>
              </a:spcBef>
              <a:buSzPct val="100000"/>
            </a:pPr>
            <a:r>
              <a:rPr lang="en-IN" sz="1400" b="1" dirty="0"/>
              <a:t>Topics Covered</a:t>
            </a:r>
          </a:p>
          <a:p>
            <a:pPr>
              <a:buSzPct val="100000"/>
            </a:pPr>
            <a:r>
              <a:rPr lang="en-IN" sz="1400" b="1" dirty="0"/>
              <a:t>Power Distribution related Schemes</a:t>
            </a:r>
          </a:p>
          <a:p>
            <a:pPr marL="800071" lvl="1" indent="-342900">
              <a:buSzPct val="100000"/>
              <a:buFont typeface="+mj-lt"/>
              <a:buAutoNum type="alphaUcPeriod"/>
            </a:pPr>
            <a:r>
              <a:rPr lang="en-IN" sz="1400" b="1" dirty="0"/>
              <a:t>RGGVY &amp; DDUGJY</a:t>
            </a:r>
          </a:p>
          <a:p>
            <a:pPr marL="800071" lvl="1" indent="-342900">
              <a:buSzPct val="100000"/>
              <a:buFont typeface="+mj-lt"/>
              <a:buAutoNum type="alphaUcPeriod"/>
            </a:pPr>
            <a:r>
              <a:rPr lang="en-IN" sz="1400" b="1" dirty="0"/>
              <a:t>RAPDRP &amp; IPDS</a:t>
            </a:r>
          </a:p>
          <a:p>
            <a:pPr marL="800071" lvl="1" indent="-342900">
              <a:buSzPct val="100000"/>
              <a:buFont typeface="+mj-lt"/>
              <a:buAutoNum type="alphaUcPeriod"/>
            </a:pPr>
            <a:r>
              <a:rPr lang="en-IN" sz="1400" b="1" dirty="0"/>
              <a:t>NEF (Interest Subsidy) Scheme</a:t>
            </a:r>
          </a:p>
          <a:p>
            <a:pPr marL="800071" lvl="1" indent="-342900">
              <a:buSzPct val="100000"/>
              <a:buFont typeface="+mj-lt"/>
              <a:buAutoNum type="alphaUcPeriod"/>
            </a:pPr>
            <a:r>
              <a:rPr lang="en-IN" sz="1400" b="1" dirty="0"/>
              <a:t>REAPS </a:t>
            </a:r>
          </a:p>
          <a:p>
            <a:pPr marL="800071" lvl="1" indent="-342900">
              <a:buSzPct val="100000"/>
              <a:buFont typeface="+mj-lt"/>
              <a:buAutoNum type="alphaUcPeriod"/>
            </a:pPr>
            <a:r>
              <a:rPr lang="en-IN" sz="1400" b="1" dirty="0"/>
              <a:t>RDSS</a:t>
            </a:r>
          </a:p>
          <a:p>
            <a:pPr marL="800071" lvl="1" indent="-342900">
              <a:buSzPct val="100000"/>
              <a:buFont typeface="+mj-lt"/>
              <a:buAutoNum type="alphaUcPeriod"/>
            </a:pPr>
            <a:endParaRPr lang="en-IN" sz="1400" b="1" dirty="0"/>
          </a:p>
          <a:p>
            <a:pPr>
              <a:buSzPct val="100000"/>
            </a:pPr>
            <a:r>
              <a:rPr lang="en-IN" sz="1400" b="1" dirty="0"/>
              <a:t>Power Generation &amp; Transmission related Scheme </a:t>
            </a:r>
          </a:p>
          <a:p>
            <a:pPr lvl="1">
              <a:buSzPct val="100000"/>
            </a:pPr>
            <a:r>
              <a:rPr lang="en-IN" sz="1400" b="1" dirty="0"/>
              <a:t>F. - PSDF</a:t>
            </a:r>
            <a:endParaRPr lang="en-IN" sz="1400" b="1" dirty="0">
              <a:solidFill>
                <a:srgbClr val="FF0000"/>
              </a:solidFill>
            </a:endParaRPr>
          </a:p>
          <a:p>
            <a:pPr marL="342900" indent="-342900">
              <a:buSzPct val="100000"/>
              <a:buFont typeface="+mj-lt"/>
              <a:buAutoNum type="arabicPeriod"/>
            </a:pPr>
            <a:endParaRPr lang="en-IN" sz="1400" b="1" dirty="0">
              <a:solidFill>
                <a:srgbClr val="FF0000"/>
              </a:solidFill>
            </a:endParaRPr>
          </a:p>
        </p:txBody>
      </p: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2438797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30000"/>
            <a:lum/>
          </a:blip>
          <a:srcRect/>
          <a:stretch>
            <a:fillRect l="-1000" r="-1000"/>
          </a:stretch>
        </a:blip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96" name="think-cell Slide" r:id="rId5" imgW="498" imgH="499" progId="TCLayout.ActiveDocument.1">
                  <p:embed/>
                </p:oleObj>
              </mc:Choice>
              <mc:Fallback>
                <p:oleObj name="think-cell Slide" r:id="rId5"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4" y="1385429"/>
            <a:ext cx="10267267" cy="923330"/>
          </a:xfrm>
        </p:spPr>
        <p:txBody>
          <a:bodyPr wrap="square" anchor="ctr" anchorCtr="0">
            <a:spAutoFit/>
          </a:bodyPr>
          <a:lstStyle/>
          <a:p>
            <a:r>
              <a:rPr lang="en-US" sz="2000" i="0" dirty="0">
                <a:solidFill>
                  <a:schemeClr val="tx1"/>
                </a:solidFill>
              </a:rPr>
              <a:t>Progress Status of Rajiv Gandhi Gramin Vidyutikaran Yogona ( RGGVY) &amp; Deen Dayal Upadhyaya Gram Jyoti Yojana (DDUGJY) &amp; 'SAUBHAGYA' Scheme</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14670" y="1590786"/>
            <a:ext cx="689555" cy="525093"/>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0" cap="none" spc="0" normalizeH="0" baseline="0" noProof="0" dirty="0">
                <a:ln>
                  <a:noFill/>
                </a:ln>
                <a:solidFill>
                  <a:prstClr val="white"/>
                </a:solidFill>
                <a:effectLst/>
                <a:uLnTx/>
                <a:uFillTx/>
              </a:rPr>
              <a:t>2-A</a:t>
            </a:r>
            <a:endParaRPr kumimoji="0" lang="en-IN" sz="12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a:cxnSpLocks/>
          </p:cNvCxnSpPr>
          <p:nvPr/>
        </p:nvCxnSpPr>
        <p:spPr>
          <a:xfrm>
            <a:off x="4615544" y="3519078"/>
            <a:ext cx="0" cy="15863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1B748CB-0B57-4CA1-9B41-81AB5E897267}"/>
              </a:ext>
            </a:extLst>
          </p:cNvPr>
          <p:cNvSpPr txBox="1"/>
          <p:nvPr/>
        </p:nvSpPr>
        <p:spPr>
          <a:xfrm>
            <a:off x="4834999" y="3575213"/>
            <a:ext cx="6562335" cy="2000548"/>
          </a:xfrm>
          <a:prstGeom prst="rect">
            <a:avLst/>
          </a:prstGeom>
          <a:noFill/>
        </p:spPr>
        <p:txBody>
          <a:bodyPr wrap="square" lIns="0" tIns="0" rIns="0" bIns="0" rtlCol="0">
            <a:spAutoFit/>
          </a:bodyPr>
          <a:lstStyle/>
          <a:p>
            <a:pPr>
              <a:spcBef>
                <a:spcPts val="1800"/>
              </a:spcBef>
              <a:buSzPct val="100000"/>
            </a:pPr>
            <a:r>
              <a:rPr lang="en-IN" sz="1400" b="1" dirty="0"/>
              <a:t>Topics Covered</a:t>
            </a:r>
          </a:p>
          <a:p>
            <a:pPr marL="203200" indent="-203200">
              <a:spcBef>
                <a:spcPts val="1800"/>
              </a:spcBef>
              <a:buSzPct val="100000"/>
              <a:buFont typeface="Arial"/>
              <a:buChar char="•"/>
            </a:pPr>
            <a:r>
              <a:rPr lang="en-IN" sz="1400" dirty="0"/>
              <a:t>Salient Feature of Project</a:t>
            </a:r>
          </a:p>
          <a:p>
            <a:pPr marL="203200" indent="-203200">
              <a:spcBef>
                <a:spcPts val="1800"/>
              </a:spcBef>
              <a:buSzPct val="100000"/>
              <a:buFont typeface="Arial"/>
              <a:buChar char="•"/>
            </a:pPr>
            <a:r>
              <a:rPr lang="en-IN" sz="1400" dirty="0"/>
              <a:t>Financial Progress of Project</a:t>
            </a:r>
          </a:p>
          <a:p>
            <a:pPr marL="203200" indent="-203200">
              <a:spcBef>
                <a:spcPts val="1800"/>
              </a:spcBef>
              <a:buSzPct val="100000"/>
              <a:buFont typeface="Arial"/>
              <a:buChar char="•"/>
            </a:pPr>
            <a:r>
              <a:rPr lang="en-IN" sz="1400" dirty="0"/>
              <a:t>Physical Progress of Project </a:t>
            </a:r>
          </a:p>
          <a:p>
            <a:pPr marL="203200" indent="-203200">
              <a:spcBef>
                <a:spcPts val="1800"/>
              </a:spcBef>
              <a:buSzPct val="100000"/>
              <a:buFont typeface="Arial"/>
              <a:buChar char="•"/>
            </a:pPr>
            <a:endParaRPr lang="en-IN" sz="1400" dirty="0"/>
          </a:p>
        </p:txBody>
      </p:sp>
      <p:grpSp>
        <p:nvGrpSpPr>
          <p:cNvPr id="14" name="Group 526">
            <a:extLst>
              <a:ext uri="{FF2B5EF4-FFF2-40B4-BE49-F238E27FC236}">
                <a16:creationId xmlns:a16="http://schemas.microsoft.com/office/drawing/2014/main" id="{5540E149-1F19-4064-9714-B21FD0705489}"/>
              </a:ext>
            </a:extLst>
          </p:cNvPr>
          <p:cNvGrpSpPr>
            <a:grpSpLocks noChangeAspect="1"/>
          </p:cNvGrpSpPr>
          <p:nvPr/>
        </p:nvGrpSpPr>
        <p:grpSpPr bwMode="auto">
          <a:xfrm>
            <a:off x="1104225" y="3008313"/>
            <a:ext cx="2345264" cy="2345264"/>
            <a:chOff x="3464" y="1974"/>
            <a:chExt cx="340" cy="340"/>
          </a:xfrm>
          <a:solidFill>
            <a:srgbClr val="9CAC00"/>
          </a:solidFill>
        </p:grpSpPr>
        <p:sp>
          <p:nvSpPr>
            <p:cNvPr id="15" name="Freeform 527">
              <a:extLst>
                <a:ext uri="{FF2B5EF4-FFF2-40B4-BE49-F238E27FC236}">
                  <a16:creationId xmlns:a16="http://schemas.microsoft.com/office/drawing/2014/main" id="{2261B12D-A407-4719-9125-F49F83DDB571}"/>
                </a:ext>
              </a:extLst>
            </p:cNvPr>
            <p:cNvSpPr>
              <a:spLocks noEditPoints="1"/>
            </p:cNvSpPr>
            <p:nvPr/>
          </p:nvSpPr>
          <p:spPr bwMode="auto">
            <a:xfrm>
              <a:off x="3464" y="197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528">
              <a:extLst>
                <a:ext uri="{FF2B5EF4-FFF2-40B4-BE49-F238E27FC236}">
                  <a16:creationId xmlns:a16="http://schemas.microsoft.com/office/drawing/2014/main" id="{4FB09AB9-A79B-434D-9DE7-187BE7279860}"/>
                </a:ext>
              </a:extLst>
            </p:cNvPr>
            <p:cNvSpPr>
              <a:spLocks noEditPoints="1"/>
            </p:cNvSpPr>
            <p:nvPr/>
          </p:nvSpPr>
          <p:spPr bwMode="auto">
            <a:xfrm>
              <a:off x="3541" y="2037"/>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411682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9">
            <a:extLst>
              <a:ext uri="{FF2B5EF4-FFF2-40B4-BE49-F238E27FC236}">
                <a16:creationId xmlns:a16="http://schemas.microsoft.com/office/drawing/2014/main" id="{ADDBC7C8-E57A-4887-8C42-E5DF93DA658C}"/>
              </a:ext>
            </a:extLst>
          </p:cNvPr>
          <p:cNvSpPr>
            <a:spLocks noChangeArrowheads="1"/>
          </p:cNvSpPr>
          <p:nvPr/>
        </p:nvSpPr>
        <p:spPr bwMode="auto">
          <a:xfrm>
            <a:off x="2965238" y="816658"/>
            <a:ext cx="8712396" cy="2884485"/>
          </a:xfrm>
          <a:prstGeom prst="rect">
            <a:avLst/>
          </a:prstGeom>
          <a:solidFill>
            <a:schemeClr val="accent1">
              <a:lumMod val="20000"/>
              <a:lumOff val="80000"/>
            </a:schemeClr>
          </a:solidFill>
          <a:ln w="19050" algn="ctr">
            <a:solidFill>
              <a:schemeClr val="accent1"/>
            </a:solidFill>
            <a:miter lim="800000"/>
            <a:headEnd/>
            <a:tailEnd/>
          </a:ln>
        </p:spPr>
        <p:txBody>
          <a:bodyPr wrap="square" lIns="88900" tIns="88900" rIns="88900" bIns="88900" anchor="ctr"/>
          <a:lstStyle/>
          <a:p>
            <a:pPr algn="just">
              <a:spcBef>
                <a:spcPts val="600"/>
              </a:spcBef>
            </a:pPr>
            <a:r>
              <a:rPr lang="nn-NO" sz="1400" b="1" i="0" dirty="0">
                <a:solidFill>
                  <a:srgbClr val="333333"/>
                </a:solidFill>
                <a:effectLst/>
                <a:latin typeface="+mj-lt"/>
                <a:cs typeface="Calibri" panose="020F0502020204030204" pitchFamily="34" charset="0"/>
              </a:rPr>
              <a:t>Rajiv Gandhi Gramin Vidyutikaran Yogona (RGGVY)</a:t>
            </a:r>
            <a:r>
              <a:rPr lang="nn-NO" sz="1400" b="1" dirty="0">
                <a:solidFill>
                  <a:srgbClr val="333333"/>
                </a:solidFill>
                <a:latin typeface="+mj-lt"/>
                <a:cs typeface="Calibri" panose="020F0502020204030204" pitchFamily="34" charset="0"/>
              </a:rPr>
              <a:t> is central scheme</a:t>
            </a:r>
            <a:r>
              <a:rPr lang="en-US" sz="1200" b="0" i="0" dirty="0">
                <a:solidFill>
                  <a:srgbClr val="333333"/>
                </a:solidFill>
                <a:effectLst/>
                <a:latin typeface="+mj-lt"/>
                <a:cs typeface="Calibri" panose="020F0502020204030204" pitchFamily="34" charset="0"/>
              </a:rPr>
              <a:t> for rura</a:t>
            </a:r>
            <a:r>
              <a:rPr lang="en-US" sz="1200" dirty="0">
                <a:solidFill>
                  <a:srgbClr val="333333"/>
                </a:solidFill>
                <a:latin typeface="+mj-lt"/>
                <a:cs typeface="Calibri" panose="020F0502020204030204" pitchFamily="34" charset="0"/>
              </a:rPr>
              <a:t>l electrification and providing service connection to BPL consumers. </a:t>
            </a:r>
            <a:endParaRPr lang="en-US" sz="1200" b="1" i="0" dirty="0">
              <a:solidFill>
                <a:srgbClr val="FF0000"/>
              </a:solidFill>
              <a:effectLst/>
              <a:latin typeface="+mj-lt"/>
              <a:cs typeface="Calibri" panose="020F0502020204030204" pitchFamily="34" charset="0"/>
            </a:endParaRPr>
          </a:p>
          <a:p>
            <a:pPr marL="347663" indent="-173038" algn="just">
              <a:spcBef>
                <a:spcPts val="600"/>
              </a:spcBef>
              <a:buFont typeface="Wingdings" panose="05000000000000000000" pitchFamily="2" charset="2"/>
              <a:buChar char="§"/>
            </a:pPr>
            <a:r>
              <a:rPr lang="en-US" sz="1200" b="1" i="0" dirty="0">
                <a:solidFill>
                  <a:srgbClr val="333333"/>
                </a:solidFill>
                <a:effectLst/>
                <a:latin typeface="+mj-lt"/>
                <a:cs typeface="Calibri" panose="020F0502020204030204" pitchFamily="34" charset="0"/>
              </a:rPr>
              <a:t>RGGVY (X Plan) </a:t>
            </a:r>
            <a:r>
              <a:rPr lang="en-US" sz="1200" b="0" i="0" dirty="0">
                <a:solidFill>
                  <a:srgbClr val="333333"/>
                </a:solidFill>
                <a:effectLst/>
                <a:latin typeface="+mj-lt"/>
                <a:cs typeface="Calibri" panose="020F0502020204030204" pitchFamily="34" charset="0"/>
              </a:rPr>
              <a:t>covered following areas :  North &amp; South 24 Parganas, Birbhum, Burdwan, Uttar &amp; Dakshin Dinajpur, Malda, Murshidabad, Darjeeling (Siliguri Mahakuma Parishad), Purba &amp; Paschim Medinipur, Bankura and Purulia districts.</a:t>
            </a:r>
          </a:p>
          <a:p>
            <a:pPr marL="347663" indent="-173038" algn="just">
              <a:spcBef>
                <a:spcPts val="600"/>
              </a:spcBef>
              <a:buFont typeface="Wingdings" panose="05000000000000000000" pitchFamily="2" charset="2"/>
              <a:buChar char="§"/>
            </a:pPr>
            <a:r>
              <a:rPr lang="en-US" sz="1200" b="1" i="0" dirty="0">
                <a:solidFill>
                  <a:srgbClr val="333333"/>
                </a:solidFill>
                <a:effectLst/>
                <a:latin typeface="+mj-lt"/>
                <a:cs typeface="Calibri" panose="020F0502020204030204" pitchFamily="34" charset="0"/>
              </a:rPr>
              <a:t>RGGVY (XI Plan</a:t>
            </a:r>
            <a:r>
              <a:rPr lang="en-US" sz="1200" b="0" i="0" dirty="0">
                <a:solidFill>
                  <a:srgbClr val="333333"/>
                </a:solidFill>
                <a:effectLst/>
                <a:latin typeface="+mj-lt"/>
                <a:cs typeface="Calibri" panose="020F0502020204030204" pitchFamily="34" charset="0"/>
              </a:rPr>
              <a:t>) covered following areas : South 24 Parganas, Birbhum, Burdwan, Uttar &amp; Dakshin Dinajpur, Malda, Murshidabad, Darjeeling, Howrah, Hooghly, Coochbehar, Nadia, Paschim Medinipur and Purulia districts.</a:t>
            </a:r>
            <a:r>
              <a:rPr lang="en-IE" sz="1200" dirty="0">
                <a:solidFill>
                  <a:prstClr val="black"/>
                </a:solidFill>
                <a:latin typeface="+mj-lt"/>
                <a:ea typeface="Open Sans Light" panose="020B0306030504020204" pitchFamily="34" charset="0"/>
                <a:cs typeface="Calibri" panose="020F0502020204030204" pitchFamily="34" charset="0"/>
              </a:rPr>
              <a:t> </a:t>
            </a:r>
          </a:p>
          <a:p>
            <a:pPr marL="347663" indent="-173038" algn="just">
              <a:spcBef>
                <a:spcPts val="600"/>
              </a:spcBef>
              <a:buFont typeface="Wingdings" panose="05000000000000000000" pitchFamily="2" charset="2"/>
              <a:buChar char="§"/>
            </a:pPr>
            <a:r>
              <a:rPr lang="en-US" sz="1200" b="1" i="0" dirty="0">
                <a:solidFill>
                  <a:srgbClr val="333333"/>
                </a:solidFill>
                <a:effectLst/>
                <a:latin typeface="+mj-lt"/>
                <a:cs typeface="Calibri" panose="020F0502020204030204" pitchFamily="34" charset="0"/>
              </a:rPr>
              <a:t>RGGVY (XI Plan</a:t>
            </a:r>
            <a:r>
              <a:rPr lang="en-IE" sz="1200" b="1" i="0" dirty="0">
                <a:solidFill>
                  <a:prstClr val="black"/>
                </a:solidFill>
                <a:effectLst/>
                <a:latin typeface="+mj-lt"/>
                <a:ea typeface="Open Sans Light" panose="020B0306030504020204" pitchFamily="34" charset="0"/>
                <a:cs typeface="Calibri" panose="020F0502020204030204" pitchFamily="34" charset="0"/>
              </a:rPr>
              <a:t>) (Ph-II) </a:t>
            </a:r>
            <a:r>
              <a:rPr lang="en-IE" sz="1200" i="0" dirty="0">
                <a:solidFill>
                  <a:prstClr val="black"/>
                </a:solidFill>
                <a:effectLst/>
                <a:latin typeface="+mj-lt"/>
                <a:ea typeface="Open Sans Light" panose="020B0306030504020204" pitchFamily="34" charset="0"/>
                <a:cs typeface="Calibri" panose="020F0502020204030204" pitchFamily="34" charset="0"/>
              </a:rPr>
              <a:t>covered 188 </a:t>
            </a:r>
            <a:r>
              <a:rPr lang="en-IE" sz="1200" dirty="0">
                <a:solidFill>
                  <a:prstClr val="black"/>
                </a:solidFill>
                <a:latin typeface="+mj-lt"/>
                <a:ea typeface="Open Sans Light" panose="020B0306030504020204" pitchFamily="34" charset="0"/>
                <a:cs typeface="Calibri" panose="020F0502020204030204" pitchFamily="34" charset="0"/>
              </a:rPr>
              <a:t>villages for electrification and providing new service connection </a:t>
            </a:r>
            <a:r>
              <a:rPr lang="en-US" sz="1200" i="0" dirty="0">
                <a:solidFill>
                  <a:srgbClr val="333333"/>
                </a:solidFill>
                <a:effectLst/>
                <a:latin typeface="+mj-lt"/>
                <a:cs typeface="Calibri" panose="020F0502020204030204" pitchFamily="34" charset="0"/>
              </a:rPr>
              <a:t>exclusively in Darjeeling Hilly Area.</a:t>
            </a:r>
            <a:endParaRPr lang="en-IE" sz="1200" dirty="0">
              <a:solidFill>
                <a:prstClr val="black"/>
              </a:solidFill>
              <a:latin typeface="+mj-lt"/>
              <a:ea typeface="Open Sans Light" panose="020B0306030504020204" pitchFamily="34" charset="0"/>
              <a:cs typeface="Calibri" panose="020F0502020204030204" pitchFamily="34" charset="0"/>
            </a:endParaRPr>
          </a:p>
          <a:p>
            <a:pPr marL="347663" indent="-173038" algn="just">
              <a:spcBef>
                <a:spcPts val="600"/>
              </a:spcBef>
              <a:buFont typeface="Wingdings" panose="05000000000000000000" pitchFamily="2" charset="2"/>
              <a:buChar char="§"/>
            </a:pPr>
            <a:r>
              <a:rPr lang="en-US" sz="1200" b="1" i="0" dirty="0">
                <a:solidFill>
                  <a:srgbClr val="333333"/>
                </a:solidFill>
                <a:effectLst/>
                <a:latin typeface="+mj-lt"/>
                <a:cs typeface="Calibri" panose="020F0502020204030204" pitchFamily="34" charset="0"/>
              </a:rPr>
              <a:t>RGGVY (XII Plan) </a:t>
            </a:r>
            <a:r>
              <a:rPr lang="en-US" sz="1200" b="0" i="0" dirty="0">
                <a:solidFill>
                  <a:srgbClr val="333333"/>
                </a:solidFill>
                <a:effectLst/>
                <a:latin typeface="+mj-lt"/>
                <a:cs typeface="Calibri" panose="020F0502020204030204" pitchFamily="34" charset="0"/>
              </a:rPr>
              <a:t>covered 7 (seven) non-backward districts viz. (</a:t>
            </a:r>
            <a:r>
              <a:rPr lang="en-US" sz="1200" b="0" i="0" dirty="0" err="1">
                <a:solidFill>
                  <a:srgbClr val="333333"/>
                </a:solidFill>
                <a:effectLst/>
                <a:latin typeface="+mj-lt"/>
                <a:cs typeface="Calibri" panose="020F0502020204030204" pitchFamily="34" charset="0"/>
              </a:rPr>
              <a:t>i</a:t>
            </a:r>
            <a:r>
              <a:rPr lang="en-US" sz="1200" b="0" i="0" dirty="0">
                <a:solidFill>
                  <a:srgbClr val="333333"/>
                </a:solidFill>
                <a:effectLst/>
                <a:latin typeface="+mj-lt"/>
                <a:cs typeface="Calibri" panose="020F0502020204030204" pitchFamily="34" charset="0"/>
              </a:rPr>
              <a:t>) Coochbehar, (ii) Darjeeling (SMP), (iii) Nadia, (iv) Bardhaman, (v) Howrah, (vi) Hooghly &amp; (vii) North 24 Parganas. </a:t>
            </a:r>
          </a:p>
        </p:txBody>
      </p:sp>
      <p:sp>
        <p:nvSpPr>
          <p:cNvPr id="21" name="AutoShape 12">
            <a:extLst>
              <a:ext uri="{FF2B5EF4-FFF2-40B4-BE49-F238E27FC236}">
                <a16:creationId xmlns:a16="http://schemas.microsoft.com/office/drawing/2014/main" id="{AACE88D1-0F70-4149-A94E-C56BF6DDDC1A}"/>
              </a:ext>
            </a:extLst>
          </p:cNvPr>
          <p:cNvSpPr>
            <a:spLocks noChangeArrowheads="1"/>
          </p:cNvSpPr>
          <p:nvPr/>
        </p:nvSpPr>
        <p:spPr bwMode="auto">
          <a:xfrm>
            <a:off x="2029068" y="836082"/>
            <a:ext cx="844761" cy="2884485"/>
          </a:xfrm>
          <a:prstGeom prst="homePlate">
            <a:avLst>
              <a:gd name="adj" fmla="val 100000"/>
            </a:avLst>
          </a:prstGeom>
          <a:solidFill>
            <a:schemeClr val="bg2">
              <a:lumMod val="75000"/>
            </a:schemeClr>
          </a:solidFill>
          <a:ln w="6350" algn="ctr">
            <a:noFill/>
            <a:miter lim="800000"/>
            <a:headEnd/>
            <a:tailEnd/>
          </a:ln>
        </p:spPr>
        <p:txBody>
          <a:bodyPr wrap="square" lIns="88900" tIns="88900" rIns="88900" bIns="88900" anchor="ctr"/>
          <a:lstStyle/>
          <a:p>
            <a:pPr algn="ctr"/>
            <a:endParaRPr lang="en-US" sz="1200" dirty="0">
              <a:latin typeface="+mj-lt"/>
            </a:endParaRPr>
          </a:p>
        </p:txBody>
      </p:sp>
      <p:sp>
        <p:nvSpPr>
          <p:cNvPr id="24" name="Rectangle 23">
            <a:extLst>
              <a:ext uri="{FF2B5EF4-FFF2-40B4-BE49-F238E27FC236}">
                <a16:creationId xmlns:a16="http://schemas.microsoft.com/office/drawing/2014/main" id="{A3D90435-7D86-4CEC-9EC3-E0A6A53CAF9F}"/>
              </a:ext>
            </a:extLst>
          </p:cNvPr>
          <p:cNvSpPr/>
          <p:nvPr/>
        </p:nvSpPr>
        <p:spPr bwMode="gray">
          <a:xfrm>
            <a:off x="501654" y="816658"/>
            <a:ext cx="1436003" cy="2884485"/>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latin typeface="+mj-lt"/>
                <a:cs typeface="Calibri" panose="020F0502020204030204" pitchFamily="34" charset="0"/>
              </a:rPr>
              <a:t>Background</a:t>
            </a:r>
          </a:p>
        </p:txBody>
      </p:sp>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252922"/>
            <a:ext cx="11188700" cy="368299"/>
          </a:xfrm>
        </p:spPr>
        <p:txBody>
          <a:bodyPr vert="horz"/>
          <a:lstStyle/>
          <a:p>
            <a:pPr algn="just"/>
            <a:r>
              <a:rPr lang="en-US" sz="1600" i="0" dirty="0">
                <a:solidFill>
                  <a:schemeClr val="tx1"/>
                </a:solidFill>
                <a:latin typeface="+mj-lt"/>
              </a:rPr>
              <a:t>Salient Feature of Rural Electrification (RE) Scheme under RGGVY</a:t>
            </a:r>
          </a:p>
        </p:txBody>
      </p:sp>
      <p:graphicFrame>
        <p:nvGraphicFramePr>
          <p:cNvPr id="15" name="Table 8">
            <a:extLst>
              <a:ext uri="{FF2B5EF4-FFF2-40B4-BE49-F238E27FC236}">
                <a16:creationId xmlns:a16="http://schemas.microsoft.com/office/drawing/2014/main" id="{F870B7F0-A337-4230-8949-728E53BA571E}"/>
              </a:ext>
            </a:extLst>
          </p:cNvPr>
          <p:cNvGraphicFramePr>
            <a:graphicFrameLocks noGrp="1"/>
          </p:cNvGraphicFramePr>
          <p:nvPr/>
        </p:nvGraphicFramePr>
        <p:xfrm>
          <a:off x="514371" y="4264049"/>
          <a:ext cx="11163263" cy="2242935"/>
        </p:xfrm>
        <a:graphic>
          <a:graphicData uri="http://schemas.openxmlformats.org/drawingml/2006/table">
            <a:tbl>
              <a:tblPr firstRow="1" bandRow="1">
                <a:tableStyleId>{5C22544A-7EE6-4342-B048-85BDC9FD1C3A}</a:tableStyleId>
              </a:tblPr>
              <a:tblGrid>
                <a:gridCol w="2342698">
                  <a:extLst>
                    <a:ext uri="{9D8B030D-6E8A-4147-A177-3AD203B41FA5}">
                      <a16:colId xmlns:a16="http://schemas.microsoft.com/office/drawing/2014/main" val="2793445838"/>
                    </a:ext>
                  </a:extLst>
                </a:gridCol>
                <a:gridCol w="876448">
                  <a:extLst>
                    <a:ext uri="{9D8B030D-6E8A-4147-A177-3AD203B41FA5}">
                      <a16:colId xmlns:a16="http://schemas.microsoft.com/office/drawing/2014/main" val="3128547043"/>
                    </a:ext>
                  </a:extLst>
                </a:gridCol>
                <a:gridCol w="1806692">
                  <a:extLst>
                    <a:ext uri="{9D8B030D-6E8A-4147-A177-3AD203B41FA5}">
                      <a16:colId xmlns:a16="http://schemas.microsoft.com/office/drawing/2014/main" val="3221087855"/>
                    </a:ext>
                  </a:extLst>
                </a:gridCol>
                <a:gridCol w="1676799">
                  <a:extLst>
                    <a:ext uri="{9D8B030D-6E8A-4147-A177-3AD203B41FA5}">
                      <a16:colId xmlns:a16="http://schemas.microsoft.com/office/drawing/2014/main" val="1830989396"/>
                    </a:ext>
                  </a:extLst>
                </a:gridCol>
                <a:gridCol w="1605715">
                  <a:extLst>
                    <a:ext uri="{9D8B030D-6E8A-4147-A177-3AD203B41FA5}">
                      <a16:colId xmlns:a16="http://schemas.microsoft.com/office/drawing/2014/main" val="2354099640"/>
                    </a:ext>
                  </a:extLst>
                </a:gridCol>
                <a:gridCol w="1393631">
                  <a:extLst>
                    <a:ext uri="{9D8B030D-6E8A-4147-A177-3AD203B41FA5}">
                      <a16:colId xmlns:a16="http://schemas.microsoft.com/office/drawing/2014/main" val="544489322"/>
                    </a:ext>
                  </a:extLst>
                </a:gridCol>
                <a:gridCol w="1461280">
                  <a:extLst>
                    <a:ext uri="{9D8B030D-6E8A-4147-A177-3AD203B41FA5}">
                      <a16:colId xmlns:a16="http://schemas.microsoft.com/office/drawing/2014/main" val="3056055704"/>
                    </a:ext>
                  </a:extLst>
                </a:gridCol>
              </a:tblGrid>
              <a:tr h="333545">
                <a:tc>
                  <a:txBody>
                    <a:bodyPr/>
                    <a:lstStyle/>
                    <a:p>
                      <a:pPr lvl="0" algn="l" fontAlgn="ctr"/>
                      <a:r>
                        <a:rPr lang="en-US" sz="1300" b="1" i="0" u="none" strike="noStrike" dirty="0">
                          <a:solidFill>
                            <a:schemeClr val="bg1"/>
                          </a:solidFill>
                          <a:effectLst/>
                          <a:latin typeface="+mj-lt"/>
                        </a:rPr>
                        <a:t>Particulars</a:t>
                      </a:r>
                    </a:p>
                  </a:txBody>
                  <a:tcPr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007680"/>
                    </a:solidFill>
                  </a:tcPr>
                </a:tc>
                <a:tc>
                  <a:txBody>
                    <a:bodyPr/>
                    <a:lstStyle/>
                    <a:p>
                      <a:pPr algn="ctr" fontAlgn="ctr"/>
                      <a:r>
                        <a:rPr lang="en-US" sz="1300" b="1" i="0" u="none" strike="noStrike" dirty="0">
                          <a:solidFill>
                            <a:schemeClr val="bg1"/>
                          </a:solidFill>
                          <a:effectLst/>
                          <a:latin typeface="+mj-lt"/>
                        </a:rPr>
                        <a:t>Units</a:t>
                      </a:r>
                    </a:p>
                  </a:txBody>
                  <a:tcPr marR="6350" marT="6350" marB="0" anchor="ctr">
                    <a:lnT w="12700" cap="flat" cmpd="sng" algn="ctr">
                      <a:solidFill>
                        <a:schemeClr val="tx1"/>
                      </a:solidFill>
                      <a:prstDash val="solid"/>
                      <a:round/>
                      <a:headEnd type="none" w="med" len="med"/>
                      <a:tailEnd type="none" w="med" len="med"/>
                    </a:lnT>
                    <a:solidFill>
                      <a:srgbClr val="007680"/>
                    </a:solidFill>
                  </a:tcPr>
                </a:tc>
                <a:tc>
                  <a:txBody>
                    <a:bodyPr/>
                    <a:lstStyle/>
                    <a:p>
                      <a:pPr algn="ctr" fontAlgn="ctr"/>
                      <a:r>
                        <a:rPr lang="en-US" sz="1300" b="1" i="0" u="none" strike="noStrike" dirty="0">
                          <a:solidFill>
                            <a:schemeClr val="bg1"/>
                          </a:solidFill>
                          <a:effectLst/>
                          <a:latin typeface="+mj-lt"/>
                        </a:rPr>
                        <a:t>Sanction Quantity</a:t>
                      </a:r>
                    </a:p>
                  </a:txBody>
                  <a:tcPr marR="6350" marT="6350" marB="0" anchor="ctr">
                    <a:lnT w="12700" cap="flat" cmpd="sng" algn="ctr">
                      <a:solidFill>
                        <a:schemeClr val="tx1"/>
                      </a:solidFill>
                      <a:prstDash val="solid"/>
                      <a:round/>
                      <a:headEnd type="none" w="med" len="med"/>
                      <a:tailEnd type="none" w="med" len="med"/>
                    </a:lnT>
                    <a:solidFill>
                      <a:srgbClr val="007680"/>
                    </a:solidFill>
                  </a:tcPr>
                </a:tc>
                <a:tc>
                  <a:txBody>
                    <a:bodyPr/>
                    <a:lstStyle/>
                    <a:p>
                      <a:pPr algn="ctr" fontAlgn="ctr"/>
                      <a:r>
                        <a:rPr lang="en-US" sz="1300" b="1" i="0" u="none" strike="noStrike" dirty="0">
                          <a:solidFill>
                            <a:schemeClr val="bg1"/>
                          </a:solidFill>
                          <a:effectLst/>
                          <a:latin typeface="+mj-lt"/>
                        </a:rPr>
                        <a:t>Awarded Quantity</a:t>
                      </a:r>
                    </a:p>
                  </a:txBody>
                  <a:tcPr marR="6350" marT="6350" marB="0" anchor="ctr">
                    <a:lnT w="12700" cap="flat" cmpd="sng" algn="ctr">
                      <a:solidFill>
                        <a:schemeClr val="tx1"/>
                      </a:solidFill>
                      <a:prstDash val="solid"/>
                      <a:round/>
                      <a:headEnd type="none" w="med" len="med"/>
                      <a:tailEnd type="none" w="med" len="med"/>
                    </a:lnT>
                    <a:solidFill>
                      <a:srgbClr val="007680"/>
                    </a:solidFill>
                  </a:tcPr>
                </a:tc>
                <a:tc>
                  <a:txBody>
                    <a:bodyPr/>
                    <a:lstStyle/>
                    <a:p>
                      <a:pPr algn="ctr" fontAlgn="ctr"/>
                      <a:r>
                        <a:rPr lang="en-US" sz="1300" b="1" i="0" u="none" strike="noStrike" dirty="0">
                          <a:solidFill>
                            <a:schemeClr val="bg1"/>
                          </a:solidFill>
                          <a:effectLst/>
                          <a:latin typeface="+mj-lt"/>
                        </a:rPr>
                        <a:t>Surveyed Quantity</a:t>
                      </a:r>
                    </a:p>
                  </a:txBody>
                  <a:tcPr marR="6350" marT="6350" marB="0" anchor="ctr">
                    <a:lnT w="12700" cap="flat" cmpd="sng" algn="ctr">
                      <a:solidFill>
                        <a:schemeClr val="tx1"/>
                      </a:solidFill>
                      <a:prstDash val="solid"/>
                      <a:round/>
                      <a:headEnd type="none" w="med" len="med"/>
                      <a:tailEnd type="none" w="med" len="med"/>
                    </a:lnT>
                    <a:solidFill>
                      <a:srgbClr val="007680"/>
                    </a:solidFill>
                  </a:tcPr>
                </a:tc>
                <a:tc>
                  <a:txBody>
                    <a:bodyPr/>
                    <a:lstStyle/>
                    <a:p>
                      <a:pPr algn="ctr" fontAlgn="ctr"/>
                      <a:r>
                        <a:rPr lang="en-US" sz="1300" b="1" i="0" u="none" strike="noStrike" dirty="0">
                          <a:solidFill>
                            <a:schemeClr val="bg1"/>
                          </a:solidFill>
                          <a:effectLst/>
                          <a:latin typeface="+mj-lt"/>
                        </a:rPr>
                        <a:t>Achievement</a:t>
                      </a:r>
                    </a:p>
                  </a:txBody>
                  <a:tcPr marR="6350" marT="6350" marB="0" anchor="ctr">
                    <a:lnT w="12700" cap="flat" cmpd="sng" algn="ctr">
                      <a:solidFill>
                        <a:schemeClr val="tx1"/>
                      </a:solidFill>
                      <a:prstDash val="solid"/>
                      <a:round/>
                      <a:headEnd type="none" w="med" len="med"/>
                      <a:tailEnd type="none" w="med" len="med"/>
                    </a:lnT>
                    <a:solidFill>
                      <a:srgbClr val="007680"/>
                    </a:solidFill>
                  </a:tcPr>
                </a:tc>
                <a:tc>
                  <a:txBody>
                    <a:bodyPr/>
                    <a:lstStyle/>
                    <a:p>
                      <a:pPr algn="ctr" fontAlgn="ctr"/>
                      <a:r>
                        <a:rPr lang="en-US" sz="1300" b="1" i="0" u="none" strike="noStrike" dirty="0">
                          <a:solidFill>
                            <a:schemeClr val="bg1"/>
                          </a:solidFill>
                          <a:effectLst/>
                          <a:latin typeface="+mj-lt"/>
                        </a:rPr>
                        <a:t>Bal w.r.t Surveyed </a:t>
                      </a:r>
                    </a:p>
                  </a:txBody>
                  <a:tcPr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007680"/>
                    </a:solidFill>
                  </a:tcPr>
                </a:tc>
                <a:extLst>
                  <a:ext uri="{0D108BD9-81ED-4DB2-BD59-A6C34878D82A}">
                    <a16:rowId xmlns:a16="http://schemas.microsoft.com/office/drawing/2014/main" val="359096776"/>
                  </a:ext>
                </a:extLst>
              </a:tr>
              <a:tr h="283490">
                <a:tc>
                  <a:txBody>
                    <a:bodyPr/>
                    <a:lstStyle/>
                    <a:p>
                      <a:pPr lvl="0" algn="l" fontAlgn="ctr"/>
                      <a:r>
                        <a:rPr lang="en-US" sz="1300" b="1" i="0" u="none" strike="noStrike" dirty="0">
                          <a:solidFill>
                            <a:srgbClr val="000000"/>
                          </a:solidFill>
                          <a:effectLst/>
                          <a:latin typeface="+mj-lt"/>
                        </a:rPr>
                        <a:t>Substation 33/11 KV (New)</a:t>
                      </a:r>
                    </a:p>
                  </a:txBody>
                  <a:tcPr marR="6350" marT="6350" marB="0" anchor="ctr">
                    <a:lnL w="12700" cap="flat" cmpd="sng" algn="ctr">
                      <a:solidFill>
                        <a:schemeClr val="tx1"/>
                      </a:solidFill>
                      <a:prstDash val="solid"/>
                      <a:round/>
                      <a:headEnd type="none" w="med" len="med"/>
                      <a:tailEnd type="none" w="med" len="med"/>
                    </a:lnL>
                    <a:solidFill>
                      <a:schemeClr val="bg2"/>
                    </a:solidFill>
                  </a:tcPr>
                </a:tc>
                <a:tc>
                  <a:txBody>
                    <a:bodyPr/>
                    <a:lstStyle/>
                    <a:p>
                      <a:pPr algn="ctr" fontAlgn="ctr"/>
                      <a:r>
                        <a:rPr lang="en-US" sz="1300" b="0" i="0" u="none" strike="noStrike" dirty="0">
                          <a:solidFill>
                            <a:srgbClr val="000000"/>
                          </a:solidFill>
                          <a:effectLst/>
                          <a:latin typeface="+mj-lt"/>
                        </a:rPr>
                        <a:t>Nos</a:t>
                      </a:r>
                    </a:p>
                  </a:txBody>
                  <a:tcPr marR="6350" marT="6350" marB="0" anchor="ctr">
                    <a:solidFill>
                      <a:schemeClr val="bg1"/>
                    </a:solidFill>
                  </a:tcPr>
                </a:tc>
                <a:tc>
                  <a:txBody>
                    <a:bodyPr/>
                    <a:lstStyle/>
                    <a:p>
                      <a:pPr algn="ctr" fontAlgn="ctr"/>
                      <a:r>
                        <a:rPr lang="en-US" sz="1300" b="0" i="0" u="none" strike="noStrike" dirty="0">
                          <a:solidFill>
                            <a:srgbClr val="000000"/>
                          </a:solidFill>
                          <a:effectLst/>
                          <a:latin typeface="+mj-lt"/>
                        </a:rPr>
                        <a:t>23</a:t>
                      </a:r>
                    </a:p>
                  </a:txBody>
                  <a:tcPr marR="6350" marT="6350" marB="0" anchor="ctr">
                    <a:solidFill>
                      <a:schemeClr val="bg1"/>
                    </a:solidFill>
                  </a:tcPr>
                </a:tc>
                <a:tc>
                  <a:txBody>
                    <a:bodyPr/>
                    <a:lstStyle/>
                    <a:p>
                      <a:pPr algn="ctr" fontAlgn="ctr"/>
                      <a:r>
                        <a:rPr lang="en-US" sz="1300" b="0" i="0" u="none" strike="noStrike">
                          <a:solidFill>
                            <a:srgbClr val="000000"/>
                          </a:solidFill>
                          <a:effectLst/>
                          <a:latin typeface="+mj-lt"/>
                        </a:rPr>
                        <a:t>23</a:t>
                      </a:r>
                    </a:p>
                  </a:txBody>
                  <a:tcPr marR="6350" marT="6350" marB="0" anchor="ctr">
                    <a:solidFill>
                      <a:schemeClr val="bg1"/>
                    </a:solidFill>
                  </a:tcPr>
                </a:tc>
                <a:tc>
                  <a:txBody>
                    <a:bodyPr/>
                    <a:lstStyle/>
                    <a:p>
                      <a:pPr algn="ctr" fontAlgn="ctr"/>
                      <a:r>
                        <a:rPr lang="en-US" sz="1300" b="0" i="0" u="none" strike="noStrike">
                          <a:solidFill>
                            <a:srgbClr val="000000"/>
                          </a:solidFill>
                          <a:effectLst/>
                          <a:latin typeface="+mj-lt"/>
                        </a:rPr>
                        <a:t>22</a:t>
                      </a:r>
                    </a:p>
                  </a:txBody>
                  <a:tcPr marR="6350" marT="6350" marB="0" anchor="ctr">
                    <a:solidFill>
                      <a:schemeClr val="bg1"/>
                    </a:solidFill>
                  </a:tcPr>
                </a:tc>
                <a:tc>
                  <a:txBody>
                    <a:bodyPr/>
                    <a:lstStyle/>
                    <a:p>
                      <a:pPr algn="ctr" fontAlgn="ctr"/>
                      <a:r>
                        <a:rPr lang="en-US" sz="1300" b="0" i="0" u="none" strike="noStrike">
                          <a:solidFill>
                            <a:srgbClr val="000000"/>
                          </a:solidFill>
                          <a:effectLst/>
                          <a:latin typeface="+mj-lt"/>
                        </a:rPr>
                        <a:t>22</a:t>
                      </a:r>
                    </a:p>
                  </a:txBody>
                  <a:tcPr marR="6350" marT="6350" marB="0" anchor="ctr">
                    <a:solidFill>
                      <a:schemeClr val="bg1"/>
                    </a:solidFill>
                  </a:tcPr>
                </a:tc>
                <a:tc>
                  <a:txBody>
                    <a:bodyPr/>
                    <a:lstStyle/>
                    <a:p>
                      <a:pPr algn="ctr" fontAlgn="ctr"/>
                      <a:r>
                        <a:rPr lang="en-US" sz="1300" b="0" i="0" u="none" strike="noStrike">
                          <a:solidFill>
                            <a:srgbClr val="000000"/>
                          </a:solidFill>
                          <a:effectLst/>
                          <a:latin typeface="+mj-lt"/>
                        </a:rPr>
                        <a:t>0</a:t>
                      </a:r>
                    </a:p>
                  </a:txBody>
                  <a:tcPr marR="6350" marT="6350" marB="0" anchor="ct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2932656180"/>
                  </a:ext>
                </a:extLst>
              </a:tr>
              <a:tr h="283490">
                <a:tc>
                  <a:txBody>
                    <a:bodyPr/>
                    <a:lstStyle/>
                    <a:p>
                      <a:pPr lvl="0" algn="l" fontAlgn="ctr"/>
                      <a:r>
                        <a:rPr lang="en-US" sz="1300" b="1" i="0" u="none" strike="noStrike" dirty="0">
                          <a:solidFill>
                            <a:srgbClr val="000000"/>
                          </a:solidFill>
                          <a:effectLst/>
                          <a:latin typeface="+mj-lt"/>
                        </a:rPr>
                        <a:t>Aug. of Substation 33/11 KV</a:t>
                      </a:r>
                    </a:p>
                  </a:txBody>
                  <a:tcPr marR="6350" marT="6350" marB="0" anchor="ctr">
                    <a:lnL w="12700" cap="flat" cmpd="sng" algn="ctr">
                      <a:solidFill>
                        <a:schemeClr val="tx1"/>
                      </a:solidFill>
                      <a:prstDash val="solid"/>
                      <a:round/>
                      <a:headEnd type="none" w="med" len="med"/>
                      <a:tailEnd type="none" w="med" len="med"/>
                    </a:lnL>
                    <a:solidFill>
                      <a:schemeClr val="bg2"/>
                    </a:solidFill>
                  </a:tcPr>
                </a:tc>
                <a:tc>
                  <a:txBody>
                    <a:bodyPr/>
                    <a:lstStyle/>
                    <a:p>
                      <a:pPr algn="ctr" fontAlgn="ctr"/>
                      <a:r>
                        <a:rPr lang="en-US" sz="1300" b="0" i="0" u="none" strike="noStrike">
                          <a:solidFill>
                            <a:srgbClr val="000000"/>
                          </a:solidFill>
                          <a:effectLst/>
                          <a:latin typeface="+mj-lt"/>
                        </a:rPr>
                        <a:t>Nos</a:t>
                      </a:r>
                    </a:p>
                  </a:txBody>
                  <a:tcPr marR="6350" marT="6350" marB="0" anchor="ctr">
                    <a:solidFill>
                      <a:schemeClr val="bg1"/>
                    </a:solidFill>
                  </a:tcPr>
                </a:tc>
                <a:tc>
                  <a:txBody>
                    <a:bodyPr/>
                    <a:lstStyle/>
                    <a:p>
                      <a:pPr algn="ctr" fontAlgn="ctr"/>
                      <a:r>
                        <a:rPr lang="en-US" sz="1300" b="0" i="0" u="none" strike="noStrike" dirty="0">
                          <a:solidFill>
                            <a:srgbClr val="000000"/>
                          </a:solidFill>
                          <a:effectLst/>
                          <a:latin typeface="+mj-lt"/>
                        </a:rPr>
                        <a:t>14</a:t>
                      </a:r>
                    </a:p>
                  </a:txBody>
                  <a:tcPr marR="6350" marT="6350" marB="0" anchor="ctr">
                    <a:solidFill>
                      <a:schemeClr val="bg1"/>
                    </a:solidFill>
                  </a:tcPr>
                </a:tc>
                <a:tc>
                  <a:txBody>
                    <a:bodyPr/>
                    <a:lstStyle/>
                    <a:p>
                      <a:pPr algn="ctr" fontAlgn="ctr"/>
                      <a:r>
                        <a:rPr lang="en-US" sz="1300" b="0" i="0" u="none" strike="noStrike" dirty="0">
                          <a:solidFill>
                            <a:srgbClr val="000000"/>
                          </a:solidFill>
                          <a:effectLst/>
                          <a:latin typeface="+mj-lt"/>
                        </a:rPr>
                        <a:t>14</a:t>
                      </a:r>
                    </a:p>
                  </a:txBody>
                  <a:tcPr marR="6350" marT="6350" marB="0" anchor="ctr">
                    <a:solidFill>
                      <a:schemeClr val="bg1"/>
                    </a:solidFill>
                  </a:tcPr>
                </a:tc>
                <a:tc>
                  <a:txBody>
                    <a:bodyPr/>
                    <a:lstStyle/>
                    <a:p>
                      <a:pPr algn="ctr" fontAlgn="ctr"/>
                      <a:r>
                        <a:rPr lang="en-US" sz="1300" b="0" i="0" u="none" strike="noStrike">
                          <a:solidFill>
                            <a:srgbClr val="000000"/>
                          </a:solidFill>
                          <a:effectLst/>
                          <a:latin typeface="+mj-lt"/>
                        </a:rPr>
                        <a:t>17</a:t>
                      </a:r>
                    </a:p>
                  </a:txBody>
                  <a:tcPr marR="6350" marT="6350" marB="0" anchor="ctr">
                    <a:solidFill>
                      <a:schemeClr val="bg1"/>
                    </a:solidFill>
                  </a:tcPr>
                </a:tc>
                <a:tc>
                  <a:txBody>
                    <a:bodyPr/>
                    <a:lstStyle/>
                    <a:p>
                      <a:pPr algn="ctr" fontAlgn="ctr"/>
                      <a:r>
                        <a:rPr lang="en-US" sz="1300" b="0" i="0" u="none" strike="noStrike">
                          <a:solidFill>
                            <a:srgbClr val="000000"/>
                          </a:solidFill>
                          <a:effectLst/>
                          <a:latin typeface="+mj-lt"/>
                        </a:rPr>
                        <a:t>17</a:t>
                      </a:r>
                    </a:p>
                  </a:txBody>
                  <a:tcPr marR="6350" marT="6350" marB="0" anchor="ctr">
                    <a:solidFill>
                      <a:schemeClr val="bg1"/>
                    </a:solidFill>
                  </a:tcPr>
                </a:tc>
                <a:tc>
                  <a:txBody>
                    <a:bodyPr/>
                    <a:lstStyle/>
                    <a:p>
                      <a:pPr algn="ctr" fontAlgn="ctr"/>
                      <a:r>
                        <a:rPr lang="en-US" sz="1300" b="0" i="0" u="none" strike="noStrike">
                          <a:solidFill>
                            <a:srgbClr val="000000"/>
                          </a:solidFill>
                          <a:effectLst/>
                          <a:latin typeface="+mj-lt"/>
                        </a:rPr>
                        <a:t>0</a:t>
                      </a:r>
                    </a:p>
                  </a:txBody>
                  <a:tcPr marR="6350" marT="6350" marB="0" anchor="ct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670340007"/>
                  </a:ext>
                </a:extLst>
              </a:tr>
              <a:tr h="144810">
                <a:tc>
                  <a:txBody>
                    <a:bodyPr/>
                    <a:lstStyle/>
                    <a:p>
                      <a:pPr lvl="0" algn="l" fontAlgn="ctr"/>
                      <a:r>
                        <a:rPr lang="en-US" sz="1300" b="1" i="0" u="none" strike="noStrike" dirty="0">
                          <a:solidFill>
                            <a:srgbClr val="000000"/>
                          </a:solidFill>
                          <a:effectLst/>
                          <a:latin typeface="+mj-lt"/>
                        </a:rPr>
                        <a:t>Distribution Transformer</a:t>
                      </a:r>
                    </a:p>
                  </a:txBody>
                  <a:tcPr marR="6350" marT="6350" marB="0" anchor="ctr">
                    <a:lnL w="12700" cap="flat" cmpd="sng" algn="ctr">
                      <a:solidFill>
                        <a:schemeClr val="tx1"/>
                      </a:solidFill>
                      <a:prstDash val="solid"/>
                      <a:round/>
                      <a:headEnd type="none" w="med" len="med"/>
                      <a:tailEnd type="none" w="med" len="med"/>
                    </a:lnL>
                    <a:solidFill>
                      <a:schemeClr val="bg2"/>
                    </a:solidFill>
                  </a:tcPr>
                </a:tc>
                <a:tc>
                  <a:txBody>
                    <a:bodyPr/>
                    <a:lstStyle/>
                    <a:p>
                      <a:pPr algn="ctr" fontAlgn="ctr"/>
                      <a:r>
                        <a:rPr lang="en-US" sz="1300" b="0" i="0" u="none" strike="noStrike">
                          <a:solidFill>
                            <a:srgbClr val="000000"/>
                          </a:solidFill>
                          <a:effectLst/>
                          <a:latin typeface="+mj-lt"/>
                        </a:rPr>
                        <a:t>CKm</a:t>
                      </a:r>
                    </a:p>
                  </a:txBody>
                  <a:tcPr marR="6350" marT="6350" marB="0" anchor="ctr">
                    <a:solidFill>
                      <a:schemeClr val="bg1"/>
                    </a:solidFill>
                  </a:tcPr>
                </a:tc>
                <a:tc>
                  <a:txBody>
                    <a:bodyPr/>
                    <a:lstStyle/>
                    <a:p>
                      <a:pPr algn="ctr" fontAlgn="ctr"/>
                      <a:r>
                        <a:rPr lang="en-US" sz="1300" b="0" i="0" u="none" strike="noStrike" dirty="0">
                          <a:solidFill>
                            <a:srgbClr val="000000"/>
                          </a:solidFill>
                          <a:effectLst/>
                          <a:latin typeface="+mj-lt"/>
                        </a:rPr>
                        <a:t>42444</a:t>
                      </a:r>
                    </a:p>
                  </a:txBody>
                  <a:tcPr marR="6350" marT="6350" marB="0" anchor="ctr">
                    <a:solidFill>
                      <a:schemeClr val="bg1"/>
                    </a:solidFill>
                  </a:tcPr>
                </a:tc>
                <a:tc>
                  <a:txBody>
                    <a:bodyPr/>
                    <a:lstStyle/>
                    <a:p>
                      <a:pPr algn="ctr" fontAlgn="ctr"/>
                      <a:r>
                        <a:rPr lang="en-US" sz="1300" b="0" i="0" u="none" strike="noStrike" dirty="0">
                          <a:solidFill>
                            <a:srgbClr val="000000"/>
                          </a:solidFill>
                          <a:effectLst/>
                          <a:latin typeface="+mj-lt"/>
                        </a:rPr>
                        <a:t>40548</a:t>
                      </a:r>
                    </a:p>
                  </a:txBody>
                  <a:tcPr marR="6350" marT="6350" marB="0" anchor="ctr">
                    <a:solidFill>
                      <a:schemeClr val="bg1"/>
                    </a:solidFill>
                  </a:tcPr>
                </a:tc>
                <a:tc>
                  <a:txBody>
                    <a:bodyPr/>
                    <a:lstStyle/>
                    <a:p>
                      <a:pPr algn="ctr" fontAlgn="ctr"/>
                      <a:r>
                        <a:rPr lang="en-US" sz="1300" b="0" i="0" u="none" strike="noStrike" dirty="0">
                          <a:solidFill>
                            <a:srgbClr val="000000"/>
                          </a:solidFill>
                          <a:effectLst/>
                          <a:latin typeface="+mj-lt"/>
                        </a:rPr>
                        <a:t>37593</a:t>
                      </a:r>
                    </a:p>
                  </a:txBody>
                  <a:tcPr marR="6350" marT="6350" marB="0" anchor="ctr">
                    <a:solidFill>
                      <a:schemeClr val="bg1"/>
                    </a:solidFill>
                  </a:tcPr>
                </a:tc>
                <a:tc>
                  <a:txBody>
                    <a:bodyPr/>
                    <a:lstStyle/>
                    <a:p>
                      <a:pPr algn="ctr" fontAlgn="ctr"/>
                      <a:r>
                        <a:rPr lang="en-US" sz="1300" b="0" i="0" u="none" strike="noStrike">
                          <a:solidFill>
                            <a:srgbClr val="000000"/>
                          </a:solidFill>
                          <a:effectLst/>
                          <a:latin typeface="+mj-lt"/>
                        </a:rPr>
                        <a:t>37593</a:t>
                      </a:r>
                    </a:p>
                  </a:txBody>
                  <a:tcPr marR="6350" marT="6350" marB="0" anchor="ctr">
                    <a:solidFill>
                      <a:schemeClr val="bg1"/>
                    </a:solidFill>
                  </a:tcPr>
                </a:tc>
                <a:tc>
                  <a:txBody>
                    <a:bodyPr/>
                    <a:lstStyle/>
                    <a:p>
                      <a:pPr algn="ctr" fontAlgn="ctr"/>
                      <a:r>
                        <a:rPr lang="en-US" sz="1300" b="0" i="0" u="none" strike="noStrike">
                          <a:solidFill>
                            <a:srgbClr val="000000"/>
                          </a:solidFill>
                          <a:effectLst/>
                          <a:latin typeface="+mj-lt"/>
                        </a:rPr>
                        <a:t>0</a:t>
                      </a:r>
                    </a:p>
                  </a:txBody>
                  <a:tcPr marR="6350" marT="6350" marB="0" anchor="ct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1343358941"/>
                  </a:ext>
                </a:extLst>
              </a:tr>
              <a:tr h="144810">
                <a:tc>
                  <a:txBody>
                    <a:bodyPr/>
                    <a:lstStyle/>
                    <a:p>
                      <a:pPr lvl="0" algn="l" fontAlgn="ctr"/>
                      <a:r>
                        <a:rPr lang="en-US" sz="1300" b="1" i="0" u="none" strike="noStrike" dirty="0">
                          <a:solidFill>
                            <a:srgbClr val="000000"/>
                          </a:solidFill>
                          <a:effectLst/>
                          <a:latin typeface="+mj-lt"/>
                        </a:rPr>
                        <a:t>LT Line</a:t>
                      </a:r>
                    </a:p>
                  </a:txBody>
                  <a:tcPr marR="6350" marT="6350" marB="0" anchor="ctr">
                    <a:lnL w="12700" cap="flat" cmpd="sng" algn="ctr">
                      <a:solidFill>
                        <a:schemeClr val="tx1"/>
                      </a:solidFill>
                      <a:prstDash val="solid"/>
                      <a:round/>
                      <a:headEnd type="none" w="med" len="med"/>
                      <a:tailEnd type="none" w="med" len="med"/>
                    </a:lnL>
                    <a:solidFill>
                      <a:schemeClr val="bg2"/>
                    </a:solidFill>
                  </a:tcPr>
                </a:tc>
                <a:tc>
                  <a:txBody>
                    <a:bodyPr/>
                    <a:lstStyle/>
                    <a:p>
                      <a:pPr algn="ctr" fontAlgn="ctr"/>
                      <a:r>
                        <a:rPr lang="en-US" sz="1300" b="0" i="0" u="none" strike="noStrike">
                          <a:solidFill>
                            <a:srgbClr val="000000"/>
                          </a:solidFill>
                          <a:effectLst/>
                          <a:latin typeface="+mj-lt"/>
                        </a:rPr>
                        <a:t>CKm</a:t>
                      </a:r>
                    </a:p>
                  </a:txBody>
                  <a:tcPr marR="6350" marT="6350" marB="0" anchor="ctr">
                    <a:solidFill>
                      <a:schemeClr val="bg1"/>
                    </a:solidFill>
                  </a:tcPr>
                </a:tc>
                <a:tc>
                  <a:txBody>
                    <a:bodyPr/>
                    <a:lstStyle/>
                    <a:p>
                      <a:pPr algn="ctr" fontAlgn="ctr"/>
                      <a:r>
                        <a:rPr lang="en-US" sz="1300" b="0" i="0" u="none" strike="noStrike">
                          <a:solidFill>
                            <a:srgbClr val="000000"/>
                          </a:solidFill>
                          <a:effectLst/>
                          <a:latin typeface="+mj-lt"/>
                        </a:rPr>
                        <a:t>59891</a:t>
                      </a:r>
                    </a:p>
                  </a:txBody>
                  <a:tcPr marR="6350" marT="6350" marB="0" anchor="ctr">
                    <a:solidFill>
                      <a:schemeClr val="bg1"/>
                    </a:solidFill>
                  </a:tcPr>
                </a:tc>
                <a:tc>
                  <a:txBody>
                    <a:bodyPr/>
                    <a:lstStyle/>
                    <a:p>
                      <a:pPr algn="ctr" fontAlgn="ctr"/>
                      <a:r>
                        <a:rPr lang="en-US" sz="1300" b="0" i="0" u="none" strike="noStrike">
                          <a:solidFill>
                            <a:srgbClr val="000000"/>
                          </a:solidFill>
                          <a:effectLst/>
                          <a:latin typeface="+mj-lt"/>
                        </a:rPr>
                        <a:t>57298</a:t>
                      </a:r>
                    </a:p>
                  </a:txBody>
                  <a:tcPr marR="6350" marT="6350" marB="0" anchor="ctr">
                    <a:solidFill>
                      <a:schemeClr val="bg1"/>
                    </a:solidFill>
                  </a:tcPr>
                </a:tc>
                <a:tc>
                  <a:txBody>
                    <a:bodyPr/>
                    <a:lstStyle/>
                    <a:p>
                      <a:pPr algn="ctr" fontAlgn="ctr"/>
                      <a:r>
                        <a:rPr lang="en-US" sz="1300" b="0" i="0" u="none" strike="noStrike" dirty="0">
                          <a:solidFill>
                            <a:srgbClr val="000000"/>
                          </a:solidFill>
                          <a:effectLst/>
                          <a:latin typeface="+mj-lt"/>
                        </a:rPr>
                        <a:t>59879</a:t>
                      </a:r>
                    </a:p>
                  </a:txBody>
                  <a:tcPr marR="6350" marT="6350" marB="0" anchor="ctr">
                    <a:solidFill>
                      <a:schemeClr val="bg1"/>
                    </a:solidFill>
                  </a:tcPr>
                </a:tc>
                <a:tc>
                  <a:txBody>
                    <a:bodyPr/>
                    <a:lstStyle/>
                    <a:p>
                      <a:pPr algn="ctr" fontAlgn="ctr"/>
                      <a:r>
                        <a:rPr lang="en-US" sz="1300" b="0" i="0" u="none" strike="noStrike">
                          <a:solidFill>
                            <a:srgbClr val="000000"/>
                          </a:solidFill>
                          <a:effectLst/>
                          <a:latin typeface="+mj-lt"/>
                        </a:rPr>
                        <a:t>59879</a:t>
                      </a:r>
                    </a:p>
                  </a:txBody>
                  <a:tcPr marR="6350" marT="6350" marB="0" anchor="ctr">
                    <a:solidFill>
                      <a:schemeClr val="bg1"/>
                    </a:solidFill>
                  </a:tcPr>
                </a:tc>
                <a:tc>
                  <a:txBody>
                    <a:bodyPr/>
                    <a:lstStyle/>
                    <a:p>
                      <a:pPr algn="ctr" fontAlgn="ctr"/>
                      <a:r>
                        <a:rPr lang="en-US" sz="1300" b="0" i="0" u="none" strike="noStrike">
                          <a:solidFill>
                            <a:srgbClr val="000000"/>
                          </a:solidFill>
                          <a:effectLst/>
                          <a:latin typeface="+mj-lt"/>
                        </a:rPr>
                        <a:t>0</a:t>
                      </a:r>
                    </a:p>
                  </a:txBody>
                  <a:tcPr marR="6350" marT="6350" marB="0" anchor="ct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3856741745"/>
                  </a:ext>
                </a:extLst>
              </a:tr>
              <a:tr h="144810">
                <a:tc>
                  <a:txBody>
                    <a:bodyPr/>
                    <a:lstStyle/>
                    <a:p>
                      <a:pPr lvl="0" algn="l" fontAlgn="ctr"/>
                      <a:r>
                        <a:rPr lang="en-US" sz="1300" b="1" i="0" u="none" strike="noStrike" dirty="0">
                          <a:solidFill>
                            <a:srgbClr val="000000"/>
                          </a:solidFill>
                          <a:effectLst/>
                          <a:latin typeface="+mj-lt"/>
                        </a:rPr>
                        <a:t>11 KV Line</a:t>
                      </a:r>
                    </a:p>
                  </a:txBody>
                  <a:tcPr marR="6350" marT="6350" marB="0" anchor="ctr">
                    <a:lnL w="12700" cap="flat" cmpd="sng" algn="ctr">
                      <a:solidFill>
                        <a:schemeClr val="tx1"/>
                      </a:solidFill>
                      <a:prstDash val="solid"/>
                      <a:round/>
                      <a:headEnd type="none" w="med" len="med"/>
                      <a:tailEnd type="none" w="med" len="med"/>
                    </a:lnL>
                    <a:solidFill>
                      <a:schemeClr val="bg2"/>
                    </a:solidFill>
                  </a:tcPr>
                </a:tc>
                <a:tc>
                  <a:txBody>
                    <a:bodyPr/>
                    <a:lstStyle/>
                    <a:p>
                      <a:pPr algn="ctr" fontAlgn="ctr"/>
                      <a:r>
                        <a:rPr lang="en-US" sz="1300" b="0" i="0" u="none" strike="noStrike">
                          <a:solidFill>
                            <a:srgbClr val="000000"/>
                          </a:solidFill>
                          <a:effectLst/>
                          <a:latin typeface="+mj-lt"/>
                        </a:rPr>
                        <a:t>CKm</a:t>
                      </a:r>
                    </a:p>
                  </a:txBody>
                  <a:tcPr marR="6350" marT="6350" marB="0" anchor="ctr">
                    <a:solidFill>
                      <a:schemeClr val="bg1"/>
                    </a:solidFill>
                  </a:tcPr>
                </a:tc>
                <a:tc>
                  <a:txBody>
                    <a:bodyPr/>
                    <a:lstStyle/>
                    <a:p>
                      <a:pPr algn="ctr" fontAlgn="ctr"/>
                      <a:r>
                        <a:rPr lang="en-US" sz="1300" b="0" i="0" u="none" strike="noStrike">
                          <a:solidFill>
                            <a:srgbClr val="000000"/>
                          </a:solidFill>
                          <a:effectLst/>
                          <a:latin typeface="+mj-lt"/>
                        </a:rPr>
                        <a:t>23339</a:t>
                      </a:r>
                    </a:p>
                  </a:txBody>
                  <a:tcPr marR="6350" marT="6350" marB="0" anchor="ctr">
                    <a:solidFill>
                      <a:schemeClr val="bg1"/>
                    </a:solidFill>
                  </a:tcPr>
                </a:tc>
                <a:tc>
                  <a:txBody>
                    <a:bodyPr/>
                    <a:lstStyle/>
                    <a:p>
                      <a:pPr algn="ctr" fontAlgn="ctr"/>
                      <a:r>
                        <a:rPr lang="en-US" sz="1300" b="0" i="0" u="none" strike="noStrike">
                          <a:solidFill>
                            <a:srgbClr val="000000"/>
                          </a:solidFill>
                          <a:effectLst/>
                          <a:latin typeface="+mj-lt"/>
                        </a:rPr>
                        <a:t>20016</a:t>
                      </a:r>
                    </a:p>
                  </a:txBody>
                  <a:tcPr marR="6350" marT="6350" marB="0" anchor="ctr">
                    <a:solidFill>
                      <a:schemeClr val="bg1"/>
                    </a:solidFill>
                  </a:tcPr>
                </a:tc>
                <a:tc>
                  <a:txBody>
                    <a:bodyPr/>
                    <a:lstStyle/>
                    <a:p>
                      <a:pPr algn="ctr" fontAlgn="ctr"/>
                      <a:r>
                        <a:rPr lang="en-US" sz="1300" b="0" i="0" u="none" strike="noStrike" dirty="0">
                          <a:solidFill>
                            <a:srgbClr val="000000"/>
                          </a:solidFill>
                          <a:effectLst/>
                          <a:latin typeface="+mj-lt"/>
                        </a:rPr>
                        <a:t>18376</a:t>
                      </a:r>
                    </a:p>
                  </a:txBody>
                  <a:tcPr marR="6350" marT="6350" marB="0" anchor="ctr">
                    <a:solidFill>
                      <a:schemeClr val="bg1"/>
                    </a:solidFill>
                  </a:tcPr>
                </a:tc>
                <a:tc>
                  <a:txBody>
                    <a:bodyPr/>
                    <a:lstStyle/>
                    <a:p>
                      <a:pPr algn="ctr" fontAlgn="ctr"/>
                      <a:r>
                        <a:rPr lang="en-US" sz="1300" b="0" i="0" u="none" strike="noStrike" dirty="0">
                          <a:solidFill>
                            <a:srgbClr val="000000"/>
                          </a:solidFill>
                          <a:effectLst/>
                          <a:latin typeface="+mj-lt"/>
                        </a:rPr>
                        <a:t>18376</a:t>
                      </a:r>
                    </a:p>
                  </a:txBody>
                  <a:tcPr marR="6350" marT="6350" marB="0" anchor="ctr">
                    <a:solidFill>
                      <a:schemeClr val="bg1"/>
                    </a:solidFill>
                  </a:tcPr>
                </a:tc>
                <a:tc>
                  <a:txBody>
                    <a:bodyPr/>
                    <a:lstStyle/>
                    <a:p>
                      <a:pPr algn="ctr" fontAlgn="ctr"/>
                      <a:r>
                        <a:rPr lang="en-US" sz="1300" b="0" i="0" u="none" strike="noStrike">
                          <a:solidFill>
                            <a:srgbClr val="000000"/>
                          </a:solidFill>
                          <a:effectLst/>
                          <a:latin typeface="+mj-lt"/>
                        </a:rPr>
                        <a:t>0</a:t>
                      </a:r>
                    </a:p>
                  </a:txBody>
                  <a:tcPr marR="6350" marT="6350" marB="0" anchor="ct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1096305873"/>
                  </a:ext>
                </a:extLst>
              </a:tr>
              <a:tr h="223635">
                <a:tc>
                  <a:txBody>
                    <a:bodyPr/>
                    <a:lstStyle/>
                    <a:p>
                      <a:pPr lvl="0" algn="l" fontAlgn="ctr"/>
                      <a:r>
                        <a:rPr lang="en-US" sz="1300" b="1" i="0" u="none" strike="noStrike" dirty="0">
                          <a:solidFill>
                            <a:srgbClr val="000000"/>
                          </a:solidFill>
                          <a:effectLst/>
                          <a:latin typeface="+mj-lt"/>
                        </a:rPr>
                        <a:t>33 &amp; 66 KV Line</a:t>
                      </a:r>
                    </a:p>
                  </a:txBody>
                  <a:tcPr marR="6350" marT="635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fontAlgn="ctr"/>
                      <a:r>
                        <a:rPr lang="en-US" sz="1300" b="0" i="0" u="none" strike="noStrike">
                          <a:solidFill>
                            <a:srgbClr val="000000"/>
                          </a:solidFill>
                          <a:effectLst/>
                          <a:latin typeface="+mj-lt"/>
                        </a:rPr>
                        <a:t>CKm</a:t>
                      </a:r>
                    </a:p>
                  </a:txBody>
                  <a:tcPr marR="6350" marT="635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300" b="0" i="0" u="none" strike="noStrike">
                          <a:solidFill>
                            <a:srgbClr val="000000"/>
                          </a:solidFill>
                          <a:effectLst/>
                          <a:latin typeface="+mj-lt"/>
                        </a:rPr>
                        <a:t>372</a:t>
                      </a:r>
                    </a:p>
                  </a:txBody>
                  <a:tcPr marR="6350" marT="635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300" b="0" i="0" u="none" strike="noStrike">
                          <a:solidFill>
                            <a:srgbClr val="000000"/>
                          </a:solidFill>
                          <a:effectLst/>
                          <a:latin typeface="+mj-lt"/>
                        </a:rPr>
                        <a:t>286</a:t>
                      </a:r>
                    </a:p>
                  </a:txBody>
                  <a:tcPr marR="6350" marT="635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300" b="0" i="0" u="none" strike="noStrike">
                          <a:solidFill>
                            <a:srgbClr val="000000"/>
                          </a:solidFill>
                          <a:effectLst/>
                          <a:latin typeface="+mj-lt"/>
                        </a:rPr>
                        <a:t>346</a:t>
                      </a:r>
                    </a:p>
                  </a:txBody>
                  <a:tcPr marR="6350" marT="635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300" b="0" i="0" u="none" strike="noStrike" dirty="0">
                          <a:solidFill>
                            <a:srgbClr val="000000"/>
                          </a:solidFill>
                          <a:effectLst/>
                          <a:latin typeface="+mj-lt"/>
                        </a:rPr>
                        <a:t>346</a:t>
                      </a:r>
                    </a:p>
                  </a:txBody>
                  <a:tcPr marR="6350" marT="635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300" b="0" i="0" u="none" strike="noStrike" dirty="0">
                          <a:solidFill>
                            <a:srgbClr val="000000"/>
                          </a:solidFill>
                          <a:effectLst/>
                          <a:latin typeface="+mj-lt"/>
                        </a:rPr>
                        <a:t>0</a:t>
                      </a:r>
                    </a:p>
                  </a:txBody>
                  <a:tcPr marR="6350" marT="635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8306288"/>
                  </a:ext>
                </a:extLst>
              </a:tr>
            </a:tbl>
          </a:graphicData>
        </a:graphic>
      </p:graphicFrame>
      <p:cxnSp>
        <p:nvCxnSpPr>
          <p:cNvPr id="22" name="Straight Connector 21">
            <a:extLst>
              <a:ext uri="{FF2B5EF4-FFF2-40B4-BE49-F238E27FC236}">
                <a16:creationId xmlns:a16="http://schemas.microsoft.com/office/drawing/2014/main" id="{3851AD2A-B239-44D7-B2AC-1FDECD0310FA}"/>
              </a:ext>
            </a:extLst>
          </p:cNvPr>
          <p:cNvCxnSpPr>
            <a:cxnSpLocks/>
          </p:cNvCxnSpPr>
          <p:nvPr/>
        </p:nvCxnSpPr>
        <p:spPr>
          <a:xfrm>
            <a:off x="514372" y="4098031"/>
            <a:ext cx="11163264"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69410B4-536C-44A4-9298-A710D6A95304}"/>
              </a:ext>
            </a:extLst>
          </p:cNvPr>
          <p:cNvSpPr txBox="1"/>
          <p:nvPr/>
        </p:nvSpPr>
        <p:spPr>
          <a:xfrm>
            <a:off x="4483591" y="4005699"/>
            <a:ext cx="3224817" cy="184666"/>
          </a:xfrm>
          <a:prstGeom prst="rect">
            <a:avLst/>
          </a:prstGeom>
          <a:solidFill>
            <a:schemeClr val="bg1"/>
          </a:solidFill>
        </p:spPr>
        <p:txBody>
          <a:bodyPr wrap="square" lIns="0" tIns="0" rIns="0" bIns="0" rtlCol="0">
            <a:spAutoFit/>
          </a:bodyPr>
          <a:lstStyle/>
          <a:p>
            <a:pPr algn="ctr"/>
            <a:r>
              <a:rPr lang="en-US" sz="1200" b="1" dirty="0">
                <a:latin typeface="+mj-lt"/>
                <a:cs typeface="Calibri" panose="020F0502020204030204" pitchFamily="34" charset="0"/>
              </a:rPr>
              <a:t>Physical Progress as on 31.10.2021</a:t>
            </a:r>
          </a:p>
        </p:txBody>
      </p:sp>
      <p:sp>
        <p:nvSpPr>
          <p:cNvPr id="9" name="TextBox 8">
            <a:extLst>
              <a:ext uri="{FF2B5EF4-FFF2-40B4-BE49-F238E27FC236}">
                <a16:creationId xmlns:a16="http://schemas.microsoft.com/office/drawing/2014/main" id="{11117D5E-5FBC-48DB-B486-2EE8A846ACA8}"/>
              </a:ext>
            </a:extLst>
          </p:cNvPr>
          <p:cNvSpPr txBox="1"/>
          <p:nvPr/>
        </p:nvSpPr>
        <p:spPr>
          <a:xfrm>
            <a:off x="3146563" y="6605078"/>
            <a:ext cx="2949436" cy="169277"/>
          </a:xfrm>
          <a:prstGeom prst="rect">
            <a:avLst/>
          </a:prstGeom>
          <a:noFill/>
        </p:spPr>
        <p:txBody>
          <a:bodyPr wrap="square" lIns="0" tIns="0" rIns="0" bIns="0" rtlCol="0">
            <a:spAutoFit/>
          </a:bodyPr>
          <a:lstStyle/>
          <a:p>
            <a:pPr>
              <a:spcBef>
                <a:spcPts val="600"/>
              </a:spcBef>
              <a:buSzPct val="100000"/>
            </a:pPr>
            <a:r>
              <a:rPr lang="en-US" sz="1100" b="1" dirty="0">
                <a:solidFill>
                  <a:srgbClr val="313131"/>
                </a:solidFill>
                <a:latin typeface="+mj-lt"/>
                <a:cs typeface="Calibri" panose="020F0502020204030204" pitchFamily="34" charset="0"/>
              </a:rPr>
              <a:t>Source </a:t>
            </a:r>
            <a:r>
              <a:rPr lang="en-US" sz="1100" dirty="0">
                <a:solidFill>
                  <a:srgbClr val="313131"/>
                </a:solidFill>
                <a:latin typeface="+mj-lt"/>
                <a:cs typeface="Calibri" panose="020F0502020204030204" pitchFamily="34" charset="0"/>
              </a:rPr>
              <a:t>: Internal (Department of Power)</a:t>
            </a:r>
          </a:p>
        </p:txBody>
      </p:sp>
    </p:spTree>
    <p:extLst>
      <p:ext uri="{BB962C8B-B14F-4D97-AF65-F5344CB8AC3E}">
        <p14:creationId xmlns:p14="http://schemas.microsoft.com/office/powerpoint/2010/main" val="1823103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200226"/>
            <a:ext cx="11188700" cy="368299"/>
          </a:xfrm>
        </p:spPr>
        <p:txBody>
          <a:bodyPr vert="horz"/>
          <a:lstStyle/>
          <a:p>
            <a:pPr algn="just"/>
            <a:r>
              <a:rPr lang="en-US" sz="1800" i="0" dirty="0">
                <a:solidFill>
                  <a:schemeClr val="tx1"/>
                </a:solidFill>
              </a:rPr>
              <a:t>Financial Progress of the Rural Electrification(RE) Scheme under RGGVY</a:t>
            </a:r>
          </a:p>
        </p:txBody>
      </p:sp>
      <p:sp>
        <p:nvSpPr>
          <p:cNvPr id="12" name="TextBox 11">
            <a:extLst>
              <a:ext uri="{FF2B5EF4-FFF2-40B4-BE49-F238E27FC236}">
                <a16:creationId xmlns:a16="http://schemas.microsoft.com/office/drawing/2014/main" id="{03BE1681-132F-4BD3-8E3E-31A39F56CA21}"/>
              </a:ext>
            </a:extLst>
          </p:cNvPr>
          <p:cNvSpPr txBox="1"/>
          <p:nvPr/>
        </p:nvSpPr>
        <p:spPr>
          <a:xfrm>
            <a:off x="2264229" y="874800"/>
            <a:ext cx="1317171" cy="246221"/>
          </a:xfrm>
          <a:prstGeom prst="rect">
            <a:avLst/>
          </a:prstGeom>
          <a:solidFill>
            <a:schemeClr val="bg1"/>
          </a:solidFill>
        </p:spPr>
        <p:txBody>
          <a:bodyPr wrap="square" lIns="0" tIns="0" rIns="0" bIns="0" rtlCol="0">
            <a:spAutoFit/>
          </a:bodyPr>
          <a:lstStyle/>
          <a:p>
            <a:pPr>
              <a:spcBef>
                <a:spcPts val="600"/>
              </a:spcBef>
              <a:buSzPct val="100000"/>
            </a:pPr>
            <a:endParaRPr lang="en-US" sz="1600" dirty="0">
              <a:solidFill>
                <a:srgbClr val="313131"/>
              </a:solidFill>
              <a:latin typeface="+mj-lt"/>
            </a:endParaRPr>
          </a:p>
        </p:txBody>
      </p:sp>
      <p:cxnSp>
        <p:nvCxnSpPr>
          <p:cNvPr id="16" name="Straight Connector 15">
            <a:extLst>
              <a:ext uri="{FF2B5EF4-FFF2-40B4-BE49-F238E27FC236}">
                <a16:creationId xmlns:a16="http://schemas.microsoft.com/office/drawing/2014/main" id="{265DF08B-2346-4581-B135-9A79F8498D09}"/>
              </a:ext>
            </a:extLst>
          </p:cNvPr>
          <p:cNvCxnSpPr>
            <a:cxnSpLocks/>
          </p:cNvCxnSpPr>
          <p:nvPr/>
        </p:nvCxnSpPr>
        <p:spPr>
          <a:xfrm>
            <a:off x="814330" y="761079"/>
            <a:ext cx="5684967"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49E1CD2-82C6-4183-8990-FBA024D9EA05}"/>
              </a:ext>
            </a:extLst>
          </p:cNvPr>
          <p:cNvSpPr txBox="1"/>
          <p:nvPr/>
        </p:nvSpPr>
        <p:spPr>
          <a:xfrm>
            <a:off x="1170656" y="663381"/>
            <a:ext cx="5138059" cy="369332"/>
          </a:xfrm>
          <a:prstGeom prst="rect">
            <a:avLst/>
          </a:prstGeom>
          <a:solidFill>
            <a:schemeClr val="bg1"/>
          </a:solidFill>
        </p:spPr>
        <p:txBody>
          <a:bodyPr wrap="square" lIns="0" tIns="0" rIns="0" bIns="0" rtlCol="0">
            <a:spAutoFit/>
          </a:bodyPr>
          <a:lstStyle/>
          <a:p>
            <a:pPr algn="ctr">
              <a:spcBef>
                <a:spcPts val="600"/>
              </a:spcBef>
              <a:buSzPct val="100000"/>
            </a:pPr>
            <a:r>
              <a:rPr lang="en-US" sz="1200" b="1" dirty="0">
                <a:latin typeface="+mj-lt"/>
                <a:cs typeface="Calibri" panose="020F0502020204030204" pitchFamily="34" charset="0"/>
              </a:rPr>
              <a:t>RE Scheme’s wise Sanctioned and Released of GOI Grant  (Rs. Crore)</a:t>
            </a:r>
          </a:p>
        </p:txBody>
      </p:sp>
      <p:graphicFrame>
        <p:nvGraphicFramePr>
          <p:cNvPr id="5" name="Chart 4">
            <a:extLst>
              <a:ext uri="{FF2B5EF4-FFF2-40B4-BE49-F238E27FC236}">
                <a16:creationId xmlns:a16="http://schemas.microsoft.com/office/drawing/2014/main" id="{2EC0D8F7-863A-40A0-8C51-C176936FFB30}"/>
              </a:ext>
            </a:extLst>
          </p:cNvPr>
          <p:cNvGraphicFramePr/>
          <p:nvPr>
            <p:extLst>
              <p:ext uri="{D42A27DB-BD31-4B8C-83A1-F6EECF244321}">
                <p14:modId xmlns:p14="http://schemas.microsoft.com/office/powerpoint/2010/main" val="2249172224"/>
              </p:ext>
            </p:extLst>
          </p:nvPr>
        </p:nvGraphicFramePr>
        <p:xfrm>
          <a:off x="307701" y="1035486"/>
          <a:ext cx="7190518" cy="292671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7">
            <a:extLst>
              <a:ext uri="{FF2B5EF4-FFF2-40B4-BE49-F238E27FC236}">
                <a16:creationId xmlns:a16="http://schemas.microsoft.com/office/drawing/2014/main" id="{77D95D4D-15C9-45EE-9C83-6A195EBD9B69}"/>
              </a:ext>
            </a:extLst>
          </p:cNvPr>
          <p:cNvGraphicFramePr>
            <a:graphicFrameLocks noGrp="1"/>
          </p:cNvGraphicFramePr>
          <p:nvPr>
            <p:extLst>
              <p:ext uri="{D42A27DB-BD31-4B8C-83A1-F6EECF244321}">
                <p14:modId xmlns:p14="http://schemas.microsoft.com/office/powerpoint/2010/main" val="4136732369"/>
              </p:ext>
            </p:extLst>
          </p:nvPr>
        </p:nvGraphicFramePr>
        <p:xfrm>
          <a:off x="307701" y="4383637"/>
          <a:ext cx="11394148" cy="1961955"/>
        </p:xfrm>
        <a:graphic>
          <a:graphicData uri="http://schemas.openxmlformats.org/drawingml/2006/table">
            <a:tbl>
              <a:tblPr firstRow="1" bandRow="1">
                <a:tableStyleId>{5C22544A-7EE6-4342-B048-85BDC9FD1C3A}</a:tableStyleId>
              </a:tblPr>
              <a:tblGrid>
                <a:gridCol w="738900">
                  <a:extLst>
                    <a:ext uri="{9D8B030D-6E8A-4147-A177-3AD203B41FA5}">
                      <a16:colId xmlns:a16="http://schemas.microsoft.com/office/drawing/2014/main" val="3369734081"/>
                    </a:ext>
                  </a:extLst>
                </a:gridCol>
                <a:gridCol w="1723605">
                  <a:extLst>
                    <a:ext uri="{9D8B030D-6E8A-4147-A177-3AD203B41FA5}">
                      <a16:colId xmlns:a16="http://schemas.microsoft.com/office/drawing/2014/main" val="4174432367"/>
                    </a:ext>
                  </a:extLst>
                </a:gridCol>
                <a:gridCol w="1461794">
                  <a:extLst>
                    <a:ext uri="{9D8B030D-6E8A-4147-A177-3AD203B41FA5}">
                      <a16:colId xmlns:a16="http://schemas.microsoft.com/office/drawing/2014/main" val="1120217790"/>
                    </a:ext>
                  </a:extLst>
                </a:gridCol>
                <a:gridCol w="1952691">
                  <a:extLst>
                    <a:ext uri="{9D8B030D-6E8A-4147-A177-3AD203B41FA5}">
                      <a16:colId xmlns:a16="http://schemas.microsoft.com/office/drawing/2014/main" val="547199633"/>
                    </a:ext>
                  </a:extLst>
                </a:gridCol>
                <a:gridCol w="1996331">
                  <a:extLst>
                    <a:ext uri="{9D8B030D-6E8A-4147-A177-3AD203B41FA5}">
                      <a16:colId xmlns:a16="http://schemas.microsoft.com/office/drawing/2014/main" val="1113509071"/>
                    </a:ext>
                  </a:extLst>
                </a:gridCol>
                <a:gridCol w="1887238">
                  <a:extLst>
                    <a:ext uri="{9D8B030D-6E8A-4147-A177-3AD203B41FA5}">
                      <a16:colId xmlns:a16="http://schemas.microsoft.com/office/drawing/2014/main" val="4167888945"/>
                    </a:ext>
                  </a:extLst>
                </a:gridCol>
                <a:gridCol w="1633589">
                  <a:extLst>
                    <a:ext uri="{9D8B030D-6E8A-4147-A177-3AD203B41FA5}">
                      <a16:colId xmlns:a16="http://schemas.microsoft.com/office/drawing/2014/main" val="2842217723"/>
                    </a:ext>
                  </a:extLst>
                </a:gridCol>
              </a:tblGrid>
              <a:tr h="372046">
                <a:tc>
                  <a:txBody>
                    <a:bodyPr/>
                    <a:lstStyle/>
                    <a:p>
                      <a:pPr algn="ctr" fontAlgn="ctr"/>
                      <a:r>
                        <a:rPr lang="en-US" sz="1400" b="1" i="0" u="none" strike="noStrike" dirty="0">
                          <a:solidFill>
                            <a:schemeClr val="bg1"/>
                          </a:solidFill>
                          <a:effectLst/>
                          <a:latin typeface="+mj-lt"/>
                        </a:rPr>
                        <a:t>Plan</a:t>
                      </a: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007680"/>
                    </a:solidFill>
                  </a:tcPr>
                </a:tc>
                <a:tc>
                  <a:txBody>
                    <a:bodyPr/>
                    <a:lstStyle/>
                    <a:p>
                      <a:pPr algn="ctr" fontAlgn="ctr"/>
                      <a:r>
                        <a:rPr lang="en-US" sz="1400" b="1" i="0" u="none" strike="noStrike" dirty="0">
                          <a:solidFill>
                            <a:schemeClr val="bg1"/>
                          </a:solidFill>
                          <a:effectLst/>
                          <a:latin typeface="+mj-lt"/>
                        </a:rPr>
                        <a:t>No. of Projects Sanctioned (Nos)</a:t>
                      </a:r>
                    </a:p>
                  </a:txBody>
                  <a:tcPr marL="6350" marR="6350" marT="6350" marB="0" anchor="ctr">
                    <a:lnT w="12700" cap="flat" cmpd="sng" algn="ctr">
                      <a:solidFill>
                        <a:schemeClr val="tx1"/>
                      </a:solidFill>
                      <a:prstDash val="solid"/>
                      <a:round/>
                      <a:headEnd type="none" w="med" len="med"/>
                      <a:tailEnd type="none" w="med" len="med"/>
                    </a:lnT>
                    <a:solidFill>
                      <a:srgbClr val="007680"/>
                    </a:solidFill>
                  </a:tcPr>
                </a:tc>
                <a:tc>
                  <a:txBody>
                    <a:bodyPr/>
                    <a:lstStyle/>
                    <a:p>
                      <a:pPr algn="ctr" fontAlgn="ctr"/>
                      <a:r>
                        <a:rPr lang="en-US" sz="1400" b="1" i="0" u="none" strike="noStrike" dirty="0">
                          <a:solidFill>
                            <a:schemeClr val="bg1"/>
                          </a:solidFill>
                          <a:effectLst/>
                          <a:latin typeface="+mj-lt"/>
                        </a:rPr>
                        <a:t>No. of Projects closed (Nos)</a:t>
                      </a:r>
                    </a:p>
                  </a:txBody>
                  <a:tcPr marL="6350" marR="6350" marT="6350" marB="0" anchor="ctr">
                    <a:lnT w="12700" cap="flat" cmpd="sng" algn="ctr">
                      <a:solidFill>
                        <a:schemeClr val="tx1"/>
                      </a:solidFill>
                      <a:prstDash val="solid"/>
                      <a:round/>
                      <a:headEnd type="none" w="med" len="med"/>
                      <a:tailEnd type="none" w="med" len="med"/>
                    </a:lnT>
                    <a:solidFill>
                      <a:srgbClr val="007680"/>
                    </a:solidFill>
                  </a:tcPr>
                </a:tc>
                <a:tc>
                  <a:txBody>
                    <a:bodyPr/>
                    <a:lstStyle/>
                    <a:p>
                      <a:pPr algn="ctr" fontAlgn="ctr"/>
                      <a:r>
                        <a:rPr lang="en-US" sz="1400" b="1" i="0" u="none" strike="noStrike" dirty="0">
                          <a:solidFill>
                            <a:schemeClr val="bg1"/>
                          </a:solidFill>
                          <a:effectLst/>
                          <a:latin typeface="+mj-lt"/>
                        </a:rPr>
                        <a:t>Sanctioned Project Cost (Rs. Cr)</a:t>
                      </a:r>
                    </a:p>
                  </a:txBody>
                  <a:tcPr marL="6350" marR="6350" marT="6350" marB="0" anchor="ctr">
                    <a:lnT w="12700" cap="flat" cmpd="sng" algn="ctr">
                      <a:solidFill>
                        <a:schemeClr val="tx1"/>
                      </a:solidFill>
                      <a:prstDash val="solid"/>
                      <a:round/>
                      <a:headEnd type="none" w="med" len="med"/>
                      <a:tailEnd type="none" w="med" len="med"/>
                    </a:lnT>
                    <a:solidFill>
                      <a:srgbClr val="007680"/>
                    </a:solidFill>
                  </a:tcPr>
                </a:tc>
                <a:tc>
                  <a:txBody>
                    <a:bodyPr/>
                    <a:lstStyle/>
                    <a:p>
                      <a:pPr algn="ctr" fontAlgn="ctr"/>
                      <a:r>
                        <a:rPr lang="en-US" sz="1400" b="1" i="0" u="none" strike="noStrike" dirty="0">
                          <a:solidFill>
                            <a:schemeClr val="bg1"/>
                          </a:solidFill>
                          <a:effectLst/>
                          <a:latin typeface="+mj-lt"/>
                        </a:rPr>
                        <a:t>Sanctioned Gol Grant </a:t>
                      </a:r>
                    </a:p>
                    <a:p>
                      <a:pPr algn="ctr" fontAlgn="ctr"/>
                      <a:r>
                        <a:rPr lang="en-US" sz="1400" b="1" i="0" u="none" strike="noStrike" dirty="0">
                          <a:solidFill>
                            <a:schemeClr val="bg1"/>
                          </a:solidFill>
                          <a:effectLst/>
                          <a:latin typeface="+mj-lt"/>
                        </a:rPr>
                        <a:t>(Rs. Cr)</a:t>
                      </a:r>
                    </a:p>
                  </a:txBody>
                  <a:tcPr marL="6350" marR="6350" marT="6350" marB="0" anchor="ctr">
                    <a:lnT w="12700" cap="flat" cmpd="sng" algn="ctr">
                      <a:solidFill>
                        <a:schemeClr val="tx1"/>
                      </a:solidFill>
                      <a:prstDash val="solid"/>
                      <a:round/>
                      <a:headEnd type="none" w="med" len="med"/>
                      <a:tailEnd type="none" w="med" len="med"/>
                    </a:lnT>
                    <a:solidFill>
                      <a:srgbClr val="007680"/>
                    </a:solidFill>
                  </a:tcPr>
                </a:tc>
                <a:tc>
                  <a:txBody>
                    <a:bodyPr/>
                    <a:lstStyle/>
                    <a:p>
                      <a:pPr algn="ctr" fontAlgn="ctr"/>
                      <a:r>
                        <a:rPr lang="en-US" sz="1400" b="1" i="0" u="none" strike="noStrike" dirty="0">
                          <a:solidFill>
                            <a:schemeClr val="bg1"/>
                          </a:solidFill>
                          <a:effectLst/>
                          <a:latin typeface="+mj-lt"/>
                        </a:rPr>
                        <a:t>Gol Grant released </a:t>
                      </a:r>
                    </a:p>
                    <a:p>
                      <a:pPr algn="ctr" fontAlgn="ctr"/>
                      <a:r>
                        <a:rPr lang="en-US" sz="1400" b="1" i="0" u="none" strike="noStrike" dirty="0">
                          <a:solidFill>
                            <a:schemeClr val="bg1"/>
                          </a:solidFill>
                          <a:effectLst/>
                          <a:latin typeface="+mj-lt"/>
                        </a:rPr>
                        <a:t>(Rs. Cr)</a:t>
                      </a:r>
                    </a:p>
                  </a:txBody>
                  <a:tcPr marL="6350" marR="6350" marT="6350" marB="0" anchor="ctr">
                    <a:lnT w="12700" cap="flat" cmpd="sng" algn="ctr">
                      <a:solidFill>
                        <a:schemeClr val="tx1"/>
                      </a:solidFill>
                      <a:prstDash val="solid"/>
                      <a:round/>
                      <a:headEnd type="none" w="med" len="med"/>
                      <a:tailEnd type="none" w="med" len="med"/>
                    </a:lnT>
                    <a:solidFill>
                      <a:srgbClr val="007680"/>
                    </a:solidFill>
                  </a:tcPr>
                </a:tc>
                <a:tc>
                  <a:txBody>
                    <a:bodyPr/>
                    <a:lstStyle/>
                    <a:p>
                      <a:pPr algn="ctr" fontAlgn="ctr"/>
                      <a:r>
                        <a:rPr lang="en-US" sz="1400" b="1" i="0" u="none" strike="noStrike" dirty="0">
                          <a:solidFill>
                            <a:schemeClr val="bg1"/>
                          </a:solidFill>
                          <a:effectLst/>
                          <a:latin typeface="+mj-lt"/>
                        </a:rPr>
                        <a:t>% GOI Grant Released</a:t>
                      </a:r>
                    </a:p>
                  </a:txBody>
                  <a:tcPr marL="952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007680"/>
                    </a:solidFill>
                  </a:tcPr>
                </a:tc>
                <a:extLst>
                  <a:ext uri="{0D108BD9-81ED-4DB2-BD59-A6C34878D82A}">
                    <a16:rowId xmlns:a16="http://schemas.microsoft.com/office/drawing/2014/main" val="4090939596"/>
                  </a:ext>
                </a:extLst>
              </a:tr>
              <a:tr h="263105">
                <a:tc>
                  <a:txBody>
                    <a:bodyPr/>
                    <a:lstStyle/>
                    <a:p>
                      <a:pPr algn="ctr" fontAlgn="ctr"/>
                      <a:r>
                        <a:rPr lang="en-US" sz="1400" b="0" i="0" u="none" strike="noStrike" dirty="0">
                          <a:solidFill>
                            <a:srgbClr val="000000"/>
                          </a:solidFill>
                          <a:effectLst/>
                          <a:latin typeface="+mj-lt"/>
                        </a:rPr>
                        <a:t>X</a:t>
                      </a:r>
                    </a:p>
                  </a:txBody>
                  <a:tcPr marL="6350" marR="6350" marT="6350" marB="0" anchor="ctr">
                    <a:lnL w="12700" cap="flat" cmpd="sng" algn="ctr">
                      <a:solidFill>
                        <a:schemeClr val="tx1"/>
                      </a:solidFill>
                      <a:prstDash val="solid"/>
                      <a:round/>
                      <a:headEnd type="none" w="med" len="med"/>
                      <a:tailEnd type="none" w="med" len="med"/>
                    </a:lnL>
                    <a:solidFill>
                      <a:schemeClr val="bg1"/>
                    </a:solidFill>
                  </a:tcPr>
                </a:tc>
                <a:tc>
                  <a:txBody>
                    <a:bodyPr/>
                    <a:lstStyle/>
                    <a:p>
                      <a:pPr algn="ctr" fontAlgn="ctr"/>
                      <a:r>
                        <a:rPr lang="en-US" sz="1400" b="0" i="0" u="none" strike="noStrike" dirty="0">
                          <a:solidFill>
                            <a:srgbClr val="000000"/>
                          </a:solidFill>
                          <a:effectLst/>
                          <a:latin typeface="+mj-lt"/>
                        </a:rPr>
                        <a:t>13</a:t>
                      </a:r>
                    </a:p>
                  </a:txBody>
                  <a:tcPr marL="6350" marR="6350" marT="6350" marB="0" anchor="ctr">
                    <a:solidFill>
                      <a:schemeClr val="bg1"/>
                    </a:solidFill>
                  </a:tcPr>
                </a:tc>
                <a:tc>
                  <a:txBody>
                    <a:bodyPr/>
                    <a:lstStyle/>
                    <a:p>
                      <a:pPr algn="ctr" fontAlgn="ctr"/>
                      <a:r>
                        <a:rPr lang="en-US" sz="1400" b="0" i="0" u="none" strike="noStrike" dirty="0">
                          <a:solidFill>
                            <a:srgbClr val="000000"/>
                          </a:solidFill>
                          <a:effectLst/>
                          <a:latin typeface="+mj-lt"/>
                        </a:rPr>
                        <a:t>13</a:t>
                      </a:r>
                    </a:p>
                  </a:txBody>
                  <a:tcPr marL="6350" marR="6350" marT="6350" marB="0" anchor="ctr">
                    <a:solidFill>
                      <a:schemeClr val="bg1"/>
                    </a:solidFill>
                  </a:tcPr>
                </a:tc>
                <a:tc>
                  <a:txBody>
                    <a:bodyPr/>
                    <a:lstStyle/>
                    <a:p>
                      <a:pPr algn="ctr" fontAlgn="ctr"/>
                      <a:r>
                        <a:rPr lang="en-US" sz="1400" b="0" i="0" u="none" strike="noStrike" dirty="0">
                          <a:solidFill>
                            <a:srgbClr val="000000"/>
                          </a:solidFill>
                          <a:effectLst/>
                          <a:latin typeface="+mj-lt"/>
                        </a:rPr>
                        <a:t>479.8</a:t>
                      </a:r>
                    </a:p>
                  </a:txBody>
                  <a:tcPr marL="6350" marR="6350" marT="6350" marB="0" anchor="ctr">
                    <a:solidFill>
                      <a:schemeClr val="bg1"/>
                    </a:solidFill>
                  </a:tcPr>
                </a:tc>
                <a:tc>
                  <a:txBody>
                    <a:bodyPr/>
                    <a:lstStyle/>
                    <a:p>
                      <a:pPr algn="ctr" fontAlgn="ctr"/>
                      <a:r>
                        <a:rPr lang="en-US" sz="1400" b="0" i="0" u="none" strike="noStrike" dirty="0">
                          <a:solidFill>
                            <a:srgbClr val="000000"/>
                          </a:solidFill>
                          <a:effectLst/>
                          <a:latin typeface="+mj-lt"/>
                        </a:rPr>
                        <a:t>431.82</a:t>
                      </a:r>
                    </a:p>
                  </a:txBody>
                  <a:tcPr marL="6350" marR="6350" marT="6350" marB="0" anchor="ctr">
                    <a:solidFill>
                      <a:schemeClr val="bg1"/>
                    </a:solidFill>
                  </a:tcPr>
                </a:tc>
                <a:tc>
                  <a:txBody>
                    <a:bodyPr/>
                    <a:lstStyle/>
                    <a:p>
                      <a:pPr algn="ctr" fontAlgn="ctr"/>
                      <a:r>
                        <a:rPr lang="en-US" sz="1400" b="0" i="0" u="none" strike="noStrike">
                          <a:solidFill>
                            <a:srgbClr val="000000"/>
                          </a:solidFill>
                          <a:effectLst/>
                          <a:latin typeface="+mj-lt"/>
                        </a:rPr>
                        <a:t>399.16</a:t>
                      </a:r>
                    </a:p>
                  </a:txBody>
                  <a:tcPr marL="6350" marR="6350" marT="6350" marB="0" anchor="ctr">
                    <a:solidFill>
                      <a:schemeClr val="bg1"/>
                    </a:solidFill>
                  </a:tcPr>
                </a:tc>
                <a:tc>
                  <a:txBody>
                    <a:bodyPr/>
                    <a:lstStyle/>
                    <a:p>
                      <a:pPr algn="ctr" fontAlgn="ctr"/>
                      <a:r>
                        <a:rPr lang="en-US" sz="1400" b="0" i="0" u="none" strike="noStrike" dirty="0">
                          <a:solidFill>
                            <a:srgbClr val="000000"/>
                          </a:solidFill>
                          <a:effectLst/>
                          <a:latin typeface="+mj-lt"/>
                        </a:rPr>
                        <a:t>92%</a:t>
                      </a:r>
                    </a:p>
                  </a:txBody>
                  <a:tcPr marL="6350" marR="6350" marT="6350" marB="0" anchor="ct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1946842204"/>
                  </a:ext>
                </a:extLst>
              </a:tr>
              <a:tr h="263105">
                <a:tc>
                  <a:txBody>
                    <a:bodyPr/>
                    <a:lstStyle/>
                    <a:p>
                      <a:pPr algn="ctr" fontAlgn="ctr"/>
                      <a:r>
                        <a:rPr lang="en-US" sz="1400" b="0" i="0" u="none" strike="noStrike">
                          <a:solidFill>
                            <a:srgbClr val="000000"/>
                          </a:solidFill>
                          <a:effectLst/>
                          <a:latin typeface="+mj-lt"/>
                        </a:rPr>
                        <a:t>XI</a:t>
                      </a:r>
                    </a:p>
                  </a:txBody>
                  <a:tcPr marL="6350" marR="6350" marT="6350" marB="0" anchor="ctr">
                    <a:lnL w="12700" cap="flat" cmpd="sng" algn="ctr">
                      <a:solidFill>
                        <a:schemeClr val="tx1"/>
                      </a:solidFill>
                      <a:prstDash val="solid"/>
                      <a:round/>
                      <a:headEnd type="none" w="med" len="med"/>
                      <a:tailEnd type="none" w="med" len="med"/>
                    </a:lnL>
                    <a:solidFill>
                      <a:schemeClr val="bg1"/>
                    </a:solidFill>
                  </a:tcPr>
                </a:tc>
                <a:tc>
                  <a:txBody>
                    <a:bodyPr/>
                    <a:lstStyle/>
                    <a:p>
                      <a:pPr algn="ctr" fontAlgn="ctr"/>
                      <a:r>
                        <a:rPr lang="en-US" sz="1400" b="0" i="0" u="none" strike="noStrike">
                          <a:solidFill>
                            <a:srgbClr val="000000"/>
                          </a:solidFill>
                          <a:effectLst/>
                          <a:latin typeface="+mj-lt"/>
                        </a:rPr>
                        <a:t>15</a:t>
                      </a:r>
                    </a:p>
                  </a:txBody>
                  <a:tcPr marL="6350" marR="6350" marT="6350" marB="0" anchor="ctr">
                    <a:solidFill>
                      <a:schemeClr val="bg1"/>
                    </a:solidFill>
                  </a:tcPr>
                </a:tc>
                <a:tc>
                  <a:txBody>
                    <a:bodyPr/>
                    <a:lstStyle/>
                    <a:p>
                      <a:pPr algn="ctr" fontAlgn="ctr"/>
                      <a:r>
                        <a:rPr lang="en-US" sz="1400" b="0" i="0" u="none" strike="noStrike">
                          <a:solidFill>
                            <a:srgbClr val="000000"/>
                          </a:solidFill>
                          <a:effectLst/>
                          <a:latin typeface="+mj-lt"/>
                        </a:rPr>
                        <a:t>15</a:t>
                      </a:r>
                    </a:p>
                  </a:txBody>
                  <a:tcPr marL="6350" marR="6350" marT="6350" marB="0" anchor="ctr">
                    <a:solidFill>
                      <a:schemeClr val="bg1"/>
                    </a:solidFill>
                  </a:tcPr>
                </a:tc>
                <a:tc>
                  <a:txBody>
                    <a:bodyPr/>
                    <a:lstStyle/>
                    <a:p>
                      <a:pPr algn="ctr" fontAlgn="ctr"/>
                      <a:r>
                        <a:rPr lang="en-US" sz="1400" b="0" i="0" u="none" strike="noStrike">
                          <a:solidFill>
                            <a:srgbClr val="000000"/>
                          </a:solidFill>
                          <a:effectLst/>
                          <a:latin typeface="+mj-lt"/>
                        </a:rPr>
                        <a:t>2263.9</a:t>
                      </a:r>
                    </a:p>
                  </a:txBody>
                  <a:tcPr marL="6350" marR="6350" marT="6350" marB="0" anchor="ctr">
                    <a:solidFill>
                      <a:schemeClr val="bg1"/>
                    </a:solidFill>
                  </a:tcPr>
                </a:tc>
                <a:tc>
                  <a:txBody>
                    <a:bodyPr/>
                    <a:lstStyle/>
                    <a:p>
                      <a:pPr algn="ctr" fontAlgn="ctr"/>
                      <a:r>
                        <a:rPr lang="en-US" sz="1400" b="0" i="0" u="none" strike="noStrike" dirty="0">
                          <a:solidFill>
                            <a:srgbClr val="000000"/>
                          </a:solidFill>
                          <a:effectLst/>
                          <a:latin typeface="+mj-lt"/>
                        </a:rPr>
                        <a:t>2037.52</a:t>
                      </a:r>
                    </a:p>
                  </a:txBody>
                  <a:tcPr marL="6350" marR="6350" marT="6350" marB="0" anchor="ctr">
                    <a:solidFill>
                      <a:schemeClr val="bg1"/>
                    </a:solidFill>
                  </a:tcPr>
                </a:tc>
                <a:tc>
                  <a:txBody>
                    <a:bodyPr/>
                    <a:lstStyle/>
                    <a:p>
                      <a:pPr algn="ctr" fontAlgn="ctr"/>
                      <a:r>
                        <a:rPr lang="en-US" sz="1400" b="0" i="0" u="none" strike="noStrike" dirty="0">
                          <a:solidFill>
                            <a:srgbClr val="000000"/>
                          </a:solidFill>
                          <a:effectLst/>
                          <a:latin typeface="+mj-lt"/>
                        </a:rPr>
                        <a:t>1788.53</a:t>
                      </a:r>
                    </a:p>
                  </a:txBody>
                  <a:tcPr marL="6350" marR="6350" marT="6350" marB="0" anchor="ctr">
                    <a:solidFill>
                      <a:schemeClr val="bg1"/>
                    </a:solidFill>
                  </a:tcPr>
                </a:tc>
                <a:tc>
                  <a:txBody>
                    <a:bodyPr/>
                    <a:lstStyle/>
                    <a:p>
                      <a:pPr algn="ctr" fontAlgn="ctr"/>
                      <a:r>
                        <a:rPr lang="en-US" sz="1400" b="0" i="0" u="none" strike="noStrike">
                          <a:solidFill>
                            <a:srgbClr val="000000"/>
                          </a:solidFill>
                          <a:effectLst/>
                          <a:latin typeface="+mj-lt"/>
                        </a:rPr>
                        <a:t>88%</a:t>
                      </a:r>
                    </a:p>
                  </a:txBody>
                  <a:tcPr marL="6350" marR="6350" marT="6350" marB="0" anchor="ct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3782940144"/>
                  </a:ext>
                </a:extLst>
              </a:tr>
              <a:tr h="263105">
                <a:tc>
                  <a:txBody>
                    <a:bodyPr/>
                    <a:lstStyle/>
                    <a:p>
                      <a:pPr algn="ctr" fontAlgn="ctr"/>
                      <a:r>
                        <a:rPr lang="en-US" sz="1400" b="0" i="0" u="none" strike="noStrike">
                          <a:solidFill>
                            <a:srgbClr val="000000"/>
                          </a:solidFill>
                          <a:effectLst/>
                          <a:latin typeface="+mj-lt"/>
                        </a:rPr>
                        <a:t>XI-Ph-II</a:t>
                      </a:r>
                    </a:p>
                  </a:txBody>
                  <a:tcPr marL="6350" marR="6350" marT="6350" marB="0" anchor="ctr">
                    <a:lnL w="12700" cap="flat" cmpd="sng" algn="ctr">
                      <a:solidFill>
                        <a:schemeClr val="tx1"/>
                      </a:solidFill>
                      <a:prstDash val="solid"/>
                      <a:round/>
                      <a:headEnd type="none" w="med" len="med"/>
                      <a:tailEnd type="none" w="med" len="med"/>
                    </a:lnL>
                    <a:solidFill>
                      <a:schemeClr val="bg1"/>
                    </a:solidFill>
                  </a:tcPr>
                </a:tc>
                <a:tc>
                  <a:txBody>
                    <a:bodyPr/>
                    <a:lstStyle/>
                    <a:p>
                      <a:pPr algn="ctr" fontAlgn="ctr"/>
                      <a:r>
                        <a:rPr lang="en-US" sz="1400" b="0" i="0" u="none" strike="noStrike">
                          <a:solidFill>
                            <a:srgbClr val="000000"/>
                          </a:solidFill>
                          <a:effectLst/>
                          <a:latin typeface="+mj-lt"/>
                        </a:rPr>
                        <a:t>1</a:t>
                      </a:r>
                    </a:p>
                  </a:txBody>
                  <a:tcPr marL="6350" marR="6350" marT="6350" marB="0" anchor="ctr">
                    <a:solidFill>
                      <a:schemeClr val="bg1"/>
                    </a:solidFill>
                  </a:tcPr>
                </a:tc>
                <a:tc>
                  <a:txBody>
                    <a:bodyPr/>
                    <a:lstStyle/>
                    <a:p>
                      <a:pPr algn="ctr" fontAlgn="ctr"/>
                      <a:r>
                        <a:rPr lang="en-US" sz="1400" b="0" i="0" u="none" strike="noStrike">
                          <a:solidFill>
                            <a:srgbClr val="000000"/>
                          </a:solidFill>
                          <a:effectLst/>
                          <a:latin typeface="+mj-lt"/>
                        </a:rPr>
                        <a:t>1</a:t>
                      </a:r>
                    </a:p>
                  </a:txBody>
                  <a:tcPr marL="6350" marR="6350" marT="6350" marB="0" anchor="ctr">
                    <a:solidFill>
                      <a:schemeClr val="bg1"/>
                    </a:solidFill>
                  </a:tcPr>
                </a:tc>
                <a:tc>
                  <a:txBody>
                    <a:bodyPr/>
                    <a:lstStyle/>
                    <a:p>
                      <a:pPr algn="ctr" fontAlgn="ctr"/>
                      <a:r>
                        <a:rPr lang="en-US" sz="1400" b="0" i="0" u="none" strike="noStrike" dirty="0">
                          <a:solidFill>
                            <a:srgbClr val="000000"/>
                          </a:solidFill>
                          <a:effectLst/>
                          <a:latin typeface="+mj-lt"/>
                        </a:rPr>
                        <a:t>198.99</a:t>
                      </a:r>
                    </a:p>
                  </a:txBody>
                  <a:tcPr marL="6350" marR="6350" marT="6350" marB="0" anchor="ctr">
                    <a:solidFill>
                      <a:schemeClr val="bg1"/>
                    </a:solidFill>
                  </a:tcPr>
                </a:tc>
                <a:tc>
                  <a:txBody>
                    <a:bodyPr/>
                    <a:lstStyle/>
                    <a:p>
                      <a:pPr algn="ctr" fontAlgn="ctr"/>
                      <a:r>
                        <a:rPr lang="en-US" sz="1400" b="0" i="0" u="none" strike="noStrike" dirty="0">
                          <a:solidFill>
                            <a:srgbClr val="000000"/>
                          </a:solidFill>
                          <a:effectLst/>
                          <a:latin typeface="+mj-lt"/>
                        </a:rPr>
                        <a:t>179.09</a:t>
                      </a:r>
                    </a:p>
                  </a:txBody>
                  <a:tcPr marL="6350" marR="6350" marT="6350" marB="0" anchor="ctr">
                    <a:solidFill>
                      <a:schemeClr val="bg1"/>
                    </a:solidFill>
                  </a:tcPr>
                </a:tc>
                <a:tc>
                  <a:txBody>
                    <a:bodyPr/>
                    <a:lstStyle/>
                    <a:p>
                      <a:pPr algn="ctr" fontAlgn="ctr"/>
                      <a:r>
                        <a:rPr lang="en-US" sz="1400" b="0" i="0" u="none" strike="noStrike" dirty="0">
                          <a:solidFill>
                            <a:srgbClr val="000000"/>
                          </a:solidFill>
                          <a:effectLst/>
                          <a:latin typeface="+mj-lt"/>
                        </a:rPr>
                        <a:t>123.94</a:t>
                      </a:r>
                    </a:p>
                  </a:txBody>
                  <a:tcPr marL="6350" marR="6350" marT="6350" marB="0" anchor="ctr">
                    <a:solidFill>
                      <a:schemeClr val="bg1"/>
                    </a:solidFill>
                  </a:tcPr>
                </a:tc>
                <a:tc>
                  <a:txBody>
                    <a:bodyPr/>
                    <a:lstStyle/>
                    <a:p>
                      <a:pPr algn="ctr" fontAlgn="ctr"/>
                      <a:r>
                        <a:rPr lang="en-US" sz="1400" b="0" i="0" u="none" strike="noStrike" dirty="0">
                          <a:solidFill>
                            <a:srgbClr val="000000"/>
                          </a:solidFill>
                          <a:effectLst/>
                          <a:latin typeface="+mj-lt"/>
                        </a:rPr>
                        <a:t>69%</a:t>
                      </a:r>
                    </a:p>
                  </a:txBody>
                  <a:tcPr marL="6350" marR="6350" marT="6350" marB="0" anchor="ct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1405556835"/>
                  </a:ext>
                </a:extLst>
              </a:tr>
              <a:tr h="263105">
                <a:tc>
                  <a:txBody>
                    <a:bodyPr/>
                    <a:lstStyle/>
                    <a:p>
                      <a:pPr algn="ctr" fontAlgn="ctr"/>
                      <a:r>
                        <a:rPr lang="en-US" sz="1400" b="0" i="0" u="none" strike="noStrike">
                          <a:solidFill>
                            <a:srgbClr val="000000"/>
                          </a:solidFill>
                          <a:effectLst/>
                          <a:latin typeface="+mj-lt"/>
                        </a:rPr>
                        <a:t>XII</a:t>
                      </a:r>
                    </a:p>
                  </a:txBody>
                  <a:tcPr marL="6350" marR="6350" marT="6350" marB="0" anchor="ctr">
                    <a:lnL w="12700" cap="flat" cmpd="sng" algn="ctr">
                      <a:solidFill>
                        <a:schemeClr val="tx1"/>
                      </a:solidFill>
                      <a:prstDash val="solid"/>
                      <a:round/>
                      <a:headEnd type="none" w="med" len="med"/>
                      <a:tailEnd type="none" w="med" len="med"/>
                    </a:lnL>
                    <a:solidFill>
                      <a:schemeClr val="bg1"/>
                    </a:solidFill>
                  </a:tcPr>
                </a:tc>
                <a:tc>
                  <a:txBody>
                    <a:bodyPr/>
                    <a:lstStyle/>
                    <a:p>
                      <a:pPr algn="ctr" fontAlgn="ctr"/>
                      <a:r>
                        <a:rPr lang="en-US" sz="1400" b="0" i="0" u="none" strike="noStrike">
                          <a:solidFill>
                            <a:srgbClr val="000000"/>
                          </a:solidFill>
                          <a:effectLst/>
                          <a:latin typeface="+mj-lt"/>
                        </a:rPr>
                        <a:t>7</a:t>
                      </a:r>
                    </a:p>
                  </a:txBody>
                  <a:tcPr marL="6350" marR="6350" marT="6350" marB="0" anchor="ctr">
                    <a:solidFill>
                      <a:schemeClr val="bg1"/>
                    </a:solidFill>
                  </a:tcPr>
                </a:tc>
                <a:tc>
                  <a:txBody>
                    <a:bodyPr/>
                    <a:lstStyle/>
                    <a:p>
                      <a:pPr algn="ctr" fontAlgn="ctr"/>
                      <a:r>
                        <a:rPr lang="en-US" sz="1400" b="0" i="0" u="none" strike="noStrike">
                          <a:solidFill>
                            <a:srgbClr val="000000"/>
                          </a:solidFill>
                          <a:effectLst/>
                          <a:latin typeface="+mj-lt"/>
                        </a:rPr>
                        <a:t>7</a:t>
                      </a:r>
                    </a:p>
                  </a:txBody>
                  <a:tcPr marL="6350" marR="6350" marT="6350" marB="0" anchor="ctr">
                    <a:solidFill>
                      <a:schemeClr val="bg1"/>
                    </a:solidFill>
                  </a:tcPr>
                </a:tc>
                <a:tc>
                  <a:txBody>
                    <a:bodyPr/>
                    <a:lstStyle/>
                    <a:p>
                      <a:pPr algn="ctr" fontAlgn="ctr"/>
                      <a:r>
                        <a:rPr lang="en-US" sz="1400" b="0" i="0" u="none" strike="noStrike">
                          <a:solidFill>
                            <a:srgbClr val="000000"/>
                          </a:solidFill>
                          <a:effectLst/>
                          <a:latin typeface="+mj-lt"/>
                        </a:rPr>
                        <a:t>607.62</a:t>
                      </a:r>
                    </a:p>
                  </a:txBody>
                  <a:tcPr marL="6350" marR="6350" marT="6350" marB="0" anchor="ctr">
                    <a:solidFill>
                      <a:schemeClr val="bg1"/>
                    </a:solidFill>
                  </a:tcPr>
                </a:tc>
                <a:tc>
                  <a:txBody>
                    <a:bodyPr/>
                    <a:lstStyle/>
                    <a:p>
                      <a:pPr algn="ctr" fontAlgn="ctr"/>
                      <a:r>
                        <a:rPr lang="en-US" sz="1400" b="0" i="0" u="none" strike="noStrike">
                          <a:solidFill>
                            <a:srgbClr val="000000"/>
                          </a:solidFill>
                          <a:effectLst/>
                          <a:latin typeface="+mj-lt"/>
                        </a:rPr>
                        <a:t>546.85</a:t>
                      </a:r>
                    </a:p>
                  </a:txBody>
                  <a:tcPr marL="6350" marR="6350" marT="6350" marB="0" anchor="ctr">
                    <a:solidFill>
                      <a:schemeClr val="bg1"/>
                    </a:solidFill>
                  </a:tcPr>
                </a:tc>
                <a:tc>
                  <a:txBody>
                    <a:bodyPr/>
                    <a:lstStyle/>
                    <a:p>
                      <a:pPr algn="ctr" fontAlgn="ctr"/>
                      <a:r>
                        <a:rPr lang="en-US" sz="1400" b="0" i="0" u="none" strike="noStrike" dirty="0">
                          <a:solidFill>
                            <a:srgbClr val="000000"/>
                          </a:solidFill>
                          <a:effectLst/>
                          <a:latin typeface="+mj-lt"/>
                        </a:rPr>
                        <a:t>511.96</a:t>
                      </a:r>
                    </a:p>
                  </a:txBody>
                  <a:tcPr marL="6350" marR="6350" marT="6350" marB="0" anchor="ctr">
                    <a:solidFill>
                      <a:schemeClr val="bg1"/>
                    </a:solidFill>
                  </a:tcPr>
                </a:tc>
                <a:tc>
                  <a:txBody>
                    <a:bodyPr/>
                    <a:lstStyle/>
                    <a:p>
                      <a:pPr algn="ctr" fontAlgn="ctr"/>
                      <a:r>
                        <a:rPr lang="en-US" sz="1400" b="0" i="0" u="none" strike="noStrike" dirty="0">
                          <a:solidFill>
                            <a:srgbClr val="000000"/>
                          </a:solidFill>
                          <a:effectLst/>
                          <a:latin typeface="+mj-lt"/>
                        </a:rPr>
                        <a:t>94%</a:t>
                      </a:r>
                    </a:p>
                  </a:txBody>
                  <a:tcPr marL="6350" marR="6350" marT="6350" marB="0" anchor="ct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1515741738"/>
                  </a:ext>
                </a:extLst>
              </a:tr>
              <a:tr h="263105">
                <a:tc>
                  <a:txBody>
                    <a:bodyPr/>
                    <a:lstStyle/>
                    <a:p>
                      <a:pPr algn="ctr" fontAlgn="ctr"/>
                      <a:r>
                        <a:rPr lang="en-US" sz="1400" b="1" i="0" u="none" strike="noStrike">
                          <a:solidFill>
                            <a:srgbClr val="000000"/>
                          </a:solidFill>
                          <a:effectLst/>
                          <a:latin typeface="+mj-lt"/>
                        </a:rPr>
                        <a:t>Total</a:t>
                      </a:r>
                    </a:p>
                  </a:txBody>
                  <a:tcPr marL="6350" marR="6350" marT="635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b="1" i="0" u="none" strike="noStrike">
                          <a:solidFill>
                            <a:srgbClr val="000000"/>
                          </a:solidFill>
                          <a:effectLst/>
                          <a:latin typeface="+mj-lt"/>
                        </a:rPr>
                        <a:t>36</a:t>
                      </a:r>
                    </a:p>
                  </a:txBody>
                  <a:tcPr marL="6350" marR="6350" marT="635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b="1" i="0" u="none" strike="noStrike">
                          <a:solidFill>
                            <a:srgbClr val="000000"/>
                          </a:solidFill>
                          <a:effectLst/>
                          <a:latin typeface="+mj-lt"/>
                        </a:rPr>
                        <a:t>36</a:t>
                      </a:r>
                    </a:p>
                  </a:txBody>
                  <a:tcPr marL="6350" marR="6350" marT="635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b="1" i="0" u="none" strike="noStrike">
                          <a:solidFill>
                            <a:srgbClr val="000000"/>
                          </a:solidFill>
                          <a:effectLst/>
                          <a:latin typeface="+mj-lt"/>
                        </a:rPr>
                        <a:t>3550.31</a:t>
                      </a:r>
                    </a:p>
                  </a:txBody>
                  <a:tcPr marL="6350" marR="6350" marT="635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b="1" i="0" u="none" strike="noStrike">
                          <a:solidFill>
                            <a:srgbClr val="000000"/>
                          </a:solidFill>
                          <a:effectLst/>
                          <a:latin typeface="+mj-lt"/>
                        </a:rPr>
                        <a:t>3195.28</a:t>
                      </a:r>
                    </a:p>
                  </a:txBody>
                  <a:tcPr marL="6350" marR="6350" marT="635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b="1" i="0" u="none" strike="noStrike" dirty="0">
                          <a:solidFill>
                            <a:srgbClr val="000000"/>
                          </a:solidFill>
                          <a:effectLst/>
                          <a:latin typeface="+mj-lt"/>
                        </a:rPr>
                        <a:t>2823.59</a:t>
                      </a:r>
                    </a:p>
                  </a:txBody>
                  <a:tcPr marL="6350" marR="6350" marT="635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b="1" i="0" u="none" strike="noStrike" dirty="0">
                          <a:solidFill>
                            <a:srgbClr val="000000"/>
                          </a:solidFill>
                          <a:effectLst/>
                          <a:latin typeface="+mj-lt"/>
                        </a:rPr>
                        <a:t>88%</a:t>
                      </a:r>
                    </a:p>
                  </a:txBody>
                  <a:tcPr marL="6350" marR="6350" marT="635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22326504"/>
                  </a:ext>
                </a:extLst>
              </a:tr>
            </a:tbl>
          </a:graphicData>
        </a:graphic>
      </p:graphicFrame>
      <p:sp>
        <p:nvSpPr>
          <p:cNvPr id="10" name="TextBox 9">
            <a:extLst>
              <a:ext uri="{FF2B5EF4-FFF2-40B4-BE49-F238E27FC236}">
                <a16:creationId xmlns:a16="http://schemas.microsoft.com/office/drawing/2014/main" id="{B4762049-5BDE-4AED-AC32-18F65D5BE8E2}"/>
              </a:ext>
            </a:extLst>
          </p:cNvPr>
          <p:cNvSpPr txBox="1"/>
          <p:nvPr/>
        </p:nvSpPr>
        <p:spPr>
          <a:xfrm>
            <a:off x="3133850" y="6602056"/>
            <a:ext cx="2949436" cy="169277"/>
          </a:xfrm>
          <a:prstGeom prst="rect">
            <a:avLst/>
          </a:prstGeom>
          <a:noFill/>
        </p:spPr>
        <p:txBody>
          <a:bodyPr wrap="square" lIns="0" tIns="0" rIns="0" bIns="0" rtlCol="0">
            <a:spAutoFit/>
          </a:bodyPr>
          <a:lstStyle/>
          <a:p>
            <a:pPr>
              <a:spcBef>
                <a:spcPts val="600"/>
              </a:spcBef>
              <a:buSzPct val="100000"/>
            </a:pPr>
            <a:r>
              <a:rPr lang="en-US" sz="1100" b="1" dirty="0">
                <a:solidFill>
                  <a:srgbClr val="313131"/>
                </a:solidFill>
                <a:latin typeface="+mj-lt"/>
                <a:cs typeface="Calibri" panose="020F0502020204030204" pitchFamily="34" charset="0"/>
              </a:rPr>
              <a:t>Source </a:t>
            </a:r>
            <a:r>
              <a:rPr lang="en-US" sz="1100" dirty="0">
                <a:solidFill>
                  <a:srgbClr val="313131"/>
                </a:solidFill>
                <a:latin typeface="+mj-lt"/>
                <a:cs typeface="Calibri" panose="020F0502020204030204" pitchFamily="34" charset="0"/>
              </a:rPr>
              <a:t>: Internal (Department of Power)</a:t>
            </a:r>
          </a:p>
        </p:txBody>
      </p:sp>
      <p:sp>
        <p:nvSpPr>
          <p:cNvPr id="22" name="Rectangle 21">
            <a:extLst>
              <a:ext uri="{FF2B5EF4-FFF2-40B4-BE49-F238E27FC236}">
                <a16:creationId xmlns:a16="http://schemas.microsoft.com/office/drawing/2014/main" id="{1FBB23A6-474E-46DA-9C77-ACFE551439B4}"/>
              </a:ext>
            </a:extLst>
          </p:cNvPr>
          <p:cNvSpPr/>
          <p:nvPr/>
        </p:nvSpPr>
        <p:spPr bwMode="gray">
          <a:xfrm>
            <a:off x="7760043" y="1032713"/>
            <a:ext cx="3743216" cy="2554200"/>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i="1" dirty="0"/>
              <a:t>Likely Implementation Challenges</a:t>
            </a:r>
          </a:p>
          <a:p>
            <a:pPr algn="ctr">
              <a:lnSpc>
                <a:spcPct val="106000"/>
              </a:lnSpc>
              <a:buFont typeface="Wingdings 2" pitchFamily="18" charset="2"/>
              <a:buNone/>
            </a:pPr>
            <a:endParaRPr lang="en-US" sz="1400" b="1" i="1" dirty="0"/>
          </a:p>
          <a:p>
            <a:pPr marL="285750" indent="-285750">
              <a:lnSpc>
                <a:spcPct val="106000"/>
              </a:lnSpc>
              <a:buFont typeface="Arial" panose="020B0604020202020204" pitchFamily="34" charset="0"/>
              <a:buChar char="•"/>
            </a:pPr>
            <a:r>
              <a:rPr lang="en-US" sz="1400" i="1" dirty="0">
                <a:solidFill>
                  <a:srgbClr val="23313A"/>
                </a:solidFill>
                <a:effectLst/>
                <a:latin typeface="+mj-lt"/>
              </a:rPr>
              <a:t>High cost of grid extension and low recovery due to highly subsidized tariff, low level of tariff collection resulting in negative return</a:t>
            </a:r>
          </a:p>
          <a:p>
            <a:pPr marL="285750" indent="-285750">
              <a:lnSpc>
                <a:spcPct val="106000"/>
              </a:lnSpc>
              <a:buFont typeface="Arial" panose="020B0604020202020204" pitchFamily="34" charset="0"/>
              <a:buChar char="•"/>
            </a:pPr>
            <a:endParaRPr lang="en-US" sz="1400" i="1" dirty="0">
              <a:solidFill>
                <a:srgbClr val="23313A"/>
              </a:solidFill>
              <a:effectLst/>
              <a:latin typeface="+mj-lt"/>
            </a:endParaRPr>
          </a:p>
          <a:p>
            <a:pPr marL="285750" indent="-285750">
              <a:lnSpc>
                <a:spcPct val="106000"/>
              </a:lnSpc>
              <a:buFont typeface="Arial" panose="020B0604020202020204" pitchFamily="34" charset="0"/>
              <a:buChar char="•"/>
            </a:pPr>
            <a:r>
              <a:rPr lang="en-US" sz="1400" i="1" dirty="0">
                <a:latin typeface="+mj-lt"/>
              </a:rPr>
              <a:t>Tender awards, Vendor delays, ROW issue</a:t>
            </a:r>
          </a:p>
        </p:txBody>
      </p:sp>
      <p:cxnSp>
        <p:nvCxnSpPr>
          <p:cNvPr id="26" name="Straight Connector 25">
            <a:extLst>
              <a:ext uri="{FF2B5EF4-FFF2-40B4-BE49-F238E27FC236}">
                <a16:creationId xmlns:a16="http://schemas.microsoft.com/office/drawing/2014/main" id="{7020BDE6-466E-4D84-9CFE-A26925E83B1F}"/>
              </a:ext>
            </a:extLst>
          </p:cNvPr>
          <p:cNvCxnSpPr>
            <a:cxnSpLocks/>
          </p:cNvCxnSpPr>
          <p:nvPr/>
        </p:nvCxnSpPr>
        <p:spPr>
          <a:xfrm>
            <a:off x="360191" y="4214054"/>
            <a:ext cx="53115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BDE12A23-8DF0-402E-BC90-2D61FE335BC9}"/>
              </a:ext>
            </a:extLst>
          </p:cNvPr>
          <p:cNvSpPr txBox="1"/>
          <p:nvPr/>
        </p:nvSpPr>
        <p:spPr>
          <a:xfrm>
            <a:off x="961493" y="4122923"/>
            <a:ext cx="3904736" cy="184666"/>
          </a:xfrm>
          <a:prstGeom prst="rect">
            <a:avLst/>
          </a:prstGeom>
          <a:solidFill>
            <a:schemeClr val="bg1"/>
          </a:solidFill>
        </p:spPr>
        <p:txBody>
          <a:bodyPr wrap="square" lIns="0" tIns="0" rIns="0" bIns="0" rtlCol="0">
            <a:spAutoFit/>
          </a:bodyPr>
          <a:lstStyle/>
          <a:p>
            <a:pPr algn="ctr">
              <a:spcBef>
                <a:spcPts val="600"/>
              </a:spcBef>
              <a:buSzPct val="100000"/>
            </a:pPr>
            <a:r>
              <a:rPr lang="en-US" sz="1200" b="1" dirty="0">
                <a:latin typeface="+mj-lt"/>
                <a:cs typeface="Calibri" panose="020F0502020204030204" pitchFamily="34" charset="0"/>
              </a:rPr>
              <a:t>Status of Grant Release as on 31.10.2021</a:t>
            </a:r>
          </a:p>
        </p:txBody>
      </p:sp>
    </p:spTree>
    <p:extLst>
      <p:ext uri="{BB962C8B-B14F-4D97-AF65-F5344CB8AC3E}">
        <p14:creationId xmlns:p14="http://schemas.microsoft.com/office/powerpoint/2010/main" val="2385369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9">
            <a:extLst>
              <a:ext uri="{FF2B5EF4-FFF2-40B4-BE49-F238E27FC236}">
                <a16:creationId xmlns:a16="http://schemas.microsoft.com/office/drawing/2014/main" id="{ADDBC7C8-E57A-4887-8C42-E5DF93DA658C}"/>
              </a:ext>
            </a:extLst>
          </p:cNvPr>
          <p:cNvSpPr>
            <a:spLocks noChangeArrowheads="1"/>
          </p:cNvSpPr>
          <p:nvPr/>
        </p:nvSpPr>
        <p:spPr bwMode="auto">
          <a:xfrm>
            <a:off x="3727239" y="816656"/>
            <a:ext cx="7963108" cy="2307543"/>
          </a:xfrm>
          <a:prstGeom prst="rect">
            <a:avLst/>
          </a:prstGeom>
          <a:solidFill>
            <a:schemeClr val="accent1">
              <a:lumMod val="20000"/>
              <a:lumOff val="80000"/>
            </a:schemeClr>
          </a:solidFill>
          <a:ln w="19050" algn="ctr">
            <a:solidFill>
              <a:schemeClr val="accent1"/>
            </a:solidFill>
            <a:miter lim="800000"/>
            <a:headEnd/>
            <a:tailEnd/>
          </a:ln>
        </p:spPr>
        <p:txBody>
          <a:bodyPr wrap="square" lIns="88900" tIns="88900" rIns="88900" bIns="88900" anchor="ctr"/>
          <a:lstStyle/>
          <a:p>
            <a:pPr marL="228600" indent="-109538" algn="just">
              <a:spcBef>
                <a:spcPts val="600"/>
              </a:spcBef>
              <a:defRPr/>
            </a:pPr>
            <a:r>
              <a:rPr lang="en-US" sz="1200" dirty="0">
                <a:latin typeface="+mj-lt"/>
                <a:ea typeface="ＭＳ Ｐゴシック" pitchFamily="50" charset="-128"/>
                <a:cs typeface="Calibri" panose="020F0502020204030204" pitchFamily="34" charset="0"/>
              </a:rPr>
              <a:t>Govt. of India, vide Office Memorandum F.No.44/44/2014-RE dated 3rd December 2014 issued by the</a:t>
            </a:r>
          </a:p>
          <a:p>
            <a:pPr marL="228600" indent="-109538" algn="just">
              <a:spcBef>
                <a:spcPts val="600"/>
              </a:spcBef>
              <a:defRPr/>
            </a:pPr>
            <a:r>
              <a:rPr lang="en-US" sz="1200" dirty="0">
                <a:latin typeface="+mj-lt"/>
                <a:ea typeface="ＭＳ Ｐゴシック" pitchFamily="50" charset="-128"/>
                <a:cs typeface="Calibri" panose="020F0502020204030204" pitchFamily="34" charset="0"/>
              </a:rPr>
              <a:t>Ministry of Power, launched Deendayal Upadhyaya Gram Jyoti Yojana (DDUGJY) with the following</a:t>
            </a:r>
          </a:p>
          <a:p>
            <a:pPr marL="228600" indent="-109538" algn="just">
              <a:spcBef>
                <a:spcPts val="600"/>
              </a:spcBef>
              <a:defRPr/>
            </a:pPr>
            <a:r>
              <a:rPr lang="en-US" sz="1200" dirty="0">
                <a:latin typeface="+mj-lt"/>
                <a:ea typeface="ＭＳ Ｐゴシック" pitchFamily="50" charset="-128"/>
                <a:cs typeface="Calibri" panose="020F0502020204030204" pitchFamily="34" charset="0"/>
              </a:rPr>
              <a:t>components :-</a:t>
            </a:r>
          </a:p>
          <a:p>
            <a:pPr marL="800071" lvl="1" indent="-342900" algn="just">
              <a:spcBef>
                <a:spcPts val="600"/>
              </a:spcBef>
              <a:buFont typeface="+mj-lt"/>
              <a:buAutoNum type="arabicPeriod"/>
              <a:defRPr/>
            </a:pPr>
            <a:r>
              <a:rPr lang="en-US" sz="1200" dirty="0">
                <a:latin typeface="+mj-lt"/>
                <a:ea typeface="ＭＳ Ｐゴシック" pitchFamily="50" charset="-128"/>
                <a:cs typeface="Calibri" panose="020F0502020204030204" pitchFamily="34" charset="0"/>
              </a:rPr>
              <a:t>Separation of agriculture and non-agriculture feeders for supply to agricultural &amp; non-agricultural consumers in the rural areas for effective demand side management.</a:t>
            </a:r>
          </a:p>
          <a:p>
            <a:pPr marL="800071" lvl="1" indent="-342900" algn="just">
              <a:spcBef>
                <a:spcPts val="600"/>
              </a:spcBef>
              <a:buFont typeface="+mj-lt"/>
              <a:buAutoNum type="arabicPeriod"/>
              <a:defRPr/>
            </a:pPr>
            <a:r>
              <a:rPr lang="en-US" sz="1200" dirty="0">
                <a:latin typeface="+mj-lt"/>
                <a:ea typeface="ＭＳ Ｐゴシック" pitchFamily="50" charset="-128"/>
                <a:cs typeface="Calibri" panose="020F0502020204030204" pitchFamily="34" charset="0"/>
              </a:rPr>
              <a:t>Strengthening and augmentation of sub-transmission &amp; distribution (ST&amp;D) infrastructure in rural areas, including metering at distribution transformers, feeders and consumer end.</a:t>
            </a:r>
          </a:p>
          <a:p>
            <a:pPr marL="800071" lvl="1" indent="-342900" algn="just">
              <a:spcBef>
                <a:spcPts val="600"/>
              </a:spcBef>
              <a:buFont typeface="+mj-lt"/>
              <a:buAutoNum type="arabicPeriod"/>
              <a:defRPr/>
            </a:pPr>
            <a:r>
              <a:rPr lang="en-US" sz="1200" dirty="0">
                <a:latin typeface="+mj-lt"/>
                <a:ea typeface="ＭＳ Ｐゴシック" pitchFamily="50" charset="-128"/>
                <a:cs typeface="Calibri" panose="020F0502020204030204" pitchFamily="34" charset="0"/>
              </a:rPr>
              <a:t>Rural electrification, as per CCEA approval dated 01.08.2013 for completion of the targets laid down under RGGVY for 12th and 13th five-year plans</a:t>
            </a:r>
            <a:r>
              <a:rPr lang="en-US" sz="1200" dirty="0">
                <a:latin typeface="+mj-lt"/>
                <a:ea typeface="ＭＳ Ｐゴシック" pitchFamily="50" charset="-128"/>
              </a:rPr>
              <a:t>. </a:t>
            </a:r>
            <a:endParaRPr lang="en-US" altLang="ja-JP" sz="1200" dirty="0">
              <a:latin typeface="+mj-lt"/>
              <a:ea typeface="ＭＳ Ｐゴシック" pitchFamily="50" charset="-128"/>
            </a:endParaRPr>
          </a:p>
        </p:txBody>
      </p:sp>
      <p:sp>
        <p:nvSpPr>
          <p:cNvPr id="21" name="AutoShape 12">
            <a:extLst>
              <a:ext uri="{FF2B5EF4-FFF2-40B4-BE49-F238E27FC236}">
                <a16:creationId xmlns:a16="http://schemas.microsoft.com/office/drawing/2014/main" id="{AACE88D1-0F70-4149-A94E-C56BF6DDDC1A}"/>
              </a:ext>
            </a:extLst>
          </p:cNvPr>
          <p:cNvSpPr>
            <a:spLocks noChangeArrowheads="1"/>
          </p:cNvSpPr>
          <p:nvPr/>
        </p:nvSpPr>
        <p:spPr bwMode="auto">
          <a:xfrm>
            <a:off x="2595125" y="816657"/>
            <a:ext cx="1008046" cy="2307543"/>
          </a:xfrm>
          <a:prstGeom prst="homePlate">
            <a:avLst>
              <a:gd name="adj" fmla="val 100000"/>
            </a:avLst>
          </a:prstGeom>
          <a:solidFill>
            <a:schemeClr val="bg2">
              <a:lumMod val="75000"/>
            </a:schemeClr>
          </a:solidFill>
          <a:ln w="6350" algn="ctr">
            <a:noFill/>
            <a:miter lim="800000"/>
            <a:headEnd/>
            <a:tailEnd/>
          </a:ln>
        </p:spPr>
        <p:txBody>
          <a:bodyPr wrap="square" lIns="88900" tIns="88900" rIns="88900" bIns="88900" anchor="ctr"/>
          <a:lstStyle/>
          <a:p>
            <a:pPr algn="ctr"/>
            <a:endParaRPr lang="en-US" sz="1200" dirty="0">
              <a:latin typeface="+mj-lt"/>
            </a:endParaRPr>
          </a:p>
        </p:txBody>
      </p:sp>
      <p:sp>
        <p:nvSpPr>
          <p:cNvPr id="24" name="Rectangle 23">
            <a:extLst>
              <a:ext uri="{FF2B5EF4-FFF2-40B4-BE49-F238E27FC236}">
                <a16:creationId xmlns:a16="http://schemas.microsoft.com/office/drawing/2014/main" id="{A3D90435-7D86-4CEC-9EC3-E0A6A53CAF9F}"/>
              </a:ext>
            </a:extLst>
          </p:cNvPr>
          <p:cNvSpPr/>
          <p:nvPr/>
        </p:nvSpPr>
        <p:spPr bwMode="gray">
          <a:xfrm>
            <a:off x="501653" y="816657"/>
            <a:ext cx="1969404" cy="2307543"/>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b="1" dirty="0">
                <a:solidFill>
                  <a:schemeClr val="bg1"/>
                </a:solidFill>
                <a:latin typeface="+mj-lt"/>
                <a:cs typeface="Calibri" panose="020F0502020204030204" pitchFamily="34" charset="0"/>
              </a:rPr>
              <a:t>Background</a:t>
            </a:r>
          </a:p>
        </p:txBody>
      </p:sp>
      <p:sp>
        <p:nvSpPr>
          <p:cNvPr id="36" name="Oval 35">
            <a:extLst>
              <a:ext uri="{FF2B5EF4-FFF2-40B4-BE49-F238E27FC236}">
                <a16:creationId xmlns:a16="http://schemas.microsoft.com/office/drawing/2014/main" id="{D6BB4E0C-F837-4728-A1EB-8E8EDA16F515}"/>
              </a:ext>
            </a:extLst>
          </p:cNvPr>
          <p:cNvSpPr>
            <a:spLocks noChangeArrowheads="1"/>
          </p:cNvSpPr>
          <p:nvPr/>
        </p:nvSpPr>
        <p:spPr bwMode="blackWhite">
          <a:xfrm rot="16200000">
            <a:off x="546966" y="3608677"/>
            <a:ext cx="711237" cy="702828"/>
          </a:xfrm>
          <a:prstGeom prst="ellipse">
            <a:avLst/>
          </a:prstGeom>
          <a:solidFill>
            <a:schemeClr val="accent2"/>
          </a:solidFill>
          <a:ln w="12700">
            <a:noFill/>
            <a:round/>
            <a:headEnd/>
            <a:tailEnd/>
          </a:ln>
        </p:spPr>
        <p:txBody>
          <a:bodyPr vert="vert" wrap="square" lIns="88900" tIns="88900" rIns="88900" bIns="88900" anchor="ctr"/>
          <a:lstStyle/>
          <a:p>
            <a:pPr algn="ctr" eaLnBrk="1" hangingPunct="1">
              <a:spcBef>
                <a:spcPct val="20000"/>
              </a:spcBef>
              <a:defRPr/>
            </a:pPr>
            <a:r>
              <a:rPr lang="en-GB" dirty="0">
                <a:solidFill>
                  <a:schemeClr val="bg1"/>
                </a:solidFill>
                <a:latin typeface="+mj-lt"/>
                <a:cs typeface="Calibri" panose="020F0502020204030204" pitchFamily="34" charset="0"/>
              </a:rPr>
              <a:t>1</a:t>
            </a:r>
          </a:p>
        </p:txBody>
      </p:sp>
      <p:sp>
        <p:nvSpPr>
          <p:cNvPr id="37" name="Oval 36">
            <a:extLst>
              <a:ext uri="{FF2B5EF4-FFF2-40B4-BE49-F238E27FC236}">
                <a16:creationId xmlns:a16="http://schemas.microsoft.com/office/drawing/2014/main" id="{A3C8C192-CAA0-47AB-A3FB-F6B0B5BAD1F6}"/>
              </a:ext>
            </a:extLst>
          </p:cNvPr>
          <p:cNvSpPr>
            <a:spLocks noChangeArrowheads="1"/>
          </p:cNvSpPr>
          <p:nvPr/>
        </p:nvSpPr>
        <p:spPr bwMode="blackWhite">
          <a:xfrm rot="16200000">
            <a:off x="883521" y="5358184"/>
            <a:ext cx="684084" cy="682228"/>
          </a:xfrm>
          <a:prstGeom prst="ellipse">
            <a:avLst/>
          </a:prstGeom>
          <a:solidFill>
            <a:schemeClr val="accent3"/>
          </a:solidFill>
          <a:ln w="12700">
            <a:noFill/>
            <a:round/>
            <a:headEnd/>
            <a:tailEnd/>
          </a:ln>
        </p:spPr>
        <p:txBody>
          <a:bodyPr vert="vert" wrap="square" lIns="88900" tIns="88900" rIns="88900" bIns="88900" anchor="ctr"/>
          <a:lstStyle/>
          <a:p>
            <a:pPr algn="ctr" eaLnBrk="1" hangingPunct="1">
              <a:spcBef>
                <a:spcPct val="20000"/>
              </a:spcBef>
              <a:defRPr/>
            </a:pPr>
            <a:r>
              <a:rPr lang="en-GB" dirty="0">
                <a:solidFill>
                  <a:schemeClr val="bg1"/>
                </a:solidFill>
                <a:latin typeface="+mj-lt"/>
                <a:cs typeface="Calibri" panose="020F0502020204030204" pitchFamily="34" charset="0"/>
              </a:rPr>
              <a:t>3</a:t>
            </a:r>
          </a:p>
        </p:txBody>
      </p:sp>
      <p:sp>
        <p:nvSpPr>
          <p:cNvPr id="38" name="Oval 37">
            <a:extLst>
              <a:ext uri="{FF2B5EF4-FFF2-40B4-BE49-F238E27FC236}">
                <a16:creationId xmlns:a16="http://schemas.microsoft.com/office/drawing/2014/main" id="{DEA2F46F-29C6-4773-8DC1-72809EA907C1}"/>
              </a:ext>
            </a:extLst>
          </p:cNvPr>
          <p:cNvSpPr>
            <a:spLocks noChangeArrowheads="1"/>
          </p:cNvSpPr>
          <p:nvPr/>
        </p:nvSpPr>
        <p:spPr bwMode="blackWhite">
          <a:xfrm rot="16381333">
            <a:off x="1626803" y="4498388"/>
            <a:ext cx="673138" cy="758959"/>
          </a:xfrm>
          <a:prstGeom prst="ellipse">
            <a:avLst/>
          </a:prstGeom>
          <a:solidFill>
            <a:schemeClr val="accent1"/>
          </a:solidFill>
          <a:ln w="12700">
            <a:noFill/>
            <a:round/>
            <a:headEnd/>
            <a:tailEnd/>
          </a:ln>
        </p:spPr>
        <p:txBody>
          <a:bodyPr vert="vert" wrap="square" lIns="88900" tIns="88900" rIns="88900" bIns="88900" anchor="ctr"/>
          <a:lstStyle/>
          <a:p>
            <a:pPr algn="ctr" eaLnBrk="1" hangingPunct="1">
              <a:spcBef>
                <a:spcPct val="20000"/>
              </a:spcBef>
              <a:defRPr/>
            </a:pPr>
            <a:r>
              <a:rPr lang="en-GB" dirty="0">
                <a:solidFill>
                  <a:schemeClr val="bg1"/>
                </a:solidFill>
                <a:latin typeface="+mj-lt"/>
                <a:cs typeface="Calibri" panose="020F0502020204030204" pitchFamily="34" charset="0"/>
              </a:rPr>
              <a:t>2</a:t>
            </a:r>
          </a:p>
        </p:txBody>
      </p:sp>
      <p:grpSp>
        <p:nvGrpSpPr>
          <p:cNvPr id="39" name="Group 38">
            <a:extLst>
              <a:ext uri="{FF2B5EF4-FFF2-40B4-BE49-F238E27FC236}">
                <a16:creationId xmlns:a16="http://schemas.microsoft.com/office/drawing/2014/main" id="{065130CE-2455-46FB-92B1-FA844A1BF902}"/>
              </a:ext>
            </a:extLst>
          </p:cNvPr>
          <p:cNvGrpSpPr/>
          <p:nvPr/>
        </p:nvGrpSpPr>
        <p:grpSpPr>
          <a:xfrm rot="16200000">
            <a:off x="88029" y="3819857"/>
            <a:ext cx="2724027" cy="1942314"/>
            <a:chOff x="4665630" y="2359025"/>
            <a:chExt cx="4061685" cy="2746375"/>
          </a:xfrm>
        </p:grpSpPr>
        <p:sp>
          <p:nvSpPr>
            <p:cNvPr id="40" name="Arc 20">
              <a:extLst>
                <a:ext uri="{FF2B5EF4-FFF2-40B4-BE49-F238E27FC236}">
                  <a16:creationId xmlns:a16="http://schemas.microsoft.com/office/drawing/2014/main" id="{87BD2DB2-EBC1-4910-80F8-2B8A99713EF9}"/>
                </a:ext>
              </a:extLst>
            </p:cNvPr>
            <p:cNvSpPr>
              <a:spLocks/>
            </p:cNvSpPr>
            <p:nvPr/>
          </p:nvSpPr>
          <p:spPr bwMode="auto">
            <a:xfrm>
              <a:off x="5380550" y="2867025"/>
              <a:ext cx="580769" cy="608013"/>
            </a:xfrm>
            <a:custGeom>
              <a:avLst/>
              <a:gdLst>
                <a:gd name="T0" fmla="*/ 0 w 21646"/>
                <a:gd name="T1" fmla="*/ 0 h 21600"/>
                <a:gd name="T2" fmla="*/ 0 w 21646"/>
                <a:gd name="T3" fmla="*/ 0 h 21600"/>
                <a:gd name="T4" fmla="*/ 0 w 21646"/>
                <a:gd name="T5" fmla="*/ 0 h 21600"/>
                <a:gd name="T6" fmla="*/ 0 60000 65536"/>
                <a:gd name="T7" fmla="*/ 0 60000 65536"/>
                <a:gd name="T8" fmla="*/ 0 60000 65536"/>
                <a:gd name="T9" fmla="*/ 0 w 21646"/>
                <a:gd name="T10" fmla="*/ 0 h 21600"/>
                <a:gd name="T11" fmla="*/ 21646 w 21646"/>
                <a:gd name="T12" fmla="*/ 21600 h 21600"/>
              </a:gdLst>
              <a:ahLst/>
              <a:cxnLst>
                <a:cxn ang="T6">
                  <a:pos x="T0" y="T1"/>
                </a:cxn>
                <a:cxn ang="T7">
                  <a:pos x="T2" y="T3"/>
                </a:cxn>
                <a:cxn ang="T8">
                  <a:pos x="T4" y="T5"/>
                </a:cxn>
              </a:cxnLst>
              <a:rect l="T9" t="T10" r="T11" b="T12"/>
              <a:pathLst>
                <a:path w="21646" h="21600" fill="none" extrusionOk="0">
                  <a:moveTo>
                    <a:pt x="0" y="0"/>
                  </a:moveTo>
                  <a:cubicBezTo>
                    <a:pt x="17" y="0"/>
                    <a:pt x="35" y="-1"/>
                    <a:pt x="53" y="0"/>
                  </a:cubicBezTo>
                  <a:cubicBezTo>
                    <a:pt x="11761" y="0"/>
                    <a:pt x="21337" y="9327"/>
                    <a:pt x="21645" y="21032"/>
                  </a:cubicBezTo>
                </a:path>
                <a:path w="21646" h="21600" stroke="0" extrusionOk="0">
                  <a:moveTo>
                    <a:pt x="0" y="0"/>
                  </a:moveTo>
                  <a:cubicBezTo>
                    <a:pt x="17" y="0"/>
                    <a:pt x="35" y="-1"/>
                    <a:pt x="53" y="0"/>
                  </a:cubicBezTo>
                  <a:cubicBezTo>
                    <a:pt x="11761" y="0"/>
                    <a:pt x="21337" y="9327"/>
                    <a:pt x="21645" y="21032"/>
                  </a:cubicBezTo>
                  <a:lnTo>
                    <a:pt x="53" y="21600"/>
                  </a:lnTo>
                  <a:close/>
                </a:path>
              </a:pathLst>
            </a:custGeom>
            <a:noFill/>
            <a:ln w="19050" cap="rnd">
              <a:solidFill>
                <a:schemeClr val="tx1"/>
              </a:solidFill>
              <a:round/>
              <a:headEnd type="none" w="sm" len="sm"/>
              <a:tailEnd type="none" w="sm" len="sm"/>
            </a:ln>
          </p:spPr>
          <p:txBody>
            <a:bodyPr wrap="none" anchor="ctr"/>
            <a:lstStyle/>
            <a:p>
              <a:pPr algn="ctr" eaLnBrk="1" hangingPunct="1">
                <a:spcBef>
                  <a:spcPct val="20000"/>
                </a:spcBef>
                <a:defRPr/>
              </a:pPr>
              <a:endParaRPr lang="en-GB" sz="1200" b="1" dirty="0">
                <a:solidFill>
                  <a:srgbClr val="FFFFFF"/>
                </a:solidFill>
                <a:latin typeface="+mj-lt"/>
                <a:cs typeface="Arial" pitchFamily="34" charset="0"/>
              </a:endParaRPr>
            </a:p>
          </p:txBody>
        </p:sp>
        <p:sp>
          <p:nvSpPr>
            <p:cNvPr id="41" name="Line 21">
              <a:extLst>
                <a:ext uri="{FF2B5EF4-FFF2-40B4-BE49-F238E27FC236}">
                  <a16:creationId xmlns:a16="http://schemas.microsoft.com/office/drawing/2014/main" id="{63DBAB18-0479-4D1C-8992-BC996FBF9B1C}"/>
                </a:ext>
              </a:extLst>
            </p:cNvPr>
            <p:cNvSpPr>
              <a:spLocks noChangeShapeType="1"/>
            </p:cNvSpPr>
            <p:nvPr/>
          </p:nvSpPr>
          <p:spPr bwMode="auto">
            <a:xfrm flipH="1">
              <a:off x="4665630" y="2867025"/>
              <a:ext cx="726372" cy="0"/>
            </a:xfrm>
            <a:prstGeom prst="line">
              <a:avLst/>
            </a:prstGeom>
            <a:noFill/>
            <a:ln w="19050">
              <a:solidFill>
                <a:schemeClr val="tx1"/>
              </a:solidFill>
              <a:round/>
              <a:headEnd type="none" w="sm" len="sm"/>
              <a:tailEnd type="none" w="sm" len="sm"/>
            </a:ln>
          </p:spPr>
          <p:txBody>
            <a:bodyPr wrap="none" anchor="ctr"/>
            <a:lstStyle/>
            <a:p>
              <a:pPr algn="ctr" eaLnBrk="1" hangingPunct="1">
                <a:spcBef>
                  <a:spcPct val="20000"/>
                </a:spcBef>
                <a:defRPr/>
              </a:pPr>
              <a:endParaRPr lang="en-GB" sz="1200" b="1" dirty="0">
                <a:solidFill>
                  <a:srgbClr val="FFFFFF"/>
                </a:solidFill>
                <a:latin typeface="+mj-lt"/>
                <a:cs typeface="Arial" pitchFamily="34" charset="0"/>
              </a:endParaRPr>
            </a:p>
          </p:txBody>
        </p:sp>
        <p:sp>
          <p:nvSpPr>
            <p:cNvPr id="42" name="Arc 22">
              <a:extLst>
                <a:ext uri="{FF2B5EF4-FFF2-40B4-BE49-F238E27FC236}">
                  <a16:creationId xmlns:a16="http://schemas.microsoft.com/office/drawing/2014/main" id="{C9F0ED44-252C-457C-940B-FAFFE408B795}"/>
                </a:ext>
              </a:extLst>
            </p:cNvPr>
            <p:cNvSpPr>
              <a:spLocks/>
            </p:cNvSpPr>
            <p:nvPr/>
          </p:nvSpPr>
          <p:spPr bwMode="auto">
            <a:xfrm>
              <a:off x="5961319" y="4506913"/>
              <a:ext cx="1188720" cy="598487"/>
            </a:xfrm>
            <a:custGeom>
              <a:avLst/>
              <a:gdLst>
                <a:gd name="T0" fmla="*/ 0 w 43200"/>
                <a:gd name="T1" fmla="*/ 0 h 21705"/>
                <a:gd name="T2" fmla="*/ 0 w 43200"/>
                <a:gd name="T3" fmla="*/ 0 h 21705"/>
                <a:gd name="T4" fmla="*/ 0 w 43200"/>
                <a:gd name="T5" fmla="*/ 0 h 21705"/>
                <a:gd name="T6" fmla="*/ 0 60000 65536"/>
                <a:gd name="T7" fmla="*/ 0 60000 65536"/>
                <a:gd name="T8" fmla="*/ 0 60000 65536"/>
                <a:gd name="T9" fmla="*/ 0 w 43200"/>
                <a:gd name="T10" fmla="*/ 0 h 21705"/>
                <a:gd name="T11" fmla="*/ 43200 w 43200"/>
                <a:gd name="T12" fmla="*/ 21705 h 21705"/>
              </a:gdLst>
              <a:ahLst/>
              <a:cxnLst>
                <a:cxn ang="T6">
                  <a:pos x="T0" y="T1"/>
                </a:cxn>
                <a:cxn ang="T7">
                  <a:pos x="T2" y="T3"/>
                </a:cxn>
                <a:cxn ang="T8">
                  <a:pos x="T4" y="T5"/>
                </a:cxn>
              </a:cxnLst>
              <a:rect l="T9" t="T10" r="T11" b="T12"/>
              <a:pathLst>
                <a:path w="43200" h="21705" fill="none" extrusionOk="0">
                  <a:moveTo>
                    <a:pt x="43199" y="53"/>
                  </a:moveTo>
                  <a:cubicBezTo>
                    <a:pt x="43199" y="70"/>
                    <a:pt x="43200" y="87"/>
                    <a:pt x="43200" y="105"/>
                  </a:cubicBezTo>
                  <a:cubicBezTo>
                    <a:pt x="43200" y="12034"/>
                    <a:pt x="33529" y="21705"/>
                    <a:pt x="21600" y="21705"/>
                  </a:cubicBezTo>
                  <a:cubicBezTo>
                    <a:pt x="9670" y="21705"/>
                    <a:pt x="0" y="12034"/>
                    <a:pt x="0" y="105"/>
                  </a:cubicBezTo>
                  <a:cubicBezTo>
                    <a:pt x="-1" y="70"/>
                    <a:pt x="0" y="35"/>
                    <a:pt x="0" y="0"/>
                  </a:cubicBezTo>
                </a:path>
                <a:path w="43200" h="21705" stroke="0" extrusionOk="0">
                  <a:moveTo>
                    <a:pt x="43199" y="53"/>
                  </a:moveTo>
                  <a:cubicBezTo>
                    <a:pt x="43199" y="70"/>
                    <a:pt x="43200" y="87"/>
                    <a:pt x="43200" y="105"/>
                  </a:cubicBezTo>
                  <a:cubicBezTo>
                    <a:pt x="43200" y="12034"/>
                    <a:pt x="33529" y="21705"/>
                    <a:pt x="21600" y="21705"/>
                  </a:cubicBezTo>
                  <a:cubicBezTo>
                    <a:pt x="9670" y="21705"/>
                    <a:pt x="0" y="12034"/>
                    <a:pt x="0" y="105"/>
                  </a:cubicBezTo>
                  <a:cubicBezTo>
                    <a:pt x="-1" y="70"/>
                    <a:pt x="0" y="35"/>
                    <a:pt x="0" y="0"/>
                  </a:cubicBezTo>
                  <a:lnTo>
                    <a:pt x="21600" y="105"/>
                  </a:lnTo>
                  <a:close/>
                </a:path>
              </a:pathLst>
            </a:custGeom>
            <a:noFill/>
            <a:ln w="19050" cap="rnd">
              <a:solidFill>
                <a:schemeClr val="tx1"/>
              </a:solidFill>
              <a:round/>
              <a:headEnd type="none" w="sm" len="sm"/>
              <a:tailEnd type="none" w="sm" len="sm"/>
            </a:ln>
          </p:spPr>
          <p:txBody>
            <a:bodyPr wrap="none" anchor="ctr"/>
            <a:lstStyle/>
            <a:p>
              <a:pPr algn="ctr" eaLnBrk="1" hangingPunct="1">
                <a:spcBef>
                  <a:spcPct val="20000"/>
                </a:spcBef>
                <a:defRPr/>
              </a:pPr>
              <a:endParaRPr lang="en-GB" sz="1200" b="1" dirty="0">
                <a:solidFill>
                  <a:srgbClr val="FFFFFF"/>
                </a:solidFill>
                <a:latin typeface="+mj-lt"/>
                <a:cs typeface="Arial" pitchFamily="34" charset="0"/>
              </a:endParaRPr>
            </a:p>
          </p:txBody>
        </p:sp>
        <p:sp>
          <p:nvSpPr>
            <p:cNvPr id="43" name="Line 23">
              <a:extLst>
                <a:ext uri="{FF2B5EF4-FFF2-40B4-BE49-F238E27FC236}">
                  <a16:creationId xmlns:a16="http://schemas.microsoft.com/office/drawing/2014/main" id="{45C27234-9103-49BC-923F-C1945E6A99E5}"/>
                </a:ext>
              </a:extLst>
            </p:cNvPr>
            <p:cNvSpPr>
              <a:spLocks noChangeShapeType="1"/>
            </p:cNvSpPr>
            <p:nvPr/>
          </p:nvSpPr>
          <p:spPr bwMode="auto">
            <a:xfrm flipV="1">
              <a:off x="5961319" y="3455011"/>
              <a:ext cx="0" cy="1073150"/>
            </a:xfrm>
            <a:prstGeom prst="line">
              <a:avLst/>
            </a:prstGeom>
            <a:noFill/>
            <a:ln w="19050">
              <a:solidFill>
                <a:schemeClr val="tx1"/>
              </a:solidFill>
              <a:round/>
              <a:headEnd type="none" w="sm" len="sm"/>
              <a:tailEnd type="none" w="sm" len="sm"/>
            </a:ln>
          </p:spPr>
          <p:txBody>
            <a:bodyPr wrap="none" anchor="ctr"/>
            <a:lstStyle/>
            <a:p>
              <a:pPr algn="ctr" eaLnBrk="1" hangingPunct="1">
                <a:spcBef>
                  <a:spcPct val="20000"/>
                </a:spcBef>
                <a:defRPr/>
              </a:pPr>
              <a:endParaRPr lang="en-GB" sz="1200" b="1" dirty="0">
                <a:solidFill>
                  <a:srgbClr val="FFFFFF"/>
                </a:solidFill>
                <a:latin typeface="+mj-lt"/>
                <a:cs typeface="Arial" pitchFamily="34" charset="0"/>
              </a:endParaRPr>
            </a:p>
          </p:txBody>
        </p:sp>
        <p:sp>
          <p:nvSpPr>
            <p:cNvPr id="44" name="Line 24">
              <a:extLst>
                <a:ext uri="{FF2B5EF4-FFF2-40B4-BE49-F238E27FC236}">
                  <a16:creationId xmlns:a16="http://schemas.microsoft.com/office/drawing/2014/main" id="{D583242A-4400-4B4C-AE31-A1935AA8DF54}"/>
                </a:ext>
              </a:extLst>
            </p:cNvPr>
            <p:cNvSpPr>
              <a:spLocks noChangeShapeType="1"/>
            </p:cNvSpPr>
            <p:nvPr/>
          </p:nvSpPr>
          <p:spPr bwMode="auto">
            <a:xfrm flipV="1">
              <a:off x="7150039" y="2962275"/>
              <a:ext cx="0" cy="1565275"/>
            </a:xfrm>
            <a:prstGeom prst="line">
              <a:avLst/>
            </a:prstGeom>
            <a:noFill/>
            <a:ln w="19050">
              <a:solidFill>
                <a:schemeClr val="tx1"/>
              </a:solidFill>
              <a:round/>
              <a:headEnd type="none" w="sm" len="sm"/>
              <a:tailEnd type="none" w="sm" len="sm"/>
            </a:ln>
          </p:spPr>
          <p:txBody>
            <a:bodyPr wrap="none" anchor="ctr"/>
            <a:lstStyle/>
            <a:p>
              <a:pPr algn="ctr" eaLnBrk="1" hangingPunct="1">
                <a:spcBef>
                  <a:spcPct val="20000"/>
                </a:spcBef>
                <a:defRPr/>
              </a:pPr>
              <a:endParaRPr lang="en-GB" sz="1200" b="1" dirty="0">
                <a:solidFill>
                  <a:srgbClr val="FFFFFF"/>
                </a:solidFill>
                <a:latin typeface="+mj-lt"/>
                <a:cs typeface="Arial" pitchFamily="34" charset="0"/>
              </a:endParaRPr>
            </a:p>
          </p:txBody>
        </p:sp>
        <p:sp>
          <p:nvSpPr>
            <p:cNvPr id="45" name="Arc 25">
              <a:extLst>
                <a:ext uri="{FF2B5EF4-FFF2-40B4-BE49-F238E27FC236}">
                  <a16:creationId xmlns:a16="http://schemas.microsoft.com/office/drawing/2014/main" id="{248BFBB4-DF6D-4562-B619-FF8089FBD2F2}"/>
                </a:ext>
              </a:extLst>
            </p:cNvPr>
            <p:cNvSpPr>
              <a:spLocks/>
            </p:cNvSpPr>
            <p:nvPr/>
          </p:nvSpPr>
          <p:spPr bwMode="auto">
            <a:xfrm>
              <a:off x="7150039" y="2359025"/>
              <a:ext cx="580770" cy="60483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548"/>
                  </a:moveTo>
                  <a:cubicBezTo>
                    <a:pt x="28" y="9659"/>
                    <a:pt x="9658" y="29"/>
                    <a:pt x="21547" y="0"/>
                  </a:cubicBezTo>
                </a:path>
                <a:path w="21600" h="21600" stroke="0" extrusionOk="0">
                  <a:moveTo>
                    <a:pt x="0" y="21548"/>
                  </a:moveTo>
                  <a:cubicBezTo>
                    <a:pt x="28" y="9659"/>
                    <a:pt x="9658" y="29"/>
                    <a:pt x="21547" y="0"/>
                  </a:cubicBezTo>
                  <a:lnTo>
                    <a:pt x="21600" y="21600"/>
                  </a:lnTo>
                  <a:close/>
                </a:path>
              </a:pathLst>
            </a:custGeom>
            <a:noFill/>
            <a:ln w="19050" cap="rnd">
              <a:solidFill>
                <a:schemeClr val="tx1"/>
              </a:solidFill>
              <a:round/>
              <a:headEnd type="none" w="sm" len="sm"/>
              <a:tailEnd type="none" w="sm" len="sm"/>
            </a:ln>
          </p:spPr>
          <p:txBody>
            <a:bodyPr wrap="none" anchor="ctr"/>
            <a:lstStyle/>
            <a:p>
              <a:pPr algn="ctr" eaLnBrk="1" hangingPunct="1">
                <a:spcBef>
                  <a:spcPct val="20000"/>
                </a:spcBef>
                <a:defRPr/>
              </a:pPr>
              <a:endParaRPr lang="en-GB" sz="1200" b="1" dirty="0">
                <a:solidFill>
                  <a:srgbClr val="FFFFFF"/>
                </a:solidFill>
                <a:latin typeface="+mj-lt"/>
                <a:cs typeface="Arial" pitchFamily="34" charset="0"/>
              </a:endParaRPr>
            </a:p>
          </p:txBody>
        </p:sp>
        <p:sp>
          <p:nvSpPr>
            <p:cNvPr id="46" name="Line 26">
              <a:extLst>
                <a:ext uri="{FF2B5EF4-FFF2-40B4-BE49-F238E27FC236}">
                  <a16:creationId xmlns:a16="http://schemas.microsoft.com/office/drawing/2014/main" id="{737D1C14-800D-4354-A6F4-12C7E209A8B9}"/>
                </a:ext>
              </a:extLst>
            </p:cNvPr>
            <p:cNvSpPr>
              <a:spLocks noChangeShapeType="1"/>
            </p:cNvSpPr>
            <p:nvPr/>
          </p:nvSpPr>
          <p:spPr bwMode="auto">
            <a:xfrm flipH="1">
              <a:off x="7717920" y="2359025"/>
              <a:ext cx="1009395" cy="0"/>
            </a:xfrm>
            <a:prstGeom prst="line">
              <a:avLst/>
            </a:prstGeom>
            <a:noFill/>
            <a:ln w="19050">
              <a:solidFill>
                <a:schemeClr val="tx1"/>
              </a:solidFill>
              <a:round/>
              <a:headEnd type="none" w="sm" len="sm"/>
              <a:tailEnd type="none" w="sm" len="sm"/>
            </a:ln>
          </p:spPr>
          <p:txBody>
            <a:bodyPr wrap="none" anchor="ctr"/>
            <a:lstStyle/>
            <a:p>
              <a:pPr algn="ctr" eaLnBrk="1" hangingPunct="1">
                <a:spcBef>
                  <a:spcPct val="20000"/>
                </a:spcBef>
                <a:defRPr/>
              </a:pPr>
              <a:endParaRPr lang="en-GB" sz="1200" b="1" dirty="0">
                <a:solidFill>
                  <a:srgbClr val="FFFFFF"/>
                </a:solidFill>
                <a:latin typeface="+mj-lt"/>
                <a:cs typeface="Arial" pitchFamily="34" charset="0"/>
              </a:endParaRPr>
            </a:p>
          </p:txBody>
        </p:sp>
      </p:grpSp>
      <p:sp>
        <p:nvSpPr>
          <p:cNvPr id="54" name="Rectangle 19">
            <a:extLst>
              <a:ext uri="{FF2B5EF4-FFF2-40B4-BE49-F238E27FC236}">
                <a16:creationId xmlns:a16="http://schemas.microsoft.com/office/drawing/2014/main" id="{8AFC6154-1168-4A4B-877A-1240F5057A85}"/>
              </a:ext>
            </a:extLst>
          </p:cNvPr>
          <p:cNvSpPr>
            <a:spLocks noChangeArrowheads="1"/>
          </p:cNvSpPr>
          <p:nvPr/>
        </p:nvSpPr>
        <p:spPr bwMode="auto">
          <a:xfrm>
            <a:off x="1332058" y="3639094"/>
            <a:ext cx="6658056" cy="605706"/>
          </a:xfrm>
          <a:prstGeom prst="rect">
            <a:avLst/>
          </a:prstGeom>
          <a:noFill/>
          <a:ln w="19050" algn="ctr">
            <a:solidFill>
              <a:srgbClr val="009A44"/>
            </a:solidFill>
            <a:miter lim="800000"/>
            <a:headEnd/>
            <a:tailEnd/>
          </a:ln>
        </p:spPr>
        <p:txBody>
          <a:bodyPr wrap="square" lIns="88900" tIns="88900" rIns="88900" bIns="88900" anchor="ctr"/>
          <a:lstStyle/>
          <a:p>
            <a:pPr algn="just">
              <a:spcBef>
                <a:spcPts val="600"/>
              </a:spcBef>
              <a:defRPr/>
            </a:pPr>
            <a:r>
              <a:rPr lang="en-US" sz="1200" b="1" dirty="0">
                <a:solidFill>
                  <a:schemeClr val="tx1"/>
                </a:solidFill>
                <a:latin typeface="+mj-lt"/>
                <a:cs typeface="Calibri" panose="020F0502020204030204" pitchFamily="34" charset="0"/>
              </a:rPr>
              <a:t>Nodal Agency : </a:t>
            </a:r>
            <a:r>
              <a:rPr lang="en-US" sz="1200" b="0" dirty="0">
                <a:solidFill>
                  <a:schemeClr val="tx1"/>
                </a:solidFill>
                <a:latin typeface="+mj-lt"/>
                <a:cs typeface="Calibri" panose="020F0502020204030204" pitchFamily="34" charset="0"/>
              </a:rPr>
              <a:t>Rural Electrification Corporation Limited</a:t>
            </a:r>
            <a:r>
              <a:rPr lang="en-US" sz="1200" dirty="0">
                <a:latin typeface="+mj-lt"/>
                <a:cs typeface="Calibri" panose="020F0502020204030204" pitchFamily="34" charset="0"/>
              </a:rPr>
              <a:t> </a:t>
            </a:r>
            <a:r>
              <a:rPr lang="en-US" sz="1200" b="0" dirty="0">
                <a:solidFill>
                  <a:schemeClr val="tx1"/>
                </a:solidFill>
                <a:latin typeface="+mj-lt"/>
                <a:cs typeface="Calibri" panose="020F0502020204030204" pitchFamily="34" charset="0"/>
              </a:rPr>
              <a:t>is the Nodal Agency for implementation of the scheme under the guidance of MoP.</a:t>
            </a:r>
            <a:endParaRPr lang="en-US" sz="1200" dirty="0">
              <a:latin typeface="+mj-lt"/>
              <a:ea typeface="ＭＳ Ｐゴシック" pitchFamily="50" charset="-128"/>
              <a:cs typeface="Calibri" panose="020F0502020204030204" pitchFamily="34" charset="0"/>
            </a:endParaRPr>
          </a:p>
        </p:txBody>
      </p:sp>
      <p:sp>
        <p:nvSpPr>
          <p:cNvPr id="55" name="Rectangle 19">
            <a:extLst>
              <a:ext uri="{FF2B5EF4-FFF2-40B4-BE49-F238E27FC236}">
                <a16:creationId xmlns:a16="http://schemas.microsoft.com/office/drawing/2014/main" id="{0DE7CCC8-5C6C-4F56-B9D5-DB5D0EE98F11}"/>
              </a:ext>
            </a:extLst>
          </p:cNvPr>
          <p:cNvSpPr>
            <a:spLocks noChangeArrowheads="1"/>
          </p:cNvSpPr>
          <p:nvPr/>
        </p:nvSpPr>
        <p:spPr bwMode="auto">
          <a:xfrm>
            <a:off x="2502771" y="4463068"/>
            <a:ext cx="5487343" cy="770908"/>
          </a:xfrm>
          <a:prstGeom prst="rect">
            <a:avLst/>
          </a:prstGeom>
          <a:noFill/>
          <a:ln w="19050" algn="ctr">
            <a:solidFill>
              <a:srgbClr val="92D050"/>
            </a:solidFill>
            <a:miter lim="800000"/>
            <a:headEnd/>
            <a:tailEnd/>
          </a:ln>
        </p:spPr>
        <p:txBody>
          <a:bodyPr wrap="square" lIns="88900" tIns="88900" rIns="88900" bIns="88900" anchor="ctr"/>
          <a:lstStyle/>
          <a:p>
            <a:r>
              <a:rPr lang="en-US" sz="1200" b="1" dirty="0">
                <a:solidFill>
                  <a:schemeClr val="tx1"/>
                </a:solidFill>
                <a:latin typeface="+mj-lt"/>
                <a:cs typeface="Calibri" panose="020F0502020204030204" pitchFamily="34" charset="0"/>
              </a:rPr>
              <a:t>Project Management Agency (PMA) </a:t>
            </a:r>
            <a:r>
              <a:rPr lang="en-US" sz="1200" b="0" dirty="0">
                <a:solidFill>
                  <a:schemeClr val="tx1"/>
                </a:solidFill>
                <a:latin typeface="+mj-lt"/>
                <a:cs typeface="Calibri" panose="020F0502020204030204" pitchFamily="34" charset="0"/>
              </a:rPr>
              <a:t>: REC Power Distribution Company Ltd</a:t>
            </a:r>
            <a:r>
              <a:rPr lang="en-US" sz="1200" dirty="0">
                <a:latin typeface="+mj-lt"/>
                <a:cs typeface="Calibri" panose="020F0502020204030204" pitchFamily="34" charset="0"/>
              </a:rPr>
              <a:t> </a:t>
            </a:r>
            <a:r>
              <a:rPr lang="en-US" sz="1200" b="0" dirty="0">
                <a:solidFill>
                  <a:schemeClr val="tx1"/>
                </a:solidFill>
                <a:latin typeface="+mj-lt"/>
                <a:cs typeface="Calibri" panose="020F0502020204030204" pitchFamily="34" charset="0"/>
              </a:rPr>
              <a:t>and PFC Consulting Ltd have been appointed as Project Management Agency</a:t>
            </a:r>
            <a:r>
              <a:rPr lang="en-US" sz="1200" dirty="0">
                <a:latin typeface="+mj-lt"/>
                <a:cs typeface="Calibri" panose="020F0502020204030204" pitchFamily="34" charset="0"/>
              </a:rPr>
              <a:t> for monitoring he implementation of the project.</a:t>
            </a:r>
            <a:endParaRPr lang="en-US" sz="1200" b="0" dirty="0">
              <a:solidFill>
                <a:schemeClr val="tx1"/>
              </a:solidFill>
              <a:latin typeface="+mj-lt"/>
              <a:cs typeface="Calibri" panose="020F0502020204030204" pitchFamily="34" charset="0"/>
            </a:endParaRPr>
          </a:p>
        </p:txBody>
      </p:sp>
      <p:sp>
        <p:nvSpPr>
          <p:cNvPr id="56" name="Rectangle 19">
            <a:extLst>
              <a:ext uri="{FF2B5EF4-FFF2-40B4-BE49-F238E27FC236}">
                <a16:creationId xmlns:a16="http://schemas.microsoft.com/office/drawing/2014/main" id="{3AF2E2E9-1F81-422C-85F3-910ECB8C288F}"/>
              </a:ext>
            </a:extLst>
          </p:cNvPr>
          <p:cNvSpPr>
            <a:spLocks noChangeArrowheads="1"/>
          </p:cNvSpPr>
          <p:nvPr/>
        </p:nvSpPr>
        <p:spPr bwMode="auto">
          <a:xfrm>
            <a:off x="1634739" y="5435634"/>
            <a:ext cx="6355376" cy="605706"/>
          </a:xfrm>
          <a:prstGeom prst="rect">
            <a:avLst/>
          </a:prstGeom>
          <a:noFill/>
          <a:ln w="19050" algn="ctr">
            <a:solidFill>
              <a:srgbClr val="009A44"/>
            </a:solidFill>
            <a:miter lim="800000"/>
            <a:headEnd/>
            <a:tailEnd/>
          </a:ln>
        </p:spPr>
        <p:txBody>
          <a:bodyPr wrap="square" lIns="88900" tIns="88900" rIns="88900" bIns="88900" anchor="ctr"/>
          <a:lstStyle/>
          <a:p>
            <a:r>
              <a:rPr lang="en-US" sz="1200" b="1" dirty="0">
                <a:solidFill>
                  <a:schemeClr val="tx1"/>
                </a:solidFill>
                <a:latin typeface="+mj-lt"/>
                <a:cs typeface="Calibri" panose="020F0502020204030204" pitchFamily="34" charset="0"/>
              </a:rPr>
              <a:t>Mode of Implementation : </a:t>
            </a:r>
            <a:r>
              <a:rPr lang="en-US" sz="1200" dirty="0">
                <a:solidFill>
                  <a:schemeClr val="tx1"/>
                </a:solidFill>
                <a:latin typeface="+mj-lt"/>
                <a:cs typeface="Calibri" panose="020F0502020204030204" pitchFamily="34" charset="0"/>
              </a:rPr>
              <a:t>Project is implemented on the turn-key basis</a:t>
            </a:r>
            <a:r>
              <a:rPr lang="en-US" sz="1200" b="0" dirty="0">
                <a:solidFill>
                  <a:schemeClr val="tx1"/>
                </a:solidFill>
                <a:latin typeface="+mj-lt"/>
                <a:cs typeface="Calibri" panose="020F0502020204030204" pitchFamily="34" charset="0"/>
              </a:rPr>
              <a:t>. </a:t>
            </a:r>
          </a:p>
        </p:txBody>
      </p:sp>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329122"/>
            <a:ext cx="11188700" cy="368299"/>
          </a:xfrm>
        </p:spPr>
        <p:txBody>
          <a:bodyPr vert="horz"/>
          <a:lstStyle/>
          <a:p>
            <a:pPr algn="just"/>
            <a:r>
              <a:rPr lang="en-US" sz="1600" i="0" dirty="0">
                <a:solidFill>
                  <a:schemeClr val="tx1"/>
                </a:solidFill>
                <a:latin typeface="+mj-lt"/>
              </a:rPr>
              <a:t>Salient Feature of DDUGJY</a:t>
            </a:r>
          </a:p>
        </p:txBody>
      </p:sp>
      <p:graphicFrame>
        <p:nvGraphicFramePr>
          <p:cNvPr id="20" name="Chart 19">
            <a:extLst>
              <a:ext uri="{FF2B5EF4-FFF2-40B4-BE49-F238E27FC236}">
                <a16:creationId xmlns:a16="http://schemas.microsoft.com/office/drawing/2014/main" id="{417827C4-4E5C-4D31-BC78-3C29EDBE00F2}"/>
              </a:ext>
            </a:extLst>
          </p:cNvPr>
          <p:cNvGraphicFramePr/>
          <p:nvPr>
            <p:extLst>
              <p:ext uri="{D42A27DB-BD31-4B8C-83A1-F6EECF244321}">
                <p14:modId xmlns:p14="http://schemas.microsoft.com/office/powerpoint/2010/main" val="3278600392"/>
              </p:ext>
            </p:extLst>
          </p:nvPr>
        </p:nvGraphicFramePr>
        <p:xfrm>
          <a:off x="8068173" y="3639094"/>
          <a:ext cx="3884335" cy="2805247"/>
        </p:xfrm>
        <a:graphic>
          <a:graphicData uri="http://schemas.openxmlformats.org/drawingml/2006/chart">
            <c:chart xmlns:c="http://schemas.openxmlformats.org/drawingml/2006/chart" xmlns:r="http://schemas.openxmlformats.org/officeDocument/2006/relationships" r:id="rId2"/>
          </a:graphicData>
        </a:graphic>
      </p:graphicFrame>
      <p:sp>
        <p:nvSpPr>
          <p:cNvPr id="22" name="TextBox 21">
            <a:extLst>
              <a:ext uri="{FF2B5EF4-FFF2-40B4-BE49-F238E27FC236}">
                <a16:creationId xmlns:a16="http://schemas.microsoft.com/office/drawing/2014/main" id="{8AE50A36-B1A4-430A-A628-ECB7FFF2A3F5}"/>
              </a:ext>
            </a:extLst>
          </p:cNvPr>
          <p:cNvSpPr txBox="1"/>
          <p:nvPr/>
        </p:nvSpPr>
        <p:spPr>
          <a:xfrm>
            <a:off x="8514456" y="5144617"/>
            <a:ext cx="1174773" cy="338554"/>
          </a:xfrm>
          <a:prstGeom prst="rect">
            <a:avLst/>
          </a:prstGeom>
          <a:noFill/>
        </p:spPr>
        <p:txBody>
          <a:bodyPr wrap="square" lIns="0" tIns="0" rIns="0" bIns="0" rtlCol="0">
            <a:spAutoFit/>
          </a:bodyPr>
          <a:lstStyle/>
          <a:p>
            <a:pPr algn="ctr">
              <a:buSzPct val="100000"/>
            </a:pPr>
            <a:r>
              <a:rPr lang="en-US" sz="1100" b="1" dirty="0">
                <a:solidFill>
                  <a:schemeClr val="bg1"/>
                </a:solidFill>
                <a:latin typeface="+mj-lt"/>
                <a:cs typeface="Calibri" panose="020F0502020204030204" pitchFamily="34" charset="0"/>
              </a:rPr>
              <a:t>WBSEDCL                 </a:t>
            </a:r>
          </a:p>
          <a:p>
            <a:pPr algn="ctr">
              <a:buSzPct val="100000"/>
            </a:pPr>
            <a:r>
              <a:rPr lang="en-US" sz="1100" b="1" dirty="0">
                <a:solidFill>
                  <a:schemeClr val="bg1"/>
                </a:solidFill>
                <a:latin typeface="+mj-lt"/>
                <a:cs typeface="Calibri" panose="020F0502020204030204" pitchFamily="34" charset="0"/>
              </a:rPr>
              <a:t>(Loan/Equity)</a:t>
            </a:r>
          </a:p>
        </p:txBody>
      </p:sp>
      <p:sp>
        <p:nvSpPr>
          <p:cNvPr id="23" name="TextBox 22">
            <a:extLst>
              <a:ext uri="{FF2B5EF4-FFF2-40B4-BE49-F238E27FC236}">
                <a16:creationId xmlns:a16="http://schemas.microsoft.com/office/drawing/2014/main" id="{1E154F42-6CA2-4940-81DB-2C829C629FB9}"/>
              </a:ext>
            </a:extLst>
          </p:cNvPr>
          <p:cNvSpPr txBox="1"/>
          <p:nvPr/>
        </p:nvSpPr>
        <p:spPr>
          <a:xfrm>
            <a:off x="8600285" y="4317373"/>
            <a:ext cx="1284514" cy="169277"/>
          </a:xfrm>
          <a:prstGeom prst="rect">
            <a:avLst/>
          </a:prstGeom>
          <a:noFill/>
        </p:spPr>
        <p:txBody>
          <a:bodyPr wrap="square" lIns="0" tIns="0" rIns="0" bIns="0" rtlCol="0">
            <a:spAutoFit/>
          </a:bodyPr>
          <a:lstStyle/>
          <a:p>
            <a:pPr algn="ctr">
              <a:spcBef>
                <a:spcPts val="600"/>
              </a:spcBef>
              <a:buSzPct val="100000"/>
            </a:pPr>
            <a:r>
              <a:rPr lang="en-US" sz="1100" b="1" dirty="0">
                <a:solidFill>
                  <a:schemeClr val="bg1"/>
                </a:solidFill>
                <a:latin typeface="+mj-lt"/>
                <a:cs typeface="Calibri" panose="020F0502020204030204" pitchFamily="34" charset="0"/>
              </a:rPr>
              <a:t>GOWB (Grant)</a:t>
            </a:r>
          </a:p>
        </p:txBody>
      </p:sp>
      <p:sp>
        <p:nvSpPr>
          <p:cNvPr id="25" name="TextBox 24">
            <a:extLst>
              <a:ext uri="{FF2B5EF4-FFF2-40B4-BE49-F238E27FC236}">
                <a16:creationId xmlns:a16="http://schemas.microsoft.com/office/drawing/2014/main" id="{0B92DB69-59FF-4AD5-84BA-F5C27330D004}"/>
              </a:ext>
            </a:extLst>
          </p:cNvPr>
          <p:cNvSpPr txBox="1"/>
          <p:nvPr/>
        </p:nvSpPr>
        <p:spPr>
          <a:xfrm>
            <a:off x="9970909" y="4951228"/>
            <a:ext cx="1164771" cy="169277"/>
          </a:xfrm>
          <a:prstGeom prst="rect">
            <a:avLst/>
          </a:prstGeom>
          <a:noFill/>
        </p:spPr>
        <p:txBody>
          <a:bodyPr wrap="square" lIns="0" tIns="0" rIns="0" bIns="0" rtlCol="0">
            <a:spAutoFit/>
          </a:bodyPr>
          <a:lstStyle/>
          <a:p>
            <a:pPr algn="ctr">
              <a:spcBef>
                <a:spcPts val="600"/>
              </a:spcBef>
              <a:buSzPct val="100000"/>
            </a:pPr>
            <a:r>
              <a:rPr lang="en-US" sz="1100" b="1" dirty="0">
                <a:solidFill>
                  <a:schemeClr val="bg1"/>
                </a:solidFill>
                <a:latin typeface="+mj-lt"/>
                <a:cs typeface="Calibri" panose="020F0502020204030204" pitchFamily="34" charset="0"/>
              </a:rPr>
              <a:t>GOI (Grant)</a:t>
            </a:r>
          </a:p>
        </p:txBody>
      </p:sp>
      <p:sp>
        <p:nvSpPr>
          <p:cNvPr id="26" name="TextBox 25">
            <a:extLst>
              <a:ext uri="{FF2B5EF4-FFF2-40B4-BE49-F238E27FC236}">
                <a16:creationId xmlns:a16="http://schemas.microsoft.com/office/drawing/2014/main" id="{BE8634DD-3045-4F3A-B501-CFEDB780D0F9}"/>
              </a:ext>
            </a:extLst>
          </p:cNvPr>
          <p:cNvSpPr txBox="1"/>
          <p:nvPr/>
        </p:nvSpPr>
        <p:spPr>
          <a:xfrm>
            <a:off x="8180624" y="3429000"/>
            <a:ext cx="3233057" cy="184666"/>
          </a:xfrm>
          <a:prstGeom prst="rect">
            <a:avLst/>
          </a:prstGeom>
          <a:noFill/>
        </p:spPr>
        <p:txBody>
          <a:bodyPr wrap="square" lIns="0" tIns="0" rIns="0" bIns="0" rtlCol="0">
            <a:spAutoFit/>
          </a:bodyPr>
          <a:lstStyle/>
          <a:p>
            <a:pPr algn="ctr">
              <a:spcBef>
                <a:spcPts val="600"/>
              </a:spcBef>
              <a:buSzPct val="100000"/>
            </a:pPr>
            <a:r>
              <a:rPr lang="en-US" sz="1200" b="1" dirty="0">
                <a:latin typeface="+mj-lt"/>
                <a:cs typeface="Calibri" panose="020F0502020204030204" pitchFamily="34" charset="0"/>
              </a:rPr>
              <a:t>Funding Pattern of Scheme</a:t>
            </a:r>
          </a:p>
        </p:txBody>
      </p:sp>
      <p:sp>
        <p:nvSpPr>
          <p:cNvPr id="2" name="TextBox 1">
            <a:extLst>
              <a:ext uri="{FF2B5EF4-FFF2-40B4-BE49-F238E27FC236}">
                <a16:creationId xmlns:a16="http://schemas.microsoft.com/office/drawing/2014/main" id="{727702E6-BBC1-4510-A09B-3F8B12FBF404}"/>
              </a:ext>
            </a:extLst>
          </p:cNvPr>
          <p:cNvSpPr txBox="1"/>
          <p:nvPr/>
        </p:nvSpPr>
        <p:spPr>
          <a:xfrm>
            <a:off x="9002079" y="6548099"/>
            <a:ext cx="3102429" cy="169277"/>
          </a:xfrm>
          <a:prstGeom prst="rect">
            <a:avLst/>
          </a:prstGeom>
          <a:noFill/>
        </p:spPr>
        <p:txBody>
          <a:bodyPr wrap="square" lIns="0" tIns="0" rIns="0" bIns="0" rtlCol="0">
            <a:spAutoFit/>
          </a:bodyPr>
          <a:lstStyle/>
          <a:p>
            <a:pPr>
              <a:spcBef>
                <a:spcPts val="600"/>
              </a:spcBef>
              <a:buSzPct val="100000"/>
            </a:pPr>
            <a:r>
              <a:rPr lang="en-US" sz="1100" dirty="0">
                <a:latin typeface="+mj-lt"/>
                <a:cs typeface="Calibri" panose="020F0502020204030204" pitchFamily="34" charset="0"/>
              </a:rPr>
              <a:t>Source : WBSEDCL Website </a:t>
            </a:r>
          </a:p>
        </p:txBody>
      </p:sp>
    </p:spTree>
    <p:extLst>
      <p:ext uri="{BB962C8B-B14F-4D97-AF65-F5344CB8AC3E}">
        <p14:creationId xmlns:p14="http://schemas.microsoft.com/office/powerpoint/2010/main" val="596247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271760"/>
            <a:ext cx="11188700" cy="368299"/>
          </a:xfrm>
        </p:spPr>
        <p:txBody>
          <a:bodyPr vert="horz"/>
          <a:lstStyle/>
          <a:p>
            <a:pPr algn="just"/>
            <a:r>
              <a:rPr lang="en-US" sz="1800" i="0" dirty="0">
                <a:solidFill>
                  <a:schemeClr val="tx1"/>
                </a:solidFill>
              </a:rPr>
              <a:t>Financial Progress Status of DDUGJY : New Project </a:t>
            </a:r>
          </a:p>
        </p:txBody>
      </p:sp>
      <p:sp>
        <p:nvSpPr>
          <p:cNvPr id="20" name="TextBox 19">
            <a:extLst>
              <a:ext uri="{FF2B5EF4-FFF2-40B4-BE49-F238E27FC236}">
                <a16:creationId xmlns:a16="http://schemas.microsoft.com/office/drawing/2014/main" id="{B5649F8E-F122-4FAE-814F-DF7010DD21DF}"/>
              </a:ext>
            </a:extLst>
          </p:cNvPr>
          <p:cNvSpPr txBox="1"/>
          <p:nvPr/>
        </p:nvSpPr>
        <p:spPr>
          <a:xfrm>
            <a:off x="10223528" y="5663957"/>
            <a:ext cx="1164771" cy="184666"/>
          </a:xfrm>
          <a:prstGeom prst="rect">
            <a:avLst/>
          </a:prstGeom>
          <a:noFill/>
        </p:spPr>
        <p:txBody>
          <a:bodyPr wrap="square" lIns="0" tIns="0" rIns="0" bIns="0" rtlCol="0">
            <a:spAutoFit/>
          </a:bodyPr>
          <a:lstStyle/>
          <a:p>
            <a:pPr algn="ctr">
              <a:spcBef>
                <a:spcPts val="600"/>
              </a:spcBef>
              <a:buSzPct val="100000"/>
            </a:pPr>
            <a:r>
              <a:rPr lang="en-US" sz="1200" b="1" dirty="0">
                <a:solidFill>
                  <a:schemeClr val="bg1"/>
                </a:solidFill>
                <a:latin typeface="Calibri" panose="020F0502020204030204" pitchFamily="34" charset="0"/>
                <a:cs typeface="Calibri" panose="020F0502020204030204" pitchFamily="34" charset="0"/>
              </a:rPr>
              <a:t>GOA ( Grant)</a:t>
            </a:r>
          </a:p>
        </p:txBody>
      </p:sp>
      <p:sp>
        <p:nvSpPr>
          <p:cNvPr id="47" name="TextBox 46">
            <a:extLst>
              <a:ext uri="{FF2B5EF4-FFF2-40B4-BE49-F238E27FC236}">
                <a16:creationId xmlns:a16="http://schemas.microsoft.com/office/drawing/2014/main" id="{61A0BC5C-2F3A-41B7-92FD-DD59085988D6}"/>
              </a:ext>
            </a:extLst>
          </p:cNvPr>
          <p:cNvSpPr txBox="1"/>
          <p:nvPr/>
        </p:nvSpPr>
        <p:spPr>
          <a:xfrm>
            <a:off x="8939014" y="4692765"/>
            <a:ext cx="1284514" cy="184666"/>
          </a:xfrm>
          <a:prstGeom prst="rect">
            <a:avLst/>
          </a:prstGeom>
          <a:noFill/>
        </p:spPr>
        <p:txBody>
          <a:bodyPr wrap="square" lIns="0" tIns="0" rIns="0" bIns="0" rtlCol="0">
            <a:spAutoFit/>
          </a:bodyPr>
          <a:lstStyle/>
          <a:p>
            <a:pPr algn="ctr">
              <a:spcBef>
                <a:spcPts val="600"/>
              </a:spcBef>
              <a:buSzPct val="100000"/>
            </a:pPr>
            <a:r>
              <a:rPr lang="en-US" sz="1200" b="1" dirty="0">
                <a:solidFill>
                  <a:schemeClr val="bg1"/>
                </a:solidFill>
                <a:latin typeface="Calibri" panose="020F0502020204030204" pitchFamily="34" charset="0"/>
                <a:cs typeface="Calibri" panose="020F0502020204030204" pitchFamily="34" charset="0"/>
              </a:rPr>
              <a:t>GOWB ( Grant)</a:t>
            </a:r>
          </a:p>
        </p:txBody>
      </p:sp>
      <p:sp>
        <p:nvSpPr>
          <p:cNvPr id="12" name="TextBox 11">
            <a:extLst>
              <a:ext uri="{FF2B5EF4-FFF2-40B4-BE49-F238E27FC236}">
                <a16:creationId xmlns:a16="http://schemas.microsoft.com/office/drawing/2014/main" id="{03BE1681-132F-4BD3-8E3E-31A39F56CA21}"/>
              </a:ext>
            </a:extLst>
          </p:cNvPr>
          <p:cNvSpPr txBox="1"/>
          <p:nvPr/>
        </p:nvSpPr>
        <p:spPr>
          <a:xfrm>
            <a:off x="2264229" y="874800"/>
            <a:ext cx="1317171" cy="276999"/>
          </a:xfrm>
          <a:prstGeom prst="rect">
            <a:avLst/>
          </a:prstGeom>
          <a:solidFill>
            <a:schemeClr val="bg1"/>
          </a:solidFill>
        </p:spPr>
        <p:txBody>
          <a:bodyPr wrap="square" lIns="0" tIns="0" rIns="0" bIns="0" rtlCol="0">
            <a:spAutoFit/>
          </a:bodyPr>
          <a:lstStyle/>
          <a:p>
            <a:pPr>
              <a:spcBef>
                <a:spcPts val="600"/>
              </a:spcBef>
              <a:buSzPct val="100000"/>
            </a:pPr>
            <a:endParaRPr lang="en-US" dirty="0">
              <a:solidFill>
                <a:srgbClr val="313131"/>
              </a:solidFill>
            </a:endParaRPr>
          </a:p>
        </p:txBody>
      </p:sp>
      <p:cxnSp>
        <p:nvCxnSpPr>
          <p:cNvPr id="16" name="Straight Connector 15">
            <a:extLst>
              <a:ext uri="{FF2B5EF4-FFF2-40B4-BE49-F238E27FC236}">
                <a16:creationId xmlns:a16="http://schemas.microsoft.com/office/drawing/2014/main" id="{265DF08B-2346-4581-B135-9A79F8498D09}"/>
              </a:ext>
            </a:extLst>
          </p:cNvPr>
          <p:cNvCxnSpPr>
            <a:cxnSpLocks/>
          </p:cNvCxnSpPr>
          <p:nvPr/>
        </p:nvCxnSpPr>
        <p:spPr>
          <a:xfrm flipV="1">
            <a:off x="307701" y="778276"/>
            <a:ext cx="5594350" cy="734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49E1CD2-82C6-4183-8990-FBA024D9EA05}"/>
              </a:ext>
            </a:extLst>
          </p:cNvPr>
          <p:cNvSpPr txBox="1"/>
          <p:nvPr/>
        </p:nvSpPr>
        <p:spPr>
          <a:xfrm>
            <a:off x="937770" y="677902"/>
            <a:ext cx="4264909" cy="215444"/>
          </a:xfrm>
          <a:prstGeom prst="rect">
            <a:avLst/>
          </a:prstGeom>
          <a:solidFill>
            <a:schemeClr val="bg1"/>
          </a:solidFill>
        </p:spPr>
        <p:txBody>
          <a:bodyPr wrap="square" lIns="0" tIns="0" rIns="0" bIns="0" rtlCol="0">
            <a:spAutoFit/>
          </a:bodyPr>
          <a:lstStyle/>
          <a:p>
            <a:pPr algn="ctr">
              <a:spcBef>
                <a:spcPts val="600"/>
              </a:spcBef>
              <a:buSzPct val="100000"/>
            </a:pPr>
            <a:r>
              <a:rPr lang="en-US" sz="1400" b="1" dirty="0">
                <a:latin typeface="Calibri" panose="020F0502020204030204" pitchFamily="34" charset="0"/>
                <a:cs typeface="Calibri" panose="020F0502020204030204" pitchFamily="34" charset="0"/>
              </a:rPr>
              <a:t>Status of progress of expenditure against funds released </a:t>
            </a:r>
          </a:p>
        </p:txBody>
      </p:sp>
      <p:sp>
        <p:nvSpPr>
          <p:cNvPr id="2" name="TextBox 1">
            <a:extLst>
              <a:ext uri="{FF2B5EF4-FFF2-40B4-BE49-F238E27FC236}">
                <a16:creationId xmlns:a16="http://schemas.microsoft.com/office/drawing/2014/main" id="{A3B3B00C-2655-4743-B26E-F198C305A60B}"/>
              </a:ext>
            </a:extLst>
          </p:cNvPr>
          <p:cNvSpPr txBox="1"/>
          <p:nvPr/>
        </p:nvSpPr>
        <p:spPr>
          <a:xfrm>
            <a:off x="9160372" y="3414563"/>
            <a:ext cx="2949436" cy="184666"/>
          </a:xfrm>
          <a:prstGeom prst="rect">
            <a:avLst/>
          </a:prstGeom>
          <a:noFill/>
        </p:spPr>
        <p:txBody>
          <a:bodyPr wrap="square" lIns="0" tIns="0" rIns="0" bIns="0" rtlCol="0">
            <a:spAutoFit/>
          </a:bodyPr>
          <a:lstStyle/>
          <a:p>
            <a:pPr>
              <a:spcBef>
                <a:spcPts val="600"/>
              </a:spcBef>
              <a:buSzPct val="100000"/>
            </a:pPr>
            <a:r>
              <a:rPr lang="en-US" sz="1200" b="1" dirty="0">
                <a:solidFill>
                  <a:srgbClr val="313131"/>
                </a:solidFill>
                <a:latin typeface="Calibri" panose="020F0502020204030204" pitchFamily="34" charset="0"/>
                <a:cs typeface="Calibri" panose="020F0502020204030204" pitchFamily="34" charset="0"/>
              </a:rPr>
              <a:t>Source </a:t>
            </a:r>
            <a:r>
              <a:rPr lang="en-US" sz="1200" dirty="0">
                <a:solidFill>
                  <a:srgbClr val="313131"/>
                </a:solidFill>
                <a:latin typeface="Calibri" panose="020F0502020204030204" pitchFamily="34" charset="0"/>
                <a:cs typeface="Calibri" panose="020F0502020204030204" pitchFamily="34" charset="0"/>
              </a:rPr>
              <a:t>: Internal (Department of Power)</a:t>
            </a:r>
          </a:p>
        </p:txBody>
      </p:sp>
      <p:graphicFrame>
        <p:nvGraphicFramePr>
          <p:cNvPr id="13" name="Chart 12">
            <a:extLst>
              <a:ext uri="{FF2B5EF4-FFF2-40B4-BE49-F238E27FC236}">
                <a16:creationId xmlns:a16="http://schemas.microsoft.com/office/drawing/2014/main" id="{BCEF3DDB-5C66-4815-B2F1-4B3C6ADD8540}"/>
              </a:ext>
            </a:extLst>
          </p:cNvPr>
          <p:cNvGraphicFramePr/>
          <p:nvPr>
            <p:extLst>
              <p:ext uri="{D42A27DB-BD31-4B8C-83A1-F6EECF244321}">
                <p14:modId xmlns:p14="http://schemas.microsoft.com/office/powerpoint/2010/main" val="389640945"/>
              </p:ext>
            </p:extLst>
          </p:nvPr>
        </p:nvGraphicFramePr>
        <p:xfrm>
          <a:off x="6667928" y="991543"/>
          <a:ext cx="4720371" cy="2347384"/>
        </p:xfrm>
        <a:graphic>
          <a:graphicData uri="http://schemas.openxmlformats.org/drawingml/2006/chart">
            <c:chart xmlns:c="http://schemas.openxmlformats.org/drawingml/2006/chart" xmlns:r="http://schemas.openxmlformats.org/officeDocument/2006/relationships" r:id="rId2"/>
          </a:graphicData>
        </a:graphic>
      </p:graphicFrame>
      <p:cxnSp>
        <p:nvCxnSpPr>
          <p:cNvPr id="15" name="Straight Connector 14">
            <a:extLst>
              <a:ext uri="{FF2B5EF4-FFF2-40B4-BE49-F238E27FC236}">
                <a16:creationId xmlns:a16="http://schemas.microsoft.com/office/drawing/2014/main" id="{369B9357-87DC-4DA3-99CA-BD28A0ADD9A3}"/>
              </a:ext>
            </a:extLst>
          </p:cNvPr>
          <p:cNvCxnSpPr>
            <a:cxnSpLocks/>
          </p:cNvCxnSpPr>
          <p:nvPr/>
        </p:nvCxnSpPr>
        <p:spPr>
          <a:xfrm>
            <a:off x="6760721" y="774750"/>
            <a:ext cx="499939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4034081-A191-48F0-BC40-83E1634F1ED9}"/>
              </a:ext>
            </a:extLst>
          </p:cNvPr>
          <p:cNvSpPr txBox="1"/>
          <p:nvPr/>
        </p:nvSpPr>
        <p:spPr>
          <a:xfrm>
            <a:off x="7512851" y="654148"/>
            <a:ext cx="3522361" cy="215444"/>
          </a:xfrm>
          <a:prstGeom prst="rect">
            <a:avLst/>
          </a:prstGeom>
          <a:solidFill>
            <a:schemeClr val="bg1"/>
          </a:solidFill>
        </p:spPr>
        <p:txBody>
          <a:bodyPr wrap="square" lIns="0" tIns="0" rIns="0" bIns="0" rtlCol="0">
            <a:spAutoFit/>
          </a:bodyPr>
          <a:lstStyle/>
          <a:p>
            <a:pPr algn="ctr"/>
            <a:r>
              <a:rPr lang="en-US" sz="1400" b="1" dirty="0">
                <a:latin typeface="Calibri" panose="020F0502020204030204" pitchFamily="34" charset="0"/>
                <a:cs typeface="Calibri" panose="020F0502020204030204" pitchFamily="34" charset="0"/>
              </a:rPr>
              <a:t>Sanction vs Release- As on  30.04.2022</a:t>
            </a:r>
          </a:p>
        </p:txBody>
      </p:sp>
      <p:sp>
        <p:nvSpPr>
          <p:cNvPr id="19" name="TextBox 18">
            <a:extLst>
              <a:ext uri="{FF2B5EF4-FFF2-40B4-BE49-F238E27FC236}">
                <a16:creationId xmlns:a16="http://schemas.microsoft.com/office/drawing/2014/main" id="{CEA7E97C-C34C-4C14-95DD-C681621264F9}"/>
              </a:ext>
            </a:extLst>
          </p:cNvPr>
          <p:cNvSpPr txBox="1"/>
          <p:nvPr/>
        </p:nvSpPr>
        <p:spPr>
          <a:xfrm rot="796859">
            <a:off x="9522142" y="1575782"/>
            <a:ext cx="967345" cy="369332"/>
          </a:xfrm>
          <a:prstGeom prst="rect">
            <a:avLst/>
          </a:prstGeom>
          <a:solidFill>
            <a:schemeClr val="bg1"/>
          </a:solidFill>
          <a:effectLst>
            <a:outerShdw blurRad="50800" dist="50800" dir="13320000" sx="1000" sy="1000" algn="ctr" rotWithShape="0">
              <a:srgbClr val="000000">
                <a:alpha val="87000"/>
              </a:srgbClr>
            </a:outerShdw>
          </a:effectLst>
        </p:spPr>
        <p:txBody>
          <a:bodyPr wrap="square" lIns="0" tIns="0" rIns="0" bIns="0" rtlCol="0">
            <a:spAutoFit/>
          </a:bodyPr>
          <a:lstStyle/>
          <a:p>
            <a:pPr algn="ctr">
              <a:spcBef>
                <a:spcPts val="600"/>
              </a:spcBef>
              <a:buSzPct val="100000"/>
            </a:pPr>
            <a:r>
              <a:rPr lang="en-US" sz="1200" b="1" dirty="0">
                <a:latin typeface="Calibri" panose="020F0502020204030204" pitchFamily="34" charset="0"/>
                <a:cs typeface="Calibri" panose="020F0502020204030204" pitchFamily="34" charset="0"/>
              </a:rPr>
              <a:t>93.2% amount released</a:t>
            </a:r>
          </a:p>
        </p:txBody>
      </p:sp>
      <p:sp>
        <p:nvSpPr>
          <p:cNvPr id="24" name="TextBox 23">
            <a:extLst>
              <a:ext uri="{FF2B5EF4-FFF2-40B4-BE49-F238E27FC236}">
                <a16:creationId xmlns:a16="http://schemas.microsoft.com/office/drawing/2014/main" id="{F8FD1797-FD64-45F5-A1FB-1A3E78675232}"/>
              </a:ext>
            </a:extLst>
          </p:cNvPr>
          <p:cNvSpPr txBox="1"/>
          <p:nvPr/>
        </p:nvSpPr>
        <p:spPr>
          <a:xfrm>
            <a:off x="488936" y="4539011"/>
            <a:ext cx="11344765" cy="1077218"/>
          </a:xfrm>
          <a:prstGeom prst="rect">
            <a:avLst/>
          </a:prstGeom>
          <a:solidFill>
            <a:schemeClr val="bg1">
              <a:lumMod val="95000"/>
            </a:schemeClr>
          </a:solidFill>
        </p:spPr>
        <p:txBody>
          <a:bodyPr wrap="square" lIns="0" tIns="0" rIns="0" bIns="0" rtlCol="0">
            <a:spAutoFit/>
          </a:bodyPr>
          <a:lstStyle/>
          <a:p>
            <a:pPr marL="285750" indent="-285750" algn="just">
              <a:spcBef>
                <a:spcPts val="600"/>
              </a:spcBef>
              <a:buSzPct val="100000"/>
              <a:buFont typeface="Arial" panose="020B0604020202020204" pitchFamily="34" charset="0"/>
              <a:buChar char="•"/>
            </a:pPr>
            <a:r>
              <a:rPr lang="en-US" sz="1200" i="1" dirty="0"/>
              <a:t>The work considered for Darjeeling district had been undertaken under Departmental mode as the tenders invited for turnkey execution was not matured for the district</a:t>
            </a:r>
          </a:p>
          <a:p>
            <a:pPr marL="285750" indent="-285750" algn="just">
              <a:spcBef>
                <a:spcPts val="600"/>
              </a:spcBef>
              <a:buSzPct val="100000"/>
              <a:buFont typeface="Arial" panose="020B0604020202020204" pitchFamily="34" charset="0"/>
              <a:buChar char="•"/>
            </a:pPr>
            <a:endParaRPr lang="en-US" sz="1200" i="1" dirty="0"/>
          </a:p>
          <a:p>
            <a:pPr marL="285750" indent="-285750" algn="just">
              <a:spcBef>
                <a:spcPts val="600"/>
              </a:spcBef>
              <a:buSzPct val="100000"/>
              <a:buFont typeface="Arial" panose="020B0604020202020204" pitchFamily="34" charset="0"/>
              <a:buChar char="•"/>
            </a:pPr>
            <a:r>
              <a:rPr lang="en-US" sz="1200" i="1" dirty="0"/>
              <a:t>The turnkey contract for the execution of work under Bankura, Purulia and Howrah districts were terminated due to non-performance of the turnkey agency; fresh tenders were invited, and the work has been re-awarded</a:t>
            </a:r>
          </a:p>
        </p:txBody>
      </p:sp>
      <p:graphicFrame>
        <p:nvGraphicFramePr>
          <p:cNvPr id="3" name="Table 2">
            <a:extLst>
              <a:ext uri="{FF2B5EF4-FFF2-40B4-BE49-F238E27FC236}">
                <a16:creationId xmlns:a16="http://schemas.microsoft.com/office/drawing/2014/main" id="{43243F5F-B0C3-409A-B2C7-DDB6C7C2721E}"/>
              </a:ext>
            </a:extLst>
          </p:cNvPr>
          <p:cNvGraphicFramePr>
            <a:graphicFrameLocks noGrp="1"/>
          </p:cNvGraphicFramePr>
          <p:nvPr>
            <p:extLst>
              <p:ext uri="{D42A27DB-BD31-4B8C-83A1-F6EECF244321}">
                <p14:modId xmlns:p14="http://schemas.microsoft.com/office/powerpoint/2010/main" val="714587317"/>
              </p:ext>
            </p:extLst>
          </p:nvPr>
        </p:nvGraphicFramePr>
        <p:xfrm>
          <a:off x="295192" y="1304064"/>
          <a:ext cx="5606859" cy="1945739"/>
        </p:xfrm>
        <a:graphic>
          <a:graphicData uri="http://schemas.openxmlformats.org/drawingml/2006/table">
            <a:tbl>
              <a:tblPr firstRow="1" firstCol="1" bandRow="1">
                <a:tableStyleId>{BDBED569-4797-4DF1-A0F4-6AAB3CD982D8}</a:tableStyleId>
              </a:tblPr>
              <a:tblGrid>
                <a:gridCol w="1546620">
                  <a:extLst>
                    <a:ext uri="{9D8B030D-6E8A-4147-A177-3AD203B41FA5}">
                      <a16:colId xmlns:a16="http://schemas.microsoft.com/office/drawing/2014/main" val="3816738961"/>
                    </a:ext>
                  </a:extLst>
                </a:gridCol>
                <a:gridCol w="1256232">
                  <a:extLst>
                    <a:ext uri="{9D8B030D-6E8A-4147-A177-3AD203B41FA5}">
                      <a16:colId xmlns:a16="http://schemas.microsoft.com/office/drawing/2014/main" val="2945282087"/>
                    </a:ext>
                  </a:extLst>
                </a:gridCol>
                <a:gridCol w="1353798">
                  <a:extLst>
                    <a:ext uri="{9D8B030D-6E8A-4147-A177-3AD203B41FA5}">
                      <a16:colId xmlns:a16="http://schemas.microsoft.com/office/drawing/2014/main" val="3978790854"/>
                    </a:ext>
                  </a:extLst>
                </a:gridCol>
                <a:gridCol w="1450209">
                  <a:extLst>
                    <a:ext uri="{9D8B030D-6E8A-4147-A177-3AD203B41FA5}">
                      <a16:colId xmlns:a16="http://schemas.microsoft.com/office/drawing/2014/main" val="662695324"/>
                    </a:ext>
                  </a:extLst>
                </a:gridCol>
              </a:tblGrid>
              <a:tr h="853902">
                <a:tc>
                  <a:txBody>
                    <a:bodyPr/>
                    <a:lstStyle/>
                    <a:p>
                      <a:pPr algn="ctr"/>
                      <a:endParaRPr lang="en-US" sz="12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IN" sz="1200" dirty="0">
                          <a:effectLst/>
                        </a:rPr>
                        <a:t>Sanctioned value (Rs. in crore)</a:t>
                      </a:r>
                      <a:endParaRPr lang="en-US" sz="1000" dirty="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Fund Received up to 30.04.2022</a:t>
                      </a:r>
                      <a:endParaRPr lang="en-US" sz="1000">
                        <a:effectLst/>
                      </a:endParaRPr>
                    </a:p>
                    <a:p>
                      <a:pPr marL="0" marR="0" algn="ctr">
                        <a:spcBef>
                          <a:spcPts val="0"/>
                        </a:spcBef>
                        <a:spcAft>
                          <a:spcPts val="0"/>
                        </a:spcAft>
                      </a:pPr>
                      <a:r>
                        <a:rPr lang="en-IN" sz="1200">
                          <a:effectLst/>
                        </a:rPr>
                        <a:t>(Rs. in crore)</a:t>
                      </a:r>
                      <a:endParaRPr lang="en-US" sz="10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Fund utilised up to 30.04.2022</a:t>
                      </a:r>
                      <a:endParaRPr lang="en-US" sz="1000">
                        <a:effectLst/>
                      </a:endParaRPr>
                    </a:p>
                    <a:p>
                      <a:pPr marL="0" marR="0" algn="ctr">
                        <a:spcBef>
                          <a:spcPts val="0"/>
                        </a:spcBef>
                        <a:spcAft>
                          <a:spcPts val="0"/>
                        </a:spcAft>
                      </a:pPr>
                      <a:r>
                        <a:rPr lang="en-IN" sz="1200">
                          <a:effectLst/>
                        </a:rPr>
                        <a:t>(Rs. in crore)</a:t>
                      </a:r>
                      <a:endParaRPr lang="en-US" sz="100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2032595386"/>
                  </a:ext>
                </a:extLst>
              </a:tr>
              <a:tr h="221629">
                <a:tc>
                  <a:txBody>
                    <a:bodyPr/>
                    <a:lstStyle/>
                    <a:p>
                      <a:pPr marL="0" marR="0" algn="l">
                        <a:spcBef>
                          <a:spcPts val="0"/>
                        </a:spcBef>
                        <a:spcAft>
                          <a:spcPts val="0"/>
                        </a:spcAft>
                      </a:pPr>
                      <a:r>
                        <a:rPr lang="en-IN" sz="1200">
                          <a:effectLst/>
                        </a:rPr>
                        <a:t>GOI</a:t>
                      </a:r>
                      <a:endParaRPr lang="en-US" sz="10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2,565.74</a:t>
                      </a:r>
                      <a:endParaRPr lang="en-US" sz="10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2,393.44</a:t>
                      </a:r>
                      <a:endParaRPr lang="en-US" sz="10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2,240.29</a:t>
                      </a:r>
                      <a:endParaRPr lang="en-US" sz="100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3190542381"/>
                  </a:ext>
                </a:extLst>
              </a:tr>
              <a:tr h="221629">
                <a:tc>
                  <a:txBody>
                    <a:bodyPr/>
                    <a:lstStyle/>
                    <a:p>
                      <a:pPr marL="0" marR="0" algn="l">
                        <a:spcBef>
                          <a:spcPts val="0"/>
                        </a:spcBef>
                        <a:spcAft>
                          <a:spcPts val="0"/>
                        </a:spcAft>
                      </a:pPr>
                      <a:r>
                        <a:rPr lang="en-IN" sz="1200">
                          <a:effectLst/>
                        </a:rPr>
                        <a:t>GoWB</a:t>
                      </a:r>
                      <a:endParaRPr lang="en-US" sz="10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1,067.15</a:t>
                      </a:r>
                      <a:endParaRPr lang="en-US" sz="10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1,054.63</a:t>
                      </a:r>
                      <a:endParaRPr lang="en-US" sz="10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1054.63</a:t>
                      </a:r>
                      <a:endParaRPr lang="en-US" sz="100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2761949012"/>
                  </a:ext>
                </a:extLst>
              </a:tr>
              <a:tr h="426950">
                <a:tc>
                  <a:txBody>
                    <a:bodyPr/>
                    <a:lstStyle/>
                    <a:p>
                      <a:pPr marL="0" marR="0" algn="l">
                        <a:spcBef>
                          <a:spcPts val="0"/>
                        </a:spcBef>
                        <a:spcAft>
                          <a:spcPts val="0"/>
                        </a:spcAft>
                      </a:pPr>
                      <a:r>
                        <a:rPr lang="en-IN" sz="1200" dirty="0">
                          <a:effectLst/>
                        </a:rPr>
                        <a:t>Loan from REC (15%)</a:t>
                      </a:r>
                      <a:endParaRPr lang="en-US" sz="1000" dirty="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671.61</a:t>
                      </a:r>
                      <a:endParaRPr lang="en-US" sz="10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dirty="0">
                          <a:effectLst/>
                        </a:rPr>
                        <a:t>618.64</a:t>
                      </a:r>
                      <a:endParaRPr lang="en-US" sz="1000" dirty="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615.40</a:t>
                      </a:r>
                      <a:endParaRPr lang="en-US" sz="100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1196716750"/>
                  </a:ext>
                </a:extLst>
              </a:tr>
              <a:tr h="221629">
                <a:tc>
                  <a:txBody>
                    <a:bodyPr/>
                    <a:lstStyle/>
                    <a:p>
                      <a:pPr marL="0" marR="0" algn="ctr">
                        <a:spcBef>
                          <a:spcPts val="0"/>
                        </a:spcBef>
                        <a:spcAft>
                          <a:spcPts val="0"/>
                        </a:spcAft>
                      </a:pPr>
                      <a:r>
                        <a:rPr lang="en-IN" sz="1200" b="1" dirty="0">
                          <a:effectLst/>
                        </a:rPr>
                        <a:t>Total</a:t>
                      </a:r>
                      <a:endParaRPr lang="en-US" sz="1000" b="1" dirty="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b="1" dirty="0">
                          <a:effectLst/>
                        </a:rPr>
                        <a:t>4,304.50</a:t>
                      </a:r>
                      <a:endParaRPr lang="en-US" sz="1000" b="1" dirty="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b="1" dirty="0">
                          <a:effectLst/>
                        </a:rPr>
                        <a:t>4,066.71</a:t>
                      </a:r>
                      <a:endParaRPr lang="en-US" sz="1000" b="1" dirty="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b="1" dirty="0">
                          <a:effectLst/>
                        </a:rPr>
                        <a:t>3910.32</a:t>
                      </a:r>
                      <a:endParaRPr lang="en-US" sz="1000" b="1" dirty="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2008117878"/>
                  </a:ext>
                </a:extLst>
              </a:tr>
            </a:tbl>
          </a:graphicData>
        </a:graphic>
      </p:graphicFrame>
      <p:sp>
        <p:nvSpPr>
          <p:cNvPr id="25" name="TextBox 24">
            <a:extLst>
              <a:ext uri="{FF2B5EF4-FFF2-40B4-BE49-F238E27FC236}">
                <a16:creationId xmlns:a16="http://schemas.microsoft.com/office/drawing/2014/main" id="{278988C4-D21B-44FE-AE07-9151AA4AFC69}"/>
              </a:ext>
            </a:extLst>
          </p:cNvPr>
          <p:cNvSpPr txBox="1"/>
          <p:nvPr/>
        </p:nvSpPr>
        <p:spPr>
          <a:xfrm>
            <a:off x="3127724" y="6642229"/>
            <a:ext cx="6560562" cy="169277"/>
          </a:xfrm>
          <a:prstGeom prst="rect">
            <a:avLst/>
          </a:prstGeom>
          <a:noFill/>
        </p:spPr>
        <p:txBody>
          <a:bodyPr wrap="square" lIns="0" tIns="0" rIns="0" bIns="0" rtlCol="0">
            <a:spAutoFit/>
          </a:bodyPr>
          <a:lstStyle/>
          <a:p>
            <a:pPr>
              <a:spcBef>
                <a:spcPts val="600"/>
              </a:spcBef>
              <a:buSzPct val="100000"/>
            </a:pPr>
            <a:r>
              <a:rPr lang="en-US" sz="1100" b="1" dirty="0">
                <a:solidFill>
                  <a:srgbClr val="313131"/>
                </a:solidFill>
                <a:latin typeface="+mj-lt"/>
                <a:cs typeface="Calibri" panose="020F0502020204030204" pitchFamily="34" charset="0"/>
              </a:rPr>
              <a:t>Source </a:t>
            </a:r>
            <a:r>
              <a:rPr lang="en-US" sz="1100" dirty="0">
                <a:solidFill>
                  <a:srgbClr val="313131"/>
                </a:solidFill>
                <a:latin typeface="+mj-lt"/>
                <a:cs typeface="Calibri" panose="020F0502020204030204" pitchFamily="34" charset="0"/>
              </a:rPr>
              <a:t>: WBSEDCL RDSS Proposal, June 2022</a:t>
            </a:r>
          </a:p>
        </p:txBody>
      </p:sp>
    </p:spTree>
    <p:extLst>
      <p:ext uri="{BB962C8B-B14F-4D97-AF65-F5344CB8AC3E}">
        <p14:creationId xmlns:p14="http://schemas.microsoft.com/office/powerpoint/2010/main" val="3760009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271760"/>
            <a:ext cx="11188700" cy="368299"/>
          </a:xfrm>
        </p:spPr>
        <p:txBody>
          <a:bodyPr vert="horz"/>
          <a:lstStyle/>
          <a:p>
            <a:pPr algn="just"/>
            <a:r>
              <a:rPr lang="en-US" sz="1800" i="0" dirty="0">
                <a:solidFill>
                  <a:schemeClr val="tx1"/>
                </a:solidFill>
              </a:rPr>
              <a:t>Physical Progress Status of DDUGJY : New Project </a:t>
            </a:r>
          </a:p>
        </p:txBody>
      </p:sp>
      <p:sp>
        <p:nvSpPr>
          <p:cNvPr id="20" name="TextBox 19">
            <a:extLst>
              <a:ext uri="{FF2B5EF4-FFF2-40B4-BE49-F238E27FC236}">
                <a16:creationId xmlns:a16="http://schemas.microsoft.com/office/drawing/2014/main" id="{B5649F8E-F122-4FAE-814F-DF7010DD21DF}"/>
              </a:ext>
            </a:extLst>
          </p:cNvPr>
          <p:cNvSpPr txBox="1"/>
          <p:nvPr/>
        </p:nvSpPr>
        <p:spPr>
          <a:xfrm>
            <a:off x="10223528" y="5767448"/>
            <a:ext cx="1164771" cy="169277"/>
          </a:xfrm>
          <a:prstGeom prst="rect">
            <a:avLst/>
          </a:prstGeom>
          <a:noFill/>
        </p:spPr>
        <p:txBody>
          <a:bodyPr wrap="square" lIns="0" tIns="0" rIns="0" bIns="0" rtlCol="0">
            <a:spAutoFit/>
          </a:bodyPr>
          <a:lstStyle/>
          <a:p>
            <a:pPr algn="ctr">
              <a:spcBef>
                <a:spcPts val="600"/>
              </a:spcBef>
              <a:buSzPct val="100000"/>
            </a:pPr>
            <a:r>
              <a:rPr lang="en-US" sz="1100" b="1" dirty="0">
                <a:solidFill>
                  <a:schemeClr val="bg1"/>
                </a:solidFill>
                <a:latin typeface="+mj-lt"/>
                <a:cs typeface="Calibri" panose="020F0502020204030204" pitchFamily="34" charset="0"/>
              </a:rPr>
              <a:t>GOA ( Grant)</a:t>
            </a:r>
          </a:p>
        </p:txBody>
      </p:sp>
      <p:sp>
        <p:nvSpPr>
          <p:cNvPr id="47" name="TextBox 46">
            <a:extLst>
              <a:ext uri="{FF2B5EF4-FFF2-40B4-BE49-F238E27FC236}">
                <a16:creationId xmlns:a16="http://schemas.microsoft.com/office/drawing/2014/main" id="{61A0BC5C-2F3A-41B7-92FD-DD59085988D6}"/>
              </a:ext>
            </a:extLst>
          </p:cNvPr>
          <p:cNvSpPr txBox="1"/>
          <p:nvPr/>
        </p:nvSpPr>
        <p:spPr>
          <a:xfrm>
            <a:off x="8939014" y="4796256"/>
            <a:ext cx="1284514" cy="169277"/>
          </a:xfrm>
          <a:prstGeom prst="rect">
            <a:avLst/>
          </a:prstGeom>
          <a:noFill/>
        </p:spPr>
        <p:txBody>
          <a:bodyPr wrap="square" lIns="0" tIns="0" rIns="0" bIns="0" rtlCol="0">
            <a:spAutoFit/>
          </a:bodyPr>
          <a:lstStyle/>
          <a:p>
            <a:pPr algn="ctr">
              <a:spcBef>
                <a:spcPts val="600"/>
              </a:spcBef>
              <a:buSzPct val="100000"/>
            </a:pPr>
            <a:r>
              <a:rPr lang="en-US" sz="1100" b="1" dirty="0">
                <a:solidFill>
                  <a:schemeClr val="bg1"/>
                </a:solidFill>
                <a:latin typeface="+mj-lt"/>
                <a:cs typeface="Calibri" panose="020F0502020204030204" pitchFamily="34" charset="0"/>
              </a:rPr>
              <a:t>GOWB ( Grant)</a:t>
            </a:r>
          </a:p>
        </p:txBody>
      </p:sp>
      <p:sp>
        <p:nvSpPr>
          <p:cNvPr id="12" name="TextBox 11">
            <a:extLst>
              <a:ext uri="{FF2B5EF4-FFF2-40B4-BE49-F238E27FC236}">
                <a16:creationId xmlns:a16="http://schemas.microsoft.com/office/drawing/2014/main" id="{03BE1681-132F-4BD3-8E3E-31A39F56CA21}"/>
              </a:ext>
            </a:extLst>
          </p:cNvPr>
          <p:cNvSpPr txBox="1"/>
          <p:nvPr/>
        </p:nvSpPr>
        <p:spPr>
          <a:xfrm>
            <a:off x="2264229" y="978291"/>
            <a:ext cx="1317171" cy="246221"/>
          </a:xfrm>
          <a:prstGeom prst="rect">
            <a:avLst/>
          </a:prstGeom>
          <a:solidFill>
            <a:schemeClr val="bg1"/>
          </a:solidFill>
        </p:spPr>
        <p:txBody>
          <a:bodyPr wrap="square" lIns="0" tIns="0" rIns="0" bIns="0" rtlCol="0">
            <a:spAutoFit/>
          </a:bodyPr>
          <a:lstStyle/>
          <a:p>
            <a:pPr>
              <a:spcBef>
                <a:spcPts val="600"/>
              </a:spcBef>
              <a:buSzPct val="100000"/>
            </a:pPr>
            <a:endParaRPr lang="en-US" sz="1600" dirty="0">
              <a:solidFill>
                <a:srgbClr val="313131"/>
              </a:solidFill>
              <a:latin typeface="+mj-lt"/>
            </a:endParaRPr>
          </a:p>
        </p:txBody>
      </p:sp>
      <p:cxnSp>
        <p:nvCxnSpPr>
          <p:cNvPr id="27" name="Straight Connector 26">
            <a:extLst>
              <a:ext uri="{FF2B5EF4-FFF2-40B4-BE49-F238E27FC236}">
                <a16:creationId xmlns:a16="http://schemas.microsoft.com/office/drawing/2014/main" id="{D85B757C-B8B0-475D-9712-F2F209E9E862}"/>
              </a:ext>
            </a:extLst>
          </p:cNvPr>
          <p:cNvCxnSpPr>
            <a:cxnSpLocks/>
          </p:cNvCxnSpPr>
          <p:nvPr/>
        </p:nvCxnSpPr>
        <p:spPr>
          <a:xfrm flipV="1">
            <a:off x="6287784" y="851666"/>
            <a:ext cx="5389852" cy="1591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2B77C212-E8A8-44D8-B014-2E9A8379CE3B}"/>
              </a:ext>
            </a:extLst>
          </p:cNvPr>
          <p:cNvSpPr txBox="1"/>
          <p:nvPr/>
        </p:nvSpPr>
        <p:spPr>
          <a:xfrm>
            <a:off x="7529377" y="784291"/>
            <a:ext cx="3160426" cy="184666"/>
          </a:xfrm>
          <a:prstGeom prst="rect">
            <a:avLst/>
          </a:prstGeom>
          <a:solidFill>
            <a:schemeClr val="bg1"/>
          </a:solidFill>
        </p:spPr>
        <p:txBody>
          <a:bodyPr wrap="square" lIns="0" tIns="0" rIns="0" bIns="0" rtlCol="0">
            <a:spAutoFit/>
          </a:bodyPr>
          <a:lstStyle/>
          <a:p>
            <a:pPr algn="ctr"/>
            <a:r>
              <a:rPr lang="en-US" sz="1200" b="1" dirty="0">
                <a:latin typeface="+mj-lt"/>
                <a:cs typeface="Calibri" panose="020F0502020204030204" pitchFamily="34" charset="0"/>
              </a:rPr>
              <a:t>Physical Progress as on 31.12.2021</a:t>
            </a:r>
          </a:p>
        </p:txBody>
      </p:sp>
      <p:sp>
        <p:nvSpPr>
          <p:cNvPr id="2" name="TextBox 1">
            <a:extLst>
              <a:ext uri="{FF2B5EF4-FFF2-40B4-BE49-F238E27FC236}">
                <a16:creationId xmlns:a16="http://schemas.microsoft.com/office/drawing/2014/main" id="{A3B3B00C-2655-4743-B26E-F198C305A60B}"/>
              </a:ext>
            </a:extLst>
          </p:cNvPr>
          <p:cNvSpPr txBox="1"/>
          <p:nvPr/>
        </p:nvSpPr>
        <p:spPr>
          <a:xfrm>
            <a:off x="3127724" y="6598685"/>
            <a:ext cx="6560562" cy="169277"/>
          </a:xfrm>
          <a:prstGeom prst="rect">
            <a:avLst/>
          </a:prstGeom>
          <a:noFill/>
        </p:spPr>
        <p:txBody>
          <a:bodyPr wrap="square" lIns="0" tIns="0" rIns="0" bIns="0" rtlCol="0">
            <a:spAutoFit/>
          </a:bodyPr>
          <a:lstStyle/>
          <a:p>
            <a:pPr>
              <a:spcBef>
                <a:spcPts val="600"/>
              </a:spcBef>
              <a:buSzPct val="100000"/>
            </a:pPr>
            <a:r>
              <a:rPr lang="en-US" sz="1100" b="1" dirty="0">
                <a:solidFill>
                  <a:srgbClr val="313131"/>
                </a:solidFill>
                <a:latin typeface="+mj-lt"/>
                <a:cs typeface="Calibri" panose="020F0502020204030204" pitchFamily="34" charset="0"/>
              </a:rPr>
              <a:t>Source </a:t>
            </a:r>
            <a:r>
              <a:rPr lang="en-US" sz="1100" dirty="0">
                <a:solidFill>
                  <a:srgbClr val="313131"/>
                </a:solidFill>
                <a:latin typeface="+mj-lt"/>
                <a:cs typeface="Calibri" panose="020F0502020204030204" pitchFamily="34" charset="0"/>
              </a:rPr>
              <a:t>: 1) Internal (Department of Power) 2) WBSEDCL RDSS Proposal, June 2022</a:t>
            </a:r>
          </a:p>
        </p:txBody>
      </p:sp>
      <p:graphicFrame>
        <p:nvGraphicFramePr>
          <p:cNvPr id="15" name="Chart 14">
            <a:extLst>
              <a:ext uri="{FF2B5EF4-FFF2-40B4-BE49-F238E27FC236}">
                <a16:creationId xmlns:a16="http://schemas.microsoft.com/office/drawing/2014/main" id="{1D4C3288-8CE2-4C17-8A28-FF2BB4072B85}"/>
              </a:ext>
            </a:extLst>
          </p:cNvPr>
          <p:cNvGraphicFramePr/>
          <p:nvPr>
            <p:extLst>
              <p:ext uri="{D42A27DB-BD31-4B8C-83A1-F6EECF244321}">
                <p14:modId xmlns:p14="http://schemas.microsoft.com/office/powerpoint/2010/main" val="766953992"/>
              </p:ext>
            </p:extLst>
          </p:nvPr>
        </p:nvGraphicFramePr>
        <p:xfrm>
          <a:off x="308225" y="978292"/>
          <a:ext cx="5446145" cy="2885542"/>
        </p:xfrm>
        <a:graphic>
          <a:graphicData uri="http://schemas.openxmlformats.org/drawingml/2006/chart">
            <c:chart xmlns:c="http://schemas.openxmlformats.org/drawingml/2006/chart" xmlns:r="http://schemas.openxmlformats.org/officeDocument/2006/relationships" r:id="rId2"/>
          </a:graphicData>
        </a:graphic>
      </p:graphicFrame>
      <p:sp>
        <p:nvSpPr>
          <p:cNvPr id="18" name="TextBox 17">
            <a:extLst>
              <a:ext uri="{FF2B5EF4-FFF2-40B4-BE49-F238E27FC236}">
                <a16:creationId xmlns:a16="http://schemas.microsoft.com/office/drawing/2014/main" id="{0A4C64BE-4804-423E-90D6-0B2427F299C8}"/>
              </a:ext>
            </a:extLst>
          </p:cNvPr>
          <p:cNvSpPr txBox="1"/>
          <p:nvPr/>
        </p:nvSpPr>
        <p:spPr>
          <a:xfrm>
            <a:off x="488936" y="3923304"/>
            <a:ext cx="5446145" cy="2163285"/>
          </a:xfrm>
          <a:prstGeom prst="rect">
            <a:avLst/>
          </a:prstGeom>
          <a:solidFill>
            <a:srgbClr val="D0D0CE">
              <a:alpha val="32000"/>
            </a:srgbClr>
          </a:solidFill>
        </p:spPr>
        <p:txBody>
          <a:bodyPr wrap="square" lIns="91440" tIns="91440" rIns="91440" bIns="91440" rtlCol="0">
            <a:spAutoFit/>
          </a:bodyPr>
          <a:lstStyle/>
          <a:p>
            <a:pPr marL="285750" indent="-285750" algn="just">
              <a:lnSpc>
                <a:spcPct val="150000"/>
              </a:lnSpc>
              <a:spcBef>
                <a:spcPts val="600"/>
              </a:spcBef>
              <a:buSzPct val="100000"/>
              <a:buFont typeface="Wingdings" panose="05000000000000000000" pitchFamily="2" charset="2"/>
              <a:buChar char="v"/>
            </a:pPr>
            <a:r>
              <a:rPr lang="en-US" sz="1200" b="1" i="1" dirty="0">
                <a:solidFill>
                  <a:srgbClr val="313131"/>
                </a:solidFill>
                <a:latin typeface="+mj-lt"/>
                <a:cs typeface="Calibri" panose="020F0502020204030204" pitchFamily="34" charset="0"/>
              </a:rPr>
              <a:t>Total sanctioned projects</a:t>
            </a:r>
            <a:r>
              <a:rPr lang="en-US" sz="1200" i="1" dirty="0">
                <a:solidFill>
                  <a:srgbClr val="313131"/>
                </a:solidFill>
                <a:latin typeface="+mj-lt"/>
                <a:cs typeface="Calibri" panose="020F0502020204030204" pitchFamily="34" charset="0"/>
              </a:rPr>
              <a:t> under DDUGJY Scheme is 56 Nos (Out of Total 56 Projects – 36 Nos projects are under rural electrification, 19 Nos of projects under new projects and 1 projects for Saubhagya. </a:t>
            </a:r>
          </a:p>
          <a:p>
            <a:pPr marL="285750" indent="-285750" algn="just">
              <a:lnSpc>
                <a:spcPct val="150000"/>
              </a:lnSpc>
              <a:spcBef>
                <a:spcPts val="600"/>
              </a:spcBef>
              <a:buSzPct val="100000"/>
              <a:buFont typeface="Wingdings" panose="05000000000000000000" pitchFamily="2" charset="2"/>
              <a:buChar char="v"/>
            </a:pPr>
            <a:r>
              <a:rPr lang="en-US" sz="1200" i="1" dirty="0">
                <a:solidFill>
                  <a:srgbClr val="313131"/>
                </a:solidFill>
                <a:latin typeface="+mj-lt"/>
                <a:cs typeface="Calibri" panose="020F0502020204030204" pitchFamily="34" charset="0"/>
              </a:rPr>
              <a:t>Out of total 56 Nos of projects, </a:t>
            </a:r>
            <a:r>
              <a:rPr lang="en-US" sz="1200" b="1" i="1" dirty="0">
                <a:solidFill>
                  <a:srgbClr val="313131"/>
                </a:solidFill>
                <a:latin typeface="+mj-lt"/>
                <a:cs typeface="Calibri" panose="020F0502020204030204" pitchFamily="34" charset="0"/>
              </a:rPr>
              <a:t>37 projects has been completed </a:t>
            </a:r>
            <a:r>
              <a:rPr lang="en-US" sz="1200" i="1" dirty="0">
                <a:solidFill>
                  <a:srgbClr val="313131"/>
                </a:solidFill>
                <a:latin typeface="+mj-lt"/>
                <a:cs typeface="Calibri" panose="020F0502020204030204" pitchFamily="34" charset="0"/>
              </a:rPr>
              <a:t>and </a:t>
            </a:r>
            <a:r>
              <a:rPr lang="en-US" sz="1200" b="1" i="1" dirty="0">
                <a:solidFill>
                  <a:srgbClr val="313131"/>
                </a:solidFill>
                <a:latin typeface="+mj-lt"/>
                <a:cs typeface="Calibri" panose="020F0502020204030204" pitchFamily="34" charset="0"/>
              </a:rPr>
              <a:t>19 projects under new projects category is work under progress</a:t>
            </a:r>
            <a:r>
              <a:rPr lang="en-US" sz="1200" i="1" dirty="0">
                <a:solidFill>
                  <a:srgbClr val="313131"/>
                </a:solidFill>
                <a:latin typeface="+mj-lt"/>
                <a:cs typeface="Calibri" panose="020F0502020204030204" pitchFamily="34" charset="0"/>
              </a:rPr>
              <a:t>. </a:t>
            </a:r>
          </a:p>
        </p:txBody>
      </p:sp>
      <p:graphicFrame>
        <p:nvGraphicFramePr>
          <p:cNvPr id="21" name="Chart 20">
            <a:extLst>
              <a:ext uri="{FF2B5EF4-FFF2-40B4-BE49-F238E27FC236}">
                <a16:creationId xmlns:a16="http://schemas.microsoft.com/office/drawing/2014/main" id="{D356085C-D3C5-4440-B145-70AD5E129C96}"/>
              </a:ext>
            </a:extLst>
          </p:cNvPr>
          <p:cNvGraphicFramePr/>
          <p:nvPr>
            <p:extLst>
              <p:ext uri="{D42A27DB-BD31-4B8C-83A1-F6EECF244321}">
                <p14:modId xmlns:p14="http://schemas.microsoft.com/office/powerpoint/2010/main" val="3036388973"/>
              </p:ext>
            </p:extLst>
          </p:nvPr>
        </p:nvGraphicFramePr>
        <p:xfrm>
          <a:off x="308225" y="977574"/>
          <a:ext cx="5446145" cy="2885542"/>
        </p:xfrm>
        <a:graphic>
          <a:graphicData uri="http://schemas.openxmlformats.org/drawingml/2006/chart">
            <c:chart xmlns:c="http://schemas.openxmlformats.org/drawingml/2006/chart" xmlns:r="http://schemas.openxmlformats.org/officeDocument/2006/relationships" r:id="rId3"/>
          </a:graphicData>
        </a:graphic>
      </p:graphicFrame>
      <p:cxnSp>
        <p:nvCxnSpPr>
          <p:cNvPr id="23" name="Straight Connector 22">
            <a:extLst>
              <a:ext uri="{FF2B5EF4-FFF2-40B4-BE49-F238E27FC236}">
                <a16:creationId xmlns:a16="http://schemas.microsoft.com/office/drawing/2014/main" id="{76709A4E-3F8A-427B-B775-A87D00B8226E}"/>
              </a:ext>
            </a:extLst>
          </p:cNvPr>
          <p:cNvCxnSpPr>
            <a:cxnSpLocks/>
          </p:cNvCxnSpPr>
          <p:nvPr/>
        </p:nvCxnSpPr>
        <p:spPr>
          <a:xfrm flipV="1">
            <a:off x="379413" y="860230"/>
            <a:ext cx="5594350" cy="734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DD3EFD6-AB28-4DB3-8E10-C1F2FAACDDFA}"/>
              </a:ext>
            </a:extLst>
          </p:cNvPr>
          <p:cNvSpPr txBox="1"/>
          <p:nvPr/>
        </p:nvSpPr>
        <p:spPr>
          <a:xfrm>
            <a:off x="955497" y="771411"/>
            <a:ext cx="4344454" cy="184666"/>
          </a:xfrm>
          <a:prstGeom prst="rect">
            <a:avLst/>
          </a:prstGeom>
          <a:solidFill>
            <a:schemeClr val="bg1"/>
          </a:solidFill>
        </p:spPr>
        <p:txBody>
          <a:bodyPr wrap="square" lIns="0" tIns="0" rIns="0" bIns="0" rtlCol="0">
            <a:spAutoFit/>
          </a:bodyPr>
          <a:lstStyle/>
          <a:p>
            <a:pPr algn="ctr"/>
            <a:r>
              <a:rPr lang="en-US" sz="1200" b="1" dirty="0">
                <a:latin typeface="+mj-lt"/>
                <a:cs typeface="Calibri" panose="020F0502020204030204" pitchFamily="34" charset="0"/>
              </a:rPr>
              <a:t>Physical Progress Summary as on 08.12.2021</a:t>
            </a:r>
          </a:p>
        </p:txBody>
      </p:sp>
      <p:graphicFrame>
        <p:nvGraphicFramePr>
          <p:cNvPr id="3" name="Table 2">
            <a:extLst>
              <a:ext uri="{FF2B5EF4-FFF2-40B4-BE49-F238E27FC236}">
                <a16:creationId xmlns:a16="http://schemas.microsoft.com/office/drawing/2014/main" id="{8646A0B2-342F-4419-BEB7-B08F56547B03}"/>
              </a:ext>
            </a:extLst>
          </p:cNvPr>
          <p:cNvGraphicFramePr>
            <a:graphicFrameLocks noGrp="1"/>
          </p:cNvGraphicFramePr>
          <p:nvPr>
            <p:extLst>
              <p:ext uri="{D42A27DB-BD31-4B8C-83A1-F6EECF244321}">
                <p14:modId xmlns:p14="http://schemas.microsoft.com/office/powerpoint/2010/main" val="1833595184"/>
              </p:ext>
            </p:extLst>
          </p:nvPr>
        </p:nvGraphicFramePr>
        <p:xfrm>
          <a:off x="6287784" y="1268093"/>
          <a:ext cx="5446146" cy="4600730"/>
        </p:xfrm>
        <a:graphic>
          <a:graphicData uri="http://schemas.openxmlformats.org/drawingml/2006/table">
            <a:tbl>
              <a:tblPr firstRow="1" firstCol="1" bandRow="1">
                <a:tableStyleId>{5C22544A-7EE6-4342-B048-85BDC9FD1C3A}</a:tableStyleId>
              </a:tblPr>
              <a:tblGrid>
                <a:gridCol w="534885">
                  <a:extLst>
                    <a:ext uri="{9D8B030D-6E8A-4147-A177-3AD203B41FA5}">
                      <a16:colId xmlns:a16="http://schemas.microsoft.com/office/drawing/2014/main" val="2929272740"/>
                    </a:ext>
                  </a:extLst>
                </a:gridCol>
                <a:gridCol w="2577127">
                  <a:extLst>
                    <a:ext uri="{9D8B030D-6E8A-4147-A177-3AD203B41FA5}">
                      <a16:colId xmlns:a16="http://schemas.microsoft.com/office/drawing/2014/main" val="3715951744"/>
                    </a:ext>
                  </a:extLst>
                </a:gridCol>
                <a:gridCol w="1167067">
                  <a:extLst>
                    <a:ext uri="{9D8B030D-6E8A-4147-A177-3AD203B41FA5}">
                      <a16:colId xmlns:a16="http://schemas.microsoft.com/office/drawing/2014/main" val="3735619476"/>
                    </a:ext>
                  </a:extLst>
                </a:gridCol>
                <a:gridCol w="1167067">
                  <a:extLst>
                    <a:ext uri="{9D8B030D-6E8A-4147-A177-3AD203B41FA5}">
                      <a16:colId xmlns:a16="http://schemas.microsoft.com/office/drawing/2014/main" val="319682872"/>
                    </a:ext>
                  </a:extLst>
                </a:gridCol>
              </a:tblGrid>
              <a:tr h="557665">
                <a:tc>
                  <a:txBody>
                    <a:bodyPr/>
                    <a:lstStyle/>
                    <a:p>
                      <a:pPr marL="0" marR="0" algn="ctr">
                        <a:spcBef>
                          <a:spcPts val="0"/>
                        </a:spcBef>
                        <a:spcAft>
                          <a:spcPts val="0"/>
                        </a:spcAft>
                      </a:pPr>
                      <a:r>
                        <a:rPr lang="en-IN" sz="1200">
                          <a:effectLst/>
                        </a:rPr>
                        <a:t>Sl. No.</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Milestone  Name</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Unit</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Final executed quantity</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2651716285"/>
                  </a:ext>
                </a:extLst>
              </a:tr>
              <a:tr h="237993">
                <a:tc>
                  <a:txBody>
                    <a:bodyPr/>
                    <a:lstStyle/>
                    <a:p>
                      <a:pPr marL="0" marR="0" algn="ctr">
                        <a:spcBef>
                          <a:spcPts val="0"/>
                        </a:spcBef>
                        <a:spcAft>
                          <a:spcPts val="0"/>
                        </a:spcAft>
                      </a:pPr>
                      <a:r>
                        <a:rPr lang="en-IN" sz="1200">
                          <a:effectLst/>
                        </a:rPr>
                        <a:t>1</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l">
                        <a:spcBef>
                          <a:spcPts val="0"/>
                        </a:spcBef>
                        <a:spcAft>
                          <a:spcPts val="0"/>
                        </a:spcAft>
                      </a:pPr>
                      <a:r>
                        <a:rPr lang="en-IN" sz="1200">
                          <a:effectLst/>
                        </a:rPr>
                        <a:t>33/11 KV New Substations</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Nos.</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80</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220257867"/>
                  </a:ext>
                </a:extLst>
              </a:tr>
              <a:tr h="371776">
                <a:tc>
                  <a:txBody>
                    <a:bodyPr/>
                    <a:lstStyle/>
                    <a:p>
                      <a:pPr marL="0" marR="0" algn="ctr">
                        <a:spcBef>
                          <a:spcPts val="0"/>
                        </a:spcBef>
                        <a:spcAft>
                          <a:spcPts val="0"/>
                        </a:spcAft>
                      </a:pPr>
                      <a:r>
                        <a:rPr lang="en-IN" sz="1200">
                          <a:effectLst/>
                        </a:rPr>
                        <a:t>2</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l">
                        <a:spcBef>
                          <a:spcPts val="0"/>
                        </a:spcBef>
                        <a:spcAft>
                          <a:spcPts val="0"/>
                        </a:spcAft>
                      </a:pPr>
                      <a:r>
                        <a:rPr lang="en-IN" sz="1200">
                          <a:effectLst/>
                        </a:rPr>
                        <a:t>Augmentation of 33/11 KV Substations</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Nos.</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146</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3336010286"/>
                  </a:ext>
                </a:extLst>
              </a:tr>
              <a:tr h="371776">
                <a:tc>
                  <a:txBody>
                    <a:bodyPr/>
                    <a:lstStyle/>
                    <a:p>
                      <a:pPr marL="0" marR="0" algn="ctr">
                        <a:spcBef>
                          <a:spcPts val="0"/>
                        </a:spcBef>
                        <a:spcAft>
                          <a:spcPts val="0"/>
                        </a:spcAft>
                      </a:pPr>
                      <a:r>
                        <a:rPr lang="en-IN" sz="1200">
                          <a:effectLst/>
                        </a:rPr>
                        <a:t>3</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l">
                        <a:spcBef>
                          <a:spcPts val="0"/>
                        </a:spcBef>
                        <a:spcAft>
                          <a:spcPts val="0"/>
                        </a:spcAft>
                      </a:pPr>
                      <a:r>
                        <a:rPr lang="en-IN" sz="1200">
                          <a:effectLst/>
                        </a:rPr>
                        <a:t>New Distribution Transformers (DTR s)</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Nos.</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19,311</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3047649494"/>
                  </a:ext>
                </a:extLst>
              </a:tr>
              <a:tr h="237993">
                <a:tc rowSpan="2">
                  <a:txBody>
                    <a:bodyPr/>
                    <a:lstStyle/>
                    <a:p>
                      <a:pPr marL="0" marR="0" algn="ctr">
                        <a:spcBef>
                          <a:spcPts val="0"/>
                        </a:spcBef>
                        <a:spcAft>
                          <a:spcPts val="0"/>
                        </a:spcAft>
                      </a:pPr>
                      <a:r>
                        <a:rPr lang="en-IN" sz="1200">
                          <a:effectLst/>
                        </a:rPr>
                        <a:t>4</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rowSpan="2">
                  <a:txBody>
                    <a:bodyPr/>
                    <a:lstStyle/>
                    <a:p>
                      <a:pPr marL="0" marR="0" algn="l">
                        <a:spcBef>
                          <a:spcPts val="0"/>
                        </a:spcBef>
                        <a:spcAft>
                          <a:spcPts val="0"/>
                        </a:spcAft>
                      </a:pPr>
                      <a:r>
                        <a:rPr lang="en-IN" sz="1200">
                          <a:effectLst/>
                        </a:rPr>
                        <a:t>Feeder Segregation (Excluding 11 KV Line)</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Nos.</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485</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2003554329"/>
                  </a:ext>
                </a:extLst>
              </a:tr>
              <a:tr h="237993">
                <a:tc vMerge="1">
                  <a:txBody>
                    <a:bodyPr/>
                    <a:lstStyle/>
                    <a:p>
                      <a:endParaRPr lang="en-US"/>
                    </a:p>
                  </a:txBody>
                  <a:tcPr/>
                </a:tc>
                <a:tc vMerge="1">
                  <a:txBody>
                    <a:bodyPr/>
                    <a:lstStyle/>
                    <a:p>
                      <a:endParaRPr lang="en-US"/>
                    </a:p>
                  </a:txBody>
                  <a:tcPr/>
                </a:tc>
                <a:tc>
                  <a:txBody>
                    <a:bodyPr/>
                    <a:lstStyle/>
                    <a:p>
                      <a:pPr marL="0" marR="0" algn="ctr">
                        <a:spcBef>
                          <a:spcPts val="0"/>
                        </a:spcBef>
                        <a:spcAft>
                          <a:spcPts val="0"/>
                        </a:spcAft>
                      </a:pPr>
                      <a:r>
                        <a:rPr lang="en-IN" sz="1200">
                          <a:effectLst/>
                        </a:rPr>
                        <a:t>Ckm</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9424.19</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1902852471"/>
                  </a:ext>
                </a:extLst>
              </a:tr>
              <a:tr h="237993">
                <a:tc>
                  <a:txBody>
                    <a:bodyPr/>
                    <a:lstStyle/>
                    <a:p>
                      <a:pPr marL="0" marR="0" algn="ctr">
                        <a:spcBef>
                          <a:spcPts val="0"/>
                        </a:spcBef>
                        <a:spcAft>
                          <a:spcPts val="0"/>
                        </a:spcAft>
                      </a:pPr>
                      <a:r>
                        <a:rPr lang="en-IN" sz="1200">
                          <a:effectLst/>
                        </a:rPr>
                        <a:t>5</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l">
                        <a:spcBef>
                          <a:spcPts val="0"/>
                        </a:spcBef>
                        <a:spcAft>
                          <a:spcPts val="0"/>
                        </a:spcAft>
                      </a:pPr>
                      <a:r>
                        <a:rPr lang="en-IN" sz="1200">
                          <a:effectLst/>
                        </a:rPr>
                        <a:t>LT Line</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Ckm</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4291.77</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3222635855"/>
                  </a:ext>
                </a:extLst>
              </a:tr>
              <a:tr h="371776">
                <a:tc>
                  <a:txBody>
                    <a:bodyPr/>
                    <a:lstStyle/>
                    <a:p>
                      <a:pPr marL="0" marR="0" algn="ctr">
                        <a:spcBef>
                          <a:spcPts val="0"/>
                        </a:spcBef>
                        <a:spcAft>
                          <a:spcPts val="0"/>
                        </a:spcAft>
                      </a:pPr>
                      <a:r>
                        <a:rPr lang="en-IN" sz="1200">
                          <a:effectLst/>
                        </a:rPr>
                        <a:t>6</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l">
                        <a:spcBef>
                          <a:spcPts val="0"/>
                        </a:spcBef>
                        <a:spcAft>
                          <a:spcPts val="0"/>
                        </a:spcAft>
                      </a:pPr>
                      <a:r>
                        <a:rPr lang="en-IN" sz="1200">
                          <a:effectLst/>
                        </a:rPr>
                        <a:t>11 KV Line (Excluding Feeder Segregation Lines)</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Ckm</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3052.79</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4197511245"/>
                  </a:ext>
                </a:extLst>
              </a:tr>
              <a:tr h="237993">
                <a:tc>
                  <a:txBody>
                    <a:bodyPr/>
                    <a:lstStyle/>
                    <a:p>
                      <a:pPr marL="0" marR="0" algn="ctr">
                        <a:spcBef>
                          <a:spcPts val="0"/>
                        </a:spcBef>
                        <a:spcAft>
                          <a:spcPts val="0"/>
                        </a:spcAft>
                      </a:pPr>
                      <a:r>
                        <a:rPr lang="en-IN" sz="1200">
                          <a:effectLst/>
                        </a:rPr>
                        <a:t>7</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l">
                        <a:spcBef>
                          <a:spcPts val="0"/>
                        </a:spcBef>
                        <a:spcAft>
                          <a:spcPts val="0"/>
                        </a:spcAft>
                      </a:pPr>
                      <a:r>
                        <a:rPr lang="en-IN" sz="1200">
                          <a:effectLst/>
                        </a:rPr>
                        <a:t>33 KV Line</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Ckm</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1534.63</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2063399769"/>
                  </a:ext>
                </a:extLst>
              </a:tr>
              <a:tr h="237993">
                <a:tc>
                  <a:txBody>
                    <a:bodyPr/>
                    <a:lstStyle/>
                    <a:p>
                      <a:pPr marL="0" marR="0" algn="ctr">
                        <a:spcBef>
                          <a:spcPts val="0"/>
                        </a:spcBef>
                        <a:spcAft>
                          <a:spcPts val="0"/>
                        </a:spcAft>
                      </a:pPr>
                      <a:r>
                        <a:rPr lang="en-IN" sz="1200">
                          <a:effectLst/>
                        </a:rPr>
                        <a:t>8</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l">
                        <a:spcBef>
                          <a:spcPts val="0"/>
                        </a:spcBef>
                        <a:spcAft>
                          <a:spcPts val="0"/>
                        </a:spcAft>
                      </a:pPr>
                      <a:r>
                        <a:rPr lang="en-IN" sz="1200">
                          <a:effectLst/>
                        </a:rPr>
                        <a:t>Energy Meter  - Consumer</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Nos.</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25,88,801</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877003705"/>
                  </a:ext>
                </a:extLst>
              </a:tr>
              <a:tr h="237993">
                <a:tc>
                  <a:txBody>
                    <a:bodyPr/>
                    <a:lstStyle/>
                    <a:p>
                      <a:pPr marL="0" marR="0" algn="ctr">
                        <a:spcBef>
                          <a:spcPts val="0"/>
                        </a:spcBef>
                        <a:spcAft>
                          <a:spcPts val="0"/>
                        </a:spcAft>
                      </a:pPr>
                      <a:r>
                        <a:rPr lang="en-IN" sz="1200">
                          <a:effectLst/>
                        </a:rPr>
                        <a:t>9</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l">
                        <a:spcBef>
                          <a:spcPts val="0"/>
                        </a:spcBef>
                        <a:spcAft>
                          <a:spcPts val="0"/>
                        </a:spcAft>
                      </a:pPr>
                      <a:r>
                        <a:rPr lang="en-IN" sz="1200">
                          <a:effectLst/>
                        </a:rPr>
                        <a:t>Energy Meter  - DTR</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Nos.</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28,866</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4092358730"/>
                  </a:ext>
                </a:extLst>
              </a:tr>
              <a:tr h="237993">
                <a:tc>
                  <a:txBody>
                    <a:bodyPr/>
                    <a:lstStyle/>
                    <a:p>
                      <a:pPr marL="0" marR="0" algn="ctr">
                        <a:spcBef>
                          <a:spcPts val="0"/>
                        </a:spcBef>
                        <a:spcAft>
                          <a:spcPts val="0"/>
                        </a:spcAft>
                      </a:pPr>
                      <a:r>
                        <a:rPr lang="en-IN" sz="1200">
                          <a:effectLst/>
                        </a:rPr>
                        <a:t>10</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l">
                        <a:spcBef>
                          <a:spcPts val="0"/>
                        </a:spcBef>
                        <a:spcAft>
                          <a:spcPts val="0"/>
                        </a:spcAft>
                      </a:pPr>
                      <a:r>
                        <a:rPr lang="en-IN" sz="1200">
                          <a:effectLst/>
                        </a:rPr>
                        <a:t>Energy Meter  - 11 KV Feeder</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Nos.</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512</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430859933"/>
                  </a:ext>
                </a:extLst>
              </a:tr>
              <a:tr h="547807">
                <a:tc>
                  <a:txBody>
                    <a:bodyPr/>
                    <a:lstStyle/>
                    <a:p>
                      <a:pPr marL="0" marR="0" algn="ctr">
                        <a:spcBef>
                          <a:spcPts val="0"/>
                        </a:spcBef>
                        <a:spcAft>
                          <a:spcPts val="0"/>
                        </a:spcAft>
                      </a:pPr>
                      <a:r>
                        <a:rPr lang="en-IN" sz="1200">
                          <a:effectLst/>
                        </a:rPr>
                        <a:t>11</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l">
                        <a:spcBef>
                          <a:spcPts val="0"/>
                        </a:spcBef>
                        <a:spcAft>
                          <a:spcPts val="0"/>
                        </a:spcAft>
                      </a:pPr>
                      <a:r>
                        <a:rPr lang="en-IN" sz="1200">
                          <a:effectLst/>
                        </a:rPr>
                        <a:t>Renovation of LT OH bare conductor line by LT AB Cable</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Ckm</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36,119</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3812900354"/>
                  </a:ext>
                </a:extLst>
              </a:tr>
              <a:tr h="237993">
                <a:tc>
                  <a:txBody>
                    <a:bodyPr/>
                    <a:lstStyle/>
                    <a:p>
                      <a:pPr marL="0" marR="0" algn="ctr">
                        <a:spcBef>
                          <a:spcPts val="0"/>
                        </a:spcBef>
                        <a:spcAft>
                          <a:spcPts val="0"/>
                        </a:spcAft>
                      </a:pPr>
                      <a:r>
                        <a:rPr lang="en-IN" sz="1200">
                          <a:effectLst/>
                        </a:rPr>
                        <a:t>12</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l">
                        <a:spcBef>
                          <a:spcPts val="0"/>
                        </a:spcBef>
                        <a:spcAft>
                          <a:spcPts val="0"/>
                        </a:spcAft>
                      </a:pPr>
                      <a:r>
                        <a:rPr lang="en-IN" sz="1200">
                          <a:effectLst/>
                        </a:rPr>
                        <a:t>SAGY Villages</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Nos.</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1</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4168194811"/>
                  </a:ext>
                </a:extLst>
              </a:tr>
              <a:tr h="237993">
                <a:tc>
                  <a:txBody>
                    <a:bodyPr/>
                    <a:lstStyle/>
                    <a:p>
                      <a:pPr marL="0" marR="0" algn="ctr">
                        <a:spcBef>
                          <a:spcPts val="0"/>
                        </a:spcBef>
                        <a:spcAft>
                          <a:spcPts val="0"/>
                        </a:spcAft>
                      </a:pPr>
                      <a:r>
                        <a:rPr lang="en-IN" sz="1200">
                          <a:effectLst/>
                        </a:rPr>
                        <a:t>13</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l">
                        <a:spcBef>
                          <a:spcPts val="0"/>
                        </a:spcBef>
                        <a:spcAft>
                          <a:spcPts val="0"/>
                        </a:spcAft>
                      </a:pPr>
                      <a:r>
                        <a:rPr lang="en-IN" sz="1200">
                          <a:effectLst/>
                        </a:rPr>
                        <a:t>Connection to BPL Households</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a:effectLst/>
                        </a:rPr>
                        <a:t>Nos.</a:t>
                      </a:r>
                      <a:endParaRPr lang="en-US" sz="105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IN" sz="1200" dirty="0">
                          <a:effectLst/>
                        </a:rPr>
                        <a:t>7,363</a:t>
                      </a:r>
                      <a:endParaRPr lang="en-US" sz="1050" dirty="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3937293848"/>
                  </a:ext>
                </a:extLst>
              </a:tr>
            </a:tbl>
          </a:graphicData>
        </a:graphic>
      </p:graphicFrame>
    </p:spTree>
    <p:extLst>
      <p:ext uri="{BB962C8B-B14F-4D97-AF65-F5344CB8AC3E}">
        <p14:creationId xmlns:p14="http://schemas.microsoft.com/office/powerpoint/2010/main" val="3858220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200226"/>
            <a:ext cx="11188700" cy="368299"/>
          </a:xfrm>
        </p:spPr>
        <p:txBody>
          <a:bodyPr vert="horz"/>
          <a:lstStyle/>
          <a:p>
            <a:pPr algn="just"/>
            <a:r>
              <a:rPr lang="en-US" sz="1800" i="0" dirty="0">
                <a:solidFill>
                  <a:schemeClr val="tx1"/>
                </a:solidFill>
              </a:rPr>
              <a:t>Last Mile Connectivity under 'SAUBHAGYA' Scheme</a:t>
            </a:r>
          </a:p>
        </p:txBody>
      </p:sp>
      <p:sp>
        <p:nvSpPr>
          <p:cNvPr id="20" name="TextBox 19">
            <a:extLst>
              <a:ext uri="{FF2B5EF4-FFF2-40B4-BE49-F238E27FC236}">
                <a16:creationId xmlns:a16="http://schemas.microsoft.com/office/drawing/2014/main" id="{B5649F8E-F122-4FAE-814F-DF7010DD21DF}"/>
              </a:ext>
            </a:extLst>
          </p:cNvPr>
          <p:cNvSpPr txBox="1"/>
          <p:nvPr/>
        </p:nvSpPr>
        <p:spPr>
          <a:xfrm>
            <a:off x="10223528" y="5829057"/>
            <a:ext cx="1164771" cy="169277"/>
          </a:xfrm>
          <a:prstGeom prst="rect">
            <a:avLst/>
          </a:prstGeom>
          <a:noFill/>
        </p:spPr>
        <p:txBody>
          <a:bodyPr wrap="square" lIns="0" tIns="0" rIns="0" bIns="0" rtlCol="0">
            <a:spAutoFit/>
          </a:bodyPr>
          <a:lstStyle/>
          <a:p>
            <a:pPr algn="ctr">
              <a:spcBef>
                <a:spcPts val="600"/>
              </a:spcBef>
              <a:buSzPct val="100000"/>
            </a:pPr>
            <a:r>
              <a:rPr lang="en-US" sz="1100" b="1" dirty="0">
                <a:solidFill>
                  <a:schemeClr val="bg1"/>
                </a:solidFill>
                <a:latin typeface="+mj-lt"/>
                <a:cs typeface="Calibri" panose="020F0502020204030204" pitchFamily="34" charset="0"/>
              </a:rPr>
              <a:t>GOA ( Grant)</a:t>
            </a:r>
          </a:p>
        </p:txBody>
      </p:sp>
      <p:sp>
        <p:nvSpPr>
          <p:cNvPr id="47" name="TextBox 46">
            <a:extLst>
              <a:ext uri="{FF2B5EF4-FFF2-40B4-BE49-F238E27FC236}">
                <a16:creationId xmlns:a16="http://schemas.microsoft.com/office/drawing/2014/main" id="{61A0BC5C-2F3A-41B7-92FD-DD59085988D6}"/>
              </a:ext>
            </a:extLst>
          </p:cNvPr>
          <p:cNvSpPr txBox="1"/>
          <p:nvPr/>
        </p:nvSpPr>
        <p:spPr>
          <a:xfrm>
            <a:off x="8939014" y="4857865"/>
            <a:ext cx="1284514" cy="169277"/>
          </a:xfrm>
          <a:prstGeom prst="rect">
            <a:avLst/>
          </a:prstGeom>
          <a:noFill/>
        </p:spPr>
        <p:txBody>
          <a:bodyPr wrap="square" lIns="0" tIns="0" rIns="0" bIns="0" rtlCol="0">
            <a:spAutoFit/>
          </a:bodyPr>
          <a:lstStyle/>
          <a:p>
            <a:pPr algn="ctr">
              <a:spcBef>
                <a:spcPts val="600"/>
              </a:spcBef>
              <a:buSzPct val="100000"/>
            </a:pPr>
            <a:r>
              <a:rPr lang="en-US" sz="1100" b="1" dirty="0">
                <a:solidFill>
                  <a:schemeClr val="bg1"/>
                </a:solidFill>
                <a:latin typeface="+mj-lt"/>
                <a:cs typeface="Calibri" panose="020F0502020204030204" pitchFamily="34" charset="0"/>
              </a:rPr>
              <a:t>GOWB ( Grant)</a:t>
            </a:r>
          </a:p>
        </p:txBody>
      </p:sp>
      <p:sp>
        <p:nvSpPr>
          <p:cNvPr id="12" name="TextBox 11">
            <a:extLst>
              <a:ext uri="{FF2B5EF4-FFF2-40B4-BE49-F238E27FC236}">
                <a16:creationId xmlns:a16="http://schemas.microsoft.com/office/drawing/2014/main" id="{03BE1681-132F-4BD3-8E3E-31A39F56CA21}"/>
              </a:ext>
            </a:extLst>
          </p:cNvPr>
          <p:cNvSpPr txBox="1"/>
          <p:nvPr/>
        </p:nvSpPr>
        <p:spPr>
          <a:xfrm>
            <a:off x="2264229" y="1014500"/>
            <a:ext cx="1317171" cy="276999"/>
          </a:xfrm>
          <a:prstGeom prst="rect">
            <a:avLst/>
          </a:prstGeom>
          <a:solidFill>
            <a:schemeClr val="bg1"/>
          </a:solidFill>
        </p:spPr>
        <p:txBody>
          <a:bodyPr wrap="square" lIns="0" tIns="0" rIns="0" bIns="0" rtlCol="0">
            <a:spAutoFit/>
          </a:bodyPr>
          <a:lstStyle/>
          <a:p>
            <a:pPr>
              <a:spcBef>
                <a:spcPts val="600"/>
              </a:spcBef>
              <a:buSzPct val="100000"/>
            </a:pPr>
            <a:endParaRPr lang="en-US" dirty="0">
              <a:solidFill>
                <a:srgbClr val="313131"/>
              </a:solidFill>
            </a:endParaRPr>
          </a:p>
        </p:txBody>
      </p:sp>
      <p:sp>
        <p:nvSpPr>
          <p:cNvPr id="18" name="Rectangle 19">
            <a:extLst>
              <a:ext uri="{FF2B5EF4-FFF2-40B4-BE49-F238E27FC236}">
                <a16:creationId xmlns:a16="http://schemas.microsoft.com/office/drawing/2014/main" id="{D3A73263-A0F4-46AE-A5B2-578131BDB3B8}"/>
              </a:ext>
            </a:extLst>
          </p:cNvPr>
          <p:cNvSpPr>
            <a:spLocks noChangeArrowheads="1"/>
          </p:cNvSpPr>
          <p:nvPr/>
        </p:nvSpPr>
        <p:spPr bwMode="auto">
          <a:xfrm>
            <a:off x="3714528" y="727384"/>
            <a:ext cx="7963108" cy="1861600"/>
          </a:xfrm>
          <a:prstGeom prst="rect">
            <a:avLst/>
          </a:prstGeom>
          <a:solidFill>
            <a:schemeClr val="accent1">
              <a:lumMod val="20000"/>
              <a:lumOff val="80000"/>
            </a:schemeClr>
          </a:solidFill>
          <a:ln w="19050" algn="ctr">
            <a:solidFill>
              <a:schemeClr val="accent1"/>
            </a:solidFill>
            <a:miter lim="800000"/>
            <a:headEnd/>
            <a:tailEnd/>
          </a:ln>
        </p:spPr>
        <p:txBody>
          <a:bodyPr wrap="square" lIns="88900" tIns="88900" rIns="88900" bIns="88900" anchor="ctr"/>
          <a:lstStyle/>
          <a:p>
            <a:pPr marL="285750" indent="-285750" algn="just">
              <a:spcBef>
                <a:spcPts val="600"/>
              </a:spcBef>
              <a:buFont typeface="Wingdings" panose="05000000000000000000" pitchFamily="2" charset="2"/>
              <a:buChar char="q"/>
            </a:pPr>
            <a:r>
              <a:rPr lang="en-US" sz="1350" b="1" i="0" dirty="0">
                <a:solidFill>
                  <a:srgbClr val="333333"/>
                </a:solidFill>
                <a:effectLst/>
                <a:latin typeface="+mj-lt"/>
              </a:rPr>
              <a:t>Mantri Sahaj Bijli Har Ghar Yojona:</a:t>
            </a:r>
            <a:r>
              <a:rPr lang="en-US" sz="1350" b="0" i="0" dirty="0">
                <a:solidFill>
                  <a:srgbClr val="333333"/>
                </a:solidFill>
                <a:effectLst/>
                <a:latin typeface="+mj-lt"/>
              </a:rPr>
              <a:t> GoI has launched Saubhagya </a:t>
            </a:r>
            <a:r>
              <a:rPr lang="en-US" sz="1350" b="1" i="0" dirty="0">
                <a:solidFill>
                  <a:srgbClr val="333333"/>
                </a:solidFill>
                <a:effectLst/>
                <a:latin typeface="+mj-lt"/>
              </a:rPr>
              <a:t>focusing on last mile connectivity and electricity connections to </a:t>
            </a:r>
            <a:r>
              <a:rPr lang="en-US" sz="1350" b="1" dirty="0">
                <a:solidFill>
                  <a:srgbClr val="333333"/>
                </a:solidFill>
                <a:latin typeface="+mj-lt"/>
              </a:rPr>
              <a:t>all </a:t>
            </a:r>
            <a:r>
              <a:rPr lang="en-US" sz="1350" b="1" i="0" dirty="0">
                <a:solidFill>
                  <a:srgbClr val="333333"/>
                </a:solidFill>
                <a:effectLst/>
                <a:latin typeface="+mj-lt"/>
              </a:rPr>
              <a:t>un-electrified households</a:t>
            </a:r>
            <a:r>
              <a:rPr lang="en-US" sz="1350" b="0" i="0" dirty="0">
                <a:solidFill>
                  <a:srgbClr val="333333"/>
                </a:solidFill>
                <a:effectLst/>
                <a:latin typeface="+mj-lt"/>
              </a:rPr>
              <a:t>.</a:t>
            </a:r>
          </a:p>
          <a:p>
            <a:pPr marL="285750" indent="-285750" algn="just">
              <a:spcBef>
                <a:spcPts val="600"/>
              </a:spcBef>
              <a:buFont typeface="Wingdings" panose="05000000000000000000" pitchFamily="2" charset="2"/>
              <a:buChar char="q"/>
            </a:pPr>
            <a:r>
              <a:rPr lang="en-US" sz="1350" b="0" i="0" dirty="0">
                <a:solidFill>
                  <a:srgbClr val="333333"/>
                </a:solidFill>
                <a:effectLst/>
                <a:latin typeface="+mj-lt"/>
              </a:rPr>
              <a:t>The Saubhagya project has been implemented through listed contractors of WBSEDCL</a:t>
            </a:r>
          </a:p>
          <a:p>
            <a:pPr marL="742921" lvl="1" indent="-285750" algn="just">
              <a:spcBef>
                <a:spcPts val="600"/>
              </a:spcBef>
              <a:buFont typeface="Wingdings" panose="05000000000000000000" pitchFamily="2" charset="2"/>
              <a:buChar char="v"/>
            </a:pPr>
            <a:r>
              <a:rPr lang="en-US" sz="1350" b="0" i="0" dirty="0">
                <a:solidFill>
                  <a:srgbClr val="333333"/>
                </a:solidFill>
                <a:effectLst/>
                <a:latin typeface="+mj-lt"/>
              </a:rPr>
              <a:t>Households electrified from 11.10.2017 upto 31.03.019</a:t>
            </a:r>
            <a:r>
              <a:rPr lang="en-US" sz="1350" dirty="0">
                <a:solidFill>
                  <a:srgbClr val="333333"/>
                </a:solidFill>
                <a:latin typeface="+mj-lt"/>
              </a:rPr>
              <a:t> is </a:t>
            </a:r>
            <a:r>
              <a:rPr lang="en-US" sz="1350" b="1" dirty="0">
                <a:solidFill>
                  <a:srgbClr val="333333"/>
                </a:solidFill>
                <a:latin typeface="+mj-lt"/>
              </a:rPr>
              <a:t>7.32 Lakhs</a:t>
            </a:r>
          </a:p>
          <a:p>
            <a:pPr marL="742921" lvl="1" indent="-285750" algn="just">
              <a:spcBef>
                <a:spcPts val="600"/>
              </a:spcBef>
              <a:buFont typeface="Wingdings" panose="05000000000000000000" pitchFamily="2" charset="2"/>
              <a:buChar char="v"/>
            </a:pPr>
            <a:r>
              <a:rPr lang="en-US" sz="1350" b="0" i="0" dirty="0">
                <a:solidFill>
                  <a:srgbClr val="333333"/>
                </a:solidFill>
                <a:effectLst/>
                <a:latin typeface="+mj-lt"/>
              </a:rPr>
              <a:t>The </a:t>
            </a:r>
            <a:r>
              <a:rPr lang="en-US" sz="1350" b="1" i="0" dirty="0">
                <a:solidFill>
                  <a:srgbClr val="333333"/>
                </a:solidFill>
                <a:effectLst/>
                <a:latin typeface="+mj-lt"/>
              </a:rPr>
              <a:t>State reported 100% electrification of all households as on 31.03.2019</a:t>
            </a:r>
          </a:p>
        </p:txBody>
      </p:sp>
      <p:sp>
        <p:nvSpPr>
          <p:cNvPr id="19" name="AutoShape 12">
            <a:extLst>
              <a:ext uri="{FF2B5EF4-FFF2-40B4-BE49-F238E27FC236}">
                <a16:creationId xmlns:a16="http://schemas.microsoft.com/office/drawing/2014/main" id="{2064C8B7-BE0C-4508-A817-CEB1CCB7F34F}"/>
              </a:ext>
            </a:extLst>
          </p:cNvPr>
          <p:cNvSpPr>
            <a:spLocks noChangeArrowheads="1"/>
          </p:cNvSpPr>
          <p:nvPr/>
        </p:nvSpPr>
        <p:spPr bwMode="auto">
          <a:xfrm>
            <a:off x="2595126" y="707064"/>
            <a:ext cx="1008046" cy="1861602"/>
          </a:xfrm>
          <a:prstGeom prst="homePlate">
            <a:avLst>
              <a:gd name="adj" fmla="val 100000"/>
            </a:avLst>
          </a:prstGeom>
          <a:solidFill>
            <a:schemeClr val="bg2">
              <a:lumMod val="75000"/>
            </a:schemeClr>
          </a:solidFill>
          <a:ln w="6350" algn="ctr">
            <a:noFill/>
            <a:miter lim="800000"/>
            <a:headEnd/>
            <a:tailEnd/>
          </a:ln>
        </p:spPr>
        <p:txBody>
          <a:bodyPr wrap="square" lIns="88900" tIns="88900" rIns="88900" bIns="88900" anchor="ctr"/>
          <a:lstStyle/>
          <a:p>
            <a:pPr algn="ctr"/>
            <a:endParaRPr lang="en-US" sz="1400" dirty="0"/>
          </a:p>
        </p:txBody>
      </p:sp>
      <p:sp>
        <p:nvSpPr>
          <p:cNvPr id="21" name="Rectangle 20">
            <a:extLst>
              <a:ext uri="{FF2B5EF4-FFF2-40B4-BE49-F238E27FC236}">
                <a16:creationId xmlns:a16="http://schemas.microsoft.com/office/drawing/2014/main" id="{68454440-6732-4B9B-A02E-C1496B846473}"/>
              </a:ext>
            </a:extLst>
          </p:cNvPr>
          <p:cNvSpPr/>
          <p:nvPr/>
        </p:nvSpPr>
        <p:spPr bwMode="gray">
          <a:xfrm>
            <a:off x="557329" y="707064"/>
            <a:ext cx="1969404" cy="1861602"/>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2000" b="1" dirty="0">
                <a:solidFill>
                  <a:schemeClr val="bg1"/>
                </a:solidFill>
                <a:latin typeface="Calibri" panose="020F0502020204030204" pitchFamily="34" charset="0"/>
                <a:cs typeface="Calibri" panose="020F0502020204030204" pitchFamily="34" charset="0"/>
              </a:rPr>
              <a:t>Details </a:t>
            </a:r>
          </a:p>
        </p:txBody>
      </p:sp>
      <p:graphicFrame>
        <p:nvGraphicFramePr>
          <p:cNvPr id="22" name="Chart 21">
            <a:extLst>
              <a:ext uri="{FF2B5EF4-FFF2-40B4-BE49-F238E27FC236}">
                <a16:creationId xmlns:a16="http://schemas.microsoft.com/office/drawing/2014/main" id="{EE16C405-1BD4-423E-BC76-618D92B296B2}"/>
              </a:ext>
            </a:extLst>
          </p:cNvPr>
          <p:cNvGraphicFramePr/>
          <p:nvPr>
            <p:extLst>
              <p:ext uri="{D42A27DB-BD31-4B8C-83A1-F6EECF244321}">
                <p14:modId xmlns:p14="http://schemas.microsoft.com/office/powerpoint/2010/main" val="761758485"/>
              </p:ext>
            </p:extLst>
          </p:nvPr>
        </p:nvGraphicFramePr>
        <p:xfrm>
          <a:off x="441812" y="3114377"/>
          <a:ext cx="4306628" cy="3151200"/>
        </p:xfrm>
        <a:graphic>
          <a:graphicData uri="http://schemas.openxmlformats.org/drawingml/2006/chart">
            <c:chart xmlns:c="http://schemas.openxmlformats.org/drawingml/2006/chart" xmlns:r="http://schemas.openxmlformats.org/officeDocument/2006/relationships" r:id="rId2"/>
          </a:graphicData>
        </a:graphic>
      </p:graphicFrame>
      <p:sp>
        <p:nvSpPr>
          <p:cNvPr id="24" name="TextBox 23">
            <a:extLst>
              <a:ext uri="{FF2B5EF4-FFF2-40B4-BE49-F238E27FC236}">
                <a16:creationId xmlns:a16="http://schemas.microsoft.com/office/drawing/2014/main" id="{CB452463-6729-435D-A1DB-7ABEEEF0BED6}"/>
              </a:ext>
            </a:extLst>
          </p:cNvPr>
          <p:cNvSpPr txBox="1"/>
          <p:nvPr/>
        </p:nvSpPr>
        <p:spPr>
          <a:xfrm rot="900585">
            <a:off x="2957094" y="4245598"/>
            <a:ext cx="793990" cy="507831"/>
          </a:xfrm>
          <a:prstGeom prst="rect">
            <a:avLst/>
          </a:prstGeom>
          <a:solidFill>
            <a:schemeClr val="bg1"/>
          </a:solidFill>
          <a:effectLst>
            <a:outerShdw blurRad="50800" dist="50800" dir="13320000" sx="1000" sy="1000" algn="ctr" rotWithShape="0">
              <a:srgbClr val="000000">
                <a:alpha val="87000"/>
              </a:srgbClr>
            </a:outerShdw>
          </a:effectLst>
        </p:spPr>
        <p:txBody>
          <a:bodyPr wrap="square" lIns="0" tIns="0" rIns="0" bIns="0" rtlCol="0">
            <a:spAutoFit/>
          </a:bodyPr>
          <a:lstStyle/>
          <a:p>
            <a:pPr algn="ctr">
              <a:spcBef>
                <a:spcPts val="600"/>
              </a:spcBef>
              <a:buSzPct val="100000"/>
            </a:pPr>
            <a:r>
              <a:rPr lang="en-US" sz="1100" b="1" dirty="0">
                <a:latin typeface="+mj-lt"/>
                <a:cs typeface="Calibri" panose="020F0502020204030204" pitchFamily="34" charset="0"/>
              </a:rPr>
              <a:t>88% Grant  released</a:t>
            </a:r>
          </a:p>
        </p:txBody>
      </p:sp>
      <p:graphicFrame>
        <p:nvGraphicFramePr>
          <p:cNvPr id="26" name="Chart 25">
            <a:extLst>
              <a:ext uri="{FF2B5EF4-FFF2-40B4-BE49-F238E27FC236}">
                <a16:creationId xmlns:a16="http://schemas.microsoft.com/office/drawing/2014/main" id="{77B026F4-A1E9-4C7E-9F83-5856AC4A2838}"/>
              </a:ext>
            </a:extLst>
          </p:cNvPr>
          <p:cNvGraphicFramePr/>
          <p:nvPr>
            <p:extLst>
              <p:ext uri="{D42A27DB-BD31-4B8C-83A1-F6EECF244321}">
                <p14:modId xmlns:p14="http://schemas.microsoft.com/office/powerpoint/2010/main" val="2128064086"/>
              </p:ext>
            </p:extLst>
          </p:nvPr>
        </p:nvGraphicFramePr>
        <p:xfrm>
          <a:off x="5105400" y="3212553"/>
          <a:ext cx="6995222" cy="2723232"/>
        </p:xfrm>
        <a:graphic>
          <a:graphicData uri="http://schemas.openxmlformats.org/drawingml/2006/chart">
            <c:chart xmlns:c="http://schemas.openxmlformats.org/drawingml/2006/chart" xmlns:r="http://schemas.openxmlformats.org/officeDocument/2006/relationships" r:id="rId3"/>
          </a:graphicData>
        </a:graphic>
      </p:graphicFrame>
      <p:cxnSp>
        <p:nvCxnSpPr>
          <p:cNvPr id="28" name="Straight Connector 27">
            <a:extLst>
              <a:ext uri="{FF2B5EF4-FFF2-40B4-BE49-F238E27FC236}">
                <a16:creationId xmlns:a16="http://schemas.microsoft.com/office/drawing/2014/main" id="{2CC294FE-A54F-4BCB-90F6-4942F4628E95}"/>
              </a:ext>
            </a:extLst>
          </p:cNvPr>
          <p:cNvCxnSpPr>
            <a:cxnSpLocks/>
          </p:cNvCxnSpPr>
          <p:nvPr/>
        </p:nvCxnSpPr>
        <p:spPr>
          <a:xfrm flipV="1">
            <a:off x="5255092" y="3136808"/>
            <a:ext cx="6447972" cy="527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8BBFB19-45A9-4CF3-A225-37258DC7FB48}"/>
              </a:ext>
            </a:extLst>
          </p:cNvPr>
          <p:cNvSpPr txBox="1"/>
          <p:nvPr/>
        </p:nvSpPr>
        <p:spPr>
          <a:xfrm>
            <a:off x="6096000" y="3024355"/>
            <a:ext cx="5066868" cy="184666"/>
          </a:xfrm>
          <a:prstGeom prst="rect">
            <a:avLst/>
          </a:prstGeom>
          <a:solidFill>
            <a:schemeClr val="bg1"/>
          </a:solidFill>
        </p:spPr>
        <p:txBody>
          <a:bodyPr wrap="square" lIns="0" tIns="0" rIns="0" bIns="0" rtlCol="0">
            <a:spAutoFit/>
          </a:bodyPr>
          <a:lstStyle/>
          <a:p>
            <a:pPr algn="just"/>
            <a:r>
              <a:rPr lang="en-US" sz="1200" b="1" dirty="0">
                <a:latin typeface="+mj-lt"/>
                <a:cs typeface="Calibri" panose="020F0502020204030204" pitchFamily="34" charset="0"/>
              </a:rPr>
              <a:t>Year wise GOI released Grants since 2017-18 (Rs. Crore)</a:t>
            </a:r>
          </a:p>
        </p:txBody>
      </p:sp>
      <p:cxnSp>
        <p:nvCxnSpPr>
          <p:cNvPr id="15" name="Straight Connector 14">
            <a:extLst>
              <a:ext uri="{FF2B5EF4-FFF2-40B4-BE49-F238E27FC236}">
                <a16:creationId xmlns:a16="http://schemas.microsoft.com/office/drawing/2014/main" id="{5BFA9AB0-3E3D-4CB0-9306-ADBD37913AF3}"/>
              </a:ext>
            </a:extLst>
          </p:cNvPr>
          <p:cNvCxnSpPr>
            <a:cxnSpLocks/>
          </p:cNvCxnSpPr>
          <p:nvPr/>
        </p:nvCxnSpPr>
        <p:spPr>
          <a:xfrm>
            <a:off x="664028" y="3189510"/>
            <a:ext cx="422365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ED9B2E2-9E80-4961-AC89-B37F8B6ABC51}"/>
              </a:ext>
            </a:extLst>
          </p:cNvPr>
          <p:cNvSpPr txBox="1"/>
          <p:nvPr/>
        </p:nvSpPr>
        <p:spPr>
          <a:xfrm>
            <a:off x="1125537" y="3068988"/>
            <a:ext cx="3040282" cy="369332"/>
          </a:xfrm>
          <a:prstGeom prst="rect">
            <a:avLst/>
          </a:prstGeom>
          <a:solidFill>
            <a:schemeClr val="bg1"/>
          </a:solidFill>
        </p:spPr>
        <p:txBody>
          <a:bodyPr wrap="square" lIns="0" tIns="0" rIns="0" bIns="0" rtlCol="0">
            <a:spAutoFit/>
          </a:bodyPr>
          <a:lstStyle/>
          <a:p>
            <a:pPr algn="ctr"/>
            <a:r>
              <a:rPr lang="en-US" sz="1200" b="1" dirty="0">
                <a:latin typeface="+mj-lt"/>
                <a:cs typeface="Calibri" panose="020F0502020204030204" pitchFamily="34" charset="0"/>
              </a:rPr>
              <a:t>Financial Status as on 31.10.2021 (Rs. Crore)</a:t>
            </a:r>
          </a:p>
        </p:txBody>
      </p:sp>
      <p:sp>
        <p:nvSpPr>
          <p:cNvPr id="17" name="TextBox 16">
            <a:extLst>
              <a:ext uri="{FF2B5EF4-FFF2-40B4-BE49-F238E27FC236}">
                <a16:creationId xmlns:a16="http://schemas.microsoft.com/office/drawing/2014/main" id="{36DCA6F1-0DE5-4CCE-A56C-F8B84D1599DE}"/>
              </a:ext>
            </a:extLst>
          </p:cNvPr>
          <p:cNvSpPr txBox="1"/>
          <p:nvPr/>
        </p:nvSpPr>
        <p:spPr>
          <a:xfrm>
            <a:off x="3146564" y="6606721"/>
            <a:ext cx="2949436" cy="169277"/>
          </a:xfrm>
          <a:prstGeom prst="rect">
            <a:avLst/>
          </a:prstGeom>
          <a:noFill/>
        </p:spPr>
        <p:txBody>
          <a:bodyPr wrap="square" lIns="0" tIns="0" rIns="0" bIns="0" rtlCol="0">
            <a:spAutoFit/>
          </a:bodyPr>
          <a:lstStyle/>
          <a:p>
            <a:pPr>
              <a:spcBef>
                <a:spcPts val="600"/>
              </a:spcBef>
              <a:buSzPct val="100000"/>
            </a:pPr>
            <a:r>
              <a:rPr lang="en-US" sz="1100" b="1" dirty="0">
                <a:solidFill>
                  <a:srgbClr val="313131"/>
                </a:solidFill>
                <a:latin typeface="+mj-lt"/>
                <a:cs typeface="Calibri" panose="020F0502020204030204" pitchFamily="34" charset="0"/>
              </a:rPr>
              <a:t>Source </a:t>
            </a:r>
            <a:r>
              <a:rPr lang="en-US" sz="1100" dirty="0">
                <a:solidFill>
                  <a:srgbClr val="313131"/>
                </a:solidFill>
                <a:latin typeface="+mj-lt"/>
                <a:cs typeface="Calibri" panose="020F0502020204030204" pitchFamily="34" charset="0"/>
              </a:rPr>
              <a:t>: Internal (Department of Power)</a:t>
            </a:r>
          </a:p>
        </p:txBody>
      </p:sp>
    </p:spTree>
    <p:extLst>
      <p:ext uri="{BB962C8B-B14F-4D97-AF65-F5344CB8AC3E}">
        <p14:creationId xmlns:p14="http://schemas.microsoft.com/office/powerpoint/2010/main" val="140311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320"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5" y="1693205"/>
            <a:ext cx="9630230" cy="307777"/>
          </a:xfrm>
        </p:spPr>
        <p:txBody>
          <a:bodyPr anchor="ctr" anchorCtr="0">
            <a:spAutoFit/>
          </a:bodyPr>
          <a:lstStyle/>
          <a:p>
            <a:r>
              <a:rPr lang="en-US" sz="2000" i="0" dirty="0">
                <a:solidFill>
                  <a:schemeClr val="tx1"/>
                </a:solidFill>
              </a:rPr>
              <a:t>Progress Status of Integrated Power Development Scheme (IPDS)</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68992" y="1590786"/>
            <a:ext cx="635233" cy="501149"/>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100" b="1" i="0" u="none" strike="noStrike" kern="0" cap="none" spc="0" normalizeH="0" baseline="0" noProof="0" dirty="0">
                <a:ln>
                  <a:noFill/>
                </a:ln>
                <a:solidFill>
                  <a:prstClr val="white"/>
                </a:solidFill>
                <a:effectLst/>
                <a:uLnTx/>
                <a:uFillTx/>
              </a:rPr>
              <a:t>2B</a:t>
            </a:r>
          </a:p>
        </p:txBody>
      </p:sp>
      <p:cxnSp>
        <p:nvCxnSpPr>
          <p:cNvPr id="9" name="Straight Connector 8">
            <a:extLst>
              <a:ext uri="{FF2B5EF4-FFF2-40B4-BE49-F238E27FC236}">
                <a16:creationId xmlns:a16="http://schemas.microsoft.com/office/drawing/2014/main" id="{481FA6FD-48CB-4711-810A-6F15C82B8881}"/>
              </a:ext>
            </a:extLst>
          </p:cNvPr>
          <p:cNvCxnSpPr>
            <a:cxnSpLocks/>
          </p:cNvCxnSpPr>
          <p:nvPr/>
        </p:nvCxnSpPr>
        <p:spPr>
          <a:xfrm>
            <a:off x="4615544" y="3499011"/>
            <a:ext cx="0" cy="15955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1B748CB-0B57-4CA1-9B41-81AB5E897267}"/>
              </a:ext>
            </a:extLst>
          </p:cNvPr>
          <p:cNvSpPr txBox="1"/>
          <p:nvPr/>
        </p:nvSpPr>
        <p:spPr>
          <a:xfrm>
            <a:off x="4834999" y="3575213"/>
            <a:ext cx="6562335" cy="2000548"/>
          </a:xfrm>
          <a:prstGeom prst="rect">
            <a:avLst/>
          </a:prstGeom>
          <a:noFill/>
        </p:spPr>
        <p:txBody>
          <a:bodyPr wrap="square" lIns="0" tIns="0" rIns="0" bIns="0" rtlCol="0">
            <a:spAutoFit/>
          </a:bodyPr>
          <a:lstStyle/>
          <a:p>
            <a:pPr>
              <a:spcBef>
                <a:spcPts val="1800"/>
              </a:spcBef>
              <a:buSzPct val="100000"/>
            </a:pPr>
            <a:r>
              <a:rPr lang="en-IN" sz="1400" b="1" dirty="0"/>
              <a:t>Topics Covered</a:t>
            </a:r>
          </a:p>
          <a:p>
            <a:pPr marL="203200" indent="-203200">
              <a:spcBef>
                <a:spcPts val="1800"/>
              </a:spcBef>
              <a:buSzPct val="100000"/>
              <a:buFont typeface="Arial"/>
              <a:buChar char="•"/>
            </a:pPr>
            <a:r>
              <a:rPr lang="en-IN" sz="1400" dirty="0"/>
              <a:t>Salient Feature of IPDS</a:t>
            </a:r>
          </a:p>
          <a:p>
            <a:pPr marL="203200" indent="-203200">
              <a:spcBef>
                <a:spcPts val="1800"/>
              </a:spcBef>
              <a:buSzPct val="100000"/>
              <a:buFont typeface="Arial"/>
              <a:buChar char="•"/>
            </a:pPr>
            <a:r>
              <a:rPr lang="en-IN" sz="1400" dirty="0"/>
              <a:t>Financial Progress of IPDS</a:t>
            </a:r>
          </a:p>
          <a:p>
            <a:pPr marL="203200" indent="-203200">
              <a:spcBef>
                <a:spcPts val="1800"/>
              </a:spcBef>
              <a:buSzPct val="100000"/>
              <a:buFont typeface="Arial"/>
              <a:buChar char="•"/>
            </a:pPr>
            <a:r>
              <a:rPr lang="en-IN" sz="1400" dirty="0"/>
              <a:t>Physical Progress of IPDS </a:t>
            </a:r>
          </a:p>
          <a:p>
            <a:pPr marL="203200" indent="-203200">
              <a:spcBef>
                <a:spcPts val="1800"/>
              </a:spcBef>
              <a:buSzPct val="100000"/>
              <a:buFont typeface="Arial"/>
              <a:buChar char="•"/>
            </a:pPr>
            <a:endParaRPr lang="en-IN" sz="1400" dirty="0"/>
          </a:p>
        </p:txBody>
      </p:sp>
      <p:grpSp>
        <p:nvGrpSpPr>
          <p:cNvPr id="14" name="Group 526">
            <a:extLst>
              <a:ext uri="{FF2B5EF4-FFF2-40B4-BE49-F238E27FC236}">
                <a16:creationId xmlns:a16="http://schemas.microsoft.com/office/drawing/2014/main" id="{5540E149-1F19-4064-9714-B21FD0705489}"/>
              </a:ext>
            </a:extLst>
          </p:cNvPr>
          <p:cNvGrpSpPr>
            <a:grpSpLocks noChangeAspect="1"/>
          </p:cNvGrpSpPr>
          <p:nvPr/>
        </p:nvGrpSpPr>
        <p:grpSpPr bwMode="auto">
          <a:xfrm>
            <a:off x="1104225" y="3008313"/>
            <a:ext cx="2345264" cy="2345264"/>
            <a:chOff x="3464" y="1974"/>
            <a:chExt cx="340" cy="340"/>
          </a:xfrm>
          <a:solidFill>
            <a:srgbClr val="9CAC00"/>
          </a:solidFill>
        </p:grpSpPr>
        <p:sp>
          <p:nvSpPr>
            <p:cNvPr id="15" name="Freeform 527">
              <a:extLst>
                <a:ext uri="{FF2B5EF4-FFF2-40B4-BE49-F238E27FC236}">
                  <a16:creationId xmlns:a16="http://schemas.microsoft.com/office/drawing/2014/main" id="{2261B12D-A407-4719-9125-F49F83DDB571}"/>
                </a:ext>
              </a:extLst>
            </p:cNvPr>
            <p:cNvSpPr>
              <a:spLocks noEditPoints="1"/>
            </p:cNvSpPr>
            <p:nvPr/>
          </p:nvSpPr>
          <p:spPr bwMode="auto">
            <a:xfrm>
              <a:off x="3464" y="197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528">
              <a:extLst>
                <a:ext uri="{FF2B5EF4-FFF2-40B4-BE49-F238E27FC236}">
                  <a16:creationId xmlns:a16="http://schemas.microsoft.com/office/drawing/2014/main" id="{4FB09AB9-A79B-434D-9DE7-187BE7279860}"/>
                </a:ext>
              </a:extLst>
            </p:cNvPr>
            <p:cNvSpPr>
              <a:spLocks noEditPoints="1"/>
            </p:cNvSpPr>
            <p:nvPr/>
          </p:nvSpPr>
          <p:spPr bwMode="auto">
            <a:xfrm>
              <a:off x="3541" y="2037"/>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475345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501650" y="248531"/>
            <a:ext cx="11188700" cy="368299"/>
          </a:xfrm>
        </p:spPr>
        <p:txBody>
          <a:bodyPr vert="horz"/>
          <a:lstStyle/>
          <a:p>
            <a:pPr algn="just"/>
            <a:r>
              <a:rPr lang="en-US" sz="1800" i="0" dirty="0">
                <a:solidFill>
                  <a:schemeClr val="tx1"/>
                </a:solidFill>
              </a:rPr>
              <a:t>R-APDRP Component of IPDS </a:t>
            </a:r>
          </a:p>
        </p:txBody>
      </p:sp>
      <p:sp>
        <p:nvSpPr>
          <p:cNvPr id="12" name="TextBox 11">
            <a:extLst>
              <a:ext uri="{FF2B5EF4-FFF2-40B4-BE49-F238E27FC236}">
                <a16:creationId xmlns:a16="http://schemas.microsoft.com/office/drawing/2014/main" id="{16EEDE18-C437-4F67-A6C9-D4942F8AD2C2}"/>
              </a:ext>
            </a:extLst>
          </p:cNvPr>
          <p:cNvSpPr txBox="1"/>
          <p:nvPr/>
        </p:nvSpPr>
        <p:spPr>
          <a:xfrm>
            <a:off x="915433" y="1584352"/>
            <a:ext cx="184666" cy="1306286"/>
          </a:xfrm>
          <a:prstGeom prst="rect">
            <a:avLst/>
          </a:prstGeom>
          <a:noFill/>
        </p:spPr>
        <p:txBody>
          <a:bodyPr vert="vert" wrap="square" lIns="0" tIns="0" rIns="0" bIns="0" rtlCol="0">
            <a:spAutoFit/>
          </a:bodyPr>
          <a:lstStyle/>
          <a:p>
            <a:pPr>
              <a:spcBef>
                <a:spcPts val="600"/>
              </a:spcBef>
              <a:buSzPct val="100000"/>
            </a:pPr>
            <a:r>
              <a:rPr lang="en-US" sz="1200" b="1" dirty="0">
                <a:solidFill>
                  <a:schemeClr val="bg1"/>
                </a:solidFill>
                <a:latin typeface="Calibri" panose="020F0502020204030204" pitchFamily="34" charset="0"/>
                <a:cs typeface="Calibri" panose="020F0502020204030204" pitchFamily="34" charset="0"/>
              </a:rPr>
              <a:t>No of Circle  : 19</a:t>
            </a:r>
          </a:p>
        </p:txBody>
      </p:sp>
      <p:sp>
        <p:nvSpPr>
          <p:cNvPr id="32" name="TextBox 31">
            <a:extLst>
              <a:ext uri="{FF2B5EF4-FFF2-40B4-BE49-F238E27FC236}">
                <a16:creationId xmlns:a16="http://schemas.microsoft.com/office/drawing/2014/main" id="{B0568DA5-7172-4157-A9E5-D9E0BED397C6}"/>
              </a:ext>
            </a:extLst>
          </p:cNvPr>
          <p:cNvSpPr txBox="1"/>
          <p:nvPr/>
        </p:nvSpPr>
        <p:spPr>
          <a:xfrm>
            <a:off x="7718362" y="1415143"/>
            <a:ext cx="184666" cy="1429919"/>
          </a:xfrm>
          <a:prstGeom prst="rect">
            <a:avLst/>
          </a:prstGeom>
          <a:noFill/>
        </p:spPr>
        <p:txBody>
          <a:bodyPr vert="vert" wrap="square" lIns="0" tIns="0" rIns="0" bIns="0" rtlCol="0">
            <a:spAutoFit/>
          </a:bodyPr>
          <a:lstStyle/>
          <a:p>
            <a:pPr>
              <a:spcBef>
                <a:spcPts val="600"/>
              </a:spcBef>
              <a:buSzPct val="100000"/>
            </a:pPr>
            <a:r>
              <a:rPr lang="en-US" sz="1200" b="1" dirty="0">
                <a:solidFill>
                  <a:schemeClr val="bg1"/>
                </a:solidFill>
                <a:latin typeface="Calibri" panose="020F0502020204030204" pitchFamily="34" charset="0"/>
                <a:cs typeface="Calibri" panose="020F0502020204030204" pitchFamily="34" charset="0"/>
              </a:rPr>
              <a:t>100 % Completed </a:t>
            </a:r>
          </a:p>
        </p:txBody>
      </p:sp>
      <p:graphicFrame>
        <p:nvGraphicFramePr>
          <p:cNvPr id="23" name="Chart 22">
            <a:extLst>
              <a:ext uri="{FF2B5EF4-FFF2-40B4-BE49-F238E27FC236}">
                <a16:creationId xmlns:a16="http://schemas.microsoft.com/office/drawing/2014/main" id="{18722F0D-FFCD-40E7-8078-16D271C2D1C9}"/>
              </a:ext>
            </a:extLst>
          </p:cNvPr>
          <p:cNvGraphicFramePr/>
          <p:nvPr>
            <p:extLst>
              <p:ext uri="{D42A27DB-BD31-4B8C-83A1-F6EECF244321}">
                <p14:modId xmlns:p14="http://schemas.microsoft.com/office/powerpoint/2010/main" val="1099327375"/>
              </p:ext>
            </p:extLst>
          </p:nvPr>
        </p:nvGraphicFramePr>
        <p:xfrm>
          <a:off x="692499" y="859468"/>
          <a:ext cx="4403484" cy="2401123"/>
        </p:xfrm>
        <a:graphic>
          <a:graphicData uri="http://schemas.openxmlformats.org/drawingml/2006/chart">
            <c:chart xmlns:c="http://schemas.openxmlformats.org/drawingml/2006/chart" xmlns:r="http://schemas.openxmlformats.org/officeDocument/2006/relationships" r:id="rId2"/>
          </a:graphicData>
        </a:graphic>
      </p:graphicFrame>
      <p:sp>
        <p:nvSpPr>
          <p:cNvPr id="27" name="TextBox 26">
            <a:extLst>
              <a:ext uri="{FF2B5EF4-FFF2-40B4-BE49-F238E27FC236}">
                <a16:creationId xmlns:a16="http://schemas.microsoft.com/office/drawing/2014/main" id="{7BFC9CD7-9E4A-4469-A15E-4AE318B3C027}"/>
              </a:ext>
            </a:extLst>
          </p:cNvPr>
          <p:cNvSpPr txBox="1"/>
          <p:nvPr/>
        </p:nvSpPr>
        <p:spPr>
          <a:xfrm>
            <a:off x="1250137" y="702070"/>
            <a:ext cx="3486136" cy="215444"/>
          </a:xfrm>
          <a:prstGeom prst="rect">
            <a:avLst/>
          </a:prstGeom>
          <a:solidFill>
            <a:schemeClr val="bg1"/>
          </a:solidFill>
        </p:spPr>
        <p:txBody>
          <a:bodyPr wrap="square" lIns="0" tIns="0" rIns="0" bIns="0" rtlCol="0">
            <a:spAutoFit/>
          </a:bodyPr>
          <a:lstStyle/>
          <a:p>
            <a:pPr algn="just"/>
            <a:r>
              <a:rPr lang="en-US" sz="1400" b="1" dirty="0">
                <a:latin typeface="Calibri" panose="020F0502020204030204" pitchFamily="34" charset="0"/>
                <a:cs typeface="Calibri" panose="020F0502020204030204" pitchFamily="34" charset="0"/>
              </a:rPr>
              <a:t>Financial Status as on 31.10.2021 (Rs. Crore)</a:t>
            </a:r>
          </a:p>
        </p:txBody>
      </p:sp>
      <p:sp>
        <p:nvSpPr>
          <p:cNvPr id="3" name="TextBox 2">
            <a:extLst>
              <a:ext uri="{FF2B5EF4-FFF2-40B4-BE49-F238E27FC236}">
                <a16:creationId xmlns:a16="http://schemas.microsoft.com/office/drawing/2014/main" id="{1D4CAF4F-189A-4690-A30B-9550CF8D1172}"/>
              </a:ext>
            </a:extLst>
          </p:cNvPr>
          <p:cNvSpPr txBox="1"/>
          <p:nvPr/>
        </p:nvSpPr>
        <p:spPr>
          <a:xfrm>
            <a:off x="501649" y="3429000"/>
            <a:ext cx="10743293" cy="215444"/>
          </a:xfrm>
          <a:prstGeom prst="rect">
            <a:avLst/>
          </a:prstGeom>
          <a:noFill/>
        </p:spPr>
        <p:txBody>
          <a:bodyPr wrap="square" lIns="0" tIns="0" rIns="0" bIns="0" rtlCol="0">
            <a:spAutoFit/>
          </a:bodyPr>
          <a:lstStyle/>
          <a:p>
            <a:pPr>
              <a:spcBef>
                <a:spcPts val="600"/>
              </a:spcBef>
              <a:buSzPct val="100000"/>
            </a:pPr>
            <a:r>
              <a:rPr lang="en-US" sz="1400" b="1" i="1" dirty="0">
                <a:solidFill>
                  <a:srgbClr val="313131"/>
                </a:solidFill>
                <a:latin typeface="Calibri" panose="020F0502020204030204" pitchFamily="34" charset="0"/>
                <a:cs typeface="Calibri" panose="020F0502020204030204" pitchFamily="34" charset="0"/>
              </a:rPr>
              <a:t>**Note:  Due to cancellation of projects under R-APDRP, the additional GOI loan released (Rs 13.55 Cr) is being recovered from the utility.</a:t>
            </a:r>
          </a:p>
        </p:txBody>
      </p:sp>
      <p:graphicFrame>
        <p:nvGraphicFramePr>
          <p:cNvPr id="26" name="Table 7">
            <a:extLst>
              <a:ext uri="{FF2B5EF4-FFF2-40B4-BE49-F238E27FC236}">
                <a16:creationId xmlns:a16="http://schemas.microsoft.com/office/drawing/2014/main" id="{938E5A9D-0C95-44DB-8826-3657C76FDDEA}"/>
              </a:ext>
            </a:extLst>
          </p:cNvPr>
          <p:cNvGraphicFramePr>
            <a:graphicFrameLocks noGrp="1"/>
          </p:cNvGraphicFramePr>
          <p:nvPr>
            <p:extLst>
              <p:ext uri="{D42A27DB-BD31-4B8C-83A1-F6EECF244321}">
                <p14:modId xmlns:p14="http://schemas.microsoft.com/office/powerpoint/2010/main" val="940381886"/>
              </p:ext>
            </p:extLst>
          </p:nvPr>
        </p:nvGraphicFramePr>
        <p:xfrm>
          <a:off x="6968161" y="906888"/>
          <a:ext cx="4531340" cy="2189275"/>
        </p:xfrm>
        <a:graphic>
          <a:graphicData uri="http://schemas.openxmlformats.org/drawingml/2006/table">
            <a:tbl>
              <a:tblPr firstRow="1" bandRow="1">
                <a:tableStyleId>{5C22544A-7EE6-4342-B048-85BDC9FD1C3A}</a:tableStyleId>
              </a:tblPr>
              <a:tblGrid>
                <a:gridCol w="732416">
                  <a:extLst>
                    <a:ext uri="{9D8B030D-6E8A-4147-A177-3AD203B41FA5}">
                      <a16:colId xmlns:a16="http://schemas.microsoft.com/office/drawing/2014/main" val="4174432367"/>
                    </a:ext>
                  </a:extLst>
                </a:gridCol>
                <a:gridCol w="662658">
                  <a:extLst>
                    <a:ext uri="{9D8B030D-6E8A-4147-A177-3AD203B41FA5}">
                      <a16:colId xmlns:a16="http://schemas.microsoft.com/office/drawing/2014/main" val="1120217790"/>
                    </a:ext>
                  </a:extLst>
                </a:gridCol>
                <a:gridCol w="791845">
                  <a:extLst>
                    <a:ext uri="{9D8B030D-6E8A-4147-A177-3AD203B41FA5}">
                      <a16:colId xmlns:a16="http://schemas.microsoft.com/office/drawing/2014/main" val="547199633"/>
                    </a:ext>
                  </a:extLst>
                </a:gridCol>
                <a:gridCol w="848306">
                  <a:extLst>
                    <a:ext uri="{9D8B030D-6E8A-4147-A177-3AD203B41FA5}">
                      <a16:colId xmlns:a16="http://schemas.microsoft.com/office/drawing/2014/main" val="1113509071"/>
                    </a:ext>
                  </a:extLst>
                </a:gridCol>
                <a:gridCol w="801950">
                  <a:extLst>
                    <a:ext uri="{9D8B030D-6E8A-4147-A177-3AD203B41FA5}">
                      <a16:colId xmlns:a16="http://schemas.microsoft.com/office/drawing/2014/main" val="4167888945"/>
                    </a:ext>
                  </a:extLst>
                </a:gridCol>
                <a:gridCol w="694165">
                  <a:extLst>
                    <a:ext uri="{9D8B030D-6E8A-4147-A177-3AD203B41FA5}">
                      <a16:colId xmlns:a16="http://schemas.microsoft.com/office/drawing/2014/main" val="2842217723"/>
                    </a:ext>
                  </a:extLst>
                </a:gridCol>
              </a:tblGrid>
              <a:tr h="778759">
                <a:tc gridSpan="3">
                  <a:txBody>
                    <a:bodyPr/>
                    <a:lstStyle/>
                    <a:p>
                      <a:pPr algn="ctr" fontAlgn="ctr"/>
                      <a:r>
                        <a:rPr lang="en-US" sz="1400" b="1" i="0" u="sng" strike="noStrike" dirty="0">
                          <a:solidFill>
                            <a:schemeClr val="bg1"/>
                          </a:solidFill>
                          <a:effectLst/>
                          <a:latin typeface="Calibri" panose="020F0502020204030204" pitchFamily="34" charset="0"/>
                        </a:rPr>
                        <a:t>PART –A (IT)</a:t>
                      </a:r>
                    </a:p>
                  </a:txBody>
                  <a:tcPr marL="6350" marR="6350" marT="6350" marB="0" anchor="ctr">
                    <a:lnT w="12700" cap="flat" cmpd="sng" algn="ctr">
                      <a:solidFill>
                        <a:schemeClr val="tx1"/>
                      </a:solidFill>
                      <a:prstDash val="solid"/>
                      <a:round/>
                      <a:headEnd type="none" w="med" len="med"/>
                      <a:tailEnd type="none" w="med" len="med"/>
                    </a:lnT>
                    <a:solidFill>
                      <a:srgbClr val="007680"/>
                    </a:solidFill>
                  </a:tcPr>
                </a:tc>
                <a:tc hMerge="1">
                  <a:txBody>
                    <a:bodyPr/>
                    <a:lstStyle/>
                    <a:p>
                      <a:endParaRPr lang="en-US"/>
                    </a:p>
                  </a:txBody>
                  <a:tcPr>
                    <a:lnT w="12700" cap="flat" cmpd="sng" algn="ctr">
                      <a:solidFill>
                        <a:schemeClr val="tx1"/>
                      </a:solidFill>
                      <a:prstDash val="solid"/>
                      <a:round/>
                      <a:headEnd type="none" w="med" len="med"/>
                      <a:tailEnd type="none" w="med" len="med"/>
                    </a:lnT>
                    <a:solidFill>
                      <a:srgbClr val="86BC25"/>
                    </a:solidFill>
                  </a:tcPr>
                </a:tc>
                <a:tc hMerge="1">
                  <a:txBody>
                    <a:bodyPr/>
                    <a:lstStyle/>
                    <a:p>
                      <a:endParaRPr lang="en-US"/>
                    </a:p>
                  </a:txBody>
                  <a:tcPr>
                    <a:lnT w="12700" cap="flat" cmpd="sng" algn="ctr">
                      <a:solidFill>
                        <a:schemeClr val="tx1"/>
                      </a:solidFill>
                      <a:prstDash val="solid"/>
                      <a:round/>
                      <a:headEnd type="none" w="med" len="med"/>
                      <a:tailEnd type="none" w="med" len="med"/>
                    </a:lnT>
                    <a:solidFill>
                      <a:srgbClr val="86BC25"/>
                    </a:solidFill>
                  </a:tcPr>
                </a:tc>
                <a:tc gridSpan="3">
                  <a:txBody>
                    <a:bodyPr/>
                    <a:lstStyle/>
                    <a:p>
                      <a:pPr algn="ctr" fontAlgn="ctr"/>
                      <a:r>
                        <a:rPr lang="en-US" sz="1400" b="1" i="0" u="sng" strike="noStrike" dirty="0">
                          <a:solidFill>
                            <a:schemeClr val="bg1"/>
                          </a:solidFill>
                          <a:effectLst/>
                          <a:latin typeface="Calibri" panose="020F0502020204030204" pitchFamily="34" charset="0"/>
                        </a:rPr>
                        <a:t>PART –A (SCADA)</a:t>
                      </a:r>
                    </a:p>
                  </a:txBody>
                  <a:tcPr marL="6350" marR="6350" marT="6350" marB="0" anchor="ctr">
                    <a:lnT w="12700" cap="flat" cmpd="sng" algn="ctr">
                      <a:solidFill>
                        <a:schemeClr val="tx1"/>
                      </a:solidFill>
                      <a:prstDash val="solid"/>
                      <a:round/>
                      <a:headEnd type="none" w="med" len="med"/>
                      <a:tailEnd type="none" w="med" len="med"/>
                    </a:lnT>
                    <a:solidFill>
                      <a:srgbClr val="007680"/>
                    </a:solidFill>
                  </a:tcPr>
                </a:tc>
                <a:tc hMerge="1">
                  <a:txBody>
                    <a:bodyPr/>
                    <a:lstStyle/>
                    <a:p>
                      <a:endParaRPr lang="en-US"/>
                    </a:p>
                  </a:txBody>
                  <a:tcPr>
                    <a:lnT w="12700" cap="flat" cmpd="sng" algn="ctr">
                      <a:solidFill>
                        <a:schemeClr val="tx1"/>
                      </a:solidFill>
                      <a:prstDash val="solid"/>
                      <a:round/>
                      <a:headEnd type="none" w="med" len="med"/>
                      <a:tailEnd type="none" w="med" len="med"/>
                    </a:lnT>
                    <a:solidFill>
                      <a:srgbClr val="86BC25"/>
                    </a:solidFill>
                  </a:tcPr>
                </a:tc>
                <a:tc hMerge="1">
                  <a:txBody>
                    <a:bodyPr/>
                    <a:lstStyle/>
                    <a:p>
                      <a:endParaRPr lang="en-US"/>
                    </a:p>
                  </a:txBody>
                  <a:tcPr>
                    <a:lnT w="12700" cap="flat" cmpd="sng" algn="ctr">
                      <a:solidFill>
                        <a:schemeClr val="tx1"/>
                      </a:solidFill>
                      <a:prstDash val="solid"/>
                      <a:round/>
                      <a:headEnd type="none" w="med" len="med"/>
                      <a:tailEnd type="none" w="med" len="med"/>
                    </a:lnT>
                    <a:solidFill>
                      <a:srgbClr val="86BC25"/>
                    </a:solidFill>
                  </a:tcPr>
                </a:tc>
                <a:extLst>
                  <a:ext uri="{0D108BD9-81ED-4DB2-BD59-A6C34878D82A}">
                    <a16:rowId xmlns:a16="http://schemas.microsoft.com/office/drawing/2014/main" val="4090939596"/>
                  </a:ext>
                </a:extLst>
              </a:tr>
              <a:tr h="825326">
                <a:tc>
                  <a:txBody>
                    <a:bodyPr/>
                    <a:lstStyle/>
                    <a:p>
                      <a:pPr algn="ctr" fontAlgn="ctr"/>
                      <a:r>
                        <a:rPr lang="en-US" sz="1400" b="0" i="0" u="none" strike="noStrike" dirty="0">
                          <a:solidFill>
                            <a:srgbClr val="000000"/>
                          </a:solidFill>
                          <a:effectLst/>
                          <a:latin typeface="Calibri" panose="020F0502020204030204" pitchFamily="34" charset="0"/>
                        </a:rPr>
                        <a:t>No. of Towns </a:t>
                      </a:r>
                    </a:p>
                  </a:txBody>
                  <a:tcPr marL="6350" marR="6350" marT="6350" marB="0" anchor="ctr">
                    <a:solidFill>
                      <a:schemeClr val="accent2">
                        <a:lumMod val="20000"/>
                        <a:lumOff val="80000"/>
                      </a:schemeClr>
                    </a:solidFill>
                  </a:tcPr>
                </a:tc>
                <a:tc>
                  <a:txBody>
                    <a:bodyPr/>
                    <a:lstStyle/>
                    <a:p>
                      <a:pPr algn="ctr" fontAlgn="ctr"/>
                      <a:r>
                        <a:rPr lang="en-US" sz="1400" b="0" i="0" u="none" strike="noStrike" dirty="0">
                          <a:solidFill>
                            <a:srgbClr val="000000"/>
                          </a:solidFill>
                          <a:effectLst/>
                          <a:latin typeface="Calibri" panose="020F0502020204030204" pitchFamily="34" charset="0"/>
                        </a:rPr>
                        <a:t>Town declared Go-live</a:t>
                      </a:r>
                    </a:p>
                  </a:txBody>
                  <a:tcPr marL="6350" marR="6350" marT="6350" marB="0" anchor="ctr">
                    <a:solidFill>
                      <a:schemeClr val="accent2">
                        <a:lumMod val="20000"/>
                        <a:lumOff val="80000"/>
                      </a:schemeClr>
                    </a:solidFill>
                  </a:tcPr>
                </a:tc>
                <a:tc>
                  <a:txBody>
                    <a:bodyPr/>
                    <a:lstStyle/>
                    <a:p>
                      <a:pPr algn="ctr" fontAlgn="ctr"/>
                      <a:r>
                        <a:rPr lang="en-US" sz="1400" b="0" i="0" u="none" strike="noStrike" dirty="0">
                          <a:solidFill>
                            <a:srgbClr val="000000"/>
                          </a:solidFill>
                          <a:effectLst/>
                          <a:latin typeface="Calibri" panose="020F0502020204030204" pitchFamily="34" charset="0"/>
                        </a:rPr>
                        <a:t>Project Cost</a:t>
                      </a:r>
                      <a:br>
                        <a:rPr lang="en-US" sz="1400" b="0" i="0" u="none" strike="noStrike" dirty="0">
                          <a:solidFill>
                            <a:srgbClr val="000000"/>
                          </a:solidFill>
                          <a:effectLst/>
                          <a:latin typeface="Calibri" panose="020F0502020204030204" pitchFamily="34" charset="0"/>
                        </a:rPr>
                      </a:br>
                      <a:r>
                        <a:rPr lang="en-US" sz="1400" b="0" i="0" u="none" strike="noStrike" dirty="0">
                          <a:solidFill>
                            <a:srgbClr val="000000"/>
                          </a:solidFill>
                          <a:effectLst/>
                          <a:latin typeface="Calibri" panose="020F0502020204030204" pitchFamily="34" charset="0"/>
                        </a:rPr>
                        <a:t> (in Rs. Cr)</a:t>
                      </a:r>
                    </a:p>
                  </a:txBody>
                  <a:tcPr marL="6350" marR="6350" marT="6350" marB="0" anchor="ctr">
                    <a:solidFill>
                      <a:schemeClr val="accent2">
                        <a:lumMod val="20000"/>
                        <a:lumOff val="80000"/>
                      </a:schemeClr>
                    </a:solidFill>
                  </a:tcPr>
                </a:tc>
                <a:tc>
                  <a:txBody>
                    <a:bodyPr/>
                    <a:lstStyle/>
                    <a:p>
                      <a:pPr algn="ctr" fontAlgn="ctr"/>
                      <a:r>
                        <a:rPr lang="en-US" sz="1400" b="0" i="0" u="none" strike="noStrike" dirty="0">
                          <a:solidFill>
                            <a:srgbClr val="000000"/>
                          </a:solidFill>
                          <a:effectLst/>
                          <a:latin typeface="Calibri" panose="020F0502020204030204" pitchFamily="34" charset="0"/>
                        </a:rPr>
                        <a:t>No. of sanctioned Towns</a:t>
                      </a:r>
                    </a:p>
                  </a:txBody>
                  <a:tcPr marL="6350" marR="6350" marT="6350" marB="0" anchor="ctr">
                    <a:solidFill>
                      <a:schemeClr val="accent2">
                        <a:lumMod val="20000"/>
                        <a:lumOff val="80000"/>
                      </a:schemeClr>
                    </a:solidFill>
                  </a:tcPr>
                </a:tc>
                <a:tc>
                  <a:txBody>
                    <a:bodyPr/>
                    <a:lstStyle/>
                    <a:p>
                      <a:pPr algn="ctr" fontAlgn="ctr"/>
                      <a:r>
                        <a:rPr lang="en-US" sz="1400" b="0" i="0" u="none" strike="noStrike" dirty="0">
                          <a:solidFill>
                            <a:srgbClr val="000000"/>
                          </a:solidFill>
                          <a:effectLst/>
                          <a:latin typeface="Calibri" panose="020F0502020204030204" pitchFamily="34" charset="0"/>
                        </a:rPr>
                        <a:t>SCADA system completed</a:t>
                      </a:r>
                    </a:p>
                  </a:txBody>
                  <a:tcPr marL="6350" marR="6350" marT="6350" marB="0" anchor="ctr">
                    <a:solidFill>
                      <a:schemeClr val="accent2">
                        <a:lumMod val="20000"/>
                        <a:lumOff val="80000"/>
                      </a:schemeClr>
                    </a:solidFill>
                  </a:tcPr>
                </a:tc>
                <a:tc>
                  <a:txBody>
                    <a:bodyPr/>
                    <a:lstStyle/>
                    <a:p>
                      <a:pPr algn="ctr" fontAlgn="ctr"/>
                      <a:r>
                        <a:rPr lang="en-US" sz="1400" b="0" i="0" u="none" strike="noStrike" dirty="0">
                          <a:solidFill>
                            <a:srgbClr val="000000"/>
                          </a:solidFill>
                          <a:effectLst/>
                          <a:latin typeface="Calibri" panose="020F0502020204030204" pitchFamily="34" charset="0"/>
                        </a:rPr>
                        <a:t>Project Cost </a:t>
                      </a:r>
                    </a:p>
                    <a:p>
                      <a:pPr algn="ctr" fontAlgn="ctr"/>
                      <a:r>
                        <a:rPr lang="en-US" sz="1400" b="0" i="0" u="none" strike="noStrike" dirty="0">
                          <a:solidFill>
                            <a:srgbClr val="000000"/>
                          </a:solidFill>
                          <a:effectLst/>
                          <a:latin typeface="Calibri" panose="020F0502020204030204" pitchFamily="34" charset="0"/>
                        </a:rPr>
                        <a:t>(in Rs. Cr)</a:t>
                      </a:r>
                    </a:p>
                  </a:txBody>
                  <a:tcPr marL="6350" marR="6350" marT="6350" marB="0" anchor="ctr">
                    <a:solidFill>
                      <a:schemeClr val="accent2">
                        <a:lumMod val="20000"/>
                        <a:lumOff val="80000"/>
                      </a:schemeClr>
                    </a:solidFill>
                  </a:tcPr>
                </a:tc>
                <a:extLst>
                  <a:ext uri="{0D108BD9-81ED-4DB2-BD59-A6C34878D82A}">
                    <a16:rowId xmlns:a16="http://schemas.microsoft.com/office/drawing/2014/main" val="1522326504"/>
                  </a:ext>
                </a:extLst>
              </a:tr>
              <a:tr h="550726">
                <a:tc>
                  <a:txBody>
                    <a:bodyPr/>
                    <a:lstStyle/>
                    <a:p>
                      <a:pPr algn="ctr" fontAlgn="ctr"/>
                      <a:r>
                        <a:rPr lang="en-US" sz="1400" b="0" i="0" u="none" strike="noStrike">
                          <a:solidFill>
                            <a:srgbClr val="000000"/>
                          </a:solidFill>
                          <a:effectLst/>
                          <a:latin typeface="Calibri" panose="020F0502020204030204" pitchFamily="34" charset="0"/>
                        </a:rPr>
                        <a:t>61</a:t>
                      </a:r>
                    </a:p>
                  </a:txBody>
                  <a:tcPr marL="6350" marR="6350" marT="635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b="0" i="0" u="none" strike="noStrike">
                          <a:solidFill>
                            <a:srgbClr val="000000"/>
                          </a:solidFill>
                          <a:effectLst/>
                          <a:latin typeface="Calibri" panose="020F0502020204030204" pitchFamily="34" charset="0"/>
                        </a:rPr>
                        <a:t>61</a:t>
                      </a:r>
                    </a:p>
                  </a:txBody>
                  <a:tcPr marL="6350" marR="6350" marT="635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b="0" i="0" u="none" strike="noStrike">
                          <a:solidFill>
                            <a:srgbClr val="000000"/>
                          </a:solidFill>
                          <a:effectLst/>
                          <a:latin typeface="Calibri" panose="020F0502020204030204" pitchFamily="34" charset="0"/>
                        </a:rPr>
                        <a:t>162.03</a:t>
                      </a:r>
                    </a:p>
                  </a:txBody>
                  <a:tcPr marL="6350" marR="6350" marT="635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b="0" i="0" u="none" strike="noStrike">
                          <a:solidFill>
                            <a:srgbClr val="000000"/>
                          </a:solidFill>
                          <a:effectLst/>
                          <a:latin typeface="Calibri" panose="020F0502020204030204" pitchFamily="34" charset="0"/>
                        </a:rPr>
                        <a:t>3</a:t>
                      </a:r>
                    </a:p>
                  </a:txBody>
                  <a:tcPr marL="6350" marR="6350" marT="635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b="0" i="0" u="none" strike="noStrike" dirty="0">
                          <a:solidFill>
                            <a:srgbClr val="000000"/>
                          </a:solidFill>
                          <a:effectLst/>
                          <a:latin typeface="Calibri" panose="020F0502020204030204" pitchFamily="34" charset="0"/>
                        </a:rPr>
                        <a:t>3</a:t>
                      </a:r>
                    </a:p>
                  </a:txBody>
                  <a:tcPr marL="6350" marR="6350" marT="635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400" b="0" i="0" u="none" strike="noStrike" dirty="0">
                          <a:solidFill>
                            <a:srgbClr val="000000"/>
                          </a:solidFill>
                          <a:effectLst/>
                          <a:latin typeface="Calibri" panose="020F0502020204030204" pitchFamily="34" charset="0"/>
                        </a:rPr>
                        <a:t>18.78</a:t>
                      </a:r>
                    </a:p>
                  </a:txBody>
                  <a:tcPr marL="6350" marR="6350" marT="6350" marB="0"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2135256"/>
                  </a:ext>
                </a:extLst>
              </a:tr>
            </a:tbl>
          </a:graphicData>
        </a:graphic>
      </p:graphicFrame>
      <p:sp>
        <p:nvSpPr>
          <p:cNvPr id="35" name="TextBox 34">
            <a:extLst>
              <a:ext uri="{FF2B5EF4-FFF2-40B4-BE49-F238E27FC236}">
                <a16:creationId xmlns:a16="http://schemas.microsoft.com/office/drawing/2014/main" id="{27ACD1E3-AAE3-494D-A1FB-7F9B405833D2}"/>
              </a:ext>
            </a:extLst>
          </p:cNvPr>
          <p:cNvSpPr txBox="1"/>
          <p:nvPr/>
        </p:nvSpPr>
        <p:spPr>
          <a:xfrm>
            <a:off x="7718362" y="654137"/>
            <a:ext cx="2660602" cy="215444"/>
          </a:xfrm>
          <a:prstGeom prst="rect">
            <a:avLst/>
          </a:prstGeom>
          <a:solidFill>
            <a:schemeClr val="bg1"/>
          </a:solidFill>
        </p:spPr>
        <p:txBody>
          <a:bodyPr wrap="square" lIns="0" tIns="0" rIns="0" bIns="0" rtlCol="0">
            <a:spAutoFit/>
          </a:bodyPr>
          <a:lstStyle/>
          <a:p>
            <a:pPr algn="ctr"/>
            <a:r>
              <a:rPr lang="en-US" sz="1400" b="1" dirty="0">
                <a:latin typeface="Calibri" panose="020F0502020204030204" pitchFamily="34" charset="0"/>
                <a:cs typeface="Calibri" panose="020F0502020204030204" pitchFamily="34" charset="0"/>
              </a:rPr>
              <a:t>Physical Progress as on 31.10.2021</a:t>
            </a:r>
          </a:p>
        </p:txBody>
      </p:sp>
      <p:graphicFrame>
        <p:nvGraphicFramePr>
          <p:cNvPr id="5" name="Chart 4">
            <a:extLst>
              <a:ext uri="{FF2B5EF4-FFF2-40B4-BE49-F238E27FC236}">
                <a16:creationId xmlns:a16="http://schemas.microsoft.com/office/drawing/2014/main" id="{96327346-A136-4D4E-89B4-904C9BF3146F}"/>
              </a:ext>
            </a:extLst>
          </p:cNvPr>
          <p:cNvGraphicFramePr/>
          <p:nvPr>
            <p:extLst>
              <p:ext uri="{D42A27DB-BD31-4B8C-83A1-F6EECF244321}">
                <p14:modId xmlns:p14="http://schemas.microsoft.com/office/powerpoint/2010/main" val="1938514820"/>
              </p:ext>
            </p:extLst>
          </p:nvPr>
        </p:nvGraphicFramePr>
        <p:xfrm>
          <a:off x="0" y="3942436"/>
          <a:ext cx="7488464" cy="2632188"/>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a:extLst>
              <a:ext uri="{FF2B5EF4-FFF2-40B4-BE49-F238E27FC236}">
                <a16:creationId xmlns:a16="http://schemas.microsoft.com/office/drawing/2014/main" id="{8A58177D-D5B0-41A9-B057-1265ACED4A3D}"/>
              </a:ext>
            </a:extLst>
          </p:cNvPr>
          <p:cNvSpPr txBox="1"/>
          <p:nvPr/>
        </p:nvSpPr>
        <p:spPr>
          <a:xfrm>
            <a:off x="3198707" y="6629898"/>
            <a:ext cx="5607836" cy="169277"/>
          </a:xfrm>
          <a:prstGeom prst="rect">
            <a:avLst/>
          </a:prstGeom>
          <a:noFill/>
        </p:spPr>
        <p:txBody>
          <a:bodyPr wrap="square" lIns="0" tIns="0" rIns="0" bIns="0" rtlCol="0">
            <a:spAutoFit/>
          </a:bodyPr>
          <a:lstStyle/>
          <a:p>
            <a:pPr>
              <a:spcBef>
                <a:spcPts val="600"/>
              </a:spcBef>
              <a:buSzPct val="100000"/>
            </a:pPr>
            <a:r>
              <a:rPr lang="en-US" sz="1100" b="1" dirty="0">
                <a:solidFill>
                  <a:srgbClr val="313131"/>
                </a:solidFill>
                <a:latin typeface="+mj-lt"/>
                <a:cs typeface="Calibri" panose="020F0502020204030204" pitchFamily="34" charset="0"/>
              </a:rPr>
              <a:t>Source </a:t>
            </a:r>
            <a:r>
              <a:rPr lang="en-US" sz="1100" dirty="0">
                <a:solidFill>
                  <a:srgbClr val="313131"/>
                </a:solidFill>
                <a:latin typeface="+mj-lt"/>
                <a:cs typeface="Calibri" panose="020F0502020204030204" pitchFamily="34" charset="0"/>
              </a:rPr>
              <a:t>: 1) Internal (Department of Power) 2) WBSEDCL Annual reports</a:t>
            </a:r>
          </a:p>
        </p:txBody>
      </p:sp>
    </p:spTree>
    <p:extLst>
      <p:ext uri="{BB962C8B-B14F-4D97-AF65-F5344CB8AC3E}">
        <p14:creationId xmlns:p14="http://schemas.microsoft.com/office/powerpoint/2010/main" val="3462931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9">
            <a:extLst>
              <a:ext uri="{FF2B5EF4-FFF2-40B4-BE49-F238E27FC236}">
                <a16:creationId xmlns:a16="http://schemas.microsoft.com/office/drawing/2014/main" id="{ADDBC7C8-E57A-4887-8C42-E5DF93DA658C}"/>
              </a:ext>
            </a:extLst>
          </p:cNvPr>
          <p:cNvSpPr>
            <a:spLocks noChangeArrowheads="1"/>
          </p:cNvSpPr>
          <p:nvPr/>
        </p:nvSpPr>
        <p:spPr bwMode="auto">
          <a:xfrm>
            <a:off x="3727239" y="816657"/>
            <a:ext cx="7963108" cy="1959201"/>
          </a:xfrm>
          <a:prstGeom prst="rect">
            <a:avLst/>
          </a:prstGeom>
          <a:solidFill>
            <a:schemeClr val="accent1">
              <a:lumMod val="20000"/>
              <a:lumOff val="80000"/>
            </a:schemeClr>
          </a:solidFill>
          <a:ln w="19050" algn="ctr">
            <a:solidFill>
              <a:schemeClr val="accent1"/>
            </a:solidFill>
            <a:miter lim="800000"/>
            <a:headEnd/>
            <a:tailEnd/>
          </a:ln>
        </p:spPr>
        <p:txBody>
          <a:bodyPr wrap="square" lIns="88900" tIns="88900" rIns="88900" bIns="88900" anchor="ctr"/>
          <a:lstStyle/>
          <a:p>
            <a:pPr marL="166688" indent="-166688" algn="just">
              <a:spcBef>
                <a:spcPts val="600"/>
              </a:spcBef>
              <a:defRPr/>
            </a:pPr>
            <a:r>
              <a:rPr lang="en-US" sz="1300" dirty="0" err="1">
                <a:latin typeface="+mj-lt"/>
                <a:ea typeface="ＭＳ Ｐゴシック" pitchFamily="50" charset="-128"/>
                <a:cs typeface="Calibri" panose="020F0502020204030204" pitchFamily="34" charset="0"/>
              </a:rPr>
              <a:t>MoP</a:t>
            </a:r>
            <a:r>
              <a:rPr lang="en-US" sz="1300" dirty="0">
                <a:latin typeface="+mj-lt"/>
                <a:ea typeface="ＭＳ Ｐゴシック" pitchFamily="50" charset="-128"/>
                <a:cs typeface="Calibri" panose="020F0502020204030204" pitchFamily="34" charset="0"/>
              </a:rPr>
              <a:t> had launched Integrated Power Development Scheme (IPDS) </a:t>
            </a:r>
            <a:r>
              <a:rPr lang="en-US" sz="1300" b="1" dirty="0">
                <a:latin typeface="+mj-lt"/>
                <a:ea typeface="ＭＳ Ｐゴシック" pitchFamily="50" charset="-128"/>
                <a:cs typeface="Calibri" panose="020F0502020204030204" pitchFamily="34" charset="0"/>
              </a:rPr>
              <a:t>for strengthening of Distribution Infrastructure for the Urban areas having population of more than 5,0000</a:t>
            </a:r>
            <a:r>
              <a:rPr lang="en-US" sz="1300" dirty="0">
                <a:latin typeface="+mj-lt"/>
                <a:ea typeface="ＭＳ Ｐゴシック" pitchFamily="50" charset="-128"/>
                <a:cs typeface="Calibri" panose="020F0502020204030204" pitchFamily="34" charset="0"/>
              </a:rPr>
              <a:t> as per census 2011 with the </a:t>
            </a:r>
            <a:r>
              <a:rPr lang="en-US" sz="1300" b="1" dirty="0">
                <a:latin typeface="+mj-lt"/>
                <a:ea typeface="ＭＳ Ｐゴシック" pitchFamily="50" charset="-128"/>
                <a:cs typeface="Calibri" panose="020F0502020204030204" pitchFamily="34" charset="0"/>
              </a:rPr>
              <a:t>following components</a:t>
            </a:r>
            <a:r>
              <a:rPr lang="en-US" sz="1300" dirty="0">
                <a:latin typeface="+mj-lt"/>
                <a:ea typeface="ＭＳ Ｐゴシック" pitchFamily="50" charset="-128"/>
                <a:cs typeface="Calibri" panose="020F0502020204030204" pitchFamily="34" charset="0"/>
              </a:rPr>
              <a:t>:</a:t>
            </a:r>
          </a:p>
          <a:p>
            <a:pPr marL="342900" indent="-342900" algn="just">
              <a:spcBef>
                <a:spcPts val="600"/>
              </a:spcBef>
              <a:buFont typeface="Courier New" panose="02070309020205020404" pitchFamily="49" charset="0"/>
              <a:buChar char="o"/>
              <a:defRPr/>
            </a:pPr>
            <a:r>
              <a:rPr lang="en-US" sz="1300" dirty="0">
                <a:latin typeface="+mj-lt"/>
                <a:ea typeface="ＭＳ Ｐゴシック" pitchFamily="50" charset="-128"/>
                <a:cs typeface="Calibri" panose="020F0502020204030204" pitchFamily="34" charset="0"/>
              </a:rPr>
              <a:t>Strengthening of sub-transmission &amp; distribution networks including provisioning of Solar Panels and Net-metering.</a:t>
            </a:r>
          </a:p>
          <a:p>
            <a:pPr marL="342900" indent="-342900" algn="just">
              <a:spcBef>
                <a:spcPts val="600"/>
              </a:spcBef>
              <a:buFont typeface="Courier New" panose="02070309020205020404" pitchFamily="49" charset="0"/>
              <a:buChar char="o"/>
              <a:defRPr/>
            </a:pPr>
            <a:r>
              <a:rPr lang="en-US" sz="1300" dirty="0">
                <a:latin typeface="+mj-lt"/>
                <a:ea typeface="ＭＳ Ｐゴシック" pitchFamily="50" charset="-128"/>
                <a:cs typeface="Calibri" panose="020F0502020204030204" pitchFamily="34" charset="0"/>
              </a:rPr>
              <a:t>Metering of distribution transformers / feeders / consumers.</a:t>
            </a:r>
          </a:p>
          <a:p>
            <a:pPr marL="342900" indent="-342900" algn="just">
              <a:spcBef>
                <a:spcPts val="600"/>
              </a:spcBef>
              <a:buFont typeface="Courier New" panose="02070309020205020404" pitchFamily="49" charset="0"/>
              <a:buChar char="o"/>
              <a:defRPr/>
            </a:pPr>
            <a:r>
              <a:rPr lang="en-US" sz="1300" dirty="0">
                <a:latin typeface="+mj-lt"/>
                <a:ea typeface="ＭＳ Ｐゴシック" pitchFamily="50" charset="-128"/>
                <a:cs typeface="Calibri" panose="020F0502020204030204" pitchFamily="34" charset="0"/>
              </a:rPr>
              <a:t>IT enablement of distribution sector and strengthening of distribution network</a:t>
            </a:r>
          </a:p>
        </p:txBody>
      </p:sp>
      <p:sp>
        <p:nvSpPr>
          <p:cNvPr id="21" name="AutoShape 12">
            <a:extLst>
              <a:ext uri="{FF2B5EF4-FFF2-40B4-BE49-F238E27FC236}">
                <a16:creationId xmlns:a16="http://schemas.microsoft.com/office/drawing/2014/main" id="{AACE88D1-0F70-4149-A94E-C56BF6DDDC1A}"/>
              </a:ext>
            </a:extLst>
          </p:cNvPr>
          <p:cNvSpPr>
            <a:spLocks noChangeArrowheads="1"/>
          </p:cNvSpPr>
          <p:nvPr/>
        </p:nvSpPr>
        <p:spPr bwMode="auto">
          <a:xfrm>
            <a:off x="2595125" y="816658"/>
            <a:ext cx="1008046" cy="1959200"/>
          </a:xfrm>
          <a:prstGeom prst="homePlate">
            <a:avLst>
              <a:gd name="adj" fmla="val 100000"/>
            </a:avLst>
          </a:prstGeom>
          <a:solidFill>
            <a:schemeClr val="bg2">
              <a:lumMod val="75000"/>
            </a:schemeClr>
          </a:solidFill>
          <a:ln w="6350" algn="ctr">
            <a:noFill/>
            <a:miter lim="800000"/>
            <a:headEnd/>
            <a:tailEnd/>
          </a:ln>
        </p:spPr>
        <p:txBody>
          <a:bodyPr wrap="square" lIns="88900" tIns="88900" rIns="88900" bIns="88900" anchor="ctr"/>
          <a:lstStyle/>
          <a:p>
            <a:pPr algn="ctr"/>
            <a:endParaRPr lang="en-US" sz="1400" dirty="0">
              <a:latin typeface="+mj-lt"/>
            </a:endParaRPr>
          </a:p>
        </p:txBody>
      </p:sp>
      <p:sp>
        <p:nvSpPr>
          <p:cNvPr id="24" name="Rectangle 23">
            <a:extLst>
              <a:ext uri="{FF2B5EF4-FFF2-40B4-BE49-F238E27FC236}">
                <a16:creationId xmlns:a16="http://schemas.microsoft.com/office/drawing/2014/main" id="{A3D90435-7D86-4CEC-9EC3-E0A6A53CAF9F}"/>
              </a:ext>
            </a:extLst>
          </p:cNvPr>
          <p:cNvSpPr/>
          <p:nvPr/>
        </p:nvSpPr>
        <p:spPr bwMode="gray">
          <a:xfrm>
            <a:off x="501653" y="816658"/>
            <a:ext cx="1969404" cy="1944022"/>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b="1" dirty="0">
                <a:solidFill>
                  <a:schemeClr val="bg1"/>
                </a:solidFill>
                <a:latin typeface="+mj-lt"/>
                <a:cs typeface="Calibri" panose="020F0502020204030204" pitchFamily="34" charset="0"/>
              </a:rPr>
              <a:t>Background</a:t>
            </a:r>
          </a:p>
        </p:txBody>
      </p:sp>
      <p:sp>
        <p:nvSpPr>
          <p:cNvPr id="36" name="Oval 35">
            <a:extLst>
              <a:ext uri="{FF2B5EF4-FFF2-40B4-BE49-F238E27FC236}">
                <a16:creationId xmlns:a16="http://schemas.microsoft.com/office/drawing/2014/main" id="{D6BB4E0C-F837-4728-A1EB-8E8EDA16F515}"/>
              </a:ext>
            </a:extLst>
          </p:cNvPr>
          <p:cNvSpPr>
            <a:spLocks noChangeArrowheads="1"/>
          </p:cNvSpPr>
          <p:nvPr/>
        </p:nvSpPr>
        <p:spPr bwMode="blackWhite">
          <a:xfrm rot="16200000">
            <a:off x="526984" y="3401539"/>
            <a:ext cx="711237" cy="702828"/>
          </a:xfrm>
          <a:prstGeom prst="ellipse">
            <a:avLst/>
          </a:prstGeom>
          <a:solidFill>
            <a:schemeClr val="accent2"/>
          </a:solidFill>
          <a:ln w="12700">
            <a:noFill/>
            <a:round/>
            <a:headEnd/>
            <a:tailEnd/>
          </a:ln>
        </p:spPr>
        <p:txBody>
          <a:bodyPr vert="vert" wrap="square" lIns="88900" tIns="88900" rIns="88900" bIns="88900" anchor="ctr"/>
          <a:lstStyle/>
          <a:p>
            <a:pPr algn="ctr" eaLnBrk="1" hangingPunct="1">
              <a:spcBef>
                <a:spcPct val="20000"/>
              </a:spcBef>
              <a:defRPr/>
            </a:pPr>
            <a:r>
              <a:rPr lang="en-GB" sz="2000" dirty="0">
                <a:solidFill>
                  <a:schemeClr val="bg1"/>
                </a:solidFill>
                <a:latin typeface="+mj-lt"/>
                <a:cs typeface="Calibri" panose="020F0502020204030204" pitchFamily="34" charset="0"/>
              </a:rPr>
              <a:t>1</a:t>
            </a:r>
          </a:p>
        </p:txBody>
      </p:sp>
      <p:sp>
        <p:nvSpPr>
          <p:cNvPr id="37" name="Oval 36">
            <a:extLst>
              <a:ext uri="{FF2B5EF4-FFF2-40B4-BE49-F238E27FC236}">
                <a16:creationId xmlns:a16="http://schemas.microsoft.com/office/drawing/2014/main" id="{A3C8C192-CAA0-47AB-A3FB-F6B0B5BAD1F6}"/>
              </a:ext>
            </a:extLst>
          </p:cNvPr>
          <p:cNvSpPr>
            <a:spLocks noChangeArrowheads="1"/>
          </p:cNvSpPr>
          <p:nvPr/>
        </p:nvSpPr>
        <p:spPr bwMode="blackWhite">
          <a:xfrm rot="16200000">
            <a:off x="918794" y="5213947"/>
            <a:ext cx="684084" cy="682228"/>
          </a:xfrm>
          <a:prstGeom prst="ellipse">
            <a:avLst/>
          </a:prstGeom>
          <a:solidFill>
            <a:schemeClr val="accent3"/>
          </a:solidFill>
          <a:ln w="12700">
            <a:noFill/>
            <a:round/>
            <a:headEnd/>
            <a:tailEnd/>
          </a:ln>
        </p:spPr>
        <p:txBody>
          <a:bodyPr vert="vert" wrap="square" lIns="88900" tIns="88900" rIns="88900" bIns="88900" anchor="ctr"/>
          <a:lstStyle/>
          <a:p>
            <a:pPr algn="ctr" eaLnBrk="1" hangingPunct="1">
              <a:spcBef>
                <a:spcPct val="20000"/>
              </a:spcBef>
              <a:defRPr/>
            </a:pPr>
            <a:r>
              <a:rPr lang="en-GB" sz="2000" dirty="0">
                <a:solidFill>
                  <a:schemeClr val="bg1"/>
                </a:solidFill>
                <a:latin typeface="+mj-lt"/>
                <a:cs typeface="Calibri" panose="020F0502020204030204" pitchFamily="34" charset="0"/>
              </a:rPr>
              <a:t>3</a:t>
            </a:r>
          </a:p>
        </p:txBody>
      </p:sp>
      <p:sp>
        <p:nvSpPr>
          <p:cNvPr id="38" name="Oval 37">
            <a:extLst>
              <a:ext uri="{FF2B5EF4-FFF2-40B4-BE49-F238E27FC236}">
                <a16:creationId xmlns:a16="http://schemas.microsoft.com/office/drawing/2014/main" id="{DEA2F46F-29C6-4773-8DC1-72809EA907C1}"/>
              </a:ext>
            </a:extLst>
          </p:cNvPr>
          <p:cNvSpPr>
            <a:spLocks noChangeArrowheads="1"/>
          </p:cNvSpPr>
          <p:nvPr/>
        </p:nvSpPr>
        <p:spPr bwMode="blackWhite">
          <a:xfrm rot="16381333">
            <a:off x="1620578" y="4259843"/>
            <a:ext cx="673138" cy="758959"/>
          </a:xfrm>
          <a:prstGeom prst="ellipse">
            <a:avLst/>
          </a:prstGeom>
          <a:solidFill>
            <a:schemeClr val="accent1"/>
          </a:solidFill>
          <a:ln w="12700">
            <a:noFill/>
            <a:round/>
            <a:headEnd/>
            <a:tailEnd/>
          </a:ln>
        </p:spPr>
        <p:txBody>
          <a:bodyPr vert="vert" wrap="square" lIns="88900" tIns="88900" rIns="88900" bIns="88900" anchor="ctr"/>
          <a:lstStyle/>
          <a:p>
            <a:pPr algn="ctr" eaLnBrk="1" hangingPunct="1">
              <a:spcBef>
                <a:spcPct val="20000"/>
              </a:spcBef>
              <a:defRPr/>
            </a:pPr>
            <a:r>
              <a:rPr lang="en-GB" sz="2000" dirty="0">
                <a:solidFill>
                  <a:schemeClr val="bg1"/>
                </a:solidFill>
                <a:latin typeface="+mj-lt"/>
                <a:cs typeface="Calibri" panose="020F0502020204030204" pitchFamily="34" charset="0"/>
              </a:rPr>
              <a:t>2</a:t>
            </a:r>
          </a:p>
        </p:txBody>
      </p:sp>
      <p:grpSp>
        <p:nvGrpSpPr>
          <p:cNvPr id="39" name="Group 38">
            <a:extLst>
              <a:ext uri="{FF2B5EF4-FFF2-40B4-BE49-F238E27FC236}">
                <a16:creationId xmlns:a16="http://schemas.microsoft.com/office/drawing/2014/main" id="{065130CE-2455-46FB-92B1-FA844A1BF902}"/>
              </a:ext>
            </a:extLst>
          </p:cNvPr>
          <p:cNvGrpSpPr/>
          <p:nvPr/>
        </p:nvGrpSpPr>
        <p:grpSpPr>
          <a:xfrm rot="16200000">
            <a:off x="-140569" y="3591258"/>
            <a:ext cx="3181225" cy="1942314"/>
            <a:chOff x="4665630" y="2359025"/>
            <a:chExt cx="4061685" cy="2746375"/>
          </a:xfrm>
        </p:grpSpPr>
        <p:sp>
          <p:nvSpPr>
            <p:cNvPr id="40" name="Arc 20">
              <a:extLst>
                <a:ext uri="{FF2B5EF4-FFF2-40B4-BE49-F238E27FC236}">
                  <a16:creationId xmlns:a16="http://schemas.microsoft.com/office/drawing/2014/main" id="{87BD2DB2-EBC1-4910-80F8-2B8A99713EF9}"/>
                </a:ext>
              </a:extLst>
            </p:cNvPr>
            <p:cNvSpPr>
              <a:spLocks/>
            </p:cNvSpPr>
            <p:nvPr/>
          </p:nvSpPr>
          <p:spPr bwMode="auto">
            <a:xfrm>
              <a:off x="5380550" y="2867025"/>
              <a:ext cx="580769" cy="608013"/>
            </a:xfrm>
            <a:custGeom>
              <a:avLst/>
              <a:gdLst>
                <a:gd name="T0" fmla="*/ 0 w 21646"/>
                <a:gd name="T1" fmla="*/ 0 h 21600"/>
                <a:gd name="T2" fmla="*/ 0 w 21646"/>
                <a:gd name="T3" fmla="*/ 0 h 21600"/>
                <a:gd name="T4" fmla="*/ 0 w 21646"/>
                <a:gd name="T5" fmla="*/ 0 h 21600"/>
                <a:gd name="T6" fmla="*/ 0 60000 65536"/>
                <a:gd name="T7" fmla="*/ 0 60000 65536"/>
                <a:gd name="T8" fmla="*/ 0 60000 65536"/>
                <a:gd name="T9" fmla="*/ 0 w 21646"/>
                <a:gd name="T10" fmla="*/ 0 h 21600"/>
                <a:gd name="T11" fmla="*/ 21646 w 21646"/>
                <a:gd name="T12" fmla="*/ 21600 h 21600"/>
              </a:gdLst>
              <a:ahLst/>
              <a:cxnLst>
                <a:cxn ang="T6">
                  <a:pos x="T0" y="T1"/>
                </a:cxn>
                <a:cxn ang="T7">
                  <a:pos x="T2" y="T3"/>
                </a:cxn>
                <a:cxn ang="T8">
                  <a:pos x="T4" y="T5"/>
                </a:cxn>
              </a:cxnLst>
              <a:rect l="T9" t="T10" r="T11" b="T12"/>
              <a:pathLst>
                <a:path w="21646" h="21600" fill="none" extrusionOk="0">
                  <a:moveTo>
                    <a:pt x="0" y="0"/>
                  </a:moveTo>
                  <a:cubicBezTo>
                    <a:pt x="17" y="0"/>
                    <a:pt x="35" y="-1"/>
                    <a:pt x="53" y="0"/>
                  </a:cubicBezTo>
                  <a:cubicBezTo>
                    <a:pt x="11761" y="0"/>
                    <a:pt x="21337" y="9327"/>
                    <a:pt x="21645" y="21032"/>
                  </a:cubicBezTo>
                </a:path>
                <a:path w="21646" h="21600" stroke="0" extrusionOk="0">
                  <a:moveTo>
                    <a:pt x="0" y="0"/>
                  </a:moveTo>
                  <a:cubicBezTo>
                    <a:pt x="17" y="0"/>
                    <a:pt x="35" y="-1"/>
                    <a:pt x="53" y="0"/>
                  </a:cubicBezTo>
                  <a:cubicBezTo>
                    <a:pt x="11761" y="0"/>
                    <a:pt x="21337" y="9327"/>
                    <a:pt x="21645" y="21032"/>
                  </a:cubicBezTo>
                  <a:lnTo>
                    <a:pt x="53" y="21600"/>
                  </a:lnTo>
                  <a:close/>
                </a:path>
              </a:pathLst>
            </a:custGeom>
            <a:noFill/>
            <a:ln w="19050" cap="rnd">
              <a:solidFill>
                <a:schemeClr val="tx1"/>
              </a:solidFill>
              <a:round/>
              <a:headEnd type="none" w="sm" len="sm"/>
              <a:tailEnd type="none" w="sm" len="sm"/>
            </a:ln>
          </p:spPr>
          <p:txBody>
            <a:bodyPr wrap="none" anchor="ctr"/>
            <a:lstStyle/>
            <a:p>
              <a:pPr algn="ctr" eaLnBrk="1" hangingPunct="1">
                <a:spcBef>
                  <a:spcPct val="20000"/>
                </a:spcBef>
                <a:defRPr/>
              </a:pPr>
              <a:endParaRPr lang="en-GB" sz="1400" b="1" dirty="0">
                <a:solidFill>
                  <a:srgbClr val="FFFFFF"/>
                </a:solidFill>
                <a:latin typeface="+mj-lt"/>
                <a:cs typeface="Arial" pitchFamily="34" charset="0"/>
              </a:endParaRPr>
            </a:p>
          </p:txBody>
        </p:sp>
        <p:sp>
          <p:nvSpPr>
            <p:cNvPr id="41" name="Line 21">
              <a:extLst>
                <a:ext uri="{FF2B5EF4-FFF2-40B4-BE49-F238E27FC236}">
                  <a16:creationId xmlns:a16="http://schemas.microsoft.com/office/drawing/2014/main" id="{63DBAB18-0479-4D1C-8992-BC996FBF9B1C}"/>
                </a:ext>
              </a:extLst>
            </p:cNvPr>
            <p:cNvSpPr>
              <a:spLocks noChangeShapeType="1"/>
            </p:cNvSpPr>
            <p:nvPr/>
          </p:nvSpPr>
          <p:spPr bwMode="auto">
            <a:xfrm flipH="1">
              <a:off x="4665630" y="2867025"/>
              <a:ext cx="726372" cy="0"/>
            </a:xfrm>
            <a:prstGeom prst="line">
              <a:avLst/>
            </a:prstGeom>
            <a:noFill/>
            <a:ln w="19050">
              <a:solidFill>
                <a:schemeClr val="tx1"/>
              </a:solidFill>
              <a:round/>
              <a:headEnd type="none" w="sm" len="sm"/>
              <a:tailEnd type="none" w="sm" len="sm"/>
            </a:ln>
          </p:spPr>
          <p:txBody>
            <a:bodyPr wrap="none" anchor="ctr"/>
            <a:lstStyle/>
            <a:p>
              <a:pPr algn="ctr" eaLnBrk="1" hangingPunct="1">
                <a:spcBef>
                  <a:spcPct val="20000"/>
                </a:spcBef>
                <a:defRPr/>
              </a:pPr>
              <a:endParaRPr lang="en-GB" sz="1400" b="1" dirty="0">
                <a:solidFill>
                  <a:srgbClr val="FFFFFF"/>
                </a:solidFill>
                <a:latin typeface="+mj-lt"/>
                <a:cs typeface="Arial" pitchFamily="34" charset="0"/>
              </a:endParaRPr>
            </a:p>
          </p:txBody>
        </p:sp>
        <p:sp>
          <p:nvSpPr>
            <p:cNvPr id="42" name="Arc 22">
              <a:extLst>
                <a:ext uri="{FF2B5EF4-FFF2-40B4-BE49-F238E27FC236}">
                  <a16:creationId xmlns:a16="http://schemas.microsoft.com/office/drawing/2014/main" id="{C9F0ED44-252C-457C-940B-FAFFE408B795}"/>
                </a:ext>
              </a:extLst>
            </p:cNvPr>
            <p:cNvSpPr>
              <a:spLocks/>
            </p:cNvSpPr>
            <p:nvPr/>
          </p:nvSpPr>
          <p:spPr bwMode="auto">
            <a:xfrm>
              <a:off x="5961319" y="4506913"/>
              <a:ext cx="1188720" cy="598487"/>
            </a:xfrm>
            <a:custGeom>
              <a:avLst/>
              <a:gdLst>
                <a:gd name="T0" fmla="*/ 0 w 43200"/>
                <a:gd name="T1" fmla="*/ 0 h 21705"/>
                <a:gd name="T2" fmla="*/ 0 w 43200"/>
                <a:gd name="T3" fmla="*/ 0 h 21705"/>
                <a:gd name="T4" fmla="*/ 0 w 43200"/>
                <a:gd name="T5" fmla="*/ 0 h 21705"/>
                <a:gd name="T6" fmla="*/ 0 60000 65536"/>
                <a:gd name="T7" fmla="*/ 0 60000 65536"/>
                <a:gd name="T8" fmla="*/ 0 60000 65536"/>
                <a:gd name="T9" fmla="*/ 0 w 43200"/>
                <a:gd name="T10" fmla="*/ 0 h 21705"/>
                <a:gd name="T11" fmla="*/ 43200 w 43200"/>
                <a:gd name="T12" fmla="*/ 21705 h 21705"/>
              </a:gdLst>
              <a:ahLst/>
              <a:cxnLst>
                <a:cxn ang="T6">
                  <a:pos x="T0" y="T1"/>
                </a:cxn>
                <a:cxn ang="T7">
                  <a:pos x="T2" y="T3"/>
                </a:cxn>
                <a:cxn ang="T8">
                  <a:pos x="T4" y="T5"/>
                </a:cxn>
              </a:cxnLst>
              <a:rect l="T9" t="T10" r="T11" b="T12"/>
              <a:pathLst>
                <a:path w="43200" h="21705" fill="none" extrusionOk="0">
                  <a:moveTo>
                    <a:pt x="43199" y="53"/>
                  </a:moveTo>
                  <a:cubicBezTo>
                    <a:pt x="43199" y="70"/>
                    <a:pt x="43200" y="87"/>
                    <a:pt x="43200" y="105"/>
                  </a:cubicBezTo>
                  <a:cubicBezTo>
                    <a:pt x="43200" y="12034"/>
                    <a:pt x="33529" y="21705"/>
                    <a:pt x="21600" y="21705"/>
                  </a:cubicBezTo>
                  <a:cubicBezTo>
                    <a:pt x="9670" y="21705"/>
                    <a:pt x="0" y="12034"/>
                    <a:pt x="0" y="105"/>
                  </a:cubicBezTo>
                  <a:cubicBezTo>
                    <a:pt x="-1" y="70"/>
                    <a:pt x="0" y="35"/>
                    <a:pt x="0" y="0"/>
                  </a:cubicBezTo>
                </a:path>
                <a:path w="43200" h="21705" stroke="0" extrusionOk="0">
                  <a:moveTo>
                    <a:pt x="43199" y="53"/>
                  </a:moveTo>
                  <a:cubicBezTo>
                    <a:pt x="43199" y="70"/>
                    <a:pt x="43200" y="87"/>
                    <a:pt x="43200" y="105"/>
                  </a:cubicBezTo>
                  <a:cubicBezTo>
                    <a:pt x="43200" y="12034"/>
                    <a:pt x="33529" y="21705"/>
                    <a:pt x="21600" y="21705"/>
                  </a:cubicBezTo>
                  <a:cubicBezTo>
                    <a:pt x="9670" y="21705"/>
                    <a:pt x="0" y="12034"/>
                    <a:pt x="0" y="105"/>
                  </a:cubicBezTo>
                  <a:cubicBezTo>
                    <a:pt x="-1" y="70"/>
                    <a:pt x="0" y="35"/>
                    <a:pt x="0" y="0"/>
                  </a:cubicBezTo>
                  <a:lnTo>
                    <a:pt x="21600" y="105"/>
                  </a:lnTo>
                  <a:close/>
                </a:path>
              </a:pathLst>
            </a:custGeom>
            <a:noFill/>
            <a:ln w="19050" cap="rnd">
              <a:solidFill>
                <a:schemeClr val="tx1"/>
              </a:solidFill>
              <a:round/>
              <a:headEnd type="none" w="sm" len="sm"/>
              <a:tailEnd type="none" w="sm" len="sm"/>
            </a:ln>
          </p:spPr>
          <p:txBody>
            <a:bodyPr wrap="none" anchor="ctr"/>
            <a:lstStyle/>
            <a:p>
              <a:pPr algn="ctr" eaLnBrk="1" hangingPunct="1">
                <a:spcBef>
                  <a:spcPct val="20000"/>
                </a:spcBef>
                <a:defRPr/>
              </a:pPr>
              <a:endParaRPr lang="en-GB" sz="1400" b="1" dirty="0">
                <a:solidFill>
                  <a:srgbClr val="FFFFFF"/>
                </a:solidFill>
                <a:latin typeface="+mj-lt"/>
                <a:cs typeface="Arial" pitchFamily="34" charset="0"/>
              </a:endParaRPr>
            </a:p>
          </p:txBody>
        </p:sp>
        <p:sp>
          <p:nvSpPr>
            <p:cNvPr id="43" name="Line 23">
              <a:extLst>
                <a:ext uri="{FF2B5EF4-FFF2-40B4-BE49-F238E27FC236}">
                  <a16:creationId xmlns:a16="http://schemas.microsoft.com/office/drawing/2014/main" id="{45C27234-9103-49BC-923F-C1945E6A99E5}"/>
                </a:ext>
              </a:extLst>
            </p:cNvPr>
            <p:cNvSpPr>
              <a:spLocks noChangeShapeType="1"/>
            </p:cNvSpPr>
            <p:nvPr/>
          </p:nvSpPr>
          <p:spPr bwMode="auto">
            <a:xfrm flipV="1">
              <a:off x="5961319" y="3455011"/>
              <a:ext cx="0" cy="1073150"/>
            </a:xfrm>
            <a:prstGeom prst="line">
              <a:avLst/>
            </a:prstGeom>
            <a:noFill/>
            <a:ln w="19050">
              <a:solidFill>
                <a:schemeClr val="tx1"/>
              </a:solidFill>
              <a:round/>
              <a:headEnd type="none" w="sm" len="sm"/>
              <a:tailEnd type="none" w="sm" len="sm"/>
            </a:ln>
          </p:spPr>
          <p:txBody>
            <a:bodyPr wrap="none" anchor="ctr"/>
            <a:lstStyle/>
            <a:p>
              <a:pPr algn="ctr" eaLnBrk="1" hangingPunct="1">
                <a:spcBef>
                  <a:spcPct val="20000"/>
                </a:spcBef>
                <a:defRPr/>
              </a:pPr>
              <a:endParaRPr lang="en-GB" sz="1400" b="1" dirty="0">
                <a:solidFill>
                  <a:srgbClr val="FFFFFF"/>
                </a:solidFill>
                <a:latin typeface="+mj-lt"/>
                <a:cs typeface="Arial" pitchFamily="34" charset="0"/>
              </a:endParaRPr>
            </a:p>
          </p:txBody>
        </p:sp>
        <p:sp>
          <p:nvSpPr>
            <p:cNvPr id="44" name="Line 24">
              <a:extLst>
                <a:ext uri="{FF2B5EF4-FFF2-40B4-BE49-F238E27FC236}">
                  <a16:creationId xmlns:a16="http://schemas.microsoft.com/office/drawing/2014/main" id="{D583242A-4400-4B4C-AE31-A1935AA8DF54}"/>
                </a:ext>
              </a:extLst>
            </p:cNvPr>
            <p:cNvSpPr>
              <a:spLocks noChangeShapeType="1"/>
            </p:cNvSpPr>
            <p:nvPr/>
          </p:nvSpPr>
          <p:spPr bwMode="auto">
            <a:xfrm flipV="1">
              <a:off x="7150039" y="2962275"/>
              <a:ext cx="0" cy="1565275"/>
            </a:xfrm>
            <a:prstGeom prst="line">
              <a:avLst/>
            </a:prstGeom>
            <a:noFill/>
            <a:ln w="19050">
              <a:solidFill>
                <a:schemeClr val="tx1"/>
              </a:solidFill>
              <a:round/>
              <a:headEnd type="none" w="sm" len="sm"/>
              <a:tailEnd type="none" w="sm" len="sm"/>
            </a:ln>
          </p:spPr>
          <p:txBody>
            <a:bodyPr wrap="none" anchor="ctr"/>
            <a:lstStyle/>
            <a:p>
              <a:pPr algn="ctr" eaLnBrk="1" hangingPunct="1">
                <a:spcBef>
                  <a:spcPct val="20000"/>
                </a:spcBef>
                <a:defRPr/>
              </a:pPr>
              <a:endParaRPr lang="en-GB" sz="1400" b="1" dirty="0">
                <a:solidFill>
                  <a:srgbClr val="FFFFFF"/>
                </a:solidFill>
                <a:latin typeface="+mj-lt"/>
                <a:cs typeface="Arial" pitchFamily="34" charset="0"/>
              </a:endParaRPr>
            </a:p>
          </p:txBody>
        </p:sp>
        <p:sp>
          <p:nvSpPr>
            <p:cNvPr id="45" name="Arc 25">
              <a:extLst>
                <a:ext uri="{FF2B5EF4-FFF2-40B4-BE49-F238E27FC236}">
                  <a16:creationId xmlns:a16="http://schemas.microsoft.com/office/drawing/2014/main" id="{248BFBB4-DF6D-4562-B619-FF8089FBD2F2}"/>
                </a:ext>
              </a:extLst>
            </p:cNvPr>
            <p:cNvSpPr>
              <a:spLocks/>
            </p:cNvSpPr>
            <p:nvPr/>
          </p:nvSpPr>
          <p:spPr bwMode="auto">
            <a:xfrm>
              <a:off x="7150039" y="2359025"/>
              <a:ext cx="580770" cy="60483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548"/>
                  </a:moveTo>
                  <a:cubicBezTo>
                    <a:pt x="28" y="9659"/>
                    <a:pt x="9658" y="29"/>
                    <a:pt x="21547" y="0"/>
                  </a:cubicBezTo>
                </a:path>
                <a:path w="21600" h="21600" stroke="0" extrusionOk="0">
                  <a:moveTo>
                    <a:pt x="0" y="21548"/>
                  </a:moveTo>
                  <a:cubicBezTo>
                    <a:pt x="28" y="9659"/>
                    <a:pt x="9658" y="29"/>
                    <a:pt x="21547" y="0"/>
                  </a:cubicBezTo>
                  <a:lnTo>
                    <a:pt x="21600" y="21600"/>
                  </a:lnTo>
                  <a:close/>
                </a:path>
              </a:pathLst>
            </a:custGeom>
            <a:noFill/>
            <a:ln w="19050" cap="rnd">
              <a:solidFill>
                <a:schemeClr val="tx1"/>
              </a:solidFill>
              <a:round/>
              <a:headEnd type="none" w="sm" len="sm"/>
              <a:tailEnd type="none" w="sm" len="sm"/>
            </a:ln>
          </p:spPr>
          <p:txBody>
            <a:bodyPr wrap="none" anchor="ctr"/>
            <a:lstStyle/>
            <a:p>
              <a:pPr algn="ctr" eaLnBrk="1" hangingPunct="1">
                <a:spcBef>
                  <a:spcPct val="20000"/>
                </a:spcBef>
                <a:defRPr/>
              </a:pPr>
              <a:endParaRPr lang="en-GB" sz="1400" b="1" dirty="0">
                <a:solidFill>
                  <a:srgbClr val="FFFFFF"/>
                </a:solidFill>
                <a:latin typeface="+mj-lt"/>
                <a:cs typeface="Arial" pitchFamily="34" charset="0"/>
              </a:endParaRPr>
            </a:p>
          </p:txBody>
        </p:sp>
        <p:sp>
          <p:nvSpPr>
            <p:cNvPr id="46" name="Line 26">
              <a:extLst>
                <a:ext uri="{FF2B5EF4-FFF2-40B4-BE49-F238E27FC236}">
                  <a16:creationId xmlns:a16="http://schemas.microsoft.com/office/drawing/2014/main" id="{737D1C14-800D-4354-A6F4-12C7E209A8B9}"/>
                </a:ext>
              </a:extLst>
            </p:cNvPr>
            <p:cNvSpPr>
              <a:spLocks noChangeShapeType="1"/>
            </p:cNvSpPr>
            <p:nvPr/>
          </p:nvSpPr>
          <p:spPr bwMode="auto">
            <a:xfrm flipH="1">
              <a:off x="7717920" y="2359025"/>
              <a:ext cx="1009395" cy="0"/>
            </a:xfrm>
            <a:prstGeom prst="line">
              <a:avLst/>
            </a:prstGeom>
            <a:noFill/>
            <a:ln w="19050">
              <a:solidFill>
                <a:schemeClr val="tx1"/>
              </a:solidFill>
              <a:round/>
              <a:headEnd type="none" w="sm" len="sm"/>
              <a:tailEnd type="none" w="sm" len="sm"/>
            </a:ln>
          </p:spPr>
          <p:txBody>
            <a:bodyPr wrap="none" anchor="ctr"/>
            <a:lstStyle/>
            <a:p>
              <a:pPr algn="ctr" eaLnBrk="1" hangingPunct="1">
                <a:spcBef>
                  <a:spcPct val="20000"/>
                </a:spcBef>
                <a:defRPr/>
              </a:pPr>
              <a:endParaRPr lang="en-GB" sz="1400" b="1" dirty="0">
                <a:solidFill>
                  <a:srgbClr val="FFFFFF"/>
                </a:solidFill>
                <a:latin typeface="+mj-lt"/>
                <a:cs typeface="Arial" pitchFamily="34" charset="0"/>
              </a:endParaRPr>
            </a:p>
          </p:txBody>
        </p:sp>
      </p:grpSp>
      <p:sp>
        <p:nvSpPr>
          <p:cNvPr id="54" name="Rectangle 19">
            <a:extLst>
              <a:ext uri="{FF2B5EF4-FFF2-40B4-BE49-F238E27FC236}">
                <a16:creationId xmlns:a16="http://schemas.microsoft.com/office/drawing/2014/main" id="{8AFC6154-1168-4A4B-877A-1240F5057A85}"/>
              </a:ext>
            </a:extLst>
          </p:cNvPr>
          <p:cNvSpPr>
            <a:spLocks noChangeArrowheads="1"/>
          </p:cNvSpPr>
          <p:nvPr/>
        </p:nvSpPr>
        <p:spPr bwMode="auto">
          <a:xfrm>
            <a:off x="1354825" y="3397334"/>
            <a:ext cx="5692747" cy="605706"/>
          </a:xfrm>
          <a:prstGeom prst="rect">
            <a:avLst/>
          </a:prstGeom>
          <a:noFill/>
          <a:ln w="19050" algn="ctr">
            <a:solidFill>
              <a:srgbClr val="009A44"/>
            </a:solidFill>
            <a:miter lim="800000"/>
            <a:headEnd/>
            <a:tailEnd/>
          </a:ln>
        </p:spPr>
        <p:txBody>
          <a:bodyPr wrap="square" lIns="88900" tIns="88900" rIns="88900" bIns="88900" anchor="ctr"/>
          <a:lstStyle/>
          <a:p>
            <a:pPr algn="just">
              <a:spcBef>
                <a:spcPts val="600"/>
              </a:spcBef>
              <a:defRPr/>
            </a:pPr>
            <a:r>
              <a:rPr lang="en-US" sz="1200" b="1" dirty="0">
                <a:solidFill>
                  <a:schemeClr val="tx1"/>
                </a:solidFill>
                <a:latin typeface="+mj-lt"/>
                <a:cs typeface="Calibri" panose="020F0502020204030204" pitchFamily="34" charset="0"/>
              </a:rPr>
              <a:t>Nodal Agency : Power Finance Corporation</a:t>
            </a:r>
            <a:r>
              <a:rPr lang="en-US" sz="1200" b="0" dirty="0">
                <a:solidFill>
                  <a:schemeClr val="tx1"/>
                </a:solidFill>
                <a:latin typeface="+mj-lt"/>
                <a:cs typeface="Calibri" panose="020F0502020204030204" pitchFamily="34" charset="0"/>
              </a:rPr>
              <a:t> is the Nodal Agency for implementation of the scheme under the overall guidance of MoP.</a:t>
            </a:r>
            <a:endParaRPr lang="en-US" sz="1200" dirty="0">
              <a:latin typeface="+mj-lt"/>
              <a:ea typeface="ＭＳ Ｐゴシック" pitchFamily="50" charset="-128"/>
              <a:cs typeface="Calibri" panose="020F0502020204030204" pitchFamily="34" charset="0"/>
            </a:endParaRPr>
          </a:p>
        </p:txBody>
      </p:sp>
      <p:sp>
        <p:nvSpPr>
          <p:cNvPr id="55" name="Rectangle 19">
            <a:extLst>
              <a:ext uri="{FF2B5EF4-FFF2-40B4-BE49-F238E27FC236}">
                <a16:creationId xmlns:a16="http://schemas.microsoft.com/office/drawing/2014/main" id="{0DE7CCC8-5C6C-4F56-B9D5-DB5D0EE98F11}"/>
              </a:ext>
            </a:extLst>
          </p:cNvPr>
          <p:cNvSpPr>
            <a:spLocks noChangeArrowheads="1"/>
          </p:cNvSpPr>
          <p:nvPr/>
        </p:nvSpPr>
        <p:spPr bwMode="auto">
          <a:xfrm>
            <a:off x="2513742" y="4253868"/>
            <a:ext cx="4533830" cy="770908"/>
          </a:xfrm>
          <a:prstGeom prst="rect">
            <a:avLst/>
          </a:prstGeom>
          <a:noFill/>
          <a:ln w="19050" algn="ctr">
            <a:solidFill>
              <a:srgbClr val="92D050"/>
            </a:solidFill>
            <a:miter lim="800000"/>
            <a:headEnd/>
            <a:tailEnd/>
          </a:ln>
        </p:spPr>
        <p:txBody>
          <a:bodyPr wrap="square" lIns="88900" tIns="88900" rIns="88900" bIns="88900" anchor="ctr"/>
          <a:lstStyle/>
          <a:p>
            <a:r>
              <a:rPr lang="en-US" sz="1300" b="1" dirty="0">
                <a:solidFill>
                  <a:schemeClr val="tx1"/>
                </a:solidFill>
                <a:latin typeface="+mj-lt"/>
                <a:cs typeface="Calibri" panose="020F0502020204030204" pitchFamily="34" charset="0"/>
              </a:rPr>
              <a:t>Project Management Agency (PMA) </a:t>
            </a:r>
            <a:r>
              <a:rPr lang="en-US" sz="1300" b="0" dirty="0">
                <a:solidFill>
                  <a:schemeClr val="tx1"/>
                </a:solidFill>
                <a:latin typeface="+mj-lt"/>
                <a:cs typeface="Calibri" panose="020F0502020204030204" pitchFamily="34" charset="0"/>
              </a:rPr>
              <a:t>: </a:t>
            </a:r>
            <a:r>
              <a:rPr lang="en-US" sz="1300" b="1" dirty="0">
                <a:solidFill>
                  <a:schemeClr val="tx1"/>
                </a:solidFill>
                <a:latin typeface="+mj-lt"/>
                <a:cs typeface="Calibri" panose="020F0502020204030204" pitchFamily="34" charset="0"/>
              </a:rPr>
              <a:t>RECPDCL and PFCCL</a:t>
            </a:r>
            <a:r>
              <a:rPr lang="en-US" sz="1300" b="0" dirty="0">
                <a:solidFill>
                  <a:schemeClr val="tx1"/>
                </a:solidFill>
                <a:latin typeface="+mj-lt"/>
                <a:cs typeface="Calibri" panose="020F0502020204030204" pitchFamily="34" charset="0"/>
              </a:rPr>
              <a:t> have been appointed for monitoring the IPDS Project.</a:t>
            </a:r>
          </a:p>
        </p:txBody>
      </p:sp>
      <p:sp>
        <p:nvSpPr>
          <p:cNvPr id="56" name="Rectangle 19">
            <a:extLst>
              <a:ext uri="{FF2B5EF4-FFF2-40B4-BE49-F238E27FC236}">
                <a16:creationId xmlns:a16="http://schemas.microsoft.com/office/drawing/2014/main" id="{3AF2E2E9-1F81-422C-85F3-910ECB8C288F}"/>
              </a:ext>
            </a:extLst>
          </p:cNvPr>
          <p:cNvSpPr>
            <a:spLocks noChangeArrowheads="1"/>
          </p:cNvSpPr>
          <p:nvPr/>
        </p:nvSpPr>
        <p:spPr bwMode="auto">
          <a:xfrm>
            <a:off x="1657506" y="5298620"/>
            <a:ext cx="5390066" cy="598483"/>
          </a:xfrm>
          <a:prstGeom prst="rect">
            <a:avLst/>
          </a:prstGeom>
          <a:noFill/>
          <a:ln w="19050" algn="ctr">
            <a:solidFill>
              <a:srgbClr val="009A44"/>
            </a:solidFill>
            <a:miter lim="800000"/>
            <a:headEnd/>
            <a:tailEnd/>
          </a:ln>
        </p:spPr>
        <p:txBody>
          <a:bodyPr wrap="square" lIns="88900" tIns="88900" rIns="88900" bIns="88900" anchor="ctr"/>
          <a:lstStyle/>
          <a:p>
            <a:r>
              <a:rPr lang="en-US" sz="1300" b="1" dirty="0">
                <a:solidFill>
                  <a:schemeClr val="tx1"/>
                </a:solidFill>
                <a:latin typeface="+mj-lt"/>
                <a:cs typeface="Calibri" panose="020F0502020204030204" pitchFamily="34" charset="0"/>
              </a:rPr>
              <a:t>Mode of Implementation : </a:t>
            </a:r>
            <a:r>
              <a:rPr lang="en-US" sz="1300" b="0" dirty="0">
                <a:solidFill>
                  <a:schemeClr val="tx1"/>
                </a:solidFill>
                <a:latin typeface="+mj-lt"/>
                <a:cs typeface="Calibri" panose="020F0502020204030204" pitchFamily="34" charset="0"/>
              </a:rPr>
              <a:t>The project may be executed on the basis of  </a:t>
            </a:r>
            <a:r>
              <a:rPr lang="en-US" sz="1300" b="1" dirty="0">
                <a:solidFill>
                  <a:schemeClr val="tx1"/>
                </a:solidFill>
                <a:latin typeface="+mj-lt"/>
                <a:cs typeface="Calibri" panose="020F0502020204030204" pitchFamily="34" charset="0"/>
              </a:rPr>
              <a:t>turn-key/ partial turn-key/ departmental basis, through e-tendering</a:t>
            </a:r>
            <a:r>
              <a:rPr lang="en-US" sz="1300" b="0" dirty="0">
                <a:solidFill>
                  <a:schemeClr val="tx1"/>
                </a:solidFill>
                <a:latin typeface="+mj-lt"/>
                <a:cs typeface="Calibri" panose="020F0502020204030204" pitchFamily="34" charset="0"/>
              </a:rPr>
              <a:t>.</a:t>
            </a:r>
          </a:p>
        </p:txBody>
      </p:sp>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329122"/>
            <a:ext cx="11188700" cy="368299"/>
          </a:xfrm>
        </p:spPr>
        <p:txBody>
          <a:bodyPr vert="horz"/>
          <a:lstStyle/>
          <a:p>
            <a:pPr algn="just"/>
            <a:r>
              <a:rPr lang="en-US" sz="1800" i="0" dirty="0">
                <a:solidFill>
                  <a:schemeClr val="tx1"/>
                </a:solidFill>
                <a:latin typeface="+mj-lt"/>
              </a:rPr>
              <a:t>Salient Feature of IPDS</a:t>
            </a:r>
          </a:p>
        </p:txBody>
      </p:sp>
      <p:graphicFrame>
        <p:nvGraphicFramePr>
          <p:cNvPr id="20" name="Chart 19">
            <a:extLst>
              <a:ext uri="{FF2B5EF4-FFF2-40B4-BE49-F238E27FC236}">
                <a16:creationId xmlns:a16="http://schemas.microsoft.com/office/drawing/2014/main" id="{08990DFC-9925-4634-8D73-8F4EE38CCB04}"/>
              </a:ext>
            </a:extLst>
          </p:cNvPr>
          <p:cNvGraphicFramePr/>
          <p:nvPr>
            <p:extLst>
              <p:ext uri="{D42A27DB-BD31-4B8C-83A1-F6EECF244321}">
                <p14:modId xmlns:p14="http://schemas.microsoft.com/office/powerpoint/2010/main" val="1087197056"/>
              </p:ext>
            </p:extLst>
          </p:nvPr>
        </p:nvGraphicFramePr>
        <p:xfrm>
          <a:off x="7777342" y="3397334"/>
          <a:ext cx="3883459" cy="2941226"/>
        </p:xfrm>
        <a:graphic>
          <a:graphicData uri="http://schemas.openxmlformats.org/drawingml/2006/chart">
            <c:chart xmlns:c="http://schemas.openxmlformats.org/drawingml/2006/chart" xmlns:r="http://schemas.openxmlformats.org/officeDocument/2006/relationships" r:id="rId2"/>
          </a:graphicData>
        </a:graphic>
      </p:graphicFrame>
      <p:sp>
        <p:nvSpPr>
          <p:cNvPr id="22" name="TextBox 21">
            <a:extLst>
              <a:ext uri="{FF2B5EF4-FFF2-40B4-BE49-F238E27FC236}">
                <a16:creationId xmlns:a16="http://schemas.microsoft.com/office/drawing/2014/main" id="{76C4771C-75DE-4A49-930F-343BCCD8AB4C}"/>
              </a:ext>
            </a:extLst>
          </p:cNvPr>
          <p:cNvSpPr txBox="1"/>
          <p:nvPr/>
        </p:nvSpPr>
        <p:spPr>
          <a:xfrm>
            <a:off x="8180338" y="3151652"/>
            <a:ext cx="3233057" cy="215444"/>
          </a:xfrm>
          <a:prstGeom prst="rect">
            <a:avLst/>
          </a:prstGeom>
          <a:noFill/>
        </p:spPr>
        <p:txBody>
          <a:bodyPr wrap="square" lIns="0" tIns="0" rIns="0" bIns="0" rtlCol="0">
            <a:spAutoFit/>
          </a:bodyPr>
          <a:lstStyle/>
          <a:p>
            <a:pPr algn="ctr">
              <a:spcBef>
                <a:spcPts val="600"/>
              </a:spcBef>
              <a:buSzPct val="100000"/>
            </a:pPr>
            <a:r>
              <a:rPr lang="en-US" sz="1400" b="1" dirty="0">
                <a:latin typeface="+mj-lt"/>
                <a:cs typeface="Calibri" panose="020F0502020204030204" pitchFamily="34" charset="0"/>
              </a:rPr>
              <a:t>Funding Pattern of Scheme</a:t>
            </a:r>
          </a:p>
        </p:txBody>
      </p:sp>
      <p:sp>
        <p:nvSpPr>
          <p:cNvPr id="23" name="TextBox 22">
            <a:extLst>
              <a:ext uri="{FF2B5EF4-FFF2-40B4-BE49-F238E27FC236}">
                <a16:creationId xmlns:a16="http://schemas.microsoft.com/office/drawing/2014/main" id="{98504D53-582E-4434-8A4C-7AA2E59810D1}"/>
              </a:ext>
            </a:extLst>
          </p:cNvPr>
          <p:cNvSpPr txBox="1"/>
          <p:nvPr/>
        </p:nvSpPr>
        <p:spPr>
          <a:xfrm>
            <a:off x="9433813" y="5370482"/>
            <a:ext cx="1164771" cy="169277"/>
          </a:xfrm>
          <a:prstGeom prst="rect">
            <a:avLst/>
          </a:prstGeom>
          <a:noFill/>
        </p:spPr>
        <p:txBody>
          <a:bodyPr wrap="square" lIns="0" tIns="0" rIns="0" bIns="0" rtlCol="0">
            <a:spAutoFit/>
          </a:bodyPr>
          <a:lstStyle/>
          <a:p>
            <a:pPr algn="ctr">
              <a:spcBef>
                <a:spcPts val="600"/>
              </a:spcBef>
              <a:buSzPct val="100000"/>
            </a:pPr>
            <a:r>
              <a:rPr lang="en-US" sz="1100" b="1" dirty="0">
                <a:solidFill>
                  <a:schemeClr val="bg1"/>
                </a:solidFill>
                <a:latin typeface="+mj-lt"/>
                <a:cs typeface="Calibri" panose="020F0502020204030204" pitchFamily="34" charset="0"/>
              </a:rPr>
              <a:t>GOI ( Grant)</a:t>
            </a:r>
          </a:p>
        </p:txBody>
      </p:sp>
      <p:sp>
        <p:nvSpPr>
          <p:cNvPr id="25" name="TextBox 24">
            <a:extLst>
              <a:ext uri="{FF2B5EF4-FFF2-40B4-BE49-F238E27FC236}">
                <a16:creationId xmlns:a16="http://schemas.microsoft.com/office/drawing/2014/main" id="{B1A1ED4E-3DCC-4A27-8165-F974D631FF73}"/>
              </a:ext>
            </a:extLst>
          </p:cNvPr>
          <p:cNvSpPr txBox="1"/>
          <p:nvPr/>
        </p:nvSpPr>
        <p:spPr>
          <a:xfrm>
            <a:off x="8322269" y="4133924"/>
            <a:ext cx="1284514" cy="169277"/>
          </a:xfrm>
          <a:prstGeom prst="rect">
            <a:avLst/>
          </a:prstGeom>
          <a:noFill/>
        </p:spPr>
        <p:txBody>
          <a:bodyPr wrap="square" lIns="0" tIns="0" rIns="0" bIns="0" rtlCol="0">
            <a:spAutoFit/>
          </a:bodyPr>
          <a:lstStyle/>
          <a:p>
            <a:pPr algn="ctr">
              <a:spcBef>
                <a:spcPts val="600"/>
              </a:spcBef>
              <a:buSzPct val="100000"/>
            </a:pPr>
            <a:r>
              <a:rPr lang="en-US" sz="1100" b="1" dirty="0">
                <a:solidFill>
                  <a:schemeClr val="bg1"/>
                </a:solidFill>
                <a:latin typeface="+mj-lt"/>
                <a:cs typeface="Calibri" panose="020F0502020204030204" pitchFamily="34" charset="0"/>
              </a:rPr>
              <a:t>GOWB ( Grant)</a:t>
            </a:r>
          </a:p>
        </p:txBody>
      </p:sp>
      <p:sp>
        <p:nvSpPr>
          <p:cNvPr id="26" name="TextBox 25">
            <a:extLst>
              <a:ext uri="{FF2B5EF4-FFF2-40B4-BE49-F238E27FC236}">
                <a16:creationId xmlns:a16="http://schemas.microsoft.com/office/drawing/2014/main" id="{5496CFF0-7942-468C-AB14-664CC74B300C}"/>
              </a:ext>
            </a:extLst>
          </p:cNvPr>
          <p:cNvSpPr txBox="1"/>
          <p:nvPr/>
        </p:nvSpPr>
        <p:spPr>
          <a:xfrm>
            <a:off x="8047960" y="4908767"/>
            <a:ext cx="1401080" cy="338554"/>
          </a:xfrm>
          <a:prstGeom prst="rect">
            <a:avLst/>
          </a:prstGeom>
          <a:noFill/>
        </p:spPr>
        <p:txBody>
          <a:bodyPr wrap="square" lIns="0" tIns="0" rIns="0" bIns="0" rtlCol="0">
            <a:spAutoFit/>
          </a:bodyPr>
          <a:lstStyle/>
          <a:p>
            <a:pPr algn="ctr">
              <a:buSzPct val="100000"/>
            </a:pPr>
            <a:r>
              <a:rPr lang="en-US" sz="1100" b="1" dirty="0">
                <a:solidFill>
                  <a:schemeClr val="bg1"/>
                </a:solidFill>
                <a:latin typeface="+mj-lt"/>
                <a:cs typeface="Calibri" panose="020F0502020204030204" pitchFamily="34" charset="0"/>
              </a:rPr>
              <a:t>WBSEDCL                 </a:t>
            </a:r>
          </a:p>
          <a:p>
            <a:pPr algn="ctr">
              <a:buSzPct val="100000"/>
            </a:pPr>
            <a:r>
              <a:rPr lang="en-US" sz="1100" b="1" dirty="0">
                <a:solidFill>
                  <a:schemeClr val="bg1"/>
                </a:solidFill>
                <a:latin typeface="+mj-lt"/>
                <a:cs typeface="Calibri" panose="020F0502020204030204" pitchFamily="34" charset="0"/>
              </a:rPr>
              <a:t>( Loan/Equity)</a:t>
            </a:r>
          </a:p>
        </p:txBody>
      </p:sp>
      <p:sp>
        <p:nvSpPr>
          <p:cNvPr id="27" name="TextBox 26">
            <a:extLst>
              <a:ext uri="{FF2B5EF4-FFF2-40B4-BE49-F238E27FC236}">
                <a16:creationId xmlns:a16="http://schemas.microsoft.com/office/drawing/2014/main" id="{946E4274-E0B8-4EDE-83A6-1A3A0F6B8629}"/>
              </a:ext>
            </a:extLst>
          </p:cNvPr>
          <p:cNvSpPr txBox="1"/>
          <p:nvPr/>
        </p:nvSpPr>
        <p:spPr>
          <a:xfrm>
            <a:off x="9002080" y="6548099"/>
            <a:ext cx="2411316" cy="184666"/>
          </a:xfrm>
          <a:prstGeom prst="rect">
            <a:avLst/>
          </a:prstGeom>
          <a:noFill/>
        </p:spPr>
        <p:txBody>
          <a:bodyPr wrap="square" lIns="0" tIns="0" rIns="0" bIns="0" rtlCol="0">
            <a:spAutoFit/>
          </a:bodyPr>
          <a:lstStyle/>
          <a:p>
            <a:pPr>
              <a:spcBef>
                <a:spcPts val="600"/>
              </a:spcBef>
              <a:buSzPct val="100000"/>
            </a:pPr>
            <a:r>
              <a:rPr lang="en-US" sz="1200" dirty="0">
                <a:latin typeface="+mj-lt"/>
                <a:cs typeface="Calibri" panose="020F0502020204030204" pitchFamily="34" charset="0"/>
              </a:rPr>
              <a:t>Source : WBSEDCL Website </a:t>
            </a:r>
          </a:p>
        </p:txBody>
      </p:sp>
    </p:spTree>
    <p:extLst>
      <p:ext uri="{BB962C8B-B14F-4D97-AF65-F5344CB8AC3E}">
        <p14:creationId xmlns:p14="http://schemas.microsoft.com/office/powerpoint/2010/main" val="396080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271760"/>
            <a:ext cx="11188700" cy="368299"/>
          </a:xfrm>
        </p:spPr>
        <p:txBody>
          <a:bodyPr vert="horz"/>
          <a:lstStyle/>
          <a:p>
            <a:pPr algn="just"/>
            <a:r>
              <a:rPr lang="en-US" sz="1800" i="0" dirty="0">
                <a:solidFill>
                  <a:schemeClr val="tx1"/>
                </a:solidFill>
              </a:rPr>
              <a:t>Progress Status of IPDS</a:t>
            </a:r>
          </a:p>
        </p:txBody>
      </p:sp>
      <p:sp>
        <p:nvSpPr>
          <p:cNvPr id="12" name="TextBox 11">
            <a:extLst>
              <a:ext uri="{FF2B5EF4-FFF2-40B4-BE49-F238E27FC236}">
                <a16:creationId xmlns:a16="http://schemas.microsoft.com/office/drawing/2014/main" id="{03BE1681-132F-4BD3-8E3E-31A39F56CA21}"/>
              </a:ext>
            </a:extLst>
          </p:cNvPr>
          <p:cNvSpPr txBox="1"/>
          <p:nvPr/>
        </p:nvSpPr>
        <p:spPr>
          <a:xfrm>
            <a:off x="2264229" y="1021051"/>
            <a:ext cx="1317171" cy="276999"/>
          </a:xfrm>
          <a:prstGeom prst="rect">
            <a:avLst/>
          </a:prstGeom>
          <a:solidFill>
            <a:schemeClr val="bg1"/>
          </a:solidFill>
        </p:spPr>
        <p:txBody>
          <a:bodyPr wrap="square" lIns="0" tIns="0" rIns="0" bIns="0" rtlCol="0">
            <a:spAutoFit/>
          </a:bodyPr>
          <a:lstStyle/>
          <a:p>
            <a:pPr>
              <a:spcBef>
                <a:spcPts val="600"/>
              </a:spcBef>
              <a:buSzPct val="100000"/>
            </a:pPr>
            <a:endParaRPr lang="en-US" dirty="0">
              <a:solidFill>
                <a:srgbClr val="313131"/>
              </a:solidFill>
            </a:endParaRPr>
          </a:p>
        </p:txBody>
      </p:sp>
      <p:sp>
        <p:nvSpPr>
          <p:cNvPr id="29" name="TextBox 28">
            <a:extLst>
              <a:ext uri="{FF2B5EF4-FFF2-40B4-BE49-F238E27FC236}">
                <a16:creationId xmlns:a16="http://schemas.microsoft.com/office/drawing/2014/main" id="{2B77C212-E8A8-44D8-B014-2E9A8379CE3B}"/>
              </a:ext>
            </a:extLst>
          </p:cNvPr>
          <p:cNvSpPr txBox="1"/>
          <p:nvPr/>
        </p:nvSpPr>
        <p:spPr>
          <a:xfrm>
            <a:off x="488936" y="640059"/>
            <a:ext cx="2660602" cy="215444"/>
          </a:xfrm>
          <a:prstGeom prst="rect">
            <a:avLst/>
          </a:prstGeom>
          <a:solidFill>
            <a:schemeClr val="bg1"/>
          </a:solidFill>
        </p:spPr>
        <p:txBody>
          <a:bodyPr wrap="square" lIns="0" tIns="0" rIns="0" bIns="0" rtlCol="0">
            <a:spAutoFit/>
          </a:bodyPr>
          <a:lstStyle/>
          <a:p>
            <a:r>
              <a:rPr lang="en-US" sz="1400" b="1" dirty="0">
                <a:latin typeface="Calibri" panose="020F0502020204030204" pitchFamily="34" charset="0"/>
                <a:cs typeface="Calibri" panose="020F0502020204030204" pitchFamily="34" charset="0"/>
              </a:rPr>
              <a:t>Physical Progress :</a:t>
            </a:r>
          </a:p>
        </p:txBody>
      </p:sp>
      <p:graphicFrame>
        <p:nvGraphicFramePr>
          <p:cNvPr id="3" name="Table 2">
            <a:extLst>
              <a:ext uri="{FF2B5EF4-FFF2-40B4-BE49-F238E27FC236}">
                <a16:creationId xmlns:a16="http://schemas.microsoft.com/office/drawing/2014/main" id="{F38835AF-7054-4ADD-A805-36908F38BBFB}"/>
              </a:ext>
            </a:extLst>
          </p:cNvPr>
          <p:cNvGraphicFramePr>
            <a:graphicFrameLocks noGrp="1"/>
          </p:cNvGraphicFramePr>
          <p:nvPr>
            <p:extLst>
              <p:ext uri="{D42A27DB-BD31-4B8C-83A1-F6EECF244321}">
                <p14:modId xmlns:p14="http://schemas.microsoft.com/office/powerpoint/2010/main" val="921160235"/>
              </p:ext>
            </p:extLst>
          </p:nvPr>
        </p:nvGraphicFramePr>
        <p:xfrm>
          <a:off x="244043" y="978606"/>
          <a:ext cx="6358402" cy="2514600"/>
        </p:xfrm>
        <a:graphic>
          <a:graphicData uri="http://schemas.openxmlformats.org/drawingml/2006/table">
            <a:tbl>
              <a:tblPr firstRow="1" firstCol="1" bandRow="1">
                <a:tableStyleId>{5C22544A-7EE6-4342-B048-85BDC9FD1C3A}</a:tableStyleId>
              </a:tblPr>
              <a:tblGrid>
                <a:gridCol w="869407">
                  <a:extLst>
                    <a:ext uri="{9D8B030D-6E8A-4147-A177-3AD203B41FA5}">
                      <a16:colId xmlns:a16="http://schemas.microsoft.com/office/drawing/2014/main" val="1989294748"/>
                    </a:ext>
                  </a:extLst>
                </a:gridCol>
                <a:gridCol w="1751408">
                  <a:extLst>
                    <a:ext uri="{9D8B030D-6E8A-4147-A177-3AD203B41FA5}">
                      <a16:colId xmlns:a16="http://schemas.microsoft.com/office/drawing/2014/main" val="1249824445"/>
                    </a:ext>
                  </a:extLst>
                </a:gridCol>
                <a:gridCol w="638563">
                  <a:extLst>
                    <a:ext uri="{9D8B030D-6E8A-4147-A177-3AD203B41FA5}">
                      <a16:colId xmlns:a16="http://schemas.microsoft.com/office/drawing/2014/main" val="1131674678"/>
                    </a:ext>
                  </a:extLst>
                </a:gridCol>
                <a:gridCol w="1033008">
                  <a:extLst>
                    <a:ext uri="{9D8B030D-6E8A-4147-A177-3AD203B41FA5}">
                      <a16:colId xmlns:a16="http://schemas.microsoft.com/office/drawing/2014/main" val="2817445268"/>
                    </a:ext>
                  </a:extLst>
                </a:gridCol>
                <a:gridCol w="1033008">
                  <a:extLst>
                    <a:ext uri="{9D8B030D-6E8A-4147-A177-3AD203B41FA5}">
                      <a16:colId xmlns:a16="http://schemas.microsoft.com/office/drawing/2014/main" val="1251400743"/>
                    </a:ext>
                  </a:extLst>
                </a:gridCol>
                <a:gridCol w="1033008">
                  <a:extLst>
                    <a:ext uri="{9D8B030D-6E8A-4147-A177-3AD203B41FA5}">
                      <a16:colId xmlns:a16="http://schemas.microsoft.com/office/drawing/2014/main" val="997714314"/>
                    </a:ext>
                  </a:extLst>
                </a:gridCol>
              </a:tblGrid>
              <a:tr h="197636">
                <a:tc gridSpan="2">
                  <a:txBody>
                    <a:bodyPr/>
                    <a:lstStyle/>
                    <a:p>
                      <a:pPr marL="0" marR="0" algn="ctr">
                        <a:spcBef>
                          <a:spcPts val="0"/>
                        </a:spcBef>
                        <a:spcAft>
                          <a:spcPts val="0"/>
                        </a:spcAft>
                      </a:pPr>
                      <a:r>
                        <a:rPr lang="en-US" sz="1100" dirty="0">
                          <a:effectLst/>
                        </a:rPr>
                        <a:t>Milestone Name</a:t>
                      </a:r>
                      <a:endParaRPr lang="en-US" sz="900" dirty="0">
                        <a:effectLst/>
                        <a:latin typeface="Libre Franklin Thin" pitchFamily="2" charset="0"/>
                        <a:ea typeface="Libre Franklin Thin" pitchFamily="2" charset="0"/>
                        <a:cs typeface="Libre Franklin Thin" pitchFamily="2" charset="0"/>
                      </a:endParaRPr>
                    </a:p>
                  </a:txBody>
                  <a:tcPr marL="68580" marR="68580" marT="0" marB="0" anchor="ctr"/>
                </a:tc>
                <a:tc hMerge="1">
                  <a:txBody>
                    <a:bodyPr/>
                    <a:lstStyle/>
                    <a:p>
                      <a:endParaRPr lang="en-US"/>
                    </a:p>
                  </a:txBody>
                  <a:tcPr/>
                </a:tc>
                <a:tc>
                  <a:txBody>
                    <a:bodyPr/>
                    <a:lstStyle/>
                    <a:p>
                      <a:pPr marL="0" marR="0" algn="ctr">
                        <a:spcBef>
                          <a:spcPts val="0"/>
                        </a:spcBef>
                        <a:spcAft>
                          <a:spcPts val="0"/>
                        </a:spcAft>
                      </a:pPr>
                      <a:r>
                        <a:rPr lang="en-US" sz="1100" dirty="0">
                          <a:effectLst/>
                        </a:rPr>
                        <a:t>Unit</a:t>
                      </a:r>
                      <a:endParaRPr lang="en-US" sz="900" dirty="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dirty="0">
                          <a:effectLst/>
                        </a:rPr>
                        <a:t>Awarded Quantity</a:t>
                      </a:r>
                      <a:endParaRPr lang="en-US" sz="900" dirty="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dirty="0">
                          <a:effectLst/>
                        </a:rPr>
                        <a:t>Completion</a:t>
                      </a:r>
                      <a:endParaRPr lang="en-US" sz="900" dirty="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dirty="0">
                          <a:effectLst/>
                        </a:rPr>
                        <a:t>% Physical progress achieved</a:t>
                      </a:r>
                      <a:endParaRPr lang="en-US" sz="900" dirty="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3358008434"/>
                  </a:ext>
                </a:extLst>
              </a:tr>
              <a:tr h="98818">
                <a:tc rowSpan="2">
                  <a:txBody>
                    <a:bodyPr/>
                    <a:lstStyle/>
                    <a:p>
                      <a:pPr marL="0" marR="0" algn="ctr">
                        <a:spcBef>
                          <a:spcPts val="0"/>
                        </a:spcBef>
                        <a:spcAft>
                          <a:spcPts val="0"/>
                        </a:spcAft>
                      </a:pPr>
                      <a:r>
                        <a:rPr lang="en-US" sz="1100">
                          <a:effectLst/>
                        </a:rPr>
                        <a:t>Substations</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New Substation</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No.</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50</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50</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97155" algn="ctr">
                        <a:spcBef>
                          <a:spcPts val="0"/>
                        </a:spcBef>
                        <a:spcAft>
                          <a:spcPts val="0"/>
                        </a:spcAft>
                      </a:pPr>
                      <a:r>
                        <a:rPr lang="en-US" sz="1100" dirty="0">
                          <a:effectLst/>
                        </a:rPr>
                        <a:t>100%</a:t>
                      </a:r>
                      <a:endParaRPr lang="en-US" sz="900" dirty="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31941451"/>
                  </a:ext>
                </a:extLst>
              </a:tr>
              <a:tr h="197636">
                <a:tc vMerge="1">
                  <a:txBody>
                    <a:bodyPr/>
                    <a:lstStyle/>
                    <a:p>
                      <a:endParaRPr lang="en-US"/>
                    </a:p>
                  </a:txBody>
                  <a:tcPr/>
                </a:tc>
                <a:tc>
                  <a:txBody>
                    <a:bodyPr/>
                    <a:lstStyle/>
                    <a:p>
                      <a:pPr marL="0" marR="0" algn="ctr">
                        <a:spcBef>
                          <a:spcPts val="0"/>
                        </a:spcBef>
                        <a:spcAft>
                          <a:spcPts val="0"/>
                        </a:spcAft>
                      </a:pPr>
                      <a:r>
                        <a:rPr lang="en-US" sz="1100">
                          <a:effectLst/>
                        </a:rPr>
                        <a:t>Capacity enhancement &amp; Additional Transformers</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No.</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dirty="0">
                          <a:effectLst/>
                        </a:rPr>
                        <a:t>167</a:t>
                      </a:r>
                      <a:endParaRPr lang="en-US" sz="900" dirty="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dirty="0">
                          <a:effectLst/>
                        </a:rPr>
                        <a:t>167</a:t>
                      </a:r>
                      <a:endParaRPr lang="en-US" sz="900" dirty="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100%</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102724471"/>
                  </a:ext>
                </a:extLst>
              </a:tr>
              <a:tr h="98818">
                <a:tc rowSpan="3">
                  <a:txBody>
                    <a:bodyPr/>
                    <a:lstStyle/>
                    <a:p>
                      <a:pPr marL="0" marR="0" algn="ctr">
                        <a:spcBef>
                          <a:spcPts val="0"/>
                        </a:spcBef>
                        <a:spcAft>
                          <a:spcPts val="0"/>
                        </a:spcAft>
                      </a:pPr>
                      <a:r>
                        <a:rPr lang="en-US" sz="1100">
                          <a:effectLst/>
                        </a:rPr>
                        <a:t>Over-headlines</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HT New (33 &amp; 11KV)</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Km</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dirty="0">
                          <a:effectLst/>
                        </a:rPr>
                        <a:t>1153</a:t>
                      </a:r>
                      <a:endParaRPr lang="en-US" sz="900" dirty="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1153</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100%</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63719539"/>
                  </a:ext>
                </a:extLst>
              </a:tr>
              <a:tr h="98818">
                <a:tc vMerge="1">
                  <a:txBody>
                    <a:bodyPr/>
                    <a:lstStyle/>
                    <a:p>
                      <a:endParaRPr lang="en-US"/>
                    </a:p>
                  </a:txBody>
                  <a:tcPr/>
                </a:tc>
                <a:tc>
                  <a:txBody>
                    <a:bodyPr/>
                    <a:lstStyle/>
                    <a:p>
                      <a:pPr marL="0" marR="0" algn="ctr">
                        <a:spcBef>
                          <a:spcPts val="0"/>
                        </a:spcBef>
                        <a:spcAft>
                          <a:spcPts val="0"/>
                        </a:spcAft>
                      </a:pPr>
                      <a:r>
                        <a:rPr lang="en-US" sz="1100">
                          <a:effectLst/>
                        </a:rPr>
                        <a:t>HT Aug ( 33&amp; 11 KV)</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Km</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1730</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1730</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100%</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3051047739"/>
                  </a:ext>
                </a:extLst>
              </a:tr>
              <a:tr h="98818">
                <a:tc vMerge="1">
                  <a:txBody>
                    <a:bodyPr/>
                    <a:lstStyle/>
                    <a:p>
                      <a:endParaRPr lang="en-US"/>
                    </a:p>
                  </a:txBody>
                  <a:tcPr/>
                </a:tc>
                <a:tc>
                  <a:txBody>
                    <a:bodyPr/>
                    <a:lstStyle/>
                    <a:p>
                      <a:pPr marL="0" marR="0" algn="ctr">
                        <a:spcBef>
                          <a:spcPts val="0"/>
                        </a:spcBef>
                        <a:spcAft>
                          <a:spcPts val="0"/>
                        </a:spcAft>
                      </a:pPr>
                      <a:r>
                        <a:rPr lang="en-US" sz="1100">
                          <a:effectLst/>
                        </a:rPr>
                        <a:t>LT Line (New &amp; Aug)</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Km</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128</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dirty="0">
                          <a:effectLst/>
                        </a:rPr>
                        <a:t>128</a:t>
                      </a:r>
                      <a:endParaRPr lang="en-US" sz="900" dirty="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100%</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2244454774"/>
                  </a:ext>
                </a:extLst>
              </a:tr>
              <a:tr h="98818">
                <a:tc>
                  <a:txBody>
                    <a:bodyPr/>
                    <a:lstStyle/>
                    <a:p>
                      <a:pPr marL="0" marR="0" algn="ctr">
                        <a:spcBef>
                          <a:spcPts val="0"/>
                        </a:spcBef>
                        <a:spcAft>
                          <a:spcPts val="0"/>
                        </a:spcAft>
                      </a:pPr>
                      <a:r>
                        <a:rPr lang="en-US" sz="1100">
                          <a:effectLst/>
                        </a:rPr>
                        <a:t>Cables</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Aerial Bunch / Under Ground</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Km</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16566</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16566</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100%</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39789068"/>
                  </a:ext>
                </a:extLst>
              </a:tr>
              <a:tr h="98818">
                <a:tc gridSpan="2">
                  <a:txBody>
                    <a:bodyPr/>
                    <a:lstStyle/>
                    <a:p>
                      <a:pPr marL="0" marR="0" algn="ctr">
                        <a:spcBef>
                          <a:spcPts val="0"/>
                        </a:spcBef>
                        <a:spcAft>
                          <a:spcPts val="0"/>
                        </a:spcAft>
                      </a:pPr>
                      <a:r>
                        <a:rPr lang="en-US" sz="1100">
                          <a:effectLst/>
                        </a:rPr>
                        <a:t>Distribution Transformers </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hMerge="1">
                  <a:txBody>
                    <a:bodyPr/>
                    <a:lstStyle/>
                    <a:p>
                      <a:endParaRPr lang="en-US"/>
                    </a:p>
                  </a:txBody>
                  <a:tcPr/>
                </a:tc>
                <a:tc>
                  <a:txBody>
                    <a:bodyPr/>
                    <a:lstStyle/>
                    <a:p>
                      <a:pPr marL="0" marR="0" algn="ctr">
                        <a:spcBef>
                          <a:spcPts val="0"/>
                        </a:spcBef>
                        <a:spcAft>
                          <a:spcPts val="0"/>
                        </a:spcAft>
                      </a:pPr>
                      <a:r>
                        <a:rPr lang="en-US" sz="1100">
                          <a:effectLst/>
                        </a:rPr>
                        <a:t>No.</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4354</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4354</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100%</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1269212975"/>
                  </a:ext>
                </a:extLst>
              </a:tr>
              <a:tr h="98818">
                <a:tc gridSpan="2">
                  <a:txBody>
                    <a:bodyPr/>
                    <a:lstStyle/>
                    <a:p>
                      <a:pPr marL="0" marR="0" algn="ctr">
                        <a:spcBef>
                          <a:spcPts val="0"/>
                        </a:spcBef>
                        <a:spcAft>
                          <a:spcPts val="0"/>
                        </a:spcAft>
                      </a:pPr>
                      <a:r>
                        <a:rPr lang="en-US" sz="1100">
                          <a:effectLst/>
                        </a:rPr>
                        <a:t>Consumer-System</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hMerge="1">
                  <a:txBody>
                    <a:bodyPr/>
                    <a:lstStyle/>
                    <a:p>
                      <a:endParaRPr lang="en-US"/>
                    </a:p>
                  </a:txBody>
                  <a:tcPr/>
                </a:tc>
                <a:tc>
                  <a:txBody>
                    <a:bodyPr/>
                    <a:lstStyle/>
                    <a:p>
                      <a:pPr marL="0" marR="0" algn="ctr">
                        <a:spcBef>
                          <a:spcPts val="0"/>
                        </a:spcBef>
                        <a:spcAft>
                          <a:spcPts val="0"/>
                        </a:spcAft>
                      </a:pPr>
                      <a:r>
                        <a:rPr lang="en-US" sz="1100">
                          <a:effectLst/>
                        </a:rPr>
                        <a:t>No.</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733420</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733420</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100%</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2933030458"/>
                  </a:ext>
                </a:extLst>
              </a:tr>
              <a:tr h="98818">
                <a:tc gridSpan="2">
                  <a:txBody>
                    <a:bodyPr/>
                    <a:lstStyle/>
                    <a:p>
                      <a:pPr marL="0" marR="0" algn="ctr">
                        <a:spcBef>
                          <a:spcPts val="0"/>
                        </a:spcBef>
                        <a:spcAft>
                          <a:spcPts val="0"/>
                        </a:spcAft>
                      </a:pPr>
                      <a:r>
                        <a:rPr lang="en-US" sz="1100">
                          <a:effectLst/>
                        </a:rPr>
                        <a:t>Solar Panels</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hMerge="1">
                  <a:txBody>
                    <a:bodyPr/>
                    <a:lstStyle/>
                    <a:p>
                      <a:endParaRPr lang="en-US"/>
                    </a:p>
                  </a:txBody>
                  <a:tcPr/>
                </a:tc>
                <a:tc>
                  <a:txBody>
                    <a:bodyPr/>
                    <a:lstStyle/>
                    <a:p>
                      <a:pPr marL="0" marR="0" algn="ctr">
                        <a:spcBef>
                          <a:spcPts val="0"/>
                        </a:spcBef>
                        <a:spcAft>
                          <a:spcPts val="0"/>
                        </a:spcAft>
                      </a:pPr>
                      <a:r>
                        <a:rPr lang="en-US" sz="1100">
                          <a:effectLst/>
                        </a:rPr>
                        <a:t>KWp</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4160</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a:effectLst/>
                        </a:rPr>
                        <a:t>4160</a:t>
                      </a:r>
                      <a:endParaRPr lang="en-US" sz="900">
                        <a:effectLst/>
                        <a:latin typeface="Libre Franklin Thin" pitchFamily="2" charset="0"/>
                        <a:ea typeface="Libre Franklin Thin" pitchFamily="2" charset="0"/>
                        <a:cs typeface="Libre Franklin Thin" pitchFamily="2" charset="0"/>
                      </a:endParaRPr>
                    </a:p>
                  </a:txBody>
                  <a:tcPr marL="68580" marR="68580" marT="0" marB="0" anchor="ctr"/>
                </a:tc>
                <a:tc>
                  <a:txBody>
                    <a:bodyPr/>
                    <a:lstStyle/>
                    <a:p>
                      <a:pPr marL="0" marR="0" algn="ctr">
                        <a:spcBef>
                          <a:spcPts val="0"/>
                        </a:spcBef>
                        <a:spcAft>
                          <a:spcPts val="0"/>
                        </a:spcAft>
                      </a:pPr>
                      <a:r>
                        <a:rPr lang="en-US" sz="1100" dirty="0">
                          <a:effectLst/>
                        </a:rPr>
                        <a:t>100%</a:t>
                      </a:r>
                      <a:endParaRPr lang="en-US" sz="900" dirty="0">
                        <a:effectLst/>
                        <a:latin typeface="Libre Franklin Thin" pitchFamily="2" charset="0"/>
                        <a:ea typeface="Libre Franklin Thin" pitchFamily="2" charset="0"/>
                        <a:cs typeface="Libre Franklin Thin" pitchFamily="2" charset="0"/>
                      </a:endParaRPr>
                    </a:p>
                  </a:txBody>
                  <a:tcPr marL="68580" marR="68580" marT="0" marB="0" anchor="ctr"/>
                </a:tc>
                <a:extLst>
                  <a:ext uri="{0D108BD9-81ED-4DB2-BD59-A6C34878D82A}">
                    <a16:rowId xmlns:a16="http://schemas.microsoft.com/office/drawing/2014/main" val="388316399"/>
                  </a:ext>
                </a:extLst>
              </a:tr>
            </a:tbl>
          </a:graphicData>
        </a:graphic>
      </p:graphicFrame>
      <p:graphicFrame>
        <p:nvGraphicFramePr>
          <p:cNvPr id="18" name="Chart 17">
            <a:extLst>
              <a:ext uri="{FF2B5EF4-FFF2-40B4-BE49-F238E27FC236}">
                <a16:creationId xmlns:a16="http://schemas.microsoft.com/office/drawing/2014/main" id="{D75F9382-0FB9-451E-B524-CD777AF95838}"/>
              </a:ext>
            </a:extLst>
          </p:cNvPr>
          <p:cNvGraphicFramePr/>
          <p:nvPr>
            <p:extLst>
              <p:ext uri="{D42A27DB-BD31-4B8C-83A1-F6EECF244321}">
                <p14:modId xmlns:p14="http://schemas.microsoft.com/office/powerpoint/2010/main" val="639693519"/>
              </p:ext>
            </p:extLst>
          </p:nvPr>
        </p:nvGraphicFramePr>
        <p:xfrm>
          <a:off x="-1" y="4031577"/>
          <a:ext cx="3836647" cy="2440320"/>
        </p:xfrm>
        <a:graphic>
          <a:graphicData uri="http://schemas.openxmlformats.org/drawingml/2006/chart">
            <c:chart xmlns:c="http://schemas.openxmlformats.org/drawingml/2006/chart" xmlns:r="http://schemas.openxmlformats.org/officeDocument/2006/relationships" r:id="rId2"/>
          </a:graphicData>
        </a:graphic>
      </p:graphicFrame>
      <p:sp>
        <p:nvSpPr>
          <p:cNvPr id="19" name="TextBox 18">
            <a:extLst>
              <a:ext uri="{FF2B5EF4-FFF2-40B4-BE49-F238E27FC236}">
                <a16:creationId xmlns:a16="http://schemas.microsoft.com/office/drawing/2014/main" id="{6082BEB4-8711-4D54-B6F5-A93FC5E73081}"/>
              </a:ext>
            </a:extLst>
          </p:cNvPr>
          <p:cNvSpPr txBox="1"/>
          <p:nvPr/>
        </p:nvSpPr>
        <p:spPr>
          <a:xfrm>
            <a:off x="679223" y="3846360"/>
            <a:ext cx="2419336" cy="215444"/>
          </a:xfrm>
          <a:prstGeom prst="rect">
            <a:avLst/>
          </a:prstGeom>
          <a:solidFill>
            <a:schemeClr val="bg1"/>
          </a:solidFill>
        </p:spPr>
        <p:txBody>
          <a:bodyPr wrap="square" lIns="0" tIns="0" rIns="0" bIns="0" rtlCol="0">
            <a:spAutoFit/>
          </a:bodyPr>
          <a:lstStyle/>
          <a:p>
            <a:pPr algn="just"/>
            <a:r>
              <a:rPr lang="en-US" sz="1400" b="1" dirty="0">
                <a:latin typeface="Calibri" panose="020F0502020204030204" pitchFamily="34" charset="0"/>
                <a:cs typeface="Calibri" panose="020F0502020204030204" pitchFamily="34" charset="0"/>
              </a:rPr>
              <a:t> Sanctioned Amount (Rs. Crore)</a:t>
            </a:r>
          </a:p>
        </p:txBody>
      </p:sp>
      <p:graphicFrame>
        <p:nvGraphicFramePr>
          <p:cNvPr id="23" name="Chart 22">
            <a:extLst>
              <a:ext uri="{FF2B5EF4-FFF2-40B4-BE49-F238E27FC236}">
                <a16:creationId xmlns:a16="http://schemas.microsoft.com/office/drawing/2014/main" id="{28500565-0FC0-48FB-AF1B-701A40BD1091}"/>
              </a:ext>
            </a:extLst>
          </p:cNvPr>
          <p:cNvGraphicFramePr/>
          <p:nvPr>
            <p:extLst>
              <p:ext uri="{D42A27DB-BD31-4B8C-83A1-F6EECF244321}">
                <p14:modId xmlns:p14="http://schemas.microsoft.com/office/powerpoint/2010/main" val="2506796838"/>
              </p:ext>
            </p:extLst>
          </p:nvPr>
        </p:nvGraphicFramePr>
        <p:xfrm>
          <a:off x="3855235" y="4237297"/>
          <a:ext cx="3836647" cy="2162887"/>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Box 23">
            <a:extLst>
              <a:ext uri="{FF2B5EF4-FFF2-40B4-BE49-F238E27FC236}">
                <a16:creationId xmlns:a16="http://schemas.microsoft.com/office/drawing/2014/main" id="{409ACD89-E94D-42B6-8D71-2B7BB3F26BC3}"/>
              </a:ext>
            </a:extLst>
          </p:cNvPr>
          <p:cNvSpPr txBox="1"/>
          <p:nvPr/>
        </p:nvSpPr>
        <p:spPr>
          <a:xfrm>
            <a:off x="4183108" y="3854377"/>
            <a:ext cx="2419336" cy="215444"/>
          </a:xfrm>
          <a:prstGeom prst="rect">
            <a:avLst/>
          </a:prstGeom>
          <a:solidFill>
            <a:schemeClr val="bg1"/>
          </a:solidFill>
        </p:spPr>
        <p:txBody>
          <a:bodyPr wrap="square" lIns="0" tIns="0" rIns="0" bIns="0" rtlCol="0">
            <a:spAutoFit/>
          </a:bodyPr>
          <a:lstStyle/>
          <a:p>
            <a:pPr algn="just"/>
            <a:r>
              <a:rPr lang="en-US" sz="1400" b="1" dirty="0">
                <a:latin typeface="Calibri" panose="020F0502020204030204" pitchFamily="34" charset="0"/>
                <a:cs typeface="Calibri" panose="020F0502020204030204" pitchFamily="34" charset="0"/>
              </a:rPr>
              <a:t>   Awarded  Amount  (Rs. Crore)</a:t>
            </a:r>
          </a:p>
        </p:txBody>
      </p:sp>
      <p:graphicFrame>
        <p:nvGraphicFramePr>
          <p:cNvPr id="25" name="Chart 24">
            <a:extLst>
              <a:ext uri="{FF2B5EF4-FFF2-40B4-BE49-F238E27FC236}">
                <a16:creationId xmlns:a16="http://schemas.microsoft.com/office/drawing/2014/main" id="{BDA9DD2C-B811-4DC7-B373-4E1D3DBD9A4D}"/>
              </a:ext>
            </a:extLst>
          </p:cNvPr>
          <p:cNvGraphicFramePr/>
          <p:nvPr>
            <p:extLst>
              <p:ext uri="{D42A27DB-BD31-4B8C-83A1-F6EECF244321}">
                <p14:modId xmlns:p14="http://schemas.microsoft.com/office/powerpoint/2010/main" val="2163419849"/>
              </p:ext>
            </p:extLst>
          </p:nvPr>
        </p:nvGraphicFramePr>
        <p:xfrm>
          <a:off x="7561523" y="3868424"/>
          <a:ext cx="4031763" cy="2763567"/>
        </p:xfrm>
        <a:graphic>
          <a:graphicData uri="http://schemas.openxmlformats.org/drawingml/2006/chart">
            <c:chart xmlns:c="http://schemas.openxmlformats.org/drawingml/2006/chart" xmlns:r="http://schemas.openxmlformats.org/officeDocument/2006/relationships" r:id="rId4"/>
          </a:graphicData>
        </a:graphic>
      </p:graphicFrame>
      <p:sp>
        <p:nvSpPr>
          <p:cNvPr id="26" name="TextBox 25">
            <a:extLst>
              <a:ext uri="{FF2B5EF4-FFF2-40B4-BE49-F238E27FC236}">
                <a16:creationId xmlns:a16="http://schemas.microsoft.com/office/drawing/2014/main" id="{390EE129-A4BD-4EE6-922B-CEE6333D6C2C}"/>
              </a:ext>
            </a:extLst>
          </p:cNvPr>
          <p:cNvSpPr txBox="1"/>
          <p:nvPr/>
        </p:nvSpPr>
        <p:spPr>
          <a:xfrm>
            <a:off x="7939514" y="3846360"/>
            <a:ext cx="4000233" cy="215444"/>
          </a:xfrm>
          <a:prstGeom prst="rect">
            <a:avLst/>
          </a:prstGeom>
          <a:solidFill>
            <a:schemeClr val="bg1"/>
          </a:solidFill>
        </p:spPr>
        <p:txBody>
          <a:bodyPr wrap="square" lIns="0" tIns="0" rIns="0" bIns="0" rtlCol="0">
            <a:spAutoFit/>
          </a:bodyPr>
          <a:lstStyle/>
          <a:p>
            <a:pPr algn="just"/>
            <a:r>
              <a:rPr lang="en-US" sz="1400" b="1" dirty="0">
                <a:latin typeface="Calibri" panose="020F0502020204030204" pitchFamily="34" charset="0"/>
                <a:cs typeface="Calibri" panose="020F0502020204030204" pitchFamily="34" charset="0"/>
              </a:rPr>
              <a:t>Financial Status as on 31.10.2021 (Rs. Crore)</a:t>
            </a:r>
          </a:p>
        </p:txBody>
      </p:sp>
      <p:sp>
        <p:nvSpPr>
          <p:cNvPr id="27" name="Rectangle 19">
            <a:extLst>
              <a:ext uri="{FF2B5EF4-FFF2-40B4-BE49-F238E27FC236}">
                <a16:creationId xmlns:a16="http://schemas.microsoft.com/office/drawing/2014/main" id="{85967484-63B1-4644-AE03-07E7FDBE8C6D}"/>
              </a:ext>
            </a:extLst>
          </p:cNvPr>
          <p:cNvSpPr>
            <a:spLocks noChangeArrowheads="1"/>
          </p:cNvSpPr>
          <p:nvPr/>
        </p:nvSpPr>
        <p:spPr bwMode="auto">
          <a:xfrm>
            <a:off x="6727372" y="978605"/>
            <a:ext cx="5212376" cy="2514599"/>
          </a:xfrm>
          <a:prstGeom prst="rect">
            <a:avLst/>
          </a:prstGeom>
          <a:solidFill>
            <a:schemeClr val="tx2">
              <a:lumMod val="20000"/>
              <a:lumOff val="80000"/>
            </a:schemeClr>
          </a:solidFill>
          <a:ln w="19050" algn="ctr">
            <a:noFill/>
            <a:miter lim="800000"/>
            <a:headEnd/>
            <a:tailEnd/>
          </a:ln>
        </p:spPr>
        <p:txBody>
          <a:bodyPr wrap="square" lIns="88900" tIns="88900" rIns="88900" bIns="88900" anchor="ctr"/>
          <a:lstStyle/>
          <a:p>
            <a:pPr algn="just">
              <a:spcBef>
                <a:spcPts val="600"/>
              </a:spcBef>
              <a:defRPr/>
            </a:pPr>
            <a:r>
              <a:rPr lang="en-US" sz="1100" b="1" i="1" dirty="0">
                <a:latin typeface="+mj-lt"/>
                <a:ea typeface="ＭＳ Ｐゴシック" pitchFamily="50" charset="-128"/>
                <a:cs typeface="Calibri" panose="020F0502020204030204" pitchFamily="34" charset="0"/>
              </a:rPr>
              <a:t>Achievements:</a:t>
            </a:r>
          </a:p>
          <a:p>
            <a:pPr marL="342900" marR="115570" lvl="0" indent="-342900" algn="just">
              <a:lnSpc>
                <a:spcPct val="115000"/>
              </a:lnSpc>
              <a:spcBef>
                <a:spcPts val="0"/>
              </a:spcBef>
              <a:spcAft>
                <a:spcPts val="600"/>
              </a:spcAft>
              <a:buFont typeface="Wingdings" panose="05000000000000000000" pitchFamily="2" charset="2"/>
              <a:buChar char=""/>
            </a:pPr>
            <a:r>
              <a:rPr lang="en-US" sz="1100" i="1" dirty="0">
                <a:effectLst/>
                <a:latin typeface="+mj-lt"/>
                <a:ea typeface="Carlito"/>
                <a:cs typeface="Carlito"/>
              </a:rPr>
              <a:t>24x7 power supplies for consumers has been ensured in all the municipal towns.</a:t>
            </a:r>
          </a:p>
          <a:p>
            <a:pPr marL="342900" marR="115570" lvl="0" indent="-342900" algn="just">
              <a:lnSpc>
                <a:spcPct val="115000"/>
              </a:lnSpc>
              <a:spcBef>
                <a:spcPts val="0"/>
              </a:spcBef>
              <a:spcAft>
                <a:spcPts val="600"/>
              </a:spcAft>
              <a:buFont typeface="Wingdings" panose="05000000000000000000" pitchFamily="2" charset="2"/>
              <a:buChar char=""/>
            </a:pPr>
            <a:r>
              <a:rPr lang="en-US" sz="1100" i="1" dirty="0">
                <a:effectLst/>
                <a:latin typeface="+mj-lt"/>
                <a:ea typeface="Carlito"/>
                <a:cs typeface="Carlito"/>
              </a:rPr>
              <a:t>Reliability of Power supply in all the municipal towns have improved significantly over the years after IPDS.</a:t>
            </a:r>
          </a:p>
          <a:p>
            <a:pPr marL="342900" marR="115570" lvl="0" indent="-342900" algn="just">
              <a:lnSpc>
                <a:spcPct val="115000"/>
              </a:lnSpc>
              <a:spcBef>
                <a:spcPts val="0"/>
              </a:spcBef>
              <a:spcAft>
                <a:spcPts val="600"/>
              </a:spcAft>
              <a:buFont typeface="Wingdings" panose="05000000000000000000" pitchFamily="2" charset="2"/>
              <a:buChar char=""/>
            </a:pPr>
            <a:r>
              <a:rPr lang="en-US" sz="1100" i="1" dirty="0">
                <a:effectLst/>
                <a:latin typeface="+mj-lt"/>
                <a:ea typeface="Carlito"/>
                <a:cs typeface="Carlito"/>
              </a:rPr>
              <a:t>SAIDI-SAIFI in all the municipal towns have been Improved to a great extent after implementation of IPDS project.</a:t>
            </a:r>
          </a:p>
          <a:p>
            <a:pPr marL="342900" marR="115570" lvl="0" indent="-342900" algn="just">
              <a:lnSpc>
                <a:spcPct val="115000"/>
              </a:lnSpc>
              <a:spcBef>
                <a:spcPts val="0"/>
              </a:spcBef>
              <a:spcAft>
                <a:spcPts val="600"/>
              </a:spcAft>
              <a:buFont typeface="Wingdings" panose="05000000000000000000" pitchFamily="2" charset="2"/>
              <a:buChar char=""/>
            </a:pPr>
            <a:r>
              <a:rPr lang="en-US" sz="1100" i="1" dirty="0">
                <a:effectLst/>
                <a:latin typeface="+mj-lt"/>
                <a:ea typeface="Carlito"/>
                <a:cs typeface="Carlito"/>
              </a:rPr>
              <a:t>DTR Failure in all the municipal towns have been reduced significantly.</a:t>
            </a:r>
          </a:p>
          <a:p>
            <a:pPr marL="342900" marR="115570" lvl="0" indent="-342900" algn="just">
              <a:lnSpc>
                <a:spcPct val="115000"/>
              </a:lnSpc>
              <a:spcBef>
                <a:spcPts val="0"/>
              </a:spcBef>
              <a:spcAft>
                <a:spcPts val="600"/>
              </a:spcAft>
              <a:buFont typeface="Wingdings" panose="05000000000000000000" pitchFamily="2" charset="2"/>
              <a:buChar char=""/>
            </a:pPr>
            <a:r>
              <a:rPr lang="en-US" sz="1100" i="1" dirty="0">
                <a:effectLst/>
                <a:latin typeface="+mj-lt"/>
                <a:ea typeface="Carlito"/>
                <a:cs typeface="Carlito"/>
              </a:rPr>
              <a:t>AT &amp; C loss and T&amp;D loss of WBSEDCL has reduced significantly after implementation of IPDS Project. </a:t>
            </a:r>
          </a:p>
        </p:txBody>
      </p:sp>
      <p:sp>
        <p:nvSpPr>
          <p:cNvPr id="28" name="TextBox 27">
            <a:extLst>
              <a:ext uri="{FF2B5EF4-FFF2-40B4-BE49-F238E27FC236}">
                <a16:creationId xmlns:a16="http://schemas.microsoft.com/office/drawing/2014/main" id="{7E68DE4D-5393-4036-B542-002BB5169707}"/>
              </a:ext>
            </a:extLst>
          </p:cNvPr>
          <p:cNvSpPr txBox="1"/>
          <p:nvPr/>
        </p:nvSpPr>
        <p:spPr>
          <a:xfrm>
            <a:off x="3146798" y="6629784"/>
            <a:ext cx="4414725" cy="184666"/>
          </a:xfrm>
          <a:prstGeom prst="rect">
            <a:avLst/>
          </a:prstGeom>
          <a:noFill/>
        </p:spPr>
        <p:txBody>
          <a:bodyPr wrap="square" lIns="0" tIns="0" rIns="0" bIns="0" rtlCol="0">
            <a:spAutoFit/>
          </a:bodyPr>
          <a:lstStyle/>
          <a:p>
            <a:pPr>
              <a:spcBef>
                <a:spcPts val="600"/>
              </a:spcBef>
              <a:buSzPct val="100000"/>
            </a:pPr>
            <a:r>
              <a:rPr lang="en-US" sz="1200" b="1" dirty="0">
                <a:solidFill>
                  <a:srgbClr val="313131"/>
                </a:solidFill>
                <a:latin typeface="Calibri" panose="020F0502020204030204" pitchFamily="34" charset="0"/>
                <a:cs typeface="Calibri" panose="020F0502020204030204" pitchFamily="34" charset="0"/>
              </a:rPr>
              <a:t>Source </a:t>
            </a:r>
            <a:r>
              <a:rPr lang="en-US" sz="1200" dirty="0">
                <a:solidFill>
                  <a:srgbClr val="313131"/>
                </a:solidFill>
                <a:latin typeface="Calibri" panose="020F0502020204030204" pitchFamily="34" charset="0"/>
                <a:cs typeface="Calibri" panose="020F0502020204030204" pitchFamily="34" charset="0"/>
              </a:rPr>
              <a:t>: 1) WBSEDCL RDSS proposal 2) Internal (Department of Power)</a:t>
            </a:r>
          </a:p>
        </p:txBody>
      </p:sp>
    </p:spTree>
    <p:extLst>
      <p:ext uri="{BB962C8B-B14F-4D97-AF65-F5344CB8AC3E}">
        <p14:creationId xmlns:p14="http://schemas.microsoft.com/office/powerpoint/2010/main" val="1868707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344"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5" y="1693206"/>
            <a:ext cx="9630230" cy="307777"/>
          </a:xfrm>
        </p:spPr>
        <p:txBody>
          <a:bodyPr anchor="ctr" anchorCtr="0">
            <a:spAutoFit/>
          </a:bodyPr>
          <a:lstStyle/>
          <a:p>
            <a:r>
              <a:rPr lang="en-US" sz="2000" i="0" dirty="0">
                <a:solidFill>
                  <a:schemeClr val="tx1"/>
                </a:solidFill>
              </a:rPr>
              <a:t>Progress Status of National Electricity Fund Scheme (NEF)</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68992" y="1590786"/>
            <a:ext cx="635233" cy="501149"/>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400" b="1" i="0" u="none" strike="noStrike" kern="0" cap="none" spc="0" normalizeH="0" baseline="0" noProof="0" dirty="0">
                <a:ln>
                  <a:noFill/>
                </a:ln>
                <a:solidFill>
                  <a:prstClr val="white"/>
                </a:solidFill>
                <a:effectLst/>
                <a:uLnTx/>
                <a:uFillTx/>
              </a:rPr>
              <a:t>2C</a:t>
            </a:r>
          </a:p>
        </p:txBody>
      </p:sp>
      <p:cxnSp>
        <p:nvCxnSpPr>
          <p:cNvPr id="9" name="Straight Connector 8">
            <a:extLst>
              <a:ext uri="{FF2B5EF4-FFF2-40B4-BE49-F238E27FC236}">
                <a16:creationId xmlns:a16="http://schemas.microsoft.com/office/drawing/2014/main" id="{481FA6FD-48CB-4711-810A-6F15C82B8881}"/>
              </a:ext>
            </a:extLst>
          </p:cNvPr>
          <p:cNvCxnSpPr>
            <a:cxnSpLocks/>
          </p:cNvCxnSpPr>
          <p:nvPr/>
        </p:nvCxnSpPr>
        <p:spPr>
          <a:xfrm>
            <a:off x="4615544" y="3499011"/>
            <a:ext cx="0" cy="15955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1B748CB-0B57-4CA1-9B41-81AB5E897267}"/>
              </a:ext>
            </a:extLst>
          </p:cNvPr>
          <p:cNvSpPr txBox="1"/>
          <p:nvPr/>
        </p:nvSpPr>
        <p:spPr>
          <a:xfrm>
            <a:off x="4834999" y="3518190"/>
            <a:ext cx="6562335" cy="2000548"/>
          </a:xfrm>
          <a:prstGeom prst="rect">
            <a:avLst/>
          </a:prstGeom>
          <a:noFill/>
        </p:spPr>
        <p:txBody>
          <a:bodyPr wrap="square" lIns="0" tIns="0" rIns="0" bIns="0" rtlCol="0">
            <a:spAutoFit/>
          </a:bodyPr>
          <a:lstStyle/>
          <a:p>
            <a:pPr>
              <a:spcBef>
                <a:spcPts val="1800"/>
              </a:spcBef>
              <a:buSzPct val="100000"/>
            </a:pPr>
            <a:r>
              <a:rPr lang="en-IN" sz="1400" b="1" dirty="0"/>
              <a:t>Topics Covered</a:t>
            </a:r>
          </a:p>
          <a:p>
            <a:pPr marL="203200" indent="-203200">
              <a:spcBef>
                <a:spcPts val="1800"/>
              </a:spcBef>
              <a:buSzPct val="100000"/>
              <a:buFont typeface="Arial"/>
              <a:buChar char="•"/>
            </a:pPr>
            <a:r>
              <a:rPr lang="en-IN" sz="1400" dirty="0"/>
              <a:t>Salient Feature of NEF</a:t>
            </a:r>
          </a:p>
          <a:p>
            <a:pPr marL="203200" indent="-203200">
              <a:spcBef>
                <a:spcPts val="1800"/>
              </a:spcBef>
              <a:buSzPct val="100000"/>
              <a:buFont typeface="Arial"/>
              <a:buChar char="•"/>
            </a:pPr>
            <a:r>
              <a:rPr lang="en-IN" sz="1400" dirty="0"/>
              <a:t>Financial Progress of NEF</a:t>
            </a:r>
          </a:p>
          <a:p>
            <a:pPr marL="203200" indent="-203200">
              <a:spcBef>
                <a:spcPts val="1800"/>
              </a:spcBef>
              <a:buSzPct val="100000"/>
              <a:buFont typeface="Arial"/>
              <a:buChar char="•"/>
            </a:pPr>
            <a:r>
              <a:rPr lang="en-IN" sz="1400" dirty="0"/>
              <a:t>Physical Progress of NEF </a:t>
            </a:r>
          </a:p>
          <a:p>
            <a:pPr marL="203200" indent="-203200">
              <a:spcBef>
                <a:spcPts val="1800"/>
              </a:spcBef>
              <a:buSzPct val="100000"/>
              <a:buFont typeface="Arial"/>
              <a:buChar char="•"/>
            </a:pPr>
            <a:endParaRPr lang="en-IN" sz="1400" dirty="0"/>
          </a:p>
        </p:txBody>
      </p:sp>
      <p:grpSp>
        <p:nvGrpSpPr>
          <p:cNvPr id="14" name="Group 526">
            <a:extLst>
              <a:ext uri="{FF2B5EF4-FFF2-40B4-BE49-F238E27FC236}">
                <a16:creationId xmlns:a16="http://schemas.microsoft.com/office/drawing/2014/main" id="{5540E149-1F19-4064-9714-B21FD0705489}"/>
              </a:ext>
            </a:extLst>
          </p:cNvPr>
          <p:cNvGrpSpPr>
            <a:grpSpLocks noChangeAspect="1"/>
          </p:cNvGrpSpPr>
          <p:nvPr/>
        </p:nvGrpSpPr>
        <p:grpSpPr bwMode="auto">
          <a:xfrm>
            <a:off x="1104225" y="3008313"/>
            <a:ext cx="2345264" cy="2345264"/>
            <a:chOff x="3464" y="1974"/>
            <a:chExt cx="340" cy="340"/>
          </a:xfrm>
          <a:solidFill>
            <a:srgbClr val="9CAC00"/>
          </a:solidFill>
        </p:grpSpPr>
        <p:sp>
          <p:nvSpPr>
            <p:cNvPr id="15" name="Freeform 527">
              <a:extLst>
                <a:ext uri="{FF2B5EF4-FFF2-40B4-BE49-F238E27FC236}">
                  <a16:creationId xmlns:a16="http://schemas.microsoft.com/office/drawing/2014/main" id="{2261B12D-A407-4719-9125-F49F83DDB571}"/>
                </a:ext>
              </a:extLst>
            </p:cNvPr>
            <p:cNvSpPr>
              <a:spLocks noEditPoints="1"/>
            </p:cNvSpPr>
            <p:nvPr/>
          </p:nvSpPr>
          <p:spPr bwMode="auto">
            <a:xfrm>
              <a:off x="3464" y="197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528">
              <a:extLst>
                <a:ext uri="{FF2B5EF4-FFF2-40B4-BE49-F238E27FC236}">
                  <a16:creationId xmlns:a16="http://schemas.microsoft.com/office/drawing/2014/main" id="{4FB09AB9-A79B-434D-9DE7-187BE7279860}"/>
                </a:ext>
              </a:extLst>
            </p:cNvPr>
            <p:cNvSpPr>
              <a:spLocks noEditPoints="1"/>
            </p:cNvSpPr>
            <p:nvPr/>
          </p:nvSpPr>
          <p:spPr bwMode="auto">
            <a:xfrm>
              <a:off x="3541" y="2037"/>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341033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9">
            <a:extLst>
              <a:ext uri="{FF2B5EF4-FFF2-40B4-BE49-F238E27FC236}">
                <a16:creationId xmlns:a16="http://schemas.microsoft.com/office/drawing/2014/main" id="{ADDBC7C8-E57A-4887-8C42-E5DF93DA658C}"/>
              </a:ext>
            </a:extLst>
          </p:cNvPr>
          <p:cNvSpPr>
            <a:spLocks noChangeArrowheads="1"/>
          </p:cNvSpPr>
          <p:nvPr/>
        </p:nvSpPr>
        <p:spPr bwMode="auto">
          <a:xfrm>
            <a:off x="3714528" y="716685"/>
            <a:ext cx="8236172" cy="2797035"/>
          </a:xfrm>
          <a:prstGeom prst="rect">
            <a:avLst/>
          </a:prstGeom>
          <a:solidFill>
            <a:schemeClr val="accent1">
              <a:lumMod val="20000"/>
              <a:lumOff val="80000"/>
            </a:schemeClr>
          </a:solidFill>
          <a:ln w="19050" algn="ctr">
            <a:solidFill>
              <a:schemeClr val="accent1"/>
            </a:solidFill>
            <a:miter lim="800000"/>
            <a:headEnd/>
            <a:tailEnd/>
          </a:ln>
        </p:spPr>
        <p:txBody>
          <a:bodyPr wrap="square" lIns="182880" tIns="182880" rIns="182880" bIns="182880" anchor="ctr"/>
          <a:lstStyle/>
          <a:p>
            <a:pPr marL="166688" indent="-166688" algn="just">
              <a:spcBef>
                <a:spcPts val="600"/>
              </a:spcBef>
              <a:defRPr/>
            </a:pPr>
            <a:r>
              <a:rPr lang="en-US" sz="1200" dirty="0" err="1">
                <a:latin typeface="+mj-lt"/>
                <a:ea typeface="ＭＳ Ｐゴシック" pitchFamily="50" charset="-128"/>
                <a:cs typeface="Calibri" panose="020F0502020204030204" pitchFamily="34" charset="0"/>
              </a:rPr>
              <a:t>GoI</a:t>
            </a:r>
            <a:r>
              <a:rPr lang="en-US" sz="1200" dirty="0">
                <a:latin typeface="+mj-lt"/>
                <a:ea typeface="ＭＳ Ｐゴシック" pitchFamily="50" charset="-128"/>
                <a:cs typeface="Calibri" panose="020F0502020204030204" pitchFamily="34" charset="0"/>
              </a:rPr>
              <a:t> had approved the NEF (Interest Subsidy</a:t>
            </a:r>
            <a:r>
              <a:rPr lang="en-US" sz="1200" b="1" dirty="0">
                <a:latin typeface="+mj-lt"/>
                <a:ea typeface="ＭＳ Ｐゴシック" pitchFamily="50" charset="-128"/>
                <a:cs typeface="Calibri" panose="020F0502020204030204" pitchFamily="34" charset="0"/>
              </a:rPr>
              <a:t>) scheme to promote capital investment in the distribution sector by providing interest subsidy, linked with reform measures, on the loans taken by public and private power utilities for various capital works under Distribution projects</a:t>
            </a:r>
            <a:r>
              <a:rPr lang="en-US" sz="1200" dirty="0">
                <a:latin typeface="+mj-lt"/>
                <a:ea typeface="ＭＳ Ｐゴシック" pitchFamily="50" charset="-128"/>
                <a:cs typeface="Calibri" panose="020F0502020204030204" pitchFamily="34" charset="0"/>
              </a:rPr>
              <a:t>. </a:t>
            </a:r>
          </a:p>
          <a:p>
            <a:pPr marL="285750" indent="-285750" algn="just">
              <a:spcBef>
                <a:spcPts val="600"/>
              </a:spcBef>
              <a:buFont typeface="Wingdings" panose="05000000000000000000" pitchFamily="2" charset="2"/>
              <a:buChar char="§"/>
              <a:defRPr/>
            </a:pPr>
            <a:r>
              <a:rPr lang="en-US" sz="1200" dirty="0">
                <a:latin typeface="+mj-lt"/>
                <a:ea typeface="ＭＳ Ｐゴシック" pitchFamily="50" charset="-128"/>
                <a:cs typeface="Calibri" panose="020F0502020204030204" pitchFamily="34" charset="0"/>
              </a:rPr>
              <a:t>This </a:t>
            </a:r>
            <a:r>
              <a:rPr lang="en-US" sz="1200" b="1" dirty="0">
                <a:latin typeface="+mj-lt"/>
                <a:ea typeface="ＭＳ Ｐゴシック" pitchFamily="50" charset="-128"/>
                <a:cs typeface="Calibri" panose="020F0502020204030204" pitchFamily="34" charset="0"/>
              </a:rPr>
              <a:t>Scheme is applicable for the projects which are not considered under RGGVY and R-APDRP</a:t>
            </a:r>
            <a:r>
              <a:rPr lang="en-US" sz="1200" dirty="0">
                <a:latin typeface="+mj-lt"/>
                <a:ea typeface="ＭＳ Ｐゴシック" pitchFamily="50" charset="-128"/>
                <a:cs typeface="Calibri" panose="020F0502020204030204" pitchFamily="34" charset="0"/>
              </a:rPr>
              <a:t> Scheme</a:t>
            </a:r>
          </a:p>
          <a:p>
            <a:pPr marL="285750" indent="-285750" algn="just">
              <a:spcBef>
                <a:spcPts val="600"/>
              </a:spcBef>
              <a:buFont typeface="Wingdings" panose="05000000000000000000" pitchFamily="2" charset="2"/>
              <a:buChar char="§"/>
              <a:defRPr/>
            </a:pPr>
            <a:r>
              <a:rPr lang="en-US" sz="1200" dirty="0">
                <a:latin typeface="+mj-lt"/>
                <a:ea typeface="ＭＳ Ｐゴシック" pitchFamily="50" charset="-128"/>
                <a:cs typeface="Calibri" panose="020F0502020204030204" pitchFamily="34" charset="0"/>
              </a:rPr>
              <a:t>Projects which are considered under NEF (Interest Subsidy) Scheme are :</a:t>
            </a:r>
          </a:p>
          <a:p>
            <a:pPr marL="742921" lvl="1" indent="-285750" algn="just">
              <a:buFont typeface="Courier New" panose="02070309020205020404" pitchFamily="49" charset="0"/>
              <a:buChar char="o"/>
              <a:defRPr/>
            </a:pPr>
            <a:r>
              <a:rPr lang="en-US" sz="1200" b="1" dirty="0">
                <a:latin typeface="+mj-lt"/>
                <a:ea typeface="ＭＳ Ｐゴシック" pitchFamily="50" charset="-128"/>
                <a:cs typeface="Calibri" panose="020F0502020204030204" pitchFamily="34" charset="0"/>
              </a:rPr>
              <a:t>Loss reduction measures</a:t>
            </a:r>
            <a:r>
              <a:rPr lang="en-US" sz="1200" dirty="0">
                <a:latin typeface="+mj-lt"/>
                <a:ea typeface="ＭＳ Ｐゴシック" pitchFamily="50" charset="-128"/>
                <a:cs typeface="Calibri" panose="020F0502020204030204" pitchFamily="34" charset="0"/>
              </a:rPr>
              <a:t> – Metering, Strengthening of Energy Accounting and Audit, HVDS etc </a:t>
            </a:r>
          </a:p>
          <a:p>
            <a:pPr marL="742921" lvl="1" indent="-285750" algn="just">
              <a:buFont typeface="Courier New" panose="02070309020205020404" pitchFamily="49" charset="0"/>
              <a:buChar char="o"/>
              <a:defRPr/>
            </a:pPr>
            <a:r>
              <a:rPr lang="en-US" sz="1200" b="1" dirty="0">
                <a:latin typeface="+mj-lt"/>
                <a:ea typeface="ＭＳ Ｐゴシック" pitchFamily="50" charset="-128"/>
                <a:cs typeface="Calibri" panose="020F0502020204030204" pitchFamily="34" charset="0"/>
              </a:rPr>
              <a:t>System augmentation and strengthening</a:t>
            </a:r>
            <a:r>
              <a:rPr lang="en-US" sz="1200" dirty="0">
                <a:latin typeface="+mj-lt"/>
                <a:ea typeface="ＭＳ Ｐゴシック" pitchFamily="50" charset="-128"/>
                <a:cs typeface="Calibri" panose="020F0502020204030204" pitchFamily="34" charset="0"/>
              </a:rPr>
              <a:t> of Network, Reconducting &amp; Upgradation of Old Network</a:t>
            </a:r>
          </a:p>
          <a:p>
            <a:pPr marL="742921" lvl="1" indent="-285750" algn="just">
              <a:buFont typeface="Courier New" panose="02070309020205020404" pitchFamily="49" charset="0"/>
              <a:buChar char="o"/>
              <a:defRPr/>
            </a:pPr>
            <a:r>
              <a:rPr lang="en-US" sz="1200" b="1" dirty="0">
                <a:latin typeface="+mj-lt"/>
                <a:ea typeface="ＭＳ Ｐゴシック" pitchFamily="50" charset="-128"/>
                <a:cs typeface="Calibri" panose="020F0502020204030204" pitchFamily="34" charset="0"/>
              </a:rPr>
              <a:t>Enhancing Operational Efficiency </a:t>
            </a:r>
            <a:r>
              <a:rPr lang="en-US" sz="1200" dirty="0">
                <a:latin typeface="+mj-lt"/>
                <a:ea typeface="ＭＳ Ｐゴシック" pitchFamily="50" charset="-128"/>
                <a:cs typeface="Calibri" panose="020F0502020204030204" pitchFamily="34" charset="0"/>
              </a:rPr>
              <a:t>– SCADA, IT Infrastructure and Distribution System Management  </a:t>
            </a:r>
          </a:p>
          <a:p>
            <a:pPr marL="742921" lvl="1" indent="-285750" algn="just">
              <a:buFont typeface="Courier New" panose="02070309020205020404" pitchFamily="49" charset="0"/>
              <a:buChar char="o"/>
              <a:defRPr/>
            </a:pPr>
            <a:r>
              <a:rPr lang="en-US" sz="1200" b="1" dirty="0">
                <a:latin typeface="+mj-lt"/>
                <a:ea typeface="ＭＳ Ｐゴシック" pitchFamily="50" charset="-128"/>
                <a:cs typeface="Calibri" panose="020F0502020204030204" pitchFamily="34" charset="0"/>
              </a:rPr>
              <a:t>Customer relationship management</a:t>
            </a:r>
            <a:r>
              <a:rPr lang="en-US" sz="1200" dirty="0">
                <a:latin typeface="+mj-lt"/>
                <a:ea typeface="ＭＳ Ｐゴシック" pitchFamily="50" charset="-128"/>
                <a:cs typeface="Calibri" panose="020F0502020204030204" pitchFamily="34" charset="0"/>
              </a:rPr>
              <a:t>/grievance redressal</a:t>
            </a:r>
          </a:p>
        </p:txBody>
      </p:sp>
      <p:sp>
        <p:nvSpPr>
          <p:cNvPr id="21" name="AutoShape 12">
            <a:extLst>
              <a:ext uri="{FF2B5EF4-FFF2-40B4-BE49-F238E27FC236}">
                <a16:creationId xmlns:a16="http://schemas.microsoft.com/office/drawing/2014/main" id="{AACE88D1-0F70-4149-A94E-C56BF6DDDC1A}"/>
              </a:ext>
            </a:extLst>
          </p:cNvPr>
          <p:cNvSpPr>
            <a:spLocks noChangeArrowheads="1"/>
          </p:cNvSpPr>
          <p:nvPr/>
        </p:nvSpPr>
        <p:spPr bwMode="auto">
          <a:xfrm>
            <a:off x="2582414" y="816657"/>
            <a:ext cx="1008046" cy="2718120"/>
          </a:xfrm>
          <a:prstGeom prst="homePlate">
            <a:avLst>
              <a:gd name="adj" fmla="val 100000"/>
            </a:avLst>
          </a:prstGeom>
          <a:solidFill>
            <a:schemeClr val="bg2">
              <a:lumMod val="75000"/>
            </a:schemeClr>
          </a:solidFill>
          <a:ln w="6350" algn="ctr">
            <a:noFill/>
            <a:miter lim="800000"/>
            <a:headEnd/>
            <a:tailEnd/>
          </a:ln>
        </p:spPr>
        <p:txBody>
          <a:bodyPr wrap="square" lIns="88900" tIns="88900" rIns="88900" bIns="88900" anchor="ctr"/>
          <a:lstStyle/>
          <a:p>
            <a:pPr algn="ctr"/>
            <a:endParaRPr lang="en-US" sz="1400" dirty="0"/>
          </a:p>
        </p:txBody>
      </p:sp>
      <p:sp>
        <p:nvSpPr>
          <p:cNvPr id="24" name="Rectangle 23">
            <a:extLst>
              <a:ext uri="{FF2B5EF4-FFF2-40B4-BE49-F238E27FC236}">
                <a16:creationId xmlns:a16="http://schemas.microsoft.com/office/drawing/2014/main" id="{A3D90435-7D86-4CEC-9EC3-E0A6A53CAF9F}"/>
              </a:ext>
            </a:extLst>
          </p:cNvPr>
          <p:cNvSpPr/>
          <p:nvPr/>
        </p:nvSpPr>
        <p:spPr bwMode="gray">
          <a:xfrm>
            <a:off x="488936" y="816657"/>
            <a:ext cx="1969404" cy="2697063"/>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2000" b="1" dirty="0">
                <a:solidFill>
                  <a:schemeClr val="bg1"/>
                </a:solidFill>
                <a:latin typeface="Calibri" panose="020F0502020204030204" pitchFamily="34" charset="0"/>
                <a:cs typeface="Calibri" panose="020F0502020204030204" pitchFamily="34" charset="0"/>
              </a:rPr>
              <a:t>Background</a:t>
            </a:r>
          </a:p>
        </p:txBody>
      </p:sp>
      <p:sp>
        <p:nvSpPr>
          <p:cNvPr id="36" name="Oval 35">
            <a:extLst>
              <a:ext uri="{FF2B5EF4-FFF2-40B4-BE49-F238E27FC236}">
                <a16:creationId xmlns:a16="http://schemas.microsoft.com/office/drawing/2014/main" id="{D6BB4E0C-F837-4728-A1EB-8E8EDA16F515}"/>
              </a:ext>
            </a:extLst>
          </p:cNvPr>
          <p:cNvSpPr>
            <a:spLocks noChangeArrowheads="1"/>
          </p:cNvSpPr>
          <p:nvPr/>
        </p:nvSpPr>
        <p:spPr bwMode="blackWhite">
          <a:xfrm rot="16200000">
            <a:off x="524940" y="3826085"/>
            <a:ext cx="711237" cy="702828"/>
          </a:xfrm>
          <a:prstGeom prst="ellipse">
            <a:avLst/>
          </a:prstGeom>
          <a:solidFill>
            <a:schemeClr val="accent2"/>
          </a:solidFill>
          <a:ln w="12700">
            <a:noFill/>
            <a:round/>
            <a:headEnd/>
            <a:tailEnd/>
          </a:ln>
        </p:spPr>
        <p:txBody>
          <a:bodyPr vert="vert" wrap="square" lIns="88900" tIns="88900" rIns="88900" bIns="88900" anchor="ctr"/>
          <a:lstStyle/>
          <a:p>
            <a:pPr algn="ctr" eaLnBrk="1" hangingPunct="1">
              <a:spcBef>
                <a:spcPct val="20000"/>
              </a:spcBef>
              <a:defRPr/>
            </a:pPr>
            <a:r>
              <a:rPr lang="en-GB" sz="2000" dirty="0">
                <a:solidFill>
                  <a:schemeClr val="bg1"/>
                </a:solidFill>
                <a:latin typeface="Calibri" panose="020F0502020204030204" pitchFamily="34" charset="0"/>
                <a:cs typeface="Calibri" panose="020F0502020204030204" pitchFamily="34" charset="0"/>
              </a:rPr>
              <a:t>1</a:t>
            </a:r>
          </a:p>
        </p:txBody>
      </p:sp>
      <p:sp>
        <p:nvSpPr>
          <p:cNvPr id="37" name="Oval 36">
            <a:extLst>
              <a:ext uri="{FF2B5EF4-FFF2-40B4-BE49-F238E27FC236}">
                <a16:creationId xmlns:a16="http://schemas.microsoft.com/office/drawing/2014/main" id="{A3C8C192-CAA0-47AB-A3FB-F6B0B5BAD1F6}"/>
              </a:ext>
            </a:extLst>
          </p:cNvPr>
          <p:cNvSpPr>
            <a:spLocks noChangeArrowheads="1"/>
          </p:cNvSpPr>
          <p:nvPr/>
        </p:nvSpPr>
        <p:spPr bwMode="blackWhite">
          <a:xfrm rot="16200000">
            <a:off x="916750" y="5638493"/>
            <a:ext cx="684084" cy="682228"/>
          </a:xfrm>
          <a:prstGeom prst="ellipse">
            <a:avLst/>
          </a:prstGeom>
          <a:solidFill>
            <a:schemeClr val="accent3"/>
          </a:solidFill>
          <a:ln w="12700">
            <a:noFill/>
            <a:round/>
            <a:headEnd/>
            <a:tailEnd/>
          </a:ln>
        </p:spPr>
        <p:txBody>
          <a:bodyPr vert="vert" wrap="square" lIns="88900" tIns="88900" rIns="88900" bIns="88900" anchor="ctr"/>
          <a:lstStyle/>
          <a:p>
            <a:pPr algn="ctr" eaLnBrk="1" hangingPunct="1">
              <a:spcBef>
                <a:spcPct val="20000"/>
              </a:spcBef>
              <a:defRPr/>
            </a:pPr>
            <a:r>
              <a:rPr lang="en-GB" sz="2000" dirty="0">
                <a:solidFill>
                  <a:schemeClr val="bg1"/>
                </a:solidFill>
                <a:latin typeface="Calibri" panose="020F0502020204030204" pitchFamily="34" charset="0"/>
                <a:cs typeface="Calibri" panose="020F0502020204030204" pitchFamily="34" charset="0"/>
              </a:rPr>
              <a:t>3</a:t>
            </a:r>
          </a:p>
        </p:txBody>
      </p:sp>
      <p:sp>
        <p:nvSpPr>
          <p:cNvPr id="38" name="Oval 37">
            <a:extLst>
              <a:ext uri="{FF2B5EF4-FFF2-40B4-BE49-F238E27FC236}">
                <a16:creationId xmlns:a16="http://schemas.microsoft.com/office/drawing/2014/main" id="{DEA2F46F-29C6-4773-8DC1-72809EA907C1}"/>
              </a:ext>
            </a:extLst>
          </p:cNvPr>
          <p:cNvSpPr>
            <a:spLocks noChangeArrowheads="1"/>
          </p:cNvSpPr>
          <p:nvPr/>
        </p:nvSpPr>
        <p:spPr bwMode="blackWhite">
          <a:xfrm rot="16381333">
            <a:off x="1618534" y="4684389"/>
            <a:ext cx="673138" cy="758959"/>
          </a:xfrm>
          <a:prstGeom prst="ellipse">
            <a:avLst/>
          </a:prstGeom>
          <a:solidFill>
            <a:schemeClr val="accent1"/>
          </a:solidFill>
          <a:ln w="12700">
            <a:noFill/>
            <a:round/>
            <a:headEnd/>
            <a:tailEnd/>
          </a:ln>
        </p:spPr>
        <p:txBody>
          <a:bodyPr vert="vert" wrap="square" lIns="88900" tIns="88900" rIns="88900" bIns="88900" anchor="ctr"/>
          <a:lstStyle/>
          <a:p>
            <a:pPr algn="ctr" eaLnBrk="1" hangingPunct="1">
              <a:spcBef>
                <a:spcPct val="20000"/>
              </a:spcBef>
              <a:defRPr/>
            </a:pPr>
            <a:r>
              <a:rPr lang="en-GB" sz="2000" dirty="0">
                <a:solidFill>
                  <a:schemeClr val="bg1"/>
                </a:solidFill>
                <a:latin typeface="Calibri" panose="020F0502020204030204" pitchFamily="34" charset="0"/>
                <a:cs typeface="Calibri" panose="020F0502020204030204" pitchFamily="34" charset="0"/>
              </a:rPr>
              <a:t>2</a:t>
            </a:r>
          </a:p>
        </p:txBody>
      </p:sp>
      <p:grpSp>
        <p:nvGrpSpPr>
          <p:cNvPr id="39" name="Group 38">
            <a:extLst>
              <a:ext uri="{FF2B5EF4-FFF2-40B4-BE49-F238E27FC236}">
                <a16:creationId xmlns:a16="http://schemas.microsoft.com/office/drawing/2014/main" id="{065130CE-2455-46FB-92B1-FA844A1BF902}"/>
              </a:ext>
            </a:extLst>
          </p:cNvPr>
          <p:cNvGrpSpPr/>
          <p:nvPr/>
        </p:nvGrpSpPr>
        <p:grpSpPr>
          <a:xfrm rot="16200000">
            <a:off x="-141157" y="4015340"/>
            <a:ext cx="3181225" cy="1942314"/>
            <a:chOff x="4665630" y="2359025"/>
            <a:chExt cx="4061685" cy="2746375"/>
          </a:xfrm>
        </p:grpSpPr>
        <p:sp>
          <p:nvSpPr>
            <p:cNvPr id="40" name="Arc 20">
              <a:extLst>
                <a:ext uri="{FF2B5EF4-FFF2-40B4-BE49-F238E27FC236}">
                  <a16:creationId xmlns:a16="http://schemas.microsoft.com/office/drawing/2014/main" id="{87BD2DB2-EBC1-4910-80F8-2B8A99713EF9}"/>
                </a:ext>
              </a:extLst>
            </p:cNvPr>
            <p:cNvSpPr>
              <a:spLocks/>
            </p:cNvSpPr>
            <p:nvPr/>
          </p:nvSpPr>
          <p:spPr bwMode="auto">
            <a:xfrm>
              <a:off x="5380550" y="2867025"/>
              <a:ext cx="580769" cy="608013"/>
            </a:xfrm>
            <a:custGeom>
              <a:avLst/>
              <a:gdLst>
                <a:gd name="T0" fmla="*/ 0 w 21646"/>
                <a:gd name="T1" fmla="*/ 0 h 21600"/>
                <a:gd name="T2" fmla="*/ 0 w 21646"/>
                <a:gd name="T3" fmla="*/ 0 h 21600"/>
                <a:gd name="T4" fmla="*/ 0 w 21646"/>
                <a:gd name="T5" fmla="*/ 0 h 21600"/>
                <a:gd name="T6" fmla="*/ 0 60000 65536"/>
                <a:gd name="T7" fmla="*/ 0 60000 65536"/>
                <a:gd name="T8" fmla="*/ 0 60000 65536"/>
                <a:gd name="T9" fmla="*/ 0 w 21646"/>
                <a:gd name="T10" fmla="*/ 0 h 21600"/>
                <a:gd name="T11" fmla="*/ 21646 w 21646"/>
                <a:gd name="T12" fmla="*/ 21600 h 21600"/>
              </a:gdLst>
              <a:ahLst/>
              <a:cxnLst>
                <a:cxn ang="T6">
                  <a:pos x="T0" y="T1"/>
                </a:cxn>
                <a:cxn ang="T7">
                  <a:pos x="T2" y="T3"/>
                </a:cxn>
                <a:cxn ang="T8">
                  <a:pos x="T4" y="T5"/>
                </a:cxn>
              </a:cxnLst>
              <a:rect l="T9" t="T10" r="T11" b="T12"/>
              <a:pathLst>
                <a:path w="21646" h="21600" fill="none" extrusionOk="0">
                  <a:moveTo>
                    <a:pt x="0" y="0"/>
                  </a:moveTo>
                  <a:cubicBezTo>
                    <a:pt x="17" y="0"/>
                    <a:pt x="35" y="-1"/>
                    <a:pt x="53" y="0"/>
                  </a:cubicBezTo>
                  <a:cubicBezTo>
                    <a:pt x="11761" y="0"/>
                    <a:pt x="21337" y="9327"/>
                    <a:pt x="21645" y="21032"/>
                  </a:cubicBezTo>
                </a:path>
                <a:path w="21646" h="21600" stroke="0" extrusionOk="0">
                  <a:moveTo>
                    <a:pt x="0" y="0"/>
                  </a:moveTo>
                  <a:cubicBezTo>
                    <a:pt x="17" y="0"/>
                    <a:pt x="35" y="-1"/>
                    <a:pt x="53" y="0"/>
                  </a:cubicBezTo>
                  <a:cubicBezTo>
                    <a:pt x="11761" y="0"/>
                    <a:pt x="21337" y="9327"/>
                    <a:pt x="21645" y="21032"/>
                  </a:cubicBezTo>
                  <a:lnTo>
                    <a:pt x="53" y="21600"/>
                  </a:lnTo>
                  <a:close/>
                </a:path>
              </a:pathLst>
            </a:custGeom>
            <a:noFill/>
            <a:ln w="19050" cap="rnd">
              <a:solidFill>
                <a:schemeClr val="tx1"/>
              </a:solidFill>
              <a:round/>
              <a:headEnd type="none" w="sm" len="sm"/>
              <a:tailEnd type="none" w="sm" len="sm"/>
            </a:ln>
          </p:spPr>
          <p:txBody>
            <a:bodyPr wrap="none" anchor="ctr"/>
            <a:lstStyle/>
            <a:p>
              <a:pPr algn="ctr" eaLnBrk="1" hangingPunct="1">
                <a:spcBef>
                  <a:spcPct val="20000"/>
                </a:spcBef>
                <a:defRPr/>
              </a:pPr>
              <a:endParaRPr lang="en-GB" sz="1400" b="1" dirty="0">
                <a:solidFill>
                  <a:srgbClr val="FFFFFF"/>
                </a:solidFill>
                <a:cs typeface="Arial" pitchFamily="34" charset="0"/>
              </a:endParaRPr>
            </a:p>
          </p:txBody>
        </p:sp>
        <p:sp>
          <p:nvSpPr>
            <p:cNvPr id="41" name="Line 21">
              <a:extLst>
                <a:ext uri="{FF2B5EF4-FFF2-40B4-BE49-F238E27FC236}">
                  <a16:creationId xmlns:a16="http://schemas.microsoft.com/office/drawing/2014/main" id="{63DBAB18-0479-4D1C-8992-BC996FBF9B1C}"/>
                </a:ext>
              </a:extLst>
            </p:cNvPr>
            <p:cNvSpPr>
              <a:spLocks noChangeShapeType="1"/>
            </p:cNvSpPr>
            <p:nvPr/>
          </p:nvSpPr>
          <p:spPr bwMode="auto">
            <a:xfrm flipH="1">
              <a:off x="4665630" y="2867025"/>
              <a:ext cx="726372" cy="0"/>
            </a:xfrm>
            <a:prstGeom prst="line">
              <a:avLst/>
            </a:prstGeom>
            <a:noFill/>
            <a:ln w="19050">
              <a:solidFill>
                <a:schemeClr val="tx1"/>
              </a:solidFill>
              <a:round/>
              <a:headEnd type="none" w="sm" len="sm"/>
              <a:tailEnd type="none" w="sm" len="sm"/>
            </a:ln>
          </p:spPr>
          <p:txBody>
            <a:bodyPr wrap="none" anchor="ctr"/>
            <a:lstStyle/>
            <a:p>
              <a:pPr algn="ctr" eaLnBrk="1" hangingPunct="1">
                <a:spcBef>
                  <a:spcPct val="20000"/>
                </a:spcBef>
                <a:defRPr/>
              </a:pPr>
              <a:endParaRPr lang="en-GB" sz="1400" b="1" dirty="0">
                <a:solidFill>
                  <a:srgbClr val="FFFFFF"/>
                </a:solidFill>
                <a:cs typeface="Arial" pitchFamily="34" charset="0"/>
              </a:endParaRPr>
            </a:p>
          </p:txBody>
        </p:sp>
        <p:sp>
          <p:nvSpPr>
            <p:cNvPr id="42" name="Arc 22">
              <a:extLst>
                <a:ext uri="{FF2B5EF4-FFF2-40B4-BE49-F238E27FC236}">
                  <a16:creationId xmlns:a16="http://schemas.microsoft.com/office/drawing/2014/main" id="{C9F0ED44-252C-457C-940B-FAFFE408B795}"/>
                </a:ext>
              </a:extLst>
            </p:cNvPr>
            <p:cNvSpPr>
              <a:spLocks/>
            </p:cNvSpPr>
            <p:nvPr/>
          </p:nvSpPr>
          <p:spPr bwMode="auto">
            <a:xfrm>
              <a:off x="5961319" y="4506913"/>
              <a:ext cx="1188720" cy="598487"/>
            </a:xfrm>
            <a:custGeom>
              <a:avLst/>
              <a:gdLst>
                <a:gd name="T0" fmla="*/ 0 w 43200"/>
                <a:gd name="T1" fmla="*/ 0 h 21705"/>
                <a:gd name="T2" fmla="*/ 0 w 43200"/>
                <a:gd name="T3" fmla="*/ 0 h 21705"/>
                <a:gd name="T4" fmla="*/ 0 w 43200"/>
                <a:gd name="T5" fmla="*/ 0 h 21705"/>
                <a:gd name="T6" fmla="*/ 0 60000 65536"/>
                <a:gd name="T7" fmla="*/ 0 60000 65536"/>
                <a:gd name="T8" fmla="*/ 0 60000 65536"/>
                <a:gd name="T9" fmla="*/ 0 w 43200"/>
                <a:gd name="T10" fmla="*/ 0 h 21705"/>
                <a:gd name="T11" fmla="*/ 43200 w 43200"/>
                <a:gd name="T12" fmla="*/ 21705 h 21705"/>
              </a:gdLst>
              <a:ahLst/>
              <a:cxnLst>
                <a:cxn ang="T6">
                  <a:pos x="T0" y="T1"/>
                </a:cxn>
                <a:cxn ang="T7">
                  <a:pos x="T2" y="T3"/>
                </a:cxn>
                <a:cxn ang="T8">
                  <a:pos x="T4" y="T5"/>
                </a:cxn>
              </a:cxnLst>
              <a:rect l="T9" t="T10" r="T11" b="T12"/>
              <a:pathLst>
                <a:path w="43200" h="21705" fill="none" extrusionOk="0">
                  <a:moveTo>
                    <a:pt x="43199" y="53"/>
                  </a:moveTo>
                  <a:cubicBezTo>
                    <a:pt x="43199" y="70"/>
                    <a:pt x="43200" y="87"/>
                    <a:pt x="43200" y="105"/>
                  </a:cubicBezTo>
                  <a:cubicBezTo>
                    <a:pt x="43200" y="12034"/>
                    <a:pt x="33529" y="21705"/>
                    <a:pt x="21600" y="21705"/>
                  </a:cubicBezTo>
                  <a:cubicBezTo>
                    <a:pt x="9670" y="21705"/>
                    <a:pt x="0" y="12034"/>
                    <a:pt x="0" y="105"/>
                  </a:cubicBezTo>
                  <a:cubicBezTo>
                    <a:pt x="-1" y="70"/>
                    <a:pt x="0" y="35"/>
                    <a:pt x="0" y="0"/>
                  </a:cubicBezTo>
                </a:path>
                <a:path w="43200" h="21705" stroke="0" extrusionOk="0">
                  <a:moveTo>
                    <a:pt x="43199" y="53"/>
                  </a:moveTo>
                  <a:cubicBezTo>
                    <a:pt x="43199" y="70"/>
                    <a:pt x="43200" y="87"/>
                    <a:pt x="43200" y="105"/>
                  </a:cubicBezTo>
                  <a:cubicBezTo>
                    <a:pt x="43200" y="12034"/>
                    <a:pt x="33529" y="21705"/>
                    <a:pt x="21600" y="21705"/>
                  </a:cubicBezTo>
                  <a:cubicBezTo>
                    <a:pt x="9670" y="21705"/>
                    <a:pt x="0" y="12034"/>
                    <a:pt x="0" y="105"/>
                  </a:cubicBezTo>
                  <a:cubicBezTo>
                    <a:pt x="-1" y="70"/>
                    <a:pt x="0" y="35"/>
                    <a:pt x="0" y="0"/>
                  </a:cubicBezTo>
                  <a:lnTo>
                    <a:pt x="21600" y="105"/>
                  </a:lnTo>
                  <a:close/>
                </a:path>
              </a:pathLst>
            </a:custGeom>
            <a:noFill/>
            <a:ln w="19050" cap="rnd">
              <a:solidFill>
                <a:schemeClr val="tx1"/>
              </a:solidFill>
              <a:round/>
              <a:headEnd type="none" w="sm" len="sm"/>
              <a:tailEnd type="none" w="sm" len="sm"/>
            </a:ln>
          </p:spPr>
          <p:txBody>
            <a:bodyPr wrap="none" anchor="ctr"/>
            <a:lstStyle/>
            <a:p>
              <a:pPr algn="ctr" eaLnBrk="1" hangingPunct="1">
                <a:spcBef>
                  <a:spcPct val="20000"/>
                </a:spcBef>
                <a:defRPr/>
              </a:pPr>
              <a:endParaRPr lang="en-GB" sz="1400" b="1" dirty="0">
                <a:solidFill>
                  <a:srgbClr val="FFFFFF"/>
                </a:solidFill>
                <a:cs typeface="Arial" pitchFamily="34" charset="0"/>
              </a:endParaRPr>
            </a:p>
          </p:txBody>
        </p:sp>
        <p:sp>
          <p:nvSpPr>
            <p:cNvPr id="43" name="Line 23">
              <a:extLst>
                <a:ext uri="{FF2B5EF4-FFF2-40B4-BE49-F238E27FC236}">
                  <a16:creationId xmlns:a16="http://schemas.microsoft.com/office/drawing/2014/main" id="{45C27234-9103-49BC-923F-C1945E6A99E5}"/>
                </a:ext>
              </a:extLst>
            </p:cNvPr>
            <p:cNvSpPr>
              <a:spLocks noChangeShapeType="1"/>
            </p:cNvSpPr>
            <p:nvPr/>
          </p:nvSpPr>
          <p:spPr bwMode="auto">
            <a:xfrm flipV="1">
              <a:off x="5961319" y="3455011"/>
              <a:ext cx="0" cy="1073150"/>
            </a:xfrm>
            <a:prstGeom prst="line">
              <a:avLst/>
            </a:prstGeom>
            <a:noFill/>
            <a:ln w="19050">
              <a:solidFill>
                <a:schemeClr val="tx1"/>
              </a:solidFill>
              <a:round/>
              <a:headEnd type="none" w="sm" len="sm"/>
              <a:tailEnd type="none" w="sm" len="sm"/>
            </a:ln>
          </p:spPr>
          <p:txBody>
            <a:bodyPr wrap="none" anchor="ctr"/>
            <a:lstStyle/>
            <a:p>
              <a:pPr algn="ctr" eaLnBrk="1" hangingPunct="1">
                <a:spcBef>
                  <a:spcPct val="20000"/>
                </a:spcBef>
                <a:defRPr/>
              </a:pPr>
              <a:endParaRPr lang="en-GB" sz="1400" b="1" dirty="0">
                <a:solidFill>
                  <a:srgbClr val="FFFFFF"/>
                </a:solidFill>
                <a:cs typeface="Arial" pitchFamily="34" charset="0"/>
              </a:endParaRPr>
            </a:p>
          </p:txBody>
        </p:sp>
        <p:sp>
          <p:nvSpPr>
            <p:cNvPr id="44" name="Line 24">
              <a:extLst>
                <a:ext uri="{FF2B5EF4-FFF2-40B4-BE49-F238E27FC236}">
                  <a16:creationId xmlns:a16="http://schemas.microsoft.com/office/drawing/2014/main" id="{D583242A-4400-4B4C-AE31-A1935AA8DF54}"/>
                </a:ext>
              </a:extLst>
            </p:cNvPr>
            <p:cNvSpPr>
              <a:spLocks noChangeShapeType="1"/>
            </p:cNvSpPr>
            <p:nvPr/>
          </p:nvSpPr>
          <p:spPr bwMode="auto">
            <a:xfrm flipV="1">
              <a:off x="7150039" y="2962275"/>
              <a:ext cx="0" cy="1565275"/>
            </a:xfrm>
            <a:prstGeom prst="line">
              <a:avLst/>
            </a:prstGeom>
            <a:noFill/>
            <a:ln w="19050">
              <a:solidFill>
                <a:schemeClr val="tx1"/>
              </a:solidFill>
              <a:round/>
              <a:headEnd type="none" w="sm" len="sm"/>
              <a:tailEnd type="none" w="sm" len="sm"/>
            </a:ln>
          </p:spPr>
          <p:txBody>
            <a:bodyPr wrap="none" anchor="ctr"/>
            <a:lstStyle/>
            <a:p>
              <a:pPr algn="ctr" eaLnBrk="1" hangingPunct="1">
                <a:spcBef>
                  <a:spcPct val="20000"/>
                </a:spcBef>
                <a:defRPr/>
              </a:pPr>
              <a:endParaRPr lang="en-GB" sz="1400" b="1" dirty="0">
                <a:solidFill>
                  <a:srgbClr val="FFFFFF"/>
                </a:solidFill>
                <a:cs typeface="Arial" pitchFamily="34" charset="0"/>
              </a:endParaRPr>
            </a:p>
          </p:txBody>
        </p:sp>
        <p:sp>
          <p:nvSpPr>
            <p:cNvPr id="45" name="Arc 25">
              <a:extLst>
                <a:ext uri="{FF2B5EF4-FFF2-40B4-BE49-F238E27FC236}">
                  <a16:creationId xmlns:a16="http://schemas.microsoft.com/office/drawing/2014/main" id="{248BFBB4-DF6D-4562-B619-FF8089FBD2F2}"/>
                </a:ext>
              </a:extLst>
            </p:cNvPr>
            <p:cNvSpPr>
              <a:spLocks/>
            </p:cNvSpPr>
            <p:nvPr/>
          </p:nvSpPr>
          <p:spPr bwMode="auto">
            <a:xfrm>
              <a:off x="7150039" y="2359025"/>
              <a:ext cx="580770" cy="60483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548"/>
                  </a:moveTo>
                  <a:cubicBezTo>
                    <a:pt x="28" y="9659"/>
                    <a:pt x="9658" y="29"/>
                    <a:pt x="21547" y="0"/>
                  </a:cubicBezTo>
                </a:path>
                <a:path w="21600" h="21600" stroke="0" extrusionOk="0">
                  <a:moveTo>
                    <a:pt x="0" y="21548"/>
                  </a:moveTo>
                  <a:cubicBezTo>
                    <a:pt x="28" y="9659"/>
                    <a:pt x="9658" y="29"/>
                    <a:pt x="21547" y="0"/>
                  </a:cubicBezTo>
                  <a:lnTo>
                    <a:pt x="21600" y="21600"/>
                  </a:lnTo>
                  <a:close/>
                </a:path>
              </a:pathLst>
            </a:custGeom>
            <a:noFill/>
            <a:ln w="19050" cap="rnd">
              <a:solidFill>
                <a:schemeClr val="tx1"/>
              </a:solidFill>
              <a:round/>
              <a:headEnd type="none" w="sm" len="sm"/>
              <a:tailEnd type="none" w="sm" len="sm"/>
            </a:ln>
          </p:spPr>
          <p:txBody>
            <a:bodyPr wrap="none" anchor="ctr"/>
            <a:lstStyle/>
            <a:p>
              <a:pPr algn="ctr" eaLnBrk="1" hangingPunct="1">
                <a:spcBef>
                  <a:spcPct val="20000"/>
                </a:spcBef>
                <a:defRPr/>
              </a:pPr>
              <a:endParaRPr lang="en-GB" sz="1400" b="1" dirty="0">
                <a:solidFill>
                  <a:srgbClr val="FFFFFF"/>
                </a:solidFill>
                <a:cs typeface="Arial" pitchFamily="34" charset="0"/>
              </a:endParaRPr>
            </a:p>
          </p:txBody>
        </p:sp>
        <p:sp>
          <p:nvSpPr>
            <p:cNvPr id="46" name="Line 26">
              <a:extLst>
                <a:ext uri="{FF2B5EF4-FFF2-40B4-BE49-F238E27FC236}">
                  <a16:creationId xmlns:a16="http://schemas.microsoft.com/office/drawing/2014/main" id="{737D1C14-800D-4354-A6F4-12C7E209A8B9}"/>
                </a:ext>
              </a:extLst>
            </p:cNvPr>
            <p:cNvSpPr>
              <a:spLocks noChangeShapeType="1"/>
            </p:cNvSpPr>
            <p:nvPr/>
          </p:nvSpPr>
          <p:spPr bwMode="auto">
            <a:xfrm flipH="1">
              <a:off x="7717920" y="2359025"/>
              <a:ext cx="1009395" cy="0"/>
            </a:xfrm>
            <a:prstGeom prst="line">
              <a:avLst/>
            </a:prstGeom>
            <a:noFill/>
            <a:ln w="19050">
              <a:solidFill>
                <a:schemeClr val="tx1"/>
              </a:solidFill>
              <a:round/>
              <a:headEnd type="none" w="sm" len="sm"/>
              <a:tailEnd type="none" w="sm" len="sm"/>
            </a:ln>
          </p:spPr>
          <p:txBody>
            <a:bodyPr wrap="none" anchor="ctr"/>
            <a:lstStyle/>
            <a:p>
              <a:pPr algn="ctr" eaLnBrk="1" hangingPunct="1">
                <a:spcBef>
                  <a:spcPct val="20000"/>
                </a:spcBef>
                <a:defRPr/>
              </a:pPr>
              <a:endParaRPr lang="en-GB" sz="1400" b="1" dirty="0">
                <a:solidFill>
                  <a:srgbClr val="FFFFFF"/>
                </a:solidFill>
                <a:cs typeface="Arial" pitchFamily="34" charset="0"/>
              </a:endParaRPr>
            </a:p>
          </p:txBody>
        </p:sp>
      </p:grpSp>
      <p:sp>
        <p:nvSpPr>
          <p:cNvPr id="54" name="Rectangle 19">
            <a:extLst>
              <a:ext uri="{FF2B5EF4-FFF2-40B4-BE49-F238E27FC236}">
                <a16:creationId xmlns:a16="http://schemas.microsoft.com/office/drawing/2014/main" id="{8AFC6154-1168-4A4B-877A-1240F5057A85}"/>
              </a:ext>
            </a:extLst>
          </p:cNvPr>
          <p:cNvSpPr>
            <a:spLocks noChangeArrowheads="1"/>
          </p:cNvSpPr>
          <p:nvPr/>
        </p:nvSpPr>
        <p:spPr bwMode="auto">
          <a:xfrm>
            <a:off x="1352278" y="3778067"/>
            <a:ext cx="6011469" cy="598483"/>
          </a:xfrm>
          <a:prstGeom prst="rect">
            <a:avLst/>
          </a:prstGeom>
          <a:noFill/>
          <a:ln w="19050" algn="ctr">
            <a:solidFill>
              <a:srgbClr val="009A44"/>
            </a:solidFill>
            <a:miter lim="800000"/>
            <a:headEnd/>
            <a:tailEnd/>
          </a:ln>
        </p:spPr>
        <p:txBody>
          <a:bodyPr wrap="square" lIns="88900" tIns="88900" rIns="88900" bIns="88900" anchor="ctr"/>
          <a:lstStyle/>
          <a:p>
            <a:pPr algn="just">
              <a:spcBef>
                <a:spcPts val="600"/>
              </a:spcBef>
              <a:defRPr/>
            </a:pPr>
            <a:r>
              <a:rPr lang="en-US" sz="1400" b="1" dirty="0">
                <a:solidFill>
                  <a:schemeClr val="tx1"/>
                </a:solidFill>
                <a:latin typeface="Calibri" panose="020F0502020204030204" pitchFamily="34" charset="0"/>
                <a:cs typeface="Calibri" panose="020F0502020204030204" pitchFamily="34" charset="0"/>
              </a:rPr>
              <a:t>Nodal Agency : </a:t>
            </a:r>
            <a:r>
              <a:rPr lang="en-US" sz="1400" b="0" dirty="0">
                <a:solidFill>
                  <a:schemeClr val="tx1"/>
                </a:solidFill>
                <a:latin typeface="Calibri" panose="020F0502020204030204" pitchFamily="34" charset="0"/>
                <a:cs typeface="Calibri" panose="020F0502020204030204" pitchFamily="34" charset="0"/>
              </a:rPr>
              <a:t>Nodal agency shall be required to appraise the eligibility of the borrower based on its details sent by the lender</a:t>
            </a:r>
            <a:endParaRPr lang="en-US" sz="1400" dirty="0">
              <a:latin typeface="Calibri" panose="020F0502020204030204" pitchFamily="34" charset="0"/>
              <a:ea typeface="ＭＳ Ｐゴシック" pitchFamily="50" charset="-128"/>
              <a:cs typeface="Calibri" panose="020F0502020204030204" pitchFamily="34" charset="0"/>
            </a:endParaRPr>
          </a:p>
        </p:txBody>
      </p:sp>
      <p:sp>
        <p:nvSpPr>
          <p:cNvPr id="55" name="Rectangle 19">
            <a:extLst>
              <a:ext uri="{FF2B5EF4-FFF2-40B4-BE49-F238E27FC236}">
                <a16:creationId xmlns:a16="http://schemas.microsoft.com/office/drawing/2014/main" id="{0DE7CCC8-5C6C-4F56-B9D5-DB5D0EE98F11}"/>
              </a:ext>
            </a:extLst>
          </p:cNvPr>
          <p:cNvSpPr>
            <a:spLocks noChangeArrowheads="1"/>
          </p:cNvSpPr>
          <p:nvPr/>
        </p:nvSpPr>
        <p:spPr bwMode="auto">
          <a:xfrm>
            <a:off x="2511698" y="4678414"/>
            <a:ext cx="4868816" cy="770908"/>
          </a:xfrm>
          <a:prstGeom prst="rect">
            <a:avLst/>
          </a:prstGeom>
          <a:noFill/>
          <a:ln w="19050" algn="ctr">
            <a:solidFill>
              <a:srgbClr val="92D050"/>
            </a:solidFill>
            <a:miter lim="800000"/>
            <a:headEnd/>
            <a:tailEnd/>
          </a:ln>
        </p:spPr>
        <p:txBody>
          <a:bodyPr wrap="square" lIns="88900" tIns="88900" rIns="88900" bIns="88900" anchor="ctr"/>
          <a:lstStyle/>
          <a:p>
            <a:r>
              <a:rPr lang="en-US" sz="1400" b="1" dirty="0">
                <a:solidFill>
                  <a:schemeClr val="tx1"/>
                </a:solidFill>
                <a:latin typeface="Calibri" panose="020F0502020204030204" pitchFamily="34" charset="0"/>
                <a:cs typeface="Calibri" panose="020F0502020204030204" pitchFamily="34" charset="0"/>
              </a:rPr>
              <a:t>Lenders </a:t>
            </a:r>
            <a:r>
              <a:rPr lang="en-US" sz="1400" b="0" dirty="0">
                <a:solidFill>
                  <a:schemeClr val="tx1"/>
                </a:solidFill>
                <a:latin typeface="Calibri" panose="020F0502020204030204" pitchFamily="34" charset="0"/>
                <a:cs typeface="Calibri" panose="020F0502020204030204" pitchFamily="34" charset="0"/>
              </a:rPr>
              <a:t>: Financial Institutions like REC, PFC and Banks shall send details of the borrowers to the nodal agency for ascertaining the eligibility under the scheme</a:t>
            </a:r>
          </a:p>
        </p:txBody>
      </p:sp>
      <p:sp>
        <p:nvSpPr>
          <p:cNvPr id="56" name="Rectangle 19">
            <a:extLst>
              <a:ext uri="{FF2B5EF4-FFF2-40B4-BE49-F238E27FC236}">
                <a16:creationId xmlns:a16="http://schemas.microsoft.com/office/drawing/2014/main" id="{3AF2E2E9-1F81-422C-85F3-910ECB8C288F}"/>
              </a:ext>
            </a:extLst>
          </p:cNvPr>
          <p:cNvSpPr>
            <a:spLocks noChangeArrowheads="1"/>
          </p:cNvSpPr>
          <p:nvPr/>
        </p:nvSpPr>
        <p:spPr bwMode="auto">
          <a:xfrm>
            <a:off x="1672487" y="5767690"/>
            <a:ext cx="5706551" cy="718294"/>
          </a:xfrm>
          <a:prstGeom prst="rect">
            <a:avLst/>
          </a:prstGeom>
          <a:noFill/>
          <a:ln w="19050" algn="ctr">
            <a:solidFill>
              <a:srgbClr val="009A44"/>
            </a:solidFill>
            <a:miter lim="800000"/>
            <a:headEnd/>
            <a:tailEnd/>
          </a:ln>
        </p:spPr>
        <p:txBody>
          <a:bodyPr wrap="square" lIns="88900" tIns="88900" rIns="88900" bIns="88900" anchor="ctr"/>
          <a:lstStyle/>
          <a:p>
            <a:r>
              <a:rPr lang="en-US" sz="1400" b="1" dirty="0">
                <a:solidFill>
                  <a:schemeClr val="tx1"/>
                </a:solidFill>
                <a:latin typeface="Calibri" panose="020F0502020204030204" pitchFamily="34" charset="0"/>
                <a:cs typeface="Calibri" panose="020F0502020204030204" pitchFamily="34" charset="0"/>
              </a:rPr>
              <a:t>Borrower : </a:t>
            </a:r>
            <a:r>
              <a:rPr lang="en-US" sz="1400" dirty="0">
                <a:solidFill>
                  <a:schemeClr val="tx1"/>
                </a:solidFill>
                <a:latin typeface="Calibri" panose="020F0502020204030204" pitchFamily="34" charset="0"/>
                <a:cs typeface="Calibri" panose="020F0502020204030204" pitchFamily="34" charset="0"/>
              </a:rPr>
              <a:t>They are generally State Power Utilities, State Power Departments and Distribution Companies (DISCOMs) – both the Public and Private DISCOMs and franchises</a:t>
            </a:r>
          </a:p>
        </p:txBody>
      </p:sp>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329122"/>
            <a:ext cx="11188700" cy="368299"/>
          </a:xfrm>
        </p:spPr>
        <p:txBody>
          <a:bodyPr vert="horz"/>
          <a:lstStyle/>
          <a:p>
            <a:pPr algn="just"/>
            <a:r>
              <a:rPr lang="en-US" sz="1800" i="0" dirty="0">
                <a:solidFill>
                  <a:schemeClr val="tx1"/>
                </a:solidFill>
              </a:rPr>
              <a:t>Salient Feature of NEF Scheme</a:t>
            </a:r>
          </a:p>
        </p:txBody>
      </p:sp>
      <p:sp>
        <p:nvSpPr>
          <p:cNvPr id="22" name="TextBox 21">
            <a:extLst>
              <a:ext uri="{FF2B5EF4-FFF2-40B4-BE49-F238E27FC236}">
                <a16:creationId xmlns:a16="http://schemas.microsoft.com/office/drawing/2014/main" id="{76C4771C-75DE-4A49-930F-343BCCD8AB4C}"/>
              </a:ext>
            </a:extLst>
          </p:cNvPr>
          <p:cNvSpPr txBox="1"/>
          <p:nvPr/>
        </p:nvSpPr>
        <p:spPr>
          <a:xfrm>
            <a:off x="8100328" y="3849763"/>
            <a:ext cx="3233057" cy="215444"/>
          </a:xfrm>
          <a:prstGeom prst="rect">
            <a:avLst/>
          </a:prstGeom>
          <a:noFill/>
        </p:spPr>
        <p:txBody>
          <a:bodyPr wrap="square" lIns="0" tIns="0" rIns="0" bIns="0" rtlCol="0">
            <a:spAutoFit/>
          </a:bodyPr>
          <a:lstStyle/>
          <a:p>
            <a:pPr algn="ctr">
              <a:spcBef>
                <a:spcPts val="600"/>
              </a:spcBef>
              <a:buSzPct val="100000"/>
            </a:pPr>
            <a:r>
              <a:rPr lang="en-US" sz="1400" b="1" dirty="0">
                <a:latin typeface="Calibri" panose="020F0502020204030204" pitchFamily="34" charset="0"/>
                <a:cs typeface="Calibri" panose="020F0502020204030204" pitchFamily="34" charset="0"/>
              </a:rPr>
              <a:t>Source of Funding for Scheme </a:t>
            </a:r>
          </a:p>
        </p:txBody>
      </p:sp>
      <p:sp>
        <p:nvSpPr>
          <p:cNvPr id="23" name="TextBox 22">
            <a:extLst>
              <a:ext uri="{FF2B5EF4-FFF2-40B4-BE49-F238E27FC236}">
                <a16:creationId xmlns:a16="http://schemas.microsoft.com/office/drawing/2014/main" id="{98504D53-582E-4434-8A4C-7AA2E59810D1}"/>
              </a:ext>
            </a:extLst>
          </p:cNvPr>
          <p:cNvSpPr txBox="1"/>
          <p:nvPr/>
        </p:nvSpPr>
        <p:spPr>
          <a:xfrm>
            <a:off x="9449619" y="5767690"/>
            <a:ext cx="1164771" cy="184666"/>
          </a:xfrm>
          <a:prstGeom prst="rect">
            <a:avLst/>
          </a:prstGeom>
          <a:noFill/>
        </p:spPr>
        <p:txBody>
          <a:bodyPr wrap="square" lIns="0" tIns="0" rIns="0" bIns="0" rtlCol="0">
            <a:spAutoFit/>
          </a:bodyPr>
          <a:lstStyle/>
          <a:p>
            <a:pPr algn="ctr">
              <a:spcBef>
                <a:spcPts val="600"/>
              </a:spcBef>
              <a:buSzPct val="100000"/>
            </a:pPr>
            <a:r>
              <a:rPr lang="en-US" sz="1200" b="1" dirty="0">
                <a:solidFill>
                  <a:schemeClr val="bg1"/>
                </a:solidFill>
                <a:latin typeface="Calibri" panose="020F0502020204030204" pitchFamily="34" charset="0"/>
                <a:cs typeface="Calibri" panose="020F0502020204030204" pitchFamily="34" charset="0"/>
              </a:rPr>
              <a:t>GOI ( Grant)</a:t>
            </a:r>
          </a:p>
        </p:txBody>
      </p:sp>
      <p:sp>
        <p:nvSpPr>
          <p:cNvPr id="25" name="TextBox 24">
            <a:extLst>
              <a:ext uri="{FF2B5EF4-FFF2-40B4-BE49-F238E27FC236}">
                <a16:creationId xmlns:a16="http://schemas.microsoft.com/office/drawing/2014/main" id="{B1A1ED4E-3DCC-4A27-8165-F974D631FF73}"/>
              </a:ext>
            </a:extLst>
          </p:cNvPr>
          <p:cNvSpPr txBox="1"/>
          <p:nvPr/>
        </p:nvSpPr>
        <p:spPr>
          <a:xfrm>
            <a:off x="7979567" y="5750579"/>
            <a:ext cx="1284514" cy="184666"/>
          </a:xfrm>
          <a:prstGeom prst="rect">
            <a:avLst/>
          </a:prstGeom>
          <a:noFill/>
        </p:spPr>
        <p:txBody>
          <a:bodyPr wrap="square" lIns="0" tIns="0" rIns="0" bIns="0" rtlCol="0">
            <a:spAutoFit/>
          </a:bodyPr>
          <a:lstStyle/>
          <a:p>
            <a:pPr algn="ctr">
              <a:spcBef>
                <a:spcPts val="600"/>
              </a:spcBef>
              <a:buSzPct val="100000"/>
            </a:pPr>
            <a:r>
              <a:rPr lang="en-US" sz="1200" b="1" dirty="0">
                <a:solidFill>
                  <a:schemeClr val="bg1"/>
                </a:solidFill>
                <a:latin typeface="Calibri" panose="020F0502020204030204" pitchFamily="34" charset="0"/>
                <a:cs typeface="Calibri" panose="020F0502020204030204" pitchFamily="34" charset="0"/>
              </a:rPr>
              <a:t>GOWB ( Grant)</a:t>
            </a:r>
          </a:p>
        </p:txBody>
      </p:sp>
      <p:sp>
        <p:nvSpPr>
          <p:cNvPr id="27" name="TextBox 26">
            <a:extLst>
              <a:ext uri="{FF2B5EF4-FFF2-40B4-BE49-F238E27FC236}">
                <a16:creationId xmlns:a16="http://schemas.microsoft.com/office/drawing/2014/main" id="{946E4274-E0B8-4EDE-83A6-1A3A0F6B8629}"/>
              </a:ext>
            </a:extLst>
          </p:cNvPr>
          <p:cNvSpPr txBox="1"/>
          <p:nvPr/>
        </p:nvSpPr>
        <p:spPr>
          <a:xfrm>
            <a:off x="3117195" y="6615210"/>
            <a:ext cx="4426605" cy="169277"/>
          </a:xfrm>
          <a:prstGeom prst="rect">
            <a:avLst/>
          </a:prstGeom>
          <a:noFill/>
        </p:spPr>
        <p:txBody>
          <a:bodyPr wrap="square" lIns="0" tIns="0" rIns="0" bIns="0" rtlCol="0">
            <a:spAutoFit/>
          </a:bodyPr>
          <a:lstStyle/>
          <a:p>
            <a:pPr>
              <a:spcBef>
                <a:spcPts val="600"/>
              </a:spcBef>
              <a:buSzPct val="100000"/>
            </a:pPr>
            <a:r>
              <a:rPr lang="en-US" sz="1100" dirty="0">
                <a:latin typeface="+mj-lt"/>
                <a:cs typeface="Calibri" panose="020F0502020204030204" pitchFamily="34" charset="0"/>
              </a:rPr>
              <a:t>Source : NEF Website and WBSEDCL Annual Accounts</a:t>
            </a:r>
          </a:p>
        </p:txBody>
      </p:sp>
      <p:graphicFrame>
        <p:nvGraphicFramePr>
          <p:cNvPr id="4" name="Chart 3">
            <a:extLst>
              <a:ext uri="{FF2B5EF4-FFF2-40B4-BE49-F238E27FC236}">
                <a16:creationId xmlns:a16="http://schemas.microsoft.com/office/drawing/2014/main" id="{74C93F72-847D-4560-BCD2-6FF15722BF4B}"/>
              </a:ext>
            </a:extLst>
          </p:cNvPr>
          <p:cNvGraphicFramePr/>
          <p:nvPr>
            <p:extLst>
              <p:ext uri="{D42A27DB-BD31-4B8C-83A1-F6EECF244321}">
                <p14:modId xmlns:p14="http://schemas.microsoft.com/office/powerpoint/2010/main" val="892094964"/>
              </p:ext>
            </p:extLst>
          </p:nvPr>
        </p:nvGraphicFramePr>
        <p:xfrm>
          <a:off x="7946940" y="4065207"/>
          <a:ext cx="3874945" cy="269220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81073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TextBox 189">
            <a:extLst>
              <a:ext uri="{FF2B5EF4-FFF2-40B4-BE49-F238E27FC236}">
                <a16:creationId xmlns:a16="http://schemas.microsoft.com/office/drawing/2014/main" id="{E466B162-F1FE-4BFF-9A36-B6B80A2FD9FF}"/>
              </a:ext>
            </a:extLst>
          </p:cNvPr>
          <p:cNvSpPr txBox="1"/>
          <p:nvPr/>
        </p:nvSpPr>
        <p:spPr>
          <a:xfrm>
            <a:off x="411770" y="621831"/>
            <a:ext cx="11399229" cy="5953750"/>
          </a:xfrm>
          <a:prstGeom prst="rect">
            <a:avLst/>
          </a:prstGeom>
          <a:solidFill>
            <a:srgbClr val="DDEFE8">
              <a:alpha val="85000"/>
            </a:srgbClr>
          </a:solidFill>
        </p:spPr>
        <p:txBody>
          <a:bodyPr wrap="square" lIns="0" tIns="0" rIns="0" bIns="0" rtlCol="0">
            <a:spAutoFit/>
          </a:bodyPr>
          <a:lstStyle/>
          <a:p>
            <a:pPr marL="203200" indent="-203200">
              <a:spcBef>
                <a:spcPts val="600"/>
              </a:spcBef>
              <a:buSzPct val="100000"/>
              <a:buFont typeface="Arial"/>
              <a:buChar char="�"/>
            </a:pPr>
            <a:endParaRPr lang="en-US" dirty="0">
              <a:solidFill>
                <a:srgbClr val="313131"/>
              </a:solidFill>
            </a:endParaRPr>
          </a:p>
        </p:txBody>
      </p:sp>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329122"/>
            <a:ext cx="11188700" cy="368299"/>
          </a:xfrm>
        </p:spPr>
        <p:txBody>
          <a:bodyPr vert="horz"/>
          <a:lstStyle/>
          <a:p>
            <a:pPr algn="just"/>
            <a:r>
              <a:rPr lang="en-US" sz="1800" i="0" dirty="0">
                <a:solidFill>
                  <a:schemeClr val="tx1"/>
                </a:solidFill>
              </a:rPr>
              <a:t>Flow Chart : : NEF (INTEREST SUBSIDY) SCHEME</a:t>
            </a:r>
          </a:p>
        </p:txBody>
      </p:sp>
      <p:sp>
        <p:nvSpPr>
          <p:cNvPr id="2" name="Rectangle: Rounded Corners 1">
            <a:extLst>
              <a:ext uri="{FF2B5EF4-FFF2-40B4-BE49-F238E27FC236}">
                <a16:creationId xmlns:a16="http://schemas.microsoft.com/office/drawing/2014/main" id="{555A608B-A55C-4B42-9C69-94A0B43F9437}"/>
              </a:ext>
            </a:extLst>
          </p:cNvPr>
          <p:cNvSpPr/>
          <p:nvPr/>
        </p:nvSpPr>
        <p:spPr bwMode="gray">
          <a:xfrm>
            <a:off x="396385" y="718811"/>
            <a:ext cx="11399226" cy="312902"/>
          </a:xfrm>
          <a:prstGeom prst="roundRect">
            <a:avLst/>
          </a:prstGeom>
          <a:solidFill>
            <a:srgbClr val="00A3E0"/>
          </a:solidFill>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latin typeface="Calibri" panose="020F0502020204030204" pitchFamily="34" charset="0"/>
                <a:cs typeface="Calibri" panose="020F0502020204030204" pitchFamily="34" charset="0"/>
              </a:rPr>
              <a:t>SPUs, SPDs, DISCOMs and other private players including franchisees, hereafter called “Borrowers” in non-R-APDRP and non-RGGVY areas for distribution sector</a:t>
            </a:r>
          </a:p>
        </p:txBody>
      </p:sp>
      <p:sp>
        <p:nvSpPr>
          <p:cNvPr id="28" name="Rectangle: Rounded Corners 27">
            <a:extLst>
              <a:ext uri="{FF2B5EF4-FFF2-40B4-BE49-F238E27FC236}">
                <a16:creationId xmlns:a16="http://schemas.microsoft.com/office/drawing/2014/main" id="{2601A9DF-89E8-4453-A5CD-4C9D9BA8E0CE}"/>
              </a:ext>
            </a:extLst>
          </p:cNvPr>
          <p:cNvSpPr/>
          <p:nvPr/>
        </p:nvSpPr>
        <p:spPr bwMode="gray">
          <a:xfrm>
            <a:off x="488936" y="1179939"/>
            <a:ext cx="4472808" cy="221310"/>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200" dirty="0">
                <a:solidFill>
                  <a:schemeClr val="tx1"/>
                </a:solidFill>
                <a:latin typeface="Calibri" panose="020F0502020204030204" pitchFamily="34" charset="0"/>
                <a:cs typeface="Calibri" panose="020F0502020204030204" pitchFamily="34" charset="0"/>
              </a:rPr>
              <a:t>Participants in States Other than Special category &amp; focused States. </a:t>
            </a:r>
          </a:p>
        </p:txBody>
      </p:sp>
      <p:sp>
        <p:nvSpPr>
          <p:cNvPr id="29" name="Rectangle: Rounded Corners 28">
            <a:extLst>
              <a:ext uri="{FF2B5EF4-FFF2-40B4-BE49-F238E27FC236}">
                <a16:creationId xmlns:a16="http://schemas.microsoft.com/office/drawing/2014/main" id="{0FA7BEBA-791E-48FB-B144-046A575577B7}"/>
              </a:ext>
            </a:extLst>
          </p:cNvPr>
          <p:cNvSpPr/>
          <p:nvPr/>
        </p:nvSpPr>
        <p:spPr bwMode="gray">
          <a:xfrm>
            <a:off x="6901542" y="1169427"/>
            <a:ext cx="4775529" cy="243631"/>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200" dirty="0">
                <a:solidFill>
                  <a:schemeClr val="tx1"/>
                </a:solidFill>
                <a:latin typeface="Calibri" panose="020F0502020204030204" pitchFamily="34" charset="0"/>
                <a:cs typeface="Calibri" panose="020F0502020204030204" pitchFamily="34" charset="0"/>
              </a:rPr>
              <a:t>The participants in States Special category and focused States</a:t>
            </a:r>
          </a:p>
        </p:txBody>
      </p:sp>
      <p:sp>
        <p:nvSpPr>
          <p:cNvPr id="30" name="Rectangle: Rounded Corners 29">
            <a:extLst>
              <a:ext uri="{FF2B5EF4-FFF2-40B4-BE49-F238E27FC236}">
                <a16:creationId xmlns:a16="http://schemas.microsoft.com/office/drawing/2014/main" id="{978AC7A9-0575-4575-B061-CF2F89D987DB}"/>
              </a:ext>
            </a:extLst>
          </p:cNvPr>
          <p:cNvSpPr/>
          <p:nvPr/>
        </p:nvSpPr>
        <p:spPr bwMode="gray">
          <a:xfrm>
            <a:off x="6901542" y="1737827"/>
            <a:ext cx="1581284" cy="270037"/>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200" dirty="0">
                <a:solidFill>
                  <a:schemeClr val="tx1"/>
                </a:solidFill>
                <a:latin typeface="Calibri" panose="020F0502020204030204" pitchFamily="34" charset="0"/>
                <a:cs typeface="Calibri" panose="020F0502020204030204" pitchFamily="34" charset="0"/>
              </a:rPr>
              <a:t>Power Departments </a:t>
            </a:r>
          </a:p>
        </p:txBody>
      </p:sp>
      <p:sp>
        <p:nvSpPr>
          <p:cNvPr id="31" name="Rectangle: Rounded Corners 30">
            <a:extLst>
              <a:ext uri="{FF2B5EF4-FFF2-40B4-BE49-F238E27FC236}">
                <a16:creationId xmlns:a16="http://schemas.microsoft.com/office/drawing/2014/main" id="{73E077D1-A118-4385-A703-A44A3394A089}"/>
              </a:ext>
            </a:extLst>
          </p:cNvPr>
          <p:cNvSpPr/>
          <p:nvPr/>
        </p:nvSpPr>
        <p:spPr bwMode="gray">
          <a:xfrm>
            <a:off x="9906000" y="1748983"/>
            <a:ext cx="1771072" cy="226666"/>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200" dirty="0">
                <a:solidFill>
                  <a:schemeClr val="tx1"/>
                </a:solidFill>
                <a:latin typeface="Calibri" panose="020F0502020204030204" pitchFamily="34" charset="0"/>
                <a:cs typeface="Calibri" panose="020F0502020204030204" pitchFamily="34" charset="0"/>
              </a:rPr>
              <a:t>Other than Power Dept.</a:t>
            </a:r>
          </a:p>
        </p:txBody>
      </p:sp>
      <p:sp>
        <p:nvSpPr>
          <p:cNvPr id="32" name="Rectangle: Rounded Corners 31">
            <a:extLst>
              <a:ext uri="{FF2B5EF4-FFF2-40B4-BE49-F238E27FC236}">
                <a16:creationId xmlns:a16="http://schemas.microsoft.com/office/drawing/2014/main" id="{EF7EBF52-A2D8-4208-9262-24B03789B4F9}"/>
              </a:ext>
            </a:extLst>
          </p:cNvPr>
          <p:cNvSpPr/>
          <p:nvPr/>
        </p:nvSpPr>
        <p:spPr bwMode="gray">
          <a:xfrm>
            <a:off x="462283" y="2163041"/>
            <a:ext cx="5267287" cy="530793"/>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200" dirty="0">
                <a:solidFill>
                  <a:schemeClr val="tx1"/>
                </a:solidFill>
                <a:latin typeface="Calibri" panose="020F0502020204030204" pitchFamily="34" charset="0"/>
                <a:cs typeface="Calibri" panose="020F0502020204030204" pitchFamily="34" charset="0"/>
              </a:rPr>
              <a:t>All the above Borrowers will submit the proposals to Financial Institutions including PFC and REC and other Commercial Banks, hereafter called “Lenders”</a:t>
            </a:r>
          </a:p>
        </p:txBody>
      </p:sp>
      <p:sp>
        <p:nvSpPr>
          <p:cNvPr id="33" name="Rectangle: Rounded Corners 32">
            <a:extLst>
              <a:ext uri="{FF2B5EF4-FFF2-40B4-BE49-F238E27FC236}">
                <a16:creationId xmlns:a16="http://schemas.microsoft.com/office/drawing/2014/main" id="{2B7082EA-2385-41E3-BEF3-98022C68A10E}"/>
              </a:ext>
            </a:extLst>
          </p:cNvPr>
          <p:cNvSpPr/>
          <p:nvPr/>
        </p:nvSpPr>
        <p:spPr bwMode="gray">
          <a:xfrm>
            <a:off x="6917199" y="2165545"/>
            <a:ext cx="4775530" cy="525786"/>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200" dirty="0">
                <a:solidFill>
                  <a:schemeClr val="tx1"/>
                </a:solidFill>
                <a:latin typeface="Calibri" panose="020F0502020204030204" pitchFamily="34" charset="0"/>
                <a:cs typeface="Calibri" panose="020F0502020204030204" pitchFamily="34" charset="0"/>
              </a:rPr>
              <a:t>Lenders will submit the respective proposals to REC hereafter called “Nodal Agency” for evaluation of eligibility under the scheme.</a:t>
            </a:r>
          </a:p>
        </p:txBody>
      </p:sp>
      <p:sp>
        <p:nvSpPr>
          <p:cNvPr id="34" name="Rectangle: Rounded Corners 33">
            <a:extLst>
              <a:ext uri="{FF2B5EF4-FFF2-40B4-BE49-F238E27FC236}">
                <a16:creationId xmlns:a16="http://schemas.microsoft.com/office/drawing/2014/main" id="{C1CEE79A-7FFA-4A11-93C0-A0609AF7AB56}"/>
              </a:ext>
            </a:extLst>
          </p:cNvPr>
          <p:cNvSpPr/>
          <p:nvPr/>
        </p:nvSpPr>
        <p:spPr bwMode="gray">
          <a:xfrm>
            <a:off x="8208378" y="2932069"/>
            <a:ext cx="3484351" cy="530793"/>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200" dirty="0">
                <a:solidFill>
                  <a:schemeClr val="tx1"/>
                </a:solidFill>
                <a:latin typeface="Calibri" panose="020F0502020204030204" pitchFamily="34" charset="0"/>
                <a:cs typeface="Calibri" panose="020F0502020204030204" pitchFamily="34" charset="0"/>
              </a:rPr>
              <a:t>Sanction of Steering Committee after determination of baseline parameters i.e. AT&amp;C losses, ARR, ACS. </a:t>
            </a:r>
          </a:p>
        </p:txBody>
      </p:sp>
      <p:sp>
        <p:nvSpPr>
          <p:cNvPr id="35" name="Rectangle: Rounded Corners 34">
            <a:extLst>
              <a:ext uri="{FF2B5EF4-FFF2-40B4-BE49-F238E27FC236}">
                <a16:creationId xmlns:a16="http://schemas.microsoft.com/office/drawing/2014/main" id="{5018E335-3955-4299-84C6-A9228FA0927B}"/>
              </a:ext>
            </a:extLst>
          </p:cNvPr>
          <p:cNvSpPr/>
          <p:nvPr/>
        </p:nvSpPr>
        <p:spPr bwMode="gray">
          <a:xfrm>
            <a:off x="3800464" y="2936151"/>
            <a:ext cx="3858212" cy="508086"/>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200" dirty="0">
                <a:solidFill>
                  <a:schemeClr val="tx1"/>
                </a:solidFill>
                <a:latin typeface="Calibri" panose="020F0502020204030204" pitchFamily="34" charset="0"/>
                <a:cs typeface="Calibri" panose="020F0502020204030204" pitchFamily="34" charset="0"/>
              </a:rPr>
              <a:t>Nodal Agency will intimate the respective lenders about the eligibility of respective borrower under the scheme.</a:t>
            </a:r>
          </a:p>
        </p:txBody>
      </p:sp>
      <p:sp>
        <p:nvSpPr>
          <p:cNvPr id="48" name="Rectangle: Rounded Corners 47">
            <a:extLst>
              <a:ext uri="{FF2B5EF4-FFF2-40B4-BE49-F238E27FC236}">
                <a16:creationId xmlns:a16="http://schemas.microsoft.com/office/drawing/2014/main" id="{6FE9D0B1-6BB7-49DE-A1FA-55F44652242D}"/>
              </a:ext>
            </a:extLst>
          </p:cNvPr>
          <p:cNvSpPr/>
          <p:nvPr/>
        </p:nvSpPr>
        <p:spPr bwMode="gray">
          <a:xfrm>
            <a:off x="450816" y="2948272"/>
            <a:ext cx="2735770" cy="530793"/>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200" dirty="0">
                <a:solidFill>
                  <a:schemeClr val="tx1"/>
                </a:solidFill>
                <a:latin typeface="Calibri" panose="020F0502020204030204" pitchFamily="34" charset="0"/>
                <a:cs typeface="Calibri" panose="020F0502020204030204" pitchFamily="34" charset="0"/>
              </a:rPr>
              <a:t>The respective lenders would do due diligence and appraisal of proposals</a:t>
            </a:r>
          </a:p>
        </p:txBody>
      </p:sp>
      <p:sp>
        <p:nvSpPr>
          <p:cNvPr id="49" name="Rectangle: Rounded Corners 48">
            <a:extLst>
              <a:ext uri="{FF2B5EF4-FFF2-40B4-BE49-F238E27FC236}">
                <a16:creationId xmlns:a16="http://schemas.microsoft.com/office/drawing/2014/main" id="{838B7FA2-28C9-44DE-8446-941F177A2A91}"/>
              </a:ext>
            </a:extLst>
          </p:cNvPr>
          <p:cNvSpPr/>
          <p:nvPr/>
        </p:nvSpPr>
        <p:spPr bwMode="gray">
          <a:xfrm>
            <a:off x="462283" y="3697064"/>
            <a:ext cx="2735770" cy="482460"/>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200" dirty="0">
                <a:solidFill>
                  <a:schemeClr val="tx1"/>
                </a:solidFill>
                <a:latin typeface="Calibri" panose="020F0502020204030204" pitchFamily="34" charset="0"/>
                <a:cs typeface="Calibri" panose="020F0502020204030204" pitchFamily="34" charset="0"/>
              </a:rPr>
              <a:t>Lenders would sanction the proposals.</a:t>
            </a:r>
          </a:p>
        </p:txBody>
      </p:sp>
      <p:sp>
        <p:nvSpPr>
          <p:cNvPr id="50" name="Rectangle: Rounded Corners 49">
            <a:extLst>
              <a:ext uri="{FF2B5EF4-FFF2-40B4-BE49-F238E27FC236}">
                <a16:creationId xmlns:a16="http://schemas.microsoft.com/office/drawing/2014/main" id="{3D23F1F8-80C0-48C1-A270-2D06241DC3A2}"/>
              </a:ext>
            </a:extLst>
          </p:cNvPr>
          <p:cNvSpPr/>
          <p:nvPr/>
        </p:nvSpPr>
        <p:spPr bwMode="gray">
          <a:xfrm>
            <a:off x="4385593" y="3754298"/>
            <a:ext cx="7291478" cy="391996"/>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200" dirty="0">
                <a:solidFill>
                  <a:schemeClr val="tx1"/>
                </a:solidFill>
                <a:latin typeface="Calibri" panose="020F0502020204030204" pitchFamily="34" charset="0"/>
                <a:cs typeface="Calibri" panose="020F0502020204030204" pitchFamily="34" charset="0"/>
              </a:rPr>
              <a:t>Lenders would disburse the funds to Borrowers and are to ensure – Utilization of fund, Project monitoring &amp; Evaluation</a:t>
            </a:r>
          </a:p>
        </p:txBody>
      </p:sp>
      <p:sp>
        <p:nvSpPr>
          <p:cNvPr id="51" name="Rectangle: Rounded Corners 50">
            <a:extLst>
              <a:ext uri="{FF2B5EF4-FFF2-40B4-BE49-F238E27FC236}">
                <a16:creationId xmlns:a16="http://schemas.microsoft.com/office/drawing/2014/main" id="{4DD0FF9F-2ADF-427D-BCC1-8091D1FEF06F}"/>
              </a:ext>
            </a:extLst>
          </p:cNvPr>
          <p:cNvSpPr/>
          <p:nvPr/>
        </p:nvSpPr>
        <p:spPr bwMode="gray">
          <a:xfrm>
            <a:off x="455314" y="4456024"/>
            <a:ext cx="8600635" cy="502170"/>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200" dirty="0">
                <a:solidFill>
                  <a:schemeClr val="tx1"/>
                </a:solidFill>
                <a:latin typeface="Calibri" panose="020F0502020204030204" pitchFamily="34" charset="0"/>
                <a:cs typeface="Calibri" panose="020F0502020204030204" pitchFamily="34" charset="0"/>
              </a:rPr>
              <a:t>Respective lenders are required to submit the relevant documents (submitted by borrowers) to Nodal Agency after disbursement along with details showing the achievement of planned/predetermined targets (or from the date of rejection of the earlier claim of subsidy)</a:t>
            </a:r>
          </a:p>
        </p:txBody>
      </p:sp>
      <p:sp>
        <p:nvSpPr>
          <p:cNvPr id="52" name="Rectangle: Rounded Corners 51">
            <a:extLst>
              <a:ext uri="{FF2B5EF4-FFF2-40B4-BE49-F238E27FC236}">
                <a16:creationId xmlns:a16="http://schemas.microsoft.com/office/drawing/2014/main" id="{3677DA39-6092-4757-93D7-399AE910DE9F}"/>
              </a:ext>
            </a:extLst>
          </p:cNvPr>
          <p:cNvSpPr/>
          <p:nvPr/>
        </p:nvSpPr>
        <p:spPr bwMode="gray">
          <a:xfrm>
            <a:off x="450816" y="5225508"/>
            <a:ext cx="6627556" cy="401671"/>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200" dirty="0">
                <a:solidFill>
                  <a:schemeClr val="tx1"/>
                </a:solidFill>
                <a:latin typeface="Calibri" panose="020F0502020204030204" pitchFamily="34" charset="0"/>
                <a:cs typeface="Calibri" panose="020F0502020204030204" pitchFamily="34" charset="0"/>
              </a:rPr>
              <a:t>Nodal agency will categories the borrower proposal to ascertain quantum of subsidy</a:t>
            </a:r>
          </a:p>
        </p:txBody>
      </p:sp>
      <p:sp>
        <p:nvSpPr>
          <p:cNvPr id="53" name="Rectangle: Rounded Corners 52">
            <a:extLst>
              <a:ext uri="{FF2B5EF4-FFF2-40B4-BE49-F238E27FC236}">
                <a16:creationId xmlns:a16="http://schemas.microsoft.com/office/drawing/2014/main" id="{821EC7EE-0021-4AA7-8B70-4E358793AB62}"/>
              </a:ext>
            </a:extLst>
          </p:cNvPr>
          <p:cNvSpPr/>
          <p:nvPr/>
        </p:nvSpPr>
        <p:spPr bwMode="gray">
          <a:xfrm>
            <a:off x="462283" y="6047006"/>
            <a:ext cx="6616089" cy="481872"/>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200" dirty="0">
                <a:solidFill>
                  <a:schemeClr val="tx1"/>
                </a:solidFill>
                <a:latin typeface="Calibri" panose="020F0502020204030204" pitchFamily="34" charset="0"/>
                <a:cs typeface="Calibri" panose="020F0502020204030204" pitchFamily="34" charset="0"/>
              </a:rPr>
              <a:t>Nodal agency will Release the interest subsidy to the respective lender for releasing the same to the respective borrower or adjusting the same in the account</a:t>
            </a:r>
          </a:p>
        </p:txBody>
      </p:sp>
      <p:sp>
        <p:nvSpPr>
          <p:cNvPr id="3" name="Diamond 2">
            <a:extLst>
              <a:ext uri="{FF2B5EF4-FFF2-40B4-BE49-F238E27FC236}">
                <a16:creationId xmlns:a16="http://schemas.microsoft.com/office/drawing/2014/main" id="{F7ECC70D-BA42-4687-BBF3-F5B404588830}"/>
              </a:ext>
            </a:extLst>
          </p:cNvPr>
          <p:cNvSpPr/>
          <p:nvPr/>
        </p:nvSpPr>
        <p:spPr bwMode="gray">
          <a:xfrm>
            <a:off x="8820120" y="4925300"/>
            <a:ext cx="1717393" cy="899601"/>
          </a:xfrm>
          <a:prstGeom prst="diamond">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200" dirty="0">
                <a:solidFill>
                  <a:sysClr val="windowText" lastClr="000000"/>
                </a:solidFill>
                <a:latin typeface="Calibri" panose="020F0502020204030204" pitchFamily="34" charset="0"/>
                <a:cs typeface="Calibri" panose="020F0502020204030204" pitchFamily="34" charset="0"/>
              </a:rPr>
              <a:t>Whether</a:t>
            </a:r>
          </a:p>
          <a:p>
            <a:pPr algn="ctr">
              <a:lnSpc>
                <a:spcPct val="106000"/>
              </a:lnSpc>
              <a:buFont typeface="Wingdings 2" pitchFamily="18" charset="2"/>
              <a:buNone/>
            </a:pPr>
            <a:r>
              <a:rPr lang="en-US" sz="1200" dirty="0">
                <a:solidFill>
                  <a:sysClr val="windowText" lastClr="000000"/>
                </a:solidFill>
                <a:latin typeface="Calibri" panose="020F0502020204030204" pitchFamily="34" charset="0"/>
                <a:cs typeface="Calibri" panose="020F0502020204030204" pitchFamily="34" charset="0"/>
              </a:rPr>
              <a:t>approved ?</a:t>
            </a:r>
          </a:p>
        </p:txBody>
      </p:sp>
      <p:sp>
        <p:nvSpPr>
          <p:cNvPr id="58" name="Rectangle: Rounded Corners 57">
            <a:extLst>
              <a:ext uri="{FF2B5EF4-FFF2-40B4-BE49-F238E27FC236}">
                <a16:creationId xmlns:a16="http://schemas.microsoft.com/office/drawing/2014/main" id="{A9556FCA-E074-46E2-ADC3-AC24B2D35CE0}"/>
              </a:ext>
            </a:extLst>
          </p:cNvPr>
          <p:cNvSpPr/>
          <p:nvPr/>
        </p:nvSpPr>
        <p:spPr bwMode="gray">
          <a:xfrm>
            <a:off x="10918772" y="5221835"/>
            <a:ext cx="773957" cy="306529"/>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200" dirty="0">
                <a:solidFill>
                  <a:schemeClr val="tx1"/>
                </a:solidFill>
                <a:latin typeface="Calibri" panose="020F0502020204030204" pitchFamily="34" charset="0"/>
                <a:cs typeface="Calibri" panose="020F0502020204030204" pitchFamily="34" charset="0"/>
              </a:rPr>
              <a:t>If NOT</a:t>
            </a:r>
          </a:p>
        </p:txBody>
      </p:sp>
      <p:sp>
        <p:nvSpPr>
          <p:cNvPr id="59" name="Rectangle: Rounded Corners 58">
            <a:extLst>
              <a:ext uri="{FF2B5EF4-FFF2-40B4-BE49-F238E27FC236}">
                <a16:creationId xmlns:a16="http://schemas.microsoft.com/office/drawing/2014/main" id="{EC6A2A71-E673-4792-97D1-B4C4CCE668CB}"/>
              </a:ext>
            </a:extLst>
          </p:cNvPr>
          <p:cNvSpPr/>
          <p:nvPr/>
        </p:nvSpPr>
        <p:spPr bwMode="gray">
          <a:xfrm>
            <a:off x="9289306" y="6106412"/>
            <a:ext cx="824457" cy="336578"/>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200" dirty="0">
                <a:solidFill>
                  <a:schemeClr val="tx1"/>
                </a:solidFill>
                <a:latin typeface="Calibri" panose="020F0502020204030204" pitchFamily="34" charset="0"/>
                <a:cs typeface="Calibri" panose="020F0502020204030204" pitchFamily="34" charset="0"/>
              </a:rPr>
              <a:t>If YES</a:t>
            </a:r>
          </a:p>
        </p:txBody>
      </p:sp>
      <p:cxnSp>
        <p:nvCxnSpPr>
          <p:cNvPr id="5" name="Straight Arrow Connector 4">
            <a:extLst>
              <a:ext uri="{FF2B5EF4-FFF2-40B4-BE49-F238E27FC236}">
                <a16:creationId xmlns:a16="http://schemas.microsoft.com/office/drawing/2014/main" id="{1409BF44-B9C3-429F-9556-ECB7002FDE77}"/>
              </a:ext>
            </a:extLst>
          </p:cNvPr>
          <p:cNvCxnSpPr>
            <a:cxnSpLocks/>
            <a:stCxn id="28" idx="3"/>
            <a:endCxn id="29" idx="1"/>
          </p:cNvCxnSpPr>
          <p:nvPr/>
        </p:nvCxnSpPr>
        <p:spPr>
          <a:xfrm>
            <a:off x="4961744" y="1290594"/>
            <a:ext cx="1939798" cy="649"/>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520710C-9758-4052-A3C2-B7CFC6A8817A}"/>
              </a:ext>
            </a:extLst>
          </p:cNvPr>
          <p:cNvCxnSpPr>
            <a:cxnSpLocks/>
          </p:cNvCxnSpPr>
          <p:nvPr/>
        </p:nvCxnSpPr>
        <p:spPr>
          <a:xfrm>
            <a:off x="5891601" y="1043580"/>
            <a:ext cx="0" cy="24717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1A1E78B3-ECE0-4390-B9D7-A91E7152FB7D}"/>
              </a:ext>
            </a:extLst>
          </p:cNvPr>
          <p:cNvCxnSpPr>
            <a:cxnSpLocks/>
            <a:stCxn id="30" idx="0"/>
            <a:endCxn id="31" idx="0"/>
          </p:cNvCxnSpPr>
          <p:nvPr/>
        </p:nvCxnSpPr>
        <p:spPr>
          <a:xfrm rot="16200000" flipH="1">
            <a:off x="9236282" y="193729"/>
            <a:ext cx="11156" cy="3099352"/>
          </a:xfrm>
          <a:prstGeom prst="bentConnector3">
            <a:avLst>
              <a:gd name="adj1" fmla="val -975771"/>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6F8A1E3F-4997-497C-82B9-0B3E8B3457FD}"/>
              </a:ext>
            </a:extLst>
          </p:cNvPr>
          <p:cNvCxnSpPr>
            <a:stCxn id="29" idx="2"/>
          </p:cNvCxnSpPr>
          <p:nvPr/>
        </p:nvCxnSpPr>
        <p:spPr>
          <a:xfrm>
            <a:off x="9289307" y="1413058"/>
            <a:ext cx="15657" cy="20940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67" name="Connector: Elbow 66">
            <a:extLst>
              <a:ext uri="{FF2B5EF4-FFF2-40B4-BE49-F238E27FC236}">
                <a16:creationId xmlns:a16="http://schemas.microsoft.com/office/drawing/2014/main" id="{57687BCC-1F1E-4070-82A7-817615E6A905}"/>
              </a:ext>
            </a:extLst>
          </p:cNvPr>
          <p:cNvCxnSpPr>
            <a:cxnSpLocks/>
            <a:stCxn id="30" idx="1"/>
            <a:endCxn id="32" idx="0"/>
          </p:cNvCxnSpPr>
          <p:nvPr/>
        </p:nvCxnSpPr>
        <p:spPr>
          <a:xfrm rot="10800000" flipV="1">
            <a:off x="3095928" y="1872845"/>
            <a:ext cx="3805615" cy="290195"/>
          </a:xfrm>
          <a:prstGeom prst="bentConnector2">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4383A9F7-CDB2-48A5-92A5-5AEE6C23A228}"/>
              </a:ext>
            </a:extLst>
          </p:cNvPr>
          <p:cNvCxnSpPr>
            <a:cxnSpLocks/>
          </p:cNvCxnSpPr>
          <p:nvPr/>
        </p:nvCxnSpPr>
        <p:spPr>
          <a:xfrm>
            <a:off x="1733259" y="1401409"/>
            <a:ext cx="0" cy="76114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9976A12F-C362-4E3B-9CF5-D2DEFF93B54B}"/>
              </a:ext>
            </a:extLst>
          </p:cNvPr>
          <p:cNvCxnSpPr>
            <a:stCxn id="32" idx="3"/>
            <a:endCxn id="33" idx="1"/>
          </p:cNvCxnSpPr>
          <p:nvPr/>
        </p:nvCxnSpPr>
        <p:spPr>
          <a:xfrm>
            <a:off x="5729570" y="2428438"/>
            <a:ext cx="1187629"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A9F05282-010D-4457-9CC3-0B5ADD0B9D87}"/>
              </a:ext>
            </a:extLst>
          </p:cNvPr>
          <p:cNvCxnSpPr>
            <a:cxnSpLocks/>
          </p:cNvCxnSpPr>
          <p:nvPr/>
        </p:nvCxnSpPr>
        <p:spPr>
          <a:xfrm>
            <a:off x="9407687" y="2667858"/>
            <a:ext cx="0" cy="26330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A0E10D99-276C-4FED-A89E-C6DA793E3EDE}"/>
              </a:ext>
            </a:extLst>
          </p:cNvPr>
          <p:cNvCxnSpPr>
            <a:cxnSpLocks/>
            <a:stCxn id="34" idx="1"/>
          </p:cNvCxnSpPr>
          <p:nvPr/>
        </p:nvCxnSpPr>
        <p:spPr>
          <a:xfrm flipH="1" flipV="1">
            <a:off x="7645824" y="3186352"/>
            <a:ext cx="562554" cy="11114"/>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13B7D775-6442-46DC-9EB0-EE78D5A65C72}"/>
              </a:ext>
            </a:extLst>
          </p:cNvPr>
          <p:cNvCxnSpPr>
            <a:cxnSpLocks/>
            <a:endCxn id="48" idx="3"/>
          </p:cNvCxnSpPr>
          <p:nvPr/>
        </p:nvCxnSpPr>
        <p:spPr>
          <a:xfrm flipH="1">
            <a:off x="3186586" y="3195521"/>
            <a:ext cx="613878" cy="18148"/>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ACEE2527-0436-4BF9-8D2D-9F5F3A05D931}"/>
              </a:ext>
            </a:extLst>
          </p:cNvPr>
          <p:cNvCxnSpPr>
            <a:cxnSpLocks/>
            <a:stCxn id="48" idx="2"/>
            <a:endCxn id="49" idx="0"/>
          </p:cNvCxnSpPr>
          <p:nvPr/>
        </p:nvCxnSpPr>
        <p:spPr>
          <a:xfrm>
            <a:off x="1818701" y="3479065"/>
            <a:ext cx="11467" cy="217999"/>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5A403E74-3344-463D-9C5D-F556B7587635}"/>
              </a:ext>
            </a:extLst>
          </p:cNvPr>
          <p:cNvCxnSpPr>
            <a:cxnSpLocks/>
            <a:stCxn id="49" idx="3"/>
            <a:endCxn id="50" idx="1"/>
          </p:cNvCxnSpPr>
          <p:nvPr/>
        </p:nvCxnSpPr>
        <p:spPr>
          <a:xfrm>
            <a:off x="3198053" y="3938294"/>
            <a:ext cx="1187540" cy="1200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F66EC915-40AC-4FE0-B70A-1FFD4C1199BF}"/>
              </a:ext>
            </a:extLst>
          </p:cNvPr>
          <p:cNvCxnSpPr>
            <a:cxnSpLocks/>
          </p:cNvCxnSpPr>
          <p:nvPr/>
        </p:nvCxnSpPr>
        <p:spPr>
          <a:xfrm>
            <a:off x="7645824" y="4146670"/>
            <a:ext cx="0" cy="305587"/>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EBB485BA-0271-49ED-9F4C-B66D57D13EE6}"/>
              </a:ext>
            </a:extLst>
          </p:cNvPr>
          <p:cNvCxnSpPr>
            <a:cxnSpLocks/>
            <a:stCxn id="52" idx="3"/>
            <a:endCxn id="3" idx="1"/>
          </p:cNvCxnSpPr>
          <p:nvPr/>
        </p:nvCxnSpPr>
        <p:spPr>
          <a:xfrm flipV="1">
            <a:off x="7078372" y="5375101"/>
            <a:ext cx="1741748" cy="5124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06EF8EC8-6901-4595-AD49-1D4871EBF88E}"/>
              </a:ext>
            </a:extLst>
          </p:cNvPr>
          <p:cNvCxnSpPr>
            <a:cxnSpLocks/>
          </p:cNvCxnSpPr>
          <p:nvPr/>
        </p:nvCxnSpPr>
        <p:spPr>
          <a:xfrm>
            <a:off x="3977339" y="4958194"/>
            <a:ext cx="0" cy="267314"/>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6B38C15F-487E-4FB4-9919-FDC443E121AE}"/>
              </a:ext>
            </a:extLst>
          </p:cNvPr>
          <p:cNvCxnSpPr>
            <a:cxnSpLocks/>
          </p:cNvCxnSpPr>
          <p:nvPr/>
        </p:nvCxnSpPr>
        <p:spPr>
          <a:xfrm>
            <a:off x="3977339" y="5627179"/>
            <a:ext cx="0" cy="419827"/>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281F7850-3F64-4323-9C21-D4825FAEEB63}"/>
              </a:ext>
            </a:extLst>
          </p:cNvPr>
          <p:cNvCxnSpPr>
            <a:cxnSpLocks/>
          </p:cNvCxnSpPr>
          <p:nvPr/>
        </p:nvCxnSpPr>
        <p:spPr>
          <a:xfrm flipH="1" flipV="1">
            <a:off x="7078372" y="6271296"/>
            <a:ext cx="2184237" cy="1591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965FF880-EC3F-4DD8-9ABD-A3DB0E5AB278}"/>
              </a:ext>
            </a:extLst>
          </p:cNvPr>
          <p:cNvCxnSpPr>
            <a:cxnSpLocks/>
            <a:stCxn id="3" idx="2"/>
            <a:endCxn id="59" idx="0"/>
          </p:cNvCxnSpPr>
          <p:nvPr/>
        </p:nvCxnSpPr>
        <p:spPr>
          <a:xfrm>
            <a:off x="9678817" y="5824901"/>
            <a:ext cx="22718" cy="28151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B2F53972-3F9D-4AA9-AE32-91FB3FD2AB33}"/>
              </a:ext>
            </a:extLst>
          </p:cNvPr>
          <p:cNvCxnSpPr>
            <a:cxnSpLocks/>
            <a:stCxn id="3" idx="3"/>
            <a:endCxn id="58" idx="1"/>
          </p:cNvCxnSpPr>
          <p:nvPr/>
        </p:nvCxnSpPr>
        <p:spPr>
          <a:xfrm flipV="1">
            <a:off x="10537513" y="5375100"/>
            <a:ext cx="381259" cy="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Connector: Elbow 127">
            <a:extLst>
              <a:ext uri="{FF2B5EF4-FFF2-40B4-BE49-F238E27FC236}">
                <a16:creationId xmlns:a16="http://schemas.microsoft.com/office/drawing/2014/main" id="{210C0BA4-757C-4F6D-9C9E-4258638B35DD}"/>
              </a:ext>
            </a:extLst>
          </p:cNvPr>
          <p:cNvCxnSpPr>
            <a:cxnSpLocks/>
            <a:stCxn id="58" idx="0"/>
            <a:endCxn id="51" idx="3"/>
          </p:cNvCxnSpPr>
          <p:nvPr/>
        </p:nvCxnSpPr>
        <p:spPr>
          <a:xfrm rot="16200000" flipV="1">
            <a:off x="9923487" y="3839571"/>
            <a:ext cx="514726" cy="2249802"/>
          </a:xfrm>
          <a:prstGeom prst="bentConnector2">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92" name="TextBox 191">
            <a:extLst>
              <a:ext uri="{FF2B5EF4-FFF2-40B4-BE49-F238E27FC236}">
                <a16:creationId xmlns:a16="http://schemas.microsoft.com/office/drawing/2014/main" id="{9877A50D-D427-4110-AE8A-D8CCD68E15EC}"/>
              </a:ext>
            </a:extLst>
          </p:cNvPr>
          <p:cNvSpPr txBox="1"/>
          <p:nvPr/>
        </p:nvSpPr>
        <p:spPr>
          <a:xfrm>
            <a:off x="4842926" y="6607245"/>
            <a:ext cx="2960916" cy="157133"/>
          </a:xfrm>
          <a:prstGeom prst="rect">
            <a:avLst/>
          </a:prstGeom>
          <a:noFill/>
        </p:spPr>
        <p:txBody>
          <a:bodyPr wrap="square" lIns="0" tIns="0" rIns="0" bIns="0" rtlCol="0">
            <a:spAutoFit/>
          </a:bodyPr>
          <a:lstStyle/>
          <a:p>
            <a:pPr>
              <a:spcBef>
                <a:spcPts val="600"/>
              </a:spcBef>
              <a:buSzPct val="100000"/>
            </a:pPr>
            <a:r>
              <a:rPr lang="en-US" sz="1000" dirty="0">
                <a:latin typeface="Calibri" panose="020F0502020204030204" pitchFamily="34" charset="0"/>
                <a:cs typeface="Calibri" panose="020F0502020204030204" pitchFamily="34" charset="0"/>
              </a:rPr>
              <a:t>Source : http://nefgov.in/NEF_Guidelines</a:t>
            </a:r>
          </a:p>
        </p:txBody>
      </p:sp>
    </p:spTree>
    <p:extLst>
      <p:ext uri="{BB962C8B-B14F-4D97-AF65-F5344CB8AC3E}">
        <p14:creationId xmlns:p14="http://schemas.microsoft.com/office/powerpoint/2010/main" val="973042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193988"/>
            <a:ext cx="11188700" cy="368299"/>
          </a:xfrm>
        </p:spPr>
        <p:txBody>
          <a:bodyPr vert="horz"/>
          <a:lstStyle/>
          <a:p>
            <a:pPr algn="just"/>
            <a:r>
              <a:rPr lang="en-US" sz="1800" i="0" dirty="0">
                <a:solidFill>
                  <a:schemeClr val="tx1"/>
                </a:solidFill>
              </a:rPr>
              <a:t>Progress Status of NEF Scheme </a:t>
            </a:r>
          </a:p>
        </p:txBody>
      </p:sp>
      <p:sp>
        <p:nvSpPr>
          <p:cNvPr id="20" name="TextBox 19">
            <a:extLst>
              <a:ext uri="{FF2B5EF4-FFF2-40B4-BE49-F238E27FC236}">
                <a16:creationId xmlns:a16="http://schemas.microsoft.com/office/drawing/2014/main" id="{B5649F8E-F122-4FAE-814F-DF7010DD21DF}"/>
              </a:ext>
            </a:extLst>
          </p:cNvPr>
          <p:cNvSpPr txBox="1"/>
          <p:nvPr/>
        </p:nvSpPr>
        <p:spPr>
          <a:xfrm>
            <a:off x="10223528" y="5663957"/>
            <a:ext cx="1164771" cy="184666"/>
          </a:xfrm>
          <a:prstGeom prst="rect">
            <a:avLst/>
          </a:prstGeom>
          <a:noFill/>
        </p:spPr>
        <p:txBody>
          <a:bodyPr wrap="square" lIns="0" tIns="0" rIns="0" bIns="0" rtlCol="0">
            <a:spAutoFit/>
          </a:bodyPr>
          <a:lstStyle/>
          <a:p>
            <a:pPr algn="ctr">
              <a:spcBef>
                <a:spcPts val="600"/>
              </a:spcBef>
              <a:buSzPct val="100000"/>
            </a:pPr>
            <a:r>
              <a:rPr lang="en-US" sz="1200" b="1" dirty="0">
                <a:solidFill>
                  <a:schemeClr val="bg1"/>
                </a:solidFill>
                <a:latin typeface="Calibri" panose="020F0502020204030204" pitchFamily="34" charset="0"/>
                <a:cs typeface="Calibri" panose="020F0502020204030204" pitchFamily="34" charset="0"/>
              </a:rPr>
              <a:t>GOA ( Grant)</a:t>
            </a:r>
          </a:p>
        </p:txBody>
      </p:sp>
      <p:sp>
        <p:nvSpPr>
          <p:cNvPr id="47" name="TextBox 46">
            <a:extLst>
              <a:ext uri="{FF2B5EF4-FFF2-40B4-BE49-F238E27FC236}">
                <a16:creationId xmlns:a16="http://schemas.microsoft.com/office/drawing/2014/main" id="{61A0BC5C-2F3A-41B7-92FD-DD59085988D6}"/>
              </a:ext>
            </a:extLst>
          </p:cNvPr>
          <p:cNvSpPr txBox="1"/>
          <p:nvPr/>
        </p:nvSpPr>
        <p:spPr>
          <a:xfrm>
            <a:off x="8939014" y="4692765"/>
            <a:ext cx="1284514" cy="184666"/>
          </a:xfrm>
          <a:prstGeom prst="rect">
            <a:avLst/>
          </a:prstGeom>
          <a:noFill/>
        </p:spPr>
        <p:txBody>
          <a:bodyPr wrap="square" lIns="0" tIns="0" rIns="0" bIns="0" rtlCol="0">
            <a:spAutoFit/>
          </a:bodyPr>
          <a:lstStyle/>
          <a:p>
            <a:pPr algn="ctr">
              <a:spcBef>
                <a:spcPts val="600"/>
              </a:spcBef>
              <a:buSzPct val="100000"/>
            </a:pPr>
            <a:r>
              <a:rPr lang="en-US" sz="1200" b="1" dirty="0">
                <a:solidFill>
                  <a:schemeClr val="bg1"/>
                </a:solidFill>
                <a:latin typeface="Calibri" panose="020F0502020204030204" pitchFamily="34" charset="0"/>
                <a:cs typeface="Calibri" panose="020F0502020204030204" pitchFamily="34" charset="0"/>
              </a:rPr>
              <a:t>GOWB ( Grant)</a:t>
            </a:r>
          </a:p>
        </p:txBody>
      </p:sp>
      <p:sp>
        <p:nvSpPr>
          <p:cNvPr id="12" name="TextBox 11">
            <a:extLst>
              <a:ext uri="{FF2B5EF4-FFF2-40B4-BE49-F238E27FC236}">
                <a16:creationId xmlns:a16="http://schemas.microsoft.com/office/drawing/2014/main" id="{03BE1681-132F-4BD3-8E3E-31A39F56CA21}"/>
              </a:ext>
            </a:extLst>
          </p:cNvPr>
          <p:cNvSpPr txBox="1"/>
          <p:nvPr/>
        </p:nvSpPr>
        <p:spPr>
          <a:xfrm>
            <a:off x="2264229" y="874800"/>
            <a:ext cx="1317171" cy="276999"/>
          </a:xfrm>
          <a:prstGeom prst="rect">
            <a:avLst/>
          </a:prstGeom>
          <a:solidFill>
            <a:schemeClr val="bg1"/>
          </a:solidFill>
        </p:spPr>
        <p:txBody>
          <a:bodyPr wrap="square" lIns="0" tIns="0" rIns="0" bIns="0" rtlCol="0">
            <a:spAutoFit/>
          </a:bodyPr>
          <a:lstStyle/>
          <a:p>
            <a:pPr>
              <a:spcBef>
                <a:spcPts val="600"/>
              </a:spcBef>
              <a:buSzPct val="100000"/>
            </a:pPr>
            <a:endParaRPr lang="en-US" dirty="0">
              <a:solidFill>
                <a:srgbClr val="313131"/>
              </a:solidFill>
            </a:endParaRPr>
          </a:p>
        </p:txBody>
      </p:sp>
      <p:cxnSp>
        <p:nvCxnSpPr>
          <p:cNvPr id="27" name="Straight Connector 26">
            <a:extLst>
              <a:ext uri="{FF2B5EF4-FFF2-40B4-BE49-F238E27FC236}">
                <a16:creationId xmlns:a16="http://schemas.microsoft.com/office/drawing/2014/main" id="{D85B757C-B8B0-475D-9712-F2F209E9E862}"/>
              </a:ext>
            </a:extLst>
          </p:cNvPr>
          <p:cNvCxnSpPr>
            <a:cxnSpLocks/>
          </p:cNvCxnSpPr>
          <p:nvPr/>
        </p:nvCxnSpPr>
        <p:spPr>
          <a:xfrm flipV="1">
            <a:off x="595056" y="777638"/>
            <a:ext cx="11082580" cy="1483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2B77C212-E8A8-44D8-B014-2E9A8379CE3B}"/>
              </a:ext>
            </a:extLst>
          </p:cNvPr>
          <p:cNvSpPr txBox="1"/>
          <p:nvPr/>
        </p:nvSpPr>
        <p:spPr>
          <a:xfrm>
            <a:off x="4271780" y="650851"/>
            <a:ext cx="3206705" cy="215444"/>
          </a:xfrm>
          <a:prstGeom prst="rect">
            <a:avLst/>
          </a:prstGeom>
          <a:solidFill>
            <a:schemeClr val="bg1"/>
          </a:solidFill>
        </p:spPr>
        <p:txBody>
          <a:bodyPr wrap="square" lIns="0" tIns="0" rIns="0" bIns="0" rtlCol="0">
            <a:spAutoFit/>
          </a:bodyPr>
          <a:lstStyle/>
          <a:p>
            <a:pPr algn="ctr"/>
            <a:r>
              <a:rPr lang="en-US" sz="1400" b="1" dirty="0">
                <a:latin typeface="Calibri" panose="020F0502020204030204" pitchFamily="34" charset="0"/>
                <a:cs typeface="Calibri" panose="020F0502020204030204" pitchFamily="34" charset="0"/>
              </a:rPr>
              <a:t>Physical Progress as on 31.03.2020 (In %)</a:t>
            </a:r>
          </a:p>
        </p:txBody>
      </p:sp>
      <p:sp>
        <p:nvSpPr>
          <p:cNvPr id="9" name="TextBox 8">
            <a:extLst>
              <a:ext uri="{FF2B5EF4-FFF2-40B4-BE49-F238E27FC236}">
                <a16:creationId xmlns:a16="http://schemas.microsoft.com/office/drawing/2014/main" id="{0AD044FD-E808-42E4-AAAB-B827AA8A5FFE}"/>
              </a:ext>
            </a:extLst>
          </p:cNvPr>
          <p:cNvSpPr txBox="1"/>
          <p:nvPr/>
        </p:nvSpPr>
        <p:spPr>
          <a:xfrm>
            <a:off x="3133850" y="6585857"/>
            <a:ext cx="3963636" cy="184666"/>
          </a:xfrm>
          <a:prstGeom prst="rect">
            <a:avLst/>
          </a:prstGeom>
          <a:noFill/>
        </p:spPr>
        <p:txBody>
          <a:bodyPr wrap="square" lIns="0" tIns="0" rIns="0" bIns="0" rtlCol="0">
            <a:spAutoFit/>
          </a:bodyPr>
          <a:lstStyle/>
          <a:p>
            <a:pPr>
              <a:spcBef>
                <a:spcPts val="600"/>
              </a:spcBef>
              <a:buSzPct val="100000"/>
            </a:pPr>
            <a:r>
              <a:rPr lang="en-US" sz="1200" b="1" dirty="0">
                <a:solidFill>
                  <a:srgbClr val="313131"/>
                </a:solidFill>
                <a:latin typeface="Calibri" panose="020F0502020204030204" pitchFamily="34" charset="0"/>
                <a:cs typeface="Calibri" panose="020F0502020204030204" pitchFamily="34" charset="0"/>
              </a:rPr>
              <a:t>Source </a:t>
            </a:r>
            <a:r>
              <a:rPr lang="en-US" sz="1200" dirty="0">
                <a:solidFill>
                  <a:srgbClr val="313131"/>
                </a:solidFill>
                <a:latin typeface="Calibri" panose="020F0502020204030204" pitchFamily="34" charset="0"/>
                <a:cs typeface="Calibri" panose="020F0502020204030204" pitchFamily="34" charset="0"/>
              </a:rPr>
              <a:t>: Respective Annual Accounts of WBSEDCL</a:t>
            </a:r>
          </a:p>
        </p:txBody>
      </p:sp>
      <p:graphicFrame>
        <p:nvGraphicFramePr>
          <p:cNvPr id="3" name="Table 3">
            <a:extLst>
              <a:ext uri="{FF2B5EF4-FFF2-40B4-BE49-F238E27FC236}">
                <a16:creationId xmlns:a16="http://schemas.microsoft.com/office/drawing/2014/main" id="{62718F5D-FBE5-48A4-B5AA-7BC941CC203A}"/>
              </a:ext>
            </a:extLst>
          </p:cNvPr>
          <p:cNvGraphicFramePr>
            <a:graphicFrameLocks noGrp="1"/>
          </p:cNvGraphicFramePr>
          <p:nvPr>
            <p:extLst>
              <p:ext uri="{D42A27DB-BD31-4B8C-83A1-F6EECF244321}">
                <p14:modId xmlns:p14="http://schemas.microsoft.com/office/powerpoint/2010/main" val="909183942"/>
              </p:ext>
            </p:extLst>
          </p:nvPr>
        </p:nvGraphicFramePr>
        <p:xfrm>
          <a:off x="595055" y="916256"/>
          <a:ext cx="11123918" cy="2345857"/>
        </p:xfrm>
        <a:graphic>
          <a:graphicData uri="http://schemas.openxmlformats.org/drawingml/2006/table">
            <a:tbl>
              <a:tblPr firstRow="1" bandRow="1">
                <a:tableStyleId>{5C22544A-7EE6-4342-B048-85BDC9FD1C3A}</a:tableStyleId>
              </a:tblPr>
              <a:tblGrid>
                <a:gridCol w="3179223">
                  <a:extLst>
                    <a:ext uri="{9D8B030D-6E8A-4147-A177-3AD203B41FA5}">
                      <a16:colId xmlns:a16="http://schemas.microsoft.com/office/drawing/2014/main" val="2143756674"/>
                    </a:ext>
                  </a:extLst>
                </a:gridCol>
                <a:gridCol w="1069865">
                  <a:extLst>
                    <a:ext uri="{9D8B030D-6E8A-4147-A177-3AD203B41FA5}">
                      <a16:colId xmlns:a16="http://schemas.microsoft.com/office/drawing/2014/main" val="3918959871"/>
                    </a:ext>
                  </a:extLst>
                </a:gridCol>
                <a:gridCol w="839661">
                  <a:extLst>
                    <a:ext uri="{9D8B030D-6E8A-4147-A177-3AD203B41FA5}">
                      <a16:colId xmlns:a16="http://schemas.microsoft.com/office/drawing/2014/main" val="1608338733"/>
                    </a:ext>
                  </a:extLst>
                </a:gridCol>
                <a:gridCol w="535305">
                  <a:extLst>
                    <a:ext uri="{9D8B030D-6E8A-4147-A177-3AD203B41FA5}">
                      <a16:colId xmlns:a16="http://schemas.microsoft.com/office/drawing/2014/main" val="3140247385"/>
                    </a:ext>
                  </a:extLst>
                </a:gridCol>
                <a:gridCol w="839661">
                  <a:extLst>
                    <a:ext uri="{9D8B030D-6E8A-4147-A177-3AD203B41FA5}">
                      <a16:colId xmlns:a16="http://schemas.microsoft.com/office/drawing/2014/main" val="1534581003"/>
                    </a:ext>
                  </a:extLst>
                </a:gridCol>
                <a:gridCol w="535305">
                  <a:extLst>
                    <a:ext uri="{9D8B030D-6E8A-4147-A177-3AD203B41FA5}">
                      <a16:colId xmlns:a16="http://schemas.microsoft.com/office/drawing/2014/main" val="82653646"/>
                    </a:ext>
                  </a:extLst>
                </a:gridCol>
                <a:gridCol w="839661">
                  <a:extLst>
                    <a:ext uri="{9D8B030D-6E8A-4147-A177-3AD203B41FA5}">
                      <a16:colId xmlns:a16="http://schemas.microsoft.com/office/drawing/2014/main" val="1823159075"/>
                    </a:ext>
                  </a:extLst>
                </a:gridCol>
                <a:gridCol w="535305">
                  <a:extLst>
                    <a:ext uri="{9D8B030D-6E8A-4147-A177-3AD203B41FA5}">
                      <a16:colId xmlns:a16="http://schemas.microsoft.com/office/drawing/2014/main" val="1777249268"/>
                    </a:ext>
                  </a:extLst>
                </a:gridCol>
                <a:gridCol w="839661">
                  <a:extLst>
                    <a:ext uri="{9D8B030D-6E8A-4147-A177-3AD203B41FA5}">
                      <a16:colId xmlns:a16="http://schemas.microsoft.com/office/drawing/2014/main" val="2677709317"/>
                    </a:ext>
                  </a:extLst>
                </a:gridCol>
                <a:gridCol w="535305">
                  <a:extLst>
                    <a:ext uri="{9D8B030D-6E8A-4147-A177-3AD203B41FA5}">
                      <a16:colId xmlns:a16="http://schemas.microsoft.com/office/drawing/2014/main" val="2530891320"/>
                    </a:ext>
                  </a:extLst>
                </a:gridCol>
                <a:gridCol w="839661">
                  <a:extLst>
                    <a:ext uri="{9D8B030D-6E8A-4147-A177-3AD203B41FA5}">
                      <a16:colId xmlns:a16="http://schemas.microsoft.com/office/drawing/2014/main" val="2303011466"/>
                    </a:ext>
                  </a:extLst>
                </a:gridCol>
                <a:gridCol w="535305">
                  <a:extLst>
                    <a:ext uri="{9D8B030D-6E8A-4147-A177-3AD203B41FA5}">
                      <a16:colId xmlns:a16="http://schemas.microsoft.com/office/drawing/2014/main" val="253806039"/>
                    </a:ext>
                  </a:extLst>
                </a:gridCol>
              </a:tblGrid>
              <a:tr h="334177">
                <a:tc>
                  <a:txBody>
                    <a:bodyPr/>
                    <a:lstStyle/>
                    <a:p>
                      <a:r>
                        <a:rPr lang="en-US" sz="1400" dirty="0">
                          <a:latin typeface="Calibri" panose="020F0502020204030204" pitchFamily="34" charset="0"/>
                          <a:cs typeface="Calibri" panose="020F0502020204030204" pitchFamily="34" charset="0"/>
                        </a:rPr>
                        <a:t>Project Name </a:t>
                      </a:r>
                    </a:p>
                  </a:txBody>
                  <a:tcPr/>
                </a:tc>
                <a:tc>
                  <a:txBody>
                    <a:bodyPr/>
                    <a:lstStyle/>
                    <a:p>
                      <a:r>
                        <a:rPr lang="en-US" sz="1400" dirty="0">
                          <a:latin typeface="Calibri" panose="020F0502020204030204" pitchFamily="34" charset="0"/>
                          <a:cs typeface="Calibri" panose="020F0502020204030204" pitchFamily="34" charset="0"/>
                        </a:rPr>
                        <a:t>Project Cost </a:t>
                      </a:r>
                    </a:p>
                  </a:txBody>
                  <a:tcPr/>
                </a:tc>
                <a:tc gridSpan="2">
                  <a:txBody>
                    <a:bodyPr/>
                    <a:lstStyle/>
                    <a:p>
                      <a:pPr algn="ctr"/>
                      <a:r>
                        <a:rPr lang="en-US" sz="1400" dirty="0">
                          <a:latin typeface="Calibri" panose="020F0502020204030204" pitchFamily="34" charset="0"/>
                          <a:cs typeface="Calibri" panose="020F0502020204030204" pitchFamily="34" charset="0"/>
                        </a:rPr>
                        <a:t>FY 2019-20</a:t>
                      </a:r>
                    </a:p>
                  </a:txBody>
                  <a:tcPr/>
                </a:tc>
                <a:tc hMerge="1">
                  <a:txBody>
                    <a:bodyPr/>
                    <a:lstStyle/>
                    <a:p>
                      <a:endParaRPr lang="en-US" sz="1600" dirty="0">
                        <a:latin typeface="Calibri" panose="020F0502020204030204" pitchFamily="34" charset="0"/>
                        <a:cs typeface="Calibri" panose="020F0502020204030204" pitchFamily="34" charset="0"/>
                      </a:endParaRPr>
                    </a:p>
                  </a:txBody>
                  <a:tcPr/>
                </a:tc>
                <a:tc gridSpan="2">
                  <a:txBody>
                    <a:bodyPr/>
                    <a:lstStyle/>
                    <a:p>
                      <a:pPr algn="ctr"/>
                      <a:r>
                        <a:rPr lang="en-US" sz="1400" dirty="0">
                          <a:latin typeface="Calibri" panose="020F0502020204030204" pitchFamily="34" charset="0"/>
                          <a:cs typeface="Calibri" panose="020F0502020204030204" pitchFamily="34" charset="0"/>
                        </a:rPr>
                        <a:t>FY 2018-19</a:t>
                      </a:r>
                    </a:p>
                  </a:txBody>
                  <a:tcPr/>
                </a:tc>
                <a:tc hMerge="1">
                  <a:txBody>
                    <a:bodyPr/>
                    <a:lstStyle/>
                    <a:p>
                      <a:endParaRPr lang="en-US" sz="1600" dirty="0">
                        <a:latin typeface="Calibri" panose="020F0502020204030204" pitchFamily="34" charset="0"/>
                        <a:cs typeface="Calibri" panose="020F0502020204030204" pitchFamily="34" charset="0"/>
                      </a:endParaRPr>
                    </a:p>
                  </a:txBody>
                  <a:tcPr/>
                </a:tc>
                <a:tc gridSpan="2">
                  <a:txBody>
                    <a:bodyPr/>
                    <a:lstStyle/>
                    <a:p>
                      <a:pPr algn="ctr"/>
                      <a:r>
                        <a:rPr lang="en-US" sz="1400" dirty="0">
                          <a:latin typeface="Calibri" panose="020F0502020204030204" pitchFamily="34" charset="0"/>
                          <a:cs typeface="Calibri" panose="020F0502020204030204" pitchFamily="34" charset="0"/>
                        </a:rPr>
                        <a:t>FY 2017-18</a:t>
                      </a:r>
                    </a:p>
                  </a:txBody>
                  <a:tcPr/>
                </a:tc>
                <a:tc hMerge="1">
                  <a:txBody>
                    <a:bodyPr/>
                    <a:lstStyle/>
                    <a:p>
                      <a:endParaRPr lang="en-US" sz="1600" dirty="0">
                        <a:latin typeface="Calibri" panose="020F0502020204030204" pitchFamily="34" charset="0"/>
                        <a:cs typeface="Calibri" panose="020F0502020204030204" pitchFamily="34" charset="0"/>
                      </a:endParaRPr>
                    </a:p>
                  </a:txBody>
                  <a:tcPr/>
                </a:tc>
                <a:tc gridSpan="2">
                  <a:txBody>
                    <a:bodyPr/>
                    <a:lstStyle/>
                    <a:p>
                      <a:pPr algn="ctr"/>
                      <a:r>
                        <a:rPr lang="en-US" sz="1400" dirty="0">
                          <a:latin typeface="Calibri" panose="020F0502020204030204" pitchFamily="34" charset="0"/>
                          <a:cs typeface="Calibri" panose="020F0502020204030204" pitchFamily="34" charset="0"/>
                        </a:rPr>
                        <a:t>FY 2016-17</a:t>
                      </a:r>
                    </a:p>
                  </a:txBody>
                  <a:tcPr/>
                </a:tc>
                <a:tc hMerge="1">
                  <a:txBody>
                    <a:bodyPr/>
                    <a:lstStyle/>
                    <a:p>
                      <a:endParaRPr lang="en-US" sz="1600" dirty="0">
                        <a:latin typeface="Calibri" panose="020F0502020204030204" pitchFamily="34" charset="0"/>
                        <a:cs typeface="Calibri" panose="020F0502020204030204" pitchFamily="34" charset="0"/>
                      </a:endParaRPr>
                    </a:p>
                  </a:txBody>
                  <a:tcPr/>
                </a:tc>
                <a:tc gridSpan="2">
                  <a:txBody>
                    <a:bodyPr/>
                    <a:lstStyle/>
                    <a:p>
                      <a:pPr algn="ctr"/>
                      <a:r>
                        <a:rPr lang="en-US" sz="1400" dirty="0">
                          <a:latin typeface="Calibri" panose="020F0502020204030204" pitchFamily="34" charset="0"/>
                          <a:cs typeface="Calibri" panose="020F0502020204030204" pitchFamily="34" charset="0"/>
                        </a:rPr>
                        <a:t>FY 2015-16</a:t>
                      </a:r>
                    </a:p>
                  </a:txBody>
                  <a:tcPr/>
                </a:tc>
                <a:tc hMerge="1">
                  <a:txBody>
                    <a:bodyPr/>
                    <a:lstStyle/>
                    <a:p>
                      <a:endParaRPr lang="en-US" sz="16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258274191"/>
                  </a:ext>
                </a:extLst>
              </a:tr>
              <a:tr h="311258">
                <a:tc>
                  <a:txBody>
                    <a:bodyPr/>
                    <a:lstStyle/>
                    <a:p>
                      <a:endParaRPr lang="en-US" sz="1600" dirty="0">
                        <a:latin typeface="Calibri" panose="020F0502020204030204" pitchFamily="34" charset="0"/>
                        <a:cs typeface="Calibri" panose="020F0502020204030204" pitchFamily="34" charset="0"/>
                      </a:endParaRPr>
                    </a:p>
                  </a:txBody>
                  <a:tcPr/>
                </a:tc>
                <a:tc>
                  <a:txBody>
                    <a:bodyPr/>
                    <a:lstStyle/>
                    <a:p>
                      <a:pPr algn="ctr"/>
                      <a:r>
                        <a:rPr lang="en-US" sz="1400" dirty="0">
                          <a:latin typeface="Calibri" panose="020F0502020204030204" pitchFamily="34" charset="0"/>
                          <a:cs typeface="Calibri" panose="020F0502020204030204" pitchFamily="34" charset="0"/>
                        </a:rPr>
                        <a:t>In Crore</a:t>
                      </a:r>
                    </a:p>
                  </a:txBody>
                  <a:tcPr/>
                </a:tc>
                <a:tc>
                  <a:txBody>
                    <a:bodyPr/>
                    <a:lstStyle/>
                    <a:p>
                      <a:pPr algn="ctr"/>
                      <a:r>
                        <a:rPr lang="en-US" sz="1400" dirty="0">
                          <a:latin typeface="Calibri" panose="020F0502020204030204" pitchFamily="34" charset="0"/>
                          <a:cs typeface="Calibri" panose="020F0502020204030204" pitchFamily="34" charset="0"/>
                        </a:rPr>
                        <a:t>Progress</a:t>
                      </a:r>
                    </a:p>
                  </a:txBody>
                  <a:tcPr/>
                </a:tc>
                <a:tc>
                  <a:txBody>
                    <a:bodyPr/>
                    <a:lstStyle/>
                    <a:p>
                      <a:pPr algn="ctr"/>
                      <a:r>
                        <a:rPr lang="en-US" sz="1400" dirty="0">
                          <a:latin typeface="Calibri" panose="020F0502020204030204" pitchFamily="34" charset="0"/>
                          <a:cs typeface="Calibri" panose="020F0502020204030204" pitchFamily="34" charset="0"/>
                        </a:rPr>
                        <a:t>Plan</a:t>
                      </a:r>
                    </a:p>
                  </a:txBody>
                  <a:tcPr/>
                </a:tc>
                <a:tc>
                  <a:txBody>
                    <a:bodyPr/>
                    <a:lstStyle/>
                    <a:p>
                      <a:pPr algn="ctr"/>
                      <a:r>
                        <a:rPr lang="en-US" sz="1400" dirty="0">
                          <a:latin typeface="Calibri" panose="020F0502020204030204" pitchFamily="34" charset="0"/>
                          <a:cs typeface="Calibri" panose="020F0502020204030204" pitchFamily="34" charset="0"/>
                        </a:rPr>
                        <a:t>Progress</a:t>
                      </a:r>
                    </a:p>
                  </a:txBody>
                  <a:tcPr/>
                </a:tc>
                <a:tc>
                  <a:txBody>
                    <a:bodyPr/>
                    <a:lstStyle/>
                    <a:p>
                      <a:pPr algn="ctr"/>
                      <a:r>
                        <a:rPr lang="en-US" sz="1400" dirty="0">
                          <a:latin typeface="Calibri" panose="020F0502020204030204" pitchFamily="34" charset="0"/>
                          <a:cs typeface="Calibri" panose="020F0502020204030204" pitchFamily="34" charset="0"/>
                        </a:rPr>
                        <a:t>Plan</a:t>
                      </a:r>
                    </a:p>
                  </a:txBody>
                  <a:tcPr/>
                </a:tc>
                <a:tc>
                  <a:txBody>
                    <a:bodyPr/>
                    <a:lstStyle/>
                    <a:p>
                      <a:pPr algn="ctr"/>
                      <a:r>
                        <a:rPr lang="en-US" sz="1400" dirty="0">
                          <a:latin typeface="Calibri" panose="020F0502020204030204" pitchFamily="34" charset="0"/>
                          <a:cs typeface="Calibri" panose="020F0502020204030204" pitchFamily="34" charset="0"/>
                        </a:rPr>
                        <a:t>Progress</a:t>
                      </a:r>
                    </a:p>
                  </a:txBody>
                  <a:tcPr/>
                </a:tc>
                <a:tc>
                  <a:txBody>
                    <a:bodyPr/>
                    <a:lstStyle/>
                    <a:p>
                      <a:pPr algn="ctr"/>
                      <a:r>
                        <a:rPr lang="en-US" sz="1400" dirty="0">
                          <a:latin typeface="Calibri" panose="020F0502020204030204" pitchFamily="34" charset="0"/>
                          <a:cs typeface="Calibri" panose="020F0502020204030204" pitchFamily="34" charset="0"/>
                        </a:rPr>
                        <a:t>Plan</a:t>
                      </a:r>
                    </a:p>
                  </a:txBody>
                  <a:tcPr/>
                </a:tc>
                <a:tc>
                  <a:txBody>
                    <a:bodyPr/>
                    <a:lstStyle/>
                    <a:p>
                      <a:pPr algn="ctr"/>
                      <a:r>
                        <a:rPr lang="en-US" sz="1400" dirty="0">
                          <a:latin typeface="Calibri" panose="020F0502020204030204" pitchFamily="34" charset="0"/>
                          <a:cs typeface="Calibri" panose="020F0502020204030204" pitchFamily="34" charset="0"/>
                        </a:rPr>
                        <a:t>Progress</a:t>
                      </a:r>
                    </a:p>
                  </a:txBody>
                  <a:tcPr/>
                </a:tc>
                <a:tc>
                  <a:txBody>
                    <a:bodyPr/>
                    <a:lstStyle/>
                    <a:p>
                      <a:pPr algn="ctr"/>
                      <a:r>
                        <a:rPr lang="en-US" sz="1400" dirty="0">
                          <a:latin typeface="Calibri" panose="020F0502020204030204" pitchFamily="34" charset="0"/>
                          <a:cs typeface="Calibri" panose="020F0502020204030204" pitchFamily="34" charset="0"/>
                        </a:rPr>
                        <a:t>Plan</a:t>
                      </a:r>
                    </a:p>
                  </a:txBody>
                  <a:tcPr/>
                </a:tc>
                <a:tc>
                  <a:txBody>
                    <a:bodyPr/>
                    <a:lstStyle/>
                    <a:p>
                      <a:pPr algn="ctr"/>
                      <a:r>
                        <a:rPr lang="en-US" sz="1400" dirty="0">
                          <a:latin typeface="Calibri" panose="020F0502020204030204" pitchFamily="34" charset="0"/>
                          <a:cs typeface="Calibri" panose="020F0502020204030204" pitchFamily="34" charset="0"/>
                        </a:rPr>
                        <a:t>Progress</a:t>
                      </a:r>
                    </a:p>
                  </a:txBody>
                  <a:tcPr/>
                </a:tc>
                <a:tc>
                  <a:txBody>
                    <a:bodyPr/>
                    <a:lstStyle/>
                    <a:p>
                      <a:pPr algn="ctr"/>
                      <a:r>
                        <a:rPr lang="en-US" sz="1400" dirty="0">
                          <a:latin typeface="Calibri" panose="020F0502020204030204" pitchFamily="34" charset="0"/>
                          <a:cs typeface="Calibri" panose="020F0502020204030204" pitchFamily="34" charset="0"/>
                        </a:rPr>
                        <a:t>Plan</a:t>
                      </a:r>
                    </a:p>
                  </a:txBody>
                  <a:tcPr/>
                </a:tc>
                <a:extLst>
                  <a:ext uri="{0D108BD9-81ED-4DB2-BD59-A6C34878D82A}">
                    <a16:rowId xmlns:a16="http://schemas.microsoft.com/office/drawing/2014/main" val="1661432490"/>
                  </a:ext>
                </a:extLst>
              </a:tr>
              <a:tr h="679107">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Cabling and Upgradation of sub-transmission and distribution system in Bolpur and Nabadwip towns </a:t>
                      </a:r>
                    </a:p>
                  </a:txBody>
                  <a:tcPr/>
                </a:tc>
                <a:tc>
                  <a:txBody>
                    <a:bodyPr/>
                    <a:lstStyle/>
                    <a:p>
                      <a:pPr algn="ctr"/>
                      <a:r>
                        <a:rPr lang="en-US" sz="1400" dirty="0">
                          <a:latin typeface="Calibri" panose="020F0502020204030204" pitchFamily="34" charset="0"/>
                          <a:cs typeface="Calibri" panose="020F0502020204030204" pitchFamily="34" charset="0"/>
                        </a:rPr>
                        <a:t>90.76</a:t>
                      </a:r>
                    </a:p>
                  </a:txBody>
                  <a:tcPr anchor="ctr"/>
                </a:tc>
                <a:tc>
                  <a:txBody>
                    <a:bodyPr/>
                    <a:lstStyle/>
                    <a:p>
                      <a:pPr algn="ctr"/>
                      <a:r>
                        <a:rPr lang="en-US" sz="1400" dirty="0">
                          <a:latin typeface="Calibri" panose="020F0502020204030204" pitchFamily="34" charset="0"/>
                          <a:cs typeface="Calibri" panose="020F0502020204030204" pitchFamily="34" charset="0"/>
                        </a:rPr>
                        <a:t>100%</a:t>
                      </a:r>
                    </a:p>
                  </a:txBody>
                  <a:tcPr anchor="ctr"/>
                </a:tc>
                <a:tc>
                  <a:txBody>
                    <a:bodyPr/>
                    <a:lstStyle/>
                    <a:p>
                      <a:pPr algn="ctr"/>
                      <a:r>
                        <a:rPr lang="en-US" sz="1400" dirty="0">
                          <a:latin typeface="Calibri" panose="020F0502020204030204" pitchFamily="34" charset="0"/>
                          <a:cs typeface="Calibri" panose="020F0502020204030204" pitchFamily="34" charset="0"/>
                        </a:rPr>
                        <a:t>-</a:t>
                      </a:r>
                    </a:p>
                  </a:txBody>
                  <a:tcPr anchor="ctr"/>
                </a:tc>
                <a:tc>
                  <a:txBody>
                    <a:bodyPr/>
                    <a:lstStyle/>
                    <a:p>
                      <a:pPr algn="ctr"/>
                      <a:r>
                        <a:rPr lang="en-US" sz="1400" dirty="0">
                          <a:latin typeface="Calibri" panose="020F0502020204030204" pitchFamily="34" charset="0"/>
                          <a:cs typeface="Calibri" panose="020F0502020204030204" pitchFamily="34" charset="0"/>
                        </a:rPr>
                        <a:t>100%</a:t>
                      </a:r>
                    </a:p>
                  </a:txBody>
                  <a:tcPr anchor="ctr"/>
                </a:tc>
                <a:tc>
                  <a:txBody>
                    <a:bodyPr/>
                    <a:lstStyle/>
                    <a:p>
                      <a:pPr algn="ctr"/>
                      <a:r>
                        <a:rPr lang="en-US" sz="1400" dirty="0">
                          <a:latin typeface="Calibri" panose="020F0502020204030204" pitchFamily="34" charset="0"/>
                          <a:cs typeface="Calibri" panose="020F0502020204030204" pitchFamily="34" charset="0"/>
                        </a:rPr>
                        <a:t>-</a:t>
                      </a:r>
                    </a:p>
                  </a:txBody>
                  <a:tcPr anchor="ctr"/>
                </a:tc>
                <a:tc>
                  <a:txBody>
                    <a:bodyPr/>
                    <a:lstStyle/>
                    <a:p>
                      <a:pPr algn="ctr"/>
                      <a:r>
                        <a:rPr lang="en-US" sz="1400" dirty="0">
                          <a:latin typeface="Calibri" panose="020F0502020204030204" pitchFamily="34" charset="0"/>
                          <a:cs typeface="Calibri" panose="020F0502020204030204" pitchFamily="34" charset="0"/>
                        </a:rPr>
                        <a:t>100%</a:t>
                      </a:r>
                    </a:p>
                  </a:txBody>
                  <a:tcPr anchor="ctr"/>
                </a:tc>
                <a:tc>
                  <a:txBody>
                    <a:bodyPr/>
                    <a:lstStyle/>
                    <a:p>
                      <a:pPr algn="ctr"/>
                      <a:r>
                        <a:rPr lang="en-US" sz="1400" dirty="0">
                          <a:latin typeface="Calibri" panose="020F0502020204030204" pitchFamily="34" charset="0"/>
                          <a:cs typeface="Calibri" panose="020F0502020204030204" pitchFamily="34" charset="0"/>
                        </a:rPr>
                        <a:t>-</a:t>
                      </a:r>
                    </a:p>
                  </a:txBody>
                  <a:tcPr anchor="ctr"/>
                </a:tc>
                <a:tc>
                  <a:txBody>
                    <a:bodyPr/>
                    <a:lstStyle/>
                    <a:p>
                      <a:pPr algn="ctr"/>
                      <a:r>
                        <a:rPr lang="en-US" sz="1400" dirty="0">
                          <a:latin typeface="Calibri" panose="020F0502020204030204" pitchFamily="34" charset="0"/>
                          <a:cs typeface="Calibri" panose="020F0502020204030204" pitchFamily="34" charset="0"/>
                        </a:rPr>
                        <a:t>98%</a:t>
                      </a:r>
                    </a:p>
                  </a:txBody>
                  <a:tcPr anchor="ctr"/>
                </a:tc>
                <a:tc>
                  <a:txBody>
                    <a:bodyPr/>
                    <a:lstStyle/>
                    <a:p>
                      <a:pPr algn="ctr"/>
                      <a:r>
                        <a:rPr lang="en-US" sz="1400" dirty="0">
                          <a:latin typeface="Calibri" panose="020F0502020204030204" pitchFamily="34" charset="0"/>
                          <a:cs typeface="Calibri" panose="020F0502020204030204" pitchFamily="34" charset="0"/>
                        </a:rPr>
                        <a:t>2%</a:t>
                      </a:r>
                    </a:p>
                  </a:txBody>
                  <a:tcPr anchor="ctr"/>
                </a:tc>
                <a:tc>
                  <a:txBody>
                    <a:bodyPr/>
                    <a:lstStyle/>
                    <a:p>
                      <a:pPr algn="ctr"/>
                      <a:r>
                        <a:rPr lang="en-US" sz="1400" dirty="0">
                          <a:latin typeface="Calibri" panose="020F0502020204030204" pitchFamily="34" charset="0"/>
                          <a:cs typeface="Calibri" panose="020F0502020204030204" pitchFamily="34" charset="0"/>
                        </a:rPr>
                        <a:t>15%</a:t>
                      </a:r>
                    </a:p>
                  </a:txBody>
                  <a:tcPr anchor="ctr"/>
                </a:tc>
                <a:tc>
                  <a:txBody>
                    <a:bodyPr/>
                    <a:lstStyle/>
                    <a:p>
                      <a:pPr algn="ctr"/>
                      <a:r>
                        <a:rPr lang="en-US" sz="1400" dirty="0">
                          <a:latin typeface="Calibri" panose="020F0502020204030204" pitchFamily="34" charset="0"/>
                          <a:cs typeface="Calibri" panose="020F0502020204030204" pitchFamily="34" charset="0"/>
                        </a:rPr>
                        <a:t>65%</a:t>
                      </a:r>
                    </a:p>
                  </a:txBody>
                  <a:tcPr anchor="ctr"/>
                </a:tc>
                <a:extLst>
                  <a:ext uri="{0D108BD9-81ED-4DB2-BD59-A6C34878D82A}">
                    <a16:rowId xmlns:a16="http://schemas.microsoft.com/office/drawing/2014/main" val="1868617370"/>
                  </a:ext>
                </a:extLst>
              </a:tr>
              <a:tr h="877180">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Replacement of 33 &amp; 11 KV OCB by VCB &amp; Capacity augmentation of 33/11 KV sub-station under Midnapur, Kolkata and Burdwan Zones </a:t>
                      </a:r>
                    </a:p>
                  </a:txBody>
                  <a:tcPr/>
                </a:tc>
                <a:tc>
                  <a:txBody>
                    <a:bodyPr/>
                    <a:lstStyle/>
                    <a:p>
                      <a:pPr algn="ctr"/>
                      <a:r>
                        <a:rPr lang="en-US" sz="1400" dirty="0">
                          <a:latin typeface="Calibri" panose="020F0502020204030204" pitchFamily="34" charset="0"/>
                          <a:cs typeface="Calibri" panose="020F0502020204030204" pitchFamily="34" charset="0"/>
                        </a:rPr>
                        <a:t>114.55</a:t>
                      </a:r>
                    </a:p>
                  </a:txBody>
                  <a:tcPr anchor="ctr"/>
                </a:tc>
                <a:tc>
                  <a:txBody>
                    <a:bodyPr/>
                    <a:lstStyle/>
                    <a:p>
                      <a:pPr algn="ctr"/>
                      <a:r>
                        <a:rPr lang="en-US" sz="1400" dirty="0">
                          <a:latin typeface="Calibri" panose="020F0502020204030204" pitchFamily="34" charset="0"/>
                          <a:cs typeface="Calibri" panose="020F0502020204030204" pitchFamily="34" charset="0"/>
                        </a:rPr>
                        <a:t>100%</a:t>
                      </a:r>
                    </a:p>
                  </a:txBody>
                  <a:tcPr anchor="ctr"/>
                </a:tc>
                <a:tc>
                  <a:txBody>
                    <a:bodyPr/>
                    <a:lstStyle/>
                    <a:p>
                      <a:pPr algn="ctr"/>
                      <a:r>
                        <a:rPr lang="en-US" sz="1400" dirty="0">
                          <a:latin typeface="Calibri" panose="020F0502020204030204" pitchFamily="34" charset="0"/>
                          <a:cs typeface="Calibri" panose="020F0502020204030204" pitchFamily="34" charset="0"/>
                        </a:rPr>
                        <a:t>-</a:t>
                      </a:r>
                    </a:p>
                  </a:txBody>
                  <a:tcPr anchor="ctr"/>
                </a:tc>
                <a:tc>
                  <a:txBody>
                    <a:bodyPr/>
                    <a:lstStyle/>
                    <a:p>
                      <a:pPr algn="ctr"/>
                      <a:r>
                        <a:rPr lang="en-US" sz="1400" dirty="0">
                          <a:latin typeface="Calibri" panose="020F0502020204030204" pitchFamily="34" charset="0"/>
                          <a:cs typeface="Calibri" panose="020F0502020204030204" pitchFamily="34" charset="0"/>
                        </a:rPr>
                        <a:t>100%</a:t>
                      </a:r>
                    </a:p>
                  </a:txBody>
                  <a:tcPr anchor="ctr"/>
                </a:tc>
                <a:tc>
                  <a:txBody>
                    <a:bodyPr/>
                    <a:lstStyle/>
                    <a:p>
                      <a:pPr algn="ctr"/>
                      <a:r>
                        <a:rPr lang="en-US" sz="1400" dirty="0">
                          <a:latin typeface="Calibri" panose="020F0502020204030204" pitchFamily="34" charset="0"/>
                          <a:cs typeface="Calibri" panose="020F0502020204030204" pitchFamily="34" charset="0"/>
                        </a:rPr>
                        <a:t>-</a:t>
                      </a:r>
                    </a:p>
                  </a:txBody>
                  <a:tcPr anchor="ctr"/>
                </a:tc>
                <a:tc>
                  <a:txBody>
                    <a:bodyPr/>
                    <a:lstStyle/>
                    <a:p>
                      <a:pPr algn="ctr"/>
                      <a:r>
                        <a:rPr lang="en-US" sz="1400" dirty="0">
                          <a:latin typeface="Calibri" panose="020F0502020204030204" pitchFamily="34" charset="0"/>
                          <a:cs typeface="Calibri" panose="020F0502020204030204" pitchFamily="34" charset="0"/>
                        </a:rPr>
                        <a:t>100%</a:t>
                      </a:r>
                    </a:p>
                  </a:txBody>
                  <a:tcPr anchor="ctr"/>
                </a:tc>
                <a:tc>
                  <a:txBody>
                    <a:bodyPr/>
                    <a:lstStyle/>
                    <a:p>
                      <a:pPr algn="ctr"/>
                      <a:r>
                        <a:rPr lang="en-US" sz="1400" dirty="0">
                          <a:latin typeface="Calibri" panose="020F0502020204030204" pitchFamily="34" charset="0"/>
                          <a:cs typeface="Calibri" panose="020F0502020204030204" pitchFamily="34" charset="0"/>
                        </a:rPr>
                        <a:t>-</a:t>
                      </a:r>
                    </a:p>
                  </a:txBody>
                  <a:tcPr anchor="ctr"/>
                </a:tc>
                <a:tc>
                  <a:txBody>
                    <a:bodyPr/>
                    <a:lstStyle/>
                    <a:p>
                      <a:pPr algn="ctr"/>
                      <a:r>
                        <a:rPr lang="en-US" sz="1400" dirty="0">
                          <a:latin typeface="Calibri" panose="020F0502020204030204" pitchFamily="34" charset="0"/>
                          <a:cs typeface="Calibri" panose="020F0502020204030204" pitchFamily="34" charset="0"/>
                        </a:rPr>
                        <a:t>99%</a:t>
                      </a:r>
                    </a:p>
                  </a:txBody>
                  <a:tcPr anchor="ctr"/>
                </a:tc>
                <a:tc>
                  <a:txBody>
                    <a:bodyPr/>
                    <a:lstStyle/>
                    <a:p>
                      <a:pPr algn="ctr"/>
                      <a:r>
                        <a:rPr lang="en-US" sz="1400" dirty="0">
                          <a:latin typeface="Calibri" panose="020F0502020204030204" pitchFamily="34" charset="0"/>
                          <a:cs typeface="Calibri" panose="020F0502020204030204" pitchFamily="34" charset="0"/>
                        </a:rPr>
                        <a:t>1%</a:t>
                      </a:r>
                    </a:p>
                  </a:txBody>
                  <a:tcPr anchor="ctr"/>
                </a:tc>
                <a:tc>
                  <a:txBody>
                    <a:bodyPr/>
                    <a:lstStyle/>
                    <a:p>
                      <a:pPr algn="ctr"/>
                      <a:r>
                        <a:rPr lang="en-US" sz="1400" dirty="0">
                          <a:latin typeface="Calibri" panose="020F0502020204030204" pitchFamily="34" charset="0"/>
                          <a:cs typeface="Calibri" panose="020F0502020204030204" pitchFamily="34" charset="0"/>
                        </a:rPr>
                        <a:t>10%</a:t>
                      </a:r>
                    </a:p>
                  </a:txBody>
                  <a:tcPr anchor="ctr"/>
                </a:tc>
                <a:tc>
                  <a:txBody>
                    <a:bodyPr/>
                    <a:lstStyle/>
                    <a:p>
                      <a:pPr algn="ctr"/>
                      <a:r>
                        <a:rPr lang="en-US" sz="1400" dirty="0">
                          <a:latin typeface="Calibri" panose="020F0502020204030204" pitchFamily="34" charset="0"/>
                          <a:cs typeface="Calibri" panose="020F0502020204030204" pitchFamily="34" charset="0"/>
                        </a:rPr>
                        <a:t>60%</a:t>
                      </a:r>
                    </a:p>
                  </a:txBody>
                  <a:tcPr anchor="ctr"/>
                </a:tc>
                <a:extLst>
                  <a:ext uri="{0D108BD9-81ED-4DB2-BD59-A6C34878D82A}">
                    <a16:rowId xmlns:a16="http://schemas.microsoft.com/office/drawing/2014/main" val="1864634045"/>
                  </a:ext>
                </a:extLst>
              </a:tr>
            </a:tbl>
          </a:graphicData>
        </a:graphic>
      </p:graphicFrame>
      <p:graphicFrame>
        <p:nvGraphicFramePr>
          <p:cNvPr id="14" name="Table 3">
            <a:extLst>
              <a:ext uri="{FF2B5EF4-FFF2-40B4-BE49-F238E27FC236}">
                <a16:creationId xmlns:a16="http://schemas.microsoft.com/office/drawing/2014/main" id="{8E0210AD-9EBD-478D-8D61-6EF8BCECE4EC}"/>
              </a:ext>
            </a:extLst>
          </p:cNvPr>
          <p:cNvGraphicFramePr>
            <a:graphicFrameLocks noGrp="1"/>
          </p:cNvGraphicFramePr>
          <p:nvPr>
            <p:extLst>
              <p:ext uri="{D42A27DB-BD31-4B8C-83A1-F6EECF244321}">
                <p14:modId xmlns:p14="http://schemas.microsoft.com/office/powerpoint/2010/main" val="2219616799"/>
              </p:ext>
            </p:extLst>
          </p:nvPr>
        </p:nvGraphicFramePr>
        <p:xfrm>
          <a:off x="595055" y="3633362"/>
          <a:ext cx="11192598" cy="2699460"/>
        </p:xfrm>
        <a:graphic>
          <a:graphicData uri="http://schemas.openxmlformats.org/drawingml/2006/table">
            <a:tbl>
              <a:tblPr firstRow="1" bandRow="1">
                <a:tableStyleId>{5C22544A-7EE6-4342-B048-85BDC9FD1C3A}</a:tableStyleId>
              </a:tblPr>
              <a:tblGrid>
                <a:gridCol w="3179223">
                  <a:extLst>
                    <a:ext uri="{9D8B030D-6E8A-4147-A177-3AD203B41FA5}">
                      <a16:colId xmlns:a16="http://schemas.microsoft.com/office/drawing/2014/main" val="2143756674"/>
                    </a:ext>
                  </a:extLst>
                </a:gridCol>
                <a:gridCol w="1069865">
                  <a:extLst>
                    <a:ext uri="{9D8B030D-6E8A-4147-A177-3AD203B41FA5}">
                      <a16:colId xmlns:a16="http://schemas.microsoft.com/office/drawing/2014/main" val="3918959871"/>
                    </a:ext>
                  </a:extLst>
                </a:gridCol>
                <a:gridCol w="839661">
                  <a:extLst>
                    <a:ext uri="{9D8B030D-6E8A-4147-A177-3AD203B41FA5}">
                      <a16:colId xmlns:a16="http://schemas.microsoft.com/office/drawing/2014/main" val="1608338733"/>
                    </a:ext>
                  </a:extLst>
                </a:gridCol>
                <a:gridCol w="535305">
                  <a:extLst>
                    <a:ext uri="{9D8B030D-6E8A-4147-A177-3AD203B41FA5}">
                      <a16:colId xmlns:a16="http://schemas.microsoft.com/office/drawing/2014/main" val="3140247385"/>
                    </a:ext>
                  </a:extLst>
                </a:gridCol>
                <a:gridCol w="908341">
                  <a:extLst>
                    <a:ext uri="{9D8B030D-6E8A-4147-A177-3AD203B41FA5}">
                      <a16:colId xmlns:a16="http://schemas.microsoft.com/office/drawing/2014/main" val="1534581003"/>
                    </a:ext>
                  </a:extLst>
                </a:gridCol>
                <a:gridCol w="535305">
                  <a:extLst>
                    <a:ext uri="{9D8B030D-6E8A-4147-A177-3AD203B41FA5}">
                      <a16:colId xmlns:a16="http://schemas.microsoft.com/office/drawing/2014/main" val="82653646"/>
                    </a:ext>
                  </a:extLst>
                </a:gridCol>
                <a:gridCol w="839661">
                  <a:extLst>
                    <a:ext uri="{9D8B030D-6E8A-4147-A177-3AD203B41FA5}">
                      <a16:colId xmlns:a16="http://schemas.microsoft.com/office/drawing/2014/main" val="1823159075"/>
                    </a:ext>
                  </a:extLst>
                </a:gridCol>
                <a:gridCol w="535305">
                  <a:extLst>
                    <a:ext uri="{9D8B030D-6E8A-4147-A177-3AD203B41FA5}">
                      <a16:colId xmlns:a16="http://schemas.microsoft.com/office/drawing/2014/main" val="1777249268"/>
                    </a:ext>
                  </a:extLst>
                </a:gridCol>
                <a:gridCol w="839661">
                  <a:extLst>
                    <a:ext uri="{9D8B030D-6E8A-4147-A177-3AD203B41FA5}">
                      <a16:colId xmlns:a16="http://schemas.microsoft.com/office/drawing/2014/main" val="2677709317"/>
                    </a:ext>
                  </a:extLst>
                </a:gridCol>
                <a:gridCol w="535305">
                  <a:extLst>
                    <a:ext uri="{9D8B030D-6E8A-4147-A177-3AD203B41FA5}">
                      <a16:colId xmlns:a16="http://schemas.microsoft.com/office/drawing/2014/main" val="2530891320"/>
                    </a:ext>
                  </a:extLst>
                </a:gridCol>
                <a:gridCol w="839661">
                  <a:extLst>
                    <a:ext uri="{9D8B030D-6E8A-4147-A177-3AD203B41FA5}">
                      <a16:colId xmlns:a16="http://schemas.microsoft.com/office/drawing/2014/main" val="2303011466"/>
                    </a:ext>
                  </a:extLst>
                </a:gridCol>
                <a:gridCol w="535305">
                  <a:extLst>
                    <a:ext uri="{9D8B030D-6E8A-4147-A177-3AD203B41FA5}">
                      <a16:colId xmlns:a16="http://schemas.microsoft.com/office/drawing/2014/main" val="253806039"/>
                    </a:ext>
                  </a:extLst>
                </a:gridCol>
              </a:tblGrid>
              <a:tr h="299579">
                <a:tc>
                  <a:txBody>
                    <a:bodyPr/>
                    <a:lstStyle/>
                    <a:p>
                      <a:r>
                        <a:rPr lang="en-US" sz="1400" dirty="0">
                          <a:latin typeface="Calibri" panose="020F0502020204030204" pitchFamily="34" charset="0"/>
                          <a:cs typeface="Calibri" panose="020F0502020204030204" pitchFamily="34" charset="0"/>
                        </a:rPr>
                        <a:t>Project Name </a:t>
                      </a:r>
                    </a:p>
                  </a:txBody>
                  <a:tcPr/>
                </a:tc>
                <a:tc>
                  <a:txBody>
                    <a:bodyPr/>
                    <a:lstStyle/>
                    <a:p>
                      <a:r>
                        <a:rPr lang="en-US" sz="1400" dirty="0">
                          <a:latin typeface="Calibri" panose="020F0502020204030204" pitchFamily="34" charset="0"/>
                          <a:cs typeface="Calibri" panose="020F0502020204030204" pitchFamily="34" charset="0"/>
                        </a:rPr>
                        <a:t>Project Cost </a:t>
                      </a:r>
                    </a:p>
                  </a:txBody>
                  <a:tcPr/>
                </a:tc>
                <a:tc gridSpan="2">
                  <a:txBody>
                    <a:bodyPr/>
                    <a:lstStyle/>
                    <a:p>
                      <a:pPr algn="ctr"/>
                      <a:r>
                        <a:rPr lang="en-US" sz="1400" dirty="0">
                          <a:latin typeface="Calibri" panose="020F0502020204030204" pitchFamily="34" charset="0"/>
                          <a:cs typeface="Calibri" panose="020F0502020204030204" pitchFamily="34" charset="0"/>
                        </a:rPr>
                        <a:t>FY 2019-20</a:t>
                      </a:r>
                    </a:p>
                  </a:txBody>
                  <a:tcPr/>
                </a:tc>
                <a:tc hMerge="1">
                  <a:txBody>
                    <a:bodyPr/>
                    <a:lstStyle/>
                    <a:p>
                      <a:endParaRPr lang="en-US" sz="1600" dirty="0">
                        <a:latin typeface="Calibri" panose="020F0502020204030204" pitchFamily="34" charset="0"/>
                        <a:cs typeface="Calibri" panose="020F0502020204030204" pitchFamily="34" charset="0"/>
                      </a:endParaRPr>
                    </a:p>
                  </a:txBody>
                  <a:tcPr/>
                </a:tc>
                <a:tc gridSpan="2">
                  <a:txBody>
                    <a:bodyPr/>
                    <a:lstStyle/>
                    <a:p>
                      <a:pPr algn="ctr"/>
                      <a:r>
                        <a:rPr lang="en-US" sz="1400" dirty="0">
                          <a:latin typeface="Calibri" panose="020F0502020204030204" pitchFamily="34" charset="0"/>
                          <a:cs typeface="Calibri" panose="020F0502020204030204" pitchFamily="34" charset="0"/>
                        </a:rPr>
                        <a:t>FY 2018-19</a:t>
                      </a:r>
                    </a:p>
                  </a:txBody>
                  <a:tcPr/>
                </a:tc>
                <a:tc hMerge="1">
                  <a:txBody>
                    <a:bodyPr/>
                    <a:lstStyle/>
                    <a:p>
                      <a:endParaRPr lang="en-US" sz="1600" dirty="0">
                        <a:latin typeface="Calibri" panose="020F0502020204030204" pitchFamily="34" charset="0"/>
                        <a:cs typeface="Calibri" panose="020F0502020204030204" pitchFamily="34" charset="0"/>
                      </a:endParaRPr>
                    </a:p>
                  </a:txBody>
                  <a:tcPr/>
                </a:tc>
                <a:tc gridSpan="2">
                  <a:txBody>
                    <a:bodyPr/>
                    <a:lstStyle/>
                    <a:p>
                      <a:pPr algn="ctr"/>
                      <a:r>
                        <a:rPr lang="en-US" sz="1400" dirty="0">
                          <a:latin typeface="Calibri" panose="020F0502020204030204" pitchFamily="34" charset="0"/>
                          <a:cs typeface="Calibri" panose="020F0502020204030204" pitchFamily="34" charset="0"/>
                        </a:rPr>
                        <a:t>FY 2017-18</a:t>
                      </a:r>
                    </a:p>
                  </a:txBody>
                  <a:tcPr/>
                </a:tc>
                <a:tc hMerge="1">
                  <a:txBody>
                    <a:bodyPr/>
                    <a:lstStyle/>
                    <a:p>
                      <a:endParaRPr lang="en-US" sz="1600" dirty="0">
                        <a:latin typeface="Calibri" panose="020F0502020204030204" pitchFamily="34" charset="0"/>
                        <a:cs typeface="Calibri" panose="020F0502020204030204" pitchFamily="34" charset="0"/>
                      </a:endParaRPr>
                    </a:p>
                  </a:txBody>
                  <a:tcPr/>
                </a:tc>
                <a:tc gridSpan="2">
                  <a:txBody>
                    <a:bodyPr/>
                    <a:lstStyle/>
                    <a:p>
                      <a:pPr algn="ctr"/>
                      <a:r>
                        <a:rPr lang="en-US" sz="1400" dirty="0">
                          <a:latin typeface="Calibri" panose="020F0502020204030204" pitchFamily="34" charset="0"/>
                          <a:cs typeface="Calibri" panose="020F0502020204030204" pitchFamily="34" charset="0"/>
                        </a:rPr>
                        <a:t>FY 2016-17</a:t>
                      </a:r>
                    </a:p>
                  </a:txBody>
                  <a:tcPr/>
                </a:tc>
                <a:tc hMerge="1">
                  <a:txBody>
                    <a:bodyPr/>
                    <a:lstStyle/>
                    <a:p>
                      <a:endParaRPr lang="en-US" sz="1600" dirty="0">
                        <a:latin typeface="Calibri" panose="020F0502020204030204" pitchFamily="34" charset="0"/>
                        <a:cs typeface="Calibri" panose="020F0502020204030204" pitchFamily="34" charset="0"/>
                      </a:endParaRPr>
                    </a:p>
                  </a:txBody>
                  <a:tcPr/>
                </a:tc>
                <a:tc gridSpan="2">
                  <a:txBody>
                    <a:bodyPr/>
                    <a:lstStyle/>
                    <a:p>
                      <a:pPr algn="ctr"/>
                      <a:r>
                        <a:rPr lang="en-US" sz="1400" dirty="0">
                          <a:latin typeface="Calibri" panose="020F0502020204030204" pitchFamily="34" charset="0"/>
                          <a:cs typeface="Calibri" panose="020F0502020204030204" pitchFamily="34" charset="0"/>
                        </a:rPr>
                        <a:t>FY 2015-16</a:t>
                      </a:r>
                    </a:p>
                  </a:txBody>
                  <a:tcPr/>
                </a:tc>
                <a:tc hMerge="1">
                  <a:txBody>
                    <a:bodyPr/>
                    <a:lstStyle/>
                    <a:p>
                      <a:endParaRPr lang="en-US" sz="16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258274191"/>
                  </a:ext>
                </a:extLst>
              </a:tr>
              <a:tr h="402655">
                <a:tc>
                  <a:txBody>
                    <a:bodyPr/>
                    <a:lstStyle/>
                    <a:p>
                      <a:endParaRPr lang="en-US" sz="1600" dirty="0">
                        <a:latin typeface="Calibri" panose="020F0502020204030204" pitchFamily="34" charset="0"/>
                        <a:cs typeface="Calibri" panose="020F0502020204030204" pitchFamily="34" charset="0"/>
                      </a:endParaRPr>
                    </a:p>
                  </a:txBody>
                  <a:tcPr/>
                </a:tc>
                <a:tc>
                  <a:txBody>
                    <a:bodyPr/>
                    <a:lstStyle/>
                    <a:p>
                      <a:pPr algn="ctr"/>
                      <a:r>
                        <a:rPr lang="en-US" sz="1400" dirty="0">
                          <a:latin typeface="Calibri" panose="020F0502020204030204" pitchFamily="34" charset="0"/>
                          <a:cs typeface="Calibri" panose="020F0502020204030204" pitchFamily="34" charset="0"/>
                        </a:rPr>
                        <a:t>In Crore</a:t>
                      </a:r>
                    </a:p>
                  </a:txBody>
                  <a:tcPr/>
                </a:tc>
                <a:tc>
                  <a:txBody>
                    <a:bodyPr/>
                    <a:lstStyle/>
                    <a:p>
                      <a:pPr algn="ctr"/>
                      <a:r>
                        <a:rPr lang="en-US" sz="1400" dirty="0">
                          <a:latin typeface="Calibri" panose="020F0502020204030204" pitchFamily="34" charset="0"/>
                          <a:cs typeface="Calibri" panose="020F0502020204030204" pitchFamily="34" charset="0"/>
                        </a:rPr>
                        <a:t>Progress</a:t>
                      </a:r>
                    </a:p>
                  </a:txBody>
                  <a:tcPr/>
                </a:tc>
                <a:tc>
                  <a:txBody>
                    <a:bodyPr/>
                    <a:lstStyle/>
                    <a:p>
                      <a:pPr algn="ctr"/>
                      <a:r>
                        <a:rPr lang="en-US" sz="1400" dirty="0">
                          <a:latin typeface="Calibri" panose="020F0502020204030204" pitchFamily="34" charset="0"/>
                          <a:cs typeface="Calibri" panose="020F0502020204030204" pitchFamily="34" charset="0"/>
                        </a:rPr>
                        <a:t>Plan</a:t>
                      </a:r>
                    </a:p>
                  </a:txBody>
                  <a:tcPr/>
                </a:tc>
                <a:tc>
                  <a:txBody>
                    <a:bodyPr/>
                    <a:lstStyle/>
                    <a:p>
                      <a:pPr algn="ctr"/>
                      <a:r>
                        <a:rPr lang="en-US" sz="1400" dirty="0">
                          <a:latin typeface="Calibri" panose="020F0502020204030204" pitchFamily="34" charset="0"/>
                          <a:cs typeface="Calibri" panose="020F0502020204030204" pitchFamily="34" charset="0"/>
                        </a:rPr>
                        <a:t>Progress</a:t>
                      </a:r>
                    </a:p>
                  </a:txBody>
                  <a:tcPr/>
                </a:tc>
                <a:tc>
                  <a:txBody>
                    <a:bodyPr/>
                    <a:lstStyle/>
                    <a:p>
                      <a:pPr algn="ctr"/>
                      <a:r>
                        <a:rPr lang="en-US" sz="1400" dirty="0">
                          <a:latin typeface="Calibri" panose="020F0502020204030204" pitchFamily="34" charset="0"/>
                          <a:cs typeface="Calibri" panose="020F0502020204030204" pitchFamily="34" charset="0"/>
                        </a:rPr>
                        <a:t>Plan</a:t>
                      </a:r>
                    </a:p>
                  </a:txBody>
                  <a:tcPr/>
                </a:tc>
                <a:tc>
                  <a:txBody>
                    <a:bodyPr/>
                    <a:lstStyle/>
                    <a:p>
                      <a:pPr algn="ctr"/>
                      <a:r>
                        <a:rPr lang="en-US" sz="1400" dirty="0">
                          <a:latin typeface="Calibri" panose="020F0502020204030204" pitchFamily="34" charset="0"/>
                          <a:cs typeface="Calibri" panose="020F0502020204030204" pitchFamily="34" charset="0"/>
                        </a:rPr>
                        <a:t>Progress</a:t>
                      </a:r>
                    </a:p>
                  </a:txBody>
                  <a:tcPr/>
                </a:tc>
                <a:tc>
                  <a:txBody>
                    <a:bodyPr/>
                    <a:lstStyle/>
                    <a:p>
                      <a:pPr algn="ctr"/>
                      <a:r>
                        <a:rPr lang="en-US" sz="1400" dirty="0">
                          <a:latin typeface="Calibri" panose="020F0502020204030204" pitchFamily="34" charset="0"/>
                          <a:cs typeface="Calibri" panose="020F0502020204030204" pitchFamily="34" charset="0"/>
                        </a:rPr>
                        <a:t>Plan</a:t>
                      </a:r>
                    </a:p>
                  </a:txBody>
                  <a:tcPr/>
                </a:tc>
                <a:tc>
                  <a:txBody>
                    <a:bodyPr/>
                    <a:lstStyle/>
                    <a:p>
                      <a:pPr algn="ctr"/>
                      <a:r>
                        <a:rPr lang="en-US" sz="1400" dirty="0">
                          <a:latin typeface="Calibri" panose="020F0502020204030204" pitchFamily="34" charset="0"/>
                          <a:cs typeface="Calibri" panose="020F0502020204030204" pitchFamily="34" charset="0"/>
                        </a:rPr>
                        <a:t>Progress</a:t>
                      </a:r>
                    </a:p>
                  </a:txBody>
                  <a:tcPr/>
                </a:tc>
                <a:tc>
                  <a:txBody>
                    <a:bodyPr/>
                    <a:lstStyle/>
                    <a:p>
                      <a:pPr algn="ctr"/>
                      <a:r>
                        <a:rPr lang="en-US" sz="1400" dirty="0">
                          <a:latin typeface="Calibri" panose="020F0502020204030204" pitchFamily="34" charset="0"/>
                          <a:cs typeface="Calibri" panose="020F0502020204030204" pitchFamily="34" charset="0"/>
                        </a:rPr>
                        <a:t>Plan</a:t>
                      </a:r>
                    </a:p>
                  </a:txBody>
                  <a:tcPr/>
                </a:tc>
                <a:tc>
                  <a:txBody>
                    <a:bodyPr/>
                    <a:lstStyle/>
                    <a:p>
                      <a:pPr algn="ctr"/>
                      <a:r>
                        <a:rPr lang="en-US" sz="1400" dirty="0">
                          <a:latin typeface="Calibri" panose="020F0502020204030204" pitchFamily="34" charset="0"/>
                          <a:cs typeface="Calibri" panose="020F0502020204030204" pitchFamily="34" charset="0"/>
                        </a:rPr>
                        <a:t>Progress</a:t>
                      </a:r>
                    </a:p>
                  </a:txBody>
                  <a:tcPr/>
                </a:tc>
                <a:tc>
                  <a:txBody>
                    <a:bodyPr/>
                    <a:lstStyle/>
                    <a:p>
                      <a:pPr algn="ctr"/>
                      <a:r>
                        <a:rPr lang="en-US" sz="1400" dirty="0">
                          <a:latin typeface="Calibri" panose="020F0502020204030204" pitchFamily="34" charset="0"/>
                          <a:cs typeface="Calibri" panose="020F0502020204030204" pitchFamily="34" charset="0"/>
                        </a:rPr>
                        <a:t>Plan</a:t>
                      </a:r>
                    </a:p>
                  </a:txBody>
                  <a:tcPr/>
                </a:tc>
                <a:extLst>
                  <a:ext uri="{0D108BD9-81ED-4DB2-BD59-A6C34878D82A}">
                    <a16:rowId xmlns:a16="http://schemas.microsoft.com/office/drawing/2014/main" val="1661432490"/>
                  </a:ext>
                </a:extLst>
              </a:tr>
              <a:tr h="718990">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Cabling and Upgradation of sub-transmission and distribution system in Bolpur and Nabadwip towns </a:t>
                      </a:r>
                    </a:p>
                  </a:txBody>
                  <a:tcPr/>
                </a:tc>
                <a:tc>
                  <a:txBody>
                    <a:bodyPr/>
                    <a:lstStyle/>
                    <a:p>
                      <a:pPr algn="ctr"/>
                      <a:r>
                        <a:rPr lang="en-US" sz="1400" dirty="0">
                          <a:latin typeface="Calibri" panose="020F0502020204030204" pitchFamily="34" charset="0"/>
                          <a:cs typeface="Calibri" panose="020F0502020204030204" pitchFamily="34" charset="0"/>
                        </a:rPr>
                        <a:t>90.76</a:t>
                      </a:r>
                    </a:p>
                  </a:txBody>
                  <a:tcPr anchor="ctr"/>
                </a:tc>
                <a:tc>
                  <a:txBody>
                    <a:bodyPr/>
                    <a:lstStyle/>
                    <a:p>
                      <a:pPr algn="ctr" fontAlgn="ctr"/>
                      <a:r>
                        <a:rPr lang="en-US" sz="1400" b="0" i="0" u="none" strike="noStrike" dirty="0">
                          <a:solidFill>
                            <a:srgbClr val="000000"/>
                          </a:solidFill>
                          <a:effectLst/>
                          <a:latin typeface="Calibri" panose="020F0502020204030204" pitchFamily="34" charset="0"/>
                        </a:rPr>
                        <a:t>75.12</a:t>
                      </a:r>
                    </a:p>
                  </a:txBody>
                  <a:tcPr marL="6350" marR="6350" marT="6350" marB="0" anchor="ctr"/>
                </a:tc>
                <a:tc>
                  <a:txBody>
                    <a:bodyPr/>
                    <a:lstStyle/>
                    <a:p>
                      <a:pPr algn="ctr"/>
                      <a:endParaRPr lang="en-US" sz="1400" dirty="0">
                        <a:latin typeface="Calibri" panose="020F0502020204030204" pitchFamily="34" charset="0"/>
                        <a:cs typeface="Calibri" panose="020F0502020204030204" pitchFamily="34" charset="0"/>
                      </a:endParaRPr>
                    </a:p>
                  </a:txBody>
                  <a:tcPr anchor="ctr"/>
                </a:tc>
                <a:tc>
                  <a:txBody>
                    <a:bodyPr/>
                    <a:lstStyle/>
                    <a:p>
                      <a:pPr algn="ctr" fontAlgn="ctr"/>
                      <a:r>
                        <a:rPr lang="en-US" sz="1400" b="0" i="0" u="none" strike="noStrike" dirty="0">
                          <a:solidFill>
                            <a:srgbClr val="000000"/>
                          </a:solidFill>
                          <a:effectLst/>
                          <a:latin typeface="Calibri" panose="020F0502020204030204" pitchFamily="34" charset="0"/>
                        </a:rPr>
                        <a:t>68.71</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4.74</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68.56</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6.5</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61</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20</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9.13</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42.87</a:t>
                      </a:r>
                    </a:p>
                  </a:txBody>
                  <a:tcPr marL="6350" marR="6350" marT="6350" marB="0" anchor="ctr"/>
                </a:tc>
                <a:extLst>
                  <a:ext uri="{0D108BD9-81ED-4DB2-BD59-A6C34878D82A}">
                    <a16:rowId xmlns:a16="http://schemas.microsoft.com/office/drawing/2014/main" val="1868617370"/>
                  </a:ext>
                </a:extLst>
              </a:tr>
              <a:tr h="928695">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Replacement of 33 &amp; 11 KV OCB by VCB &amp; Capacity augmentation of 33/11 KV sub-station under Midnapur, Kolkata and Burdwan Zones </a:t>
                      </a:r>
                    </a:p>
                  </a:txBody>
                  <a:tcPr/>
                </a:tc>
                <a:tc>
                  <a:txBody>
                    <a:bodyPr/>
                    <a:lstStyle/>
                    <a:p>
                      <a:pPr algn="ctr"/>
                      <a:r>
                        <a:rPr lang="en-US" sz="1400" dirty="0">
                          <a:latin typeface="Calibri" panose="020F0502020204030204" pitchFamily="34" charset="0"/>
                          <a:cs typeface="Calibri" panose="020F0502020204030204" pitchFamily="34" charset="0"/>
                        </a:rPr>
                        <a:t>114.55</a:t>
                      </a:r>
                    </a:p>
                  </a:txBody>
                  <a:tcPr anchor="ctr"/>
                </a:tc>
                <a:tc>
                  <a:txBody>
                    <a:bodyPr/>
                    <a:lstStyle/>
                    <a:p>
                      <a:pPr algn="ctr" fontAlgn="ctr"/>
                      <a:r>
                        <a:rPr lang="en-US" sz="1400" b="0" i="0" u="none" strike="noStrike" dirty="0">
                          <a:solidFill>
                            <a:srgbClr val="000000"/>
                          </a:solidFill>
                          <a:effectLst/>
                          <a:latin typeface="Calibri" panose="020F0502020204030204" pitchFamily="34" charset="0"/>
                        </a:rPr>
                        <a:t>105.76</a:t>
                      </a:r>
                    </a:p>
                  </a:txBody>
                  <a:tcPr marL="6350" marR="6350" marT="6350" marB="0" anchor="ctr"/>
                </a:tc>
                <a:tc>
                  <a:txBody>
                    <a:bodyPr/>
                    <a:lstStyle/>
                    <a:p>
                      <a:pPr algn="ctr"/>
                      <a:r>
                        <a:rPr lang="en-US" sz="1400" dirty="0">
                          <a:latin typeface="Calibri" panose="020F0502020204030204" pitchFamily="34" charset="0"/>
                          <a:cs typeface="Calibri" panose="020F0502020204030204" pitchFamily="34" charset="0"/>
                        </a:rPr>
                        <a:t>5</a:t>
                      </a:r>
                    </a:p>
                  </a:txBody>
                  <a:tcPr anchor="ctr"/>
                </a:tc>
                <a:tc>
                  <a:txBody>
                    <a:bodyPr/>
                    <a:lstStyle/>
                    <a:p>
                      <a:pPr algn="ctr" fontAlgn="ctr"/>
                      <a:r>
                        <a:rPr lang="en-US" sz="1400" b="0" i="0" u="none" strike="noStrike" dirty="0">
                          <a:solidFill>
                            <a:srgbClr val="000000"/>
                          </a:solidFill>
                          <a:effectLst/>
                          <a:latin typeface="Calibri" panose="020F0502020204030204" pitchFamily="34" charset="0"/>
                        </a:rPr>
                        <a:t>105.26</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5.26</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103.8</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10.75</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95</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15</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6.57</a:t>
                      </a:r>
                    </a:p>
                  </a:txBody>
                  <a:tcPr marL="6350" marR="6350" marT="6350" marB="0" anchor="ctr"/>
                </a:tc>
                <a:tc>
                  <a:txBody>
                    <a:bodyPr/>
                    <a:lstStyle/>
                    <a:p>
                      <a:pPr algn="ctr" fontAlgn="ctr"/>
                      <a:r>
                        <a:rPr lang="en-US" sz="1400" b="0" i="0" u="none" strike="noStrike" dirty="0">
                          <a:solidFill>
                            <a:srgbClr val="000000"/>
                          </a:solidFill>
                          <a:effectLst/>
                          <a:latin typeface="Calibri" panose="020F0502020204030204" pitchFamily="34" charset="0"/>
                        </a:rPr>
                        <a:t>49.03</a:t>
                      </a:r>
                    </a:p>
                  </a:txBody>
                  <a:tcPr marL="6350" marR="6350" marT="6350" marB="0" anchor="ctr"/>
                </a:tc>
                <a:extLst>
                  <a:ext uri="{0D108BD9-81ED-4DB2-BD59-A6C34878D82A}">
                    <a16:rowId xmlns:a16="http://schemas.microsoft.com/office/drawing/2014/main" val="1864634045"/>
                  </a:ext>
                </a:extLst>
              </a:tr>
              <a:tr h="315605">
                <a:tc>
                  <a:txBody>
                    <a:bodyPr/>
                    <a:lstStyle/>
                    <a:p>
                      <a:r>
                        <a:rPr lang="en-US" sz="1400" b="1" i="0" u="none" strike="noStrike" kern="1200" baseline="0" dirty="0">
                          <a:solidFill>
                            <a:schemeClr val="dk1"/>
                          </a:solidFill>
                          <a:latin typeface="Calibri" panose="020F0502020204030204" pitchFamily="34" charset="0"/>
                          <a:ea typeface="+mn-ea"/>
                          <a:cs typeface="Calibri" panose="020F0502020204030204" pitchFamily="34" charset="0"/>
                        </a:rPr>
                        <a:t>Total (In Crore)</a:t>
                      </a:r>
                    </a:p>
                  </a:txBody>
                  <a:tcPr/>
                </a:tc>
                <a:tc>
                  <a:txBody>
                    <a:bodyPr/>
                    <a:lstStyle/>
                    <a:p>
                      <a:pPr algn="ctr"/>
                      <a:r>
                        <a:rPr lang="en-US" sz="1400" b="1" dirty="0">
                          <a:latin typeface="Calibri" panose="020F0502020204030204" pitchFamily="34" charset="0"/>
                          <a:cs typeface="Calibri" panose="020F0502020204030204" pitchFamily="34" charset="0"/>
                        </a:rPr>
                        <a:t>205.22</a:t>
                      </a:r>
                    </a:p>
                  </a:txBody>
                  <a:tcPr anchor="ctr"/>
                </a:tc>
                <a:tc>
                  <a:txBody>
                    <a:bodyPr/>
                    <a:lstStyle/>
                    <a:p>
                      <a:pPr algn="ctr" fontAlgn="ctr"/>
                      <a:r>
                        <a:rPr lang="en-US" sz="1400" b="1" i="0" u="none" strike="noStrike" dirty="0">
                          <a:solidFill>
                            <a:srgbClr val="000000"/>
                          </a:solidFill>
                          <a:effectLst/>
                          <a:latin typeface="Calibri" panose="020F0502020204030204" pitchFamily="34" charset="0"/>
                        </a:rPr>
                        <a:t>180.88</a:t>
                      </a:r>
                    </a:p>
                  </a:txBody>
                  <a:tcPr marL="6350" marR="6350" marT="6350" marB="0" anchor="ctr"/>
                </a:tc>
                <a:tc>
                  <a:txBody>
                    <a:bodyPr/>
                    <a:lstStyle/>
                    <a:p>
                      <a:pPr algn="ctr"/>
                      <a:r>
                        <a:rPr lang="en-US" sz="1400" b="1" dirty="0">
                          <a:latin typeface="Calibri" panose="020F0502020204030204" pitchFamily="34" charset="0"/>
                          <a:cs typeface="Calibri" panose="020F0502020204030204" pitchFamily="34" charset="0"/>
                        </a:rPr>
                        <a:t>5</a:t>
                      </a:r>
                    </a:p>
                  </a:txBody>
                  <a:tcPr anchor="ctr"/>
                </a:tc>
                <a:tc>
                  <a:txBody>
                    <a:bodyPr/>
                    <a:lstStyle/>
                    <a:p>
                      <a:pPr algn="ctr" fontAlgn="ctr"/>
                      <a:r>
                        <a:rPr lang="en-US" sz="1400" b="1" i="0" u="none" strike="noStrike" dirty="0">
                          <a:solidFill>
                            <a:srgbClr val="000000"/>
                          </a:solidFill>
                          <a:effectLst/>
                          <a:latin typeface="Calibri" panose="020F0502020204030204" pitchFamily="34" charset="0"/>
                        </a:rPr>
                        <a:t>173.97</a:t>
                      </a:r>
                    </a:p>
                  </a:txBody>
                  <a:tcPr marL="6350" marR="6350" marT="6350" marB="0" anchor="ctr"/>
                </a:tc>
                <a:tc>
                  <a:txBody>
                    <a:bodyPr/>
                    <a:lstStyle/>
                    <a:p>
                      <a:pPr algn="ctr" fontAlgn="ctr"/>
                      <a:r>
                        <a:rPr lang="en-US" sz="1400" b="1" i="0" u="none" strike="noStrike" dirty="0">
                          <a:solidFill>
                            <a:srgbClr val="000000"/>
                          </a:solidFill>
                          <a:effectLst/>
                          <a:latin typeface="Calibri" panose="020F0502020204030204" pitchFamily="34" charset="0"/>
                        </a:rPr>
                        <a:t>10</a:t>
                      </a:r>
                    </a:p>
                  </a:txBody>
                  <a:tcPr marL="6350" marR="6350" marT="6350" marB="0" anchor="ctr"/>
                </a:tc>
                <a:tc>
                  <a:txBody>
                    <a:bodyPr/>
                    <a:lstStyle/>
                    <a:p>
                      <a:pPr algn="ctr" fontAlgn="ctr"/>
                      <a:r>
                        <a:rPr lang="en-US" sz="1400" b="1" i="0" u="none" strike="noStrike" dirty="0">
                          <a:solidFill>
                            <a:srgbClr val="000000"/>
                          </a:solidFill>
                          <a:effectLst/>
                          <a:latin typeface="Calibri" panose="020F0502020204030204" pitchFamily="34" charset="0"/>
                        </a:rPr>
                        <a:t>172.36</a:t>
                      </a:r>
                    </a:p>
                  </a:txBody>
                  <a:tcPr marL="6350" marR="6350" marT="6350" marB="0" anchor="ctr"/>
                </a:tc>
                <a:tc>
                  <a:txBody>
                    <a:bodyPr/>
                    <a:lstStyle/>
                    <a:p>
                      <a:pPr algn="ctr" fontAlgn="ctr"/>
                      <a:r>
                        <a:rPr lang="en-US" sz="1400" b="1" i="0" u="none" strike="noStrike" dirty="0">
                          <a:solidFill>
                            <a:srgbClr val="000000"/>
                          </a:solidFill>
                          <a:effectLst/>
                          <a:latin typeface="Calibri" panose="020F0502020204030204" pitchFamily="34" charset="0"/>
                        </a:rPr>
                        <a:t>17.25</a:t>
                      </a:r>
                    </a:p>
                  </a:txBody>
                  <a:tcPr marL="6350" marR="6350" marT="6350" marB="0" anchor="ctr"/>
                </a:tc>
                <a:tc>
                  <a:txBody>
                    <a:bodyPr/>
                    <a:lstStyle/>
                    <a:p>
                      <a:pPr algn="ctr" fontAlgn="ctr"/>
                      <a:r>
                        <a:rPr lang="en-US" sz="1400" b="1" i="0" u="none" strike="noStrike" dirty="0">
                          <a:solidFill>
                            <a:srgbClr val="000000"/>
                          </a:solidFill>
                          <a:effectLst/>
                          <a:latin typeface="Calibri" panose="020F0502020204030204" pitchFamily="34" charset="0"/>
                        </a:rPr>
                        <a:t>156</a:t>
                      </a:r>
                    </a:p>
                  </a:txBody>
                  <a:tcPr marL="6350" marR="6350" marT="6350" marB="0" anchor="ctr"/>
                </a:tc>
                <a:tc>
                  <a:txBody>
                    <a:bodyPr/>
                    <a:lstStyle/>
                    <a:p>
                      <a:pPr algn="ctr" fontAlgn="ctr"/>
                      <a:r>
                        <a:rPr lang="en-US" sz="1400" b="1" i="0" u="none" strike="noStrike" dirty="0">
                          <a:solidFill>
                            <a:srgbClr val="000000"/>
                          </a:solidFill>
                          <a:effectLst/>
                          <a:latin typeface="Calibri" panose="020F0502020204030204" pitchFamily="34" charset="0"/>
                        </a:rPr>
                        <a:t>35</a:t>
                      </a:r>
                    </a:p>
                  </a:txBody>
                  <a:tcPr marL="6350" marR="6350" marT="6350" marB="0" anchor="ctr"/>
                </a:tc>
                <a:tc>
                  <a:txBody>
                    <a:bodyPr/>
                    <a:lstStyle/>
                    <a:p>
                      <a:pPr algn="ctr" fontAlgn="ctr"/>
                      <a:r>
                        <a:rPr lang="en-US" sz="1400" b="1" i="0" u="none" strike="noStrike" dirty="0">
                          <a:solidFill>
                            <a:srgbClr val="000000"/>
                          </a:solidFill>
                          <a:effectLst/>
                          <a:latin typeface="Calibri" panose="020F0502020204030204" pitchFamily="34" charset="0"/>
                        </a:rPr>
                        <a:t>15.7</a:t>
                      </a:r>
                    </a:p>
                  </a:txBody>
                  <a:tcPr marL="6350" marR="6350" marT="6350" marB="0" anchor="ctr"/>
                </a:tc>
                <a:tc>
                  <a:txBody>
                    <a:bodyPr/>
                    <a:lstStyle/>
                    <a:p>
                      <a:pPr algn="ctr" fontAlgn="ctr"/>
                      <a:r>
                        <a:rPr lang="en-US" sz="1400" b="1" i="0" u="none" strike="noStrike" dirty="0">
                          <a:solidFill>
                            <a:srgbClr val="000000"/>
                          </a:solidFill>
                          <a:effectLst/>
                          <a:latin typeface="Calibri" panose="020F0502020204030204" pitchFamily="34" charset="0"/>
                        </a:rPr>
                        <a:t>91.9</a:t>
                      </a:r>
                    </a:p>
                  </a:txBody>
                  <a:tcPr marL="6350" marR="6350" marT="6350" marB="0" anchor="ctr"/>
                </a:tc>
                <a:extLst>
                  <a:ext uri="{0D108BD9-81ED-4DB2-BD59-A6C34878D82A}">
                    <a16:rowId xmlns:a16="http://schemas.microsoft.com/office/drawing/2014/main" val="3646457393"/>
                  </a:ext>
                </a:extLst>
              </a:tr>
            </a:tbl>
          </a:graphicData>
        </a:graphic>
      </p:graphicFrame>
      <p:cxnSp>
        <p:nvCxnSpPr>
          <p:cNvPr id="17" name="Straight Connector 16">
            <a:extLst>
              <a:ext uri="{FF2B5EF4-FFF2-40B4-BE49-F238E27FC236}">
                <a16:creationId xmlns:a16="http://schemas.microsoft.com/office/drawing/2014/main" id="{60E51ED8-F724-4B8E-938A-BF00F24EF97F}"/>
              </a:ext>
            </a:extLst>
          </p:cNvPr>
          <p:cNvCxnSpPr>
            <a:cxnSpLocks/>
          </p:cNvCxnSpPr>
          <p:nvPr/>
        </p:nvCxnSpPr>
        <p:spPr>
          <a:xfrm flipV="1">
            <a:off x="595056" y="3481315"/>
            <a:ext cx="11082580" cy="1483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9395D10-BC8F-45CA-AEFA-A4F0F0E409C1}"/>
              </a:ext>
            </a:extLst>
          </p:cNvPr>
          <p:cNvSpPr txBox="1"/>
          <p:nvPr/>
        </p:nvSpPr>
        <p:spPr>
          <a:xfrm>
            <a:off x="4271781" y="3354528"/>
            <a:ext cx="3685676" cy="215444"/>
          </a:xfrm>
          <a:prstGeom prst="rect">
            <a:avLst/>
          </a:prstGeom>
          <a:solidFill>
            <a:schemeClr val="bg1"/>
          </a:solidFill>
        </p:spPr>
        <p:txBody>
          <a:bodyPr wrap="square" lIns="0" tIns="0" rIns="0" bIns="0" rtlCol="0">
            <a:spAutoFit/>
          </a:bodyPr>
          <a:lstStyle/>
          <a:p>
            <a:pPr algn="ctr"/>
            <a:r>
              <a:rPr lang="en-US" sz="1400" b="1" dirty="0">
                <a:latin typeface="Calibri" panose="020F0502020204030204" pitchFamily="34" charset="0"/>
                <a:cs typeface="Calibri" panose="020F0502020204030204" pitchFamily="34" charset="0"/>
              </a:rPr>
              <a:t>Financial  Progress as on 31.03.2020 (In Crore)</a:t>
            </a:r>
          </a:p>
        </p:txBody>
      </p:sp>
    </p:spTree>
    <p:extLst>
      <p:ext uri="{BB962C8B-B14F-4D97-AF65-F5344CB8AC3E}">
        <p14:creationId xmlns:p14="http://schemas.microsoft.com/office/powerpoint/2010/main" val="480746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3368"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5" y="1539318"/>
            <a:ext cx="9630230" cy="615553"/>
          </a:xfrm>
        </p:spPr>
        <p:txBody>
          <a:bodyPr anchor="ctr" anchorCtr="0">
            <a:spAutoFit/>
          </a:bodyPr>
          <a:lstStyle/>
          <a:p>
            <a:r>
              <a:rPr lang="en-US" sz="2000" i="0" dirty="0">
                <a:solidFill>
                  <a:schemeClr val="tx1"/>
                </a:solidFill>
              </a:rPr>
              <a:t>Progress Status of Rapid Electrification of Agricultural Pump Sets (REAPS) Scheme</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155144" y="1590786"/>
            <a:ext cx="949082" cy="748751"/>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400" b="1" i="0" u="none" strike="noStrike" kern="0" cap="none" spc="0" normalizeH="0" baseline="0" noProof="0" dirty="0">
                <a:ln>
                  <a:noFill/>
                </a:ln>
                <a:solidFill>
                  <a:prstClr val="white"/>
                </a:solidFill>
                <a:effectLst/>
                <a:uLnTx/>
                <a:uFillTx/>
              </a:rPr>
              <a:t>2D</a:t>
            </a:r>
          </a:p>
        </p:txBody>
      </p:sp>
      <p:cxnSp>
        <p:nvCxnSpPr>
          <p:cNvPr id="9" name="Straight Connector 8">
            <a:extLst>
              <a:ext uri="{FF2B5EF4-FFF2-40B4-BE49-F238E27FC236}">
                <a16:creationId xmlns:a16="http://schemas.microsoft.com/office/drawing/2014/main" id="{481FA6FD-48CB-4711-810A-6F15C82B8881}"/>
              </a:ext>
            </a:extLst>
          </p:cNvPr>
          <p:cNvCxnSpPr>
            <a:cxnSpLocks/>
          </p:cNvCxnSpPr>
          <p:nvPr/>
        </p:nvCxnSpPr>
        <p:spPr>
          <a:xfrm>
            <a:off x="4615544" y="3499011"/>
            <a:ext cx="0" cy="15955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1B748CB-0B57-4CA1-9B41-81AB5E897267}"/>
              </a:ext>
            </a:extLst>
          </p:cNvPr>
          <p:cNvSpPr txBox="1"/>
          <p:nvPr/>
        </p:nvSpPr>
        <p:spPr>
          <a:xfrm>
            <a:off x="4834999" y="3518190"/>
            <a:ext cx="6562335" cy="2000548"/>
          </a:xfrm>
          <a:prstGeom prst="rect">
            <a:avLst/>
          </a:prstGeom>
          <a:noFill/>
        </p:spPr>
        <p:txBody>
          <a:bodyPr wrap="square" lIns="0" tIns="0" rIns="0" bIns="0" rtlCol="0">
            <a:spAutoFit/>
          </a:bodyPr>
          <a:lstStyle/>
          <a:p>
            <a:pPr>
              <a:spcBef>
                <a:spcPts val="1800"/>
              </a:spcBef>
              <a:buSzPct val="100000"/>
            </a:pPr>
            <a:r>
              <a:rPr lang="en-IN" sz="1400" b="1" dirty="0"/>
              <a:t>Topics Covered</a:t>
            </a:r>
          </a:p>
          <a:p>
            <a:pPr marL="203200" indent="-203200">
              <a:spcBef>
                <a:spcPts val="1800"/>
              </a:spcBef>
              <a:buSzPct val="100000"/>
              <a:buFont typeface="Arial"/>
              <a:buChar char="•"/>
            </a:pPr>
            <a:r>
              <a:rPr lang="en-IN" sz="1400" dirty="0"/>
              <a:t>REAPS Phase I</a:t>
            </a:r>
          </a:p>
          <a:p>
            <a:pPr marL="203200" indent="-203200">
              <a:spcBef>
                <a:spcPts val="1800"/>
              </a:spcBef>
              <a:buSzPct val="100000"/>
              <a:buFont typeface="Arial"/>
              <a:buChar char="•"/>
            </a:pPr>
            <a:r>
              <a:rPr lang="en-IN" sz="1400" dirty="0"/>
              <a:t>REAPS Phase II</a:t>
            </a:r>
          </a:p>
          <a:p>
            <a:pPr marL="203200" indent="-203200">
              <a:spcBef>
                <a:spcPts val="1800"/>
              </a:spcBef>
              <a:buSzPct val="100000"/>
              <a:buFont typeface="Arial"/>
              <a:buChar char="•"/>
            </a:pPr>
            <a:r>
              <a:rPr lang="en-IN" sz="1400" dirty="0"/>
              <a:t>REAPS Phase III </a:t>
            </a:r>
          </a:p>
          <a:p>
            <a:pPr marL="203200" indent="-203200">
              <a:spcBef>
                <a:spcPts val="1800"/>
              </a:spcBef>
              <a:buSzPct val="100000"/>
              <a:buFont typeface="Arial"/>
              <a:buChar char="•"/>
            </a:pPr>
            <a:endParaRPr lang="en-IN" sz="1400" dirty="0"/>
          </a:p>
        </p:txBody>
      </p:sp>
      <p:grpSp>
        <p:nvGrpSpPr>
          <p:cNvPr id="14" name="Group 526">
            <a:extLst>
              <a:ext uri="{FF2B5EF4-FFF2-40B4-BE49-F238E27FC236}">
                <a16:creationId xmlns:a16="http://schemas.microsoft.com/office/drawing/2014/main" id="{5540E149-1F19-4064-9714-B21FD0705489}"/>
              </a:ext>
            </a:extLst>
          </p:cNvPr>
          <p:cNvGrpSpPr>
            <a:grpSpLocks noChangeAspect="1"/>
          </p:cNvGrpSpPr>
          <p:nvPr/>
        </p:nvGrpSpPr>
        <p:grpSpPr bwMode="auto">
          <a:xfrm>
            <a:off x="1104225" y="3008313"/>
            <a:ext cx="2345264" cy="2345264"/>
            <a:chOff x="3464" y="1974"/>
            <a:chExt cx="340" cy="340"/>
          </a:xfrm>
          <a:solidFill>
            <a:srgbClr val="9CAC00"/>
          </a:solidFill>
        </p:grpSpPr>
        <p:sp>
          <p:nvSpPr>
            <p:cNvPr id="15" name="Freeform 527">
              <a:extLst>
                <a:ext uri="{FF2B5EF4-FFF2-40B4-BE49-F238E27FC236}">
                  <a16:creationId xmlns:a16="http://schemas.microsoft.com/office/drawing/2014/main" id="{2261B12D-A407-4719-9125-F49F83DDB571}"/>
                </a:ext>
              </a:extLst>
            </p:cNvPr>
            <p:cNvSpPr>
              <a:spLocks noEditPoints="1"/>
            </p:cNvSpPr>
            <p:nvPr/>
          </p:nvSpPr>
          <p:spPr bwMode="auto">
            <a:xfrm>
              <a:off x="3464" y="197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528">
              <a:extLst>
                <a:ext uri="{FF2B5EF4-FFF2-40B4-BE49-F238E27FC236}">
                  <a16:creationId xmlns:a16="http://schemas.microsoft.com/office/drawing/2014/main" id="{4FB09AB9-A79B-434D-9DE7-187BE7279860}"/>
                </a:ext>
              </a:extLst>
            </p:cNvPr>
            <p:cNvSpPr>
              <a:spLocks noEditPoints="1"/>
            </p:cNvSpPr>
            <p:nvPr/>
          </p:nvSpPr>
          <p:spPr bwMode="auto">
            <a:xfrm>
              <a:off x="3541" y="2037"/>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37827685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181309"/>
            <a:ext cx="11188700" cy="368299"/>
          </a:xfrm>
        </p:spPr>
        <p:txBody>
          <a:bodyPr vert="horz"/>
          <a:lstStyle/>
          <a:p>
            <a:pPr algn="just"/>
            <a:r>
              <a:rPr lang="en-US" sz="1600" i="0" dirty="0">
                <a:solidFill>
                  <a:schemeClr val="tx1"/>
                </a:solidFill>
                <a:latin typeface="+mj-lt"/>
              </a:rPr>
              <a:t>REAPS Scheme – Phase I</a:t>
            </a:r>
          </a:p>
        </p:txBody>
      </p:sp>
      <p:graphicFrame>
        <p:nvGraphicFramePr>
          <p:cNvPr id="18" name="Table 17">
            <a:extLst>
              <a:ext uri="{FF2B5EF4-FFF2-40B4-BE49-F238E27FC236}">
                <a16:creationId xmlns:a16="http://schemas.microsoft.com/office/drawing/2014/main" id="{7CFBF37E-47A1-4DFE-8C1F-62E1A15DF59F}"/>
              </a:ext>
            </a:extLst>
          </p:cNvPr>
          <p:cNvGraphicFramePr>
            <a:graphicFrameLocks noGrp="1"/>
          </p:cNvGraphicFramePr>
          <p:nvPr>
            <p:extLst>
              <p:ext uri="{D42A27DB-BD31-4B8C-83A1-F6EECF244321}">
                <p14:modId xmlns:p14="http://schemas.microsoft.com/office/powerpoint/2010/main" val="1575270388"/>
              </p:ext>
            </p:extLst>
          </p:nvPr>
        </p:nvGraphicFramePr>
        <p:xfrm>
          <a:off x="409553" y="1300149"/>
          <a:ext cx="11449977" cy="1121857"/>
        </p:xfrm>
        <a:graphic>
          <a:graphicData uri="http://schemas.openxmlformats.org/drawingml/2006/table">
            <a:tbl>
              <a:tblPr firstRow="1" firstCol="1" bandRow="1">
                <a:tableStyleId>{073A0DAA-6AF3-43AB-8588-CEC1D06C72B9}</a:tableStyleId>
              </a:tblPr>
              <a:tblGrid>
                <a:gridCol w="466747">
                  <a:extLst>
                    <a:ext uri="{9D8B030D-6E8A-4147-A177-3AD203B41FA5}">
                      <a16:colId xmlns:a16="http://schemas.microsoft.com/office/drawing/2014/main" val="2112449097"/>
                    </a:ext>
                  </a:extLst>
                </a:gridCol>
                <a:gridCol w="7021810">
                  <a:extLst>
                    <a:ext uri="{9D8B030D-6E8A-4147-A177-3AD203B41FA5}">
                      <a16:colId xmlns:a16="http://schemas.microsoft.com/office/drawing/2014/main" val="186400240"/>
                    </a:ext>
                  </a:extLst>
                </a:gridCol>
                <a:gridCol w="3961420">
                  <a:extLst>
                    <a:ext uri="{9D8B030D-6E8A-4147-A177-3AD203B41FA5}">
                      <a16:colId xmlns:a16="http://schemas.microsoft.com/office/drawing/2014/main" val="3188660676"/>
                    </a:ext>
                  </a:extLst>
                </a:gridCol>
              </a:tblGrid>
              <a:tr h="0">
                <a:tc>
                  <a:txBody>
                    <a:bodyPr/>
                    <a:lstStyle/>
                    <a:p>
                      <a:pPr marL="48895" marR="0" indent="0" algn="l">
                        <a:lnSpc>
                          <a:spcPct val="107000"/>
                        </a:lnSpc>
                        <a:spcBef>
                          <a:spcPts val="0"/>
                        </a:spcBef>
                        <a:spcAft>
                          <a:spcPts val="0"/>
                        </a:spcAft>
                      </a:pPr>
                      <a:r>
                        <a:rPr lang="en-US" sz="1200" dirty="0">
                          <a:effectLst/>
                        </a:rPr>
                        <a:t>SL No.</a:t>
                      </a:r>
                      <a:endPar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130" marR="88900" marT="0" marB="0" anchor="ctr"/>
                </a:tc>
                <a:tc>
                  <a:txBody>
                    <a:bodyPr/>
                    <a:lstStyle/>
                    <a:p>
                      <a:pPr marL="54610" marR="0" indent="0" algn="l">
                        <a:lnSpc>
                          <a:spcPct val="107000"/>
                        </a:lnSpc>
                        <a:spcBef>
                          <a:spcPts val="0"/>
                        </a:spcBef>
                        <a:spcAft>
                          <a:spcPts val="0"/>
                        </a:spcAft>
                      </a:pPr>
                      <a:r>
                        <a:rPr lang="en-US" sz="1200" dirty="0">
                          <a:effectLst/>
                        </a:rPr>
                        <a:t>Description</a:t>
                      </a:r>
                      <a:endPar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130" marR="88900" marT="0" marB="0" anchor="ctr"/>
                </a:tc>
                <a:tc>
                  <a:txBody>
                    <a:bodyPr/>
                    <a:lstStyle/>
                    <a:p>
                      <a:pPr marL="54610" marR="0" indent="0" algn="ctr">
                        <a:lnSpc>
                          <a:spcPct val="107000"/>
                        </a:lnSpc>
                        <a:spcBef>
                          <a:spcPts val="0"/>
                        </a:spcBef>
                        <a:spcAft>
                          <a:spcPts val="0"/>
                        </a:spcAft>
                      </a:pPr>
                      <a:r>
                        <a:rPr lang="en-US" sz="1200" dirty="0">
                          <a:solidFill>
                            <a:schemeClr val="bg1"/>
                          </a:solidFill>
                          <a:effectLst/>
                        </a:rPr>
                        <a:t>Total Cost </a:t>
                      </a:r>
                    </a:p>
                    <a:p>
                      <a:pPr marL="54610" marR="0" indent="0" algn="ctr">
                        <a:lnSpc>
                          <a:spcPct val="107000"/>
                        </a:lnSpc>
                        <a:spcBef>
                          <a:spcPts val="0"/>
                        </a:spcBef>
                        <a:spcAft>
                          <a:spcPts val="0"/>
                        </a:spcAft>
                      </a:pPr>
                      <a:r>
                        <a:rPr lang="en-US" sz="1200" dirty="0">
                          <a:solidFill>
                            <a:schemeClr val="bg1"/>
                          </a:solidFill>
                          <a:effectLst/>
                        </a:rPr>
                        <a:t>(In Rs. Crores)</a:t>
                      </a:r>
                      <a:endParaRPr lang="en-US" sz="12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24130" marR="88900" marT="0" marB="0" anchor="ctr"/>
                </a:tc>
                <a:extLst>
                  <a:ext uri="{0D108BD9-81ED-4DB2-BD59-A6C34878D82A}">
                    <a16:rowId xmlns:a16="http://schemas.microsoft.com/office/drawing/2014/main" val="2143876785"/>
                  </a:ext>
                </a:extLst>
              </a:tr>
              <a:tr h="0">
                <a:tc>
                  <a:txBody>
                    <a:bodyPr/>
                    <a:lstStyle/>
                    <a:p>
                      <a:pPr marL="52070" marR="0" indent="0" algn="ctr">
                        <a:lnSpc>
                          <a:spcPct val="107000"/>
                        </a:lnSpc>
                        <a:spcBef>
                          <a:spcPts val="0"/>
                        </a:spcBef>
                        <a:spcAft>
                          <a:spcPts val="0"/>
                        </a:spcAft>
                      </a:pPr>
                      <a:r>
                        <a:rPr lang="en-US" sz="1200">
                          <a:effectLst/>
                        </a:rPr>
                        <a:t>1</a:t>
                      </a:r>
                      <a:endParaRPr lang="en-US" sz="120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130" marR="88900" marT="0" marB="0" anchor="ctr"/>
                </a:tc>
                <a:tc>
                  <a:txBody>
                    <a:bodyPr/>
                    <a:lstStyle/>
                    <a:p>
                      <a:pPr marL="48895" marR="0" indent="0" algn="l">
                        <a:lnSpc>
                          <a:spcPct val="107000"/>
                        </a:lnSpc>
                        <a:spcBef>
                          <a:spcPts val="0"/>
                        </a:spcBef>
                        <a:spcAft>
                          <a:spcPts val="0"/>
                        </a:spcAft>
                      </a:pPr>
                      <a:r>
                        <a:rPr lang="en-US" sz="1200" dirty="0">
                          <a:effectLst/>
                        </a:rPr>
                        <a:t>Consumers' contribution</a:t>
                      </a:r>
                      <a:endPar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130" marR="88900" marT="0" marB="0" anchor="ctr"/>
                </a:tc>
                <a:tc>
                  <a:txBody>
                    <a:bodyPr/>
                    <a:lstStyle/>
                    <a:p>
                      <a:pPr marL="231775" marR="0" indent="0" algn="ctr">
                        <a:lnSpc>
                          <a:spcPct val="107000"/>
                        </a:lnSpc>
                        <a:spcBef>
                          <a:spcPts val="0"/>
                        </a:spcBef>
                        <a:spcAft>
                          <a:spcPts val="0"/>
                        </a:spcAft>
                      </a:pPr>
                      <a:r>
                        <a:rPr lang="en-US" sz="1200" dirty="0">
                          <a:effectLst/>
                        </a:rPr>
                        <a:t>21.72</a:t>
                      </a:r>
                      <a:endPar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130" marR="88900" marT="0" marB="0" anchor="ctr"/>
                </a:tc>
                <a:extLst>
                  <a:ext uri="{0D108BD9-81ED-4DB2-BD59-A6C34878D82A}">
                    <a16:rowId xmlns:a16="http://schemas.microsoft.com/office/drawing/2014/main" val="2264145795"/>
                  </a:ext>
                </a:extLst>
              </a:tr>
              <a:tr h="0">
                <a:tc>
                  <a:txBody>
                    <a:bodyPr/>
                    <a:lstStyle/>
                    <a:p>
                      <a:pPr marL="58420" marR="0" indent="0" algn="ctr">
                        <a:lnSpc>
                          <a:spcPct val="107000"/>
                        </a:lnSpc>
                        <a:spcBef>
                          <a:spcPts val="0"/>
                        </a:spcBef>
                        <a:spcAft>
                          <a:spcPts val="0"/>
                        </a:spcAft>
                      </a:pPr>
                      <a:r>
                        <a:rPr lang="en-US" sz="1200">
                          <a:effectLst/>
                        </a:rPr>
                        <a:t>2</a:t>
                      </a:r>
                      <a:endParaRPr lang="en-US" sz="120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130" marR="88900" marT="0" marB="0" anchor="ctr"/>
                </a:tc>
                <a:tc>
                  <a:txBody>
                    <a:bodyPr/>
                    <a:lstStyle/>
                    <a:p>
                      <a:pPr marL="42545" marR="0" indent="0" algn="l">
                        <a:lnSpc>
                          <a:spcPct val="107000"/>
                        </a:lnSpc>
                        <a:spcBef>
                          <a:spcPts val="0"/>
                        </a:spcBef>
                        <a:spcAft>
                          <a:spcPts val="0"/>
                        </a:spcAft>
                      </a:pPr>
                      <a:r>
                        <a:rPr lang="en-US" sz="1200" dirty="0">
                          <a:effectLst/>
                        </a:rPr>
                        <a:t>Assistance from GoWB</a:t>
                      </a:r>
                      <a:endPar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130" marR="88900" marT="0" marB="0" anchor="ctr"/>
                </a:tc>
                <a:tc>
                  <a:txBody>
                    <a:bodyPr/>
                    <a:lstStyle/>
                    <a:p>
                      <a:pPr marL="189230" marR="0" indent="0" algn="ctr">
                        <a:lnSpc>
                          <a:spcPct val="107000"/>
                        </a:lnSpc>
                        <a:spcBef>
                          <a:spcPts val="0"/>
                        </a:spcBef>
                        <a:spcAft>
                          <a:spcPts val="0"/>
                        </a:spcAft>
                      </a:pPr>
                      <a:r>
                        <a:rPr lang="en-US" sz="1200" dirty="0">
                          <a:effectLst/>
                        </a:rPr>
                        <a:t>407.33</a:t>
                      </a:r>
                      <a:endPar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130" marR="88900" marT="0" marB="0" anchor="ctr"/>
                </a:tc>
                <a:extLst>
                  <a:ext uri="{0D108BD9-81ED-4DB2-BD59-A6C34878D82A}">
                    <a16:rowId xmlns:a16="http://schemas.microsoft.com/office/drawing/2014/main" val="1054975833"/>
                  </a:ext>
                </a:extLst>
              </a:tr>
              <a:tr h="0">
                <a:tc>
                  <a:txBody>
                    <a:bodyPr/>
                    <a:lstStyle/>
                    <a:p>
                      <a:pPr marL="61595" marR="0" indent="0" algn="ctr">
                        <a:lnSpc>
                          <a:spcPct val="107000"/>
                        </a:lnSpc>
                        <a:spcBef>
                          <a:spcPts val="0"/>
                        </a:spcBef>
                        <a:spcAft>
                          <a:spcPts val="0"/>
                        </a:spcAft>
                      </a:pPr>
                      <a:r>
                        <a:rPr lang="en-US" sz="1200">
                          <a:effectLst/>
                        </a:rPr>
                        <a:t>3</a:t>
                      </a:r>
                      <a:endParaRPr lang="en-US" sz="120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130" marR="88900" marT="0" marB="0" anchor="ctr"/>
                </a:tc>
                <a:tc>
                  <a:txBody>
                    <a:bodyPr/>
                    <a:lstStyle/>
                    <a:p>
                      <a:pPr marL="52070" marR="0" indent="0" algn="l">
                        <a:lnSpc>
                          <a:spcPct val="107000"/>
                        </a:lnSpc>
                        <a:spcBef>
                          <a:spcPts val="0"/>
                        </a:spcBef>
                        <a:spcAft>
                          <a:spcPts val="0"/>
                        </a:spcAft>
                      </a:pPr>
                      <a:r>
                        <a:rPr lang="en-US" sz="1200" dirty="0">
                          <a:effectLst/>
                        </a:rPr>
                        <a:t>From Own fund/ Loan from Financial Institution</a:t>
                      </a:r>
                      <a:endPar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130" marR="88900" marT="0" marB="0" anchor="ctr"/>
                </a:tc>
                <a:tc>
                  <a:txBody>
                    <a:bodyPr/>
                    <a:lstStyle/>
                    <a:p>
                      <a:pPr marL="194945" marR="0" indent="0" algn="ctr">
                        <a:lnSpc>
                          <a:spcPct val="107000"/>
                        </a:lnSpc>
                        <a:spcBef>
                          <a:spcPts val="0"/>
                        </a:spcBef>
                        <a:spcAft>
                          <a:spcPts val="0"/>
                        </a:spcAft>
                      </a:pPr>
                      <a:r>
                        <a:rPr lang="en-US" sz="1200" dirty="0">
                          <a:effectLst/>
                        </a:rPr>
                        <a:t>712.46</a:t>
                      </a:r>
                      <a:endPar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130" marR="88900" marT="0" marB="0" anchor="ctr"/>
                </a:tc>
                <a:extLst>
                  <a:ext uri="{0D108BD9-81ED-4DB2-BD59-A6C34878D82A}">
                    <a16:rowId xmlns:a16="http://schemas.microsoft.com/office/drawing/2014/main" val="3280021260"/>
                  </a:ext>
                </a:extLst>
              </a:tr>
              <a:tr h="0">
                <a:tc>
                  <a:txBody>
                    <a:bodyPr/>
                    <a:lstStyle/>
                    <a:p>
                      <a:pPr marL="52070" marR="0" indent="0" algn="ctr">
                        <a:lnSpc>
                          <a:spcPct val="107000"/>
                        </a:lnSpc>
                        <a:spcBef>
                          <a:spcPts val="0"/>
                        </a:spcBef>
                        <a:spcAft>
                          <a:spcPts val="0"/>
                        </a:spcAft>
                      </a:pPr>
                      <a:r>
                        <a:rPr lang="en-US" sz="1200">
                          <a:effectLst/>
                        </a:rPr>
                        <a:t>4</a:t>
                      </a:r>
                      <a:endParaRPr lang="en-US" sz="120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130" marR="88900" marT="0" marB="0" anchor="ctr"/>
                </a:tc>
                <a:tc>
                  <a:txBody>
                    <a:bodyPr/>
                    <a:lstStyle/>
                    <a:p>
                      <a:pPr marL="42545" marR="0" indent="0" algn="l">
                        <a:lnSpc>
                          <a:spcPct val="107000"/>
                        </a:lnSpc>
                        <a:spcBef>
                          <a:spcPts val="0"/>
                        </a:spcBef>
                        <a:spcAft>
                          <a:spcPts val="0"/>
                        </a:spcAft>
                      </a:pPr>
                      <a:r>
                        <a:rPr lang="en-US" sz="1200" b="1" dirty="0">
                          <a:effectLst/>
                        </a:rPr>
                        <a:t>Total Estimated Project Cost for effecting STW connection</a:t>
                      </a:r>
                      <a:endParaRPr lang="en-US" sz="1200" b="1"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130" marR="88900" marT="0" marB="0" anchor="ctr"/>
                </a:tc>
                <a:tc>
                  <a:txBody>
                    <a:bodyPr/>
                    <a:lstStyle/>
                    <a:p>
                      <a:pPr marL="164465" marR="0" indent="0" algn="ctr">
                        <a:lnSpc>
                          <a:spcPct val="107000"/>
                        </a:lnSpc>
                        <a:spcBef>
                          <a:spcPts val="0"/>
                        </a:spcBef>
                        <a:spcAft>
                          <a:spcPts val="0"/>
                        </a:spcAft>
                      </a:pPr>
                      <a:r>
                        <a:rPr lang="en-US" sz="1200" b="1" dirty="0">
                          <a:effectLst/>
                        </a:rPr>
                        <a:t>1141.51</a:t>
                      </a:r>
                      <a:endParaRPr lang="en-US" sz="1200" b="1"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130" marR="88900" marT="0" marB="0" anchor="ctr"/>
                </a:tc>
                <a:extLst>
                  <a:ext uri="{0D108BD9-81ED-4DB2-BD59-A6C34878D82A}">
                    <a16:rowId xmlns:a16="http://schemas.microsoft.com/office/drawing/2014/main" val="666562325"/>
                  </a:ext>
                </a:extLst>
              </a:tr>
            </a:tbl>
          </a:graphicData>
        </a:graphic>
      </p:graphicFrame>
      <p:sp>
        <p:nvSpPr>
          <p:cNvPr id="19" name="TextBox 18">
            <a:extLst>
              <a:ext uri="{FF2B5EF4-FFF2-40B4-BE49-F238E27FC236}">
                <a16:creationId xmlns:a16="http://schemas.microsoft.com/office/drawing/2014/main" id="{C215DAAC-E511-4DAC-AB3F-19D440A6EBB9}"/>
              </a:ext>
            </a:extLst>
          </p:cNvPr>
          <p:cNvSpPr txBox="1"/>
          <p:nvPr/>
        </p:nvSpPr>
        <p:spPr>
          <a:xfrm>
            <a:off x="409553" y="603118"/>
            <a:ext cx="11449977" cy="589585"/>
          </a:xfrm>
          <a:prstGeom prst="rect">
            <a:avLst/>
          </a:prstGeom>
          <a:solidFill>
            <a:schemeClr val="accent2">
              <a:lumMod val="20000"/>
              <a:lumOff val="80000"/>
            </a:schemeClr>
          </a:solidFill>
        </p:spPr>
        <p:txBody>
          <a:bodyPr wrap="square">
            <a:spAutoFit/>
          </a:bodyPr>
          <a:lstStyle/>
          <a:p>
            <a:pPr marL="0" marR="39370" lvl="1" algn="just" fontAlgn="base">
              <a:lnSpc>
                <a:spcPct val="122000"/>
              </a:lnSpc>
              <a:spcBef>
                <a:spcPts val="0"/>
              </a:spcBef>
              <a:spcAft>
                <a:spcPts val="25"/>
              </a:spcAft>
              <a:buClr>
                <a:srgbClr val="000000"/>
              </a:buClr>
              <a:buSzPts val="1300"/>
            </a:pPr>
            <a:r>
              <a:rPr lang="en-US" sz="1400" i="1" u="none" strike="noStrike" dirty="0">
                <a:solidFill>
                  <a:srgbClr val="000000"/>
                </a:solidFill>
                <a:effectLst/>
                <a:uFill>
                  <a:solidFill>
                    <a:srgbClr val="000000"/>
                  </a:solidFill>
                </a:uFill>
                <a:latin typeface="+mj-lt"/>
                <a:ea typeface="Calibri" panose="020F0502020204030204" pitchFamily="34" charset="0"/>
                <a:cs typeface="Calibri" panose="020F0502020204030204" pitchFamily="34" charset="0"/>
              </a:rPr>
              <a:t>Total estimated financial involvement of Rapid Electrification of Agricultural Pump Sets (REAPS) in West Bengal including consumers under OTA scheme of </a:t>
            </a:r>
            <a:r>
              <a:rPr lang="en-US" sz="1400" i="1" dirty="0" err="1">
                <a:solidFill>
                  <a:srgbClr val="000000"/>
                </a:solidFill>
                <a:effectLst/>
                <a:latin typeface="+mj-lt"/>
                <a:ea typeface="Calibri" panose="020F0502020204030204" pitchFamily="34" charset="0"/>
              </a:rPr>
              <a:t>GoWB</a:t>
            </a:r>
            <a:r>
              <a:rPr lang="en-US" sz="1400" i="1" dirty="0">
                <a:solidFill>
                  <a:srgbClr val="000000"/>
                </a:solidFill>
                <a:effectLst/>
                <a:latin typeface="+mj-lt"/>
                <a:ea typeface="Calibri" panose="020F0502020204030204" pitchFamily="34" charset="0"/>
              </a:rPr>
              <a:t> was Rs. 1141.51 Crore with the following funding arrangement</a:t>
            </a:r>
          </a:p>
        </p:txBody>
      </p:sp>
      <p:graphicFrame>
        <p:nvGraphicFramePr>
          <p:cNvPr id="20" name="Table 19">
            <a:extLst>
              <a:ext uri="{FF2B5EF4-FFF2-40B4-BE49-F238E27FC236}">
                <a16:creationId xmlns:a16="http://schemas.microsoft.com/office/drawing/2014/main" id="{9832CC58-FBC8-4814-86A2-EA3B868995F2}"/>
              </a:ext>
            </a:extLst>
          </p:cNvPr>
          <p:cNvGraphicFramePr>
            <a:graphicFrameLocks noGrp="1"/>
          </p:cNvGraphicFramePr>
          <p:nvPr>
            <p:extLst>
              <p:ext uri="{D42A27DB-BD31-4B8C-83A1-F6EECF244321}">
                <p14:modId xmlns:p14="http://schemas.microsoft.com/office/powerpoint/2010/main" val="3086087263"/>
              </p:ext>
            </p:extLst>
          </p:nvPr>
        </p:nvGraphicFramePr>
        <p:xfrm>
          <a:off x="409553" y="3066793"/>
          <a:ext cx="7441325" cy="3254629"/>
        </p:xfrm>
        <a:graphic>
          <a:graphicData uri="http://schemas.openxmlformats.org/drawingml/2006/table">
            <a:tbl>
              <a:tblPr firstRow="1" firstCol="1" bandRow="1">
                <a:tableStyleId>{F5AB1C69-6EDB-4FF4-983F-18BD219EF322}</a:tableStyleId>
              </a:tblPr>
              <a:tblGrid>
                <a:gridCol w="634054">
                  <a:extLst>
                    <a:ext uri="{9D8B030D-6E8A-4147-A177-3AD203B41FA5}">
                      <a16:colId xmlns:a16="http://schemas.microsoft.com/office/drawing/2014/main" val="3042588810"/>
                    </a:ext>
                  </a:extLst>
                </a:gridCol>
                <a:gridCol w="4754643">
                  <a:extLst>
                    <a:ext uri="{9D8B030D-6E8A-4147-A177-3AD203B41FA5}">
                      <a16:colId xmlns:a16="http://schemas.microsoft.com/office/drawing/2014/main" val="602848756"/>
                    </a:ext>
                  </a:extLst>
                </a:gridCol>
                <a:gridCol w="1129509">
                  <a:extLst>
                    <a:ext uri="{9D8B030D-6E8A-4147-A177-3AD203B41FA5}">
                      <a16:colId xmlns:a16="http://schemas.microsoft.com/office/drawing/2014/main" val="3563104943"/>
                    </a:ext>
                  </a:extLst>
                </a:gridCol>
                <a:gridCol w="923119">
                  <a:extLst>
                    <a:ext uri="{9D8B030D-6E8A-4147-A177-3AD203B41FA5}">
                      <a16:colId xmlns:a16="http://schemas.microsoft.com/office/drawing/2014/main" val="2094523533"/>
                    </a:ext>
                  </a:extLst>
                </a:gridCol>
              </a:tblGrid>
              <a:tr h="78784">
                <a:tc>
                  <a:txBody>
                    <a:bodyPr/>
                    <a:lstStyle/>
                    <a:p>
                      <a:pPr marL="0" marR="36195" indent="0" algn="ctr">
                        <a:lnSpc>
                          <a:spcPct val="107000"/>
                        </a:lnSpc>
                        <a:spcBef>
                          <a:spcPts val="0"/>
                        </a:spcBef>
                        <a:spcAft>
                          <a:spcPts val="0"/>
                        </a:spcAft>
                      </a:pPr>
                      <a:r>
                        <a:rPr lang="en-US" sz="1200" dirty="0">
                          <a:effectLst/>
                        </a:rPr>
                        <a:t>S.No</a:t>
                      </a:r>
                      <a:endParaRPr lang="en-US" sz="1200" dirty="0">
                        <a:effectLst/>
                        <a:latin typeface="+mj-lt"/>
                        <a:cs typeface="Calibri" panose="020F0502020204030204" pitchFamily="34" charset="0"/>
                      </a:endParaRPr>
                    </a:p>
                  </a:txBody>
                  <a:tcPr marL="68580" marR="16510" marT="15240" marB="15240" anchor="ctr"/>
                </a:tc>
                <a:tc>
                  <a:txBody>
                    <a:bodyPr/>
                    <a:lstStyle/>
                    <a:p>
                      <a:pPr marL="0" marR="27305" indent="0" algn="ctr">
                        <a:lnSpc>
                          <a:spcPct val="107000"/>
                        </a:lnSpc>
                        <a:spcBef>
                          <a:spcPts val="0"/>
                        </a:spcBef>
                        <a:spcAft>
                          <a:spcPts val="0"/>
                        </a:spcAft>
                      </a:pPr>
                      <a:r>
                        <a:rPr lang="en-US" sz="1200" dirty="0">
                          <a:effectLst/>
                        </a:rPr>
                        <a:t>Description of Work</a:t>
                      </a:r>
                      <a:endParaRPr lang="en-US" sz="1200" dirty="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tc>
                  <a:txBody>
                    <a:bodyPr/>
                    <a:lstStyle/>
                    <a:p>
                      <a:pPr algn="ctr"/>
                      <a:r>
                        <a:rPr lang="en-US" sz="1200" dirty="0">
                          <a:effectLst/>
                        </a:rPr>
                        <a:t>Quantity</a:t>
                      </a:r>
                      <a:endParaRPr lang="en-US" dirty="0">
                        <a:latin typeface="+mj-lt"/>
                      </a:endParaRPr>
                    </a:p>
                  </a:txBody>
                  <a:tcPr marL="68580" marR="16510" marT="15240" marB="15240" anchor="ctr"/>
                </a:tc>
                <a:tc>
                  <a:txBody>
                    <a:bodyPr/>
                    <a:lstStyle/>
                    <a:p>
                      <a:pPr marL="64135" marR="0" indent="27305" algn="ctr">
                        <a:lnSpc>
                          <a:spcPct val="107000"/>
                        </a:lnSpc>
                        <a:spcBef>
                          <a:spcPts val="0"/>
                        </a:spcBef>
                        <a:spcAft>
                          <a:spcPts val="0"/>
                        </a:spcAft>
                      </a:pPr>
                      <a:r>
                        <a:rPr lang="en-US" sz="1200">
                          <a:effectLst/>
                        </a:rPr>
                        <a:t>Total Cost in Rs Crore</a:t>
                      </a:r>
                      <a:endParaRPr lang="en-US" sz="120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extLst>
                  <a:ext uri="{0D108BD9-81ED-4DB2-BD59-A6C34878D82A}">
                    <a16:rowId xmlns:a16="http://schemas.microsoft.com/office/drawing/2014/main" val="771948262"/>
                  </a:ext>
                </a:extLst>
              </a:tr>
              <a:tr h="0">
                <a:tc>
                  <a:txBody>
                    <a:bodyPr/>
                    <a:lstStyle/>
                    <a:p>
                      <a:pPr marL="0" marR="45085" indent="0" algn="ctr">
                        <a:lnSpc>
                          <a:spcPct val="107000"/>
                        </a:lnSpc>
                        <a:spcBef>
                          <a:spcPts val="0"/>
                        </a:spcBef>
                        <a:spcAft>
                          <a:spcPts val="0"/>
                        </a:spcAft>
                      </a:pPr>
                      <a:r>
                        <a:rPr lang="en-US" sz="1200">
                          <a:effectLst/>
                        </a:rPr>
                        <a:t>1</a:t>
                      </a:r>
                      <a:endParaRPr lang="en-US" sz="120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tc>
                  <a:txBody>
                    <a:bodyPr/>
                    <a:lstStyle/>
                    <a:p>
                      <a:pPr marL="15240" marR="0" indent="0" algn="l">
                        <a:lnSpc>
                          <a:spcPct val="107000"/>
                        </a:lnSpc>
                        <a:spcBef>
                          <a:spcPts val="0"/>
                        </a:spcBef>
                        <a:spcAft>
                          <a:spcPts val="0"/>
                        </a:spcAft>
                      </a:pPr>
                      <a:r>
                        <a:rPr lang="en-US" sz="1200" dirty="0">
                          <a:effectLst/>
                        </a:rPr>
                        <a:t>11 kV solid T-off arrangement</a:t>
                      </a:r>
                      <a:endParaRPr lang="en-US" sz="1200" dirty="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tc>
                  <a:txBody>
                    <a:bodyPr/>
                    <a:lstStyle/>
                    <a:p>
                      <a:pPr algn="ctr"/>
                      <a:r>
                        <a:rPr lang="en-US" sz="1200">
                          <a:effectLst/>
                        </a:rPr>
                        <a:t>16923 Nos</a:t>
                      </a:r>
                      <a:endParaRPr lang="en-US">
                        <a:latin typeface="+mj-lt"/>
                      </a:endParaRPr>
                    </a:p>
                  </a:txBody>
                  <a:tcPr marL="68580" marR="16510" marT="15240" marB="15240" anchor="ctr"/>
                </a:tc>
                <a:tc>
                  <a:txBody>
                    <a:bodyPr/>
                    <a:lstStyle/>
                    <a:p>
                      <a:pPr marL="0" marR="0" indent="0" algn="ctr">
                        <a:lnSpc>
                          <a:spcPct val="107000"/>
                        </a:lnSpc>
                        <a:spcBef>
                          <a:spcPts val="0"/>
                        </a:spcBef>
                        <a:spcAft>
                          <a:spcPts val="0"/>
                        </a:spcAft>
                      </a:pPr>
                      <a:r>
                        <a:rPr lang="en-US" sz="1200">
                          <a:effectLst/>
                        </a:rPr>
                        <a:t>30.38</a:t>
                      </a:r>
                      <a:endParaRPr lang="en-US" sz="120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extLst>
                  <a:ext uri="{0D108BD9-81ED-4DB2-BD59-A6C34878D82A}">
                    <a16:rowId xmlns:a16="http://schemas.microsoft.com/office/drawing/2014/main" val="3463275482"/>
                  </a:ext>
                </a:extLst>
              </a:tr>
              <a:tr h="78784">
                <a:tc>
                  <a:txBody>
                    <a:bodyPr/>
                    <a:lstStyle/>
                    <a:p>
                      <a:pPr marL="0" marR="39370" indent="0" algn="ctr">
                        <a:lnSpc>
                          <a:spcPct val="107000"/>
                        </a:lnSpc>
                        <a:spcBef>
                          <a:spcPts val="0"/>
                        </a:spcBef>
                        <a:spcAft>
                          <a:spcPts val="0"/>
                        </a:spcAft>
                      </a:pPr>
                      <a:r>
                        <a:rPr lang="en-US" sz="1200" dirty="0">
                          <a:effectLst/>
                        </a:rPr>
                        <a:t>2</a:t>
                      </a:r>
                      <a:endParaRPr lang="en-US" sz="1200" dirty="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tc>
                  <a:txBody>
                    <a:bodyPr/>
                    <a:lstStyle/>
                    <a:p>
                      <a:pPr marL="12065" marR="0" indent="0" algn="l">
                        <a:lnSpc>
                          <a:spcPct val="107000"/>
                        </a:lnSpc>
                        <a:spcBef>
                          <a:spcPts val="0"/>
                        </a:spcBef>
                        <a:spcAft>
                          <a:spcPts val="0"/>
                        </a:spcAft>
                      </a:pPr>
                      <a:r>
                        <a:rPr lang="en-US" sz="1200" dirty="0">
                          <a:effectLst/>
                        </a:rPr>
                        <a:t>Installation of Distribution Substations of Capacity 16/25/63</a:t>
                      </a:r>
                    </a:p>
                    <a:p>
                      <a:pPr marL="12065" marR="0" indent="0" algn="l">
                        <a:lnSpc>
                          <a:spcPct val="107000"/>
                        </a:lnSpc>
                        <a:spcBef>
                          <a:spcPts val="0"/>
                        </a:spcBef>
                        <a:spcAft>
                          <a:spcPts val="0"/>
                        </a:spcAft>
                      </a:pPr>
                      <a:r>
                        <a:rPr lang="en-US" sz="1200" dirty="0">
                          <a:effectLst/>
                        </a:rPr>
                        <a:t>KVA</a:t>
                      </a:r>
                      <a:endParaRPr lang="en-US" sz="1200" dirty="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tc>
                  <a:txBody>
                    <a:bodyPr/>
                    <a:lstStyle/>
                    <a:p>
                      <a:pPr algn="ctr"/>
                      <a:r>
                        <a:rPr lang="en-US" sz="1200" dirty="0">
                          <a:effectLst/>
                        </a:rPr>
                        <a:t>16923 Nos</a:t>
                      </a:r>
                      <a:endParaRPr lang="en-US" dirty="0">
                        <a:latin typeface="+mj-lt"/>
                      </a:endParaRPr>
                    </a:p>
                  </a:txBody>
                  <a:tcPr marL="68580" marR="16510" marT="15240" marB="15240" anchor="ctr"/>
                </a:tc>
                <a:tc>
                  <a:txBody>
                    <a:bodyPr/>
                    <a:lstStyle/>
                    <a:p>
                      <a:pPr marL="0" marR="15240" indent="0" algn="ctr">
                        <a:lnSpc>
                          <a:spcPct val="107000"/>
                        </a:lnSpc>
                        <a:spcBef>
                          <a:spcPts val="0"/>
                        </a:spcBef>
                        <a:spcAft>
                          <a:spcPts val="0"/>
                        </a:spcAft>
                      </a:pPr>
                      <a:r>
                        <a:rPr lang="en-US" sz="1200">
                          <a:effectLst/>
                        </a:rPr>
                        <a:t>292.41</a:t>
                      </a:r>
                      <a:endParaRPr lang="en-US" sz="120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extLst>
                  <a:ext uri="{0D108BD9-81ED-4DB2-BD59-A6C34878D82A}">
                    <a16:rowId xmlns:a16="http://schemas.microsoft.com/office/drawing/2014/main" val="2868721151"/>
                  </a:ext>
                </a:extLst>
              </a:tr>
              <a:tr h="78784">
                <a:tc>
                  <a:txBody>
                    <a:bodyPr/>
                    <a:lstStyle/>
                    <a:p>
                      <a:pPr marL="0" marR="39370" indent="0" algn="ctr">
                        <a:lnSpc>
                          <a:spcPct val="107000"/>
                        </a:lnSpc>
                        <a:spcBef>
                          <a:spcPts val="0"/>
                        </a:spcBef>
                        <a:spcAft>
                          <a:spcPts val="0"/>
                        </a:spcAft>
                      </a:pPr>
                      <a:r>
                        <a:rPr lang="en-US" sz="1200">
                          <a:effectLst/>
                        </a:rPr>
                        <a:t>3</a:t>
                      </a:r>
                      <a:endParaRPr lang="en-US" sz="120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tc>
                  <a:txBody>
                    <a:bodyPr/>
                    <a:lstStyle/>
                    <a:p>
                      <a:pPr marL="8890" marR="0" indent="0" algn="l">
                        <a:lnSpc>
                          <a:spcPct val="107000"/>
                        </a:lnSpc>
                        <a:spcBef>
                          <a:spcPts val="0"/>
                        </a:spcBef>
                        <a:spcAft>
                          <a:spcPts val="0"/>
                        </a:spcAft>
                      </a:pPr>
                      <a:r>
                        <a:rPr lang="en-US" sz="1200" dirty="0">
                          <a:effectLst/>
                        </a:rPr>
                        <a:t>Drawal of LT Service line with 4 Core 10 sq. mm 1.1 kV grade</a:t>
                      </a:r>
                    </a:p>
                    <a:p>
                      <a:pPr marL="8890" marR="0" indent="0" algn="l">
                        <a:lnSpc>
                          <a:spcPct val="107000"/>
                        </a:lnSpc>
                        <a:spcBef>
                          <a:spcPts val="0"/>
                        </a:spcBef>
                        <a:spcAft>
                          <a:spcPts val="0"/>
                        </a:spcAft>
                      </a:pPr>
                      <a:r>
                        <a:rPr lang="en-US" sz="1200" dirty="0">
                          <a:effectLst/>
                        </a:rPr>
                        <a:t>PVC cable</a:t>
                      </a:r>
                      <a:endParaRPr lang="en-US" sz="1200" dirty="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tc>
                  <a:txBody>
                    <a:bodyPr/>
                    <a:lstStyle/>
                    <a:p>
                      <a:pPr algn="ctr"/>
                      <a:r>
                        <a:rPr lang="en-US" sz="1200">
                          <a:effectLst/>
                        </a:rPr>
                        <a:t>54311 Nos</a:t>
                      </a:r>
                      <a:endParaRPr lang="en-US">
                        <a:latin typeface="+mj-lt"/>
                      </a:endParaRPr>
                    </a:p>
                  </a:txBody>
                  <a:tcPr marL="68580" marR="16510" marT="15240" marB="15240" anchor="ctr"/>
                </a:tc>
                <a:tc>
                  <a:txBody>
                    <a:bodyPr/>
                    <a:lstStyle/>
                    <a:p>
                      <a:pPr marL="0" marR="0" indent="0" algn="ctr">
                        <a:lnSpc>
                          <a:spcPct val="107000"/>
                        </a:lnSpc>
                        <a:spcBef>
                          <a:spcPts val="0"/>
                        </a:spcBef>
                        <a:spcAft>
                          <a:spcPts val="0"/>
                        </a:spcAft>
                      </a:pPr>
                      <a:r>
                        <a:rPr lang="en-US" sz="1200">
                          <a:effectLst/>
                        </a:rPr>
                        <a:t>448.99</a:t>
                      </a:r>
                      <a:endParaRPr lang="en-US" sz="120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extLst>
                  <a:ext uri="{0D108BD9-81ED-4DB2-BD59-A6C34878D82A}">
                    <a16:rowId xmlns:a16="http://schemas.microsoft.com/office/drawing/2014/main" val="3690676954"/>
                  </a:ext>
                </a:extLst>
              </a:tr>
              <a:tr h="0">
                <a:tc>
                  <a:txBody>
                    <a:bodyPr/>
                    <a:lstStyle/>
                    <a:p>
                      <a:pPr marL="0" marR="42545" indent="0" algn="ctr">
                        <a:lnSpc>
                          <a:spcPct val="107000"/>
                        </a:lnSpc>
                        <a:spcBef>
                          <a:spcPts val="0"/>
                        </a:spcBef>
                        <a:spcAft>
                          <a:spcPts val="0"/>
                        </a:spcAft>
                      </a:pPr>
                      <a:r>
                        <a:rPr lang="en-US" sz="1200">
                          <a:effectLst/>
                        </a:rPr>
                        <a:t>4</a:t>
                      </a:r>
                      <a:endParaRPr lang="en-US" sz="120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tc>
                  <a:txBody>
                    <a:bodyPr/>
                    <a:lstStyle/>
                    <a:p>
                      <a:pPr marL="0" marR="0" indent="8890" algn="just">
                        <a:lnSpc>
                          <a:spcPct val="107000"/>
                        </a:lnSpc>
                        <a:spcBef>
                          <a:spcPts val="0"/>
                        </a:spcBef>
                        <a:spcAft>
                          <a:spcPts val="0"/>
                        </a:spcAft>
                      </a:pPr>
                      <a:r>
                        <a:rPr lang="en-US" sz="1200" dirty="0">
                          <a:effectLst/>
                        </a:rPr>
                        <a:t>Drawal of 11 kV O/H line on 8 mtr PCC pole with 50 sq. mm ACSR conductor</a:t>
                      </a:r>
                      <a:endParaRPr lang="en-US" sz="1200" dirty="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tc>
                  <a:txBody>
                    <a:bodyPr/>
                    <a:lstStyle/>
                    <a:p>
                      <a:pPr algn="ctr"/>
                      <a:r>
                        <a:rPr lang="en-US" sz="1200">
                          <a:effectLst/>
                        </a:rPr>
                        <a:t>12692.25 KM</a:t>
                      </a:r>
                      <a:endParaRPr lang="en-US">
                        <a:latin typeface="+mj-lt"/>
                      </a:endParaRPr>
                    </a:p>
                  </a:txBody>
                  <a:tcPr marL="68580" marR="16510" marT="15240" marB="15240" anchor="ctr"/>
                </a:tc>
                <a:tc>
                  <a:txBody>
                    <a:bodyPr/>
                    <a:lstStyle/>
                    <a:p>
                      <a:pPr marL="0" marR="15240" indent="0" algn="ctr">
                        <a:lnSpc>
                          <a:spcPct val="107000"/>
                        </a:lnSpc>
                        <a:spcBef>
                          <a:spcPts val="0"/>
                        </a:spcBef>
                        <a:spcAft>
                          <a:spcPts val="0"/>
                        </a:spcAft>
                      </a:pPr>
                      <a:r>
                        <a:rPr lang="en-US" sz="1200" dirty="0">
                          <a:effectLst/>
                        </a:rPr>
                        <a:t>389.41</a:t>
                      </a:r>
                      <a:endParaRPr lang="en-US" sz="1200" dirty="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extLst>
                  <a:ext uri="{0D108BD9-81ED-4DB2-BD59-A6C34878D82A}">
                    <a16:rowId xmlns:a16="http://schemas.microsoft.com/office/drawing/2014/main" val="1429598819"/>
                  </a:ext>
                </a:extLst>
              </a:tr>
              <a:tr h="0">
                <a:tc>
                  <a:txBody>
                    <a:bodyPr/>
                    <a:lstStyle/>
                    <a:p>
                      <a:pPr marL="0" marR="39370" indent="0" algn="ctr">
                        <a:lnSpc>
                          <a:spcPct val="107000"/>
                        </a:lnSpc>
                        <a:spcBef>
                          <a:spcPts val="0"/>
                        </a:spcBef>
                        <a:spcAft>
                          <a:spcPts val="0"/>
                        </a:spcAft>
                      </a:pPr>
                      <a:r>
                        <a:rPr lang="en-US" sz="1200">
                          <a:effectLst/>
                        </a:rPr>
                        <a:t>5</a:t>
                      </a:r>
                      <a:endParaRPr lang="en-US" sz="120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tc>
                  <a:txBody>
                    <a:bodyPr/>
                    <a:lstStyle/>
                    <a:p>
                      <a:pPr marL="3175" marR="0" indent="6350" algn="just">
                        <a:lnSpc>
                          <a:spcPct val="107000"/>
                        </a:lnSpc>
                        <a:spcBef>
                          <a:spcPts val="0"/>
                        </a:spcBef>
                        <a:spcAft>
                          <a:spcPts val="0"/>
                        </a:spcAft>
                      </a:pPr>
                      <a:r>
                        <a:rPr lang="en-US" sz="1200" dirty="0">
                          <a:effectLst/>
                        </a:rPr>
                        <a:t>Installation of 3 phase static whole current meter with LPR communication facilitate DTR end</a:t>
                      </a:r>
                      <a:endParaRPr lang="en-US" sz="1200" dirty="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tc>
                  <a:txBody>
                    <a:bodyPr/>
                    <a:lstStyle/>
                    <a:p>
                      <a:pPr algn="ctr"/>
                      <a:r>
                        <a:rPr lang="en-US" sz="1200" dirty="0">
                          <a:effectLst/>
                        </a:rPr>
                        <a:t>54311 Nos</a:t>
                      </a:r>
                      <a:endParaRPr lang="en-US" dirty="0">
                        <a:latin typeface="+mj-lt"/>
                      </a:endParaRPr>
                    </a:p>
                  </a:txBody>
                  <a:tcPr marL="68580" marR="16510" marT="15240" marB="15240" anchor="ctr"/>
                </a:tc>
                <a:tc>
                  <a:txBody>
                    <a:bodyPr/>
                    <a:lstStyle/>
                    <a:p>
                      <a:pPr marL="0" marR="3175" indent="0" algn="ctr">
                        <a:lnSpc>
                          <a:spcPct val="107000"/>
                        </a:lnSpc>
                        <a:spcBef>
                          <a:spcPts val="0"/>
                        </a:spcBef>
                        <a:spcAft>
                          <a:spcPts val="0"/>
                        </a:spcAft>
                      </a:pPr>
                      <a:r>
                        <a:rPr lang="en-US" sz="1200" dirty="0">
                          <a:effectLst/>
                        </a:rPr>
                        <a:t>44.18</a:t>
                      </a:r>
                      <a:endParaRPr lang="en-US" sz="1200" dirty="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extLst>
                  <a:ext uri="{0D108BD9-81ED-4DB2-BD59-A6C34878D82A}">
                    <a16:rowId xmlns:a16="http://schemas.microsoft.com/office/drawing/2014/main" val="1904580364"/>
                  </a:ext>
                </a:extLst>
              </a:tr>
              <a:tr h="0">
                <a:tc>
                  <a:txBody>
                    <a:bodyPr/>
                    <a:lstStyle/>
                    <a:p>
                      <a:pPr marL="0" marR="42545" indent="0" algn="ctr">
                        <a:lnSpc>
                          <a:spcPct val="107000"/>
                        </a:lnSpc>
                        <a:spcBef>
                          <a:spcPts val="0"/>
                        </a:spcBef>
                        <a:spcAft>
                          <a:spcPts val="0"/>
                        </a:spcAft>
                      </a:pPr>
                      <a:r>
                        <a:rPr lang="en-US" sz="1200">
                          <a:effectLst/>
                        </a:rPr>
                        <a:t>6</a:t>
                      </a:r>
                      <a:endParaRPr lang="en-US" sz="120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tc gridSpan="2">
                  <a:txBody>
                    <a:bodyPr/>
                    <a:lstStyle/>
                    <a:p>
                      <a:pPr marL="0" marR="8890" indent="0" algn="ctr">
                        <a:lnSpc>
                          <a:spcPct val="107000"/>
                        </a:lnSpc>
                        <a:spcBef>
                          <a:spcPts val="0"/>
                        </a:spcBef>
                        <a:spcAft>
                          <a:spcPts val="0"/>
                        </a:spcAft>
                      </a:pPr>
                      <a:r>
                        <a:rPr lang="en-US" sz="1200" b="1" dirty="0">
                          <a:effectLst/>
                        </a:rPr>
                        <a:t>Total Project Cost Sum 1:5</a:t>
                      </a:r>
                      <a:endParaRPr lang="en-US" sz="1200" b="1" dirty="0">
                        <a:effectLst/>
                        <a:latin typeface="+mj-lt"/>
                        <a:cs typeface="Calibri" panose="020F0502020204030204" pitchFamily="34" charset="0"/>
                      </a:endParaRPr>
                    </a:p>
                  </a:txBody>
                  <a:tcPr marL="68580" marR="16510" marT="15240" marB="15240" anchor="ctr"/>
                </a:tc>
                <a:tc hMerge="1">
                  <a:txBody>
                    <a:bodyPr/>
                    <a:lstStyle/>
                    <a:p>
                      <a:pPr marL="0" marR="0" indent="0" algn="l">
                        <a:lnSpc>
                          <a:spcPct val="107000"/>
                        </a:lnSpc>
                        <a:spcBef>
                          <a:spcPts val="0"/>
                        </a:spcBef>
                        <a:spcAft>
                          <a:spcPts val="800"/>
                        </a:spcAft>
                      </a:pPr>
                      <a:r>
                        <a:rPr lang="en-US" sz="1200" b="1" dirty="0">
                          <a:effectLst/>
                          <a:latin typeface="Calibri" panose="020F0502020204030204" pitchFamily="34" charset="0"/>
                          <a:cs typeface="Calibri" panose="020F0502020204030204" pitchFamily="34" charset="0"/>
                        </a:rPr>
                        <a:t> </a:t>
                      </a:r>
                      <a:endParaRPr lang="en-US" sz="1200" b="1"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8580" marR="16510" marT="15240" marB="15240" anchor="ctr"/>
                </a:tc>
                <a:tc>
                  <a:txBody>
                    <a:bodyPr/>
                    <a:lstStyle/>
                    <a:p>
                      <a:pPr marL="0" marR="3175" indent="0" algn="ctr">
                        <a:lnSpc>
                          <a:spcPct val="107000"/>
                        </a:lnSpc>
                        <a:spcBef>
                          <a:spcPts val="0"/>
                        </a:spcBef>
                        <a:spcAft>
                          <a:spcPts val="0"/>
                        </a:spcAft>
                      </a:pPr>
                      <a:r>
                        <a:rPr lang="en-US" sz="1200" b="1" dirty="0">
                          <a:effectLst/>
                        </a:rPr>
                        <a:t>1205.37</a:t>
                      </a:r>
                      <a:endParaRPr lang="en-US" sz="1200" b="1" dirty="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extLst>
                  <a:ext uri="{0D108BD9-81ED-4DB2-BD59-A6C34878D82A}">
                    <a16:rowId xmlns:a16="http://schemas.microsoft.com/office/drawing/2014/main" val="3721200870"/>
                  </a:ext>
                </a:extLst>
              </a:tr>
              <a:tr h="0">
                <a:tc>
                  <a:txBody>
                    <a:bodyPr/>
                    <a:lstStyle/>
                    <a:p>
                      <a:pPr marL="0" marR="42545" indent="0" algn="ctr">
                        <a:lnSpc>
                          <a:spcPct val="107000"/>
                        </a:lnSpc>
                        <a:spcBef>
                          <a:spcPts val="0"/>
                        </a:spcBef>
                        <a:spcAft>
                          <a:spcPts val="0"/>
                        </a:spcAft>
                      </a:pPr>
                      <a:r>
                        <a:rPr lang="en-US" sz="1200">
                          <a:effectLst/>
                        </a:rPr>
                        <a:t>7</a:t>
                      </a:r>
                      <a:endParaRPr lang="en-US" sz="120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tc gridSpan="2">
                  <a:txBody>
                    <a:bodyPr/>
                    <a:lstStyle/>
                    <a:p>
                      <a:pPr marL="0" marR="39370" indent="0" algn="ctr">
                        <a:lnSpc>
                          <a:spcPct val="107000"/>
                        </a:lnSpc>
                        <a:spcBef>
                          <a:spcPts val="0"/>
                        </a:spcBef>
                        <a:spcAft>
                          <a:spcPts val="0"/>
                        </a:spcAft>
                      </a:pPr>
                      <a:r>
                        <a:rPr lang="en-US" sz="1200" dirty="0">
                          <a:effectLst/>
                        </a:rPr>
                        <a:t>Consumers Contribution</a:t>
                      </a:r>
                      <a:endParaRPr lang="en-US" sz="1200" dirty="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tc hMerge="1">
                  <a:txBody>
                    <a:bodyPr/>
                    <a:lstStyle/>
                    <a:p>
                      <a:endParaRPr lang="en-US"/>
                    </a:p>
                  </a:txBody>
                  <a:tcPr/>
                </a:tc>
                <a:tc>
                  <a:txBody>
                    <a:bodyPr/>
                    <a:lstStyle/>
                    <a:p>
                      <a:pPr marL="0" marR="3175" indent="0" algn="ctr">
                        <a:lnSpc>
                          <a:spcPct val="107000"/>
                        </a:lnSpc>
                        <a:spcBef>
                          <a:spcPts val="0"/>
                        </a:spcBef>
                        <a:spcAft>
                          <a:spcPts val="0"/>
                        </a:spcAft>
                      </a:pPr>
                      <a:r>
                        <a:rPr lang="en-US" sz="1200" dirty="0">
                          <a:effectLst/>
                        </a:rPr>
                        <a:t>21.72</a:t>
                      </a:r>
                      <a:endParaRPr lang="en-US" sz="1200" dirty="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extLst>
                  <a:ext uri="{0D108BD9-81ED-4DB2-BD59-A6C34878D82A}">
                    <a16:rowId xmlns:a16="http://schemas.microsoft.com/office/drawing/2014/main" val="3742786019"/>
                  </a:ext>
                </a:extLst>
              </a:tr>
              <a:tr h="0">
                <a:tc>
                  <a:txBody>
                    <a:bodyPr/>
                    <a:lstStyle/>
                    <a:p>
                      <a:pPr marL="0" marR="42545" indent="0" algn="ctr">
                        <a:lnSpc>
                          <a:spcPct val="107000"/>
                        </a:lnSpc>
                        <a:spcBef>
                          <a:spcPts val="0"/>
                        </a:spcBef>
                        <a:spcAft>
                          <a:spcPts val="0"/>
                        </a:spcAft>
                      </a:pPr>
                      <a:r>
                        <a:rPr lang="en-US" sz="1200" dirty="0">
                          <a:effectLst/>
                        </a:rPr>
                        <a:t>8</a:t>
                      </a:r>
                      <a:endParaRPr lang="en-US" sz="1200" dirty="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tc gridSpan="2">
                  <a:txBody>
                    <a:bodyPr/>
                    <a:lstStyle/>
                    <a:p>
                      <a:pPr marL="0" marR="9525" indent="0" algn="ctr">
                        <a:lnSpc>
                          <a:spcPct val="107000"/>
                        </a:lnSpc>
                        <a:spcBef>
                          <a:spcPts val="0"/>
                        </a:spcBef>
                        <a:spcAft>
                          <a:spcPts val="0"/>
                        </a:spcAft>
                      </a:pPr>
                      <a:r>
                        <a:rPr lang="en-US" sz="1200" b="1" dirty="0">
                          <a:effectLst/>
                        </a:rPr>
                        <a:t>Net Project Cost 8 = 6-7</a:t>
                      </a:r>
                      <a:endParaRPr lang="en-US" sz="1200" b="1" dirty="0">
                        <a:effectLst/>
                        <a:latin typeface="+mj-lt"/>
                        <a:cs typeface="Calibri" panose="020F0502020204030204" pitchFamily="34" charset="0"/>
                      </a:endParaRPr>
                    </a:p>
                  </a:txBody>
                  <a:tcPr marL="68580" marR="16510" marT="15240" marB="15240" anchor="ctr"/>
                </a:tc>
                <a:tc hMerge="1">
                  <a:txBody>
                    <a:bodyPr/>
                    <a:lstStyle/>
                    <a:p>
                      <a:endParaRPr lang="en-US"/>
                    </a:p>
                  </a:txBody>
                  <a:tcPr/>
                </a:tc>
                <a:tc>
                  <a:txBody>
                    <a:bodyPr/>
                    <a:lstStyle/>
                    <a:p>
                      <a:pPr marL="0" marR="3175" indent="0" algn="ctr">
                        <a:lnSpc>
                          <a:spcPct val="107000"/>
                        </a:lnSpc>
                        <a:spcBef>
                          <a:spcPts val="0"/>
                        </a:spcBef>
                        <a:spcAft>
                          <a:spcPts val="0"/>
                        </a:spcAft>
                      </a:pPr>
                      <a:r>
                        <a:rPr lang="en-US" sz="1200" b="1" dirty="0">
                          <a:effectLst/>
                        </a:rPr>
                        <a:t>1183.65</a:t>
                      </a:r>
                      <a:endParaRPr lang="en-US" sz="1200" b="1" dirty="0">
                        <a:solidFill>
                          <a:srgbClr val="000000"/>
                        </a:solidFill>
                        <a:effectLst/>
                        <a:latin typeface="+mj-lt"/>
                        <a:ea typeface="Calibri" panose="020F0502020204030204" pitchFamily="34" charset="0"/>
                        <a:cs typeface="Calibri" panose="020F0502020204030204" pitchFamily="34" charset="0"/>
                      </a:endParaRPr>
                    </a:p>
                  </a:txBody>
                  <a:tcPr marL="68580" marR="16510" marT="15240" marB="15240" anchor="ctr"/>
                </a:tc>
                <a:extLst>
                  <a:ext uri="{0D108BD9-81ED-4DB2-BD59-A6C34878D82A}">
                    <a16:rowId xmlns:a16="http://schemas.microsoft.com/office/drawing/2014/main" val="1632809639"/>
                  </a:ext>
                </a:extLst>
              </a:tr>
            </a:tbl>
          </a:graphicData>
        </a:graphic>
      </p:graphicFrame>
      <p:sp>
        <p:nvSpPr>
          <p:cNvPr id="21" name="TextBox 20">
            <a:extLst>
              <a:ext uri="{FF2B5EF4-FFF2-40B4-BE49-F238E27FC236}">
                <a16:creationId xmlns:a16="http://schemas.microsoft.com/office/drawing/2014/main" id="{A89F201D-8E9D-417D-AD6E-66A45521D090}"/>
              </a:ext>
            </a:extLst>
          </p:cNvPr>
          <p:cNvSpPr txBox="1"/>
          <p:nvPr/>
        </p:nvSpPr>
        <p:spPr>
          <a:xfrm>
            <a:off x="359913" y="2584002"/>
            <a:ext cx="7441325" cy="483017"/>
          </a:xfrm>
          <a:prstGeom prst="rect">
            <a:avLst/>
          </a:prstGeom>
          <a:noFill/>
        </p:spPr>
        <p:txBody>
          <a:bodyPr wrap="square">
            <a:spAutoFit/>
          </a:bodyPr>
          <a:lstStyle/>
          <a:p>
            <a:pPr marL="53975" marR="39370" lvl="1" indent="-53975" algn="just" fontAlgn="base">
              <a:lnSpc>
                <a:spcPct val="122000"/>
              </a:lnSpc>
              <a:spcBef>
                <a:spcPts val="0"/>
              </a:spcBef>
              <a:spcAft>
                <a:spcPts val="25"/>
              </a:spcAft>
              <a:buClr>
                <a:srgbClr val="000000"/>
              </a:buClr>
              <a:buSzPts val="1200"/>
            </a:pPr>
            <a:r>
              <a:rPr lang="en-US" sz="1100" b="1" i="1" u="none" strike="noStrike" dirty="0">
                <a:solidFill>
                  <a:srgbClr val="000000"/>
                </a:solidFill>
                <a:effectLst/>
                <a:uFill>
                  <a:solidFill>
                    <a:srgbClr val="000000"/>
                  </a:solidFill>
                </a:uFill>
                <a:latin typeface="+mj-lt"/>
                <a:ea typeface="Calibri" panose="020F0502020204030204" pitchFamily="34" charset="0"/>
                <a:cs typeface="Calibri" panose="020F0502020204030204" pitchFamily="34" charset="0"/>
              </a:rPr>
              <a:t>The project cost </a:t>
            </a:r>
            <a:r>
              <a:rPr lang="en-US" sz="1100" b="1" i="1" dirty="0">
                <a:solidFill>
                  <a:srgbClr val="000000"/>
                </a:solidFill>
                <a:uFill>
                  <a:solidFill>
                    <a:srgbClr val="000000"/>
                  </a:solidFill>
                </a:uFill>
                <a:latin typeface="+mj-lt"/>
                <a:ea typeface="Calibri" panose="020F0502020204030204" pitchFamily="34" charset="0"/>
                <a:cs typeface="Calibri" panose="020F0502020204030204" pitchFamily="34" charset="0"/>
              </a:rPr>
              <a:t>was revised to</a:t>
            </a:r>
            <a:r>
              <a:rPr lang="en-US" sz="1100" b="1" i="1" u="none" strike="noStrike" dirty="0">
                <a:solidFill>
                  <a:srgbClr val="000000"/>
                </a:solidFill>
                <a:effectLst/>
                <a:uFill>
                  <a:solidFill>
                    <a:srgbClr val="000000"/>
                  </a:solidFill>
                </a:uFill>
                <a:latin typeface="+mj-lt"/>
                <a:ea typeface="Calibri" panose="020F0502020204030204" pitchFamily="34" charset="0"/>
                <a:cs typeface="Calibri" panose="020F0502020204030204" pitchFamily="34" charset="0"/>
              </a:rPr>
              <a:t> Rs. 1205.37 Crore in place of Rs. 1141.51 Crore as detailed below :-</a:t>
            </a:r>
          </a:p>
        </p:txBody>
      </p:sp>
      <p:sp>
        <p:nvSpPr>
          <p:cNvPr id="5" name="TextBox 4">
            <a:extLst>
              <a:ext uri="{FF2B5EF4-FFF2-40B4-BE49-F238E27FC236}">
                <a16:creationId xmlns:a16="http://schemas.microsoft.com/office/drawing/2014/main" id="{C54DA46B-7276-4368-93CA-31D3F5328562}"/>
              </a:ext>
            </a:extLst>
          </p:cNvPr>
          <p:cNvSpPr txBox="1"/>
          <p:nvPr/>
        </p:nvSpPr>
        <p:spPr>
          <a:xfrm>
            <a:off x="3468413" y="6571679"/>
            <a:ext cx="7441324" cy="169277"/>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latin typeface="+mj-lt"/>
                <a:cs typeface="Calibri" panose="020F0502020204030204" pitchFamily="34" charset="0"/>
              </a:rPr>
              <a:t>Source : </a:t>
            </a:r>
            <a:r>
              <a:rPr lang="en-US" sz="1100" i="1" u="sng" dirty="0">
                <a:solidFill>
                  <a:srgbClr val="00A3E0"/>
                </a:solidFill>
                <a:latin typeface="+mj-lt"/>
                <a:cs typeface="Calibri" panose="020F0502020204030204" pitchFamily="34" charset="0"/>
              </a:rPr>
              <a:t>https://wberc.gov.in/sites/default/files/OA249.pdf</a:t>
            </a:r>
          </a:p>
        </p:txBody>
      </p:sp>
      <p:graphicFrame>
        <p:nvGraphicFramePr>
          <p:cNvPr id="11" name="Diagram 10">
            <a:extLst>
              <a:ext uri="{FF2B5EF4-FFF2-40B4-BE49-F238E27FC236}">
                <a16:creationId xmlns:a16="http://schemas.microsoft.com/office/drawing/2014/main" id="{083383BD-1140-4913-9A6D-25F9E5384DC9}"/>
              </a:ext>
            </a:extLst>
          </p:cNvPr>
          <p:cNvGraphicFramePr/>
          <p:nvPr>
            <p:extLst>
              <p:ext uri="{D42A27DB-BD31-4B8C-83A1-F6EECF244321}">
                <p14:modId xmlns:p14="http://schemas.microsoft.com/office/powerpoint/2010/main" val="208935039"/>
              </p:ext>
            </p:extLst>
          </p:nvPr>
        </p:nvGraphicFramePr>
        <p:xfrm>
          <a:off x="8111425" y="3066793"/>
          <a:ext cx="3890075" cy="31079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F9A0A52B-DEDF-4212-BF86-AD4E1AF70D71}"/>
              </a:ext>
            </a:extLst>
          </p:cNvPr>
          <p:cNvSpPr txBox="1"/>
          <p:nvPr/>
        </p:nvSpPr>
        <p:spPr>
          <a:xfrm>
            <a:off x="8111425" y="2609053"/>
            <a:ext cx="2182123" cy="276486"/>
          </a:xfrm>
          <a:prstGeom prst="rect">
            <a:avLst/>
          </a:prstGeom>
          <a:noFill/>
        </p:spPr>
        <p:txBody>
          <a:bodyPr wrap="square">
            <a:spAutoFit/>
          </a:bodyPr>
          <a:lstStyle/>
          <a:p>
            <a:pPr marL="53975" marR="39370" lvl="1" indent="-53975" algn="just" fontAlgn="base">
              <a:lnSpc>
                <a:spcPct val="122000"/>
              </a:lnSpc>
              <a:spcBef>
                <a:spcPts val="0"/>
              </a:spcBef>
              <a:spcAft>
                <a:spcPts val="25"/>
              </a:spcAft>
              <a:buClr>
                <a:srgbClr val="000000"/>
              </a:buClr>
              <a:buSzPts val="1200"/>
            </a:pPr>
            <a:r>
              <a:rPr lang="en-US" sz="1100" b="1" i="1" u="none" strike="noStrike" dirty="0">
                <a:solidFill>
                  <a:srgbClr val="000000"/>
                </a:solidFill>
                <a:effectLst/>
                <a:uFill>
                  <a:solidFill>
                    <a:srgbClr val="000000"/>
                  </a:solidFill>
                </a:uFill>
                <a:latin typeface="+mj-lt"/>
                <a:ea typeface="Calibri" panose="020F0502020204030204" pitchFamily="34" charset="0"/>
                <a:cs typeface="Calibri" panose="020F0502020204030204" pitchFamily="34" charset="0"/>
              </a:rPr>
              <a:t>Scheme Objectives:</a:t>
            </a:r>
          </a:p>
        </p:txBody>
      </p:sp>
    </p:spTree>
    <p:extLst>
      <p:ext uri="{BB962C8B-B14F-4D97-AF65-F5344CB8AC3E}">
        <p14:creationId xmlns:p14="http://schemas.microsoft.com/office/powerpoint/2010/main" val="8836459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193988"/>
            <a:ext cx="11188700" cy="368299"/>
          </a:xfrm>
        </p:spPr>
        <p:txBody>
          <a:bodyPr vert="horz"/>
          <a:lstStyle/>
          <a:p>
            <a:pPr algn="just"/>
            <a:r>
              <a:rPr lang="en-US" sz="1600" i="0" dirty="0">
                <a:solidFill>
                  <a:schemeClr val="tx1"/>
                </a:solidFill>
                <a:latin typeface="+mj-lt"/>
              </a:rPr>
              <a:t>REAPS Scheme – Phase II &amp; III</a:t>
            </a:r>
          </a:p>
        </p:txBody>
      </p:sp>
      <p:sp>
        <p:nvSpPr>
          <p:cNvPr id="9" name="TextBox 8">
            <a:extLst>
              <a:ext uri="{FF2B5EF4-FFF2-40B4-BE49-F238E27FC236}">
                <a16:creationId xmlns:a16="http://schemas.microsoft.com/office/drawing/2014/main" id="{D5DE813E-0F49-4D0F-AD41-B921FB921B3E}"/>
              </a:ext>
            </a:extLst>
          </p:cNvPr>
          <p:cNvSpPr txBox="1"/>
          <p:nvPr/>
        </p:nvSpPr>
        <p:spPr>
          <a:xfrm>
            <a:off x="391165" y="913130"/>
            <a:ext cx="6555735" cy="3626057"/>
          </a:xfrm>
          <a:prstGeom prst="rect">
            <a:avLst/>
          </a:prstGeom>
          <a:noFill/>
        </p:spPr>
        <p:txBody>
          <a:bodyPr wrap="square" tIns="91440" rIns="182880">
            <a:spAutoFit/>
          </a:bodyPr>
          <a:lstStyle/>
          <a:p>
            <a:pPr marL="403225" marR="0" indent="-403225" algn="just">
              <a:lnSpc>
                <a:spcPct val="112000"/>
              </a:lnSpc>
              <a:spcBef>
                <a:spcPts val="0"/>
              </a:spcBef>
              <a:spcAft>
                <a:spcPts val="1850"/>
              </a:spcAft>
              <a:buFont typeface="Wingdings" panose="05000000000000000000" pitchFamily="2" charset="2"/>
              <a:buChar char="q"/>
            </a:pPr>
            <a:r>
              <a:rPr lang="en-US" sz="1100" dirty="0">
                <a:solidFill>
                  <a:srgbClr val="000000"/>
                </a:solidFill>
                <a:effectLst/>
                <a:latin typeface="+mj-lt"/>
                <a:ea typeface="Times New Roman" panose="02020603050405020304" pitchFamily="18" charset="0"/>
                <a:cs typeface="Calibri" panose="020F0502020204030204" pitchFamily="34" charset="0"/>
              </a:rPr>
              <a:t>In order to effect electric connection of 30000 agricultural pump sets, WBSEDCL has formulated a scheme termed as 'Rapid Electrification of Agricultural Pump Sets (REAPS Phase 2) with the following salient features:</a:t>
            </a:r>
          </a:p>
          <a:p>
            <a:pPr marL="800071" lvl="1" indent="-342900" algn="just" fontAlgn="base">
              <a:spcAft>
                <a:spcPts val="1515"/>
              </a:spcAft>
              <a:buClr>
                <a:srgbClr val="000000"/>
              </a:buClr>
              <a:buSzPts val="1200"/>
              <a:buFont typeface="+mj-lt"/>
              <a:buAutoNum type="alphaLcParenR"/>
            </a:pPr>
            <a:r>
              <a:rPr lang="en-US" sz="1100" b="1" u="none" strike="noStrike" dirty="0">
                <a:solidFill>
                  <a:srgbClr val="000000"/>
                </a:solidFill>
                <a:effectLst/>
                <a:uFill>
                  <a:solidFill>
                    <a:srgbClr val="000000"/>
                  </a:solidFill>
                </a:uFill>
                <a:latin typeface="+mj-lt"/>
                <a:ea typeface="Times New Roman" panose="02020603050405020304" pitchFamily="18" charset="0"/>
                <a:cs typeface="Calibri" panose="020F0502020204030204" pitchFamily="34" charset="0"/>
              </a:rPr>
              <a:t>Drawal of 11 kV line from the nearby 11 kV rural feeder</a:t>
            </a:r>
            <a:r>
              <a:rPr lang="en-US" sz="1100" u="none" strike="noStrike" dirty="0">
                <a:solidFill>
                  <a:srgbClr val="000000"/>
                </a:solidFill>
                <a:effectLst/>
                <a:uFill>
                  <a:solidFill>
                    <a:srgbClr val="000000"/>
                  </a:solidFill>
                </a:uFill>
                <a:latin typeface="+mj-lt"/>
                <a:ea typeface="Times New Roman" panose="02020603050405020304" pitchFamily="18" charset="0"/>
                <a:cs typeface="Calibri" panose="020F0502020204030204" pitchFamily="34" charset="0"/>
              </a:rPr>
              <a:t>, especially from existing agricultural feeder to the cluster points.</a:t>
            </a:r>
          </a:p>
          <a:p>
            <a:pPr marL="800071" lvl="1" indent="-342900" algn="just" fontAlgn="base">
              <a:spcAft>
                <a:spcPts val="1130"/>
              </a:spcAft>
              <a:buClr>
                <a:srgbClr val="000000"/>
              </a:buClr>
              <a:buSzPts val="1200"/>
              <a:buFont typeface="+mj-lt"/>
              <a:buAutoNum type="alphaLcParenR"/>
            </a:pPr>
            <a:r>
              <a:rPr lang="en-US" sz="1100" b="1" u="none" strike="noStrike" dirty="0">
                <a:solidFill>
                  <a:srgbClr val="000000"/>
                </a:solidFill>
                <a:effectLst/>
                <a:uFill>
                  <a:solidFill>
                    <a:srgbClr val="000000"/>
                  </a:solidFill>
                </a:uFill>
                <a:latin typeface="+mj-lt"/>
                <a:ea typeface="Times New Roman" panose="02020603050405020304" pitchFamily="18" charset="0"/>
                <a:cs typeface="Calibri" panose="020F0502020204030204" pitchFamily="34" charset="0"/>
              </a:rPr>
              <a:t>Installation of 25 kVA, 11/0.4 kV Distribution Transformers (DTR) </a:t>
            </a:r>
            <a:r>
              <a:rPr lang="en-US" sz="1100" u="none" strike="noStrike" dirty="0">
                <a:solidFill>
                  <a:srgbClr val="000000"/>
                </a:solidFill>
                <a:effectLst/>
                <a:uFill>
                  <a:solidFill>
                    <a:srgbClr val="000000"/>
                  </a:solidFill>
                </a:uFill>
                <a:latin typeface="+mj-lt"/>
                <a:ea typeface="Times New Roman" panose="02020603050405020304" pitchFamily="18" charset="0"/>
                <a:cs typeface="Calibri" panose="020F0502020204030204" pitchFamily="34" charset="0"/>
              </a:rPr>
              <a:t>close but at optimum location to form a cluster of three numbers of Agricultural Pump sets.</a:t>
            </a:r>
          </a:p>
          <a:p>
            <a:pPr marL="800071" lvl="1" indent="-342900" algn="just" fontAlgn="base">
              <a:spcAft>
                <a:spcPts val="1130"/>
              </a:spcAft>
              <a:buClr>
                <a:srgbClr val="000000"/>
              </a:buClr>
              <a:buSzPts val="1200"/>
              <a:buFont typeface="+mj-lt"/>
              <a:buAutoNum type="alphaLcParenR"/>
            </a:pPr>
            <a:r>
              <a:rPr lang="en-US" sz="1100" u="none" strike="noStrike" dirty="0">
                <a:solidFill>
                  <a:srgbClr val="000000"/>
                </a:solidFill>
                <a:effectLst/>
                <a:uFill>
                  <a:solidFill>
                    <a:srgbClr val="000000"/>
                  </a:solidFill>
                </a:uFill>
                <a:latin typeface="+mj-lt"/>
                <a:ea typeface="Times New Roman" panose="02020603050405020304" pitchFamily="18" charset="0"/>
                <a:cs typeface="Calibri" panose="020F0502020204030204" pitchFamily="34" charset="0"/>
              </a:rPr>
              <a:t>Installation of </a:t>
            </a:r>
            <a:r>
              <a:rPr lang="en-US" sz="1100" b="1" u="none" strike="noStrike" dirty="0">
                <a:solidFill>
                  <a:srgbClr val="000000"/>
                </a:solidFill>
                <a:effectLst/>
                <a:uFill>
                  <a:solidFill>
                    <a:srgbClr val="000000"/>
                  </a:solidFill>
                </a:uFill>
                <a:latin typeface="+mj-lt"/>
                <a:ea typeface="Times New Roman" panose="02020603050405020304" pitchFamily="18" charset="0"/>
                <a:cs typeface="Calibri" panose="020F0502020204030204" pitchFamily="34" charset="0"/>
              </a:rPr>
              <a:t>energy meters at DTR end </a:t>
            </a:r>
            <a:r>
              <a:rPr lang="en-US" sz="1100" u="none" strike="noStrike" dirty="0">
                <a:solidFill>
                  <a:srgbClr val="000000"/>
                </a:solidFill>
                <a:effectLst/>
                <a:uFill>
                  <a:solidFill>
                    <a:srgbClr val="000000"/>
                  </a:solidFill>
                </a:uFill>
                <a:latin typeface="+mj-lt"/>
                <a:ea typeface="Times New Roman" panose="02020603050405020304" pitchFamily="18" charset="0"/>
                <a:cs typeface="Calibri" panose="020F0502020204030204" pitchFamily="34" charset="0"/>
              </a:rPr>
              <a:t>and </a:t>
            </a:r>
            <a:r>
              <a:rPr lang="en-US" sz="1100" b="1" u="none" strike="noStrike" dirty="0">
                <a:solidFill>
                  <a:srgbClr val="000000"/>
                </a:solidFill>
                <a:effectLst/>
                <a:uFill>
                  <a:solidFill>
                    <a:srgbClr val="000000"/>
                  </a:solidFill>
                </a:uFill>
                <a:latin typeface="+mj-lt"/>
                <a:ea typeface="Times New Roman" panose="02020603050405020304" pitchFamily="18" charset="0"/>
                <a:cs typeface="Calibri" panose="020F0502020204030204" pitchFamily="34" charset="0"/>
              </a:rPr>
              <a:t>drawal of LT service line with 4 core insulated cable</a:t>
            </a:r>
            <a:r>
              <a:rPr lang="en-US" sz="1100" u="none" strike="noStrike" dirty="0">
                <a:solidFill>
                  <a:srgbClr val="000000"/>
                </a:solidFill>
                <a:effectLst/>
                <a:uFill>
                  <a:solidFill>
                    <a:srgbClr val="000000"/>
                  </a:solidFill>
                </a:uFill>
                <a:latin typeface="+mj-lt"/>
                <a:ea typeface="Times New Roman" panose="02020603050405020304" pitchFamily="18" charset="0"/>
                <a:cs typeface="Calibri" panose="020F0502020204030204" pitchFamily="34" charset="0"/>
              </a:rPr>
              <a:t> to prevent accident as well as theft of electricity.</a:t>
            </a:r>
          </a:p>
          <a:p>
            <a:pPr marL="800071" lvl="1" indent="-342900" algn="just" fontAlgn="base">
              <a:spcAft>
                <a:spcPts val="1530"/>
              </a:spcAft>
              <a:buClr>
                <a:srgbClr val="000000"/>
              </a:buClr>
              <a:buSzPts val="1200"/>
              <a:buFont typeface="+mj-lt"/>
              <a:buAutoNum type="alphaLcParenR"/>
            </a:pPr>
            <a:r>
              <a:rPr lang="en-US" sz="1100" u="none" strike="noStrike" dirty="0">
                <a:solidFill>
                  <a:srgbClr val="000000"/>
                </a:solidFill>
                <a:effectLst/>
                <a:uFill>
                  <a:solidFill>
                    <a:srgbClr val="000000"/>
                  </a:solidFill>
                </a:uFill>
                <a:latin typeface="+mj-lt"/>
                <a:ea typeface="Times New Roman" panose="02020603050405020304" pitchFamily="18" charset="0"/>
                <a:cs typeface="Calibri" panose="020F0502020204030204" pitchFamily="34" charset="0"/>
              </a:rPr>
              <a:t>Benefits of the project are </a:t>
            </a:r>
            <a:r>
              <a:rPr lang="en-US" sz="1100" b="1" u="none" strike="noStrike" dirty="0">
                <a:solidFill>
                  <a:srgbClr val="000000"/>
                </a:solidFill>
                <a:effectLst/>
                <a:uFill>
                  <a:solidFill>
                    <a:srgbClr val="000000"/>
                  </a:solidFill>
                </a:uFill>
                <a:latin typeface="+mj-lt"/>
                <a:ea typeface="Times New Roman" panose="02020603050405020304" pitchFamily="18" charset="0"/>
                <a:cs typeface="Calibri" panose="020F0502020204030204" pitchFamily="34" charset="0"/>
              </a:rPr>
              <a:t>rapid disposal of Shallow Tube Well (STW) electric connection along with strengthening rural infrastructure and economy</a:t>
            </a:r>
            <a:r>
              <a:rPr lang="en-US" sz="1100" u="none" strike="noStrike" dirty="0">
                <a:solidFill>
                  <a:srgbClr val="000000"/>
                </a:solidFill>
                <a:effectLst/>
                <a:uFill>
                  <a:solidFill>
                    <a:srgbClr val="000000"/>
                  </a:solidFill>
                </a:uFill>
                <a:latin typeface="+mj-lt"/>
                <a:ea typeface="Times New Roman" panose="02020603050405020304" pitchFamily="18" charset="0"/>
                <a:cs typeface="Calibri" panose="020F0502020204030204" pitchFamily="34" charset="0"/>
              </a:rPr>
              <a:t> The scheme will also help in better utilization of network assets and 33/11 kV substations created or to be created under government sponsored schemes.</a:t>
            </a:r>
          </a:p>
        </p:txBody>
      </p:sp>
      <p:graphicFrame>
        <p:nvGraphicFramePr>
          <p:cNvPr id="4" name="Table 3">
            <a:extLst>
              <a:ext uri="{FF2B5EF4-FFF2-40B4-BE49-F238E27FC236}">
                <a16:creationId xmlns:a16="http://schemas.microsoft.com/office/drawing/2014/main" id="{F6EEB492-E990-45EB-B155-6C416DA5CB16}"/>
              </a:ext>
            </a:extLst>
          </p:cNvPr>
          <p:cNvGraphicFramePr>
            <a:graphicFrameLocks noGrp="1"/>
          </p:cNvGraphicFramePr>
          <p:nvPr>
            <p:extLst>
              <p:ext uri="{D42A27DB-BD31-4B8C-83A1-F6EECF244321}">
                <p14:modId xmlns:p14="http://schemas.microsoft.com/office/powerpoint/2010/main" val="1343139651"/>
              </p:ext>
            </p:extLst>
          </p:nvPr>
        </p:nvGraphicFramePr>
        <p:xfrm>
          <a:off x="6946900" y="913130"/>
          <a:ext cx="4853934" cy="3550920"/>
        </p:xfrm>
        <a:graphic>
          <a:graphicData uri="http://schemas.openxmlformats.org/drawingml/2006/table">
            <a:tbl>
              <a:tblPr/>
              <a:tblGrid>
                <a:gridCol w="438774">
                  <a:extLst>
                    <a:ext uri="{9D8B030D-6E8A-4147-A177-3AD203B41FA5}">
                      <a16:colId xmlns:a16="http://schemas.microsoft.com/office/drawing/2014/main" val="3208915324"/>
                    </a:ext>
                  </a:extLst>
                </a:gridCol>
                <a:gridCol w="2639272">
                  <a:extLst>
                    <a:ext uri="{9D8B030D-6E8A-4147-A177-3AD203B41FA5}">
                      <a16:colId xmlns:a16="http://schemas.microsoft.com/office/drawing/2014/main" val="711593254"/>
                    </a:ext>
                  </a:extLst>
                </a:gridCol>
                <a:gridCol w="635620">
                  <a:extLst>
                    <a:ext uri="{9D8B030D-6E8A-4147-A177-3AD203B41FA5}">
                      <a16:colId xmlns:a16="http://schemas.microsoft.com/office/drawing/2014/main" val="422235946"/>
                    </a:ext>
                  </a:extLst>
                </a:gridCol>
                <a:gridCol w="1140268">
                  <a:extLst>
                    <a:ext uri="{9D8B030D-6E8A-4147-A177-3AD203B41FA5}">
                      <a16:colId xmlns:a16="http://schemas.microsoft.com/office/drawing/2014/main" val="4103523976"/>
                    </a:ext>
                  </a:extLst>
                </a:gridCol>
              </a:tblGrid>
              <a:tr h="45495">
                <a:tc>
                  <a:txBody>
                    <a:bodyPr/>
                    <a:lstStyle/>
                    <a:p>
                      <a:pPr algn="l" fontAlgn="ctr"/>
                      <a:r>
                        <a:rPr lang="en-US" sz="1200" b="1" i="0" u="none" strike="noStrike" dirty="0">
                          <a:solidFill>
                            <a:schemeClr val="bg1"/>
                          </a:solidFill>
                          <a:effectLst/>
                          <a:latin typeface="+mj-lt"/>
                        </a:rPr>
                        <a:t>No</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ctr" fontAlgn="ctr"/>
                      <a:r>
                        <a:rPr lang="en-US" sz="1200" b="1" i="0" u="none" strike="noStrike" dirty="0">
                          <a:solidFill>
                            <a:schemeClr val="bg1"/>
                          </a:solidFill>
                          <a:effectLst/>
                          <a:latin typeface="+mj-lt"/>
                        </a:rPr>
                        <a:t>Description of Work</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ctr" fontAlgn="ctr"/>
                      <a:r>
                        <a:rPr lang="en-US" sz="1200" b="1" i="0" u="none" strike="noStrike" dirty="0">
                          <a:solidFill>
                            <a:schemeClr val="bg1"/>
                          </a:solidFill>
                          <a:effectLst/>
                          <a:latin typeface="+mj-lt"/>
                        </a:rPr>
                        <a:t>Quantity</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ctr" fontAlgn="ctr"/>
                      <a:r>
                        <a:rPr lang="en-US" sz="1200" b="1" i="0" u="none" strike="noStrike" dirty="0">
                          <a:solidFill>
                            <a:schemeClr val="bg1"/>
                          </a:solidFill>
                          <a:effectLst/>
                          <a:latin typeface="+mj-lt"/>
                        </a:rPr>
                        <a:t>Total Cost in Rs Crore</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3867031637"/>
                  </a:ext>
                </a:extLst>
              </a:tr>
              <a:tr h="45495">
                <a:tc>
                  <a:txBody>
                    <a:bodyPr/>
                    <a:lstStyle/>
                    <a:p>
                      <a:pPr algn="ctr" fontAlgn="ctr"/>
                      <a:r>
                        <a:rPr lang="en-US" sz="1200" b="0" i="0" u="none" strike="noStrike">
                          <a:solidFill>
                            <a:srgbClr val="000000"/>
                          </a:solidFill>
                          <a:effectLst/>
                          <a:latin typeface="+mj-lt"/>
                          <a:ea typeface="Calibri" panose="020F0502020204030204" pitchFamily="34" charset="0"/>
                        </a:rPr>
                        <a:t>1</a:t>
                      </a:r>
                      <a:endParaRPr lang="en-US" sz="1200" b="0" i="0" u="none" strike="noStrike">
                        <a:solidFill>
                          <a:srgbClr val="000000"/>
                        </a:solidFill>
                        <a:effectLst/>
                        <a:latin typeface="+mj-lt"/>
                      </a:endParaRP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mj-lt"/>
                        </a:rPr>
                        <a:t>Drawal of 1 1 kV line with T-Off arrangement</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10000 CKms</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ea typeface="Calibri" panose="020F0502020204030204" pitchFamily="34" charset="0"/>
                        </a:rPr>
                        <a:t>468.44</a:t>
                      </a:r>
                      <a:endParaRPr lang="en-US" sz="1200" b="0" i="0" u="none" strike="noStrike">
                        <a:solidFill>
                          <a:srgbClr val="000000"/>
                        </a:solidFill>
                        <a:effectLst/>
                        <a:latin typeface="+mj-lt"/>
                      </a:endParaRP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076046"/>
                  </a:ext>
                </a:extLst>
              </a:tr>
              <a:tr h="45495">
                <a:tc>
                  <a:txBody>
                    <a:bodyPr/>
                    <a:lstStyle/>
                    <a:p>
                      <a:pPr algn="ctr" fontAlgn="ctr"/>
                      <a:r>
                        <a:rPr lang="en-US" sz="1200" b="0" i="0" u="none" strike="noStrike">
                          <a:solidFill>
                            <a:srgbClr val="000000"/>
                          </a:solidFill>
                          <a:effectLst/>
                          <a:latin typeface="+mj-lt"/>
                        </a:rPr>
                        <a:t>2</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mj-lt"/>
                        </a:rPr>
                        <a:t>Installation of Distribution Substations-25 KVA Capacities</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10000 Nos</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ea typeface="Calibri" panose="020F0502020204030204" pitchFamily="34" charset="0"/>
                        </a:rPr>
                        <a:t>232.56</a:t>
                      </a:r>
                      <a:endParaRPr lang="en-US" sz="1200" b="0" i="0" u="none" strike="noStrike">
                        <a:solidFill>
                          <a:srgbClr val="000000"/>
                        </a:solidFill>
                        <a:effectLst/>
                        <a:latin typeface="+mj-lt"/>
                      </a:endParaRP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5751344"/>
                  </a:ext>
                </a:extLst>
              </a:tr>
              <a:tr h="67854">
                <a:tc>
                  <a:txBody>
                    <a:bodyPr/>
                    <a:lstStyle/>
                    <a:p>
                      <a:pPr algn="ctr" fontAlgn="ctr"/>
                      <a:r>
                        <a:rPr lang="en-US" sz="1200" b="0" i="0" u="none" strike="noStrike">
                          <a:solidFill>
                            <a:srgbClr val="000000"/>
                          </a:solidFill>
                          <a:effectLst/>
                          <a:latin typeface="+mj-lt"/>
                        </a:rPr>
                        <a:t>3</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u="none" strike="noStrike">
                          <a:solidFill>
                            <a:srgbClr val="000000"/>
                          </a:solidFill>
                          <a:effectLst/>
                          <a:latin typeface="+mj-lt"/>
                        </a:rPr>
                        <a:t>Drawal of LT service line with 4 core 10 sq. mm. 1.1 kV rade PVC cable</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mj-lt"/>
                        </a:rPr>
                        <a:t>9900 CKms</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000000"/>
                          </a:solidFill>
                          <a:effectLst/>
                          <a:latin typeface="+mj-lt"/>
                          <a:ea typeface="Calibri" panose="020F0502020204030204" pitchFamily="34" charset="0"/>
                        </a:rPr>
                        <a:t>274.71</a:t>
                      </a:r>
                      <a:endParaRPr lang="en-US" sz="1200" b="0" i="0" u="none" strike="noStrike" dirty="0">
                        <a:solidFill>
                          <a:srgbClr val="000000"/>
                        </a:solidFill>
                        <a:effectLst/>
                        <a:latin typeface="+mj-lt"/>
                      </a:endParaRP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3168061"/>
                  </a:ext>
                </a:extLst>
              </a:tr>
              <a:tr h="0">
                <a:tc>
                  <a:txBody>
                    <a:bodyPr/>
                    <a:lstStyle/>
                    <a:p>
                      <a:pPr algn="ctr" fontAlgn="ctr"/>
                      <a:r>
                        <a:rPr lang="en-US" sz="1200" b="0" i="0" u="none" strike="noStrike">
                          <a:solidFill>
                            <a:srgbClr val="000000"/>
                          </a:solidFill>
                          <a:effectLst/>
                          <a:latin typeface="+mj-lt"/>
                        </a:rPr>
                        <a:t>4</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en-US" sz="1200" b="1" i="0" u="none" strike="noStrike" dirty="0">
                          <a:solidFill>
                            <a:srgbClr val="000000"/>
                          </a:solidFill>
                          <a:effectLst/>
                          <a:latin typeface="+mj-lt"/>
                        </a:rPr>
                        <a:t>Total Project Cost Sum 1:3</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ctr" fontAlgn="ctr"/>
                      <a:r>
                        <a:rPr lang="en-US" sz="1200" b="1" i="0" u="none" strike="noStrike" dirty="0">
                          <a:solidFill>
                            <a:srgbClr val="000000"/>
                          </a:solidFill>
                          <a:effectLst/>
                          <a:latin typeface="+mj-lt"/>
                          <a:ea typeface="Calibri" panose="020F0502020204030204" pitchFamily="34" charset="0"/>
                        </a:rPr>
                        <a:t>975.71</a:t>
                      </a:r>
                      <a:endParaRPr lang="en-US" sz="1200" b="1" i="0" u="none" strike="noStrike" dirty="0">
                        <a:solidFill>
                          <a:srgbClr val="000000"/>
                        </a:solidFill>
                        <a:effectLst/>
                        <a:latin typeface="+mj-lt"/>
                      </a:endParaRP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4403576"/>
                  </a:ext>
                </a:extLst>
              </a:tr>
              <a:tr h="0">
                <a:tc>
                  <a:txBody>
                    <a:bodyPr/>
                    <a:lstStyle/>
                    <a:p>
                      <a:pPr algn="ctr" fontAlgn="ctr"/>
                      <a:r>
                        <a:rPr lang="en-US" sz="1200" b="0" i="0" u="none" strike="noStrike">
                          <a:solidFill>
                            <a:srgbClr val="000000"/>
                          </a:solidFill>
                          <a:effectLst/>
                          <a:latin typeface="+mj-lt"/>
                          <a:ea typeface="Calibri" panose="020F0502020204030204" pitchFamily="34" charset="0"/>
                        </a:rPr>
                        <a:t>5</a:t>
                      </a:r>
                      <a:endParaRPr lang="en-US" sz="1200" b="0" i="0" u="none" strike="noStrike">
                        <a:solidFill>
                          <a:srgbClr val="000000"/>
                        </a:solidFill>
                        <a:effectLst/>
                        <a:latin typeface="+mj-lt"/>
                      </a:endParaRP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en-US" sz="1200" b="0" i="0" u="none" strike="noStrike">
                          <a:solidFill>
                            <a:srgbClr val="000000"/>
                          </a:solidFill>
                          <a:effectLst/>
                          <a:latin typeface="+mj-lt"/>
                        </a:rPr>
                        <a:t>Projected Interest</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ctr" fontAlgn="ctr"/>
                      <a:r>
                        <a:rPr lang="en-US" sz="1200" b="0" i="0" u="none" strike="noStrike">
                          <a:solidFill>
                            <a:srgbClr val="000000"/>
                          </a:solidFill>
                          <a:effectLst/>
                          <a:latin typeface="+mj-lt"/>
                          <a:ea typeface="Calibri" panose="020F0502020204030204" pitchFamily="34" charset="0"/>
                        </a:rPr>
                        <a:t>319.73</a:t>
                      </a:r>
                      <a:endParaRPr lang="en-US" sz="1200" b="0" i="0" u="none" strike="noStrike">
                        <a:solidFill>
                          <a:srgbClr val="000000"/>
                        </a:solidFill>
                        <a:effectLst/>
                        <a:latin typeface="+mj-lt"/>
                      </a:endParaRP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869363"/>
                  </a:ext>
                </a:extLst>
              </a:tr>
              <a:tr h="45495">
                <a:tc>
                  <a:txBody>
                    <a:bodyPr/>
                    <a:lstStyle/>
                    <a:p>
                      <a:pPr algn="ctr" fontAlgn="ctr"/>
                      <a:r>
                        <a:rPr lang="en-US" sz="1200" b="1" i="0" u="none" strike="noStrike">
                          <a:solidFill>
                            <a:srgbClr val="000000"/>
                          </a:solidFill>
                          <a:effectLst/>
                          <a:latin typeface="+mj-lt"/>
                          <a:ea typeface="Calibri" panose="020F0502020204030204" pitchFamily="34" charset="0"/>
                        </a:rPr>
                        <a:t>6</a:t>
                      </a:r>
                      <a:endParaRPr lang="en-US" sz="1200" b="1" i="0" u="none" strike="noStrike">
                        <a:solidFill>
                          <a:srgbClr val="000000"/>
                        </a:solidFill>
                        <a:effectLst/>
                        <a:latin typeface="+mj-lt"/>
                      </a:endParaRP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en-US" sz="1200" b="1" i="0" u="none" strike="noStrike" dirty="0">
                          <a:solidFill>
                            <a:srgbClr val="000000"/>
                          </a:solidFill>
                          <a:effectLst/>
                          <a:latin typeface="+mj-lt"/>
                        </a:rPr>
                        <a:t>Total Project Cost including Interest</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ctr" fontAlgn="ctr"/>
                      <a:r>
                        <a:rPr lang="en-US" sz="1200" b="1" i="0" u="none" strike="noStrike">
                          <a:solidFill>
                            <a:srgbClr val="000000"/>
                          </a:solidFill>
                          <a:effectLst/>
                          <a:latin typeface="+mj-lt"/>
                          <a:ea typeface="Calibri" panose="020F0502020204030204" pitchFamily="34" charset="0"/>
                        </a:rPr>
                        <a:t>1295.45</a:t>
                      </a:r>
                      <a:endParaRPr lang="en-US" sz="1200" b="1" i="0" u="none" strike="noStrike">
                        <a:solidFill>
                          <a:srgbClr val="000000"/>
                        </a:solidFill>
                        <a:effectLst/>
                        <a:latin typeface="+mj-lt"/>
                      </a:endParaRP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8878910"/>
                  </a:ext>
                </a:extLst>
              </a:tr>
              <a:tr h="45495">
                <a:tc gridSpan="3">
                  <a:txBody>
                    <a:bodyPr/>
                    <a:lstStyle/>
                    <a:p>
                      <a:pPr algn="ctr" fontAlgn="ctr"/>
                      <a:r>
                        <a:rPr lang="en-US" sz="1200" b="1" i="0" u="none" strike="noStrike" dirty="0">
                          <a:solidFill>
                            <a:schemeClr val="bg1"/>
                          </a:solidFill>
                          <a:effectLst/>
                          <a:latin typeface="+mj-lt"/>
                        </a:rPr>
                        <a:t>Funded By</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hMerge="1">
                  <a:txBody>
                    <a:bodyPr/>
                    <a:lstStyle/>
                    <a:p>
                      <a:endParaRPr lang="en-US"/>
                    </a:p>
                  </a:txBody>
                  <a:tcPr/>
                </a:tc>
                <a:tc hMerge="1">
                  <a:txBody>
                    <a:bodyPr/>
                    <a:lstStyle/>
                    <a:p>
                      <a:endParaRPr lang="en-US"/>
                    </a:p>
                  </a:txBody>
                  <a:tcPr/>
                </a:tc>
                <a:tc>
                  <a:txBody>
                    <a:bodyPr/>
                    <a:lstStyle/>
                    <a:p>
                      <a:pPr algn="ctr" fontAlgn="ctr"/>
                      <a:r>
                        <a:rPr lang="en-US" sz="1200" b="1" i="0" u="none" strike="noStrike" dirty="0">
                          <a:solidFill>
                            <a:schemeClr val="bg1"/>
                          </a:solidFill>
                          <a:effectLst/>
                          <a:latin typeface="+mj-lt"/>
                        </a:rPr>
                        <a:t>Total Cost in Rs Crore</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3906971483"/>
                  </a:ext>
                </a:extLst>
              </a:tr>
              <a:tr h="0">
                <a:tc>
                  <a:txBody>
                    <a:bodyPr/>
                    <a:lstStyle/>
                    <a:p>
                      <a:pPr algn="ctr" fontAlgn="ctr"/>
                      <a:r>
                        <a:rPr lang="en-US" sz="1200" b="0" i="0" u="none" strike="noStrike">
                          <a:solidFill>
                            <a:srgbClr val="000000"/>
                          </a:solidFill>
                          <a:effectLst/>
                          <a:latin typeface="+mj-lt"/>
                        </a:rPr>
                        <a:t>1</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fontAlgn="ctr"/>
                      <a:r>
                        <a:rPr lang="en-US" sz="1200" b="0" i="0" u="none" strike="noStrike">
                          <a:solidFill>
                            <a:srgbClr val="000000"/>
                          </a:solidFill>
                          <a:effectLst/>
                          <a:latin typeface="+mj-lt"/>
                        </a:rPr>
                        <a:t>Contribution by Consumers</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ctr" fontAlgn="ctr"/>
                      <a:r>
                        <a:rPr lang="en-US" sz="1200" b="0" i="0" u="none" strike="noStrike">
                          <a:solidFill>
                            <a:srgbClr val="000000"/>
                          </a:solidFill>
                          <a:effectLst/>
                          <a:latin typeface="+mj-lt"/>
                          <a:ea typeface="Calibri" panose="020F0502020204030204" pitchFamily="34" charset="0"/>
                        </a:rPr>
                        <a:t>12</a:t>
                      </a:r>
                      <a:endParaRPr lang="en-US" sz="1200" b="0" i="0" u="none" strike="noStrike">
                        <a:solidFill>
                          <a:srgbClr val="000000"/>
                        </a:solidFill>
                        <a:effectLst/>
                        <a:latin typeface="+mj-lt"/>
                      </a:endParaRP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48439443"/>
                  </a:ext>
                </a:extLst>
              </a:tr>
              <a:tr h="45495">
                <a:tc>
                  <a:txBody>
                    <a:bodyPr/>
                    <a:lstStyle/>
                    <a:p>
                      <a:pPr algn="ctr" fontAlgn="ctr"/>
                      <a:r>
                        <a:rPr lang="en-US" sz="1200" b="0" i="0" u="none" strike="noStrike">
                          <a:solidFill>
                            <a:srgbClr val="000000"/>
                          </a:solidFill>
                          <a:effectLst/>
                          <a:latin typeface="+mj-lt"/>
                        </a:rPr>
                        <a:t>2</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fontAlgn="ctr"/>
                      <a:r>
                        <a:rPr lang="en-US" sz="1200" b="0" i="0" u="none" strike="noStrike">
                          <a:solidFill>
                            <a:srgbClr val="000000"/>
                          </a:solidFill>
                          <a:effectLst/>
                          <a:latin typeface="+mj-lt"/>
                        </a:rPr>
                        <a:t>Alread received rant in aid from Government of West Bengal</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ctr" fontAlgn="ctr"/>
                      <a:r>
                        <a:rPr lang="en-US" sz="1200" b="0" i="0" u="none" strike="noStrike">
                          <a:solidFill>
                            <a:srgbClr val="000000"/>
                          </a:solidFill>
                          <a:effectLst/>
                          <a:latin typeface="+mj-lt"/>
                          <a:ea typeface="Calibri" panose="020F0502020204030204" pitchFamily="34" charset="0"/>
                        </a:rPr>
                        <a:t>450</a:t>
                      </a:r>
                      <a:endParaRPr lang="en-US" sz="1200" b="0" i="0" u="none" strike="noStrike">
                        <a:solidFill>
                          <a:srgbClr val="000000"/>
                        </a:solidFill>
                        <a:effectLst/>
                        <a:latin typeface="+mj-lt"/>
                      </a:endParaRP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4282724"/>
                  </a:ext>
                </a:extLst>
              </a:tr>
              <a:tr h="0">
                <a:tc>
                  <a:txBody>
                    <a:bodyPr/>
                    <a:lstStyle/>
                    <a:p>
                      <a:pPr algn="ctr" fontAlgn="ctr"/>
                      <a:r>
                        <a:rPr lang="en-US" sz="1200" b="0" i="0" u="none" strike="noStrike">
                          <a:solidFill>
                            <a:srgbClr val="000000"/>
                          </a:solidFill>
                          <a:effectLst/>
                          <a:latin typeface="+mj-lt"/>
                        </a:rPr>
                        <a:t>3</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fontAlgn="ctr"/>
                      <a:r>
                        <a:rPr lang="en-US" sz="1200" b="0" i="0" u="none" strike="noStrike">
                          <a:solidFill>
                            <a:srgbClr val="000000"/>
                          </a:solidFill>
                          <a:effectLst/>
                          <a:latin typeface="+mj-lt"/>
                        </a:rPr>
                        <a:t>Loan assistance from RECL</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ctr" fontAlgn="ctr"/>
                      <a:r>
                        <a:rPr lang="en-US" sz="1200" b="0" i="0" u="none" strike="noStrike">
                          <a:solidFill>
                            <a:srgbClr val="000000"/>
                          </a:solidFill>
                          <a:effectLst/>
                          <a:latin typeface="+mj-lt"/>
                          <a:ea typeface="Calibri" panose="020F0502020204030204" pitchFamily="34" charset="0"/>
                        </a:rPr>
                        <a:t>513.71</a:t>
                      </a:r>
                      <a:endParaRPr lang="en-US" sz="1200" b="0" i="0" u="none" strike="noStrike">
                        <a:solidFill>
                          <a:srgbClr val="000000"/>
                        </a:solidFill>
                        <a:effectLst/>
                        <a:latin typeface="+mj-lt"/>
                      </a:endParaRP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14547270"/>
                  </a:ext>
                </a:extLst>
              </a:tr>
              <a:tr h="0">
                <a:tc gridSpan="3">
                  <a:txBody>
                    <a:bodyPr/>
                    <a:lstStyle/>
                    <a:p>
                      <a:pPr algn="ctr" fontAlgn="ctr"/>
                      <a:r>
                        <a:rPr lang="en-US" sz="1200" b="1" i="0" u="none" strike="noStrike">
                          <a:solidFill>
                            <a:srgbClr val="000000"/>
                          </a:solidFill>
                          <a:effectLst/>
                          <a:latin typeface="+mj-lt"/>
                        </a:rPr>
                        <a:t>Total</a:t>
                      </a: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fontAlgn="ctr"/>
                      <a:r>
                        <a:rPr lang="en-US" sz="1200" b="1" i="0" u="none" strike="noStrike" dirty="0">
                          <a:solidFill>
                            <a:srgbClr val="000000"/>
                          </a:solidFill>
                          <a:effectLst/>
                          <a:latin typeface="+mj-lt"/>
                          <a:ea typeface="Calibri" panose="020F0502020204030204" pitchFamily="34" charset="0"/>
                        </a:rPr>
                        <a:t>975.71</a:t>
                      </a:r>
                      <a:endParaRPr lang="en-US" sz="1200" b="1" i="0" u="none" strike="noStrike" dirty="0">
                        <a:solidFill>
                          <a:srgbClr val="000000"/>
                        </a:solidFill>
                        <a:effectLst/>
                        <a:latin typeface="+mj-lt"/>
                      </a:endParaRPr>
                    </a:p>
                  </a:txBody>
                  <a:tcPr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8499216"/>
                  </a:ext>
                </a:extLst>
              </a:tr>
            </a:tbl>
          </a:graphicData>
        </a:graphic>
      </p:graphicFrame>
      <p:graphicFrame>
        <p:nvGraphicFramePr>
          <p:cNvPr id="5" name="Table 5">
            <a:extLst>
              <a:ext uri="{FF2B5EF4-FFF2-40B4-BE49-F238E27FC236}">
                <a16:creationId xmlns:a16="http://schemas.microsoft.com/office/drawing/2014/main" id="{6EB296FC-D54A-4BDD-BFD9-9FBF1A8A771D}"/>
              </a:ext>
            </a:extLst>
          </p:cNvPr>
          <p:cNvGraphicFramePr>
            <a:graphicFrameLocks noGrp="1"/>
          </p:cNvGraphicFramePr>
          <p:nvPr>
            <p:extLst>
              <p:ext uri="{D42A27DB-BD31-4B8C-83A1-F6EECF244321}">
                <p14:modId xmlns:p14="http://schemas.microsoft.com/office/powerpoint/2010/main" val="1877407765"/>
              </p:ext>
            </p:extLst>
          </p:nvPr>
        </p:nvGraphicFramePr>
        <p:xfrm>
          <a:off x="440050" y="567518"/>
          <a:ext cx="11360785" cy="304800"/>
        </p:xfrm>
        <a:graphic>
          <a:graphicData uri="http://schemas.openxmlformats.org/drawingml/2006/table">
            <a:tbl>
              <a:tblPr firstRow="1" bandRow="1">
                <a:tableStyleId>{5C22544A-7EE6-4342-B048-85BDC9FD1C3A}</a:tableStyleId>
              </a:tblPr>
              <a:tblGrid>
                <a:gridCol w="11360785">
                  <a:extLst>
                    <a:ext uri="{9D8B030D-6E8A-4147-A177-3AD203B41FA5}">
                      <a16:colId xmlns:a16="http://schemas.microsoft.com/office/drawing/2014/main" val="4205475542"/>
                    </a:ext>
                  </a:extLst>
                </a:gridCol>
              </a:tblGrid>
              <a:tr h="0">
                <a:tc>
                  <a:txBody>
                    <a:bodyPr/>
                    <a:lstStyle/>
                    <a:p>
                      <a:pPr algn="ctr"/>
                      <a:r>
                        <a:rPr lang="en-US" sz="1400" dirty="0">
                          <a:latin typeface="Calibri" panose="020F0502020204030204" pitchFamily="34" charset="0"/>
                          <a:cs typeface="Calibri" panose="020F0502020204030204" pitchFamily="34" charset="0"/>
                        </a:rPr>
                        <a:t>REAPS Scheme Phase II</a:t>
                      </a:r>
                    </a:p>
                  </a:txBody>
                  <a:tcPr>
                    <a:solidFill>
                      <a:srgbClr val="007680"/>
                    </a:solidFill>
                  </a:tcPr>
                </a:tc>
                <a:extLst>
                  <a:ext uri="{0D108BD9-81ED-4DB2-BD59-A6C34878D82A}">
                    <a16:rowId xmlns:a16="http://schemas.microsoft.com/office/drawing/2014/main" val="2376326276"/>
                  </a:ext>
                </a:extLst>
              </a:tr>
            </a:tbl>
          </a:graphicData>
        </a:graphic>
      </p:graphicFrame>
      <p:graphicFrame>
        <p:nvGraphicFramePr>
          <p:cNvPr id="15" name="Table 5">
            <a:extLst>
              <a:ext uri="{FF2B5EF4-FFF2-40B4-BE49-F238E27FC236}">
                <a16:creationId xmlns:a16="http://schemas.microsoft.com/office/drawing/2014/main" id="{92798D34-63D7-4BC6-A8E2-78A51DF48ED0}"/>
              </a:ext>
            </a:extLst>
          </p:cNvPr>
          <p:cNvGraphicFramePr>
            <a:graphicFrameLocks noGrp="1"/>
          </p:cNvGraphicFramePr>
          <p:nvPr>
            <p:extLst>
              <p:ext uri="{D42A27DB-BD31-4B8C-83A1-F6EECF244321}">
                <p14:modId xmlns:p14="http://schemas.microsoft.com/office/powerpoint/2010/main" val="3270535186"/>
              </p:ext>
            </p:extLst>
          </p:nvPr>
        </p:nvGraphicFramePr>
        <p:xfrm>
          <a:off x="440050" y="4705971"/>
          <a:ext cx="11360785" cy="304800"/>
        </p:xfrm>
        <a:graphic>
          <a:graphicData uri="http://schemas.openxmlformats.org/drawingml/2006/table">
            <a:tbl>
              <a:tblPr firstRow="1" bandRow="1">
                <a:tableStyleId>{5C22544A-7EE6-4342-B048-85BDC9FD1C3A}</a:tableStyleId>
              </a:tblPr>
              <a:tblGrid>
                <a:gridCol w="11360785">
                  <a:extLst>
                    <a:ext uri="{9D8B030D-6E8A-4147-A177-3AD203B41FA5}">
                      <a16:colId xmlns:a16="http://schemas.microsoft.com/office/drawing/2014/main" val="4205475542"/>
                    </a:ext>
                  </a:extLst>
                </a:gridCol>
              </a:tblGrid>
              <a:tr h="189227">
                <a:tc>
                  <a:txBody>
                    <a:bodyPr/>
                    <a:lstStyle/>
                    <a:p>
                      <a:pPr algn="ctr"/>
                      <a:r>
                        <a:rPr lang="en-US" sz="1400" dirty="0">
                          <a:latin typeface="Calibri" panose="020F0502020204030204" pitchFamily="34" charset="0"/>
                          <a:cs typeface="Calibri" panose="020F0502020204030204" pitchFamily="34" charset="0"/>
                        </a:rPr>
                        <a:t>REAPS Scheme Phase III</a:t>
                      </a:r>
                    </a:p>
                  </a:txBody>
                  <a:tcPr>
                    <a:solidFill>
                      <a:srgbClr val="007680"/>
                    </a:solidFill>
                  </a:tcPr>
                </a:tc>
                <a:extLst>
                  <a:ext uri="{0D108BD9-81ED-4DB2-BD59-A6C34878D82A}">
                    <a16:rowId xmlns:a16="http://schemas.microsoft.com/office/drawing/2014/main" val="2376326276"/>
                  </a:ext>
                </a:extLst>
              </a:tr>
            </a:tbl>
          </a:graphicData>
        </a:graphic>
      </p:graphicFrame>
      <p:sp>
        <p:nvSpPr>
          <p:cNvPr id="16" name="TextBox 15">
            <a:extLst>
              <a:ext uri="{FF2B5EF4-FFF2-40B4-BE49-F238E27FC236}">
                <a16:creationId xmlns:a16="http://schemas.microsoft.com/office/drawing/2014/main" id="{9836C640-559D-4811-A0F8-D6E89154851B}"/>
              </a:ext>
            </a:extLst>
          </p:cNvPr>
          <p:cNvSpPr txBox="1"/>
          <p:nvPr/>
        </p:nvSpPr>
        <p:spPr>
          <a:xfrm>
            <a:off x="391165" y="5010771"/>
            <a:ext cx="11409670" cy="1073755"/>
          </a:xfrm>
          <a:prstGeom prst="rect">
            <a:avLst/>
          </a:prstGeom>
          <a:noFill/>
        </p:spPr>
        <p:txBody>
          <a:bodyPr wrap="square">
            <a:spAutoFit/>
          </a:bodyPr>
          <a:lstStyle/>
          <a:p>
            <a:pPr marL="171450" indent="-171450">
              <a:lnSpc>
                <a:spcPct val="150000"/>
              </a:lnSpc>
              <a:buFont typeface="Wingdings" panose="05000000000000000000" pitchFamily="2" charset="2"/>
              <a:buChar char="q"/>
            </a:pPr>
            <a:r>
              <a:rPr lang="en-US" sz="1100" dirty="0">
                <a:solidFill>
                  <a:srgbClr val="000000"/>
                </a:solidFill>
                <a:effectLst/>
                <a:latin typeface="+mj-lt"/>
                <a:ea typeface="Calibri" panose="020F0502020204030204" pitchFamily="34" charset="0"/>
              </a:rPr>
              <a:t>WBSEDCL has submitted for </a:t>
            </a:r>
            <a:r>
              <a:rPr lang="en-US" sz="1100" b="1" dirty="0">
                <a:solidFill>
                  <a:srgbClr val="000000"/>
                </a:solidFill>
                <a:effectLst/>
                <a:latin typeface="+mj-lt"/>
                <a:ea typeface="Calibri" panose="020F0502020204030204" pitchFamily="34" charset="0"/>
              </a:rPr>
              <a:t>6138 numbers of new electric connection rapidly to the intending farmers</a:t>
            </a:r>
            <a:r>
              <a:rPr lang="en-US" sz="1100" dirty="0">
                <a:solidFill>
                  <a:srgbClr val="000000"/>
                </a:solidFill>
                <a:effectLst/>
                <a:latin typeface="+mj-lt"/>
                <a:ea typeface="Calibri" panose="020F0502020204030204" pitchFamily="34" charset="0"/>
              </a:rPr>
              <a:t> who have applied for supply of power of their pump sets,</a:t>
            </a:r>
          </a:p>
          <a:p>
            <a:pPr marL="171450" indent="-171450">
              <a:lnSpc>
                <a:spcPct val="150000"/>
              </a:lnSpc>
              <a:buFont typeface="Wingdings" panose="05000000000000000000" pitchFamily="2" charset="2"/>
              <a:buChar char="q"/>
            </a:pPr>
            <a:r>
              <a:rPr lang="en-US" sz="1100" b="1" dirty="0">
                <a:solidFill>
                  <a:srgbClr val="000000"/>
                </a:solidFill>
                <a:effectLst/>
                <a:latin typeface="+mj-lt"/>
                <a:ea typeface="Calibri" panose="020F0502020204030204" pitchFamily="34" charset="0"/>
              </a:rPr>
              <a:t>WBSEDCL</a:t>
            </a:r>
            <a:r>
              <a:rPr lang="en-US" sz="1100" dirty="0">
                <a:solidFill>
                  <a:srgbClr val="000000"/>
                </a:solidFill>
                <a:effectLst/>
                <a:latin typeface="+mj-lt"/>
                <a:ea typeface="Calibri" panose="020F0502020204030204" pitchFamily="34" charset="0"/>
              </a:rPr>
              <a:t> </a:t>
            </a:r>
            <a:r>
              <a:rPr lang="en-US" sz="1100" b="1" dirty="0">
                <a:solidFill>
                  <a:srgbClr val="000000"/>
                </a:solidFill>
                <a:effectLst/>
                <a:latin typeface="+mj-lt"/>
                <a:ea typeface="Calibri" panose="020F0502020204030204" pitchFamily="34" charset="0"/>
              </a:rPr>
              <a:t>has formulated a scheme termed </a:t>
            </a:r>
            <a:r>
              <a:rPr lang="en-US" sz="1100" dirty="0">
                <a:solidFill>
                  <a:srgbClr val="000000"/>
                </a:solidFill>
                <a:effectLst/>
                <a:latin typeface="+mj-lt"/>
                <a:ea typeface="Calibri" panose="020F0502020204030204" pitchFamily="34" charset="0"/>
              </a:rPr>
              <a:t>as Rapid Electrification of Agricultural Pump Sets (</a:t>
            </a:r>
            <a:r>
              <a:rPr lang="en-US" sz="1100" b="1" dirty="0">
                <a:solidFill>
                  <a:srgbClr val="000000"/>
                </a:solidFill>
                <a:effectLst/>
                <a:latin typeface="+mj-lt"/>
                <a:ea typeface="Calibri" panose="020F0502020204030204" pitchFamily="34" charset="0"/>
              </a:rPr>
              <a:t>REAPS Phase 3</a:t>
            </a:r>
            <a:r>
              <a:rPr lang="en-US" sz="1100" dirty="0">
                <a:solidFill>
                  <a:srgbClr val="000000"/>
                </a:solidFill>
                <a:effectLst/>
                <a:latin typeface="+mj-lt"/>
                <a:ea typeface="Calibri" panose="020F0502020204030204" pitchFamily="34" charset="0"/>
              </a:rPr>
              <a:t>) with an estimated project cost of </a:t>
            </a:r>
            <a:r>
              <a:rPr lang="en-US" sz="1100" b="1" dirty="0">
                <a:solidFill>
                  <a:srgbClr val="000000"/>
                </a:solidFill>
                <a:effectLst/>
                <a:latin typeface="+mj-lt"/>
                <a:ea typeface="Calibri" panose="020F0502020204030204" pitchFamily="34" charset="0"/>
              </a:rPr>
              <a:t>Rs. 210 Crores.</a:t>
            </a:r>
            <a:endParaRPr lang="en-US" sz="1100" b="1" dirty="0">
              <a:latin typeface="+mj-lt"/>
            </a:endParaRPr>
          </a:p>
        </p:txBody>
      </p:sp>
      <p:sp>
        <p:nvSpPr>
          <p:cNvPr id="22" name="TextBox 21">
            <a:extLst>
              <a:ext uri="{FF2B5EF4-FFF2-40B4-BE49-F238E27FC236}">
                <a16:creationId xmlns:a16="http://schemas.microsoft.com/office/drawing/2014/main" id="{718BE118-4C40-4024-9709-49302EB11B6A}"/>
              </a:ext>
            </a:extLst>
          </p:cNvPr>
          <p:cNvSpPr txBox="1"/>
          <p:nvPr/>
        </p:nvSpPr>
        <p:spPr>
          <a:xfrm>
            <a:off x="3226238" y="6594466"/>
            <a:ext cx="7441324" cy="169277"/>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latin typeface="+mj-lt"/>
                <a:cs typeface="Calibri" panose="020F0502020204030204" pitchFamily="34" charset="0"/>
              </a:rPr>
              <a:t>Source : </a:t>
            </a:r>
            <a:r>
              <a:rPr lang="en-US" sz="1100" i="1" u="sng" dirty="0">
                <a:solidFill>
                  <a:srgbClr val="00A3E0"/>
                </a:solidFill>
                <a:latin typeface="+mj-lt"/>
                <a:cs typeface="Calibri" panose="020F0502020204030204" pitchFamily="34" charset="0"/>
              </a:rPr>
              <a:t>https://wberc.gov.in/sites/default/files/OA-322_19-20.pdf</a:t>
            </a:r>
          </a:p>
        </p:txBody>
      </p:sp>
      <p:sp>
        <p:nvSpPr>
          <p:cNvPr id="2" name="TextBox 1">
            <a:extLst>
              <a:ext uri="{FF2B5EF4-FFF2-40B4-BE49-F238E27FC236}">
                <a16:creationId xmlns:a16="http://schemas.microsoft.com/office/drawing/2014/main" id="{E32EC60F-6323-4BC5-910D-16AA0552A807}"/>
              </a:ext>
            </a:extLst>
          </p:cNvPr>
          <p:cNvSpPr txBox="1"/>
          <p:nvPr/>
        </p:nvSpPr>
        <p:spPr>
          <a:xfrm>
            <a:off x="488936" y="6160728"/>
            <a:ext cx="11188700" cy="367024"/>
          </a:xfrm>
          <a:prstGeom prst="rect">
            <a:avLst/>
          </a:prstGeom>
          <a:solidFill>
            <a:schemeClr val="tx2">
              <a:lumMod val="20000"/>
              <a:lumOff val="80000"/>
            </a:schemeClr>
          </a:solidFill>
        </p:spPr>
        <p:txBody>
          <a:bodyPr wrap="square" lIns="0" tIns="0" rIns="0" bIns="0" rtlCol="0">
            <a:spAutoFit/>
          </a:bodyPr>
          <a:lstStyle/>
          <a:p>
            <a:pPr marR="0" lvl="0" algn="l" defTabSz="914342" rtl="0" eaLnBrk="1" fontAlgn="auto" latinLnBrk="0" hangingPunct="1">
              <a:lnSpc>
                <a:spcPct val="114000"/>
              </a:lnSpc>
              <a:spcBef>
                <a:spcPts val="0"/>
              </a:spcBef>
              <a:spcAft>
                <a:spcPts val="0"/>
              </a:spcAft>
              <a:buClrTx/>
              <a:buSzPct val="100000"/>
              <a:tabLst/>
              <a:defRPr/>
            </a:pPr>
            <a:r>
              <a:rPr lang="en-US" sz="1100" dirty="0">
                <a:solidFill>
                  <a:srgbClr val="313131"/>
                </a:solidFill>
              </a:rPr>
              <a:t>Note: </a:t>
            </a:r>
            <a:r>
              <a:rPr kumimoji="0" lang="en-US" sz="1100" b="0" i="1" u="none" strike="noStrike" kern="1200" cap="none" spc="0" normalizeH="0" baseline="0" noProof="0" dirty="0">
                <a:ln>
                  <a:noFill/>
                </a:ln>
                <a:solidFill>
                  <a:prstClr val="black"/>
                </a:solidFill>
                <a:effectLst/>
                <a:uLnTx/>
                <a:uFillTx/>
                <a:latin typeface="+mn-lt"/>
                <a:ea typeface="+mn-ea"/>
                <a:cs typeface="+mn-cs"/>
              </a:rPr>
              <a:t>Phase I &amp; II: Scheme has been completed with help of own fund over and above the Govt grant and consumer contribution as the loan fund was not available till then; For Phase III, as per WBSEDCL Annual report, Phase III was under implementation stage which was expected to be completed March 2022</a:t>
            </a:r>
          </a:p>
        </p:txBody>
      </p:sp>
    </p:spTree>
    <p:extLst>
      <p:ext uri="{BB962C8B-B14F-4D97-AF65-F5344CB8AC3E}">
        <p14:creationId xmlns:p14="http://schemas.microsoft.com/office/powerpoint/2010/main" val="42603704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4392"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4" y="1693206"/>
            <a:ext cx="10769599" cy="307777"/>
          </a:xfrm>
        </p:spPr>
        <p:txBody>
          <a:bodyPr wrap="square" anchor="ctr" anchorCtr="0">
            <a:spAutoFit/>
          </a:bodyPr>
          <a:lstStyle/>
          <a:p>
            <a:r>
              <a:rPr lang="en-US" sz="2000" i="0" dirty="0">
                <a:solidFill>
                  <a:schemeClr val="tx1"/>
                </a:solidFill>
              </a:rPr>
              <a:t>Details of Revamped Distribution Sector Scheme (RDSS)</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35430" y="1590786"/>
            <a:ext cx="668796" cy="501149"/>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400" b="1" i="0" u="none" strike="noStrike" kern="0" cap="none" spc="0" normalizeH="0" baseline="0" noProof="0" dirty="0">
                <a:ln>
                  <a:noFill/>
                </a:ln>
                <a:solidFill>
                  <a:prstClr val="white"/>
                </a:solidFill>
                <a:effectLst/>
                <a:uLnTx/>
                <a:uFillTx/>
              </a:rPr>
              <a:t>2E</a:t>
            </a:r>
          </a:p>
        </p:txBody>
      </p:sp>
      <p:grpSp>
        <p:nvGrpSpPr>
          <p:cNvPr id="14" name="Group 526">
            <a:extLst>
              <a:ext uri="{FF2B5EF4-FFF2-40B4-BE49-F238E27FC236}">
                <a16:creationId xmlns:a16="http://schemas.microsoft.com/office/drawing/2014/main" id="{5540E149-1F19-4064-9714-B21FD0705489}"/>
              </a:ext>
            </a:extLst>
          </p:cNvPr>
          <p:cNvGrpSpPr>
            <a:grpSpLocks noChangeAspect="1"/>
          </p:cNvGrpSpPr>
          <p:nvPr/>
        </p:nvGrpSpPr>
        <p:grpSpPr bwMode="auto">
          <a:xfrm>
            <a:off x="1104225" y="3008313"/>
            <a:ext cx="2345264" cy="2345264"/>
            <a:chOff x="3464" y="1974"/>
            <a:chExt cx="340" cy="340"/>
          </a:xfrm>
          <a:solidFill>
            <a:srgbClr val="9CAC00"/>
          </a:solidFill>
        </p:grpSpPr>
        <p:sp>
          <p:nvSpPr>
            <p:cNvPr id="15" name="Freeform 527">
              <a:extLst>
                <a:ext uri="{FF2B5EF4-FFF2-40B4-BE49-F238E27FC236}">
                  <a16:creationId xmlns:a16="http://schemas.microsoft.com/office/drawing/2014/main" id="{2261B12D-A407-4719-9125-F49F83DDB571}"/>
                </a:ext>
              </a:extLst>
            </p:cNvPr>
            <p:cNvSpPr>
              <a:spLocks noEditPoints="1"/>
            </p:cNvSpPr>
            <p:nvPr/>
          </p:nvSpPr>
          <p:spPr bwMode="auto">
            <a:xfrm>
              <a:off x="3464" y="197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528">
              <a:extLst>
                <a:ext uri="{FF2B5EF4-FFF2-40B4-BE49-F238E27FC236}">
                  <a16:creationId xmlns:a16="http://schemas.microsoft.com/office/drawing/2014/main" id="{4FB09AB9-A79B-434D-9DE7-187BE7279860}"/>
                </a:ext>
              </a:extLst>
            </p:cNvPr>
            <p:cNvSpPr>
              <a:spLocks noEditPoints="1"/>
            </p:cNvSpPr>
            <p:nvPr/>
          </p:nvSpPr>
          <p:spPr bwMode="auto">
            <a:xfrm>
              <a:off x="3541" y="2037"/>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437805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193988"/>
            <a:ext cx="11188700" cy="368299"/>
          </a:xfrm>
        </p:spPr>
        <p:txBody>
          <a:bodyPr vert="horz"/>
          <a:lstStyle/>
          <a:p>
            <a:pPr algn="just"/>
            <a:r>
              <a:rPr lang="en-US" sz="1800" i="0" dirty="0">
                <a:solidFill>
                  <a:schemeClr val="tx1"/>
                </a:solidFill>
                <a:latin typeface="+mj-lt"/>
              </a:rPr>
              <a:t>Background of RDSS - Reforms-based and Results-linked Scheme</a:t>
            </a:r>
          </a:p>
        </p:txBody>
      </p:sp>
      <p:sp>
        <p:nvSpPr>
          <p:cNvPr id="13" name="Rectangle 19">
            <a:extLst>
              <a:ext uri="{FF2B5EF4-FFF2-40B4-BE49-F238E27FC236}">
                <a16:creationId xmlns:a16="http://schemas.microsoft.com/office/drawing/2014/main" id="{6A4087E2-3A4E-46B0-BB1B-BD31352026FB}"/>
              </a:ext>
            </a:extLst>
          </p:cNvPr>
          <p:cNvSpPr>
            <a:spLocks noChangeArrowheads="1"/>
          </p:cNvSpPr>
          <p:nvPr/>
        </p:nvSpPr>
        <p:spPr bwMode="auto">
          <a:xfrm>
            <a:off x="3714528" y="660401"/>
            <a:ext cx="8121872" cy="1959200"/>
          </a:xfrm>
          <a:prstGeom prst="rect">
            <a:avLst/>
          </a:prstGeom>
          <a:solidFill>
            <a:schemeClr val="accent1">
              <a:lumMod val="20000"/>
              <a:lumOff val="80000"/>
            </a:schemeClr>
          </a:solidFill>
          <a:ln w="19050" algn="ctr">
            <a:solidFill>
              <a:schemeClr val="accent1"/>
            </a:solidFill>
            <a:miter lim="800000"/>
            <a:headEnd/>
            <a:tailEnd/>
          </a:ln>
        </p:spPr>
        <p:txBody>
          <a:bodyPr wrap="square" lIns="88900" tIns="88900" rIns="88900" bIns="88900" anchor="ctr"/>
          <a:lstStyle/>
          <a:p>
            <a:pPr marL="285750" indent="-285750" algn="just">
              <a:spcBef>
                <a:spcPts val="600"/>
              </a:spcBef>
              <a:buFont typeface="Wingdings" panose="05000000000000000000" pitchFamily="2" charset="2"/>
              <a:buChar char="§"/>
              <a:defRPr/>
            </a:pPr>
            <a:r>
              <a:rPr lang="en-US" sz="1300" dirty="0">
                <a:latin typeface="+mj-lt"/>
                <a:ea typeface="ＭＳ Ｐゴシック" pitchFamily="50" charset="-128"/>
                <a:cs typeface="Calibri" panose="020F0502020204030204" pitchFamily="34" charset="0"/>
              </a:rPr>
              <a:t>RDSS Scheme has been approved by Central Government with objective to improve the quality, reliability and affordability of power supply to consumers through a financially sustainable and operationally efficient distribution sector.</a:t>
            </a:r>
          </a:p>
          <a:p>
            <a:pPr marL="285750" indent="-285750" algn="just">
              <a:spcBef>
                <a:spcPts val="600"/>
              </a:spcBef>
              <a:buFont typeface="Wingdings" panose="05000000000000000000" pitchFamily="2" charset="2"/>
              <a:buChar char="§"/>
              <a:defRPr/>
            </a:pPr>
            <a:r>
              <a:rPr lang="en-US" sz="1300" dirty="0">
                <a:latin typeface="+mj-lt"/>
                <a:ea typeface="ＭＳ Ｐゴシック" pitchFamily="50" charset="-128"/>
                <a:cs typeface="Calibri" panose="020F0502020204030204" pitchFamily="34" charset="0"/>
              </a:rPr>
              <a:t>Main aim of the Scheme :</a:t>
            </a:r>
          </a:p>
          <a:p>
            <a:pPr marL="1317625" indent="400050" algn="just">
              <a:spcBef>
                <a:spcPts val="600"/>
              </a:spcBef>
              <a:buFont typeface="Wingdings" panose="05000000000000000000" pitchFamily="2" charset="2"/>
              <a:buChar char="ü"/>
              <a:defRPr/>
            </a:pPr>
            <a:r>
              <a:rPr lang="en-US" sz="1300" dirty="0">
                <a:latin typeface="+mj-lt"/>
                <a:ea typeface="ＭＳ Ｐゴシック" pitchFamily="50" charset="-128"/>
                <a:cs typeface="Calibri" panose="020F0502020204030204" pitchFamily="34" charset="0"/>
              </a:rPr>
              <a:t>Reduce the AT&amp;C losses to pan-India levels of 12-15%  by 2024-25</a:t>
            </a:r>
          </a:p>
          <a:p>
            <a:pPr marL="1317625" indent="400050" algn="just">
              <a:spcBef>
                <a:spcPts val="600"/>
              </a:spcBef>
              <a:buFont typeface="Wingdings" panose="05000000000000000000" pitchFamily="2" charset="2"/>
              <a:buChar char="ü"/>
              <a:defRPr/>
            </a:pPr>
            <a:r>
              <a:rPr lang="en-US" sz="1300" dirty="0">
                <a:latin typeface="+mj-lt"/>
                <a:ea typeface="ＭＳ Ｐゴシック" pitchFamily="50" charset="-128"/>
                <a:cs typeface="Calibri" panose="020F0502020204030204" pitchFamily="34" charset="0"/>
              </a:rPr>
              <a:t>Reduce ACS-ARR gap to zero by 2024-25</a:t>
            </a:r>
          </a:p>
          <a:p>
            <a:pPr marL="285750" indent="-285750" algn="just">
              <a:spcBef>
                <a:spcPts val="600"/>
              </a:spcBef>
              <a:buFont typeface="Wingdings" panose="05000000000000000000" pitchFamily="2" charset="2"/>
              <a:buChar char="§"/>
              <a:defRPr/>
            </a:pPr>
            <a:r>
              <a:rPr lang="en-US" sz="1300" dirty="0">
                <a:latin typeface="+mj-lt"/>
                <a:ea typeface="ＭＳ Ｐゴシック" pitchFamily="50" charset="-128"/>
                <a:cs typeface="Calibri" panose="020F0502020204030204" pitchFamily="34" charset="0"/>
              </a:rPr>
              <a:t>Total Estimated outlay of Rs. 303758 crore over a period of five years from FY 2021-22 to FY 2024-25</a:t>
            </a:r>
          </a:p>
        </p:txBody>
      </p:sp>
      <p:sp>
        <p:nvSpPr>
          <p:cNvPr id="15" name="AutoShape 12">
            <a:extLst>
              <a:ext uri="{FF2B5EF4-FFF2-40B4-BE49-F238E27FC236}">
                <a16:creationId xmlns:a16="http://schemas.microsoft.com/office/drawing/2014/main" id="{D25A157A-40C0-4653-82F8-8E24BE766158}"/>
              </a:ext>
            </a:extLst>
          </p:cNvPr>
          <p:cNvSpPr>
            <a:spLocks noChangeArrowheads="1"/>
          </p:cNvSpPr>
          <p:nvPr/>
        </p:nvSpPr>
        <p:spPr bwMode="auto">
          <a:xfrm>
            <a:off x="2582414" y="562658"/>
            <a:ext cx="1008046" cy="2056942"/>
          </a:xfrm>
          <a:prstGeom prst="homePlate">
            <a:avLst>
              <a:gd name="adj" fmla="val 100000"/>
            </a:avLst>
          </a:prstGeom>
          <a:solidFill>
            <a:schemeClr val="bg2">
              <a:lumMod val="75000"/>
            </a:schemeClr>
          </a:solidFill>
          <a:ln w="6350" algn="ctr">
            <a:noFill/>
            <a:miter lim="800000"/>
            <a:headEnd/>
            <a:tailEnd/>
          </a:ln>
        </p:spPr>
        <p:txBody>
          <a:bodyPr wrap="square" lIns="88900" tIns="88900" rIns="88900" bIns="88900" anchor="ctr"/>
          <a:lstStyle/>
          <a:p>
            <a:pPr algn="ctr"/>
            <a:endParaRPr lang="en-US" sz="1200" dirty="0">
              <a:latin typeface="+mj-lt"/>
            </a:endParaRPr>
          </a:p>
        </p:txBody>
      </p:sp>
      <p:sp>
        <p:nvSpPr>
          <p:cNvPr id="16" name="Rectangle 15">
            <a:extLst>
              <a:ext uri="{FF2B5EF4-FFF2-40B4-BE49-F238E27FC236}">
                <a16:creationId xmlns:a16="http://schemas.microsoft.com/office/drawing/2014/main" id="{B75ECA9E-4F81-4135-B655-D0920C3294AC}"/>
              </a:ext>
            </a:extLst>
          </p:cNvPr>
          <p:cNvSpPr/>
          <p:nvPr/>
        </p:nvSpPr>
        <p:spPr bwMode="gray">
          <a:xfrm>
            <a:off x="488942" y="562657"/>
            <a:ext cx="1969404" cy="2056943"/>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b="1" dirty="0">
                <a:solidFill>
                  <a:schemeClr val="bg1"/>
                </a:solidFill>
                <a:latin typeface="+mj-lt"/>
                <a:cs typeface="Calibri" panose="020F0502020204030204" pitchFamily="34" charset="0"/>
              </a:rPr>
              <a:t>Background</a:t>
            </a:r>
          </a:p>
        </p:txBody>
      </p:sp>
      <p:sp>
        <p:nvSpPr>
          <p:cNvPr id="2" name="Rectangle 1">
            <a:extLst>
              <a:ext uri="{FF2B5EF4-FFF2-40B4-BE49-F238E27FC236}">
                <a16:creationId xmlns:a16="http://schemas.microsoft.com/office/drawing/2014/main" id="{1403E9B9-35EC-46DF-A16C-E5514D2DA926}"/>
              </a:ext>
            </a:extLst>
          </p:cNvPr>
          <p:cNvSpPr/>
          <p:nvPr/>
        </p:nvSpPr>
        <p:spPr bwMode="gray">
          <a:xfrm>
            <a:off x="488936" y="2678500"/>
            <a:ext cx="6686564" cy="296030"/>
          </a:xfrm>
          <a:prstGeom prst="rect">
            <a:avLst/>
          </a:prstGeom>
          <a:solidFill>
            <a:srgbClr val="0070C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latin typeface="+mj-lt"/>
                <a:cs typeface="Calibri" panose="020F0502020204030204" pitchFamily="34" charset="0"/>
              </a:rPr>
              <a:t>Part A of Scheme</a:t>
            </a:r>
          </a:p>
        </p:txBody>
      </p:sp>
      <p:graphicFrame>
        <p:nvGraphicFramePr>
          <p:cNvPr id="6" name="Table 6">
            <a:extLst>
              <a:ext uri="{FF2B5EF4-FFF2-40B4-BE49-F238E27FC236}">
                <a16:creationId xmlns:a16="http://schemas.microsoft.com/office/drawing/2014/main" id="{ED1AD9F4-B4D8-4384-A426-CEEA2DD40DD0}"/>
              </a:ext>
            </a:extLst>
          </p:cNvPr>
          <p:cNvGraphicFramePr>
            <a:graphicFrameLocks noGrp="1"/>
          </p:cNvGraphicFramePr>
          <p:nvPr>
            <p:extLst>
              <p:ext uri="{D42A27DB-BD31-4B8C-83A1-F6EECF244321}">
                <p14:modId xmlns:p14="http://schemas.microsoft.com/office/powerpoint/2010/main" val="2327777211"/>
              </p:ext>
            </p:extLst>
          </p:nvPr>
        </p:nvGraphicFramePr>
        <p:xfrm>
          <a:off x="488936" y="3007319"/>
          <a:ext cx="6686564" cy="3413760"/>
        </p:xfrm>
        <a:graphic>
          <a:graphicData uri="http://schemas.openxmlformats.org/drawingml/2006/table">
            <a:tbl>
              <a:tblPr firstRow="1" bandRow="1">
                <a:tableStyleId>{93296810-A885-4BE3-A3E7-6D5BEEA58F35}</a:tableStyleId>
              </a:tblPr>
              <a:tblGrid>
                <a:gridCol w="3575064">
                  <a:extLst>
                    <a:ext uri="{9D8B030D-6E8A-4147-A177-3AD203B41FA5}">
                      <a16:colId xmlns:a16="http://schemas.microsoft.com/office/drawing/2014/main" val="115505035"/>
                    </a:ext>
                  </a:extLst>
                </a:gridCol>
                <a:gridCol w="1079500">
                  <a:extLst>
                    <a:ext uri="{9D8B030D-6E8A-4147-A177-3AD203B41FA5}">
                      <a16:colId xmlns:a16="http://schemas.microsoft.com/office/drawing/2014/main" val="1974102369"/>
                    </a:ext>
                  </a:extLst>
                </a:gridCol>
                <a:gridCol w="2032000">
                  <a:extLst>
                    <a:ext uri="{9D8B030D-6E8A-4147-A177-3AD203B41FA5}">
                      <a16:colId xmlns:a16="http://schemas.microsoft.com/office/drawing/2014/main" val="1319562391"/>
                    </a:ext>
                  </a:extLst>
                </a:gridCol>
              </a:tblGrid>
              <a:tr h="224260">
                <a:tc>
                  <a:txBody>
                    <a:bodyPr/>
                    <a:lstStyle/>
                    <a:p>
                      <a:r>
                        <a:rPr lang="en-US" sz="1100" dirty="0">
                          <a:latin typeface="+mj-lt"/>
                          <a:cs typeface="Calibri" panose="020F0502020204030204" pitchFamily="34" charset="0"/>
                        </a:rPr>
                        <a:t>Item Description</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sz="1100" dirty="0">
                          <a:latin typeface="+mj-lt"/>
                          <a:cs typeface="Calibri" panose="020F0502020204030204" pitchFamily="34" charset="0"/>
                        </a:rPr>
                        <a:t>Quantity</a:t>
                      </a:r>
                    </a:p>
                  </a:txBody>
                  <a:tcPr>
                    <a:lnT w="12700" cap="flat" cmpd="sng" algn="ctr">
                      <a:solidFill>
                        <a:schemeClr val="tx1"/>
                      </a:solidFill>
                      <a:prstDash val="solid"/>
                      <a:round/>
                      <a:headEnd type="none" w="med" len="med"/>
                      <a:tailEnd type="none" w="med" len="med"/>
                    </a:lnT>
                  </a:tcPr>
                </a:tc>
                <a:tc>
                  <a:txBody>
                    <a:bodyPr/>
                    <a:lstStyle/>
                    <a:p>
                      <a:r>
                        <a:rPr lang="en-US" sz="1100" dirty="0">
                          <a:latin typeface="+mj-lt"/>
                          <a:cs typeface="Calibri" panose="020F0502020204030204" pitchFamily="34" charset="0"/>
                        </a:rPr>
                        <a:t>GBS, % (Max)</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59408142"/>
                  </a:ext>
                </a:extLst>
              </a:tr>
              <a:tr h="523274">
                <a:tc>
                  <a:txBody>
                    <a:bodyPr/>
                    <a:lstStyle/>
                    <a:p>
                      <a:r>
                        <a:rPr lang="en-US" sz="1100" dirty="0">
                          <a:latin typeface="+mj-lt"/>
                          <a:cs typeface="Calibri" panose="020F0502020204030204" pitchFamily="34" charset="0"/>
                        </a:rPr>
                        <a:t>Prepaid Smart metering solution including consumer, DT and Feeder level including integration of existing infrastructure </a:t>
                      </a:r>
                    </a:p>
                  </a:txBody>
                  <a:tcPr>
                    <a:lnL w="12700" cap="flat" cmpd="sng" algn="ctr">
                      <a:solidFill>
                        <a:schemeClr val="tx1"/>
                      </a:solidFill>
                      <a:prstDash val="solid"/>
                      <a:round/>
                      <a:headEnd type="none" w="med" len="med"/>
                      <a:tailEnd type="none" w="med" len="med"/>
                    </a:lnL>
                  </a:tcPr>
                </a:tc>
                <a:tc>
                  <a:txBody>
                    <a:bodyPr/>
                    <a:lstStyle/>
                    <a:p>
                      <a:r>
                        <a:rPr lang="en-US" sz="1100" dirty="0">
                          <a:latin typeface="+mj-lt"/>
                          <a:cs typeface="Calibri" panose="020F0502020204030204" pitchFamily="34" charset="0"/>
                        </a:rPr>
                        <a:t>25 Crore</a:t>
                      </a:r>
                    </a:p>
                  </a:txBody>
                  <a:tcPr/>
                </a:tc>
                <a:tc>
                  <a:txBody>
                    <a:bodyPr/>
                    <a:lstStyle/>
                    <a:p>
                      <a:r>
                        <a:rPr lang="en-US" sz="1100" dirty="0">
                          <a:latin typeface="+mj-lt"/>
                          <a:cs typeface="Calibri" panose="020F0502020204030204" pitchFamily="34" charset="0"/>
                        </a:rPr>
                        <a:t>15% / 22.5%   (Limited upto 900 or 1350 respectively per meter per consumer)</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731300122"/>
                  </a:ext>
                </a:extLst>
              </a:tr>
              <a:tr h="523274">
                <a:tc>
                  <a:txBody>
                    <a:bodyPr/>
                    <a:lstStyle/>
                    <a:p>
                      <a:r>
                        <a:rPr lang="en-US" sz="1100" dirty="0">
                          <a:latin typeface="+mj-lt"/>
                          <a:cs typeface="Calibri" panose="020F0502020204030204" pitchFamily="34" charset="0"/>
                        </a:rPr>
                        <a:t>Other cost including encumbrance free standardized billing modules for all States, data management, data analytics, Support Implementation, AI etc </a:t>
                      </a:r>
                    </a:p>
                  </a:txBody>
                  <a:tcPr>
                    <a:lnL w="12700" cap="flat" cmpd="sng" algn="ctr">
                      <a:solidFill>
                        <a:schemeClr val="tx1"/>
                      </a:solidFill>
                      <a:prstDash val="solid"/>
                      <a:round/>
                      <a:headEnd type="none" w="med" len="med"/>
                      <a:tailEnd type="none" w="med" len="med"/>
                    </a:lnL>
                    <a:solidFill>
                      <a:schemeClr val="bg1"/>
                    </a:solidFill>
                  </a:tcPr>
                </a:tc>
                <a:tc>
                  <a:txBody>
                    <a:bodyPr/>
                    <a:lstStyle/>
                    <a:p>
                      <a:r>
                        <a:rPr lang="en-US" sz="1100" dirty="0">
                          <a:latin typeface="+mj-lt"/>
                          <a:cs typeface="Calibri" panose="020F0502020204030204" pitchFamily="34" charset="0"/>
                        </a:rPr>
                        <a:t>Lumpsum</a:t>
                      </a:r>
                    </a:p>
                  </a:txBody>
                  <a:tcPr>
                    <a:solidFill>
                      <a:schemeClr val="bg1"/>
                    </a:solidFill>
                  </a:tcPr>
                </a:tc>
                <a:tc>
                  <a:txBody>
                    <a:bodyPr/>
                    <a:lstStyle/>
                    <a:p>
                      <a:r>
                        <a:rPr lang="en-US" sz="1100" dirty="0">
                          <a:latin typeface="+mj-lt"/>
                          <a:cs typeface="Calibri" panose="020F0502020204030204" pitchFamily="34" charset="0"/>
                        </a:rPr>
                        <a:t>100 %</a:t>
                      </a:r>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1188314767"/>
                  </a:ext>
                </a:extLst>
              </a:tr>
              <a:tr h="224260">
                <a:tc>
                  <a:txBody>
                    <a:bodyPr/>
                    <a:lstStyle/>
                    <a:p>
                      <a:r>
                        <a:rPr lang="en-US" sz="1100" dirty="0">
                          <a:latin typeface="+mj-lt"/>
                          <a:cs typeface="Calibri" panose="020F0502020204030204" pitchFamily="34" charset="0"/>
                        </a:rPr>
                        <a:t>Segregation of Agriculture Feeders</a:t>
                      </a:r>
                    </a:p>
                  </a:txBody>
                  <a:tcPr>
                    <a:lnL w="12700" cap="flat" cmpd="sng" algn="ctr">
                      <a:solidFill>
                        <a:schemeClr val="tx1"/>
                      </a:solidFill>
                      <a:prstDash val="solid"/>
                      <a:round/>
                      <a:headEnd type="none" w="med" len="med"/>
                      <a:tailEnd type="none" w="med" len="med"/>
                    </a:lnL>
                  </a:tcPr>
                </a:tc>
                <a:tc gridSpan="2">
                  <a:txBody>
                    <a:bodyPr/>
                    <a:lstStyle/>
                    <a:p>
                      <a:r>
                        <a:rPr lang="en-US" sz="1100" dirty="0">
                          <a:latin typeface="+mj-lt"/>
                          <a:cs typeface="Calibri" panose="020F0502020204030204" pitchFamily="34" charset="0"/>
                        </a:rPr>
                        <a:t>10,000 Nos</a:t>
                      </a:r>
                    </a:p>
                  </a:txBody>
                  <a:tcPr>
                    <a:lnR w="12700" cap="flat" cmpd="sng" algn="ctr">
                      <a:solidFill>
                        <a:schemeClr val="tx1"/>
                      </a:solidFill>
                      <a:prstDash val="solid"/>
                      <a:round/>
                      <a:headEnd type="none" w="med" len="med"/>
                      <a:tailEnd type="none" w="med" len="med"/>
                    </a:lnR>
                  </a:tcPr>
                </a:tc>
                <a:tc hMerge="1">
                  <a:txBody>
                    <a:bodyPr/>
                    <a:lstStyle/>
                    <a:p>
                      <a:endParaRPr lang="en-US"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546992523"/>
                  </a:ext>
                </a:extLst>
              </a:tr>
              <a:tr h="373767">
                <a:tc>
                  <a:txBody>
                    <a:bodyPr/>
                    <a:lstStyle/>
                    <a:p>
                      <a:r>
                        <a:rPr lang="en-US" sz="1100" dirty="0">
                          <a:latin typeface="+mj-lt"/>
                          <a:cs typeface="Calibri" panose="020F0502020204030204" pitchFamily="34" charset="0"/>
                        </a:rPr>
                        <a:t>Replacement of existing LT overhead bare conductor with AB Cable/HVDA</a:t>
                      </a:r>
                    </a:p>
                  </a:txBody>
                  <a:tcPr>
                    <a:lnL w="12700" cap="flat" cmpd="sng" algn="ctr">
                      <a:solidFill>
                        <a:schemeClr val="tx1"/>
                      </a:solidFill>
                      <a:prstDash val="solid"/>
                      <a:round/>
                      <a:headEnd type="none" w="med" len="med"/>
                      <a:tailEnd type="none" w="med" len="med"/>
                    </a:lnL>
                    <a:solidFill>
                      <a:schemeClr val="bg1"/>
                    </a:solidFill>
                  </a:tcPr>
                </a:tc>
                <a:tc gridSpan="2">
                  <a:txBody>
                    <a:bodyPr/>
                    <a:lstStyle/>
                    <a:p>
                      <a:r>
                        <a:rPr lang="en-US" sz="1100" dirty="0">
                          <a:latin typeface="+mj-lt"/>
                          <a:cs typeface="Calibri" panose="020F0502020204030204" pitchFamily="34" charset="0"/>
                        </a:rPr>
                        <a:t>4,00,000 Kms</a:t>
                      </a:r>
                    </a:p>
                  </a:txBody>
                  <a:tcPr>
                    <a:lnR w="12700" cap="flat" cmpd="sng" algn="ctr">
                      <a:solidFill>
                        <a:schemeClr val="tx1"/>
                      </a:solidFill>
                      <a:prstDash val="solid"/>
                      <a:round/>
                      <a:headEnd type="none" w="med" len="med"/>
                      <a:tailEnd type="none" w="med" len="med"/>
                    </a:lnR>
                    <a:solidFill>
                      <a:schemeClr val="bg1"/>
                    </a:solidFill>
                  </a:tcPr>
                </a:tc>
                <a:tc hMerge="1">
                  <a:txBody>
                    <a:bodyPr/>
                    <a:lstStyle/>
                    <a:p>
                      <a:endParaRPr lang="en-US"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99279742"/>
                  </a:ext>
                </a:extLst>
              </a:tr>
              <a:tr h="224260">
                <a:tc>
                  <a:txBody>
                    <a:bodyPr/>
                    <a:lstStyle/>
                    <a:p>
                      <a:r>
                        <a:rPr lang="en-US" sz="1100" dirty="0">
                          <a:latin typeface="+mj-lt"/>
                          <a:cs typeface="Calibri" panose="020F0502020204030204" pitchFamily="34" charset="0"/>
                        </a:rPr>
                        <a:t>Distribution Automation in Urban Area</a:t>
                      </a:r>
                    </a:p>
                  </a:txBody>
                  <a:tcPr>
                    <a:lnL w="12700" cap="flat" cmpd="sng" algn="ctr">
                      <a:solidFill>
                        <a:schemeClr val="tx1"/>
                      </a:solidFill>
                      <a:prstDash val="solid"/>
                      <a:round/>
                      <a:headEnd type="none" w="med" len="med"/>
                      <a:tailEnd type="none" w="med" len="med"/>
                    </a:lnL>
                  </a:tcPr>
                </a:tc>
                <a:tc gridSpan="2">
                  <a:txBody>
                    <a:bodyPr/>
                    <a:lstStyle/>
                    <a:p>
                      <a:endParaRPr lang="en-US" sz="1100" dirty="0">
                        <a:latin typeface="+mj-lt"/>
                        <a:cs typeface="Calibri" panose="020F0502020204030204" pitchFamily="34" charset="0"/>
                      </a:endParaRPr>
                    </a:p>
                  </a:txBody>
                  <a:tcPr>
                    <a:lnR w="12700" cap="flat" cmpd="sng" algn="ctr">
                      <a:solidFill>
                        <a:schemeClr val="tx1"/>
                      </a:solidFill>
                      <a:prstDash val="solid"/>
                      <a:round/>
                      <a:headEnd type="none" w="med" len="med"/>
                      <a:tailEnd type="none" w="med" len="med"/>
                    </a:lnR>
                  </a:tcPr>
                </a:tc>
                <a:tc hMerge="1">
                  <a:txBody>
                    <a:bodyPr/>
                    <a:lstStyle/>
                    <a:p>
                      <a:endParaRPr lang="en-US"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008609540"/>
                  </a:ext>
                </a:extLst>
              </a:tr>
              <a:tr h="224260">
                <a:tc>
                  <a:txBody>
                    <a:bodyPr/>
                    <a:lstStyle/>
                    <a:p>
                      <a:r>
                        <a:rPr lang="en-US" sz="1100" dirty="0">
                          <a:latin typeface="+mj-lt"/>
                          <a:cs typeface="Calibri" panose="020F0502020204030204" pitchFamily="34" charset="0"/>
                        </a:rPr>
                        <a:t>SCADA/DMS including OPEX for 2 years </a:t>
                      </a:r>
                    </a:p>
                  </a:txBody>
                  <a:tcPr>
                    <a:lnL w="12700" cap="flat" cmpd="sng" algn="ctr">
                      <a:solidFill>
                        <a:schemeClr val="tx1"/>
                      </a:solidFill>
                      <a:prstDash val="solid"/>
                      <a:round/>
                      <a:headEnd type="none" w="med" len="med"/>
                      <a:tailEnd type="none" w="med" len="med"/>
                    </a:lnL>
                    <a:solidFill>
                      <a:schemeClr val="bg1"/>
                    </a:solidFill>
                  </a:tcPr>
                </a:tc>
                <a:tc gridSpan="2">
                  <a:txBody>
                    <a:bodyPr/>
                    <a:lstStyle/>
                    <a:p>
                      <a:r>
                        <a:rPr lang="en-US" sz="1100" dirty="0">
                          <a:latin typeface="+mj-lt"/>
                          <a:cs typeface="Calibri" panose="020F0502020204030204" pitchFamily="34" charset="0"/>
                        </a:rPr>
                        <a:t>100 Nos (Big City) 3875 Nos (for Other)</a:t>
                      </a:r>
                    </a:p>
                  </a:txBody>
                  <a:tcPr>
                    <a:lnR w="12700" cap="flat" cmpd="sng" algn="ctr">
                      <a:solidFill>
                        <a:schemeClr val="tx1"/>
                      </a:solidFill>
                      <a:prstDash val="solid"/>
                      <a:round/>
                      <a:headEnd type="none" w="med" len="med"/>
                      <a:tailEnd type="none" w="med" len="med"/>
                    </a:lnR>
                    <a:solidFill>
                      <a:schemeClr val="bg1"/>
                    </a:solidFill>
                  </a:tcPr>
                </a:tc>
                <a:tc hMerge="1">
                  <a:txBody>
                    <a:bodyPr/>
                    <a:lstStyle/>
                    <a:p>
                      <a:endParaRPr lang="en-US"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26072571"/>
                  </a:ext>
                </a:extLst>
              </a:tr>
              <a:tr h="373767">
                <a:tc>
                  <a:txBody>
                    <a:bodyPr/>
                    <a:lstStyle/>
                    <a:p>
                      <a:r>
                        <a:rPr lang="en-US" sz="1100" dirty="0">
                          <a:latin typeface="+mj-lt"/>
                          <a:cs typeface="Calibri" panose="020F0502020204030204" pitchFamily="34" charset="0"/>
                        </a:rPr>
                        <a:t>Infrastructure including HVDS, IT, Transformer, Cables, Substations, feeders etc  </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gridSpan="2">
                  <a:txBody>
                    <a:bodyPr/>
                    <a:lstStyle/>
                    <a:p>
                      <a:r>
                        <a:rPr lang="en-US" sz="1100" dirty="0">
                          <a:latin typeface="+mj-lt"/>
                          <a:cs typeface="Calibri" panose="020F0502020204030204" pitchFamily="34" charset="0"/>
                        </a:rPr>
                        <a:t>As required</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endParaRPr lang="en-US"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156664223"/>
                  </a:ext>
                </a:extLst>
              </a:tr>
            </a:tbl>
          </a:graphicData>
        </a:graphic>
      </p:graphicFrame>
      <p:graphicFrame>
        <p:nvGraphicFramePr>
          <p:cNvPr id="7" name="Table 7">
            <a:extLst>
              <a:ext uri="{FF2B5EF4-FFF2-40B4-BE49-F238E27FC236}">
                <a16:creationId xmlns:a16="http://schemas.microsoft.com/office/drawing/2014/main" id="{167424E5-3CE8-462A-A0D9-5082A5419C96}"/>
              </a:ext>
            </a:extLst>
          </p:cNvPr>
          <p:cNvGraphicFramePr>
            <a:graphicFrameLocks noGrp="1"/>
          </p:cNvGraphicFramePr>
          <p:nvPr>
            <p:extLst>
              <p:ext uri="{D42A27DB-BD31-4B8C-83A1-F6EECF244321}">
                <p14:modId xmlns:p14="http://schemas.microsoft.com/office/powerpoint/2010/main" val="2607868488"/>
              </p:ext>
            </p:extLst>
          </p:nvPr>
        </p:nvGraphicFramePr>
        <p:xfrm>
          <a:off x="7302500" y="3018149"/>
          <a:ext cx="4533900" cy="3063240"/>
        </p:xfrm>
        <a:graphic>
          <a:graphicData uri="http://schemas.openxmlformats.org/drawingml/2006/table">
            <a:tbl>
              <a:tblPr firstRow="1" bandRow="1">
                <a:tableStyleId>{FABFCF23-3B69-468F-B69F-88F6DE6A72F2}</a:tableStyleId>
              </a:tblPr>
              <a:tblGrid>
                <a:gridCol w="2097438">
                  <a:extLst>
                    <a:ext uri="{9D8B030D-6E8A-4147-A177-3AD203B41FA5}">
                      <a16:colId xmlns:a16="http://schemas.microsoft.com/office/drawing/2014/main" val="2630400911"/>
                    </a:ext>
                  </a:extLst>
                </a:gridCol>
                <a:gridCol w="867376">
                  <a:extLst>
                    <a:ext uri="{9D8B030D-6E8A-4147-A177-3AD203B41FA5}">
                      <a16:colId xmlns:a16="http://schemas.microsoft.com/office/drawing/2014/main" val="3234235281"/>
                    </a:ext>
                  </a:extLst>
                </a:gridCol>
                <a:gridCol w="712646">
                  <a:extLst>
                    <a:ext uri="{9D8B030D-6E8A-4147-A177-3AD203B41FA5}">
                      <a16:colId xmlns:a16="http://schemas.microsoft.com/office/drawing/2014/main" val="1462668492"/>
                    </a:ext>
                  </a:extLst>
                </a:gridCol>
                <a:gridCol w="856440">
                  <a:extLst>
                    <a:ext uri="{9D8B030D-6E8A-4147-A177-3AD203B41FA5}">
                      <a16:colId xmlns:a16="http://schemas.microsoft.com/office/drawing/2014/main" val="4119195982"/>
                    </a:ext>
                  </a:extLst>
                </a:gridCol>
              </a:tblGrid>
              <a:tr h="381360">
                <a:tc>
                  <a:txBody>
                    <a:bodyPr/>
                    <a:lstStyle/>
                    <a:p>
                      <a:r>
                        <a:rPr lang="en-US" sz="1100" dirty="0">
                          <a:latin typeface="+mj-lt"/>
                          <a:cs typeface="Calibri" panose="020F0502020204030204" pitchFamily="34" charset="0"/>
                        </a:rPr>
                        <a:t>Item Description</a:t>
                      </a:r>
                    </a:p>
                  </a:txBody>
                  <a:tcPr/>
                </a:tc>
                <a:tc>
                  <a:txBody>
                    <a:bodyPr/>
                    <a:lstStyle/>
                    <a:p>
                      <a:r>
                        <a:rPr lang="en-US" sz="1100" dirty="0">
                          <a:latin typeface="+mj-lt"/>
                          <a:cs typeface="Calibri" panose="020F0502020204030204" pitchFamily="34" charset="0"/>
                        </a:rPr>
                        <a:t>Outlay</a:t>
                      </a:r>
                    </a:p>
                    <a:p>
                      <a:r>
                        <a:rPr lang="en-US" sz="1100" dirty="0">
                          <a:latin typeface="+mj-lt"/>
                          <a:cs typeface="Calibri" panose="020F0502020204030204" pitchFamily="34" charset="0"/>
                        </a:rPr>
                        <a:t> (Rs. Crore)</a:t>
                      </a:r>
                    </a:p>
                  </a:txBody>
                  <a:tcPr/>
                </a:tc>
                <a:tc>
                  <a:txBody>
                    <a:bodyPr/>
                    <a:lstStyle/>
                    <a:p>
                      <a:r>
                        <a:rPr lang="en-US" sz="1100" dirty="0">
                          <a:latin typeface="+mj-lt"/>
                          <a:cs typeface="Calibri" panose="020F0502020204030204" pitchFamily="34" charset="0"/>
                        </a:rPr>
                        <a:t>GBS (%) </a:t>
                      </a:r>
                    </a:p>
                    <a:p>
                      <a:r>
                        <a:rPr lang="en-US" sz="1100" dirty="0">
                          <a:latin typeface="+mj-lt"/>
                          <a:cs typeface="Calibri" panose="020F0502020204030204" pitchFamily="34" charset="0"/>
                        </a:rPr>
                        <a:t>(Max)</a:t>
                      </a:r>
                    </a:p>
                  </a:txBody>
                  <a:tcPr/>
                </a:tc>
                <a:tc>
                  <a:txBody>
                    <a:bodyPr/>
                    <a:lstStyle/>
                    <a:p>
                      <a:r>
                        <a:rPr lang="en-US" sz="1100" dirty="0">
                          <a:latin typeface="+mj-lt"/>
                          <a:cs typeface="Calibri" panose="020F0502020204030204" pitchFamily="34" charset="0"/>
                        </a:rPr>
                        <a:t>GBS </a:t>
                      </a:r>
                    </a:p>
                    <a:p>
                      <a:r>
                        <a:rPr lang="en-US" sz="1100" dirty="0">
                          <a:latin typeface="+mj-lt"/>
                          <a:cs typeface="Calibri" panose="020F0502020204030204" pitchFamily="34" charset="0"/>
                        </a:rPr>
                        <a:t>(Rs. Crore)</a:t>
                      </a:r>
                    </a:p>
                  </a:txBody>
                  <a:tcPr/>
                </a:tc>
                <a:extLst>
                  <a:ext uri="{0D108BD9-81ED-4DB2-BD59-A6C34878D82A}">
                    <a16:rowId xmlns:a16="http://schemas.microsoft.com/office/drawing/2014/main" val="3184388191"/>
                  </a:ext>
                </a:extLst>
              </a:tr>
              <a:tr h="381360">
                <a:tc>
                  <a:txBody>
                    <a:bodyPr/>
                    <a:lstStyle/>
                    <a:p>
                      <a:r>
                        <a:rPr lang="en-US" sz="1100" dirty="0">
                          <a:latin typeface="+mj-lt"/>
                          <a:cs typeface="Calibri" panose="020F0502020204030204" pitchFamily="34" charset="0"/>
                        </a:rPr>
                        <a:t>Augmentation of Smart Grid Knowledge Center including Al</a:t>
                      </a:r>
                    </a:p>
                  </a:txBody>
                  <a:tcPr/>
                </a:tc>
                <a:tc>
                  <a:txBody>
                    <a:bodyPr/>
                    <a:lstStyle/>
                    <a:p>
                      <a:r>
                        <a:rPr lang="en-US" sz="1100" dirty="0">
                          <a:latin typeface="+mj-lt"/>
                          <a:cs typeface="Calibri" panose="020F0502020204030204" pitchFamily="34" charset="0"/>
                        </a:rPr>
                        <a:t>30</a:t>
                      </a:r>
                    </a:p>
                  </a:txBody>
                  <a:tcPr/>
                </a:tc>
                <a:tc>
                  <a:txBody>
                    <a:bodyPr/>
                    <a:lstStyle/>
                    <a:p>
                      <a:r>
                        <a:rPr lang="en-US" sz="1100" dirty="0">
                          <a:latin typeface="+mj-lt"/>
                          <a:cs typeface="Calibri" panose="020F0502020204030204" pitchFamily="34" charset="0"/>
                        </a:rPr>
                        <a:t>100%</a:t>
                      </a:r>
                    </a:p>
                  </a:txBody>
                  <a:tcPr/>
                </a:tc>
                <a:tc>
                  <a:txBody>
                    <a:bodyPr/>
                    <a:lstStyle/>
                    <a:p>
                      <a:r>
                        <a:rPr lang="en-US" sz="1100" dirty="0">
                          <a:latin typeface="+mj-lt"/>
                          <a:cs typeface="Calibri" panose="020F0502020204030204" pitchFamily="34" charset="0"/>
                        </a:rPr>
                        <a:t>20</a:t>
                      </a:r>
                    </a:p>
                  </a:txBody>
                  <a:tcPr/>
                </a:tc>
                <a:extLst>
                  <a:ext uri="{0D108BD9-81ED-4DB2-BD59-A6C34878D82A}">
                    <a16:rowId xmlns:a16="http://schemas.microsoft.com/office/drawing/2014/main" val="2702285163"/>
                  </a:ext>
                </a:extLst>
              </a:tr>
              <a:tr h="381360">
                <a:tc>
                  <a:txBody>
                    <a:bodyPr/>
                    <a:lstStyle/>
                    <a:p>
                      <a:r>
                        <a:rPr lang="en-US" sz="1100" dirty="0">
                          <a:latin typeface="+mj-lt"/>
                          <a:cs typeface="Calibri" panose="020F0502020204030204" pitchFamily="34" charset="0"/>
                        </a:rPr>
                        <a:t>Training /Capacity Buildings/ Awards and Incentives </a:t>
                      </a:r>
                    </a:p>
                  </a:txBody>
                  <a:tcPr/>
                </a:tc>
                <a:tc>
                  <a:txBody>
                    <a:bodyPr/>
                    <a:lstStyle/>
                    <a:p>
                      <a:r>
                        <a:rPr lang="en-US" sz="1100" dirty="0">
                          <a:latin typeface="+mj-lt"/>
                          <a:cs typeface="Calibri" panose="020F0502020204030204" pitchFamily="34" charset="0"/>
                        </a:rPr>
                        <a:t>200</a:t>
                      </a:r>
                    </a:p>
                  </a:txBody>
                  <a:tcPr/>
                </a:tc>
                <a:tc>
                  <a:txBody>
                    <a:bodyPr/>
                    <a:lstStyle/>
                    <a:p>
                      <a:r>
                        <a:rPr lang="en-US" sz="1100" dirty="0">
                          <a:latin typeface="+mj-lt"/>
                          <a:cs typeface="Calibri" panose="020F0502020204030204" pitchFamily="34" charset="0"/>
                        </a:rPr>
                        <a:t>100%</a:t>
                      </a:r>
                    </a:p>
                  </a:txBody>
                  <a:tcPr/>
                </a:tc>
                <a:tc>
                  <a:txBody>
                    <a:bodyPr/>
                    <a:lstStyle/>
                    <a:p>
                      <a:r>
                        <a:rPr lang="en-US" sz="1100" dirty="0">
                          <a:latin typeface="+mj-lt"/>
                          <a:cs typeface="Calibri" panose="020F0502020204030204" pitchFamily="34" charset="0"/>
                        </a:rPr>
                        <a:t>200</a:t>
                      </a:r>
                    </a:p>
                  </a:txBody>
                  <a:tcPr/>
                </a:tc>
                <a:extLst>
                  <a:ext uri="{0D108BD9-81ED-4DB2-BD59-A6C34878D82A}">
                    <a16:rowId xmlns:a16="http://schemas.microsoft.com/office/drawing/2014/main" val="2790292672"/>
                  </a:ext>
                </a:extLst>
              </a:tr>
              <a:tr h="381360">
                <a:tc>
                  <a:txBody>
                    <a:bodyPr/>
                    <a:lstStyle/>
                    <a:p>
                      <a:r>
                        <a:rPr lang="en-US" sz="1100" dirty="0">
                          <a:latin typeface="+mj-lt"/>
                          <a:cs typeface="Calibri" panose="020F0502020204030204" pitchFamily="34" charset="0"/>
                        </a:rPr>
                        <a:t>Reforms Support in form of Consultancy </a:t>
                      </a:r>
                    </a:p>
                  </a:txBody>
                  <a:tcPr/>
                </a:tc>
                <a:tc>
                  <a:txBody>
                    <a:bodyPr/>
                    <a:lstStyle/>
                    <a:p>
                      <a:r>
                        <a:rPr lang="en-US" sz="1100" dirty="0">
                          <a:latin typeface="+mj-lt"/>
                          <a:cs typeface="Calibri" panose="020F0502020204030204" pitchFamily="34" charset="0"/>
                        </a:rPr>
                        <a:t>200</a:t>
                      </a:r>
                    </a:p>
                  </a:txBody>
                  <a:tcPr/>
                </a:tc>
                <a:tc>
                  <a:txBody>
                    <a:bodyPr/>
                    <a:lstStyle/>
                    <a:p>
                      <a:r>
                        <a:rPr lang="en-US" sz="1100" dirty="0">
                          <a:latin typeface="+mj-lt"/>
                          <a:cs typeface="Calibri" panose="020F0502020204030204" pitchFamily="34" charset="0"/>
                        </a:rPr>
                        <a:t>100%</a:t>
                      </a:r>
                    </a:p>
                  </a:txBody>
                  <a:tcPr/>
                </a:tc>
                <a:tc>
                  <a:txBody>
                    <a:bodyPr/>
                    <a:lstStyle/>
                    <a:p>
                      <a:r>
                        <a:rPr lang="en-US" sz="1100" dirty="0">
                          <a:latin typeface="+mj-lt"/>
                          <a:cs typeface="Calibri" panose="020F0502020204030204" pitchFamily="34" charset="0"/>
                        </a:rPr>
                        <a:t>-200</a:t>
                      </a:r>
                    </a:p>
                  </a:txBody>
                  <a:tcPr/>
                </a:tc>
                <a:extLst>
                  <a:ext uri="{0D108BD9-81ED-4DB2-BD59-A6C34878D82A}">
                    <a16:rowId xmlns:a16="http://schemas.microsoft.com/office/drawing/2014/main" val="2735052178"/>
                  </a:ext>
                </a:extLst>
              </a:tr>
              <a:tr h="396494">
                <a:tc>
                  <a:txBody>
                    <a:bodyPr/>
                    <a:lstStyle/>
                    <a:p>
                      <a:r>
                        <a:rPr lang="en-US" sz="1100" dirty="0">
                          <a:latin typeface="+mj-lt"/>
                          <a:cs typeface="Calibri" panose="020F0502020204030204" pitchFamily="34" charset="0"/>
                        </a:rPr>
                        <a:t>Nodal Agency Fee, MOP enabling activities and PMA Charges</a:t>
                      </a:r>
                    </a:p>
                  </a:txBody>
                  <a:tcPr/>
                </a:tc>
                <a:tc>
                  <a:txBody>
                    <a:bodyPr/>
                    <a:lstStyle/>
                    <a:p>
                      <a:r>
                        <a:rPr lang="en-US" sz="1100" dirty="0">
                          <a:latin typeface="+mj-lt"/>
                          <a:cs typeface="Calibri" panose="020F0502020204030204" pitchFamily="34" charset="0"/>
                        </a:rPr>
                        <a:t>1000</a:t>
                      </a:r>
                    </a:p>
                  </a:txBody>
                  <a:tcPr/>
                </a:tc>
                <a:tc>
                  <a:txBody>
                    <a:bodyPr/>
                    <a:lstStyle/>
                    <a:p>
                      <a:r>
                        <a:rPr lang="en-US" sz="1100" dirty="0">
                          <a:latin typeface="+mj-lt"/>
                          <a:cs typeface="Calibri" panose="020F0502020204030204" pitchFamily="34" charset="0"/>
                        </a:rPr>
                        <a:t>100%</a:t>
                      </a:r>
                    </a:p>
                  </a:txBody>
                  <a:tcPr/>
                </a:tc>
                <a:tc>
                  <a:txBody>
                    <a:bodyPr/>
                    <a:lstStyle/>
                    <a:p>
                      <a:r>
                        <a:rPr lang="en-US" sz="1100" dirty="0">
                          <a:latin typeface="+mj-lt"/>
                          <a:cs typeface="Calibri" panose="020F0502020204030204" pitchFamily="34" charset="0"/>
                        </a:rPr>
                        <a:t>1000</a:t>
                      </a:r>
                    </a:p>
                  </a:txBody>
                  <a:tcPr/>
                </a:tc>
                <a:extLst>
                  <a:ext uri="{0D108BD9-81ED-4DB2-BD59-A6C34878D82A}">
                    <a16:rowId xmlns:a16="http://schemas.microsoft.com/office/drawing/2014/main" val="2675263590"/>
                  </a:ext>
                </a:extLst>
              </a:tr>
              <a:tr h="228816">
                <a:tc>
                  <a:txBody>
                    <a:bodyPr/>
                    <a:lstStyle/>
                    <a:p>
                      <a:r>
                        <a:rPr lang="en-US" sz="1100" dirty="0">
                          <a:latin typeface="+mj-lt"/>
                          <a:cs typeface="Calibri" panose="020F0502020204030204" pitchFamily="34" charset="0"/>
                        </a:rPr>
                        <a:t>Sub Total</a:t>
                      </a:r>
                    </a:p>
                  </a:txBody>
                  <a:tcPr/>
                </a:tc>
                <a:tc>
                  <a:txBody>
                    <a:bodyPr/>
                    <a:lstStyle/>
                    <a:p>
                      <a:r>
                        <a:rPr lang="en-US" sz="1100" dirty="0">
                          <a:latin typeface="+mj-lt"/>
                          <a:cs typeface="Calibri" panose="020F0502020204030204" pitchFamily="34" charset="0"/>
                        </a:rPr>
                        <a:t>1430</a:t>
                      </a:r>
                    </a:p>
                  </a:txBody>
                  <a:tcPr/>
                </a:tc>
                <a:tc>
                  <a:txBody>
                    <a:bodyPr/>
                    <a:lstStyle/>
                    <a:p>
                      <a:endParaRPr lang="en-US" sz="1100" dirty="0">
                        <a:latin typeface="+mj-lt"/>
                        <a:cs typeface="Calibri" panose="020F0502020204030204" pitchFamily="34" charset="0"/>
                      </a:endParaRPr>
                    </a:p>
                  </a:txBody>
                  <a:tcPr/>
                </a:tc>
                <a:tc>
                  <a:txBody>
                    <a:bodyPr/>
                    <a:lstStyle/>
                    <a:p>
                      <a:r>
                        <a:rPr lang="en-US" sz="1100" dirty="0">
                          <a:latin typeface="+mj-lt"/>
                          <a:cs typeface="Calibri" panose="020F0502020204030204" pitchFamily="34" charset="0"/>
                        </a:rPr>
                        <a:t>1030</a:t>
                      </a:r>
                    </a:p>
                  </a:txBody>
                  <a:tcPr/>
                </a:tc>
                <a:extLst>
                  <a:ext uri="{0D108BD9-81ED-4DB2-BD59-A6C34878D82A}">
                    <a16:rowId xmlns:a16="http://schemas.microsoft.com/office/drawing/2014/main" val="4244989819"/>
                  </a:ext>
                </a:extLst>
              </a:tr>
            </a:tbl>
          </a:graphicData>
        </a:graphic>
      </p:graphicFrame>
      <p:sp>
        <p:nvSpPr>
          <p:cNvPr id="8" name="TextBox 7">
            <a:extLst>
              <a:ext uri="{FF2B5EF4-FFF2-40B4-BE49-F238E27FC236}">
                <a16:creationId xmlns:a16="http://schemas.microsoft.com/office/drawing/2014/main" id="{68DF928D-14B1-40A5-A420-FE53841FE963}"/>
              </a:ext>
            </a:extLst>
          </p:cNvPr>
          <p:cNvSpPr txBox="1"/>
          <p:nvPr/>
        </p:nvSpPr>
        <p:spPr>
          <a:xfrm>
            <a:off x="7302500" y="6137302"/>
            <a:ext cx="4533900" cy="338554"/>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latin typeface="+mj-lt"/>
                <a:cs typeface="Calibri" panose="020F0502020204030204" pitchFamily="34" charset="0"/>
              </a:rPr>
              <a:t>Amount for reform support in form of consultancy may be taken State Government and utilized for Scheme</a:t>
            </a:r>
          </a:p>
        </p:txBody>
      </p:sp>
      <p:sp>
        <p:nvSpPr>
          <p:cNvPr id="29" name="TextBox 28">
            <a:extLst>
              <a:ext uri="{FF2B5EF4-FFF2-40B4-BE49-F238E27FC236}">
                <a16:creationId xmlns:a16="http://schemas.microsoft.com/office/drawing/2014/main" id="{4508A2A1-1AD6-47E0-B542-A6C5A24935D3}"/>
              </a:ext>
            </a:extLst>
          </p:cNvPr>
          <p:cNvSpPr txBox="1"/>
          <p:nvPr/>
        </p:nvSpPr>
        <p:spPr>
          <a:xfrm>
            <a:off x="2949290" y="6595246"/>
            <a:ext cx="8452420" cy="261610"/>
          </a:xfrm>
          <a:prstGeom prst="rect">
            <a:avLst/>
          </a:prstGeom>
          <a:noFill/>
        </p:spPr>
        <p:txBody>
          <a:bodyPr wrap="square">
            <a:spAutoFit/>
          </a:bodyPr>
          <a:lstStyle/>
          <a:p>
            <a:r>
              <a:rPr lang="en-US" sz="1100" b="1" dirty="0">
                <a:latin typeface="+mj-lt"/>
                <a:cs typeface="Calibri" panose="020F0502020204030204" pitchFamily="34" charset="0"/>
              </a:rPr>
              <a:t>Source: </a:t>
            </a:r>
            <a:r>
              <a:rPr lang="en-US" sz="1100" dirty="0">
                <a:latin typeface="+mj-lt"/>
                <a:cs typeface="Calibri" panose="020F0502020204030204" pitchFamily="34" charset="0"/>
              </a:rPr>
              <a:t>https://powermin.gov.in/sites/default/files/uploads/Final_Revamped_Scheme_Guidelines.pdf</a:t>
            </a:r>
          </a:p>
        </p:txBody>
      </p:sp>
      <p:sp>
        <p:nvSpPr>
          <p:cNvPr id="31" name="Rectangle 30">
            <a:extLst>
              <a:ext uri="{FF2B5EF4-FFF2-40B4-BE49-F238E27FC236}">
                <a16:creationId xmlns:a16="http://schemas.microsoft.com/office/drawing/2014/main" id="{90CF39C2-6460-407B-A3CC-0A2B31EEB157}"/>
              </a:ext>
            </a:extLst>
          </p:cNvPr>
          <p:cNvSpPr/>
          <p:nvPr/>
        </p:nvSpPr>
        <p:spPr bwMode="gray">
          <a:xfrm>
            <a:off x="7302500" y="2665445"/>
            <a:ext cx="4533900" cy="296030"/>
          </a:xfrm>
          <a:prstGeom prst="rect">
            <a:avLst/>
          </a:prstGeom>
          <a:solidFill>
            <a:srgbClr val="0097A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latin typeface="+mj-lt"/>
                <a:cs typeface="Calibri" panose="020F0502020204030204" pitchFamily="34" charset="0"/>
              </a:rPr>
              <a:t>Part B of Scheme</a:t>
            </a:r>
          </a:p>
        </p:txBody>
      </p:sp>
    </p:spTree>
    <p:extLst>
      <p:ext uri="{BB962C8B-B14F-4D97-AF65-F5344CB8AC3E}">
        <p14:creationId xmlns:p14="http://schemas.microsoft.com/office/powerpoint/2010/main" val="663436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A5B3F1F8-9DD0-4546-B294-C24A1DD43738}"/>
              </a:ext>
            </a:extLst>
          </p:cNvPr>
          <p:cNvSpPr txBox="1">
            <a:spLocks/>
          </p:cNvSpPr>
          <p:nvPr/>
        </p:nvSpPr>
        <p:spPr>
          <a:xfrm>
            <a:off x="420548" y="341140"/>
            <a:ext cx="11409210" cy="453612"/>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18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b="1" i="0" u="none" strike="noStrike" kern="1200" cap="none" spc="0" normalizeH="0" baseline="0" noProof="0" dirty="0">
                <a:ln>
                  <a:noFill/>
                </a:ln>
                <a:solidFill>
                  <a:srgbClr val="000000"/>
                </a:solidFill>
                <a:effectLst/>
                <a:uLnTx/>
                <a:uFillTx/>
                <a:latin typeface="+mj-lt"/>
                <a:ea typeface="Verdana" panose="020B0604030504040204" pitchFamily="34" charset="0"/>
                <a:cs typeface="+mn-cs"/>
              </a:rPr>
              <a:t>Revamped Distribution Sector Scheme – Objectives and Features</a:t>
            </a:r>
          </a:p>
        </p:txBody>
      </p:sp>
      <p:sp>
        <p:nvSpPr>
          <p:cNvPr id="102" name="Freeform 1126">
            <a:extLst>
              <a:ext uri="{FF2B5EF4-FFF2-40B4-BE49-F238E27FC236}">
                <a16:creationId xmlns:a16="http://schemas.microsoft.com/office/drawing/2014/main" id="{946C71B0-6BE5-4807-8942-69A25F1753DD}"/>
              </a:ext>
            </a:extLst>
          </p:cNvPr>
          <p:cNvSpPr>
            <a:spLocks/>
          </p:cNvSpPr>
          <p:nvPr/>
        </p:nvSpPr>
        <p:spPr bwMode="auto">
          <a:xfrm>
            <a:off x="420548" y="1474004"/>
            <a:ext cx="3900391" cy="2613355"/>
          </a:xfrm>
          <a:prstGeom prst="roundRect">
            <a:avLst>
              <a:gd name="adj" fmla="val 9576"/>
            </a:avLst>
          </a:prstGeom>
          <a:solidFill>
            <a:schemeClr val="accent1">
              <a:lumMod val="20000"/>
              <a:lumOff val="80000"/>
            </a:schemeClr>
          </a:solidFill>
          <a:ln/>
        </p:spPr>
        <p:style>
          <a:lnRef idx="2">
            <a:schemeClr val="accent5">
              <a:shade val="50000"/>
            </a:schemeClr>
          </a:lnRef>
          <a:fillRef idx="1">
            <a:schemeClr val="accent5"/>
          </a:fillRef>
          <a:effectRef idx="0">
            <a:schemeClr val="accent5"/>
          </a:effectRef>
          <a:fontRef idx="minor">
            <a:schemeClr val="lt1"/>
          </a:fontRef>
        </p:style>
        <p:txBody>
          <a:bodyPr lIns="90000" rIns="54000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altLang="zh-CN" sz="13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rPr>
              <a:t>DISTINGUISHING FEATURES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rPr>
              <a:t>Focus on Reforms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rPr>
              <a:t>Funding linked to Results/Performance</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rPr>
              <a:t>Thrust on Smart Metering</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rPr>
              <a:t>Funds for works leading to loss reduction and improvement in quality and reliability </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rPr>
              <a:t>Measures and works customized to the specific needs of the state</a:t>
            </a:r>
          </a:p>
        </p:txBody>
      </p:sp>
      <p:sp>
        <p:nvSpPr>
          <p:cNvPr id="106" name="Freeform 1126">
            <a:extLst>
              <a:ext uri="{FF2B5EF4-FFF2-40B4-BE49-F238E27FC236}">
                <a16:creationId xmlns:a16="http://schemas.microsoft.com/office/drawing/2014/main" id="{1541A90D-F7B8-410B-A79E-397BA3CACE4C}"/>
              </a:ext>
            </a:extLst>
          </p:cNvPr>
          <p:cNvSpPr>
            <a:spLocks/>
          </p:cNvSpPr>
          <p:nvPr/>
        </p:nvSpPr>
        <p:spPr bwMode="auto">
          <a:xfrm>
            <a:off x="7616773" y="1413486"/>
            <a:ext cx="3887934" cy="2636712"/>
          </a:xfrm>
          <a:prstGeom prst="roundRect">
            <a:avLst>
              <a:gd name="adj" fmla="val 6979"/>
            </a:avLst>
          </a:prstGeom>
          <a:solidFill>
            <a:srgbClr val="FFFFFF"/>
          </a:solidFill>
          <a:ln w="25400">
            <a:solidFill>
              <a:srgbClr val="000000"/>
            </a:solidFill>
          </a:ln>
        </p:spPr>
        <p:txBody>
          <a:bodyPr lIns="90000" rIns="540000"/>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en-US" altLang="zh-CN" sz="13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rPr>
              <a:t>OBJECTIVES and BENEFITS</a:t>
            </a:r>
          </a:p>
          <a:p>
            <a:pPr marL="171450" marR="0" lvl="0" indent="-171450" algn="just" defTabSz="914400" rtl="0" eaLnBrk="1" fontAlgn="auto" latinLnBrk="0" hangingPunct="1">
              <a:lnSpc>
                <a:spcPct val="100000"/>
              </a:lnSpc>
              <a:spcBef>
                <a:spcPts val="0"/>
              </a:spcBef>
              <a:spcAft>
                <a:spcPts val="60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rPr>
              <a:t>The objectives of the scheme are to:</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rPr>
              <a:t>Improve the quality, reliability and affordability of power supply </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rPr>
              <a:t>Reduce the AT&amp;C losses to pan-India levels of </a:t>
            </a:r>
            <a:r>
              <a:rPr kumimoji="0" lang="en-US" altLang="zh-CN"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rPr>
              <a:t>12-15% by 2024-25.</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rPr>
              <a:t>Reduce ACS-ARR gap to </a:t>
            </a:r>
            <a:r>
              <a:rPr kumimoji="0" lang="en-US" altLang="zh-CN"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rPr>
              <a:t>zero by 2024-25</a:t>
            </a:r>
            <a:r>
              <a:rPr kumimoji="0" lang="en-US" altLang="zh-CN"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rPr>
              <a:t>.</a:t>
            </a:r>
          </a:p>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rPr>
              <a:t>State-wise targets will depend on their current levels of AT&amp;C losses and ACS-ARR gap.</a:t>
            </a:r>
            <a:endParaRPr kumimoji="0" lang="en-US" altLang="zh-CN" sz="13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endParaRPr>
          </a:p>
        </p:txBody>
      </p:sp>
      <p:grpSp>
        <p:nvGrpSpPr>
          <p:cNvPr id="116" name="组合 128">
            <a:extLst>
              <a:ext uri="{FF2B5EF4-FFF2-40B4-BE49-F238E27FC236}">
                <a16:creationId xmlns:a16="http://schemas.microsoft.com/office/drawing/2014/main" id="{E053DD03-0163-4766-8A15-7E30BD6F02F6}"/>
              </a:ext>
            </a:extLst>
          </p:cNvPr>
          <p:cNvGrpSpPr/>
          <p:nvPr/>
        </p:nvGrpSpPr>
        <p:grpSpPr>
          <a:xfrm rot="16200000">
            <a:off x="5877106" y="4441179"/>
            <a:ext cx="175832" cy="153406"/>
            <a:chOff x="4659459" y="2145375"/>
            <a:chExt cx="222916" cy="194484"/>
          </a:xfrm>
          <a:solidFill>
            <a:srgbClr val="53565A"/>
          </a:solidFill>
        </p:grpSpPr>
        <p:sp>
          <p:nvSpPr>
            <p:cNvPr id="117" name="燕尾形 129">
              <a:extLst>
                <a:ext uri="{FF2B5EF4-FFF2-40B4-BE49-F238E27FC236}">
                  <a16:creationId xmlns:a16="http://schemas.microsoft.com/office/drawing/2014/main" id="{C94EFA57-EC24-4950-9D62-A6796E00B240}"/>
                </a:ext>
              </a:extLst>
            </p:cNvPr>
            <p:cNvSpPr/>
            <p:nvPr/>
          </p:nvSpPr>
          <p:spPr bwMode="gray">
            <a:xfrm flipH="1">
              <a:off x="4659459" y="2151481"/>
              <a:ext cx="105716" cy="188378"/>
            </a:xfrm>
            <a:prstGeom prst="chevron">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dirty="0">
                <a:ln>
                  <a:noFill/>
                </a:ln>
                <a:solidFill>
                  <a:srgbClr val="FFFFFF"/>
                </a:solidFill>
                <a:effectLst/>
                <a:uLnTx/>
                <a:uFillTx/>
                <a:latin typeface="Verdana"/>
                <a:ea typeface="+mn-ea"/>
                <a:cs typeface="+mn-cs"/>
              </a:endParaRPr>
            </a:p>
          </p:txBody>
        </p:sp>
        <p:sp>
          <p:nvSpPr>
            <p:cNvPr id="118" name="燕尾形 130">
              <a:extLst>
                <a:ext uri="{FF2B5EF4-FFF2-40B4-BE49-F238E27FC236}">
                  <a16:creationId xmlns:a16="http://schemas.microsoft.com/office/drawing/2014/main" id="{BCD73B82-720D-485C-99BC-E9676B7D86B3}"/>
                </a:ext>
              </a:extLst>
            </p:cNvPr>
            <p:cNvSpPr/>
            <p:nvPr/>
          </p:nvSpPr>
          <p:spPr bwMode="gray">
            <a:xfrm flipH="1">
              <a:off x="4776659" y="2145375"/>
              <a:ext cx="105716" cy="188378"/>
            </a:xfrm>
            <a:prstGeom prst="chevron">
              <a:avLst/>
            </a:prstGeom>
            <a:solidFill>
              <a:srgbClr val="75787B"/>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dirty="0">
                <a:ln>
                  <a:noFill/>
                </a:ln>
                <a:solidFill>
                  <a:srgbClr val="FFFFFF"/>
                </a:solidFill>
                <a:effectLst/>
                <a:uLnTx/>
                <a:uFillTx/>
                <a:latin typeface="Verdana"/>
                <a:ea typeface="+mn-ea"/>
                <a:cs typeface="+mn-cs"/>
              </a:endParaRPr>
            </a:p>
          </p:txBody>
        </p:sp>
      </p:grpSp>
      <p:grpSp>
        <p:nvGrpSpPr>
          <p:cNvPr id="94" name="Group 72">
            <a:extLst>
              <a:ext uri="{FF2B5EF4-FFF2-40B4-BE49-F238E27FC236}">
                <a16:creationId xmlns:a16="http://schemas.microsoft.com/office/drawing/2014/main" id="{DEA0FCF5-B924-44C9-8D23-602A5D2E6770}"/>
              </a:ext>
            </a:extLst>
          </p:cNvPr>
          <p:cNvGrpSpPr/>
          <p:nvPr/>
        </p:nvGrpSpPr>
        <p:grpSpPr>
          <a:xfrm>
            <a:off x="4910518" y="1172344"/>
            <a:ext cx="2114344" cy="2442860"/>
            <a:chOff x="376236" y="1341438"/>
            <a:chExt cx="3060945" cy="3929953"/>
          </a:xfrm>
        </p:grpSpPr>
        <p:sp>
          <p:nvSpPr>
            <p:cNvPr id="95" name="Freeform 7">
              <a:extLst>
                <a:ext uri="{FF2B5EF4-FFF2-40B4-BE49-F238E27FC236}">
                  <a16:creationId xmlns:a16="http://schemas.microsoft.com/office/drawing/2014/main" id="{B0227A85-A9A3-4FFA-89F8-C4EDD391DDD9}"/>
                </a:ext>
              </a:extLst>
            </p:cNvPr>
            <p:cNvSpPr>
              <a:spLocks/>
            </p:cNvSpPr>
            <p:nvPr/>
          </p:nvSpPr>
          <p:spPr bwMode="auto">
            <a:xfrm>
              <a:off x="462294" y="1341438"/>
              <a:ext cx="2888830" cy="946631"/>
            </a:xfrm>
            <a:custGeom>
              <a:avLst/>
              <a:gdLst>
                <a:gd name="T0" fmla="*/ 4021 w 4021"/>
                <a:gd name="T1" fmla="*/ 1317 h 1317"/>
                <a:gd name="T2" fmla="*/ 4021 w 4021"/>
                <a:gd name="T3" fmla="*/ 1317 h 1317"/>
                <a:gd name="T4" fmla="*/ 2010 w 4021"/>
                <a:gd name="T5" fmla="*/ 0 h 1317"/>
                <a:gd name="T6" fmla="*/ 0 w 4021"/>
                <a:gd name="T7" fmla="*/ 1317 h 1317"/>
                <a:gd name="T8" fmla="*/ 4021 w 4021"/>
                <a:gd name="T9" fmla="*/ 1317 h 1317"/>
              </a:gdLst>
              <a:ahLst/>
              <a:cxnLst>
                <a:cxn ang="0">
                  <a:pos x="T0" y="T1"/>
                </a:cxn>
                <a:cxn ang="0">
                  <a:pos x="T2" y="T3"/>
                </a:cxn>
                <a:cxn ang="0">
                  <a:pos x="T4" y="T5"/>
                </a:cxn>
                <a:cxn ang="0">
                  <a:pos x="T6" y="T7"/>
                </a:cxn>
                <a:cxn ang="0">
                  <a:pos x="T8" y="T9"/>
                </a:cxn>
              </a:cxnLst>
              <a:rect l="0" t="0" r="r" b="b"/>
              <a:pathLst>
                <a:path w="4021" h="1317">
                  <a:moveTo>
                    <a:pt x="4021" y="1317"/>
                  </a:moveTo>
                  <a:lnTo>
                    <a:pt x="4021" y="1317"/>
                  </a:lnTo>
                  <a:cubicBezTo>
                    <a:pt x="3733" y="492"/>
                    <a:pt x="2960" y="0"/>
                    <a:pt x="2010" y="0"/>
                  </a:cubicBezTo>
                  <a:cubicBezTo>
                    <a:pt x="1060" y="0"/>
                    <a:pt x="287" y="492"/>
                    <a:pt x="0" y="1317"/>
                  </a:cubicBezTo>
                  <a:lnTo>
                    <a:pt x="4021" y="1317"/>
                  </a:lnTo>
                  <a:close/>
                </a:path>
              </a:pathLst>
            </a:custGeom>
            <a:solidFill>
              <a:srgbClr val="43B02A"/>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Verdana"/>
                <a:ea typeface="+mn-ea"/>
                <a:cs typeface="+mn-cs"/>
              </a:endParaRPr>
            </a:p>
          </p:txBody>
        </p:sp>
        <p:sp>
          <p:nvSpPr>
            <p:cNvPr id="96" name="Freeform 10">
              <a:extLst>
                <a:ext uri="{FF2B5EF4-FFF2-40B4-BE49-F238E27FC236}">
                  <a16:creationId xmlns:a16="http://schemas.microsoft.com/office/drawing/2014/main" id="{FD3D2D4C-4CB5-4148-A616-F73C380DC6FF}"/>
                </a:ext>
              </a:extLst>
            </p:cNvPr>
            <p:cNvSpPr>
              <a:spLocks/>
            </p:cNvSpPr>
            <p:nvPr/>
          </p:nvSpPr>
          <p:spPr bwMode="auto">
            <a:xfrm>
              <a:off x="376236" y="2358937"/>
              <a:ext cx="3060945" cy="911195"/>
            </a:xfrm>
            <a:custGeom>
              <a:avLst/>
              <a:gdLst>
                <a:gd name="T0" fmla="*/ 0 w 4262"/>
                <a:gd name="T1" fmla="*/ 643 h 1268"/>
                <a:gd name="T2" fmla="*/ 0 w 4262"/>
                <a:gd name="T3" fmla="*/ 643 h 1268"/>
                <a:gd name="T4" fmla="*/ 85 w 4262"/>
                <a:gd name="T5" fmla="*/ 1268 h 1268"/>
                <a:gd name="T6" fmla="*/ 4178 w 4262"/>
                <a:gd name="T7" fmla="*/ 1268 h 1268"/>
                <a:gd name="T8" fmla="*/ 4262 w 4262"/>
                <a:gd name="T9" fmla="*/ 643 h 1268"/>
                <a:gd name="T10" fmla="*/ 4174 w 4262"/>
                <a:gd name="T11" fmla="*/ 0 h 1268"/>
                <a:gd name="T12" fmla="*/ 89 w 4262"/>
                <a:gd name="T13" fmla="*/ 0 h 1268"/>
                <a:gd name="T14" fmla="*/ 0 w 4262"/>
                <a:gd name="T15" fmla="*/ 643 h 1268"/>
                <a:gd name="T16" fmla="*/ 0 w 4262"/>
                <a:gd name="T17" fmla="*/ 643 h 1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2" h="1268">
                  <a:moveTo>
                    <a:pt x="0" y="643"/>
                  </a:moveTo>
                  <a:lnTo>
                    <a:pt x="0" y="643"/>
                  </a:lnTo>
                  <a:cubicBezTo>
                    <a:pt x="0" y="876"/>
                    <a:pt x="32" y="1082"/>
                    <a:pt x="85" y="1268"/>
                  </a:cubicBezTo>
                  <a:lnTo>
                    <a:pt x="4178" y="1268"/>
                  </a:lnTo>
                  <a:cubicBezTo>
                    <a:pt x="4230" y="1082"/>
                    <a:pt x="4262" y="876"/>
                    <a:pt x="4262" y="643"/>
                  </a:cubicBezTo>
                  <a:cubicBezTo>
                    <a:pt x="4262" y="412"/>
                    <a:pt x="4231" y="198"/>
                    <a:pt x="4174" y="0"/>
                  </a:cubicBezTo>
                  <a:lnTo>
                    <a:pt x="89" y="0"/>
                  </a:lnTo>
                  <a:cubicBezTo>
                    <a:pt x="31" y="198"/>
                    <a:pt x="0" y="412"/>
                    <a:pt x="0" y="643"/>
                  </a:cubicBezTo>
                  <a:lnTo>
                    <a:pt x="0" y="643"/>
                  </a:lnTo>
                  <a:close/>
                </a:path>
              </a:pathLst>
            </a:custGeom>
            <a:solidFill>
              <a:schemeClr val="accent3"/>
            </a:solidFill>
            <a:ln w="952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Verdana"/>
                <a:ea typeface="+mn-ea"/>
                <a:cs typeface="+mn-cs"/>
              </a:endParaRPr>
            </a:p>
          </p:txBody>
        </p:sp>
        <p:sp>
          <p:nvSpPr>
            <p:cNvPr id="97" name="Freeform 12">
              <a:extLst>
                <a:ext uri="{FF2B5EF4-FFF2-40B4-BE49-F238E27FC236}">
                  <a16:creationId xmlns:a16="http://schemas.microsoft.com/office/drawing/2014/main" id="{FD978439-7D12-4765-B7EC-50617F340DB3}"/>
                </a:ext>
              </a:extLst>
            </p:cNvPr>
            <p:cNvSpPr>
              <a:spLocks/>
            </p:cNvSpPr>
            <p:nvPr/>
          </p:nvSpPr>
          <p:spPr bwMode="auto">
            <a:xfrm>
              <a:off x="958390" y="4324760"/>
              <a:ext cx="1894952" cy="946631"/>
            </a:xfrm>
            <a:custGeom>
              <a:avLst/>
              <a:gdLst>
                <a:gd name="T0" fmla="*/ 0 w 2640"/>
                <a:gd name="T1" fmla="*/ 0 h 1317"/>
                <a:gd name="T2" fmla="*/ 0 w 2640"/>
                <a:gd name="T3" fmla="*/ 0 h 1317"/>
                <a:gd name="T4" fmla="*/ 127 w 2640"/>
                <a:gd name="T5" fmla="*/ 630 h 1317"/>
                <a:gd name="T6" fmla="*/ 610 w 2640"/>
                <a:gd name="T7" fmla="*/ 1317 h 1317"/>
                <a:gd name="T8" fmla="*/ 2030 w 2640"/>
                <a:gd name="T9" fmla="*/ 1317 h 1317"/>
                <a:gd name="T10" fmla="*/ 2513 w 2640"/>
                <a:gd name="T11" fmla="*/ 630 h 1317"/>
                <a:gd name="T12" fmla="*/ 2640 w 2640"/>
                <a:gd name="T13" fmla="*/ 0 h 1317"/>
                <a:gd name="T14" fmla="*/ 0 w 2640"/>
                <a:gd name="T15" fmla="*/ 0 h 1317"/>
                <a:gd name="T16" fmla="*/ 0 w 2640"/>
                <a:gd name="T17" fmla="*/ 0 h 1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40" h="1317">
                  <a:moveTo>
                    <a:pt x="0" y="0"/>
                  </a:moveTo>
                  <a:lnTo>
                    <a:pt x="0" y="0"/>
                  </a:lnTo>
                  <a:cubicBezTo>
                    <a:pt x="77" y="190"/>
                    <a:pt x="127" y="394"/>
                    <a:pt x="127" y="630"/>
                  </a:cubicBezTo>
                  <a:cubicBezTo>
                    <a:pt x="127" y="857"/>
                    <a:pt x="340" y="1317"/>
                    <a:pt x="610" y="1317"/>
                  </a:cubicBezTo>
                  <a:lnTo>
                    <a:pt x="2030" y="1317"/>
                  </a:lnTo>
                  <a:cubicBezTo>
                    <a:pt x="2300" y="1317"/>
                    <a:pt x="2513" y="857"/>
                    <a:pt x="2513" y="630"/>
                  </a:cubicBezTo>
                  <a:cubicBezTo>
                    <a:pt x="2513" y="394"/>
                    <a:pt x="2563" y="190"/>
                    <a:pt x="2640" y="0"/>
                  </a:cubicBezTo>
                  <a:lnTo>
                    <a:pt x="0" y="0"/>
                  </a:lnTo>
                  <a:lnTo>
                    <a:pt x="0" y="0"/>
                  </a:lnTo>
                  <a:close/>
                </a:path>
              </a:pathLst>
            </a:custGeom>
            <a:solidFill>
              <a:srgbClr val="86BC25"/>
            </a:solidFill>
            <a:ln w="952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Verdana"/>
                <a:ea typeface="+mn-ea"/>
                <a:cs typeface="+mn-cs"/>
              </a:endParaRPr>
            </a:p>
          </p:txBody>
        </p:sp>
        <p:sp>
          <p:nvSpPr>
            <p:cNvPr id="98" name="Freeform 14">
              <a:extLst>
                <a:ext uri="{FF2B5EF4-FFF2-40B4-BE49-F238E27FC236}">
                  <a16:creationId xmlns:a16="http://schemas.microsoft.com/office/drawing/2014/main" id="{900DE2D4-0CEE-4447-9320-7A063C8AA090}"/>
                </a:ext>
              </a:extLst>
            </p:cNvPr>
            <p:cNvSpPr>
              <a:spLocks/>
            </p:cNvSpPr>
            <p:nvPr/>
          </p:nvSpPr>
          <p:spPr bwMode="auto">
            <a:xfrm>
              <a:off x="458920" y="3342691"/>
              <a:ext cx="2895579" cy="911195"/>
            </a:xfrm>
            <a:custGeom>
              <a:avLst/>
              <a:gdLst>
                <a:gd name="T0" fmla="*/ 3379 w 4032"/>
                <a:gd name="T1" fmla="*/ 1267 h 1267"/>
                <a:gd name="T2" fmla="*/ 3379 w 4032"/>
                <a:gd name="T3" fmla="*/ 1267 h 1267"/>
                <a:gd name="T4" fmla="*/ 4032 w 4032"/>
                <a:gd name="T5" fmla="*/ 0 h 1267"/>
                <a:gd name="T6" fmla="*/ 0 w 4032"/>
                <a:gd name="T7" fmla="*/ 0 h 1267"/>
                <a:gd name="T8" fmla="*/ 653 w 4032"/>
                <a:gd name="T9" fmla="*/ 1267 h 1267"/>
                <a:gd name="T10" fmla="*/ 3379 w 4032"/>
                <a:gd name="T11" fmla="*/ 1267 h 1267"/>
                <a:gd name="T12" fmla="*/ 3379 w 4032"/>
                <a:gd name="T13" fmla="*/ 1267 h 1267"/>
              </a:gdLst>
              <a:ahLst/>
              <a:cxnLst>
                <a:cxn ang="0">
                  <a:pos x="T0" y="T1"/>
                </a:cxn>
                <a:cxn ang="0">
                  <a:pos x="T2" y="T3"/>
                </a:cxn>
                <a:cxn ang="0">
                  <a:pos x="T4" y="T5"/>
                </a:cxn>
                <a:cxn ang="0">
                  <a:pos x="T6" y="T7"/>
                </a:cxn>
                <a:cxn ang="0">
                  <a:pos x="T8" y="T9"/>
                </a:cxn>
                <a:cxn ang="0">
                  <a:pos x="T10" y="T11"/>
                </a:cxn>
                <a:cxn ang="0">
                  <a:pos x="T12" y="T13"/>
                </a:cxn>
              </a:cxnLst>
              <a:rect l="0" t="0" r="r" b="b"/>
              <a:pathLst>
                <a:path w="4032" h="1267">
                  <a:moveTo>
                    <a:pt x="3379" y="1267"/>
                  </a:moveTo>
                  <a:lnTo>
                    <a:pt x="3379" y="1267"/>
                  </a:lnTo>
                  <a:cubicBezTo>
                    <a:pt x="3568" y="854"/>
                    <a:pt x="3869" y="495"/>
                    <a:pt x="4032" y="0"/>
                  </a:cubicBezTo>
                  <a:lnTo>
                    <a:pt x="0" y="0"/>
                  </a:lnTo>
                  <a:cubicBezTo>
                    <a:pt x="163" y="495"/>
                    <a:pt x="464" y="854"/>
                    <a:pt x="653" y="1267"/>
                  </a:cubicBezTo>
                  <a:lnTo>
                    <a:pt x="3379" y="1267"/>
                  </a:lnTo>
                  <a:lnTo>
                    <a:pt x="3379" y="1267"/>
                  </a:lnTo>
                  <a:close/>
                </a:path>
              </a:pathLst>
            </a:custGeom>
            <a:solidFill>
              <a:srgbClr val="000000"/>
            </a:solidFill>
            <a:ln w="952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Verdana"/>
                <a:ea typeface="+mn-ea"/>
                <a:cs typeface="+mn-cs"/>
              </a:endParaRPr>
            </a:p>
          </p:txBody>
        </p:sp>
      </p:grpSp>
      <p:sp>
        <p:nvSpPr>
          <p:cNvPr id="99" name="Freeform 5">
            <a:extLst>
              <a:ext uri="{FF2B5EF4-FFF2-40B4-BE49-F238E27FC236}">
                <a16:creationId xmlns:a16="http://schemas.microsoft.com/office/drawing/2014/main" id="{52227CEA-D77B-452B-8270-F402BC32C8DF}"/>
              </a:ext>
            </a:extLst>
          </p:cNvPr>
          <p:cNvSpPr>
            <a:spLocks/>
          </p:cNvSpPr>
          <p:nvPr/>
        </p:nvSpPr>
        <p:spPr bwMode="auto">
          <a:xfrm>
            <a:off x="5000211" y="1218356"/>
            <a:ext cx="1974634" cy="2305729"/>
          </a:xfrm>
          <a:custGeom>
            <a:avLst/>
            <a:gdLst>
              <a:gd name="T0" fmla="*/ 607 w 634"/>
              <a:gd name="T1" fmla="*/ 174 h 823"/>
              <a:gd name="T2" fmla="*/ 317 w 634"/>
              <a:gd name="T3" fmla="*/ 0 h 823"/>
              <a:gd name="T4" fmla="*/ 26 w 634"/>
              <a:gd name="T5" fmla="*/ 174 h 823"/>
              <a:gd name="T6" fmla="*/ 10 w 634"/>
              <a:gd name="T7" fmla="*/ 221 h 823"/>
              <a:gd name="T8" fmla="*/ 0 w 634"/>
              <a:gd name="T9" fmla="*/ 306 h 823"/>
              <a:gd name="T10" fmla="*/ 10 w 634"/>
              <a:gd name="T11" fmla="*/ 388 h 823"/>
              <a:gd name="T12" fmla="*/ 25 w 634"/>
              <a:gd name="T13" fmla="*/ 435 h 823"/>
              <a:gd name="T14" fmla="*/ 76 w 634"/>
              <a:gd name="T15" fmla="*/ 535 h 823"/>
              <a:gd name="T16" fmla="*/ 114 w 634"/>
              <a:gd name="T17" fmla="*/ 602 h 823"/>
              <a:gd name="T18" fmla="*/ 133 w 634"/>
              <a:gd name="T19" fmla="*/ 649 h 823"/>
              <a:gd name="T20" fmla="*/ 146 w 634"/>
              <a:gd name="T21" fmla="*/ 732 h 823"/>
              <a:gd name="T22" fmla="*/ 206 w 634"/>
              <a:gd name="T23" fmla="*/ 823 h 823"/>
              <a:gd name="T24" fmla="*/ 427 w 634"/>
              <a:gd name="T25" fmla="*/ 823 h 823"/>
              <a:gd name="T26" fmla="*/ 487 w 634"/>
              <a:gd name="T27" fmla="*/ 732 h 823"/>
              <a:gd name="T28" fmla="*/ 500 w 634"/>
              <a:gd name="T29" fmla="*/ 649 h 823"/>
              <a:gd name="T30" fmla="*/ 520 w 634"/>
              <a:gd name="T31" fmla="*/ 602 h 823"/>
              <a:gd name="T32" fmla="*/ 557 w 634"/>
              <a:gd name="T33" fmla="*/ 535 h 823"/>
              <a:gd name="T34" fmla="*/ 609 w 634"/>
              <a:gd name="T35" fmla="*/ 435 h 823"/>
              <a:gd name="T36" fmla="*/ 624 w 634"/>
              <a:gd name="T37" fmla="*/ 388 h 823"/>
              <a:gd name="T38" fmla="*/ 634 w 634"/>
              <a:gd name="T39" fmla="*/ 306 h 823"/>
              <a:gd name="T40" fmla="*/ 624 w 634"/>
              <a:gd name="T41" fmla="*/ 221 h 823"/>
              <a:gd name="T42" fmla="*/ 607 w 634"/>
              <a:gd name="T43" fmla="*/ 174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34" h="823">
                <a:moveTo>
                  <a:pt x="607" y="174"/>
                </a:moveTo>
                <a:cubicBezTo>
                  <a:pt x="560" y="66"/>
                  <a:pt x="451" y="0"/>
                  <a:pt x="317" y="0"/>
                </a:cubicBezTo>
                <a:cubicBezTo>
                  <a:pt x="183" y="0"/>
                  <a:pt x="74" y="66"/>
                  <a:pt x="26" y="174"/>
                </a:cubicBezTo>
                <a:cubicBezTo>
                  <a:pt x="10" y="221"/>
                  <a:pt x="10" y="221"/>
                  <a:pt x="10" y="221"/>
                </a:cubicBezTo>
                <a:cubicBezTo>
                  <a:pt x="3" y="248"/>
                  <a:pt x="0" y="276"/>
                  <a:pt x="0" y="306"/>
                </a:cubicBezTo>
                <a:cubicBezTo>
                  <a:pt x="0" y="335"/>
                  <a:pt x="3" y="361"/>
                  <a:pt x="10" y="388"/>
                </a:cubicBezTo>
                <a:cubicBezTo>
                  <a:pt x="25" y="435"/>
                  <a:pt x="25" y="435"/>
                  <a:pt x="25" y="435"/>
                </a:cubicBezTo>
                <a:cubicBezTo>
                  <a:pt x="39" y="472"/>
                  <a:pt x="58" y="504"/>
                  <a:pt x="76" y="535"/>
                </a:cubicBezTo>
                <a:cubicBezTo>
                  <a:pt x="89" y="556"/>
                  <a:pt x="103" y="579"/>
                  <a:pt x="114" y="602"/>
                </a:cubicBezTo>
                <a:cubicBezTo>
                  <a:pt x="133" y="649"/>
                  <a:pt x="133" y="649"/>
                  <a:pt x="133" y="649"/>
                </a:cubicBezTo>
                <a:cubicBezTo>
                  <a:pt x="142" y="676"/>
                  <a:pt x="146" y="704"/>
                  <a:pt x="146" y="732"/>
                </a:cubicBezTo>
                <a:cubicBezTo>
                  <a:pt x="146" y="764"/>
                  <a:pt x="177" y="823"/>
                  <a:pt x="206" y="823"/>
                </a:cubicBezTo>
                <a:cubicBezTo>
                  <a:pt x="427" y="823"/>
                  <a:pt x="427" y="823"/>
                  <a:pt x="427" y="823"/>
                </a:cubicBezTo>
                <a:cubicBezTo>
                  <a:pt x="456" y="823"/>
                  <a:pt x="487" y="764"/>
                  <a:pt x="487" y="732"/>
                </a:cubicBezTo>
                <a:cubicBezTo>
                  <a:pt x="487" y="704"/>
                  <a:pt x="491" y="676"/>
                  <a:pt x="500" y="649"/>
                </a:cubicBezTo>
                <a:cubicBezTo>
                  <a:pt x="520" y="602"/>
                  <a:pt x="520" y="602"/>
                  <a:pt x="520" y="602"/>
                </a:cubicBezTo>
                <a:cubicBezTo>
                  <a:pt x="531" y="579"/>
                  <a:pt x="544" y="556"/>
                  <a:pt x="557" y="535"/>
                </a:cubicBezTo>
                <a:cubicBezTo>
                  <a:pt x="576" y="504"/>
                  <a:pt x="595" y="472"/>
                  <a:pt x="609" y="435"/>
                </a:cubicBezTo>
                <a:cubicBezTo>
                  <a:pt x="624" y="388"/>
                  <a:pt x="624" y="388"/>
                  <a:pt x="624" y="388"/>
                </a:cubicBezTo>
                <a:cubicBezTo>
                  <a:pt x="631" y="361"/>
                  <a:pt x="634" y="334"/>
                  <a:pt x="634" y="306"/>
                </a:cubicBezTo>
                <a:cubicBezTo>
                  <a:pt x="634" y="277"/>
                  <a:pt x="630" y="248"/>
                  <a:pt x="624" y="221"/>
                </a:cubicBezTo>
                <a:lnTo>
                  <a:pt x="607" y="174"/>
                </a:lnTo>
                <a:close/>
              </a:path>
            </a:pathLst>
          </a:custGeom>
          <a:solidFill>
            <a:srgbClr val="FFFFFF"/>
          </a:solidFill>
          <a:ln w="44450">
            <a:solidFill>
              <a:srgbClr val="FFFFFF"/>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Verdana"/>
              <a:ea typeface="+mn-ea"/>
              <a:cs typeface="+mn-cs"/>
            </a:endParaRPr>
          </a:p>
        </p:txBody>
      </p:sp>
      <p:grpSp>
        <p:nvGrpSpPr>
          <p:cNvPr id="108" name="组合 17">
            <a:extLst>
              <a:ext uri="{FF2B5EF4-FFF2-40B4-BE49-F238E27FC236}">
                <a16:creationId xmlns:a16="http://schemas.microsoft.com/office/drawing/2014/main" id="{72D59693-6AD9-49A3-8D96-1FABC129CF8F}"/>
              </a:ext>
            </a:extLst>
          </p:cNvPr>
          <p:cNvGrpSpPr/>
          <p:nvPr/>
        </p:nvGrpSpPr>
        <p:grpSpPr>
          <a:xfrm>
            <a:off x="5557007" y="3666753"/>
            <a:ext cx="821364" cy="693543"/>
            <a:chOff x="5646772" y="5220836"/>
            <a:chExt cx="1041305" cy="977067"/>
          </a:xfrm>
          <a:solidFill>
            <a:srgbClr val="62B5E5"/>
          </a:solidFill>
        </p:grpSpPr>
        <p:sp>
          <p:nvSpPr>
            <p:cNvPr id="109" name="išľîḑe">
              <a:extLst>
                <a:ext uri="{FF2B5EF4-FFF2-40B4-BE49-F238E27FC236}">
                  <a16:creationId xmlns:a16="http://schemas.microsoft.com/office/drawing/2014/main" id="{63F902C6-BAF8-4E9C-85DD-CE34FDCF09D3}"/>
                </a:ext>
              </a:extLst>
            </p:cNvPr>
            <p:cNvSpPr/>
            <p:nvPr/>
          </p:nvSpPr>
          <p:spPr bwMode="auto">
            <a:xfrm>
              <a:off x="5646772" y="5220836"/>
              <a:ext cx="1034543" cy="476702"/>
            </a:xfrm>
            <a:custGeom>
              <a:avLst/>
              <a:gdLst>
                <a:gd name="T0" fmla="*/ 166 w 183"/>
                <a:gd name="T1" fmla="*/ 0 h 84"/>
                <a:gd name="T2" fmla="*/ 17 w 183"/>
                <a:gd name="T3" fmla="*/ 0 h 84"/>
                <a:gd name="T4" fmla="*/ 2 w 183"/>
                <a:gd name="T5" fmla="*/ 24 h 84"/>
                <a:gd name="T6" fmla="*/ 17 w 183"/>
                <a:gd name="T7" fmla="*/ 49 h 84"/>
                <a:gd name="T8" fmla="*/ 67 w 183"/>
                <a:gd name="T9" fmla="*/ 49 h 84"/>
                <a:gd name="T10" fmla="*/ 13 w 183"/>
                <a:gd name="T11" fmla="*/ 59 h 84"/>
                <a:gd name="T12" fmla="*/ 3 w 183"/>
                <a:gd name="T13" fmla="*/ 75 h 84"/>
                <a:gd name="T14" fmla="*/ 17 w 183"/>
                <a:gd name="T15" fmla="*/ 84 h 84"/>
                <a:gd name="T16" fmla="*/ 22 w 183"/>
                <a:gd name="T17" fmla="*/ 82 h 84"/>
                <a:gd name="T18" fmla="*/ 171 w 183"/>
                <a:gd name="T19" fmla="*/ 33 h 84"/>
                <a:gd name="T20" fmla="*/ 182 w 183"/>
                <a:gd name="T21" fmla="*/ 14 h 84"/>
                <a:gd name="T22" fmla="*/ 166 w 183"/>
                <a:gd name="T23"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4">
                  <a:moveTo>
                    <a:pt x="166" y="0"/>
                  </a:moveTo>
                  <a:cubicBezTo>
                    <a:pt x="17" y="0"/>
                    <a:pt x="17" y="0"/>
                    <a:pt x="17" y="0"/>
                  </a:cubicBezTo>
                  <a:cubicBezTo>
                    <a:pt x="9" y="0"/>
                    <a:pt x="2" y="16"/>
                    <a:pt x="2" y="24"/>
                  </a:cubicBezTo>
                  <a:cubicBezTo>
                    <a:pt x="2" y="33"/>
                    <a:pt x="9" y="49"/>
                    <a:pt x="17" y="49"/>
                  </a:cubicBezTo>
                  <a:cubicBezTo>
                    <a:pt x="67" y="49"/>
                    <a:pt x="67" y="49"/>
                    <a:pt x="67" y="49"/>
                  </a:cubicBezTo>
                  <a:cubicBezTo>
                    <a:pt x="13" y="59"/>
                    <a:pt x="13" y="59"/>
                    <a:pt x="13" y="59"/>
                  </a:cubicBezTo>
                  <a:cubicBezTo>
                    <a:pt x="4" y="62"/>
                    <a:pt x="0" y="67"/>
                    <a:pt x="3" y="75"/>
                  </a:cubicBezTo>
                  <a:cubicBezTo>
                    <a:pt x="5" y="82"/>
                    <a:pt x="11" y="84"/>
                    <a:pt x="17" y="84"/>
                  </a:cubicBezTo>
                  <a:cubicBezTo>
                    <a:pt x="19" y="84"/>
                    <a:pt x="21" y="83"/>
                    <a:pt x="22" y="82"/>
                  </a:cubicBezTo>
                  <a:cubicBezTo>
                    <a:pt x="171" y="33"/>
                    <a:pt x="171" y="33"/>
                    <a:pt x="171" y="33"/>
                  </a:cubicBezTo>
                  <a:cubicBezTo>
                    <a:pt x="178" y="31"/>
                    <a:pt x="183" y="22"/>
                    <a:pt x="182" y="14"/>
                  </a:cubicBezTo>
                  <a:cubicBezTo>
                    <a:pt x="181" y="7"/>
                    <a:pt x="174" y="0"/>
                    <a:pt x="166"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00" b="0" i="0" u="none" strike="noStrike" kern="0" cap="none" spc="0" normalizeH="0" baseline="0" noProof="0">
                <a:ln>
                  <a:noFill/>
                </a:ln>
                <a:solidFill>
                  <a:srgbClr val="000000"/>
                </a:solidFill>
                <a:effectLst/>
                <a:uLnTx/>
                <a:uFillTx/>
                <a:latin typeface="Arial"/>
                <a:ea typeface="微软雅黑"/>
                <a:cs typeface="+mn-cs"/>
              </a:endParaRPr>
            </a:p>
          </p:txBody>
        </p:sp>
        <p:sp>
          <p:nvSpPr>
            <p:cNvPr id="110" name="i$líḓe">
              <a:extLst>
                <a:ext uri="{FF2B5EF4-FFF2-40B4-BE49-F238E27FC236}">
                  <a16:creationId xmlns:a16="http://schemas.microsoft.com/office/drawing/2014/main" id="{04ADD9C1-C4E7-4210-A40C-A569B45FE57B}"/>
                </a:ext>
              </a:extLst>
            </p:cNvPr>
            <p:cNvSpPr/>
            <p:nvPr/>
          </p:nvSpPr>
          <p:spPr bwMode="auto">
            <a:xfrm>
              <a:off x="5653534" y="5494684"/>
              <a:ext cx="1034543" cy="703219"/>
            </a:xfrm>
            <a:custGeom>
              <a:avLst/>
              <a:gdLst>
                <a:gd name="T0" fmla="*/ 165 w 183"/>
                <a:gd name="T1" fmla="*/ 62 h 124"/>
                <a:gd name="T2" fmla="*/ 115 w 183"/>
                <a:gd name="T3" fmla="*/ 62 h 124"/>
                <a:gd name="T4" fmla="*/ 170 w 183"/>
                <a:gd name="T5" fmla="*/ 38 h 124"/>
                <a:gd name="T6" fmla="*/ 180 w 183"/>
                <a:gd name="T7" fmla="*/ 14 h 124"/>
                <a:gd name="T8" fmla="*/ 160 w 183"/>
                <a:gd name="T9" fmla="*/ 3 h 124"/>
                <a:gd name="T10" fmla="*/ 12 w 183"/>
                <a:gd name="T11" fmla="*/ 50 h 124"/>
                <a:gd name="T12" fmla="*/ 1 w 183"/>
                <a:gd name="T13" fmla="*/ 70 h 124"/>
                <a:gd name="T14" fmla="*/ 16 w 183"/>
                <a:gd name="T15" fmla="*/ 87 h 124"/>
                <a:gd name="T16" fmla="*/ 30 w 183"/>
                <a:gd name="T17" fmla="*/ 87 h 124"/>
                <a:gd name="T18" fmla="*/ 54 w 183"/>
                <a:gd name="T19" fmla="*/ 124 h 124"/>
                <a:gd name="T20" fmla="*/ 127 w 183"/>
                <a:gd name="T21" fmla="*/ 124 h 124"/>
                <a:gd name="T22" fmla="*/ 151 w 183"/>
                <a:gd name="T23" fmla="*/ 87 h 124"/>
                <a:gd name="T24" fmla="*/ 165 w 183"/>
                <a:gd name="T25" fmla="*/ 87 h 124"/>
                <a:gd name="T26" fmla="*/ 181 w 183"/>
                <a:gd name="T27" fmla="*/ 75 h 124"/>
                <a:gd name="T28" fmla="*/ 165 w 183"/>
                <a:gd name="T29" fmla="*/ 62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3" h="124">
                  <a:moveTo>
                    <a:pt x="165" y="62"/>
                  </a:moveTo>
                  <a:cubicBezTo>
                    <a:pt x="115" y="62"/>
                    <a:pt x="115" y="62"/>
                    <a:pt x="115" y="62"/>
                  </a:cubicBezTo>
                  <a:cubicBezTo>
                    <a:pt x="170" y="38"/>
                    <a:pt x="170" y="38"/>
                    <a:pt x="170" y="38"/>
                  </a:cubicBezTo>
                  <a:cubicBezTo>
                    <a:pt x="178" y="35"/>
                    <a:pt x="183" y="23"/>
                    <a:pt x="180" y="14"/>
                  </a:cubicBezTo>
                  <a:cubicBezTo>
                    <a:pt x="177" y="6"/>
                    <a:pt x="169" y="0"/>
                    <a:pt x="160" y="3"/>
                  </a:cubicBezTo>
                  <a:cubicBezTo>
                    <a:pt x="12" y="50"/>
                    <a:pt x="12" y="50"/>
                    <a:pt x="12" y="50"/>
                  </a:cubicBezTo>
                  <a:cubicBezTo>
                    <a:pt x="4" y="52"/>
                    <a:pt x="0" y="63"/>
                    <a:pt x="1" y="70"/>
                  </a:cubicBezTo>
                  <a:cubicBezTo>
                    <a:pt x="2" y="78"/>
                    <a:pt x="9" y="87"/>
                    <a:pt x="16" y="87"/>
                  </a:cubicBezTo>
                  <a:cubicBezTo>
                    <a:pt x="30" y="87"/>
                    <a:pt x="30" y="87"/>
                    <a:pt x="30" y="87"/>
                  </a:cubicBezTo>
                  <a:cubicBezTo>
                    <a:pt x="54" y="124"/>
                    <a:pt x="54" y="124"/>
                    <a:pt x="54" y="124"/>
                  </a:cubicBezTo>
                  <a:cubicBezTo>
                    <a:pt x="127" y="124"/>
                    <a:pt x="127" y="124"/>
                    <a:pt x="127" y="124"/>
                  </a:cubicBezTo>
                  <a:cubicBezTo>
                    <a:pt x="151" y="87"/>
                    <a:pt x="151" y="87"/>
                    <a:pt x="151" y="87"/>
                  </a:cubicBezTo>
                  <a:cubicBezTo>
                    <a:pt x="165" y="87"/>
                    <a:pt x="165" y="87"/>
                    <a:pt x="165" y="87"/>
                  </a:cubicBezTo>
                  <a:cubicBezTo>
                    <a:pt x="174" y="87"/>
                    <a:pt x="181" y="83"/>
                    <a:pt x="181" y="75"/>
                  </a:cubicBezTo>
                  <a:cubicBezTo>
                    <a:pt x="181" y="66"/>
                    <a:pt x="174" y="62"/>
                    <a:pt x="165" y="6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00" b="0" i="0" u="none" strike="noStrike" kern="0" cap="none" spc="0" normalizeH="0" baseline="0" noProof="0">
                <a:ln>
                  <a:noFill/>
                </a:ln>
                <a:solidFill>
                  <a:srgbClr val="000000"/>
                </a:solidFill>
                <a:effectLst/>
                <a:uLnTx/>
                <a:uFillTx/>
                <a:latin typeface="Arial"/>
                <a:ea typeface="微软雅黑"/>
                <a:cs typeface="+mn-cs"/>
              </a:endParaRPr>
            </a:p>
          </p:txBody>
        </p:sp>
      </p:grpSp>
      <p:sp>
        <p:nvSpPr>
          <p:cNvPr id="111" name="îšḷîďê">
            <a:extLst>
              <a:ext uri="{FF2B5EF4-FFF2-40B4-BE49-F238E27FC236}">
                <a16:creationId xmlns:a16="http://schemas.microsoft.com/office/drawing/2014/main" id="{C8E8E7FC-D5C8-4DC1-B0CD-936C30C12579}"/>
              </a:ext>
            </a:extLst>
          </p:cNvPr>
          <p:cNvSpPr/>
          <p:nvPr/>
        </p:nvSpPr>
        <p:spPr bwMode="auto">
          <a:xfrm>
            <a:off x="5497076" y="2316863"/>
            <a:ext cx="941227" cy="984532"/>
          </a:xfrm>
          <a:custGeom>
            <a:avLst/>
            <a:gdLst>
              <a:gd name="T0" fmla="*/ 13 w 232"/>
              <a:gd name="T1" fmla="*/ 38 h 269"/>
              <a:gd name="T2" fmla="*/ 4 w 232"/>
              <a:gd name="T3" fmla="*/ 37 h 269"/>
              <a:gd name="T4" fmla="*/ 3 w 232"/>
              <a:gd name="T5" fmla="*/ 46 h 269"/>
              <a:gd name="T6" fmla="*/ 6 w 232"/>
              <a:gd name="T7" fmla="*/ 51 h 269"/>
              <a:gd name="T8" fmla="*/ 77 w 232"/>
              <a:gd name="T9" fmla="*/ 265 h 269"/>
              <a:gd name="T10" fmla="*/ 83 w 232"/>
              <a:gd name="T11" fmla="*/ 269 h 269"/>
              <a:gd name="T12" fmla="*/ 85 w 232"/>
              <a:gd name="T13" fmla="*/ 269 h 269"/>
              <a:gd name="T14" fmla="*/ 89 w 232"/>
              <a:gd name="T15" fmla="*/ 260 h 269"/>
              <a:gd name="T16" fmla="*/ 24 w 232"/>
              <a:gd name="T17" fmla="*/ 63 h 269"/>
              <a:gd name="T18" fmla="*/ 76 w 232"/>
              <a:gd name="T19" fmla="*/ 69 h 269"/>
              <a:gd name="T20" fmla="*/ 85 w 232"/>
              <a:gd name="T21" fmla="*/ 64 h 269"/>
              <a:gd name="T22" fmla="*/ 113 w 232"/>
              <a:gd name="T23" fmla="*/ 73 h 269"/>
              <a:gd name="T24" fmla="*/ 145 w 232"/>
              <a:gd name="T25" fmla="*/ 62 h 269"/>
              <a:gd name="T26" fmla="*/ 161 w 232"/>
              <a:gd name="T27" fmla="*/ 68 h 269"/>
              <a:gd name="T28" fmla="*/ 210 w 232"/>
              <a:gd name="T29" fmla="*/ 65 h 269"/>
              <a:gd name="T30" fmla="*/ 146 w 232"/>
              <a:gd name="T31" fmla="*/ 260 h 269"/>
              <a:gd name="T32" fmla="*/ 150 w 232"/>
              <a:gd name="T33" fmla="*/ 269 h 269"/>
              <a:gd name="T34" fmla="*/ 152 w 232"/>
              <a:gd name="T35" fmla="*/ 269 h 269"/>
              <a:gd name="T36" fmla="*/ 158 w 232"/>
              <a:gd name="T37" fmla="*/ 265 h 269"/>
              <a:gd name="T38" fmla="*/ 228 w 232"/>
              <a:gd name="T39" fmla="*/ 50 h 269"/>
              <a:gd name="T40" fmla="*/ 230 w 232"/>
              <a:gd name="T41" fmla="*/ 48 h 269"/>
              <a:gd name="T42" fmla="*/ 229 w 232"/>
              <a:gd name="T43" fmla="*/ 39 h 269"/>
              <a:gd name="T44" fmla="*/ 220 w 232"/>
              <a:gd name="T45" fmla="*/ 40 h 269"/>
              <a:gd name="T46" fmla="*/ 165 w 232"/>
              <a:gd name="T47" fmla="*/ 55 h 269"/>
              <a:gd name="T48" fmla="*/ 154 w 232"/>
              <a:gd name="T49" fmla="*/ 52 h 269"/>
              <a:gd name="T50" fmla="*/ 160 w 232"/>
              <a:gd name="T51" fmla="*/ 31 h 269"/>
              <a:gd name="T52" fmla="*/ 146 w 232"/>
              <a:gd name="T53" fmla="*/ 3 h 269"/>
              <a:gd name="T54" fmla="*/ 132 w 232"/>
              <a:gd name="T55" fmla="*/ 3 h 269"/>
              <a:gd name="T56" fmla="*/ 123 w 232"/>
              <a:gd name="T57" fmla="*/ 32 h 269"/>
              <a:gd name="T58" fmla="*/ 134 w 232"/>
              <a:gd name="T59" fmla="*/ 54 h 269"/>
              <a:gd name="T60" fmla="*/ 95 w 232"/>
              <a:gd name="T61" fmla="*/ 55 h 269"/>
              <a:gd name="T62" fmla="*/ 103 w 232"/>
              <a:gd name="T63" fmla="*/ 32 h 269"/>
              <a:gd name="T64" fmla="*/ 92 w 232"/>
              <a:gd name="T65" fmla="*/ 4 h 269"/>
              <a:gd name="T66" fmla="*/ 77 w 232"/>
              <a:gd name="T67" fmla="*/ 4 h 269"/>
              <a:gd name="T68" fmla="*/ 66 w 232"/>
              <a:gd name="T69" fmla="*/ 32 h 269"/>
              <a:gd name="T70" fmla="*/ 75 w 232"/>
              <a:gd name="T71" fmla="*/ 55 h 269"/>
              <a:gd name="T72" fmla="*/ 72 w 232"/>
              <a:gd name="T73" fmla="*/ 56 h 269"/>
              <a:gd name="T74" fmla="*/ 13 w 232"/>
              <a:gd name="T75" fmla="*/ 38 h 269"/>
              <a:gd name="T76" fmla="*/ 140 w 232"/>
              <a:gd name="T77" fmla="*/ 14 h 269"/>
              <a:gd name="T78" fmla="*/ 140 w 232"/>
              <a:gd name="T79" fmla="*/ 14 h 269"/>
              <a:gd name="T80" fmla="*/ 140 w 232"/>
              <a:gd name="T81" fmla="*/ 14 h 269"/>
              <a:gd name="T82" fmla="*/ 147 w 232"/>
              <a:gd name="T83" fmla="*/ 32 h 269"/>
              <a:gd name="T84" fmla="*/ 143 w 232"/>
              <a:gd name="T85" fmla="*/ 45 h 269"/>
              <a:gd name="T86" fmla="*/ 136 w 232"/>
              <a:gd name="T87" fmla="*/ 31 h 269"/>
              <a:gd name="T88" fmla="*/ 140 w 232"/>
              <a:gd name="T89" fmla="*/ 14 h 269"/>
              <a:gd name="T90" fmla="*/ 84 w 232"/>
              <a:gd name="T91" fmla="*/ 15 h 269"/>
              <a:gd name="T92" fmla="*/ 84 w 232"/>
              <a:gd name="T93" fmla="*/ 15 h 269"/>
              <a:gd name="T94" fmla="*/ 85 w 232"/>
              <a:gd name="T95" fmla="*/ 16 h 269"/>
              <a:gd name="T96" fmla="*/ 89 w 232"/>
              <a:gd name="T97" fmla="*/ 31 h 269"/>
              <a:gd name="T98" fmla="*/ 85 w 232"/>
              <a:gd name="T99" fmla="*/ 47 h 269"/>
              <a:gd name="T100" fmla="*/ 79 w 232"/>
              <a:gd name="T101" fmla="*/ 31 h 269"/>
              <a:gd name="T102" fmla="*/ 84 w 232"/>
              <a:gd name="T103" fmla="*/ 15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2" h="269">
                <a:moveTo>
                  <a:pt x="13" y="38"/>
                </a:moveTo>
                <a:cubicBezTo>
                  <a:pt x="11" y="35"/>
                  <a:pt x="6" y="35"/>
                  <a:pt x="4" y="37"/>
                </a:cubicBezTo>
                <a:cubicBezTo>
                  <a:pt x="1" y="39"/>
                  <a:pt x="0" y="44"/>
                  <a:pt x="3" y="46"/>
                </a:cubicBezTo>
                <a:cubicBezTo>
                  <a:pt x="4" y="48"/>
                  <a:pt x="5" y="49"/>
                  <a:pt x="6" y="51"/>
                </a:cubicBezTo>
                <a:cubicBezTo>
                  <a:pt x="77" y="265"/>
                  <a:pt x="77" y="265"/>
                  <a:pt x="77" y="265"/>
                </a:cubicBezTo>
                <a:cubicBezTo>
                  <a:pt x="77" y="267"/>
                  <a:pt x="80" y="269"/>
                  <a:pt x="83" y="269"/>
                </a:cubicBezTo>
                <a:cubicBezTo>
                  <a:pt x="83" y="269"/>
                  <a:pt x="84" y="269"/>
                  <a:pt x="85" y="269"/>
                </a:cubicBezTo>
                <a:cubicBezTo>
                  <a:pt x="88" y="268"/>
                  <a:pt x="90" y="264"/>
                  <a:pt x="89" y="260"/>
                </a:cubicBezTo>
                <a:cubicBezTo>
                  <a:pt x="24" y="63"/>
                  <a:pt x="24" y="63"/>
                  <a:pt x="24" y="63"/>
                </a:cubicBezTo>
                <a:cubicBezTo>
                  <a:pt x="40" y="70"/>
                  <a:pt x="60" y="74"/>
                  <a:pt x="76" y="69"/>
                </a:cubicBezTo>
                <a:cubicBezTo>
                  <a:pt x="79" y="68"/>
                  <a:pt x="82" y="66"/>
                  <a:pt x="85" y="64"/>
                </a:cubicBezTo>
                <a:cubicBezTo>
                  <a:pt x="93" y="70"/>
                  <a:pt x="103" y="73"/>
                  <a:pt x="113" y="73"/>
                </a:cubicBezTo>
                <a:cubicBezTo>
                  <a:pt x="125" y="73"/>
                  <a:pt x="136" y="69"/>
                  <a:pt x="145" y="62"/>
                </a:cubicBezTo>
                <a:cubicBezTo>
                  <a:pt x="150" y="64"/>
                  <a:pt x="155" y="67"/>
                  <a:pt x="161" y="68"/>
                </a:cubicBezTo>
                <a:cubicBezTo>
                  <a:pt x="180" y="73"/>
                  <a:pt x="196" y="72"/>
                  <a:pt x="210" y="65"/>
                </a:cubicBezTo>
                <a:cubicBezTo>
                  <a:pt x="146" y="260"/>
                  <a:pt x="146" y="260"/>
                  <a:pt x="146" y="260"/>
                </a:cubicBezTo>
                <a:cubicBezTo>
                  <a:pt x="144" y="264"/>
                  <a:pt x="146" y="268"/>
                  <a:pt x="150" y="269"/>
                </a:cubicBezTo>
                <a:cubicBezTo>
                  <a:pt x="150" y="269"/>
                  <a:pt x="151" y="269"/>
                  <a:pt x="152" y="269"/>
                </a:cubicBezTo>
                <a:cubicBezTo>
                  <a:pt x="155" y="269"/>
                  <a:pt x="157" y="267"/>
                  <a:pt x="158" y="265"/>
                </a:cubicBezTo>
                <a:cubicBezTo>
                  <a:pt x="228" y="50"/>
                  <a:pt x="228" y="50"/>
                  <a:pt x="228" y="50"/>
                </a:cubicBezTo>
                <a:cubicBezTo>
                  <a:pt x="229" y="50"/>
                  <a:pt x="230" y="49"/>
                  <a:pt x="230" y="48"/>
                </a:cubicBezTo>
                <a:cubicBezTo>
                  <a:pt x="232" y="45"/>
                  <a:pt x="232" y="41"/>
                  <a:pt x="229" y="39"/>
                </a:cubicBezTo>
                <a:cubicBezTo>
                  <a:pt x="226" y="37"/>
                  <a:pt x="222" y="37"/>
                  <a:pt x="220" y="40"/>
                </a:cubicBezTo>
                <a:cubicBezTo>
                  <a:pt x="207" y="56"/>
                  <a:pt x="189" y="62"/>
                  <a:pt x="165" y="55"/>
                </a:cubicBezTo>
                <a:cubicBezTo>
                  <a:pt x="162" y="55"/>
                  <a:pt x="158" y="54"/>
                  <a:pt x="154" y="52"/>
                </a:cubicBezTo>
                <a:cubicBezTo>
                  <a:pt x="158" y="46"/>
                  <a:pt x="160" y="38"/>
                  <a:pt x="160" y="31"/>
                </a:cubicBezTo>
                <a:cubicBezTo>
                  <a:pt x="159" y="17"/>
                  <a:pt x="154" y="7"/>
                  <a:pt x="146" y="3"/>
                </a:cubicBezTo>
                <a:cubicBezTo>
                  <a:pt x="142" y="0"/>
                  <a:pt x="137" y="0"/>
                  <a:pt x="132" y="3"/>
                </a:cubicBezTo>
                <a:cubicBezTo>
                  <a:pt x="125" y="8"/>
                  <a:pt x="122" y="18"/>
                  <a:pt x="123" y="32"/>
                </a:cubicBezTo>
                <a:cubicBezTo>
                  <a:pt x="124" y="40"/>
                  <a:pt x="127" y="48"/>
                  <a:pt x="134" y="54"/>
                </a:cubicBezTo>
                <a:cubicBezTo>
                  <a:pt x="123" y="61"/>
                  <a:pt x="107" y="61"/>
                  <a:pt x="95" y="55"/>
                </a:cubicBezTo>
                <a:cubicBezTo>
                  <a:pt x="99" y="49"/>
                  <a:pt x="102" y="41"/>
                  <a:pt x="103" y="32"/>
                </a:cubicBezTo>
                <a:cubicBezTo>
                  <a:pt x="103" y="19"/>
                  <a:pt x="99" y="9"/>
                  <a:pt x="92" y="4"/>
                </a:cubicBezTo>
                <a:cubicBezTo>
                  <a:pt x="87" y="1"/>
                  <a:pt x="82" y="1"/>
                  <a:pt x="77" y="4"/>
                </a:cubicBezTo>
                <a:cubicBezTo>
                  <a:pt x="70" y="8"/>
                  <a:pt x="65" y="18"/>
                  <a:pt x="66" y="32"/>
                </a:cubicBezTo>
                <a:cubicBezTo>
                  <a:pt x="66" y="40"/>
                  <a:pt x="69" y="48"/>
                  <a:pt x="75" y="55"/>
                </a:cubicBezTo>
                <a:cubicBezTo>
                  <a:pt x="74" y="56"/>
                  <a:pt x="73" y="56"/>
                  <a:pt x="72" y="56"/>
                </a:cubicBezTo>
                <a:cubicBezTo>
                  <a:pt x="52" y="63"/>
                  <a:pt x="23" y="52"/>
                  <a:pt x="13" y="38"/>
                </a:cubicBezTo>
                <a:close/>
                <a:moveTo>
                  <a:pt x="140" y="14"/>
                </a:moveTo>
                <a:cubicBezTo>
                  <a:pt x="140" y="14"/>
                  <a:pt x="140" y="14"/>
                  <a:pt x="140" y="14"/>
                </a:cubicBezTo>
                <a:cubicBezTo>
                  <a:pt x="140" y="14"/>
                  <a:pt x="140" y="14"/>
                  <a:pt x="140" y="14"/>
                </a:cubicBezTo>
                <a:cubicBezTo>
                  <a:pt x="142" y="15"/>
                  <a:pt x="146" y="20"/>
                  <a:pt x="147" y="32"/>
                </a:cubicBezTo>
                <a:cubicBezTo>
                  <a:pt x="147" y="36"/>
                  <a:pt x="145" y="41"/>
                  <a:pt x="143" y="45"/>
                </a:cubicBezTo>
                <a:cubicBezTo>
                  <a:pt x="139" y="41"/>
                  <a:pt x="137" y="37"/>
                  <a:pt x="136" y="31"/>
                </a:cubicBezTo>
                <a:cubicBezTo>
                  <a:pt x="135" y="21"/>
                  <a:pt x="138" y="15"/>
                  <a:pt x="140" y="14"/>
                </a:cubicBezTo>
                <a:close/>
                <a:moveTo>
                  <a:pt x="84" y="15"/>
                </a:moveTo>
                <a:cubicBezTo>
                  <a:pt x="84" y="15"/>
                  <a:pt x="84" y="15"/>
                  <a:pt x="84" y="15"/>
                </a:cubicBezTo>
                <a:cubicBezTo>
                  <a:pt x="84" y="15"/>
                  <a:pt x="85" y="15"/>
                  <a:pt x="85" y="16"/>
                </a:cubicBezTo>
                <a:cubicBezTo>
                  <a:pt x="87" y="17"/>
                  <a:pt x="90" y="21"/>
                  <a:pt x="89" y="31"/>
                </a:cubicBezTo>
                <a:cubicBezTo>
                  <a:pt x="89" y="37"/>
                  <a:pt x="88" y="43"/>
                  <a:pt x="85" y="47"/>
                </a:cubicBezTo>
                <a:cubicBezTo>
                  <a:pt x="81" y="42"/>
                  <a:pt x="79" y="37"/>
                  <a:pt x="79" y="31"/>
                </a:cubicBezTo>
                <a:cubicBezTo>
                  <a:pt x="79" y="21"/>
                  <a:pt x="82" y="16"/>
                  <a:pt x="84" y="15"/>
                </a:cubicBezTo>
                <a:close/>
              </a:path>
            </a:pathLst>
          </a:custGeom>
          <a:solidFill>
            <a:srgbClr val="53565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00" b="0" i="0" u="none" strike="noStrike" kern="0" cap="none" spc="0" normalizeH="0" baseline="0" noProof="0">
              <a:ln>
                <a:noFill/>
              </a:ln>
              <a:solidFill>
                <a:srgbClr val="000000"/>
              </a:solidFill>
              <a:effectLst/>
              <a:uLnTx/>
              <a:uFillTx/>
              <a:latin typeface="Arial"/>
              <a:ea typeface="微软雅黑"/>
              <a:cs typeface="+mn-cs"/>
            </a:endParaRPr>
          </a:p>
        </p:txBody>
      </p:sp>
      <p:sp>
        <p:nvSpPr>
          <p:cNvPr id="112" name="矩形 22">
            <a:extLst>
              <a:ext uri="{FF2B5EF4-FFF2-40B4-BE49-F238E27FC236}">
                <a16:creationId xmlns:a16="http://schemas.microsoft.com/office/drawing/2014/main" id="{E4C4FDBF-6573-4390-8D94-49F1DC960F82}"/>
              </a:ext>
            </a:extLst>
          </p:cNvPr>
          <p:cNvSpPr/>
          <p:nvPr/>
        </p:nvSpPr>
        <p:spPr>
          <a:xfrm>
            <a:off x="5622885" y="1755636"/>
            <a:ext cx="689612" cy="263118"/>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altLang="zh-CN" sz="1300" b="1" i="0" u="none" strike="noStrike" kern="0" cap="none" spc="0" normalizeH="0" baseline="0" noProof="0" dirty="0">
                <a:ln>
                  <a:noFill/>
                </a:ln>
                <a:solidFill>
                  <a:srgbClr val="86BC25"/>
                </a:solidFill>
                <a:effectLst/>
                <a:uLnTx/>
                <a:uFillTx/>
                <a:latin typeface="Verdana"/>
                <a:ea typeface="Verdana" panose="020B0604030504040204" pitchFamily="34" charset="0"/>
                <a:cs typeface="Verdana" panose="020B0604030504040204" pitchFamily="34" charset="0"/>
              </a:rPr>
              <a:t>RDSS</a:t>
            </a:r>
            <a:endParaRPr kumimoji="0" lang="zh-CN" altLang="en-US" sz="1300" b="1" i="0" u="none" strike="noStrike" kern="0" cap="none" spc="0" normalizeH="0" baseline="0" noProof="0" dirty="0">
              <a:ln>
                <a:noFill/>
              </a:ln>
              <a:solidFill>
                <a:srgbClr val="86BC25"/>
              </a:solidFill>
              <a:effectLst/>
              <a:uLnTx/>
              <a:uFillTx/>
              <a:latin typeface="Verdana"/>
              <a:ea typeface="微软雅黑"/>
              <a:cs typeface="Verdana" panose="020B0604030504040204" pitchFamily="34" charset="0"/>
            </a:endParaRPr>
          </a:p>
        </p:txBody>
      </p:sp>
      <p:grpSp>
        <p:nvGrpSpPr>
          <p:cNvPr id="113" name="组合 127">
            <a:extLst>
              <a:ext uri="{FF2B5EF4-FFF2-40B4-BE49-F238E27FC236}">
                <a16:creationId xmlns:a16="http://schemas.microsoft.com/office/drawing/2014/main" id="{F938415E-B3E2-4DB7-A5EB-F8E3861D24B6}"/>
              </a:ext>
            </a:extLst>
          </p:cNvPr>
          <p:cNvGrpSpPr/>
          <p:nvPr/>
        </p:nvGrpSpPr>
        <p:grpSpPr>
          <a:xfrm rot="10800000">
            <a:off x="7119503" y="2306841"/>
            <a:ext cx="175832" cy="138048"/>
            <a:chOff x="4659459" y="2145375"/>
            <a:chExt cx="222916" cy="194483"/>
          </a:xfrm>
          <a:solidFill>
            <a:srgbClr val="53565A"/>
          </a:solidFill>
        </p:grpSpPr>
        <p:sp>
          <p:nvSpPr>
            <p:cNvPr id="114" name="燕尾形 124">
              <a:extLst>
                <a:ext uri="{FF2B5EF4-FFF2-40B4-BE49-F238E27FC236}">
                  <a16:creationId xmlns:a16="http://schemas.microsoft.com/office/drawing/2014/main" id="{A6B3E3D2-DA6F-4D61-A8A3-0B2B368C9D06}"/>
                </a:ext>
              </a:extLst>
            </p:cNvPr>
            <p:cNvSpPr/>
            <p:nvPr/>
          </p:nvSpPr>
          <p:spPr bwMode="gray">
            <a:xfrm rot="163449" flipH="1">
              <a:off x="4659459" y="2151480"/>
              <a:ext cx="105716" cy="188378"/>
            </a:xfrm>
            <a:prstGeom prst="chevron">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dirty="0">
                <a:ln>
                  <a:noFill/>
                </a:ln>
                <a:solidFill>
                  <a:srgbClr val="FFFFFF"/>
                </a:solidFill>
                <a:effectLst/>
                <a:uLnTx/>
                <a:uFillTx/>
                <a:latin typeface="Verdana"/>
                <a:ea typeface="+mn-ea"/>
                <a:cs typeface="+mn-cs"/>
              </a:endParaRPr>
            </a:p>
          </p:txBody>
        </p:sp>
        <p:sp>
          <p:nvSpPr>
            <p:cNvPr id="115" name="燕尾形 126">
              <a:extLst>
                <a:ext uri="{FF2B5EF4-FFF2-40B4-BE49-F238E27FC236}">
                  <a16:creationId xmlns:a16="http://schemas.microsoft.com/office/drawing/2014/main" id="{693A2D30-B26D-42C0-9D10-F489DF09072C}"/>
                </a:ext>
              </a:extLst>
            </p:cNvPr>
            <p:cNvSpPr/>
            <p:nvPr/>
          </p:nvSpPr>
          <p:spPr bwMode="gray">
            <a:xfrm flipH="1">
              <a:off x="4776659" y="2145375"/>
              <a:ext cx="105716" cy="188378"/>
            </a:xfrm>
            <a:prstGeom prst="chevron">
              <a:avLst/>
            </a:prstGeom>
            <a:solidFill>
              <a:srgbClr val="75787B"/>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dirty="0">
                <a:ln>
                  <a:noFill/>
                </a:ln>
                <a:solidFill>
                  <a:srgbClr val="FFFFFF"/>
                </a:solidFill>
                <a:effectLst/>
                <a:uLnTx/>
                <a:uFillTx/>
                <a:latin typeface="Verdana"/>
                <a:ea typeface="+mn-ea"/>
                <a:cs typeface="+mn-cs"/>
              </a:endParaRPr>
            </a:p>
          </p:txBody>
        </p:sp>
      </p:grpSp>
      <p:grpSp>
        <p:nvGrpSpPr>
          <p:cNvPr id="139" name="组合 127">
            <a:extLst>
              <a:ext uri="{FF2B5EF4-FFF2-40B4-BE49-F238E27FC236}">
                <a16:creationId xmlns:a16="http://schemas.microsoft.com/office/drawing/2014/main" id="{A44B128F-5877-4045-BFA7-1ED04FC04F8C}"/>
              </a:ext>
            </a:extLst>
          </p:cNvPr>
          <p:cNvGrpSpPr/>
          <p:nvPr/>
        </p:nvGrpSpPr>
        <p:grpSpPr>
          <a:xfrm rot="167729">
            <a:off x="4565235" y="2272307"/>
            <a:ext cx="175832" cy="138049"/>
            <a:chOff x="4659459" y="2145375"/>
            <a:chExt cx="222916" cy="194484"/>
          </a:xfrm>
          <a:solidFill>
            <a:srgbClr val="53565A"/>
          </a:solidFill>
        </p:grpSpPr>
        <p:sp>
          <p:nvSpPr>
            <p:cNvPr id="140" name="燕尾形 124">
              <a:extLst>
                <a:ext uri="{FF2B5EF4-FFF2-40B4-BE49-F238E27FC236}">
                  <a16:creationId xmlns:a16="http://schemas.microsoft.com/office/drawing/2014/main" id="{C5642E75-CF66-4F3F-B424-73211EA8708E}"/>
                </a:ext>
              </a:extLst>
            </p:cNvPr>
            <p:cNvSpPr/>
            <p:nvPr/>
          </p:nvSpPr>
          <p:spPr bwMode="gray">
            <a:xfrm flipH="1">
              <a:off x="4659459" y="2151481"/>
              <a:ext cx="105716" cy="188378"/>
            </a:xfrm>
            <a:prstGeom prst="chevron">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dirty="0">
                <a:ln>
                  <a:noFill/>
                </a:ln>
                <a:solidFill>
                  <a:srgbClr val="FFFFFF"/>
                </a:solidFill>
                <a:effectLst/>
                <a:uLnTx/>
                <a:uFillTx/>
                <a:latin typeface="Verdana"/>
                <a:ea typeface="+mn-ea"/>
                <a:cs typeface="+mn-cs"/>
              </a:endParaRPr>
            </a:p>
          </p:txBody>
        </p:sp>
        <p:sp>
          <p:nvSpPr>
            <p:cNvPr id="141" name="燕尾形 126">
              <a:extLst>
                <a:ext uri="{FF2B5EF4-FFF2-40B4-BE49-F238E27FC236}">
                  <a16:creationId xmlns:a16="http://schemas.microsoft.com/office/drawing/2014/main" id="{A32E9D90-9AE2-4019-9C2A-4E9BA33456EE}"/>
                </a:ext>
              </a:extLst>
            </p:cNvPr>
            <p:cNvSpPr/>
            <p:nvPr/>
          </p:nvSpPr>
          <p:spPr bwMode="gray">
            <a:xfrm flipH="1">
              <a:off x="4776659" y="2145375"/>
              <a:ext cx="105716" cy="188378"/>
            </a:xfrm>
            <a:prstGeom prst="chevron">
              <a:avLst/>
            </a:prstGeom>
            <a:solidFill>
              <a:srgbClr val="75787B"/>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300" b="1" i="0" u="none" strike="noStrike" kern="1200" cap="none" spc="0" normalizeH="0" baseline="0" noProof="0" dirty="0">
                <a:ln>
                  <a:noFill/>
                </a:ln>
                <a:solidFill>
                  <a:srgbClr val="FFFFFF"/>
                </a:solidFill>
                <a:effectLst/>
                <a:uLnTx/>
                <a:uFillTx/>
                <a:latin typeface="Verdana"/>
                <a:ea typeface="+mn-ea"/>
                <a:cs typeface="+mn-cs"/>
              </a:endParaRPr>
            </a:p>
          </p:txBody>
        </p:sp>
      </p:grpSp>
      <p:sp>
        <p:nvSpPr>
          <p:cNvPr id="142" name="Freeform 1126">
            <a:extLst>
              <a:ext uri="{FF2B5EF4-FFF2-40B4-BE49-F238E27FC236}">
                <a16:creationId xmlns:a16="http://schemas.microsoft.com/office/drawing/2014/main" id="{4AF5B060-15A2-426B-A10A-8084B7331869}"/>
              </a:ext>
            </a:extLst>
          </p:cNvPr>
          <p:cNvSpPr>
            <a:spLocks/>
          </p:cNvSpPr>
          <p:nvPr/>
        </p:nvSpPr>
        <p:spPr bwMode="auto">
          <a:xfrm>
            <a:off x="420548" y="4810046"/>
            <a:ext cx="11084159" cy="1529109"/>
          </a:xfrm>
          <a:prstGeom prst="roundRect">
            <a:avLst>
              <a:gd name="adj" fmla="val 6979"/>
            </a:avLst>
          </a:prstGeom>
          <a:solidFill>
            <a:schemeClr val="bg1">
              <a:lumMod val="95000"/>
            </a:schemeClr>
          </a:solidFill>
          <a:ln/>
        </p:spPr>
        <p:style>
          <a:lnRef idx="1">
            <a:schemeClr val="accent1"/>
          </a:lnRef>
          <a:fillRef idx="2">
            <a:schemeClr val="accent1"/>
          </a:fillRef>
          <a:effectRef idx="1">
            <a:schemeClr val="accent1"/>
          </a:effectRef>
          <a:fontRef idx="minor">
            <a:schemeClr val="dk1"/>
          </a:fontRef>
        </p:style>
        <p:txBody>
          <a:bodyPr lIns="90000" rIns="54000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rPr>
              <a:t>BACKGROUND</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rPr>
              <a:t>The Scheme is earmarked to have a total outlay of INR 3,03,758 crore, with the government pledging a budgetary support of INR 97,631 crore</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rPr>
              <a:t>Existing power sector reforms schemes such as </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hlinkClick r:id="rId2">
                  <a:extLst>
                    <a:ext uri="{A12FA001-AC4F-418D-AE19-62706E023703}">
                      <ahyp:hlinkClr xmlns:ahyp="http://schemas.microsoft.com/office/drawing/2018/hyperlinkcolor" val="tx"/>
                    </a:ext>
                  </a:extLst>
                </a:hlinkClick>
              </a:rPr>
              <a:t>Integrated Power Development Scheme,</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mn-cs"/>
                <a:hlinkClick r:id="rId3">
                  <a:extLst>
                    <a:ext uri="{A12FA001-AC4F-418D-AE19-62706E023703}">
                      <ahyp:hlinkClr xmlns:ahyp="http://schemas.microsoft.com/office/drawing/2018/hyperlinkcolor" val="tx"/>
                    </a:ext>
                  </a:extLst>
                </a:hlinkClick>
              </a:rPr>
              <a:t>Deen</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hlinkClick r:id="rId3">
                  <a:extLst>
                    <a:ext uri="{A12FA001-AC4F-418D-AE19-62706E023703}">
                      <ahyp:hlinkClr xmlns:ahyp="http://schemas.microsoft.com/office/drawing/2018/hyperlinkcolor" val="tx"/>
                    </a:ext>
                  </a:extLst>
                </a:hlinkClick>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mn-cs"/>
                <a:hlinkClick r:id="rId3">
                  <a:extLst>
                    <a:ext uri="{A12FA001-AC4F-418D-AE19-62706E023703}">
                      <ahyp:hlinkClr xmlns:ahyp="http://schemas.microsoft.com/office/drawing/2018/hyperlinkcolor" val="tx"/>
                    </a:ext>
                  </a:extLst>
                </a:hlinkClick>
              </a:rPr>
              <a:t>Dayal</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hlinkClick r:id="rId3">
                  <a:extLst>
                    <a:ext uri="{A12FA001-AC4F-418D-AE19-62706E023703}">
                      <ahyp:hlinkClr xmlns:ahyp="http://schemas.microsoft.com/office/drawing/2018/hyperlinkcolor" val="tx"/>
                    </a:ext>
                  </a:extLst>
                </a:hlinkClick>
              </a:rPr>
              <a:t> Upadhyaya Gram Jyoti Yojana</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rPr>
              <a:t>, and </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hlinkClick r:id="rId4">
                  <a:extLst>
                    <a:ext uri="{A12FA001-AC4F-418D-AE19-62706E023703}">
                      <ahyp:hlinkClr xmlns:ahyp="http://schemas.microsoft.com/office/drawing/2018/hyperlinkcolor" val="tx"/>
                    </a:ext>
                  </a:extLst>
                </a:hlinkClick>
              </a:rPr>
              <a:t>Pradhan Mantri Sahaj Bijli Har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mn-cs"/>
                <a:hlinkClick r:id="rId4">
                  <a:extLst>
                    <a:ext uri="{A12FA001-AC4F-418D-AE19-62706E023703}">
                      <ahyp:hlinkClr xmlns:ahyp="http://schemas.microsoft.com/office/drawing/2018/hyperlinkcolor" val="tx"/>
                    </a:ext>
                  </a:extLst>
                </a:hlinkClick>
              </a:rPr>
              <a:t>Ghar</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hlinkClick r:id="rId4">
                  <a:extLst>
                    <a:ext uri="{A12FA001-AC4F-418D-AE19-62706E023703}">
                      <ahyp:hlinkClr xmlns:ahyp="http://schemas.microsoft.com/office/drawing/2018/hyperlinkcolor" val="tx"/>
                    </a:ext>
                  </a:extLst>
                </a:hlinkClick>
              </a:rPr>
              <a:t> Yojana</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rPr>
              <a:t> will be merged into this umbrella program.</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rPr>
              <a:t>Nodal agencies for implementation are </a:t>
            </a: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rPr>
              <a:t>Rural Electrification Corporation (REC) </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rPr>
              <a:t>and</a:t>
            </a: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rPr>
              <a:t> Power Finance Corporation (PFC).</a:t>
            </a:r>
          </a:p>
        </p:txBody>
      </p:sp>
    </p:spTree>
    <p:extLst>
      <p:ext uri="{BB962C8B-B14F-4D97-AF65-F5344CB8AC3E}">
        <p14:creationId xmlns:p14="http://schemas.microsoft.com/office/powerpoint/2010/main" val="405210776"/>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A5B3F1F8-9DD0-4546-B294-C24A1DD43738}"/>
              </a:ext>
            </a:extLst>
          </p:cNvPr>
          <p:cNvSpPr txBox="1">
            <a:spLocks/>
          </p:cNvSpPr>
          <p:nvPr/>
        </p:nvSpPr>
        <p:spPr>
          <a:xfrm>
            <a:off x="391395" y="309746"/>
            <a:ext cx="11409210" cy="453612"/>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18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b="1" i="0" u="none" strike="noStrike" kern="1200" cap="none" spc="0" normalizeH="0" baseline="0" noProof="0" dirty="0">
                <a:ln>
                  <a:noFill/>
                </a:ln>
                <a:solidFill>
                  <a:srgbClr val="000000"/>
                </a:solidFill>
                <a:effectLst/>
                <a:uLnTx/>
                <a:uFillTx/>
                <a:latin typeface="+mj-lt"/>
                <a:ea typeface="Verdana" panose="020B0604030504040204" pitchFamily="34" charset="0"/>
                <a:cs typeface="+mn-cs"/>
              </a:rPr>
              <a:t>Scope of RDSS - Action Plan Guidelines</a:t>
            </a:r>
          </a:p>
        </p:txBody>
      </p:sp>
      <p:sp>
        <p:nvSpPr>
          <p:cNvPr id="27" name="Freeform 1126">
            <a:extLst>
              <a:ext uri="{FF2B5EF4-FFF2-40B4-BE49-F238E27FC236}">
                <a16:creationId xmlns:a16="http://schemas.microsoft.com/office/drawing/2014/main" id="{2B457FFF-48A0-48EF-A486-79952A5D1D8A}"/>
              </a:ext>
            </a:extLst>
          </p:cNvPr>
          <p:cNvSpPr>
            <a:spLocks/>
          </p:cNvSpPr>
          <p:nvPr/>
        </p:nvSpPr>
        <p:spPr bwMode="auto">
          <a:xfrm>
            <a:off x="357348" y="985971"/>
            <a:ext cx="11084159" cy="2385000"/>
          </a:xfrm>
          <a:prstGeom prst="roundRect">
            <a:avLst>
              <a:gd name="adj" fmla="val 6979"/>
            </a:avLst>
          </a:prstGeom>
          <a:solidFill>
            <a:schemeClr val="bg1">
              <a:lumMod val="95000"/>
            </a:schemeClr>
          </a:solidFill>
          <a:ln/>
        </p:spPr>
        <p:style>
          <a:lnRef idx="1">
            <a:schemeClr val="accent1"/>
          </a:lnRef>
          <a:fillRef idx="2">
            <a:schemeClr val="accent1"/>
          </a:fillRef>
          <a:effectRef idx="1">
            <a:schemeClr val="accent1"/>
          </a:effectRef>
          <a:fontRef idx="minor">
            <a:schemeClr val="dk1"/>
          </a:fontRef>
        </p:style>
        <p:txBody>
          <a:bodyPr lIns="90000" rIns="540000"/>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400" b="1" dirty="0">
                <a:solidFill>
                  <a:srgbClr val="000000"/>
                </a:solidFill>
                <a:latin typeface="Verdana"/>
                <a:ea typeface="Verdana" panose="020B0604030504040204" pitchFamily="34" charset="0"/>
              </a:rPr>
              <a:t>Scope of the Scheme</a:t>
            </a:r>
            <a:endParaRPr kumimoji="0" lang="en-US" sz="1400" b="1"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endParaRP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rPr>
              <a:t>The scheme is divided into two parts – </a:t>
            </a:r>
          </a:p>
          <a:p>
            <a:pPr marL="628650" lvl="1" indent="-171450" algn="just">
              <a:spcAft>
                <a:spcPts val="600"/>
              </a:spcAft>
              <a:buFont typeface="Arial" panose="020B0604020202020204" pitchFamily="34" charset="0"/>
              <a:buChar char="•"/>
            </a:pPr>
            <a:r>
              <a:rPr lang="en-US" sz="1200" dirty="0">
                <a:solidFill>
                  <a:srgbClr val="000000"/>
                </a:solidFill>
                <a:latin typeface="Verdana"/>
                <a:ea typeface="Verdana" panose="020B0604030504040204" pitchFamily="34" charset="0"/>
              </a:rPr>
              <a:t>Part A: Metering and Distribution Infrastructure Works</a:t>
            </a:r>
          </a:p>
          <a:p>
            <a:pPr marL="628650" lvl="1" indent="-171450" algn="just">
              <a:spcAft>
                <a:spcPts val="600"/>
              </a:spcAft>
              <a:buFont typeface="Arial" panose="020B0604020202020204" pitchFamily="34" charset="0"/>
              <a:buChar cha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rPr>
              <a:t>Part B: Training, Capacity Building and </a:t>
            </a:r>
            <a:r>
              <a:rPr lang="en-US" sz="1200" dirty="0">
                <a:solidFill>
                  <a:srgbClr val="000000"/>
                </a:solidFill>
                <a:latin typeface="Verdana"/>
                <a:ea typeface="Verdana" panose="020B0604030504040204" pitchFamily="34" charset="0"/>
              </a:rPr>
              <a:t>Other Enabling &amp; Support Areas</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endParaRP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rPr>
              <a:t>All State owned DISCOMs and State/UT Power Departments (excluding private sector power utilities) eligible for financial assistance under the revamped scheme</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rPr>
              <a:t>Ongoing projects under IPDS, DDUGJY and PMDP-2015 (for the erstwhile State of J&amp;K) to be subsumed under the new scheme, no new projects to be sanctioned under IPDS and DDUGJY</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chemeClr val="tx1"/>
                </a:solidFill>
                <a:effectLst/>
                <a:uLnTx/>
                <a:uFillTx/>
                <a:latin typeface="Verdana"/>
                <a:ea typeface="Verdana" panose="020B0604030504040204" pitchFamily="34" charset="0"/>
                <a:cs typeface="+mn-cs"/>
              </a:rPr>
              <a:t>Already sanctioned projects under IPDS &amp; DDUGY will be eligible to receive funds up to 31</a:t>
            </a:r>
            <a:r>
              <a:rPr kumimoji="0" lang="en-US" sz="1200" b="0" i="0" u="none" strike="noStrike" kern="1200" cap="none" spc="0" normalizeH="0" baseline="30000" noProof="0" dirty="0">
                <a:ln>
                  <a:noFill/>
                </a:ln>
                <a:solidFill>
                  <a:schemeClr val="tx1"/>
                </a:solidFill>
                <a:effectLst/>
                <a:uLnTx/>
                <a:uFillTx/>
                <a:latin typeface="Verdana"/>
                <a:ea typeface="Verdana" panose="020B0604030504040204" pitchFamily="34" charset="0"/>
                <a:cs typeface="+mn-cs"/>
              </a:rPr>
              <a:t>st</a:t>
            </a:r>
            <a:r>
              <a:rPr kumimoji="0" lang="en-US" sz="1200" b="0" i="0" u="none" strike="noStrike" kern="1200" cap="none" spc="0" normalizeH="0" baseline="0" noProof="0" dirty="0">
                <a:ln>
                  <a:noFill/>
                </a:ln>
                <a:solidFill>
                  <a:schemeClr val="tx1"/>
                </a:solidFill>
                <a:effectLst/>
                <a:uLnTx/>
                <a:uFillTx/>
                <a:latin typeface="Verdana"/>
                <a:ea typeface="Verdana" panose="020B0604030504040204" pitchFamily="34" charset="0"/>
                <a:cs typeface="+mn-cs"/>
              </a:rPr>
              <a:t> March 2022 in this scheme</a:t>
            </a:r>
          </a:p>
        </p:txBody>
      </p:sp>
      <p:sp>
        <p:nvSpPr>
          <p:cNvPr id="29" name="Freeform 1126">
            <a:extLst>
              <a:ext uri="{FF2B5EF4-FFF2-40B4-BE49-F238E27FC236}">
                <a16:creationId xmlns:a16="http://schemas.microsoft.com/office/drawing/2014/main" id="{3C207204-5F97-4A47-BCC7-B3786021C095}"/>
              </a:ext>
            </a:extLst>
          </p:cNvPr>
          <p:cNvSpPr>
            <a:spLocks/>
          </p:cNvSpPr>
          <p:nvPr/>
        </p:nvSpPr>
        <p:spPr bwMode="auto">
          <a:xfrm>
            <a:off x="357348" y="3651859"/>
            <a:ext cx="11084159" cy="2385000"/>
          </a:xfrm>
          <a:prstGeom prst="roundRect">
            <a:avLst>
              <a:gd name="adj" fmla="val 6979"/>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lIns="90000" rIns="54000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rPr>
              <a:t>Guideline on Action Areas</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rPr>
              <a:t>Application by DISCOMs to receive funds are to be approved based on submission of Action Plan and DPR</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rPr>
              <a:t>Action plans are structured under three areas – </a:t>
            </a:r>
          </a:p>
          <a:p>
            <a:pPr marL="628650" lvl="1" indent="-171450" algn="just">
              <a:spcAft>
                <a:spcPts val="600"/>
              </a:spcAft>
              <a:buFont typeface="Arial" panose="020B0604020202020204" pitchFamily="34" charset="0"/>
              <a:buChar cha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rPr>
              <a:t>Part </a:t>
            </a:r>
            <a:r>
              <a:rPr lang="en-US" sz="1200" dirty="0">
                <a:solidFill>
                  <a:srgbClr val="000000"/>
                </a:solidFill>
                <a:latin typeface="Verdana"/>
                <a:ea typeface="Verdana" panose="020B0604030504040204" pitchFamily="34" charset="0"/>
              </a:rPr>
              <a:t>I: Metering and Distribution Infrastructure Works</a:t>
            </a:r>
          </a:p>
          <a:p>
            <a:pPr marL="628650" lvl="1" indent="-171450" algn="just">
              <a:spcAft>
                <a:spcPts val="600"/>
              </a:spcAft>
              <a:buFont typeface="Arial" panose="020B0604020202020204" pitchFamily="34" charset="0"/>
              <a:buChar cha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rPr>
              <a:t>Part II: Reform Measures for Financial Viability</a:t>
            </a:r>
          </a:p>
          <a:p>
            <a:pPr marL="628650" lvl="1" indent="-171450" algn="just">
              <a:spcAft>
                <a:spcPts val="600"/>
              </a:spcAft>
              <a:buFont typeface="Arial" panose="020B0604020202020204" pitchFamily="34" charset="0"/>
              <a:buChar char="•"/>
            </a:pPr>
            <a:r>
              <a:rPr lang="en-US" sz="1200" dirty="0">
                <a:solidFill>
                  <a:srgbClr val="000000"/>
                </a:solidFill>
                <a:latin typeface="Verdana"/>
                <a:ea typeface="Verdana" panose="020B0604030504040204" pitchFamily="34" charset="0"/>
              </a:rPr>
              <a:t>Part III: Results, Outcome and Evaluation</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rPr>
              <a:t>DPR to be prepared for Part-I of scheme and is to be structured in three areas of a. Metering b. Infra works for loss reduction (50% share) and c. Infra works for network strengthening (50% share) </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rPr>
              <a:t>Action plan </a:t>
            </a:r>
            <a:r>
              <a:rPr lang="en-US" sz="1200" dirty="0">
                <a:solidFill>
                  <a:srgbClr val="000000"/>
                </a:solidFill>
                <a:latin typeface="Verdana"/>
                <a:ea typeface="Verdana" panose="020B0604030504040204" pitchFamily="34" charset="0"/>
              </a:rPr>
              <a:t>formulation in consultation with nodal agency, plan approval by DRC and State Cabinet before submission to </a:t>
            </a:r>
            <a:r>
              <a:rPr lang="en-US" sz="1200" dirty="0" err="1">
                <a:solidFill>
                  <a:srgbClr val="000000"/>
                </a:solidFill>
                <a:latin typeface="Verdana"/>
                <a:ea typeface="Verdana" panose="020B0604030504040204" pitchFamily="34" charset="0"/>
              </a:rPr>
              <a:t>MoP</a:t>
            </a:r>
            <a:r>
              <a:rPr lang="en-US" sz="1200" dirty="0">
                <a:solidFill>
                  <a:srgbClr val="000000"/>
                </a:solidFill>
                <a:latin typeface="Verdana"/>
                <a:ea typeface="Verdana" panose="020B0604030504040204" pitchFamily="34" charset="0"/>
              </a:rPr>
              <a:t> </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endParaRPr>
          </a:p>
          <a:p>
            <a:pPr marL="628650" lvl="1" indent="-171450" algn="just">
              <a:spcAft>
                <a:spcPts val="600"/>
              </a:spcAft>
              <a:buFont typeface="Arial" panose="020B0604020202020204" pitchFamily="34" charset="0"/>
              <a:buChar char="•"/>
            </a:pP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mn-cs"/>
            </a:endParaRPr>
          </a:p>
        </p:txBody>
      </p:sp>
    </p:spTree>
    <p:extLst>
      <p:ext uri="{BB962C8B-B14F-4D97-AF65-F5344CB8AC3E}">
        <p14:creationId xmlns:p14="http://schemas.microsoft.com/office/powerpoint/2010/main" val="2505039841"/>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A5B3F1F8-9DD0-4546-B294-C24A1DD43738}"/>
              </a:ext>
            </a:extLst>
          </p:cNvPr>
          <p:cNvSpPr txBox="1">
            <a:spLocks/>
          </p:cNvSpPr>
          <p:nvPr/>
        </p:nvSpPr>
        <p:spPr>
          <a:xfrm>
            <a:off x="417780" y="349954"/>
            <a:ext cx="11409210" cy="453612"/>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18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b="1" i="0" u="none" strike="noStrike" kern="1200" cap="none" spc="0" normalizeH="0" baseline="0" noProof="0" dirty="0">
                <a:ln>
                  <a:noFill/>
                </a:ln>
                <a:solidFill>
                  <a:srgbClr val="000000"/>
                </a:solidFill>
                <a:effectLst/>
                <a:uLnTx/>
                <a:uFillTx/>
                <a:latin typeface="+mj-lt"/>
                <a:ea typeface="Verdana" panose="020B0604030504040204" pitchFamily="34" charset="0"/>
                <a:cs typeface="+mn-cs"/>
              </a:rPr>
              <a:t>Action Plan Brief under Parts I, II and III</a:t>
            </a:r>
          </a:p>
        </p:txBody>
      </p:sp>
      <p:grpSp>
        <p:nvGrpSpPr>
          <p:cNvPr id="2" name="Group 1">
            <a:extLst>
              <a:ext uri="{FF2B5EF4-FFF2-40B4-BE49-F238E27FC236}">
                <a16:creationId xmlns:a16="http://schemas.microsoft.com/office/drawing/2014/main" id="{71EA3D62-E092-45A2-9F56-626F9FD2A978}"/>
              </a:ext>
            </a:extLst>
          </p:cNvPr>
          <p:cNvGrpSpPr/>
          <p:nvPr/>
        </p:nvGrpSpPr>
        <p:grpSpPr>
          <a:xfrm>
            <a:off x="499196" y="1054322"/>
            <a:ext cx="11249948" cy="5280490"/>
            <a:chOff x="499196" y="1054322"/>
            <a:chExt cx="11249948" cy="5558266"/>
          </a:xfrm>
        </p:grpSpPr>
        <p:sp>
          <p:nvSpPr>
            <p:cNvPr id="29" name="Rounded Rectangle 84">
              <a:extLst>
                <a:ext uri="{FF2B5EF4-FFF2-40B4-BE49-F238E27FC236}">
                  <a16:creationId xmlns:a16="http://schemas.microsoft.com/office/drawing/2014/main" id="{99C87D47-DEBC-446D-8FC4-0F1909B62715}"/>
                </a:ext>
              </a:extLst>
            </p:cNvPr>
            <p:cNvSpPr/>
            <p:nvPr/>
          </p:nvSpPr>
          <p:spPr bwMode="gray">
            <a:xfrm>
              <a:off x="8899347" y="1065208"/>
              <a:ext cx="1705059" cy="2593576"/>
            </a:xfrm>
            <a:prstGeom prst="roundRect">
              <a:avLst>
                <a:gd name="adj" fmla="val 50000"/>
              </a:avLst>
            </a:prstGeom>
            <a:noFill/>
            <a:ln w="57150" algn="ctr">
              <a:solidFill>
                <a:schemeClr val="accent2"/>
              </a:solidFill>
              <a:miter lim="800000"/>
              <a:headEnd/>
              <a:tailEnd/>
            </a:ln>
          </p:spPr>
          <p:txBody>
            <a:bodyPr wrap="square" lIns="66675" tIns="66675" rIns="66675" bIns="66675"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dirty="0">
                <a:ln>
                  <a:noFill/>
                </a:ln>
                <a:solidFill>
                  <a:srgbClr val="FFFFFF"/>
                </a:solidFill>
                <a:effectLst/>
                <a:uLnTx/>
                <a:uFillTx/>
                <a:latin typeface="Verdana"/>
                <a:ea typeface="+mn-ea"/>
                <a:cs typeface="+mn-cs"/>
              </a:endParaRPr>
            </a:p>
          </p:txBody>
        </p:sp>
        <p:sp>
          <p:nvSpPr>
            <p:cNvPr id="30" name="Rounded Rectangle 110">
              <a:extLst>
                <a:ext uri="{FF2B5EF4-FFF2-40B4-BE49-F238E27FC236}">
                  <a16:creationId xmlns:a16="http://schemas.microsoft.com/office/drawing/2014/main" id="{3C98A7BB-5E89-4962-99B3-DFC5F1AC7963}"/>
                </a:ext>
              </a:extLst>
            </p:cNvPr>
            <p:cNvSpPr/>
            <p:nvPr/>
          </p:nvSpPr>
          <p:spPr bwMode="gray">
            <a:xfrm>
              <a:off x="1462073" y="1109609"/>
              <a:ext cx="1705059" cy="2593576"/>
            </a:xfrm>
            <a:prstGeom prst="roundRect">
              <a:avLst>
                <a:gd name="adj" fmla="val 50000"/>
              </a:avLst>
            </a:prstGeom>
            <a:noFill/>
            <a:ln w="57150" algn="ctr">
              <a:solidFill>
                <a:schemeClr val="accent1"/>
              </a:solidFill>
              <a:miter lim="800000"/>
              <a:headEnd/>
              <a:tailEnd/>
            </a:ln>
          </p:spPr>
          <p:txBody>
            <a:bodyPr wrap="square" lIns="66675" tIns="66675" rIns="66675" bIns="66675"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dirty="0">
                <a:ln>
                  <a:noFill/>
                </a:ln>
                <a:solidFill>
                  <a:srgbClr val="FFFFFF"/>
                </a:solidFill>
                <a:effectLst/>
                <a:uLnTx/>
                <a:uFillTx/>
                <a:latin typeface="Verdana"/>
                <a:ea typeface="+mn-ea"/>
                <a:cs typeface="+mn-cs"/>
              </a:endParaRPr>
            </a:p>
          </p:txBody>
        </p:sp>
        <p:sp>
          <p:nvSpPr>
            <p:cNvPr id="31" name="Rounded Rectangle 112">
              <a:extLst>
                <a:ext uri="{FF2B5EF4-FFF2-40B4-BE49-F238E27FC236}">
                  <a16:creationId xmlns:a16="http://schemas.microsoft.com/office/drawing/2014/main" id="{17BE52FC-1074-4575-A81C-4A99BAD4324F}"/>
                </a:ext>
              </a:extLst>
            </p:cNvPr>
            <p:cNvSpPr/>
            <p:nvPr/>
          </p:nvSpPr>
          <p:spPr bwMode="gray">
            <a:xfrm>
              <a:off x="5337895" y="1054322"/>
              <a:ext cx="1705059" cy="2593576"/>
            </a:xfrm>
            <a:prstGeom prst="roundRect">
              <a:avLst>
                <a:gd name="adj" fmla="val 50000"/>
              </a:avLst>
            </a:prstGeom>
            <a:noFill/>
            <a:ln w="57150" algn="ctr">
              <a:solidFill>
                <a:schemeClr val="accent3"/>
              </a:solidFill>
              <a:miter lim="800000"/>
              <a:headEnd/>
              <a:tailEnd/>
            </a:ln>
          </p:spPr>
          <p:txBody>
            <a:bodyPr wrap="square" lIns="66675" tIns="66675" rIns="66675" bIns="66675"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dirty="0">
                <a:ln>
                  <a:noFill/>
                </a:ln>
                <a:solidFill>
                  <a:srgbClr val="FFFFFF"/>
                </a:solidFill>
                <a:effectLst/>
                <a:uLnTx/>
                <a:uFillTx/>
                <a:latin typeface="Verdana"/>
                <a:ea typeface="+mn-ea"/>
                <a:cs typeface="+mn-cs"/>
              </a:endParaRPr>
            </a:p>
          </p:txBody>
        </p:sp>
        <p:sp>
          <p:nvSpPr>
            <p:cNvPr id="33" name="TextBox 32">
              <a:extLst>
                <a:ext uri="{FF2B5EF4-FFF2-40B4-BE49-F238E27FC236}">
                  <a16:creationId xmlns:a16="http://schemas.microsoft.com/office/drawing/2014/main" id="{9662CA8F-9155-4C5C-B266-1FDC16EBDFD1}"/>
                </a:ext>
              </a:extLst>
            </p:cNvPr>
            <p:cNvSpPr txBox="1"/>
            <p:nvPr/>
          </p:nvSpPr>
          <p:spPr>
            <a:xfrm>
              <a:off x="4266963" y="3023765"/>
              <a:ext cx="3522279" cy="3578659"/>
            </a:xfrm>
            <a:prstGeom prst="rect">
              <a:avLst/>
            </a:prstGeom>
            <a:solidFill>
              <a:schemeClr val="bg1">
                <a:lumMod val="95000"/>
              </a:schemeClr>
            </a:solidFill>
          </p:spPr>
          <p:txBody>
            <a:bodyPr wrap="square" lIns="68580" tIns="68580" rIns="68580" bIns="68580" rtlCol="0">
              <a:noAutofit/>
            </a:bodyPr>
            <a:lstStyle>
              <a:defPPr>
                <a:defRPr lang="en-US"/>
              </a:defPPr>
              <a:lvl1pPr>
                <a:buSzPct val="100000"/>
                <a:defRPr sz="1200">
                  <a:solidFill>
                    <a:srgbClr val="313131"/>
                  </a:solidFill>
                </a:defRPr>
              </a:lvl1pPr>
            </a:lstStyle>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Root cause analysis of reasons for losses, ACS-ARR gap and other challenges, targeted reform measures, expected results and timelines</a:t>
              </a:r>
            </a:p>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Road map for bringing down AT&amp;C losses and reducing ACS-ARR gap to zero by 2024-25 </a:t>
              </a:r>
            </a:p>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Plan to also include the financial support needed from state govt. (subsidy, govt. dues etc.)</a:t>
              </a:r>
            </a:p>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Clear mapping of problems and solutions</a:t>
              </a:r>
            </a:p>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Activities and reform based on operational and financial data (accounts)</a:t>
              </a:r>
            </a:p>
            <a:p>
              <a:pPr marL="0" marR="0" lvl="0" indent="0" algn="l" defTabSz="914400" rtl="0" eaLnBrk="1" fontAlgn="auto" latinLnBrk="0" hangingPunct="1">
                <a:lnSpc>
                  <a:spcPct val="100000"/>
                </a:lnSpc>
                <a:spcBef>
                  <a:spcPts val="0"/>
                </a:spcBef>
                <a:spcAft>
                  <a:spcPts val="0"/>
                </a:spcAft>
                <a:buClrTx/>
                <a:buSzPct val="100000"/>
                <a:buFontTx/>
                <a:buNone/>
                <a:tabLst/>
                <a:defRPr/>
              </a:pPr>
              <a:endParaRPr kumimoji="0" lang="en-US" sz="1200" b="0" i="0" u="none" strike="noStrike" kern="1200" cap="none" spc="0" normalizeH="0" baseline="0" noProof="0" dirty="0">
                <a:ln>
                  <a:noFill/>
                </a:ln>
                <a:solidFill>
                  <a:srgbClr val="313131"/>
                </a:solidFill>
                <a:effectLst/>
                <a:uLnTx/>
                <a:uFillTx/>
                <a:latin typeface="Verdana"/>
                <a:ea typeface="+mn-ea"/>
                <a:cs typeface="+mn-cs"/>
              </a:endParaRPr>
            </a:p>
          </p:txBody>
        </p:sp>
        <p:sp>
          <p:nvSpPr>
            <p:cNvPr id="34" name="TextBox 33">
              <a:extLst>
                <a:ext uri="{FF2B5EF4-FFF2-40B4-BE49-F238E27FC236}">
                  <a16:creationId xmlns:a16="http://schemas.microsoft.com/office/drawing/2014/main" id="{51C7AB51-8F74-431F-B759-13AB9F31205B}"/>
                </a:ext>
              </a:extLst>
            </p:cNvPr>
            <p:cNvSpPr txBox="1"/>
            <p:nvPr/>
          </p:nvSpPr>
          <p:spPr>
            <a:xfrm>
              <a:off x="8013339" y="3023758"/>
              <a:ext cx="3647799" cy="3588830"/>
            </a:xfrm>
            <a:prstGeom prst="rect">
              <a:avLst/>
            </a:prstGeom>
            <a:solidFill>
              <a:schemeClr val="bg1">
                <a:lumMod val="95000"/>
              </a:schemeClr>
            </a:solidFill>
          </p:spPr>
          <p:txBody>
            <a:bodyPr wrap="square" lIns="68580" tIns="68580" rIns="68580" bIns="68580" rtlCol="0">
              <a:noAutofit/>
            </a:bodyPr>
            <a:lstStyle>
              <a:defPPr>
                <a:defRPr lang="en-US"/>
              </a:defPPr>
              <a:lvl1pPr>
                <a:buSzPct val="100000"/>
                <a:defRPr sz="1200">
                  <a:solidFill>
                    <a:srgbClr val="313131"/>
                  </a:solidFill>
                </a:defRPr>
              </a:lvl1pPr>
            </a:lstStyle>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Action plan to include baseline data and annual targets (based on Part I and II plan) across following outcomes :</a:t>
              </a:r>
            </a:p>
            <a:p>
              <a:pPr marL="342900" marR="0" lvl="0" indent="-166688" algn="l" defTabSz="914400" rtl="0" eaLnBrk="1" fontAlgn="auto" latinLnBrk="0" hangingPunct="1">
                <a:lnSpc>
                  <a:spcPct val="100000"/>
                </a:lnSpc>
                <a:spcBef>
                  <a:spcPts val="0"/>
                </a:spcBef>
                <a:spcAft>
                  <a:spcPts val="60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  Financial Stability (AT&amp;C, ACS-ARR, regulatory assets etc.)</a:t>
              </a:r>
            </a:p>
            <a:p>
              <a:pPr marL="342900" marR="0" lvl="0" indent="-166688" algn="l" defTabSz="914400" rtl="0" eaLnBrk="1" fontAlgn="auto" latinLnBrk="0" hangingPunct="1">
                <a:lnSpc>
                  <a:spcPct val="100000"/>
                </a:lnSpc>
                <a:spcBef>
                  <a:spcPts val="0"/>
                </a:spcBef>
                <a:spcAft>
                  <a:spcPts val="60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  Supply Reliability (hours of supply, SAIFI, DT failure etc.)</a:t>
              </a:r>
            </a:p>
            <a:p>
              <a:pPr marL="342900" marR="0" lvl="0" indent="-166688" algn="l" defTabSz="914400" rtl="0" eaLnBrk="1" fontAlgn="auto" latinLnBrk="0" hangingPunct="1">
                <a:lnSpc>
                  <a:spcPct val="100000"/>
                </a:lnSpc>
                <a:spcBef>
                  <a:spcPts val="0"/>
                </a:spcBef>
                <a:spcAft>
                  <a:spcPts val="60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  Infra. works progress (%metering, feeder segregation, AB cabling etc.)</a:t>
              </a:r>
            </a:p>
            <a:p>
              <a:pPr marL="342900" marR="0" lvl="0" indent="-166688" algn="l" defTabSz="914400" rtl="0" eaLnBrk="1" fontAlgn="auto" latinLnBrk="0" hangingPunct="1">
                <a:lnSpc>
                  <a:spcPct val="100000"/>
                </a:lnSpc>
                <a:spcBef>
                  <a:spcPts val="0"/>
                </a:spcBef>
                <a:spcAft>
                  <a:spcPts val="60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  Structural reforms progress( training, DBT, energy audit, tariffs etc.)</a:t>
              </a:r>
            </a:p>
            <a:p>
              <a:pPr marL="342900" marR="0" lvl="0" indent="-166688" algn="l" defTabSz="914400" rtl="0" eaLnBrk="1" fontAlgn="auto" latinLnBrk="0" hangingPunct="1">
                <a:lnSpc>
                  <a:spcPct val="100000"/>
                </a:lnSpc>
                <a:spcBef>
                  <a:spcPts val="0"/>
                </a:spcBef>
                <a:spcAft>
                  <a:spcPts val="60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  Base year –FY2019-20 </a:t>
              </a:r>
            </a:p>
            <a:p>
              <a:pPr marL="342900" marR="0" lvl="0" indent="-166688" algn="l" defTabSz="914400" rtl="0" eaLnBrk="1" fontAlgn="auto" latinLnBrk="0" hangingPunct="1">
                <a:lnSpc>
                  <a:spcPct val="100000"/>
                </a:lnSpc>
                <a:spcBef>
                  <a:spcPts val="0"/>
                </a:spcBef>
                <a:spcAft>
                  <a:spcPts val="60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  Targets/ parameters to be proposed for     FY2021-22 to FY2025-26</a:t>
              </a:r>
            </a:p>
            <a:p>
              <a:pPr marL="342900" marR="0" lvl="0" indent="-166688" algn="l" defTabSz="914400" rtl="0" eaLnBrk="1" fontAlgn="auto" latinLnBrk="0" hangingPunct="1">
                <a:lnSpc>
                  <a:spcPct val="100000"/>
                </a:lnSpc>
                <a:spcBef>
                  <a:spcPts val="0"/>
                </a:spcBef>
                <a:spcAft>
                  <a:spcPts val="60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  Plan to form basis for Result Evaluation Framework</a:t>
              </a:r>
            </a:p>
            <a:p>
              <a:pPr marL="0" marR="0" lvl="0" indent="0" algn="l" defTabSz="914400" rtl="0" eaLnBrk="1" fontAlgn="auto" latinLnBrk="0" hangingPunct="1">
                <a:lnSpc>
                  <a:spcPct val="100000"/>
                </a:lnSpc>
                <a:spcBef>
                  <a:spcPts val="0"/>
                </a:spcBef>
                <a:spcAft>
                  <a:spcPts val="0"/>
                </a:spcAft>
                <a:buClrTx/>
                <a:buSzPct val="100000"/>
                <a:buFontTx/>
                <a:buNone/>
                <a:tabLst/>
                <a:defRPr/>
              </a:pPr>
              <a:endParaRPr kumimoji="0" lang="en-US" sz="1200" b="0" i="0" u="none" strike="noStrike" kern="1200" cap="none" spc="0" normalizeH="0" baseline="0" noProof="0" dirty="0">
                <a:ln>
                  <a:noFill/>
                </a:ln>
                <a:solidFill>
                  <a:srgbClr val="313131"/>
                </a:solidFill>
                <a:effectLst/>
                <a:uLnTx/>
                <a:uFillTx/>
                <a:latin typeface="Verdana"/>
                <a:ea typeface="+mn-ea"/>
                <a:cs typeface="+mn-cs"/>
              </a:endParaRPr>
            </a:p>
          </p:txBody>
        </p:sp>
        <p:sp>
          <p:nvSpPr>
            <p:cNvPr id="35" name="Text Box 10">
              <a:extLst>
                <a:ext uri="{FF2B5EF4-FFF2-40B4-BE49-F238E27FC236}">
                  <a16:creationId xmlns:a16="http://schemas.microsoft.com/office/drawing/2014/main" id="{B4B859C3-2079-47C4-A5E9-A621B256B7A1}"/>
                </a:ext>
              </a:extLst>
            </p:cNvPr>
            <p:cNvSpPr txBox="1">
              <a:spLocks noChangeArrowheads="1"/>
            </p:cNvSpPr>
            <p:nvPr/>
          </p:nvSpPr>
          <p:spPr bwMode="auto">
            <a:xfrm>
              <a:off x="499196" y="2307566"/>
              <a:ext cx="3777125" cy="686696"/>
            </a:xfrm>
            <a:prstGeom prst="homePlate">
              <a:avLst>
                <a:gd name="adj" fmla="val 16907"/>
              </a:avLst>
            </a:prstGeom>
            <a:solidFill>
              <a:schemeClr val="accent1"/>
            </a:solidFill>
            <a:ln w="12700" algn="ctr">
              <a:noFill/>
              <a:miter lim="800000"/>
              <a:headEnd/>
              <a:tailEnd type="none" w="sm" len="med"/>
            </a:ln>
          </p:spPr>
          <p:txBody>
            <a:bodyPr lIns="34290" tIns="34290" rIns="34290" bIns="34290" anchor="ctr" anchorCtr="0"/>
            <a:lstStyle/>
            <a:p>
              <a:pPr marL="0" marR="0" lvl="0" indent="0" algn="ctr" defTabSz="717947"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prstClr val="white"/>
                  </a:solidFill>
                  <a:effectLst/>
                  <a:uLnTx/>
                  <a:uFillTx/>
                  <a:latin typeface="Verdana"/>
                  <a:ea typeface="+mn-ea"/>
                  <a:cs typeface="Arial" pitchFamily="34" charset="0"/>
                </a:rPr>
                <a:t>Action Plan Part 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white"/>
                  </a:solidFill>
                  <a:effectLst/>
                  <a:uLnTx/>
                  <a:uFillTx/>
                  <a:latin typeface="Verdana"/>
                  <a:ea typeface="+mn-ea"/>
                  <a:cs typeface="Arial" pitchFamily="34" charset="0"/>
                </a:rPr>
                <a:t>Loss reduction and network strengthening through metering and other works</a:t>
              </a:r>
            </a:p>
          </p:txBody>
        </p:sp>
        <p:sp>
          <p:nvSpPr>
            <p:cNvPr id="36" name="Text Box 10">
              <a:extLst>
                <a:ext uri="{FF2B5EF4-FFF2-40B4-BE49-F238E27FC236}">
                  <a16:creationId xmlns:a16="http://schemas.microsoft.com/office/drawing/2014/main" id="{53D3DB4C-98D8-4B52-BD32-D46DAFD17FDD}"/>
                </a:ext>
              </a:extLst>
            </p:cNvPr>
            <p:cNvSpPr txBox="1">
              <a:spLocks noChangeArrowheads="1"/>
            </p:cNvSpPr>
            <p:nvPr/>
          </p:nvSpPr>
          <p:spPr bwMode="auto">
            <a:xfrm>
              <a:off x="4231431" y="2307566"/>
              <a:ext cx="3781908" cy="686696"/>
            </a:xfrm>
            <a:prstGeom prst="chevron">
              <a:avLst>
                <a:gd name="adj" fmla="val 12770"/>
              </a:avLst>
            </a:prstGeom>
            <a:solidFill>
              <a:schemeClr val="accent3"/>
            </a:solidFill>
            <a:ln w="12700" algn="ctr">
              <a:noFill/>
              <a:miter lim="800000"/>
              <a:headEnd/>
              <a:tailEnd type="none" w="sm" len="med"/>
            </a:ln>
          </p:spPr>
          <p:txBody>
            <a:bodyPr lIns="34290" tIns="34290" rIns="34290" bIns="3429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prstClr val="white"/>
                  </a:solidFill>
                  <a:effectLst/>
                  <a:uLnTx/>
                  <a:uFillTx/>
                  <a:latin typeface="Verdana"/>
                  <a:ea typeface="+mn-ea"/>
                  <a:cs typeface="Arial" pitchFamily="34" charset="0"/>
                </a:rPr>
                <a:t>Action Plan Part II</a:t>
              </a: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white"/>
                  </a:solidFill>
                  <a:effectLst/>
                  <a:uLnTx/>
                  <a:uFillTx/>
                  <a:latin typeface="Verdana"/>
                  <a:ea typeface="+mn-ea"/>
                  <a:cs typeface="Arial" pitchFamily="34" charset="0"/>
                </a:rPr>
                <a:t>Reforms for reduction of losses and ACS-ARR gap and improving Discom viability</a:t>
              </a:r>
              <a:endParaRPr kumimoji="0" lang="en-US" sz="1300" b="1" i="1" u="none" strike="noStrike" kern="1200" cap="none" spc="0" normalizeH="0" baseline="0" noProof="0" dirty="0">
                <a:ln>
                  <a:noFill/>
                </a:ln>
                <a:solidFill>
                  <a:prstClr val="white"/>
                </a:solidFill>
                <a:effectLst/>
                <a:uLnTx/>
                <a:uFillTx/>
                <a:latin typeface="Verdana"/>
                <a:ea typeface="+mn-ea"/>
                <a:cs typeface="Arial" pitchFamily="34" charset="0"/>
              </a:endParaRPr>
            </a:p>
          </p:txBody>
        </p:sp>
        <p:sp>
          <p:nvSpPr>
            <p:cNvPr id="37" name="Text Box 10">
              <a:extLst>
                <a:ext uri="{FF2B5EF4-FFF2-40B4-BE49-F238E27FC236}">
                  <a16:creationId xmlns:a16="http://schemas.microsoft.com/office/drawing/2014/main" id="{5330602D-8897-4387-B896-F86DF057AADF}"/>
                </a:ext>
              </a:extLst>
            </p:cNvPr>
            <p:cNvSpPr txBox="1">
              <a:spLocks noChangeArrowheads="1"/>
            </p:cNvSpPr>
            <p:nvPr/>
          </p:nvSpPr>
          <p:spPr bwMode="auto">
            <a:xfrm>
              <a:off x="7967236" y="2307566"/>
              <a:ext cx="3781908" cy="686696"/>
            </a:xfrm>
            <a:prstGeom prst="chevron">
              <a:avLst>
                <a:gd name="adj" fmla="val 12770"/>
              </a:avLst>
            </a:prstGeom>
            <a:solidFill>
              <a:schemeClr val="accent2"/>
            </a:solidFill>
            <a:ln w="12700" algn="ctr">
              <a:noFill/>
              <a:miter lim="800000"/>
              <a:headEnd/>
              <a:tailEnd type="none" w="sm" len="med"/>
            </a:ln>
          </p:spPr>
          <p:txBody>
            <a:bodyPr lIns="34290" tIns="34290" rIns="34290" bIns="34290" anchor="ctr" anchorCtr="0"/>
            <a:lstStyle>
              <a:defPPr>
                <a:defRPr lang="en-US"/>
              </a:defPPr>
              <a:lvl1pPr algn="ctr" defTabSz="957263">
                <a:defRPr sz="1200" b="1">
                  <a:solidFill>
                    <a:prstClr val="white"/>
                  </a:solidFill>
                  <a:cs typeface="Arial" pitchFamily="34" charset="0"/>
                </a:defRPr>
              </a:lvl1pPr>
            </a:lstStyle>
            <a:p>
              <a:pPr marL="0" marR="0" lvl="0" indent="0" algn="ctr" defTabSz="717947"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prstClr val="white"/>
                  </a:solidFill>
                  <a:effectLst/>
                  <a:uLnTx/>
                  <a:uFillTx/>
                  <a:latin typeface="Verdana"/>
                  <a:ea typeface="+mn-ea"/>
                  <a:cs typeface="Arial" pitchFamily="34" charset="0"/>
                </a:rPr>
                <a:t>Action Plan Part III</a:t>
              </a:r>
              <a:endParaRPr kumimoji="0" lang="en-US" sz="1200" b="0" i="0" u="none" strike="noStrike" kern="1200" cap="none" spc="0" normalizeH="0" baseline="0" noProof="0" dirty="0">
                <a:ln>
                  <a:noFill/>
                </a:ln>
                <a:solidFill>
                  <a:prstClr val="white"/>
                </a:solidFill>
                <a:effectLst/>
                <a:uLnTx/>
                <a:uFillTx/>
                <a:latin typeface="Verdana"/>
                <a:ea typeface="+mn-ea"/>
                <a:cs typeface="Arial" pitchFamily="34" charset="0"/>
              </a:endParaRPr>
            </a:p>
            <a:p>
              <a:pPr marL="0" marR="0" lvl="0" indent="0" algn="ctr" defTabSz="957263"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white"/>
                  </a:solidFill>
                  <a:effectLst/>
                  <a:uLnTx/>
                  <a:uFillTx/>
                  <a:latin typeface="Verdana"/>
                  <a:ea typeface="+mn-ea"/>
                  <a:cs typeface="Arial" pitchFamily="34" charset="0"/>
                </a:rPr>
                <a:t>Results, outcomes and evaluation</a:t>
              </a:r>
              <a:endParaRPr kumimoji="0" lang="en-US" sz="1300" b="1" i="0" u="none" strike="noStrike" kern="1200" cap="none" spc="0" normalizeH="0" baseline="0" noProof="0" dirty="0">
                <a:ln>
                  <a:noFill/>
                </a:ln>
                <a:solidFill>
                  <a:prstClr val="white"/>
                </a:solidFill>
                <a:effectLst/>
                <a:uLnTx/>
                <a:uFillTx/>
                <a:latin typeface="Verdana"/>
                <a:ea typeface="+mn-ea"/>
                <a:cs typeface="Arial" pitchFamily="34" charset="0"/>
              </a:endParaRPr>
            </a:p>
          </p:txBody>
        </p:sp>
        <p:grpSp>
          <p:nvGrpSpPr>
            <p:cNvPr id="38" name="Group 412">
              <a:extLst>
                <a:ext uri="{FF2B5EF4-FFF2-40B4-BE49-F238E27FC236}">
                  <a16:creationId xmlns:a16="http://schemas.microsoft.com/office/drawing/2014/main" id="{5A29FB61-E192-4812-8CB2-337826A28DD0}"/>
                </a:ext>
              </a:extLst>
            </p:cNvPr>
            <p:cNvGrpSpPr>
              <a:grpSpLocks noChangeAspect="1"/>
            </p:cNvGrpSpPr>
            <p:nvPr/>
          </p:nvGrpSpPr>
          <p:grpSpPr bwMode="auto">
            <a:xfrm>
              <a:off x="1949067" y="1417158"/>
              <a:ext cx="729414" cy="729414"/>
              <a:chOff x="2297" y="1592"/>
              <a:chExt cx="340" cy="340"/>
            </a:xfrm>
            <a:solidFill>
              <a:schemeClr val="accent1"/>
            </a:solidFill>
          </p:grpSpPr>
          <p:sp>
            <p:nvSpPr>
              <p:cNvPr id="39" name="Freeform 122">
                <a:extLst>
                  <a:ext uri="{FF2B5EF4-FFF2-40B4-BE49-F238E27FC236}">
                    <a16:creationId xmlns:a16="http://schemas.microsoft.com/office/drawing/2014/main" id="{327D8491-366B-4B0C-BAAC-22995C99089E}"/>
                  </a:ext>
                </a:extLst>
              </p:cNvPr>
              <p:cNvSpPr>
                <a:spLocks noEditPoints="1"/>
              </p:cNvSpPr>
              <p:nvPr/>
            </p:nvSpPr>
            <p:spPr bwMode="auto">
              <a:xfrm>
                <a:off x="2297" y="1592"/>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163 w 512"/>
                  <a:gd name="T11" fmla="*/ 269 h 512"/>
                  <a:gd name="T12" fmla="*/ 178 w 512"/>
                  <a:gd name="T13" fmla="*/ 269 h 512"/>
                  <a:gd name="T14" fmla="*/ 245 w 512"/>
                  <a:gd name="T15" fmla="*/ 337 h 512"/>
                  <a:gd name="T16" fmla="*/ 245 w 512"/>
                  <a:gd name="T17" fmla="*/ 106 h 512"/>
                  <a:gd name="T18" fmla="*/ 256 w 512"/>
                  <a:gd name="T19" fmla="*/ 96 h 512"/>
                  <a:gd name="T20" fmla="*/ 266 w 512"/>
                  <a:gd name="T21" fmla="*/ 106 h 512"/>
                  <a:gd name="T22" fmla="*/ 266 w 512"/>
                  <a:gd name="T23" fmla="*/ 337 h 512"/>
                  <a:gd name="T24" fmla="*/ 333 w 512"/>
                  <a:gd name="T25" fmla="*/ 269 h 512"/>
                  <a:gd name="T26" fmla="*/ 349 w 512"/>
                  <a:gd name="T27" fmla="*/ 269 h 512"/>
                  <a:gd name="T28" fmla="*/ 349 w 512"/>
                  <a:gd name="T29" fmla="*/ 285 h 512"/>
                  <a:gd name="T30" fmla="*/ 263 w 512"/>
                  <a:gd name="T31" fmla="*/ 370 h 512"/>
                  <a:gd name="T32" fmla="*/ 260 w 512"/>
                  <a:gd name="T33" fmla="*/ 372 h 512"/>
                  <a:gd name="T34" fmla="*/ 256 w 512"/>
                  <a:gd name="T35" fmla="*/ 373 h 512"/>
                  <a:gd name="T36" fmla="*/ 252 w 512"/>
                  <a:gd name="T37" fmla="*/ 372 h 512"/>
                  <a:gd name="T38" fmla="*/ 248 w 512"/>
                  <a:gd name="T39" fmla="*/ 370 h 512"/>
                  <a:gd name="T40" fmla="*/ 163 w 512"/>
                  <a:gd name="T41" fmla="*/ 285 h 512"/>
                  <a:gd name="T42" fmla="*/ 163 w 512"/>
                  <a:gd name="T43" fmla="*/ 269 h 512"/>
                  <a:gd name="T44" fmla="*/ 373 w 512"/>
                  <a:gd name="T45" fmla="*/ 405 h 512"/>
                  <a:gd name="T46" fmla="*/ 362 w 512"/>
                  <a:gd name="T47" fmla="*/ 416 h 512"/>
                  <a:gd name="T48" fmla="*/ 149 w 512"/>
                  <a:gd name="T49" fmla="*/ 416 h 512"/>
                  <a:gd name="T50" fmla="*/ 138 w 512"/>
                  <a:gd name="T51" fmla="*/ 405 h 512"/>
                  <a:gd name="T52" fmla="*/ 138 w 512"/>
                  <a:gd name="T53" fmla="*/ 362 h 512"/>
                  <a:gd name="T54" fmla="*/ 149 w 512"/>
                  <a:gd name="T55" fmla="*/ 352 h 512"/>
                  <a:gd name="T56" fmla="*/ 160 w 512"/>
                  <a:gd name="T57" fmla="*/ 362 h 512"/>
                  <a:gd name="T58" fmla="*/ 160 w 512"/>
                  <a:gd name="T59" fmla="*/ 394 h 512"/>
                  <a:gd name="T60" fmla="*/ 352 w 512"/>
                  <a:gd name="T61" fmla="*/ 394 h 512"/>
                  <a:gd name="T62" fmla="*/ 352 w 512"/>
                  <a:gd name="T63" fmla="*/ 362 h 512"/>
                  <a:gd name="T64" fmla="*/ 362 w 512"/>
                  <a:gd name="T65" fmla="*/ 352 h 512"/>
                  <a:gd name="T66" fmla="*/ 373 w 512"/>
                  <a:gd name="T67" fmla="*/ 362 h 512"/>
                  <a:gd name="T68" fmla="*/ 373 w 512"/>
                  <a:gd name="T69" fmla="*/ 40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63" y="269"/>
                    </a:moveTo>
                    <a:cubicBezTo>
                      <a:pt x="167" y="265"/>
                      <a:pt x="174" y="265"/>
                      <a:pt x="178" y="269"/>
                    </a:cubicBezTo>
                    <a:cubicBezTo>
                      <a:pt x="245" y="337"/>
                      <a:pt x="245" y="337"/>
                      <a:pt x="245" y="337"/>
                    </a:cubicBezTo>
                    <a:cubicBezTo>
                      <a:pt x="245" y="106"/>
                      <a:pt x="245" y="106"/>
                      <a:pt x="245" y="106"/>
                    </a:cubicBezTo>
                    <a:cubicBezTo>
                      <a:pt x="245" y="100"/>
                      <a:pt x="250" y="96"/>
                      <a:pt x="256" y="96"/>
                    </a:cubicBezTo>
                    <a:cubicBezTo>
                      <a:pt x="262" y="96"/>
                      <a:pt x="266" y="100"/>
                      <a:pt x="266" y="106"/>
                    </a:cubicBezTo>
                    <a:cubicBezTo>
                      <a:pt x="266" y="337"/>
                      <a:pt x="266" y="337"/>
                      <a:pt x="266" y="337"/>
                    </a:cubicBezTo>
                    <a:cubicBezTo>
                      <a:pt x="333" y="269"/>
                      <a:pt x="333" y="269"/>
                      <a:pt x="333" y="269"/>
                    </a:cubicBezTo>
                    <a:cubicBezTo>
                      <a:pt x="338" y="265"/>
                      <a:pt x="344" y="265"/>
                      <a:pt x="349" y="269"/>
                    </a:cubicBezTo>
                    <a:cubicBezTo>
                      <a:pt x="353" y="274"/>
                      <a:pt x="353" y="280"/>
                      <a:pt x="349" y="285"/>
                    </a:cubicBezTo>
                    <a:cubicBezTo>
                      <a:pt x="263" y="370"/>
                      <a:pt x="263" y="370"/>
                      <a:pt x="263" y="370"/>
                    </a:cubicBezTo>
                    <a:cubicBezTo>
                      <a:pt x="262" y="371"/>
                      <a:pt x="261" y="372"/>
                      <a:pt x="260" y="372"/>
                    </a:cubicBezTo>
                    <a:cubicBezTo>
                      <a:pt x="258" y="373"/>
                      <a:pt x="257" y="373"/>
                      <a:pt x="256" y="373"/>
                    </a:cubicBezTo>
                    <a:cubicBezTo>
                      <a:pt x="254" y="373"/>
                      <a:pt x="253" y="373"/>
                      <a:pt x="252" y="372"/>
                    </a:cubicBezTo>
                    <a:cubicBezTo>
                      <a:pt x="250" y="372"/>
                      <a:pt x="249" y="371"/>
                      <a:pt x="248" y="370"/>
                    </a:cubicBezTo>
                    <a:cubicBezTo>
                      <a:pt x="163" y="285"/>
                      <a:pt x="163" y="285"/>
                      <a:pt x="163" y="285"/>
                    </a:cubicBezTo>
                    <a:cubicBezTo>
                      <a:pt x="159" y="280"/>
                      <a:pt x="159" y="274"/>
                      <a:pt x="163" y="269"/>
                    </a:cubicBezTo>
                    <a:close/>
                    <a:moveTo>
                      <a:pt x="373" y="405"/>
                    </a:moveTo>
                    <a:cubicBezTo>
                      <a:pt x="373" y="411"/>
                      <a:pt x="368" y="416"/>
                      <a:pt x="362" y="416"/>
                    </a:cubicBezTo>
                    <a:cubicBezTo>
                      <a:pt x="149" y="416"/>
                      <a:pt x="149" y="416"/>
                      <a:pt x="149" y="416"/>
                    </a:cubicBezTo>
                    <a:cubicBezTo>
                      <a:pt x="143" y="416"/>
                      <a:pt x="138" y="411"/>
                      <a:pt x="138" y="405"/>
                    </a:cubicBezTo>
                    <a:cubicBezTo>
                      <a:pt x="138" y="362"/>
                      <a:pt x="138" y="362"/>
                      <a:pt x="138" y="362"/>
                    </a:cubicBezTo>
                    <a:cubicBezTo>
                      <a:pt x="138" y="356"/>
                      <a:pt x="143" y="352"/>
                      <a:pt x="149" y="352"/>
                    </a:cubicBezTo>
                    <a:cubicBezTo>
                      <a:pt x="155" y="352"/>
                      <a:pt x="160" y="356"/>
                      <a:pt x="160" y="362"/>
                    </a:cubicBezTo>
                    <a:cubicBezTo>
                      <a:pt x="160" y="394"/>
                      <a:pt x="160" y="394"/>
                      <a:pt x="160" y="394"/>
                    </a:cubicBezTo>
                    <a:cubicBezTo>
                      <a:pt x="352" y="394"/>
                      <a:pt x="352" y="394"/>
                      <a:pt x="352" y="394"/>
                    </a:cubicBezTo>
                    <a:cubicBezTo>
                      <a:pt x="352" y="362"/>
                      <a:pt x="352" y="362"/>
                      <a:pt x="352" y="362"/>
                    </a:cubicBezTo>
                    <a:cubicBezTo>
                      <a:pt x="352" y="356"/>
                      <a:pt x="356" y="352"/>
                      <a:pt x="362" y="352"/>
                    </a:cubicBezTo>
                    <a:cubicBezTo>
                      <a:pt x="368" y="352"/>
                      <a:pt x="373" y="356"/>
                      <a:pt x="373" y="362"/>
                    </a:cubicBezTo>
                    <a:lnTo>
                      <a:pt x="373" y="40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000000"/>
                  </a:solidFill>
                  <a:effectLst/>
                  <a:uLnTx/>
                  <a:uFillTx/>
                  <a:latin typeface="Verdana"/>
                  <a:ea typeface="+mn-ea"/>
                  <a:cs typeface="+mn-cs"/>
                </a:endParaRPr>
              </a:p>
            </p:txBody>
          </p:sp>
          <p:sp>
            <p:nvSpPr>
              <p:cNvPr id="40" name="Freeform 123">
                <a:extLst>
                  <a:ext uri="{FF2B5EF4-FFF2-40B4-BE49-F238E27FC236}">
                    <a16:creationId xmlns:a16="http://schemas.microsoft.com/office/drawing/2014/main" id="{BE591A45-C34E-42CB-B36C-90733E1892D8}"/>
                  </a:ext>
                </a:extLst>
              </p:cNvPr>
              <p:cNvSpPr>
                <a:spLocks noEditPoints="1"/>
              </p:cNvSpPr>
              <p:nvPr/>
            </p:nvSpPr>
            <p:spPr bwMode="auto">
              <a:xfrm>
                <a:off x="2297" y="1592"/>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163 w 512"/>
                  <a:gd name="T11" fmla="*/ 269 h 512"/>
                  <a:gd name="T12" fmla="*/ 178 w 512"/>
                  <a:gd name="T13" fmla="*/ 269 h 512"/>
                  <a:gd name="T14" fmla="*/ 245 w 512"/>
                  <a:gd name="T15" fmla="*/ 337 h 512"/>
                  <a:gd name="T16" fmla="*/ 245 w 512"/>
                  <a:gd name="T17" fmla="*/ 106 h 512"/>
                  <a:gd name="T18" fmla="*/ 256 w 512"/>
                  <a:gd name="T19" fmla="*/ 96 h 512"/>
                  <a:gd name="T20" fmla="*/ 266 w 512"/>
                  <a:gd name="T21" fmla="*/ 106 h 512"/>
                  <a:gd name="T22" fmla="*/ 266 w 512"/>
                  <a:gd name="T23" fmla="*/ 337 h 512"/>
                  <a:gd name="T24" fmla="*/ 333 w 512"/>
                  <a:gd name="T25" fmla="*/ 269 h 512"/>
                  <a:gd name="T26" fmla="*/ 349 w 512"/>
                  <a:gd name="T27" fmla="*/ 269 h 512"/>
                  <a:gd name="T28" fmla="*/ 349 w 512"/>
                  <a:gd name="T29" fmla="*/ 285 h 512"/>
                  <a:gd name="T30" fmla="*/ 263 w 512"/>
                  <a:gd name="T31" fmla="*/ 370 h 512"/>
                  <a:gd name="T32" fmla="*/ 260 w 512"/>
                  <a:gd name="T33" fmla="*/ 372 h 512"/>
                  <a:gd name="T34" fmla="*/ 256 w 512"/>
                  <a:gd name="T35" fmla="*/ 373 h 512"/>
                  <a:gd name="T36" fmla="*/ 252 w 512"/>
                  <a:gd name="T37" fmla="*/ 372 h 512"/>
                  <a:gd name="T38" fmla="*/ 248 w 512"/>
                  <a:gd name="T39" fmla="*/ 370 h 512"/>
                  <a:gd name="T40" fmla="*/ 163 w 512"/>
                  <a:gd name="T41" fmla="*/ 285 h 512"/>
                  <a:gd name="T42" fmla="*/ 163 w 512"/>
                  <a:gd name="T43" fmla="*/ 269 h 512"/>
                  <a:gd name="T44" fmla="*/ 373 w 512"/>
                  <a:gd name="T45" fmla="*/ 405 h 512"/>
                  <a:gd name="T46" fmla="*/ 362 w 512"/>
                  <a:gd name="T47" fmla="*/ 416 h 512"/>
                  <a:gd name="T48" fmla="*/ 149 w 512"/>
                  <a:gd name="T49" fmla="*/ 416 h 512"/>
                  <a:gd name="T50" fmla="*/ 138 w 512"/>
                  <a:gd name="T51" fmla="*/ 405 h 512"/>
                  <a:gd name="T52" fmla="*/ 138 w 512"/>
                  <a:gd name="T53" fmla="*/ 362 h 512"/>
                  <a:gd name="T54" fmla="*/ 149 w 512"/>
                  <a:gd name="T55" fmla="*/ 352 h 512"/>
                  <a:gd name="T56" fmla="*/ 160 w 512"/>
                  <a:gd name="T57" fmla="*/ 362 h 512"/>
                  <a:gd name="T58" fmla="*/ 160 w 512"/>
                  <a:gd name="T59" fmla="*/ 394 h 512"/>
                  <a:gd name="T60" fmla="*/ 352 w 512"/>
                  <a:gd name="T61" fmla="*/ 394 h 512"/>
                  <a:gd name="T62" fmla="*/ 352 w 512"/>
                  <a:gd name="T63" fmla="*/ 362 h 512"/>
                  <a:gd name="T64" fmla="*/ 362 w 512"/>
                  <a:gd name="T65" fmla="*/ 352 h 512"/>
                  <a:gd name="T66" fmla="*/ 373 w 512"/>
                  <a:gd name="T67" fmla="*/ 362 h 512"/>
                  <a:gd name="T68" fmla="*/ 373 w 512"/>
                  <a:gd name="T69" fmla="*/ 40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63" y="269"/>
                    </a:moveTo>
                    <a:cubicBezTo>
                      <a:pt x="167" y="265"/>
                      <a:pt x="174" y="265"/>
                      <a:pt x="178" y="269"/>
                    </a:cubicBezTo>
                    <a:cubicBezTo>
                      <a:pt x="245" y="337"/>
                      <a:pt x="245" y="337"/>
                      <a:pt x="245" y="337"/>
                    </a:cubicBezTo>
                    <a:cubicBezTo>
                      <a:pt x="245" y="106"/>
                      <a:pt x="245" y="106"/>
                      <a:pt x="245" y="106"/>
                    </a:cubicBezTo>
                    <a:cubicBezTo>
                      <a:pt x="245" y="100"/>
                      <a:pt x="250" y="96"/>
                      <a:pt x="256" y="96"/>
                    </a:cubicBezTo>
                    <a:cubicBezTo>
                      <a:pt x="262" y="96"/>
                      <a:pt x="266" y="100"/>
                      <a:pt x="266" y="106"/>
                    </a:cubicBezTo>
                    <a:cubicBezTo>
                      <a:pt x="266" y="337"/>
                      <a:pt x="266" y="337"/>
                      <a:pt x="266" y="337"/>
                    </a:cubicBezTo>
                    <a:cubicBezTo>
                      <a:pt x="333" y="269"/>
                      <a:pt x="333" y="269"/>
                      <a:pt x="333" y="269"/>
                    </a:cubicBezTo>
                    <a:cubicBezTo>
                      <a:pt x="338" y="265"/>
                      <a:pt x="344" y="265"/>
                      <a:pt x="349" y="269"/>
                    </a:cubicBezTo>
                    <a:cubicBezTo>
                      <a:pt x="353" y="274"/>
                      <a:pt x="353" y="280"/>
                      <a:pt x="349" y="285"/>
                    </a:cubicBezTo>
                    <a:cubicBezTo>
                      <a:pt x="263" y="370"/>
                      <a:pt x="263" y="370"/>
                      <a:pt x="263" y="370"/>
                    </a:cubicBezTo>
                    <a:cubicBezTo>
                      <a:pt x="262" y="371"/>
                      <a:pt x="261" y="372"/>
                      <a:pt x="260" y="372"/>
                    </a:cubicBezTo>
                    <a:cubicBezTo>
                      <a:pt x="258" y="373"/>
                      <a:pt x="257" y="373"/>
                      <a:pt x="256" y="373"/>
                    </a:cubicBezTo>
                    <a:cubicBezTo>
                      <a:pt x="254" y="373"/>
                      <a:pt x="253" y="373"/>
                      <a:pt x="252" y="372"/>
                    </a:cubicBezTo>
                    <a:cubicBezTo>
                      <a:pt x="250" y="372"/>
                      <a:pt x="249" y="371"/>
                      <a:pt x="248" y="370"/>
                    </a:cubicBezTo>
                    <a:cubicBezTo>
                      <a:pt x="163" y="285"/>
                      <a:pt x="163" y="285"/>
                      <a:pt x="163" y="285"/>
                    </a:cubicBezTo>
                    <a:cubicBezTo>
                      <a:pt x="159" y="280"/>
                      <a:pt x="159" y="274"/>
                      <a:pt x="163" y="269"/>
                    </a:cubicBezTo>
                    <a:close/>
                    <a:moveTo>
                      <a:pt x="373" y="405"/>
                    </a:moveTo>
                    <a:cubicBezTo>
                      <a:pt x="373" y="411"/>
                      <a:pt x="368" y="416"/>
                      <a:pt x="362" y="416"/>
                    </a:cubicBezTo>
                    <a:cubicBezTo>
                      <a:pt x="149" y="416"/>
                      <a:pt x="149" y="416"/>
                      <a:pt x="149" y="416"/>
                    </a:cubicBezTo>
                    <a:cubicBezTo>
                      <a:pt x="143" y="416"/>
                      <a:pt x="138" y="411"/>
                      <a:pt x="138" y="405"/>
                    </a:cubicBezTo>
                    <a:cubicBezTo>
                      <a:pt x="138" y="362"/>
                      <a:pt x="138" y="362"/>
                      <a:pt x="138" y="362"/>
                    </a:cubicBezTo>
                    <a:cubicBezTo>
                      <a:pt x="138" y="356"/>
                      <a:pt x="143" y="352"/>
                      <a:pt x="149" y="352"/>
                    </a:cubicBezTo>
                    <a:cubicBezTo>
                      <a:pt x="155" y="352"/>
                      <a:pt x="160" y="356"/>
                      <a:pt x="160" y="362"/>
                    </a:cubicBezTo>
                    <a:cubicBezTo>
                      <a:pt x="160" y="394"/>
                      <a:pt x="160" y="394"/>
                      <a:pt x="160" y="394"/>
                    </a:cubicBezTo>
                    <a:cubicBezTo>
                      <a:pt x="352" y="394"/>
                      <a:pt x="352" y="394"/>
                      <a:pt x="352" y="394"/>
                    </a:cubicBezTo>
                    <a:cubicBezTo>
                      <a:pt x="352" y="362"/>
                      <a:pt x="352" y="362"/>
                      <a:pt x="352" y="362"/>
                    </a:cubicBezTo>
                    <a:cubicBezTo>
                      <a:pt x="352" y="356"/>
                      <a:pt x="356" y="352"/>
                      <a:pt x="362" y="352"/>
                    </a:cubicBezTo>
                    <a:cubicBezTo>
                      <a:pt x="368" y="352"/>
                      <a:pt x="373" y="356"/>
                      <a:pt x="373" y="362"/>
                    </a:cubicBezTo>
                    <a:lnTo>
                      <a:pt x="373" y="40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000000"/>
                  </a:solidFill>
                  <a:effectLst/>
                  <a:uLnTx/>
                  <a:uFillTx/>
                  <a:latin typeface="Verdana"/>
                  <a:ea typeface="+mn-ea"/>
                  <a:cs typeface="+mn-cs"/>
                </a:endParaRPr>
              </a:p>
            </p:txBody>
          </p:sp>
        </p:grpSp>
        <p:sp>
          <p:nvSpPr>
            <p:cNvPr id="41" name="Freeform 627">
              <a:extLst>
                <a:ext uri="{FF2B5EF4-FFF2-40B4-BE49-F238E27FC236}">
                  <a16:creationId xmlns:a16="http://schemas.microsoft.com/office/drawing/2014/main" id="{F9F08A10-2EAA-4876-9907-C7F35F3C6031}"/>
                </a:ext>
              </a:extLst>
            </p:cNvPr>
            <p:cNvSpPr>
              <a:spLocks noChangeAspect="1" noEditPoints="1"/>
            </p:cNvSpPr>
            <p:nvPr/>
          </p:nvSpPr>
          <p:spPr bwMode="auto">
            <a:xfrm>
              <a:off x="5825715" y="1361871"/>
              <a:ext cx="729414" cy="729414"/>
            </a:xfrm>
            <a:custGeom>
              <a:avLst/>
              <a:gdLst>
                <a:gd name="T0" fmla="*/ 330 w 512"/>
                <a:gd name="T1" fmla="*/ 245 h 512"/>
                <a:gd name="T2" fmla="*/ 181 w 512"/>
                <a:gd name="T3" fmla="*/ 245 h 512"/>
                <a:gd name="T4" fmla="*/ 181 w 512"/>
                <a:gd name="T5" fmla="*/ 192 h 512"/>
                <a:gd name="T6" fmla="*/ 256 w 512"/>
                <a:gd name="T7" fmla="*/ 117 h 512"/>
                <a:gd name="T8" fmla="*/ 330 w 512"/>
                <a:gd name="T9" fmla="*/ 192 h 512"/>
                <a:gd name="T10" fmla="*/ 330 w 512"/>
                <a:gd name="T11" fmla="*/ 245 h 512"/>
                <a:gd name="T12" fmla="*/ 160 w 512"/>
                <a:gd name="T13" fmla="*/ 394 h 512"/>
                <a:gd name="T14" fmla="*/ 352 w 512"/>
                <a:gd name="T15" fmla="*/ 394 h 512"/>
                <a:gd name="T16" fmla="*/ 352 w 512"/>
                <a:gd name="T17" fmla="*/ 266 h 512"/>
                <a:gd name="T18" fmla="*/ 160 w 512"/>
                <a:gd name="T19" fmla="*/ 266 h 512"/>
                <a:gd name="T20" fmla="*/ 160 w 512"/>
                <a:gd name="T21" fmla="*/ 394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373 w 512"/>
                <a:gd name="T33" fmla="*/ 256 h 512"/>
                <a:gd name="T34" fmla="*/ 362 w 512"/>
                <a:gd name="T35" fmla="*/ 245 h 512"/>
                <a:gd name="T36" fmla="*/ 352 w 512"/>
                <a:gd name="T37" fmla="*/ 245 h 512"/>
                <a:gd name="T38" fmla="*/ 352 w 512"/>
                <a:gd name="T39" fmla="*/ 192 h 512"/>
                <a:gd name="T40" fmla="*/ 256 w 512"/>
                <a:gd name="T41" fmla="*/ 96 h 512"/>
                <a:gd name="T42" fmla="*/ 160 w 512"/>
                <a:gd name="T43" fmla="*/ 192 h 512"/>
                <a:gd name="T44" fmla="*/ 160 w 512"/>
                <a:gd name="T45" fmla="*/ 245 h 512"/>
                <a:gd name="T46" fmla="*/ 149 w 512"/>
                <a:gd name="T47" fmla="*/ 245 h 512"/>
                <a:gd name="T48" fmla="*/ 138 w 512"/>
                <a:gd name="T49" fmla="*/ 256 h 512"/>
                <a:gd name="T50" fmla="*/ 138 w 512"/>
                <a:gd name="T51" fmla="*/ 405 h 512"/>
                <a:gd name="T52" fmla="*/ 149 w 512"/>
                <a:gd name="T53" fmla="*/ 416 h 512"/>
                <a:gd name="T54" fmla="*/ 362 w 512"/>
                <a:gd name="T55" fmla="*/ 416 h 512"/>
                <a:gd name="T56" fmla="*/ 373 w 512"/>
                <a:gd name="T57" fmla="*/ 405 h 512"/>
                <a:gd name="T58" fmla="*/ 373 w 512"/>
                <a:gd name="T59" fmla="*/ 25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330" y="245"/>
                  </a:moveTo>
                  <a:cubicBezTo>
                    <a:pt x="181" y="245"/>
                    <a:pt x="181" y="245"/>
                    <a:pt x="181" y="245"/>
                  </a:cubicBezTo>
                  <a:cubicBezTo>
                    <a:pt x="181" y="192"/>
                    <a:pt x="181" y="192"/>
                    <a:pt x="181" y="192"/>
                  </a:cubicBezTo>
                  <a:cubicBezTo>
                    <a:pt x="181" y="150"/>
                    <a:pt x="214" y="117"/>
                    <a:pt x="256" y="117"/>
                  </a:cubicBezTo>
                  <a:cubicBezTo>
                    <a:pt x="297" y="117"/>
                    <a:pt x="330" y="150"/>
                    <a:pt x="330" y="192"/>
                  </a:cubicBezTo>
                  <a:lnTo>
                    <a:pt x="330" y="245"/>
                  </a:lnTo>
                  <a:close/>
                  <a:moveTo>
                    <a:pt x="160" y="394"/>
                  </a:moveTo>
                  <a:cubicBezTo>
                    <a:pt x="352" y="394"/>
                    <a:pt x="352" y="394"/>
                    <a:pt x="352" y="394"/>
                  </a:cubicBezTo>
                  <a:cubicBezTo>
                    <a:pt x="352" y="266"/>
                    <a:pt x="352" y="266"/>
                    <a:pt x="352" y="266"/>
                  </a:cubicBezTo>
                  <a:cubicBezTo>
                    <a:pt x="160" y="266"/>
                    <a:pt x="160" y="266"/>
                    <a:pt x="160" y="266"/>
                  </a:cubicBezTo>
                  <a:lnTo>
                    <a:pt x="160" y="394"/>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56"/>
                  </a:moveTo>
                  <a:cubicBezTo>
                    <a:pt x="373" y="250"/>
                    <a:pt x="368" y="245"/>
                    <a:pt x="362" y="245"/>
                  </a:cubicBezTo>
                  <a:cubicBezTo>
                    <a:pt x="352" y="245"/>
                    <a:pt x="352" y="245"/>
                    <a:pt x="352" y="245"/>
                  </a:cubicBezTo>
                  <a:cubicBezTo>
                    <a:pt x="352" y="192"/>
                    <a:pt x="352" y="192"/>
                    <a:pt x="352" y="192"/>
                  </a:cubicBezTo>
                  <a:cubicBezTo>
                    <a:pt x="352" y="139"/>
                    <a:pt x="309" y="96"/>
                    <a:pt x="256" y="96"/>
                  </a:cubicBezTo>
                  <a:cubicBezTo>
                    <a:pt x="203" y="96"/>
                    <a:pt x="160" y="139"/>
                    <a:pt x="160" y="192"/>
                  </a:cubicBezTo>
                  <a:cubicBezTo>
                    <a:pt x="160" y="245"/>
                    <a:pt x="160" y="245"/>
                    <a:pt x="160" y="245"/>
                  </a:cubicBezTo>
                  <a:cubicBezTo>
                    <a:pt x="149" y="245"/>
                    <a:pt x="149" y="245"/>
                    <a:pt x="149" y="245"/>
                  </a:cubicBezTo>
                  <a:cubicBezTo>
                    <a:pt x="143" y="245"/>
                    <a:pt x="138" y="250"/>
                    <a:pt x="138" y="256"/>
                  </a:cubicBezTo>
                  <a:cubicBezTo>
                    <a:pt x="138" y="405"/>
                    <a:pt x="138" y="405"/>
                    <a:pt x="138" y="405"/>
                  </a:cubicBezTo>
                  <a:cubicBezTo>
                    <a:pt x="138" y="411"/>
                    <a:pt x="143" y="416"/>
                    <a:pt x="149" y="416"/>
                  </a:cubicBezTo>
                  <a:cubicBezTo>
                    <a:pt x="362" y="416"/>
                    <a:pt x="362" y="416"/>
                    <a:pt x="362" y="416"/>
                  </a:cubicBezTo>
                  <a:cubicBezTo>
                    <a:pt x="368" y="416"/>
                    <a:pt x="373" y="411"/>
                    <a:pt x="373" y="405"/>
                  </a:cubicBezTo>
                  <a:lnTo>
                    <a:pt x="373" y="256"/>
                  </a:lnTo>
                  <a:close/>
                </a:path>
              </a:pathLst>
            </a:custGeom>
            <a:solidFill>
              <a:schemeClr val="accent3"/>
            </a:soli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000000"/>
                </a:solidFill>
                <a:effectLst/>
                <a:uLnTx/>
                <a:uFillTx/>
                <a:latin typeface="Verdana"/>
                <a:ea typeface="+mn-ea"/>
                <a:cs typeface="+mn-cs"/>
              </a:endParaRPr>
            </a:p>
          </p:txBody>
        </p:sp>
        <p:sp>
          <p:nvSpPr>
            <p:cNvPr id="42" name="Freeform 373">
              <a:extLst>
                <a:ext uri="{FF2B5EF4-FFF2-40B4-BE49-F238E27FC236}">
                  <a16:creationId xmlns:a16="http://schemas.microsoft.com/office/drawing/2014/main" id="{3D4C17CB-6F00-4464-B8A1-7206885355CE}"/>
                </a:ext>
              </a:extLst>
            </p:cNvPr>
            <p:cNvSpPr>
              <a:spLocks noChangeAspect="1" noEditPoints="1"/>
            </p:cNvSpPr>
            <p:nvPr/>
          </p:nvSpPr>
          <p:spPr bwMode="auto">
            <a:xfrm>
              <a:off x="9387167" y="1372757"/>
              <a:ext cx="729414" cy="72941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52 w 512"/>
                <a:gd name="T11" fmla="*/ 256 h 512"/>
                <a:gd name="T12" fmla="*/ 362 w 512"/>
                <a:gd name="T13" fmla="*/ 245 h 512"/>
                <a:gd name="T14" fmla="*/ 373 w 512"/>
                <a:gd name="T15" fmla="*/ 256 h 512"/>
                <a:gd name="T16" fmla="*/ 373 w 512"/>
                <a:gd name="T17" fmla="*/ 320 h 512"/>
                <a:gd name="T18" fmla="*/ 362 w 512"/>
                <a:gd name="T19" fmla="*/ 330 h 512"/>
                <a:gd name="T20" fmla="*/ 352 w 512"/>
                <a:gd name="T21" fmla="*/ 320 h 512"/>
                <a:gd name="T22" fmla="*/ 352 w 512"/>
                <a:gd name="T23" fmla="*/ 256 h 512"/>
                <a:gd name="T24" fmla="*/ 309 w 512"/>
                <a:gd name="T25" fmla="*/ 170 h 512"/>
                <a:gd name="T26" fmla="*/ 320 w 512"/>
                <a:gd name="T27" fmla="*/ 160 h 512"/>
                <a:gd name="T28" fmla="*/ 330 w 512"/>
                <a:gd name="T29" fmla="*/ 170 h 512"/>
                <a:gd name="T30" fmla="*/ 330 w 512"/>
                <a:gd name="T31" fmla="*/ 320 h 512"/>
                <a:gd name="T32" fmla="*/ 320 w 512"/>
                <a:gd name="T33" fmla="*/ 330 h 512"/>
                <a:gd name="T34" fmla="*/ 309 w 512"/>
                <a:gd name="T35" fmla="*/ 320 h 512"/>
                <a:gd name="T36" fmla="*/ 309 w 512"/>
                <a:gd name="T37" fmla="*/ 170 h 512"/>
                <a:gd name="T38" fmla="*/ 266 w 512"/>
                <a:gd name="T39" fmla="*/ 202 h 512"/>
                <a:gd name="T40" fmla="*/ 277 w 512"/>
                <a:gd name="T41" fmla="*/ 192 h 512"/>
                <a:gd name="T42" fmla="*/ 288 w 512"/>
                <a:gd name="T43" fmla="*/ 202 h 512"/>
                <a:gd name="T44" fmla="*/ 288 w 512"/>
                <a:gd name="T45" fmla="*/ 320 h 512"/>
                <a:gd name="T46" fmla="*/ 277 w 512"/>
                <a:gd name="T47" fmla="*/ 330 h 512"/>
                <a:gd name="T48" fmla="*/ 266 w 512"/>
                <a:gd name="T49" fmla="*/ 320 h 512"/>
                <a:gd name="T50" fmla="*/ 266 w 512"/>
                <a:gd name="T51" fmla="*/ 202 h 512"/>
                <a:gd name="T52" fmla="*/ 224 w 512"/>
                <a:gd name="T53" fmla="*/ 149 h 512"/>
                <a:gd name="T54" fmla="*/ 234 w 512"/>
                <a:gd name="T55" fmla="*/ 138 h 512"/>
                <a:gd name="T56" fmla="*/ 245 w 512"/>
                <a:gd name="T57" fmla="*/ 149 h 512"/>
                <a:gd name="T58" fmla="*/ 245 w 512"/>
                <a:gd name="T59" fmla="*/ 320 h 512"/>
                <a:gd name="T60" fmla="*/ 234 w 512"/>
                <a:gd name="T61" fmla="*/ 330 h 512"/>
                <a:gd name="T62" fmla="*/ 224 w 512"/>
                <a:gd name="T63" fmla="*/ 320 h 512"/>
                <a:gd name="T64" fmla="*/ 224 w 512"/>
                <a:gd name="T65" fmla="*/ 149 h 512"/>
                <a:gd name="T66" fmla="*/ 181 w 512"/>
                <a:gd name="T67" fmla="*/ 245 h 512"/>
                <a:gd name="T68" fmla="*/ 192 w 512"/>
                <a:gd name="T69" fmla="*/ 234 h 512"/>
                <a:gd name="T70" fmla="*/ 202 w 512"/>
                <a:gd name="T71" fmla="*/ 245 h 512"/>
                <a:gd name="T72" fmla="*/ 202 w 512"/>
                <a:gd name="T73" fmla="*/ 320 h 512"/>
                <a:gd name="T74" fmla="*/ 192 w 512"/>
                <a:gd name="T75" fmla="*/ 330 h 512"/>
                <a:gd name="T76" fmla="*/ 181 w 512"/>
                <a:gd name="T77" fmla="*/ 320 h 512"/>
                <a:gd name="T78" fmla="*/ 181 w 512"/>
                <a:gd name="T79" fmla="*/ 245 h 512"/>
                <a:gd name="T80" fmla="*/ 138 w 512"/>
                <a:gd name="T81" fmla="*/ 277 h 512"/>
                <a:gd name="T82" fmla="*/ 149 w 512"/>
                <a:gd name="T83" fmla="*/ 266 h 512"/>
                <a:gd name="T84" fmla="*/ 160 w 512"/>
                <a:gd name="T85" fmla="*/ 277 h 512"/>
                <a:gd name="T86" fmla="*/ 160 w 512"/>
                <a:gd name="T87" fmla="*/ 320 h 512"/>
                <a:gd name="T88" fmla="*/ 149 w 512"/>
                <a:gd name="T89" fmla="*/ 330 h 512"/>
                <a:gd name="T90" fmla="*/ 138 w 512"/>
                <a:gd name="T91" fmla="*/ 320 h 512"/>
                <a:gd name="T92" fmla="*/ 138 w 512"/>
                <a:gd name="T93" fmla="*/ 277 h 512"/>
                <a:gd name="T94" fmla="*/ 405 w 512"/>
                <a:gd name="T95" fmla="*/ 373 h 512"/>
                <a:gd name="T96" fmla="*/ 106 w 512"/>
                <a:gd name="T97" fmla="*/ 373 h 512"/>
                <a:gd name="T98" fmla="*/ 96 w 512"/>
                <a:gd name="T99" fmla="*/ 362 h 512"/>
                <a:gd name="T100" fmla="*/ 96 w 512"/>
                <a:gd name="T101" fmla="*/ 149 h 512"/>
                <a:gd name="T102" fmla="*/ 106 w 512"/>
                <a:gd name="T103" fmla="*/ 138 h 512"/>
                <a:gd name="T104" fmla="*/ 117 w 512"/>
                <a:gd name="T105" fmla="*/ 149 h 512"/>
                <a:gd name="T106" fmla="*/ 117 w 512"/>
                <a:gd name="T107" fmla="*/ 352 h 512"/>
                <a:gd name="T108" fmla="*/ 405 w 512"/>
                <a:gd name="T109" fmla="*/ 352 h 512"/>
                <a:gd name="T110" fmla="*/ 416 w 512"/>
                <a:gd name="T111" fmla="*/ 362 h 512"/>
                <a:gd name="T112" fmla="*/ 405 w 512"/>
                <a:gd name="T113" fmla="*/ 37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52" y="256"/>
                  </a:moveTo>
                  <a:cubicBezTo>
                    <a:pt x="352" y="250"/>
                    <a:pt x="356" y="245"/>
                    <a:pt x="362" y="245"/>
                  </a:cubicBezTo>
                  <a:cubicBezTo>
                    <a:pt x="368" y="245"/>
                    <a:pt x="373" y="250"/>
                    <a:pt x="373" y="256"/>
                  </a:cubicBezTo>
                  <a:cubicBezTo>
                    <a:pt x="373" y="320"/>
                    <a:pt x="373" y="320"/>
                    <a:pt x="373" y="320"/>
                  </a:cubicBezTo>
                  <a:cubicBezTo>
                    <a:pt x="373" y="326"/>
                    <a:pt x="368" y="330"/>
                    <a:pt x="362" y="330"/>
                  </a:cubicBezTo>
                  <a:cubicBezTo>
                    <a:pt x="356" y="330"/>
                    <a:pt x="352" y="326"/>
                    <a:pt x="352" y="320"/>
                  </a:cubicBezTo>
                  <a:lnTo>
                    <a:pt x="352" y="256"/>
                  </a:lnTo>
                  <a:close/>
                  <a:moveTo>
                    <a:pt x="309" y="170"/>
                  </a:moveTo>
                  <a:cubicBezTo>
                    <a:pt x="309" y="164"/>
                    <a:pt x="314" y="160"/>
                    <a:pt x="320" y="160"/>
                  </a:cubicBezTo>
                  <a:cubicBezTo>
                    <a:pt x="326" y="160"/>
                    <a:pt x="330" y="164"/>
                    <a:pt x="330" y="170"/>
                  </a:cubicBezTo>
                  <a:cubicBezTo>
                    <a:pt x="330" y="320"/>
                    <a:pt x="330" y="320"/>
                    <a:pt x="330" y="320"/>
                  </a:cubicBezTo>
                  <a:cubicBezTo>
                    <a:pt x="330" y="326"/>
                    <a:pt x="326" y="330"/>
                    <a:pt x="320" y="330"/>
                  </a:cubicBezTo>
                  <a:cubicBezTo>
                    <a:pt x="314" y="330"/>
                    <a:pt x="309" y="326"/>
                    <a:pt x="309" y="320"/>
                  </a:cubicBezTo>
                  <a:lnTo>
                    <a:pt x="309" y="170"/>
                  </a:lnTo>
                  <a:close/>
                  <a:moveTo>
                    <a:pt x="266" y="202"/>
                  </a:moveTo>
                  <a:cubicBezTo>
                    <a:pt x="266" y="196"/>
                    <a:pt x="271" y="192"/>
                    <a:pt x="277" y="192"/>
                  </a:cubicBezTo>
                  <a:cubicBezTo>
                    <a:pt x="283" y="192"/>
                    <a:pt x="288" y="196"/>
                    <a:pt x="288" y="202"/>
                  </a:cubicBezTo>
                  <a:cubicBezTo>
                    <a:pt x="288" y="320"/>
                    <a:pt x="288" y="320"/>
                    <a:pt x="288" y="320"/>
                  </a:cubicBezTo>
                  <a:cubicBezTo>
                    <a:pt x="288" y="326"/>
                    <a:pt x="283" y="330"/>
                    <a:pt x="277" y="330"/>
                  </a:cubicBezTo>
                  <a:cubicBezTo>
                    <a:pt x="271" y="330"/>
                    <a:pt x="266" y="326"/>
                    <a:pt x="266" y="320"/>
                  </a:cubicBezTo>
                  <a:lnTo>
                    <a:pt x="266" y="202"/>
                  </a:lnTo>
                  <a:close/>
                  <a:moveTo>
                    <a:pt x="224" y="149"/>
                  </a:moveTo>
                  <a:cubicBezTo>
                    <a:pt x="224" y="143"/>
                    <a:pt x="228" y="138"/>
                    <a:pt x="234" y="138"/>
                  </a:cubicBezTo>
                  <a:cubicBezTo>
                    <a:pt x="240" y="138"/>
                    <a:pt x="245" y="143"/>
                    <a:pt x="245" y="149"/>
                  </a:cubicBezTo>
                  <a:cubicBezTo>
                    <a:pt x="245" y="320"/>
                    <a:pt x="245" y="320"/>
                    <a:pt x="245" y="320"/>
                  </a:cubicBezTo>
                  <a:cubicBezTo>
                    <a:pt x="245" y="326"/>
                    <a:pt x="240" y="330"/>
                    <a:pt x="234" y="330"/>
                  </a:cubicBezTo>
                  <a:cubicBezTo>
                    <a:pt x="228" y="330"/>
                    <a:pt x="224" y="326"/>
                    <a:pt x="224" y="320"/>
                  </a:cubicBezTo>
                  <a:lnTo>
                    <a:pt x="224" y="149"/>
                  </a:lnTo>
                  <a:close/>
                  <a:moveTo>
                    <a:pt x="181" y="245"/>
                  </a:moveTo>
                  <a:cubicBezTo>
                    <a:pt x="181" y="239"/>
                    <a:pt x="186" y="234"/>
                    <a:pt x="192" y="234"/>
                  </a:cubicBezTo>
                  <a:cubicBezTo>
                    <a:pt x="198" y="234"/>
                    <a:pt x="202" y="239"/>
                    <a:pt x="202" y="245"/>
                  </a:cubicBezTo>
                  <a:cubicBezTo>
                    <a:pt x="202" y="320"/>
                    <a:pt x="202" y="320"/>
                    <a:pt x="202" y="320"/>
                  </a:cubicBezTo>
                  <a:cubicBezTo>
                    <a:pt x="202" y="326"/>
                    <a:pt x="198" y="330"/>
                    <a:pt x="192" y="330"/>
                  </a:cubicBezTo>
                  <a:cubicBezTo>
                    <a:pt x="186" y="330"/>
                    <a:pt x="181" y="326"/>
                    <a:pt x="181" y="320"/>
                  </a:cubicBezTo>
                  <a:lnTo>
                    <a:pt x="181" y="245"/>
                  </a:lnTo>
                  <a:close/>
                  <a:moveTo>
                    <a:pt x="138" y="277"/>
                  </a:moveTo>
                  <a:cubicBezTo>
                    <a:pt x="138" y="271"/>
                    <a:pt x="143" y="266"/>
                    <a:pt x="149" y="266"/>
                  </a:cubicBezTo>
                  <a:cubicBezTo>
                    <a:pt x="155" y="266"/>
                    <a:pt x="160" y="271"/>
                    <a:pt x="160" y="277"/>
                  </a:cubicBezTo>
                  <a:cubicBezTo>
                    <a:pt x="160" y="320"/>
                    <a:pt x="160" y="320"/>
                    <a:pt x="160" y="320"/>
                  </a:cubicBezTo>
                  <a:cubicBezTo>
                    <a:pt x="160" y="326"/>
                    <a:pt x="155" y="330"/>
                    <a:pt x="149" y="330"/>
                  </a:cubicBezTo>
                  <a:cubicBezTo>
                    <a:pt x="143" y="330"/>
                    <a:pt x="138" y="326"/>
                    <a:pt x="138" y="320"/>
                  </a:cubicBezTo>
                  <a:lnTo>
                    <a:pt x="138" y="277"/>
                  </a:lnTo>
                  <a:close/>
                  <a:moveTo>
                    <a:pt x="405" y="373"/>
                  </a:moveTo>
                  <a:cubicBezTo>
                    <a:pt x="106" y="373"/>
                    <a:pt x="106" y="373"/>
                    <a:pt x="106" y="373"/>
                  </a:cubicBezTo>
                  <a:cubicBezTo>
                    <a:pt x="100" y="373"/>
                    <a:pt x="96" y="368"/>
                    <a:pt x="96" y="362"/>
                  </a:cubicBezTo>
                  <a:cubicBezTo>
                    <a:pt x="96" y="149"/>
                    <a:pt x="96" y="149"/>
                    <a:pt x="96" y="149"/>
                  </a:cubicBezTo>
                  <a:cubicBezTo>
                    <a:pt x="96" y="143"/>
                    <a:pt x="100" y="138"/>
                    <a:pt x="106" y="138"/>
                  </a:cubicBezTo>
                  <a:cubicBezTo>
                    <a:pt x="112" y="138"/>
                    <a:pt x="117" y="143"/>
                    <a:pt x="117" y="149"/>
                  </a:cubicBezTo>
                  <a:cubicBezTo>
                    <a:pt x="117" y="352"/>
                    <a:pt x="117" y="352"/>
                    <a:pt x="117" y="352"/>
                  </a:cubicBezTo>
                  <a:cubicBezTo>
                    <a:pt x="405" y="352"/>
                    <a:pt x="405" y="352"/>
                    <a:pt x="405" y="352"/>
                  </a:cubicBezTo>
                  <a:cubicBezTo>
                    <a:pt x="411" y="352"/>
                    <a:pt x="416" y="356"/>
                    <a:pt x="416" y="362"/>
                  </a:cubicBezTo>
                  <a:cubicBezTo>
                    <a:pt x="416" y="368"/>
                    <a:pt x="411" y="373"/>
                    <a:pt x="405" y="373"/>
                  </a:cubicBezTo>
                  <a:close/>
                </a:path>
              </a:pathLst>
            </a:custGeom>
            <a:solidFill>
              <a:schemeClr val="accent2"/>
            </a:soli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000000"/>
                </a:solidFill>
                <a:effectLst/>
                <a:uLnTx/>
                <a:uFillTx/>
                <a:latin typeface="Verdana"/>
                <a:ea typeface="+mn-ea"/>
                <a:cs typeface="+mn-cs"/>
              </a:endParaRPr>
            </a:p>
          </p:txBody>
        </p:sp>
        <p:sp>
          <p:nvSpPr>
            <p:cNvPr id="43" name="TextBox 42">
              <a:extLst>
                <a:ext uri="{FF2B5EF4-FFF2-40B4-BE49-F238E27FC236}">
                  <a16:creationId xmlns:a16="http://schemas.microsoft.com/office/drawing/2014/main" id="{40C04837-325F-4CE8-B48A-D2582364FB14}"/>
                </a:ext>
              </a:extLst>
            </p:cNvPr>
            <p:cNvSpPr txBox="1"/>
            <p:nvPr/>
          </p:nvSpPr>
          <p:spPr>
            <a:xfrm>
              <a:off x="530862" y="3038107"/>
              <a:ext cx="3522278" cy="3543507"/>
            </a:xfrm>
            <a:prstGeom prst="rect">
              <a:avLst/>
            </a:prstGeom>
            <a:solidFill>
              <a:schemeClr val="bg1">
                <a:lumMod val="95000"/>
              </a:schemeClr>
            </a:solidFill>
          </p:spPr>
          <p:txBody>
            <a:bodyPr wrap="square" lIns="68580" tIns="68580" rIns="68580" bIns="68580" rtlCol="0">
              <a:noAutofit/>
            </a:bodyPr>
            <a:lstStyle>
              <a:defPPr>
                <a:defRPr lang="en-US"/>
              </a:defPPr>
              <a:lvl1pPr>
                <a:buSzPct val="100000"/>
                <a:defRPr sz="1200">
                  <a:solidFill>
                    <a:srgbClr val="313131"/>
                  </a:solidFill>
                </a:defRPr>
              </a:lvl1pPr>
            </a:lstStyle>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Metering Plan to be spelled out, to target 100% metering as per targets below:</a:t>
              </a:r>
            </a:p>
            <a:p>
              <a:pPr marL="342900" marR="0" lvl="0" indent="-174625" algn="l" defTabSz="914400" rtl="0" eaLnBrk="1" fontAlgn="auto" latinLnBrk="0" hangingPunct="1">
                <a:lnSpc>
                  <a:spcPct val="100000"/>
                </a:lnSpc>
                <a:spcBef>
                  <a:spcPts val="0"/>
                </a:spcBef>
                <a:spcAft>
                  <a:spcPts val="30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 Feeder and DT metering (by June’ 2023)</a:t>
              </a:r>
            </a:p>
            <a:p>
              <a:pPr marL="342900" marR="0" lvl="0" indent="-174625" algn="l" defTabSz="914400" rtl="0" eaLnBrk="1" fontAlgn="auto" latinLnBrk="0" hangingPunct="1">
                <a:lnSpc>
                  <a:spcPct val="100000"/>
                </a:lnSpc>
                <a:spcBef>
                  <a:spcPts val="0"/>
                </a:spcBef>
                <a:spcAft>
                  <a:spcPts val="30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 Agriculture DT metering (by Mar’ 2025)</a:t>
              </a:r>
            </a:p>
            <a:p>
              <a:pPr marL="342900" marR="0" lvl="0" indent="-174625" algn="l" defTabSz="914400" rtl="0" eaLnBrk="1" fontAlgn="auto" latinLnBrk="0" hangingPunct="1">
                <a:lnSpc>
                  <a:spcPct val="100000"/>
                </a:lnSpc>
                <a:spcBef>
                  <a:spcPts val="0"/>
                </a:spcBef>
                <a:spcAft>
                  <a:spcPts val="60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 Prepaid consumer metering (by Mar’ 2025)</a:t>
              </a:r>
            </a:p>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Plans for other infrastructure works including:</a:t>
              </a:r>
            </a:p>
            <a:p>
              <a:pPr marL="176213" marR="0" lvl="0" indent="0" algn="l" defTabSz="914400" rtl="0" eaLnBrk="1" fontAlgn="auto" latinLnBrk="0" hangingPunct="1">
                <a:lnSpc>
                  <a:spcPct val="100000"/>
                </a:lnSpc>
                <a:spcBef>
                  <a:spcPts val="0"/>
                </a:spcBef>
                <a:spcAft>
                  <a:spcPts val="30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 works targeted at loss reduction</a:t>
              </a:r>
            </a:p>
            <a:p>
              <a:pPr marL="176213" marR="0" lvl="0" indent="0" algn="l" defTabSz="914400" rtl="0" eaLnBrk="1" fontAlgn="auto" latinLnBrk="0" hangingPunct="1">
                <a:lnSpc>
                  <a:spcPct val="100000"/>
                </a:lnSpc>
                <a:spcBef>
                  <a:spcPts val="0"/>
                </a:spcBef>
                <a:spcAft>
                  <a:spcPts val="60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 works targeted at system strengthening</a:t>
              </a:r>
            </a:p>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Priority will be given to works focused on loss reduction</a:t>
              </a:r>
            </a:p>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Action plan to broadly include challenges, targeted infrastructure works and annual capital outlay</a:t>
              </a:r>
            </a:p>
          </p:txBody>
        </p:sp>
      </p:grpSp>
    </p:spTree>
    <p:extLst>
      <p:ext uri="{BB962C8B-B14F-4D97-AF65-F5344CB8AC3E}">
        <p14:creationId xmlns:p14="http://schemas.microsoft.com/office/powerpoint/2010/main" val="210949130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A5B3F1F8-9DD0-4546-B294-C24A1DD43738}"/>
              </a:ext>
            </a:extLst>
          </p:cNvPr>
          <p:cNvSpPr txBox="1">
            <a:spLocks/>
          </p:cNvSpPr>
          <p:nvPr/>
        </p:nvSpPr>
        <p:spPr>
          <a:xfrm>
            <a:off x="391395" y="325939"/>
            <a:ext cx="11409210" cy="453612"/>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18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lang="en-US" b="1" dirty="0">
                <a:solidFill>
                  <a:srgbClr val="000000"/>
                </a:solidFill>
                <a:latin typeface="+mj-lt"/>
                <a:ea typeface="Verdana" panose="020B0604030504040204" pitchFamily="34" charset="0"/>
              </a:rPr>
              <a:t>Scope of Work – Components under Part I </a:t>
            </a:r>
            <a:endParaRPr kumimoji="0" lang="en-US" b="1" i="0" u="none" strike="noStrike" kern="1200" cap="none" spc="0" normalizeH="0" baseline="0" noProof="0" dirty="0">
              <a:ln>
                <a:noFill/>
              </a:ln>
              <a:solidFill>
                <a:srgbClr val="000000"/>
              </a:solidFill>
              <a:effectLst/>
              <a:uLnTx/>
              <a:uFillTx/>
              <a:latin typeface="+mj-lt"/>
              <a:ea typeface="Verdana" panose="020B0604030504040204" pitchFamily="34" charset="0"/>
              <a:cs typeface="+mn-cs"/>
            </a:endParaRPr>
          </a:p>
        </p:txBody>
      </p:sp>
      <p:grpSp>
        <p:nvGrpSpPr>
          <p:cNvPr id="52" name="Group 51">
            <a:extLst>
              <a:ext uri="{FF2B5EF4-FFF2-40B4-BE49-F238E27FC236}">
                <a16:creationId xmlns:a16="http://schemas.microsoft.com/office/drawing/2014/main" id="{CA389886-4536-422C-9A23-CBCEFA110432}"/>
              </a:ext>
            </a:extLst>
          </p:cNvPr>
          <p:cNvGrpSpPr/>
          <p:nvPr/>
        </p:nvGrpSpPr>
        <p:grpSpPr>
          <a:xfrm>
            <a:off x="8350464" y="1128226"/>
            <a:ext cx="2908937" cy="228600"/>
            <a:chOff x="833432" y="2405743"/>
            <a:chExt cx="2908937" cy="228600"/>
          </a:xfrm>
        </p:grpSpPr>
        <p:sp>
          <p:nvSpPr>
            <p:cNvPr id="53" name="Isosceles Triangle 36">
              <a:extLst>
                <a:ext uri="{FF2B5EF4-FFF2-40B4-BE49-F238E27FC236}">
                  <a16:creationId xmlns:a16="http://schemas.microsoft.com/office/drawing/2014/main" id="{921235F0-F723-4841-82C4-6BFCA7979C27}"/>
                </a:ext>
              </a:extLst>
            </p:cNvPr>
            <p:cNvSpPr/>
            <p:nvPr/>
          </p:nvSpPr>
          <p:spPr bwMode="gray">
            <a:xfrm>
              <a:off x="3576634" y="2405743"/>
              <a:ext cx="165735" cy="228600"/>
            </a:xfrm>
            <a:prstGeom prst="triangle">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err="1">
                <a:solidFill>
                  <a:schemeClr val="bg1"/>
                </a:solidFill>
              </a:endParaRPr>
            </a:p>
          </p:txBody>
        </p:sp>
        <p:sp>
          <p:nvSpPr>
            <p:cNvPr id="54" name="Isosceles Triangle 37">
              <a:extLst>
                <a:ext uri="{FF2B5EF4-FFF2-40B4-BE49-F238E27FC236}">
                  <a16:creationId xmlns:a16="http://schemas.microsoft.com/office/drawing/2014/main" id="{27836E7D-0F64-46C3-84AD-1ADC977F4F81}"/>
                </a:ext>
              </a:extLst>
            </p:cNvPr>
            <p:cNvSpPr/>
            <p:nvPr/>
          </p:nvSpPr>
          <p:spPr bwMode="gray">
            <a:xfrm>
              <a:off x="833432" y="2405743"/>
              <a:ext cx="165735" cy="228600"/>
            </a:xfrm>
            <a:prstGeom prst="triangle">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err="1">
                <a:solidFill>
                  <a:schemeClr val="bg1"/>
                </a:solidFill>
              </a:endParaRPr>
            </a:p>
          </p:txBody>
        </p:sp>
      </p:grpSp>
      <p:grpSp>
        <p:nvGrpSpPr>
          <p:cNvPr id="55" name="Group 54">
            <a:extLst>
              <a:ext uri="{FF2B5EF4-FFF2-40B4-BE49-F238E27FC236}">
                <a16:creationId xmlns:a16="http://schemas.microsoft.com/office/drawing/2014/main" id="{3F05E8DB-E159-4D69-A608-6725F562BDC7}"/>
              </a:ext>
            </a:extLst>
          </p:cNvPr>
          <p:cNvGrpSpPr/>
          <p:nvPr/>
        </p:nvGrpSpPr>
        <p:grpSpPr>
          <a:xfrm>
            <a:off x="4542364" y="1128226"/>
            <a:ext cx="2908937" cy="228600"/>
            <a:chOff x="833432" y="2405743"/>
            <a:chExt cx="2908937" cy="228600"/>
          </a:xfrm>
        </p:grpSpPr>
        <p:sp>
          <p:nvSpPr>
            <p:cNvPr id="56" name="Isosceles Triangle 33">
              <a:extLst>
                <a:ext uri="{FF2B5EF4-FFF2-40B4-BE49-F238E27FC236}">
                  <a16:creationId xmlns:a16="http://schemas.microsoft.com/office/drawing/2014/main" id="{89F1E514-6E60-41FC-BE8B-70B5E1242067}"/>
                </a:ext>
              </a:extLst>
            </p:cNvPr>
            <p:cNvSpPr/>
            <p:nvPr/>
          </p:nvSpPr>
          <p:spPr bwMode="gray">
            <a:xfrm>
              <a:off x="3576634" y="2405743"/>
              <a:ext cx="165735" cy="228600"/>
            </a:xfrm>
            <a:prstGeom prst="triangle">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err="1">
                <a:solidFill>
                  <a:schemeClr val="bg1"/>
                </a:solidFill>
              </a:endParaRPr>
            </a:p>
          </p:txBody>
        </p:sp>
        <p:sp>
          <p:nvSpPr>
            <p:cNvPr id="57" name="Isosceles Triangle 34">
              <a:extLst>
                <a:ext uri="{FF2B5EF4-FFF2-40B4-BE49-F238E27FC236}">
                  <a16:creationId xmlns:a16="http://schemas.microsoft.com/office/drawing/2014/main" id="{0715E793-A582-44A5-B623-BA0A9FA9FB3D}"/>
                </a:ext>
              </a:extLst>
            </p:cNvPr>
            <p:cNvSpPr/>
            <p:nvPr/>
          </p:nvSpPr>
          <p:spPr bwMode="gray">
            <a:xfrm>
              <a:off x="833432" y="2405743"/>
              <a:ext cx="165735" cy="228600"/>
            </a:xfrm>
            <a:prstGeom prst="triangle">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err="1">
                <a:solidFill>
                  <a:schemeClr val="bg1"/>
                </a:solidFill>
              </a:endParaRPr>
            </a:p>
          </p:txBody>
        </p:sp>
      </p:grpSp>
      <p:grpSp>
        <p:nvGrpSpPr>
          <p:cNvPr id="58" name="Group 57">
            <a:extLst>
              <a:ext uri="{FF2B5EF4-FFF2-40B4-BE49-F238E27FC236}">
                <a16:creationId xmlns:a16="http://schemas.microsoft.com/office/drawing/2014/main" id="{A4503175-CD0C-4406-A3F6-FEC53715A152}"/>
              </a:ext>
            </a:extLst>
          </p:cNvPr>
          <p:cNvGrpSpPr/>
          <p:nvPr/>
        </p:nvGrpSpPr>
        <p:grpSpPr>
          <a:xfrm>
            <a:off x="734264" y="1128226"/>
            <a:ext cx="2908937" cy="228600"/>
            <a:chOff x="833432" y="2405743"/>
            <a:chExt cx="2908937" cy="228600"/>
          </a:xfrm>
        </p:grpSpPr>
        <p:sp>
          <p:nvSpPr>
            <p:cNvPr id="59" name="Isosceles Triangle 31">
              <a:extLst>
                <a:ext uri="{FF2B5EF4-FFF2-40B4-BE49-F238E27FC236}">
                  <a16:creationId xmlns:a16="http://schemas.microsoft.com/office/drawing/2014/main" id="{1A230741-CDC6-4440-8D34-C8C546756205}"/>
                </a:ext>
              </a:extLst>
            </p:cNvPr>
            <p:cNvSpPr/>
            <p:nvPr/>
          </p:nvSpPr>
          <p:spPr bwMode="gray">
            <a:xfrm>
              <a:off x="3576634" y="2405743"/>
              <a:ext cx="165735" cy="228600"/>
            </a:xfrm>
            <a:prstGeom prst="triangle">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err="1">
                <a:solidFill>
                  <a:schemeClr val="bg1"/>
                </a:solidFill>
              </a:endParaRPr>
            </a:p>
          </p:txBody>
        </p:sp>
        <p:sp>
          <p:nvSpPr>
            <p:cNvPr id="60" name="Isosceles Triangle 5">
              <a:extLst>
                <a:ext uri="{FF2B5EF4-FFF2-40B4-BE49-F238E27FC236}">
                  <a16:creationId xmlns:a16="http://schemas.microsoft.com/office/drawing/2014/main" id="{1B98E428-A865-4A42-85F3-E13D333C36B1}"/>
                </a:ext>
              </a:extLst>
            </p:cNvPr>
            <p:cNvSpPr/>
            <p:nvPr/>
          </p:nvSpPr>
          <p:spPr bwMode="gray">
            <a:xfrm>
              <a:off x="833432" y="2405743"/>
              <a:ext cx="165735" cy="228600"/>
            </a:xfrm>
            <a:prstGeom prst="triangle">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err="1">
                <a:solidFill>
                  <a:schemeClr val="bg1"/>
                </a:solidFill>
              </a:endParaRPr>
            </a:p>
          </p:txBody>
        </p:sp>
      </p:grpSp>
      <p:sp>
        <p:nvSpPr>
          <p:cNvPr id="61" name="Rectangle: Rounded Corners 7">
            <a:extLst>
              <a:ext uri="{FF2B5EF4-FFF2-40B4-BE49-F238E27FC236}">
                <a16:creationId xmlns:a16="http://schemas.microsoft.com/office/drawing/2014/main" id="{C0EDE7C0-2C68-490D-A119-2A7CBE5E8DFF}"/>
              </a:ext>
            </a:extLst>
          </p:cNvPr>
          <p:cNvSpPr/>
          <p:nvPr/>
        </p:nvSpPr>
        <p:spPr bwMode="gray">
          <a:xfrm>
            <a:off x="370731" y="1356827"/>
            <a:ext cx="3636000" cy="4502171"/>
          </a:xfrm>
          <a:prstGeom prst="roundRect">
            <a:avLst>
              <a:gd name="adj" fmla="val 6603"/>
            </a:avLst>
          </a:prstGeom>
          <a:solidFill>
            <a:schemeClr val="bg1">
              <a:lumMod val="95000"/>
            </a:schemeClr>
          </a:solidFill>
          <a:ln w="19050" algn="ctr">
            <a:noFill/>
            <a:miter lim="800000"/>
            <a:headEnd/>
            <a:tailEnd/>
          </a:ln>
        </p:spPr>
        <p:txBody>
          <a:bodyPr wrap="square" lIns="88900" tIns="182880" rIns="88900" bIns="88900" rtlCol="0" anchor="t"/>
          <a:lstStyle/>
          <a:p>
            <a:pPr marL="169863" lvl="0" indent="-114300" algn="just">
              <a:spcBef>
                <a:spcPts val="600"/>
              </a:spcBef>
              <a:buFont typeface="Arial" panose="020B0604020202020204" pitchFamily="34" charset="0"/>
              <a:buChar char="•"/>
            </a:pPr>
            <a:r>
              <a:rPr lang="en-US" sz="1100" dirty="0">
                <a:latin typeface="+mj-lt"/>
                <a:cs typeface="Arial" panose="020B0604020202020204" pitchFamily="34" charset="0"/>
              </a:rPr>
              <a:t>100% Consumer metering (including agricultural) through prepaid or smart prepaid mode </a:t>
            </a:r>
          </a:p>
          <a:p>
            <a:pPr marL="169863" lvl="0" indent="-114300" algn="just">
              <a:spcBef>
                <a:spcPts val="600"/>
              </a:spcBef>
              <a:buFont typeface="Arial" panose="020B0604020202020204" pitchFamily="34" charset="0"/>
              <a:buChar char="•"/>
            </a:pPr>
            <a:r>
              <a:rPr lang="en-US" sz="1100" dirty="0">
                <a:latin typeface="+mj-lt"/>
                <a:cs typeface="Arial" panose="020B0604020202020204" pitchFamily="34" charset="0"/>
              </a:rPr>
              <a:t>Prepaid smart meter tenders initiated after 1</a:t>
            </a:r>
            <a:r>
              <a:rPr lang="en-US" sz="1100" baseline="30000" dirty="0">
                <a:latin typeface="+mj-lt"/>
                <a:cs typeface="Arial" panose="020B0604020202020204" pitchFamily="34" charset="0"/>
              </a:rPr>
              <a:t>st</a:t>
            </a:r>
            <a:r>
              <a:rPr lang="en-US" sz="1100" dirty="0">
                <a:latin typeface="+mj-lt"/>
                <a:cs typeface="Arial" panose="020B0604020202020204" pitchFamily="34" charset="0"/>
              </a:rPr>
              <a:t> January 2020 in TOTEX mode eligible for funding</a:t>
            </a:r>
          </a:p>
          <a:p>
            <a:pPr marL="169863" lvl="0" indent="-114300" algn="just">
              <a:spcBef>
                <a:spcPts val="600"/>
              </a:spcBef>
              <a:buFont typeface="Arial" panose="020B0604020202020204" pitchFamily="34" charset="0"/>
              <a:buChar char="•"/>
            </a:pPr>
            <a:r>
              <a:rPr lang="en-US" sz="1100" dirty="0">
                <a:latin typeface="+mj-lt"/>
                <a:cs typeface="Arial" panose="020B0604020202020204" pitchFamily="34" charset="0"/>
              </a:rPr>
              <a:t>100% communicable DT &amp; Feeder Metering with AMI to enable energy accounting</a:t>
            </a:r>
          </a:p>
          <a:p>
            <a:pPr marL="169863" lvl="0" indent="-114300" algn="just">
              <a:spcBef>
                <a:spcPts val="600"/>
              </a:spcBef>
              <a:buFont typeface="Arial" panose="020B0604020202020204" pitchFamily="34" charset="0"/>
              <a:buChar char="•"/>
            </a:pPr>
            <a:r>
              <a:rPr lang="en-US" sz="1100" dirty="0">
                <a:latin typeface="+mj-lt"/>
                <a:cs typeface="Arial" panose="020B0604020202020204" pitchFamily="34" charset="0"/>
              </a:rPr>
              <a:t>Metering of unmetered feeders and making all feeder meters (new and old) online</a:t>
            </a:r>
          </a:p>
          <a:p>
            <a:pPr marL="169863" lvl="0" indent="-114300" algn="just">
              <a:spcBef>
                <a:spcPts val="600"/>
              </a:spcBef>
              <a:buFont typeface="Arial" panose="020B0604020202020204" pitchFamily="34" charset="0"/>
              <a:buChar char="•"/>
            </a:pPr>
            <a:r>
              <a:rPr lang="en-US" sz="1100" dirty="0">
                <a:latin typeface="+mj-lt"/>
                <a:cs typeface="Arial" panose="020B0604020202020204" pitchFamily="34" charset="0"/>
              </a:rPr>
              <a:t>Replacing current </a:t>
            </a:r>
            <a:r>
              <a:rPr lang="fr-FR" sz="1100" dirty="0">
                <a:latin typeface="+mj-lt"/>
                <a:cs typeface="Arial" panose="020B0604020202020204" pitchFamily="34" charset="0"/>
              </a:rPr>
              <a:t>non-communicable DT meters with </a:t>
            </a:r>
            <a:r>
              <a:rPr lang="en-US" sz="1100" dirty="0">
                <a:latin typeface="+mj-lt"/>
                <a:cs typeface="Arial" panose="020B0604020202020204" pitchFamily="34" charset="0"/>
              </a:rPr>
              <a:t>communicable AMI integrated meters</a:t>
            </a:r>
          </a:p>
          <a:p>
            <a:pPr marL="169863" lvl="0" indent="-114300" algn="just">
              <a:spcBef>
                <a:spcPts val="600"/>
              </a:spcBef>
              <a:buFont typeface="Arial" panose="020B0604020202020204" pitchFamily="34" charset="0"/>
              <a:buChar char="•"/>
            </a:pPr>
            <a:r>
              <a:rPr lang="en-US" sz="1100" dirty="0">
                <a:latin typeface="+mj-lt"/>
                <a:cs typeface="Arial" panose="020B0604020202020204" pitchFamily="34" charset="0"/>
              </a:rPr>
              <a:t>Replacement or fresh DT meter installation in TOTEX mode</a:t>
            </a:r>
            <a:r>
              <a:rPr lang="fr-FR" sz="1100" dirty="0">
                <a:latin typeface="+mj-lt"/>
                <a:cs typeface="Arial" panose="020B0604020202020204" pitchFamily="34" charset="0"/>
              </a:rPr>
              <a:t> </a:t>
            </a:r>
            <a:endParaRPr lang="en-US" sz="1100" dirty="0">
              <a:latin typeface="+mj-lt"/>
              <a:cs typeface="Arial" panose="020B0604020202020204" pitchFamily="34" charset="0"/>
            </a:endParaRPr>
          </a:p>
        </p:txBody>
      </p:sp>
      <p:sp>
        <p:nvSpPr>
          <p:cNvPr id="62" name="Rectangle: Rounded Corners 8">
            <a:extLst>
              <a:ext uri="{FF2B5EF4-FFF2-40B4-BE49-F238E27FC236}">
                <a16:creationId xmlns:a16="http://schemas.microsoft.com/office/drawing/2014/main" id="{3E6F5756-05ED-49B9-B517-EBC0B577AE3C}"/>
              </a:ext>
            </a:extLst>
          </p:cNvPr>
          <p:cNvSpPr/>
          <p:nvPr/>
        </p:nvSpPr>
        <p:spPr bwMode="gray">
          <a:xfrm>
            <a:off x="4178831" y="1356827"/>
            <a:ext cx="3636000" cy="4502173"/>
          </a:xfrm>
          <a:prstGeom prst="roundRect">
            <a:avLst>
              <a:gd name="adj" fmla="val 5982"/>
            </a:avLst>
          </a:prstGeom>
          <a:solidFill>
            <a:schemeClr val="bg1">
              <a:lumMod val="95000"/>
            </a:schemeClr>
          </a:solidFill>
          <a:ln w="19050" algn="ctr">
            <a:noFill/>
            <a:miter lim="800000"/>
            <a:headEnd/>
            <a:tailEnd/>
          </a:ln>
        </p:spPr>
        <p:txBody>
          <a:bodyPr wrap="square" lIns="88900" tIns="182880" rIns="88900" bIns="88900" rtlCol="0" anchor="t"/>
          <a:lstStyle/>
          <a:p>
            <a:pPr marL="4763" lvl="0">
              <a:spcBef>
                <a:spcPts val="600"/>
              </a:spcBef>
            </a:pPr>
            <a:r>
              <a:rPr lang="en-US" sz="1100" b="1" dirty="0">
                <a:latin typeface="+mj-lt"/>
                <a:cs typeface="Arial" panose="020B0604020202020204" pitchFamily="34" charset="0"/>
              </a:rPr>
              <a:t>Loss Reduction (DPR Part I )</a:t>
            </a:r>
          </a:p>
          <a:p>
            <a:pPr marL="169863" lvl="0" indent="-165100">
              <a:spcBef>
                <a:spcPts val="600"/>
              </a:spcBef>
              <a:buFont typeface="Arial" panose="020B0604020202020204" pitchFamily="34" charset="0"/>
              <a:buChar char="•"/>
            </a:pPr>
            <a:r>
              <a:rPr lang="en-US" sz="1100" dirty="0">
                <a:latin typeface="+mj-lt"/>
                <a:cs typeface="Arial" panose="020B0604020202020204" pitchFamily="34" charset="0"/>
              </a:rPr>
              <a:t>Armored / Aerial bunched Cables in high loss areas</a:t>
            </a:r>
          </a:p>
          <a:p>
            <a:pPr marL="169863" indent="-165100">
              <a:spcBef>
                <a:spcPts val="600"/>
              </a:spcBef>
              <a:buFont typeface="Arial" panose="020B0604020202020204" pitchFamily="34" charset="0"/>
              <a:buChar char="•"/>
            </a:pPr>
            <a:r>
              <a:rPr lang="en-US" sz="1100" dirty="0">
                <a:latin typeface="+mj-lt"/>
                <a:cs typeface="Arial" panose="020B0604020202020204" pitchFamily="34" charset="0"/>
              </a:rPr>
              <a:t>New feeders, capacitors, etc. for loss reduction</a:t>
            </a:r>
          </a:p>
          <a:p>
            <a:pPr marL="169863" lvl="0" indent="-165100">
              <a:spcBef>
                <a:spcPts val="600"/>
              </a:spcBef>
              <a:buFont typeface="Arial" panose="020B0604020202020204" pitchFamily="34" charset="0"/>
              <a:buChar char="•"/>
            </a:pPr>
            <a:r>
              <a:rPr lang="en-US" sz="1100" dirty="0">
                <a:latin typeface="+mj-lt"/>
                <a:cs typeface="Arial" panose="020B0604020202020204" pitchFamily="34" charset="0"/>
              </a:rPr>
              <a:t>Segregation / Bifurcation of feeders and allied works</a:t>
            </a:r>
          </a:p>
          <a:p>
            <a:pPr marL="169863" indent="-165100">
              <a:spcBef>
                <a:spcPts val="600"/>
              </a:spcBef>
              <a:buFont typeface="Arial" panose="020B0604020202020204" pitchFamily="34" charset="0"/>
              <a:buChar char="•"/>
            </a:pPr>
            <a:r>
              <a:rPr lang="en-US" sz="1100" dirty="0">
                <a:latin typeface="+mj-lt"/>
                <a:cs typeface="Arial" panose="020B0604020202020204" pitchFamily="34" charset="0"/>
              </a:rPr>
              <a:t>HVDS in high loss areas</a:t>
            </a:r>
          </a:p>
          <a:p>
            <a:pPr marL="169863" lvl="0" indent="-165100">
              <a:spcBef>
                <a:spcPts val="600"/>
              </a:spcBef>
              <a:buFont typeface="Arial" panose="020B0604020202020204" pitchFamily="34" charset="0"/>
              <a:buChar char="•"/>
            </a:pPr>
            <a:r>
              <a:rPr lang="en-US" sz="1100" dirty="0">
                <a:latin typeface="+mj-lt"/>
                <a:cs typeface="Arial" panose="020B0604020202020204" pitchFamily="34" charset="0"/>
              </a:rPr>
              <a:t>Replacement of conductors, which are old/frayed </a:t>
            </a:r>
          </a:p>
          <a:p>
            <a:pPr marL="4763" lvl="0">
              <a:spcBef>
                <a:spcPts val="600"/>
              </a:spcBef>
            </a:pPr>
            <a:r>
              <a:rPr lang="en-US" sz="1100" b="1" dirty="0">
                <a:latin typeface="+mj-lt"/>
                <a:cs typeface="Arial" panose="020B0604020202020204" pitchFamily="34" charset="0"/>
              </a:rPr>
              <a:t>Network Strengthening (DPR Part II)</a:t>
            </a:r>
          </a:p>
          <a:p>
            <a:pPr marL="169863" indent="-165100">
              <a:spcBef>
                <a:spcPts val="600"/>
              </a:spcBef>
              <a:buFont typeface="Arial" panose="020B0604020202020204" pitchFamily="34" charset="0"/>
              <a:buChar char="•"/>
            </a:pPr>
            <a:r>
              <a:rPr lang="en-US" sz="1100" dirty="0">
                <a:latin typeface="+mj-lt"/>
                <a:cs typeface="Arial" panose="020B0604020202020204" pitchFamily="34" charset="0"/>
              </a:rPr>
              <a:t>Augmentation of Substations</a:t>
            </a:r>
          </a:p>
          <a:p>
            <a:pPr marL="169863" lvl="0" indent="-165100">
              <a:spcBef>
                <a:spcPts val="600"/>
              </a:spcBef>
              <a:buFont typeface="Arial" panose="020B0604020202020204" pitchFamily="34" charset="0"/>
              <a:buChar char="•"/>
            </a:pPr>
            <a:r>
              <a:rPr lang="en-US" sz="1100" dirty="0">
                <a:latin typeface="+mj-lt"/>
                <a:cs typeface="Arial" panose="020B0604020202020204" pitchFamily="34" charset="0"/>
              </a:rPr>
              <a:t>IT/OT enablement works, SCADA in all urban areas</a:t>
            </a:r>
          </a:p>
          <a:p>
            <a:pPr marL="169863" lvl="0" indent="-165100">
              <a:spcBef>
                <a:spcPts val="600"/>
              </a:spcBef>
              <a:buFont typeface="Arial" panose="020B0604020202020204" pitchFamily="34" charset="0"/>
              <a:buChar char="•"/>
            </a:pPr>
            <a:r>
              <a:rPr lang="en-US" sz="1100" dirty="0">
                <a:latin typeface="+mj-lt"/>
                <a:cs typeface="Arial" panose="020B0604020202020204" pitchFamily="34" charset="0"/>
              </a:rPr>
              <a:t>DMS in 100 urban </a:t>
            </a:r>
            <a:r>
              <a:rPr lang="en-US" sz="1100" dirty="0" err="1">
                <a:latin typeface="+mj-lt"/>
                <a:cs typeface="Arial" panose="020B0604020202020204" pitchFamily="34" charset="0"/>
              </a:rPr>
              <a:t>centres</a:t>
            </a:r>
            <a:r>
              <a:rPr lang="en-US" sz="1100" dirty="0">
                <a:latin typeface="+mj-lt"/>
                <a:cs typeface="Arial" panose="020B0604020202020204" pitchFamily="34" charset="0"/>
              </a:rPr>
              <a:t> with population over 2.75 lakhs</a:t>
            </a:r>
          </a:p>
          <a:p>
            <a:pPr marL="169863" indent="-165100">
              <a:spcBef>
                <a:spcPts val="600"/>
              </a:spcBef>
              <a:buFont typeface="Arial" panose="020B0604020202020204" pitchFamily="34" charset="0"/>
              <a:buChar char="•"/>
            </a:pPr>
            <a:r>
              <a:rPr lang="en-US" sz="1100" dirty="0">
                <a:latin typeface="+mj-lt"/>
                <a:cs typeface="Arial" panose="020B0604020202020204" pitchFamily="34" charset="0"/>
              </a:rPr>
              <a:t>Additional HT lines to improve quality of supply</a:t>
            </a:r>
          </a:p>
          <a:p>
            <a:pPr marL="169863" lvl="0" indent="-165100">
              <a:spcBef>
                <a:spcPts val="600"/>
              </a:spcBef>
              <a:buFont typeface="Arial" panose="020B0604020202020204" pitchFamily="34" charset="0"/>
              <a:buChar char="•"/>
            </a:pPr>
            <a:r>
              <a:rPr lang="en-US" sz="1100" dirty="0">
                <a:latin typeface="+mj-lt"/>
                <a:cs typeface="Arial" panose="020B0604020202020204" pitchFamily="34" charset="0"/>
              </a:rPr>
              <a:t>Other distribution works for system strengthening</a:t>
            </a:r>
          </a:p>
        </p:txBody>
      </p:sp>
      <p:sp>
        <p:nvSpPr>
          <p:cNvPr id="63" name="Rectangle: Rounded Corners 9">
            <a:extLst>
              <a:ext uri="{FF2B5EF4-FFF2-40B4-BE49-F238E27FC236}">
                <a16:creationId xmlns:a16="http://schemas.microsoft.com/office/drawing/2014/main" id="{8CBA19E4-99E4-48A2-B2CD-0822FC2E554E}"/>
              </a:ext>
            </a:extLst>
          </p:cNvPr>
          <p:cNvSpPr/>
          <p:nvPr/>
        </p:nvSpPr>
        <p:spPr bwMode="gray">
          <a:xfrm>
            <a:off x="8001514" y="1356826"/>
            <a:ext cx="3636000" cy="4502172"/>
          </a:xfrm>
          <a:prstGeom prst="roundRect">
            <a:avLst>
              <a:gd name="adj" fmla="val 5656"/>
            </a:avLst>
          </a:prstGeom>
          <a:solidFill>
            <a:schemeClr val="bg1">
              <a:lumMod val="95000"/>
            </a:schemeClr>
          </a:solidFill>
          <a:ln w="19050" algn="ctr">
            <a:noFill/>
            <a:miter lim="800000"/>
            <a:headEnd/>
            <a:tailEnd/>
          </a:ln>
        </p:spPr>
        <p:txBody>
          <a:bodyPr wrap="square" lIns="88900" tIns="182880" rIns="88900" bIns="88900" rtlCol="0" anchor="t"/>
          <a:lstStyle/>
          <a:p>
            <a:pPr marL="107950" indent="-107950" defTabSz="843930">
              <a:spcAft>
                <a:spcPts val="800"/>
              </a:spcAft>
              <a:buSzPct val="100000"/>
              <a:buFont typeface="Arial" panose="020B0604020202020204" pitchFamily="34" charset="0"/>
              <a:buChar char="•"/>
              <a:defRPr/>
            </a:pPr>
            <a:r>
              <a:rPr lang="en-US" sz="1100" dirty="0">
                <a:solidFill>
                  <a:sysClr val="windowText" lastClr="000000"/>
                </a:solidFill>
                <a:latin typeface="+mj-lt"/>
                <a:cs typeface="Arial" panose="020B0604020202020204" pitchFamily="34" charset="0"/>
              </a:rPr>
              <a:t>Project Management Agency (PMA) shall be appointed by each DISCOM </a:t>
            </a:r>
          </a:p>
          <a:p>
            <a:pPr marL="107950" indent="-107950" defTabSz="843930">
              <a:spcBef>
                <a:spcPts val="500"/>
              </a:spcBef>
              <a:spcAft>
                <a:spcPts val="500"/>
              </a:spcAft>
              <a:buSzPct val="100000"/>
              <a:buFont typeface="Arial" panose="020B0604020202020204" pitchFamily="34" charset="0"/>
              <a:buChar char="•"/>
              <a:defRPr/>
            </a:pPr>
            <a:r>
              <a:rPr lang="en-US" sz="1100" dirty="0">
                <a:solidFill>
                  <a:sysClr val="windowText" lastClr="000000"/>
                </a:solidFill>
                <a:latin typeface="+mj-lt"/>
                <a:cs typeface="Arial" panose="020B0604020202020204" pitchFamily="34" charset="0"/>
              </a:rPr>
              <a:t>Scope of work under PMA - </a:t>
            </a:r>
          </a:p>
          <a:p>
            <a:pPr marL="342900" lvl="1" indent="-171450" defTabSz="843930">
              <a:spcAft>
                <a:spcPts val="400"/>
              </a:spcAft>
              <a:buSzPct val="100000"/>
              <a:buFont typeface="Wingdings" panose="05000000000000000000" pitchFamily="2" charset="2"/>
              <a:buChar char="§"/>
              <a:defRPr/>
            </a:pPr>
            <a:r>
              <a:rPr lang="en-US" sz="1100" dirty="0">
                <a:solidFill>
                  <a:sysClr val="windowText" lastClr="000000"/>
                </a:solidFill>
                <a:latin typeface="+mj-lt"/>
                <a:cs typeface="Arial" panose="020B0604020202020204" pitchFamily="34" charset="0"/>
              </a:rPr>
              <a:t>DPR preparation</a:t>
            </a:r>
          </a:p>
          <a:p>
            <a:pPr marL="342900" lvl="1" indent="-171450" defTabSz="843930">
              <a:spcAft>
                <a:spcPts val="400"/>
              </a:spcAft>
              <a:buSzPct val="100000"/>
              <a:buFont typeface="Wingdings" panose="05000000000000000000" pitchFamily="2" charset="2"/>
              <a:buChar char="§"/>
              <a:defRPr/>
            </a:pPr>
            <a:r>
              <a:rPr lang="en-US" sz="1100" dirty="0">
                <a:solidFill>
                  <a:sysClr val="windowText" lastClr="000000"/>
                </a:solidFill>
                <a:latin typeface="+mj-lt"/>
                <a:cs typeface="Arial" panose="020B0604020202020204" pitchFamily="34" charset="0"/>
              </a:rPr>
              <a:t>Tender documents</a:t>
            </a:r>
          </a:p>
          <a:p>
            <a:pPr marL="342900" lvl="1" indent="-171450" defTabSz="843930">
              <a:spcAft>
                <a:spcPts val="400"/>
              </a:spcAft>
              <a:buSzPct val="100000"/>
              <a:buFont typeface="Wingdings" panose="05000000000000000000" pitchFamily="2" charset="2"/>
              <a:buChar char="§"/>
              <a:defRPr/>
            </a:pPr>
            <a:r>
              <a:rPr lang="en-US" sz="1100" dirty="0">
                <a:solidFill>
                  <a:sysClr val="windowText" lastClr="000000"/>
                </a:solidFill>
                <a:latin typeface="+mj-lt"/>
                <a:cs typeface="Arial" panose="020B0604020202020204" pitchFamily="34" charset="0"/>
              </a:rPr>
              <a:t>Project awarding</a:t>
            </a:r>
          </a:p>
          <a:p>
            <a:pPr marL="342900" lvl="1" indent="-171450" defTabSz="843930">
              <a:spcAft>
                <a:spcPts val="400"/>
              </a:spcAft>
              <a:buSzPct val="100000"/>
              <a:buFont typeface="Wingdings" panose="05000000000000000000" pitchFamily="2" charset="2"/>
              <a:buChar char="§"/>
              <a:defRPr/>
            </a:pPr>
            <a:r>
              <a:rPr lang="en-US" sz="1100" dirty="0">
                <a:solidFill>
                  <a:sysClr val="windowText" lastClr="000000"/>
                </a:solidFill>
                <a:latin typeface="+mj-lt"/>
                <a:cs typeface="Arial" panose="020B0604020202020204" pitchFamily="34" charset="0"/>
              </a:rPr>
              <a:t>Monitoring</a:t>
            </a:r>
          </a:p>
          <a:p>
            <a:pPr marL="342900" lvl="1" indent="-171450" defTabSz="843930">
              <a:spcAft>
                <a:spcPts val="400"/>
              </a:spcAft>
              <a:buSzPct val="100000"/>
              <a:buFont typeface="Wingdings" panose="05000000000000000000" pitchFamily="2" charset="2"/>
              <a:buChar char="§"/>
              <a:defRPr/>
            </a:pPr>
            <a:r>
              <a:rPr lang="en-US" sz="1100" dirty="0">
                <a:solidFill>
                  <a:sysClr val="windowText" lastClr="000000"/>
                </a:solidFill>
                <a:latin typeface="+mj-lt"/>
                <a:cs typeface="Arial" panose="020B0604020202020204" pitchFamily="34" charset="0"/>
              </a:rPr>
              <a:t>Quality assurance</a:t>
            </a:r>
          </a:p>
          <a:p>
            <a:pPr marL="342900" lvl="1" indent="-171450" defTabSz="843930">
              <a:spcAft>
                <a:spcPts val="400"/>
              </a:spcAft>
              <a:buSzPct val="100000"/>
              <a:buFont typeface="Wingdings" panose="05000000000000000000" pitchFamily="2" charset="2"/>
              <a:buChar char="§"/>
              <a:defRPr/>
            </a:pPr>
            <a:r>
              <a:rPr lang="en-US" sz="1100" dirty="0">
                <a:solidFill>
                  <a:sysClr val="windowText" lastClr="000000"/>
                </a:solidFill>
                <a:latin typeface="+mj-lt"/>
                <a:cs typeface="Arial" panose="020B0604020202020204" pitchFamily="34" charset="0"/>
              </a:rPr>
              <a:t>Material inspection</a:t>
            </a:r>
          </a:p>
          <a:p>
            <a:pPr marL="342900" lvl="1" indent="-171450" defTabSz="843930">
              <a:spcAft>
                <a:spcPts val="400"/>
              </a:spcAft>
              <a:buSzPct val="100000"/>
              <a:buFont typeface="Wingdings" panose="05000000000000000000" pitchFamily="2" charset="2"/>
              <a:buChar char="§"/>
              <a:defRPr/>
            </a:pPr>
            <a:r>
              <a:rPr lang="en-US" sz="1100" dirty="0">
                <a:solidFill>
                  <a:sysClr val="windowText" lastClr="000000"/>
                </a:solidFill>
                <a:latin typeface="+mj-lt"/>
                <a:cs typeface="Arial" panose="020B0604020202020204" pitchFamily="34" charset="0"/>
              </a:rPr>
              <a:t>Results evaluation</a:t>
            </a:r>
          </a:p>
          <a:p>
            <a:pPr marL="342900" lvl="1" indent="-171450" defTabSz="843930">
              <a:spcAft>
                <a:spcPts val="800"/>
              </a:spcAft>
              <a:buSzPct val="100000"/>
              <a:buFont typeface="Wingdings" panose="05000000000000000000" pitchFamily="2" charset="2"/>
              <a:buChar char="§"/>
              <a:defRPr/>
            </a:pPr>
            <a:r>
              <a:rPr lang="en-US" sz="1100" dirty="0">
                <a:solidFill>
                  <a:sysClr val="windowText" lastClr="000000"/>
                </a:solidFill>
                <a:latin typeface="+mj-lt"/>
                <a:cs typeface="Arial" panose="020B0604020202020204" pitchFamily="34" charset="0"/>
              </a:rPr>
              <a:t>Other aspect as decided by DISCOMs</a:t>
            </a:r>
          </a:p>
          <a:p>
            <a:pPr marL="107950" indent="-107950" defTabSz="843930">
              <a:spcBef>
                <a:spcPts val="500"/>
              </a:spcBef>
              <a:spcAft>
                <a:spcPts val="500"/>
              </a:spcAft>
              <a:buSzPct val="100000"/>
              <a:buFont typeface="Arial" panose="020B0604020202020204" pitchFamily="34" charset="0"/>
              <a:buChar char="•"/>
              <a:defRPr/>
            </a:pPr>
            <a:r>
              <a:rPr lang="en-US" sz="1100" dirty="0">
                <a:solidFill>
                  <a:sysClr val="windowText" lastClr="000000"/>
                </a:solidFill>
                <a:latin typeface="+mj-lt"/>
                <a:cs typeface="Arial" panose="020B0604020202020204" pitchFamily="34" charset="0"/>
              </a:rPr>
              <a:t>PMA costs to be restricted to 1% of project cost</a:t>
            </a:r>
          </a:p>
          <a:p>
            <a:pPr marL="107950" indent="-107950" defTabSz="843930">
              <a:spcBef>
                <a:spcPts val="500"/>
              </a:spcBef>
              <a:spcAft>
                <a:spcPts val="500"/>
              </a:spcAft>
              <a:buSzPct val="100000"/>
              <a:buFont typeface="Arial" panose="020B0604020202020204" pitchFamily="34" charset="0"/>
              <a:buChar char="•"/>
              <a:defRPr/>
            </a:pPr>
            <a:r>
              <a:rPr lang="en-US" sz="1100" dirty="0">
                <a:solidFill>
                  <a:sysClr val="windowText" lastClr="000000"/>
                </a:solidFill>
                <a:latin typeface="+mj-lt"/>
                <a:cs typeface="Arial" panose="020B0604020202020204" pitchFamily="34" charset="0"/>
              </a:rPr>
              <a:t>PMA charges above the permitted amount to be borne by respective DISCOM / State government</a:t>
            </a:r>
          </a:p>
        </p:txBody>
      </p:sp>
      <p:sp>
        <p:nvSpPr>
          <p:cNvPr id="64" name="Rectangle: Top Corners Rounded 12">
            <a:extLst>
              <a:ext uri="{FF2B5EF4-FFF2-40B4-BE49-F238E27FC236}">
                <a16:creationId xmlns:a16="http://schemas.microsoft.com/office/drawing/2014/main" id="{8C18AD19-9C66-42B2-B1C8-C95DF29D6A4A}"/>
              </a:ext>
            </a:extLst>
          </p:cNvPr>
          <p:cNvSpPr/>
          <p:nvPr/>
        </p:nvSpPr>
        <p:spPr bwMode="gray">
          <a:xfrm flipV="1">
            <a:off x="817131" y="1128226"/>
            <a:ext cx="2743200" cy="457200"/>
          </a:xfrm>
          <a:prstGeom prst="round2Same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200" b="1" dirty="0">
              <a:solidFill>
                <a:schemeClr val="bg1"/>
              </a:solidFill>
            </a:endParaRPr>
          </a:p>
        </p:txBody>
      </p:sp>
      <p:sp>
        <p:nvSpPr>
          <p:cNvPr id="65" name="Rectangle: Top Corners Rounded 13">
            <a:extLst>
              <a:ext uri="{FF2B5EF4-FFF2-40B4-BE49-F238E27FC236}">
                <a16:creationId xmlns:a16="http://schemas.microsoft.com/office/drawing/2014/main" id="{3A5AA294-5933-4F2C-B9FF-EB978AB90C40}"/>
              </a:ext>
            </a:extLst>
          </p:cNvPr>
          <p:cNvSpPr/>
          <p:nvPr/>
        </p:nvSpPr>
        <p:spPr bwMode="gray">
          <a:xfrm flipV="1">
            <a:off x="4625231" y="1128226"/>
            <a:ext cx="2743200" cy="457200"/>
          </a:xfrm>
          <a:prstGeom prst="round2Same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200" b="1" dirty="0">
              <a:solidFill>
                <a:schemeClr val="bg1"/>
              </a:solidFill>
            </a:endParaRPr>
          </a:p>
        </p:txBody>
      </p:sp>
      <p:sp>
        <p:nvSpPr>
          <p:cNvPr id="66" name="Rectangle: Top Corners Rounded 14">
            <a:extLst>
              <a:ext uri="{FF2B5EF4-FFF2-40B4-BE49-F238E27FC236}">
                <a16:creationId xmlns:a16="http://schemas.microsoft.com/office/drawing/2014/main" id="{601D0980-5600-453F-BFE3-1D47308FA457}"/>
              </a:ext>
            </a:extLst>
          </p:cNvPr>
          <p:cNvSpPr/>
          <p:nvPr/>
        </p:nvSpPr>
        <p:spPr bwMode="gray">
          <a:xfrm flipV="1">
            <a:off x="8433331" y="1128226"/>
            <a:ext cx="2743200" cy="457200"/>
          </a:xfrm>
          <a:prstGeom prst="round2SameRect">
            <a:avLst/>
          </a:prstGeom>
          <a:solidFill>
            <a:srgbClr val="00ABA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200" b="1" dirty="0">
              <a:solidFill>
                <a:schemeClr val="bg1"/>
              </a:solidFill>
            </a:endParaRPr>
          </a:p>
        </p:txBody>
      </p:sp>
      <p:sp>
        <p:nvSpPr>
          <p:cNvPr id="67" name="Rectangle 66">
            <a:extLst>
              <a:ext uri="{FF2B5EF4-FFF2-40B4-BE49-F238E27FC236}">
                <a16:creationId xmlns:a16="http://schemas.microsoft.com/office/drawing/2014/main" id="{3E31427B-E000-4858-8616-5D8896A93F70}"/>
              </a:ext>
            </a:extLst>
          </p:cNvPr>
          <p:cNvSpPr/>
          <p:nvPr/>
        </p:nvSpPr>
        <p:spPr>
          <a:xfrm>
            <a:off x="1519480" y="1264493"/>
            <a:ext cx="1338508" cy="215444"/>
          </a:xfrm>
          <a:prstGeom prst="rect">
            <a:avLst/>
          </a:prstGeom>
        </p:spPr>
        <p:txBody>
          <a:bodyPr wrap="none" lIns="0" tIns="0" rIns="0" bIns="0">
            <a:spAutoFit/>
          </a:bodyPr>
          <a:lstStyle/>
          <a:p>
            <a:pPr lvl="0" algn="ctr"/>
            <a:r>
              <a:rPr lang="en-GB" sz="1400" b="1" dirty="0">
                <a:solidFill>
                  <a:srgbClr val="FFFFFF"/>
                </a:solidFill>
              </a:rPr>
              <a:t>Component 1</a:t>
            </a:r>
          </a:p>
        </p:txBody>
      </p:sp>
      <p:sp>
        <p:nvSpPr>
          <p:cNvPr id="68" name="Rectangle 67">
            <a:extLst>
              <a:ext uri="{FF2B5EF4-FFF2-40B4-BE49-F238E27FC236}">
                <a16:creationId xmlns:a16="http://schemas.microsoft.com/office/drawing/2014/main" id="{EE20925A-771E-437D-84D6-ED998406C7C3}"/>
              </a:ext>
            </a:extLst>
          </p:cNvPr>
          <p:cNvSpPr/>
          <p:nvPr/>
        </p:nvSpPr>
        <p:spPr>
          <a:xfrm>
            <a:off x="5327579" y="1264493"/>
            <a:ext cx="1338508" cy="215444"/>
          </a:xfrm>
          <a:prstGeom prst="rect">
            <a:avLst/>
          </a:prstGeom>
        </p:spPr>
        <p:txBody>
          <a:bodyPr wrap="none" lIns="0" tIns="0" rIns="0" bIns="0">
            <a:spAutoFit/>
          </a:bodyPr>
          <a:lstStyle/>
          <a:p>
            <a:pPr lvl="0" algn="ctr"/>
            <a:r>
              <a:rPr lang="en-GB" sz="1400" b="1" dirty="0">
                <a:solidFill>
                  <a:srgbClr val="FFFFFF"/>
                </a:solidFill>
              </a:rPr>
              <a:t>Component 2</a:t>
            </a:r>
          </a:p>
        </p:txBody>
      </p:sp>
      <p:sp>
        <p:nvSpPr>
          <p:cNvPr id="69" name="Rectangle 68">
            <a:extLst>
              <a:ext uri="{FF2B5EF4-FFF2-40B4-BE49-F238E27FC236}">
                <a16:creationId xmlns:a16="http://schemas.microsoft.com/office/drawing/2014/main" id="{673393AB-F05E-4FB2-B691-FB64EAF0A60E}"/>
              </a:ext>
            </a:extLst>
          </p:cNvPr>
          <p:cNvSpPr/>
          <p:nvPr/>
        </p:nvSpPr>
        <p:spPr>
          <a:xfrm>
            <a:off x="9188032" y="1264493"/>
            <a:ext cx="1338508" cy="215444"/>
          </a:xfrm>
          <a:prstGeom prst="rect">
            <a:avLst/>
          </a:prstGeom>
        </p:spPr>
        <p:txBody>
          <a:bodyPr wrap="none" lIns="0" tIns="0" rIns="0" bIns="0">
            <a:spAutoFit/>
          </a:bodyPr>
          <a:lstStyle/>
          <a:p>
            <a:pPr lvl="0" algn="ctr"/>
            <a:r>
              <a:rPr lang="en-GB" sz="1400" b="1" dirty="0">
                <a:solidFill>
                  <a:srgbClr val="FFFFFF"/>
                </a:solidFill>
              </a:rPr>
              <a:t>Component 3</a:t>
            </a:r>
          </a:p>
        </p:txBody>
      </p:sp>
      <p:sp>
        <p:nvSpPr>
          <p:cNvPr id="87" name="Freeform 1126">
            <a:extLst>
              <a:ext uri="{FF2B5EF4-FFF2-40B4-BE49-F238E27FC236}">
                <a16:creationId xmlns:a16="http://schemas.microsoft.com/office/drawing/2014/main" id="{15B880FF-5E78-4ED4-94A9-E7503E7F9A4B}"/>
              </a:ext>
            </a:extLst>
          </p:cNvPr>
          <p:cNvSpPr>
            <a:spLocks/>
          </p:cNvSpPr>
          <p:nvPr/>
        </p:nvSpPr>
        <p:spPr bwMode="auto">
          <a:xfrm>
            <a:off x="501841" y="6039000"/>
            <a:ext cx="11084159" cy="480157"/>
          </a:xfrm>
          <a:prstGeom prst="roundRect">
            <a:avLst>
              <a:gd name="adj" fmla="val 6979"/>
            </a:avLst>
          </a:prstGeom>
          <a:solidFill>
            <a:schemeClr val="bg1">
              <a:lumMod val="95000"/>
            </a:schemeClr>
          </a:solidFill>
          <a:ln/>
        </p:spPr>
        <p:style>
          <a:lnRef idx="1">
            <a:schemeClr val="accent1"/>
          </a:lnRef>
          <a:fillRef idx="2">
            <a:schemeClr val="accent1"/>
          </a:fillRef>
          <a:effectRef idx="1">
            <a:schemeClr val="accent1"/>
          </a:effectRef>
          <a:fontRef idx="minor">
            <a:schemeClr val="dk1"/>
          </a:fontRef>
        </p:style>
        <p:txBody>
          <a:bodyPr lIns="90000" rIns="540000"/>
          <a:lstStyle/>
          <a:p>
            <a:pPr algn="just" fontAlgn="t">
              <a:spcBef>
                <a:spcPts val="900"/>
              </a:spcBef>
              <a:spcAft>
                <a:spcPts val="900"/>
              </a:spcAft>
            </a:pPr>
            <a:r>
              <a:rPr lang="en-US" sz="1200" i="1" dirty="0">
                <a:latin typeface="+mj-lt"/>
                <a:cs typeface="Arial" panose="020B0604020202020204" pitchFamily="34" charset="0"/>
              </a:rPr>
              <a:t>The share of project cost for Part I and Part II shall be 50% each. In case the distribution losses are low (less than 12% in the base year), then the DISCOM may allocate more funds to System Strengthening works, with suitable justification</a:t>
            </a:r>
          </a:p>
        </p:txBody>
      </p:sp>
    </p:spTree>
    <p:extLst>
      <p:ext uri="{BB962C8B-B14F-4D97-AF65-F5344CB8AC3E}">
        <p14:creationId xmlns:p14="http://schemas.microsoft.com/office/powerpoint/2010/main" val="42386648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A5B3F1F8-9DD0-4546-B294-C24A1DD43738}"/>
              </a:ext>
            </a:extLst>
          </p:cNvPr>
          <p:cNvSpPr txBox="1">
            <a:spLocks/>
          </p:cNvSpPr>
          <p:nvPr/>
        </p:nvSpPr>
        <p:spPr>
          <a:xfrm>
            <a:off x="356114" y="414138"/>
            <a:ext cx="11409210" cy="453612"/>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18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lang="en-US" b="1" dirty="0">
                <a:solidFill>
                  <a:srgbClr val="000000"/>
                </a:solidFill>
                <a:latin typeface="+mj-lt"/>
                <a:ea typeface="Verdana" panose="020B0604030504040204" pitchFamily="34" charset="0"/>
              </a:rPr>
              <a:t>Disbursement Mechanism under Metering &amp; Infrastructure Works</a:t>
            </a:r>
          </a:p>
        </p:txBody>
      </p:sp>
      <p:sp>
        <p:nvSpPr>
          <p:cNvPr id="8" name="Rectangle 7">
            <a:extLst>
              <a:ext uri="{FF2B5EF4-FFF2-40B4-BE49-F238E27FC236}">
                <a16:creationId xmlns:a16="http://schemas.microsoft.com/office/drawing/2014/main" id="{22635114-1DE2-49AA-822A-FD584C7E7485}"/>
              </a:ext>
            </a:extLst>
          </p:cNvPr>
          <p:cNvSpPr/>
          <p:nvPr/>
        </p:nvSpPr>
        <p:spPr>
          <a:xfrm>
            <a:off x="358377" y="1513759"/>
            <a:ext cx="3938058" cy="28152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300"/>
              </a:spcBef>
              <a:spcAft>
                <a:spcPts val="300"/>
              </a:spcAft>
              <a:buFont typeface="Arial" panose="020B0604020202020204" pitchFamily="34" charset="0"/>
              <a:buChar char="•"/>
            </a:pPr>
            <a:r>
              <a:rPr lang="en-US" sz="1200" dirty="0">
                <a:solidFill>
                  <a:schemeClr val="tx1"/>
                </a:solidFill>
                <a:latin typeface="+mj-lt"/>
                <a:cs typeface="Arial" panose="020B0604020202020204" pitchFamily="34" charset="0"/>
              </a:rPr>
              <a:t>Consumer Meter- 15% of the cost per meter (subject to max. Rs.900/ meter)</a:t>
            </a:r>
          </a:p>
          <a:p>
            <a:pPr marL="285750" indent="-285750">
              <a:spcBef>
                <a:spcPts val="300"/>
              </a:spcBef>
              <a:spcAft>
                <a:spcPts val="300"/>
              </a:spcAft>
              <a:buFont typeface="Arial" panose="020B0604020202020204" pitchFamily="34" charset="0"/>
              <a:buChar char="•"/>
            </a:pPr>
            <a:r>
              <a:rPr lang="en-US" sz="1200" dirty="0">
                <a:solidFill>
                  <a:schemeClr val="tx1"/>
                </a:solidFill>
                <a:latin typeface="+mj-lt"/>
                <a:cs typeface="Arial" panose="020B0604020202020204" pitchFamily="34" charset="0"/>
              </a:rPr>
              <a:t>DT/ Feeder Meter- 15% cost per meter</a:t>
            </a:r>
          </a:p>
          <a:p>
            <a:pPr marL="285750" indent="-285750">
              <a:spcBef>
                <a:spcPts val="300"/>
              </a:spcBef>
              <a:spcAft>
                <a:spcPts val="300"/>
              </a:spcAft>
              <a:buFont typeface="Arial" panose="020B0604020202020204" pitchFamily="34" charset="0"/>
              <a:buChar char="•"/>
            </a:pPr>
            <a:r>
              <a:rPr lang="en-US" sz="1200" dirty="0">
                <a:solidFill>
                  <a:schemeClr val="tx1"/>
                </a:solidFill>
                <a:latin typeface="+mj-lt"/>
                <a:cs typeface="Arial" panose="020B0604020202020204" pitchFamily="34" charset="0"/>
              </a:rPr>
              <a:t>Condition for fund release- </a:t>
            </a:r>
          </a:p>
          <a:p>
            <a:pPr marL="742950" lvl="1" indent="-285750">
              <a:spcBef>
                <a:spcPts val="300"/>
              </a:spcBef>
              <a:spcAft>
                <a:spcPts val="300"/>
              </a:spcAft>
              <a:buFont typeface="Wingdings" panose="05000000000000000000" pitchFamily="2" charset="2"/>
              <a:buChar char="§"/>
            </a:pPr>
            <a:r>
              <a:rPr lang="en-US" sz="1200" dirty="0">
                <a:solidFill>
                  <a:schemeClr val="tx1"/>
                </a:solidFill>
                <a:latin typeface="+mj-lt"/>
                <a:cs typeface="Arial" panose="020B0604020202020204" pitchFamily="34" charset="0"/>
              </a:rPr>
              <a:t>Consumer meter- Demonstration of one successful bill recharge</a:t>
            </a:r>
          </a:p>
          <a:p>
            <a:pPr marL="742950" lvl="1" indent="-285750">
              <a:spcBef>
                <a:spcPts val="300"/>
              </a:spcBef>
              <a:spcAft>
                <a:spcPts val="300"/>
              </a:spcAft>
              <a:buFont typeface="Wingdings" panose="05000000000000000000" pitchFamily="2" charset="2"/>
              <a:buChar char="§"/>
            </a:pPr>
            <a:r>
              <a:rPr lang="en-US" sz="1200" dirty="0">
                <a:solidFill>
                  <a:schemeClr val="tx1"/>
                </a:solidFill>
                <a:latin typeface="+mj-lt"/>
                <a:cs typeface="Arial" panose="020B0604020202020204" pitchFamily="34" charset="0"/>
              </a:rPr>
              <a:t>DT/ Feeder meter- Successful communication with server</a:t>
            </a:r>
          </a:p>
          <a:p>
            <a:pPr marL="285750" indent="-285750">
              <a:spcBef>
                <a:spcPts val="300"/>
              </a:spcBef>
              <a:spcAft>
                <a:spcPts val="300"/>
              </a:spcAft>
              <a:buFont typeface="Arial" panose="020B0604020202020204" pitchFamily="34" charset="0"/>
              <a:buChar char="•"/>
            </a:pPr>
            <a:r>
              <a:rPr lang="en-US" sz="1200" dirty="0">
                <a:solidFill>
                  <a:schemeClr val="tx1"/>
                </a:solidFill>
                <a:latin typeface="+mj-lt"/>
                <a:cs typeface="Arial" panose="020B0604020202020204" pitchFamily="34" charset="0"/>
              </a:rPr>
              <a:t>DISCOM can claim the grant funds in phased manner for every 5% of meters commissioned against total number of meters awarded</a:t>
            </a:r>
            <a:endParaRPr lang="en-US" sz="1200" u="sng" dirty="0">
              <a:solidFill>
                <a:schemeClr val="tx1"/>
              </a:solidFill>
              <a:latin typeface="+mj-lt"/>
              <a:cs typeface="Arial" panose="020B0604020202020204" pitchFamily="34" charset="0"/>
            </a:endParaRPr>
          </a:p>
        </p:txBody>
      </p:sp>
      <p:sp>
        <p:nvSpPr>
          <p:cNvPr id="9" name="Rectangle 8">
            <a:extLst>
              <a:ext uri="{FF2B5EF4-FFF2-40B4-BE49-F238E27FC236}">
                <a16:creationId xmlns:a16="http://schemas.microsoft.com/office/drawing/2014/main" id="{6B34C1FE-87E4-4F35-BAAE-8A40D1999E58}"/>
              </a:ext>
            </a:extLst>
          </p:cNvPr>
          <p:cNvSpPr/>
          <p:nvPr/>
        </p:nvSpPr>
        <p:spPr>
          <a:xfrm>
            <a:off x="364770" y="1126855"/>
            <a:ext cx="3938057" cy="322308"/>
          </a:xfrm>
          <a:prstGeom prst="rect">
            <a:avLst/>
          </a:prstGeom>
          <a:solidFill>
            <a:srgbClr val="A5A5A5"/>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200"/>
              </a:spcBef>
              <a:spcAft>
                <a:spcPts val="200"/>
              </a:spcAft>
            </a:pPr>
            <a:r>
              <a:rPr lang="en-US" sz="1200" b="1" dirty="0">
                <a:solidFill>
                  <a:schemeClr val="tx1"/>
                </a:solidFill>
                <a:latin typeface="+mj-lt"/>
                <a:cs typeface="Arial" panose="020B0604020202020204" pitchFamily="34" charset="0"/>
              </a:rPr>
              <a:t>Metering</a:t>
            </a:r>
            <a:endParaRPr lang="en-US" sz="1200" dirty="0">
              <a:solidFill>
                <a:schemeClr val="tx1"/>
              </a:solidFill>
              <a:latin typeface="+mj-lt"/>
              <a:cs typeface="Arial" panose="020B0604020202020204" pitchFamily="34" charset="0"/>
            </a:endParaRPr>
          </a:p>
        </p:txBody>
      </p:sp>
      <p:sp>
        <p:nvSpPr>
          <p:cNvPr id="10" name="Rectangle 9">
            <a:extLst>
              <a:ext uri="{FF2B5EF4-FFF2-40B4-BE49-F238E27FC236}">
                <a16:creationId xmlns:a16="http://schemas.microsoft.com/office/drawing/2014/main" id="{6C185FBC-B8DC-4B28-B250-8D55BB304D62}"/>
              </a:ext>
            </a:extLst>
          </p:cNvPr>
          <p:cNvSpPr/>
          <p:nvPr/>
        </p:nvSpPr>
        <p:spPr>
          <a:xfrm>
            <a:off x="4431435" y="1513759"/>
            <a:ext cx="7221942" cy="281524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300"/>
              </a:spcBef>
              <a:spcAft>
                <a:spcPts val="300"/>
              </a:spcAft>
              <a:buFont typeface="Arial" panose="020B0604020202020204" pitchFamily="34" charset="0"/>
              <a:buChar char="•"/>
            </a:pPr>
            <a:r>
              <a:rPr lang="en-US" sz="1200" b="1" dirty="0">
                <a:solidFill>
                  <a:schemeClr val="tx1"/>
                </a:solidFill>
                <a:latin typeface="+mj-lt"/>
                <a:cs typeface="Arial" panose="020B0604020202020204" pitchFamily="34" charset="0"/>
              </a:rPr>
              <a:t>Phase I</a:t>
            </a:r>
            <a:r>
              <a:rPr lang="en-US" sz="1200" dirty="0">
                <a:solidFill>
                  <a:schemeClr val="tx1"/>
                </a:solidFill>
                <a:latin typeface="+mj-lt"/>
                <a:cs typeface="Arial" panose="020B0604020202020204" pitchFamily="34" charset="0"/>
              </a:rPr>
              <a:t>: 10% advance (10% of 50% of the Distribution Infrastructure) upon DPR Part I approval (5% advance on sanction and 5% on award of works)</a:t>
            </a:r>
          </a:p>
          <a:p>
            <a:pPr marL="285750" indent="-285750">
              <a:spcBef>
                <a:spcPts val="300"/>
              </a:spcBef>
              <a:spcAft>
                <a:spcPts val="300"/>
              </a:spcAft>
              <a:buFont typeface="Arial" panose="020B0604020202020204" pitchFamily="34" charset="0"/>
              <a:buChar char="•"/>
            </a:pPr>
            <a:r>
              <a:rPr lang="en-US" sz="1200" b="1" dirty="0">
                <a:solidFill>
                  <a:schemeClr val="tx1"/>
                </a:solidFill>
                <a:latin typeface="+mj-lt"/>
                <a:cs typeface="Arial" panose="020B0604020202020204" pitchFamily="34" charset="0"/>
              </a:rPr>
              <a:t>Phase II</a:t>
            </a:r>
            <a:r>
              <a:rPr lang="en-US" sz="1200" dirty="0">
                <a:solidFill>
                  <a:schemeClr val="tx1"/>
                </a:solidFill>
                <a:latin typeface="+mj-lt"/>
                <a:cs typeface="Arial" panose="020B0604020202020204" pitchFamily="34" charset="0"/>
              </a:rPr>
              <a:t>: Based on evaluation in FY2022-23, DISCOM to be eligible for:</a:t>
            </a:r>
          </a:p>
          <a:p>
            <a:pPr marL="742950" lvl="1" indent="-285750">
              <a:spcBef>
                <a:spcPts val="300"/>
              </a:spcBef>
              <a:spcAft>
                <a:spcPts val="300"/>
              </a:spcAft>
              <a:buFont typeface="Wingdings" panose="05000000000000000000" pitchFamily="2" charset="2"/>
              <a:buChar char="§"/>
            </a:pPr>
            <a:r>
              <a:rPr lang="en-US" sz="1200" dirty="0">
                <a:solidFill>
                  <a:schemeClr val="tx1"/>
                </a:solidFill>
                <a:latin typeface="+mj-lt"/>
                <a:cs typeface="Arial" panose="020B0604020202020204" pitchFamily="34" charset="0"/>
              </a:rPr>
              <a:t>30%</a:t>
            </a:r>
            <a:r>
              <a:rPr lang="en-US" sz="1200" dirty="0">
                <a:solidFill>
                  <a:srgbClr val="C00000"/>
                </a:solidFill>
                <a:latin typeface="+mj-lt"/>
                <a:cs typeface="Arial" panose="020B0604020202020204" pitchFamily="34" charset="0"/>
              </a:rPr>
              <a:t> </a:t>
            </a:r>
            <a:r>
              <a:rPr lang="en-US" sz="1200" dirty="0">
                <a:solidFill>
                  <a:schemeClr val="tx1"/>
                </a:solidFill>
                <a:latin typeface="+mj-lt"/>
                <a:cs typeface="Arial" panose="020B0604020202020204" pitchFamily="34" charset="0"/>
              </a:rPr>
              <a:t>funding against DPR Part I</a:t>
            </a:r>
          </a:p>
          <a:p>
            <a:pPr marL="742950" lvl="1" indent="-285750">
              <a:spcBef>
                <a:spcPts val="300"/>
              </a:spcBef>
              <a:spcAft>
                <a:spcPts val="300"/>
              </a:spcAft>
              <a:buFont typeface="Wingdings" panose="05000000000000000000" pitchFamily="2" charset="2"/>
              <a:buChar char="§"/>
            </a:pPr>
            <a:r>
              <a:rPr lang="en-US" sz="1200" dirty="0">
                <a:solidFill>
                  <a:schemeClr val="tx1"/>
                </a:solidFill>
                <a:latin typeface="+mj-lt"/>
                <a:cs typeface="Arial" panose="020B0604020202020204" pitchFamily="34" charset="0"/>
              </a:rPr>
              <a:t>30% funding against DPR Part II (10% advance on sanction and 20% on award)</a:t>
            </a:r>
          </a:p>
          <a:p>
            <a:pPr marL="285750" indent="-285750">
              <a:spcBef>
                <a:spcPts val="300"/>
              </a:spcBef>
              <a:spcAft>
                <a:spcPts val="300"/>
              </a:spcAft>
              <a:buFont typeface="Arial" panose="020B0604020202020204" pitchFamily="34" charset="0"/>
              <a:buChar char="•"/>
            </a:pPr>
            <a:r>
              <a:rPr lang="en-US" sz="1200" b="1" dirty="0">
                <a:solidFill>
                  <a:schemeClr val="tx1"/>
                </a:solidFill>
                <a:latin typeface="+mj-lt"/>
                <a:cs typeface="Arial" panose="020B0604020202020204" pitchFamily="34" charset="0"/>
              </a:rPr>
              <a:t>Phase III</a:t>
            </a:r>
            <a:r>
              <a:rPr lang="en-US" sz="1200" dirty="0">
                <a:solidFill>
                  <a:schemeClr val="tx1"/>
                </a:solidFill>
                <a:latin typeface="+mj-lt"/>
                <a:cs typeface="Arial" panose="020B0604020202020204" pitchFamily="34" charset="0"/>
              </a:rPr>
              <a:t>: Based on evaluation in FY2023-24, DISCOM to be eligible for:</a:t>
            </a:r>
          </a:p>
          <a:p>
            <a:pPr marL="742950" lvl="1" indent="-285750">
              <a:spcBef>
                <a:spcPts val="300"/>
              </a:spcBef>
              <a:spcAft>
                <a:spcPts val="300"/>
              </a:spcAft>
              <a:buFont typeface="Wingdings" panose="05000000000000000000" pitchFamily="2" charset="2"/>
              <a:buChar char="§"/>
            </a:pPr>
            <a:r>
              <a:rPr lang="en-US" sz="1200" dirty="0">
                <a:solidFill>
                  <a:schemeClr val="tx1"/>
                </a:solidFill>
                <a:latin typeface="+mj-lt"/>
                <a:cs typeface="Arial" panose="020B0604020202020204" pitchFamily="34" charset="0"/>
              </a:rPr>
              <a:t>60% of project cost against DPR Part I and II</a:t>
            </a:r>
          </a:p>
          <a:p>
            <a:pPr marL="285750" indent="-285750">
              <a:spcBef>
                <a:spcPts val="300"/>
              </a:spcBef>
              <a:spcAft>
                <a:spcPts val="300"/>
              </a:spcAft>
              <a:buFont typeface="Arial" panose="020B0604020202020204" pitchFamily="34" charset="0"/>
              <a:buChar char="•"/>
            </a:pPr>
            <a:r>
              <a:rPr lang="en-US" sz="1200" b="1" dirty="0">
                <a:solidFill>
                  <a:schemeClr val="tx1"/>
                </a:solidFill>
                <a:latin typeface="+mj-lt"/>
                <a:cs typeface="Arial" panose="020B0604020202020204" pitchFamily="34" charset="0"/>
              </a:rPr>
              <a:t>Phase IV</a:t>
            </a:r>
            <a:r>
              <a:rPr lang="en-US" sz="1200" dirty="0">
                <a:solidFill>
                  <a:schemeClr val="tx1"/>
                </a:solidFill>
                <a:latin typeface="+mj-lt"/>
                <a:cs typeface="Arial" panose="020B0604020202020204" pitchFamily="34" charset="0"/>
              </a:rPr>
              <a:t>: Based on DISCOM evaluation in FY2024-25, DISCOM to be eligible for</a:t>
            </a:r>
          </a:p>
          <a:p>
            <a:pPr marL="742950" lvl="1" indent="-285750">
              <a:spcBef>
                <a:spcPts val="300"/>
              </a:spcBef>
              <a:spcAft>
                <a:spcPts val="300"/>
              </a:spcAft>
              <a:buFont typeface="Wingdings" panose="05000000000000000000" pitchFamily="2" charset="2"/>
              <a:buChar char="§"/>
            </a:pPr>
            <a:r>
              <a:rPr lang="en-US" sz="1200" dirty="0">
                <a:solidFill>
                  <a:schemeClr val="tx1"/>
                </a:solidFill>
                <a:latin typeface="+mj-lt"/>
                <a:cs typeface="Arial" panose="020B0604020202020204" pitchFamily="34" charset="0"/>
              </a:rPr>
              <a:t>100% of project cost against DPR Part I and II</a:t>
            </a:r>
          </a:p>
        </p:txBody>
      </p:sp>
      <p:sp>
        <p:nvSpPr>
          <p:cNvPr id="11" name="Rectangle 10">
            <a:extLst>
              <a:ext uri="{FF2B5EF4-FFF2-40B4-BE49-F238E27FC236}">
                <a16:creationId xmlns:a16="http://schemas.microsoft.com/office/drawing/2014/main" id="{51D11A75-B34D-473D-A68C-58B01C178041}"/>
              </a:ext>
            </a:extLst>
          </p:cNvPr>
          <p:cNvSpPr/>
          <p:nvPr/>
        </p:nvSpPr>
        <p:spPr>
          <a:xfrm>
            <a:off x="4437828" y="1126854"/>
            <a:ext cx="7221942" cy="322309"/>
          </a:xfrm>
          <a:prstGeom prst="rect">
            <a:avLst/>
          </a:prstGeom>
          <a:solidFill>
            <a:srgbClr val="A5A5A5"/>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200"/>
              </a:spcBef>
              <a:spcAft>
                <a:spcPts val="200"/>
              </a:spcAft>
            </a:pPr>
            <a:r>
              <a:rPr lang="en-US" sz="1200" b="1" dirty="0">
                <a:solidFill>
                  <a:schemeClr val="tx1"/>
                </a:solidFill>
                <a:latin typeface="+mj-lt"/>
                <a:cs typeface="Arial" panose="020B0604020202020204" pitchFamily="34" charset="0"/>
              </a:rPr>
              <a:t>Distribution Infrastructure works</a:t>
            </a:r>
            <a:endParaRPr lang="en-US" sz="1200" i="1" dirty="0">
              <a:solidFill>
                <a:schemeClr val="tx1"/>
              </a:solidFill>
              <a:latin typeface="+mj-lt"/>
              <a:cs typeface="Arial" panose="020B0604020202020204" pitchFamily="34" charset="0"/>
            </a:endParaRPr>
          </a:p>
        </p:txBody>
      </p:sp>
      <p:sp>
        <p:nvSpPr>
          <p:cNvPr id="12" name="Freeform 1126">
            <a:extLst>
              <a:ext uri="{FF2B5EF4-FFF2-40B4-BE49-F238E27FC236}">
                <a16:creationId xmlns:a16="http://schemas.microsoft.com/office/drawing/2014/main" id="{78E3AAA7-C9E7-43E8-8CA2-696F9945BA7A}"/>
              </a:ext>
            </a:extLst>
          </p:cNvPr>
          <p:cNvSpPr>
            <a:spLocks/>
          </p:cNvSpPr>
          <p:nvPr/>
        </p:nvSpPr>
        <p:spPr bwMode="auto">
          <a:xfrm>
            <a:off x="356114" y="4644000"/>
            <a:ext cx="11303656" cy="1710000"/>
          </a:xfrm>
          <a:prstGeom prst="roundRect">
            <a:avLst>
              <a:gd name="adj" fmla="val 6979"/>
            </a:avLst>
          </a:prstGeom>
          <a:solidFill>
            <a:schemeClr val="bg1">
              <a:lumMod val="95000"/>
            </a:schemeClr>
          </a:solidFill>
          <a:ln/>
        </p:spPr>
        <p:style>
          <a:lnRef idx="1">
            <a:schemeClr val="accent1"/>
          </a:lnRef>
          <a:fillRef idx="2">
            <a:schemeClr val="accent1"/>
          </a:fillRef>
          <a:effectRef idx="1">
            <a:schemeClr val="accent1"/>
          </a:effectRef>
          <a:fontRef idx="minor">
            <a:schemeClr val="dk1"/>
          </a:fontRef>
        </p:style>
        <p:txBody>
          <a:bodyPr lIns="90000" rIns="540000"/>
          <a:lstStyle/>
          <a:p>
            <a:pPr marL="457200" indent="-457200" fontAlgn="t">
              <a:spcBef>
                <a:spcPts val="300"/>
              </a:spcBef>
              <a:spcAft>
                <a:spcPts val="300"/>
              </a:spcAft>
              <a:buFont typeface="Arial" panose="020B0604020202020204" pitchFamily="34" charset="0"/>
              <a:buChar char="•"/>
            </a:pPr>
            <a:r>
              <a:rPr lang="en-US" sz="1200" dirty="0">
                <a:latin typeface="+mj-lt"/>
                <a:cs typeface="Arial" panose="020B0604020202020204" pitchFamily="34" charset="0"/>
              </a:rPr>
              <a:t>For Distribution infra works, disbursement is subject to DISCOM qualification based on Action Plan submitted and the Result Evaluation Matrix</a:t>
            </a:r>
          </a:p>
          <a:p>
            <a:pPr marL="457200" indent="-457200" fontAlgn="t">
              <a:spcBef>
                <a:spcPts val="300"/>
              </a:spcBef>
              <a:spcAft>
                <a:spcPts val="300"/>
              </a:spcAft>
              <a:buFont typeface="Arial" panose="020B0604020202020204" pitchFamily="34" charset="0"/>
              <a:buChar char="•"/>
            </a:pPr>
            <a:r>
              <a:rPr lang="en-US" sz="1200" dirty="0">
                <a:latin typeface="+mj-lt"/>
                <a:cs typeface="Arial" panose="020B0604020202020204" pitchFamily="34" charset="0"/>
              </a:rPr>
              <a:t>If a DISCOM is unable to get any fund released by FY26, the initial advance of 10% will have to be refunded</a:t>
            </a:r>
          </a:p>
          <a:p>
            <a:pPr marL="457200" indent="-457200" fontAlgn="t">
              <a:spcBef>
                <a:spcPts val="300"/>
              </a:spcBef>
              <a:spcAft>
                <a:spcPts val="300"/>
              </a:spcAft>
              <a:buFont typeface="Arial" panose="020B0604020202020204" pitchFamily="34" charset="0"/>
              <a:buChar char="•"/>
            </a:pPr>
            <a:r>
              <a:rPr lang="en-US" sz="1200" dirty="0">
                <a:latin typeface="+mj-lt"/>
                <a:cs typeface="Arial" panose="020B0604020202020204" pitchFamily="34" charset="0"/>
              </a:rPr>
              <a:t>If a DISCOM achieves the targets as per Action Plan of any previous FY in a subsequent year, then it shall be eligible for release pertaining to that FY</a:t>
            </a:r>
          </a:p>
          <a:p>
            <a:pPr marL="457200" indent="-457200" fontAlgn="t">
              <a:spcBef>
                <a:spcPts val="300"/>
              </a:spcBef>
              <a:spcAft>
                <a:spcPts val="300"/>
              </a:spcAft>
              <a:buFont typeface="Arial" panose="020B0604020202020204" pitchFamily="34" charset="0"/>
              <a:buChar char="•"/>
            </a:pPr>
            <a:r>
              <a:rPr lang="en-US" sz="1200" dirty="0">
                <a:latin typeface="+mj-lt"/>
                <a:cs typeface="Arial" panose="020B0604020202020204" pitchFamily="34" charset="0"/>
              </a:rPr>
              <a:t>PMA grant shall be based on sanction or award cost (whichever is lower) in March every year – 10% as advance in sanction year, 30% annually for each subsequent year subject to utilization certificates for previous year</a:t>
            </a:r>
          </a:p>
        </p:txBody>
      </p:sp>
    </p:spTree>
    <p:extLst>
      <p:ext uri="{BB962C8B-B14F-4D97-AF65-F5344CB8AC3E}">
        <p14:creationId xmlns:p14="http://schemas.microsoft.com/office/powerpoint/2010/main" val="3530355135"/>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9B3C1F-D0AC-415E-A2A5-DDB26F280EC3}"/>
              </a:ext>
            </a:extLst>
          </p:cNvPr>
          <p:cNvSpPr>
            <a:spLocks noGrp="1"/>
          </p:cNvSpPr>
          <p:nvPr>
            <p:ph type="title"/>
          </p:nvPr>
        </p:nvSpPr>
        <p:spPr>
          <a:xfrm>
            <a:off x="501652" y="317500"/>
            <a:ext cx="11180232" cy="432513"/>
          </a:xfrm>
        </p:spPr>
        <p:txBody>
          <a:bodyPr/>
          <a:lstStyle/>
          <a:p>
            <a:r>
              <a:rPr lang="en-US" sz="1800" b="1" dirty="0"/>
              <a:t>Key Business Targets to be met under RDSS Scheme</a:t>
            </a:r>
          </a:p>
        </p:txBody>
      </p:sp>
      <p:graphicFrame>
        <p:nvGraphicFramePr>
          <p:cNvPr id="60" name="Content Placeholder 3">
            <a:extLst>
              <a:ext uri="{FF2B5EF4-FFF2-40B4-BE49-F238E27FC236}">
                <a16:creationId xmlns:a16="http://schemas.microsoft.com/office/drawing/2014/main" id="{51DFCD20-9EB1-4693-8CD4-697CCEB2A9FF}"/>
              </a:ext>
            </a:extLst>
          </p:cNvPr>
          <p:cNvGraphicFramePr>
            <a:graphicFrameLocks/>
          </p:cNvGraphicFramePr>
          <p:nvPr>
            <p:extLst>
              <p:ext uri="{D42A27DB-BD31-4B8C-83A1-F6EECF244321}">
                <p14:modId xmlns:p14="http://schemas.microsoft.com/office/powerpoint/2010/main" val="47978766"/>
              </p:ext>
            </p:extLst>
          </p:nvPr>
        </p:nvGraphicFramePr>
        <p:xfrm>
          <a:off x="5829300" y="988547"/>
          <a:ext cx="5648325" cy="439907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1" name="Content Placeholder 3">
            <a:extLst>
              <a:ext uri="{FF2B5EF4-FFF2-40B4-BE49-F238E27FC236}">
                <a16:creationId xmlns:a16="http://schemas.microsoft.com/office/drawing/2014/main" id="{3346943C-EA61-4642-A7EE-2766C2B69334}"/>
              </a:ext>
            </a:extLst>
          </p:cNvPr>
          <p:cNvGraphicFramePr>
            <a:graphicFrameLocks noGrp="1"/>
          </p:cNvGraphicFramePr>
          <p:nvPr>
            <p:ph idx="1"/>
          </p:nvPr>
        </p:nvGraphicFramePr>
        <p:xfrm>
          <a:off x="793448" y="1016001"/>
          <a:ext cx="4750102" cy="4399070"/>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B266C54B-6499-4C68-AF27-FCFE67E39849}"/>
              </a:ext>
            </a:extLst>
          </p:cNvPr>
          <p:cNvSpPr txBox="1"/>
          <p:nvPr/>
        </p:nvSpPr>
        <p:spPr>
          <a:xfrm>
            <a:off x="1078787" y="5784351"/>
            <a:ext cx="10048125" cy="430887"/>
          </a:xfrm>
          <a:prstGeom prst="rect">
            <a:avLst/>
          </a:prstGeom>
          <a:solidFill>
            <a:schemeClr val="accent2">
              <a:lumMod val="20000"/>
              <a:lumOff val="80000"/>
            </a:schemeClr>
          </a:solidFill>
        </p:spPr>
        <p:txBody>
          <a:bodyPr wrap="square" lIns="0" tIns="0" rIns="0" bIns="0" rtlCol="0">
            <a:spAutoFit/>
          </a:bodyPr>
          <a:lstStyle/>
          <a:p>
            <a:pPr algn="ctr">
              <a:spcBef>
                <a:spcPts val="600"/>
              </a:spcBef>
              <a:buSzPct val="100000"/>
            </a:pPr>
            <a:r>
              <a:rPr lang="en-US" sz="1400" b="1" dirty="0">
                <a:solidFill>
                  <a:srgbClr val="313131"/>
                </a:solidFill>
              </a:rPr>
              <a:t>As per the target set in RDSS proposal, the ACS- ARR gap projected to be “Zero” by FY 2024-25, whereas AT&amp;C Loss level estimated to be reduced by ~ 7% in five years period</a:t>
            </a:r>
          </a:p>
        </p:txBody>
      </p:sp>
    </p:spTree>
    <p:extLst>
      <p:ext uri="{BB962C8B-B14F-4D97-AF65-F5344CB8AC3E}">
        <p14:creationId xmlns:p14="http://schemas.microsoft.com/office/powerpoint/2010/main" val="2347809252"/>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5416"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0" y="300772"/>
            <a:ext cx="11188700" cy="368299"/>
          </a:xfrm>
        </p:spPr>
        <p:txBody>
          <a:bodyPr vert="horz"/>
          <a:lstStyle/>
          <a:p>
            <a:pPr algn="just"/>
            <a:r>
              <a:rPr lang="en-US" sz="1800" b="1" i="0" dirty="0">
                <a:solidFill>
                  <a:schemeClr val="tx1"/>
                </a:solidFill>
              </a:rPr>
              <a:t>Distribution’s Modernization &amp; Loss Reduction Investments under RDSS</a:t>
            </a:r>
          </a:p>
        </p:txBody>
      </p:sp>
      <p:sp>
        <p:nvSpPr>
          <p:cNvPr id="16" name="Freeform: Shape 15">
            <a:extLst>
              <a:ext uri="{FF2B5EF4-FFF2-40B4-BE49-F238E27FC236}">
                <a16:creationId xmlns:a16="http://schemas.microsoft.com/office/drawing/2014/main" id="{3FFDE148-05B9-4C8D-8DA6-28620F0D4ED6}"/>
              </a:ext>
            </a:extLst>
          </p:cNvPr>
          <p:cNvSpPr/>
          <p:nvPr/>
        </p:nvSpPr>
        <p:spPr bwMode="gray">
          <a:xfrm>
            <a:off x="6779491" y="998451"/>
            <a:ext cx="4036171" cy="1828800"/>
          </a:xfrm>
          <a:custGeom>
            <a:avLst/>
            <a:gdLst>
              <a:gd name="connsiteX0" fmla="*/ 0 w 4036171"/>
              <a:gd name="connsiteY0" fmla="*/ 1828800 h 1828800"/>
              <a:gd name="connsiteX1" fmla="*/ 3768436 w 4036171"/>
              <a:gd name="connsiteY1" fmla="*/ 1154545 h 1828800"/>
              <a:gd name="connsiteX2" fmla="*/ 3703782 w 4036171"/>
              <a:gd name="connsiteY2" fmla="*/ 628073 h 1828800"/>
              <a:gd name="connsiteX3" fmla="*/ 3500582 w 4036171"/>
              <a:gd name="connsiteY3" fmla="*/ 1209964 h 1828800"/>
              <a:gd name="connsiteX4" fmla="*/ 3500582 w 4036171"/>
              <a:gd name="connsiteY4" fmla="*/ 1209964 h 1828800"/>
              <a:gd name="connsiteX5" fmla="*/ 3463636 w 4036171"/>
              <a:gd name="connsiteY5" fmla="*/ 0 h 1828800"/>
              <a:gd name="connsiteX6" fmla="*/ 3463636 w 4036171"/>
              <a:gd name="connsiteY6"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36171" h="1828800">
                <a:moveTo>
                  <a:pt x="0" y="1828800"/>
                </a:moveTo>
                <a:cubicBezTo>
                  <a:pt x="1575569" y="1591733"/>
                  <a:pt x="3151139" y="1354666"/>
                  <a:pt x="3768436" y="1154545"/>
                </a:cubicBezTo>
                <a:cubicBezTo>
                  <a:pt x="4385733" y="954424"/>
                  <a:pt x="3748424" y="618837"/>
                  <a:pt x="3703782" y="628073"/>
                </a:cubicBezTo>
                <a:cubicBezTo>
                  <a:pt x="3659140" y="637309"/>
                  <a:pt x="3500582" y="1209964"/>
                  <a:pt x="3500582" y="1209964"/>
                </a:cubicBezTo>
                <a:lnTo>
                  <a:pt x="3500582" y="1209964"/>
                </a:lnTo>
                <a:lnTo>
                  <a:pt x="3463636" y="0"/>
                </a:lnTo>
                <a:lnTo>
                  <a:pt x="3463636" y="0"/>
                </a:lnTo>
              </a:path>
            </a:pathLst>
          </a:custGeom>
          <a:noFill/>
          <a:ln w="19050" algn="ctr">
            <a:noFill/>
            <a:miter lim="800000"/>
            <a:headEnd/>
            <a:tailEnd/>
          </a:ln>
        </p:spPr>
        <p:txBody>
          <a:bodyPr rtlCol="0" anchor="ctr"/>
          <a:lstStyle/>
          <a:p>
            <a:pPr algn="ctr"/>
            <a:endParaRPr lang="en-US"/>
          </a:p>
        </p:txBody>
      </p:sp>
      <p:sp>
        <p:nvSpPr>
          <p:cNvPr id="2" name="Rectangle: Rounded Corners 1">
            <a:extLst>
              <a:ext uri="{FF2B5EF4-FFF2-40B4-BE49-F238E27FC236}">
                <a16:creationId xmlns:a16="http://schemas.microsoft.com/office/drawing/2014/main" id="{86B73679-81FE-4726-A950-89E6A2FEDAA8}"/>
              </a:ext>
            </a:extLst>
          </p:cNvPr>
          <p:cNvSpPr/>
          <p:nvPr/>
        </p:nvSpPr>
        <p:spPr bwMode="gray">
          <a:xfrm>
            <a:off x="501650" y="5982978"/>
            <a:ext cx="11188700" cy="565078"/>
          </a:xfrm>
          <a:prstGeom prst="roundRect">
            <a:avLst/>
          </a:prstGeom>
          <a:solidFill>
            <a:schemeClr val="bg1">
              <a:lumMod val="75000"/>
            </a:schemeClr>
          </a:solidFill>
          <a:ln w="19050" algn="ctr">
            <a:solidFill>
              <a:schemeClr val="accent3"/>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noProof="0" dirty="0"/>
              <a:t>Additionally, 400-500 Crores of Investment will be required for transitioning the OH network in Siliguri to a complete Under Ground network</a:t>
            </a:r>
          </a:p>
        </p:txBody>
      </p:sp>
      <p:graphicFrame>
        <p:nvGraphicFramePr>
          <p:cNvPr id="3" name="Table 2">
            <a:extLst>
              <a:ext uri="{FF2B5EF4-FFF2-40B4-BE49-F238E27FC236}">
                <a16:creationId xmlns:a16="http://schemas.microsoft.com/office/drawing/2014/main" id="{F6DA30EB-365D-41F9-A8F5-938F158C4B52}"/>
              </a:ext>
            </a:extLst>
          </p:cNvPr>
          <p:cNvGraphicFramePr>
            <a:graphicFrameLocks noGrp="1"/>
          </p:cNvGraphicFramePr>
          <p:nvPr>
            <p:extLst>
              <p:ext uri="{D42A27DB-BD31-4B8C-83A1-F6EECF244321}">
                <p14:modId xmlns:p14="http://schemas.microsoft.com/office/powerpoint/2010/main" val="4031206802"/>
              </p:ext>
            </p:extLst>
          </p:nvPr>
        </p:nvGraphicFramePr>
        <p:xfrm>
          <a:off x="501651" y="838200"/>
          <a:ext cx="11188700" cy="4582882"/>
        </p:xfrm>
        <a:graphic>
          <a:graphicData uri="http://schemas.openxmlformats.org/drawingml/2006/table">
            <a:tbl>
              <a:tblPr>
                <a:tableStyleId>{7E9639D4-E3E2-4D34-9284-5A2195B3D0D7}</a:tableStyleId>
              </a:tblPr>
              <a:tblGrid>
                <a:gridCol w="805966">
                  <a:extLst>
                    <a:ext uri="{9D8B030D-6E8A-4147-A177-3AD203B41FA5}">
                      <a16:colId xmlns:a16="http://schemas.microsoft.com/office/drawing/2014/main" val="1773678486"/>
                    </a:ext>
                  </a:extLst>
                </a:gridCol>
                <a:gridCol w="8296706">
                  <a:extLst>
                    <a:ext uri="{9D8B030D-6E8A-4147-A177-3AD203B41FA5}">
                      <a16:colId xmlns:a16="http://schemas.microsoft.com/office/drawing/2014/main" val="3702605199"/>
                    </a:ext>
                  </a:extLst>
                </a:gridCol>
                <a:gridCol w="2086028">
                  <a:extLst>
                    <a:ext uri="{9D8B030D-6E8A-4147-A177-3AD203B41FA5}">
                      <a16:colId xmlns:a16="http://schemas.microsoft.com/office/drawing/2014/main" val="2465726309"/>
                    </a:ext>
                  </a:extLst>
                </a:gridCol>
              </a:tblGrid>
              <a:tr h="916578">
                <a:tc>
                  <a:txBody>
                    <a:bodyPr/>
                    <a:lstStyle/>
                    <a:p>
                      <a:pPr algn="ctr" fontAlgn="ctr"/>
                      <a:r>
                        <a:rPr lang="en-US" sz="1400" b="1" u="none" strike="noStrike" dirty="0">
                          <a:solidFill>
                            <a:schemeClr val="bg1"/>
                          </a:solidFill>
                          <a:effectLst/>
                        </a:rPr>
                        <a:t>Sr. No.</a:t>
                      </a:r>
                      <a:endParaRPr lang="en-US" sz="1400" b="1" i="0" u="none" strike="noStrike" dirty="0">
                        <a:solidFill>
                          <a:schemeClr val="bg1"/>
                        </a:solidFill>
                        <a:effectLst/>
                        <a:latin typeface="Calisto MT" panose="02040603050505030304" pitchFamily="18" charset="0"/>
                      </a:endParaRPr>
                    </a:p>
                  </a:txBody>
                  <a:tcPr marT="6350" marB="0" anchor="ctr">
                    <a:solidFill>
                      <a:schemeClr val="accent5"/>
                    </a:solidFill>
                  </a:tcPr>
                </a:tc>
                <a:tc>
                  <a:txBody>
                    <a:bodyPr/>
                    <a:lstStyle/>
                    <a:p>
                      <a:pPr algn="ctr" fontAlgn="ctr"/>
                      <a:r>
                        <a:rPr lang="en-US" sz="1400" b="1" u="none" strike="noStrike" dirty="0">
                          <a:solidFill>
                            <a:schemeClr val="bg1"/>
                          </a:solidFill>
                          <a:effectLst/>
                        </a:rPr>
                        <a:t>WORK DESCRIPTION</a:t>
                      </a:r>
                      <a:endParaRPr lang="en-US" sz="1400" b="1" i="0" u="none" strike="noStrike" dirty="0">
                        <a:solidFill>
                          <a:schemeClr val="bg1"/>
                        </a:solidFill>
                        <a:effectLst/>
                        <a:latin typeface="Calisto MT" panose="02040603050505030304" pitchFamily="18" charset="0"/>
                      </a:endParaRPr>
                    </a:p>
                  </a:txBody>
                  <a:tcPr marT="6350" marB="0" anchor="ctr">
                    <a:solidFill>
                      <a:schemeClr val="accent5"/>
                    </a:solidFill>
                  </a:tcPr>
                </a:tc>
                <a:tc>
                  <a:txBody>
                    <a:bodyPr/>
                    <a:lstStyle/>
                    <a:p>
                      <a:pPr algn="ctr" fontAlgn="ctr"/>
                      <a:r>
                        <a:rPr lang="en-US" sz="1400" b="1" u="none" strike="noStrike" dirty="0">
                          <a:solidFill>
                            <a:schemeClr val="bg1"/>
                          </a:solidFill>
                          <a:effectLst/>
                        </a:rPr>
                        <a:t>Total Outlay (in INR Cr.)</a:t>
                      </a:r>
                      <a:endParaRPr lang="en-US" sz="1400" b="1" i="0" u="none" strike="noStrike" dirty="0">
                        <a:solidFill>
                          <a:schemeClr val="bg1"/>
                        </a:solidFill>
                        <a:effectLst/>
                        <a:latin typeface="Calisto MT" panose="02040603050505030304" pitchFamily="18" charset="0"/>
                      </a:endParaRPr>
                    </a:p>
                  </a:txBody>
                  <a:tcPr marT="6350" marB="0" anchor="ctr">
                    <a:solidFill>
                      <a:schemeClr val="accent5"/>
                    </a:solidFill>
                  </a:tcPr>
                </a:tc>
                <a:extLst>
                  <a:ext uri="{0D108BD9-81ED-4DB2-BD59-A6C34878D82A}">
                    <a16:rowId xmlns:a16="http://schemas.microsoft.com/office/drawing/2014/main" val="467565195"/>
                  </a:ext>
                </a:extLst>
              </a:tr>
              <a:tr h="458288">
                <a:tc>
                  <a:txBody>
                    <a:bodyPr/>
                    <a:lstStyle/>
                    <a:p>
                      <a:pPr algn="ctr" fontAlgn="ctr"/>
                      <a:r>
                        <a:rPr lang="en-US" sz="1400" u="none" strike="noStrike">
                          <a:effectLst/>
                        </a:rPr>
                        <a:t>1</a:t>
                      </a:r>
                      <a:endParaRPr lang="en-US" sz="1400" b="0" i="0" u="none" strike="noStrike">
                        <a:solidFill>
                          <a:srgbClr val="000000"/>
                        </a:solidFill>
                        <a:effectLst/>
                        <a:latin typeface="Calisto MT" panose="02040603050505030304" pitchFamily="18" charset="0"/>
                      </a:endParaRPr>
                    </a:p>
                  </a:txBody>
                  <a:tcPr marT="6350" marB="0" anchor="ctr"/>
                </a:tc>
                <a:tc>
                  <a:txBody>
                    <a:bodyPr/>
                    <a:lstStyle/>
                    <a:p>
                      <a:pPr algn="l" fontAlgn="ctr"/>
                      <a:r>
                        <a:rPr lang="en-US" sz="1400" u="none" strike="noStrike" dirty="0">
                          <a:effectLst/>
                        </a:rPr>
                        <a:t>Distribution Infrastructure works for Loss Reduction</a:t>
                      </a:r>
                      <a:endParaRPr lang="en-US" sz="1400" b="0" i="0" u="none" strike="noStrike" dirty="0">
                        <a:solidFill>
                          <a:srgbClr val="000000"/>
                        </a:solidFill>
                        <a:effectLst/>
                        <a:latin typeface="Calisto MT" panose="02040603050505030304" pitchFamily="18" charset="0"/>
                      </a:endParaRPr>
                    </a:p>
                  </a:txBody>
                  <a:tcPr marT="6350" marB="0" anchor="ctr"/>
                </a:tc>
                <a:tc>
                  <a:txBody>
                    <a:bodyPr/>
                    <a:lstStyle/>
                    <a:p>
                      <a:pPr algn="ctr" fontAlgn="ctr"/>
                      <a:r>
                        <a:rPr lang="en-US" sz="1400" u="none" strike="noStrike" dirty="0">
                          <a:effectLst/>
                        </a:rPr>
                        <a:t>7384.97</a:t>
                      </a:r>
                      <a:endParaRPr lang="en-US" sz="1400" b="0" i="0" u="none" strike="noStrike" dirty="0">
                        <a:solidFill>
                          <a:srgbClr val="000000"/>
                        </a:solidFill>
                        <a:effectLst/>
                        <a:latin typeface="Calisto MT" panose="02040603050505030304" pitchFamily="18" charset="0"/>
                      </a:endParaRPr>
                    </a:p>
                  </a:txBody>
                  <a:tcPr marT="6350" marB="0" anchor="ctr"/>
                </a:tc>
                <a:extLst>
                  <a:ext uri="{0D108BD9-81ED-4DB2-BD59-A6C34878D82A}">
                    <a16:rowId xmlns:a16="http://schemas.microsoft.com/office/drawing/2014/main" val="2846819339"/>
                  </a:ext>
                </a:extLst>
              </a:tr>
              <a:tr h="458288">
                <a:tc>
                  <a:txBody>
                    <a:bodyPr/>
                    <a:lstStyle/>
                    <a:p>
                      <a:pPr algn="ctr" fontAlgn="ctr"/>
                      <a:r>
                        <a:rPr lang="en-US" sz="1400" u="none" strike="noStrike">
                          <a:effectLst/>
                        </a:rPr>
                        <a:t>2</a:t>
                      </a:r>
                      <a:endParaRPr lang="en-US" sz="1400" b="0" i="0" u="none" strike="noStrike">
                        <a:solidFill>
                          <a:srgbClr val="000000"/>
                        </a:solidFill>
                        <a:effectLst/>
                        <a:latin typeface="Calisto MT" panose="02040603050505030304" pitchFamily="18" charset="0"/>
                      </a:endParaRPr>
                    </a:p>
                  </a:txBody>
                  <a:tcPr marT="6350" marB="0" anchor="ctr"/>
                </a:tc>
                <a:tc>
                  <a:txBody>
                    <a:bodyPr/>
                    <a:lstStyle/>
                    <a:p>
                      <a:pPr algn="l" fontAlgn="ctr"/>
                      <a:r>
                        <a:rPr lang="en-US" sz="1400" u="none" strike="noStrike" dirty="0">
                          <a:effectLst/>
                        </a:rPr>
                        <a:t>Distribution Infrastructure works for </a:t>
                      </a:r>
                      <a:r>
                        <a:rPr lang="en-US" sz="1400" u="none" strike="noStrike" dirty="0" err="1">
                          <a:effectLst/>
                        </a:rPr>
                        <a:t>Modernisation</a:t>
                      </a:r>
                      <a:endParaRPr lang="en-US" sz="1400" b="0" i="0" u="none" strike="noStrike" dirty="0">
                        <a:solidFill>
                          <a:srgbClr val="000000"/>
                        </a:solidFill>
                        <a:effectLst/>
                        <a:latin typeface="Calisto MT" panose="02040603050505030304" pitchFamily="18" charset="0"/>
                      </a:endParaRPr>
                    </a:p>
                  </a:txBody>
                  <a:tcPr marT="6350" marB="0" anchor="ctr"/>
                </a:tc>
                <a:tc>
                  <a:txBody>
                    <a:bodyPr/>
                    <a:lstStyle/>
                    <a:p>
                      <a:pPr algn="ctr" fontAlgn="ctr"/>
                      <a:r>
                        <a:rPr lang="en-US" sz="1400" u="none" strike="noStrike" dirty="0">
                          <a:effectLst/>
                        </a:rPr>
                        <a:t>1914.34 </a:t>
                      </a:r>
                      <a:endParaRPr lang="en-US" sz="1400" b="0" i="0" u="none" strike="noStrike" dirty="0">
                        <a:solidFill>
                          <a:srgbClr val="000000"/>
                        </a:solidFill>
                        <a:effectLst/>
                        <a:latin typeface="Calisto MT" panose="02040603050505030304" pitchFamily="18" charset="0"/>
                      </a:endParaRPr>
                    </a:p>
                  </a:txBody>
                  <a:tcPr marT="6350" marB="0" anchor="ctr"/>
                </a:tc>
                <a:extLst>
                  <a:ext uri="{0D108BD9-81ED-4DB2-BD59-A6C34878D82A}">
                    <a16:rowId xmlns:a16="http://schemas.microsoft.com/office/drawing/2014/main" val="1571950277"/>
                  </a:ext>
                </a:extLst>
              </a:tr>
              <a:tr h="458288">
                <a:tc gridSpan="2">
                  <a:txBody>
                    <a:bodyPr/>
                    <a:lstStyle/>
                    <a:p>
                      <a:pPr algn="l" fontAlgn="ctr"/>
                      <a:r>
                        <a:rPr lang="en-US" sz="1400" b="1" u="none" strike="noStrike" dirty="0">
                          <a:effectLst/>
                        </a:rPr>
                        <a:t>Sub-Total For Distribution Infrastructure Work(Excluding PMA Charges)</a:t>
                      </a:r>
                      <a:endParaRPr lang="en-US" sz="1400" b="1" i="0" u="none" strike="noStrike" dirty="0">
                        <a:solidFill>
                          <a:srgbClr val="002060"/>
                        </a:solidFill>
                        <a:effectLst/>
                        <a:latin typeface="Calisto MT" panose="02040603050505030304" pitchFamily="18" charset="0"/>
                      </a:endParaRPr>
                    </a:p>
                  </a:txBody>
                  <a:tcPr marT="6350" marB="0" anchor="ctr">
                    <a:noFill/>
                  </a:tcPr>
                </a:tc>
                <a:tc hMerge="1">
                  <a:txBody>
                    <a:bodyPr/>
                    <a:lstStyle/>
                    <a:p>
                      <a:endParaRPr lang="en-US"/>
                    </a:p>
                  </a:txBody>
                  <a:tcPr/>
                </a:tc>
                <a:tc>
                  <a:txBody>
                    <a:bodyPr/>
                    <a:lstStyle/>
                    <a:p>
                      <a:pPr algn="ctr" fontAlgn="ctr"/>
                      <a:r>
                        <a:rPr lang="en-US" sz="1400" b="1" u="none" strike="noStrike" dirty="0">
                          <a:effectLst/>
                        </a:rPr>
                        <a:t>9299.31</a:t>
                      </a:r>
                      <a:endParaRPr lang="en-US" sz="1400" b="1" i="0" u="none" strike="noStrike" dirty="0">
                        <a:solidFill>
                          <a:srgbClr val="002060"/>
                        </a:solidFill>
                        <a:effectLst/>
                        <a:latin typeface="Calisto MT" panose="02040603050505030304" pitchFamily="18" charset="0"/>
                      </a:endParaRPr>
                    </a:p>
                  </a:txBody>
                  <a:tcPr marT="6350" marB="0" anchor="ctr">
                    <a:noFill/>
                  </a:tcPr>
                </a:tc>
                <a:extLst>
                  <a:ext uri="{0D108BD9-81ED-4DB2-BD59-A6C34878D82A}">
                    <a16:rowId xmlns:a16="http://schemas.microsoft.com/office/drawing/2014/main" val="1544186633"/>
                  </a:ext>
                </a:extLst>
              </a:tr>
              <a:tr h="458288">
                <a:tc gridSpan="2">
                  <a:txBody>
                    <a:bodyPr/>
                    <a:lstStyle/>
                    <a:p>
                      <a:pPr algn="l" fontAlgn="ctr"/>
                      <a:r>
                        <a:rPr lang="en-US" sz="1400" b="0" u="none" strike="noStrike" dirty="0">
                          <a:effectLst/>
                        </a:rPr>
                        <a:t>Sub-Total For Distribution Infrastructure Work(Including PMA Charges)</a:t>
                      </a:r>
                      <a:endParaRPr lang="en-US" sz="1400" b="0" i="0" u="none" strike="noStrike" dirty="0">
                        <a:solidFill>
                          <a:srgbClr val="000000"/>
                        </a:solidFill>
                        <a:effectLst/>
                        <a:latin typeface="Calisto MT" panose="02040603050505030304" pitchFamily="18" charset="0"/>
                      </a:endParaRPr>
                    </a:p>
                  </a:txBody>
                  <a:tcPr marT="6350" marB="0" anchor="ctr">
                    <a:noFill/>
                  </a:tcPr>
                </a:tc>
                <a:tc hMerge="1">
                  <a:txBody>
                    <a:bodyPr/>
                    <a:lstStyle/>
                    <a:p>
                      <a:endParaRPr lang="en-US"/>
                    </a:p>
                  </a:txBody>
                  <a:tcPr/>
                </a:tc>
                <a:tc>
                  <a:txBody>
                    <a:bodyPr/>
                    <a:lstStyle/>
                    <a:p>
                      <a:pPr algn="ctr" fontAlgn="ctr"/>
                      <a:r>
                        <a:rPr lang="en-US" sz="1400" b="0" u="none" strike="noStrike" dirty="0">
                          <a:effectLst/>
                        </a:rPr>
                        <a:t>9438.80 </a:t>
                      </a:r>
                      <a:endParaRPr lang="en-US" sz="1400" b="0" i="0" u="none" strike="noStrike" dirty="0">
                        <a:solidFill>
                          <a:srgbClr val="000000"/>
                        </a:solidFill>
                        <a:effectLst/>
                        <a:latin typeface="Calisto MT" panose="02040603050505030304" pitchFamily="18" charset="0"/>
                      </a:endParaRPr>
                    </a:p>
                  </a:txBody>
                  <a:tcPr marT="6350" marB="0" anchor="ctr">
                    <a:noFill/>
                  </a:tcPr>
                </a:tc>
                <a:extLst>
                  <a:ext uri="{0D108BD9-81ED-4DB2-BD59-A6C34878D82A}">
                    <a16:rowId xmlns:a16="http://schemas.microsoft.com/office/drawing/2014/main" val="555620234"/>
                  </a:ext>
                </a:extLst>
              </a:tr>
              <a:tr h="458288">
                <a:tc>
                  <a:txBody>
                    <a:bodyPr/>
                    <a:lstStyle/>
                    <a:p>
                      <a:pPr algn="ctr" fontAlgn="ctr"/>
                      <a:r>
                        <a:rPr lang="en-US" sz="1400" u="none" strike="noStrike">
                          <a:effectLst/>
                        </a:rPr>
                        <a:t>3</a:t>
                      </a:r>
                      <a:endParaRPr lang="en-US" sz="1400" b="0" i="0" u="none" strike="noStrike">
                        <a:solidFill>
                          <a:srgbClr val="000000"/>
                        </a:solidFill>
                        <a:effectLst/>
                        <a:latin typeface="Calisto MT" panose="02040603050505030304" pitchFamily="18" charset="0"/>
                      </a:endParaRPr>
                    </a:p>
                  </a:txBody>
                  <a:tcPr marT="6350" marB="0" anchor="ctr"/>
                </a:tc>
                <a:tc>
                  <a:txBody>
                    <a:bodyPr/>
                    <a:lstStyle/>
                    <a:p>
                      <a:pPr algn="l" fontAlgn="ctr"/>
                      <a:r>
                        <a:rPr lang="en-US" sz="1400" b="1" u="none" strike="noStrike" dirty="0">
                          <a:effectLst/>
                        </a:rPr>
                        <a:t>Metering Works(Excluding PMA Charges)</a:t>
                      </a:r>
                      <a:endParaRPr lang="en-US" sz="1400" b="1" i="0" u="none" strike="noStrike" dirty="0">
                        <a:solidFill>
                          <a:srgbClr val="000000"/>
                        </a:solidFill>
                        <a:effectLst/>
                        <a:latin typeface="Calisto MT" panose="02040603050505030304" pitchFamily="18" charset="0"/>
                      </a:endParaRPr>
                    </a:p>
                  </a:txBody>
                  <a:tcPr marT="6350" marB="0" anchor="ctr"/>
                </a:tc>
                <a:tc>
                  <a:txBody>
                    <a:bodyPr/>
                    <a:lstStyle/>
                    <a:p>
                      <a:pPr algn="ctr" fontAlgn="ctr"/>
                      <a:r>
                        <a:rPr lang="en-US" sz="1400" b="1" u="none" strike="noStrike" dirty="0">
                          <a:effectLst/>
                        </a:rPr>
                        <a:t>2933.25 </a:t>
                      </a:r>
                      <a:endParaRPr lang="en-US" sz="1400" b="1" i="0" u="none" strike="noStrike" dirty="0">
                        <a:solidFill>
                          <a:srgbClr val="000000"/>
                        </a:solidFill>
                        <a:effectLst/>
                        <a:latin typeface="Calisto MT" panose="02040603050505030304" pitchFamily="18" charset="0"/>
                      </a:endParaRPr>
                    </a:p>
                  </a:txBody>
                  <a:tcPr marT="6350" marB="0" anchor="ctr"/>
                </a:tc>
                <a:extLst>
                  <a:ext uri="{0D108BD9-81ED-4DB2-BD59-A6C34878D82A}">
                    <a16:rowId xmlns:a16="http://schemas.microsoft.com/office/drawing/2014/main" val="1720490826"/>
                  </a:ext>
                </a:extLst>
              </a:tr>
              <a:tr h="458288">
                <a:tc gridSpan="2">
                  <a:txBody>
                    <a:bodyPr/>
                    <a:lstStyle/>
                    <a:p>
                      <a:pPr algn="l" fontAlgn="ctr"/>
                      <a:r>
                        <a:rPr lang="en-US" sz="1400" u="none" strike="noStrike" dirty="0">
                          <a:effectLst/>
                        </a:rPr>
                        <a:t>Metering Works(Including PMA Charges)</a:t>
                      </a:r>
                      <a:endParaRPr lang="en-US" sz="1400" b="1" i="0" u="none" strike="noStrike" dirty="0">
                        <a:solidFill>
                          <a:srgbClr val="000000"/>
                        </a:solidFill>
                        <a:effectLst/>
                        <a:latin typeface="Calisto MT" panose="02040603050505030304" pitchFamily="18" charset="0"/>
                      </a:endParaRPr>
                    </a:p>
                  </a:txBody>
                  <a:tcPr marT="6350" marB="0" anchor="ctr"/>
                </a:tc>
                <a:tc hMerge="1">
                  <a:txBody>
                    <a:bodyPr/>
                    <a:lstStyle/>
                    <a:p>
                      <a:endParaRPr lang="en-US"/>
                    </a:p>
                  </a:txBody>
                  <a:tcPr/>
                </a:tc>
                <a:tc>
                  <a:txBody>
                    <a:bodyPr/>
                    <a:lstStyle/>
                    <a:p>
                      <a:pPr algn="ctr" fontAlgn="ctr"/>
                      <a:r>
                        <a:rPr lang="en-US" sz="1400" u="none" strike="noStrike" dirty="0">
                          <a:effectLst/>
                        </a:rPr>
                        <a:t>2944.25 </a:t>
                      </a:r>
                      <a:endParaRPr lang="en-US" sz="1400" b="1" i="0" u="none" strike="noStrike" dirty="0">
                        <a:solidFill>
                          <a:srgbClr val="000000"/>
                        </a:solidFill>
                        <a:effectLst/>
                        <a:latin typeface="Calisto MT" panose="02040603050505030304" pitchFamily="18" charset="0"/>
                      </a:endParaRPr>
                    </a:p>
                  </a:txBody>
                  <a:tcPr marT="6350" marB="0" anchor="ctr"/>
                </a:tc>
                <a:extLst>
                  <a:ext uri="{0D108BD9-81ED-4DB2-BD59-A6C34878D82A}">
                    <a16:rowId xmlns:a16="http://schemas.microsoft.com/office/drawing/2014/main" val="2038219225"/>
                  </a:ext>
                </a:extLst>
              </a:tr>
              <a:tr h="458288">
                <a:tc gridSpan="2">
                  <a:txBody>
                    <a:bodyPr/>
                    <a:lstStyle/>
                    <a:p>
                      <a:pPr algn="l" fontAlgn="ctr"/>
                      <a:r>
                        <a:rPr lang="en-US" sz="1400" b="1" u="none" strike="noStrike" dirty="0">
                          <a:effectLst/>
                        </a:rPr>
                        <a:t>Grand Total (Excluding PMA Charges)</a:t>
                      </a:r>
                      <a:endParaRPr lang="en-US" sz="1400" b="1" i="0" u="none" strike="noStrike" dirty="0">
                        <a:solidFill>
                          <a:srgbClr val="000000"/>
                        </a:solidFill>
                        <a:effectLst/>
                        <a:latin typeface="Calisto MT" panose="02040603050505030304" pitchFamily="18" charset="0"/>
                      </a:endParaRPr>
                    </a:p>
                  </a:txBody>
                  <a:tcPr marT="6350" marB="0" anchor="ctr"/>
                </a:tc>
                <a:tc hMerge="1">
                  <a:txBody>
                    <a:bodyPr/>
                    <a:lstStyle/>
                    <a:p>
                      <a:endParaRPr lang="en-US"/>
                    </a:p>
                  </a:txBody>
                  <a:tcPr/>
                </a:tc>
                <a:tc>
                  <a:txBody>
                    <a:bodyPr/>
                    <a:lstStyle/>
                    <a:p>
                      <a:pPr algn="ctr" fontAlgn="ctr"/>
                      <a:r>
                        <a:rPr lang="en-US" sz="1400" b="1" u="none" strike="noStrike" dirty="0">
                          <a:effectLst/>
                        </a:rPr>
                        <a:t>12232.56 </a:t>
                      </a:r>
                      <a:endParaRPr lang="en-US" sz="1400" b="1" i="0" u="none" strike="noStrike" dirty="0">
                        <a:solidFill>
                          <a:srgbClr val="000000"/>
                        </a:solidFill>
                        <a:effectLst/>
                        <a:latin typeface="Calisto MT" panose="02040603050505030304" pitchFamily="18" charset="0"/>
                      </a:endParaRPr>
                    </a:p>
                  </a:txBody>
                  <a:tcPr marT="6350" marB="0" anchor="ctr"/>
                </a:tc>
                <a:extLst>
                  <a:ext uri="{0D108BD9-81ED-4DB2-BD59-A6C34878D82A}">
                    <a16:rowId xmlns:a16="http://schemas.microsoft.com/office/drawing/2014/main" val="578368695"/>
                  </a:ext>
                </a:extLst>
              </a:tr>
              <a:tr h="458288">
                <a:tc gridSpan="2">
                  <a:txBody>
                    <a:bodyPr/>
                    <a:lstStyle/>
                    <a:p>
                      <a:pPr algn="l" fontAlgn="ctr"/>
                      <a:r>
                        <a:rPr lang="en-US" sz="1400" b="1" u="none" strike="noStrike" dirty="0">
                          <a:effectLst/>
                        </a:rPr>
                        <a:t>Grand Total (Including PMA Charges)</a:t>
                      </a:r>
                      <a:endParaRPr lang="en-US" sz="1400" b="1" i="0" u="none" strike="noStrike" dirty="0">
                        <a:solidFill>
                          <a:srgbClr val="000000"/>
                        </a:solidFill>
                        <a:effectLst/>
                        <a:latin typeface="Calisto MT" panose="02040603050505030304" pitchFamily="18" charset="0"/>
                      </a:endParaRPr>
                    </a:p>
                  </a:txBody>
                  <a:tcPr marT="6350" marB="0" anchor="ctr"/>
                </a:tc>
                <a:tc hMerge="1">
                  <a:txBody>
                    <a:bodyPr/>
                    <a:lstStyle/>
                    <a:p>
                      <a:endParaRPr lang="en-US"/>
                    </a:p>
                  </a:txBody>
                  <a:tcPr/>
                </a:tc>
                <a:tc>
                  <a:txBody>
                    <a:bodyPr/>
                    <a:lstStyle/>
                    <a:p>
                      <a:pPr algn="ctr" fontAlgn="ctr"/>
                      <a:r>
                        <a:rPr lang="en-US" sz="1400" b="1" u="none" strike="noStrike" dirty="0">
                          <a:effectLst/>
                        </a:rPr>
                        <a:t>12383.04</a:t>
                      </a:r>
                      <a:endParaRPr lang="en-US" sz="1400" b="1" i="0" u="none" strike="noStrike" dirty="0">
                        <a:solidFill>
                          <a:srgbClr val="000000"/>
                        </a:solidFill>
                        <a:effectLst/>
                        <a:latin typeface="Calisto MT" panose="02040603050505030304" pitchFamily="18" charset="0"/>
                      </a:endParaRPr>
                    </a:p>
                  </a:txBody>
                  <a:tcPr marT="6350" marB="0" anchor="ctr"/>
                </a:tc>
                <a:extLst>
                  <a:ext uri="{0D108BD9-81ED-4DB2-BD59-A6C34878D82A}">
                    <a16:rowId xmlns:a16="http://schemas.microsoft.com/office/drawing/2014/main" val="3575240380"/>
                  </a:ext>
                </a:extLst>
              </a:tr>
            </a:tbl>
          </a:graphicData>
        </a:graphic>
      </p:graphicFrame>
    </p:spTree>
    <p:extLst>
      <p:ext uri="{BB962C8B-B14F-4D97-AF65-F5344CB8AC3E}">
        <p14:creationId xmlns:p14="http://schemas.microsoft.com/office/powerpoint/2010/main" val="1168226093"/>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6440"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190199"/>
            <a:ext cx="11184826" cy="582791"/>
          </a:xfrm>
        </p:spPr>
        <p:txBody>
          <a:bodyPr vert="horz"/>
          <a:lstStyle/>
          <a:p>
            <a:pPr algn="just"/>
            <a:r>
              <a:rPr lang="en-US" sz="1800" b="1" dirty="0"/>
              <a:t>Financing Arrangement Proposed</a:t>
            </a:r>
            <a:endParaRPr lang="en-US" sz="1800" b="1" i="0" dirty="0">
              <a:solidFill>
                <a:schemeClr val="tx1"/>
              </a:solidFill>
            </a:endParaRPr>
          </a:p>
        </p:txBody>
      </p:sp>
      <p:graphicFrame>
        <p:nvGraphicFramePr>
          <p:cNvPr id="3" name="Table 2">
            <a:extLst>
              <a:ext uri="{FF2B5EF4-FFF2-40B4-BE49-F238E27FC236}">
                <a16:creationId xmlns:a16="http://schemas.microsoft.com/office/drawing/2014/main" id="{6E741D39-5AAA-425E-A1DF-DC74B0F8D0B8}"/>
              </a:ext>
            </a:extLst>
          </p:cNvPr>
          <p:cNvGraphicFramePr>
            <a:graphicFrameLocks noGrp="1"/>
          </p:cNvGraphicFramePr>
          <p:nvPr>
            <p:extLst>
              <p:ext uri="{D42A27DB-BD31-4B8C-83A1-F6EECF244321}">
                <p14:modId xmlns:p14="http://schemas.microsoft.com/office/powerpoint/2010/main" val="1976325524"/>
              </p:ext>
            </p:extLst>
          </p:nvPr>
        </p:nvGraphicFramePr>
        <p:xfrm>
          <a:off x="501649" y="905340"/>
          <a:ext cx="11188701" cy="4807092"/>
        </p:xfrm>
        <a:graphic>
          <a:graphicData uri="http://schemas.openxmlformats.org/drawingml/2006/table">
            <a:tbl>
              <a:tblPr firstRow="1" firstCol="1" bandRow="1"/>
              <a:tblGrid>
                <a:gridCol w="2666094">
                  <a:extLst>
                    <a:ext uri="{9D8B030D-6E8A-4147-A177-3AD203B41FA5}">
                      <a16:colId xmlns:a16="http://schemas.microsoft.com/office/drawing/2014/main" val="1608851962"/>
                    </a:ext>
                  </a:extLst>
                </a:gridCol>
                <a:gridCol w="2563984">
                  <a:extLst>
                    <a:ext uri="{9D8B030D-6E8A-4147-A177-3AD203B41FA5}">
                      <a16:colId xmlns:a16="http://schemas.microsoft.com/office/drawing/2014/main" val="2318967229"/>
                    </a:ext>
                  </a:extLst>
                </a:gridCol>
                <a:gridCol w="1521828">
                  <a:extLst>
                    <a:ext uri="{9D8B030D-6E8A-4147-A177-3AD203B41FA5}">
                      <a16:colId xmlns:a16="http://schemas.microsoft.com/office/drawing/2014/main" val="2265038608"/>
                    </a:ext>
                  </a:extLst>
                </a:gridCol>
                <a:gridCol w="1520331">
                  <a:extLst>
                    <a:ext uri="{9D8B030D-6E8A-4147-A177-3AD203B41FA5}">
                      <a16:colId xmlns:a16="http://schemas.microsoft.com/office/drawing/2014/main" val="792205820"/>
                    </a:ext>
                  </a:extLst>
                </a:gridCol>
                <a:gridCol w="1419416">
                  <a:extLst>
                    <a:ext uri="{9D8B030D-6E8A-4147-A177-3AD203B41FA5}">
                      <a16:colId xmlns:a16="http://schemas.microsoft.com/office/drawing/2014/main" val="145092274"/>
                    </a:ext>
                  </a:extLst>
                </a:gridCol>
                <a:gridCol w="1497048">
                  <a:extLst>
                    <a:ext uri="{9D8B030D-6E8A-4147-A177-3AD203B41FA5}">
                      <a16:colId xmlns:a16="http://schemas.microsoft.com/office/drawing/2014/main" val="2432030610"/>
                    </a:ext>
                  </a:extLst>
                </a:gridCol>
              </a:tblGrid>
              <a:tr h="2111871">
                <a:tc>
                  <a:txBody>
                    <a:bodyPr/>
                    <a:lstStyle/>
                    <a:p>
                      <a:pPr marL="0" marR="0" algn="ctr">
                        <a:spcBef>
                          <a:spcPts val="0"/>
                        </a:spcBef>
                        <a:spcAft>
                          <a:spcPts val="0"/>
                        </a:spcAft>
                      </a:pPr>
                      <a:r>
                        <a:rPr lang="en-US" sz="1400" b="1" dirty="0">
                          <a:solidFill>
                            <a:schemeClr val="bg1"/>
                          </a:solidFill>
                          <a:effectLst/>
                          <a:latin typeface="Verdana (Body)"/>
                          <a:ea typeface="Times New Roman" panose="02020603050405020304" pitchFamily="18" charset="0"/>
                          <a:cs typeface="Libre Franklin Thin" pitchFamily="2" charset="0"/>
                        </a:rPr>
                        <a:t>Targeted </a:t>
                      </a:r>
                      <a:br>
                        <a:rPr lang="en-US" sz="1400" b="1" dirty="0">
                          <a:solidFill>
                            <a:schemeClr val="bg1"/>
                          </a:solidFill>
                          <a:effectLst/>
                          <a:latin typeface="Verdana (Body)"/>
                          <a:ea typeface="Times New Roman" panose="02020603050405020304" pitchFamily="18" charset="0"/>
                          <a:cs typeface="Libre Franklin Thin" pitchFamily="2" charset="0"/>
                        </a:rPr>
                      </a:br>
                      <a:r>
                        <a:rPr lang="en-US" sz="1400" b="1" dirty="0">
                          <a:solidFill>
                            <a:schemeClr val="bg1"/>
                          </a:solidFill>
                          <a:effectLst/>
                          <a:latin typeface="Verdana (Body)"/>
                          <a:ea typeface="Times New Roman" panose="02020603050405020304" pitchFamily="18" charset="0"/>
                          <a:cs typeface="Libre Franklin Thin" pitchFamily="2" charset="0"/>
                        </a:rPr>
                        <a:t>Interventions Under </a:t>
                      </a:r>
                      <a:br>
                        <a:rPr lang="en-US" sz="1400" b="1" dirty="0">
                          <a:solidFill>
                            <a:schemeClr val="bg1"/>
                          </a:solidFill>
                          <a:effectLst/>
                          <a:latin typeface="Verdana (Body)"/>
                          <a:ea typeface="Times New Roman" panose="02020603050405020304" pitchFamily="18" charset="0"/>
                          <a:cs typeface="Libre Franklin Thin" pitchFamily="2" charset="0"/>
                        </a:rPr>
                      </a:br>
                      <a:r>
                        <a:rPr lang="en-US" sz="1400" b="1" dirty="0">
                          <a:solidFill>
                            <a:schemeClr val="bg1"/>
                          </a:solidFill>
                          <a:effectLst/>
                          <a:latin typeface="Verdana (Body)"/>
                          <a:ea typeface="Times New Roman" panose="02020603050405020304" pitchFamily="18" charset="0"/>
                          <a:cs typeface="Libre Franklin Thin" pitchFamily="2" charset="0"/>
                        </a:rPr>
                        <a:t>RDSS_WB </a:t>
                      </a:r>
                    </a:p>
                    <a:p>
                      <a:pPr marL="0" marR="0" algn="ctr">
                        <a:spcBef>
                          <a:spcPts val="0"/>
                        </a:spcBef>
                        <a:spcAft>
                          <a:spcPts val="0"/>
                        </a:spcAft>
                      </a:pPr>
                      <a:r>
                        <a:rPr lang="en-US" sz="1400" b="1" dirty="0">
                          <a:solidFill>
                            <a:schemeClr val="bg1"/>
                          </a:solidFill>
                          <a:effectLst/>
                          <a:latin typeface="Verdana (Body)"/>
                          <a:ea typeface="Times New Roman" panose="02020603050405020304" pitchFamily="18" charset="0"/>
                          <a:cs typeface="Libre Franklin Thin" pitchFamily="2" charset="0"/>
                        </a:rPr>
                        <a:t>(In Rs. Crore)</a:t>
                      </a:r>
                      <a:endParaRPr lang="en-US" sz="1400" dirty="0">
                        <a:solidFill>
                          <a:schemeClr val="bg1"/>
                        </a:solidFill>
                        <a:effectLst/>
                        <a:latin typeface="Verdana (Body)"/>
                        <a:ea typeface="Libre Franklin Thin" pitchFamily="2" charset="0"/>
                        <a:cs typeface="Libre Franklin Thin" pitchFamily="2" charset="0"/>
                      </a:endParaRPr>
                    </a:p>
                  </a:txBody>
                  <a:tcPr marL="68580" marR="68580" marT="0" marB="0" anchor="ctr">
                    <a:lnL w="12700" cap="flat" cmpd="sng" algn="ctr">
                      <a:solidFill>
                        <a:srgbClr val="5B9BD5"/>
                      </a:solidFill>
                      <a:prstDash val="solid"/>
                      <a:round/>
                      <a:headEnd type="none" w="med" len="med"/>
                      <a:tailEnd type="none" w="med" len="med"/>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7680"/>
                    </a:solidFill>
                  </a:tcPr>
                </a:tc>
                <a:tc>
                  <a:txBody>
                    <a:bodyPr/>
                    <a:lstStyle/>
                    <a:p>
                      <a:pPr marL="0" marR="0" algn="ctr">
                        <a:spcBef>
                          <a:spcPts val="0"/>
                        </a:spcBef>
                        <a:spcAft>
                          <a:spcPts val="0"/>
                        </a:spcAft>
                      </a:pPr>
                      <a:r>
                        <a:rPr lang="en-US" sz="1400" b="1" dirty="0">
                          <a:solidFill>
                            <a:schemeClr val="bg1"/>
                          </a:solidFill>
                          <a:effectLst/>
                          <a:latin typeface="Verdana (Body)"/>
                          <a:ea typeface="Times New Roman" panose="02020603050405020304" pitchFamily="18" charset="0"/>
                          <a:cs typeface="Libre Franklin Thin" pitchFamily="2" charset="0"/>
                        </a:rPr>
                        <a:t>GBS</a:t>
                      </a:r>
                      <a:br>
                        <a:rPr lang="en-US" sz="1400" b="1" dirty="0">
                          <a:solidFill>
                            <a:schemeClr val="bg1"/>
                          </a:solidFill>
                          <a:effectLst/>
                          <a:latin typeface="Verdana (Body)"/>
                          <a:ea typeface="Times New Roman" panose="02020603050405020304" pitchFamily="18" charset="0"/>
                          <a:cs typeface="Libre Franklin Thin" pitchFamily="2" charset="0"/>
                        </a:rPr>
                      </a:br>
                      <a:r>
                        <a:rPr lang="en-US" sz="1400" b="1" dirty="0">
                          <a:solidFill>
                            <a:schemeClr val="bg1"/>
                          </a:solidFill>
                          <a:effectLst/>
                          <a:latin typeface="Verdana (Body)"/>
                          <a:ea typeface="Times New Roman" panose="02020603050405020304" pitchFamily="18" charset="0"/>
                          <a:cs typeface="Libre Franklin Thin" pitchFamily="2" charset="0"/>
                        </a:rPr>
                        <a:t>[For Metering Work</a:t>
                      </a:r>
                      <a:br>
                        <a:rPr lang="en-US" sz="1400" b="1" dirty="0">
                          <a:solidFill>
                            <a:schemeClr val="bg1"/>
                          </a:solidFill>
                          <a:effectLst/>
                          <a:latin typeface="Verdana (Body)"/>
                          <a:ea typeface="Times New Roman" panose="02020603050405020304" pitchFamily="18" charset="0"/>
                          <a:cs typeface="Libre Franklin Thin" pitchFamily="2" charset="0"/>
                        </a:rPr>
                      </a:br>
                      <a:r>
                        <a:rPr lang="en-US" sz="1400" b="1" dirty="0">
                          <a:solidFill>
                            <a:schemeClr val="bg1"/>
                          </a:solidFill>
                          <a:effectLst/>
                          <a:latin typeface="Verdana (Body)"/>
                          <a:ea typeface="Times New Roman" panose="02020603050405020304" pitchFamily="18" charset="0"/>
                          <a:cs typeface="Libre Franklin Thin" pitchFamily="2" charset="0"/>
                        </a:rPr>
                        <a:t>(15% of  the approved cost, not more than Rs. 900/meter for consumer metering only) And 60% For Distribution  Infrastructure  works ]</a:t>
                      </a:r>
                      <a:endParaRPr lang="en-US" sz="1400" dirty="0">
                        <a:solidFill>
                          <a:schemeClr val="bg1"/>
                        </a:solidFill>
                        <a:effectLst/>
                        <a:latin typeface="Verdana (Body)"/>
                        <a:ea typeface="Libre Franklin Thin" pitchFamily="2" charset="0"/>
                        <a:cs typeface="Libre Franklin Thin" pitchFamily="2" charset="0"/>
                      </a:endParaRPr>
                    </a:p>
                  </a:txBody>
                  <a:tcPr marL="68580" marR="68580"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7680"/>
                    </a:solidFill>
                  </a:tcPr>
                </a:tc>
                <a:tc>
                  <a:txBody>
                    <a:bodyPr/>
                    <a:lstStyle/>
                    <a:p>
                      <a:pPr marL="0" marR="0" algn="ctr">
                        <a:spcBef>
                          <a:spcPts val="0"/>
                        </a:spcBef>
                        <a:spcAft>
                          <a:spcPts val="0"/>
                        </a:spcAft>
                      </a:pPr>
                      <a:r>
                        <a:rPr lang="en-US" sz="1400" b="1" dirty="0">
                          <a:solidFill>
                            <a:schemeClr val="bg1"/>
                          </a:solidFill>
                          <a:effectLst/>
                          <a:latin typeface="Verdana (Body)"/>
                          <a:ea typeface="Times New Roman" panose="02020603050405020304" pitchFamily="18" charset="0"/>
                          <a:cs typeface="Libre Franklin Thin" pitchFamily="2" charset="0"/>
                        </a:rPr>
                        <a:t>Counterpart Fund </a:t>
                      </a:r>
                      <a:br>
                        <a:rPr lang="en-US" sz="1400" b="1" dirty="0">
                          <a:solidFill>
                            <a:schemeClr val="bg1"/>
                          </a:solidFill>
                          <a:effectLst/>
                          <a:latin typeface="Verdana (Body)"/>
                          <a:ea typeface="Times New Roman" panose="02020603050405020304" pitchFamily="18" charset="0"/>
                          <a:cs typeface="Libre Franklin Thin" pitchFamily="2" charset="0"/>
                        </a:rPr>
                      </a:br>
                      <a:r>
                        <a:rPr lang="en-US" sz="1400" b="1" dirty="0">
                          <a:solidFill>
                            <a:schemeClr val="bg1"/>
                          </a:solidFill>
                          <a:effectLst/>
                          <a:latin typeface="Verdana (Body)"/>
                          <a:ea typeface="Times New Roman" panose="02020603050405020304" pitchFamily="18" charset="0"/>
                          <a:cs typeface="Libre Franklin Thin" pitchFamily="2" charset="0"/>
                        </a:rPr>
                        <a:t>(Will be provided by State Govt.)</a:t>
                      </a:r>
                      <a:endParaRPr lang="en-US" sz="1400" dirty="0">
                        <a:solidFill>
                          <a:schemeClr val="bg1"/>
                        </a:solidFill>
                        <a:effectLst/>
                        <a:latin typeface="Verdana (Body)"/>
                        <a:ea typeface="Libre Franklin Thin" pitchFamily="2" charset="0"/>
                        <a:cs typeface="Libre Franklin Thin" pitchFamily="2" charset="0"/>
                      </a:endParaRPr>
                    </a:p>
                  </a:txBody>
                  <a:tcPr marL="68580" marR="68580"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7680"/>
                    </a:solidFill>
                  </a:tcPr>
                </a:tc>
                <a:tc>
                  <a:txBody>
                    <a:bodyPr/>
                    <a:lstStyle/>
                    <a:p>
                      <a:pPr marL="0" marR="0" algn="ctr">
                        <a:spcBef>
                          <a:spcPts val="0"/>
                        </a:spcBef>
                        <a:spcAft>
                          <a:spcPts val="0"/>
                        </a:spcAft>
                      </a:pPr>
                      <a:r>
                        <a:rPr lang="en-US" sz="1400" b="1" dirty="0">
                          <a:solidFill>
                            <a:schemeClr val="bg1"/>
                          </a:solidFill>
                          <a:effectLst/>
                          <a:latin typeface="Verdana (Body)"/>
                          <a:ea typeface="Times New Roman" panose="02020603050405020304" pitchFamily="18" charset="0"/>
                          <a:cs typeface="Libre Franklin Thin" pitchFamily="2" charset="0"/>
                        </a:rPr>
                        <a:t>Counterpart Fund </a:t>
                      </a:r>
                      <a:br>
                        <a:rPr lang="en-US" sz="1400" b="1" dirty="0">
                          <a:solidFill>
                            <a:schemeClr val="bg1"/>
                          </a:solidFill>
                          <a:effectLst/>
                          <a:latin typeface="Verdana (Body)"/>
                          <a:ea typeface="Times New Roman" panose="02020603050405020304" pitchFamily="18" charset="0"/>
                          <a:cs typeface="Libre Franklin Thin" pitchFamily="2" charset="0"/>
                        </a:rPr>
                      </a:br>
                      <a:r>
                        <a:rPr lang="en-US" sz="1400" b="1" dirty="0">
                          <a:solidFill>
                            <a:schemeClr val="bg1"/>
                          </a:solidFill>
                          <a:effectLst/>
                          <a:latin typeface="Verdana (Body)"/>
                          <a:ea typeface="Times New Roman" panose="02020603050405020304" pitchFamily="18" charset="0"/>
                          <a:cs typeface="Libre Franklin Thin" pitchFamily="2" charset="0"/>
                        </a:rPr>
                        <a:t>(Loan From ADB.)</a:t>
                      </a:r>
                      <a:endParaRPr lang="en-US" sz="1400" dirty="0">
                        <a:solidFill>
                          <a:schemeClr val="bg1"/>
                        </a:solidFill>
                        <a:effectLst/>
                        <a:latin typeface="Verdana (Body)"/>
                        <a:ea typeface="Libre Franklin Thin" pitchFamily="2" charset="0"/>
                        <a:cs typeface="Libre Franklin Thin" pitchFamily="2" charset="0"/>
                      </a:endParaRPr>
                    </a:p>
                  </a:txBody>
                  <a:tcPr marL="68580" marR="68580"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7680"/>
                    </a:solidFill>
                  </a:tcPr>
                </a:tc>
                <a:tc>
                  <a:txBody>
                    <a:bodyPr/>
                    <a:lstStyle/>
                    <a:p>
                      <a:pPr marL="0" marR="0" algn="ctr">
                        <a:spcBef>
                          <a:spcPts val="0"/>
                        </a:spcBef>
                        <a:spcAft>
                          <a:spcPts val="0"/>
                        </a:spcAft>
                      </a:pPr>
                      <a:r>
                        <a:rPr lang="en-US" sz="1400" b="1" dirty="0">
                          <a:solidFill>
                            <a:schemeClr val="bg1"/>
                          </a:solidFill>
                          <a:effectLst/>
                          <a:latin typeface="Verdana (Body)"/>
                          <a:ea typeface="Times New Roman" panose="02020603050405020304" pitchFamily="18" charset="0"/>
                          <a:cs typeface="Libre Franklin Thin" pitchFamily="2" charset="0"/>
                        </a:rPr>
                        <a:t>Counterpart Fund </a:t>
                      </a:r>
                      <a:br>
                        <a:rPr lang="en-US" sz="1400" b="1" dirty="0">
                          <a:solidFill>
                            <a:schemeClr val="bg1"/>
                          </a:solidFill>
                          <a:effectLst/>
                          <a:latin typeface="Verdana (Body)"/>
                          <a:ea typeface="Times New Roman" panose="02020603050405020304" pitchFamily="18" charset="0"/>
                          <a:cs typeface="Libre Franklin Thin" pitchFamily="2" charset="0"/>
                        </a:rPr>
                      </a:br>
                      <a:r>
                        <a:rPr lang="en-US" sz="1400" b="1" dirty="0">
                          <a:solidFill>
                            <a:schemeClr val="bg1"/>
                          </a:solidFill>
                          <a:effectLst/>
                          <a:latin typeface="Verdana (Body)"/>
                          <a:ea typeface="Times New Roman" panose="02020603050405020304" pitchFamily="18" charset="0"/>
                          <a:cs typeface="Libre Franklin Thin" pitchFamily="2" charset="0"/>
                        </a:rPr>
                        <a:t>(Will be provided by WBSEDCL)</a:t>
                      </a:r>
                      <a:endParaRPr lang="en-US" sz="1400" dirty="0">
                        <a:solidFill>
                          <a:schemeClr val="bg1"/>
                        </a:solidFill>
                        <a:effectLst/>
                        <a:latin typeface="Verdana (Body)"/>
                        <a:ea typeface="Libre Franklin Thin" pitchFamily="2" charset="0"/>
                        <a:cs typeface="Libre Franklin Thin" pitchFamily="2" charset="0"/>
                      </a:endParaRPr>
                    </a:p>
                  </a:txBody>
                  <a:tcPr marL="68580" marR="68580"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7680"/>
                    </a:solidFill>
                  </a:tcPr>
                </a:tc>
                <a:tc>
                  <a:txBody>
                    <a:bodyPr/>
                    <a:lstStyle/>
                    <a:p>
                      <a:pPr marL="0" marR="0" algn="ctr">
                        <a:spcBef>
                          <a:spcPts val="0"/>
                        </a:spcBef>
                        <a:spcAft>
                          <a:spcPts val="0"/>
                        </a:spcAft>
                      </a:pPr>
                      <a:r>
                        <a:rPr lang="en-US" sz="1400" b="1" dirty="0">
                          <a:solidFill>
                            <a:schemeClr val="bg1"/>
                          </a:solidFill>
                          <a:effectLst/>
                          <a:latin typeface="Verdana (Body)"/>
                          <a:ea typeface="Times New Roman" panose="02020603050405020304" pitchFamily="18" charset="0"/>
                          <a:cs typeface="Libre Franklin Thin" pitchFamily="2" charset="0"/>
                        </a:rPr>
                        <a:t>Total Cost Incl. PMA Grant</a:t>
                      </a:r>
                      <a:endParaRPr lang="en-US" sz="1400" dirty="0">
                        <a:solidFill>
                          <a:schemeClr val="bg1"/>
                        </a:solidFill>
                        <a:effectLst/>
                        <a:latin typeface="Verdana (Body)"/>
                        <a:ea typeface="Libre Franklin Thin" pitchFamily="2" charset="0"/>
                        <a:cs typeface="Libre Franklin Thin" pitchFamily="2" charset="0"/>
                      </a:endParaRPr>
                    </a:p>
                  </a:txBody>
                  <a:tcPr marL="68580" marR="68580" marT="0" marB="0" anchor="ctr">
                    <a:lnL>
                      <a:noFill/>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7680"/>
                    </a:solidFill>
                  </a:tcPr>
                </a:tc>
                <a:extLst>
                  <a:ext uri="{0D108BD9-81ED-4DB2-BD59-A6C34878D82A}">
                    <a16:rowId xmlns:a16="http://schemas.microsoft.com/office/drawing/2014/main" val="3777144004"/>
                  </a:ext>
                </a:extLst>
              </a:tr>
              <a:tr h="562925">
                <a:tc>
                  <a:txBody>
                    <a:bodyPr/>
                    <a:lstStyle/>
                    <a:p>
                      <a:pPr marL="0" marR="0" algn="l">
                        <a:spcBef>
                          <a:spcPts val="0"/>
                        </a:spcBef>
                        <a:spcAft>
                          <a:spcPts val="0"/>
                        </a:spcAft>
                      </a:pPr>
                      <a:r>
                        <a:rPr lang="en-US" sz="1400" b="0" dirty="0">
                          <a:solidFill>
                            <a:srgbClr val="000000"/>
                          </a:solidFill>
                          <a:effectLst/>
                          <a:latin typeface="Verdana (Body)"/>
                          <a:ea typeface="Times New Roman" panose="02020603050405020304" pitchFamily="18" charset="0"/>
                          <a:cs typeface="Libre Franklin Thin" pitchFamily="2" charset="0"/>
                        </a:rPr>
                        <a:t>Metering works Incl. PMA grant</a:t>
                      </a:r>
                      <a:endParaRPr lang="en-US" sz="1400" b="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400" b="0" dirty="0">
                          <a:solidFill>
                            <a:srgbClr val="000000"/>
                          </a:solidFill>
                          <a:effectLst/>
                          <a:latin typeface="Verdana (Body)"/>
                          <a:ea typeface="Times New Roman" panose="02020603050405020304" pitchFamily="18" charset="0"/>
                          <a:cs typeface="Libre Franklin Thin" pitchFamily="2" charset="0"/>
                        </a:rPr>
                        <a:t>450.99</a:t>
                      </a:r>
                      <a:endParaRPr lang="en-US" sz="1400" b="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400" b="0" dirty="0">
                          <a:solidFill>
                            <a:srgbClr val="000000"/>
                          </a:solidFill>
                          <a:effectLst/>
                          <a:latin typeface="Verdana (Body)"/>
                          <a:ea typeface="Times New Roman" panose="02020603050405020304" pitchFamily="18" charset="0"/>
                          <a:cs typeface="Libre Franklin Thin" pitchFamily="2" charset="0"/>
                        </a:rPr>
                        <a:t>450.99 </a:t>
                      </a:r>
                      <a:endParaRPr lang="en-US" sz="1400" b="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400" b="0" dirty="0">
                          <a:solidFill>
                            <a:srgbClr val="000000"/>
                          </a:solidFill>
                          <a:effectLst/>
                          <a:latin typeface="Verdana (Body)"/>
                          <a:ea typeface="Times New Roman" panose="02020603050405020304" pitchFamily="18" charset="0"/>
                          <a:cs typeface="Libre Franklin Thin" pitchFamily="2" charset="0"/>
                        </a:rPr>
                        <a:t>-</a:t>
                      </a:r>
                      <a:endParaRPr lang="en-US" sz="1400" b="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400" b="0" dirty="0">
                          <a:solidFill>
                            <a:srgbClr val="000000"/>
                          </a:solidFill>
                          <a:effectLst/>
                          <a:latin typeface="Verdana (Body)"/>
                          <a:ea typeface="Times New Roman" panose="02020603050405020304" pitchFamily="18" charset="0"/>
                          <a:cs typeface="Libre Franklin Thin" pitchFamily="2" charset="0"/>
                        </a:rPr>
                        <a:t>2042.27 </a:t>
                      </a:r>
                      <a:endParaRPr lang="en-US" sz="1400" b="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r">
                        <a:spcBef>
                          <a:spcPts val="0"/>
                        </a:spcBef>
                        <a:spcAft>
                          <a:spcPts val="0"/>
                        </a:spcAft>
                      </a:pPr>
                      <a:r>
                        <a:rPr lang="en-US" sz="1400" b="1" dirty="0">
                          <a:solidFill>
                            <a:srgbClr val="000000"/>
                          </a:solidFill>
                          <a:effectLst/>
                          <a:latin typeface="Verdana (Body)"/>
                          <a:ea typeface="Times New Roman" panose="02020603050405020304" pitchFamily="18" charset="0"/>
                          <a:cs typeface="Libre Franklin Thin" pitchFamily="2" charset="0"/>
                        </a:rPr>
                        <a:t>2944.25 </a:t>
                      </a:r>
                      <a:endParaRPr lang="en-US" sz="140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1821318746"/>
                  </a:ext>
                </a:extLst>
              </a:tr>
              <a:tr h="938610">
                <a:tc>
                  <a:txBody>
                    <a:bodyPr/>
                    <a:lstStyle/>
                    <a:p>
                      <a:pPr marL="0" marR="0" algn="l">
                        <a:spcBef>
                          <a:spcPts val="0"/>
                        </a:spcBef>
                        <a:spcAft>
                          <a:spcPts val="0"/>
                        </a:spcAft>
                      </a:pPr>
                      <a:r>
                        <a:rPr lang="en-US" sz="1400" b="0" dirty="0">
                          <a:solidFill>
                            <a:srgbClr val="000000"/>
                          </a:solidFill>
                          <a:effectLst/>
                          <a:latin typeface="Verdana (Body)"/>
                          <a:ea typeface="Times New Roman" panose="02020603050405020304" pitchFamily="18" charset="0"/>
                          <a:cs typeface="Libre Franklin Thin" pitchFamily="2" charset="0"/>
                        </a:rPr>
                        <a:t>Distribution Infrastructure works for Loss Reduction Incl. PMA grant</a:t>
                      </a:r>
                      <a:endParaRPr lang="en-US" sz="1400" b="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400" b="0" dirty="0">
                          <a:solidFill>
                            <a:srgbClr val="000000"/>
                          </a:solidFill>
                          <a:effectLst/>
                          <a:latin typeface="Verdana (Body)"/>
                          <a:ea typeface="Times New Roman" panose="02020603050405020304" pitchFamily="18" charset="0"/>
                          <a:cs typeface="Libre Franklin Thin" pitchFamily="2" charset="0"/>
                        </a:rPr>
                        <a:t>3420.00 </a:t>
                      </a:r>
                      <a:endParaRPr lang="en-US" sz="1400" b="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400" b="0" dirty="0">
                          <a:solidFill>
                            <a:srgbClr val="000000"/>
                          </a:solidFill>
                          <a:effectLst/>
                          <a:latin typeface="Verdana (Body)"/>
                          <a:ea typeface="Times New Roman" panose="02020603050405020304" pitchFamily="18" charset="0"/>
                          <a:cs typeface="Libre Franklin Thin" pitchFamily="2" charset="0"/>
                        </a:rPr>
                        <a:t>1036.65 </a:t>
                      </a:r>
                      <a:endParaRPr lang="en-US" sz="1400" b="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400" b="0" dirty="0">
                          <a:solidFill>
                            <a:srgbClr val="000000"/>
                          </a:solidFill>
                          <a:effectLst/>
                          <a:latin typeface="Verdana (Body)"/>
                          <a:ea typeface="Times New Roman" panose="02020603050405020304" pitchFamily="18" charset="0"/>
                          <a:cs typeface="Libre Franklin Thin" pitchFamily="2" charset="0"/>
                        </a:rPr>
                        <a:t>3039.10 </a:t>
                      </a:r>
                      <a:endParaRPr lang="en-US" sz="1400" b="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400" b="0" dirty="0">
                          <a:solidFill>
                            <a:srgbClr val="000000"/>
                          </a:solidFill>
                          <a:effectLst/>
                          <a:latin typeface="Verdana (Body)"/>
                          <a:ea typeface="Times New Roman" panose="02020603050405020304" pitchFamily="18" charset="0"/>
                          <a:cs typeface="Libre Franklin Thin" pitchFamily="2" charset="0"/>
                        </a:rPr>
                        <a:t>0.00 </a:t>
                      </a:r>
                      <a:endParaRPr lang="en-US" sz="1400" b="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r">
                        <a:spcBef>
                          <a:spcPts val="0"/>
                        </a:spcBef>
                        <a:spcAft>
                          <a:spcPts val="0"/>
                        </a:spcAft>
                      </a:pPr>
                      <a:r>
                        <a:rPr lang="en-US" sz="1400" b="1" dirty="0">
                          <a:solidFill>
                            <a:srgbClr val="000000"/>
                          </a:solidFill>
                          <a:effectLst/>
                          <a:latin typeface="Verdana (Body)"/>
                          <a:ea typeface="Times New Roman" panose="02020603050405020304" pitchFamily="18" charset="0"/>
                          <a:cs typeface="Libre Franklin Thin" pitchFamily="2" charset="0"/>
                        </a:rPr>
                        <a:t>7495.75 </a:t>
                      </a:r>
                      <a:endParaRPr lang="en-US" sz="140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490008134"/>
                  </a:ext>
                </a:extLst>
              </a:tr>
              <a:tr h="938610">
                <a:tc>
                  <a:txBody>
                    <a:bodyPr/>
                    <a:lstStyle/>
                    <a:p>
                      <a:pPr marL="0" marR="0" algn="l">
                        <a:spcBef>
                          <a:spcPts val="0"/>
                        </a:spcBef>
                        <a:spcAft>
                          <a:spcPts val="0"/>
                        </a:spcAft>
                      </a:pPr>
                      <a:r>
                        <a:rPr lang="en-US" sz="1400" b="0" dirty="0">
                          <a:solidFill>
                            <a:srgbClr val="000000"/>
                          </a:solidFill>
                          <a:effectLst/>
                          <a:latin typeface="Verdana (Body)"/>
                          <a:ea typeface="Times New Roman" panose="02020603050405020304" pitchFamily="18" charset="0"/>
                          <a:cs typeface="Libre Franklin Thin" pitchFamily="2" charset="0"/>
                        </a:rPr>
                        <a:t>Distribution Infrastructure works for Modernization Incl. PMA grant</a:t>
                      </a:r>
                      <a:endParaRPr lang="en-US" sz="1400" b="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400" b="0" dirty="0">
                          <a:solidFill>
                            <a:srgbClr val="000000"/>
                          </a:solidFill>
                          <a:effectLst/>
                          <a:latin typeface="Verdana (Body)"/>
                          <a:ea typeface="Times New Roman" panose="02020603050405020304" pitchFamily="18" charset="0"/>
                          <a:cs typeface="Libre Franklin Thin" pitchFamily="2" charset="0"/>
                        </a:rPr>
                        <a:t>868.80 </a:t>
                      </a:r>
                      <a:endParaRPr lang="en-US" sz="1400" b="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400" b="0" dirty="0">
                          <a:solidFill>
                            <a:srgbClr val="000000"/>
                          </a:solidFill>
                          <a:effectLst/>
                          <a:latin typeface="Verdana (Body)"/>
                          <a:ea typeface="Times New Roman" panose="02020603050405020304" pitchFamily="18" charset="0"/>
                          <a:cs typeface="Libre Franklin Thin" pitchFamily="2" charset="0"/>
                        </a:rPr>
                        <a:t>263.35</a:t>
                      </a:r>
                      <a:endParaRPr lang="en-US" sz="1400" b="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400" b="0" dirty="0">
                          <a:solidFill>
                            <a:srgbClr val="000000"/>
                          </a:solidFill>
                          <a:effectLst/>
                          <a:latin typeface="Verdana (Body)"/>
                          <a:ea typeface="Times New Roman" panose="02020603050405020304" pitchFamily="18" charset="0"/>
                          <a:cs typeface="Libre Franklin Thin" pitchFamily="2" charset="0"/>
                        </a:rPr>
                        <a:t>810.90</a:t>
                      </a:r>
                      <a:endParaRPr lang="en-US" sz="1400" b="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400" b="0" dirty="0">
                          <a:solidFill>
                            <a:srgbClr val="000000"/>
                          </a:solidFill>
                          <a:effectLst/>
                          <a:latin typeface="Verdana (Body)"/>
                          <a:ea typeface="Times New Roman" panose="02020603050405020304" pitchFamily="18" charset="0"/>
                          <a:cs typeface="Libre Franklin Thin" pitchFamily="2" charset="0"/>
                        </a:rPr>
                        <a:t>0.00</a:t>
                      </a:r>
                      <a:endParaRPr lang="en-US" sz="1400" b="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r">
                        <a:spcBef>
                          <a:spcPts val="0"/>
                        </a:spcBef>
                        <a:spcAft>
                          <a:spcPts val="0"/>
                        </a:spcAft>
                      </a:pPr>
                      <a:r>
                        <a:rPr lang="en-US" sz="1400" b="1" dirty="0">
                          <a:solidFill>
                            <a:srgbClr val="000000"/>
                          </a:solidFill>
                          <a:effectLst/>
                          <a:latin typeface="Verdana (Body)"/>
                          <a:ea typeface="Times New Roman" panose="02020603050405020304" pitchFamily="18" charset="0"/>
                          <a:cs typeface="Libre Franklin Thin" pitchFamily="2" charset="0"/>
                        </a:rPr>
                        <a:t>1943.05</a:t>
                      </a:r>
                      <a:endParaRPr lang="en-US" sz="140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3968422350"/>
                  </a:ext>
                </a:extLst>
              </a:tr>
              <a:tr h="255076">
                <a:tc>
                  <a:txBody>
                    <a:bodyPr/>
                    <a:lstStyle/>
                    <a:p>
                      <a:pPr marL="0" marR="0" algn="ctr">
                        <a:spcBef>
                          <a:spcPts val="0"/>
                        </a:spcBef>
                        <a:spcAft>
                          <a:spcPts val="0"/>
                        </a:spcAft>
                      </a:pPr>
                      <a:r>
                        <a:rPr lang="en-US" sz="1400" b="1" dirty="0">
                          <a:solidFill>
                            <a:srgbClr val="000000"/>
                          </a:solidFill>
                          <a:effectLst/>
                          <a:latin typeface="Verdana (Body)"/>
                          <a:ea typeface="Times New Roman" panose="02020603050405020304" pitchFamily="18" charset="0"/>
                          <a:cs typeface="Libre Franklin Thin" pitchFamily="2" charset="0"/>
                        </a:rPr>
                        <a:t>TOTAL</a:t>
                      </a:r>
                      <a:endParaRPr lang="en-US" sz="140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400" b="1" dirty="0">
                          <a:solidFill>
                            <a:srgbClr val="000000"/>
                          </a:solidFill>
                          <a:effectLst/>
                          <a:latin typeface="Verdana (Body)"/>
                          <a:ea typeface="Times New Roman" panose="02020603050405020304" pitchFamily="18" charset="0"/>
                          <a:cs typeface="Libre Franklin Thin" pitchFamily="2" charset="0"/>
                        </a:rPr>
                        <a:t>4739.79 </a:t>
                      </a:r>
                      <a:endParaRPr lang="en-US" sz="140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400" b="1" dirty="0">
                          <a:solidFill>
                            <a:srgbClr val="000000"/>
                          </a:solidFill>
                          <a:effectLst/>
                          <a:latin typeface="Verdana (Body)"/>
                          <a:ea typeface="Times New Roman" panose="02020603050405020304" pitchFamily="18" charset="0"/>
                          <a:cs typeface="Libre Franklin Thin" pitchFamily="2" charset="0"/>
                        </a:rPr>
                        <a:t>1750.99 </a:t>
                      </a:r>
                      <a:endParaRPr lang="en-US" sz="140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400" b="1" dirty="0">
                          <a:solidFill>
                            <a:srgbClr val="000000"/>
                          </a:solidFill>
                          <a:effectLst/>
                          <a:latin typeface="Verdana (Body)"/>
                          <a:ea typeface="Times New Roman" panose="02020603050405020304" pitchFamily="18" charset="0"/>
                          <a:cs typeface="Libre Franklin Thin" pitchFamily="2" charset="0"/>
                        </a:rPr>
                        <a:t>3850.00 </a:t>
                      </a:r>
                      <a:endParaRPr lang="en-US" sz="140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400" b="1" dirty="0">
                          <a:solidFill>
                            <a:srgbClr val="000000"/>
                          </a:solidFill>
                          <a:effectLst/>
                          <a:latin typeface="Verdana (Body)"/>
                          <a:ea typeface="Times New Roman" panose="02020603050405020304" pitchFamily="18" charset="0"/>
                          <a:cs typeface="Libre Franklin Thin" pitchFamily="2" charset="0"/>
                        </a:rPr>
                        <a:t>2042.27</a:t>
                      </a:r>
                      <a:endParaRPr lang="en-US" sz="140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r">
                        <a:spcBef>
                          <a:spcPts val="0"/>
                        </a:spcBef>
                        <a:spcAft>
                          <a:spcPts val="0"/>
                        </a:spcAft>
                      </a:pPr>
                      <a:r>
                        <a:rPr lang="en-US" sz="1400" b="1" dirty="0">
                          <a:solidFill>
                            <a:srgbClr val="000000"/>
                          </a:solidFill>
                          <a:effectLst/>
                          <a:latin typeface="Verdana (Body)"/>
                          <a:ea typeface="Times New Roman" panose="02020603050405020304" pitchFamily="18" charset="0"/>
                          <a:cs typeface="Libre Franklin Thin" pitchFamily="2" charset="0"/>
                        </a:rPr>
                        <a:t>12383.04 </a:t>
                      </a:r>
                      <a:endParaRPr lang="en-US" sz="1400" dirty="0">
                        <a:effectLst/>
                        <a:latin typeface="Verdana (Body)"/>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640366290"/>
                  </a:ext>
                </a:extLst>
              </a:tr>
            </a:tbl>
          </a:graphicData>
        </a:graphic>
      </p:graphicFrame>
    </p:spTree>
    <p:extLst>
      <p:ext uri="{BB962C8B-B14F-4D97-AF65-F5344CB8AC3E}">
        <p14:creationId xmlns:p14="http://schemas.microsoft.com/office/powerpoint/2010/main" val="3964310"/>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7464"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190199"/>
            <a:ext cx="11184826" cy="582791"/>
          </a:xfrm>
        </p:spPr>
        <p:txBody>
          <a:bodyPr vert="horz"/>
          <a:lstStyle/>
          <a:p>
            <a:pPr algn="just"/>
            <a:r>
              <a:rPr lang="en-US" sz="1800" b="1" dirty="0"/>
              <a:t>Estimated Project Cost And Funding Arrangement For RDSS</a:t>
            </a:r>
            <a:endParaRPr lang="en-US" sz="1800" b="1" i="0" dirty="0">
              <a:solidFill>
                <a:schemeClr val="tx1"/>
              </a:solidFill>
            </a:endParaRPr>
          </a:p>
        </p:txBody>
      </p:sp>
      <p:sp>
        <p:nvSpPr>
          <p:cNvPr id="9" name="TextBox 8">
            <a:extLst>
              <a:ext uri="{FF2B5EF4-FFF2-40B4-BE49-F238E27FC236}">
                <a16:creationId xmlns:a16="http://schemas.microsoft.com/office/drawing/2014/main" id="{7A33CCE3-1DF6-4BCA-9038-AC7821127F04}"/>
              </a:ext>
            </a:extLst>
          </p:cNvPr>
          <p:cNvSpPr txBox="1"/>
          <p:nvPr/>
        </p:nvSpPr>
        <p:spPr>
          <a:xfrm>
            <a:off x="610054" y="707780"/>
            <a:ext cx="6096000" cy="307777"/>
          </a:xfrm>
          <a:prstGeom prst="rect">
            <a:avLst/>
          </a:prstGeom>
          <a:noFill/>
        </p:spPr>
        <p:txBody>
          <a:bodyPr wrap="square">
            <a:spAutoFit/>
          </a:bodyPr>
          <a:lstStyle/>
          <a:p>
            <a:r>
              <a:rPr lang="en-US" sz="1400" b="1" dirty="0">
                <a:effectLst/>
                <a:latin typeface="+mj-lt"/>
                <a:ea typeface="Libre Franklin Thin" pitchFamily="2" charset="0"/>
              </a:rPr>
              <a:t>Project Funding</a:t>
            </a:r>
            <a:endParaRPr lang="en-US" sz="1400" dirty="0">
              <a:latin typeface="+mj-lt"/>
            </a:endParaRPr>
          </a:p>
        </p:txBody>
      </p:sp>
      <p:sp>
        <p:nvSpPr>
          <p:cNvPr id="8" name="TextBox 7">
            <a:extLst>
              <a:ext uri="{FF2B5EF4-FFF2-40B4-BE49-F238E27FC236}">
                <a16:creationId xmlns:a16="http://schemas.microsoft.com/office/drawing/2014/main" id="{FBD309E1-D716-48A0-9572-2CF37EC9E5A5}"/>
              </a:ext>
            </a:extLst>
          </p:cNvPr>
          <p:cNvSpPr txBox="1"/>
          <p:nvPr/>
        </p:nvSpPr>
        <p:spPr>
          <a:xfrm>
            <a:off x="610053" y="1015557"/>
            <a:ext cx="10482489" cy="315407"/>
          </a:xfrm>
          <a:prstGeom prst="rect">
            <a:avLst/>
          </a:prstGeom>
          <a:noFill/>
        </p:spPr>
        <p:txBody>
          <a:bodyPr wrap="square">
            <a:spAutoFit/>
          </a:bodyPr>
          <a:lstStyle/>
          <a:p>
            <a:pPr marL="0" marR="0" algn="just">
              <a:lnSpc>
                <a:spcPct val="115000"/>
              </a:lnSpc>
              <a:spcBef>
                <a:spcPts val="600"/>
              </a:spcBef>
              <a:spcAft>
                <a:spcPts val="600"/>
              </a:spcAft>
            </a:pPr>
            <a:r>
              <a:rPr lang="en-US" sz="1400" dirty="0">
                <a:solidFill>
                  <a:srgbClr val="000000"/>
                </a:solidFill>
                <a:effectLst/>
                <a:ea typeface="Carlito"/>
                <a:cs typeface="Carlito"/>
              </a:rPr>
              <a:t>The anticipated year wise fund requirement for the project including interest during construction are given below:</a:t>
            </a:r>
            <a:endParaRPr lang="en-US" sz="1400" dirty="0">
              <a:effectLst/>
              <a:ea typeface="Carlito"/>
              <a:cs typeface="Carlito"/>
            </a:endParaRPr>
          </a:p>
        </p:txBody>
      </p:sp>
      <p:graphicFrame>
        <p:nvGraphicFramePr>
          <p:cNvPr id="4" name="Table 3">
            <a:extLst>
              <a:ext uri="{FF2B5EF4-FFF2-40B4-BE49-F238E27FC236}">
                <a16:creationId xmlns:a16="http://schemas.microsoft.com/office/drawing/2014/main" id="{060BA18B-0B59-4F6A-8607-8BC4FC908A3D}"/>
              </a:ext>
            </a:extLst>
          </p:cNvPr>
          <p:cNvGraphicFramePr>
            <a:graphicFrameLocks noGrp="1"/>
          </p:cNvGraphicFramePr>
          <p:nvPr>
            <p:extLst>
              <p:ext uri="{D42A27DB-BD31-4B8C-83A1-F6EECF244321}">
                <p14:modId xmlns:p14="http://schemas.microsoft.com/office/powerpoint/2010/main" val="2437686542"/>
              </p:ext>
            </p:extLst>
          </p:nvPr>
        </p:nvGraphicFramePr>
        <p:xfrm>
          <a:off x="610053" y="1766368"/>
          <a:ext cx="10482490" cy="1280160"/>
        </p:xfrm>
        <a:graphic>
          <a:graphicData uri="http://schemas.openxmlformats.org/drawingml/2006/table">
            <a:tbl>
              <a:tblPr firstRow="1" firstCol="1" bandRow="1"/>
              <a:tblGrid>
                <a:gridCol w="1426063">
                  <a:extLst>
                    <a:ext uri="{9D8B030D-6E8A-4147-A177-3AD203B41FA5}">
                      <a16:colId xmlns:a16="http://schemas.microsoft.com/office/drawing/2014/main" val="1358875794"/>
                    </a:ext>
                  </a:extLst>
                </a:gridCol>
                <a:gridCol w="5434074">
                  <a:extLst>
                    <a:ext uri="{9D8B030D-6E8A-4147-A177-3AD203B41FA5}">
                      <a16:colId xmlns:a16="http://schemas.microsoft.com/office/drawing/2014/main" val="3573325247"/>
                    </a:ext>
                  </a:extLst>
                </a:gridCol>
                <a:gridCol w="3622353">
                  <a:extLst>
                    <a:ext uri="{9D8B030D-6E8A-4147-A177-3AD203B41FA5}">
                      <a16:colId xmlns:a16="http://schemas.microsoft.com/office/drawing/2014/main" val="530582944"/>
                    </a:ext>
                  </a:extLst>
                </a:gridCol>
              </a:tblGrid>
              <a:tr h="129540">
                <a:tc>
                  <a:txBody>
                    <a:bodyPr/>
                    <a:lstStyle/>
                    <a:p>
                      <a:pPr marL="0" marR="0" algn="ctr">
                        <a:spcBef>
                          <a:spcPts val="0"/>
                        </a:spcBef>
                        <a:spcAft>
                          <a:spcPts val="0"/>
                        </a:spcAft>
                      </a:pPr>
                      <a:r>
                        <a:rPr lang="en-US" sz="1400" b="1" dirty="0">
                          <a:solidFill>
                            <a:schemeClr val="bg1"/>
                          </a:solidFill>
                          <a:effectLst/>
                          <a:latin typeface="+mn-lt"/>
                          <a:ea typeface="Times New Roman" panose="02020603050405020304" pitchFamily="18" charset="0"/>
                          <a:cs typeface="Libre Franklin Thin" pitchFamily="2" charset="0"/>
                        </a:rPr>
                        <a:t>Sr. No.</a:t>
                      </a:r>
                      <a:endParaRPr lang="en-US" sz="1400" dirty="0">
                        <a:solidFill>
                          <a:schemeClr val="bg1"/>
                        </a:solidFill>
                        <a:effectLst/>
                        <a:latin typeface="+mn-lt"/>
                        <a:ea typeface="Libre Franklin Thin" pitchFamily="2" charset="0"/>
                        <a:cs typeface="Libre Franklin Thin" pitchFamily="2" charset="0"/>
                      </a:endParaRPr>
                    </a:p>
                  </a:txBody>
                  <a:tcPr marL="68580" marR="68580" marT="0" marB="0" anchor="ctr">
                    <a:lnL w="12700" cap="flat" cmpd="sng" algn="ctr">
                      <a:solidFill>
                        <a:srgbClr val="5B9BD5"/>
                      </a:solidFill>
                      <a:prstDash val="solid"/>
                      <a:round/>
                      <a:headEnd type="none" w="med" len="med"/>
                      <a:tailEnd type="none" w="med" len="med"/>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7680"/>
                    </a:solidFill>
                  </a:tcPr>
                </a:tc>
                <a:tc>
                  <a:txBody>
                    <a:bodyPr/>
                    <a:lstStyle/>
                    <a:p>
                      <a:pPr marL="0" marR="0" algn="ctr">
                        <a:spcBef>
                          <a:spcPts val="0"/>
                        </a:spcBef>
                        <a:spcAft>
                          <a:spcPts val="0"/>
                        </a:spcAft>
                      </a:pPr>
                      <a:r>
                        <a:rPr lang="en-US" sz="1400" b="1" dirty="0">
                          <a:solidFill>
                            <a:schemeClr val="bg1"/>
                          </a:solidFill>
                          <a:effectLst/>
                          <a:latin typeface="+mn-lt"/>
                          <a:ea typeface="Times New Roman" panose="02020603050405020304" pitchFamily="18" charset="0"/>
                          <a:cs typeface="Libre Franklin Thin" pitchFamily="2" charset="0"/>
                        </a:rPr>
                        <a:t>Year</a:t>
                      </a:r>
                      <a:endParaRPr lang="en-US" sz="1400" dirty="0">
                        <a:solidFill>
                          <a:schemeClr val="bg1"/>
                        </a:solidFill>
                        <a:effectLst/>
                        <a:latin typeface="+mn-lt"/>
                        <a:ea typeface="Libre Franklin Thin" pitchFamily="2" charset="0"/>
                        <a:cs typeface="Libre Franklin Thin" pitchFamily="2" charset="0"/>
                      </a:endParaRPr>
                    </a:p>
                  </a:txBody>
                  <a:tcPr marL="68580" marR="68580"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7680"/>
                    </a:solidFill>
                  </a:tcPr>
                </a:tc>
                <a:tc>
                  <a:txBody>
                    <a:bodyPr/>
                    <a:lstStyle/>
                    <a:p>
                      <a:pPr marL="0" marR="0" algn="ctr">
                        <a:spcBef>
                          <a:spcPts val="0"/>
                        </a:spcBef>
                        <a:spcAft>
                          <a:spcPts val="0"/>
                        </a:spcAft>
                      </a:pPr>
                      <a:r>
                        <a:rPr lang="en-US" sz="1400" b="1" dirty="0">
                          <a:solidFill>
                            <a:schemeClr val="bg1"/>
                          </a:solidFill>
                          <a:effectLst/>
                          <a:latin typeface="+mn-lt"/>
                          <a:ea typeface="Times New Roman" panose="02020603050405020304" pitchFamily="18" charset="0"/>
                          <a:cs typeface="Libre Franklin Thin" pitchFamily="2" charset="0"/>
                        </a:rPr>
                        <a:t>Amount (In Rs Crores)</a:t>
                      </a:r>
                      <a:endParaRPr lang="en-US" sz="1400" dirty="0">
                        <a:solidFill>
                          <a:schemeClr val="bg1"/>
                        </a:solidFill>
                        <a:effectLst/>
                        <a:latin typeface="+mn-lt"/>
                        <a:ea typeface="Libre Franklin Thin" pitchFamily="2" charset="0"/>
                        <a:cs typeface="Libre Franklin Thin" pitchFamily="2" charset="0"/>
                      </a:endParaRPr>
                    </a:p>
                  </a:txBody>
                  <a:tcPr marL="68580" marR="68580" marT="0" marB="0" anchor="ctr">
                    <a:lnL>
                      <a:noFill/>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7680"/>
                    </a:solidFill>
                  </a:tcPr>
                </a:tc>
                <a:extLst>
                  <a:ext uri="{0D108BD9-81ED-4DB2-BD59-A6C34878D82A}">
                    <a16:rowId xmlns:a16="http://schemas.microsoft.com/office/drawing/2014/main" val="622506337"/>
                  </a:ext>
                </a:extLst>
              </a:tr>
              <a:tr h="129540">
                <a:tc>
                  <a:txBody>
                    <a:bodyPr/>
                    <a:lstStyle/>
                    <a:p>
                      <a:pPr marL="0" marR="0" algn="ctr">
                        <a:spcBef>
                          <a:spcPts val="0"/>
                        </a:spcBef>
                        <a:spcAft>
                          <a:spcPts val="0"/>
                        </a:spcAft>
                      </a:pPr>
                      <a:r>
                        <a:rPr lang="en-US" sz="1400" b="1">
                          <a:solidFill>
                            <a:srgbClr val="000000"/>
                          </a:solidFill>
                          <a:effectLst/>
                          <a:latin typeface="+mn-lt"/>
                          <a:ea typeface="Times New Roman" panose="02020603050405020304" pitchFamily="18" charset="0"/>
                          <a:cs typeface="Libre Franklin Thin" pitchFamily="2" charset="0"/>
                        </a:rPr>
                        <a:t>1</a:t>
                      </a:r>
                      <a:endParaRPr lang="en-US" sz="140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400">
                          <a:solidFill>
                            <a:srgbClr val="000000"/>
                          </a:solidFill>
                          <a:effectLst/>
                          <a:latin typeface="+mn-lt"/>
                          <a:ea typeface="Times New Roman" panose="02020603050405020304" pitchFamily="18" charset="0"/>
                          <a:cs typeface="Libre Franklin Thin" pitchFamily="2" charset="0"/>
                        </a:rPr>
                        <a:t>Phase I_FY2022 (10% of Project Cost)</a:t>
                      </a:r>
                      <a:endParaRPr lang="en-US" sz="140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fontAlgn="ctr">
                        <a:spcBef>
                          <a:spcPts val="0"/>
                        </a:spcBef>
                        <a:spcAft>
                          <a:spcPts val="0"/>
                        </a:spcAft>
                      </a:pPr>
                      <a:r>
                        <a:rPr lang="en-US" sz="1400" b="1" dirty="0">
                          <a:solidFill>
                            <a:srgbClr val="000000"/>
                          </a:solidFill>
                          <a:effectLst/>
                          <a:latin typeface="+mn-lt"/>
                          <a:ea typeface="Calisto MT" panose="02040603050505030304" pitchFamily="18" charset="0"/>
                          <a:cs typeface="Libre Franklin Thin" pitchFamily="2" charset="0"/>
                        </a:rPr>
                        <a:t>1238.30</a:t>
                      </a:r>
                      <a:endParaRPr lang="en-US" sz="1400" dirty="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728937928"/>
                  </a:ext>
                </a:extLst>
              </a:tr>
              <a:tr h="57150">
                <a:tc>
                  <a:txBody>
                    <a:bodyPr/>
                    <a:lstStyle/>
                    <a:p>
                      <a:pPr marL="0" marR="0" algn="ctr">
                        <a:spcBef>
                          <a:spcPts val="0"/>
                        </a:spcBef>
                        <a:spcAft>
                          <a:spcPts val="0"/>
                        </a:spcAft>
                      </a:pPr>
                      <a:r>
                        <a:rPr lang="en-US" sz="1400" b="1">
                          <a:solidFill>
                            <a:srgbClr val="000000"/>
                          </a:solidFill>
                          <a:effectLst/>
                          <a:latin typeface="+mn-lt"/>
                          <a:ea typeface="Times New Roman" panose="02020603050405020304" pitchFamily="18" charset="0"/>
                          <a:cs typeface="Libre Franklin Thin" pitchFamily="2" charset="0"/>
                        </a:rPr>
                        <a:t>2</a:t>
                      </a:r>
                      <a:endParaRPr lang="en-US" sz="140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400">
                          <a:solidFill>
                            <a:srgbClr val="000000"/>
                          </a:solidFill>
                          <a:effectLst/>
                          <a:latin typeface="+mn-lt"/>
                          <a:ea typeface="Times New Roman" panose="02020603050405020304" pitchFamily="18" charset="0"/>
                          <a:cs typeface="Libre Franklin Thin" pitchFamily="2" charset="0"/>
                        </a:rPr>
                        <a:t>Phase II_FY2023 (20% of Project Cost)</a:t>
                      </a:r>
                      <a:endParaRPr lang="en-US" sz="140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fontAlgn="ctr">
                        <a:spcBef>
                          <a:spcPts val="0"/>
                        </a:spcBef>
                        <a:spcAft>
                          <a:spcPts val="0"/>
                        </a:spcAft>
                      </a:pPr>
                      <a:r>
                        <a:rPr lang="en-US" sz="1400" b="1" dirty="0">
                          <a:solidFill>
                            <a:srgbClr val="000000"/>
                          </a:solidFill>
                          <a:effectLst/>
                          <a:latin typeface="+mn-lt"/>
                          <a:ea typeface="Calisto MT" panose="02040603050505030304" pitchFamily="18" charset="0"/>
                          <a:cs typeface="Libre Franklin Thin" pitchFamily="2" charset="0"/>
                        </a:rPr>
                        <a:t>2476.61 </a:t>
                      </a:r>
                      <a:endParaRPr lang="en-US" sz="1400" dirty="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1251319868"/>
                  </a:ext>
                </a:extLst>
              </a:tr>
              <a:tr h="129540">
                <a:tc>
                  <a:txBody>
                    <a:bodyPr/>
                    <a:lstStyle/>
                    <a:p>
                      <a:pPr marL="0" marR="0" algn="ctr">
                        <a:spcBef>
                          <a:spcPts val="0"/>
                        </a:spcBef>
                        <a:spcAft>
                          <a:spcPts val="0"/>
                        </a:spcAft>
                      </a:pPr>
                      <a:r>
                        <a:rPr lang="en-US" sz="1400" b="1">
                          <a:solidFill>
                            <a:srgbClr val="000000"/>
                          </a:solidFill>
                          <a:effectLst/>
                          <a:latin typeface="+mn-lt"/>
                          <a:ea typeface="Times New Roman" panose="02020603050405020304" pitchFamily="18" charset="0"/>
                          <a:cs typeface="Libre Franklin Thin" pitchFamily="2" charset="0"/>
                        </a:rPr>
                        <a:t>3</a:t>
                      </a:r>
                      <a:endParaRPr lang="en-US" sz="140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400">
                          <a:solidFill>
                            <a:srgbClr val="000000"/>
                          </a:solidFill>
                          <a:effectLst/>
                          <a:latin typeface="+mn-lt"/>
                          <a:ea typeface="Times New Roman" panose="02020603050405020304" pitchFamily="18" charset="0"/>
                          <a:cs typeface="Libre Franklin Thin" pitchFamily="2" charset="0"/>
                        </a:rPr>
                        <a:t>Phase II_FY2024 (30% of Project Cost)</a:t>
                      </a:r>
                      <a:endParaRPr lang="en-US" sz="140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fontAlgn="ctr">
                        <a:spcBef>
                          <a:spcPts val="0"/>
                        </a:spcBef>
                        <a:spcAft>
                          <a:spcPts val="0"/>
                        </a:spcAft>
                      </a:pPr>
                      <a:r>
                        <a:rPr lang="en-US" sz="1400" b="1" dirty="0">
                          <a:solidFill>
                            <a:srgbClr val="000000"/>
                          </a:solidFill>
                          <a:effectLst/>
                          <a:latin typeface="+mn-lt"/>
                          <a:ea typeface="Calisto MT" panose="02040603050505030304" pitchFamily="18" charset="0"/>
                          <a:cs typeface="Libre Franklin Thin" pitchFamily="2" charset="0"/>
                        </a:rPr>
                        <a:t>3714.91</a:t>
                      </a:r>
                      <a:endParaRPr lang="en-US" sz="1400" dirty="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609937641"/>
                  </a:ext>
                </a:extLst>
              </a:tr>
              <a:tr h="129540">
                <a:tc>
                  <a:txBody>
                    <a:bodyPr/>
                    <a:lstStyle/>
                    <a:p>
                      <a:pPr marL="0" marR="0" algn="ctr">
                        <a:spcBef>
                          <a:spcPts val="0"/>
                        </a:spcBef>
                        <a:spcAft>
                          <a:spcPts val="0"/>
                        </a:spcAft>
                      </a:pPr>
                      <a:r>
                        <a:rPr lang="en-US" sz="1400" b="1">
                          <a:solidFill>
                            <a:srgbClr val="000000"/>
                          </a:solidFill>
                          <a:effectLst/>
                          <a:latin typeface="+mn-lt"/>
                          <a:ea typeface="Times New Roman" panose="02020603050405020304" pitchFamily="18" charset="0"/>
                          <a:cs typeface="Libre Franklin Thin" pitchFamily="2" charset="0"/>
                        </a:rPr>
                        <a:t>4</a:t>
                      </a:r>
                      <a:endParaRPr lang="en-US" sz="140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400">
                          <a:solidFill>
                            <a:srgbClr val="000000"/>
                          </a:solidFill>
                          <a:effectLst/>
                          <a:latin typeface="+mn-lt"/>
                          <a:ea typeface="Times New Roman" panose="02020603050405020304" pitchFamily="18" charset="0"/>
                          <a:cs typeface="Libre Franklin Thin" pitchFamily="2" charset="0"/>
                        </a:rPr>
                        <a:t>Phase II_FY2025 (40% of Project Cost)</a:t>
                      </a:r>
                      <a:endParaRPr lang="en-US" sz="140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fontAlgn="ctr">
                        <a:spcBef>
                          <a:spcPts val="0"/>
                        </a:spcBef>
                        <a:spcAft>
                          <a:spcPts val="0"/>
                        </a:spcAft>
                      </a:pPr>
                      <a:r>
                        <a:rPr lang="en-US" sz="1400" b="1" dirty="0">
                          <a:solidFill>
                            <a:srgbClr val="000000"/>
                          </a:solidFill>
                          <a:effectLst/>
                          <a:latin typeface="+mn-lt"/>
                          <a:ea typeface="Calisto MT" panose="02040603050505030304" pitchFamily="18" charset="0"/>
                          <a:cs typeface="Libre Franklin Thin" pitchFamily="2" charset="0"/>
                        </a:rPr>
                        <a:t>4953.22 </a:t>
                      </a:r>
                      <a:endParaRPr lang="en-US" sz="1400" dirty="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011390632"/>
                  </a:ext>
                </a:extLst>
              </a:tr>
              <a:tr h="67945">
                <a:tc gridSpan="2">
                  <a:txBody>
                    <a:bodyPr/>
                    <a:lstStyle/>
                    <a:p>
                      <a:pPr marL="0" marR="0" algn="ctr">
                        <a:spcBef>
                          <a:spcPts val="0"/>
                        </a:spcBef>
                        <a:spcAft>
                          <a:spcPts val="0"/>
                        </a:spcAft>
                      </a:pPr>
                      <a:r>
                        <a:rPr lang="en-US" sz="1400" b="1">
                          <a:solidFill>
                            <a:srgbClr val="000000"/>
                          </a:solidFill>
                          <a:effectLst/>
                          <a:latin typeface="+mn-lt"/>
                          <a:ea typeface="Times New Roman" panose="02020603050405020304" pitchFamily="18" charset="0"/>
                          <a:cs typeface="Libre Franklin Thin" pitchFamily="2" charset="0"/>
                        </a:rPr>
                        <a:t>Total</a:t>
                      </a:r>
                      <a:endParaRPr lang="en-US" sz="140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hMerge="1">
                  <a:txBody>
                    <a:bodyPr/>
                    <a:lstStyle/>
                    <a:p>
                      <a:endParaRPr lang="en-US"/>
                    </a:p>
                  </a:txBody>
                  <a:tcPr/>
                </a:tc>
                <a:tc>
                  <a:txBody>
                    <a:bodyPr/>
                    <a:lstStyle/>
                    <a:p>
                      <a:pPr marL="0" marR="0" algn="ctr" fontAlgn="ctr">
                        <a:spcBef>
                          <a:spcPts val="0"/>
                        </a:spcBef>
                        <a:spcAft>
                          <a:spcPts val="0"/>
                        </a:spcAft>
                      </a:pPr>
                      <a:r>
                        <a:rPr lang="en-US" sz="1400" b="1" dirty="0">
                          <a:solidFill>
                            <a:srgbClr val="000000"/>
                          </a:solidFill>
                          <a:effectLst/>
                          <a:latin typeface="+mn-lt"/>
                          <a:ea typeface="Calisto MT" panose="02040603050505030304" pitchFamily="18" charset="0"/>
                          <a:cs typeface="Libre Franklin Thin" pitchFamily="2" charset="0"/>
                        </a:rPr>
                        <a:t>12383.04 </a:t>
                      </a:r>
                      <a:endParaRPr lang="en-US" sz="1400" dirty="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1276869310"/>
                  </a:ext>
                </a:extLst>
              </a:tr>
            </a:tbl>
          </a:graphicData>
        </a:graphic>
      </p:graphicFrame>
      <p:graphicFrame>
        <p:nvGraphicFramePr>
          <p:cNvPr id="7" name="Table 6">
            <a:extLst>
              <a:ext uri="{FF2B5EF4-FFF2-40B4-BE49-F238E27FC236}">
                <a16:creationId xmlns:a16="http://schemas.microsoft.com/office/drawing/2014/main" id="{ED63EC3C-3E90-4325-8B64-8FDD17B54F90}"/>
              </a:ext>
            </a:extLst>
          </p:cNvPr>
          <p:cNvGraphicFramePr>
            <a:graphicFrameLocks noGrp="1"/>
          </p:cNvGraphicFramePr>
          <p:nvPr>
            <p:extLst>
              <p:ext uri="{D42A27DB-BD31-4B8C-83A1-F6EECF244321}">
                <p14:modId xmlns:p14="http://schemas.microsoft.com/office/powerpoint/2010/main" val="2121980013"/>
              </p:ext>
            </p:extLst>
          </p:nvPr>
        </p:nvGraphicFramePr>
        <p:xfrm>
          <a:off x="610054" y="3631633"/>
          <a:ext cx="10482488" cy="2560320"/>
        </p:xfrm>
        <a:graphic>
          <a:graphicData uri="http://schemas.openxmlformats.org/drawingml/2006/table">
            <a:tbl>
              <a:tblPr firstRow="1" firstCol="1" bandRow="1"/>
              <a:tblGrid>
                <a:gridCol w="501231">
                  <a:extLst>
                    <a:ext uri="{9D8B030D-6E8A-4147-A177-3AD203B41FA5}">
                      <a16:colId xmlns:a16="http://schemas.microsoft.com/office/drawing/2014/main" val="3590762037"/>
                    </a:ext>
                  </a:extLst>
                </a:gridCol>
                <a:gridCol w="1893782">
                  <a:extLst>
                    <a:ext uri="{9D8B030D-6E8A-4147-A177-3AD203B41FA5}">
                      <a16:colId xmlns:a16="http://schemas.microsoft.com/office/drawing/2014/main" val="1981044709"/>
                    </a:ext>
                  </a:extLst>
                </a:gridCol>
                <a:gridCol w="1600380">
                  <a:extLst>
                    <a:ext uri="{9D8B030D-6E8A-4147-A177-3AD203B41FA5}">
                      <a16:colId xmlns:a16="http://schemas.microsoft.com/office/drawing/2014/main" val="4265451006"/>
                    </a:ext>
                  </a:extLst>
                </a:gridCol>
                <a:gridCol w="1655948">
                  <a:extLst>
                    <a:ext uri="{9D8B030D-6E8A-4147-A177-3AD203B41FA5}">
                      <a16:colId xmlns:a16="http://schemas.microsoft.com/office/drawing/2014/main" val="2739421758"/>
                    </a:ext>
                  </a:extLst>
                </a:gridCol>
                <a:gridCol w="1444786">
                  <a:extLst>
                    <a:ext uri="{9D8B030D-6E8A-4147-A177-3AD203B41FA5}">
                      <a16:colId xmlns:a16="http://schemas.microsoft.com/office/drawing/2014/main" val="3062277262"/>
                    </a:ext>
                  </a:extLst>
                </a:gridCol>
                <a:gridCol w="3386361">
                  <a:extLst>
                    <a:ext uri="{9D8B030D-6E8A-4147-A177-3AD203B41FA5}">
                      <a16:colId xmlns:a16="http://schemas.microsoft.com/office/drawing/2014/main" val="1670781327"/>
                    </a:ext>
                  </a:extLst>
                </a:gridCol>
              </a:tblGrid>
              <a:tr h="581025">
                <a:tc>
                  <a:txBody>
                    <a:bodyPr/>
                    <a:lstStyle/>
                    <a:p>
                      <a:pPr marL="0" marR="0" algn="ctr" fontAlgn="ctr">
                        <a:spcBef>
                          <a:spcPts val="0"/>
                        </a:spcBef>
                        <a:spcAft>
                          <a:spcPts val="0"/>
                        </a:spcAft>
                      </a:pPr>
                      <a:r>
                        <a:rPr lang="en-US" sz="1400" b="1" dirty="0">
                          <a:solidFill>
                            <a:schemeClr val="bg1"/>
                          </a:solidFill>
                          <a:effectLst/>
                          <a:latin typeface="+mn-lt"/>
                          <a:ea typeface="Calisto MT" panose="02040603050505030304" pitchFamily="18" charset="0"/>
                          <a:cs typeface="Libre Franklin Thin" pitchFamily="2" charset="0"/>
                        </a:rPr>
                        <a:t>Sr. No.</a:t>
                      </a:r>
                      <a:endParaRPr lang="en-US" sz="1400" dirty="0">
                        <a:solidFill>
                          <a:schemeClr val="bg1"/>
                        </a:solidFill>
                        <a:effectLst/>
                        <a:latin typeface="+mn-lt"/>
                        <a:ea typeface="Libre Franklin Thin" pitchFamily="2" charset="0"/>
                        <a:cs typeface="Libre Franklin Thin" pitchFamily="2" charset="0"/>
                      </a:endParaRPr>
                    </a:p>
                  </a:txBody>
                  <a:tcPr marL="68580" marR="68580" marT="0" marB="0" anchor="ctr">
                    <a:lnL w="12700" cap="flat" cmpd="sng" algn="ctr">
                      <a:solidFill>
                        <a:srgbClr val="5B9BD5"/>
                      </a:solidFill>
                      <a:prstDash val="solid"/>
                      <a:round/>
                      <a:headEnd type="none" w="med" len="med"/>
                      <a:tailEnd type="none" w="med" len="med"/>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7680"/>
                    </a:solidFill>
                  </a:tcPr>
                </a:tc>
                <a:tc>
                  <a:txBody>
                    <a:bodyPr/>
                    <a:lstStyle/>
                    <a:p>
                      <a:pPr marL="0" marR="0" algn="ctr" fontAlgn="ctr">
                        <a:spcBef>
                          <a:spcPts val="0"/>
                        </a:spcBef>
                        <a:spcAft>
                          <a:spcPts val="0"/>
                        </a:spcAft>
                      </a:pPr>
                      <a:r>
                        <a:rPr lang="en-US" sz="1400" b="1" dirty="0">
                          <a:solidFill>
                            <a:schemeClr val="bg1"/>
                          </a:solidFill>
                          <a:effectLst/>
                          <a:latin typeface="+mn-lt"/>
                          <a:ea typeface="Calisto MT" panose="02040603050505030304" pitchFamily="18" charset="0"/>
                          <a:cs typeface="Libre Franklin Thin" pitchFamily="2" charset="0"/>
                        </a:rPr>
                        <a:t>Targeted Interventions Under RDSS</a:t>
                      </a:r>
                      <a:endParaRPr lang="en-US" sz="1400" dirty="0">
                        <a:solidFill>
                          <a:schemeClr val="bg1"/>
                        </a:solidFill>
                        <a:effectLst/>
                        <a:latin typeface="+mn-lt"/>
                        <a:ea typeface="Libre Franklin Thin" pitchFamily="2" charset="0"/>
                        <a:cs typeface="Libre Franklin Thin" pitchFamily="2" charset="0"/>
                      </a:endParaRPr>
                    </a:p>
                  </a:txBody>
                  <a:tcPr marL="68580" marR="68580"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7680"/>
                    </a:solidFill>
                  </a:tcPr>
                </a:tc>
                <a:tc>
                  <a:txBody>
                    <a:bodyPr/>
                    <a:lstStyle/>
                    <a:p>
                      <a:pPr marL="0" marR="0" algn="ctr" fontAlgn="ctr">
                        <a:spcBef>
                          <a:spcPts val="0"/>
                        </a:spcBef>
                        <a:spcAft>
                          <a:spcPts val="0"/>
                        </a:spcAft>
                      </a:pPr>
                      <a:r>
                        <a:rPr lang="en-US" sz="1400" b="1" dirty="0">
                          <a:solidFill>
                            <a:schemeClr val="bg1"/>
                          </a:solidFill>
                          <a:effectLst/>
                          <a:latin typeface="+mn-lt"/>
                          <a:ea typeface="Calisto MT" panose="02040603050505030304" pitchFamily="18" charset="0"/>
                          <a:cs typeface="Libre Franklin Thin" pitchFamily="2" charset="0"/>
                        </a:rPr>
                        <a:t>Total outlay (Rs. in Lakh)</a:t>
                      </a:r>
                      <a:endParaRPr lang="en-US" sz="1400" dirty="0">
                        <a:solidFill>
                          <a:schemeClr val="bg1"/>
                        </a:solidFill>
                        <a:effectLst/>
                        <a:latin typeface="+mn-lt"/>
                        <a:ea typeface="Libre Franklin Thin" pitchFamily="2" charset="0"/>
                        <a:cs typeface="Libre Franklin Thin" pitchFamily="2" charset="0"/>
                      </a:endParaRPr>
                    </a:p>
                  </a:txBody>
                  <a:tcPr marL="68580" marR="68580"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7680"/>
                    </a:solidFill>
                  </a:tcPr>
                </a:tc>
                <a:tc>
                  <a:txBody>
                    <a:bodyPr/>
                    <a:lstStyle/>
                    <a:p>
                      <a:pPr marL="0" marR="0" algn="ctr" fontAlgn="ctr">
                        <a:spcBef>
                          <a:spcPts val="0"/>
                        </a:spcBef>
                        <a:spcAft>
                          <a:spcPts val="0"/>
                        </a:spcAft>
                      </a:pPr>
                      <a:r>
                        <a:rPr lang="en-US" sz="1400" b="1" dirty="0">
                          <a:solidFill>
                            <a:schemeClr val="bg1"/>
                          </a:solidFill>
                          <a:effectLst/>
                          <a:latin typeface="+mn-lt"/>
                          <a:ea typeface="Calisto MT" panose="02040603050505030304" pitchFamily="18" charset="0"/>
                          <a:cs typeface="Libre Franklin Thin" pitchFamily="2" charset="0"/>
                        </a:rPr>
                        <a:t>GBS (in %)</a:t>
                      </a:r>
                      <a:endParaRPr lang="en-US" sz="1400" dirty="0">
                        <a:solidFill>
                          <a:schemeClr val="bg1"/>
                        </a:solidFill>
                        <a:effectLst/>
                        <a:latin typeface="+mn-lt"/>
                        <a:ea typeface="Libre Franklin Thin" pitchFamily="2" charset="0"/>
                        <a:cs typeface="Libre Franklin Thin" pitchFamily="2" charset="0"/>
                      </a:endParaRPr>
                    </a:p>
                  </a:txBody>
                  <a:tcPr marL="68580" marR="68580"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7680"/>
                    </a:solidFill>
                  </a:tcPr>
                </a:tc>
                <a:tc>
                  <a:txBody>
                    <a:bodyPr/>
                    <a:lstStyle/>
                    <a:p>
                      <a:pPr marL="0" marR="0" algn="ctr" fontAlgn="ctr">
                        <a:spcBef>
                          <a:spcPts val="0"/>
                        </a:spcBef>
                        <a:spcAft>
                          <a:spcPts val="0"/>
                        </a:spcAft>
                      </a:pPr>
                      <a:r>
                        <a:rPr lang="en-US" sz="1400" b="1" dirty="0">
                          <a:solidFill>
                            <a:schemeClr val="bg1"/>
                          </a:solidFill>
                          <a:effectLst/>
                          <a:latin typeface="+mn-lt"/>
                          <a:ea typeface="Calisto MT" panose="02040603050505030304" pitchFamily="18" charset="0"/>
                          <a:cs typeface="Libre Franklin Thin" pitchFamily="2" charset="0"/>
                        </a:rPr>
                        <a:t>GBS </a:t>
                      </a:r>
                    </a:p>
                    <a:p>
                      <a:pPr marL="0" marR="0" algn="ctr" fontAlgn="ctr">
                        <a:spcBef>
                          <a:spcPts val="0"/>
                        </a:spcBef>
                        <a:spcAft>
                          <a:spcPts val="0"/>
                        </a:spcAft>
                      </a:pPr>
                      <a:r>
                        <a:rPr lang="en-US" sz="1400" b="1" dirty="0">
                          <a:solidFill>
                            <a:schemeClr val="bg1"/>
                          </a:solidFill>
                          <a:effectLst/>
                          <a:latin typeface="+mn-lt"/>
                          <a:ea typeface="Calisto MT" panose="02040603050505030304" pitchFamily="18" charset="0"/>
                          <a:cs typeface="Libre Franklin Thin" pitchFamily="2" charset="0"/>
                        </a:rPr>
                        <a:t>(Rs. in Lakh)</a:t>
                      </a:r>
                      <a:endParaRPr lang="en-US" sz="1400" dirty="0">
                        <a:solidFill>
                          <a:schemeClr val="bg1"/>
                        </a:solidFill>
                        <a:effectLst/>
                        <a:latin typeface="+mn-lt"/>
                        <a:ea typeface="Libre Franklin Thin" pitchFamily="2" charset="0"/>
                        <a:cs typeface="Libre Franklin Thin" pitchFamily="2" charset="0"/>
                      </a:endParaRPr>
                    </a:p>
                  </a:txBody>
                  <a:tcPr marL="68580" marR="68580"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7680"/>
                    </a:solidFill>
                  </a:tcPr>
                </a:tc>
                <a:tc>
                  <a:txBody>
                    <a:bodyPr/>
                    <a:lstStyle/>
                    <a:p>
                      <a:pPr marL="0" marR="0" algn="ctr" fontAlgn="ctr">
                        <a:spcBef>
                          <a:spcPts val="0"/>
                        </a:spcBef>
                        <a:spcAft>
                          <a:spcPts val="0"/>
                        </a:spcAft>
                      </a:pPr>
                      <a:r>
                        <a:rPr lang="en-US" sz="1400" b="1" dirty="0">
                          <a:solidFill>
                            <a:schemeClr val="bg1"/>
                          </a:solidFill>
                          <a:effectLst/>
                          <a:latin typeface="+mn-lt"/>
                          <a:ea typeface="Calisto MT" panose="02040603050505030304" pitchFamily="18" charset="0"/>
                          <a:cs typeface="Libre Franklin Thin" pitchFamily="2" charset="0"/>
                        </a:rPr>
                        <a:t>Remarks</a:t>
                      </a:r>
                      <a:endParaRPr lang="en-US" sz="1400" dirty="0">
                        <a:solidFill>
                          <a:schemeClr val="bg1"/>
                        </a:solidFill>
                        <a:effectLst/>
                        <a:latin typeface="+mn-lt"/>
                        <a:ea typeface="Libre Franklin Thin" pitchFamily="2" charset="0"/>
                        <a:cs typeface="Libre Franklin Thin" pitchFamily="2" charset="0"/>
                      </a:endParaRPr>
                    </a:p>
                  </a:txBody>
                  <a:tcPr marL="68580" marR="68580" marT="0" marB="0" anchor="ctr">
                    <a:lnL>
                      <a:noFill/>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7680"/>
                    </a:solidFill>
                  </a:tcPr>
                </a:tc>
                <a:extLst>
                  <a:ext uri="{0D108BD9-81ED-4DB2-BD59-A6C34878D82A}">
                    <a16:rowId xmlns:a16="http://schemas.microsoft.com/office/drawing/2014/main" val="2492022923"/>
                  </a:ext>
                </a:extLst>
              </a:tr>
              <a:tr h="542925">
                <a:tc>
                  <a:txBody>
                    <a:bodyPr/>
                    <a:lstStyle/>
                    <a:p>
                      <a:pPr marL="0" marR="0" algn="ctr" fontAlgn="ctr">
                        <a:spcBef>
                          <a:spcPts val="0"/>
                        </a:spcBef>
                        <a:spcAft>
                          <a:spcPts val="0"/>
                        </a:spcAft>
                      </a:pPr>
                      <a:r>
                        <a:rPr lang="en-US" sz="1400" b="1">
                          <a:solidFill>
                            <a:srgbClr val="000000"/>
                          </a:solidFill>
                          <a:effectLst/>
                          <a:latin typeface="+mn-lt"/>
                          <a:ea typeface="Calisto MT" panose="02040603050505030304" pitchFamily="18" charset="0"/>
                          <a:cs typeface="Libre Franklin Thin" pitchFamily="2" charset="0"/>
                        </a:rPr>
                        <a:t>1 </a:t>
                      </a:r>
                      <a:endParaRPr lang="en-US" sz="140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fontAlgn="ctr">
                        <a:spcBef>
                          <a:spcPts val="0"/>
                        </a:spcBef>
                        <a:spcAft>
                          <a:spcPts val="0"/>
                        </a:spcAft>
                      </a:pPr>
                      <a:r>
                        <a:rPr lang="en-US" sz="1400" b="1" dirty="0">
                          <a:solidFill>
                            <a:srgbClr val="000000"/>
                          </a:solidFill>
                          <a:effectLst/>
                          <a:latin typeface="+mn-lt"/>
                          <a:ea typeface="Calisto MT" panose="02040603050505030304" pitchFamily="18" charset="0"/>
                          <a:cs typeface="Libre Franklin Thin" pitchFamily="2" charset="0"/>
                        </a:rPr>
                        <a:t>Metering works Incl. PMA grant</a:t>
                      </a:r>
                      <a:endParaRPr lang="en-US" sz="1400" dirty="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fontAlgn="ctr">
                        <a:spcBef>
                          <a:spcPts val="0"/>
                        </a:spcBef>
                        <a:spcAft>
                          <a:spcPts val="0"/>
                        </a:spcAft>
                      </a:pPr>
                      <a:r>
                        <a:rPr lang="en-US" sz="1400">
                          <a:solidFill>
                            <a:srgbClr val="000000"/>
                          </a:solidFill>
                          <a:effectLst/>
                          <a:latin typeface="+mn-lt"/>
                          <a:ea typeface="Calisto MT" panose="02040603050505030304" pitchFamily="18" charset="0"/>
                          <a:cs typeface="Libre Franklin Thin" pitchFamily="2" charset="0"/>
                        </a:rPr>
                        <a:t>294424.48 </a:t>
                      </a:r>
                      <a:endParaRPr lang="en-US" sz="140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fontAlgn="ctr">
                        <a:spcBef>
                          <a:spcPts val="0"/>
                        </a:spcBef>
                        <a:spcAft>
                          <a:spcPts val="0"/>
                        </a:spcAft>
                      </a:pPr>
                      <a:r>
                        <a:rPr lang="en-US" sz="1400">
                          <a:solidFill>
                            <a:srgbClr val="000000"/>
                          </a:solidFill>
                          <a:effectLst/>
                          <a:latin typeface="+mn-lt"/>
                          <a:ea typeface="Calisto MT" panose="02040603050505030304" pitchFamily="18" charset="0"/>
                          <a:cs typeface="Libre Franklin Thin" pitchFamily="2" charset="0"/>
                        </a:rPr>
                        <a:t>Rs 900 for consumer metering and 15% for system metering</a:t>
                      </a:r>
                      <a:endParaRPr lang="en-US" sz="140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fontAlgn="ctr">
                        <a:spcBef>
                          <a:spcPts val="0"/>
                        </a:spcBef>
                        <a:spcAft>
                          <a:spcPts val="0"/>
                        </a:spcAft>
                      </a:pPr>
                      <a:r>
                        <a:rPr lang="en-US" sz="1400">
                          <a:solidFill>
                            <a:srgbClr val="000000"/>
                          </a:solidFill>
                          <a:effectLst/>
                          <a:latin typeface="+mn-lt"/>
                          <a:ea typeface="Calisto MT" panose="02040603050505030304" pitchFamily="18" charset="0"/>
                          <a:cs typeface="Libre Franklin Thin" pitchFamily="2" charset="0"/>
                        </a:rPr>
                        <a:t>45098.64 </a:t>
                      </a:r>
                      <a:endParaRPr lang="en-US" sz="140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fontAlgn="ctr">
                        <a:spcBef>
                          <a:spcPts val="0"/>
                        </a:spcBef>
                        <a:spcAft>
                          <a:spcPts val="0"/>
                        </a:spcAft>
                      </a:pPr>
                      <a:r>
                        <a:rPr lang="en-US" sz="1400">
                          <a:solidFill>
                            <a:srgbClr val="000000"/>
                          </a:solidFill>
                          <a:effectLst/>
                          <a:latin typeface="+mn-lt"/>
                          <a:ea typeface="Calisto MT" panose="02040603050505030304" pitchFamily="18" charset="0"/>
                          <a:cs typeface="Libre Franklin Thin" pitchFamily="2" charset="0"/>
                        </a:rPr>
                        <a:t>The remaining share is self-financing, WBSEDCL can also raise fund from State Govt/banks/FIs</a:t>
                      </a:r>
                      <a:endParaRPr lang="en-US" sz="140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584114601"/>
                  </a:ext>
                </a:extLst>
              </a:tr>
              <a:tr h="723900">
                <a:tc>
                  <a:txBody>
                    <a:bodyPr/>
                    <a:lstStyle/>
                    <a:p>
                      <a:pPr marL="0" marR="0" algn="ctr" fontAlgn="ctr">
                        <a:spcBef>
                          <a:spcPts val="0"/>
                        </a:spcBef>
                        <a:spcAft>
                          <a:spcPts val="0"/>
                        </a:spcAft>
                      </a:pPr>
                      <a:r>
                        <a:rPr lang="en-US" sz="1400" b="1">
                          <a:solidFill>
                            <a:srgbClr val="000000"/>
                          </a:solidFill>
                          <a:effectLst/>
                          <a:latin typeface="+mn-lt"/>
                          <a:ea typeface="Calisto MT" panose="02040603050505030304" pitchFamily="18" charset="0"/>
                          <a:cs typeface="Libre Franklin Thin" pitchFamily="2" charset="0"/>
                        </a:rPr>
                        <a:t>2 </a:t>
                      </a:r>
                      <a:endParaRPr lang="en-US" sz="140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fontAlgn="ctr">
                        <a:spcBef>
                          <a:spcPts val="0"/>
                        </a:spcBef>
                        <a:spcAft>
                          <a:spcPts val="0"/>
                        </a:spcAft>
                      </a:pPr>
                      <a:r>
                        <a:rPr lang="en-US" sz="1400" b="1">
                          <a:solidFill>
                            <a:srgbClr val="000000"/>
                          </a:solidFill>
                          <a:effectLst/>
                          <a:latin typeface="+mn-lt"/>
                          <a:ea typeface="Calisto MT" panose="02040603050505030304" pitchFamily="18" charset="0"/>
                          <a:cs typeface="Libre Franklin Thin" pitchFamily="2" charset="0"/>
                        </a:rPr>
                        <a:t>Distribution Infrastructure works Incl. PMA grant</a:t>
                      </a:r>
                      <a:endParaRPr lang="en-US" sz="140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fontAlgn="ctr">
                        <a:spcBef>
                          <a:spcPts val="0"/>
                        </a:spcBef>
                        <a:spcAft>
                          <a:spcPts val="0"/>
                        </a:spcAft>
                      </a:pPr>
                      <a:r>
                        <a:rPr lang="en-US" sz="1400">
                          <a:solidFill>
                            <a:srgbClr val="000000"/>
                          </a:solidFill>
                          <a:effectLst/>
                          <a:latin typeface="+mn-lt"/>
                          <a:ea typeface="Calisto MT" panose="02040603050505030304" pitchFamily="18" charset="0"/>
                          <a:cs typeface="Libre Franklin Thin" pitchFamily="2" charset="0"/>
                        </a:rPr>
                        <a:t>943879.94</a:t>
                      </a:r>
                      <a:endParaRPr lang="en-US" sz="140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fontAlgn="ctr">
                        <a:spcBef>
                          <a:spcPts val="0"/>
                        </a:spcBef>
                        <a:spcAft>
                          <a:spcPts val="0"/>
                        </a:spcAft>
                      </a:pPr>
                      <a:r>
                        <a:rPr lang="en-US" sz="1400">
                          <a:solidFill>
                            <a:srgbClr val="000000"/>
                          </a:solidFill>
                          <a:effectLst/>
                          <a:latin typeface="+mn-lt"/>
                          <a:ea typeface="Calisto MT" panose="02040603050505030304" pitchFamily="18" charset="0"/>
                          <a:cs typeface="Libre Franklin Thin" pitchFamily="2" charset="0"/>
                        </a:rPr>
                        <a:t>60% of Sanction Cost by Nodal Agency</a:t>
                      </a:r>
                      <a:endParaRPr lang="en-US" sz="140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fontAlgn="ctr">
                        <a:spcBef>
                          <a:spcPts val="0"/>
                        </a:spcBef>
                        <a:spcAft>
                          <a:spcPts val="0"/>
                        </a:spcAft>
                      </a:pPr>
                      <a:r>
                        <a:rPr lang="en-US" sz="1400">
                          <a:solidFill>
                            <a:srgbClr val="000000"/>
                          </a:solidFill>
                          <a:effectLst/>
                          <a:latin typeface="+mn-lt"/>
                          <a:ea typeface="Calisto MT" panose="02040603050505030304" pitchFamily="18" charset="0"/>
                          <a:cs typeface="Libre Franklin Thin" pitchFamily="2" charset="0"/>
                        </a:rPr>
                        <a:t>428880.00 </a:t>
                      </a:r>
                      <a:endParaRPr lang="en-US" sz="140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fontAlgn="ctr">
                        <a:spcBef>
                          <a:spcPts val="0"/>
                        </a:spcBef>
                        <a:spcAft>
                          <a:spcPts val="0"/>
                        </a:spcAft>
                      </a:pPr>
                      <a:r>
                        <a:rPr lang="en-US" sz="1400" dirty="0">
                          <a:solidFill>
                            <a:srgbClr val="000000"/>
                          </a:solidFill>
                          <a:effectLst/>
                          <a:latin typeface="+mn-lt"/>
                          <a:ea typeface="Calisto MT" panose="02040603050505030304" pitchFamily="18" charset="0"/>
                          <a:cs typeface="Libre Franklin Thin" pitchFamily="2" charset="0"/>
                        </a:rPr>
                        <a:t>For the remaining part, counterpart funding will be provided by WBSEDCL/State Govt/Bilateral/ Multilateral Agency/REC/ PFC etc.</a:t>
                      </a:r>
                      <a:endParaRPr lang="en-US" sz="1400" dirty="0">
                        <a:effectLst/>
                        <a:latin typeface="+mn-lt"/>
                        <a:ea typeface="Libre Franklin Thin" pitchFamily="2" charset="0"/>
                        <a:cs typeface="Libre Franklin Thin" pitchFamily="2"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2041200578"/>
                  </a:ext>
                </a:extLst>
              </a:tr>
            </a:tbl>
          </a:graphicData>
        </a:graphic>
      </p:graphicFrame>
    </p:spTree>
    <p:extLst>
      <p:ext uri="{BB962C8B-B14F-4D97-AF65-F5344CB8AC3E}">
        <p14:creationId xmlns:p14="http://schemas.microsoft.com/office/powerpoint/2010/main" val="3795158225"/>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8488"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66400"/>
            <a:ext cx="6066416" cy="403800"/>
          </a:xfrm>
        </p:spPr>
        <p:txBody>
          <a:bodyPr vert="horz"/>
          <a:lstStyle/>
          <a:p>
            <a:pPr algn="just"/>
            <a:r>
              <a:rPr lang="en-US" sz="1800" b="1" i="0" dirty="0">
                <a:solidFill>
                  <a:schemeClr val="tx1"/>
                </a:solidFill>
              </a:rPr>
              <a:t>Loss Reduction Work – Priority wise break up</a:t>
            </a:r>
          </a:p>
        </p:txBody>
      </p:sp>
      <p:sp>
        <p:nvSpPr>
          <p:cNvPr id="8" name="TextBox 7">
            <a:extLst>
              <a:ext uri="{FF2B5EF4-FFF2-40B4-BE49-F238E27FC236}">
                <a16:creationId xmlns:a16="http://schemas.microsoft.com/office/drawing/2014/main" id="{CA833FAD-70E4-4AF3-B291-0A1B64A6AE4E}"/>
              </a:ext>
            </a:extLst>
          </p:cNvPr>
          <p:cNvSpPr txBox="1"/>
          <p:nvPr/>
        </p:nvSpPr>
        <p:spPr>
          <a:xfrm>
            <a:off x="345535" y="742117"/>
            <a:ext cx="11664328" cy="2051908"/>
          </a:xfrm>
          <a:prstGeom prst="rect">
            <a:avLst/>
          </a:prstGeom>
          <a:solidFill>
            <a:schemeClr val="accent1">
              <a:lumMod val="20000"/>
              <a:lumOff val="80000"/>
            </a:schemeClr>
          </a:solidFill>
        </p:spPr>
        <p:txBody>
          <a:bodyPr wrap="square">
            <a:spAutoFit/>
          </a:bodyPr>
          <a:lstStyle/>
          <a:p>
            <a:pPr marL="342900" marR="0" lvl="0" indent="-342900" algn="just">
              <a:lnSpc>
                <a:spcPct val="150000"/>
              </a:lnSpc>
              <a:spcBef>
                <a:spcPts val="0"/>
              </a:spcBef>
              <a:spcAft>
                <a:spcPts val="500"/>
              </a:spcAft>
              <a:buFont typeface="Wingdings" panose="05000000000000000000" pitchFamily="2" charset="2"/>
              <a:buChar char=""/>
            </a:pPr>
            <a:r>
              <a:rPr lang="en-US" sz="1400" b="1" dirty="0">
                <a:effectLst/>
                <a:ea typeface="Times New Roman" panose="02020603050405020304" pitchFamily="18" charset="0"/>
              </a:rPr>
              <a:t>Priority 1</a:t>
            </a:r>
            <a:r>
              <a:rPr lang="en-US" sz="1400" dirty="0">
                <a:effectLst/>
                <a:ea typeface="Times New Roman" panose="02020603050405020304" pitchFamily="18" charset="0"/>
              </a:rPr>
              <a:t> : AB cabling work in loss prone divisions with estimated project outlay of Rs 6668.75 Cr</a:t>
            </a:r>
          </a:p>
          <a:p>
            <a:pPr marL="342900" marR="0" lvl="0" indent="-342900" algn="just">
              <a:lnSpc>
                <a:spcPct val="150000"/>
              </a:lnSpc>
              <a:buFont typeface="Wingdings" panose="05000000000000000000" pitchFamily="2" charset="2"/>
              <a:buChar char=""/>
            </a:pPr>
            <a:r>
              <a:rPr lang="en-US" sz="1400" b="1" dirty="0">
                <a:effectLst/>
                <a:ea typeface="Times New Roman" panose="02020603050405020304" pitchFamily="18" charset="0"/>
              </a:rPr>
              <a:t>Priority 2 </a:t>
            </a:r>
            <a:r>
              <a:rPr lang="en-US" sz="1400" dirty="0">
                <a:effectLst/>
                <a:ea typeface="Times New Roman" panose="02020603050405020304" pitchFamily="18" charset="0"/>
              </a:rPr>
              <a:t>: IT/OT &amp; Data </a:t>
            </a:r>
            <a:r>
              <a:rPr lang="en-US" sz="1400" dirty="0" err="1">
                <a:effectLst/>
                <a:ea typeface="Times New Roman" panose="02020603050405020304" pitchFamily="18" charset="0"/>
              </a:rPr>
              <a:t>centre</a:t>
            </a:r>
            <a:r>
              <a:rPr lang="en-US" sz="1400" dirty="0">
                <a:effectLst/>
                <a:ea typeface="Times New Roman" panose="02020603050405020304" pitchFamily="18" charset="0"/>
              </a:rPr>
              <a:t> Upgrade for unified Billing, DCU/SIM work with estimated project outlay of  Rs. 218.26 Cr</a:t>
            </a:r>
          </a:p>
          <a:p>
            <a:pPr marL="342900" marR="0" lvl="0" indent="-342900" algn="just">
              <a:lnSpc>
                <a:spcPct val="150000"/>
              </a:lnSpc>
              <a:buFont typeface="Wingdings" panose="05000000000000000000" pitchFamily="2" charset="2"/>
              <a:buChar char=""/>
            </a:pPr>
            <a:r>
              <a:rPr lang="en-US" sz="1400" b="1" dirty="0">
                <a:effectLst/>
                <a:ea typeface="Times New Roman" panose="02020603050405020304" pitchFamily="18" charset="0"/>
              </a:rPr>
              <a:t>Priority 3 </a:t>
            </a:r>
            <a:r>
              <a:rPr lang="en-US" sz="1400" dirty="0">
                <a:effectLst/>
                <a:ea typeface="Times New Roman" panose="02020603050405020304" pitchFamily="18" charset="0"/>
              </a:rPr>
              <a:t>: Feeder segregation and bifurcation work with estimated project outlay of Rs 364.39 </a:t>
            </a:r>
            <a:r>
              <a:rPr lang="en-US" sz="1400" dirty="0" err="1">
                <a:effectLst/>
                <a:ea typeface="Times New Roman" panose="02020603050405020304" pitchFamily="18" charset="0"/>
              </a:rPr>
              <a:t>cr</a:t>
            </a:r>
            <a:endParaRPr lang="en-US" sz="1400" dirty="0">
              <a:effectLst/>
              <a:ea typeface="Times New Roman" panose="02020603050405020304" pitchFamily="18" charset="0"/>
            </a:endParaRPr>
          </a:p>
          <a:p>
            <a:pPr marL="342900" marR="0" lvl="0" indent="-342900" algn="just">
              <a:lnSpc>
                <a:spcPct val="150000"/>
              </a:lnSpc>
              <a:buFont typeface="Wingdings" panose="05000000000000000000" pitchFamily="2" charset="2"/>
              <a:buChar char=""/>
            </a:pPr>
            <a:r>
              <a:rPr lang="en-US" sz="1400" b="1" dirty="0">
                <a:effectLst/>
                <a:ea typeface="Times New Roman" panose="02020603050405020304" pitchFamily="18" charset="0"/>
              </a:rPr>
              <a:t>Priority 4 </a:t>
            </a:r>
            <a:r>
              <a:rPr lang="en-US" sz="1400" dirty="0">
                <a:effectLst/>
                <a:ea typeface="Times New Roman" panose="02020603050405020304" pitchFamily="18" charset="0"/>
              </a:rPr>
              <a:t>: Installation of 11KV Capacitor Bank in 33/11 KV Sub-Station  with estimated project outlay of Rs 12.24 Cr</a:t>
            </a:r>
          </a:p>
          <a:p>
            <a:pPr marL="342900" marR="0" lvl="0" indent="-342900" algn="just">
              <a:lnSpc>
                <a:spcPct val="150000"/>
              </a:lnSpc>
              <a:buFont typeface="Wingdings" panose="05000000000000000000" pitchFamily="2" charset="2"/>
              <a:buChar char=""/>
            </a:pPr>
            <a:r>
              <a:rPr lang="en-US" sz="1400" b="1" dirty="0">
                <a:effectLst/>
                <a:ea typeface="Times New Roman" panose="02020603050405020304" pitchFamily="18" charset="0"/>
              </a:rPr>
              <a:t>Priority 5 </a:t>
            </a:r>
            <a:r>
              <a:rPr lang="en-US" sz="1400" dirty="0">
                <a:effectLst/>
                <a:ea typeface="Times New Roman" panose="02020603050405020304" pitchFamily="18" charset="0"/>
              </a:rPr>
              <a:t>: Installation of Public Charging Infrastructure for Electric Vehicles (EVs)  with estimated project outlay of Rs 73.33 Cr</a:t>
            </a:r>
          </a:p>
        </p:txBody>
      </p:sp>
      <p:sp>
        <p:nvSpPr>
          <p:cNvPr id="9" name="Title 3">
            <a:extLst>
              <a:ext uri="{FF2B5EF4-FFF2-40B4-BE49-F238E27FC236}">
                <a16:creationId xmlns:a16="http://schemas.microsoft.com/office/drawing/2014/main" id="{C939F13F-A4D9-4506-9119-1D05E54049C0}"/>
              </a:ext>
            </a:extLst>
          </p:cNvPr>
          <p:cNvSpPr txBox="1">
            <a:spLocks/>
          </p:cNvSpPr>
          <p:nvPr/>
        </p:nvSpPr>
        <p:spPr bwMode="gray">
          <a:xfrm>
            <a:off x="501651" y="2929616"/>
            <a:ext cx="7148085" cy="328779"/>
          </a:xfrm>
          <a:prstGeom prst="rect">
            <a:avLst/>
          </a:prstGeom>
        </p:spPr>
        <p:txBody>
          <a:bodyPr vert="horz" lIns="0" tIns="0" rIns="0" bIns="0" rtlCol="0" anchor="t" anchorCtr="0">
            <a:noAutofit/>
          </a:bodyPr>
          <a:lstStyle>
            <a:lvl1pPr algn="l" defTabSz="1219231" rtl="0" eaLnBrk="1" latinLnBrk="0" hangingPunct="1">
              <a:spcBef>
                <a:spcPct val="0"/>
              </a:spcBef>
              <a:buNone/>
              <a:defRPr sz="2000" kern="1200">
                <a:solidFill>
                  <a:schemeClr val="tx1"/>
                </a:solidFill>
                <a:latin typeface="+mj-lt"/>
                <a:ea typeface="+mj-ea"/>
                <a:cs typeface="+mj-cs"/>
              </a:defRPr>
            </a:lvl1pPr>
          </a:lstStyle>
          <a:p>
            <a:pPr algn="just"/>
            <a:r>
              <a:rPr lang="en-US" sz="1800" b="1" dirty="0"/>
              <a:t>Distribution Modernization  – Priority wise break up</a:t>
            </a:r>
          </a:p>
        </p:txBody>
      </p:sp>
      <p:sp>
        <p:nvSpPr>
          <p:cNvPr id="7" name="TextBox 6">
            <a:extLst>
              <a:ext uri="{FF2B5EF4-FFF2-40B4-BE49-F238E27FC236}">
                <a16:creationId xmlns:a16="http://schemas.microsoft.com/office/drawing/2014/main" id="{A496C0D6-8CB6-4AFC-9256-FCF463AFD1C4}"/>
              </a:ext>
            </a:extLst>
          </p:cNvPr>
          <p:cNvSpPr txBox="1"/>
          <p:nvPr/>
        </p:nvSpPr>
        <p:spPr>
          <a:xfrm>
            <a:off x="345536" y="3330313"/>
            <a:ext cx="11664328" cy="3280450"/>
          </a:xfrm>
          <a:prstGeom prst="rect">
            <a:avLst/>
          </a:prstGeom>
          <a:solidFill>
            <a:schemeClr val="accent5">
              <a:lumMod val="20000"/>
              <a:lumOff val="80000"/>
            </a:schemeClr>
          </a:solidFill>
        </p:spPr>
        <p:txBody>
          <a:bodyPr wrap="square">
            <a:spAutoFit/>
          </a:bodyPr>
          <a:lstStyle/>
          <a:p>
            <a:pPr marL="342900" marR="0" lvl="0" indent="-342900" algn="just">
              <a:lnSpc>
                <a:spcPct val="150000"/>
              </a:lnSpc>
              <a:spcBef>
                <a:spcPts val="0"/>
              </a:spcBef>
              <a:spcAft>
                <a:spcPts val="0"/>
              </a:spcAft>
              <a:buFont typeface="Wingdings" panose="05000000000000000000" pitchFamily="2" charset="2"/>
              <a:buChar char=""/>
            </a:pPr>
            <a:r>
              <a:rPr lang="en-US" sz="1400" b="1" dirty="0">
                <a:effectLst/>
                <a:ea typeface="Times New Roman" panose="02020603050405020304" pitchFamily="18" charset="0"/>
              </a:rPr>
              <a:t>Priority 1 </a:t>
            </a:r>
            <a:r>
              <a:rPr lang="en-US" sz="1400" dirty="0">
                <a:effectLst/>
                <a:ea typeface="Times New Roman" panose="02020603050405020304" pitchFamily="18" charset="0"/>
              </a:rPr>
              <a:t>:</a:t>
            </a:r>
            <a:r>
              <a:rPr lang="en-US" sz="1400" b="1" dirty="0">
                <a:effectLst/>
                <a:ea typeface="Times New Roman" panose="02020603050405020304" pitchFamily="18" charset="0"/>
              </a:rPr>
              <a:t> </a:t>
            </a:r>
            <a:r>
              <a:rPr lang="en-US" sz="1400" dirty="0">
                <a:effectLst/>
                <a:ea typeface="Times New Roman" panose="02020603050405020304" pitchFamily="18" charset="0"/>
              </a:rPr>
              <a:t>Construction of new 33kV/11kV substation and augmentation of 33kV/11kV substation with estimated project outlay of Rs 1305.87 cr.</a:t>
            </a:r>
          </a:p>
          <a:p>
            <a:pPr marL="342900" marR="0" lvl="0" indent="-342900" algn="just">
              <a:lnSpc>
                <a:spcPct val="150000"/>
              </a:lnSpc>
              <a:spcBef>
                <a:spcPts val="0"/>
              </a:spcBef>
              <a:spcAft>
                <a:spcPts val="0"/>
              </a:spcAft>
              <a:buFont typeface="Wingdings" panose="05000000000000000000" pitchFamily="2" charset="2"/>
              <a:buChar char=""/>
            </a:pPr>
            <a:r>
              <a:rPr lang="en-US" sz="1400" b="1" dirty="0">
                <a:effectLst/>
                <a:ea typeface="Times New Roman" panose="02020603050405020304" pitchFamily="18" charset="0"/>
              </a:rPr>
              <a:t>Priority 2 </a:t>
            </a:r>
            <a:r>
              <a:rPr lang="en-US" sz="1400" dirty="0">
                <a:effectLst/>
                <a:ea typeface="Times New Roman" panose="02020603050405020304" pitchFamily="18" charset="0"/>
              </a:rPr>
              <a:t>: Augmentation of Existing 33/11Kv  Sub-stations with estimated project outlay of Rs 139.40 cr.</a:t>
            </a:r>
          </a:p>
          <a:p>
            <a:pPr marL="342900" marR="0" lvl="0" indent="-342900" algn="just">
              <a:lnSpc>
                <a:spcPct val="150000"/>
              </a:lnSpc>
              <a:spcBef>
                <a:spcPts val="0"/>
              </a:spcBef>
              <a:spcAft>
                <a:spcPts val="0"/>
              </a:spcAft>
              <a:buFont typeface="Wingdings" panose="05000000000000000000" pitchFamily="2" charset="2"/>
              <a:buChar char=""/>
            </a:pPr>
            <a:r>
              <a:rPr lang="en-US" sz="1400" b="1" dirty="0">
                <a:effectLst/>
                <a:ea typeface="Times New Roman" panose="02020603050405020304" pitchFamily="18" charset="0"/>
              </a:rPr>
              <a:t>Priority 2 </a:t>
            </a:r>
            <a:r>
              <a:rPr lang="en-US" sz="1400" dirty="0">
                <a:effectLst/>
                <a:ea typeface="Times New Roman" panose="02020603050405020304" pitchFamily="18" charset="0"/>
              </a:rPr>
              <a:t>: Renovation and modernization of 33kV/11kV substations with estimated project outlay of Rs 146.03 cr.</a:t>
            </a:r>
          </a:p>
          <a:p>
            <a:pPr marL="342900" marR="0" lvl="0" indent="-342900" algn="just">
              <a:lnSpc>
                <a:spcPct val="150000"/>
              </a:lnSpc>
              <a:spcBef>
                <a:spcPts val="0"/>
              </a:spcBef>
              <a:spcAft>
                <a:spcPts val="0"/>
              </a:spcAft>
              <a:buFont typeface="Wingdings" panose="05000000000000000000" pitchFamily="2" charset="2"/>
              <a:buChar char=""/>
            </a:pPr>
            <a:r>
              <a:rPr lang="en-US" sz="1400" b="1" dirty="0">
                <a:effectLst/>
                <a:ea typeface="Times New Roman" panose="02020603050405020304" pitchFamily="18" charset="0"/>
              </a:rPr>
              <a:t>Priority 3 </a:t>
            </a:r>
            <a:r>
              <a:rPr lang="en-US" sz="1400" dirty="0">
                <a:effectLst/>
                <a:ea typeface="Times New Roman" panose="02020603050405020304" pitchFamily="18" charset="0"/>
              </a:rPr>
              <a:t>:   Installation of  New DTR and </a:t>
            </a:r>
            <a:r>
              <a:rPr lang="en-US" sz="1400" dirty="0" err="1">
                <a:effectLst/>
                <a:ea typeface="Times New Roman" panose="02020603050405020304" pitchFamily="18" charset="0"/>
              </a:rPr>
              <a:t>Modernisation</a:t>
            </a:r>
            <a:r>
              <a:rPr lang="en-US" sz="1400" dirty="0">
                <a:effectLst/>
                <a:ea typeface="Times New Roman" panose="02020603050405020304" pitchFamily="18" charset="0"/>
              </a:rPr>
              <a:t> of System by replacing 1-Phase DTR with estimated project outlay of Rs 49.56 Cr.</a:t>
            </a:r>
          </a:p>
          <a:p>
            <a:pPr marL="342900" marR="0" lvl="0" indent="-342900" algn="just">
              <a:lnSpc>
                <a:spcPct val="150000"/>
              </a:lnSpc>
              <a:spcBef>
                <a:spcPts val="0"/>
              </a:spcBef>
              <a:spcAft>
                <a:spcPts val="0"/>
              </a:spcAft>
              <a:buFont typeface="Wingdings" panose="05000000000000000000" pitchFamily="2" charset="2"/>
              <a:buChar char=""/>
            </a:pPr>
            <a:r>
              <a:rPr lang="en-US" sz="1400" b="1" dirty="0">
                <a:effectLst/>
                <a:ea typeface="Times New Roman" panose="02020603050405020304" pitchFamily="18" charset="0"/>
              </a:rPr>
              <a:t>Priority 4 </a:t>
            </a:r>
            <a:r>
              <a:rPr lang="en-US" sz="1400" dirty="0">
                <a:effectLst/>
                <a:ea typeface="Times New Roman" panose="02020603050405020304" pitchFamily="18" charset="0"/>
              </a:rPr>
              <a:t>:   Implementation   SCADA, DMS, OMS and RT-DAS  with estimated project outlay of Rs 42.98 Cr</a:t>
            </a:r>
          </a:p>
          <a:p>
            <a:pPr marL="342900" marR="0" lvl="0" indent="-342900" algn="just">
              <a:lnSpc>
                <a:spcPct val="150000"/>
              </a:lnSpc>
              <a:spcBef>
                <a:spcPts val="0"/>
              </a:spcBef>
              <a:spcAft>
                <a:spcPts val="0"/>
              </a:spcAft>
              <a:buFont typeface="Wingdings" panose="05000000000000000000" pitchFamily="2" charset="2"/>
              <a:buChar char=""/>
            </a:pPr>
            <a:r>
              <a:rPr lang="en-US" sz="1400" b="1" dirty="0">
                <a:effectLst/>
                <a:ea typeface="Times New Roman" panose="02020603050405020304" pitchFamily="18" charset="0"/>
              </a:rPr>
              <a:t>Priority 5 </a:t>
            </a:r>
            <a:r>
              <a:rPr lang="en-US" sz="1400" dirty="0">
                <a:effectLst/>
                <a:ea typeface="Times New Roman" panose="02020603050405020304" pitchFamily="18" charset="0"/>
              </a:rPr>
              <a:t>:   Disaster Resilient Infrastructure Works with estimated project outlay of Rs 60.15  Cr</a:t>
            </a:r>
          </a:p>
          <a:p>
            <a:pPr marL="342900" marR="0" lvl="0" indent="-342900" algn="just">
              <a:lnSpc>
                <a:spcPct val="150000"/>
              </a:lnSpc>
              <a:spcBef>
                <a:spcPts val="0"/>
              </a:spcBef>
              <a:spcAft>
                <a:spcPts val="0"/>
              </a:spcAft>
              <a:buFont typeface="Wingdings" panose="05000000000000000000" pitchFamily="2" charset="2"/>
              <a:buChar char=""/>
            </a:pPr>
            <a:r>
              <a:rPr lang="en-US" sz="1400" b="1" dirty="0">
                <a:effectLst/>
                <a:ea typeface="Times New Roman" panose="02020603050405020304" pitchFamily="18" charset="0"/>
              </a:rPr>
              <a:t>Priority 6 </a:t>
            </a:r>
            <a:r>
              <a:rPr lang="en-US" sz="1400" dirty="0">
                <a:effectLst/>
                <a:ea typeface="Times New Roman" panose="02020603050405020304" pitchFamily="18" charset="0"/>
              </a:rPr>
              <a:t>:   ERP Infra, HANA, Oracle Licenses, SOC Implementation and other  Miscellaneous Work with estimated project outlay of Rs 83.00  Cr</a:t>
            </a:r>
          </a:p>
        </p:txBody>
      </p:sp>
    </p:spTree>
    <p:extLst>
      <p:ext uri="{BB962C8B-B14F-4D97-AF65-F5344CB8AC3E}">
        <p14:creationId xmlns:p14="http://schemas.microsoft.com/office/powerpoint/2010/main" val="3656791441"/>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9512"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190199"/>
            <a:ext cx="11184826" cy="582791"/>
          </a:xfrm>
        </p:spPr>
        <p:txBody>
          <a:bodyPr vert="horz"/>
          <a:lstStyle/>
          <a:p>
            <a:pPr algn="just"/>
            <a:r>
              <a:rPr lang="en-US" sz="1800" b="1" dirty="0"/>
              <a:t>Year on Year Phasing of Project Cost (1/3)</a:t>
            </a:r>
            <a:endParaRPr lang="en-US" sz="1800" b="1" i="0" dirty="0">
              <a:solidFill>
                <a:schemeClr val="tx1"/>
              </a:solidFill>
            </a:endParaRPr>
          </a:p>
        </p:txBody>
      </p:sp>
      <p:sp>
        <p:nvSpPr>
          <p:cNvPr id="9" name="TextBox 8">
            <a:extLst>
              <a:ext uri="{FF2B5EF4-FFF2-40B4-BE49-F238E27FC236}">
                <a16:creationId xmlns:a16="http://schemas.microsoft.com/office/drawing/2014/main" id="{7A33CCE3-1DF6-4BCA-9038-AC7821127F04}"/>
              </a:ext>
            </a:extLst>
          </p:cNvPr>
          <p:cNvSpPr txBox="1"/>
          <p:nvPr/>
        </p:nvSpPr>
        <p:spPr>
          <a:xfrm>
            <a:off x="610054" y="707780"/>
            <a:ext cx="6096000" cy="338554"/>
          </a:xfrm>
          <a:prstGeom prst="rect">
            <a:avLst/>
          </a:prstGeom>
          <a:noFill/>
        </p:spPr>
        <p:txBody>
          <a:bodyPr wrap="square">
            <a:spAutoFit/>
          </a:bodyPr>
          <a:lstStyle/>
          <a:p>
            <a:r>
              <a:rPr lang="en-US" sz="1600" b="1" dirty="0">
                <a:effectLst/>
                <a:latin typeface="+mj-lt"/>
                <a:ea typeface="Libre Franklin Thin" pitchFamily="2" charset="0"/>
              </a:rPr>
              <a:t>a) Metering Works</a:t>
            </a:r>
            <a:endParaRPr lang="en-US" sz="1600" dirty="0">
              <a:latin typeface="+mj-lt"/>
            </a:endParaRPr>
          </a:p>
        </p:txBody>
      </p:sp>
      <p:graphicFrame>
        <p:nvGraphicFramePr>
          <p:cNvPr id="6" name="Table 5">
            <a:extLst>
              <a:ext uri="{FF2B5EF4-FFF2-40B4-BE49-F238E27FC236}">
                <a16:creationId xmlns:a16="http://schemas.microsoft.com/office/drawing/2014/main" id="{37493306-BB3B-493B-87D3-B3A7003325EE}"/>
              </a:ext>
            </a:extLst>
          </p:cNvPr>
          <p:cNvGraphicFramePr>
            <a:graphicFrameLocks noGrp="1"/>
          </p:cNvGraphicFramePr>
          <p:nvPr>
            <p:extLst>
              <p:ext uri="{D42A27DB-BD31-4B8C-83A1-F6EECF244321}">
                <p14:modId xmlns:p14="http://schemas.microsoft.com/office/powerpoint/2010/main" val="1891357676"/>
              </p:ext>
            </p:extLst>
          </p:nvPr>
        </p:nvGraphicFramePr>
        <p:xfrm>
          <a:off x="501652" y="1315423"/>
          <a:ext cx="11188698" cy="4035280"/>
        </p:xfrm>
        <a:graphic>
          <a:graphicData uri="http://schemas.openxmlformats.org/drawingml/2006/table">
            <a:tbl>
              <a:tblPr firstRow="1" firstCol="1" bandRow="1"/>
              <a:tblGrid>
                <a:gridCol w="880834">
                  <a:extLst>
                    <a:ext uri="{9D8B030D-6E8A-4147-A177-3AD203B41FA5}">
                      <a16:colId xmlns:a16="http://schemas.microsoft.com/office/drawing/2014/main" val="1051165014"/>
                    </a:ext>
                  </a:extLst>
                </a:gridCol>
                <a:gridCol w="3666253">
                  <a:extLst>
                    <a:ext uri="{9D8B030D-6E8A-4147-A177-3AD203B41FA5}">
                      <a16:colId xmlns:a16="http://schemas.microsoft.com/office/drawing/2014/main" val="1811717651"/>
                    </a:ext>
                  </a:extLst>
                </a:gridCol>
                <a:gridCol w="1812569">
                  <a:extLst>
                    <a:ext uri="{9D8B030D-6E8A-4147-A177-3AD203B41FA5}">
                      <a16:colId xmlns:a16="http://schemas.microsoft.com/office/drawing/2014/main" val="3820571546"/>
                    </a:ext>
                  </a:extLst>
                </a:gridCol>
                <a:gridCol w="1908792">
                  <a:extLst>
                    <a:ext uri="{9D8B030D-6E8A-4147-A177-3AD203B41FA5}">
                      <a16:colId xmlns:a16="http://schemas.microsoft.com/office/drawing/2014/main" val="1495054711"/>
                    </a:ext>
                  </a:extLst>
                </a:gridCol>
                <a:gridCol w="1353614">
                  <a:extLst>
                    <a:ext uri="{9D8B030D-6E8A-4147-A177-3AD203B41FA5}">
                      <a16:colId xmlns:a16="http://schemas.microsoft.com/office/drawing/2014/main" val="454137968"/>
                    </a:ext>
                  </a:extLst>
                </a:gridCol>
                <a:gridCol w="1566636">
                  <a:extLst>
                    <a:ext uri="{9D8B030D-6E8A-4147-A177-3AD203B41FA5}">
                      <a16:colId xmlns:a16="http://schemas.microsoft.com/office/drawing/2014/main" val="2783371492"/>
                    </a:ext>
                  </a:extLst>
                </a:gridCol>
              </a:tblGrid>
              <a:tr h="303907">
                <a:tc rowSpan="2">
                  <a:txBody>
                    <a:bodyPr/>
                    <a:lstStyle/>
                    <a:p>
                      <a:pPr marL="0" marR="0" algn="ctr">
                        <a:spcBef>
                          <a:spcPts val="0"/>
                        </a:spcBef>
                        <a:spcAft>
                          <a:spcPts val="0"/>
                        </a:spcAft>
                      </a:pPr>
                      <a:r>
                        <a:rPr lang="en-US" sz="1400" b="1" dirty="0">
                          <a:solidFill>
                            <a:schemeClr val="bg1"/>
                          </a:solidFill>
                          <a:effectLst/>
                          <a:latin typeface="+mn-lt"/>
                          <a:ea typeface="Times New Roman" panose="02020603050405020304" pitchFamily="18" charset="0"/>
                          <a:cs typeface="Libre Franklin Thin" pitchFamily="2" charset="0"/>
                        </a:rPr>
                        <a:t>Sl. No.</a:t>
                      </a:r>
                      <a:endParaRPr lang="en-US" sz="1400" dirty="0">
                        <a:solidFill>
                          <a:schemeClr val="bg1"/>
                        </a:solidFill>
                        <a:effectLst/>
                        <a:latin typeface="+mn-lt"/>
                        <a:ea typeface="Libre Franklin Thin" pitchFamily="2" charset="0"/>
                        <a:cs typeface="Libre Franklin Thin" pitchFamily="2" charset="0"/>
                      </a:endParaRPr>
                    </a:p>
                  </a:txBody>
                  <a:tcPr marL="64906" marR="64906" marT="0" marB="0" anchor="ctr">
                    <a:lnL w="12700" cap="flat" cmpd="sng" algn="ctr">
                      <a:solidFill>
                        <a:srgbClr val="5B9BD5"/>
                      </a:solidFill>
                      <a:prstDash val="solid"/>
                      <a:round/>
                      <a:headEnd type="none" w="med" len="med"/>
                      <a:tailEnd type="none" w="med" len="med"/>
                    </a:lnL>
                    <a:lnR>
                      <a:noFill/>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007680"/>
                    </a:solidFill>
                  </a:tcPr>
                </a:tc>
                <a:tc rowSpan="2">
                  <a:txBody>
                    <a:bodyPr/>
                    <a:lstStyle/>
                    <a:p>
                      <a:pPr marL="0" marR="0" algn="ctr">
                        <a:spcBef>
                          <a:spcPts val="0"/>
                        </a:spcBef>
                        <a:spcAft>
                          <a:spcPts val="0"/>
                        </a:spcAft>
                      </a:pPr>
                      <a:r>
                        <a:rPr lang="en-US" sz="1400" b="1" dirty="0">
                          <a:solidFill>
                            <a:schemeClr val="bg1"/>
                          </a:solidFill>
                          <a:effectLst/>
                          <a:latin typeface="+mn-lt"/>
                          <a:ea typeface="Times New Roman" panose="02020603050405020304" pitchFamily="18" charset="0"/>
                          <a:cs typeface="Libre Franklin Thin" pitchFamily="2" charset="0"/>
                        </a:rPr>
                        <a:t>Targeted interventions for Metering Work</a:t>
                      </a:r>
                      <a:endParaRPr lang="en-US" sz="1400" dirty="0">
                        <a:solidFill>
                          <a:schemeClr val="bg1"/>
                        </a:solidFill>
                        <a:effectLst/>
                        <a:latin typeface="+mn-lt"/>
                        <a:ea typeface="Libre Franklin Thin" pitchFamily="2" charset="0"/>
                        <a:cs typeface="Libre Franklin Thin" pitchFamily="2" charset="0"/>
                      </a:endParaRPr>
                    </a:p>
                  </a:txBody>
                  <a:tcPr marL="64906" marR="64906"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007680"/>
                    </a:solidFill>
                  </a:tcPr>
                </a:tc>
                <a:tc gridSpan="3">
                  <a:txBody>
                    <a:bodyPr/>
                    <a:lstStyle/>
                    <a:p>
                      <a:pPr marL="0" marR="0" algn="ctr">
                        <a:spcBef>
                          <a:spcPts val="0"/>
                        </a:spcBef>
                        <a:spcAft>
                          <a:spcPts val="0"/>
                        </a:spcAft>
                      </a:pPr>
                      <a:r>
                        <a:rPr lang="en-US" sz="1400" b="1" dirty="0">
                          <a:solidFill>
                            <a:schemeClr val="bg1"/>
                          </a:solidFill>
                          <a:effectLst/>
                          <a:latin typeface="+mn-lt"/>
                          <a:ea typeface="Times New Roman" panose="02020603050405020304" pitchFamily="18" charset="0"/>
                          <a:cs typeface="Libre Franklin Thin" pitchFamily="2" charset="0"/>
                        </a:rPr>
                        <a:t>Year on year phasing of project Cost (INR Cr.) based on Physical targets</a:t>
                      </a:r>
                      <a:endParaRPr lang="en-US" sz="1400" dirty="0">
                        <a:solidFill>
                          <a:schemeClr val="bg1"/>
                        </a:solidFill>
                        <a:effectLst/>
                        <a:latin typeface="+mn-lt"/>
                        <a:ea typeface="Libre Franklin Thin" pitchFamily="2" charset="0"/>
                        <a:cs typeface="Libre Franklin Thin" pitchFamily="2" charset="0"/>
                      </a:endParaRPr>
                    </a:p>
                  </a:txBody>
                  <a:tcPr marL="64906" marR="64906"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007680"/>
                    </a:solidFill>
                  </a:tcPr>
                </a:tc>
                <a:tc hMerge="1">
                  <a:txBody>
                    <a:bodyPr/>
                    <a:lstStyle/>
                    <a:p>
                      <a:endParaRPr lang="en-US"/>
                    </a:p>
                  </a:txBody>
                  <a:tcPr/>
                </a:tc>
                <a:tc hMerge="1">
                  <a:txBody>
                    <a:bodyPr/>
                    <a:lstStyle/>
                    <a:p>
                      <a:endParaRPr lang="en-US"/>
                    </a:p>
                  </a:txBody>
                  <a:tcPr/>
                </a:tc>
                <a:tc rowSpan="2">
                  <a:txBody>
                    <a:bodyPr/>
                    <a:lstStyle/>
                    <a:p>
                      <a:pPr marL="0" marR="0" algn="ctr">
                        <a:spcBef>
                          <a:spcPts val="0"/>
                        </a:spcBef>
                        <a:spcAft>
                          <a:spcPts val="0"/>
                        </a:spcAft>
                      </a:pPr>
                      <a:r>
                        <a:rPr lang="en-US" sz="1400" b="1" dirty="0">
                          <a:solidFill>
                            <a:schemeClr val="bg1"/>
                          </a:solidFill>
                          <a:effectLst/>
                          <a:latin typeface="+mn-lt"/>
                          <a:ea typeface="Times New Roman" panose="02020603050405020304" pitchFamily="18" charset="0"/>
                          <a:cs typeface="Libre Franklin Thin" pitchFamily="2" charset="0"/>
                        </a:rPr>
                        <a:t>Estimated Outlay as per DPR (Rs. Cr)</a:t>
                      </a:r>
                      <a:endParaRPr lang="en-US" sz="1400" dirty="0">
                        <a:solidFill>
                          <a:schemeClr val="bg1"/>
                        </a:solidFill>
                        <a:effectLst/>
                        <a:latin typeface="+mn-lt"/>
                        <a:ea typeface="Libre Franklin Thin" pitchFamily="2" charset="0"/>
                        <a:cs typeface="Libre Franklin Thin" pitchFamily="2" charset="0"/>
                      </a:endParaRPr>
                    </a:p>
                  </a:txBody>
                  <a:tcPr marL="64906" marR="64906" marT="0" marB="0" anchor="ctr">
                    <a:lnL>
                      <a:noFill/>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007680"/>
                    </a:solidFill>
                  </a:tcPr>
                </a:tc>
                <a:extLst>
                  <a:ext uri="{0D108BD9-81ED-4DB2-BD59-A6C34878D82A}">
                    <a16:rowId xmlns:a16="http://schemas.microsoft.com/office/drawing/2014/main" val="3351479979"/>
                  </a:ext>
                </a:extLst>
              </a:tr>
              <a:tr h="57069">
                <a:tc vMerge="1">
                  <a:txBody>
                    <a:bodyPr/>
                    <a:lstStyle/>
                    <a:p>
                      <a:endParaRPr lang="en-US"/>
                    </a:p>
                  </a:txBody>
                  <a:tcPr/>
                </a:tc>
                <a:tc vMerge="1">
                  <a:txBody>
                    <a:bodyPr/>
                    <a:lstStyle/>
                    <a:p>
                      <a:endParaRPr lang="en-US"/>
                    </a:p>
                  </a:txBody>
                  <a:tcPr/>
                </a:tc>
                <a:tc>
                  <a:txBody>
                    <a:bodyPr/>
                    <a:lstStyle/>
                    <a:p>
                      <a:pPr marL="0" marR="0" algn="ctr">
                        <a:spcBef>
                          <a:spcPts val="0"/>
                        </a:spcBef>
                        <a:spcAft>
                          <a:spcPts val="0"/>
                        </a:spcAft>
                      </a:pPr>
                      <a:r>
                        <a:rPr lang="en-US" sz="1400" b="1">
                          <a:solidFill>
                            <a:schemeClr val="bg1"/>
                          </a:solidFill>
                          <a:effectLst/>
                          <a:latin typeface="+mn-lt"/>
                          <a:ea typeface="Times New Roman" panose="02020603050405020304" pitchFamily="18" charset="0"/>
                          <a:cs typeface="Libre Franklin Thin" pitchFamily="2" charset="0"/>
                        </a:rPr>
                        <a:t>FY23</a:t>
                      </a:r>
                      <a:endParaRPr lang="en-US" sz="1400">
                        <a:solidFill>
                          <a:schemeClr val="bg1"/>
                        </a:solidFill>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007680"/>
                    </a:solidFill>
                  </a:tcPr>
                </a:tc>
                <a:tc>
                  <a:txBody>
                    <a:bodyPr/>
                    <a:lstStyle/>
                    <a:p>
                      <a:pPr marL="0" marR="0" algn="ctr">
                        <a:spcBef>
                          <a:spcPts val="0"/>
                        </a:spcBef>
                        <a:spcAft>
                          <a:spcPts val="0"/>
                        </a:spcAft>
                      </a:pPr>
                      <a:r>
                        <a:rPr lang="en-US" sz="1400" b="1">
                          <a:solidFill>
                            <a:schemeClr val="bg1"/>
                          </a:solidFill>
                          <a:effectLst/>
                          <a:latin typeface="+mn-lt"/>
                          <a:ea typeface="Times New Roman" panose="02020603050405020304" pitchFamily="18" charset="0"/>
                          <a:cs typeface="Libre Franklin Thin" pitchFamily="2" charset="0"/>
                        </a:rPr>
                        <a:t>FY24 </a:t>
                      </a:r>
                      <a:endParaRPr lang="en-US" sz="1400">
                        <a:solidFill>
                          <a:schemeClr val="bg1"/>
                        </a:solidFill>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007680"/>
                    </a:solidFill>
                  </a:tcPr>
                </a:tc>
                <a:tc>
                  <a:txBody>
                    <a:bodyPr/>
                    <a:lstStyle/>
                    <a:p>
                      <a:pPr marL="0" marR="0" algn="ctr">
                        <a:spcBef>
                          <a:spcPts val="0"/>
                        </a:spcBef>
                        <a:spcAft>
                          <a:spcPts val="0"/>
                        </a:spcAft>
                      </a:pPr>
                      <a:r>
                        <a:rPr lang="en-US" sz="1400" b="1" dirty="0">
                          <a:solidFill>
                            <a:schemeClr val="bg1"/>
                          </a:solidFill>
                          <a:effectLst/>
                          <a:latin typeface="+mn-lt"/>
                          <a:ea typeface="Times New Roman" panose="02020603050405020304" pitchFamily="18" charset="0"/>
                          <a:cs typeface="Libre Franklin Thin" pitchFamily="2" charset="0"/>
                        </a:rPr>
                        <a:t>FY25 </a:t>
                      </a:r>
                      <a:endParaRPr lang="en-US" sz="1400" dirty="0">
                        <a:solidFill>
                          <a:schemeClr val="bg1"/>
                        </a:solidFill>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007680"/>
                    </a:solidFill>
                  </a:tcPr>
                </a:tc>
                <a:tc vMerge="1">
                  <a:txBody>
                    <a:bodyPr/>
                    <a:lstStyle/>
                    <a:p>
                      <a:endParaRPr lang="en-US"/>
                    </a:p>
                  </a:txBody>
                  <a:tcPr/>
                </a:tc>
                <a:extLst>
                  <a:ext uri="{0D108BD9-81ED-4DB2-BD59-A6C34878D82A}">
                    <a16:rowId xmlns:a16="http://schemas.microsoft.com/office/drawing/2014/main" val="2040919698"/>
                  </a:ext>
                </a:extLst>
              </a:tr>
              <a:tr h="607814">
                <a:tc>
                  <a:txBody>
                    <a:bodyPr/>
                    <a:lstStyle/>
                    <a:p>
                      <a:pPr marL="0" marR="0" algn="ctr">
                        <a:spcBef>
                          <a:spcPts val="0"/>
                        </a:spcBef>
                        <a:spcAft>
                          <a:spcPts val="0"/>
                        </a:spcAft>
                      </a:pPr>
                      <a:r>
                        <a:rPr lang="en-US" sz="1400" b="1">
                          <a:solidFill>
                            <a:srgbClr val="000000"/>
                          </a:solidFill>
                          <a:effectLst/>
                          <a:latin typeface="+mn-lt"/>
                          <a:ea typeface="Times New Roman" panose="02020603050405020304" pitchFamily="18" charset="0"/>
                          <a:cs typeface="Libre Franklin Thin" pitchFamily="2" charset="0"/>
                        </a:rPr>
                        <a:t> 1</a:t>
                      </a:r>
                      <a:endParaRPr lang="en-US" sz="140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400">
                          <a:solidFill>
                            <a:srgbClr val="000000"/>
                          </a:solidFill>
                          <a:effectLst/>
                          <a:latin typeface="+mn-lt"/>
                          <a:ea typeface="Times New Roman" panose="02020603050405020304" pitchFamily="18" charset="0"/>
                          <a:cs typeface="Libre Franklin Thin" pitchFamily="2" charset="0"/>
                        </a:rPr>
                        <a:t>1 Ph Whole Current Smart Meter - Consumer Meter</a:t>
                      </a:r>
                      <a:endParaRPr lang="en-US" sz="140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400" dirty="0">
                          <a:solidFill>
                            <a:srgbClr val="000000"/>
                          </a:solidFill>
                          <a:effectLst/>
                          <a:latin typeface="+mn-lt"/>
                          <a:ea typeface="Times New Roman" panose="02020603050405020304" pitchFamily="18" charset="0"/>
                          <a:cs typeface="Libre Franklin Thin" pitchFamily="2" charset="0"/>
                        </a:rPr>
                        <a:t>40.84</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400" dirty="0">
                          <a:solidFill>
                            <a:srgbClr val="000000"/>
                          </a:solidFill>
                          <a:effectLst/>
                          <a:latin typeface="+mn-lt"/>
                          <a:ea typeface="Times New Roman" panose="02020603050405020304" pitchFamily="18" charset="0"/>
                          <a:cs typeface="Libre Franklin Thin" pitchFamily="2" charset="0"/>
                        </a:rPr>
                        <a:t>386.89</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400" dirty="0">
                          <a:solidFill>
                            <a:srgbClr val="000000"/>
                          </a:solidFill>
                          <a:effectLst/>
                          <a:latin typeface="+mn-lt"/>
                          <a:ea typeface="Times New Roman" panose="02020603050405020304" pitchFamily="18" charset="0"/>
                          <a:cs typeface="Libre Franklin Thin" pitchFamily="2" charset="0"/>
                        </a:rPr>
                        <a:t>1476.00</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400" b="1" dirty="0">
                          <a:solidFill>
                            <a:srgbClr val="000000"/>
                          </a:solidFill>
                          <a:effectLst/>
                          <a:latin typeface="+mn-lt"/>
                          <a:ea typeface="Times New Roman" panose="02020603050405020304" pitchFamily="18" charset="0"/>
                          <a:cs typeface="Libre Franklin Thin" pitchFamily="2" charset="0"/>
                        </a:rPr>
                        <a:t>1903.73</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1359017381"/>
                  </a:ext>
                </a:extLst>
              </a:tr>
              <a:tr h="607814">
                <a:tc>
                  <a:txBody>
                    <a:bodyPr/>
                    <a:lstStyle/>
                    <a:p>
                      <a:pPr marL="0" marR="0" algn="ctr">
                        <a:spcBef>
                          <a:spcPts val="0"/>
                        </a:spcBef>
                        <a:spcAft>
                          <a:spcPts val="0"/>
                        </a:spcAft>
                      </a:pPr>
                      <a:r>
                        <a:rPr lang="en-US" sz="1400" b="1">
                          <a:solidFill>
                            <a:srgbClr val="000000"/>
                          </a:solidFill>
                          <a:effectLst/>
                          <a:latin typeface="+mn-lt"/>
                          <a:ea typeface="Times New Roman" panose="02020603050405020304" pitchFamily="18" charset="0"/>
                          <a:cs typeface="Libre Franklin Thin" pitchFamily="2" charset="0"/>
                        </a:rPr>
                        <a:t> 2</a:t>
                      </a:r>
                      <a:endParaRPr lang="en-US" sz="140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400" dirty="0">
                          <a:solidFill>
                            <a:srgbClr val="000000"/>
                          </a:solidFill>
                          <a:effectLst/>
                          <a:latin typeface="+mn-lt"/>
                          <a:ea typeface="Times New Roman" panose="02020603050405020304" pitchFamily="18" charset="0"/>
                          <a:cs typeface="Libre Franklin Thin" pitchFamily="2" charset="0"/>
                        </a:rPr>
                        <a:t>3 Ph Whole Current Smart Meter - Consumer Meter</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400" dirty="0">
                          <a:solidFill>
                            <a:srgbClr val="000000"/>
                          </a:solidFill>
                          <a:effectLst/>
                          <a:latin typeface="+mn-lt"/>
                          <a:ea typeface="Times New Roman" panose="02020603050405020304" pitchFamily="18" charset="0"/>
                          <a:cs typeface="Libre Franklin Thin" pitchFamily="2" charset="0"/>
                        </a:rPr>
                        <a:t>109.16</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400" dirty="0">
                          <a:solidFill>
                            <a:srgbClr val="000000"/>
                          </a:solidFill>
                          <a:effectLst/>
                          <a:latin typeface="+mn-lt"/>
                          <a:ea typeface="Times New Roman" panose="02020603050405020304" pitchFamily="18" charset="0"/>
                          <a:cs typeface="Libre Franklin Thin" pitchFamily="2" charset="0"/>
                        </a:rPr>
                        <a:t>217.89</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400" dirty="0">
                          <a:solidFill>
                            <a:srgbClr val="000000"/>
                          </a:solidFill>
                          <a:effectLst/>
                          <a:latin typeface="+mn-lt"/>
                          <a:ea typeface="Times New Roman" panose="02020603050405020304" pitchFamily="18" charset="0"/>
                          <a:cs typeface="Libre Franklin Thin" pitchFamily="2" charset="0"/>
                        </a:rPr>
                        <a:t>0.00</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400" b="1" dirty="0">
                          <a:solidFill>
                            <a:srgbClr val="000000"/>
                          </a:solidFill>
                          <a:effectLst/>
                          <a:latin typeface="+mn-lt"/>
                          <a:ea typeface="Times New Roman" panose="02020603050405020304" pitchFamily="18" charset="0"/>
                          <a:cs typeface="Libre Franklin Thin" pitchFamily="2" charset="0"/>
                        </a:rPr>
                        <a:t>327.05</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430384170"/>
                  </a:ext>
                </a:extLst>
              </a:tr>
              <a:tr h="331533">
                <a:tc>
                  <a:txBody>
                    <a:bodyPr/>
                    <a:lstStyle/>
                    <a:p>
                      <a:pPr marL="0" marR="0" algn="ctr">
                        <a:spcBef>
                          <a:spcPts val="0"/>
                        </a:spcBef>
                        <a:spcAft>
                          <a:spcPts val="0"/>
                        </a:spcAft>
                      </a:pPr>
                      <a:r>
                        <a:rPr lang="en-US" sz="1400" b="1">
                          <a:solidFill>
                            <a:srgbClr val="000000"/>
                          </a:solidFill>
                          <a:effectLst/>
                          <a:latin typeface="+mn-lt"/>
                          <a:ea typeface="Times New Roman" panose="02020603050405020304" pitchFamily="18" charset="0"/>
                          <a:cs typeface="Libre Franklin Thin" pitchFamily="2" charset="0"/>
                        </a:rPr>
                        <a:t> 3</a:t>
                      </a:r>
                      <a:endParaRPr lang="en-US" sz="140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400">
                          <a:solidFill>
                            <a:srgbClr val="000000"/>
                          </a:solidFill>
                          <a:effectLst/>
                          <a:latin typeface="+mn-lt"/>
                          <a:ea typeface="Times New Roman" panose="02020603050405020304" pitchFamily="18" charset="0"/>
                          <a:cs typeface="Libre Franklin Thin" pitchFamily="2" charset="0"/>
                        </a:rPr>
                        <a:t>3 Ph LT-CT Operated  Smart Meter - DT Meter</a:t>
                      </a:r>
                      <a:endParaRPr lang="en-US" sz="140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400" dirty="0">
                          <a:solidFill>
                            <a:srgbClr val="000000"/>
                          </a:solidFill>
                          <a:effectLst/>
                          <a:latin typeface="+mn-lt"/>
                          <a:ea typeface="Times New Roman" panose="02020603050405020304" pitchFamily="18" charset="0"/>
                          <a:cs typeface="Libre Franklin Thin" pitchFamily="2" charset="0"/>
                        </a:rPr>
                        <a:t>69.00</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400" dirty="0">
                          <a:solidFill>
                            <a:srgbClr val="000000"/>
                          </a:solidFill>
                          <a:effectLst/>
                          <a:latin typeface="+mn-lt"/>
                          <a:ea typeface="Times New Roman" panose="02020603050405020304" pitchFamily="18" charset="0"/>
                          <a:cs typeface="Libre Franklin Thin" pitchFamily="2" charset="0"/>
                        </a:rPr>
                        <a:t>633.46</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400" dirty="0">
                          <a:solidFill>
                            <a:srgbClr val="000000"/>
                          </a:solidFill>
                          <a:effectLst/>
                          <a:latin typeface="+mn-lt"/>
                          <a:ea typeface="Times New Roman" panose="02020603050405020304" pitchFamily="18" charset="0"/>
                          <a:cs typeface="Libre Franklin Thin" pitchFamily="2" charset="0"/>
                        </a:rPr>
                        <a:t>0.00</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400" b="1" dirty="0">
                          <a:solidFill>
                            <a:srgbClr val="000000"/>
                          </a:solidFill>
                          <a:effectLst/>
                          <a:latin typeface="+mn-lt"/>
                          <a:ea typeface="Times New Roman" panose="02020603050405020304" pitchFamily="18" charset="0"/>
                          <a:cs typeface="Libre Franklin Thin" pitchFamily="2" charset="0"/>
                        </a:rPr>
                        <a:t>702.46</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4106344110"/>
                  </a:ext>
                </a:extLst>
              </a:tr>
              <a:tr h="331533">
                <a:tc>
                  <a:txBody>
                    <a:bodyPr/>
                    <a:lstStyle/>
                    <a:p>
                      <a:pPr marL="0" marR="0" algn="ctr">
                        <a:spcBef>
                          <a:spcPts val="0"/>
                        </a:spcBef>
                        <a:spcAft>
                          <a:spcPts val="0"/>
                        </a:spcAft>
                      </a:pPr>
                      <a:r>
                        <a:rPr lang="en-US" sz="1400" b="1">
                          <a:solidFill>
                            <a:srgbClr val="000000"/>
                          </a:solidFill>
                          <a:effectLst/>
                          <a:latin typeface="+mn-lt"/>
                          <a:ea typeface="Times New Roman" panose="02020603050405020304" pitchFamily="18" charset="0"/>
                          <a:cs typeface="Libre Franklin Thin" pitchFamily="2" charset="0"/>
                        </a:rPr>
                        <a:t> </a:t>
                      </a:r>
                      <a:endParaRPr lang="en-US" sz="140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just">
                        <a:spcBef>
                          <a:spcPts val="0"/>
                        </a:spcBef>
                        <a:spcAft>
                          <a:spcPts val="0"/>
                        </a:spcAft>
                      </a:pPr>
                      <a:r>
                        <a:rPr lang="en-US" sz="1400">
                          <a:solidFill>
                            <a:srgbClr val="000000"/>
                          </a:solidFill>
                          <a:effectLst/>
                          <a:latin typeface="+mn-lt"/>
                          <a:ea typeface="Times New Roman" panose="02020603050405020304" pitchFamily="18" charset="0"/>
                          <a:cs typeface="Libre Franklin Thin" pitchFamily="2" charset="0"/>
                        </a:rPr>
                        <a:t>Total (excluding PMA Charges) (INR Cr.)</a:t>
                      </a:r>
                      <a:endParaRPr lang="en-US" sz="140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400" b="1" dirty="0">
                          <a:solidFill>
                            <a:srgbClr val="000000"/>
                          </a:solidFill>
                          <a:effectLst/>
                          <a:latin typeface="+mn-lt"/>
                          <a:ea typeface="Times New Roman" panose="02020603050405020304" pitchFamily="18" charset="0"/>
                          <a:cs typeface="Libre Franklin Thin" pitchFamily="2" charset="0"/>
                        </a:rPr>
                        <a:t>219.00</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400" b="1" dirty="0">
                          <a:solidFill>
                            <a:srgbClr val="000000"/>
                          </a:solidFill>
                          <a:effectLst/>
                          <a:latin typeface="+mn-lt"/>
                          <a:ea typeface="Times New Roman" panose="02020603050405020304" pitchFamily="18" charset="0"/>
                          <a:cs typeface="Libre Franklin Thin" pitchFamily="2" charset="0"/>
                        </a:rPr>
                        <a:t>1238.25</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400" b="1" dirty="0">
                          <a:solidFill>
                            <a:srgbClr val="000000"/>
                          </a:solidFill>
                          <a:effectLst/>
                          <a:latin typeface="+mn-lt"/>
                          <a:ea typeface="Times New Roman" panose="02020603050405020304" pitchFamily="18" charset="0"/>
                          <a:cs typeface="Libre Franklin Thin" pitchFamily="2" charset="0"/>
                        </a:rPr>
                        <a:t>1476.00</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400" b="1" dirty="0">
                          <a:solidFill>
                            <a:srgbClr val="000000"/>
                          </a:solidFill>
                          <a:effectLst/>
                          <a:latin typeface="+mn-lt"/>
                          <a:ea typeface="Times New Roman" panose="02020603050405020304" pitchFamily="18" charset="0"/>
                          <a:cs typeface="Libre Franklin Thin" pitchFamily="2" charset="0"/>
                        </a:rPr>
                        <a:t>2933.25</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C5E0B3"/>
                    </a:solidFill>
                  </a:tcPr>
                </a:tc>
                <a:extLst>
                  <a:ext uri="{0D108BD9-81ED-4DB2-BD59-A6C34878D82A}">
                    <a16:rowId xmlns:a16="http://schemas.microsoft.com/office/drawing/2014/main" val="2369023044"/>
                  </a:ext>
                </a:extLst>
              </a:tr>
              <a:tr h="331533">
                <a:tc gridSpan="5">
                  <a:txBody>
                    <a:bodyPr/>
                    <a:lstStyle/>
                    <a:p>
                      <a:pPr marL="0" marR="0" algn="ctr">
                        <a:spcBef>
                          <a:spcPts val="0"/>
                        </a:spcBef>
                        <a:spcAft>
                          <a:spcPts val="0"/>
                        </a:spcAft>
                      </a:pPr>
                      <a:r>
                        <a:rPr lang="en-US" sz="1400" b="1">
                          <a:solidFill>
                            <a:srgbClr val="000000"/>
                          </a:solidFill>
                          <a:effectLst/>
                          <a:latin typeface="+mn-lt"/>
                          <a:ea typeface="Times New Roman" panose="02020603050405020304" pitchFamily="18" charset="0"/>
                          <a:cs typeface="Libre Franklin Thin" pitchFamily="2" charset="0"/>
                        </a:rPr>
                        <a:t>Total GBS</a:t>
                      </a:r>
                      <a:endParaRPr lang="en-US" sz="140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a:spcBef>
                          <a:spcPts val="0"/>
                        </a:spcBef>
                        <a:spcAft>
                          <a:spcPts val="0"/>
                        </a:spcAft>
                      </a:pPr>
                      <a:r>
                        <a:rPr lang="en-US" sz="1400" b="1" dirty="0">
                          <a:solidFill>
                            <a:srgbClr val="000000"/>
                          </a:solidFill>
                          <a:effectLst/>
                          <a:latin typeface="+mn-lt"/>
                          <a:ea typeface="Times New Roman" panose="02020603050405020304" pitchFamily="18" charset="0"/>
                          <a:cs typeface="Libre Franklin Thin" pitchFamily="2" charset="0"/>
                        </a:rPr>
                        <a:t>439.99 </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518936689"/>
                  </a:ext>
                </a:extLst>
              </a:tr>
              <a:tr h="331533">
                <a:tc gridSpan="5">
                  <a:txBody>
                    <a:bodyPr/>
                    <a:lstStyle/>
                    <a:p>
                      <a:pPr marL="0" marR="0" algn="ctr">
                        <a:spcBef>
                          <a:spcPts val="0"/>
                        </a:spcBef>
                        <a:spcAft>
                          <a:spcPts val="0"/>
                        </a:spcAft>
                      </a:pPr>
                      <a:r>
                        <a:rPr lang="en-US" sz="1400" b="1">
                          <a:solidFill>
                            <a:srgbClr val="000000"/>
                          </a:solidFill>
                          <a:effectLst/>
                          <a:latin typeface="+mn-lt"/>
                          <a:ea typeface="Times New Roman" panose="02020603050405020304" pitchFamily="18" charset="0"/>
                          <a:cs typeface="Libre Franklin Thin" pitchFamily="2" charset="0"/>
                        </a:rPr>
                        <a:t>PMA Charges @ 2.5% of the GBS </a:t>
                      </a:r>
                      <a:endParaRPr lang="en-US" sz="140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a:spcBef>
                          <a:spcPts val="0"/>
                        </a:spcBef>
                        <a:spcAft>
                          <a:spcPts val="0"/>
                        </a:spcAft>
                      </a:pPr>
                      <a:r>
                        <a:rPr lang="en-US" sz="1400" b="1" dirty="0">
                          <a:solidFill>
                            <a:srgbClr val="000000"/>
                          </a:solidFill>
                          <a:effectLst/>
                          <a:latin typeface="+mn-lt"/>
                          <a:ea typeface="Times New Roman" panose="02020603050405020304" pitchFamily="18" charset="0"/>
                          <a:cs typeface="Libre Franklin Thin" pitchFamily="2" charset="0"/>
                        </a:rPr>
                        <a:t>11.00</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879528397"/>
                  </a:ext>
                </a:extLst>
              </a:tr>
              <a:tr h="331533">
                <a:tc gridSpan="5">
                  <a:txBody>
                    <a:bodyPr/>
                    <a:lstStyle/>
                    <a:p>
                      <a:pPr marL="0" marR="0" algn="ctr">
                        <a:spcBef>
                          <a:spcPts val="0"/>
                        </a:spcBef>
                        <a:spcAft>
                          <a:spcPts val="0"/>
                        </a:spcAft>
                      </a:pPr>
                      <a:r>
                        <a:rPr lang="en-US" sz="1400" b="1">
                          <a:solidFill>
                            <a:srgbClr val="000000"/>
                          </a:solidFill>
                          <a:effectLst/>
                          <a:latin typeface="+mn-lt"/>
                          <a:ea typeface="Times New Roman" panose="02020603050405020304" pitchFamily="18" charset="0"/>
                          <a:cs typeface="Libre Franklin Thin" pitchFamily="2" charset="0"/>
                        </a:rPr>
                        <a:t>Total GBS including PMA Fee</a:t>
                      </a:r>
                      <a:endParaRPr lang="en-US" sz="140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a:spcBef>
                          <a:spcPts val="0"/>
                        </a:spcBef>
                        <a:spcAft>
                          <a:spcPts val="0"/>
                        </a:spcAft>
                      </a:pPr>
                      <a:r>
                        <a:rPr lang="en-US" sz="1400" b="1" dirty="0">
                          <a:solidFill>
                            <a:srgbClr val="000000"/>
                          </a:solidFill>
                          <a:effectLst/>
                          <a:latin typeface="+mn-lt"/>
                          <a:ea typeface="Times New Roman" panose="02020603050405020304" pitchFamily="18" charset="0"/>
                          <a:cs typeface="Libre Franklin Thin" pitchFamily="2" charset="0"/>
                        </a:rPr>
                        <a:t>450.99 </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4091476770"/>
                  </a:ext>
                </a:extLst>
              </a:tr>
              <a:tr h="331533">
                <a:tc gridSpan="5">
                  <a:txBody>
                    <a:bodyPr/>
                    <a:lstStyle/>
                    <a:p>
                      <a:pPr marL="0" marR="0" algn="ctr">
                        <a:spcBef>
                          <a:spcPts val="0"/>
                        </a:spcBef>
                        <a:spcAft>
                          <a:spcPts val="0"/>
                        </a:spcAft>
                      </a:pPr>
                      <a:r>
                        <a:rPr lang="en-US" sz="1400" b="1">
                          <a:solidFill>
                            <a:srgbClr val="000000"/>
                          </a:solidFill>
                          <a:effectLst/>
                          <a:latin typeface="+mn-lt"/>
                          <a:ea typeface="Times New Roman" panose="02020603050405020304" pitchFamily="18" charset="0"/>
                          <a:cs typeface="Libre Franklin Thin" pitchFamily="2" charset="0"/>
                        </a:rPr>
                        <a:t>Total Project Cost including PMA Fee</a:t>
                      </a:r>
                      <a:endParaRPr lang="en-US" sz="140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a:spcBef>
                          <a:spcPts val="0"/>
                        </a:spcBef>
                        <a:spcAft>
                          <a:spcPts val="0"/>
                        </a:spcAft>
                      </a:pPr>
                      <a:r>
                        <a:rPr lang="en-US" sz="1400" b="1" dirty="0">
                          <a:solidFill>
                            <a:srgbClr val="000000"/>
                          </a:solidFill>
                          <a:effectLst/>
                          <a:latin typeface="+mn-lt"/>
                          <a:ea typeface="Times New Roman" panose="02020603050405020304" pitchFamily="18" charset="0"/>
                          <a:cs typeface="Libre Franklin Thin" pitchFamily="2" charset="0"/>
                        </a:rPr>
                        <a:t>2944.25 </a:t>
                      </a:r>
                      <a:endParaRPr lang="en-US" sz="1400" dirty="0">
                        <a:effectLst/>
                        <a:latin typeface="+mn-lt"/>
                        <a:ea typeface="Libre Franklin Thin" pitchFamily="2" charset="0"/>
                        <a:cs typeface="Libre Franklin Thin" pitchFamily="2" charset="0"/>
                      </a:endParaRPr>
                    </a:p>
                  </a:txBody>
                  <a:tcPr marL="64906" marR="64906"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C5E0B3"/>
                    </a:solidFill>
                  </a:tcPr>
                </a:tc>
                <a:extLst>
                  <a:ext uri="{0D108BD9-81ED-4DB2-BD59-A6C34878D82A}">
                    <a16:rowId xmlns:a16="http://schemas.microsoft.com/office/drawing/2014/main" val="1019318112"/>
                  </a:ext>
                </a:extLst>
              </a:tr>
            </a:tbl>
          </a:graphicData>
        </a:graphic>
      </p:graphicFrame>
    </p:spTree>
    <p:extLst>
      <p:ext uri="{BB962C8B-B14F-4D97-AF65-F5344CB8AC3E}">
        <p14:creationId xmlns:p14="http://schemas.microsoft.com/office/powerpoint/2010/main" val="3173732334"/>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36"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190199"/>
            <a:ext cx="11184826" cy="582791"/>
          </a:xfrm>
        </p:spPr>
        <p:txBody>
          <a:bodyPr vert="horz"/>
          <a:lstStyle/>
          <a:p>
            <a:pPr algn="just"/>
            <a:r>
              <a:rPr lang="en-US" sz="1800" b="1" dirty="0"/>
              <a:t>Year on Year Phasing of Project Cost (2/3)</a:t>
            </a:r>
            <a:endParaRPr lang="en-US" sz="1800" b="1" i="0" dirty="0">
              <a:solidFill>
                <a:schemeClr val="tx1"/>
              </a:solidFill>
            </a:endParaRPr>
          </a:p>
        </p:txBody>
      </p:sp>
      <p:sp>
        <p:nvSpPr>
          <p:cNvPr id="9" name="TextBox 8">
            <a:extLst>
              <a:ext uri="{FF2B5EF4-FFF2-40B4-BE49-F238E27FC236}">
                <a16:creationId xmlns:a16="http://schemas.microsoft.com/office/drawing/2014/main" id="{7A33CCE3-1DF6-4BCA-9038-AC7821127F04}"/>
              </a:ext>
            </a:extLst>
          </p:cNvPr>
          <p:cNvSpPr txBox="1"/>
          <p:nvPr/>
        </p:nvSpPr>
        <p:spPr>
          <a:xfrm>
            <a:off x="610054" y="707780"/>
            <a:ext cx="6096000" cy="338554"/>
          </a:xfrm>
          <a:prstGeom prst="rect">
            <a:avLst/>
          </a:prstGeom>
          <a:noFill/>
        </p:spPr>
        <p:txBody>
          <a:bodyPr wrap="square">
            <a:spAutoFit/>
          </a:bodyPr>
          <a:lstStyle/>
          <a:p>
            <a:r>
              <a:rPr lang="en-US" sz="1600" b="1" dirty="0">
                <a:effectLst/>
                <a:latin typeface="+mj-lt"/>
                <a:ea typeface="Libre Franklin Thin" pitchFamily="2" charset="0"/>
              </a:rPr>
              <a:t>b) Loss Reduction Works</a:t>
            </a:r>
            <a:endParaRPr lang="en-US" sz="1600" dirty="0">
              <a:latin typeface="+mj-lt"/>
            </a:endParaRPr>
          </a:p>
        </p:txBody>
      </p:sp>
      <p:graphicFrame>
        <p:nvGraphicFramePr>
          <p:cNvPr id="3" name="Table 2">
            <a:extLst>
              <a:ext uri="{FF2B5EF4-FFF2-40B4-BE49-F238E27FC236}">
                <a16:creationId xmlns:a16="http://schemas.microsoft.com/office/drawing/2014/main" id="{C190F7E7-273A-4F60-B860-26641F2E0C8A}"/>
              </a:ext>
            </a:extLst>
          </p:cNvPr>
          <p:cNvGraphicFramePr>
            <a:graphicFrameLocks noGrp="1"/>
          </p:cNvGraphicFramePr>
          <p:nvPr>
            <p:extLst>
              <p:ext uri="{D42A27DB-BD31-4B8C-83A1-F6EECF244321}">
                <p14:modId xmlns:p14="http://schemas.microsoft.com/office/powerpoint/2010/main" val="639688870"/>
              </p:ext>
            </p:extLst>
          </p:nvPr>
        </p:nvGraphicFramePr>
        <p:xfrm>
          <a:off x="610054" y="1202173"/>
          <a:ext cx="11076424" cy="4953000"/>
        </p:xfrm>
        <a:graphic>
          <a:graphicData uri="http://schemas.openxmlformats.org/drawingml/2006/table">
            <a:tbl>
              <a:tblPr firstRow="1" firstCol="1" bandRow="1"/>
              <a:tblGrid>
                <a:gridCol w="1123320">
                  <a:extLst>
                    <a:ext uri="{9D8B030D-6E8A-4147-A177-3AD203B41FA5}">
                      <a16:colId xmlns:a16="http://schemas.microsoft.com/office/drawing/2014/main" val="1481999152"/>
                    </a:ext>
                  </a:extLst>
                </a:gridCol>
                <a:gridCol w="3959855">
                  <a:extLst>
                    <a:ext uri="{9D8B030D-6E8A-4147-A177-3AD203B41FA5}">
                      <a16:colId xmlns:a16="http://schemas.microsoft.com/office/drawing/2014/main" val="2837352696"/>
                    </a:ext>
                  </a:extLst>
                </a:gridCol>
                <a:gridCol w="1023257">
                  <a:extLst>
                    <a:ext uri="{9D8B030D-6E8A-4147-A177-3AD203B41FA5}">
                      <a16:colId xmlns:a16="http://schemas.microsoft.com/office/drawing/2014/main" val="1922967795"/>
                    </a:ext>
                  </a:extLst>
                </a:gridCol>
                <a:gridCol w="1012371">
                  <a:extLst>
                    <a:ext uri="{9D8B030D-6E8A-4147-A177-3AD203B41FA5}">
                      <a16:colId xmlns:a16="http://schemas.microsoft.com/office/drawing/2014/main" val="415513074"/>
                    </a:ext>
                  </a:extLst>
                </a:gridCol>
                <a:gridCol w="1099457">
                  <a:extLst>
                    <a:ext uri="{9D8B030D-6E8A-4147-A177-3AD203B41FA5}">
                      <a16:colId xmlns:a16="http://schemas.microsoft.com/office/drawing/2014/main" val="1916557005"/>
                    </a:ext>
                  </a:extLst>
                </a:gridCol>
                <a:gridCol w="1230086">
                  <a:extLst>
                    <a:ext uri="{9D8B030D-6E8A-4147-A177-3AD203B41FA5}">
                      <a16:colId xmlns:a16="http://schemas.microsoft.com/office/drawing/2014/main" val="1747567301"/>
                    </a:ext>
                  </a:extLst>
                </a:gridCol>
                <a:gridCol w="1628078">
                  <a:extLst>
                    <a:ext uri="{9D8B030D-6E8A-4147-A177-3AD203B41FA5}">
                      <a16:colId xmlns:a16="http://schemas.microsoft.com/office/drawing/2014/main" val="1320763748"/>
                    </a:ext>
                  </a:extLst>
                </a:gridCol>
              </a:tblGrid>
              <a:tr h="352318">
                <a:tc rowSpan="2">
                  <a:txBody>
                    <a:bodyPr/>
                    <a:lstStyle/>
                    <a:p>
                      <a:pPr marL="0" marR="0" algn="ctr">
                        <a:spcBef>
                          <a:spcPts val="0"/>
                        </a:spcBef>
                        <a:spcAft>
                          <a:spcPts val="0"/>
                        </a:spcAft>
                      </a:pPr>
                      <a:r>
                        <a:rPr lang="en-US" sz="1300" b="1" dirty="0">
                          <a:solidFill>
                            <a:schemeClr val="bg1"/>
                          </a:solidFill>
                          <a:effectLst/>
                          <a:latin typeface="+mj-lt"/>
                          <a:ea typeface="Times New Roman" panose="02020603050405020304" pitchFamily="18" charset="0"/>
                          <a:cs typeface="Libre Franklin Thin" pitchFamily="2" charset="0"/>
                        </a:rPr>
                        <a:t>Sr. No.</a:t>
                      </a:r>
                      <a:endParaRPr lang="en-US" sz="1300" dirty="0">
                        <a:solidFill>
                          <a:schemeClr val="bg1"/>
                        </a:solidFill>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680"/>
                    </a:solidFill>
                  </a:tcPr>
                </a:tc>
                <a:tc rowSpan="2">
                  <a:txBody>
                    <a:bodyPr/>
                    <a:lstStyle/>
                    <a:p>
                      <a:pPr marL="0" marR="0" algn="ctr">
                        <a:spcBef>
                          <a:spcPts val="0"/>
                        </a:spcBef>
                        <a:spcAft>
                          <a:spcPts val="0"/>
                        </a:spcAft>
                      </a:pPr>
                      <a:r>
                        <a:rPr lang="en-US" sz="1300" b="1" dirty="0">
                          <a:solidFill>
                            <a:schemeClr val="bg1"/>
                          </a:solidFill>
                          <a:effectLst/>
                          <a:latin typeface="+mj-lt"/>
                          <a:ea typeface="Times New Roman" panose="02020603050405020304" pitchFamily="18" charset="0"/>
                          <a:cs typeface="Libre Franklin Thin" pitchFamily="2" charset="0"/>
                        </a:rPr>
                        <a:t>Targeted interventions for loss reduction</a:t>
                      </a:r>
                      <a:endParaRPr lang="en-US" sz="1300" dirty="0">
                        <a:solidFill>
                          <a:schemeClr val="bg1"/>
                        </a:solidFill>
                        <a:effectLst/>
                        <a:latin typeface="+mj-lt"/>
                        <a:ea typeface="Libre Franklin Thin" pitchFamily="2" charset="0"/>
                        <a:cs typeface="Libre Franklin Thin" pitchFamily="2" charset="0"/>
                      </a:endParaRPr>
                    </a:p>
                  </a:txBody>
                  <a:tcPr marL="46930" marR="4693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680"/>
                    </a:solidFill>
                  </a:tcPr>
                </a:tc>
                <a:tc gridSpan="4">
                  <a:txBody>
                    <a:bodyPr/>
                    <a:lstStyle/>
                    <a:p>
                      <a:r>
                        <a:rPr lang="en-US" sz="1300" b="1" dirty="0">
                          <a:solidFill>
                            <a:schemeClr val="bg1"/>
                          </a:solidFill>
                          <a:effectLst/>
                          <a:latin typeface="+mj-lt"/>
                          <a:ea typeface="Times New Roman" panose="02020603050405020304" pitchFamily="18" charset="0"/>
                          <a:cs typeface="Libre Franklin Thin" pitchFamily="2" charset="0"/>
                        </a:rPr>
                        <a:t>Year on year phasing of project Cost (INR Cr.) based on Physical targets</a:t>
                      </a:r>
                      <a:endParaRPr lang="en-US" dirty="0">
                        <a:solidFill>
                          <a:schemeClr val="bg1"/>
                        </a:solidFill>
                      </a:endParaRPr>
                    </a:p>
                  </a:txBody>
                  <a:tcPr marL="46930" marR="46930" marT="0"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7680"/>
                    </a:solidFill>
                  </a:tcPr>
                </a:tc>
                <a:tc hMerge="1">
                  <a:txBody>
                    <a:bodyPr/>
                    <a:lstStyle/>
                    <a:p>
                      <a:endParaRPr lang="en-US"/>
                    </a:p>
                  </a:txBody>
                  <a:tcPr>
                    <a:lnL w="12700" cmpd="sng">
                      <a:noFill/>
                      <a:prstDash val="solid"/>
                    </a:lnL>
                  </a:tcPr>
                </a:tc>
                <a:tc hMerge="1">
                  <a:txBody>
                    <a:bodyPr/>
                    <a:lstStyle/>
                    <a:p>
                      <a:endParaRPr lang="en-US"/>
                    </a:p>
                  </a:txBody>
                  <a:tcPr>
                    <a:lnL w="12700" cmpd="sng">
                      <a:noFill/>
                      <a:prstDash val="solid"/>
                    </a:lnL>
                  </a:tcPr>
                </a:tc>
                <a:tc hMerge="1">
                  <a:txBody>
                    <a:bodyPr/>
                    <a:lstStyle/>
                    <a:p>
                      <a:pPr marL="0" marR="0" algn="ctr">
                        <a:spcBef>
                          <a:spcPts val="0"/>
                        </a:spcBef>
                        <a:spcAft>
                          <a:spcPts val="0"/>
                        </a:spcAft>
                      </a:pPr>
                      <a:endParaRPr lang="en-US" sz="1300">
                        <a:effectLst/>
                        <a:latin typeface="+mj-lt"/>
                        <a:ea typeface="Libre Franklin Thin" pitchFamily="2" charset="0"/>
                        <a:cs typeface="Libre Franklin Thin" pitchFamily="2" charset="0"/>
                      </a:endParaRPr>
                    </a:p>
                  </a:txBody>
                  <a:tcPr marL="46930" marR="46930" marT="0" marB="0" anchor="ctr">
                    <a:lnL>
                      <a:noFill/>
                    </a:lnL>
                    <a:lnR>
                      <a:noFill/>
                    </a:lnR>
                    <a:lnT w="12700" cap="flat" cmpd="sng" algn="ctr">
                      <a:solidFill>
                        <a:srgbClr val="5B9BD5"/>
                      </a:solidFill>
                      <a:prstDash val="solid"/>
                      <a:round/>
                      <a:headEnd type="none" w="med" len="med"/>
                      <a:tailEnd type="none" w="med" len="med"/>
                    </a:lnT>
                    <a:lnB>
                      <a:noFill/>
                    </a:lnB>
                    <a:solidFill>
                      <a:srgbClr val="5B9BD5"/>
                    </a:solidFill>
                  </a:tcPr>
                </a:tc>
                <a:tc rowSpan="2">
                  <a:txBody>
                    <a:bodyPr/>
                    <a:lstStyle/>
                    <a:p>
                      <a:pPr marL="0" marR="0" algn="ctr">
                        <a:spcBef>
                          <a:spcPts val="0"/>
                        </a:spcBef>
                        <a:spcAft>
                          <a:spcPts val="0"/>
                        </a:spcAft>
                      </a:pPr>
                      <a:r>
                        <a:rPr lang="en-US" sz="1300" b="1" dirty="0">
                          <a:solidFill>
                            <a:schemeClr val="bg1"/>
                          </a:solidFill>
                          <a:effectLst/>
                          <a:latin typeface="+mj-lt"/>
                          <a:ea typeface="Times New Roman" panose="02020603050405020304" pitchFamily="18" charset="0"/>
                          <a:cs typeface="Libre Franklin Thin" pitchFamily="2" charset="0"/>
                        </a:rPr>
                        <a:t>Estimated Outlay as per DPR (Rs. Cr)</a:t>
                      </a:r>
                      <a:endParaRPr lang="en-US" sz="1300" dirty="0">
                        <a:solidFill>
                          <a:schemeClr val="bg1"/>
                        </a:solidFill>
                        <a:effectLst/>
                        <a:latin typeface="+mj-lt"/>
                        <a:ea typeface="Libre Franklin Thin" pitchFamily="2" charset="0"/>
                        <a:cs typeface="Libre Franklin Thin" pitchFamily="2" charset="0"/>
                      </a:endParaRPr>
                    </a:p>
                  </a:txBody>
                  <a:tcPr marL="46930" marR="46930"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680"/>
                    </a:solidFill>
                  </a:tcPr>
                </a:tc>
                <a:extLst>
                  <a:ext uri="{0D108BD9-81ED-4DB2-BD59-A6C34878D82A}">
                    <a16:rowId xmlns:a16="http://schemas.microsoft.com/office/drawing/2014/main" val="2496925139"/>
                  </a:ext>
                </a:extLst>
              </a:tr>
              <a:tr h="176159">
                <a:tc vMerge="1">
                  <a:txBody>
                    <a:bodyPr/>
                    <a:lstStyle/>
                    <a:p>
                      <a:endParaRPr lang="en-US"/>
                    </a:p>
                  </a:txBody>
                  <a:tcPr/>
                </a:tc>
                <a:tc vMerge="1">
                  <a:txBody>
                    <a:bodyPr/>
                    <a:lstStyle/>
                    <a:p>
                      <a:endParaRPr lang="en-US"/>
                    </a:p>
                  </a:txBody>
                  <a:tcPr/>
                </a:tc>
                <a:tc>
                  <a:txBody>
                    <a:bodyPr/>
                    <a:lstStyle/>
                    <a:p>
                      <a:pPr marL="0" marR="0" algn="ctr">
                        <a:spcBef>
                          <a:spcPts val="0"/>
                        </a:spcBef>
                        <a:spcAft>
                          <a:spcPts val="0"/>
                        </a:spcAft>
                      </a:pPr>
                      <a:r>
                        <a:rPr lang="en-US" sz="1300" b="1" dirty="0">
                          <a:solidFill>
                            <a:schemeClr val="bg1"/>
                          </a:solidFill>
                          <a:effectLst/>
                          <a:latin typeface="+mj-lt"/>
                          <a:ea typeface="Times New Roman" panose="02020603050405020304" pitchFamily="18" charset="0"/>
                          <a:cs typeface="Libre Franklin Thin" pitchFamily="2" charset="0"/>
                        </a:rPr>
                        <a:t>FY22</a:t>
                      </a:r>
                      <a:endParaRPr lang="en-US" sz="1300" dirty="0">
                        <a:solidFill>
                          <a:schemeClr val="bg1"/>
                        </a:solidFill>
                        <a:effectLst/>
                        <a:latin typeface="+mj-lt"/>
                        <a:ea typeface="Libre Franklin Thin" pitchFamily="2" charset="0"/>
                        <a:cs typeface="Libre Franklin Thin" pitchFamily="2" charset="0"/>
                      </a:endParaRPr>
                    </a:p>
                  </a:txBody>
                  <a:tcPr marL="46930" marR="46930" marT="0"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680"/>
                    </a:solidFill>
                  </a:tcPr>
                </a:tc>
                <a:tc>
                  <a:txBody>
                    <a:bodyPr/>
                    <a:lstStyle/>
                    <a:p>
                      <a:pPr marL="0" marR="0" algn="ctr">
                        <a:spcBef>
                          <a:spcPts val="0"/>
                        </a:spcBef>
                        <a:spcAft>
                          <a:spcPts val="0"/>
                        </a:spcAft>
                      </a:pPr>
                      <a:r>
                        <a:rPr lang="en-US" sz="1300" b="1" dirty="0">
                          <a:solidFill>
                            <a:schemeClr val="bg1"/>
                          </a:solidFill>
                          <a:effectLst/>
                          <a:latin typeface="+mj-lt"/>
                          <a:ea typeface="Times New Roman" panose="02020603050405020304" pitchFamily="18" charset="0"/>
                          <a:cs typeface="Libre Franklin Thin" pitchFamily="2" charset="0"/>
                        </a:rPr>
                        <a:t>FY23</a:t>
                      </a:r>
                      <a:endParaRPr lang="en-US" sz="1300" dirty="0">
                        <a:solidFill>
                          <a:schemeClr val="bg1"/>
                        </a:solidFill>
                        <a:effectLst/>
                        <a:latin typeface="+mj-lt"/>
                        <a:ea typeface="Libre Franklin Thin" pitchFamily="2" charset="0"/>
                        <a:cs typeface="Libre Franklin Thin" pitchFamily="2" charset="0"/>
                      </a:endParaRPr>
                    </a:p>
                  </a:txBody>
                  <a:tcPr marL="46930" marR="46930" marT="0" marB="0" anchor="ctr">
                    <a:lnL>
                      <a:noFill/>
                    </a:lnL>
                    <a:lnR>
                      <a:noFill/>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680"/>
                    </a:solidFill>
                  </a:tcPr>
                </a:tc>
                <a:tc>
                  <a:txBody>
                    <a:bodyPr/>
                    <a:lstStyle/>
                    <a:p>
                      <a:pPr marL="0" marR="0" algn="ctr">
                        <a:spcBef>
                          <a:spcPts val="0"/>
                        </a:spcBef>
                        <a:spcAft>
                          <a:spcPts val="0"/>
                        </a:spcAft>
                      </a:pPr>
                      <a:r>
                        <a:rPr lang="en-US" sz="1300" b="1" dirty="0">
                          <a:solidFill>
                            <a:schemeClr val="bg1"/>
                          </a:solidFill>
                          <a:effectLst/>
                          <a:latin typeface="+mj-lt"/>
                          <a:ea typeface="Times New Roman" panose="02020603050405020304" pitchFamily="18" charset="0"/>
                          <a:cs typeface="Libre Franklin Thin" pitchFamily="2" charset="0"/>
                        </a:rPr>
                        <a:t>FY24</a:t>
                      </a:r>
                      <a:endParaRPr lang="en-US" sz="1300" dirty="0">
                        <a:solidFill>
                          <a:schemeClr val="bg1"/>
                        </a:solidFill>
                        <a:effectLst/>
                        <a:latin typeface="+mj-lt"/>
                        <a:ea typeface="Libre Franklin Thin" pitchFamily="2" charset="0"/>
                        <a:cs typeface="Libre Franklin Thin" pitchFamily="2" charset="0"/>
                      </a:endParaRPr>
                    </a:p>
                  </a:txBody>
                  <a:tcPr marL="46930" marR="46930" marT="0" marB="0" anchor="ctr">
                    <a:lnL>
                      <a:noFill/>
                    </a:lnL>
                    <a:lnR>
                      <a:noFill/>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680"/>
                    </a:solidFill>
                  </a:tcPr>
                </a:tc>
                <a:tc>
                  <a:txBody>
                    <a:bodyPr/>
                    <a:lstStyle/>
                    <a:p>
                      <a:pPr marL="0" marR="0" algn="ctr">
                        <a:spcBef>
                          <a:spcPts val="0"/>
                        </a:spcBef>
                        <a:spcAft>
                          <a:spcPts val="0"/>
                        </a:spcAft>
                      </a:pPr>
                      <a:r>
                        <a:rPr lang="en-US" sz="1300" b="1" dirty="0">
                          <a:solidFill>
                            <a:schemeClr val="bg1"/>
                          </a:solidFill>
                          <a:effectLst/>
                          <a:latin typeface="+mj-lt"/>
                          <a:ea typeface="Times New Roman" panose="02020603050405020304" pitchFamily="18" charset="0"/>
                          <a:cs typeface="Libre Franklin Thin" pitchFamily="2" charset="0"/>
                        </a:rPr>
                        <a:t>FY25</a:t>
                      </a:r>
                      <a:endParaRPr lang="en-US" sz="1300" dirty="0">
                        <a:solidFill>
                          <a:schemeClr val="bg1"/>
                        </a:solidFill>
                        <a:effectLst/>
                        <a:latin typeface="+mj-lt"/>
                        <a:ea typeface="Libre Franklin Thin" pitchFamily="2" charset="0"/>
                        <a:cs typeface="Libre Franklin Thin" pitchFamily="2" charset="0"/>
                      </a:endParaRPr>
                    </a:p>
                  </a:txBody>
                  <a:tcPr marL="46930" marR="46930" marT="0"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680"/>
                    </a:solidFill>
                  </a:tcPr>
                </a:tc>
                <a:tc vMerge="1">
                  <a:txBody>
                    <a:bodyPr/>
                    <a:lstStyle/>
                    <a:p>
                      <a:endParaRPr lang="en-US"/>
                    </a:p>
                  </a:txBody>
                  <a:tcPr/>
                </a:tc>
                <a:extLst>
                  <a:ext uri="{0D108BD9-81ED-4DB2-BD59-A6C34878D82A}">
                    <a16:rowId xmlns:a16="http://schemas.microsoft.com/office/drawing/2014/main" val="1049716289"/>
                  </a:ext>
                </a:extLst>
              </a:tr>
              <a:tr h="176159">
                <a:tc>
                  <a:txBody>
                    <a:bodyPr/>
                    <a:lstStyle/>
                    <a:p>
                      <a:pPr marL="0" marR="0" algn="ctr">
                        <a:spcBef>
                          <a:spcPts val="0"/>
                        </a:spcBef>
                        <a:spcAft>
                          <a:spcPts val="0"/>
                        </a:spcAft>
                      </a:pPr>
                      <a:r>
                        <a:rPr lang="en-US" sz="1300" b="1">
                          <a:solidFill>
                            <a:srgbClr val="000000"/>
                          </a:solidFill>
                          <a:effectLst/>
                          <a:latin typeface="+mj-lt"/>
                          <a:ea typeface="Times New Roman" panose="02020603050405020304" pitchFamily="18" charset="0"/>
                          <a:cs typeface="Libre Franklin Thin" pitchFamily="2" charset="0"/>
                        </a:rPr>
                        <a:t>1</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gridSpan="6">
                  <a:txBody>
                    <a:bodyPr/>
                    <a:lstStyle/>
                    <a:p>
                      <a:pPr marL="0" marR="0" algn="l">
                        <a:spcBef>
                          <a:spcPts val="0"/>
                        </a:spcBef>
                        <a:spcAft>
                          <a:spcPts val="0"/>
                        </a:spcAft>
                      </a:pPr>
                      <a:r>
                        <a:rPr lang="en-US" sz="1300" b="1" dirty="0">
                          <a:solidFill>
                            <a:srgbClr val="000000"/>
                          </a:solidFill>
                          <a:effectLst/>
                          <a:latin typeface="+mj-lt"/>
                          <a:ea typeface="Times New Roman" panose="02020603050405020304" pitchFamily="18" charset="0"/>
                          <a:cs typeface="Libre Franklin Thin" pitchFamily="2" charset="0"/>
                        </a:rPr>
                        <a:t>Infrastructure work</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hMerge="1">
                  <a:txBody>
                    <a:bodyPr/>
                    <a:lstStyle/>
                    <a:p>
                      <a:endParaRPr lang="en-US"/>
                    </a:p>
                  </a:txBody>
                  <a:tcPr>
                    <a:lnL w="12700" cap="flat" cmpd="sng" algn="ctr">
                      <a:solidFill>
                        <a:srgbClr val="9CC2E5"/>
                      </a:solidFill>
                      <a:prstDash val="solid"/>
                      <a:round/>
                      <a:headEnd type="none" w="med" len="med"/>
                      <a:tailEnd type="none" w="med" len="med"/>
                    </a:lnL>
                    <a:lnT w="12700" cap="flat" cmpd="sng" algn="ctr">
                      <a:solidFill>
                        <a:srgbClr val="5B9BD5"/>
                      </a:solidFill>
                      <a:prstDash val="solid"/>
                      <a:round/>
                      <a:headEnd type="none" w="med" len="med"/>
                      <a:tailEnd type="none" w="med" len="med"/>
                    </a:lnT>
                  </a:tcPr>
                </a:tc>
                <a:tc hMerge="1">
                  <a:txBody>
                    <a:bodyPr/>
                    <a:lstStyle/>
                    <a:p>
                      <a:endParaRPr lang="en-US"/>
                    </a:p>
                  </a:txBody>
                  <a:tcPr>
                    <a:lnL w="12700" cap="flat" cmpd="sng" algn="ctr">
                      <a:solidFill>
                        <a:srgbClr val="9CC2E5"/>
                      </a:solidFill>
                      <a:prstDash val="solid"/>
                      <a:round/>
                      <a:headEnd type="none" w="med" len="med"/>
                      <a:tailEnd type="none" w="med" len="med"/>
                    </a:lnL>
                    <a:lnT w="12700" cap="flat" cmpd="sng" algn="ctr">
                      <a:solidFill>
                        <a:srgbClr val="5B9BD5"/>
                      </a:solidFill>
                      <a:prstDash val="solid"/>
                      <a:round/>
                      <a:headEnd type="none" w="med" len="med"/>
                      <a:tailEnd type="none" w="med" len="med"/>
                    </a:lnT>
                  </a:tcPr>
                </a:tc>
                <a:tc hMerge="1">
                  <a:txBody>
                    <a:bodyPr/>
                    <a:lstStyle/>
                    <a:p>
                      <a:endParaRPr lang="en-US"/>
                    </a:p>
                  </a:txBody>
                  <a:tcPr>
                    <a:lnL w="12700" cap="flat" cmpd="sng" algn="ctr">
                      <a:solidFill>
                        <a:srgbClr val="9CC2E5"/>
                      </a:solidFill>
                      <a:prstDash val="solid"/>
                      <a:round/>
                      <a:headEnd type="none" w="med" len="med"/>
                      <a:tailEnd type="none" w="med" len="med"/>
                    </a:lnL>
                    <a:lnT w="12700" cap="flat" cmpd="sng" algn="ctr">
                      <a:solidFill>
                        <a:srgbClr val="5B9BD5"/>
                      </a:solidFill>
                      <a:prstDash val="solid"/>
                      <a:round/>
                      <a:headEnd type="none" w="med" len="med"/>
                      <a:tailEnd type="none" w="med" len="med"/>
                    </a:lnT>
                  </a:tcPr>
                </a:tc>
                <a:tc hMerge="1">
                  <a:txBody>
                    <a:bodyPr/>
                    <a:lstStyle/>
                    <a:p>
                      <a:endParaRPr lang="en-US"/>
                    </a:p>
                  </a:txBody>
                  <a:tcPr>
                    <a:lnL w="12700" cap="flat" cmpd="sng" algn="ctr">
                      <a:solidFill>
                        <a:srgbClr val="9CC2E5"/>
                      </a:solidFill>
                      <a:prstDash val="solid"/>
                      <a:round/>
                      <a:headEnd type="none" w="med" len="med"/>
                      <a:tailEnd type="none" w="med" len="med"/>
                    </a:lnL>
                    <a:lnT w="12700" cap="flat" cmpd="sng" algn="ctr">
                      <a:solidFill>
                        <a:srgbClr val="5B9BD5"/>
                      </a:solidFill>
                      <a:prstDash val="solid"/>
                      <a:round/>
                      <a:headEnd type="none" w="med" len="med"/>
                      <a:tailEnd type="none" w="med" len="med"/>
                    </a:lnT>
                  </a:tcPr>
                </a:tc>
                <a:tc hMerge="1">
                  <a:txBody>
                    <a:bodyPr/>
                    <a:lstStyle/>
                    <a:p>
                      <a:pPr marL="0" marR="0" algn="l">
                        <a:spcBef>
                          <a:spcPts val="0"/>
                        </a:spcBef>
                        <a:spcAft>
                          <a:spcPts val="0"/>
                        </a:spcAft>
                      </a:pPr>
                      <a:endParaRPr lang="en-US" sz="1300">
                        <a:effectLst/>
                        <a:latin typeface="+mj-lt"/>
                        <a:ea typeface="Libre Franklin Thin" pitchFamily="2" charset="0"/>
                        <a:cs typeface="Libre Franklin Thin" pitchFamily="2" charset="0"/>
                      </a:endParaRPr>
                    </a:p>
                  </a:txBody>
                  <a:tcPr marL="46930" marR="4693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346316908"/>
                  </a:ext>
                </a:extLst>
              </a:tr>
              <a:tr h="176159">
                <a:tc>
                  <a:txBody>
                    <a:bodyPr/>
                    <a:lstStyle/>
                    <a:p>
                      <a:pPr marL="0" marR="0" algn="ctr">
                        <a:spcBef>
                          <a:spcPts val="0"/>
                        </a:spcBef>
                        <a:spcAft>
                          <a:spcPts val="0"/>
                        </a:spcAft>
                      </a:pPr>
                      <a:r>
                        <a:rPr lang="en-US" sz="1300" b="1">
                          <a:effectLst/>
                          <a:latin typeface="+mj-lt"/>
                          <a:ea typeface="Times New Roman" panose="02020603050405020304" pitchFamily="18" charset="0"/>
                          <a:cs typeface="Libre Franklin Thin" pitchFamily="2" charset="0"/>
                        </a:rPr>
                        <a:t> </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1300" b="1">
                          <a:effectLst/>
                          <a:latin typeface="+mj-lt"/>
                          <a:ea typeface="Times New Roman" panose="02020603050405020304" pitchFamily="18" charset="0"/>
                          <a:cs typeface="Libre Franklin Thin" pitchFamily="2" charset="0"/>
                        </a:rPr>
                        <a:t>Segregation of feeders</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a:effectLst/>
                          <a:latin typeface="+mj-lt"/>
                          <a:ea typeface="Times New Roman" panose="02020603050405020304" pitchFamily="18" charset="0"/>
                          <a:cs typeface="Libre Franklin Thin" pitchFamily="2" charset="0"/>
                        </a:rPr>
                        <a:t>0</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dirty="0">
                          <a:effectLst/>
                          <a:latin typeface="+mj-lt"/>
                          <a:ea typeface="Times New Roman" panose="02020603050405020304" pitchFamily="18" charset="0"/>
                          <a:cs typeface="Libre Franklin Thin" pitchFamily="2" charset="0"/>
                        </a:rPr>
                        <a:t>109.02</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dirty="0">
                          <a:effectLst/>
                          <a:latin typeface="+mj-lt"/>
                          <a:ea typeface="Times New Roman" panose="02020603050405020304" pitchFamily="18" charset="0"/>
                          <a:cs typeface="Libre Franklin Thin" pitchFamily="2" charset="0"/>
                        </a:rPr>
                        <a:t>109.02</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dirty="0">
                          <a:effectLst/>
                          <a:latin typeface="+mj-lt"/>
                          <a:ea typeface="Times New Roman" panose="02020603050405020304" pitchFamily="18" charset="0"/>
                          <a:cs typeface="Libre Franklin Thin" pitchFamily="2" charset="0"/>
                        </a:rPr>
                        <a:t>146.35</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b="1" dirty="0">
                          <a:effectLst/>
                          <a:latin typeface="+mj-lt"/>
                          <a:ea typeface="Times New Roman" panose="02020603050405020304" pitchFamily="18" charset="0"/>
                          <a:cs typeface="Libre Franklin Thin" pitchFamily="2" charset="0"/>
                        </a:rPr>
                        <a:t>364.39</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7821105"/>
                  </a:ext>
                </a:extLst>
              </a:tr>
              <a:tr h="176159">
                <a:tc>
                  <a:txBody>
                    <a:bodyPr/>
                    <a:lstStyle/>
                    <a:p>
                      <a:pPr marL="0" marR="0" algn="ctr">
                        <a:spcBef>
                          <a:spcPts val="0"/>
                        </a:spcBef>
                        <a:spcAft>
                          <a:spcPts val="0"/>
                        </a:spcAft>
                      </a:pPr>
                      <a:r>
                        <a:rPr lang="en-US" sz="1300" b="1">
                          <a:solidFill>
                            <a:srgbClr val="000000"/>
                          </a:solidFill>
                          <a:effectLst/>
                          <a:latin typeface="+mj-lt"/>
                          <a:ea typeface="Times New Roman" panose="02020603050405020304" pitchFamily="18" charset="0"/>
                          <a:cs typeface="Libre Franklin Thin" pitchFamily="2" charset="0"/>
                        </a:rPr>
                        <a:t>2</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l">
                        <a:spcBef>
                          <a:spcPts val="0"/>
                        </a:spcBef>
                        <a:spcAft>
                          <a:spcPts val="0"/>
                        </a:spcAft>
                      </a:pPr>
                      <a:r>
                        <a:rPr lang="en-US" sz="1300">
                          <a:solidFill>
                            <a:srgbClr val="000000"/>
                          </a:solidFill>
                          <a:effectLst/>
                          <a:latin typeface="+mj-lt"/>
                          <a:ea typeface="Times New Roman" panose="02020603050405020304" pitchFamily="18" charset="0"/>
                          <a:cs typeface="Libre Franklin Thin" pitchFamily="2" charset="0"/>
                        </a:rPr>
                        <a:t>Provision of ABC cables</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a:solidFill>
                            <a:srgbClr val="000000"/>
                          </a:solidFill>
                          <a:effectLst/>
                          <a:latin typeface="+mj-lt"/>
                          <a:ea typeface="Times New Roman" panose="02020603050405020304" pitchFamily="18" charset="0"/>
                          <a:cs typeface="Libre Franklin Thin" pitchFamily="2" charset="0"/>
                        </a:rPr>
                        <a:t>0</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dirty="0">
                          <a:solidFill>
                            <a:srgbClr val="000000"/>
                          </a:solidFill>
                          <a:effectLst/>
                          <a:latin typeface="+mj-lt"/>
                          <a:ea typeface="Times New Roman" panose="02020603050405020304" pitchFamily="18" charset="0"/>
                          <a:cs typeface="Libre Franklin Thin" pitchFamily="2" charset="0"/>
                        </a:rPr>
                        <a:t>2192.40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dirty="0">
                          <a:solidFill>
                            <a:srgbClr val="000000"/>
                          </a:solidFill>
                          <a:effectLst/>
                          <a:latin typeface="+mj-lt"/>
                          <a:ea typeface="Times New Roman" panose="02020603050405020304" pitchFamily="18" charset="0"/>
                          <a:cs typeface="Libre Franklin Thin" pitchFamily="2" charset="0"/>
                        </a:rPr>
                        <a:t>2192.05</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dirty="0">
                          <a:solidFill>
                            <a:srgbClr val="000000"/>
                          </a:solidFill>
                          <a:effectLst/>
                          <a:latin typeface="+mj-lt"/>
                          <a:ea typeface="Times New Roman" panose="02020603050405020304" pitchFamily="18" charset="0"/>
                          <a:cs typeface="Libre Franklin Thin" pitchFamily="2" charset="0"/>
                        </a:rPr>
                        <a:t>2284.30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b="1" dirty="0">
                          <a:solidFill>
                            <a:srgbClr val="000000"/>
                          </a:solidFill>
                          <a:effectLst/>
                          <a:latin typeface="+mj-lt"/>
                          <a:ea typeface="Times New Roman" panose="02020603050405020304" pitchFamily="18" charset="0"/>
                          <a:cs typeface="Libre Franklin Thin" pitchFamily="2" charset="0"/>
                        </a:rPr>
                        <a:t>6668.75</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extLst>
                  <a:ext uri="{0D108BD9-81ED-4DB2-BD59-A6C34878D82A}">
                    <a16:rowId xmlns:a16="http://schemas.microsoft.com/office/drawing/2014/main" val="505294980"/>
                  </a:ext>
                </a:extLst>
              </a:tr>
              <a:tr h="352318">
                <a:tc>
                  <a:txBody>
                    <a:bodyPr/>
                    <a:lstStyle/>
                    <a:p>
                      <a:pPr marL="0" marR="0" algn="ctr">
                        <a:spcBef>
                          <a:spcPts val="0"/>
                        </a:spcBef>
                        <a:spcAft>
                          <a:spcPts val="0"/>
                        </a:spcAft>
                      </a:pPr>
                      <a:r>
                        <a:rPr lang="en-US" sz="1300" b="1">
                          <a:effectLst/>
                          <a:latin typeface="+mj-lt"/>
                          <a:ea typeface="Times New Roman" panose="02020603050405020304" pitchFamily="18" charset="0"/>
                          <a:cs typeface="Libre Franklin Thin" pitchFamily="2" charset="0"/>
                        </a:rPr>
                        <a:t>3</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1300">
                          <a:effectLst/>
                          <a:latin typeface="+mj-lt"/>
                          <a:ea typeface="Times New Roman" panose="02020603050405020304" pitchFamily="18" charset="0"/>
                          <a:cs typeface="Libre Franklin Thin" pitchFamily="2" charset="0"/>
                        </a:rPr>
                        <a:t>Installation of 11KV Capacitor Bank in 33/11 KV Sub-Station</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a:effectLst/>
                          <a:latin typeface="+mj-lt"/>
                          <a:ea typeface="Times New Roman" panose="02020603050405020304" pitchFamily="18" charset="0"/>
                          <a:cs typeface="Libre Franklin Thin" pitchFamily="2" charset="0"/>
                        </a:rPr>
                        <a:t>0</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dirty="0">
                          <a:effectLst/>
                          <a:latin typeface="+mj-lt"/>
                          <a:ea typeface="Times New Roman" panose="02020603050405020304" pitchFamily="18" charset="0"/>
                          <a:cs typeface="Libre Franklin Thin" pitchFamily="2" charset="0"/>
                        </a:rPr>
                        <a:t>4.80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dirty="0">
                          <a:effectLst/>
                          <a:latin typeface="+mj-lt"/>
                          <a:ea typeface="Times New Roman" panose="02020603050405020304" pitchFamily="18" charset="0"/>
                          <a:cs typeface="Libre Franklin Thin" pitchFamily="2" charset="0"/>
                        </a:rPr>
                        <a:t>4.80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dirty="0">
                          <a:effectLst/>
                          <a:latin typeface="+mj-lt"/>
                          <a:ea typeface="Times New Roman" panose="02020603050405020304" pitchFamily="18" charset="0"/>
                          <a:cs typeface="Libre Franklin Thin" pitchFamily="2" charset="0"/>
                        </a:rPr>
                        <a:t>2.64</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b="1" dirty="0">
                          <a:effectLst/>
                          <a:latin typeface="+mj-lt"/>
                          <a:ea typeface="Times New Roman" panose="02020603050405020304" pitchFamily="18" charset="0"/>
                          <a:cs typeface="Libre Franklin Thin" pitchFamily="2" charset="0"/>
                        </a:rPr>
                        <a:t>12.24</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2516898"/>
                  </a:ext>
                </a:extLst>
              </a:tr>
              <a:tr h="352318">
                <a:tc>
                  <a:txBody>
                    <a:bodyPr/>
                    <a:lstStyle/>
                    <a:p>
                      <a:pPr marL="0" marR="0" algn="ctr">
                        <a:spcBef>
                          <a:spcPts val="0"/>
                        </a:spcBef>
                        <a:spcAft>
                          <a:spcPts val="0"/>
                        </a:spcAft>
                      </a:pPr>
                      <a:r>
                        <a:rPr lang="en-US" sz="1300" b="1">
                          <a:solidFill>
                            <a:srgbClr val="000000"/>
                          </a:solidFill>
                          <a:effectLst/>
                          <a:latin typeface="+mj-lt"/>
                          <a:ea typeface="Times New Roman" panose="02020603050405020304" pitchFamily="18" charset="0"/>
                          <a:cs typeface="Libre Franklin Thin" pitchFamily="2" charset="0"/>
                        </a:rPr>
                        <a:t>4</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l">
                        <a:spcBef>
                          <a:spcPts val="0"/>
                        </a:spcBef>
                        <a:spcAft>
                          <a:spcPts val="0"/>
                        </a:spcAft>
                      </a:pPr>
                      <a:r>
                        <a:rPr lang="en-US" sz="1300">
                          <a:solidFill>
                            <a:srgbClr val="000000"/>
                          </a:solidFill>
                          <a:effectLst/>
                          <a:latin typeface="+mj-lt"/>
                          <a:ea typeface="Times New Roman" panose="02020603050405020304" pitchFamily="18" charset="0"/>
                          <a:cs typeface="Libre Franklin Thin" pitchFamily="2" charset="0"/>
                        </a:rPr>
                        <a:t>Public Charging Infrastructure for Electric Vehicals (EVs)</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a:solidFill>
                            <a:srgbClr val="000000"/>
                          </a:solidFill>
                          <a:effectLst/>
                          <a:latin typeface="+mj-lt"/>
                          <a:ea typeface="Times New Roman" panose="02020603050405020304" pitchFamily="18" charset="0"/>
                          <a:cs typeface="Libre Franklin Thin" pitchFamily="2" charset="0"/>
                        </a:rPr>
                        <a:t>0</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dirty="0">
                          <a:solidFill>
                            <a:srgbClr val="000000"/>
                          </a:solidFill>
                          <a:effectLst/>
                          <a:latin typeface="+mj-lt"/>
                          <a:ea typeface="Times New Roman" panose="02020603050405020304" pitchFamily="18" charset="0"/>
                          <a:cs typeface="Libre Franklin Thin" pitchFamily="2" charset="0"/>
                        </a:rPr>
                        <a:t>21.47</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dirty="0">
                          <a:solidFill>
                            <a:srgbClr val="000000"/>
                          </a:solidFill>
                          <a:effectLst/>
                          <a:latin typeface="+mj-lt"/>
                          <a:ea typeface="Times New Roman" panose="02020603050405020304" pitchFamily="18" charset="0"/>
                          <a:cs typeface="Libre Franklin Thin" pitchFamily="2" charset="0"/>
                        </a:rPr>
                        <a:t>26.11</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dirty="0">
                          <a:solidFill>
                            <a:srgbClr val="000000"/>
                          </a:solidFill>
                          <a:effectLst/>
                          <a:latin typeface="+mj-lt"/>
                          <a:ea typeface="Times New Roman" panose="02020603050405020304" pitchFamily="18" charset="0"/>
                          <a:cs typeface="Libre Franklin Thin" pitchFamily="2" charset="0"/>
                        </a:rPr>
                        <a:t>25.76</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b="1" dirty="0">
                          <a:solidFill>
                            <a:srgbClr val="000000"/>
                          </a:solidFill>
                          <a:effectLst/>
                          <a:latin typeface="+mj-lt"/>
                          <a:ea typeface="Times New Roman" panose="02020603050405020304" pitchFamily="18" charset="0"/>
                          <a:cs typeface="Libre Franklin Thin" pitchFamily="2" charset="0"/>
                        </a:rPr>
                        <a:t>73.33</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extLst>
                  <a:ext uri="{0D108BD9-81ED-4DB2-BD59-A6C34878D82A}">
                    <a16:rowId xmlns:a16="http://schemas.microsoft.com/office/drawing/2014/main" val="1109117669"/>
                  </a:ext>
                </a:extLst>
              </a:tr>
              <a:tr h="176159">
                <a:tc>
                  <a:txBody>
                    <a:bodyPr/>
                    <a:lstStyle/>
                    <a:p>
                      <a:pPr marL="0" marR="0" algn="ctr">
                        <a:spcBef>
                          <a:spcPts val="0"/>
                        </a:spcBef>
                        <a:spcAft>
                          <a:spcPts val="0"/>
                        </a:spcAft>
                      </a:pPr>
                      <a:r>
                        <a:rPr lang="en-US" sz="1300" b="1">
                          <a:effectLst/>
                          <a:latin typeface="+mj-lt"/>
                          <a:ea typeface="Times New Roman" panose="02020603050405020304" pitchFamily="18" charset="0"/>
                          <a:cs typeface="Libre Franklin Thin" pitchFamily="2" charset="0"/>
                        </a:rPr>
                        <a:t> </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1300">
                          <a:effectLst/>
                          <a:latin typeface="+mj-lt"/>
                          <a:ea typeface="Times New Roman" panose="02020603050405020304" pitchFamily="18" charset="0"/>
                          <a:cs typeface="Libre Franklin Thin" pitchFamily="2" charset="0"/>
                        </a:rPr>
                        <a:t>Smart MCCB  6000 Nos.</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dirty="0">
                          <a:effectLst/>
                          <a:latin typeface="+mj-lt"/>
                          <a:ea typeface="Times New Roman" panose="02020603050405020304" pitchFamily="18" charset="0"/>
                          <a:cs typeface="Libre Franklin Thin" pitchFamily="2" charset="0"/>
                        </a:rPr>
                        <a:t>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dirty="0">
                          <a:effectLst/>
                          <a:latin typeface="+mj-lt"/>
                          <a:ea typeface="Times New Roman" panose="02020603050405020304" pitchFamily="18" charset="0"/>
                          <a:cs typeface="Libre Franklin Thin" pitchFamily="2" charset="0"/>
                        </a:rPr>
                        <a:t>16.00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dirty="0">
                          <a:effectLst/>
                          <a:latin typeface="+mj-lt"/>
                          <a:ea typeface="Times New Roman" panose="02020603050405020304" pitchFamily="18" charset="0"/>
                          <a:cs typeface="Libre Franklin Thin" pitchFamily="2" charset="0"/>
                        </a:rPr>
                        <a:t>16.00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dirty="0">
                          <a:effectLst/>
                          <a:latin typeface="+mj-lt"/>
                          <a:ea typeface="Times New Roman" panose="02020603050405020304" pitchFamily="18" charset="0"/>
                          <a:cs typeface="Libre Franklin Thin" pitchFamily="2" charset="0"/>
                        </a:rPr>
                        <a:t>16.00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b="1" dirty="0">
                          <a:effectLst/>
                          <a:latin typeface="+mj-lt"/>
                          <a:ea typeface="Times New Roman" panose="02020603050405020304" pitchFamily="18" charset="0"/>
                          <a:cs typeface="Libre Franklin Thin" pitchFamily="2" charset="0"/>
                        </a:rPr>
                        <a:t>48.00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29925395"/>
                  </a:ext>
                </a:extLst>
              </a:tr>
              <a:tr h="176159">
                <a:tc>
                  <a:txBody>
                    <a:bodyPr/>
                    <a:lstStyle/>
                    <a:p>
                      <a:pPr marL="0" marR="0" algn="ctr">
                        <a:spcBef>
                          <a:spcPts val="0"/>
                        </a:spcBef>
                        <a:spcAft>
                          <a:spcPts val="0"/>
                        </a:spcAft>
                      </a:pPr>
                      <a:r>
                        <a:rPr lang="en-US" sz="1300" b="1">
                          <a:solidFill>
                            <a:srgbClr val="000000"/>
                          </a:solidFill>
                          <a:effectLst/>
                          <a:latin typeface="+mj-lt"/>
                          <a:ea typeface="Times New Roman" panose="02020603050405020304" pitchFamily="18" charset="0"/>
                          <a:cs typeface="Libre Franklin Thin" pitchFamily="2" charset="0"/>
                        </a:rPr>
                        <a:t>5</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gridSpan="6">
                  <a:txBody>
                    <a:bodyPr/>
                    <a:lstStyle/>
                    <a:p>
                      <a:pPr marL="0" marR="0" algn="l">
                        <a:spcBef>
                          <a:spcPts val="0"/>
                        </a:spcBef>
                        <a:spcAft>
                          <a:spcPts val="0"/>
                        </a:spcAft>
                      </a:pPr>
                      <a:r>
                        <a:rPr lang="en-US" sz="1300" b="1" dirty="0">
                          <a:solidFill>
                            <a:srgbClr val="000000"/>
                          </a:solidFill>
                          <a:effectLst/>
                          <a:latin typeface="+mj-lt"/>
                          <a:ea typeface="Times New Roman" panose="02020603050405020304" pitchFamily="18" charset="0"/>
                          <a:cs typeface="Libre Franklin Thin" pitchFamily="2" charset="0"/>
                        </a:rPr>
                        <a:t>IT/OT enablement works</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hMerge="1">
                  <a:txBody>
                    <a:bodyPr/>
                    <a:lstStyle/>
                    <a:p>
                      <a:endParaRPr lang="en-US"/>
                    </a:p>
                  </a:txBody>
                  <a:tcPr>
                    <a:lnL w="12700" cap="flat" cmpd="sng" algn="ctr">
                      <a:solidFill>
                        <a:srgbClr val="9CC2E5"/>
                      </a:solidFill>
                      <a:prstDash val="solid"/>
                      <a:round/>
                      <a:headEnd type="none" w="med" len="med"/>
                      <a:tailEnd type="none" w="med" len="med"/>
                    </a:lnL>
                    <a:lnT w="12700" cap="flat" cmpd="sng" algn="ctr">
                      <a:solidFill>
                        <a:srgbClr val="9CC2E5"/>
                      </a:solidFill>
                      <a:prstDash val="solid"/>
                      <a:round/>
                      <a:headEnd type="none" w="med" len="med"/>
                      <a:tailEnd type="none" w="med" len="med"/>
                    </a:lnT>
                  </a:tcPr>
                </a:tc>
                <a:tc hMerge="1">
                  <a:txBody>
                    <a:bodyPr/>
                    <a:lstStyle/>
                    <a:p>
                      <a:endParaRPr lang="en-US"/>
                    </a:p>
                  </a:txBody>
                  <a:tcPr>
                    <a:lnL w="12700" cap="flat" cmpd="sng" algn="ctr">
                      <a:solidFill>
                        <a:srgbClr val="9CC2E5"/>
                      </a:solidFill>
                      <a:prstDash val="solid"/>
                      <a:round/>
                      <a:headEnd type="none" w="med" len="med"/>
                      <a:tailEnd type="none" w="med" len="med"/>
                    </a:lnL>
                    <a:lnT w="12700" cap="flat" cmpd="sng" algn="ctr">
                      <a:solidFill>
                        <a:srgbClr val="9CC2E5"/>
                      </a:solidFill>
                      <a:prstDash val="solid"/>
                      <a:round/>
                      <a:headEnd type="none" w="med" len="med"/>
                      <a:tailEnd type="none" w="med" len="med"/>
                    </a:lnT>
                  </a:tcPr>
                </a:tc>
                <a:tc hMerge="1">
                  <a:txBody>
                    <a:bodyPr/>
                    <a:lstStyle/>
                    <a:p>
                      <a:endParaRPr lang="en-US"/>
                    </a:p>
                  </a:txBody>
                  <a:tcPr>
                    <a:lnL w="12700" cap="flat" cmpd="sng" algn="ctr">
                      <a:solidFill>
                        <a:srgbClr val="9CC2E5"/>
                      </a:solidFill>
                      <a:prstDash val="solid"/>
                      <a:round/>
                      <a:headEnd type="none" w="med" len="med"/>
                      <a:tailEnd type="none" w="med" len="med"/>
                    </a:lnL>
                    <a:lnT w="12700" cap="flat" cmpd="sng" algn="ctr">
                      <a:solidFill>
                        <a:srgbClr val="9CC2E5"/>
                      </a:solidFill>
                      <a:prstDash val="solid"/>
                      <a:round/>
                      <a:headEnd type="none" w="med" len="med"/>
                      <a:tailEnd type="none" w="med" len="med"/>
                    </a:lnT>
                  </a:tcPr>
                </a:tc>
                <a:tc hMerge="1">
                  <a:txBody>
                    <a:bodyPr/>
                    <a:lstStyle/>
                    <a:p>
                      <a:endParaRPr lang="en-US"/>
                    </a:p>
                  </a:txBody>
                  <a:tcPr>
                    <a:lnL w="12700" cap="flat" cmpd="sng" algn="ctr">
                      <a:solidFill>
                        <a:srgbClr val="9CC2E5"/>
                      </a:solidFill>
                      <a:prstDash val="solid"/>
                      <a:round/>
                      <a:headEnd type="none" w="med" len="med"/>
                      <a:tailEnd type="none" w="med" len="med"/>
                    </a:lnL>
                    <a:lnT w="12700" cap="flat" cmpd="sng" algn="ctr">
                      <a:solidFill>
                        <a:srgbClr val="9CC2E5"/>
                      </a:solidFill>
                      <a:prstDash val="solid"/>
                      <a:round/>
                      <a:headEnd type="none" w="med" len="med"/>
                      <a:tailEnd type="none" w="med" len="med"/>
                    </a:lnT>
                  </a:tcPr>
                </a:tc>
                <a:tc hMerge="1">
                  <a:txBody>
                    <a:bodyPr/>
                    <a:lstStyle/>
                    <a:p>
                      <a:pPr marL="0" marR="0" algn="l">
                        <a:spcBef>
                          <a:spcPts val="0"/>
                        </a:spcBef>
                        <a:spcAft>
                          <a:spcPts val="0"/>
                        </a:spcAft>
                      </a:pPr>
                      <a:endParaRPr lang="en-US" sz="1300">
                        <a:effectLst/>
                        <a:latin typeface="+mj-lt"/>
                        <a:ea typeface="Libre Franklin Thin" pitchFamily="2" charset="0"/>
                        <a:cs typeface="Libre Franklin Thin" pitchFamily="2" charset="0"/>
                      </a:endParaRPr>
                    </a:p>
                  </a:txBody>
                  <a:tcPr marL="46930" marR="4693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3342945077"/>
                  </a:ext>
                </a:extLst>
              </a:tr>
              <a:tr h="352318">
                <a:tc>
                  <a:txBody>
                    <a:bodyPr/>
                    <a:lstStyle/>
                    <a:p>
                      <a:pPr marL="0" marR="0" algn="ctr">
                        <a:spcBef>
                          <a:spcPts val="0"/>
                        </a:spcBef>
                        <a:spcAft>
                          <a:spcPts val="0"/>
                        </a:spcAft>
                      </a:pPr>
                      <a:r>
                        <a:rPr lang="en-US" sz="1300" b="1">
                          <a:effectLst/>
                          <a:latin typeface="+mj-lt"/>
                          <a:ea typeface="Times New Roman" panose="02020603050405020304" pitchFamily="18" charset="0"/>
                          <a:cs typeface="Libre Franklin Thin" pitchFamily="2" charset="0"/>
                        </a:rPr>
                        <a:t>5a</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1300" dirty="0">
                          <a:effectLst/>
                          <a:latin typeface="+mj-lt"/>
                          <a:ea typeface="Times New Roman" panose="02020603050405020304" pitchFamily="18" charset="0"/>
                          <a:cs typeface="Libre Franklin Thin" pitchFamily="2" charset="0"/>
                        </a:rPr>
                        <a:t>Procurement for  infrastructure  of IT/OT integration</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a:effectLst/>
                          <a:latin typeface="+mj-lt"/>
                          <a:ea typeface="Times New Roman" panose="02020603050405020304" pitchFamily="18" charset="0"/>
                          <a:cs typeface="Libre Franklin Thin" pitchFamily="2" charset="0"/>
                        </a:rPr>
                        <a:t>0</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dirty="0">
                          <a:effectLst/>
                          <a:latin typeface="+mj-lt"/>
                          <a:ea typeface="Times New Roman" panose="02020603050405020304" pitchFamily="18" charset="0"/>
                          <a:cs typeface="Libre Franklin Thin" pitchFamily="2" charset="0"/>
                        </a:rPr>
                        <a:t>47.06</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dirty="0">
                          <a:effectLst/>
                          <a:latin typeface="+mj-lt"/>
                          <a:ea typeface="Times New Roman" panose="02020603050405020304" pitchFamily="18" charset="0"/>
                          <a:cs typeface="Libre Franklin Thin" pitchFamily="2" charset="0"/>
                        </a:rPr>
                        <a:t>9.50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dirty="0">
                          <a:effectLst/>
                          <a:latin typeface="+mj-lt"/>
                          <a:ea typeface="Times New Roman" panose="02020603050405020304" pitchFamily="18" charset="0"/>
                          <a:cs typeface="Libre Franklin Thin" pitchFamily="2" charset="0"/>
                        </a:rPr>
                        <a:t>6.70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b="1" dirty="0">
                          <a:effectLst/>
                          <a:latin typeface="+mj-lt"/>
                          <a:ea typeface="Times New Roman" panose="02020603050405020304" pitchFamily="18" charset="0"/>
                          <a:cs typeface="Libre Franklin Thin" pitchFamily="2" charset="0"/>
                        </a:rPr>
                        <a:t>63.26</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71473"/>
                  </a:ext>
                </a:extLst>
              </a:tr>
              <a:tr h="352318">
                <a:tc>
                  <a:txBody>
                    <a:bodyPr/>
                    <a:lstStyle/>
                    <a:p>
                      <a:pPr marL="0" marR="0" algn="ctr">
                        <a:spcBef>
                          <a:spcPts val="0"/>
                        </a:spcBef>
                        <a:spcAft>
                          <a:spcPts val="0"/>
                        </a:spcAft>
                      </a:pPr>
                      <a:r>
                        <a:rPr lang="en-US" sz="1300" b="1">
                          <a:solidFill>
                            <a:srgbClr val="000000"/>
                          </a:solidFill>
                          <a:effectLst/>
                          <a:latin typeface="+mj-lt"/>
                          <a:ea typeface="Times New Roman" panose="02020603050405020304" pitchFamily="18" charset="0"/>
                          <a:cs typeface="Libre Franklin Thin" pitchFamily="2" charset="0"/>
                        </a:rPr>
                        <a:t>5b</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l">
                        <a:spcBef>
                          <a:spcPts val="0"/>
                        </a:spcBef>
                        <a:spcAft>
                          <a:spcPts val="0"/>
                        </a:spcAft>
                      </a:pPr>
                      <a:r>
                        <a:rPr lang="en-US" sz="1300">
                          <a:solidFill>
                            <a:srgbClr val="000000"/>
                          </a:solidFill>
                          <a:effectLst/>
                          <a:latin typeface="+mj-lt"/>
                          <a:ea typeface="Times New Roman" panose="02020603050405020304" pitchFamily="18" charset="0"/>
                          <a:cs typeface="Libre Franklin Thin" pitchFamily="2" charset="0"/>
                        </a:rPr>
                        <a:t>Unified data management system with analytics and dashboard.</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a:solidFill>
                            <a:srgbClr val="000000"/>
                          </a:solidFill>
                          <a:effectLst/>
                          <a:latin typeface="+mj-lt"/>
                          <a:ea typeface="Times New Roman" panose="02020603050405020304" pitchFamily="18" charset="0"/>
                          <a:cs typeface="Libre Franklin Thin" pitchFamily="2" charset="0"/>
                        </a:rPr>
                        <a:t>0</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dirty="0">
                          <a:solidFill>
                            <a:srgbClr val="000000"/>
                          </a:solidFill>
                          <a:effectLst/>
                          <a:latin typeface="+mj-lt"/>
                          <a:ea typeface="Times New Roman" panose="02020603050405020304" pitchFamily="18" charset="0"/>
                          <a:cs typeface="Libre Franklin Thin" pitchFamily="2" charset="0"/>
                        </a:rPr>
                        <a:t>15.00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dirty="0">
                          <a:solidFill>
                            <a:srgbClr val="000000"/>
                          </a:solidFill>
                          <a:effectLst/>
                          <a:latin typeface="+mj-lt"/>
                          <a:ea typeface="Times New Roman" panose="02020603050405020304" pitchFamily="18" charset="0"/>
                          <a:cs typeface="Libre Franklin Thin" pitchFamily="2" charset="0"/>
                        </a:rPr>
                        <a:t>25.00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dirty="0">
                          <a:solidFill>
                            <a:srgbClr val="000000"/>
                          </a:solidFill>
                          <a:effectLst/>
                          <a:latin typeface="+mj-lt"/>
                          <a:ea typeface="Times New Roman" panose="02020603050405020304" pitchFamily="18" charset="0"/>
                          <a:cs typeface="Libre Franklin Thin" pitchFamily="2" charset="0"/>
                        </a:rPr>
                        <a:t>25.00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b="1" dirty="0">
                          <a:solidFill>
                            <a:srgbClr val="000000"/>
                          </a:solidFill>
                          <a:effectLst/>
                          <a:latin typeface="+mj-lt"/>
                          <a:ea typeface="Times New Roman" panose="02020603050405020304" pitchFamily="18" charset="0"/>
                          <a:cs typeface="Libre Franklin Thin" pitchFamily="2" charset="0"/>
                        </a:rPr>
                        <a:t>65.00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extLst>
                  <a:ext uri="{0D108BD9-81ED-4DB2-BD59-A6C34878D82A}">
                    <a16:rowId xmlns:a16="http://schemas.microsoft.com/office/drawing/2014/main" val="3391851991"/>
                  </a:ext>
                </a:extLst>
              </a:tr>
              <a:tr h="176159">
                <a:tc>
                  <a:txBody>
                    <a:bodyPr/>
                    <a:lstStyle/>
                    <a:p>
                      <a:pPr marL="0" marR="0" algn="ctr">
                        <a:spcBef>
                          <a:spcPts val="0"/>
                        </a:spcBef>
                        <a:spcAft>
                          <a:spcPts val="0"/>
                        </a:spcAft>
                      </a:pPr>
                      <a:r>
                        <a:rPr lang="en-US" sz="1300" b="1">
                          <a:effectLst/>
                          <a:latin typeface="+mj-lt"/>
                          <a:ea typeface="Times New Roman" panose="02020603050405020304" pitchFamily="18" charset="0"/>
                          <a:cs typeface="Libre Franklin Thin" pitchFamily="2" charset="0"/>
                        </a:rPr>
                        <a:t>6</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1300" b="1">
                          <a:effectLst/>
                          <a:latin typeface="+mj-lt"/>
                          <a:ea typeface="Times New Roman" panose="02020603050405020304" pitchFamily="18" charset="0"/>
                          <a:cs typeface="Libre Franklin Thin" pitchFamily="2" charset="0"/>
                        </a:rPr>
                        <a:t>Data centre Upgrade for unified Billing</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a:effectLst/>
                          <a:latin typeface="+mj-lt"/>
                          <a:ea typeface="Times New Roman" panose="02020603050405020304" pitchFamily="18" charset="0"/>
                          <a:cs typeface="Libre Franklin Thin" pitchFamily="2" charset="0"/>
                        </a:rPr>
                        <a:t> </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a:effectLst/>
                          <a:latin typeface="+mj-lt"/>
                          <a:ea typeface="Times New Roman" panose="02020603050405020304" pitchFamily="18" charset="0"/>
                          <a:cs typeface="Libre Franklin Thin" pitchFamily="2" charset="0"/>
                        </a:rPr>
                        <a:t> </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a:effectLst/>
                          <a:latin typeface="+mj-lt"/>
                          <a:ea typeface="Times New Roman" panose="02020603050405020304" pitchFamily="18" charset="0"/>
                          <a:cs typeface="Libre Franklin Thin" pitchFamily="2" charset="0"/>
                        </a:rPr>
                        <a:t> </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a:effectLst/>
                          <a:latin typeface="+mj-lt"/>
                          <a:ea typeface="Times New Roman" panose="02020603050405020304" pitchFamily="18" charset="0"/>
                          <a:cs typeface="Libre Franklin Thin" pitchFamily="2" charset="0"/>
                        </a:rPr>
                        <a:t> </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dirty="0">
                          <a:effectLst/>
                          <a:latin typeface="+mj-lt"/>
                          <a:ea typeface="Times New Roman" panose="02020603050405020304" pitchFamily="18" charset="0"/>
                          <a:cs typeface="Libre Franklin Thin" pitchFamily="2" charset="0"/>
                        </a:rPr>
                        <a:t> </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4647672"/>
                  </a:ext>
                </a:extLst>
              </a:tr>
              <a:tr h="528476">
                <a:tc>
                  <a:txBody>
                    <a:bodyPr/>
                    <a:lstStyle/>
                    <a:p>
                      <a:pPr marL="0" marR="0" algn="ctr">
                        <a:spcBef>
                          <a:spcPts val="0"/>
                        </a:spcBef>
                        <a:spcAft>
                          <a:spcPts val="0"/>
                        </a:spcAft>
                      </a:pPr>
                      <a:r>
                        <a:rPr lang="en-US" sz="1300" b="1" dirty="0">
                          <a:solidFill>
                            <a:srgbClr val="000000"/>
                          </a:solidFill>
                          <a:effectLst/>
                          <a:latin typeface="+mj-lt"/>
                          <a:ea typeface="Times New Roman" panose="02020603050405020304" pitchFamily="18" charset="0"/>
                          <a:cs typeface="Libre Franklin Thin" pitchFamily="2" charset="0"/>
                        </a:rPr>
                        <a:t>6a</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l">
                        <a:spcBef>
                          <a:spcPts val="0"/>
                        </a:spcBef>
                        <a:spcAft>
                          <a:spcPts val="0"/>
                        </a:spcAft>
                      </a:pPr>
                      <a:r>
                        <a:rPr lang="en-US" sz="1300">
                          <a:solidFill>
                            <a:srgbClr val="000000"/>
                          </a:solidFill>
                          <a:effectLst/>
                          <a:latin typeface="+mj-lt"/>
                          <a:ea typeface="Times New Roman" panose="02020603050405020304" pitchFamily="18" charset="0"/>
                          <a:cs typeface="Libre Franklin Thin" pitchFamily="2" charset="0"/>
                        </a:rPr>
                        <a:t>Data center infrastructure upgradation(for introduction of monthly billing system)server storage network devices</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dirty="0">
                          <a:solidFill>
                            <a:srgbClr val="000000"/>
                          </a:solidFill>
                          <a:effectLst/>
                          <a:latin typeface="+mj-lt"/>
                          <a:ea typeface="Times New Roman" panose="02020603050405020304" pitchFamily="18" charset="0"/>
                          <a:cs typeface="Libre Franklin Thin" pitchFamily="2" charset="0"/>
                        </a:rPr>
                        <a:t>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dirty="0">
                          <a:solidFill>
                            <a:srgbClr val="000000"/>
                          </a:solidFill>
                          <a:effectLst/>
                          <a:latin typeface="+mj-lt"/>
                          <a:ea typeface="Times New Roman" panose="02020603050405020304" pitchFamily="18" charset="0"/>
                          <a:cs typeface="Libre Franklin Thin" pitchFamily="2" charset="0"/>
                        </a:rPr>
                        <a:t>40.25</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dirty="0">
                          <a:solidFill>
                            <a:srgbClr val="000000"/>
                          </a:solidFill>
                          <a:effectLst/>
                          <a:latin typeface="+mj-lt"/>
                          <a:ea typeface="Times New Roman" panose="02020603050405020304" pitchFamily="18" charset="0"/>
                          <a:cs typeface="Libre Franklin Thin" pitchFamily="2" charset="0"/>
                        </a:rPr>
                        <a:t>25.25</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dirty="0">
                          <a:solidFill>
                            <a:srgbClr val="000000"/>
                          </a:solidFill>
                          <a:effectLst/>
                          <a:latin typeface="+mj-lt"/>
                          <a:ea typeface="Times New Roman" panose="02020603050405020304" pitchFamily="18" charset="0"/>
                          <a:cs typeface="Libre Franklin Thin" pitchFamily="2" charset="0"/>
                        </a:rPr>
                        <a:t>20.00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b="1" dirty="0">
                          <a:solidFill>
                            <a:srgbClr val="000000"/>
                          </a:solidFill>
                          <a:effectLst/>
                          <a:latin typeface="+mj-lt"/>
                          <a:ea typeface="Times New Roman" panose="02020603050405020304" pitchFamily="18" charset="0"/>
                          <a:cs typeface="Libre Franklin Thin" pitchFamily="2" charset="0"/>
                        </a:rPr>
                        <a:t>85.50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extLst>
                  <a:ext uri="{0D108BD9-81ED-4DB2-BD59-A6C34878D82A}">
                    <a16:rowId xmlns:a16="http://schemas.microsoft.com/office/drawing/2014/main" val="2620993949"/>
                  </a:ext>
                </a:extLst>
              </a:tr>
              <a:tr h="176159">
                <a:tc>
                  <a:txBody>
                    <a:bodyPr/>
                    <a:lstStyle/>
                    <a:p>
                      <a:pPr marL="0" marR="0" algn="ctr">
                        <a:spcBef>
                          <a:spcPts val="0"/>
                        </a:spcBef>
                        <a:spcAft>
                          <a:spcPts val="0"/>
                        </a:spcAft>
                      </a:pPr>
                      <a:r>
                        <a:rPr lang="en-US" sz="1300" b="1" dirty="0">
                          <a:effectLst/>
                          <a:latin typeface="+mj-lt"/>
                          <a:ea typeface="Times New Roman" panose="02020603050405020304" pitchFamily="18" charset="0"/>
                          <a:cs typeface="Libre Franklin Thin" pitchFamily="2" charset="0"/>
                        </a:rPr>
                        <a:t>7</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1300" b="1">
                          <a:effectLst/>
                          <a:latin typeface="+mj-lt"/>
                          <a:ea typeface="Times New Roman" panose="02020603050405020304" pitchFamily="18" charset="0"/>
                          <a:cs typeface="Libre Franklin Thin" pitchFamily="2" charset="0"/>
                        </a:rPr>
                        <a:t>DCU/SIM</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a:effectLst/>
                          <a:latin typeface="+mj-lt"/>
                          <a:ea typeface="Times New Roman" panose="02020603050405020304" pitchFamily="18" charset="0"/>
                          <a:cs typeface="Libre Franklin Thin" pitchFamily="2" charset="0"/>
                        </a:rPr>
                        <a:t> </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b="1" dirty="0">
                          <a:effectLst/>
                          <a:latin typeface="+mj-lt"/>
                          <a:ea typeface="Times New Roman" panose="02020603050405020304" pitchFamily="18" charset="0"/>
                          <a:cs typeface="Libre Franklin Thin" pitchFamily="2" charset="0"/>
                        </a:rPr>
                        <a:t> </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b="1">
                          <a:effectLst/>
                          <a:latin typeface="+mj-lt"/>
                          <a:ea typeface="Times New Roman" panose="02020603050405020304" pitchFamily="18" charset="0"/>
                          <a:cs typeface="Libre Franklin Thin" pitchFamily="2" charset="0"/>
                        </a:rPr>
                        <a:t> </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b="1">
                          <a:effectLst/>
                          <a:latin typeface="+mj-lt"/>
                          <a:ea typeface="Times New Roman" panose="02020603050405020304" pitchFamily="18" charset="0"/>
                          <a:cs typeface="Libre Franklin Thin" pitchFamily="2" charset="0"/>
                        </a:rPr>
                        <a:t> </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b="1">
                          <a:effectLst/>
                          <a:latin typeface="+mj-lt"/>
                          <a:ea typeface="Times New Roman" panose="02020603050405020304" pitchFamily="18" charset="0"/>
                          <a:cs typeface="Libre Franklin Thin" pitchFamily="2" charset="0"/>
                        </a:rPr>
                        <a:t> </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7487661"/>
                  </a:ext>
                </a:extLst>
              </a:tr>
              <a:tr h="176159">
                <a:tc>
                  <a:txBody>
                    <a:bodyPr/>
                    <a:lstStyle/>
                    <a:p>
                      <a:pPr marL="0" marR="0" algn="ctr">
                        <a:spcBef>
                          <a:spcPts val="0"/>
                        </a:spcBef>
                        <a:spcAft>
                          <a:spcPts val="0"/>
                        </a:spcAft>
                      </a:pPr>
                      <a:r>
                        <a:rPr lang="en-US" sz="1300" b="1">
                          <a:solidFill>
                            <a:srgbClr val="000000"/>
                          </a:solidFill>
                          <a:effectLst/>
                          <a:latin typeface="+mj-lt"/>
                          <a:ea typeface="Times New Roman" panose="02020603050405020304" pitchFamily="18" charset="0"/>
                          <a:cs typeface="Libre Franklin Thin" pitchFamily="2" charset="0"/>
                        </a:rPr>
                        <a:t>7a</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l">
                        <a:spcBef>
                          <a:spcPts val="0"/>
                        </a:spcBef>
                        <a:spcAft>
                          <a:spcPts val="0"/>
                        </a:spcAft>
                      </a:pPr>
                      <a:r>
                        <a:rPr lang="en-US" sz="1300">
                          <a:solidFill>
                            <a:srgbClr val="000000"/>
                          </a:solidFill>
                          <a:effectLst/>
                          <a:latin typeface="+mj-lt"/>
                          <a:ea typeface="Times New Roman" panose="02020603050405020304" pitchFamily="18" charset="0"/>
                          <a:cs typeface="Libre Franklin Thin" pitchFamily="2" charset="0"/>
                        </a:rPr>
                        <a:t>DCU for Feeder metering/ System metering.</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a:solidFill>
                            <a:srgbClr val="000000"/>
                          </a:solidFill>
                          <a:effectLst/>
                          <a:latin typeface="+mj-lt"/>
                          <a:ea typeface="Times New Roman" panose="02020603050405020304" pitchFamily="18" charset="0"/>
                          <a:cs typeface="Libre Franklin Thin" pitchFamily="2" charset="0"/>
                        </a:rPr>
                        <a:t>0</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dirty="0">
                          <a:solidFill>
                            <a:srgbClr val="000000"/>
                          </a:solidFill>
                          <a:effectLst/>
                          <a:latin typeface="+mj-lt"/>
                          <a:ea typeface="Times New Roman" panose="02020603050405020304" pitchFamily="18" charset="0"/>
                          <a:cs typeface="Libre Franklin Thin" pitchFamily="2" charset="0"/>
                        </a:rPr>
                        <a:t>0.50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dirty="0">
                          <a:solidFill>
                            <a:srgbClr val="000000"/>
                          </a:solidFill>
                          <a:effectLst/>
                          <a:latin typeface="+mj-lt"/>
                          <a:ea typeface="Times New Roman" panose="02020603050405020304" pitchFamily="18" charset="0"/>
                          <a:cs typeface="Libre Franklin Thin" pitchFamily="2" charset="0"/>
                        </a:rPr>
                        <a:t>2.00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dirty="0">
                          <a:solidFill>
                            <a:srgbClr val="000000"/>
                          </a:solidFill>
                          <a:effectLst/>
                          <a:latin typeface="+mj-lt"/>
                          <a:ea typeface="Times New Roman" panose="02020603050405020304" pitchFamily="18" charset="0"/>
                          <a:cs typeface="Libre Franklin Thin" pitchFamily="2" charset="0"/>
                        </a:rPr>
                        <a:t>2.00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marL="0" marR="0" algn="ctr">
                        <a:spcBef>
                          <a:spcPts val="0"/>
                        </a:spcBef>
                        <a:spcAft>
                          <a:spcPts val="0"/>
                        </a:spcAft>
                      </a:pPr>
                      <a:r>
                        <a:rPr lang="en-US" sz="1300" b="1" dirty="0">
                          <a:solidFill>
                            <a:srgbClr val="000000"/>
                          </a:solidFill>
                          <a:effectLst/>
                          <a:latin typeface="+mj-lt"/>
                          <a:ea typeface="Times New Roman" panose="02020603050405020304" pitchFamily="18" charset="0"/>
                          <a:cs typeface="Libre Franklin Thin" pitchFamily="2" charset="0"/>
                        </a:rPr>
                        <a:t>4.50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extLst>
                  <a:ext uri="{0D108BD9-81ED-4DB2-BD59-A6C34878D82A}">
                    <a16:rowId xmlns:a16="http://schemas.microsoft.com/office/drawing/2014/main" val="3705434968"/>
                  </a:ext>
                </a:extLst>
              </a:tr>
              <a:tr h="176159">
                <a:tc gridSpan="2">
                  <a:txBody>
                    <a:bodyPr/>
                    <a:lstStyle/>
                    <a:p>
                      <a:pPr marL="0" marR="0" algn="ctr">
                        <a:spcBef>
                          <a:spcPts val="0"/>
                        </a:spcBef>
                        <a:spcAft>
                          <a:spcPts val="0"/>
                        </a:spcAft>
                      </a:pPr>
                      <a:r>
                        <a:rPr lang="en-US" sz="1300" b="1" dirty="0">
                          <a:effectLst/>
                          <a:latin typeface="+mj-lt"/>
                          <a:ea typeface="Times New Roman" panose="02020603050405020304" pitchFamily="18" charset="0"/>
                          <a:cs typeface="Libre Franklin Thin" pitchFamily="2" charset="0"/>
                        </a:rPr>
                        <a:t>Total (excluding PMA Charges) (INR Cr.)</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a:txBody>
                    <a:bodyPr/>
                    <a:lstStyle/>
                    <a:p>
                      <a:pPr marL="0" marR="0" algn="ctr">
                        <a:spcBef>
                          <a:spcPts val="0"/>
                        </a:spcBef>
                        <a:spcAft>
                          <a:spcPts val="0"/>
                        </a:spcAft>
                      </a:pPr>
                      <a:r>
                        <a:rPr lang="en-US" sz="1300" b="1" dirty="0">
                          <a:effectLst/>
                          <a:latin typeface="+mj-lt"/>
                          <a:ea typeface="Times New Roman" panose="02020603050405020304" pitchFamily="18" charset="0"/>
                          <a:cs typeface="Libre Franklin Thin" pitchFamily="2" charset="0"/>
                        </a:rPr>
                        <a:t>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b="1" dirty="0">
                          <a:effectLst/>
                          <a:latin typeface="+mj-lt"/>
                          <a:ea typeface="Times New Roman" panose="02020603050405020304" pitchFamily="18" charset="0"/>
                          <a:cs typeface="Libre Franklin Thin" pitchFamily="2" charset="0"/>
                        </a:rPr>
                        <a:t>2446.50</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b="1" dirty="0">
                          <a:effectLst/>
                          <a:latin typeface="+mj-lt"/>
                          <a:ea typeface="Times New Roman" panose="02020603050405020304" pitchFamily="18" charset="0"/>
                          <a:cs typeface="Libre Franklin Thin" pitchFamily="2" charset="0"/>
                        </a:rPr>
                        <a:t>2409.72</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b="1" dirty="0">
                          <a:effectLst/>
                          <a:latin typeface="+mj-lt"/>
                          <a:ea typeface="Times New Roman" panose="02020603050405020304" pitchFamily="18" charset="0"/>
                          <a:cs typeface="Libre Franklin Thin" pitchFamily="2" charset="0"/>
                        </a:rPr>
                        <a:t>2528.75</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300" b="1" dirty="0">
                          <a:solidFill>
                            <a:srgbClr val="000000"/>
                          </a:solidFill>
                          <a:effectLst/>
                          <a:latin typeface="+mj-lt"/>
                          <a:ea typeface="Times New Roman" panose="02020603050405020304" pitchFamily="18" charset="0"/>
                          <a:cs typeface="Libre Franklin Thin" pitchFamily="2" charset="0"/>
                        </a:rPr>
                        <a:t>7384.97</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5E0B3"/>
                    </a:solidFill>
                  </a:tcPr>
                </a:tc>
                <a:extLst>
                  <a:ext uri="{0D108BD9-81ED-4DB2-BD59-A6C34878D82A}">
                    <a16:rowId xmlns:a16="http://schemas.microsoft.com/office/drawing/2014/main" val="2343172456"/>
                  </a:ext>
                </a:extLst>
              </a:tr>
              <a:tr h="176159">
                <a:tc gridSpan="6">
                  <a:txBody>
                    <a:bodyPr/>
                    <a:lstStyle/>
                    <a:p>
                      <a:pPr marL="0" marR="0" algn="ctr">
                        <a:spcBef>
                          <a:spcPts val="0"/>
                        </a:spcBef>
                        <a:spcAft>
                          <a:spcPts val="0"/>
                        </a:spcAft>
                      </a:pPr>
                      <a:r>
                        <a:rPr lang="en-US" sz="1300" b="1" dirty="0">
                          <a:solidFill>
                            <a:srgbClr val="000000"/>
                          </a:solidFill>
                          <a:effectLst/>
                          <a:latin typeface="+mj-lt"/>
                          <a:ea typeface="Times New Roman" panose="02020603050405020304" pitchFamily="18" charset="0"/>
                          <a:cs typeface="Libre Franklin Thin" pitchFamily="2" charset="0"/>
                        </a:rPr>
                        <a:t>PMA Charges @ 1.5% of the project cost (Loss reduction works)</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hMerge="1">
                  <a:txBody>
                    <a:bodyPr/>
                    <a:lstStyle/>
                    <a:p>
                      <a:endParaRPr lang="en-US"/>
                    </a:p>
                  </a:txBody>
                  <a:tcPr/>
                </a:tc>
                <a:tc hMerge="1">
                  <a:txBody>
                    <a:bodyPr/>
                    <a:lstStyle/>
                    <a:p>
                      <a:endParaRPr lang="en-US"/>
                    </a:p>
                  </a:txBody>
                  <a:tcPr>
                    <a:lnL w="12700" cap="flat" cmpd="sng" algn="ctr">
                      <a:solidFill>
                        <a:srgbClr val="9CC2E5"/>
                      </a:solidFill>
                      <a:prstDash val="solid"/>
                      <a:round/>
                      <a:headEnd type="none" w="med" len="med"/>
                      <a:tailEnd type="none" w="med" len="med"/>
                    </a:lnL>
                    <a:lnT w="12700" cap="flat" cmpd="sng" algn="ctr">
                      <a:solidFill>
                        <a:srgbClr val="9CC2E5"/>
                      </a:solidFill>
                      <a:prstDash val="solid"/>
                      <a:round/>
                      <a:headEnd type="none" w="med" len="med"/>
                      <a:tailEnd type="none" w="med" len="med"/>
                    </a:lnT>
                  </a:tcPr>
                </a:tc>
                <a:tc hMerge="1">
                  <a:txBody>
                    <a:bodyPr/>
                    <a:lstStyle/>
                    <a:p>
                      <a:endParaRPr lang="en-US"/>
                    </a:p>
                  </a:txBody>
                  <a:tcPr>
                    <a:lnL w="12700" cap="flat" cmpd="sng" algn="ctr">
                      <a:solidFill>
                        <a:srgbClr val="9CC2E5"/>
                      </a:solidFill>
                      <a:prstDash val="solid"/>
                      <a:round/>
                      <a:headEnd type="none" w="med" len="med"/>
                      <a:tailEnd type="none" w="med" len="med"/>
                    </a:lnL>
                    <a:lnT w="12700" cap="flat" cmpd="sng" algn="ctr">
                      <a:solidFill>
                        <a:srgbClr val="9CC2E5"/>
                      </a:solidFill>
                      <a:prstDash val="solid"/>
                      <a:round/>
                      <a:headEnd type="none" w="med" len="med"/>
                      <a:tailEnd type="none" w="med" len="med"/>
                    </a:lnT>
                  </a:tcPr>
                </a:tc>
                <a:tc hMerge="1">
                  <a:txBody>
                    <a:bodyPr/>
                    <a:lstStyle/>
                    <a:p>
                      <a:endParaRPr lang="en-US"/>
                    </a:p>
                  </a:txBody>
                  <a:tcPr>
                    <a:lnL w="12700" cap="flat" cmpd="sng" algn="ctr">
                      <a:solidFill>
                        <a:srgbClr val="9CC2E5"/>
                      </a:solidFill>
                      <a:prstDash val="solid"/>
                      <a:round/>
                      <a:headEnd type="none" w="med" len="med"/>
                      <a:tailEnd type="none" w="med" len="med"/>
                    </a:lnL>
                    <a:lnT w="12700" cap="flat" cmpd="sng" algn="ctr">
                      <a:solidFill>
                        <a:srgbClr val="9CC2E5"/>
                      </a:solidFill>
                      <a:prstDash val="solid"/>
                      <a:round/>
                      <a:headEnd type="none" w="med" len="med"/>
                      <a:tailEnd type="none" w="med" len="med"/>
                    </a:lnT>
                  </a:tcPr>
                </a:tc>
                <a:tc hMerge="1">
                  <a:txBody>
                    <a:bodyPr/>
                    <a:lstStyle/>
                    <a:p>
                      <a:pPr marL="0" marR="0" algn="ctr">
                        <a:spcBef>
                          <a:spcPts val="0"/>
                        </a:spcBef>
                        <a:spcAft>
                          <a:spcPts val="0"/>
                        </a:spcAft>
                      </a:pPr>
                      <a:endParaRPr lang="en-US" sz="1300">
                        <a:effectLst/>
                        <a:latin typeface="+mj-lt"/>
                        <a:ea typeface="Libre Franklin Thin" pitchFamily="2" charset="0"/>
                        <a:cs typeface="Libre Franklin Thin" pitchFamily="2" charset="0"/>
                      </a:endParaRPr>
                    </a:p>
                  </a:txBody>
                  <a:tcPr marL="46930" marR="4693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300" b="1" dirty="0">
                          <a:effectLst/>
                          <a:latin typeface="+mj-lt"/>
                          <a:ea typeface="Times New Roman" panose="02020603050405020304" pitchFamily="18" charset="0"/>
                          <a:cs typeface="Libre Franklin Thin" pitchFamily="2" charset="0"/>
                        </a:rPr>
                        <a:t>110.78</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0129881"/>
                  </a:ext>
                </a:extLst>
              </a:tr>
              <a:tr h="176159">
                <a:tc gridSpan="6">
                  <a:txBody>
                    <a:bodyPr/>
                    <a:lstStyle/>
                    <a:p>
                      <a:pPr marL="0" marR="0" algn="ctr">
                        <a:spcBef>
                          <a:spcPts val="0"/>
                        </a:spcBef>
                        <a:spcAft>
                          <a:spcPts val="0"/>
                        </a:spcAft>
                      </a:pPr>
                      <a:r>
                        <a:rPr lang="en-US" sz="1300" b="1">
                          <a:effectLst/>
                          <a:latin typeface="+mj-lt"/>
                          <a:ea typeface="Times New Roman" panose="02020603050405020304" pitchFamily="18" charset="0"/>
                          <a:cs typeface="Libre Franklin Thin" pitchFamily="2" charset="0"/>
                        </a:rPr>
                        <a:t>Total Project Cost Inc. PMA</a:t>
                      </a:r>
                      <a:endParaRPr lang="en-US" sz="130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lnL w="12700" cap="flat" cmpd="sng" algn="ctr">
                      <a:solidFill>
                        <a:srgbClr val="9CC2E5"/>
                      </a:solidFill>
                      <a:prstDash val="solid"/>
                      <a:round/>
                      <a:headEnd type="none" w="med" len="med"/>
                      <a:tailEnd type="none" w="med" len="med"/>
                    </a:lnL>
                  </a:tcPr>
                </a:tc>
                <a:tc hMerge="1">
                  <a:txBody>
                    <a:bodyPr/>
                    <a:lstStyle/>
                    <a:p>
                      <a:endParaRPr lang="en-US"/>
                    </a:p>
                  </a:txBody>
                  <a:tcPr>
                    <a:lnL w="12700" cap="flat" cmpd="sng" algn="ctr">
                      <a:solidFill>
                        <a:srgbClr val="9CC2E5"/>
                      </a:solidFill>
                      <a:prstDash val="solid"/>
                      <a:round/>
                      <a:headEnd type="none" w="med" len="med"/>
                      <a:tailEnd type="none" w="med" len="med"/>
                    </a:lnL>
                  </a:tcPr>
                </a:tc>
                <a:tc hMerge="1">
                  <a:txBody>
                    <a:bodyPr/>
                    <a:lstStyle/>
                    <a:p>
                      <a:endParaRPr lang="en-US"/>
                    </a:p>
                  </a:txBody>
                  <a:tcPr>
                    <a:lnL w="12700" cap="flat" cmpd="sng" algn="ctr">
                      <a:solidFill>
                        <a:srgbClr val="9CC2E5"/>
                      </a:solidFill>
                      <a:prstDash val="solid"/>
                      <a:round/>
                      <a:headEnd type="none" w="med" len="med"/>
                      <a:tailEnd type="none" w="med" len="med"/>
                    </a:lnL>
                  </a:tcPr>
                </a:tc>
                <a:tc hMerge="1">
                  <a:txBody>
                    <a:bodyPr/>
                    <a:lstStyle/>
                    <a:p>
                      <a:pPr marL="0" marR="0" algn="ctr">
                        <a:spcBef>
                          <a:spcPts val="0"/>
                        </a:spcBef>
                        <a:spcAft>
                          <a:spcPts val="0"/>
                        </a:spcAft>
                      </a:pPr>
                      <a:endParaRPr lang="en-US" sz="1300">
                        <a:effectLst/>
                        <a:latin typeface="+mj-lt"/>
                        <a:ea typeface="Libre Franklin Thin" pitchFamily="2" charset="0"/>
                        <a:cs typeface="Libre Franklin Thin" pitchFamily="2" charset="0"/>
                      </a:endParaRPr>
                    </a:p>
                  </a:txBody>
                  <a:tcPr marL="46930" marR="4693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300" b="1" dirty="0">
                          <a:solidFill>
                            <a:srgbClr val="000000"/>
                          </a:solidFill>
                          <a:effectLst/>
                          <a:latin typeface="+mj-lt"/>
                          <a:ea typeface="Times New Roman" panose="02020603050405020304" pitchFamily="18" charset="0"/>
                          <a:cs typeface="Libre Franklin Thin" pitchFamily="2" charset="0"/>
                        </a:rPr>
                        <a:t>7495.75</a:t>
                      </a:r>
                      <a:endParaRPr lang="en-US" sz="1300" dirty="0">
                        <a:effectLst/>
                        <a:latin typeface="+mj-lt"/>
                        <a:ea typeface="Libre Franklin Thin" pitchFamily="2" charset="0"/>
                        <a:cs typeface="Libre Franklin Thin" pitchFamily="2" charset="0"/>
                      </a:endParaRPr>
                    </a:p>
                  </a:txBody>
                  <a:tcPr marL="46930" marR="4693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5E0B3"/>
                    </a:solidFill>
                  </a:tcPr>
                </a:tc>
                <a:extLst>
                  <a:ext uri="{0D108BD9-81ED-4DB2-BD59-A6C34878D82A}">
                    <a16:rowId xmlns:a16="http://schemas.microsoft.com/office/drawing/2014/main" val="527051775"/>
                  </a:ext>
                </a:extLst>
              </a:tr>
            </a:tbl>
          </a:graphicData>
        </a:graphic>
      </p:graphicFrame>
    </p:spTree>
    <p:extLst>
      <p:ext uri="{BB962C8B-B14F-4D97-AF65-F5344CB8AC3E}">
        <p14:creationId xmlns:p14="http://schemas.microsoft.com/office/powerpoint/2010/main" val="4086011319"/>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1560"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190200"/>
            <a:ext cx="11184826" cy="338554"/>
          </a:xfrm>
        </p:spPr>
        <p:txBody>
          <a:bodyPr vert="horz"/>
          <a:lstStyle/>
          <a:p>
            <a:pPr algn="just"/>
            <a:r>
              <a:rPr lang="en-US" sz="1800" b="1" dirty="0"/>
              <a:t>Year on Year Phasing of Project Cost (3/3)</a:t>
            </a:r>
            <a:endParaRPr lang="en-US" sz="1800" b="1" i="0" dirty="0">
              <a:solidFill>
                <a:schemeClr val="tx1"/>
              </a:solidFill>
            </a:endParaRPr>
          </a:p>
        </p:txBody>
      </p:sp>
      <p:sp>
        <p:nvSpPr>
          <p:cNvPr id="9" name="TextBox 8">
            <a:extLst>
              <a:ext uri="{FF2B5EF4-FFF2-40B4-BE49-F238E27FC236}">
                <a16:creationId xmlns:a16="http://schemas.microsoft.com/office/drawing/2014/main" id="{7A33CCE3-1DF6-4BCA-9038-AC7821127F04}"/>
              </a:ext>
            </a:extLst>
          </p:cNvPr>
          <p:cNvSpPr txBox="1"/>
          <p:nvPr/>
        </p:nvSpPr>
        <p:spPr>
          <a:xfrm>
            <a:off x="501652" y="511731"/>
            <a:ext cx="6096000" cy="338554"/>
          </a:xfrm>
          <a:prstGeom prst="rect">
            <a:avLst/>
          </a:prstGeom>
          <a:noFill/>
        </p:spPr>
        <p:txBody>
          <a:bodyPr wrap="square">
            <a:spAutoFit/>
          </a:bodyPr>
          <a:lstStyle/>
          <a:p>
            <a:r>
              <a:rPr lang="en-US" sz="1600" b="1" dirty="0">
                <a:effectLst/>
                <a:latin typeface="+mj-lt"/>
                <a:ea typeface="Libre Franklin Thin" pitchFamily="2" charset="0"/>
              </a:rPr>
              <a:t>c) Modernization Works</a:t>
            </a:r>
            <a:endParaRPr lang="en-US" sz="1600" dirty="0">
              <a:latin typeface="+mj-lt"/>
            </a:endParaRPr>
          </a:p>
        </p:txBody>
      </p:sp>
      <p:graphicFrame>
        <p:nvGraphicFramePr>
          <p:cNvPr id="3" name="Table 2">
            <a:extLst>
              <a:ext uri="{FF2B5EF4-FFF2-40B4-BE49-F238E27FC236}">
                <a16:creationId xmlns:a16="http://schemas.microsoft.com/office/drawing/2014/main" id="{15AC211D-74E4-4767-9B49-3B5CBB0D2457}"/>
              </a:ext>
            </a:extLst>
          </p:cNvPr>
          <p:cNvGraphicFramePr>
            <a:graphicFrameLocks noGrp="1"/>
          </p:cNvGraphicFramePr>
          <p:nvPr>
            <p:extLst>
              <p:ext uri="{D42A27DB-BD31-4B8C-83A1-F6EECF244321}">
                <p14:modId xmlns:p14="http://schemas.microsoft.com/office/powerpoint/2010/main" val="3211189596"/>
              </p:ext>
            </p:extLst>
          </p:nvPr>
        </p:nvGraphicFramePr>
        <p:xfrm>
          <a:off x="275650" y="866027"/>
          <a:ext cx="11636829" cy="5480245"/>
        </p:xfrm>
        <a:graphic>
          <a:graphicData uri="http://schemas.openxmlformats.org/drawingml/2006/table">
            <a:tbl>
              <a:tblPr firstRow="1" firstCol="1" bandRow="1"/>
              <a:tblGrid>
                <a:gridCol w="526826">
                  <a:extLst>
                    <a:ext uri="{9D8B030D-6E8A-4147-A177-3AD203B41FA5}">
                      <a16:colId xmlns:a16="http://schemas.microsoft.com/office/drawing/2014/main" val="2369599128"/>
                    </a:ext>
                  </a:extLst>
                </a:gridCol>
                <a:gridCol w="5373232">
                  <a:extLst>
                    <a:ext uri="{9D8B030D-6E8A-4147-A177-3AD203B41FA5}">
                      <a16:colId xmlns:a16="http://schemas.microsoft.com/office/drawing/2014/main" val="1192470043"/>
                    </a:ext>
                  </a:extLst>
                </a:gridCol>
                <a:gridCol w="991271">
                  <a:extLst>
                    <a:ext uri="{9D8B030D-6E8A-4147-A177-3AD203B41FA5}">
                      <a16:colId xmlns:a16="http://schemas.microsoft.com/office/drawing/2014/main" val="2480041398"/>
                    </a:ext>
                  </a:extLst>
                </a:gridCol>
                <a:gridCol w="1233504">
                  <a:extLst>
                    <a:ext uri="{9D8B030D-6E8A-4147-A177-3AD203B41FA5}">
                      <a16:colId xmlns:a16="http://schemas.microsoft.com/office/drawing/2014/main" val="97143964"/>
                    </a:ext>
                  </a:extLst>
                </a:gridCol>
                <a:gridCol w="1238159">
                  <a:extLst>
                    <a:ext uri="{9D8B030D-6E8A-4147-A177-3AD203B41FA5}">
                      <a16:colId xmlns:a16="http://schemas.microsoft.com/office/drawing/2014/main" val="3589037820"/>
                    </a:ext>
                  </a:extLst>
                </a:gridCol>
                <a:gridCol w="1238159">
                  <a:extLst>
                    <a:ext uri="{9D8B030D-6E8A-4147-A177-3AD203B41FA5}">
                      <a16:colId xmlns:a16="http://schemas.microsoft.com/office/drawing/2014/main" val="119392183"/>
                    </a:ext>
                  </a:extLst>
                </a:gridCol>
                <a:gridCol w="1035678">
                  <a:extLst>
                    <a:ext uri="{9D8B030D-6E8A-4147-A177-3AD203B41FA5}">
                      <a16:colId xmlns:a16="http://schemas.microsoft.com/office/drawing/2014/main" val="3073522753"/>
                    </a:ext>
                  </a:extLst>
                </a:gridCol>
              </a:tblGrid>
              <a:tr h="390033">
                <a:tc rowSpan="2">
                  <a:txBody>
                    <a:bodyPr/>
                    <a:lstStyle/>
                    <a:p>
                      <a:pPr marL="0" marR="0" algn="ctr">
                        <a:spcBef>
                          <a:spcPts val="0"/>
                        </a:spcBef>
                        <a:spcAft>
                          <a:spcPts val="0"/>
                        </a:spcAft>
                      </a:pPr>
                      <a:r>
                        <a:rPr lang="en-US" sz="1200" b="1" dirty="0">
                          <a:solidFill>
                            <a:schemeClr val="bg1"/>
                          </a:solidFill>
                          <a:effectLst/>
                          <a:latin typeface="+mn-lt"/>
                          <a:ea typeface="Times New Roman" panose="02020603050405020304" pitchFamily="18" charset="0"/>
                          <a:cs typeface="Libre Franklin Thin" pitchFamily="2" charset="0"/>
                        </a:rPr>
                        <a:t>Sl. No.</a:t>
                      </a:r>
                      <a:endParaRPr lang="en-US" sz="1200" dirty="0">
                        <a:solidFill>
                          <a:schemeClr val="bg1"/>
                        </a:solidFill>
                        <a:effectLst/>
                        <a:latin typeface="+mn-lt"/>
                        <a:ea typeface="Libre Franklin Thin" pitchFamily="2" charset="0"/>
                        <a:cs typeface="Libre Franklin Thin" pitchFamily="2" charset="0"/>
                      </a:endParaRPr>
                    </a:p>
                  </a:txBody>
                  <a:tcPr marL="55798" marR="55798" marT="0" marB="0" anchor="ctr">
                    <a:lnL w="12700" cap="flat" cmpd="sng" algn="ctr">
                      <a:solidFill>
                        <a:srgbClr val="5B9BD5"/>
                      </a:solidFill>
                      <a:prstDash val="solid"/>
                      <a:round/>
                      <a:headEnd type="none" w="med" len="med"/>
                      <a:tailEnd type="none" w="med" len="med"/>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7680"/>
                    </a:solidFill>
                  </a:tcPr>
                </a:tc>
                <a:tc rowSpan="2">
                  <a:txBody>
                    <a:bodyPr/>
                    <a:lstStyle/>
                    <a:p>
                      <a:pPr marL="0" marR="0" algn="ctr">
                        <a:spcBef>
                          <a:spcPts val="0"/>
                        </a:spcBef>
                        <a:spcAft>
                          <a:spcPts val="0"/>
                        </a:spcAft>
                      </a:pPr>
                      <a:r>
                        <a:rPr lang="en-US" sz="1200" b="1" dirty="0">
                          <a:solidFill>
                            <a:schemeClr val="bg1"/>
                          </a:solidFill>
                          <a:effectLst/>
                          <a:latin typeface="+mn-lt"/>
                          <a:ea typeface="Times New Roman" panose="02020603050405020304" pitchFamily="18" charset="0"/>
                          <a:cs typeface="Libre Franklin Thin" pitchFamily="2" charset="0"/>
                        </a:rPr>
                        <a:t>Targeted interventions for system strengthening</a:t>
                      </a:r>
                      <a:endParaRPr lang="en-US" sz="1200" dirty="0">
                        <a:solidFill>
                          <a:schemeClr val="bg1"/>
                        </a:solidFill>
                        <a:effectLst/>
                        <a:latin typeface="+mn-lt"/>
                        <a:ea typeface="Libre Franklin Thin" pitchFamily="2" charset="0"/>
                        <a:cs typeface="Libre Franklin Thin" pitchFamily="2" charset="0"/>
                      </a:endParaRPr>
                    </a:p>
                  </a:txBody>
                  <a:tcPr marL="55798" marR="55798" marT="0" marB="0" anchor="ctr">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7680"/>
                    </a:solidFill>
                  </a:tcPr>
                </a:tc>
                <a:tc gridSpan="4">
                  <a:txBody>
                    <a:bodyPr/>
                    <a:lstStyle/>
                    <a:p>
                      <a:pPr marL="0" marR="0" algn="ctr">
                        <a:spcBef>
                          <a:spcPts val="0"/>
                        </a:spcBef>
                        <a:spcAft>
                          <a:spcPts val="0"/>
                        </a:spcAft>
                      </a:pPr>
                      <a:r>
                        <a:rPr lang="en-US" sz="1200" b="1">
                          <a:solidFill>
                            <a:schemeClr val="bg1"/>
                          </a:solidFill>
                          <a:effectLst/>
                          <a:latin typeface="+mn-lt"/>
                          <a:ea typeface="Times New Roman" panose="02020603050405020304" pitchFamily="18" charset="0"/>
                          <a:cs typeface="Libre Franklin Thin" pitchFamily="2" charset="0"/>
                        </a:rPr>
                        <a:t>Year on year phasing of project Cost (INR Cr.) based on Physical targets</a:t>
                      </a:r>
                      <a:endParaRPr lang="en-US" sz="1200">
                        <a:solidFill>
                          <a:schemeClr val="bg1"/>
                        </a:solidFill>
                        <a:effectLst/>
                        <a:latin typeface="+mn-lt"/>
                        <a:ea typeface="Libre Franklin Thin" pitchFamily="2" charset="0"/>
                        <a:cs typeface="Libre Franklin Thin" pitchFamily="2" charset="0"/>
                      </a:endParaRPr>
                    </a:p>
                  </a:txBody>
                  <a:tcPr marL="55798" marR="55798" marT="0" marB="0" anchor="ctr">
                    <a:lnL>
                      <a:noFill/>
                    </a:lnL>
                    <a:lnR>
                      <a:noFill/>
                    </a:lnR>
                    <a:lnT w="12700" cap="flat" cmpd="sng" algn="ctr">
                      <a:solidFill>
                        <a:srgbClr val="5B9BD5"/>
                      </a:solidFill>
                      <a:prstDash val="solid"/>
                      <a:round/>
                      <a:headEnd type="none" w="med" len="med"/>
                      <a:tailEnd type="none" w="med" len="med"/>
                    </a:lnT>
                    <a:lnB>
                      <a:noFill/>
                    </a:lnB>
                    <a:solidFill>
                      <a:srgbClr val="007680"/>
                    </a:solidFill>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marL="0" marR="0" algn="ctr">
                        <a:spcBef>
                          <a:spcPts val="0"/>
                        </a:spcBef>
                        <a:spcAft>
                          <a:spcPts val="0"/>
                        </a:spcAft>
                      </a:pPr>
                      <a:r>
                        <a:rPr lang="en-US" sz="1200" b="1">
                          <a:solidFill>
                            <a:schemeClr val="bg1"/>
                          </a:solidFill>
                          <a:effectLst/>
                          <a:latin typeface="+mn-lt"/>
                          <a:ea typeface="Times New Roman" panose="02020603050405020304" pitchFamily="18" charset="0"/>
                          <a:cs typeface="Libre Franklin Thin" pitchFamily="2" charset="0"/>
                        </a:rPr>
                        <a:t>Estimated Outlay as per DPR (Rs. Cr)</a:t>
                      </a:r>
                      <a:endParaRPr lang="en-US" sz="1200">
                        <a:solidFill>
                          <a:schemeClr val="bg1"/>
                        </a:solidFill>
                        <a:effectLst/>
                        <a:latin typeface="+mn-lt"/>
                        <a:ea typeface="Libre Franklin Thin" pitchFamily="2" charset="0"/>
                        <a:cs typeface="Libre Franklin Thin" pitchFamily="2" charset="0"/>
                      </a:endParaRPr>
                    </a:p>
                  </a:txBody>
                  <a:tcPr marL="55798" marR="55798" marT="0" marB="0" anchor="ctr">
                    <a:lnL>
                      <a:noFill/>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7680"/>
                    </a:solidFill>
                  </a:tcPr>
                </a:tc>
                <a:extLst>
                  <a:ext uri="{0D108BD9-81ED-4DB2-BD59-A6C34878D82A}">
                    <a16:rowId xmlns:a16="http://schemas.microsoft.com/office/drawing/2014/main" val="2249852446"/>
                  </a:ext>
                </a:extLst>
              </a:tr>
              <a:tr h="585050">
                <a:tc vMerge="1">
                  <a:txBody>
                    <a:bodyPr/>
                    <a:lstStyle/>
                    <a:p>
                      <a:endParaRPr lang="en-US"/>
                    </a:p>
                  </a:txBody>
                  <a:tcPr/>
                </a:tc>
                <a:tc vMerge="1">
                  <a:txBody>
                    <a:bodyPr/>
                    <a:lstStyle/>
                    <a:p>
                      <a:endParaRPr lang="en-US"/>
                    </a:p>
                  </a:txBody>
                  <a:tcPr/>
                </a:tc>
                <a:tc>
                  <a:txBody>
                    <a:bodyPr/>
                    <a:lstStyle/>
                    <a:p>
                      <a:pPr marL="0" marR="0" algn="ctr">
                        <a:spcBef>
                          <a:spcPts val="0"/>
                        </a:spcBef>
                        <a:spcAft>
                          <a:spcPts val="0"/>
                        </a:spcAft>
                      </a:pPr>
                      <a:r>
                        <a:rPr lang="en-US" sz="1200" b="1" dirty="0">
                          <a:solidFill>
                            <a:schemeClr val="bg1"/>
                          </a:solidFill>
                          <a:effectLst/>
                          <a:latin typeface="+mn-lt"/>
                          <a:ea typeface="Times New Roman" panose="02020603050405020304" pitchFamily="18" charset="0"/>
                          <a:cs typeface="Libre Franklin Thin" pitchFamily="2" charset="0"/>
                        </a:rPr>
                        <a:t>FY23</a:t>
                      </a:r>
                      <a:endParaRPr lang="en-US" sz="1200" dirty="0">
                        <a:solidFill>
                          <a:schemeClr val="bg1"/>
                        </a:solidFill>
                        <a:effectLst/>
                        <a:latin typeface="+mn-lt"/>
                        <a:ea typeface="Libre Franklin Thin" pitchFamily="2" charset="0"/>
                        <a:cs typeface="Libre Franklin Thin" pitchFamily="2" charset="0"/>
                      </a:endParaRPr>
                    </a:p>
                  </a:txBody>
                  <a:tcPr marL="55798" marR="55798" marT="0" marB="0" anchor="ctr">
                    <a:lnL>
                      <a:noFill/>
                    </a:lnL>
                    <a:lnR>
                      <a:noFill/>
                    </a:lnR>
                    <a:lnT>
                      <a:noFill/>
                    </a:lnT>
                    <a:lnB w="12700" cap="flat" cmpd="sng" algn="ctr">
                      <a:solidFill>
                        <a:srgbClr val="5B9BD5"/>
                      </a:solidFill>
                      <a:prstDash val="solid"/>
                      <a:round/>
                      <a:headEnd type="none" w="med" len="med"/>
                      <a:tailEnd type="none" w="med" len="med"/>
                    </a:lnB>
                    <a:solidFill>
                      <a:srgbClr val="007680"/>
                    </a:solidFill>
                  </a:tcPr>
                </a:tc>
                <a:tc>
                  <a:txBody>
                    <a:bodyPr/>
                    <a:lstStyle/>
                    <a:p>
                      <a:pPr marL="0" marR="0" algn="ctr">
                        <a:spcBef>
                          <a:spcPts val="0"/>
                        </a:spcBef>
                        <a:spcAft>
                          <a:spcPts val="0"/>
                        </a:spcAft>
                      </a:pPr>
                      <a:r>
                        <a:rPr lang="en-US" sz="1200" b="1" dirty="0">
                          <a:solidFill>
                            <a:schemeClr val="bg1"/>
                          </a:solidFill>
                          <a:effectLst/>
                          <a:latin typeface="+mn-lt"/>
                          <a:ea typeface="Times New Roman" panose="02020603050405020304" pitchFamily="18" charset="0"/>
                          <a:cs typeface="Libre Franklin Thin" pitchFamily="2" charset="0"/>
                        </a:rPr>
                        <a:t>FY24</a:t>
                      </a:r>
                      <a:endParaRPr lang="en-US" sz="1200" dirty="0">
                        <a:solidFill>
                          <a:schemeClr val="bg1"/>
                        </a:solidFill>
                        <a:effectLst/>
                        <a:latin typeface="+mn-lt"/>
                        <a:ea typeface="Libre Franklin Thin" pitchFamily="2" charset="0"/>
                        <a:cs typeface="Libre Franklin Thin" pitchFamily="2" charset="0"/>
                      </a:endParaRPr>
                    </a:p>
                  </a:txBody>
                  <a:tcPr marL="55798" marR="55798" marT="0" marB="0" anchor="ctr">
                    <a:lnL>
                      <a:noFill/>
                    </a:lnL>
                    <a:lnR>
                      <a:noFill/>
                    </a:lnR>
                    <a:lnT>
                      <a:noFill/>
                    </a:lnT>
                    <a:lnB w="12700" cap="flat" cmpd="sng" algn="ctr">
                      <a:solidFill>
                        <a:srgbClr val="5B9BD5"/>
                      </a:solidFill>
                      <a:prstDash val="solid"/>
                      <a:round/>
                      <a:headEnd type="none" w="med" len="med"/>
                      <a:tailEnd type="none" w="med" len="med"/>
                    </a:lnB>
                    <a:solidFill>
                      <a:srgbClr val="007680"/>
                    </a:solidFill>
                  </a:tcPr>
                </a:tc>
                <a:tc>
                  <a:txBody>
                    <a:bodyPr/>
                    <a:lstStyle/>
                    <a:p>
                      <a:pPr marL="0" marR="0" algn="ctr">
                        <a:spcBef>
                          <a:spcPts val="0"/>
                        </a:spcBef>
                        <a:spcAft>
                          <a:spcPts val="0"/>
                        </a:spcAft>
                      </a:pPr>
                      <a:r>
                        <a:rPr lang="en-US" sz="1200" b="1" dirty="0">
                          <a:solidFill>
                            <a:schemeClr val="bg1"/>
                          </a:solidFill>
                          <a:effectLst/>
                          <a:latin typeface="+mn-lt"/>
                          <a:ea typeface="Times New Roman" panose="02020603050405020304" pitchFamily="18" charset="0"/>
                          <a:cs typeface="Libre Franklin Thin" pitchFamily="2" charset="0"/>
                        </a:rPr>
                        <a:t>FY25</a:t>
                      </a:r>
                      <a:endParaRPr lang="en-US" sz="1200" dirty="0">
                        <a:solidFill>
                          <a:schemeClr val="bg1"/>
                        </a:solidFill>
                        <a:effectLst/>
                        <a:latin typeface="+mn-lt"/>
                        <a:ea typeface="Libre Franklin Thin" pitchFamily="2" charset="0"/>
                        <a:cs typeface="Libre Franklin Thin" pitchFamily="2" charset="0"/>
                      </a:endParaRPr>
                    </a:p>
                  </a:txBody>
                  <a:tcPr marL="55798" marR="55798" marT="0" marB="0" anchor="ctr">
                    <a:lnL>
                      <a:noFill/>
                    </a:lnL>
                    <a:lnR>
                      <a:noFill/>
                    </a:lnR>
                    <a:lnT>
                      <a:noFill/>
                    </a:lnT>
                    <a:lnB w="12700" cap="flat" cmpd="sng" algn="ctr">
                      <a:solidFill>
                        <a:srgbClr val="5B9BD5"/>
                      </a:solidFill>
                      <a:prstDash val="solid"/>
                      <a:round/>
                      <a:headEnd type="none" w="med" len="med"/>
                      <a:tailEnd type="none" w="med" len="med"/>
                    </a:lnB>
                    <a:solidFill>
                      <a:srgbClr val="007680"/>
                    </a:solidFill>
                  </a:tcPr>
                </a:tc>
                <a:tc>
                  <a:txBody>
                    <a:bodyPr/>
                    <a:lstStyle/>
                    <a:p>
                      <a:pPr marL="0" marR="0" algn="ctr">
                        <a:spcBef>
                          <a:spcPts val="0"/>
                        </a:spcBef>
                        <a:spcAft>
                          <a:spcPts val="0"/>
                        </a:spcAft>
                      </a:pPr>
                      <a:r>
                        <a:rPr lang="en-US" sz="1200" b="1" dirty="0">
                          <a:solidFill>
                            <a:schemeClr val="bg1"/>
                          </a:solidFill>
                          <a:effectLst/>
                          <a:latin typeface="+mn-lt"/>
                          <a:ea typeface="Times New Roman" panose="02020603050405020304" pitchFamily="18" charset="0"/>
                          <a:cs typeface="Libre Franklin Thin" pitchFamily="2" charset="0"/>
                        </a:rPr>
                        <a:t>FY26</a:t>
                      </a:r>
                      <a:endParaRPr lang="en-US" sz="1200" dirty="0">
                        <a:solidFill>
                          <a:schemeClr val="bg1"/>
                        </a:solidFill>
                        <a:effectLst/>
                        <a:latin typeface="+mn-lt"/>
                        <a:ea typeface="Libre Franklin Thin" pitchFamily="2" charset="0"/>
                        <a:cs typeface="Libre Franklin Thin" pitchFamily="2" charset="0"/>
                      </a:endParaRPr>
                    </a:p>
                  </a:txBody>
                  <a:tcPr marL="55798" marR="55798" marT="0" marB="0" anchor="ctr">
                    <a:lnL>
                      <a:noFill/>
                    </a:lnL>
                    <a:lnR>
                      <a:noFill/>
                    </a:lnR>
                    <a:lnT>
                      <a:noFill/>
                    </a:lnT>
                    <a:lnB w="12700" cap="flat" cmpd="sng" algn="ctr">
                      <a:solidFill>
                        <a:srgbClr val="5B9BD5"/>
                      </a:solidFill>
                      <a:prstDash val="solid"/>
                      <a:round/>
                      <a:headEnd type="none" w="med" len="med"/>
                      <a:tailEnd type="none" w="med" len="med"/>
                    </a:lnB>
                    <a:solidFill>
                      <a:srgbClr val="007680"/>
                    </a:solidFill>
                  </a:tcPr>
                </a:tc>
                <a:tc vMerge="1">
                  <a:txBody>
                    <a:bodyPr/>
                    <a:lstStyle/>
                    <a:p>
                      <a:endParaRPr lang="en-US"/>
                    </a:p>
                  </a:txBody>
                  <a:tcPr/>
                </a:tc>
                <a:extLst>
                  <a:ext uri="{0D108BD9-81ED-4DB2-BD59-A6C34878D82A}">
                    <a16:rowId xmlns:a16="http://schemas.microsoft.com/office/drawing/2014/main" val="4059620761"/>
                  </a:ext>
                </a:extLst>
              </a:tr>
              <a:tr h="390033">
                <a:tc>
                  <a:txBody>
                    <a:bodyPr/>
                    <a:lstStyle/>
                    <a:p>
                      <a:pPr marL="0" marR="0" algn="ctr">
                        <a:spcBef>
                          <a:spcPts val="0"/>
                        </a:spcBef>
                        <a:spcAft>
                          <a:spcPts val="0"/>
                        </a:spcAft>
                      </a:pPr>
                      <a:r>
                        <a:rPr lang="en-US" sz="1200" b="0" dirty="0">
                          <a:solidFill>
                            <a:srgbClr val="000000"/>
                          </a:solidFill>
                          <a:effectLst/>
                          <a:latin typeface="+mn-lt"/>
                          <a:ea typeface="Times New Roman" panose="02020603050405020304" pitchFamily="18" charset="0"/>
                          <a:cs typeface="Libre Franklin Thin" pitchFamily="2" charset="0"/>
                        </a:rPr>
                        <a:t>1</a:t>
                      </a:r>
                      <a:endParaRPr lang="en-US" sz="1200" b="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l">
                        <a:spcBef>
                          <a:spcPts val="0"/>
                        </a:spcBef>
                        <a:spcAft>
                          <a:spcPts val="0"/>
                        </a:spcAft>
                      </a:pPr>
                      <a:r>
                        <a:rPr lang="en-US" sz="1200">
                          <a:solidFill>
                            <a:srgbClr val="000000"/>
                          </a:solidFill>
                          <a:effectLst/>
                          <a:latin typeface="+mn-lt"/>
                          <a:ea typeface="Times New Roman" panose="02020603050405020304" pitchFamily="18" charset="0"/>
                          <a:cs typeface="Libre Franklin Thin" pitchFamily="2" charset="0"/>
                        </a:rPr>
                        <a:t>Construction of New 33/11KV Sub-Station and drawl of associated I/C and O/G lines with 33KV 2nd Source.</a:t>
                      </a:r>
                      <a:endParaRPr lang="en-US" sz="120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135.09</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300.20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390.26</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480.32</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1305.87 </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1718282488"/>
                  </a:ext>
                </a:extLst>
              </a:tr>
              <a:tr h="195017">
                <a:tc>
                  <a:txBody>
                    <a:bodyPr/>
                    <a:lstStyle/>
                    <a:p>
                      <a:pPr marL="0" marR="0" algn="ctr">
                        <a:spcBef>
                          <a:spcPts val="0"/>
                        </a:spcBef>
                        <a:spcAft>
                          <a:spcPts val="0"/>
                        </a:spcAft>
                      </a:pPr>
                      <a:r>
                        <a:rPr lang="en-US" sz="1200" b="0" dirty="0">
                          <a:solidFill>
                            <a:srgbClr val="000000"/>
                          </a:solidFill>
                          <a:effectLst/>
                          <a:latin typeface="+mn-lt"/>
                          <a:ea typeface="Times New Roman" panose="02020603050405020304" pitchFamily="18" charset="0"/>
                          <a:cs typeface="Libre Franklin Thin" pitchFamily="2" charset="0"/>
                        </a:rPr>
                        <a:t>2</a:t>
                      </a:r>
                      <a:endParaRPr lang="en-US" sz="1200" b="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l">
                        <a:spcBef>
                          <a:spcPts val="0"/>
                        </a:spcBef>
                        <a:spcAft>
                          <a:spcPts val="0"/>
                        </a:spcAft>
                      </a:pPr>
                      <a:r>
                        <a:rPr lang="en-US" sz="1200">
                          <a:solidFill>
                            <a:srgbClr val="000000"/>
                          </a:solidFill>
                          <a:effectLst/>
                          <a:latin typeface="+mn-lt"/>
                          <a:ea typeface="Times New Roman" panose="02020603050405020304" pitchFamily="18" charset="0"/>
                          <a:cs typeface="Libre Franklin Thin" pitchFamily="2" charset="0"/>
                        </a:rPr>
                        <a:t>Augmentation of Existing 33/11Kv  Sub-stations</a:t>
                      </a:r>
                      <a:endParaRPr lang="en-US" sz="120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11.90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17.00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34.00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76.50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139.40 </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346824384"/>
                  </a:ext>
                </a:extLst>
              </a:tr>
              <a:tr h="390033">
                <a:tc>
                  <a:txBody>
                    <a:bodyPr/>
                    <a:lstStyle/>
                    <a:p>
                      <a:pPr marL="0" marR="0" algn="ctr">
                        <a:spcBef>
                          <a:spcPts val="0"/>
                        </a:spcBef>
                        <a:spcAft>
                          <a:spcPts val="0"/>
                        </a:spcAft>
                      </a:pPr>
                      <a:r>
                        <a:rPr lang="en-US" sz="1200" b="0" dirty="0">
                          <a:solidFill>
                            <a:srgbClr val="000000"/>
                          </a:solidFill>
                          <a:effectLst/>
                          <a:latin typeface="+mn-lt"/>
                          <a:ea typeface="Times New Roman" panose="02020603050405020304" pitchFamily="18" charset="0"/>
                          <a:cs typeface="Libre Franklin Thin" pitchFamily="2" charset="0"/>
                        </a:rPr>
                        <a:t>3</a:t>
                      </a:r>
                      <a:endParaRPr lang="en-US" sz="1200" b="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l">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Renovation and </a:t>
                      </a:r>
                      <a:r>
                        <a:rPr lang="en-US" sz="1200" dirty="0" err="1">
                          <a:solidFill>
                            <a:srgbClr val="000000"/>
                          </a:solidFill>
                          <a:effectLst/>
                          <a:latin typeface="+mn-lt"/>
                          <a:ea typeface="Times New Roman" panose="02020603050405020304" pitchFamily="18" charset="0"/>
                          <a:cs typeface="Libre Franklin Thin" pitchFamily="2" charset="0"/>
                        </a:rPr>
                        <a:t>Modernisation</a:t>
                      </a:r>
                      <a:r>
                        <a:rPr lang="en-US" sz="1200" dirty="0">
                          <a:solidFill>
                            <a:srgbClr val="000000"/>
                          </a:solidFill>
                          <a:effectLst/>
                          <a:latin typeface="+mn-lt"/>
                          <a:ea typeface="Times New Roman" panose="02020603050405020304" pitchFamily="18" charset="0"/>
                          <a:cs typeface="Libre Franklin Thin" pitchFamily="2" charset="0"/>
                        </a:rPr>
                        <a:t> of  existing 33/11KV Sub-Station.</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12.17</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24.34</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48.68</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60.85</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146.03 </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3976032743"/>
                  </a:ext>
                </a:extLst>
              </a:tr>
              <a:tr h="195017">
                <a:tc>
                  <a:txBody>
                    <a:bodyPr/>
                    <a:lstStyle/>
                    <a:p>
                      <a:pPr marL="0" marR="0" algn="ctr">
                        <a:spcBef>
                          <a:spcPts val="0"/>
                        </a:spcBef>
                        <a:spcAft>
                          <a:spcPts val="0"/>
                        </a:spcAft>
                      </a:pPr>
                      <a:r>
                        <a:rPr lang="en-US" sz="1200" b="0" dirty="0">
                          <a:solidFill>
                            <a:srgbClr val="000000"/>
                          </a:solidFill>
                          <a:effectLst/>
                          <a:latin typeface="+mn-lt"/>
                          <a:ea typeface="Times New Roman" panose="02020603050405020304" pitchFamily="18" charset="0"/>
                          <a:cs typeface="Libre Franklin Thin" pitchFamily="2" charset="0"/>
                        </a:rPr>
                        <a:t>4</a:t>
                      </a:r>
                      <a:endParaRPr lang="en-US" sz="1200" b="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l">
                        <a:spcBef>
                          <a:spcPts val="0"/>
                        </a:spcBef>
                        <a:spcAft>
                          <a:spcPts val="0"/>
                        </a:spcAft>
                      </a:pPr>
                      <a:r>
                        <a:rPr lang="en-US" sz="1200">
                          <a:solidFill>
                            <a:srgbClr val="000000"/>
                          </a:solidFill>
                          <a:effectLst/>
                          <a:latin typeface="+mn-lt"/>
                          <a:ea typeface="Times New Roman" panose="02020603050405020304" pitchFamily="18" charset="0"/>
                          <a:cs typeface="Libre Franklin Thin" pitchFamily="2" charset="0"/>
                        </a:rPr>
                        <a:t>Augmentation of Conductor Size 11KV</a:t>
                      </a:r>
                      <a:endParaRPr lang="en-US" sz="120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21.23</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21.23</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21.23</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23.67</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87.35 </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452983716"/>
                  </a:ext>
                </a:extLst>
              </a:tr>
              <a:tr h="585050">
                <a:tc>
                  <a:txBody>
                    <a:bodyPr/>
                    <a:lstStyle/>
                    <a:p>
                      <a:pPr marL="0" marR="0" algn="ctr">
                        <a:spcBef>
                          <a:spcPts val="0"/>
                        </a:spcBef>
                        <a:spcAft>
                          <a:spcPts val="0"/>
                        </a:spcAft>
                      </a:pPr>
                      <a:r>
                        <a:rPr lang="en-US" sz="1200" b="0" dirty="0">
                          <a:solidFill>
                            <a:srgbClr val="000000"/>
                          </a:solidFill>
                          <a:effectLst/>
                          <a:latin typeface="+mn-lt"/>
                          <a:ea typeface="Times New Roman" panose="02020603050405020304" pitchFamily="18" charset="0"/>
                          <a:cs typeface="Libre Franklin Thin" pitchFamily="2" charset="0"/>
                        </a:rPr>
                        <a:t>5</a:t>
                      </a:r>
                      <a:endParaRPr lang="en-US" sz="1200" b="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l">
                        <a:spcBef>
                          <a:spcPts val="0"/>
                        </a:spcBef>
                        <a:spcAft>
                          <a:spcPts val="0"/>
                        </a:spcAft>
                      </a:pPr>
                      <a:r>
                        <a:rPr lang="en-US" sz="1200">
                          <a:solidFill>
                            <a:srgbClr val="000000"/>
                          </a:solidFill>
                          <a:effectLst/>
                          <a:latin typeface="+mn-lt"/>
                          <a:ea typeface="Times New Roman" panose="02020603050405020304" pitchFamily="18" charset="0"/>
                          <a:cs typeface="Libre Franklin Thin" pitchFamily="2" charset="0"/>
                        </a:rPr>
                        <a:t>Modernisation of System by replacing 1-Ph DTR alongwith drawal of required 3-Ph HT lines and conversion of 1-Ph LT by 3-Phase ABC</a:t>
                      </a:r>
                      <a:endParaRPr lang="en-US" sz="120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7.23</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9.78</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13.43</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19.13</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49.56 </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1041657558"/>
                  </a:ext>
                </a:extLst>
              </a:tr>
              <a:tr h="195017">
                <a:tc>
                  <a:txBody>
                    <a:bodyPr/>
                    <a:lstStyle/>
                    <a:p>
                      <a:pPr marL="0" marR="0" algn="ctr">
                        <a:spcBef>
                          <a:spcPts val="0"/>
                        </a:spcBef>
                        <a:spcAft>
                          <a:spcPts val="0"/>
                        </a:spcAft>
                      </a:pPr>
                      <a:r>
                        <a:rPr lang="en-US" sz="1200" b="0" dirty="0">
                          <a:solidFill>
                            <a:srgbClr val="000000"/>
                          </a:solidFill>
                          <a:effectLst/>
                          <a:latin typeface="+mn-lt"/>
                          <a:ea typeface="Times New Roman" panose="02020603050405020304" pitchFamily="18" charset="0"/>
                          <a:cs typeface="Libre Franklin Thin" pitchFamily="2" charset="0"/>
                        </a:rPr>
                        <a:t>6</a:t>
                      </a:r>
                      <a:endParaRPr lang="en-US" sz="1200" b="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just">
                        <a:spcBef>
                          <a:spcPts val="0"/>
                        </a:spcBef>
                        <a:spcAft>
                          <a:spcPts val="0"/>
                        </a:spcAft>
                      </a:pPr>
                      <a:r>
                        <a:rPr lang="en-US" sz="1200">
                          <a:solidFill>
                            <a:srgbClr val="000000"/>
                          </a:solidFill>
                          <a:effectLst/>
                          <a:latin typeface="+mn-lt"/>
                          <a:ea typeface="Times New Roman" panose="02020603050405020304" pitchFamily="18" charset="0"/>
                          <a:cs typeface="Libre Franklin Thin" pitchFamily="2" charset="0"/>
                        </a:rPr>
                        <a:t>Implementation   SCADA/DMS/OMS /RT-DAS </a:t>
                      </a:r>
                      <a:endParaRPr lang="en-US" sz="120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0.00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15.00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10.00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17.98</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42.98 </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368385203"/>
                  </a:ext>
                </a:extLst>
              </a:tr>
              <a:tr h="195017">
                <a:tc>
                  <a:txBody>
                    <a:bodyPr/>
                    <a:lstStyle/>
                    <a:p>
                      <a:pPr marL="0" marR="0" algn="ctr">
                        <a:spcBef>
                          <a:spcPts val="0"/>
                        </a:spcBef>
                        <a:spcAft>
                          <a:spcPts val="0"/>
                        </a:spcAft>
                      </a:pPr>
                      <a:r>
                        <a:rPr lang="en-US" sz="1200" b="0" dirty="0">
                          <a:solidFill>
                            <a:srgbClr val="000000"/>
                          </a:solidFill>
                          <a:effectLst/>
                          <a:latin typeface="+mn-lt"/>
                          <a:ea typeface="Times New Roman" panose="02020603050405020304" pitchFamily="18" charset="0"/>
                          <a:cs typeface="Libre Franklin Thin" pitchFamily="2" charset="0"/>
                        </a:rPr>
                        <a:t>7</a:t>
                      </a:r>
                      <a:endParaRPr lang="en-US" sz="1200" b="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just">
                        <a:spcBef>
                          <a:spcPts val="0"/>
                        </a:spcBef>
                        <a:spcAft>
                          <a:spcPts val="0"/>
                        </a:spcAft>
                      </a:pPr>
                      <a:r>
                        <a:rPr lang="en-US" sz="1200">
                          <a:solidFill>
                            <a:srgbClr val="000000"/>
                          </a:solidFill>
                          <a:effectLst/>
                          <a:latin typeface="+mn-lt"/>
                          <a:ea typeface="Times New Roman" panose="02020603050405020304" pitchFamily="18" charset="0"/>
                          <a:cs typeface="Libre Franklin Thin" pitchFamily="2" charset="0"/>
                        </a:rPr>
                        <a:t>Disaster Resilient Infrastructure Works</a:t>
                      </a:r>
                      <a:endParaRPr lang="en-US" sz="120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15.04</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15.04</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15.04</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15.04</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60.15 </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429745413"/>
                  </a:ext>
                </a:extLst>
              </a:tr>
              <a:tr h="195017">
                <a:tc>
                  <a:txBody>
                    <a:bodyPr/>
                    <a:lstStyle/>
                    <a:p>
                      <a:pPr marL="0" marR="0" algn="ctr">
                        <a:spcBef>
                          <a:spcPts val="0"/>
                        </a:spcBef>
                        <a:spcAft>
                          <a:spcPts val="0"/>
                        </a:spcAft>
                      </a:pPr>
                      <a:r>
                        <a:rPr lang="en-US" sz="1200" b="0" dirty="0">
                          <a:solidFill>
                            <a:srgbClr val="000000"/>
                          </a:solidFill>
                          <a:effectLst/>
                          <a:latin typeface="+mn-lt"/>
                          <a:ea typeface="Times New Roman" panose="02020603050405020304" pitchFamily="18" charset="0"/>
                          <a:cs typeface="Libre Franklin Thin" pitchFamily="2" charset="0"/>
                        </a:rPr>
                        <a:t>8</a:t>
                      </a:r>
                      <a:endParaRPr lang="en-US" sz="1200" b="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just">
                        <a:spcBef>
                          <a:spcPts val="0"/>
                        </a:spcBef>
                        <a:spcAft>
                          <a:spcPts val="0"/>
                        </a:spcAft>
                      </a:pPr>
                      <a:r>
                        <a:rPr lang="en-US" sz="1200">
                          <a:solidFill>
                            <a:srgbClr val="000000"/>
                          </a:solidFill>
                          <a:effectLst/>
                          <a:latin typeface="+mn-lt"/>
                          <a:ea typeface="Times New Roman" panose="02020603050405020304" pitchFamily="18" charset="0"/>
                          <a:cs typeface="Libre Franklin Thin" pitchFamily="2" charset="0"/>
                        </a:rPr>
                        <a:t>Project Monitoring Application Tools</a:t>
                      </a:r>
                      <a:endParaRPr lang="en-US" sz="120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a:solidFill>
                            <a:srgbClr val="000000"/>
                          </a:solidFill>
                          <a:effectLst/>
                          <a:latin typeface="+mn-lt"/>
                          <a:ea typeface="Times New Roman" panose="02020603050405020304" pitchFamily="18" charset="0"/>
                          <a:cs typeface="Libre Franklin Thin" pitchFamily="2" charset="0"/>
                        </a:rPr>
                        <a:t>0.000</a:t>
                      </a:r>
                      <a:endParaRPr lang="en-US" sz="120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0.50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0.00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0.00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0.50 </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1824105173"/>
                  </a:ext>
                </a:extLst>
              </a:tr>
              <a:tr h="199961">
                <a:tc>
                  <a:txBody>
                    <a:bodyPr/>
                    <a:lstStyle/>
                    <a:p>
                      <a:pPr marL="0" marR="0" algn="ctr">
                        <a:spcBef>
                          <a:spcPts val="0"/>
                        </a:spcBef>
                        <a:spcAft>
                          <a:spcPts val="0"/>
                        </a:spcAft>
                      </a:pPr>
                      <a:r>
                        <a:rPr lang="en-US" sz="1200" b="0" dirty="0">
                          <a:solidFill>
                            <a:srgbClr val="000000"/>
                          </a:solidFill>
                          <a:effectLst/>
                          <a:latin typeface="+mn-lt"/>
                          <a:ea typeface="Times New Roman" panose="02020603050405020304" pitchFamily="18" charset="0"/>
                          <a:cs typeface="Libre Franklin Thin" pitchFamily="2" charset="0"/>
                        </a:rPr>
                        <a:t>9</a:t>
                      </a:r>
                      <a:endParaRPr lang="en-US" sz="1200" b="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just">
                        <a:spcBef>
                          <a:spcPts val="0"/>
                        </a:spcBef>
                        <a:spcAft>
                          <a:spcPts val="0"/>
                        </a:spcAft>
                      </a:pPr>
                      <a:r>
                        <a:rPr lang="en-US" sz="1200">
                          <a:solidFill>
                            <a:srgbClr val="000000"/>
                          </a:solidFill>
                          <a:effectLst/>
                          <a:latin typeface="+mn-lt"/>
                          <a:ea typeface="Times New Roman" panose="02020603050405020304" pitchFamily="18" charset="0"/>
                          <a:cs typeface="Libre Franklin Thin" pitchFamily="2" charset="0"/>
                        </a:rPr>
                        <a:t>a.ERP Infra (Storage and Server upgradation)</a:t>
                      </a:r>
                      <a:endParaRPr lang="en-US" sz="120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a:solidFill>
                            <a:srgbClr val="000000"/>
                          </a:solidFill>
                          <a:effectLst/>
                          <a:latin typeface="+mn-lt"/>
                          <a:ea typeface="Times New Roman" panose="02020603050405020304" pitchFamily="18" charset="0"/>
                          <a:cs typeface="Libre Franklin Thin" pitchFamily="2" charset="0"/>
                        </a:rPr>
                        <a:t>0.000</a:t>
                      </a:r>
                      <a:endParaRPr lang="en-US" sz="120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12.00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6.00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2.00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20.00 </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3419844283"/>
                  </a:ext>
                </a:extLst>
              </a:tr>
              <a:tr h="199961">
                <a:tc>
                  <a:txBody>
                    <a:bodyPr/>
                    <a:lstStyle/>
                    <a:p>
                      <a:pPr marL="0" marR="0" algn="ctr">
                        <a:spcBef>
                          <a:spcPts val="0"/>
                        </a:spcBef>
                        <a:spcAft>
                          <a:spcPts val="0"/>
                        </a:spcAft>
                      </a:pPr>
                      <a:r>
                        <a:rPr lang="en-US" sz="1200" b="0" dirty="0">
                          <a:solidFill>
                            <a:srgbClr val="000000"/>
                          </a:solidFill>
                          <a:effectLst/>
                          <a:latin typeface="+mn-lt"/>
                          <a:ea typeface="Times New Roman" panose="02020603050405020304" pitchFamily="18" charset="0"/>
                          <a:cs typeface="Libre Franklin Thin" pitchFamily="2" charset="0"/>
                        </a:rPr>
                        <a:t>10</a:t>
                      </a:r>
                      <a:endParaRPr lang="en-US" sz="1200" b="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just">
                        <a:spcBef>
                          <a:spcPts val="0"/>
                        </a:spcBef>
                        <a:spcAft>
                          <a:spcPts val="0"/>
                        </a:spcAft>
                      </a:pPr>
                      <a:r>
                        <a:rPr lang="en-US" sz="1200">
                          <a:solidFill>
                            <a:srgbClr val="000000"/>
                          </a:solidFill>
                          <a:effectLst/>
                          <a:latin typeface="+mn-lt"/>
                          <a:ea typeface="Times New Roman" panose="02020603050405020304" pitchFamily="18" charset="0"/>
                          <a:cs typeface="Libre Franklin Thin" pitchFamily="2" charset="0"/>
                        </a:rPr>
                        <a:t>b. Upgradation of ERP &amp; ISU to S/4 HANA Application </a:t>
                      </a:r>
                      <a:endParaRPr lang="en-US" sz="120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a:solidFill>
                            <a:srgbClr val="000000"/>
                          </a:solidFill>
                          <a:effectLst/>
                          <a:latin typeface="+mn-lt"/>
                          <a:ea typeface="Times New Roman" panose="02020603050405020304" pitchFamily="18" charset="0"/>
                          <a:cs typeface="Libre Franklin Thin" pitchFamily="2" charset="0"/>
                        </a:rPr>
                        <a:t>0.000</a:t>
                      </a:r>
                      <a:endParaRPr lang="en-US" sz="120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15.00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10.00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7.00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32.00 </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73852320"/>
                  </a:ext>
                </a:extLst>
              </a:tr>
              <a:tr h="390033">
                <a:tc>
                  <a:txBody>
                    <a:bodyPr/>
                    <a:lstStyle/>
                    <a:p>
                      <a:pPr marL="0" marR="0" algn="ctr">
                        <a:spcBef>
                          <a:spcPts val="0"/>
                        </a:spcBef>
                        <a:spcAft>
                          <a:spcPts val="0"/>
                        </a:spcAft>
                      </a:pPr>
                      <a:r>
                        <a:rPr lang="en-US" sz="1200" b="0" dirty="0">
                          <a:solidFill>
                            <a:srgbClr val="000000"/>
                          </a:solidFill>
                          <a:effectLst/>
                          <a:latin typeface="+mn-lt"/>
                          <a:ea typeface="Times New Roman" panose="02020603050405020304" pitchFamily="18" charset="0"/>
                          <a:cs typeface="Libre Franklin Thin" pitchFamily="2" charset="0"/>
                        </a:rPr>
                        <a:t>11</a:t>
                      </a:r>
                      <a:endParaRPr lang="en-US" sz="1200" b="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just">
                        <a:spcBef>
                          <a:spcPts val="0"/>
                        </a:spcBef>
                        <a:spcAft>
                          <a:spcPts val="0"/>
                        </a:spcAft>
                      </a:pPr>
                      <a:r>
                        <a:rPr lang="en-US" sz="1200">
                          <a:solidFill>
                            <a:srgbClr val="000000"/>
                          </a:solidFill>
                          <a:effectLst/>
                          <a:latin typeface="+mn-lt"/>
                          <a:ea typeface="Times New Roman" panose="02020603050405020304" pitchFamily="18" charset="0"/>
                          <a:cs typeface="Libre Franklin Thin" pitchFamily="2" charset="0"/>
                        </a:rPr>
                        <a:t>Oracle Licenses for set up of DR for CRM application and implementation</a:t>
                      </a:r>
                      <a:endParaRPr lang="en-US" sz="120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a:solidFill>
                            <a:srgbClr val="000000"/>
                          </a:solidFill>
                          <a:effectLst/>
                          <a:latin typeface="+mn-lt"/>
                          <a:ea typeface="Times New Roman" panose="02020603050405020304" pitchFamily="18" charset="0"/>
                          <a:cs typeface="Libre Franklin Thin" pitchFamily="2" charset="0"/>
                        </a:rPr>
                        <a:t>0.000</a:t>
                      </a:r>
                      <a:endParaRPr lang="en-US" sz="120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7.00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0.00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0.00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7.00 </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294559714"/>
                  </a:ext>
                </a:extLst>
              </a:tr>
              <a:tr h="195017">
                <a:tc>
                  <a:txBody>
                    <a:bodyPr/>
                    <a:lstStyle/>
                    <a:p>
                      <a:pPr marL="0" marR="0" algn="ctr">
                        <a:spcBef>
                          <a:spcPts val="0"/>
                        </a:spcBef>
                        <a:spcAft>
                          <a:spcPts val="0"/>
                        </a:spcAft>
                      </a:pPr>
                      <a:r>
                        <a:rPr lang="en-US" sz="1200" b="0" dirty="0">
                          <a:solidFill>
                            <a:srgbClr val="000000"/>
                          </a:solidFill>
                          <a:effectLst/>
                          <a:latin typeface="+mn-lt"/>
                          <a:ea typeface="Times New Roman" panose="02020603050405020304" pitchFamily="18" charset="0"/>
                          <a:cs typeface="Libre Franklin Thin" pitchFamily="2" charset="0"/>
                        </a:rPr>
                        <a:t>12</a:t>
                      </a:r>
                      <a:endParaRPr lang="en-US" sz="1200" b="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just">
                        <a:spcBef>
                          <a:spcPts val="0"/>
                        </a:spcBef>
                        <a:spcAft>
                          <a:spcPts val="0"/>
                        </a:spcAft>
                      </a:pPr>
                      <a:r>
                        <a:rPr lang="en-US" sz="1200">
                          <a:solidFill>
                            <a:srgbClr val="000000"/>
                          </a:solidFill>
                          <a:effectLst/>
                          <a:latin typeface="+mn-lt"/>
                          <a:ea typeface="Times New Roman" panose="02020603050405020304" pitchFamily="18" charset="0"/>
                          <a:cs typeface="Libre Franklin Thin" pitchFamily="2" charset="0"/>
                        </a:rPr>
                        <a:t>Upgradation of Video Conferencing</a:t>
                      </a:r>
                      <a:endParaRPr lang="en-US" sz="120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9.50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0.00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0.00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0.00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9.50 </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4121035574"/>
                  </a:ext>
                </a:extLst>
              </a:tr>
              <a:tr h="390033">
                <a:tc>
                  <a:txBody>
                    <a:bodyPr/>
                    <a:lstStyle/>
                    <a:p>
                      <a:pPr marL="0" marR="0" algn="ctr">
                        <a:spcBef>
                          <a:spcPts val="0"/>
                        </a:spcBef>
                        <a:spcAft>
                          <a:spcPts val="0"/>
                        </a:spcAft>
                      </a:pPr>
                      <a:r>
                        <a:rPr lang="en-US" sz="1200" b="0" dirty="0">
                          <a:solidFill>
                            <a:srgbClr val="000000"/>
                          </a:solidFill>
                          <a:effectLst/>
                          <a:latin typeface="+mn-lt"/>
                          <a:ea typeface="Times New Roman" panose="02020603050405020304" pitchFamily="18" charset="0"/>
                          <a:cs typeface="Libre Franklin Thin" pitchFamily="2" charset="0"/>
                        </a:rPr>
                        <a:t>13</a:t>
                      </a:r>
                      <a:endParaRPr lang="en-US" sz="1200" b="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just">
                        <a:spcBef>
                          <a:spcPts val="0"/>
                        </a:spcBef>
                        <a:spcAft>
                          <a:spcPts val="0"/>
                        </a:spcAft>
                      </a:pPr>
                      <a:r>
                        <a:rPr lang="en-US" sz="1200">
                          <a:solidFill>
                            <a:srgbClr val="000000"/>
                          </a:solidFill>
                          <a:effectLst/>
                          <a:latin typeface="+mn-lt"/>
                          <a:ea typeface="Times New Roman" panose="02020603050405020304" pitchFamily="18" charset="0"/>
                          <a:cs typeface="Libre Franklin Thin" pitchFamily="2" charset="0"/>
                        </a:rPr>
                        <a:t>Implementation of Security Operation Centre(SOC) &amp; Security Incident and Event Management Sytem</a:t>
                      </a:r>
                      <a:endParaRPr lang="en-US" sz="120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0.00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5.00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3.00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0.00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8.00 </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138556038"/>
                  </a:ext>
                </a:extLst>
              </a:tr>
              <a:tr h="199961">
                <a:tc>
                  <a:txBody>
                    <a:bodyPr/>
                    <a:lstStyle/>
                    <a:p>
                      <a:pPr marL="0" marR="0" algn="ctr">
                        <a:spcBef>
                          <a:spcPts val="0"/>
                        </a:spcBef>
                        <a:spcAft>
                          <a:spcPts val="0"/>
                        </a:spcAft>
                      </a:pPr>
                      <a:r>
                        <a:rPr lang="en-US" sz="1200" b="0" dirty="0">
                          <a:solidFill>
                            <a:srgbClr val="000000"/>
                          </a:solidFill>
                          <a:effectLst/>
                          <a:latin typeface="+mn-lt"/>
                          <a:ea typeface="Times New Roman" panose="02020603050405020304" pitchFamily="18" charset="0"/>
                          <a:cs typeface="Libre Franklin Thin" pitchFamily="2" charset="0"/>
                        </a:rPr>
                        <a:t>14</a:t>
                      </a:r>
                      <a:endParaRPr lang="en-US" sz="1200" b="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just">
                        <a:spcBef>
                          <a:spcPts val="0"/>
                        </a:spcBef>
                        <a:spcAft>
                          <a:spcPts val="0"/>
                        </a:spcAft>
                      </a:pPr>
                      <a:r>
                        <a:rPr lang="en-US" sz="1200">
                          <a:solidFill>
                            <a:srgbClr val="000000"/>
                          </a:solidFill>
                          <a:effectLst/>
                          <a:latin typeface="+mn-lt"/>
                          <a:ea typeface="Times New Roman" panose="02020603050405020304" pitchFamily="18" charset="0"/>
                          <a:cs typeface="Libre Franklin Thin" pitchFamily="2" charset="0"/>
                        </a:rPr>
                        <a:t>Upgradation of Training Centres with Training facilities</a:t>
                      </a:r>
                      <a:endParaRPr lang="en-US" sz="120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0.00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0.00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3.00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dirty="0">
                          <a:solidFill>
                            <a:srgbClr val="000000"/>
                          </a:solidFill>
                          <a:effectLst/>
                          <a:latin typeface="+mn-lt"/>
                          <a:ea typeface="Times New Roman" panose="02020603050405020304" pitchFamily="18" charset="0"/>
                          <a:cs typeface="Libre Franklin Thin" pitchFamily="2" charset="0"/>
                        </a:rPr>
                        <a:t>3.00</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6.00 </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7136994"/>
                  </a:ext>
                </a:extLst>
              </a:tr>
              <a:tr h="199961">
                <a:tc>
                  <a:txBody>
                    <a:bodyPr/>
                    <a:lstStyle/>
                    <a:p>
                      <a:pPr marL="0" marR="0" algn="ctr">
                        <a:spcBef>
                          <a:spcPts val="0"/>
                        </a:spcBef>
                        <a:spcAft>
                          <a:spcPts val="0"/>
                        </a:spcAft>
                      </a:pPr>
                      <a:r>
                        <a:rPr lang="en-US" sz="1200" b="1">
                          <a:solidFill>
                            <a:srgbClr val="000000"/>
                          </a:solidFill>
                          <a:effectLst/>
                          <a:latin typeface="+mn-lt"/>
                          <a:ea typeface="Times New Roman" panose="02020603050405020304" pitchFamily="18" charset="0"/>
                          <a:cs typeface="Libre Franklin Thin" pitchFamily="2" charset="0"/>
                        </a:rPr>
                        <a:t> </a:t>
                      </a:r>
                      <a:endParaRPr lang="en-US" sz="120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just">
                        <a:spcBef>
                          <a:spcPts val="0"/>
                        </a:spcBef>
                        <a:spcAft>
                          <a:spcPts val="0"/>
                        </a:spcAft>
                      </a:pPr>
                      <a:r>
                        <a:rPr lang="en-US" sz="1200" b="1">
                          <a:solidFill>
                            <a:srgbClr val="000000"/>
                          </a:solidFill>
                          <a:effectLst/>
                          <a:latin typeface="+mn-lt"/>
                          <a:ea typeface="Times New Roman" panose="02020603050405020304" pitchFamily="18" charset="0"/>
                          <a:cs typeface="Libre Franklin Thin" pitchFamily="2" charset="0"/>
                        </a:rPr>
                        <a:t>Total Excluding PMA Charges (INR Cr.)</a:t>
                      </a:r>
                      <a:endParaRPr lang="en-US" sz="120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212.15</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442.08</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554.63</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705.49</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1914.34 </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C5E0B3"/>
                    </a:solidFill>
                  </a:tcPr>
                </a:tc>
                <a:extLst>
                  <a:ext uri="{0D108BD9-81ED-4DB2-BD59-A6C34878D82A}">
                    <a16:rowId xmlns:a16="http://schemas.microsoft.com/office/drawing/2014/main" val="2535992285"/>
                  </a:ext>
                </a:extLst>
              </a:tr>
              <a:tr h="195017">
                <a:tc gridSpan="6">
                  <a:txBody>
                    <a:bodyPr/>
                    <a:lstStyle/>
                    <a:p>
                      <a:pPr marL="0" marR="0" algn="ctr">
                        <a:spcBef>
                          <a:spcPts val="0"/>
                        </a:spcBef>
                        <a:spcAft>
                          <a:spcPts val="0"/>
                        </a:spcAft>
                      </a:pPr>
                      <a:r>
                        <a:rPr lang="en-US" sz="1200" b="1">
                          <a:effectLst/>
                          <a:latin typeface="+mn-lt"/>
                          <a:ea typeface="Times New Roman" panose="02020603050405020304" pitchFamily="18" charset="0"/>
                          <a:cs typeface="Libre Franklin Thin" pitchFamily="2" charset="0"/>
                        </a:rPr>
                        <a:t>PMA Charges @ 1.5% of the project cost (Modernization works)</a:t>
                      </a:r>
                      <a:endParaRPr lang="en-US" sz="120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28.72</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2639323163"/>
                  </a:ext>
                </a:extLst>
              </a:tr>
              <a:tr h="195017">
                <a:tc gridSpan="6">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Total Project Cost Inc. PMA</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a:spcBef>
                          <a:spcPts val="0"/>
                        </a:spcBef>
                        <a:spcAft>
                          <a:spcPts val="0"/>
                        </a:spcAft>
                      </a:pPr>
                      <a:r>
                        <a:rPr lang="en-US" sz="1200" b="1" dirty="0">
                          <a:solidFill>
                            <a:srgbClr val="000000"/>
                          </a:solidFill>
                          <a:effectLst/>
                          <a:latin typeface="+mn-lt"/>
                          <a:ea typeface="Times New Roman" panose="02020603050405020304" pitchFamily="18" charset="0"/>
                          <a:cs typeface="Libre Franklin Thin" pitchFamily="2" charset="0"/>
                        </a:rPr>
                        <a:t>1943.05</a:t>
                      </a:r>
                      <a:endParaRPr lang="en-US" sz="1200" dirty="0">
                        <a:effectLst/>
                        <a:latin typeface="+mn-lt"/>
                        <a:ea typeface="Libre Franklin Thin" pitchFamily="2" charset="0"/>
                        <a:cs typeface="Libre Franklin Thin" pitchFamily="2" charset="0"/>
                      </a:endParaRPr>
                    </a:p>
                  </a:txBody>
                  <a:tcPr marL="55798" marR="55798"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C5E0B3"/>
                    </a:solidFill>
                  </a:tcPr>
                </a:tc>
                <a:extLst>
                  <a:ext uri="{0D108BD9-81ED-4DB2-BD59-A6C34878D82A}">
                    <a16:rowId xmlns:a16="http://schemas.microsoft.com/office/drawing/2014/main" val="3781875084"/>
                  </a:ext>
                </a:extLst>
              </a:tr>
            </a:tbl>
          </a:graphicData>
        </a:graphic>
      </p:graphicFrame>
    </p:spTree>
    <p:extLst>
      <p:ext uri="{BB962C8B-B14F-4D97-AF65-F5344CB8AC3E}">
        <p14:creationId xmlns:p14="http://schemas.microsoft.com/office/powerpoint/2010/main" val="529524877"/>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2584"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4" y="1693206"/>
            <a:ext cx="9969313" cy="307777"/>
          </a:xfrm>
        </p:spPr>
        <p:txBody>
          <a:bodyPr wrap="square" anchor="ctr" anchorCtr="0">
            <a:spAutoFit/>
          </a:bodyPr>
          <a:lstStyle/>
          <a:p>
            <a:r>
              <a:rPr lang="en-US" sz="2000" i="0" dirty="0">
                <a:solidFill>
                  <a:schemeClr val="tx1"/>
                </a:solidFill>
              </a:rPr>
              <a:t>Progress Status of Power System Development Fund (PSDF) Scheme</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14670" y="1590786"/>
            <a:ext cx="689555" cy="525093"/>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0" cap="none" spc="0" normalizeH="0" baseline="0" noProof="0" dirty="0">
                <a:ln>
                  <a:noFill/>
                </a:ln>
                <a:solidFill>
                  <a:prstClr val="white"/>
                </a:solidFill>
                <a:effectLst/>
                <a:uLnTx/>
                <a:uFillTx/>
              </a:rPr>
              <a:t>2-F</a:t>
            </a:r>
            <a:endParaRPr kumimoji="0" lang="en-IN" sz="12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a:cxnSpLocks/>
          </p:cNvCxnSpPr>
          <p:nvPr/>
        </p:nvCxnSpPr>
        <p:spPr>
          <a:xfrm>
            <a:off x="4615544" y="3519078"/>
            <a:ext cx="0" cy="15863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1B748CB-0B57-4CA1-9B41-81AB5E897267}"/>
              </a:ext>
            </a:extLst>
          </p:cNvPr>
          <p:cNvSpPr txBox="1"/>
          <p:nvPr/>
        </p:nvSpPr>
        <p:spPr>
          <a:xfrm>
            <a:off x="4834999" y="3575213"/>
            <a:ext cx="6562335" cy="2000548"/>
          </a:xfrm>
          <a:prstGeom prst="rect">
            <a:avLst/>
          </a:prstGeom>
          <a:noFill/>
        </p:spPr>
        <p:txBody>
          <a:bodyPr wrap="square" lIns="0" tIns="0" rIns="0" bIns="0" rtlCol="0">
            <a:spAutoFit/>
          </a:bodyPr>
          <a:lstStyle/>
          <a:p>
            <a:pPr>
              <a:spcBef>
                <a:spcPts val="1800"/>
              </a:spcBef>
              <a:buSzPct val="100000"/>
            </a:pPr>
            <a:r>
              <a:rPr lang="en-IN" sz="1400" b="1" dirty="0"/>
              <a:t>Topics Covered</a:t>
            </a:r>
          </a:p>
          <a:p>
            <a:pPr marL="203200" indent="-203200">
              <a:spcBef>
                <a:spcPts val="1800"/>
              </a:spcBef>
              <a:buSzPct val="100000"/>
              <a:buFont typeface="Arial"/>
              <a:buChar char="•"/>
            </a:pPr>
            <a:r>
              <a:rPr lang="en-IN" sz="1400" dirty="0"/>
              <a:t>Salient Feature of Project</a:t>
            </a:r>
          </a:p>
          <a:p>
            <a:pPr marL="203200" indent="-203200">
              <a:spcBef>
                <a:spcPts val="1800"/>
              </a:spcBef>
              <a:buSzPct val="100000"/>
              <a:buFont typeface="Arial"/>
              <a:buChar char="•"/>
            </a:pPr>
            <a:r>
              <a:rPr lang="en-IN" sz="1400" dirty="0"/>
              <a:t>Financial Progress of Project</a:t>
            </a:r>
          </a:p>
          <a:p>
            <a:pPr marL="203200" indent="-203200">
              <a:spcBef>
                <a:spcPts val="1800"/>
              </a:spcBef>
              <a:buSzPct val="100000"/>
              <a:buFont typeface="Arial"/>
              <a:buChar char="•"/>
            </a:pPr>
            <a:r>
              <a:rPr lang="en-IN" sz="1400" dirty="0"/>
              <a:t>Physical Progress of Project </a:t>
            </a:r>
          </a:p>
          <a:p>
            <a:pPr marL="203200" indent="-203200">
              <a:spcBef>
                <a:spcPts val="1800"/>
              </a:spcBef>
              <a:buSzPct val="100000"/>
              <a:buFont typeface="Arial"/>
              <a:buChar char="•"/>
            </a:pPr>
            <a:endParaRPr lang="en-IN" sz="1400" dirty="0"/>
          </a:p>
        </p:txBody>
      </p:sp>
      <p:grpSp>
        <p:nvGrpSpPr>
          <p:cNvPr id="14" name="Group 526">
            <a:extLst>
              <a:ext uri="{FF2B5EF4-FFF2-40B4-BE49-F238E27FC236}">
                <a16:creationId xmlns:a16="http://schemas.microsoft.com/office/drawing/2014/main" id="{5540E149-1F19-4064-9714-B21FD0705489}"/>
              </a:ext>
            </a:extLst>
          </p:cNvPr>
          <p:cNvGrpSpPr>
            <a:grpSpLocks noChangeAspect="1"/>
          </p:cNvGrpSpPr>
          <p:nvPr/>
        </p:nvGrpSpPr>
        <p:grpSpPr bwMode="auto">
          <a:xfrm>
            <a:off x="1104225" y="3008313"/>
            <a:ext cx="2345264" cy="2345264"/>
            <a:chOff x="3464" y="1974"/>
            <a:chExt cx="340" cy="340"/>
          </a:xfrm>
          <a:solidFill>
            <a:srgbClr val="9CAC00"/>
          </a:solidFill>
        </p:grpSpPr>
        <p:sp>
          <p:nvSpPr>
            <p:cNvPr id="15" name="Freeform 527">
              <a:extLst>
                <a:ext uri="{FF2B5EF4-FFF2-40B4-BE49-F238E27FC236}">
                  <a16:creationId xmlns:a16="http://schemas.microsoft.com/office/drawing/2014/main" id="{2261B12D-A407-4719-9125-F49F83DDB571}"/>
                </a:ext>
              </a:extLst>
            </p:cNvPr>
            <p:cNvSpPr>
              <a:spLocks noEditPoints="1"/>
            </p:cNvSpPr>
            <p:nvPr/>
          </p:nvSpPr>
          <p:spPr bwMode="auto">
            <a:xfrm>
              <a:off x="3464" y="197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528">
              <a:extLst>
                <a:ext uri="{FF2B5EF4-FFF2-40B4-BE49-F238E27FC236}">
                  <a16:creationId xmlns:a16="http://schemas.microsoft.com/office/drawing/2014/main" id="{4FB09AB9-A79B-434D-9DE7-187BE7279860}"/>
                </a:ext>
              </a:extLst>
            </p:cNvPr>
            <p:cNvSpPr>
              <a:spLocks noEditPoints="1"/>
            </p:cNvSpPr>
            <p:nvPr/>
          </p:nvSpPr>
          <p:spPr bwMode="auto">
            <a:xfrm>
              <a:off x="3541" y="2037"/>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27478129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117788"/>
            <a:ext cx="11188700" cy="368299"/>
          </a:xfrm>
        </p:spPr>
        <p:txBody>
          <a:bodyPr vert="horz"/>
          <a:lstStyle/>
          <a:p>
            <a:pPr algn="just"/>
            <a:r>
              <a:rPr lang="en-US" sz="1800" i="0" dirty="0">
                <a:solidFill>
                  <a:schemeClr val="tx1"/>
                </a:solidFill>
                <a:latin typeface="+mj-lt"/>
              </a:rPr>
              <a:t>Background of PSDF Scheme </a:t>
            </a:r>
          </a:p>
        </p:txBody>
      </p:sp>
      <p:sp>
        <p:nvSpPr>
          <p:cNvPr id="13" name="Rectangle 19">
            <a:extLst>
              <a:ext uri="{FF2B5EF4-FFF2-40B4-BE49-F238E27FC236}">
                <a16:creationId xmlns:a16="http://schemas.microsoft.com/office/drawing/2014/main" id="{6A4087E2-3A4E-46B0-BB1B-BD31352026FB}"/>
              </a:ext>
            </a:extLst>
          </p:cNvPr>
          <p:cNvSpPr>
            <a:spLocks noChangeArrowheads="1"/>
          </p:cNvSpPr>
          <p:nvPr/>
        </p:nvSpPr>
        <p:spPr bwMode="auto">
          <a:xfrm>
            <a:off x="2582415" y="562287"/>
            <a:ext cx="9261242" cy="3095313"/>
          </a:xfrm>
          <a:prstGeom prst="rect">
            <a:avLst/>
          </a:prstGeom>
          <a:noFill/>
          <a:ln w="19050" algn="ctr">
            <a:solidFill>
              <a:schemeClr val="accent1"/>
            </a:solidFill>
            <a:miter lim="800000"/>
            <a:headEnd/>
            <a:tailEnd/>
          </a:ln>
        </p:spPr>
        <p:txBody>
          <a:bodyPr wrap="square" lIns="88900" tIns="88900" rIns="88900" bIns="88900" anchor="ctr"/>
          <a:lstStyle/>
          <a:p>
            <a:pPr marL="285750" indent="-285750" algn="just">
              <a:spcBef>
                <a:spcPts val="600"/>
              </a:spcBef>
              <a:buFont typeface="Wingdings" panose="05000000000000000000" pitchFamily="2" charset="2"/>
              <a:buChar char="§"/>
              <a:defRPr/>
            </a:pPr>
            <a:r>
              <a:rPr lang="en-US" sz="1400" dirty="0">
                <a:latin typeface="Calibri" panose="020F0502020204030204" pitchFamily="34" charset="0"/>
                <a:ea typeface="ＭＳ Ｐゴシック" pitchFamily="50" charset="-128"/>
                <a:cs typeface="Calibri" panose="020F0502020204030204" pitchFamily="34" charset="0"/>
              </a:rPr>
              <a:t>The Government has approved the scheme for operationisation of Power System Development Fund (PSDF) in January 2014. As on 31.12.2013, about Rs.6300 crore was available with this Fund.</a:t>
            </a:r>
          </a:p>
          <a:p>
            <a:pPr marL="285750" indent="-285750" algn="just">
              <a:spcBef>
                <a:spcPts val="600"/>
              </a:spcBef>
              <a:buFont typeface="Wingdings" panose="05000000000000000000" pitchFamily="2" charset="2"/>
              <a:buChar char="§"/>
              <a:defRPr/>
            </a:pPr>
            <a:r>
              <a:rPr lang="en-US" sz="1400" dirty="0">
                <a:latin typeface="Calibri" panose="020F0502020204030204" pitchFamily="34" charset="0"/>
                <a:ea typeface="ＭＳ Ｐゴシック" pitchFamily="50" charset="-128"/>
                <a:cs typeface="Calibri" panose="020F0502020204030204" pitchFamily="34" charset="0"/>
              </a:rPr>
              <a:t>The criteria and purpose for which the PSDF will be utilized are as follows :-</a:t>
            </a:r>
          </a:p>
          <a:p>
            <a:pPr marL="285750" indent="-285750" algn="just">
              <a:spcBef>
                <a:spcPts val="600"/>
              </a:spcBef>
              <a:buFont typeface="Wingdings" panose="05000000000000000000" pitchFamily="2" charset="2"/>
              <a:buChar char="ü"/>
              <a:defRPr/>
            </a:pPr>
            <a:r>
              <a:rPr lang="en-US" sz="1400" dirty="0">
                <a:latin typeface="Calibri" panose="020F0502020204030204" pitchFamily="34" charset="0"/>
                <a:ea typeface="ＭＳ Ｐゴシック" pitchFamily="50" charset="-128"/>
                <a:cs typeface="Calibri" panose="020F0502020204030204" pitchFamily="34" charset="0"/>
              </a:rPr>
              <a:t>Creating necessary transmission systems of strategic importance based on operational feedback by Load Dispatch Centers for relieving congestion in Inter-State Transmission Systems (ISTS) and Intra-State System which are incidental to the ISTS.</a:t>
            </a:r>
          </a:p>
          <a:p>
            <a:pPr marL="285750" indent="-285750" algn="just">
              <a:spcBef>
                <a:spcPts val="600"/>
              </a:spcBef>
              <a:buFont typeface="Wingdings" panose="05000000000000000000" pitchFamily="2" charset="2"/>
              <a:buChar char="ü"/>
              <a:defRPr/>
            </a:pPr>
            <a:r>
              <a:rPr lang="en-US" sz="1400" dirty="0">
                <a:latin typeface="Calibri" panose="020F0502020204030204" pitchFamily="34" charset="0"/>
                <a:ea typeface="ＭＳ Ｐゴシック" pitchFamily="50" charset="-128"/>
                <a:cs typeface="Calibri" panose="020F0502020204030204" pitchFamily="34" charset="0"/>
              </a:rPr>
              <a:t>Installation of shunt capacitors, series compensators and other reactive energy generators for improvement of voltage profile in the grid.</a:t>
            </a:r>
          </a:p>
          <a:p>
            <a:pPr marL="285750" indent="-285750" algn="just">
              <a:spcBef>
                <a:spcPts val="600"/>
              </a:spcBef>
              <a:buFont typeface="Wingdings" panose="05000000000000000000" pitchFamily="2" charset="2"/>
              <a:buChar char="ü"/>
              <a:defRPr/>
            </a:pPr>
            <a:r>
              <a:rPr lang="en-US" sz="1400" dirty="0">
                <a:latin typeface="Calibri" panose="020F0502020204030204" pitchFamily="34" charset="0"/>
                <a:ea typeface="ＭＳ Ｐゴシック" pitchFamily="50" charset="-128"/>
                <a:cs typeface="Calibri" panose="020F0502020204030204" pitchFamily="34" charset="0"/>
              </a:rPr>
              <a:t>Installation of standard and special protection schemes, pilot and demonstrative projects, and for setting right the discrepancies identified in protection audits on regional basis.</a:t>
            </a:r>
          </a:p>
          <a:p>
            <a:pPr marL="285750" indent="-285750" algn="just">
              <a:spcBef>
                <a:spcPts val="600"/>
              </a:spcBef>
              <a:buFont typeface="Wingdings" panose="05000000000000000000" pitchFamily="2" charset="2"/>
              <a:buChar char="ü"/>
              <a:defRPr/>
            </a:pPr>
            <a:r>
              <a:rPr lang="en-US" sz="1400" dirty="0">
                <a:latin typeface="Calibri" panose="020F0502020204030204" pitchFamily="34" charset="0"/>
                <a:ea typeface="ＭＳ Ｐゴシック" pitchFamily="50" charset="-128"/>
                <a:cs typeface="Calibri" panose="020F0502020204030204" pitchFamily="34" charset="0"/>
              </a:rPr>
              <a:t>Renovation and Modernization (R&amp;M) of transmission and distribution systems for relieving congestion.</a:t>
            </a:r>
          </a:p>
          <a:p>
            <a:pPr marL="285750" indent="-285750" algn="just">
              <a:spcBef>
                <a:spcPts val="600"/>
              </a:spcBef>
              <a:buFont typeface="Wingdings" panose="05000000000000000000" pitchFamily="2" charset="2"/>
              <a:buChar char="ü"/>
              <a:defRPr/>
            </a:pPr>
            <a:r>
              <a:rPr lang="en-US" sz="1400" dirty="0">
                <a:latin typeface="Calibri" panose="020F0502020204030204" pitchFamily="34" charset="0"/>
                <a:ea typeface="ＭＳ Ｐゴシック" pitchFamily="50" charset="-128"/>
                <a:cs typeface="Calibri" panose="020F0502020204030204" pitchFamily="34" charset="0"/>
              </a:rPr>
              <a:t>Any other scheme / project in furtherance of the above objectives, such as, conducting technical studies and capacity building etc. </a:t>
            </a:r>
          </a:p>
        </p:txBody>
      </p:sp>
      <p:sp>
        <p:nvSpPr>
          <p:cNvPr id="15" name="AutoShape 12">
            <a:extLst>
              <a:ext uri="{FF2B5EF4-FFF2-40B4-BE49-F238E27FC236}">
                <a16:creationId xmlns:a16="http://schemas.microsoft.com/office/drawing/2014/main" id="{D25A157A-40C0-4653-82F8-8E24BE766158}"/>
              </a:ext>
            </a:extLst>
          </p:cNvPr>
          <p:cNvSpPr>
            <a:spLocks noChangeArrowheads="1"/>
          </p:cNvSpPr>
          <p:nvPr/>
        </p:nvSpPr>
        <p:spPr bwMode="auto">
          <a:xfrm>
            <a:off x="2005471" y="562288"/>
            <a:ext cx="498243" cy="3095312"/>
          </a:xfrm>
          <a:prstGeom prst="homePlate">
            <a:avLst>
              <a:gd name="adj" fmla="val 100000"/>
            </a:avLst>
          </a:prstGeom>
          <a:solidFill>
            <a:schemeClr val="bg2">
              <a:lumMod val="75000"/>
            </a:schemeClr>
          </a:solidFill>
          <a:ln w="6350" algn="ctr">
            <a:noFill/>
            <a:miter lim="800000"/>
            <a:headEnd/>
            <a:tailEnd/>
          </a:ln>
        </p:spPr>
        <p:txBody>
          <a:bodyPr wrap="square" lIns="88900" tIns="88900" rIns="88900" bIns="88900" anchor="ctr"/>
          <a:lstStyle/>
          <a:p>
            <a:pPr algn="ctr"/>
            <a:endParaRPr lang="en-US" sz="1400" dirty="0"/>
          </a:p>
        </p:txBody>
      </p:sp>
      <p:sp>
        <p:nvSpPr>
          <p:cNvPr id="16" name="Rectangle 15">
            <a:extLst>
              <a:ext uri="{FF2B5EF4-FFF2-40B4-BE49-F238E27FC236}">
                <a16:creationId xmlns:a16="http://schemas.microsoft.com/office/drawing/2014/main" id="{B75ECA9E-4F81-4135-B655-D0920C3294AC}"/>
              </a:ext>
            </a:extLst>
          </p:cNvPr>
          <p:cNvSpPr/>
          <p:nvPr/>
        </p:nvSpPr>
        <p:spPr bwMode="gray">
          <a:xfrm>
            <a:off x="488936" y="486086"/>
            <a:ext cx="1437835" cy="3171514"/>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2000" b="1" dirty="0">
                <a:solidFill>
                  <a:schemeClr val="bg1"/>
                </a:solidFill>
                <a:latin typeface="Calibri" panose="020F0502020204030204" pitchFamily="34" charset="0"/>
                <a:cs typeface="Calibri" panose="020F0502020204030204" pitchFamily="34" charset="0"/>
              </a:rPr>
              <a:t>Background</a:t>
            </a:r>
          </a:p>
        </p:txBody>
      </p:sp>
      <p:sp>
        <p:nvSpPr>
          <p:cNvPr id="29" name="TextBox 28">
            <a:extLst>
              <a:ext uri="{FF2B5EF4-FFF2-40B4-BE49-F238E27FC236}">
                <a16:creationId xmlns:a16="http://schemas.microsoft.com/office/drawing/2014/main" id="{4508A2A1-1AD6-47E0-B542-A6C5A24935D3}"/>
              </a:ext>
            </a:extLst>
          </p:cNvPr>
          <p:cNvSpPr txBox="1"/>
          <p:nvPr/>
        </p:nvSpPr>
        <p:spPr>
          <a:xfrm>
            <a:off x="3177499" y="6525512"/>
            <a:ext cx="6879086" cy="276999"/>
          </a:xfrm>
          <a:prstGeom prst="rect">
            <a:avLst/>
          </a:prstGeom>
          <a:noFill/>
        </p:spPr>
        <p:txBody>
          <a:bodyPr wrap="square">
            <a:spAutoFit/>
          </a:bodyPr>
          <a:lstStyle/>
          <a:p>
            <a:r>
              <a:rPr lang="en-US" sz="1200" b="1" dirty="0">
                <a:latin typeface="Calibri" panose="020F0502020204030204" pitchFamily="34" charset="0"/>
                <a:cs typeface="Calibri" panose="020F0502020204030204" pitchFamily="34" charset="0"/>
              </a:rPr>
              <a:t>Source :</a:t>
            </a:r>
            <a:r>
              <a:rPr lang="en-US" sz="1200" dirty="0">
                <a:latin typeface="Calibri" panose="020F0502020204030204" pitchFamily="34" charset="0"/>
                <a:cs typeface="Calibri" panose="020F0502020204030204" pitchFamily="34" charset="0"/>
              </a:rPr>
              <a:t> https://pib.gov.in/newsite/PrintRelease.aspx?relid=103924</a:t>
            </a:r>
          </a:p>
        </p:txBody>
      </p:sp>
      <p:graphicFrame>
        <p:nvGraphicFramePr>
          <p:cNvPr id="5" name="Table 8">
            <a:extLst>
              <a:ext uri="{FF2B5EF4-FFF2-40B4-BE49-F238E27FC236}">
                <a16:creationId xmlns:a16="http://schemas.microsoft.com/office/drawing/2014/main" id="{5F788BF1-2AAD-4039-9751-389CBF6027EA}"/>
              </a:ext>
            </a:extLst>
          </p:cNvPr>
          <p:cNvGraphicFramePr>
            <a:graphicFrameLocks noGrp="1"/>
          </p:cNvGraphicFramePr>
          <p:nvPr>
            <p:extLst>
              <p:ext uri="{D42A27DB-BD31-4B8C-83A1-F6EECF244321}">
                <p14:modId xmlns:p14="http://schemas.microsoft.com/office/powerpoint/2010/main" val="3018899104"/>
              </p:ext>
            </p:extLst>
          </p:nvPr>
        </p:nvGraphicFramePr>
        <p:xfrm>
          <a:off x="488935" y="3918857"/>
          <a:ext cx="11278520" cy="1798320"/>
        </p:xfrm>
        <a:graphic>
          <a:graphicData uri="http://schemas.openxmlformats.org/drawingml/2006/table">
            <a:tbl>
              <a:tblPr firstRow="1" bandRow="1">
                <a:tableStyleId>{5C22544A-7EE6-4342-B048-85BDC9FD1C3A}</a:tableStyleId>
              </a:tblPr>
              <a:tblGrid>
                <a:gridCol w="2243379">
                  <a:extLst>
                    <a:ext uri="{9D8B030D-6E8A-4147-A177-3AD203B41FA5}">
                      <a16:colId xmlns:a16="http://schemas.microsoft.com/office/drawing/2014/main" val="216667962"/>
                    </a:ext>
                  </a:extLst>
                </a:gridCol>
                <a:gridCol w="2558143">
                  <a:extLst>
                    <a:ext uri="{9D8B030D-6E8A-4147-A177-3AD203B41FA5}">
                      <a16:colId xmlns:a16="http://schemas.microsoft.com/office/drawing/2014/main" val="3971171003"/>
                    </a:ext>
                  </a:extLst>
                </a:gridCol>
                <a:gridCol w="3233057">
                  <a:extLst>
                    <a:ext uri="{9D8B030D-6E8A-4147-A177-3AD203B41FA5}">
                      <a16:colId xmlns:a16="http://schemas.microsoft.com/office/drawing/2014/main" val="190665848"/>
                    </a:ext>
                  </a:extLst>
                </a:gridCol>
                <a:gridCol w="3243941">
                  <a:extLst>
                    <a:ext uri="{9D8B030D-6E8A-4147-A177-3AD203B41FA5}">
                      <a16:colId xmlns:a16="http://schemas.microsoft.com/office/drawing/2014/main" val="1781760127"/>
                    </a:ext>
                  </a:extLst>
                </a:gridCol>
              </a:tblGrid>
              <a:tr h="370840">
                <a:tc>
                  <a:txBody>
                    <a:bodyPr/>
                    <a:lstStyle/>
                    <a:p>
                      <a:pPr algn="ctr" fontAlgn="ctr"/>
                      <a:r>
                        <a:rPr lang="en-US" sz="1400" b="1" i="0" u="none" strike="noStrike" dirty="0">
                          <a:solidFill>
                            <a:srgbClr val="000000"/>
                          </a:solidFill>
                          <a:effectLst/>
                          <a:latin typeface="Calibri" panose="020F0502020204030204" pitchFamily="34" charset="0"/>
                        </a:rPr>
                        <a:t>Utility Wise</a:t>
                      </a:r>
                    </a:p>
                  </a:txBody>
                  <a:tcPr marT="91440" marB="91440" anchor="ctr"/>
                </a:tc>
                <a:tc>
                  <a:txBody>
                    <a:bodyPr/>
                    <a:lstStyle/>
                    <a:p>
                      <a:pPr algn="ctr" fontAlgn="ctr"/>
                      <a:r>
                        <a:rPr lang="en-US" sz="1400" b="1" i="0" u="none" strike="noStrike" dirty="0">
                          <a:solidFill>
                            <a:srgbClr val="000000"/>
                          </a:solidFill>
                          <a:effectLst/>
                          <a:latin typeface="Calibri" panose="020F0502020204030204" pitchFamily="34" charset="0"/>
                        </a:rPr>
                        <a:t>Estimated cost by entity</a:t>
                      </a:r>
                    </a:p>
                  </a:txBody>
                  <a:tcPr marT="91440" marB="91440" anchor="ctr"/>
                </a:tc>
                <a:tc>
                  <a:txBody>
                    <a:bodyPr/>
                    <a:lstStyle/>
                    <a:p>
                      <a:pPr algn="ctr" fontAlgn="ctr"/>
                      <a:r>
                        <a:rPr lang="en-US" sz="1400" b="1" i="0" u="none" strike="noStrike" dirty="0">
                          <a:solidFill>
                            <a:srgbClr val="000000"/>
                          </a:solidFill>
                          <a:effectLst/>
                          <a:latin typeface="Calibri" panose="020F0502020204030204" pitchFamily="34" charset="0"/>
                        </a:rPr>
                        <a:t>Project Cost accepted by Appraisal Committee.</a:t>
                      </a:r>
                    </a:p>
                  </a:txBody>
                  <a:tcPr marT="91440" marB="91440" anchor="ctr"/>
                </a:tc>
                <a:tc>
                  <a:txBody>
                    <a:bodyPr/>
                    <a:lstStyle/>
                    <a:p>
                      <a:pPr algn="ctr" fontAlgn="ctr"/>
                      <a:r>
                        <a:rPr lang="en-US" sz="1400" b="1" i="0" u="none" strike="noStrike" dirty="0">
                          <a:solidFill>
                            <a:srgbClr val="000000"/>
                          </a:solidFill>
                          <a:effectLst/>
                          <a:latin typeface="Calibri" panose="020F0502020204030204" pitchFamily="34" charset="0"/>
                        </a:rPr>
                        <a:t>Grant Approved by Monitoring Committee </a:t>
                      </a:r>
                    </a:p>
                  </a:txBody>
                  <a:tcPr marT="91440" marB="91440" anchor="ctr"/>
                </a:tc>
                <a:extLst>
                  <a:ext uri="{0D108BD9-81ED-4DB2-BD59-A6C34878D82A}">
                    <a16:rowId xmlns:a16="http://schemas.microsoft.com/office/drawing/2014/main" val="2553819645"/>
                  </a:ext>
                </a:extLst>
              </a:tr>
              <a:tr h="370840">
                <a:tc>
                  <a:txBody>
                    <a:bodyPr/>
                    <a:lstStyle/>
                    <a:p>
                      <a:pPr algn="ctr" fontAlgn="b"/>
                      <a:r>
                        <a:rPr lang="en-US" sz="1400" b="0" i="0" u="none" strike="noStrike" dirty="0">
                          <a:solidFill>
                            <a:srgbClr val="000000"/>
                          </a:solidFill>
                          <a:effectLst/>
                          <a:latin typeface="Calibri" panose="020F0502020204030204" pitchFamily="34" charset="0"/>
                        </a:rPr>
                        <a:t>WBPDCL</a:t>
                      </a:r>
                    </a:p>
                  </a:txBody>
                  <a:tcPr marT="91440" marB="91440" anchor="b"/>
                </a:tc>
                <a:tc>
                  <a:txBody>
                    <a:bodyPr/>
                    <a:lstStyle/>
                    <a:p>
                      <a:pPr algn="ctr" fontAlgn="b"/>
                      <a:r>
                        <a:rPr lang="en-US" sz="1400" b="0" i="0" u="none" strike="noStrike" dirty="0">
                          <a:solidFill>
                            <a:srgbClr val="000000"/>
                          </a:solidFill>
                          <a:effectLst/>
                          <a:latin typeface="Calibri" panose="020F0502020204030204" pitchFamily="34" charset="0"/>
                        </a:rPr>
                        <a:t>140.64</a:t>
                      </a:r>
                    </a:p>
                  </a:txBody>
                  <a:tcPr marT="91440" marB="91440" anchor="b"/>
                </a:tc>
                <a:tc>
                  <a:txBody>
                    <a:bodyPr/>
                    <a:lstStyle/>
                    <a:p>
                      <a:pPr algn="ctr" fontAlgn="b"/>
                      <a:r>
                        <a:rPr lang="en-US" sz="1400" b="0" i="0" u="none" strike="noStrike" dirty="0">
                          <a:solidFill>
                            <a:srgbClr val="000000"/>
                          </a:solidFill>
                          <a:effectLst/>
                          <a:latin typeface="Calibri" panose="020F0502020204030204" pitchFamily="34" charset="0"/>
                        </a:rPr>
                        <a:t>77.81</a:t>
                      </a:r>
                    </a:p>
                  </a:txBody>
                  <a:tcPr marT="91440" marB="91440" anchor="b"/>
                </a:tc>
                <a:tc>
                  <a:txBody>
                    <a:bodyPr/>
                    <a:lstStyle/>
                    <a:p>
                      <a:pPr algn="ctr" fontAlgn="b"/>
                      <a:r>
                        <a:rPr lang="en-US" sz="1400" b="0" i="0" u="none" strike="noStrike">
                          <a:solidFill>
                            <a:srgbClr val="000000"/>
                          </a:solidFill>
                          <a:effectLst/>
                          <a:latin typeface="Calibri" panose="020F0502020204030204" pitchFamily="34" charset="0"/>
                        </a:rPr>
                        <a:t>70.03</a:t>
                      </a:r>
                    </a:p>
                  </a:txBody>
                  <a:tcPr marT="91440" marB="91440" anchor="b"/>
                </a:tc>
                <a:extLst>
                  <a:ext uri="{0D108BD9-81ED-4DB2-BD59-A6C34878D82A}">
                    <a16:rowId xmlns:a16="http://schemas.microsoft.com/office/drawing/2014/main" val="2696412634"/>
                  </a:ext>
                </a:extLst>
              </a:tr>
              <a:tr h="370840">
                <a:tc>
                  <a:txBody>
                    <a:bodyPr/>
                    <a:lstStyle/>
                    <a:p>
                      <a:pPr algn="ctr" fontAlgn="b"/>
                      <a:r>
                        <a:rPr lang="en-US" sz="1400" b="0" i="0" u="none" strike="noStrike" dirty="0">
                          <a:solidFill>
                            <a:srgbClr val="000000"/>
                          </a:solidFill>
                          <a:effectLst/>
                          <a:latin typeface="Calibri" panose="020F0502020204030204" pitchFamily="34" charset="0"/>
                        </a:rPr>
                        <a:t>WBSETCL</a:t>
                      </a:r>
                    </a:p>
                  </a:txBody>
                  <a:tcPr marT="91440" marB="91440" anchor="b"/>
                </a:tc>
                <a:tc>
                  <a:txBody>
                    <a:bodyPr/>
                    <a:lstStyle/>
                    <a:p>
                      <a:pPr algn="ctr" fontAlgn="b"/>
                      <a:r>
                        <a:rPr lang="en-US" sz="1400" b="0" i="0" u="none" strike="noStrike">
                          <a:solidFill>
                            <a:srgbClr val="000000"/>
                          </a:solidFill>
                          <a:effectLst/>
                          <a:latin typeface="Calibri" panose="020F0502020204030204" pitchFamily="34" charset="0"/>
                        </a:rPr>
                        <a:t>443.61</a:t>
                      </a:r>
                    </a:p>
                  </a:txBody>
                  <a:tcPr marT="91440" marB="91440" anchor="b"/>
                </a:tc>
                <a:tc>
                  <a:txBody>
                    <a:bodyPr/>
                    <a:lstStyle/>
                    <a:p>
                      <a:pPr algn="ctr" fontAlgn="b"/>
                      <a:r>
                        <a:rPr lang="en-US" sz="1400" b="0" i="0" u="none" strike="noStrike" dirty="0">
                          <a:solidFill>
                            <a:srgbClr val="000000"/>
                          </a:solidFill>
                          <a:effectLst/>
                          <a:latin typeface="Calibri" panose="020F0502020204030204" pitchFamily="34" charset="0"/>
                        </a:rPr>
                        <a:t>415.67</a:t>
                      </a:r>
                    </a:p>
                  </a:txBody>
                  <a:tcPr marT="91440" marB="91440" anchor="b"/>
                </a:tc>
                <a:tc>
                  <a:txBody>
                    <a:bodyPr/>
                    <a:lstStyle/>
                    <a:p>
                      <a:pPr algn="ctr" fontAlgn="b"/>
                      <a:r>
                        <a:rPr lang="en-US" sz="1400" b="0" i="0" u="none" strike="noStrike" dirty="0">
                          <a:solidFill>
                            <a:srgbClr val="000000"/>
                          </a:solidFill>
                          <a:effectLst/>
                          <a:latin typeface="Calibri" panose="020F0502020204030204" pitchFamily="34" charset="0"/>
                        </a:rPr>
                        <a:t>335.11</a:t>
                      </a:r>
                    </a:p>
                  </a:txBody>
                  <a:tcPr marT="91440" marB="91440" anchor="b"/>
                </a:tc>
                <a:extLst>
                  <a:ext uri="{0D108BD9-81ED-4DB2-BD59-A6C34878D82A}">
                    <a16:rowId xmlns:a16="http://schemas.microsoft.com/office/drawing/2014/main" val="2876497063"/>
                  </a:ext>
                </a:extLst>
              </a:tr>
              <a:tr h="370840">
                <a:tc>
                  <a:txBody>
                    <a:bodyPr/>
                    <a:lstStyle/>
                    <a:p>
                      <a:pPr algn="ctr" fontAlgn="b"/>
                      <a:r>
                        <a:rPr lang="en-US" sz="1400" b="1" i="0" u="none" strike="noStrike" dirty="0">
                          <a:solidFill>
                            <a:srgbClr val="000000"/>
                          </a:solidFill>
                          <a:effectLst/>
                          <a:latin typeface="Calibri" panose="020F0502020204030204" pitchFamily="34" charset="0"/>
                        </a:rPr>
                        <a:t>Total (In Rs. Crore)</a:t>
                      </a:r>
                    </a:p>
                  </a:txBody>
                  <a:tcPr marT="91440" marB="91440" anchor="b"/>
                </a:tc>
                <a:tc>
                  <a:txBody>
                    <a:bodyPr/>
                    <a:lstStyle/>
                    <a:p>
                      <a:pPr algn="ctr" fontAlgn="b"/>
                      <a:r>
                        <a:rPr lang="en-US" sz="1400" b="1" i="0" u="none" strike="noStrike">
                          <a:solidFill>
                            <a:srgbClr val="000000"/>
                          </a:solidFill>
                          <a:effectLst/>
                          <a:latin typeface="Calibri" panose="020F0502020204030204" pitchFamily="34" charset="0"/>
                        </a:rPr>
                        <a:t>584.25</a:t>
                      </a:r>
                    </a:p>
                  </a:txBody>
                  <a:tcPr marT="91440" marB="91440" anchor="b"/>
                </a:tc>
                <a:tc>
                  <a:txBody>
                    <a:bodyPr/>
                    <a:lstStyle/>
                    <a:p>
                      <a:pPr algn="ctr" fontAlgn="b"/>
                      <a:r>
                        <a:rPr lang="en-US" sz="1400" b="1" i="0" u="none" strike="noStrike">
                          <a:solidFill>
                            <a:srgbClr val="000000"/>
                          </a:solidFill>
                          <a:effectLst/>
                          <a:latin typeface="Calibri" panose="020F0502020204030204" pitchFamily="34" charset="0"/>
                        </a:rPr>
                        <a:t>493.48</a:t>
                      </a:r>
                    </a:p>
                  </a:txBody>
                  <a:tcPr marT="91440" marB="91440" anchor="b"/>
                </a:tc>
                <a:tc>
                  <a:txBody>
                    <a:bodyPr/>
                    <a:lstStyle/>
                    <a:p>
                      <a:pPr algn="ctr" fontAlgn="b"/>
                      <a:r>
                        <a:rPr lang="en-US" sz="1400" b="1" i="0" u="none" strike="noStrike" dirty="0">
                          <a:solidFill>
                            <a:srgbClr val="000000"/>
                          </a:solidFill>
                          <a:effectLst/>
                          <a:latin typeface="Calibri" panose="020F0502020204030204" pitchFamily="34" charset="0"/>
                        </a:rPr>
                        <a:t>405.14</a:t>
                      </a:r>
                    </a:p>
                  </a:txBody>
                  <a:tcPr marT="91440" marB="91440" anchor="b"/>
                </a:tc>
                <a:extLst>
                  <a:ext uri="{0D108BD9-81ED-4DB2-BD59-A6C34878D82A}">
                    <a16:rowId xmlns:a16="http://schemas.microsoft.com/office/drawing/2014/main" val="860266416"/>
                  </a:ext>
                </a:extLst>
              </a:tr>
            </a:tbl>
          </a:graphicData>
        </a:graphic>
      </p:graphicFrame>
      <p:graphicFrame>
        <p:nvGraphicFramePr>
          <p:cNvPr id="9" name="Table 9">
            <a:extLst>
              <a:ext uri="{FF2B5EF4-FFF2-40B4-BE49-F238E27FC236}">
                <a16:creationId xmlns:a16="http://schemas.microsoft.com/office/drawing/2014/main" id="{E2F54483-EC8C-491C-8382-F9F188C7E0E0}"/>
              </a:ext>
            </a:extLst>
          </p:cNvPr>
          <p:cNvGraphicFramePr>
            <a:graphicFrameLocks noGrp="1"/>
          </p:cNvGraphicFramePr>
          <p:nvPr>
            <p:extLst>
              <p:ext uri="{D42A27DB-BD31-4B8C-83A1-F6EECF244321}">
                <p14:modId xmlns:p14="http://schemas.microsoft.com/office/powerpoint/2010/main" val="1760253293"/>
              </p:ext>
            </p:extLst>
          </p:nvPr>
        </p:nvGraphicFramePr>
        <p:xfrm>
          <a:off x="488934" y="5838512"/>
          <a:ext cx="11278520" cy="396240"/>
        </p:xfrm>
        <a:graphic>
          <a:graphicData uri="http://schemas.openxmlformats.org/drawingml/2006/table">
            <a:tbl>
              <a:tblPr firstRow="1" bandRow="1">
                <a:tableStyleId>{5C22544A-7EE6-4342-B048-85BDC9FD1C3A}</a:tableStyleId>
              </a:tblPr>
              <a:tblGrid>
                <a:gridCol w="8001923">
                  <a:extLst>
                    <a:ext uri="{9D8B030D-6E8A-4147-A177-3AD203B41FA5}">
                      <a16:colId xmlns:a16="http://schemas.microsoft.com/office/drawing/2014/main" val="1534264201"/>
                    </a:ext>
                  </a:extLst>
                </a:gridCol>
                <a:gridCol w="3276597">
                  <a:extLst>
                    <a:ext uri="{9D8B030D-6E8A-4147-A177-3AD203B41FA5}">
                      <a16:colId xmlns:a16="http://schemas.microsoft.com/office/drawing/2014/main" val="3018511563"/>
                    </a:ext>
                  </a:extLst>
                </a:gridCol>
              </a:tblGrid>
              <a:tr h="370840">
                <a:tc>
                  <a:txBody>
                    <a:bodyPr/>
                    <a:lstStyle/>
                    <a:p>
                      <a:pPr algn="ctr" fontAlgn="b"/>
                      <a:r>
                        <a:rPr lang="en-US" sz="1400" b="1" i="0" u="none" strike="noStrike" dirty="0">
                          <a:solidFill>
                            <a:srgbClr val="000000"/>
                          </a:solidFill>
                          <a:effectLst/>
                          <a:latin typeface="Calibri" panose="020F0502020204030204" pitchFamily="34" charset="0"/>
                        </a:rPr>
                        <a:t>Proposal not eligible for funding from PSDF/Deemed Return</a:t>
                      </a:r>
                    </a:p>
                  </a:txBody>
                  <a:tcPr marT="91440" marB="91440" anchor="b">
                    <a:solidFill>
                      <a:srgbClr val="00A3E0"/>
                    </a:solidFill>
                  </a:tcPr>
                </a:tc>
                <a:tc>
                  <a:txBody>
                    <a:bodyPr/>
                    <a:lstStyle/>
                    <a:p>
                      <a:pPr algn="ctr" fontAlgn="b"/>
                      <a:r>
                        <a:rPr lang="en-US" sz="1400" b="1" i="0" u="none" strike="noStrike" dirty="0">
                          <a:solidFill>
                            <a:srgbClr val="000000"/>
                          </a:solidFill>
                          <a:effectLst/>
                          <a:latin typeface="Calibri" panose="020F0502020204030204" pitchFamily="34" charset="0"/>
                        </a:rPr>
                        <a:t>1292.68</a:t>
                      </a:r>
                    </a:p>
                  </a:txBody>
                  <a:tcPr marT="91440" marB="91440" anchor="b">
                    <a:solidFill>
                      <a:srgbClr val="00A3E0"/>
                    </a:solidFill>
                  </a:tcPr>
                </a:tc>
                <a:extLst>
                  <a:ext uri="{0D108BD9-81ED-4DB2-BD59-A6C34878D82A}">
                    <a16:rowId xmlns:a16="http://schemas.microsoft.com/office/drawing/2014/main" val="1092020165"/>
                  </a:ext>
                </a:extLst>
              </a:tr>
            </a:tbl>
          </a:graphicData>
        </a:graphic>
      </p:graphicFrame>
    </p:spTree>
    <p:extLst>
      <p:ext uri="{BB962C8B-B14F-4D97-AF65-F5344CB8AC3E}">
        <p14:creationId xmlns:p14="http://schemas.microsoft.com/office/powerpoint/2010/main" val="15942346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501650" y="167183"/>
            <a:ext cx="11188700" cy="370900"/>
          </a:xfrm>
        </p:spPr>
        <p:txBody>
          <a:bodyPr vert="horz"/>
          <a:lstStyle/>
          <a:p>
            <a:pPr algn="just"/>
            <a:r>
              <a:rPr lang="en-US" sz="1800" i="0" dirty="0">
                <a:solidFill>
                  <a:schemeClr val="tx1"/>
                </a:solidFill>
                <a:latin typeface="+mj-lt"/>
              </a:rPr>
              <a:t>Summary Status of the PSDF as on 26.05.2022 for WBSETCL (1/2)  </a:t>
            </a:r>
          </a:p>
        </p:txBody>
      </p:sp>
      <p:sp>
        <p:nvSpPr>
          <p:cNvPr id="29" name="TextBox 28">
            <a:extLst>
              <a:ext uri="{FF2B5EF4-FFF2-40B4-BE49-F238E27FC236}">
                <a16:creationId xmlns:a16="http://schemas.microsoft.com/office/drawing/2014/main" id="{4508A2A1-1AD6-47E0-B542-A6C5A24935D3}"/>
              </a:ext>
            </a:extLst>
          </p:cNvPr>
          <p:cNvSpPr txBox="1"/>
          <p:nvPr/>
        </p:nvSpPr>
        <p:spPr>
          <a:xfrm>
            <a:off x="2965228" y="6560272"/>
            <a:ext cx="6879086" cy="221599"/>
          </a:xfrm>
          <a:prstGeom prst="rect">
            <a:avLst/>
          </a:prstGeom>
          <a:noFill/>
        </p:spPr>
        <p:txBody>
          <a:bodyPr wrap="square" tIns="18288" bIns="18288">
            <a:spAutoFit/>
          </a:bodyPr>
          <a:lstStyle/>
          <a:p>
            <a:r>
              <a:rPr lang="en-US" sz="1200" b="1" dirty="0">
                <a:latin typeface="Calibri" panose="020F0502020204030204" pitchFamily="34" charset="0"/>
                <a:cs typeface="Calibri" panose="020F0502020204030204" pitchFamily="34" charset="0"/>
              </a:rPr>
              <a:t>Source : PSDF Website and http://erpc.gov.in/wp-content/uploads/2022/05/191st-OCC-Minutes.pdf </a:t>
            </a:r>
            <a:endParaRPr lang="en-US" sz="1200" dirty="0">
              <a:latin typeface="Calibri" panose="020F0502020204030204" pitchFamily="34" charset="0"/>
              <a:cs typeface="Calibri" panose="020F0502020204030204" pitchFamily="34" charset="0"/>
            </a:endParaRPr>
          </a:p>
        </p:txBody>
      </p:sp>
      <p:graphicFrame>
        <p:nvGraphicFramePr>
          <p:cNvPr id="2" name="Table 2">
            <a:extLst>
              <a:ext uri="{FF2B5EF4-FFF2-40B4-BE49-F238E27FC236}">
                <a16:creationId xmlns:a16="http://schemas.microsoft.com/office/drawing/2014/main" id="{7F1C9902-CF3F-462A-BC47-AA1ABAB1445C}"/>
              </a:ext>
            </a:extLst>
          </p:cNvPr>
          <p:cNvGraphicFramePr>
            <a:graphicFrameLocks noGrp="1"/>
          </p:cNvGraphicFramePr>
          <p:nvPr>
            <p:extLst>
              <p:ext uri="{D42A27DB-BD31-4B8C-83A1-F6EECF244321}">
                <p14:modId xmlns:p14="http://schemas.microsoft.com/office/powerpoint/2010/main" val="1843351084"/>
              </p:ext>
            </p:extLst>
          </p:nvPr>
        </p:nvGraphicFramePr>
        <p:xfrm>
          <a:off x="368088" y="565142"/>
          <a:ext cx="11527069" cy="5574461"/>
        </p:xfrm>
        <a:graphic>
          <a:graphicData uri="http://schemas.openxmlformats.org/drawingml/2006/table">
            <a:tbl>
              <a:tblPr firstRow="1" bandRow="1">
                <a:tableStyleId>{5C22544A-7EE6-4342-B048-85BDC9FD1C3A}</a:tableStyleId>
              </a:tblPr>
              <a:tblGrid>
                <a:gridCol w="1152487">
                  <a:extLst>
                    <a:ext uri="{9D8B030D-6E8A-4147-A177-3AD203B41FA5}">
                      <a16:colId xmlns:a16="http://schemas.microsoft.com/office/drawing/2014/main" val="4020663227"/>
                    </a:ext>
                  </a:extLst>
                </a:gridCol>
                <a:gridCol w="770562">
                  <a:extLst>
                    <a:ext uri="{9D8B030D-6E8A-4147-A177-3AD203B41FA5}">
                      <a16:colId xmlns:a16="http://schemas.microsoft.com/office/drawing/2014/main" val="1907190136"/>
                    </a:ext>
                  </a:extLst>
                </a:gridCol>
                <a:gridCol w="610601">
                  <a:extLst>
                    <a:ext uri="{9D8B030D-6E8A-4147-A177-3AD203B41FA5}">
                      <a16:colId xmlns:a16="http://schemas.microsoft.com/office/drawing/2014/main" val="1679584038"/>
                    </a:ext>
                  </a:extLst>
                </a:gridCol>
                <a:gridCol w="741570">
                  <a:extLst>
                    <a:ext uri="{9D8B030D-6E8A-4147-A177-3AD203B41FA5}">
                      <a16:colId xmlns:a16="http://schemas.microsoft.com/office/drawing/2014/main" val="908098360"/>
                    </a:ext>
                  </a:extLst>
                </a:gridCol>
                <a:gridCol w="845930">
                  <a:extLst>
                    <a:ext uri="{9D8B030D-6E8A-4147-A177-3AD203B41FA5}">
                      <a16:colId xmlns:a16="http://schemas.microsoft.com/office/drawing/2014/main" val="2696321522"/>
                    </a:ext>
                  </a:extLst>
                </a:gridCol>
                <a:gridCol w="558800">
                  <a:extLst>
                    <a:ext uri="{9D8B030D-6E8A-4147-A177-3AD203B41FA5}">
                      <a16:colId xmlns:a16="http://schemas.microsoft.com/office/drawing/2014/main" val="1557936423"/>
                    </a:ext>
                  </a:extLst>
                </a:gridCol>
                <a:gridCol w="698500">
                  <a:extLst>
                    <a:ext uri="{9D8B030D-6E8A-4147-A177-3AD203B41FA5}">
                      <a16:colId xmlns:a16="http://schemas.microsoft.com/office/drawing/2014/main" val="3347166959"/>
                    </a:ext>
                  </a:extLst>
                </a:gridCol>
                <a:gridCol w="596900">
                  <a:extLst>
                    <a:ext uri="{9D8B030D-6E8A-4147-A177-3AD203B41FA5}">
                      <a16:colId xmlns:a16="http://schemas.microsoft.com/office/drawing/2014/main" val="1682447633"/>
                    </a:ext>
                  </a:extLst>
                </a:gridCol>
                <a:gridCol w="698500">
                  <a:extLst>
                    <a:ext uri="{9D8B030D-6E8A-4147-A177-3AD203B41FA5}">
                      <a16:colId xmlns:a16="http://schemas.microsoft.com/office/drawing/2014/main" val="1606165489"/>
                    </a:ext>
                  </a:extLst>
                </a:gridCol>
                <a:gridCol w="812800">
                  <a:extLst>
                    <a:ext uri="{9D8B030D-6E8A-4147-A177-3AD203B41FA5}">
                      <a16:colId xmlns:a16="http://schemas.microsoft.com/office/drawing/2014/main" val="2291000018"/>
                    </a:ext>
                  </a:extLst>
                </a:gridCol>
                <a:gridCol w="736600">
                  <a:extLst>
                    <a:ext uri="{9D8B030D-6E8A-4147-A177-3AD203B41FA5}">
                      <a16:colId xmlns:a16="http://schemas.microsoft.com/office/drawing/2014/main" val="991252820"/>
                    </a:ext>
                  </a:extLst>
                </a:gridCol>
                <a:gridCol w="800100">
                  <a:extLst>
                    <a:ext uri="{9D8B030D-6E8A-4147-A177-3AD203B41FA5}">
                      <a16:colId xmlns:a16="http://schemas.microsoft.com/office/drawing/2014/main" val="1710348756"/>
                    </a:ext>
                  </a:extLst>
                </a:gridCol>
                <a:gridCol w="800100">
                  <a:extLst>
                    <a:ext uri="{9D8B030D-6E8A-4147-A177-3AD203B41FA5}">
                      <a16:colId xmlns:a16="http://schemas.microsoft.com/office/drawing/2014/main" val="4072271360"/>
                    </a:ext>
                  </a:extLst>
                </a:gridCol>
                <a:gridCol w="767443">
                  <a:extLst>
                    <a:ext uri="{9D8B030D-6E8A-4147-A177-3AD203B41FA5}">
                      <a16:colId xmlns:a16="http://schemas.microsoft.com/office/drawing/2014/main" val="3325604657"/>
                    </a:ext>
                  </a:extLst>
                </a:gridCol>
                <a:gridCol w="936176">
                  <a:extLst>
                    <a:ext uri="{9D8B030D-6E8A-4147-A177-3AD203B41FA5}">
                      <a16:colId xmlns:a16="http://schemas.microsoft.com/office/drawing/2014/main" val="4079613127"/>
                    </a:ext>
                  </a:extLst>
                </a:gridCol>
              </a:tblGrid>
              <a:tr h="1877000">
                <a:tc>
                  <a:txBody>
                    <a:bodyPr/>
                    <a:lstStyle/>
                    <a:p>
                      <a:pPr algn="ctr" fontAlgn="ctr"/>
                      <a:r>
                        <a:rPr lang="en-US" sz="1050" b="1" i="0" u="none" strike="noStrike" dirty="0">
                          <a:solidFill>
                            <a:schemeClr val="bg1"/>
                          </a:solidFill>
                          <a:effectLst/>
                          <a:latin typeface="+mn-lt"/>
                        </a:rPr>
                        <a:t>Name of Scheme and Unique ID No</a:t>
                      </a:r>
                    </a:p>
                  </a:txBody>
                  <a:tcPr marL="0" marR="18288" marT="27432" marB="27432" anchor="ctr">
                    <a:solidFill>
                      <a:srgbClr val="007680"/>
                    </a:solidFill>
                  </a:tcPr>
                </a:tc>
                <a:tc>
                  <a:txBody>
                    <a:bodyPr/>
                    <a:lstStyle/>
                    <a:p>
                      <a:pPr algn="ctr" fontAlgn="ctr"/>
                      <a:r>
                        <a:rPr lang="en-US" sz="1050" b="1" i="0" u="none" strike="noStrike" dirty="0">
                          <a:solidFill>
                            <a:schemeClr val="bg1"/>
                          </a:solidFill>
                          <a:effectLst/>
                          <a:latin typeface="+mn-lt"/>
                        </a:rPr>
                        <a:t>Date of Submission of Scheme by Entity</a:t>
                      </a:r>
                    </a:p>
                  </a:txBody>
                  <a:tcPr marL="0" marR="18288" marT="27432" marB="27432" anchor="ctr">
                    <a:solidFill>
                      <a:srgbClr val="007680"/>
                    </a:solidFill>
                  </a:tcPr>
                </a:tc>
                <a:tc>
                  <a:txBody>
                    <a:bodyPr/>
                    <a:lstStyle/>
                    <a:p>
                      <a:pPr algn="ctr" fontAlgn="ctr"/>
                      <a:r>
                        <a:rPr lang="en-US" sz="1050" b="1" i="0" u="none" strike="noStrike" dirty="0">
                          <a:solidFill>
                            <a:schemeClr val="bg1"/>
                          </a:solidFill>
                          <a:effectLst/>
                          <a:latin typeface="+mn-lt"/>
                        </a:rPr>
                        <a:t>Estimated cost by entity</a:t>
                      </a:r>
                    </a:p>
                  </a:txBody>
                  <a:tcPr marL="0" marR="18288" marT="27432" marB="27432" anchor="ctr">
                    <a:solidFill>
                      <a:srgbClr val="007680"/>
                    </a:solidFill>
                  </a:tcPr>
                </a:tc>
                <a:tc>
                  <a:txBody>
                    <a:bodyPr/>
                    <a:lstStyle/>
                    <a:p>
                      <a:pPr algn="ctr" fontAlgn="ctr"/>
                      <a:r>
                        <a:rPr lang="en-US" sz="1050" b="1" i="0" u="none" strike="noStrike" dirty="0">
                          <a:solidFill>
                            <a:schemeClr val="bg1"/>
                          </a:solidFill>
                          <a:effectLst/>
                          <a:latin typeface="+mn-lt"/>
                        </a:rPr>
                        <a:t>Date of Techno- Economic clearance</a:t>
                      </a:r>
                    </a:p>
                  </a:txBody>
                  <a:tcPr marL="0" marR="18288" marT="27432" marB="27432" anchor="ctr">
                    <a:solidFill>
                      <a:srgbClr val="007680"/>
                    </a:solidFill>
                  </a:tcPr>
                </a:tc>
                <a:tc>
                  <a:txBody>
                    <a:bodyPr/>
                    <a:lstStyle/>
                    <a:p>
                      <a:pPr algn="ctr" fontAlgn="ctr"/>
                      <a:r>
                        <a:rPr lang="en-US" sz="1050" b="1" i="0" u="none" strike="noStrike" dirty="0">
                          <a:solidFill>
                            <a:schemeClr val="bg1"/>
                          </a:solidFill>
                          <a:effectLst/>
                          <a:latin typeface="+mn-lt"/>
                        </a:rPr>
                        <a:t>Date of Recommend action by Appraisal Committee </a:t>
                      </a:r>
                    </a:p>
                  </a:txBody>
                  <a:tcPr marL="0" marR="18288" marT="27432" marB="27432" anchor="ctr">
                    <a:solidFill>
                      <a:srgbClr val="007680"/>
                    </a:solidFill>
                  </a:tcPr>
                </a:tc>
                <a:tc>
                  <a:txBody>
                    <a:bodyPr/>
                    <a:lstStyle/>
                    <a:p>
                      <a:pPr algn="ctr" fontAlgn="ctr"/>
                      <a:r>
                        <a:rPr lang="en-US" sz="1050" b="1" i="0" u="none" strike="noStrike" dirty="0">
                          <a:solidFill>
                            <a:schemeClr val="bg1"/>
                          </a:solidFill>
                          <a:effectLst/>
                          <a:latin typeface="+mn-lt"/>
                        </a:rPr>
                        <a:t>Project Cost accepted by Appraisal Committee.</a:t>
                      </a:r>
                    </a:p>
                  </a:txBody>
                  <a:tcPr marL="0" marR="18288" marT="27432" marB="27432" anchor="ctr">
                    <a:solidFill>
                      <a:srgbClr val="007680"/>
                    </a:solidFill>
                  </a:tcPr>
                </a:tc>
                <a:tc>
                  <a:txBody>
                    <a:bodyPr/>
                    <a:lstStyle/>
                    <a:p>
                      <a:pPr algn="ctr" fontAlgn="ctr"/>
                      <a:r>
                        <a:rPr lang="en-US" sz="1050" b="1" i="0" u="none" strike="noStrike" dirty="0">
                          <a:solidFill>
                            <a:schemeClr val="bg1"/>
                          </a:solidFill>
                          <a:effectLst/>
                          <a:latin typeface="+mn-lt"/>
                        </a:rPr>
                        <a:t>Date of Concurrence by CERC.</a:t>
                      </a:r>
                    </a:p>
                  </a:txBody>
                  <a:tcPr marL="0" marR="18288" marT="27432" marB="27432" anchor="ctr">
                    <a:solidFill>
                      <a:srgbClr val="007680"/>
                    </a:solidFill>
                  </a:tcPr>
                </a:tc>
                <a:tc>
                  <a:txBody>
                    <a:bodyPr/>
                    <a:lstStyle/>
                    <a:p>
                      <a:pPr algn="ctr" fontAlgn="ctr"/>
                      <a:r>
                        <a:rPr lang="en-US" sz="1050" b="1" i="0" u="none" strike="noStrike" dirty="0">
                          <a:solidFill>
                            <a:schemeClr val="bg1"/>
                          </a:solidFill>
                          <a:effectLst/>
                          <a:latin typeface="+mn-lt"/>
                        </a:rPr>
                        <a:t>Grant Approved by Monitoring Committee </a:t>
                      </a:r>
                    </a:p>
                  </a:txBody>
                  <a:tcPr marL="0" marR="18288" marT="27432" marB="27432" anchor="ctr">
                    <a:solidFill>
                      <a:srgbClr val="007680"/>
                    </a:solidFill>
                  </a:tcPr>
                </a:tc>
                <a:tc>
                  <a:txBody>
                    <a:bodyPr/>
                    <a:lstStyle/>
                    <a:p>
                      <a:pPr algn="ctr" fontAlgn="ctr"/>
                      <a:r>
                        <a:rPr lang="en-US" sz="1050" b="1" i="0" u="none" strike="noStrike" dirty="0">
                          <a:solidFill>
                            <a:schemeClr val="bg1"/>
                          </a:solidFill>
                          <a:effectLst/>
                          <a:latin typeface="+mn-lt"/>
                        </a:rPr>
                        <a:t>Date of Approval by Monitoring Committee </a:t>
                      </a:r>
                    </a:p>
                  </a:txBody>
                  <a:tcPr marL="0" marR="18288" marT="27432" marB="27432" anchor="ctr">
                    <a:solidFill>
                      <a:srgbClr val="007680"/>
                    </a:solidFill>
                  </a:tcPr>
                </a:tc>
                <a:tc>
                  <a:txBody>
                    <a:bodyPr/>
                    <a:lstStyle/>
                    <a:p>
                      <a:pPr algn="ctr" fontAlgn="ctr"/>
                      <a:r>
                        <a:rPr lang="en-US" sz="1050" b="1" i="0" u="none" strike="noStrike" dirty="0">
                          <a:solidFill>
                            <a:schemeClr val="bg1"/>
                          </a:solidFill>
                          <a:effectLst/>
                          <a:latin typeface="+mn-lt"/>
                        </a:rPr>
                        <a:t>Date of Issuance of sanction order by MoP</a:t>
                      </a:r>
                    </a:p>
                  </a:txBody>
                  <a:tcPr marL="0" marR="18288" marT="27432" marB="27432" anchor="ctr">
                    <a:solidFill>
                      <a:srgbClr val="007680"/>
                    </a:solidFill>
                  </a:tcPr>
                </a:tc>
                <a:tc>
                  <a:txBody>
                    <a:bodyPr/>
                    <a:lstStyle/>
                    <a:p>
                      <a:pPr algn="ctr" fontAlgn="ctr"/>
                      <a:r>
                        <a:rPr lang="en-US" sz="1050" b="1" i="0" u="none" strike="noStrike" dirty="0">
                          <a:solidFill>
                            <a:schemeClr val="bg1"/>
                          </a:solidFill>
                          <a:effectLst/>
                          <a:latin typeface="+mn-lt"/>
                        </a:rPr>
                        <a:t>Date of Signing of Agreement</a:t>
                      </a:r>
                    </a:p>
                  </a:txBody>
                  <a:tcPr marL="0" marR="18288" marT="27432" marB="27432" anchor="ctr">
                    <a:solidFill>
                      <a:srgbClr val="007680"/>
                    </a:solidFill>
                  </a:tcPr>
                </a:tc>
                <a:tc>
                  <a:txBody>
                    <a:bodyPr/>
                    <a:lstStyle/>
                    <a:p>
                      <a:pPr algn="ctr" fontAlgn="ctr"/>
                      <a:r>
                        <a:rPr lang="en-US" sz="1050" b="1" i="0" u="none" strike="noStrike" dirty="0">
                          <a:solidFill>
                            <a:schemeClr val="bg1"/>
                          </a:solidFill>
                          <a:effectLst/>
                          <a:latin typeface="+mn-lt"/>
                          <a:cs typeface="Calibri" panose="020F0502020204030204" pitchFamily="34" charset="0"/>
                        </a:rPr>
                        <a:t>Completion schedule w.r.t date of 1</a:t>
                      </a:r>
                      <a:r>
                        <a:rPr lang="en-US" sz="1050" b="1" i="0" u="none" strike="noStrike" baseline="30000" dirty="0">
                          <a:solidFill>
                            <a:schemeClr val="bg1"/>
                          </a:solidFill>
                          <a:effectLst/>
                          <a:latin typeface="+mn-lt"/>
                          <a:cs typeface="Calibri" panose="020F0502020204030204" pitchFamily="34" charset="0"/>
                        </a:rPr>
                        <a:t>st</a:t>
                      </a:r>
                      <a:r>
                        <a:rPr lang="en-US" sz="1050" b="1" i="0" u="none" strike="noStrike" dirty="0">
                          <a:solidFill>
                            <a:schemeClr val="bg1"/>
                          </a:solidFill>
                          <a:effectLst/>
                          <a:latin typeface="+mn-lt"/>
                          <a:cs typeface="Calibri" panose="020F0502020204030204" pitchFamily="34" charset="0"/>
                        </a:rPr>
                        <a:t> Instalment</a:t>
                      </a:r>
                    </a:p>
                  </a:txBody>
                  <a:tcPr marL="0" marR="27432" marT="18288" marB="18288" anchor="ctr">
                    <a:solidFill>
                      <a:srgbClr val="007680"/>
                    </a:solidFill>
                  </a:tcPr>
                </a:tc>
                <a:tc>
                  <a:txBody>
                    <a:bodyPr/>
                    <a:lstStyle/>
                    <a:p>
                      <a:pPr algn="ctr" fontAlgn="ctr"/>
                      <a:r>
                        <a:rPr lang="en-US" sz="1050" dirty="0">
                          <a:solidFill>
                            <a:schemeClr val="bg1"/>
                          </a:solidFill>
                          <a:latin typeface="+mn-lt"/>
                          <a:cs typeface="Calibri" panose="020F0502020204030204" pitchFamily="34" charset="0"/>
                        </a:rPr>
                        <a:t>Grant availed so far</a:t>
                      </a:r>
                      <a:endParaRPr lang="en-US" sz="1050" b="1" i="0" u="none" strike="noStrike" dirty="0">
                        <a:solidFill>
                          <a:schemeClr val="bg1"/>
                        </a:solidFill>
                        <a:effectLst/>
                        <a:latin typeface="+mn-lt"/>
                        <a:cs typeface="Calibri" panose="020F0502020204030204" pitchFamily="34" charset="0"/>
                      </a:endParaRPr>
                    </a:p>
                  </a:txBody>
                  <a:tcPr marL="0" marR="27432" marT="18288" marB="18288" anchor="ctr">
                    <a:solidFill>
                      <a:srgbClr val="007680"/>
                    </a:solidFill>
                  </a:tcPr>
                </a:tc>
                <a:tc>
                  <a:txBody>
                    <a:bodyPr/>
                    <a:lstStyle/>
                    <a:p>
                      <a:pPr algn="ctr" fontAlgn="ctr"/>
                      <a:r>
                        <a:rPr lang="en-US" sz="1050" dirty="0">
                          <a:solidFill>
                            <a:schemeClr val="bg1"/>
                          </a:solidFill>
                          <a:latin typeface="+mn-lt"/>
                          <a:cs typeface="Calibri" panose="020F0502020204030204" pitchFamily="34" charset="0"/>
                        </a:rPr>
                        <a:t>Total awards amount of placed of till date</a:t>
                      </a:r>
                      <a:endParaRPr lang="en-US" sz="1050" b="1" i="0" u="none" strike="noStrike" dirty="0">
                        <a:solidFill>
                          <a:schemeClr val="bg1"/>
                        </a:solidFill>
                        <a:effectLst/>
                        <a:latin typeface="+mn-lt"/>
                        <a:cs typeface="Calibri" panose="020F0502020204030204" pitchFamily="34" charset="0"/>
                      </a:endParaRPr>
                    </a:p>
                  </a:txBody>
                  <a:tcPr marL="0" marR="27432" marT="18288" marB="18288" anchor="ctr">
                    <a:solidFill>
                      <a:srgbClr val="007680"/>
                    </a:solidFill>
                  </a:tcPr>
                </a:tc>
                <a:tc>
                  <a:txBody>
                    <a:bodyPr/>
                    <a:lstStyle/>
                    <a:p>
                      <a:pPr algn="ctr" fontAlgn="ctr"/>
                      <a:r>
                        <a:rPr lang="en-US" sz="1050" dirty="0">
                          <a:solidFill>
                            <a:schemeClr val="bg1"/>
                          </a:solidFill>
                          <a:latin typeface="+mn-lt"/>
                          <a:cs typeface="Calibri" panose="020F0502020204030204" pitchFamily="34" charset="0"/>
                        </a:rPr>
                        <a:t>Latest status </a:t>
                      </a:r>
                      <a:endParaRPr lang="en-US" sz="1050" b="1" i="0" u="none" strike="noStrike" dirty="0">
                        <a:solidFill>
                          <a:schemeClr val="bg1"/>
                        </a:solidFill>
                        <a:effectLst/>
                        <a:latin typeface="+mn-lt"/>
                        <a:cs typeface="Calibri" panose="020F0502020204030204" pitchFamily="34" charset="0"/>
                      </a:endParaRPr>
                    </a:p>
                  </a:txBody>
                  <a:tcPr marL="0" marR="27432" marT="18288" marB="18288" anchor="ctr">
                    <a:solidFill>
                      <a:srgbClr val="007680"/>
                    </a:solidFill>
                  </a:tcPr>
                </a:tc>
                <a:extLst>
                  <a:ext uri="{0D108BD9-81ED-4DB2-BD59-A6C34878D82A}">
                    <a16:rowId xmlns:a16="http://schemas.microsoft.com/office/drawing/2014/main" val="1141627779"/>
                  </a:ext>
                </a:extLst>
              </a:tr>
              <a:tr h="1169072">
                <a:tc>
                  <a:txBody>
                    <a:bodyPr/>
                    <a:lstStyle/>
                    <a:p>
                      <a:pPr algn="l" fontAlgn="ctr"/>
                      <a:r>
                        <a:rPr lang="en-US" sz="1050" b="1" i="0" u="none" strike="noStrike" dirty="0">
                          <a:solidFill>
                            <a:srgbClr val="000000"/>
                          </a:solidFill>
                          <a:effectLst/>
                          <a:latin typeface="+mn-lt"/>
                        </a:rPr>
                        <a:t>Renovation and Upgradation of protection system of substations (007)</a:t>
                      </a:r>
                    </a:p>
                  </a:txBody>
                  <a:tcPr marR="18288" marT="27432" marB="27432" anchor="ctr">
                    <a:solidFill>
                      <a:schemeClr val="bg2"/>
                    </a:solidFill>
                  </a:tcPr>
                </a:tc>
                <a:tc>
                  <a:txBody>
                    <a:bodyPr/>
                    <a:lstStyle/>
                    <a:p>
                      <a:pPr algn="ctr" fontAlgn="ctr"/>
                      <a:r>
                        <a:rPr lang="en-US" sz="1050" b="0" i="0" u="none" strike="noStrike" dirty="0">
                          <a:solidFill>
                            <a:srgbClr val="000000"/>
                          </a:solidFill>
                          <a:effectLst/>
                          <a:latin typeface="+mn-lt"/>
                        </a:rPr>
                        <a:t>30-Jul-14</a:t>
                      </a:r>
                    </a:p>
                  </a:txBody>
                  <a:tcPr marL="0" marR="18288" marT="27432" marB="27432" anchor="ctr"/>
                </a:tc>
                <a:tc>
                  <a:txBody>
                    <a:bodyPr/>
                    <a:lstStyle/>
                    <a:p>
                      <a:pPr algn="ctr" fontAlgn="ctr"/>
                      <a:r>
                        <a:rPr lang="en-US" sz="1050" b="0" i="0" u="none" strike="noStrike">
                          <a:solidFill>
                            <a:srgbClr val="000000"/>
                          </a:solidFill>
                          <a:effectLst/>
                          <a:latin typeface="+mn-lt"/>
                        </a:rPr>
                        <a:t>136.45</a:t>
                      </a:r>
                    </a:p>
                  </a:txBody>
                  <a:tcPr marL="0" marR="18288" marT="27432" marB="27432" anchor="ctr"/>
                </a:tc>
                <a:tc>
                  <a:txBody>
                    <a:bodyPr/>
                    <a:lstStyle/>
                    <a:p>
                      <a:pPr algn="ctr" fontAlgn="ctr"/>
                      <a:r>
                        <a:rPr lang="en-US" sz="1050" b="0" i="0" u="none" strike="noStrike" dirty="0">
                          <a:solidFill>
                            <a:srgbClr val="000000"/>
                          </a:solidFill>
                          <a:effectLst/>
                          <a:latin typeface="+mn-lt"/>
                        </a:rPr>
                        <a:t>25-Aug-14</a:t>
                      </a:r>
                    </a:p>
                  </a:txBody>
                  <a:tcPr marL="0" marR="18288" marT="27432" marB="27432" anchor="ctr"/>
                </a:tc>
                <a:tc>
                  <a:txBody>
                    <a:bodyPr/>
                    <a:lstStyle/>
                    <a:p>
                      <a:pPr algn="ctr" fontAlgn="ctr"/>
                      <a:r>
                        <a:rPr lang="en-US" sz="1050" b="0" i="0" u="none" strike="noStrike">
                          <a:solidFill>
                            <a:srgbClr val="000000"/>
                          </a:solidFill>
                          <a:effectLst/>
                          <a:latin typeface="+mn-lt"/>
                        </a:rPr>
                        <a:t>29-Aug-14</a:t>
                      </a:r>
                    </a:p>
                  </a:txBody>
                  <a:tcPr marL="0" marR="18288" marT="27432" marB="27432" anchor="ctr"/>
                </a:tc>
                <a:tc>
                  <a:txBody>
                    <a:bodyPr/>
                    <a:lstStyle/>
                    <a:p>
                      <a:pPr algn="ctr" fontAlgn="ctr"/>
                      <a:r>
                        <a:rPr lang="en-US" sz="1050" b="0" i="0" u="none" strike="noStrike" dirty="0">
                          <a:solidFill>
                            <a:srgbClr val="000000"/>
                          </a:solidFill>
                          <a:effectLst/>
                          <a:latin typeface="+mn-lt"/>
                        </a:rPr>
                        <a:t>120.67</a:t>
                      </a:r>
                    </a:p>
                  </a:txBody>
                  <a:tcPr marL="0" marR="18288" marT="27432" marB="27432" anchor="ctr"/>
                </a:tc>
                <a:tc>
                  <a:txBody>
                    <a:bodyPr/>
                    <a:lstStyle/>
                    <a:p>
                      <a:pPr algn="ctr" fontAlgn="ctr"/>
                      <a:r>
                        <a:rPr lang="en-US" sz="1050" b="0" i="0" u="none" strike="noStrike">
                          <a:solidFill>
                            <a:srgbClr val="000000"/>
                          </a:solidFill>
                          <a:effectLst/>
                          <a:latin typeface="+mn-lt"/>
                        </a:rPr>
                        <a:t>7-Oct-14</a:t>
                      </a:r>
                    </a:p>
                  </a:txBody>
                  <a:tcPr marL="0" marR="18288" marT="27432" marB="27432" anchor="ctr"/>
                </a:tc>
                <a:tc>
                  <a:txBody>
                    <a:bodyPr/>
                    <a:lstStyle/>
                    <a:p>
                      <a:pPr algn="ctr" fontAlgn="ctr"/>
                      <a:r>
                        <a:rPr lang="en-US" sz="1050" b="0" i="0" u="none" strike="noStrike">
                          <a:solidFill>
                            <a:srgbClr val="000000"/>
                          </a:solidFill>
                          <a:effectLst/>
                          <a:latin typeface="+mn-lt"/>
                        </a:rPr>
                        <a:t>108.6</a:t>
                      </a:r>
                    </a:p>
                  </a:txBody>
                  <a:tcPr marL="0" marR="18288" marT="27432" marB="27432" anchor="ctr"/>
                </a:tc>
                <a:tc>
                  <a:txBody>
                    <a:bodyPr/>
                    <a:lstStyle/>
                    <a:p>
                      <a:pPr algn="ctr" fontAlgn="ctr"/>
                      <a:r>
                        <a:rPr lang="en-US" sz="1050" b="0" i="0" u="none" strike="noStrike" dirty="0">
                          <a:solidFill>
                            <a:srgbClr val="000000"/>
                          </a:solidFill>
                          <a:effectLst/>
                          <a:latin typeface="+mn-lt"/>
                        </a:rPr>
                        <a:t>8-Oct-14</a:t>
                      </a:r>
                    </a:p>
                  </a:txBody>
                  <a:tcPr marL="0" marR="18288" marT="27432" marB="27432" anchor="ctr"/>
                </a:tc>
                <a:tc>
                  <a:txBody>
                    <a:bodyPr/>
                    <a:lstStyle/>
                    <a:p>
                      <a:pPr algn="ctr" fontAlgn="ctr"/>
                      <a:r>
                        <a:rPr lang="en-US" sz="1050" b="0" i="0" u="none" strike="noStrike">
                          <a:solidFill>
                            <a:srgbClr val="000000"/>
                          </a:solidFill>
                          <a:effectLst/>
                          <a:latin typeface="+mn-lt"/>
                        </a:rPr>
                        <a:t>31-Dec-14</a:t>
                      </a:r>
                    </a:p>
                  </a:txBody>
                  <a:tcPr marL="0" marR="18288" marT="27432" marB="27432" anchor="ctr"/>
                </a:tc>
                <a:tc>
                  <a:txBody>
                    <a:bodyPr/>
                    <a:lstStyle/>
                    <a:p>
                      <a:pPr algn="ctr" fontAlgn="ctr"/>
                      <a:r>
                        <a:rPr lang="en-US" sz="1050" b="0" i="0" u="none" strike="noStrike">
                          <a:solidFill>
                            <a:srgbClr val="000000"/>
                          </a:solidFill>
                          <a:effectLst/>
                          <a:latin typeface="+mn-lt"/>
                        </a:rPr>
                        <a:t>10-Feb-15</a:t>
                      </a:r>
                    </a:p>
                  </a:txBody>
                  <a:tcPr marL="0" marR="18288" marT="27432" marB="27432" anchor="ctr"/>
                </a:tc>
                <a:tc>
                  <a:txBody>
                    <a:bodyPr/>
                    <a:lstStyle/>
                    <a:p>
                      <a:pPr algn="ctr" fontAlgn="ctr"/>
                      <a:endParaRPr lang="en-US" sz="1050" b="0" i="0" u="none" strike="noStrike" dirty="0">
                        <a:solidFill>
                          <a:srgbClr val="000000"/>
                        </a:solidFill>
                        <a:effectLst/>
                        <a:latin typeface="+mn-lt"/>
                      </a:endParaRPr>
                    </a:p>
                  </a:txBody>
                  <a:tcPr marL="0" marR="18288" marT="27432" marB="27432" anchor="ctr"/>
                </a:tc>
                <a:tc>
                  <a:txBody>
                    <a:bodyPr/>
                    <a:lstStyle/>
                    <a:p>
                      <a:pPr algn="ctr" fontAlgn="ctr"/>
                      <a:endParaRPr lang="en-US" sz="1050" b="0" i="0" u="none" strike="noStrike">
                        <a:solidFill>
                          <a:srgbClr val="000000"/>
                        </a:solidFill>
                        <a:effectLst/>
                        <a:latin typeface="+mn-lt"/>
                      </a:endParaRPr>
                    </a:p>
                  </a:txBody>
                  <a:tcPr marL="0" marR="18288" marT="27432" marB="27432" anchor="ctr"/>
                </a:tc>
                <a:tc>
                  <a:txBody>
                    <a:bodyPr/>
                    <a:lstStyle/>
                    <a:p>
                      <a:pPr algn="ctr" fontAlgn="ctr"/>
                      <a:endParaRPr lang="en-US" sz="1050" b="1" i="0" u="none" strike="noStrike" dirty="0">
                        <a:solidFill>
                          <a:srgbClr val="000000"/>
                        </a:solidFill>
                        <a:effectLst/>
                        <a:latin typeface="+mn-lt"/>
                      </a:endParaRPr>
                    </a:p>
                  </a:txBody>
                  <a:tcPr marL="0" marR="18288" marT="27432" marB="27432" anchor="ctr"/>
                </a:tc>
                <a:tc>
                  <a:txBody>
                    <a:bodyPr/>
                    <a:lstStyle/>
                    <a:p>
                      <a:pPr algn="ctr" fontAlgn="ctr"/>
                      <a:endParaRPr lang="en-US" sz="1050" b="0" i="0" u="none" strike="noStrike" dirty="0">
                        <a:solidFill>
                          <a:srgbClr val="000000"/>
                        </a:solidFill>
                        <a:effectLst/>
                        <a:latin typeface="+mn-lt"/>
                      </a:endParaRPr>
                    </a:p>
                  </a:txBody>
                  <a:tcPr marL="0" marR="18288" marT="27432" marB="27432" anchor="ctr"/>
                </a:tc>
                <a:extLst>
                  <a:ext uri="{0D108BD9-81ED-4DB2-BD59-A6C34878D82A}">
                    <a16:rowId xmlns:a16="http://schemas.microsoft.com/office/drawing/2014/main" val="2504034747"/>
                  </a:ext>
                </a:extLst>
              </a:tr>
              <a:tr h="1353385">
                <a:tc>
                  <a:txBody>
                    <a:bodyPr/>
                    <a:lstStyle/>
                    <a:p>
                      <a:pPr algn="l" fontAlgn="ctr"/>
                      <a:r>
                        <a:rPr lang="en-US" sz="1050" b="1" i="0" u="none" strike="noStrike" dirty="0">
                          <a:solidFill>
                            <a:srgbClr val="000000"/>
                          </a:solidFill>
                          <a:effectLst/>
                          <a:latin typeface="+mn-lt"/>
                        </a:rPr>
                        <a:t>Installation of switchable reactor &amp; shunt capacitor for</a:t>
                      </a:r>
                    </a:p>
                    <a:p>
                      <a:pPr algn="l" fontAlgn="ctr"/>
                      <a:r>
                        <a:rPr lang="en-US" sz="1050" b="1" i="0" u="none" strike="noStrike" dirty="0">
                          <a:solidFill>
                            <a:srgbClr val="000000"/>
                          </a:solidFill>
                          <a:effectLst/>
                          <a:latin typeface="+mn-lt"/>
                        </a:rPr>
                        <a:t>voltage improvement. (88) </a:t>
                      </a:r>
                    </a:p>
                  </a:txBody>
                  <a:tcPr marR="18288" marT="27432" marB="27432" anchor="ctr">
                    <a:solidFill>
                      <a:schemeClr val="bg2"/>
                    </a:solidFill>
                  </a:tcPr>
                </a:tc>
                <a:tc>
                  <a:txBody>
                    <a:bodyPr/>
                    <a:lstStyle/>
                    <a:p>
                      <a:pPr algn="ctr" fontAlgn="ctr"/>
                      <a:r>
                        <a:rPr lang="en-US" sz="1050" b="0" i="0" u="none" strike="noStrike">
                          <a:solidFill>
                            <a:srgbClr val="000000"/>
                          </a:solidFill>
                          <a:effectLst/>
                          <a:latin typeface="+mn-lt"/>
                        </a:rPr>
                        <a:t>3-Feb-16</a:t>
                      </a:r>
                    </a:p>
                  </a:txBody>
                  <a:tcPr marL="0" marR="18288" marT="27432" marB="27432" anchor="ctr"/>
                </a:tc>
                <a:tc>
                  <a:txBody>
                    <a:bodyPr/>
                    <a:lstStyle/>
                    <a:p>
                      <a:pPr algn="ctr" fontAlgn="ctr"/>
                      <a:r>
                        <a:rPr lang="en-US" sz="1050" b="0" i="0" u="none" strike="noStrike">
                          <a:solidFill>
                            <a:srgbClr val="000000"/>
                          </a:solidFill>
                          <a:effectLst/>
                          <a:latin typeface="+mn-lt"/>
                        </a:rPr>
                        <a:t>48.45</a:t>
                      </a:r>
                    </a:p>
                  </a:txBody>
                  <a:tcPr marL="0" marR="18288" marT="27432" marB="27432" anchor="ctr"/>
                </a:tc>
                <a:tc>
                  <a:txBody>
                    <a:bodyPr/>
                    <a:lstStyle/>
                    <a:p>
                      <a:pPr algn="ctr" fontAlgn="ctr"/>
                      <a:r>
                        <a:rPr lang="en-US" sz="1050" b="0" i="0" u="none" strike="noStrike">
                          <a:solidFill>
                            <a:srgbClr val="000000"/>
                          </a:solidFill>
                          <a:effectLst/>
                          <a:latin typeface="+mn-lt"/>
                        </a:rPr>
                        <a:t>8-Jan-16</a:t>
                      </a:r>
                    </a:p>
                  </a:txBody>
                  <a:tcPr marL="0" marR="18288" marT="27432" marB="27432" anchor="ctr"/>
                </a:tc>
                <a:tc>
                  <a:txBody>
                    <a:bodyPr/>
                    <a:lstStyle/>
                    <a:p>
                      <a:pPr algn="ctr" fontAlgn="ctr"/>
                      <a:r>
                        <a:rPr lang="en-US" sz="1050" b="0" i="0" u="none" strike="noStrike" dirty="0">
                          <a:solidFill>
                            <a:srgbClr val="000000"/>
                          </a:solidFill>
                          <a:effectLst/>
                          <a:latin typeface="+mn-lt"/>
                        </a:rPr>
                        <a:t>17-Apr-17</a:t>
                      </a:r>
                    </a:p>
                  </a:txBody>
                  <a:tcPr marL="0" marR="18288" marT="27432" marB="27432" anchor="ctr"/>
                </a:tc>
                <a:tc>
                  <a:txBody>
                    <a:bodyPr/>
                    <a:lstStyle/>
                    <a:p>
                      <a:pPr algn="ctr" fontAlgn="ctr"/>
                      <a:r>
                        <a:rPr lang="en-US" sz="1050" b="0" i="0" u="none" strike="noStrike" dirty="0">
                          <a:solidFill>
                            <a:srgbClr val="000000"/>
                          </a:solidFill>
                          <a:effectLst/>
                          <a:latin typeface="+mn-lt"/>
                        </a:rPr>
                        <a:t>48.19</a:t>
                      </a:r>
                    </a:p>
                  </a:txBody>
                  <a:tcPr marL="0" marR="18288" marT="27432" marB="27432" anchor="ctr"/>
                </a:tc>
                <a:tc>
                  <a:txBody>
                    <a:bodyPr/>
                    <a:lstStyle/>
                    <a:p>
                      <a:pPr algn="ctr" fontAlgn="ctr"/>
                      <a:r>
                        <a:rPr lang="en-US" sz="1050" b="0" i="0" u="none" strike="noStrike">
                          <a:solidFill>
                            <a:srgbClr val="000000"/>
                          </a:solidFill>
                          <a:effectLst/>
                          <a:latin typeface="+mn-lt"/>
                        </a:rPr>
                        <a:t>15-May-17</a:t>
                      </a:r>
                    </a:p>
                  </a:txBody>
                  <a:tcPr marL="0" marR="18288" marT="27432" marB="27432" anchor="ctr"/>
                </a:tc>
                <a:tc>
                  <a:txBody>
                    <a:bodyPr/>
                    <a:lstStyle/>
                    <a:p>
                      <a:pPr algn="ctr" fontAlgn="ctr"/>
                      <a:r>
                        <a:rPr lang="en-US" sz="1050" b="0" i="0" u="none" strike="noStrike" dirty="0">
                          <a:solidFill>
                            <a:srgbClr val="000000"/>
                          </a:solidFill>
                          <a:effectLst/>
                          <a:latin typeface="+mn-lt"/>
                        </a:rPr>
                        <a:t>43.37</a:t>
                      </a:r>
                    </a:p>
                  </a:txBody>
                  <a:tcPr marL="0" marR="18288" marT="27432" marB="27432" anchor="ctr"/>
                </a:tc>
                <a:tc>
                  <a:txBody>
                    <a:bodyPr/>
                    <a:lstStyle/>
                    <a:p>
                      <a:pPr algn="ctr" fontAlgn="ctr"/>
                      <a:r>
                        <a:rPr lang="en-US" sz="1050" b="0" i="0" u="none" strike="noStrike">
                          <a:solidFill>
                            <a:srgbClr val="000000"/>
                          </a:solidFill>
                          <a:effectLst/>
                          <a:latin typeface="+mn-lt"/>
                        </a:rPr>
                        <a:t>1-May-17</a:t>
                      </a:r>
                    </a:p>
                  </a:txBody>
                  <a:tcPr marL="0" marR="18288" marT="27432" marB="27432" anchor="ctr"/>
                </a:tc>
                <a:tc>
                  <a:txBody>
                    <a:bodyPr/>
                    <a:lstStyle/>
                    <a:p>
                      <a:pPr algn="ctr" fontAlgn="ctr"/>
                      <a:r>
                        <a:rPr lang="en-US" sz="1050" b="0" i="0" u="none" strike="noStrike" dirty="0">
                          <a:solidFill>
                            <a:srgbClr val="000000"/>
                          </a:solidFill>
                          <a:effectLst/>
                          <a:latin typeface="+mn-lt"/>
                        </a:rPr>
                        <a:t>22-May-17</a:t>
                      </a:r>
                    </a:p>
                  </a:txBody>
                  <a:tcPr marL="0" marR="18288" marT="27432" marB="27432" anchor="ctr"/>
                </a:tc>
                <a:tc>
                  <a:txBody>
                    <a:bodyPr/>
                    <a:lstStyle/>
                    <a:p>
                      <a:pPr algn="ctr" fontAlgn="ctr"/>
                      <a:r>
                        <a:rPr lang="en-US" sz="1050" b="0" i="0" u="none" strike="noStrike">
                          <a:solidFill>
                            <a:srgbClr val="000000"/>
                          </a:solidFill>
                          <a:effectLst/>
                          <a:latin typeface="+mn-lt"/>
                        </a:rPr>
                        <a:t>10-Aug-17</a:t>
                      </a:r>
                    </a:p>
                  </a:txBody>
                  <a:tcPr marL="0" marR="18288" marT="27432" marB="27432" anchor="ctr"/>
                </a:tc>
                <a:tc>
                  <a:txBody>
                    <a:bodyPr/>
                    <a:lstStyle/>
                    <a:p>
                      <a:pPr marL="0" marR="0" lvl="0" indent="0" algn="ctr" defTabSz="1219231" rtl="0" eaLnBrk="1" fontAlgn="ctr" latinLnBrk="0" hangingPunct="1">
                        <a:lnSpc>
                          <a:spcPct val="100000"/>
                        </a:lnSpc>
                        <a:spcBef>
                          <a:spcPts val="0"/>
                        </a:spcBef>
                        <a:spcAft>
                          <a:spcPts val="0"/>
                        </a:spcAft>
                        <a:buClrTx/>
                        <a:buSzTx/>
                        <a:buFontTx/>
                        <a:buNone/>
                        <a:tabLst/>
                        <a:defRPr/>
                      </a:pPr>
                      <a:r>
                        <a:rPr lang="en-US" sz="1050" b="0" i="0" u="none" strike="noStrike" dirty="0">
                          <a:solidFill>
                            <a:srgbClr val="000000"/>
                          </a:solidFill>
                          <a:effectLst/>
                          <a:latin typeface="+mn-lt"/>
                        </a:rPr>
                        <a:t>22-Jan-20 </a:t>
                      </a:r>
                    </a:p>
                    <a:p>
                      <a:pPr algn="ctr" fontAlgn="ctr"/>
                      <a:endParaRPr lang="en-US" sz="1050" b="0" i="0" u="none" strike="noStrike" dirty="0">
                        <a:solidFill>
                          <a:srgbClr val="000000"/>
                        </a:solidFill>
                        <a:effectLst/>
                        <a:latin typeface="+mn-lt"/>
                      </a:endParaRPr>
                    </a:p>
                  </a:txBody>
                  <a:tcPr marL="0" marR="18288" marT="27432" marB="27432" anchor="ctr"/>
                </a:tc>
                <a:tc>
                  <a:txBody>
                    <a:bodyPr/>
                    <a:lstStyle/>
                    <a:p>
                      <a:pPr algn="ctr" fontAlgn="ctr"/>
                      <a:r>
                        <a:rPr lang="en-US" sz="1050" b="0" i="0" u="none" strike="noStrike" dirty="0">
                          <a:solidFill>
                            <a:srgbClr val="000000"/>
                          </a:solidFill>
                          <a:effectLst/>
                          <a:latin typeface="+mn-lt"/>
                        </a:rPr>
                        <a:t>33.07</a:t>
                      </a:r>
                    </a:p>
                  </a:txBody>
                  <a:tcPr marL="0" marR="18288" marT="27432" marB="27432" anchor="ctr"/>
                </a:tc>
                <a:tc>
                  <a:txBody>
                    <a:bodyPr/>
                    <a:lstStyle/>
                    <a:p>
                      <a:pPr algn="ctr" fontAlgn="ctr"/>
                      <a:r>
                        <a:rPr lang="en-US" sz="1050" b="0" i="0" u="none" strike="noStrike" dirty="0">
                          <a:solidFill>
                            <a:srgbClr val="000000"/>
                          </a:solidFill>
                          <a:effectLst/>
                          <a:latin typeface="+mn-lt"/>
                        </a:rPr>
                        <a:t>40.83</a:t>
                      </a:r>
                    </a:p>
                  </a:txBody>
                  <a:tcPr marL="0" marR="18288" marT="27432" marB="27432" anchor="ctr"/>
                </a:tc>
                <a:tc>
                  <a:txBody>
                    <a:bodyPr/>
                    <a:lstStyle/>
                    <a:p>
                      <a:pPr algn="ctr" fontAlgn="ctr"/>
                      <a:r>
                        <a:rPr lang="en-US" sz="1050" b="0" i="0" u="none" strike="noStrike" dirty="0">
                          <a:solidFill>
                            <a:srgbClr val="000000"/>
                          </a:solidFill>
                          <a:effectLst/>
                          <a:latin typeface="+mn-lt"/>
                        </a:rPr>
                        <a:t>90% grant availed on award cost.</a:t>
                      </a:r>
                    </a:p>
                    <a:p>
                      <a:pPr algn="ctr" fontAlgn="ctr"/>
                      <a:r>
                        <a:rPr lang="en-US" sz="1050" b="0" i="0" u="none" strike="noStrike" dirty="0">
                          <a:solidFill>
                            <a:srgbClr val="000000"/>
                          </a:solidFill>
                          <a:effectLst/>
                          <a:latin typeface="+mn-lt"/>
                        </a:rPr>
                        <a:t>Will get completed by Oct'21</a:t>
                      </a:r>
                    </a:p>
                    <a:p>
                      <a:pPr algn="ctr" fontAlgn="ctr"/>
                      <a:endParaRPr lang="en-US" sz="1050" b="0" i="0" u="none" strike="noStrike" dirty="0">
                        <a:solidFill>
                          <a:srgbClr val="000000"/>
                        </a:solidFill>
                        <a:effectLst/>
                        <a:latin typeface="+mn-lt"/>
                      </a:endParaRPr>
                    </a:p>
                  </a:txBody>
                  <a:tcPr marL="0" marR="18288" marT="27432" marB="27432" anchor="ctr"/>
                </a:tc>
                <a:extLst>
                  <a:ext uri="{0D108BD9-81ED-4DB2-BD59-A6C34878D82A}">
                    <a16:rowId xmlns:a16="http://schemas.microsoft.com/office/drawing/2014/main" val="2922486789"/>
                  </a:ext>
                </a:extLst>
              </a:tr>
              <a:tr h="1169072">
                <a:tc>
                  <a:txBody>
                    <a:bodyPr/>
                    <a:lstStyle/>
                    <a:p>
                      <a:pPr algn="l" fontAlgn="ctr"/>
                      <a:r>
                        <a:rPr lang="en-US" sz="1050" b="1" i="0" u="none" strike="noStrike" dirty="0">
                          <a:solidFill>
                            <a:srgbClr val="000000"/>
                          </a:solidFill>
                          <a:effectLst/>
                          <a:latin typeface="+mn-lt"/>
                        </a:rPr>
                        <a:t>Renovation &amp; Modernization of Transmission System(087)</a:t>
                      </a:r>
                    </a:p>
                  </a:txBody>
                  <a:tcPr marR="18288" marT="27432" marB="27432" anchor="ctr">
                    <a:solidFill>
                      <a:schemeClr val="bg2"/>
                    </a:solidFill>
                  </a:tcPr>
                </a:tc>
                <a:tc>
                  <a:txBody>
                    <a:bodyPr/>
                    <a:lstStyle/>
                    <a:p>
                      <a:pPr algn="ctr" fontAlgn="ctr"/>
                      <a:r>
                        <a:rPr lang="en-US" sz="1050" b="0" i="0" u="none" strike="noStrike">
                          <a:solidFill>
                            <a:srgbClr val="000000"/>
                          </a:solidFill>
                          <a:effectLst/>
                          <a:latin typeface="+mn-lt"/>
                        </a:rPr>
                        <a:t>3-Feb-16</a:t>
                      </a:r>
                    </a:p>
                  </a:txBody>
                  <a:tcPr marL="0" marR="18288" marT="27432" marB="27432" anchor="ctr"/>
                </a:tc>
                <a:tc>
                  <a:txBody>
                    <a:bodyPr/>
                    <a:lstStyle/>
                    <a:p>
                      <a:pPr algn="ctr" fontAlgn="ctr"/>
                      <a:r>
                        <a:rPr lang="en-US" sz="1050" b="0" i="0" u="none" strike="noStrike">
                          <a:solidFill>
                            <a:srgbClr val="000000"/>
                          </a:solidFill>
                          <a:effectLst/>
                          <a:latin typeface="+mn-lt"/>
                        </a:rPr>
                        <a:t>72.65</a:t>
                      </a:r>
                    </a:p>
                  </a:txBody>
                  <a:tcPr marL="0" marR="18288" marT="27432" marB="27432" anchor="ctr"/>
                </a:tc>
                <a:tc>
                  <a:txBody>
                    <a:bodyPr/>
                    <a:lstStyle/>
                    <a:p>
                      <a:pPr algn="ctr" fontAlgn="ctr"/>
                      <a:r>
                        <a:rPr lang="en-US" sz="1050" b="0" i="0" u="none" strike="noStrike" dirty="0">
                          <a:solidFill>
                            <a:srgbClr val="000000"/>
                          </a:solidFill>
                          <a:effectLst/>
                          <a:latin typeface="+mn-lt"/>
                        </a:rPr>
                        <a:t>31-Mar-17</a:t>
                      </a:r>
                    </a:p>
                  </a:txBody>
                  <a:tcPr marL="0" marR="18288" marT="27432" marB="27432" anchor="ctr"/>
                </a:tc>
                <a:tc>
                  <a:txBody>
                    <a:bodyPr/>
                    <a:lstStyle/>
                    <a:p>
                      <a:pPr algn="ctr" fontAlgn="ctr"/>
                      <a:r>
                        <a:rPr lang="en-US" sz="1050" b="0" i="0" u="none" strike="noStrike" dirty="0">
                          <a:solidFill>
                            <a:srgbClr val="000000"/>
                          </a:solidFill>
                          <a:effectLst/>
                          <a:latin typeface="+mn-lt"/>
                        </a:rPr>
                        <a:t>17-Apr-17</a:t>
                      </a:r>
                    </a:p>
                  </a:txBody>
                  <a:tcPr marL="0" marR="18288" marT="27432" marB="27432" anchor="ctr"/>
                </a:tc>
                <a:tc>
                  <a:txBody>
                    <a:bodyPr/>
                    <a:lstStyle/>
                    <a:p>
                      <a:pPr algn="ctr" fontAlgn="ctr"/>
                      <a:r>
                        <a:rPr lang="en-US" sz="1050" b="0" i="0" u="none" strike="noStrike" dirty="0">
                          <a:solidFill>
                            <a:srgbClr val="000000"/>
                          </a:solidFill>
                          <a:effectLst/>
                          <a:latin typeface="+mn-lt"/>
                        </a:rPr>
                        <a:t>93.51</a:t>
                      </a:r>
                    </a:p>
                  </a:txBody>
                  <a:tcPr marL="0" marR="18288" marT="27432" marB="27432" anchor="ctr"/>
                </a:tc>
                <a:tc>
                  <a:txBody>
                    <a:bodyPr/>
                    <a:lstStyle/>
                    <a:p>
                      <a:pPr algn="ctr" fontAlgn="ctr"/>
                      <a:r>
                        <a:rPr lang="en-US" sz="1050" b="0" i="0" u="none" strike="noStrike" dirty="0">
                          <a:solidFill>
                            <a:srgbClr val="000000"/>
                          </a:solidFill>
                          <a:effectLst/>
                          <a:latin typeface="+mn-lt"/>
                        </a:rPr>
                        <a:t>15-May-17</a:t>
                      </a:r>
                    </a:p>
                  </a:txBody>
                  <a:tcPr marL="0" marR="18288" marT="27432" marB="27432" anchor="ctr"/>
                </a:tc>
                <a:tc>
                  <a:txBody>
                    <a:bodyPr/>
                    <a:lstStyle/>
                    <a:p>
                      <a:pPr algn="ctr" fontAlgn="ctr"/>
                      <a:r>
                        <a:rPr lang="en-US" sz="1050" b="0" i="0" u="none" strike="noStrike" dirty="0">
                          <a:solidFill>
                            <a:srgbClr val="000000"/>
                          </a:solidFill>
                          <a:effectLst/>
                          <a:latin typeface="+mn-lt"/>
                        </a:rPr>
                        <a:t>70.13</a:t>
                      </a:r>
                    </a:p>
                  </a:txBody>
                  <a:tcPr marL="0" marR="18288" marT="27432" marB="27432" anchor="ctr"/>
                </a:tc>
                <a:tc>
                  <a:txBody>
                    <a:bodyPr/>
                    <a:lstStyle/>
                    <a:p>
                      <a:pPr algn="ctr" fontAlgn="ctr"/>
                      <a:r>
                        <a:rPr lang="en-US" sz="1050" b="0" i="0" u="none" strike="noStrike" dirty="0">
                          <a:solidFill>
                            <a:srgbClr val="000000"/>
                          </a:solidFill>
                          <a:effectLst/>
                          <a:latin typeface="+mn-lt"/>
                        </a:rPr>
                        <a:t>1-May-17</a:t>
                      </a:r>
                    </a:p>
                  </a:txBody>
                  <a:tcPr marL="0" marR="18288" marT="27432" marB="27432" anchor="ctr"/>
                </a:tc>
                <a:tc>
                  <a:txBody>
                    <a:bodyPr/>
                    <a:lstStyle/>
                    <a:p>
                      <a:pPr algn="ctr" fontAlgn="ctr"/>
                      <a:r>
                        <a:rPr lang="en-US" sz="1050" b="0" i="0" u="none" strike="noStrike" dirty="0">
                          <a:solidFill>
                            <a:srgbClr val="000000"/>
                          </a:solidFill>
                          <a:effectLst/>
                          <a:latin typeface="+mn-lt"/>
                        </a:rPr>
                        <a:t>22-May-17</a:t>
                      </a:r>
                    </a:p>
                  </a:txBody>
                  <a:tcPr marL="0" marR="18288" marT="27432" marB="27432" anchor="ctr"/>
                </a:tc>
                <a:tc>
                  <a:txBody>
                    <a:bodyPr/>
                    <a:lstStyle/>
                    <a:p>
                      <a:pPr algn="ctr" fontAlgn="ctr"/>
                      <a:r>
                        <a:rPr lang="en-US" sz="1050" b="0" i="0" u="none" strike="noStrike" dirty="0">
                          <a:solidFill>
                            <a:srgbClr val="000000"/>
                          </a:solidFill>
                          <a:effectLst/>
                          <a:latin typeface="+mn-lt"/>
                        </a:rPr>
                        <a:t>10-Aug-17</a:t>
                      </a:r>
                    </a:p>
                  </a:txBody>
                  <a:tcPr marL="0" marR="18288" marT="27432" marB="27432" anchor="ctr"/>
                </a:tc>
                <a:tc>
                  <a:txBody>
                    <a:bodyPr/>
                    <a:lstStyle/>
                    <a:p>
                      <a:pPr algn="ctr" fontAlgn="ctr"/>
                      <a:r>
                        <a:rPr lang="en-US" sz="1050" b="0" i="0" u="none" strike="noStrike" dirty="0">
                          <a:solidFill>
                            <a:srgbClr val="000000"/>
                          </a:solidFill>
                          <a:effectLst/>
                          <a:latin typeface="+mn-lt"/>
                        </a:rPr>
                        <a:t>25-Jul-20 </a:t>
                      </a:r>
                    </a:p>
                  </a:txBody>
                  <a:tcPr marL="0" marR="18288" marT="27432" marB="27432" anchor="ctr"/>
                </a:tc>
                <a:tc>
                  <a:txBody>
                    <a:bodyPr/>
                    <a:lstStyle/>
                    <a:p>
                      <a:pPr algn="ctr" fontAlgn="ctr"/>
                      <a:r>
                        <a:rPr lang="en-US" sz="1050" b="0" i="0" u="none" strike="noStrike" dirty="0">
                          <a:solidFill>
                            <a:srgbClr val="000000"/>
                          </a:solidFill>
                          <a:effectLst/>
                          <a:latin typeface="+mn-lt"/>
                        </a:rPr>
                        <a:t>63.12</a:t>
                      </a:r>
                    </a:p>
                  </a:txBody>
                  <a:tcPr marL="0" marR="18288" marT="27432" marB="27432" anchor="ctr"/>
                </a:tc>
                <a:tc>
                  <a:txBody>
                    <a:bodyPr/>
                    <a:lstStyle/>
                    <a:p>
                      <a:pPr algn="ctr" fontAlgn="ctr"/>
                      <a:r>
                        <a:rPr lang="en-US" sz="1050" b="0" i="0" u="none" strike="noStrike" dirty="0">
                          <a:solidFill>
                            <a:srgbClr val="000000"/>
                          </a:solidFill>
                          <a:effectLst/>
                          <a:latin typeface="+mn-lt"/>
                        </a:rPr>
                        <a:t>96.44</a:t>
                      </a:r>
                    </a:p>
                  </a:txBody>
                  <a:tcPr marL="0" marR="18288" marT="27432" marB="27432" anchor="ctr"/>
                </a:tc>
                <a:tc>
                  <a:txBody>
                    <a:bodyPr/>
                    <a:lstStyle/>
                    <a:p>
                      <a:pPr algn="ctr" fontAlgn="ctr"/>
                      <a:r>
                        <a:rPr lang="en-US" sz="1050" b="0" i="0" u="none" strike="noStrike" dirty="0">
                          <a:solidFill>
                            <a:srgbClr val="000000"/>
                          </a:solidFill>
                          <a:effectLst/>
                          <a:latin typeface="+mn-lt"/>
                        </a:rPr>
                        <a:t>90% grant availed on award cost.</a:t>
                      </a:r>
                    </a:p>
                    <a:p>
                      <a:pPr algn="ctr" fontAlgn="ctr"/>
                      <a:r>
                        <a:rPr lang="en-US" sz="1050" b="0" i="0" u="none" strike="noStrike" dirty="0">
                          <a:solidFill>
                            <a:srgbClr val="000000"/>
                          </a:solidFill>
                          <a:effectLst/>
                          <a:latin typeface="+mn-lt"/>
                        </a:rPr>
                        <a:t>Will get completed by Mar'22</a:t>
                      </a:r>
                    </a:p>
                  </a:txBody>
                  <a:tcPr marL="0" marR="18288" marT="27432" marB="27432" anchor="ctr"/>
                </a:tc>
                <a:extLst>
                  <a:ext uri="{0D108BD9-81ED-4DB2-BD59-A6C34878D82A}">
                    <a16:rowId xmlns:a16="http://schemas.microsoft.com/office/drawing/2014/main" val="2436252833"/>
                  </a:ext>
                </a:extLst>
              </a:tr>
            </a:tbl>
          </a:graphicData>
        </a:graphic>
      </p:graphicFrame>
    </p:spTree>
    <p:extLst>
      <p:ext uri="{BB962C8B-B14F-4D97-AF65-F5344CB8AC3E}">
        <p14:creationId xmlns:p14="http://schemas.microsoft.com/office/powerpoint/2010/main" val="33524680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501650" y="228827"/>
            <a:ext cx="11188700" cy="370900"/>
          </a:xfrm>
        </p:spPr>
        <p:txBody>
          <a:bodyPr vert="horz"/>
          <a:lstStyle/>
          <a:p>
            <a:pPr algn="just"/>
            <a:r>
              <a:rPr lang="en-US" sz="1800" i="0" dirty="0">
                <a:solidFill>
                  <a:schemeClr val="tx1"/>
                </a:solidFill>
              </a:rPr>
              <a:t>Summary Status of the PSDF as on 26.05.2022 for WBSETCL (2/2)  </a:t>
            </a:r>
          </a:p>
        </p:txBody>
      </p:sp>
      <p:sp>
        <p:nvSpPr>
          <p:cNvPr id="29" name="TextBox 28">
            <a:extLst>
              <a:ext uri="{FF2B5EF4-FFF2-40B4-BE49-F238E27FC236}">
                <a16:creationId xmlns:a16="http://schemas.microsoft.com/office/drawing/2014/main" id="{4508A2A1-1AD6-47E0-B542-A6C5A24935D3}"/>
              </a:ext>
            </a:extLst>
          </p:cNvPr>
          <p:cNvSpPr txBox="1"/>
          <p:nvPr/>
        </p:nvSpPr>
        <p:spPr>
          <a:xfrm>
            <a:off x="2929225" y="6580709"/>
            <a:ext cx="6879086" cy="221599"/>
          </a:xfrm>
          <a:prstGeom prst="rect">
            <a:avLst/>
          </a:prstGeom>
          <a:noFill/>
        </p:spPr>
        <p:txBody>
          <a:bodyPr wrap="square" tIns="18288" bIns="18288">
            <a:spAutoFit/>
          </a:bodyPr>
          <a:lstStyle/>
          <a:p>
            <a:r>
              <a:rPr lang="en-US" sz="1200" b="1" dirty="0">
                <a:latin typeface="Calibri" panose="020F0502020204030204" pitchFamily="34" charset="0"/>
                <a:cs typeface="Calibri" panose="020F0502020204030204" pitchFamily="34" charset="0"/>
              </a:rPr>
              <a:t>Source : PSDF Website and http://erpc.gov.in/wp-content/uploads/2022/05/191st-OCC-Minutes.pdf </a:t>
            </a:r>
            <a:endParaRPr lang="en-US" sz="1200" dirty="0">
              <a:latin typeface="Calibri" panose="020F0502020204030204" pitchFamily="34" charset="0"/>
              <a:cs typeface="Calibri" panose="020F0502020204030204" pitchFamily="34" charset="0"/>
            </a:endParaRPr>
          </a:p>
        </p:txBody>
      </p:sp>
      <p:graphicFrame>
        <p:nvGraphicFramePr>
          <p:cNvPr id="2" name="Table 2">
            <a:extLst>
              <a:ext uri="{FF2B5EF4-FFF2-40B4-BE49-F238E27FC236}">
                <a16:creationId xmlns:a16="http://schemas.microsoft.com/office/drawing/2014/main" id="{7F1C9902-CF3F-462A-BC47-AA1ABAB1445C}"/>
              </a:ext>
            </a:extLst>
          </p:cNvPr>
          <p:cNvGraphicFramePr>
            <a:graphicFrameLocks noGrp="1"/>
          </p:cNvGraphicFramePr>
          <p:nvPr>
            <p:extLst>
              <p:ext uri="{D42A27DB-BD31-4B8C-83A1-F6EECF244321}">
                <p14:modId xmlns:p14="http://schemas.microsoft.com/office/powerpoint/2010/main" val="297235796"/>
              </p:ext>
            </p:extLst>
          </p:nvPr>
        </p:nvGraphicFramePr>
        <p:xfrm>
          <a:off x="501650" y="565143"/>
          <a:ext cx="11527069" cy="5647767"/>
        </p:xfrm>
        <a:graphic>
          <a:graphicData uri="http://schemas.openxmlformats.org/drawingml/2006/table">
            <a:tbl>
              <a:tblPr firstRow="1" bandRow="1">
                <a:tableStyleId>{5C22544A-7EE6-4342-B048-85BDC9FD1C3A}</a:tableStyleId>
              </a:tblPr>
              <a:tblGrid>
                <a:gridCol w="1870489">
                  <a:extLst>
                    <a:ext uri="{9D8B030D-6E8A-4147-A177-3AD203B41FA5}">
                      <a16:colId xmlns:a16="http://schemas.microsoft.com/office/drawing/2014/main" val="4020663227"/>
                    </a:ext>
                  </a:extLst>
                </a:gridCol>
                <a:gridCol w="490331">
                  <a:extLst>
                    <a:ext uri="{9D8B030D-6E8A-4147-A177-3AD203B41FA5}">
                      <a16:colId xmlns:a16="http://schemas.microsoft.com/office/drawing/2014/main" val="1907190136"/>
                    </a:ext>
                  </a:extLst>
                </a:gridCol>
                <a:gridCol w="410817">
                  <a:extLst>
                    <a:ext uri="{9D8B030D-6E8A-4147-A177-3AD203B41FA5}">
                      <a16:colId xmlns:a16="http://schemas.microsoft.com/office/drawing/2014/main" val="1679584038"/>
                    </a:ext>
                  </a:extLst>
                </a:gridCol>
                <a:gridCol w="503583">
                  <a:extLst>
                    <a:ext uri="{9D8B030D-6E8A-4147-A177-3AD203B41FA5}">
                      <a16:colId xmlns:a16="http://schemas.microsoft.com/office/drawing/2014/main" val="908098360"/>
                    </a:ext>
                  </a:extLst>
                </a:gridCol>
                <a:gridCol w="622852">
                  <a:extLst>
                    <a:ext uri="{9D8B030D-6E8A-4147-A177-3AD203B41FA5}">
                      <a16:colId xmlns:a16="http://schemas.microsoft.com/office/drawing/2014/main" val="2696321522"/>
                    </a:ext>
                  </a:extLst>
                </a:gridCol>
                <a:gridCol w="662608">
                  <a:extLst>
                    <a:ext uri="{9D8B030D-6E8A-4147-A177-3AD203B41FA5}">
                      <a16:colId xmlns:a16="http://schemas.microsoft.com/office/drawing/2014/main" val="1557936423"/>
                    </a:ext>
                  </a:extLst>
                </a:gridCol>
                <a:gridCol w="463827">
                  <a:extLst>
                    <a:ext uri="{9D8B030D-6E8A-4147-A177-3AD203B41FA5}">
                      <a16:colId xmlns:a16="http://schemas.microsoft.com/office/drawing/2014/main" val="3347166959"/>
                    </a:ext>
                  </a:extLst>
                </a:gridCol>
                <a:gridCol w="636104">
                  <a:extLst>
                    <a:ext uri="{9D8B030D-6E8A-4147-A177-3AD203B41FA5}">
                      <a16:colId xmlns:a16="http://schemas.microsoft.com/office/drawing/2014/main" val="1682447633"/>
                    </a:ext>
                  </a:extLst>
                </a:gridCol>
                <a:gridCol w="583096">
                  <a:extLst>
                    <a:ext uri="{9D8B030D-6E8A-4147-A177-3AD203B41FA5}">
                      <a16:colId xmlns:a16="http://schemas.microsoft.com/office/drawing/2014/main" val="1606165489"/>
                    </a:ext>
                  </a:extLst>
                </a:gridCol>
                <a:gridCol w="767551">
                  <a:extLst>
                    <a:ext uri="{9D8B030D-6E8A-4147-A177-3AD203B41FA5}">
                      <a16:colId xmlns:a16="http://schemas.microsoft.com/office/drawing/2014/main" val="2291000018"/>
                    </a:ext>
                  </a:extLst>
                </a:gridCol>
                <a:gridCol w="704335">
                  <a:extLst>
                    <a:ext uri="{9D8B030D-6E8A-4147-A177-3AD203B41FA5}">
                      <a16:colId xmlns:a16="http://schemas.microsoft.com/office/drawing/2014/main" val="991252820"/>
                    </a:ext>
                  </a:extLst>
                </a:gridCol>
                <a:gridCol w="926757">
                  <a:extLst>
                    <a:ext uri="{9D8B030D-6E8A-4147-A177-3AD203B41FA5}">
                      <a16:colId xmlns:a16="http://schemas.microsoft.com/office/drawing/2014/main" val="1710348756"/>
                    </a:ext>
                  </a:extLst>
                </a:gridCol>
                <a:gridCol w="593124">
                  <a:extLst>
                    <a:ext uri="{9D8B030D-6E8A-4147-A177-3AD203B41FA5}">
                      <a16:colId xmlns:a16="http://schemas.microsoft.com/office/drawing/2014/main" val="4072271360"/>
                    </a:ext>
                  </a:extLst>
                </a:gridCol>
                <a:gridCol w="790833">
                  <a:extLst>
                    <a:ext uri="{9D8B030D-6E8A-4147-A177-3AD203B41FA5}">
                      <a16:colId xmlns:a16="http://schemas.microsoft.com/office/drawing/2014/main" val="3325604657"/>
                    </a:ext>
                  </a:extLst>
                </a:gridCol>
                <a:gridCol w="1500762">
                  <a:extLst>
                    <a:ext uri="{9D8B030D-6E8A-4147-A177-3AD203B41FA5}">
                      <a16:colId xmlns:a16="http://schemas.microsoft.com/office/drawing/2014/main" val="4079613127"/>
                    </a:ext>
                  </a:extLst>
                </a:gridCol>
              </a:tblGrid>
              <a:tr h="1742350">
                <a:tc>
                  <a:txBody>
                    <a:bodyPr/>
                    <a:lstStyle/>
                    <a:p>
                      <a:pPr algn="ctr" fontAlgn="ctr"/>
                      <a:r>
                        <a:rPr lang="en-US" sz="1000" b="1" i="0" u="none" strike="noStrike" dirty="0">
                          <a:solidFill>
                            <a:schemeClr val="bg1"/>
                          </a:solidFill>
                          <a:effectLst/>
                          <a:latin typeface="+mn-lt"/>
                          <a:cs typeface="Calibri" panose="020F0502020204030204" pitchFamily="34" charset="0"/>
                        </a:rPr>
                        <a:t>Name of Scheme and Unique ID No</a:t>
                      </a:r>
                    </a:p>
                  </a:txBody>
                  <a:tcPr marL="18288" marR="18288" marT="27432" marB="27432"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Date of Submission of Scheme by Entity</a:t>
                      </a:r>
                    </a:p>
                  </a:txBody>
                  <a:tcPr marL="18288" marR="18288" marT="27432" marB="27432"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Estimated cost by entity</a:t>
                      </a:r>
                    </a:p>
                  </a:txBody>
                  <a:tcPr marL="18288" marR="18288" marT="27432" marB="27432"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Date of Techno- Economic clearance</a:t>
                      </a:r>
                    </a:p>
                  </a:txBody>
                  <a:tcPr marL="18288" marR="18288" marT="27432" marB="27432"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Date of Recommend action by Appraisal Committee </a:t>
                      </a:r>
                    </a:p>
                  </a:txBody>
                  <a:tcPr marL="18288" marR="18288" marT="27432" marB="27432"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Project Cost accepted by Appraisal Committee.</a:t>
                      </a:r>
                    </a:p>
                  </a:txBody>
                  <a:tcPr marL="18288" marR="18288" marT="27432" marB="27432"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Date of Concurrence by CERC.</a:t>
                      </a:r>
                    </a:p>
                  </a:txBody>
                  <a:tcPr marL="18288" marR="18288" marT="27432" marB="27432"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Grant Approved by Monitoring Committee </a:t>
                      </a:r>
                    </a:p>
                  </a:txBody>
                  <a:tcPr marL="18288" marR="18288" marT="27432" marB="27432"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Date of Approval by Monitoring Committee </a:t>
                      </a:r>
                    </a:p>
                  </a:txBody>
                  <a:tcPr marL="18288" marR="18288" marT="27432" marB="27432"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Date of Issuance of sanction order by MoP</a:t>
                      </a:r>
                    </a:p>
                  </a:txBody>
                  <a:tcPr marL="18288" marR="18288" marT="27432" marB="27432"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Date of Signing of Agreement</a:t>
                      </a:r>
                    </a:p>
                  </a:txBody>
                  <a:tcPr marL="18288" marR="18288" marT="27432" marB="27432"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Completion Schedule w.r.t date of 1</a:t>
                      </a:r>
                      <a:r>
                        <a:rPr lang="en-US" sz="1000" b="1" i="0" u="none" strike="noStrike" baseline="30000" dirty="0">
                          <a:solidFill>
                            <a:schemeClr val="bg1"/>
                          </a:solidFill>
                          <a:effectLst/>
                          <a:latin typeface="+mn-lt"/>
                          <a:cs typeface="Calibri" panose="020F0502020204030204" pitchFamily="34" charset="0"/>
                        </a:rPr>
                        <a:t>st</a:t>
                      </a:r>
                      <a:r>
                        <a:rPr lang="en-US" sz="1000" b="1" i="0" u="none" strike="noStrike" dirty="0">
                          <a:solidFill>
                            <a:schemeClr val="bg1"/>
                          </a:solidFill>
                          <a:effectLst/>
                          <a:latin typeface="+mn-lt"/>
                          <a:cs typeface="Calibri" panose="020F0502020204030204" pitchFamily="34" charset="0"/>
                        </a:rPr>
                        <a:t> Instalment</a:t>
                      </a:r>
                    </a:p>
                  </a:txBody>
                  <a:tcPr marL="27432" marR="27432" marT="18288" marB="18288" anchor="ctr">
                    <a:solidFill>
                      <a:srgbClr val="007680"/>
                    </a:solidFill>
                  </a:tcPr>
                </a:tc>
                <a:tc>
                  <a:txBody>
                    <a:bodyPr/>
                    <a:lstStyle/>
                    <a:p>
                      <a:pPr algn="ctr" fontAlgn="ctr"/>
                      <a:r>
                        <a:rPr lang="en-US" sz="1000" dirty="0">
                          <a:solidFill>
                            <a:schemeClr val="bg1"/>
                          </a:solidFill>
                          <a:latin typeface="+mn-lt"/>
                          <a:cs typeface="Calibri" panose="020F0502020204030204" pitchFamily="34" charset="0"/>
                        </a:rPr>
                        <a:t>Grant availed so far</a:t>
                      </a:r>
                      <a:endParaRPr lang="en-US" sz="1000" b="1" i="0" u="none" strike="noStrike" dirty="0">
                        <a:solidFill>
                          <a:schemeClr val="bg1"/>
                        </a:solidFill>
                        <a:effectLst/>
                        <a:latin typeface="+mn-lt"/>
                        <a:cs typeface="Calibri" panose="020F0502020204030204" pitchFamily="34" charset="0"/>
                      </a:endParaRPr>
                    </a:p>
                  </a:txBody>
                  <a:tcPr marL="27432" marR="27432" marT="18288" marB="18288" anchor="ctr">
                    <a:solidFill>
                      <a:srgbClr val="007680"/>
                    </a:solidFill>
                  </a:tcPr>
                </a:tc>
                <a:tc>
                  <a:txBody>
                    <a:bodyPr/>
                    <a:lstStyle/>
                    <a:p>
                      <a:pPr algn="ctr" fontAlgn="ctr"/>
                      <a:r>
                        <a:rPr lang="en-US" sz="1000" dirty="0">
                          <a:solidFill>
                            <a:schemeClr val="bg1"/>
                          </a:solidFill>
                          <a:latin typeface="+mn-lt"/>
                          <a:cs typeface="Calibri" panose="020F0502020204030204" pitchFamily="34" charset="0"/>
                        </a:rPr>
                        <a:t>Total awards amount of placed of till date</a:t>
                      </a:r>
                      <a:endParaRPr lang="en-US" sz="1000" b="1" i="0" u="none" strike="noStrike" dirty="0">
                        <a:solidFill>
                          <a:schemeClr val="bg1"/>
                        </a:solidFill>
                        <a:effectLst/>
                        <a:latin typeface="+mn-lt"/>
                        <a:cs typeface="Calibri" panose="020F0502020204030204" pitchFamily="34" charset="0"/>
                      </a:endParaRPr>
                    </a:p>
                  </a:txBody>
                  <a:tcPr marL="27432" marR="27432" marT="18288" marB="18288" anchor="ctr">
                    <a:solidFill>
                      <a:srgbClr val="007680"/>
                    </a:solidFill>
                  </a:tcPr>
                </a:tc>
                <a:tc>
                  <a:txBody>
                    <a:bodyPr/>
                    <a:lstStyle/>
                    <a:p>
                      <a:pPr algn="ctr" fontAlgn="ctr"/>
                      <a:r>
                        <a:rPr lang="en-US" sz="1000" dirty="0">
                          <a:solidFill>
                            <a:schemeClr val="bg1"/>
                          </a:solidFill>
                          <a:latin typeface="+mn-lt"/>
                          <a:cs typeface="Calibri" panose="020F0502020204030204" pitchFamily="34" charset="0"/>
                        </a:rPr>
                        <a:t>Latest status </a:t>
                      </a:r>
                      <a:endParaRPr lang="en-US" sz="1000" b="1" i="0" u="none" strike="noStrike" dirty="0">
                        <a:solidFill>
                          <a:schemeClr val="bg1"/>
                        </a:solidFill>
                        <a:effectLst/>
                        <a:latin typeface="+mn-lt"/>
                        <a:cs typeface="Calibri" panose="020F0502020204030204" pitchFamily="34" charset="0"/>
                      </a:endParaRPr>
                    </a:p>
                  </a:txBody>
                  <a:tcPr marL="27432" marR="27432" marT="18288" marB="18288" anchor="ctr">
                    <a:solidFill>
                      <a:srgbClr val="007680"/>
                    </a:solidFill>
                  </a:tcPr>
                </a:tc>
                <a:extLst>
                  <a:ext uri="{0D108BD9-81ED-4DB2-BD59-A6C34878D82A}">
                    <a16:rowId xmlns:a16="http://schemas.microsoft.com/office/drawing/2014/main" val="1141627779"/>
                  </a:ext>
                </a:extLst>
              </a:tr>
              <a:tr h="1458136">
                <a:tc>
                  <a:txBody>
                    <a:bodyPr/>
                    <a:lstStyle/>
                    <a:p>
                      <a:pPr algn="l" fontAlgn="ctr"/>
                      <a:r>
                        <a:rPr lang="en-US" sz="1000" b="1" i="0" u="none" strike="noStrike" dirty="0">
                          <a:solidFill>
                            <a:srgbClr val="000000"/>
                          </a:solidFill>
                          <a:effectLst/>
                          <a:latin typeface="+mn-lt"/>
                          <a:cs typeface="Calibri" panose="020F0502020204030204" pitchFamily="34" charset="0"/>
                        </a:rPr>
                        <a:t>Installation of Bus Reactors at different 400kV Substation within the state of West Bengal for reactive power management of the Grid. (210) </a:t>
                      </a:r>
                    </a:p>
                  </a:txBody>
                  <a:tcPr marR="18288" marT="27432" marB="27432" anchor="ctr">
                    <a:solidFill>
                      <a:schemeClr val="bg2">
                        <a:lumMod val="90000"/>
                      </a:schemeClr>
                    </a:solidFill>
                  </a:tcPr>
                </a:tc>
                <a:tc>
                  <a:txBody>
                    <a:bodyPr/>
                    <a:lstStyle/>
                    <a:p>
                      <a:pPr algn="ctr" fontAlgn="ctr"/>
                      <a:r>
                        <a:rPr lang="en-US" sz="1000" b="0" i="0" u="none" strike="noStrike">
                          <a:solidFill>
                            <a:srgbClr val="000000"/>
                          </a:solidFill>
                          <a:effectLst/>
                          <a:latin typeface="+mn-lt"/>
                          <a:cs typeface="Calibri" panose="020F0502020204030204" pitchFamily="34" charset="0"/>
                        </a:rPr>
                        <a:t>12-Mar-18</a:t>
                      </a:r>
                    </a:p>
                  </a:txBody>
                  <a:tcPr marL="18288" marR="18288" marT="27432" marB="27432" anchor="ctr"/>
                </a:tc>
                <a:tc>
                  <a:txBody>
                    <a:bodyPr/>
                    <a:lstStyle/>
                    <a:p>
                      <a:pPr algn="ctr" fontAlgn="ctr"/>
                      <a:r>
                        <a:rPr lang="en-US" sz="1000" b="0" i="0" u="none" strike="noStrike">
                          <a:solidFill>
                            <a:srgbClr val="000000"/>
                          </a:solidFill>
                          <a:effectLst/>
                          <a:latin typeface="+mn-lt"/>
                          <a:cs typeface="Calibri" panose="020F0502020204030204" pitchFamily="34" charset="0"/>
                        </a:rPr>
                        <a:t>79.71</a:t>
                      </a:r>
                    </a:p>
                  </a:txBody>
                  <a:tcPr marL="18288" marR="18288" marT="27432" marB="27432" anchor="ctr"/>
                </a:tc>
                <a:tc>
                  <a:txBody>
                    <a:bodyPr/>
                    <a:lstStyle/>
                    <a:p>
                      <a:pPr algn="ctr" fontAlgn="ctr"/>
                      <a:r>
                        <a:rPr lang="en-US" sz="1000" b="0" i="0" u="none" strike="noStrike">
                          <a:solidFill>
                            <a:srgbClr val="000000"/>
                          </a:solidFill>
                          <a:effectLst/>
                          <a:latin typeface="+mn-lt"/>
                          <a:cs typeface="Calibri" panose="020F0502020204030204" pitchFamily="34" charset="0"/>
                        </a:rPr>
                        <a:t>30-Oct-18</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15-Nov-18</a:t>
                      </a:r>
                    </a:p>
                  </a:txBody>
                  <a:tcPr marL="18288" marR="18288" marT="27432" marB="27432" anchor="ctr"/>
                </a:tc>
                <a:tc>
                  <a:txBody>
                    <a:bodyPr/>
                    <a:lstStyle/>
                    <a:p>
                      <a:pPr algn="ctr" fontAlgn="ctr"/>
                      <a:r>
                        <a:rPr lang="en-US" sz="1000" b="0" i="0" u="none" strike="noStrike">
                          <a:solidFill>
                            <a:srgbClr val="000000"/>
                          </a:solidFill>
                          <a:effectLst/>
                          <a:latin typeface="+mn-lt"/>
                          <a:cs typeface="Calibri" panose="020F0502020204030204" pitchFamily="34" charset="0"/>
                        </a:rPr>
                        <a:t>79.71</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13-Mar-19</a:t>
                      </a:r>
                    </a:p>
                  </a:txBody>
                  <a:tcPr marL="18288" marR="18288" marT="27432" marB="27432" anchor="ctr"/>
                </a:tc>
                <a:tc>
                  <a:txBody>
                    <a:bodyPr/>
                    <a:lstStyle/>
                    <a:p>
                      <a:pPr algn="ctr" fontAlgn="ctr"/>
                      <a:r>
                        <a:rPr lang="en-US" sz="1000" b="0" i="0" u="none" strike="noStrike">
                          <a:solidFill>
                            <a:srgbClr val="000000"/>
                          </a:solidFill>
                          <a:effectLst/>
                          <a:latin typeface="+mn-lt"/>
                          <a:cs typeface="Calibri" panose="020F0502020204030204" pitchFamily="34" charset="0"/>
                        </a:rPr>
                        <a:t>71.74</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7-Jan-19</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24-May-19</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24-Jun-19</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23-May-21 </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39.3</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45.62</a:t>
                      </a:r>
                    </a:p>
                    <a:p>
                      <a:pPr algn="ctr" fontAlgn="ctr"/>
                      <a:endParaRPr lang="en-US" sz="1000" b="0" i="0" u="none" strike="noStrike" dirty="0">
                        <a:solidFill>
                          <a:srgbClr val="000000"/>
                        </a:solidFill>
                        <a:effectLst/>
                        <a:latin typeface="+mn-lt"/>
                        <a:cs typeface="Calibri" panose="020F0502020204030204" pitchFamily="34" charset="0"/>
                      </a:endParaRP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30% grant availed on award cost.</a:t>
                      </a:r>
                    </a:p>
                    <a:p>
                      <a:pPr algn="ctr" fontAlgn="ctr"/>
                      <a:r>
                        <a:rPr lang="en-US" sz="1000" b="0" i="0" u="none" strike="noStrike" dirty="0">
                          <a:solidFill>
                            <a:srgbClr val="000000"/>
                          </a:solidFill>
                          <a:effectLst/>
                          <a:latin typeface="+mn-lt"/>
                          <a:cs typeface="Calibri" panose="020F0502020204030204" pitchFamily="34" charset="0"/>
                        </a:rPr>
                        <a:t>04 Nos. of Reactors will be</a:t>
                      </a:r>
                    </a:p>
                    <a:p>
                      <a:pPr algn="ctr" fontAlgn="ctr"/>
                      <a:r>
                        <a:rPr lang="en-US" sz="1000" b="0" i="0" u="none" strike="noStrike" dirty="0">
                          <a:solidFill>
                            <a:srgbClr val="000000"/>
                          </a:solidFill>
                          <a:effectLst/>
                          <a:latin typeface="+mn-lt"/>
                          <a:cs typeface="Calibri" panose="020F0502020204030204" pitchFamily="34" charset="0"/>
                        </a:rPr>
                        <a:t>commissioned by December 2021.</a:t>
                      </a:r>
                    </a:p>
                    <a:p>
                      <a:pPr algn="ctr" fontAlgn="ctr"/>
                      <a:r>
                        <a:rPr lang="en-US" sz="1000" b="0" i="0" u="none" strike="noStrike" dirty="0">
                          <a:solidFill>
                            <a:srgbClr val="000000"/>
                          </a:solidFill>
                          <a:effectLst/>
                          <a:latin typeface="+mn-lt"/>
                          <a:cs typeface="Calibri" panose="020F0502020204030204" pitchFamily="34" charset="0"/>
                        </a:rPr>
                        <a:t>LoA of the 5th Reactor is yet to be placed.</a:t>
                      </a:r>
                    </a:p>
                  </a:txBody>
                  <a:tcPr marL="18288" marR="18288" marT="27432" marB="27432" anchor="ctr"/>
                </a:tc>
                <a:extLst>
                  <a:ext uri="{0D108BD9-81ED-4DB2-BD59-A6C34878D82A}">
                    <a16:rowId xmlns:a16="http://schemas.microsoft.com/office/drawing/2014/main" val="2780908338"/>
                  </a:ext>
                </a:extLst>
              </a:tr>
              <a:tr h="1145475">
                <a:tc>
                  <a:txBody>
                    <a:bodyPr/>
                    <a:lstStyle/>
                    <a:p>
                      <a:pPr algn="l" fontAlgn="ctr"/>
                      <a:r>
                        <a:rPr lang="en-US" sz="1000" b="1" i="0" u="none" strike="noStrike" dirty="0">
                          <a:solidFill>
                            <a:srgbClr val="000000"/>
                          </a:solidFill>
                          <a:effectLst/>
                          <a:latin typeface="+mn-lt"/>
                          <a:cs typeface="Calibri" panose="020F0502020204030204" pitchFamily="34" charset="0"/>
                        </a:rPr>
                        <a:t>Project for establishment of reliable communication</a:t>
                      </a:r>
                    </a:p>
                    <a:p>
                      <a:pPr algn="l" fontAlgn="ctr"/>
                      <a:r>
                        <a:rPr lang="en-US" sz="1000" b="1" i="0" u="none" strike="noStrike" dirty="0">
                          <a:solidFill>
                            <a:srgbClr val="000000"/>
                          </a:solidFill>
                          <a:effectLst/>
                          <a:latin typeface="+mn-lt"/>
                          <a:cs typeface="Calibri" panose="020F0502020204030204" pitchFamily="34" charset="0"/>
                        </a:rPr>
                        <a:t>and data acquisition at different substation. (222)</a:t>
                      </a:r>
                    </a:p>
                  </a:txBody>
                  <a:tcPr marR="18288" marT="27432" marB="27432" anchor="ctr">
                    <a:solidFill>
                      <a:schemeClr val="bg2">
                        <a:lumMod val="90000"/>
                      </a:schemeClr>
                    </a:solidFill>
                  </a:tcPr>
                </a:tc>
                <a:tc>
                  <a:txBody>
                    <a:bodyPr/>
                    <a:lstStyle/>
                    <a:p>
                      <a:pPr algn="ctr" fontAlgn="ctr"/>
                      <a:r>
                        <a:rPr lang="en-US" sz="1000" b="0" i="0" u="none" strike="noStrike">
                          <a:solidFill>
                            <a:srgbClr val="000000"/>
                          </a:solidFill>
                          <a:effectLst/>
                          <a:latin typeface="+mn-lt"/>
                          <a:cs typeface="Calibri" panose="020F0502020204030204" pitchFamily="34" charset="0"/>
                        </a:rPr>
                        <a:t>10-May-18</a:t>
                      </a:r>
                    </a:p>
                  </a:txBody>
                  <a:tcPr marL="18288" marR="18288" marT="27432" marB="27432" anchor="ctr"/>
                </a:tc>
                <a:tc>
                  <a:txBody>
                    <a:bodyPr/>
                    <a:lstStyle/>
                    <a:p>
                      <a:pPr algn="ctr" fontAlgn="ctr"/>
                      <a:r>
                        <a:rPr lang="en-US" sz="1000" b="0" i="0" u="none" strike="noStrike">
                          <a:solidFill>
                            <a:srgbClr val="000000"/>
                          </a:solidFill>
                          <a:effectLst/>
                          <a:latin typeface="+mn-lt"/>
                          <a:cs typeface="Calibri" panose="020F0502020204030204" pitchFamily="34" charset="0"/>
                        </a:rPr>
                        <a:t>80.39</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30-Oct-18</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15-Nov-18</a:t>
                      </a:r>
                    </a:p>
                  </a:txBody>
                  <a:tcPr marL="18288" marR="18288" marT="27432" marB="27432" anchor="ctr"/>
                </a:tc>
                <a:tc>
                  <a:txBody>
                    <a:bodyPr/>
                    <a:lstStyle/>
                    <a:p>
                      <a:pPr algn="ctr" fontAlgn="ctr"/>
                      <a:r>
                        <a:rPr lang="en-US" sz="1000" b="0" i="0" u="none" strike="noStrike">
                          <a:solidFill>
                            <a:srgbClr val="000000"/>
                          </a:solidFill>
                          <a:effectLst/>
                          <a:latin typeface="+mn-lt"/>
                          <a:cs typeface="Calibri" panose="020F0502020204030204" pitchFamily="34" charset="0"/>
                        </a:rPr>
                        <a:t>62.39</a:t>
                      </a:r>
                    </a:p>
                  </a:txBody>
                  <a:tcPr marL="18288" marR="18288" marT="27432" marB="27432" anchor="ctr"/>
                </a:tc>
                <a:tc>
                  <a:txBody>
                    <a:bodyPr/>
                    <a:lstStyle/>
                    <a:p>
                      <a:pPr algn="ctr" fontAlgn="ctr"/>
                      <a:r>
                        <a:rPr lang="en-US" sz="1000" b="0" i="0" u="none" strike="noStrike">
                          <a:solidFill>
                            <a:srgbClr val="000000"/>
                          </a:solidFill>
                          <a:effectLst/>
                          <a:latin typeface="+mn-lt"/>
                          <a:cs typeface="Calibri" panose="020F0502020204030204" pitchFamily="34" charset="0"/>
                        </a:rPr>
                        <a:t>13-Mar-19</a:t>
                      </a:r>
                    </a:p>
                  </a:txBody>
                  <a:tcPr marL="18288" marR="18288" marT="27432" marB="27432" anchor="ctr"/>
                </a:tc>
                <a:tc>
                  <a:txBody>
                    <a:bodyPr/>
                    <a:lstStyle/>
                    <a:p>
                      <a:pPr algn="ctr" fontAlgn="ctr"/>
                      <a:r>
                        <a:rPr lang="en-US" sz="1000" b="0" i="0" u="none" strike="noStrike">
                          <a:solidFill>
                            <a:srgbClr val="000000"/>
                          </a:solidFill>
                          <a:effectLst/>
                          <a:latin typeface="+mn-lt"/>
                          <a:cs typeface="Calibri" panose="020F0502020204030204" pitchFamily="34" charset="0"/>
                        </a:rPr>
                        <a:t>31.19</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7-Jan-19</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24-May-19</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24-Jun-19</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23-Nov-21 </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3.12</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The tender has been cancelled</a:t>
                      </a:r>
                    </a:p>
                    <a:p>
                      <a:pPr algn="ctr" fontAlgn="ctr"/>
                      <a:r>
                        <a:rPr lang="en-US" sz="1000" b="0" i="0" u="none" strike="noStrike" dirty="0">
                          <a:solidFill>
                            <a:srgbClr val="000000"/>
                          </a:solidFill>
                          <a:effectLst/>
                          <a:latin typeface="+mn-lt"/>
                          <a:cs typeface="Calibri" panose="020F0502020204030204" pitchFamily="34" charset="0"/>
                        </a:rPr>
                        <a:t>for OPGW. Re-tendering has to be</a:t>
                      </a:r>
                    </a:p>
                    <a:p>
                      <a:pPr algn="ctr" fontAlgn="ctr"/>
                      <a:r>
                        <a:rPr lang="en-US" sz="1000" b="0" i="0" u="none" strike="noStrike" dirty="0">
                          <a:solidFill>
                            <a:srgbClr val="000000"/>
                          </a:solidFill>
                          <a:effectLst/>
                          <a:latin typeface="+mn-lt"/>
                          <a:cs typeface="Calibri" panose="020F0502020204030204" pitchFamily="34" charset="0"/>
                        </a:rPr>
                        <a:t>done.</a:t>
                      </a:r>
                    </a:p>
                  </a:txBody>
                  <a:tcPr marL="18288" marR="18288" marT="27432" marB="27432" anchor="ctr"/>
                </a:tc>
                <a:extLst>
                  <a:ext uri="{0D108BD9-81ED-4DB2-BD59-A6C34878D82A}">
                    <a16:rowId xmlns:a16="http://schemas.microsoft.com/office/drawing/2014/main" val="667499735"/>
                  </a:ext>
                </a:extLst>
              </a:tr>
              <a:tr h="1301806">
                <a:tc>
                  <a:txBody>
                    <a:bodyPr/>
                    <a:lstStyle/>
                    <a:p>
                      <a:pPr algn="l" fontAlgn="ctr"/>
                      <a:r>
                        <a:rPr lang="en-US" sz="1000" b="1" i="0" u="none" strike="noStrike" dirty="0">
                          <a:solidFill>
                            <a:srgbClr val="000000"/>
                          </a:solidFill>
                          <a:effectLst/>
                          <a:latin typeface="+mn-lt"/>
                          <a:cs typeface="Calibri" panose="020F0502020204030204" pitchFamily="34" charset="0"/>
                        </a:rPr>
                        <a:t>Implementation of Integrated system for Scheduling,</a:t>
                      </a:r>
                    </a:p>
                    <a:p>
                      <a:pPr algn="l" fontAlgn="ctr"/>
                      <a:r>
                        <a:rPr lang="en-US" sz="1000" b="1" i="0" u="none" strike="noStrike" dirty="0">
                          <a:solidFill>
                            <a:srgbClr val="000000"/>
                          </a:solidFill>
                          <a:effectLst/>
                          <a:latin typeface="+mn-lt"/>
                          <a:cs typeface="Calibri" panose="020F0502020204030204" pitchFamily="34" charset="0"/>
                        </a:rPr>
                        <a:t>Accounting, Metering and Settlement of Transactions</a:t>
                      </a:r>
                    </a:p>
                    <a:p>
                      <a:pPr algn="l" fontAlgn="ctr"/>
                      <a:r>
                        <a:rPr lang="en-US" sz="1000" b="1" i="0" u="none" strike="noStrike" dirty="0">
                          <a:solidFill>
                            <a:srgbClr val="000000"/>
                          </a:solidFill>
                          <a:effectLst/>
                          <a:latin typeface="+mn-lt"/>
                          <a:cs typeface="Calibri" panose="020F0502020204030204" pitchFamily="34" charset="0"/>
                        </a:rPr>
                        <a:t>(SAMAST) system(197)</a:t>
                      </a:r>
                    </a:p>
                  </a:txBody>
                  <a:tcPr marR="18288" marT="27432" marB="27432" anchor="ctr">
                    <a:solidFill>
                      <a:schemeClr val="bg2">
                        <a:lumMod val="90000"/>
                      </a:schemeClr>
                    </a:solidFill>
                  </a:tcPr>
                </a:tc>
                <a:tc>
                  <a:txBody>
                    <a:bodyPr/>
                    <a:lstStyle/>
                    <a:p>
                      <a:pPr algn="ctr" fontAlgn="ctr"/>
                      <a:r>
                        <a:rPr lang="en-US" sz="1000" b="0" i="0" u="none" strike="noStrike">
                          <a:solidFill>
                            <a:srgbClr val="000000"/>
                          </a:solidFill>
                          <a:effectLst/>
                          <a:latin typeface="+mn-lt"/>
                          <a:cs typeface="Calibri" panose="020F0502020204030204" pitchFamily="34" charset="0"/>
                        </a:rPr>
                        <a:t>22-Dec-17</a:t>
                      </a:r>
                    </a:p>
                  </a:txBody>
                  <a:tcPr marL="18288" marR="18288" marT="27432" marB="27432" anchor="ctr"/>
                </a:tc>
                <a:tc>
                  <a:txBody>
                    <a:bodyPr/>
                    <a:lstStyle/>
                    <a:p>
                      <a:pPr algn="ctr" fontAlgn="ctr"/>
                      <a:r>
                        <a:rPr lang="en-US" sz="1000" b="0" i="0" u="none" strike="noStrike">
                          <a:solidFill>
                            <a:srgbClr val="000000"/>
                          </a:solidFill>
                          <a:effectLst/>
                          <a:latin typeface="+mn-lt"/>
                          <a:cs typeface="Calibri" panose="020F0502020204030204" pitchFamily="34" charset="0"/>
                        </a:rPr>
                        <a:t>25.96</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25-Mar-19</a:t>
                      </a:r>
                    </a:p>
                  </a:txBody>
                  <a:tcPr marL="18288" marR="18288" marT="27432" marB="27432" anchor="ctr"/>
                </a:tc>
                <a:tc>
                  <a:txBody>
                    <a:bodyPr/>
                    <a:lstStyle/>
                    <a:p>
                      <a:pPr algn="ctr" fontAlgn="ctr"/>
                      <a:r>
                        <a:rPr lang="en-US" sz="1000" b="0" i="0" u="none" strike="noStrike">
                          <a:solidFill>
                            <a:srgbClr val="000000"/>
                          </a:solidFill>
                          <a:effectLst/>
                          <a:latin typeface="+mn-lt"/>
                          <a:cs typeface="Calibri" panose="020F0502020204030204" pitchFamily="34" charset="0"/>
                        </a:rPr>
                        <a:t>26-Jul-19</a:t>
                      </a:r>
                    </a:p>
                  </a:txBody>
                  <a:tcPr marL="18288" marR="18288" marT="27432" marB="27432" anchor="ctr"/>
                </a:tc>
                <a:tc>
                  <a:txBody>
                    <a:bodyPr/>
                    <a:lstStyle/>
                    <a:p>
                      <a:pPr algn="ctr" fontAlgn="ctr"/>
                      <a:r>
                        <a:rPr lang="en-US" sz="1000" b="0" i="0" u="none" strike="noStrike">
                          <a:solidFill>
                            <a:srgbClr val="000000"/>
                          </a:solidFill>
                          <a:effectLst/>
                          <a:latin typeface="+mn-lt"/>
                          <a:cs typeface="Calibri" panose="020F0502020204030204" pitchFamily="34" charset="0"/>
                        </a:rPr>
                        <a:t>11.2</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NA</a:t>
                      </a:r>
                    </a:p>
                  </a:txBody>
                  <a:tcPr marL="18288" marR="18288" marT="27432" marB="27432" anchor="ctr"/>
                </a:tc>
                <a:tc>
                  <a:txBody>
                    <a:bodyPr/>
                    <a:lstStyle/>
                    <a:p>
                      <a:pPr algn="ctr" fontAlgn="ctr"/>
                      <a:r>
                        <a:rPr lang="en-US" sz="1000" b="0" i="0" u="none" strike="noStrike">
                          <a:solidFill>
                            <a:srgbClr val="000000"/>
                          </a:solidFill>
                          <a:effectLst/>
                          <a:latin typeface="+mn-lt"/>
                          <a:cs typeface="Calibri" panose="020F0502020204030204" pitchFamily="34" charset="0"/>
                        </a:rPr>
                        <a:t>10.08</a:t>
                      </a:r>
                    </a:p>
                  </a:txBody>
                  <a:tcPr marL="18288" marR="18288" marT="27432" marB="27432" anchor="ctr"/>
                </a:tc>
                <a:tc>
                  <a:txBody>
                    <a:bodyPr/>
                    <a:lstStyle/>
                    <a:p>
                      <a:pPr algn="ctr" fontAlgn="ctr"/>
                      <a:r>
                        <a:rPr lang="en-US" sz="1000" b="0" i="0" u="none" strike="noStrike">
                          <a:solidFill>
                            <a:srgbClr val="000000"/>
                          </a:solidFill>
                          <a:effectLst/>
                          <a:latin typeface="+mn-lt"/>
                          <a:cs typeface="Calibri" panose="020F0502020204030204" pitchFamily="34" charset="0"/>
                        </a:rPr>
                        <a:t>31-Jan-20</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20-Mar-20</a:t>
                      </a:r>
                    </a:p>
                  </a:txBody>
                  <a:tcPr marL="18288" marR="18288" marT="27432" marB="27432" anchor="ctr"/>
                </a:tc>
                <a:tc>
                  <a:txBody>
                    <a:bodyPr/>
                    <a:lstStyle/>
                    <a:p>
                      <a:pPr algn="ctr" fontAlgn="ctr"/>
                      <a:r>
                        <a:rPr lang="en-US" sz="1000" b="0" i="0" u="none" strike="noStrike" dirty="0">
                          <a:solidFill>
                            <a:srgbClr val="000000"/>
                          </a:solidFill>
                          <a:effectLst/>
                          <a:latin typeface="+mn-lt"/>
                          <a:cs typeface="Calibri" panose="020F0502020204030204" pitchFamily="34" charset="0"/>
                        </a:rPr>
                        <a:t>22-Jun-20</a:t>
                      </a:r>
                    </a:p>
                  </a:txBody>
                  <a:tcPr marL="18288" marR="18288" marT="27432" marB="27432" anchor="ctr"/>
                </a:tc>
                <a:tc>
                  <a:txBody>
                    <a:bodyPr/>
                    <a:lstStyle/>
                    <a:p>
                      <a:pPr algn="ctr" fontAlgn="ctr"/>
                      <a:endParaRPr lang="en-US" sz="1000" b="0" i="0" u="none" strike="noStrike" dirty="0">
                        <a:solidFill>
                          <a:srgbClr val="000000"/>
                        </a:solidFill>
                        <a:effectLst/>
                        <a:latin typeface="+mn-lt"/>
                        <a:cs typeface="Calibri" panose="020F0502020204030204" pitchFamily="34" charset="0"/>
                      </a:endParaRPr>
                    </a:p>
                  </a:txBody>
                  <a:tcPr marL="18288" marR="18288" marT="27432" marB="27432" anchor="ctr"/>
                </a:tc>
                <a:tc>
                  <a:txBody>
                    <a:bodyPr/>
                    <a:lstStyle/>
                    <a:p>
                      <a:pPr algn="ctr" fontAlgn="ctr"/>
                      <a:endParaRPr lang="en-US" sz="1000" b="0" i="0" u="none" strike="noStrike" dirty="0">
                        <a:solidFill>
                          <a:srgbClr val="000000"/>
                        </a:solidFill>
                        <a:effectLst/>
                        <a:latin typeface="+mn-lt"/>
                        <a:cs typeface="Calibri" panose="020F0502020204030204" pitchFamily="34" charset="0"/>
                      </a:endParaRPr>
                    </a:p>
                  </a:txBody>
                  <a:tcPr marL="18288" marR="18288" marT="27432" marB="27432" anchor="ctr"/>
                </a:tc>
                <a:tc>
                  <a:txBody>
                    <a:bodyPr/>
                    <a:lstStyle/>
                    <a:p>
                      <a:pPr algn="ctr" fontAlgn="ctr"/>
                      <a:endParaRPr lang="en-US" sz="1000" b="0" i="0" u="none" strike="noStrike" dirty="0">
                        <a:solidFill>
                          <a:srgbClr val="000000"/>
                        </a:solidFill>
                        <a:effectLst/>
                        <a:latin typeface="+mn-lt"/>
                        <a:cs typeface="Calibri" panose="020F0502020204030204" pitchFamily="34" charset="0"/>
                      </a:endParaRPr>
                    </a:p>
                  </a:txBody>
                  <a:tcPr marL="18288" marR="18288" marT="27432" marB="27432" anchor="ctr"/>
                </a:tc>
                <a:tc>
                  <a:txBody>
                    <a:bodyPr/>
                    <a:lstStyle/>
                    <a:p>
                      <a:pPr algn="ctr" fontAlgn="ctr"/>
                      <a:r>
                        <a:rPr lang="en-US" sz="1000" dirty="0">
                          <a:latin typeface="+mn-lt"/>
                          <a:cs typeface="Calibri" panose="020F0502020204030204" pitchFamily="34" charset="0"/>
                        </a:rPr>
                        <a:t>10% grant not yet requested</a:t>
                      </a:r>
                      <a:endParaRPr lang="en-US" sz="1000" b="0" i="0" u="none" strike="noStrike" dirty="0">
                        <a:solidFill>
                          <a:srgbClr val="000000"/>
                        </a:solidFill>
                        <a:effectLst/>
                        <a:latin typeface="+mn-lt"/>
                        <a:cs typeface="Calibri" panose="020F0502020204030204" pitchFamily="34" charset="0"/>
                      </a:endParaRPr>
                    </a:p>
                  </a:txBody>
                  <a:tcPr marL="18288" marR="18288" marT="27432" marB="27432" anchor="ctr"/>
                </a:tc>
                <a:extLst>
                  <a:ext uri="{0D108BD9-81ED-4DB2-BD59-A6C34878D82A}">
                    <a16:rowId xmlns:a16="http://schemas.microsoft.com/office/drawing/2014/main" val="807016267"/>
                  </a:ext>
                </a:extLst>
              </a:tr>
            </a:tbl>
          </a:graphicData>
        </a:graphic>
      </p:graphicFrame>
    </p:spTree>
    <p:extLst>
      <p:ext uri="{BB962C8B-B14F-4D97-AF65-F5344CB8AC3E}">
        <p14:creationId xmlns:p14="http://schemas.microsoft.com/office/powerpoint/2010/main" val="27967426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501650" y="228827"/>
            <a:ext cx="11188700" cy="370900"/>
          </a:xfrm>
        </p:spPr>
        <p:txBody>
          <a:bodyPr vert="horz"/>
          <a:lstStyle/>
          <a:p>
            <a:pPr algn="just"/>
            <a:r>
              <a:rPr lang="en-US" sz="1800" i="0" dirty="0">
                <a:solidFill>
                  <a:schemeClr val="tx1"/>
                </a:solidFill>
              </a:rPr>
              <a:t>Summary Status of the PSDF as on 26.05.2022 for WBPDCL</a:t>
            </a:r>
          </a:p>
        </p:txBody>
      </p:sp>
      <p:graphicFrame>
        <p:nvGraphicFramePr>
          <p:cNvPr id="2" name="Table 2">
            <a:extLst>
              <a:ext uri="{FF2B5EF4-FFF2-40B4-BE49-F238E27FC236}">
                <a16:creationId xmlns:a16="http://schemas.microsoft.com/office/drawing/2014/main" id="{7F1C9902-CF3F-462A-BC47-AA1ABAB1445C}"/>
              </a:ext>
            </a:extLst>
          </p:cNvPr>
          <p:cNvGraphicFramePr>
            <a:graphicFrameLocks noGrp="1"/>
          </p:cNvGraphicFramePr>
          <p:nvPr>
            <p:extLst>
              <p:ext uri="{D42A27DB-BD31-4B8C-83A1-F6EECF244321}">
                <p14:modId xmlns:p14="http://schemas.microsoft.com/office/powerpoint/2010/main" val="1015365744"/>
              </p:ext>
            </p:extLst>
          </p:nvPr>
        </p:nvGraphicFramePr>
        <p:xfrm>
          <a:off x="501650" y="599727"/>
          <a:ext cx="11319289" cy="5748063"/>
        </p:xfrm>
        <a:graphic>
          <a:graphicData uri="http://schemas.openxmlformats.org/drawingml/2006/table">
            <a:tbl>
              <a:tblPr firstRow="1" bandRow="1">
                <a:tableStyleId>{5C22544A-7EE6-4342-B048-85BDC9FD1C3A}</a:tableStyleId>
              </a:tblPr>
              <a:tblGrid>
                <a:gridCol w="1300646">
                  <a:extLst>
                    <a:ext uri="{9D8B030D-6E8A-4147-A177-3AD203B41FA5}">
                      <a16:colId xmlns:a16="http://schemas.microsoft.com/office/drawing/2014/main" val="4020663227"/>
                    </a:ext>
                  </a:extLst>
                </a:gridCol>
                <a:gridCol w="543339">
                  <a:extLst>
                    <a:ext uri="{9D8B030D-6E8A-4147-A177-3AD203B41FA5}">
                      <a16:colId xmlns:a16="http://schemas.microsoft.com/office/drawing/2014/main" val="1907190136"/>
                    </a:ext>
                  </a:extLst>
                </a:gridCol>
                <a:gridCol w="530087">
                  <a:extLst>
                    <a:ext uri="{9D8B030D-6E8A-4147-A177-3AD203B41FA5}">
                      <a16:colId xmlns:a16="http://schemas.microsoft.com/office/drawing/2014/main" val="1679584038"/>
                    </a:ext>
                  </a:extLst>
                </a:gridCol>
                <a:gridCol w="649356">
                  <a:extLst>
                    <a:ext uri="{9D8B030D-6E8A-4147-A177-3AD203B41FA5}">
                      <a16:colId xmlns:a16="http://schemas.microsoft.com/office/drawing/2014/main" val="908098360"/>
                    </a:ext>
                  </a:extLst>
                </a:gridCol>
                <a:gridCol w="781879">
                  <a:extLst>
                    <a:ext uri="{9D8B030D-6E8A-4147-A177-3AD203B41FA5}">
                      <a16:colId xmlns:a16="http://schemas.microsoft.com/office/drawing/2014/main" val="2696321522"/>
                    </a:ext>
                  </a:extLst>
                </a:gridCol>
                <a:gridCol w="806734">
                  <a:extLst>
                    <a:ext uri="{9D8B030D-6E8A-4147-A177-3AD203B41FA5}">
                      <a16:colId xmlns:a16="http://schemas.microsoft.com/office/drawing/2014/main" val="1557936423"/>
                    </a:ext>
                  </a:extLst>
                </a:gridCol>
                <a:gridCol w="541073">
                  <a:extLst>
                    <a:ext uri="{9D8B030D-6E8A-4147-A177-3AD203B41FA5}">
                      <a16:colId xmlns:a16="http://schemas.microsoft.com/office/drawing/2014/main" val="3347166959"/>
                    </a:ext>
                  </a:extLst>
                </a:gridCol>
                <a:gridCol w="653271">
                  <a:extLst>
                    <a:ext uri="{9D8B030D-6E8A-4147-A177-3AD203B41FA5}">
                      <a16:colId xmlns:a16="http://schemas.microsoft.com/office/drawing/2014/main" val="1682447633"/>
                    </a:ext>
                  </a:extLst>
                </a:gridCol>
                <a:gridCol w="689113">
                  <a:extLst>
                    <a:ext uri="{9D8B030D-6E8A-4147-A177-3AD203B41FA5}">
                      <a16:colId xmlns:a16="http://schemas.microsoft.com/office/drawing/2014/main" val="1606165489"/>
                    </a:ext>
                  </a:extLst>
                </a:gridCol>
                <a:gridCol w="662609">
                  <a:extLst>
                    <a:ext uri="{9D8B030D-6E8A-4147-A177-3AD203B41FA5}">
                      <a16:colId xmlns:a16="http://schemas.microsoft.com/office/drawing/2014/main" val="2291000018"/>
                    </a:ext>
                  </a:extLst>
                </a:gridCol>
                <a:gridCol w="583095">
                  <a:extLst>
                    <a:ext uri="{9D8B030D-6E8A-4147-A177-3AD203B41FA5}">
                      <a16:colId xmlns:a16="http://schemas.microsoft.com/office/drawing/2014/main" val="991252820"/>
                    </a:ext>
                  </a:extLst>
                </a:gridCol>
                <a:gridCol w="869250">
                  <a:extLst>
                    <a:ext uri="{9D8B030D-6E8A-4147-A177-3AD203B41FA5}">
                      <a16:colId xmlns:a16="http://schemas.microsoft.com/office/drawing/2014/main" val="2117268689"/>
                    </a:ext>
                  </a:extLst>
                </a:gridCol>
                <a:gridCol w="588489">
                  <a:extLst>
                    <a:ext uri="{9D8B030D-6E8A-4147-A177-3AD203B41FA5}">
                      <a16:colId xmlns:a16="http://schemas.microsoft.com/office/drawing/2014/main" val="1109254692"/>
                    </a:ext>
                  </a:extLst>
                </a:gridCol>
                <a:gridCol w="861392">
                  <a:extLst>
                    <a:ext uri="{9D8B030D-6E8A-4147-A177-3AD203B41FA5}">
                      <a16:colId xmlns:a16="http://schemas.microsoft.com/office/drawing/2014/main" val="1380221684"/>
                    </a:ext>
                  </a:extLst>
                </a:gridCol>
                <a:gridCol w="1258956">
                  <a:extLst>
                    <a:ext uri="{9D8B030D-6E8A-4147-A177-3AD203B41FA5}">
                      <a16:colId xmlns:a16="http://schemas.microsoft.com/office/drawing/2014/main" val="4051248484"/>
                    </a:ext>
                  </a:extLst>
                </a:gridCol>
              </a:tblGrid>
              <a:tr h="1343703">
                <a:tc>
                  <a:txBody>
                    <a:bodyPr/>
                    <a:lstStyle/>
                    <a:p>
                      <a:pPr algn="ctr" fontAlgn="ctr"/>
                      <a:r>
                        <a:rPr lang="en-US" sz="1000" b="1" i="0" u="none" strike="noStrike" dirty="0">
                          <a:solidFill>
                            <a:schemeClr val="bg1"/>
                          </a:solidFill>
                          <a:effectLst/>
                          <a:latin typeface="+mn-lt"/>
                          <a:cs typeface="Calibri" panose="020F0502020204030204" pitchFamily="34" charset="0"/>
                        </a:rPr>
                        <a:t>Name of Scheme and Unique ID No</a:t>
                      </a:r>
                    </a:p>
                  </a:txBody>
                  <a:tcPr marL="27432" marR="27432" marT="18288" marB="18288"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Date of Submission of Scheme by Entity</a:t>
                      </a:r>
                    </a:p>
                  </a:txBody>
                  <a:tcPr marL="27432" marR="27432" marT="18288" marB="18288"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Estimated cost by entity</a:t>
                      </a:r>
                    </a:p>
                  </a:txBody>
                  <a:tcPr marL="27432" marR="27432" marT="18288" marB="18288"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Date of Techno- Economic clearance</a:t>
                      </a:r>
                    </a:p>
                  </a:txBody>
                  <a:tcPr marL="27432" marR="27432" marT="18288" marB="18288"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Date of Recommend action by Appraisal Committee </a:t>
                      </a:r>
                    </a:p>
                  </a:txBody>
                  <a:tcPr marL="27432" marR="27432" marT="18288" marB="18288"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Project Cost accepted by Appraisal Committee.</a:t>
                      </a:r>
                    </a:p>
                  </a:txBody>
                  <a:tcPr marL="27432" marR="27432" marT="18288" marB="18288"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Date of Concurrence by CERC.</a:t>
                      </a:r>
                    </a:p>
                  </a:txBody>
                  <a:tcPr marL="27432" marR="27432" marT="18288" marB="18288"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Grant Approved by Monitoring Committee </a:t>
                      </a:r>
                    </a:p>
                  </a:txBody>
                  <a:tcPr marL="27432" marR="27432" marT="18288" marB="18288"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Date of Approval by Monitoring Committee </a:t>
                      </a:r>
                    </a:p>
                  </a:txBody>
                  <a:tcPr marL="27432" marR="27432" marT="18288" marB="18288"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Date of Issuance of sanction order by MoP</a:t>
                      </a:r>
                    </a:p>
                  </a:txBody>
                  <a:tcPr marL="27432" marR="27432" marT="18288" marB="18288"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Date of Signing of Agreement</a:t>
                      </a:r>
                    </a:p>
                  </a:txBody>
                  <a:tcPr marL="27432" marR="27432" marT="18288" marB="18288" anchor="ctr">
                    <a:solidFill>
                      <a:srgbClr val="007680"/>
                    </a:solidFill>
                  </a:tcPr>
                </a:tc>
                <a:tc>
                  <a:txBody>
                    <a:bodyPr/>
                    <a:lstStyle/>
                    <a:p>
                      <a:pPr algn="ctr" fontAlgn="ctr"/>
                      <a:r>
                        <a:rPr lang="en-US" sz="1000" b="1" i="0" u="none" strike="noStrike" dirty="0">
                          <a:solidFill>
                            <a:schemeClr val="bg1"/>
                          </a:solidFill>
                          <a:effectLst/>
                          <a:latin typeface="+mn-lt"/>
                          <a:cs typeface="Calibri" panose="020F0502020204030204" pitchFamily="34" charset="0"/>
                        </a:rPr>
                        <a:t>Completion</a:t>
                      </a:r>
                    </a:p>
                    <a:p>
                      <a:pPr algn="ctr" fontAlgn="ctr"/>
                      <a:r>
                        <a:rPr lang="en-US" sz="1000" b="1" i="0" u="none" strike="noStrike" dirty="0">
                          <a:solidFill>
                            <a:schemeClr val="bg1"/>
                          </a:solidFill>
                          <a:effectLst/>
                          <a:latin typeface="+mn-lt"/>
                          <a:cs typeface="Calibri" panose="020F0502020204030204" pitchFamily="34" charset="0"/>
                        </a:rPr>
                        <a:t>schedule</a:t>
                      </a:r>
                    </a:p>
                    <a:p>
                      <a:pPr algn="ctr" fontAlgn="ctr"/>
                      <a:r>
                        <a:rPr lang="en-US" sz="1000" b="1" i="0" u="none" strike="noStrike" dirty="0">
                          <a:solidFill>
                            <a:schemeClr val="bg1"/>
                          </a:solidFill>
                          <a:effectLst/>
                          <a:latin typeface="+mn-lt"/>
                          <a:cs typeface="Calibri" panose="020F0502020204030204" pitchFamily="34" charset="0"/>
                        </a:rPr>
                        <a:t>w.r.t date of</a:t>
                      </a:r>
                    </a:p>
                    <a:p>
                      <a:pPr algn="ctr" fontAlgn="ctr"/>
                      <a:r>
                        <a:rPr lang="en-US" sz="1000" b="1" i="0" u="none" strike="noStrike" dirty="0">
                          <a:solidFill>
                            <a:schemeClr val="bg1"/>
                          </a:solidFill>
                          <a:effectLst/>
                          <a:latin typeface="+mn-lt"/>
                          <a:cs typeface="Calibri" panose="020F0502020204030204" pitchFamily="34" charset="0"/>
                        </a:rPr>
                        <a:t>1st</a:t>
                      </a:r>
                    </a:p>
                    <a:p>
                      <a:pPr algn="ctr" fontAlgn="ctr"/>
                      <a:r>
                        <a:rPr lang="en-US" sz="1000" b="1" i="0" u="none" strike="noStrike" dirty="0">
                          <a:solidFill>
                            <a:schemeClr val="bg1"/>
                          </a:solidFill>
                          <a:effectLst/>
                          <a:latin typeface="+mn-lt"/>
                          <a:cs typeface="Calibri" panose="020F0502020204030204" pitchFamily="34" charset="0"/>
                        </a:rPr>
                        <a:t>instalment</a:t>
                      </a:r>
                    </a:p>
                  </a:txBody>
                  <a:tcPr marL="27432" marR="27432" marT="18288" marB="18288" anchor="ctr">
                    <a:solidFill>
                      <a:srgbClr val="007680"/>
                    </a:solidFill>
                  </a:tcPr>
                </a:tc>
                <a:tc>
                  <a:txBody>
                    <a:bodyPr/>
                    <a:lstStyle/>
                    <a:p>
                      <a:pPr algn="ctr" fontAlgn="ctr"/>
                      <a:r>
                        <a:rPr lang="en-US" sz="1000" dirty="0">
                          <a:solidFill>
                            <a:schemeClr val="bg1"/>
                          </a:solidFill>
                          <a:latin typeface="+mn-lt"/>
                          <a:cs typeface="Calibri" panose="020F0502020204030204" pitchFamily="34" charset="0"/>
                        </a:rPr>
                        <a:t>Grant availed so far</a:t>
                      </a:r>
                      <a:endParaRPr lang="en-US" sz="1000" b="1" i="0" u="none" strike="noStrike" dirty="0">
                        <a:solidFill>
                          <a:schemeClr val="bg1"/>
                        </a:solidFill>
                        <a:effectLst/>
                        <a:latin typeface="+mn-lt"/>
                        <a:cs typeface="Calibri" panose="020F0502020204030204" pitchFamily="34" charset="0"/>
                      </a:endParaRPr>
                    </a:p>
                  </a:txBody>
                  <a:tcPr marL="27432" marR="27432" marT="18288" marB="18288" anchor="ctr">
                    <a:solidFill>
                      <a:srgbClr val="007680"/>
                    </a:solidFill>
                  </a:tcPr>
                </a:tc>
                <a:tc>
                  <a:txBody>
                    <a:bodyPr/>
                    <a:lstStyle/>
                    <a:p>
                      <a:pPr algn="ctr" fontAlgn="ctr"/>
                      <a:r>
                        <a:rPr lang="en-US" sz="1000" dirty="0">
                          <a:solidFill>
                            <a:schemeClr val="bg1"/>
                          </a:solidFill>
                          <a:latin typeface="+mn-lt"/>
                          <a:cs typeface="Calibri" panose="020F0502020204030204" pitchFamily="34" charset="0"/>
                        </a:rPr>
                        <a:t>Total awards amount of placed of till date</a:t>
                      </a:r>
                      <a:endParaRPr lang="en-US" sz="1000" b="1" i="0" u="none" strike="noStrike" dirty="0">
                        <a:solidFill>
                          <a:schemeClr val="bg1"/>
                        </a:solidFill>
                        <a:effectLst/>
                        <a:latin typeface="+mn-lt"/>
                        <a:cs typeface="Calibri" panose="020F0502020204030204" pitchFamily="34" charset="0"/>
                      </a:endParaRPr>
                    </a:p>
                  </a:txBody>
                  <a:tcPr marL="27432" marR="27432" marT="18288" marB="18288" anchor="ctr">
                    <a:solidFill>
                      <a:srgbClr val="007680"/>
                    </a:solidFill>
                  </a:tcPr>
                </a:tc>
                <a:tc>
                  <a:txBody>
                    <a:bodyPr/>
                    <a:lstStyle/>
                    <a:p>
                      <a:pPr algn="ctr" fontAlgn="ctr"/>
                      <a:r>
                        <a:rPr lang="en-US" sz="1000" dirty="0">
                          <a:solidFill>
                            <a:schemeClr val="bg1"/>
                          </a:solidFill>
                          <a:latin typeface="+mn-lt"/>
                          <a:cs typeface="Calibri" panose="020F0502020204030204" pitchFamily="34" charset="0"/>
                        </a:rPr>
                        <a:t>Latest status </a:t>
                      </a:r>
                      <a:endParaRPr lang="en-US" sz="1000" b="1" i="0" u="none" strike="noStrike" dirty="0">
                        <a:solidFill>
                          <a:schemeClr val="bg1"/>
                        </a:solidFill>
                        <a:effectLst/>
                        <a:latin typeface="+mn-lt"/>
                        <a:cs typeface="Calibri" panose="020F0502020204030204" pitchFamily="34" charset="0"/>
                      </a:endParaRPr>
                    </a:p>
                  </a:txBody>
                  <a:tcPr marL="27432" marR="27432" marT="18288" marB="18288" anchor="ctr">
                    <a:solidFill>
                      <a:srgbClr val="007680"/>
                    </a:solidFill>
                  </a:tcPr>
                </a:tc>
                <a:extLst>
                  <a:ext uri="{0D108BD9-81ED-4DB2-BD59-A6C34878D82A}">
                    <a16:rowId xmlns:a16="http://schemas.microsoft.com/office/drawing/2014/main" val="1141627779"/>
                  </a:ext>
                </a:extLst>
              </a:tr>
              <a:tr h="1716954">
                <a:tc>
                  <a:txBody>
                    <a:bodyPr/>
                    <a:lstStyle/>
                    <a:p>
                      <a:pPr algn="just" fontAlgn="ctr"/>
                      <a:r>
                        <a:rPr lang="en-US" sz="1000" b="1" i="0" u="none" strike="noStrike" dirty="0">
                          <a:solidFill>
                            <a:schemeClr val="tx1"/>
                          </a:solidFill>
                          <a:effectLst/>
                          <a:latin typeface="+mn-lt"/>
                          <a:cs typeface="Calibri" panose="020F0502020204030204" pitchFamily="34" charset="0"/>
                        </a:rPr>
                        <a:t>Renovation and Modernization of 220/ 132 kV STPS switch yard and implementation of Substaion Automation System.(072)</a:t>
                      </a:r>
                    </a:p>
                  </a:txBody>
                  <a:tcPr marR="27432" marT="18288" marB="18288" anchor="ctr">
                    <a:solidFill>
                      <a:schemeClr val="bg2">
                        <a:lumMod val="90000"/>
                      </a:schemeClr>
                    </a:solidFill>
                  </a:tcPr>
                </a:tc>
                <a:tc>
                  <a:txBody>
                    <a:bodyPr/>
                    <a:lstStyle/>
                    <a:p>
                      <a:pPr algn="ctr" fontAlgn="ctr"/>
                      <a:r>
                        <a:rPr lang="en-US" sz="1000" b="0" i="0" u="none" strike="noStrike">
                          <a:solidFill>
                            <a:schemeClr val="tx1"/>
                          </a:solidFill>
                          <a:effectLst/>
                          <a:latin typeface="+mn-lt"/>
                          <a:cs typeface="Calibri" panose="020F0502020204030204" pitchFamily="34" charset="0"/>
                        </a:rPr>
                        <a:t>23-Dec-15</a:t>
                      </a:r>
                    </a:p>
                  </a:txBody>
                  <a:tcPr marL="27432" marR="27432" marT="18288" marB="18288" anchor="ctr"/>
                </a:tc>
                <a:tc>
                  <a:txBody>
                    <a:bodyPr/>
                    <a:lstStyle/>
                    <a:p>
                      <a:pPr algn="ctr" fontAlgn="ctr"/>
                      <a:r>
                        <a:rPr lang="en-US" sz="1000" b="0" i="0" u="none" strike="noStrike">
                          <a:solidFill>
                            <a:schemeClr val="tx1"/>
                          </a:solidFill>
                          <a:effectLst/>
                          <a:latin typeface="+mn-lt"/>
                          <a:cs typeface="Calibri" panose="020F0502020204030204" pitchFamily="34" charset="0"/>
                        </a:rPr>
                        <a:t>28.5</a:t>
                      </a:r>
                    </a:p>
                  </a:txBody>
                  <a:tcPr marL="27432" marR="27432" marT="18288" marB="18288" anchor="ctr"/>
                </a:tc>
                <a:tc>
                  <a:txBody>
                    <a:bodyPr/>
                    <a:lstStyle/>
                    <a:p>
                      <a:pPr algn="ctr" fontAlgn="ctr"/>
                      <a:r>
                        <a:rPr lang="en-US" sz="1000" b="0" i="0" u="none" strike="noStrike" dirty="0">
                          <a:solidFill>
                            <a:schemeClr val="tx1"/>
                          </a:solidFill>
                          <a:effectLst/>
                          <a:latin typeface="+mn-lt"/>
                          <a:cs typeface="Calibri" panose="020F0502020204030204" pitchFamily="34" charset="0"/>
                        </a:rPr>
                        <a:t>6-May-16</a:t>
                      </a:r>
                    </a:p>
                  </a:txBody>
                  <a:tcPr marL="27432" marR="27432" marT="18288" marB="18288" anchor="ctr"/>
                </a:tc>
                <a:tc>
                  <a:txBody>
                    <a:bodyPr/>
                    <a:lstStyle/>
                    <a:p>
                      <a:pPr algn="ctr" fontAlgn="ctr"/>
                      <a:r>
                        <a:rPr lang="en-US" sz="1000" b="0" i="0" u="none" strike="noStrike" dirty="0">
                          <a:solidFill>
                            <a:schemeClr val="tx1"/>
                          </a:solidFill>
                          <a:effectLst/>
                          <a:latin typeface="+mn-lt"/>
                          <a:cs typeface="Calibri" panose="020F0502020204030204" pitchFamily="34" charset="0"/>
                        </a:rPr>
                        <a:t>31-May-16</a:t>
                      </a:r>
                    </a:p>
                  </a:txBody>
                  <a:tcPr marL="27432" marR="27432" marT="18288" marB="18288" anchor="ctr"/>
                </a:tc>
                <a:tc>
                  <a:txBody>
                    <a:bodyPr/>
                    <a:lstStyle/>
                    <a:p>
                      <a:pPr algn="ctr" fontAlgn="ctr"/>
                      <a:r>
                        <a:rPr lang="en-US" sz="1000" b="0" i="0" u="none" strike="noStrike" dirty="0">
                          <a:solidFill>
                            <a:schemeClr val="tx1"/>
                          </a:solidFill>
                          <a:effectLst/>
                          <a:latin typeface="+mn-lt"/>
                          <a:cs typeface="Calibri" panose="020F0502020204030204" pitchFamily="34" charset="0"/>
                        </a:rPr>
                        <a:t>26.09</a:t>
                      </a:r>
                    </a:p>
                  </a:txBody>
                  <a:tcPr marL="27432" marR="27432" marT="18288" marB="18288" anchor="ctr"/>
                </a:tc>
                <a:tc>
                  <a:txBody>
                    <a:bodyPr/>
                    <a:lstStyle/>
                    <a:p>
                      <a:pPr algn="ctr" fontAlgn="ctr"/>
                      <a:r>
                        <a:rPr lang="en-US" sz="1000" b="0" i="0" u="none" strike="noStrike" dirty="0">
                          <a:solidFill>
                            <a:schemeClr val="tx1"/>
                          </a:solidFill>
                          <a:effectLst/>
                          <a:latin typeface="+mn-lt"/>
                          <a:cs typeface="Calibri" panose="020F0502020204030204" pitchFamily="34" charset="0"/>
                        </a:rPr>
                        <a:t>5-Aug-16</a:t>
                      </a:r>
                    </a:p>
                  </a:txBody>
                  <a:tcPr marL="27432" marR="27432" marT="18288" marB="18288" anchor="ctr"/>
                </a:tc>
                <a:tc>
                  <a:txBody>
                    <a:bodyPr/>
                    <a:lstStyle/>
                    <a:p>
                      <a:pPr algn="ctr" fontAlgn="ctr"/>
                      <a:r>
                        <a:rPr lang="en-US" sz="1000" b="0" i="0" u="none" strike="noStrike" dirty="0">
                          <a:solidFill>
                            <a:schemeClr val="tx1"/>
                          </a:solidFill>
                          <a:effectLst/>
                          <a:latin typeface="+mn-lt"/>
                          <a:cs typeface="Calibri" panose="020F0502020204030204" pitchFamily="34" charset="0"/>
                        </a:rPr>
                        <a:t>23.48</a:t>
                      </a:r>
                    </a:p>
                  </a:txBody>
                  <a:tcPr marL="27432" marR="27432" marT="18288" marB="18288" anchor="ctr"/>
                </a:tc>
                <a:tc>
                  <a:txBody>
                    <a:bodyPr/>
                    <a:lstStyle/>
                    <a:p>
                      <a:pPr algn="ctr" fontAlgn="ctr"/>
                      <a:r>
                        <a:rPr lang="en-US" sz="1000" b="0" i="0" u="none" strike="noStrike" dirty="0">
                          <a:solidFill>
                            <a:schemeClr val="tx1"/>
                          </a:solidFill>
                          <a:effectLst/>
                          <a:latin typeface="+mn-lt"/>
                          <a:cs typeface="Calibri" panose="020F0502020204030204" pitchFamily="34" charset="0"/>
                        </a:rPr>
                        <a:t>19-Aug-16</a:t>
                      </a:r>
                    </a:p>
                  </a:txBody>
                  <a:tcPr marL="27432" marR="27432" marT="18288" marB="18288" anchor="ctr"/>
                </a:tc>
                <a:tc>
                  <a:txBody>
                    <a:bodyPr/>
                    <a:lstStyle/>
                    <a:p>
                      <a:pPr algn="ctr" fontAlgn="ctr"/>
                      <a:r>
                        <a:rPr lang="en-US" sz="1000" b="0" i="0" u="none" strike="noStrike">
                          <a:solidFill>
                            <a:schemeClr val="tx1"/>
                          </a:solidFill>
                          <a:effectLst/>
                          <a:latin typeface="+mn-lt"/>
                          <a:cs typeface="Calibri" panose="020F0502020204030204" pitchFamily="34" charset="0"/>
                        </a:rPr>
                        <a:t>5-Sep-16</a:t>
                      </a:r>
                    </a:p>
                  </a:txBody>
                  <a:tcPr marL="27432" marR="27432" marT="18288" marB="18288" anchor="ctr"/>
                </a:tc>
                <a:tc>
                  <a:txBody>
                    <a:bodyPr/>
                    <a:lstStyle/>
                    <a:p>
                      <a:pPr algn="ctr" fontAlgn="ctr"/>
                      <a:r>
                        <a:rPr lang="en-US" sz="1000" b="0" i="0" u="none" strike="noStrike" dirty="0">
                          <a:solidFill>
                            <a:schemeClr val="tx1"/>
                          </a:solidFill>
                          <a:effectLst/>
                          <a:latin typeface="+mn-lt"/>
                          <a:cs typeface="Calibri" panose="020F0502020204030204" pitchFamily="34" charset="0"/>
                        </a:rPr>
                        <a:t>29-Dec-16</a:t>
                      </a:r>
                    </a:p>
                  </a:txBody>
                  <a:tcPr marL="27432" marR="27432" marT="18288" marB="18288" anchor="ctr"/>
                </a:tc>
                <a:tc>
                  <a:txBody>
                    <a:bodyPr/>
                    <a:lstStyle/>
                    <a:p>
                      <a:pPr algn="ctr" fontAlgn="ctr"/>
                      <a:r>
                        <a:rPr lang="en-US" sz="1000" dirty="0">
                          <a:latin typeface="+mn-lt"/>
                          <a:cs typeface="Calibri" panose="020F0502020204030204" pitchFamily="34" charset="0"/>
                        </a:rPr>
                        <a:t>18-Nov-18 </a:t>
                      </a:r>
                      <a:endParaRPr lang="en-US" sz="1000" b="0" i="0" u="none" strike="noStrike" dirty="0">
                        <a:solidFill>
                          <a:schemeClr val="tx1"/>
                        </a:solidFill>
                        <a:effectLst/>
                        <a:latin typeface="+mn-lt"/>
                        <a:cs typeface="Calibri" panose="020F0502020204030204" pitchFamily="34" charset="0"/>
                      </a:endParaRPr>
                    </a:p>
                  </a:txBody>
                  <a:tcPr marL="27432" marR="27432" marT="18288" marB="18288" anchor="ctr"/>
                </a:tc>
                <a:tc>
                  <a:txBody>
                    <a:bodyPr/>
                    <a:lstStyle/>
                    <a:p>
                      <a:pPr algn="ctr" fontAlgn="ctr"/>
                      <a:r>
                        <a:rPr lang="en-US" sz="1000" dirty="0">
                          <a:latin typeface="+mn-lt"/>
                          <a:cs typeface="Calibri" panose="020F0502020204030204" pitchFamily="34" charset="0"/>
                        </a:rPr>
                        <a:t>21.13</a:t>
                      </a:r>
                      <a:endParaRPr lang="en-US" sz="1000" b="0" i="0" u="none" strike="noStrike" dirty="0">
                        <a:solidFill>
                          <a:schemeClr val="tx1"/>
                        </a:solidFill>
                        <a:effectLst/>
                        <a:latin typeface="+mn-lt"/>
                        <a:cs typeface="Calibri" panose="020F0502020204030204" pitchFamily="34" charset="0"/>
                      </a:endParaRPr>
                    </a:p>
                  </a:txBody>
                  <a:tcPr marL="27432" marR="27432" marT="18288" marB="18288" anchor="ctr"/>
                </a:tc>
                <a:tc>
                  <a:txBody>
                    <a:bodyPr/>
                    <a:lstStyle/>
                    <a:p>
                      <a:pPr algn="ctr" fontAlgn="ctr"/>
                      <a:r>
                        <a:rPr lang="en-US" sz="1000" dirty="0">
                          <a:latin typeface="+mn-lt"/>
                          <a:cs typeface="Calibri" panose="020F0502020204030204" pitchFamily="34" charset="0"/>
                        </a:rPr>
                        <a:t>32.09</a:t>
                      </a:r>
                      <a:endParaRPr lang="en-US" sz="1000" b="0" i="0" u="none" strike="noStrike" dirty="0">
                        <a:solidFill>
                          <a:schemeClr val="tx1"/>
                        </a:solidFill>
                        <a:effectLst/>
                        <a:latin typeface="+mn-lt"/>
                        <a:cs typeface="Calibri" panose="020F0502020204030204" pitchFamily="34" charset="0"/>
                      </a:endParaRPr>
                    </a:p>
                  </a:txBody>
                  <a:tcPr marL="27432" marR="27432" marT="18288" marB="18288" anchor="ctr"/>
                </a:tc>
                <a:tc>
                  <a:txBody>
                    <a:bodyPr/>
                    <a:lstStyle/>
                    <a:p>
                      <a:pPr algn="l" fontAlgn="ctr"/>
                      <a:r>
                        <a:rPr lang="en-US" sz="1000" dirty="0">
                          <a:latin typeface="+mn-lt"/>
                          <a:cs typeface="Calibri" panose="020F0502020204030204" pitchFamily="34" charset="0"/>
                        </a:rPr>
                        <a:t>Target date for completion of project is Sept.'21 subject to availability of S/D &amp; Covid scenario. Request for release for final 10% grant has been placed.</a:t>
                      </a:r>
                      <a:endParaRPr lang="en-US" sz="1000" b="0" i="0" u="none" strike="noStrike" dirty="0">
                        <a:solidFill>
                          <a:schemeClr val="tx1"/>
                        </a:solidFill>
                        <a:effectLst/>
                        <a:latin typeface="+mn-lt"/>
                        <a:cs typeface="Calibri" panose="020F0502020204030204" pitchFamily="34" charset="0"/>
                      </a:endParaRPr>
                    </a:p>
                  </a:txBody>
                  <a:tcPr marL="27432" marR="27432" marT="18288" marB="18288" anchor="ctr"/>
                </a:tc>
                <a:extLst>
                  <a:ext uri="{0D108BD9-81ED-4DB2-BD59-A6C34878D82A}">
                    <a16:rowId xmlns:a16="http://schemas.microsoft.com/office/drawing/2014/main" val="2504034747"/>
                  </a:ext>
                </a:extLst>
              </a:tr>
              <a:tr h="970452">
                <a:tc>
                  <a:txBody>
                    <a:bodyPr/>
                    <a:lstStyle/>
                    <a:p>
                      <a:pPr algn="l" fontAlgn="ctr"/>
                      <a:r>
                        <a:rPr lang="en-US" sz="1000" b="1" i="0" u="none" strike="noStrike" dirty="0">
                          <a:solidFill>
                            <a:schemeClr val="tx1"/>
                          </a:solidFill>
                          <a:effectLst/>
                          <a:latin typeface="+mn-lt"/>
                          <a:cs typeface="Calibri" panose="020F0502020204030204" pitchFamily="34" charset="0"/>
                        </a:rPr>
                        <a:t>Implementation of Islanding scheme at Bandel Thermal Power Station. (097)</a:t>
                      </a:r>
                    </a:p>
                  </a:txBody>
                  <a:tcPr marR="27432" marT="18288" marB="18288" anchor="ctr">
                    <a:solidFill>
                      <a:schemeClr val="bg2">
                        <a:lumMod val="90000"/>
                      </a:schemeClr>
                    </a:solidFill>
                  </a:tcPr>
                </a:tc>
                <a:tc>
                  <a:txBody>
                    <a:bodyPr/>
                    <a:lstStyle/>
                    <a:p>
                      <a:pPr algn="ctr" fontAlgn="ctr"/>
                      <a:r>
                        <a:rPr lang="en-US" sz="1000" b="0" i="0" u="none" strike="noStrike">
                          <a:solidFill>
                            <a:schemeClr val="tx1"/>
                          </a:solidFill>
                          <a:effectLst/>
                          <a:latin typeface="+mn-lt"/>
                          <a:cs typeface="Calibri" panose="020F0502020204030204" pitchFamily="34" charset="0"/>
                        </a:rPr>
                        <a:t>27-Jun-16</a:t>
                      </a:r>
                    </a:p>
                  </a:txBody>
                  <a:tcPr marL="27432" marR="27432" marT="18288" marB="18288" anchor="ctr"/>
                </a:tc>
                <a:tc>
                  <a:txBody>
                    <a:bodyPr/>
                    <a:lstStyle/>
                    <a:p>
                      <a:pPr algn="ctr" fontAlgn="ctr"/>
                      <a:r>
                        <a:rPr lang="en-US" sz="1000" b="0" i="0" u="none" strike="noStrike">
                          <a:solidFill>
                            <a:schemeClr val="tx1"/>
                          </a:solidFill>
                          <a:effectLst/>
                          <a:latin typeface="+mn-lt"/>
                          <a:cs typeface="Calibri" panose="020F0502020204030204" pitchFamily="34" charset="0"/>
                        </a:rPr>
                        <a:t>1.64</a:t>
                      </a:r>
                    </a:p>
                  </a:txBody>
                  <a:tcPr marL="27432" marR="27432" marT="18288" marB="18288" anchor="ctr"/>
                </a:tc>
                <a:tc>
                  <a:txBody>
                    <a:bodyPr/>
                    <a:lstStyle/>
                    <a:p>
                      <a:pPr algn="ctr" fontAlgn="ctr"/>
                      <a:r>
                        <a:rPr lang="en-US" sz="1000" b="0" i="0" u="none" strike="noStrike" dirty="0">
                          <a:solidFill>
                            <a:schemeClr val="tx1"/>
                          </a:solidFill>
                          <a:effectLst/>
                          <a:latin typeface="+mn-lt"/>
                          <a:cs typeface="Calibri" panose="020F0502020204030204" pitchFamily="34" charset="0"/>
                        </a:rPr>
                        <a:t>28-Sep-16</a:t>
                      </a:r>
                    </a:p>
                  </a:txBody>
                  <a:tcPr marL="27432" marR="27432" marT="18288" marB="18288" anchor="ctr"/>
                </a:tc>
                <a:tc>
                  <a:txBody>
                    <a:bodyPr/>
                    <a:lstStyle/>
                    <a:p>
                      <a:pPr algn="ctr" fontAlgn="ctr"/>
                      <a:r>
                        <a:rPr lang="en-US" sz="1000" b="0" i="0" u="none" strike="noStrike">
                          <a:solidFill>
                            <a:schemeClr val="tx1"/>
                          </a:solidFill>
                          <a:effectLst/>
                          <a:latin typeface="+mn-lt"/>
                          <a:cs typeface="Calibri" panose="020F0502020204030204" pitchFamily="34" charset="0"/>
                        </a:rPr>
                        <a:t>28-Oct-16</a:t>
                      </a:r>
                    </a:p>
                  </a:txBody>
                  <a:tcPr marL="27432" marR="27432" marT="18288" marB="18288" anchor="ctr"/>
                </a:tc>
                <a:tc>
                  <a:txBody>
                    <a:bodyPr/>
                    <a:lstStyle/>
                    <a:p>
                      <a:pPr algn="ctr" fontAlgn="ctr"/>
                      <a:r>
                        <a:rPr lang="en-US" sz="1000" b="0" i="0" u="none" strike="noStrike" dirty="0">
                          <a:solidFill>
                            <a:schemeClr val="tx1"/>
                          </a:solidFill>
                          <a:effectLst/>
                          <a:latin typeface="+mn-lt"/>
                          <a:cs typeface="Calibri" panose="020F0502020204030204" pitchFamily="34" charset="0"/>
                        </a:rPr>
                        <a:t>1.54</a:t>
                      </a:r>
                    </a:p>
                  </a:txBody>
                  <a:tcPr marL="27432" marR="27432" marT="18288" marB="18288" anchor="ctr"/>
                </a:tc>
                <a:tc>
                  <a:txBody>
                    <a:bodyPr/>
                    <a:lstStyle/>
                    <a:p>
                      <a:pPr algn="ctr" fontAlgn="ctr"/>
                      <a:r>
                        <a:rPr lang="en-US" sz="1000" b="0" i="0" u="none" strike="noStrike">
                          <a:solidFill>
                            <a:schemeClr val="tx1"/>
                          </a:solidFill>
                          <a:effectLst/>
                          <a:latin typeface="+mn-lt"/>
                          <a:cs typeface="Calibri" panose="020F0502020204030204" pitchFamily="34" charset="0"/>
                        </a:rPr>
                        <a:t>5-May-17</a:t>
                      </a:r>
                    </a:p>
                  </a:txBody>
                  <a:tcPr marL="27432" marR="27432" marT="18288" marB="18288" anchor="ctr"/>
                </a:tc>
                <a:tc>
                  <a:txBody>
                    <a:bodyPr/>
                    <a:lstStyle/>
                    <a:p>
                      <a:pPr algn="ctr" fontAlgn="ctr"/>
                      <a:r>
                        <a:rPr lang="en-US" sz="1000" b="0" i="0" u="none" strike="noStrike">
                          <a:solidFill>
                            <a:schemeClr val="tx1"/>
                          </a:solidFill>
                          <a:effectLst/>
                          <a:latin typeface="+mn-lt"/>
                          <a:cs typeface="Calibri" panose="020F0502020204030204" pitchFamily="34" charset="0"/>
                        </a:rPr>
                        <a:t>1.39</a:t>
                      </a:r>
                    </a:p>
                  </a:txBody>
                  <a:tcPr marL="27432" marR="27432" marT="18288" marB="18288" anchor="ctr"/>
                </a:tc>
                <a:tc>
                  <a:txBody>
                    <a:bodyPr/>
                    <a:lstStyle/>
                    <a:p>
                      <a:pPr algn="ctr" fontAlgn="ctr"/>
                      <a:r>
                        <a:rPr lang="en-US" sz="1000" b="0" i="0" u="none" strike="noStrike" dirty="0">
                          <a:solidFill>
                            <a:schemeClr val="tx1"/>
                          </a:solidFill>
                          <a:effectLst/>
                          <a:latin typeface="+mn-lt"/>
                          <a:cs typeface="Calibri" panose="020F0502020204030204" pitchFamily="34" charset="0"/>
                        </a:rPr>
                        <a:t>10-Apr-17</a:t>
                      </a:r>
                    </a:p>
                  </a:txBody>
                  <a:tcPr marL="27432" marR="27432" marT="18288" marB="18288" anchor="ctr"/>
                </a:tc>
                <a:tc>
                  <a:txBody>
                    <a:bodyPr/>
                    <a:lstStyle/>
                    <a:p>
                      <a:pPr algn="ctr" fontAlgn="ctr"/>
                      <a:r>
                        <a:rPr lang="en-US" sz="1000" b="0" i="0" u="none" strike="noStrike" dirty="0">
                          <a:solidFill>
                            <a:schemeClr val="tx1"/>
                          </a:solidFill>
                          <a:effectLst/>
                          <a:latin typeface="+mn-lt"/>
                          <a:cs typeface="Calibri" panose="020F0502020204030204" pitchFamily="34" charset="0"/>
                        </a:rPr>
                        <a:t>16-May-17</a:t>
                      </a:r>
                    </a:p>
                  </a:txBody>
                  <a:tcPr marL="27432" marR="27432" marT="18288" marB="18288" anchor="ctr"/>
                </a:tc>
                <a:tc>
                  <a:txBody>
                    <a:bodyPr/>
                    <a:lstStyle/>
                    <a:p>
                      <a:pPr algn="ctr" fontAlgn="ctr"/>
                      <a:r>
                        <a:rPr lang="en-US" sz="1000" b="0" i="0" u="none" strike="noStrike" dirty="0">
                          <a:solidFill>
                            <a:schemeClr val="tx1"/>
                          </a:solidFill>
                          <a:effectLst/>
                          <a:latin typeface="+mn-lt"/>
                          <a:cs typeface="Calibri" panose="020F0502020204030204" pitchFamily="34" charset="0"/>
                        </a:rPr>
                        <a:t>10-Aug-17</a:t>
                      </a:r>
                    </a:p>
                  </a:txBody>
                  <a:tcPr marL="27432" marR="27432" marT="18288" marB="18288" anchor="ctr"/>
                </a:tc>
                <a:tc>
                  <a:txBody>
                    <a:bodyPr/>
                    <a:lstStyle/>
                    <a:p>
                      <a:pPr algn="ctr" fontAlgn="ctr"/>
                      <a:endParaRPr lang="en-US" sz="1000" b="0" i="0" u="none" strike="noStrike" dirty="0">
                        <a:solidFill>
                          <a:schemeClr val="tx1"/>
                        </a:solidFill>
                        <a:effectLst/>
                        <a:latin typeface="+mn-lt"/>
                        <a:cs typeface="Calibri" panose="020F0502020204030204" pitchFamily="34" charset="0"/>
                      </a:endParaRPr>
                    </a:p>
                  </a:txBody>
                  <a:tcPr marL="27432" marR="27432" marT="18288" marB="18288" anchor="ctr"/>
                </a:tc>
                <a:tc>
                  <a:txBody>
                    <a:bodyPr/>
                    <a:lstStyle/>
                    <a:p>
                      <a:pPr algn="ctr" fontAlgn="ctr"/>
                      <a:endParaRPr lang="en-US" sz="1000" b="0" i="0" u="none" strike="noStrike" dirty="0">
                        <a:solidFill>
                          <a:schemeClr val="tx1"/>
                        </a:solidFill>
                        <a:effectLst/>
                        <a:latin typeface="+mn-lt"/>
                        <a:cs typeface="Calibri" panose="020F0502020204030204" pitchFamily="34" charset="0"/>
                      </a:endParaRPr>
                    </a:p>
                  </a:txBody>
                  <a:tcPr marL="27432" marR="27432" marT="18288" marB="18288" anchor="ctr"/>
                </a:tc>
                <a:tc>
                  <a:txBody>
                    <a:bodyPr/>
                    <a:lstStyle/>
                    <a:p>
                      <a:pPr algn="ctr" fontAlgn="ctr"/>
                      <a:endParaRPr lang="en-US" sz="1000" b="0" i="0" u="none" strike="noStrike" dirty="0">
                        <a:solidFill>
                          <a:schemeClr val="tx1"/>
                        </a:solidFill>
                        <a:effectLst/>
                        <a:latin typeface="+mn-lt"/>
                        <a:cs typeface="Calibri" panose="020F0502020204030204" pitchFamily="34" charset="0"/>
                      </a:endParaRPr>
                    </a:p>
                  </a:txBody>
                  <a:tcPr marL="27432" marR="27432" marT="18288" marB="18288" anchor="ctr"/>
                </a:tc>
                <a:tc>
                  <a:txBody>
                    <a:bodyPr/>
                    <a:lstStyle/>
                    <a:p>
                      <a:pPr algn="l" fontAlgn="ctr"/>
                      <a:endParaRPr lang="en-US" sz="1000" b="0" i="0" u="none" strike="noStrike" dirty="0">
                        <a:solidFill>
                          <a:schemeClr val="tx1"/>
                        </a:solidFill>
                        <a:effectLst/>
                        <a:latin typeface="+mn-lt"/>
                        <a:cs typeface="Calibri" panose="020F0502020204030204" pitchFamily="34" charset="0"/>
                      </a:endParaRPr>
                    </a:p>
                  </a:txBody>
                  <a:tcPr marL="27432" marR="27432" marT="18288" marB="18288" anchor="ctr"/>
                </a:tc>
                <a:extLst>
                  <a:ext uri="{0D108BD9-81ED-4DB2-BD59-A6C34878D82A}">
                    <a16:rowId xmlns:a16="http://schemas.microsoft.com/office/drawing/2014/main" val="2922486789"/>
                  </a:ext>
                </a:extLst>
              </a:tr>
              <a:tr h="1716954">
                <a:tc>
                  <a:txBody>
                    <a:bodyPr/>
                    <a:lstStyle/>
                    <a:p>
                      <a:pPr algn="l" fontAlgn="ctr"/>
                      <a:r>
                        <a:rPr lang="en-US" sz="1000" b="1" i="0" u="none" strike="noStrike" dirty="0">
                          <a:solidFill>
                            <a:schemeClr val="tx1"/>
                          </a:solidFill>
                          <a:effectLst/>
                          <a:latin typeface="+mn-lt"/>
                          <a:cs typeface="Calibri" panose="020F0502020204030204" pitchFamily="34" charset="0"/>
                        </a:rPr>
                        <a:t>Renovation and Modernization of switchyard and related protection system of different power stations (BTPS, BKTPS and KTPS) of WBPDCL (155)</a:t>
                      </a:r>
                    </a:p>
                  </a:txBody>
                  <a:tcPr marR="27432" marT="18288" marB="18288" anchor="ctr">
                    <a:solidFill>
                      <a:schemeClr val="bg2">
                        <a:lumMod val="90000"/>
                      </a:schemeClr>
                    </a:solidFill>
                  </a:tcPr>
                </a:tc>
                <a:tc>
                  <a:txBody>
                    <a:bodyPr/>
                    <a:lstStyle/>
                    <a:p>
                      <a:pPr algn="ctr" fontAlgn="ctr"/>
                      <a:r>
                        <a:rPr lang="en-US" sz="1000" b="0" i="0" u="none" strike="noStrike">
                          <a:solidFill>
                            <a:schemeClr val="tx1"/>
                          </a:solidFill>
                          <a:effectLst/>
                          <a:latin typeface="+mn-lt"/>
                          <a:cs typeface="Calibri" panose="020F0502020204030204" pitchFamily="34" charset="0"/>
                        </a:rPr>
                        <a:t>26-Apr-17</a:t>
                      </a:r>
                    </a:p>
                  </a:txBody>
                  <a:tcPr marL="27432" marR="27432" marT="18288" marB="18288" anchor="ctr"/>
                </a:tc>
                <a:tc>
                  <a:txBody>
                    <a:bodyPr/>
                    <a:lstStyle/>
                    <a:p>
                      <a:pPr algn="ctr" fontAlgn="ctr"/>
                      <a:r>
                        <a:rPr lang="en-US" sz="1000" b="0" i="0" u="none" strike="noStrike">
                          <a:solidFill>
                            <a:schemeClr val="tx1"/>
                          </a:solidFill>
                          <a:effectLst/>
                          <a:latin typeface="+mn-lt"/>
                          <a:cs typeface="Calibri" panose="020F0502020204030204" pitchFamily="34" charset="0"/>
                        </a:rPr>
                        <a:t>110.5</a:t>
                      </a:r>
                    </a:p>
                  </a:txBody>
                  <a:tcPr marL="27432" marR="27432" marT="18288" marB="18288" anchor="ctr"/>
                </a:tc>
                <a:tc>
                  <a:txBody>
                    <a:bodyPr/>
                    <a:lstStyle/>
                    <a:p>
                      <a:pPr algn="ctr" fontAlgn="ctr"/>
                      <a:r>
                        <a:rPr lang="en-US" sz="1000" b="0" i="0" u="none" strike="noStrike">
                          <a:solidFill>
                            <a:schemeClr val="tx1"/>
                          </a:solidFill>
                          <a:effectLst/>
                          <a:latin typeface="+mn-lt"/>
                          <a:cs typeface="Calibri" panose="020F0502020204030204" pitchFamily="34" charset="0"/>
                        </a:rPr>
                        <a:t>29-Sep-17</a:t>
                      </a:r>
                    </a:p>
                  </a:txBody>
                  <a:tcPr marL="27432" marR="27432" marT="18288" marB="18288" anchor="ctr"/>
                </a:tc>
                <a:tc>
                  <a:txBody>
                    <a:bodyPr/>
                    <a:lstStyle/>
                    <a:p>
                      <a:pPr algn="ctr" fontAlgn="ctr"/>
                      <a:r>
                        <a:rPr lang="en-US" sz="1000" b="0" i="0" u="none" strike="noStrike" dirty="0">
                          <a:solidFill>
                            <a:schemeClr val="tx1"/>
                          </a:solidFill>
                          <a:effectLst/>
                          <a:latin typeface="+mn-lt"/>
                          <a:cs typeface="Calibri" panose="020F0502020204030204" pitchFamily="34" charset="0"/>
                        </a:rPr>
                        <a:t>5-Feb-18</a:t>
                      </a:r>
                    </a:p>
                  </a:txBody>
                  <a:tcPr marL="27432" marR="27432" marT="18288" marB="18288" anchor="ctr"/>
                </a:tc>
                <a:tc>
                  <a:txBody>
                    <a:bodyPr/>
                    <a:lstStyle/>
                    <a:p>
                      <a:pPr algn="ctr" fontAlgn="ctr"/>
                      <a:r>
                        <a:rPr lang="en-US" sz="1000" b="0" i="0" u="none" strike="noStrike">
                          <a:solidFill>
                            <a:schemeClr val="tx1"/>
                          </a:solidFill>
                          <a:effectLst/>
                          <a:latin typeface="+mn-lt"/>
                          <a:cs typeface="Calibri" panose="020F0502020204030204" pitchFamily="34" charset="0"/>
                        </a:rPr>
                        <a:t>50.18</a:t>
                      </a:r>
                    </a:p>
                  </a:txBody>
                  <a:tcPr marL="27432" marR="27432" marT="18288" marB="18288" anchor="ctr"/>
                </a:tc>
                <a:tc>
                  <a:txBody>
                    <a:bodyPr/>
                    <a:lstStyle/>
                    <a:p>
                      <a:pPr algn="ctr" fontAlgn="ctr"/>
                      <a:r>
                        <a:rPr lang="en-US" sz="1000" b="0" i="0" u="none" strike="noStrike">
                          <a:solidFill>
                            <a:schemeClr val="tx1"/>
                          </a:solidFill>
                          <a:effectLst/>
                          <a:latin typeface="+mn-lt"/>
                          <a:cs typeface="Calibri" panose="020F0502020204030204" pitchFamily="34" charset="0"/>
                        </a:rPr>
                        <a:t>14-Jun-18</a:t>
                      </a:r>
                    </a:p>
                  </a:txBody>
                  <a:tcPr marL="27432" marR="27432" marT="18288" marB="18288" anchor="ctr"/>
                </a:tc>
                <a:tc>
                  <a:txBody>
                    <a:bodyPr/>
                    <a:lstStyle/>
                    <a:p>
                      <a:pPr algn="ctr" fontAlgn="ctr"/>
                      <a:r>
                        <a:rPr lang="en-US" sz="1000" b="0" i="0" u="none" strike="noStrike">
                          <a:solidFill>
                            <a:schemeClr val="tx1"/>
                          </a:solidFill>
                          <a:effectLst/>
                          <a:latin typeface="+mn-lt"/>
                          <a:cs typeface="Calibri" panose="020F0502020204030204" pitchFamily="34" charset="0"/>
                        </a:rPr>
                        <a:t>45.16</a:t>
                      </a:r>
                    </a:p>
                  </a:txBody>
                  <a:tcPr marL="27432" marR="27432" marT="18288" marB="18288" anchor="ctr"/>
                </a:tc>
                <a:tc>
                  <a:txBody>
                    <a:bodyPr/>
                    <a:lstStyle/>
                    <a:p>
                      <a:pPr algn="ctr" fontAlgn="ctr"/>
                      <a:r>
                        <a:rPr lang="en-US" sz="1000" b="0" i="0" u="none" strike="noStrike">
                          <a:solidFill>
                            <a:schemeClr val="tx1"/>
                          </a:solidFill>
                          <a:effectLst/>
                          <a:latin typeface="+mn-lt"/>
                          <a:cs typeface="Calibri" panose="020F0502020204030204" pitchFamily="34" charset="0"/>
                        </a:rPr>
                        <a:t>2-May-18</a:t>
                      </a:r>
                    </a:p>
                  </a:txBody>
                  <a:tcPr marL="27432" marR="27432" marT="18288" marB="18288" anchor="ctr"/>
                </a:tc>
                <a:tc>
                  <a:txBody>
                    <a:bodyPr/>
                    <a:lstStyle/>
                    <a:p>
                      <a:pPr algn="ctr" fontAlgn="ctr"/>
                      <a:r>
                        <a:rPr lang="en-US" sz="1000" b="0" i="0" u="none" strike="noStrike">
                          <a:solidFill>
                            <a:schemeClr val="tx1"/>
                          </a:solidFill>
                          <a:effectLst/>
                          <a:latin typeface="+mn-lt"/>
                          <a:cs typeface="Calibri" panose="020F0502020204030204" pitchFamily="34" charset="0"/>
                        </a:rPr>
                        <a:t>27-Jul-18</a:t>
                      </a:r>
                    </a:p>
                  </a:txBody>
                  <a:tcPr marL="27432" marR="27432" marT="18288" marB="18288" anchor="ctr"/>
                </a:tc>
                <a:tc>
                  <a:txBody>
                    <a:bodyPr/>
                    <a:lstStyle/>
                    <a:p>
                      <a:pPr algn="ctr" fontAlgn="ctr"/>
                      <a:r>
                        <a:rPr lang="en-US" sz="1000" b="0" i="0" u="none" strike="noStrike" dirty="0">
                          <a:solidFill>
                            <a:schemeClr val="tx1"/>
                          </a:solidFill>
                          <a:effectLst/>
                          <a:latin typeface="+mn-lt"/>
                          <a:cs typeface="Calibri" panose="020F0502020204030204" pitchFamily="34" charset="0"/>
                        </a:rPr>
                        <a:t>20-Dec-18</a:t>
                      </a:r>
                    </a:p>
                  </a:txBody>
                  <a:tcPr marL="27432" marR="27432" marT="18288" marB="18288" anchor="ctr"/>
                </a:tc>
                <a:tc>
                  <a:txBody>
                    <a:bodyPr/>
                    <a:lstStyle/>
                    <a:p>
                      <a:pPr algn="ctr" fontAlgn="ctr"/>
                      <a:r>
                        <a:rPr lang="en-US" sz="1000" dirty="0">
                          <a:latin typeface="+mn-lt"/>
                          <a:cs typeface="Calibri" panose="020F0502020204030204" pitchFamily="34" charset="0"/>
                        </a:rPr>
                        <a:t>27-Mar-20 </a:t>
                      </a:r>
                      <a:endParaRPr lang="en-US" sz="1000" b="0" i="0" u="none" strike="noStrike" dirty="0">
                        <a:solidFill>
                          <a:schemeClr val="tx1"/>
                        </a:solidFill>
                        <a:effectLst/>
                        <a:latin typeface="+mn-lt"/>
                        <a:cs typeface="Calibri" panose="020F0502020204030204" pitchFamily="34" charset="0"/>
                      </a:endParaRPr>
                    </a:p>
                  </a:txBody>
                  <a:tcPr marL="27432" marR="27432" marT="18288" marB="18288" anchor="ctr"/>
                </a:tc>
                <a:tc>
                  <a:txBody>
                    <a:bodyPr/>
                    <a:lstStyle/>
                    <a:p>
                      <a:pPr algn="ctr" fontAlgn="ctr"/>
                      <a:r>
                        <a:rPr lang="en-US" sz="1000" dirty="0">
                          <a:latin typeface="+mn-lt"/>
                          <a:cs typeface="Calibri" panose="020F0502020204030204" pitchFamily="34" charset="0"/>
                        </a:rPr>
                        <a:t>34.52 </a:t>
                      </a:r>
                      <a:endParaRPr lang="en-US" sz="1000" b="0" i="0" u="none" strike="noStrike" dirty="0">
                        <a:solidFill>
                          <a:schemeClr val="tx1"/>
                        </a:solidFill>
                        <a:effectLst/>
                        <a:latin typeface="+mn-lt"/>
                        <a:cs typeface="Calibri" panose="020F0502020204030204" pitchFamily="34" charset="0"/>
                      </a:endParaRPr>
                    </a:p>
                  </a:txBody>
                  <a:tcPr marL="27432" marR="27432" marT="18288" marB="18288" anchor="ctr"/>
                </a:tc>
                <a:tc>
                  <a:txBody>
                    <a:bodyPr/>
                    <a:lstStyle/>
                    <a:p>
                      <a:pPr algn="ctr" fontAlgn="ctr"/>
                      <a:r>
                        <a:rPr lang="en-US" sz="1000" dirty="0">
                          <a:latin typeface="+mn-lt"/>
                          <a:cs typeface="Calibri" panose="020F0502020204030204" pitchFamily="34" charset="0"/>
                        </a:rPr>
                        <a:t>41.68 </a:t>
                      </a:r>
                      <a:endParaRPr lang="en-US" sz="1000" b="0" i="0" u="none" strike="noStrike" dirty="0">
                        <a:solidFill>
                          <a:schemeClr val="tx1"/>
                        </a:solidFill>
                        <a:effectLst/>
                        <a:latin typeface="+mn-lt"/>
                        <a:cs typeface="Calibri" panose="020F0502020204030204" pitchFamily="34" charset="0"/>
                      </a:endParaRPr>
                    </a:p>
                  </a:txBody>
                  <a:tcPr marL="27432" marR="27432" marT="18288" marB="18288" anchor="ctr"/>
                </a:tc>
                <a:tc>
                  <a:txBody>
                    <a:bodyPr/>
                    <a:lstStyle/>
                    <a:p>
                      <a:pPr algn="l" fontAlgn="ctr"/>
                      <a:r>
                        <a:rPr lang="en-US" sz="1000" dirty="0">
                          <a:latin typeface="+mn-lt"/>
                          <a:cs typeface="Calibri" panose="020F0502020204030204" pitchFamily="34" charset="0"/>
                        </a:rPr>
                        <a:t>Target date for completion of project is Oct'21, subject to availability of S/D &amp; Covid scenario. 90% grant availed on award cost.</a:t>
                      </a:r>
                      <a:endParaRPr lang="en-US" sz="1000" b="0" i="0" u="none" strike="noStrike" dirty="0">
                        <a:solidFill>
                          <a:schemeClr val="tx1"/>
                        </a:solidFill>
                        <a:effectLst/>
                        <a:latin typeface="+mn-lt"/>
                        <a:cs typeface="Calibri" panose="020F0502020204030204" pitchFamily="34" charset="0"/>
                      </a:endParaRPr>
                    </a:p>
                  </a:txBody>
                  <a:tcPr marL="27432" marR="27432" marT="18288" marB="18288" anchor="ctr"/>
                </a:tc>
                <a:extLst>
                  <a:ext uri="{0D108BD9-81ED-4DB2-BD59-A6C34878D82A}">
                    <a16:rowId xmlns:a16="http://schemas.microsoft.com/office/drawing/2014/main" val="2436252833"/>
                  </a:ext>
                </a:extLst>
              </a:tr>
            </a:tbl>
          </a:graphicData>
        </a:graphic>
      </p:graphicFrame>
      <p:sp>
        <p:nvSpPr>
          <p:cNvPr id="5" name="TextBox 4">
            <a:extLst>
              <a:ext uri="{FF2B5EF4-FFF2-40B4-BE49-F238E27FC236}">
                <a16:creationId xmlns:a16="http://schemas.microsoft.com/office/drawing/2014/main" id="{037A2CA2-56F5-482D-BD00-91C177F3FDE2}"/>
              </a:ext>
            </a:extLst>
          </p:cNvPr>
          <p:cNvSpPr txBox="1"/>
          <p:nvPr/>
        </p:nvSpPr>
        <p:spPr>
          <a:xfrm>
            <a:off x="3054022" y="6607890"/>
            <a:ext cx="6879086" cy="221599"/>
          </a:xfrm>
          <a:prstGeom prst="rect">
            <a:avLst/>
          </a:prstGeom>
          <a:noFill/>
        </p:spPr>
        <p:txBody>
          <a:bodyPr wrap="square" tIns="18288" bIns="18288">
            <a:spAutoFit/>
          </a:bodyPr>
          <a:lstStyle/>
          <a:p>
            <a:r>
              <a:rPr lang="en-US" sz="1200" b="1" dirty="0">
                <a:latin typeface="Calibri" panose="020F0502020204030204" pitchFamily="34" charset="0"/>
                <a:cs typeface="Calibri" panose="020F0502020204030204" pitchFamily="34" charset="0"/>
              </a:rPr>
              <a:t>Source : PSDF Website and http://erpc.gov.in/wp-content/uploads/2022/05/191st-OCC-Minutes.pdf </a:t>
            </a:r>
            <a:endParaRPr lang="en-US"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637596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608"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5" y="1416208"/>
            <a:ext cx="9630230" cy="861774"/>
          </a:xfrm>
        </p:spPr>
        <p:txBody>
          <a:bodyPr anchor="ctr" anchorCtr="0">
            <a:spAutoFit/>
          </a:bodyPr>
          <a:lstStyle/>
          <a:p>
            <a:r>
              <a:rPr lang="en-US" sz="2800" i="0" dirty="0">
                <a:solidFill>
                  <a:schemeClr val="tx1"/>
                </a:solidFill>
              </a:rPr>
              <a:t>Distribution Sector Performance Improvement Projects</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68992" y="1590786"/>
            <a:ext cx="501149" cy="501149"/>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2000" b="1" i="0" u="none" strike="noStrike" kern="0" cap="none" spc="0" normalizeH="0" baseline="0" noProof="0" dirty="0">
                <a:ln>
                  <a:noFill/>
                </a:ln>
                <a:solidFill>
                  <a:prstClr val="white"/>
                </a:solidFill>
                <a:effectLst/>
                <a:uLnTx/>
                <a:uFillTx/>
              </a:rPr>
              <a:t>3</a:t>
            </a:r>
            <a:endParaRPr kumimoji="0" lang="en-IN" sz="20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1B748CB-0B57-4CA1-9B41-81AB5E897267}"/>
              </a:ext>
            </a:extLst>
          </p:cNvPr>
          <p:cNvSpPr txBox="1"/>
          <p:nvPr/>
        </p:nvSpPr>
        <p:spPr>
          <a:xfrm>
            <a:off x="4756938" y="3445304"/>
            <a:ext cx="6976150" cy="2400657"/>
          </a:xfrm>
          <a:prstGeom prst="rect">
            <a:avLst/>
          </a:prstGeom>
          <a:noFill/>
        </p:spPr>
        <p:txBody>
          <a:bodyPr wrap="square" lIns="0" tIns="0" rIns="0" bIns="0" rtlCol="0">
            <a:spAutoFit/>
          </a:bodyPr>
          <a:lstStyle/>
          <a:p>
            <a:pPr>
              <a:spcBef>
                <a:spcPts val="1800"/>
              </a:spcBef>
              <a:buSzPct val="100000"/>
            </a:pPr>
            <a:r>
              <a:rPr lang="en-IN" sz="1400" b="1" dirty="0"/>
              <a:t>Topics Covered</a:t>
            </a:r>
          </a:p>
          <a:p>
            <a:pPr marL="800071" lvl="1" indent="-342900">
              <a:buSzPct val="100000"/>
              <a:buFont typeface="+mj-lt"/>
              <a:buAutoNum type="alphaUcPeriod"/>
            </a:pPr>
            <a:r>
              <a:rPr lang="en-IN" sz="1400" b="1" dirty="0"/>
              <a:t>DSIS (Distribution System Improvement Scheme) (REC Loan)</a:t>
            </a:r>
          </a:p>
          <a:p>
            <a:pPr marL="800071" lvl="1" indent="-342900">
              <a:buSzPct val="100000"/>
              <a:buFont typeface="+mj-lt"/>
              <a:buAutoNum type="alphaUcPeriod"/>
            </a:pPr>
            <a:r>
              <a:rPr lang="en-US" sz="1400" b="1" dirty="0"/>
              <a:t>Distribution Network Strengthening and Grid Modernization in its distribution system (WORLD BANK)</a:t>
            </a:r>
          </a:p>
          <a:p>
            <a:pPr marL="800071" lvl="1" indent="-342900">
              <a:buSzPct val="100000"/>
              <a:buFont typeface="+mj-lt"/>
              <a:buAutoNum type="alphaUcPeriod"/>
            </a:pPr>
            <a:r>
              <a:rPr lang="en-US" sz="1400" b="1" dirty="0"/>
              <a:t>HVDS WORK UNDER SPECIAL INFRASTRUCTURE PROJECT (SIP) under P&amp;NES, GoWB</a:t>
            </a:r>
          </a:p>
          <a:p>
            <a:pPr marL="800071" lvl="1" indent="-342900">
              <a:buSzPct val="100000"/>
              <a:buFont typeface="+mj-lt"/>
              <a:buAutoNum type="alphaUcPeriod"/>
            </a:pPr>
            <a:r>
              <a:rPr lang="en-US" sz="1400" b="1" dirty="0"/>
              <a:t>UG CABLING WORK UNDER GREEN CITY MISSION under UD&amp;MA, GoWB</a:t>
            </a:r>
          </a:p>
          <a:p>
            <a:pPr marL="800071" lvl="1" indent="-342900">
              <a:buSzPct val="100000"/>
              <a:buFont typeface="+mj-lt"/>
              <a:buAutoNum type="alphaUcPeriod"/>
            </a:pPr>
            <a:r>
              <a:rPr lang="en-US" sz="1400" b="1" dirty="0"/>
              <a:t>SEEDN (Strengthening &amp; Extending Electricity Distribution Network)</a:t>
            </a:r>
          </a:p>
        </p:txBody>
      </p: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5592090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4632"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635358" y="1691825"/>
            <a:ext cx="9630230" cy="307777"/>
          </a:xfrm>
        </p:spPr>
        <p:txBody>
          <a:bodyPr anchor="ctr" anchorCtr="0">
            <a:spAutoFit/>
          </a:bodyPr>
          <a:lstStyle/>
          <a:p>
            <a:r>
              <a:rPr lang="en-US" sz="2000" i="0" dirty="0">
                <a:solidFill>
                  <a:schemeClr val="tx1"/>
                </a:solidFill>
              </a:rPr>
              <a:t>DSIS (Distribution System Improvement Scheme) (REC Loan)</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68992" y="1590786"/>
            <a:ext cx="811893" cy="501149"/>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lang="en-IN" sz="1400" b="1" kern="0" dirty="0">
                <a:solidFill>
                  <a:prstClr val="white"/>
                </a:solidFill>
              </a:rPr>
              <a:t>3A</a:t>
            </a:r>
            <a:endParaRPr kumimoji="0" lang="en-IN" sz="1400" b="1" i="0" u="none" strike="noStrike" kern="0" cap="none" spc="0" normalizeH="0" baseline="0" noProof="0" dirty="0">
              <a:ln>
                <a:noFill/>
              </a:ln>
              <a:solidFill>
                <a:prstClr val="white"/>
              </a:solidFill>
              <a:effectLst/>
              <a:uLnTx/>
              <a:uFillTx/>
            </a:endParaRPr>
          </a:p>
        </p:txBody>
      </p:sp>
      <p:grpSp>
        <p:nvGrpSpPr>
          <p:cNvPr id="14" name="Group 526">
            <a:extLst>
              <a:ext uri="{FF2B5EF4-FFF2-40B4-BE49-F238E27FC236}">
                <a16:creationId xmlns:a16="http://schemas.microsoft.com/office/drawing/2014/main" id="{5540E149-1F19-4064-9714-B21FD0705489}"/>
              </a:ext>
            </a:extLst>
          </p:cNvPr>
          <p:cNvGrpSpPr>
            <a:grpSpLocks noChangeAspect="1"/>
          </p:cNvGrpSpPr>
          <p:nvPr/>
        </p:nvGrpSpPr>
        <p:grpSpPr bwMode="auto">
          <a:xfrm>
            <a:off x="1104225" y="3008313"/>
            <a:ext cx="2345264" cy="2345264"/>
            <a:chOff x="3464" y="1974"/>
            <a:chExt cx="340" cy="340"/>
          </a:xfrm>
          <a:solidFill>
            <a:srgbClr val="9CAC00"/>
          </a:solidFill>
        </p:grpSpPr>
        <p:sp>
          <p:nvSpPr>
            <p:cNvPr id="15" name="Freeform 527">
              <a:extLst>
                <a:ext uri="{FF2B5EF4-FFF2-40B4-BE49-F238E27FC236}">
                  <a16:creationId xmlns:a16="http://schemas.microsoft.com/office/drawing/2014/main" id="{2261B12D-A407-4719-9125-F49F83DDB571}"/>
                </a:ext>
              </a:extLst>
            </p:cNvPr>
            <p:cNvSpPr>
              <a:spLocks noEditPoints="1"/>
            </p:cNvSpPr>
            <p:nvPr/>
          </p:nvSpPr>
          <p:spPr bwMode="auto">
            <a:xfrm>
              <a:off x="3464" y="197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528">
              <a:extLst>
                <a:ext uri="{FF2B5EF4-FFF2-40B4-BE49-F238E27FC236}">
                  <a16:creationId xmlns:a16="http://schemas.microsoft.com/office/drawing/2014/main" id="{4FB09AB9-A79B-434D-9DE7-187BE7279860}"/>
                </a:ext>
              </a:extLst>
            </p:cNvPr>
            <p:cNvSpPr>
              <a:spLocks noEditPoints="1"/>
            </p:cNvSpPr>
            <p:nvPr/>
          </p:nvSpPr>
          <p:spPr bwMode="auto">
            <a:xfrm>
              <a:off x="3541" y="2037"/>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7367653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193988"/>
            <a:ext cx="11188700" cy="368299"/>
          </a:xfrm>
        </p:spPr>
        <p:txBody>
          <a:bodyPr vert="horz"/>
          <a:lstStyle/>
          <a:p>
            <a:pPr algn="just"/>
            <a:r>
              <a:rPr lang="en-US" sz="1800" i="0" dirty="0">
                <a:solidFill>
                  <a:schemeClr val="tx1"/>
                </a:solidFill>
                <a:latin typeface="+mj-lt"/>
              </a:rPr>
              <a:t>Background of DSIS Scheme</a:t>
            </a:r>
          </a:p>
        </p:txBody>
      </p:sp>
      <p:sp>
        <p:nvSpPr>
          <p:cNvPr id="20" name="TextBox 19">
            <a:extLst>
              <a:ext uri="{FF2B5EF4-FFF2-40B4-BE49-F238E27FC236}">
                <a16:creationId xmlns:a16="http://schemas.microsoft.com/office/drawing/2014/main" id="{B5649F8E-F122-4FAE-814F-DF7010DD21DF}"/>
              </a:ext>
            </a:extLst>
          </p:cNvPr>
          <p:cNvSpPr txBox="1"/>
          <p:nvPr/>
        </p:nvSpPr>
        <p:spPr>
          <a:xfrm>
            <a:off x="10223528" y="5663957"/>
            <a:ext cx="1164771" cy="169277"/>
          </a:xfrm>
          <a:prstGeom prst="rect">
            <a:avLst/>
          </a:prstGeom>
          <a:noFill/>
        </p:spPr>
        <p:txBody>
          <a:bodyPr wrap="square" lIns="0" tIns="0" rIns="0" bIns="0" rtlCol="0">
            <a:spAutoFit/>
          </a:bodyPr>
          <a:lstStyle/>
          <a:p>
            <a:pPr algn="ctr">
              <a:spcBef>
                <a:spcPts val="600"/>
              </a:spcBef>
              <a:buSzPct val="100000"/>
            </a:pPr>
            <a:r>
              <a:rPr lang="en-US" sz="1100" b="1" dirty="0">
                <a:solidFill>
                  <a:schemeClr val="bg1"/>
                </a:solidFill>
                <a:latin typeface="+mj-lt"/>
                <a:cs typeface="Calibri" panose="020F0502020204030204" pitchFamily="34" charset="0"/>
              </a:rPr>
              <a:t>GOA ( Grant)</a:t>
            </a:r>
          </a:p>
        </p:txBody>
      </p:sp>
      <p:sp>
        <p:nvSpPr>
          <p:cNvPr id="47" name="TextBox 46">
            <a:extLst>
              <a:ext uri="{FF2B5EF4-FFF2-40B4-BE49-F238E27FC236}">
                <a16:creationId xmlns:a16="http://schemas.microsoft.com/office/drawing/2014/main" id="{61A0BC5C-2F3A-41B7-92FD-DD59085988D6}"/>
              </a:ext>
            </a:extLst>
          </p:cNvPr>
          <p:cNvSpPr txBox="1"/>
          <p:nvPr/>
        </p:nvSpPr>
        <p:spPr>
          <a:xfrm>
            <a:off x="8939014" y="4692765"/>
            <a:ext cx="1284514" cy="169277"/>
          </a:xfrm>
          <a:prstGeom prst="rect">
            <a:avLst/>
          </a:prstGeom>
          <a:noFill/>
        </p:spPr>
        <p:txBody>
          <a:bodyPr wrap="square" lIns="0" tIns="0" rIns="0" bIns="0" rtlCol="0">
            <a:spAutoFit/>
          </a:bodyPr>
          <a:lstStyle/>
          <a:p>
            <a:pPr algn="ctr">
              <a:spcBef>
                <a:spcPts val="600"/>
              </a:spcBef>
              <a:buSzPct val="100000"/>
            </a:pPr>
            <a:r>
              <a:rPr lang="en-US" sz="1100" b="1" dirty="0">
                <a:solidFill>
                  <a:schemeClr val="bg1"/>
                </a:solidFill>
                <a:latin typeface="+mj-lt"/>
                <a:cs typeface="Calibri" panose="020F0502020204030204" pitchFamily="34" charset="0"/>
              </a:rPr>
              <a:t>GOWB ( Grant)</a:t>
            </a:r>
          </a:p>
        </p:txBody>
      </p:sp>
      <p:sp>
        <p:nvSpPr>
          <p:cNvPr id="9" name="TextBox 8">
            <a:extLst>
              <a:ext uri="{FF2B5EF4-FFF2-40B4-BE49-F238E27FC236}">
                <a16:creationId xmlns:a16="http://schemas.microsoft.com/office/drawing/2014/main" id="{0AD044FD-E808-42E4-AAAB-B827AA8A5FFE}"/>
              </a:ext>
            </a:extLst>
          </p:cNvPr>
          <p:cNvSpPr txBox="1"/>
          <p:nvPr/>
        </p:nvSpPr>
        <p:spPr>
          <a:xfrm>
            <a:off x="3132269" y="6605307"/>
            <a:ext cx="6924236" cy="169277"/>
          </a:xfrm>
          <a:prstGeom prst="rect">
            <a:avLst/>
          </a:prstGeom>
          <a:noFill/>
        </p:spPr>
        <p:txBody>
          <a:bodyPr wrap="square" lIns="0" tIns="0" rIns="0" bIns="0" rtlCol="0">
            <a:spAutoFit/>
          </a:bodyPr>
          <a:lstStyle/>
          <a:p>
            <a:pPr>
              <a:spcBef>
                <a:spcPts val="600"/>
              </a:spcBef>
              <a:buSzPct val="100000"/>
            </a:pPr>
            <a:r>
              <a:rPr lang="en-US" sz="1100" b="1" dirty="0">
                <a:solidFill>
                  <a:srgbClr val="313131"/>
                </a:solidFill>
                <a:latin typeface="+mj-lt"/>
                <a:cs typeface="Calibri" panose="020F0502020204030204" pitchFamily="34" charset="0"/>
              </a:rPr>
              <a:t>Source </a:t>
            </a:r>
            <a:r>
              <a:rPr lang="en-US" sz="1100" dirty="0">
                <a:solidFill>
                  <a:srgbClr val="313131"/>
                </a:solidFill>
                <a:latin typeface="+mj-lt"/>
                <a:cs typeface="Calibri" panose="020F0502020204030204" pitchFamily="34" charset="0"/>
              </a:rPr>
              <a:t>: https://www.wbsedcl.in/irj/go/km/docs/internet/new_website/pdf/DSIS_08_11.pdf</a:t>
            </a:r>
          </a:p>
        </p:txBody>
      </p:sp>
      <p:sp>
        <p:nvSpPr>
          <p:cNvPr id="13" name="Rectangle 19">
            <a:extLst>
              <a:ext uri="{FF2B5EF4-FFF2-40B4-BE49-F238E27FC236}">
                <a16:creationId xmlns:a16="http://schemas.microsoft.com/office/drawing/2014/main" id="{6A4087E2-3A4E-46B0-BB1B-BD31352026FB}"/>
              </a:ext>
            </a:extLst>
          </p:cNvPr>
          <p:cNvSpPr>
            <a:spLocks noChangeArrowheads="1"/>
          </p:cNvSpPr>
          <p:nvPr/>
        </p:nvSpPr>
        <p:spPr bwMode="auto">
          <a:xfrm>
            <a:off x="3739956" y="628576"/>
            <a:ext cx="7963108" cy="1852671"/>
          </a:xfrm>
          <a:prstGeom prst="rect">
            <a:avLst/>
          </a:prstGeom>
          <a:noFill/>
          <a:ln w="19050" algn="ctr">
            <a:solidFill>
              <a:schemeClr val="accent1"/>
            </a:solidFill>
            <a:miter lim="800000"/>
            <a:headEnd/>
            <a:tailEnd/>
          </a:ln>
        </p:spPr>
        <p:txBody>
          <a:bodyPr wrap="square" lIns="88900" tIns="88900" rIns="88900" bIns="88900" anchor="ctr"/>
          <a:lstStyle/>
          <a:p>
            <a:pPr marL="285750" indent="-285750" algn="l">
              <a:spcBef>
                <a:spcPts val="300"/>
              </a:spcBef>
              <a:spcAft>
                <a:spcPts val="300"/>
              </a:spcAft>
              <a:buFont typeface="Wingdings" panose="05000000000000000000" pitchFamily="2" charset="2"/>
              <a:buChar char="Ø"/>
            </a:pPr>
            <a:r>
              <a:rPr lang="en-US" sz="1200" b="0" i="0" u="none" strike="noStrike" baseline="0" dirty="0">
                <a:latin typeface="+mj-lt"/>
                <a:cs typeface="Calibri" panose="020F0502020204030204" pitchFamily="34" charset="0"/>
              </a:rPr>
              <a:t>Installation of 33/11KV Sub-Stations which were not considered under any other ongoing projects to accommodate future load growth, for enhancing system reliability as well </a:t>
            </a:r>
            <a:r>
              <a:rPr lang="en-US" sz="1200" dirty="0">
                <a:latin typeface="+mj-lt"/>
                <a:cs typeface="Calibri" panose="020F0502020204030204" pitchFamily="34" charset="0"/>
              </a:rPr>
              <a:t>a</a:t>
            </a:r>
            <a:r>
              <a:rPr lang="en-US" sz="1200" b="0" i="0" u="none" strike="noStrike" baseline="0" dirty="0">
                <a:latin typeface="+mj-lt"/>
                <a:cs typeface="Calibri" panose="020F0502020204030204" pitchFamily="34" charset="0"/>
              </a:rPr>
              <a:t>s reduction of Technical loss.</a:t>
            </a:r>
            <a:endParaRPr lang="en-US" sz="1200" dirty="0">
              <a:solidFill>
                <a:srgbClr val="000000"/>
              </a:solidFill>
              <a:latin typeface="+mj-lt"/>
              <a:ea typeface="ＭＳ Ｐゴシック" pitchFamily="50" charset="-128"/>
              <a:cs typeface="Calibri" panose="020F0502020204030204" pitchFamily="34" charset="0"/>
            </a:endParaRPr>
          </a:p>
          <a:p>
            <a:pPr marL="285750" indent="-285750" algn="l">
              <a:spcBef>
                <a:spcPts val="300"/>
              </a:spcBef>
              <a:spcAft>
                <a:spcPts val="300"/>
              </a:spcAft>
              <a:buFont typeface="Wingdings" panose="05000000000000000000" pitchFamily="2" charset="2"/>
              <a:buChar char="Ø"/>
            </a:pPr>
            <a:r>
              <a:rPr lang="en-US" sz="1200" b="0" i="0" u="none" strike="noStrike" baseline="0" dirty="0">
                <a:latin typeface="+mj-lt"/>
                <a:cs typeface="Calibri" panose="020F0502020204030204" pitchFamily="34" charset="0"/>
              </a:rPr>
              <a:t>Drawal of 33 KV 2</a:t>
            </a:r>
            <a:r>
              <a:rPr lang="en-US" sz="1200" b="0" i="0" u="none" strike="noStrike" baseline="30000" dirty="0">
                <a:latin typeface="+mj-lt"/>
                <a:cs typeface="Calibri" panose="020F0502020204030204" pitchFamily="34" charset="0"/>
              </a:rPr>
              <a:t>nd</a:t>
            </a:r>
            <a:r>
              <a:rPr lang="en-US" sz="1200" b="0" i="0" u="none" strike="noStrike" baseline="0" dirty="0">
                <a:latin typeface="+mj-lt"/>
                <a:cs typeface="Calibri" panose="020F0502020204030204" pitchFamily="34" charset="0"/>
              </a:rPr>
              <a:t> feeder from the separate GSS for existing 33/11 KV Substation to increase the reliability of power supply.</a:t>
            </a:r>
            <a:endParaRPr lang="en-US" sz="1200" dirty="0">
              <a:solidFill>
                <a:srgbClr val="000000"/>
              </a:solidFill>
              <a:latin typeface="+mj-lt"/>
              <a:ea typeface="ＭＳ Ｐゴシック" pitchFamily="50" charset="-128"/>
              <a:cs typeface="Calibri" panose="020F0502020204030204" pitchFamily="34" charset="0"/>
            </a:endParaRPr>
          </a:p>
          <a:p>
            <a:pPr marL="285750" indent="-285750" algn="l">
              <a:spcBef>
                <a:spcPts val="300"/>
              </a:spcBef>
              <a:spcAft>
                <a:spcPts val="300"/>
              </a:spcAft>
              <a:buFont typeface="Wingdings" panose="05000000000000000000" pitchFamily="2" charset="2"/>
              <a:buChar char="Ø"/>
            </a:pPr>
            <a:r>
              <a:rPr lang="en-US" sz="1200" b="0" i="0" u="none" strike="noStrike" baseline="0" dirty="0">
                <a:latin typeface="+mj-lt"/>
                <a:cs typeface="Calibri" panose="020F0502020204030204" pitchFamily="34" charset="0"/>
              </a:rPr>
              <a:t>Augmentation / system improvement of 33 kV distribution system</a:t>
            </a:r>
            <a:endParaRPr lang="en-US" sz="1200" dirty="0">
              <a:solidFill>
                <a:srgbClr val="000000"/>
              </a:solidFill>
              <a:latin typeface="+mj-lt"/>
              <a:ea typeface="ＭＳ Ｐゴシック" pitchFamily="50" charset="-128"/>
              <a:cs typeface="Calibri" panose="020F0502020204030204" pitchFamily="34" charset="0"/>
            </a:endParaRPr>
          </a:p>
          <a:p>
            <a:pPr marL="285750" indent="-285750" algn="l">
              <a:spcBef>
                <a:spcPts val="300"/>
              </a:spcBef>
              <a:spcAft>
                <a:spcPts val="300"/>
              </a:spcAft>
              <a:buFont typeface="Wingdings" panose="05000000000000000000" pitchFamily="2" charset="2"/>
              <a:buChar char="Ø"/>
            </a:pPr>
            <a:r>
              <a:rPr lang="en-US" sz="1200" b="0" i="0" u="none" strike="noStrike" baseline="0" dirty="0">
                <a:latin typeface="+mj-lt"/>
                <a:cs typeface="Calibri" panose="020F0502020204030204" pitchFamily="34" charset="0"/>
              </a:rPr>
              <a:t>Augmentation of PTR in existing substation</a:t>
            </a:r>
            <a:endParaRPr lang="en-US" sz="1600" dirty="0">
              <a:solidFill>
                <a:srgbClr val="000000"/>
              </a:solidFill>
              <a:latin typeface="+mj-lt"/>
              <a:ea typeface="ＭＳ Ｐゴシック" pitchFamily="50" charset="-128"/>
              <a:cs typeface="Calibri" panose="020F0502020204030204" pitchFamily="34" charset="0"/>
            </a:endParaRPr>
          </a:p>
        </p:txBody>
      </p:sp>
      <p:sp>
        <p:nvSpPr>
          <p:cNvPr id="15" name="AutoShape 12">
            <a:extLst>
              <a:ext uri="{FF2B5EF4-FFF2-40B4-BE49-F238E27FC236}">
                <a16:creationId xmlns:a16="http://schemas.microsoft.com/office/drawing/2014/main" id="{D25A157A-40C0-4653-82F8-8E24BE766158}"/>
              </a:ext>
            </a:extLst>
          </p:cNvPr>
          <p:cNvSpPr>
            <a:spLocks noChangeArrowheads="1"/>
          </p:cNvSpPr>
          <p:nvPr/>
        </p:nvSpPr>
        <p:spPr bwMode="auto">
          <a:xfrm>
            <a:off x="2622362" y="562287"/>
            <a:ext cx="1008046" cy="2112130"/>
          </a:xfrm>
          <a:prstGeom prst="homePlate">
            <a:avLst>
              <a:gd name="adj" fmla="val 100000"/>
            </a:avLst>
          </a:prstGeom>
          <a:solidFill>
            <a:schemeClr val="bg2">
              <a:lumMod val="75000"/>
            </a:schemeClr>
          </a:solidFill>
          <a:ln w="6350" algn="ctr">
            <a:noFill/>
            <a:miter lim="800000"/>
            <a:headEnd/>
            <a:tailEnd/>
          </a:ln>
        </p:spPr>
        <p:txBody>
          <a:bodyPr wrap="square" lIns="88900" tIns="88900" rIns="88900" bIns="88900" anchor="ctr"/>
          <a:lstStyle/>
          <a:p>
            <a:pPr algn="ctr"/>
            <a:endParaRPr lang="en-US" sz="1200" dirty="0">
              <a:latin typeface="+mj-lt"/>
            </a:endParaRPr>
          </a:p>
        </p:txBody>
      </p:sp>
      <p:sp>
        <p:nvSpPr>
          <p:cNvPr id="16" name="Rectangle 15">
            <a:extLst>
              <a:ext uri="{FF2B5EF4-FFF2-40B4-BE49-F238E27FC236}">
                <a16:creationId xmlns:a16="http://schemas.microsoft.com/office/drawing/2014/main" id="{B75ECA9E-4F81-4135-B655-D0920C3294AC}"/>
              </a:ext>
            </a:extLst>
          </p:cNvPr>
          <p:cNvSpPr/>
          <p:nvPr/>
        </p:nvSpPr>
        <p:spPr bwMode="gray">
          <a:xfrm>
            <a:off x="528884" y="562287"/>
            <a:ext cx="1969404" cy="211213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latin typeface="+mj-lt"/>
                <a:cs typeface="Calibri" panose="020F0502020204030204" pitchFamily="34" charset="0"/>
              </a:rPr>
              <a:t>Salient Feature of DSIS Scheme</a:t>
            </a:r>
          </a:p>
        </p:txBody>
      </p:sp>
      <p:sp>
        <p:nvSpPr>
          <p:cNvPr id="22" name="Rectangle 19">
            <a:extLst>
              <a:ext uri="{FF2B5EF4-FFF2-40B4-BE49-F238E27FC236}">
                <a16:creationId xmlns:a16="http://schemas.microsoft.com/office/drawing/2014/main" id="{357EE0D4-7F69-4C92-B67C-43170A37CA33}"/>
              </a:ext>
            </a:extLst>
          </p:cNvPr>
          <p:cNvSpPr>
            <a:spLocks noChangeArrowheads="1"/>
          </p:cNvSpPr>
          <p:nvPr/>
        </p:nvSpPr>
        <p:spPr bwMode="auto">
          <a:xfrm>
            <a:off x="3760359" y="2784416"/>
            <a:ext cx="7963108" cy="1669940"/>
          </a:xfrm>
          <a:prstGeom prst="rect">
            <a:avLst/>
          </a:prstGeom>
          <a:noFill/>
          <a:ln w="19050" algn="ctr">
            <a:solidFill>
              <a:srgbClr val="0070C0"/>
            </a:solidFill>
            <a:miter lim="800000"/>
            <a:headEnd/>
            <a:tailEnd/>
          </a:ln>
        </p:spPr>
        <p:txBody>
          <a:bodyPr wrap="square" lIns="88900" tIns="88900" rIns="88900" bIns="88900" anchor="ctr"/>
          <a:lstStyle/>
          <a:p>
            <a:pPr marL="285750" indent="-285750" algn="l">
              <a:spcBef>
                <a:spcPts val="300"/>
              </a:spcBef>
              <a:spcAft>
                <a:spcPts val="300"/>
              </a:spcAft>
              <a:buFont typeface="Wingdings" panose="05000000000000000000" pitchFamily="2" charset="2"/>
              <a:buChar char="ü"/>
            </a:pPr>
            <a:r>
              <a:rPr lang="en-US" sz="1200" dirty="0">
                <a:solidFill>
                  <a:srgbClr val="000000"/>
                </a:solidFill>
                <a:latin typeface="+mj-lt"/>
                <a:ea typeface="ＭＳ Ｐゴシック" pitchFamily="50" charset="-128"/>
                <a:cs typeface="Calibri" panose="020F0502020204030204" pitchFamily="34" charset="0"/>
              </a:rPr>
              <a:t>Improvement of power quality and reliability </a:t>
            </a:r>
          </a:p>
          <a:p>
            <a:pPr marL="285750" indent="-285750" algn="l">
              <a:spcBef>
                <a:spcPts val="300"/>
              </a:spcBef>
              <a:spcAft>
                <a:spcPts val="300"/>
              </a:spcAft>
              <a:buFont typeface="Wingdings" panose="05000000000000000000" pitchFamily="2" charset="2"/>
              <a:buChar char="ü"/>
            </a:pPr>
            <a:r>
              <a:rPr lang="en-US" sz="1200" dirty="0">
                <a:solidFill>
                  <a:srgbClr val="000000"/>
                </a:solidFill>
                <a:latin typeface="+mj-lt"/>
                <a:ea typeface="ＭＳ Ｐゴシック" pitchFamily="50" charset="-128"/>
                <a:cs typeface="Calibri" panose="020F0502020204030204" pitchFamily="34" charset="0"/>
              </a:rPr>
              <a:t>Capacity enhancement of Distribution network to accommodate prospective load growth</a:t>
            </a:r>
          </a:p>
          <a:p>
            <a:pPr marL="285750" indent="-285750" algn="l">
              <a:spcBef>
                <a:spcPts val="300"/>
              </a:spcBef>
              <a:spcAft>
                <a:spcPts val="300"/>
              </a:spcAft>
              <a:buFont typeface="Wingdings" panose="05000000000000000000" pitchFamily="2" charset="2"/>
              <a:buChar char="ü"/>
            </a:pPr>
            <a:r>
              <a:rPr lang="en-US" sz="1200" dirty="0">
                <a:solidFill>
                  <a:srgbClr val="000000"/>
                </a:solidFill>
                <a:latin typeface="+mj-lt"/>
                <a:ea typeface="ＭＳ Ｐゴシック" pitchFamily="50" charset="-128"/>
                <a:cs typeface="Calibri" panose="020F0502020204030204" pitchFamily="34" charset="0"/>
              </a:rPr>
              <a:t>Improvement voltage profile for furthest end consumers </a:t>
            </a:r>
          </a:p>
          <a:p>
            <a:pPr marL="285750" indent="-285750" algn="l">
              <a:spcBef>
                <a:spcPts val="300"/>
              </a:spcBef>
              <a:spcAft>
                <a:spcPts val="300"/>
              </a:spcAft>
              <a:buFont typeface="Wingdings" panose="05000000000000000000" pitchFamily="2" charset="2"/>
              <a:buChar char="ü"/>
            </a:pPr>
            <a:r>
              <a:rPr lang="en-US" sz="1200" dirty="0">
                <a:solidFill>
                  <a:srgbClr val="000000"/>
                </a:solidFill>
                <a:latin typeface="+mj-lt"/>
                <a:ea typeface="ＭＳ Ｐゴシック" pitchFamily="50" charset="-128"/>
                <a:cs typeface="Calibri" panose="020F0502020204030204" pitchFamily="34" charset="0"/>
              </a:rPr>
              <a:t>To provide renewed thrust for improvement of industrial and agricultural growth of the state </a:t>
            </a:r>
          </a:p>
          <a:p>
            <a:pPr marL="285750" indent="-285750" algn="l">
              <a:spcBef>
                <a:spcPts val="300"/>
              </a:spcBef>
              <a:spcAft>
                <a:spcPts val="300"/>
              </a:spcAft>
              <a:buFont typeface="Wingdings" panose="05000000000000000000" pitchFamily="2" charset="2"/>
              <a:buChar char="ü"/>
            </a:pPr>
            <a:r>
              <a:rPr lang="en-US" sz="1200" dirty="0">
                <a:solidFill>
                  <a:srgbClr val="000000"/>
                </a:solidFill>
                <a:latin typeface="+mj-lt"/>
                <a:ea typeface="ＭＳ Ｐゴシック" pitchFamily="50" charset="-128"/>
                <a:cs typeface="Calibri" panose="020F0502020204030204" pitchFamily="34" charset="0"/>
              </a:rPr>
              <a:t>Reduction of financial burden of WBSEDCL by minimizing the T&amp;D loss and AT&amp;C loss</a:t>
            </a:r>
          </a:p>
          <a:p>
            <a:pPr marL="285750" indent="-285750" algn="l">
              <a:spcBef>
                <a:spcPts val="300"/>
              </a:spcBef>
              <a:spcAft>
                <a:spcPts val="300"/>
              </a:spcAft>
              <a:buFont typeface="Wingdings" panose="05000000000000000000" pitchFamily="2" charset="2"/>
              <a:buChar char="ü"/>
            </a:pPr>
            <a:r>
              <a:rPr lang="en-US" sz="1200" dirty="0">
                <a:solidFill>
                  <a:srgbClr val="000000"/>
                </a:solidFill>
                <a:latin typeface="+mj-lt"/>
                <a:ea typeface="ＭＳ Ｐゴシック" pitchFamily="50" charset="-128"/>
                <a:cs typeface="Calibri" panose="020F0502020204030204" pitchFamily="34" charset="0"/>
              </a:rPr>
              <a:t>Reduction of public commotion due to power outage </a:t>
            </a:r>
            <a:endParaRPr lang="en-US" sz="1600" dirty="0">
              <a:solidFill>
                <a:srgbClr val="000000"/>
              </a:solidFill>
              <a:latin typeface="+mj-lt"/>
              <a:ea typeface="ＭＳ Ｐゴシック" pitchFamily="50" charset="-128"/>
              <a:cs typeface="Calibri" panose="020F0502020204030204" pitchFamily="34" charset="0"/>
            </a:endParaRPr>
          </a:p>
        </p:txBody>
      </p:sp>
      <p:sp>
        <p:nvSpPr>
          <p:cNvPr id="24" name="AutoShape 12">
            <a:extLst>
              <a:ext uri="{FF2B5EF4-FFF2-40B4-BE49-F238E27FC236}">
                <a16:creationId xmlns:a16="http://schemas.microsoft.com/office/drawing/2014/main" id="{E0E20DB9-6FE9-4256-B649-CB3EA0D200BA}"/>
              </a:ext>
            </a:extLst>
          </p:cNvPr>
          <p:cNvSpPr>
            <a:spLocks noChangeArrowheads="1"/>
          </p:cNvSpPr>
          <p:nvPr/>
        </p:nvSpPr>
        <p:spPr bwMode="auto">
          <a:xfrm>
            <a:off x="2628246" y="2775858"/>
            <a:ext cx="1008046" cy="1721684"/>
          </a:xfrm>
          <a:prstGeom prst="homePlate">
            <a:avLst>
              <a:gd name="adj" fmla="val 100000"/>
            </a:avLst>
          </a:prstGeom>
          <a:solidFill>
            <a:schemeClr val="bg2">
              <a:lumMod val="75000"/>
            </a:schemeClr>
          </a:solidFill>
          <a:ln w="6350" algn="ctr">
            <a:noFill/>
            <a:miter lim="800000"/>
            <a:headEnd/>
            <a:tailEnd/>
          </a:ln>
        </p:spPr>
        <p:txBody>
          <a:bodyPr wrap="square" lIns="88900" tIns="88900" rIns="88900" bIns="88900" anchor="ctr"/>
          <a:lstStyle/>
          <a:p>
            <a:pPr algn="ctr"/>
            <a:endParaRPr lang="en-US" sz="1200" dirty="0">
              <a:latin typeface="+mj-lt"/>
            </a:endParaRPr>
          </a:p>
        </p:txBody>
      </p:sp>
      <p:sp>
        <p:nvSpPr>
          <p:cNvPr id="25" name="Rectangle 24">
            <a:extLst>
              <a:ext uri="{FF2B5EF4-FFF2-40B4-BE49-F238E27FC236}">
                <a16:creationId xmlns:a16="http://schemas.microsoft.com/office/drawing/2014/main" id="{FF3E80E6-05D8-4951-B655-D5D5BFB49CEE}"/>
              </a:ext>
            </a:extLst>
          </p:cNvPr>
          <p:cNvSpPr/>
          <p:nvPr/>
        </p:nvSpPr>
        <p:spPr bwMode="gray">
          <a:xfrm>
            <a:off x="534767" y="2907507"/>
            <a:ext cx="1969404" cy="1666234"/>
          </a:xfrm>
          <a:prstGeom prst="rect">
            <a:avLst/>
          </a:prstGeom>
          <a:solidFill>
            <a:srgbClr val="0076A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latin typeface="+mj-lt"/>
                <a:cs typeface="Calibri" panose="020F0502020204030204" pitchFamily="34" charset="0"/>
              </a:rPr>
              <a:t>Key Benefits</a:t>
            </a:r>
          </a:p>
        </p:txBody>
      </p:sp>
      <p:sp>
        <p:nvSpPr>
          <p:cNvPr id="34" name="Rectangle 19">
            <a:extLst>
              <a:ext uri="{FF2B5EF4-FFF2-40B4-BE49-F238E27FC236}">
                <a16:creationId xmlns:a16="http://schemas.microsoft.com/office/drawing/2014/main" id="{7961DAEB-F9F4-43D0-BECD-CA6625A1F0F8}"/>
              </a:ext>
            </a:extLst>
          </p:cNvPr>
          <p:cNvSpPr>
            <a:spLocks noChangeArrowheads="1"/>
          </p:cNvSpPr>
          <p:nvPr/>
        </p:nvSpPr>
        <p:spPr bwMode="auto">
          <a:xfrm>
            <a:off x="3760359" y="4896166"/>
            <a:ext cx="7963108" cy="1237589"/>
          </a:xfrm>
          <a:prstGeom prst="rect">
            <a:avLst/>
          </a:prstGeom>
          <a:noFill/>
          <a:ln w="19050" algn="ctr">
            <a:solidFill>
              <a:srgbClr val="0076A8"/>
            </a:solidFill>
            <a:miter lim="800000"/>
            <a:headEnd/>
            <a:tailEnd/>
          </a:ln>
        </p:spPr>
        <p:txBody>
          <a:bodyPr wrap="square" lIns="182880" tIns="91440" rIns="91440" bIns="182880" anchor="ctr"/>
          <a:lstStyle/>
          <a:p>
            <a:pPr marL="285750" indent="-285750" algn="l">
              <a:lnSpc>
                <a:spcPct val="150000"/>
              </a:lnSpc>
              <a:buFont typeface="Wingdings" panose="05000000000000000000" pitchFamily="2" charset="2"/>
              <a:buChar char="q"/>
            </a:pPr>
            <a:r>
              <a:rPr lang="en-US" sz="1200" b="0" i="0" u="none" strike="noStrike" baseline="0" dirty="0">
                <a:latin typeface="+mj-lt"/>
                <a:cs typeface="Calibri" panose="020F0502020204030204" pitchFamily="34" charset="0"/>
              </a:rPr>
              <a:t>Entire licensee </a:t>
            </a:r>
            <a:r>
              <a:rPr lang="en-US" sz="1200" dirty="0">
                <a:latin typeface="+mj-lt"/>
                <a:cs typeface="Calibri" panose="020F0502020204030204" pitchFamily="34" charset="0"/>
              </a:rPr>
              <a:t>a</a:t>
            </a:r>
            <a:r>
              <a:rPr lang="en-US" sz="1200" b="0" i="0" u="none" strike="noStrike" baseline="0" dirty="0">
                <a:latin typeface="+mj-lt"/>
                <a:cs typeface="Calibri" panose="020F0502020204030204" pitchFamily="34" charset="0"/>
              </a:rPr>
              <a:t>rea of WBSEDCL hos been selected for implementation of the project</a:t>
            </a:r>
          </a:p>
          <a:p>
            <a:pPr marL="285750" indent="-285750" algn="l">
              <a:lnSpc>
                <a:spcPct val="150000"/>
              </a:lnSpc>
              <a:buFont typeface="Wingdings" panose="05000000000000000000" pitchFamily="2" charset="2"/>
              <a:buChar char="q"/>
            </a:pPr>
            <a:r>
              <a:rPr lang="en-US" sz="1200" b="0" i="0" u="none" strike="noStrike" baseline="0" dirty="0">
                <a:latin typeface="+mj-lt"/>
                <a:cs typeface="Calibri" panose="020F0502020204030204" pitchFamily="34" charset="0"/>
              </a:rPr>
              <a:t>Works not covered under only ongoing project viz IPDS, DDUGJY, BRGF, NEF, SEEDN, Deposit scheme </a:t>
            </a:r>
            <a:r>
              <a:rPr lang="en-US" sz="1200" b="0" i="0" u="none" strike="noStrike" baseline="0" dirty="0" err="1">
                <a:latin typeface="+mj-lt"/>
                <a:cs typeface="Calibri" panose="020F0502020204030204" pitchFamily="34" charset="0"/>
              </a:rPr>
              <a:t>etc</a:t>
            </a:r>
            <a:r>
              <a:rPr lang="en-US" sz="1200" b="0" i="0" u="none" strike="noStrike" baseline="0" dirty="0">
                <a:latin typeface="+mj-lt"/>
                <a:cs typeface="Calibri" panose="020F0502020204030204" pitchFamily="34" charset="0"/>
              </a:rPr>
              <a:t> </a:t>
            </a:r>
            <a:r>
              <a:rPr lang="en-US" sz="1200" dirty="0">
                <a:latin typeface="+mj-lt"/>
                <a:cs typeface="Calibri" panose="020F0502020204030204" pitchFamily="34" charset="0"/>
              </a:rPr>
              <a:t>are</a:t>
            </a:r>
            <a:r>
              <a:rPr lang="en-US" sz="1200" b="0" i="0" u="none" strike="noStrike" baseline="0" dirty="0">
                <a:latin typeface="+mj-lt"/>
                <a:cs typeface="Calibri" panose="020F0502020204030204" pitchFamily="34" charset="0"/>
              </a:rPr>
              <a:t> only been considered</a:t>
            </a:r>
          </a:p>
          <a:p>
            <a:pPr marL="285750" indent="-285750" algn="l">
              <a:lnSpc>
                <a:spcPct val="150000"/>
              </a:lnSpc>
              <a:buFont typeface="Wingdings" panose="05000000000000000000" pitchFamily="2" charset="2"/>
              <a:buChar char="q"/>
            </a:pPr>
            <a:r>
              <a:rPr lang="en-US" sz="1200" b="0" i="0" u="none" strike="noStrike" baseline="0" dirty="0">
                <a:latin typeface="+mj-lt"/>
                <a:cs typeface="Calibri" panose="020F0502020204030204" pitchFamily="34" charset="0"/>
              </a:rPr>
              <a:t>The works under the scheme will be executed in FY 2020-21, FY 2021-22 and FY 2022-23</a:t>
            </a:r>
            <a:endParaRPr lang="en-US" sz="1200" dirty="0">
              <a:solidFill>
                <a:srgbClr val="000000"/>
              </a:solidFill>
              <a:latin typeface="+mj-lt"/>
              <a:ea typeface="ＭＳ Ｐゴシック" pitchFamily="50" charset="-128"/>
              <a:cs typeface="Calibri" panose="020F0502020204030204" pitchFamily="34" charset="0"/>
            </a:endParaRPr>
          </a:p>
        </p:txBody>
      </p:sp>
      <p:sp>
        <p:nvSpPr>
          <p:cNvPr id="36" name="AutoShape 12">
            <a:extLst>
              <a:ext uri="{FF2B5EF4-FFF2-40B4-BE49-F238E27FC236}">
                <a16:creationId xmlns:a16="http://schemas.microsoft.com/office/drawing/2014/main" id="{535521B6-E199-45DC-8629-D2556D8CFAAD}"/>
              </a:ext>
            </a:extLst>
          </p:cNvPr>
          <p:cNvSpPr>
            <a:spLocks noChangeArrowheads="1"/>
          </p:cNvSpPr>
          <p:nvPr/>
        </p:nvSpPr>
        <p:spPr bwMode="auto">
          <a:xfrm>
            <a:off x="2620982" y="4767568"/>
            <a:ext cx="1008046" cy="1666234"/>
          </a:xfrm>
          <a:prstGeom prst="homePlate">
            <a:avLst>
              <a:gd name="adj" fmla="val 100000"/>
            </a:avLst>
          </a:prstGeom>
          <a:solidFill>
            <a:schemeClr val="bg2">
              <a:lumMod val="75000"/>
            </a:schemeClr>
          </a:solidFill>
          <a:ln w="6350" algn="ctr">
            <a:noFill/>
            <a:miter lim="800000"/>
            <a:headEnd/>
            <a:tailEnd/>
          </a:ln>
        </p:spPr>
        <p:txBody>
          <a:bodyPr wrap="square" lIns="88900" tIns="88900" rIns="88900" bIns="88900" anchor="ctr"/>
          <a:lstStyle/>
          <a:p>
            <a:pPr algn="ctr"/>
            <a:endParaRPr lang="en-US" sz="1200" dirty="0">
              <a:latin typeface="+mj-lt"/>
            </a:endParaRPr>
          </a:p>
        </p:txBody>
      </p:sp>
      <p:sp>
        <p:nvSpPr>
          <p:cNvPr id="37" name="Rectangle 36">
            <a:extLst>
              <a:ext uri="{FF2B5EF4-FFF2-40B4-BE49-F238E27FC236}">
                <a16:creationId xmlns:a16="http://schemas.microsoft.com/office/drawing/2014/main" id="{B4BB04E0-A99B-4C13-8C66-0FF9E37FFFCF}"/>
              </a:ext>
            </a:extLst>
          </p:cNvPr>
          <p:cNvSpPr/>
          <p:nvPr/>
        </p:nvSpPr>
        <p:spPr bwMode="gray">
          <a:xfrm>
            <a:off x="534767" y="4775989"/>
            <a:ext cx="1969404" cy="1666234"/>
          </a:xfrm>
          <a:prstGeom prst="rect">
            <a:avLst/>
          </a:prstGeom>
          <a:solidFill>
            <a:srgbClr val="00768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latin typeface="+mj-lt"/>
                <a:cs typeface="Calibri" panose="020F0502020204030204" pitchFamily="34" charset="0"/>
              </a:rPr>
              <a:t>Key Consideration in formulating the Scheme</a:t>
            </a:r>
          </a:p>
        </p:txBody>
      </p:sp>
    </p:spTree>
    <p:extLst>
      <p:ext uri="{BB962C8B-B14F-4D97-AF65-F5344CB8AC3E}">
        <p14:creationId xmlns:p14="http://schemas.microsoft.com/office/powerpoint/2010/main" val="5729198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193988"/>
            <a:ext cx="11188700" cy="368299"/>
          </a:xfrm>
        </p:spPr>
        <p:txBody>
          <a:bodyPr vert="horz"/>
          <a:lstStyle/>
          <a:p>
            <a:pPr algn="just"/>
            <a:r>
              <a:rPr lang="en-US" sz="1800" i="0" dirty="0">
                <a:solidFill>
                  <a:schemeClr val="tx1"/>
                </a:solidFill>
                <a:latin typeface="+mj-lt"/>
              </a:rPr>
              <a:t>Background of DSIS Scheme</a:t>
            </a:r>
          </a:p>
        </p:txBody>
      </p:sp>
      <p:sp>
        <p:nvSpPr>
          <p:cNvPr id="9" name="TextBox 8">
            <a:extLst>
              <a:ext uri="{FF2B5EF4-FFF2-40B4-BE49-F238E27FC236}">
                <a16:creationId xmlns:a16="http://schemas.microsoft.com/office/drawing/2014/main" id="{0AD044FD-E808-42E4-AAAB-B827AA8A5FFE}"/>
              </a:ext>
            </a:extLst>
          </p:cNvPr>
          <p:cNvSpPr txBox="1"/>
          <p:nvPr/>
        </p:nvSpPr>
        <p:spPr>
          <a:xfrm>
            <a:off x="5584371" y="6543665"/>
            <a:ext cx="6008468" cy="184666"/>
          </a:xfrm>
          <a:prstGeom prst="rect">
            <a:avLst/>
          </a:prstGeom>
          <a:noFill/>
        </p:spPr>
        <p:txBody>
          <a:bodyPr wrap="square" lIns="0" tIns="0" rIns="0" bIns="0" rtlCol="0">
            <a:spAutoFit/>
          </a:bodyPr>
          <a:lstStyle/>
          <a:p>
            <a:pPr>
              <a:spcBef>
                <a:spcPts val="600"/>
              </a:spcBef>
              <a:buSzPct val="100000"/>
            </a:pPr>
            <a:r>
              <a:rPr lang="en-US" sz="1200" b="1" dirty="0">
                <a:solidFill>
                  <a:srgbClr val="313131"/>
                </a:solidFill>
                <a:latin typeface="Calibri" panose="020F0502020204030204" pitchFamily="34" charset="0"/>
                <a:cs typeface="Calibri" panose="020F0502020204030204" pitchFamily="34" charset="0"/>
              </a:rPr>
              <a:t>Source </a:t>
            </a:r>
            <a:r>
              <a:rPr lang="en-US" sz="1200" dirty="0">
                <a:solidFill>
                  <a:srgbClr val="313131"/>
                </a:solidFill>
                <a:latin typeface="Calibri" panose="020F0502020204030204" pitchFamily="34" charset="0"/>
                <a:cs typeface="Calibri" panose="020F0502020204030204" pitchFamily="34" charset="0"/>
              </a:rPr>
              <a:t>: https://www.wbsedcl.in/irj/go/km/docs/internet/new_website/pdf/DSIS_08_11.pdf</a:t>
            </a:r>
          </a:p>
        </p:txBody>
      </p:sp>
      <p:graphicFrame>
        <p:nvGraphicFramePr>
          <p:cNvPr id="2" name="Table 2">
            <a:extLst>
              <a:ext uri="{FF2B5EF4-FFF2-40B4-BE49-F238E27FC236}">
                <a16:creationId xmlns:a16="http://schemas.microsoft.com/office/drawing/2014/main" id="{1F8CBC0C-49D1-4B21-B25C-E4029FE9ADF6}"/>
              </a:ext>
            </a:extLst>
          </p:cNvPr>
          <p:cNvGraphicFramePr>
            <a:graphicFrameLocks noGrp="1"/>
          </p:cNvGraphicFramePr>
          <p:nvPr>
            <p:extLst>
              <p:ext uri="{D42A27DB-BD31-4B8C-83A1-F6EECF244321}">
                <p14:modId xmlns:p14="http://schemas.microsoft.com/office/powerpoint/2010/main" val="264035696"/>
              </p:ext>
            </p:extLst>
          </p:nvPr>
        </p:nvGraphicFramePr>
        <p:xfrm>
          <a:off x="488936" y="719667"/>
          <a:ext cx="6502400" cy="5042381"/>
        </p:xfrm>
        <a:graphic>
          <a:graphicData uri="http://schemas.openxmlformats.org/drawingml/2006/table">
            <a:tbl>
              <a:tblPr firstRow="1" bandRow="1">
                <a:tableStyleId>{5C22544A-7EE6-4342-B048-85BDC9FD1C3A}</a:tableStyleId>
              </a:tblPr>
              <a:tblGrid>
                <a:gridCol w="523435">
                  <a:extLst>
                    <a:ext uri="{9D8B030D-6E8A-4147-A177-3AD203B41FA5}">
                      <a16:colId xmlns:a16="http://schemas.microsoft.com/office/drawing/2014/main" val="2880978459"/>
                    </a:ext>
                  </a:extLst>
                </a:gridCol>
                <a:gridCol w="2917372">
                  <a:extLst>
                    <a:ext uri="{9D8B030D-6E8A-4147-A177-3AD203B41FA5}">
                      <a16:colId xmlns:a16="http://schemas.microsoft.com/office/drawing/2014/main" val="529128662"/>
                    </a:ext>
                  </a:extLst>
                </a:gridCol>
                <a:gridCol w="1349828">
                  <a:extLst>
                    <a:ext uri="{9D8B030D-6E8A-4147-A177-3AD203B41FA5}">
                      <a16:colId xmlns:a16="http://schemas.microsoft.com/office/drawing/2014/main" val="3676547859"/>
                    </a:ext>
                  </a:extLst>
                </a:gridCol>
                <a:gridCol w="1711765">
                  <a:extLst>
                    <a:ext uri="{9D8B030D-6E8A-4147-A177-3AD203B41FA5}">
                      <a16:colId xmlns:a16="http://schemas.microsoft.com/office/drawing/2014/main" val="1368432452"/>
                    </a:ext>
                  </a:extLst>
                </a:gridCol>
              </a:tblGrid>
              <a:tr h="735466">
                <a:tc>
                  <a:txBody>
                    <a:bodyPr/>
                    <a:lstStyle/>
                    <a:p>
                      <a:pPr algn="ctr"/>
                      <a:r>
                        <a:rPr lang="en-US" sz="1400" dirty="0">
                          <a:latin typeface="Calibri" panose="020F0502020204030204" pitchFamily="34" charset="0"/>
                          <a:cs typeface="Calibri" panose="020F0502020204030204" pitchFamily="34" charset="0"/>
                        </a:rPr>
                        <a:t>Sl. No</a:t>
                      </a:r>
                    </a:p>
                  </a:txBody>
                  <a:tcPr anchor="ctr">
                    <a:solidFill>
                      <a:srgbClr val="007680"/>
                    </a:solidFill>
                  </a:tcPr>
                </a:tc>
                <a:tc>
                  <a:txBody>
                    <a:bodyPr/>
                    <a:lstStyle/>
                    <a:p>
                      <a:r>
                        <a:rPr lang="en-US" sz="1400" dirty="0">
                          <a:latin typeface="Calibri" panose="020F0502020204030204" pitchFamily="34" charset="0"/>
                          <a:cs typeface="Calibri" panose="020F0502020204030204" pitchFamily="34" charset="0"/>
                        </a:rPr>
                        <a:t>Description of Work</a:t>
                      </a:r>
                    </a:p>
                  </a:txBody>
                  <a:tcPr anchor="ctr">
                    <a:solidFill>
                      <a:srgbClr val="007680"/>
                    </a:solidFill>
                  </a:tcPr>
                </a:tc>
                <a:tc>
                  <a:txBody>
                    <a:bodyPr/>
                    <a:lstStyle/>
                    <a:p>
                      <a:r>
                        <a:rPr lang="en-US" sz="1400" dirty="0">
                          <a:latin typeface="Calibri" panose="020F0502020204030204" pitchFamily="34" charset="0"/>
                          <a:cs typeface="Calibri" panose="020F0502020204030204" pitchFamily="34" charset="0"/>
                        </a:rPr>
                        <a:t>Proposed allocated quantity </a:t>
                      </a:r>
                    </a:p>
                  </a:txBody>
                  <a:tcPr anchor="ctr">
                    <a:solidFill>
                      <a:srgbClr val="007680"/>
                    </a:solidFill>
                  </a:tcPr>
                </a:tc>
                <a:tc>
                  <a:txBody>
                    <a:bodyPr/>
                    <a:lstStyle/>
                    <a:p>
                      <a:r>
                        <a:rPr lang="en-US" sz="1400" dirty="0">
                          <a:latin typeface="Calibri" panose="020F0502020204030204" pitchFamily="34" charset="0"/>
                          <a:cs typeface="Calibri" panose="020F0502020204030204" pitchFamily="34" charset="0"/>
                        </a:rPr>
                        <a:t>Proposed allocated amount (Crore)</a:t>
                      </a:r>
                    </a:p>
                  </a:txBody>
                  <a:tcPr anchor="ctr">
                    <a:solidFill>
                      <a:srgbClr val="007680"/>
                    </a:solidFill>
                  </a:tcPr>
                </a:tc>
                <a:extLst>
                  <a:ext uri="{0D108BD9-81ED-4DB2-BD59-A6C34878D82A}">
                    <a16:rowId xmlns:a16="http://schemas.microsoft.com/office/drawing/2014/main" val="3940841248"/>
                  </a:ext>
                </a:extLst>
              </a:tr>
              <a:tr h="795539">
                <a:tc>
                  <a:txBody>
                    <a:bodyPr/>
                    <a:lstStyle/>
                    <a:p>
                      <a:pPr algn="ctr"/>
                      <a:r>
                        <a:rPr lang="en-US" sz="1400" dirty="0">
                          <a:latin typeface="Calibri" panose="020F0502020204030204" pitchFamily="34" charset="0"/>
                          <a:cs typeface="Calibri" panose="020F0502020204030204" pitchFamily="34" charset="0"/>
                        </a:rPr>
                        <a:t>1</a:t>
                      </a:r>
                    </a:p>
                  </a:txBody>
                  <a:tcPr anchor="ctr">
                    <a:solidFill>
                      <a:srgbClr val="0097A9">
                        <a:alpha val="10000"/>
                      </a:srgbClr>
                    </a:solidFill>
                  </a:tcPr>
                </a:tc>
                <a:tc>
                  <a:txBody>
                    <a:bodyPr/>
                    <a:lstStyle/>
                    <a:p>
                      <a:pPr algn="just"/>
                      <a:r>
                        <a:rPr lang="en-US" sz="1400" dirty="0">
                          <a:latin typeface="Calibri" panose="020F0502020204030204" pitchFamily="34" charset="0"/>
                          <a:cs typeface="Calibri" panose="020F0502020204030204" pitchFamily="34" charset="0"/>
                        </a:rPr>
                        <a:t>Installation of new 33/11 KV Substation and drawal of associated incoming and outgoing lines</a:t>
                      </a:r>
                    </a:p>
                  </a:txBody>
                  <a:tcPr anchor="ctr">
                    <a:solidFill>
                      <a:srgbClr val="0097A9">
                        <a:alpha val="10000"/>
                      </a:srgbClr>
                    </a:solidFill>
                  </a:tcPr>
                </a:tc>
                <a:tc>
                  <a:txBody>
                    <a:bodyPr/>
                    <a:lstStyle/>
                    <a:p>
                      <a:pPr algn="ctr"/>
                      <a:r>
                        <a:rPr lang="en-US" sz="1400" dirty="0">
                          <a:latin typeface="Calibri" panose="020F0502020204030204" pitchFamily="34" charset="0"/>
                          <a:cs typeface="Calibri" panose="020F0502020204030204" pitchFamily="34" charset="0"/>
                        </a:rPr>
                        <a:t>2 Nos</a:t>
                      </a:r>
                    </a:p>
                  </a:txBody>
                  <a:tcPr anchor="ctr">
                    <a:solidFill>
                      <a:srgbClr val="0097A9">
                        <a:alpha val="10000"/>
                      </a:srgbClr>
                    </a:solidFill>
                  </a:tcPr>
                </a:tc>
                <a:tc>
                  <a:txBody>
                    <a:bodyPr/>
                    <a:lstStyle/>
                    <a:p>
                      <a:pPr algn="ctr"/>
                      <a:r>
                        <a:rPr lang="en-US" sz="1400" dirty="0">
                          <a:latin typeface="Calibri" panose="020F0502020204030204" pitchFamily="34" charset="0"/>
                          <a:cs typeface="Calibri" panose="020F0502020204030204" pitchFamily="34" charset="0"/>
                        </a:rPr>
                        <a:t>18.45</a:t>
                      </a:r>
                    </a:p>
                  </a:txBody>
                  <a:tcPr anchor="ctr">
                    <a:solidFill>
                      <a:srgbClr val="0097A9">
                        <a:alpha val="10000"/>
                      </a:srgbClr>
                    </a:solidFill>
                  </a:tcPr>
                </a:tc>
                <a:extLst>
                  <a:ext uri="{0D108BD9-81ED-4DB2-BD59-A6C34878D82A}">
                    <a16:rowId xmlns:a16="http://schemas.microsoft.com/office/drawing/2014/main" val="1212931916"/>
                  </a:ext>
                </a:extLst>
              </a:tr>
              <a:tr h="1006341">
                <a:tc>
                  <a:txBody>
                    <a:bodyPr/>
                    <a:lstStyle/>
                    <a:p>
                      <a:pPr algn="ctr"/>
                      <a:r>
                        <a:rPr lang="en-US" sz="1400" dirty="0">
                          <a:latin typeface="Calibri" panose="020F0502020204030204" pitchFamily="34" charset="0"/>
                          <a:cs typeface="Calibri" panose="020F0502020204030204" pitchFamily="34" charset="0"/>
                        </a:rPr>
                        <a:t>2</a:t>
                      </a:r>
                    </a:p>
                  </a:txBody>
                  <a:tcPr anchor="ctr">
                    <a:solidFill>
                      <a:srgbClr val="009A44">
                        <a:alpha val="10000"/>
                      </a:srgbClr>
                    </a:solidFill>
                  </a:tcPr>
                </a:tc>
                <a:tc>
                  <a:txBody>
                    <a:bodyPr/>
                    <a:lstStyle/>
                    <a:p>
                      <a:pPr algn="just"/>
                      <a:r>
                        <a:rPr lang="en-US" sz="1400" dirty="0">
                          <a:latin typeface="Calibri" panose="020F0502020204030204" pitchFamily="34" charset="0"/>
                          <a:cs typeface="Calibri" panose="020F0502020204030204" pitchFamily="34" charset="0"/>
                        </a:rPr>
                        <a:t>Drawal of new 33 KV line &amp; Evacuation of power at 33 KV &amp; 11 KV from GSS to enhance system reliability </a:t>
                      </a:r>
                    </a:p>
                  </a:txBody>
                  <a:tcPr anchor="ctr">
                    <a:solidFill>
                      <a:srgbClr val="009A44">
                        <a:alpha val="10000"/>
                      </a:srgbClr>
                    </a:solidFill>
                  </a:tcPr>
                </a:tc>
                <a:tc>
                  <a:txBody>
                    <a:bodyPr/>
                    <a:lstStyle/>
                    <a:p>
                      <a:pPr algn="ctr"/>
                      <a:r>
                        <a:rPr lang="en-US" sz="1400" dirty="0">
                          <a:latin typeface="Calibri" panose="020F0502020204030204" pitchFamily="34" charset="0"/>
                          <a:cs typeface="Calibri" panose="020F0502020204030204" pitchFamily="34" charset="0"/>
                        </a:rPr>
                        <a:t>288.308 Km</a:t>
                      </a:r>
                    </a:p>
                  </a:txBody>
                  <a:tcPr anchor="ctr">
                    <a:solidFill>
                      <a:srgbClr val="009A44">
                        <a:alpha val="10000"/>
                      </a:srgbClr>
                    </a:solidFill>
                  </a:tcPr>
                </a:tc>
                <a:tc>
                  <a:txBody>
                    <a:bodyPr/>
                    <a:lstStyle/>
                    <a:p>
                      <a:pPr algn="ctr"/>
                      <a:r>
                        <a:rPr lang="en-US" sz="1400" dirty="0">
                          <a:latin typeface="Calibri" panose="020F0502020204030204" pitchFamily="34" charset="0"/>
                          <a:cs typeface="Calibri" panose="020F0502020204030204" pitchFamily="34" charset="0"/>
                        </a:rPr>
                        <a:t>66.68</a:t>
                      </a:r>
                    </a:p>
                  </a:txBody>
                  <a:tcPr anchor="ctr">
                    <a:solidFill>
                      <a:srgbClr val="009A44">
                        <a:alpha val="10000"/>
                      </a:srgbClr>
                    </a:solidFill>
                  </a:tcPr>
                </a:tc>
                <a:extLst>
                  <a:ext uri="{0D108BD9-81ED-4DB2-BD59-A6C34878D82A}">
                    <a16:rowId xmlns:a16="http://schemas.microsoft.com/office/drawing/2014/main" val="1520194306"/>
                  </a:ext>
                </a:extLst>
              </a:tr>
              <a:tr h="551865">
                <a:tc>
                  <a:txBody>
                    <a:bodyPr/>
                    <a:lstStyle/>
                    <a:p>
                      <a:pPr algn="ctr"/>
                      <a:r>
                        <a:rPr lang="en-US" sz="1400" dirty="0">
                          <a:latin typeface="Calibri" panose="020F0502020204030204" pitchFamily="34" charset="0"/>
                          <a:cs typeface="Calibri" panose="020F0502020204030204" pitchFamily="34" charset="0"/>
                        </a:rPr>
                        <a:t>3</a:t>
                      </a:r>
                    </a:p>
                  </a:txBody>
                  <a:tcPr anchor="ctr">
                    <a:solidFill>
                      <a:srgbClr val="0097A9">
                        <a:alpha val="10000"/>
                      </a:srgbClr>
                    </a:solidFill>
                  </a:tcPr>
                </a:tc>
                <a:tc>
                  <a:txBody>
                    <a:bodyPr/>
                    <a:lstStyle/>
                    <a:p>
                      <a:pPr algn="just"/>
                      <a:r>
                        <a:rPr lang="en-US" sz="1400" dirty="0">
                          <a:latin typeface="Calibri" panose="020F0502020204030204" pitchFamily="34" charset="0"/>
                          <a:cs typeface="Calibri" panose="020F0502020204030204" pitchFamily="34" charset="0"/>
                        </a:rPr>
                        <a:t>Augmentation of PTR in 33/11 KV Substation</a:t>
                      </a:r>
                    </a:p>
                  </a:txBody>
                  <a:tcPr anchor="ctr">
                    <a:solidFill>
                      <a:srgbClr val="0097A9">
                        <a:alpha val="10000"/>
                      </a:srgbClr>
                    </a:solidFill>
                  </a:tcPr>
                </a:tc>
                <a:tc>
                  <a:txBody>
                    <a:bodyPr/>
                    <a:lstStyle/>
                    <a:p>
                      <a:pPr algn="ctr"/>
                      <a:r>
                        <a:rPr lang="en-US" sz="1400" dirty="0">
                          <a:latin typeface="Calibri" panose="020F0502020204030204" pitchFamily="34" charset="0"/>
                          <a:cs typeface="Calibri" panose="020F0502020204030204" pitchFamily="34" charset="0"/>
                        </a:rPr>
                        <a:t>11 Nos</a:t>
                      </a:r>
                    </a:p>
                  </a:txBody>
                  <a:tcPr anchor="ctr">
                    <a:solidFill>
                      <a:srgbClr val="0097A9">
                        <a:alpha val="10000"/>
                      </a:srgbClr>
                    </a:solidFill>
                  </a:tcPr>
                </a:tc>
                <a:tc>
                  <a:txBody>
                    <a:bodyPr/>
                    <a:lstStyle/>
                    <a:p>
                      <a:pPr algn="ctr"/>
                      <a:r>
                        <a:rPr lang="en-US" sz="1400" dirty="0">
                          <a:latin typeface="Calibri" panose="020F0502020204030204" pitchFamily="34" charset="0"/>
                          <a:cs typeface="Calibri" panose="020F0502020204030204" pitchFamily="34" charset="0"/>
                        </a:rPr>
                        <a:t>19.03</a:t>
                      </a:r>
                    </a:p>
                  </a:txBody>
                  <a:tcPr anchor="ctr">
                    <a:solidFill>
                      <a:srgbClr val="0097A9">
                        <a:alpha val="10000"/>
                      </a:srgbClr>
                    </a:solidFill>
                  </a:tcPr>
                </a:tc>
                <a:extLst>
                  <a:ext uri="{0D108BD9-81ED-4DB2-BD59-A6C34878D82A}">
                    <a16:rowId xmlns:a16="http://schemas.microsoft.com/office/drawing/2014/main" val="153571173"/>
                  </a:ext>
                </a:extLst>
              </a:tr>
              <a:tr h="779104">
                <a:tc>
                  <a:txBody>
                    <a:bodyPr/>
                    <a:lstStyle/>
                    <a:p>
                      <a:pPr algn="ctr"/>
                      <a:r>
                        <a:rPr lang="en-US" sz="1400" dirty="0">
                          <a:latin typeface="Calibri" panose="020F0502020204030204" pitchFamily="34" charset="0"/>
                          <a:cs typeface="Calibri" panose="020F0502020204030204" pitchFamily="34" charset="0"/>
                        </a:rPr>
                        <a:t>4</a:t>
                      </a:r>
                    </a:p>
                  </a:txBody>
                  <a:tcPr anchor="ctr">
                    <a:solidFill>
                      <a:srgbClr val="43B02A">
                        <a:alpha val="10000"/>
                      </a:srgbClr>
                    </a:solidFill>
                  </a:tcPr>
                </a:tc>
                <a:tc>
                  <a:txBody>
                    <a:bodyPr/>
                    <a:lstStyle/>
                    <a:p>
                      <a:pPr algn="just"/>
                      <a:r>
                        <a:rPr lang="en-US" sz="1400" dirty="0">
                          <a:latin typeface="Calibri" panose="020F0502020204030204" pitchFamily="34" charset="0"/>
                          <a:cs typeface="Calibri" panose="020F0502020204030204" pitchFamily="34" charset="0"/>
                        </a:rPr>
                        <a:t>Augmentation / System improvement of 33 KV and 11 KV distribution system</a:t>
                      </a:r>
                    </a:p>
                  </a:txBody>
                  <a:tcPr anchor="ctr">
                    <a:solidFill>
                      <a:srgbClr val="43B02A">
                        <a:alpha val="10000"/>
                      </a:srgbClr>
                    </a:solidFill>
                  </a:tcPr>
                </a:tc>
                <a:tc>
                  <a:txBody>
                    <a:bodyPr/>
                    <a:lstStyle/>
                    <a:p>
                      <a:pPr algn="ctr"/>
                      <a:r>
                        <a:rPr lang="en-US" sz="1400" dirty="0">
                          <a:latin typeface="Calibri" panose="020F0502020204030204" pitchFamily="34" charset="0"/>
                          <a:cs typeface="Calibri" panose="020F0502020204030204" pitchFamily="34" charset="0"/>
                        </a:rPr>
                        <a:t>LS</a:t>
                      </a:r>
                    </a:p>
                  </a:txBody>
                  <a:tcPr anchor="ctr">
                    <a:solidFill>
                      <a:srgbClr val="43B02A">
                        <a:alpha val="10000"/>
                      </a:srgbClr>
                    </a:solidFill>
                  </a:tcPr>
                </a:tc>
                <a:tc>
                  <a:txBody>
                    <a:bodyPr/>
                    <a:lstStyle/>
                    <a:p>
                      <a:pPr algn="ctr"/>
                      <a:r>
                        <a:rPr lang="en-US" sz="1400" dirty="0">
                          <a:latin typeface="Calibri" panose="020F0502020204030204" pitchFamily="34" charset="0"/>
                          <a:cs typeface="Calibri" panose="020F0502020204030204" pitchFamily="34" charset="0"/>
                        </a:rPr>
                        <a:t>16.80</a:t>
                      </a:r>
                    </a:p>
                  </a:txBody>
                  <a:tcPr anchor="ctr">
                    <a:solidFill>
                      <a:srgbClr val="43B02A">
                        <a:alpha val="10000"/>
                      </a:srgbClr>
                    </a:solidFill>
                  </a:tcPr>
                </a:tc>
                <a:extLst>
                  <a:ext uri="{0D108BD9-81ED-4DB2-BD59-A6C34878D82A}">
                    <a16:rowId xmlns:a16="http://schemas.microsoft.com/office/drawing/2014/main" val="1177935403"/>
                  </a:ext>
                </a:extLst>
              </a:tr>
              <a:tr h="779104">
                <a:tc>
                  <a:txBody>
                    <a:bodyPr/>
                    <a:lstStyle/>
                    <a:p>
                      <a:pPr algn="ctr"/>
                      <a:r>
                        <a:rPr lang="en-US" sz="1400" dirty="0">
                          <a:latin typeface="Calibri" panose="020F0502020204030204" pitchFamily="34" charset="0"/>
                          <a:cs typeface="Calibri" panose="020F0502020204030204" pitchFamily="34" charset="0"/>
                        </a:rPr>
                        <a:t>5</a:t>
                      </a:r>
                    </a:p>
                  </a:txBody>
                  <a:tcPr anchor="ctr">
                    <a:solidFill>
                      <a:srgbClr val="0097A9">
                        <a:alpha val="10000"/>
                      </a:srgbClr>
                    </a:solidFill>
                  </a:tcPr>
                </a:tc>
                <a:tc>
                  <a:txBody>
                    <a:bodyPr/>
                    <a:lstStyle/>
                    <a:p>
                      <a:pPr algn="just"/>
                      <a:r>
                        <a:rPr lang="en-US" sz="1400" dirty="0">
                          <a:latin typeface="Calibri" panose="020F0502020204030204" pitchFamily="34" charset="0"/>
                          <a:cs typeface="Calibri" panose="020F0502020204030204" pitchFamily="34" charset="0"/>
                        </a:rPr>
                        <a:t>Miscellaneous 33 KV &amp; 11 KV system improvement work throughout West Bengal</a:t>
                      </a:r>
                    </a:p>
                  </a:txBody>
                  <a:tcPr anchor="ctr">
                    <a:solidFill>
                      <a:srgbClr val="0097A9">
                        <a:alpha val="10000"/>
                      </a:srgbClr>
                    </a:solidFill>
                  </a:tcPr>
                </a:tc>
                <a:tc>
                  <a:txBody>
                    <a:bodyPr/>
                    <a:lstStyle/>
                    <a:p>
                      <a:pPr algn="ctr"/>
                      <a:r>
                        <a:rPr lang="en-US" sz="1400" dirty="0">
                          <a:latin typeface="Calibri" panose="020F0502020204030204" pitchFamily="34" charset="0"/>
                          <a:cs typeface="Calibri" panose="020F0502020204030204" pitchFamily="34" charset="0"/>
                        </a:rPr>
                        <a:t>LS</a:t>
                      </a:r>
                    </a:p>
                  </a:txBody>
                  <a:tcPr anchor="ctr">
                    <a:solidFill>
                      <a:srgbClr val="0097A9">
                        <a:alpha val="10000"/>
                      </a:srgbClr>
                    </a:solidFill>
                  </a:tcPr>
                </a:tc>
                <a:tc>
                  <a:txBody>
                    <a:bodyPr/>
                    <a:lstStyle/>
                    <a:p>
                      <a:pPr algn="ctr"/>
                      <a:r>
                        <a:rPr lang="en-US" sz="1400" dirty="0">
                          <a:latin typeface="Calibri" panose="020F0502020204030204" pitchFamily="34" charset="0"/>
                          <a:cs typeface="Calibri" panose="020F0502020204030204" pitchFamily="34" charset="0"/>
                        </a:rPr>
                        <a:t>5</a:t>
                      </a:r>
                    </a:p>
                  </a:txBody>
                  <a:tcPr anchor="ctr">
                    <a:solidFill>
                      <a:srgbClr val="0097A9">
                        <a:alpha val="10000"/>
                      </a:srgbClr>
                    </a:solidFill>
                  </a:tcPr>
                </a:tc>
                <a:extLst>
                  <a:ext uri="{0D108BD9-81ED-4DB2-BD59-A6C34878D82A}">
                    <a16:rowId xmlns:a16="http://schemas.microsoft.com/office/drawing/2014/main" val="3638679191"/>
                  </a:ext>
                </a:extLst>
              </a:tr>
              <a:tr h="394962">
                <a:tc gridSpan="3">
                  <a:txBody>
                    <a:bodyPr/>
                    <a:lstStyle/>
                    <a:p>
                      <a:pPr algn="ctr"/>
                      <a:r>
                        <a:rPr lang="en-US" sz="1400" b="1" dirty="0">
                          <a:latin typeface="Calibri" panose="020F0502020204030204" pitchFamily="34" charset="0"/>
                          <a:cs typeface="Calibri" panose="020F0502020204030204" pitchFamily="34" charset="0"/>
                        </a:rPr>
                        <a:t>Total</a:t>
                      </a:r>
                    </a:p>
                  </a:txBody>
                  <a:tcPr anchor="ctr">
                    <a:solidFill>
                      <a:srgbClr val="43B02A">
                        <a:alpha val="10000"/>
                      </a:srgbClr>
                    </a:solidFill>
                  </a:tcPr>
                </a:tc>
                <a:tc hMerge="1">
                  <a:txBody>
                    <a:bodyPr/>
                    <a:lstStyle/>
                    <a:p>
                      <a:endParaRPr lang="en-US" sz="1400" dirty="0">
                        <a:latin typeface="Calibri" panose="020F0502020204030204" pitchFamily="34" charset="0"/>
                        <a:cs typeface="Calibri" panose="020F0502020204030204" pitchFamily="34" charset="0"/>
                      </a:endParaRPr>
                    </a:p>
                  </a:txBody>
                  <a:tcPr/>
                </a:tc>
                <a:tc hMerge="1">
                  <a:txBody>
                    <a:bodyPr/>
                    <a:lstStyle/>
                    <a:p>
                      <a:endParaRPr lang="en-US" sz="1400" dirty="0">
                        <a:latin typeface="Calibri" panose="020F0502020204030204" pitchFamily="34" charset="0"/>
                        <a:cs typeface="Calibri" panose="020F0502020204030204" pitchFamily="34" charset="0"/>
                      </a:endParaRPr>
                    </a:p>
                  </a:txBody>
                  <a:tcPr/>
                </a:tc>
                <a:tc>
                  <a:txBody>
                    <a:bodyPr/>
                    <a:lstStyle/>
                    <a:p>
                      <a:pPr algn="ctr"/>
                      <a:r>
                        <a:rPr lang="en-US" sz="1400" b="1" dirty="0">
                          <a:latin typeface="Calibri" panose="020F0502020204030204" pitchFamily="34" charset="0"/>
                          <a:cs typeface="Calibri" panose="020F0502020204030204" pitchFamily="34" charset="0"/>
                        </a:rPr>
                        <a:t>125.96</a:t>
                      </a:r>
                    </a:p>
                  </a:txBody>
                  <a:tcPr anchor="ctr">
                    <a:solidFill>
                      <a:srgbClr val="43B02A">
                        <a:alpha val="10000"/>
                      </a:srgbClr>
                    </a:solidFill>
                  </a:tcPr>
                </a:tc>
                <a:extLst>
                  <a:ext uri="{0D108BD9-81ED-4DB2-BD59-A6C34878D82A}">
                    <a16:rowId xmlns:a16="http://schemas.microsoft.com/office/drawing/2014/main" val="1537288226"/>
                  </a:ext>
                </a:extLst>
              </a:tr>
            </a:tbl>
          </a:graphicData>
        </a:graphic>
      </p:graphicFrame>
      <p:graphicFrame>
        <p:nvGraphicFramePr>
          <p:cNvPr id="5" name="Chart 4">
            <a:extLst>
              <a:ext uri="{FF2B5EF4-FFF2-40B4-BE49-F238E27FC236}">
                <a16:creationId xmlns:a16="http://schemas.microsoft.com/office/drawing/2014/main" id="{0DB615ED-3D89-49C8-90FE-EA0EDA076B7F}"/>
              </a:ext>
            </a:extLst>
          </p:cNvPr>
          <p:cNvGraphicFramePr/>
          <p:nvPr>
            <p:extLst>
              <p:ext uri="{D42A27DB-BD31-4B8C-83A1-F6EECF244321}">
                <p14:modId xmlns:p14="http://schemas.microsoft.com/office/powerpoint/2010/main" val="2298431406"/>
              </p:ext>
            </p:extLst>
          </p:nvPr>
        </p:nvGraphicFramePr>
        <p:xfrm>
          <a:off x="7293428" y="719666"/>
          <a:ext cx="4384207" cy="270933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35600EDB-5609-4F06-95C7-78B21452781E}"/>
              </a:ext>
            </a:extLst>
          </p:cNvPr>
          <p:cNvGraphicFramePr/>
          <p:nvPr>
            <p:extLst>
              <p:ext uri="{D42A27DB-BD31-4B8C-83A1-F6EECF244321}">
                <p14:modId xmlns:p14="http://schemas.microsoft.com/office/powerpoint/2010/main" val="779760973"/>
              </p:ext>
            </p:extLst>
          </p:nvPr>
        </p:nvGraphicFramePr>
        <p:xfrm>
          <a:off x="7293428" y="3738515"/>
          <a:ext cx="4384207" cy="202353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687576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5656"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635358" y="1537937"/>
            <a:ext cx="9630230" cy="615553"/>
          </a:xfrm>
        </p:spPr>
        <p:txBody>
          <a:bodyPr anchor="ctr" anchorCtr="0">
            <a:spAutoFit/>
          </a:bodyPr>
          <a:lstStyle/>
          <a:p>
            <a:r>
              <a:rPr lang="en-US" sz="2000" i="0" dirty="0">
                <a:solidFill>
                  <a:schemeClr val="tx1"/>
                </a:solidFill>
              </a:rPr>
              <a:t>Distribution Network Strengthening and Grid Modernization in its distribution system (WORLD BANK)</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68992" y="1590786"/>
            <a:ext cx="811893" cy="501149"/>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lang="en-IN" sz="1400" b="1" kern="0" dirty="0">
                <a:solidFill>
                  <a:prstClr val="white"/>
                </a:solidFill>
              </a:rPr>
              <a:t>3B</a:t>
            </a:r>
            <a:endParaRPr kumimoji="0" lang="en-IN" sz="1400" b="1" i="0" u="none" strike="noStrike" kern="0" cap="none" spc="0" normalizeH="0" baseline="0" noProof="0" dirty="0">
              <a:ln>
                <a:noFill/>
              </a:ln>
              <a:solidFill>
                <a:prstClr val="white"/>
              </a:solidFill>
              <a:effectLst/>
              <a:uLnTx/>
              <a:uFillTx/>
            </a:endParaRPr>
          </a:p>
        </p:txBody>
      </p:sp>
      <p:grpSp>
        <p:nvGrpSpPr>
          <p:cNvPr id="14" name="Group 526">
            <a:extLst>
              <a:ext uri="{FF2B5EF4-FFF2-40B4-BE49-F238E27FC236}">
                <a16:creationId xmlns:a16="http://schemas.microsoft.com/office/drawing/2014/main" id="{5540E149-1F19-4064-9714-B21FD0705489}"/>
              </a:ext>
            </a:extLst>
          </p:cNvPr>
          <p:cNvGrpSpPr>
            <a:grpSpLocks noChangeAspect="1"/>
          </p:cNvGrpSpPr>
          <p:nvPr/>
        </p:nvGrpSpPr>
        <p:grpSpPr bwMode="auto">
          <a:xfrm>
            <a:off x="1104225" y="3008313"/>
            <a:ext cx="2345264" cy="2345264"/>
            <a:chOff x="3464" y="1974"/>
            <a:chExt cx="340" cy="340"/>
          </a:xfrm>
          <a:solidFill>
            <a:srgbClr val="9CAC00"/>
          </a:solidFill>
        </p:grpSpPr>
        <p:sp>
          <p:nvSpPr>
            <p:cNvPr id="15" name="Freeform 527">
              <a:extLst>
                <a:ext uri="{FF2B5EF4-FFF2-40B4-BE49-F238E27FC236}">
                  <a16:creationId xmlns:a16="http://schemas.microsoft.com/office/drawing/2014/main" id="{2261B12D-A407-4719-9125-F49F83DDB571}"/>
                </a:ext>
              </a:extLst>
            </p:cNvPr>
            <p:cNvSpPr>
              <a:spLocks noEditPoints="1"/>
            </p:cNvSpPr>
            <p:nvPr/>
          </p:nvSpPr>
          <p:spPr bwMode="auto">
            <a:xfrm>
              <a:off x="3464" y="197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528">
              <a:extLst>
                <a:ext uri="{FF2B5EF4-FFF2-40B4-BE49-F238E27FC236}">
                  <a16:creationId xmlns:a16="http://schemas.microsoft.com/office/drawing/2014/main" id="{4FB09AB9-A79B-434D-9DE7-187BE7279860}"/>
                </a:ext>
              </a:extLst>
            </p:cNvPr>
            <p:cNvSpPr>
              <a:spLocks noEditPoints="1"/>
            </p:cNvSpPr>
            <p:nvPr/>
          </p:nvSpPr>
          <p:spPr bwMode="auto">
            <a:xfrm>
              <a:off x="3541" y="2037"/>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5564531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92120" y="193988"/>
            <a:ext cx="11188700" cy="368299"/>
          </a:xfrm>
        </p:spPr>
        <p:txBody>
          <a:bodyPr vert="horz"/>
          <a:lstStyle/>
          <a:p>
            <a:pPr algn="just"/>
            <a:r>
              <a:rPr lang="en-US" sz="1800" i="0" dirty="0">
                <a:solidFill>
                  <a:schemeClr val="tx1"/>
                </a:solidFill>
                <a:latin typeface="+mj-lt"/>
              </a:rPr>
              <a:t>Background Of Distribution Network Strengthening and Grid Modernization </a:t>
            </a:r>
          </a:p>
        </p:txBody>
      </p:sp>
      <p:sp>
        <p:nvSpPr>
          <p:cNvPr id="9" name="TextBox 8">
            <a:extLst>
              <a:ext uri="{FF2B5EF4-FFF2-40B4-BE49-F238E27FC236}">
                <a16:creationId xmlns:a16="http://schemas.microsoft.com/office/drawing/2014/main" id="{0AD044FD-E808-42E4-AAAB-B827AA8A5FFE}"/>
              </a:ext>
            </a:extLst>
          </p:cNvPr>
          <p:cNvSpPr txBox="1"/>
          <p:nvPr/>
        </p:nvSpPr>
        <p:spPr>
          <a:xfrm>
            <a:off x="3082236" y="6597639"/>
            <a:ext cx="6008468" cy="169277"/>
          </a:xfrm>
          <a:prstGeom prst="rect">
            <a:avLst/>
          </a:prstGeom>
          <a:noFill/>
        </p:spPr>
        <p:txBody>
          <a:bodyPr wrap="square" lIns="0" tIns="0" rIns="0" bIns="0" rtlCol="0">
            <a:spAutoFit/>
          </a:bodyPr>
          <a:lstStyle/>
          <a:p>
            <a:pPr>
              <a:spcBef>
                <a:spcPts val="600"/>
              </a:spcBef>
              <a:buSzPct val="100000"/>
            </a:pPr>
            <a:r>
              <a:rPr lang="en-US" sz="1100" b="1" dirty="0">
                <a:solidFill>
                  <a:srgbClr val="313131"/>
                </a:solidFill>
                <a:latin typeface="+mj-lt"/>
                <a:cs typeface="Calibri" panose="020F0502020204030204" pitchFamily="34" charset="0"/>
              </a:rPr>
              <a:t>Source </a:t>
            </a:r>
            <a:r>
              <a:rPr lang="en-US" sz="1100" dirty="0">
                <a:solidFill>
                  <a:srgbClr val="313131"/>
                </a:solidFill>
                <a:latin typeface="+mj-lt"/>
                <a:cs typeface="Calibri" panose="020F0502020204030204" pitchFamily="34" charset="0"/>
              </a:rPr>
              <a:t>: https://wberc.gov.in/sites/default/files/OA346.pdf</a:t>
            </a:r>
          </a:p>
        </p:txBody>
      </p:sp>
      <p:sp>
        <p:nvSpPr>
          <p:cNvPr id="12" name="Rectangle 19">
            <a:extLst>
              <a:ext uri="{FF2B5EF4-FFF2-40B4-BE49-F238E27FC236}">
                <a16:creationId xmlns:a16="http://schemas.microsoft.com/office/drawing/2014/main" id="{ABD4B303-D9F9-4031-BF20-CB318D45F383}"/>
              </a:ext>
            </a:extLst>
          </p:cNvPr>
          <p:cNvSpPr>
            <a:spLocks noChangeArrowheads="1"/>
          </p:cNvSpPr>
          <p:nvPr/>
        </p:nvSpPr>
        <p:spPr bwMode="auto">
          <a:xfrm>
            <a:off x="3324474" y="711283"/>
            <a:ext cx="8484492" cy="3011631"/>
          </a:xfrm>
          <a:prstGeom prst="rect">
            <a:avLst/>
          </a:prstGeom>
          <a:noFill/>
          <a:ln w="19050" algn="ctr">
            <a:solidFill>
              <a:schemeClr val="accent1"/>
            </a:solidFill>
            <a:miter lim="800000"/>
            <a:headEnd/>
            <a:tailEnd/>
          </a:ln>
        </p:spPr>
        <p:txBody>
          <a:bodyPr wrap="square" lIns="88900" tIns="88900" rIns="88900" bIns="88900" anchor="ctr"/>
          <a:lstStyle/>
          <a:p>
            <a:pPr marL="285750" indent="-285750" algn="just">
              <a:spcBef>
                <a:spcPts val="150"/>
              </a:spcBef>
              <a:spcAft>
                <a:spcPts val="150"/>
              </a:spcAft>
              <a:buFont typeface="Wingdings" panose="05000000000000000000" pitchFamily="2" charset="2"/>
              <a:buChar char="Ø"/>
            </a:pPr>
            <a:r>
              <a:rPr lang="en-US" sz="1200" dirty="0">
                <a:solidFill>
                  <a:srgbClr val="000000"/>
                </a:solidFill>
                <a:latin typeface="+mj-lt"/>
                <a:ea typeface="ＭＳ Ｐゴシック" pitchFamily="50" charset="-128"/>
                <a:cs typeface="Calibri" panose="020F0502020204030204" pitchFamily="34" charset="0"/>
              </a:rPr>
              <a:t>High Voltage Distribution System with conversion of LTOH bare conductor line by LT AB Cable in 13 Districts viz. Howrah, Purba Medinipur, Bankura, Purulia, Nadia, Murshidabad, Malda, Uttar Dinajpur, Dakshin Dinajpur, Darjeeling, Jalpaiguri, Coochbehar and Alipurduar</a:t>
            </a:r>
          </a:p>
          <a:p>
            <a:pPr marL="285750" indent="-285750" algn="just">
              <a:spcBef>
                <a:spcPts val="150"/>
              </a:spcBef>
              <a:spcAft>
                <a:spcPts val="150"/>
              </a:spcAft>
              <a:buFont typeface="Wingdings" panose="05000000000000000000" pitchFamily="2" charset="2"/>
              <a:buChar char="Ø"/>
            </a:pPr>
            <a:r>
              <a:rPr lang="en-US" sz="1200" dirty="0">
                <a:solidFill>
                  <a:srgbClr val="000000"/>
                </a:solidFill>
                <a:latin typeface="+mj-lt"/>
                <a:ea typeface="ＭＳ Ｐゴシック" pitchFamily="50" charset="-128"/>
                <a:cs typeface="Calibri" panose="020F0502020204030204" pitchFamily="34" charset="0"/>
              </a:rPr>
              <a:t>Construction of 15 number of 33/11 KV GIS in districts mentioned above.</a:t>
            </a:r>
          </a:p>
          <a:p>
            <a:pPr marL="285750" indent="-285750" algn="just">
              <a:spcBef>
                <a:spcPts val="150"/>
              </a:spcBef>
              <a:spcAft>
                <a:spcPts val="150"/>
              </a:spcAft>
              <a:buFont typeface="Wingdings" panose="05000000000000000000" pitchFamily="2" charset="2"/>
              <a:buChar char="Ø"/>
            </a:pPr>
            <a:r>
              <a:rPr lang="en-US" sz="1200" dirty="0">
                <a:solidFill>
                  <a:srgbClr val="000000"/>
                </a:solidFill>
                <a:latin typeface="+mj-lt"/>
                <a:ea typeface="ＭＳ Ｐゴシック" pitchFamily="50" charset="-128"/>
                <a:cs typeface="Calibri" panose="020F0502020204030204" pitchFamily="34" charset="0"/>
              </a:rPr>
              <a:t>Conversion of overhead network to underground cable system at 5 towns viz. Asansol, Baruipur, Kharagpur,  Baguihati, Kestopur  and Rajarhat.</a:t>
            </a:r>
          </a:p>
          <a:p>
            <a:pPr marL="285750" indent="-285750" algn="just">
              <a:spcBef>
                <a:spcPts val="150"/>
              </a:spcBef>
              <a:spcAft>
                <a:spcPts val="150"/>
              </a:spcAft>
              <a:buFont typeface="Wingdings" panose="05000000000000000000" pitchFamily="2" charset="2"/>
              <a:buChar char="Ø"/>
            </a:pPr>
            <a:r>
              <a:rPr lang="en-US" sz="1200" dirty="0">
                <a:solidFill>
                  <a:srgbClr val="000000"/>
                </a:solidFill>
                <a:latin typeface="+mj-lt"/>
                <a:ea typeface="ＭＳ Ｐゴシック" pitchFamily="50" charset="-128"/>
                <a:cs typeface="Calibri" panose="020F0502020204030204" pitchFamily="34" charset="0"/>
              </a:rPr>
              <a:t>Creating IT backbone for rolling out AMI and SCADA system at 20 towns viz Balurghat, Alipurduar, Bankura, Berhampur,  Bishnupur, Burdwan, Coochbehar, English Bazar, Jalpaiguri, Jhargram, Krishnanagar, Midnapur, Nabadwip, Purulia, Raiganj, Suri, Tamluk, New Town and Kharagpur. </a:t>
            </a:r>
          </a:p>
          <a:p>
            <a:pPr marL="285750" indent="-285750" algn="just">
              <a:spcBef>
                <a:spcPts val="150"/>
              </a:spcBef>
              <a:spcAft>
                <a:spcPts val="150"/>
              </a:spcAft>
              <a:buFont typeface="Wingdings" panose="05000000000000000000" pitchFamily="2" charset="2"/>
              <a:buChar char="Ø"/>
            </a:pPr>
            <a:r>
              <a:rPr lang="en-US" sz="1200" dirty="0">
                <a:solidFill>
                  <a:srgbClr val="000000"/>
                </a:solidFill>
                <a:latin typeface="+mj-lt"/>
                <a:ea typeface="ＭＳ Ｐゴシック" pitchFamily="50" charset="-128"/>
                <a:cs typeface="Calibri" panose="020F0502020204030204" pitchFamily="34" charset="0"/>
              </a:rPr>
              <a:t>3 Phase 4 CT operated AMR compatible Static metering and Distribution Transformer (DTR) for AMR</a:t>
            </a:r>
          </a:p>
          <a:p>
            <a:pPr marL="285750" indent="-285750" algn="just">
              <a:spcBef>
                <a:spcPts val="150"/>
              </a:spcBef>
              <a:spcAft>
                <a:spcPts val="150"/>
              </a:spcAft>
              <a:buFont typeface="Wingdings" panose="05000000000000000000" pitchFamily="2" charset="2"/>
              <a:buChar char="Ø"/>
            </a:pPr>
            <a:r>
              <a:rPr lang="en-US" sz="1200" dirty="0">
                <a:solidFill>
                  <a:srgbClr val="000000"/>
                </a:solidFill>
                <a:latin typeface="+mj-lt"/>
                <a:ea typeface="ＭＳ Ｐゴシック" pitchFamily="50" charset="-128"/>
                <a:cs typeface="Calibri" panose="020F0502020204030204" pitchFamily="34" charset="0"/>
              </a:rPr>
              <a:t>Innovative Schemes for Distribution System Strengthening </a:t>
            </a:r>
          </a:p>
          <a:p>
            <a:pPr marL="285750" indent="-285750" algn="just">
              <a:spcBef>
                <a:spcPts val="150"/>
              </a:spcBef>
              <a:spcAft>
                <a:spcPts val="150"/>
              </a:spcAft>
              <a:buFont typeface="Wingdings" panose="05000000000000000000" pitchFamily="2" charset="2"/>
              <a:buChar char="Ø"/>
            </a:pPr>
            <a:r>
              <a:rPr lang="en-US" sz="1200" dirty="0">
                <a:solidFill>
                  <a:srgbClr val="000000"/>
                </a:solidFill>
                <a:latin typeface="+mj-lt"/>
                <a:ea typeface="ＭＳ Ｐゴシック" pitchFamily="50" charset="-128"/>
                <a:cs typeface="Calibri" panose="020F0502020204030204" pitchFamily="34" charset="0"/>
              </a:rPr>
              <a:t>Capacity Building </a:t>
            </a:r>
          </a:p>
        </p:txBody>
      </p:sp>
      <p:sp>
        <p:nvSpPr>
          <p:cNvPr id="13" name="AutoShape 12">
            <a:extLst>
              <a:ext uri="{FF2B5EF4-FFF2-40B4-BE49-F238E27FC236}">
                <a16:creationId xmlns:a16="http://schemas.microsoft.com/office/drawing/2014/main" id="{422C5E13-7199-4F90-AB97-ACB7BDA06D8C}"/>
              </a:ext>
            </a:extLst>
          </p:cNvPr>
          <p:cNvSpPr>
            <a:spLocks noChangeArrowheads="1"/>
          </p:cNvSpPr>
          <p:nvPr/>
        </p:nvSpPr>
        <p:spPr bwMode="auto">
          <a:xfrm>
            <a:off x="2576530" y="711283"/>
            <a:ext cx="623870" cy="3011631"/>
          </a:xfrm>
          <a:prstGeom prst="homePlate">
            <a:avLst>
              <a:gd name="adj" fmla="val 100000"/>
            </a:avLst>
          </a:prstGeom>
          <a:solidFill>
            <a:schemeClr val="bg2">
              <a:lumMod val="75000"/>
            </a:schemeClr>
          </a:solidFill>
          <a:ln w="6350" algn="ctr">
            <a:noFill/>
            <a:miter lim="800000"/>
            <a:headEnd/>
            <a:tailEnd/>
          </a:ln>
        </p:spPr>
        <p:txBody>
          <a:bodyPr wrap="square" lIns="88900" tIns="88900" rIns="88900" bIns="88900" anchor="ctr"/>
          <a:lstStyle/>
          <a:p>
            <a:pPr algn="ctr"/>
            <a:endParaRPr lang="en-US" sz="1200" dirty="0">
              <a:latin typeface="+mj-lt"/>
            </a:endParaRPr>
          </a:p>
        </p:txBody>
      </p:sp>
      <p:sp>
        <p:nvSpPr>
          <p:cNvPr id="14" name="Rectangle 13">
            <a:extLst>
              <a:ext uri="{FF2B5EF4-FFF2-40B4-BE49-F238E27FC236}">
                <a16:creationId xmlns:a16="http://schemas.microsoft.com/office/drawing/2014/main" id="{DC15638A-781B-4F10-AFBC-DE4B1AEBE320}"/>
              </a:ext>
            </a:extLst>
          </p:cNvPr>
          <p:cNvSpPr/>
          <p:nvPr/>
        </p:nvSpPr>
        <p:spPr bwMode="gray">
          <a:xfrm>
            <a:off x="483052" y="711283"/>
            <a:ext cx="1969404" cy="3011632"/>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latin typeface="+mj-lt"/>
                <a:cs typeface="Calibri" panose="020F0502020204030204" pitchFamily="34" charset="0"/>
              </a:rPr>
              <a:t>Details of Scheme</a:t>
            </a:r>
          </a:p>
        </p:txBody>
      </p:sp>
      <p:sp>
        <p:nvSpPr>
          <p:cNvPr id="19" name="AutoShape 12">
            <a:extLst>
              <a:ext uri="{FF2B5EF4-FFF2-40B4-BE49-F238E27FC236}">
                <a16:creationId xmlns:a16="http://schemas.microsoft.com/office/drawing/2014/main" id="{8A82BBF4-88DD-48E7-B62C-9E4C98B80830}"/>
              </a:ext>
            </a:extLst>
          </p:cNvPr>
          <p:cNvSpPr>
            <a:spLocks noChangeArrowheads="1"/>
          </p:cNvSpPr>
          <p:nvPr/>
        </p:nvSpPr>
        <p:spPr bwMode="auto">
          <a:xfrm>
            <a:off x="2575150" y="3871911"/>
            <a:ext cx="623869" cy="2607434"/>
          </a:xfrm>
          <a:prstGeom prst="homePlate">
            <a:avLst>
              <a:gd name="adj" fmla="val 100000"/>
            </a:avLst>
          </a:prstGeom>
          <a:solidFill>
            <a:schemeClr val="bg2">
              <a:lumMod val="75000"/>
            </a:schemeClr>
          </a:solidFill>
          <a:ln w="6350" algn="ctr">
            <a:noFill/>
            <a:miter lim="800000"/>
            <a:headEnd/>
            <a:tailEnd/>
          </a:ln>
        </p:spPr>
        <p:txBody>
          <a:bodyPr wrap="square" lIns="88900" tIns="88900" rIns="88900" bIns="88900" anchor="ctr"/>
          <a:lstStyle/>
          <a:p>
            <a:pPr algn="ctr"/>
            <a:endParaRPr lang="en-US" sz="1200" dirty="0">
              <a:latin typeface="+mj-lt"/>
            </a:endParaRPr>
          </a:p>
        </p:txBody>
      </p:sp>
      <p:sp>
        <p:nvSpPr>
          <p:cNvPr id="20" name="Rectangle 19">
            <a:extLst>
              <a:ext uri="{FF2B5EF4-FFF2-40B4-BE49-F238E27FC236}">
                <a16:creationId xmlns:a16="http://schemas.microsoft.com/office/drawing/2014/main" id="{9B6CF861-A7B1-430E-AAA1-CCED3E351EC8}"/>
              </a:ext>
            </a:extLst>
          </p:cNvPr>
          <p:cNvSpPr/>
          <p:nvPr/>
        </p:nvSpPr>
        <p:spPr bwMode="gray">
          <a:xfrm>
            <a:off x="492120" y="3871910"/>
            <a:ext cx="1969404" cy="2607435"/>
          </a:xfrm>
          <a:prstGeom prst="rect">
            <a:avLst/>
          </a:prstGeom>
          <a:solidFill>
            <a:srgbClr val="00768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latin typeface="+mj-lt"/>
                <a:cs typeface="Calibri" panose="020F0502020204030204" pitchFamily="34" charset="0"/>
              </a:rPr>
              <a:t>Project Benefits</a:t>
            </a:r>
          </a:p>
        </p:txBody>
      </p:sp>
      <p:sp>
        <p:nvSpPr>
          <p:cNvPr id="22" name="Rectangle 19">
            <a:extLst>
              <a:ext uri="{FF2B5EF4-FFF2-40B4-BE49-F238E27FC236}">
                <a16:creationId xmlns:a16="http://schemas.microsoft.com/office/drawing/2014/main" id="{BBF0568F-2DB7-4F2F-942B-4BF8A4361920}"/>
              </a:ext>
            </a:extLst>
          </p:cNvPr>
          <p:cNvSpPr>
            <a:spLocks noChangeArrowheads="1"/>
          </p:cNvSpPr>
          <p:nvPr/>
        </p:nvSpPr>
        <p:spPr bwMode="auto">
          <a:xfrm>
            <a:off x="3324474" y="3841208"/>
            <a:ext cx="8494940" cy="2607434"/>
          </a:xfrm>
          <a:prstGeom prst="rect">
            <a:avLst/>
          </a:prstGeom>
          <a:noFill/>
          <a:ln w="19050" algn="ctr">
            <a:solidFill>
              <a:srgbClr val="0076A8"/>
            </a:solidFill>
            <a:miter lim="800000"/>
            <a:headEnd/>
            <a:tailEnd/>
          </a:ln>
        </p:spPr>
        <p:txBody>
          <a:bodyPr wrap="square" lIns="182880" tIns="91440" rIns="91440" bIns="182880" anchor="ctr"/>
          <a:lstStyle/>
          <a:p>
            <a:pPr marL="285750" indent="-285750" algn="just">
              <a:spcBef>
                <a:spcPts val="150"/>
              </a:spcBef>
              <a:spcAft>
                <a:spcPts val="150"/>
              </a:spcAft>
              <a:buFont typeface="Wingdings" panose="05000000000000000000" pitchFamily="2" charset="2"/>
              <a:buChar char="q"/>
            </a:pPr>
            <a:r>
              <a:rPr lang="en-US" sz="1200" b="0" i="0" u="none" strike="noStrike" baseline="0" dirty="0">
                <a:latin typeface="+mj-lt"/>
                <a:cs typeface="Calibri" panose="020F0502020204030204" pitchFamily="34" charset="0"/>
              </a:rPr>
              <a:t>Use of HVDS results in reduction in losses and improvement of quality. Availability and reliability of the power supply. As </a:t>
            </a:r>
            <a:r>
              <a:rPr lang="en-US" sz="1200" dirty="0">
                <a:latin typeface="+mj-lt"/>
                <a:cs typeface="Calibri" panose="020F0502020204030204" pitchFamily="34" charset="0"/>
              </a:rPr>
              <a:t>11 </a:t>
            </a:r>
            <a:r>
              <a:rPr lang="en-US" sz="1200" b="0" i="0" u="none" strike="noStrike" baseline="0" dirty="0">
                <a:latin typeface="+mj-lt"/>
                <a:cs typeface="Calibri" panose="020F0502020204030204" pitchFamily="34" charset="0"/>
              </a:rPr>
              <a:t>kV line is taken near to the load point improvement in voltage regulation will be there. Thus, technical benefits will be achieved by way of improved system parameters achieved through improvement of infrastructure quality.</a:t>
            </a:r>
          </a:p>
          <a:p>
            <a:pPr marL="285750" indent="-285750" algn="just">
              <a:spcBef>
                <a:spcPts val="150"/>
              </a:spcBef>
              <a:spcAft>
                <a:spcPts val="150"/>
              </a:spcAft>
              <a:buFont typeface="Wingdings" panose="05000000000000000000" pitchFamily="2" charset="2"/>
              <a:buChar char="q"/>
            </a:pPr>
            <a:r>
              <a:rPr lang="en-US" sz="1200" b="0" i="0" u="none" strike="noStrike" baseline="0" dirty="0">
                <a:latin typeface="+mj-lt"/>
                <a:cs typeface="Calibri" panose="020F0502020204030204" pitchFamily="34" charset="0"/>
              </a:rPr>
              <a:t>To ensure increased customer satisfaction</a:t>
            </a:r>
          </a:p>
          <a:p>
            <a:pPr marL="285750" indent="-285750" algn="just">
              <a:spcBef>
                <a:spcPts val="150"/>
              </a:spcBef>
              <a:spcAft>
                <a:spcPts val="150"/>
              </a:spcAft>
              <a:buFont typeface="Wingdings" panose="05000000000000000000" pitchFamily="2" charset="2"/>
              <a:buChar char="q"/>
            </a:pPr>
            <a:r>
              <a:rPr lang="en-US" sz="1200" b="0" i="0" u="none" strike="noStrike" baseline="0" dirty="0">
                <a:latin typeface="+mj-lt"/>
                <a:cs typeface="Calibri" panose="020F0502020204030204" pitchFamily="34" charset="0"/>
              </a:rPr>
              <a:t>To improve safety for consumers particularly in congested areas</a:t>
            </a:r>
          </a:p>
          <a:p>
            <a:pPr marL="285750" indent="-285750" algn="just">
              <a:spcBef>
                <a:spcPts val="150"/>
              </a:spcBef>
              <a:spcAft>
                <a:spcPts val="150"/>
              </a:spcAft>
              <a:buFont typeface="Wingdings" panose="05000000000000000000" pitchFamily="2" charset="2"/>
              <a:buChar char="q"/>
            </a:pPr>
            <a:r>
              <a:rPr lang="en-US" sz="1200" b="0" i="0" u="none" strike="noStrike" baseline="0" dirty="0">
                <a:latin typeface="+mj-lt"/>
                <a:cs typeface="Calibri" panose="020F0502020204030204" pitchFamily="34" charset="0"/>
              </a:rPr>
              <a:t>Reduction in failure of Distribution Transformer.</a:t>
            </a:r>
          </a:p>
          <a:p>
            <a:pPr marL="285750" indent="-285750" algn="just">
              <a:spcBef>
                <a:spcPts val="150"/>
              </a:spcBef>
              <a:spcAft>
                <a:spcPts val="150"/>
              </a:spcAft>
              <a:buFont typeface="Wingdings" panose="05000000000000000000" pitchFamily="2" charset="2"/>
              <a:buChar char="q"/>
            </a:pPr>
            <a:r>
              <a:rPr lang="en-US" sz="1200" b="0" i="0" u="none" strike="noStrike" baseline="0" dirty="0">
                <a:latin typeface="+mj-lt"/>
                <a:cs typeface="Calibri" panose="020F0502020204030204" pitchFamily="34" charset="0"/>
              </a:rPr>
              <a:t>Infrastructure will be used for release of connections against pending applications.</a:t>
            </a:r>
          </a:p>
          <a:p>
            <a:pPr marL="285750" indent="-285750" algn="just">
              <a:spcBef>
                <a:spcPts val="150"/>
              </a:spcBef>
              <a:spcAft>
                <a:spcPts val="150"/>
              </a:spcAft>
              <a:buFont typeface="Wingdings" panose="05000000000000000000" pitchFamily="2" charset="2"/>
              <a:buChar char="q"/>
            </a:pPr>
            <a:r>
              <a:rPr lang="en-US" sz="1200" b="0" i="0" u="none" strike="noStrike" baseline="0" dirty="0">
                <a:latin typeface="+mj-lt"/>
                <a:cs typeface="Calibri" panose="020F0502020204030204" pitchFamily="34" charset="0"/>
              </a:rPr>
              <a:t>Financial benefits by way of reduction in Losses &amp; damages of energy &amp; infrastructure in the project area.</a:t>
            </a:r>
          </a:p>
          <a:p>
            <a:pPr marL="285750" indent="-285750" algn="just">
              <a:spcBef>
                <a:spcPts val="150"/>
              </a:spcBef>
              <a:spcAft>
                <a:spcPts val="150"/>
              </a:spcAft>
              <a:buFont typeface="Wingdings" panose="05000000000000000000" pitchFamily="2" charset="2"/>
              <a:buChar char="q"/>
            </a:pPr>
            <a:r>
              <a:rPr lang="en-US" sz="1200" b="0" i="0" u="none" strike="noStrike" baseline="0" dirty="0">
                <a:latin typeface="+mj-lt"/>
                <a:cs typeface="Calibri" panose="020F0502020204030204" pitchFamily="34" charset="0"/>
              </a:rPr>
              <a:t>Socio-Economic benefits through improved quality and reliability of supply</a:t>
            </a:r>
            <a:endParaRPr lang="en-US" sz="1200" dirty="0">
              <a:solidFill>
                <a:srgbClr val="000000"/>
              </a:solidFill>
              <a:latin typeface="+mj-lt"/>
              <a:ea typeface="ＭＳ Ｐゴシック" pitchFamily="50" charset="-128"/>
              <a:cs typeface="Calibri" panose="020F0502020204030204" pitchFamily="34" charset="0"/>
            </a:endParaRPr>
          </a:p>
        </p:txBody>
      </p:sp>
    </p:spTree>
    <p:extLst>
      <p:ext uri="{BB962C8B-B14F-4D97-AF65-F5344CB8AC3E}">
        <p14:creationId xmlns:p14="http://schemas.microsoft.com/office/powerpoint/2010/main" val="17635530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92120" y="193988"/>
            <a:ext cx="11188700" cy="368299"/>
          </a:xfrm>
        </p:spPr>
        <p:txBody>
          <a:bodyPr vert="horz"/>
          <a:lstStyle/>
          <a:p>
            <a:pPr algn="just"/>
            <a:r>
              <a:rPr lang="en-US" sz="1800" i="0" dirty="0">
                <a:solidFill>
                  <a:schemeClr val="tx1"/>
                </a:solidFill>
                <a:latin typeface="+mj-lt"/>
              </a:rPr>
              <a:t>Project Phasing including Implementation Details </a:t>
            </a:r>
          </a:p>
        </p:txBody>
      </p:sp>
      <p:sp>
        <p:nvSpPr>
          <p:cNvPr id="2" name="TextBox 1">
            <a:extLst>
              <a:ext uri="{FF2B5EF4-FFF2-40B4-BE49-F238E27FC236}">
                <a16:creationId xmlns:a16="http://schemas.microsoft.com/office/drawing/2014/main" id="{F45F49E1-E8DC-4CCD-B6F6-CD242A9224C3}"/>
              </a:ext>
            </a:extLst>
          </p:cNvPr>
          <p:cNvSpPr txBox="1"/>
          <p:nvPr/>
        </p:nvSpPr>
        <p:spPr>
          <a:xfrm>
            <a:off x="492120" y="705226"/>
            <a:ext cx="10643966" cy="1031051"/>
          </a:xfrm>
          <a:prstGeom prst="rect">
            <a:avLst/>
          </a:prstGeom>
          <a:noFill/>
        </p:spPr>
        <p:txBody>
          <a:bodyPr wrap="square" lIns="0" tIns="0" rIns="0" bIns="0" rtlCol="0">
            <a:spAutoFit/>
          </a:bodyPr>
          <a:lstStyle/>
          <a:p>
            <a:pPr marL="285750" indent="-285750">
              <a:spcBef>
                <a:spcPts val="300"/>
              </a:spcBef>
              <a:spcAft>
                <a:spcPts val="300"/>
              </a:spcAft>
              <a:buSzPct val="100000"/>
              <a:buFont typeface="Wingdings" panose="05000000000000000000" pitchFamily="2" charset="2"/>
              <a:buChar char="q"/>
            </a:pPr>
            <a:r>
              <a:rPr lang="en-US" sz="1300" dirty="0">
                <a:solidFill>
                  <a:srgbClr val="313131"/>
                </a:solidFill>
                <a:latin typeface="+mj-lt"/>
                <a:cs typeface="Calibri" panose="020F0502020204030204" pitchFamily="34" charset="0"/>
              </a:rPr>
              <a:t>Implementation Agency : </a:t>
            </a:r>
            <a:r>
              <a:rPr lang="en-US" sz="1300" b="1" dirty="0">
                <a:solidFill>
                  <a:srgbClr val="313131"/>
                </a:solidFill>
                <a:latin typeface="+mj-lt"/>
                <a:cs typeface="Calibri" panose="020F0502020204030204" pitchFamily="34" charset="0"/>
              </a:rPr>
              <a:t>WBSEDCL</a:t>
            </a:r>
          </a:p>
          <a:p>
            <a:pPr marL="285750" indent="-285750">
              <a:spcBef>
                <a:spcPts val="300"/>
              </a:spcBef>
              <a:spcAft>
                <a:spcPts val="300"/>
              </a:spcAft>
              <a:buSzPct val="100000"/>
              <a:buFont typeface="Wingdings" panose="05000000000000000000" pitchFamily="2" charset="2"/>
              <a:buChar char="q"/>
            </a:pPr>
            <a:r>
              <a:rPr lang="en-US" sz="1300" dirty="0">
                <a:solidFill>
                  <a:srgbClr val="313131"/>
                </a:solidFill>
                <a:latin typeface="+mj-lt"/>
                <a:cs typeface="Calibri" panose="020F0502020204030204" pitchFamily="34" charset="0"/>
              </a:rPr>
              <a:t>Project Duration : </a:t>
            </a:r>
            <a:r>
              <a:rPr lang="en-US" sz="1300" b="1" dirty="0">
                <a:solidFill>
                  <a:srgbClr val="313131"/>
                </a:solidFill>
                <a:latin typeface="+mj-lt"/>
                <a:cs typeface="Calibri" panose="020F0502020204030204" pitchFamily="34" charset="0"/>
              </a:rPr>
              <a:t>3 Years from Commencement </a:t>
            </a:r>
          </a:p>
          <a:p>
            <a:pPr marL="285750" indent="-285750">
              <a:spcBef>
                <a:spcPts val="300"/>
              </a:spcBef>
              <a:spcAft>
                <a:spcPts val="300"/>
              </a:spcAft>
              <a:buSzPct val="100000"/>
              <a:buFont typeface="Wingdings" panose="05000000000000000000" pitchFamily="2" charset="2"/>
              <a:buChar char="q"/>
            </a:pPr>
            <a:r>
              <a:rPr lang="en-US" sz="1300" dirty="0">
                <a:solidFill>
                  <a:srgbClr val="313131"/>
                </a:solidFill>
                <a:latin typeface="+mj-lt"/>
                <a:cs typeface="Calibri" panose="020F0502020204030204" pitchFamily="34" charset="0"/>
              </a:rPr>
              <a:t>Funding Pattern : </a:t>
            </a:r>
            <a:r>
              <a:rPr lang="en-US" sz="1300" b="1" dirty="0">
                <a:solidFill>
                  <a:srgbClr val="313131"/>
                </a:solidFill>
                <a:latin typeface="+mj-lt"/>
                <a:cs typeface="Calibri" panose="020F0502020204030204" pitchFamily="34" charset="0"/>
              </a:rPr>
              <a:t>70% as World Bank and 30% from State share of West Bengal </a:t>
            </a:r>
          </a:p>
          <a:p>
            <a:pPr marL="285750" indent="-285750">
              <a:spcBef>
                <a:spcPts val="300"/>
              </a:spcBef>
              <a:spcAft>
                <a:spcPts val="300"/>
              </a:spcAft>
              <a:buSzPct val="100000"/>
              <a:buFont typeface="Wingdings" panose="05000000000000000000" pitchFamily="2" charset="2"/>
              <a:buChar char="q"/>
            </a:pPr>
            <a:r>
              <a:rPr lang="en-US" sz="1300" dirty="0">
                <a:solidFill>
                  <a:srgbClr val="313131"/>
                </a:solidFill>
                <a:latin typeface="+mj-lt"/>
                <a:cs typeface="Calibri" panose="020F0502020204030204" pitchFamily="34" charset="0"/>
              </a:rPr>
              <a:t>West Bengal Cabinet approval obtained on 21.01.2020 </a:t>
            </a:r>
          </a:p>
        </p:txBody>
      </p:sp>
      <p:graphicFrame>
        <p:nvGraphicFramePr>
          <p:cNvPr id="3" name="Table 3">
            <a:extLst>
              <a:ext uri="{FF2B5EF4-FFF2-40B4-BE49-F238E27FC236}">
                <a16:creationId xmlns:a16="http://schemas.microsoft.com/office/drawing/2014/main" id="{F126F320-AFED-4596-BEE7-8E80A71AA5C3}"/>
              </a:ext>
            </a:extLst>
          </p:cNvPr>
          <p:cNvGraphicFramePr>
            <a:graphicFrameLocks noGrp="1"/>
          </p:cNvGraphicFramePr>
          <p:nvPr>
            <p:extLst>
              <p:ext uri="{D42A27DB-BD31-4B8C-83A1-F6EECF244321}">
                <p14:modId xmlns:p14="http://schemas.microsoft.com/office/powerpoint/2010/main" val="3267545747"/>
              </p:ext>
            </p:extLst>
          </p:nvPr>
        </p:nvGraphicFramePr>
        <p:xfrm>
          <a:off x="492120" y="1911230"/>
          <a:ext cx="11113890" cy="4663440"/>
        </p:xfrm>
        <a:graphic>
          <a:graphicData uri="http://schemas.openxmlformats.org/drawingml/2006/table">
            <a:tbl>
              <a:tblPr firstRow="1" bandRow="1">
                <a:tableStyleId>{5C22544A-7EE6-4342-B048-85BDC9FD1C3A}</a:tableStyleId>
              </a:tblPr>
              <a:tblGrid>
                <a:gridCol w="651192">
                  <a:extLst>
                    <a:ext uri="{9D8B030D-6E8A-4147-A177-3AD203B41FA5}">
                      <a16:colId xmlns:a16="http://schemas.microsoft.com/office/drawing/2014/main" val="1384982533"/>
                    </a:ext>
                  </a:extLst>
                </a:gridCol>
                <a:gridCol w="6834879">
                  <a:extLst>
                    <a:ext uri="{9D8B030D-6E8A-4147-A177-3AD203B41FA5}">
                      <a16:colId xmlns:a16="http://schemas.microsoft.com/office/drawing/2014/main" val="1139887847"/>
                    </a:ext>
                  </a:extLst>
                </a:gridCol>
                <a:gridCol w="1718882">
                  <a:extLst>
                    <a:ext uri="{9D8B030D-6E8A-4147-A177-3AD203B41FA5}">
                      <a16:colId xmlns:a16="http://schemas.microsoft.com/office/drawing/2014/main" val="389560445"/>
                    </a:ext>
                  </a:extLst>
                </a:gridCol>
                <a:gridCol w="1908937">
                  <a:extLst>
                    <a:ext uri="{9D8B030D-6E8A-4147-A177-3AD203B41FA5}">
                      <a16:colId xmlns:a16="http://schemas.microsoft.com/office/drawing/2014/main" val="61406378"/>
                    </a:ext>
                  </a:extLst>
                </a:gridCol>
              </a:tblGrid>
              <a:tr h="309391">
                <a:tc>
                  <a:txBody>
                    <a:bodyPr/>
                    <a:lstStyle/>
                    <a:p>
                      <a:pPr algn="ctr"/>
                      <a:r>
                        <a:rPr lang="en-US" sz="1200" dirty="0">
                          <a:latin typeface="+mj-lt"/>
                          <a:cs typeface="Calibri" panose="020F0502020204030204" pitchFamily="34" charset="0"/>
                        </a:rPr>
                        <a:t>Sl. No</a:t>
                      </a:r>
                    </a:p>
                  </a:txBody>
                  <a:tcPr anchor="ctr">
                    <a:solidFill>
                      <a:srgbClr val="007680"/>
                    </a:solidFill>
                  </a:tcPr>
                </a:tc>
                <a:tc>
                  <a:txBody>
                    <a:bodyPr/>
                    <a:lstStyle/>
                    <a:p>
                      <a:r>
                        <a:rPr lang="en-US" sz="1200" dirty="0">
                          <a:latin typeface="+mj-lt"/>
                          <a:cs typeface="Calibri" panose="020F0502020204030204" pitchFamily="34" charset="0"/>
                        </a:rPr>
                        <a:t>Particular</a:t>
                      </a:r>
                    </a:p>
                  </a:txBody>
                  <a:tcPr anchor="ctr">
                    <a:solidFill>
                      <a:srgbClr val="007680"/>
                    </a:solidFill>
                  </a:tcPr>
                </a:tc>
                <a:tc>
                  <a:txBody>
                    <a:bodyPr/>
                    <a:lstStyle/>
                    <a:p>
                      <a:pPr algn="ctr"/>
                      <a:r>
                        <a:rPr lang="en-US" sz="1200" dirty="0">
                          <a:latin typeface="+mj-lt"/>
                          <a:cs typeface="Calibri" panose="020F0502020204030204" pitchFamily="34" charset="0"/>
                        </a:rPr>
                        <a:t>Revised Cost (Rs. Cr)</a:t>
                      </a:r>
                    </a:p>
                  </a:txBody>
                  <a:tcPr anchor="ctr">
                    <a:solidFill>
                      <a:srgbClr val="007680"/>
                    </a:solidFill>
                  </a:tcPr>
                </a:tc>
                <a:tc>
                  <a:txBody>
                    <a:bodyPr/>
                    <a:lstStyle/>
                    <a:p>
                      <a:pPr algn="ctr"/>
                      <a:r>
                        <a:rPr lang="en-US" sz="1200" dirty="0">
                          <a:latin typeface="+mj-lt"/>
                          <a:cs typeface="Calibri" panose="020F0502020204030204" pitchFamily="34" charset="0"/>
                        </a:rPr>
                        <a:t>Executing Department </a:t>
                      </a:r>
                    </a:p>
                  </a:txBody>
                  <a:tcPr anchor="ctr">
                    <a:solidFill>
                      <a:srgbClr val="007680"/>
                    </a:solidFill>
                  </a:tcPr>
                </a:tc>
                <a:extLst>
                  <a:ext uri="{0D108BD9-81ED-4DB2-BD59-A6C34878D82A}">
                    <a16:rowId xmlns:a16="http://schemas.microsoft.com/office/drawing/2014/main" val="3857186120"/>
                  </a:ext>
                </a:extLst>
              </a:tr>
              <a:tr h="433147">
                <a:tc>
                  <a:txBody>
                    <a:bodyPr/>
                    <a:lstStyle/>
                    <a:p>
                      <a:pPr algn="ctr"/>
                      <a:r>
                        <a:rPr lang="en-US" sz="1200" dirty="0">
                          <a:latin typeface="+mj-lt"/>
                          <a:cs typeface="Calibri" panose="020F0502020204030204" pitchFamily="34" charset="0"/>
                        </a:rPr>
                        <a:t>1</a:t>
                      </a:r>
                    </a:p>
                  </a:txBody>
                  <a:tcPr anchor="ctr"/>
                </a:tc>
                <a:tc>
                  <a:txBody>
                    <a:bodyPr/>
                    <a:lstStyle/>
                    <a:p>
                      <a:r>
                        <a:rPr lang="en-US" sz="1200" dirty="0">
                          <a:latin typeface="+mj-lt"/>
                          <a:cs typeface="Calibri" panose="020F0502020204030204" pitchFamily="34" charset="0"/>
                        </a:rPr>
                        <a:t>HVDS with conversion of LTOH bare conductor line by LT AB cable in 13 districts (</a:t>
                      </a:r>
                      <a:r>
                        <a:rPr lang="en-US" sz="1200" dirty="0">
                          <a:solidFill>
                            <a:srgbClr val="000000"/>
                          </a:solidFill>
                          <a:latin typeface="+mj-lt"/>
                          <a:ea typeface="ＭＳ Ｐゴシック" pitchFamily="50" charset="-128"/>
                          <a:cs typeface="Calibri" panose="020F0502020204030204" pitchFamily="34" charset="0"/>
                        </a:rPr>
                        <a:t>Howrah, Purba Medinipur, Bankura, Purulia, Nadia, Murshidabad, Malda, Uttar Dinajpur, Dakshin Dinajpur, Darjeeling, Jalpaiguri, Coochbehar and Alipurduar)</a:t>
                      </a:r>
                      <a:endParaRPr lang="en-US" sz="1200" dirty="0">
                        <a:latin typeface="+mj-lt"/>
                        <a:cs typeface="Calibri" panose="020F0502020204030204" pitchFamily="34" charset="0"/>
                      </a:endParaRPr>
                    </a:p>
                  </a:txBody>
                  <a:tcPr anchor="ctr"/>
                </a:tc>
                <a:tc>
                  <a:txBody>
                    <a:bodyPr/>
                    <a:lstStyle/>
                    <a:p>
                      <a:pPr algn="ctr"/>
                      <a:r>
                        <a:rPr lang="en-US" sz="1200" dirty="0">
                          <a:latin typeface="+mj-lt"/>
                          <a:cs typeface="Calibri" panose="020F0502020204030204" pitchFamily="34" charset="0"/>
                        </a:rPr>
                        <a:t>1080.54</a:t>
                      </a:r>
                    </a:p>
                  </a:txBody>
                  <a:tcPr anchor="ctr"/>
                </a:tc>
                <a:tc>
                  <a:txBody>
                    <a:bodyPr/>
                    <a:lstStyle/>
                    <a:p>
                      <a:pPr algn="ctr"/>
                      <a:r>
                        <a:rPr lang="en-US" sz="1200" dirty="0">
                          <a:latin typeface="+mj-lt"/>
                          <a:cs typeface="Calibri" panose="020F0502020204030204" pitchFamily="34" charset="0"/>
                        </a:rPr>
                        <a:t>DPD</a:t>
                      </a:r>
                    </a:p>
                  </a:txBody>
                  <a:tcPr anchor="ctr"/>
                </a:tc>
                <a:extLst>
                  <a:ext uri="{0D108BD9-81ED-4DB2-BD59-A6C34878D82A}">
                    <a16:rowId xmlns:a16="http://schemas.microsoft.com/office/drawing/2014/main" val="3039979347"/>
                  </a:ext>
                </a:extLst>
              </a:tr>
              <a:tr h="185634">
                <a:tc>
                  <a:txBody>
                    <a:bodyPr/>
                    <a:lstStyle/>
                    <a:p>
                      <a:pPr algn="ctr"/>
                      <a:r>
                        <a:rPr lang="en-US" sz="1200" dirty="0">
                          <a:latin typeface="+mj-lt"/>
                          <a:cs typeface="Calibri" panose="020F0502020204030204" pitchFamily="34" charset="0"/>
                        </a:rPr>
                        <a:t>2</a:t>
                      </a:r>
                    </a:p>
                  </a:txBody>
                  <a:tcPr anchor="ct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mj-lt"/>
                          <a:ea typeface="ＭＳ Ｐゴシック" pitchFamily="50" charset="-128"/>
                          <a:cs typeface="Calibri" panose="020F0502020204030204" pitchFamily="34" charset="0"/>
                        </a:rPr>
                        <a:t>Construction of 15 number of 33/11 KV GIS in 13 districts.</a:t>
                      </a:r>
                    </a:p>
                  </a:txBody>
                  <a:tcPr anchor="ctr"/>
                </a:tc>
                <a:tc>
                  <a:txBody>
                    <a:bodyPr/>
                    <a:lstStyle/>
                    <a:p>
                      <a:pPr algn="ctr"/>
                      <a:r>
                        <a:rPr lang="en-US" sz="1200" dirty="0">
                          <a:latin typeface="+mj-lt"/>
                          <a:cs typeface="Calibri" panose="020F0502020204030204" pitchFamily="34" charset="0"/>
                        </a:rPr>
                        <a:t>180</a:t>
                      </a:r>
                    </a:p>
                  </a:txBody>
                  <a:tcPr anchor="ctr"/>
                </a:tc>
                <a:tc>
                  <a:txBody>
                    <a:bodyPr/>
                    <a:lstStyle/>
                    <a:p>
                      <a:pPr algn="ctr"/>
                      <a:r>
                        <a:rPr lang="en-US" sz="1200" dirty="0">
                          <a:latin typeface="+mj-lt"/>
                          <a:cs typeface="Calibri" panose="020F0502020204030204" pitchFamily="34" charset="0"/>
                        </a:rPr>
                        <a:t>Project – III</a:t>
                      </a:r>
                    </a:p>
                  </a:txBody>
                  <a:tcPr anchor="ctr"/>
                </a:tc>
                <a:extLst>
                  <a:ext uri="{0D108BD9-81ED-4DB2-BD59-A6C34878D82A}">
                    <a16:rowId xmlns:a16="http://schemas.microsoft.com/office/drawing/2014/main" val="3466706287"/>
                  </a:ext>
                </a:extLst>
              </a:tr>
              <a:tr h="433147">
                <a:tc>
                  <a:txBody>
                    <a:bodyPr/>
                    <a:lstStyle/>
                    <a:p>
                      <a:pPr algn="ctr"/>
                      <a:r>
                        <a:rPr lang="en-US" sz="1200" dirty="0">
                          <a:latin typeface="+mj-lt"/>
                          <a:cs typeface="Calibri" panose="020F0502020204030204" pitchFamily="34" charset="0"/>
                        </a:rPr>
                        <a:t>3</a:t>
                      </a:r>
                    </a:p>
                  </a:txBody>
                  <a:tcPr anchor="ct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dirty="0">
                          <a:latin typeface="+mj-lt"/>
                          <a:cs typeface="Calibri" panose="020F0502020204030204" pitchFamily="34" charset="0"/>
                        </a:rPr>
                        <a:t>Conversion of Overhead network into Underground cable system at Asansol – 340 Cr ; Baruipur – 170 Cr ; Kharagpur – 210 Cr ; </a:t>
                      </a:r>
                      <a:r>
                        <a:rPr lang="en-US" sz="1200" dirty="0">
                          <a:solidFill>
                            <a:srgbClr val="000000"/>
                          </a:solidFill>
                          <a:latin typeface="+mj-lt"/>
                          <a:ea typeface="ＭＳ Ｐゴシック" pitchFamily="50" charset="-128"/>
                          <a:cs typeface="Calibri" panose="020F0502020204030204" pitchFamily="34" charset="0"/>
                        </a:rPr>
                        <a:t>Baguihati &amp; Kestopur – 172 Cr  ; Rajarhat – 138 Cr</a:t>
                      </a:r>
                      <a:endParaRPr lang="en-US" sz="1200" dirty="0">
                        <a:latin typeface="+mj-lt"/>
                        <a:cs typeface="Calibri" panose="020F0502020204030204" pitchFamily="34" charset="0"/>
                      </a:endParaRPr>
                    </a:p>
                  </a:txBody>
                  <a:tcPr anchor="ctr"/>
                </a:tc>
                <a:tc>
                  <a:txBody>
                    <a:bodyPr/>
                    <a:lstStyle/>
                    <a:p>
                      <a:pPr algn="ctr"/>
                      <a:r>
                        <a:rPr lang="en-US" sz="1200" dirty="0">
                          <a:latin typeface="+mj-lt"/>
                          <a:cs typeface="Calibri" panose="020F0502020204030204" pitchFamily="34" charset="0"/>
                        </a:rPr>
                        <a:t>1030</a:t>
                      </a:r>
                    </a:p>
                  </a:txBody>
                  <a:tcPr anchor="ctr"/>
                </a:tc>
                <a:tc>
                  <a:txBody>
                    <a:bodyPr/>
                    <a:lstStyle/>
                    <a:p>
                      <a:pPr algn="ctr"/>
                      <a:r>
                        <a:rPr lang="en-US" sz="1200" dirty="0">
                          <a:latin typeface="+mj-lt"/>
                          <a:cs typeface="Calibri" panose="020F0502020204030204" pitchFamily="34" charset="0"/>
                        </a:rPr>
                        <a:t>Project - III</a:t>
                      </a:r>
                    </a:p>
                  </a:txBody>
                  <a:tcPr anchor="ctr"/>
                </a:tc>
                <a:extLst>
                  <a:ext uri="{0D108BD9-81ED-4DB2-BD59-A6C34878D82A}">
                    <a16:rowId xmlns:a16="http://schemas.microsoft.com/office/drawing/2014/main" val="2485767026"/>
                  </a:ext>
                </a:extLst>
              </a:tr>
              <a:tr h="185634">
                <a:tc>
                  <a:txBody>
                    <a:bodyPr/>
                    <a:lstStyle/>
                    <a:p>
                      <a:pPr algn="ctr"/>
                      <a:r>
                        <a:rPr lang="en-US" sz="1200" dirty="0">
                          <a:latin typeface="+mj-lt"/>
                          <a:cs typeface="Calibri" panose="020F0502020204030204" pitchFamily="34" charset="0"/>
                        </a:rPr>
                        <a:t>4</a:t>
                      </a:r>
                    </a:p>
                  </a:txBody>
                  <a:tcPr anchor="ctr"/>
                </a:tc>
                <a:tc>
                  <a:txBody>
                    <a:bodyPr/>
                    <a:lstStyle/>
                    <a:p>
                      <a:r>
                        <a:rPr lang="en-US" sz="1200" dirty="0">
                          <a:solidFill>
                            <a:srgbClr val="000000"/>
                          </a:solidFill>
                          <a:latin typeface="+mj-lt"/>
                          <a:ea typeface="ＭＳ Ｐゴシック" pitchFamily="50" charset="-128"/>
                          <a:cs typeface="Calibri" panose="020F0502020204030204" pitchFamily="34" charset="0"/>
                        </a:rPr>
                        <a:t>Creating IT backbone for rolling out AMI and SCADA system  under WBSEDCL</a:t>
                      </a:r>
                      <a:endParaRPr lang="en-US" sz="1200" dirty="0">
                        <a:latin typeface="+mj-lt"/>
                        <a:cs typeface="Calibri" panose="020F0502020204030204" pitchFamily="34" charset="0"/>
                      </a:endParaRPr>
                    </a:p>
                  </a:txBody>
                  <a:tcPr anchor="ctr"/>
                </a:tc>
                <a:tc rowSpan="3">
                  <a:txBody>
                    <a:bodyPr/>
                    <a:lstStyle/>
                    <a:p>
                      <a:pPr algn="ctr"/>
                      <a:r>
                        <a:rPr lang="en-US" sz="1200" dirty="0">
                          <a:latin typeface="+mj-lt"/>
                          <a:cs typeface="Calibri" panose="020F0502020204030204" pitchFamily="34" charset="0"/>
                        </a:rPr>
                        <a:t>400</a:t>
                      </a:r>
                    </a:p>
                  </a:txBody>
                  <a:tcPr anchor="ctr"/>
                </a:tc>
                <a:tc>
                  <a:txBody>
                    <a:bodyPr/>
                    <a:lstStyle/>
                    <a:p>
                      <a:pPr algn="ctr"/>
                      <a:endParaRPr lang="en-US" sz="1200" dirty="0">
                        <a:latin typeface="+mj-lt"/>
                        <a:cs typeface="Calibri" panose="020F0502020204030204" pitchFamily="34" charset="0"/>
                      </a:endParaRPr>
                    </a:p>
                  </a:txBody>
                  <a:tcPr anchor="ctr"/>
                </a:tc>
                <a:extLst>
                  <a:ext uri="{0D108BD9-81ED-4DB2-BD59-A6C34878D82A}">
                    <a16:rowId xmlns:a16="http://schemas.microsoft.com/office/drawing/2014/main" val="654219558"/>
                  </a:ext>
                </a:extLst>
              </a:tr>
              <a:tr h="556903">
                <a:tc>
                  <a:txBody>
                    <a:bodyPr/>
                    <a:lstStyle/>
                    <a:p>
                      <a:pPr algn="ctr"/>
                      <a:r>
                        <a:rPr lang="en-US" sz="1200" dirty="0">
                          <a:latin typeface="+mj-lt"/>
                          <a:cs typeface="Calibri" panose="020F0502020204030204" pitchFamily="34" charset="0"/>
                        </a:rPr>
                        <a:t>a</a:t>
                      </a:r>
                    </a:p>
                  </a:txBody>
                  <a:tcPr anchor="ct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dirty="0">
                          <a:latin typeface="+mj-lt"/>
                          <a:cs typeface="Calibri" panose="020F0502020204030204" pitchFamily="34" charset="0"/>
                        </a:rPr>
                        <a:t>Installation of New SCADA Center at 20 Towns (</a:t>
                      </a:r>
                      <a:r>
                        <a:rPr lang="en-US" sz="1200" dirty="0">
                          <a:solidFill>
                            <a:srgbClr val="000000"/>
                          </a:solidFill>
                          <a:latin typeface="+mj-lt"/>
                          <a:ea typeface="ＭＳ Ｐゴシック" pitchFamily="50" charset="-128"/>
                          <a:cs typeface="Calibri" panose="020F0502020204030204" pitchFamily="34" charset="0"/>
                        </a:rPr>
                        <a:t>Balurghat, Alipurduar, Bankura, Berhampur,  Bishnupur, Burdwan, Coochbehar, English Bazar, Jalpaiguri, Jhargram, Krishnanagar, Midnapur, Nabadwip, Purulia, Raiganj, Suri, Tamluk, New Town and Kharagpur)</a:t>
                      </a:r>
                      <a:endParaRPr lang="en-US" sz="1200" dirty="0">
                        <a:latin typeface="+mj-lt"/>
                        <a:cs typeface="Calibri" panose="020F0502020204030204" pitchFamily="34" charset="0"/>
                      </a:endParaRPr>
                    </a:p>
                  </a:txBody>
                  <a:tcPr anchor="ctr"/>
                </a:tc>
                <a:tc vMerge="1">
                  <a:txBody>
                    <a:bodyPr/>
                    <a:lstStyle/>
                    <a:p>
                      <a:endParaRPr lang="en-US" sz="1400" dirty="0">
                        <a:latin typeface="Calibri" panose="020F0502020204030204" pitchFamily="34" charset="0"/>
                        <a:cs typeface="Calibri" panose="020F0502020204030204" pitchFamily="34" charset="0"/>
                      </a:endParaRPr>
                    </a:p>
                  </a:txBody>
                  <a:tcPr/>
                </a:tc>
                <a:tc>
                  <a:txBody>
                    <a:bodyPr/>
                    <a:lstStyle/>
                    <a:p>
                      <a:pPr algn="ctr"/>
                      <a:r>
                        <a:rPr lang="en-US" sz="1200" dirty="0">
                          <a:latin typeface="+mj-lt"/>
                          <a:cs typeface="Calibri" panose="020F0502020204030204" pitchFamily="34" charset="0"/>
                        </a:rPr>
                        <a:t>Communication Dept.</a:t>
                      </a:r>
                    </a:p>
                  </a:txBody>
                  <a:tcPr anchor="ctr"/>
                </a:tc>
                <a:extLst>
                  <a:ext uri="{0D108BD9-81ED-4DB2-BD59-A6C34878D82A}">
                    <a16:rowId xmlns:a16="http://schemas.microsoft.com/office/drawing/2014/main" val="366818263"/>
                  </a:ext>
                </a:extLst>
              </a:tr>
              <a:tr h="185634">
                <a:tc>
                  <a:txBody>
                    <a:bodyPr/>
                    <a:lstStyle/>
                    <a:p>
                      <a:pPr algn="ctr"/>
                      <a:r>
                        <a:rPr lang="en-US" sz="1200" dirty="0">
                          <a:latin typeface="+mj-lt"/>
                          <a:cs typeface="Calibri" panose="020F0502020204030204" pitchFamily="34" charset="0"/>
                        </a:rPr>
                        <a:t>b</a:t>
                      </a:r>
                    </a:p>
                  </a:txBody>
                  <a:tcPr anchor="ctr"/>
                </a:tc>
                <a:tc>
                  <a:txBody>
                    <a:bodyPr/>
                    <a:lstStyle/>
                    <a:p>
                      <a:r>
                        <a:rPr lang="en-US" sz="1200" dirty="0">
                          <a:latin typeface="+mj-lt"/>
                          <a:cs typeface="Calibri" panose="020F0502020204030204" pitchFamily="34" charset="0"/>
                        </a:rPr>
                        <a:t>Installation of AMI (5 Lacs Approx.) – 250 Cr</a:t>
                      </a:r>
                    </a:p>
                  </a:txBody>
                  <a:tcPr anchor="ctr"/>
                </a:tc>
                <a:tc vMerge="1">
                  <a:txBody>
                    <a:bodyPr/>
                    <a:lstStyle/>
                    <a:p>
                      <a:endParaRPr lang="en-US" sz="1400" dirty="0">
                        <a:latin typeface="Calibri" panose="020F0502020204030204" pitchFamily="34" charset="0"/>
                        <a:cs typeface="Calibri" panose="020F0502020204030204" pitchFamily="34" charset="0"/>
                      </a:endParaRPr>
                    </a:p>
                  </a:txBody>
                  <a:tcPr/>
                </a:tc>
                <a:tc>
                  <a:txBody>
                    <a:bodyPr/>
                    <a:lstStyle/>
                    <a:p>
                      <a:pPr algn="ctr"/>
                      <a:r>
                        <a:rPr lang="en-US" sz="1200" dirty="0">
                          <a:latin typeface="+mj-lt"/>
                          <a:cs typeface="Calibri" panose="020F0502020204030204" pitchFamily="34" charset="0"/>
                        </a:rPr>
                        <a:t>IT&amp;C</a:t>
                      </a:r>
                    </a:p>
                  </a:txBody>
                  <a:tcPr anchor="ctr"/>
                </a:tc>
                <a:extLst>
                  <a:ext uri="{0D108BD9-81ED-4DB2-BD59-A6C34878D82A}">
                    <a16:rowId xmlns:a16="http://schemas.microsoft.com/office/drawing/2014/main" val="2469890018"/>
                  </a:ext>
                </a:extLst>
              </a:tr>
              <a:tr h="309391">
                <a:tc>
                  <a:txBody>
                    <a:bodyPr/>
                    <a:lstStyle/>
                    <a:p>
                      <a:pPr algn="ctr"/>
                      <a:r>
                        <a:rPr lang="en-US" sz="1200" dirty="0">
                          <a:latin typeface="+mj-lt"/>
                          <a:cs typeface="Calibri" panose="020F0502020204030204" pitchFamily="34" charset="0"/>
                        </a:rPr>
                        <a:t>5</a:t>
                      </a:r>
                    </a:p>
                  </a:txBody>
                  <a:tcPr anchor="ct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mj-lt"/>
                          <a:ea typeface="ＭＳ Ｐゴシック" pitchFamily="50" charset="-128"/>
                          <a:cs typeface="Calibri" panose="020F0502020204030204" pitchFamily="34" charset="0"/>
                        </a:rPr>
                        <a:t>3 Phase 4 CT operated AMR compatible Static metering and Distribution Transformer (DTR) for AMR metering of existing DTRs</a:t>
                      </a:r>
                    </a:p>
                  </a:txBody>
                  <a:tcPr anchor="ctr"/>
                </a:tc>
                <a:tc>
                  <a:txBody>
                    <a:bodyPr/>
                    <a:lstStyle/>
                    <a:p>
                      <a:pPr algn="ctr"/>
                      <a:r>
                        <a:rPr lang="en-US" sz="1200" dirty="0">
                          <a:latin typeface="+mj-lt"/>
                          <a:cs typeface="Calibri" panose="020F0502020204030204" pitchFamily="34" charset="0"/>
                        </a:rPr>
                        <a:t>50</a:t>
                      </a:r>
                    </a:p>
                  </a:txBody>
                  <a:tcPr anchor="ctr"/>
                </a:tc>
                <a:tc>
                  <a:txBody>
                    <a:bodyPr/>
                    <a:lstStyle/>
                    <a:p>
                      <a:pPr algn="ctr"/>
                      <a:r>
                        <a:rPr lang="en-US" sz="1200" dirty="0">
                          <a:latin typeface="+mj-lt"/>
                          <a:cs typeface="Calibri" panose="020F0502020204030204" pitchFamily="34" charset="0"/>
                        </a:rPr>
                        <a:t>IT&amp;C</a:t>
                      </a:r>
                    </a:p>
                  </a:txBody>
                  <a:tcPr anchor="ctr"/>
                </a:tc>
                <a:extLst>
                  <a:ext uri="{0D108BD9-81ED-4DB2-BD59-A6C34878D82A}">
                    <a16:rowId xmlns:a16="http://schemas.microsoft.com/office/drawing/2014/main" val="3979707518"/>
                  </a:ext>
                </a:extLst>
              </a:tr>
              <a:tr h="185634">
                <a:tc>
                  <a:txBody>
                    <a:bodyPr/>
                    <a:lstStyle/>
                    <a:p>
                      <a:pPr algn="ctr"/>
                      <a:r>
                        <a:rPr lang="en-US" sz="1200" dirty="0">
                          <a:latin typeface="+mj-lt"/>
                          <a:cs typeface="Calibri" panose="020F0502020204030204" pitchFamily="34" charset="0"/>
                        </a:rPr>
                        <a:t>6</a:t>
                      </a:r>
                    </a:p>
                  </a:txBody>
                  <a:tcPr anchor="ct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mj-lt"/>
                          <a:ea typeface="ＭＳ Ｐゴシック" pitchFamily="50" charset="-128"/>
                          <a:cs typeface="Calibri" panose="020F0502020204030204" pitchFamily="34" charset="0"/>
                        </a:rPr>
                        <a:t>Innovation Scheme for Distribution system strengthening </a:t>
                      </a:r>
                    </a:p>
                  </a:txBody>
                  <a:tcPr anchor="ctr"/>
                </a:tc>
                <a:tc>
                  <a:txBody>
                    <a:bodyPr/>
                    <a:lstStyle/>
                    <a:p>
                      <a:pPr algn="ctr"/>
                      <a:r>
                        <a:rPr lang="en-US" sz="1200" dirty="0">
                          <a:latin typeface="+mj-lt"/>
                          <a:cs typeface="Calibri" panose="020F0502020204030204" pitchFamily="34" charset="0"/>
                        </a:rPr>
                        <a:t>50</a:t>
                      </a:r>
                    </a:p>
                  </a:txBody>
                  <a:tcPr anchor="ctr"/>
                </a:tc>
                <a:tc>
                  <a:txBody>
                    <a:bodyPr/>
                    <a:lstStyle/>
                    <a:p>
                      <a:pPr algn="ctr"/>
                      <a:r>
                        <a:rPr lang="en-US" sz="1200" dirty="0">
                          <a:latin typeface="+mj-lt"/>
                          <a:cs typeface="Calibri" panose="020F0502020204030204" pitchFamily="34" charset="0"/>
                        </a:rPr>
                        <a:t>Distribution (O&amp;M)</a:t>
                      </a:r>
                    </a:p>
                  </a:txBody>
                  <a:tcPr anchor="ctr"/>
                </a:tc>
                <a:extLst>
                  <a:ext uri="{0D108BD9-81ED-4DB2-BD59-A6C34878D82A}">
                    <a16:rowId xmlns:a16="http://schemas.microsoft.com/office/drawing/2014/main" val="880259688"/>
                  </a:ext>
                </a:extLst>
              </a:tr>
              <a:tr h="185634">
                <a:tc>
                  <a:txBody>
                    <a:bodyPr/>
                    <a:lstStyle/>
                    <a:p>
                      <a:pPr algn="ctr"/>
                      <a:r>
                        <a:rPr lang="en-US" sz="1200" dirty="0">
                          <a:latin typeface="+mj-lt"/>
                          <a:cs typeface="Calibri" panose="020F0502020204030204" pitchFamily="34" charset="0"/>
                        </a:rPr>
                        <a:t>7</a:t>
                      </a:r>
                    </a:p>
                  </a:txBody>
                  <a:tcPr anchor="ctr"/>
                </a:tc>
                <a:tc>
                  <a:txBody>
                    <a:bodyPr/>
                    <a:lstStyle/>
                    <a:p>
                      <a:r>
                        <a:rPr lang="en-US" sz="1200" dirty="0">
                          <a:latin typeface="+mj-lt"/>
                          <a:cs typeface="Calibri" panose="020F0502020204030204" pitchFamily="34" charset="0"/>
                        </a:rPr>
                        <a:t>Capacity building of WBSEDCL Officials </a:t>
                      </a:r>
                    </a:p>
                  </a:txBody>
                  <a:tcPr anchor="ctr"/>
                </a:tc>
                <a:tc>
                  <a:txBody>
                    <a:bodyPr/>
                    <a:lstStyle/>
                    <a:p>
                      <a:pPr algn="ctr"/>
                      <a:r>
                        <a:rPr lang="en-US" sz="1200" dirty="0">
                          <a:latin typeface="+mj-lt"/>
                          <a:cs typeface="Calibri" panose="020F0502020204030204" pitchFamily="34" charset="0"/>
                        </a:rPr>
                        <a:t>10</a:t>
                      </a:r>
                    </a:p>
                  </a:txBody>
                  <a:tcPr anchor="ctr"/>
                </a:tc>
                <a:tc>
                  <a:txBody>
                    <a:bodyPr/>
                    <a:lstStyle/>
                    <a:p>
                      <a:pPr algn="ctr"/>
                      <a:r>
                        <a:rPr lang="en-US" sz="1200" dirty="0">
                          <a:latin typeface="+mj-lt"/>
                          <a:cs typeface="Calibri" panose="020F0502020204030204" pitchFamily="34" charset="0"/>
                        </a:rPr>
                        <a:t>WBSEDCL</a:t>
                      </a:r>
                    </a:p>
                  </a:txBody>
                  <a:tcPr anchor="ctr"/>
                </a:tc>
                <a:extLst>
                  <a:ext uri="{0D108BD9-81ED-4DB2-BD59-A6C34878D82A}">
                    <a16:rowId xmlns:a16="http://schemas.microsoft.com/office/drawing/2014/main" val="902137411"/>
                  </a:ext>
                </a:extLst>
              </a:tr>
              <a:tr h="185634">
                <a:tc>
                  <a:txBody>
                    <a:bodyPr/>
                    <a:lstStyle/>
                    <a:p>
                      <a:pPr algn="ctr"/>
                      <a:endParaRPr lang="en-US" sz="1200" b="1" dirty="0">
                        <a:latin typeface="+mj-lt"/>
                        <a:cs typeface="Calibri" panose="020F0502020204030204" pitchFamily="34" charset="0"/>
                      </a:endParaRPr>
                    </a:p>
                  </a:txBody>
                  <a:tcPr anchor="ctr"/>
                </a:tc>
                <a:tc>
                  <a:txBody>
                    <a:bodyPr/>
                    <a:lstStyle/>
                    <a:p>
                      <a:r>
                        <a:rPr lang="en-US" sz="1200" b="1" dirty="0">
                          <a:latin typeface="+mj-lt"/>
                          <a:cs typeface="Calibri" panose="020F0502020204030204" pitchFamily="34" charset="0"/>
                        </a:rPr>
                        <a:t>Total Project Cost</a:t>
                      </a:r>
                    </a:p>
                  </a:txBody>
                  <a:tcPr anchor="ctr"/>
                </a:tc>
                <a:tc gridSpan="2">
                  <a:txBody>
                    <a:bodyPr/>
                    <a:lstStyle/>
                    <a:p>
                      <a:pPr algn="l"/>
                      <a:r>
                        <a:rPr lang="en-US" sz="1200" b="1" dirty="0">
                          <a:latin typeface="+mj-lt"/>
                          <a:cs typeface="Calibri" panose="020F0502020204030204" pitchFamily="34" charset="0"/>
                        </a:rPr>
                        <a:t>        2800.54</a:t>
                      </a:r>
                    </a:p>
                  </a:txBody>
                  <a:tcPr anchor="ctr"/>
                </a:tc>
                <a:tc hMerge="1">
                  <a:txBody>
                    <a:bodyPr/>
                    <a:lstStyle/>
                    <a:p>
                      <a:endParaRPr 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34770057"/>
                  </a:ext>
                </a:extLst>
              </a:tr>
            </a:tbl>
          </a:graphicData>
        </a:graphic>
      </p:graphicFrame>
    </p:spTree>
    <p:extLst>
      <p:ext uri="{BB962C8B-B14F-4D97-AF65-F5344CB8AC3E}">
        <p14:creationId xmlns:p14="http://schemas.microsoft.com/office/powerpoint/2010/main" val="2187865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92120" y="179264"/>
            <a:ext cx="11188700" cy="368299"/>
          </a:xfrm>
        </p:spPr>
        <p:txBody>
          <a:bodyPr vert="horz"/>
          <a:lstStyle/>
          <a:p>
            <a:pPr algn="just"/>
            <a:r>
              <a:rPr lang="en-US" sz="1800" i="0" dirty="0">
                <a:solidFill>
                  <a:schemeClr val="tx1"/>
                </a:solidFill>
                <a:latin typeface="+mj-lt"/>
              </a:rPr>
              <a:t>Phase Wise Project Details </a:t>
            </a:r>
          </a:p>
        </p:txBody>
      </p:sp>
      <p:graphicFrame>
        <p:nvGraphicFramePr>
          <p:cNvPr id="5" name="Table 3">
            <a:extLst>
              <a:ext uri="{FF2B5EF4-FFF2-40B4-BE49-F238E27FC236}">
                <a16:creationId xmlns:a16="http://schemas.microsoft.com/office/drawing/2014/main" id="{716FF750-5A5B-4967-ACE4-F89403EDF80B}"/>
              </a:ext>
            </a:extLst>
          </p:cNvPr>
          <p:cNvGraphicFramePr>
            <a:graphicFrameLocks noGrp="1"/>
          </p:cNvGraphicFramePr>
          <p:nvPr>
            <p:extLst>
              <p:ext uri="{D42A27DB-BD31-4B8C-83A1-F6EECF244321}">
                <p14:modId xmlns:p14="http://schemas.microsoft.com/office/powerpoint/2010/main" val="9313694"/>
              </p:ext>
            </p:extLst>
          </p:nvPr>
        </p:nvGraphicFramePr>
        <p:xfrm>
          <a:off x="328835" y="936468"/>
          <a:ext cx="6513754" cy="3108960"/>
        </p:xfrm>
        <a:graphic>
          <a:graphicData uri="http://schemas.openxmlformats.org/drawingml/2006/table">
            <a:tbl>
              <a:tblPr firstRow="1" bandRow="1">
                <a:tableStyleId>{5C22544A-7EE6-4342-B048-85BDC9FD1C3A}</a:tableStyleId>
              </a:tblPr>
              <a:tblGrid>
                <a:gridCol w="565017">
                  <a:extLst>
                    <a:ext uri="{9D8B030D-6E8A-4147-A177-3AD203B41FA5}">
                      <a16:colId xmlns:a16="http://schemas.microsoft.com/office/drawing/2014/main" val="1384982533"/>
                    </a:ext>
                  </a:extLst>
                </a:gridCol>
                <a:gridCol w="4798031">
                  <a:extLst>
                    <a:ext uri="{9D8B030D-6E8A-4147-A177-3AD203B41FA5}">
                      <a16:colId xmlns:a16="http://schemas.microsoft.com/office/drawing/2014/main" val="1139887847"/>
                    </a:ext>
                  </a:extLst>
                </a:gridCol>
                <a:gridCol w="1150706">
                  <a:extLst>
                    <a:ext uri="{9D8B030D-6E8A-4147-A177-3AD203B41FA5}">
                      <a16:colId xmlns:a16="http://schemas.microsoft.com/office/drawing/2014/main" val="3530451785"/>
                    </a:ext>
                  </a:extLst>
                </a:gridCol>
              </a:tblGrid>
              <a:tr h="477119">
                <a:tc>
                  <a:txBody>
                    <a:bodyPr/>
                    <a:lstStyle/>
                    <a:p>
                      <a:pPr algn="ctr"/>
                      <a:r>
                        <a:rPr lang="en-US" sz="1400" dirty="0">
                          <a:latin typeface="Calibri" panose="020F0502020204030204" pitchFamily="34" charset="0"/>
                          <a:cs typeface="Calibri" panose="020F0502020204030204" pitchFamily="34" charset="0"/>
                        </a:rPr>
                        <a:t>Sl. No</a:t>
                      </a:r>
                    </a:p>
                  </a:txBody>
                  <a:tcPr anchor="ctr">
                    <a:solidFill>
                      <a:srgbClr val="009A44"/>
                    </a:solidFill>
                  </a:tcPr>
                </a:tc>
                <a:tc>
                  <a:txBody>
                    <a:bodyPr/>
                    <a:lstStyle/>
                    <a:p>
                      <a:r>
                        <a:rPr lang="en-US" sz="1400" dirty="0">
                          <a:latin typeface="Calibri" panose="020F0502020204030204" pitchFamily="34" charset="0"/>
                          <a:cs typeface="Calibri" panose="020F0502020204030204" pitchFamily="34" charset="0"/>
                        </a:rPr>
                        <a:t>Particular</a:t>
                      </a:r>
                    </a:p>
                  </a:txBody>
                  <a:tcPr anchor="ctr">
                    <a:solidFill>
                      <a:srgbClr val="009A44"/>
                    </a:solidFill>
                  </a:tcPr>
                </a:tc>
                <a:tc>
                  <a:txBody>
                    <a:bodyPr/>
                    <a:lstStyle/>
                    <a:p>
                      <a:r>
                        <a:rPr lang="en-US" sz="1400" dirty="0">
                          <a:latin typeface="Calibri" panose="020F0502020204030204" pitchFamily="34" charset="0"/>
                          <a:cs typeface="Calibri" panose="020F0502020204030204" pitchFamily="34" charset="0"/>
                        </a:rPr>
                        <a:t>Project Cost</a:t>
                      </a:r>
                    </a:p>
                    <a:p>
                      <a:r>
                        <a:rPr lang="en-US" sz="1400" dirty="0">
                          <a:latin typeface="Calibri" panose="020F0502020204030204" pitchFamily="34" charset="0"/>
                          <a:cs typeface="Calibri" panose="020F0502020204030204" pitchFamily="34" charset="0"/>
                        </a:rPr>
                        <a:t>(In Rs. Cr)</a:t>
                      </a:r>
                    </a:p>
                  </a:txBody>
                  <a:tcPr anchor="ctr">
                    <a:solidFill>
                      <a:srgbClr val="009A44"/>
                    </a:solidFill>
                  </a:tcPr>
                </a:tc>
                <a:extLst>
                  <a:ext uri="{0D108BD9-81ED-4DB2-BD59-A6C34878D82A}">
                    <a16:rowId xmlns:a16="http://schemas.microsoft.com/office/drawing/2014/main" val="3857186120"/>
                  </a:ext>
                </a:extLst>
              </a:tr>
              <a:tr h="870040">
                <a:tc>
                  <a:txBody>
                    <a:bodyPr/>
                    <a:lstStyle/>
                    <a:p>
                      <a:pPr algn="ctr"/>
                      <a:r>
                        <a:rPr lang="en-US" sz="1400" dirty="0">
                          <a:latin typeface="Calibri" panose="020F0502020204030204" pitchFamily="34" charset="0"/>
                          <a:cs typeface="Calibri" panose="020F0502020204030204" pitchFamily="34" charset="0"/>
                        </a:rPr>
                        <a:t>1</a:t>
                      </a:r>
                    </a:p>
                  </a:txBody>
                  <a:tcPr anchor="ctr"/>
                </a:tc>
                <a:tc>
                  <a:txBody>
                    <a:bodyPr/>
                    <a:lstStyle/>
                    <a:p>
                      <a:r>
                        <a:rPr lang="en-US" sz="1400" dirty="0">
                          <a:latin typeface="Calibri" panose="020F0502020204030204" pitchFamily="34" charset="0"/>
                          <a:cs typeface="Calibri" panose="020F0502020204030204" pitchFamily="34" charset="0"/>
                        </a:rPr>
                        <a:t>HVDS with conversion of LTOH bare conductor line by LT AB cable in 10 districts out of 13 districts (</a:t>
                      </a:r>
                      <a:r>
                        <a:rPr lang="en-US" sz="1400" dirty="0">
                          <a:solidFill>
                            <a:srgbClr val="000000"/>
                          </a:solidFill>
                          <a:latin typeface="Calibri" panose="020F0502020204030204" pitchFamily="34" charset="0"/>
                          <a:ea typeface="ＭＳ Ｐゴシック" pitchFamily="50" charset="-128"/>
                          <a:cs typeface="Calibri" panose="020F0502020204030204" pitchFamily="34" charset="0"/>
                        </a:rPr>
                        <a:t>Howrah, Purba Medinipur, Bankura, Purulia, Malda, Uttar Dinajpur, Dakshin Dinajpur, Jalpaiguri, Coochbehar and Alipurduar)</a:t>
                      </a:r>
                      <a:endParaRPr lang="en-US" sz="1400" dirty="0">
                        <a:latin typeface="Calibri" panose="020F0502020204030204" pitchFamily="34" charset="0"/>
                        <a:cs typeface="Calibri" panose="020F0502020204030204" pitchFamily="34" charset="0"/>
                      </a:endParaRPr>
                    </a:p>
                  </a:txBody>
                  <a:tcPr anchor="ctr"/>
                </a:tc>
                <a:tc>
                  <a:txBody>
                    <a:bodyPr/>
                    <a:lstStyle/>
                    <a:p>
                      <a:r>
                        <a:rPr lang="en-US" sz="1400" dirty="0">
                          <a:latin typeface="Calibri" panose="020F0502020204030204" pitchFamily="34" charset="0"/>
                          <a:cs typeface="Calibri" panose="020F0502020204030204" pitchFamily="34" charset="0"/>
                        </a:rPr>
                        <a:t>971.20</a:t>
                      </a:r>
                    </a:p>
                  </a:txBody>
                  <a:tcPr anchor="ctr"/>
                </a:tc>
                <a:extLst>
                  <a:ext uri="{0D108BD9-81ED-4DB2-BD59-A6C34878D82A}">
                    <a16:rowId xmlns:a16="http://schemas.microsoft.com/office/drawing/2014/main" val="3039979347"/>
                  </a:ext>
                </a:extLst>
              </a:tr>
              <a:tr h="477119">
                <a:tc>
                  <a:txBody>
                    <a:bodyPr/>
                    <a:lstStyle/>
                    <a:p>
                      <a:pPr algn="ctr"/>
                      <a:r>
                        <a:rPr lang="en-US" sz="1400" dirty="0">
                          <a:latin typeface="Calibri" panose="020F0502020204030204" pitchFamily="34" charset="0"/>
                          <a:cs typeface="Calibri" panose="020F0502020204030204" pitchFamily="34" charset="0"/>
                        </a:rPr>
                        <a:t>2</a:t>
                      </a:r>
                    </a:p>
                  </a:txBody>
                  <a:tcPr anchor="ct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400" dirty="0">
                          <a:latin typeface="Calibri" panose="020F0502020204030204" pitchFamily="34" charset="0"/>
                          <a:cs typeface="Calibri" panose="020F0502020204030204" pitchFamily="34" charset="0"/>
                        </a:rPr>
                        <a:t>Conversion of Overhead network into Underground cable system at Baruipur</a:t>
                      </a:r>
                    </a:p>
                  </a:txBody>
                  <a:tcPr anchor="ct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400" dirty="0">
                          <a:latin typeface="Calibri" panose="020F0502020204030204" pitchFamily="34" charset="0"/>
                          <a:cs typeface="Calibri" panose="020F0502020204030204" pitchFamily="34" charset="0"/>
                        </a:rPr>
                        <a:t>170.27</a:t>
                      </a:r>
                    </a:p>
                  </a:txBody>
                  <a:tcPr anchor="ctr"/>
                </a:tc>
                <a:extLst>
                  <a:ext uri="{0D108BD9-81ED-4DB2-BD59-A6C34878D82A}">
                    <a16:rowId xmlns:a16="http://schemas.microsoft.com/office/drawing/2014/main" val="2485767026"/>
                  </a:ext>
                </a:extLst>
              </a:tr>
              <a:tr h="283665">
                <a:tc>
                  <a:txBody>
                    <a:bodyPr/>
                    <a:lstStyle/>
                    <a:p>
                      <a:pPr algn="ctr"/>
                      <a:r>
                        <a:rPr lang="en-US" sz="1400" dirty="0">
                          <a:latin typeface="Calibri" panose="020F0502020204030204" pitchFamily="34" charset="0"/>
                          <a:cs typeface="Calibri" panose="020F0502020204030204" pitchFamily="34" charset="0"/>
                        </a:rPr>
                        <a:t>3</a:t>
                      </a:r>
                    </a:p>
                  </a:txBody>
                  <a:tcPr anchor="ctr"/>
                </a:tc>
                <a:tc>
                  <a:txBody>
                    <a:bodyPr/>
                    <a:lstStyle/>
                    <a:p>
                      <a:r>
                        <a:rPr lang="en-US" sz="1400" dirty="0">
                          <a:solidFill>
                            <a:srgbClr val="000000"/>
                          </a:solidFill>
                          <a:latin typeface="Calibri" panose="020F0502020204030204" pitchFamily="34" charset="0"/>
                          <a:ea typeface="ＭＳ Ｐゴシック" pitchFamily="50" charset="-128"/>
                          <a:cs typeface="Calibri" panose="020F0502020204030204" pitchFamily="34" charset="0"/>
                        </a:rPr>
                        <a:t>Creating IT backbone for rolling out AMI and SCADA system at 2 towns </a:t>
                      </a:r>
                      <a:endParaRPr lang="en-US" sz="1400" dirty="0">
                        <a:latin typeface="Calibri" panose="020F0502020204030204" pitchFamily="34" charset="0"/>
                        <a:cs typeface="Calibri" panose="020F0502020204030204" pitchFamily="34" charset="0"/>
                      </a:endParaRPr>
                    </a:p>
                  </a:txBody>
                  <a:tcPr anchor="ctr"/>
                </a:tc>
                <a:tc>
                  <a:txBody>
                    <a:bodyPr/>
                    <a:lstStyle/>
                    <a:p>
                      <a:r>
                        <a:rPr lang="en-US" sz="1400" dirty="0">
                          <a:latin typeface="Calibri" panose="020F0502020204030204" pitchFamily="34" charset="0"/>
                          <a:cs typeface="Calibri" panose="020F0502020204030204" pitchFamily="34" charset="0"/>
                        </a:rPr>
                        <a:t>176.24</a:t>
                      </a:r>
                    </a:p>
                  </a:txBody>
                  <a:tcPr anchor="ctr"/>
                </a:tc>
                <a:extLst>
                  <a:ext uri="{0D108BD9-81ED-4DB2-BD59-A6C34878D82A}">
                    <a16:rowId xmlns:a16="http://schemas.microsoft.com/office/drawing/2014/main" val="654219558"/>
                  </a:ext>
                </a:extLst>
              </a:tr>
              <a:tr h="280658">
                <a:tc>
                  <a:txBody>
                    <a:bodyPr/>
                    <a:lstStyle/>
                    <a:p>
                      <a:pPr algn="ctr"/>
                      <a:r>
                        <a:rPr lang="en-US" sz="1400" dirty="0">
                          <a:latin typeface="Calibri" panose="020F0502020204030204" pitchFamily="34" charset="0"/>
                          <a:cs typeface="Calibri" panose="020F0502020204030204" pitchFamily="34" charset="0"/>
                        </a:rPr>
                        <a:t>4</a:t>
                      </a:r>
                    </a:p>
                  </a:txBody>
                  <a:tcPr anchor="ctr"/>
                </a:tc>
                <a:tc>
                  <a:txBody>
                    <a:bodyPr/>
                    <a:lstStyle/>
                    <a:p>
                      <a:r>
                        <a:rPr lang="en-US" sz="1400" dirty="0">
                          <a:latin typeface="Calibri" panose="020F0502020204030204" pitchFamily="34" charset="0"/>
                          <a:cs typeface="Calibri" panose="020F0502020204030204" pitchFamily="34" charset="0"/>
                        </a:rPr>
                        <a:t>Capacity building of WBSEDCL Officials </a:t>
                      </a:r>
                    </a:p>
                  </a:txBody>
                  <a:tcPr anchor="ctr"/>
                </a:tc>
                <a:tc>
                  <a:txBody>
                    <a:bodyPr/>
                    <a:lstStyle/>
                    <a:p>
                      <a:r>
                        <a:rPr lang="en-US" sz="1400" dirty="0">
                          <a:latin typeface="Calibri" panose="020F0502020204030204" pitchFamily="34" charset="0"/>
                          <a:cs typeface="Calibri" panose="020F0502020204030204" pitchFamily="34" charset="0"/>
                        </a:rPr>
                        <a:t>10</a:t>
                      </a:r>
                    </a:p>
                  </a:txBody>
                  <a:tcPr anchor="ctr"/>
                </a:tc>
                <a:extLst>
                  <a:ext uri="{0D108BD9-81ED-4DB2-BD59-A6C34878D82A}">
                    <a16:rowId xmlns:a16="http://schemas.microsoft.com/office/drawing/2014/main" val="902137411"/>
                  </a:ext>
                </a:extLst>
              </a:tr>
              <a:tr h="280658">
                <a:tc>
                  <a:txBody>
                    <a:bodyPr/>
                    <a:lstStyle/>
                    <a:p>
                      <a:pPr algn="ctr"/>
                      <a:endParaRPr lang="en-US" sz="1400" b="1" dirty="0">
                        <a:latin typeface="Calibri" panose="020F0502020204030204" pitchFamily="34" charset="0"/>
                        <a:cs typeface="Calibri" panose="020F0502020204030204" pitchFamily="34" charset="0"/>
                      </a:endParaRPr>
                    </a:p>
                  </a:txBody>
                  <a:tcPr anchor="ctr"/>
                </a:tc>
                <a:tc>
                  <a:txBody>
                    <a:bodyPr/>
                    <a:lstStyle/>
                    <a:p>
                      <a:r>
                        <a:rPr lang="en-US" sz="1400" b="1" dirty="0">
                          <a:latin typeface="Calibri" panose="020F0502020204030204" pitchFamily="34" charset="0"/>
                          <a:cs typeface="Calibri" panose="020F0502020204030204" pitchFamily="34" charset="0"/>
                        </a:rPr>
                        <a:t>Total Project Cost</a:t>
                      </a:r>
                    </a:p>
                  </a:txBody>
                  <a:tcPr anchor="ctr"/>
                </a:tc>
                <a:tc>
                  <a:txBody>
                    <a:bodyPr/>
                    <a:lstStyle/>
                    <a:p>
                      <a:r>
                        <a:rPr lang="en-US" sz="1400" b="1" dirty="0">
                          <a:latin typeface="Calibri" panose="020F0502020204030204" pitchFamily="34" charset="0"/>
                          <a:cs typeface="Calibri" panose="020F0502020204030204" pitchFamily="34" charset="0"/>
                        </a:rPr>
                        <a:t>1327.71</a:t>
                      </a:r>
                    </a:p>
                  </a:txBody>
                  <a:tcPr anchor="ctr"/>
                </a:tc>
                <a:extLst>
                  <a:ext uri="{0D108BD9-81ED-4DB2-BD59-A6C34878D82A}">
                    <a16:rowId xmlns:a16="http://schemas.microsoft.com/office/drawing/2014/main" val="334770057"/>
                  </a:ext>
                </a:extLst>
              </a:tr>
            </a:tbl>
          </a:graphicData>
        </a:graphic>
      </p:graphicFrame>
      <p:graphicFrame>
        <p:nvGraphicFramePr>
          <p:cNvPr id="6" name="Table 3">
            <a:extLst>
              <a:ext uri="{FF2B5EF4-FFF2-40B4-BE49-F238E27FC236}">
                <a16:creationId xmlns:a16="http://schemas.microsoft.com/office/drawing/2014/main" id="{CAF52F50-D97F-4DA7-800C-7F6C4915A179}"/>
              </a:ext>
            </a:extLst>
          </p:cNvPr>
          <p:cNvGraphicFramePr>
            <a:graphicFrameLocks noGrp="1"/>
          </p:cNvGraphicFramePr>
          <p:nvPr>
            <p:extLst>
              <p:ext uri="{D42A27DB-BD31-4B8C-83A1-F6EECF244321}">
                <p14:modId xmlns:p14="http://schemas.microsoft.com/office/powerpoint/2010/main" val="3371094350"/>
              </p:ext>
            </p:extLst>
          </p:nvPr>
        </p:nvGraphicFramePr>
        <p:xfrm>
          <a:off x="6968835" y="962688"/>
          <a:ext cx="4894330" cy="2963758"/>
        </p:xfrm>
        <a:graphic>
          <a:graphicData uri="http://schemas.openxmlformats.org/drawingml/2006/table">
            <a:tbl>
              <a:tblPr firstRow="1" bandRow="1">
                <a:tableStyleId>{5C22544A-7EE6-4342-B048-85BDC9FD1C3A}</a:tableStyleId>
              </a:tblPr>
              <a:tblGrid>
                <a:gridCol w="521026">
                  <a:extLst>
                    <a:ext uri="{9D8B030D-6E8A-4147-A177-3AD203B41FA5}">
                      <a16:colId xmlns:a16="http://schemas.microsoft.com/office/drawing/2014/main" val="1384982533"/>
                    </a:ext>
                  </a:extLst>
                </a:gridCol>
                <a:gridCol w="3245233">
                  <a:extLst>
                    <a:ext uri="{9D8B030D-6E8A-4147-A177-3AD203B41FA5}">
                      <a16:colId xmlns:a16="http://schemas.microsoft.com/office/drawing/2014/main" val="1139887847"/>
                    </a:ext>
                  </a:extLst>
                </a:gridCol>
                <a:gridCol w="1128071">
                  <a:extLst>
                    <a:ext uri="{9D8B030D-6E8A-4147-A177-3AD203B41FA5}">
                      <a16:colId xmlns:a16="http://schemas.microsoft.com/office/drawing/2014/main" val="389560445"/>
                    </a:ext>
                  </a:extLst>
                </a:gridCol>
              </a:tblGrid>
              <a:tr h="483032">
                <a:tc>
                  <a:txBody>
                    <a:bodyPr/>
                    <a:lstStyle/>
                    <a:p>
                      <a:pPr algn="ctr"/>
                      <a:r>
                        <a:rPr lang="en-US" sz="1400" dirty="0">
                          <a:latin typeface="Calibri" panose="020F0502020204030204" pitchFamily="34" charset="0"/>
                          <a:cs typeface="Calibri" panose="020F0502020204030204" pitchFamily="34" charset="0"/>
                        </a:rPr>
                        <a:t>Sl. No</a:t>
                      </a:r>
                    </a:p>
                  </a:txBody>
                  <a:tcPr anchor="ctr">
                    <a:solidFill>
                      <a:srgbClr val="009A44"/>
                    </a:solidFill>
                  </a:tcPr>
                </a:tc>
                <a:tc>
                  <a:txBody>
                    <a:bodyPr/>
                    <a:lstStyle/>
                    <a:p>
                      <a:r>
                        <a:rPr lang="en-US" sz="1400" dirty="0">
                          <a:latin typeface="Calibri" panose="020F0502020204030204" pitchFamily="34" charset="0"/>
                          <a:cs typeface="Calibri" panose="020F0502020204030204" pitchFamily="34" charset="0"/>
                        </a:rPr>
                        <a:t>Particular</a:t>
                      </a:r>
                    </a:p>
                  </a:txBody>
                  <a:tcPr anchor="ctr">
                    <a:solidFill>
                      <a:srgbClr val="009A44"/>
                    </a:solidFill>
                  </a:tcPr>
                </a:tc>
                <a:tc>
                  <a:txBody>
                    <a:bodyPr/>
                    <a:lstStyle/>
                    <a:p>
                      <a:pPr algn="ctr"/>
                      <a:r>
                        <a:rPr lang="en-US" sz="1400" dirty="0">
                          <a:latin typeface="Calibri" panose="020F0502020204030204" pitchFamily="34" charset="0"/>
                          <a:cs typeface="Calibri" panose="020F0502020204030204" pitchFamily="34" charset="0"/>
                        </a:rPr>
                        <a:t>Revised Cost (In Rs. Cr)</a:t>
                      </a:r>
                    </a:p>
                  </a:txBody>
                  <a:tcPr anchor="ctr">
                    <a:solidFill>
                      <a:srgbClr val="009A44"/>
                    </a:solidFill>
                  </a:tcPr>
                </a:tc>
                <a:extLst>
                  <a:ext uri="{0D108BD9-81ED-4DB2-BD59-A6C34878D82A}">
                    <a16:rowId xmlns:a16="http://schemas.microsoft.com/office/drawing/2014/main" val="3857186120"/>
                  </a:ext>
                </a:extLst>
              </a:tr>
              <a:tr h="891118">
                <a:tc>
                  <a:txBody>
                    <a:bodyPr/>
                    <a:lstStyle/>
                    <a:p>
                      <a:pPr algn="ctr"/>
                      <a:r>
                        <a:rPr lang="en-US" sz="1400" dirty="0">
                          <a:latin typeface="Calibri" panose="020F0502020204030204" pitchFamily="34" charset="0"/>
                          <a:cs typeface="Calibri" panose="020F0502020204030204" pitchFamily="34" charset="0"/>
                        </a:rPr>
                        <a:t>1</a:t>
                      </a:r>
                    </a:p>
                  </a:txBody>
                  <a:tcPr anchor="ctr"/>
                </a:tc>
                <a:tc>
                  <a:txBody>
                    <a:bodyPr/>
                    <a:lstStyle/>
                    <a:p>
                      <a:r>
                        <a:rPr lang="en-US" sz="1400" dirty="0">
                          <a:latin typeface="Calibri" panose="020F0502020204030204" pitchFamily="34" charset="0"/>
                          <a:cs typeface="Calibri" panose="020F0502020204030204" pitchFamily="34" charset="0"/>
                        </a:rPr>
                        <a:t>HVDS with conversion of LTOH bare conductor line by LT AB cable in 3 districts (</a:t>
                      </a:r>
                      <a:r>
                        <a:rPr lang="en-US" sz="1400" dirty="0">
                          <a:solidFill>
                            <a:srgbClr val="000000"/>
                          </a:solidFill>
                          <a:latin typeface="Calibri" panose="020F0502020204030204" pitchFamily="34" charset="0"/>
                          <a:ea typeface="ＭＳ Ｐゴシック" pitchFamily="50" charset="-128"/>
                          <a:cs typeface="Calibri" panose="020F0502020204030204" pitchFamily="34" charset="0"/>
                        </a:rPr>
                        <a:t>Nadia, Murshidabad and Darjeeling )</a:t>
                      </a:r>
                      <a:endParaRPr lang="en-US" sz="1400" dirty="0">
                        <a:latin typeface="Calibri" panose="020F0502020204030204" pitchFamily="34" charset="0"/>
                        <a:cs typeface="Calibri" panose="020F0502020204030204" pitchFamily="34" charset="0"/>
                      </a:endParaRPr>
                    </a:p>
                  </a:txBody>
                  <a:tcPr anchor="ctr"/>
                </a:tc>
                <a:tc>
                  <a:txBody>
                    <a:bodyPr/>
                    <a:lstStyle/>
                    <a:p>
                      <a:pPr algn="ctr"/>
                      <a:r>
                        <a:rPr lang="en-US" sz="1400" dirty="0">
                          <a:latin typeface="Calibri" panose="020F0502020204030204" pitchFamily="34" charset="0"/>
                          <a:cs typeface="Calibri" panose="020F0502020204030204" pitchFamily="34" charset="0"/>
                        </a:rPr>
                        <a:t>290.74</a:t>
                      </a:r>
                    </a:p>
                  </a:txBody>
                  <a:tcPr anchor="ctr"/>
                </a:tc>
                <a:extLst>
                  <a:ext uri="{0D108BD9-81ED-4DB2-BD59-A6C34878D82A}">
                    <a16:rowId xmlns:a16="http://schemas.microsoft.com/office/drawing/2014/main" val="3039979347"/>
                  </a:ext>
                </a:extLst>
              </a:tr>
              <a:tr h="488677">
                <a:tc>
                  <a:txBody>
                    <a:bodyPr/>
                    <a:lstStyle/>
                    <a:p>
                      <a:pPr algn="ctr"/>
                      <a:r>
                        <a:rPr lang="en-US" sz="1400" dirty="0">
                          <a:latin typeface="Calibri" panose="020F0502020204030204" pitchFamily="34" charset="0"/>
                          <a:cs typeface="Calibri" panose="020F0502020204030204" pitchFamily="34" charset="0"/>
                        </a:rPr>
                        <a:t>2</a:t>
                      </a:r>
                    </a:p>
                  </a:txBody>
                  <a:tcPr anchor="ct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400" dirty="0">
                          <a:solidFill>
                            <a:srgbClr val="000000"/>
                          </a:solidFill>
                          <a:latin typeface="Calibri" panose="020F0502020204030204" pitchFamily="34" charset="0"/>
                          <a:ea typeface="ＭＳ Ｐゴシック" pitchFamily="50" charset="-128"/>
                          <a:cs typeface="Calibri" panose="020F0502020204030204" pitchFamily="34" charset="0"/>
                        </a:rPr>
                        <a:t>Construction of 15 number of 33/11 KV GIS in 13 districts.</a:t>
                      </a:r>
                    </a:p>
                  </a:txBody>
                  <a:tcPr anchor="ctr"/>
                </a:tc>
                <a:tc>
                  <a:txBody>
                    <a:bodyPr/>
                    <a:lstStyle/>
                    <a:p>
                      <a:pPr algn="ctr"/>
                      <a:r>
                        <a:rPr lang="en-US" sz="1400" dirty="0">
                          <a:latin typeface="Calibri" panose="020F0502020204030204" pitchFamily="34" charset="0"/>
                          <a:cs typeface="Calibri" panose="020F0502020204030204" pitchFamily="34" charset="0"/>
                        </a:rPr>
                        <a:t>310</a:t>
                      </a:r>
                    </a:p>
                  </a:txBody>
                  <a:tcPr anchor="ctr"/>
                </a:tc>
                <a:extLst>
                  <a:ext uri="{0D108BD9-81ED-4DB2-BD59-A6C34878D82A}">
                    <a16:rowId xmlns:a16="http://schemas.microsoft.com/office/drawing/2014/main" val="3466706287"/>
                  </a:ext>
                </a:extLst>
              </a:tr>
              <a:tr h="689897">
                <a:tc>
                  <a:txBody>
                    <a:bodyPr/>
                    <a:lstStyle/>
                    <a:p>
                      <a:pPr algn="ctr"/>
                      <a:r>
                        <a:rPr lang="en-US" sz="1400" dirty="0">
                          <a:latin typeface="Calibri" panose="020F0502020204030204" pitchFamily="34" charset="0"/>
                          <a:cs typeface="Calibri" panose="020F0502020204030204" pitchFamily="34" charset="0"/>
                        </a:rPr>
                        <a:t>3</a:t>
                      </a:r>
                    </a:p>
                  </a:txBody>
                  <a:tcPr anchor="ct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400" dirty="0">
                          <a:latin typeface="Calibri" panose="020F0502020204030204" pitchFamily="34" charset="0"/>
                          <a:cs typeface="Calibri" panose="020F0502020204030204" pitchFamily="34" charset="0"/>
                        </a:rPr>
                        <a:t>Conversion of Overhead network into Underground cable system at </a:t>
                      </a:r>
                      <a:r>
                        <a:rPr lang="en-US" sz="1400" dirty="0">
                          <a:solidFill>
                            <a:srgbClr val="000000"/>
                          </a:solidFill>
                          <a:latin typeface="Calibri" panose="020F0502020204030204" pitchFamily="34" charset="0"/>
                          <a:ea typeface="ＭＳ Ｐゴシック" pitchFamily="50" charset="-128"/>
                          <a:cs typeface="Calibri" panose="020F0502020204030204" pitchFamily="34" charset="0"/>
                        </a:rPr>
                        <a:t>Baguihati &amp; and Rajarhat</a:t>
                      </a:r>
                      <a:endParaRPr lang="en-US" sz="1400" dirty="0">
                        <a:latin typeface="Calibri" panose="020F0502020204030204" pitchFamily="34" charset="0"/>
                        <a:cs typeface="Calibri" panose="020F0502020204030204" pitchFamily="34" charset="0"/>
                      </a:endParaRPr>
                    </a:p>
                  </a:txBody>
                  <a:tcPr anchor="ctr"/>
                </a:tc>
                <a:tc>
                  <a:txBody>
                    <a:bodyPr/>
                    <a:lstStyle/>
                    <a:p>
                      <a:pPr algn="ctr"/>
                      <a:r>
                        <a:rPr lang="en-US" sz="1400" dirty="0">
                          <a:latin typeface="Calibri" panose="020F0502020204030204" pitchFamily="34" charset="0"/>
                          <a:cs typeface="Calibri" panose="020F0502020204030204" pitchFamily="34" charset="0"/>
                        </a:rPr>
                        <a:t>295.22</a:t>
                      </a:r>
                    </a:p>
                  </a:txBody>
                  <a:tcPr anchor="ctr"/>
                </a:tc>
                <a:extLst>
                  <a:ext uri="{0D108BD9-81ED-4DB2-BD59-A6C34878D82A}">
                    <a16:rowId xmlns:a16="http://schemas.microsoft.com/office/drawing/2014/main" val="2485767026"/>
                  </a:ext>
                </a:extLst>
              </a:tr>
              <a:tr h="287457">
                <a:tc>
                  <a:txBody>
                    <a:bodyPr/>
                    <a:lstStyle/>
                    <a:p>
                      <a:pPr algn="ctr"/>
                      <a:endParaRPr lang="en-US" sz="1400" b="1" dirty="0">
                        <a:latin typeface="Calibri" panose="020F0502020204030204" pitchFamily="34" charset="0"/>
                        <a:cs typeface="Calibri" panose="020F0502020204030204" pitchFamily="34" charset="0"/>
                      </a:endParaRPr>
                    </a:p>
                  </a:txBody>
                  <a:tcPr anchor="ctr"/>
                </a:tc>
                <a:tc>
                  <a:txBody>
                    <a:bodyPr/>
                    <a:lstStyle/>
                    <a:p>
                      <a:r>
                        <a:rPr lang="en-US" sz="1400" b="1" dirty="0">
                          <a:latin typeface="Calibri" panose="020F0502020204030204" pitchFamily="34" charset="0"/>
                          <a:cs typeface="Calibri" panose="020F0502020204030204" pitchFamily="34" charset="0"/>
                        </a:rPr>
                        <a:t>Total Project Cost</a:t>
                      </a:r>
                    </a:p>
                  </a:txBody>
                  <a:tcPr anchor="ctr"/>
                </a:tc>
                <a:tc>
                  <a:txBody>
                    <a:bodyPr/>
                    <a:lstStyle/>
                    <a:p>
                      <a:pPr algn="ctr"/>
                      <a:r>
                        <a:rPr lang="en-US" sz="1400" b="1" dirty="0">
                          <a:latin typeface="Calibri" panose="020F0502020204030204" pitchFamily="34" charset="0"/>
                          <a:cs typeface="Calibri" panose="020F0502020204030204" pitchFamily="34" charset="0"/>
                        </a:rPr>
                        <a:t>895.96</a:t>
                      </a:r>
                    </a:p>
                  </a:txBody>
                  <a:tcPr anchor="ctr"/>
                </a:tc>
                <a:extLst>
                  <a:ext uri="{0D108BD9-81ED-4DB2-BD59-A6C34878D82A}">
                    <a16:rowId xmlns:a16="http://schemas.microsoft.com/office/drawing/2014/main" val="334770057"/>
                  </a:ext>
                </a:extLst>
              </a:tr>
            </a:tbl>
          </a:graphicData>
        </a:graphic>
      </p:graphicFrame>
      <p:graphicFrame>
        <p:nvGraphicFramePr>
          <p:cNvPr id="10" name="Chart 9">
            <a:extLst>
              <a:ext uri="{FF2B5EF4-FFF2-40B4-BE49-F238E27FC236}">
                <a16:creationId xmlns:a16="http://schemas.microsoft.com/office/drawing/2014/main" id="{E9C8DDE1-BFA8-416D-BF49-05A63D48CE12}"/>
              </a:ext>
            </a:extLst>
          </p:cNvPr>
          <p:cNvGraphicFramePr/>
          <p:nvPr>
            <p:extLst>
              <p:ext uri="{D42A27DB-BD31-4B8C-83A1-F6EECF244321}">
                <p14:modId xmlns:p14="http://schemas.microsoft.com/office/powerpoint/2010/main" val="3382367320"/>
              </p:ext>
            </p:extLst>
          </p:nvPr>
        </p:nvGraphicFramePr>
        <p:xfrm>
          <a:off x="328835" y="3980209"/>
          <a:ext cx="11534330" cy="2499138"/>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C4C7B8E1-3F8C-4A89-9335-CB18A4D8DB5F}"/>
              </a:ext>
            </a:extLst>
          </p:cNvPr>
          <p:cNvSpPr txBox="1"/>
          <p:nvPr/>
        </p:nvSpPr>
        <p:spPr>
          <a:xfrm>
            <a:off x="328835" y="579228"/>
            <a:ext cx="6463917" cy="270843"/>
          </a:xfrm>
          <a:prstGeom prst="rect">
            <a:avLst/>
          </a:prstGeom>
          <a:solidFill>
            <a:srgbClr val="007680"/>
          </a:solidFill>
        </p:spPr>
        <p:txBody>
          <a:bodyPr wrap="square" lIns="91440" tIns="27432" rIns="91440" bIns="27432" rtlCol="0">
            <a:spAutoFit/>
          </a:bodyPr>
          <a:lstStyle/>
          <a:p>
            <a:pPr algn="ctr">
              <a:spcBef>
                <a:spcPts val="600"/>
              </a:spcBef>
              <a:buSzPct val="100000"/>
            </a:pPr>
            <a:r>
              <a:rPr lang="en-US" sz="1400" b="1" dirty="0">
                <a:solidFill>
                  <a:schemeClr val="bg1"/>
                </a:solidFill>
                <a:latin typeface="Calibri" panose="020F0502020204030204" pitchFamily="34" charset="0"/>
                <a:cs typeface="Calibri" panose="020F0502020204030204" pitchFamily="34" charset="0"/>
              </a:rPr>
              <a:t>Phase 1 Implementation</a:t>
            </a:r>
          </a:p>
        </p:txBody>
      </p:sp>
      <p:sp>
        <p:nvSpPr>
          <p:cNvPr id="12" name="TextBox 11">
            <a:extLst>
              <a:ext uri="{FF2B5EF4-FFF2-40B4-BE49-F238E27FC236}">
                <a16:creationId xmlns:a16="http://schemas.microsoft.com/office/drawing/2014/main" id="{675BA80B-37C6-4743-836C-B3F99D94536D}"/>
              </a:ext>
            </a:extLst>
          </p:cNvPr>
          <p:cNvSpPr txBox="1"/>
          <p:nvPr/>
        </p:nvSpPr>
        <p:spPr>
          <a:xfrm>
            <a:off x="6968835" y="596298"/>
            <a:ext cx="4894330" cy="270843"/>
          </a:xfrm>
          <a:prstGeom prst="rect">
            <a:avLst/>
          </a:prstGeom>
          <a:solidFill>
            <a:srgbClr val="007680"/>
          </a:solidFill>
        </p:spPr>
        <p:txBody>
          <a:bodyPr wrap="square" lIns="91440" tIns="27432" rIns="91440" bIns="27432" rtlCol="0">
            <a:spAutoFit/>
          </a:bodyPr>
          <a:lstStyle/>
          <a:p>
            <a:pPr algn="ctr">
              <a:spcBef>
                <a:spcPts val="600"/>
              </a:spcBef>
              <a:buSzPct val="100000"/>
            </a:pPr>
            <a:r>
              <a:rPr lang="en-US" sz="1400" b="1" dirty="0">
                <a:solidFill>
                  <a:schemeClr val="bg1"/>
                </a:solidFill>
                <a:latin typeface="Calibri" panose="020F0502020204030204" pitchFamily="34" charset="0"/>
                <a:cs typeface="Calibri" panose="020F0502020204030204" pitchFamily="34" charset="0"/>
              </a:rPr>
              <a:t>Phase 2  Implementation</a:t>
            </a:r>
          </a:p>
        </p:txBody>
      </p:sp>
      <p:sp>
        <p:nvSpPr>
          <p:cNvPr id="13" name="TextBox 12">
            <a:extLst>
              <a:ext uri="{FF2B5EF4-FFF2-40B4-BE49-F238E27FC236}">
                <a16:creationId xmlns:a16="http://schemas.microsoft.com/office/drawing/2014/main" id="{6F1023F9-7B5B-481E-968B-3AD6B9776EBB}"/>
              </a:ext>
            </a:extLst>
          </p:cNvPr>
          <p:cNvSpPr txBox="1"/>
          <p:nvPr/>
        </p:nvSpPr>
        <p:spPr>
          <a:xfrm>
            <a:off x="3002478" y="6533110"/>
            <a:ext cx="8960922" cy="323165"/>
          </a:xfrm>
          <a:prstGeom prst="rect">
            <a:avLst/>
          </a:prstGeom>
          <a:noFill/>
        </p:spPr>
        <p:txBody>
          <a:bodyPr wrap="square" lIns="0" tIns="0" rIns="0" bIns="0" rtlCol="0">
            <a:spAutoFit/>
          </a:bodyPr>
          <a:lstStyle/>
          <a:p>
            <a:pPr>
              <a:buSzPct val="100000"/>
            </a:pPr>
            <a:r>
              <a:rPr lang="en-US" sz="1050" b="1" dirty="0">
                <a:solidFill>
                  <a:srgbClr val="313131"/>
                </a:solidFill>
                <a:latin typeface="+mj-lt"/>
                <a:cs typeface="Calibri" panose="020F0502020204030204" pitchFamily="34" charset="0"/>
              </a:rPr>
              <a:t>Source </a:t>
            </a:r>
            <a:r>
              <a:rPr lang="en-US" sz="1050" dirty="0">
                <a:solidFill>
                  <a:srgbClr val="313131"/>
                </a:solidFill>
                <a:latin typeface="+mj-lt"/>
                <a:cs typeface="Calibri" panose="020F0502020204030204" pitchFamily="34" charset="0"/>
              </a:rPr>
              <a:t>: 1) https://www.wbsedcl.in/irj/go/km/docs/internet/new_website/pdf/Tariff_Volumn/HVDS_World_Bank_Phase_1.pdf </a:t>
            </a:r>
          </a:p>
          <a:p>
            <a:pPr>
              <a:buSzPct val="100000"/>
            </a:pPr>
            <a:r>
              <a:rPr lang="en-US" sz="1050" dirty="0">
                <a:solidFill>
                  <a:srgbClr val="313131"/>
                </a:solidFill>
                <a:latin typeface="+mj-lt"/>
                <a:cs typeface="Calibri" panose="020F0502020204030204" pitchFamily="34" charset="0"/>
              </a:rPr>
              <a:t>2) https://www.wbsedcl.in/irj/go/km/docs/internet/new_website/pdf/Tariff_Volumn/HVDS_World_Bank_Phase_2.pdf</a:t>
            </a:r>
          </a:p>
        </p:txBody>
      </p:sp>
    </p:spTree>
    <p:extLst>
      <p:ext uri="{BB962C8B-B14F-4D97-AF65-F5344CB8AC3E}">
        <p14:creationId xmlns:p14="http://schemas.microsoft.com/office/powerpoint/2010/main" val="26659570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6680"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5" y="1539318"/>
            <a:ext cx="9630230" cy="615553"/>
          </a:xfrm>
        </p:spPr>
        <p:txBody>
          <a:bodyPr anchor="ctr" anchorCtr="0">
            <a:spAutoFit/>
          </a:bodyPr>
          <a:lstStyle/>
          <a:p>
            <a:r>
              <a:rPr lang="en-US" sz="2000" i="0" dirty="0">
                <a:solidFill>
                  <a:schemeClr val="tx1"/>
                </a:solidFill>
              </a:rPr>
              <a:t>HVDS WORK UNDER SPECIAL INFRASTRUCTURE PROJECT (SIP) under P&amp;NES, GoWB</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68992" y="1590786"/>
            <a:ext cx="811893" cy="501149"/>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lang="en-IN" sz="1400" b="1" kern="0" dirty="0">
                <a:solidFill>
                  <a:prstClr val="white"/>
                </a:solidFill>
              </a:rPr>
              <a:t>3C</a:t>
            </a:r>
            <a:endParaRPr kumimoji="0" lang="en-IN" sz="14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a:cxnSpLocks/>
          </p:cNvCxnSpPr>
          <p:nvPr/>
        </p:nvCxnSpPr>
        <p:spPr>
          <a:xfrm>
            <a:off x="4615544" y="3499011"/>
            <a:ext cx="0" cy="15955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526">
            <a:extLst>
              <a:ext uri="{FF2B5EF4-FFF2-40B4-BE49-F238E27FC236}">
                <a16:creationId xmlns:a16="http://schemas.microsoft.com/office/drawing/2014/main" id="{5540E149-1F19-4064-9714-B21FD0705489}"/>
              </a:ext>
            </a:extLst>
          </p:cNvPr>
          <p:cNvGrpSpPr>
            <a:grpSpLocks noChangeAspect="1"/>
          </p:cNvGrpSpPr>
          <p:nvPr/>
        </p:nvGrpSpPr>
        <p:grpSpPr bwMode="auto">
          <a:xfrm>
            <a:off x="1104225" y="3008313"/>
            <a:ext cx="2345264" cy="2345264"/>
            <a:chOff x="3464" y="1974"/>
            <a:chExt cx="340" cy="340"/>
          </a:xfrm>
          <a:solidFill>
            <a:srgbClr val="9CAC00"/>
          </a:solidFill>
        </p:grpSpPr>
        <p:sp>
          <p:nvSpPr>
            <p:cNvPr id="15" name="Freeform 527">
              <a:extLst>
                <a:ext uri="{FF2B5EF4-FFF2-40B4-BE49-F238E27FC236}">
                  <a16:creationId xmlns:a16="http://schemas.microsoft.com/office/drawing/2014/main" id="{2261B12D-A407-4719-9125-F49F83DDB571}"/>
                </a:ext>
              </a:extLst>
            </p:cNvPr>
            <p:cNvSpPr>
              <a:spLocks noEditPoints="1"/>
            </p:cNvSpPr>
            <p:nvPr/>
          </p:nvSpPr>
          <p:spPr bwMode="auto">
            <a:xfrm>
              <a:off x="3464" y="197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528">
              <a:extLst>
                <a:ext uri="{FF2B5EF4-FFF2-40B4-BE49-F238E27FC236}">
                  <a16:creationId xmlns:a16="http://schemas.microsoft.com/office/drawing/2014/main" id="{4FB09AB9-A79B-434D-9DE7-187BE7279860}"/>
                </a:ext>
              </a:extLst>
            </p:cNvPr>
            <p:cNvSpPr>
              <a:spLocks noEditPoints="1"/>
            </p:cNvSpPr>
            <p:nvPr/>
          </p:nvSpPr>
          <p:spPr bwMode="auto">
            <a:xfrm>
              <a:off x="3541" y="2037"/>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24852540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Arrow Connector 34">
            <a:extLst>
              <a:ext uri="{FF2B5EF4-FFF2-40B4-BE49-F238E27FC236}">
                <a16:creationId xmlns:a16="http://schemas.microsoft.com/office/drawing/2014/main" id="{43E4409E-7F47-471D-A8FC-E6FAE45D5ACE}"/>
              </a:ext>
            </a:extLst>
          </p:cNvPr>
          <p:cNvCxnSpPr/>
          <p:nvPr/>
        </p:nvCxnSpPr>
        <p:spPr>
          <a:xfrm>
            <a:off x="1850571" y="3429000"/>
            <a:ext cx="1436915" cy="72934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193988"/>
            <a:ext cx="11188700" cy="368299"/>
          </a:xfrm>
        </p:spPr>
        <p:txBody>
          <a:bodyPr vert="horz"/>
          <a:lstStyle/>
          <a:p>
            <a:pPr algn="just"/>
            <a:r>
              <a:rPr lang="en-US" sz="1800" i="0" dirty="0">
                <a:solidFill>
                  <a:schemeClr val="tx1"/>
                </a:solidFill>
                <a:latin typeface="+mj-lt"/>
              </a:rPr>
              <a:t>Progress of Special Infrastructure Project Scheme as on 31.11.2020 </a:t>
            </a:r>
          </a:p>
        </p:txBody>
      </p:sp>
      <p:sp>
        <p:nvSpPr>
          <p:cNvPr id="20" name="TextBox 19">
            <a:extLst>
              <a:ext uri="{FF2B5EF4-FFF2-40B4-BE49-F238E27FC236}">
                <a16:creationId xmlns:a16="http://schemas.microsoft.com/office/drawing/2014/main" id="{B5649F8E-F122-4FAE-814F-DF7010DD21DF}"/>
              </a:ext>
            </a:extLst>
          </p:cNvPr>
          <p:cNvSpPr txBox="1"/>
          <p:nvPr/>
        </p:nvSpPr>
        <p:spPr>
          <a:xfrm>
            <a:off x="10223528" y="5663957"/>
            <a:ext cx="1164771" cy="169277"/>
          </a:xfrm>
          <a:prstGeom prst="rect">
            <a:avLst/>
          </a:prstGeom>
          <a:noFill/>
        </p:spPr>
        <p:txBody>
          <a:bodyPr wrap="square" lIns="0" tIns="0" rIns="0" bIns="0" rtlCol="0">
            <a:spAutoFit/>
          </a:bodyPr>
          <a:lstStyle/>
          <a:p>
            <a:pPr algn="ctr">
              <a:spcBef>
                <a:spcPts val="600"/>
              </a:spcBef>
              <a:buSzPct val="100000"/>
            </a:pPr>
            <a:r>
              <a:rPr lang="en-US" sz="1100" b="1" dirty="0">
                <a:solidFill>
                  <a:schemeClr val="bg1"/>
                </a:solidFill>
                <a:latin typeface="+mj-lt"/>
                <a:cs typeface="Calibri" panose="020F0502020204030204" pitchFamily="34" charset="0"/>
              </a:rPr>
              <a:t>GOA ( Grant)</a:t>
            </a:r>
          </a:p>
        </p:txBody>
      </p:sp>
      <p:sp>
        <p:nvSpPr>
          <p:cNvPr id="47" name="TextBox 46">
            <a:extLst>
              <a:ext uri="{FF2B5EF4-FFF2-40B4-BE49-F238E27FC236}">
                <a16:creationId xmlns:a16="http://schemas.microsoft.com/office/drawing/2014/main" id="{61A0BC5C-2F3A-41B7-92FD-DD59085988D6}"/>
              </a:ext>
            </a:extLst>
          </p:cNvPr>
          <p:cNvSpPr txBox="1"/>
          <p:nvPr/>
        </p:nvSpPr>
        <p:spPr>
          <a:xfrm>
            <a:off x="8939014" y="4692765"/>
            <a:ext cx="1284514" cy="169277"/>
          </a:xfrm>
          <a:prstGeom prst="rect">
            <a:avLst/>
          </a:prstGeom>
          <a:noFill/>
        </p:spPr>
        <p:txBody>
          <a:bodyPr wrap="square" lIns="0" tIns="0" rIns="0" bIns="0" rtlCol="0">
            <a:spAutoFit/>
          </a:bodyPr>
          <a:lstStyle/>
          <a:p>
            <a:pPr algn="ctr">
              <a:spcBef>
                <a:spcPts val="600"/>
              </a:spcBef>
              <a:buSzPct val="100000"/>
            </a:pPr>
            <a:r>
              <a:rPr lang="en-US" sz="1100" b="1" dirty="0">
                <a:solidFill>
                  <a:schemeClr val="bg1"/>
                </a:solidFill>
                <a:latin typeface="+mj-lt"/>
                <a:cs typeface="Calibri" panose="020F0502020204030204" pitchFamily="34" charset="0"/>
              </a:rPr>
              <a:t>GOWB ( Grant)</a:t>
            </a:r>
          </a:p>
        </p:txBody>
      </p:sp>
      <p:sp>
        <p:nvSpPr>
          <p:cNvPr id="9" name="TextBox 8">
            <a:extLst>
              <a:ext uri="{FF2B5EF4-FFF2-40B4-BE49-F238E27FC236}">
                <a16:creationId xmlns:a16="http://schemas.microsoft.com/office/drawing/2014/main" id="{0AD044FD-E808-42E4-AAAB-B827AA8A5FFE}"/>
              </a:ext>
            </a:extLst>
          </p:cNvPr>
          <p:cNvSpPr txBox="1"/>
          <p:nvPr/>
        </p:nvSpPr>
        <p:spPr>
          <a:xfrm>
            <a:off x="3086437" y="6620986"/>
            <a:ext cx="2738622" cy="169277"/>
          </a:xfrm>
          <a:prstGeom prst="rect">
            <a:avLst/>
          </a:prstGeom>
          <a:noFill/>
        </p:spPr>
        <p:txBody>
          <a:bodyPr wrap="square" lIns="0" tIns="0" rIns="0" bIns="0" rtlCol="0">
            <a:spAutoFit/>
          </a:bodyPr>
          <a:lstStyle/>
          <a:p>
            <a:pPr>
              <a:spcBef>
                <a:spcPts val="600"/>
              </a:spcBef>
              <a:buSzPct val="100000"/>
            </a:pPr>
            <a:r>
              <a:rPr lang="en-US" sz="1100" b="1" dirty="0">
                <a:solidFill>
                  <a:srgbClr val="313131"/>
                </a:solidFill>
                <a:latin typeface="+mj-lt"/>
                <a:cs typeface="Calibri" panose="020F0502020204030204" pitchFamily="34" charset="0"/>
              </a:rPr>
              <a:t>Source </a:t>
            </a:r>
            <a:r>
              <a:rPr lang="en-US" sz="1100" dirty="0">
                <a:solidFill>
                  <a:srgbClr val="313131"/>
                </a:solidFill>
                <a:latin typeface="+mj-lt"/>
                <a:cs typeface="Calibri" panose="020F0502020204030204" pitchFamily="34" charset="0"/>
              </a:rPr>
              <a:t>: WBSEDCL Website </a:t>
            </a:r>
          </a:p>
        </p:txBody>
      </p:sp>
      <p:sp>
        <p:nvSpPr>
          <p:cNvPr id="13" name="Rectangle 19">
            <a:extLst>
              <a:ext uri="{FF2B5EF4-FFF2-40B4-BE49-F238E27FC236}">
                <a16:creationId xmlns:a16="http://schemas.microsoft.com/office/drawing/2014/main" id="{6A4087E2-3A4E-46B0-BB1B-BD31352026FB}"/>
              </a:ext>
            </a:extLst>
          </p:cNvPr>
          <p:cNvSpPr>
            <a:spLocks noChangeArrowheads="1"/>
          </p:cNvSpPr>
          <p:nvPr/>
        </p:nvSpPr>
        <p:spPr bwMode="auto">
          <a:xfrm>
            <a:off x="3714528" y="914401"/>
            <a:ext cx="7963108" cy="1846280"/>
          </a:xfrm>
          <a:prstGeom prst="rect">
            <a:avLst/>
          </a:prstGeom>
          <a:noFill/>
          <a:ln w="19050" algn="ctr">
            <a:solidFill>
              <a:schemeClr val="accent1"/>
            </a:solidFill>
            <a:miter lim="800000"/>
            <a:headEnd/>
            <a:tailEnd/>
          </a:ln>
        </p:spPr>
        <p:txBody>
          <a:bodyPr wrap="square" lIns="88900" tIns="88900" rIns="88900" bIns="88900" anchor="ctr"/>
          <a:lstStyle/>
          <a:p>
            <a:pPr marL="285750" indent="-285750" algn="just">
              <a:spcBef>
                <a:spcPts val="600"/>
              </a:spcBef>
              <a:buFont typeface="Wingdings" panose="05000000000000000000" pitchFamily="2" charset="2"/>
              <a:buChar char="§"/>
              <a:defRPr/>
            </a:pPr>
            <a:r>
              <a:rPr lang="en-US" sz="1200" dirty="0">
                <a:latin typeface="+mj-lt"/>
                <a:ea typeface="ＭＳ Ｐゴシック" pitchFamily="50" charset="-128"/>
                <a:cs typeface="Calibri" panose="020F0502020204030204" pitchFamily="34" charset="0"/>
              </a:rPr>
              <a:t>Special Infrastructure Project Scheme was approved by Government of West Bengal for HVDS Work. </a:t>
            </a:r>
          </a:p>
          <a:p>
            <a:pPr marL="285750" indent="-285750" algn="just">
              <a:spcBef>
                <a:spcPts val="600"/>
              </a:spcBef>
              <a:buFont typeface="Wingdings" panose="05000000000000000000" pitchFamily="2" charset="2"/>
              <a:buChar char="§"/>
              <a:defRPr/>
            </a:pPr>
            <a:r>
              <a:rPr lang="en-US" sz="1200" dirty="0">
                <a:latin typeface="+mj-lt"/>
                <a:ea typeface="ＭＳ Ｐゴシック" pitchFamily="50" charset="-128"/>
                <a:cs typeface="Calibri" panose="020F0502020204030204" pitchFamily="34" charset="0"/>
              </a:rPr>
              <a:t>HV</a:t>
            </a:r>
            <a:r>
              <a:rPr lang="en-US" sz="1200" b="0" i="0" u="none" strike="noStrike" baseline="0" dirty="0">
                <a:solidFill>
                  <a:srgbClr val="000000"/>
                </a:solidFill>
                <a:latin typeface="+mj-lt"/>
                <a:cs typeface="Calibri" panose="020F0502020204030204" pitchFamily="34" charset="0"/>
              </a:rPr>
              <a:t> HVDS works to reconfigure the existing HT/LT network using distribution transformer (DTR) and HT/LT aerial bundled (AB) cable in various districts of West Bengal have been taken up. </a:t>
            </a:r>
          </a:p>
          <a:p>
            <a:pPr marL="285750" indent="-285750" algn="just">
              <a:spcBef>
                <a:spcPts val="600"/>
              </a:spcBef>
              <a:buFont typeface="Wingdings" panose="05000000000000000000" pitchFamily="2" charset="2"/>
              <a:buChar char="§"/>
              <a:defRPr/>
            </a:pPr>
            <a:r>
              <a:rPr lang="en-US" sz="1200" dirty="0">
                <a:solidFill>
                  <a:srgbClr val="000000"/>
                </a:solidFill>
                <a:latin typeface="+mj-lt"/>
                <a:ea typeface="ＭＳ Ｐゴシック" pitchFamily="50" charset="-128"/>
                <a:cs typeface="Calibri" panose="020F0502020204030204" pitchFamily="34" charset="0"/>
              </a:rPr>
              <a:t>The project was undertaken for </a:t>
            </a:r>
          </a:p>
          <a:p>
            <a:pPr marL="285750" indent="-285750" algn="just">
              <a:spcBef>
                <a:spcPts val="600"/>
              </a:spcBef>
              <a:buFont typeface="Wingdings" panose="05000000000000000000" pitchFamily="2" charset="2"/>
              <a:buChar char="§"/>
              <a:defRPr/>
            </a:pPr>
            <a:r>
              <a:rPr lang="en-US" sz="1200" b="0" i="0" u="none" strike="noStrike" baseline="0" dirty="0">
                <a:solidFill>
                  <a:srgbClr val="000000"/>
                </a:solidFill>
                <a:latin typeface="+mj-lt"/>
                <a:cs typeface="Calibri" panose="020F0502020204030204" pitchFamily="34" charset="0"/>
              </a:rPr>
              <a:t>Burdwan and Birbhum districts</a:t>
            </a:r>
            <a:r>
              <a:rPr lang="en-US" sz="1200" b="0" i="0" u="none" strike="noStrike" baseline="0" dirty="0">
                <a:solidFill>
                  <a:srgbClr val="000000"/>
                </a:solidFill>
                <a:latin typeface="+mj-lt"/>
                <a:ea typeface="ＭＳ Ｐゴシック" pitchFamily="50" charset="-128"/>
                <a:cs typeface="Calibri" panose="020F0502020204030204" pitchFamily="34" charset="0"/>
              </a:rPr>
              <a:t> </a:t>
            </a:r>
            <a:r>
              <a:rPr lang="en-US" sz="1200" dirty="0">
                <a:solidFill>
                  <a:srgbClr val="000000"/>
                </a:solidFill>
                <a:latin typeface="+mj-lt"/>
                <a:ea typeface="ＭＳ Ｐゴシック" pitchFamily="50" charset="-128"/>
                <a:cs typeface="Calibri" panose="020F0502020204030204" pitchFamily="34" charset="0"/>
              </a:rPr>
              <a:t>: Project Cost of Rs. 308 Crore </a:t>
            </a:r>
          </a:p>
          <a:p>
            <a:pPr marL="285750" indent="-285750" algn="just">
              <a:spcBef>
                <a:spcPts val="600"/>
              </a:spcBef>
              <a:buFont typeface="Wingdings" panose="05000000000000000000" pitchFamily="2" charset="2"/>
              <a:buChar char="§"/>
              <a:defRPr/>
            </a:pPr>
            <a:r>
              <a:rPr lang="en-US" sz="1200" b="0" i="0" u="none" strike="noStrike" baseline="0" dirty="0">
                <a:solidFill>
                  <a:srgbClr val="000000"/>
                </a:solidFill>
                <a:latin typeface="+mj-lt"/>
                <a:cs typeface="Calibri" panose="020F0502020204030204" pitchFamily="34" charset="0"/>
              </a:rPr>
              <a:t>Hooghly, Paschim Midnapur, 24 Parganas (North and South) districts</a:t>
            </a:r>
            <a:r>
              <a:rPr lang="en-US" sz="1200" b="0" i="0" u="none" strike="noStrike" baseline="0" dirty="0">
                <a:solidFill>
                  <a:srgbClr val="000000"/>
                </a:solidFill>
                <a:latin typeface="+mj-lt"/>
                <a:ea typeface="ＭＳ Ｐゴシック" pitchFamily="50" charset="-128"/>
                <a:cs typeface="Calibri" panose="020F0502020204030204" pitchFamily="34" charset="0"/>
              </a:rPr>
              <a:t> : Project Cost of Rs. 2200 Crore</a:t>
            </a:r>
            <a:endParaRPr lang="en-US" sz="1200" dirty="0">
              <a:solidFill>
                <a:srgbClr val="000000"/>
              </a:solidFill>
              <a:latin typeface="+mj-lt"/>
              <a:ea typeface="ＭＳ Ｐゴシック" pitchFamily="50" charset="-128"/>
              <a:cs typeface="Calibri" panose="020F0502020204030204" pitchFamily="34" charset="0"/>
            </a:endParaRPr>
          </a:p>
        </p:txBody>
      </p:sp>
      <p:sp>
        <p:nvSpPr>
          <p:cNvPr id="15" name="AutoShape 12">
            <a:extLst>
              <a:ext uri="{FF2B5EF4-FFF2-40B4-BE49-F238E27FC236}">
                <a16:creationId xmlns:a16="http://schemas.microsoft.com/office/drawing/2014/main" id="{D25A157A-40C0-4653-82F8-8E24BE766158}"/>
              </a:ext>
            </a:extLst>
          </p:cNvPr>
          <p:cNvSpPr>
            <a:spLocks noChangeArrowheads="1"/>
          </p:cNvSpPr>
          <p:nvPr/>
        </p:nvSpPr>
        <p:spPr bwMode="auto">
          <a:xfrm>
            <a:off x="2582414" y="816658"/>
            <a:ext cx="1008046" cy="1959200"/>
          </a:xfrm>
          <a:prstGeom prst="homePlate">
            <a:avLst>
              <a:gd name="adj" fmla="val 100000"/>
            </a:avLst>
          </a:prstGeom>
          <a:solidFill>
            <a:schemeClr val="bg2">
              <a:lumMod val="75000"/>
            </a:schemeClr>
          </a:solidFill>
          <a:ln w="6350" algn="ctr">
            <a:noFill/>
            <a:miter lim="800000"/>
            <a:headEnd/>
            <a:tailEnd/>
          </a:ln>
        </p:spPr>
        <p:txBody>
          <a:bodyPr wrap="square" lIns="88900" tIns="88900" rIns="88900" bIns="88900" anchor="ctr"/>
          <a:lstStyle/>
          <a:p>
            <a:pPr algn="ctr"/>
            <a:endParaRPr lang="en-US" sz="1200" dirty="0">
              <a:latin typeface="+mj-lt"/>
            </a:endParaRPr>
          </a:p>
        </p:txBody>
      </p:sp>
      <p:sp>
        <p:nvSpPr>
          <p:cNvPr id="16" name="Rectangle 15">
            <a:extLst>
              <a:ext uri="{FF2B5EF4-FFF2-40B4-BE49-F238E27FC236}">
                <a16:creationId xmlns:a16="http://schemas.microsoft.com/office/drawing/2014/main" id="{B75ECA9E-4F81-4135-B655-D0920C3294AC}"/>
              </a:ext>
            </a:extLst>
          </p:cNvPr>
          <p:cNvSpPr/>
          <p:nvPr/>
        </p:nvSpPr>
        <p:spPr bwMode="gray">
          <a:xfrm>
            <a:off x="488936" y="816658"/>
            <a:ext cx="1969404" cy="1944022"/>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latin typeface="+mj-lt"/>
                <a:cs typeface="Calibri" panose="020F0502020204030204" pitchFamily="34" charset="0"/>
              </a:rPr>
              <a:t>Background</a:t>
            </a:r>
          </a:p>
        </p:txBody>
      </p:sp>
      <p:graphicFrame>
        <p:nvGraphicFramePr>
          <p:cNvPr id="10" name="Chart 9">
            <a:extLst>
              <a:ext uri="{FF2B5EF4-FFF2-40B4-BE49-F238E27FC236}">
                <a16:creationId xmlns:a16="http://schemas.microsoft.com/office/drawing/2014/main" id="{3A273807-F534-48B3-B951-9F590E680728}"/>
              </a:ext>
            </a:extLst>
          </p:cNvPr>
          <p:cNvGraphicFramePr/>
          <p:nvPr>
            <p:extLst>
              <p:ext uri="{D42A27DB-BD31-4B8C-83A1-F6EECF244321}">
                <p14:modId xmlns:p14="http://schemas.microsoft.com/office/powerpoint/2010/main" val="3898530196"/>
              </p:ext>
            </p:extLst>
          </p:nvPr>
        </p:nvGraphicFramePr>
        <p:xfrm>
          <a:off x="488936" y="3422286"/>
          <a:ext cx="4170150" cy="1784203"/>
        </p:xfrm>
        <a:graphic>
          <a:graphicData uri="http://schemas.openxmlformats.org/drawingml/2006/chart">
            <c:chart xmlns:c="http://schemas.openxmlformats.org/drawingml/2006/chart" xmlns:r="http://schemas.openxmlformats.org/officeDocument/2006/relationships" r:id="rId2"/>
          </a:graphicData>
        </a:graphic>
      </p:graphicFrame>
      <p:sp>
        <p:nvSpPr>
          <p:cNvPr id="23" name="TextBox 22">
            <a:extLst>
              <a:ext uri="{FF2B5EF4-FFF2-40B4-BE49-F238E27FC236}">
                <a16:creationId xmlns:a16="http://schemas.microsoft.com/office/drawing/2014/main" id="{522684D3-2A88-494A-8864-F654E5D9D655}"/>
              </a:ext>
            </a:extLst>
          </p:cNvPr>
          <p:cNvSpPr txBox="1"/>
          <p:nvPr/>
        </p:nvSpPr>
        <p:spPr>
          <a:xfrm rot="1510216">
            <a:off x="2162366" y="3661382"/>
            <a:ext cx="1147656" cy="369332"/>
          </a:xfrm>
          <a:prstGeom prst="rect">
            <a:avLst/>
          </a:prstGeom>
          <a:noFill/>
        </p:spPr>
        <p:txBody>
          <a:bodyPr wrap="square" lIns="0" tIns="0" rIns="0" bIns="0" rtlCol="0">
            <a:spAutoFit/>
          </a:bodyPr>
          <a:lstStyle/>
          <a:p>
            <a:pPr algn="ctr">
              <a:spcBef>
                <a:spcPts val="600"/>
              </a:spcBef>
              <a:buSzPct val="100000"/>
            </a:pPr>
            <a:r>
              <a:rPr lang="en-US" sz="1200" dirty="0">
                <a:latin typeface="+mj-lt"/>
                <a:cs typeface="Calibri" panose="020F0502020204030204" pitchFamily="34" charset="0"/>
              </a:rPr>
              <a:t>39 % of Project Cost</a:t>
            </a:r>
          </a:p>
        </p:txBody>
      </p:sp>
      <p:sp>
        <p:nvSpPr>
          <p:cNvPr id="26" name="Rectangle 25">
            <a:extLst>
              <a:ext uri="{FF2B5EF4-FFF2-40B4-BE49-F238E27FC236}">
                <a16:creationId xmlns:a16="http://schemas.microsoft.com/office/drawing/2014/main" id="{A5C9253B-12A4-47B2-A288-132C4D84B227}"/>
              </a:ext>
            </a:extLst>
          </p:cNvPr>
          <p:cNvSpPr/>
          <p:nvPr/>
        </p:nvSpPr>
        <p:spPr bwMode="gray">
          <a:xfrm>
            <a:off x="488936" y="3036614"/>
            <a:ext cx="4170150" cy="339382"/>
          </a:xfrm>
          <a:prstGeom prst="rect">
            <a:avLst/>
          </a:prstGeom>
          <a:solidFill>
            <a:srgbClr val="012169">
              <a:alpha val="8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latin typeface="+mj-lt"/>
                <a:cs typeface="Calibri" panose="020F0502020204030204" pitchFamily="34" charset="0"/>
              </a:rPr>
              <a:t>Burdwan and Birbhum districts</a:t>
            </a:r>
          </a:p>
        </p:txBody>
      </p:sp>
      <p:sp>
        <p:nvSpPr>
          <p:cNvPr id="30" name="TextBox 29">
            <a:extLst>
              <a:ext uri="{FF2B5EF4-FFF2-40B4-BE49-F238E27FC236}">
                <a16:creationId xmlns:a16="http://schemas.microsoft.com/office/drawing/2014/main" id="{D3593D02-521D-408E-B3A2-FCC49D4BD378}"/>
              </a:ext>
            </a:extLst>
          </p:cNvPr>
          <p:cNvSpPr txBox="1"/>
          <p:nvPr/>
        </p:nvSpPr>
        <p:spPr>
          <a:xfrm>
            <a:off x="488936" y="5252779"/>
            <a:ext cx="4170150" cy="1070678"/>
          </a:xfrm>
          <a:prstGeom prst="rect">
            <a:avLst/>
          </a:prstGeom>
          <a:solidFill>
            <a:srgbClr val="012169">
              <a:alpha val="5000"/>
            </a:srgbClr>
          </a:solidFill>
        </p:spPr>
        <p:txBody>
          <a:bodyPr wrap="square" lIns="91440" tIns="91440" rIns="91440" bIns="91440" rtlCol="0">
            <a:spAutoFit/>
          </a:bodyPr>
          <a:lstStyle/>
          <a:p>
            <a:pPr marL="285750" indent="-285750">
              <a:spcBef>
                <a:spcPts val="600"/>
              </a:spcBef>
              <a:buSzPct val="100000"/>
              <a:buFont typeface="Wingdings" panose="05000000000000000000" pitchFamily="2" charset="2"/>
              <a:buChar char="v"/>
            </a:pPr>
            <a:r>
              <a:rPr lang="en-US" sz="1400" b="1" dirty="0">
                <a:solidFill>
                  <a:srgbClr val="313131"/>
                </a:solidFill>
                <a:latin typeface="+mj-lt"/>
                <a:cs typeface="Calibri" panose="020F0502020204030204" pitchFamily="34" charset="0"/>
              </a:rPr>
              <a:t>Physical Progress &gt; </a:t>
            </a:r>
            <a:endParaRPr lang="en-US" sz="400" dirty="0">
              <a:solidFill>
                <a:srgbClr val="313131"/>
              </a:solidFill>
              <a:latin typeface="+mj-lt"/>
              <a:cs typeface="Calibri" panose="020F0502020204030204" pitchFamily="34" charset="0"/>
            </a:endParaRPr>
          </a:p>
          <a:p>
            <a:pPr marL="285750" indent="-285750">
              <a:lnSpc>
                <a:spcPct val="150000"/>
              </a:lnSpc>
              <a:spcBef>
                <a:spcPts val="600"/>
              </a:spcBef>
              <a:buSzPct val="100000"/>
              <a:buFont typeface="Wingdings" panose="05000000000000000000" pitchFamily="2" charset="2"/>
              <a:buChar char="ü"/>
            </a:pPr>
            <a:r>
              <a:rPr lang="en-US" sz="1200" dirty="0">
                <a:solidFill>
                  <a:srgbClr val="313131"/>
                </a:solidFill>
                <a:latin typeface="+mj-lt"/>
                <a:cs typeface="Calibri" panose="020F0502020204030204" pitchFamily="34" charset="0"/>
              </a:rPr>
              <a:t>3 nos LOA placed on 14.03.2018. </a:t>
            </a:r>
          </a:p>
          <a:p>
            <a:pPr marL="285750" indent="-285750">
              <a:lnSpc>
                <a:spcPct val="150000"/>
              </a:lnSpc>
              <a:spcBef>
                <a:spcPts val="600"/>
              </a:spcBef>
              <a:buSzPct val="100000"/>
              <a:buFont typeface="Wingdings" panose="05000000000000000000" pitchFamily="2" charset="2"/>
              <a:buChar char="ü"/>
            </a:pPr>
            <a:r>
              <a:rPr lang="en-US" sz="1200" dirty="0">
                <a:solidFill>
                  <a:srgbClr val="313131"/>
                </a:solidFill>
                <a:latin typeface="+mj-lt"/>
                <a:cs typeface="Calibri" panose="020F0502020204030204" pitchFamily="34" charset="0"/>
              </a:rPr>
              <a:t>Execution works are in progress.</a:t>
            </a:r>
          </a:p>
        </p:txBody>
      </p:sp>
      <p:graphicFrame>
        <p:nvGraphicFramePr>
          <p:cNvPr id="14" name="Chart 13">
            <a:extLst>
              <a:ext uri="{FF2B5EF4-FFF2-40B4-BE49-F238E27FC236}">
                <a16:creationId xmlns:a16="http://schemas.microsoft.com/office/drawing/2014/main" id="{0011BA75-792B-42FF-A4DF-ACD442F1208A}"/>
              </a:ext>
            </a:extLst>
          </p:cNvPr>
          <p:cNvGraphicFramePr/>
          <p:nvPr>
            <p:extLst>
              <p:ext uri="{D42A27DB-BD31-4B8C-83A1-F6EECF244321}">
                <p14:modId xmlns:p14="http://schemas.microsoft.com/office/powerpoint/2010/main" val="2396504751"/>
              </p:ext>
            </p:extLst>
          </p:nvPr>
        </p:nvGraphicFramePr>
        <p:xfrm>
          <a:off x="4778446" y="3407006"/>
          <a:ext cx="6899189" cy="1784203"/>
        </p:xfrm>
        <a:graphic>
          <a:graphicData uri="http://schemas.openxmlformats.org/drawingml/2006/chart">
            <c:chart xmlns:c="http://schemas.openxmlformats.org/drawingml/2006/chart" xmlns:r="http://schemas.openxmlformats.org/officeDocument/2006/relationships" r:id="rId3"/>
          </a:graphicData>
        </a:graphic>
      </p:graphicFrame>
      <p:sp>
        <p:nvSpPr>
          <p:cNvPr id="17" name="Rectangle 16">
            <a:extLst>
              <a:ext uri="{FF2B5EF4-FFF2-40B4-BE49-F238E27FC236}">
                <a16:creationId xmlns:a16="http://schemas.microsoft.com/office/drawing/2014/main" id="{FFC1BAB6-4A62-42BD-AACD-F41D4988B477}"/>
              </a:ext>
            </a:extLst>
          </p:cNvPr>
          <p:cNvSpPr/>
          <p:nvPr/>
        </p:nvSpPr>
        <p:spPr bwMode="gray">
          <a:xfrm>
            <a:off x="4778446" y="3023158"/>
            <a:ext cx="6899189" cy="339382"/>
          </a:xfrm>
          <a:prstGeom prst="rect">
            <a:avLst/>
          </a:prstGeom>
          <a:solidFill>
            <a:srgbClr val="005587">
              <a:alpha val="8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latin typeface="+mj-lt"/>
                <a:cs typeface="Calibri" panose="020F0502020204030204" pitchFamily="34" charset="0"/>
              </a:rPr>
              <a:t>Burdwan and Birbhum districts</a:t>
            </a:r>
          </a:p>
        </p:txBody>
      </p:sp>
      <p:sp>
        <p:nvSpPr>
          <p:cNvPr id="18" name="TextBox 17">
            <a:extLst>
              <a:ext uri="{FF2B5EF4-FFF2-40B4-BE49-F238E27FC236}">
                <a16:creationId xmlns:a16="http://schemas.microsoft.com/office/drawing/2014/main" id="{62A03A0D-0E04-40E8-B040-87DA6F045B5A}"/>
              </a:ext>
            </a:extLst>
          </p:cNvPr>
          <p:cNvSpPr txBox="1"/>
          <p:nvPr/>
        </p:nvSpPr>
        <p:spPr>
          <a:xfrm>
            <a:off x="4778444" y="5252779"/>
            <a:ext cx="6899189" cy="1184940"/>
          </a:xfrm>
          <a:prstGeom prst="rect">
            <a:avLst/>
          </a:prstGeom>
          <a:solidFill>
            <a:srgbClr val="62B5E5">
              <a:alpha val="5000"/>
            </a:srgbClr>
          </a:solidFill>
        </p:spPr>
        <p:txBody>
          <a:bodyPr wrap="square" lIns="91440" tIns="91440" rIns="91440" bIns="91440" rtlCol="0">
            <a:spAutoFit/>
          </a:bodyPr>
          <a:lstStyle/>
          <a:p>
            <a:pPr marL="285750" indent="-285750">
              <a:spcBef>
                <a:spcPts val="600"/>
              </a:spcBef>
              <a:buSzPct val="100000"/>
              <a:buFont typeface="Wingdings" panose="05000000000000000000" pitchFamily="2" charset="2"/>
              <a:buChar char="v"/>
            </a:pPr>
            <a:r>
              <a:rPr lang="en-US" sz="1400" b="1" dirty="0">
                <a:solidFill>
                  <a:srgbClr val="313131"/>
                </a:solidFill>
                <a:latin typeface="+mj-lt"/>
                <a:cs typeface="Calibri" panose="020F0502020204030204" pitchFamily="34" charset="0"/>
              </a:rPr>
              <a:t>Physical Progress &gt; </a:t>
            </a:r>
            <a:endParaRPr lang="en-US" sz="400" dirty="0">
              <a:solidFill>
                <a:srgbClr val="313131"/>
              </a:solidFill>
              <a:latin typeface="+mj-lt"/>
              <a:cs typeface="Calibri" panose="020F0502020204030204" pitchFamily="34" charset="0"/>
            </a:endParaRPr>
          </a:p>
          <a:p>
            <a:pPr marL="285750" indent="-285750">
              <a:spcBef>
                <a:spcPts val="600"/>
              </a:spcBef>
              <a:buSzPct val="100000"/>
              <a:buFont typeface="Wingdings" panose="05000000000000000000" pitchFamily="2" charset="2"/>
              <a:buChar char="ü"/>
            </a:pPr>
            <a:r>
              <a:rPr lang="en-US" sz="1200" dirty="0">
                <a:solidFill>
                  <a:srgbClr val="313131"/>
                </a:solidFill>
                <a:latin typeface="+mj-lt"/>
                <a:cs typeface="Calibri" panose="020F0502020204030204" pitchFamily="34" charset="0"/>
              </a:rPr>
              <a:t>BOQ has been finalized for 15 nos packages.</a:t>
            </a:r>
          </a:p>
          <a:p>
            <a:pPr marL="285750" indent="-285750">
              <a:spcBef>
                <a:spcPts val="600"/>
              </a:spcBef>
              <a:buSzPct val="100000"/>
              <a:buFont typeface="Wingdings" panose="05000000000000000000" pitchFamily="2" charset="2"/>
              <a:buChar char="ü"/>
            </a:pPr>
            <a:r>
              <a:rPr lang="en-US" sz="1200" dirty="0">
                <a:solidFill>
                  <a:srgbClr val="313131"/>
                </a:solidFill>
                <a:latin typeface="+mj-lt"/>
                <a:cs typeface="Calibri" panose="020F0502020204030204" pitchFamily="34" charset="0"/>
              </a:rPr>
              <a:t>Drawing &amp; GTP approval and Procurement of materials are under progress. </a:t>
            </a:r>
          </a:p>
          <a:p>
            <a:pPr marL="285750" indent="-285750">
              <a:spcBef>
                <a:spcPts val="600"/>
              </a:spcBef>
              <a:buSzPct val="100000"/>
              <a:buFont typeface="Wingdings" panose="05000000000000000000" pitchFamily="2" charset="2"/>
              <a:buChar char="ü"/>
            </a:pPr>
            <a:r>
              <a:rPr lang="en-US" sz="1200" dirty="0">
                <a:solidFill>
                  <a:srgbClr val="313131"/>
                </a:solidFill>
                <a:latin typeface="+mj-lt"/>
                <a:cs typeface="Calibri" panose="020F0502020204030204" pitchFamily="34" charset="0"/>
              </a:rPr>
              <a:t>Execution of works are in progress. </a:t>
            </a:r>
          </a:p>
        </p:txBody>
      </p:sp>
      <p:cxnSp>
        <p:nvCxnSpPr>
          <p:cNvPr id="3" name="Straight Arrow Connector 2">
            <a:extLst>
              <a:ext uri="{FF2B5EF4-FFF2-40B4-BE49-F238E27FC236}">
                <a16:creationId xmlns:a16="http://schemas.microsoft.com/office/drawing/2014/main" id="{4BFC33EE-D69A-4850-A65F-765D1FE35750}"/>
              </a:ext>
            </a:extLst>
          </p:cNvPr>
          <p:cNvCxnSpPr/>
          <p:nvPr/>
        </p:nvCxnSpPr>
        <p:spPr>
          <a:xfrm>
            <a:off x="7052382" y="3481375"/>
            <a:ext cx="2351315" cy="72934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2A9840A-1AC9-478B-B726-FBB9408EA881}"/>
              </a:ext>
            </a:extLst>
          </p:cNvPr>
          <p:cNvSpPr txBox="1"/>
          <p:nvPr/>
        </p:nvSpPr>
        <p:spPr>
          <a:xfrm rot="924686">
            <a:off x="7732702" y="3668118"/>
            <a:ext cx="1147656" cy="369332"/>
          </a:xfrm>
          <a:prstGeom prst="rect">
            <a:avLst/>
          </a:prstGeom>
          <a:noFill/>
        </p:spPr>
        <p:txBody>
          <a:bodyPr wrap="square" lIns="0" tIns="0" rIns="0" bIns="0" rtlCol="0">
            <a:spAutoFit/>
          </a:bodyPr>
          <a:lstStyle/>
          <a:p>
            <a:pPr algn="ctr">
              <a:spcBef>
                <a:spcPts val="600"/>
              </a:spcBef>
              <a:buSzPct val="100000"/>
            </a:pPr>
            <a:r>
              <a:rPr lang="en-US" sz="1200" dirty="0">
                <a:latin typeface="+mj-lt"/>
                <a:cs typeface="Calibri" panose="020F0502020204030204" pitchFamily="34" charset="0"/>
              </a:rPr>
              <a:t>31 % of Project Cost</a:t>
            </a:r>
          </a:p>
        </p:txBody>
      </p:sp>
    </p:spTree>
    <p:extLst>
      <p:ext uri="{BB962C8B-B14F-4D97-AF65-F5344CB8AC3E}">
        <p14:creationId xmlns:p14="http://schemas.microsoft.com/office/powerpoint/2010/main" val="25840961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7704"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5" y="1693206"/>
            <a:ext cx="9630230" cy="307777"/>
          </a:xfrm>
        </p:spPr>
        <p:txBody>
          <a:bodyPr anchor="ctr" anchorCtr="0">
            <a:spAutoFit/>
          </a:bodyPr>
          <a:lstStyle/>
          <a:p>
            <a:r>
              <a:rPr lang="en-US" sz="2000" i="0" dirty="0">
                <a:solidFill>
                  <a:schemeClr val="tx1"/>
                </a:solidFill>
              </a:rPr>
              <a:t>UG CABLING WORK UNDER GREEN CITY MISSION </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631371" y="1590786"/>
            <a:ext cx="649514" cy="501149"/>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lang="en-IN" sz="1400" b="1" kern="0" dirty="0">
                <a:solidFill>
                  <a:prstClr val="white"/>
                </a:solidFill>
              </a:rPr>
              <a:t>3D</a:t>
            </a:r>
            <a:endParaRPr kumimoji="0" lang="en-IN" sz="14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a:cxnSpLocks/>
          </p:cNvCxnSpPr>
          <p:nvPr/>
        </p:nvCxnSpPr>
        <p:spPr>
          <a:xfrm>
            <a:off x="4615544" y="3499011"/>
            <a:ext cx="0" cy="15955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526">
            <a:extLst>
              <a:ext uri="{FF2B5EF4-FFF2-40B4-BE49-F238E27FC236}">
                <a16:creationId xmlns:a16="http://schemas.microsoft.com/office/drawing/2014/main" id="{5540E149-1F19-4064-9714-B21FD0705489}"/>
              </a:ext>
            </a:extLst>
          </p:cNvPr>
          <p:cNvGrpSpPr>
            <a:grpSpLocks noChangeAspect="1"/>
          </p:cNvGrpSpPr>
          <p:nvPr/>
        </p:nvGrpSpPr>
        <p:grpSpPr bwMode="auto">
          <a:xfrm>
            <a:off x="1104225" y="3008313"/>
            <a:ext cx="2345264" cy="2345264"/>
            <a:chOff x="3464" y="1974"/>
            <a:chExt cx="340" cy="340"/>
          </a:xfrm>
          <a:solidFill>
            <a:srgbClr val="9CAC00"/>
          </a:solidFill>
        </p:grpSpPr>
        <p:sp>
          <p:nvSpPr>
            <p:cNvPr id="15" name="Freeform 527">
              <a:extLst>
                <a:ext uri="{FF2B5EF4-FFF2-40B4-BE49-F238E27FC236}">
                  <a16:creationId xmlns:a16="http://schemas.microsoft.com/office/drawing/2014/main" id="{2261B12D-A407-4719-9125-F49F83DDB571}"/>
                </a:ext>
              </a:extLst>
            </p:cNvPr>
            <p:cNvSpPr>
              <a:spLocks noEditPoints="1"/>
            </p:cNvSpPr>
            <p:nvPr/>
          </p:nvSpPr>
          <p:spPr bwMode="auto">
            <a:xfrm>
              <a:off x="3464" y="197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528">
              <a:extLst>
                <a:ext uri="{FF2B5EF4-FFF2-40B4-BE49-F238E27FC236}">
                  <a16:creationId xmlns:a16="http://schemas.microsoft.com/office/drawing/2014/main" id="{4FB09AB9-A79B-434D-9DE7-187BE7279860}"/>
                </a:ext>
              </a:extLst>
            </p:cNvPr>
            <p:cNvSpPr>
              <a:spLocks noEditPoints="1"/>
            </p:cNvSpPr>
            <p:nvPr/>
          </p:nvSpPr>
          <p:spPr bwMode="auto">
            <a:xfrm>
              <a:off x="3541" y="2037"/>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29064306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alpha val="10000"/>
          </a:schemeClr>
        </a:solidFill>
        <a:effectLst/>
      </p:bgPr>
    </p:bg>
    <p:spTree>
      <p:nvGrpSpPr>
        <p:cNvPr id="1" name=""/>
        <p:cNvGrpSpPr/>
        <p:nvPr/>
      </p:nvGrpSpPr>
      <p:grpSpPr>
        <a:xfrm>
          <a:off x="0" y="0"/>
          <a:ext cx="0" cy="0"/>
          <a:chOff x="0" y="0"/>
          <a:chExt cx="0" cy="0"/>
        </a:xfrm>
      </p:grpSpPr>
      <p:cxnSp>
        <p:nvCxnSpPr>
          <p:cNvPr id="35" name="Straight Arrow Connector 34">
            <a:extLst>
              <a:ext uri="{FF2B5EF4-FFF2-40B4-BE49-F238E27FC236}">
                <a16:creationId xmlns:a16="http://schemas.microsoft.com/office/drawing/2014/main" id="{43E4409E-7F47-471D-A8FC-E6FAE45D5ACE}"/>
              </a:ext>
            </a:extLst>
          </p:cNvPr>
          <p:cNvCxnSpPr>
            <a:cxnSpLocks/>
          </p:cNvCxnSpPr>
          <p:nvPr/>
        </p:nvCxnSpPr>
        <p:spPr>
          <a:xfrm>
            <a:off x="1848905" y="2906541"/>
            <a:ext cx="1471238" cy="15382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193988"/>
            <a:ext cx="11188700" cy="368299"/>
          </a:xfrm>
        </p:spPr>
        <p:txBody>
          <a:bodyPr vert="horz"/>
          <a:lstStyle/>
          <a:p>
            <a:pPr algn="just"/>
            <a:r>
              <a:rPr lang="en-US" sz="1800" i="0" dirty="0">
                <a:solidFill>
                  <a:schemeClr val="tx1"/>
                </a:solidFill>
                <a:latin typeface="+mj-lt"/>
              </a:rPr>
              <a:t>Progress of Green City Mission Scheme as on 31.11.2020 </a:t>
            </a:r>
          </a:p>
        </p:txBody>
      </p:sp>
      <p:sp>
        <p:nvSpPr>
          <p:cNvPr id="20" name="TextBox 19">
            <a:extLst>
              <a:ext uri="{FF2B5EF4-FFF2-40B4-BE49-F238E27FC236}">
                <a16:creationId xmlns:a16="http://schemas.microsoft.com/office/drawing/2014/main" id="{B5649F8E-F122-4FAE-814F-DF7010DD21DF}"/>
              </a:ext>
            </a:extLst>
          </p:cNvPr>
          <p:cNvSpPr txBox="1"/>
          <p:nvPr/>
        </p:nvSpPr>
        <p:spPr>
          <a:xfrm>
            <a:off x="10223528" y="5663957"/>
            <a:ext cx="1164771" cy="169277"/>
          </a:xfrm>
          <a:prstGeom prst="rect">
            <a:avLst/>
          </a:prstGeom>
          <a:noFill/>
        </p:spPr>
        <p:txBody>
          <a:bodyPr wrap="square" lIns="0" tIns="0" rIns="0" bIns="0" rtlCol="0">
            <a:spAutoFit/>
          </a:bodyPr>
          <a:lstStyle/>
          <a:p>
            <a:pPr algn="ctr">
              <a:spcBef>
                <a:spcPts val="600"/>
              </a:spcBef>
              <a:buSzPct val="100000"/>
            </a:pPr>
            <a:r>
              <a:rPr lang="en-US" sz="1100" b="1" dirty="0">
                <a:solidFill>
                  <a:schemeClr val="bg1"/>
                </a:solidFill>
                <a:latin typeface="+mj-lt"/>
                <a:cs typeface="Calibri" panose="020F0502020204030204" pitchFamily="34" charset="0"/>
              </a:rPr>
              <a:t>GOA ( Grant)</a:t>
            </a:r>
          </a:p>
        </p:txBody>
      </p:sp>
      <p:sp>
        <p:nvSpPr>
          <p:cNvPr id="47" name="TextBox 46">
            <a:extLst>
              <a:ext uri="{FF2B5EF4-FFF2-40B4-BE49-F238E27FC236}">
                <a16:creationId xmlns:a16="http://schemas.microsoft.com/office/drawing/2014/main" id="{61A0BC5C-2F3A-41B7-92FD-DD59085988D6}"/>
              </a:ext>
            </a:extLst>
          </p:cNvPr>
          <p:cNvSpPr txBox="1"/>
          <p:nvPr/>
        </p:nvSpPr>
        <p:spPr>
          <a:xfrm>
            <a:off x="8939014" y="4692765"/>
            <a:ext cx="1284514" cy="169277"/>
          </a:xfrm>
          <a:prstGeom prst="rect">
            <a:avLst/>
          </a:prstGeom>
          <a:noFill/>
        </p:spPr>
        <p:txBody>
          <a:bodyPr wrap="square" lIns="0" tIns="0" rIns="0" bIns="0" rtlCol="0">
            <a:spAutoFit/>
          </a:bodyPr>
          <a:lstStyle/>
          <a:p>
            <a:pPr algn="ctr">
              <a:spcBef>
                <a:spcPts val="600"/>
              </a:spcBef>
              <a:buSzPct val="100000"/>
            </a:pPr>
            <a:r>
              <a:rPr lang="en-US" sz="1100" b="1" dirty="0">
                <a:solidFill>
                  <a:schemeClr val="bg1"/>
                </a:solidFill>
                <a:latin typeface="+mj-lt"/>
                <a:cs typeface="Calibri" panose="020F0502020204030204" pitchFamily="34" charset="0"/>
              </a:rPr>
              <a:t>GOWB ( Grant)</a:t>
            </a:r>
          </a:p>
        </p:txBody>
      </p:sp>
      <p:sp>
        <p:nvSpPr>
          <p:cNvPr id="9" name="TextBox 8">
            <a:extLst>
              <a:ext uri="{FF2B5EF4-FFF2-40B4-BE49-F238E27FC236}">
                <a16:creationId xmlns:a16="http://schemas.microsoft.com/office/drawing/2014/main" id="{0AD044FD-E808-42E4-AAAB-B827AA8A5FFE}"/>
              </a:ext>
            </a:extLst>
          </p:cNvPr>
          <p:cNvSpPr txBox="1"/>
          <p:nvPr/>
        </p:nvSpPr>
        <p:spPr>
          <a:xfrm>
            <a:off x="3086437" y="6624157"/>
            <a:ext cx="2738622" cy="169277"/>
          </a:xfrm>
          <a:prstGeom prst="rect">
            <a:avLst/>
          </a:prstGeom>
          <a:noFill/>
        </p:spPr>
        <p:txBody>
          <a:bodyPr wrap="square" lIns="0" tIns="0" rIns="0" bIns="0" rtlCol="0">
            <a:spAutoFit/>
          </a:bodyPr>
          <a:lstStyle/>
          <a:p>
            <a:pPr>
              <a:spcBef>
                <a:spcPts val="600"/>
              </a:spcBef>
              <a:buSzPct val="100000"/>
            </a:pPr>
            <a:r>
              <a:rPr lang="en-US" sz="1100" b="1" dirty="0">
                <a:solidFill>
                  <a:srgbClr val="313131"/>
                </a:solidFill>
                <a:latin typeface="+mj-lt"/>
                <a:cs typeface="Calibri" panose="020F0502020204030204" pitchFamily="34" charset="0"/>
              </a:rPr>
              <a:t>Source </a:t>
            </a:r>
            <a:r>
              <a:rPr lang="en-US" sz="1100" dirty="0">
                <a:solidFill>
                  <a:srgbClr val="313131"/>
                </a:solidFill>
                <a:latin typeface="+mj-lt"/>
                <a:cs typeface="Calibri" panose="020F0502020204030204" pitchFamily="34" charset="0"/>
              </a:rPr>
              <a:t>: WBSEDCL Website </a:t>
            </a:r>
          </a:p>
        </p:txBody>
      </p:sp>
      <p:sp>
        <p:nvSpPr>
          <p:cNvPr id="13" name="Rectangle 19">
            <a:extLst>
              <a:ext uri="{FF2B5EF4-FFF2-40B4-BE49-F238E27FC236}">
                <a16:creationId xmlns:a16="http://schemas.microsoft.com/office/drawing/2014/main" id="{6A4087E2-3A4E-46B0-BB1B-BD31352026FB}"/>
              </a:ext>
            </a:extLst>
          </p:cNvPr>
          <p:cNvSpPr>
            <a:spLocks noChangeArrowheads="1"/>
          </p:cNvSpPr>
          <p:nvPr/>
        </p:nvSpPr>
        <p:spPr bwMode="auto">
          <a:xfrm>
            <a:off x="3714528" y="762891"/>
            <a:ext cx="7878311" cy="1189722"/>
          </a:xfrm>
          <a:prstGeom prst="rect">
            <a:avLst/>
          </a:prstGeom>
          <a:noFill/>
          <a:ln w="19050" algn="ctr">
            <a:solidFill>
              <a:schemeClr val="accent1"/>
            </a:solidFill>
            <a:miter lim="800000"/>
            <a:headEnd/>
            <a:tailEnd/>
          </a:ln>
        </p:spPr>
        <p:txBody>
          <a:bodyPr wrap="square" lIns="88900" tIns="88900" rIns="88900" bIns="88900" anchor="ctr"/>
          <a:lstStyle/>
          <a:p>
            <a:pPr marL="285750" indent="-285750" algn="just">
              <a:spcBef>
                <a:spcPts val="600"/>
              </a:spcBef>
              <a:buFont typeface="Wingdings" panose="05000000000000000000" pitchFamily="2" charset="2"/>
              <a:buChar char="§"/>
              <a:defRPr/>
            </a:pPr>
            <a:r>
              <a:rPr lang="en-US" sz="1200" dirty="0">
                <a:latin typeface="+mj-lt"/>
                <a:ea typeface="ＭＳ Ｐゴシック" pitchFamily="50" charset="-128"/>
                <a:cs typeface="Calibri" panose="020F0502020204030204" pitchFamily="34" charset="0"/>
              </a:rPr>
              <a:t>Green City Mission Scheme was approved by Government of West Bengal for Underground Cabling Work. </a:t>
            </a:r>
          </a:p>
          <a:p>
            <a:pPr marL="285750" indent="-285750" algn="just">
              <a:spcBef>
                <a:spcPts val="600"/>
              </a:spcBef>
              <a:buFont typeface="Wingdings" panose="05000000000000000000" pitchFamily="2" charset="2"/>
              <a:buChar char="§"/>
              <a:defRPr/>
            </a:pPr>
            <a:r>
              <a:rPr lang="en-US" sz="1200" dirty="0">
                <a:latin typeface="+mj-lt"/>
                <a:ea typeface="ＭＳ Ｐゴシック" pitchFamily="50" charset="-128"/>
                <a:cs typeface="Calibri" panose="020F0502020204030204" pitchFamily="34" charset="0"/>
              </a:rPr>
              <a:t>Replacement of existing overhead distribution lines with underground cables in Coochbehar and Nabadwip Towns will be done under Green City Mission project.</a:t>
            </a:r>
            <a:endParaRPr lang="en-US" sz="1200" b="0" i="0" u="none" strike="noStrike" baseline="0" dirty="0">
              <a:solidFill>
                <a:srgbClr val="000000"/>
              </a:solidFill>
              <a:latin typeface="+mj-lt"/>
              <a:cs typeface="Calibri" panose="020F0502020204030204" pitchFamily="34" charset="0"/>
            </a:endParaRPr>
          </a:p>
        </p:txBody>
      </p:sp>
      <p:sp>
        <p:nvSpPr>
          <p:cNvPr id="15" name="AutoShape 12">
            <a:extLst>
              <a:ext uri="{FF2B5EF4-FFF2-40B4-BE49-F238E27FC236}">
                <a16:creationId xmlns:a16="http://schemas.microsoft.com/office/drawing/2014/main" id="{D25A157A-40C0-4653-82F8-8E24BE766158}"/>
              </a:ext>
            </a:extLst>
          </p:cNvPr>
          <p:cNvSpPr>
            <a:spLocks noChangeArrowheads="1"/>
          </p:cNvSpPr>
          <p:nvPr/>
        </p:nvSpPr>
        <p:spPr bwMode="auto">
          <a:xfrm>
            <a:off x="2582414" y="816658"/>
            <a:ext cx="1008046" cy="1118043"/>
          </a:xfrm>
          <a:prstGeom prst="homePlate">
            <a:avLst>
              <a:gd name="adj" fmla="val 100000"/>
            </a:avLst>
          </a:prstGeom>
          <a:solidFill>
            <a:schemeClr val="bg2">
              <a:lumMod val="75000"/>
            </a:schemeClr>
          </a:solidFill>
          <a:ln w="6350" algn="ctr">
            <a:noFill/>
            <a:miter lim="800000"/>
            <a:headEnd/>
            <a:tailEnd/>
          </a:ln>
        </p:spPr>
        <p:txBody>
          <a:bodyPr wrap="square" lIns="88900" tIns="88900" rIns="88900" bIns="88900" anchor="ctr"/>
          <a:lstStyle/>
          <a:p>
            <a:pPr algn="ctr"/>
            <a:endParaRPr lang="en-US" sz="1200" dirty="0">
              <a:latin typeface="+mj-lt"/>
            </a:endParaRPr>
          </a:p>
        </p:txBody>
      </p:sp>
      <p:sp>
        <p:nvSpPr>
          <p:cNvPr id="16" name="Rectangle 15">
            <a:extLst>
              <a:ext uri="{FF2B5EF4-FFF2-40B4-BE49-F238E27FC236}">
                <a16:creationId xmlns:a16="http://schemas.microsoft.com/office/drawing/2014/main" id="{B75ECA9E-4F81-4135-B655-D0920C3294AC}"/>
              </a:ext>
            </a:extLst>
          </p:cNvPr>
          <p:cNvSpPr/>
          <p:nvPr/>
        </p:nvSpPr>
        <p:spPr bwMode="gray">
          <a:xfrm>
            <a:off x="488942" y="762891"/>
            <a:ext cx="1969404" cy="117181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latin typeface="+mj-lt"/>
                <a:cs typeface="Calibri" panose="020F0502020204030204" pitchFamily="34" charset="0"/>
              </a:rPr>
              <a:t>Background</a:t>
            </a:r>
          </a:p>
        </p:txBody>
      </p:sp>
      <p:graphicFrame>
        <p:nvGraphicFramePr>
          <p:cNvPr id="10" name="Chart 9">
            <a:extLst>
              <a:ext uri="{FF2B5EF4-FFF2-40B4-BE49-F238E27FC236}">
                <a16:creationId xmlns:a16="http://schemas.microsoft.com/office/drawing/2014/main" id="{3A273807-F534-48B3-B951-9F590E680728}"/>
              </a:ext>
            </a:extLst>
          </p:cNvPr>
          <p:cNvGraphicFramePr/>
          <p:nvPr>
            <p:extLst>
              <p:ext uri="{D42A27DB-BD31-4B8C-83A1-F6EECF244321}">
                <p14:modId xmlns:p14="http://schemas.microsoft.com/office/powerpoint/2010/main" val="2198648228"/>
              </p:ext>
            </p:extLst>
          </p:nvPr>
        </p:nvGraphicFramePr>
        <p:xfrm>
          <a:off x="514365" y="2621322"/>
          <a:ext cx="4144721" cy="1801196"/>
        </p:xfrm>
        <a:graphic>
          <a:graphicData uri="http://schemas.openxmlformats.org/drawingml/2006/chart">
            <c:chart xmlns:c="http://schemas.openxmlformats.org/drawingml/2006/chart" xmlns:r="http://schemas.openxmlformats.org/officeDocument/2006/relationships" r:id="rId2"/>
          </a:graphicData>
        </a:graphic>
      </p:graphicFrame>
      <p:sp>
        <p:nvSpPr>
          <p:cNvPr id="23" name="TextBox 22">
            <a:extLst>
              <a:ext uri="{FF2B5EF4-FFF2-40B4-BE49-F238E27FC236}">
                <a16:creationId xmlns:a16="http://schemas.microsoft.com/office/drawing/2014/main" id="{522684D3-2A88-494A-8864-F654E5D9D655}"/>
              </a:ext>
            </a:extLst>
          </p:cNvPr>
          <p:cNvSpPr txBox="1"/>
          <p:nvPr/>
        </p:nvSpPr>
        <p:spPr>
          <a:xfrm rot="256919">
            <a:off x="2000182" y="2768711"/>
            <a:ext cx="1147656" cy="369332"/>
          </a:xfrm>
          <a:prstGeom prst="rect">
            <a:avLst/>
          </a:prstGeom>
          <a:noFill/>
        </p:spPr>
        <p:txBody>
          <a:bodyPr wrap="square" lIns="0" tIns="0" rIns="0" bIns="0" rtlCol="0">
            <a:spAutoFit/>
          </a:bodyPr>
          <a:lstStyle/>
          <a:p>
            <a:pPr algn="ctr">
              <a:spcBef>
                <a:spcPts val="600"/>
              </a:spcBef>
              <a:buSzPct val="100000"/>
            </a:pPr>
            <a:r>
              <a:rPr lang="en-US" sz="1200" dirty="0">
                <a:latin typeface="+mj-lt"/>
                <a:cs typeface="Calibri" panose="020F0502020204030204" pitchFamily="34" charset="0"/>
              </a:rPr>
              <a:t>82 % of Project Cost</a:t>
            </a:r>
          </a:p>
        </p:txBody>
      </p:sp>
      <p:sp>
        <p:nvSpPr>
          <p:cNvPr id="26" name="Rectangle 25">
            <a:extLst>
              <a:ext uri="{FF2B5EF4-FFF2-40B4-BE49-F238E27FC236}">
                <a16:creationId xmlns:a16="http://schemas.microsoft.com/office/drawing/2014/main" id="{A5C9253B-12A4-47B2-A288-132C4D84B227}"/>
              </a:ext>
            </a:extLst>
          </p:cNvPr>
          <p:cNvSpPr/>
          <p:nvPr/>
        </p:nvSpPr>
        <p:spPr bwMode="gray">
          <a:xfrm>
            <a:off x="488936" y="2250930"/>
            <a:ext cx="4170150" cy="339382"/>
          </a:xfrm>
          <a:prstGeom prst="rect">
            <a:avLst/>
          </a:prstGeom>
          <a:solidFill>
            <a:srgbClr val="012169">
              <a:alpha val="8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latin typeface="+mj-lt"/>
                <a:cs typeface="Calibri" panose="020F0502020204030204" pitchFamily="34" charset="0"/>
              </a:rPr>
              <a:t>Coochbehar Town </a:t>
            </a:r>
          </a:p>
        </p:txBody>
      </p:sp>
      <p:sp>
        <p:nvSpPr>
          <p:cNvPr id="30" name="TextBox 29">
            <a:extLst>
              <a:ext uri="{FF2B5EF4-FFF2-40B4-BE49-F238E27FC236}">
                <a16:creationId xmlns:a16="http://schemas.microsoft.com/office/drawing/2014/main" id="{D3593D02-521D-408E-B3A2-FCC49D4BD378}"/>
              </a:ext>
            </a:extLst>
          </p:cNvPr>
          <p:cNvSpPr txBox="1"/>
          <p:nvPr/>
        </p:nvSpPr>
        <p:spPr>
          <a:xfrm>
            <a:off x="488936" y="4467095"/>
            <a:ext cx="4170150" cy="1735860"/>
          </a:xfrm>
          <a:prstGeom prst="rect">
            <a:avLst/>
          </a:prstGeom>
          <a:solidFill>
            <a:srgbClr val="012169">
              <a:alpha val="5000"/>
            </a:srgbClr>
          </a:solidFill>
        </p:spPr>
        <p:txBody>
          <a:bodyPr wrap="square" lIns="91440" tIns="27432" rIns="91440" bIns="0" rtlCol="0">
            <a:spAutoFit/>
          </a:bodyPr>
          <a:lstStyle/>
          <a:p>
            <a:pPr marL="285750" indent="-285750">
              <a:spcBef>
                <a:spcPts val="600"/>
              </a:spcBef>
              <a:buSzPct val="100000"/>
              <a:buFont typeface="Wingdings" panose="05000000000000000000" pitchFamily="2" charset="2"/>
              <a:buChar char="v"/>
            </a:pPr>
            <a:r>
              <a:rPr lang="en-US" sz="1400" b="1" dirty="0">
                <a:solidFill>
                  <a:srgbClr val="313131"/>
                </a:solidFill>
                <a:latin typeface="+mj-lt"/>
                <a:cs typeface="Calibri" panose="020F0502020204030204" pitchFamily="34" charset="0"/>
              </a:rPr>
              <a:t>Physical Progress &gt; </a:t>
            </a:r>
            <a:endParaRPr lang="en-US" sz="400" dirty="0">
              <a:solidFill>
                <a:srgbClr val="313131"/>
              </a:solidFill>
              <a:latin typeface="+mj-lt"/>
              <a:cs typeface="Calibri" panose="020F0502020204030204" pitchFamily="34" charset="0"/>
            </a:endParaRPr>
          </a:p>
          <a:p>
            <a:pPr marL="285750" indent="-285750">
              <a:spcBef>
                <a:spcPts val="600"/>
              </a:spcBef>
              <a:buSzPct val="100000"/>
              <a:buFont typeface="Wingdings" panose="05000000000000000000" pitchFamily="2" charset="2"/>
              <a:buChar char="ü"/>
            </a:pPr>
            <a:r>
              <a:rPr lang="en-US" sz="1200" dirty="0">
                <a:solidFill>
                  <a:srgbClr val="313131"/>
                </a:solidFill>
                <a:latin typeface="+mj-lt"/>
                <a:cs typeface="Calibri" panose="020F0502020204030204" pitchFamily="34" charset="0"/>
              </a:rPr>
              <a:t>LOA placed on 14.03.18. </a:t>
            </a:r>
          </a:p>
          <a:p>
            <a:pPr marL="285750" indent="-285750">
              <a:spcBef>
                <a:spcPts val="600"/>
              </a:spcBef>
              <a:buSzPct val="100000"/>
              <a:buFont typeface="Wingdings" panose="05000000000000000000" pitchFamily="2" charset="2"/>
              <a:buChar char="ü"/>
            </a:pPr>
            <a:r>
              <a:rPr lang="en-US" sz="1200" dirty="0">
                <a:solidFill>
                  <a:srgbClr val="313131"/>
                </a:solidFill>
                <a:latin typeface="+mj-lt"/>
                <a:cs typeface="Calibri" panose="020F0502020204030204" pitchFamily="34" charset="0"/>
              </a:rPr>
              <a:t>Survey is completed. </a:t>
            </a:r>
          </a:p>
          <a:p>
            <a:pPr marL="285750" indent="-285750">
              <a:spcBef>
                <a:spcPts val="600"/>
              </a:spcBef>
              <a:buSzPct val="100000"/>
              <a:buFont typeface="Wingdings" panose="05000000000000000000" pitchFamily="2" charset="2"/>
              <a:buChar char="ü"/>
            </a:pPr>
            <a:r>
              <a:rPr lang="en-US" sz="1200" dirty="0">
                <a:solidFill>
                  <a:srgbClr val="313131"/>
                </a:solidFill>
                <a:latin typeface="+mj-lt"/>
                <a:cs typeface="Calibri" panose="020F0502020204030204" pitchFamily="34" charset="0"/>
              </a:rPr>
              <a:t>Drawing &amp; GTP approval are done. </a:t>
            </a:r>
          </a:p>
          <a:p>
            <a:pPr marL="285750" indent="-285750">
              <a:spcBef>
                <a:spcPts val="600"/>
              </a:spcBef>
              <a:buSzPct val="100000"/>
              <a:buFont typeface="Wingdings" panose="05000000000000000000" pitchFamily="2" charset="2"/>
              <a:buChar char="ü"/>
            </a:pPr>
            <a:r>
              <a:rPr lang="en-US" sz="1200" dirty="0">
                <a:solidFill>
                  <a:srgbClr val="313131"/>
                </a:solidFill>
                <a:latin typeface="+mj-lt"/>
                <a:cs typeface="Calibri" panose="020F0502020204030204" pitchFamily="34" charset="0"/>
              </a:rPr>
              <a:t>Procurement of materials and Execution of work is under progress. </a:t>
            </a:r>
          </a:p>
          <a:p>
            <a:pPr marL="285750" indent="-285750">
              <a:spcBef>
                <a:spcPts val="600"/>
              </a:spcBef>
              <a:buSzPct val="100000"/>
              <a:buFont typeface="Wingdings" panose="05000000000000000000" pitchFamily="2" charset="2"/>
              <a:buChar char="ü"/>
            </a:pPr>
            <a:r>
              <a:rPr lang="en-US" sz="1200" dirty="0">
                <a:solidFill>
                  <a:srgbClr val="313131"/>
                </a:solidFill>
                <a:latin typeface="+mj-lt"/>
                <a:cs typeface="Calibri" panose="020F0502020204030204" pitchFamily="34" charset="0"/>
              </a:rPr>
              <a:t>About 98.5% work is completed.</a:t>
            </a:r>
          </a:p>
        </p:txBody>
      </p:sp>
      <p:graphicFrame>
        <p:nvGraphicFramePr>
          <p:cNvPr id="14" name="Chart 13">
            <a:extLst>
              <a:ext uri="{FF2B5EF4-FFF2-40B4-BE49-F238E27FC236}">
                <a16:creationId xmlns:a16="http://schemas.microsoft.com/office/drawing/2014/main" id="{0011BA75-792B-42FF-A4DF-ACD442F1208A}"/>
              </a:ext>
            </a:extLst>
          </p:cNvPr>
          <p:cNvGraphicFramePr/>
          <p:nvPr>
            <p:extLst>
              <p:ext uri="{D42A27DB-BD31-4B8C-83A1-F6EECF244321}">
                <p14:modId xmlns:p14="http://schemas.microsoft.com/office/powerpoint/2010/main" val="581269201"/>
              </p:ext>
            </p:extLst>
          </p:nvPr>
        </p:nvGraphicFramePr>
        <p:xfrm>
          <a:off x="4778446" y="2621322"/>
          <a:ext cx="6899189" cy="1801196"/>
        </p:xfrm>
        <a:graphic>
          <a:graphicData uri="http://schemas.openxmlformats.org/drawingml/2006/chart">
            <c:chart xmlns:c="http://schemas.openxmlformats.org/drawingml/2006/chart" xmlns:r="http://schemas.openxmlformats.org/officeDocument/2006/relationships" r:id="rId3"/>
          </a:graphicData>
        </a:graphic>
      </p:graphicFrame>
      <p:sp>
        <p:nvSpPr>
          <p:cNvPr id="17" name="Rectangle 16">
            <a:extLst>
              <a:ext uri="{FF2B5EF4-FFF2-40B4-BE49-F238E27FC236}">
                <a16:creationId xmlns:a16="http://schemas.microsoft.com/office/drawing/2014/main" id="{FFC1BAB6-4A62-42BD-AACD-F41D4988B477}"/>
              </a:ext>
            </a:extLst>
          </p:cNvPr>
          <p:cNvSpPr/>
          <p:nvPr/>
        </p:nvSpPr>
        <p:spPr bwMode="gray">
          <a:xfrm>
            <a:off x="4778446" y="2237474"/>
            <a:ext cx="6899189" cy="339382"/>
          </a:xfrm>
          <a:prstGeom prst="rect">
            <a:avLst/>
          </a:prstGeom>
          <a:solidFill>
            <a:srgbClr val="005587">
              <a:alpha val="8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latin typeface="+mj-lt"/>
                <a:cs typeface="Calibri" panose="020F0502020204030204" pitchFamily="34" charset="0"/>
              </a:rPr>
              <a:t>Nabadwip Town</a:t>
            </a:r>
          </a:p>
        </p:txBody>
      </p:sp>
      <p:sp>
        <p:nvSpPr>
          <p:cNvPr id="18" name="TextBox 17">
            <a:extLst>
              <a:ext uri="{FF2B5EF4-FFF2-40B4-BE49-F238E27FC236}">
                <a16:creationId xmlns:a16="http://schemas.microsoft.com/office/drawing/2014/main" id="{62A03A0D-0E04-40E8-B040-87DA6F045B5A}"/>
              </a:ext>
            </a:extLst>
          </p:cNvPr>
          <p:cNvSpPr txBox="1"/>
          <p:nvPr/>
        </p:nvSpPr>
        <p:spPr>
          <a:xfrm>
            <a:off x="4778444" y="4467095"/>
            <a:ext cx="6899189" cy="1708160"/>
          </a:xfrm>
          <a:prstGeom prst="rect">
            <a:avLst/>
          </a:prstGeom>
          <a:solidFill>
            <a:srgbClr val="62B5E5">
              <a:alpha val="5000"/>
            </a:srgbClr>
          </a:solidFill>
        </p:spPr>
        <p:txBody>
          <a:bodyPr wrap="square" lIns="91440" tIns="91440" rIns="91440" bIns="91440" rtlCol="0">
            <a:spAutoFit/>
          </a:bodyPr>
          <a:lstStyle/>
          <a:p>
            <a:pPr marL="285750" indent="-285750">
              <a:spcBef>
                <a:spcPts val="600"/>
              </a:spcBef>
              <a:buSzPct val="100000"/>
              <a:buFont typeface="Wingdings" panose="05000000000000000000" pitchFamily="2" charset="2"/>
              <a:buChar char="v"/>
            </a:pPr>
            <a:r>
              <a:rPr lang="en-US" sz="1400" b="1" dirty="0">
                <a:solidFill>
                  <a:srgbClr val="313131"/>
                </a:solidFill>
                <a:latin typeface="+mj-lt"/>
                <a:cs typeface="Calibri" panose="020F0502020204030204" pitchFamily="34" charset="0"/>
              </a:rPr>
              <a:t>Physical Progress &gt; </a:t>
            </a:r>
            <a:endParaRPr lang="en-US" sz="400" dirty="0">
              <a:solidFill>
                <a:srgbClr val="313131"/>
              </a:solidFill>
              <a:latin typeface="+mj-lt"/>
              <a:cs typeface="Calibri" panose="020F0502020204030204" pitchFamily="34" charset="0"/>
            </a:endParaRPr>
          </a:p>
          <a:p>
            <a:pPr marL="285750" indent="-285750">
              <a:spcBef>
                <a:spcPts val="600"/>
              </a:spcBef>
              <a:buSzPct val="100000"/>
              <a:buFont typeface="Wingdings" panose="05000000000000000000" pitchFamily="2" charset="2"/>
              <a:buChar char="ü"/>
            </a:pPr>
            <a:r>
              <a:rPr lang="en-US" sz="1200" dirty="0">
                <a:solidFill>
                  <a:srgbClr val="313131"/>
                </a:solidFill>
                <a:latin typeface="+mj-lt"/>
                <a:cs typeface="Calibri" panose="020F0502020204030204" pitchFamily="34" charset="0"/>
              </a:rPr>
              <a:t>LOA placed on 06.07.18. </a:t>
            </a:r>
          </a:p>
          <a:p>
            <a:pPr marL="285750" indent="-285750">
              <a:spcBef>
                <a:spcPts val="600"/>
              </a:spcBef>
              <a:buSzPct val="100000"/>
              <a:buFont typeface="Wingdings" panose="05000000000000000000" pitchFamily="2" charset="2"/>
              <a:buChar char="ü"/>
            </a:pPr>
            <a:r>
              <a:rPr lang="en-US" sz="1200" dirty="0">
                <a:solidFill>
                  <a:srgbClr val="313131"/>
                </a:solidFill>
                <a:latin typeface="+mj-lt"/>
                <a:cs typeface="Calibri" panose="020F0502020204030204" pitchFamily="34" charset="0"/>
              </a:rPr>
              <a:t>Survey is completed. </a:t>
            </a:r>
          </a:p>
          <a:p>
            <a:pPr marL="285750" indent="-285750">
              <a:spcBef>
                <a:spcPts val="600"/>
              </a:spcBef>
              <a:buSzPct val="100000"/>
              <a:buFont typeface="Wingdings" panose="05000000000000000000" pitchFamily="2" charset="2"/>
              <a:buChar char="ü"/>
            </a:pPr>
            <a:r>
              <a:rPr lang="en-US" sz="1200" dirty="0">
                <a:solidFill>
                  <a:srgbClr val="313131"/>
                </a:solidFill>
                <a:latin typeface="+mj-lt"/>
                <a:cs typeface="Calibri" panose="020F0502020204030204" pitchFamily="34" charset="0"/>
              </a:rPr>
              <a:t>Drawing &amp; GTP approval are done. </a:t>
            </a:r>
          </a:p>
          <a:p>
            <a:pPr marL="285750" indent="-285750">
              <a:spcBef>
                <a:spcPts val="600"/>
              </a:spcBef>
              <a:buSzPct val="100000"/>
              <a:buFont typeface="Wingdings" panose="05000000000000000000" pitchFamily="2" charset="2"/>
              <a:buChar char="ü"/>
            </a:pPr>
            <a:r>
              <a:rPr lang="en-US" sz="1200" dirty="0">
                <a:solidFill>
                  <a:srgbClr val="313131"/>
                </a:solidFill>
                <a:latin typeface="+mj-lt"/>
                <a:cs typeface="Calibri" panose="020F0502020204030204" pitchFamily="34" charset="0"/>
              </a:rPr>
              <a:t>Procurement of materials and Execution of work is under progress. </a:t>
            </a:r>
          </a:p>
          <a:p>
            <a:pPr marL="285750" indent="-285750">
              <a:spcBef>
                <a:spcPts val="600"/>
              </a:spcBef>
              <a:buSzPct val="100000"/>
              <a:buFont typeface="Wingdings" panose="05000000000000000000" pitchFamily="2" charset="2"/>
              <a:buChar char="ü"/>
            </a:pPr>
            <a:r>
              <a:rPr lang="en-US" sz="1200" dirty="0">
                <a:solidFill>
                  <a:srgbClr val="313131"/>
                </a:solidFill>
                <a:latin typeface="+mj-lt"/>
                <a:cs typeface="Calibri" panose="020F0502020204030204" pitchFamily="34" charset="0"/>
              </a:rPr>
              <a:t>About 98.5% work is completed.</a:t>
            </a:r>
          </a:p>
        </p:txBody>
      </p:sp>
      <p:cxnSp>
        <p:nvCxnSpPr>
          <p:cNvPr id="3" name="Straight Arrow Connector 2">
            <a:extLst>
              <a:ext uri="{FF2B5EF4-FFF2-40B4-BE49-F238E27FC236}">
                <a16:creationId xmlns:a16="http://schemas.microsoft.com/office/drawing/2014/main" id="{4BFC33EE-D69A-4850-A65F-765D1FE35750}"/>
              </a:ext>
            </a:extLst>
          </p:cNvPr>
          <p:cNvCxnSpPr>
            <a:cxnSpLocks/>
          </p:cNvCxnSpPr>
          <p:nvPr/>
        </p:nvCxnSpPr>
        <p:spPr>
          <a:xfrm>
            <a:off x="7052382" y="2695691"/>
            <a:ext cx="2341989" cy="381078"/>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2A9840A-1AC9-478B-B726-FBB9408EA881}"/>
              </a:ext>
            </a:extLst>
          </p:cNvPr>
          <p:cNvSpPr txBox="1"/>
          <p:nvPr/>
        </p:nvSpPr>
        <p:spPr>
          <a:xfrm rot="442995">
            <a:off x="7768430" y="2701563"/>
            <a:ext cx="1147656" cy="369332"/>
          </a:xfrm>
          <a:prstGeom prst="rect">
            <a:avLst/>
          </a:prstGeom>
          <a:noFill/>
        </p:spPr>
        <p:txBody>
          <a:bodyPr wrap="square" lIns="0" tIns="0" rIns="0" bIns="0" rtlCol="0">
            <a:spAutoFit/>
          </a:bodyPr>
          <a:lstStyle/>
          <a:p>
            <a:pPr algn="ctr">
              <a:spcBef>
                <a:spcPts val="600"/>
              </a:spcBef>
              <a:buSzPct val="100000"/>
            </a:pPr>
            <a:r>
              <a:rPr lang="en-US" sz="1200" dirty="0">
                <a:latin typeface="+mj-lt"/>
                <a:cs typeface="Calibri" panose="020F0502020204030204" pitchFamily="34" charset="0"/>
              </a:rPr>
              <a:t>63 % of Project Cost</a:t>
            </a:r>
          </a:p>
        </p:txBody>
      </p:sp>
    </p:spTree>
    <p:extLst>
      <p:ext uri="{BB962C8B-B14F-4D97-AF65-F5344CB8AC3E}">
        <p14:creationId xmlns:p14="http://schemas.microsoft.com/office/powerpoint/2010/main" val="6614320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8729"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4" y="1693206"/>
            <a:ext cx="9936461" cy="307777"/>
          </a:xfrm>
        </p:spPr>
        <p:txBody>
          <a:bodyPr wrap="square" anchor="ctr" anchorCtr="0">
            <a:spAutoFit/>
          </a:bodyPr>
          <a:lstStyle/>
          <a:p>
            <a:r>
              <a:rPr lang="en-US" sz="2000" i="0" dirty="0">
                <a:solidFill>
                  <a:schemeClr val="tx1"/>
                </a:solidFill>
              </a:rPr>
              <a:t>SEEDN (Strengthening &amp; Extending Electricity Distribution Network)</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631371" y="1590786"/>
            <a:ext cx="649514" cy="501149"/>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lang="en-IN" sz="1400" b="1" kern="0" dirty="0">
                <a:solidFill>
                  <a:prstClr val="white"/>
                </a:solidFill>
              </a:rPr>
              <a:t>3E</a:t>
            </a:r>
            <a:endParaRPr kumimoji="0" lang="en-IN" sz="14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a:cxnSpLocks/>
          </p:cNvCxnSpPr>
          <p:nvPr/>
        </p:nvCxnSpPr>
        <p:spPr>
          <a:xfrm>
            <a:off x="4615544" y="3499011"/>
            <a:ext cx="0" cy="15955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526">
            <a:extLst>
              <a:ext uri="{FF2B5EF4-FFF2-40B4-BE49-F238E27FC236}">
                <a16:creationId xmlns:a16="http://schemas.microsoft.com/office/drawing/2014/main" id="{5540E149-1F19-4064-9714-B21FD0705489}"/>
              </a:ext>
            </a:extLst>
          </p:cNvPr>
          <p:cNvGrpSpPr>
            <a:grpSpLocks noChangeAspect="1"/>
          </p:cNvGrpSpPr>
          <p:nvPr/>
        </p:nvGrpSpPr>
        <p:grpSpPr bwMode="auto">
          <a:xfrm>
            <a:off x="1104225" y="3008313"/>
            <a:ext cx="2345264" cy="2345264"/>
            <a:chOff x="3464" y="1974"/>
            <a:chExt cx="340" cy="340"/>
          </a:xfrm>
          <a:solidFill>
            <a:srgbClr val="9CAC00"/>
          </a:solidFill>
        </p:grpSpPr>
        <p:sp>
          <p:nvSpPr>
            <p:cNvPr id="15" name="Freeform 527">
              <a:extLst>
                <a:ext uri="{FF2B5EF4-FFF2-40B4-BE49-F238E27FC236}">
                  <a16:creationId xmlns:a16="http://schemas.microsoft.com/office/drawing/2014/main" id="{2261B12D-A407-4719-9125-F49F83DDB571}"/>
                </a:ext>
              </a:extLst>
            </p:cNvPr>
            <p:cNvSpPr>
              <a:spLocks noEditPoints="1"/>
            </p:cNvSpPr>
            <p:nvPr/>
          </p:nvSpPr>
          <p:spPr bwMode="auto">
            <a:xfrm>
              <a:off x="3464" y="197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528">
              <a:extLst>
                <a:ext uri="{FF2B5EF4-FFF2-40B4-BE49-F238E27FC236}">
                  <a16:creationId xmlns:a16="http://schemas.microsoft.com/office/drawing/2014/main" id="{4FB09AB9-A79B-434D-9DE7-187BE7279860}"/>
                </a:ext>
              </a:extLst>
            </p:cNvPr>
            <p:cNvSpPr>
              <a:spLocks noEditPoints="1"/>
            </p:cNvSpPr>
            <p:nvPr/>
          </p:nvSpPr>
          <p:spPr bwMode="auto">
            <a:xfrm>
              <a:off x="3541" y="2037"/>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469838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92120" y="193988"/>
            <a:ext cx="11188700" cy="368299"/>
          </a:xfrm>
        </p:spPr>
        <p:txBody>
          <a:bodyPr vert="horz"/>
          <a:lstStyle/>
          <a:p>
            <a:pPr algn="just"/>
            <a:r>
              <a:rPr lang="en-US" sz="1800" i="0" dirty="0">
                <a:solidFill>
                  <a:schemeClr val="tx1"/>
                </a:solidFill>
                <a:latin typeface="+mj-lt"/>
              </a:rPr>
              <a:t>Background of Strengthening &amp; Extending Electricity Distribution Network Scheme</a:t>
            </a:r>
          </a:p>
        </p:txBody>
      </p:sp>
      <p:sp>
        <p:nvSpPr>
          <p:cNvPr id="9" name="TextBox 8">
            <a:extLst>
              <a:ext uri="{FF2B5EF4-FFF2-40B4-BE49-F238E27FC236}">
                <a16:creationId xmlns:a16="http://schemas.microsoft.com/office/drawing/2014/main" id="{0AD044FD-E808-42E4-AAAB-B827AA8A5FFE}"/>
              </a:ext>
            </a:extLst>
          </p:cNvPr>
          <p:cNvSpPr txBox="1"/>
          <p:nvPr/>
        </p:nvSpPr>
        <p:spPr>
          <a:xfrm>
            <a:off x="4075122" y="6504062"/>
            <a:ext cx="7605698" cy="338554"/>
          </a:xfrm>
          <a:prstGeom prst="rect">
            <a:avLst/>
          </a:prstGeom>
          <a:noFill/>
        </p:spPr>
        <p:txBody>
          <a:bodyPr wrap="square" lIns="0" tIns="0" rIns="0" bIns="0" rtlCol="0">
            <a:spAutoFit/>
          </a:bodyPr>
          <a:lstStyle/>
          <a:p>
            <a:pPr>
              <a:spcBef>
                <a:spcPts val="600"/>
              </a:spcBef>
              <a:buSzPct val="100000"/>
            </a:pPr>
            <a:r>
              <a:rPr lang="en-US" sz="1100" b="1" dirty="0">
                <a:solidFill>
                  <a:srgbClr val="313131"/>
                </a:solidFill>
                <a:latin typeface="+mj-lt"/>
                <a:cs typeface="Calibri" panose="020F0502020204030204" pitchFamily="34" charset="0"/>
              </a:rPr>
              <a:t>Source </a:t>
            </a:r>
            <a:r>
              <a:rPr lang="en-US" sz="1100" dirty="0">
                <a:solidFill>
                  <a:srgbClr val="313131"/>
                </a:solidFill>
                <a:latin typeface="+mj-lt"/>
                <a:cs typeface="Calibri" panose="020F0502020204030204" pitchFamily="34" charset="0"/>
              </a:rPr>
              <a:t>: https://www.wbsedcl.in/irj/go/km/docs/internet/new_website/pdf/Tariff_Volumn/Investment_Approval.pdf</a:t>
            </a:r>
          </a:p>
        </p:txBody>
      </p:sp>
      <p:sp>
        <p:nvSpPr>
          <p:cNvPr id="12" name="Rectangle 19">
            <a:extLst>
              <a:ext uri="{FF2B5EF4-FFF2-40B4-BE49-F238E27FC236}">
                <a16:creationId xmlns:a16="http://schemas.microsoft.com/office/drawing/2014/main" id="{ABD4B303-D9F9-4031-BF20-CB318D45F383}"/>
              </a:ext>
            </a:extLst>
          </p:cNvPr>
          <p:cNvSpPr>
            <a:spLocks noChangeArrowheads="1"/>
          </p:cNvSpPr>
          <p:nvPr/>
        </p:nvSpPr>
        <p:spPr bwMode="auto">
          <a:xfrm>
            <a:off x="3324474" y="711283"/>
            <a:ext cx="8484492" cy="2073481"/>
          </a:xfrm>
          <a:prstGeom prst="rect">
            <a:avLst/>
          </a:prstGeom>
          <a:noFill/>
          <a:ln w="19050" algn="ctr">
            <a:solidFill>
              <a:schemeClr val="accent1"/>
            </a:solidFill>
            <a:miter lim="800000"/>
            <a:headEnd/>
            <a:tailEnd/>
          </a:ln>
        </p:spPr>
        <p:txBody>
          <a:bodyPr wrap="square" lIns="88900" tIns="88900" rIns="88900" bIns="88900" anchor="ctr"/>
          <a:lstStyle/>
          <a:p>
            <a:pPr marL="285750" indent="-285750" algn="just">
              <a:spcBef>
                <a:spcPts val="300"/>
              </a:spcBef>
              <a:spcAft>
                <a:spcPts val="300"/>
              </a:spcAft>
              <a:buFont typeface="Wingdings" panose="05000000000000000000" pitchFamily="2" charset="2"/>
              <a:buChar char="Ø"/>
            </a:pPr>
            <a:r>
              <a:rPr lang="en-US" sz="1200" dirty="0">
                <a:solidFill>
                  <a:srgbClr val="000000"/>
                </a:solidFill>
                <a:latin typeface="+mj-lt"/>
                <a:ea typeface="ＭＳ Ｐゴシック" pitchFamily="50" charset="-128"/>
                <a:cs typeface="Calibri" panose="020F0502020204030204" pitchFamily="34" charset="0"/>
              </a:rPr>
              <a:t>Installation of 33/11 KV substations at various load centers to accommodate future load growth'</a:t>
            </a:r>
          </a:p>
          <a:p>
            <a:pPr marL="285750" indent="-285750" algn="just">
              <a:spcBef>
                <a:spcPts val="300"/>
              </a:spcBef>
              <a:spcAft>
                <a:spcPts val="300"/>
              </a:spcAft>
              <a:buFont typeface="Wingdings" panose="05000000000000000000" pitchFamily="2" charset="2"/>
              <a:buChar char="Ø"/>
            </a:pPr>
            <a:r>
              <a:rPr lang="en-US" sz="1200" dirty="0">
                <a:solidFill>
                  <a:srgbClr val="000000"/>
                </a:solidFill>
                <a:latin typeface="+mj-lt"/>
                <a:ea typeface="ＭＳ Ｐゴシック" pitchFamily="50" charset="-128"/>
                <a:cs typeface="Calibri" panose="020F0502020204030204" pitchFamily="34" charset="0"/>
              </a:rPr>
              <a:t>Reduction of length of 11 KV line for enhancing system reliability as well as reduction of Technical Loss</a:t>
            </a:r>
          </a:p>
          <a:p>
            <a:pPr marL="285750" indent="-285750" algn="just">
              <a:spcBef>
                <a:spcPts val="300"/>
              </a:spcBef>
              <a:spcAft>
                <a:spcPts val="300"/>
              </a:spcAft>
              <a:buFont typeface="Wingdings" panose="05000000000000000000" pitchFamily="2" charset="2"/>
              <a:buChar char="Ø"/>
            </a:pPr>
            <a:r>
              <a:rPr lang="en-US" sz="1200" dirty="0">
                <a:solidFill>
                  <a:srgbClr val="000000"/>
                </a:solidFill>
                <a:latin typeface="+mj-lt"/>
                <a:ea typeface="ＭＳ Ｐゴシック" pitchFamily="50" charset="-128"/>
                <a:cs typeface="Calibri" panose="020F0502020204030204" pitchFamily="34" charset="0"/>
              </a:rPr>
              <a:t>Conversion of single-phase LT line into three phase with LT AB cable to improve voltage regulation, reliability of power supply at LT level, to avoid accident arising out of bare conductor snapping and to check pilferage of Power for AT&amp;C loss reduction.</a:t>
            </a:r>
          </a:p>
          <a:p>
            <a:pPr marL="285750" indent="-285750" algn="just">
              <a:spcBef>
                <a:spcPts val="300"/>
              </a:spcBef>
              <a:spcAft>
                <a:spcPts val="300"/>
              </a:spcAft>
              <a:buFont typeface="Wingdings" panose="05000000000000000000" pitchFamily="2" charset="2"/>
              <a:buChar char="Ø"/>
            </a:pPr>
            <a:r>
              <a:rPr lang="en-US" sz="1200" dirty="0">
                <a:solidFill>
                  <a:srgbClr val="000000"/>
                </a:solidFill>
                <a:latin typeface="+mj-lt"/>
                <a:ea typeface="ＭＳ Ｐゴシック" pitchFamily="50" charset="-128"/>
                <a:cs typeface="Calibri" panose="020F0502020204030204" pitchFamily="34" charset="0"/>
              </a:rPr>
              <a:t>GIS mapping of HT &amp; LT assets and automated outage management system to reduce downtime and monitoring of O&amp;M activity for asset management towards cost reduction</a:t>
            </a:r>
          </a:p>
        </p:txBody>
      </p:sp>
      <p:sp>
        <p:nvSpPr>
          <p:cNvPr id="13" name="AutoShape 12">
            <a:extLst>
              <a:ext uri="{FF2B5EF4-FFF2-40B4-BE49-F238E27FC236}">
                <a16:creationId xmlns:a16="http://schemas.microsoft.com/office/drawing/2014/main" id="{422C5E13-7199-4F90-AB97-ACB7BDA06D8C}"/>
              </a:ext>
            </a:extLst>
          </p:cNvPr>
          <p:cNvSpPr>
            <a:spLocks noChangeArrowheads="1"/>
          </p:cNvSpPr>
          <p:nvPr/>
        </p:nvSpPr>
        <p:spPr bwMode="auto">
          <a:xfrm>
            <a:off x="2576530" y="711283"/>
            <a:ext cx="623870" cy="2073481"/>
          </a:xfrm>
          <a:prstGeom prst="homePlate">
            <a:avLst>
              <a:gd name="adj" fmla="val 100000"/>
            </a:avLst>
          </a:prstGeom>
          <a:solidFill>
            <a:schemeClr val="bg2">
              <a:lumMod val="75000"/>
            </a:schemeClr>
          </a:solidFill>
          <a:ln w="6350" algn="ctr">
            <a:noFill/>
            <a:miter lim="800000"/>
            <a:headEnd/>
            <a:tailEnd/>
          </a:ln>
        </p:spPr>
        <p:txBody>
          <a:bodyPr wrap="square" lIns="88900" tIns="88900" rIns="88900" bIns="88900" anchor="ctr"/>
          <a:lstStyle/>
          <a:p>
            <a:pPr algn="ctr"/>
            <a:endParaRPr lang="en-US" sz="1200" dirty="0">
              <a:latin typeface="+mj-lt"/>
            </a:endParaRPr>
          </a:p>
        </p:txBody>
      </p:sp>
      <p:sp>
        <p:nvSpPr>
          <p:cNvPr id="14" name="Rectangle 13">
            <a:extLst>
              <a:ext uri="{FF2B5EF4-FFF2-40B4-BE49-F238E27FC236}">
                <a16:creationId xmlns:a16="http://schemas.microsoft.com/office/drawing/2014/main" id="{DC15638A-781B-4F10-AFBC-DE4B1AEBE320}"/>
              </a:ext>
            </a:extLst>
          </p:cNvPr>
          <p:cNvSpPr/>
          <p:nvPr/>
        </p:nvSpPr>
        <p:spPr bwMode="gray">
          <a:xfrm>
            <a:off x="483052" y="711283"/>
            <a:ext cx="1969404" cy="2073481"/>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latin typeface="+mj-lt"/>
                <a:cs typeface="Calibri" panose="020F0502020204030204" pitchFamily="34" charset="0"/>
              </a:rPr>
              <a:t>Details of Scheme</a:t>
            </a:r>
          </a:p>
        </p:txBody>
      </p:sp>
      <p:sp>
        <p:nvSpPr>
          <p:cNvPr id="19" name="AutoShape 12">
            <a:extLst>
              <a:ext uri="{FF2B5EF4-FFF2-40B4-BE49-F238E27FC236}">
                <a16:creationId xmlns:a16="http://schemas.microsoft.com/office/drawing/2014/main" id="{8A82BBF4-88DD-48E7-B62C-9E4C98B80830}"/>
              </a:ext>
            </a:extLst>
          </p:cNvPr>
          <p:cNvSpPr>
            <a:spLocks noChangeArrowheads="1"/>
          </p:cNvSpPr>
          <p:nvPr/>
        </p:nvSpPr>
        <p:spPr bwMode="auto">
          <a:xfrm>
            <a:off x="2575150" y="3437010"/>
            <a:ext cx="623869" cy="3042335"/>
          </a:xfrm>
          <a:prstGeom prst="homePlate">
            <a:avLst>
              <a:gd name="adj" fmla="val 100000"/>
            </a:avLst>
          </a:prstGeom>
          <a:solidFill>
            <a:schemeClr val="bg2">
              <a:lumMod val="75000"/>
            </a:schemeClr>
          </a:solidFill>
          <a:ln w="6350" algn="ctr">
            <a:noFill/>
            <a:miter lim="800000"/>
            <a:headEnd/>
            <a:tailEnd/>
          </a:ln>
        </p:spPr>
        <p:txBody>
          <a:bodyPr wrap="square" lIns="88900" tIns="88900" rIns="88900" bIns="88900" anchor="ctr"/>
          <a:lstStyle/>
          <a:p>
            <a:pPr algn="ctr"/>
            <a:endParaRPr lang="en-US" sz="1200" dirty="0">
              <a:latin typeface="+mj-lt"/>
            </a:endParaRPr>
          </a:p>
        </p:txBody>
      </p:sp>
      <p:sp>
        <p:nvSpPr>
          <p:cNvPr id="20" name="Rectangle 19">
            <a:extLst>
              <a:ext uri="{FF2B5EF4-FFF2-40B4-BE49-F238E27FC236}">
                <a16:creationId xmlns:a16="http://schemas.microsoft.com/office/drawing/2014/main" id="{9B6CF861-A7B1-430E-AAA1-CCED3E351EC8}"/>
              </a:ext>
            </a:extLst>
          </p:cNvPr>
          <p:cNvSpPr/>
          <p:nvPr/>
        </p:nvSpPr>
        <p:spPr bwMode="gray">
          <a:xfrm>
            <a:off x="492120" y="3429001"/>
            <a:ext cx="1969404" cy="3050346"/>
          </a:xfrm>
          <a:prstGeom prst="rect">
            <a:avLst/>
          </a:prstGeom>
          <a:solidFill>
            <a:srgbClr val="00768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latin typeface="+mj-lt"/>
                <a:cs typeface="Calibri" panose="020F0502020204030204" pitchFamily="34" charset="0"/>
              </a:rPr>
              <a:t>Project Benefits</a:t>
            </a:r>
          </a:p>
        </p:txBody>
      </p:sp>
      <p:sp>
        <p:nvSpPr>
          <p:cNvPr id="22" name="Rectangle 19">
            <a:extLst>
              <a:ext uri="{FF2B5EF4-FFF2-40B4-BE49-F238E27FC236}">
                <a16:creationId xmlns:a16="http://schemas.microsoft.com/office/drawing/2014/main" id="{BBF0568F-2DB7-4F2F-942B-4BF8A4361920}"/>
              </a:ext>
            </a:extLst>
          </p:cNvPr>
          <p:cNvSpPr>
            <a:spLocks noChangeArrowheads="1"/>
          </p:cNvSpPr>
          <p:nvPr/>
        </p:nvSpPr>
        <p:spPr bwMode="auto">
          <a:xfrm>
            <a:off x="3324473" y="3437010"/>
            <a:ext cx="8483111" cy="3011632"/>
          </a:xfrm>
          <a:prstGeom prst="rect">
            <a:avLst/>
          </a:prstGeom>
          <a:noFill/>
          <a:ln w="19050" algn="ctr">
            <a:solidFill>
              <a:srgbClr val="0076A8"/>
            </a:solidFill>
            <a:miter lim="800000"/>
            <a:headEnd/>
            <a:tailEnd/>
          </a:ln>
        </p:spPr>
        <p:txBody>
          <a:bodyPr wrap="square" lIns="182880" tIns="91440" rIns="91440" bIns="182880" anchor="ctr"/>
          <a:lstStyle/>
          <a:p>
            <a:pPr marL="171450" indent="-171450" algn="l">
              <a:spcBef>
                <a:spcPts val="300"/>
              </a:spcBef>
              <a:spcAft>
                <a:spcPts val="300"/>
              </a:spcAft>
              <a:buFont typeface="Wingdings" panose="05000000000000000000" pitchFamily="2" charset="2"/>
              <a:buChar char="Ø"/>
            </a:pPr>
            <a:r>
              <a:rPr lang="en-US" sz="1200" b="0" i="0" u="none" strike="noStrike" baseline="0" dirty="0">
                <a:latin typeface="+mj-lt"/>
                <a:cs typeface="Calibri" panose="020F0502020204030204" pitchFamily="34" charset="0"/>
              </a:rPr>
              <a:t>Rapid electrification to intending consumers within stipulated time frame</a:t>
            </a:r>
          </a:p>
          <a:p>
            <a:pPr marL="171450" indent="-171450" algn="l">
              <a:spcBef>
                <a:spcPts val="300"/>
              </a:spcBef>
              <a:spcAft>
                <a:spcPts val="300"/>
              </a:spcAft>
              <a:buFont typeface="Wingdings" panose="05000000000000000000" pitchFamily="2" charset="2"/>
              <a:buChar char="Ø"/>
            </a:pPr>
            <a:r>
              <a:rPr lang="en-US" sz="1200" b="0" i="0" u="none" strike="noStrike" baseline="0" dirty="0">
                <a:latin typeface="+mj-lt"/>
                <a:cs typeface="Calibri" panose="020F0502020204030204" pitchFamily="34" charset="0"/>
              </a:rPr>
              <a:t>Increase in rural electrification rate and household electrification</a:t>
            </a:r>
          </a:p>
          <a:p>
            <a:pPr marL="171450" indent="-171450" algn="l">
              <a:spcBef>
                <a:spcPts val="300"/>
              </a:spcBef>
              <a:spcAft>
                <a:spcPts val="300"/>
              </a:spcAft>
              <a:buFont typeface="Wingdings" panose="05000000000000000000" pitchFamily="2" charset="2"/>
              <a:buChar char="Ø"/>
            </a:pPr>
            <a:r>
              <a:rPr lang="en-US" sz="1200" b="0" i="0" u="none" strike="noStrike" baseline="0" dirty="0">
                <a:latin typeface="+mj-lt"/>
                <a:cs typeface="Calibri" panose="020F0502020204030204" pitchFamily="34" charset="0"/>
              </a:rPr>
              <a:t>Improvement of power quality and reliability</a:t>
            </a:r>
          </a:p>
          <a:p>
            <a:pPr marL="171450" indent="-171450" algn="l">
              <a:spcBef>
                <a:spcPts val="300"/>
              </a:spcBef>
              <a:spcAft>
                <a:spcPts val="300"/>
              </a:spcAft>
              <a:buFont typeface="Wingdings" panose="05000000000000000000" pitchFamily="2" charset="2"/>
              <a:buChar char="Ø"/>
            </a:pPr>
            <a:r>
              <a:rPr lang="en-US" sz="1200" b="0" i="0" u="none" strike="noStrike" baseline="0" dirty="0">
                <a:latin typeface="+mj-lt"/>
                <a:cs typeface="Calibri" panose="020F0502020204030204" pitchFamily="34" charset="0"/>
              </a:rPr>
              <a:t>Reduction of Technical as well as Commercial Loss</a:t>
            </a:r>
          </a:p>
          <a:p>
            <a:pPr marL="171450" indent="-171450" algn="l">
              <a:spcBef>
                <a:spcPts val="300"/>
              </a:spcBef>
              <a:spcAft>
                <a:spcPts val="300"/>
              </a:spcAft>
              <a:buFont typeface="Wingdings" panose="05000000000000000000" pitchFamily="2" charset="2"/>
              <a:buChar char="Ø"/>
            </a:pPr>
            <a:r>
              <a:rPr lang="en-US" sz="1200" b="0" i="0" u="none" strike="noStrike" baseline="0" dirty="0">
                <a:latin typeface="+mj-lt"/>
                <a:cs typeface="Calibri" panose="020F0502020204030204" pitchFamily="34" charset="0"/>
              </a:rPr>
              <a:t>Better utilization of network assets &amp; 33 KV/</a:t>
            </a:r>
            <a:r>
              <a:rPr lang="en-US" sz="1200" dirty="0">
                <a:latin typeface="+mj-lt"/>
                <a:cs typeface="Calibri" panose="020F0502020204030204" pitchFamily="34" charset="0"/>
              </a:rPr>
              <a:t>1</a:t>
            </a:r>
            <a:r>
              <a:rPr lang="en-US" sz="1200" b="0" i="0" u="none" strike="noStrike" baseline="0" dirty="0">
                <a:latin typeface="+mj-lt"/>
                <a:cs typeface="Calibri" panose="020F0502020204030204" pitchFamily="34" charset="0"/>
              </a:rPr>
              <a:t>1 KV sub-stations already created/to be created under other Govt. sponsored scheme viz. BRGF, DDUGJY, IPDS etc.</a:t>
            </a:r>
          </a:p>
          <a:p>
            <a:pPr marL="171450" indent="-171450" algn="l">
              <a:spcBef>
                <a:spcPts val="300"/>
              </a:spcBef>
              <a:spcAft>
                <a:spcPts val="300"/>
              </a:spcAft>
              <a:buFont typeface="Wingdings" panose="05000000000000000000" pitchFamily="2" charset="2"/>
              <a:buChar char="Ø"/>
            </a:pPr>
            <a:r>
              <a:rPr lang="en-US" sz="1200" b="0" i="0" u="none" strike="noStrike" baseline="0" dirty="0">
                <a:latin typeface="+mj-lt"/>
                <a:cs typeface="Calibri" panose="020F0502020204030204" pitchFamily="34" charset="0"/>
              </a:rPr>
              <a:t>Increased capability of accommodating prospective load due to enhancement of</a:t>
            </a:r>
          </a:p>
          <a:p>
            <a:pPr marL="171450" indent="-171450" algn="l">
              <a:spcBef>
                <a:spcPts val="300"/>
              </a:spcBef>
              <a:spcAft>
                <a:spcPts val="300"/>
              </a:spcAft>
              <a:buFont typeface="Wingdings" panose="05000000000000000000" pitchFamily="2" charset="2"/>
              <a:buChar char="Ø"/>
            </a:pPr>
            <a:r>
              <a:rPr lang="en-US" sz="1200" b="0" i="0" u="none" strike="noStrike" baseline="0" dirty="0">
                <a:latin typeface="+mj-lt"/>
                <a:cs typeface="Calibri" panose="020F0502020204030204" pitchFamily="34" charset="0"/>
              </a:rPr>
              <a:t>distribution network</a:t>
            </a:r>
          </a:p>
          <a:p>
            <a:pPr marL="171450" indent="-171450" algn="l">
              <a:spcBef>
                <a:spcPts val="300"/>
              </a:spcBef>
              <a:spcAft>
                <a:spcPts val="300"/>
              </a:spcAft>
              <a:buFont typeface="Wingdings" panose="05000000000000000000" pitchFamily="2" charset="2"/>
              <a:buChar char="Ø"/>
            </a:pPr>
            <a:r>
              <a:rPr lang="en-US" sz="1200" b="0" i="0" u="none" strike="noStrike" baseline="0" dirty="0">
                <a:latin typeface="+mj-lt"/>
                <a:cs typeface="Calibri" panose="020F0502020204030204" pitchFamily="34" charset="0"/>
              </a:rPr>
              <a:t>Implementation of Automated outage management and monitoring of </a:t>
            </a:r>
            <a:r>
              <a:rPr lang="en-US" sz="1200" dirty="0">
                <a:latin typeface="+mj-lt"/>
                <a:cs typeface="Calibri" panose="020F0502020204030204" pitchFamily="34" charset="0"/>
              </a:rPr>
              <a:t>O</a:t>
            </a:r>
            <a:r>
              <a:rPr lang="en-US" sz="1200" b="0" i="0" u="none" strike="noStrike" baseline="0" dirty="0">
                <a:latin typeface="+mj-lt"/>
                <a:cs typeface="Calibri" panose="020F0502020204030204" pitchFamily="34" charset="0"/>
              </a:rPr>
              <a:t>&amp;M activity</a:t>
            </a:r>
          </a:p>
          <a:p>
            <a:pPr marL="171450" indent="-171450" algn="l">
              <a:spcBef>
                <a:spcPts val="300"/>
              </a:spcBef>
              <a:spcAft>
                <a:spcPts val="300"/>
              </a:spcAft>
              <a:buFont typeface="Wingdings" panose="05000000000000000000" pitchFamily="2" charset="2"/>
              <a:buChar char="Ø"/>
            </a:pPr>
            <a:r>
              <a:rPr lang="en-US" sz="1200" b="0" i="0" u="none" strike="noStrike" baseline="0" dirty="0">
                <a:latin typeface="+mj-lt"/>
                <a:cs typeface="Calibri" panose="020F0502020204030204" pitchFamily="34" charset="0"/>
              </a:rPr>
              <a:t>Reduction of financial burden of WBSEDCL</a:t>
            </a:r>
            <a:endParaRPr lang="en-US" sz="1200" dirty="0">
              <a:solidFill>
                <a:srgbClr val="000000"/>
              </a:solidFill>
              <a:latin typeface="+mj-lt"/>
              <a:ea typeface="ＭＳ Ｐゴシック" pitchFamily="50" charset="-128"/>
              <a:cs typeface="Calibri" panose="020F0502020204030204" pitchFamily="34" charset="0"/>
            </a:endParaRPr>
          </a:p>
        </p:txBody>
      </p:sp>
      <p:sp>
        <p:nvSpPr>
          <p:cNvPr id="2" name="TextBox 1">
            <a:extLst>
              <a:ext uri="{FF2B5EF4-FFF2-40B4-BE49-F238E27FC236}">
                <a16:creationId xmlns:a16="http://schemas.microsoft.com/office/drawing/2014/main" id="{2DCBCDC0-53EA-480D-B8F2-21DD87AD2D0C}"/>
              </a:ext>
            </a:extLst>
          </p:cNvPr>
          <p:cNvSpPr txBox="1"/>
          <p:nvPr/>
        </p:nvSpPr>
        <p:spPr>
          <a:xfrm>
            <a:off x="496638" y="2905988"/>
            <a:ext cx="11310946" cy="400110"/>
          </a:xfrm>
          <a:prstGeom prst="rect">
            <a:avLst/>
          </a:prstGeom>
          <a:solidFill>
            <a:schemeClr val="tx1">
              <a:lumMod val="65000"/>
              <a:lumOff val="35000"/>
            </a:schemeClr>
          </a:solidFill>
        </p:spPr>
        <p:txBody>
          <a:bodyPr wrap="square" lIns="91440" tIns="91440" rIns="91440" bIns="91440" rtlCol="0">
            <a:spAutoFit/>
          </a:bodyPr>
          <a:lstStyle/>
          <a:p>
            <a:pPr>
              <a:spcBef>
                <a:spcPts val="600"/>
              </a:spcBef>
              <a:buSzPct val="100000"/>
            </a:pPr>
            <a:r>
              <a:rPr lang="en-US" sz="1400" dirty="0">
                <a:solidFill>
                  <a:schemeClr val="bg1"/>
                </a:solidFill>
                <a:latin typeface="+mj-lt"/>
                <a:cs typeface="Calibri" panose="020F0502020204030204" pitchFamily="34" charset="0"/>
              </a:rPr>
              <a:t>Total Investment of Rs. 1137.10 Crore divided into four phase for target consumer of 1.2 Lakh at 19 different districts.</a:t>
            </a:r>
          </a:p>
        </p:txBody>
      </p:sp>
    </p:spTree>
    <p:extLst>
      <p:ext uri="{BB962C8B-B14F-4D97-AF65-F5344CB8AC3E}">
        <p14:creationId xmlns:p14="http://schemas.microsoft.com/office/powerpoint/2010/main" val="41807617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92120" y="193988"/>
            <a:ext cx="11188700" cy="368299"/>
          </a:xfrm>
        </p:spPr>
        <p:txBody>
          <a:bodyPr vert="horz"/>
          <a:lstStyle/>
          <a:p>
            <a:pPr algn="just"/>
            <a:r>
              <a:rPr lang="en-US" sz="1800" i="0" dirty="0">
                <a:solidFill>
                  <a:schemeClr val="tx1"/>
                </a:solidFill>
                <a:latin typeface="+mj-lt"/>
              </a:rPr>
              <a:t>Background of Strengthening &amp; Extending Electricity Distribution Network Scheme</a:t>
            </a:r>
          </a:p>
        </p:txBody>
      </p:sp>
      <p:graphicFrame>
        <p:nvGraphicFramePr>
          <p:cNvPr id="3" name="Table 3">
            <a:extLst>
              <a:ext uri="{FF2B5EF4-FFF2-40B4-BE49-F238E27FC236}">
                <a16:creationId xmlns:a16="http://schemas.microsoft.com/office/drawing/2014/main" id="{16A2BCA2-FFCB-4DDA-AC53-4507C91EF41D}"/>
              </a:ext>
            </a:extLst>
          </p:cNvPr>
          <p:cNvGraphicFramePr>
            <a:graphicFrameLocks noGrp="1"/>
          </p:cNvGraphicFramePr>
          <p:nvPr>
            <p:extLst>
              <p:ext uri="{D42A27DB-BD31-4B8C-83A1-F6EECF244321}">
                <p14:modId xmlns:p14="http://schemas.microsoft.com/office/powerpoint/2010/main" val="907504446"/>
              </p:ext>
            </p:extLst>
          </p:nvPr>
        </p:nvGraphicFramePr>
        <p:xfrm>
          <a:off x="426169" y="563409"/>
          <a:ext cx="11416146" cy="2171700"/>
        </p:xfrm>
        <a:graphic>
          <a:graphicData uri="http://schemas.openxmlformats.org/drawingml/2006/table">
            <a:tbl>
              <a:tblPr firstRow="1" bandRow="1">
                <a:tableStyleId>{5C22544A-7EE6-4342-B048-85BDC9FD1C3A}</a:tableStyleId>
              </a:tblPr>
              <a:tblGrid>
                <a:gridCol w="593182">
                  <a:extLst>
                    <a:ext uri="{9D8B030D-6E8A-4147-A177-3AD203B41FA5}">
                      <a16:colId xmlns:a16="http://schemas.microsoft.com/office/drawing/2014/main" val="2629117988"/>
                    </a:ext>
                  </a:extLst>
                </a:gridCol>
                <a:gridCol w="7541901">
                  <a:extLst>
                    <a:ext uri="{9D8B030D-6E8A-4147-A177-3AD203B41FA5}">
                      <a16:colId xmlns:a16="http://schemas.microsoft.com/office/drawing/2014/main" val="3515276640"/>
                    </a:ext>
                  </a:extLst>
                </a:gridCol>
                <a:gridCol w="1607304">
                  <a:extLst>
                    <a:ext uri="{9D8B030D-6E8A-4147-A177-3AD203B41FA5}">
                      <a16:colId xmlns:a16="http://schemas.microsoft.com/office/drawing/2014/main" val="3965836960"/>
                    </a:ext>
                  </a:extLst>
                </a:gridCol>
                <a:gridCol w="1673759">
                  <a:extLst>
                    <a:ext uri="{9D8B030D-6E8A-4147-A177-3AD203B41FA5}">
                      <a16:colId xmlns:a16="http://schemas.microsoft.com/office/drawing/2014/main" val="2437970371"/>
                    </a:ext>
                  </a:extLst>
                </a:gridCol>
              </a:tblGrid>
              <a:tr h="152821">
                <a:tc>
                  <a:txBody>
                    <a:bodyPr/>
                    <a:lstStyle/>
                    <a:p>
                      <a:pPr algn="ctr"/>
                      <a:r>
                        <a:rPr lang="en-US" sz="1050" dirty="0">
                          <a:latin typeface="+mj-lt"/>
                          <a:cs typeface="Calibri" panose="020F0502020204030204" pitchFamily="34" charset="0"/>
                        </a:rPr>
                        <a:t>Sl.</a:t>
                      </a:r>
                    </a:p>
                  </a:txBody>
                  <a:tcPr>
                    <a:solidFill>
                      <a:srgbClr val="009A44"/>
                    </a:solidFill>
                  </a:tcPr>
                </a:tc>
                <a:tc>
                  <a:txBody>
                    <a:bodyPr/>
                    <a:lstStyle/>
                    <a:p>
                      <a:r>
                        <a:rPr lang="en-US" sz="1050" dirty="0">
                          <a:latin typeface="+mj-lt"/>
                          <a:cs typeface="Calibri" panose="020F0502020204030204" pitchFamily="34" charset="0"/>
                        </a:rPr>
                        <a:t>Description of Work </a:t>
                      </a:r>
                    </a:p>
                  </a:txBody>
                  <a:tcPr>
                    <a:solidFill>
                      <a:srgbClr val="009A44"/>
                    </a:solidFill>
                  </a:tcPr>
                </a:tc>
                <a:tc>
                  <a:txBody>
                    <a:bodyPr/>
                    <a:lstStyle/>
                    <a:p>
                      <a:pPr algn="ctr"/>
                      <a:r>
                        <a:rPr lang="en-US" sz="1050" dirty="0">
                          <a:latin typeface="+mj-lt"/>
                          <a:cs typeface="Calibri" panose="020F0502020204030204" pitchFamily="34" charset="0"/>
                        </a:rPr>
                        <a:t>Quantity </a:t>
                      </a:r>
                    </a:p>
                  </a:txBody>
                  <a:tcPr>
                    <a:solidFill>
                      <a:srgbClr val="009A44"/>
                    </a:solidFill>
                  </a:tcPr>
                </a:tc>
                <a:tc>
                  <a:txBody>
                    <a:bodyPr/>
                    <a:lstStyle/>
                    <a:p>
                      <a:pPr algn="ctr"/>
                      <a:r>
                        <a:rPr lang="en-US" sz="1050" dirty="0">
                          <a:latin typeface="+mj-lt"/>
                          <a:cs typeface="Calibri" panose="020F0502020204030204" pitchFamily="34" charset="0"/>
                        </a:rPr>
                        <a:t>Total Cost  (Cr)</a:t>
                      </a:r>
                    </a:p>
                  </a:txBody>
                  <a:tcPr>
                    <a:solidFill>
                      <a:srgbClr val="009A44"/>
                    </a:solidFill>
                  </a:tcPr>
                </a:tc>
                <a:extLst>
                  <a:ext uri="{0D108BD9-81ED-4DB2-BD59-A6C34878D82A}">
                    <a16:rowId xmlns:a16="http://schemas.microsoft.com/office/drawing/2014/main" val="162150238"/>
                  </a:ext>
                </a:extLst>
              </a:tr>
              <a:tr h="152821">
                <a:tc>
                  <a:txBody>
                    <a:bodyPr/>
                    <a:lstStyle/>
                    <a:p>
                      <a:pPr algn="ctr"/>
                      <a:r>
                        <a:rPr lang="en-US" sz="1050" dirty="0">
                          <a:latin typeface="+mj-lt"/>
                          <a:cs typeface="Calibri" panose="020F0502020204030204" pitchFamily="34" charset="0"/>
                        </a:rPr>
                        <a:t>1</a:t>
                      </a:r>
                    </a:p>
                  </a:txBody>
                  <a:tcPr/>
                </a:tc>
                <a:tc>
                  <a:txBody>
                    <a:bodyPr/>
                    <a:lstStyle/>
                    <a:p>
                      <a:r>
                        <a:rPr lang="en-US" sz="1050" dirty="0">
                          <a:latin typeface="+mj-lt"/>
                          <a:cs typeface="Calibri" panose="020F0502020204030204" pitchFamily="34" charset="0"/>
                        </a:rPr>
                        <a:t>Already effected new connection in BRGF districts </a:t>
                      </a:r>
                    </a:p>
                  </a:txBody>
                  <a:tcPr/>
                </a:tc>
                <a:tc>
                  <a:txBody>
                    <a:bodyPr/>
                    <a:lstStyle/>
                    <a:p>
                      <a:pPr algn="ctr"/>
                      <a:r>
                        <a:rPr lang="en-US" sz="1050" dirty="0">
                          <a:latin typeface="+mj-lt"/>
                          <a:cs typeface="Calibri" panose="020F0502020204030204" pitchFamily="34" charset="0"/>
                        </a:rPr>
                        <a:t>860000 Nos</a:t>
                      </a:r>
                    </a:p>
                  </a:txBody>
                  <a:tcPr/>
                </a:tc>
                <a:tc>
                  <a:txBody>
                    <a:bodyPr/>
                    <a:lstStyle/>
                    <a:p>
                      <a:pPr algn="ctr"/>
                      <a:r>
                        <a:rPr lang="en-US" sz="1050" dirty="0">
                          <a:latin typeface="+mj-lt"/>
                          <a:cs typeface="Calibri" panose="020F0502020204030204" pitchFamily="34" charset="0"/>
                        </a:rPr>
                        <a:t>215</a:t>
                      </a:r>
                    </a:p>
                  </a:txBody>
                  <a:tcPr/>
                </a:tc>
                <a:extLst>
                  <a:ext uri="{0D108BD9-81ED-4DB2-BD59-A6C34878D82A}">
                    <a16:rowId xmlns:a16="http://schemas.microsoft.com/office/drawing/2014/main" val="795381051"/>
                  </a:ext>
                </a:extLst>
              </a:tr>
              <a:tr h="152821">
                <a:tc>
                  <a:txBody>
                    <a:bodyPr/>
                    <a:lstStyle/>
                    <a:p>
                      <a:pPr algn="ctr"/>
                      <a:r>
                        <a:rPr lang="en-US" sz="1050" dirty="0">
                          <a:latin typeface="+mj-lt"/>
                          <a:cs typeface="Calibri" panose="020F0502020204030204" pitchFamily="34" charset="0"/>
                        </a:rPr>
                        <a:t>2</a:t>
                      </a:r>
                    </a:p>
                  </a:txBody>
                  <a:tcPr/>
                </a:tc>
                <a:tc>
                  <a:txBody>
                    <a:bodyPr/>
                    <a:lstStyle/>
                    <a:p>
                      <a:r>
                        <a:rPr lang="en-US" sz="1050" dirty="0">
                          <a:latin typeface="+mj-lt"/>
                          <a:cs typeface="Calibri" panose="020F0502020204030204" pitchFamily="34" charset="0"/>
                        </a:rPr>
                        <a:t>Drawal of new 33 KV line to cater power to the proposed new 33 KV Sub-Station</a:t>
                      </a:r>
                    </a:p>
                  </a:txBody>
                  <a:tcPr/>
                </a:tc>
                <a:tc>
                  <a:txBody>
                    <a:bodyPr/>
                    <a:lstStyle/>
                    <a:p>
                      <a:pPr algn="ctr"/>
                      <a:r>
                        <a:rPr lang="en-US" sz="1050" dirty="0">
                          <a:latin typeface="+mj-lt"/>
                          <a:cs typeface="Calibri" panose="020F0502020204030204" pitchFamily="34" charset="0"/>
                        </a:rPr>
                        <a:t>1510 Km</a:t>
                      </a:r>
                    </a:p>
                  </a:txBody>
                  <a:tcPr/>
                </a:tc>
                <a:tc>
                  <a:txBody>
                    <a:bodyPr/>
                    <a:lstStyle/>
                    <a:p>
                      <a:pPr algn="ctr"/>
                      <a:r>
                        <a:rPr lang="en-US" sz="1050" dirty="0">
                          <a:latin typeface="+mj-lt"/>
                          <a:cs typeface="Calibri" panose="020F0502020204030204" pitchFamily="34" charset="0"/>
                        </a:rPr>
                        <a:t>90.50</a:t>
                      </a:r>
                    </a:p>
                  </a:txBody>
                  <a:tcPr/>
                </a:tc>
                <a:extLst>
                  <a:ext uri="{0D108BD9-81ED-4DB2-BD59-A6C34878D82A}">
                    <a16:rowId xmlns:a16="http://schemas.microsoft.com/office/drawing/2014/main" val="1740997652"/>
                  </a:ext>
                </a:extLst>
              </a:tr>
              <a:tr h="152821">
                <a:tc>
                  <a:txBody>
                    <a:bodyPr/>
                    <a:lstStyle/>
                    <a:p>
                      <a:pPr algn="ctr"/>
                      <a:r>
                        <a:rPr lang="en-US" sz="1050" dirty="0">
                          <a:latin typeface="+mj-lt"/>
                          <a:cs typeface="Calibri" panose="020F0502020204030204" pitchFamily="34" charset="0"/>
                        </a:rPr>
                        <a:t>3</a:t>
                      </a:r>
                    </a:p>
                  </a:txBody>
                  <a:tcPr/>
                </a:tc>
                <a:tc>
                  <a:txBody>
                    <a:bodyPr/>
                    <a:lstStyle/>
                    <a:p>
                      <a:r>
                        <a:rPr lang="en-US" sz="1050" dirty="0">
                          <a:latin typeface="+mj-lt"/>
                          <a:cs typeface="Calibri" panose="020F0502020204030204" pitchFamily="34" charset="0"/>
                        </a:rPr>
                        <a:t>Installation of new 33/11 KV Sub-Station with capacity 2x3.15 MVA</a:t>
                      </a:r>
                    </a:p>
                  </a:txBody>
                  <a:tcPr/>
                </a:tc>
                <a:tc>
                  <a:txBody>
                    <a:bodyPr/>
                    <a:lstStyle/>
                    <a:p>
                      <a:pPr algn="ctr"/>
                      <a:r>
                        <a:rPr lang="en-US" sz="1050" dirty="0">
                          <a:latin typeface="+mj-lt"/>
                          <a:cs typeface="Calibri" panose="020F0502020204030204" pitchFamily="34" charset="0"/>
                        </a:rPr>
                        <a:t>79 Nos</a:t>
                      </a:r>
                    </a:p>
                  </a:txBody>
                  <a:tcPr/>
                </a:tc>
                <a:tc>
                  <a:txBody>
                    <a:bodyPr/>
                    <a:lstStyle/>
                    <a:p>
                      <a:pPr algn="ctr"/>
                      <a:r>
                        <a:rPr lang="en-US" sz="1050" dirty="0">
                          <a:latin typeface="+mj-lt"/>
                          <a:cs typeface="Calibri" panose="020F0502020204030204" pitchFamily="34" charset="0"/>
                        </a:rPr>
                        <a:t>237</a:t>
                      </a:r>
                    </a:p>
                  </a:txBody>
                  <a:tcPr/>
                </a:tc>
                <a:extLst>
                  <a:ext uri="{0D108BD9-81ED-4DB2-BD59-A6C34878D82A}">
                    <a16:rowId xmlns:a16="http://schemas.microsoft.com/office/drawing/2014/main" val="2350816577"/>
                  </a:ext>
                </a:extLst>
              </a:tr>
              <a:tr h="250071">
                <a:tc>
                  <a:txBody>
                    <a:bodyPr/>
                    <a:lstStyle/>
                    <a:p>
                      <a:pPr algn="ctr"/>
                      <a:r>
                        <a:rPr lang="en-US" sz="1050" dirty="0">
                          <a:latin typeface="+mj-lt"/>
                          <a:cs typeface="Calibri" panose="020F0502020204030204" pitchFamily="34" charset="0"/>
                        </a:rPr>
                        <a:t>4</a:t>
                      </a:r>
                    </a:p>
                  </a:txBody>
                  <a:tcPr/>
                </a:tc>
                <a:tc>
                  <a:txBody>
                    <a:bodyPr/>
                    <a:lstStyle/>
                    <a:p>
                      <a:r>
                        <a:rPr lang="en-US" sz="1050" dirty="0">
                          <a:latin typeface="+mj-lt"/>
                          <a:cs typeface="Calibri" panose="020F0502020204030204" pitchFamily="34" charset="0"/>
                        </a:rPr>
                        <a:t>Spill over service connections with or without pole using 2 core 4 Sq. mm, 1.1 KV grade PVC cable effected in rural areas all over the state beyond scope of BRGF &amp; RGGVY </a:t>
                      </a:r>
                    </a:p>
                  </a:txBody>
                  <a:tcPr/>
                </a:tc>
                <a:tc>
                  <a:txBody>
                    <a:bodyPr/>
                    <a:lstStyle/>
                    <a:p>
                      <a:pPr algn="ctr"/>
                      <a:r>
                        <a:rPr lang="en-US" sz="1050" dirty="0">
                          <a:latin typeface="+mj-lt"/>
                          <a:cs typeface="Calibri" panose="020F0502020204030204" pitchFamily="34" charset="0"/>
                        </a:rPr>
                        <a:t>120000 Nos</a:t>
                      </a:r>
                    </a:p>
                  </a:txBody>
                  <a:tcPr/>
                </a:tc>
                <a:tc>
                  <a:txBody>
                    <a:bodyPr/>
                    <a:lstStyle/>
                    <a:p>
                      <a:pPr algn="ctr"/>
                      <a:r>
                        <a:rPr lang="en-US" sz="1050" dirty="0">
                          <a:latin typeface="+mj-lt"/>
                          <a:cs typeface="Calibri" panose="020F0502020204030204" pitchFamily="34" charset="0"/>
                        </a:rPr>
                        <a:t>61.10</a:t>
                      </a:r>
                    </a:p>
                  </a:txBody>
                  <a:tcPr/>
                </a:tc>
                <a:extLst>
                  <a:ext uri="{0D108BD9-81ED-4DB2-BD59-A6C34878D82A}">
                    <a16:rowId xmlns:a16="http://schemas.microsoft.com/office/drawing/2014/main" val="3105056754"/>
                  </a:ext>
                </a:extLst>
              </a:tr>
              <a:tr h="152821">
                <a:tc>
                  <a:txBody>
                    <a:bodyPr/>
                    <a:lstStyle/>
                    <a:p>
                      <a:pPr algn="ctr"/>
                      <a:r>
                        <a:rPr lang="en-US" sz="1050" dirty="0">
                          <a:latin typeface="+mj-lt"/>
                          <a:cs typeface="Calibri" panose="020F0502020204030204" pitchFamily="34" charset="0"/>
                        </a:rPr>
                        <a:t>5</a:t>
                      </a:r>
                    </a:p>
                  </a:txBody>
                  <a:tcPr/>
                </a:tc>
                <a:tc>
                  <a:txBody>
                    <a:bodyPr/>
                    <a:lstStyle/>
                    <a:p>
                      <a:r>
                        <a:rPr lang="en-US" sz="1050" dirty="0">
                          <a:latin typeface="+mj-lt"/>
                          <a:cs typeface="Calibri" panose="020F0502020204030204" pitchFamily="34" charset="0"/>
                        </a:rPr>
                        <a:t>Drawal of LT AB cable for conversion of 1 Ph line into 3 Ph line</a:t>
                      </a:r>
                    </a:p>
                  </a:txBody>
                  <a:tcPr/>
                </a:tc>
                <a:tc>
                  <a:txBody>
                    <a:bodyPr/>
                    <a:lstStyle/>
                    <a:p>
                      <a:pPr algn="ctr"/>
                      <a:r>
                        <a:rPr lang="en-US" sz="1050" dirty="0">
                          <a:latin typeface="+mj-lt"/>
                          <a:cs typeface="Calibri" panose="020F0502020204030204" pitchFamily="34" charset="0"/>
                        </a:rPr>
                        <a:t>10000</a:t>
                      </a:r>
                    </a:p>
                  </a:txBody>
                  <a:tcPr/>
                </a:tc>
                <a:tc>
                  <a:txBody>
                    <a:bodyPr/>
                    <a:lstStyle/>
                    <a:p>
                      <a:pPr algn="ctr"/>
                      <a:r>
                        <a:rPr lang="en-US" sz="1050" dirty="0">
                          <a:latin typeface="+mj-lt"/>
                          <a:cs typeface="Calibri" panose="020F0502020204030204" pitchFamily="34" charset="0"/>
                        </a:rPr>
                        <a:t>448</a:t>
                      </a:r>
                    </a:p>
                  </a:txBody>
                  <a:tcPr/>
                </a:tc>
                <a:extLst>
                  <a:ext uri="{0D108BD9-81ED-4DB2-BD59-A6C34878D82A}">
                    <a16:rowId xmlns:a16="http://schemas.microsoft.com/office/drawing/2014/main" val="3501979905"/>
                  </a:ext>
                </a:extLst>
              </a:tr>
              <a:tr h="152821">
                <a:tc>
                  <a:txBody>
                    <a:bodyPr/>
                    <a:lstStyle/>
                    <a:p>
                      <a:pPr algn="ctr"/>
                      <a:r>
                        <a:rPr lang="en-US" sz="1050" dirty="0">
                          <a:latin typeface="+mj-lt"/>
                          <a:cs typeface="Calibri" panose="020F0502020204030204" pitchFamily="34" charset="0"/>
                        </a:rPr>
                        <a:t>6</a:t>
                      </a:r>
                    </a:p>
                  </a:txBody>
                  <a:tcPr/>
                </a:tc>
                <a:tc>
                  <a:txBody>
                    <a:bodyPr/>
                    <a:lstStyle/>
                    <a:p>
                      <a:r>
                        <a:rPr lang="en-US" sz="1050" dirty="0">
                          <a:latin typeface="+mj-lt"/>
                          <a:cs typeface="Calibri" panose="020F0502020204030204" pitchFamily="34" charset="0"/>
                        </a:rPr>
                        <a:t>GIS survey of existing HT &amp; LT line and its mapping with integration in WBSEDCL system </a:t>
                      </a:r>
                    </a:p>
                  </a:txBody>
                  <a:tcPr/>
                </a:tc>
                <a:tc>
                  <a:txBody>
                    <a:bodyPr/>
                    <a:lstStyle/>
                    <a:p>
                      <a:pPr algn="ctr"/>
                      <a:r>
                        <a:rPr lang="en-US" sz="1050" dirty="0">
                          <a:latin typeface="+mj-lt"/>
                          <a:cs typeface="Calibri" panose="020F0502020204030204" pitchFamily="34" charset="0"/>
                        </a:rPr>
                        <a:t>477726 Km</a:t>
                      </a:r>
                    </a:p>
                  </a:txBody>
                  <a:tcPr/>
                </a:tc>
                <a:tc>
                  <a:txBody>
                    <a:bodyPr/>
                    <a:lstStyle/>
                    <a:p>
                      <a:pPr algn="ctr"/>
                      <a:r>
                        <a:rPr lang="en-US" sz="1050" dirty="0">
                          <a:latin typeface="+mj-lt"/>
                          <a:cs typeface="Calibri" panose="020F0502020204030204" pitchFamily="34" charset="0"/>
                        </a:rPr>
                        <a:t>84.50</a:t>
                      </a:r>
                    </a:p>
                  </a:txBody>
                  <a:tcPr/>
                </a:tc>
                <a:extLst>
                  <a:ext uri="{0D108BD9-81ED-4DB2-BD59-A6C34878D82A}">
                    <a16:rowId xmlns:a16="http://schemas.microsoft.com/office/drawing/2014/main" val="1288638123"/>
                  </a:ext>
                </a:extLst>
              </a:tr>
              <a:tr h="152821">
                <a:tc gridSpan="3">
                  <a:txBody>
                    <a:bodyPr/>
                    <a:lstStyle/>
                    <a:p>
                      <a:pPr algn="ctr"/>
                      <a:r>
                        <a:rPr lang="en-US" sz="1050" b="1" dirty="0">
                          <a:latin typeface="+mj-lt"/>
                          <a:cs typeface="Calibri" panose="020F0502020204030204" pitchFamily="34" charset="0"/>
                        </a:rPr>
                        <a:t>Total Project Cost</a:t>
                      </a:r>
                    </a:p>
                  </a:txBody>
                  <a:tcPr/>
                </a:tc>
                <a:tc hMerge="1">
                  <a:txBody>
                    <a:bodyPr/>
                    <a:lstStyle/>
                    <a:p>
                      <a:endParaRPr lang="en-US" sz="1400" dirty="0">
                        <a:latin typeface="Calibri" panose="020F0502020204030204" pitchFamily="34" charset="0"/>
                        <a:cs typeface="Calibri" panose="020F0502020204030204" pitchFamily="34" charset="0"/>
                      </a:endParaRPr>
                    </a:p>
                  </a:txBody>
                  <a:tcPr/>
                </a:tc>
                <a:tc hMerge="1">
                  <a:txBody>
                    <a:bodyPr/>
                    <a:lstStyle/>
                    <a:p>
                      <a:endParaRPr lang="en-US" sz="1400" dirty="0">
                        <a:latin typeface="Calibri" panose="020F0502020204030204" pitchFamily="34" charset="0"/>
                        <a:cs typeface="Calibri" panose="020F0502020204030204" pitchFamily="34" charset="0"/>
                      </a:endParaRPr>
                    </a:p>
                  </a:txBody>
                  <a:tcPr/>
                </a:tc>
                <a:tc>
                  <a:txBody>
                    <a:bodyPr/>
                    <a:lstStyle/>
                    <a:p>
                      <a:pPr algn="ctr"/>
                      <a:r>
                        <a:rPr lang="en-US" sz="1050" b="1" dirty="0">
                          <a:latin typeface="+mj-lt"/>
                          <a:cs typeface="Calibri" panose="020F0502020204030204" pitchFamily="34" charset="0"/>
                        </a:rPr>
                        <a:t>1137.10</a:t>
                      </a:r>
                    </a:p>
                  </a:txBody>
                  <a:tcPr/>
                </a:tc>
                <a:extLst>
                  <a:ext uri="{0D108BD9-81ED-4DB2-BD59-A6C34878D82A}">
                    <a16:rowId xmlns:a16="http://schemas.microsoft.com/office/drawing/2014/main" val="2455494498"/>
                  </a:ext>
                </a:extLst>
              </a:tr>
            </a:tbl>
          </a:graphicData>
        </a:graphic>
      </p:graphicFrame>
      <p:graphicFrame>
        <p:nvGraphicFramePr>
          <p:cNvPr id="6" name="Chart 5">
            <a:extLst>
              <a:ext uri="{FF2B5EF4-FFF2-40B4-BE49-F238E27FC236}">
                <a16:creationId xmlns:a16="http://schemas.microsoft.com/office/drawing/2014/main" id="{3E6BD45C-988D-4332-B12D-CDD15FF7325E}"/>
              </a:ext>
            </a:extLst>
          </p:cNvPr>
          <p:cNvGraphicFramePr/>
          <p:nvPr>
            <p:extLst>
              <p:ext uri="{D42A27DB-BD31-4B8C-83A1-F6EECF244321}">
                <p14:modId xmlns:p14="http://schemas.microsoft.com/office/powerpoint/2010/main" val="4042959653"/>
              </p:ext>
            </p:extLst>
          </p:nvPr>
        </p:nvGraphicFramePr>
        <p:xfrm>
          <a:off x="426169" y="3930140"/>
          <a:ext cx="3272995" cy="2651760"/>
        </p:xfrm>
        <a:graphic>
          <a:graphicData uri="http://schemas.openxmlformats.org/drawingml/2006/chart">
            <c:chart xmlns:c="http://schemas.openxmlformats.org/drawingml/2006/chart" xmlns:r="http://schemas.openxmlformats.org/officeDocument/2006/relationships" r:id="rId2"/>
          </a:graphicData>
        </a:graphic>
      </p:graphicFrame>
      <p:cxnSp>
        <p:nvCxnSpPr>
          <p:cNvPr id="8" name="Straight Arrow Connector 7">
            <a:extLst>
              <a:ext uri="{FF2B5EF4-FFF2-40B4-BE49-F238E27FC236}">
                <a16:creationId xmlns:a16="http://schemas.microsoft.com/office/drawing/2014/main" id="{A963E921-BFBB-4154-BB3B-ECA4EB071CF8}"/>
              </a:ext>
            </a:extLst>
          </p:cNvPr>
          <p:cNvCxnSpPr>
            <a:cxnSpLocks/>
          </p:cNvCxnSpPr>
          <p:nvPr/>
        </p:nvCxnSpPr>
        <p:spPr>
          <a:xfrm>
            <a:off x="2632362" y="4226627"/>
            <a:ext cx="1717965"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CE006E2-6159-4F8E-B63F-17120D4AAE67}"/>
              </a:ext>
            </a:extLst>
          </p:cNvPr>
          <p:cNvCxnSpPr>
            <a:cxnSpLocks/>
          </p:cNvCxnSpPr>
          <p:nvPr/>
        </p:nvCxnSpPr>
        <p:spPr>
          <a:xfrm>
            <a:off x="3048000" y="5570520"/>
            <a:ext cx="1302328"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09863BE-4F42-4C8C-8EBD-46721451C4FB}"/>
              </a:ext>
            </a:extLst>
          </p:cNvPr>
          <p:cNvCxnSpPr>
            <a:cxnSpLocks/>
          </p:cNvCxnSpPr>
          <p:nvPr/>
        </p:nvCxnSpPr>
        <p:spPr>
          <a:xfrm>
            <a:off x="3074044" y="6263248"/>
            <a:ext cx="4573665"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DDC095D-0633-4BD9-B791-6DFD5A4B05FF}"/>
              </a:ext>
            </a:extLst>
          </p:cNvPr>
          <p:cNvSpPr txBox="1"/>
          <p:nvPr/>
        </p:nvSpPr>
        <p:spPr>
          <a:xfrm>
            <a:off x="7647709" y="4362362"/>
            <a:ext cx="4197926" cy="1661993"/>
          </a:xfrm>
          <a:prstGeom prst="rect">
            <a:avLst/>
          </a:prstGeom>
          <a:solidFill>
            <a:srgbClr val="046A38">
              <a:alpha val="10000"/>
            </a:srgbClr>
          </a:solidFill>
        </p:spPr>
        <p:txBody>
          <a:bodyPr wrap="square" lIns="91440" tIns="0" rIns="91440" bIns="0" rtlCol="0">
            <a:spAutoFit/>
          </a:bodyPr>
          <a:lstStyle/>
          <a:p>
            <a:pPr>
              <a:spcBef>
                <a:spcPts val="600"/>
              </a:spcBef>
              <a:buSzPct val="100000"/>
            </a:pPr>
            <a:r>
              <a:rPr lang="en-US" sz="1100" dirty="0">
                <a:latin typeface="+mj-lt"/>
                <a:cs typeface="Calibri" panose="020F0502020204030204" pitchFamily="34" charset="0"/>
              </a:rPr>
              <a:t>Rs. 215 crore has already been utilized, remaining Rs. 104 crore are partly completed or ongoing as mentioned below :</a:t>
            </a:r>
          </a:p>
          <a:p>
            <a:pPr>
              <a:spcBef>
                <a:spcPts val="600"/>
              </a:spcBef>
              <a:buSzPct val="100000"/>
            </a:pPr>
            <a:r>
              <a:rPr lang="en-US" sz="1100" dirty="0">
                <a:latin typeface="+mj-lt"/>
                <a:cs typeface="Calibri" panose="020F0502020204030204" pitchFamily="34" charset="0"/>
              </a:rPr>
              <a:t>Service Connection with or without Pole – Rs. 60.10 Cr</a:t>
            </a:r>
          </a:p>
          <a:p>
            <a:pPr>
              <a:spcBef>
                <a:spcPts val="600"/>
              </a:spcBef>
              <a:buSzPct val="100000"/>
            </a:pPr>
            <a:r>
              <a:rPr lang="en-US" sz="1100" dirty="0">
                <a:latin typeface="+mj-lt"/>
                <a:cs typeface="Calibri" panose="020F0502020204030204" pitchFamily="34" charset="0"/>
              </a:rPr>
              <a:t>Unmanned 33/11 KV Substation – Rs. 12 Cr</a:t>
            </a:r>
          </a:p>
          <a:p>
            <a:pPr>
              <a:spcBef>
                <a:spcPts val="600"/>
              </a:spcBef>
              <a:buSzPct val="100000"/>
            </a:pPr>
            <a:r>
              <a:rPr lang="en-US" sz="1100" dirty="0">
                <a:latin typeface="+mj-lt"/>
                <a:cs typeface="Calibri" panose="020F0502020204030204" pitchFamily="34" charset="0"/>
              </a:rPr>
              <a:t>GIS mapping for LT line from 1 Ph to 3 Ph – Rs. 10 Cr</a:t>
            </a:r>
          </a:p>
          <a:p>
            <a:pPr>
              <a:spcBef>
                <a:spcPts val="600"/>
              </a:spcBef>
              <a:buSzPct val="100000"/>
            </a:pPr>
            <a:r>
              <a:rPr lang="en-US" sz="1100" dirty="0">
                <a:latin typeface="+mj-lt"/>
                <a:cs typeface="Calibri" panose="020F0502020204030204" pitchFamily="34" charset="0"/>
              </a:rPr>
              <a:t>Conversion of LT lines from 1 Ph to 3 Ph using AB cabling – Rs. 20 Cr    </a:t>
            </a:r>
          </a:p>
        </p:txBody>
      </p:sp>
      <p:sp>
        <p:nvSpPr>
          <p:cNvPr id="28" name="TextBox 27">
            <a:extLst>
              <a:ext uri="{FF2B5EF4-FFF2-40B4-BE49-F238E27FC236}">
                <a16:creationId xmlns:a16="http://schemas.microsoft.com/office/drawing/2014/main" id="{3BE2B623-A502-4A98-BEF3-7112D6E4D6EE}"/>
              </a:ext>
            </a:extLst>
          </p:cNvPr>
          <p:cNvSpPr txBox="1"/>
          <p:nvPr/>
        </p:nvSpPr>
        <p:spPr>
          <a:xfrm>
            <a:off x="4350327" y="4160444"/>
            <a:ext cx="2646218" cy="338554"/>
          </a:xfrm>
          <a:prstGeom prst="rect">
            <a:avLst/>
          </a:prstGeom>
          <a:solidFill>
            <a:srgbClr val="86BC25">
              <a:alpha val="10000"/>
            </a:srgbClr>
          </a:solidFill>
        </p:spPr>
        <p:txBody>
          <a:bodyPr wrap="square" lIns="91440" tIns="0" rIns="91440" bIns="0" rtlCol="0">
            <a:spAutoFit/>
          </a:bodyPr>
          <a:lstStyle/>
          <a:p>
            <a:pPr>
              <a:spcBef>
                <a:spcPts val="600"/>
              </a:spcBef>
              <a:buSzPct val="100000"/>
            </a:pPr>
            <a:r>
              <a:rPr lang="en-US" sz="1100" dirty="0">
                <a:latin typeface="+mj-lt"/>
                <a:cs typeface="Calibri" panose="020F0502020204030204" pitchFamily="34" charset="0"/>
              </a:rPr>
              <a:t>LT line Phase Conversion work ; New 33/11 KV Substation etc </a:t>
            </a:r>
          </a:p>
        </p:txBody>
      </p:sp>
      <p:sp>
        <p:nvSpPr>
          <p:cNvPr id="29" name="TextBox 28">
            <a:extLst>
              <a:ext uri="{FF2B5EF4-FFF2-40B4-BE49-F238E27FC236}">
                <a16:creationId xmlns:a16="http://schemas.microsoft.com/office/drawing/2014/main" id="{020BDB8F-15E8-4C9C-A672-22259664005F}"/>
              </a:ext>
            </a:extLst>
          </p:cNvPr>
          <p:cNvSpPr txBox="1"/>
          <p:nvPr/>
        </p:nvSpPr>
        <p:spPr>
          <a:xfrm>
            <a:off x="4350327" y="4881918"/>
            <a:ext cx="2992582" cy="677108"/>
          </a:xfrm>
          <a:prstGeom prst="rect">
            <a:avLst/>
          </a:prstGeom>
          <a:solidFill>
            <a:srgbClr val="0076A8">
              <a:alpha val="10000"/>
            </a:srgbClr>
          </a:solidFill>
        </p:spPr>
        <p:txBody>
          <a:bodyPr wrap="square" lIns="91440" tIns="0" rIns="91440" bIns="0" rtlCol="0">
            <a:spAutoFit/>
          </a:bodyPr>
          <a:lstStyle/>
          <a:p>
            <a:pPr>
              <a:spcBef>
                <a:spcPts val="600"/>
              </a:spcBef>
              <a:buSzPct val="100000"/>
            </a:pPr>
            <a:r>
              <a:rPr lang="en-US" sz="1100" dirty="0">
                <a:latin typeface="+mj-lt"/>
                <a:cs typeface="Calibri" panose="020F0502020204030204" pitchFamily="34" charset="0"/>
              </a:rPr>
              <a:t>Upgradation of LT network using AB Cabling ; New 33/11 KV Substation with Incoming line construction ; GIS mapping of LT &amp; HT assets </a:t>
            </a:r>
          </a:p>
        </p:txBody>
      </p:sp>
      <p:cxnSp>
        <p:nvCxnSpPr>
          <p:cNvPr id="32" name="Connector: Elbow 31">
            <a:extLst>
              <a:ext uri="{FF2B5EF4-FFF2-40B4-BE49-F238E27FC236}">
                <a16:creationId xmlns:a16="http://schemas.microsoft.com/office/drawing/2014/main" id="{C23FF623-D9D7-4D92-A08E-4617DDF79684}"/>
              </a:ext>
            </a:extLst>
          </p:cNvPr>
          <p:cNvCxnSpPr>
            <a:cxnSpLocks/>
          </p:cNvCxnSpPr>
          <p:nvPr/>
        </p:nvCxnSpPr>
        <p:spPr>
          <a:xfrm flipV="1">
            <a:off x="3048000" y="4488088"/>
            <a:ext cx="1302327" cy="430888"/>
          </a:xfrm>
          <a:prstGeom prst="bentConnector3">
            <a:avLst>
              <a:gd name="adj1" fmla="val 7234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57B4D139-CAB0-4A02-914D-930FD6C11483}"/>
              </a:ext>
            </a:extLst>
          </p:cNvPr>
          <p:cNvSpPr txBox="1"/>
          <p:nvPr/>
        </p:nvSpPr>
        <p:spPr>
          <a:xfrm>
            <a:off x="3879274" y="6027719"/>
            <a:ext cx="665018" cy="169277"/>
          </a:xfrm>
          <a:prstGeom prst="rect">
            <a:avLst/>
          </a:prstGeom>
          <a:noFill/>
        </p:spPr>
        <p:txBody>
          <a:bodyPr wrap="square" lIns="0" tIns="0" rIns="0" bIns="0" rtlCol="0">
            <a:spAutoFit/>
          </a:bodyPr>
          <a:lstStyle/>
          <a:p>
            <a:pPr>
              <a:spcBef>
                <a:spcPts val="600"/>
              </a:spcBef>
              <a:buSzPct val="100000"/>
            </a:pPr>
            <a:r>
              <a:rPr lang="en-US" sz="1100" dirty="0">
                <a:latin typeface="+mj-lt"/>
                <a:cs typeface="Calibri" panose="020F0502020204030204" pitchFamily="34" charset="0"/>
              </a:rPr>
              <a:t>Phase 1</a:t>
            </a:r>
          </a:p>
        </p:txBody>
      </p:sp>
      <p:sp>
        <p:nvSpPr>
          <p:cNvPr id="38" name="TextBox 37">
            <a:extLst>
              <a:ext uri="{FF2B5EF4-FFF2-40B4-BE49-F238E27FC236}">
                <a16:creationId xmlns:a16="http://schemas.microsoft.com/office/drawing/2014/main" id="{13E0CC53-1D85-4B65-AA9F-EACC30FD4292}"/>
              </a:ext>
            </a:extLst>
          </p:cNvPr>
          <p:cNvSpPr txBox="1"/>
          <p:nvPr/>
        </p:nvSpPr>
        <p:spPr>
          <a:xfrm>
            <a:off x="3359727" y="5333942"/>
            <a:ext cx="665018" cy="169277"/>
          </a:xfrm>
          <a:prstGeom prst="rect">
            <a:avLst/>
          </a:prstGeom>
          <a:noFill/>
        </p:spPr>
        <p:txBody>
          <a:bodyPr wrap="square" lIns="0" tIns="0" rIns="0" bIns="0" rtlCol="0">
            <a:spAutoFit/>
          </a:bodyPr>
          <a:lstStyle/>
          <a:p>
            <a:pPr>
              <a:spcBef>
                <a:spcPts val="600"/>
              </a:spcBef>
              <a:buSzPct val="100000"/>
            </a:pPr>
            <a:r>
              <a:rPr lang="en-US" sz="1100" dirty="0">
                <a:latin typeface="+mj-lt"/>
                <a:cs typeface="Calibri" panose="020F0502020204030204" pitchFamily="34" charset="0"/>
              </a:rPr>
              <a:t>Phase 2</a:t>
            </a:r>
          </a:p>
        </p:txBody>
      </p:sp>
      <p:sp>
        <p:nvSpPr>
          <p:cNvPr id="39" name="TextBox 38">
            <a:extLst>
              <a:ext uri="{FF2B5EF4-FFF2-40B4-BE49-F238E27FC236}">
                <a16:creationId xmlns:a16="http://schemas.microsoft.com/office/drawing/2014/main" id="{EE86A26D-05F6-45D0-AB9F-E4597C8A1E02}"/>
              </a:ext>
            </a:extLst>
          </p:cNvPr>
          <p:cNvSpPr txBox="1"/>
          <p:nvPr/>
        </p:nvSpPr>
        <p:spPr>
          <a:xfrm>
            <a:off x="3214256" y="4713576"/>
            <a:ext cx="665018" cy="169277"/>
          </a:xfrm>
          <a:prstGeom prst="rect">
            <a:avLst/>
          </a:prstGeom>
          <a:noFill/>
        </p:spPr>
        <p:txBody>
          <a:bodyPr wrap="square" lIns="0" tIns="0" rIns="0" bIns="0" rtlCol="0">
            <a:spAutoFit/>
          </a:bodyPr>
          <a:lstStyle/>
          <a:p>
            <a:pPr>
              <a:spcBef>
                <a:spcPts val="600"/>
              </a:spcBef>
              <a:buSzPct val="100000"/>
            </a:pPr>
            <a:r>
              <a:rPr lang="en-US" sz="1100" dirty="0">
                <a:latin typeface="+mj-lt"/>
                <a:cs typeface="Calibri" panose="020F0502020204030204" pitchFamily="34" charset="0"/>
              </a:rPr>
              <a:t>Phase 3</a:t>
            </a:r>
          </a:p>
        </p:txBody>
      </p:sp>
      <p:sp>
        <p:nvSpPr>
          <p:cNvPr id="41" name="TextBox 40">
            <a:extLst>
              <a:ext uri="{FF2B5EF4-FFF2-40B4-BE49-F238E27FC236}">
                <a16:creationId xmlns:a16="http://schemas.microsoft.com/office/drawing/2014/main" id="{DA76B69F-7BA1-4D07-9FDD-779098C7493D}"/>
              </a:ext>
            </a:extLst>
          </p:cNvPr>
          <p:cNvSpPr txBox="1"/>
          <p:nvPr/>
        </p:nvSpPr>
        <p:spPr>
          <a:xfrm>
            <a:off x="2881747" y="4001141"/>
            <a:ext cx="665018" cy="169277"/>
          </a:xfrm>
          <a:prstGeom prst="rect">
            <a:avLst/>
          </a:prstGeom>
          <a:noFill/>
        </p:spPr>
        <p:txBody>
          <a:bodyPr wrap="square" lIns="0" tIns="0" rIns="0" bIns="0" rtlCol="0">
            <a:spAutoFit/>
          </a:bodyPr>
          <a:lstStyle/>
          <a:p>
            <a:pPr>
              <a:spcBef>
                <a:spcPts val="600"/>
              </a:spcBef>
              <a:buSzPct val="100000"/>
            </a:pPr>
            <a:r>
              <a:rPr lang="en-US" sz="1100" dirty="0">
                <a:latin typeface="+mj-lt"/>
                <a:cs typeface="Calibri" panose="020F0502020204030204" pitchFamily="34" charset="0"/>
              </a:rPr>
              <a:t>Phase 4</a:t>
            </a:r>
          </a:p>
        </p:txBody>
      </p:sp>
      <p:sp>
        <p:nvSpPr>
          <p:cNvPr id="40" name="TextBox 39">
            <a:extLst>
              <a:ext uri="{FF2B5EF4-FFF2-40B4-BE49-F238E27FC236}">
                <a16:creationId xmlns:a16="http://schemas.microsoft.com/office/drawing/2014/main" id="{82964C64-C237-4058-8679-9700352C716A}"/>
              </a:ext>
            </a:extLst>
          </p:cNvPr>
          <p:cNvSpPr txBox="1"/>
          <p:nvPr/>
        </p:nvSpPr>
        <p:spPr>
          <a:xfrm>
            <a:off x="422849" y="3573987"/>
            <a:ext cx="11419466" cy="369332"/>
          </a:xfrm>
          <a:prstGeom prst="rect">
            <a:avLst/>
          </a:prstGeom>
          <a:solidFill>
            <a:srgbClr val="007680"/>
          </a:solidFill>
        </p:spPr>
        <p:txBody>
          <a:bodyPr wrap="square" lIns="91440" tIns="91440" rIns="91440" bIns="91440" rtlCol="0">
            <a:spAutoFit/>
          </a:bodyPr>
          <a:lstStyle/>
          <a:p>
            <a:pPr algn="ctr">
              <a:spcBef>
                <a:spcPts val="600"/>
              </a:spcBef>
              <a:buSzPct val="100000"/>
            </a:pPr>
            <a:r>
              <a:rPr lang="en-US" sz="1200" b="1" dirty="0">
                <a:solidFill>
                  <a:schemeClr val="bg1"/>
                </a:solidFill>
                <a:latin typeface="+mj-lt"/>
                <a:cs typeface="Calibri" panose="020F0502020204030204" pitchFamily="34" charset="0"/>
              </a:rPr>
              <a:t>Phasing of Work with Investment Proposal for SEEDN Scheme (In Crore)</a:t>
            </a:r>
          </a:p>
        </p:txBody>
      </p:sp>
      <p:sp>
        <p:nvSpPr>
          <p:cNvPr id="43" name="TextBox 42">
            <a:extLst>
              <a:ext uri="{FF2B5EF4-FFF2-40B4-BE49-F238E27FC236}">
                <a16:creationId xmlns:a16="http://schemas.microsoft.com/office/drawing/2014/main" id="{E0630033-A8B2-4AEC-B3E0-FE2E45F789B3}"/>
              </a:ext>
            </a:extLst>
          </p:cNvPr>
          <p:cNvSpPr txBox="1"/>
          <p:nvPr/>
        </p:nvSpPr>
        <p:spPr>
          <a:xfrm>
            <a:off x="4130542" y="6518906"/>
            <a:ext cx="7605698" cy="323165"/>
          </a:xfrm>
          <a:prstGeom prst="rect">
            <a:avLst/>
          </a:prstGeom>
          <a:noFill/>
        </p:spPr>
        <p:txBody>
          <a:bodyPr wrap="square" lIns="0" tIns="0" rIns="0" bIns="0" rtlCol="0">
            <a:spAutoFit/>
          </a:bodyPr>
          <a:lstStyle/>
          <a:p>
            <a:pPr>
              <a:spcBef>
                <a:spcPts val="600"/>
              </a:spcBef>
              <a:buSzPct val="100000"/>
            </a:pPr>
            <a:r>
              <a:rPr lang="en-US" sz="1050" b="1" dirty="0">
                <a:solidFill>
                  <a:srgbClr val="313131"/>
                </a:solidFill>
                <a:latin typeface="+mj-lt"/>
                <a:cs typeface="Calibri" panose="020F0502020204030204" pitchFamily="34" charset="0"/>
              </a:rPr>
              <a:t>Source </a:t>
            </a:r>
            <a:r>
              <a:rPr lang="en-US" sz="1050" dirty="0">
                <a:solidFill>
                  <a:srgbClr val="313131"/>
                </a:solidFill>
                <a:latin typeface="+mj-lt"/>
                <a:cs typeface="Calibri" panose="020F0502020204030204" pitchFamily="34" charset="0"/>
              </a:rPr>
              <a:t>: https://www.wbsedcl.in/irj/go/km/docs/internet/new_website/pdf/Tariff_Volumn/Investment_Approval.pdf</a:t>
            </a:r>
          </a:p>
        </p:txBody>
      </p:sp>
      <p:sp>
        <p:nvSpPr>
          <p:cNvPr id="2" name="Rectangle 1">
            <a:extLst>
              <a:ext uri="{FF2B5EF4-FFF2-40B4-BE49-F238E27FC236}">
                <a16:creationId xmlns:a16="http://schemas.microsoft.com/office/drawing/2014/main" id="{3231D42E-D205-4ED6-A1AF-B55C20946149}"/>
              </a:ext>
            </a:extLst>
          </p:cNvPr>
          <p:cNvSpPr/>
          <p:nvPr/>
        </p:nvSpPr>
        <p:spPr bwMode="gray">
          <a:xfrm>
            <a:off x="422849" y="2809069"/>
            <a:ext cx="11422786" cy="681233"/>
          </a:xfrm>
          <a:prstGeom prst="rect">
            <a:avLst/>
          </a:prstGeom>
          <a:solidFill>
            <a:schemeClr val="tx2">
              <a:lumMod val="20000"/>
              <a:lumOff val="80000"/>
            </a:schemeClr>
          </a:solidFill>
          <a:ln w="9525" algn="ctr">
            <a:solidFill>
              <a:schemeClr val="tx1"/>
            </a:solidFill>
            <a:prstDash val="lgDash"/>
            <a:miter lim="800000"/>
            <a:headEnd/>
            <a:tailEnd/>
          </a:ln>
        </p:spPr>
        <p:txBody>
          <a:bodyPr wrap="square" lIns="88900" tIns="88900" rIns="88900" bIns="88900" rtlCol="0" anchor="ctr"/>
          <a:lstStyle/>
          <a:p>
            <a:pPr algn="just">
              <a:lnSpc>
                <a:spcPct val="106000"/>
              </a:lnSpc>
              <a:buFont typeface="Wingdings 2" pitchFamily="18" charset="2"/>
              <a:buNone/>
            </a:pPr>
            <a:r>
              <a:rPr lang="en-US" sz="1100" b="1" i="1" dirty="0"/>
              <a:t>Note: Although project cost is Rs 1137 Cr, total sanction accorded by </a:t>
            </a:r>
            <a:r>
              <a:rPr lang="en-US" sz="1100" b="1" i="1" dirty="0" err="1"/>
              <a:t>GoWB</a:t>
            </a:r>
            <a:r>
              <a:rPr lang="en-US" sz="1100" b="1" i="1" dirty="0"/>
              <a:t> is Rs 1019 Cr. Thus, WBSEDCL had decided to accordingly revise project cost to Rs. 1019 Cr (additional amount of Rs. 118.10 Cr to be subsumed in next DPR; and accordingly, Rs 1019 Cr was approved by Commission as the project cost for SEEDN (Ph-I,II,III)</a:t>
            </a:r>
          </a:p>
        </p:txBody>
      </p:sp>
    </p:spTree>
    <p:extLst>
      <p:ext uri="{BB962C8B-B14F-4D97-AF65-F5344CB8AC3E}">
        <p14:creationId xmlns:p14="http://schemas.microsoft.com/office/powerpoint/2010/main" val="16836384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9753"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5" y="1631651"/>
            <a:ext cx="9630230" cy="430887"/>
          </a:xfrm>
        </p:spPr>
        <p:txBody>
          <a:bodyPr anchor="ctr" anchorCtr="0">
            <a:spAutoFit/>
          </a:bodyPr>
          <a:lstStyle/>
          <a:p>
            <a:r>
              <a:rPr lang="en-US" sz="2800" i="0" dirty="0">
                <a:solidFill>
                  <a:schemeClr val="tx1"/>
                </a:solidFill>
              </a:rPr>
              <a:t>Power Generation Upcoming Projects</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68992" y="1590786"/>
            <a:ext cx="501149" cy="501149"/>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2000" b="1" i="0" u="none" strike="noStrike" kern="0" cap="none" spc="0" normalizeH="0" baseline="0" noProof="0" dirty="0">
                <a:ln>
                  <a:noFill/>
                </a:ln>
                <a:solidFill>
                  <a:prstClr val="white"/>
                </a:solidFill>
                <a:effectLst/>
                <a:uLnTx/>
                <a:uFillTx/>
              </a:rPr>
              <a:t>4</a:t>
            </a:r>
            <a:endParaRPr kumimoji="0" lang="en-IN" sz="20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1B748CB-0B57-4CA1-9B41-81AB5E897267}"/>
              </a:ext>
            </a:extLst>
          </p:cNvPr>
          <p:cNvSpPr txBox="1"/>
          <p:nvPr/>
        </p:nvSpPr>
        <p:spPr>
          <a:xfrm>
            <a:off x="4972286" y="2929535"/>
            <a:ext cx="6096202" cy="861774"/>
          </a:xfrm>
          <a:prstGeom prst="rect">
            <a:avLst/>
          </a:prstGeom>
          <a:noFill/>
        </p:spPr>
        <p:txBody>
          <a:bodyPr wrap="square" lIns="0" tIns="0" rIns="0" bIns="0" rtlCol="0">
            <a:spAutoFit/>
          </a:bodyPr>
          <a:lstStyle/>
          <a:p>
            <a:pPr>
              <a:spcBef>
                <a:spcPts val="1800"/>
              </a:spcBef>
              <a:buSzPct val="100000"/>
            </a:pPr>
            <a:r>
              <a:rPr lang="en-IN" sz="1400" b="1" dirty="0"/>
              <a:t>Topics Covered</a:t>
            </a:r>
          </a:p>
          <a:p>
            <a:pPr marL="800071" lvl="1" indent="-342900">
              <a:buSzPct val="100000"/>
              <a:buFont typeface="+mj-lt"/>
              <a:buAutoNum type="alphaUcPeriod"/>
            </a:pPr>
            <a:r>
              <a:rPr lang="en-IN" sz="1400" b="1" dirty="0"/>
              <a:t>Status of Existing  RE Projects</a:t>
            </a:r>
          </a:p>
          <a:p>
            <a:pPr marL="800071" lvl="1" indent="-342900">
              <a:buSzPct val="100000"/>
              <a:buFont typeface="+mj-lt"/>
              <a:buAutoNum type="alphaUcPeriod"/>
            </a:pPr>
            <a:r>
              <a:rPr lang="en-IN" sz="1400" b="1" dirty="0"/>
              <a:t>Status of Planned/ Upcoming Projects</a:t>
            </a:r>
          </a:p>
          <a:p>
            <a:pPr>
              <a:buSzPct val="100000"/>
            </a:pPr>
            <a:endParaRPr lang="en-IN" sz="1400" b="1" dirty="0">
              <a:solidFill>
                <a:srgbClr val="FF0000"/>
              </a:solidFill>
            </a:endParaRPr>
          </a:p>
        </p:txBody>
      </p: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26584153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9AB790-4F16-43DD-BB50-31270723FCC0}"/>
              </a:ext>
            </a:extLst>
          </p:cNvPr>
          <p:cNvSpPr>
            <a:spLocks noGrp="1"/>
          </p:cNvSpPr>
          <p:nvPr>
            <p:ph type="title"/>
          </p:nvPr>
        </p:nvSpPr>
        <p:spPr>
          <a:xfrm>
            <a:off x="469902" y="348159"/>
            <a:ext cx="11252200" cy="334102"/>
          </a:xfrm>
        </p:spPr>
        <p:txBody>
          <a:bodyPr/>
          <a:lstStyle/>
          <a:p>
            <a:r>
              <a:rPr lang="en-US" sz="1800" b="1" dirty="0"/>
              <a:t>Status of Rooftop Solar (RTS) Grid Connected Solar PV Power Plant-WBSEDCL in FY 21</a:t>
            </a:r>
          </a:p>
        </p:txBody>
      </p:sp>
      <p:graphicFrame>
        <p:nvGraphicFramePr>
          <p:cNvPr id="10" name="Table 9">
            <a:extLst>
              <a:ext uri="{FF2B5EF4-FFF2-40B4-BE49-F238E27FC236}">
                <a16:creationId xmlns:a16="http://schemas.microsoft.com/office/drawing/2014/main" id="{DB276F9C-F33E-4A4A-8F51-DBDEAA90E22D}"/>
              </a:ext>
            </a:extLst>
          </p:cNvPr>
          <p:cNvGraphicFramePr>
            <a:graphicFrameLocks noGrp="1"/>
          </p:cNvGraphicFramePr>
          <p:nvPr/>
        </p:nvGraphicFramePr>
        <p:xfrm>
          <a:off x="13361158" y="2115403"/>
          <a:ext cx="208280" cy="457200"/>
        </p:xfrm>
        <a:graphic>
          <a:graphicData uri="http://schemas.openxmlformats.org/drawingml/2006/table">
            <a:tbl>
              <a:tblPr/>
              <a:tblGrid>
                <a:gridCol w="208280">
                  <a:extLst>
                    <a:ext uri="{9D8B030D-6E8A-4147-A177-3AD203B41FA5}">
                      <a16:colId xmlns:a16="http://schemas.microsoft.com/office/drawing/2014/main" val="2883617663"/>
                    </a:ext>
                  </a:extLst>
                </a:gridCol>
              </a:tblGrid>
              <a:tr h="0">
                <a:tc>
                  <a:txBody>
                    <a:bodyPr/>
                    <a:lstStyle/>
                    <a:p>
                      <a:endParaRPr lang="en-US" dirty="0"/>
                    </a:p>
                  </a:txBody>
                  <a:tcPr>
                    <a:lnL w="3175" cmpd="sng">
                      <a:solidFill>
                        <a:schemeClr val="tx1"/>
                      </a:solidFill>
                      <a:prstDash val="solid"/>
                    </a:lnL>
                    <a:lnR w="3175" cmpd="sng">
                      <a:solidFill>
                        <a:schemeClr val="tx1"/>
                      </a:solidFill>
                      <a:prstDash val="solid"/>
                    </a:lnR>
                    <a:lnT w="3175" cmpd="sng">
                      <a:solidFill>
                        <a:schemeClr val="tx1"/>
                      </a:solidFill>
                      <a:prstDash val="solid"/>
                    </a:lnT>
                    <a:lnB w="3175" cmpd="sng">
                      <a:solidFill>
                        <a:schemeClr val="tx1"/>
                      </a:solidFill>
                      <a:prstDash val="solid"/>
                    </a:lnB>
                  </a:tcPr>
                </a:tc>
                <a:extLst>
                  <a:ext uri="{0D108BD9-81ED-4DB2-BD59-A6C34878D82A}">
                    <a16:rowId xmlns:a16="http://schemas.microsoft.com/office/drawing/2014/main" val="449683004"/>
                  </a:ext>
                </a:extLst>
              </a:tr>
            </a:tbl>
          </a:graphicData>
        </a:graphic>
      </p:graphicFrame>
      <p:graphicFrame>
        <p:nvGraphicFramePr>
          <p:cNvPr id="7" name="Table 7">
            <a:extLst>
              <a:ext uri="{FF2B5EF4-FFF2-40B4-BE49-F238E27FC236}">
                <a16:creationId xmlns:a16="http://schemas.microsoft.com/office/drawing/2014/main" id="{F9249AA8-F174-4D5F-AF7F-CD3DB43A8FFC}"/>
              </a:ext>
            </a:extLst>
          </p:cNvPr>
          <p:cNvGraphicFramePr>
            <a:graphicFrameLocks noGrp="1"/>
          </p:cNvGraphicFramePr>
          <p:nvPr>
            <p:extLst>
              <p:ext uri="{D42A27DB-BD31-4B8C-83A1-F6EECF244321}">
                <p14:modId xmlns:p14="http://schemas.microsoft.com/office/powerpoint/2010/main" val="2985397888"/>
              </p:ext>
            </p:extLst>
          </p:nvPr>
        </p:nvGraphicFramePr>
        <p:xfrm>
          <a:off x="469901" y="972402"/>
          <a:ext cx="11156040" cy="3706805"/>
        </p:xfrm>
        <a:graphic>
          <a:graphicData uri="http://schemas.openxmlformats.org/drawingml/2006/table">
            <a:tbl>
              <a:tblPr firstRow="1" bandRow="1">
                <a:tableStyleId>{5C22544A-7EE6-4342-B048-85BDC9FD1C3A}</a:tableStyleId>
              </a:tblPr>
              <a:tblGrid>
                <a:gridCol w="923470">
                  <a:extLst>
                    <a:ext uri="{9D8B030D-6E8A-4147-A177-3AD203B41FA5}">
                      <a16:colId xmlns:a16="http://schemas.microsoft.com/office/drawing/2014/main" val="261175579"/>
                    </a:ext>
                  </a:extLst>
                </a:gridCol>
                <a:gridCol w="4654550">
                  <a:extLst>
                    <a:ext uri="{9D8B030D-6E8A-4147-A177-3AD203B41FA5}">
                      <a16:colId xmlns:a16="http://schemas.microsoft.com/office/drawing/2014/main" val="3375013156"/>
                    </a:ext>
                  </a:extLst>
                </a:gridCol>
                <a:gridCol w="2789010">
                  <a:extLst>
                    <a:ext uri="{9D8B030D-6E8A-4147-A177-3AD203B41FA5}">
                      <a16:colId xmlns:a16="http://schemas.microsoft.com/office/drawing/2014/main" val="1181214240"/>
                    </a:ext>
                  </a:extLst>
                </a:gridCol>
                <a:gridCol w="2789010">
                  <a:extLst>
                    <a:ext uri="{9D8B030D-6E8A-4147-A177-3AD203B41FA5}">
                      <a16:colId xmlns:a16="http://schemas.microsoft.com/office/drawing/2014/main" val="890654415"/>
                    </a:ext>
                  </a:extLst>
                </a:gridCol>
              </a:tblGrid>
              <a:tr h="537022">
                <a:tc>
                  <a:txBody>
                    <a:bodyPr/>
                    <a:lstStyle/>
                    <a:p>
                      <a:pPr algn="ctr"/>
                      <a:r>
                        <a:rPr lang="en-US" sz="1400" dirty="0" err="1">
                          <a:latin typeface="+mn-lt"/>
                        </a:rPr>
                        <a:t>Sl</a:t>
                      </a:r>
                      <a:r>
                        <a:rPr lang="en-US" sz="1400" dirty="0">
                          <a:latin typeface="+mn-lt"/>
                        </a:rPr>
                        <a:t>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a:r>
                        <a:rPr lang="en-US" sz="1400" dirty="0">
                          <a:latin typeface="+mn-lt"/>
                        </a:rPr>
                        <a:t>Name of the Project and Capacity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a:r>
                        <a:rPr lang="en-US" sz="1400" dirty="0">
                          <a:latin typeface="+mn-lt"/>
                        </a:rPr>
                        <a:t>Financial Achievement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a:r>
                        <a:rPr lang="en-US" sz="1400" dirty="0">
                          <a:latin typeface="+mn-lt"/>
                        </a:rPr>
                        <a:t>Physical Achievement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3125308379"/>
                  </a:ext>
                </a:extLst>
              </a:tr>
              <a:tr h="706219">
                <a:tc>
                  <a:txBody>
                    <a:bodyPr/>
                    <a:lstStyle/>
                    <a:p>
                      <a:pPr algn="ctr"/>
                      <a:r>
                        <a:rPr lang="en-US" sz="1400" dirty="0">
                          <a:latin typeface="+mn-l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400" dirty="0">
                          <a:latin typeface="+mn-lt"/>
                        </a:rPr>
                        <a:t>2.4 MW Grid Connected Solar School RTS Program (10 </a:t>
                      </a:r>
                      <a:r>
                        <a:rPr lang="en-US" sz="1400" dirty="0" err="1">
                          <a:latin typeface="+mn-lt"/>
                        </a:rPr>
                        <a:t>kWp</a:t>
                      </a:r>
                      <a:r>
                        <a:rPr lang="en-US" sz="1400" dirty="0">
                          <a:latin typeface="+mn-lt"/>
                        </a:rPr>
                        <a:t> each)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400" dirty="0">
                          <a:latin typeface="+mn-lt"/>
                        </a:rPr>
                        <a:t>Awarded Cost: Rs. 18.86 Cr</a:t>
                      </a:r>
                    </a:p>
                    <a:p>
                      <a:pPr algn="l"/>
                      <a:r>
                        <a:rPr lang="en-US" sz="1400" dirty="0">
                          <a:latin typeface="+mn-lt"/>
                        </a:rPr>
                        <a:t>Fund Received: Rs. 18.86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solidFill>
                            <a:srgbClr val="009A44"/>
                          </a:solidFill>
                          <a:latin typeface="+mn-lt"/>
                        </a:rPr>
                        <a:t>Project Completed</a:t>
                      </a:r>
                    </a:p>
                    <a:p>
                      <a:pPr algn="ctr"/>
                      <a:r>
                        <a:rPr lang="en-US" sz="1400" b="1" dirty="0">
                          <a:solidFill>
                            <a:schemeClr val="tx1"/>
                          </a:solidFill>
                          <a:latin typeface="+mn-lt"/>
                        </a:rPr>
                        <a:t>Generation: 0.47684 MU</a:t>
                      </a:r>
                    </a:p>
                    <a:p>
                      <a:pPr algn="ctr"/>
                      <a:r>
                        <a:rPr lang="en-US" sz="1400" b="1" dirty="0">
                          <a:solidFill>
                            <a:schemeClr val="tx1"/>
                          </a:solidFill>
                          <a:latin typeface="+mn-lt"/>
                        </a:rPr>
                        <a:t>CUF achieved for FY 21:</a:t>
                      </a:r>
                      <a:r>
                        <a:rPr lang="en-US" sz="1400" b="1" dirty="0">
                          <a:solidFill>
                            <a:srgbClr val="009A44"/>
                          </a:solidFill>
                          <a:latin typeface="+mn-lt"/>
                        </a:rPr>
                        <a:t> </a:t>
                      </a:r>
                      <a:r>
                        <a:rPr lang="en-US" sz="1400" b="1" dirty="0">
                          <a:solidFill>
                            <a:srgbClr val="C00000"/>
                          </a:solidFill>
                          <a:latin typeface="+mn-lt"/>
                        </a:rPr>
                        <a:t>2.27%</a:t>
                      </a:r>
                      <a:r>
                        <a:rPr lang="en-US" sz="1400" b="1" dirty="0">
                          <a:solidFill>
                            <a:srgbClr val="009A44"/>
                          </a:solidFill>
                          <a:latin typeface="+mn-lt"/>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9625873"/>
                  </a:ext>
                </a:extLst>
              </a:tr>
              <a:tr h="1280023">
                <a:tc>
                  <a:txBody>
                    <a:bodyPr/>
                    <a:lstStyle/>
                    <a:p>
                      <a:pPr algn="ctr"/>
                      <a:r>
                        <a:rPr lang="en-US" sz="1400" dirty="0">
                          <a:latin typeface="+mn-l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latin typeface="+mn-lt"/>
                        </a:rPr>
                        <a:t>4.715 MW (Revised) RTS PV plant (5 </a:t>
                      </a:r>
                      <a:r>
                        <a:rPr lang="en-US" sz="1400" dirty="0" err="1">
                          <a:latin typeface="+mn-lt"/>
                        </a:rPr>
                        <a:t>kWp</a:t>
                      </a:r>
                      <a:r>
                        <a:rPr lang="en-US" sz="1400" dirty="0">
                          <a:latin typeface="+mn-lt"/>
                        </a:rPr>
                        <a:t> each) Project under IPDS </a:t>
                      </a:r>
                      <a:r>
                        <a:rPr lang="en-US" sz="1400" dirty="0" err="1">
                          <a:latin typeface="+mn-lt"/>
                        </a:rPr>
                        <a:t>Programme</a:t>
                      </a:r>
                      <a:endParaRPr lang="en-US" sz="14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latin typeface="+mn-lt"/>
                        </a:rPr>
                        <a:t>Fund was then in process of being released from Project-II Dept of WBSEDCL under IPDS scheme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1" dirty="0">
                          <a:solidFill>
                            <a:srgbClr val="009A44"/>
                          </a:solidFill>
                          <a:latin typeface="+mn-lt"/>
                        </a:rPr>
                        <a:t>Project Completed</a:t>
                      </a:r>
                    </a:p>
                    <a:p>
                      <a:pPr algn="ctr"/>
                      <a:r>
                        <a:rPr lang="en-US" sz="1400" b="1" dirty="0">
                          <a:solidFill>
                            <a:schemeClr val="tx1"/>
                          </a:solidFill>
                          <a:latin typeface="+mn-lt"/>
                        </a:rPr>
                        <a:t>Generation: 4.064448 MU</a:t>
                      </a:r>
                    </a:p>
                    <a:p>
                      <a:pPr algn="ctr"/>
                      <a:r>
                        <a:rPr lang="en-US" sz="1400" b="1" dirty="0">
                          <a:solidFill>
                            <a:schemeClr val="tx1"/>
                          </a:solidFill>
                          <a:latin typeface="+mn-lt"/>
                        </a:rPr>
                        <a:t>CUF achieved for FY 21:</a:t>
                      </a:r>
                      <a:r>
                        <a:rPr lang="en-US" sz="1400" b="1" dirty="0">
                          <a:solidFill>
                            <a:srgbClr val="009A44"/>
                          </a:solidFill>
                          <a:latin typeface="+mn-lt"/>
                        </a:rPr>
                        <a:t> </a:t>
                      </a:r>
                      <a:r>
                        <a:rPr lang="en-US" sz="1400" b="1" dirty="0">
                          <a:solidFill>
                            <a:srgbClr val="ED8B00"/>
                          </a:solidFill>
                          <a:latin typeface="+mn-lt"/>
                        </a:rPr>
                        <a:t>9.84%</a:t>
                      </a:r>
                      <a:endParaRPr lang="en-US" sz="1400" b="1" dirty="0">
                        <a:solidFill>
                          <a:srgbClr val="009A44"/>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0015380"/>
                  </a:ext>
                </a:extLst>
              </a:tr>
              <a:tr h="706219">
                <a:tc>
                  <a:txBody>
                    <a:bodyPr/>
                    <a:lstStyle/>
                    <a:p>
                      <a:pPr algn="ctr"/>
                      <a:r>
                        <a:rPr lang="en-US" sz="1400" dirty="0">
                          <a:latin typeface="+mn-l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400" dirty="0">
                          <a:latin typeface="+mn-lt"/>
                        </a:rPr>
                        <a:t>5.425 MW (Revised) RTS PV plant (Min 10 </a:t>
                      </a:r>
                      <a:r>
                        <a:rPr lang="en-US" sz="1400" dirty="0" err="1">
                          <a:latin typeface="+mn-lt"/>
                        </a:rPr>
                        <a:t>kWp</a:t>
                      </a:r>
                      <a:r>
                        <a:rPr lang="en-US" sz="1400" dirty="0">
                          <a:latin typeface="+mn-lt"/>
                        </a:rPr>
                        <a:t> each) Project under </a:t>
                      </a:r>
                      <a:r>
                        <a:rPr lang="en-US" sz="1400" dirty="0" err="1">
                          <a:latin typeface="+mn-lt"/>
                        </a:rPr>
                        <a:t>Alo</a:t>
                      </a:r>
                      <a:r>
                        <a:rPr lang="en-US" sz="1400" dirty="0">
                          <a:latin typeface="+mn-lt"/>
                        </a:rPr>
                        <a:t> Shree </a:t>
                      </a:r>
                      <a:r>
                        <a:rPr lang="en-US" sz="1400" dirty="0" err="1">
                          <a:latin typeface="+mn-lt"/>
                        </a:rPr>
                        <a:t>Programme</a:t>
                      </a:r>
                      <a:endParaRPr lang="en-US" sz="14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latin typeface="+mn-lt"/>
                        </a:rPr>
                        <a:t>Fund was then in process of being released from WBREDA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1219231" rtl="0" eaLnBrk="1" fontAlgn="auto" latinLnBrk="0" hangingPunct="1">
                        <a:lnSpc>
                          <a:spcPct val="100000"/>
                        </a:lnSpc>
                        <a:spcBef>
                          <a:spcPts val="0"/>
                        </a:spcBef>
                        <a:spcAft>
                          <a:spcPts val="0"/>
                        </a:spcAft>
                        <a:buClrTx/>
                        <a:buSzTx/>
                        <a:buFontTx/>
                        <a:buNone/>
                        <a:tabLst/>
                        <a:defRPr/>
                      </a:pPr>
                      <a:r>
                        <a:rPr lang="en-US" sz="1400" b="1" dirty="0">
                          <a:solidFill>
                            <a:srgbClr val="009A44"/>
                          </a:solidFill>
                          <a:latin typeface="+mn-lt"/>
                        </a:rPr>
                        <a:t>Project Completed</a:t>
                      </a:r>
                    </a:p>
                    <a:p>
                      <a:pPr algn="ctr"/>
                      <a:r>
                        <a:rPr lang="en-US" sz="1400" b="1" dirty="0">
                          <a:solidFill>
                            <a:schemeClr val="tx1"/>
                          </a:solidFill>
                          <a:latin typeface="+mn-lt"/>
                        </a:rPr>
                        <a:t>Generation: 3.146043 MU</a:t>
                      </a:r>
                    </a:p>
                    <a:p>
                      <a:pPr algn="ctr"/>
                      <a:r>
                        <a:rPr lang="en-US" sz="1400" b="1" dirty="0">
                          <a:solidFill>
                            <a:schemeClr val="tx1"/>
                          </a:solidFill>
                          <a:latin typeface="+mn-lt"/>
                        </a:rPr>
                        <a:t>CUF achieved for FY 21:</a:t>
                      </a:r>
                      <a:r>
                        <a:rPr lang="en-US" sz="1400" b="1" dirty="0">
                          <a:solidFill>
                            <a:srgbClr val="009A44"/>
                          </a:solidFill>
                          <a:latin typeface="+mn-lt"/>
                        </a:rPr>
                        <a:t> </a:t>
                      </a:r>
                      <a:r>
                        <a:rPr lang="en-US" sz="1400" b="1" dirty="0">
                          <a:solidFill>
                            <a:srgbClr val="DA291C"/>
                          </a:solidFill>
                          <a:latin typeface="+mn-lt"/>
                        </a:rPr>
                        <a:t>6.62%</a:t>
                      </a:r>
                      <a:r>
                        <a:rPr lang="en-US" sz="1400" b="1" dirty="0">
                          <a:solidFill>
                            <a:srgbClr val="009A44"/>
                          </a:solidFill>
                          <a:latin typeface="+mn-lt"/>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65383086"/>
                  </a:ext>
                </a:extLst>
              </a:tr>
            </a:tbl>
          </a:graphicData>
        </a:graphic>
      </p:graphicFrame>
      <p:sp>
        <p:nvSpPr>
          <p:cNvPr id="8" name="TextBox 7">
            <a:extLst>
              <a:ext uri="{FF2B5EF4-FFF2-40B4-BE49-F238E27FC236}">
                <a16:creationId xmlns:a16="http://schemas.microsoft.com/office/drawing/2014/main" id="{9C0C91E0-36DF-4EF4-ADBC-584BF2413C02}"/>
              </a:ext>
            </a:extLst>
          </p:cNvPr>
          <p:cNvSpPr txBox="1"/>
          <p:nvPr/>
        </p:nvSpPr>
        <p:spPr>
          <a:xfrm>
            <a:off x="469901" y="5216948"/>
            <a:ext cx="11156040" cy="369332"/>
          </a:xfrm>
          <a:prstGeom prst="rect">
            <a:avLst/>
          </a:prstGeom>
          <a:solidFill>
            <a:schemeClr val="bg1">
              <a:lumMod val="95000"/>
            </a:schemeClr>
          </a:solidFill>
        </p:spPr>
        <p:txBody>
          <a:bodyPr wrap="square" lIns="0" tIns="0" rIns="0" bIns="0" rtlCol="0">
            <a:spAutoFit/>
          </a:bodyPr>
          <a:lstStyle/>
          <a:p>
            <a:pPr algn="just">
              <a:spcBef>
                <a:spcPts val="600"/>
              </a:spcBef>
              <a:buSzPct val="100000"/>
            </a:pPr>
            <a:r>
              <a:rPr lang="en-US" sz="1200" b="1" i="1" dirty="0">
                <a:solidFill>
                  <a:srgbClr val="313131"/>
                </a:solidFill>
              </a:rPr>
              <a:t>Note: As can be seen from above, with respect to  RTS projects mentioned above under IPDS and </a:t>
            </a:r>
            <a:r>
              <a:rPr lang="en-US" sz="1200" b="1" i="1" dirty="0" err="1">
                <a:solidFill>
                  <a:srgbClr val="313131"/>
                </a:solidFill>
              </a:rPr>
              <a:t>Alo</a:t>
            </a:r>
            <a:r>
              <a:rPr lang="en-US" sz="1200" b="1" i="1" dirty="0">
                <a:solidFill>
                  <a:srgbClr val="313131"/>
                </a:solidFill>
              </a:rPr>
              <a:t> Shree Schemes, there has been a gap in project implementation and fund disbursement timelines, leading to likely IDC expense</a:t>
            </a:r>
          </a:p>
        </p:txBody>
      </p:sp>
    </p:spTree>
    <p:extLst>
      <p:ext uri="{BB962C8B-B14F-4D97-AF65-F5344CB8AC3E}">
        <p14:creationId xmlns:p14="http://schemas.microsoft.com/office/powerpoint/2010/main" val="2211324866"/>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9AB790-4F16-43DD-BB50-31270723FCC0}"/>
              </a:ext>
            </a:extLst>
          </p:cNvPr>
          <p:cNvSpPr>
            <a:spLocks noGrp="1"/>
          </p:cNvSpPr>
          <p:nvPr>
            <p:ph type="title"/>
          </p:nvPr>
        </p:nvSpPr>
        <p:spPr>
          <a:xfrm>
            <a:off x="326066" y="348159"/>
            <a:ext cx="11540588" cy="299113"/>
          </a:xfrm>
        </p:spPr>
        <p:txBody>
          <a:bodyPr/>
          <a:lstStyle/>
          <a:p>
            <a:r>
              <a:rPr lang="en-US" sz="1800" b="1" dirty="0"/>
              <a:t>Status of Ground Mounted Grid Connected Solar PV Power Plant-WBSEDCL in FY 21 (1/3)</a:t>
            </a:r>
          </a:p>
        </p:txBody>
      </p:sp>
      <p:graphicFrame>
        <p:nvGraphicFramePr>
          <p:cNvPr id="12" name="Table 7">
            <a:extLst>
              <a:ext uri="{FF2B5EF4-FFF2-40B4-BE49-F238E27FC236}">
                <a16:creationId xmlns:a16="http://schemas.microsoft.com/office/drawing/2014/main" id="{152C6610-CD90-4469-A46F-4554FB6FE53B}"/>
              </a:ext>
            </a:extLst>
          </p:cNvPr>
          <p:cNvGraphicFramePr>
            <a:graphicFrameLocks noGrp="1"/>
          </p:cNvGraphicFramePr>
          <p:nvPr>
            <p:extLst>
              <p:ext uri="{D42A27DB-BD31-4B8C-83A1-F6EECF244321}">
                <p14:modId xmlns:p14="http://schemas.microsoft.com/office/powerpoint/2010/main" val="530876167"/>
              </p:ext>
            </p:extLst>
          </p:nvPr>
        </p:nvGraphicFramePr>
        <p:xfrm>
          <a:off x="469901" y="972402"/>
          <a:ext cx="11156040" cy="4891737"/>
        </p:xfrm>
        <a:graphic>
          <a:graphicData uri="http://schemas.openxmlformats.org/drawingml/2006/table">
            <a:tbl>
              <a:tblPr firstRow="1" bandRow="1">
                <a:tableStyleId>{5C22544A-7EE6-4342-B048-85BDC9FD1C3A}</a:tableStyleId>
              </a:tblPr>
              <a:tblGrid>
                <a:gridCol w="923470">
                  <a:extLst>
                    <a:ext uri="{9D8B030D-6E8A-4147-A177-3AD203B41FA5}">
                      <a16:colId xmlns:a16="http://schemas.microsoft.com/office/drawing/2014/main" val="261175579"/>
                    </a:ext>
                  </a:extLst>
                </a:gridCol>
                <a:gridCol w="4654550">
                  <a:extLst>
                    <a:ext uri="{9D8B030D-6E8A-4147-A177-3AD203B41FA5}">
                      <a16:colId xmlns:a16="http://schemas.microsoft.com/office/drawing/2014/main" val="3375013156"/>
                    </a:ext>
                  </a:extLst>
                </a:gridCol>
                <a:gridCol w="2789010">
                  <a:extLst>
                    <a:ext uri="{9D8B030D-6E8A-4147-A177-3AD203B41FA5}">
                      <a16:colId xmlns:a16="http://schemas.microsoft.com/office/drawing/2014/main" val="1181214240"/>
                    </a:ext>
                  </a:extLst>
                </a:gridCol>
                <a:gridCol w="2789010">
                  <a:extLst>
                    <a:ext uri="{9D8B030D-6E8A-4147-A177-3AD203B41FA5}">
                      <a16:colId xmlns:a16="http://schemas.microsoft.com/office/drawing/2014/main" val="890654415"/>
                    </a:ext>
                  </a:extLst>
                </a:gridCol>
              </a:tblGrid>
              <a:tr h="319737">
                <a:tc>
                  <a:txBody>
                    <a:bodyPr/>
                    <a:lstStyle/>
                    <a:p>
                      <a:pPr algn="ctr"/>
                      <a:r>
                        <a:rPr lang="en-US" sz="1200" dirty="0" err="1">
                          <a:latin typeface="+mn-lt"/>
                        </a:rPr>
                        <a:t>Sl</a:t>
                      </a:r>
                      <a:r>
                        <a:rPr lang="en-US" sz="1200" dirty="0">
                          <a:latin typeface="+mn-lt"/>
                        </a:rPr>
                        <a:t>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a:r>
                        <a:rPr lang="en-US" sz="1200" dirty="0">
                          <a:latin typeface="+mn-lt"/>
                        </a:rPr>
                        <a:t>Name of the Project and Capacity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a:r>
                        <a:rPr lang="en-US" sz="1200" dirty="0">
                          <a:latin typeface="+mn-lt"/>
                        </a:rPr>
                        <a:t>Financial Achievement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a:r>
                        <a:rPr lang="en-US" sz="1200" dirty="0">
                          <a:latin typeface="+mn-lt"/>
                        </a:rPr>
                        <a:t>Physical Achievement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3125308379"/>
                  </a:ext>
                </a:extLst>
              </a:tr>
              <a:tr h="526276">
                <a:tc>
                  <a:txBody>
                    <a:bodyPr/>
                    <a:lstStyle/>
                    <a:p>
                      <a:pPr algn="ctr"/>
                      <a:r>
                        <a:rPr lang="en-US" sz="1200" dirty="0">
                          <a:latin typeface="+mn-l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b="0" dirty="0">
                          <a:latin typeface="+mn-lt"/>
                        </a:rPr>
                        <a:t>10 MW Teesta Canal Bank Solar PV Power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200" dirty="0">
                          <a:latin typeface="+mn-lt"/>
                        </a:rPr>
                        <a:t>Awarded Cost: Rs. 65.88 Cr</a:t>
                      </a:r>
                    </a:p>
                    <a:p>
                      <a:pPr algn="l"/>
                      <a:r>
                        <a:rPr lang="en-US" sz="1200" dirty="0">
                          <a:latin typeface="+mn-lt"/>
                        </a:rPr>
                        <a:t>Fund Received: Rs. 65.88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dirty="0">
                          <a:solidFill>
                            <a:srgbClr val="009A44"/>
                          </a:solidFill>
                          <a:latin typeface="+mn-lt"/>
                        </a:rPr>
                        <a:t>Project Completed</a:t>
                      </a:r>
                    </a:p>
                    <a:p>
                      <a:pPr algn="ctr"/>
                      <a:r>
                        <a:rPr lang="en-US" sz="1200" b="1" dirty="0">
                          <a:solidFill>
                            <a:schemeClr val="tx1"/>
                          </a:solidFill>
                          <a:latin typeface="+mn-lt"/>
                        </a:rPr>
                        <a:t>Generation: 10.126844 MU</a:t>
                      </a:r>
                    </a:p>
                    <a:p>
                      <a:pPr algn="ctr"/>
                      <a:r>
                        <a:rPr lang="en-US" sz="1200" b="1" dirty="0">
                          <a:solidFill>
                            <a:schemeClr val="tx1"/>
                          </a:solidFill>
                          <a:latin typeface="+mn-lt"/>
                        </a:rPr>
                        <a:t>CUF achieved for FY 21:</a:t>
                      </a:r>
                      <a:r>
                        <a:rPr lang="en-US" sz="1200" b="1" dirty="0">
                          <a:solidFill>
                            <a:srgbClr val="009A44"/>
                          </a:solidFill>
                          <a:latin typeface="+mn-lt"/>
                        </a:rPr>
                        <a:t> </a:t>
                      </a:r>
                      <a:r>
                        <a:rPr lang="en-US" sz="1200" b="1" dirty="0">
                          <a:solidFill>
                            <a:srgbClr val="ED8B00"/>
                          </a:solidFill>
                          <a:latin typeface="+mn-lt"/>
                        </a:rPr>
                        <a:t>11.56%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9625873"/>
                  </a:ext>
                </a:extLst>
              </a:tr>
              <a:tr h="762112">
                <a:tc>
                  <a:txBody>
                    <a:bodyPr/>
                    <a:lstStyle/>
                    <a:p>
                      <a:pPr algn="ctr"/>
                      <a:r>
                        <a:rPr lang="en-US" sz="1200" dirty="0">
                          <a:latin typeface="+mn-l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latin typeface="+mn-lt"/>
                        </a:rPr>
                        <a:t>10 MW Solar PV Project at </a:t>
                      </a:r>
                      <a:r>
                        <a:rPr lang="en-US" sz="1200" dirty="0" err="1">
                          <a:latin typeface="+mn-lt"/>
                        </a:rPr>
                        <a:t>Charrah</a:t>
                      </a:r>
                      <a:r>
                        <a:rPr lang="en-US" sz="1200" dirty="0">
                          <a:latin typeface="+mn-lt"/>
                        </a:rPr>
                        <a:t>, Purulia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200" dirty="0">
                          <a:latin typeface="+mn-lt"/>
                        </a:rPr>
                        <a:t>Awarded Cost: Rs. 56.06 Cr</a:t>
                      </a:r>
                    </a:p>
                    <a:p>
                      <a:pPr algn="l"/>
                      <a:r>
                        <a:rPr lang="en-US" sz="1200" dirty="0">
                          <a:latin typeface="+mn-lt"/>
                        </a:rPr>
                        <a:t>Fund Received: Rs. 56.44 Cr (including evacuation 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121923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9A44"/>
                          </a:solidFill>
                          <a:effectLst/>
                          <a:uLnTx/>
                          <a:uFillTx/>
                          <a:latin typeface="+mn-lt"/>
                          <a:ea typeface="+mn-ea"/>
                          <a:cs typeface="+mn-cs"/>
                        </a:rPr>
                        <a:t>Project Completed</a:t>
                      </a:r>
                    </a:p>
                    <a:p>
                      <a:pPr marL="0" marR="0" lvl="0" indent="0" algn="ctr" defTabSz="121923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Generation: 8.8371075 MU</a:t>
                      </a:r>
                    </a:p>
                    <a:p>
                      <a:pPr marL="0" marR="0" lvl="0" indent="0" algn="ctr" defTabSz="121923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CUF achieved for FY 21:</a:t>
                      </a:r>
                      <a:r>
                        <a:rPr kumimoji="0" lang="en-US" sz="1200" b="1" i="0" u="none" strike="noStrike" kern="1200" cap="none" spc="0" normalizeH="0" baseline="0" noProof="0" dirty="0">
                          <a:ln>
                            <a:noFill/>
                          </a:ln>
                          <a:solidFill>
                            <a:srgbClr val="009A44"/>
                          </a:solidFill>
                          <a:effectLst/>
                          <a:uLnTx/>
                          <a:uFillTx/>
                          <a:latin typeface="+mn-lt"/>
                          <a:ea typeface="+mn-ea"/>
                          <a:cs typeface="+mn-cs"/>
                        </a:rPr>
                        <a:t> </a:t>
                      </a:r>
                      <a:r>
                        <a:rPr kumimoji="0" lang="en-US" sz="1200" b="1" i="0" u="none" strike="noStrike" kern="1200" cap="none" spc="0" normalizeH="0" baseline="0" noProof="0" dirty="0">
                          <a:ln>
                            <a:noFill/>
                          </a:ln>
                          <a:solidFill>
                            <a:srgbClr val="ED8B00"/>
                          </a:solidFill>
                          <a:effectLst/>
                          <a:uLnTx/>
                          <a:uFillTx/>
                          <a:latin typeface="+mn-lt"/>
                          <a:ea typeface="+mn-ea"/>
                          <a:cs typeface="+mn-cs"/>
                        </a:rPr>
                        <a:t>10.09%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0015380"/>
                  </a:ext>
                </a:extLst>
              </a:tr>
              <a:tr h="420475">
                <a:tc>
                  <a:txBody>
                    <a:bodyPr/>
                    <a:lstStyle/>
                    <a:p>
                      <a:pPr algn="ctr"/>
                      <a:r>
                        <a:rPr lang="en-US" sz="1200" dirty="0">
                          <a:latin typeface="+mn-l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b="0" dirty="0">
                          <a:latin typeface="+mn-lt"/>
                        </a:rPr>
                        <a:t>10 MW Solar PV Project at Mejia, Bankura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200" dirty="0">
                          <a:latin typeface="+mn-lt"/>
                        </a:rPr>
                        <a:t>Awarded Cost: Rs. 56.06 Cr</a:t>
                      </a:r>
                    </a:p>
                    <a:p>
                      <a:pPr algn="l"/>
                      <a:r>
                        <a:rPr lang="en-US" sz="1200" dirty="0">
                          <a:latin typeface="+mn-lt"/>
                        </a:rPr>
                        <a:t>Fund Received: Rs. 56.44 Cr (including evacuation 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121923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9A44"/>
                          </a:solidFill>
                          <a:effectLst/>
                          <a:uLnTx/>
                          <a:uFillTx/>
                          <a:latin typeface="+mn-lt"/>
                          <a:ea typeface="+mn-ea"/>
                          <a:cs typeface="+mn-cs"/>
                        </a:rPr>
                        <a:t>Projects Completed</a:t>
                      </a:r>
                    </a:p>
                    <a:p>
                      <a:pPr marL="0" marR="0" lvl="0" indent="0" algn="ctr" defTabSz="121923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Generation: </a:t>
                      </a:r>
                      <a:r>
                        <a:rPr kumimoji="0" lang="en-US" sz="1200" b="1" i="0" u="none" strike="noStrike" kern="1200" cap="none" spc="0" normalizeH="0" baseline="0" noProof="0" dirty="0">
                          <a:ln>
                            <a:noFill/>
                          </a:ln>
                          <a:solidFill>
                            <a:srgbClr val="DA291C"/>
                          </a:solidFill>
                          <a:effectLst/>
                          <a:uLnTx/>
                          <a:uFillTx/>
                          <a:latin typeface="+mn-lt"/>
                          <a:ea typeface="+mn-ea"/>
                          <a:cs typeface="+mn-cs"/>
                        </a:rPr>
                        <a:t>0 MU</a:t>
                      </a:r>
                    </a:p>
                    <a:p>
                      <a:pPr marL="0" marR="0" lvl="0" indent="0" algn="ctr" defTabSz="121923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DA291C"/>
                          </a:solidFill>
                          <a:effectLst/>
                          <a:uLnTx/>
                          <a:uFillTx/>
                          <a:latin typeface="+mn-lt"/>
                          <a:ea typeface="+mn-ea"/>
                          <a:cs typeface="+mn-cs"/>
                        </a:rPr>
                        <a:t>Plants kept in idle Condition</a:t>
                      </a:r>
                    </a:p>
                    <a:p>
                      <a:pPr marL="0" marR="0" lvl="0" indent="0" algn="ctr" defTabSz="1219231"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chemeClr val="tx1"/>
                          </a:solidFill>
                          <a:effectLst/>
                          <a:uLnTx/>
                          <a:uFillTx/>
                          <a:latin typeface="+mn-lt"/>
                          <a:ea typeface="+mn-ea"/>
                          <a:cs typeface="+mn-cs"/>
                        </a:rPr>
                        <a:t>Under Tendering stage for revamp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65383086"/>
                  </a:ext>
                </a:extLst>
              </a:tr>
              <a:tr h="420475">
                <a:tc>
                  <a:txBody>
                    <a:bodyPr/>
                    <a:lstStyle/>
                    <a:p>
                      <a:pPr algn="ctr"/>
                      <a:r>
                        <a:rPr lang="en-US" sz="1200" dirty="0">
                          <a:latin typeface="+mn-l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b="0" dirty="0">
                          <a:latin typeface="+mn-lt"/>
                        </a:rPr>
                        <a:t>10 MW Solar PV Project at </a:t>
                      </a:r>
                      <a:r>
                        <a:rPr lang="en-US" sz="1200" b="0" dirty="0" err="1">
                          <a:latin typeface="+mn-lt"/>
                        </a:rPr>
                        <a:t>Santaldih</a:t>
                      </a:r>
                      <a:r>
                        <a:rPr lang="en-US" sz="1200" b="0" dirty="0">
                          <a:latin typeface="+mn-lt"/>
                        </a:rPr>
                        <a:t>, Purulia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200" dirty="0">
                          <a:latin typeface="+mn-lt"/>
                        </a:rPr>
                        <a:t>Awarded Cost: Rs. 56.61 Cr</a:t>
                      </a:r>
                    </a:p>
                    <a:p>
                      <a:pPr algn="l"/>
                      <a:r>
                        <a:rPr lang="en-US" sz="1200" dirty="0">
                          <a:latin typeface="+mn-lt"/>
                        </a:rPr>
                        <a:t>Fund Received: Rs. 59.21 Cr (including evacuation 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1219231" rtl="0" eaLnBrk="1" fontAlgn="auto" latinLnBrk="0" hangingPunct="1">
                        <a:lnSpc>
                          <a:spcPct val="100000"/>
                        </a:lnSpc>
                        <a:spcBef>
                          <a:spcPts val="0"/>
                        </a:spcBef>
                        <a:spcAft>
                          <a:spcPts val="0"/>
                        </a:spcAft>
                        <a:buClrTx/>
                        <a:buSzTx/>
                        <a:buFontTx/>
                        <a:buNone/>
                        <a:tabLst/>
                        <a:defRPr/>
                      </a:pPr>
                      <a:endParaRPr kumimoji="0" lang="en-US" sz="1300" b="1" i="0" u="none" strike="noStrike" kern="1200" cap="none" spc="0" normalizeH="0" baseline="0" noProof="0" dirty="0">
                        <a:ln>
                          <a:noFill/>
                        </a:ln>
                        <a:solidFill>
                          <a:srgbClr val="DA291C"/>
                        </a:solidFill>
                        <a:effectLst/>
                        <a:uLnTx/>
                        <a:uFillTx/>
                        <a:latin typeface="Verdan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7040003"/>
                  </a:ext>
                </a:extLst>
              </a:tr>
              <a:tr h="526276">
                <a:tc>
                  <a:txBody>
                    <a:bodyPr/>
                    <a:lstStyle/>
                    <a:p>
                      <a:pPr algn="ctr"/>
                      <a:r>
                        <a:rPr lang="en-US" sz="1200" dirty="0">
                          <a:latin typeface="+mn-lt"/>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b="0" dirty="0">
                          <a:latin typeface="+mn-lt"/>
                        </a:rPr>
                        <a:t>10 MW Solar PV Project at </a:t>
                      </a:r>
                      <a:r>
                        <a:rPr lang="en-US" sz="1200" b="0" dirty="0" err="1">
                          <a:latin typeface="+mn-lt"/>
                        </a:rPr>
                        <a:t>Salboni</a:t>
                      </a:r>
                      <a:r>
                        <a:rPr lang="en-US" sz="1200" b="0" dirty="0">
                          <a:latin typeface="+mn-lt"/>
                        </a:rPr>
                        <a:t>, Paschim Medinipur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200" dirty="0">
                          <a:latin typeface="+mn-lt"/>
                        </a:rPr>
                        <a:t>Awarded Cost: Rs. 44.63 Cr</a:t>
                      </a:r>
                    </a:p>
                    <a:p>
                      <a:pPr algn="l"/>
                      <a:r>
                        <a:rPr lang="en-US" sz="1200" dirty="0">
                          <a:latin typeface="+mn-lt"/>
                        </a:rPr>
                        <a:t>Fund Received: Rs. 45.30 Cr (including evacuation 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dirty="0">
                          <a:solidFill>
                            <a:srgbClr val="009A44"/>
                          </a:solidFill>
                          <a:latin typeface="+mn-lt"/>
                        </a:rPr>
                        <a:t>Project Completed</a:t>
                      </a:r>
                    </a:p>
                    <a:p>
                      <a:pPr algn="ctr"/>
                      <a:r>
                        <a:rPr lang="en-US" sz="1200" b="1" dirty="0">
                          <a:solidFill>
                            <a:schemeClr val="tx1"/>
                          </a:solidFill>
                          <a:latin typeface="+mn-lt"/>
                        </a:rPr>
                        <a:t>Generation: 13.53485 MU</a:t>
                      </a:r>
                    </a:p>
                    <a:p>
                      <a:pPr algn="ctr"/>
                      <a:r>
                        <a:rPr lang="en-US" sz="1200" b="1" dirty="0">
                          <a:solidFill>
                            <a:schemeClr val="tx1"/>
                          </a:solidFill>
                          <a:latin typeface="+mn-lt"/>
                        </a:rPr>
                        <a:t>CUF achieved for FY 21:</a:t>
                      </a:r>
                      <a:r>
                        <a:rPr lang="en-US" sz="1200" b="1" dirty="0">
                          <a:solidFill>
                            <a:srgbClr val="009A44"/>
                          </a:solidFill>
                          <a:latin typeface="+mn-lt"/>
                        </a:rPr>
                        <a:t> </a:t>
                      </a:r>
                      <a:r>
                        <a:rPr lang="en-US" sz="1200" b="1" dirty="0">
                          <a:solidFill>
                            <a:srgbClr val="046A38"/>
                          </a:solidFill>
                          <a:latin typeface="+mn-lt"/>
                        </a:rPr>
                        <a:t>15.45%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51792577"/>
                  </a:ext>
                </a:extLst>
              </a:tr>
              <a:tr h="526276">
                <a:tc>
                  <a:txBody>
                    <a:bodyPr/>
                    <a:lstStyle/>
                    <a:p>
                      <a:pPr algn="ctr"/>
                      <a:r>
                        <a:rPr lang="en-US" sz="1200" dirty="0">
                          <a:latin typeface="+mn-l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b="0" dirty="0">
                          <a:latin typeface="+mn-lt"/>
                        </a:rPr>
                        <a:t>10 MW Solar PV Project at </a:t>
                      </a:r>
                      <a:r>
                        <a:rPr lang="en-US" sz="1200" b="0" dirty="0" err="1">
                          <a:latin typeface="+mn-lt"/>
                        </a:rPr>
                        <a:t>Khemasuli</a:t>
                      </a:r>
                      <a:r>
                        <a:rPr lang="en-US" sz="1200" b="0" dirty="0">
                          <a:latin typeface="+mn-lt"/>
                        </a:rPr>
                        <a:t> (Patni), Paschim Medinipur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200" dirty="0">
                          <a:latin typeface="+mn-lt"/>
                        </a:rPr>
                        <a:t>Awarded Cost: Rs. 44.73 Cr</a:t>
                      </a:r>
                    </a:p>
                    <a:p>
                      <a:pPr algn="l"/>
                      <a:r>
                        <a:rPr lang="en-US" sz="1200" dirty="0">
                          <a:latin typeface="+mn-lt"/>
                        </a:rPr>
                        <a:t>Fund Received: Rs. 45.94 Cr (including evacuation 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dirty="0">
                          <a:solidFill>
                            <a:srgbClr val="009A44"/>
                          </a:solidFill>
                          <a:latin typeface="+mn-lt"/>
                        </a:rPr>
                        <a:t>Project Completed</a:t>
                      </a:r>
                    </a:p>
                    <a:p>
                      <a:pPr algn="ctr"/>
                      <a:r>
                        <a:rPr lang="en-US" sz="1200" b="1" dirty="0">
                          <a:solidFill>
                            <a:schemeClr val="tx1"/>
                          </a:solidFill>
                          <a:latin typeface="+mn-lt"/>
                        </a:rPr>
                        <a:t>Generation: 14.1574 MU</a:t>
                      </a:r>
                    </a:p>
                    <a:p>
                      <a:pPr algn="ctr"/>
                      <a:r>
                        <a:rPr lang="en-US" sz="1200" b="1" dirty="0">
                          <a:solidFill>
                            <a:schemeClr val="tx1"/>
                          </a:solidFill>
                          <a:latin typeface="+mn-lt"/>
                        </a:rPr>
                        <a:t>CUF achieved for FY 21:</a:t>
                      </a:r>
                      <a:r>
                        <a:rPr lang="en-US" sz="1200" b="1" dirty="0">
                          <a:solidFill>
                            <a:srgbClr val="009A44"/>
                          </a:solidFill>
                          <a:latin typeface="+mn-lt"/>
                        </a:rPr>
                        <a:t> </a:t>
                      </a:r>
                      <a:r>
                        <a:rPr lang="en-US" sz="1200" b="1" dirty="0">
                          <a:solidFill>
                            <a:srgbClr val="046A38"/>
                          </a:solidFill>
                          <a:latin typeface="+mn-lt"/>
                        </a:rPr>
                        <a:t>16.16%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41226311"/>
                  </a:ext>
                </a:extLst>
              </a:tr>
            </a:tbl>
          </a:graphicData>
        </a:graphic>
      </p:graphicFrame>
    </p:spTree>
    <p:extLst>
      <p:ext uri="{BB962C8B-B14F-4D97-AF65-F5344CB8AC3E}">
        <p14:creationId xmlns:p14="http://schemas.microsoft.com/office/powerpoint/2010/main" val="2487295871"/>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7">
            <a:extLst>
              <a:ext uri="{FF2B5EF4-FFF2-40B4-BE49-F238E27FC236}">
                <a16:creationId xmlns:a16="http://schemas.microsoft.com/office/drawing/2014/main" id="{152C6610-CD90-4469-A46F-4554FB6FE53B}"/>
              </a:ext>
            </a:extLst>
          </p:cNvPr>
          <p:cNvGraphicFramePr>
            <a:graphicFrameLocks noGrp="1"/>
          </p:cNvGraphicFramePr>
          <p:nvPr>
            <p:extLst>
              <p:ext uri="{D42A27DB-BD31-4B8C-83A1-F6EECF244321}">
                <p14:modId xmlns:p14="http://schemas.microsoft.com/office/powerpoint/2010/main" val="789318881"/>
              </p:ext>
            </p:extLst>
          </p:nvPr>
        </p:nvGraphicFramePr>
        <p:xfrm>
          <a:off x="469901" y="972402"/>
          <a:ext cx="11156040" cy="4983177"/>
        </p:xfrm>
        <a:graphic>
          <a:graphicData uri="http://schemas.openxmlformats.org/drawingml/2006/table">
            <a:tbl>
              <a:tblPr firstRow="1" bandRow="1">
                <a:tableStyleId>{5C22544A-7EE6-4342-B048-85BDC9FD1C3A}</a:tableStyleId>
              </a:tblPr>
              <a:tblGrid>
                <a:gridCol w="923470">
                  <a:extLst>
                    <a:ext uri="{9D8B030D-6E8A-4147-A177-3AD203B41FA5}">
                      <a16:colId xmlns:a16="http://schemas.microsoft.com/office/drawing/2014/main" val="261175579"/>
                    </a:ext>
                  </a:extLst>
                </a:gridCol>
                <a:gridCol w="4654550">
                  <a:extLst>
                    <a:ext uri="{9D8B030D-6E8A-4147-A177-3AD203B41FA5}">
                      <a16:colId xmlns:a16="http://schemas.microsoft.com/office/drawing/2014/main" val="3375013156"/>
                    </a:ext>
                  </a:extLst>
                </a:gridCol>
                <a:gridCol w="2789010">
                  <a:extLst>
                    <a:ext uri="{9D8B030D-6E8A-4147-A177-3AD203B41FA5}">
                      <a16:colId xmlns:a16="http://schemas.microsoft.com/office/drawing/2014/main" val="1181214240"/>
                    </a:ext>
                  </a:extLst>
                </a:gridCol>
                <a:gridCol w="2789010">
                  <a:extLst>
                    <a:ext uri="{9D8B030D-6E8A-4147-A177-3AD203B41FA5}">
                      <a16:colId xmlns:a16="http://schemas.microsoft.com/office/drawing/2014/main" val="890654415"/>
                    </a:ext>
                  </a:extLst>
                </a:gridCol>
              </a:tblGrid>
              <a:tr h="319737">
                <a:tc>
                  <a:txBody>
                    <a:bodyPr/>
                    <a:lstStyle/>
                    <a:p>
                      <a:pPr algn="ctr"/>
                      <a:r>
                        <a:rPr lang="en-US" sz="1200" dirty="0" err="1">
                          <a:latin typeface="+mn-lt"/>
                        </a:rPr>
                        <a:t>Sl</a:t>
                      </a:r>
                      <a:r>
                        <a:rPr lang="en-US" sz="1200" dirty="0">
                          <a:latin typeface="+mn-lt"/>
                        </a:rPr>
                        <a:t>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a:r>
                        <a:rPr lang="en-US" sz="1200" dirty="0">
                          <a:latin typeface="+mn-lt"/>
                        </a:rPr>
                        <a:t>Name of the Project and Capacity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a:r>
                        <a:rPr lang="en-US" sz="1200" dirty="0">
                          <a:latin typeface="+mn-lt"/>
                        </a:rPr>
                        <a:t>Financial Achievement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a:r>
                        <a:rPr lang="en-US" sz="1200" dirty="0">
                          <a:latin typeface="+mn-lt"/>
                        </a:rPr>
                        <a:t>Physical Achievement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3125308379"/>
                  </a:ext>
                </a:extLst>
              </a:tr>
              <a:tr h="526276">
                <a:tc>
                  <a:txBody>
                    <a:bodyPr/>
                    <a:lstStyle/>
                    <a:p>
                      <a:pPr algn="ctr"/>
                      <a:r>
                        <a:rPr lang="en-US" sz="1200" dirty="0">
                          <a:latin typeface="+mn-lt"/>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b="0" dirty="0">
                          <a:latin typeface="+mn-lt"/>
                        </a:rPr>
                        <a:t>10 MW Solar PV power plants on canal top of TCFHP Tail Race Canal, Stage II Power Station at </a:t>
                      </a:r>
                      <a:r>
                        <a:rPr lang="en-US" sz="1200" b="0" dirty="0" err="1">
                          <a:latin typeface="+mn-lt"/>
                        </a:rPr>
                        <a:t>Haptiagachh</a:t>
                      </a:r>
                      <a:r>
                        <a:rPr lang="en-US" sz="1200" b="0" dirty="0">
                          <a:latin typeface="+mn-lt"/>
                        </a:rPr>
                        <a:t> in Uttar Dinajpur District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200" dirty="0">
                          <a:latin typeface="+mn-lt"/>
                        </a:rPr>
                        <a:t>Awarded Cost: Rs. 84.49 Cr</a:t>
                      </a:r>
                    </a:p>
                    <a:p>
                      <a:pPr algn="l"/>
                      <a:r>
                        <a:rPr lang="en-US" sz="1200" dirty="0">
                          <a:latin typeface="+mn-lt"/>
                        </a:rPr>
                        <a:t>Fund Received: </a:t>
                      </a:r>
                      <a:r>
                        <a:rPr lang="en-US" sz="1200" b="1" dirty="0">
                          <a:solidFill>
                            <a:srgbClr val="C00000"/>
                          </a:solidFill>
                          <a:latin typeface="+mn-lt"/>
                        </a:rPr>
                        <a:t>Rs. 71.45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dirty="0">
                          <a:solidFill>
                            <a:srgbClr val="009A44"/>
                          </a:solidFill>
                          <a:latin typeface="+mn-lt"/>
                        </a:rPr>
                        <a:t>Project Completed</a:t>
                      </a:r>
                    </a:p>
                    <a:p>
                      <a:pPr algn="ctr"/>
                      <a:r>
                        <a:rPr lang="en-US" sz="1200" b="1" dirty="0">
                          <a:solidFill>
                            <a:schemeClr val="tx1"/>
                          </a:solidFill>
                          <a:latin typeface="+mn-lt"/>
                        </a:rPr>
                        <a:t>Generation: 11.59489 MU</a:t>
                      </a:r>
                    </a:p>
                    <a:p>
                      <a:pPr algn="ctr"/>
                      <a:r>
                        <a:rPr lang="en-US" sz="1200" b="1" dirty="0">
                          <a:solidFill>
                            <a:schemeClr val="tx1"/>
                          </a:solidFill>
                          <a:latin typeface="+mn-lt"/>
                        </a:rPr>
                        <a:t>CUF achieved for FY 21:</a:t>
                      </a:r>
                      <a:r>
                        <a:rPr lang="en-US" sz="1200" b="1" dirty="0">
                          <a:solidFill>
                            <a:srgbClr val="009A44"/>
                          </a:solidFill>
                          <a:latin typeface="+mn-lt"/>
                        </a:rPr>
                        <a:t> </a:t>
                      </a:r>
                      <a:r>
                        <a:rPr lang="en-US" sz="1200" b="1" dirty="0">
                          <a:solidFill>
                            <a:srgbClr val="012169"/>
                          </a:solidFill>
                          <a:latin typeface="+mn-lt"/>
                        </a:rPr>
                        <a:t>13.24%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9625873"/>
                  </a:ext>
                </a:extLst>
              </a:tr>
              <a:tr h="762112">
                <a:tc>
                  <a:txBody>
                    <a:bodyPr/>
                    <a:lstStyle/>
                    <a:p>
                      <a:pPr algn="ctr"/>
                      <a:r>
                        <a:rPr lang="en-US" sz="1200" dirty="0">
                          <a:latin typeface="+mn-lt"/>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latin typeface="+mn-lt"/>
                        </a:rPr>
                        <a:t>10 MW SPV Project at Dhaka - I at Birbhum, West Bengal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200" dirty="0">
                          <a:latin typeface="+mn-lt"/>
                        </a:rPr>
                        <a:t>Awarded Cost: Rs. 39.6341 Cr</a:t>
                      </a:r>
                    </a:p>
                    <a:p>
                      <a:pPr algn="l"/>
                      <a:r>
                        <a:rPr lang="en-US" sz="1200" dirty="0">
                          <a:latin typeface="+mn-lt"/>
                        </a:rPr>
                        <a:t>Fund Received: Rs. 39.6341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121923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9A44"/>
                          </a:solidFill>
                          <a:effectLst/>
                          <a:uLnTx/>
                          <a:uFillTx/>
                          <a:latin typeface="+mn-lt"/>
                          <a:ea typeface="+mn-ea"/>
                          <a:cs typeface="+mn-cs"/>
                        </a:rPr>
                        <a:t>Project Commissioned on 07.10.2020</a:t>
                      </a:r>
                    </a:p>
                    <a:p>
                      <a:pPr marL="0" marR="0" lvl="0" indent="0" algn="ctr" defTabSz="121923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Generation: 5.89787 MU</a:t>
                      </a:r>
                    </a:p>
                    <a:p>
                      <a:pPr marL="0" marR="0" lvl="0" indent="0" algn="ctr" defTabSz="121923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CUF achieved for FY 21:</a:t>
                      </a:r>
                      <a:r>
                        <a:rPr kumimoji="0" lang="en-US" sz="1200" b="1" i="0" u="none" strike="noStrike" kern="1200" cap="none" spc="0" normalizeH="0" baseline="0" noProof="0" dirty="0">
                          <a:ln>
                            <a:noFill/>
                          </a:ln>
                          <a:solidFill>
                            <a:srgbClr val="009A44"/>
                          </a:solidFill>
                          <a:effectLst/>
                          <a:uLnTx/>
                          <a:uFillTx/>
                          <a:latin typeface="+mn-lt"/>
                          <a:ea typeface="+mn-ea"/>
                          <a:cs typeface="+mn-cs"/>
                        </a:rPr>
                        <a:t> </a:t>
                      </a:r>
                      <a:r>
                        <a:rPr kumimoji="0" lang="en-US" sz="1200" b="1" i="0" u="none" strike="noStrike" kern="1200" cap="none" spc="0" normalizeH="0" baseline="0" noProof="0" dirty="0">
                          <a:ln>
                            <a:noFill/>
                          </a:ln>
                          <a:solidFill>
                            <a:srgbClr val="012169"/>
                          </a:solidFill>
                          <a:effectLst/>
                          <a:uLnTx/>
                          <a:uFillTx/>
                          <a:latin typeface="+mn-lt"/>
                          <a:ea typeface="+mn-ea"/>
                          <a:cs typeface="+mn-cs"/>
                        </a:rPr>
                        <a:t>14.04%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0015380"/>
                  </a:ext>
                </a:extLst>
              </a:tr>
              <a:tr h="526276">
                <a:tc>
                  <a:txBody>
                    <a:bodyPr/>
                    <a:lstStyle/>
                    <a:p>
                      <a:pPr algn="ctr"/>
                      <a:r>
                        <a:rPr lang="en-US" sz="1200" dirty="0">
                          <a:latin typeface="+mn-lt"/>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b="0" dirty="0">
                          <a:latin typeface="+mn-lt"/>
                        </a:rPr>
                        <a:t>10 MW SPV Project at Dhaka - II at Birbhum, West Bengal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200" dirty="0">
                          <a:latin typeface="+mn-lt"/>
                        </a:rPr>
                        <a:t>Awarded Cost: Rs. 39.51 Cr</a:t>
                      </a:r>
                    </a:p>
                    <a:p>
                      <a:pPr algn="l"/>
                      <a:r>
                        <a:rPr lang="en-US" sz="1200" dirty="0">
                          <a:latin typeface="+mn-lt"/>
                        </a:rPr>
                        <a:t>Fund Received: Rs. 39.51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121923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9A44"/>
                          </a:solidFill>
                          <a:effectLst/>
                          <a:uLnTx/>
                          <a:uFillTx/>
                          <a:latin typeface="+mn-lt"/>
                          <a:ea typeface="+mn-ea"/>
                          <a:cs typeface="+mn-cs"/>
                        </a:rPr>
                        <a:t>Project Commissioned on 06.08.2020</a:t>
                      </a:r>
                    </a:p>
                    <a:p>
                      <a:pPr marL="0" marR="0" lvl="0" indent="0" algn="ctr" defTabSz="121923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Generation: 4.27081 MU</a:t>
                      </a:r>
                    </a:p>
                    <a:p>
                      <a:pPr marL="0" marR="0" lvl="0" indent="0" algn="ctr" defTabSz="121923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CUF achieved for FY 21:</a:t>
                      </a:r>
                      <a:r>
                        <a:rPr kumimoji="0" lang="en-US" sz="1200" b="1" i="0" u="none" strike="noStrike" kern="1200" cap="none" spc="0" normalizeH="0" baseline="0" noProof="0" dirty="0">
                          <a:ln>
                            <a:noFill/>
                          </a:ln>
                          <a:solidFill>
                            <a:srgbClr val="009A44"/>
                          </a:solidFill>
                          <a:effectLst/>
                          <a:uLnTx/>
                          <a:uFillTx/>
                          <a:latin typeface="+mn-lt"/>
                          <a:ea typeface="+mn-ea"/>
                          <a:cs typeface="+mn-cs"/>
                        </a:rPr>
                        <a:t> </a:t>
                      </a:r>
                      <a:r>
                        <a:rPr kumimoji="0" lang="en-US" sz="1200" b="1" i="0" u="none" strike="noStrike" kern="1200" cap="none" spc="0" normalizeH="0" baseline="0" noProof="0" dirty="0">
                          <a:ln>
                            <a:noFill/>
                          </a:ln>
                          <a:solidFill>
                            <a:srgbClr val="DA291C"/>
                          </a:solidFill>
                          <a:effectLst/>
                          <a:uLnTx/>
                          <a:uFillTx/>
                          <a:latin typeface="+mn-lt"/>
                          <a:ea typeface="+mn-ea"/>
                          <a:cs typeface="+mn-cs"/>
                        </a:rPr>
                        <a:t>7.51%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51792577"/>
                  </a:ext>
                </a:extLst>
              </a:tr>
              <a:tr h="526276">
                <a:tc>
                  <a:txBody>
                    <a:bodyPr/>
                    <a:lstStyle/>
                    <a:p>
                      <a:pPr algn="ctr"/>
                      <a:r>
                        <a:rPr lang="en-US" sz="1200" dirty="0">
                          <a:latin typeface="+mn-lt"/>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b="0" dirty="0">
                          <a:latin typeface="+mn-lt"/>
                        </a:rPr>
                        <a:t>10 MW ground mounted solar at </a:t>
                      </a:r>
                      <a:r>
                        <a:rPr lang="en-US" sz="1200" b="0" dirty="0" err="1">
                          <a:latin typeface="+mn-lt"/>
                        </a:rPr>
                        <a:t>Raniganj</a:t>
                      </a:r>
                      <a:r>
                        <a:rPr lang="en-US" sz="1200" b="0" dirty="0">
                          <a:latin typeface="+mn-lt"/>
                        </a:rPr>
                        <a:t> (</a:t>
                      </a:r>
                      <a:r>
                        <a:rPr lang="en-US" sz="1200" b="0" dirty="0" err="1">
                          <a:latin typeface="+mn-lt"/>
                        </a:rPr>
                        <a:t>Chalbalpur</a:t>
                      </a:r>
                      <a:r>
                        <a:rPr lang="en-US" sz="1200" b="0" dirty="0">
                          <a:latin typeface="+mn-lt"/>
                        </a:rPr>
                        <a:t>, </a:t>
                      </a:r>
                      <a:r>
                        <a:rPr lang="en-US" sz="1200" b="0" dirty="0" err="1">
                          <a:latin typeface="+mn-lt"/>
                        </a:rPr>
                        <a:t>Raniganj</a:t>
                      </a:r>
                      <a:r>
                        <a:rPr lang="en-US" sz="1200" b="0" dirty="0">
                          <a:latin typeface="+mn-lt"/>
                        </a:rPr>
                        <a:t>, Burdwan)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200" dirty="0">
                          <a:latin typeface="+mn-lt"/>
                        </a:rPr>
                        <a:t>Awarded Cost: Rs. 41.94 Cr</a:t>
                      </a:r>
                    </a:p>
                    <a:p>
                      <a:pPr algn="l"/>
                      <a:r>
                        <a:rPr lang="en-US" sz="1200" dirty="0">
                          <a:latin typeface="+mn-lt"/>
                        </a:rPr>
                        <a:t>Fund Received: Rs. 41.94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121923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9A44"/>
                          </a:solidFill>
                          <a:effectLst/>
                          <a:uLnTx/>
                          <a:uFillTx/>
                          <a:latin typeface="+mn-lt"/>
                          <a:ea typeface="+mn-ea"/>
                          <a:cs typeface="+mn-cs"/>
                        </a:rPr>
                        <a:t>Project Commissioned on 29.09.2020</a:t>
                      </a:r>
                    </a:p>
                    <a:p>
                      <a:pPr marL="0" marR="0" lvl="0" indent="0" algn="ctr" defTabSz="121923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Generation: 2.46068 MU</a:t>
                      </a:r>
                    </a:p>
                    <a:p>
                      <a:pPr marL="0" marR="0" lvl="0" indent="0" algn="ctr" defTabSz="121923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CUF achieved for FY 21:</a:t>
                      </a:r>
                      <a:r>
                        <a:rPr kumimoji="0" lang="en-US" sz="1200" b="1" i="0" u="none" strike="noStrike" kern="1200" cap="none" spc="0" normalizeH="0" baseline="0" noProof="0" dirty="0">
                          <a:ln>
                            <a:noFill/>
                          </a:ln>
                          <a:solidFill>
                            <a:srgbClr val="009A44"/>
                          </a:solidFill>
                          <a:effectLst/>
                          <a:uLnTx/>
                          <a:uFillTx/>
                          <a:latin typeface="+mn-lt"/>
                          <a:ea typeface="+mn-ea"/>
                          <a:cs typeface="+mn-cs"/>
                        </a:rPr>
                        <a:t> </a:t>
                      </a:r>
                      <a:r>
                        <a:rPr kumimoji="0" lang="en-US" sz="1200" b="1" i="0" u="none" strike="noStrike" kern="1200" cap="none" spc="0" normalizeH="0" baseline="0" noProof="0" dirty="0">
                          <a:ln>
                            <a:noFill/>
                          </a:ln>
                          <a:solidFill>
                            <a:srgbClr val="DA291C"/>
                          </a:solidFill>
                          <a:effectLst/>
                          <a:uLnTx/>
                          <a:uFillTx/>
                          <a:latin typeface="+mn-lt"/>
                          <a:ea typeface="+mn-ea"/>
                          <a:cs typeface="+mn-cs"/>
                        </a:rPr>
                        <a:t>5.60%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41226311"/>
                  </a:ext>
                </a:extLst>
              </a:tr>
              <a:tr h="526276">
                <a:tc>
                  <a:txBody>
                    <a:bodyPr/>
                    <a:lstStyle/>
                    <a:p>
                      <a:pPr algn="ctr"/>
                      <a:r>
                        <a:rPr lang="en-US" sz="1200" dirty="0">
                          <a:latin typeface="+mn-lt"/>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b="0" dirty="0">
                          <a:latin typeface="+mn-lt"/>
                        </a:rPr>
                        <a:t>10 MW Solar PV Project at </a:t>
                      </a:r>
                      <a:r>
                        <a:rPr lang="en-US" sz="1200" b="0" dirty="0" err="1">
                          <a:latin typeface="+mn-lt"/>
                        </a:rPr>
                        <a:t>Koltaldih</a:t>
                      </a:r>
                      <a:r>
                        <a:rPr lang="en-US" sz="1200" b="0" dirty="0">
                          <a:latin typeface="+mn-lt"/>
                        </a:rPr>
                        <a:t> (Phase - I), Asansol, Burdwan district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200" dirty="0">
                          <a:latin typeface="+mn-lt"/>
                        </a:rPr>
                        <a:t>Awarded Cost: Rs. 41.72 Cr</a:t>
                      </a:r>
                    </a:p>
                    <a:p>
                      <a:pPr algn="l"/>
                      <a:r>
                        <a:rPr lang="en-US" sz="1200" dirty="0">
                          <a:latin typeface="+mn-lt"/>
                        </a:rPr>
                        <a:t>Fund Received: </a:t>
                      </a:r>
                      <a:r>
                        <a:rPr lang="en-US" sz="1200" b="1" dirty="0">
                          <a:solidFill>
                            <a:srgbClr val="DA291C"/>
                          </a:solidFill>
                          <a:latin typeface="+mn-lt"/>
                        </a:rPr>
                        <a:t>Rs. 25.03</a:t>
                      </a:r>
                      <a:r>
                        <a:rPr lang="en-US" sz="1200" dirty="0">
                          <a:latin typeface="+mn-lt"/>
                        </a:rPr>
                        <a:t> </a:t>
                      </a:r>
                      <a:r>
                        <a:rPr lang="en-US" sz="1200" b="1" dirty="0">
                          <a:solidFill>
                            <a:srgbClr val="DA291C"/>
                          </a:solidFill>
                          <a:latin typeface="+mn-lt"/>
                        </a:rPr>
                        <a:t>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121923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mn-lt"/>
                          <a:ea typeface="+mn-ea"/>
                          <a:cs typeface="+mn-cs"/>
                        </a:rPr>
                        <a:t>75% Completed. </a:t>
                      </a:r>
                      <a:r>
                        <a:rPr lang="en-US" sz="1200" b="1" dirty="0">
                          <a:solidFill>
                            <a:schemeClr val="tx1"/>
                          </a:solidFill>
                          <a:latin typeface="+mn-lt"/>
                        </a:rPr>
                        <a:t>Exp to be commissioned by Jun 2021 </a:t>
                      </a:r>
                      <a:r>
                        <a:rPr lang="en-US" sz="1200" b="1" dirty="0">
                          <a:latin typeface="+mn-lt"/>
                        </a:rPr>
                        <a:t>as per WBSEDCL Annual Report for FY 21</a:t>
                      </a:r>
                      <a:endParaRPr kumimoji="0" lang="en-US" sz="1200" b="1" i="0" u="none" strike="noStrike" kern="1200" cap="none" spc="0" normalizeH="0" baseline="0" noProof="0" dirty="0">
                        <a:ln>
                          <a:noFill/>
                        </a:ln>
                        <a:solidFill>
                          <a:schemeClr val="tx1"/>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8200988"/>
                  </a:ext>
                </a:extLst>
              </a:tr>
            </a:tbl>
          </a:graphicData>
        </a:graphic>
      </p:graphicFrame>
      <p:sp>
        <p:nvSpPr>
          <p:cNvPr id="6" name="Title 2">
            <a:extLst>
              <a:ext uri="{FF2B5EF4-FFF2-40B4-BE49-F238E27FC236}">
                <a16:creationId xmlns:a16="http://schemas.microsoft.com/office/drawing/2014/main" id="{7A87FE04-9421-488D-A0D4-544D6FA21B27}"/>
              </a:ext>
            </a:extLst>
          </p:cNvPr>
          <p:cNvSpPr txBox="1">
            <a:spLocks/>
          </p:cNvSpPr>
          <p:nvPr/>
        </p:nvSpPr>
        <p:spPr bwMode="gray">
          <a:xfrm>
            <a:off x="326066" y="348159"/>
            <a:ext cx="11540588" cy="299113"/>
          </a:xfrm>
          <a:prstGeom prst="rect">
            <a:avLst/>
          </a:prstGeom>
        </p:spPr>
        <p:txBody>
          <a:bodyPr vert="horz" lIns="0" tIns="0" rIns="0" bIns="0" rtlCol="0" anchor="t" anchorCtr="0">
            <a:noAutofit/>
          </a:bodyPr>
          <a:lstStyle>
            <a:lvl1pPr algn="l" defTabSz="1219231" rtl="0" eaLnBrk="1" latinLnBrk="0" hangingPunct="1">
              <a:spcBef>
                <a:spcPct val="0"/>
              </a:spcBef>
              <a:buNone/>
              <a:defRPr sz="2000" kern="1200">
                <a:solidFill>
                  <a:schemeClr val="tx1"/>
                </a:solidFill>
                <a:latin typeface="+mj-lt"/>
                <a:ea typeface="+mj-ea"/>
                <a:cs typeface="+mj-cs"/>
              </a:defRPr>
            </a:lvl1pPr>
          </a:lstStyle>
          <a:p>
            <a:r>
              <a:rPr lang="en-US" sz="1800" b="1" dirty="0"/>
              <a:t>Status of Ground Mounted Grid Connected Solar PV Power Plant-WBSEDCL in FY 21 (2/3)</a:t>
            </a:r>
          </a:p>
        </p:txBody>
      </p:sp>
    </p:spTree>
    <p:extLst>
      <p:ext uri="{BB962C8B-B14F-4D97-AF65-F5344CB8AC3E}">
        <p14:creationId xmlns:p14="http://schemas.microsoft.com/office/powerpoint/2010/main" val="492508587"/>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2" name="Table 7">
            <a:extLst>
              <a:ext uri="{FF2B5EF4-FFF2-40B4-BE49-F238E27FC236}">
                <a16:creationId xmlns:a16="http://schemas.microsoft.com/office/drawing/2014/main" id="{152C6610-CD90-4469-A46F-4554FB6FE53B}"/>
              </a:ext>
            </a:extLst>
          </p:cNvPr>
          <p:cNvGraphicFramePr>
            <a:graphicFrameLocks noGrp="1"/>
          </p:cNvGraphicFramePr>
          <p:nvPr>
            <p:extLst>
              <p:ext uri="{D42A27DB-BD31-4B8C-83A1-F6EECF244321}">
                <p14:modId xmlns:p14="http://schemas.microsoft.com/office/powerpoint/2010/main" val="4279873452"/>
              </p:ext>
            </p:extLst>
          </p:nvPr>
        </p:nvGraphicFramePr>
        <p:xfrm>
          <a:off x="469901" y="972402"/>
          <a:ext cx="11156040" cy="4756673"/>
        </p:xfrm>
        <a:graphic>
          <a:graphicData uri="http://schemas.openxmlformats.org/drawingml/2006/table">
            <a:tbl>
              <a:tblPr firstRow="1" bandRow="1">
                <a:tableStyleId>{5C22544A-7EE6-4342-B048-85BDC9FD1C3A}</a:tableStyleId>
              </a:tblPr>
              <a:tblGrid>
                <a:gridCol w="923470">
                  <a:extLst>
                    <a:ext uri="{9D8B030D-6E8A-4147-A177-3AD203B41FA5}">
                      <a16:colId xmlns:a16="http://schemas.microsoft.com/office/drawing/2014/main" val="261175579"/>
                    </a:ext>
                  </a:extLst>
                </a:gridCol>
                <a:gridCol w="4654550">
                  <a:extLst>
                    <a:ext uri="{9D8B030D-6E8A-4147-A177-3AD203B41FA5}">
                      <a16:colId xmlns:a16="http://schemas.microsoft.com/office/drawing/2014/main" val="3375013156"/>
                    </a:ext>
                  </a:extLst>
                </a:gridCol>
                <a:gridCol w="2789010">
                  <a:extLst>
                    <a:ext uri="{9D8B030D-6E8A-4147-A177-3AD203B41FA5}">
                      <a16:colId xmlns:a16="http://schemas.microsoft.com/office/drawing/2014/main" val="1181214240"/>
                    </a:ext>
                  </a:extLst>
                </a:gridCol>
                <a:gridCol w="2789010">
                  <a:extLst>
                    <a:ext uri="{9D8B030D-6E8A-4147-A177-3AD203B41FA5}">
                      <a16:colId xmlns:a16="http://schemas.microsoft.com/office/drawing/2014/main" val="890654415"/>
                    </a:ext>
                  </a:extLst>
                </a:gridCol>
              </a:tblGrid>
              <a:tr h="319737">
                <a:tc>
                  <a:txBody>
                    <a:bodyPr/>
                    <a:lstStyle/>
                    <a:p>
                      <a:pPr algn="ctr"/>
                      <a:r>
                        <a:rPr lang="en-US" sz="1300" dirty="0" err="1"/>
                        <a:t>Sl</a:t>
                      </a:r>
                      <a:r>
                        <a:rPr lang="en-US" sz="1300" dirty="0"/>
                        <a:t>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a:r>
                        <a:rPr lang="en-US" sz="1300" dirty="0"/>
                        <a:t>Name of the Project and Capacity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a:r>
                        <a:rPr lang="en-US" sz="1300" dirty="0"/>
                        <a:t>Financial Achievement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algn="ctr"/>
                      <a:r>
                        <a:rPr lang="en-US" sz="1300" dirty="0"/>
                        <a:t>Physical Achievement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3125308379"/>
                  </a:ext>
                </a:extLst>
              </a:tr>
              <a:tr h="526276">
                <a:tc>
                  <a:txBody>
                    <a:bodyPr/>
                    <a:lstStyle/>
                    <a:p>
                      <a:pPr algn="ctr"/>
                      <a:r>
                        <a:rPr lang="en-US" sz="1300" dirty="0"/>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b="0" dirty="0"/>
                        <a:t>10 MW Solar PV power Project at </a:t>
                      </a:r>
                      <a:r>
                        <a:rPr lang="en-US" sz="1200" b="0" dirty="0" err="1"/>
                        <a:t>Sankrail</a:t>
                      </a:r>
                      <a:r>
                        <a:rPr lang="en-US" sz="1200" b="0" dirty="0"/>
                        <a:t>, </a:t>
                      </a:r>
                      <a:r>
                        <a:rPr lang="en-US" sz="1200" b="0" dirty="0" err="1"/>
                        <a:t>Jhargram</a:t>
                      </a:r>
                      <a:endParaRPr lang="en-U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a:r>
                        <a:rPr lang="en-US" sz="1300" b="1" dirty="0">
                          <a:solidFill>
                            <a:schemeClr val="tx1"/>
                          </a:solidFill>
                        </a:rPr>
                        <a:t>LOA Placed on 07.10.2020. 30% Work completed. Exp to be commissioned by Sep 2021 </a:t>
                      </a:r>
                      <a:r>
                        <a:rPr lang="en-US" sz="1300" b="1" dirty="0"/>
                        <a:t>as per WBSEDCL Annual Report for FY 21</a:t>
                      </a:r>
                      <a:endParaRPr lang="en-US" sz="13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300" b="1" dirty="0">
                        <a:solidFill>
                          <a:srgbClr val="012169"/>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9625873"/>
                  </a:ext>
                </a:extLst>
              </a:tr>
              <a:tr h="762112">
                <a:tc>
                  <a:txBody>
                    <a:bodyPr/>
                    <a:lstStyle/>
                    <a:p>
                      <a:pPr algn="ctr"/>
                      <a:r>
                        <a:rPr lang="en-US" sz="1300" dirty="0"/>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300" dirty="0"/>
                        <a:t>10 MW Solar PV Project at </a:t>
                      </a:r>
                      <a:r>
                        <a:rPr lang="en-US" sz="1300" dirty="0" err="1"/>
                        <a:t>Kalpani-Baldiahati</a:t>
                      </a:r>
                      <a:r>
                        <a:rPr lang="en-US" sz="1300" dirty="0"/>
                        <a:t>, </a:t>
                      </a:r>
                      <a:r>
                        <a:rPr lang="en-US" sz="1300" dirty="0" err="1"/>
                        <a:t>Coochbehar</a:t>
                      </a:r>
                      <a:r>
                        <a:rPr lang="en-US" sz="1300" dirty="0"/>
                        <a:t> district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gridSpan="2">
                  <a:txBody>
                    <a:bodyPr/>
                    <a:lstStyle/>
                    <a:p>
                      <a:pPr algn="l"/>
                      <a:r>
                        <a:rPr lang="en-US" sz="1300" b="1" dirty="0"/>
                        <a:t>DPR has been submitted to the Power &amp; NES Dept. </a:t>
                      </a:r>
                      <a:r>
                        <a:rPr lang="en-US" sz="1300" b="1" dirty="0" err="1"/>
                        <a:t>GoWB</a:t>
                      </a:r>
                      <a:r>
                        <a:rPr lang="en-US" sz="1300" b="1" dirty="0"/>
                        <a:t> for sanction under RIDF scheme of NABARD.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hMerge="1">
                  <a:txBody>
                    <a:bodyPr/>
                    <a:lstStyle/>
                    <a:p>
                      <a:pPr marL="0" marR="0" lvl="0" indent="0" algn="ctr" defTabSz="1219231" rtl="0" eaLnBrk="1" fontAlgn="auto" latinLnBrk="0" hangingPunct="1">
                        <a:lnSpc>
                          <a:spcPct val="100000"/>
                        </a:lnSpc>
                        <a:spcBef>
                          <a:spcPts val="0"/>
                        </a:spcBef>
                        <a:spcAft>
                          <a:spcPts val="0"/>
                        </a:spcAft>
                        <a:buClrTx/>
                        <a:buSzTx/>
                        <a:buFontTx/>
                        <a:buNone/>
                        <a:tabLst/>
                        <a:defRPr/>
                      </a:pPr>
                      <a:endParaRPr kumimoji="0" lang="en-US" sz="1300" b="1" i="0" u="none" strike="noStrike" kern="1200" cap="none" spc="0" normalizeH="0" baseline="0" noProof="0" dirty="0">
                        <a:ln>
                          <a:noFill/>
                        </a:ln>
                        <a:solidFill>
                          <a:srgbClr val="012169"/>
                        </a:solidFill>
                        <a:effectLst/>
                        <a:uLnTx/>
                        <a:uFillTx/>
                        <a:latin typeface="Verdan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0015380"/>
                  </a:ext>
                </a:extLst>
              </a:tr>
              <a:tr h="526276">
                <a:tc>
                  <a:txBody>
                    <a:bodyPr/>
                    <a:lstStyle/>
                    <a:p>
                      <a:pPr algn="ctr"/>
                      <a:r>
                        <a:rPr lang="en-US" sz="1300" dirty="0"/>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b="0" dirty="0"/>
                        <a:t>10 MW Solar PV Power Plants at Mahananda Main Canal, Uttar Dinajpur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vMerge="1">
                  <a:txBody>
                    <a:bodyPr/>
                    <a:lstStyle/>
                    <a:p>
                      <a:pPr algn="l"/>
                      <a:endParaRPr lang="en-US" sz="13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vMerge="1">
                  <a:txBody>
                    <a:bodyPr/>
                    <a:lstStyle/>
                    <a:p>
                      <a:pPr marL="0" marR="0" lvl="0" indent="0" algn="ctr" defTabSz="1219231" rtl="0" eaLnBrk="1" fontAlgn="auto" latinLnBrk="0" hangingPunct="1">
                        <a:lnSpc>
                          <a:spcPct val="100000"/>
                        </a:lnSpc>
                        <a:spcBef>
                          <a:spcPts val="0"/>
                        </a:spcBef>
                        <a:spcAft>
                          <a:spcPts val="0"/>
                        </a:spcAft>
                        <a:buClrTx/>
                        <a:buSzTx/>
                        <a:buFontTx/>
                        <a:buNone/>
                        <a:tabLst/>
                        <a:defRPr/>
                      </a:pPr>
                      <a:endParaRPr kumimoji="0" lang="en-US" sz="1300" b="1" i="0" u="none" strike="noStrike" kern="1200" cap="none" spc="0" normalizeH="0" baseline="0" noProof="0" dirty="0">
                        <a:ln>
                          <a:noFill/>
                        </a:ln>
                        <a:solidFill>
                          <a:srgbClr val="DA291C"/>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51792577"/>
                  </a:ext>
                </a:extLst>
              </a:tr>
              <a:tr h="526276">
                <a:tc>
                  <a:txBody>
                    <a:bodyPr/>
                    <a:lstStyle/>
                    <a:p>
                      <a:pPr algn="ctr"/>
                      <a:r>
                        <a:rPr lang="en-US" sz="1300" dirty="0"/>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b="0" dirty="0"/>
                        <a:t>04 MW Solar PV Project at </a:t>
                      </a:r>
                      <a:r>
                        <a:rPr lang="en-US" sz="1200" b="0" dirty="0" err="1"/>
                        <a:t>Koltaldih</a:t>
                      </a:r>
                      <a:r>
                        <a:rPr lang="en-US" sz="1200" b="0" dirty="0"/>
                        <a:t> (Phase - IA), Asansol, Burdwan district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vMerge="1">
                  <a:txBody>
                    <a:bodyPr/>
                    <a:lstStyle/>
                    <a:p>
                      <a:pPr algn="l"/>
                      <a:endParaRPr lang="en-US" sz="13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vMerge="1">
                  <a:txBody>
                    <a:bodyPr/>
                    <a:lstStyle/>
                    <a:p>
                      <a:pPr marL="0" marR="0" lvl="0" indent="0" algn="ctr" defTabSz="1219231" rtl="0" eaLnBrk="1" fontAlgn="auto" latinLnBrk="0" hangingPunct="1">
                        <a:lnSpc>
                          <a:spcPct val="100000"/>
                        </a:lnSpc>
                        <a:spcBef>
                          <a:spcPts val="0"/>
                        </a:spcBef>
                        <a:spcAft>
                          <a:spcPts val="0"/>
                        </a:spcAft>
                        <a:buClrTx/>
                        <a:buSzTx/>
                        <a:buFontTx/>
                        <a:buNone/>
                        <a:tabLst/>
                        <a:defRPr/>
                      </a:pPr>
                      <a:endParaRPr kumimoji="0" lang="en-US" sz="1300" b="1" i="0" u="none" strike="noStrike" kern="1200" cap="none" spc="0" normalizeH="0" baseline="0" noProof="0" dirty="0">
                        <a:ln>
                          <a:noFill/>
                        </a:ln>
                        <a:solidFill>
                          <a:srgbClr val="DA291C"/>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41226311"/>
                  </a:ext>
                </a:extLst>
              </a:tr>
              <a:tr h="526276">
                <a:tc>
                  <a:txBody>
                    <a:bodyPr/>
                    <a:lstStyle/>
                    <a:p>
                      <a:pPr algn="ctr"/>
                      <a:r>
                        <a:rPr lang="en-US" sz="1300" dirty="0"/>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b="0" dirty="0"/>
                        <a:t>02 MW Solar PV Project at </a:t>
                      </a:r>
                      <a:r>
                        <a:rPr lang="en-US" sz="1200" b="0" dirty="0" err="1"/>
                        <a:t>Chiranjibpur</a:t>
                      </a:r>
                      <a:r>
                        <a:rPr lang="en-US" sz="1200" b="0" dirty="0"/>
                        <a:t>, Haldia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vMerge="1">
                  <a:txBody>
                    <a:bodyPr/>
                    <a:lstStyle/>
                    <a:p>
                      <a:pPr algn="l"/>
                      <a:endParaRPr lang="en-US" sz="1300" b="1" dirty="0">
                        <a:solidFill>
                          <a:srgbClr val="DA291C"/>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vMerge="1">
                  <a:txBody>
                    <a:bodyPr/>
                    <a:lstStyle/>
                    <a:p>
                      <a:pPr marL="0" marR="0" lvl="0" indent="0" algn="ctr" defTabSz="1219231" rtl="0" eaLnBrk="1" fontAlgn="auto" latinLnBrk="0" hangingPunct="1">
                        <a:lnSpc>
                          <a:spcPct val="100000"/>
                        </a:lnSpc>
                        <a:spcBef>
                          <a:spcPts val="0"/>
                        </a:spcBef>
                        <a:spcAft>
                          <a:spcPts val="0"/>
                        </a:spcAft>
                        <a:buClrTx/>
                        <a:buSzTx/>
                        <a:buFontTx/>
                        <a:buNone/>
                        <a:tabLst/>
                        <a:defRPr/>
                      </a:pPr>
                      <a:endParaRPr kumimoji="0" lang="en-US" sz="1300" b="1" i="0" u="none" strike="noStrike" kern="1200" cap="none" spc="0" normalizeH="0" baseline="0" noProof="0" dirty="0">
                        <a:ln>
                          <a:noFill/>
                        </a:ln>
                        <a:solidFill>
                          <a:schemeClr val="tx1"/>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8200988"/>
                  </a:ext>
                </a:extLst>
              </a:tr>
              <a:tr h="526276">
                <a:tc>
                  <a:txBody>
                    <a:bodyPr/>
                    <a:lstStyle/>
                    <a:p>
                      <a:pPr algn="ctr"/>
                      <a:r>
                        <a:rPr lang="en-US" sz="1300" dirty="0"/>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b="0" dirty="0"/>
                        <a:t>Phase - I (125 MW) &amp; phase - II (75 MW) of 200 MW Solar Park, at </a:t>
                      </a:r>
                      <a:r>
                        <a:rPr lang="en-US" sz="1200" b="0" dirty="0" err="1"/>
                        <a:t>Dadanpatra</a:t>
                      </a:r>
                      <a:r>
                        <a:rPr lang="en-US" sz="1200" b="0" dirty="0"/>
                        <a:t>, </a:t>
                      </a:r>
                      <a:r>
                        <a:rPr lang="en-US" sz="1200" b="0" dirty="0" err="1"/>
                        <a:t>Purba</a:t>
                      </a:r>
                      <a:r>
                        <a:rPr lang="en-US" sz="1200" b="0" dirty="0"/>
                        <a:t> Medinipur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a:r>
                        <a:rPr lang="en-US" sz="1300" b="1" dirty="0"/>
                        <a:t>Exp to be completed by January 2022 as per WBSEDCL Annual Report for FY 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extLst>
                  <a:ext uri="{0D108BD9-81ED-4DB2-BD59-A6C34878D82A}">
                    <a16:rowId xmlns:a16="http://schemas.microsoft.com/office/drawing/2014/main" val="1202886856"/>
                  </a:ext>
                </a:extLst>
              </a:tr>
              <a:tr h="526276">
                <a:tc>
                  <a:txBody>
                    <a:bodyPr/>
                    <a:lstStyle/>
                    <a:p>
                      <a:pPr algn="ctr"/>
                      <a:r>
                        <a:rPr lang="en-US" sz="1300" dirty="0"/>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b="0" dirty="0"/>
                        <a:t>Cumulative 7 MW solar PV (solarization of pumps) under KUSUM scheme (Component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a:r>
                        <a:rPr lang="en-US" sz="1300" b="1" dirty="0"/>
                        <a:t>Tenders were floated and Bid opening completed. Out of 7 packages, LOIs for 4 packages placed. Evaluation under process for 2 packages and 1 package got cancelled due to non-availability of bidders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extLst>
                  <a:ext uri="{0D108BD9-81ED-4DB2-BD59-A6C34878D82A}">
                    <a16:rowId xmlns:a16="http://schemas.microsoft.com/office/drawing/2014/main" val="2792504234"/>
                  </a:ext>
                </a:extLst>
              </a:tr>
            </a:tbl>
          </a:graphicData>
        </a:graphic>
      </p:graphicFrame>
      <p:sp>
        <p:nvSpPr>
          <p:cNvPr id="6" name="Title 2">
            <a:extLst>
              <a:ext uri="{FF2B5EF4-FFF2-40B4-BE49-F238E27FC236}">
                <a16:creationId xmlns:a16="http://schemas.microsoft.com/office/drawing/2014/main" id="{A6BEF20F-9C89-453F-ACD7-A2E1B1B04A51}"/>
              </a:ext>
            </a:extLst>
          </p:cNvPr>
          <p:cNvSpPr>
            <a:spLocks noGrp="1"/>
          </p:cNvSpPr>
          <p:nvPr>
            <p:ph type="title"/>
          </p:nvPr>
        </p:nvSpPr>
        <p:spPr>
          <a:xfrm>
            <a:off x="295242" y="350838"/>
            <a:ext cx="11540590" cy="316982"/>
          </a:xfrm>
        </p:spPr>
        <p:txBody>
          <a:bodyPr/>
          <a:lstStyle/>
          <a:p>
            <a:r>
              <a:rPr lang="en-US" sz="1800" b="1" dirty="0"/>
              <a:t>Status of Ground Mounted Grid Connected Solar PV Power Plant-WBSEDCL in FY 21 (3/3)</a:t>
            </a:r>
          </a:p>
        </p:txBody>
      </p:sp>
      <p:sp>
        <p:nvSpPr>
          <p:cNvPr id="5" name="TextBox 4">
            <a:extLst>
              <a:ext uri="{FF2B5EF4-FFF2-40B4-BE49-F238E27FC236}">
                <a16:creationId xmlns:a16="http://schemas.microsoft.com/office/drawing/2014/main" id="{23FE4F23-4A78-429E-AFC8-693FBF521617}"/>
              </a:ext>
            </a:extLst>
          </p:cNvPr>
          <p:cNvSpPr txBox="1"/>
          <p:nvPr/>
        </p:nvSpPr>
        <p:spPr>
          <a:xfrm>
            <a:off x="1198652" y="5885598"/>
            <a:ext cx="9894013" cy="184666"/>
          </a:xfrm>
          <a:prstGeom prst="rect">
            <a:avLst/>
          </a:prstGeom>
          <a:noFill/>
        </p:spPr>
        <p:txBody>
          <a:bodyPr wrap="square" lIns="0" tIns="0" rIns="0" bIns="0" rtlCol="0">
            <a:spAutoFit/>
          </a:bodyPr>
          <a:lstStyle/>
          <a:p>
            <a:pPr algn="ctr">
              <a:spcBef>
                <a:spcPts val="600"/>
              </a:spcBef>
              <a:buSzPct val="100000"/>
            </a:pPr>
            <a:r>
              <a:rPr lang="en-US" sz="1200" b="1" dirty="0">
                <a:solidFill>
                  <a:srgbClr val="313131"/>
                </a:solidFill>
              </a:rPr>
              <a:t>All the above projects are under development/ recently commissioned (to be checked with WBSEDCL)</a:t>
            </a:r>
          </a:p>
        </p:txBody>
      </p:sp>
    </p:spTree>
    <p:extLst>
      <p:ext uri="{BB962C8B-B14F-4D97-AF65-F5344CB8AC3E}">
        <p14:creationId xmlns:p14="http://schemas.microsoft.com/office/powerpoint/2010/main" val="647365817"/>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D144FA7-400C-4CCF-80ED-855278D0247B}"/>
              </a:ext>
            </a:extLst>
          </p:cNvPr>
          <p:cNvGraphicFramePr>
            <a:graphicFrameLocks noChangeAspect="1"/>
          </p:cNvGraphicFramePr>
          <p:nvPr>
            <p:custDataLst>
              <p:tags r:id="rId2"/>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30776"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7D144FA7-400C-4CCF-80ED-855278D0247B}"/>
                          </a:ext>
                        </a:extLst>
                      </p:cNvPr>
                      <p:cNvPicPr/>
                      <p:nvPr/>
                    </p:nvPicPr>
                    <p:blipFill>
                      <a:blip r:embed="rId5"/>
                      <a:stretch>
                        <a:fillRect/>
                      </a:stretch>
                    </p:blipFill>
                    <p:spPr>
                      <a:xfrm>
                        <a:off x="1680" y="1440"/>
                        <a:ext cx="1440" cy="1440"/>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B38EEA7-2F9B-4364-8550-4F9399BA27E6}"/>
              </a:ext>
            </a:extLst>
          </p:cNvPr>
          <p:cNvSpPr>
            <a:spLocks noGrp="1"/>
          </p:cNvSpPr>
          <p:nvPr>
            <p:ph type="title"/>
          </p:nvPr>
        </p:nvSpPr>
        <p:spPr>
          <a:xfrm>
            <a:off x="469887" y="234915"/>
            <a:ext cx="11252200" cy="334102"/>
          </a:xfrm>
        </p:spPr>
        <p:txBody>
          <a:bodyPr vert="horz"/>
          <a:lstStyle/>
          <a:p>
            <a:r>
              <a:rPr lang="en-US" sz="1800" b="1" dirty="0"/>
              <a:t>Details of Upcoming Projects for WBSEDCL</a:t>
            </a:r>
          </a:p>
        </p:txBody>
      </p:sp>
      <p:graphicFrame>
        <p:nvGraphicFramePr>
          <p:cNvPr id="2" name="Table 1">
            <a:extLst>
              <a:ext uri="{FF2B5EF4-FFF2-40B4-BE49-F238E27FC236}">
                <a16:creationId xmlns:a16="http://schemas.microsoft.com/office/drawing/2014/main" id="{6890DDAF-27BB-4B80-BDF9-5B7994AB6F90}"/>
              </a:ext>
            </a:extLst>
          </p:cNvPr>
          <p:cNvGraphicFramePr>
            <a:graphicFrameLocks noGrp="1"/>
          </p:cNvGraphicFramePr>
          <p:nvPr>
            <p:extLst>
              <p:ext uri="{D42A27DB-BD31-4B8C-83A1-F6EECF244321}">
                <p14:modId xmlns:p14="http://schemas.microsoft.com/office/powerpoint/2010/main" val="4271561878"/>
              </p:ext>
            </p:extLst>
          </p:nvPr>
        </p:nvGraphicFramePr>
        <p:xfrm>
          <a:off x="501650" y="827087"/>
          <a:ext cx="11188700" cy="5062082"/>
        </p:xfrm>
        <a:graphic>
          <a:graphicData uri="http://schemas.openxmlformats.org/drawingml/2006/table">
            <a:tbl>
              <a:tblPr firstRow="1" firstCol="1" bandRow="1">
                <a:tableStyleId>{69012ECD-51FC-41F1-AA8D-1B2483CD663E}</a:tableStyleId>
              </a:tblPr>
              <a:tblGrid>
                <a:gridCol w="1348919">
                  <a:extLst>
                    <a:ext uri="{9D8B030D-6E8A-4147-A177-3AD203B41FA5}">
                      <a16:colId xmlns:a16="http://schemas.microsoft.com/office/drawing/2014/main" val="1626516124"/>
                    </a:ext>
                  </a:extLst>
                </a:gridCol>
                <a:gridCol w="7652658">
                  <a:extLst>
                    <a:ext uri="{9D8B030D-6E8A-4147-A177-3AD203B41FA5}">
                      <a16:colId xmlns:a16="http://schemas.microsoft.com/office/drawing/2014/main" val="1069608656"/>
                    </a:ext>
                  </a:extLst>
                </a:gridCol>
                <a:gridCol w="2187123">
                  <a:extLst>
                    <a:ext uri="{9D8B030D-6E8A-4147-A177-3AD203B41FA5}">
                      <a16:colId xmlns:a16="http://schemas.microsoft.com/office/drawing/2014/main" val="2504761627"/>
                    </a:ext>
                  </a:extLst>
                </a:gridCol>
              </a:tblGrid>
              <a:tr h="467493">
                <a:tc>
                  <a:txBody>
                    <a:bodyPr/>
                    <a:lstStyle/>
                    <a:p>
                      <a:pPr algn="ctr">
                        <a:lnSpc>
                          <a:spcPct val="107000"/>
                        </a:lnSpc>
                        <a:spcAft>
                          <a:spcPts val="0"/>
                        </a:spcAft>
                      </a:pPr>
                      <a:r>
                        <a:rPr lang="en-IN" sz="1300" dirty="0">
                          <a:effectLst/>
                          <a:latin typeface="+mj-lt"/>
                          <a:ea typeface="Calibri" panose="020F0502020204030204"/>
                          <a:cs typeface="Times New Roman" panose="02020603050405020304"/>
                        </a:rPr>
                        <a:t>REW</a:t>
                      </a:r>
                    </a:p>
                  </a:txBody>
                  <a:tcPr marL="68580" marR="68580" marT="0" marB="0" anchor="ctr">
                    <a:lnB w="12700" cap="flat" cmpd="sng" algn="ctr">
                      <a:solidFill>
                        <a:schemeClr val="tx1"/>
                      </a:solidFill>
                      <a:prstDash val="solid"/>
                      <a:round/>
                      <a:headEnd type="none" w="med" len="med"/>
                      <a:tailEnd type="none" w="med" len="med"/>
                    </a:lnB>
                    <a:solidFill>
                      <a:srgbClr val="007680"/>
                    </a:solidFill>
                  </a:tcPr>
                </a:tc>
                <a:tc>
                  <a:txBody>
                    <a:bodyPr/>
                    <a:lstStyle/>
                    <a:p>
                      <a:pPr algn="ctr">
                        <a:lnSpc>
                          <a:spcPct val="107000"/>
                        </a:lnSpc>
                        <a:spcAft>
                          <a:spcPts val="0"/>
                        </a:spcAft>
                      </a:pPr>
                      <a:r>
                        <a:rPr lang="en-IN" sz="1300" dirty="0">
                          <a:effectLst/>
                          <a:latin typeface="+mj-lt"/>
                        </a:rPr>
                        <a:t>Project Details</a:t>
                      </a:r>
                      <a:endParaRPr lang="en-IN" sz="1300" dirty="0">
                        <a:effectLst/>
                        <a:latin typeface="+mj-lt"/>
                        <a:ea typeface="Calibri" panose="020F0502020204030204"/>
                        <a:cs typeface="Times New Roman" panose="02020603050405020304"/>
                      </a:endParaRPr>
                    </a:p>
                  </a:txBody>
                  <a:tcPr marL="68580" marR="68580" marT="0" marB="0" anchor="ctr">
                    <a:lnB w="12700" cap="flat" cmpd="sng" algn="ctr">
                      <a:solidFill>
                        <a:schemeClr val="tx1"/>
                      </a:solidFill>
                      <a:prstDash val="solid"/>
                      <a:round/>
                      <a:headEnd type="none" w="med" len="med"/>
                      <a:tailEnd type="none" w="med" len="med"/>
                    </a:lnB>
                    <a:solidFill>
                      <a:srgbClr val="007680"/>
                    </a:solidFill>
                  </a:tcPr>
                </a:tc>
                <a:tc>
                  <a:txBody>
                    <a:bodyPr/>
                    <a:lstStyle/>
                    <a:p>
                      <a:pPr algn="ctr">
                        <a:lnSpc>
                          <a:spcPct val="107000"/>
                        </a:lnSpc>
                        <a:spcAft>
                          <a:spcPts val="0"/>
                        </a:spcAft>
                      </a:pPr>
                      <a:r>
                        <a:rPr lang="en-IN" sz="1300" dirty="0">
                          <a:effectLst/>
                          <a:latin typeface="+mj-lt"/>
                          <a:ea typeface="Calibri" panose="020F0502020204030204"/>
                          <a:cs typeface="Times New Roman" panose="02020603050405020304"/>
                        </a:rPr>
                        <a:t>Financing By</a:t>
                      </a:r>
                    </a:p>
                  </a:txBody>
                  <a:tcPr marL="68580" marR="68580" marT="0" marB="0" anchor="ctr">
                    <a:lnB w="12700" cap="flat" cmpd="sng" algn="ctr">
                      <a:solidFill>
                        <a:schemeClr val="tx1"/>
                      </a:solidFill>
                      <a:prstDash val="solid"/>
                      <a:round/>
                      <a:headEnd type="none" w="med" len="med"/>
                      <a:tailEnd type="none" w="med" len="med"/>
                    </a:lnB>
                    <a:solidFill>
                      <a:srgbClr val="007680"/>
                    </a:solidFill>
                  </a:tcPr>
                </a:tc>
                <a:extLst>
                  <a:ext uri="{0D108BD9-81ED-4DB2-BD59-A6C34878D82A}">
                    <a16:rowId xmlns:a16="http://schemas.microsoft.com/office/drawing/2014/main" val="4036393117"/>
                  </a:ext>
                </a:extLst>
              </a:tr>
              <a:tr h="614428">
                <a:tc rowSpan="2">
                  <a:txBody>
                    <a:bodyPr/>
                    <a:lstStyle/>
                    <a:p>
                      <a:pPr marR="333375" algn="ctr">
                        <a:lnSpc>
                          <a:spcPct val="107000"/>
                        </a:lnSpc>
                        <a:spcAft>
                          <a:spcPts val="0"/>
                        </a:spcAft>
                      </a:pPr>
                      <a:r>
                        <a:rPr lang="en-IN" sz="1300" dirty="0">
                          <a:effectLst/>
                          <a:latin typeface="+mj-lt"/>
                          <a:ea typeface="Calibri" panose="020F0502020204030204"/>
                          <a:cs typeface="Times New Roman" panose="02020603050405020304"/>
                        </a:rPr>
                        <a:t>  Solar Ground Mounted</a:t>
                      </a:r>
                    </a:p>
                  </a:txBody>
                  <a:tcPr marL="18288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333375" indent="-228600" algn="l">
                        <a:lnSpc>
                          <a:spcPct val="107000"/>
                        </a:lnSpc>
                        <a:spcAft>
                          <a:spcPts val="0"/>
                        </a:spcAft>
                        <a:buFont typeface="Wingdings" panose="05000000000000000000" pitchFamily="2" charset="2"/>
                        <a:buChar char="q"/>
                      </a:pPr>
                      <a:r>
                        <a:rPr lang="en-US" sz="1300" dirty="0">
                          <a:effectLst/>
                          <a:latin typeface="+mj-lt"/>
                        </a:rPr>
                        <a:t>2 X 10 MW Ground Mounted Project at Gangapur, Block-Rajnagar, Birbhum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333375" lvl="0" indent="-228600" algn="l" defTabSz="1219231" rtl="0" eaLnBrk="1" fontAlgn="auto" latinLnBrk="0" hangingPunct="1">
                        <a:lnSpc>
                          <a:spcPct val="107000"/>
                        </a:lnSpc>
                        <a:spcBef>
                          <a:spcPts val="0"/>
                        </a:spcBef>
                        <a:spcAft>
                          <a:spcPts val="0"/>
                        </a:spcAft>
                        <a:buClrTx/>
                        <a:buSzTx/>
                        <a:buFont typeface="Wingdings" panose="05000000000000000000" pitchFamily="2" charset="2"/>
                        <a:buChar char="q"/>
                        <a:tabLst/>
                        <a:defRPr/>
                      </a:pPr>
                      <a:r>
                        <a:rPr lang="en-US" sz="1300" dirty="0">
                          <a:effectLst/>
                          <a:latin typeface="+mj-lt"/>
                        </a:rPr>
                        <a:t>RIDF, NABARD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75219066"/>
                  </a:ext>
                </a:extLst>
              </a:tr>
              <a:tr h="614428">
                <a:tc vMerge="1">
                  <a:txBody>
                    <a:bodyPr/>
                    <a:lstStyle/>
                    <a:p>
                      <a:pPr marR="333375" algn="ctr">
                        <a:lnSpc>
                          <a:spcPct val="107000"/>
                        </a:lnSpc>
                        <a:spcAft>
                          <a:spcPts val="0"/>
                        </a:spcAft>
                      </a:pPr>
                      <a:endParaRPr lang="en-IN" sz="1200" dirty="0">
                        <a:effectLst/>
                        <a:latin typeface="Calibri" panose="020F0502020204030204"/>
                        <a:ea typeface="Calibri" panose="020F0502020204030204"/>
                        <a:cs typeface="Times New Roman" panose="02020603050405020304"/>
                      </a:endParaRPr>
                    </a:p>
                  </a:txBody>
                  <a:tcPr marL="68580" marR="68580" marT="0" marB="0" anchor="ctr"/>
                </a:tc>
                <a:tc>
                  <a:txBody>
                    <a:bodyPr/>
                    <a:lstStyle/>
                    <a:p>
                      <a:pPr marL="228600" marR="333375" lvl="0" indent="-228600" algn="l" defTabSz="1219231" rtl="0" eaLnBrk="1" fontAlgn="auto" latinLnBrk="0" hangingPunct="1">
                        <a:lnSpc>
                          <a:spcPct val="107000"/>
                        </a:lnSpc>
                        <a:spcBef>
                          <a:spcPts val="0"/>
                        </a:spcBef>
                        <a:spcAft>
                          <a:spcPts val="0"/>
                        </a:spcAft>
                        <a:buClrTx/>
                        <a:buSzTx/>
                        <a:buFont typeface="Wingdings" panose="05000000000000000000" pitchFamily="2" charset="2"/>
                        <a:buChar char="q"/>
                        <a:tabLst/>
                        <a:defRPr/>
                      </a:pPr>
                      <a:r>
                        <a:rPr lang="en-US" sz="1300" dirty="0">
                          <a:effectLst/>
                          <a:latin typeface="+mj-lt"/>
                        </a:rPr>
                        <a:t>125 MW </a:t>
                      </a:r>
                      <a:r>
                        <a:rPr lang="en-US" sz="1300" dirty="0" err="1">
                          <a:effectLst/>
                          <a:latin typeface="+mj-lt"/>
                        </a:rPr>
                        <a:t>Goaltore</a:t>
                      </a:r>
                      <a:r>
                        <a:rPr lang="en-US" sz="1300" dirty="0">
                          <a:effectLst/>
                          <a:latin typeface="+mj-lt"/>
                        </a:rPr>
                        <a:t> Solar Park Project Phase-II</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333375" lvl="0" indent="-228600" algn="l" defTabSz="1219231" rtl="0" eaLnBrk="1" fontAlgn="auto" latinLnBrk="0" hangingPunct="1">
                        <a:lnSpc>
                          <a:spcPct val="107000"/>
                        </a:lnSpc>
                        <a:spcBef>
                          <a:spcPts val="0"/>
                        </a:spcBef>
                        <a:spcAft>
                          <a:spcPts val="0"/>
                        </a:spcAft>
                        <a:buClrTx/>
                        <a:buSzTx/>
                        <a:buFont typeface="Wingdings" panose="05000000000000000000" pitchFamily="2" charset="2"/>
                        <a:buChar char="q"/>
                        <a:tabLst/>
                        <a:defRPr/>
                      </a:pPr>
                      <a:r>
                        <a:rPr lang="en-US" sz="1300" dirty="0" err="1">
                          <a:effectLst/>
                          <a:latin typeface="+mj-lt"/>
                        </a:rPr>
                        <a:t>KfW</a:t>
                      </a:r>
                      <a:endParaRPr lang="en-US" sz="1300" dirty="0">
                        <a:effectLst/>
                        <a:latin typeface="+mj-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50484868"/>
                  </a:ext>
                </a:extLst>
              </a:tr>
              <a:tr h="820153">
                <a:tc>
                  <a:txBody>
                    <a:bodyPr/>
                    <a:lstStyle/>
                    <a:p>
                      <a:pPr marR="333375" algn="ctr">
                        <a:lnSpc>
                          <a:spcPct val="107000"/>
                        </a:lnSpc>
                        <a:spcAft>
                          <a:spcPts val="0"/>
                        </a:spcAft>
                      </a:pPr>
                      <a:r>
                        <a:rPr lang="en-IN" sz="1300" dirty="0">
                          <a:effectLst/>
                          <a:latin typeface="+mj-lt"/>
                          <a:ea typeface="Calibri" panose="020F0502020204030204"/>
                          <a:cs typeface="Times New Roman" panose="02020603050405020304"/>
                        </a:rPr>
                        <a:t>Roof Top Solar</a:t>
                      </a:r>
                    </a:p>
                  </a:txBody>
                  <a:tcPr marL="18288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333375" indent="-228600" algn="l">
                        <a:lnSpc>
                          <a:spcPct val="107000"/>
                        </a:lnSpc>
                        <a:spcAft>
                          <a:spcPts val="0"/>
                        </a:spcAft>
                        <a:buFont typeface="Wingdings" panose="05000000000000000000" pitchFamily="2" charset="2"/>
                        <a:buChar char="q"/>
                      </a:pPr>
                      <a:r>
                        <a:rPr lang="en-US" sz="1300" dirty="0">
                          <a:effectLst/>
                          <a:latin typeface="+mj-lt"/>
                        </a:rPr>
                        <a:t>10 MW Rooftop Solar Power Project across West Bengal (Domestic)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333375" indent="-228600" algn="l">
                        <a:lnSpc>
                          <a:spcPct val="107000"/>
                        </a:lnSpc>
                        <a:spcAft>
                          <a:spcPts val="0"/>
                        </a:spcAft>
                        <a:buFont typeface="Wingdings" panose="05000000000000000000" pitchFamily="2" charset="2"/>
                        <a:buChar char="q"/>
                      </a:pPr>
                      <a:r>
                        <a:rPr lang="en-US" sz="1300" dirty="0">
                          <a:effectLst/>
                          <a:latin typeface="+mj-lt"/>
                        </a:rPr>
                        <a:t>MNRE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2160013"/>
                  </a:ext>
                </a:extLst>
              </a:tr>
              <a:tr h="801648">
                <a:tc>
                  <a:txBody>
                    <a:bodyPr/>
                    <a:lstStyle/>
                    <a:p>
                      <a:pPr marR="333375" algn="ctr">
                        <a:lnSpc>
                          <a:spcPct val="107000"/>
                        </a:lnSpc>
                        <a:spcAft>
                          <a:spcPts val="0"/>
                        </a:spcAft>
                      </a:pPr>
                      <a:r>
                        <a:rPr lang="en-IN" sz="1300" dirty="0">
                          <a:effectLst/>
                          <a:latin typeface="+mj-lt"/>
                          <a:ea typeface="Calibri" panose="020F0502020204030204"/>
                          <a:cs typeface="Times New Roman" panose="02020603050405020304"/>
                        </a:rPr>
                        <a:t>Agri Solar</a:t>
                      </a:r>
                    </a:p>
                  </a:txBody>
                  <a:tcPr marL="18288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333375" indent="-228600" algn="l">
                        <a:lnSpc>
                          <a:spcPct val="107000"/>
                        </a:lnSpc>
                        <a:spcAft>
                          <a:spcPts val="0"/>
                        </a:spcAft>
                        <a:buFont typeface="Wingdings" panose="05000000000000000000" pitchFamily="2" charset="2"/>
                        <a:buChar char="q"/>
                      </a:pPr>
                      <a:r>
                        <a:rPr lang="en-US" sz="1300" dirty="0" err="1">
                          <a:effectLst/>
                          <a:latin typeface="+mj-lt"/>
                        </a:rPr>
                        <a:t>Solarisation</a:t>
                      </a:r>
                      <a:r>
                        <a:rPr lang="en-US" sz="1300" dirty="0">
                          <a:effectLst/>
                          <a:latin typeface="+mj-lt"/>
                        </a:rPr>
                        <a:t> of 700 No Agricultural Pump Under Kusum – C Burdwan &amp; Hooghly (5 MWp)</a:t>
                      </a:r>
                    </a:p>
                    <a:p>
                      <a:pPr marL="228600" marR="333375" indent="-228600" algn="l">
                        <a:lnSpc>
                          <a:spcPct val="107000"/>
                        </a:lnSpc>
                        <a:spcAft>
                          <a:spcPts val="0"/>
                        </a:spcAft>
                        <a:buFont typeface="Wingdings" panose="05000000000000000000" pitchFamily="2" charset="2"/>
                        <a:buChar char="q"/>
                      </a:pPr>
                      <a:r>
                        <a:rPr lang="en-US" sz="1300" dirty="0" err="1">
                          <a:effectLst/>
                          <a:latin typeface="+mj-lt"/>
                        </a:rPr>
                        <a:t>Solarisation</a:t>
                      </a:r>
                      <a:r>
                        <a:rPr lang="en-US" sz="1300" dirty="0">
                          <a:effectLst/>
                          <a:latin typeface="+mj-lt"/>
                        </a:rPr>
                        <a:t> of  23000 No Agricultural Pump Under Kusum – C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333375" indent="-228600" algn="l">
                        <a:lnSpc>
                          <a:spcPct val="107000"/>
                        </a:lnSpc>
                        <a:spcAft>
                          <a:spcPts val="0"/>
                        </a:spcAft>
                        <a:buFont typeface="Wingdings" panose="05000000000000000000" pitchFamily="2" charset="2"/>
                        <a:buChar char="q"/>
                      </a:pPr>
                      <a:r>
                        <a:rPr lang="en-US" sz="1300" dirty="0">
                          <a:effectLst/>
                          <a:latin typeface="+mj-lt"/>
                        </a:rPr>
                        <a:t>MNRE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6636695"/>
                  </a:ext>
                </a:extLst>
              </a:tr>
              <a:tr h="522955">
                <a:tc>
                  <a:txBody>
                    <a:bodyPr/>
                    <a:lstStyle/>
                    <a:p>
                      <a:pPr marR="333375" algn="ctr">
                        <a:lnSpc>
                          <a:spcPct val="107000"/>
                        </a:lnSpc>
                        <a:spcAft>
                          <a:spcPts val="0"/>
                        </a:spcAft>
                      </a:pPr>
                      <a:r>
                        <a:rPr lang="en-IN" sz="1300" dirty="0">
                          <a:effectLst/>
                          <a:latin typeface="+mj-lt"/>
                          <a:ea typeface="Calibri" panose="020F0502020204030204"/>
                          <a:cs typeface="Times New Roman" panose="02020603050405020304"/>
                        </a:rPr>
                        <a:t>Floating Solar</a:t>
                      </a:r>
                    </a:p>
                  </a:txBody>
                  <a:tcPr marL="18288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333375" indent="-228600" algn="l">
                        <a:lnSpc>
                          <a:spcPct val="107000"/>
                        </a:lnSpc>
                        <a:spcAft>
                          <a:spcPts val="0"/>
                        </a:spcAft>
                        <a:buFont typeface="Wingdings" panose="05000000000000000000" pitchFamily="2" charset="2"/>
                        <a:buChar char="q"/>
                      </a:pPr>
                      <a:r>
                        <a:rPr lang="en-IN" sz="1300" dirty="0">
                          <a:effectLst/>
                          <a:latin typeface="+mj-lt"/>
                        </a:rPr>
                        <a:t>PPSP 10 MW Floating Solar Project, (Upper Dam)</a:t>
                      </a:r>
                      <a:r>
                        <a:rPr lang="en-IN" sz="1300" dirty="0" err="1">
                          <a:effectLst/>
                          <a:latin typeface="+mj-lt"/>
                        </a:rPr>
                        <a:t>Barria</a:t>
                      </a:r>
                      <a:r>
                        <a:rPr lang="en-IN" sz="1300" dirty="0">
                          <a:effectLst/>
                          <a:latin typeface="+mj-lt"/>
                        </a:rPr>
                        <a:t> </a:t>
                      </a:r>
                      <a:r>
                        <a:rPr lang="en-IN" sz="1300" dirty="0" err="1">
                          <a:effectLst/>
                          <a:latin typeface="+mj-lt"/>
                        </a:rPr>
                        <a:t>Mouja</a:t>
                      </a:r>
                      <a:r>
                        <a:rPr lang="en-IN" sz="1300" dirty="0">
                          <a:effectLst/>
                          <a:latin typeface="+mj-lt"/>
                        </a:rPr>
                        <a:t>, Ajodhya Hills, </a:t>
                      </a:r>
                      <a:r>
                        <a:rPr lang="en-IN" sz="1300" dirty="0" err="1">
                          <a:effectLst/>
                          <a:latin typeface="+mj-lt"/>
                        </a:rPr>
                        <a:t>Dist</a:t>
                      </a:r>
                      <a:r>
                        <a:rPr lang="en-IN" sz="1300" dirty="0">
                          <a:effectLst/>
                          <a:latin typeface="+mj-lt"/>
                        </a:rPr>
                        <a:t> –Purulia</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333375" indent="-228600" algn="l">
                        <a:lnSpc>
                          <a:spcPct val="107000"/>
                        </a:lnSpc>
                        <a:spcAft>
                          <a:spcPts val="0"/>
                        </a:spcAft>
                        <a:buFont typeface="Wingdings" panose="05000000000000000000" pitchFamily="2" charset="2"/>
                        <a:buChar char="q"/>
                      </a:pPr>
                      <a:r>
                        <a:rPr lang="en-IN" sz="1300" dirty="0">
                          <a:effectLst/>
                          <a:latin typeface="+mj-lt"/>
                        </a:rPr>
                        <a:t>RIDF, NABARD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2509731"/>
                  </a:ext>
                </a:extLst>
              </a:tr>
              <a:tr h="1220977">
                <a:tc>
                  <a:txBody>
                    <a:bodyPr/>
                    <a:lstStyle/>
                    <a:p>
                      <a:pPr marR="333375" algn="ctr">
                        <a:lnSpc>
                          <a:spcPct val="107000"/>
                        </a:lnSpc>
                        <a:spcAft>
                          <a:spcPts val="0"/>
                        </a:spcAft>
                      </a:pPr>
                      <a:r>
                        <a:rPr lang="en-IN" sz="1300" dirty="0">
                          <a:effectLst/>
                          <a:latin typeface="+mj-lt"/>
                          <a:ea typeface="Calibri" panose="020F0502020204030204"/>
                          <a:cs typeface="Times New Roman" panose="02020603050405020304"/>
                        </a:rPr>
                        <a:t>PPSP</a:t>
                      </a:r>
                    </a:p>
                  </a:txBody>
                  <a:tcPr marL="18288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333375" lvl="0" indent="-228600" algn="l" defTabSz="1219231" rtl="0" eaLnBrk="1" fontAlgn="auto" latinLnBrk="0" hangingPunct="1">
                        <a:lnSpc>
                          <a:spcPct val="107000"/>
                        </a:lnSpc>
                        <a:spcBef>
                          <a:spcPts val="0"/>
                        </a:spcBef>
                        <a:spcAft>
                          <a:spcPts val="0"/>
                        </a:spcAft>
                        <a:buClrTx/>
                        <a:buSzTx/>
                        <a:buFont typeface="Wingdings" panose="05000000000000000000" pitchFamily="2" charset="2"/>
                        <a:buChar char="q"/>
                        <a:tabLst/>
                        <a:defRPr/>
                      </a:pPr>
                      <a:r>
                        <a:rPr lang="da-DK" sz="1300" dirty="0">
                          <a:effectLst/>
                          <a:latin typeface="+mj-lt"/>
                        </a:rPr>
                        <a:t>1000 MW </a:t>
                      </a:r>
                      <a:r>
                        <a:rPr lang="en-IN" sz="1300" dirty="0" err="1">
                          <a:effectLst/>
                          <a:latin typeface="+mj-lt"/>
                          <a:ea typeface="Calibri" panose="020F0502020204030204"/>
                          <a:cs typeface="Times New Roman" panose="02020603050405020304"/>
                        </a:rPr>
                        <a:t>Kulbera</a:t>
                      </a:r>
                      <a:endParaRPr lang="en-IN" sz="1300" dirty="0">
                        <a:effectLst/>
                        <a:latin typeface="+mj-lt"/>
                        <a:ea typeface="Calibri" panose="020F0502020204030204"/>
                        <a:cs typeface="Times New Roman" panose="02020603050405020304"/>
                      </a:endParaRPr>
                    </a:p>
                    <a:p>
                      <a:pPr marL="228600" marR="333375" lvl="0" indent="-228600" algn="l" defTabSz="1219231" rtl="0" eaLnBrk="1" fontAlgn="auto" latinLnBrk="0" hangingPunct="1">
                        <a:lnSpc>
                          <a:spcPct val="107000"/>
                        </a:lnSpc>
                        <a:spcBef>
                          <a:spcPts val="0"/>
                        </a:spcBef>
                        <a:spcAft>
                          <a:spcPts val="0"/>
                        </a:spcAft>
                        <a:buClrTx/>
                        <a:buSzTx/>
                        <a:buFont typeface="Wingdings" panose="05000000000000000000" pitchFamily="2" charset="2"/>
                        <a:buChar char="q"/>
                        <a:tabLst/>
                        <a:defRPr/>
                      </a:pPr>
                      <a:r>
                        <a:rPr lang="da-DK" sz="1300" dirty="0">
                          <a:effectLst/>
                          <a:latin typeface="+mj-lt"/>
                        </a:rPr>
                        <a:t>1000 MW </a:t>
                      </a:r>
                      <a:r>
                        <a:rPr lang="en-IN" sz="1300" dirty="0" err="1">
                          <a:effectLst/>
                          <a:latin typeface="+mj-lt"/>
                          <a:ea typeface="Calibri" panose="020F0502020204030204"/>
                          <a:cs typeface="Times New Roman" panose="02020603050405020304"/>
                        </a:rPr>
                        <a:t>Katlajaal</a:t>
                      </a:r>
                      <a:endParaRPr lang="en-IN" sz="1300" dirty="0">
                        <a:effectLst/>
                        <a:latin typeface="+mj-lt"/>
                        <a:ea typeface="Calibri" panose="020F0502020204030204"/>
                        <a:cs typeface="Times New Roman" panose="0202060305040502030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333375" lvl="0" indent="-228600" algn="l" defTabSz="1219231" rtl="0" eaLnBrk="1" fontAlgn="auto" latinLnBrk="0" hangingPunct="1">
                        <a:lnSpc>
                          <a:spcPct val="107000"/>
                        </a:lnSpc>
                        <a:spcBef>
                          <a:spcPts val="0"/>
                        </a:spcBef>
                        <a:spcAft>
                          <a:spcPts val="0"/>
                        </a:spcAft>
                        <a:buClrTx/>
                        <a:buSzTx/>
                        <a:buFont typeface="Wingdings" panose="05000000000000000000" pitchFamily="2" charset="2"/>
                        <a:buChar char="q"/>
                        <a:tabLst/>
                        <a:defRPr/>
                      </a:pPr>
                      <a:r>
                        <a:rPr lang="en-IN" sz="1300" dirty="0">
                          <a:effectLst/>
                          <a:latin typeface="+mj-lt"/>
                          <a:ea typeface="Calibri" panose="020F0502020204030204"/>
                          <a:cs typeface="Times New Roman" panose="02020603050405020304"/>
                        </a:rPr>
                        <a:t>TA for preparation of DPRs for PPP mode projects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7785089"/>
                  </a:ext>
                </a:extLst>
              </a:tr>
            </a:tbl>
          </a:graphicData>
        </a:graphic>
      </p:graphicFrame>
    </p:spTree>
    <p:extLst>
      <p:ext uri="{BB962C8B-B14F-4D97-AF65-F5344CB8AC3E}">
        <p14:creationId xmlns:p14="http://schemas.microsoft.com/office/powerpoint/2010/main" val="3756346977"/>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D144FA7-400C-4CCF-80ED-855278D0247B}"/>
              </a:ext>
            </a:extLst>
          </p:cNvPr>
          <p:cNvGraphicFramePr>
            <a:graphicFrameLocks noChangeAspect="1"/>
          </p:cNvGraphicFramePr>
          <p:nvPr>
            <p:custDataLst>
              <p:tags r:id="rId2"/>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spid="_x0000_s31800"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7D144FA7-400C-4CCF-80ED-855278D0247B}"/>
                          </a:ext>
                        </a:extLst>
                      </p:cNvPr>
                      <p:cNvPicPr/>
                      <p:nvPr/>
                    </p:nvPicPr>
                    <p:blipFill>
                      <a:blip r:embed="rId5"/>
                      <a:stretch>
                        <a:fillRect/>
                      </a:stretch>
                    </p:blipFill>
                    <p:spPr>
                      <a:xfrm>
                        <a:off x="1680" y="1440"/>
                        <a:ext cx="1440" cy="1440"/>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B38EEA7-2F9B-4364-8550-4F9399BA27E6}"/>
              </a:ext>
            </a:extLst>
          </p:cNvPr>
          <p:cNvSpPr>
            <a:spLocks noGrp="1"/>
          </p:cNvSpPr>
          <p:nvPr>
            <p:ph type="title"/>
          </p:nvPr>
        </p:nvSpPr>
        <p:spPr>
          <a:xfrm>
            <a:off x="469887" y="234915"/>
            <a:ext cx="11252200" cy="334102"/>
          </a:xfrm>
        </p:spPr>
        <p:txBody>
          <a:bodyPr vert="horz"/>
          <a:lstStyle/>
          <a:p>
            <a:r>
              <a:rPr lang="en-US" sz="1800" b="1" dirty="0"/>
              <a:t>Details of Upcoming Project for WBPDCL</a:t>
            </a:r>
          </a:p>
        </p:txBody>
      </p:sp>
      <p:sp>
        <p:nvSpPr>
          <p:cNvPr id="4" name="Rectangle 3">
            <a:extLst>
              <a:ext uri="{FF2B5EF4-FFF2-40B4-BE49-F238E27FC236}">
                <a16:creationId xmlns:a16="http://schemas.microsoft.com/office/drawing/2014/main" id="{536CCF8B-E7E9-4D77-96C2-8676578F45F9}"/>
              </a:ext>
            </a:extLst>
          </p:cNvPr>
          <p:cNvSpPr/>
          <p:nvPr/>
        </p:nvSpPr>
        <p:spPr bwMode="gray">
          <a:xfrm>
            <a:off x="306606" y="573399"/>
            <a:ext cx="11606964" cy="334102"/>
          </a:xfrm>
          <a:prstGeom prst="rect">
            <a:avLst/>
          </a:prstGeom>
          <a:solidFill>
            <a:srgbClr val="0076A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Environmental Impact Reduction Projects</a:t>
            </a:r>
          </a:p>
        </p:txBody>
      </p:sp>
      <p:sp>
        <p:nvSpPr>
          <p:cNvPr id="7" name="Rectangle 6">
            <a:extLst>
              <a:ext uri="{FF2B5EF4-FFF2-40B4-BE49-F238E27FC236}">
                <a16:creationId xmlns:a16="http://schemas.microsoft.com/office/drawing/2014/main" id="{9996C343-4356-48E5-BCEF-CD3EEA28880F}"/>
              </a:ext>
            </a:extLst>
          </p:cNvPr>
          <p:cNvSpPr/>
          <p:nvPr/>
        </p:nvSpPr>
        <p:spPr bwMode="gray">
          <a:xfrm>
            <a:off x="306607" y="3180923"/>
            <a:ext cx="11606963" cy="249760"/>
          </a:xfrm>
          <a:prstGeom prst="rect">
            <a:avLst/>
          </a:prstGeom>
          <a:solidFill>
            <a:schemeClr val="accent3"/>
          </a:solidFill>
          <a:ln w="19050" algn="ctr">
            <a:noFill/>
            <a:miter lim="800000"/>
            <a:headEnd/>
            <a:tailEnd/>
          </a:ln>
        </p:spPr>
        <p:txBody>
          <a:bodyPr wrap="square" lIns="182880" tIns="182880" rIns="182880" bIns="182880" rtlCol="0" anchor="ctr"/>
          <a:lstStyle/>
          <a:p>
            <a:pPr algn="ctr">
              <a:lnSpc>
                <a:spcPct val="106000"/>
              </a:lnSpc>
              <a:buFont typeface="Wingdings 2" pitchFamily="18" charset="2"/>
              <a:buNone/>
            </a:pPr>
            <a:r>
              <a:rPr lang="en-US" sz="1400" b="1" dirty="0">
                <a:solidFill>
                  <a:schemeClr val="bg1"/>
                </a:solidFill>
              </a:rPr>
              <a:t>Renewable Projects </a:t>
            </a:r>
          </a:p>
        </p:txBody>
      </p:sp>
      <p:graphicFrame>
        <p:nvGraphicFramePr>
          <p:cNvPr id="12" name="Table 12">
            <a:extLst>
              <a:ext uri="{FF2B5EF4-FFF2-40B4-BE49-F238E27FC236}">
                <a16:creationId xmlns:a16="http://schemas.microsoft.com/office/drawing/2014/main" id="{534AF4B5-DC22-452D-9E9E-E397FDD5CA93}"/>
              </a:ext>
            </a:extLst>
          </p:cNvPr>
          <p:cNvGraphicFramePr>
            <a:graphicFrameLocks noGrp="1"/>
          </p:cNvGraphicFramePr>
          <p:nvPr/>
        </p:nvGraphicFramePr>
        <p:xfrm>
          <a:off x="306596" y="908744"/>
          <a:ext cx="11606973" cy="2216551"/>
        </p:xfrm>
        <a:graphic>
          <a:graphicData uri="http://schemas.openxmlformats.org/drawingml/2006/table">
            <a:tbl>
              <a:tblPr firstRow="1" bandRow="1">
                <a:tableStyleId>{5C22544A-7EE6-4342-B048-85BDC9FD1C3A}</a:tableStyleId>
              </a:tblPr>
              <a:tblGrid>
                <a:gridCol w="1263309">
                  <a:extLst>
                    <a:ext uri="{9D8B030D-6E8A-4147-A177-3AD203B41FA5}">
                      <a16:colId xmlns:a16="http://schemas.microsoft.com/office/drawing/2014/main" val="3690833007"/>
                    </a:ext>
                  </a:extLst>
                </a:gridCol>
                <a:gridCol w="7726495">
                  <a:extLst>
                    <a:ext uri="{9D8B030D-6E8A-4147-A177-3AD203B41FA5}">
                      <a16:colId xmlns:a16="http://schemas.microsoft.com/office/drawing/2014/main" val="1101696522"/>
                    </a:ext>
                  </a:extLst>
                </a:gridCol>
                <a:gridCol w="2617169">
                  <a:extLst>
                    <a:ext uri="{9D8B030D-6E8A-4147-A177-3AD203B41FA5}">
                      <a16:colId xmlns:a16="http://schemas.microsoft.com/office/drawing/2014/main" val="1108638946"/>
                    </a:ext>
                  </a:extLst>
                </a:gridCol>
              </a:tblGrid>
              <a:tr h="367079">
                <a:tc>
                  <a:txBody>
                    <a:bodyPr/>
                    <a:lstStyle/>
                    <a:p>
                      <a:r>
                        <a:rPr lang="en-US" sz="1200" dirty="0"/>
                        <a:t>Type of Project </a:t>
                      </a:r>
                    </a:p>
                  </a:txBody>
                  <a:tcPr anchor="ctr">
                    <a:solidFill>
                      <a:srgbClr val="005587">
                        <a:alpha val="49000"/>
                      </a:srgbClr>
                    </a:solidFill>
                  </a:tcPr>
                </a:tc>
                <a:tc>
                  <a:txBody>
                    <a:bodyPr/>
                    <a:lstStyle/>
                    <a:p>
                      <a:r>
                        <a:rPr lang="en-US" sz="1200" dirty="0"/>
                        <a:t> Project Name </a:t>
                      </a:r>
                    </a:p>
                  </a:txBody>
                  <a:tcPr anchor="ctr">
                    <a:solidFill>
                      <a:srgbClr val="005587">
                        <a:alpha val="49000"/>
                      </a:srgbClr>
                    </a:solidFill>
                  </a:tcPr>
                </a:tc>
                <a:tc>
                  <a:txBody>
                    <a:bodyPr/>
                    <a:lstStyle/>
                    <a:p>
                      <a:r>
                        <a:rPr lang="en-US" sz="1200" dirty="0"/>
                        <a:t>Financing By</a:t>
                      </a:r>
                    </a:p>
                  </a:txBody>
                  <a:tcPr anchor="ctr">
                    <a:solidFill>
                      <a:srgbClr val="005587">
                        <a:alpha val="49000"/>
                      </a:srgbClr>
                    </a:solidFill>
                  </a:tcPr>
                </a:tc>
                <a:extLst>
                  <a:ext uri="{0D108BD9-81ED-4DB2-BD59-A6C34878D82A}">
                    <a16:rowId xmlns:a16="http://schemas.microsoft.com/office/drawing/2014/main" val="1078097133"/>
                  </a:ext>
                </a:extLst>
              </a:tr>
              <a:tr h="367079">
                <a:tc>
                  <a:txBody>
                    <a:bodyPr/>
                    <a:lstStyle/>
                    <a:p>
                      <a:pPr algn="l"/>
                      <a:r>
                        <a:rPr lang="en-US" sz="1200" b="1" dirty="0">
                          <a:solidFill>
                            <a:schemeClr val="bg1"/>
                          </a:solidFill>
                        </a:rPr>
                        <a:t>Extension Project</a:t>
                      </a:r>
                    </a:p>
                  </a:txBody>
                  <a:tcPr anchor="ctr">
                    <a:solidFill>
                      <a:srgbClr val="43B02A"/>
                    </a:solidFill>
                  </a:tcPr>
                </a:tc>
                <a:tc>
                  <a:txBody>
                    <a:bodyPr/>
                    <a:lstStyle/>
                    <a:p>
                      <a:pPr marL="171450" indent="-171450">
                        <a:buFont typeface="Wingdings" panose="05000000000000000000" pitchFamily="2" charset="2"/>
                        <a:buChar char="§"/>
                      </a:pPr>
                      <a:r>
                        <a:rPr lang="en-US" sz="1200" dirty="0"/>
                        <a:t>Sagardighi Phase – III Extension Project of Unit- 5, (1x660 MW)</a:t>
                      </a:r>
                    </a:p>
                  </a:txBody>
                  <a:tcPr anchor="ctr">
                    <a:solidFill>
                      <a:srgbClr val="43B02A">
                        <a:alpha val="29000"/>
                      </a:srgbClr>
                    </a:solidFill>
                  </a:tcPr>
                </a:tc>
                <a:tc>
                  <a:txBody>
                    <a:bodyPr/>
                    <a:lstStyle/>
                    <a:p>
                      <a:pPr marL="0" indent="0">
                        <a:buFont typeface="Wingdings" panose="05000000000000000000" pitchFamily="2" charset="2"/>
                        <a:buNone/>
                      </a:pPr>
                      <a:r>
                        <a:rPr lang="en-US" sz="1200" dirty="0"/>
                        <a:t>State Govt. and PFC</a:t>
                      </a:r>
                    </a:p>
                  </a:txBody>
                  <a:tcPr anchor="ctr">
                    <a:solidFill>
                      <a:srgbClr val="43B02A">
                        <a:alpha val="29000"/>
                      </a:srgbClr>
                    </a:solidFill>
                  </a:tcPr>
                </a:tc>
                <a:extLst>
                  <a:ext uri="{0D108BD9-81ED-4DB2-BD59-A6C34878D82A}">
                    <a16:rowId xmlns:a16="http://schemas.microsoft.com/office/drawing/2014/main" val="2482446778"/>
                  </a:ext>
                </a:extLst>
              </a:tr>
              <a:tr h="662071">
                <a:tc>
                  <a:txBody>
                    <a:bodyPr/>
                    <a:lstStyle/>
                    <a:p>
                      <a:pPr algn="l"/>
                      <a:endParaRPr lang="en-US" sz="1200" b="1" dirty="0">
                        <a:solidFill>
                          <a:schemeClr val="bg1"/>
                        </a:solidFill>
                      </a:endParaRPr>
                    </a:p>
                    <a:p>
                      <a:pPr algn="l"/>
                      <a:r>
                        <a:rPr lang="en-US" sz="1200" b="1" dirty="0">
                          <a:solidFill>
                            <a:schemeClr val="bg1"/>
                          </a:solidFill>
                        </a:rPr>
                        <a:t>DSI Project </a:t>
                      </a:r>
                    </a:p>
                  </a:txBody>
                  <a:tcPr anchor="ctr">
                    <a:solidFill>
                      <a:srgbClr val="0097A9"/>
                    </a:solidFill>
                  </a:tcPr>
                </a:tc>
                <a:tc>
                  <a:txBody>
                    <a:bodyPr/>
                    <a:lstStyle/>
                    <a:p>
                      <a:pPr marL="171450" indent="-171450">
                        <a:buFont typeface="Wingdings" panose="05000000000000000000" pitchFamily="2" charset="2"/>
                        <a:buChar char="§"/>
                      </a:pPr>
                      <a:r>
                        <a:rPr lang="en-US" sz="1200" dirty="0"/>
                        <a:t>Installation of DSI for Bakreshwar Thermal Plant (5x210 MW)</a:t>
                      </a:r>
                    </a:p>
                    <a:p>
                      <a:pPr marL="171450" marR="0" lvl="0" indent="-171450" algn="l" defTabSz="12192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dirty="0"/>
                        <a:t>Installation of DSI for Bandel Thermal Plant (1x215 MW)</a:t>
                      </a:r>
                    </a:p>
                    <a:p>
                      <a:pPr marL="171450" marR="0" lvl="0" indent="-171450" algn="l" defTabSz="12192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dirty="0"/>
                        <a:t>Installation of DSI for Kolaghat Thermal Plant (4x210 MW)</a:t>
                      </a:r>
                    </a:p>
                  </a:txBody>
                  <a:tcPr anchor="ctr">
                    <a:solidFill>
                      <a:srgbClr val="00A3E0">
                        <a:alpha val="30000"/>
                      </a:srgbClr>
                    </a:solidFill>
                  </a:tcPr>
                </a:tc>
                <a:tc>
                  <a:txBody>
                    <a:bodyPr/>
                    <a:lstStyle/>
                    <a:p>
                      <a:pPr marL="0" marR="0" lvl="0" indent="0" algn="l" defTabSz="1219231"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200" dirty="0"/>
                        <a:t>State Govt.</a:t>
                      </a:r>
                    </a:p>
                  </a:txBody>
                  <a:tcPr anchor="ctr">
                    <a:solidFill>
                      <a:srgbClr val="00A3E0">
                        <a:alpha val="30000"/>
                      </a:srgbClr>
                    </a:solidFill>
                  </a:tcPr>
                </a:tc>
                <a:extLst>
                  <a:ext uri="{0D108BD9-81ED-4DB2-BD59-A6C34878D82A}">
                    <a16:rowId xmlns:a16="http://schemas.microsoft.com/office/drawing/2014/main" val="4239230405"/>
                  </a:ext>
                </a:extLst>
              </a:tr>
              <a:tr h="472908">
                <a:tc>
                  <a:txBody>
                    <a:bodyPr/>
                    <a:lstStyle/>
                    <a:p>
                      <a:pPr algn="l"/>
                      <a:r>
                        <a:rPr lang="en-US" sz="1200" b="1" dirty="0">
                          <a:solidFill>
                            <a:schemeClr val="bg1"/>
                          </a:solidFill>
                        </a:rPr>
                        <a:t>FGD Project </a:t>
                      </a:r>
                    </a:p>
                  </a:txBody>
                  <a:tcPr anchor="ctr">
                    <a:solidFill>
                      <a:srgbClr val="0070C0"/>
                    </a:solidFill>
                  </a:tcPr>
                </a:tc>
                <a:tc>
                  <a:txBody>
                    <a:bodyPr/>
                    <a:lstStyle/>
                    <a:p>
                      <a:pPr marL="171450" indent="-171450">
                        <a:buFont typeface="Wingdings" panose="05000000000000000000" pitchFamily="2" charset="2"/>
                        <a:buChar char="§"/>
                      </a:pPr>
                      <a:r>
                        <a:rPr lang="en-US" sz="1200" dirty="0"/>
                        <a:t>Installation of </a:t>
                      </a:r>
                      <a:r>
                        <a:rPr lang="en-US" sz="1200" b="0" i="0" u="none" strike="noStrike" dirty="0">
                          <a:solidFill>
                            <a:srgbClr val="000000"/>
                          </a:solidFill>
                          <a:effectLst/>
                          <a:latin typeface="+mn-lt"/>
                        </a:rPr>
                        <a:t>Wet Flue Gas Desulphurization System for Sagardighi Thermal Plant ( 2x300 MW &amp; 2X500 MW)</a:t>
                      </a:r>
                    </a:p>
                    <a:p>
                      <a:pPr marL="171450" marR="0" lvl="0" indent="-171450" algn="l" defTabSz="12192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dirty="0"/>
                        <a:t>Installation of </a:t>
                      </a:r>
                      <a:r>
                        <a:rPr lang="en-US" sz="1200" b="0" i="0" u="none" strike="noStrike" dirty="0">
                          <a:solidFill>
                            <a:srgbClr val="000000"/>
                          </a:solidFill>
                          <a:effectLst/>
                          <a:latin typeface="+mn-lt"/>
                        </a:rPr>
                        <a:t>Wet Flue Gas Desulphurization System for Santaldih Thermal Plant (2X500 MW)</a:t>
                      </a:r>
                    </a:p>
                  </a:txBody>
                  <a:tcPr anchor="ctr">
                    <a:solidFill>
                      <a:srgbClr val="0070C0">
                        <a:alpha val="17000"/>
                      </a:srgbClr>
                    </a:solidFill>
                  </a:tcPr>
                </a:tc>
                <a:tc>
                  <a:txBody>
                    <a:bodyPr/>
                    <a:lstStyle/>
                    <a:p>
                      <a:pPr marL="0" marR="0" lvl="0" indent="0" algn="l" defTabSz="1219231"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200" b="0" i="0" u="none" strike="noStrike" dirty="0">
                          <a:solidFill>
                            <a:srgbClr val="000000"/>
                          </a:solidFill>
                          <a:effectLst/>
                          <a:latin typeface="+mn-lt"/>
                        </a:rPr>
                        <a:t>State Govt.</a:t>
                      </a:r>
                    </a:p>
                  </a:txBody>
                  <a:tcPr anchor="ctr">
                    <a:solidFill>
                      <a:srgbClr val="0070C0">
                        <a:alpha val="17000"/>
                      </a:srgbClr>
                    </a:solidFill>
                  </a:tcPr>
                </a:tc>
                <a:extLst>
                  <a:ext uri="{0D108BD9-81ED-4DB2-BD59-A6C34878D82A}">
                    <a16:rowId xmlns:a16="http://schemas.microsoft.com/office/drawing/2014/main" val="3027610568"/>
                  </a:ext>
                </a:extLst>
              </a:tr>
            </a:tbl>
          </a:graphicData>
        </a:graphic>
      </p:graphicFrame>
      <p:graphicFrame>
        <p:nvGraphicFramePr>
          <p:cNvPr id="8" name="Table 12">
            <a:extLst>
              <a:ext uri="{FF2B5EF4-FFF2-40B4-BE49-F238E27FC236}">
                <a16:creationId xmlns:a16="http://schemas.microsoft.com/office/drawing/2014/main" id="{F2C54DFD-E491-4A6A-A813-51CA9E42F238}"/>
              </a:ext>
            </a:extLst>
          </p:cNvPr>
          <p:cNvGraphicFramePr>
            <a:graphicFrameLocks noGrp="1"/>
          </p:cNvGraphicFramePr>
          <p:nvPr/>
        </p:nvGraphicFramePr>
        <p:xfrm>
          <a:off x="306605" y="3438868"/>
          <a:ext cx="11606973" cy="3200400"/>
        </p:xfrm>
        <a:graphic>
          <a:graphicData uri="http://schemas.openxmlformats.org/drawingml/2006/table">
            <a:tbl>
              <a:tblPr firstRow="1" bandRow="1">
                <a:tableStyleId>{5C22544A-7EE6-4342-B048-85BDC9FD1C3A}</a:tableStyleId>
              </a:tblPr>
              <a:tblGrid>
                <a:gridCol w="1213870">
                  <a:extLst>
                    <a:ext uri="{9D8B030D-6E8A-4147-A177-3AD203B41FA5}">
                      <a16:colId xmlns:a16="http://schemas.microsoft.com/office/drawing/2014/main" val="3690833007"/>
                    </a:ext>
                  </a:extLst>
                </a:gridCol>
                <a:gridCol w="7786809">
                  <a:extLst>
                    <a:ext uri="{9D8B030D-6E8A-4147-A177-3AD203B41FA5}">
                      <a16:colId xmlns:a16="http://schemas.microsoft.com/office/drawing/2014/main" val="1101696522"/>
                    </a:ext>
                  </a:extLst>
                </a:gridCol>
                <a:gridCol w="2606294">
                  <a:extLst>
                    <a:ext uri="{9D8B030D-6E8A-4147-A177-3AD203B41FA5}">
                      <a16:colId xmlns:a16="http://schemas.microsoft.com/office/drawing/2014/main" val="510655813"/>
                    </a:ext>
                  </a:extLst>
                </a:gridCol>
              </a:tblGrid>
              <a:tr h="157168">
                <a:tc>
                  <a:txBody>
                    <a:bodyPr/>
                    <a:lstStyle/>
                    <a:p>
                      <a:r>
                        <a:rPr lang="en-US" sz="1200" dirty="0"/>
                        <a:t>Type of Project </a:t>
                      </a:r>
                    </a:p>
                  </a:txBody>
                  <a:tcPr anchor="ctr">
                    <a:solidFill>
                      <a:srgbClr val="005587">
                        <a:alpha val="49000"/>
                      </a:srgbClr>
                    </a:solidFill>
                  </a:tcPr>
                </a:tc>
                <a:tc>
                  <a:txBody>
                    <a:bodyPr/>
                    <a:lstStyle/>
                    <a:p>
                      <a:r>
                        <a:rPr lang="en-US" sz="1200" dirty="0"/>
                        <a:t> Project Name </a:t>
                      </a:r>
                    </a:p>
                  </a:txBody>
                  <a:tcPr anchor="ctr">
                    <a:solidFill>
                      <a:srgbClr val="005587">
                        <a:alpha val="49000"/>
                      </a:srgbClr>
                    </a:solidFill>
                  </a:tcPr>
                </a:tc>
                <a:tc>
                  <a:txBody>
                    <a:bodyPr/>
                    <a:lstStyle/>
                    <a:p>
                      <a:r>
                        <a:rPr lang="en-US" sz="1200" dirty="0"/>
                        <a:t>Financing By</a:t>
                      </a:r>
                    </a:p>
                  </a:txBody>
                  <a:tcPr anchor="ctr">
                    <a:solidFill>
                      <a:srgbClr val="005587">
                        <a:alpha val="49000"/>
                      </a:srgbClr>
                    </a:solidFill>
                  </a:tcPr>
                </a:tc>
                <a:extLst>
                  <a:ext uri="{0D108BD9-81ED-4DB2-BD59-A6C34878D82A}">
                    <a16:rowId xmlns:a16="http://schemas.microsoft.com/office/drawing/2014/main" val="1078097133"/>
                  </a:ext>
                </a:extLst>
              </a:tr>
              <a:tr h="0">
                <a:tc rowSpan="2">
                  <a:txBody>
                    <a:bodyPr/>
                    <a:lstStyle/>
                    <a:p>
                      <a:pPr algn="l"/>
                      <a:endParaRPr lang="en-US" sz="1200" b="1" dirty="0">
                        <a:solidFill>
                          <a:schemeClr val="bg1"/>
                        </a:solidFill>
                      </a:endParaRPr>
                    </a:p>
                    <a:p>
                      <a:pPr algn="l"/>
                      <a:endParaRPr lang="en-US" sz="1200" b="1" dirty="0">
                        <a:solidFill>
                          <a:schemeClr val="bg1"/>
                        </a:solidFill>
                      </a:endParaRPr>
                    </a:p>
                    <a:p>
                      <a:pPr algn="l"/>
                      <a:r>
                        <a:rPr lang="en-US" sz="1200" b="1" dirty="0">
                          <a:solidFill>
                            <a:schemeClr val="bg1"/>
                          </a:solidFill>
                        </a:rPr>
                        <a:t>Solar Project </a:t>
                      </a:r>
                    </a:p>
                  </a:txBody>
                  <a:tcPr anchor="ctr">
                    <a:solidFill>
                      <a:srgbClr val="43B02A"/>
                    </a:solidFill>
                  </a:tcPr>
                </a:tc>
                <a:tc>
                  <a:txBody>
                    <a:bodyPr/>
                    <a:lstStyle/>
                    <a:p>
                      <a:pPr marL="171450" indent="-171450" algn="l" fontAlgn="ctr">
                        <a:buFont typeface="Wingdings" panose="05000000000000000000" pitchFamily="2" charset="2"/>
                        <a:buChar char="§"/>
                      </a:pPr>
                      <a:r>
                        <a:rPr lang="en-US" sz="1200" b="0" i="0" u="none" strike="noStrike" dirty="0">
                          <a:solidFill>
                            <a:srgbClr val="000000"/>
                          </a:solidFill>
                          <a:effectLst/>
                          <a:latin typeface="+mn-lt"/>
                        </a:rPr>
                        <a:t>Floating Solar, BkTPP  (1x500 MW)  </a:t>
                      </a:r>
                    </a:p>
                  </a:txBody>
                  <a:tcPr marL="182880" marR="182880" marT="91440" marB="182880" anchor="ctr">
                    <a:solidFill>
                      <a:srgbClr val="43B02A">
                        <a:alpha val="29000"/>
                      </a:srgbClr>
                    </a:solidFill>
                  </a:tcPr>
                </a:tc>
                <a:tc>
                  <a:txBody>
                    <a:bodyPr/>
                    <a:lstStyle/>
                    <a:p>
                      <a:pPr marL="0" marR="0" lvl="0" indent="0" algn="l" defTabSz="1219231" rtl="0" eaLnBrk="1" fontAlgn="ctr" latinLnBrk="0" hangingPunct="1">
                        <a:lnSpc>
                          <a:spcPct val="100000"/>
                        </a:lnSpc>
                        <a:spcBef>
                          <a:spcPts val="0"/>
                        </a:spcBef>
                        <a:spcAft>
                          <a:spcPts val="0"/>
                        </a:spcAft>
                        <a:buClrTx/>
                        <a:buSzTx/>
                        <a:buFont typeface="Wingdings" panose="05000000000000000000" pitchFamily="2" charset="2"/>
                        <a:buNone/>
                        <a:tabLst/>
                        <a:defRPr/>
                      </a:pPr>
                      <a:r>
                        <a:rPr lang="en-US" sz="1200" b="0" i="0" u="none" strike="noStrike" dirty="0">
                          <a:solidFill>
                            <a:srgbClr val="000000"/>
                          </a:solidFill>
                          <a:effectLst/>
                          <a:latin typeface="+mn-lt"/>
                        </a:rPr>
                        <a:t>State Govt. &amp; WBPDCL &amp; MDB</a:t>
                      </a:r>
                    </a:p>
                  </a:txBody>
                  <a:tcPr marL="182880" marR="182880" marT="91440" marB="182880" anchor="ctr">
                    <a:solidFill>
                      <a:srgbClr val="43B02A">
                        <a:alpha val="29000"/>
                      </a:srgbClr>
                    </a:solidFill>
                  </a:tcPr>
                </a:tc>
                <a:extLst>
                  <a:ext uri="{0D108BD9-81ED-4DB2-BD59-A6C34878D82A}">
                    <a16:rowId xmlns:a16="http://schemas.microsoft.com/office/drawing/2014/main" val="2482446778"/>
                  </a:ext>
                </a:extLst>
              </a:tr>
              <a:tr h="0">
                <a:tc vMerge="1">
                  <a:txBody>
                    <a:bodyPr/>
                    <a:lstStyle/>
                    <a:p>
                      <a:endParaRPr lang="en-US"/>
                    </a:p>
                  </a:txBody>
                  <a:tcPr/>
                </a:tc>
                <a:tc>
                  <a:txBody>
                    <a:bodyPr/>
                    <a:lstStyle/>
                    <a:p>
                      <a:pPr marL="171450" indent="-171450" algn="l" fontAlgn="ctr">
                        <a:buFont typeface="Wingdings" panose="05000000000000000000" pitchFamily="2" charset="2"/>
                        <a:buChar char="§"/>
                      </a:pPr>
                      <a:r>
                        <a:rPr lang="en-US" sz="1200" b="0" i="0" u="none" strike="noStrike" dirty="0">
                          <a:solidFill>
                            <a:srgbClr val="000000"/>
                          </a:solidFill>
                          <a:effectLst/>
                          <a:latin typeface="+mn-lt"/>
                        </a:rPr>
                        <a:t>Floating solar stg-2 &amp; 3 </a:t>
                      </a:r>
                      <a:r>
                        <a:rPr lang="en-US" sz="1200" b="0" i="0" u="none" strike="noStrike" dirty="0" err="1">
                          <a:solidFill>
                            <a:srgbClr val="000000"/>
                          </a:solidFill>
                          <a:effectLst/>
                          <a:latin typeface="+mn-lt"/>
                        </a:rPr>
                        <a:t>SgTPP</a:t>
                      </a:r>
                      <a:r>
                        <a:rPr lang="en-US" sz="1200" b="0" i="0" u="none" strike="noStrike" dirty="0">
                          <a:solidFill>
                            <a:srgbClr val="000000"/>
                          </a:solidFill>
                          <a:effectLst/>
                          <a:latin typeface="+mn-lt"/>
                        </a:rPr>
                        <a:t> ( 1x10 MW &amp; 1x5 MW)</a:t>
                      </a:r>
                    </a:p>
                    <a:p>
                      <a:pPr marL="171450" marR="0" lvl="0" indent="-171450" algn="l" defTabSz="1219231" rtl="0" eaLnBrk="1" fontAlgn="ctr" latinLnBrk="0" hangingPunct="1">
                        <a:lnSpc>
                          <a:spcPct val="100000"/>
                        </a:lnSpc>
                        <a:spcBef>
                          <a:spcPts val="0"/>
                        </a:spcBef>
                        <a:spcAft>
                          <a:spcPts val="0"/>
                        </a:spcAft>
                        <a:buClrTx/>
                        <a:buSzTx/>
                        <a:buFont typeface="Wingdings" panose="05000000000000000000" pitchFamily="2" charset="2"/>
                        <a:buChar char="§"/>
                        <a:tabLst/>
                        <a:defRPr/>
                      </a:pPr>
                      <a:r>
                        <a:rPr lang="en-US" sz="1200" b="0" i="0" u="none" strike="noStrike" dirty="0">
                          <a:solidFill>
                            <a:srgbClr val="000000"/>
                          </a:solidFill>
                          <a:effectLst/>
                          <a:latin typeface="+mn-lt"/>
                        </a:rPr>
                        <a:t>Floating Solar, STPS (1x 7.5 MW &amp; 1x5 MW)</a:t>
                      </a:r>
                    </a:p>
                    <a:p>
                      <a:pPr marL="171450" marR="0" lvl="0" indent="-171450" algn="l" defTabSz="1219231" rtl="0" eaLnBrk="1" fontAlgn="ctr" latinLnBrk="0" hangingPunct="1">
                        <a:lnSpc>
                          <a:spcPct val="100000"/>
                        </a:lnSpc>
                        <a:spcBef>
                          <a:spcPts val="0"/>
                        </a:spcBef>
                        <a:spcAft>
                          <a:spcPts val="0"/>
                        </a:spcAft>
                        <a:buClrTx/>
                        <a:buSzTx/>
                        <a:buFont typeface="Wingdings" panose="05000000000000000000" pitchFamily="2" charset="2"/>
                        <a:buChar char="§"/>
                        <a:tabLst/>
                        <a:defRPr/>
                      </a:pPr>
                      <a:r>
                        <a:rPr lang="en-US" sz="1200" b="0" i="0" u="none" strike="noStrike" dirty="0">
                          <a:solidFill>
                            <a:srgbClr val="000000"/>
                          </a:solidFill>
                          <a:effectLst/>
                          <a:latin typeface="+mn-lt"/>
                        </a:rPr>
                        <a:t>Ground Solar , STPS ( 1x20 MW)</a:t>
                      </a:r>
                    </a:p>
                  </a:txBody>
                  <a:tcPr marL="182880" marR="182880" marT="91440" marB="182880" anchor="ctr">
                    <a:solidFill>
                      <a:srgbClr val="43B02A">
                        <a:alpha val="29000"/>
                      </a:srgbClr>
                    </a:solidFill>
                  </a:tcPr>
                </a:tc>
                <a:tc>
                  <a:txBody>
                    <a:bodyPr/>
                    <a:lstStyle/>
                    <a:p>
                      <a:r>
                        <a:rPr lang="en-US" sz="1200" b="0" i="0" u="none" strike="noStrike" kern="1200" dirty="0">
                          <a:solidFill>
                            <a:srgbClr val="000000"/>
                          </a:solidFill>
                          <a:effectLst/>
                          <a:latin typeface="+mn-lt"/>
                          <a:ea typeface="+mn-ea"/>
                          <a:cs typeface="+mn-cs"/>
                        </a:rPr>
                        <a:t>RIDF</a:t>
                      </a:r>
                    </a:p>
                  </a:txBody>
                  <a:tcPr marL="182880" marR="182880" marT="91440" marB="182880" anchor="ctr">
                    <a:solidFill>
                      <a:srgbClr val="43B02A">
                        <a:alpha val="29000"/>
                      </a:srgbClr>
                    </a:solidFill>
                  </a:tcPr>
                </a:tc>
                <a:extLst>
                  <a:ext uri="{0D108BD9-81ED-4DB2-BD59-A6C34878D82A}">
                    <a16:rowId xmlns:a16="http://schemas.microsoft.com/office/drawing/2014/main" val="3578896290"/>
                  </a:ext>
                </a:extLst>
              </a:tr>
              <a:tr h="220035">
                <a:tc>
                  <a:txBody>
                    <a:bodyPr/>
                    <a:lstStyle/>
                    <a:p>
                      <a:pPr algn="l"/>
                      <a:r>
                        <a:rPr lang="en-US" sz="1200" b="1" dirty="0">
                          <a:solidFill>
                            <a:schemeClr val="bg1"/>
                          </a:solidFill>
                        </a:rPr>
                        <a:t>Island Solar Project </a:t>
                      </a:r>
                    </a:p>
                  </a:txBody>
                  <a:tcPr anchor="ctr">
                    <a:solidFill>
                      <a:srgbClr val="0097A9"/>
                    </a:solidFill>
                  </a:tcPr>
                </a:tc>
                <a:tc>
                  <a:txBody>
                    <a:bodyPr/>
                    <a:lstStyle/>
                    <a:p>
                      <a:pPr marL="171450" marR="0" lvl="0" indent="-171450" algn="l" defTabSz="12192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b="0" i="0" u="none" strike="noStrike" dirty="0">
                          <a:solidFill>
                            <a:srgbClr val="000000"/>
                          </a:solidFill>
                          <a:effectLst/>
                          <a:latin typeface="+mn-lt"/>
                        </a:rPr>
                        <a:t>Nayachar Solar Project (1200 MWp)</a:t>
                      </a:r>
                    </a:p>
                  </a:txBody>
                  <a:tcPr anchor="ctr">
                    <a:solidFill>
                      <a:srgbClr val="00A3E0">
                        <a:alpha val="30000"/>
                      </a:srgbClr>
                    </a:solidFill>
                  </a:tcPr>
                </a:tc>
                <a:tc>
                  <a:txBody>
                    <a:bodyPr/>
                    <a:lstStyle/>
                    <a:p>
                      <a:pPr marL="0" marR="0" lvl="0" indent="0" algn="l" defTabSz="1219231"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200" b="0" i="0" u="none" strike="noStrike" dirty="0">
                          <a:solidFill>
                            <a:srgbClr val="000000"/>
                          </a:solidFill>
                          <a:effectLst/>
                          <a:latin typeface="+mn-lt"/>
                        </a:rPr>
                        <a:t>Technical Assistance for PPP mode projects</a:t>
                      </a:r>
                    </a:p>
                  </a:txBody>
                  <a:tcPr anchor="ctr">
                    <a:solidFill>
                      <a:srgbClr val="00A3E0">
                        <a:alpha val="30000"/>
                      </a:srgbClr>
                    </a:solidFill>
                  </a:tcPr>
                </a:tc>
                <a:extLst>
                  <a:ext uri="{0D108BD9-81ED-4DB2-BD59-A6C34878D82A}">
                    <a16:rowId xmlns:a16="http://schemas.microsoft.com/office/drawing/2014/main" val="4239230405"/>
                  </a:ext>
                </a:extLst>
              </a:tr>
              <a:tr h="220035">
                <a:tc>
                  <a:txBody>
                    <a:bodyPr/>
                    <a:lstStyle/>
                    <a:p>
                      <a:pPr algn="l"/>
                      <a:r>
                        <a:rPr lang="en-US" sz="1200" b="1" dirty="0">
                          <a:solidFill>
                            <a:schemeClr val="bg1"/>
                          </a:solidFill>
                        </a:rPr>
                        <a:t>Dam Project </a:t>
                      </a:r>
                    </a:p>
                  </a:txBody>
                  <a:tcPr anchor="ctr">
                    <a:solidFill>
                      <a:srgbClr val="0070C0"/>
                    </a:solidFill>
                  </a:tcPr>
                </a:tc>
                <a:tc>
                  <a:txBody>
                    <a:bodyPr/>
                    <a:lstStyle/>
                    <a:p>
                      <a:pPr marL="171450" indent="-171450" algn="l" fontAlgn="ctr">
                        <a:buFont typeface="Wingdings" panose="05000000000000000000" pitchFamily="2" charset="2"/>
                        <a:buChar char="§"/>
                      </a:pPr>
                      <a:r>
                        <a:rPr lang="en-US" sz="1200" b="0" i="0" u="none" strike="noStrike" dirty="0">
                          <a:solidFill>
                            <a:srgbClr val="000000"/>
                          </a:solidFill>
                          <a:effectLst/>
                          <a:latin typeface="+mn-lt"/>
                        </a:rPr>
                        <a:t>1200 MW </a:t>
                      </a:r>
                      <a:r>
                        <a:rPr lang="en-US" sz="1200" b="0" i="0" u="none" strike="noStrike" dirty="0" err="1">
                          <a:solidFill>
                            <a:srgbClr val="000000"/>
                          </a:solidFill>
                          <a:effectLst/>
                          <a:latin typeface="+mn-lt"/>
                        </a:rPr>
                        <a:t>Kangsabati</a:t>
                      </a:r>
                      <a:r>
                        <a:rPr lang="en-US" sz="1200" b="0" i="0" u="none" strike="noStrike" dirty="0">
                          <a:solidFill>
                            <a:srgbClr val="000000"/>
                          </a:solidFill>
                          <a:effectLst/>
                          <a:latin typeface="+mn-lt"/>
                        </a:rPr>
                        <a:t>  Project</a:t>
                      </a:r>
                    </a:p>
                    <a:p>
                      <a:pPr marL="171450" indent="-171450" algn="l" fontAlgn="ctr">
                        <a:buFont typeface="Wingdings" panose="05000000000000000000" pitchFamily="2" charset="2"/>
                        <a:buChar char="§"/>
                      </a:pPr>
                      <a:r>
                        <a:rPr lang="en-US" sz="1200" b="0" i="0" u="none" strike="noStrike" dirty="0">
                          <a:solidFill>
                            <a:srgbClr val="000000"/>
                          </a:solidFill>
                          <a:effectLst/>
                          <a:latin typeface="+mn-lt"/>
                        </a:rPr>
                        <a:t>270 MW Teesta Project </a:t>
                      </a:r>
                    </a:p>
                    <a:p>
                      <a:pPr marL="171450" indent="-171450" algn="l" fontAlgn="ctr">
                        <a:buFont typeface="Wingdings" panose="05000000000000000000" pitchFamily="2" charset="2"/>
                        <a:buChar char="§"/>
                      </a:pPr>
                      <a:r>
                        <a:rPr lang="en-US" sz="1200" b="0" i="0" u="none" strike="noStrike" dirty="0">
                          <a:solidFill>
                            <a:srgbClr val="000000"/>
                          </a:solidFill>
                          <a:effectLst/>
                          <a:latin typeface="+mn-lt"/>
                        </a:rPr>
                        <a:t>155 MW </a:t>
                      </a:r>
                      <a:r>
                        <a:rPr lang="en-US" sz="1200" b="0" i="0" u="none" strike="noStrike" dirty="0" err="1">
                          <a:solidFill>
                            <a:srgbClr val="000000"/>
                          </a:solidFill>
                          <a:effectLst/>
                          <a:latin typeface="+mn-lt"/>
                        </a:rPr>
                        <a:t>Tilpara</a:t>
                      </a:r>
                      <a:r>
                        <a:rPr lang="en-US" sz="1200" b="0" i="0" u="none" strike="noStrike" dirty="0">
                          <a:solidFill>
                            <a:srgbClr val="000000"/>
                          </a:solidFill>
                          <a:effectLst/>
                          <a:latin typeface="+mn-lt"/>
                        </a:rPr>
                        <a:t> Project </a:t>
                      </a:r>
                    </a:p>
                  </a:txBody>
                  <a:tcPr anchor="ctr">
                    <a:solidFill>
                      <a:srgbClr val="0070C0">
                        <a:alpha val="17000"/>
                      </a:srgbClr>
                    </a:solidFill>
                  </a:tcPr>
                </a:tc>
                <a:tc>
                  <a:txBody>
                    <a:bodyPr/>
                    <a:lstStyle/>
                    <a:p>
                      <a:pPr marL="0" marR="0" lvl="0" indent="0" algn="l" defTabSz="1219231" rtl="0" eaLnBrk="1" fontAlgn="ctr" latinLnBrk="0" hangingPunct="1">
                        <a:lnSpc>
                          <a:spcPct val="100000"/>
                        </a:lnSpc>
                        <a:spcBef>
                          <a:spcPts val="0"/>
                        </a:spcBef>
                        <a:spcAft>
                          <a:spcPts val="0"/>
                        </a:spcAft>
                        <a:buClrTx/>
                        <a:buSzTx/>
                        <a:buFont typeface="Wingdings" panose="05000000000000000000" pitchFamily="2" charset="2"/>
                        <a:buNone/>
                        <a:tabLst/>
                        <a:defRPr/>
                      </a:pPr>
                      <a:r>
                        <a:rPr lang="en-US" sz="1200" b="0" i="0" u="none" strike="noStrike" dirty="0">
                          <a:solidFill>
                            <a:srgbClr val="000000"/>
                          </a:solidFill>
                          <a:effectLst/>
                          <a:latin typeface="+mn-lt"/>
                        </a:rPr>
                        <a:t>Technical Assistance for PPP mode projects</a:t>
                      </a:r>
                    </a:p>
                  </a:txBody>
                  <a:tcPr anchor="ctr">
                    <a:solidFill>
                      <a:srgbClr val="0070C0">
                        <a:alpha val="17000"/>
                      </a:srgbClr>
                    </a:solidFill>
                  </a:tcPr>
                </a:tc>
                <a:extLst>
                  <a:ext uri="{0D108BD9-81ED-4DB2-BD59-A6C34878D82A}">
                    <a16:rowId xmlns:a16="http://schemas.microsoft.com/office/drawing/2014/main" val="3027610568"/>
                  </a:ext>
                </a:extLst>
              </a:tr>
            </a:tbl>
          </a:graphicData>
        </a:graphic>
      </p:graphicFrame>
    </p:spTree>
    <p:extLst>
      <p:ext uri="{BB962C8B-B14F-4D97-AF65-F5344CB8AC3E}">
        <p14:creationId xmlns:p14="http://schemas.microsoft.com/office/powerpoint/2010/main" val="808722238"/>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11DE5-3CF6-4901-A841-FA1C484B5653}"/>
              </a:ext>
            </a:extLst>
          </p:cNvPr>
          <p:cNvSpPr>
            <a:spLocks noGrp="1"/>
          </p:cNvSpPr>
          <p:nvPr>
            <p:ph type="title"/>
          </p:nvPr>
        </p:nvSpPr>
        <p:spPr>
          <a:xfrm>
            <a:off x="220571" y="268557"/>
            <a:ext cx="11450727" cy="520547"/>
          </a:xfrm>
        </p:spPr>
        <p:txBody>
          <a:bodyPr>
            <a:normAutofit/>
          </a:bodyPr>
          <a:lstStyle/>
          <a:p>
            <a:r>
              <a:rPr lang="en-US" sz="2000" b="1" dirty="0">
                <a:solidFill>
                  <a:schemeClr val="tx1"/>
                </a:solidFill>
                <a:latin typeface="Verdana" panose="020B0604030504040204" pitchFamily="34" charset="0"/>
                <a:ea typeface="Verdana" panose="020B0604030504040204" pitchFamily="34" charset="0"/>
              </a:rPr>
              <a:t>Overview of </a:t>
            </a:r>
            <a:r>
              <a:rPr lang="en-US" sz="2000" b="1" dirty="0" err="1">
                <a:solidFill>
                  <a:schemeClr val="tx1"/>
                </a:solidFill>
                <a:latin typeface="Verdana" panose="020B0604030504040204" pitchFamily="34" charset="0"/>
                <a:ea typeface="Verdana" panose="020B0604030504040204" pitchFamily="34" charset="0"/>
              </a:rPr>
              <a:t>Nayachar</a:t>
            </a:r>
            <a:r>
              <a:rPr lang="en-US" sz="2000" b="1" dirty="0">
                <a:solidFill>
                  <a:schemeClr val="tx1"/>
                </a:solidFill>
                <a:latin typeface="Verdana" panose="020B0604030504040204" pitchFamily="34" charset="0"/>
                <a:ea typeface="Verdana" panose="020B0604030504040204" pitchFamily="34" charset="0"/>
              </a:rPr>
              <a:t> Solar Power Park Project- </a:t>
            </a:r>
            <a:r>
              <a:rPr lang="en-US" sz="1600" b="1" dirty="0">
                <a:solidFill>
                  <a:schemeClr val="tx1"/>
                </a:solidFill>
                <a:latin typeface="Verdana" panose="020B0604030504040204" pitchFamily="34" charset="0"/>
                <a:ea typeface="Verdana" panose="020B0604030504040204" pitchFamily="34" charset="0"/>
              </a:rPr>
              <a:t>As per </a:t>
            </a:r>
            <a:r>
              <a:rPr lang="en-US" sz="1600" b="1" dirty="0" err="1">
                <a:solidFill>
                  <a:schemeClr val="tx1"/>
                </a:solidFill>
                <a:latin typeface="Verdana" panose="020B0604030504040204" pitchFamily="34" charset="0"/>
                <a:ea typeface="Verdana" panose="020B0604030504040204" pitchFamily="34" charset="0"/>
              </a:rPr>
              <a:t>Nayachar</a:t>
            </a:r>
            <a:r>
              <a:rPr lang="en-US" sz="1600" b="1" dirty="0">
                <a:solidFill>
                  <a:schemeClr val="tx1"/>
                </a:solidFill>
                <a:latin typeface="Verdana" panose="020B0604030504040204" pitchFamily="34" charset="0"/>
                <a:ea typeface="Verdana" panose="020B0604030504040204" pitchFamily="34" charset="0"/>
              </a:rPr>
              <a:t> PFR Report</a:t>
            </a:r>
            <a:endParaRPr lang="en-US" sz="2000" b="1" dirty="0">
              <a:solidFill>
                <a:schemeClr val="tx1"/>
              </a:solidFill>
              <a:latin typeface="Verdana" panose="020B0604030504040204" pitchFamily="34" charset="0"/>
              <a:ea typeface="Verdana" panose="020B0604030504040204" pitchFamily="34" charset="0"/>
            </a:endParaRPr>
          </a:p>
        </p:txBody>
      </p:sp>
      <p:graphicFrame>
        <p:nvGraphicFramePr>
          <p:cNvPr id="8" name="Diagram 7">
            <a:extLst>
              <a:ext uri="{FF2B5EF4-FFF2-40B4-BE49-F238E27FC236}">
                <a16:creationId xmlns:a16="http://schemas.microsoft.com/office/drawing/2014/main" id="{5E241946-18D2-43E7-91B2-B8D3A7D19472}"/>
              </a:ext>
            </a:extLst>
          </p:cNvPr>
          <p:cNvGraphicFramePr/>
          <p:nvPr/>
        </p:nvGraphicFramePr>
        <p:xfrm>
          <a:off x="6324600" y="1397364"/>
          <a:ext cx="5646829" cy="50858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Table 2">
            <a:extLst>
              <a:ext uri="{FF2B5EF4-FFF2-40B4-BE49-F238E27FC236}">
                <a16:creationId xmlns:a16="http://schemas.microsoft.com/office/drawing/2014/main" id="{DB6A64C7-1E44-4F01-83B1-CA6F114C65FD}"/>
              </a:ext>
            </a:extLst>
          </p:cNvPr>
          <p:cNvGraphicFramePr>
            <a:graphicFrameLocks noGrp="1"/>
          </p:cNvGraphicFramePr>
          <p:nvPr>
            <p:extLst>
              <p:ext uri="{D42A27DB-BD31-4B8C-83A1-F6EECF244321}">
                <p14:modId xmlns:p14="http://schemas.microsoft.com/office/powerpoint/2010/main" val="118991443"/>
              </p:ext>
            </p:extLst>
          </p:nvPr>
        </p:nvGraphicFramePr>
        <p:xfrm>
          <a:off x="220571" y="966018"/>
          <a:ext cx="5646830" cy="5449800"/>
        </p:xfrm>
        <a:graphic>
          <a:graphicData uri="http://schemas.openxmlformats.org/drawingml/2006/table">
            <a:tbl>
              <a:tblPr firstRow="1" firstCol="1" lastRow="1" lastCol="1" bandRow="1" bandCol="1">
                <a:tableStyleId>{5C22544A-7EE6-4342-B048-85BDC9FD1C3A}</a:tableStyleId>
              </a:tblPr>
              <a:tblGrid>
                <a:gridCol w="2316648">
                  <a:extLst>
                    <a:ext uri="{9D8B030D-6E8A-4147-A177-3AD203B41FA5}">
                      <a16:colId xmlns:a16="http://schemas.microsoft.com/office/drawing/2014/main" val="275210284"/>
                    </a:ext>
                  </a:extLst>
                </a:gridCol>
                <a:gridCol w="3330182">
                  <a:extLst>
                    <a:ext uri="{9D8B030D-6E8A-4147-A177-3AD203B41FA5}">
                      <a16:colId xmlns:a16="http://schemas.microsoft.com/office/drawing/2014/main" val="2558989229"/>
                    </a:ext>
                  </a:extLst>
                </a:gridCol>
              </a:tblGrid>
              <a:tr h="162924">
                <a:tc>
                  <a:txBody>
                    <a:bodyPr/>
                    <a:lstStyle/>
                    <a:p>
                      <a:pPr algn="ctr" rtl="0" fontAlgn="ctr"/>
                      <a:r>
                        <a:rPr lang="en-US" sz="1100" b="1" u="none" strike="noStrike" dirty="0">
                          <a:effectLst/>
                          <a:latin typeface="Verdana" panose="020B0604030504040204" pitchFamily="34" charset="0"/>
                          <a:ea typeface="Verdana" panose="020B0604030504040204" pitchFamily="34" charset="0"/>
                        </a:rPr>
                        <a:t>Particular</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3555" marR="3555" marT="3555" marB="0" anchor="ctr">
                    <a:solidFill>
                      <a:srgbClr val="00B050"/>
                    </a:solidFill>
                  </a:tcPr>
                </a:tc>
                <a:tc>
                  <a:txBody>
                    <a:bodyPr/>
                    <a:lstStyle/>
                    <a:p>
                      <a:pPr algn="ctr" rtl="0" fontAlgn="ctr"/>
                      <a:r>
                        <a:rPr lang="en-US" sz="1100" b="1" u="none" strike="noStrike" dirty="0">
                          <a:effectLst/>
                          <a:latin typeface="Verdana" panose="020B0604030504040204" pitchFamily="34" charset="0"/>
                          <a:ea typeface="Verdana" panose="020B0604030504040204" pitchFamily="34" charset="0"/>
                        </a:rPr>
                        <a:t>Description</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3555" marR="3555" marT="3555" marB="0" anchor="ctr">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899795427"/>
                  </a:ext>
                </a:extLst>
              </a:tr>
              <a:tr h="162924">
                <a:tc>
                  <a:txBody>
                    <a:bodyPr/>
                    <a:lstStyle/>
                    <a:p>
                      <a:pPr algn="l" rtl="0" fontAlgn="ctr"/>
                      <a:r>
                        <a:rPr lang="en-US" sz="1100" b="1" u="none" strike="noStrike" dirty="0">
                          <a:effectLst/>
                          <a:latin typeface="Verdana" panose="020B0604030504040204" pitchFamily="34" charset="0"/>
                          <a:ea typeface="Verdana" panose="020B0604030504040204" pitchFamily="34" charset="0"/>
                        </a:rPr>
                        <a:t>Project Size</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a:solidFill>
                            <a:schemeClr val="tx1"/>
                          </a:solidFill>
                          <a:effectLst/>
                          <a:latin typeface="Verdana" panose="020B0604030504040204" pitchFamily="34" charset="0"/>
                          <a:ea typeface="Verdana" panose="020B0604030504040204" pitchFamily="34" charset="0"/>
                        </a:rPr>
                        <a:t>1200 MW</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9705488"/>
                  </a:ext>
                </a:extLst>
              </a:tr>
              <a:tr h="162924">
                <a:tc>
                  <a:txBody>
                    <a:bodyPr/>
                    <a:lstStyle/>
                    <a:p>
                      <a:pPr algn="l" rtl="0" fontAlgn="ctr"/>
                      <a:r>
                        <a:rPr lang="en-US" sz="1100" b="1" u="none" strike="noStrike" dirty="0">
                          <a:effectLst/>
                          <a:latin typeface="Verdana" panose="020B0604030504040204" pitchFamily="34" charset="0"/>
                          <a:ea typeface="Verdana" panose="020B0604030504040204" pitchFamily="34" charset="0"/>
                        </a:rPr>
                        <a:t>District Name</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err="1">
                          <a:solidFill>
                            <a:schemeClr val="tx1"/>
                          </a:solidFill>
                          <a:effectLst/>
                          <a:latin typeface="Verdana" panose="020B0604030504040204" pitchFamily="34" charset="0"/>
                          <a:ea typeface="Verdana" panose="020B0604030504040204" pitchFamily="34" charset="0"/>
                        </a:rPr>
                        <a:t>Purba</a:t>
                      </a:r>
                      <a:r>
                        <a:rPr lang="en-US" sz="1100" b="0" u="none" strike="noStrike" dirty="0">
                          <a:solidFill>
                            <a:schemeClr val="tx1"/>
                          </a:solidFill>
                          <a:effectLst/>
                          <a:latin typeface="Verdana" panose="020B0604030504040204" pitchFamily="34" charset="0"/>
                          <a:ea typeface="Verdana" panose="020B0604030504040204" pitchFamily="34" charset="0"/>
                        </a:rPr>
                        <a:t> Medinipur</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3142739"/>
                  </a:ext>
                </a:extLst>
              </a:tr>
              <a:tr h="162924">
                <a:tc>
                  <a:txBody>
                    <a:bodyPr/>
                    <a:lstStyle/>
                    <a:p>
                      <a:pPr algn="l" rtl="0" fontAlgn="ctr"/>
                      <a:r>
                        <a:rPr lang="en-US" sz="1100" b="1" u="none" strike="noStrike" dirty="0">
                          <a:effectLst/>
                          <a:latin typeface="Verdana" panose="020B0604030504040204" pitchFamily="34" charset="0"/>
                          <a:ea typeface="Verdana" panose="020B0604030504040204" pitchFamily="34" charset="0"/>
                        </a:rPr>
                        <a:t>Name of the State</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a:solidFill>
                            <a:schemeClr val="tx1"/>
                          </a:solidFill>
                          <a:effectLst/>
                          <a:latin typeface="Verdana" panose="020B0604030504040204" pitchFamily="34" charset="0"/>
                          <a:ea typeface="Verdana" panose="020B0604030504040204" pitchFamily="34" charset="0"/>
                        </a:rPr>
                        <a:t>West Bengal</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2671647"/>
                  </a:ext>
                </a:extLst>
              </a:tr>
              <a:tr h="162924">
                <a:tc>
                  <a:txBody>
                    <a:bodyPr/>
                    <a:lstStyle/>
                    <a:p>
                      <a:pPr algn="l" rtl="0" fontAlgn="ctr"/>
                      <a:r>
                        <a:rPr lang="en-US" sz="1100" b="1" u="none" strike="noStrike" dirty="0">
                          <a:effectLst/>
                          <a:latin typeface="Verdana" panose="020B0604030504040204" pitchFamily="34" charset="0"/>
                          <a:ea typeface="Verdana" panose="020B0604030504040204" pitchFamily="34" charset="0"/>
                        </a:rPr>
                        <a:t>Geographical coordinates</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pt-BR" sz="1100" b="0" u="none" strike="noStrike" dirty="0">
                          <a:solidFill>
                            <a:schemeClr val="tx1"/>
                          </a:solidFill>
                          <a:effectLst/>
                          <a:latin typeface="Verdana" panose="020B0604030504040204" pitchFamily="34" charset="0"/>
                          <a:ea typeface="Verdana" panose="020B0604030504040204" pitchFamily="34" charset="0"/>
                        </a:rPr>
                        <a:t>21.98 ºN and 88.09 ºE</a:t>
                      </a:r>
                      <a:endParaRPr lang="pt-BR"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6069441"/>
                  </a:ext>
                </a:extLst>
              </a:tr>
              <a:tr h="162924">
                <a:tc>
                  <a:txBody>
                    <a:bodyPr/>
                    <a:lstStyle/>
                    <a:p>
                      <a:pPr algn="l" rtl="0" fontAlgn="ctr"/>
                      <a:r>
                        <a:rPr lang="en-US" sz="1100" b="1" u="none" strike="noStrike" dirty="0">
                          <a:effectLst/>
                          <a:latin typeface="Verdana" panose="020B0604030504040204" pitchFamily="34" charset="0"/>
                          <a:ea typeface="Verdana" panose="020B0604030504040204" pitchFamily="34" charset="0"/>
                        </a:rPr>
                        <a:t>Meteorological data source</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err="1">
                          <a:solidFill>
                            <a:schemeClr val="tx1"/>
                          </a:solidFill>
                          <a:effectLst/>
                          <a:latin typeface="Verdana" panose="020B0604030504040204" pitchFamily="34" charset="0"/>
                          <a:ea typeface="Verdana" panose="020B0604030504040204" pitchFamily="34" charset="0"/>
                        </a:rPr>
                        <a:t>Meteonorm</a:t>
                      </a:r>
                      <a:r>
                        <a:rPr lang="en-US" sz="1100" b="0" u="none" strike="noStrike" dirty="0">
                          <a:solidFill>
                            <a:schemeClr val="tx1"/>
                          </a:solidFill>
                          <a:effectLst/>
                          <a:latin typeface="Verdana" panose="020B0604030504040204" pitchFamily="34" charset="0"/>
                          <a:ea typeface="Verdana" panose="020B0604030504040204" pitchFamily="34" charset="0"/>
                        </a:rPr>
                        <a:t> 7.0</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4443898"/>
                  </a:ext>
                </a:extLst>
              </a:tr>
              <a:tr h="162924">
                <a:tc>
                  <a:txBody>
                    <a:bodyPr/>
                    <a:lstStyle/>
                    <a:p>
                      <a:pPr algn="l" rtl="0" fontAlgn="ctr"/>
                      <a:r>
                        <a:rPr lang="en-US" sz="1100" b="1" u="none" strike="noStrike" dirty="0">
                          <a:effectLst/>
                          <a:latin typeface="Verdana" panose="020B0604030504040204" pitchFamily="34" charset="0"/>
                          <a:ea typeface="Verdana" panose="020B0604030504040204" pitchFamily="34" charset="0"/>
                        </a:rPr>
                        <a:t>Type of system</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a:solidFill>
                            <a:schemeClr val="tx1"/>
                          </a:solidFill>
                          <a:effectLst/>
                          <a:latin typeface="Verdana" panose="020B0604030504040204" pitchFamily="34" charset="0"/>
                          <a:ea typeface="Verdana" panose="020B0604030504040204" pitchFamily="34" charset="0"/>
                        </a:rPr>
                        <a:t>Fixed axis (inclined at latitude) facing south</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4056565"/>
                  </a:ext>
                </a:extLst>
              </a:tr>
              <a:tr h="322465">
                <a:tc>
                  <a:txBody>
                    <a:bodyPr/>
                    <a:lstStyle/>
                    <a:p>
                      <a:pPr algn="l" rtl="0" fontAlgn="ctr"/>
                      <a:r>
                        <a:rPr lang="en-US" sz="1100" b="1" u="none" strike="noStrike" dirty="0">
                          <a:effectLst/>
                          <a:latin typeface="Verdana" panose="020B0604030504040204" pitchFamily="34" charset="0"/>
                          <a:ea typeface="Verdana" panose="020B0604030504040204" pitchFamily="34" charset="0"/>
                        </a:rPr>
                        <a:t>Tilt angle of solar PV Modules</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a:solidFill>
                            <a:schemeClr val="tx1"/>
                          </a:solidFill>
                          <a:effectLst/>
                          <a:latin typeface="Verdana" panose="020B0604030504040204" pitchFamily="34" charset="0"/>
                          <a:ea typeface="Verdana" panose="020B0604030504040204" pitchFamily="34" charset="0"/>
                        </a:rPr>
                        <a:t>17-degree due south</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1676018"/>
                  </a:ext>
                </a:extLst>
              </a:tr>
              <a:tr h="322465">
                <a:tc>
                  <a:txBody>
                    <a:bodyPr/>
                    <a:lstStyle/>
                    <a:p>
                      <a:pPr algn="l" rtl="0" fontAlgn="ctr"/>
                      <a:r>
                        <a:rPr lang="en-US" sz="1100" b="1" u="none" strike="noStrike" dirty="0">
                          <a:effectLst/>
                          <a:latin typeface="Verdana" panose="020B0604030504040204" pitchFamily="34" charset="0"/>
                          <a:ea typeface="Verdana" panose="020B0604030504040204" pitchFamily="34" charset="0"/>
                        </a:rPr>
                        <a:t>Data format</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a:solidFill>
                            <a:schemeClr val="tx1"/>
                          </a:solidFill>
                          <a:effectLst/>
                          <a:latin typeface="Verdana" panose="020B0604030504040204" pitchFamily="34" charset="0"/>
                          <a:ea typeface="Verdana" panose="020B0604030504040204" pitchFamily="34" charset="0"/>
                        </a:rPr>
                        <a:t>Hourly in Typical Meteorological Year (TMY) format</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1122071"/>
                  </a:ext>
                </a:extLst>
              </a:tr>
              <a:tr h="322465">
                <a:tc>
                  <a:txBody>
                    <a:bodyPr/>
                    <a:lstStyle/>
                    <a:p>
                      <a:pPr algn="l" rtl="0" fontAlgn="ctr"/>
                      <a:r>
                        <a:rPr lang="en-US" sz="1100" b="1" u="none" strike="noStrike" dirty="0">
                          <a:effectLst/>
                          <a:latin typeface="Verdana" panose="020B0604030504040204" pitchFamily="34" charset="0"/>
                          <a:ea typeface="Verdana" panose="020B0604030504040204" pitchFamily="34" charset="0"/>
                        </a:rPr>
                        <a:t>Daily average Global Solar Irradiance</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a:solidFill>
                            <a:schemeClr val="tx1"/>
                          </a:solidFill>
                          <a:effectLst/>
                          <a:latin typeface="Verdana" panose="020B0604030504040204" pitchFamily="34" charset="0"/>
                          <a:ea typeface="Verdana" panose="020B0604030504040204" pitchFamily="34" charset="0"/>
                        </a:rPr>
                        <a:t>4.20 kWh/m2</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706086"/>
                  </a:ext>
                </a:extLst>
              </a:tr>
              <a:tr h="322465">
                <a:tc>
                  <a:txBody>
                    <a:bodyPr/>
                    <a:lstStyle/>
                    <a:p>
                      <a:pPr algn="l" rtl="0" fontAlgn="ctr"/>
                      <a:r>
                        <a:rPr lang="en-US" sz="1100" b="1" u="none" strike="noStrike" dirty="0">
                          <a:effectLst/>
                          <a:latin typeface="Verdana" panose="020B0604030504040204" pitchFamily="34" charset="0"/>
                          <a:ea typeface="Verdana" panose="020B0604030504040204" pitchFamily="34" charset="0"/>
                        </a:rPr>
                        <a:t>Annual Global Solar Irradiance</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a:solidFill>
                            <a:schemeClr val="tx1"/>
                          </a:solidFill>
                          <a:effectLst/>
                          <a:latin typeface="Verdana" panose="020B0604030504040204" pitchFamily="34" charset="0"/>
                          <a:ea typeface="Verdana" panose="020B0604030504040204" pitchFamily="34" charset="0"/>
                        </a:rPr>
                        <a:t>1743.7 kWh/m2</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8286707"/>
                  </a:ext>
                </a:extLst>
              </a:tr>
              <a:tr h="322465">
                <a:tc>
                  <a:txBody>
                    <a:bodyPr/>
                    <a:lstStyle/>
                    <a:p>
                      <a:pPr algn="l" rtl="0" fontAlgn="ctr"/>
                      <a:r>
                        <a:rPr lang="en-US" sz="1100" b="1" u="none" strike="noStrike" dirty="0">
                          <a:effectLst/>
                          <a:latin typeface="Verdana" panose="020B0604030504040204" pitchFamily="34" charset="0"/>
                          <a:ea typeface="Verdana" panose="020B0604030504040204" pitchFamily="34" charset="0"/>
                        </a:rPr>
                        <a:t>Daily average diffuse irradiance</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a:solidFill>
                            <a:schemeClr val="tx1"/>
                          </a:solidFill>
                          <a:effectLst/>
                          <a:latin typeface="Verdana" panose="020B0604030504040204" pitchFamily="34" charset="0"/>
                          <a:ea typeface="Verdana" panose="020B0604030504040204" pitchFamily="34" charset="0"/>
                        </a:rPr>
                        <a:t>2.26 kWh/m2</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5272758"/>
                  </a:ext>
                </a:extLst>
              </a:tr>
              <a:tr h="162924">
                <a:tc>
                  <a:txBody>
                    <a:bodyPr/>
                    <a:lstStyle/>
                    <a:p>
                      <a:pPr algn="l" rtl="0" fontAlgn="ctr"/>
                      <a:r>
                        <a:rPr lang="en-US" sz="1100" b="1" u="none" strike="noStrike" dirty="0">
                          <a:effectLst/>
                          <a:latin typeface="Verdana" panose="020B0604030504040204" pitchFamily="34" charset="0"/>
                          <a:ea typeface="Verdana" panose="020B0604030504040204" pitchFamily="34" charset="0"/>
                        </a:rPr>
                        <a:t>Annual diffuse irradiance</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a:solidFill>
                            <a:schemeClr val="tx1"/>
                          </a:solidFill>
                          <a:effectLst/>
                          <a:latin typeface="Verdana" panose="020B0604030504040204" pitchFamily="34" charset="0"/>
                          <a:ea typeface="Verdana" panose="020B0604030504040204" pitchFamily="34" charset="0"/>
                        </a:rPr>
                        <a:t>930 kWh/m2</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868395"/>
                  </a:ext>
                </a:extLst>
              </a:tr>
              <a:tr h="322465">
                <a:tc>
                  <a:txBody>
                    <a:bodyPr/>
                    <a:lstStyle/>
                    <a:p>
                      <a:pPr algn="l" rtl="0" fontAlgn="ctr"/>
                      <a:r>
                        <a:rPr lang="en-US" sz="1100" b="1" u="none" strike="noStrike" dirty="0">
                          <a:effectLst/>
                          <a:latin typeface="Verdana" panose="020B0604030504040204" pitchFamily="34" charset="0"/>
                          <a:ea typeface="Verdana" panose="020B0604030504040204" pitchFamily="34" charset="0"/>
                        </a:rPr>
                        <a:t>Annual average ambient temperature</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a:solidFill>
                            <a:schemeClr val="tx1"/>
                          </a:solidFill>
                          <a:effectLst/>
                          <a:latin typeface="Verdana" panose="020B0604030504040204" pitchFamily="34" charset="0"/>
                          <a:ea typeface="Verdana" panose="020B0604030504040204" pitchFamily="34" charset="0"/>
                        </a:rPr>
                        <a:t>26.34 deg C</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1230542"/>
                  </a:ext>
                </a:extLst>
              </a:tr>
              <a:tr h="322465">
                <a:tc>
                  <a:txBody>
                    <a:bodyPr/>
                    <a:lstStyle/>
                    <a:p>
                      <a:pPr algn="l" rtl="0" fontAlgn="ctr"/>
                      <a:r>
                        <a:rPr lang="en-US" sz="1100" b="1" u="none" strike="noStrike" dirty="0">
                          <a:effectLst/>
                          <a:latin typeface="Verdana" panose="020B0604030504040204" pitchFamily="34" charset="0"/>
                          <a:ea typeface="Verdana" panose="020B0604030504040204" pitchFamily="34" charset="0"/>
                        </a:rPr>
                        <a:t>Annual average relative humidity</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a:solidFill>
                            <a:schemeClr val="tx1"/>
                          </a:solidFill>
                          <a:effectLst/>
                          <a:latin typeface="Verdana" panose="020B0604030504040204" pitchFamily="34" charset="0"/>
                          <a:ea typeface="Verdana" panose="020B0604030504040204" pitchFamily="34" charset="0"/>
                        </a:rPr>
                        <a:t>62.20%</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8828778"/>
                  </a:ext>
                </a:extLst>
              </a:tr>
              <a:tr h="162924">
                <a:tc>
                  <a:txBody>
                    <a:bodyPr/>
                    <a:lstStyle/>
                    <a:p>
                      <a:pPr algn="l" rtl="0" fontAlgn="ctr"/>
                      <a:r>
                        <a:rPr lang="en-US" sz="1100" b="1" u="none" strike="noStrike" dirty="0">
                          <a:effectLst/>
                          <a:latin typeface="Verdana" panose="020B0604030504040204" pitchFamily="34" charset="0"/>
                          <a:ea typeface="Verdana" panose="020B0604030504040204" pitchFamily="34" charset="0"/>
                        </a:rPr>
                        <a:t>Annual average wind speed</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a:solidFill>
                            <a:schemeClr val="tx1"/>
                          </a:solidFill>
                          <a:effectLst/>
                          <a:latin typeface="Verdana" panose="020B0604030504040204" pitchFamily="34" charset="0"/>
                          <a:ea typeface="Verdana" panose="020B0604030504040204" pitchFamily="34" charset="0"/>
                        </a:rPr>
                        <a:t>2.5 m/s</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0649862"/>
                  </a:ext>
                </a:extLst>
              </a:tr>
              <a:tr h="162924">
                <a:tc>
                  <a:txBody>
                    <a:bodyPr/>
                    <a:lstStyle/>
                    <a:p>
                      <a:pPr algn="l" rtl="0" fontAlgn="ctr"/>
                      <a:r>
                        <a:rPr lang="en-US" sz="1100" b="1" u="none" strike="noStrike" dirty="0">
                          <a:effectLst/>
                          <a:latin typeface="Verdana" panose="020B0604030504040204" pitchFamily="34" charset="0"/>
                          <a:ea typeface="Verdana" panose="020B0604030504040204" pitchFamily="34" charset="0"/>
                        </a:rPr>
                        <a:t>Land availability (acres)</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a:solidFill>
                            <a:schemeClr val="tx1"/>
                          </a:solidFill>
                          <a:effectLst/>
                          <a:latin typeface="Verdana" panose="020B0604030504040204" pitchFamily="34" charset="0"/>
                          <a:ea typeface="Verdana" panose="020B0604030504040204" pitchFamily="34" charset="0"/>
                        </a:rPr>
                        <a:t>More than 6800 acres</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6099331"/>
                  </a:ext>
                </a:extLst>
              </a:tr>
              <a:tr h="162924">
                <a:tc>
                  <a:txBody>
                    <a:bodyPr/>
                    <a:lstStyle/>
                    <a:p>
                      <a:pPr algn="l" rtl="0" fontAlgn="ctr"/>
                      <a:r>
                        <a:rPr lang="en-US" sz="1100" b="1" u="none" strike="noStrike" dirty="0">
                          <a:effectLst/>
                          <a:latin typeface="Verdana" panose="020B0604030504040204" pitchFamily="34" charset="0"/>
                          <a:ea typeface="Verdana" panose="020B0604030504040204" pitchFamily="34" charset="0"/>
                        </a:rPr>
                        <a:t>Land quality</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a:solidFill>
                            <a:schemeClr val="tx1"/>
                          </a:solidFill>
                          <a:effectLst/>
                          <a:latin typeface="Verdana" panose="020B0604030504040204" pitchFamily="34" charset="0"/>
                          <a:ea typeface="Verdana" panose="020B0604030504040204" pitchFamily="34" charset="0"/>
                        </a:rPr>
                        <a:t>Barren and non-agricultural land</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61749618"/>
                  </a:ext>
                </a:extLst>
              </a:tr>
              <a:tr h="162924">
                <a:tc>
                  <a:txBody>
                    <a:bodyPr/>
                    <a:lstStyle/>
                    <a:p>
                      <a:pPr algn="l" rtl="0" fontAlgn="ctr"/>
                      <a:r>
                        <a:rPr lang="en-US" sz="1100" b="1" u="none" strike="noStrike" dirty="0">
                          <a:effectLst/>
                          <a:latin typeface="Verdana" panose="020B0604030504040204" pitchFamily="34" charset="0"/>
                          <a:ea typeface="Verdana" panose="020B0604030504040204" pitchFamily="34" charset="0"/>
                        </a:rPr>
                        <a:t>Life of the Project</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a:solidFill>
                            <a:schemeClr val="tx1"/>
                          </a:solidFill>
                          <a:effectLst/>
                          <a:latin typeface="Verdana" panose="020B0604030504040204" pitchFamily="34" charset="0"/>
                          <a:ea typeface="Verdana" panose="020B0604030504040204" pitchFamily="34" charset="0"/>
                        </a:rPr>
                        <a:t>25 Years</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4255157"/>
                  </a:ext>
                </a:extLst>
              </a:tr>
              <a:tr h="322465">
                <a:tc>
                  <a:txBody>
                    <a:bodyPr/>
                    <a:lstStyle/>
                    <a:p>
                      <a:pPr algn="l" rtl="0" fontAlgn="ctr"/>
                      <a:r>
                        <a:rPr lang="en-US" sz="1100" b="1" u="none" strike="noStrike" dirty="0">
                          <a:effectLst/>
                          <a:latin typeface="Verdana" panose="020B0604030504040204" pitchFamily="34" charset="0"/>
                          <a:ea typeface="Verdana" panose="020B0604030504040204" pitchFamily="34" charset="0"/>
                        </a:rPr>
                        <a:t>Connectivity and accessibility</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a:solidFill>
                            <a:schemeClr val="tx1"/>
                          </a:solidFill>
                          <a:effectLst/>
                          <a:latin typeface="Verdana" panose="020B0604030504040204" pitchFamily="34" charset="0"/>
                          <a:ea typeface="Verdana" panose="020B0604030504040204" pitchFamily="34" charset="0"/>
                        </a:rPr>
                        <a:t>Haldia Port</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2808685"/>
                  </a:ext>
                </a:extLst>
              </a:tr>
              <a:tr h="162924">
                <a:tc>
                  <a:txBody>
                    <a:bodyPr/>
                    <a:lstStyle/>
                    <a:p>
                      <a:pPr algn="l" rtl="0" fontAlgn="ctr"/>
                      <a:r>
                        <a:rPr lang="en-US" sz="1100" b="1" u="none" strike="noStrike" dirty="0">
                          <a:effectLst/>
                          <a:latin typeface="Verdana" panose="020B0604030504040204" pitchFamily="34" charset="0"/>
                          <a:ea typeface="Verdana" panose="020B0604030504040204" pitchFamily="34" charset="0"/>
                        </a:rPr>
                        <a:t>Minimum plant size capacity</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a:solidFill>
                            <a:schemeClr val="tx1"/>
                          </a:solidFill>
                          <a:effectLst/>
                          <a:latin typeface="Verdana" panose="020B0604030504040204" pitchFamily="34" charset="0"/>
                          <a:ea typeface="Verdana" panose="020B0604030504040204" pitchFamily="34" charset="0"/>
                        </a:rPr>
                        <a:t>1200 MW</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1937435"/>
                  </a:ext>
                </a:extLst>
              </a:tr>
              <a:tr h="162924">
                <a:tc>
                  <a:txBody>
                    <a:bodyPr/>
                    <a:lstStyle/>
                    <a:p>
                      <a:pPr algn="l" rtl="0" fontAlgn="ctr"/>
                      <a:r>
                        <a:rPr lang="en-US" sz="1100" b="1" u="none" strike="noStrike" dirty="0">
                          <a:effectLst/>
                          <a:latin typeface="Verdana" panose="020B0604030504040204" pitchFamily="34" charset="0"/>
                          <a:ea typeface="Verdana" panose="020B0604030504040204" pitchFamily="34" charset="0"/>
                        </a:rPr>
                        <a:t>Nearest airport</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a:solidFill>
                            <a:schemeClr val="tx1"/>
                          </a:solidFill>
                          <a:effectLst/>
                          <a:latin typeface="Verdana" panose="020B0604030504040204" pitchFamily="34" charset="0"/>
                          <a:ea typeface="Verdana" panose="020B0604030504040204" pitchFamily="34" charset="0"/>
                        </a:rPr>
                        <a:t>Kolkata</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7665439"/>
                  </a:ext>
                </a:extLst>
              </a:tr>
              <a:tr h="162924">
                <a:tc>
                  <a:txBody>
                    <a:bodyPr/>
                    <a:lstStyle/>
                    <a:p>
                      <a:pPr algn="l" rtl="0" fontAlgn="ctr"/>
                      <a:r>
                        <a:rPr lang="en-US" sz="1100" b="1" u="none" strike="noStrike" dirty="0">
                          <a:effectLst/>
                          <a:latin typeface="Verdana" panose="020B0604030504040204" pitchFamily="34" charset="0"/>
                          <a:ea typeface="Verdana" panose="020B0604030504040204" pitchFamily="34" charset="0"/>
                        </a:rPr>
                        <a:t>Nearest railway station</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a:solidFill>
                            <a:schemeClr val="tx1"/>
                          </a:solidFill>
                          <a:effectLst/>
                          <a:latin typeface="Verdana" panose="020B0604030504040204" pitchFamily="34" charset="0"/>
                          <a:ea typeface="Verdana" panose="020B0604030504040204" pitchFamily="34" charset="0"/>
                        </a:rPr>
                        <a:t>Haldia</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78395"/>
                  </a:ext>
                </a:extLst>
              </a:tr>
              <a:tr h="162924">
                <a:tc>
                  <a:txBody>
                    <a:bodyPr/>
                    <a:lstStyle/>
                    <a:p>
                      <a:pPr algn="l" rtl="0" fontAlgn="ctr"/>
                      <a:r>
                        <a:rPr lang="en-US" sz="1100" b="1" u="none" strike="noStrike" dirty="0">
                          <a:effectLst/>
                          <a:latin typeface="Verdana" panose="020B0604030504040204" pitchFamily="34" charset="0"/>
                          <a:ea typeface="Verdana" panose="020B0604030504040204" pitchFamily="34" charset="0"/>
                        </a:rPr>
                        <a:t>Solar PV Technology</a:t>
                      </a:r>
                      <a:endParaRPr lang="en-US" sz="1100" b="1" i="0" u="none" strike="noStrike" dirty="0">
                        <a:solidFill>
                          <a:srgbClr val="FFFFFF"/>
                        </a:solidFill>
                        <a:effectLst/>
                        <a:latin typeface="Verdana" panose="020B0604030504040204" pitchFamily="34" charset="0"/>
                        <a:ea typeface="Verdana" panose="020B0604030504040204" pitchFamily="34" charset="0"/>
                      </a:endParaRPr>
                    </a:p>
                  </a:txBody>
                  <a:tcPr marL="53325" marR="3555" marT="3555" marB="0" anchor="ctr">
                    <a:lnR w="12700" cap="flat" cmpd="sng" algn="ctr">
                      <a:solidFill>
                        <a:schemeClr val="tx1"/>
                      </a:solidFill>
                      <a:prstDash val="solid"/>
                      <a:round/>
                      <a:headEnd type="none" w="med" len="med"/>
                      <a:tailEnd type="none" w="med" len="med"/>
                    </a:lnR>
                    <a:solidFill>
                      <a:schemeClr val="tx1">
                        <a:lumMod val="65000"/>
                        <a:lumOff val="35000"/>
                      </a:schemeClr>
                    </a:solidFill>
                  </a:tcPr>
                </a:tc>
                <a:tc>
                  <a:txBody>
                    <a:bodyPr/>
                    <a:lstStyle/>
                    <a:p>
                      <a:pPr marL="112713" indent="0" algn="l" rtl="0" fontAlgn="ctr"/>
                      <a:r>
                        <a:rPr lang="en-US" sz="1100" b="0" u="none" strike="noStrike" dirty="0">
                          <a:solidFill>
                            <a:schemeClr val="tx1"/>
                          </a:solidFill>
                          <a:effectLst/>
                          <a:latin typeface="Verdana" panose="020B0604030504040204" pitchFamily="34" charset="0"/>
                          <a:ea typeface="Verdana" panose="020B0604030504040204" pitchFamily="34" charset="0"/>
                        </a:rPr>
                        <a:t>Mono crystalline solar PV </a:t>
                      </a:r>
                      <a:endParaRPr lang="en-US" sz="1100" b="0" i="0" u="none" strike="noStrike" dirty="0">
                        <a:solidFill>
                          <a:schemeClr val="tx1"/>
                        </a:solidFill>
                        <a:effectLst/>
                        <a:latin typeface="Verdana" panose="020B0604030504040204" pitchFamily="34" charset="0"/>
                        <a:ea typeface="Verdana" panose="020B0604030504040204" pitchFamily="34" charset="0"/>
                      </a:endParaRPr>
                    </a:p>
                  </a:txBody>
                  <a:tcPr marL="3555" marR="3555" marT="35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976486"/>
                  </a:ext>
                </a:extLst>
              </a:tr>
            </a:tbl>
          </a:graphicData>
        </a:graphic>
      </p:graphicFrame>
      <p:sp>
        <p:nvSpPr>
          <p:cNvPr id="11" name="Rectangle 10">
            <a:extLst>
              <a:ext uri="{FF2B5EF4-FFF2-40B4-BE49-F238E27FC236}">
                <a16:creationId xmlns:a16="http://schemas.microsoft.com/office/drawing/2014/main" id="{328BC8D3-CA8B-4CCE-810B-5BC9B83C16BF}"/>
              </a:ext>
            </a:extLst>
          </p:cNvPr>
          <p:cNvSpPr/>
          <p:nvPr/>
        </p:nvSpPr>
        <p:spPr>
          <a:xfrm>
            <a:off x="6324600" y="966018"/>
            <a:ext cx="5537971" cy="330701"/>
          </a:xfrm>
          <a:prstGeom prst="rect">
            <a:avLst/>
          </a:prstGeom>
          <a:solidFill>
            <a:srgbClr val="86BC25"/>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600"/>
              </a:spcBef>
              <a:spcAft>
                <a:spcPts val="0"/>
              </a:spcAft>
              <a:buClr>
                <a:srgbClr val="44546A"/>
              </a:buClr>
              <a:buSzTx/>
              <a:buFontTx/>
              <a:buNone/>
              <a:tabLst/>
              <a:defRPr/>
            </a:pPr>
            <a:r>
              <a:rPr kumimoji="0" lang="en-US" sz="1600" b="1" i="0" u="none" strike="noStrike" kern="0" cap="none" spc="0" normalizeH="0" baseline="0" noProof="0" dirty="0">
                <a:ln>
                  <a:noFill/>
                </a:ln>
                <a:solidFill>
                  <a:prstClr val="white"/>
                </a:solidFill>
                <a:effectLst/>
                <a:uLnTx/>
                <a:uFillTx/>
                <a:latin typeface="Verdana"/>
                <a:ea typeface="+mn-ea"/>
                <a:cs typeface="+mn-cs"/>
              </a:rPr>
              <a:t>Key Highlights</a:t>
            </a:r>
          </a:p>
        </p:txBody>
      </p:sp>
      <p:cxnSp>
        <p:nvCxnSpPr>
          <p:cNvPr id="12" name="Straight Connector 11">
            <a:extLst>
              <a:ext uri="{FF2B5EF4-FFF2-40B4-BE49-F238E27FC236}">
                <a16:creationId xmlns:a16="http://schemas.microsoft.com/office/drawing/2014/main" id="{3A83A600-1B0C-482A-9558-27D2C4D5FD50}"/>
              </a:ext>
            </a:extLst>
          </p:cNvPr>
          <p:cNvCxnSpPr>
            <a:cxnSpLocks/>
          </p:cNvCxnSpPr>
          <p:nvPr/>
        </p:nvCxnSpPr>
        <p:spPr>
          <a:xfrm>
            <a:off x="6117939" y="966018"/>
            <a:ext cx="0" cy="5449800"/>
          </a:xfrm>
          <a:prstGeom prst="line">
            <a:avLst/>
          </a:prstGeom>
          <a:ln w="28575">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AC4E89C-ABC0-42DE-9CE8-F87F8B5930EB}"/>
              </a:ext>
            </a:extLst>
          </p:cNvPr>
          <p:cNvSpPr txBox="1"/>
          <p:nvPr/>
        </p:nvSpPr>
        <p:spPr>
          <a:xfrm>
            <a:off x="7677636" y="6440440"/>
            <a:ext cx="3750067" cy="169277"/>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rPr>
              <a:t>Source: </a:t>
            </a:r>
            <a:r>
              <a:rPr lang="en-US" sz="1100" dirty="0" err="1">
                <a:solidFill>
                  <a:srgbClr val="313131"/>
                </a:solidFill>
              </a:rPr>
              <a:t>Nayachar</a:t>
            </a:r>
            <a:r>
              <a:rPr lang="en-US" sz="1100" dirty="0">
                <a:solidFill>
                  <a:srgbClr val="313131"/>
                </a:solidFill>
              </a:rPr>
              <a:t> PFR Report</a:t>
            </a:r>
          </a:p>
        </p:txBody>
      </p:sp>
    </p:spTree>
    <p:extLst>
      <p:ext uri="{BB962C8B-B14F-4D97-AF65-F5344CB8AC3E}">
        <p14:creationId xmlns:p14="http://schemas.microsoft.com/office/powerpoint/2010/main" val="33991143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5DB0E-66ED-4C10-A2DC-405B3174FF2C}"/>
              </a:ext>
            </a:extLst>
          </p:cNvPr>
          <p:cNvSpPr>
            <a:spLocks noGrp="1"/>
          </p:cNvSpPr>
          <p:nvPr>
            <p:ph type="title"/>
          </p:nvPr>
        </p:nvSpPr>
        <p:spPr>
          <a:xfrm>
            <a:off x="289740" y="217910"/>
            <a:ext cx="11584760" cy="498278"/>
          </a:xfrm>
        </p:spPr>
        <p:txBody>
          <a:bodyPr>
            <a:noAutofit/>
          </a:bodyPr>
          <a:lstStyle/>
          <a:p>
            <a:r>
              <a:rPr lang="en-US" sz="2000" b="1" i="0" dirty="0">
                <a:solidFill>
                  <a:schemeClr val="tx1"/>
                </a:solidFill>
                <a:latin typeface="Verdana" panose="020B0604030504040204" pitchFamily="34" charset="0"/>
                <a:ea typeface="Verdana" panose="020B0604030504040204" pitchFamily="34" charset="0"/>
              </a:rPr>
              <a:t>Objectives and End goals of the Project </a:t>
            </a:r>
            <a:r>
              <a:rPr lang="en-US" sz="2000" b="1" dirty="0">
                <a:solidFill>
                  <a:schemeClr val="tx1"/>
                </a:solidFill>
                <a:latin typeface="Verdana" panose="020B0604030504040204" pitchFamily="34" charset="0"/>
                <a:ea typeface="Verdana" panose="020B0604030504040204" pitchFamily="34" charset="0"/>
              </a:rPr>
              <a:t>- </a:t>
            </a:r>
            <a:r>
              <a:rPr lang="en-US" sz="1800" b="1" dirty="0">
                <a:solidFill>
                  <a:schemeClr val="tx1"/>
                </a:solidFill>
                <a:latin typeface="Verdana" panose="020B0604030504040204" pitchFamily="34" charset="0"/>
                <a:ea typeface="Verdana" panose="020B0604030504040204" pitchFamily="34" charset="0"/>
              </a:rPr>
              <a:t>As per </a:t>
            </a:r>
            <a:r>
              <a:rPr lang="en-US" sz="1800" b="1" dirty="0" err="1">
                <a:solidFill>
                  <a:schemeClr val="tx1"/>
                </a:solidFill>
                <a:latin typeface="Verdana" panose="020B0604030504040204" pitchFamily="34" charset="0"/>
                <a:ea typeface="Verdana" panose="020B0604030504040204" pitchFamily="34" charset="0"/>
              </a:rPr>
              <a:t>Nayachar</a:t>
            </a:r>
            <a:r>
              <a:rPr lang="en-US" sz="1800" b="1" dirty="0">
                <a:solidFill>
                  <a:schemeClr val="tx1"/>
                </a:solidFill>
                <a:latin typeface="Verdana" panose="020B0604030504040204" pitchFamily="34" charset="0"/>
                <a:ea typeface="Verdana" panose="020B0604030504040204" pitchFamily="34" charset="0"/>
              </a:rPr>
              <a:t> PFR Report</a:t>
            </a:r>
            <a:endParaRPr lang="en-US" sz="2000" b="1" dirty="0">
              <a:solidFill>
                <a:schemeClr val="tx1"/>
              </a:solidFill>
              <a:latin typeface="Verdana" panose="020B0604030504040204" pitchFamily="34" charset="0"/>
              <a:ea typeface="Verdana" panose="020B0604030504040204" pitchFamily="34" charset="0"/>
            </a:endParaRPr>
          </a:p>
        </p:txBody>
      </p:sp>
      <p:graphicFrame>
        <p:nvGraphicFramePr>
          <p:cNvPr id="7" name="Diagram 6">
            <a:extLst>
              <a:ext uri="{FF2B5EF4-FFF2-40B4-BE49-F238E27FC236}">
                <a16:creationId xmlns:a16="http://schemas.microsoft.com/office/drawing/2014/main" id="{162E7C56-264A-4DA6-A5B6-80B99C12A4AD}"/>
              </a:ext>
            </a:extLst>
          </p:cNvPr>
          <p:cNvGraphicFramePr/>
          <p:nvPr>
            <p:extLst>
              <p:ext uri="{D42A27DB-BD31-4B8C-83A1-F6EECF244321}">
                <p14:modId xmlns:p14="http://schemas.microsoft.com/office/powerpoint/2010/main" val="1835885502"/>
              </p:ext>
            </p:extLst>
          </p:nvPr>
        </p:nvGraphicFramePr>
        <p:xfrm>
          <a:off x="-921416" y="1046388"/>
          <a:ext cx="13721144" cy="50923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A5B5BE93-BA29-40E9-93BC-DEC6BC869526}"/>
              </a:ext>
            </a:extLst>
          </p:cNvPr>
          <p:cNvSpPr txBox="1"/>
          <p:nvPr/>
        </p:nvSpPr>
        <p:spPr>
          <a:xfrm>
            <a:off x="7677636" y="6440440"/>
            <a:ext cx="3750067" cy="169277"/>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rPr>
              <a:t>Source: </a:t>
            </a:r>
            <a:r>
              <a:rPr lang="en-US" sz="1100" dirty="0" err="1">
                <a:solidFill>
                  <a:srgbClr val="313131"/>
                </a:solidFill>
              </a:rPr>
              <a:t>Nayachar</a:t>
            </a:r>
            <a:r>
              <a:rPr lang="en-US" sz="1100" dirty="0">
                <a:solidFill>
                  <a:srgbClr val="313131"/>
                </a:solidFill>
              </a:rPr>
              <a:t> PFR Report</a:t>
            </a:r>
          </a:p>
        </p:txBody>
      </p:sp>
    </p:spTree>
    <p:extLst>
      <p:ext uri="{BB962C8B-B14F-4D97-AF65-F5344CB8AC3E}">
        <p14:creationId xmlns:p14="http://schemas.microsoft.com/office/powerpoint/2010/main" val="32646223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72FF3-68A5-4533-951E-065E76043546}"/>
              </a:ext>
            </a:extLst>
          </p:cNvPr>
          <p:cNvSpPr>
            <a:spLocks noGrp="1"/>
          </p:cNvSpPr>
          <p:nvPr>
            <p:ph type="title"/>
          </p:nvPr>
        </p:nvSpPr>
        <p:spPr>
          <a:xfrm>
            <a:off x="197518" y="215540"/>
            <a:ext cx="11473782" cy="622381"/>
          </a:xfrm>
        </p:spPr>
        <p:txBody>
          <a:bodyPr>
            <a:normAutofit/>
          </a:bodyPr>
          <a:lstStyle/>
          <a:p>
            <a:r>
              <a:rPr lang="en-US" sz="2000" b="1" i="0" dirty="0">
                <a:solidFill>
                  <a:schemeClr val="tx1"/>
                </a:solidFill>
                <a:latin typeface="Verdana" panose="020B0604030504040204" pitchFamily="34" charset="0"/>
                <a:ea typeface="Verdana" panose="020B0604030504040204" pitchFamily="34" charset="0"/>
              </a:rPr>
              <a:t>Project Cost details (infrastructure and material) </a:t>
            </a:r>
            <a:r>
              <a:rPr lang="en-US" sz="2000" b="1" dirty="0">
                <a:solidFill>
                  <a:schemeClr val="tx1"/>
                </a:solidFill>
                <a:latin typeface="Verdana" panose="020B0604030504040204" pitchFamily="34" charset="0"/>
                <a:ea typeface="Verdana" panose="020B0604030504040204" pitchFamily="34" charset="0"/>
              </a:rPr>
              <a:t>- </a:t>
            </a:r>
            <a:r>
              <a:rPr lang="en-US" sz="1800" b="1" dirty="0">
                <a:solidFill>
                  <a:schemeClr val="tx1"/>
                </a:solidFill>
                <a:latin typeface="Verdana" panose="020B0604030504040204" pitchFamily="34" charset="0"/>
                <a:ea typeface="Verdana" panose="020B0604030504040204" pitchFamily="34" charset="0"/>
              </a:rPr>
              <a:t>As per </a:t>
            </a:r>
            <a:r>
              <a:rPr lang="en-US" sz="1800" b="1" dirty="0" err="1">
                <a:solidFill>
                  <a:schemeClr val="tx1"/>
                </a:solidFill>
                <a:latin typeface="Verdana" panose="020B0604030504040204" pitchFamily="34" charset="0"/>
                <a:ea typeface="Verdana" panose="020B0604030504040204" pitchFamily="34" charset="0"/>
              </a:rPr>
              <a:t>Nayachar</a:t>
            </a:r>
            <a:r>
              <a:rPr lang="en-US" sz="1800" b="1" dirty="0">
                <a:solidFill>
                  <a:schemeClr val="tx1"/>
                </a:solidFill>
                <a:latin typeface="Verdana" panose="020B0604030504040204" pitchFamily="34" charset="0"/>
                <a:ea typeface="Verdana" panose="020B0604030504040204" pitchFamily="34" charset="0"/>
              </a:rPr>
              <a:t> PFR Report</a:t>
            </a:r>
            <a:endParaRPr lang="en-US" sz="2000" b="1" dirty="0">
              <a:solidFill>
                <a:schemeClr val="tx1"/>
              </a:solidFill>
              <a:latin typeface="Verdana" panose="020B0604030504040204" pitchFamily="34" charset="0"/>
              <a:ea typeface="Verdana" panose="020B0604030504040204" pitchFamily="34" charset="0"/>
            </a:endParaRPr>
          </a:p>
        </p:txBody>
      </p:sp>
      <p:graphicFrame>
        <p:nvGraphicFramePr>
          <p:cNvPr id="12" name="Table 11">
            <a:extLst>
              <a:ext uri="{FF2B5EF4-FFF2-40B4-BE49-F238E27FC236}">
                <a16:creationId xmlns:a16="http://schemas.microsoft.com/office/drawing/2014/main" id="{94AD86B5-AF66-47CE-BB7F-D27F529A6C7E}"/>
              </a:ext>
            </a:extLst>
          </p:cNvPr>
          <p:cNvGraphicFramePr>
            <a:graphicFrameLocks noGrp="1"/>
          </p:cNvGraphicFramePr>
          <p:nvPr>
            <p:extLst>
              <p:ext uri="{D42A27DB-BD31-4B8C-83A1-F6EECF244321}">
                <p14:modId xmlns:p14="http://schemas.microsoft.com/office/powerpoint/2010/main" val="3137622750"/>
              </p:ext>
            </p:extLst>
          </p:nvPr>
        </p:nvGraphicFramePr>
        <p:xfrm>
          <a:off x="5796276" y="931403"/>
          <a:ext cx="6067775" cy="5172322"/>
        </p:xfrm>
        <a:graphic>
          <a:graphicData uri="http://schemas.openxmlformats.org/drawingml/2006/table">
            <a:tbl>
              <a:tblPr firstRow="1" firstCol="1" lastRow="1" lastCol="1" bandRow="1" bandCol="1">
                <a:tableStyleId>{00A15C55-8517-42AA-B614-E9B94910E393}</a:tableStyleId>
              </a:tblPr>
              <a:tblGrid>
                <a:gridCol w="1925620">
                  <a:extLst>
                    <a:ext uri="{9D8B030D-6E8A-4147-A177-3AD203B41FA5}">
                      <a16:colId xmlns:a16="http://schemas.microsoft.com/office/drawing/2014/main" val="2783586607"/>
                    </a:ext>
                  </a:extLst>
                </a:gridCol>
                <a:gridCol w="1166905">
                  <a:extLst>
                    <a:ext uri="{9D8B030D-6E8A-4147-A177-3AD203B41FA5}">
                      <a16:colId xmlns:a16="http://schemas.microsoft.com/office/drawing/2014/main" val="3718499126"/>
                    </a:ext>
                  </a:extLst>
                </a:gridCol>
                <a:gridCol w="1364808">
                  <a:extLst>
                    <a:ext uri="{9D8B030D-6E8A-4147-A177-3AD203B41FA5}">
                      <a16:colId xmlns:a16="http://schemas.microsoft.com/office/drawing/2014/main" val="3634171564"/>
                    </a:ext>
                  </a:extLst>
                </a:gridCol>
                <a:gridCol w="1610442">
                  <a:extLst>
                    <a:ext uri="{9D8B030D-6E8A-4147-A177-3AD203B41FA5}">
                      <a16:colId xmlns:a16="http://schemas.microsoft.com/office/drawing/2014/main" val="4140591106"/>
                    </a:ext>
                  </a:extLst>
                </a:gridCol>
              </a:tblGrid>
              <a:tr h="1398306">
                <a:tc>
                  <a:txBody>
                    <a:bodyPr/>
                    <a:lstStyle/>
                    <a:p>
                      <a:pPr marL="67945" marR="0">
                        <a:lnSpc>
                          <a:spcPts val="1055"/>
                        </a:lnSpc>
                        <a:spcBef>
                          <a:spcPts val="245"/>
                        </a:spcBef>
                        <a:spcAft>
                          <a:spcPts val="0"/>
                        </a:spcAft>
                      </a:pPr>
                      <a:r>
                        <a:rPr lang="en-US" sz="1200" dirty="0">
                          <a:solidFill>
                            <a:schemeClr val="bg1"/>
                          </a:solidFill>
                          <a:effectLst/>
                          <a:latin typeface="Verdana" panose="020B0604030504040204" pitchFamily="34" charset="0"/>
                          <a:ea typeface="Verdana" panose="020B0604030504040204" pitchFamily="34" charset="0"/>
                          <a:cs typeface="Georgia" panose="02040502050405020303" pitchFamily="18" charset="0"/>
                        </a:rPr>
                        <a:t>Particulars</a:t>
                      </a:r>
                    </a:p>
                  </a:txBody>
                  <a:tcPr marL="0" marR="0" marT="0" marB="0" anchor="ctr"/>
                </a:tc>
                <a:tc>
                  <a:txBody>
                    <a:bodyPr/>
                    <a:lstStyle/>
                    <a:p>
                      <a:pPr marL="59055" marR="0" algn="ctr">
                        <a:lnSpc>
                          <a:spcPct val="123000"/>
                        </a:lnSpc>
                        <a:spcBef>
                          <a:spcPts val="345"/>
                        </a:spcBef>
                        <a:spcAft>
                          <a:spcPts val="0"/>
                        </a:spcAft>
                      </a:pPr>
                      <a:r>
                        <a:rPr lang="en-US" sz="1200" dirty="0">
                          <a:solidFill>
                            <a:schemeClr val="bg1"/>
                          </a:solidFill>
                          <a:effectLst/>
                        </a:rPr>
                        <a:t>Capital Cost w/o BCD(INR</a:t>
                      </a:r>
                    </a:p>
                    <a:p>
                      <a:pPr marL="59055" marR="0" algn="ctr">
                        <a:lnSpc>
                          <a:spcPts val="1115"/>
                        </a:lnSpc>
                        <a:spcBef>
                          <a:spcPts val="0"/>
                        </a:spcBef>
                        <a:spcAft>
                          <a:spcPts val="0"/>
                        </a:spcAft>
                      </a:pPr>
                      <a:r>
                        <a:rPr lang="en-US" sz="1200" dirty="0">
                          <a:solidFill>
                            <a:schemeClr val="bg1"/>
                          </a:solidFill>
                          <a:effectLst/>
                        </a:rPr>
                        <a:t>Lakh/MW)</a:t>
                      </a:r>
                      <a:endParaRPr lang="en-US" sz="1200"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58420" marR="0" indent="16510" algn="ctr">
                        <a:lnSpc>
                          <a:spcPct val="123000"/>
                        </a:lnSpc>
                        <a:spcBef>
                          <a:spcPts val="345"/>
                        </a:spcBef>
                        <a:spcAft>
                          <a:spcPts val="0"/>
                        </a:spcAft>
                      </a:pPr>
                      <a:r>
                        <a:rPr lang="en-US" sz="1200" dirty="0">
                          <a:solidFill>
                            <a:schemeClr val="bg1"/>
                          </a:solidFill>
                          <a:effectLst/>
                        </a:rPr>
                        <a:t>Capital Cost (INR</a:t>
                      </a:r>
                    </a:p>
                    <a:p>
                      <a:pPr marL="58420" marR="0" indent="16510" algn="ctr">
                        <a:lnSpc>
                          <a:spcPct val="123000"/>
                        </a:lnSpc>
                        <a:spcBef>
                          <a:spcPts val="345"/>
                        </a:spcBef>
                        <a:spcAft>
                          <a:spcPts val="0"/>
                        </a:spcAft>
                      </a:pPr>
                      <a:r>
                        <a:rPr lang="en-US" sz="1200" dirty="0">
                          <a:solidFill>
                            <a:schemeClr val="bg1"/>
                          </a:solidFill>
                          <a:effectLst/>
                        </a:rPr>
                        <a:t>Lakh/MW) Including BCD @25%</a:t>
                      </a:r>
                      <a:endParaRPr lang="en-US" sz="1200"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287020" marR="278765" algn="ctr">
                        <a:lnSpc>
                          <a:spcPts val="1055"/>
                        </a:lnSpc>
                        <a:spcBef>
                          <a:spcPts val="245"/>
                        </a:spcBef>
                        <a:spcAft>
                          <a:spcPts val="0"/>
                        </a:spcAft>
                      </a:pPr>
                      <a:r>
                        <a:rPr lang="en-US" sz="1200" dirty="0">
                          <a:solidFill>
                            <a:schemeClr val="bg1"/>
                          </a:solidFill>
                          <a:effectLst/>
                        </a:rPr>
                        <a:t>Percentage of Capital Cost</a:t>
                      </a:r>
                      <a:endParaRPr lang="en-US" sz="1200" b="0"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extLst>
                  <a:ext uri="{0D108BD9-81ED-4DB2-BD59-A6C34878D82A}">
                    <a16:rowId xmlns:a16="http://schemas.microsoft.com/office/drawing/2014/main" val="2285942961"/>
                  </a:ext>
                </a:extLst>
              </a:tr>
              <a:tr h="177537">
                <a:tc>
                  <a:txBody>
                    <a:bodyPr/>
                    <a:lstStyle/>
                    <a:p>
                      <a:pPr marL="67945" marR="0">
                        <a:lnSpc>
                          <a:spcPts val="1055"/>
                        </a:lnSpc>
                        <a:spcBef>
                          <a:spcPts val="245"/>
                        </a:spcBef>
                        <a:spcAft>
                          <a:spcPts val="0"/>
                        </a:spcAft>
                      </a:pPr>
                      <a:r>
                        <a:rPr lang="en-US" sz="1200" b="0" dirty="0">
                          <a:solidFill>
                            <a:schemeClr val="bg1"/>
                          </a:solidFill>
                          <a:effectLst/>
                        </a:rPr>
                        <a:t>PV Modules</a:t>
                      </a:r>
                      <a:endParaRPr lang="en-US" sz="1200" b="0"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457200" marR="370205" lvl="1" algn="ctr">
                        <a:lnSpc>
                          <a:spcPts val="1055"/>
                        </a:lnSpc>
                        <a:spcBef>
                          <a:spcPts val="245"/>
                        </a:spcBef>
                        <a:spcAft>
                          <a:spcPts val="0"/>
                        </a:spcAft>
                      </a:pPr>
                      <a:r>
                        <a:rPr lang="en-US" sz="1200" dirty="0">
                          <a:solidFill>
                            <a:schemeClr val="tx1"/>
                          </a:solidFill>
                          <a:effectLst/>
                        </a:rPr>
                        <a:t>220</a:t>
                      </a:r>
                      <a:endParaRPr lang="en-US" sz="1200" dirty="0">
                        <a:solidFill>
                          <a:schemeClr val="tx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58420" marR="171450" indent="16510" algn="ctr">
                        <a:lnSpc>
                          <a:spcPts val="1055"/>
                        </a:lnSpc>
                        <a:spcBef>
                          <a:spcPts val="245"/>
                        </a:spcBef>
                        <a:spcAft>
                          <a:spcPts val="0"/>
                        </a:spcAft>
                        <a:tabLst>
                          <a:tab pos="1544320" algn="l"/>
                          <a:tab pos="1658620" algn="l"/>
                        </a:tabLst>
                      </a:pPr>
                      <a:r>
                        <a:rPr lang="en-US" sz="1200" dirty="0">
                          <a:solidFill>
                            <a:schemeClr val="tx1"/>
                          </a:solidFill>
                          <a:effectLst/>
                        </a:rPr>
                        <a:t>275</a:t>
                      </a:r>
                      <a:endParaRPr lang="en-US" sz="1200" dirty="0">
                        <a:solidFill>
                          <a:schemeClr val="tx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287020" marR="278765" algn="ctr">
                        <a:lnSpc>
                          <a:spcPts val="1055"/>
                        </a:lnSpc>
                        <a:spcBef>
                          <a:spcPts val="245"/>
                        </a:spcBef>
                        <a:spcAft>
                          <a:spcPts val="0"/>
                        </a:spcAft>
                      </a:pPr>
                      <a:r>
                        <a:rPr lang="en-US" sz="1200" b="0" dirty="0">
                          <a:solidFill>
                            <a:schemeClr val="bg1"/>
                          </a:solidFill>
                          <a:effectLst/>
                        </a:rPr>
                        <a:t>53.01%</a:t>
                      </a:r>
                      <a:endParaRPr lang="en-US" sz="1200" b="0"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extLst>
                  <a:ext uri="{0D108BD9-81ED-4DB2-BD59-A6C34878D82A}">
                    <a16:rowId xmlns:a16="http://schemas.microsoft.com/office/drawing/2014/main" val="1550051354"/>
                  </a:ext>
                </a:extLst>
              </a:tr>
              <a:tr h="177537">
                <a:tc>
                  <a:txBody>
                    <a:bodyPr/>
                    <a:lstStyle/>
                    <a:p>
                      <a:pPr marL="67945" marR="0">
                        <a:lnSpc>
                          <a:spcPts val="1055"/>
                        </a:lnSpc>
                        <a:spcBef>
                          <a:spcPts val="245"/>
                        </a:spcBef>
                        <a:spcAft>
                          <a:spcPts val="0"/>
                        </a:spcAft>
                      </a:pPr>
                      <a:r>
                        <a:rPr lang="en-US" sz="1200" b="0" dirty="0">
                          <a:solidFill>
                            <a:schemeClr val="bg1"/>
                          </a:solidFill>
                          <a:effectLst/>
                        </a:rPr>
                        <a:t>Land Cost</a:t>
                      </a:r>
                      <a:endParaRPr lang="en-US" sz="1200" b="0"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457200" marR="396875" lvl="1" algn="ctr">
                        <a:lnSpc>
                          <a:spcPts val="1055"/>
                        </a:lnSpc>
                        <a:spcBef>
                          <a:spcPts val="245"/>
                        </a:spcBef>
                        <a:spcAft>
                          <a:spcPts val="0"/>
                        </a:spcAft>
                      </a:pPr>
                      <a:r>
                        <a:rPr lang="en-US" sz="1200" cap="small" spc="-5" dirty="0">
                          <a:solidFill>
                            <a:schemeClr val="tx1"/>
                          </a:solidFill>
                          <a:effectLst/>
                        </a:rPr>
                        <a:t>2</a:t>
                      </a:r>
                      <a:r>
                        <a:rPr lang="en-US" sz="1200" spc="-5" dirty="0">
                          <a:solidFill>
                            <a:schemeClr val="tx1"/>
                          </a:solidFill>
                          <a:effectLst/>
                        </a:rPr>
                        <a:t>5</a:t>
                      </a:r>
                      <a:endParaRPr lang="en-US" sz="1200" dirty="0">
                        <a:solidFill>
                          <a:schemeClr val="tx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58420" marR="171450" indent="16510" algn="ctr">
                        <a:lnSpc>
                          <a:spcPts val="1055"/>
                        </a:lnSpc>
                        <a:spcBef>
                          <a:spcPts val="245"/>
                        </a:spcBef>
                        <a:spcAft>
                          <a:spcPts val="0"/>
                        </a:spcAft>
                        <a:tabLst>
                          <a:tab pos="1544320" algn="l"/>
                          <a:tab pos="1658620" algn="l"/>
                        </a:tabLst>
                      </a:pPr>
                      <a:r>
                        <a:rPr lang="en-US" sz="1200" cap="small" spc="-5" dirty="0">
                          <a:solidFill>
                            <a:schemeClr val="tx1"/>
                          </a:solidFill>
                          <a:effectLst/>
                        </a:rPr>
                        <a:t>2</a:t>
                      </a:r>
                      <a:r>
                        <a:rPr lang="en-US" sz="1200" spc="-5" dirty="0">
                          <a:solidFill>
                            <a:schemeClr val="tx1"/>
                          </a:solidFill>
                          <a:effectLst/>
                        </a:rPr>
                        <a:t>5.00</a:t>
                      </a:r>
                      <a:endParaRPr lang="en-US" sz="1200" dirty="0">
                        <a:solidFill>
                          <a:schemeClr val="tx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287020" marR="276860" algn="ctr">
                        <a:lnSpc>
                          <a:spcPts val="1055"/>
                        </a:lnSpc>
                        <a:spcBef>
                          <a:spcPts val="245"/>
                        </a:spcBef>
                        <a:spcAft>
                          <a:spcPts val="0"/>
                        </a:spcAft>
                      </a:pPr>
                      <a:r>
                        <a:rPr lang="en-US" sz="1200" b="0" dirty="0">
                          <a:solidFill>
                            <a:schemeClr val="bg1"/>
                          </a:solidFill>
                          <a:effectLst/>
                        </a:rPr>
                        <a:t>4</a:t>
                      </a:r>
                      <a:r>
                        <a:rPr lang="en-US" sz="1200" b="0" spc="-5" dirty="0">
                          <a:solidFill>
                            <a:schemeClr val="bg1"/>
                          </a:solidFill>
                          <a:effectLst/>
                        </a:rPr>
                        <a:t>.</a:t>
                      </a:r>
                      <a:r>
                        <a:rPr lang="en-US" sz="1200" b="0" cap="small" dirty="0">
                          <a:solidFill>
                            <a:schemeClr val="bg1"/>
                          </a:solidFill>
                          <a:effectLst/>
                        </a:rPr>
                        <a:t>1</a:t>
                      </a:r>
                      <a:r>
                        <a:rPr lang="en-US" sz="1200" b="0" dirty="0">
                          <a:solidFill>
                            <a:schemeClr val="bg1"/>
                          </a:solidFill>
                          <a:effectLst/>
                        </a:rPr>
                        <a:t>3%</a:t>
                      </a:r>
                      <a:endParaRPr lang="en-US" sz="1200" b="0"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extLst>
                  <a:ext uri="{0D108BD9-81ED-4DB2-BD59-A6C34878D82A}">
                    <a16:rowId xmlns:a16="http://schemas.microsoft.com/office/drawing/2014/main" val="807339371"/>
                  </a:ext>
                </a:extLst>
              </a:tr>
              <a:tr h="343276">
                <a:tc>
                  <a:txBody>
                    <a:bodyPr/>
                    <a:lstStyle/>
                    <a:p>
                      <a:pPr marL="67945" marR="0">
                        <a:lnSpc>
                          <a:spcPts val="1055"/>
                        </a:lnSpc>
                        <a:spcBef>
                          <a:spcPts val="245"/>
                        </a:spcBef>
                        <a:spcAft>
                          <a:spcPts val="0"/>
                        </a:spcAft>
                      </a:pPr>
                      <a:r>
                        <a:rPr lang="en-US" sz="1200" b="0" dirty="0">
                          <a:solidFill>
                            <a:schemeClr val="bg1"/>
                          </a:solidFill>
                          <a:effectLst/>
                        </a:rPr>
                        <a:t>Civil and General Works</a:t>
                      </a:r>
                      <a:endParaRPr lang="en-US" sz="1200" b="0"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457200" marR="392430" lvl="1" algn="ctr">
                        <a:lnSpc>
                          <a:spcPts val="1055"/>
                        </a:lnSpc>
                        <a:spcBef>
                          <a:spcPts val="245"/>
                        </a:spcBef>
                        <a:spcAft>
                          <a:spcPts val="0"/>
                        </a:spcAft>
                      </a:pPr>
                      <a:r>
                        <a:rPr lang="en-US" sz="1200" dirty="0">
                          <a:solidFill>
                            <a:schemeClr val="tx1"/>
                          </a:solidFill>
                          <a:effectLst/>
                        </a:rPr>
                        <a:t>50</a:t>
                      </a:r>
                      <a:endParaRPr lang="en-US" sz="1200" dirty="0">
                        <a:solidFill>
                          <a:schemeClr val="tx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58420" marR="0" indent="16510" algn="ctr">
                        <a:lnSpc>
                          <a:spcPts val="1055"/>
                        </a:lnSpc>
                        <a:spcBef>
                          <a:spcPts val="245"/>
                        </a:spcBef>
                        <a:spcAft>
                          <a:spcPts val="0"/>
                        </a:spcAft>
                      </a:pPr>
                      <a:r>
                        <a:rPr lang="en-US" sz="1200" dirty="0">
                          <a:solidFill>
                            <a:schemeClr val="tx1"/>
                          </a:solidFill>
                          <a:effectLst/>
                        </a:rPr>
                        <a:t>50.00</a:t>
                      </a:r>
                      <a:endParaRPr lang="en-US" sz="1200" dirty="0">
                        <a:solidFill>
                          <a:schemeClr val="tx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287020" marR="278765" algn="ctr">
                        <a:lnSpc>
                          <a:spcPts val="1055"/>
                        </a:lnSpc>
                        <a:spcBef>
                          <a:spcPts val="245"/>
                        </a:spcBef>
                        <a:spcAft>
                          <a:spcPts val="0"/>
                        </a:spcAft>
                      </a:pPr>
                      <a:r>
                        <a:rPr lang="en-US" sz="1200" b="0" spc="-10" dirty="0">
                          <a:solidFill>
                            <a:schemeClr val="bg1"/>
                          </a:solidFill>
                          <a:effectLst/>
                        </a:rPr>
                        <a:t>8</a:t>
                      </a:r>
                      <a:r>
                        <a:rPr lang="en-US" sz="1200" b="0" spc="5" dirty="0">
                          <a:solidFill>
                            <a:schemeClr val="bg1"/>
                          </a:solidFill>
                          <a:effectLst/>
                        </a:rPr>
                        <a:t>.</a:t>
                      </a:r>
                      <a:r>
                        <a:rPr lang="en-US" sz="1200" b="0" cap="small" spc="-5" dirty="0">
                          <a:solidFill>
                            <a:schemeClr val="bg1"/>
                          </a:solidFill>
                          <a:effectLst/>
                        </a:rPr>
                        <a:t>2</a:t>
                      </a:r>
                      <a:r>
                        <a:rPr lang="en-US" sz="1200" b="0" spc="-5" dirty="0">
                          <a:solidFill>
                            <a:schemeClr val="bg1"/>
                          </a:solidFill>
                          <a:effectLst/>
                        </a:rPr>
                        <a:t>5%</a:t>
                      </a:r>
                      <a:endParaRPr lang="en-US" sz="1200" b="0"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extLst>
                  <a:ext uri="{0D108BD9-81ED-4DB2-BD59-A6C34878D82A}">
                    <a16:rowId xmlns:a16="http://schemas.microsoft.com/office/drawing/2014/main" val="2101838894"/>
                  </a:ext>
                </a:extLst>
              </a:tr>
              <a:tr h="190943">
                <a:tc>
                  <a:txBody>
                    <a:bodyPr/>
                    <a:lstStyle/>
                    <a:p>
                      <a:pPr marL="67945" marR="0">
                        <a:lnSpc>
                          <a:spcPts val="1055"/>
                        </a:lnSpc>
                        <a:spcBef>
                          <a:spcPts val="245"/>
                        </a:spcBef>
                        <a:spcAft>
                          <a:spcPts val="0"/>
                        </a:spcAft>
                      </a:pPr>
                      <a:r>
                        <a:rPr lang="en-US" sz="1200" b="0" dirty="0">
                          <a:solidFill>
                            <a:schemeClr val="bg1"/>
                          </a:solidFill>
                          <a:effectLst/>
                        </a:rPr>
                        <a:t>Mounting Structures</a:t>
                      </a:r>
                      <a:endParaRPr lang="en-US" sz="1200" b="0"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457200" marR="392430" lvl="1" algn="ctr">
                        <a:lnSpc>
                          <a:spcPts val="1055"/>
                        </a:lnSpc>
                        <a:spcBef>
                          <a:spcPts val="245"/>
                        </a:spcBef>
                        <a:spcAft>
                          <a:spcPts val="0"/>
                        </a:spcAft>
                      </a:pPr>
                      <a:r>
                        <a:rPr lang="en-US" sz="1200" dirty="0">
                          <a:solidFill>
                            <a:schemeClr val="tx1"/>
                          </a:solidFill>
                          <a:effectLst/>
                        </a:rPr>
                        <a:t>50</a:t>
                      </a:r>
                      <a:endParaRPr lang="en-US" sz="1200" dirty="0">
                        <a:solidFill>
                          <a:schemeClr val="tx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58420" marR="0" indent="16510" algn="ctr">
                        <a:lnSpc>
                          <a:spcPts val="1055"/>
                        </a:lnSpc>
                        <a:spcBef>
                          <a:spcPts val="245"/>
                        </a:spcBef>
                        <a:spcAft>
                          <a:spcPts val="0"/>
                        </a:spcAft>
                      </a:pPr>
                      <a:r>
                        <a:rPr lang="en-US" sz="1200" dirty="0">
                          <a:solidFill>
                            <a:schemeClr val="tx1"/>
                          </a:solidFill>
                          <a:effectLst/>
                        </a:rPr>
                        <a:t>50.00</a:t>
                      </a:r>
                      <a:endParaRPr lang="en-US" sz="1200" dirty="0">
                        <a:solidFill>
                          <a:schemeClr val="tx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287020" marR="278765" algn="ctr">
                        <a:lnSpc>
                          <a:spcPts val="1055"/>
                        </a:lnSpc>
                        <a:spcBef>
                          <a:spcPts val="245"/>
                        </a:spcBef>
                        <a:spcAft>
                          <a:spcPts val="0"/>
                        </a:spcAft>
                      </a:pPr>
                      <a:r>
                        <a:rPr lang="en-US" sz="1200" b="0" spc="-10" dirty="0">
                          <a:solidFill>
                            <a:schemeClr val="bg1"/>
                          </a:solidFill>
                          <a:effectLst/>
                        </a:rPr>
                        <a:t>8</a:t>
                      </a:r>
                      <a:r>
                        <a:rPr lang="en-US" sz="1200" b="0" spc="5" dirty="0">
                          <a:solidFill>
                            <a:schemeClr val="bg1"/>
                          </a:solidFill>
                          <a:effectLst/>
                        </a:rPr>
                        <a:t>.</a:t>
                      </a:r>
                      <a:r>
                        <a:rPr lang="en-US" sz="1200" b="0" cap="small" spc="-5" dirty="0">
                          <a:solidFill>
                            <a:schemeClr val="bg1"/>
                          </a:solidFill>
                          <a:effectLst/>
                        </a:rPr>
                        <a:t>2</a:t>
                      </a:r>
                      <a:r>
                        <a:rPr lang="en-US" sz="1200" b="0" spc="-5" dirty="0">
                          <a:solidFill>
                            <a:schemeClr val="bg1"/>
                          </a:solidFill>
                          <a:effectLst/>
                        </a:rPr>
                        <a:t>5%</a:t>
                      </a:r>
                      <a:endParaRPr lang="en-US" sz="1200" b="0"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extLst>
                  <a:ext uri="{0D108BD9-81ED-4DB2-BD59-A6C34878D82A}">
                    <a16:rowId xmlns:a16="http://schemas.microsoft.com/office/drawing/2014/main" val="3449139232"/>
                  </a:ext>
                </a:extLst>
              </a:tr>
              <a:tr h="343276">
                <a:tc>
                  <a:txBody>
                    <a:bodyPr/>
                    <a:lstStyle/>
                    <a:p>
                      <a:pPr marL="67945" marR="0">
                        <a:lnSpc>
                          <a:spcPts val="1055"/>
                        </a:lnSpc>
                        <a:spcBef>
                          <a:spcPts val="245"/>
                        </a:spcBef>
                        <a:spcAft>
                          <a:spcPts val="0"/>
                        </a:spcAft>
                      </a:pPr>
                      <a:r>
                        <a:rPr lang="en-US" sz="1200" b="0" dirty="0">
                          <a:solidFill>
                            <a:schemeClr val="bg1"/>
                          </a:solidFill>
                          <a:effectLst/>
                        </a:rPr>
                        <a:t>Power Conditioning Unit</a:t>
                      </a:r>
                      <a:endParaRPr lang="en-US" sz="1200" b="0"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457200" marR="395605" lvl="1" algn="ctr">
                        <a:lnSpc>
                          <a:spcPts val="1055"/>
                        </a:lnSpc>
                        <a:spcBef>
                          <a:spcPts val="245"/>
                        </a:spcBef>
                        <a:spcAft>
                          <a:spcPts val="0"/>
                        </a:spcAft>
                      </a:pPr>
                      <a:r>
                        <a:rPr lang="en-US" sz="1200" dirty="0">
                          <a:solidFill>
                            <a:schemeClr val="tx1"/>
                          </a:solidFill>
                          <a:effectLst/>
                        </a:rPr>
                        <a:t>45</a:t>
                      </a:r>
                      <a:endParaRPr lang="en-US" sz="1200" dirty="0">
                        <a:solidFill>
                          <a:schemeClr val="tx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58420" marR="0" indent="16510" algn="ctr">
                        <a:lnSpc>
                          <a:spcPts val="1055"/>
                        </a:lnSpc>
                        <a:spcBef>
                          <a:spcPts val="245"/>
                        </a:spcBef>
                        <a:spcAft>
                          <a:spcPts val="0"/>
                        </a:spcAft>
                      </a:pPr>
                      <a:r>
                        <a:rPr lang="en-US" sz="1200" dirty="0">
                          <a:solidFill>
                            <a:schemeClr val="tx1"/>
                          </a:solidFill>
                          <a:effectLst/>
                        </a:rPr>
                        <a:t>45</a:t>
                      </a:r>
                      <a:endParaRPr lang="en-US" sz="1200" dirty="0">
                        <a:solidFill>
                          <a:schemeClr val="tx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285750" marR="278765" algn="ctr">
                        <a:lnSpc>
                          <a:spcPts val="1055"/>
                        </a:lnSpc>
                        <a:spcBef>
                          <a:spcPts val="245"/>
                        </a:spcBef>
                        <a:spcAft>
                          <a:spcPts val="0"/>
                        </a:spcAft>
                      </a:pPr>
                      <a:r>
                        <a:rPr lang="en-US" sz="1200" b="0" dirty="0">
                          <a:solidFill>
                            <a:schemeClr val="bg1"/>
                          </a:solidFill>
                          <a:effectLst/>
                        </a:rPr>
                        <a:t>7.43%</a:t>
                      </a:r>
                      <a:endParaRPr lang="en-US" sz="1200" b="0"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extLst>
                  <a:ext uri="{0D108BD9-81ED-4DB2-BD59-A6C34878D82A}">
                    <a16:rowId xmlns:a16="http://schemas.microsoft.com/office/drawing/2014/main" val="4293303715"/>
                  </a:ext>
                </a:extLst>
              </a:tr>
              <a:tr h="710146">
                <a:tc>
                  <a:txBody>
                    <a:bodyPr/>
                    <a:lstStyle/>
                    <a:p>
                      <a:pPr marL="67945" marR="0">
                        <a:lnSpc>
                          <a:spcPts val="1140"/>
                        </a:lnSpc>
                        <a:spcBef>
                          <a:spcPts val="20"/>
                        </a:spcBef>
                        <a:spcAft>
                          <a:spcPts val="0"/>
                        </a:spcAft>
                      </a:pPr>
                      <a:r>
                        <a:rPr lang="en-US" sz="1200" b="0" dirty="0">
                          <a:solidFill>
                            <a:schemeClr val="bg1"/>
                          </a:solidFill>
                          <a:effectLst/>
                        </a:rPr>
                        <a:t>Evacuation Cost up to</a:t>
                      </a:r>
                      <a:r>
                        <a:rPr lang="en-US" sz="1200" b="0" spc="-90" dirty="0">
                          <a:solidFill>
                            <a:schemeClr val="bg1"/>
                          </a:solidFill>
                          <a:effectLst/>
                        </a:rPr>
                        <a:t> </a:t>
                      </a:r>
                      <a:r>
                        <a:rPr lang="en-US" sz="1200" b="0" dirty="0">
                          <a:solidFill>
                            <a:schemeClr val="bg1"/>
                          </a:solidFill>
                          <a:effectLst/>
                        </a:rPr>
                        <a:t>Inter‐ connection Point (Cables and Transformers)</a:t>
                      </a:r>
                      <a:endParaRPr lang="en-US" sz="1200" b="0"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457200" marR="398780" lvl="1" algn="ctr">
                        <a:lnSpc>
                          <a:spcPts val="1115"/>
                        </a:lnSpc>
                        <a:spcBef>
                          <a:spcPts val="0"/>
                        </a:spcBef>
                        <a:spcAft>
                          <a:spcPts val="0"/>
                        </a:spcAft>
                      </a:pPr>
                      <a:r>
                        <a:rPr lang="en-US" sz="1200" dirty="0">
                          <a:solidFill>
                            <a:schemeClr val="tx1"/>
                          </a:solidFill>
                          <a:effectLst/>
                        </a:rPr>
                        <a:t>55</a:t>
                      </a:r>
                      <a:endParaRPr lang="en-US" sz="1200" dirty="0">
                        <a:solidFill>
                          <a:schemeClr val="tx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58420" marR="0" indent="16510" algn="ctr">
                        <a:lnSpc>
                          <a:spcPts val="1115"/>
                        </a:lnSpc>
                        <a:spcBef>
                          <a:spcPts val="0"/>
                        </a:spcBef>
                        <a:spcAft>
                          <a:spcPts val="0"/>
                        </a:spcAft>
                      </a:pPr>
                      <a:r>
                        <a:rPr lang="en-US" sz="1200" dirty="0">
                          <a:solidFill>
                            <a:schemeClr val="tx1"/>
                          </a:solidFill>
                          <a:effectLst/>
                        </a:rPr>
                        <a:t>55</a:t>
                      </a:r>
                      <a:endParaRPr lang="en-US" sz="1200" dirty="0">
                        <a:solidFill>
                          <a:schemeClr val="tx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287020" marR="278130" algn="ctr">
                        <a:lnSpc>
                          <a:spcPts val="1115"/>
                        </a:lnSpc>
                        <a:spcBef>
                          <a:spcPts val="0"/>
                        </a:spcBef>
                        <a:spcAft>
                          <a:spcPts val="0"/>
                        </a:spcAft>
                      </a:pPr>
                      <a:r>
                        <a:rPr lang="en-US" sz="1200" b="0" dirty="0">
                          <a:solidFill>
                            <a:schemeClr val="bg1"/>
                          </a:solidFill>
                          <a:effectLst/>
                        </a:rPr>
                        <a:t>9.08%</a:t>
                      </a:r>
                      <a:endParaRPr lang="en-US" sz="1200" b="0"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extLst>
                  <a:ext uri="{0D108BD9-81ED-4DB2-BD59-A6C34878D82A}">
                    <a16:rowId xmlns:a16="http://schemas.microsoft.com/office/drawing/2014/main" val="2358176323"/>
                  </a:ext>
                </a:extLst>
              </a:tr>
              <a:tr h="926300">
                <a:tc>
                  <a:txBody>
                    <a:bodyPr/>
                    <a:lstStyle/>
                    <a:p>
                      <a:pPr marL="67945" marR="0">
                        <a:lnSpc>
                          <a:spcPct val="122000"/>
                        </a:lnSpc>
                        <a:spcBef>
                          <a:spcPts val="235"/>
                        </a:spcBef>
                        <a:spcAft>
                          <a:spcPts val="0"/>
                        </a:spcAft>
                      </a:pPr>
                      <a:r>
                        <a:rPr lang="en-US" sz="1200" b="0" dirty="0">
                          <a:solidFill>
                            <a:schemeClr val="bg1"/>
                          </a:solidFill>
                          <a:effectLst/>
                        </a:rPr>
                        <a:t>Preliminary and Pre‐ Operative Expenses including IDC and Contingency</a:t>
                      </a:r>
                      <a:endParaRPr lang="en-US" sz="1200" b="0"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457200" marR="397510" lvl="1" algn="ctr">
                        <a:lnSpc>
                          <a:spcPts val="1115"/>
                        </a:lnSpc>
                        <a:spcBef>
                          <a:spcPts val="260"/>
                        </a:spcBef>
                        <a:spcAft>
                          <a:spcPts val="0"/>
                        </a:spcAft>
                      </a:pPr>
                      <a:r>
                        <a:rPr lang="en-US" sz="1200" dirty="0">
                          <a:solidFill>
                            <a:schemeClr val="tx1"/>
                          </a:solidFill>
                          <a:effectLst/>
                        </a:rPr>
                        <a:t>48</a:t>
                      </a:r>
                      <a:endParaRPr lang="en-US" sz="1200" dirty="0">
                        <a:solidFill>
                          <a:schemeClr val="tx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58420" marR="0" indent="16510" algn="ctr">
                        <a:lnSpc>
                          <a:spcPts val="1115"/>
                        </a:lnSpc>
                        <a:spcBef>
                          <a:spcPts val="260"/>
                        </a:spcBef>
                        <a:spcAft>
                          <a:spcPts val="0"/>
                        </a:spcAft>
                      </a:pPr>
                      <a:r>
                        <a:rPr lang="en-US" sz="1200" dirty="0">
                          <a:solidFill>
                            <a:schemeClr val="tx1"/>
                          </a:solidFill>
                          <a:effectLst/>
                        </a:rPr>
                        <a:t>48</a:t>
                      </a:r>
                      <a:endParaRPr lang="en-US" sz="1200" dirty="0">
                        <a:solidFill>
                          <a:schemeClr val="tx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287020" marR="278130" algn="ctr">
                        <a:lnSpc>
                          <a:spcPts val="1115"/>
                        </a:lnSpc>
                        <a:spcBef>
                          <a:spcPts val="260"/>
                        </a:spcBef>
                        <a:spcAft>
                          <a:spcPts val="0"/>
                        </a:spcAft>
                      </a:pPr>
                      <a:r>
                        <a:rPr lang="en-US" sz="1200" b="0" spc="-10" dirty="0">
                          <a:solidFill>
                            <a:schemeClr val="bg1"/>
                          </a:solidFill>
                          <a:effectLst/>
                        </a:rPr>
                        <a:t>8</a:t>
                      </a:r>
                      <a:r>
                        <a:rPr lang="en-US" sz="1200" b="0" spc="-5" dirty="0">
                          <a:solidFill>
                            <a:schemeClr val="bg1"/>
                          </a:solidFill>
                          <a:effectLst/>
                        </a:rPr>
                        <a:t>.</a:t>
                      </a:r>
                      <a:r>
                        <a:rPr lang="en-US" sz="1200" b="0" cap="small" dirty="0">
                          <a:solidFill>
                            <a:schemeClr val="bg1"/>
                          </a:solidFill>
                          <a:effectLst/>
                        </a:rPr>
                        <a:t>01</a:t>
                      </a:r>
                      <a:r>
                        <a:rPr lang="en-US" sz="1200" b="0" dirty="0">
                          <a:solidFill>
                            <a:schemeClr val="bg1"/>
                          </a:solidFill>
                          <a:effectLst/>
                        </a:rPr>
                        <a:t>%</a:t>
                      </a:r>
                      <a:endParaRPr lang="en-US" sz="1200" b="0"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extLst>
                  <a:ext uri="{0D108BD9-81ED-4DB2-BD59-A6C34878D82A}">
                    <a16:rowId xmlns:a16="http://schemas.microsoft.com/office/drawing/2014/main" val="3872810624"/>
                  </a:ext>
                </a:extLst>
              </a:tr>
              <a:tr h="171638">
                <a:tc>
                  <a:txBody>
                    <a:bodyPr/>
                    <a:lstStyle/>
                    <a:p>
                      <a:pPr marL="67945" marR="0">
                        <a:lnSpc>
                          <a:spcPts val="1055"/>
                        </a:lnSpc>
                        <a:spcBef>
                          <a:spcPts val="255"/>
                        </a:spcBef>
                        <a:spcAft>
                          <a:spcPts val="0"/>
                        </a:spcAft>
                      </a:pPr>
                      <a:r>
                        <a:rPr lang="en-US" sz="1200" b="0" dirty="0">
                          <a:solidFill>
                            <a:schemeClr val="bg1"/>
                          </a:solidFill>
                          <a:effectLst/>
                        </a:rPr>
                        <a:t>Total Capital Cost</a:t>
                      </a:r>
                      <a:endParaRPr lang="en-US" sz="1200" b="0"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457200" marR="334645" lvl="1" algn="ctr">
                        <a:lnSpc>
                          <a:spcPts val="1055"/>
                        </a:lnSpc>
                        <a:spcBef>
                          <a:spcPts val="255"/>
                        </a:spcBef>
                        <a:spcAft>
                          <a:spcPts val="0"/>
                        </a:spcAft>
                      </a:pPr>
                      <a:r>
                        <a:rPr lang="en-US" sz="1200" b="1" dirty="0">
                          <a:solidFill>
                            <a:schemeClr val="tx1"/>
                          </a:solidFill>
                          <a:effectLst/>
                        </a:rPr>
                        <a:t>463</a:t>
                      </a:r>
                      <a:endParaRPr lang="en-US" sz="1200" b="1" dirty="0">
                        <a:solidFill>
                          <a:schemeClr val="tx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58420" marR="0" indent="16510" algn="ctr">
                        <a:lnSpc>
                          <a:spcPts val="1055"/>
                        </a:lnSpc>
                        <a:spcBef>
                          <a:spcPts val="255"/>
                        </a:spcBef>
                        <a:spcAft>
                          <a:spcPts val="0"/>
                        </a:spcAft>
                      </a:pPr>
                      <a:r>
                        <a:rPr lang="en-US" sz="1200" b="1" dirty="0">
                          <a:solidFill>
                            <a:schemeClr val="tx1"/>
                          </a:solidFill>
                          <a:effectLst/>
                        </a:rPr>
                        <a:t>548</a:t>
                      </a:r>
                      <a:endParaRPr lang="en-US" sz="1200" b="1" dirty="0">
                        <a:solidFill>
                          <a:schemeClr val="tx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a:txBody>
                    <a:bodyPr/>
                    <a:lstStyle/>
                    <a:p>
                      <a:pPr marL="255905" marR="278765" algn="ctr">
                        <a:lnSpc>
                          <a:spcPts val="1055"/>
                        </a:lnSpc>
                        <a:spcBef>
                          <a:spcPts val="255"/>
                        </a:spcBef>
                        <a:spcAft>
                          <a:spcPts val="0"/>
                        </a:spcAft>
                      </a:pPr>
                      <a:r>
                        <a:rPr lang="en-US" sz="1200" b="1" dirty="0">
                          <a:solidFill>
                            <a:schemeClr val="bg1"/>
                          </a:solidFill>
                          <a:effectLst/>
                        </a:rPr>
                        <a:t>100%</a:t>
                      </a:r>
                      <a:endParaRPr lang="en-US" sz="1200" b="1"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extLst>
                  <a:ext uri="{0D108BD9-81ED-4DB2-BD59-A6C34878D82A}">
                    <a16:rowId xmlns:a16="http://schemas.microsoft.com/office/drawing/2014/main" val="1114877438"/>
                  </a:ext>
                </a:extLst>
              </a:tr>
              <a:tr h="733363">
                <a:tc>
                  <a:txBody>
                    <a:bodyPr/>
                    <a:lstStyle/>
                    <a:p>
                      <a:pPr marL="67945" marR="0">
                        <a:lnSpc>
                          <a:spcPts val="1055"/>
                        </a:lnSpc>
                        <a:spcBef>
                          <a:spcPts val="255"/>
                        </a:spcBef>
                        <a:spcAft>
                          <a:spcPts val="0"/>
                        </a:spcAft>
                      </a:pPr>
                      <a:r>
                        <a:rPr lang="en-US" sz="1200" b="0" dirty="0">
                          <a:solidFill>
                            <a:schemeClr val="bg1"/>
                          </a:solidFill>
                          <a:effectLst/>
                        </a:rPr>
                        <a:t>EPC Cost for 1200 MW Project  with 5 years O&amp;M</a:t>
                      </a:r>
                      <a:endParaRPr lang="en-US" sz="1200" b="0"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gridSpan="3">
                  <a:txBody>
                    <a:bodyPr/>
                    <a:lstStyle/>
                    <a:p>
                      <a:pPr marL="255905" marR="278765" algn="ctr">
                        <a:lnSpc>
                          <a:spcPts val="1055"/>
                        </a:lnSpc>
                        <a:spcBef>
                          <a:spcPts val="255"/>
                        </a:spcBef>
                        <a:spcAft>
                          <a:spcPts val="0"/>
                        </a:spcAft>
                      </a:pPr>
                      <a:r>
                        <a:rPr lang="en-US" sz="1200" dirty="0">
                          <a:solidFill>
                            <a:schemeClr val="bg1"/>
                          </a:solidFill>
                          <a:effectLst/>
                        </a:rPr>
                        <a:t>6576 Cr</a:t>
                      </a:r>
                      <a:endParaRPr lang="en-US" sz="1200" dirty="0">
                        <a:solidFill>
                          <a:schemeClr val="bg1"/>
                        </a:solidFill>
                        <a:effectLst/>
                        <a:latin typeface="Verdana" panose="020B0604030504040204" pitchFamily="34" charset="0"/>
                        <a:ea typeface="Verdana" panose="020B0604030504040204" pitchFamily="34" charset="0"/>
                        <a:cs typeface="Georgia" panose="02040502050405020303" pitchFamily="18" charset="0"/>
                      </a:endParaRP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28384057"/>
                  </a:ext>
                </a:extLst>
              </a:tr>
            </a:tbl>
          </a:graphicData>
        </a:graphic>
      </p:graphicFrame>
      <p:graphicFrame>
        <p:nvGraphicFramePr>
          <p:cNvPr id="9" name="Table 4">
            <a:extLst>
              <a:ext uri="{FF2B5EF4-FFF2-40B4-BE49-F238E27FC236}">
                <a16:creationId xmlns:a16="http://schemas.microsoft.com/office/drawing/2014/main" id="{8075E5E1-7A7F-4D1A-8EE6-6A3CC72F0CC7}"/>
              </a:ext>
            </a:extLst>
          </p:cNvPr>
          <p:cNvGraphicFramePr>
            <a:graphicFrameLocks noGrp="1"/>
          </p:cNvGraphicFramePr>
          <p:nvPr>
            <p:ph idx="1"/>
          </p:nvPr>
        </p:nvGraphicFramePr>
        <p:xfrm>
          <a:off x="197518" y="931403"/>
          <a:ext cx="5219436" cy="5312991"/>
        </p:xfrm>
        <a:graphic>
          <a:graphicData uri="http://schemas.openxmlformats.org/drawingml/2006/table">
            <a:tbl>
              <a:tblPr firstRow="1" bandRow="1">
                <a:tableStyleId>{5C22544A-7EE6-4342-B048-85BDC9FD1C3A}</a:tableStyleId>
              </a:tblPr>
              <a:tblGrid>
                <a:gridCol w="4034753">
                  <a:extLst>
                    <a:ext uri="{9D8B030D-6E8A-4147-A177-3AD203B41FA5}">
                      <a16:colId xmlns:a16="http://schemas.microsoft.com/office/drawing/2014/main" val="4084057511"/>
                    </a:ext>
                  </a:extLst>
                </a:gridCol>
                <a:gridCol w="1184683">
                  <a:extLst>
                    <a:ext uri="{9D8B030D-6E8A-4147-A177-3AD203B41FA5}">
                      <a16:colId xmlns:a16="http://schemas.microsoft.com/office/drawing/2014/main" val="3920864236"/>
                    </a:ext>
                  </a:extLst>
                </a:gridCol>
              </a:tblGrid>
              <a:tr h="467937">
                <a:tc>
                  <a:txBody>
                    <a:bodyPr/>
                    <a:lstStyle/>
                    <a:p>
                      <a:pPr algn="ctr"/>
                      <a:r>
                        <a:rPr lang="en-US" sz="1200" dirty="0">
                          <a:latin typeface="Verdana" panose="020B0604030504040204" pitchFamily="34" charset="0"/>
                          <a:ea typeface="Verdana" panose="020B0604030504040204" pitchFamily="34" charset="0"/>
                        </a:rPr>
                        <a:t>Particulars</a:t>
                      </a:r>
                    </a:p>
                  </a:txBody>
                  <a:tcPr anchor="ctr">
                    <a:solidFill>
                      <a:schemeClr val="tx1">
                        <a:lumMod val="65000"/>
                        <a:lumOff val="35000"/>
                      </a:schemeClr>
                    </a:solidFill>
                  </a:tcPr>
                </a:tc>
                <a:tc>
                  <a:txBody>
                    <a:bodyPr/>
                    <a:lstStyle/>
                    <a:p>
                      <a:pPr algn="ctr"/>
                      <a:r>
                        <a:rPr lang="en-US" sz="1200" dirty="0">
                          <a:latin typeface="Verdana" panose="020B0604030504040204" pitchFamily="34" charset="0"/>
                          <a:ea typeface="Verdana" panose="020B0604030504040204" pitchFamily="34" charset="0"/>
                        </a:rPr>
                        <a:t>Cost </a:t>
                      </a:r>
                    </a:p>
                    <a:p>
                      <a:pPr algn="ctr"/>
                      <a:r>
                        <a:rPr lang="en-US" sz="1200" dirty="0">
                          <a:latin typeface="Verdana" panose="020B0604030504040204" pitchFamily="34" charset="0"/>
                          <a:ea typeface="Verdana" panose="020B0604030504040204" pitchFamily="34" charset="0"/>
                        </a:rPr>
                        <a:t>(INR crore)</a:t>
                      </a:r>
                    </a:p>
                  </a:txBody>
                  <a:tcPr>
                    <a:solidFill>
                      <a:schemeClr val="tx1">
                        <a:lumMod val="65000"/>
                        <a:lumOff val="35000"/>
                      </a:schemeClr>
                    </a:solidFill>
                  </a:tcPr>
                </a:tc>
                <a:extLst>
                  <a:ext uri="{0D108BD9-81ED-4DB2-BD59-A6C34878D82A}">
                    <a16:rowId xmlns:a16="http://schemas.microsoft.com/office/drawing/2014/main" val="2228895584"/>
                  </a:ext>
                </a:extLst>
              </a:tr>
              <a:tr h="280761">
                <a:tc>
                  <a:txBody>
                    <a:bodyPr/>
                    <a:lstStyle/>
                    <a:p>
                      <a:r>
                        <a:rPr lang="en-US" sz="1200" dirty="0">
                          <a:latin typeface="Verdana" panose="020B0604030504040204" pitchFamily="34" charset="0"/>
                          <a:ea typeface="Verdana" panose="020B0604030504040204" pitchFamily="34" charset="0"/>
                        </a:rPr>
                        <a:t>Land cost</a:t>
                      </a:r>
                    </a:p>
                  </a:txBody>
                  <a:tcPr>
                    <a:noFill/>
                  </a:tcPr>
                </a:tc>
                <a:tc>
                  <a:txBody>
                    <a:bodyPr/>
                    <a:lstStyle/>
                    <a:p>
                      <a:pPr algn="ctr"/>
                      <a:r>
                        <a:rPr lang="en-US" sz="1200" dirty="0">
                          <a:latin typeface="Verdana" panose="020B0604030504040204" pitchFamily="34" charset="0"/>
                          <a:ea typeface="Verdana" panose="020B0604030504040204" pitchFamily="34" charset="0"/>
                        </a:rPr>
                        <a:t>0</a:t>
                      </a:r>
                    </a:p>
                  </a:txBody>
                  <a:tcPr>
                    <a:noFill/>
                  </a:tcPr>
                </a:tc>
                <a:extLst>
                  <a:ext uri="{0D108BD9-81ED-4DB2-BD59-A6C34878D82A}">
                    <a16:rowId xmlns:a16="http://schemas.microsoft.com/office/drawing/2014/main" val="4064103883"/>
                  </a:ext>
                </a:extLst>
              </a:tr>
              <a:tr h="280761">
                <a:tc>
                  <a:txBody>
                    <a:bodyPr/>
                    <a:lstStyle/>
                    <a:p>
                      <a:r>
                        <a:rPr lang="en-US" sz="1200" dirty="0">
                          <a:latin typeface="Verdana" panose="020B0604030504040204" pitchFamily="34" charset="0"/>
                          <a:ea typeface="Verdana" panose="020B0604030504040204" pitchFamily="34" charset="0"/>
                        </a:rPr>
                        <a:t>Site Development</a:t>
                      </a:r>
                    </a:p>
                  </a:txBody>
                  <a:tcPr>
                    <a:noFill/>
                  </a:tcPr>
                </a:tc>
                <a:tc>
                  <a:txBody>
                    <a:bodyPr/>
                    <a:lstStyle/>
                    <a:p>
                      <a:pPr algn="ctr"/>
                      <a:r>
                        <a:rPr lang="en-US" sz="1200" dirty="0">
                          <a:latin typeface="Verdana" panose="020B0604030504040204" pitchFamily="34" charset="0"/>
                          <a:ea typeface="Verdana" panose="020B0604030504040204" pitchFamily="34" charset="0"/>
                        </a:rPr>
                        <a:t>300</a:t>
                      </a:r>
                    </a:p>
                  </a:txBody>
                  <a:tcPr>
                    <a:noFill/>
                  </a:tcPr>
                </a:tc>
                <a:extLst>
                  <a:ext uri="{0D108BD9-81ED-4DB2-BD59-A6C34878D82A}">
                    <a16:rowId xmlns:a16="http://schemas.microsoft.com/office/drawing/2014/main" val="4103113279"/>
                  </a:ext>
                </a:extLst>
              </a:tr>
              <a:tr h="280761">
                <a:tc>
                  <a:txBody>
                    <a:bodyPr/>
                    <a:lstStyle/>
                    <a:p>
                      <a:r>
                        <a:rPr lang="en-US" sz="1200" dirty="0">
                          <a:latin typeface="Verdana" panose="020B0604030504040204" pitchFamily="34" charset="0"/>
                          <a:ea typeface="Verdana" panose="020B0604030504040204" pitchFamily="34" charset="0"/>
                        </a:rPr>
                        <a:t>Roads and drainage system</a:t>
                      </a:r>
                    </a:p>
                  </a:txBody>
                  <a:tcPr>
                    <a:noFill/>
                  </a:tcPr>
                </a:tc>
                <a:tc>
                  <a:txBody>
                    <a:bodyPr/>
                    <a:lstStyle/>
                    <a:p>
                      <a:pPr algn="ctr"/>
                      <a:r>
                        <a:rPr lang="en-US" sz="1200" dirty="0">
                          <a:latin typeface="Verdana" panose="020B0604030504040204" pitchFamily="34" charset="0"/>
                          <a:ea typeface="Verdana" panose="020B0604030504040204" pitchFamily="34" charset="0"/>
                        </a:rPr>
                        <a:t>102</a:t>
                      </a:r>
                    </a:p>
                  </a:txBody>
                  <a:tcPr>
                    <a:noFill/>
                  </a:tcPr>
                </a:tc>
                <a:extLst>
                  <a:ext uri="{0D108BD9-81ED-4DB2-BD59-A6C34878D82A}">
                    <a16:rowId xmlns:a16="http://schemas.microsoft.com/office/drawing/2014/main" val="3087894971"/>
                  </a:ext>
                </a:extLst>
              </a:tr>
              <a:tr h="280761">
                <a:tc>
                  <a:txBody>
                    <a:bodyPr/>
                    <a:lstStyle/>
                    <a:p>
                      <a:r>
                        <a:rPr lang="en-US" sz="1200" dirty="0">
                          <a:latin typeface="Verdana" panose="020B0604030504040204" pitchFamily="34" charset="0"/>
                          <a:ea typeface="Verdana" panose="020B0604030504040204" pitchFamily="34" charset="0"/>
                        </a:rPr>
                        <a:t>Cost of street-light</a:t>
                      </a:r>
                    </a:p>
                  </a:txBody>
                  <a:tcPr>
                    <a:noFill/>
                  </a:tcPr>
                </a:tc>
                <a:tc>
                  <a:txBody>
                    <a:bodyPr/>
                    <a:lstStyle/>
                    <a:p>
                      <a:pPr algn="ctr"/>
                      <a:r>
                        <a:rPr lang="en-US" sz="1200" dirty="0">
                          <a:latin typeface="Verdana" panose="020B0604030504040204" pitchFamily="34" charset="0"/>
                          <a:ea typeface="Verdana" panose="020B0604030504040204" pitchFamily="34" charset="0"/>
                        </a:rPr>
                        <a:t>5</a:t>
                      </a:r>
                    </a:p>
                  </a:txBody>
                  <a:tcPr>
                    <a:noFill/>
                  </a:tcPr>
                </a:tc>
                <a:extLst>
                  <a:ext uri="{0D108BD9-81ED-4DB2-BD59-A6C34878D82A}">
                    <a16:rowId xmlns:a16="http://schemas.microsoft.com/office/drawing/2014/main" val="3786509251"/>
                  </a:ext>
                </a:extLst>
              </a:tr>
              <a:tr h="280761">
                <a:tc>
                  <a:txBody>
                    <a:bodyPr/>
                    <a:lstStyle/>
                    <a:p>
                      <a:r>
                        <a:rPr lang="en-US" sz="1200" dirty="0">
                          <a:latin typeface="Verdana" panose="020B0604030504040204" pitchFamily="34" charset="0"/>
                          <a:ea typeface="Verdana" panose="020B0604030504040204" pitchFamily="34" charset="0"/>
                        </a:rPr>
                        <a:t>Water supply system</a:t>
                      </a:r>
                    </a:p>
                  </a:txBody>
                  <a:tcPr>
                    <a:noFill/>
                  </a:tcPr>
                </a:tc>
                <a:tc>
                  <a:txBody>
                    <a:bodyPr/>
                    <a:lstStyle/>
                    <a:p>
                      <a:pPr algn="ctr"/>
                      <a:r>
                        <a:rPr lang="en-US" sz="1200" dirty="0">
                          <a:latin typeface="Verdana" panose="020B0604030504040204" pitchFamily="34" charset="0"/>
                          <a:ea typeface="Verdana" panose="020B0604030504040204" pitchFamily="34" charset="0"/>
                        </a:rPr>
                        <a:t>5</a:t>
                      </a:r>
                    </a:p>
                  </a:txBody>
                  <a:tcPr>
                    <a:noFill/>
                  </a:tcPr>
                </a:tc>
                <a:extLst>
                  <a:ext uri="{0D108BD9-81ED-4DB2-BD59-A6C34878D82A}">
                    <a16:rowId xmlns:a16="http://schemas.microsoft.com/office/drawing/2014/main" val="2008348781"/>
                  </a:ext>
                </a:extLst>
              </a:tr>
              <a:tr h="280761">
                <a:tc>
                  <a:txBody>
                    <a:bodyPr/>
                    <a:lstStyle/>
                    <a:p>
                      <a:r>
                        <a:rPr lang="en-US" sz="1200" dirty="0">
                          <a:latin typeface="Verdana" panose="020B0604030504040204" pitchFamily="34" charset="0"/>
                          <a:ea typeface="Verdana" panose="020B0604030504040204" pitchFamily="34" charset="0"/>
                        </a:rPr>
                        <a:t>24 No. of 132 kV pooling substations</a:t>
                      </a:r>
                    </a:p>
                  </a:txBody>
                  <a:tcPr>
                    <a:noFill/>
                  </a:tcPr>
                </a:tc>
                <a:tc>
                  <a:txBody>
                    <a:bodyPr/>
                    <a:lstStyle/>
                    <a:p>
                      <a:pPr algn="ctr"/>
                      <a:r>
                        <a:rPr lang="en-US" sz="1200" dirty="0">
                          <a:latin typeface="Verdana" panose="020B0604030504040204" pitchFamily="34" charset="0"/>
                          <a:ea typeface="Verdana" panose="020B0604030504040204" pitchFamily="34" charset="0"/>
                        </a:rPr>
                        <a:t>350</a:t>
                      </a:r>
                    </a:p>
                  </a:txBody>
                  <a:tcPr>
                    <a:noFill/>
                  </a:tcPr>
                </a:tc>
                <a:extLst>
                  <a:ext uri="{0D108BD9-81ED-4DB2-BD59-A6C34878D82A}">
                    <a16:rowId xmlns:a16="http://schemas.microsoft.com/office/drawing/2014/main" val="2533084755"/>
                  </a:ext>
                </a:extLst>
              </a:tr>
              <a:tr h="280761">
                <a:tc>
                  <a:txBody>
                    <a:bodyPr/>
                    <a:lstStyle/>
                    <a:p>
                      <a:r>
                        <a:rPr lang="en-US" sz="1200" dirty="0">
                          <a:latin typeface="Verdana" panose="020B0604030504040204" pitchFamily="34" charset="0"/>
                          <a:ea typeface="Verdana" panose="020B0604030504040204" pitchFamily="34" charset="0"/>
                        </a:rPr>
                        <a:t>132 kV transmission line </a:t>
                      </a:r>
                    </a:p>
                  </a:txBody>
                  <a:tcPr>
                    <a:noFill/>
                  </a:tcPr>
                </a:tc>
                <a:tc>
                  <a:txBody>
                    <a:bodyPr/>
                    <a:lstStyle/>
                    <a:p>
                      <a:pPr algn="ctr"/>
                      <a:r>
                        <a:rPr lang="en-US" sz="1200" dirty="0">
                          <a:latin typeface="Verdana" panose="020B0604030504040204" pitchFamily="34" charset="0"/>
                          <a:ea typeface="Verdana" panose="020B0604030504040204" pitchFamily="34" charset="0"/>
                        </a:rPr>
                        <a:t>45</a:t>
                      </a:r>
                    </a:p>
                  </a:txBody>
                  <a:tcPr>
                    <a:noFill/>
                  </a:tcPr>
                </a:tc>
                <a:extLst>
                  <a:ext uri="{0D108BD9-81ED-4DB2-BD59-A6C34878D82A}">
                    <a16:rowId xmlns:a16="http://schemas.microsoft.com/office/drawing/2014/main" val="4053655524"/>
                  </a:ext>
                </a:extLst>
              </a:tr>
              <a:tr h="280761">
                <a:tc>
                  <a:txBody>
                    <a:bodyPr/>
                    <a:lstStyle/>
                    <a:p>
                      <a:r>
                        <a:rPr lang="en-US" sz="1200" dirty="0">
                          <a:latin typeface="Verdana" panose="020B0604030504040204" pitchFamily="34" charset="0"/>
                          <a:ea typeface="Verdana" panose="020B0604030504040204" pitchFamily="34" charset="0"/>
                        </a:rPr>
                        <a:t>Marian cable for power Evacuation</a:t>
                      </a:r>
                    </a:p>
                  </a:txBody>
                  <a:tcPr>
                    <a:noFill/>
                  </a:tcPr>
                </a:tc>
                <a:tc>
                  <a:txBody>
                    <a:bodyPr/>
                    <a:lstStyle/>
                    <a:p>
                      <a:pPr algn="ctr"/>
                      <a:r>
                        <a:rPr lang="en-US" sz="1200" dirty="0">
                          <a:latin typeface="Verdana" panose="020B0604030504040204" pitchFamily="34" charset="0"/>
                          <a:ea typeface="Verdana" panose="020B0604030504040204" pitchFamily="34" charset="0"/>
                        </a:rPr>
                        <a:t>50</a:t>
                      </a:r>
                    </a:p>
                  </a:txBody>
                  <a:tcPr>
                    <a:noFill/>
                  </a:tcPr>
                </a:tc>
                <a:extLst>
                  <a:ext uri="{0D108BD9-81ED-4DB2-BD59-A6C34878D82A}">
                    <a16:rowId xmlns:a16="http://schemas.microsoft.com/office/drawing/2014/main" val="1772217605"/>
                  </a:ext>
                </a:extLst>
              </a:tr>
              <a:tr h="280761">
                <a:tc>
                  <a:txBody>
                    <a:bodyPr/>
                    <a:lstStyle/>
                    <a:p>
                      <a:r>
                        <a:rPr lang="en-US" sz="1200" dirty="0">
                          <a:latin typeface="Verdana" panose="020B0604030504040204" pitchFamily="34" charset="0"/>
                          <a:ea typeface="Verdana" panose="020B0604030504040204" pitchFamily="34" charset="0"/>
                        </a:rPr>
                        <a:t>Extension of 132 kV bay</a:t>
                      </a:r>
                    </a:p>
                  </a:txBody>
                  <a:tcPr>
                    <a:noFill/>
                  </a:tcPr>
                </a:tc>
                <a:tc>
                  <a:txBody>
                    <a:bodyPr/>
                    <a:lstStyle/>
                    <a:p>
                      <a:pPr algn="ctr"/>
                      <a:r>
                        <a:rPr lang="en-US" sz="1200" dirty="0">
                          <a:latin typeface="Verdana" panose="020B0604030504040204" pitchFamily="34" charset="0"/>
                          <a:ea typeface="Verdana" panose="020B0604030504040204" pitchFamily="34" charset="0"/>
                        </a:rPr>
                        <a:t>2.37</a:t>
                      </a:r>
                    </a:p>
                  </a:txBody>
                  <a:tcPr>
                    <a:noFill/>
                  </a:tcPr>
                </a:tc>
                <a:extLst>
                  <a:ext uri="{0D108BD9-81ED-4DB2-BD59-A6C34878D82A}">
                    <a16:rowId xmlns:a16="http://schemas.microsoft.com/office/drawing/2014/main" val="1681126501"/>
                  </a:ext>
                </a:extLst>
              </a:tr>
              <a:tr h="280761">
                <a:tc>
                  <a:txBody>
                    <a:bodyPr/>
                    <a:lstStyle/>
                    <a:p>
                      <a:r>
                        <a:rPr lang="en-US" sz="1200" dirty="0">
                          <a:latin typeface="Verdana" panose="020B0604030504040204" pitchFamily="34" charset="0"/>
                          <a:ea typeface="Verdana" panose="020B0604030504040204" pitchFamily="34" charset="0"/>
                        </a:rPr>
                        <a:t>Administration building and other </a:t>
                      </a:r>
                    </a:p>
                  </a:txBody>
                  <a:tcPr>
                    <a:noFill/>
                  </a:tcPr>
                </a:tc>
                <a:tc>
                  <a:txBody>
                    <a:bodyPr/>
                    <a:lstStyle/>
                    <a:p>
                      <a:pPr algn="ctr"/>
                      <a:r>
                        <a:rPr lang="en-US" sz="1200" dirty="0">
                          <a:latin typeface="Verdana" panose="020B0604030504040204" pitchFamily="34" charset="0"/>
                          <a:ea typeface="Verdana" panose="020B0604030504040204" pitchFamily="34" charset="0"/>
                        </a:rPr>
                        <a:t>12</a:t>
                      </a:r>
                    </a:p>
                  </a:txBody>
                  <a:tcPr>
                    <a:noFill/>
                  </a:tcPr>
                </a:tc>
                <a:extLst>
                  <a:ext uri="{0D108BD9-81ED-4DB2-BD59-A6C34878D82A}">
                    <a16:rowId xmlns:a16="http://schemas.microsoft.com/office/drawing/2014/main" val="2294262040"/>
                  </a:ext>
                </a:extLst>
              </a:tr>
              <a:tr h="280761">
                <a:tc>
                  <a:txBody>
                    <a:bodyPr/>
                    <a:lstStyle/>
                    <a:p>
                      <a:r>
                        <a:rPr lang="en-US" sz="1200" dirty="0">
                          <a:latin typeface="Verdana" panose="020B0604030504040204" pitchFamily="34" charset="0"/>
                          <a:ea typeface="Verdana" panose="020B0604030504040204" pitchFamily="34" charset="0"/>
                        </a:rPr>
                        <a:t>Cost of developing green belt</a:t>
                      </a:r>
                    </a:p>
                  </a:txBody>
                  <a:tcPr>
                    <a:noFill/>
                  </a:tcPr>
                </a:tc>
                <a:tc>
                  <a:txBody>
                    <a:bodyPr/>
                    <a:lstStyle/>
                    <a:p>
                      <a:pPr algn="ctr"/>
                      <a:r>
                        <a:rPr lang="en-US" sz="1200" dirty="0">
                          <a:latin typeface="Verdana" panose="020B0604030504040204" pitchFamily="34" charset="0"/>
                          <a:ea typeface="Verdana" panose="020B0604030504040204" pitchFamily="34" charset="0"/>
                        </a:rPr>
                        <a:t>8</a:t>
                      </a:r>
                    </a:p>
                  </a:txBody>
                  <a:tcPr>
                    <a:noFill/>
                  </a:tcPr>
                </a:tc>
                <a:extLst>
                  <a:ext uri="{0D108BD9-81ED-4DB2-BD59-A6C34878D82A}">
                    <a16:rowId xmlns:a16="http://schemas.microsoft.com/office/drawing/2014/main" val="1978706608"/>
                  </a:ext>
                </a:extLst>
              </a:tr>
              <a:tr h="280761">
                <a:tc>
                  <a:txBody>
                    <a:bodyPr/>
                    <a:lstStyle/>
                    <a:p>
                      <a:r>
                        <a:rPr lang="en-US" sz="1200" dirty="0">
                          <a:latin typeface="Verdana" panose="020B0604030504040204" pitchFamily="34" charset="0"/>
                          <a:ea typeface="Verdana" panose="020B0604030504040204" pitchFamily="34" charset="0"/>
                        </a:rPr>
                        <a:t>Survey and soil testing and Geotechnical investigations</a:t>
                      </a:r>
                    </a:p>
                  </a:txBody>
                  <a:tcPr>
                    <a:noFill/>
                  </a:tcPr>
                </a:tc>
                <a:tc>
                  <a:txBody>
                    <a:bodyPr/>
                    <a:lstStyle/>
                    <a:p>
                      <a:pPr algn="ctr"/>
                      <a:r>
                        <a:rPr lang="en-US" sz="1200" dirty="0">
                          <a:latin typeface="Verdana" panose="020B0604030504040204" pitchFamily="34" charset="0"/>
                          <a:ea typeface="Verdana" panose="020B0604030504040204" pitchFamily="34" charset="0"/>
                        </a:rPr>
                        <a:t>2</a:t>
                      </a:r>
                    </a:p>
                  </a:txBody>
                  <a:tcPr>
                    <a:noFill/>
                  </a:tcPr>
                </a:tc>
                <a:extLst>
                  <a:ext uri="{0D108BD9-81ED-4DB2-BD59-A6C34878D82A}">
                    <a16:rowId xmlns:a16="http://schemas.microsoft.com/office/drawing/2014/main" val="2438373450"/>
                  </a:ext>
                </a:extLst>
              </a:tr>
              <a:tr h="280761">
                <a:tc>
                  <a:txBody>
                    <a:bodyPr/>
                    <a:lstStyle/>
                    <a:p>
                      <a:r>
                        <a:rPr lang="en-US" sz="1200" dirty="0">
                          <a:latin typeface="Verdana" panose="020B0604030504040204" pitchFamily="34" charset="0"/>
                          <a:ea typeface="Verdana" panose="020B0604030504040204" pitchFamily="34" charset="0"/>
                        </a:rPr>
                        <a:t>One time Expenditure towards consultancy for ESIA and CSR</a:t>
                      </a:r>
                    </a:p>
                  </a:txBody>
                  <a:tcPr>
                    <a:noFill/>
                  </a:tcPr>
                </a:tc>
                <a:tc>
                  <a:txBody>
                    <a:bodyPr/>
                    <a:lstStyle/>
                    <a:p>
                      <a:pPr algn="ctr"/>
                      <a:r>
                        <a:rPr lang="en-US" sz="1200" dirty="0">
                          <a:latin typeface="Verdana" panose="020B0604030504040204" pitchFamily="34" charset="0"/>
                          <a:ea typeface="Verdana" panose="020B0604030504040204" pitchFamily="34" charset="0"/>
                        </a:rPr>
                        <a:t>15</a:t>
                      </a:r>
                    </a:p>
                  </a:txBody>
                  <a:tcPr>
                    <a:noFill/>
                  </a:tcPr>
                </a:tc>
                <a:extLst>
                  <a:ext uri="{0D108BD9-81ED-4DB2-BD59-A6C34878D82A}">
                    <a16:rowId xmlns:a16="http://schemas.microsoft.com/office/drawing/2014/main" val="36282745"/>
                  </a:ext>
                </a:extLst>
              </a:tr>
              <a:tr h="280761">
                <a:tc>
                  <a:txBody>
                    <a:bodyPr/>
                    <a:lstStyle/>
                    <a:p>
                      <a:r>
                        <a:rPr lang="en-US" sz="1200" b="1" dirty="0">
                          <a:latin typeface="Verdana" panose="020B0604030504040204" pitchFamily="34" charset="0"/>
                          <a:ea typeface="Verdana" panose="020B0604030504040204" pitchFamily="34" charset="0"/>
                        </a:rPr>
                        <a:t>Total hard cost for Infrastructure </a:t>
                      </a:r>
                    </a:p>
                  </a:txBody>
                  <a:tcPr>
                    <a:solidFill>
                      <a:schemeClr val="accent6">
                        <a:lumMod val="40000"/>
                        <a:lumOff val="60000"/>
                      </a:schemeClr>
                    </a:solidFill>
                  </a:tcPr>
                </a:tc>
                <a:tc>
                  <a:txBody>
                    <a:bodyPr/>
                    <a:lstStyle/>
                    <a:p>
                      <a:pPr algn="ctr"/>
                      <a:r>
                        <a:rPr lang="en-US" sz="1200" b="1" dirty="0">
                          <a:latin typeface="Verdana" panose="020B0604030504040204" pitchFamily="34" charset="0"/>
                          <a:ea typeface="Verdana" panose="020B0604030504040204" pitchFamily="34" charset="0"/>
                        </a:rPr>
                        <a:t>1076.37</a:t>
                      </a:r>
                    </a:p>
                  </a:txBody>
                  <a:tcPr>
                    <a:solidFill>
                      <a:schemeClr val="accent6">
                        <a:lumMod val="40000"/>
                        <a:lumOff val="60000"/>
                      </a:schemeClr>
                    </a:solidFill>
                  </a:tcPr>
                </a:tc>
                <a:extLst>
                  <a:ext uri="{0D108BD9-81ED-4DB2-BD59-A6C34878D82A}">
                    <a16:rowId xmlns:a16="http://schemas.microsoft.com/office/drawing/2014/main" val="1279708018"/>
                  </a:ext>
                </a:extLst>
              </a:tr>
              <a:tr h="280761">
                <a:tc>
                  <a:txBody>
                    <a:bodyPr/>
                    <a:lstStyle/>
                    <a:p>
                      <a:r>
                        <a:rPr lang="en-US" sz="1200" dirty="0">
                          <a:latin typeface="Verdana" panose="020B0604030504040204" pitchFamily="34" charset="0"/>
                          <a:ea typeface="Verdana" panose="020B0604030504040204" pitchFamily="34" charset="0"/>
                        </a:rPr>
                        <a:t>EPC cost of 1200 MW PV with 5 Years O&amp;M </a:t>
                      </a:r>
                    </a:p>
                  </a:txBody>
                  <a:tcPr>
                    <a:noFill/>
                  </a:tcPr>
                </a:tc>
                <a:tc>
                  <a:txBody>
                    <a:bodyPr/>
                    <a:lstStyle/>
                    <a:p>
                      <a:pPr algn="ctr"/>
                      <a:r>
                        <a:rPr lang="en-US" sz="1200" dirty="0">
                          <a:latin typeface="Verdana" panose="020B0604030504040204" pitchFamily="34" charset="0"/>
                          <a:ea typeface="Verdana" panose="020B0604030504040204" pitchFamily="34" charset="0"/>
                        </a:rPr>
                        <a:t>6576</a:t>
                      </a:r>
                    </a:p>
                  </a:txBody>
                  <a:tcPr>
                    <a:noFill/>
                  </a:tcPr>
                </a:tc>
                <a:extLst>
                  <a:ext uri="{0D108BD9-81ED-4DB2-BD59-A6C34878D82A}">
                    <a16:rowId xmlns:a16="http://schemas.microsoft.com/office/drawing/2014/main" val="2956495005"/>
                  </a:ext>
                </a:extLst>
              </a:tr>
              <a:tr h="280761">
                <a:tc>
                  <a:txBody>
                    <a:bodyPr/>
                    <a:lstStyle/>
                    <a:p>
                      <a:r>
                        <a:rPr lang="en-US" sz="1200" b="1" dirty="0">
                          <a:solidFill>
                            <a:schemeClr val="bg1"/>
                          </a:solidFill>
                          <a:latin typeface="Verdana" panose="020B0604030504040204" pitchFamily="34" charset="0"/>
                          <a:ea typeface="Verdana" panose="020B0604030504040204" pitchFamily="34" charset="0"/>
                        </a:rPr>
                        <a:t>Total Cost</a:t>
                      </a:r>
                    </a:p>
                  </a:txBody>
                  <a:tcPr>
                    <a:solidFill>
                      <a:srgbClr val="00B050"/>
                    </a:solidFill>
                  </a:tcPr>
                </a:tc>
                <a:tc>
                  <a:txBody>
                    <a:bodyPr/>
                    <a:lstStyle/>
                    <a:p>
                      <a:pPr algn="ctr"/>
                      <a:r>
                        <a:rPr lang="en-US" sz="1200" b="1" dirty="0">
                          <a:solidFill>
                            <a:schemeClr val="bg1"/>
                          </a:solidFill>
                          <a:latin typeface="Verdana" panose="020B0604030504040204" pitchFamily="34" charset="0"/>
                          <a:ea typeface="Verdana" panose="020B0604030504040204" pitchFamily="34" charset="0"/>
                        </a:rPr>
                        <a:t>8648.74</a:t>
                      </a:r>
                    </a:p>
                  </a:txBody>
                  <a:tcPr>
                    <a:solidFill>
                      <a:srgbClr val="00B050"/>
                    </a:solidFill>
                  </a:tcPr>
                </a:tc>
                <a:extLst>
                  <a:ext uri="{0D108BD9-81ED-4DB2-BD59-A6C34878D82A}">
                    <a16:rowId xmlns:a16="http://schemas.microsoft.com/office/drawing/2014/main" val="1684698670"/>
                  </a:ext>
                </a:extLst>
              </a:tr>
            </a:tbl>
          </a:graphicData>
        </a:graphic>
      </p:graphicFrame>
      <p:sp>
        <p:nvSpPr>
          <p:cNvPr id="5" name="TextBox 4">
            <a:extLst>
              <a:ext uri="{FF2B5EF4-FFF2-40B4-BE49-F238E27FC236}">
                <a16:creationId xmlns:a16="http://schemas.microsoft.com/office/drawing/2014/main" id="{FDFDEF86-3A49-4CCD-AADF-7E1CB2F66695}"/>
              </a:ext>
            </a:extLst>
          </p:cNvPr>
          <p:cNvSpPr txBox="1"/>
          <p:nvPr/>
        </p:nvSpPr>
        <p:spPr>
          <a:xfrm>
            <a:off x="7677636" y="6440440"/>
            <a:ext cx="3750067" cy="169277"/>
          </a:xfrm>
          <a:prstGeom prst="rect">
            <a:avLst/>
          </a:prstGeom>
          <a:noFill/>
        </p:spPr>
        <p:txBody>
          <a:bodyPr wrap="square" lIns="0" tIns="0" rIns="0" bIns="0" rtlCol="0">
            <a:spAutoFit/>
          </a:bodyPr>
          <a:lstStyle/>
          <a:p>
            <a:pPr>
              <a:spcBef>
                <a:spcPts val="600"/>
              </a:spcBef>
              <a:buSzPct val="100000"/>
            </a:pPr>
            <a:r>
              <a:rPr lang="en-US" sz="1100" b="1" dirty="0">
                <a:solidFill>
                  <a:srgbClr val="313131"/>
                </a:solidFill>
              </a:rPr>
              <a:t>Source: </a:t>
            </a:r>
            <a:r>
              <a:rPr lang="en-US" sz="1100" b="1" dirty="0" err="1">
                <a:solidFill>
                  <a:srgbClr val="313131"/>
                </a:solidFill>
              </a:rPr>
              <a:t>Nayachar</a:t>
            </a:r>
            <a:r>
              <a:rPr lang="en-US" sz="1100" b="1" dirty="0">
                <a:solidFill>
                  <a:srgbClr val="313131"/>
                </a:solidFill>
              </a:rPr>
              <a:t> PFR Report</a:t>
            </a:r>
          </a:p>
        </p:txBody>
      </p:sp>
    </p:spTree>
    <p:extLst>
      <p:ext uri="{BB962C8B-B14F-4D97-AF65-F5344CB8AC3E}">
        <p14:creationId xmlns:p14="http://schemas.microsoft.com/office/powerpoint/2010/main" val="34736920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BF511-A488-4B2D-9399-90C47F01D76C}"/>
              </a:ext>
            </a:extLst>
          </p:cNvPr>
          <p:cNvSpPr>
            <a:spLocks noGrp="1"/>
          </p:cNvSpPr>
          <p:nvPr>
            <p:ph type="title"/>
          </p:nvPr>
        </p:nvSpPr>
        <p:spPr>
          <a:xfrm>
            <a:off x="330183" y="143200"/>
            <a:ext cx="11314542" cy="475338"/>
          </a:xfrm>
        </p:spPr>
        <p:txBody>
          <a:bodyPr>
            <a:normAutofit/>
          </a:bodyPr>
          <a:lstStyle/>
          <a:p>
            <a:r>
              <a:rPr lang="en-US" sz="2000" b="1" i="0" dirty="0">
                <a:solidFill>
                  <a:schemeClr val="tx1"/>
                </a:solidFill>
                <a:latin typeface="Verdana" panose="020B0604030504040204" pitchFamily="34" charset="0"/>
                <a:ea typeface="Verdana" panose="020B0604030504040204" pitchFamily="34" charset="0"/>
              </a:rPr>
              <a:t>Financing Plan to develop Ultra Mega Solar Power projects</a:t>
            </a:r>
          </a:p>
        </p:txBody>
      </p:sp>
      <p:graphicFrame>
        <p:nvGraphicFramePr>
          <p:cNvPr id="4" name="Content Placeholder 3">
            <a:extLst>
              <a:ext uri="{FF2B5EF4-FFF2-40B4-BE49-F238E27FC236}">
                <a16:creationId xmlns:a16="http://schemas.microsoft.com/office/drawing/2014/main" id="{78591B5D-69AB-44D3-AA95-9FD69264234F}"/>
              </a:ext>
            </a:extLst>
          </p:cNvPr>
          <p:cNvGraphicFramePr>
            <a:graphicFrameLocks noGrp="1"/>
          </p:cNvGraphicFramePr>
          <p:nvPr>
            <p:ph idx="1"/>
            <p:extLst>
              <p:ext uri="{D42A27DB-BD31-4B8C-83A1-F6EECF244321}">
                <p14:modId xmlns:p14="http://schemas.microsoft.com/office/powerpoint/2010/main" val="1115939596"/>
              </p:ext>
            </p:extLst>
          </p:nvPr>
        </p:nvGraphicFramePr>
        <p:xfrm>
          <a:off x="100658" y="287545"/>
          <a:ext cx="11497767" cy="55945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Arrow: Right 4">
            <a:extLst>
              <a:ext uri="{FF2B5EF4-FFF2-40B4-BE49-F238E27FC236}">
                <a16:creationId xmlns:a16="http://schemas.microsoft.com/office/drawing/2014/main" id="{93A381EB-A2E7-4AE1-8AC4-80B346EF40F6}"/>
              </a:ext>
            </a:extLst>
          </p:cNvPr>
          <p:cNvSpPr/>
          <p:nvPr/>
        </p:nvSpPr>
        <p:spPr>
          <a:xfrm>
            <a:off x="637391" y="1390402"/>
            <a:ext cx="200521" cy="162635"/>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en-US"/>
            </a:defPPr>
            <a:lvl1pPr marL="0" algn="l" defTabSz="1042873" rtl="0" eaLnBrk="1" latinLnBrk="0" hangingPunct="1">
              <a:defRPr sz="2053" kern="1200">
                <a:solidFill>
                  <a:schemeClr val="lt1"/>
                </a:solidFill>
                <a:latin typeface="+mn-lt"/>
                <a:ea typeface="+mn-ea"/>
                <a:cs typeface="+mn-cs"/>
              </a:defRPr>
            </a:lvl1pPr>
            <a:lvl2pPr marL="521437" algn="l" defTabSz="1042873" rtl="0" eaLnBrk="1" latinLnBrk="0" hangingPunct="1">
              <a:defRPr sz="2053" kern="1200">
                <a:solidFill>
                  <a:schemeClr val="lt1"/>
                </a:solidFill>
                <a:latin typeface="+mn-lt"/>
                <a:ea typeface="+mn-ea"/>
                <a:cs typeface="+mn-cs"/>
              </a:defRPr>
            </a:lvl2pPr>
            <a:lvl3pPr marL="1042873" algn="l" defTabSz="1042873" rtl="0" eaLnBrk="1" latinLnBrk="0" hangingPunct="1">
              <a:defRPr sz="2053" kern="1200">
                <a:solidFill>
                  <a:schemeClr val="lt1"/>
                </a:solidFill>
                <a:latin typeface="+mn-lt"/>
                <a:ea typeface="+mn-ea"/>
                <a:cs typeface="+mn-cs"/>
              </a:defRPr>
            </a:lvl3pPr>
            <a:lvl4pPr marL="1564310" algn="l" defTabSz="1042873" rtl="0" eaLnBrk="1" latinLnBrk="0" hangingPunct="1">
              <a:defRPr sz="2053" kern="1200">
                <a:solidFill>
                  <a:schemeClr val="lt1"/>
                </a:solidFill>
                <a:latin typeface="+mn-lt"/>
                <a:ea typeface="+mn-ea"/>
                <a:cs typeface="+mn-cs"/>
              </a:defRPr>
            </a:lvl4pPr>
            <a:lvl5pPr marL="2085746" algn="l" defTabSz="1042873" rtl="0" eaLnBrk="1" latinLnBrk="0" hangingPunct="1">
              <a:defRPr sz="2053" kern="1200">
                <a:solidFill>
                  <a:schemeClr val="lt1"/>
                </a:solidFill>
                <a:latin typeface="+mn-lt"/>
                <a:ea typeface="+mn-ea"/>
                <a:cs typeface="+mn-cs"/>
              </a:defRPr>
            </a:lvl5pPr>
            <a:lvl6pPr marL="2607183" algn="l" defTabSz="1042873" rtl="0" eaLnBrk="1" latinLnBrk="0" hangingPunct="1">
              <a:defRPr sz="2053" kern="1200">
                <a:solidFill>
                  <a:schemeClr val="lt1"/>
                </a:solidFill>
                <a:latin typeface="+mn-lt"/>
                <a:ea typeface="+mn-ea"/>
                <a:cs typeface="+mn-cs"/>
              </a:defRPr>
            </a:lvl6pPr>
            <a:lvl7pPr marL="3128620" algn="l" defTabSz="1042873" rtl="0" eaLnBrk="1" latinLnBrk="0" hangingPunct="1">
              <a:defRPr sz="2053" kern="1200">
                <a:solidFill>
                  <a:schemeClr val="lt1"/>
                </a:solidFill>
                <a:latin typeface="+mn-lt"/>
                <a:ea typeface="+mn-ea"/>
                <a:cs typeface="+mn-cs"/>
              </a:defRPr>
            </a:lvl7pPr>
            <a:lvl8pPr marL="3650056" algn="l" defTabSz="1042873" rtl="0" eaLnBrk="1" latinLnBrk="0" hangingPunct="1">
              <a:defRPr sz="2053" kern="1200">
                <a:solidFill>
                  <a:schemeClr val="lt1"/>
                </a:solidFill>
                <a:latin typeface="+mn-lt"/>
                <a:ea typeface="+mn-ea"/>
                <a:cs typeface="+mn-cs"/>
              </a:defRPr>
            </a:lvl8pPr>
            <a:lvl9pPr marL="4171493" algn="l" defTabSz="1042873" rtl="0" eaLnBrk="1" latinLnBrk="0" hangingPunct="1">
              <a:defRPr sz="2053" kern="1200">
                <a:solidFill>
                  <a:schemeClr val="lt1"/>
                </a:solidFill>
                <a:latin typeface="+mn-lt"/>
                <a:ea typeface="+mn-ea"/>
                <a:cs typeface="+mn-cs"/>
              </a:defRPr>
            </a:lvl9pPr>
          </a:lstStyle>
          <a:p>
            <a:pPr algn="ctr"/>
            <a:endParaRPr lang="en-US"/>
          </a:p>
        </p:txBody>
      </p:sp>
      <p:sp>
        <p:nvSpPr>
          <p:cNvPr id="7" name="Arrow: Right 6">
            <a:extLst>
              <a:ext uri="{FF2B5EF4-FFF2-40B4-BE49-F238E27FC236}">
                <a16:creationId xmlns:a16="http://schemas.microsoft.com/office/drawing/2014/main" id="{99F84D70-C88F-4396-8A43-1AF555BFA253}"/>
              </a:ext>
            </a:extLst>
          </p:cNvPr>
          <p:cNvSpPr/>
          <p:nvPr/>
        </p:nvSpPr>
        <p:spPr>
          <a:xfrm>
            <a:off x="637391" y="2368177"/>
            <a:ext cx="200521" cy="162635"/>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en-US"/>
            </a:defPPr>
            <a:lvl1pPr marL="0" algn="l" defTabSz="1042873" rtl="0" eaLnBrk="1" latinLnBrk="0" hangingPunct="1">
              <a:defRPr sz="2053" kern="1200">
                <a:solidFill>
                  <a:schemeClr val="lt1"/>
                </a:solidFill>
                <a:latin typeface="+mn-lt"/>
                <a:ea typeface="+mn-ea"/>
                <a:cs typeface="+mn-cs"/>
              </a:defRPr>
            </a:lvl1pPr>
            <a:lvl2pPr marL="521437" algn="l" defTabSz="1042873" rtl="0" eaLnBrk="1" latinLnBrk="0" hangingPunct="1">
              <a:defRPr sz="2053" kern="1200">
                <a:solidFill>
                  <a:schemeClr val="lt1"/>
                </a:solidFill>
                <a:latin typeface="+mn-lt"/>
                <a:ea typeface="+mn-ea"/>
                <a:cs typeface="+mn-cs"/>
              </a:defRPr>
            </a:lvl2pPr>
            <a:lvl3pPr marL="1042873" algn="l" defTabSz="1042873" rtl="0" eaLnBrk="1" latinLnBrk="0" hangingPunct="1">
              <a:defRPr sz="2053" kern="1200">
                <a:solidFill>
                  <a:schemeClr val="lt1"/>
                </a:solidFill>
                <a:latin typeface="+mn-lt"/>
                <a:ea typeface="+mn-ea"/>
                <a:cs typeface="+mn-cs"/>
              </a:defRPr>
            </a:lvl3pPr>
            <a:lvl4pPr marL="1564310" algn="l" defTabSz="1042873" rtl="0" eaLnBrk="1" latinLnBrk="0" hangingPunct="1">
              <a:defRPr sz="2053" kern="1200">
                <a:solidFill>
                  <a:schemeClr val="lt1"/>
                </a:solidFill>
                <a:latin typeface="+mn-lt"/>
                <a:ea typeface="+mn-ea"/>
                <a:cs typeface="+mn-cs"/>
              </a:defRPr>
            </a:lvl4pPr>
            <a:lvl5pPr marL="2085746" algn="l" defTabSz="1042873" rtl="0" eaLnBrk="1" latinLnBrk="0" hangingPunct="1">
              <a:defRPr sz="2053" kern="1200">
                <a:solidFill>
                  <a:schemeClr val="lt1"/>
                </a:solidFill>
                <a:latin typeface="+mn-lt"/>
                <a:ea typeface="+mn-ea"/>
                <a:cs typeface="+mn-cs"/>
              </a:defRPr>
            </a:lvl5pPr>
            <a:lvl6pPr marL="2607183" algn="l" defTabSz="1042873" rtl="0" eaLnBrk="1" latinLnBrk="0" hangingPunct="1">
              <a:defRPr sz="2053" kern="1200">
                <a:solidFill>
                  <a:schemeClr val="lt1"/>
                </a:solidFill>
                <a:latin typeface="+mn-lt"/>
                <a:ea typeface="+mn-ea"/>
                <a:cs typeface="+mn-cs"/>
              </a:defRPr>
            </a:lvl6pPr>
            <a:lvl7pPr marL="3128620" algn="l" defTabSz="1042873" rtl="0" eaLnBrk="1" latinLnBrk="0" hangingPunct="1">
              <a:defRPr sz="2053" kern="1200">
                <a:solidFill>
                  <a:schemeClr val="lt1"/>
                </a:solidFill>
                <a:latin typeface="+mn-lt"/>
                <a:ea typeface="+mn-ea"/>
                <a:cs typeface="+mn-cs"/>
              </a:defRPr>
            </a:lvl7pPr>
            <a:lvl8pPr marL="3650056" algn="l" defTabSz="1042873" rtl="0" eaLnBrk="1" latinLnBrk="0" hangingPunct="1">
              <a:defRPr sz="2053" kern="1200">
                <a:solidFill>
                  <a:schemeClr val="lt1"/>
                </a:solidFill>
                <a:latin typeface="+mn-lt"/>
                <a:ea typeface="+mn-ea"/>
                <a:cs typeface="+mn-cs"/>
              </a:defRPr>
            </a:lvl8pPr>
            <a:lvl9pPr marL="4171493" algn="l" defTabSz="1042873" rtl="0" eaLnBrk="1" latinLnBrk="0" hangingPunct="1">
              <a:defRPr sz="2053" kern="1200">
                <a:solidFill>
                  <a:schemeClr val="lt1"/>
                </a:solidFill>
                <a:latin typeface="+mn-lt"/>
                <a:ea typeface="+mn-ea"/>
                <a:cs typeface="+mn-cs"/>
              </a:defRPr>
            </a:lvl9pPr>
          </a:lstStyle>
          <a:p>
            <a:pPr algn="ctr"/>
            <a:endParaRPr lang="en-US"/>
          </a:p>
        </p:txBody>
      </p:sp>
      <p:sp>
        <p:nvSpPr>
          <p:cNvPr id="8" name="Arrow: Right 7">
            <a:extLst>
              <a:ext uri="{FF2B5EF4-FFF2-40B4-BE49-F238E27FC236}">
                <a16:creationId xmlns:a16="http://schemas.microsoft.com/office/drawing/2014/main" id="{861CCF69-465C-4E54-ACDA-6CE35FECFEA3}"/>
              </a:ext>
            </a:extLst>
          </p:cNvPr>
          <p:cNvSpPr/>
          <p:nvPr/>
        </p:nvSpPr>
        <p:spPr>
          <a:xfrm>
            <a:off x="637391" y="3204561"/>
            <a:ext cx="200521" cy="162635"/>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en-US"/>
            </a:defPPr>
            <a:lvl1pPr marL="0" algn="l" defTabSz="1042873" rtl="0" eaLnBrk="1" latinLnBrk="0" hangingPunct="1">
              <a:defRPr sz="2053" kern="1200">
                <a:solidFill>
                  <a:schemeClr val="lt1"/>
                </a:solidFill>
                <a:latin typeface="+mn-lt"/>
                <a:ea typeface="+mn-ea"/>
                <a:cs typeface="+mn-cs"/>
              </a:defRPr>
            </a:lvl1pPr>
            <a:lvl2pPr marL="521437" algn="l" defTabSz="1042873" rtl="0" eaLnBrk="1" latinLnBrk="0" hangingPunct="1">
              <a:defRPr sz="2053" kern="1200">
                <a:solidFill>
                  <a:schemeClr val="lt1"/>
                </a:solidFill>
                <a:latin typeface="+mn-lt"/>
                <a:ea typeface="+mn-ea"/>
                <a:cs typeface="+mn-cs"/>
              </a:defRPr>
            </a:lvl2pPr>
            <a:lvl3pPr marL="1042873" algn="l" defTabSz="1042873" rtl="0" eaLnBrk="1" latinLnBrk="0" hangingPunct="1">
              <a:defRPr sz="2053" kern="1200">
                <a:solidFill>
                  <a:schemeClr val="lt1"/>
                </a:solidFill>
                <a:latin typeface="+mn-lt"/>
                <a:ea typeface="+mn-ea"/>
                <a:cs typeface="+mn-cs"/>
              </a:defRPr>
            </a:lvl3pPr>
            <a:lvl4pPr marL="1564310" algn="l" defTabSz="1042873" rtl="0" eaLnBrk="1" latinLnBrk="0" hangingPunct="1">
              <a:defRPr sz="2053" kern="1200">
                <a:solidFill>
                  <a:schemeClr val="lt1"/>
                </a:solidFill>
                <a:latin typeface="+mn-lt"/>
                <a:ea typeface="+mn-ea"/>
                <a:cs typeface="+mn-cs"/>
              </a:defRPr>
            </a:lvl4pPr>
            <a:lvl5pPr marL="2085746" algn="l" defTabSz="1042873" rtl="0" eaLnBrk="1" latinLnBrk="0" hangingPunct="1">
              <a:defRPr sz="2053" kern="1200">
                <a:solidFill>
                  <a:schemeClr val="lt1"/>
                </a:solidFill>
                <a:latin typeface="+mn-lt"/>
                <a:ea typeface="+mn-ea"/>
                <a:cs typeface="+mn-cs"/>
              </a:defRPr>
            </a:lvl5pPr>
            <a:lvl6pPr marL="2607183" algn="l" defTabSz="1042873" rtl="0" eaLnBrk="1" latinLnBrk="0" hangingPunct="1">
              <a:defRPr sz="2053" kern="1200">
                <a:solidFill>
                  <a:schemeClr val="lt1"/>
                </a:solidFill>
                <a:latin typeface="+mn-lt"/>
                <a:ea typeface="+mn-ea"/>
                <a:cs typeface="+mn-cs"/>
              </a:defRPr>
            </a:lvl6pPr>
            <a:lvl7pPr marL="3128620" algn="l" defTabSz="1042873" rtl="0" eaLnBrk="1" latinLnBrk="0" hangingPunct="1">
              <a:defRPr sz="2053" kern="1200">
                <a:solidFill>
                  <a:schemeClr val="lt1"/>
                </a:solidFill>
                <a:latin typeface="+mn-lt"/>
                <a:ea typeface="+mn-ea"/>
                <a:cs typeface="+mn-cs"/>
              </a:defRPr>
            </a:lvl7pPr>
            <a:lvl8pPr marL="3650056" algn="l" defTabSz="1042873" rtl="0" eaLnBrk="1" latinLnBrk="0" hangingPunct="1">
              <a:defRPr sz="2053" kern="1200">
                <a:solidFill>
                  <a:schemeClr val="lt1"/>
                </a:solidFill>
                <a:latin typeface="+mn-lt"/>
                <a:ea typeface="+mn-ea"/>
                <a:cs typeface="+mn-cs"/>
              </a:defRPr>
            </a:lvl8pPr>
            <a:lvl9pPr marL="4171493" algn="l" defTabSz="1042873" rtl="0" eaLnBrk="1" latinLnBrk="0" hangingPunct="1">
              <a:defRPr sz="2053" kern="1200">
                <a:solidFill>
                  <a:schemeClr val="lt1"/>
                </a:solidFill>
                <a:latin typeface="+mn-lt"/>
                <a:ea typeface="+mn-ea"/>
                <a:cs typeface="+mn-cs"/>
              </a:defRPr>
            </a:lvl9pPr>
          </a:lstStyle>
          <a:p>
            <a:pPr algn="ctr"/>
            <a:endParaRPr lang="en-US"/>
          </a:p>
        </p:txBody>
      </p:sp>
      <p:sp>
        <p:nvSpPr>
          <p:cNvPr id="9" name="Arrow: Right 8">
            <a:extLst>
              <a:ext uri="{FF2B5EF4-FFF2-40B4-BE49-F238E27FC236}">
                <a16:creationId xmlns:a16="http://schemas.microsoft.com/office/drawing/2014/main" id="{377EA087-B69C-4CD6-9BD2-4CC3A8F738C6}"/>
              </a:ext>
            </a:extLst>
          </p:cNvPr>
          <p:cNvSpPr/>
          <p:nvPr/>
        </p:nvSpPr>
        <p:spPr>
          <a:xfrm>
            <a:off x="637391" y="4315227"/>
            <a:ext cx="200521" cy="162635"/>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en-US"/>
            </a:defPPr>
            <a:lvl1pPr marL="0" algn="l" defTabSz="1042873" rtl="0" eaLnBrk="1" latinLnBrk="0" hangingPunct="1">
              <a:defRPr sz="2053" kern="1200">
                <a:solidFill>
                  <a:schemeClr val="lt1"/>
                </a:solidFill>
                <a:latin typeface="+mn-lt"/>
                <a:ea typeface="+mn-ea"/>
                <a:cs typeface="+mn-cs"/>
              </a:defRPr>
            </a:lvl1pPr>
            <a:lvl2pPr marL="521437" algn="l" defTabSz="1042873" rtl="0" eaLnBrk="1" latinLnBrk="0" hangingPunct="1">
              <a:defRPr sz="2053" kern="1200">
                <a:solidFill>
                  <a:schemeClr val="lt1"/>
                </a:solidFill>
                <a:latin typeface="+mn-lt"/>
                <a:ea typeface="+mn-ea"/>
                <a:cs typeface="+mn-cs"/>
              </a:defRPr>
            </a:lvl2pPr>
            <a:lvl3pPr marL="1042873" algn="l" defTabSz="1042873" rtl="0" eaLnBrk="1" latinLnBrk="0" hangingPunct="1">
              <a:defRPr sz="2053" kern="1200">
                <a:solidFill>
                  <a:schemeClr val="lt1"/>
                </a:solidFill>
                <a:latin typeface="+mn-lt"/>
                <a:ea typeface="+mn-ea"/>
                <a:cs typeface="+mn-cs"/>
              </a:defRPr>
            </a:lvl3pPr>
            <a:lvl4pPr marL="1564310" algn="l" defTabSz="1042873" rtl="0" eaLnBrk="1" latinLnBrk="0" hangingPunct="1">
              <a:defRPr sz="2053" kern="1200">
                <a:solidFill>
                  <a:schemeClr val="lt1"/>
                </a:solidFill>
                <a:latin typeface="+mn-lt"/>
                <a:ea typeface="+mn-ea"/>
                <a:cs typeface="+mn-cs"/>
              </a:defRPr>
            </a:lvl4pPr>
            <a:lvl5pPr marL="2085746" algn="l" defTabSz="1042873" rtl="0" eaLnBrk="1" latinLnBrk="0" hangingPunct="1">
              <a:defRPr sz="2053" kern="1200">
                <a:solidFill>
                  <a:schemeClr val="lt1"/>
                </a:solidFill>
                <a:latin typeface="+mn-lt"/>
                <a:ea typeface="+mn-ea"/>
                <a:cs typeface="+mn-cs"/>
              </a:defRPr>
            </a:lvl5pPr>
            <a:lvl6pPr marL="2607183" algn="l" defTabSz="1042873" rtl="0" eaLnBrk="1" latinLnBrk="0" hangingPunct="1">
              <a:defRPr sz="2053" kern="1200">
                <a:solidFill>
                  <a:schemeClr val="lt1"/>
                </a:solidFill>
                <a:latin typeface="+mn-lt"/>
                <a:ea typeface="+mn-ea"/>
                <a:cs typeface="+mn-cs"/>
              </a:defRPr>
            </a:lvl6pPr>
            <a:lvl7pPr marL="3128620" algn="l" defTabSz="1042873" rtl="0" eaLnBrk="1" latinLnBrk="0" hangingPunct="1">
              <a:defRPr sz="2053" kern="1200">
                <a:solidFill>
                  <a:schemeClr val="lt1"/>
                </a:solidFill>
                <a:latin typeface="+mn-lt"/>
                <a:ea typeface="+mn-ea"/>
                <a:cs typeface="+mn-cs"/>
              </a:defRPr>
            </a:lvl7pPr>
            <a:lvl8pPr marL="3650056" algn="l" defTabSz="1042873" rtl="0" eaLnBrk="1" latinLnBrk="0" hangingPunct="1">
              <a:defRPr sz="2053" kern="1200">
                <a:solidFill>
                  <a:schemeClr val="lt1"/>
                </a:solidFill>
                <a:latin typeface="+mn-lt"/>
                <a:ea typeface="+mn-ea"/>
                <a:cs typeface="+mn-cs"/>
              </a:defRPr>
            </a:lvl8pPr>
            <a:lvl9pPr marL="4171493" algn="l" defTabSz="1042873" rtl="0" eaLnBrk="1" latinLnBrk="0" hangingPunct="1">
              <a:defRPr sz="2053" kern="1200">
                <a:solidFill>
                  <a:schemeClr val="lt1"/>
                </a:solidFill>
                <a:latin typeface="+mn-lt"/>
                <a:ea typeface="+mn-ea"/>
                <a:cs typeface="+mn-cs"/>
              </a:defRPr>
            </a:lvl9pPr>
          </a:lstStyle>
          <a:p>
            <a:pPr algn="ctr"/>
            <a:endParaRPr lang="en-US"/>
          </a:p>
        </p:txBody>
      </p:sp>
      <p:sp>
        <p:nvSpPr>
          <p:cNvPr id="10" name="Arrow: Right 9">
            <a:extLst>
              <a:ext uri="{FF2B5EF4-FFF2-40B4-BE49-F238E27FC236}">
                <a16:creationId xmlns:a16="http://schemas.microsoft.com/office/drawing/2014/main" id="{DC28F1E9-6FFF-4840-87CE-C1048A9E0D46}"/>
              </a:ext>
            </a:extLst>
          </p:cNvPr>
          <p:cNvSpPr/>
          <p:nvPr/>
        </p:nvSpPr>
        <p:spPr>
          <a:xfrm>
            <a:off x="3060001" y="1827483"/>
            <a:ext cx="200521" cy="162635"/>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en-US"/>
            </a:defPPr>
            <a:lvl1pPr marL="0" algn="l" defTabSz="1042873" rtl="0" eaLnBrk="1" latinLnBrk="0" hangingPunct="1">
              <a:defRPr sz="2053" kern="1200">
                <a:solidFill>
                  <a:schemeClr val="lt1"/>
                </a:solidFill>
                <a:latin typeface="+mn-lt"/>
                <a:ea typeface="+mn-ea"/>
                <a:cs typeface="+mn-cs"/>
              </a:defRPr>
            </a:lvl1pPr>
            <a:lvl2pPr marL="521437" algn="l" defTabSz="1042873" rtl="0" eaLnBrk="1" latinLnBrk="0" hangingPunct="1">
              <a:defRPr sz="2053" kern="1200">
                <a:solidFill>
                  <a:schemeClr val="lt1"/>
                </a:solidFill>
                <a:latin typeface="+mn-lt"/>
                <a:ea typeface="+mn-ea"/>
                <a:cs typeface="+mn-cs"/>
              </a:defRPr>
            </a:lvl2pPr>
            <a:lvl3pPr marL="1042873" algn="l" defTabSz="1042873" rtl="0" eaLnBrk="1" latinLnBrk="0" hangingPunct="1">
              <a:defRPr sz="2053" kern="1200">
                <a:solidFill>
                  <a:schemeClr val="lt1"/>
                </a:solidFill>
                <a:latin typeface="+mn-lt"/>
                <a:ea typeface="+mn-ea"/>
                <a:cs typeface="+mn-cs"/>
              </a:defRPr>
            </a:lvl3pPr>
            <a:lvl4pPr marL="1564310" algn="l" defTabSz="1042873" rtl="0" eaLnBrk="1" latinLnBrk="0" hangingPunct="1">
              <a:defRPr sz="2053" kern="1200">
                <a:solidFill>
                  <a:schemeClr val="lt1"/>
                </a:solidFill>
                <a:latin typeface="+mn-lt"/>
                <a:ea typeface="+mn-ea"/>
                <a:cs typeface="+mn-cs"/>
              </a:defRPr>
            </a:lvl4pPr>
            <a:lvl5pPr marL="2085746" algn="l" defTabSz="1042873" rtl="0" eaLnBrk="1" latinLnBrk="0" hangingPunct="1">
              <a:defRPr sz="2053" kern="1200">
                <a:solidFill>
                  <a:schemeClr val="lt1"/>
                </a:solidFill>
                <a:latin typeface="+mn-lt"/>
                <a:ea typeface="+mn-ea"/>
                <a:cs typeface="+mn-cs"/>
              </a:defRPr>
            </a:lvl5pPr>
            <a:lvl6pPr marL="2607183" algn="l" defTabSz="1042873" rtl="0" eaLnBrk="1" latinLnBrk="0" hangingPunct="1">
              <a:defRPr sz="2053" kern="1200">
                <a:solidFill>
                  <a:schemeClr val="lt1"/>
                </a:solidFill>
                <a:latin typeface="+mn-lt"/>
                <a:ea typeface="+mn-ea"/>
                <a:cs typeface="+mn-cs"/>
              </a:defRPr>
            </a:lvl6pPr>
            <a:lvl7pPr marL="3128620" algn="l" defTabSz="1042873" rtl="0" eaLnBrk="1" latinLnBrk="0" hangingPunct="1">
              <a:defRPr sz="2053" kern="1200">
                <a:solidFill>
                  <a:schemeClr val="lt1"/>
                </a:solidFill>
                <a:latin typeface="+mn-lt"/>
                <a:ea typeface="+mn-ea"/>
                <a:cs typeface="+mn-cs"/>
              </a:defRPr>
            </a:lvl7pPr>
            <a:lvl8pPr marL="3650056" algn="l" defTabSz="1042873" rtl="0" eaLnBrk="1" latinLnBrk="0" hangingPunct="1">
              <a:defRPr sz="2053" kern="1200">
                <a:solidFill>
                  <a:schemeClr val="lt1"/>
                </a:solidFill>
                <a:latin typeface="+mn-lt"/>
                <a:ea typeface="+mn-ea"/>
                <a:cs typeface="+mn-cs"/>
              </a:defRPr>
            </a:lvl8pPr>
            <a:lvl9pPr marL="4171493" algn="l" defTabSz="1042873" rtl="0" eaLnBrk="1" latinLnBrk="0" hangingPunct="1">
              <a:defRPr sz="2053" kern="1200">
                <a:solidFill>
                  <a:schemeClr val="lt1"/>
                </a:solidFill>
                <a:latin typeface="+mn-lt"/>
                <a:ea typeface="+mn-ea"/>
                <a:cs typeface="+mn-cs"/>
              </a:defRPr>
            </a:lvl9pPr>
          </a:lstStyle>
          <a:p>
            <a:pPr algn="ctr"/>
            <a:endParaRPr lang="en-US" dirty="0"/>
          </a:p>
        </p:txBody>
      </p:sp>
      <p:sp>
        <p:nvSpPr>
          <p:cNvPr id="11" name="Arrow: Right 10">
            <a:extLst>
              <a:ext uri="{FF2B5EF4-FFF2-40B4-BE49-F238E27FC236}">
                <a16:creationId xmlns:a16="http://schemas.microsoft.com/office/drawing/2014/main" id="{5F190506-50BA-4B32-A5A9-DE5B4D60BE9D}"/>
              </a:ext>
            </a:extLst>
          </p:cNvPr>
          <p:cNvSpPr/>
          <p:nvPr/>
        </p:nvSpPr>
        <p:spPr>
          <a:xfrm>
            <a:off x="3060003" y="2504107"/>
            <a:ext cx="200521" cy="162635"/>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en-US"/>
            </a:defPPr>
            <a:lvl1pPr marL="0" algn="l" defTabSz="1042873" rtl="0" eaLnBrk="1" latinLnBrk="0" hangingPunct="1">
              <a:defRPr sz="2053" kern="1200">
                <a:solidFill>
                  <a:schemeClr val="lt1"/>
                </a:solidFill>
                <a:latin typeface="+mn-lt"/>
                <a:ea typeface="+mn-ea"/>
                <a:cs typeface="+mn-cs"/>
              </a:defRPr>
            </a:lvl1pPr>
            <a:lvl2pPr marL="521437" algn="l" defTabSz="1042873" rtl="0" eaLnBrk="1" latinLnBrk="0" hangingPunct="1">
              <a:defRPr sz="2053" kern="1200">
                <a:solidFill>
                  <a:schemeClr val="lt1"/>
                </a:solidFill>
                <a:latin typeface="+mn-lt"/>
                <a:ea typeface="+mn-ea"/>
                <a:cs typeface="+mn-cs"/>
              </a:defRPr>
            </a:lvl2pPr>
            <a:lvl3pPr marL="1042873" algn="l" defTabSz="1042873" rtl="0" eaLnBrk="1" latinLnBrk="0" hangingPunct="1">
              <a:defRPr sz="2053" kern="1200">
                <a:solidFill>
                  <a:schemeClr val="lt1"/>
                </a:solidFill>
                <a:latin typeface="+mn-lt"/>
                <a:ea typeface="+mn-ea"/>
                <a:cs typeface="+mn-cs"/>
              </a:defRPr>
            </a:lvl3pPr>
            <a:lvl4pPr marL="1564310" algn="l" defTabSz="1042873" rtl="0" eaLnBrk="1" latinLnBrk="0" hangingPunct="1">
              <a:defRPr sz="2053" kern="1200">
                <a:solidFill>
                  <a:schemeClr val="lt1"/>
                </a:solidFill>
                <a:latin typeface="+mn-lt"/>
                <a:ea typeface="+mn-ea"/>
                <a:cs typeface="+mn-cs"/>
              </a:defRPr>
            </a:lvl4pPr>
            <a:lvl5pPr marL="2085746" algn="l" defTabSz="1042873" rtl="0" eaLnBrk="1" latinLnBrk="0" hangingPunct="1">
              <a:defRPr sz="2053" kern="1200">
                <a:solidFill>
                  <a:schemeClr val="lt1"/>
                </a:solidFill>
                <a:latin typeface="+mn-lt"/>
                <a:ea typeface="+mn-ea"/>
                <a:cs typeface="+mn-cs"/>
              </a:defRPr>
            </a:lvl5pPr>
            <a:lvl6pPr marL="2607183" algn="l" defTabSz="1042873" rtl="0" eaLnBrk="1" latinLnBrk="0" hangingPunct="1">
              <a:defRPr sz="2053" kern="1200">
                <a:solidFill>
                  <a:schemeClr val="lt1"/>
                </a:solidFill>
                <a:latin typeface="+mn-lt"/>
                <a:ea typeface="+mn-ea"/>
                <a:cs typeface="+mn-cs"/>
              </a:defRPr>
            </a:lvl6pPr>
            <a:lvl7pPr marL="3128620" algn="l" defTabSz="1042873" rtl="0" eaLnBrk="1" latinLnBrk="0" hangingPunct="1">
              <a:defRPr sz="2053" kern="1200">
                <a:solidFill>
                  <a:schemeClr val="lt1"/>
                </a:solidFill>
                <a:latin typeface="+mn-lt"/>
                <a:ea typeface="+mn-ea"/>
                <a:cs typeface="+mn-cs"/>
              </a:defRPr>
            </a:lvl7pPr>
            <a:lvl8pPr marL="3650056" algn="l" defTabSz="1042873" rtl="0" eaLnBrk="1" latinLnBrk="0" hangingPunct="1">
              <a:defRPr sz="2053" kern="1200">
                <a:solidFill>
                  <a:schemeClr val="lt1"/>
                </a:solidFill>
                <a:latin typeface="+mn-lt"/>
                <a:ea typeface="+mn-ea"/>
                <a:cs typeface="+mn-cs"/>
              </a:defRPr>
            </a:lvl8pPr>
            <a:lvl9pPr marL="4171493" algn="l" defTabSz="1042873" rtl="0" eaLnBrk="1" latinLnBrk="0" hangingPunct="1">
              <a:defRPr sz="2053" kern="1200">
                <a:solidFill>
                  <a:schemeClr val="lt1"/>
                </a:solidFill>
                <a:latin typeface="+mn-lt"/>
                <a:ea typeface="+mn-ea"/>
                <a:cs typeface="+mn-cs"/>
              </a:defRPr>
            </a:lvl9pPr>
          </a:lstStyle>
          <a:p>
            <a:pPr algn="ctr"/>
            <a:endParaRPr lang="en-US"/>
          </a:p>
        </p:txBody>
      </p:sp>
      <p:sp>
        <p:nvSpPr>
          <p:cNvPr id="12" name="Arrow: Right 11">
            <a:extLst>
              <a:ext uri="{FF2B5EF4-FFF2-40B4-BE49-F238E27FC236}">
                <a16:creationId xmlns:a16="http://schemas.microsoft.com/office/drawing/2014/main" id="{08032A94-58CC-4F10-A899-0B7C496CFBE3}"/>
              </a:ext>
            </a:extLst>
          </p:cNvPr>
          <p:cNvSpPr/>
          <p:nvPr/>
        </p:nvSpPr>
        <p:spPr>
          <a:xfrm>
            <a:off x="3060002" y="3894825"/>
            <a:ext cx="200521" cy="162635"/>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en-US"/>
            </a:defPPr>
            <a:lvl1pPr marL="0" algn="l" defTabSz="1042873" rtl="0" eaLnBrk="1" latinLnBrk="0" hangingPunct="1">
              <a:defRPr sz="2053" kern="1200">
                <a:solidFill>
                  <a:schemeClr val="lt1"/>
                </a:solidFill>
                <a:latin typeface="+mn-lt"/>
                <a:ea typeface="+mn-ea"/>
                <a:cs typeface="+mn-cs"/>
              </a:defRPr>
            </a:lvl1pPr>
            <a:lvl2pPr marL="521437" algn="l" defTabSz="1042873" rtl="0" eaLnBrk="1" latinLnBrk="0" hangingPunct="1">
              <a:defRPr sz="2053" kern="1200">
                <a:solidFill>
                  <a:schemeClr val="lt1"/>
                </a:solidFill>
                <a:latin typeface="+mn-lt"/>
                <a:ea typeface="+mn-ea"/>
                <a:cs typeface="+mn-cs"/>
              </a:defRPr>
            </a:lvl2pPr>
            <a:lvl3pPr marL="1042873" algn="l" defTabSz="1042873" rtl="0" eaLnBrk="1" latinLnBrk="0" hangingPunct="1">
              <a:defRPr sz="2053" kern="1200">
                <a:solidFill>
                  <a:schemeClr val="lt1"/>
                </a:solidFill>
                <a:latin typeface="+mn-lt"/>
                <a:ea typeface="+mn-ea"/>
                <a:cs typeface="+mn-cs"/>
              </a:defRPr>
            </a:lvl3pPr>
            <a:lvl4pPr marL="1564310" algn="l" defTabSz="1042873" rtl="0" eaLnBrk="1" latinLnBrk="0" hangingPunct="1">
              <a:defRPr sz="2053" kern="1200">
                <a:solidFill>
                  <a:schemeClr val="lt1"/>
                </a:solidFill>
                <a:latin typeface="+mn-lt"/>
                <a:ea typeface="+mn-ea"/>
                <a:cs typeface="+mn-cs"/>
              </a:defRPr>
            </a:lvl4pPr>
            <a:lvl5pPr marL="2085746" algn="l" defTabSz="1042873" rtl="0" eaLnBrk="1" latinLnBrk="0" hangingPunct="1">
              <a:defRPr sz="2053" kern="1200">
                <a:solidFill>
                  <a:schemeClr val="lt1"/>
                </a:solidFill>
                <a:latin typeface="+mn-lt"/>
                <a:ea typeface="+mn-ea"/>
                <a:cs typeface="+mn-cs"/>
              </a:defRPr>
            </a:lvl5pPr>
            <a:lvl6pPr marL="2607183" algn="l" defTabSz="1042873" rtl="0" eaLnBrk="1" latinLnBrk="0" hangingPunct="1">
              <a:defRPr sz="2053" kern="1200">
                <a:solidFill>
                  <a:schemeClr val="lt1"/>
                </a:solidFill>
                <a:latin typeface="+mn-lt"/>
                <a:ea typeface="+mn-ea"/>
                <a:cs typeface="+mn-cs"/>
              </a:defRPr>
            </a:lvl6pPr>
            <a:lvl7pPr marL="3128620" algn="l" defTabSz="1042873" rtl="0" eaLnBrk="1" latinLnBrk="0" hangingPunct="1">
              <a:defRPr sz="2053" kern="1200">
                <a:solidFill>
                  <a:schemeClr val="lt1"/>
                </a:solidFill>
                <a:latin typeface="+mn-lt"/>
                <a:ea typeface="+mn-ea"/>
                <a:cs typeface="+mn-cs"/>
              </a:defRPr>
            </a:lvl7pPr>
            <a:lvl8pPr marL="3650056" algn="l" defTabSz="1042873" rtl="0" eaLnBrk="1" latinLnBrk="0" hangingPunct="1">
              <a:defRPr sz="2053" kern="1200">
                <a:solidFill>
                  <a:schemeClr val="lt1"/>
                </a:solidFill>
                <a:latin typeface="+mn-lt"/>
                <a:ea typeface="+mn-ea"/>
                <a:cs typeface="+mn-cs"/>
              </a:defRPr>
            </a:lvl8pPr>
            <a:lvl9pPr marL="4171493" algn="l" defTabSz="1042873" rtl="0" eaLnBrk="1" latinLnBrk="0" hangingPunct="1">
              <a:defRPr sz="2053" kern="1200">
                <a:solidFill>
                  <a:schemeClr val="lt1"/>
                </a:solidFill>
                <a:latin typeface="+mn-lt"/>
                <a:ea typeface="+mn-ea"/>
                <a:cs typeface="+mn-cs"/>
              </a:defRPr>
            </a:lvl9pPr>
          </a:lstStyle>
          <a:p>
            <a:pPr algn="ctr"/>
            <a:endParaRPr lang="en-US"/>
          </a:p>
        </p:txBody>
      </p:sp>
      <p:sp>
        <p:nvSpPr>
          <p:cNvPr id="13" name="Arrow: Right 12">
            <a:extLst>
              <a:ext uri="{FF2B5EF4-FFF2-40B4-BE49-F238E27FC236}">
                <a16:creationId xmlns:a16="http://schemas.microsoft.com/office/drawing/2014/main" id="{9F8FC9F2-51A3-43AB-B41F-C5F832A03A2F}"/>
              </a:ext>
            </a:extLst>
          </p:cNvPr>
          <p:cNvSpPr/>
          <p:nvPr/>
        </p:nvSpPr>
        <p:spPr>
          <a:xfrm>
            <a:off x="3060001" y="5321890"/>
            <a:ext cx="200521" cy="162635"/>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en-US"/>
            </a:defPPr>
            <a:lvl1pPr marL="0" algn="l" defTabSz="1042873" rtl="0" eaLnBrk="1" latinLnBrk="0" hangingPunct="1">
              <a:defRPr sz="2053" kern="1200">
                <a:solidFill>
                  <a:schemeClr val="lt1"/>
                </a:solidFill>
                <a:latin typeface="+mn-lt"/>
                <a:ea typeface="+mn-ea"/>
                <a:cs typeface="+mn-cs"/>
              </a:defRPr>
            </a:lvl1pPr>
            <a:lvl2pPr marL="521437" algn="l" defTabSz="1042873" rtl="0" eaLnBrk="1" latinLnBrk="0" hangingPunct="1">
              <a:defRPr sz="2053" kern="1200">
                <a:solidFill>
                  <a:schemeClr val="lt1"/>
                </a:solidFill>
                <a:latin typeface="+mn-lt"/>
                <a:ea typeface="+mn-ea"/>
                <a:cs typeface="+mn-cs"/>
              </a:defRPr>
            </a:lvl2pPr>
            <a:lvl3pPr marL="1042873" algn="l" defTabSz="1042873" rtl="0" eaLnBrk="1" latinLnBrk="0" hangingPunct="1">
              <a:defRPr sz="2053" kern="1200">
                <a:solidFill>
                  <a:schemeClr val="lt1"/>
                </a:solidFill>
                <a:latin typeface="+mn-lt"/>
                <a:ea typeface="+mn-ea"/>
                <a:cs typeface="+mn-cs"/>
              </a:defRPr>
            </a:lvl3pPr>
            <a:lvl4pPr marL="1564310" algn="l" defTabSz="1042873" rtl="0" eaLnBrk="1" latinLnBrk="0" hangingPunct="1">
              <a:defRPr sz="2053" kern="1200">
                <a:solidFill>
                  <a:schemeClr val="lt1"/>
                </a:solidFill>
                <a:latin typeface="+mn-lt"/>
                <a:ea typeface="+mn-ea"/>
                <a:cs typeface="+mn-cs"/>
              </a:defRPr>
            </a:lvl4pPr>
            <a:lvl5pPr marL="2085746" algn="l" defTabSz="1042873" rtl="0" eaLnBrk="1" latinLnBrk="0" hangingPunct="1">
              <a:defRPr sz="2053" kern="1200">
                <a:solidFill>
                  <a:schemeClr val="lt1"/>
                </a:solidFill>
                <a:latin typeface="+mn-lt"/>
                <a:ea typeface="+mn-ea"/>
                <a:cs typeface="+mn-cs"/>
              </a:defRPr>
            </a:lvl5pPr>
            <a:lvl6pPr marL="2607183" algn="l" defTabSz="1042873" rtl="0" eaLnBrk="1" latinLnBrk="0" hangingPunct="1">
              <a:defRPr sz="2053" kern="1200">
                <a:solidFill>
                  <a:schemeClr val="lt1"/>
                </a:solidFill>
                <a:latin typeface="+mn-lt"/>
                <a:ea typeface="+mn-ea"/>
                <a:cs typeface="+mn-cs"/>
              </a:defRPr>
            </a:lvl6pPr>
            <a:lvl7pPr marL="3128620" algn="l" defTabSz="1042873" rtl="0" eaLnBrk="1" latinLnBrk="0" hangingPunct="1">
              <a:defRPr sz="2053" kern="1200">
                <a:solidFill>
                  <a:schemeClr val="lt1"/>
                </a:solidFill>
                <a:latin typeface="+mn-lt"/>
                <a:ea typeface="+mn-ea"/>
                <a:cs typeface="+mn-cs"/>
              </a:defRPr>
            </a:lvl7pPr>
            <a:lvl8pPr marL="3650056" algn="l" defTabSz="1042873" rtl="0" eaLnBrk="1" latinLnBrk="0" hangingPunct="1">
              <a:defRPr sz="2053" kern="1200">
                <a:solidFill>
                  <a:schemeClr val="lt1"/>
                </a:solidFill>
                <a:latin typeface="+mn-lt"/>
                <a:ea typeface="+mn-ea"/>
                <a:cs typeface="+mn-cs"/>
              </a:defRPr>
            </a:lvl8pPr>
            <a:lvl9pPr marL="4171493" algn="l" defTabSz="1042873" rtl="0" eaLnBrk="1" latinLnBrk="0" hangingPunct="1">
              <a:defRPr sz="2053" kern="1200">
                <a:solidFill>
                  <a:schemeClr val="lt1"/>
                </a:solidFill>
                <a:latin typeface="+mn-lt"/>
                <a:ea typeface="+mn-ea"/>
                <a:cs typeface="+mn-cs"/>
              </a:defRPr>
            </a:lvl9pPr>
          </a:lstStyle>
          <a:p>
            <a:pPr algn="ctr"/>
            <a:endParaRPr lang="en-US"/>
          </a:p>
        </p:txBody>
      </p:sp>
      <p:sp>
        <p:nvSpPr>
          <p:cNvPr id="14" name="Arrow: Right 13">
            <a:extLst>
              <a:ext uri="{FF2B5EF4-FFF2-40B4-BE49-F238E27FC236}">
                <a16:creationId xmlns:a16="http://schemas.microsoft.com/office/drawing/2014/main" id="{49D880F3-781A-49D9-9B05-5CBA19FAEC94}"/>
              </a:ext>
            </a:extLst>
          </p:cNvPr>
          <p:cNvSpPr/>
          <p:nvPr/>
        </p:nvSpPr>
        <p:spPr>
          <a:xfrm>
            <a:off x="5597768" y="2403195"/>
            <a:ext cx="200521" cy="162635"/>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en-US"/>
            </a:defPPr>
            <a:lvl1pPr marL="0" algn="l" defTabSz="1042873" rtl="0" eaLnBrk="1" latinLnBrk="0" hangingPunct="1">
              <a:defRPr sz="2053" kern="1200">
                <a:solidFill>
                  <a:schemeClr val="lt1"/>
                </a:solidFill>
                <a:latin typeface="+mn-lt"/>
                <a:ea typeface="+mn-ea"/>
                <a:cs typeface="+mn-cs"/>
              </a:defRPr>
            </a:lvl1pPr>
            <a:lvl2pPr marL="521437" algn="l" defTabSz="1042873" rtl="0" eaLnBrk="1" latinLnBrk="0" hangingPunct="1">
              <a:defRPr sz="2053" kern="1200">
                <a:solidFill>
                  <a:schemeClr val="lt1"/>
                </a:solidFill>
                <a:latin typeface="+mn-lt"/>
                <a:ea typeface="+mn-ea"/>
                <a:cs typeface="+mn-cs"/>
              </a:defRPr>
            </a:lvl2pPr>
            <a:lvl3pPr marL="1042873" algn="l" defTabSz="1042873" rtl="0" eaLnBrk="1" latinLnBrk="0" hangingPunct="1">
              <a:defRPr sz="2053" kern="1200">
                <a:solidFill>
                  <a:schemeClr val="lt1"/>
                </a:solidFill>
                <a:latin typeface="+mn-lt"/>
                <a:ea typeface="+mn-ea"/>
                <a:cs typeface="+mn-cs"/>
              </a:defRPr>
            </a:lvl3pPr>
            <a:lvl4pPr marL="1564310" algn="l" defTabSz="1042873" rtl="0" eaLnBrk="1" latinLnBrk="0" hangingPunct="1">
              <a:defRPr sz="2053" kern="1200">
                <a:solidFill>
                  <a:schemeClr val="lt1"/>
                </a:solidFill>
                <a:latin typeface="+mn-lt"/>
                <a:ea typeface="+mn-ea"/>
                <a:cs typeface="+mn-cs"/>
              </a:defRPr>
            </a:lvl4pPr>
            <a:lvl5pPr marL="2085746" algn="l" defTabSz="1042873" rtl="0" eaLnBrk="1" latinLnBrk="0" hangingPunct="1">
              <a:defRPr sz="2053" kern="1200">
                <a:solidFill>
                  <a:schemeClr val="lt1"/>
                </a:solidFill>
                <a:latin typeface="+mn-lt"/>
                <a:ea typeface="+mn-ea"/>
                <a:cs typeface="+mn-cs"/>
              </a:defRPr>
            </a:lvl5pPr>
            <a:lvl6pPr marL="2607183" algn="l" defTabSz="1042873" rtl="0" eaLnBrk="1" latinLnBrk="0" hangingPunct="1">
              <a:defRPr sz="2053" kern="1200">
                <a:solidFill>
                  <a:schemeClr val="lt1"/>
                </a:solidFill>
                <a:latin typeface="+mn-lt"/>
                <a:ea typeface="+mn-ea"/>
                <a:cs typeface="+mn-cs"/>
              </a:defRPr>
            </a:lvl6pPr>
            <a:lvl7pPr marL="3128620" algn="l" defTabSz="1042873" rtl="0" eaLnBrk="1" latinLnBrk="0" hangingPunct="1">
              <a:defRPr sz="2053" kern="1200">
                <a:solidFill>
                  <a:schemeClr val="lt1"/>
                </a:solidFill>
                <a:latin typeface="+mn-lt"/>
                <a:ea typeface="+mn-ea"/>
                <a:cs typeface="+mn-cs"/>
              </a:defRPr>
            </a:lvl7pPr>
            <a:lvl8pPr marL="3650056" algn="l" defTabSz="1042873" rtl="0" eaLnBrk="1" latinLnBrk="0" hangingPunct="1">
              <a:defRPr sz="2053" kern="1200">
                <a:solidFill>
                  <a:schemeClr val="lt1"/>
                </a:solidFill>
                <a:latin typeface="+mn-lt"/>
                <a:ea typeface="+mn-ea"/>
                <a:cs typeface="+mn-cs"/>
              </a:defRPr>
            </a:lvl8pPr>
            <a:lvl9pPr marL="4171493" algn="l" defTabSz="1042873" rtl="0" eaLnBrk="1" latinLnBrk="0" hangingPunct="1">
              <a:defRPr sz="2053" kern="1200">
                <a:solidFill>
                  <a:schemeClr val="lt1"/>
                </a:solidFill>
                <a:latin typeface="+mn-lt"/>
                <a:ea typeface="+mn-ea"/>
                <a:cs typeface="+mn-cs"/>
              </a:defRPr>
            </a:lvl9pPr>
          </a:lstStyle>
          <a:p>
            <a:pPr algn="ctr"/>
            <a:endParaRPr lang="en-US"/>
          </a:p>
        </p:txBody>
      </p:sp>
      <p:sp>
        <p:nvSpPr>
          <p:cNvPr id="15" name="Arrow: Right 14">
            <a:extLst>
              <a:ext uri="{FF2B5EF4-FFF2-40B4-BE49-F238E27FC236}">
                <a16:creationId xmlns:a16="http://schemas.microsoft.com/office/drawing/2014/main" id="{BD9F1421-AB89-4E6C-8535-B937F4B15585}"/>
              </a:ext>
            </a:extLst>
          </p:cNvPr>
          <p:cNvSpPr/>
          <p:nvPr/>
        </p:nvSpPr>
        <p:spPr>
          <a:xfrm>
            <a:off x="5597767" y="3218425"/>
            <a:ext cx="200521" cy="162635"/>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en-US"/>
            </a:defPPr>
            <a:lvl1pPr marL="0" algn="l" defTabSz="1042873" rtl="0" eaLnBrk="1" latinLnBrk="0" hangingPunct="1">
              <a:defRPr sz="2053" kern="1200">
                <a:solidFill>
                  <a:schemeClr val="lt1"/>
                </a:solidFill>
                <a:latin typeface="+mn-lt"/>
                <a:ea typeface="+mn-ea"/>
                <a:cs typeface="+mn-cs"/>
              </a:defRPr>
            </a:lvl1pPr>
            <a:lvl2pPr marL="521437" algn="l" defTabSz="1042873" rtl="0" eaLnBrk="1" latinLnBrk="0" hangingPunct="1">
              <a:defRPr sz="2053" kern="1200">
                <a:solidFill>
                  <a:schemeClr val="lt1"/>
                </a:solidFill>
                <a:latin typeface="+mn-lt"/>
                <a:ea typeface="+mn-ea"/>
                <a:cs typeface="+mn-cs"/>
              </a:defRPr>
            </a:lvl2pPr>
            <a:lvl3pPr marL="1042873" algn="l" defTabSz="1042873" rtl="0" eaLnBrk="1" latinLnBrk="0" hangingPunct="1">
              <a:defRPr sz="2053" kern="1200">
                <a:solidFill>
                  <a:schemeClr val="lt1"/>
                </a:solidFill>
                <a:latin typeface="+mn-lt"/>
                <a:ea typeface="+mn-ea"/>
                <a:cs typeface="+mn-cs"/>
              </a:defRPr>
            </a:lvl3pPr>
            <a:lvl4pPr marL="1564310" algn="l" defTabSz="1042873" rtl="0" eaLnBrk="1" latinLnBrk="0" hangingPunct="1">
              <a:defRPr sz="2053" kern="1200">
                <a:solidFill>
                  <a:schemeClr val="lt1"/>
                </a:solidFill>
                <a:latin typeface="+mn-lt"/>
                <a:ea typeface="+mn-ea"/>
                <a:cs typeface="+mn-cs"/>
              </a:defRPr>
            </a:lvl4pPr>
            <a:lvl5pPr marL="2085746" algn="l" defTabSz="1042873" rtl="0" eaLnBrk="1" latinLnBrk="0" hangingPunct="1">
              <a:defRPr sz="2053" kern="1200">
                <a:solidFill>
                  <a:schemeClr val="lt1"/>
                </a:solidFill>
                <a:latin typeface="+mn-lt"/>
                <a:ea typeface="+mn-ea"/>
                <a:cs typeface="+mn-cs"/>
              </a:defRPr>
            </a:lvl5pPr>
            <a:lvl6pPr marL="2607183" algn="l" defTabSz="1042873" rtl="0" eaLnBrk="1" latinLnBrk="0" hangingPunct="1">
              <a:defRPr sz="2053" kern="1200">
                <a:solidFill>
                  <a:schemeClr val="lt1"/>
                </a:solidFill>
                <a:latin typeface="+mn-lt"/>
                <a:ea typeface="+mn-ea"/>
                <a:cs typeface="+mn-cs"/>
              </a:defRPr>
            </a:lvl6pPr>
            <a:lvl7pPr marL="3128620" algn="l" defTabSz="1042873" rtl="0" eaLnBrk="1" latinLnBrk="0" hangingPunct="1">
              <a:defRPr sz="2053" kern="1200">
                <a:solidFill>
                  <a:schemeClr val="lt1"/>
                </a:solidFill>
                <a:latin typeface="+mn-lt"/>
                <a:ea typeface="+mn-ea"/>
                <a:cs typeface="+mn-cs"/>
              </a:defRPr>
            </a:lvl7pPr>
            <a:lvl8pPr marL="3650056" algn="l" defTabSz="1042873" rtl="0" eaLnBrk="1" latinLnBrk="0" hangingPunct="1">
              <a:defRPr sz="2053" kern="1200">
                <a:solidFill>
                  <a:schemeClr val="lt1"/>
                </a:solidFill>
                <a:latin typeface="+mn-lt"/>
                <a:ea typeface="+mn-ea"/>
                <a:cs typeface="+mn-cs"/>
              </a:defRPr>
            </a:lvl8pPr>
            <a:lvl9pPr marL="4171493" algn="l" defTabSz="1042873" rtl="0" eaLnBrk="1" latinLnBrk="0" hangingPunct="1">
              <a:defRPr sz="2053" kern="1200">
                <a:solidFill>
                  <a:schemeClr val="lt1"/>
                </a:solidFill>
                <a:latin typeface="+mn-lt"/>
                <a:ea typeface="+mn-ea"/>
                <a:cs typeface="+mn-cs"/>
              </a:defRPr>
            </a:lvl9pPr>
          </a:lstStyle>
          <a:p>
            <a:pPr algn="ctr"/>
            <a:endParaRPr lang="en-US"/>
          </a:p>
        </p:txBody>
      </p:sp>
      <p:sp>
        <p:nvSpPr>
          <p:cNvPr id="16" name="Arrow: Right 15">
            <a:extLst>
              <a:ext uri="{FF2B5EF4-FFF2-40B4-BE49-F238E27FC236}">
                <a16:creationId xmlns:a16="http://schemas.microsoft.com/office/drawing/2014/main" id="{5D1DFCA6-E817-43FE-BDB4-C437BCA7C00D}"/>
              </a:ext>
            </a:extLst>
          </p:cNvPr>
          <p:cNvSpPr/>
          <p:nvPr/>
        </p:nvSpPr>
        <p:spPr>
          <a:xfrm>
            <a:off x="5597767" y="4854455"/>
            <a:ext cx="200521" cy="162635"/>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en-US"/>
            </a:defPPr>
            <a:lvl1pPr marL="0" algn="l" defTabSz="1042873" rtl="0" eaLnBrk="1" latinLnBrk="0" hangingPunct="1">
              <a:defRPr sz="2053" kern="1200">
                <a:solidFill>
                  <a:schemeClr val="lt1"/>
                </a:solidFill>
                <a:latin typeface="+mn-lt"/>
                <a:ea typeface="+mn-ea"/>
                <a:cs typeface="+mn-cs"/>
              </a:defRPr>
            </a:lvl1pPr>
            <a:lvl2pPr marL="521437" algn="l" defTabSz="1042873" rtl="0" eaLnBrk="1" latinLnBrk="0" hangingPunct="1">
              <a:defRPr sz="2053" kern="1200">
                <a:solidFill>
                  <a:schemeClr val="lt1"/>
                </a:solidFill>
                <a:latin typeface="+mn-lt"/>
                <a:ea typeface="+mn-ea"/>
                <a:cs typeface="+mn-cs"/>
              </a:defRPr>
            </a:lvl2pPr>
            <a:lvl3pPr marL="1042873" algn="l" defTabSz="1042873" rtl="0" eaLnBrk="1" latinLnBrk="0" hangingPunct="1">
              <a:defRPr sz="2053" kern="1200">
                <a:solidFill>
                  <a:schemeClr val="lt1"/>
                </a:solidFill>
                <a:latin typeface="+mn-lt"/>
                <a:ea typeface="+mn-ea"/>
                <a:cs typeface="+mn-cs"/>
              </a:defRPr>
            </a:lvl3pPr>
            <a:lvl4pPr marL="1564310" algn="l" defTabSz="1042873" rtl="0" eaLnBrk="1" latinLnBrk="0" hangingPunct="1">
              <a:defRPr sz="2053" kern="1200">
                <a:solidFill>
                  <a:schemeClr val="lt1"/>
                </a:solidFill>
                <a:latin typeface="+mn-lt"/>
                <a:ea typeface="+mn-ea"/>
                <a:cs typeface="+mn-cs"/>
              </a:defRPr>
            </a:lvl4pPr>
            <a:lvl5pPr marL="2085746" algn="l" defTabSz="1042873" rtl="0" eaLnBrk="1" latinLnBrk="0" hangingPunct="1">
              <a:defRPr sz="2053" kern="1200">
                <a:solidFill>
                  <a:schemeClr val="lt1"/>
                </a:solidFill>
                <a:latin typeface="+mn-lt"/>
                <a:ea typeface="+mn-ea"/>
                <a:cs typeface="+mn-cs"/>
              </a:defRPr>
            </a:lvl5pPr>
            <a:lvl6pPr marL="2607183" algn="l" defTabSz="1042873" rtl="0" eaLnBrk="1" latinLnBrk="0" hangingPunct="1">
              <a:defRPr sz="2053" kern="1200">
                <a:solidFill>
                  <a:schemeClr val="lt1"/>
                </a:solidFill>
                <a:latin typeface="+mn-lt"/>
                <a:ea typeface="+mn-ea"/>
                <a:cs typeface="+mn-cs"/>
              </a:defRPr>
            </a:lvl6pPr>
            <a:lvl7pPr marL="3128620" algn="l" defTabSz="1042873" rtl="0" eaLnBrk="1" latinLnBrk="0" hangingPunct="1">
              <a:defRPr sz="2053" kern="1200">
                <a:solidFill>
                  <a:schemeClr val="lt1"/>
                </a:solidFill>
                <a:latin typeface="+mn-lt"/>
                <a:ea typeface="+mn-ea"/>
                <a:cs typeface="+mn-cs"/>
              </a:defRPr>
            </a:lvl7pPr>
            <a:lvl8pPr marL="3650056" algn="l" defTabSz="1042873" rtl="0" eaLnBrk="1" latinLnBrk="0" hangingPunct="1">
              <a:defRPr sz="2053" kern="1200">
                <a:solidFill>
                  <a:schemeClr val="lt1"/>
                </a:solidFill>
                <a:latin typeface="+mn-lt"/>
                <a:ea typeface="+mn-ea"/>
                <a:cs typeface="+mn-cs"/>
              </a:defRPr>
            </a:lvl8pPr>
            <a:lvl9pPr marL="4171493" algn="l" defTabSz="1042873" rtl="0" eaLnBrk="1" latinLnBrk="0" hangingPunct="1">
              <a:defRPr sz="2053" kern="1200">
                <a:solidFill>
                  <a:schemeClr val="lt1"/>
                </a:solidFill>
                <a:latin typeface="+mn-lt"/>
                <a:ea typeface="+mn-ea"/>
                <a:cs typeface="+mn-cs"/>
              </a:defRPr>
            </a:lvl9pPr>
          </a:lstStyle>
          <a:p>
            <a:pPr algn="ctr"/>
            <a:endParaRPr lang="en-US"/>
          </a:p>
        </p:txBody>
      </p:sp>
      <p:sp>
        <p:nvSpPr>
          <p:cNvPr id="17" name="Arrow: Right 16">
            <a:extLst>
              <a:ext uri="{FF2B5EF4-FFF2-40B4-BE49-F238E27FC236}">
                <a16:creationId xmlns:a16="http://schemas.microsoft.com/office/drawing/2014/main" id="{A8798D27-BC5C-41DA-9824-73F4C904996F}"/>
              </a:ext>
            </a:extLst>
          </p:cNvPr>
          <p:cNvSpPr/>
          <p:nvPr/>
        </p:nvSpPr>
        <p:spPr>
          <a:xfrm>
            <a:off x="7978693" y="2514424"/>
            <a:ext cx="200521" cy="162635"/>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en-US"/>
            </a:defPPr>
            <a:lvl1pPr marL="0" algn="l" defTabSz="1042873" rtl="0" eaLnBrk="1" latinLnBrk="0" hangingPunct="1">
              <a:defRPr sz="2053" kern="1200">
                <a:solidFill>
                  <a:schemeClr val="lt1"/>
                </a:solidFill>
                <a:latin typeface="+mn-lt"/>
                <a:ea typeface="+mn-ea"/>
                <a:cs typeface="+mn-cs"/>
              </a:defRPr>
            </a:lvl1pPr>
            <a:lvl2pPr marL="521437" algn="l" defTabSz="1042873" rtl="0" eaLnBrk="1" latinLnBrk="0" hangingPunct="1">
              <a:defRPr sz="2053" kern="1200">
                <a:solidFill>
                  <a:schemeClr val="lt1"/>
                </a:solidFill>
                <a:latin typeface="+mn-lt"/>
                <a:ea typeface="+mn-ea"/>
                <a:cs typeface="+mn-cs"/>
              </a:defRPr>
            </a:lvl2pPr>
            <a:lvl3pPr marL="1042873" algn="l" defTabSz="1042873" rtl="0" eaLnBrk="1" latinLnBrk="0" hangingPunct="1">
              <a:defRPr sz="2053" kern="1200">
                <a:solidFill>
                  <a:schemeClr val="lt1"/>
                </a:solidFill>
                <a:latin typeface="+mn-lt"/>
                <a:ea typeface="+mn-ea"/>
                <a:cs typeface="+mn-cs"/>
              </a:defRPr>
            </a:lvl3pPr>
            <a:lvl4pPr marL="1564310" algn="l" defTabSz="1042873" rtl="0" eaLnBrk="1" latinLnBrk="0" hangingPunct="1">
              <a:defRPr sz="2053" kern="1200">
                <a:solidFill>
                  <a:schemeClr val="lt1"/>
                </a:solidFill>
                <a:latin typeface="+mn-lt"/>
                <a:ea typeface="+mn-ea"/>
                <a:cs typeface="+mn-cs"/>
              </a:defRPr>
            </a:lvl4pPr>
            <a:lvl5pPr marL="2085746" algn="l" defTabSz="1042873" rtl="0" eaLnBrk="1" latinLnBrk="0" hangingPunct="1">
              <a:defRPr sz="2053" kern="1200">
                <a:solidFill>
                  <a:schemeClr val="lt1"/>
                </a:solidFill>
                <a:latin typeface="+mn-lt"/>
                <a:ea typeface="+mn-ea"/>
                <a:cs typeface="+mn-cs"/>
              </a:defRPr>
            </a:lvl5pPr>
            <a:lvl6pPr marL="2607183" algn="l" defTabSz="1042873" rtl="0" eaLnBrk="1" latinLnBrk="0" hangingPunct="1">
              <a:defRPr sz="2053" kern="1200">
                <a:solidFill>
                  <a:schemeClr val="lt1"/>
                </a:solidFill>
                <a:latin typeface="+mn-lt"/>
                <a:ea typeface="+mn-ea"/>
                <a:cs typeface="+mn-cs"/>
              </a:defRPr>
            </a:lvl6pPr>
            <a:lvl7pPr marL="3128620" algn="l" defTabSz="1042873" rtl="0" eaLnBrk="1" latinLnBrk="0" hangingPunct="1">
              <a:defRPr sz="2053" kern="1200">
                <a:solidFill>
                  <a:schemeClr val="lt1"/>
                </a:solidFill>
                <a:latin typeface="+mn-lt"/>
                <a:ea typeface="+mn-ea"/>
                <a:cs typeface="+mn-cs"/>
              </a:defRPr>
            </a:lvl7pPr>
            <a:lvl8pPr marL="3650056" algn="l" defTabSz="1042873" rtl="0" eaLnBrk="1" latinLnBrk="0" hangingPunct="1">
              <a:defRPr sz="2053" kern="1200">
                <a:solidFill>
                  <a:schemeClr val="lt1"/>
                </a:solidFill>
                <a:latin typeface="+mn-lt"/>
                <a:ea typeface="+mn-ea"/>
                <a:cs typeface="+mn-cs"/>
              </a:defRPr>
            </a:lvl8pPr>
            <a:lvl9pPr marL="4171493" algn="l" defTabSz="1042873" rtl="0" eaLnBrk="1" latinLnBrk="0" hangingPunct="1">
              <a:defRPr sz="2053" kern="1200">
                <a:solidFill>
                  <a:schemeClr val="lt1"/>
                </a:solidFill>
                <a:latin typeface="+mn-lt"/>
                <a:ea typeface="+mn-ea"/>
                <a:cs typeface="+mn-cs"/>
              </a:defRPr>
            </a:lvl9pPr>
          </a:lstStyle>
          <a:p>
            <a:pPr algn="ctr"/>
            <a:endParaRPr lang="en-US"/>
          </a:p>
        </p:txBody>
      </p:sp>
      <p:sp>
        <p:nvSpPr>
          <p:cNvPr id="18" name="Arrow: Right 17">
            <a:extLst>
              <a:ext uri="{FF2B5EF4-FFF2-40B4-BE49-F238E27FC236}">
                <a16:creationId xmlns:a16="http://schemas.microsoft.com/office/drawing/2014/main" id="{DB5E25A6-030C-4E78-9519-DC349681F469}"/>
              </a:ext>
            </a:extLst>
          </p:cNvPr>
          <p:cNvSpPr/>
          <p:nvPr/>
        </p:nvSpPr>
        <p:spPr>
          <a:xfrm>
            <a:off x="7978693" y="3513630"/>
            <a:ext cx="200521" cy="162635"/>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en-US"/>
            </a:defPPr>
            <a:lvl1pPr marL="0" algn="l" defTabSz="1042873" rtl="0" eaLnBrk="1" latinLnBrk="0" hangingPunct="1">
              <a:defRPr sz="2053" kern="1200">
                <a:solidFill>
                  <a:schemeClr val="lt1"/>
                </a:solidFill>
                <a:latin typeface="+mn-lt"/>
                <a:ea typeface="+mn-ea"/>
                <a:cs typeface="+mn-cs"/>
              </a:defRPr>
            </a:lvl1pPr>
            <a:lvl2pPr marL="521437" algn="l" defTabSz="1042873" rtl="0" eaLnBrk="1" latinLnBrk="0" hangingPunct="1">
              <a:defRPr sz="2053" kern="1200">
                <a:solidFill>
                  <a:schemeClr val="lt1"/>
                </a:solidFill>
                <a:latin typeface="+mn-lt"/>
                <a:ea typeface="+mn-ea"/>
                <a:cs typeface="+mn-cs"/>
              </a:defRPr>
            </a:lvl2pPr>
            <a:lvl3pPr marL="1042873" algn="l" defTabSz="1042873" rtl="0" eaLnBrk="1" latinLnBrk="0" hangingPunct="1">
              <a:defRPr sz="2053" kern="1200">
                <a:solidFill>
                  <a:schemeClr val="lt1"/>
                </a:solidFill>
                <a:latin typeface="+mn-lt"/>
                <a:ea typeface="+mn-ea"/>
                <a:cs typeface="+mn-cs"/>
              </a:defRPr>
            </a:lvl3pPr>
            <a:lvl4pPr marL="1564310" algn="l" defTabSz="1042873" rtl="0" eaLnBrk="1" latinLnBrk="0" hangingPunct="1">
              <a:defRPr sz="2053" kern="1200">
                <a:solidFill>
                  <a:schemeClr val="lt1"/>
                </a:solidFill>
                <a:latin typeface="+mn-lt"/>
                <a:ea typeface="+mn-ea"/>
                <a:cs typeface="+mn-cs"/>
              </a:defRPr>
            </a:lvl4pPr>
            <a:lvl5pPr marL="2085746" algn="l" defTabSz="1042873" rtl="0" eaLnBrk="1" latinLnBrk="0" hangingPunct="1">
              <a:defRPr sz="2053" kern="1200">
                <a:solidFill>
                  <a:schemeClr val="lt1"/>
                </a:solidFill>
                <a:latin typeface="+mn-lt"/>
                <a:ea typeface="+mn-ea"/>
                <a:cs typeface="+mn-cs"/>
              </a:defRPr>
            </a:lvl5pPr>
            <a:lvl6pPr marL="2607183" algn="l" defTabSz="1042873" rtl="0" eaLnBrk="1" latinLnBrk="0" hangingPunct="1">
              <a:defRPr sz="2053" kern="1200">
                <a:solidFill>
                  <a:schemeClr val="lt1"/>
                </a:solidFill>
                <a:latin typeface="+mn-lt"/>
                <a:ea typeface="+mn-ea"/>
                <a:cs typeface="+mn-cs"/>
              </a:defRPr>
            </a:lvl6pPr>
            <a:lvl7pPr marL="3128620" algn="l" defTabSz="1042873" rtl="0" eaLnBrk="1" latinLnBrk="0" hangingPunct="1">
              <a:defRPr sz="2053" kern="1200">
                <a:solidFill>
                  <a:schemeClr val="lt1"/>
                </a:solidFill>
                <a:latin typeface="+mn-lt"/>
                <a:ea typeface="+mn-ea"/>
                <a:cs typeface="+mn-cs"/>
              </a:defRPr>
            </a:lvl7pPr>
            <a:lvl8pPr marL="3650056" algn="l" defTabSz="1042873" rtl="0" eaLnBrk="1" latinLnBrk="0" hangingPunct="1">
              <a:defRPr sz="2053" kern="1200">
                <a:solidFill>
                  <a:schemeClr val="lt1"/>
                </a:solidFill>
                <a:latin typeface="+mn-lt"/>
                <a:ea typeface="+mn-ea"/>
                <a:cs typeface="+mn-cs"/>
              </a:defRPr>
            </a:lvl8pPr>
            <a:lvl9pPr marL="4171493" algn="l" defTabSz="1042873" rtl="0" eaLnBrk="1" latinLnBrk="0" hangingPunct="1">
              <a:defRPr sz="2053" kern="1200">
                <a:solidFill>
                  <a:schemeClr val="lt1"/>
                </a:solidFill>
                <a:latin typeface="+mn-lt"/>
                <a:ea typeface="+mn-ea"/>
                <a:cs typeface="+mn-cs"/>
              </a:defRPr>
            </a:lvl9pPr>
          </a:lstStyle>
          <a:p>
            <a:pPr algn="ctr"/>
            <a:endParaRPr lang="en-US"/>
          </a:p>
        </p:txBody>
      </p:sp>
      <p:sp>
        <p:nvSpPr>
          <p:cNvPr id="19" name="Arrow: Right 18">
            <a:extLst>
              <a:ext uri="{FF2B5EF4-FFF2-40B4-BE49-F238E27FC236}">
                <a16:creationId xmlns:a16="http://schemas.microsoft.com/office/drawing/2014/main" id="{1E12E8B1-AE73-4EC5-94C9-4F5854EA7213}"/>
              </a:ext>
            </a:extLst>
          </p:cNvPr>
          <p:cNvSpPr/>
          <p:nvPr/>
        </p:nvSpPr>
        <p:spPr>
          <a:xfrm>
            <a:off x="7978693" y="4340041"/>
            <a:ext cx="200521" cy="162635"/>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en-US"/>
            </a:defPPr>
            <a:lvl1pPr marL="0" algn="l" defTabSz="1042873" rtl="0" eaLnBrk="1" latinLnBrk="0" hangingPunct="1">
              <a:defRPr sz="2053" kern="1200">
                <a:solidFill>
                  <a:schemeClr val="lt1"/>
                </a:solidFill>
                <a:latin typeface="+mn-lt"/>
                <a:ea typeface="+mn-ea"/>
                <a:cs typeface="+mn-cs"/>
              </a:defRPr>
            </a:lvl1pPr>
            <a:lvl2pPr marL="521437" algn="l" defTabSz="1042873" rtl="0" eaLnBrk="1" latinLnBrk="0" hangingPunct="1">
              <a:defRPr sz="2053" kern="1200">
                <a:solidFill>
                  <a:schemeClr val="lt1"/>
                </a:solidFill>
                <a:latin typeface="+mn-lt"/>
                <a:ea typeface="+mn-ea"/>
                <a:cs typeface="+mn-cs"/>
              </a:defRPr>
            </a:lvl2pPr>
            <a:lvl3pPr marL="1042873" algn="l" defTabSz="1042873" rtl="0" eaLnBrk="1" latinLnBrk="0" hangingPunct="1">
              <a:defRPr sz="2053" kern="1200">
                <a:solidFill>
                  <a:schemeClr val="lt1"/>
                </a:solidFill>
                <a:latin typeface="+mn-lt"/>
                <a:ea typeface="+mn-ea"/>
                <a:cs typeface="+mn-cs"/>
              </a:defRPr>
            </a:lvl3pPr>
            <a:lvl4pPr marL="1564310" algn="l" defTabSz="1042873" rtl="0" eaLnBrk="1" latinLnBrk="0" hangingPunct="1">
              <a:defRPr sz="2053" kern="1200">
                <a:solidFill>
                  <a:schemeClr val="lt1"/>
                </a:solidFill>
                <a:latin typeface="+mn-lt"/>
                <a:ea typeface="+mn-ea"/>
                <a:cs typeface="+mn-cs"/>
              </a:defRPr>
            </a:lvl4pPr>
            <a:lvl5pPr marL="2085746" algn="l" defTabSz="1042873" rtl="0" eaLnBrk="1" latinLnBrk="0" hangingPunct="1">
              <a:defRPr sz="2053" kern="1200">
                <a:solidFill>
                  <a:schemeClr val="lt1"/>
                </a:solidFill>
                <a:latin typeface="+mn-lt"/>
                <a:ea typeface="+mn-ea"/>
                <a:cs typeface="+mn-cs"/>
              </a:defRPr>
            </a:lvl5pPr>
            <a:lvl6pPr marL="2607183" algn="l" defTabSz="1042873" rtl="0" eaLnBrk="1" latinLnBrk="0" hangingPunct="1">
              <a:defRPr sz="2053" kern="1200">
                <a:solidFill>
                  <a:schemeClr val="lt1"/>
                </a:solidFill>
                <a:latin typeface="+mn-lt"/>
                <a:ea typeface="+mn-ea"/>
                <a:cs typeface="+mn-cs"/>
              </a:defRPr>
            </a:lvl6pPr>
            <a:lvl7pPr marL="3128620" algn="l" defTabSz="1042873" rtl="0" eaLnBrk="1" latinLnBrk="0" hangingPunct="1">
              <a:defRPr sz="2053" kern="1200">
                <a:solidFill>
                  <a:schemeClr val="lt1"/>
                </a:solidFill>
                <a:latin typeface="+mn-lt"/>
                <a:ea typeface="+mn-ea"/>
                <a:cs typeface="+mn-cs"/>
              </a:defRPr>
            </a:lvl7pPr>
            <a:lvl8pPr marL="3650056" algn="l" defTabSz="1042873" rtl="0" eaLnBrk="1" latinLnBrk="0" hangingPunct="1">
              <a:defRPr sz="2053" kern="1200">
                <a:solidFill>
                  <a:schemeClr val="lt1"/>
                </a:solidFill>
                <a:latin typeface="+mn-lt"/>
                <a:ea typeface="+mn-ea"/>
                <a:cs typeface="+mn-cs"/>
              </a:defRPr>
            </a:lvl8pPr>
            <a:lvl9pPr marL="4171493" algn="l" defTabSz="1042873" rtl="0" eaLnBrk="1" latinLnBrk="0" hangingPunct="1">
              <a:defRPr sz="2053" kern="1200">
                <a:solidFill>
                  <a:schemeClr val="lt1"/>
                </a:solidFill>
                <a:latin typeface="+mn-lt"/>
                <a:ea typeface="+mn-ea"/>
                <a:cs typeface="+mn-cs"/>
              </a:defRPr>
            </a:lvl9pPr>
          </a:lstStyle>
          <a:p>
            <a:pPr algn="ctr"/>
            <a:endParaRPr lang="en-US"/>
          </a:p>
        </p:txBody>
      </p:sp>
      <p:sp>
        <p:nvSpPr>
          <p:cNvPr id="20" name="Arrow: Right 19">
            <a:extLst>
              <a:ext uri="{FF2B5EF4-FFF2-40B4-BE49-F238E27FC236}">
                <a16:creationId xmlns:a16="http://schemas.microsoft.com/office/drawing/2014/main" id="{4A61529B-BC9B-4BB6-8F89-FC7468BFFFBC}"/>
              </a:ext>
            </a:extLst>
          </p:cNvPr>
          <p:cNvSpPr/>
          <p:nvPr/>
        </p:nvSpPr>
        <p:spPr>
          <a:xfrm>
            <a:off x="7978693" y="5179152"/>
            <a:ext cx="200521" cy="162635"/>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en-US"/>
            </a:defPPr>
            <a:lvl1pPr marL="0" algn="l" defTabSz="1042873" rtl="0" eaLnBrk="1" latinLnBrk="0" hangingPunct="1">
              <a:defRPr sz="2053" kern="1200">
                <a:solidFill>
                  <a:schemeClr val="lt1"/>
                </a:solidFill>
                <a:latin typeface="+mn-lt"/>
                <a:ea typeface="+mn-ea"/>
                <a:cs typeface="+mn-cs"/>
              </a:defRPr>
            </a:lvl1pPr>
            <a:lvl2pPr marL="521437" algn="l" defTabSz="1042873" rtl="0" eaLnBrk="1" latinLnBrk="0" hangingPunct="1">
              <a:defRPr sz="2053" kern="1200">
                <a:solidFill>
                  <a:schemeClr val="lt1"/>
                </a:solidFill>
                <a:latin typeface="+mn-lt"/>
                <a:ea typeface="+mn-ea"/>
                <a:cs typeface="+mn-cs"/>
              </a:defRPr>
            </a:lvl2pPr>
            <a:lvl3pPr marL="1042873" algn="l" defTabSz="1042873" rtl="0" eaLnBrk="1" latinLnBrk="0" hangingPunct="1">
              <a:defRPr sz="2053" kern="1200">
                <a:solidFill>
                  <a:schemeClr val="lt1"/>
                </a:solidFill>
                <a:latin typeface="+mn-lt"/>
                <a:ea typeface="+mn-ea"/>
                <a:cs typeface="+mn-cs"/>
              </a:defRPr>
            </a:lvl3pPr>
            <a:lvl4pPr marL="1564310" algn="l" defTabSz="1042873" rtl="0" eaLnBrk="1" latinLnBrk="0" hangingPunct="1">
              <a:defRPr sz="2053" kern="1200">
                <a:solidFill>
                  <a:schemeClr val="lt1"/>
                </a:solidFill>
                <a:latin typeface="+mn-lt"/>
                <a:ea typeface="+mn-ea"/>
                <a:cs typeface="+mn-cs"/>
              </a:defRPr>
            </a:lvl4pPr>
            <a:lvl5pPr marL="2085746" algn="l" defTabSz="1042873" rtl="0" eaLnBrk="1" latinLnBrk="0" hangingPunct="1">
              <a:defRPr sz="2053" kern="1200">
                <a:solidFill>
                  <a:schemeClr val="lt1"/>
                </a:solidFill>
                <a:latin typeface="+mn-lt"/>
                <a:ea typeface="+mn-ea"/>
                <a:cs typeface="+mn-cs"/>
              </a:defRPr>
            </a:lvl5pPr>
            <a:lvl6pPr marL="2607183" algn="l" defTabSz="1042873" rtl="0" eaLnBrk="1" latinLnBrk="0" hangingPunct="1">
              <a:defRPr sz="2053" kern="1200">
                <a:solidFill>
                  <a:schemeClr val="lt1"/>
                </a:solidFill>
                <a:latin typeface="+mn-lt"/>
                <a:ea typeface="+mn-ea"/>
                <a:cs typeface="+mn-cs"/>
              </a:defRPr>
            </a:lvl6pPr>
            <a:lvl7pPr marL="3128620" algn="l" defTabSz="1042873" rtl="0" eaLnBrk="1" latinLnBrk="0" hangingPunct="1">
              <a:defRPr sz="2053" kern="1200">
                <a:solidFill>
                  <a:schemeClr val="lt1"/>
                </a:solidFill>
                <a:latin typeface="+mn-lt"/>
                <a:ea typeface="+mn-ea"/>
                <a:cs typeface="+mn-cs"/>
              </a:defRPr>
            </a:lvl7pPr>
            <a:lvl8pPr marL="3650056" algn="l" defTabSz="1042873" rtl="0" eaLnBrk="1" latinLnBrk="0" hangingPunct="1">
              <a:defRPr sz="2053" kern="1200">
                <a:solidFill>
                  <a:schemeClr val="lt1"/>
                </a:solidFill>
                <a:latin typeface="+mn-lt"/>
                <a:ea typeface="+mn-ea"/>
                <a:cs typeface="+mn-cs"/>
              </a:defRPr>
            </a:lvl8pPr>
            <a:lvl9pPr marL="4171493" algn="l" defTabSz="1042873" rtl="0" eaLnBrk="1" latinLnBrk="0" hangingPunct="1">
              <a:defRPr sz="2053"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a16="http://schemas.microsoft.com/office/drawing/2014/main" id="{A53A9F43-AEAB-4E1F-94EF-F2D8680885EA}"/>
              </a:ext>
            </a:extLst>
          </p:cNvPr>
          <p:cNvSpPr txBox="1"/>
          <p:nvPr/>
        </p:nvSpPr>
        <p:spPr>
          <a:xfrm>
            <a:off x="100658" y="6259855"/>
            <a:ext cx="7052756" cy="276999"/>
          </a:xfrm>
          <a:prstGeom prst="rect">
            <a:avLst/>
          </a:prstGeom>
          <a:noFill/>
        </p:spPr>
        <p:txBody>
          <a:bodyPr wrap="square" rtlCol="0">
            <a:spAutoFit/>
          </a:bodyPr>
          <a:lstStyle/>
          <a:p>
            <a:pPr algn="just"/>
            <a:r>
              <a:rPr lang="en-US" sz="1200" i="1" dirty="0">
                <a:latin typeface="Verdana" panose="020B0604030504040204" pitchFamily="34" charset="0"/>
                <a:ea typeface="Verdana" panose="020B0604030504040204" pitchFamily="34" charset="0"/>
              </a:rPr>
              <a:t>*Further sub-options for Option 1 are provided in subsequent section</a:t>
            </a:r>
          </a:p>
        </p:txBody>
      </p:sp>
      <p:sp>
        <p:nvSpPr>
          <p:cNvPr id="21" name="TextBox 20">
            <a:extLst>
              <a:ext uri="{FF2B5EF4-FFF2-40B4-BE49-F238E27FC236}">
                <a16:creationId xmlns:a16="http://schemas.microsoft.com/office/drawing/2014/main" id="{AA82E285-6E5E-4FC4-BBAC-6E4EF2EC05F2}"/>
              </a:ext>
            </a:extLst>
          </p:cNvPr>
          <p:cNvSpPr txBox="1"/>
          <p:nvPr/>
        </p:nvSpPr>
        <p:spPr>
          <a:xfrm>
            <a:off x="7894658" y="6630161"/>
            <a:ext cx="3750067" cy="169277"/>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rPr>
              <a:t>Source: </a:t>
            </a:r>
            <a:r>
              <a:rPr lang="en-US" sz="1100" dirty="0" err="1">
                <a:solidFill>
                  <a:srgbClr val="313131"/>
                </a:solidFill>
              </a:rPr>
              <a:t>Nayachar</a:t>
            </a:r>
            <a:r>
              <a:rPr lang="en-US" sz="1100" dirty="0">
                <a:solidFill>
                  <a:srgbClr val="313131"/>
                </a:solidFill>
              </a:rPr>
              <a:t> PFR Report</a:t>
            </a:r>
          </a:p>
        </p:txBody>
      </p:sp>
    </p:spTree>
    <p:extLst>
      <p:ext uri="{BB962C8B-B14F-4D97-AF65-F5344CB8AC3E}">
        <p14:creationId xmlns:p14="http://schemas.microsoft.com/office/powerpoint/2010/main" val="410653666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35E91BC-C67C-433F-87BD-B657B3EA4049}"/>
              </a:ext>
            </a:extLst>
          </p:cNvPr>
          <p:cNvGraphicFramePr>
            <a:graphicFrameLocks noGrp="1"/>
          </p:cNvGraphicFramePr>
          <p:nvPr>
            <p:ph idx="1"/>
          </p:nvPr>
        </p:nvGraphicFramePr>
        <p:xfrm>
          <a:off x="338745" y="687162"/>
          <a:ext cx="11465577"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a:extLst>
              <a:ext uri="{FF2B5EF4-FFF2-40B4-BE49-F238E27FC236}">
                <a16:creationId xmlns:a16="http://schemas.microsoft.com/office/drawing/2014/main" id="{46C58ECE-69CD-4A5C-9FF8-A8A313B9347A}"/>
              </a:ext>
            </a:extLst>
          </p:cNvPr>
          <p:cNvSpPr>
            <a:spLocks noGrp="1"/>
          </p:cNvSpPr>
          <p:nvPr>
            <p:ph type="title"/>
          </p:nvPr>
        </p:nvSpPr>
        <p:spPr>
          <a:xfrm>
            <a:off x="330184" y="143199"/>
            <a:ext cx="11314542" cy="898319"/>
          </a:xfrm>
        </p:spPr>
        <p:txBody>
          <a:bodyPr>
            <a:normAutofit/>
          </a:bodyPr>
          <a:lstStyle/>
          <a:p>
            <a:r>
              <a:rPr lang="en-US" sz="2000" b="1" i="0" dirty="0">
                <a:solidFill>
                  <a:schemeClr val="tx1"/>
                </a:solidFill>
                <a:latin typeface="Verdana" panose="020B0604030504040204" pitchFamily="34" charset="0"/>
                <a:ea typeface="Verdana" panose="020B0604030504040204" pitchFamily="34" charset="0"/>
              </a:rPr>
              <a:t>Steps Forward </a:t>
            </a:r>
            <a:r>
              <a:rPr lang="en-US" sz="2000" b="1" dirty="0">
                <a:solidFill>
                  <a:schemeClr val="tx1"/>
                </a:solidFill>
                <a:latin typeface="Verdana" panose="020B0604030504040204" pitchFamily="34" charset="0"/>
                <a:ea typeface="Verdana" panose="020B0604030504040204" pitchFamily="34" charset="0"/>
              </a:rPr>
              <a:t>- </a:t>
            </a:r>
            <a:r>
              <a:rPr lang="en-US" sz="1800" b="1" dirty="0">
                <a:solidFill>
                  <a:schemeClr val="tx1"/>
                </a:solidFill>
                <a:latin typeface="Verdana" panose="020B0604030504040204" pitchFamily="34" charset="0"/>
                <a:ea typeface="Verdana" panose="020B0604030504040204" pitchFamily="34" charset="0"/>
              </a:rPr>
              <a:t>As per </a:t>
            </a:r>
            <a:r>
              <a:rPr lang="en-US" sz="1800" b="1" dirty="0" err="1">
                <a:solidFill>
                  <a:schemeClr val="tx1"/>
                </a:solidFill>
                <a:latin typeface="Verdana" panose="020B0604030504040204" pitchFamily="34" charset="0"/>
                <a:ea typeface="Verdana" panose="020B0604030504040204" pitchFamily="34" charset="0"/>
              </a:rPr>
              <a:t>Nayachar</a:t>
            </a:r>
            <a:r>
              <a:rPr lang="en-US" sz="1800" b="1" dirty="0">
                <a:solidFill>
                  <a:schemeClr val="tx1"/>
                </a:solidFill>
                <a:latin typeface="Verdana" panose="020B0604030504040204" pitchFamily="34" charset="0"/>
                <a:ea typeface="Verdana" panose="020B0604030504040204" pitchFamily="34" charset="0"/>
              </a:rPr>
              <a:t> PFR Report</a:t>
            </a:r>
            <a:endParaRPr lang="en-US" sz="2000" b="1" dirty="0">
              <a:solidFill>
                <a:schemeClr val="tx1"/>
              </a:solidFill>
              <a:latin typeface="Verdana" panose="020B0604030504040204" pitchFamily="34" charset="0"/>
              <a:ea typeface="Verdana" panose="020B0604030504040204" pitchFamily="34" charset="0"/>
            </a:endParaRPr>
          </a:p>
        </p:txBody>
      </p:sp>
      <p:sp>
        <p:nvSpPr>
          <p:cNvPr id="8" name="Rectangle 7">
            <a:extLst>
              <a:ext uri="{FF2B5EF4-FFF2-40B4-BE49-F238E27FC236}">
                <a16:creationId xmlns:a16="http://schemas.microsoft.com/office/drawing/2014/main" id="{D6A15E31-4C48-40F9-BB30-E36A5DB8785D}"/>
              </a:ext>
            </a:extLst>
          </p:cNvPr>
          <p:cNvSpPr/>
          <p:nvPr/>
        </p:nvSpPr>
        <p:spPr>
          <a:xfrm>
            <a:off x="183222" y="1141639"/>
            <a:ext cx="11825555" cy="4686146"/>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9AB46446-3470-44EA-9E70-09167E5AAE7A}"/>
              </a:ext>
            </a:extLst>
          </p:cNvPr>
          <p:cNvSpPr txBox="1"/>
          <p:nvPr/>
        </p:nvSpPr>
        <p:spPr>
          <a:xfrm>
            <a:off x="7894658" y="6236461"/>
            <a:ext cx="3750067" cy="169277"/>
          </a:xfrm>
          <a:prstGeom prst="rect">
            <a:avLst/>
          </a:prstGeom>
          <a:noFill/>
        </p:spPr>
        <p:txBody>
          <a:bodyPr wrap="square" lIns="0" tIns="0" rIns="0" bIns="0" rtlCol="0">
            <a:spAutoFit/>
          </a:bodyPr>
          <a:lstStyle/>
          <a:p>
            <a:pPr>
              <a:spcBef>
                <a:spcPts val="600"/>
              </a:spcBef>
              <a:buSzPct val="100000"/>
            </a:pPr>
            <a:r>
              <a:rPr lang="en-US" sz="1100" dirty="0">
                <a:solidFill>
                  <a:srgbClr val="313131"/>
                </a:solidFill>
              </a:rPr>
              <a:t>Source: </a:t>
            </a:r>
            <a:r>
              <a:rPr lang="en-US" sz="1100" dirty="0" err="1">
                <a:solidFill>
                  <a:srgbClr val="313131"/>
                </a:solidFill>
              </a:rPr>
              <a:t>Nayachar</a:t>
            </a:r>
            <a:r>
              <a:rPr lang="en-US" sz="1100" dirty="0">
                <a:solidFill>
                  <a:srgbClr val="313131"/>
                </a:solidFill>
              </a:rPr>
              <a:t> PFR Report</a:t>
            </a:r>
          </a:p>
        </p:txBody>
      </p:sp>
    </p:spTree>
    <p:extLst>
      <p:ext uri="{BB962C8B-B14F-4D97-AF65-F5344CB8AC3E}">
        <p14:creationId xmlns:p14="http://schemas.microsoft.com/office/powerpoint/2010/main" val="8732346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2826"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5" y="1416208"/>
            <a:ext cx="9630230" cy="861774"/>
          </a:xfrm>
        </p:spPr>
        <p:txBody>
          <a:bodyPr anchor="ctr" anchorCtr="0">
            <a:spAutoFit/>
          </a:bodyPr>
          <a:lstStyle/>
          <a:p>
            <a:r>
              <a:rPr lang="en-US" sz="2800" i="0" dirty="0">
                <a:solidFill>
                  <a:schemeClr val="tx1"/>
                </a:solidFill>
              </a:rPr>
              <a:t>Long Term PPAs with CGS and IPPs within and outside West Bengal</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68992" y="1590786"/>
            <a:ext cx="501149" cy="501149"/>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2000" b="1" i="0" u="none" strike="noStrike" kern="0" cap="none" spc="0" normalizeH="0" baseline="0" noProof="0" dirty="0">
                <a:ln>
                  <a:noFill/>
                </a:ln>
                <a:solidFill>
                  <a:prstClr val="white"/>
                </a:solidFill>
                <a:effectLst/>
                <a:uLnTx/>
                <a:uFillTx/>
              </a:rPr>
              <a:t>5</a:t>
            </a:r>
            <a:endParaRPr kumimoji="0" lang="en-IN" sz="20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1B748CB-0B57-4CA1-9B41-81AB5E897267}"/>
              </a:ext>
            </a:extLst>
          </p:cNvPr>
          <p:cNvSpPr txBox="1"/>
          <p:nvPr/>
        </p:nvSpPr>
        <p:spPr>
          <a:xfrm>
            <a:off x="4972286" y="2929535"/>
            <a:ext cx="6096202" cy="1508105"/>
          </a:xfrm>
          <a:prstGeom prst="rect">
            <a:avLst/>
          </a:prstGeom>
          <a:noFill/>
        </p:spPr>
        <p:txBody>
          <a:bodyPr wrap="square" lIns="0" tIns="0" rIns="0" bIns="0" rtlCol="0">
            <a:spAutoFit/>
          </a:bodyPr>
          <a:lstStyle/>
          <a:p>
            <a:pPr>
              <a:spcBef>
                <a:spcPts val="1800"/>
              </a:spcBef>
              <a:buSzPct val="100000"/>
            </a:pPr>
            <a:r>
              <a:rPr lang="en-IN" sz="1400" b="1" dirty="0"/>
              <a:t>Topics Covered</a:t>
            </a:r>
          </a:p>
          <a:p>
            <a:pPr marL="800071" lvl="1" indent="-342900">
              <a:buSzPct val="100000"/>
              <a:buFont typeface="+mj-lt"/>
              <a:buAutoNum type="alphaUcPeriod"/>
            </a:pPr>
            <a:r>
              <a:rPr lang="en-IN" sz="1400" dirty="0"/>
              <a:t>Load Curve of WBSEDCL</a:t>
            </a:r>
          </a:p>
          <a:p>
            <a:pPr marL="800071" lvl="1" indent="-342900">
              <a:buSzPct val="100000"/>
              <a:buFont typeface="+mj-lt"/>
              <a:buAutoNum type="alphaUcPeriod"/>
            </a:pPr>
            <a:r>
              <a:rPr lang="en-IN" sz="1400" dirty="0"/>
              <a:t>Status of Existing PPA from CGS, State Genco, IPPs</a:t>
            </a:r>
          </a:p>
          <a:p>
            <a:pPr marL="800071" lvl="1" indent="-342900">
              <a:buSzPct val="100000"/>
              <a:buFont typeface="+mj-lt"/>
              <a:buAutoNum type="alphaUcPeriod"/>
            </a:pPr>
            <a:r>
              <a:rPr lang="en-IN" sz="1400" dirty="0"/>
              <a:t>Opportunities for Surrender of PPA</a:t>
            </a:r>
          </a:p>
          <a:p>
            <a:pPr marL="800071" lvl="1" indent="-342900">
              <a:buSzPct val="100000"/>
              <a:buFont typeface="+mj-lt"/>
              <a:buAutoNum type="alphaUcPeriod"/>
            </a:pPr>
            <a:r>
              <a:rPr lang="en-IN" sz="1400" dirty="0"/>
              <a:t>Steps for WBSEDCL’s PPA Optimization Decision</a:t>
            </a:r>
          </a:p>
          <a:p>
            <a:pPr>
              <a:buSzPct val="100000"/>
            </a:pPr>
            <a:endParaRPr lang="en-IN" sz="1400" b="1" dirty="0">
              <a:solidFill>
                <a:srgbClr val="FF0000"/>
              </a:solidFill>
            </a:endParaRPr>
          </a:p>
          <a:p>
            <a:pPr marL="342900" indent="-342900">
              <a:buSzPct val="100000"/>
              <a:buFont typeface="+mj-lt"/>
              <a:buAutoNum type="arabicPeriod"/>
            </a:pPr>
            <a:endParaRPr lang="en-IN" sz="1400" b="1" dirty="0">
              <a:solidFill>
                <a:srgbClr val="FF0000"/>
              </a:solidFill>
            </a:endParaRPr>
          </a:p>
        </p:txBody>
      </p: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35366963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3849"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66400"/>
            <a:ext cx="11188700" cy="732051"/>
          </a:xfrm>
        </p:spPr>
        <p:txBody>
          <a:bodyPr vert="horz"/>
          <a:lstStyle/>
          <a:p>
            <a:pPr algn="just"/>
            <a:r>
              <a:rPr lang="en-US" sz="1800" b="1" i="0" dirty="0">
                <a:solidFill>
                  <a:schemeClr val="tx1"/>
                </a:solidFill>
              </a:rPr>
              <a:t>Season-wise average hourly load-generation balance (in MW) for WBSEDCL for FY 2018-19 </a:t>
            </a:r>
          </a:p>
        </p:txBody>
      </p:sp>
      <p:sp>
        <p:nvSpPr>
          <p:cNvPr id="16" name="Freeform: Shape 15">
            <a:extLst>
              <a:ext uri="{FF2B5EF4-FFF2-40B4-BE49-F238E27FC236}">
                <a16:creationId xmlns:a16="http://schemas.microsoft.com/office/drawing/2014/main" id="{3FFDE148-05B9-4C8D-8DA6-28620F0D4ED6}"/>
              </a:ext>
            </a:extLst>
          </p:cNvPr>
          <p:cNvSpPr/>
          <p:nvPr/>
        </p:nvSpPr>
        <p:spPr bwMode="gray">
          <a:xfrm>
            <a:off x="6779491" y="998451"/>
            <a:ext cx="4036171" cy="1828800"/>
          </a:xfrm>
          <a:custGeom>
            <a:avLst/>
            <a:gdLst>
              <a:gd name="connsiteX0" fmla="*/ 0 w 4036171"/>
              <a:gd name="connsiteY0" fmla="*/ 1828800 h 1828800"/>
              <a:gd name="connsiteX1" fmla="*/ 3768436 w 4036171"/>
              <a:gd name="connsiteY1" fmla="*/ 1154545 h 1828800"/>
              <a:gd name="connsiteX2" fmla="*/ 3703782 w 4036171"/>
              <a:gd name="connsiteY2" fmla="*/ 628073 h 1828800"/>
              <a:gd name="connsiteX3" fmla="*/ 3500582 w 4036171"/>
              <a:gd name="connsiteY3" fmla="*/ 1209964 h 1828800"/>
              <a:gd name="connsiteX4" fmla="*/ 3500582 w 4036171"/>
              <a:gd name="connsiteY4" fmla="*/ 1209964 h 1828800"/>
              <a:gd name="connsiteX5" fmla="*/ 3463636 w 4036171"/>
              <a:gd name="connsiteY5" fmla="*/ 0 h 1828800"/>
              <a:gd name="connsiteX6" fmla="*/ 3463636 w 4036171"/>
              <a:gd name="connsiteY6"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36171" h="1828800">
                <a:moveTo>
                  <a:pt x="0" y="1828800"/>
                </a:moveTo>
                <a:cubicBezTo>
                  <a:pt x="1575569" y="1591733"/>
                  <a:pt x="3151139" y="1354666"/>
                  <a:pt x="3768436" y="1154545"/>
                </a:cubicBezTo>
                <a:cubicBezTo>
                  <a:pt x="4385733" y="954424"/>
                  <a:pt x="3748424" y="618837"/>
                  <a:pt x="3703782" y="628073"/>
                </a:cubicBezTo>
                <a:cubicBezTo>
                  <a:pt x="3659140" y="637309"/>
                  <a:pt x="3500582" y="1209964"/>
                  <a:pt x="3500582" y="1209964"/>
                </a:cubicBezTo>
                <a:lnTo>
                  <a:pt x="3500582" y="1209964"/>
                </a:lnTo>
                <a:lnTo>
                  <a:pt x="3463636" y="0"/>
                </a:lnTo>
                <a:lnTo>
                  <a:pt x="3463636" y="0"/>
                </a:lnTo>
              </a:path>
            </a:pathLst>
          </a:custGeom>
          <a:noFill/>
          <a:ln w="19050" algn="ctr">
            <a:noFill/>
            <a:miter lim="800000"/>
            <a:headEnd/>
            <a:tailEnd/>
          </a:ln>
        </p:spPr>
        <p:txBody>
          <a:bodyPr rtlCol="0" anchor="ctr"/>
          <a:lstStyle/>
          <a:p>
            <a:pPr algn="ctr"/>
            <a:endParaRPr lang="en-US"/>
          </a:p>
        </p:txBody>
      </p:sp>
      <p:graphicFrame>
        <p:nvGraphicFramePr>
          <p:cNvPr id="10" name="Chart 9">
            <a:extLst>
              <a:ext uri="{FF2B5EF4-FFF2-40B4-BE49-F238E27FC236}">
                <a16:creationId xmlns:a16="http://schemas.microsoft.com/office/drawing/2014/main" id="{4F291880-C315-4307-86BC-C93B18DD7268}"/>
              </a:ext>
            </a:extLst>
          </p:cNvPr>
          <p:cNvGraphicFramePr>
            <a:graphicFrameLocks/>
          </p:cNvGraphicFramePr>
          <p:nvPr/>
        </p:nvGraphicFramePr>
        <p:xfrm>
          <a:off x="501654" y="998451"/>
          <a:ext cx="3798204" cy="559314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1" name="Chart 10">
            <a:extLst>
              <a:ext uri="{FF2B5EF4-FFF2-40B4-BE49-F238E27FC236}">
                <a16:creationId xmlns:a16="http://schemas.microsoft.com/office/drawing/2014/main" id="{D36C7360-234A-47C1-B05F-EF1397E04E9A}"/>
              </a:ext>
            </a:extLst>
          </p:cNvPr>
          <p:cNvGraphicFramePr>
            <a:graphicFrameLocks/>
          </p:cNvGraphicFramePr>
          <p:nvPr/>
        </p:nvGraphicFramePr>
        <p:xfrm>
          <a:off x="4299858" y="998450"/>
          <a:ext cx="3592286" cy="559314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2" name="Chart 11">
            <a:extLst>
              <a:ext uri="{FF2B5EF4-FFF2-40B4-BE49-F238E27FC236}">
                <a16:creationId xmlns:a16="http://schemas.microsoft.com/office/drawing/2014/main" id="{4D8E30E4-D625-4227-8D11-EF319BFFBE98}"/>
              </a:ext>
            </a:extLst>
          </p:cNvPr>
          <p:cNvGraphicFramePr>
            <a:graphicFrameLocks/>
          </p:cNvGraphicFramePr>
          <p:nvPr/>
        </p:nvGraphicFramePr>
        <p:xfrm>
          <a:off x="8075788" y="998450"/>
          <a:ext cx="3766807" cy="5424652"/>
        </p:xfrm>
        <a:graphic>
          <a:graphicData uri="http://schemas.openxmlformats.org/drawingml/2006/chart">
            <c:chart xmlns:c="http://schemas.openxmlformats.org/drawingml/2006/chart" xmlns:r="http://schemas.openxmlformats.org/officeDocument/2006/relationships" r:id="rId8"/>
          </a:graphicData>
        </a:graphic>
      </p:graphicFrame>
      <p:sp>
        <p:nvSpPr>
          <p:cNvPr id="2" name="TextBox 1">
            <a:extLst>
              <a:ext uri="{FF2B5EF4-FFF2-40B4-BE49-F238E27FC236}">
                <a16:creationId xmlns:a16="http://schemas.microsoft.com/office/drawing/2014/main" id="{24873F13-EFA0-4576-BFC1-7887FF0DE5F5}"/>
              </a:ext>
            </a:extLst>
          </p:cNvPr>
          <p:cNvSpPr txBox="1"/>
          <p:nvPr/>
        </p:nvSpPr>
        <p:spPr>
          <a:xfrm>
            <a:off x="7161084" y="6443650"/>
            <a:ext cx="4767209" cy="138499"/>
          </a:xfrm>
          <a:prstGeom prst="rect">
            <a:avLst/>
          </a:prstGeom>
          <a:noFill/>
        </p:spPr>
        <p:txBody>
          <a:bodyPr wrap="square" lIns="0" tIns="0" rIns="0" bIns="0" rtlCol="0">
            <a:spAutoFit/>
          </a:bodyPr>
          <a:lstStyle/>
          <a:p>
            <a:pPr>
              <a:spcBef>
                <a:spcPts val="600"/>
              </a:spcBef>
              <a:buSzPct val="100000"/>
            </a:pPr>
            <a:r>
              <a:rPr lang="en-US" sz="900" i="1" dirty="0">
                <a:solidFill>
                  <a:srgbClr val="313131"/>
                </a:solidFill>
              </a:rPr>
              <a:t>Source: WBSEDCL Perspective Plan submitted before WBERC under MYT Petition</a:t>
            </a:r>
          </a:p>
        </p:txBody>
      </p:sp>
    </p:spTree>
    <p:extLst>
      <p:ext uri="{BB962C8B-B14F-4D97-AF65-F5344CB8AC3E}">
        <p14:creationId xmlns:p14="http://schemas.microsoft.com/office/powerpoint/2010/main" val="1009168409"/>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4873"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66400"/>
            <a:ext cx="11188700" cy="732051"/>
          </a:xfrm>
        </p:spPr>
        <p:txBody>
          <a:bodyPr vert="horz"/>
          <a:lstStyle/>
          <a:p>
            <a:pPr algn="just"/>
            <a:r>
              <a:rPr lang="en-US" sz="1800" b="1" i="0" dirty="0">
                <a:solidFill>
                  <a:schemeClr val="tx1"/>
                </a:solidFill>
              </a:rPr>
              <a:t>Season-wise average hourly load-generation balance (in MW) for WBSEDCL for FY 2019-20</a:t>
            </a:r>
          </a:p>
        </p:txBody>
      </p:sp>
      <p:sp>
        <p:nvSpPr>
          <p:cNvPr id="16" name="Freeform: Shape 15">
            <a:extLst>
              <a:ext uri="{FF2B5EF4-FFF2-40B4-BE49-F238E27FC236}">
                <a16:creationId xmlns:a16="http://schemas.microsoft.com/office/drawing/2014/main" id="{3FFDE148-05B9-4C8D-8DA6-28620F0D4ED6}"/>
              </a:ext>
            </a:extLst>
          </p:cNvPr>
          <p:cNvSpPr/>
          <p:nvPr/>
        </p:nvSpPr>
        <p:spPr bwMode="gray">
          <a:xfrm>
            <a:off x="6779491" y="998451"/>
            <a:ext cx="4036171" cy="1828800"/>
          </a:xfrm>
          <a:custGeom>
            <a:avLst/>
            <a:gdLst>
              <a:gd name="connsiteX0" fmla="*/ 0 w 4036171"/>
              <a:gd name="connsiteY0" fmla="*/ 1828800 h 1828800"/>
              <a:gd name="connsiteX1" fmla="*/ 3768436 w 4036171"/>
              <a:gd name="connsiteY1" fmla="*/ 1154545 h 1828800"/>
              <a:gd name="connsiteX2" fmla="*/ 3703782 w 4036171"/>
              <a:gd name="connsiteY2" fmla="*/ 628073 h 1828800"/>
              <a:gd name="connsiteX3" fmla="*/ 3500582 w 4036171"/>
              <a:gd name="connsiteY3" fmla="*/ 1209964 h 1828800"/>
              <a:gd name="connsiteX4" fmla="*/ 3500582 w 4036171"/>
              <a:gd name="connsiteY4" fmla="*/ 1209964 h 1828800"/>
              <a:gd name="connsiteX5" fmla="*/ 3463636 w 4036171"/>
              <a:gd name="connsiteY5" fmla="*/ 0 h 1828800"/>
              <a:gd name="connsiteX6" fmla="*/ 3463636 w 4036171"/>
              <a:gd name="connsiteY6"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36171" h="1828800">
                <a:moveTo>
                  <a:pt x="0" y="1828800"/>
                </a:moveTo>
                <a:cubicBezTo>
                  <a:pt x="1575569" y="1591733"/>
                  <a:pt x="3151139" y="1354666"/>
                  <a:pt x="3768436" y="1154545"/>
                </a:cubicBezTo>
                <a:cubicBezTo>
                  <a:pt x="4385733" y="954424"/>
                  <a:pt x="3748424" y="618837"/>
                  <a:pt x="3703782" y="628073"/>
                </a:cubicBezTo>
                <a:cubicBezTo>
                  <a:pt x="3659140" y="637309"/>
                  <a:pt x="3500582" y="1209964"/>
                  <a:pt x="3500582" y="1209964"/>
                </a:cubicBezTo>
                <a:lnTo>
                  <a:pt x="3500582" y="1209964"/>
                </a:lnTo>
                <a:lnTo>
                  <a:pt x="3463636" y="0"/>
                </a:lnTo>
                <a:lnTo>
                  <a:pt x="3463636" y="0"/>
                </a:lnTo>
              </a:path>
            </a:pathLst>
          </a:custGeom>
          <a:noFill/>
          <a:ln w="19050" algn="ctr">
            <a:noFill/>
            <a:miter lim="800000"/>
            <a:headEnd/>
            <a:tailEnd/>
          </a:ln>
        </p:spPr>
        <p:txBody>
          <a:bodyPr rtlCol="0" anchor="ctr"/>
          <a:lstStyle/>
          <a:p>
            <a:pPr algn="ctr"/>
            <a:endParaRPr lang="en-US"/>
          </a:p>
        </p:txBody>
      </p:sp>
      <p:graphicFrame>
        <p:nvGraphicFramePr>
          <p:cNvPr id="10" name="Chart 9">
            <a:extLst>
              <a:ext uri="{FF2B5EF4-FFF2-40B4-BE49-F238E27FC236}">
                <a16:creationId xmlns:a16="http://schemas.microsoft.com/office/drawing/2014/main" id="{4F291880-C315-4307-86BC-C93B18DD7268}"/>
              </a:ext>
            </a:extLst>
          </p:cNvPr>
          <p:cNvGraphicFramePr>
            <a:graphicFrameLocks/>
          </p:cNvGraphicFramePr>
          <p:nvPr/>
        </p:nvGraphicFramePr>
        <p:xfrm>
          <a:off x="501654" y="998451"/>
          <a:ext cx="3798204" cy="559314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1" name="Chart 10">
            <a:extLst>
              <a:ext uri="{FF2B5EF4-FFF2-40B4-BE49-F238E27FC236}">
                <a16:creationId xmlns:a16="http://schemas.microsoft.com/office/drawing/2014/main" id="{D36C7360-234A-47C1-B05F-EF1397E04E9A}"/>
              </a:ext>
            </a:extLst>
          </p:cNvPr>
          <p:cNvGraphicFramePr>
            <a:graphicFrameLocks/>
          </p:cNvGraphicFramePr>
          <p:nvPr/>
        </p:nvGraphicFramePr>
        <p:xfrm>
          <a:off x="4299858" y="998450"/>
          <a:ext cx="3592286" cy="559314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2" name="Chart 11">
            <a:extLst>
              <a:ext uri="{FF2B5EF4-FFF2-40B4-BE49-F238E27FC236}">
                <a16:creationId xmlns:a16="http://schemas.microsoft.com/office/drawing/2014/main" id="{4D8E30E4-D625-4227-8D11-EF319BFFBE98}"/>
              </a:ext>
            </a:extLst>
          </p:cNvPr>
          <p:cNvGraphicFramePr>
            <a:graphicFrameLocks/>
          </p:cNvGraphicFramePr>
          <p:nvPr/>
        </p:nvGraphicFramePr>
        <p:xfrm>
          <a:off x="8075788" y="998450"/>
          <a:ext cx="3766807" cy="5424652"/>
        </p:xfrm>
        <a:graphic>
          <a:graphicData uri="http://schemas.openxmlformats.org/drawingml/2006/chart">
            <c:chart xmlns:c="http://schemas.openxmlformats.org/drawingml/2006/chart" xmlns:r="http://schemas.openxmlformats.org/officeDocument/2006/relationships" r:id="rId8"/>
          </a:graphicData>
        </a:graphic>
      </p:graphicFrame>
      <p:sp>
        <p:nvSpPr>
          <p:cNvPr id="8" name="TextBox 7">
            <a:extLst>
              <a:ext uri="{FF2B5EF4-FFF2-40B4-BE49-F238E27FC236}">
                <a16:creationId xmlns:a16="http://schemas.microsoft.com/office/drawing/2014/main" id="{9A493AE7-BB26-42A6-8E0E-2B8B68E26096}"/>
              </a:ext>
            </a:extLst>
          </p:cNvPr>
          <p:cNvSpPr txBox="1"/>
          <p:nvPr/>
        </p:nvSpPr>
        <p:spPr>
          <a:xfrm>
            <a:off x="7161084" y="6443650"/>
            <a:ext cx="4767209" cy="138499"/>
          </a:xfrm>
          <a:prstGeom prst="rect">
            <a:avLst/>
          </a:prstGeom>
          <a:noFill/>
        </p:spPr>
        <p:txBody>
          <a:bodyPr wrap="square" lIns="0" tIns="0" rIns="0" bIns="0" rtlCol="0">
            <a:spAutoFit/>
          </a:bodyPr>
          <a:lstStyle/>
          <a:p>
            <a:pPr>
              <a:spcBef>
                <a:spcPts val="600"/>
              </a:spcBef>
              <a:buSzPct val="100000"/>
            </a:pPr>
            <a:r>
              <a:rPr lang="en-US" sz="900" i="1" dirty="0">
                <a:solidFill>
                  <a:srgbClr val="313131"/>
                </a:solidFill>
              </a:rPr>
              <a:t>Source: WBSEDCL Perspective Plan submitted before WBERC under MYT Petition</a:t>
            </a:r>
          </a:p>
        </p:txBody>
      </p:sp>
    </p:spTree>
    <p:extLst>
      <p:ext uri="{BB962C8B-B14F-4D97-AF65-F5344CB8AC3E}">
        <p14:creationId xmlns:p14="http://schemas.microsoft.com/office/powerpoint/2010/main" val="2313508938"/>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5897"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66400"/>
            <a:ext cx="11188700" cy="732051"/>
          </a:xfrm>
        </p:spPr>
        <p:txBody>
          <a:bodyPr vert="horz"/>
          <a:lstStyle/>
          <a:p>
            <a:pPr algn="just"/>
            <a:r>
              <a:rPr lang="en-US" sz="1800" b="1" i="0" dirty="0">
                <a:solidFill>
                  <a:schemeClr val="tx1"/>
                </a:solidFill>
              </a:rPr>
              <a:t>Season-wise average hourly load-generation balance (in MW) for WBSEDCL for FY 2020-21</a:t>
            </a:r>
          </a:p>
        </p:txBody>
      </p:sp>
      <p:sp>
        <p:nvSpPr>
          <p:cNvPr id="16" name="Freeform: Shape 15">
            <a:extLst>
              <a:ext uri="{FF2B5EF4-FFF2-40B4-BE49-F238E27FC236}">
                <a16:creationId xmlns:a16="http://schemas.microsoft.com/office/drawing/2014/main" id="{3FFDE148-05B9-4C8D-8DA6-28620F0D4ED6}"/>
              </a:ext>
            </a:extLst>
          </p:cNvPr>
          <p:cNvSpPr/>
          <p:nvPr/>
        </p:nvSpPr>
        <p:spPr bwMode="gray">
          <a:xfrm>
            <a:off x="6779491" y="998451"/>
            <a:ext cx="4036171" cy="1828800"/>
          </a:xfrm>
          <a:custGeom>
            <a:avLst/>
            <a:gdLst>
              <a:gd name="connsiteX0" fmla="*/ 0 w 4036171"/>
              <a:gd name="connsiteY0" fmla="*/ 1828800 h 1828800"/>
              <a:gd name="connsiteX1" fmla="*/ 3768436 w 4036171"/>
              <a:gd name="connsiteY1" fmla="*/ 1154545 h 1828800"/>
              <a:gd name="connsiteX2" fmla="*/ 3703782 w 4036171"/>
              <a:gd name="connsiteY2" fmla="*/ 628073 h 1828800"/>
              <a:gd name="connsiteX3" fmla="*/ 3500582 w 4036171"/>
              <a:gd name="connsiteY3" fmla="*/ 1209964 h 1828800"/>
              <a:gd name="connsiteX4" fmla="*/ 3500582 w 4036171"/>
              <a:gd name="connsiteY4" fmla="*/ 1209964 h 1828800"/>
              <a:gd name="connsiteX5" fmla="*/ 3463636 w 4036171"/>
              <a:gd name="connsiteY5" fmla="*/ 0 h 1828800"/>
              <a:gd name="connsiteX6" fmla="*/ 3463636 w 4036171"/>
              <a:gd name="connsiteY6"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36171" h="1828800">
                <a:moveTo>
                  <a:pt x="0" y="1828800"/>
                </a:moveTo>
                <a:cubicBezTo>
                  <a:pt x="1575569" y="1591733"/>
                  <a:pt x="3151139" y="1354666"/>
                  <a:pt x="3768436" y="1154545"/>
                </a:cubicBezTo>
                <a:cubicBezTo>
                  <a:pt x="4385733" y="954424"/>
                  <a:pt x="3748424" y="618837"/>
                  <a:pt x="3703782" y="628073"/>
                </a:cubicBezTo>
                <a:cubicBezTo>
                  <a:pt x="3659140" y="637309"/>
                  <a:pt x="3500582" y="1209964"/>
                  <a:pt x="3500582" y="1209964"/>
                </a:cubicBezTo>
                <a:lnTo>
                  <a:pt x="3500582" y="1209964"/>
                </a:lnTo>
                <a:lnTo>
                  <a:pt x="3463636" y="0"/>
                </a:lnTo>
                <a:lnTo>
                  <a:pt x="3463636" y="0"/>
                </a:lnTo>
              </a:path>
            </a:pathLst>
          </a:custGeom>
          <a:noFill/>
          <a:ln w="19050" algn="ctr">
            <a:noFill/>
            <a:miter lim="800000"/>
            <a:headEnd/>
            <a:tailEnd/>
          </a:ln>
        </p:spPr>
        <p:txBody>
          <a:bodyPr rtlCol="0" anchor="ctr"/>
          <a:lstStyle/>
          <a:p>
            <a:pPr algn="ctr"/>
            <a:endParaRPr lang="en-US"/>
          </a:p>
        </p:txBody>
      </p:sp>
      <p:graphicFrame>
        <p:nvGraphicFramePr>
          <p:cNvPr id="10" name="Chart 9">
            <a:extLst>
              <a:ext uri="{FF2B5EF4-FFF2-40B4-BE49-F238E27FC236}">
                <a16:creationId xmlns:a16="http://schemas.microsoft.com/office/drawing/2014/main" id="{4F291880-C315-4307-86BC-C93B18DD7268}"/>
              </a:ext>
            </a:extLst>
          </p:cNvPr>
          <p:cNvGraphicFramePr>
            <a:graphicFrameLocks/>
          </p:cNvGraphicFramePr>
          <p:nvPr/>
        </p:nvGraphicFramePr>
        <p:xfrm>
          <a:off x="501654" y="998451"/>
          <a:ext cx="3798204" cy="559314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1" name="Chart 10">
            <a:extLst>
              <a:ext uri="{FF2B5EF4-FFF2-40B4-BE49-F238E27FC236}">
                <a16:creationId xmlns:a16="http://schemas.microsoft.com/office/drawing/2014/main" id="{D36C7360-234A-47C1-B05F-EF1397E04E9A}"/>
              </a:ext>
            </a:extLst>
          </p:cNvPr>
          <p:cNvGraphicFramePr>
            <a:graphicFrameLocks/>
          </p:cNvGraphicFramePr>
          <p:nvPr/>
        </p:nvGraphicFramePr>
        <p:xfrm>
          <a:off x="4299858" y="998450"/>
          <a:ext cx="3592286" cy="559314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2" name="Chart 11">
            <a:extLst>
              <a:ext uri="{FF2B5EF4-FFF2-40B4-BE49-F238E27FC236}">
                <a16:creationId xmlns:a16="http://schemas.microsoft.com/office/drawing/2014/main" id="{4D8E30E4-D625-4227-8D11-EF319BFFBE98}"/>
              </a:ext>
            </a:extLst>
          </p:cNvPr>
          <p:cNvGraphicFramePr>
            <a:graphicFrameLocks/>
          </p:cNvGraphicFramePr>
          <p:nvPr/>
        </p:nvGraphicFramePr>
        <p:xfrm>
          <a:off x="8075788" y="998450"/>
          <a:ext cx="3766807" cy="5424652"/>
        </p:xfrm>
        <a:graphic>
          <a:graphicData uri="http://schemas.openxmlformats.org/drawingml/2006/chart">
            <c:chart xmlns:c="http://schemas.openxmlformats.org/drawingml/2006/chart" xmlns:r="http://schemas.openxmlformats.org/officeDocument/2006/relationships" r:id="rId8"/>
          </a:graphicData>
        </a:graphic>
      </p:graphicFrame>
      <p:sp>
        <p:nvSpPr>
          <p:cNvPr id="8" name="TextBox 7">
            <a:extLst>
              <a:ext uri="{FF2B5EF4-FFF2-40B4-BE49-F238E27FC236}">
                <a16:creationId xmlns:a16="http://schemas.microsoft.com/office/drawing/2014/main" id="{D9569E88-41D3-4C17-AF36-47BE26377A4D}"/>
              </a:ext>
            </a:extLst>
          </p:cNvPr>
          <p:cNvSpPr txBox="1"/>
          <p:nvPr/>
        </p:nvSpPr>
        <p:spPr>
          <a:xfrm>
            <a:off x="7161084" y="6443650"/>
            <a:ext cx="4767209" cy="138499"/>
          </a:xfrm>
          <a:prstGeom prst="rect">
            <a:avLst/>
          </a:prstGeom>
          <a:noFill/>
        </p:spPr>
        <p:txBody>
          <a:bodyPr wrap="square" lIns="0" tIns="0" rIns="0" bIns="0" rtlCol="0">
            <a:spAutoFit/>
          </a:bodyPr>
          <a:lstStyle/>
          <a:p>
            <a:pPr>
              <a:spcBef>
                <a:spcPts val="600"/>
              </a:spcBef>
              <a:buSzPct val="100000"/>
            </a:pPr>
            <a:r>
              <a:rPr lang="en-US" sz="900" i="1" dirty="0">
                <a:solidFill>
                  <a:srgbClr val="313131"/>
                </a:solidFill>
              </a:rPr>
              <a:t>Source: WBSEDCL Perspective Plan submitted before WBERC under MYT Petition</a:t>
            </a:r>
          </a:p>
        </p:txBody>
      </p:sp>
    </p:spTree>
    <p:extLst>
      <p:ext uri="{BB962C8B-B14F-4D97-AF65-F5344CB8AC3E}">
        <p14:creationId xmlns:p14="http://schemas.microsoft.com/office/powerpoint/2010/main" val="531588331"/>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6921"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66400"/>
            <a:ext cx="11188700" cy="732051"/>
          </a:xfrm>
        </p:spPr>
        <p:txBody>
          <a:bodyPr vert="horz"/>
          <a:lstStyle/>
          <a:p>
            <a:pPr algn="just"/>
            <a:r>
              <a:rPr lang="en-US" sz="1800" b="1" i="0" dirty="0">
                <a:solidFill>
                  <a:schemeClr val="tx1"/>
                </a:solidFill>
              </a:rPr>
              <a:t>Season-wise average hourly load-generation balance (in MW) for WBSEDCL for FY 2021-22</a:t>
            </a:r>
          </a:p>
        </p:txBody>
      </p:sp>
      <p:sp>
        <p:nvSpPr>
          <p:cNvPr id="16" name="Freeform: Shape 15">
            <a:extLst>
              <a:ext uri="{FF2B5EF4-FFF2-40B4-BE49-F238E27FC236}">
                <a16:creationId xmlns:a16="http://schemas.microsoft.com/office/drawing/2014/main" id="{3FFDE148-05B9-4C8D-8DA6-28620F0D4ED6}"/>
              </a:ext>
            </a:extLst>
          </p:cNvPr>
          <p:cNvSpPr/>
          <p:nvPr/>
        </p:nvSpPr>
        <p:spPr bwMode="gray">
          <a:xfrm>
            <a:off x="6779491" y="998451"/>
            <a:ext cx="4036171" cy="1828800"/>
          </a:xfrm>
          <a:custGeom>
            <a:avLst/>
            <a:gdLst>
              <a:gd name="connsiteX0" fmla="*/ 0 w 4036171"/>
              <a:gd name="connsiteY0" fmla="*/ 1828800 h 1828800"/>
              <a:gd name="connsiteX1" fmla="*/ 3768436 w 4036171"/>
              <a:gd name="connsiteY1" fmla="*/ 1154545 h 1828800"/>
              <a:gd name="connsiteX2" fmla="*/ 3703782 w 4036171"/>
              <a:gd name="connsiteY2" fmla="*/ 628073 h 1828800"/>
              <a:gd name="connsiteX3" fmla="*/ 3500582 w 4036171"/>
              <a:gd name="connsiteY3" fmla="*/ 1209964 h 1828800"/>
              <a:gd name="connsiteX4" fmla="*/ 3500582 w 4036171"/>
              <a:gd name="connsiteY4" fmla="*/ 1209964 h 1828800"/>
              <a:gd name="connsiteX5" fmla="*/ 3463636 w 4036171"/>
              <a:gd name="connsiteY5" fmla="*/ 0 h 1828800"/>
              <a:gd name="connsiteX6" fmla="*/ 3463636 w 4036171"/>
              <a:gd name="connsiteY6"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36171" h="1828800">
                <a:moveTo>
                  <a:pt x="0" y="1828800"/>
                </a:moveTo>
                <a:cubicBezTo>
                  <a:pt x="1575569" y="1591733"/>
                  <a:pt x="3151139" y="1354666"/>
                  <a:pt x="3768436" y="1154545"/>
                </a:cubicBezTo>
                <a:cubicBezTo>
                  <a:pt x="4385733" y="954424"/>
                  <a:pt x="3748424" y="618837"/>
                  <a:pt x="3703782" y="628073"/>
                </a:cubicBezTo>
                <a:cubicBezTo>
                  <a:pt x="3659140" y="637309"/>
                  <a:pt x="3500582" y="1209964"/>
                  <a:pt x="3500582" y="1209964"/>
                </a:cubicBezTo>
                <a:lnTo>
                  <a:pt x="3500582" y="1209964"/>
                </a:lnTo>
                <a:lnTo>
                  <a:pt x="3463636" y="0"/>
                </a:lnTo>
                <a:lnTo>
                  <a:pt x="3463636" y="0"/>
                </a:lnTo>
              </a:path>
            </a:pathLst>
          </a:custGeom>
          <a:noFill/>
          <a:ln w="19050" algn="ctr">
            <a:noFill/>
            <a:miter lim="800000"/>
            <a:headEnd/>
            <a:tailEnd/>
          </a:ln>
        </p:spPr>
        <p:txBody>
          <a:bodyPr rtlCol="0" anchor="ctr"/>
          <a:lstStyle/>
          <a:p>
            <a:pPr algn="ctr"/>
            <a:endParaRPr lang="en-US"/>
          </a:p>
        </p:txBody>
      </p:sp>
      <p:graphicFrame>
        <p:nvGraphicFramePr>
          <p:cNvPr id="10" name="Chart 9">
            <a:extLst>
              <a:ext uri="{FF2B5EF4-FFF2-40B4-BE49-F238E27FC236}">
                <a16:creationId xmlns:a16="http://schemas.microsoft.com/office/drawing/2014/main" id="{4F291880-C315-4307-86BC-C93B18DD7268}"/>
              </a:ext>
            </a:extLst>
          </p:cNvPr>
          <p:cNvGraphicFramePr>
            <a:graphicFrameLocks/>
          </p:cNvGraphicFramePr>
          <p:nvPr/>
        </p:nvGraphicFramePr>
        <p:xfrm>
          <a:off x="501654" y="998451"/>
          <a:ext cx="3798204" cy="559314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1" name="Chart 10">
            <a:extLst>
              <a:ext uri="{FF2B5EF4-FFF2-40B4-BE49-F238E27FC236}">
                <a16:creationId xmlns:a16="http://schemas.microsoft.com/office/drawing/2014/main" id="{D36C7360-234A-47C1-B05F-EF1397E04E9A}"/>
              </a:ext>
            </a:extLst>
          </p:cNvPr>
          <p:cNvGraphicFramePr>
            <a:graphicFrameLocks/>
          </p:cNvGraphicFramePr>
          <p:nvPr/>
        </p:nvGraphicFramePr>
        <p:xfrm>
          <a:off x="4299858" y="998450"/>
          <a:ext cx="3592286" cy="559314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2" name="Chart 11">
            <a:extLst>
              <a:ext uri="{FF2B5EF4-FFF2-40B4-BE49-F238E27FC236}">
                <a16:creationId xmlns:a16="http://schemas.microsoft.com/office/drawing/2014/main" id="{4D8E30E4-D625-4227-8D11-EF319BFFBE98}"/>
              </a:ext>
            </a:extLst>
          </p:cNvPr>
          <p:cNvGraphicFramePr>
            <a:graphicFrameLocks/>
          </p:cNvGraphicFramePr>
          <p:nvPr/>
        </p:nvGraphicFramePr>
        <p:xfrm>
          <a:off x="8075788" y="998450"/>
          <a:ext cx="3766807" cy="5424652"/>
        </p:xfrm>
        <a:graphic>
          <a:graphicData uri="http://schemas.openxmlformats.org/drawingml/2006/chart">
            <c:chart xmlns:c="http://schemas.openxmlformats.org/drawingml/2006/chart" xmlns:r="http://schemas.openxmlformats.org/officeDocument/2006/relationships" r:id="rId8"/>
          </a:graphicData>
        </a:graphic>
      </p:graphicFrame>
      <p:sp>
        <p:nvSpPr>
          <p:cNvPr id="8" name="TextBox 7">
            <a:extLst>
              <a:ext uri="{FF2B5EF4-FFF2-40B4-BE49-F238E27FC236}">
                <a16:creationId xmlns:a16="http://schemas.microsoft.com/office/drawing/2014/main" id="{2170518E-AD1E-485B-8342-C07C08A4F9E0}"/>
              </a:ext>
            </a:extLst>
          </p:cNvPr>
          <p:cNvSpPr txBox="1"/>
          <p:nvPr/>
        </p:nvSpPr>
        <p:spPr>
          <a:xfrm>
            <a:off x="7161084" y="6443650"/>
            <a:ext cx="4767209" cy="138499"/>
          </a:xfrm>
          <a:prstGeom prst="rect">
            <a:avLst/>
          </a:prstGeom>
          <a:noFill/>
        </p:spPr>
        <p:txBody>
          <a:bodyPr wrap="square" lIns="0" tIns="0" rIns="0" bIns="0" rtlCol="0">
            <a:spAutoFit/>
          </a:bodyPr>
          <a:lstStyle/>
          <a:p>
            <a:pPr>
              <a:spcBef>
                <a:spcPts val="600"/>
              </a:spcBef>
              <a:buSzPct val="100000"/>
            </a:pPr>
            <a:r>
              <a:rPr lang="en-US" sz="900" i="1" dirty="0">
                <a:solidFill>
                  <a:srgbClr val="313131"/>
                </a:solidFill>
              </a:rPr>
              <a:t>Source: WBSEDCL Perspective Plan submitted before WBERC under MYT Petition</a:t>
            </a:r>
          </a:p>
        </p:txBody>
      </p:sp>
    </p:spTree>
    <p:extLst>
      <p:ext uri="{BB962C8B-B14F-4D97-AF65-F5344CB8AC3E}">
        <p14:creationId xmlns:p14="http://schemas.microsoft.com/office/powerpoint/2010/main" val="1377776949"/>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DA5683A8-E995-47E2-99E9-5ACEBA515DBE}"/>
              </a:ext>
            </a:extLst>
          </p:cNvPr>
          <p:cNvSpPr>
            <a:spLocks noGrp="1"/>
          </p:cNvSpPr>
          <p:nvPr>
            <p:ph type="title"/>
          </p:nvPr>
        </p:nvSpPr>
        <p:spPr>
          <a:xfrm>
            <a:off x="470830" y="163660"/>
            <a:ext cx="11188700" cy="732051"/>
          </a:xfrm>
        </p:spPr>
        <p:txBody>
          <a:bodyPr vert="horz"/>
          <a:lstStyle/>
          <a:p>
            <a:pPr algn="just"/>
            <a:r>
              <a:rPr lang="en-US" sz="1400" b="1" dirty="0"/>
              <a:t>As per Clause No. 5.10.6 (</a:t>
            </a:r>
            <a:r>
              <a:rPr lang="en-US" sz="1400" b="1" dirty="0" err="1"/>
              <a:t>Pg</a:t>
            </a:r>
            <a:r>
              <a:rPr lang="en-US" sz="1400" b="1" dirty="0"/>
              <a:t> No. 40) of WBSEDCL 7</a:t>
            </a:r>
            <a:r>
              <a:rPr lang="en-US" sz="1400" b="1" baseline="30000" dirty="0"/>
              <a:t>th</a:t>
            </a:r>
            <a:r>
              <a:rPr lang="en-US" sz="1400" b="1" dirty="0"/>
              <a:t> MYT Tariff Order issued by WBERC – “</a:t>
            </a:r>
            <a:r>
              <a:rPr lang="en-US" sz="1400" b="1" i="1" dirty="0"/>
              <a:t>Considerable surplus power throughout the day even during the peak hours. The major reason is the already entered long-term PPA by WBSEDCL in recent years, when generation from WBPDCL was low due to poor availability of coal”</a:t>
            </a:r>
          </a:p>
        </p:txBody>
      </p:sp>
      <p:sp>
        <p:nvSpPr>
          <p:cNvPr id="3" name="Freeform: Shape 2">
            <a:extLst>
              <a:ext uri="{FF2B5EF4-FFF2-40B4-BE49-F238E27FC236}">
                <a16:creationId xmlns:a16="http://schemas.microsoft.com/office/drawing/2014/main" id="{D3A56AC0-8F30-4BC9-BF6B-D77276E824FC}"/>
              </a:ext>
            </a:extLst>
          </p:cNvPr>
          <p:cNvSpPr/>
          <p:nvPr/>
        </p:nvSpPr>
        <p:spPr bwMode="gray">
          <a:xfrm>
            <a:off x="6779491" y="1070369"/>
            <a:ext cx="4036171" cy="1828800"/>
          </a:xfrm>
          <a:custGeom>
            <a:avLst/>
            <a:gdLst>
              <a:gd name="connsiteX0" fmla="*/ 0 w 4036171"/>
              <a:gd name="connsiteY0" fmla="*/ 1828800 h 1828800"/>
              <a:gd name="connsiteX1" fmla="*/ 3768436 w 4036171"/>
              <a:gd name="connsiteY1" fmla="*/ 1154545 h 1828800"/>
              <a:gd name="connsiteX2" fmla="*/ 3703782 w 4036171"/>
              <a:gd name="connsiteY2" fmla="*/ 628073 h 1828800"/>
              <a:gd name="connsiteX3" fmla="*/ 3500582 w 4036171"/>
              <a:gd name="connsiteY3" fmla="*/ 1209964 h 1828800"/>
              <a:gd name="connsiteX4" fmla="*/ 3500582 w 4036171"/>
              <a:gd name="connsiteY4" fmla="*/ 1209964 h 1828800"/>
              <a:gd name="connsiteX5" fmla="*/ 3463636 w 4036171"/>
              <a:gd name="connsiteY5" fmla="*/ 0 h 1828800"/>
              <a:gd name="connsiteX6" fmla="*/ 3463636 w 4036171"/>
              <a:gd name="connsiteY6"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36171" h="1828800">
                <a:moveTo>
                  <a:pt x="0" y="1828800"/>
                </a:moveTo>
                <a:cubicBezTo>
                  <a:pt x="1575569" y="1591733"/>
                  <a:pt x="3151139" y="1354666"/>
                  <a:pt x="3768436" y="1154545"/>
                </a:cubicBezTo>
                <a:cubicBezTo>
                  <a:pt x="4385733" y="954424"/>
                  <a:pt x="3748424" y="618837"/>
                  <a:pt x="3703782" y="628073"/>
                </a:cubicBezTo>
                <a:cubicBezTo>
                  <a:pt x="3659140" y="637309"/>
                  <a:pt x="3500582" y="1209964"/>
                  <a:pt x="3500582" y="1209964"/>
                </a:cubicBezTo>
                <a:lnTo>
                  <a:pt x="3500582" y="1209964"/>
                </a:lnTo>
                <a:lnTo>
                  <a:pt x="3463636" y="0"/>
                </a:lnTo>
                <a:lnTo>
                  <a:pt x="3463636" y="0"/>
                </a:lnTo>
              </a:path>
            </a:pathLst>
          </a:custGeom>
          <a:noFill/>
          <a:ln w="19050" algn="ctr">
            <a:noFill/>
            <a:miter lim="800000"/>
            <a:headEnd/>
            <a:tailEnd/>
          </a:ln>
        </p:spPr>
        <p:txBody>
          <a:bodyPr rtlCol="0" anchor="ctr"/>
          <a:lstStyle/>
          <a:p>
            <a:pPr algn="ctr"/>
            <a:endParaRPr lang="en-US"/>
          </a:p>
        </p:txBody>
      </p:sp>
      <p:graphicFrame>
        <p:nvGraphicFramePr>
          <p:cNvPr id="4" name="Chart 3">
            <a:extLst>
              <a:ext uri="{FF2B5EF4-FFF2-40B4-BE49-F238E27FC236}">
                <a16:creationId xmlns:a16="http://schemas.microsoft.com/office/drawing/2014/main" id="{F8EE4E7B-1C88-480F-9340-65E9132BDB3D}"/>
              </a:ext>
            </a:extLst>
          </p:cNvPr>
          <p:cNvGraphicFramePr/>
          <p:nvPr>
            <p:extLst>
              <p:ext uri="{D42A27DB-BD31-4B8C-83A1-F6EECF244321}">
                <p14:modId xmlns:p14="http://schemas.microsoft.com/office/powerpoint/2010/main" val="2382766048"/>
              </p:ext>
            </p:extLst>
          </p:nvPr>
        </p:nvGraphicFramePr>
        <p:xfrm>
          <a:off x="501648" y="900441"/>
          <a:ext cx="7627592" cy="171147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19854508-193F-4636-967D-99E6D0E15EAB}"/>
              </a:ext>
            </a:extLst>
          </p:cNvPr>
          <p:cNvGraphicFramePr/>
          <p:nvPr>
            <p:extLst>
              <p:ext uri="{D42A27DB-BD31-4B8C-83A1-F6EECF244321}">
                <p14:modId xmlns:p14="http://schemas.microsoft.com/office/powerpoint/2010/main" val="1233348902"/>
              </p:ext>
            </p:extLst>
          </p:nvPr>
        </p:nvGraphicFramePr>
        <p:xfrm>
          <a:off x="501647" y="2743389"/>
          <a:ext cx="7627592" cy="154069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9B852ADD-31E8-403E-B666-F4B5D18631FC}"/>
              </a:ext>
            </a:extLst>
          </p:cNvPr>
          <p:cNvGraphicFramePr/>
          <p:nvPr>
            <p:extLst>
              <p:ext uri="{D42A27DB-BD31-4B8C-83A1-F6EECF244321}">
                <p14:modId xmlns:p14="http://schemas.microsoft.com/office/powerpoint/2010/main" val="4239537970"/>
              </p:ext>
            </p:extLst>
          </p:nvPr>
        </p:nvGraphicFramePr>
        <p:xfrm>
          <a:off x="542241" y="4389922"/>
          <a:ext cx="7586998" cy="209307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Table 4">
            <a:extLst>
              <a:ext uri="{FF2B5EF4-FFF2-40B4-BE49-F238E27FC236}">
                <a16:creationId xmlns:a16="http://schemas.microsoft.com/office/drawing/2014/main" id="{55F6AFF6-AAFD-4568-81B7-C8DA1582DC05}"/>
              </a:ext>
            </a:extLst>
          </p:cNvPr>
          <p:cNvGraphicFramePr>
            <a:graphicFrameLocks noGrp="1"/>
          </p:cNvGraphicFramePr>
          <p:nvPr>
            <p:extLst>
              <p:ext uri="{D42A27DB-BD31-4B8C-83A1-F6EECF244321}">
                <p14:modId xmlns:p14="http://schemas.microsoft.com/office/powerpoint/2010/main" val="3222223069"/>
              </p:ext>
            </p:extLst>
          </p:nvPr>
        </p:nvGraphicFramePr>
        <p:xfrm>
          <a:off x="8272611" y="984901"/>
          <a:ext cx="3622526" cy="1511883"/>
        </p:xfrm>
        <a:graphic>
          <a:graphicData uri="http://schemas.openxmlformats.org/drawingml/2006/table">
            <a:tbl>
              <a:tblPr firstRow="1" bandRow="1">
                <a:tableStyleId>{5C22544A-7EE6-4342-B048-85BDC9FD1C3A}</a:tableStyleId>
              </a:tblPr>
              <a:tblGrid>
                <a:gridCol w="587467">
                  <a:extLst>
                    <a:ext uri="{9D8B030D-6E8A-4147-A177-3AD203B41FA5}">
                      <a16:colId xmlns:a16="http://schemas.microsoft.com/office/drawing/2014/main" val="1030015450"/>
                    </a:ext>
                  </a:extLst>
                </a:gridCol>
                <a:gridCol w="1118622">
                  <a:extLst>
                    <a:ext uri="{9D8B030D-6E8A-4147-A177-3AD203B41FA5}">
                      <a16:colId xmlns:a16="http://schemas.microsoft.com/office/drawing/2014/main" val="1788612957"/>
                    </a:ext>
                  </a:extLst>
                </a:gridCol>
                <a:gridCol w="1001206">
                  <a:extLst>
                    <a:ext uri="{9D8B030D-6E8A-4147-A177-3AD203B41FA5}">
                      <a16:colId xmlns:a16="http://schemas.microsoft.com/office/drawing/2014/main" val="2792453188"/>
                    </a:ext>
                  </a:extLst>
                </a:gridCol>
                <a:gridCol w="915231">
                  <a:extLst>
                    <a:ext uri="{9D8B030D-6E8A-4147-A177-3AD203B41FA5}">
                      <a16:colId xmlns:a16="http://schemas.microsoft.com/office/drawing/2014/main" val="1093019168"/>
                    </a:ext>
                  </a:extLst>
                </a:gridCol>
              </a:tblGrid>
              <a:tr h="503783">
                <a:tc>
                  <a:txBody>
                    <a:bodyPr/>
                    <a:lstStyle/>
                    <a:p>
                      <a:r>
                        <a:rPr lang="en-US" sz="1000" dirty="0"/>
                        <a:t>FY </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86BC25"/>
                    </a:solidFill>
                  </a:tcPr>
                </a:tc>
                <a:tc>
                  <a:txBody>
                    <a:bodyPr/>
                    <a:lstStyle/>
                    <a:p>
                      <a:r>
                        <a:rPr lang="en-US" sz="1000" dirty="0"/>
                        <a:t>Minimum</a:t>
                      </a:r>
                    </a:p>
                    <a:p>
                      <a:r>
                        <a:rPr lang="en-US" sz="1000" dirty="0"/>
                        <a:t>Demand </a:t>
                      </a:r>
                    </a:p>
                    <a:p>
                      <a:r>
                        <a:rPr lang="en-US" sz="1000" dirty="0"/>
                        <a:t>(In MW) </a:t>
                      </a:r>
                    </a:p>
                  </a:txBody>
                  <a:tcPr>
                    <a:lnT w="12700" cap="flat" cmpd="sng" algn="ctr">
                      <a:solidFill>
                        <a:schemeClr val="tx1"/>
                      </a:solidFill>
                      <a:prstDash val="solid"/>
                      <a:round/>
                      <a:headEnd type="none" w="med" len="med"/>
                      <a:tailEnd type="none" w="med" len="med"/>
                    </a:lnT>
                    <a:solidFill>
                      <a:srgbClr val="86BC25"/>
                    </a:solidFill>
                  </a:tcPr>
                </a:tc>
                <a:tc>
                  <a:txBody>
                    <a:bodyPr/>
                    <a:lstStyle/>
                    <a:p>
                      <a:r>
                        <a:rPr lang="en-US" sz="1000" dirty="0"/>
                        <a:t>Maximum Demand </a:t>
                      </a:r>
                    </a:p>
                    <a:p>
                      <a:r>
                        <a:rPr lang="en-US" sz="1000" dirty="0"/>
                        <a:t>(In MW)</a:t>
                      </a:r>
                    </a:p>
                  </a:txBody>
                  <a:tcPr>
                    <a:lnT w="12700" cap="flat" cmpd="sng" algn="ctr">
                      <a:solidFill>
                        <a:schemeClr val="tx1"/>
                      </a:solidFill>
                      <a:prstDash val="solid"/>
                      <a:round/>
                      <a:headEnd type="none" w="med" len="med"/>
                      <a:tailEnd type="none" w="med" len="med"/>
                    </a:lnT>
                    <a:solidFill>
                      <a:srgbClr val="86BC25"/>
                    </a:solidFill>
                  </a:tcPr>
                </a:tc>
                <a:tc>
                  <a:txBody>
                    <a:bodyPr/>
                    <a:lstStyle/>
                    <a:p>
                      <a:r>
                        <a:rPr lang="en-US" sz="1000" dirty="0"/>
                        <a:t>Average Demand </a:t>
                      </a:r>
                    </a:p>
                    <a:p>
                      <a:r>
                        <a:rPr lang="en-US" sz="1000" dirty="0"/>
                        <a:t>(In MW)</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86BC25"/>
                    </a:solidFill>
                  </a:tcPr>
                </a:tc>
                <a:extLst>
                  <a:ext uri="{0D108BD9-81ED-4DB2-BD59-A6C34878D82A}">
                    <a16:rowId xmlns:a16="http://schemas.microsoft.com/office/drawing/2014/main" val="2519844797"/>
                  </a:ext>
                </a:extLst>
              </a:tr>
              <a:tr h="321081">
                <a:tc>
                  <a:txBody>
                    <a:bodyPr/>
                    <a:lstStyle/>
                    <a:p>
                      <a:r>
                        <a:rPr lang="en-US" sz="1000" dirty="0"/>
                        <a:t>FY 21</a:t>
                      </a:r>
                    </a:p>
                  </a:txBody>
                  <a:tcPr>
                    <a:lnL w="12700" cap="flat" cmpd="sng" algn="ctr">
                      <a:solidFill>
                        <a:schemeClr val="tx1"/>
                      </a:solidFill>
                      <a:prstDash val="solid"/>
                      <a:round/>
                      <a:headEnd type="none" w="med" len="med"/>
                      <a:tailEnd type="none" w="med" len="med"/>
                    </a:lnL>
                    <a:solidFill>
                      <a:schemeClr val="bg1"/>
                    </a:solidFill>
                  </a:tcPr>
                </a:tc>
                <a:tc>
                  <a:txBody>
                    <a:bodyPr/>
                    <a:lstStyle/>
                    <a:p>
                      <a:r>
                        <a:rPr lang="en-US" sz="1000" dirty="0"/>
                        <a:t>4100</a:t>
                      </a:r>
                    </a:p>
                  </a:txBody>
                  <a:tcPr>
                    <a:solidFill>
                      <a:schemeClr val="bg1"/>
                    </a:solidFill>
                  </a:tcPr>
                </a:tc>
                <a:tc>
                  <a:txBody>
                    <a:bodyPr/>
                    <a:lstStyle/>
                    <a:p>
                      <a:r>
                        <a:rPr lang="en-US" sz="1000" dirty="0"/>
                        <a:t>5600</a:t>
                      </a:r>
                    </a:p>
                  </a:txBody>
                  <a:tcPr>
                    <a:solidFill>
                      <a:schemeClr val="bg1"/>
                    </a:solidFill>
                  </a:tcPr>
                </a:tc>
                <a:tc>
                  <a:txBody>
                    <a:bodyPr/>
                    <a:lstStyle/>
                    <a:p>
                      <a:r>
                        <a:rPr lang="en-US" sz="1000" dirty="0"/>
                        <a:t>4552</a:t>
                      </a:r>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853542454"/>
                  </a:ext>
                </a:extLst>
              </a:tr>
              <a:tr h="321081">
                <a:tc>
                  <a:txBody>
                    <a:bodyPr/>
                    <a:lstStyle/>
                    <a:p>
                      <a:r>
                        <a:rPr lang="en-US" sz="1000" dirty="0"/>
                        <a:t>FY 22</a:t>
                      </a:r>
                    </a:p>
                  </a:txBody>
                  <a:tcPr>
                    <a:lnL w="12700" cap="flat" cmpd="sng" algn="ctr">
                      <a:solidFill>
                        <a:schemeClr val="tx1"/>
                      </a:solidFill>
                      <a:prstDash val="solid"/>
                      <a:round/>
                      <a:headEnd type="none" w="med" len="med"/>
                      <a:tailEnd type="none" w="med" len="med"/>
                    </a:lnL>
                    <a:solidFill>
                      <a:schemeClr val="bg1"/>
                    </a:solidFill>
                  </a:tcPr>
                </a:tc>
                <a:tc>
                  <a:txBody>
                    <a:bodyPr/>
                    <a:lstStyle/>
                    <a:p>
                      <a:r>
                        <a:rPr lang="en-US" sz="1000" dirty="0"/>
                        <a:t>4000</a:t>
                      </a:r>
                    </a:p>
                  </a:txBody>
                  <a:tcPr>
                    <a:solidFill>
                      <a:schemeClr val="bg1"/>
                    </a:solidFill>
                  </a:tcPr>
                </a:tc>
                <a:tc>
                  <a:txBody>
                    <a:bodyPr/>
                    <a:lstStyle/>
                    <a:p>
                      <a:r>
                        <a:rPr lang="en-US" sz="1000" dirty="0"/>
                        <a:t>6700</a:t>
                      </a:r>
                    </a:p>
                  </a:txBody>
                  <a:tcPr>
                    <a:solidFill>
                      <a:schemeClr val="bg1"/>
                    </a:solidFill>
                  </a:tcPr>
                </a:tc>
                <a:tc>
                  <a:txBody>
                    <a:bodyPr/>
                    <a:lstStyle/>
                    <a:p>
                      <a:r>
                        <a:rPr lang="en-US" sz="1000" dirty="0"/>
                        <a:t>4726</a:t>
                      </a:r>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3826492258"/>
                  </a:ext>
                </a:extLst>
              </a:tr>
              <a:tr h="321081">
                <a:tc>
                  <a:txBody>
                    <a:bodyPr/>
                    <a:lstStyle/>
                    <a:p>
                      <a:r>
                        <a:rPr lang="en-US" sz="1000" dirty="0"/>
                        <a:t>FY 23</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4150</a:t>
                      </a:r>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6800</a:t>
                      </a:r>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4905</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25225684"/>
                  </a:ext>
                </a:extLst>
              </a:tr>
            </a:tbl>
          </a:graphicData>
        </a:graphic>
      </p:graphicFrame>
      <p:graphicFrame>
        <p:nvGraphicFramePr>
          <p:cNvPr id="8" name="Table 4">
            <a:extLst>
              <a:ext uri="{FF2B5EF4-FFF2-40B4-BE49-F238E27FC236}">
                <a16:creationId xmlns:a16="http://schemas.microsoft.com/office/drawing/2014/main" id="{4D4841C2-E0D1-4478-89A8-EA2410E23D4E}"/>
              </a:ext>
            </a:extLst>
          </p:cNvPr>
          <p:cNvGraphicFramePr>
            <a:graphicFrameLocks noGrp="1"/>
          </p:cNvGraphicFramePr>
          <p:nvPr>
            <p:extLst>
              <p:ext uri="{D42A27DB-BD31-4B8C-83A1-F6EECF244321}">
                <p14:modId xmlns:p14="http://schemas.microsoft.com/office/powerpoint/2010/main" val="2639228127"/>
              </p:ext>
            </p:extLst>
          </p:nvPr>
        </p:nvGraphicFramePr>
        <p:xfrm>
          <a:off x="8272611" y="2743389"/>
          <a:ext cx="3622526" cy="1453998"/>
        </p:xfrm>
        <a:graphic>
          <a:graphicData uri="http://schemas.openxmlformats.org/drawingml/2006/table">
            <a:tbl>
              <a:tblPr firstRow="1" bandRow="1">
                <a:tableStyleId>{5C22544A-7EE6-4342-B048-85BDC9FD1C3A}</a:tableStyleId>
              </a:tblPr>
              <a:tblGrid>
                <a:gridCol w="587467">
                  <a:extLst>
                    <a:ext uri="{9D8B030D-6E8A-4147-A177-3AD203B41FA5}">
                      <a16:colId xmlns:a16="http://schemas.microsoft.com/office/drawing/2014/main" val="1030015450"/>
                    </a:ext>
                  </a:extLst>
                </a:gridCol>
                <a:gridCol w="1118622">
                  <a:extLst>
                    <a:ext uri="{9D8B030D-6E8A-4147-A177-3AD203B41FA5}">
                      <a16:colId xmlns:a16="http://schemas.microsoft.com/office/drawing/2014/main" val="1788612957"/>
                    </a:ext>
                  </a:extLst>
                </a:gridCol>
                <a:gridCol w="1001206">
                  <a:extLst>
                    <a:ext uri="{9D8B030D-6E8A-4147-A177-3AD203B41FA5}">
                      <a16:colId xmlns:a16="http://schemas.microsoft.com/office/drawing/2014/main" val="2792453188"/>
                    </a:ext>
                  </a:extLst>
                </a:gridCol>
                <a:gridCol w="915231">
                  <a:extLst>
                    <a:ext uri="{9D8B030D-6E8A-4147-A177-3AD203B41FA5}">
                      <a16:colId xmlns:a16="http://schemas.microsoft.com/office/drawing/2014/main" val="1093019168"/>
                    </a:ext>
                  </a:extLst>
                </a:gridCol>
              </a:tblGrid>
              <a:tr h="515670">
                <a:tc>
                  <a:txBody>
                    <a:bodyPr/>
                    <a:lstStyle/>
                    <a:p>
                      <a:r>
                        <a:rPr lang="en-US" sz="1000" dirty="0"/>
                        <a:t>FY </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00A3E0"/>
                    </a:solidFill>
                  </a:tcPr>
                </a:tc>
                <a:tc>
                  <a:txBody>
                    <a:bodyPr/>
                    <a:lstStyle/>
                    <a:p>
                      <a:r>
                        <a:rPr lang="en-US" sz="1000" dirty="0"/>
                        <a:t>Minimum</a:t>
                      </a:r>
                    </a:p>
                    <a:p>
                      <a:r>
                        <a:rPr lang="en-US" sz="1000" dirty="0"/>
                        <a:t>Demand </a:t>
                      </a:r>
                    </a:p>
                    <a:p>
                      <a:r>
                        <a:rPr lang="en-US" sz="1000" dirty="0"/>
                        <a:t>(In MW) </a:t>
                      </a:r>
                    </a:p>
                  </a:txBody>
                  <a:tcPr>
                    <a:lnT w="12700" cap="flat" cmpd="sng" algn="ctr">
                      <a:solidFill>
                        <a:schemeClr val="tx1"/>
                      </a:solidFill>
                      <a:prstDash val="solid"/>
                      <a:round/>
                      <a:headEnd type="none" w="med" len="med"/>
                      <a:tailEnd type="none" w="med" len="med"/>
                    </a:lnT>
                    <a:solidFill>
                      <a:srgbClr val="00A3E0"/>
                    </a:solidFill>
                  </a:tcPr>
                </a:tc>
                <a:tc>
                  <a:txBody>
                    <a:bodyPr/>
                    <a:lstStyle/>
                    <a:p>
                      <a:r>
                        <a:rPr lang="en-US" sz="1000" dirty="0"/>
                        <a:t>Maximum Demand </a:t>
                      </a:r>
                    </a:p>
                    <a:p>
                      <a:r>
                        <a:rPr lang="en-US" sz="1000" dirty="0"/>
                        <a:t>(In MW)</a:t>
                      </a:r>
                    </a:p>
                  </a:txBody>
                  <a:tcPr>
                    <a:lnT w="12700" cap="flat" cmpd="sng" algn="ctr">
                      <a:solidFill>
                        <a:schemeClr val="tx1"/>
                      </a:solidFill>
                      <a:prstDash val="solid"/>
                      <a:round/>
                      <a:headEnd type="none" w="med" len="med"/>
                      <a:tailEnd type="none" w="med" len="med"/>
                    </a:lnT>
                    <a:solidFill>
                      <a:srgbClr val="00A3E0"/>
                    </a:solidFill>
                  </a:tcPr>
                </a:tc>
                <a:tc>
                  <a:txBody>
                    <a:bodyPr/>
                    <a:lstStyle/>
                    <a:p>
                      <a:r>
                        <a:rPr lang="en-US" sz="1000" dirty="0"/>
                        <a:t>Average Demand </a:t>
                      </a:r>
                    </a:p>
                    <a:p>
                      <a:r>
                        <a:rPr lang="en-US" sz="1000" dirty="0"/>
                        <a:t>(In MW)</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00A3E0"/>
                    </a:solidFill>
                  </a:tcPr>
                </a:tc>
                <a:extLst>
                  <a:ext uri="{0D108BD9-81ED-4DB2-BD59-A6C34878D82A}">
                    <a16:rowId xmlns:a16="http://schemas.microsoft.com/office/drawing/2014/main" val="2519844797"/>
                  </a:ext>
                </a:extLst>
              </a:tr>
              <a:tr h="301786">
                <a:tc>
                  <a:txBody>
                    <a:bodyPr/>
                    <a:lstStyle/>
                    <a:p>
                      <a:r>
                        <a:rPr lang="en-US" sz="1000" dirty="0"/>
                        <a:t>FY 21</a:t>
                      </a:r>
                    </a:p>
                  </a:txBody>
                  <a:tcPr>
                    <a:lnL w="12700" cap="flat" cmpd="sng" algn="ctr">
                      <a:solidFill>
                        <a:schemeClr val="tx1"/>
                      </a:solidFill>
                      <a:prstDash val="solid"/>
                      <a:round/>
                      <a:headEnd type="none" w="med" len="med"/>
                      <a:tailEnd type="none" w="med" len="med"/>
                    </a:lnL>
                    <a:solidFill>
                      <a:schemeClr val="bg1"/>
                    </a:solidFill>
                  </a:tcPr>
                </a:tc>
                <a:tc>
                  <a:txBody>
                    <a:bodyPr/>
                    <a:lstStyle/>
                    <a:p>
                      <a:r>
                        <a:rPr lang="en-US" sz="1000" dirty="0"/>
                        <a:t>4100</a:t>
                      </a:r>
                    </a:p>
                  </a:txBody>
                  <a:tcPr>
                    <a:solidFill>
                      <a:schemeClr val="bg1"/>
                    </a:solidFill>
                  </a:tcPr>
                </a:tc>
                <a:tc>
                  <a:txBody>
                    <a:bodyPr/>
                    <a:lstStyle/>
                    <a:p>
                      <a:r>
                        <a:rPr lang="en-US" sz="1000" dirty="0"/>
                        <a:t>6000</a:t>
                      </a:r>
                    </a:p>
                  </a:txBody>
                  <a:tcPr>
                    <a:solidFill>
                      <a:schemeClr val="bg1"/>
                    </a:solidFill>
                  </a:tcPr>
                </a:tc>
                <a:tc>
                  <a:txBody>
                    <a:bodyPr/>
                    <a:lstStyle/>
                    <a:p>
                      <a:r>
                        <a:rPr lang="en-US" sz="1000" dirty="0"/>
                        <a:t>4609</a:t>
                      </a:r>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853542454"/>
                  </a:ext>
                </a:extLst>
              </a:tr>
              <a:tr h="301786">
                <a:tc>
                  <a:txBody>
                    <a:bodyPr/>
                    <a:lstStyle/>
                    <a:p>
                      <a:r>
                        <a:rPr lang="en-US" sz="1000" dirty="0"/>
                        <a:t>FY 22</a:t>
                      </a:r>
                    </a:p>
                  </a:txBody>
                  <a:tcPr>
                    <a:lnL w="12700" cap="flat" cmpd="sng" algn="ctr">
                      <a:solidFill>
                        <a:schemeClr val="tx1"/>
                      </a:solidFill>
                      <a:prstDash val="solid"/>
                      <a:round/>
                      <a:headEnd type="none" w="med" len="med"/>
                      <a:tailEnd type="none" w="med" len="med"/>
                    </a:lnL>
                    <a:solidFill>
                      <a:schemeClr val="bg1"/>
                    </a:solidFill>
                  </a:tcPr>
                </a:tc>
                <a:tc>
                  <a:txBody>
                    <a:bodyPr/>
                    <a:lstStyle/>
                    <a:p>
                      <a:r>
                        <a:rPr lang="en-US" sz="1000" dirty="0"/>
                        <a:t>4350</a:t>
                      </a:r>
                    </a:p>
                  </a:txBody>
                  <a:tcPr>
                    <a:solidFill>
                      <a:schemeClr val="bg1"/>
                    </a:solidFill>
                  </a:tcPr>
                </a:tc>
                <a:tc>
                  <a:txBody>
                    <a:bodyPr/>
                    <a:lstStyle/>
                    <a:p>
                      <a:r>
                        <a:rPr lang="en-US" sz="1000" dirty="0"/>
                        <a:t>6250</a:t>
                      </a:r>
                    </a:p>
                  </a:txBody>
                  <a:tcPr>
                    <a:solidFill>
                      <a:schemeClr val="bg1"/>
                    </a:solidFill>
                  </a:tcPr>
                </a:tc>
                <a:tc>
                  <a:txBody>
                    <a:bodyPr/>
                    <a:lstStyle/>
                    <a:p>
                      <a:r>
                        <a:rPr lang="en-US" sz="1000" dirty="0"/>
                        <a:t>5093</a:t>
                      </a:r>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3826492258"/>
                  </a:ext>
                </a:extLst>
              </a:tr>
              <a:tr h="301786">
                <a:tc>
                  <a:txBody>
                    <a:bodyPr/>
                    <a:lstStyle/>
                    <a:p>
                      <a:r>
                        <a:rPr lang="en-US" sz="1000" dirty="0"/>
                        <a:t>FY 23</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4700</a:t>
                      </a:r>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6800</a:t>
                      </a:r>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5219</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25225684"/>
                  </a:ext>
                </a:extLst>
              </a:tr>
            </a:tbl>
          </a:graphicData>
        </a:graphic>
      </p:graphicFrame>
      <p:graphicFrame>
        <p:nvGraphicFramePr>
          <p:cNvPr id="9" name="Table 4">
            <a:extLst>
              <a:ext uri="{FF2B5EF4-FFF2-40B4-BE49-F238E27FC236}">
                <a16:creationId xmlns:a16="http://schemas.microsoft.com/office/drawing/2014/main" id="{086B002C-EE2C-456B-87A9-BC547B1E23A4}"/>
              </a:ext>
            </a:extLst>
          </p:cNvPr>
          <p:cNvGraphicFramePr>
            <a:graphicFrameLocks noGrp="1"/>
          </p:cNvGraphicFramePr>
          <p:nvPr>
            <p:extLst>
              <p:ext uri="{D42A27DB-BD31-4B8C-83A1-F6EECF244321}">
                <p14:modId xmlns:p14="http://schemas.microsoft.com/office/powerpoint/2010/main" val="2787554066"/>
              </p:ext>
            </p:extLst>
          </p:nvPr>
        </p:nvGraphicFramePr>
        <p:xfrm>
          <a:off x="8272611" y="4477469"/>
          <a:ext cx="3622526" cy="1453998"/>
        </p:xfrm>
        <a:graphic>
          <a:graphicData uri="http://schemas.openxmlformats.org/drawingml/2006/table">
            <a:tbl>
              <a:tblPr firstRow="1" bandRow="1">
                <a:tableStyleId>{5C22544A-7EE6-4342-B048-85BDC9FD1C3A}</a:tableStyleId>
              </a:tblPr>
              <a:tblGrid>
                <a:gridCol w="587467">
                  <a:extLst>
                    <a:ext uri="{9D8B030D-6E8A-4147-A177-3AD203B41FA5}">
                      <a16:colId xmlns:a16="http://schemas.microsoft.com/office/drawing/2014/main" val="1030015450"/>
                    </a:ext>
                  </a:extLst>
                </a:gridCol>
                <a:gridCol w="1118622">
                  <a:extLst>
                    <a:ext uri="{9D8B030D-6E8A-4147-A177-3AD203B41FA5}">
                      <a16:colId xmlns:a16="http://schemas.microsoft.com/office/drawing/2014/main" val="1788612957"/>
                    </a:ext>
                  </a:extLst>
                </a:gridCol>
                <a:gridCol w="1001206">
                  <a:extLst>
                    <a:ext uri="{9D8B030D-6E8A-4147-A177-3AD203B41FA5}">
                      <a16:colId xmlns:a16="http://schemas.microsoft.com/office/drawing/2014/main" val="2792453188"/>
                    </a:ext>
                  </a:extLst>
                </a:gridCol>
                <a:gridCol w="915231">
                  <a:extLst>
                    <a:ext uri="{9D8B030D-6E8A-4147-A177-3AD203B41FA5}">
                      <a16:colId xmlns:a16="http://schemas.microsoft.com/office/drawing/2014/main" val="1093019168"/>
                    </a:ext>
                  </a:extLst>
                </a:gridCol>
              </a:tblGrid>
              <a:tr h="515670">
                <a:tc>
                  <a:txBody>
                    <a:bodyPr/>
                    <a:lstStyle/>
                    <a:p>
                      <a:r>
                        <a:rPr lang="en-US" sz="1000" dirty="0"/>
                        <a:t>FY </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0070C0"/>
                    </a:solidFill>
                  </a:tcPr>
                </a:tc>
                <a:tc>
                  <a:txBody>
                    <a:bodyPr/>
                    <a:lstStyle/>
                    <a:p>
                      <a:r>
                        <a:rPr lang="en-US" sz="1000" dirty="0"/>
                        <a:t>Minimum</a:t>
                      </a:r>
                    </a:p>
                    <a:p>
                      <a:r>
                        <a:rPr lang="en-US" sz="1000" dirty="0"/>
                        <a:t>Demand </a:t>
                      </a:r>
                    </a:p>
                    <a:p>
                      <a:r>
                        <a:rPr lang="en-US" sz="1000" dirty="0"/>
                        <a:t>(In MW) </a:t>
                      </a:r>
                    </a:p>
                  </a:txBody>
                  <a:tcPr>
                    <a:lnT w="12700" cap="flat" cmpd="sng" algn="ctr">
                      <a:solidFill>
                        <a:schemeClr val="tx1"/>
                      </a:solidFill>
                      <a:prstDash val="solid"/>
                      <a:round/>
                      <a:headEnd type="none" w="med" len="med"/>
                      <a:tailEnd type="none" w="med" len="med"/>
                    </a:lnT>
                    <a:solidFill>
                      <a:srgbClr val="0070C0"/>
                    </a:solidFill>
                  </a:tcPr>
                </a:tc>
                <a:tc>
                  <a:txBody>
                    <a:bodyPr/>
                    <a:lstStyle/>
                    <a:p>
                      <a:r>
                        <a:rPr lang="en-US" sz="1000" dirty="0"/>
                        <a:t>Maximum Demand </a:t>
                      </a:r>
                    </a:p>
                    <a:p>
                      <a:r>
                        <a:rPr lang="en-US" sz="1000" dirty="0"/>
                        <a:t>(In MW)</a:t>
                      </a:r>
                    </a:p>
                  </a:txBody>
                  <a:tcPr>
                    <a:lnT w="12700" cap="flat" cmpd="sng" algn="ctr">
                      <a:solidFill>
                        <a:schemeClr val="tx1"/>
                      </a:solidFill>
                      <a:prstDash val="solid"/>
                      <a:round/>
                      <a:headEnd type="none" w="med" len="med"/>
                      <a:tailEnd type="none" w="med" len="med"/>
                    </a:lnT>
                    <a:solidFill>
                      <a:srgbClr val="0070C0"/>
                    </a:solidFill>
                  </a:tcPr>
                </a:tc>
                <a:tc>
                  <a:txBody>
                    <a:bodyPr/>
                    <a:lstStyle/>
                    <a:p>
                      <a:r>
                        <a:rPr lang="en-US" sz="1000" dirty="0"/>
                        <a:t>Average Demand </a:t>
                      </a:r>
                    </a:p>
                    <a:p>
                      <a:r>
                        <a:rPr lang="en-US" sz="1000" dirty="0"/>
                        <a:t>(In MW)</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0070C0"/>
                    </a:solidFill>
                  </a:tcPr>
                </a:tc>
                <a:extLst>
                  <a:ext uri="{0D108BD9-81ED-4DB2-BD59-A6C34878D82A}">
                    <a16:rowId xmlns:a16="http://schemas.microsoft.com/office/drawing/2014/main" val="2519844797"/>
                  </a:ext>
                </a:extLst>
              </a:tr>
              <a:tr h="301786">
                <a:tc>
                  <a:txBody>
                    <a:bodyPr/>
                    <a:lstStyle/>
                    <a:p>
                      <a:r>
                        <a:rPr lang="en-US" sz="1000" dirty="0"/>
                        <a:t>FY 21</a:t>
                      </a:r>
                    </a:p>
                  </a:txBody>
                  <a:tcPr>
                    <a:lnL w="12700" cap="flat" cmpd="sng" algn="ctr">
                      <a:solidFill>
                        <a:schemeClr val="tx1"/>
                      </a:solidFill>
                      <a:prstDash val="solid"/>
                      <a:round/>
                      <a:headEnd type="none" w="med" len="med"/>
                      <a:tailEnd type="none" w="med" len="med"/>
                    </a:lnL>
                    <a:solidFill>
                      <a:schemeClr val="bg1"/>
                    </a:solidFill>
                  </a:tcPr>
                </a:tc>
                <a:tc>
                  <a:txBody>
                    <a:bodyPr/>
                    <a:lstStyle/>
                    <a:p>
                      <a:r>
                        <a:rPr lang="en-US" sz="1000" dirty="0"/>
                        <a:t>4000</a:t>
                      </a:r>
                    </a:p>
                  </a:txBody>
                  <a:tcPr>
                    <a:solidFill>
                      <a:schemeClr val="bg1"/>
                    </a:solidFill>
                  </a:tcPr>
                </a:tc>
                <a:tc>
                  <a:txBody>
                    <a:bodyPr/>
                    <a:lstStyle/>
                    <a:p>
                      <a:r>
                        <a:rPr lang="en-US" sz="1000" dirty="0"/>
                        <a:t>4750</a:t>
                      </a:r>
                    </a:p>
                  </a:txBody>
                  <a:tcPr>
                    <a:solidFill>
                      <a:schemeClr val="bg1"/>
                    </a:solidFill>
                  </a:tcPr>
                </a:tc>
                <a:tc>
                  <a:txBody>
                    <a:bodyPr/>
                    <a:lstStyle/>
                    <a:p>
                      <a:r>
                        <a:rPr lang="en-US" sz="1000" dirty="0"/>
                        <a:t>4254</a:t>
                      </a:r>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853542454"/>
                  </a:ext>
                </a:extLst>
              </a:tr>
              <a:tr h="301786">
                <a:tc>
                  <a:txBody>
                    <a:bodyPr/>
                    <a:lstStyle/>
                    <a:p>
                      <a:r>
                        <a:rPr lang="en-US" sz="1000" dirty="0"/>
                        <a:t>FY 22</a:t>
                      </a:r>
                    </a:p>
                  </a:txBody>
                  <a:tcPr>
                    <a:lnL w="12700" cap="flat" cmpd="sng" algn="ctr">
                      <a:solidFill>
                        <a:schemeClr val="tx1"/>
                      </a:solidFill>
                      <a:prstDash val="solid"/>
                      <a:round/>
                      <a:headEnd type="none" w="med" len="med"/>
                      <a:tailEnd type="none" w="med" len="med"/>
                    </a:lnL>
                    <a:solidFill>
                      <a:schemeClr val="bg1"/>
                    </a:solidFill>
                  </a:tcPr>
                </a:tc>
                <a:tc>
                  <a:txBody>
                    <a:bodyPr/>
                    <a:lstStyle/>
                    <a:p>
                      <a:r>
                        <a:rPr lang="en-US" sz="1000" dirty="0"/>
                        <a:t>4250</a:t>
                      </a:r>
                    </a:p>
                  </a:txBody>
                  <a:tcPr>
                    <a:solidFill>
                      <a:schemeClr val="bg1"/>
                    </a:solidFill>
                  </a:tcPr>
                </a:tc>
                <a:tc>
                  <a:txBody>
                    <a:bodyPr/>
                    <a:lstStyle/>
                    <a:p>
                      <a:r>
                        <a:rPr lang="en-US" sz="1000" dirty="0"/>
                        <a:t>5000</a:t>
                      </a:r>
                    </a:p>
                  </a:txBody>
                  <a:tcPr>
                    <a:solidFill>
                      <a:schemeClr val="bg1"/>
                    </a:solidFill>
                  </a:tcPr>
                </a:tc>
                <a:tc>
                  <a:txBody>
                    <a:bodyPr/>
                    <a:lstStyle/>
                    <a:p>
                      <a:r>
                        <a:rPr lang="en-US" sz="1000" dirty="0"/>
                        <a:t>4635</a:t>
                      </a:r>
                    </a:p>
                  </a:txBody>
                  <a:tcP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3826492258"/>
                  </a:ext>
                </a:extLst>
              </a:tr>
              <a:tr h="301786">
                <a:tc>
                  <a:txBody>
                    <a:bodyPr/>
                    <a:lstStyle/>
                    <a:p>
                      <a:r>
                        <a:rPr lang="en-US" sz="1000" dirty="0"/>
                        <a:t>FY 23</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4400</a:t>
                      </a:r>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5350</a:t>
                      </a:r>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4866</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25225684"/>
                  </a:ext>
                </a:extLst>
              </a:tr>
            </a:tbl>
          </a:graphicData>
        </a:graphic>
      </p:graphicFrame>
    </p:spTree>
    <p:extLst>
      <p:ext uri="{BB962C8B-B14F-4D97-AF65-F5344CB8AC3E}">
        <p14:creationId xmlns:p14="http://schemas.microsoft.com/office/powerpoint/2010/main" val="2385693234"/>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E3F166-DCDE-4481-8EB3-ADADC3A459D1}"/>
              </a:ext>
            </a:extLst>
          </p:cNvPr>
          <p:cNvSpPr>
            <a:spLocks noGrp="1"/>
          </p:cNvSpPr>
          <p:nvPr>
            <p:ph type="body" sz="quarter" idx="13"/>
          </p:nvPr>
        </p:nvSpPr>
        <p:spPr>
          <a:xfrm>
            <a:off x="469902" y="736690"/>
            <a:ext cx="11252200" cy="334102"/>
          </a:xfrm>
        </p:spPr>
        <p:txBody>
          <a:bodyPr/>
          <a:lstStyle/>
          <a:p>
            <a:r>
              <a:rPr lang="en-US" sz="1600" b="1" dirty="0"/>
              <a:t>With State owned Generating Stations  </a:t>
            </a:r>
          </a:p>
        </p:txBody>
      </p:sp>
      <p:sp>
        <p:nvSpPr>
          <p:cNvPr id="3" name="Title 2">
            <a:extLst>
              <a:ext uri="{FF2B5EF4-FFF2-40B4-BE49-F238E27FC236}">
                <a16:creationId xmlns:a16="http://schemas.microsoft.com/office/drawing/2014/main" id="{55CB2063-FEE6-4A6E-9DA8-F2EE703803F1}"/>
              </a:ext>
            </a:extLst>
          </p:cNvPr>
          <p:cNvSpPr>
            <a:spLocks noGrp="1"/>
          </p:cNvSpPr>
          <p:nvPr>
            <p:ph type="title"/>
          </p:nvPr>
        </p:nvSpPr>
        <p:spPr/>
        <p:txBody>
          <a:bodyPr/>
          <a:lstStyle/>
          <a:p>
            <a:r>
              <a:rPr lang="en-US" b="1" dirty="0"/>
              <a:t>Details of PPA and Share of generating station for WBSEDCL (1/3) </a:t>
            </a:r>
          </a:p>
        </p:txBody>
      </p:sp>
      <p:graphicFrame>
        <p:nvGraphicFramePr>
          <p:cNvPr id="7" name="Table 6">
            <a:extLst>
              <a:ext uri="{FF2B5EF4-FFF2-40B4-BE49-F238E27FC236}">
                <a16:creationId xmlns:a16="http://schemas.microsoft.com/office/drawing/2014/main" id="{32A2451B-05FE-401B-B849-697DFED9A182}"/>
              </a:ext>
            </a:extLst>
          </p:cNvPr>
          <p:cNvGraphicFramePr>
            <a:graphicFrameLocks noGrp="1"/>
          </p:cNvGraphicFramePr>
          <p:nvPr/>
        </p:nvGraphicFramePr>
        <p:xfrm>
          <a:off x="469898" y="1126471"/>
          <a:ext cx="11252200" cy="5230368"/>
        </p:xfrm>
        <a:graphic>
          <a:graphicData uri="http://schemas.openxmlformats.org/drawingml/2006/table">
            <a:tbl>
              <a:tblPr>
                <a:tableStyleId>{2D5ABB26-0587-4C30-8999-92F81FD0307C}</a:tableStyleId>
              </a:tblPr>
              <a:tblGrid>
                <a:gridCol w="1741972">
                  <a:extLst>
                    <a:ext uri="{9D8B030D-6E8A-4147-A177-3AD203B41FA5}">
                      <a16:colId xmlns:a16="http://schemas.microsoft.com/office/drawing/2014/main" val="2511694376"/>
                    </a:ext>
                  </a:extLst>
                </a:gridCol>
                <a:gridCol w="3034216">
                  <a:extLst>
                    <a:ext uri="{9D8B030D-6E8A-4147-A177-3AD203B41FA5}">
                      <a16:colId xmlns:a16="http://schemas.microsoft.com/office/drawing/2014/main" val="3154299347"/>
                    </a:ext>
                  </a:extLst>
                </a:gridCol>
                <a:gridCol w="3249328">
                  <a:extLst>
                    <a:ext uri="{9D8B030D-6E8A-4147-A177-3AD203B41FA5}">
                      <a16:colId xmlns:a16="http://schemas.microsoft.com/office/drawing/2014/main" val="3546706985"/>
                    </a:ext>
                  </a:extLst>
                </a:gridCol>
                <a:gridCol w="1281658">
                  <a:extLst>
                    <a:ext uri="{9D8B030D-6E8A-4147-A177-3AD203B41FA5}">
                      <a16:colId xmlns:a16="http://schemas.microsoft.com/office/drawing/2014/main" val="539562895"/>
                    </a:ext>
                  </a:extLst>
                </a:gridCol>
                <a:gridCol w="1945026">
                  <a:extLst>
                    <a:ext uri="{9D8B030D-6E8A-4147-A177-3AD203B41FA5}">
                      <a16:colId xmlns:a16="http://schemas.microsoft.com/office/drawing/2014/main" val="2291421077"/>
                    </a:ext>
                  </a:extLst>
                </a:gridCol>
              </a:tblGrid>
              <a:tr h="172714">
                <a:tc rowSpan="2">
                  <a:txBody>
                    <a:bodyPr/>
                    <a:lstStyle/>
                    <a:p>
                      <a:pPr algn="ctr" fontAlgn="ctr"/>
                      <a:r>
                        <a:rPr lang="en-US" sz="1200" b="1" u="none" strike="noStrike" dirty="0">
                          <a:solidFill>
                            <a:schemeClr val="bg1"/>
                          </a:solidFill>
                          <a:effectLst/>
                          <a:latin typeface="+mj-lt"/>
                        </a:rPr>
                        <a:t>Constituent </a:t>
                      </a:r>
                      <a:endParaRPr lang="en-US" sz="1200" b="1" i="0" u="none" strike="noStrike" dirty="0">
                        <a:solidFill>
                          <a:schemeClr val="bg1"/>
                        </a:solidFill>
                        <a:effectLst/>
                        <a:latin typeface="+mj-lt"/>
                      </a:endParaRPr>
                    </a:p>
                  </a:txBody>
                  <a:tcPr marL="182880" marR="182880" marT="9144" marB="9144" anchor="ctr">
                    <a:solidFill>
                      <a:srgbClr val="0076A8"/>
                    </a:solidFill>
                  </a:tcPr>
                </a:tc>
                <a:tc rowSpan="2">
                  <a:txBody>
                    <a:bodyPr/>
                    <a:lstStyle/>
                    <a:p>
                      <a:pPr algn="ctr" fontAlgn="ctr"/>
                      <a:r>
                        <a:rPr lang="en-US" sz="1200" b="1" u="none" strike="noStrike" dirty="0">
                          <a:solidFill>
                            <a:schemeClr val="bg1"/>
                          </a:solidFill>
                          <a:effectLst/>
                          <a:latin typeface="+mj-lt"/>
                        </a:rPr>
                        <a:t>Station</a:t>
                      </a:r>
                      <a:endParaRPr lang="en-US" sz="1200" b="1" i="0" u="none" strike="noStrike" dirty="0">
                        <a:solidFill>
                          <a:schemeClr val="bg1"/>
                        </a:solidFill>
                        <a:effectLst/>
                        <a:latin typeface="+mj-lt"/>
                      </a:endParaRPr>
                    </a:p>
                  </a:txBody>
                  <a:tcPr marL="182880" marR="182880" marT="9144" marB="9144" anchor="ctr">
                    <a:solidFill>
                      <a:srgbClr val="0076A8"/>
                    </a:solidFill>
                  </a:tcPr>
                </a:tc>
                <a:tc gridSpan="3">
                  <a:txBody>
                    <a:bodyPr/>
                    <a:lstStyle/>
                    <a:p>
                      <a:pPr algn="ctr" fontAlgn="ctr"/>
                      <a:r>
                        <a:rPr lang="en-US" sz="1200" b="1" u="none" strike="noStrike" dirty="0">
                          <a:solidFill>
                            <a:schemeClr val="bg1"/>
                          </a:solidFill>
                          <a:effectLst/>
                        </a:rPr>
                        <a:t>Share of State Generating Station till December 2019 </a:t>
                      </a:r>
                      <a:endParaRPr lang="en-US" sz="1200" b="1" i="0" u="none" strike="noStrike" dirty="0">
                        <a:solidFill>
                          <a:schemeClr val="bg1"/>
                        </a:solidFill>
                        <a:effectLst/>
                        <a:latin typeface="+mn-lt"/>
                      </a:endParaRPr>
                    </a:p>
                  </a:txBody>
                  <a:tcPr marL="182880" marR="182880" marT="9144" marB="9144" anchor="ctr">
                    <a:solidFill>
                      <a:srgbClr val="0076A8"/>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25107464"/>
                  </a:ext>
                </a:extLst>
              </a:tr>
              <a:tr h="172714">
                <a:tc vMerge="1">
                  <a:txBody>
                    <a:bodyPr/>
                    <a:lstStyle/>
                    <a:p>
                      <a:endParaRPr lang="en-US"/>
                    </a:p>
                  </a:txBody>
                  <a:tcPr/>
                </a:tc>
                <a:tc vMerge="1">
                  <a:txBody>
                    <a:bodyPr/>
                    <a:lstStyle/>
                    <a:p>
                      <a:endParaRPr lang="en-US"/>
                    </a:p>
                  </a:txBody>
                  <a:tcPr/>
                </a:tc>
                <a:tc>
                  <a:txBody>
                    <a:bodyPr/>
                    <a:lstStyle/>
                    <a:p>
                      <a:pPr algn="ctr" fontAlgn="ctr"/>
                      <a:r>
                        <a:rPr lang="en-US" sz="1200" b="1" u="none" strike="noStrike" dirty="0">
                          <a:solidFill>
                            <a:schemeClr val="bg1"/>
                          </a:solidFill>
                          <a:effectLst/>
                          <a:latin typeface="+mj-lt"/>
                        </a:rPr>
                        <a:t>Total installed capacity in MW</a:t>
                      </a:r>
                      <a:endParaRPr lang="en-US" sz="1200" b="1" i="0" u="none" strike="noStrike" dirty="0">
                        <a:solidFill>
                          <a:schemeClr val="bg1"/>
                        </a:solidFill>
                        <a:effectLst/>
                        <a:latin typeface="+mj-lt"/>
                      </a:endParaRPr>
                    </a:p>
                  </a:txBody>
                  <a:tcPr marL="182880" marR="182880" marT="9144" marB="9144" anchor="ctr">
                    <a:solidFill>
                      <a:srgbClr val="0076A8"/>
                    </a:solidFill>
                  </a:tcPr>
                </a:tc>
                <a:tc>
                  <a:txBody>
                    <a:bodyPr/>
                    <a:lstStyle/>
                    <a:p>
                      <a:pPr algn="ctr" fontAlgn="ctr"/>
                      <a:r>
                        <a:rPr lang="en-US" sz="1200" b="1" u="none" strike="noStrike" dirty="0">
                          <a:solidFill>
                            <a:schemeClr val="bg1"/>
                          </a:solidFill>
                          <a:effectLst/>
                          <a:latin typeface="+mj-lt"/>
                        </a:rPr>
                        <a:t>% share</a:t>
                      </a:r>
                      <a:endParaRPr lang="en-US" sz="1200" b="1" i="0" u="none" strike="noStrike" dirty="0">
                        <a:solidFill>
                          <a:schemeClr val="bg1"/>
                        </a:solidFill>
                        <a:effectLst/>
                        <a:latin typeface="+mj-lt"/>
                      </a:endParaRPr>
                    </a:p>
                  </a:txBody>
                  <a:tcPr marL="182880" marR="182880" marT="9144" marB="9144" anchor="ctr">
                    <a:solidFill>
                      <a:srgbClr val="0076A8"/>
                    </a:solidFill>
                  </a:tcPr>
                </a:tc>
                <a:tc>
                  <a:txBody>
                    <a:bodyPr/>
                    <a:lstStyle/>
                    <a:p>
                      <a:pPr algn="ctr" fontAlgn="ctr"/>
                      <a:r>
                        <a:rPr lang="en-US" sz="1200" b="1" u="none" strike="noStrike" dirty="0">
                          <a:solidFill>
                            <a:schemeClr val="bg1"/>
                          </a:solidFill>
                          <a:effectLst/>
                          <a:latin typeface="+mj-lt"/>
                        </a:rPr>
                        <a:t>Share in MW</a:t>
                      </a:r>
                      <a:endParaRPr lang="en-US" sz="1200" b="1" i="0" u="none" strike="noStrike" dirty="0">
                        <a:solidFill>
                          <a:schemeClr val="bg1"/>
                        </a:solidFill>
                        <a:effectLst/>
                        <a:latin typeface="+mj-lt"/>
                      </a:endParaRPr>
                    </a:p>
                  </a:txBody>
                  <a:tcPr marL="182880" marR="182880" marT="9144" marB="9144" anchor="ctr">
                    <a:solidFill>
                      <a:srgbClr val="0076A8"/>
                    </a:solidFill>
                  </a:tcPr>
                </a:tc>
                <a:extLst>
                  <a:ext uri="{0D108BD9-81ED-4DB2-BD59-A6C34878D82A}">
                    <a16:rowId xmlns:a16="http://schemas.microsoft.com/office/drawing/2014/main" val="3326013339"/>
                  </a:ext>
                </a:extLst>
              </a:tr>
              <a:tr h="172714">
                <a:tc rowSpan="11">
                  <a:txBody>
                    <a:bodyPr/>
                    <a:lstStyle/>
                    <a:p>
                      <a:pPr algn="ctr" fontAlgn="ctr"/>
                      <a:r>
                        <a:rPr lang="en-US" sz="1200" u="none" strike="noStrike" dirty="0">
                          <a:solidFill>
                            <a:schemeClr val="bg1"/>
                          </a:solidFill>
                          <a:effectLst/>
                          <a:latin typeface="+mj-lt"/>
                        </a:rPr>
                        <a:t>WBSEDCL HYDEL</a:t>
                      </a:r>
                      <a:endParaRPr lang="en-US" sz="1200" b="1" i="0" u="none" strike="noStrike" dirty="0">
                        <a:solidFill>
                          <a:schemeClr val="bg1"/>
                        </a:solidFill>
                        <a:effectLst/>
                        <a:latin typeface="+mj-lt"/>
                      </a:endParaRPr>
                    </a:p>
                  </a:txBody>
                  <a:tcPr marL="182880" marR="182880" marT="9144" marB="9144" anchor="ctr">
                    <a:solidFill>
                      <a:schemeClr val="accent2">
                        <a:lumMod val="50000"/>
                      </a:schemeClr>
                    </a:solidFill>
                  </a:tcPr>
                </a:tc>
                <a:tc>
                  <a:txBody>
                    <a:bodyPr/>
                    <a:lstStyle/>
                    <a:p>
                      <a:pPr algn="l" fontAlgn="ctr"/>
                      <a:r>
                        <a:rPr lang="en-US" sz="1200" u="none" strike="noStrike" dirty="0">
                          <a:effectLst/>
                          <a:latin typeface="+mj-lt"/>
                        </a:rPr>
                        <a:t>RHP (Rammam)</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dirty="0">
                          <a:effectLst/>
                          <a:latin typeface="+mj-lt"/>
                        </a:rPr>
                        <a:t>51</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dirty="0">
                          <a:effectLst/>
                          <a:latin typeface="+mj-lt"/>
                        </a:rPr>
                        <a:t>100</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a:effectLst/>
                          <a:latin typeface="+mj-lt"/>
                        </a:rPr>
                        <a:t>51</a:t>
                      </a:r>
                      <a:endParaRPr lang="en-US" sz="1200" b="0" i="0" u="none" strike="noStrike">
                        <a:solidFill>
                          <a:srgbClr val="000000"/>
                        </a:solidFill>
                        <a:effectLst/>
                        <a:latin typeface="+mj-lt"/>
                      </a:endParaRPr>
                    </a:p>
                  </a:txBody>
                  <a:tcPr marL="182880" marR="182880" marT="9144" marB="9144" anchor="ctr">
                    <a:solidFill>
                      <a:srgbClr val="2C5234">
                        <a:alpha val="15000"/>
                      </a:srgbClr>
                    </a:solidFill>
                  </a:tcPr>
                </a:tc>
                <a:extLst>
                  <a:ext uri="{0D108BD9-81ED-4DB2-BD59-A6C34878D82A}">
                    <a16:rowId xmlns:a16="http://schemas.microsoft.com/office/drawing/2014/main" val="535159026"/>
                  </a:ext>
                </a:extLst>
              </a:tr>
              <a:tr h="172714">
                <a:tc vMerge="1">
                  <a:txBody>
                    <a:bodyPr/>
                    <a:lstStyle/>
                    <a:p>
                      <a:endParaRPr lang="en-US"/>
                    </a:p>
                  </a:txBody>
                  <a:tcPr/>
                </a:tc>
                <a:tc>
                  <a:txBody>
                    <a:bodyPr/>
                    <a:lstStyle/>
                    <a:p>
                      <a:pPr algn="l" fontAlgn="ctr"/>
                      <a:r>
                        <a:rPr lang="en-US" sz="1200" u="none" strike="noStrike" dirty="0">
                          <a:effectLst/>
                          <a:latin typeface="+mj-lt"/>
                        </a:rPr>
                        <a:t>JHP (Jaldhaka)</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dirty="0">
                          <a:effectLst/>
                          <a:latin typeface="+mj-lt"/>
                        </a:rPr>
                        <a:t>44</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dirty="0">
                          <a:effectLst/>
                          <a:latin typeface="+mj-lt"/>
                        </a:rPr>
                        <a:t>100</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a:effectLst/>
                          <a:latin typeface="+mj-lt"/>
                        </a:rPr>
                        <a:t>44</a:t>
                      </a:r>
                      <a:endParaRPr lang="en-US" sz="1200" b="0" i="0" u="none" strike="noStrike">
                        <a:solidFill>
                          <a:srgbClr val="000000"/>
                        </a:solidFill>
                        <a:effectLst/>
                        <a:latin typeface="+mj-lt"/>
                      </a:endParaRPr>
                    </a:p>
                  </a:txBody>
                  <a:tcPr marL="182880" marR="182880" marT="9144" marB="9144" anchor="ctr">
                    <a:solidFill>
                      <a:srgbClr val="2C5234">
                        <a:alpha val="15000"/>
                      </a:srgbClr>
                    </a:solidFill>
                  </a:tcPr>
                </a:tc>
                <a:extLst>
                  <a:ext uri="{0D108BD9-81ED-4DB2-BD59-A6C34878D82A}">
                    <a16:rowId xmlns:a16="http://schemas.microsoft.com/office/drawing/2014/main" val="1442584171"/>
                  </a:ext>
                </a:extLst>
              </a:tr>
              <a:tr h="172714">
                <a:tc vMerge="1">
                  <a:txBody>
                    <a:bodyPr/>
                    <a:lstStyle/>
                    <a:p>
                      <a:endParaRPr lang="en-US"/>
                    </a:p>
                  </a:txBody>
                  <a:tcPr/>
                </a:tc>
                <a:tc>
                  <a:txBody>
                    <a:bodyPr/>
                    <a:lstStyle/>
                    <a:p>
                      <a:pPr algn="l" fontAlgn="ctr"/>
                      <a:r>
                        <a:rPr lang="en-US" sz="1200" u="none" strike="noStrike" dirty="0">
                          <a:effectLst/>
                          <a:latin typeface="+mj-lt"/>
                        </a:rPr>
                        <a:t>TCF (Teesta Canal)</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a:effectLst/>
                          <a:latin typeface="+mj-lt"/>
                        </a:rPr>
                        <a:t>67.5</a:t>
                      </a:r>
                      <a:endParaRPr lang="en-US" sz="1200" b="0" i="0" u="none" strike="noStrike">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a:effectLst/>
                          <a:latin typeface="+mj-lt"/>
                        </a:rPr>
                        <a:t>100</a:t>
                      </a:r>
                      <a:endParaRPr lang="en-US" sz="1200" b="0" i="0" u="none" strike="noStrike">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a:effectLst/>
                          <a:latin typeface="+mj-lt"/>
                        </a:rPr>
                        <a:t>68</a:t>
                      </a:r>
                      <a:endParaRPr lang="en-US" sz="1200" b="0" i="0" u="none" strike="noStrike">
                        <a:solidFill>
                          <a:srgbClr val="000000"/>
                        </a:solidFill>
                        <a:effectLst/>
                        <a:latin typeface="+mj-lt"/>
                      </a:endParaRPr>
                    </a:p>
                  </a:txBody>
                  <a:tcPr marL="182880" marR="182880" marT="9144" marB="9144" anchor="ctr">
                    <a:solidFill>
                      <a:srgbClr val="2C5234">
                        <a:alpha val="15000"/>
                      </a:srgbClr>
                    </a:solidFill>
                  </a:tcPr>
                </a:tc>
                <a:extLst>
                  <a:ext uri="{0D108BD9-81ED-4DB2-BD59-A6C34878D82A}">
                    <a16:rowId xmlns:a16="http://schemas.microsoft.com/office/drawing/2014/main" val="2733102346"/>
                  </a:ext>
                </a:extLst>
              </a:tr>
              <a:tr h="172714">
                <a:tc vMerge="1">
                  <a:txBody>
                    <a:bodyPr/>
                    <a:lstStyle/>
                    <a:p>
                      <a:endParaRPr lang="en-US"/>
                    </a:p>
                  </a:txBody>
                  <a:tcPr/>
                </a:tc>
                <a:tc>
                  <a:txBody>
                    <a:bodyPr/>
                    <a:lstStyle/>
                    <a:p>
                      <a:pPr algn="l" fontAlgn="ctr"/>
                      <a:r>
                        <a:rPr lang="en-US" sz="1200" u="none" strike="noStrike" dirty="0">
                          <a:effectLst/>
                          <a:latin typeface="+mj-lt"/>
                        </a:rPr>
                        <a:t>Massanjore Hydel Project</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dirty="0">
                          <a:effectLst/>
                          <a:latin typeface="+mj-lt"/>
                        </a:rPr>
                        <a:t>4</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dirty="0">
                          <a:effectLst/>
                          <a:latin typeface="+mj-lt"/>
                        </a:rPr>
                        <a:t>100</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a:effectLst/>
                          <a:latin typeface="+mj-lt"/>
                        </a:rPr>
                        <a:t>4</a:t>
                      </a:r>
                      <a:endParaRPr lang="en-US" sz="1200" b="0" i="0" u="none" strike="noStrike">
                        <a:solidFill>
                          <a:srgbClr val="000000"/>
                        </a:solidFill>
                        <a:effectLst/>
                        <a:latin typeface="+mj-lt"/>
                      </a:endParaRPr>
                    </a:p>
                  </a:txBody>
                  <a:tcPr marL="182880" marR="182880" marT="9144" marB="9144" anchor="ctr">
                    <a:solidFill>
                      <a:srgbClr val="2C5234">
                        <a:alpha val="15000"/>
                      </a:srgbClr>
                    </a:solidFill>
                  </a:tcPr>
                </a:tc>
                <a:extLst>
                  <a:ext uri="{0D108BD9-81ED-4DB2-BD59-A6C34878D82A}">
                    <a16:rowId xmlns:a16="http://schemas.microsoft.com/office/drawing/2014/main" val="1462368696"/>
                  </a:ext>
                </a:extLst>
              </a:tr>
              <a:tr h="172714">
                <a:tc vMerge="1">
                  <a:txBody>
                    <a:bodyPr/>
                    <a:lstStyle/>
                    <a:p>
                      <a:endParaRPr lang="en-US"/>
                    </a:p>
                  </a:txBody>
                  <a:tcPr/>
                </a:tc>
                <a:tc>
                  <a:txBody>
                    <a:bodyPr/>
                    <a:lstStyle/>
                    <a:p>
                      <a:pPr algn="l" fontAlgn="ctr"/>
                      <a:r>
                        <a:rPr lang="en-US" sz="1200" u="none" strike="noStrike" dirty="0" err="1">
                          <a:effectLst/>
                          <a:latin typeface="+mj-lt"/>
                        </a:rPr>
                        <a:t>Rinchington</a:t>
                      </a:r>
                      <a:r>
                        <a:rPr lang="en-US" sz="1200" u="none" strike="noStrike" dirty="0">
                          <a:effectLst/>
                          <a:latin typeface="+mj-lt"/>
                        </a:rPr>
                        <a:t> Hydel Project</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dirty="0">
                          <a:effectLst/>
                          <a:latin typeface="+mj-lt"/>
                        </a:rPr>
                        <a:t>2</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dirty="0">
                          <a:effectLst/>
                          <a:latin typeface="+mj-lt"/>
                        </a:rPr>
                        <a:t>100</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a:effectLst/>
                          <a:latin typeface="+mj-lt"/>
                        </a:rPr>
                        <a:t>2</a:t>
                      </a:r>
                      <a:endParaRPr lang="en-US" sz="1200" b="0" i="0" u="none" strike="noStrike">
                        <a:solidFill>
                          <a:srgbClr val="000000"/>
                        </a:solidFill>
                        <a:effectLst/>
                        <a:latin typeface="+mj-lt"/>
                      </a:endParaRPr>
                    </a:p>
                  </a:txBody>
                  <a:tcPr marL="182880" marR="182880" marT="9144" marB="9144" anchor="ctr">
                    <a:solidFill>
                      <a:srgbClr val="2C5234">
                        <a:alpha val="15000"/>
                      </a:srgbClr>
                    </a:solidFill>
                  </a:tcPr>
                </a:tc>
                <a:extLst>
                  <a:ext uri="{0D108BD9-81ED-4DB2-BD59-A6C34878D82A}">
                    <a16:rowId xmlns:a16="http://schemas.microsoft.com/office/drawing/2014/main" val="2515676531"/>
                  </a:ext>
                </a:extLst>
              </a:tr>
              <a:tr h="172714">
                <a:tc vMerge="1">
                  <a:txBody>
                    <a:bodyPr/>
                    <a:lstStyle/>
                    <a:p>
                      <a:endParaRPr lang="en-US"/>
                    </a:p>
                  </a:txBody>
                  <a:tcPr/>
                </a:tc>
                <a:tc>
                  <a:txBody>
                    <a:bodyPr/>
                    <a:lstStyle/>
                    <a:p>
                      <a:pPr algn="l" fontAlgn="ctr"/>
                      <a:r>
                        <a:rPr lang="en-US" sz="1200" u="none" strike="noStrike" dirty="0">
                          <a:effectLst/>
                          <a:latin typeface="+mj-lt"/>
                        </a:rPr>
                        <a:t>Little Rangit Hydel Project</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dirty="0">
                          <a:effectLst/>
                          <a:latin typeface="+mj-lt"/>
                        </a:rPr>
                        <a:t>2</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dirty="0">
                          <a:effectLst/>
                          <a:latin typeface="+mj-lt"/>
                        </a:rPr>
                        <a:t>100</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a:effectLst/>
                          <a:latin typeface="+mj-lt"/>
                        </a:rPr>
                        <a:t>2</a:t>
                      </a:r>
                      <a:endParaRPr lang="en-US" sz="1200" b="0" i="0" u="none" strike="noStrike">
                        <a:solidFill>
                          <a:srgbClr val="000000"/>
                        </a:solidFill>
                        <a:effectLst/>
                        <a:latin typeface="+mj-lt"/>
                      </a:endParaRPr>
                    </a:p>
                  </a:txBody>
                  <a:tcPr marL="182880" marR="182880" marT="9144" marB="9144" anchor="ctr">
                    <a:solidFill>
                      <a:srgbClr val="2C5234">
                        <a:alpha val="15000"/>
                      </a:srgbClr>
                    </a:solidFill>
                  </a:tcPr>
                </a:tc>
                <a:extLst>
                  <a:ext uri="{0D108BD9-81ED-4DB2-BD59-A6C34878D82A}">
                    <a16:rowId xmlns:a16="http://schemas.microsoft.com/office/drawing/2014/main" val="3256031594"/>
                  </a:ext>
                </a:extLst>
              </a:tr>
              <a:tr h="172714">
                <a:tc vMerge="1">
                  <a:txBody>
                    <a:bodyPr/>
                    <a:lstStyle/>
                    <a:p>
                      <a:endParaRPr lang="en-US"/>
                    </a:p>
                  </a:txBody>
                  <a:tcPr/>
                </a:tc>
                <a:tc>
                  <a:txBody>
                    <a:bodyPr/>
                    <a:lstStyle/>
                    <a:p>
                      <a:pPr algn="l" fontAlgn="ctr"/>
                      <a:r>
                        <a:rPr lang="en-US" sz="1200" u="none" strike="noStrike" dirty="0" err="1">
                          <a:effectLst/>
                          <a:latin typeface="+mj-lt"/>
                        </a:rPr>
                        <a:t>Mungpoo</a:t>
                      </a:r>
                      <a:r>
                        <a:rPr lang="en-US" sz="1200" u="none" strike="noStrike" dirty="0">
                          <a:effectLst/>
                          <a:latin typeface="+mj-lt"/>
                        </a:rPr>
                        <a:t> </a:t>
                      </a:r>
                      <a:r>
                        <a:rPr lang="en-US" sz="1200" u="none" strike="noStrike" dirty="0" err="1">
                          <a:effectLst/>
                          <a:latin typeface="+mj-lt"/>
                        </a:rPr>
                        <a:t>Kalikhola</a:t>
                      </a:r>
                      <a:r>
                        <a:rPr lang="en-US" sz="1200" u="none" strike="noStrike" dirty="0">
                          <a:effectLst/>
                          <a:latin typeface="+mj-lt"/>
                        </a:rPr>
                        <a:t> hydel project</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dirty="0">
                          <a:effectLst/>
                          <a:latin typeface="+mj-lt"/>
                        </a:rPr>
                        <a:t>3</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dirty="0">
                          <a:effectLst/>
                          <a:latin typeface="+mj-lt"/>
                        </a:rPr>
                        <a:t>100</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dirty="0">
                          <a:effectLst/>
                          <a:latin typeface="+mj-lt"/>
                        </a:rPr>
                        <a:t>3</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extLst>
                  <a:ext uri="{0D108BD9-81ED-4DB2-BD59-A6C34878D82A}">
                    <a16:rowId xmlns:a16="http://schemas.microsoft.com/office/drawing/2014/main" val="3592241345"/>
                  </a:ext>
                </a:extLst>
              </a:tr>
              <a:tr h="172714">
                <a:tc vMerge="1">
                  <a:txBody>
                    <a:bodyPr/>
                    <a:lstStyle/>
                    <a:p>
                      <a:endParaRPr lang="en-US"/>
                    </a:p>
                  </a:txBody>
                  <a:tcPr/>
                </a:tc>
                <a:tc>
                  <a:txBody>
                    <a:bodyPr/>
                    <a:lstStyle/>
                    <a:p>
                      <a:pPr algn="l" fontAlgn="ctr"/>
                      <a:r>
                        <a:rPr lang="en-US" sz="1200" u="none" strike="noStrike" dirty="0" err="1">
                          <a:effectLst/>
                          <a:latin typeface="+mj-lt"/>
                        </a:rPr>
                        <a:t>Sidrapong</a:t>
                      </a:r>
                      <a:r>
                        <a:rPr lang="en-US" sz="1200" u="none" strike="noStrike" dirty="0">
                          <a:effectLst/>
                          <a:latin typeface="+mj-lt"/>
                        </a:rPr>
                        <a:t> Hydel Project</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dirty="0">
                          <a:effectLst/>
                          <a:latin typeface="+mj-lt"/>
                        </a:rPr>
                        <a:t>0.33</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a:effectLst/>
                          <a:latin typeface="+mj-lt"/>
                        </a:rPr>
                        <a:t>100</a:t>
                      </a:r>
                      <a:endParaRPr lang="en-US" sz="1200" b="0" i="0" u="none" strike="noStrike">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dirty="0">
                          <a:effectLst/>
                          <a:latin typeface="+mj-lt"/>
                        </a:rPr>
                        <a:t>0.33</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extLst>
                  <a:ext uri="{0D108BD9-81ED-4DB2-BD59-A6C34878D82A}">
                    <a16:rowId xmlns:a16="http://schemas.microsoft.com/office/drawing/2014/main" val="3947150588"/>
                  </a:ext>
                </a:extLst>
              </a:tr>
              <a:tr h="172714">
                <a:tc vMerge="1">
                  <a:txBody>
                    <a:bodyPr/>
                    <a:lstStyle/>
                    <a:p>
                      <a:endParaRPr lang="en-US"/>
                    </a:p>
                  </a:txBody>
                  <a:tcPr/>
                </a:tc>
                <a:tc>
                  <a:txBody>
                    <a:bodyPr/>
                    <a:lstStyle/>
                    <a:p>
                      <a:pPr algn="l" fontAlgn="ctr"/>
                      <a:r>
                        <a:rPr lang="en-US" sz="1200" u="none" strike="noStrike" dirty="0" err="1">
                          <a:effectLst/>
                          <a:latin typeface="+mj-lt"/>
                        </a:rPr>
                        <a:t>Fazi</a:t>
                      </a:r>
                      <a:r>
                        <a:rPr lang="en-US" sz="1200" u="none" strike="noStrike" dirty="0">
                          <a:effectLst/>
                          <a:latin typeface="+mj-lt"/>
                        </a:rPr>
                        <a:t> Hydel project</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dirty="0">
                          <a:effectLst/>
                          <a:latin typeface="+mj-lt"/>
                        </a:rPr>
                        <a:t>1.1</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dirty="0">
                          <a:effectLst/>
                          <a:latin typeface="+mj-lt"/>
                        </a:rPr>
                        <a:t>100</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dirty="0">
                          <a:effectLst/>
                          <a:latin typeface="+mj-lt"/>
                        </a:rPr>
                        <a:t>1.1</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extLst>
                  <a:ext uri="{0D108BD9-81ED-4DB2-BD59-A6C34878D82A}">
                    <a16:rowId xmlns:a16="http://schemas.microsoft.com/office/drawing/2014/main" val="1921109106"/>
                  </a:ext>
                </a:extLst>
              </a:tr>
              <a:tr h="172714">
                <a:tc vMerge="1">
                  <a:txBody>
                    <a:bodyPr/>
                    <a:lstStyle/>
                    <a:p>
                      <a:endParaRPr lang="en-US"/>
                    </a:p>
                  </a:txBody>
                  <a:tcPr/>
                </a:tc>
                <a:tc>
                  <a:txBody>
                    <a:bodyPr/>
                    <a:lstStyle/>
                    <a:p>
                      <a:pPr algn="l" fontAlgn="ctr"/>
                      <a:r>
                        <a:rPr lang="en-US" sz="1200" u="none" strike="noStrike" dirty="0">
                          <a:effectLst/>
                          <a:latin typeface="+mj-lt"/>
                        </a:rPr>
                        <a:t>PPSP</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a:effectLst/>
                          <a:latin typeface="+mj-lt"/>
                        </a:rPr>
                        <a:t>900</a:t>
                      </a:r>
                      <a:endParaRPr lang="en-US" sz="1200" b="0" i="0" u="none" strike="noStrike">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dirty="0">
                          <a:effectLst/>
                          <a:latin typeface="+mj-lt"/>
                        </a:rPr>
                        <a:t>100</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u="none" strike="noStrike" dirty="0">
                          <a:effectLst/>
                          <a:latin typeface="+mj-lt"/>
                        </a:rPr>
                        <a:t>900</a:t>
                      </a:r>
                      <a:endParaRPr lang="en-US" sz="1200" b="0" i="0" u="none" strike="noStrike" dirty="0">
                        <a:solidFill>
                          <a:srgbClr val="000000"/>
                        </a:solidFill>
                        <a:effectLst/>
                        <a:latin typeface="+mj-lt"/>
                      </a:endParaRPr>
                    </a:p>
                  </a:txBody>
                  <a:tcPr marL="182880" marR="182880" marT="9144" marB="9144" anchor="ctr">
                    <a:solidFill>
                      <a:srgbClr val="2C5234">
                        <a:alpha val="15000"/>
                      </a:srgbClr>
                    </a:solidFill>
                  </a:tcPr>
                </a:tc>
                <a:extLst>
                  <a:ext uri="{0D108BD9-81ED-4DB2-BD59-A6C34878D82A}">
                    <a16:rowId xmlns:a16="http://schemas.microsoft.com/office/drawing/2014/main" val="3032193854"/>
                  </a:ext>
                </a:extLst>
              </a:tr>
              <a:tr h="172714">
                <a:tc vMerge="1">
                  <a:txBody>
                    <a:bodyPr/>
                    <a:lstStyle/>
                    <a:p>
                      <a:endParaRPr lang="en-US"/>
                    </a:p>
                  </a:txBody>
                  <a:tcPr/>
                </a:tc>
                <a:tc>
                  <a:txBody>
                    <a:bodyPr/>
                    <a:lstStyle/>
                    <a:p>
                      <a:pPr algn="l" fontAlgn="ctr"/>
                      <a:r>
                        <a:rPr lang="en-US" sz="1200" b="1" u="none" strike="noStrike" dirty="0">
                          <a:effectLst/>
                          <a:latin typeface="+mj-lt"/>
                        </a:rPr>
                        <a:t>Total</a:t>
                      </a:r>
                      <a:endParaRPr lang="en-US" sz="1200" b="1"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b="1" u="none" strike="noStrike" dirty="0">
                          <a:effectLst/>
                          <a:latin typeface="+mj-lt"/>
                        </a:rPr>
                        <a:t>1075</a:t>
                      </a:r>
                      <a:endParaRPr lang="en-US" sz="1200" b="1"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b="1" u="none" strike="noStrike" dirty="0">
                          <a:effectLst/>
                          <a:latin typeface="+mj-lt"/>
                        </a:rPr>
                        <a:t> </a:t>
                      </a:r>
                      <a:endParaRPr lang="en-US" sz="1200" b="1" i="0" u="none" strike="noStrike" dirty="0">
                        <a:solidFill>
                          <a:srgbClr val="000000"/>
                        </a:solidFill>
                        <a:effectLst/>
                        <a:latin typeface="+mj-lt"/>
                      </a:endParaRPr>
                    </a:p>
                  </a:txBody>
                  <a:tcPr marL="182880" marR="182880" marT="9144" marB="9144" anchor="ctr">
                    <a:solidFill>
                      <a:srgbClr val="2C5234">
                        <a:alpha val="15000"/>
                      </a:srgbClr>
                    </a:solidFill>
                  </a:tcPr>
                </a:tc>
                <a:tc>
                  <a:txBody>
                    <a:bodyPr/>
                    <a:lstStyle/>
                    <a:p>
                      <a:pPr algn="ctr" fontAlgn="ctr"/>
                      <a:r>
                        <a:rPr lang="en-US" sz="1200" b="1" u="none" strike="noStrike" dirty="0">
                          <a:effectLst/>
                          <a:latin typeface="+mj-lt"/>
                        </a:rPr>
                        <a:t>1075</a:t>
                      </a:r>
                      <a:endParaRPr lang="en-US" sz="1200" b="1" i="0" u="none" strike="noStrike" dirty="0">
                        <a:solidFill>
                          <a:srgbClr val="000000"/>
                        </a:solidFill>
                        <a:effectLst/>
                        <a:latin typeface="+mj-lt"/>
                      </a:endParaRPr>
                    </a:p>
                  </a:txBody>
                  <a:tcPr marL="182880" marR="182880" marT="9144" marB="9144" anchor="ctr">
                    <a:solidFill>
                      <a:srgbClr val="2C5234">
                        <a:alpha val="15000"/>
                      </a:srgbClr>
                    </a:solidFill>
                  </a:tcPr>
                </a:tc>
                <a:extLst>
                  <a:ext uri="{0D108BD9-81ED-4DB2-BD59-A6C34878D82A}">
                    <a16:rowId xmlns:a16="http://schemas.microsoft.com/office/drawing/2014/main" val="2977200228"/>
                  </a:ext>
                </a:extLst>
              </a:tr>
              <a:tr h="172714">
                <a:tc rowSpan="6">
                  <a:txBody>
                    <a:bodyPr/>
                    <a:lstStyle/>
                    <a:p>
                      <a:pPr algn="ctr" fontAlgn="ctr"/>
                      <a:r>
                        <a:rPr lang="en-US" sz="1200" u="none" strike="noStrike" dirty="0">
                          <a:solidFill>
                            <a:schemeClr val="bg1"/>
                          </a:solidFill>
                          <a:effectLst/>
                          <a:latin typeface="+mj-lt"/>
                        </a:rPr>
                        <a:t>WBSEDCL SOLAR</a:t>
                      </a:r>
                      <a:endParaRPr lang="en-US" sz="1200" b="1" i="0" u="none" strike="noStrike" dirty="0">
                        <a:solidFill>
                          <a:schemeClr val="bg1"/>
                        </a:solidFill>
                        <a:effectLst/>
                        <a:latin typeface="+mj-lt"/>
                      </a:endParaRPr>
                    </a:p>
                  </a:txBody>
                  <a:tcPr marL="182880" marR="182880" marT="9144" marB="9144" anchor="ctr">
                    <a:solidFill>
                      <a:srgbClr val="00ABAB"/>
                    </a:solidFill>
                  </a:tcPr>
                </a:tc>
                <a:tc>
                  <a:txBody>
                    <a:bodyPr/>
                    <a:lstStyle/>
                    <a:p>
                      <a:pPr algn="l" fontAlgn="ctr"/>
                      <a:r>
                        <a:rPr lang="en-US" sz="1200" u="none" strike="noStrike" dirty="0">
                          <a:effectLst/>
                          <a:latin typeface="+mj-lt"/>
                        </a:rPr>
                        <a:t>TCF Solar</a:t>
                      </a:r>
                      <a:endParaRPr lang="en-US" sz="1200" b="0" i="0" u="none" strike="noStrike" dirty="0">
                        <a:solidFill>
                          <a:srgbClr val="000000"/>
                        </a:solidFill>
                        <a:effectLst/>
                        <a:latin typeface="+mj-lt"/>
                      </a:endParaRPr>
                    </a:p>
                  </a:txBody>
                  <a:tcPr marL="182880" marR="182880" marT="9144" marB="9144" anchor="ctr">
                    <a:solidFill>
                      <a:srgbClr val="00ABAB">
                        <a:alpha val="15000"/>
                      </a:srgbClr>
                    </a:solidFill>
                  </a:tcPr>
                </a:tc>
                <a:tc>
                  <a:txBody>
                    <a:bodyPr/>
                    <a:lstStyle/>
                    <a:p>
                      <a:pPr algn="ctr" fontAlgn="ctr"/>
                      <a:r>
                        <a:rPr lang="en-US" sz="1200" u="none" strike="noStrike" dirty="0">
                          <a:effectLst/>
                          <a:latin typeface="+mj-lt"/>
                        </a:rPr>
                        <a:t>20</a:t>
                      </a:r>
                      <a:endParaRPr lang="en-US" sz="1200" b="0" i="0" u="none" strike="noStrike" dirty="0">
                        <a:solidFill>
                          <a:srgbClr val="000000"/>
                        </a:solidFill>
                        <a:effectLst/>
                        <a:latin typeface="+mj-lt"/>
                      </a:endParaRPr>
                    </a:p>
                  </a:txBody>
                  <a:tcPr marL="182880" marR="182880" marT="9144" marB="9144" anchor="ctr">
                    <a:solidFill>
                      <a:srgbClr val="00ABAB">
                        <a:alpha val="15000"/>
                      </a:srgbClr>
                    </a:solidFill>
                  </a:tcPr>
                </a:tc>
                <a:tc>
                  <a:txBody>
                    <a:bodyPr/>
                    <a:lstStyle/>
                    <a:p>
                      <a:pPr algn="ctr" fontAlgn="ctr"/>
                      <a:r>
                        <a:rPr lang="en-US" sz="1200" u="none" strike="noStrike">
                          <a:effectLst/>
                          <a:latin typeface="+mj-lt"/>
                        </a:rPr>
                        <a:t>100</a:t>
                      </a:r>
                      <a:endParaRPr lang="en-US" sz="1200" b="0" i="0" u="none" strike="noStrike">
                        <a:solidFill>
                          <a:srgbClr val="000000"/>
                        </a:solidFill>
                        <a:effectLst/>
                        <a:latin typeface="+mj-lt"/>
                      </a:endParaRPr>
                    </a:p>
                  </a:txBody>
                  <a:tcPr marL="182880" marR="182880" marT="9144" marB="9144" anchor="ctr">
                    <a:solidFill>
                      <a:srgbClr val="00ABAB">
                        <a:alpha val="15000"/>
                      </a:srgbClr>
                    </a:solidFill>
                  </a:tcPr>
                </a:tc>
                <a:tc>
                  <a:txBody>
                    <a:bodyPr/>
                    <a:lstStyle/>
                    <a:p>
                      <a:pPr algn="ctr" fontAlgn="ctr"/>
                      <a:r>
                        <a:rPr lang="en-US" sz="1200" u="none" strike="noStrike">
                          <a:effectLst/>
                          <a:latin typeface="+mj-lt"/>
                        </a:rPr>
                        <a:t>20</a:t>
                      </a:r>
                      <a:endParaRPr lang="en-US" sz="1200" b="0" i="0" u="none" strike="noStrike">
                        <a:solidFill>
                          <a:srgbClr val="000000"/>
                        </a:solidFill>
                        <a:effectLst/>
                        <a:latin typeface="+mj-lt"/>
                      </a:endParaRPr>
                    </a:p>
                  </a:txBody>
                  <a:tcPr marL="182880" marR="182880" marT="9144" marB="9144" anchor="ctr">
                    <a:solidFill>
                      <a:srgbClr val="00ABAB">
                        <a:alpha val="15000"/>
                      </a:srgbClr>
                    </a:solidFill>
                  </a:tcPr>
                </a:tc>
                <a:extLst>
                  <a:ext uri="{0D108BD9-81ED-4DB2-BD59-A6C34878D82A}">
                    <a16:rowId xmlns:a16="http://schemas.microsoft.com/office/drawing/2014/main" val="436164165"/>
                  </a:ext>
                </a:extLst>
              </a:tr>
              <a:tr h="172714">
                <a:tc vMerge="1">
                  <a:txBody>
                    <a:bodyPr/>
                    <a:lstStyle/>
                    <a:p>
                      <a:endParaRPr lang="en-US"/>
                    </a:p>
                  </a:txBody>
                  <a:tcPr/>
                </a:tc>
                <a:tc>
                  <a:txBody>
                    <a:bodyPr/>
                    <a:lstStyle/>
                    <a:p>
                      <a:pPr algn="l" fontAlgn="ctr"/>
                      <a:r>
                        <a:rPr lang="en-US" sz="1200" u="none" strike="noStrike" dirty="0" err="1">
                          <a:effectLst/>
                          <a:latin typeface="+mj-lt"/>
                        </a:rPr>
                        <a:t>Salboni</a:t>
                      </a:r>
                      <a:r>
                        <a:rPr lang="en-US" sz="1200" u="none" strike="noStrike" dirty="0">
                          <a:effectLst/>
                          <a:latin typeface="+mj-lt"/>
                        </a:rPr>
                        <a:t> solar</a:t>
                      </a:r>
                      <a:endParaRPr lang="en-US" sz="1200" b="0" i="0" u="none" strike="noStrike" dirty="0">
                        <a:solidFill>
                          <a:srgbClr val="000000"/>
                        </a:solidFill>
                        <a:effectLst/>
                        <a:latin typeface="+mj-lt"/>
                      </a:endParaRPr>
                    </a:p>
                  </a:txBody>
                  <a:tcPr marL="182880" marR="182880" marT="9144" marB="9144" anchor="ctr">
                    <a:solidFill>
                      <a:srgbClr val="00ABAB">
                        <a:alpha val="15000"/>
                      </a:srgbClr>
                    </a:solidFill>
                  </a:tcPr>
                </a:tc>
                <a:tc>
                  <a:txBody>
                    <a:bodyPr/>
                    <a:lstStyle/>
                    <a:p>
                      <a:pPr algn="ctr" fontAlgn="ctr"/>
                      <a:r>
                        <a:rPr lang="en-US" sz="1200" u="none" strike="noStrike" dirty="0">
                          <a:effectLst/>
                          <a:latin typeface="+mj-lt"/>
                        </a:rPr>
                        <a:t>10</a:t>
                      </a:r>
                      <a:endParaRPr lang="en-US" sz="1200" b="0" i="0" u="none" strike="noStrike" dirty="0">
                        <a:solidFill>
                          <a:srgbClr val="000000"/>
                        </a:solidFill>
                        <a:effectLst/>
                        <a:latin typeface="+mj-lt"/>
                      </a:endParaRPr>
                    </a:p>
                  </a:txBody>
                  <a:tcPr marL="182880" marR="182880" marT="9144" marB="9144" anchor="ctr">
                    <a:solidFill>
                      <a:srgbClr val="00ABAB">
                        <a:alpha val="15000"/>
                      </a:srgbClr>
                    </a:solidFill>
                  </a:tcPr>
                </a:tc>
                <a:tc>
                  <a:txBody>
                    <a:bodyPr/>
                    <a:lstStyle/>
                    <a:p>
                      <a:pPr algn="ctr" fontAlgn="ctr"/>
                      <a:r>
                        <a:rPr lang="en-US" sz="1200" u="none" strike="noStrike">
                          <a:effectLst/>
                          <a:latin typeface="+mj-lt"/>
                        </a:rPr>
                        <a:t>100</a:t>
                      </a:r>
                      <a:endParaRPr lang="en-US" sz="1200" b="0" i="0" u="none" strike="noStrike">
                        <a:solidFill>
                          <a:srgbClr val="000000"/>
                        </a:solidFill>
                        <a:effectLst/>
                        <a:latin typeface="+mj-lt"/>
                      </a:endParaRPr>
                    </a:p>
                  </a:txBody>
                  <a:tcPr marL="182880" marR="182880" marT="9144" marB="9144" anchor="ctr">
                    <a:solidFill>
                      <a:srgbClr val="00ABAB">
                        <a:alpha val="15000"/>
                      </a:srgbClr>
                    </a:solidFill>
                  </a:tcPr>
                </a:tc>
                <a:tc>
                  <a:txBody>
                    <a:bodyPr/>
                    <a:lstStyle/>
                    <a:p>
                      <a:pPr algn="ctr" fontAlgn="ctr"/>
                      <a:r>
                        <a:rPr lang="en-US" sz="1200" u="none" strike="noStrike">
                          <a:effectLst/>
                          <a:latin typeface="+mj-lt"/>
                        </a:rPr>
                        <a:t>10</a:t>
                      </a:r>
                      <a:endParaRPr lang="en-US" sz="1200" b="0" i="0" u="none" strike="noStrike">
                        <a:solidFill>
                          <a:srgbClr val="000000"/>
                        </a:solidFill>
                        <a:effectLst/>
                        <a:latin typeface="+mj-lt"/>
                      </a:endParaRPr>
                    </a:p>
                  </a:txBody>
                  <a:tcPr marL="182880" marR="182880" marT="9144" marB="9144" anchor="ctr">
                    <a:solidFill>
                      <a:srgbClr val="00ABAB">
                        <a:alpha val="15000"/>
                      </a:srgbClr>
                    </a:solidFill>
                  </a:tcPr>
                </a:tc>
                <a:extLst>
                  <a:ext uri="{0D108BD9-81ED-4DB2-BD59-A6C34878D82A}">
                    <a16:rowId xmlns:a16="http://schemas.microsoft.com/office/drawing/2014/main" val="4045630230"/>
                  </a:ext>
                </a:extLst>
              </a:tr>
              <a:tr h="172714">
                <a:tc vMerge="1">
                  <a:txBody>
                    <a:bodyPr/>
                    <a:lstStyle/>
                    <a:p>
                      <a:endParaRPr lang="en-US"/>
                    </a:p>
                  </a:txBody>
                  <a:tcPr/>
                </a:tc>
                <a:tc>
                  <a:txBody>
                    <a:bodyPr/>
                    <a:lstStyle/>
                    <a:p>
                      <a:pPr algn="l" fontAlgn="ctr"/>
                      <a:r>
                        <a:rPr lang="en-US" sz="1200" u="none" strike="noStrike" dirty="0">
                          <a:effectLst/>
                          <a:latin typeface="+mj-lt"/>
                        </a:rPr>
                        <a:t>Patni solar</a:t>
                      </a:r>
                      <a:endParaRPr lang="en-US" sz="1200" b="0" i="0" u="none" strike="noStrike" dirty="0">
                        <a:solidFill>
                          <a:srgbClr val="000000"/>
                        </a:solidFill>
                        <a:effectLst/>
                        <a:latin typeface="+mj-lt"/>
                      </a:endParaRPr>
                    </a:p>
                  </a:txBody>
                  <a:tcPr marL="182880" marR="182880" marT="9144" marB="9144" anchor="ctr">
                    <a:solidFill>
                      <a:srgbClr val="00ABAB">
                        <a:alpha val="15000"/>
                      </a:srgbClr>
                    </a:solidFill>
                  </a:tcPr>
                </a:tc>
                <a:tc>
                  <a:txBody>
                    <a:bodyPr/>
                    <a:lstStyle/>
                    <a:p>
                      <a:pPr algn="ctr" fontAlgn="ctr"/>
                      <a:r>
                        <a:rPr lang="en-US" sz="1200" u="none" strike="noStrike">
                          <a:effectLst/>
                          <a:latin typeface="+mj-lt"/>
                        </a:rPr>
                        <a:t>10</a:t>
                      </a:r>
                      <a:endParaRPr lang="en-US" sz="1200" b="0" i="0" u="none" strike="noStrike">
                        <a:solidFill>
                          <a:srgbClr val="000000"/>
                        </a:solidFill>
                        <a:effectLst/>
                        <a:latin typeface="+mj-lt"/>
                      </a:endParaRPr>
                    </a:p>
                  </a:txBody>
                  <a:tcPr marL="182880" marR="182880" marT="9144" marB="9144" anchor="ctr">
                    <a:solidFill>
                      <a:srgbClr val="00ABAB">
                        <a:alpha val="15000"/>
                      </a:srgbClr>
                    </a:solidFill>
                  </a:tcPr>
                </a:tc>
                <a:tc>
                  <a:txBody>
                    <a:bodyPr/>
                    <a:lstStyle/>
                    <a:p>
                      <a:pPr algn="ctr" fontAlgn="ctr"/>
                      <a:r>
                        <a:rPr lang="en-US" sz="1200" u="none" strike="noStrike">
                          <a:effectLst/>
                          <a:latin typeface="+mj-lt"/>
                        </a:rPr>
                        <a:t>100</a:t>
                      </a:r>
                      <a:endParaRPr lang="en-US" sz="1200" b="0" i="0" u="none" strike="noStrike">
                        <a:solidFill>
                          <a:srgbClr val="000000"/>
                        </a:solidFill>
                        <a:effectLst/>
                        <a:latin typeface="+mj-lt"/>
                      </a:endParaRPr>
                    </a:p>
                  </a:txBody>
                  <a:tcPr marL="182880" marR="182880" marT="9144" marB="9144" anchor="ctr">
                    <a:solidFill>
                      <a:srgbClr val="00ABAB">
                        <a:alpha val="15000"/>
                      </a:srgbClr>
                    </a:solidFill>
                  </a:tcPr>
                </a:tc>
                <a:tc>
                  <a:txBody>
                    <a:bodyPr/>
                    <a:lstStyle/>
                    <a:p>
                      <a:pPr algn="ctr" fontAlgn="ctr"/>
                      <a:r>
                        <a:rPr lang="en-US" sz="1200" u="none" strike="noStrike">
                          <a:effectLst/>
                          <a:latin typeface="+mj-lt"/>
                        </a:rPr>
                        <a:t>10</a:t>
                      </a:r>
                      <a:endParaRPr lang="en-US" sz="1200" b="0" i="0" u="none" strike="noStrike">
                        <a:solidFill>
                          <a:srgbClr val="000000"/>
                        </a:solidFill>
                        <a:effectLst/>
                        <a:latin typeface="+mj-lt"/>
                      </a:endParaRPr>
                    </a:p>
                  </a:txBody>
                  <a:tcPr marL="182880" marR="182880" marT="9144" marB="9144" anchor="ctr">
                    <a:solidFill>
                      <a:srgbClr val="00ABAB">
                        <a:alpha val="15000"/>
                      </a:srgbClr>
                    </a:solidFill>
                  </a:tcPr>
                </a:tc>
                <a:extLst>
                  <a:ext uri="{0D108BD9-81ED-4DB2-BD59-A6C34878D82A}">
                    <a16:rowId xmlns:a16="http://schemas.microsoft.com/office/drawing/2014/main" val="1332042590"/>
                  </a:ext>
                </a:extLst>
              </a:tr>
              <a:tr h="172714">
                <a:tc vMerge="1">
                  <a:txBody>
                    <a:bodyPr/>
                    <a:lstStyle/>
                    <a:p>
                      <a:endParaRPr lang="en-US"/>
                    </a:p>
                  </a:txBody>
                  <a:tcPr/>
                </a:tc>
                <a:tc>
                  <a:txBody>
                    <a:bodyPr/>
                    <a:lstStyle/>
                    <a:p>
                      <a:pPr algn="l" fontAlgn="ctr"/>
                      <a:r>
                        <a:rPr lang="en-US" sz="1200" u="none" strike="noStrike" dirty="0">
                          <a:effectLst/>
                          <a:latin typeface="+mj-lt"/>
                        </a:rPr>
                        <a:t>Mejia Solar</a:t>
                      </a:r>
                      <a:endParaRPr lang="en-US" sz="1200" b="0" i="0" u="none" strike="noStrike" dirty="0">
                        <a:solidFill>
                          <a:srgbClr val="000000"/>
                        </a:solidFill>
                        <a:effectLst/>
                        <a:latin typeface="+mj-lt"/>
                      </a:endParaRPr>
                    </a:p>
                  </a:txBody>
                  <a:tcPr marL="182880" marR="182880" marT="9144" marB="9144" anchor="ctr">
                    <a:solidFill>
                      <a:srgbClr val="00ABAB">
                        <a:alpha val="15000"/>
                      </a:srgbClr>
                    </a:solidFill>
                  </a:tcPr>
                </a:tc>
                <a:tc>
                  <a:txBody>
                    <a:bodyPr/>
                    <a:lstStyle/>
                    <a:p>
                      <a:pPr algn="ctr" fontAlgn="ctr"/>
                      <a:r>
                        <a:rPr lang="en-US" sz="1200" u="none" strike="noStrike">
                          <a:effectLst/>
                          <a:latin typeface="+mj-lt"/>
                        </a:rPr>
                        <a:t>10</a:t>
                      </a:r>
                      <a:endParaRPr lang="en-US" sz="1200" b="0" i="0" u="none" strike="noStrike">
                        <a:solidFill>
                          <a:srgbClr val="000000"/>
                        </a:solidFill>
                        <a:effectLst/>
                        <a:latin typeface="+mj-lt"/>
                      </a:endParaRPr>
                    </a:p>
                  </a:txBody>
                  <a:tcPr marL="182880" marR="182880" marT="9144" marB="9144" anchor="ctr">
                    <a:solidFill>
                      <a:srgbClr val="00ABAB">
                        <a:alpha val="15000"/>
                      </a:srgbClr>
                    </a:solidFill>
                  </a:tcPr>
                </a:tc>
                <a:tc>
                  <a:txBody>
                    <a:bodyPr/>
                    <a:lstStyle/>
                    <a:p>
                      <a:pPr algn="ctr" fontAlgn="ctr"/>
                      <a:r>
                        <a:rPr lang="en-US" sz="1200" u="none" strike="noStrike">
                          <a:effectLst/>
                          <a:latin typeface="+mj-lt"/>
                        </a:rPr>
                        <a:t>100</a:t>
                      </a:r>
                      <a:endParaRPr lang="en-US" sz="1200" b="0" i="0" u="none" strike="noStrike">
                        <a:solidFill>
                          <a:srgbClr val="000000"/>
                        </a:solidFill>
                        <a:effectLst/>
                        <a:latin typeface="+mj-lt"/>
                      </a:endParaRPr>
                    </a:p>
                  </a:txBody>
                  <a:tcPr marL="182880" marR="182880" marT="9144" marB="9144" anchor="ctr">
                    <a:solidFill>
                      <a:srgbClr val="00ABAB">
                        <a:alpha val="15000"/>
                      </a:srgbClr>
                    </a:solidFill>
                  </a:tcPr>
                </a:tc>
                <a:tc>
                  <a:txBody>
                    <a:bodyPr/>
                    <a:lstStyle/>
                    <a:p>
                      <a:pPr algn="ctr" fontAlgn="ctr"/>
                      <a:r>
                        <a:rPr lang="en-US" sz="1200" u="none" strike="noStrike">
                          <a:effectLst/>
                          <a:latin typeface="+mj-lt"/>
                        </a:rPr>
                        <a:t>10</a:t>
                      </a:r>
                      <a:endParaRPr lang="en-US" sz="1200" b="0" i="0" u="none" strike="noStrike">
                        <a:solidFill>
                          <a:srgbClr val="000000"/>
                        </a:solidFill>
                        <a:effectLst/>
                        <a:latin typeface="+mj-lt"/>
                      </a:endParaRPr>
                    </a:p>
                  </a:txBody>
                  <a:tcPr marL="182880" marR="182880" marT="9144" marB="9144" anchor="ctr">
                    <a:solidFill>
                      <a:srgbClr val="00ABAB">
                        <a:alpha val="15000"/>
                      </a:srgbClr>
                    </a:solidFill>
                  </a:tcPr>
                </a:tc>
                <a:extLst>
                  <a:ext uri="{0D108BD9-81ED-4DB2-BD59-A6C34878D82A}">
                    <a16:rowId xmlns:a16="http://schemas.microsoft.com/office/drawing/2014/main" val="702167291"/>
                  </a:ext>
                </a:extLst>
              </a:tr>
              <a:tr h="172714">
                <a:tc vMerge="1">
                  <a:txBody>
                    <a:bodyPr/>
                    <a:lstStyle/>
                    <a:p>
                      <a:endParaRPr lang="en-US"/>
                    </a:p>
                  </a:txBody>
                  <a:tcPr/>
                </a:tc>
                <a:tc>
                  <a:txBody>
                    <a:bodyPr/>
                    <a:lstStyle/>
                    <a:p>
                      <a:pPr algn="l" fontAlgn="ctr"/>
                      <a:r>
                        <a:rPr lang="en-US" sz="1200" u="none" strike="noStrike" dirty="0" err="1">
                          <a:effectLst/>
                          <a:latin typeface="+mj-lt"/>
                        </a:rPr>
                        <a:t>Chharrah</a:t>
                      </a:r>
                      <a:r>
                        <a:rPr lang="en-US" sz="1200" u="none" strike="noStrike" dirty="0">
                          <a:effectLst/>
                          <a:latin typeface="+mj-lt"/>
                        </a:rPr>
                        <a:t> solar</a:t>
                      </a:r>
                      <a:endParaRPr lang="en-US" sz="1200" b="0" i="0" u="none" strike="noStrike" dirty="0">
                        <a:solidFill>
                          <a:srgbClr val="000000"/>
                        </a:solidFill>
                        <a:effectLst/>
                        <a:latin typeface="+mj-lt"/>
                      </a:endParaRPr>
                    </a:p>
                  </a:txBody>
                  <a:tcPr marL="182880" marR="182880" marT="9144" marB="9144" anchor="ctr">
                    <a:solidFill>
                      <a:srgbClr val="00ABAB">
                        <a:alpha val="15000"/>
                      </a:srgbClr>
                    </a:solidFill>
                  </a:tcPr>
                </a:tc>
                <a:tc>
                  <a:txBody>
                    <a:bodyPr/>
                    <a:lstStyle/>
                    <a:p>
                      <a:pPr algn="ctr" fontAlgn="ctr"/>
                      <a:r>
                        <a:rPr lang="en-US" sz="1200" u="none" strike="noStrike" dirty="0">
                          <a:effectLst/>
                          <a:latin typeface="+mj-lt"/>
                        </a:rPr>
                        <a:t>10</a:t>
                      </a:r>
                      <a:endParaRPr lang="en-US" sz="1200" b="0" i="0" u="none" strike="noStrike" dirty="0">
                        <a:solidFill>
                          <a:srgbClr val="000000"/>
                        </a:solidFill>
                        <a:effectLst/>
                        <a:latin typeface="+mj-lt"/>
                      </a:endParaRPr>
                    </a:p>
                  </a:txBody>
                  <a:tcPr marL="182880" marR="182880" marT="9144" marB="9144" anchor="ctr">
                    <a:solidFill>
                      <a:srgbClr val="00ABAB">
                        <a:alpha val="15000"/>
                      </a:srgbClr>
                    </a:solidFill>
                  </a:tcPr>
                </a:tc>
                <a:tc>
                  <a:txBody>
                    <a:bodyPr/>
                    <a:lstStyle/>
                    <a:p>
                      <a:pPr algn="ctr" fontAlgn="ctr"/>
                      <a:r>
                        <a:rPr lang="en-US" sz="1200" u="none" strike="noStrike" dirty="0">
                          <a:effectLst/>
                          <a:latin typeface="+mj-lt"/>
                        </a:rPr>
                        <a:t>100</a:t>
                      </a:r>
                      <a:endParaRPr lang="en-US" sz="1200" b="0" i="0" u="none" strike="noStrike" dirty="0">
                        <a:solidFill>
                          <a:srgbClr val="000000"/>
                        </a:solidFill>
                        <a:effectLst/>
                        <a:latin typeface="+mj-lt"/>
                      </a:endParaRPr>
                    </a:p>
                  </a:txBody>
                  <a:tcPr marL="182880" marR="182880" marT="9144" marB="9144" anchor="ctr">
                    <a:solidFill>
                      <a:srgbClr val="00ABAB">
                        <a:alpha val="15000"/>
                      </a:srgbClr>
                    </a:solidFill>
                  </a:tcPr>
                </a:tc>
                <a:tc>
                  <a:txBody>
                    <a:bodyPr/>
                    <a:lstStyle/>
                    <a:p>
                      <a:pPr algn="ctr" fontAlgn="ctr"/>
                      <a:r>
                        <a:rPr lang="en-US" sz="1200" u="none" strike="noStrike">
                          <a:effectLst/>
                          <a:latin typeface="+mj-lt"/>
                        </a:rPr>
                        <a:t>10</a:t>
                      </a:r>
                      <a:endParaRPr lang="en-US" sz="1200" b="0" i="0" u="none" strike="noStrike">
                        <a:solidFill>
                          <a:srgbClr val="000000"/>
                        </a:solidFill>
                        <a:effectLst/>
                        <a:latin typeface="+mj-lt"/>
                      </a:endParaRPr>
                    </a:p>
                  </a:txBody>
                  <a:tcPr marL="182880" marR="182880" marT="9144" marB="9144" anchor="ctr">
                    <a:solidFill>
                      <a:srgbClr val="00ABAB">
                        <a:alpha val="15000"/>
                      </a:srgbClr>
                    </a:solidFill>
                  </a:tcPr>
                </a:tc>
                <a:extLst>
                  <a:ext uri="{0D108BD9-81ED-4DB2-BD59-A6C34878D82A}">
                    <a16:rowId xmlns:a16="http://schemas.microsoft.com/office/drawing/2014/main" val="828106753"/>
                  </a:ext>
                </a:extLst>
              </a:tr>
              <a:tr h="172714">
                <a:tc vMerge="1">
                  <a:txBody>
                    <a:bodyPr/>
                    <a:lstStyle/>
                    <a:p>
                      <a:endParaRPr lang="en-US"/>
                    </a:p>
                  </a:txBody>
                  <a:tcPr/>
                </a:tc>
                <a:tc>
                  <a:txBody>
                    <a:bodyPr/>
                    <a:lstStyle/>
                    <a:p>
                      <a:pPr algn="l" fontAlgn="ctr"/>
                      <a:r>
                        <a:rPr lang="en-US" sz="1200" b="1" u="none" strike="noStrike" dirty="0">
                          <a:effectLst/>
                          <a:latin typeface="+mj-lt"/>
                        </a:rPr>
                        <a:t>Total </a:t>
                      </a:r>
                      <a:endParaRPr lang="en-US" sz="1200" b="1" i="0" u="none" strike="noStrike" dirty="0">
                        <a:solidFill>
                          <a:srgbClr val="000000"/>
                        </a:solidFill>
                        <a:effectLst/>
                        <a:latin typeface="+mj-lt"/>
                      </a:endParaRPr>
                    </a:p>
                  </a:txBody>
                  <a:tcPr marL="182880" marR="182880" marT="9144" marB="9144" anchor="ctr">
                    <a:solidFill>
                      <a:srgbClr val="00ABAB">
                        <a:alpha val="15000"/>
                      </a:srgbClr>
                    </a:solidFill>
                  </a:tcPr>
                </a:tc>
                <a:tc>
                  <a:txBody>
                    <a:bodyPr/>
                    <a:lstStyle/>
                    <a:p>
                      <a:pPr algn="ctr" fontAlgn="ctr"/>
                      <a:r>
                        <a:rPr lang="en-US" sz="1200" b="1" u="none" strike="noStrike" dirty="0">
                          <a:effectLst/>
                          <a:latin typeface="+mj-lt"/>
                        </a:rPr>
                        <a:t>60</a:t>
                      </a:r>
                      <a:endParaRPr lang="en-US" sz="1200" b="1" i="0" u="none" strike="noStrike" dirty="0">
                        <a:solidFill>
                          <a:srgbClr val="000000"/>
                        </a:solidFill>
                        <a:effectLst/>
                        <a:latin typeface="+mj-lt"/>
                      </a:endParaRPr>
                    </a:p>
                  </a:txBody>
                  <a:tcPr marL="182880" marR="182880" marT="9144" marB="9144" anchor="ctr">
                    <a:solidFill>
                      <a:srgbClr val="00ABAB">
                        <a:alpha val="15000"/>
                      </a:srgbClr>
                    </a:solidFill>
                  </a:tcPr>
                </a:tc>
                <a:tc>
                  <a:txBody>
                    <a:bodyPr/>
                    <a:lstStyle/>
                    <a:p>
                      <a:pPr algn="ctr" fontAlgn="ctr"/>
                      <a:r>
                        <a:rPr lang="en-US" sz="1200" b="1" u="none" strike="noStrike" dirty="0">
                          <a:effectLst/>
                          <a:latin typeface="+mj-lt"/>
                        </a:rPr>
                        <a:t> </a:t>
                      </a:r>
                      <a:endParaRPr lang="en-US" sz="1200" b="1" i="0" u="none" strike="noStrike" dirty="0">
                        <a:solidFill>
                          <a:srgbClr val="000000"/>
                        </a:solidFill>
                        <a:effectLst/>
                        <a:latin typeface="+mj-lt"/>
                      </a:endParaRPr>
                    </a:p>
                  </a:txBody>
                  <a:tcPr marL="182880" marR="182880" marT="9144" marB="9144" anchor="ctr">
                    <a:solidFill>
                      <a:srgbClr val="00ABAB">
                        <a:alpha val="15000"/>
                      </a:srgbClr>
                    </a:solidFill>
                  </a:tcPr>
                </a:tc>
                <a:tc>
                  <a:txBody>
                    <a:bodyPr/>
                    <a:lstStyle/>
                    <a:p>
                      <a:pPr algn="ctr" fontAlgn="ctr"/>
                      <a:r>
                        <a:rPr lang="en-US" sz="1200" b="1" u="none" strike="noStrike" dirty="0">
                          <a:effectLst/>
                          <a:latin typeface="+mj-lt"/>
                        </a:rPr>
                        <a:t>60</a:t>
                      </a:r>
                      <a:endParaRPr lang="en-US" sz="1200" b="1" i="0" u="none" strike="noStrike" dirty="0">
                        <a:solidFill>
                          <a:srgbClr val="000000"/>
                        </a:solidFill>
                        <a:effectLst/>
                        <a:latin typeface="+mj-lt"/>
                      </a:endParaRPr>
                    </a:p>
                  </a:txBody>
                  <a:tcPr marL="182880" marR="182880" marT="9144" marB="9144" anchor="ctr">
                    <a:solidFill>
                      <a:srgbClr val="00ABAB">
                        <a:alpha val="15000"/>
                      </a:srgbClr>
                    </a:solidFill>
                  </a:tcPr>
                </a:tc>
                <a:extLst>
                  <a:ext uri="{0D108BD9-81ED-4DB2-BD59-A6C34878D82A}">
                    <a16:rowId xmlns:a16="http://schemas.microsoft.com/office/drawing/2014/main" val="3709049919"/>
                  </a:ext>
                </a:extLst>
              </a:tr>
              <a:tr h="172714">
                <a:tc rowSpan="7">
                  <a:txBody>
                    <a:bodyPr/>
                    <a:lstStyle/>
                    <a:p>
                      <a:pPr algn="ctr" fontAlgn="ctr"/>
                      <a:r>
                        <a:rPr lang="en-US" sz="1200" u="none" strike="noStrike" dirty="0">
                          <a:solidFill>
                            <a:schemeClr val="bg1"/>
                          </a:solidFill>
                          <a:effectLst/>
                          <a:latin typeface="+mj-lt"/>
                        </a:rPr>
                        <a:t>WBPDCL including DPL </a:t>
                      </a:r>
                      <a:endParaRPr lang="en-US" sz="1200" b="1" i="0" u="none" strike="noStrike" dirty="0">
                        <a:solidFill>
                          <a:schemeClr val="bg1"/>
                        </a:solidFill>
                        <a:effectLst/>
                        <a:latin typeface="+mj-lt"/>
                      </a:endParaRPr>
                    </a:p>
                  </a:txBody>
                  <a:tcPr marL="182880" marR="182880" marT="9144" marB="9144" anchor="ctr">
                    <a:solidFill>
                      <a:srgbClr val="86BC25"/>
                    </a:solidFill>
                  </a:tcPr>
                </a:tc>
                <a:tc>
                  <a:txBody>
                    <a:bodyPr/>
                    <a:lstStyle/>
                    <a:p>
                      <a:pPr algn="l" fontAlgn="ctr"/>
                      <a:r>
                        <a:rPr lang="en-US" sz="1200" u="none" strike="noStrike" dirty="0">
                          <a:effectLst/>
                          <a:latin typeface="+mj-lt"/>
                        </a:rPr>
                        <a:t>BTPS (</a:t>
                      </a:r>
                      <a:r>
                        <a:rPr lang="en-US" sz="1200" u="none" strike="noStrike" dirty="0" err="1">
                          <a:effectLst/>
                          <a:latin typeface="+mj-lt"/>
                        </a:rPr>
                        <a:t>bandel</a:t>
                      </a:r>
                      <a:r>
                        <a:rPr lang="en-US" sz="1200" u="none" strike="noStrike" dirty="0">
                          <a:effectLst/>
                          <a:latin typeface="+mj-lt"/>
                        </a:rPr>
                        <a:t>)</a:t>
                      </a:r>
                      <a:endParaRPr lang="en-US" sz="1200" b="0" i="0" u="none" strike="noStrike" dirty="0">
                        <a:solidFill>
                          <a:srgbClr val="000000"/>
                        </a:solidFill>
                        <a:effectLst/>
                        <a:latin typeface="+mj-lt"/>
                      </a:endParaRPr>
                    </a:p>
                  </a:txBody>
                  <a:tcPr marL="182880" marR="182880" marT="9144" marB="9144" anchor="ctr">
                    <a:solidFill>
                      <a:srgbClr val="86BC25">
                        <a:alpha val="15000"/>
                      </a:srgbClr>
                    </a:solidFill>
                  </a:tcPr>
                </a:tc>
                <a:tc>
                  <a:txBody>
                    <a:bodyPr/>
                    <a:lstStyle/>
                    <a:p>
                      <a:pPr algn="ctr" fontAlgn="ctr"/>
                      <a:r>
                        <a:rPr lang="en-US" sz="1200" b="0" i="0" u="none" strike="noStrike" dirty="0">
                          <a:solidFill>
                            <a:srgbClr val="000000"/>
                          </a:solidFill>
                          <a:effectLst/>
                          <a:latin typeface="+mj-lt"/>
                        </a:rPr>
                        <a:t>275</a:t>
                      </a:r>
                    </a:p>
                  </a:txBody>
                  <a:tcPr marL="182880" marR="182880" marT="9144" marB="9144" anchor="ctr">
                    <a:solidFill>
                      <a:srgbClr val="86BC25">
                        <a:alpha val="15000"/>
                      </a:srgbClr>
                    </a:solidFill>
                  </a:tcPr>
                </a:tc>
                <a:tc>
                  <a:txBody>
                    <a:bodyPr/>
                    <a:lstStyle/>
                    <a:p>
                      <a:pPr algn="ctr" fontAlgn="ctr"/>
                      <a:r>
                        <a:rPr lang="en-US" sz="1200" u="none" strike="noStrike" dirty="0">
                          <a:effectLst/>
                          <a:latin typeface="+mj-lt"/>
                        </a:rPr>
                        <a:t>100</a:t>
                      </a:r>
                      <a:endParaRPr lang="en-US" sz="1200" b="0" i="0" u="none" strike="noStrike" dirty="0">
                        <a:solidFill>
                          <a:srgbClr val="000000"/>
                        </a:solidFill>
                        <a:effectLst/>
                        <a:latin typeface="+mj-lt"/>
                      </a:endParaRPr>
                    </a:p>
                  </a:txBody>
                  <a:tcPr marL="182880" marR="182880" marT="9144" marB="9144" anchor="ctr">
                    <a:solidFill>
                      <a:srgbClr val="86BC25">
                        <a:alpha val="15000"/>
                      </a:srgbClr>
                    </a:solidFill>
                  </a:tcPr>
                </a:tc>
                <a:tc>
                  <a:txBody>
                    <a:bodyPr/>
                    <a:lstStyle/>
                    <a:p>
                      <a:pPr algn="ctr" fontAlgn="ctr"/>
                      <a:r>
                        <a:rPr lang="en-US" sz="1200" b="0" i="0" u="none" strike="noStrike" dirty="0">
                          <a:solidFill>
                            <a:srgbClr val="000000"/>
                          </a:solidFill>
                          <a:effectLst/>
                          <a:latin typeface="+mj-lt"/>
                        </a:rPr>
                        <a:t>275</a:t>
                      </a:r>
                    </a:p>
                  </a:txBody>
                  <a:tcPr marL="182880" marR="182880" marT="9144" marB="9144" anchor="ctr">
                    <a:solidFill>
                      <a:srgbClr val="86BC25">
                        <a:alpha val="15000"/>
                      </a:srgbClr>
                    </a:solidFill>
                  </a:tcPr>
                </a:tc>
                <a:extLst>
                  <a:ext uri="{0D108BD9-81ED-4DB2-BD59-A6C34878D82A}">
                    <a16:rowId xmlns:a16="http://schemas.microsoft.com/office/drawing/2014/main" val="206297817"/>
                  </a:ext>
                </a:extLst>
              </a:tr>
              <a:tr h="172714">
                <a:tc vMerge="1">
                  <a:txBody>
                    <a:bodyPr/>
                    <a:lstStyle/>
                    <a:p>
                      <a:endParaRPr lang="en-US"/>
                    </a:p>
                  </a:txBody>
                  <a:tcPr/>
                </a:tc>
                <a:tc>
                  <a:txBody>
                    <a:bodyPr/>
                    <a:lstStyle/>
                    <a:p>
                      <a:pPr algn="l" fontAlgn="ctr"/>
                      <a:r>
                        <a:rPr lang="en-US" sz="1200" u="none" strike="noStrike" dirty="0">
                          <a:effectLst/>
                          <a:latin typeface="+mj-lt"/>
                        </a:rPr>
                        <a:t>STPS (Santaldih)</a:t>
                      </a:r>
                      <a:endParaRPr lang="en-US" sz="1200" b="0" i="0" u="none" strike="noStrike" dirty="0">
                        <a:solidFill>
                          <a:srgbClr val="000000"/>
                        </a:solidFill>
                        <a:effectLst/>
                        <a:latin typeface="+mj-lt"/>
                      </a:endParaRPr>
                    </a:p>
                  </a:txBody>
                  <a:tcPr marL="182880" marR="182880" marT="9144" marB="9144" anchor="ctr">
                    <a:solidFill>
                      <a:srgbClr val="86BC25">
                        <a:alpha val="15000"/>
                      </a:srgbClr>
                    </a:solidFill>
                  </a:tcPr>
                </a:tc>
                <a:tc>
                  <a:txBody>
                    <a:bodyPr/>
                    <a:lstStyle/>
                    <a:p>
                      <a:pPr algn="ctr" fontAlgn="ctr"/>
                      <a:r>
                        <a:rPr lang="en-US" sz="1200" u="none" strike="noStrike" dirty="0">
                          <a:effectLst/>
                          <a:latin typeface="+mj-lt"/>
                        </a:rPr>
                        <a:t>500</a:t>
                      </a:r>
                      <a:endParaRPr lang="en-US" sz="1200" b="0" i="0" u="none" strike="noStrike" dirty="0">
                        <a:solidFill>
                          <a:srgbClr val="000000"/>
                        </a:solidFill>
                        <a:effectLst/>
                        <a:latin typeface="+mj-lt"/>
                      </a:endParaRPr>
                    </a:p>
                  </a:txBody>
                  <a:tcPr marL="182880" marR="182880" marT="9144" marB="9144" anchor="ctr">
                    <a:solidFill>
                      <a:srgbClr val="86BC25">
                        <a:alpha val="15000"/>
                      </a:srgbClr>
                    </a:solidFill>
                  </a:tcPr>
                </a:tc>
                <a:tc>
                  <a:txBody>
                    <a:bodyPr/>
                    <a:lstStyle/>
                    <a:p>
                      <a:pPr algn="ctr" fontAlgn="ctr"/>
                      <a:r>
                        <a:rPr lang="en-US" sz="1200" u="none" strike="noStrike" dirty="0">
                          <a:effectLst/>
                          <a:latin typeface="+mj-lt"/>
                        </a:rPr>
                        <a:t>100</a:t>
                      </a:r>
                      <a:endParaRPr lang="en-US" sz="1200" b="0" i="0" u="none" strike="noStrike" dirty="0">
                        <a:solidFill>
                          <a:srgbClr val="000000"/>
                        </a:solidFill>
                        <a:effectLst/>
                        <a:latin typeface="+mj-lt"/>
                      </a:endParaRPr>
                    </a:p>
                  </a:txBody>
                  <a:tcPr marL="182880" marR="182880" marT="9144" marB="9144" anchor="ctr">
                    <a:solidFill>
                      <a:srgbClr val="86BC25">
                        <a:alpha val="15000"/>
                      </a:srgbClr>
                    </a:solidFill>
                  </a:tcPr>
                </a:tc>
                <a:tc>
                  <a:txBody>
                    <a:bodyPr/>
                    <a:lstStyle/>
                    <a:p>
                      <a:pPr algn="ctr" fontAlgn="ctr"/>
                      <a:r>
                        <a:rPr lang="en-US" sz="1200" u="none" strike="noStrike" dirty="0">
                          <a:effectLst/>
                          <a:latin typeface="+mj-lt"/>
                        </a:rPr>
                        <a:t>500</a:t>
                      </a:r>
                      <a:endParaRPr lang="en-US" sz="1200" b="0" i="0" u="none" strike="noStrike" dirty="0">
                        <a:solidFill>
                          <a:srgbClr val="000000"/>
                        </a:solidFill>
                        <a:effectLst/>
                        <a:latin typeface="+mj-lt"/>
                      </a:endParaRPr>
                    </a:p>
                  </a:txBody>
                  <a:tcPr marL="182880" marR="182880" marT="9144" marB="9144" anchor="ctr">
                    <a:solidFill>
                      <a:srgbClr val="86BC25">
                        <a:alpha val="15000"/>
                      </a:srgbClr>
                    </a:solidFill>
                  </a:tcPr>
                </a:tc>
                <a:extLst>
                  <a:ext uri="{0D108BD9-81ED-4DB2-BD59-A6C34878D82A}">
                    <a16:rowId xmlns:a16="http://schemas.microsoft.com/office/drawing/2014/main" val="2020278903"/>
                  </a:ext>
                </a:extLst>
              </a:tr>
              <a:tr h="172714">
                <a:tc vMerge="1">
                  <a:txBody>
                    <a:bodyPr/>
                    <a:lstStyle/>
                    <a:p>
                      <a:endParaRPr lang="en-US"/>
                    </a:p>
                  </a:txBody>
                  <a:tcPr/>
                </a:tc>
                <a:tc>
                  <a:txBody>
                    <a:bodyPr/>
                    <a:lstStyle/>
                    <a:p>
                      <a:pPr algn="l" fontAlgn="ctr"/>
                      <a:r>
                        <a:rPr lang="en-US" sz="1200" u="none" strike="noStrike" dirty="0">
                          <a:effectLst/>
                          <a:latin typeface="+mj-lt"/>
                        </a:rPr>
                        <a:t>KTPP (Kolaghat)</a:t>
                      </a:r>
                      <a:endParaRPr lang="en-US" sz="1200" b="0" i="0" u="none" strike="noStrike" dirty="0">
                        <a:solidFill>
                          <a:srgbClr val="000000"/>
                        </a:solidFill>
                        <a:effectLst/>
                        <a:latin typeface="+mj-lt"/>
                      </a:endParaRPr>
                    </a:p>
                  </a:txBody>
                  <a:tcPr marL="182880" marR="182880" marT="9144" marB="9144" anchor="ctr">
                    <a:solidFill>
                      <a:srgbClr val="86BC25">
                        <a:alpha val="15000"/>
                      </a:srgbClr>
                    </a:solidFill>
                  </a:tcPr>
                </a:tc>
                <a:tc>
                  <a:txBody>
                    <a:bodyPr/>
                    <a:lstStyle/>
                    <a:p>
                      <a:pPr algn="ctr" fontAlgn="ctr"/>
                      <a:r>
                        <a:rPr lang="en-US" sz="1200" b="0" i="0" u="none" strike="noStrike" dirty="0">
                          <a:solidFill>
                            <a:srgbClr val="000000"/>
                          </a:solidFill>
                          <a:effectLst/>
                          <a:latin typeface="+mj-lt"/>
                        </a:rPr>
                        <a:t>840</a:t>
                      </a:r>
                    </a:p>
                  </a:txBody>
                  <a:tcPr marL="182880" marR="182880" marT="9144" marB="9144" anchor="ctr">
                    <a:solidFill>
                      <a:srgbClr val="86BC25">
                        <a:alpha val="15000"/>
                      </a:srgbClr>
                    </a:solidFill>
                  </a:tcPr>
                </a:tc>
                <a:tc>
                  <a:txBody>
                    <a:bodyPr/>
                    <a:lstStyle/>
                    <a:p>
                      <a:pPr algn="ctr" fontAlgn="ctr"/>
                      <a:r>
                        <a:rPr lang="en-US" sz="1200" u="none" strike="noStrike">
                          <a:effectLst/>
                          <a:latin typeface="+mj-lt"/>
                        </a:rPr>
                        <a:t>100</a:t>
                      </a:r>
                      <a:endParaRPr lang="en-US" sz="1200" b="0" i="0" u="none" strike="noStrike">
                        <a:solidFill>
                          <a:srgbClr val="000000"/>
                        </a:solidFill>
                        <a:effectLst/>
                        <a:latin typeface="+mj-lt"/>
                      </a:endParaRPr>
                    </a:p>
                  </a:txBody>
                  <a:tcPr marL="182880" marR="182880" marT="9144" marB="9144" anchor="ctr">
                    <a:solidFill>
                      <a:srgbClr val="86BC25">
                        <a:alpha val="15000"/>
                      </a:srgbClr>
                    </a:solidFill>
                  </a:tcPr>
                </a:tc>
                <a:tc>
                  <a:txBody>
                    <a:bodyPr/>
                    <a:lstStyle/>
                    <a:p>
                      <a:pPr algn="ctr" fontAlgn="ctr"/>
                      <a:r>
                        <a:rPr lang="en-US" sz="1200" b="0" i="0" u="none" strike="noStrike" dirty="0">
                          <a:solidFill>
                            <a:srgbClr val="000000"/>
                          </a:solidFill>
                          <a:effectLst/>
                          <a:latin typeface="+mj-lt"/>
                        </a:rPr>
                        <a:t>840</a:t>
                      </a:r>
                    </a:p>
                  </a:txBody>
                  <a:tcPr marL="182880" marR="182880" marT="9144" marB="9144" anchor="ctr">
                    <a:solidFill>
                      <a:srgbClr val="86BC25">
                        <a:alpha val="15000"/>
                      </a:srgbClr>
                    </a:solidFill>
                  </a:tcPr>
                </a:tc>
                <a:extLst>
                  <a:ext uri="{0D108BD9-81ED-4DB2-BD59-A6C34878D82A}">
                    <a16:rowId xmlns:a16="http://schemas.microsoft.com/office/drawing/2014/main" val="756024723"/>
                  </a:ext>
                </a:extLst>
              </a:tr>
              <a:tr h="172714">
                <a:tc vMerge="1">
                  <a:txBody>
                    <a:bodyPr/>
                    <a:lstStyle/>
                    <a:p>
                      <a:endParaRPr lang="en-US"/>
                    </a:p>
                  </a:txBody>
                  <a:tcPr/>
                </a:tc>
                <a:tc>
                  <a:txBody>
                    <a:bodyPr/>
                    <a:lstStyle/>
                    <a:p>
                      <a:pPr algn="l" fontAlgn="ctr"/>
                      <a:r>
                        <a:rPr lang="en-US" sz="1200" u="none" strike="noStrike" dirty="0">
                          <a:effectLst/>
                          <a:latin typeface="+mj-lt"/>
                        </a:rPr>
                        <a:t>BkTPP (Bakreshwar)</a:t>
                      </a:r>
                      <a:endParaRPr lang="en-US" sz="1200" b="0" i="0" u="none" strike="noStrike" dirty="0">
                        <a:solidFill>
                          <a:srgbClr val="000000"/>
                        </a:solidFill>
                        <a:effectLst/>
                        <a:latin typeface="+mj-lt"/>
                      </a:endParaRPr>
                    </a:p>
                  </a:txBody>
                  <a:tcPr marL="182880" marR="182880" marT="9144" marB="9144" anchor="ctr">
                    <a:solidFill>
                      <a:srgbClr val="86BC25">
                        <a:alpha val="15000"/>
                      </a:srgbClr>
                    </a:solidFill>
                  </a:tcPr>
                </a:tc>
                <a:tc>
                  <a:txBody>
                    <a:bodyPr/>
                    <a:lstStyle/>
                    <a:p>
                      <a:pPr algn="ctr" fontAlgn="ctr"/>
                      <a:r>
                        <a:rPr lang="en-US" sz="1200" u="none" strike="noStrike" dirty="0">
                          <a:effectLst/>
                          <a:latin typeface="+mj-lt"/>
                        </a:rPr>
                        <a:t>1050</a:t>
                      </a:r>
                      <a:endParaRPr lang="en-US" sz="1200" b="0" i="0" u="none" strike="noStrike" dirty="0">
                        <a:solidFill>
                          <a:srgbClr val="000000"/>
                        </a:solidFill>
                        <a:effectLst/>
                        <a:latin typeface="+mj-lt"/>
                      </a:endParaRPr>
                    </a:p>
                  </a:txBody>
                  <a:tcPr marL="182880" marR="182880" marT="9144" marB="9144" anchor="ctr">
                    <a:solidFill>
                      <a:srgbClr val="86BC25">
                        <a:alpha val="15000"/>
                      </a:srgbClr>
                    </a:solidFill>
                  </a:tcPr>
                </a:tc>
                <a:tc>
                  <a:txBody>
                    <a:bodyPr/>
                    <a:lstStyle/>
                    <a:p>
                      <a:pPr algn="ctr" fontAlgn="ctr"/>
                      <a:r>
                        <a:rPr lang="en-US" sz="1200" u="none" strike="noStrike">
                          <a:effectLst/>
                          <a:latin typeface="+mj-lt"/>
                        </a:rPr>
                        <a:t>100</a:t>
                      </a:r>
                      <a:endParaRPr lang="en-US" sz="1200" b="0" i="0" u="none" strike="noStrike">
                        <a:solidFill>
                          <a:srgbClr val="000000"/>
                        </a:solidFill>
                        <a:effectLst/>
                        <a:latin typeface="+mj-lt"/>
                      </a:endParaRPr>
                    </a:p>
                  </a:txBody>
                  <a:tcPr marL="182880" marR="182880" marT="9144" marB="9144" anchor="ctr">
                    <a:solidFill>
                      <a:srgbClr val="86BC25">
                        <a:alpha val="15000"/>
                      </a:srgbClr>
                    </a:solidFill>
                  </a:tcPr>
                </a:tc>
                <a:tc>
                  <a:txBody>
                    <a:bodyPr/>
                    <a:lstStyle/>
                    <a:p>
                      <a:pPr algn="ctr" fontAlgn="ctr"/>
                      <a:r>
                        <a:rPr lang="en-US" sz="1200" u="none" strike="noStrike" dirty="0">
                          <a:effectLst/>
                          <a:latin typeface="+mj-lt"/>
                        </a:rPr>
                        <a:t>1050</a:t>
                      </a:r>
                      <a:endParaRPr lang="en-US" sz="1200" b="0" i="0" u="none" strike="noStrike" dirty="0">
                        <a:solidFill>
                          <a:srgbClr val="000000"/>
                        </a:solidFill>
                        <a:effectLst/>
                        <a:latin typeface="+mj-lt"/>
                      </a:endParaRPr>
                    </a:p>
                  </a:txBody>
                  <a:tcPr marL="182880" marR="182880" marT="9144" marB="9144" anchor="ctr">
                    <a:solidFill>
                      <a:srgbClr val="86BC25">
                        <a:alpha val="15000"/>
                      </a:srgbClr>
                    </a:solidFill>
                  </a:tcPr>
                </a:tc>
                <a:extLst>
                  <a:ext uri="{0D108BD9-81ED-4DB2-BD59-A6C34878D82A}">
                    <a16:rowId xmlns:a16="http://schemas.microsoft.com/office/drawing/2014/main" val="2219635748"/>
                  </a:ext>
                </a:extLst>
              </a:tr>
              <a:tr h="172714">
                <a:tc vMerge="1">
                  <a:txBody>
                    <a:bodyPr/>
                    <a:lstStyle/>
                    <a:p>
                      <a:endParaRPr lang="en-US"/>
                    </a:p>
                  </a:txBody>
                  <a:tcPr/>
                </a:tc>
                <a:tc>
                  <a:txBody>
                    <a:bodyPr/>
                    <a:lstStyle/>
                    <a:p>
                      <a:pPr algn="l" fontAlgn="ctr"/>
                      <a:r>
                        <a:rPr lang="en-US" sz="1200" u="none" strike="noStrike" dirty="0">
                          <a:effectLst/>
                          <a:latin typeface="+mj-lt"/>
                        </a:rPr>
                        <a:t>SgTPP (Sagardighi)</a:t>
                      </a:r>
                      <a:endParaRPr lang="en-US" sz="1200" b="0" i="0" u="none" strike="noStrike" dirty="0">
                        <a:solidFill>
                          <a:srgbClr val="000000"/>
                        </a:solidFill>
                        <a:effectLst/>
                        <a:latin typeface="+mj-lt"/>
                      </a:endParaRPr>
                    </a:p>
                  </a:txBody>
                  <a:tcPr marL="182880" marR="182880" marT="9144" marB="9144" anchor="ctr">
                    <a:solidFill>
                      <a:srgbClr val="86BC25">
                        <a:alpha val="15000"/>
                      </a:srgbClr>
                    </a:solidFill>
                  </a:tcPr>
                </a:tc>
                <a:tc>
                  <a:txBody>
                    <a:bodyPr/>
                    <a:lstStyle/>
                    <a:p>
                      <a:pPr algn="ctr" fontAlgn="ctr"/>
                      <a:r>
                        <a:rPr lang="en-US" sz="1200" u="none" strike="noStrike" dirty="0">
                          <a:effectLst/>
                          <a:latin typeface="+mj-lt"/>
                        </a:rPr>
                        <a:t>1600</a:t>
                      </a:r>
                      <a:endParaRPr lang="en-US" sz="1200" b="0" i="0" u="none" strike="noStrike" dirty="0">
                        <a:solidFill>
                          <a:srgbClr val="000000"/>
                        </a:solidFill>
                        <a:effectLst/>
                        <a:latin typeface="+mj-lt"/>
                      </a:endParaRPr>
                    </a:p>
                  </a:txBody>
                  <a:tcPr marL="182880" marR="182880" marT="9144" marB="9144" anchor="ctr">
                    <a:solidFill>
                      <a:srgbClr val="86BC25">
                        <a:alpha val="15000"/>
                      </a:srgbClr>
                    </a:solidFill>
                  </a:tcPr>
                </a:tc>
                <a:tc>
                  <a:txBody>
                    <a:bodyPr/>
                    <a:lstStyle/>
                    <a:p>
                      <a:pPr algn="ctr" fontAlgn="ctr"/>
                      <a:r>
                        <a:rPr lang="en-US" sz="1200" u="none" strike="noStrike">
                          <a:effectLst/>
                          <a:latin typeface="+mj-lt"/>
                        </a:rPr>
                        <a:t>100</a:t>
                      </a:r>
                      <a:endParaRPr lang="en-US" sz="1200" b="0" i="0" u="none" strike="noStrike">
                        <a:solidFill>
                          <a:srgbClr val="000000"/>
                        </a:solidFill>
                        <a:effectLst/>
                        <a:latin typeface="+mj-lt"/>
                      </a:endParaRPr>
                    </a:p>
                  </a:txBody>
                  <a:tcPr marL="182880" marR="182880" marT="9144" marB="9144" anchor="ctr">
                    <a:solidFill>
                      <a:srgbClr val="86BC25">
                        <a:alpha val="15000"/>
                      </a:srgbClr>
                    </a:solidFill>
                  </a:tcPr>
                </a:tc>
                <a:tc>
                  <a:txBody>
                    <a:bodyPr/>
                    <a:lstStyle/>
                    <a:p>
                      <a:pPr algn="ctr" fontAlgn="ctr"/>
                      <a:r>
                        <a:rPr lang="en-US" sz="1200" u="none" strike="noStrike" dirty="0">
                          <a:effectLst/>
                          <a:latin typeface="+mj-lt"/>
                        </a:rPr>
                        <a:t>1600</a:t>
                      </a:r>
                      <a:endParaRPr lang="en-US" sz="1200" b="0" i="0" u="none" strike="noStrike" dirty="0">
                        <a:solidFill>
                          <a:srgbClr val="000000"/>
                        </a:solidFill>
                        <a:effectLst/>
                        <a:latin typeface="+mj-lt"/>
                      </a:endParaRPr>
                    </a:p>
                  </a:txBody>
                  <a:tcPr marL="182880" marR="182880" marT="9144" marB="9144" anchor="ctr">
                    <a:solidFill>
                      <a:srgbClr val="86BC25">
                        <a:alpha val="15000"/>
                      </a:srgbClr>
                    </a:solidFill>
                  </a:tcPr>
                </a:tc>
                <a:extLst>
                  <a:ext uri="{0D108BD9-81ED-4DB2-BD59-A6C34878D82A}">
                    <a16:rowId xmlns:a16="http://schemas.microsoft.com/office/drawing/2014/main" val="2364277482"/>
                  </a:ext>
                </a:extLst>
              </a:tr>
              <a:tr h="172714">
                <a:tc vMerge="1">
                  <a:txBody>
                    <a:bodyPr/>
                    <a:lstStyle/>
                    <a:p>
                      <a:endParaRPr lang="en-US"/>
                    </a:p>
                  </a:txBody>
                  <a:tcPr/>
                </a:tc>
                <a:tc>
                  <a:txBody>
                    <a:bodyPr/>
                    <a:lstStyle/>
                    <a:p>
                      <a:pPr algn="l" fontAlgn="ctr"/>
                      <a:r>
                        <a:rPr lang="en-US" sz="1200" u="none" strike="noStrike" dirty="0">
                          <a:effectLst/>
                          <a:latin typeface="+mj-lt"/>
                        </a:rPr>
                        <a:t>DPL</a:t>
                      </a:r>
                      <a:endParaRPr lang="en-US" sz="1200" b="0" i="0" u="none" strike="noStrike" dirty="0">
                        <a:solidFill>
                          <a:srgbClr val="000000"/>
                        </a:solidFill>
                        <a:effectLst/>
                        <a:latin typeface="+mj-lt"/>
                      </a:endParaRPr>
                    </a:p>
                  </a:txBody>
                  <a:tcPr marL="182880" marR="182880" marT="9144" marB="9144" anchor="ctr">
                    <a:solidFill>
                      <a:srgbClr val="86BC25">
                        <a:alpha val="15000"/>
                      </a:srgbClr>
                    </a:solidFill>
                  </a:tcPr>
                </a:tc>
                <a:tc>
                  <a:txBody>
                    <a:bodyPr/>
                    <a:lstStyle/>
                    <a:p>
                      <a:pPr algn="ctr" fontAlgn="ctr"/>
                      <a:r>
                        <a:rPr lang="en-US" sz="1200" u="none" strike="noStrike" dirty="0">
                          <a:effectLst/>
                          <a:latin typeface="+mj-lt"/>
                        </a:rPr>
                        <a:t>550</a:t>
                      </a:r>
                      <a:endParaRPr lang="en-US" sz="1200" b="0" i="0" u="none" strike="noStrike" dirty="0">
                        <a:solidFill>
                          <a:srgbClr val="000000"/>
                        </a:solidFill>
                        <a:effectLst/>
                        <a:latin typeface="+mj-lt"/>
                      </a:endParaRPr>
                    </a:p>
                  </a:txBody>
                  <a:tcPr marL="182880" marR="182880" marT="9144" marB="9144" anchor="ctr">
                    <a:solidFill>
                      <a:srgbClr val="86BC25">
                        <a:alpha val="15000"/>
                      </a:srgbClr>
                    </a:solidFill>
                  </a:tcPr>
                </a:tc>
                <a:tc>
                  <a:txBody>
                    <a:bodyPr/>
                    <a:lstStyle/>
                    <a:p>
                      <a:pPr algn="ctr" fontAlgn="ctr"/>
                      <a:r>
                        <a:rPr lang="en-US" sz="1200" u="none" strike="noStrike">
                          <a:effectLst/>
                          <a:latin typeface="+mj-lt"/>
                        </a:rPr>
                        <a:t>100</a:t>
                      </a:r>
                      <a:endParaRPr lang="en-US" sz="1200" b="0" i="0" u="none" strike="noStrike">
                        <a:solidFill>
                          <a:srgbClr val="000000"/>
                        </a:solidFill>
                        <a:effectLst/>
                        <a:latin typeface="+mj-lt"/>
                      </a:endParaRPr>
                    </a:p>
                  </a:txBody>
                  <a:tcPr marL="182880" marR="182880" marT="9144" marB="9144" anchor="ctr">
                    <a:solidFill>
                      <a:srgbClr val="86BC25">
                        <a:alpha val="15000"/>
                      </a:srgbClr>
                    </a:solidFill>
                  </a:tcPr>
                </a:tc>
                <a:tc>
                  <a:txBody>
                    <a:bodyPr/>
                    <a:lstStyle/>
                    <a:p>
                      <a:pPr algn="ctr" fontAlgn="ctr"/>
                      <a:r>
                        <a:rPr lang="en-US" sz="1200" u="none" strike="noStrike" dirty="0">
                          <a:effectLst/>
                          <a:latin typeface="+mj-lt"/>
                        </a:rPr>
                        <a:t>550</a:t>
                      </a:r>
                      <a:endParaRPr lang="en-US" sz="1200" b="0" i="0" u="none" strike="noStrike" dirty="0">
                        <a:solidFill>
                          <a:srgbClr val="000000"/>
                        </a:solidFill>
                        <a:effectLst/>
                        <a:latin typeface="+mj-lt"/>
                      </a:endParaRPr>
                    </a:p>
                  </a:txBody>
                  <a:tcPr marL="182880" marR="182880" marT="9144" marB="9144" anchor="ctr">
                    <a:solidFill>
                      <a:srgbClr val="86BC25">
                        <a:alpha val="15000"/>
                      </a:srgbClr>
                    </a:solidFill>
                  </a:tcPr>
                </a:tc>
                <a:extLst>
                  <a:ext uri="{0D108BD9-81ED-4DB2-BD59-A6C34878D82A}">
                    <a16:rowId xmlns:a16="http://schemas.microsoft.com/office/drawing/2014/main" val="1624854827"/>
                  </a:ext>
                </a:extLst>
              </a:tr>
              <a:tr h="172714">
                <a:tc vMerge="1">
                  <a:txBody>
                    <a:bodyPr/>
                    <a:lstStyle/>
                    <a:p>
                      <a:endParaRPr lang="en-US"/>
                    </a:p>
                  </a:txBody>
                  <a:tcPr/>
                </a:tc>
                <a:tc>
                  <a:txBody>
                    <a:bodyPr/>
                    <a:lstStyle/>
                    <a:p>
                      <a:pPr algn="l" fontAlgn="ctr"/>
                      <a:r>
                        <a:rPr lang="en-US" sz="1200" b="1" u="none" strike="noStrike" dirty="0">
                          <a:effectLst/>
                          <a:latin typeface="+mj-lt"/>
                        </a:rPr>
                        <a:t>Total</a:t>
                      </a:r>
                      <a:endParaRPr lang="en-US" sz="1200" b="1" i="0" u="none" strike="noStrike" dirty="0">
                        <a:solidFill>
                          <a:srgbClr val="000000"/>
                        </a:solidFill>
                        <a:effectLst/>
                        <a:latin typeface="+mj-lt"/>
                      </a:endParaRPr>
                    </a:p>
                  </a:txBody>
                  <a:tcPr marL="182880" marR="182880" marT="9144" marB="9144" anchor="ctr">
                    <a:solidFill>
                      <a:srgbClr val="86BC25">
                        <a:alpha val="15000"/>
                      </a:srgbClr>
                    </a:solidFill>
                  </a:tcPr>
                </a:tc>
                <a:tc>
                  <a:txBody>
                    <a:bodyPr/>
                    <a:lstStyle/>
                    <a:p>
                      <a:pPr algn="ctr" fontAlgn="ctr"/>
                      <a:r>
                        <a:rPr lang="en-US" sz="1200" b="1" i="0" u="none" strike="noStrike" dirty="0">
                          <a:solidFill>
                            <a:srgbClr val="000000"/>
                          </a:solidFill>
                          <a:effectLst/>
                          <a:latin typeface="+mj-lt"/>
                        </a:rPr>
                        <a:t>4815</a:t>
                      </a:r>
                    </a:p>
                  </a:txBody>
                  <a:tcPr marL="182880" marR="182880" marT="9144" marB="9144" anchor="ctr">
                    <a:solidFill>
                      <a:srgbClr val="86BC25">
                        <a:alpha val="15000"/>
                      </a:srgbClr>
                    </a:solidFill>
                  </a:tcPr>
                </a:tc>
                <a:tc>
                  <a:txBody>
                    <a:bodyPr/>
                    <a:lstStyle/>
                    <a:p>
                      <a:pPr algn="l" fontAlgn="b"/>
                      <a:r>
                        <a:rPr lang="en-US" sz="1200" b="1" u="none" strike="noStrike" dirty="0">
                          <a:effectLst/>
                          <a:latin typeface="+mj-lt"/>
                        </a:rPr>
                        <a:t> </a:t>
                      </a:r>
                      <a:endParaRPr lang="en-US" sz="1200" b="1" i="0" u="none" strike="noStrike" dirty="0">
                        <a:solidFill>
                          <a:srgbClr val="000000"/>
                        </a:solidFill>
                        <a:effectLst/>
                        <a:latin typeface="+mj-lt"/>
                      </a:endParaRPr>
                    </a:p>
                  </a:txBody>
                  <a:tcPr marL="182880" marR="182880" marT="9144" marB="9144" anchor="b">
                    <a:solidFill>
                      <a:srgbClr val="86BC25">
                        <a:alpha val="15000"/>
                      </a:srgbClr>
                    </a:solidFill>
                  </a:tcPr>
                </a:tc>
                <a:tc>
                  <a:txBody>
                    <a:bodyPr/>
                    <a:lstStyle/>
                    <a:p>
                      <a:pPr algn="ctr" fontAlgn="ctr"/>
                      <a:r>
                        <a:rPr lang="en-US" sz="1200" b="1" i="0" u="none" strike="noStrike" dirty="0">
                          <a:solidFill>
                            <a:srgbClr val="000000"/>
                          </a:solidFill>
                          <a:effectLst/>
                          <a:latin typeface="+mj-lt"/>
                        </a:rPr>
                        <a:t>4815</a:t>
                      </a:r>
                    </a:p>
                  </a:txBody>
                  <a:tcPr marL="182880" marR="182880" marT="9144" marB="9144" anchor="ctr">
                    <a:solidFill>
                      <a:srgbClr val="86BC25">
                        <a:alpha val="15000"/>
                      </a:srgbClr>
                    </a:solidFill>
                  </a:tcPr>
                </a:tc>
                <a:extLst>
                  <a:ext uri="{0D108BD9-81ED-4DB2-BD59-A6C34878D82A}">
                    <a16:rowId xmlns:a16="http://schemas.microsoft.com/office/drawing/2014/main" val="3983171926"/>
                  </a:ext>
                </a:extLst>
              </a:tr>
            </a:tbl>
          </a:graphicData>
        </a:graphic>
      </p:graphicFrame>
      <p:sp>
        <p:nvSpPr>
          <p:cNvPr id="4" name="TextBox 3">
            <a:extLst>
              <a:ext uri="{FF2B5EF4-FFF2-40B4-BE49-F238E27FC236}">
                <a16:creationId xmlns:a16="http://schemas.microsoft.com/office/drawing/2014/main" id="{71C80EE8-98B8-415C-8991-9B29C10CE350}"/>
              </a:ext>
            </a:extLst>
          </p:cNvPr>
          <p:cNvSpPr txBox="1"/>
          <p:nvPr/>
        </p:nvSpPr>
        <p:spPr>
          <a:xfrm>
            <a:off x="469894" y="6389078"/>
            <a:ext cx="11079845" cy="184666"/>
          </a:xfrm>
          <a:prstGeom prst="rect">
            <a:avLst/>
          </a:prstGeom>
          <a:solidFill>
            <a:schemeClr val="tx2">
              <a:lumMod val="20000"/>
              <a:lumOff val="80000"/>
            </a:schemeClr>
          </a:solidFill>
        </p:spPr>
        <p:txBody>
          <a:bodyPr wrap="square" lIns="0" tIns="0" rIns="0" bIns="0" rtlCol="0">
            <a:spAutoFit/>
          </a:bodyPr>
          <a:lstStyle/>
          <a:p>
            <a:pPr marL="171450" indent="-171450">
              <a:spcBef>
                <a:spcPts val="600"/>
              </a:spcBef>
              <a:buSzPct val="100000"/>
              <a:buFont typeface="Wingdings" panose="05000000000000000000" pitchFamily="2" charset="2"/>
              <a:buChar char="q"/>
            </a:pPr>
            <a:r>
              <a:rPr lang="en-US" sz="1200" dirty="0"/>
              <a:t>100 % share for State Generating Station considered for WBSEDCL.   </a:t>
            </a:r>
          </a:p>
        </p:txBody>
      </p:sp>
    </p:spTree>
    <p:extLst>
      <p:ext uri="{BB962C8B-B14F-4D97-AF65-F5344CB8AC3E}">
        <p14:creationId xmlns:p14="http://schemas.microsoft.com/office/powerpoint/2010/main" val="3249731760"/>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E3F166-DCDE-4481-8EB3-ADADC3A459D1}"/>
              </a:ext>
            </a:extLst>
          </p:cNvPr>
          <p:cNvSpPr>
            <a:spLocks noGrp="1"/>
          </p:cNvSpPr>
          <p:nvPr>
            <p:ph type="body" sz="quarter" idx="13"/>
          </p:nvPr>
        </p:nvSpPr>
        <p:spPr>
          <a:xfrm>
            <a:off x="469902" y="736689"/>
            <a:ext cx="11252200" cy="757255"/>
          </a:xfrm>
        </p:spPr>
        <p:txBody>
          <a:bodyPr/>
          <a:lstStyle/>
          <a:p>
            <a:r>
              <a:rPr lang="en-US" sz="1600" b="1" dirty="0"/>
              <a:t>With Central Generating Station </a:t>
            </a:r>
          </a:p>
        </p:txBody>
      </p:sp>
      <p:sp>
        <p:nvSpPr>
          <p:cNvPr id="3" name="Title 2">
            <a:extLst>
              <a:ext uri="{FF2B5EF4-FFF2-40B4-BE49-F238E27FC236}">
                <a16:creationId xmlns:a16="http://schemas.microsoft.com/office/drawing/2014/main" id="{55CB2063-FEE6-4A6E-9DA8-F2EE703803F1}"/>
              </a:ext>
            </a:extLst>
          </p:cNvPr>
          <p:cNvSpPr>
            <a:spLocks noGrp="1"/>
          </p:cNvSpPr>
          <p:nvPr>
            <p:ph type="title"/>
          </p:nvPr>
        </p:nvSpPr>
        <p:spPr/>
        <p:txBody>
          <a:bodyPr/>
          <a:lstStyle/>
          <a:p>
            <a:r>
              <a:rPr lang="en-US" b="1" dirty="0"/>
              <a:t>Details of PPA and Share of generating station for WBSEDCL (2/3) </a:t>
            </a:r>
          </a:p>
        </p:txBody>
      </p:sp>
      <p:graphicFrame>
        <p:nvGraphicFramePr>
          <p:cNvPr id="8" name="Table 7">
            <a:extLst>
              <a:ext uri="{FF2B5EF4-FFF2-40B4-BE49-F238E27FC236}">
                <a16:creationId xmlns:a16="http://schemas.microsoft.com/office/drawing/2014/main" id="{4861685F-5E2B-49EA-A7A9-E6EE303AB9B4}"/>
              </a:ext>
            </a:extLst>
          </p:cNvPr>
          <p:cNvGraphicFramePr>
            <a:graphicFrameLocks noGrp="1"/>
          </p:cNvGraphicFramePr>
          <p:nvPr/>
        </p:nvGraphicFramePr>
        <p:xfrm>
          <a:off x="469898" y="1071641"/>
          <a:ext cx="11333998" cy="5486400"/>
        </p:xfrm>
        <a:graphic>
          <a:graphicData uri="http://schemas.openxmlformats.org/drawingml/2006/table">
            <a:tbl>
              <a:tblPr>
                <a:tableStyleId>{2D5ABB26-0587-4C30-8999-92F81FD0307C}</a:tableStyleId>
              </a:tblPr>
              <a:tblGrid>
                <a:gridCol w="1891241">
                  <a:extLst>
                    <a:ext uri="{9D8B030D-6E8A-4147-A177-3AD203B41FA5}">
                      <a16:colId xmlns:a16="http://schemas.microsoft.com/office/drawing/2014/main" val="450968042"/>
                    </a:ext>
                  </a:extLst>
                </a:gridCol>
                <a:gridCol w="2879934">
                  <a:extLst>
                    <a:ext uri="{9D8B030D-6E8A-4147-A177-3AD203B41FA5}">
                      <a16:colId xmlns:a16="http://schemas.microsoft.com/office/drawing/2014/main" val="2063588102"/>
                    </a:ext>
                  </a:extLst>
                </a:gridCol>
                <a:gridCol w="2955073">
                  <a:extLst>
                    <a:ext uri="{9D8B030D-6E8A-4147-A177-3AD203B41FA5}">
                      <a16:colId xmlns:a16="http://schemas.microsoft.com/office/drawing/2014/main" val="2758962861"/>
                    </a:ext>
                  </a:extLst>
                </a:gridCol>
                <a:gridCol w="1449659">
                  <a:extLst>
                    <a:ext uri="{9D8B030D-6E8A-4147-A177-3AD203B41FA5}">
                      <a16:colId xmlns:a16="http://schemas.microsoft.com/office/drawing/2014/main" val="156739499"/>
                    </a:ext>
                  </a:extLst>
                </a:gridCol>
                <a:gridCol w="2158091">
                  <a:extLst>
                    <a:ext uri="{9D8B030D-6E8A-4147-A177-3AD203B41FA5}">
                      <a16:colId xmlns:a16="http://schemas.microsoft.com/office/drawing/2014/main" val="4154752269"/>
                    </a:ext>
                  </a:extLst>
                </a:gridCol>
              </a:tblGrid>
              <a:tr h="113453">
                <a:tc rowSpan="2">
                  <a:txBody>
                    <a:bodyPr/>
                    <a:lstStyle/>
                    <a:p>
                      <a:pPr algn="ctr" fontAlgn="ctr"/>
                      <a:r>
                        <a:rPr lang="en-US" sz="1200" b="1" u="none" strike="noStrike" dirty="0">
                          <a:solidFill>
                            <a:schemeClr val="bg1"/>
                          </a:solidFill>
                          <a:effectLst/>
                        </a:rPr>
                        <a:t>Constituent </a:t>
                      </a:r>
                      <a:endParaRPr lang="en-US" sz="1200" b="1" i="0" u="none" strike="noStrike" dirty="0">
                        <a:solidFill>
                          <a:schemeClr val="bg1"/>
                        </a:solidFill>
                        <a:effectLst/>
                        <a:latin typeface="+mn-lt"/>
                      </a:endParaRPr>
                    </a:p>
                  </a:txBody>
                  <a:tcPr marL="182880" marR="182880" marT="18288" marB="18288" anchor="ctr">
                    <a:solidFill>
                      <a:srgbClr val="0076A8"/>
                    </a:solidFill>
                  </a:tcPr>
                </a:tc>
                <a:tc rowSpan="2">
                  <a:txBody>
                    <a:bodyPr/>
                    <a:lstStyle/>
                    <a:p>
                      <a:pPr algn="ctr" fontAlgn="ctr"/>
                      <a:r>
                        <a:rPr lang="en-US" sz="1200" b="1" u="none" strike="noStrike" dirty="0">
                          <a:solidFill>
                            <a:schemeClr val="bg1"/>
                          </a:solidFill>
                          <a:effectLst/>
                        </a:rPr>
                        <a:t>Station</a:t>
                      </a:r>
                      <a:endParaRPr lang="en-US" sz="1200" b="1" i="0" u="none" strike="noStrike" dirty="0">
                        <a:solidFill>
                          <a:schemeClr val="bg1"/>
                        </a:solidFill>
                        <a:effectLst/>
                        <a:latin typeface="+mn-lt"/>
                      </a:endParaRPr>
                    </a:p>
                  </a:txBody>
                  <a:tcPr marL="182880" marR="182880" marT="18288" marB="18288" anchor="ctr">
                    <a:solidFill>
                      <a:srgbClr val="0076A8"/>
                    </a:solidFill>
                  </a:tcPr>
                </a:tc>
                <a:tc gridSpan="3">
                  <a:txBody>
                    <a:bodyPr/>
                    <a:lstStyle/>
                    <a:p>
                      <a:pPr algn="ctr" fontAlgn="ctr"/>
                      <a:r>
                        <a:rPr lang="en-US" sz="1200" b="1" u="none" strike="noStrike" dirty="0">
                          <a:solidFill>
                            <a:schemeClr val="bg1"/>
                          </a:solidFill>
                          <a:effectLst/>
                        </a:rPr>
                        <a:t>Share of Central Generating Station till December 2019</a:t>
                      </a:r>
                      <a:endParaRPr lang="en-US" sz="1200" b="1" i="0" u="none" strike="noStrike" dirty="0">
                        <a:solidFill>
                          <a:schemeClr val="bg1"/>
                        </a:solidFill>
                        <a:effectLst/>
                        <a:latin typeface="+mn-lt"/>
                      </a:endParaRPr>
                    </a:p>
                  </a:txBody>
                  <a:tcPr marL="182880" marR="182880" marT="18288" marB="18288" anchor="ctr">
                    <a:solidFill>
                      <a:srgbClr val="0076A8"/>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59584853"/>
                  </a:ext>
                </a:extLst>
              </a:tr>
              <a:tr h="113453">
                <a:tc vMerge="1">
                  <a:txBody>
                    <a:bodyPr/>
                    <a:lstStyle/>
                    <a:p>
                      <a:endParaRPr lang="en-US"/>
                    </a:p>
                  </a:txBody>
                  <a:tcPr/>
                </a:tc>
                <a:tc vMerge="1">
                  <a:txBody>
                    <a:bodyPr/>
                    <a:lstStyle/>
                    <a:p>
                      <a:endParaRPr lang="en-US"/>
                    </a:p>
                  </a:txBody>
                  <a:tcPr/>
                </a:tc>
                <a:tc>
                  <a:txBody>
                    <a:bodyPr/>
                    <a:lstStyle/>
                    <a:p>
                      <a:pPr algn="ctr" fontAlgn="ctr"/>
                      <a:r>
                        <a:rPr lang="en-US" sz="1200" b="1" u="none" strike="noStrike" dirty="0">
                          <a:solidFill>
                            <a:schemeClr val="bg1"/>
                          </a:solidFill>
                          <a:effectLst/>
                        </a:rPr>
                        <a:t>Total installed capacity in MW</a:t>
                      </a:r>
                      <a:endParaRPr lang="en-US" sz="1200" b="1" i="0" u="none" strike="noStrike" dirty="0">
                        <a:solidFill>
                          <a:schemeClr val="bg1"/>
                        </a:solidFill>
                        <a:effectLst/>
                        <a:latin typeface="+mn-lt"/>
                      </a:endParaRPr>
                    </a:p>
                  </a:txBody>
                  <a:tcPr marL="182880" marR="182880" marT="18288" marB="18288" anchor="ctr">
                    <a:solidFill>
                      <a:srgbClr val="0076A8"/>
                    </a:solidFill>
                  </a:tcPr>
                </a:tc>
                <a:tc>
                  <a:txBody>
                    <a:bodyPr/>
                    <a:lstStyle/>
                    <a:p>
                      <a:pPr algn="ctr" fontAlgn="ctr"/>
                      <a:r>
                        <a:rPr lang="en-US" sz="1200" b="1" u="none" strike="noStrike" dirty="0">
                          <a:solidFill>
                            <a:schemeClr val="bg1"/>
                          </a:solidFill>
                          <a:effectLst/>
                        </a:rPr>
                        <a:t>% share</a:t>
                      </a:r>
                      <a:endParaRPr lang="en-US" sz="1200" b="1" i="0" u="none" strike="noStrike" dirty="0">
                        <a:solidFill>
                          <a:schemeClr val="bg1"/>
                        </a:solidFill>
                        <a:effectLst/>
                        <a:latin typeface="+mn-lt"/>
                      </a:endParaRPr>
                    </a:p>
                  </a:txBody>
                  <a:tcPr marL="182880" marR="182880" marT="18288" marB="18288" anchor="ctr">
                    <a:solidFill>
                      <a:srgbClr val="0076A8"/>
                    </a:solidFill>
                  </a:tcPr>
                </a:tc>
                <a:tc>
                  <a:txBody>
                    <a:bodyPr/>
                    <a:lstStyle/>
                    <a:p>
                      <a:pPr algn="ctr" fontAlgn="ctr"/>
                      <a:r>
                        <a:rPr lang="en-US" sz="1200" b="1" u="none" strike="noStrike" dirty="0">
                          <a:solidFill>
                            <a:schemeClr val="bg1"/>
                          </a:solidFill>
                          <a:effectLst/>
                        </a:rPr>
                        <a:t>Share in MW</a:t>
                      </a:r>
                      <a:endParaRPr lang="en-US" sz="1200" b="1" i="0" u="none" strike="noStrike" dirty="0">
                        <a:solidFill>
                          <a:schemeClr val="bg1"/>
                        </a:solidFill>
                        <a:effectLst/>
                        <a:latin typeface="+mn-lt"/>
                      </a:endParaRPr>
                    </a:p>
                  </a:txBody>
                  <a:tcPr marL="182880" marR="182880" marT="18288" marB="18288" anchor="ctr">
                    <a:solidFill>
                      <a:srgbClr val="0076A8"/>
                    </a:solidFill>
                  </a:tcPr>
                </a:tc>
                <a:extLst>
                  <a:ext uri="{0D108BD9-81ED-4DB2-BD59-A6C34878D82A}">
                    <a16:rowId xmlns:a16="http://schemas.microsoft.com/office/drawing/2014/main" val="2642572232"/>
                  </a:ext>
                </a:extLst>
              </a:tr>
              <a:tr h="113453">
                <a:tc rowSpan="15">
                  <a:txBody>
                    <a:bodyPr/>
                    <a:lstStyle/>
                    <a:p>
                      <a:pPr algn="ctr" fontAlgn="ctr"/>
                      <a:r>
                        <a:rPr lang="en-US" sz="1200" b="1" u="none" strike="noStrike" dirty="0">
                          <a:solidFill>
                            <a:schemeClr val="bg1"/>
                          </a:solidFill>
                          <a:effectLst/>
                        </a:rPr>
                        <a:t>ISGS Share</a:t>
                      </a:r>
                      <a:endParaRPr lang="en-US" sz="1200" b="1" i="0" u="none" strike="noStrike" dirty="0">
                        <a:solidFill>
                          <a:schemeClr val="bg1"/>
                        </a:solidFill>
                        <a:effectLst/>
                        <a:latin typeface="+mn-lt"/>
                      </a:endParaRPr>
                    </a:p>
                  </a:txBody>
                  <a:tcPr marL="182880" marR="182880" marT="18288" marB="18288" anchor="ctr">
                    <a:solidFill>
                      <a:srgbClr val="2C5234"/>
                    </a:solidFill>
                  </a:tcPr>
                </a:tc>
                <a:tc>
                  <a:txBody>
                    <a:bodyPr/>
                    <a:lstStyle/>
                    <a:p>
                      <a:pPr algn="l" fontAlgn="ctr"/>
                      <a:r>
                        <a:rPr lang="en-US" sz="1200" b="0" u="none" strike="noStrike" dirty="0">
                          <a:solidFill>
                            <a:srgbClr val="000000"/>
                          </a:solidFill>
                          <a:effectLst/>
                        </a:rPr>
                        <a:t>Farakka-I&amp;II</a:t>
                      </a:r>
                      <a:endParaRPr lang="en-US" sz="1200" b="0" i="0" u="none" strike="noStrike" dirty="0">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1600</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31.93</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511</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extLst>
                  <a:ext uri="{0D108BD9-81ED-4DB2-BD59-A6C34878D82A}">
                    <a16:rowId xmlns:a16="http://schemas.microsoft.com/office/drawing/2014/main" val="2562753224"/>
                  </a:ext>
                </a:extLst>
              </a:tr>
              <a:tr h="113453">
                <a:tc vMerge="1">
                  <a:txBody>
                    <a:bodyPr/>
                    <a:lstStyle/>
                    <a:p>
                      <a:endParaRPr lang="en-US"/>
                    </a:p>
                  </a:txBody>
                  <a:tcPr/>
                </a:tc>
                <a:tc>
                  <a:txBody>
                    <a:bodyPr/>
                    <a:lstStyle/>
                    <a:p>
                      <a:pPr algn="l" fontAlgn="ctr"/>
                      <a:r>
                        <a:rPr lang="en-US" sz="1200" b="0" u="none" strike="noStrike" dirty="0">
                          <a:solidFill>
                            <a:srgbClr val="000000"/>
                          </a:solidFill>
                          <a:effectLst/>
                        </a:rPr>
                        <a:t>Farakka-III</a:t>
                      </a:r>
                      <a:endParaRPr lang="en-US" sz="1200" b="0" i="0" u="none" strike="noStrike" dirty="0">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500</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37.64</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188</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extLst>
                  <a:ext uri="{0D108BD9-81ED-4DB2-BD59-A6C34878D82A}">
                    <a16:rowId xmlns:a16="http://schemas.microsoft.com/office/drawing/2014/main" val="2579319289"/>
                  </a:ext>
                </a:extLst>
              </a:tr>
              <a:tr h="113453">
                <a:tc vMerge="1">
                  <a:txBody>
                    <a:bodyPr/>
                    <a:lstStyle/>
                    <a:p>
                      <a:endParaRPr lang="en-US"/>
                    </a:p>
                  </a:txBody>
                  <a:tcPr/>
                </a:tc>
                <a:tc>
                  <a:txBody>
                    <a:bodyPr/>
                    <a:lstStyle/>
                    <a:p>
                      <a:pPr algn="l" fontAlgn="ctr"/>
                      <a:r>
                        <a:rPr lang="en-US" sz="1200" b="0" u="none" strike="noStrike">
                          <a:solidFill>
                            <a:srgbClr val="000000"/>
                          </a:solidFill>
                          <a:effectLst/>
                        </a:rPr>
                        <a:t>Talcher Stage-I</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1000</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9.21</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92</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extLst>
                  <a:ext uri="{0D108BD9-81ED-4DB2-BD59-A6C34878D82A}">
                    <a16:rowId xmlns:a16="http://schemas.microsoft.com/office/drawing/2014/main" val="1616572644"/>
                  </a:ext>
                </a:extLst>
              </a:tr>
              <a:tr h="113453">
                <a:tc vMerge="1">
                  <a:txBody>
                    <a:bodyPr/>
                    <a:lstStyle/>
                    <a:p>
                      <a:endParaRPr lang="en-US"/>
                    </a:p>
                  </a:txBody>
                  <a:tcPr/>
                </a:tc>
                <a:tc>
                  <a:txBody>
                    <a:bodyPr/>
                    <a:lstStyle/>
                    <a:p>
                      <a:pPr algn="l" fontAlgn="ctr"/>
                      <a:r>
                        <a:rPr lang="en-US" sz="1200" b="0" u="none" strike="noStrike">
                          <a:solidFill>
                            <a:srgbClr val="000000"/>
                          </a:solidFill>
                          <a:effectLst/>
                        </a:rPr>
                        <a:t>MTPS-II (Kanti Muzzafarpur)</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390</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9.635</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38</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extLst>
                  <a:ext uri="{0D108BD9-81ED-4DB2-BD59-A6C34878D82A}">
                    <a16:rowId xmlns:a16="http://schemas.microsoft.com/office/drawing/2014/main" val="75235720"/>
                  </a:ext>
                </a:extLst>
              </a:tr>
              <a:tr h="113453">
                <a:tc vMerge="1">
                  <a:txBody>
                    <a:bodyPr/>
                    <a:lstStyle/>
                    <a:p>
                      <a:endParaRPr lang="en-US"/>
                    </a:p>
                  </a:txBody>
                  <a:tcPr/>
                </a:tc>
                <a:tc>
                  <a:txBody>
                    <a:bodyPr/>
                    <a:lstStyle/>
                    <a:p>
                      <a:pPr algn="l" fontAlgn="ctr"/>
                      <a:r>
                        <a:rPr lang="en-US" sz="1200" b="0" u="none" strike="noStrike" dirty="0">
                          <a:solidFill>
                            <a:srgbClr val="000000"/>
                          </a:solidFill>
                          <a:effectLst/>
                        </a:rPr>
                        <a:t>KHSTPP-I (Kahalgaon)</a:t>
                      </a:r>
                      <a:endParaRPr lang="en-US" sz="1200" b="0" i="0" u="none" strike="noStrike" dirty="0">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840</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6.07</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51</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extLst>
                  <a:ext uri="{0D108BD9-81ED-4DB2-BD59-A6C34878D82A}">
                    <a16:rowId xmlns:a16="http://schemas.microsoft.com/office/drawing/2014/main" val="682693779"/>
                  </a:ext>
                </a:extLst>
              </a:tr>
              <a:tr h="113453">
                <a:tc vMerge="1">
                  <a:txBody>
                    <a:bodyPr/>
                    <a:lstStyle/>
                    <a:p>
                      <a:endParaRPr lang="en-US"/>
                    </a:p>
                  </a:txBody>
                  <a:tcPr/>
                </a:tc>
                <a:tc>
                  <a:txBody>
                    <a:bodyPr/>
                    <a:lstStyle/>
                    <a:p>
                      <a:pPr algn="l" fontAlgn="ctr"/>
                      <a:r>
                        <a:rPr lang="en-US" sz="1200" b="0" u="none" strike="noStrike">
                          <a:solidFill>
                            <a:srgbClr val="000000"/>
                          </a:solidFill>
                          <a:effectLst/>
                        </a:rPr>
                        <a:t>Tala</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1020</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38.25</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390</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extLst>
                  <a:ext uri="{0D108BD9-81ED-4DB2-BD59-A6C34878D82A}">
                    <a16:rowId xmlns:a16="http://schemas.microsoft.com/office/drawing/2014/main" val="2659146283"/>
                  </a:ext>
                </a:extLst>
              </a:tr>
              <a:tr h="113453">
                <a:tc vMerge="1">
                  <a:txBody>
                    <a:bodyPr/>
                    <a:lstStyle/>
                    <a:p>
                      <a:endParaRPr lang="en-US"/>
                    </a:p>
                  </a:txBody>
                  <a:tcPr/>
                </a:tc>
                <a:tc>
                  <a:txBody>
                    <a:bodyPr/>
                    <a:lstStyle/>
                    <a:p>
                      <a:pPr algn="l" fontAlgn="ctr"/>
                      <a:r>
                        <a:rPr lang="en-US" sz="1200" b="0" u="none" strike="noStrike">
                          <a:solidFill>
                            <a:srgbClr val="000000"/>
                          </a:solidFill>
                          <a:effectLst/>
                        </a:rPr>
                        <a:t>Chukha</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dirty="0">
                          <a:solidFill>
                            <a:srgbClr val="000000"/>
                          </a:solidFill>
                          <a:effectLst/>
                        </a:rPr>
                        <a:t>270</a:t>
                      </a:r>
                      <a:endParaRPr lang="en-US" sz="1200" b="0" i="0" u="none" strike="noStrike" dirty="0">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31.85</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86</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extLst>
                  <a:ext uri="{0D108BD9-81ED-4DB2-BD59-A6C34878D82A}">
                    <a16:rowId xmlns:a16="http://schemas.microsoft.com/office/drawing/2014/main" val="179203982"/>
                  </a:ext>
                </a:extLst>
              </a:tr>
              <a:tr h="113453">
                <a:tc vMerge="1">
                  <a:txBody>
                    <a:bodyPr/>
                    <a:lstStyle/>
                    <a:p>
                      <a:endParaRPr lang="en-US"/>
                    </a:p>
                  </a:txBody>
                  <a:tcPr/>
                </a:tc>
                <a:tc>
                  <a:txBody>
                    <a:bodyPr/>
                    <a:lstStyle/>
                    <a:p>
                      <a:pPr algn="l" fontAlgn="ctr"/>
                      <a:r>
                        <a:rPr lang="en-US" sz="1200" b="0" u="none" strike="noStrike" dirty="0" err="1">
                          <a:solidFill>
                            <a:srgbClr val="000000"/>
                          </a:solidFill>
                          <a:effectLst/>
                        </a:rPr>
                        <a:t>Mandechu</a:t>
                      </a:r>
                      <a:endParaRPr lang="en-US" sz="1200" b="0" i="0" u="none" strike="noStrike" dirty="0">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720</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32.14</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231</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extLst>
                  <a:ext uri="{0D108BD9-81ED-4DB2-BD59-A6C34878D82A}">
                    <a16:rowId xmlns:a16="http://schemas.microsoft.com/office/drawing/2014/main" val="1907374631"/>
                  </a:ext>
                </a:extLst>
              </a:tr>
              <a:tr h="113453">
                <a:tc vMerge="1">
                  <a:txBody>
                    <a:bodyPr/>
                    <a:lstStyle/>
                    <a:p>
                      <a:endParaRPr lang="en-US"/>
                    </a:p>
                  </a:txBody>
                  <a:tcPr/>
                </a:tc>
                <a:tc>
                  <a:txBody>
                    <a:bodyPr/>
                    <a:lstStyle/>
                    <a:p>
                      <a:pPr algn="l" fontAlgn="ctr"/>
                      <a:r>
                        <a:rPr lang="en-US" sz="1200" b="0" u="none" strike="noStrike">
                          <a:solidFill>
                            <a:srgbClr val="000000"/>
                          </a:solidFill>
                          <a:effectLst/>
                        </a:rPr>
                        <a:t>Teesta</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510</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23.98</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dirty="0">
                          <a:solidFill>
                            <a:srgbClr val="000000"/>
                          </a:solidFill>
                          <a:effectLst/>
                        </a:rPr>
                        <a:t>122</a:t>
                      </a:r>
                      <a:endParaRPr lang="en-US" sz="1200" b="0" i="0" u="none" strike="noStrike" dirty="0">
                        <a:solidFill>
                          <a:srgbClr val="000000"/>
                        </a:solidFill>
                        <a:effectLst/>
                        <a:latin typeface="+mn-lt"/>
                      </a:endParaRPr>
                    </a:p>
                  </a:txBody>
                  <a:tcPr marL="182880" marR="182880" marT="18288" marB="18288" anchor="ctr">
                    <a:solidFill>
                      <a:srgbClr val="2C5234">
                        <a:alpha val="15000"/>
                      </a:srgbClr>
                    </a:solidFill>
                  </a:tcPr>
                </a:tc>
                <a:extLst>
                  <a:ext uri="{0D108BD9-81ED-4DB2-BD59-A6C34878D82A}">
                    <a16:rowId xmlns:a16="http://schemas.microsoft.com/office/drawing/2014/main" val="590467895"/>
                  </a:ext>
                </a:extLst>
              </a:tr>
              <a:tr h="113453">
                <a:tc vMerge="1">
                  <a:txBody>
                    <a:bodyPr/>
                    <a:lstStyle/>
                    <a:p>
                      <a:endParaRPr lang="en-US"/>
                    </a:p>
                  </a:txBody>
                  <a:tcPr/>
                </a:tc>
                <a:tc>
                  <a:txBody>
                    <a:bodyPr/>
                    <a:lstStyle/>
                    <a:p>
                      <a:pPr algn="l" fontAlgn="ctr"/>
                      <a:r>
                        <a:rPr lang="en-US" sz="1200" b="0" u="none" strike="noStrike">
                          <a:solidFill>
                            <a:srgbClr val="000000"/>
                          </a:solidFill>
                          <a:effectLst/>
                        </a:rPr>
                        <a:t>Rangeet</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60</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28.34</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17</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extLst>
                  <a:ext uri="{0D108BD9-81ED-4DB2-BD59-A6C34878D82A}">
                    <a16:rowId xmlns:a16="http://schemas.microsoft.com/office/drawing/2014/main" val="1944243715"/>
                  </a:ext>
                </a:extLst>
              </a:tr>
              <a:tr h="113453">
                <a:tc vMerge="1">
                  <a:txBody>
                    <a:bodyPr/>
                    <a:lstStyle/>
                    <a:p>
                      <a:endParaRPr lang="en-US"/>
                    </a:p>
                  </a:txBody>
                  <a:tcPr/>
                </a:tc>
                <a:tc>
                  <a:txBody>
                    <a:bodyPr/>
                    <a:lstStyle/>
                    <a:p>
                      <a:pPr algn="l" fontAlgn="ctr"/>
                      <a:r>
                        <a:rPr lang="en-US" sz="1200" b="0" u="none" strike="noStrike">
                          <a:solidFill>
                            <a:srgbClr val="000000"/>
                          </a:solidFill>
                          <a:effectLst/>
                        </a:rPr>
                        <a:t>Kuruchu</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dirty="0">
                          <a:solidFill>
                            <a:srgbClr val="000000"/>
                          </a:solidFill>
                          <a:effectLst/>
                        </a:rPr>
                        <a:t>60</a:t>
                      </a:r>
                      <a:endParaRPr lang="en-US" sz="1200" b="0" i="0" u="none" strike="noStrike" dirty="0">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50</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dirty="0">
                          <a:solidFill>
                            <a:srgbClr val="000000"/>
                          </a:solidFill>
                          <a:effectLst/>
                        </a:rPr>
                        <a:t>30</a:t>
                      </a:r>
                      <a:endParaRPr lang="en-US" sz="1200" b="0" i="0" u="none" strike="noStrike" dirty="0">
                        <a:solidFill>
                          <a:srgbClr val="000000"/>
                        </a:solidFill>
                        <a:effectLst/>
                        <a:latin typeface="+mn-lt"/>
                      </a:endParaRPr>
                    </a:p>
                  </a:txBody>
                  <a:tcPr marL="182880" marR="182880" marT="18288" marB="18288" anchor="ctr">
                    <a:solidFill>
                      <a:srgbClr val="2C5234">
                        <a:alpha val="15000"/>
                      </a:srgbClr>
                    </a:solidFill>
                  </a:tcPr>
                </a:tc>
                <a:extLst>
                  <a:ext uri="{0D108BD9-81ED-4DB2-BD59-A6C34878D82A}">
                    <a16:rowId xmlns:a16="http://schemas.microsoft.com/office/drawing/2014/main" val="2505350929"/>
                  </a:ext>
                </a:extLst>
              </a:tr>
              <a:tr h="113453">
                <a:tc vMerge="1">
                  <a:txBody>
                    <a:bodyPr/>
                    <a:lstStyle/>
                    <a:p>
                      <a:endParaRPr lang="en-US"/>
                    </a:p>
                  </a:txBody>
                  <a:tcPr/>
                </a:tc>
                <a:tc>
                  <a:txBody>
                    <a:bodyPr/>
                    <a:lstStyle/>
                    <a:p>
                      <a:pPr algn="l" fontAlgn="ctr"/>
                      <a:r>
                        <a:rPr lang="en-US" sz="1200" b="0" u="none" strike="noStrike">
                          <a:solidFill>
                            <a:srgbClr val="000000"/>
                          </a:solidFill>
                          <a:effectLst/>
                        </a:rPr>
                        <a:t>TLDP 3</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132</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dirty="0">
                          <a:solidFill>
                            <a:srgbClr val="000000"/>
                          </a:solidFill>
                          <a:effectLst/>
                        </a:rPr>
                        <a:t>100</a:t>
                      </a:r>
                      <a:endParaRPr lang="en-US" sz="1200" b="0" i="0" u="none" strike="noStrike" dirty="0">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132</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extLst>
                  <a:ext uri="{0D108BD9-81ED-4DB2-BD59-A6C34878D82A}">
                    <a16:rowId xmlns:a16="http://schemas.microsoft.com/office/drawing/2014/main" val="1241938264"/>
                  </a:ext>
                </a:extLst>
              </a:tr>
              <a:tr h="113453">
                <a:tc vMerge="1">
                  <a:txBody>
                    <a:bodyPr/>
                    <a:lstStyle/>
                    <a:p>
                      <a:endParaRPr lang="en-US"/>
                    </a:p>
                  </a:txBody>
                  <a:tcPr/>
                </a:tc>
                <a:tc>
                  <a:txBody>
                    <a:bodyPr/>
                    <a:lstStyle/>
                    <a:p>
                      <a:pPr algn="l" fontAlgn="ctr"/>
                      <a:r>
                        <a:rPr lang="en-US" sz="1200" b="0" u="none" strike="noStrike">
                          <a:solidFill>
                            <a:srgbClr val="000000"/>
                          </a:solidFill>
                          <a:effectLst/>
                        </a:rPr>
                        <a:t>TLDP 4</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dirty="0">
                          <a:solidFill>
                            <a:srgbClr val="000000"/>
                          </a:solidFill>
                          <a:effectLst/>
                        </a:rPr>
                        <a:t>160</a:t>
                      </a:r>
                      <a:endParaRPr lang="en-US" sz="1200" b="0" i="0" u="none" strike="noStrike" dirty="0">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dirty="0">
                          <a:solidFill>
                            <a:srgbClr val="000000"/>
                          </a:solidFill>
                          <a:effectLst/>
                        </a:rPr>
                        <a:t>100</a:t>
                      </a:r>
                      <a:endParaRPr lang="en-US" sz="1200" b="0" i="0" u="none" strike="noStrike" dirty="0">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dirty="0">
                          <a:solidFill>
                            <a:srgbClr val="000000"/>
                          </a:solidFill>
                          <a:effectLst/>
                        </a:rPr>
                        <a:t>160</a:t>
                      </a:r>
                      <a:endParaRPr lang="en-US" sz="1200" b="0" i="0" u="none" strike="noStrike" dirty="0">
                        <a:solidFill>
                          <a:srgbClr val="000000"/>
                        </a:solidFill>
                        <a:effectLst/>
                        <a:latin typeface="+mn-lt"/>
                      </a:endParaRPr>
                    </a:p>
                  </a:txBody>
                  <a:tcPr marL="182880" marR="182880" marT="18288" marB="18288" anchor="ctr">
                    <a:solidFill>
                      <a:srgbClr val="2C5234">
                        <a:alpha val="15000"/>
                      </a:srgbClr>
                    </a:solidFill>
                  </a:tcPr>
                </a:tc>
                <a:extLst>
                  <a:ext uri="{0D108BD9-81ED-4DB2-BD59-A6C34878D82A}">
                    <a16:rowId xmlns:a16="http://schemas.microsoft.com/office/drawing/2014/main" val="3059583521"/>
                  </a:ext>
                </a:extLst>
              </a:tr>
              <a:tr h="113453">
                <a:tc vMerge="1">
                  <a:txBody>
                    <a:bodyPr/>
                    <a:lstStyle/>
                    <a:p>
                      <a:endParaRPr lang="en-US"/>
                    </a:p>
                  </a:txBody>
                  <a:tcPr/>
                </a:tc>
                <a:tc>
                  <a:txBody>
                    <a:bodyPr/>
                    <a:lstStyle/>
                    <a:p>
                      <a:pPr algn="l" fontAlgn="ctr"/>
                      <a:r>
                        <a:rPr lang="en-US" sz="1200" b="0" u="none" strike="noStrike">
                          <a:solidFill>
                            <a:srgbClr val="000000"/>
                          </a:solidFill>
                          <a:effectLst/>
                        </a:rPr>
                        <a:t>DVC Mejia Unit V</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250</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a:solidFill>
                            <a:srgbClr val="000000"/>
                          </a:solidFill>
                          <a:effectLst/>
                        </a:rPr>
                        <a:t>100</a:t>
                      </a:r>
                      <a:endParaRPr lang="en-US" sz="1200" b="0"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0" u="none" strike="noStrike" dirty="0">
                          <a:solidFill>
                            <a:srgbClr val="000000"/>
                          </a:solidFill>
                          <a:effectLst/>
                        </a:rPr>
                        <a:t>50</a:t>
                      </a:r>
                      <a:endParaRPr lang="en-US" sz="1200" b="0" i="0" u="none" strike="noStrike" dirty="0">
                        <a:solidFill>
                          <a:srgbClr val="000000"/>
                        </a:solidFill>
                        <a:effectLst/>
                        <a:latin typeface="+mn-lt"/>
                      </a:endParaRPr>
                    </a:p>
                  </a:txBody>
                  <a:tcPr marL="182880" marR="182880" marT="18288" marB="18288" anchor="ctr">
                    <a:solidFill>
                      <a:srgbClr val="2C5234">
                        <a:alpha val="15000"/>
                      </a:srgbClr>
                    </a:solidFill>
                  </a:tcPr>
                </a:tc>
                <a:extLst>
                  <a:ext uri="{0D108BD9-81ED-4DB2-BD59-A6C34878D82A}">
                    <a16:rowId xmlns:a16="http://schemas.microsoft.com/office/drawing/2014/main" val="1930308929"/>
                  </a:ext>
                </a:extLst>
              </a:tr>
              <a:tr h="113453">
                <a:tc vMerge="1">
                  <a:txBody>
                    <a:bodyPr/>
                    <a:lstStyle/>
                    <a:p>
                      <a:endParaRPr lang="en-US"/>
                    </a:p>
                  </a:txBody>
                  <a:tcPr/>
                </a:tc>
                <a:tc>
                  <a:txBody>
                    <a:bodyPr/>
                    <a:lstStyle/>
                    <a:p>
                      <a:pPr algn="l" fontAlgn="ctr"/>
                      <a:r>
                        <a:rPr lang="en-US" sz="1200" b="1" u="none" strike="noStrike">
                          <a:solidFill>
                            <a:srgbClr val="000000"/>
                          </a:solidFill>
                          <a:effectLst/>
                        </a:rPr>
                        <a:t>Total</a:t>
                      </a:r>
                      <a:endParaRPr lang="en-US" sz="1200" b="1"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1" u="none" strike="noStrike">
                          <a:solidFill>
                            <a:srgbClr val="000000"/>
                          </a:solidFill>
                          <a:effectLst/>
                        </a:rPr>
                        <a:t>7512</a:t>
                      </a:r>
                      <a:endParaRPr lang="en-US" sz="1200" b="1"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1" u="none" strike="noStrike">
                          <a:solidFill>
                            <a:srgbClr val="000000"/>
                          </a:solidFill>
                          <a:effectLst/>
                        </a:rPr>
                        <a:t> </a:t>
                      </a:r>
                      <a:endParaRPr lang="en-US" sz="1200" b="1" i="0" u="none" strike="noStrike">
                        <a:solidFill>
                          <a:srgbClr val="000000"/>
                        </a:solidFill>
                        <a:effectLst/>
                        <a:latin typeface="+mn-lt"/>
                      </a:endParaRPr>
                    </a:p>
                  </a:txBody>
                  <a:tcPr marL="182880" marR="182880" marT="18288" marB="18288" anchor="ctr">
                    <a:solidFill>
                      <a:srgbClr val="2C5234">
                        <a:alpha val="15000"/>
                      </a:srgbClr>
                    </a:solidFill>
                  </a:tcPr>
                </a:tc>
                <a:tc>
                  <a:txBody>
                    <a:bodyPr/>
                    <a:lstStyle/>
                    <a:p>
                      <a:pPr algn="ctr" fontAlgn="ctr"/>
                      <a:r>
                        <a:rPr lang="en-US" sz="1200" b="1" u="none" strike="noStrike" dirty="0">
                          <a:solidFill>
                            <a:srgbClr val="000000"/>
                          </a:solidFill>
                          <a:effectLst/>
                        </a:rPr>
                        <a:t>2098</a:t>
                      </a:r>
                      <a:endParaRPr lang="en-US" sz="1200" b="1" i="0" u="none" strike="noStrike" dirty="0">
                        <a:solidFill>
                          <a:srgbClr val="000000"/>
                        </a:solidFill>
                        <a:effectLst/>
                        <a:latin typeface="+mn-lt"/>
                      </a:endParaRPr>
                    </a:p>
                  </a:txBody>
                  <a:tcPr marL="182880" marR="182880" marT="18288" marB="18288" anchor="ctr">
                    <a:solidFill>
                      <a:srgbClr val="2C5234">
                        <a:alpha val="15000"/>
                      </a:srgbClr>
                    </a:solidFill>
                  </a:tcPr>
                </a:tc>
                <a:extLst>
                  <a:ext uri="{0D108BD9-81ED-4DB2-BD59-A6C34878D82A}">
                    <a16:rowId xmlns:a16="http://schemas.microsoft.com/office/drawing/2014/main" val="1758824771"/>
                  </a:ext>
                </a:extLst>
              </a:tr>
              <a:tr h="113453">
                <a:tc rowSpan="8">
                  <a:txBody>
                    <a:bodyPr/>
                    <a:lstStyle/>
                    <a:p>
                      <a:pPr algn="ctr" fontAlgn="ctr"/>
                      <a:r>
                        <a:rPr lang="en-US" sz="1200" b="1" u="none" strike="noStrike" dirty="0">
                          <a:solidFill>
                            <a:schemeClr val="bg1"/>
                          </a:solidFill>
                          <a:effectLst/>
                        </a:rPr>
                        <a:t>Bundle Power</a:t>
                      </a:r>
                      <a:endParaRPr lang="en-US" sz="1200" b="1" i="0" u="none" strike="noStrike" dirty="0">
                        <a:solidFill>
                          <a:schemeClr val="bg1"/>
                        </a:solidFill>
                        <a:effectLst/>
                        <a:latin typeface="+mn-lt"/>
                      </a:endParaRPr>
                    </a:p>
                  </a:txBody>
                  <a:tcPr marL="182880" marR="182880" marT="18288" marB="18288" anchor="ctr">
                    <a:solidFill>
                      <a:srgbClr val="00ABAB"/>
                    </a:solidFill>
                  </a:tcPr>
                </a:tc>
                <a:tc>
                  <a:txBody>
                    <a:bodyPr/>
                    <a:lstStyle/>
                    <a:p>
                      <a:pPr algn="l" fontAlgn="ctr"/>
                      <a:r>
                        <a:rPr lang="en-US" sz="1200" b="0" u="none" strike="noStrike" dirty="0">
                          <a:solidFill>
                            <a:srgbClr val="000000"/>
                          </a:solidFill>
                          <a:effectLst/>
                        </a:rPr>
                        <a:t>Solar</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50</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extLst>
                  <a:ext uri="{0D108BD9-81ED-4DB2-BD59-A6C34878D82A}">
                    <a16:rowId xmlns:a16="http://schemas.microsoft.com/office/drawing/2014/main" val="1083053065"/>
                  </a:ext>
                </a:extLst>
              </a:tr>
              <a:tr h="113453">
                <a:tc vMerge="1">
                  <a:txBody>
                    <a:bodyPr/>
                    <a:lstStyle/>
                    <a:p>
                      <a:endParaRPr lang="en-US"/>
                    </a:p>
                  </a:txBody>
                  <a:tcPr/>
                </a:tc>
                <a:tc>
                  <a:txBody>
                    <a:bodyPr/>
                    <a:lstStyle/>
                    <a:p>
                      <a:pPr algn="l" fontAlgn="ctr"/>
                      <a:r>
                        <a:rPr lang="en-US" sz="1200" b="0" u="none" strike="noStrike">
                          <a:solidFill>
                            <a:srgbClr val="000000"/>
                          </a:solidFill>
                          <a:effectLst/>
                        </a:rPr>
                        <a:t>Farakka Stage I&amp;II</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1600</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dirty="0">
                          <a:solidFill>
                            <a:srgbClr val="000000"/>
                          </a:solidFill>
                          <a:effectLst/>
                        </a:rPr>
                        <a:t>0.92</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dirty="0">
                          <a:solidFill>
                            <a:srgbClr val="000000"/>
                          </a:solidFill>
                          <a:effectLst/>
                        </a:rPr>
                        <a:t>15</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extLst>
                  <a:ext uri="{0D108BD9-81ED-4DB2-BD59-A6C34878D82A}">
                    <a16:rowId xmlns:a16="http://schemas.microsoft.com/office/drawing/2014/main" val="1092564280"/>
                  </a:ext>
                </a:extLst>
              </a:tr>
              <a:tr h="113453">
                <a:tc vMerge="1">
                  <a:txBody>
                    <a:bodyPr/>
                    <a:lstStyle/>
                    <a:p>
                      <a:endParaRPr lang="en-US"/>
                    </a:p>
                  </a:txBody>
                  <a:tcPr/>
                </a:tc>
                <a:tc>
                  <a:txBody>
                    <a:bodyPr/>
                    <a:lstStyle/>
                    <a:p>
                      <a:pPr algn="l" fontAlgn="ctr"/>
                      <a:r>
                        <a:rPr lang="en-US" sz="1200" b="0" u="none" strike="noStrike" dirty="0">
                          <a:solidFill>
                            <a:srgbClr val="000000"/>
                          </a:solidFill>
                          <a:effectLst/>
                        </a:rPr>
                        <a:t>Farakka stage III</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500</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0.92</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dirty="0">
                          <a:solidFill>
                            <a:srgbClr val="000000"/>
                          </a:solidFill>
                          <a:effectLst/>
                        </a:rPr>
                        <a:t>5</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extLst>
                  <a:ext uri="{0D108BD9-81ED-4DB2-BD59-A6C34878D82A}">
                    <a16:rowId xmlns:a16="http://schemas.microsoft.com/office/drawing/2014/main" val="168074067"/>
                  </a:ext>
                </a:extLst>
              </a:tr>
              <a:tr h="113453">
                <a:tc vMerge="1">
                  <a:txBody>
                    <a:bodyPr/>
                    <a:lstStyle/>
                    <a:p>
                      <a:endParaRPr lang="en-US"/>
                    </a:p>
                  </a:txBody>
                  <a:tcPr/>
                </a:tc>
                <a:tc>
                  <a:txBody>
                    <a:bodyPr/>
                    <a:lstStyle/>
                    <a:p>
                      <a:pPr algn="l" fontAlgn="ctr"/>
                      <a:r>
                        <a:rPr lang="en-US" sz="1200" b="0" u="none" strike="noStrike" dirty="0">
                          <a:solidFill>
                            <a:srgbClr val="000000"/>
                          </a:solidFill>
                          <a:effectLst/>
                        </a:rPr>
                        <a:t>Kahalgaon stage I</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840</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0.92</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dirty="0">
                          <a:solidFill>
                            <a:srgbClr val="000000"/>
                          </a:solidFill>
                          <a:effectLst/>
                        </a:rPr>
                        <a:t>8</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extLst>
                  <a:ext uri="{0D108BD9-81ED-4DB2-BD59-A6C34878D82A}">
                    <a16:rowId xmlns:a16="http://schemas.microsoft.com/office/drawing/2014/main" val="1527544039"/>
                  </a:ext>
                </a:extLst>
              </a:tr>
              <a:tr h="113453">
                <a:tc vMerge="1">
                  <a:txBody>
                    <a:bodyPr/>
                    <a:lstStyle/>
                    <a:p>
                      <a:endParaRPr lang="en-US"/>
                    </a:p>
                  </a:txBody>
                  <a:tcPr/>
                </a:tc>
                <a:tc>
                  <a:txBody>
                    <a:bodyPr/>
                    <a:lstStyle/>
                    <a:p>
                      <a:pPr algn="l" fontAlgn="ctr"/>
                      <a:r>
                        <a:rPr lang="en-US" sz="1200" b="0" u="none" strike="noStrike" dirty="0">
                          <a:solidFill>
                            <a:srgbClr val="000000"/>
                          </a:solidFill>
                          <a:effectLst/>
                        </a:rPr>
                        <a:t>Kahalgaon stage II</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dirty="0">
                          <a:solidFill>
                            <a:srgbClr val="000000"/>
                          </a:solidFill>
                          <a:effectLst/>
                        </a:rPr>
                        <a:t>1500</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dirty="0">
                          <a:solidFill>
                            <a:srgbClr val="000000"/>
                          </a:solidFill>
                          <a:effectLst/>
                        </a:rPr>
                        <a:t>0.92</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dirty="0">
                          <a:solidFill>
                            <a:srgbClr val="000000"/>
                          </a:solidFill>
                          <a:effectLst/>
                        </a:rPr>
                        <a:t>14</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extLst>
                  <a:ext uri="{0D108BD9-81ED-4DB2-BD59-A6C34878D82A}">
                    <a16:rowId xmlns:a16="http://schemas.microsoft.com/office/drawing/2014/main" val="2952424225"/>
                  </a:ext>
                </a:extLst>
              </a:tr>
              <a:tr h="113453">
                <a:tc vMerge="1">
                  <a:txBody>
                    <a:bodyPr/>
                    <a:lstStyle/>
                    <a:p>
                      <a:endParaRPr lang="en-US"/>
                    </a:p>
                  </a:txBody>
                  <a:tcPr/>
                </a:tc>
                <a:tc>
                  <a:txBody>
                    <a:bodyPr/>
                    <a:lstStyle/>
                    <a:p>
                      <a:pPr algn="l" fontAlgn="ctr"/>
                      <a:r>
                        <a:rPr lang="en-US" sz="1200" b="0" u="none" strike="noStrike">
                          <a:solidFill>
                            <a:srgbClr val="000000"/>
                          </a:solidFill>
                          <a:effectLst/>
                        </a:rPr>
                        <a:t>Talcher stage I</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1000</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dirty="0">
                          <a:solidFill>
                            <a:srgbClr val="000000"/>
                          </a:solidFill>
                          <a:effectLst/>
                        </a:rPr>
                        <a:t>0.92</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dirty="0">
                          <a:solidFill>
                            <a:srgbClr val="000000"/>
                          </a:solidFill>
                          <a:effectLst/>
                        </a:rPr>
                        <a:t>9</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extLst>
                  <a:ext uri="{0D108BD9-81ED-4DB2-BD59-A6C34878D82A}">
                    <a16:rowId xmlns:a16="http://schemas.microsoft.com/office/drawing/2014/main" val="2649608133"/>
                  </a:ext>
                </a:extLst>
              </a:tr>
              <a:tr h="113453">
                <a:tc vMerge="1">
                  <a:txBody>
                    <a:bodyPr/>
                    <a:lstStyle/>
                    <a:p>
                      <a:endParaRPr lang="en-US"/>
                    </a:p>
                  </a:txBody>
                  <a:tcPr/>
                </a:tc>
                <a:tc>
                  <a:txBody>
                    <a:bodyPr/>
                    <a:lstStyle/>
                    <a:p>
                      <a:pPr algn="l" fontAlgn="ctr"/>
                      <a:r>
                        <a:rPr lang="en-US" sz="1200" b="0" u="none" strike="noStrike">
                          <a:solidFill>
                            <a:srgbClr val="000000"/>
                          </a:solidFill>
                          <a:effectLst/>
                        </a:rPr>
                        <a:t>Thermal total</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dirty="0">
                          <a:solidFill>
                            <a:srgbClr val="000000"/>
                          </a:solidFill>
                          <a:effectLst/>
                        </a:rPr>
                        <a:t>51</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extLst>
                  <a:ext uri="{0D108BD9-81ED-4DB2-BD59-A6C34878D82A}">
                    <a16:rowId xmlns:a16="http://schemas.microsoft.com/office/drawing/2014/main" val="2347024327"/>
                  </a:ext>
                </a:extLst>
              </a:tr>
              <a:tr h="113453">
                <a:tc vMerge="1">
                  <a:txBody>
                    <a:bodyPr/>
                    <a:lstStyle/>
                    <a:p>
                      <a:endParaRPr lang="en-US"/>
                    </a:p>
                  </a:txBody>
                  <a:tcPr/>
                </a:tc>
                <a:tc>
                  <a:txBody>
                    <a:bodyPr/>
                    <a:lstStyle/>
                    <a:p>
                      <a:pPr algn="l" fontAlgn="ctr"/>
                      <a:r>
                        <a:rPr lang="en-US" sz="1200" b="1" u="none" strike="noStrike">
                          <a:solidFill>
                            <a:srgbClr val="000000"/>
                          </a:solidFill>
                          <a:effectLst/>
                        </a:rPr>
                        <a:t>Total</a:t>
                      </a:r>
                      <a:endParaRPr lang="en-US" sz="1200" b="1"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1" u="none" strike="noStrike">
                          <a:solidFill>
                            <a:srgbClr val="000000"/>
                          </a:solidFill>
                          <a:effectLst/>
                        </a:rPr>
                        <a:t> </a:t>
                      </a:r>
                      <a:endParaRPr lang="en-US" sz="1200" b="1"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1" u="none" strike="noStrike">
                          <a:solidFill>
                            <a:srgbClr val="000000"/>
                          </a:solidFill>
                          <a:effectLst/>
                        </a:rPr>
                        <a:t> </a:t>
                      </a:r>
                      <a:endParaRPr lang="en-US" sz="1200" b="1"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1" u="none" strike="noStrike" dirty="0">
                          <a:solidFill>
                            <a:srgbClr val="000000"/>
                          </a:solidFill>
                          <a:effectLst/>
                        </a:rPr>
                        <a:t>101</a:t>
                      </a:r>
                      <a:endParaRPr lang="en-US" sz="1200" b="1" i="0" u="none" strike="noStrike" dirty="0">
                        <a:solidFill>
                          <a:srgbClr val="000000"/>
                        </a:solidFill>
                        <a:effectLst/>
                        <a:latin typeface="+mn-lt"/>
                      </a:endParaRPr>
                    </a:p>
                  </a:txBody>
                  <a:tcPr marL="182880" marR="182880" marT="18288" marB="18288" anchor="ctr">
                    <a:solidFill>
                      <a:srgbClr val="00ABAB">
                        <a:alpha val="15000"/>
                      </a:srgbClr>
                    </a:solidFill>
                  </a:tcPr>
                </a:tc>
                <a:extLst>
                  <a:ext uri="{0D108BD9-81ED-4DB2-BD59-A6C34878D82A}">
                    <a16:rowId xmlns:a16="http://schemas.microsoft.com/office/drawing/2014/main" val="3837066518"/>
                  </a:ext>
                </a:extLst>
              </a:tr>
            </a:tbl>
          </a:graphicData>
        </a:graphic>
      </p:graphicFrame>
    </p:spTree>
    <p:extLst>
      <p:ext uri="{BB962C8B-B14F-4D97-AF65-F5344CB8AC3E}">
        <p14:creationId xmlns:p14="http://schemas.microsoft.com/office/powerpoint/2010/main" val="2167483468"/>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E3F166-DCDE-4481-8EB3-ADADC3A459D1}"/>
              </a:ext>
            </a:extLst>
          </p:cNvPr>
          <p:cNvSpPr>
            <a:spLocks noGrp="1"/>
          </p:cNvSpPr>
          <p:nvPr>
            <p:ph type="body" sz="quarter" idx="13"/>
          </p:nvPr>
        </p:nvSpPr>
        <p:spPr>
          <a:xfrm>
            <a:off x="469902" y="736690"/>
            <a:ext cx="11252200" cy="334102"/>
          </a:xfrm>
        </p:spPr>
        <p:txBody>
          <a:bodyPr/>
          <a:lstStyle/>
          <a:p>
            <a:r>
              <a:rPr lang="en-US" sz="1600" b="1" dirty="0"/>
              <a:t>With Private and Other Generating Station </a:t>
            </a:r>
          </a:p>
        </p:txBody>
      </p:sp>
      <p:sp>
        <p:nvSpPr>
          <p:cNvPr id="3" name="Title 2">
            <a:extLst>
              <a:ext uri="{FF2B5EF4-FFF2-40B4-BE49-F238E27FC236}">
                <a16:creationId xmlns:a16="http://schemas.microsoft.com/office/drawing/2014/main" id="{55CB2063-FEE6-4A6E-9DA8-F2EE703803F1}"/>
              </a:ext>
            </a:extLst>
          </p:cNvPr>
          <p:cNvSpPr>
            <a:spLocks noGrp="1"/>
          </p:cNvSpPr>
          <p:nvPr>
            <p:ph type="title"/>
          </p:nvPr>
        </p:nvSpPr>
        <p:spPr/>
        <p:txBody>
          <a:bodyPr/>
          <a:lstStyle/>
          <a:p>
            <a:r>
              <a:rPr lang="en-US" b="1" dirty="0"/>
              <a:t>Details of PPA and Share of generating station for WBSEDCL (3/3) </a:t>
            </a:r>
          </a:p>
        </p:txBody>
      </p:sp>
      <p:graphicFrame>
        <p:nvGraphicFramePr>
          <p:cNvPr id="5" name="Table 4">
            <a:extLst>
              <a:ext uri="{FF2B5EF4-FFF2-40B4-BE49-F238E27FC236}">
                <a16:creationId xmlns:a16="http://schemas.microsoft.com/office/drawing/2014/main" id="{D7E89D7F-2BD4-4B88-9D06-60E7152E3656}"/>
              </a:ext>
            </a:extLst>
          </p:cNvPr>
          <p:cNvGraphicFramePr>
            <a:graphicFrameLocks noGrp="1"/>
          </p:cNvGraphicFramePr>
          <p:nvPr/>
        </p:nvGraphicFramePr>
        <p:xfrm>
          <a:off x="469898" y="1115317"/>
          <a:ext cx="11252200" cy="5266944"/>
        </p:xfrm>
        <a:graphic>
          <a:graphicData uri="http://schemas.openxmlformats.org/drawingml/2006/table">
            <a:tbl>
              <a:tblPr>
                <a:tableStyleId>{2D5ABB26-0587-4C30-8999-92F81FD0307C}</a:tableStyleId>
              </a:tblPr>
              <a:tblGrid>
                <a:gridCol w="1467766">
                  <a:extLst>
                    <a:ext uri="{9D8B030D-6E8A-4147-A177-3AD203B41FA5}">
                      <a16:colId xmlns:a16="http://schemas.microsoft.com/office/drawing/2014/main" val="882827618"/>
                    </a:ext>
                  </a:extLst>
                </a:gridCol>
                <a:gridCol w="3646117">
                  <a:extLst>
                    <a:ext uri="{9D8B030D-6E8A-4147-A177-3AD203B41FA5}">
                      <a16:colId xmlns:a16="http://schemas.microsoft.com/office/drawing/2014/main" val="463711329"/>
                    </a:ext>
                  </a:extLst>
                </a:gridCol>
                <a:gridCol w="3268378">
                  <a:extLst>
                    <a:ext uri="{9D8B030D-6E8A-4147-A177-3AD203B41FA5}">
                      <a16:colId xmlns:a16="http://schemas.microsoft.com/office/drawing/2014/main" val="453079555"/>
                    </a:ext>
                  </a:extLst>
                </a:gridCol>
                <a:gridCol w="1129339">
                  <a:extLst>
                    <a:ext uri="{9D8B030D-6E8A-4147-A177-3AD203B41FA5}">
                      <a16:colId xmlns:a16="http://schemas.microsoft.com/office/drawing/2014/main" val="457820045"/>
                    </a:ext>
                  </a:extLst>
                </a:gridCol>
                <a:gridCol w="1740600">
                  <a:extLst>
                    <a:ext uri="{9D8B030D-6E8A-4147-A177-3AD203B41FA5}">
                      <a16:colId xmlns:a16="http://schemas.microsoft.com/office/drawing/2014/main" val="4211668139"/>
                    </a:ext>
                  </a:extLst>
                </a:gridCol>
              </a:tblGrid>
              <a:tr h="194736">
                <a:tc rowSpan="2">
                  <a:txBody>
                    <a:bodyPr/>
                    <a:lstStyle/>
                    <a:p>
                      <a:pPr algn="ctr" fontAlgn="ctr"/>
                      <a:r>
                        <a:rPr lang="en-US" sz="1200" b="1" u="none" strike="noStrike" dirty="0">
                          <a:solidFill>
                            <a:schemeClr val="bg1"/>
                          </a:solidFill>
                          <a:effectLst/>
                        </a:rPr>
                        <a:t>Constituent </a:t>
                      </a:r>
                      <a:endParaRPr lang="en-US" sz="1200" b="1" i="0" u="none" strike="noStrike" dirty="0">
                        <a:solidFill>
                          <a:schemeClr val="bg1"/>
                        </a:solidFill>
                        <a:effectLst/>
                        <a:latin typeface="+mn-lt"/>
                      </a:endParaRPr>
                    </a:p>
                  </a:txBody>
                  <a:tcPr marL="182880" marR="182880" marT="18288" marB="18288" anchor="ctr">
                    <a:solidFill>
                      <a:srgbClr val="0076A8"/>
                    </a:solidFill>
                  </a:tcPr>
                </a:tc>
                <a:tc rowSpan="2">
                  <a:txBody>
                    <a:bodyPr/>
                    <a:lstStyle/>
                    <a:p>
                      <a:pPr algn="ctr" fontAlgn="ctr"/>
                      <a:r>
                        <a:rPr lang="en-US" sz="1200" b="1" u="none" strike="noStrike" dirty="0">
                          <a:solidFill>
                            <a:schemeClr val="bg1"/>
                          </a:solidFill>
                          <a:effectLst/>
                        </a:rPr>
                        <a:t>Station</a:t>
                      </a:r>
                      <a:endParaRPr lang="en-US" sz="1200" b="1" i="0" u="none" strike="noStrike" dirty="0">
                        <a:solidFill>
                          <a:schemeClr val="bg1"/>
                        </a:solidFill>
                        <a:effectLst/>
                        <a:latin typeface="+mn-lt"/>
                      </a:endParaRPr>
                    </a:p>
                  </a:txBody>
                  <a:tcPr marL="182880" marR="182880" marT="18288" marB="18288" anchor="ctr">
                    <a:solidFill>
                      <a:srgbClr val="0076A8"/>
                    </a:solidFill>
                  </a:tcPr>
                </a:tc>
                <a:tc gridSpan="3">
                  <a:txBody>
                    <a:bodyPr/>
                    <a:lstStyle/>
                    <a:p>
                      <a:pPr algn="ctr" fontAlgn="ctr"/>
                      <a:r>
                        <a:rPr lang="en-US" sz="1200" b="1" u="none" strike="noStrike" dirty="0">
                          <a:solidFill>
                            <a:schemeClr val="bg1"/>
                          </a:solidFill>
                          <a:effectLst/>
                        </a:rPr>
                        <a:t>Share of Private &amp; Other Generating Station till December 2019</a:t>
                      </a:r>
                      <a:endParaRPr lang="en-US" sz="1200" b="1" i="0" u="none" strike="noStrike" dirty="0">
                        <a:solidFill>
                          <a:schemeClr val="bg1"/>
                        </a:solidFill>
                        <a:effectLst/>
                        <a:latin typeface="+mn-lt"/>
                      </a:endParaRPr>
                    </a:p>
                  </a:txBody>
                  <a:tcPr marL="182880" marR="182880" marT="18288" marB="18288" anchor="ctr">
                    <a:solidFill>
                      <a:srgbClr val="0076A8"/>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45641654"/>
                  </a:ext>
                </a:extLst>
              </a:tr>
              <a:tr h="196945">
                <a:tc vMerge="1">
                  <a:txBody>
                    <a:bodyPr/>
                    <a:lstStyle/>
                    <a:p>
                      <a:endParaRPr lang="en-US"/>
                    </a:p>
                  </a:txBody>
                  <a:tcPr/>
                </a:tc>
                <a:tc vMerge="1">
                  <a:txBody>
                    <a:bodyPr/>
                    <a:lstStyle/>
                    <a:p>
                      <a:endParaRPr lang="en-US"/>
                    </a:p>
                  </a:txBody>
                  <a:tcPr/>
                </a:tc>
                <a:tc>
                  <a:txBody>
                    <a:bodyPr/>
                    <a:lstStyle/>
                    <a:p>
                      <a:pPr algn="ctr" fontAlgn="ctr"/>
                      <a:r>
                        <a:rPr lang="en-US" sz="1200" b="1" u="none" strike="noStrike" dirty="0">
                          <a:solidFill>
                            <a:schemeClr val="bg1"/>
                          </a:solidFill>
                          <a:effectLst/>
                        </a:rPr>
                        <a:t>Total installed capacity in MW</a:t>
                      </a:r>
                      <a:endParaRPr lang="en-US" sz="1200" b="1" i="0" u="none" strike="noStrike" dirty="0">
                        <a:solidFill>
                          <a:schemeClr val="bg1"/>
                        </a:solidFill>
                        <a:effectLst/>
                        <a:latin typeface="+mn-lt"/>
                      </a:endParaRPr>
                    </a:p>
                  </a:txBody>
                  <a:tcPr marL="182880" marR="182880" marT="18288" marB="18288" anchor="ctr">
                    <a:solidFill>
                      <a:srgbClr val="0076A8"/>
                    </a:solidFill>
                  </a:tcPr>
                </a:tc>
                <a:tc>
                  <a:txBody>
                    <a:bodyPr/>
                    <a:lstStyle/>
                    <a:p>
                      <a:pPr algn="ctr" fontAlgn="ctr"/>
                      <a:r>
                        <a:rPr lang="en-US" sz="1200" b="1" u="none" strike="noStrike" dirty="0">
                          <a:solidFill>
                            <a:schemeClr val="bg1"/>
                          </a:solidFill>
                          <a:effectLst/>
                        </a:rPr>
                        <a:t>% share</a:t>
                      </a:r>
                      <a:endParaRPr lang="en-US" sz="1200" b="1" i="0" u="none" strike="noStrike" dirty="0">
                        <a:solidFill>
                          <a:schemeClr val="bg1"/>
                        </a:solidFill>
                        <a:effectLst/>
                        <a:latin typeface="+mn-lt"/>
                      </a:endParaRPr>
                    </a:p>
                  </a:txBody>
                  <a:tcPr marL="182880" marR="182880" marT="18288" marB="18288" anchor="ctr">
                    <a:solidFill>
                      <a:srgbClr val="0076A8"/>
                    </a:solidFill>
                  </a:tcPr>
                </a:tc>
                <a:tc>
                  <a:txBody>
                    <a:bodyPr/>
                    <a:lstStyle/>
                    <a:p>
                      <a:pPr algn="ctr" fontAlgn="ctr"/>
                      <a:r>
                        <a:rPr lang="en-US" sz="1200" b="1" u="none" strike="noStrike" dirty="0">
                          <a:solidFill>
                            <a:schemeClr val="bg1"/>
                          </a:solidFill>
                          <a:effectLst/>
                        </a:rPr>
                        <a:t>Share in MW</a:t>
                      </a:r>
                      <a:endParaRPr lang="en-US" sz="1200" b="1" i="0" u="none" strike="noStrike" dirty="0">
                        <a:solidFill>
                          <a:schemeClr val="bg1"/>
                        </a:solidFill>
                        <a:effectLst/>
                        <a:latin typeface="+mn-lt"/>
                      </a:endParaRPr>
                    </a:p>
                  </a:txBody>
                  <a:tcPr marL="182880" marR="182880" marT="18288" marB="18288" anchor="ctr">
                    <a:solidFill>
                      <a:srgbClr val="0076A8"/>
                    </a:solidFill>
                  </a:tcPr>
                </a:tc>
                <a:extLst>
                  <a:ext uri="{0D108BD9-81ED-4DB2-BD59-A6C34878D82A}">
                    <a16:rowId xmlns:a16="http://schemas.microsoft.com/office/drawing/2014/main" val="1211636294"/>
                  </a:ext>
                </a:extLst>
              </a:tr>
              <a:tr h="194736">
                <a:tc rowSpan="13">
                  <a:txBody>
                    <a:bodyPr/>
                    <a:lstStyle/>
                    <a:p>
                      <a:pPr algn="ctr" fontAlgn="ctr"/>
                      <a:r>
                        <a:rPr lang="en-US" sz="1200" b="1" u="none" strike="noStrike" dirty="0">
                          <a:solidFill>
                            <a:schemeClr val="bg1"/>
                          </a:solidFill>
                          <a:effectLst/>
                        </a:rPr>
                        <a:t>Intra state IPP</a:t>
                      </a:r>
                      <a:endParaRPr lang="en-US" sz="1200" b="1" i="0" u="none" strike="noStrike" dirty="0">
                        <a:solidFill>
                          <a:schemeClr val="bg1"/>
                        </a:solidFill>
                        <a:effectLst/>
                        <a:latin typeface="+mn-lt"/>
                      </a:endParaRPr>
                    </a:p>
                  </a:txBody>
                  <a:tcPr marL="182880" marR="182880" marT="18288" marB="18288" anchor="ctr">
                    <a:solidFill>
                      <a:srgbClr val="046A38"/>
                    </a:solidFill>
                  </a:tcPr>
                </a:tc>
                <a:tc>
                  <a:txBody>
                    <a:bodyPr/>
                    <a:lstStyle/>
                    <a:p>
                      <a:pPr algn="l" fontAlgn="ctr"/>
                      <a:r>
                        <a:rPr lang="en-US" sz="1200" b="0" u="none" strike="noStrike" dirty="0">
                          <a:solidFill>
                            <a:srgbClr val="000000"/>
                          </a:solidFill>
                          <a:effectLst/>
                        </a:rPr>
                        <a:t>Rashmi cement Ltd. (RCL)</a:t>
                      </a:r>
                      <a:endParaRPr lang="en-US" sz="1200" b="0" i="0" u="none" strike="noStrike" dirty="0">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18</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extLst>
                  <a:ext uri="{0D108BD9-81ED-4DB2-BD59-A6C34878D82A}">
                    <a16:rowId xmlns:a16="http://schemas.microsoft.com/office/drawing/2014/main" val="3235492041"/>
                  </a:ext>
                </a:extLst>
              </a:tr>
              <a:tr h="194736">
                <a:tc vMerge="1">
                  <a:txBody>
                    <a:bodyPr/>
                    <a:lstStyle/>
                    <a:p>
                      <a:endParaRPr lang="en-US"/>
                    </a:p>
                  </a:txBody>
                  <a:tcPr/>
                </a:tc>
                <a:tc>
                  <a:txBody>
                    <a:bodyPr/>
                    <a:lstStyle/>
                    <a:p>
                      <a:pPr algn="l" fontAlgn="ctr"/>
                      <a:r>
                        <a:rPr lang="en-US" sz="1200" b="0" u="none" strike="noStrike" dirty="0">
                          <a:solidFill>
                            <a:srgbClr val="000000"/>
                          </a:solidFill>
                          <a:effectLst/>
                        </a:rPr>
                        <a:t>Rashmi Ispat Limited</a:t>
                      </a:r>
                      <a:endParaRPr lang="en-US" sz="1200" b="0" i="0" u="none" strike="noStrike" dirty="0">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12</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extLst>
                  <a:ext uri="{0D108BD9-81ED-4DB2-BD59-A6C34878D82A}">
                    <a16:rowId xmlns:a16="http://schemas.microsoft.com/office/drawing/2014/main" val="663723925"/>
                  </a:ext>
                </a:extLst>
              </a:tr>
              <a:tr h="194736">
                <a:tc vMerge="1">
                  <a:txBody>
                    <a:bodyPr/>
                    <a:lstStyle/>
                    <a:p>
                      <a:endParaRPr lang="en-US"/>
                    </a:p>
                  </a:txBody>
                  <a:tcPr/>
                </a:tc>
                <a:tc>
                  <a:txBody>
                    <a:bodyPr/>
                    <a:lstStyle/>
                    <a:p>
                      <a:pPr algn="l" fontAlgn="ctr"/>
                      <a:r>
                        <a:rPr lang="en-US" sz="1200" b="0" u="none" strike="noStrike" dirty="0">
                          <a:solidFill>
                            <a:srgbClr val="000000"/>
                          </a:solidFill>
                          <a:effectLst/>
                        </a:rPr>
                        <a:t>Bengal energy Ltd.</a:t>
                      </a:r>
                      <a:endParaRPr lang="en-US" sz="1200" b="0" i="0" u="none" strike="noStrike" dirty="0">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40</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extLst>
                  <a:ext uri="{0D108BD9-81ED-4DB2-BD59-A6C34878D82A}">
                    <a16:rowId xmlns:a16="http://schemas.microsoft.com/office/drawing/2014/main" val="1187117805"/>
                  </a:ext>
                </a:extLst>
              </a:tr>
              <a:tr h="194736">
                <a:tc vMerge="1">
                  <a:txBody>
                    <a:bodyPr/>
                    <a:lstStyle/>
                    <a:p>
                      <a:endParaRPr lang="en-US"/>
                    </a:p>
                  </a:txBody>
                  <a:tcPr/>
                </a:tc>
                <a:tc>
                  <a:txBody>
                    <a:bodyPr/>
                    <a:lstStyle/>
                    <a:p>
                      <a:pPr algn="l" fontAlgn="ctr"/>
                      <a:r>
                        <a:rPr lang="en-US" sz="1200" b="0" u="none" strike="noStrike">
                          <a:solidFill>
                            <a:srgbClr val="000000"/>
                          </a:solidFill>
                          <a:effectLst/>
                        </a:rPr>
                        <a:t>Shree Renuka Sugar Ltd.</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15</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extLst>
                  <a:ext uri="{0D108BD9-81ED-4DB2-BD59-A6C34878D82A}">
                    <a16:rowId xmlns:a16="http://schemas.microsoft.com/office/drawing/2014/main" val="668248319"/>
                  </a:ext>
                </a:extLst>
              </a:tr>
              <a:tr h="194736">
                <a:tc vMerge="1">
                  <a:txBody>
                    <a:bodyPr/>
                    <a:lstStyle/>
                    <a:p>
                      <a:endParaRPr lang="en-US"/>
                    </a:p>
                  </a:txBody>
                  <a:tcPr/>
                </a:tc>
                <a:tc>
                  <a:txBody>
                    <a:bodyPr/>
                    <a:lstStyle/>
                    <a:p>
                      <a:pPr algn="l" fontAlgn="ctr"/>
                      <a:r>
                        <a:rPr lang="en-US" sz="1200" b="0" u="none" strike="noStrike" dirty="0">
                          <a:solidFill>
                            <a:srgbClr val="000000"/>
                          </a:solidFill>
                          <a:effectLst/>
                        </a:rPr>
                        <a:t>Nippon Power Limited</a:t>
                      </a:r>
                      <a:endParaRPr lang="en-US" sz="1200" b="0" i="0" u="none" strike="noStrike" dirty="0">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3</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extLst>
                  <a:ext uri="{0D108BD9-81ED-4DB2-BD59-A6C34878D82A}">
                    <a16:rowId xmlns:a16="http://schemas.microsoft.com/office/drawing/2014/main" val="594313419"/>
                  </a:ext>
                </a:extLst>
              </a:tr>
              <a:tr h="194736">
                <a:tc vMerge="1">
                  <a:txBody>
                    <a:bodyPr/>
                    <a:lstStyle/>
                    <a:p>
                      <a:endParaRPr lang="en-US"/>
                    </a:p>
                  </a:txBody>
                  <a:tcPr/>
                </a:tc>
                <a:tc>
                  <a:txBody>
                    <a:bodyPr/>
                    <a:lstStyle/>
                    <a:p>
                      <a:pPr algn="l" fontAlgn="ctr"/>
                      <a:r>
                        <a:rPr lang="en-US" sz="1200" b="0" u="none" strike="noStrike">
                          <a:solidFill>
                            <a:srgbClr val="000000"/>
                          </a:solidFill>
                          <a:effectLst/>
                        </a:rPr>
                        <a:t>Concast</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dirty="0">
                          <a:solidFill>
                            <a:srgbClr val="000000"/>
                          </a:solidFill>
                          <a:effectLst/>
                        </a:rPr>
                        <a:t> </a:t>
                      </a:r>
                      <a:endParaRPr lang="en-US" sz="1200" b="0" i="0" u="none" strike="noStrike" dirty="0">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5</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extLst>
                  <a:ext uri="{0D108BD9-81ED-4DB2-BD59-A6C34878D82A}">
                    <a16:rowId xmlns:a16="http://schemas.microsoft.com/office/drawing/2014/main" val="1879801466"/>
                  </a:ext>
                </a:extLst>
              </a:tr>
              <a:tr h="194736">
                <a:tc vMerge="1">
                  <a:txBody>
                    <a:bodyPr/>
                    <a:lstStyle/>
                    <a:p>
                      <a:endParaRPr lang="en-US"/>
                    </a:p>
                  </a:txBody>
                  <a:tcPr/>
                </a:tc>
                <a:tc>
                  <a:txBody>
                    <a:bodyPr/>
                    <a:lstStyle/>
                    <a:p>
                      <a:pPr algn="l" fontAlgn="ctr"/>
                      <a:r>
                        <a:rPr lang="en-US" sz="1200" b="0" u="none" strike="noStrike">
                          <a:solidFill>
                            <a:srgbClr val="000000"/>
                          </a:solidFill>
                          <a:effectLst/>
                        </a:rPr>
                        <a:t>WBREDA</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dirty="0">
                          <a:solidFill>
                            <a:srgbClr val="000000"/>
                          </a:solidFill>
                          <a:effectLst/>
                        </a:rPr>
                        <a:t> </a:t>
                      </a:r>
                      <a:endParaRPr lang="en-US" sz="1200" b="0" i="0" u="none" strike="noStrike" dirty="0">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dirty="0">
                          <a:solidFill>
                            <a:srgbClr val="000000"/>
                          </a:solidFill>
                          <a:effectLst/>
                        </a:rPr>
                        <a:t>2</a:t>
                      </a:r>
                      <a:endParaRPr lang="en-US" sz="1200" b="0" i="0" u="none" strike="noStrike" dirty="0">
                        <a:solidFill>
                          <a:srgbClr val="000000"/>
                        </a:solidFill>
                        <a:effectLst/>
                        <a:latin typeface="+mn-lt"/>
                      </a:endParaRPr>
                    </a:p>
                  </a:txBody>
                  <a:tcPr marL="182880" marR="182880" marT="18288" marB="18288" anchor="ctr">
                    <a:solidFill>
                      <a:srgbClr val="046A38">
                        <a:alpha val="15000"/>
                      </a:srgbClr>
                    </a:solidFill>
                  </a:tcPr>
                </a:tc>
                <a:extLst>
                  <a:ext uri="{0D108BD9-81ED-4DB2-BD59-A6C34878D82A}">
                    <a16:rowId xmlns:a16="http://schemas.microsoft.com/office/drawing/2014/main" val="2050956823"/>
                  </a:ext>
                </a:extLst>
              </a:tr>
              <a:tr h="194736">
                <a:tc vMerge="1">
                  <a:txBody>
                    <a:bodyPr/>
                    <a:lstStyle/>
                    <a:p>
                      <a:endParaRPr lang="en-US"/>
                    </a:p>
                  </a:txBody>
                  <a:tcPr/>
                </a:tc>
                <a:tc>
                  <a:txBody>
                    <a:bodyPr/>
                    <a:lstStyle/>
                    <a:p>
                      <a:pPr algn="l" fontAlgn="ctr"/>
                      <a:r>
                        <a:rPr lang="pt-BR" sz="1200" b="0" u="none" strike="noStrike">
                          <a:solidFill>
                            <a:srgbClr val="000000"/>
                          </a:solidFill>
                          <a:effectLst/>
                        </a:rPr>
                        <a:t>M/S Neora Hydro Ltd.</a:t>
                      </a:r>
                      <a:endParaRPr lang="pt-BR"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dirty="0">
                          <a:solidFill>
                            <a:srgbClr val="000000"/>
                          </a:solidFill>
                          <a:effectLst/>
                        </a:rPr>
                        <a:t> </a:t>
                      </a:r>
                      <a:endParaRPr lang="en-US" sz="1200" b="0" i="0" u="none" strike="noStrike" dirty="0">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3</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extLst>
                  <a:ext uri="{0D108BD9-81ED-4DB2-BD59-A6C34878D82A}">
                    <a16:rowId xmlns:a16="http://schemas.microsoft.com/office/drawing/2014/main" val="3378968718"/>
                  </a:ext>
                </a:extLst>
              </a:tr>
              <a:tr h="194736">
                <a:tc vMerge="1">
                  <a:txBody>
                    <a:bodyPr/>
                    <a:lstStyle/>
                    <a:p>
                      <a:endParaRPr lang="en-US"/>
                    </a:p>
                  </a:txBody>
                  <a:tcPr/>
                </a:tc>
                <a:tc>
                  <a:txBody>
                    <a:bodyPr/>
                    <a:lstStyle/>
                    <a:p>
                      <a:pPr algn="l" fontAlgn="ctr"/>
                      <a:r>
                        <a:rPr lang="en-US" sz="1200" b="0" u="none" strike="noStrike">
                          <a:solidFill>
                            <a:srgbClr val="000000"/>
                          </a:solidFill>
                          <a:effectLst/>
                        </a:rPr>
                        <a:t>M/s Amrit Bio-Energy &amp; Industry Ltd.</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dirty="0">
                          <a:solidFill>
                            <a:srgbClr val="000000"/>
                          </a:solidFill>
                          <a:effectLst/>
                        </a:rPr>
                        <a:t> </a:t>
                      </a:r>
                      <a:endParaRPr lang="en-US" sz="1200" b="0" i="0" u="none" strike="noStrike" dirty="0">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10</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extLst>
                  <a:ext uri="{0D108BD9-81ED-4DB2-BD59-A6C34878D82A}">
                    <a16:rowId xmlns:a16="http://schemas.microsoft.com/office/drawing/2014/main" val="948571707"/>
                  </a:ext>
                </a:extLst>
              </a:tr>
              <a:tr h="194736">
                <a:tc vMerge="1">
                  <a:txBody>
                    <a:bodyPr/>
                    <a:lstStyle/>
                    <a:p>
                      <a:endParaRPr lang="en-US"/>
                    </a:p>
                  </a:txBody>
                  <a:tcPr/>
                </a:tc>
                <a:tc>
                  <a:txBody>
                    <a:bodyPr/>
                    <a:lstStyle/>
                    <a:p>
                      <a:pPr algn="l" fontAlgn="ctr"/>
                      <a:r>
                        <a:rPr lang="en-US" sz="1200" b="0" u="none" strike="noStrike">
                          <a:solidFill>
                            <a:srgbClr val="000000"/>
                          </a:solidFill>
                          <a:effectLst/>
                        </a:rPr>
                        <a:t>Electro Steel</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dirty="0">
                          <a:solidFill>
                            <a:srgbClr val="000000"/>
                          </a:solidFill>
                          <a:effectLst/>
                        </a:rPr>
                        <a:t> </a:t>
                      </a:r>
                      <a:endParaRPr lang="en-US" sz="1200" b="0" i="0" u="none" strike="noStrike" dirty="0">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12</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extLst>
                  <a:ext uri="{0D108BD9-81ED-4DB2-BD59-A6C34878D82A}">
                    <a16:rowId xmlns:a16="http://schemas.microsoft.com/office/drawing/2014/main" val="3778791539"/>
                  </a:ext>
                </a:extLst>
              </a:tr>
              <a:tr h="194736">
                <a:tc vMerge="1">
                  <a:txBody>
                    <a:bodyPr/>
                    <a:lstStyle/>
                    <a:p>
                      <a:endParaRPr lang="en-US"/>
                    </a:p>
                  </a:txBody>
                  <a:tcPr/>
                </a:tc>
                <a:tc>
                  <a:txBody>
                    <a:bodyPr/>
                    <a:lstStyle/>
                    <a:p>
                      <a:pPr algn="l" fontAlgn="ctr"/>
                      <a:r>
                        <a:rPr lang="en-US" sz="1200" b="0" u="none" strike="noStrike">
                          <a:solidFill>
                            <a:srgbClr val="000000"/>
                          </a:solidFill>
                          <a:effectLst/>
                        </a:rPr>
                        <a:t>Himadri Chemicals and Industries Ltd.</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dirty="0">
                          <a:solidFill>
                            <a:srgbClr val="000000"/>
                          </a:solidFill>
                          <a:effectLst/>
                        </a:rPr>
                        <a:t> </a:t>
                      </a:r>
                      <a:endParaRPr lang="en-US" sz="1200" b="0" i="0" u="none" strike="noStrike" dirty="0">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dirty="0">
                          <a:solidFill>
                            <a:srgbClr val="000000"/>
                          </a:solidFill>
                          <a:effectLst/>
                        </a:rPr>
                        <a:t>20</a:t>
                      </a:r>
                      <a:endParaRPr lang="en-US" sz="1200" b="0" i="0" u="none" strike="noStrike" dirty="0">
                        <a:solidFill>
                          <a:srgbClr val="000000"/>
                        </a:solidFill>
                        <a:effectLst/>
                        <a:latin typeface="+mn-lt"/>
                      </a:endParaRPr>
                    </a:p>
                  </a:txBody>
                  <a:tcPr marL="182880" marR="182880" marT="18288" marB="18288" anchor="ctr">
                    <a:solidFill>
                      <a:srgbClr val="046A38">
                        <a:alpha val="15000"/>
                      </a:srgbClr>
                    </a:solidFill>
                  </a:tcPr>
                </a:tc>
                <a:extLst>
                  <a:ext uri="{0D108BD9-81ED-4DB2-BD59-A6C34878D82A}">
                    <a16:rowId xmlns:a16="http://schemas.microsoft.com/office/drawing/2014/main" val="632314538"/>
                  </a:ext>
                </a:extLst>
              </a:tr>
              <a:tr h="194736">
                <a:tc vMerge="1">
                  <a:txBody>
                    <a:bodyPr/>
                    <a:lstStyle/>
                    <a:p>
                      <a:endParaRPr lang="en-US"/>
                    </a:p>
                  </a:txBody>
                  <a:tcPr/>
                </a:tc>
                <a:tc>
                  <a:txBody>
                    <a:bodyPr/>
                    <a:lstStyle/>
                    <a:p>
                      <a:pPr algn="l" fontAlgn="ctr"/>
                      <a:r>
                        <a:rPr lang="en-US" sz="1200" b="0" u="none" strike="noStrike">
                          <a:solidFill>
                            <a:srgbClr val="000000"/>
                          </a:solidFill>
                          <a:effectLst/>
                        </a:rPr>
                        <a:t>IPC(H)L</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450</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a:solidFill>
                            <a:srgbClr val="000000"/>
                          </a:solidFill>
                          <a:effectLst/>
                        </a:rPr>
                        <a:t>66.7</a:t>
                      </a:r>
                      <a:endParaRPr lang="en-US" sz="1200" b="0"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0" u="none" strike="noStrike" dirty="0">
                          <a:solidFill>
                            <a:srgbClr val="000000"/>
                          </a:solidFill>
                          <a:effectLst/>
                        </a:rPr>
                        <a:t>300</a:t>
                      </a:r>
                      <a:endParaRPr lang="en-US" sz="1200" b="0" i="0" u="none" strike="noStrike" dirty="0">
                        <a:solidFill>
                          <a:srgbClr val="000000"/>
                        </a:solidFill>
                        <a:effectLst/>
                        <a:latin typeface="+mn-lt"/>
                      </a:endParaRPr>
                    </a:p>
                  </a:txBody>
                  <a:tcPr marL="182880" marR="182880" marT="18288" marB="18288" anchor="ctr">
                    <a:solidFill>
                      <a:srgbClr val="046A38">
                        <a:alpha val="15000"/>
                      </a:srgbClr>
                    </a:solidFill>
                  </a:tcPr>
                </a:tc>
                <a:extLst>
                  <a:ext uri="{0D108BD9-81ED-4DB2-BD59-A6C34878D82A}">
                    <a16:rowId xmlns:a16="http://schemas.microsoft.com/office/drawing/2014/main" val="1994582890"/>
                  </a:ext>
                </a:extLst>
              </a:tr>
              <a:tr h="194736">
                <a:tc vMerge="1">
                  <a:txBody>
                    <a:bodyPr/>
                    <a:lstStyle/>
                    <a:p>
                      <a:endParaRPr lang="en-US"/>
                    </a:p>
                  </a:txBody>
                  <a:tcPr/>
                </a:tc>
                <a:tc>
                  <a:txBody>
                    <a:bodyPr/>
                    <a:lstStyle/>
                    <a:p>
                      <a:pPr algn="l" fontAlgn="ctr"/>
                      <a:r>
                        <a:rPr lang="en-US" sz="1200" b="1" u="none" strike="noStrike">
                          <a:solidFill>
                            <a:srgbClr val="000000"/>
                          </a:solidFill>
                          <a:effectLst/>
                        </a:rPr>
                        <a:t>Total</a:t>
                      </a:r>
                      <a:endParaRPr lang="en-US" sz="1200" b="1"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1" u="none" strike="noStrike">
                          <a:solidFill>
                            <a:srgbClr val="000000"/>
                          </a:solidFill>
                          <a:effectLst/>
                        </a:rPr>
                        <a:t> </a:t>
                      </a:r>
                      <a:endParaRPr lang="en-US" sz="1200" b="1"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1" u="none" strike="noStrike">
                          <a:solidFill>
                            <a:srgbClr val="000000"/>
                          </a:solidFill>
                          <a:effectLst/>
                        </a:rPr>
                        <a:t> </a:t>
                      </a:r>
                      <a:endParaRPr lang="en-US" sz="1200" b="1" i="0" u="none" strike="noStrike">
                        <a:solidFill>
                          <a:srgbClr val="000000"/>
                        </a:solidFill>
                        <a:effectLst/>
                        <a:latin typeface="+mn-lt"/>
                      </a:endParaRPr>
                    </a:p>
                  </a:txBody>
                  <a:tcPr marL="182880" marR="182880" marT="18288" marB="18288" anchor="ctr">
                    <a:solidFill>
                      <a:srgbClr val="046A38">
                        <a:alpha val="15000"/>
                      </a:srgbClr>
                    </a:solidFill>
                  </a:tcPr>
                </a:tc>
                <a:tc>
                  <a:txBody>
                    <a:bodyPr/>
                    <a:lstStyle/>
                    <a:p>
                      <a:pPr algn="ctr" fontAlgn="ctr"/>
                      <a:r>
                        <a:rPr lang="en-US" sz="1200" b="1" u="none" strike="noStrike" dirty="0">
                          <a:solidFill>
                            <a:srgbClr val="000000"/>
                          </a:solidFill>
                          <a:effectLst/>
                        </a:rPr>
                        <a:t>440</a:t>
                      </a:r>
                      <a:endParaRPr lang="en-US" sz="1200" b="1" i="0" u="none" strike="noStrike" dirty="0">
                        <a:solidFill>
                          <a:srgbClr val="000000"/>
                        </a:solidFill>
                        <a:effectLst/>
                        <a:latin typeface="+mn-lt"/>
                      </a:endParaRPr>
                    </a:p>
                  </a:txBody>
                  <a:tcPr marL="182880" marR="182880" marT="18288" marB="18288" anchor="ctr">
                    <a:solidFill>
                      <a:srgbClr val="046A38">
                        <a:alpha val="15000"/>
                      </a:srgbClr>
                    </a:solidFill>
                  </a:tcPr>
                </a:tc>
                <a:extLst>
                  <a:ext uri="{0D108BD9-81ED-4DB2-BD59-A6C34878D82A}">
                    <a16:rowId xmlns:a16="http://schemas.microsoft.com/office/drawing/2014/main" val="3590471044"/>
                  </a:ext>
                </a:extLst>
              </a:tr>
              <a:tr h="194736">
                <a:tc rowSpan="9">
                  <a:txBody>
                    <a:bodyPr/>
                    <a:lstStyle/>
                    <a:p>
                      <a:pPr algn="ctr" fontAlgn="ctr"/>
                      <a:r>
                        <a:rPr lang="en-US" sz="1200" b="1" u="none" strike="noStrike" dirty="0">
                          <a:solidFill>
                            <a:schemeClr val="bg1"/>
                          </a:solidFill>
                          <a:effectLst/>
                        </a:rPr>
                        <a:t>From outside merchant capacity</a:t>
                      </a:r>
                      <a:endParaRPr lang="en-US" sz="1200" b="1" i="0" u="none" strike="noStrike" dirty="0">
                        <a:solidFill>
                          <a:schemeClr val="bg1"/>
                        </a:solidFill>
                        <a:effectLst/>
                        <a:latin typeface="+mn-lt"/>
                      </a:endParaRPr>
                    </a:p>
                  </a:txBody>
                  <a:tcPr marL="182880" marR="182880" marT="18288" marB="18288" anchor="ctr">
                    <a:solidFill>
                      <a:srgbClr val="00ABAB"/>
                    </a:solidFill>
                  </a:tcPr>
                </a:tc>
                <a:tc>
                  <a:txBody>
                    <a:bodyPr/>
                    <a:lstStyle/>
                    <a:p>
                      <a:pPr algn="l" fontAlgn="ctr"/>
                      <a:r>
                        <a:rPr lang="en-US" sz="1200" b="0" u="none" strike="noStrike" dirty="0">
                          <a:solidFill>
                            <a:srgbClr val="000000"/>
                          </a:solidFill>
                          <a:effectLst/>
                        </a:rPr>
                        <a:t>Baghlier</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450</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22.3</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100</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extLst>
                  <a:ext uri="{0D108BD9-81ED-4DB2-BD59-A6C34878D82A}">
                    <a16:rowId xmlns:a16="http://schemas.microsoft.com/office/drawing/2014/main" val="3747713433"/>
                  </a:ext>
                </a:extLst>
              </a:tr>
              <a:tr h="194736">
                <a:tc vMerge="1">
                  <a:txBody>
                    <a:bodyPr/>
                    <a:lstStyle/>
                    <a:p>
                      <a:endParaRPr lang="en-US"/>
                    </a:p>
                  </a:txBody>
                  <a:tcPr/>
                </a:tc>
                <a:tc>
                  <a:txBody>
                    <a:bodyPr/>
                    <a:lstStyle/>
                    <a:p>
                      <a:pPr algn="l" fontAlgn="ctr"/>
                      <a:r>
                        <a:rPr lang="en-US" sz="1200" b="0" u="none" strike="noStrike">
                          <a:solidFill>
                            <a:srgbClr val="000000"/>
                          </a:solidFill>
                          <a:effectLst/>
                        </a:rPr>
                        <a:t>Adhunik Power</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dirty="0">
                          <a:solidFill>
                            <a:srgbClr val="000000"/>
                          </a:solidFill>
                          <a:effectLst/>
                        </a:rPr>
                        <a:t>540</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100</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extLst>
                  <a:ext uri="{0D108BD9-81ED-4DB2-BD59-A6C34878D82A}">
                    <a16:rowId xmlns:a16="http://schemas.microsoft.com/office/drawing/2014/main" val="1326133689"/>
                  </a:ext>
                </a:extLst>
              </a:tr>
              <a:tr h="194736">
                <a:tc vMerge="1">
                  <a:txBody>
                    <a:bodyPr/>
                    <a:lstStyle/>
                    <a:p>
                      <a:endParaRPr lang="en-US"/>
                    </a:p>
                  </a:txBody>
                  <a:tcPr/>
                </a:tc>
                <a:tc>
                  <a:txBody>
                    <a:bodyPr/>
                    <a:lstStyle/>
                    <a:p>
                      <a:pPr algn="l" fontAlgn="ctr"/>
                      <a:r>
                        <a:rPr lang="en-US" sz="1200" b="0" u="none" strike="noStrike" dirty="0">
                          <a:solidFill>
                            <a:srgbClr val="000000"/>
                          </a:solidFill>
                          <a:effectLst/>
                        </a:rPr>
                        <a:t>MPL</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dirty="0">
                          <a:solidFill>
                            <a:srgbClr val="000000"/>
                          </a:solidFill>
                          <a:effectLst/>
                        </a:rPr>
                        <a:t>1050</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26.71</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283</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extLst>
                  <a:ext uri="{0D108BD9-81ED-4DB2-BD59-A6C34878D82A}">
                    <a16:rowId xmlns:a16="http://schemas.microsoft.com/office/drawing/2014/main" val="3393972225"/>
                  </a:ext>
                </a:extLst>
              </a:tr>
              <a:tr h="194736">
                <a:tc vMerge="1">
                  <a:txBody>
                    <a:bodyPr/>
                    <a:lstStyle/>
                    <a:p>
                      <a:endParaRPr lang="en-US"/>
                    </a:p>
                  </a:txBody>
                  <a:tcPr/>
                </a:tc>
                <a:tc>
                  <a:txBody>
                    <a:bodyPr/>
                    <a:lstStyle/>
                    <a:p>
                      <a:pPr algn="l" fontAlgn="ctr"/>
                      <a:r>
                        <a:rPr lang="en-US" sz="1200" b="0" u="none" strike="noStrike">
                          <a:solidFill>
                            <a:srgbClr val="000000"/>
                          </a:solidFill>
                          <a:effectLst/>
                        </a:rPr>
                        <a:t>DVC Raghunathpur</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dirty="0">
                          <a:solidFill>
                            <a:srgbClr val="000000"/>
                          </a:solidFill>
                          <a:effectLst/>
                        </a:rPr>
                        <a:t>1200</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17</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204</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extLst>
                  <a:ext uri="{0D108BD9-81ED-4DB2-BD59-A6C34878D82A}">
                    <a16:rowId xmlns:a16="http://schemas.microsoft.com/office/drawing/2014/main" val="133021978"/>
                  </a:ext>
                </a:extLst>
              </a:tr>
              <a:tr h="194736">
                <a:tc vMerge="1">
                  <a:txBody>
                    <a:bodyPr/>
                    <a:lstStyle/>
                    <a:p>
                      <a:endParaRPr lang="en-US"/>
                    </a:p>
                  </a:txBody>
                  <a:tcPr/>
                </a:tc>
                <a:tc>
                  <a:txBody>
                    <a:bodyPr/>
                    <a:lstStyle/>
                    <a:p>
                      <a:pPr algn="l" fontAlgn="ctr"/>
                      <a:r>
                        <a:rPr lang="en-US" sz="1200" b="0" u="none" strike="noStrike">
                          <a:solidFill>
                            <a:srgbClr val="000000"/>
                          </a:solidFill>
                          <a:effectLst/>
                        </a:rPr>
                        <a:t>Dagachhu</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dirty="0">
                          <a:solidFill>
                            <a:srgbClr val="000000"/>
                          </a:solidFill>
                          <a:effectLst/>
                        </a:rPr>
                        <a:t> </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126</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extLst>
                  <a:ext uri="{0D108BD9-81ED-4DB2-BD59-A6C34878D82A}">
                    <a16:rowId xmlns:a16="http://schemas.microsoft.com/office/drawing/2014/main" val="1302201294"/>
                  </a:ext>
                </a:extLst>
              </a:tr>
              <a:tr h="194736">
                <a:tc vMerge="1">
                  <a:txBody>
                    <a:bodyPr/>
                    <a:lstStyle/>
                    <a:p>
                      <a:endParaRPr lang="en-US"/>
                    </a:p>
                  </a:txBody>
                  <a:tcPr/>
                </a:tc>
                <a:tc>
                  <a:txBody>
                    <a:bodyPr/>
                    <a:lstStyle/>
                    <a:p>
                      <a:pPr algn="l" fontAlgn="ctr"/>
                      <a:r>
                        <a:rPr lang="en-US" sz="1200" b="0" u="none" strike="noStrike">
                          <a:solidFill>
                            <a:srgbClr val="000000"/>
                          </a:solidFill>
                          <a:effectLst/>
                        </a:rPr>
                        <a:t>GoHP</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dirty="0">
                          <a:solidFill>
                            <a:srgbClr val="000000"/>
                          </a:solidFill>
                          <a:effectLst/>
                        </a:rPr>
                        <a:t> </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235</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extLst>
                  <a:ext uri="{0D108BD9-81ED-4DB2-BD59-A6C34878D82A}">
                    <a16:rowId xmlns:a16="http://schemas.microsoft.com/office/drawing/2014/main" val="232546532"/>
                  </a:ext>
                </a:extLst>
              </a:tr>
              <a:tr h="194736">
                <a:tc vMerge="1">
                  <a:txBody>
                    <a:bodyPr/>
                    <a:lstStyle/>
                    <a:p>
                      <a:endParaRPr lang="en-US"/>
                    </a:p>
                  </a:txBody>
                  <a:tcPr/>
                </a:tc>
                <a:tc>
                  <a:txBody>
                    <a:bodyPr/>
                    <a:lstStyle/>
                    <a:p>
                      <a:pPr algn="l" fontAlgn="ctr"/>
                      <a:r>
                        <a:rPr lang="en-US" sz="1200" b="0" u="none" strike="noStrike">
                          <a:solidFill>
                            <a:srgbClr val="000000"/>
                          </a:solidFill>
                          <a:effectLst/>
                        </a:rPr>
                        <a:t>Stressed Asset</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200</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extLst>
                  <a:ext uri="{0D108BD9-81ED-4DB2-BD59-A6C34878D82A}">
                    <a16:rowId xmlns:a16="http://schemas.microsoft.com/office/drawing/2014/main" val="307395777"/>
                  </a:ext>
                </a:extLst>
              </a:tr>
              <a:tr h="194736">
                <a:tc vMerge="1">
                  <a:txBody>
                    <a:bodyPr/>
                    <a:lstStyle/>
                    <a:p>
                      <a:endParaRPr lang="en-US"/>
                    </a:p>
                  </a:txBody>
                  <a:tcPr/>
                </a:tc>
                <a:tc>
                  <a:txBody>
                    <a:bodyPr/>
                    <a:lstStyle/>
                    <a:p>
                      <a:pPr algn="l" fontAlgn="ctr"/>
                      <a:r>
                        <a:rPr lang="en-US" sz="1200" b="0" u="none" strike="noStrike">
                          <a:solidFill>
                            <a:srgbClr val="000000"/>
                          </a:solidFill>
                          <a:effectLst/>
                        </a:rPr>
                        <a:t>SIPL Solar</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5</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dirty="0">
                          <a:solidFill>
                            <a:srgbClr val="000000"/>
                          </a:solidFill>
                          <a:effectLst/>
                        </a:rPr>
                        <a:t>100</a:t>
                      </a:r>
                      <a:endParaRPr lang="en-US" sz="1200" b="0" i="0" u="none" strike="noStrike" dirty="0">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0" u="none" strike="noStrike">
                          <a:solidFill>
                            <a:srgbClr val="000000"/>
                          </a:solidFill>
                          <a:effectLst/>
                        </a:rPr>
                        <a:t>5</a:t>
                      </a:r>
                      <a:endParaRPr lang="en-US" sz="1200" b="0" i="0" u="none" strike="noStrike">
                        <a:solidFill>
                          <a:srgbClr val="000000"/>
                        </a:solidFill>
                        <a:effectLst/>
                        <a:latin typeface="+mn-lt"/>
                      </a:endParaRPr>
                    </a:p>
                  </a:txBody>
                  <a:tcPr marL="182880" marR="182880" marT="18288" marB="18288" anchor="ctr">
                    <a:solidFill>
                      <a:srgbClr val="00ABAB">
                        <a:alpha val="15000"/>
                      </a:srgbClr>
                    </a:solidFill>
                  </a:tcPr>
                </a:tc>
                <a:extLst>
                  <a:ext uri="{0D108BD9-81ED-4DB2-BD59-A6C34878D82A}">
                    <a16:rowId xmlns:a16="http://schemas.microsoft.com/office/drawing/2014/main" val="3701338160"/>
                  </a:ext>
                </a:extLst>
              </a:tr>
              <a:tr h="194736">
                <a:tc vMerge="1">
                  <a:txBody>
                    <a:bodyPr/>
                    <a:lstStyle/>
                    <a:p>
                      <a:endParaRPr lang="en-US"/>
                    </a:p>
                  </a:txBody>
                  <a:tcPr/>
                </a:tc>
                <a:tc>
                  <a:txBody>
                    <a:bodyPr/>
                    <a:lstStyle/>
                    <a:p>
                      <a:pPr algn="l" fontAlgn="ctr"/>
                      <a:r>
                        <a:rPr lang="en-US" sz="1200" b="1" u="none" strike="noStrike">
                          <a:solidFill>
                            <a:srgbClr val="000000"/>
                          </a:solidFill>
                          <a:effectLst/>
                        </a:rPr>
                        <a:t>Total</a:t>
                      </a:r>
                      <a:endParaRPr lang="en-US" sz="1200" b="1" i="0" u="none" strike="noStrike">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1" u="none" strike="noStrike" dirty="0">
                          <a:solidFill>
                            <a:srgbClr val="000000"/>
                          </a:solidFill>
                          <a:effectLst/>
                        </a:rPr>
                        <a:t> </a:t>
                      </a:r>
                      <a:endParaRPr lang="en-US" sz="1200" b="1" i="0" u="none" strike="noStrike" dirty="0">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1" u="none" strike="noStrike" dirty="0">
                          <a:solidFill>
                            <a:srgbClr val="000000"/>
                          </a:solidFill>
                          <a:effectLst/>
                        </a:rPr>
                        <a:t> </a:t>
                      </a:r>
                      <a:endParaRPr lang="en-US" sz="1200" b="1" i="0" u="none" strike="noStrike" dirty="0">
                        <a:solidFill>
                          <a:srgbClr val="000000"/>
                        </a:solidFill>
                        <a:effectLst/>
                        <a:latin typeface="+mn-lt"/>
                      </a:endParaRPr>
                    </a:p>
                  </a:txBody>
                  <a:tcPr marL="182880" marR="182880" marT="18288" marB="18288" anchor="ctr">
                    <a:solidFill>
                      <a:srgbClr val="00ABAB">
                        <a:alpha val="15000"/>
                      </a:srgbClr>
                    </a:solidFill>
                  </a:tcPr>
                </a:tc>
                <a:tc>
                  <a:txBody>
                    <a:bodyPr/>
                    <a:lstStyle/>
                    <a:p>
                      <a:pPr algn="ctr" fontAlgn="ctr"/>
                      <a:r>
                        <a:rPr lang="en-US" sz="1200" b="1" u="none" strike="noStrike" dirty="0">
                          <a:solidFill>
                            <a:srgbClr val="000000"/>
                          </a:solidFill>
                          <a:effectLst/>
                        </a:rPr>
                        <a:t>1253</a:t>
                      </a:r>
                      <a:endParaRPr lang="en-US" sz="1200" b="1" i="0" u="none" strike="noStrike" dirty="0">
                        <a:solidFill>
                          <a:srgbClr val="000000"/>
                        </a:solidFill>
                        <a:effectLst/>
                        <a:latin typeface="+mn-lt"/>
                      </a:endParaRPr>
                    </a:p>
                  </a:txBody>
                  <a:tcPr marL="182880" marR="182880" marT="18288" marB="18288" anchor="ctr">
                    <a:solidFill>
                      <a:srgbClr val="00ABAB">
                        <a:alpha val="15000"/>
                      </a:srgbClr>
                    </a:solidFill>
                  </a:tcPr>
                </a:tc>
                <a:extLst>
                  <a:ext uri="{0D108BD9-81ED-4DB2-BD59-A6C34878D82A}">
                    <a16:rowId xmlns:a16="http://schemas.microsoft.com/office/drawing/2014/main" val="4228610400"/>
                  </a:ext>
                </a:extLst>
              </a:tr>
            </a:tbl>
          </a:graphicData>
        </a:graphic>
      </p:graphicFrame>
      <p:sp>
        <p:nvSpPr>
          <p:cNvPr id="6" name="TextBox 5">
            <a:extLst>
              <a:ext uri="{FF2B5EF4-FFF2-40B4-BE49-F238E27FC236}">
                <a16:creationId xmlns:a16="http://schemas.microsoft.com/office/drawing/2014/main" id="{96BBB260-327C-44E4-A9D8-43E3E174FC68}"/>
              </a:ext>
            </a:extLst>
          </p:cNvPr>
          <p:cNvSpPr txBox="1"/>
          <p:nvPr/>
        </p:nvSpPr>
        <p:spPr>
          <a:xfrm>
            <a:off x="469898" y="6425805"/>
            <a:ext cx="11079845" cy="184666"/>
          </a:xfrm>
          <a:prstGeom prst="rect">
            <a:avLst/>
          </a:prstGeom>
          <a:solidFill>
            <a:schemeClr val="tx2">
              <a:lumMod val="20000"/>
              <a:lumOff val="80000"/>
            </a:schemeClr>
          </a:solidFill>
        </p:spPr>
        <p:txBody>
          <a:bodyPr wrap="square" lIns="0" tIns="0" rIns="0" bIns="0" rtlCol="0">
            <a:spAutoFit/>
          </a:bodyPr>
          <a:lstStyle/>
          <a:p>
            <a:pPr marL="171450" indent="-171450">
              <a:spcBef>
                <a:spcPts val="600"/>
              </a:spcBef>
              <a:buSzPct val="100000"/>
              <a:buFont typeface="Wingdings" panose="05000000000000000000" pitchFamily="2" charset="2"/>
              <a:buChar char="q"/>
            </a:pPr>
            <a:r>
              <a:rPr lang="en-US" sz="1200" dirty="0"/>
              <a:t> Share of Intra State IPP and From Outside Merchant Capacity for WBSEDCL </a:t>
            </a:r>
          </a:p>
        </p:txBody>
      </p:sp>
    </p:spTree>
    <p:extLst>
      <p:ext uri="{BB962C8B-B14F-4D97-AF65-F5344CB8AC3E}">
        <p14:creationId xmlns:p14="http://schemas.microsoft.com/office/powerpoint/2010/main" val="3459974139"/>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925438-C85E-46E7-ADA2-736B167E5A85}"/>
              </a:ext>
            </a:extLst>
          </p:cNvPr>
          <p:cNvSpPr>
            <a:spLocks noGrp="1"/>
          </p:cNvSpPr>
          <p:nvPr>
            <p:ph type="title"/>
          </p:nvPr>
        </p:nvSpPr>
        <p:spPr>
          <a:xfrm>
            <a:off x="501652" y="442644"/>
            <a:ext cx="11280446" cy="482266"/>
          </a:xfrm>
        </p:spPr>
        <p:txBody>
          <a:bodyPr anchor="t">
            <a:noAutofit/>
          </a:bodyPr>
          <a:lstStyle/>
          <a:p>
            <a:pPr>
              <a:lnSpc>
                <a:spcPct val="90000"/>
              </a:lnSpc>
            </a:pPr>
            <a:r>
              <a:rPr lang="en-US" sz="1800" b="1" dirty="0">
                <a:latin typeface="Verdana" panose="020B0604030504040204" pitchFamily="34" charset="0"/>
                <a:ea typeface="Verdana" panose="020B0604030504040204" pitchFamily="34" charset="0"/>
              </a:rPr>
              <a:t>Window of Opportunity for exiting High Cost PPA for WBSEDCL ( Rates are as per Issued Tariff Order of WBERC Pertaining to FY 2020-21) </a:t>
            </a:r>
          </a:p>
        </p:txBody>
      </p:sp>
      <p:graphicFrame>
        <p:nvGraphicFramePr>
          <p:cNvPr id="5" name="Chart 4">
            <a:extLst>
              <a:ext uri="{FF2B5EF4-FFF2-40B4-BE49-F238E27FC236}">
                <a16:creationId xmlns:a16="http://schemas.microsoft.com/office/drawing/2014/main" id="{02710186-9B08-4CAE-B194-CD1AF81950EF}"/>
              </a:ext>
            </a:extLst>
          </p:cNvPr>
          <p:cNvGraphicFramePr/>
          <p:nvPr/>
        </p:nvGraphicFramePr>
        <p:xfrm>
          <a:off x="310055" y="1229710"/>
          <a:ext cx="11571889" cy="3742702"/>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639C4AE1-5B19-406E-A596-3EFFEB167BBD}"/>
              </a:ext>
            </a:extLst>
          </p:cNvPr>
          <p:cNvSpPr txBox="1"/>
          <p:nvPr/>
        </p:nvSpPr>
        <p:spPr>
          <a:xfrm>
            <a:off x="501652" y="4972412"/>
            <a:ext cx="11750845" cy="1523494"/>
          </a:xfrm>
          <a:prstGeom prst="rect">
            <a:avLst/>
          </a:prstGeom>
          <a:noFill/>
        </p:spPr>
        <p:txBody>
          <a:bodyPr wrap="square" lIns="91440" tIns="91440" rIns="91440" bIns="91440" rtlCol="0">
            <a:spAutoFit/>
          </a:bodyPr>
          <a:lstStyle/>
          <a:p>
            <a:pPr>
              <a:spcBef>
                <a:spcPts val="600"/>
              </a:spcBef>
              <a:buSzPct val="100000"/>
            </a:pPr>
            <a:r>
              <a:rPr lang="en-US" sz="1200" b="1" i="1" dirty="0">
                <a:solidFill>
                  <a:srgbClr val="313131"/>
                </a:solidFill>
                <a:latin typeface="Verdana" panose="020B0604030504040204" pitchFamily="34" charset="0"/>
                <a:ea typeface="Verdana" panose="020B0604030504040204" pitchFamily="34" charset="0"/>
                <a:cs typeface="Calibri" panose="020F0502020204030204" pitchFamily="34" charset="0"/>
              </a:rPr>
              <a:t>The above analysis is in line with the MOP notification (</a:t>
            </a:r>
            <a:r>
              <a:rPr lang="en-US" sz="1200" b="1" i="1" dirty="0" err="1">
                <a:solidFill>
                  <a:srgbClr val="313131"/>
                </a:solidFill>
                <a:latin typeface="Verdana" panose="020B0604030504040204" pitchFamily="34" charset="0"/>
                <a:ea typeface="Verdana" panose="020B0604030504040204" pitchFamily="34" charset="0"/>
                <a:cs typeface="Calibri" panose="020F0502020204030204" pitchFamily="34" charset="0"/>
              </a:rPr>
              <a:t>F.No</a:t>
            </a:r>
            <a:r>
              <a:rPr lang="en-US" sz="1200" b="1" i="1" dirty="0">
                <a:solidFill>
                  <a:srgbClr val="313131"/>
                </a:solidFill>
                <a:latin typeface="Verdana" panose="020B0604030504040204" pitchFamily="34" charset="0"/>
                <a:ea typeface="Verdana" panose="020B0604030504040204" pitchFamily="34" charset="0"/>
                <a:cs typeface="Calibri" panose="020F0502020204030204" pitchFamily="34" charset="0"/>
              </a:rPr>
              <a:t>. 09/11/2021-RCM ) dated 26</a:t>
            </a:r>
            <a:r>
              <a:rPr lang="en-US" sz="1200" b="1" i="1" baseline="30000" dirty="0">
                <a:solidFill>
                  <a:srgbClr val="313131"/>
                </a:solidFill>
                <a:latin typeface="Verdana" panose="020B0604030504040204" pitchFamily="34" charset="0"/>
                <a:ea typeface="Verdana" panose="020B0604030504040204" pitchFamily="34" charset="0"/>
                <a:cs typeface="Calibri" panose="020F0502020204030204" pitchFamily="34" charset="0"/>
              </a:rPr>
              <a:t>th</a:t>
            </a:r>
            <a:r>
              <a:rPr lang="en-US" sz="1200" b="1" i="1" dirty="0">
                <a:solidFill>
                  <a:srgbClr val="313131"/>
                </a:solidFill>
                <a:latin typeface="Verdana" panose="020B0604030504040204" pitchFamily="34" charset="0"/>
                <a:ea typeface="Verdana" panose="020B0604030504040204" pitchFamily="34" charset="0"/>
                <a:cs typeface="Calibri" panose="020F0502020204030204" pitchFamily="34" charset="0"/>
              </a:rPr>
              <a:t> May 2022</a:t>
            </a:r>
            <a:r>
              <a:rPr lang="en-US" sz="1200" i="1" dirty="0">
                <a:solidFill>
                  <a:srgbClr val="313131"/>
                </a:solidFill>
                <a:latin typeface="Verdana" panose="020B0604030504040204" pitchFamily="34" charset="0"/>
                <a:ea typeface="Verdana" panose="020B0604030504040204" pitchFamily="34" charset="0"/>
                <a:cs typeface="Calibri" panose="020F0502020204030204" pitchFamily="34" charset="0"/>
              </a:rPr>
              <a:t> as highlighted below: </a:t>
            </a:r>
          </a:p>
          <a:p>
            <a:pPr marL="628650" lvl="1" indent="-171450">
              <a:spcBef>
                <a:spcPts val="600"/>
              </a:spcBef>
              <a:buSzPct val="100000"/>
              <a:buFont typeface="Arial" panose="020B0604020202020204" pitchFamily="34" charset="0"/>
              <a:buChar char="•"/>
            </a:pPr>
            <a:r>
              <a:rPr lang="en-US" sz="1200" i="1" dirty="0">
                <a:solidFill>
                  <a:srgbClr val="313131"/>
                </a:solidFill>
                <a:latin typeface="Verdana" panose="020B0604030504040204" pitchFamily="34" charset="0"/>
                <a:ea typeface="Verdana" panose="020B0604030504040204" pitchFamily="34" charset="0"/>
                <a:cs typeface="Calibri" panose="020F0502020204030204" pitchFamily="34" charset="0"/>
              </a:rPr>
              <a:t>Around 58 BUs of thermal power generated by the public, state, and private sector generating stations can be substituted by 30 GW of renewable energy by the FY 26 </a:t>
            </a:r>
          </a:p>
          <a:p>
            <a:pPr marL="628650" lvl="1" indent="-171450">
              <a:spcBef>
                <a:spcPts val="600"/>
              </a:spcBef>
              <a:buSzPct val="100000"/>
              <a:buFont typeface="Arial" panose="020B0604020202020204" pitchFamily="34" charset="0"/>
              <a:buChar char="•"/>
            </a:pPr>
            <a:r>
              <a:rPr lang="en-US" sz="1200" b="0" i="1" dirty="0" err="1">
                <a:solidFill>
                  <a:srgbClr val="2D2D42"/>
                </a:solidFill>
                <a:effectLst/>
                <a:latin typeface="Verdana" panose="020B0604030504040204" pitchFamily="34" charset="0"/>
                <a:ea typeface="Verdana" panose="020B0604030504040204" pitchFamily="34" charset="0"/>
              </a:rPr>
              <a:t>MoP</a:t>
            </a:r>
            <a:r>
              <a:rPr lang="en-US" sz="1200" b="0" i="1" dirty="0">
                <a:solidFill>
                  <a:srgbClr val="2D2D42"/>
                </a:solidFill>
                <a:effectLst/>
                <a:latin typeface="Verdana" panose="020B0604030504040204" pitchFamily="34" charset="0"/>
                <a:ea typeface="Verdana" panose="020B0604030504040204" pitchFamily="34" charset="0"/>
              </a:rPr>
              <a:t> has identified 81 TPS(s) in the central, state, and private sectors to replace coal with renewable power by 2026</a:t>
            </a:r>
            <a:endParaRPr lang="en-US" sz="1200" b="1" i="1" dirty="0">
              <a:solidFill>
                <a:srgbClr val="313131"/>
              </a:solidFill>
              <a:effectLst/>
              <a:latin typeface="Verdana" panose="020B0604030504040204" pitchFamily="34" charset="0"/>
              <a:ea typeface="Verdana" panose="020B0604030504040204" pitchFamily="34" charset="0"/>
              <a:cs typeface="Calibri" panose="020F0502020204030204" pitchFamily="34" charset="0"/>
            </a:endParaRPr>
          </a:p>
          <a:p>
            <a:pPr marL="628650" lvl="1" indent="-171450">
              <a:spcBef>
                <a:spcPts val="600"/>
              </a:spcBef>
              <a:buSzPct val="100000"/>
              <a:buFont typeface="Arial" panose="020B0604020202020204" pitchFamily="34" charset="0"/>
              <a:buChar char="•"/>
            </a:pPr>
            <a:r>
              <a:rPr lang="en-US" sz="1200" b="0" i="1" dirty="0">
                <a:solidFill>
                  <a:srgbClr val="2D2D42"/>
                </a:solidFill>
                <a:effectLst/>
                <a:latin typeface="Verdana" panose="020B0604030504040204" pitchFamily="34" charset="0"/>
                <a:ea typeface="Verdana" panose="020B0604030504040204" pitchFamily="34" charset="0"/>
              </a:rPr>
              <a:t>Generating stations that have installed or procured a higher capacity of power for the purpose of replacement but not scheduled are free to sell such power in the exchanges</a:t>
            </a:r>
            <a:endParaRPr lang="en-US" sz="1200" b="1" i="1" dirty="0">
              <a:solidFill>
                <a:srgbClr val="313131"/>
              </a:solidFill>
              <a:latin typeface="Verdana" panose="020B0604030504040204" pitchFamily="34" charset="0"/>
              <a:ea typeface="Verdana" panose="020B0604030504040204" pitchFamily="34" charset="0"/>
              <a:cs typeface="Calibri" panose="020F0502020204030204" pitchFamily="34" charset="0"/>
            </a:endParaRPr>
          </a:p>
        </p:txBody>
      </p:sp>
    </p:spTree>
    <p:extLst>
      <p:ext uri="{BB962C8B-B14F-4D97-AF65-F5344CB8AC3E}">
        <p14:creationId xmlns:p14="http://schemas.microsoft.com/office/powerpoint/2010/main" val="1226230349"/>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43BA06F7-B1A9-4FDA-AFC2-0D0B24735BEA}"/>
              </a:ext>
            </a:extLst>
          </p:cNvPr>
          <p:cNvSpPr>
            <a:spLocks noGrp="1"/>
          </p:cNvSpPr>
          <p:nvPr>
            <p:ph type="title"/>
          </p:nvPr>
        </p:nvSpPr>
        <p:spPr>
          <a:xfrm>
            <a:off x="501651" y="368601"/>
            <a:ext cx="11188700" cy="368299"/>
          </a:xfrm>
        </p:spPr>
        <p:txBody>
          <a:bodyPr vert="horz"/>
          <a:lstStyle/>
          <a:p>
            <a:pPr algn="just"/>
            <a:r>
              <a:rPr lang="en-US" sz="1800" b="1" dirty="0">
                <a:latin typeface="Verdana" panose="020B0604030504040204" pitchFamily="34" charset="0"/>
                <a:ea typeface="Verdana" panose="020B0604030504040204" pitchFamily="34" charset="0"/>
              </a:rPr>
              <a:t>Power Purchase Portfolio Management needs a Focused Optimization and Real Time Management based on Tariff Order for FY 2020-21 of 7</a:t>
            </a:r>
            <a:r>
              <a:rPr lang="en-US" sz="1800" b="1" baseline="30000" dirty="0">
                <a:latin typeface="Verdana" panose="020B0604030504040204" pitchFamily="34" charset="0"/>
                <a:ea typeface="Verdana" panose="020B0604030504040204" pitchFamily="34" charset="0"/>
              </a:rPr>
              <a:t>th</a:t>
            </a:r>
            <a:r>
              <a:rPr lang="en-US" sz="1800" b="1" dirty="0">
                <a:latin typeface="Verdana" panose="020B0604030504040204" pitchFamily="34" charset="0"/>
                <a:ea typeface="Verdana" panose="020B0604030504040204" pitchFamily="34" charset="0"/>
              </a:rPr>
              <a:t> Control Period for WBSEDCL</a:t>
            </a:r>
            <a:endParaRPr lang="en-US" sz="1800" b="1" i="0" dirty="0">
              <a:solidFill>
                <a:schemeClr val="tx1"/>
              </a:solidFill>
              <a:latin typeface="Verdana" panose="020B0604030504040204" pitchFamily="34" charset="0"/>
              <a:ea typeface="Verdana" panose="020B0604030504040204" pitchFamily="34" charset="0"/>
            </a:endParaRPr>
          </a:p>
        </p:txBody>
      </p:sp>
      <p:cxnSp>
        <p:nvCxnSpPr>
          <p:cNvPr id="7" name="Straight Arrow Connector 6">
            <a:extLst>
              <a:ext uri="{FF2B5EF4-FFF2-40B4-BE49-F238E27FC236}">
                <a16:creationId xmlns:a16="http://schemas.microsoft.com/office/drawing/2014/main" id="{F4042F5F-C129-4513-AC39-698AC173C0FD}"/>
              </a:ext>
            </a:extLst>
          </p:cNvPr>
          <p:cNvCxnSpPr>
            <a:cxnSpLocks/>
          </p:cNvCxnSpPr>
          <p:nvPr/>
        </p:nvCxnSpPr>
        <p:spPr>
          <a:xfrm>
            <a:off x="5765134" y="4886553"/>
            <a:ext cx="596420" cy="5489"/>
          </a:xfrm>
          <a:prstGeom prst="straightConnector1">
            <a:avLst/>
          </a:prstGeom>
          <a:ln w="57150">
            <a:tailEnd type="triangle"/>
          </a:ln>
        </p:spPr>
        <p:style>
          <a:lnRef idx="3">
            <a:schemeClr val="accent6"/>
          </a:lnRef>
          <a:fillRef idx="0">
            <a:schemeClr val="accent6"/>
          </a:fillRef>
          <a:effectRef idx="2">
            <a:schemeClr val="accent6"/>
          </a:effectRef>
          <a:fontRef idx="minor">
            <a:schemeClr val="tx1"/>
          </a:fontRef>
        </p:style>
      </p:cxnSp>
      <p:cxnSp>
        <p:nvCxnSpPr>
          <p:cNvPr id="8" name="Straight Connector 7">
            <a:extLst>
              <a:ext uri="{FF2B5EF4-FFF2-40B4-BE49-F238E27FC236}">
                <a16:creationId xmlns:a16="http://schemas.microsoft.com/office/drawing/2014/main" id="{0D6352B8-5F91-4EF6-94E2-F464B9B86842}"/>
              </a:ext>
            </a:extLst>
          </p:cNvPr>
          <p:cNvCxnSpPr>
            <a:cxnSpLocks/>
          </p:cNvCxnSpPr>
          <p:nvPr/>
        </p:nvCxnSpPr>
        <p:spPr>
          <a:xfrm>
            <a:off x="483482" y="3423695"/>
            <a:ext cx="5115377"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CC98741-CB0E-4EE0-9846-598ADEA748E8}"/>
              </a:ext>
            </a:extLst>
          </p:cNvPr>
          <p:cNvCxnSpPr>
            <a:cxnSpLocks/>
          </p:cNvCxnSpPr>
          <p:nvPr/>
        </p:nvCxnSpPr>
        <p:spPr>
          <a:xfrm>
            <a:off x="6375347" y="3239197"/>
            <a:ext cx="550457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E2B032D-5279-47D4-9AD0-653FCC4839AF}"/>
              </a:ext>
            </a:extLst>
          </p:cNvPr>
          <p:cNvSpPr/>
          <p:nvPr/>
        </p:nvSpPr>
        <p:spPr bwMode="gray">
          <a:xfrm>
            <a:off x="1538449" y="3106479"/>
            <a:ext cx="9115102" cy="424616"/>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marL="0" marR="0" lvl="0" indent="0" algn="ctr" defTabSz="914342"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pitchFamily="34" charset="0"/>
                <a:ea typeface="Verdana" panose="020B0604030504040204" pitchFamily="34" charset="0"/>
                <a:cs typeface="Calibri" panose="020F0502020204030204" pitchFamily="34" charset="0"/>
              </a:rPr>
              <a:t>Simulated Estimation of savings by optimizing the Purchase Portfolio – DVC, Farakka U#1&amp;2 &amp; Kolaghat  procurement entirely replaced with low-cost power purchases cost ( Avoidance calculated on total Cost basis )</a:t>
            </a:r>
          </a:p>
        </p:txBody>
      </p:sp>
      <p:sp>
        <p:nvSpPr>
          <p:cNvPr id="11" name="TextBox 10">
            <a:extLst>
              <a:ext uri="{FF2B5EF4-FFF2-40B4-BE49-F238E27FC236}">
                <a16:creationId xmlns:a16="http://schemas.microsoft.com/office/drawing/2014/main" id="{B83C5E4F-6D8B-4261-8EAC-F65A0D03380A}"/>
              </a:ext>
            </a:extLst>
          </p:cNvPr>
          <p:cNvSpPr txBox="1"/>
          <p:nvPr/>
        </p:nvSpPr>
        <p:spPr>
          <a:xfrm>
            <a:off x="501652" y="1024808"/>
            <a:ext cx="3090634" cy="2000548"/>
          </a:xfrm>
          <a:prstGeom prst="rect">
            <a:avLst/>
          </a:prstGeom>
        </p:spPr>
        <p:style>
          <a:lnRef idx="2">
            <a:schemeClr val="accent1"/>
          </a:lnRef>
          <a:fillRef idx="1">
            <a:schemeClr val="lt1"/>
          </a:fillRef>
          <a:effectRef idx="0">
            <a:schemeClr val="accent1"/>
          </a:effectRef>
          <a:fontRef idx="minor">
            <a:schemeClr val="dk1"/>
          </a:fontRef>
        </p:style>
        <p:txBody>
          <a:bodyPr wrap="square" lIns="91440" tIns="91440" rIns="91440" bIns="91440" rtlCol="0">
            <a:spAutoFit/>
          </a:bodyPr>
          <a:lstStyle/>
          <a:p>
            <a:pPr marL="171450" marR="0" lvl="0" indent="-171450" algn="just" defTabSz="914400" rtl="0" eaLnBrk="1" fontAlgn="auto" latinLnBrk="0" hangingPunct="1">
              <a:spcBef>
                <a:spcPts val="60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Retirement/revision of PPAs with higher cost incidence. </a:t>
            </a:r>
          </a:p>
          <a:p>
            <a:pPr marL="171450" marR="0" lvl="0" indent="-171450" algn="just" defTabSz="914400" rtl="0" eaLnBrk="1" fontAlgn="auto" latinLnBrk="0" hangingPunct="1">
              <a:spcBef>
                <a:spcPts val="60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Renewable Portfolio addition will progressively reduce power purchase cost burden  (500 MW Solar Plant @ 25% </a:t>
            </a:r>
            <a:r>
              <a:rPr lang="en-US" sz="1400" dirty="0">
                <a:solidFill>
                  <a:prstClr val="black"/>
                </a:solidFill>
                <a:latin typeface="Calibri"/>
              </a:rPr>
              <a:t>CUF</a:t>
            </a:r>
            <a:r>
              <a:rPr kumimoji="0" lang="en-US" sz="1400" b="0" i="0" u="none" strike="noStrike" kern="1200" cap="none" spc="0" normalizeH="0" baseline="0" noProof="0" dirty="0">
                <a:ln>
                  <a:noFill/>
                </a:ln>
                <a:solidFill>
                  <a:prstClr val="black"/>
                </a:solidFill>
                <a:effectLst/>
                <a:uLnTx/>
                <a:uFillTx/>
                <a:latin typeface="Calibri"/>
                <a:ea typeface="+mn-ea"/>
                <a:cs typeface="+mn-cs"/>
              </a:rPr>
              <a:t> will enable avoiding energy charges payment by ~ Rs. 50 Crores </a:t>
            </a:r>
            <a:r>
              <a:rPr kumimoji="0" lang="en-US" sz="1500" b="0" i="0" u="none" strike="noStrike" kern="1200" cap="none" spc="0" normalizeH="0" baseline="0" noProof="0" dirty="0">
                <a:ln>
                  <a:noFill/>
                </a:ln>
                <a:solidFill>
                  <a:prstClr val="black"/>
                </a:solidFill>
                <a:effectLst/>
                <a:uLnTx/>
                <a:uFillTx/>
                <a:latin typeface="Calibri"/>
                <a:ea typeface="+mn-ea"/>
                <a:cs typeface="+mn-cs"/>
              </a:rPr>
              <a:t>annually</a:t>
            </a:r>
          </a:p>
        </p:txBody>
      </p:sp>
      <p:sp>
        <p:nvSpPr>
          <p:cNvPr id="12" name="Rectangle 11">
            <a:extLst>
              <a:ext uri="{FF2B5EF4-FFF2-40B4-BE49-F238E27FC236}">
                <a16:creationId xmlns:a16="http://schemas.microsoft.com/office/drawing/2014/main" id="{2BCDA0A0-BF94-41A8-9E48-84C3A6A72052}"/>
              </a:ext>
            </a:extLst>
          </p:cNvPr>
          <p:cNvSpPr/>
          <p:nvPr/>
        </p:nvSpPr>
        <p:spPr bwMode="gray">
          <a:xfrm>
            <a:off x="483482" y="6315476"/>
            <a:ext cx="11396435" cy="229410"/>
          </a:xfrm>
          <a:prstGeom prst="rect">
            <a:avLst/>
          </a:prstGeom>
          <a:solidFill>
            <a:schemeClr val="accent5">
              <a:lumMod val="20000"/>
              <a:lumOff val="80000"/>
            </a:schemeClr>
          </a:solidFill>
          <a:ln>
            <a:solidFill>
              <a:schemeClr val="tx1"/>
            </a:solidFill>
            <a:prstDash val="dash"/>
          </a:ln>
        </p:spPr>
        <p:txBody>
          <a:bodyPr wrap="square" lIns="72000" tIns="72000" rIns="72000" bIns="72000" rtlCol="0" anchor="ctr" anchorCtr="0">
            <a:noAutofit/>
          </a:bodyPr>
          <a:lstStyle/>
          <a:p>
            <a:pPr marR="0" lvl="0" algn="ctr" defTabSz="914342" rtl="0" eaLnBrk="1" fontAlgn="auto" latinLnBrk="0" hangingPunct="1">
              <a:lnSpc>
                <a:spcPct val="100000"/>
              </a:lnSpc>
              <a:spcBef>
                <a:spcPts val="0"/>
              </a:spcBef>
              <a:spcAft>
                <a:spcPts val="0"/>
              </a:spcAft>
              <a:buClrTx/>
              <a:buSzTx/>
              <a:tabLst/>
              <a:defRPr/>
            </a:pPr>
            <a:r>
              <a:rPr kumimoji="0" lang="en-US" sz="1200" b="0" i="1" u="none" strike="noStrike" kern="1200" cap="none" spc="0" normalizeH="0" baseline="0" noProof="0" dirty="0">
                <a:ln>
                  <a:noFill/>
                </a:ln>
                <a:solidFill>
                  <a:prstClr val="black"/>
                </a:solidFill>
                <a:effectLst/>
                <a:uLnTx/>
                <a:uFillTx/>
                <a:latin typeface="Calibri" panose="020F0502020204030204" pitchFamily="34" charset="0"/>
                <a:ea typeface="Verdana" panose="020B0604030504040204" pitchFamily="34" charset="0"/>
                <a:cs typeface="Calibri" panose="020F0502020204030204" pitchFamily="34" charset="0"/>
              </a:rPr>
              <a:t>As it seems from the above, if we consider the cheaper power source at its normative utilization factor, the net savings in power purchase cost is ~</a:t>
            </a:r>
            <a:r>
              <a:rPr lang="en-US" sz="1200" i="1" dirty="0">
                <a:solidFill>
                  <a:prstClr val="black"/>
                </a:solidFill>
                <a:latin typeface="Calibri" panose="020F0502020204030204" pitchFamily="34" charset="0"/>
                <a:ea typeface="Verdana" panose="020B0604030504040204" pitchFamily="34" charset="0"/>
                <a:cs typeface="Calibri" panose="020F0502020204030204" pitchFamily="34" charset="0"/>
              </a:rPr>
              <a:t>150</a:t>
            </a:r>
            <a:r>
              <a:rPr kumimoji="0" lang="en-US" sz="1200" b="0" i="1" u="none" strike="noStrike" kern="1200" cap="none" spc="0" normalizeH="0" baseline="0" noProof="0" dirty="0">
                <a:ln>
                  <a:noFill/>
                </a:ln>
                <a:solidFill>
                  <a:prstClr val="black"/>
                </a:solidFill>
                <a:effectLst/>
                <a:uLnTx/>
                <a:uFillTx/>
                <a:latin typeface="Calibri" panose="020F0502020204030204" pitchFamily="34" charset="0"/>
                <a:ea typeface="Verdana" panose="020B0604030504040204" pitchFamily="34" charset="0"/>
                <a:cs typeface="Calibri" panose="020F0502020204030204" pitchFamily="34" charset="0"/>
              </a:rPr>
              <a:t> Crore (</a:t>
            </a:r>
            <a:r>
              <a:rPr lang="en-US" sz="1200" i="1" dirty="0">
                <a:solidFill>
                  <a:prstClr val="black"/>
                </a:solidFill>
                <a:latin typeface="Calibri" panose="020F0502020204030204" pitchFamily="34" charset="0"/>
                <a:ea typeface="Verdana" panose="020B0604030504040204" pitchFamily="34" charset="0"/>
                <a:cs typeface="Calibri" panose="020F0502020204030204" pitchFamily="34" charset="0"/>
              </a:rPr>
              <a:t>i.e., Rs. 0.03 / kwh)</a:t>
            </a:r>
            <a:r>
              <a:rPr kumimoji="0" lang="en-US" sz="1200" b="0" i="1" u="none" strike="noStrike" kern="1200" cap="none" spc="0" normalizeH="0" baseline="0" noProof="0" dirty="0">
                <a:ln>
                  <a:noFill/>
                </a:ln>
                <a:solidFill>
                  <a:prstClr val="black"/>
                </a:solidFill>
                <a:effectLst/>
                <a:uLnTx/>
                <a:uFillTx/>
                <a:latin typeface="Calibri" panose="020F0502020204030204" pitchFamily="34" charset="0"/>
                <a:ea typeface="Verdana" panose="020B0604030504040204" pitchFamily="34" charset="0"/>
                <a:cs typeface="Calibri" panose="020F0502020204030204" pitchFamily="34" charset="0"/>
              </a:rPr>
              <a:t> </a:t>
            </a:r>
          </a:p>
        </p:txBody>
      </p:sp>
      <p:graphicFrame>
        <p:nvGraphicFramePr>
          <p:cNvPr id="4" name="Chart 3">
            <a:extLst>
              <a:ext uri="{FF2B5EF4-FFF2-40B4-BE49-F238E27FC236}">
                <a16:creationId xmlns:a16="http://schemas.microsoft.com/office/drawing/2014/main" id="{48AB5454-A5E7-48A4-8CE6-B12249823786}"/>
              </a:ext>
            </a:extLst>
          </p:cNvPr>
          <p:cNvGraphicFramePr/>
          <p:nvPr/>
        </p:nvGraphicFramePr>
        <p:xfrm>
          <a:off x="3712029" y="1024808"/>
          <a:ext cx="8085791" cy="200054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6" name="Table 15">
            <a:extLst>
              <a:ext uri="{FF2B5EF4-FFF2-40B4-BE49-F238E27FC236}">
                <a16:creationId xmlns:a16="http://schemas.microsoft.com/office/drawing/2014/main" id="{86E07A9C-9385-48A4-93B4-EE07A103442B}"/>
              </a:ext>
            </a:extLst>
          </p:cNvPr>
          <p:cNvGraphicFramePr>
            <a:graphicFrameLocks noGrp="1"/>
          </p:cNvGraphicFramePr>
          <p:nvPr/>
        </p:nvGraphicFramePr>
        <p:xfrm>
          <a:off x="483483" y="3596642"/>
          <a:ext cx="5224236" cy="2590800"/>
        </p:xfrm>
        <a:graphic>
          <a:graphicData uri="http://schemas.openxmlformats.org/drawingml/2006/table">
            <a:tbl>
              <a:tblPr/>
              <a:tblGrid>
                <a:gridCol w="1254586">
                  <a:extLst>
                    <a:ext uri="{9D8B030D-6E8A-4147-A177-3AD203B41FA5}">
                      <a16:colId xmlns:a16="http://schemas.microsoft.com/office/drawing/2014/main" val="3805520950"/>
                    </a:ext>
                  </a:extLst>
                </a:gridCol>
                <a:gridCol w="767199">
                  <a:extLst>
                    <a:ext uri="{9D8B030D-6E8A-4147-A177-3AD203B41FA5}">
                      <a16:colId xmlns:a16="http://schemas.microsoft.com/office/drawing/2014/main" val="3871342461"/>
                    </a:ext>
                  </a:extLst>
                </a:gridCol>
                <a:gridCol w="717380">
                  <a:extLst>
                    <a:ext uri="{9D8B030D-6E8A-4147-A177-3AD203B41FA5}">
                      <a16:colId xmlns:a16="http://schemas.microsoft.com/office/drawing/2014/main" val="3761481757"/>
                    </a:ext>
                  </a:extLst>
                </a:gridCol>
                <a:gridCol w="677527">
                  <a:extLst>
                    <a:ext uri="{9D8B030D-6E8A-4147-A177-3AD203B41FA5}">
                      <a16:colId xmlns:a16="http://schemas.microsoft.com/office/drawing/2014/main" val="3482274065"/>
                    </a:ext>
                  </a:extLst>
                </a:gridCol>
                <a:gridCol w="986399">
                  <a:extLst>
                    <a:ext uri="{9D8B030D-6E8A-4147-A177-3AD203B41FA5}">
                      <a16:colId xmlns:a16="http://schemas.microsoft.com/office/drawing/2014/main" val="638891484"/>
                    </a:ext>
                  </a:extLst>
                </a:gridCol>
                <a:gridCol w="821145">
                  <a:extLst>
                    <a:ext uri="{9D8B030D-6E8A-4147-A177-3AD203B41FA5}">
                      <a16:colId xmlns:a16="http://schemas.microsoft.com/office/drawing/2014/main" val="3071829340"/>
                    </a:ext>
                  </a:extLst>
                </a:gridCol>
              </a:tblGrid>
              <a:tr h="136159">
                <a:tc rowSpan="2">
                  <a:txBody>
                    <a:bodyPr/>
                    <a:lstStyle/>
                    <a:p>
                      <a:pPr algn="ctr" rtl="0" fontAlgn="ctr"/>
                      <a:r>
                        <a:rPr lang="en-US" sz="1000" b="1" i="0" u="none" strike="noStrike" dirty="0">
                          <a:solidFill>
                            <a:srgbClr val="FFFFFF"/>
                          </a:solidFill>
                          <a:effectLst/>
                          <a:latin typeface="Calibri" panose="020F0502020204030204" pitchFamily="34" charset="0"/>
                        </a:rPr>
                        <a:t>Source</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C25"/>
                    </a:solidFill>
                  </a:tcPr>
                </a:tc>
                <a:tc rowSpan="2">
                  <a:txBody>
                    <a:bodyPr/>
                    <a:lstStyle/>
                    <a:p>
                      <a:pPr algn="ctr" rtl="0" fontAlgn="ctr"/>
                      <a:r>
                        <a:rPr lang="en-US" sz="1000" b="1" i="0" u="none" strike="noStrike" dirty="0">
                          <a:solidFill>
                            <a:srgbClr val="FFFFFF"/>
                          </a:solidFill>
                          <a:effectLst/>
                          <a:latin typeface="Calibri" panose="020F0502020204030204" pitchFamily="34" charset="0"/>
                        </a:rPr>
                        <a:t>Allocation (in MW)</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C25"/>
                    </a:solidFill>
                  </a:tcPr>
                </a:tc>
                <a:tc rowSpan="2">
                  <a:txBody>
                    <a:bodyPr/>
                    <a:lstStyle/>
                    <a:p>
                      <a:pPr algn="ctr" rtl="0" fontAlgn="ctr"/>
                      <a:r>
                        <a:rPr lang="en-US" sz="1000" b="1" i="0" u="none" strike="noStrike">
                          <a:solidFill>
                            <a:srgbClr val="FFFFFF"/>
                          </a:solidFill>
                          <a:effectLst/>
                          <a:latin typeface="Calibri" panose="020F0502020204030204" pitchFamily="34" charset="0"/>
                        </a:rPr>
                        <a:t>Approved (MU)</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C25"/>
                    </a:solidFill>
                  </a:tcPr>
                </a:tc>
                <a:tc rowSpan="2">
                  <a:txBody>
                    <a:bodyPr/>
                    <a:lstStyle/>
                    <a:p>
                      <a:pPr algn="ctr" rtl="0" fontAlgn="ctr"/>
                      <a:r>
                        <a:rPr lang="en-US" sz="1000" b="1" i="0" u="none" strike="noStrike" dirty="0">
                          <a:solidFill>
                            <a:srgbClr val="FFFFFF"/>
                          </a:solidFill>
                          <a:effectLst/>
                          <a:latin typeface="Calibri" panose="020F0502020204030204" pitchFamily="34" charset="0"/>
                        </a:rPr>
                        <a:t>Utilization Factor (%)</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C25"/>
                    </a:solidFill>
                  </a:tcPr>
                </a:tc>
                <a:tc>
                  <a:txBody>
                    <a:bodyPr/>
                    <a:lstStyle/>
                    <a:p>
                      <a:pPr algn="ctr" rtl="0" fontAlgn="ctr"/>
                      <a:r>
                        <a:rPr lang="en-US" sz="1000" b="1" i="0" u="none" strike="noStrike">
                          <a:solidFill>
                            <a:srgbClr val="FFFFFF"/>
                          </a:solidFill>
                          <a:effectLst/>
                          <a:latin typeface="Calibri" panose="020F0502020204030204" pitchFamily="34" charset="0"/>
                        </a:rPr>
                        <a:t>Average Cost</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000" b="1" i="0" u="none" strike="noStrike">
                          <a:solidFill>
                            <a:srgbClr val="FFFFFF"/>
                          </a:solidFill>
                          <a:effectLst/>
                          <a:latin typeface="Calibri" panose="020F0502020204030204" pitchFamily="34" charset="0"/>
                        </a:rPr>
                        <a:t>Average Rate</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86BC25"/>
                    </a:solidFill>
                  </a:tcPr>
                </a:tc>
                <a:extLst>
                  <a:ext uri="{0D108BD9-81ED-4DB2-BD59-A6C34878D82A}">
                    <a16:rowId xmlns:a16="http://schemas.microsoft.com/office/drawing/2014/main" val="2243414706"/>
                  </a:ext>
                </a:extLst>
              </a:tr>
              <a:tr h="13615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r>
                        <a:rPr lang="en-US" sz="1000" b="1" i="0" u="none" strike="noStrike">
                          <a:solidFill>
                            <a:srgbClr val="FFFFFF"/>
                          </a:solidFill>
                          <a:effectLst/>
                          <a:latin typeface="Calibri" panose="020F0502020204030204" pitchFamily="34" charset="0"/>
                        </a:rPr>
                        <a:t>(Crore)</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86BC25"/>
                    </a:solidFill>
                  </a:tcPr>
                </a:tc>
                <a:tc>
                  <a:txBody>
                    <a:bodyPr/>
                    <a:lstStyle/>
                    <a:p>
                      <a:pPr algn="ctr" rtl="0" fontAlgn="ctr"/>
                      <a:r>
                        <a:rPr lang="en-US" sz="1000" b="1" i="0" u="none" strike="noStrike">
                          <a:solidFill>
                            <a:srgbClr val="FFFFFF"/>
                          </a:solidFill>
                          <a:effectLst/>
                          <a:latin typeface="Calibri" panose="020F0502020204030204" pitchFamily="34" charset="0"/>
                        </a:rPr>
                        <a:t> ( Rs/KWh)</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86BC25"/>
                    </a:solidFill>
                  </a:tcPr>
                </a:tc>
                <a:extLst>
                  <a:ext uri="{0D108BD9-81ED-4DB2-BD59-A6C34878D82A}">
                    <a16:rowId xmlns:a16="http://schemas.microsoft.com/office/drawing/2014/main" val="4177466443"/>
                  </a:ext>
                </a:extLst>
              </a:tr>
              <a:tr h="136159">
                <a:tc>
                  <a:txBody>
                    <a:bodyPr/>
                    <a:lstStyle/>
                    <a:p>
                      <a:pPr algn="l" rtl="0" fontAlgn="ctr"/>
                      <a:r>
                        <a:rPr lang="en-US" sz="1000" b="0" i="0" u="none" strike="noStrike" dirty="0">
                          <a:solidFill>
                            <a:srgbClr val="FF0000"/>
                          </a:solidFill>
                          <a:effectLst/>
                          <a:latin typeface="Calibri" panose="020F0502020204030204" pitchFamily="34" charset="0"/>
                        </a:rPr>
                        <a:t>Kolaghat</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FF0000"/>
                          </a:solidFill>
                          <a:effectLst/>
                          <a:latin typeface="Calibri" panose="020F0502020204030204" pitchFamily="34" charset="0"/>
                        </a:rPr>
                        <a:t>1139</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FF0000"/>
                          </a:solidFill>
                          <a:effectLst/>
                          <a:latin typeface="Calibri" panose="020F0502020204030204" pitchFamily="34" charset="0"/>
                        </a:rPr>
                        <a:t>1710</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FF0000"/>
                          </a:solidFill>
                          <a:effectLst/>
                          <a:latin typeface="Calibri" panose="020F0502020204030204" pitchFamily="34" charset="0"/>
                        </a:rPr>
                        <a:t>17%</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FF0000"/>
                          </a:solidFill>
                          <a:effectLst/>
                          <a:latin typeface="Calibri" panose="020F0502020204030204" pitchFamily="34" charset="0"/>
                        </a:rPr>
                        <a:t>594</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FFFFFF"/>
                    </a:solidFill>
                  </a:tcPr>
                </a:tc>
                <a:tc>
                  <a:txBody>
                    <a:bodyPr/>
                    <a:lstStyle/>
                    <a:p>
                      <a:pPr algn="ctr" rtl="0" fontAlgn="ctr"/>
                      <a:r>
                        <a:rPr lang="en-US" sz="1000" b="0" i="0" u="none" strike="noStrike">
                          <a:solidFill>
                            <a:srgbClr val="FF0000"/>
                          </a:solidFill>
                          <a:effectLst/>
                          <a:latin typeface="Calibri" panose="020F0502020204030204" pitchFamily="34" charset="0"/>
                        </a:rPr>
                        <a:t>3.48</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980010743"/>
                  </a:ext>
                </a:extLst>
              </a:tr>
              <a:tr h="136159">
                <a:tc>
                  <a:txBody>
                    <a:bodyPr/>
                    <a:lstStyle/>
                    <a:p>
                      <a:pPr algn="l" rtl="0" fontAlgn="ctr"/>
                      <a:r>
                        <a:rPr lang="en-US" sz="1000" b="0" i="0" u="none" strike="noStrike" dirty="0">
                          <a:solidFill>
                            <a:srgbClr val="FF0000"/>
                          </a:solidFill>
                          <a:effectLst/>
                          <a:latin typeface="Calibri" panose="020F0502020204030204" pitchFamily="34" charset="0"/>
                        </a:rPr>
                        <a:t>DVC</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FF0000"/>
                          </a:solidFill>
                          <a:effectLst/>
                          <a:latin typeface="Calibri" panose="020F0502020204030204" pitchFamily="34" charset="0"/>
                        </a:rPr>
                        <a:t>250</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FF0000"/>
                          </a:solidFill>
                          <a:effectLst/>
                          <a:latin typeface="Calibri" panose="020F0502020204030204" pitchFamily="34" charset="0"/>
                        </a:rPr>
                        <a:t>1771</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FF0000"/>
                          </a:solidFill>
                          <a:effectLst/>
                          <a:latin typeface="Calibri" panose="020F0502020204030204" pitchFamily="34" charset="0"/>
                        </a:rPr>
                        <a:t>81%</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FF0000"/>
                          </a:solidFill>
                          <a:effectLst/>
                          <a:latin typeface="Calibri" panose="020F0502020204030204" pitchFamily="34" charset="0"/>
                        </a:rPr>
                        <a:t>796</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FF0000"/>
                          </a:solidFill>
                          <a:effectLst/>
                          <a:latin typeface="Calibri" panose="020F0502020204030204" pitchFamily="34" charset="0"/>
                        </a:rPr>
                        <a:t>4.49</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131096110"/>
                  </a:ext>
                </a:extLst>
              </a:tr>
              <a:tr h="136159">
                <a:tc>
                  <a:txBody>
                    <a:bodyPr/>
                    <a:lstStyle/>
                    <a:p>
                      <a:pPr algn="l" rtl="0" fontAlgn="ctr"/>
                      <a:r>
                        <a:rPr lang="en-US" sz="1000" b="0" i="0" u="none" strike="noStrike">
                          <a:solidFill>
                            <a:srgbClr val="FF0000"/>
                          </a:solidFill>
                          <a:effectLst/>
                          <a:latin typeface="Calibri" panose="020F0502020204030204" pitchFamily="34" charset="0"/>
                        </a:rPr>
                        <a:t>Farakka  U#1&amp;2</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FF0000"/>
                          </a:solidFill>
                          <a:effectLst/>
                          <a:latin typeface="Calibri" panose="020F0502020204030204" pitchFamily="34" charset="0"/>
                        </a:rPr>
                        <a:t>476</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FF0000"/>
                          </a:solidFill>
                          <a:effectLst/>
                          <a:latin typeface="Calibri" panose="020F0502020204030204" pitchFamily="34" charset="0"/>
                        </a:rPr>
                        <a:t>3546</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FF0000"/>
                          </a:solidFill>
                          <a:effectLst/>
                          <a:latin typeface="Calibri" panose="020F0502020204030204" pitchFamily="34" charset="0"/>
                        </a:rPr>
                        <a:t>85%</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panose="020F0502020204030204" pitchFamily="34" charset="0"/>
                        </a:rPr>
                        <a:t>1255</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FF0000"/>
                          </a:solidFill>
                          <a:effectLst/>
                          <a:latin typeface="Calibri" panose="020F0502020204030204" pitchFamily="34" charset="0"/>
                        </a:rPr>
                        <a:t>3.54</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75805275"/>
                  </a:ext>
                </a:extLst>
              </a:tr>
              <a:tr h="272318">
                <a:tc>
                  <a:txBody>
                    <a:bodyPr/>
                    <a:lstStyle/>
                    <a:p>
                      <a:pPr algn="l" rtl="0" fontAlgn="ctr"/>
                      <a:r>
                        <a:rPr lang="en-US" sz="1000" b="0" i="0" u="none" strike="noStrike">
                          <a:solidFill>
                            <a:srgbClr val="000000"/>
                          </a:solidFill>
                          <a:effectLst/>
                          <a:latin typeface="Calibri" panose="020F0502020204030204" pitchFamily="34" charset="0"/>
                        </a:rPr>
                        <a:t>WBPDCL excl. Kolaghat</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3170</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21943</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79%</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dirty="0">
                          <a:solidFill>
                            <a:srgbClr val="000000"/>
                          </a:solidFill>
                          <a:effectLst/>
                          <a:latin typeface="Calibri" panose="020F0502020204030204" pitchFamily="34" charset="0"/>
                        </a:rPr>
                        <a:t>6882</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3.14</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553407692"/>
                  </a:ext>
                </a:extLst>
              </a:tr>
              <a:tr h="136159">
                <a:tc>
                  <a:txBody>
                    <a:bodyPr/>
                    <a:lstStyle/>
                    <a:p>
                      <a:pPr algn="l" rtl="0" fontAlgn="ctr"/>
                      <a:r>
                        <a:rPr lang="en-US" sz="1000" b="0" i="0" u="none" strike="noStrike">
                          <a:solidFill>
                            <a:srgbClr val="000000"/>
                          </a:solidFill>
                          <a:effectLst/>
                          <a:latin typeface="Calibri" panose="020F0502020204030204" pitchFamily="34" charset="0"/>
                        </a:rPr>
                        <a:t>DPL</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502</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3518</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80%</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panose="020F0502020204030204" pitchFamily="34" charset="0"/>
                        </a:rPr>
                        <a:t>1352</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3.84</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44473320"/>
                  </a:ext>
                </a:extLst>
              </a:tr>
              <a:tr h="272318">
                <a:tc>
                  <a:txBody>
                    <a:bodyPr/>
                    <a:lstStyle/>
                    <a:p>
                      <a:pPr algn="l" rtl="0" fontAlgn="ctr"/>
                      <a:r>
                        <a:rPr lang="en-US" sz="1000" b="0" i="0" u="none" strike="noStrike">
                          <a:solidFill>
                            <a:srgbClr val="000000"/>
                          </a:solidFill>
                          <a:effectLst/>
                          <a:latin typeface="Calibri" panose="020F0502020204030204" pitchFamily="34" charset="0"/>
                        </a:rPr>
                        <a:t>NTPC excl. Farakka U#1&amp;2</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618</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3680</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68%</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panose="020F0502020204030204" pitchFamily="34" charset="0"/>
                        </a:rPr>
                        <a:t>1343</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3.65</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665478189"/>
                  </a:ext>
                </a:extLst>
              </a:tr>
              <a:tr h="136159">
                <a:tc>
                  <a:txBody>
                    <a:bodyPr/>
                    <a:lstStyle/>
                    <a:p>
                      <a:pPr algn="l" rtl="0" fontAlgn="ctr"/>
                      <a:r>
                        <a:rPr lang="en-US" sz="1000" b="0" i="0" u="none" strike="noStrike">
                          <a:solidFill>
                            <a:srgbClr val="000000"/>
                          </a:solidFill>
                          <a:effectLst/>
                          <a:latin typeface="Calibri" panose="020F0502020204030204" pitchFamily="34" charset="0"/>
                        </a:rPr>
                        <a:t>PTC -Thermal</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300</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1242</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47%</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panose="020F0502020204030204" pitchFamily="34" charset="0"/>
                        </a:rPr>
                        <a:t>578</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4.65</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945823362"/>
                  </a:ext>
                </a:extLst>
              </a:tr>
              <a:tr h="136159">
                <a:tc>
                  <a:txBody>
                    <a:bodyPr/>
                    <a:lstStyle/>
                    <a:p>
                      <a:pPr algn="l" rtl="0" fontAlgn="ctr"/>
                      <a:r>
                        <a:rPr lang="en-US" sz="1000" b="0" i="0" u="none" strike="noStrike">
                          <a:solidFill>
                            <a:srgbClr val="000000"/>
                          </a:solidFill>
                          <a:effectLst/>
                          <a:latin typeface="Calibri" panose="020F0502020204030204" pitchFamily="34" charset="0"/>
                        </a:rPr>
                        <a:t>HMEL</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270</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2010</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85%</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dirty="0">
                          <a:solidFill>
                            <a:srgbClr val="000000"/>
                          </a:solidFill>
                          <a:effectLst/>
                          <a:latin typeface="Calibri" panose="020F0502020204030204" pitchFamily="34" charset="0"/>
                        </a:rPr>
                        <a:t>1040</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5.17</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070041984"/>
                  </a:ext>
                </a:extLst>
              </a:tr>
              <a:tr h="136159">
                <a:tc>
                  <a:txBody>
                    <a:bodyPr/>
                    <a:lstStyle/>
                    <a:p>
                      <a:pPr algn="l" rtl="0" fontAlgn="ctr"/>
                      <a:r>
                        <a:rPr lang="en-US" sz="1000" b="0" i="0" u="none" strike="noStrike">
                          <a:solidFill>
                            <a:srgbClr val="000000"/>
                          </a:solidFill>
                          <a:effectLst/>
                          <a:latin typeface="Calibri" panose="020F0502020204030204" pitchFamily="34" charset="0"/>
                        </a:rPr>
                        <a:t>PTC-Hydro</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985</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3297</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38%</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dirty="0">
                          <a:solidFill>
                            <a:srgbClr val="000000"/>
                          </a:solidFill>
                          <a:effectLst/>
                          <a:latin typeface="Calibri" panose="020F0502020204030204" pitchFamily="34" charset="0"/>
                        </a:rPr>
                        <a:t>990</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3.00</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705514666"/>
                  </a:ext>
                </a:extLst>
              </a:tr>
              <a:tr h="136159">
                <a:tc>
                  <a:txBody>
                    <a:bodyPr/>
                    <a:lstStyle/>
                    <a:p>
                      <a:pPr algn="l" rtl="0" fontAlgn="ctr"/>
                      <a:r>
                        <a:rPr lang="en-US" sz="1000" b="0" i="0" u="none" strike="noStrike">
                          <a:solidFill>
                            <a:srgbClr val="000000"/>
                          </a:solidFill>
                          <a:effectLst/>
                          <a:latin typeface="Calibri" panose="020F0502020204030204" pitchFamily="34" charset="0"/>
                        </a:rPr>
                        <a:t>NHPC</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426</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1865</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50%</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dirty="0">
                          <a:solidFill>
                            <a:srgbClr val="000000"/>
                          </a:solidFill>
                          <a:effectLst/>
                          <a:latin typeface="Calibri" panose="020F0502020204030204" pitchFamily="34" charset="0"/>
                        </a:rPr>
                        <a:t>795</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4.26</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2812887187"/>
                  </a:ext>
                </a:extLst>
              </a:tr>
              <a:tr h="136159">
                <a:tc>
                  <a:txBody>
                    <a:bodyPr/>
                    <a:lstStyle/>
                    <a:p>
                      <a:pPr algn="l" rtl="0" fontAlgn="ctr"/>
                      <a:r>
                        <a:rPr lang="en-US" sz="1000" b="0" i="0" u="none" strike="noStrike">
                          <a:solidFill>
                            <a:srgbClr val="000000"/>
                          </a:solidFill>
                          <a:effectLst/>
                          <a:latin typeface="Calibri" panose="020F0502020204030204" pitchFamily="34" charset="0"/>
                        </a:rPr>
                        <a:t>Other</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 </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5331</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 </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
                      <a:r>
                        <a:rPr lang="en-US" sz="1000" b="0" i="0" u="none" strike="noStrike" dirty="0">
                          <a:solidFill>
                            <a:srgbClr val="000000"/>
                          </a:solidFill>
                          <a:effectLst/>
                          <a:latin typeface="Calibri" panose="020F0502020204030204" pitchFamily="34" charset="0"/>
                        </a:rPr>
                        <a:t>1909</a:t>
                      </a:r>
                    </a:p>
                  </a:txBody>
                  <a:tcPr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3.58</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699905730"/>
                  </a:ext>
                </a:extLst>
              </a:tr>
              <a:tr h="136159">
                <a:tc>
                  <a:txBody>
                    <a:bodyPr/>
                    <a:lstStyle/>
                    <a:p>
                      <a:pPr algn="l" rtl="0" fontAlgn="ctr"/>
                      <a:r>
                        <a:rPr lang="en-US" sz="1000" b="1" i="0" u="none" strike="noStrike">
                          <a:solidFill>
                            <a:srgbClr val="000000"/>
                          </a:solidFill>
                          <a:effectLst/>
                          <a:latin typeface="Calibri" panose="020F0502020204030204" pitchFamily="34" charset="0"/>
                        </a:rPr>
                        <a:t>Total</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00" b="1" i="0" u="none" strike="noStrike">
                          <a:solidFill>
                            <a:srgbClr val="000000"/>
                          </a:solidFill>
                          <a:effectLst/>
                          <a:latin typeface="Calibri" panose="020F0502020204030204" pitchFamily="34" charset="0"/>
                        </a:rPr>
                        <a:t> </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00" b="1" i="0" u="none" strike="noStrike">
                          <a:solidFill>
                            <a:srgbClr val="000000"/>
                          </a:solidFill>
                          <a:effectLst/>
                          <a:latin typeface="Calibri" panose="020F0502020204030204" pitchFamily="34" charset="0"/>
                        </a:rPr>
                        <a:t>49913</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00" b="1" i="0" u="none" strike="noStrike">
                          <a:solidFill>
                            <a:srgbClr val="000000"/>
                          </a:solidFill>
                          <a:effectLst/>
                          <a:latin typeface="Calibri" panose="020F0502020204030204" pitchFamily="34" charset="0"/>
                        </a:rPr>
                        <a:t> </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00" b="1" i="0" u="none" strike="noStrike">
                          <a:solidFill>
                            <a:srgbClr val="000000"/>
                          </a:solidFill>
                          <a:effectLst/>
                          <a:latin typeface="Calibri" panose="020F0502020204030204" pitchFamily="34" charset="0"/>
                        </a:rPr>
                        <a:t>17535</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00" b="1" i="0" u="none" strike="noStrike" dirty="0">
                          <a:solidFill>
                            <a:srgbClr val="000000"/>
                          </a:solidFill>
                          <a:effectLst/>
                          <a:latin typeface="Calibri" panose="020F0502020204030204" pitchFamily="34" charset="0"/>
                        </a:rPr>
                        <a:t>3.51</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30199248"/>
                  </a:ext>
                </a:extLst>
              </a:tr>
            </a:tbl>
          </a:graphicData>
        </a:graphic>
      </p:graphicFrame>
      <p:graphicFrame>
        <p:nvGraphicFramePr>
          <p:cNvPr id="19" name="Table 18">
            <a:extLst>
              <a:ext uri="{FF2B5EF4-FFF2-40B4-BE49-F238E27FC236}">
                <a16:creationId xmlns:a16="http://schemas.microsoft.com/office/drawing/2014/main" id="{2FDEDE97-A77A-47DD-BB2D-943991508F13}"/>
              </a:ext>
            </a:extLst>
          </p:cNvPr>
          <p:cNvGraphicFramePr>
            <a:graphicFrameLocks noGrp="1"/>
          </p:cNvGraphicFramePr>
          <p:nvPr/>
        </p:nvGraphicFramePr>
        <p:xfrm>
          <a:off x="6418969" y="3596642"/>
          <a:ext cx="5460948" cy="2590800"/>
        </p:xfrm>
        <a:graphic>
          <a:graphicData uri="http://schemas.openxmlformats.org/drawingml/2006/table">
            <a:tbl>
              <a:tblPr/>
              <a:tblGrid>
                <a:gridCol w="1311432">
                  <a:extLst>
                    <a:ext uri="{9D8B030D-6E8A-4147-A177-3AD203B41FA5}">
                      <a16:colId xmlns:a16="http://schemas.microsoft.com/office/drawing/2014/main" val="3805520950"/>
                    </a:ext>
                  </a:extLst>
                </a:gridCol>
                <a:gridCol w="801961">
                  <a:extLst>
                    <a:ext uri="{9D8B030D-6E8A-4147-A177-3AD203B41FA5}">
                      <a16:colId xmlns:a16="http://schemas.microsoft.com/office/drawing/2014/main" val="3871342461"/>
                    </a:ext>
                  </a:extLst>
                </a:gridCol>
                <a:gridCol w="749885">
                  <a:extLst>
                    <a:ext uri="{9D8B030D-6E8A-4147-A177-3AD203B41FA5}">
                      <a16:colId xmlns:a16="http://schemas.microsoft.com/office/drawing/2014/main" val="3761481757"/>
                    </a:ext>
                  </a:extLst>
                </a:gridCol>
                <a:gridCol w="708226">
                  <a:extLst>
                    <a:ext uri="{9D8B030D-6E8A-4147-A177-3AD203B41FA5}">
                      <a16:colId xmlns:a16="http://schemas.microsoft.com/office/drawing/2014/main" val="3482274065"/>
                    </a:ext>
                  </a:extLst>
                </a:gridCol>
                <a:gridCol w="1031093">
                  <a:extLst>
                    <a:ext uri="{9D8B030D-6E8A-4147-A177-3AD203B41FA5}">
                      <a16:colId xmlns:a16="http://schemas.microsoft.com/office/drawing/2014/main" val="638891484"/>
                    </a:ext>
                  </a:extLst>
                </a:gridCol>
                <a:gridCol w="858351">
                  <a:extLst>
                    <a:ext uri="{9D8B030D-6E8A-4147-A177-3AD203B41FA5}">
                      <a16:colId xmlns:a16="http://schemas.microsoft.com/office/drawing/2014/main" val="3071829340"/>
                    </a:ext>
                  </a:extLst>
                </a:gridCol>
              </a:tblGrid>
              <a:tr h="136159">
                <a:tc rowSpan="2">
                  <a:txBody>
                    <a:bodyPr/>
                    <a:lstStyle/>
                    <a:p>
                      <a:pPr algn="ctr" rtl="0" fontAlgn="ctr"/>
                      <a:r>
                        <a:rPr lang="en-US" sz="1000" b="1" i="0" u="none" strike="noStrike" dirty="0">
                          <a:solidFill>
                            <a:srgbClr val="FFFFFF"/>
                          </a:solidFill>
                          <a:effectLst/>
                          <a:latin typeface="Calibri" panose="020F0502020204030204" pitchFamily="34" charset="0"/>
                        </a:rPr>
                        <a:t>Source</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C25"/>
                    </a:solidFill>
                  </a:tcPr>
                </a:tc>
                <a:tc rowSpan="2">
                  <a:txBody>
                    <a:bodyPr/>
                    <a:lstStyle/>
                    <a:p>
                      <a:pPr algn="ctr" rtl="0" fontAlgn="ctr"/>
                      <a:r>
                        <a:rPr lang="en-US" sz="1000" b="1" i="0" u="none" strike="noStrike" dirty="0">
                          <a:solidFill>
                            <a:srgbClr val="FFFFFF"/>
                          </a:solidFill>
                          <a:effectLst/>
                          <a:latin typeface="Calibri" panose="020F0502020204030204" pitchFamily="34" charset="0"/>
                        </a:rPr>
                        <a:t>Allocation (in MW)</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C25"/>
                    </a:solidFill>
                  </a:tcPr>
                </a:tc>
                <a:tc rowSpan="2">
                  <a:txBody>
                    <a:bodyPr/>
                    <a:lstStyle/>
                    <a:p>
                      <a:pPr algn="ctr" rtl="0" fontAlgn="ctr"/>
                      <a:r>
                        <a:rPr lang="en-US" sz="1000" b="1" i="0" u="none" strike="noStrike">
                          <a:solidFill>
                            <a:srgbClr val="FFFFFF"/>
                          </a:solidFill>
                          <a:effectLst/>
                          <a:latin typeface="Calibri" panose="020F0502020204030204" pitchFamily="34" charset="0"/>
                        </a:rPr>
                        <a:t>Approved (MU)</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C25"/>
                    </a:solidFill>
                  </a:tcPr>
                </a:tc>
                <a:tc rowSpan="2">
                  <a:txBody>
                    <a:bodyPr/>
                    <a:lstStyle/>
                    <a:p>
                      <a:pPr algn="ctr" rtl="0" fontAlgn="ctr"/>
                      <a:r>
                        <a:rPr lang="en-US" sz="1000" b="1" i="0" u="none" strike="noStrike" dirty="0">
                          <a:solidFill>
                            <a:srgbClr val="FFFFFF"/>
                          </a:solidFill>
                          <a:effectLst/>
                          <a:latin typeface="Calibri" panose="020F0502020204030204" pitchFamily="34" charset="0"/>
                        </a:rPr>
                        <a:t>Utilization Factor (%)</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C25"/>
                    </a:solidFill>
                  </a:tcPr>
                </a:tc>
                <a:tc>
                  <a:txBody>
                    <a:bodyPr/>
                    <a:lstStyle/>
                    <a:p>
                      <a:pPr algn="ctr" rtl="0" fontAlgn="ctr"/>
                      <a:r>
                        <a:rPr lang="en-US" sz="1000" b="1" i="0" u="none" strike="noStrike">
                          <a:solidFill>
                            <a:srgbClr val="FFFFFF"/>
                          </a:solidFill>
                          <a:effectLst/>
                          <a:latin typeface="Calibri" panose="020F0502020204030204" pitchFamily="34" charset="0"/>
                        </a:rPr>
                        <a:t>Average Cost</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000" b="1" i="0" u="none" strike="noStrike">
                          <a:solidFill>
                            <a:srgbClr val="FFFFFF"/>
                          </a:solidFill>
                          <a:effectLst/>
                          <a:latin typeface="Calibri" panose="020F0502020204030204" pitchFamily="34" charset="0"/>
                        </a:rPr>
                        <a:t>Average Rate</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86BC25"/>
                    </a:solidFill>
                  </a:tcPr>
                </a:tc>
                <a:extLst>
                  <a:ext uri="{0D108BD9-81ED-4DB2-BD59-A6C34878D82A}">
                    <a16:rowId xmlns:a16="http://schemas.microsoft.com/office/drawing/2014/main" val="2243414706"/>
                  </a:ext>
                </a:extLst>
              </a:tr>
              <a:tr h="13615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r>
                        <a:rPr lang="en-US" sz="1000" b="1" i="0" u="none" strike="noStrike">
                          <a:solidFill>
                            <a:srgbClr val="FFFFFF"/>
                          </a:solidFill>
                          <a:effectLst/>
                          <a:latin typeface="Calibri" panose="020F0502020204030204" pitchFamily="34" charset="0"/>
                        </a:rPr>
                        <a:t>(Crore)</a:t>
                      </a:r>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86BC25"/>
                    </a:solidFill>
                  </a:tcPr>
                </a:tc>
                <a:tc>
                  <a:txBody>
                    <a:bodyPr/>
                    <a:lstStyle/>
                    <a:p>
                      <a:pPr algn="ctr" rtl="0" fontAlgn="ctr"/>
                      <a:r>
                        <a:rPr lang="en-US" sz="1000" b="1" i="0" u="none" strike="noStrike">
                          <a:solidFill>
                            <a:srgbClr val="FFFFFF"/>
                          </a:solidFill>
                          <a:effectLst/>
                          <a:latin typeface="Calibri" panose="020F0502020204030204" pitchFamily="34" charset="0"/>
                        </a:rPr>
                        <a:t> ( Rs/KWh)</a:t>
                      </a:r>
                    </a:p>
                  </a:txBody>
                  <a:tcPr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86BC25"/>
                    </a:solidFill>
                  </a:tcPr>
                </a:tc>
                <a:extLst>
                  <a:ext uri="{0D108BD9-81ED-4DB2-BD59-A6C34878D82A}">
                    <a16:rowId xmlns:a16="http://schemas.microsoft.com/office/drawing/2014/main" val="4177466443"/>
                  </a:ext>
                </a:extLst>
              </a:tr>
              <a:tr h="136159">
                <a:tc>
                  <a:txBody>
                    <a:bodyPr/>
                    <a:lstStyle/>
                    <a:p>
                      <a:pPr algn="l" rtl="0" fontAlgn="ctr"/>
                      <a:r>
                        <a:rPr lang="en-US" sz="1000" b="0" i="0" u="none" strike="noStrike" dirty="0">
                          <a:solidFill>
                            <a:srgbClr val="FF0000"/>
                          </a:solidFill>
                          <a:effectLst/>
                          <a:latin typeface="Calibri" panose="020F0502020204030204" pitchFamily="34" charset="0"/>
                        </a:rPr>
                        <a:t>Kolaghat</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rowSpan="3" gridSpan="5">
                  <a:txBody>
                    <a:bodyPr/>
                    <a:lstStyle/>
                    <a:p>
                      <a:pPr algn="ctr" rtl="0" fontAlgn="ctr"/>
                      <a:r>
                        <a:rPr lang="en-US" sz="1000" b="0" i="0" u="none" strike="noStrike" dirty="0">
                          <a:solidFill>
                            <a:srgbClr val="FF0000"/>
                          </a:solidFill>
                          <a:effectLst/>
                          <a:latin typeface="Calibri" panose="020F0502020204030204" pitchFamily="34" charset="0"/>
                        </a:rPr>
                        <a:t>Scenario for retirement/Surrender of PPA</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rowSpan="3" hMerge="1">
                  <a:txBody>
                    <a:bodyPr/>
                    <a:lstStyle/>
                    <a:p>
                      <a:pPr algn="ctr" rtl="0" fontAlgn="ctr"/>
                      <a:r>
                        <a:rPr lang="en-US" sz="1000" b="0" i="0" u="none" strike="noStrike">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rowSpan="3" hMerge="1">
                  <a:txBody>
                    <a:bodyPr/>
                    <a:lstStyle/>
                    <a:p>
                      <a:pPr algn="ctr" rtl="0" fontAlgn="ctr"/>
                      <a:r>
                        <a:rPr lang="en-US" sz="1000" b="0" i="0" u="none" strike="noStrike">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rowSpan="3" hMerge="1">
                  <a:txBody>
                    <a:bodyPr/>
                    <a:lstStyle/>
                    <a:p>
                      <a:pPr algn="ctr" rtl="0" fontAlgn="ctr"/>
                      <a:r>
                        <a:rPr lang="en-US" sz="1000" b="0" i="0" u="none" strike="noStrike">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FFFFFF"/>
                    </a:solidFill>
                  </a:tcPr>
                </a:tc>
                <a:tc rowSpan="3" hMerge="1">
                  <a:txBody>
                    <a:bodyPr/>
                    <a:lstStyle/>
                    <a:p>
                      <a:pPr algn="ctr" rtl="0" fontAlgn="ctr"/>
                      <a:r>
                        <a:rPr lang="en-US" sz="1000" b="0" i="0" u="none" strike="noStrike">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980010743"/>
                  </a:ext>
                </a:extLst>
              </a:tr>
              <a:tr h="136159">
                <a:tc>
                  <a:txBody>
                    <a:bodyPr/>
                    <a:lstStyle/>
                    <a:p>
                      <a:pPr algn="l" rtl="0" fontAlgn="ctr"/>
                      <a:r>
                        <a:rPr lang="en-US" sz="1000" b="0" i="0" u="none" strike="noStrike" dirty="0">
                          <a:solidFill>
                            <a:srgbClr val="FF0000"/>
                          </a:solidFill>
                          <a:effectLst/>
                          <a:latin typeface="Calibri" panose="020F0502020204030204" pitchFamily="34" charset="0"/>
                        </a:rPr>
                        <a:t>DVC</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gridSpan="5" vMerge="1">
                  <a:txBody>
                    <a:bodyPr/>
                    <a:lstStyle/>
                    <a:p>
                      <a:pPr algn="l" fontAlgn="b"/>
                      <a:r>
                        <a:rPr lang="en-US" sz="1000" b="0" i="0" u="none" strike="noStrike" dirty="0">
                          <a:solidFill>
                            <a:srgbClr val="FF0000"/>
                          </a:solidFill>
                          <a:effectLst/>
                          <a:latin typeface="Calibri" panose="020F0502020204030204" pitchFamily="34" charset="0"/>
                        </a:rPr>
                        <a:t> </a:t>
                      </a:r>
                    </a:p>
                  </a:txBody>
                  <a:tcPr marL="0" marR="0" marT="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hMerge="1" vMerge="1">
                  <a:txBody>
                    <a:bodyPr/>
                    <a:lstStyle/>
                    <a:p>
                      <a:pPr algn="ctr" rtl="0" fontAlgn="ctr"/>
                      <a:r>
                        <a:rPr lang="en-US" sz="1000" b="0" i="0" u="none" strike="noStrike">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hMerge="1" vMerge="1">
                  <a:txBody>
                    <a:bodyPr/>
                    <a:lstStyle/>
                    <a:p>
                      <a:pPr algn="ctr" rtl="0" fontAlgn="ctr"/>
                      <a:r>
                        <a:rPr lang="en-US" sz="1000" b="1" i="0" u="none" strike="noStrike">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hMerge="1" vMerge="1">
                  <a:txBody>
                    <a:bodyPr/>
                    <a:lstStyle/>
                    <a:p>
                      <a:pPr algn="ctr" rtl="0" fontAlgn="ctr"/>
                      <a:r>
                        <a:rPr lang="en-US" sz="1000" b="0" i="0" u="none" strike="noStrike">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hMerge="1" vMerge="1">
                  <a:txBody>
                    <a:bodyPr/>
                    <a:lstStyle/>
                    <a:p>
                      <a:pPr algn="ctr" rtl="0" fontAlgn="ctr"/>
                      <a:r>
                        <a:rPr lang="en-US" sz="1000" b="0" i="0" u="none" strike="noStrike">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131096110"/>
                  </a:ext>
                </a:extLst>
              </a:tr>
              <a:tr h="136159">
                <a:tc>
                  <a:txBody>
                    <a:bodyPr/>
                    <a:lstStyle/>
                    <a:p>
                      <a:pPr algn="l" rtl="0" fontAlgn="ctr"/>
                      <a:r>
                        <a:rPr lang="en-US" sz="1000" b="0" i="0" u="none" strike="noStrike">
                          <a:solidFill>
                            <a:srgbClr val="FF0000"/>
                          </a:solidFill>
                          <a:effectLst/>
                          <a:latin typeface="Calibri" panose="020F0502020204030204" pitchFamily="34" charset="0"/>
                        </a:rPr>
                        <a:t>Farakka  U#1&amp;2</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gridSpan="5" vMerge="1">
                  <a:txBody>
                    <a:bodyPr/>
                    <a:lstStyle/>
                    <a:p>
                      <a:pPr algn="ctr" rtl="0" fontAlgn="ctr"/>
                      <a:r>
                        <a:rPr lang="en-US" sz="1000" b="0" i="0" u="none" strike="noStrike" dirty="0">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hMerge="1" vMerge="1">
                  <a:txBody>
                    <a:bodyPr/>
                    <a:lstStyle/>
                    <a:p>
                      <a:pPr algn="ctr" rtl="0" fontAlgn="ctr"/>
                      <a:r>
                        <a:rPr lang="en-US" sz="1000" b="0" i="0" u="none" strike="noStrike" dirty="0">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hMerge="1" vMerge="1">
                  <a:txBody>
                    <a:bodyPr/>
                    <a:lstStyle/>
                    <a:p>
                      <a:pPr algn="ctr" rtl="0" fontAlgn="ctr"/>
                      <a:r>
                        <a:rPr lang="en-US" sz="1000" b="0" i="0" u="none" strike="noStrike" dirty="0">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hMerge="1" vMerge="1">
                  <a:txBody>
                    <a:bodyPr/>
                    <a:lstStyle/>
                    <a:p>
                      <a:pPr algn="ctr" rtl="0" fontAlgn="ctr"/>
                      <a:r>
                        <a:rPr lang="en-US" sz="1000" b="0" i="0" u="none" strike="noStrike" dirty="0">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hMerge="1" vMerge="1">
                  <a:txBody>
                    <a:bodyPr/>
                    <a:lstStyle/>
                    <a:p>
                      <a:pPr algn="ctr" rtl="0" fontAlgn="ctr"/>
                      <a:r>
                        <a:rPr lang="en-US" sz="1000" b="0" i="0" u="none" strike="noStrike" dirty="0">
                          <a:solidFill>
                            <a:srgbClr val="FF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75805275"/>
                  </a:ext>
                </a:extLst>
              </a:tr>
              <a:tr h="272318">
                <a:tc>
                  <a:txBody>
                    <a:bodyPr/>
                    <a:lstStyle/>
                    <a:p>
                      <a:pPr algn="l" rtl="0" fontAlgn="ctr"/>
                      <a:r>
                        <a:rPr lang="en-US" sz="1000" b="0" i="0" u="none" strike="noStrike">
                          <a:solidFill>
                            <a:srgbClr val="000000"/>
                          </a:solidFill>
                          <a:effectLst/>
                          <a:latin typeface="Calibri" panose="020F0502020204030204" pitchFamily="34" charset="0"/>
                        </a:rPr>
                        <a:t>WBPDCL excl. Kolaghat</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3170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23601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85%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3.14</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7402</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553407692"/>
                  </a:ext>
                </a:extLst>
              </a:tr>
              <a:tr h="136159">
                <a:tc>
                  <a:txBody>
                    <a:bodyPr/>
                    <a:lstStyle/>
                    <a:p>
                      <a:pPr algn="l" rtl="0" fontAlgn="ctr"/>
                      <a:r>
                        <a:rPr lang="en-US" sz="1000" b="0" i="0" u="none" strike="noStrike">
                          <a:solidFill>
                            <a:srgbClr val="000000"/>
                          </a:solidFill>
                          <a:effectLst/>
                          <a:latin typeface="Calibri" panose="020F0502020204030204" pitchFamily="34" charset="0"/>
                        </a:rPr>
                        <a:t>DPL</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502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3738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85%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3.84</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1437</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44473320"/>
                  </a:ext>
                </a:extLst>
              </a:tr>
              <a:tr h="272318">
                <a:tc>
                  <a:txBody>
                    <a:bodyPr/>
                    <a:lstStyle/>
                    <a:p>
                      <a:pPr algn="l" rtl="0" fontAlgn="ctr"/>
                      <a:r>
                        <a:rPr lang="en-US" sz="1000" b="0" i="0" u="none" strike="noStrike">
                          <a:solidFill>
                            <a:srgbClr val="000000"/>
                          </a:solidFill>
                          <a:effectLst/>
                          <a:latin typeface="Calibri" panose="020F0502020204030204" pitchFamily="34" charset="0"/>
                        </a:rPr>
                        <a:t>NTPC excl. Farakka U#1&amp;2</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618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4601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85%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3.65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1680</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665478189"/>
                  </a:ext>
                </a:extLst>
              </a:tr>
              <a:tr h="136159">
                <a:tc>
                  <a:txBody>
                    <a:bodyPr/>
                    <a:lstStyle/>
                    <a:p>
                      <a:pPr algn="l" rtl="0" fontAlgn="ctr"/>
                      <a:r>
                        <a:rPr lang="en-US" sz="1000" b="0" i="0" u="none" strike="noStrike">
                          <a:solidFill>
                            <a:srgbClr val="000000"/>
                          </a:solidFill>
                          <a:effectLst/>
                          <a:latin typeface="Calibri" panose="020F0502020204030204" pitchFamily="34" charset="0"/>
                        </a:rPr>
                        <a:t>PTC -Thermal</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300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2234</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85%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4.65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1039</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945823362"/>
                  </a:ext>
                </a:extLst>
              </a:tr>
              <a:tr h="136159">
                <a:tc>
                  <a:txBody>
                    <a:bodyPr/>
                    <a:lstStyle/>
                    <a:p>
                      <a:pPr algn="l" rtl="0" fontAlgn="ctr"/>
                      <a:r>
                        <a:rPr lang="en-US" sz="1000" b="0" i="0" u="none" strike="noStrike">
                          <a:solidFill>
                            <a:srgbClr val="000000"/>
                          </a:solidFill>
                          <a:effectLst/>
                          <a:latin typeface="Calibri" panose="020F0502020204030204" pitchFamily="34" charset="0"/>
                        </a:rPr>
                        <a:t>HMEL</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270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2010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85%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5.17</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1040</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070041984"/>
                  </a:ext>
                </a:extLst>
              </a:tr>
              <a:tr h="136159">
                <a:tc>
                  <a:txBody>
                    <a:bodyPr/>
                    <a:lstStyle/>
                    <a:p>
                      <a:pPr algn="l" rtl="0" fontAlgn="ctr"/>
                      <a:r>
                        <a:rPr lang="en-US" sz="1000" b="0" i="0" u="none" strike="noStrike">
                          <a:solidFill>
                            <a:srgbClr val="000000"/>
                          </a:solidFill>
                          <a:effectLst/>
                          <a:latin typeface="Calibri" panose="020F0502020204030204" pitchFamily="34" charset="0"/>
                        </a:rPr>
                        <a:t>PTC-Hydro</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985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4312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50%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3.00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1295</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705514666"/>
                  </a:ext>
                </a:extLst>
              </a:tr>
              <a:tr h="136159">
                <a:tc>
                  <a:txBody>
                    <a:bodyPr/>
                    <a:lstStyle/>
                    <a:p>
                      <a:pPr algn="l" rtl="0" fontAlgn="ctr"/>
                      <a:r>
                        <a:rPr lang="en-US" sz="1000" b="0" i="0" u="none" strike="noStrike">
                          <a:solidFill>
                            <a:srgbClr val="000000"/>
                          </a:solidFill>
                          <a:effectLst/>
                          <a:latin typeface="Calibri" panose="020F0502020204030204" pitchFamily="34" charset="0"/>
                        </a:rPr>
                        <a:t>NHPC</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426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1865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50%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4.26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795</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2812887187"/>
                  </a:ext>
                </a:extLst>
              </a:tr>
              <a:tr h="136159">
                <a:tc>
                  <a:txBody>
                    <a:bodyPr/>
                    <a:lstStyle/>
                    <a:p>
                      <a:pPr algn="l" rtl="0" fontAlgn="ctr"/>
                      <a:r>
                        <a:rPr lang="en-US" sz="1000" b="0" i="0" u="none" strike="noStrike">
                          <a:solidFill>
                            <a:srgbClr val="000000"/>
                          </a:solidFill>
                          <a:effectLst/>
                          <a:latin typeface="Calibri" panose="020F0502020204030204" pitchFamily="34" charset="0"/>
                        </a:rPr>
                        <a:t>Other</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7552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a:solidFill>
                            <a:srgbClr val="000000"/>
                          </a:solidFill>
                          <a:effectLst/>
                          <a:latin typeface="Calibri" panose="020F0502020204030204" pitchFamily="34" charset="0"/>
                        </a:rPr>
                        <a:t>3.58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FFFFFF"/>
                    </a:solidFill>
                  </a:tcPr>
                </a:tc>
                <a:tc>
                  <a:txBody>
                    <a:bodyPr/>
                    <a:lstStyle/>
                    <a:p>
                      <a:pPr algn="ctr" rtl="0" fontAlgn="ctr"/>
                      <a:r>
                        <a:rPr lang="en-US" sz="1000" b="0" i="0" u="none" strike="noStrike" dirty="0">
                          <a:solidFill>
                            <a:srgbClr val="000000"/>
                          </a:solidFill>
                          <a:effectLst/>
                          <a:latin typeface="Calibri" panose="020F0502020204030204" pitchFamily="34" charset="0"/>
                        </a:rPr>
                        <a:t>2704</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699905730"/>
                  </a:ext>
                </a:extLst>
              </a:tr>
              <a:tr h="136159">
                <a:tc>
                  <a:txBody>
                    <a:bodyPr/>
                    <a:lstStyle/>
                    <a:p>
                      <a:pPr algn="l" rtl="0" fontAlgn="ctr"/>
                      <a:r>
                        <a:rPr lang="en-US" sz="1000" b="1" i="0" u="none" strike="noStrike">
                          <a:solidFill>
                            <a:srgbClr val="000000"/>
                          </a:solidFill>
                          <a:effectLst/>
                          <a:latin typeface="Calibri" panose="020F0502020204030204" pitchFamily="34" charset="0"/>
                        </a:rPr>
                        <a:t>Total</a:t>
                      </a:r>
                    </a:p>
                  </a:txBody>
                  <a:tcPr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00" b="1" i="0" u="none" strike="noStrike" dirty="0">
                          <a:solidFill>
                            <a:srgbClr val="000000"/>
                          </a:solidFill>
                          <a:effectLst/>
                          <a:latin typeface="Calibri" panose="020F0502020204030204" pitchFamily="34" charset="0"/>
                        </a:rPr>
                        <a:t>6270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00" b="1" i="0" u="none" strike="noStrike" dirty="0">
                          <a:solidFill>
                            <a:srgbClr val="000000"/>
                          </a:solidFill>
                          <a:effectLst/>
                          <a:latin typeface="Calibri" panose="020F0502020204030204" pitchFamily="34" charset="0"/>
                        </a:rPr>
                        <a:t>49913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00" b="1" i="0" u="none" strike="noStrike" dirty="0">
                          <a:solidFill>
                            <a:srgbClr val="000000"/>
                          </a:solidFill>
                          <a:effectLst/>
                          <a:latin typeface="Calibri" panose="020F0502020204030204" pitchFamily="34" charset="0"/>
                        </a:rPr>
                        <a:t>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00" b="1" i="0" u="none" strike="noStrike" dirty="0">
                          <a:solidFill>
                            <a:srgbClr val="000000"/>
                          </a:solidFill>
                          <a:effectLst/>
                          <a:latin typeface="Calibri" panose="020F0502020204030204" pitchFamily="34" charset="0"/>
                        </a:rPr>
                        <a:t>3.48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00" b="1" i="0" u="none" strike="noStrike" dirty="0">
                          <a:solidFill>
                            <a:srgbClr val="000000"/>
                          </a:solidFill>
                          <a:effectLst/>
                          <a:latin typeface="Calibri" panose="020F0502020204030204" pitchFamily="34" charset="0"/>
                        </a:rPr>
                        <a:t>17392</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30199248"/>
                  </a:ext>
                </a:extLst>
              </a:tr>
            </a:tbl>
          </a:graphicData>
        </a:graphic>
      </p:graphicFrame>
    </p:spTree>
    <p:extLst>
      <p:ext uri="{BB962C8B-B14F-4D97-AF65-F5344CB8AC3E}">
        <p14:creationId xmlns:p14="http://schemas.microsoft.com/office/powerpoint/2010/main" val="4168238941"/>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Straight Arrow Connector 83">
            <a:extLst>
              <a:ext uri="{FF2B5EF4-FFF2-40B4-BE49-F238E27FC236}">
                <a16:creationId xmlns:a16="http://schemas.microsoft.com/office/drawing/2014/main" id="{F536548E-1A73-4D1A-9059-06057334D37D}"/>
              </a:ext>
            </a:extLst>
          </p:cNvPr>
          <p:cNvCxnSpPr>
            <a:cxnSpLocks/>
          </p:cNvCxnSpPr>
          <p:nvPr/>
        </p:nvCxnSpPr>
        <p:spPr>
          <a:xfrm>
            <a:off x="550450" y="1484136"/>
            <a:ext cx="338898" cy="0"/>
          </a:xfrm>
          <a:prstGeom prst="straightConnector1">
            <a:avLst/>
          </a:prstGeom>
          <a:ln>
            <a:prstDash val="sysDot"/>
            <a:tailEnd type="triangle"/>
          </a:ln>
        </p:spPr>
        <p:style>
          <a:lnRef idx="2">
            <a:schemeClr val="accent6"/>
          </a:lnRef>
          <a:fillRef idx="0">
            <a:schemeClr val="accent6"/>
          </a:fillRef>
          <a:effectRef idx="1">
            <a:schemeClr val="accent6"/>
          </a:effectRef>
          <a:fontRef idx="minor">
            <a:schemeClr val="tx1"/>
          </a:fontRef>
        </p:style>
      </p:cxnSp>
      <p:cxnSp>
        <p:nvCxnSpPr>
          <p:cNvPr id="45" name="Straight Arrow Connector 44">
            <a:extLst>
              <a:ext uri="{FF2B5EF4-FFF2-40B4-BE49-F238E27FC236}">
                <a16:creationId xmlns:a16="http://schemas.microsoft.com/office/drawing/2014/main" id="{96987CCD-ACCA-4D3A-A7CD-7FBE1947523C}"/>
              </a:ext>
            </a:extLst>
          </p:cNvPr>
          <p:cNvCxnSpPr>
            <a:cxnSpLocks/>
          </p:cNvCxnSpPr>
          <p:nvPr/>
        </p:nvCxnSpPr>
        <p:spPr>
          <a:xfrm>
            <a:off x="550450" y="2705395"/>
            <a:ext cx="338898" cy="0"/>
          </a:xfrm>
          <a:prstGeom prst="straightConnector1">
            <a:avLst/>
          </a:prstGeom>
          <a:ln>
            <a:solidFill>
              <a:srgbClr val="041E42"/>
            </a:solidFill>
            <a:prstDash val="sysDot"/>
            <a:tailEnd type="triangle"/>
          </a:ln>
        </p:spPr>
        <p:style>
          <a:lnRef idx="2">
            <a:schemeClr val="accent6"/>
          </a:lnRef>
          <a:fillRef idx="0">
            <a:schemeClr val="accent6"/>
          </a:fillRef>
          <a:effectRef idx="1">
            <a:schemeClr val="accent6"/>
          </a:effectRef>
          <a:fontRef idx="minor">
            <a:schemeClr val="tx1"/>
          </a:fontRef>
        </p:style>
      </p:cxnSp>
      <p:cxnSp>
        <p:nvCxnSpPr>
          <p:cNvPr id="48" name="Straight Arrow Connector 47">
            <a:extLst>
              <a:ext uri="{FF2B5EF4-FFF2-40B4-BE49-F238E27FC236}">
                <a16:creationId xmlns:a16="http://schemas.microsoft.com/office/drawing/2014/main" id="{CD79B1C8-B318-4898-AE3A-7C219777036A}"/>
              </a:ext>
            </a:extLst>
          </p:cNvPr>
          <p:cNvCxnSpPr>
            <a:cxnSpLocks/>
          </p:cNvCxnSpPr>
          <p:nvPr/>
        </p:nvCxnSpPr>
        <p:spPr>
          <a:xfrm>
            <a:off x="550450" y="3729558"/>
            <a:ext cx="338898" cy="0"/>
          </a:xfrm>
          <a:prstGeom prst="straightConnector1">
            <a:avLst/>
          </a:prstGeom>
          <a:ln>
            <a:solidFill>
              <a:srgbClr val="7030A0"/>
            </a:solidFill>
            <a:prstDash val="sysDot"/>
            <a:tailEnd type="triangle"/>
          </a:ln>
        </p:spPr>
        <p:style>
          <a:lnRef idx="2">
            <a:schemeClr val="accent6"/>
          </a:lnRef>
          <a:fillRef idx="0">
            <a:schemeClr val="accent6"/>
          </a:fillRef>
          <a:effectRef idx="1">
            <a:schemeClr val="accent6"/>
          </a:effectRef>
          <a:fontRef idx="minor">
            <a:schemeClr val="tx1"/>
          </a:fontRef>
        </p:style>
      </p:cxnSp>
      <p:cxnSp>
        <p:nvCxnSpPr>
          <p:cNvPr id="51" name="Straight Arrow Connector 50">
            <a:extLst>
              <a:ext uri="{FF2B5EF4-FFF2-40B4-BE49-F238E27FC236}">
                <a16:creationId xmlns:a16="http://schemas.microsoft.com/office/drawing/2014/main" id="{4AA1E304-427F-4FC4-8259-9E65968E77EF}"/>
              </a:ext>
            </a:extLst>
          </p:cNvPr>
          <p:cNvCxnSpPr>
            <a:cxnSpLocks/>
          </p:cNvCxnSpPr>
          <p:nvPr/>
        </p:nvCxnSpPr>
        <p:spPr>
          <a:xfrm>
            <a:off x="550450" y="4560415"/>
            <a:ext cx="338898" cy="0"/>
          </a:xfrm>
          <a:prstGeom prst="straightConnector1">
            <a:avLst/>
          </a:prstGeom>
          <a:ln>
            <a:solidFill>
              <a:srgbClr val="046A38"/>
            </a:solidFill>
            <a:prstDash val="sysDot"/>
            <a:tailEnd type="triangle"/>
          </a:ln>
        </p:spPr>
        <p:style>
          <a:lnRef idx="2">
            <a:schemeClr val="accent6"/>
          </a:lnRef>
          <a:fillRef idx="0">
            <a:schemeClr val="accent6"/>
          </a:fillRef>
          <a:effectRef idx="1">
            <a:schemeClr val="accent6"/>
          </a:effectRef>
          <a:fontRef idx="minor">
            <a:schemeClr val="tx1"/>
          </a:fontRef>
        </p:style>
      </p:cxnSp>
      <p:cxnSp>
        <p:nvCxnSpPr>
          <p:cNvPr id="54" name="Straight Arrow Connector 53">
            <a:extLst>
              <a:ext uri="{FF2B5EF4-FFF2-40B4-BE49-F238E27FC236}">
                <a16:creationId xmlns:a16="http://schemas.microsoft.com/office/drawing/2014/main" id="{F8DB37C1-0A3A-41CA-86F0-F4B2F2EB8F61}"/>
              </a:ext>
            </a:extLst>
          </p:cNvPr>
          <p:cNvCxnSpPr>
            <a:cxnSpLocks/>
          </p:cNvCxnSpPr>
          <p:nvPr/>
        </p:nvCxnSpPr>
        <p:spPr>
          <a:xfrm>
            <a:off x="550450" y="5408605"/>
            <a:ext cx="338898" cy="0"/>
          </a:xfrm>
          <a:prstGeom prst="straightConnector1">
            <a:avLst/>
          </a:prstGeom>
          <a:ln>
            <a:solidFill>
              <a:srgbClr val="00B0F0"/>
            </a:solidFill>
            <a:prstDash val="sysDot"/>
            <a:tailEnd type="triangle"/>
          </a:ln>
        </p:spPr>
        <p:style>
          <a:lnRef idx="2">
            <a:schemeClr val="accent6"/>
          </a:lnRef>
          <a:fillRef idx="0">
            <a:schemeClr val="accent6"/>
          </a:fillRef>
          <a:effectRef idx="1">
            <a:schemeClr val="accent6"/>
          </a:effectRef>
          <a:fontRef idx="minor">
            <a:schemeClr val="tx1"/>
          </a:fontRef>
        </p:style>
      </p:cxnSp>
      <p:cxnSp>
        <p:nvCxnSpPr>
          <p:cNvPr id="57" name="Straight Arrow Connector 56">
            <a:extLst>
              <a:ext uri="{FF2B5EF4-FFF2-40B4-BE49-F238E27FC236}">
                <a16:creationId xmlns:a16="http://schemas.microsoft.com/office/drawing/2014/main" id="{9217304E-13EB-498A-80DB-FAB9B8F66ABA}"/>
              </a:ext>
            </a:extLst>
          </p:cNvPr>
          <p:cNvCxnSpPr>
            <a:cxnSpLocks/>
          </p:cNvCxnSpPr>
          <p:nvPr/>
        </p:nvCxnSpPr>
        <p:spPr>
          <a:xfrm>
            <a:off x="550450" y="6227955"/>
            <a:ext cx="338898" cy="0"/>
          </a:xfrm>
          <a:prstGeom prst="straightConnector1">
            <a:avLst/>
          </a:prstGeom>
          <a:ln>
            <a:solidFill>
              <a:schemeClr val="accent6">
                <a:lumMod val="50000"/>
              </a:schemeClr>
            </a:solidFill>
            <a:prstDash val="sysDot"/>
            <a:tailEnd type="triangle"/>
          </a:ln>
        </p:spPr>
        <p:style>
          <a:lnRef idx="2">
            <a:schemeClr val="accent6"/>
          </a:lnRef>
          <a:fillRef idx="0">
            <a:schemeClr val="accent6"/>
          </a:fillRef>
          <a:effectRef idx="1">
            <a:schemeClr val="accent6"/>
          </a:effectRef>
          <a:fontRef idx="minor">
            <a:schemeClr val="tx1"/>
          </a:fontRef>
        </p:style>
      </p:cxnSp>
      <p:sp>
        <p:nvSpPr>
          <p:cNvPr id="11" name="Rectangle 10">
            <a:extLst>
              <a:ext uri="{FF2B5EF4-FFF2-40B4-BE49-F238E27FC236}">
                <a16:creationId xmlns:a16="http://schemas.microsoft.com/office/drawing/2014/main" id="{39EC4E57-C8EC-4092-90F6-C3BFAF322840}"/>
              </a:ext>
            </a:extLst>
          </p:cNvPr>
          <p:cNvSpPr/>
          <p:nvPr/>
        </p:nvSpPr>
        <p:spPr bwMode="gray">
          <a:xfrm>
            <a:off x="1151746" y="968386"/>
            <a:ext cx="10756620" cy="5623895"/>
          </a:xfrm>
          <a:prstGeom prst="rect">
            <a:avLst/>
          </a:prstGeom>
          <a:solidFill>
            <a:srgbClr val="046A38">
              <a:alpha val="15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1735"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3"/>
            <a:ext cx="11188700" cy="368299"/>
          </a:xfrm>
        </p:spPr>
        <p:txBody>
          <a:bodyPr vert="horz"/>
          <a:lstStyle/>
          <a:p>
            <a:pPr algn="just"/>
            <a:r>
              <a:rPr lang="en-US" sz="1800" b="1" i="0" dirty="0">
                <a:solidFill>
                  <a:schemeClr val="tx1"/>
                </a:solidFill>
              </a:rPr>
              <a:t>MOP Guideline dated 22.03.2021 for Exit of PPA for DISCOMS after completion of term of PPA  i.e beyond 25 years or a period specified in PPA  (1/2) </a:t>
            </a:r>
          </a:p>
        </p:txBody>
      </p:sp>
      <p:sp>
        <p:nvSpPr>
          <p:cNvPr id="81" name="Arrow: Right 80">
            <a:extLst>
              <a:ext uri="{FF2B5EF4-FFF2-40B4-BE49-F238E27FC236}">
                <a16:creationId xmlns:a16="http://schemas.microsoft.com/office/drawing/2014/main" id="{3189446B-BCD7-4EA7-8A64-CEBEE9FFA6F5}"/>
              </a:ext>
            </a:extLst>
          </p:cNvPr>
          <p:cNvSpPr/>
          <p:nvPr/>
        </p:nvSpPr>
        <p:spPr bwMode="gray">
          <a:xfrm rot="5400000">
            <a:off x="-2107300" y="3813650"/>
            <a:ext cx="5294865" cy="262397"/>
          </a:xfrm>
          <a:prstGeom prst="rightArrow">
            <a:avLst>
              <a:gd name="adj1" fmla="val 50000"/>
              <a:gd name="adj2" fmla="val 50000"/>
            </a:avLst>
          </a:prstGeom>
          <a:solidFill>
            <a:srgbClr val="0076A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87" name="Oval 86">
            <a:extLst>
              <a:ext uri="{FF2B5EF4-FFF2-40B4-BE49-F238E27FC236}">
                <a16:creationId xmlns:a16="http://schemas.microsoft.com/office/drawing/2014/main" id="{FACB71FD-9724-4309-874F-A01F043B803E}"/>
              </a:ext>
            </a:extLst>
          </p:cNvPr>
          <p:cNvSpPr/>
          <p:nvPr/>
        </p:nvSpPr>
        <p:spPr bwMode="gray">
          <a:xfrm flipH="1" flipV="1">
            <a:off x="889348" y="1297416"/>
            <a:ext cx="262398" cy="368300"/>
          </a:xfrm>
          <a:prstGeom prst="ellipse">
            <a:avLst/>
          </a:prstGeom>
          <a:ln>
            <a:solidFill>
              <a:srgbClr val="005587"/>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91" name="Flowchart: Direct Access Storage 90">
            <a:extLst>
              <a:ext uri="{FF2B5EF4-FFF2-40B4-BE49-F238E27FC236}">
                <a16:creationId xmlns:a16="http://schemas.microsoft.com/office/drawing/2014/main" id="{D44900F4-3CC5-41CD-AEF9-F809251E8ED8}"/>
              </a:ext>
            </a:extLst>
          </p:cNvPr>
          <p:cNvSpPr/>
          <p:nvPr/>
        </p:nvSpPr>
        <p:spPr bwMode="gray">
          <a:xfrm rot="5400000">
            <a:off x="272864" y="1014602"/>
            <a:ext cx="555171" cy="283028"/>
          </a:xfrm>
          <a:prstGeom prst="flowChartMagneticDrum">
            <a:avLst/>
          </a:prstGeom>
          <a:solidFill>
            <a:srgbClr val="0076A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7" name="Rectangle: Rounded Corners 6">
            <a:extLst>
              <a:ext uri="{FF2B5EF4-FFF2-40B4-BE49-F238E27FC236}">
                <a16:creationId xmlns:a16="http://schemas.microsoft.com/office/drawing/2014/main" id="{5DA00F7D-AF8E-4547-8901-A3863B20583E}"/>
              </a:ext>
            </a:extLst>
          </p:cNvPr>
          <p:cNvSpPr/>
          <p:nvPr/>
        </p:nvSpPr>
        <p:spPr bwMode="gray">
          <a:xfrm>
            <a:off x="1151746" y="1030775"/>
            <a:ext cx="10756620" cy="922530"/>
          </a:xfrm>
          <a:prstGeom prst="roundRect">
            <a:avLst/>
          </a:prstGeom>
          <a:ln>
            <a:headEnd/>
            <a:tailEnd/>
          </a:ln>
        </p:spPr>
        <p:style>
          <a:lnRef idx="2">
            <a:schemeClr val="accent6"/>
          </a:lnRef>
          <a:fillRef idx="1">
            <a:schemeClr val="lt1"/>
          </a:fillRef>
          <a:effectRef idx="0">
            <a:schemeClr val="accent6"/>
          </a:effectRef>
          <a:fontRef idx="minor">
            <a:schemeClr val="dk1"/>
          </a:fontRef>
        </p:style>
        <p:txBody>
          <a:bodyPr wrap="square" lIns="88900" tIns="88900" rIns="88900" bIns="88900" rtlCol="0" anchor="ctr"/>
          <a:lstStyle/>
          <a:p>
            <a:pPr marL="171450" indent="-171450" algn="just">
              <a:lnSpc>
                <a:spcPct val="106000"/>
              </a:lnSpc>
              <a:buFont typeface="Wingdings" panose="05000000000000000000" pitchFamily="2" charset="2"/>
              <a:buChar char="v"/>
            </a:pPr>
            <a:r>
              <a:rPr lang="en-US" sz="1200" dirty="0">
                <a:solidFill>
                  <a:schemeClr val="tx1"/>
                </a:solidFill>
              </a:rPr>
              <a:t>Willing State/Discoms may relinquish their share from eligible CGSs after expiry of the term of the PPA i.e. on completion of 25 years from the date of commissioning of the plant or a period specified in the PPA. </a:t>
            </a:r>
          </a:p>
          <a:p>
            <a:pPr marL="171450" indent="-171450" algn="just">
              <a:lnSpc>
                <a:spcPct val="106000"/>
              </a:lnSpc>
              <a:buFont typeface="Wingdings" panose="05000000000000000000" pitchFamily="2" charset="2"/>
              <a:buChar char="v"/>
            </a:pPr>
            <a:r>
              <a:rPr lang="en-US" sz="1200" dirty="0">
                <a:solidFill>
                  <a:schemeClr val="tx1"/>
                </a:solidFill>
              </a:rPr>
              <a:t>The request for relinquishment of such power from CGSs may be submitted only after the approval of the State Commission who would ensure the adequacy of power tied up with the Discoms to meet the demand of electricity for all the consumers.</a:t>
            </a:r>
            <a:endParaRPr lang="en-US" sz="1600" b="1" dirty="0">
              <a:solidFill>
                <a:schemeClr val="bg1"/>
              </a:solidFill>
            </a:endParaRPr>
          </a:p>
        </p:txBody>
      </p:sp>
      <p:sp>
        <p:nvSpPr>
          <p:cNvPr id="46" name="Oval 45">
            <a:extLst>
              <a:ext uri="{FF2B5EF4-FFF2-40B4-BE49-F238E27FC236}">
                <a16:creationId xmlns:a16="http://schemas.microsoft.com/office/drawing/2014/main" id="{FD950162-EA6F-4F88-832F-1A1ADDEA1C77}"/>
              </a:ext>
            </a:extLst>
          </p:cNvPr>
          <p:cNvSpPr/>
          <p:nvPr/>
        </p:nvSpPr>
        <p:spPr bwMode="gray">
          <a:xfrm flipH="1" flipV="1">
            <a:off x="889348" y="2518675"/>
            <a:ext cx="262398" cy="368300"/>
          </a:xfrm>
          <a:prstGeom prst="ellipse">
            <a:avLst/>
          </a:prstGeom>
          <a:ln>
            <a:solidFill>
              <a:srgbClr val="041E42"/>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7" name="Rectangle: Rounded Corners 46">
            <a:extLst>
              <a:ext uri="{FF2B5EF4-FFF2-40B4-BE49-F238E27FC236}">
                <a16:creationId xmlns:a16="http://schemas.microsoft.com/office/drawing/2014/main" id="{D5877413-D0CE-4542-A71A-6286EB6A2314}"/>
              </a:ext>
            </a:extLst>
          </p:cNvPr>
          <p:cNvSpPr/>
          <p:nvPr/>
        </p:nvSpPr>
        <p:spPr bwMode="gray">
          <a:xfrm>
            <a:off x="1151746" y="2005762"/>
            <a:ext cx="10756620" cy="1321247"/>
          </a:xfrm>
          <a:prstGeom prst="roundRect">
            <a:avLst/>
          </a:prstGeom>
          <a:ln>
            <a:solidFill>
              <a:srgbClr val="041E42"/>
            </a:solidFill>
            <a:headEnd/>
            <a:tailEnd/>
          </a:ln>
        </p:spPr>
        <p:style>
          <a:lnRef idx="2">
            <a:schemeClr val="accent6"/>
          </a:lnRef>
          <a:fillRef idx="1">
            <a:schemeClr val="lt1"/>
          </a:fillRef>
          <a:effectRef idx="0">
            <a:schemeClr val="accent6"/>
          </a:effectRef>
          <a:fontRef idx="minor">
            <a:schemeClr val="dk1"/>
          </a:fontRef>
        </p:style>
        <p:txBody>
          <a:bodyPr wrap="square" lIns="88900" tIns="88900" rIns="88900" bIns="88900" rtlCol="0" anchor="ctr"/>
          <a:lstStyle/>
          <a:p>
            <a:pPr marL="171450" indent="-171450" algn="just">
              <a:lnSpc>
                <a:spcPct val="106000"/>
              </a:lnSpc>
              <a:buFont typeface="Wingdings" panose="05000000000000000000" pitchFamily="2" charset="2"/>
              <a:buChar char="v"/>
            </a:pPr>
            <a:r>
              <a:rPr lang="en-US" sz="1200" dirty="0">
                <a:solidFill>
                  <a:schemeClr val="tx1"/>
                </a:solidFill>
              </a:rPr>
              <a:t>The States/ Discoms having Long-term PPAs with the Central Generating stations, which are due to expire in the near future can opt to relinquish the entire allocated power (firm and unallocated share) from such eligible CGSs post completion of the PPA tenure i.e. on completion of 25 years from the date of commissioning of the plant or a period specified in the PPA by giving six months advance notice for their intention to relinquish such power.</a:t>
            </a:r>
          </a:p>
          <a:p>
            <a:pPr marL="171450" indent="-171450" algn="just">
              <a:lnSpc>
                <a:spcPct val="106000"/>
              </a:lnSpc>
              <a:buFont typeface="Wingdings" panose="05000000000000000000" pitchFamily="2" charset="2"/>
              <a:buChar char="v"/>
            </a:pPr>
            <a:r>
              <a:rPr lang="en-US" sz="1200" dirty="0">
                <a:solidFill>
                  <a:schemeClr val="tx1"/>
                </a:solidFill>
              </a:rPr>
              <a:t>For the Stations, which have already completed 25 years, States may exit from the PPA of such eligible CGS after giving six months of notice of relinquishment of such power.</a:t>
            </a:r>
          </a:p>
        </p:txBody>
      </p:sp>
      <p:sp>
        <p:nvSpPr>
          <p:cNvPr id="49" name="Oval 48">
            <a:extLst>
              <a:ext uri="{FF2B5EF4-FFF2-40B4-BE49-F238E27FC236}">
                <a16:creationId xmlns:a16="http://schemas.microsoft.com/office/drawing/2014/main" id="{B909A61D-0617-4F96-9C8B-FE451E8FC471}"/>
              </a:ext>
            </a:extLst>
          </p:cNvPr>
          <p:cNvSpPr/>
          <p:nvPr/>
        </p:nvSpPr>
        <p:spPr bwMode="gray">
          <a:xfrm flipH="1" flipV="1">
            <a:off x="889348" y="3542838"/>
            <a:ext cx="262398" cy="368300"/>
          </a:xfrm>
          <a:prstGeom prst="ellipse">
            <a:avLst/>
          </a:prstGeom>
          <a:ln>
            <a:solidFill>
              <a:srgbClr val="7030A0"/>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0" name="Rectangle: Rounded Corners 49">
            <a:extLst>
              <a:ext uri="{FF2B5EF4-FFF2-40B4-BE49-F238E27FC236}">
                <a16:creationId xmlns:a16="http://schemas.microsoft.com/office/drawing/2014/main" id="{1A74E28E-C370-44F3-A754-083D69A5DA06}"/>
              </a:ext>
            </a:extLst>
          </p:cNvPr>
          <p:cNvSpPr/>
          <p:nvPr/>
        </p:nvSpPr>
        <p:spPr bwMode="gray">
          <a:xfrm>
            <a:off x="1151746" y="3395763"/>
            <a:ext cx="10756620" cy="750556"/>
          </a:xfrm>
          <a:prstGeom prst="roundRect">
            <a:avLst/>
          </a:prstGeom>
          <a:ln>
            <a:solidFill>
              <a:srgbClr val="7030A0"/>
            </a:solidFill>
            <a:headEnd/>
            <a:tailEnd/>
          </a:ln>
        </p:spPr>
        <p:style>
          <a:lnRef idx="2">
            <a:schemeClr val="accent6"/>
          </a:lnRef>
          <a:fillRef idx="1">
            <a:schemeClr val="lt1"/>
          </a:fillRef>
          <a:effectRef idx="0">
            <a:schemeClr val="accent6"/>
          </a:effectRef>
          <a:fontRef idx="minor">
            <a:schemeClr val="dk1"/>
          </a:fontRef>
        </p:style>
        <p:txBody>
          <a:bodyPr wrap="square" lIns="88900" tIns="88900" rIns="88900" bIns="88900" rtlCol="0" anchor="ctr"/>
          <a:lstStyle/>
          <a:p>
            <a:pPr marL="171450" indent="-171450" algn="just">
              <a:lnSpc>
                <a:spcPct val="106000"/>
              </a:lnSpc>
              <a:buFont typeface="Wingdings" panose="05000000000000000000" pitchFamily="2" charset="2"/>
              <a:buChar char="v"/>
            </a:pPr>
            <a:r>
              <a:rPr lang="en-US" sz="1200" dirty="0">
                <a:solidFill>
                  <a:schemeClr val="tx1"/>
                </a:solidFill>
              </a:rPr>
              <a:t>The relinquishment of such power will be considered only after the State/ Discoms have cleared all the past dues. The State/Discoms shall continue to be liable to make all the eligible payments/ dues as per the prevailing rules/regulations to the Generators whose share of power has been relinquished till final settlement</a:t>
            </a:r>
          </a:p>
        </p:txBody>
      </p:sp>
      <p:sp>
        <p:nvSpPr>
          <p:cNvPr id="52" name="Oval 51">
            <a:extLst>
              <a:ext uri="{FF2B5EF4-FFF2-40B4-BE49-F238E27FC236}">
                <a16:creationId xmlns:a16="http://schemas.microsoft.com/office/drawing/2014/main" id="{CAA6BD45-A0A4-4E8A-BF5F-515ADDC3FDD2}"/>
              </a:ext>
            </a:extLst>
          </p:cNvPr>
          <p:cNvSpPr/>
          <p:nvPr/>
        </p:nvSpPr>
        <p:spPr bwMode="gray">
          <a:xfrm flipH="1" flipV="1">
            <a:off x="889348" y="4373695"/>
            <a:ext cx="262398" cy="368300"/>
          </a:xfrm>
          <a:prstGeom prst="ellipse">
            <a:avLst/>
          </a:prstGeom>
          <a:ln>
            <a:solidFill>
              <a:srgbClr val="046A38"/>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3" name="Rectangle: Rounded Corners 52">
            <a:extLst>
              <a:ext uri="{FF2B5EF4-FFF2-40B4-BE49-F238E27FC236}">
                <a16:creationId xmlns:a16="http://schemas.microsoft.com/office/drawing/2014/main" id="{CF344643-CB9F-479E-AA7A-B553C2E80C80}"/>
              </a:ext>
            </a:extLst>
          </p:cNvPr>
          <p:cNvSpPr/>
          <p:nvPr/>
        </p:nvSpPr>
        <p:spPr bwMode="gray">
          <a:xfrm>
            <a:off x="1151746" y="4208056"/>
            <a:ext cx="10756620" cy="750556"/>
          </a:xfrm>
          <a:prstGeom prst="roundRect">
            <a:avLst/>
          </a:prstGeom>
          <a:ln>
            <a:solidFill>
              <a:srgbClr val="046A38"/>
            </a:solidFill>
            <a:headEnd/>
            <a:tailEnd/>
          </a:ln>
        </p:spPr>
        <p:style>
          <a:lnRef idx="2">
            <a:schemeClr val="accent6"/>
          </a:lnRef>
          <a:fillRef idx="1">
            <a:schemeClr val="lt1"/>
          </a:fillRef>
          <a:effectRef idx="0">
            <a:schemeClr val="accent6"/>
          </a:effectRef>
          <a:fontRef idx="minor">
            <a:schemeClr val="dk1"/>
          </a:fontRef>
        </p:style>
        <p:txBody>
          <a:bodyPr wrap="square" lIns="88900" tIns="88900" rIns="88900" bIns="88900" rtlCol="0" anchor="ctr"/>
          <a:lstStyle/>
          <a:p>
            <a:pPr marL="171450" indent="-171450" algn="just">
              <a:lnSpc>
                <a:spcPct val="106000"/>
              </a:lnSpc>
              <a:buFont typeface="Wingdings" panose="05000000000000000000" pitchFamily="2" charset="2"/>
              <a:buChar char="v"/>
            </a:pPr>
            <a:r>
              <a:rPr lang="en-US" sz="1200" dirty="0">
                <a:solidFill>
                  <a:schemeClr val="tx1"/>
                </a:solidFill>
              </a:rPr>
              <a:t>The relinquishment of such power will be considered only after the State/ Discoms have cleared all the past dues. The State/Discoms shall continue to be liable to make all the eligible payments/ dues as per the prevailing rules/regulations to the Generators whose share of power has been relinquished till final settlement</a:t>
            </a:r>
          </a:p>
        </p:txBody>
      </p:sp>
      <p:sp>
        <p:nvSpPr>
          <p:cNvPr id="55" name="Oval 54">
            <a:extLst>
              <a:ext uri="{FF2B5EF4-FFF2-40B4-BE49-F238E27FC236}">
                <a16:creationId xmlns:a16="http://schemas.microsoft.com/office/drawing/2014/main" id="{CF48CFD8-19A8-4630-8E86-F985AD5236E6}"/>
              </a:ext>
            </a:extLst>
          </p:cNvPr>
          <p:cNvSpPr/>
          <p:nvPr/>
        </p:nvSpPr>
        <p:spPr bwMode="gray">
          <a:xfrm flipH="1" flipV="1">
            <a:off x="889348" y="5221885"/>
            <a:ext cx="262398" cy="368300"/>
          </a:xfrm>
          <a:prstGeom prst="ellipse">
            <a:avLst/>
          </a:prstGeom>
          <a:ln>
            <a:solidFill>
              <a:srgbClr val="00B0F0"/>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6" name="Rectangle: Rounded Corners 55">
            <a:extLst>
              <a:ext uri="{FF2B5EF4-FFF2-40B4-BE49-F238E27FC236}">
                <a16:creationId xmlns:a16="http://schemas.microsoft.com/office/drawing/2014/main" id="{C08B5C61-CF40-4080-9F0B-87D4146FEAC3}"/>
              </a:ext>
            </a:extLst>
          </p:cNvPr>
          <p:cNvSpPr/>
          <p:nvPr/>
        </p:nvSpPr>
        <p:spPr bwMode="gray">
          <a:xfrm>
            <a:off x="1151746" y="5034528"/>
            <a:ext cx="10756620" cy="750556"/>
          </a:xfrm>
          <a:prstGeom prst="roundRect">
            <a:avLst/>
          </a:prstGeom>
          <a:ln>
            <a:solidFill>
              <a:srgbClr val="00B0F0"/>
            </a:solidFill>
            <a:headEnd/>
            <a:tailEnd/>
          </a:ln>
        </p:spPr>
        <p:style>
          <a:lnRef idx="2">
            <a:schemeClr val="accent6"/>
          </a:lnRef>
          <a:fillRef idx="1">
            <a:schemeClr val="lt1"/>
          </a:fillRef>
          <a:effectRef idx="0">
            <a:schemeClr val="accent6"/>
          </a:effectRef>
          <a:fontRef idx="minor">
            <a:schemeClr val="dk1"/>
          </a:fontRef>
        </p:style>
        <p:txBody>
          <a:bodyPr wrap="square" lIns="88900" tIns="88900" rIns="88900" bIns="88900" rtlCol="0" anchor="ctr"/>
          <a:lstStyle/>
          <a:p>
            <a:pPr marL="171450" indent="-171450" algn="just">
              <a:lnSpc>
                <a:spcPct val="106000"/>
              </a:lnSpc>
              <a:buFont typeface="Wingdings" panose="05000000000000000000" pitchFamily="2" charset="2"/>
              <a:buChar char="v"/>
            </a:pPr>
            <a:r>
              <a:rPr lang="en-US" sz="1200" dirty="0">
                <a:solidFill>
                  <a:schemeClr val="tx1"/>
                </a:solidFill>
              </a:rPr>
              <a:t>In all such cases of relinquishment of share from power stations, the power allocation, if any, made by the Central government to the State from that power station would be treated as withdrawn. Intimation to this effect will be required to be given by either the generating company or the State to the Ministry of power</a:t>
            </a:r>
          </a:p>
        </p:txBody>
      </p:sp>
      <p:sp>
        <p:nvSpPr>
          <p:cNvPr id="58" name="Oval 57">
            <a:extLst>
              <a:ext uri="{FF2B5EF4-FFF2-40B4-BE49-F238E27FC236}">
                <a16:creationId xmlns:a16="http://schemas.microsoft.com/office/drawing/2014/main" id="{CCE836E0-725A-457E-A4AF-C8A925E74FD5}"/>
              </a:ext>
            </a:extLst>
          </p:cNvPr>
          <p:cNvSpPr/>
          <p:nvPr/>
        </p:nvSpPr>
        <p:spPr bwMode="gray">
          <a:xfrm flipH="1" flipV="1">
            <a:off x="889348" y="6041235"/>
            <a:ext cx="262398" cy="368300"/>
          </a:xfrm>
          <a:prstGeom prst="ellipse">
            <a:avLst/>
          </a:prstGeom>
          <a:ln>
            <a:solidFill>
              <a:schemeClr val="accent6">
                <a:lumMod val="50000"/>
              </a:schemeClr>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9" name="Rectangle: Rounded Corners 58">
            <a:extLst>
              <a:ext uri="{FF2B5EF4-FFF2-40B4-BE49-F238E27FC236}">
                <a16:creationId xmlns:a16="http://schemas.microsoft.com/office/drawing/2014/main" id="{B0EEF4E4-7131-446D-9796-1681F5DA5A37}"/>
              </a:ext>
            </a:extLst>
          </p:cNvPr>
          <p:cNvSpPr/>
          <p:nvPr/>
        </p:nvSpPr>
        <p:spPr bwMode="gray">
          <a:xfrm>
            <a:off x="1151746" y="5844532"/>
            <a:ext cx="10756620" cy="750556"/>
          </a:xfrm>
          <a:prstGeom prst="roundRect">
            <a:avLst/>
          </a:prstGeom>
          <a:ln>
            <a:solidFill>
              <a:schemeClr val="accent6">
                <a:lumMod val="50000"/>
              </a:schemeClr>
            </a:solidFill>
            <a:headEnd/>
            <a:tailEnd/>
          </a:ln>
        </p:spPr>
        <p:style>
          <a:lnRef idx="2">
            <a:schemeClr val="accent6"/>
          </a:lnRef>
          <a:fillRef idx="1">
            <a:schemeClr val="lt1"/>
          </a:fillRef>
          <a:effectRef idx="0">
            <a:schemeClr val="accent6"/>
          </a:effectRef>
          <a:fontRef idx="minor">
            <a:schemeClr val="dk1"/>
          </a:fontRef>
        </p:style>
        <p:txBody>
          <a:bodyPr wrap="square" lIns="88900" tIns="88900" rIns="88900" bIns="88900" rtlCol="0" anchor="ctr"/>
          <a:lstStyle/>
          <a:p>
            <a:pPr marL="171450" indent="-171450" algn="just">
              <a:lnSpc>
                <a:spcPct val="106000"/>
              </a:lnSpc>
              <a:buFont typeface="Wingdings" panose="05000000000000000000" pitchFamily="2" charset="2"/>
              <a:buChar char="v"/>
            </a:pPr>
            <a:r>
              <a:rPr lang="en-US" sz="1200" dirty="0">
                <a:solidFill>
                  <a:schemeClr val="tx1"/>
                </a:solidFill>
              </a:rPr>
              <a:t>States may also relinquish the entire unallocated power from the CGSs (except some specific allocations e.g. power which has been bundled with solar etc). Part relinquishment of share from unallocated pool of power shall not be feasible and accordingly shall not be allowed.</a:t>
            </a:r>
          </a:p>
        </p:txBody>
      </p:sp>
    </p:spTree>
    <p:extLst>
      <p:ext uri="{BB962C8B-B14F-4D97-AF65-F5344CB8AC3E}">
        <p14:creationId xmlns:p14="http://schemas.microsoft.com/office/powerpoint/2010/main" val="733091160"/>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2B204693-8FAE-46CE-8911-652255731178}"/>
              </a:ext>
            </a:extLst>
          </p:cNvPr>
          <p:cNvSpPr/>
          <p:nvPr/>
        </p:nvSpPr>
        <p:spPr bwMode="gray">
          <a:xfrm>
            <a:off x="2805831" y="4237831"/>
            <a:ext cx="9102534" cy="2123226"/>
          </a:xfrm>
          <a:prstGeom prst="rect">
            <a:avLst/>
          </a:prstGeom>
          <a:solidFill>
            <a:srgbClr val="0076A8">
              <a:alpha val="15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cxnSp>
        <p:nvCxnSpPr>
          <p:cNvPr id="84" name="Straight Arrow Connector 83">
            <a:extLst>
              <a:ext uri="{FF2B5EF4-FFF2-40B4-BE49-F238E27FC236}">
                <a16:creationId xmlns:a16="http://schemas.microsoft.com/office/drawing/2014/main" id="{F536548E-1A73-4D1A-9059-06057334D37D}"/>
              </a:ext>
            </a:extLst>
          </p:cNvPr>
          <p:cNvCxnSpPr>
            <a:cxnSpLocks/>
          </p:cNvCxnSpPr>
          <p:nvPr/>
        </p:nvCxnSpPr>
        <p:spPr>
          <a:xfrm>
            <a:off x="550450" y="1456665"/>
            <a:ext cx="338898" cy="0"/>
          </a:xfrm>
          <a:prstGeom prst="straightConnector1">
            <a:avLst/>
          </a:prstGeom>
          <a:ln>
            <a:prstDash val="sysDot"/>
            <a:tailEnd type="triangle"/>
          </a:ln>
        </p:spPr>
        <p:style>
          <a:lnRef idx="2">
            <a:schemeClr val="accent6"/>
          </a:lnRef>
          <a:fillRef idx="0">
            <a:schemeClr val="accent6"/>
          </a:fillRef>
          <a:effectRef idx="1">
            <a:schemeClr val="accent6"/>
          </a:effectRef>
          <a:fontRef idx="minor">
            <a:schemeClr val="tx1"/>
          </a:fontRef>
        </p:style>
      </p:cxnSp>
      <p:cxnSp>
        <p:nvCxnSpPr>
          <p:cNvPr id="45" name="Straight Arrow Connector 44">
            <a:extLst>
              <a:ext uri="{FF2B5EF4-FFF2-40B4-BE49-F238E27FC236}">
                <a16:creationId xmlns:a16="http://schemas.microsoft.com/office/drawing/2014/main" id="{96987CCD-ACCA-4D3A-A7CD-7FBE1947523C}"/>
              </a:ext>
            </a:extLst>
          </p:cNvPr>
          <p:cNvCxnSpPr>
            <a:cxnSpLocks/>
          </p:cNvCxnSpPr>
          <p:nvPr/>
        </p:nvCxnSpPr>
        <p:spPr>
          <a:xfrm>
            <a:off x="550450" y="2195833"/>
            <a:ext cx="338898" cy="0"/>
          </a:xfrm>
          <a:prstGeom prst="straightConnector1">
            <a:avLst/>
          </a:prstGeom>
          <a:ln>
            <a:prstDash val="sysDot"/>
            <a:tailEnd type="triangle"/>
          </a:ln>
        </p:spPr>
        <p:style>
          <a:lnRef idx="2">
            <a:schemeClr val="accent6"/>
          </a:lnRef>
          <a:fillRef idx="0">
            <a:schemeClr val="accent6"/>
          </a:fillRef>
          <a:effectRef idx="1">
            <a:schemeClr val="accent6"/>
          </a:effectRef>
          <a:fontRef idx="minor">
            <a:schemeClr val="tx1"/>
          </a:fontRef>
        </p:style>
      </p:cxnSp>
      <p:cxnSp>
        <p:nvCxnSpPr>
          <p:cNvPr id="48" name="Straight Arrow Connector 47">
            <a:extLst>
              <a:ext uri="{FF2B5EF4-FFF2-40B4-BE49-F238E27FC236}">
                <a16:creationId xmlns:a16="http://schemas.microsoft.com/office/drawing/2014/main" id="{CD79B1C8-B318-4898-AE3A-7C219777036A}"/>
              </a:ext>
            </a:extLst>
          </p:cNvPr>
          <p:cNvCxnSpPr>
            <a:cxnSpLocks/>
          </p:cNvCxnSpPr>
          <p:nvPr/>
        </p:nvCxnSpPr>
        <p:spPr>
          <a:xfrm>
            <a:off x="550450" y="3099758"/>
            <a:ext cx="338898" cy="0"/>
          </a:xfrm>
          <a:prstGeom prst="straightConnector1">
            <a:avLst/>
          </a:prstGeom>
          <a:ln>
            <a:solidFill>
              <a:srgbClr val="012169"/>
            </a:solidFill>
            <a:prstDash val="sysDot"/>
            <a:tailEnd type="triangle"/>
          </a:ln>
        </p:spPr>
        <p:style>
          <a:lnRef idx="2">
            <a:schemeClr val="accent6"/>
          </a:lnRef>
          <a:fillRef idx="0">
            <a:schemeClr val="accent6"/>
          </a:fillRef>
          <a:effectRef idx="1">
            <a:schemeClr val="accent6"/>
          </a:effectRef>
          <a:fontRef idx="minor">
            <a:schemeClr val="tx1"/>
          </a:fontRef>
        </p:style>
      </p:cxnSp>
      <p:cxnSp>
        <p:nvCxnSpPr>
          <p:cNvPr id="51" name="Straight Arrow Connector 50">
            <a:extLst>
              <a:ext uri="{FF2B5EF4-FFF2-40B4-BE49-F238E27FC236}">
                <a16:creationId xmlns:a16="http://schemas.microsoft.com/office/drawing/2014/main" id="{4AA1E304-427F-4FC4-8259-9E65968E77EF}"/>
              </a:ext>
            </a:extLst>
          </p:cNvPr>
          <p:cNvCxnSpPr>
            <a:cxnSpLocks/>
          </p:cNvCxnSpPr>
          <p:nvPr/>
        </p:nvCxnSpPr>
        <p:spPr>
          <a:xfrm>
            <a:off x="550450" y="3837512"/>
            <a:ext cx="338898" cy="0"/>
          </a:xfrm>
          <a:prstGeom prst="straightConnector1">
            <a:avLst/>
          </a:prstGeom>
          <a:ln>
            <a:solidFill>
              <a:srgbClr val="86BC25"/>
            </a:solidFill>
            <a:prstDash val="sysDot"/>
            <a:tailEnd type="triangle"/>
          </a:ln>
        </p:spPr>
        <p:style>
          <a:lnRef idx="2">
            <a:schemeClr val="accent6"/>
          </a:lnRef>
          <a:fillRef idx="0">
            <a:schemeClr val="accent6"/>
          </a:fillRef>
          <a:effectRef idx="1">
            <a:schemeClr val="accent6"/>
          </a:effectRef>
          <a:fontRef idx="minor">
            <a:schemeClr val="tx1"/>
          </a:fontRef>
        </p:style>
      </p:cxnSp>
      <p:sp>
        <p:nvSpPr>
          <p:cNvPr id="24" name="Rectangle 23">
            <a:extLst>
              <a:ext uri="{FF2B5EF4-FFF2-40B4-BE49-F238E27FC236}">
                <a16:creationId xmlns:a16="http://schemas.microsoft.com/office/drawing/2014/main" id="{5981406C-ECC4-41BB-B0D0-825434E2DFB9}"/>
              </a:ext>
            </a:extLst>
          </p:cNvPr>
          <p:cNvSpPr/>
          <p:nvPr/>
        </p:nvSpPr>
        <p:spPr bwMode="gray">
          <a:xfrm>
            <a:off x="1151746" y="1077686"/>
            <a:ext cx="10756619" cy="3068197"/>
          </a:xfrm>
          <a:prstGeom prst="rect">
            <a:avLst/>
          </a:prstGeom>
          <a:solidFill>
            <a:schemeClr val="accent3">
              <a:alpha val="1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2759"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3"/>
            <a:ext cx="11188700" cy="368299"/>
          </a:xfrm>
        </p:spPr>
        <p:txBody>
          <a:bodyPr vert="horz"/>
          <a:lstStyle/>
          <a:p>
            <a:pPr algn="just"/>
            <a:r>
              <a:rPr lang="en-US" sz="1800" b="1" i="0" dirty="0">
                <a:solidFill>
                  <a:schemeClr val="tx1"/>
                </a:solidFill>
              </a:rPr>
              <a:t>MOP Guideline dated 22.03.2021 for Exit of PPA for DISCOMS after completion of term of PPA  i.e beyond 25 years or a period specified in PPA  (2/2) </a:t>
            </a:r>
          </a:p>
        </p:txBody>
      </p:sp>
      <p:sp>
        <p:nvSpPr>
          <p:cNvPr id="81" name="Arrow: Right 80">
            <a:extLst>
              <a:ext uri="{FF2B5EF4-FFF2-40B4-BE49-F238E27FC236}">
                <a16:creationId xmlns:a16="http://schemas.microsoft.com/office/drawing/2014/main" id="{3189446B-BCD7-4EA7-8A64-CEBEE9FFA6F5}"/>
              </a:ext>
            </a:extLst>
          </p:cNvPr>
          <p:cNvSpPr/>
          <p:nvPr/>
        </p:nvSpPr>
        <p:spPr bwMode="gray">
          <a:xfrm rot="5400000">
            <a:off x="-1010895" y="2603757"/>
            <a:ext cx="3173348" cy="262397"/>
          </a:xfrm>
          <a:prstGeom prst="rightArrow">
            <a:avLst>
              <a:gd name="adj1" fmla="val 50000"/>
              <a:gd name="adj2" fmla="val 50000"/>
            </a:avLst>
          </a:prstGeom>
          <a:solidFill>
            <a:srgbClr val="0076A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91" name="Flowchart: Direct Access Storage 90">
            <a:extLst>
              <a:ext uri="{FF2B5EF4-FFF2-40B4-BE49-F238E27FC236}">
                <a16:creationId xmlns:a16="http://schemas.microsoft.com/office/drawing/2014/main" id="{D44900F4-3CC5-41CD-AEF9-F809251E8ED8}"/>
              </a:ext>
            </a:extLst>
          </p:cNvPr>
          <p:cNvSpPr/>
          <p:nvPr/>
        </p:nvSpPr>
        <p:spPr bwMode="gray">
          <a:xfrm rot="5400000">
            <a:off x="296078" y="1018001"/>
            <a:ext cx="555171" cy="283028"/>
          </a:xfrm>
          <a:prstGeom prst="flowChartMagneticDrum">
            <a:avLst/>
          </a:prstGeom>
          <a:solidFill>
            <a:srgbClr val="0076A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7" name="Rectangle: Rounded Corners 6">
            <a:extLst>
              <a:ext uri="{FF2B5EF4-FFF2-40B4-BE49-F238E27FC236}">
                <a16:creationId xmlns:a16="http://schemas.microsoft.com/office/drawing/2014/main" id="{5DA00F7D-AF8E-4547-8901-A3863B20583E}"/>
              </a:ext>
            </a:extLst>
          </p:cNvPr>
          <p:cNvSpPr/>
          <p:nvPr/>
        </p:nvSpPr>
        <p:spPr bwMode="gray">
          <a:xfrm>
            <a:off x="1151745" y="1162122"/>
            <a:ext cx="10756620" cy="579315"/>
          </a:xfrm>
          <a:prstGeom prst="roundRect">
            <a:avLst/>
          </a:prstGeom>
          <a:ln>
            <a:headEnd/>
            <a:tailEnd/>
          </a:ln>
        </p:spPr>
        <p:style>
          <a:lnRef idx="2">
            <a:schemeClr val="accent6"/>
          </a:lnRef>
          <a:fillRef idx="1">
            <a:schemeClr val="lt1"/>
          </a:fillRef>
          <a:effectRef idx="0">
            <a:schemeClr val="accent6"/>
          </a:effectRef>
          <a:fontRef idx="minor">
            <a:schemeClr val="dk1"/>
          </a:fontRef>
        </p:style>
        <p:txBody>
          <a:bodyPr wrap="square" lIns="88900" tIns="88900" rIns="88900" bIns="88900" rtlCol="0" anchor="ctr"/>
          <a:lstStyle/>
          <a:p>
            <a:pPr marL="171450" indent="-171450" algn="just">
              <a:lnSpc>
                <a:spcPct val="106000"/>
              </a:lnSpc>
              <a:buFont typeface="Wingdings" panose="05000000000000000000" pitchFamily="2" charset="2"/>
              <a:buChar char="v"/>
            </a:pPr>
            <a:r>
              <a:rPr lang="en-US" sz="1200" dirty="0">
                <a:solidFill>
                  <a:schemeClr val="tx1"/>
                </a:solidFill>
              </a:rPr>
              <a:t>Any share for Central Generating stations, once relinquished by the State, will not be allowed to be taken back by the State under the same PPA conditions.</a:t>
            </a:r>
            <a:endParaRPr lang="en-US" sz="1600" b="1" dirty="0">
              <a:solidFill>
                <a:schemeClr val="bg1"/>
              </a:solidFill>
            </a:endParaRPr>
          </a:p>
        </p:txBody>
      </p:sp>
      <p:sp>
        <p:nvSpPr>
          <p:cNvPr id="47" name="Rectangle: Rounded Corners 46">
            <a:extLst>
              <a:ext uri="{FF2B5EF4-FFF2-40B4-BE49-F238E27FC236}">
                <a16:creationId xmlns:a16="http://schemas.microsoft.com/office/drawing/2014/main" id="{D5877413-D0CE-4542-A71A-6286EB6A2314}"/>
              </a:ext>
            </a:extLst>
          </p:cNvPr>
          <p:cNvSpPr/>
          <p:nvPr/>
        </p:nvSpPr>
        <p:spPr bwMode="gray">
          <a:xfrm>
            <a:off x="1151745" y="1804682"/>
            <a:ext cx="10756620" cy="847187"/>
          </a:xfrm>
          <a:prstGeom prst="roundRect">
            <a:avLst/>
          </a:prstGeom>
          <a:ln>
            <a:solidFill>
              <a:srgbClr val="00ABAB"/>
            </a:solidFill>
            <a:headEnd/>
            <a:tailEnd/>
          </a:ln>
        </p:spPr>
        <p:style>
          <a:lnRef idx="2">
            <a:schemeClr val="accent6"/>
          </a:lnRef>
          <a:fillRef idx="1">
            <a:schemeClr val="lt1"/>
          </a:fillRef>
          <a:effectRef idx="0">
            <a:schemeClr val="accent6"/>
          </a:effectRef>
          <a:fontRef idx="minor">
            <a:schemeClr val="dk1"/>
          </a:fontRef>
        </p:style>
        <p:txBody>
          <a:bodyPr wrap="square" lIns="88900" tIns="88900" rIns="88900" bIns="88900" rtlCol="0" anchor="ctr"/>
          <a:lstStyle/>
          <a:p>
            <a:pPr marL="171450" indent="-171450" algn="just">
              <a:lnSpc>
                <a:spcPct val="106000"/>
              </a:lnSpc>
              <a:buFont typeface="Wingdings" panose="05000000000000000000" pitchFamily="2" charset="2"/>
              <a:buChar char="v"/>
            </a:pPr>
            <a:r>
              <a:rPr lang="en-US" sz="1200" dirty="0">
                <a:solidFill>
                  <a:schemeClr val="tx1"/>
                </a:solidFill>
              </a:rPr>
              <a:t>In case of Bulk Power Supply Agreement (BPSA) also, the state / Discoms may relinquish entire allocated power from such projects which have completed 25 years since commissioning of the project. Power supply from other projects shall continue as per the terms of the PPA.</a:t>
            </a:r>
          </a:p>
        </p:txBody>
      </p:sp>
      <p:sp>
        <p:nvSpPr>
          <p:cNvPr id="49" name="Oval 48">
            <a:extLst>
              <a:ext uri="{FF2B5EF4-FFF2-40B4-BE49-F238E27FC236}">
                <a16:creationId xmlns:a16="http://schemas.microsoft.com/office/drawing/2014/main" id="{B909A61D-0617-4F96-9C8B-FE451E8FC471}"/>
              </a:ext>
            </a:extLst>
          </p:cNvPr>
          <p:cNvSpPr/>
          <p:nvPr/>
        </p:nvSpPr>
        <p:spPr bwMode="gray">
          <a:xfrm flipH="1" flipV="1">
            <a:off x="889348" y="2913039"/>
            <a:ext cx="262398" cy="368300"/>
          </a:xfrm>
          <a:prstGeom prst="ellipse">
            <a:avLst/>
          </a:prstGeom>
          <a:ln>
            <a:solidFill>
              <a:srgbClr val="012169"/>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0" name="Rectangle: Rounded Corners 49">
            <a:extLst>
              <a:ext uri="{FF2B5EF4-FFF2-40B4-BE49-F238E27FC236}">
                <a16:creationId xmlns:a16="http://schemas.microsoft.com/office/drawing/2014/main" id="{1A74E28E-C370-44F3-A754-083D69A5DA06}"/>
              </a:ext>
            </a:extLst>
          </p:cNvPr>
          <p:cNvSpPr/>
          <p:nvPr/>
        </p:nvSpPr>
        <p:spPr bwMode="gray">
          <a:xfrm>
            <a:off x="1151746" y="2743817"/>
            <a:ext cx="10756620" cy="750556"/>
          </a:xfrm>
          <a:prstGeom prst="roundRect">
            <a:avLst/>
          </a:prstGeom>
          <a:ln>
            <a:solidFill>
              <a:srgbClr val="012169"/>
            </a:solidFill>
            <a:headEnd/>
            <a:tailEnd/>
          </a:ln>
        </p:spPr>
        <p:style>
          <a:lnRef idx="2">
            <a:schemeClr val="accent6"/>
          </a:lnRef>
          <a:fillRef idx="1">
            <a:schemeClr val="lt1"/>
          </a:fillRef>
          <a:effectRef idx="0">
            <a:schemeClr val="accent6"/>
          </a:effectRef>
          <a:fontRef idx="minor">
            <a:schemeClr val="dk1"/>
          </a:fontRef>
        </p:style>
        <p:txBody>
          <a:bodyPr wrap="square" lIns="88900" tIns="88900" rIns="88900" bIns="88900" rtlCol="0" anchor="ctr"/>
          <a:lstStyle/>
          <a:p>
            <a:pPr marL="171450" indent="-171450" algn="just">
              <a:lnSpc>
                <a:spcPct val="106000"/>
              </a:lnSpc>
              <a:buFont typeface="Wingdings" panose="05000000000000000000" pitchFamily="2" charset="2"/>
              <a:buChar char="v"/>
            </a:pPr>
            <a:r>
              <a:rPr lang="en-US" sz="1200" dirty="0">
                <a:solidFill>
                  <a:schemeClr val="tx1"/>
                </a:solidFill>
              </a:rPr>
              <a:t>For Nuclear Power Generating Stations, the mechanism of relinquishment of power after completion of term of PPA shall be as decided by the Department of Atomic Energy as the tariff of Nuclear Power Generating Stations is determined by the Department of Atomic Energy on recommendation of CEA</a:t>
            </a:r>
          </a:p>
        </p:txBody>
      </p:sp>
      <p:sp>
        <p:nvSpPr>
          <p:cNvPr id="52" name="Oval 51">
            <a:extLst>
              <a:ext uri="{FF2B5EF4-FFF2-40B4-BE49-F238E27FC236}">
                <a16:creationId xmlns:a16="http://schemas.microsoft.com/office/drawing/2014/main" id="{CAA6BD45-A0A4-4E8A-BF5F-515ADDC3FDD2}"/>
              </a:ext>
            </a:extLst>
          </p:cNvPr>
          <p:cNvSpPr/>
          <p:nvPr/>
        </p:nvSpPr>
        <p:spPr bwMode="gray">
          <a:xfrm flipH="1" flipV="1">
            <a:off x="889348" y="3653362"/>
            <a:ext cx="262398" cy="368300"/>
          </a:xfrm>
          <a:prstGeom prst="ellipse">
            <a:avLst/>
          </a:prstGeom>
          <a:ln>
            <a:solidFill>
              <a:srgbClr val="86BC25"/>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3" name="Rectangle: Rounded Corners 52">
            <a:extLst>
              <a:ext uri="{FF2B5EF4-FFF2-40B4-BE49-F238E27FC236}">
                <a16:creationId xmlns:a16="http://schemas.microsoft.com/office/drawing/2014/main" id="{CF344643-CB9F-479E-AA7A-B553C2E80C80}"/>
              </a:ext>
            </a:extLst>
          </p:cNvPr>
          <p:cNvSpPr/>
          <p:nvPr/>
        </p:nvSpPr>
        <p:spPr bwMode="gray">
          <a:xfrm>
            <a:off x="1151746" y="3554261"/>
            <a:ext cx="10756620" cy="552513"/>
          </a:xfrm>
          <a:prstGeom prst="roundRect">
            <a:avLst/>
          </a:prstGeom>
          <a:ln>
            <a:solidFill>
              <a:srgbClr val="86BC25"/>
            </a:solidFill>
            <a:headEnd/>
            <a:tailEnd/>
          </a:ln>
        </p:spPr>
        <p:style>
          <a:lnRef idx="2">
            <a:schemeClr val="accent6"/>
          </a:lnRef>
          <a:fillRef idx="1">
            <a:schemeClr val="lt1"/>
          </a:fillRef>
          <a:effectRef idx="0">
            <a:schemeClr val="accent6"/>
          </a:effectRef>
          <a:fontRef idx="minor">
            <a:schemeClr val="dk1"/>
          </a:fontRef>
        </p:style>
        <p:txBody>
          <a:bodyPr wrap="square" lIns="88900" tIns="88900" rIns="88900" bIns="88900" rtlCol="0" anchor="ctr"/>
          <a:lstStyle/>
          <a:p>
            <a:pPr marL="171450" indent="-171450" algn="just">
              <a:lnSpc>
                <a:spcPct val="106000"/>
              </a:lnSpc>
              <a:buFont typeface="Wingdings" panose="05000000000000000000" pitchFamily="2" charset="2"/>
              <a:buChar char="v"/>
            </a:pPr>
            <a:r>
              <a:rPr lang="en-US" sz="1200" dirty="0">
                <a:solidFill>
                  <a:schemeClr val="tx1"/>
                </a:solidFill>
              </a:rPr>
              <a:t>The central generating stations, whose power gets relinquished by States, would be free to sell such relinquished power under the various avenues such as:-</a:t>
            </a:r>
          </a:p>
        </p:txBody>
      </p:sp>
      <p:sp>
        <p:nvSpPr>
          <p:cNvPr id="25" name="Oval 24">
            <a:extLst>
              <a:ext uri="{FF2B5EF4-FFF2-40B4-BE49-F238E27FC236}">
                <a16:creationId xmlns:a16="http://schemas.microsoft.com/office/drawing/2014/main" id="{4A104DB1-DB07-4D1A-86B3-0AFB80F09908}"/>
              </a:ext>
            </a:extLst>
          </p:cNvPr>
          <p:cNvSpPr/>
          <p:nvPr/>
        </p:nvSpPr>
        <p:spPr bwMode="gray">
          <a:xfrm flipH="1" flipV="1">
            <a:off x="889348" y="1252950"/>
            <a:ext cx="262398" cy="368300"/>
          </a:xfrm>
          <a:prstGeom prst="ellipse">
            <a:avLst/>
          </a:prstGeom>
          <a:ln>
            <a:solidFill>
              <a:srgbClr val="005587"/>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6" name="Oval 25">
            <a:extLst>
              <a:ext uri="{FF2B5EF4-FFF2-40B4-BE49-F238E27FC236}">
                <a16:creationId xmlns:a16="http://schemas.microsoft.com/office/drawing/2014/main" id="{85E2D7DD-3183-4CD2-95CF-E1E0D455852B}"/>
              </a:ext>
            </a:extLst>
          </p:cNvPr>
          <p:cNvSpPr/>
          <p:nvPr/>
        </p:nvSpPr>
        <p:spPr bwMode="gray">
          <a:xfrm flipH="1" flipV="1">
            <a:off x="889348" y="2026121"/>
            <a:ext cx="262398" cy="368300"/>
          </a:xfrm>
          <a:prstGeom prst="ellipse">
            <a:avLst/>
          </a:prstGeom>
          <a:ln>
            <a:solidFill>
              <a:srgbClr val="00ABAB"/>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 name="&quot;Not Allowed&quot; Symbol 2">
            <a:extLst>
              <a:ext uri="{FF2B5EF4-FFF2-40B4-BE49-F238E27FC236}">
                <a16:creationId xmlns:a16="http://schemas.microsoft.com/office/drawing/2014/main" id="{5E2694D8-66F5-4C41-A938-2C6152FB2753}"/>
              </a:ext>
            </a:extLst>
          </p:cNvPr>
          <p:cNvSpPr/>
          <p:nvPr/>
        </p:nvSpPr>
        <p:spPr bwMode="gray">
          <a:xfrm>
            <a:off x="2004165" y="4237831"/>
            <a:ext cx="801666" cy="681794"/>
          </a:xfrm>
          <a:prstGeom prst="noSmoking">
            <a:avLst/>
          </a:prstGeom>
          <a:solidFill>
            <a:srgbClr val="0076A8"/>
          </a:solidFill>
          <a:ln w="19050" algn="ctr">
            <a:solidFill>
              <a:srgbClr val="0076A8"/>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3" name="&quot;Not Allowed&quot; Symbol 42">
            <a:extLst>
              <a:ext uri="{FF2B5EF4-FFF2-40B4-BE49-F238E27FC236}">
                <a16:creationId xmlns:a16="http://schemas.microsoft.com/office/drawing/2014/main" id="{2732CCFD-2EB5-40F6-9E65-79850A681D04}"/>
              </a:ext>
            </a:extLst>
          </p:cNvPr>
          <p:cNvSpPr/>
          <p:nvPr/>
        </p:nvSpPr>
        <p:spPr bwMode="gray">
          <a:xfrm>
            <a:off x="2004165" y="4958547"/>
            <a:ext cx="801666" cy="681794"/>
          </a:xfrm>
          <a:prstGeom prst="noSmoking">
            <a:avLst/>
          </a:prstGeom>
          <a:solidFill>
            <a:schemeClr val="accent3"/>
          </a:solidFill>
          <a:ln w="19050" algn="ctr">
            <a:solidFill>
              <a:srgbClr val="009A44"/>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0" name="&quot;Not Allowed&quot; Symbol 59">
            <a:extLst>
              <a:ext uri="{FF2B5EF4-FFF2-40B4-BE49-F238E27FC236}">
                <a16:creationId xmlns:a16="http://schemas.microsoft.com/office/drawing/2014/main" id="{EEA3E582-1FB6-4421-BF33-C4525874E077}"/>
              </a:ext>
            </a:extLst>
          </p:cNvPr>
          <p:cNvSpPr/>
          <p:nvPr/>
        </p:nvSpPr>
        <p:spPr bwMode="gray">
          <a:xfrm>
            <a:off x="2004165" y="5679263"/>
            <a:ext cx="801666" cy="681794"/>
          </a:xfrm>
          <a:prstGeom prst="noSmoking">
            <a:avLst/>
          </a:prstGeom>
          <a:solidFill>
            <a:srgbClr val="63666A"/>
          </a:solidFill>
          <a:ln w="19050" algn="ctr">
            <a:solidFill>
              <a:srgbClr val="75787B"/>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3" name="Scroll: Horizontal 22">
            <a:extLst>
              <a:ext uri="{FF2B5EF4-FFF2-40B4-BE49-F238E27FC236}">
                <a16:creationId xmlns:a16="http://schemas.microsoft.com/office/drawing/2014/main" id="{08985270-0432-427F-A270-A38C0CCBAD2C}"/>
              </a:ext>
            </a:extLst>
          </p:cNvPr>
          <p:cNvSpPr/>
          <p:nvPr/>
        </p:nvSpPr>
        <p:spPr bwMode="gray">
          <a:xfrm>
            <a:off x="2805831" y="4126962"/>
            <a:ext cx="9102534" cy="817715"/>
          </a:xfrm>
          <a:prstGeom prst="horizontalScroll">
            <a:avLst/>
          </a:prstGeom>
          <a:ln>
            <a:solidFill>
              <a:srgbClr val="0076A8"/>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171450" indent="-171450">
              <a:lnSpc>
                <a:spcPct val="106000"/>
              </a:lnSpc>
              <a:buFont typeface="Wingdings" panose="05000000000000000000" pitchFamily="2" charset="2"/>
              <a:buChar char="q"/>
            </a:pPr>
            <a:r>
              <a:rPr lang="en-US" sz="1200" dirty="0">
                <a:solidFill>
                  <a:schemeClr val="tx1"/>
                </a:solidFill>
              </a:rPr>
              <a:t>Tie up with any other buyers desiring to go for long term PPAs or Medium term PPAs (upto 5 years) or short term PPAs through competitive bidding route</a:t>
            </a:r>
            <a:r>
              <a:rPr lang="en-US" sz="1600" b="1" dirty="0">
                <a:solidFill>
                  <a:schemeClr val="bg1"/>
                </a:solidFill>
              </a:rPr>
              <a:t>.</a:t>
            </a:r>
          </a:p>
        </p:txBody>
      </p:sp>
      <p:sp>
        <p:nvSpPr>
          <p:cNvPr id="62" name="Scroll: Horizontal 61">
            <a:extLst>
              <a:ext uri="{FF2B5EF4-FFF2-40B4-BE49-F238E27FC236}">
                <a16:creationId xmlns:a16="http://schemas.microsoft.com/office/drawing/2014/main" id="{8316D3D5-7052-4041-BC86-01DE2FD1C6F2}"/>
              </a:ext>
            </a:extLst>
          </p:cNvPr>
          <p:cNvSpPr/>
          <p:nvPr/>
        </p:nvSpPr>
        <p:spPr bwMode="gray">
          <a:xfrm>
            <a:off x="2805831" y="4919625"/>
            <a:ext cx="9102534" cy="681794"/>
          </a:xfrm>
          <a:prstGeom prst="horizontalScroll">
            <a:avLst/>
          </a:prstGeom>
          <a:ln>
            <a:solidFill>
              <a:srgbClr val="009A44"/>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171450" indent="-171450">
              <a:lnSpc>
                <a:spcPct val="106000"/>
              </a:lnSpc>
              <a:buFont typeface="Wingdings" panose="05000000000000000000" pitchFamily="2" charset="2"/>
              <a:buChar char="q"/>
            </a:pPr>
            <a:r>
              <a:rPr lang="en-US" sz="1200" dirty="0">
                <a:solidFill>
                  <a:schemeClr val="tx1"/>
                </a:solidFill>
              </a:rPr>
              <a:t>Sell power in the power exchanges including Day-ahead, Real-time market and Term-ahead markets, etc</a:t>
            </a:r>
            <a:r>
              <a:rPr lang="en-US" sz="1600" b="1" dirty="0">
                <a:solidFill>
                  <a:schemeClr val="bg1"/>
                </a:solidFill>
              </a:rPr>
              <a:t>.</a:t>
            </a:r>
          </a:p>
        </p:txBody>
      </p:sp>
      <p:sp>
        <p:nvSpPr>
          <p:cNvPr id="63" name="Scroll: Horizontal 62">
            <a:extLst>
              <a:ext uri="{FF2B5EF4-FFF2-40B4-BE49-F238E27FC236}">
                <a16:creationId xmlns:a16="http://schemas.microsoft.com/office/drawing/2014/main" id="{EA7C4206-A7E1-4EB5-959B-B3C37C47478E}"/>
              </a:ext>
            </a:extLst>
          </p:cNvPr>
          <p:cNvSpPr/>
          <p:nvPr/>
        </p:nvSpPr>
        <p:spPr bwMode="gray">
          <a:xfrm>
            <a:off x="2805831" y="5550531"/>
            <a:ext cx="9102534" cy="788838"/>
          </a:xfrm>
          <a:prstGeom prst="horizontalScroll">
            <a:avLst/>
          </a:prstGeom>
          <a:ln>
            <a:solidFill>
              <a:srgbClr val="75787B"/>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171450" indent="-171450">
              <a:lnSpc>
                <a:spcPct val="106000"/>
              </a:lnSpc>
              <a:buFont typeface="Wingdings" panose="05000000000000000000" pitchFamily="2" charset="2"/>
              <a:buChar char="q"/>
            </a:pPr>
            <a:r>
              <a:rPr lang="en-US" sz="1200" dirty="0">
                <a:solidFill>
                  <a:schemeClr val="tx1"/>
                </a:solidFill>
              </a:rPr>
              <a:t>Get the power reallocated to the willing buyers, if any, as per the extant provisions of reallocation of power from CGSs</a:t>
            </a:r>
            <a:endParaRPr lang="en-US" sz="1600" b="1" dirty="0">
              <a:solidFill>
                <a:schemeClr val="bg1"/>
              </a:solidFill>
            </a:endParaRPr>
          </a:p>
        </p:txBody>
      </p:sp>
      <p:sp>
        <p:nvSpPr>
          <p:cNvPr id="66" name="TextBox 65">
            <a:extLst>
              <a:ext uri="{FF2B5EF4-FFF2-40B4-BE49-F238E27FC236}">
                <a16:creationId xmlns:a16="http://schemas.microsoft.com/office/drawing/2014/main" id="{BFE4EC90-AF3B-4478-9F25-81CF95A5DC11}"/>
              </a:ext>
            </a:extLst>
          </p:cNvPr>
          <p:cNvSpPr txBox="1"/>
          <p:nvPr/>
        </p:nvSpPr>
        <p:spPr>
          <a:xfrm>
            <a:off x="2809429" y="6413572"/>
            <a:ext cx="9382571" cy="153888"/>
          </a:xfrm>
          <a:prstGeom prst="rect">
            <a:avLst/>
          </a:prstGeom>
          <a:noFill/>
        </p:spPr>
        <p:txBody>
          <a:bodyPr wrap="square" lIns="0" tIns="0" rIns="0" bIns="0" rtlCol="0">
            <a:spAutoFit/>
          </a:bodyPr>
          <a:lstStyle/>
          <a:p>
            <a:pPr>
              <a:spcBef>
                <a:spcPts val="600"/>
              </a:spcBef>
              <a:buSzPct val="100000"/>
            </a:pPr>
            <a:r>
              <a:rPr lang="en-US" sz="1000" b="1" dirty="0">
                <a:solidFill>
                  <a:srgbClr val="313131"/>
                </a:solidFill>
              </a:rPr>
              <a:t>Source : </a:t>
            </a:r>
            <a:r>
              <a:rPr lang="en-US" sz="1000" dirty="0">
                <a:solidFill>
                  <a:srgbClr val="313131"/>
                </a:solidFill>
              </a:rPr>
              <a:t>https://powermin.gov.in/sites/default/files/Enabling_the_Discoms_to_either_continue_or_exit_from_the_PPA_after_completion.pdf</a:t>
            </a:r>
          </a:p>
        </p:txBody>
      </p:sp>
    </p:spTree>
    <p:extLst>
      <p:ext uri="{BB962C8B-B14F-4D97-AF65-F5344CB8AC3E}">
        <p14:creationId xmlns:p14="http://schemas.microsoft.com/office/powerpoint/2010/main" val="1379994287"/>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C9C597-ACBC-40D1-9DA4-B43DDF748D86}"/>
              </a:ext>
            </a:extLst>
          </p:cNvPr>
          <p:cNvSpPr>
            <a:spLocks noGrp="1"/>
          </p:cNvSpPr>
          <p:nvPr>
            <p:ph type="title"/>
          </p:nvPr>
        </p:nvSpPr>
        <p:spPr>
          <a:xfrm>
            <a:off x="469896" y="181794"/>
            <a:ext cx="11252200" cy="334102"/>
          </a:xfrm>
        </p:spPr>
        <p:txBody>
          <a:bodyPr/>
          <a:lstStyle/>
          <a:p>
            <a:r>
              <a:rPr lang="en-US" b="1" dirty="0"/>
              <a:t>MOP Guideline for Replacement of Thermal Plants with Renewable Energy </a:t>
            </a:r>
          </a:p>
        </p:txBody>
      </p:sp>
      <p:graphicFrame>
        <p:nvGraphicFramePr>
          <p:cNvPr id="6" name="Diagram 5">
            <a:extLst>
              <a:ext uri="{FF2B5EF4-FFF2-40B4-BE49-F238E27FC236}">
                <a16:creationId xmlns:a16="http://schemas.microsoft.com/office/drawing/2014/main" id="{224DFC0F-9C01-43B3-806E-B4B7341A8D84}"/>
              </a:ext>
            </a:extLst>
          </p:cNvPr>
          <p:cNvGraphicFramePr/>
          <p:nvPr>
            <p:extLst>
              <p:ext uri="{D42A27DB-BD31-4B8C-83A1-F6EECF244321}">
                <p14:modId xmlns:p14="http://schemas.microsoft.com/office/powerpoint/2010/main" val="2519265414"/>
              </p:ext>
            </p:extLst>
          </p:nvPr>
        </p:nvGraphicFramePr>
        <p:xfrm>
          <a:off x="469896" y="561945"/>
          <a:ext cx="11252200" cy="33069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Table 7">
            <a:extLst>
              <a:ext uri="{FF2B5EF4-FFF2-40B4-BE49-F238E27FC236}">
                <a16:creationId xmlns:a16="http://schemas.microsoft.com/office/drawing/2014/main" id="{7656FFA0-5ED0-4910-B402-D0E8E4CEF6AD}"/>
              </a:ext>
            </a:extLst>
          </p:cNvPr>
          <p:cNvGraphicFramePr>
            <a:graphicFrameLocks noGrp="1"/>
          </p:cNvGraphicFramePr>
          <p:nvPr>
            <p:extLst>
              <p:ext uri="{D42A27DB-BD31-4B8C-83A1-F6EECF244321}">
                <p14:modId xmlns:p14="http://schemas.microsoft.com/office/powerpoint/2010/main" val="3946979472"/>
              </p:ext>
            </p:extLst>
          </p:nvPr>
        </p:nvGraphicFramePr>
        <p:xfrm>
          <a:off x="469904" y="4105417"/>
          <a:ext cx="11252196" cy="2075662"/>
        </p:xfrm>
        <a:graphic>
          <a:graphicData uri="http://schemas.openxmlformats.org/drawingml/2006/table">
            <a:tbl>
              <a:tblPr firstRow="1" bandRow="1">
                <a:tableStyleId>{93296810-A885-4BE3-A3E7-6D5BEEA58F35}</a:tableStyleId>
              </a:tblPr>
              <a:tblGrid>
                <a:gridCol w="937683">
                  <a:extLst>
                    <a:ext uri="{9D8B030D-6E8A-4147-A177-3AD203B41FA5}">
                      <a16:colId xmlns:a16="http://schemas.microsoft.com/office/drawing/2014/main" val="3531540178"/>
                    </a:ext>
                  </a:extLst>
                </a:gridCol>
                <a:gridCol w="937683">
                  <a:extLst>
                    <a:ext uri="{9D8B030D-6E8A-4147-A177-3AD203B41FA5}">
                      <a16:colId xmlns:a16="http://schemas.microsoft.com/office/drawing/2014/main" val="3792374321"/>
                    </a:ext>
                  </a:extLst>
                </a:gridCol>
                <a:gridCol w="937683">
                  <a:extLst>
                    <a:ext uri="{9D8B030D-6E8A-4147-A177-3AD203B41FA5}">
                      <a16:colId xmlns:a16="http://schemas.microsoft.com/office/drawing/2014/main" val="3776058700"/>
                    </a:ext>
                  </a:extLst>
                </a:gridCol>
                <a:gridCol w="937683">
                  <a:extLst>
                    <a:ext uri="{9D8B030D-6E8A-4147-A177-3AD203B41FA5}">
                      <a16:colId xmlns:a16="http://schemas.microsoft.com/office/drawing/2014/main" val="1671545904"/>
                    </a:ext>
                  </a:extLst>
                </a:gridCol>
                <a:gridCol w="937683">
                  <a:extLst>
                    <a:ext uri="{9D8B030D-6E8A-4147-A177-3AD203B41FA5}">
                      <a16:colId xmlns:a16="http://schemas.microsoft.com/office/drawing/2014/main" val="293742427"/>
                    </a:ext>
                  </a:extLst>
                </a:gridCol>
                <a:gridCol w="937683">
                  <a:extLst>
                    <a:ext uri="{9D8B030D-6E8A-4147-A177-3AD203B41FA5}">
                      <a16:colId xmlns:a16="http://schemas.microsoft.com/office/drawing/2014/main" val="333612475"/>
                    </a:ext>
                  </a:extLst>
                </a:gridCol>
                <a:gridCol w="937683">
                  <a:extLst>
                    <a:ext uri="{9D8B030D-6E8A-4147-A177-3AD203B41FA5}">
                      <a16:colId xmlns:a16="http://schemas.microsoft.com/office/drawing/2014/main" val="2943070450"/>
                    </a:ext>
                  </a:extLst>
                </a:gridCol>
                <a:gridCol w="937683">
                  <a:extLst>
                    <a:ext uri="{9D8B030D-6E8A-4147-A177-3AD203B41FA5}">
                      <a16:colId xmlns:a16="http://schemas.microsoft.com/office/drawing/2014/main" val="3987683666"/>
                    </a:ext>
                  </a:extLst>
                </a:gridCol>
                <a:gridCol w="937683">
                  <a:extLst>
                    <a:ext uri="{9D8B030D-6E8A-4147-A177-3AD203B41FA5}">
                      <a16:colId xmlns:a16="http://schemas.microsoft.com/office/drawing/2014/main" val="264515179"/>
                    </a:ext>
                  </a:extLst>
                </a:gridCol>
                <a:gridCol w="937683">
                  <a:extLst>
                    <a:ext uri="{9D8B030D-6E8A-4147-A177-3AD203B41FA5}">
                      <a16:colId xmlns:a16="http://schemas.microsoft.com/office/drawing/2014/main" val="2075195877"/>
                    </a:ext>
                  </a:extLst>
                </a:gridCol>
                <a:gridCol w="937683">
                  <a:extLst>
                    <a:ext uri="{9D8B030D-6E8A-4147-A177-3AD203B41FA5}">
                      <a16:colId xmlns:a16="http://schemas.microsoft.com/office/drawing/2014/main" val="3538043127"/>
                    </a:ext>
                  </a:extLst>
                </a:gridCol>
                <a:gridCol w="937683">
                  <a:extLst>
                    <a:ext uri="{9D8B030D-6E8A-4147-A177-3AD203B41FA5}">
                      <a16:colId xmlns:a16="http://schemas.microsoft.com/office/drawing/2014/main" val="68118818"/>
                    </a:ext>
                  </a:extLst>
                </a:gridCol>
              </a:tblGrid>
              <a:tr h="334448">
                <a:tc rowSpan="2">
                  <a:txBody>
                    <a:bodyPr/>
                    <a:lstStyle/>
                    <a:p>
                      <a:pPr algn="ctr" fontAlgn="ctr"/>
                      <a:r>
                        <a:rPr lang="en-US" sz="1200" b="0" u="none" strike="noStrike" dirty="0">
                          <a:solidFill>
                            <a:schemeClr val="bg1"/>
                          </a:solidFill>
                          <a:effectLst/>
                        </a:rPr>
                        <a:t>Sector</a:t>
                      </a:r>
                      <a:endParaRPr lang="en-US" sz="1200" b="0" i="0" u="none" strike="noStrike" dirty="0">
                        <a:solidFill>
                          <a:schemeClr val="bg1"/>
                        </a:solidFill>
                        <a:effectLst/>
                        <a:latin typeface="+mn-lt"/>
                      </a:endParaRPr>
                    </a:p>
                  </a:txBody>
                  <a:tcPr marL="6350" marR="6350" marT="6350" marB="0" anchor="ctr">
                    <a:solidFill>
                      <a:srgbClr val="007680"/>
                    </a:solidFill>
                  </a:tcPr>
                </a:tc>
                <a:tc rowSpan="2">
                  <a:txBody>
                    <a:bodyPr/>
                    <a:lstStyle/>
                    <a:p>
                      <a:pPr algn="ctr" fontAlgn="ctr"/>
                      <a:r>
                        <a:rPr lang="en-US" sz="1200" b="0" u="none" strike="noStrike" dirty="0">
                          <a:solidFill>
                            <a:schemeClr val="bg1"/>
                          </a:solidFill>
                          <a:effectLst/>
                        </a:rPr>
                        <a:t>Thermal Energy in MU to be replaced</a:t>
                      </a:r>
                      <a:endParaRPr lang="en-US" sz="1200" b="0" i="0" u="none" strike="noStrike" dirty="0">
                        <a:solidFill>
                          <a:schemeClr val="bg1"/>
                        </a:solidFill>
                        <a:effectLst/>
                        <a:latin typeface="+mn-lt"/>
                      </a:endParaRPr>
                    </a:p>
                  </a:txBody>
                  <a:tcPr marL="6350" marR="6350" marT="6350" marB="0" anchor="ctr">
                    <a:solidFill>
                      <a:srgbClr val="007680"/>
                    </a:solidFill>
                  </a:tcPr>
                </a:tc>
                <a:tc rowSpan="2">
                  <a:txBody>
                    <a:bodyPr/>
                    <a:lstStyle/>
                    <a:p>
                      <a:pPr algn="ctr" fontAlgn="ctr"/>
                      <a:r>
                        <a:rPr lang="en-US" sz="1200" b="0" u="none" strike="noStrike" dirty="0">
                          <a:solidFill>
                            <a:schemeClr val="bg1"/>
                          </a:solidFill>
                          <a:effectLst/>
                        </a:rPr>
                        <a:t>Equivalent Solar MW needed</a:t>
                      </a:r>
                      <a:endParaRPr lang="en-US" sz="1200" b="0" i="0" u="none" strike="noStrike" dirty="0">
                        <a:solidFill>
                          <a:schemeClr val="bg1"/>
                        </a:solidFill>
                        <a:effectLst/>
                        <a:latin typeface="+mn-lt"/>
                      </a:endParaRPr>
                    </a:p>
                  </a:txBody>
                  <a:tcPr marL="6350" marR="6350" marT="6350" marB="0" anchor="ctr">
                    <a:solidFill>
                      <a:srgbClr val="007680"/>
                    </a:solidFill>
                  </a:tcPr>
                </a:tc>
                <a:tc gridSpan="3">
                  <a:txBody>
                    <a:bodyPr/>
                    <a:lstStyle/>
                    <a:p>
                      <a:pPr algn="ctr" fontAlgn="ctr"/>
                      <a:r>
                        <a:rPr lang="en-US" sz="1200" b="0" u="none" strike="noStrike" dirty="0">
                          <a:solidFill>
                            <a:schemeClr val="bg1"/>
                          </a:solidFill>
                          <a:effectLst/>
                        </a:rPr>
                        <a:t>2023-24</a:t>
                      </a:r>
                      <a:endParaRPr lang="en-US" sz="1200" b="0" i="0" u="none" strike="noStrike" dirty="0">
                        <a:solidFill>
                          <a:schemeClr val="bg1"/>
                        </a:solidFill>
                        <a:effectLst/>
                        <a:latin typeface="+mn-lt"/>
                      </a:endParaRPr>
                    </a:p>
                  </a:txBody>
                  <a:tcPr marL="6350" marR="6350" marT="6350" marB="0" anchor="ctr">
                    <a:solidFill>
                      <a:srgbClr val="007680"/>
                    </a:solidFill>
                  </a:tcPr>
                </a:tc>
                <a:tc hMerge="1">
                  <a:txBody>
                    <a:bodyPr/>
                    <a:lstStyle/>
                    <a:p>
                      <a:endParaRPr lang="en-US"/>
                    </a:p>
                  </a:txBody>
                  <a:tcPr/>
                </a:tc>
                <a:tc hMerge="1">
                  <a:txBody>
                    <a:bodyPr/>
                    <a:lstStyle/>
                    <a:p>
                      <a:endParaRPr lang="en-US"/>
                    </a:p>
                  </a:txBody>
                  <a:tcPr/>
                </a:tc>
                <a:tc gridSpan="3">
                  <a:txBody>
                    <a:bodyPr/>
                    <a:lstStyle/>
                    <a:p>
                      <a:pPr algn="ctr" fontAlgn="ctr"/>
                      <a:r>
                        <a:rPr lang="en-US" sz="1200" b="0" u="none" strike="noStrike" dirty="0">
                          <a:solidFill>
                            <a:schemeClr val="bg1"/>
                          </a:solidFill>
                          <a:effectLst/>
                        </a:rPr>
                        <a:t>2024-25</a:t>
                      </a:r>
                      <a:endParaRPr lang="en-US" sz="1200" b="0" i="0" u="none" strike="noStrike" dirty="0">
                        <a:solidFill>
                          <a:schemeClr val="bg1"/>
                        </a:solidFill>
                        <a:effectLst/>
                        <a:latin typeface="+mn-lt"/>
                      </a:endParaRPr>
                    </a:p>
                  </a:txBody>
                  <a:tcPr marL="6350" marR="6350" marT="6350" marB="0" anchor="ctr">
                    <a:solidFill>
                      <a:srgbClr val="007680"/>
                    </a:solidFill>
                  </a:tcPr>
                </a:tc>
                <a:tc hMerge="1">
                  <a:txBody>
                    <a:bodyPr/>
                    <a:lstStyle/>
                    <a:p>
                      <a:endParaRPr lang="en-US"/>
                    </a:p>
                  </a:txBody>
                  <a:tcPr/>
                </a:tc>
                <a:tc hMerge="1">
                  <a:txBody>
                    <a:bodyPr/>
                    <a:lstStyle/>
                    <a:p>
                      <a:endParaRPr lang="en-US"/>
                    </a:p>
                  </a:txBody>
                  <a:tcPr/>
                </a:tc>
                <a:tc gridSpan="3">
                  <a:txBody>
                    <a:bodyPr/>
                    <a:lstStyle/>
                    <a:p>
                      <a:pPr algn="ctr" fontAlgn="ctr"/>
                      <a:r>
                        <a:rPr lang="en-US" sz="1200" b="0" u="none" strike="noStrike" dirty="0">
                          <a:solidFill>
                            <a:schemeClr val="bg1"/>
                          </a:solidFill>
                          <a:effectLst/>
                        </a:rPr>
                        <a:t>2025-26</a:t>
                      </a:r>
                      <a:endParaRPr lang="en-US" sz="1200" b="0" i="0" u="none" strike="noStrike" dirty="0">
                        <a:solidFill>
                          <a:schemeClr val="bg1"/>
                        </a:solidFill>
                        <a:effectLst/>
                        <a:latin typeface="+mn-lt"/>
                      </a:endParaRPr>
                    </a:p>
                  </a:txBody>
                  <a:tcPr marL="6350" marR="6350" marT="6350" marB="0" anchor="ctr">
                    <a:solidFill>
                      <a:srgbClr val="00768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168168"/>
                  </a:ext>
                </a:extLst>
              </a:tr>
              <a:tr h="334448">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200" b="0" u="none" strike="noStrike">
                          <a:solidFill>
                            <a:srgbClr val="000000"/>
                          </a:solidFill>
                          <a:effectLst/>
                        </a:rPr>
                        <a:t>%</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dirty="0">
                          <a:solidFill>
                            <a:srgbClr val="000000"/>
                          </a:solidFill>
                          <a:effectLst/>
                        </a:rPr>
                        <a:t>MU</a:t>
                      </a:r>
                      <a:endParaRPr lang="en-US" sz="1200" b="0" i="0" u="none" strike="noStrike" dirty="0">
                        <a:solidFill>
                          <a:srgbClr val="000000"/>
                        </a:solidFill>
                        <a:effectLst/>
                        <a:latin typeface="+mn-lt"/>
                      </a:endParaRPr>
                    </a:p>
                  </a:txBody>
                  <a:tcPr marL="6350" marR="6350" marT="6350" marB="0" anchor="ctr"/>
                </a:tc>
                <a:tc>
                  <a:txBody>
                    <a:bodyPr/>
                    <a:lstStyle/>
                    <a:p>
                      <a:pPr algn="ctr" fontAlgn="ctr"/>
                      <a:r>
                        <a:rPr lang="en-US" sz="1200" b="0" u="none" strike="noStrike" dirty="0">
                          <a:solidFill>
                            <a:srgbClr val="000000"/>
                          </a:solidFill>
                          <a:effectLst/>
                        </a:rPr>
                        <a:t>MW</a:t>
                      </a:r>
                      <a:endParaRPr lang="en-US" sz="1200" b="0" i="0" u="none" strike="noStrike" dirty="0">
                        <a:solidFill>
                          <a:srgbClr val="000000"/>
                        </a:solidFill>
                        <a:effectLst/>
                        <a:latin typeface="+mn-lt"/>
                      </a:endParaRPr>
                    </a:p>
                  </a:txBody>
                  <a:tcPr marL="6350" marR="6350" marT="6350" marB="0" anchor="ctr"/>
                </a:tc>
                <a:tc>
                  <a:txBody>
                    <a:bodyPr/>
                    <a:lstStyle/>
                    <a:p>
                      <a:pPr algn="ctr" fontAlgn="ctr"/>
                      <a:r>
                        <a:rPr lang="en-US" sz="1200" b="0" u="none" strike="noStrike" dirty="0">
                          <a:solidFill>
                            <a:srgbClr val="000000"/>
                          </a:solidFill>
                          <a:effectLst/>
                        </a:rPr>
                        <a:t>%</a:t>
                      </a:r>
                      <a:endParaRPr lang="en-US" sz="1200" b="0" i="0" u="none" strike="noStrike" dirty="0">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MU</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dirty="0">
                          <a:solidFill>
                            <a:srgbClr val="000000"/>
                          </a:solidFill>
                          <a:effectLst/>
                        </a:rPr>
                        <a:t>MW</a:t>
                      </a:r>
                      <a:endParaRPr lang="en-US" sz="1200" b="0" i="0" u="none" strike="noStrike" dirty="0">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MU</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MW</a:t>
                      </a:r>
                      <a:endParaRPr lang="en-US" sz="1200" b="0" i="0" u="none" strike="noStrike">
                        <a:solidFill>
                          <a:srgbClr val="000000"/>
                        </a:solidFill>
                        <a:effectLst/>
                        <a:latin typeface="+mn-lt"/>
                      </a:endParaRPr>
                    </a:p>
                  </a:txBody>
                  <a:tcPr marL="6350" marR="6350" marT="6350" marB="0" anchor="ctr"/>
                </a:tc>
                <a:extLst>
                  <a:ext uri="{0D108BD9-81ED-4DB2-BD59-A6C34878D82A}">
                    <a16:rowId xmlns:a16="http://schemas.microsoft.com/office/drawing/2014/main" val="2995308430"/>
                  </a:ext>
                </a:extLst>
              </a:tr>
              <a:tr h="334448">
                <a:tc>
                  <a:txBody>
                    <a:bodyPr/>
                    <a:lstStyle/>
                    <a:p>
                      <a:pPr algn="ctr" fontAlgn="ctr"/>
                      <a:r>
                        <a:rPr lang="en-US" sz="1200" b="0" u="none" strike="noStrike">
                          <a:solidFill>
                            <a:srgbClr val="000000"/>
                          </a:solidFill>
                          <a:effectLst/>
                        </a:rPr>
                        <a:t>Central</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33,260</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17,258</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20</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6,652</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3,452</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35</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11,641</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dirty="0">
                          <a:solidFill>
                            <a:srgbClr val="000000"/>
                          </a:solidFill>
                          <a:effectLst/>
                        </a:rPr>
                        <a:t>6,040</a:t>
                      </a:r>
                      <a:endParaRPr lang="en-US" sz="1200" b="0" i="0" u="none" strike="noStrike" dirty="0">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45</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14,967</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7,766</a:t>
                      </a:r>
                      <a:endParaRPr lang="en-US" sz="1200" b="0" i="0" u="none" strike="noStrike">
                        <a:solidFill>
                          <a:srgbClr val="000000"/>
                        </a:solidFill>
                        <a:effectLst/>
                        <a:latin typeface="+mn-lt"/>
                      </a:endParaRPr>
                    </a:p>
                  </a:txBody>
                  <a:tcPr marL="6350" marR="6350" marT="6350" marB="0" anchor="ctr"/>
                </a:tc>
                <a:extLst>
                  <a:ext uri="{0D108BD9-81ED-4DB2-BD59-A6C34878D82A}">
                    <a16:rowId xmlns:a16="http://schemas.microsoft.com/office/drawing/2014/main" val="1735551090"/>
                  </a:ext>
                </a:extLst>
              </a:tr>
              <a:tr h="334448">
                <a:tc>
                  <a:txBody>
                    <a:bodyPr/>
                    <a:lstStyle/>
                    <a:p>
                      <a:pPr algn="ctr" fontAlgn="ctr"/>
                      <a:r>
                        <a:rPr lang="en-US" sz="1200" b="0" u="none" strike="noStrike">
                          <a:solidFill>
                            <a:srgbClr val="000000"/>
                          </a:solidFill>
                          <a:effectLst/>
                        </a:rPr>
                        <a:t>State</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12,386</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6,427</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20</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2,477</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1,285</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35</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4,335</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2,249</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45</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5,574</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2,892</a:t>
                      </a:r>
                      <a:endParaRPr lang="en-US" sz="1200" b="0" i="0" u="none" strike="noStrike">
                        <a:solidFill>
                          <a:srgbClr val="000000"/>
                        </a:solidFill>
                        <a:effectLst/>
                        <a:latin typeface="+mn-lt"/>
                      </a:endParaRPr>
                    </a:p>
                  </a:txBody>
                  <a:tcPr marL="6350" marR="6350" marT="6350" marB="0" anchor="ctr"/>
                </a:tc>
                <a:extLst>
                  <a:ext uri="{0D108BD9-81ED-4DB2-BD59-A6C34878D82A}">
                    <a16:rowId xmlns:a16="http://schemas.microsoft.com/office/drawing/2014/main" val="2545622828"/>
                  </a:ext>
                </a:extLst>
              </a:tr>
              <a:tr h="334448">
                <a:tc>
                  <a:txBody>
                    <a:bodyPr/>
                    <a:lstStyle/>
                    <a:p>
                      <a:pPr algn="ctr" fontAlgn="ctr"/>
                      <a:r>
                        <a:rPr lang="en-US" sz="1200" b="0" u="none" strike="noStrike">
                          <a:solidFill>
                            <a:srgbClr val="000000"/>
                          </a:solidFill>
                          <a:effectLst/>
                        </a:rPr>
                        <a:t>Private</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12,224</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6,343</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20</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2,445</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1,269</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35</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4,278</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2,220</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45</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dirty="0">
                          <a:solidFill>
                            <a:srgbClr val="000000"/>
                          </a:solidFill>
                          <a:effectLst/>
                        </a:rPr>
                        <a:t>5,501</a:t>
                      </a:r>
                      <a:endParaRPr lang="en-US" sz="1200" b="0" i="0" u="none" strike="noStrike" dirty="0">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2,854</a:t>
                      </a:r>
                      <a:endParaRPr lang="en-US" sz="1200" b="0" i="0" u="none" strike="noStrike">
                        <a:solidFill>
                          <a:srgbClr val="000000"/>
                        </a:solidFill>
                        <a:effectLst/>
                        <a:latin typeface="+mn-lt"/>
                      </a:endParaRPr>
                    </a:p>
                  </a:txBody>
                  <a:tcPr marL="6350" marR="6350" marT="6350" marB="0" anchor="ctr"/>
                </a:tc>
                <a:extLst>
                  <a:ext uri="{0D108BD9-81ED-4DB2-BD59-A6C34878D82A}">
                    <a16:rowId xmlns:a16="http://schemas.microsoft.com/office/drawing/2014/main" val="3374335053"/>
                  </a:ext>
                </a:extLst>
              </a:tr>
              <a:tr h="334448">
                <a:tc>
                  <a:txBody>
                    <a:bodyPr/>
                    <a:lstStyle/>
                    <a:p>
                      <a:pPr algn="ctr" fontAlgn="ctr"/>
                      <a:r>
                        <a:rPr lang="en-US" sz="1200" b="0" u="none" strike="noStrike">
                          <a:solidFill>
                            <a:srgbClr val="000000"/>
                          </a:solidFill>
                          <a:effectLst/>
                        </a:rPr>
                        <a:t>Total</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57,869</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30,028</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9,129</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4,737</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15,976</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8,290</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 </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20,541</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dirty="0">
                          <a:solidFill>
                            <a:srgbClr val="000000"/>
                          </a:solidFill>
                          <a:effectLst/>
                        </a:rPr>
                        <a:t>10,658</a:t>
                      </a:r>
                      <a:endParaRPr lang="en-US" sz="1200" b="0" i="0" u="none" strike="noStrike" dirty="0">
                        <a:solidFill>
                          <a:srgbClr val="000000"/>
                        </a:solidFill>
                        <a:effectLst/>
                        <a:latin typeface="+mn-lt"/>
                      </a:endParaRPr>
                    </a:p>
                  </a:txBody>
                  <a:tcPr marL="6350" marR="6350" marT="6350" marB="0" anchor="ctr"/>
                </a:tc>
                <a:extLst>
                  <a:ext uri="{0D108BD9-81ED-4DB2-BD59-A6C34878D82A}">
                    <a16:rowId xmlns:a16="http://schemas.microsoft.com/office/drawing/2014/main" val="2602657009"/>
                  </a:ext>
                </a:extLst>
              </a:tr>
            </a:tbl>
          </a:graphicData>
        </a:graphic>
      </p:graphicFrame>
      <p:sp>
        <p:nvSpPr>
          <p:cNvPr id="9" name="Rectangle 8">
            <a:extLst>
              <a:ext uri="{FF2B5EF4-FFF2-40B4-BE49-F238E27FC236}">
                <a16:creationId xmlns:a16="http://schemas.microsoft.com/office/drawing/2014/main" id="{7CF713AF-8AD9-4A8D-8345-2B2A9D855B60}"/>
              </a:ext>
            </a:extLst>
          </p:cNvPr>
          <p:cNvSpPr/>
          <p:nvPr/>
        </p:nvSpPr>
        <p:spPr bwMode="gray">
          <a:xfrm>
            <a:off x="469900" y="3805891"/>
            <a:ext cx="11252196" cy="284480"/>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Year-wise trajectory for replacement of Thermal Power with Renewable Power </a:t>
            </a:r>
          </a:p>
        </p:txBody>
      </p:sp>
      <p:sp>
        <p:nvSpPr>
          <p:cNvPr id="2" name="TextBox 1">
            <a:extLst>
              <a:ext uri="{FF2B5EF4-FFF2-40B4-BE49-F238E27FC236}">
                <a16:creationId xmlns:a16="http://schemas.microsoft.com/office/drawing/2014/main" id="{B2842D83-C7DD-4666-ADD7-ADF02568BB73}"/>
              </a:ext>
            </a:extLst>
          </p:cNvPr>
          <p:cNvSpPr txBox="1"/>
          <p:nvPr/>
        </p:nvSpPr>
        <p:spPr>
          <a:xfrm>
            <a:off x="562362" y="6216673"/>
            <a:ext cx="11037160" cy="184666"/>
          </a:xfrm>
          <a:prstGeom prst="rect">
            <a:avLst/>
          </a:prstGeom>
          <a:solidFill>
            <a:schemeClr val="accent2">
              <a:lumMod val="20000"/>
              <a:lumOff val="80000"/>
            </a:schemeClr>
          </a:solidFill>
        </p:spPr>
        <p:txBody>
          <a:bodyPr wrap="square" lIns="0" tIns="0" rIns="0" bIns="0" rtlCol="0">
            <a:spAutoFit/>
          </a:bodyPr>
          <a:lstStyle/>
          <a:p>
            <a:pPr algn="ctr">
              <a:spcBef>
                <a:spcPts val="600"/>
              </a:spcBef>
              <a:buSzPct val="100000"/>
            </a:pPr>
            <a:r>
              <a:rPr lang="en-US" sz="1200" b="1" dirty="0">
                <a:solidFill>
                  <a:srgbClr val="313131"/>
                </a:solidFill>
              </a:rPr>
              <a:t>** An illustration of Savings in Power purchase cost by replacing surplus power with RE Power has been shown in Slide No. 103</a:t>
            </a:r>
          </a:p>
        </p:txBody>
      </p:sp>
    </p:spTree>
    <p:extLst>
      <p:ext uri="{BB962C8B-B14F-4D97-AF65-F5344CB8AC3E}">
        <p14:creationId xmlns:p14="http://schemas.microsoft.com/office/powerpoint/2010/main" val="3751693500"/>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0515AA1-27A5-4F18-A913-8D8DF38639AC}"/>
              </a:ext>
            </a:extLst>
          </p:cNvPr>
          <p:cNvSpPr>
            <a:spLocks noGrp="1"/>
          </p:cNvSpPr>
          <p:nvPr>
            <p:ph type="title"/>
          </p:nvPr>
        </p:nvSpPr>
        <p:spPr>
          <a:xfrm>
            <a:off x="469902" y="207381"/>
            <a:ext cx="11252200" cy="334102"/>
          </a:xfrm>
        </p:spPr>
        <p:txBody>
          <a:bodyPr/>
          <a:lstStyle/>
          <a:p>
            <a:r>
              <a:rPr lang="en-US" sz="1800" b="1" dirty="0"/>
              <a:t>Steps to Consider for PPA Optimization Decision for WBSEDCL</a:t>
            </a:r>
          </a:p>
        </p:txBody>
      </p:sp>
      <p:graphicFrame>
        <p:nvGraphicFramePr>
          <p:cNvPr id="5" name="Diagram 4">
            <a:extLst>
              <a:ext uri="{FF2B5EF4-FFF2-40B4-BE49-F238E27FC236}">
                <a16:creationId xmlns:a16="http://schemas.microsoft.com/office/drawing/2014/main" id="{A2496625-6B9D-458C-A311-D319AEB2BE63}"/>
              </a:ext>
            </a:extLst>
          </p:cNvPr>
          <p:cNvGraphicFramePr/>
          <p:nvPr>
            <p:extLst>
              <p:ext uri="{D42A27DB-BD31-4B8C-83A1-F6EECF244321}">
                <p14:modId xmlns:p14="http://schemas.microsoft.com/office/powerpoint/2010/main" val="127357564"/>
              </p:ext>
            </p:extLst>
          </p:nvPr>
        </p:nvGraphicFramePr>
        <p:xfrm>
          <a:off x="469902" y="664771"/>
          <a:ext cx="11384643" cy="57947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Rounded Corners 1">
            <a:extLst>
              <a:ext uri="{FF2B5EF4-FFF2-40B4-BE49-F238E27FC236}">
                <a16:creationId xmlns:a16="http://schemas.microsoft.com/office/drawing/2014/main" id="{975271A5-D5FC-4B13-BC4F-2FF2E85C864D}"/>
              </a:ext>
            </a:extLst>
          </p:cNvPr>
          <p:cNvSpPr/>
          <p:nvPr/>
        </p:nvSpPr>
        <p:spPr bwMode="gray">
          <a:xfrm>
            <a:off x="6781798" y="2715075"/>
            <a:ext cx="2471057" cy="805542"/>
          </a:xfrm>
          <a:prstGeom prst="round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pPr>
            <a:r>
              <a:rPr lang="en-US" sz="1100" b="1" dirty="0">
                <a:solidFill>
                  <a:schemeClr val="bg1"/>
                </a:solidFill>
              </a:rPr>
              <a:t>Evaluation of PPA for direct Exit</a:t>
            </a:r>
          </a:p>
        </p:txBody>
      </p:sp>
      <p:sp>
        <p:nvSpPr>
          <p:cNvPr id="6" name="Rectangle: Rounded Corners 5">
            <a:extLst>
              <a:ext uri="{FF2B5EF4-FFF2-40B4-BE49-F238E27FC236}">
                <a16:creationId xmlns:a16="http://schemas.microsoft.com/office/drawing/2014/main" id="{D5D992C4-A38D-4826-BD8D-0807D6E12946}"/>
              </a:ext>
            </a:extLst>
          </p:cNvPr>
          <p:cNvSpPr/>
          <p:nvPr/>
        </p:nvSpPr>
        <p:spPr bwMode="gray">
          <a:xfrm>
            <a:off x="6781798" y="3762130"/>
            <a:ext cx="2471057" cy="755148"/>
          </a:xfrm>
          <a:prstGeom prst="round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rPr>
              <a:t>Evaluation of PPA for RPO Obligation ( Replacement of Thermal with RE Source) </a:t>
            </a:r>
          </a:p>
        </p:txBody>
      </p:sp>
      <p:cxnSp>
        <p:nvCxnSpPr>
          <p:cNvPr id="9" name="Connector: Elbow 8">
            <a:extLst>
              <a:ext uri="{FF2B5EF4-FFF2-40B4-BE49-F238E27FC236}">
                <a16:creationId xmlns:a16="http://schemas.microsoft.com/office/drawing/2014/main" id="{1B00C1A9-32A7-44A0-B116-67D3B8EB295B}"/>
              </a:ext>
            </a:extLst>
          </p:cNvPr>
          <p:cNvCxnSpPr>
            <a:cxnSpLocks/>
          </p:cNvCxnSpPr>
          <p:nvPr/>
        </p:nvCxnSpPr>
        <p:spPr>
          <a:xfrm rot="10800000">
            <a:off x="9252855" y="3002422"/>
            <a:ext cx="1055916" cy="356937"/>
          </a:xfrm>
          <a:prstGeom prst="bentConnector3">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0" name="Connector: Elbow 9">
            <a:extLst>
              <a:ext uri="{FF2B5EF4-FFF2-40B4-BE49-F238E27FC236}">
                <a16:creationId xmlns:a16="http://schemas.microsoft.com/office/drawing/2014/main" id="{E3366CB9-0BB9-4667-B3B4-2FAA9400CD29}"/>
              </a:ext>
            </a:extLst>
          </p:cNvPr>
          <p:cNvCxnSpPr>
            <a:cxnSpLocks/>
          </p:cNvCxnSpPr>
          <p:nvPr/>
        </p:nvCxnSpPr>
        <p:spPr>
          <a:xfrm rot="10800000" flipV="1">
            <a:off x="9252855" y="3867492"/>
            <a:ext cx="1055916" cy="324893"/>
          </a:xfrm>
          <a:prstGeom prst="bentConnector3">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8" name="Connector: Elbow 17">
            <a:extLst>
              <a:ext uri="{FF2B5EF4-FFF2-40B4-BE49-F238E27FC236}">
                <a16:creationId xmlns:a16="http://schemas.microsoft.com/office/drawing/2014/main" id="{6FCD2240-6DFA-4631-9552-E7E6B3B08BC2}"/>
              </a:ext>
            </a:extLst>
          </p:cNvPr>
          <p:cNvCxnSpPr>
            <a:cxnSpLocks/>
            <a:stCxn id="2" idx="1"/>
          </p:cNvCxnSpPr>
          <p:nvPr/>
        </p:nvCxnSpPr>
        <p:spPr>
          <a:xfrm rot="10800000" flipV="1">
            <a:off x="6008916" y="3117846"/>
            <a:ext cx="772882" cy="483022"/>
          </a:xfrm>
          <a:prstGeom prst="bentConnector3">
            <a:avLst>
              <a:gd name="adj1" fmla="val 50000"/>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40" name="Connector: Elbow 39">
            <a:extLst>
              <a:ext uri="{FF2B5EF4-FFF2-40B4-BE49-F238E27FC236}">
                <a16:creationId xmlns:a16="http://schemas.microsoft.com/office/drawing/2014/main" id="{374AF4DF-66B9-47B4-AB3E-C01AA183FF65}"/>
              </a:ext>
            </a:extLst>
          </p:cNvPr>
          <p:cNvCxnSpPr>
            <a:cxnSpLocks/>
          </p:cNvCxnSpPr>
          <p:nvPr/>
        </p:nvCxnSpPr>
        <p:spPr>
          <a:xfrm rot="10800000">
            <a:off x="6008916" y="3934971"/>
            <a:ext cx="772882" cy="257417"/>
          </a:xfrm>
          <a:prstGeom prst="bentConnector3">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163428115"/>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8969"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5" y="1416208"/>
            <a:ext cx="9630230" cy="861774"/>
          </a:xfrm>
        </p:spPr>
        <p:txBody>
          <a:bodyPr anchor="ctr" anchorCtr="0">
            <a:spAutoFit/>
          </a:bodyPr>
          <a:lstStyle/>
          <a:p>
            <a:r>
              <a:rPr lang="en-US" sz="2800" i="0" dirty="0">
                <a:solidFill>
                  <a:schemeClr val="tx1"/>
                </a:solidFill>
              </a:rPr>
              <a:t>Conversion of Agriculture Water Pumps to Solar Energy based Pumps</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68992" y="1590786"/>
            <a:ext cx="501149" cy="501149"/>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2000" b="1" i="0" u="none" strike="noStrike" kern="0" cap="none" spc="0" normalizeH="0" baseline="0" noProof="0" dirty="0">
                <a:ln>
                  <a:noFill/>
                </a:ln>
                <a:solidFill>
                  <a:prstClr val="white"/>
                </a:solidFill>
                <a:effectLst/>
                <a:uLnTx/>
                <a:uFillTx/>
              </a:rPr>
              <a:t>6</a:t>
            </a:r>
            <a:endParaRPr kumimoji="0" lang="en-IN" sz="20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1B748CB-0B57-4CA1-9B41-81AB5E897267}"/>
              </a:ext>
            </a:extLst>
          </p:cNvPr>
          <p:cNvSpPr txBox="1"/>
          <p:nvPr/>
        </p:nvSpPr>
        <p:spPr>
          <a:xfrm>
            <a:off x="4972286" y="2929535"/>
            <a:ext cx="5570865" cy="1292662"/>
          </a:xfrm>
          <a:prstGeom prst="rect">
            <a:avLst/>
          </a:prstGeom>
          <a:noFill/>
        </p:spPr>
        <p:txBody>
          <a:bodyPr wrap="square" lIns="0" tIns="0" rIns="0" bIns="0" rtlCol="0">
            <a:spAutoFit/>
          </a:bodyPr>
          <a:lstStyle/>
          <a:p>
            <a:pPr>
              <a:spcBef>
                <a:spcPts val="1800"/>
              </a:spcBef>
              <a:buSzPct val="100000"/>
            </a:pPr>
            <a:r>
              <a:rPr lang="en-IN" sz="1400" b="1" dirty="0"/>
              <a:t>Topics Covered</a:t>
            </a:r>
          </a:p>
          <a:p>
            <a:pPr marL="800071" lvl="1" indent="-342900">
              <a:buSzPct val="100000"/>
              <a:buFont typeface="+mj-lt"/>
              <a:buAutoNum type="alphaUcPeriod"/>
            </a:pPr>
            <a:r>
              <a:rPr lang="en-IN" sz="1400" b="1" dirty="0"/>
              <a:t>PM-KUSUM (Pradhan Mantri Kisan </a:t>
            </a:r>
            <a:r>
              <a:rPr lang="en-IN" sz="1400" b="1" dirty="0" err="1"/>
              <a:t>Urja</a:t>
            </a:r>
            <a:r>
              <a:rPr lang="en-IN" sz="1400" b="1" dirty="0"/>
              <a:t> Suraksha </a:t>
            </a:r>
            <a:r>
              <a:rPr lang="en-IN" sz="1400" b="1" dirty="0" err="1"/>
              <a:t>evam</a:t>
            </a:r>
            <a:r>
              <a:rPr lang="en-IN" sz="1400" b="1" dirty="0"/>
              <a:t> </a:t>
            </a:r>
            <a:r>
              <a:rPr lang="en-IN" sz="1400" b="1" dirty="0" err="1"/>
              <a:t>Utthaan</a:t>
            </a:r>
            <a:r>
              <a:rPr lang="en-IN" sz="1400" b="1" dirty="0"/>
              <a:t> </a:t>
            </a:r>
            <a:r>
              <a:rPr lang="en-IN" sz="1400" b="1" dirty="0" err="1"/>
              <a:t>Mahabhiyan</a:t>
            </a:r>
            <a:r>
              <a:rPr lang="en-IN" sz="1400" b="1" dirty="0"/>
              <a:t>)</a:t>
            </a:r>
          </a:p>
          <a:p>
            <a:pPr marL="800071" lvl="1" indent="-342900">
              <a:buSzPct val="100000"/>
              <a:buFont typeface="+mj-lt"/>
              <a:buAutoNum type="alphaUcPeriod"/>
            </a:pPr>
            <a:r>
              <a:rPr lang="en-US" sz="1400" b="1" dirty="0"/>
              <a:t>RIDF Scheme for Agriculture Solar Pump</a:t>
            </a:r>
          </a:p>
          <a:p>
            <a:pPr>
              <a:buSzPct val="100000"/>
            </a:pPr>
            <a:endParaRPr lang="en-IN" sz="1400" b="1" dirty="0">
              <a:solidFill>
                <a:srgbClr val="FF0000"/>
              </a:solidFill>
            </a:endParaRPr>
          </a:p>
          <a:p>
            <a:pPr marL="342900" indent="-342900">
              <a:buSzPct val="100000"/>
              <a:buFont typeface="+mj-lt"/>
              <a:buAutoNum type="arabicPeriod"/>
            </a:pPr>
            <a:endParaRPr lang="en-IN" sz="1400" b="1" dirty="0">
              <a:solidFill>
                <a:srgbClr val="FF0000"/>
              </a:solidFill>
            </a:endParaRPr>
          </a:p>
        </p:txBody>
      </p: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35001882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9993"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635358" y="1537937"/>
            <a:ext cx="9630230" cy="615553"/>
          </a:xfrm>
        </p:spPr>
        <p:txBody>
          <a:bodyPr anchor="ctr" anchorCtr="0">
            <a:spAutoFit/>
          </a:bodyPr>
          <a:lstStyle/>
          <a:p>
            <a:r>
              <a:rPr lang="en-US" sz="2000" i="0" dirty="0">
                <a:solidFill>
                  <a:schemeClr val="tx1"/>
                </a:solidFill>
              </a:rPr>
              <a:t>PM-KUSUM (Pradhan Mantri Kisan </a:t>
            </a:r>
            <a:r>
              <a:rPr lang="en-US" sz="2000" i="0" dirty="0" err="1">
                <a:solidFill>
                  <a:schemeClr val="tx1"/>
                </a:solidFill>
              </a:rPr>
              <a:t>Urja</a:t>
            </a:r>
            <a:r>
              <a:rPr lang="en-US" sz="2000" i="0" dirty="0">
                <a:solidFill>
                  <a:schemeClr val="tx1"/>
                </a:solidFill>
              </a:rPr>
              <a:t> Suraksha </a:t>
            </a:r>
            <a:r>
              <a:rPr lang="en-US" sz="2000" i="0" dirty="0" err="1">
                <a:solidFill>
                  <a:schemeClr val="tx1"/>
                </a:solidFill>
              </a:rPr>
              <a:t>evam</a:t>
            </a:r>
            <a:r>
              <a:rPr lang="en-US" sz="2000" i="0" dirty="0">
                <a:solidFill>
                  <a:schemeClr val="tx1"/>
                </a:solidFill>
              </a:rPr>
              <a:t> </a:t>
            </a:r>
            <a:r>
              <a:rPr lang="en-US" sz="2000" i="0" dirty="0" err="1">
                <a:solidFill>
                  <a:schemeClr val="tx1"/>
                </a:solidFill>
              </a:rPr>
              <a:t>Utthaan</a:t>
            </a:r>
            <a:r>
              <a:rPr lang="en-US" sz="2000" i="0" dirty="0">
                <a:solidFill>
                  <a:schemeClr val="tx1"/>
                </a:solidFill>
              </a:rPr>
              <a:t> </a:t>
            </a:r>
            <a:r>
              <a:rPr lang="en-US" sz="2000" i="0" dirty="0" err="1">
                <a:solidFill>
                  <a:schemeClr val="tx1"/>
                </a:solidFill>
              </a:rPr>
              <a:t>Mahabhiyan</a:t>
            </a:r>
            <a:r>
              <a:rPr lang="en-US" sz="2000" i="0" dirty="0">
                <a:solidFill>
                  <a:schemeClr val="tx1"/>
                </a:solidFill>
              </a:rPr>
              <a:t>)</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68992" y="1590786"/>
            <a:ext cx="811893" cy="501149"/>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lang="en-IN" sz="1400" b="1" kern="0" dirty="0">
                <a:solidFill>
                  <a:prstClr val="white"/>
                </a:solidFill>
              </a:rPr>
              <a:t>6A</a:t>
            </a:r>
            <a:endParaRPr kumimoji="0" lang="en-IN" sz="1400" b="1" i="0" u="none" strike="noStrike" kern="0" cap="none" spc="0" normalizeH="0" baseline="0" noProof="0" dirty="0">
              <a:ln>
                <a:noFill/>
              </a:ln>
              <a:solidFill>
                <a:prstClr val="white"/>
              </a:solidFill>
              <a:effectLst/>
              <a:uLnTx/>
              <a:uFillTx/>
            </a:endParaRPr>
          </a:p>
        </p:txBody>
      </p:sp>
      <p:grpSp>
        <p:nvGrpSpPr>
          <p:cNvPr id="14" name="Group 526">
            <a:extLst>
              <a:ext uri="{FF2B5EF4-FFF2-40B4-BE49-F238E27FC236}">
                <a16:creationId xmlns:a16="http://schemas.microsoft.com/office/drawing/2014/main" id="{5540E149-1F19-4064-9714-B21FD0705489}"/>
              </a:ext>
            </a:extLst>
          </p:cNvPr>
          <p:cNvGrpSpPr>
            <a:grpSpLocks noChangeAspect="1"/>
          </p:cNvGrpSpPr>
          <p:nvPr/>
        </p:nvGrpSpPr>
        <p:grpSpPr bwMode="auto">
          <a:xfrm>
            <a:off x="1104225" y="3008313"/>
            <a:ext cx="2345264" cy="2345264"/>
            <a:chOff x="3464" y="1974"/>
            <a:chExt cx="340" cy="340"/>
          </a:xfrm>
          <a:solidFill>
            <a:srgbClr val="9CAC00"/>
          </a:solidFill>
        </p:grpSpPr>
        <p:sp>
          <p:nvSpPr>
            <p:cNvPr id="15" name="Freeform 527">
              <a:extLst>
                <a:ext uri="{FF2B5EF4-FFF2-40B4-BE49-F238E27FC236}">
                  <a16:creationId xmlns:a16="http://schemas.microsoft.com/office/drawing/2014/main" id="{2261B12D-A407-4719-9125-F49F83DDB571}"/>
                </a:ext>
              </a:extLst>
            </p:cNvPr>
            <p:cNvSpPr>
              <a:spLocks noEditPoints="1"/>
            </p:cNvSpPr>
            <p:nvPr/>
          </p:nvSpPr>
          <p:spPr bwMode="auto">
            <a:xfrm>
              <a:off x="3464" y="197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528">
              <a:extLst>
                <a:ext uri="{FF2B5EF4-FFF2-40B4-BE49-F238E27FC236}">
                  <a16:creationId xmlns:a16="http://schemas.microsoft.com/office/drawing/2014/main" id="{4FB09AB9-A79B-434D-9DE7-187BE7279860}"/>
                </a:ext>
              </a:extLst>
            </p:cNvPr>
            <p:cNvSpPr>
              <a:spLocks noEditPoints="1"/>
            </p:cNvSpPr>
            <p:nvPr/>
          </p:nvSpPr>
          <p:spPr bwMode="auto">
            <a:xfrm>
              <a:off x="3541" y="2037"/>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47775670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9AB790-4F16-43DD-BB50-31270723FCC0}"/>
              </a:ext>
            </a:extLst>
          </p:cNvPr>
          <p:cNvSpPr>
            <a:spLocks noGrp="1"/>
          </p:cNvSpPr>
          <p:nvPr>
            <p:ph type="title"/>
          </p:nvPr>
        </p:nvSpPr>
        <p:spPr>
          <a:xfrm>
            <a:off x="469903" y="372036"/>
            <a:ext cx="11252200" cy="334102"/>
          </a:xfrm>
        </p:spPr>
        <p:txBody>
          <a:bodyPr/>
          <a:lstStyle/>
          <a:p>
            <a:r>
              <a:rPr lang="en-US" sz="1800" b="1" dirty="0"/>
              <a:t>Components of KUSUM Scheme – Details- At National Level</a:t>
            </a:r>
          </a:p>
        </p:txBody>
      </p:sp>
      <p:grpSp>
        <p:nvGrpSpPr>
          <p:cNvPr id="4" name="Group 3">
            <a:extLst>
              <a:ext uri="{FF2B5EF4-FFF2-40B4-BE49-F238E27FC236}">
                <a16:creationId xmlns:a16="http://schemas.microsoft.com/office/drawing/2014/main" id="{2414A6FD-5044-4EB2-AB26-D92C2A109B19}"/>
              </a:ext>
            </a:extLst>
          </p:cNvPr>
          <p:cNvGrpSpPr/>
          <p:nvPr/>
        </p:nvGrpSpPr>
        <p:grpSpPr>
          <a:xfrm>
            <a:off x="551133" y="867397"/>
            <a:ext cx="11165444" cy="5166448"/>
            <a:chOff x="407294" y="1077686"/>
            <a:chExt cx="13810038" cy="5171693"/>
          </a:xfrm>
        </p:grpSpPr>
        <p:sp>
          <p:nvSpPr>
            <p:cNvPr id="6" name="Rectangle 5">
              <a:extLst>
                <a:ext uri="{FF2B5EF4-FFF2-40B4-BE49-F238E27FC236}">
                  <a16:creationId xmlns:a16="http://schemas.microsoft.com/office/drawing/2014/main" id="{DCA7763F-BB2E-425D-8BAA-07EC282B288E}"/>
                </a:ext>
              </a:extLst>
            </p:cNvPr>
            <p:cNvSpPr/>
            <p:nvPr/>
          </p:nvSpPr>
          <p:spPr>
            <a:xfrm>
              <a:off x="407295" y="3110343"/>
              <a:ext cx="3199398" cy="352737"/>
            </a:xfrm>
            <a:prstGeom prst="rect">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t>Sanctioned Capacity – 4906 MW</a:t>
              </a:r>
            </a:p>
          </p:txBody>
        </p:sp>
        <p:sp>
          <p:nvSpPr>
            <p:cNvPr id="7" name="TextBox 6">
              <a:extLst>
                <a:ext uri="{FF2B5EF4-FFF2-40B4-BE49-F238E27FC236}">
                  <a16:creationId xmlns:a16="http://schemas.microsoft.com/office/drawing/2014/main" id="{72EE5054-22D7-4E73-ACE8-44AB870B59D0}"/>
                </a:ext>
              </a:extLst>
            </p:cNvPr>
            <p:cNvSpPr txBox="1"/>
            <p:nvPr/>
          </p:nvSpPr>
          <p:spPr>
            <a:xfrm>
              <a:off x="469904" y="4051045"/>
              <a:ext cx="3119312" cy="1186141"/>
            </a:xfrm>
            <a:prstGeom prst="rect">
              <a:avLst/>
            </a:prstGeom>
            <a:noFill/>
          </p:spPr>
          <p:txBody>
            <a:bodyPr wrap="square" rtlCol="0">
              <a:spAutoFit/>
            </a:bodyPr>
            <a:lstStyle/>
            <a:p>
              <a:pPr marL="342900" indent="-342900">
                <a:spcBef>
                  <a:spcPts val="600"/>
                </a:spcBef>
                <a:buFont typeface="Arial" panose="020B0604020202020204" pitchFamily="34" charset="0"/>
                <a:buChar char="•"/>
              </a:pPr>
              <a:r>
                <a:rPr lang="en-IN" sz="1100" b="1" dirty="0">
                  <a:solidFill>
                    <a:schemeClr val="accent2">
                      <a:lumMod val="75000"/>
                    </a:schemeClr>
                  </a:solidFill>
                </a:rPr>
                <a:t>PBI of 40 paisa/ kWh provided for 5 years from commissioning</a:t>
              </a:r>
              <a:endParaRPr lang="en-IN" sz="1100" b="1" dirty="0"/>
            </a:p>
            <a:p>
              <a:pPr marL="342900" indent="-342900">
                <a:spcBef>
                  <a:spcPts val="600"/>
                </a:spcBef>
                <a:buFont typeface="Arial" panose="020B0604020202020204" pitchFamily="34" charset="0"/>
                <a:buChar char="•"/>
              </a:pPr>
              <a:r>
                <a:rPr lang="en-IN" sz="1100" b="1" dirty="0">
                  <a:solidFill>
                    <a:srgbClr val="002060"/>
                  </a:solidFill>
                </a:rPr>
                <a:t>57 Plants </a:t>
              </a:r>
              <a:r>
                <a:rPr lang="en-IN" sz="1100" b="1" dirty="0"/>
                <a:t>for </a:t>
              </a:r>
              <a:r>
                <a:rPr lang="en-IN" sz="1100" b="1" dirty="0">
                  <a:solidFill>
                    <a:srgbClr val="002060"/>
                  </a:solidFill>
                </a:rPr>
                <a:t>42.75 MW</a:t>
              </a:r>
              <a:r>
                <a:rPr lang="en-IN" sz="1100" b="1" dirty="0">
                  <a:solidFill>
                    <a:srgbClr val="FF0000"/>
                  </a:solidFill>
                </a:rPr>
                <a:t> </a:t>
              </a:r>
              <a:r>
                <a:rPr lang="en-IN" sz="1100" b="1" dirty="0"/>
                <a:t>in Rajasthan and Himachal Pradesh</a:t>
              </a:r>
            </a:p>
          </p:txBody>
        </p:sp>
        <p:sp>
          <p:nvSpPr>
            <p:cNvPr id="8" name="Rectangle 7">
              <a:extLst>
                <a:ext uri="{FF2B5EF4-FFF2-40B4-BE49-F238E27FC236}">
                  <a16:creationId xmlns:a16="http://schemas.microsoft.com/office/drawing/2014/main" id="{F57D0653-EDAB-4F3C-BED6-05C7FEEABA23}"/>
                </a:ext>
              </a:extLst>
            </p:cNvPr>
            <p:cNvSpPr/>
            <p:nvPr/>
          </p:nvSpPr>
          <p:spPr>
            <a:xfrm>
              <a:off x="407295" y="3605629"/>
              <a:ext cx="3199398" cy="352737"/>
            </a:xfrm>
            <a:prstGeom prst="rect">
              <a:avLst/>
            </a:prstGeom>
            <a:solidFill>
              <a:srgbClr val="2689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t>Installed Capacity – 42.75 MW</a:t>
              </a:r>
            </a:p>
          </p:txBody>
        </p:sp>
        <p:sp>
          <p:nvSpPr>
            <p:cNvPr id="10" name="Rectangle 9">
              <a:extLst>
                <a:ext uri="{FF2B5EF4-FFF2-40B4-BE49-F238E27FC236}">
                  <a16:creationId xmlns:a16="http://schemas.microsoft.com/office/drawing/2014/main" id="{BA63675D-ED56-4685-AD3C-C8477CA8EBE4}"/>
                </a:ext>
              </a:extLst>
            </p:cNvPr>
            <p:cNvSpPr/>
            <p:nvPr/>
          </p:nvSpPr>
          <p:spPr>
            <a:xfrm>
              <a:off x="414659" y="5303984"/>
              <a:ext cx="3130093" cy="44661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t>LOA issued for approx. 1070MW</a:t>
              </a:r>
            </a:p>
          </p:txBody>
        </p:sp>
        <p:sp>
          <p:nvSpPr>
            <p:cNvPr id="11" name="Rectangle 10">
              <a:extLst>
                <a:ext uri="{FF2B5EF4-FFF2-40B4-BE49-F238E27FC236}">
                  <a16:creationId xmlns:a16="http://schemas.microsoft.com/office/drawing/2014/main" id="{DB710664-4381-4097-8D1F-3B055FC6ACEA}"/>
                </a:ext>
              </a:extLst>
            </p:cNvPr>
            <p:cNvSpPr/>
            <p:nvPr/>
          </p:nvSpPr>
          <p:spPr>
            <a:xfrm>
              <a:off x="407294" y="5886356"/>
              <a:ext cx="3130093" cy="35273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t>PPA signed for approx. 350MW</a:t>
              </a:r>
            </a:p>
          </p:txBody>
        </p:sp>
        <p:sp>
          <p:nvSpPr>
            <p:cNvPr id="12" name="Rectangle 11">
              <a:extLst>
                <a:ext uri="{FF2B5EF4-FFF2-40B4-BE49-F238E27FC236}">
                  <a16:creationId xmlns:a16="http://schemas.microsoft.com/office/drawing/2014/main" id="{C478E0DB-146F-41ED-927D-CB95797B7E7B}"/>
                </a:ext>
              </a:extLst>
            </p:cNvPr>
            <p:cNvSpPr/>
            <p:nvPr/>
          </p:nvSpPr>
          <p:spPr>
            <a:xfrm>
              <a:off x="414660" y="2614329"/>
              <a:ext cx="3199398" cy="35273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t>Target Capacity – 10000 MW</a:t>
              </a:r>
            </a:p>
          </p:txBody>
        </p:sp>
        <p:sp>
          <p:nvSpPr>
            <p:cNvPr id="13" name="TextBox 12">
              <a:extLst>
                <a:ext uri="{FF2B5EF4-FFF2-40B4-BE49-F238E27FC236}">
                  <a16:creationId xmlns:a16="http://schemas.microsoft.com/office/drawing/2014/main" id="{2C834BD0-AFF8-4F06-8AED-A25A09E6B237}"/>
                </a:ext>
              </a:extLst>
            </p:cNvPr>
            <p:cNvSpPr txBox="1"/>
            <p:nvPr/>
          </p:nvSpPr>
          <p:spPr>
            <a:xfrm>
              <a:off x="490781" y="2166796"/>
              <a:ext cx="3083100" cy="276999"/>
            </a:xfrm>
            <a:prstGeom prst="rect">
              <a:avLst/>
            </a:prstGeom>
            <a:noFill/>
          </p:spPr>
          <p:txBody>
            <a:bodyPr wrap="square" rtlCol="0" anchor="ctr">
              <a:spAutoFit/>
            </a:bodyPr>
            <a:lstStyle/>
            <a:p>
              <a:pPr algn="ctr"/>
              <a:r>
                <a:rPr lang="en-GB" altLang="ko-KR" sz="1200" b="1" dirty="0">
                  <a:cs typeface="Arial" pitchFamily="34" charset="0"/>
                </a:rPr>
                <a:t>Small Solar Power Plants</a:t>
              </a:r>
              <a:endParaRPr lang="ko-KR" altLang="en-US" sz="1200" b="1" dirty="0">
                <a:cs typeface="Arial" pitchFamily="34" charset="0"/>
              </a:endParaRPr>
            </a:p>
          </p:txBody>
        </p:sp>
        <p:sp>
          <p:nvSpPr>
            <p:cNvPr id="2" name="Rectangle: Rounded Corners 1">
              <a:extLst>
                <a:ext uri="{FF2B5EF4-FFF2-40B4-BE49-F238E27FC236}">
                  <a16:creationId xmlns:a16="http://schemas.microsoft.com/office/drawing/2014/main" id="{112D0D27-39FB-4DB8-B133-8748953BC49C}"/>
                </a:ext>
              </a:extLst>
            </p:cNvPr>
            <p:cNvSpPr/>
            <p:nvPr/>
          </p:nvSpPr>
          <p:spPr bwMode="gray">
            <a:xfrm>
              <a:off x="414660" y="1077686"/>
              <a:ext cx="3199398" cy="679094"/>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200" dirty="0">
                  <a:ln w="0"/>
                  <a:solidFill>
                    <a:schemeClr val="tx1"/>
                  </a:solidFill>
                  <a:effectLst>
                    <a:outerShdw blurRad="38100" dist="19050" dir="2700000" algn="tl" rotWithShape="0">
                      <a:schemeClr val="dk1">
                        <a:alpha val="40000"/>
                      </a:schemeClr>
                    </a:outerShdw>
                  </a:effectLst>
                </a:rPr>
                <a:t>Component A</a:t>
              </a:r>
            </a:p>
          </p:txBody>
        </p:sp>
        <p:sp>
          <p:nvSpPr>
            <p:cNvPr id="14" name="Arrow: Down 13">
              <a:extLst>
                <a:ext uri="{FF2B5EF4-FFF2-40B4-BE49-F238E27FC236}">
                  <a16:creationId xmlns:a16="http://schemas.microsoft.com/office/drawing/2014/main" id="{6630C9FD-48F6-4937-A8DF-864F12E1765B}"/>
                </a:ext>
              </a:extLst>
            </p:cNvPr>
            <p:cNvSpPr/>
            <p:nvPr/>
          </p:nvSpPr>
          <p:spPr bwMode="gray">
            <a:xfrm>
              <a:off x="1849153" y="1808594"/>
              <a:ext cx="330411" cy="278869"/>
            </a:xfrm>
            <a:prstGeom prst="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200" b="1" dirty="0">
                <a:solidFill>
                  <a:schemeClr val="bg1"/>
                </a:solidFill>
              </a:endParaRPr>
            </a:p>
          </p:txBody>
        </p:sp>
        <p:sp>
          <p:nvSpPr>
            <p:cNvPr id="15" name="Rectangle 14">
              <a:extLst>
                <a:ext uri="{FF2B5EF4-FFF2-40B4-BE49-F238E27FC236}">
                  <a16:creationId xmlns:a16="http://schemas.microsoft.com/office/drawing/2014/main" id="{0555D085-5214-445C-8367-7215E2B12371}"/>
                </a:ext>
              </a:extLst>
            </p:cNvPr>
            <p:cNvSpPr/>
            <p:nvPr/>
          </p:nvSpPr>
          <p:spPr>
            <a:xfrm>
              <a:off x="4043118" y="3110343"/>
              <a:ext cx="3199398" cy="352737"/>
            </a:xfrm>
            <a:prstGeom prst="rect">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t>Sanctioned – 3.59 lakh pumps</a:t>
              </a:r>
            </a:p>
          </p:txBody>
        </p:sp>
        <p:sp>
          <p:nvSpPr>
            <p:cNvPr id="16" name="TextBox 15">
              <a:extLst>
                <a:ext uri="{FF2B5EF4-FFF2-40B4-BE49-F238E27FC236}">
                  <a16:creationId xmlns:a16="http://schemas.microsoft.com/office/drawing/2014/main" id="{DC493D04-AD76-4CAC-BC24-7B62F59333DB}"/>
                </a:ext>
              </a:extLst>
            </p:cNvPr>
            <p:cNvSpPr txBox="1"/>
            <p:nvPr/>
          </p:nvSpPr>
          <p:spPr>
            <a:xfrm>
              <a:off x="4105727" y="4051045"/>
              <a:ext cx="3119312" cy="770221"/>
            </a:xfrm>
            <a:prstGeom prst="rect">
              <a:avLst/>
            </a:prstGeom>
            <a:noFill/>
          </p:spPr>
          <p:txBody>
            <a:bodyPr wrap="square" rtlCol="0">
              <a:spAutoFit/>
            </a:bodyPr>
            <a:lstStyle/>
            <a:p>
              <a:pPr marL="342900" indent="-342900">
                <a:spcBef>
                  <a:spcPts val="1800"/>
                </a:spcBef>
                <a:buFont typeface="Arial" panose="020B0604020202020204" pitchFamily="34" charset="0"/>
                <a:buChar char="•"/>
              </a:pPr>
              <a:r>
                <a:rPr lang="en-US" sz="1100" b="1" dirty="0">
                  <a:solidFill>
                    <a:schemeClr val="accent2">
                      <a:lumMod val="75000"/>
                    </a:schemeClr>
                  </a:solidFill>
                </a:rPr>
                <a:t>30% support by Central Government  and at least 30% by the State Government </a:t>
              </a:r>
            </a:p>
          </p:txBody>
        </p:sp>
        <p:sp>
          <p:nvSpPr>
            <p:cNvPr id="17" name="Rectangle 16">
              <a:extLst>
                <a:ext uri="{FF2B5EF4-FFF2-40B4-BE49-F238E27FC236}">
                  <a16:creationId xmlns:a16="http://schemas.microsoft.com/office/drawing/2014/main" id="{74972712-492E-4617-A163-7B4FE1BE52AD}"/>
                </a:ext>
              </a:extLst>
            </p:cNvPr>
            <p:cNvSpPr/>
            <p:nvPr/>
          </p:nvSpPr>
          <p:spPr>
            <a:xfrm>
              <a:off x="4043118" y="3605629"/>
              <a:ext cx="3199398" cy="352737"/>
            </a:xfrm>
            <a:prstGeom prst="rect">
              <a:avLst/>
            </a:prstGeom>
            <a:solidFill>
              <a:srgbClr val="2689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t>Installed – 98350 pumps</a:t>
              </a:r>
            </a:p>
          </p:txBody>
        </p:sp>
        <p:sp>
          <p:nvSpPr>
            <p:cNvPr id="18" name="Rectangle 17">
              <a:extLst>
                <a:ext uri="{FF2B5EF4-FFF2-40B4-BE49-F238E27FC236}">
                  <a16:creationId xmlns:a16="http://schemas.microsoft.com/office/drawing/2014/main" id="{0A2F230D-CC5A-4518-A181-11DB36076D8D}"/>
                </a:ext>
              </a:extLst>
            </p:cNvPr>
            <p:cNvSpPr/>
            <p:nvPr/>
          </p:nvSpPr>
          <p:spPr>
            <a:xfrm>
              <a:off x="4057848" y="5220385"/>
              <a:ext cx="3167190" cy="44661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t>Installation under Ph-II started</a:t>
              </a:r>
            </a:p>
          </p:txBody>
        </p:sp>
        <p:sp>
          <p:nvSpPr>
            <p:cNvPr id="19" name="Rectangle 18">
              <a:extLst>
                <a:ext uri="{FF2B5EF4-FFF2-40B4-BE49-F238E27FC236}">
                  <a16:creationId xmlns:a16="http://schemas.microsoft.com/office/drawing/2014/main" id="{4FBAD920-F990-4313-9947-2D51BDF80796}"/>
                </a:ext>
              </a:extLst>
            </p:cNvPr>
            <p:cNvSpPr/>
            <p:nvPr/>
          </p:nvSpPr>
          <p:spPr>
            <a:xfrm>
              <a:off x="4050482" y="5802762"/>
              <a:ext cx="3167190" cy="44661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t>Remote monitoring portal operational</a:t>
              </a:r>
            </a:p>
          </p:txBody>
        </p:sp>
        <p:sp>
          <p:nvSpPr>
            <p:cNvPr id="20" name="Rectangle 19">
              <a:extLst>
                <a:ext uri="{FF2B5EF4-FFF2-40B4-BE49-F238E27FC236}">
                  <a16:creationId xmlns:a16="http://schemas.microsoft.com/office/drawing/2014/main" id="{D662E9A4-1E11-488B-AB19-BAD465353CEE}"/>
                </a:ext>
              </a:extLst>
            </p:cNvPr>
            <p:cNvSpPr/>
            <p:nvPr/>
          </p:nvSpPr>
          <p:spPr>
            <a:xfrm>
              <a:off x="4050483" y="2614329"/>
              <a:ext cx="3199398" cy="35273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t>Target – 20 lakh pumps</a:t>
              </a:r>
            </a:p>
          </p:txBody>
        </p:sp>
        <p:sp>
          <p:nvSpPr>
            <p:cNvPr id="21" name="TextBox 20">
              <a:extLst>
                <a:ext uri="{FF2B5EF4-FFF2-40B4-BE49-F238E27FC236}">
                  <a16:creationId xmlns:a16="http://schemas.microsoft.com/office/drawing/2014/main" id="{481ADBB8-85EC-4540-9366-A83F4DC5943F}"/>
                </a:ext>
              </a:extLst>
            </p:cNvPr>
            <p:cNvSpPr txBox="1"/>
            <p:nvPr/>
          </p:nvSpPr>
          <p:spPr>
            <a:xfrm>
              <a:off x="4126604" y="2166797"/>
              <a:ext cx="3083100" cy="276999"/>
            </a:xfrm>
            <a:prstGeom prst="rect">
              <a:avLst/>
            </a:prstGeom>
            <a:noFill/>
          </p:spPr>
          <p:txBody>
            <a:bodyPr wrap="square" rtlCol="0" anchor="ctr">
              <a:spAutoFit/>
            </a:bodyPr>
            <a:lstStyle/>
            <a:p>
              <a:pPr algn="ctr"/>
              <a:r>
                <a:rPr lang="en-US" altLang="ko-KR" sz="1200" b="1" dirty="0">
                  <a:cs typeface="Arial" pitchFamily="34" charset="0"/>
                </a:rPr>
                <a:t>Standalone solar pumps </a:t>
              </a:r>
            </a:p>
          </p:txBody>
        </p:sp>
        <p:sp>
          <p:nvSpPr>
            <p:cNvPr id="22" name="Rectangle: Rounded Corners 21">
              <a:extLst>
                <a:ext uri="{FF2B5EF4-FFF2-40B4-BE49-F238E27FC236}">
                  <a16:creationId xmlns:a16="http://schemas.microsoft.com/office/drawing/2014/main" id="{40D3946C-5E4E-47F2-9066-4E7A78B360F5}"/>
                </a:ext>
              </a:extLst>
            </p:cNvPr>
            <p:cNvSpPr/>
            <p:nvPr/>
          </p:nvSpPr>
          <p:spPr bwMode="gray">
            <a:xfrm>
              <a:off x="4028711" y="1077686"/>
              <a:ext cx="3199398" cy="679094"/>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200" dirty="0">
                  <a:ln w="0"/>
                  <a:solidFill>
                    <a:schemeClr val="tx1"/>
                  </a:solidFill>
                  <a:effectLst>
                    <a:outerShdw blurRad="38100" dist="19050" dir="2700000" algn="tl" rotWithShape="0">
                      <a:schemeClr val="dk1">
                        <a:alpha val="40000"/>
                      </a:schemeClr>
                    </a:outerShdw>
                  </a:effectLst>
                </a:rPr>
                <a:t>Component B</a:t>
              </a:r>
            </a:p>
          </p:txBody>
        </p:sp>
        <p:sp>
          <p:nvSpPr>
            <p:cNvPr id="23" name="Arrow: Down 22">
              <a:extLst>
                <a:ext uri="{FF2B5EF4-FFF2-40B4-BE49-F238E27FC236}">
                  <a16:creationId xmlns:a16="http://schemas.microsoft.com/office/drawing/2014/main" id="{43C9071A-C3E7-4DE9-BF18-BCFC5582761F}"/>
                </a:ext>
              </a:extLst>
            </p:cNvPr>
            <p:cNvSpPr/>
            <p:nvPr/>
          </p:nvSpPr>
          <p:spPr bwMode="gray">
            <a:xfrm>
              <a:off x="5450322" y="1812327"/>
              <a:ext cx="330411" cy="278869"/>
            </a:xfrm>
            <a:prstGeom prst="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200" b="1" dirty="0">
                <a:solidFill>
                  <a:schemeClr val="bg1"/>
                </a:solidFill>
              </a:endParaRPr>
            </a:p>
          </p:txBody>
        </p:sp>
        <p:sp>
          <p:nvSpPr>
            <p:cNvPr id="30" name="TextBox 29">
              <a:extLst>
                <a:ext uri="{FF2B5EF4-FFF2-40B4-BE49-F238E27FC236}">
                  <a16:creationId xmlns:a16="http://schemas.microsoft.com/office/drawing/2014/main" id="{FE97EFF9-8B8B-4BFE-AFF9-FC9362E212C4}"/>
                </a:ext>
              </a:extLst>
            </p:cNvPr>
            <p:cNvSpPr txBox="1"/>
            <p:nvPr/>
          </p:nvSpPr>
          <p:spPr>
            <a:xfrm>
              <a:off x="7897302" y="2158866"/>
              <a:ext cx="3083100" cy="461665"/>
            </a:xfrm>
            <a:prstGeom prst="rect">
              <a:avLst/>
            </a:prstGeom>
            <a:noFill/>
          </p:spPr>
          <p:txBody>
            <a:bodyPr wrap="square" rtlCol="0" anchor="ctr">
              <a:spAutoFit/>
            </a:bodyPr>
            <a:lstStyle/>
            <a:p>
              <a:pPr algn="ctr"/>
              <a:r>
                <a:rPr lang="en-US" altLang="ko-KR" sz="1200" b="1" dirty="0">
                  <a:cs typeface="Arial" pitchFamily="34" charset="0"/>
                </a:rPr>
                <a:t>Solarization of Existing Grid-connected pumps </a:t>
              </a:r>
            </a:p>
          </p:txBody>
        </p:sp>
        <p:sp>
          <p:nvSpPr>
            <p:cNvPr id="31" name="Rectangle: Rounded Corners 30">
              <a:extLst>
                <a:ext uri="{FF2B5EF4-FFF2-40B4-BE49-F238E27FC236}">
                  <a16:creationId xmlns:a16="http://schemas.microsoft.com/office/drawing/2014/main" id="{44F4531B-942F-4E41-8083-EF251400A363}"/>
                </a:ext>
              </a:extLst>
            </p:cNvPr>
            <p:cNvSpPr/>
            <p:nvPr/>
          </p:nvSpPr>
          <p:spPr bwMode="gray">
            <a:xfrm>
              <a:off x="7839155" y="1077686"/>
              <a:ext cx="3199398" cy="679094"/>
            </a:xfrm>
            <a:prstGeom prst="roundRect">
              <a:avLst/>
            </a:prstGeom>
            <a:solidFill>
              <a:schemeClr val="accent3">
                <a:lumMod val="20000"/>
                <a:lumOff val="80000"/>
              </a:schemeClr>
            </a:solidFill>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200" dirty="0">
                  <a:ln w="0"/>
                  <a:solidFill>
                    <a:schemeClr val="tx1"/>
                  </a:solidFill>
                  <a:effectLst>
                    <a:outerShdw blurRad="38100" dist="19050" dir="2700000" algn="tl" rotWithShape="0">
                      <a:schemeClr val="dk1">
                        <a:alpha val="40000"/>
                      </a:schemeClr>
                    </a:outerShdw>
                  </a:effectLst>
                </a:rPr>
                <a:t>Component C</a:t>
              </a:r>
            </a:p>
          </p:txBody>
        </p:sp>
        <p:sp>
          <p:nvSpPr>
            <p:cNvPr id="32" name="Arrow: Down 31">
              <a:extLst>
                <a:ext uri="{FF2B5EF4-FFF2-40B4-BE49-F238E27FC236}">
                  <a16:creationId xmlns:a16="http://schemas.microsoft.com/office/drawing/2014/main" id="{031EDBAC-2629-4E8E-9C51-20DE24CEEB3C}"/>
                </a:ext>
              </a:extLst>
            </p:cNvPr>
            <p:cNvSpPr/>
            <p:nvPr/>
          </p:nvSpPr>
          <p:spPr bwMode="gray">
            <a:xfrm>
              <a:off x="9273648" y="1810694"/>
              <a:ext cx="330411" cy="278869"/>
            </a:xfrm>
            <a:prstGeom prst="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200" b="1" dirty="0">
                <a:solidFill>
                  <a:schemeClr val="bg1"/>
                </a:solidFill>
              </a:endParaRPr>
            </a:p>
          </p:txBody>
        </p:sp>
        <p:sp>
          <p:nvSpPr>
            <p:cNvPr id="33" name="Arrow: Down 32">
              <a:extLst>
                <a:ext uri="{FF2B5EF4-FFF2-40B4-BE49-F238E27FC236}">
                  <a16:creationId xmlns:a16="http://schemas.microsoft.com/office/drawing/2014/main" id="{84044565-A09F-4221-A4B8-32524B74376A}"/>
                </a:ext>
              </a:extLst>
            </p:cNvPr>
            <p:cNvSpPr/>
            <p:nvPr/>
          </p:nvSpPr>
          <p:spPr bwMode="gray">
            <a:xfrm>
              <a:off x="9273646" y="2694902"/>
              <a:ext cx="330411" cy="278869"/>
            </a:xfrm>
            <a:prstGeom prst="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200" b="1" dirty="0">
                <a:solidFill>
                  <a:schemeClr val="bg1"/>
                </a:solidFill>
              </a:endParaRPr>
            </a:p>
          </p:txBody>
        </p:sp>
        <p:cxnSp>
          <p:nvCxnSpPr>
            <p:cNvPr id="37" name="Straight Connector 36">
              <a:extLst>
                <a:ext uri="{FF2B5EF4-FFF2-40B4-BE49-F238E27FC236}">
                  <a16:creationId xmlns:a16="http://schemas.microsoft.com/office/drawing/2014/main" id="{AA6E2E7B-5B23-41CB-B00C-EA6A8C60AC97}"/>
                </a:ext>
              </a:extLst>
            </p:cNvPr>
            <p:cNvCxnSpPr>
              <a:cxnSpLocks/>
            </p:cNvCxnSpPr>
            <p:nvPr/>
          </p:nvCxnSpPr>
          <p:spPr>
            <a:xfrm>
              <a:off x="8476366" y="3094918"/>
              <a:ext cx="2504036"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Arrow: Down 38">
              <a:extLst>
                <a:ext uri="{FF2B5EF4-FFF2-40B4-BE49-F238E27FC236}">
                  <a16:creationId xmlns:a16="http://schemas.microsoft.com/office/drawing/2014/main" id="{DB1CA0F3-D4F4-4060-9E81-996E928D66C6}"/>
                </a:ext>
              </a:extLst>
            </p:cNvPr>
            <p:cNvSpPr/>
            <p:nvPr/>
          </p:nvSpPr>
          <p:spPr bwMode="gray">
            <a:xfrm>
              <a:off x="8311160" y="3183408"/>
              <a:ext cx="330411" cy="278869"/>
            </a:xfrm>
            <a:prstGeom prst="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200" b="1" dirty="0">
                <a:solidFill>
                  <a:schemeClr val="bg1"/>
                </a:solidFill>
              </a:endParaRPr>
            </a:p>
          </p:txBody>
        </p:sp>
        <p:sp>
          <p:nvSpPr>
            <p:cNvPr id="41" name="TextBox 40">
              <a:extLst>
                <a:ext uri="{FF2B5EF4-FFF2-40B4-BE49-F238E27FC236}">
                  <a16:creationId xmlns:a16="http://schemas.microsoft.com/office/drawing/2014/main" id="{6F0E049B-E680-495A-8EEF-4E4616F7D751}"/>
                </a:ext>
              </a:extLst>
            </p:cNvPr>
            <p:cNvSpPr txBox="1"/>
            <p:nvPr/>
          </p:nvSpPr>
          <p:spPr>
            <a:xfrm>
              <a:off x="7759028" y="3496048"/>
              <a:ext cx="1788804" cy="646986"/>
            </a:xfrm>
            <a:prstGeom prst="rect">
              <a:avLst/>
            </a:prstGeom>
            <a:noFill/>
          </p:spPr>
          <p:txBody>
            <a:bodyPr wrap="square">
              <a:spAutoFit/>
            </a:bodyPr>
            <a:lstStyle/>
            <a:p>
              <a:pPr algn="ctr"/>
              <a:r>
                <a:rPr lang="en-IN" sz="1200" b="1" dirty="0"/>
                <a:t>Individual Pump Solarization</a:t>
              </a:r>
              <a:endParaRPr lang="en-US" sz="1200" dirty="0"/>
            </a:p>
          </p:txBody>
        </p:sp>
        <p:sp>
          <p:nvSpPr>
            <p:cNvPr id="42" name="Arrow: Down 41">
              <a:extLst>
                <a:ext uri="{FF2B5EF4-FFF2-40B4-BE49-F238E27FC236}">
                  <a16:creationId xmlns:a16="http://schemas.microsoft.com/office/drawing/2014/main" id="{83218DE9-4E39-4355-A87F-11FB2ECD1DE3}"/>
                </a:ext>
              </a:extLst>
            </p:cNvPr>
            <p:cNvSpPr/>
            <p:nvPr/>
          </p:nvSpPr>
          <p:spPr bwMode="gray">
            <a:xfrm>
              <a:off x="10708142" y="3195497"/>
              <a:ext cx="330411" cy="278869"/>
            </a:xfrm>
            <a:prstGeom prst="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200" b="1" dirty="0">
                <a:solidFill>
                  <a:schemeClr val="bg1"/>
                </a:solidFill>
              </a:endParaRPr>
            </a:p>
          </p:txBody>
        </p:sp>
        <p:sp>
          <p:nvSpPr>
            <p:cNvPr id="43" name="TextBox 42">
              <a:extLst>
                <a:ext uri="{FF2B5EF4-FFF2-40B4-BE49-F238E27FC236}">
                  <a16:creationId xmlns:a16="http://schemas.microsoft.com/office/drawing/2014/main" id="{7EF375E7-1E51-41EB-9836-574C69FDBACC}"/>
                </a:ext>
              </a:extLst>
            </p:cNvPr>
            <p:cNvSpPr txBox="1"/>
            <p:nvPr/>
          </p:nvSpPr>
          <p:spPr>
            <a:xfrm>
              <a:off x="10143082" y="3462277"/>
              <a:ext cx="1507809" cy="461665"/>
            </a:xfrm>
            <a:prstGeom prst="rect">
              <a:avLst/>
            </a:prstGeom>
            <a:noFill/>
          </p:spPr>
          <p:txBody>
            <a:bodyPr wrap="square">
              <a:spAutoFit/>
            </a:bodyPr>
            <a:lstStyle/>
            <a:p>
              <a:pPr algn="ctr"/>
              <a:r>
                <a:rPr lang="en-IN" sz="1200" b="1" dirty="0"/>
                <a:t>Feeder level solarisation</a:t>
              </a:r>
            </a:p>
          </p:txBody>
        </p:sp>
        <p:sp>
          <p:nvSpPr>
            <p:cNvPr id="44" name="Rectangle 43">
              <a:extLst>
                <a:ext uri="{FF2B5EF4-FFF2-40B4-BE49-F238E27FC236}">
                  <a16:creationId xmlns:a16="http://schemas.microsoft.com/office/drawing/2014/main" id="{DBC2D0AC-9B23-45C6-96AF-30DB1AB892BF}"/>
                </a:ext>
              </a:extLst>
            </p:cNvPr>
            <p:cNvSpPr/>
            <p:nvPr/>
          </p:nvSpPr>
          <p:spPr bwMode="gray">
            <a:xfrm>
              <a:off x="11492949" y="1424388"/>
              <a:ext cx="2724383" cy="1759018"/>
            </a:xfrm>
            <a:prstGeom prst="rect">
              <a:avLst/>
            </a:prstGeom>
            <a:solidFill>
              <a:schemeClr val="accent1">
                <a:lumMod val="20000"/>
                <a:lumOff val="80000"/>
              </a:schemeClr>
            </a:solidFill>
            <a:ln>
              <a:prstDash val="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400" i="1" dirty="0">
                  <a:ln w="0"/>
                  <a:solidFill>
                    <a:schemeClr val="accent4"/>
                  </a:solidFill>
                </a:rPr>
                <a:t>Among the three Components</a:t>
              </a:r>
              <a:r>
                <a:rPr lang="en-US" sz="1400" b="1" i="1" dirty="0">
                  <a:ln w="0"/>
                  <a:solidFill>
                    <a:schemeClr val="accent4"/>
                  </a:solidFill>
                </a:rPr>
                <a:t>, WBSEDCL is </a:t>
              </a:r>
              <a:r>
                <a:rPr lang="en-US" sz="1400" i="1" dirty="0">
                  <a:ln w="0"/>
                  <a:solidFill>
                    <a:schemeClr val="accent4"/>
                  </a:solidFill>
                </a:rPr>
                <a:t>carrying out </a:t>
              </a:r>
              <a:r>
                <a:rPr lang="en-US" sz="1400" b="1" i="1" dirty="0">
                  <a:ln w="0"/>
                  <a:solidFill>
                    <a:schemeClr val="accent4"/>
                  </a:solidFill>
                </a:rPr>
                <a:t>Only Component C </a:t>
              </a:r>
              <a:r>
                <a:rPr lang="en-US" sz="1400" i="1" dirty="0">
                  <a:ln w="0"/>
                  <a:solidFill>
                    <a:schemeClr val="accent4"/>
                  </a:solidFill>
                </a:rPr>
                <a:t>of Kusum Scheme</a:t>
              </a:r>
            </a:p>
          </p:txBody>
        </p:sp>
      </p:grpSp>
      <p:sp>
        <p:nvSpPr>
          <p:cNvPr id="34" name="Rectangle 33">
            <a:extLst>
              <a:ext uri="{FF2B5EF4-FFF2-40B4-BE49-F238E27FC236}">
                <a16:creationId xmlns:a16="http://schemas.microsoft.com/office/drawing/2014/main" id="{3F11ADB7-0080-4470-8778-EB04E4761201}"/>
              </a:ext>
            </a:extLst>
          </p:cNvPr>
          <p:cNvSpPr/>
          <p:nvPr/>
        </p:nvSpPr>
        <p:spPr>
          <a:xfrm>
            <a:off x="6543644" y="3956729"/>
            <a:ext cx="1727051" cy="91855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t>Sanctioned  0.76 lakh pumps under individual pump solarization</a:t>
            </a:r>
          </a:p>
        </p:txBody>
      </p:sp>
      <p:sp>
        <p:nvSpPr>
          <p:cNvPr id="35" name="Rectangle 34">
            <a:extLst>
              <a:ext uri="{FF2B5EF4-FFF2-40B4-BE49-F238E27FC236}">
                <a16:creationId xmlns:a16="http://schemas.microsoft.com/office/drawing/2014/main" id="{66FCDEC9-C824-4FBF-813B-02F4C08A0430}"/>
              </a:ext>
            </a:extLst>
          </p:cNvPr>
          <p:cNvSpPr/>
          <p:nvPr/>
        </p:nvSpPr>
        <p:spPr>
          <a:xfrm>
            <a:off x="6498630" y="5002130"/>
            <a:ext cx="1823435" cy="100003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t>30% support by Central Government  &amp; at least 30% by the State Government </a:t>
            </a:r>
          </a:p>
        </p:txBody>
      </p:sp>
      <p:sp>
        <p:nvSpPr>
          <p:cNvPr id="36" name="Rectangle 35">
            <a:extLst>
              <a:ext uri="{FF2B5EF4-FFF2-40B4-BE49-F238E27FC236}">
                <a16:creationId xmlns:a16="http://schemas.microsoft.com/office/drawing/2014/main" id="{C2681EBD-9696-4526-8513-0FF41CE6E47A}"/>
              </a:ext>
            </a:extLst>
          </p:cNvPr>
          <p:cNvSpPr/>
          <p:nvPr/>
        </p:nvSpPr>
        <p:spPr>
          <a:xfrm>
            <a:off x="8489423" y="3960458"/>
            <a:ext cx="1589526" cy="91482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t>Sanctioned  9.27 lakh pumps under feeder solarization</a:t>
            </a:r>
          </a:p>
        </p:txBody>
      </p:sp>
      <p:sp>
        <p:nvSpPr>
          <p:cNvPr id="38" name="Rectangle 37">
            <a:extLst>
              <a:ext uri="{FF2B5EF4-FFF2-40B4-BE49-F238E27FC236}">
                <a16:creationId xmlns:a16="http://schemas.microsoft.com/office/drawing/2014/main" id="{87FC03C2-6558-40E4-9817-BD0C56FA52DB}"/>
              </a:ext>
            </a:extLst>
          </p:cNvPr>
          <p:cNvSpPr/>
          <p:nvPr/>
        </p:nvSpPr>
        <p:spPr>
          <a:xfrm>
            <a:off x="8458990" y="5009025"/>
            <a:ext cx="1619960" cy="100003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t>30% CFA up to </a:t>
            </a:r>
            <a:r>
              <a:rPr lang="en-IN" sz="1100" b="1" dirty="0" err="1"/>
              <a:t>Rs</a:t>
            </a:r>
            <a:r>
              <a:rPr lang="en-IN" sz="1100" b="1" dirty="0"/>
              <a:t>. 1.05 Cr/ MW provided under RESCO/ CAPEX modes</a:t>
            </a:r>
          </a:p>
        </p:txBody>
      </p:sp>
      <p:sp>
        <p:nvSpPr>
          <p:cNvPr id="24" name="TextBox 23">
            <a:extLst>
              <a:ext uri="{FF2B5EF4-FFF2-40B4-BE49-F238E27FC236}">
                <a16:creationId xmlns:a16="http://schemas.microsoft.com/office/drawing/2014/main" id="{6A9DBC79-B359-4C6E-AE2D-97084132E438}"/>
              </a:ext>
            </a:extLst>
          </p:cNvPr>
          <p:cNvSpPr txBox="1"/>
          <p:nvPr/>
        </p:nvSpPr>
        <p:spPr>
          <a:xfrm>
            <a:off x="9032071" y="6409020"/>
            <a:ext cx="3023961" cy="153888"/>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rPr>
              <a:t>Source: RPM Meeting Presentation</a:t>
            </a:r>
          </a:p>
        </p:txBody>
      </p:sp>
    </p:spTree>
    <p:extLst>
      <p:ext uri="{BB962C8B-B14F-4D97-AF65-F5344CB8AC3E}">
        <p14:creationId xmlns:p14="http://schemas.microsoft.com/office/powerpoint/2010/main" val="1555922162"/>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2AFF1-A63D-4F16-977D-5D0AEF6BC863}"/>
              </a:ext>
            </a:extLst>
          </p:cNvPr>
          <p:cNvSpPr>
            <a:spLocks noGrp="1"/>
          </p:cNvSpPr>
          <p:nvPr>
            <p:ph type="title"/>
          </p:nvPr>
        </p:nvSpPr>
        <p:spPr>
          <a:xfrm>
            <a:off x="469902" y="402589"/>
            <a:ext cx="11252200" cy="409070"/>
          </a:xfrm>
        </p:spPr>
        <p:txBody>
          <a:bodyPr/>
          <a:lstStyle/>
          <a:p>
            <a:r>
              <a:rPr lang="en-US" sz="1800" b="1" dirty="0"/>
              <a:t>Kusum Scheme – Financial Outlay of Component C</a:t>
            </a:r>
          </a:p>
        </p:txBody>
      </p:sp>
      <p:grpSp>
        <p:nvGrpSpPr>
          <p:cNvPr id="16" name="Group 15">
            <a:extLst>
              <a:ext uri="{FF2B5EF4-FFF2-40B4-BE49-F238E27FC236}">
                <a16:creationId xmlns:a16="http://schemas.microsoft.com/office/drawing/2014/main" id="{46FD5AAF-7624-4A6B-899D-EF087E0B453C}"/>
              </a:ext>
            </a:extLst>
          </p:cNvPr>
          <p:cNvGrpSpPr/>
          <p:nvPr/>
        </p:nvGrpSpPr>
        <p:grpSpPr>
          <a:xfrm>
            <a:off x="353130" y="1483113"/>
            <a:ext cx="11593461" cy="3044283"/>
            <a:chOff x="360636" y="1962615"/>
            <a:chExt cx="11593461" cy="3044283"/>
          </a:xfrm>
        </p:grpSpPr>
        <p:sp>
          <p:nvSpPr>
            <p:cNvPr id="6" name="Oval 5">
              <a:extLst>
                <a:ext uri="{FF2B5EF4-FFF2-40B4-BE49-F238E27FC236}">
                  <a16:creationId xmlns:a16="http://schemas.microsoft.com/office/drawing/2014/main" id="{4FC34733-8B7F-4461-952B-360388EE30AB}"/>
                </a:ext>
              </a:extLst>
            </p:cNvPr>
            <p:cNvSpPr/>
            <p:nvPr/>
          </p:nvSpPr>
          <p:spPr bwMode="gray">
            <a:xfrm>
              <a:off x="1505405" y="1962615"/>
              <a:ext cx="4650058" cy="698501"/>
            </a:xfrm>
            <a:prstGeom prst="ellipse">
              <a:avLst/>
            </a:prstGeom>
            <a:solidFill>
              <a:schemeClr val="accent5">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30%</a:t>
              </a:r>
            </a:p>
          </p:txBody>
        </p:sp>
        <p:sp>
          <p:nvSpPr>
            <p:cNvPr id="8" name="Oval 7">
              <a:extLst>
                <a:ext uri="{FF2B5EF4-FFF2-40B4-BE49-F238E27FC236}">
                  <a16:creationId xmlns:a16="http://schemas.microsoft.com/office/drawing/2014/main" id="{01201484-6398-4519-BB57-B80787DEB8A8}"/>
                </a:ext>
              </a:extLst>
            </p:cNvPr>
            <p:cNvSpPr/>
            <p:nvPr/>
          </p:nvSpPr>
          <p:spPr bwMode="gray">
            <a:xfrm>
              <a:off x="1505405" y="3079749"/>
              <a:ext cx="4650058" cy="698501"/>
            </a:xfrm>
            <a:prstGeom prst="ellipse">
              <a:avLst/>
            </a:prstGeom>
            <a:solidFill>
              <a:schemeClr val="accent3">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ln w="0"/>
                  <a:effectLst>
                    <a:outerShdw blurRad="38100" dist="19050" dir="2700000" algn="tl" rotWithShape="0">
                      <a:schemeClr val="dk1">
                        <a:alpha val="40000"/>
                      </a:schemeClr>
                    </a:outerShdw>
                  </a:effectLst>
                </a:rPr>
                <a:t>30%</a:t>
              </a:r>
            </a:p>
          </p:txBody>
        </p:sp>
        <p:sp>
          <p:nvSpPr>
            <p:cNvPr id="9" name="Oval 8">
              <a:extLst>
                <a:ext uri="{FF2B5EF4-FFF2-40B4-BE49-F238E27FC236}">
                  <a16:creationId xmlns:a16="http://schemas.microsoft.com/office/drawing/2014/main" id="{C9D6E29A-E12F-455A-BF68-927C95026670}"/>
                </a:ext>
              </a:extLst>
            </p:cNvPr>
            <p:cNvSpPr/>
            <p:nvPr/>
          </p:nvSpPr>
          <p:spPr bwMode="gray">
            <a:xfrm>
              <a:off x="1505405" y="4196882"/>
              <a:ext cx="4650058" cy="698501"/>
            </a:xfrm>
            <a:prstGeom prst="ellipse">
              <a:avLst/>
            </a:prstGeom>
            <a:solidFill>
              <a:schemeClr val="tx1">
                <a:lumMod val="75000"/>
                <a:lumOff val="2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40%</a:t>
              </a:r>
            </a:p>
          </p:txBody>
        </p:sp>
        <p:sp>
          <p:nvSpPr>
            <p:cNvPr id="10" name="Rectangle 9">
              <a:extLst>
                <a:ext uri="{FF2B5EF4-FFF2-40B4-BE49-F238E27FC236}">
                  <a16:creationId xmlns:a16="http://schemas.microsoft.com/office/drawing/2014/main" id="{047B1438-F037-469F-A98F-0360898B8D6F}"/>
                </a:ext>
              </a:extLst>
            </p:cNvPr>
            <p:cNvSpPr/>
            <p:nvPr/>
          </p:nvSpPr>
          <p:spPr bwMode="gray">
            <a:xfrm>
              <a:off x="6623815" y="1962615"/>
              <a:ext cx="5330282" cy="698501"/>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400" dirty="0">
                  <a:ln w="0"/>
                  <a:solidFill>
                    <a:schemeClr val="tx1"/>
                  </a:solidFill>
                  <a:effectLst>
                    <a:outerShdw blurRad="38100" dist="19050" dir="2700000" algn="tl" rotWithShape="0">
                      <a:schemeClr val="dk1">
                        <a:alpha val="40000"/>
                      </a:schemeClr>
                    </a:outerShdw>
                  </a:effectLst>
                </a:rPr>
                <a:t>Central Financial Assistance</a:t>
              </a:r>
            </a:p>
          </p:txBody>
        </p:sp>
        <p:sp>
          <p:nvSpPr>
            <p:cNvPr id="11" name="Rectangle 10">
              <a:extLst>
                <a:ext uri="{FF2B5EF4-FFF2-40B4-BE49-F238E27FC236}">
                  <a16:creationId xmlns:a16="http://schemas.microsoft.com/office/drawing/2014/main" id="{E77BD86B-91D2-4419-9208-55D78F03577A}"/>
                </a:ext>
              </a:extLst>
            </p:cNvPr>
            <p:cNvSpPr/>
            <p:nvPr/>
          </p:nvSpPr>
          <p:spPr bwMode="gray">
            <a:xfrm>
              <a:off x="6623815" y="3079748"/>
              <a:ext cx="5330282" cy="698501"/>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400" dirty="0">
                  <a:ln w="0"/>
                  <a:solidFill>
                    <a:schemeClr val="tx1"/>
                  </a:solidFill>
                  <a:effectLst>
                    <a:outerShdw blurRad="38100" dist="19050" dir="2700000" algn="tl" rotWithShape="0">
                      <a:schemeClr val="dk1">
                        <a:alpha val="40000"/>
                      </a:schemeClr>
                    </a:outerShdw>
                  </a:effectLst>
                </a:rPr>
                <a:t>Contribution from State Government</a:t>
              </a:r>
            </a:p>
          </p:txBody>
        </p:sp>
        <p:sp>
          <p:nvSpPr>
            <p:cNvPr id="12" name="Rectangle 11">
              <a:extLst>
                <a:ext uri="{FF2B5EF4-FFF2-40B4-BE49-F238E27FC236}">
                  <a16:creationId xmlns:a16="http://schemas.microsoft.com/office/drawing/2014/main" id="{7DDB388F-AF5C-4BA4-A7CE-3E0C5BCC72AC}"/>
                </a:ext>
              </a:extLst>
            </p:cNvPr>
            <p:cNvSpPr/>
            <p:nvPr/>
          </p:nvSpPr>
          <p:spPr bwMode="gray">
            <a:xfrm>
              <a:off x="6623815" y="4196881"/>
              <a:ext cx="5330282" cy="698501"/>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400" dirty="0">
                  <a:ln w="0"/>
                  <a:solidFill>
                    <a:schemeClr val="tx1"/>
                  </a:solidFill>
                  <a:effectLst>
                    <a:outerShdw blurRad="38100" dist="19050" dir="2700000" algn="tl" rotWithShape="0">
                      <a:schemeClr val="dk1">
                        <a:alpha val="40000"/>
                      </a:schemeClr>
                    </a:outerShdw>
                  </a:effectLst>
                </a:rPr>
                <a:t>Farmer’s contribution</a:t>
              </a:r>
            </a:p>
          </p:txBody>
        </p:sp>
        <p:sp>
          <p:nvSpPr>
            <p:cNvPr id="14" name="Left Brace 13">
              <a:extLst>
                <a:ext uri="{FF2B5EF4-FFF2-40B4-BE49-F238E27FC236}">
                  <a16:creationId xmlns:a16="http://schemas.microsoft.com/office/drawing/2014/main" id="{E5CF8610-38BF-4885-99E0-70D652ABCBBC}"/>
                </a:ext>
              </a:extLst>
            </p:cNvPr>
            <p:cNvSpPr/>
            <p:nvPr/>
          </p:nvSpPr>
          <p:spPr>
            <a:xfrm>
              <a:off x="825189" y="2096429"/>
              <a:ext cx="323385" cy="2910469"/>
            </a:xfrm>
            <a:prstGeom prst="leftBrace">
              <a:avLst>
                <a:gd name="adj1" fmla="val 8333"/>
                <a:gd name="adj2" fmla="val 50383"/>
              </a:avLst>
            </a:prstGeom>
            <a:ln w="5715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sp>
          <p:nvSpPr>
            <p:cNvPr id="15" name="TextBox 14">
              <a:extLst>
                <a:ext uri="{FF2B5EF4-FFF2-40B4-BE49-F238E27FC236}">
                  <a16:creationId xmlns:a16="http://schemas.microsoft.com/office/drawing/2014/main" id="{D962C8F4-CAFB-48E2-9B2C-E1AE2BBFCC3E}"/>
                </a:ext>
              </a:extLst>
            </p:cNvPr>
            <p:cNvSpPr txBox="1"/>
            <p:nvPr/>
          </p:nvSpPr>
          <p:spPr>
            <a:xfrm rot="16200000">
              <a:off x="-551979" y="3418072"/>
              <a:ext cx="2040673" cy="215444"/>
            </a:xfrm>
            <a:prstGeom prst="rect">
              <a:avLst/>
            </a:prstGeom>
            <a:noFill/>
          </p:spPr>
          <p:txBody>
            <a:bodyPr wrap="square" lIns="0" tIns="0" rIns="0" bIns="0" rtlCol="0">
              <a:spAutoFit/>
            </a:bodyPr>
            <a:lstStyle/>
            <a:p>
              <a:pPr algn="ctr">
                <a:spcBef>
                  <a:spcPts val="600"/>
                </a:spcBef>
                <a:buSzPct val="100000"/>
              </a:pPr>
              <a:r>
                <a:rPr lang="en-US" sz="1400" b="1" dirty="0"/>
                <a:t>100%</a:t>
              </a:r>
            </a:p>
          </p:txBody>
        </p:sp>
      </p:grpSp>
      <p:sp>
        <p:nvSpPr>
          <p:cNvPr id="17" name="TextBox 16">
            <a:extLst>
              <a:ext uri="{FF2B5EF4-FFF2-40B4-BE49-F238E27FC236}">
                <a16:creationId xmlns:a16="http://schemas.microsoft.com/office/drawing/2014/main" id="{055E8F62-4E7A-49FC-A125-ED8E3959AE4F}"/>
              </a:ext>
            </a:extLst>
          </p:cNvPr>
          <p:cNvSpPr txBox="1"/>
          <p:nvPr/>
        </p:nvSpPr>
        <p:spPr>
          <a:xfrm>
            <a:off x="469902" y="4597808"/>
            <a:ext cx="11476689" cy="1815882"/>
          </a:xfrm>
          <a:prstGeom prst="rect">
            <a:avLst/>
          </a:prstGeom>
          <a:solidFill>
            <a:schemeClr val="bg1">
              <a:lumMod val="95000"/>
            </a:schemeClr>
          </a:solidFill>
          <a:ln w="19050">
            <a:solidFill>
              <a:schemeClr val="tx1"/>
            </a:solidFill>
            <a:prstDash val="lgDash"/>
          </a:ln>
        </p:spPr>
        <p:txBody>
          <a:bodyPr wrap="square">
            <a:spAutoFit/>
          </a:bodyPr>
          <a:lstStyle/>
          <a:p>
            <a:pPr marL="285750" indent="-285750" algn="just">
              <a:buFont typeface="Wingdings" panose="05000000000000000000" pitchFamily="2" charset="2"/>
              <a:buChar char="Ø"/>
            </a:pPr>
            <a:r>
              <a:rPr lang="en-IN" sz="1400" b="1" i="1" dirty="0">
                <a:effectLst/>
                <a:ea typeface="Calibri" panose="020F0502020204030204" pitchFamily="34" charset="0"/>
                <a:cs typeface="Mangal" panose="02040503050203030202" pitchFamily="18" charset="0"/>
              </a:rPr>
              <a:t>40% </a:t>
            </a:r>
            <a:r>
              <a:rPr lang="en-IN" sz="1400" b="1" i="1" dirty="0">
                <a:ea typeface="Calibri" panose="020F0502020204030204" pitchFamily="34" charset="0"/>
                <a:cs typeface="Mangal" panose="02040503050203030202" pitchFamily="18" charset="0"/>
              </a:rPr>
              <a:t>contribution</a:t>
            </a:r>
            <a:r>
              <a:rPr lang="en-IN" sz="1400" i="1" dirty="0">
                <a:ea typeface="Calibri" panose="020F0502020204030204" pitchFamily="34" charset="0"/>
                <a:cs typeface="Mangal" panose="02040503050203030202" pitchFamily="18" charset="0"/>
              </a:rPr>
              <a:t> attributed to farmers is a significant amount which in turn </a:t>
            </a:r>
            <a:r>
              <a:rPr lang="en-IN" sz="1400" b="1" i="1" dirty="0">
                <a:ea typeface="Calibri" panose="020F0502020204030204" pitchFamily="34" charset="0"/>
                <a:cs typeface="Mangal" panose="02040503050203030202" pitchFamily="18" charset="0"/>
              </a:rPr>
              <a:t>is a challenge</a:t>
            </a:r>
            <a:r>
              <a:rPr lang="en-IN" sz="1400" i="1" dirty="0">
                <a:ea typeface="Calibri" panose="020F0502020204030204" pitchFamily="34" charset="0"/>
                <a:cs typeface="Mangal" panose="02040503050203030202" pitchFamily="18" charset="0"/>
              </a:rPr>
              <a:t> in the widespread implementation of this scheme</a:t>
            </a:r>
          </a:p>
          <a:p>
            <a:pPr marL="285750" indent="-285750" algn="just">
              <a:buFont typeface="Wingdings" panose="05000000000000000000" pitchFamily="2" charset="2"/>
              <a:buChar char="Ø"/>
            </a:pPr>
            <a:r>
              <a:rPr lang="en-IN" sz="1400" i="1" dirty="0">
                <a:ea typeface="Calibri" panose="020F0502020204030204" pitchFamily="34" charset="0"/>
                <a:cs typeface="Mangal" panose="02040503050203030202" pitchFamily="18" charset="0"/>
              </a:rPr>
              <a:t>To solve this issue, </a:t>
            </a:r>
            <a:r>
              <a:rPr lang="en-IN" sz="1400" b="1" i="1" dirty="0">
                <a:ea typeface="Calibri" panose="020F0502020204030204" pitchFamily="34" charset="0"/>
                <a:cs typeface="Mangal" panose="02040503050203030202" pitchFamily="18" charset="0"/>
              </a:rPr>
              <a:t>State Financial Corporations</a:t>
            </a:r>
            <a:r>
              <a:rPr lang="en-IN" sz="1400" i="1" dirty="0">
                <a:ea typeface="Calibri" panose="020F0502020204030204" pitchFamily="34" charset="0"/>
                <a:cs typeface="Mangal" panose="02040503050203030202" pitchFamily="18" charset="0"/>
              </a:rPr>
              <a:t> can play a significant role towards farmer contribution; with proper recovery mechanism</a:t>
            </a:r>
          </a:p>
          <a:p>
            <a:pPr marL="285750" indent="-285750" algn="just">
              <a:buFont typeface="Wingdings" panose="05000000000000000000" pitchFamily="2" charset="2"/>
              <a:buChar char="Ø"/>
            </a:pPr>
            <a:r>
              <a:rPr lang="en-IN" sz="1400" i="1" dirty="0">
                <a:ea typeface="Calibri" panose="020F0502020204030204" pitchFamily="34" charset="0"/>
                <a:cs typeface="Mangal" panose="02040503050203030202" pitchFamily="18" charset="0"/>
              </a:rPr>
              <a:t>We have proposed a Convergence Scheme for Agri-Solarization of Pumps as Proposed Scheme </a:t>
            </a:r>
            <a:r>
              <a:rPr lang="en-IN" sz="1100" b="1" i="1" dirty="0">
                <a:ea typeface="Calibri" panose="020F0502020204030204" pitchFamily="34" charset="0"/>
                <a:cs typeface="Mangal" panose="02040503050203030202" pitchFamily="18" charset="0"/>
              </a:rPr>
              <a:t>(Slide No-118-122) </a:t>
            </a:r>
            <a:r>
              <a:rPr lang="en-IN" sz="1400" i="1" dirty="0">
                <a:ea typeface="Calibri" panose="020F0502020204030204" pitchFamily="34" charset="0"/>
                <a:cs typeface="Mangal" panose="02040503050203030202" pitchFamily="18" charset="0"/>
              </a:rPr>
              <a:t>to bring multiple stakeholders under one umbrella to ensure seamless operation, monitoring and aim to improve de-carbonization</a:t>
            </a:r>
          </a:p>
          <a:p>
            <a:pPr marL="285750" indent="-285750" algn="just">
              <a:buFont typeface="Wingdings" panose="05000000000000000000" pitchFamily="2" charset="2"/>
              <a:buChar char="Ø"/>
            </a:pPr>
            <a:r>
              <a:rPr lang="en-IN" sz="1400" i="1" dirty="0">
                <a:ea typeface="Calibri" panose="020F0502020204030204" pitchFamily="34" charset="0"/>
                <a:cs typeface="Mangal" panose="02040503050203030202" pitchFamily="18" charset="0"/>
              </a:rPr>
              <a:t>Additionally, a</a:t>
            </a:r>
            <a:r>
              <a:rPr lang="en-IN" sz="1400" i="1" dirty="0">
                <a:effectLst/>
                <a:ea typeface="Calibri" panose="020F0502020204030204" pitchFamily="34" charset="0"/>
                <a:cs typeface="Mangal" panose="02040503050203030202" pitchFamily="18" charset="0"/>
              </a:rPr>
              <a:t> proper </a:t>
            </a:r>
            <a:r>
              <a:rPr lang="en-IN" sz="1400" b="1" i="1" dirty="0">
                <a:effectLst/>
                <a:ea typeface="Calibri" panose="020F0502020204030204" pitchFamily="34" charset="0"/>
                <a:cs typeface="Mangal" panose="02040503050203030202" pitchFamily="18" charset="0"/>
              </a:rPr>
              <a:t>Projec</a:t>
            </a:r>
            <a:r>
              <a:rPr lang="en-IN" sz="1400" b="1" i="1" dirty="0">
                <a:ea typeface="Calibri" panose="020F0502020204030204" pitchFamily="34" charset="0"/>
                <a:cs typeface="Mangal" panose="02040503050203030202" pitchFamily="18" charset="0"/>
              </a:rPr>
              <a:t>t Monitoring and Governance Unit</a:t>
            </a:r>
            <a:r>
              <a:rPr lang="en-IN" sz="1400" i="1" dirty="0">
                <a:ea typeface="Calibri" panose="020F0502020204030204" pitchFamily="34" charset="0"/>
                <a:cs typeface="Mangal" panose="02040503050203030202" pitchFamily="18" charset="0"/>
              </a:rPr>
              <a:t> can be put in place to ensure </a:t>
            </a:r>
            <a:r>
              <a:rPr lang="en-IN" sz="1400" b="1" i="1" dirty="0">
                <a:ea typeface="Calibri" panose="020F0502020204030204" pitchFamily="34" charset="0"/>
                <a:cs typeface="Mangal" panose="02040503050203030202" pitchFamily="18" charset="0"/>
              </a:rPr>
              <a:t>smooth monitoring of KUSUM as well proposed Convergence Scheme </a:t>
            </a:r>
            <a:r>
              <a:rPr lang="en-IN" sz="1400" i="1" dirty="0">
                <a:ea typeface="Calibri" panose="020F0502020204030204" pitchFamily="34" charset="0"/>
                <a:cs typeface="Mangal" panose="02040503050203030202" pitchFamily="18" charset="0"/>
              </a:rPr>
              <a:t>and </a:t>
            </a:r>
            <a:r>
              <a:rPr lang="en-IN" sz="1400" b="1" i="1" dirty="0">
                <a:ea typeface="Calibri" panose="020F0502020204030204" pitchFamily="34" charset="0"/>
                <a:cs typeface="Mangal" panose="02040503050203030202" pitchFamily="18" charset="0"/>
              </a:rPr>
              <a:t>proper recovery mechanism</a:t>
            </a:r>
            <a:r>
              <a:rPr lang="en-IN" sz="1400" i="1" dirty="0">
                <a:ea typeface="Calibri" panose="020F0502020204030204" pitchFamily="34" charset="0"/>
                <a:cs typeface="Mangal" panose="02040503050203030202" pitchFamily="18" charset="0"/>
              </a:rPr>
              <a:t> needs to be put in place inter alia</a:t>
            </a:r>
          </a:p>
        </p:txBody>
      </p:sp>
      <p:sp>
        <p:nvSpPr>
          <p:cNvPr id="13" name="TextBox 12">
            <a:extLst>
              <a:ext uri="{FF2B5EF4-FFF2-40B4-BE49-F238E27FC236}">
                <a16:creationId xmlns:a16="http://schemas.microsoft.com/office/drawing/2014/main" id="{16B34DA2-FE04-450A-88E0-8F974549A027}"/>
              </a:ext>
            </a:extLst>
          </p:cNvPr>
          <p:cNvSpPr txBox="1"/>
          <p:nvPr/>
        </p:nvSpPr>
        <p:spPr>
          <a:xfrm>
            <a:off x="9032071" y="6460390"/>
            <a:ext cx="3023961" cy="153888"/>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rPr>
              <a:t>Source: RPM Meeting Presentation</a:t>
            </a:r>
          </a:p>
        </p:txBody>
      </p:sp>
    </p:spTree>
    <p:extLst>
      <p:ext uri="{BB962C8B-B14F-4D97-AF65-F5344CB8AC3E}">
        <p14:creationId xmlns:p14="http://schemas.microsoft.com/office/powerpoint/2010/main" val="1137729236"/>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A5B3F1F8-9DD0-4546-B294-C24A1DD43738}"/>
              </a:ext>
            </a:extLst>
          </p:cNvPr>
          <p:cNvSpPr txBox="1">
            <a:spLocks/>
          </p:cNvSpPr>
          <p:nvPr/>
        </p:nvSpPr>
        <p:spPr>
          <a:xfrm>
            <a:off x="352514" y="275867"/>
            <a:ext cx="11409210" cy="453612"/>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18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r>
              <a:rPr lang="en-US" b="1" dirty="0">
                <a:solidFill>
                  <a:schemeClr val="tx1"/>
                </a:solidFill>
                <a:latin typeface="+mj-lt"/>
                <a:ea typeface="Verdana" panose="020B0604030504040204" pitchFamily="34" charset="0"/>
              </a:rPr>
              <a:t>Salient Points on Status of implementation - West Bengal</a:t>
            </a:r>
          </a:p>
        </p:txBody>
      </p:sp>
      <p:sp>
        <p:nvSpPr>
          <p:cNvPr id="34" name="Text Placeholder 3">
            <a:extLst>
              <a:ext uri="{FF2B5EF4-FFF2-40B4-BE49-F238E27FC236}">
                <a16:creationId xmlns:a16="http://schemas.microsoft.com/office/drawing/2014/main" id="{75207B86-0DCB-4670-8C1C-4EAE94123247}"/>
              </a:ext>
            </a:extLst>
          </p:cNvPr>
          <p:cNvSpPr txBox="1">
            <a:spLocks/>
          </p:cNvSpPr>
          <p:nvPr/>
        </p:nvSpPr>
        <p:spPr bwMode="gray">
          <a:xfrm>
            <a:off x="609291" y="2092983"/>
            <a:ext cx="10895665" cy="1624676"/>
          </a:xfrm>
          <a:prstGeom prst="rect">
            <a:avLst/>
          </a:prstGeom>
        </p:spPr>
        <p:txBody>
          <a:bodyPr vert="horz" wrap="square" lIns="0" tIns="0" rIns="0" bIns="0" rtlCol="0">
            <a:spAutoFit/>
          </a:bodyPr>
          <a:lstStyle/>
          <a:p>
            <a:pPr marL="85725" lvl="1" indent="-85725">
              <a:lnSpc>
                <a:spcPct val="150000"/>
              </a:lnSpc>
              <a:buSzPct val="100000"/>
              <a:buFont typeface="Arial" panose="020B0604020202020204" pitchFamily="34" charset="0"/>
              <a:buChar char="•"/>
              <a:defRPr/>
            </a:pPr>
            <a:r>
              <a:rPr lang="en-US" sz="1200" b="1" dirty="0">
                <a:solidFill>
                  <a:prstClr val="black"/>
                </a:solidFill>
              </a:rPr>
              <a:t>Component C </a:t>
            </a:r>
            <a:r>
              <a:rPr lang="en-US" sz="1200" dirty="0">
                <a:solidFill>
                  <a:prstClr val="black"/>
                </a:solidFill>
              </a:rPr>
              <a:t>(standalone AG pumps)</a:t>
            </a:r>
            <a:r>
              <a:rPr lang="en-US" sz="1200" b="1" dirty="0">
                <a:solidFill>
                  <a:prstClr val="black"/>
                </a:solidFill>
              </a:rPr>
              <a:t>:</a:t>
            </a:r>
            <a:r>
              <a:rPr lang="en-US" sz="1200" dirty="0">
                <a:solidFill>
                  <a:prstClr val="black"/>
                </a:solidFill>
              </a:rPr>
              <a:t> Work for 700 AG pumps has started with concessional loan from NABARD. WBSEDCL planning to install another 23,000 AG pumps under Component C and are awaiting allocation from MNRE ~Rs 450 Cr. for 23,000 AG pumps (considering 7.5 HP pumps)</a:t>
            </a:r>
          </a:p>
          <a:p>
            <a:pPr marL="85725" lvl="1" indent="-85725">
              <a:lnSpc>
                <a:spcPct val="150000"/>
              </a:lnSpc>
              <a:buSzPct val="100000"/>
              <a:buFont typeface="Arial" panose="020B0604020202020204" pitchFamily="34" charset="0"/>
              <a:buChar char="•"/>
              <a:defRPr/>
            </a:pPr>
            <a:r>
              <a:rPr lang="en-US" sz="1200" b="1" dirty="0">
                <a:solidFill>
                  <a:prstClr val="black"/>
                </a:solidFill>
              </a:rPr>
              <a:t>Component C </a:t>
            </a:r>
            <a:r>
              <a:rPr lang="en-US" sz="1200" dirty="0">
                <a:solidFill>
                  <a:prstClr val="black"/>
                </a:solidFill>
              </a:rPr>
              <a:t>(Feeder Level Solarization): WBSEDCL plans to solarize ~100 number of 11 kV feeders and are interested to avail loan for the 70% of the capital cost required to set up Solar power plant in order to solarize ~100 number of feeders Rs.300 Cr. for Solarization of 100 feeders, considering 1 MW SPP required to solarize one 11 KV AG feeder</a:t>
            </a:r>
          </a:p>
        </p:txBody>
      </p:sp>
      <p:grpSp>
        <p:nvGrpSpPr>
          <p:cNvPr id="2" name="Group 1">
            <a:extLst>
              <a:ext uri="{FF2B5EF4-FFF2-40B4-BE49-F238E27FC236}">
                <a16:creationId xmlns:a16="http://schemas.microsoft.com/office/drawing/2014/main" id="{BD588CE1-8C3D-487E-9425-DC84F23C4A0B}"/>
              </a:ext>
            </a:extLst>
          </p:cNvPr>
          <p:cNvGrpSpPr/>
          <p:nvPr/>
        </p:nvGrpSpPr>
        <p:grpSpPr>
          <a:xfrm>
            <a:off x="391399" y="1732912"/>
            <a:ext cx="11409201" cy="1999358"/>
            <a:chOff x="362242" y="3429000"/>
            <a:chExt cx="5733758" cy="1999358"/>
          </a:xfrm>
        </p:grpSpPr>
        <p:sp>
          <p:nvSpPr>
            <p:cNvPr id="33" name="Snip Diagonal Corner Rectangle 156">
              <a:extLst>
                <a:ext uri="{FF2B5EF4-FFF2-40B4-BE49-F238E27FC236}">
                  <a16:creationId xmlns:a16="http://schemas.microsoft.com/office/drawing/2014/main" id="{2251DFFE-BA03-47A5-8EC9-CFE695390B78}"/>
                </a:ext>
              </a:extLst>
            </p:cNvPr>
            <p:cNvSpPr/>
            <p:nvPr/>
          </p:nvSpPr>
          <p:spPr bwMode="gray">
            <a:xfrm>
              <a:off x="362242" y="3429000"/>
              <a:ext cx="5733758" cy="326123"/>
            </a:xfrm>
            <a:prstGeom prst="snip2DiagRect">
              <a:avLst>
                <a:gd name="adj1" fmla="val 0"/>
                <a:gd name="adj2" fmla="val 40745"/>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66675" rIns="66675" bIns="66675" rtlCol="0" anchor="ctr"/>
            <a:lstStyle/>
            <a:p>
              <a:r>
                <a:rPr lang="en-US" sz="1200" b="1" dirty="0">
                  <a:solidFill>
                    <a:prstClr val="white"/>
                  </a:solidFill>
                </a:rPr>
                <a:t>PM-KUSUM</a:t>
              </a:r>
            </a:p>
          </p:txBody>
        </p:sp>
        <p:cxnSp>
          <p:nvCxnSpPr>
            <p:cNvPr id="37" name="Straight Connector 36">
              <a:extLst>
                <a:ext uri="{FF2B5EF4-FFF2-40B4-BE49-F238E27FC236}">
                  <a16:creationId xmlns:a16="http://schemas.microsoft.com/office/drawing/2014/main" id="{12C1E755-A88D-4564-A54F-4ED6F5FE0378}"/>
                </a:ext>
              </a:extLst>
            </p:cNvPr>
            <p:cNvCxnSpPr>
              <a:cxnSpLocks/>
            </p:cNvCxnSpPr>
            <p:nvPr/>
          </p:nvCxnSpPr>
          <p:spPr>
            <a:xfrm>
              <a:off x="6096000" y="3755123"/>
              <a:ext cx="0" cy="1673235"/>
            </a:xfrm>
            <a:prstGeom prst="line">
              <a:avLst/>
            </a:prstGeom>
            <a:ln>
              <a:solidFill>
                <a:srgbClr val="000000"/>
              </a:solidFill>
              <a:tailEnd type="oval"/>
            </a:ln>
          </p:spPr>
          <p:style>
            <a:lnRef idx="1">
              <a:schemeClr val="accent1"/>
            </a:lnRef>
            <a:fillRef idx="0">
              <a:schemeClr val="accent1"/>
            </a:fillRef>
            <a:effectRef idx="0">
              <a:schemeClr val="accent1"/>
            </a:effectRef>
            <a:fontRef idx="minor">
              <a:schemeClr val="tx1"/>
            </a:fontRef>
          </p:style>
        </p:cxnSp>
      </p:grpSp>
      <p:grpSp>
        <p:nvGrpSpPr>
          <p:cNvPr id="76" name="Graphic 4">
            <a:extLst>
              <a:ext uri="{FF2B5EF4-FFF2-40B4-BE49-F238E27FC236}">
                <a16:creationId xmlns:a16="http://schemas.microsoft.com/office/drawing/2014/main" id="{6E86358D-FFD6-40D4-B74D-9AAF1DF30A0D}"/>
              </a:ext>
            </a:extLst>
          </p:cNvPr>
          <p:cNvGrpSpPr>
            <a:grpSpLocks noChangeAspect="1"/>
          </p:cNvGrpSpPr>
          <p:nvPr/>
        </p:nvGrpSpPr>
        <p:grpSpPr>
          <a:xfrm>
            <a:off x="4719930" y="800417"/>
            <a:ext cx="588962" cy="588412"/>
            <a:chOff x="6146480" y="4793256"/>
            <a:chExt cx="362309" cy="361971"/>
          </a:xfrm>
          <a:solidFill>
            <a:schemeClr val="accent1"/>
          </a:solidFill>
        </p:grpSpPr>
        <p:sp>
          <p:nvSpPr>
            <p:cNvPr id="77" name="Graphic 4">
              <a:extLst>
                <a:ext uri="{FF2B5EF4-FFF2-40B4-BE49-F238E27FC236}">
                  <a16:creationId xmlns:a16="http://schemas.microsoft.com/office/drawing/2014/main" id="{6A23ABBA-C31D-4802-8D4B-CC29E5D57BFA}"/>
                </a:ext>
              </a:extLst>
            </p:cNvPr>
            <p:cNvSpPr/>
            <p:nvPr/>
          </p:nvSpPr>
          <p:spPr>
            <a:xfrm>
              <a:off x="6146480" y="4793256"/>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181474 w 362309"/>
                <a:gd name="connsiteY6" fmla="*/ 0 h 361971"/>
                <a:gd name="connsiteX7" fmla="*/ 187864 w 362309"/>
                <a:gd name="connsiteY7" fmla="*/ 248337 h 361971"/>
                <a:gd name="connsiteX8" fmla="*/ 183391 w 362309"/>
                <a:gd name="connsiteY8" fmla="*/ 252167 h 361971"/>
                <a:gd name="connsiteX9" fmla="*/ 184669 w 362309"/>
                <a:gd name="connsiteY9" fmla="*/ 257913 h 361971"/>
                <a:gd name="connsiteX10" fmla="*/ 180196 w 362309"/>
                <a:gd name="connsiteY10" fmla="*/ 278341 h 361971"/>
                <a:gd name="connsiteX11" fmla="*/ 168055 w 362309"/>
                <a:gd name="connsiteY11" fmla="*/ 280257 h 361971"/>
                <a:gd name="connsiteX12" fmla="*/ 161665 w 362309"/>
                <a:gd name="connsiteY12" fmla="*/ 280895 h 361971"/>
                <a:gd name="connsiteX13" fmla="*/ 159109 w 362309"/>
                <a:gd name="connsiteY13" fmla="*/ 286002 h 361971"/>
                <a:gd name="connsiteX14" fmla="*/ 148885 w 362309"/>
                <a:gd name="connsiteY14" fmla="*/ 299409 h 361971"/>
                <a:gd name="connsiteX15" fmla="*/ 145690 w 362309"/>
                <a:gd name="connsiteY15" fmla="*/ 300047 h 361971"/>
                <a:gd name="connsiteX16" fmla="*/ 132911 w 362309"/>
                <a:gd name="connsiteY16" fmla="*/ 294301 h 361971"/>
                <a:gd name="connsiteX17" fmla="*/ 127799 w 362309"/>
                <a:gd name="connsiteY17" fmla="*/ 291109 h 361971"/>
                <a:gd name="connsiteX18" fmla="*/ 122686 w 362309"/>
                <a:gd name="connsiteY18" fmla="*/ 294301 h 361971"/>
                <a:gd name="connsiteX19" fmla="*/ 106712 w 362309"/>
                <a:gd name="connsiteY19" fmla="*/ 298770 h 361971"/>
                <a:gd name="connsiteX20" fmla="*/ 97127 w 362309"/>
                <a:gd name="connsiteY20" fmla="*/ 285364 h 361971"/>
                <a:gd name="connsiteX21" fmla="*/ 94571 w 362309"/>
                <a:gd name="connsiteY21" fmla="*/ 279618 h 361971"/>
                <a:gd name="connsiteX22" fmla="*/ 88820 w 362309"/>
                <a:gd name="connsiteY22" fmla="*/ 278980 h 361971"/>
                <a:gd name="connsiteX23" fmla="*/ 72845 w 362309"/>
                <a:gd name="connsiteY23" fmla="*/ 273234 h 361971"/>
                <a:gd name="connsiteX24" fmla="*/ 72845 w 362309"/>
                <a:gd name="connsiteY24" fmla="*/ 256636 h 361971"/>
                <a:gd name="connsiteX25" fmla="*/ 74123 w 362309"/>
                <a:gd name="connsiteY25" fmla="*/ 250252 h 361971"/>
                <a:gd name="connsiteX26" fmla="*/ 69650 w 362309"/>
                <a:gd name="connsiteY26" fmla="*/ 245783 h 361971"/>
                <a:gd name="connsiteX27" fmla="*/ 60065 w 362309"/>
                <a:gd name="connsiteY27" fmla="*/ 232377 h 361971"/>
                <a:gd name="connsiteX28" fmla="*/ 69650 w 362309"/>
                <a:gd name="connsiteY28" fmla="*/ 218971 h 361971"/>
                <a:gd name="connsiteX29" fmla="*/ 74123 w 362309"/>
                <a:gd name="connsiteY29" fmla="*/ 215140 h 361971"/>
                <a:gd name="connsiteX30" fmla="*/ 72845 w 362309"/>
                <a:gd name="connsiteY30" fmla="*/ 209395 h 361971"/>
                <a:gd name="connsiteX31" fmla="*/ 76679 w 362309"/>
                <a:gd name="connsiteY31" fmla="*/ 188966 h 361971"/>
                <a:gd name="connsiteX32" fmla="*/ 88820 w 362309"/>
                <a:gd name="connsiteY32" fmla="*/ 187051 h 361971"/>
                <a:gd name="connsiteX33" fmla="*/ 95210 w 362309"/>
                <a:gd name="connsiteY33" fmla="*/ 186412 h 361971"/>
                <a:gd name="connsiteX34" fmla="*/ 97766 w 362309"/>
                <a:gd name="connsiteY34" fmla="*/ 181305 h 361971"/>
                <a:gd name="connsiteX35" fmla="*/ 107990 w 362309"/>
                <a:gd name="connsiteY35" fmla="*/ 167899 h 361971"/>
                <a:gd name="connsiteX36" fmla="*/ 123965 w 362309"/>
                <a:gd name="connsiteY36" fmla="*/ 173006 h 361971"/>
                <a:gd name="connsiteX37" fmla="*/ 129076 w 362309"/>
                <a:gd name="connsiteY37" fmla="*/ 176198 h 361971"/>
                <a:gd name="connsiteX38" fmla="*/ 134189 w 362309"/>
                <a:gd name="connsiteY38" fmla="*/ 173006 h 361971"/>
                <a:gd name="connsiteX39" fmla="*/ 150164 w 362309"/>
                <a:gd name="connsiteY39" fmla="*/ 168537 h 361971"/>
                <a:gd name="connsiteX40" fmla="*/ 159748 w 362309"/>
                <a:gd name="connsiteY40" fmla="*/ 181944 h 361971"/>
                <a:gd name="connsiteX41" fmla="*/ 162304 w 362309"/>
                <a:gd name="connsiteY41" fmla="*/ 187689 h 361971"/>
                <a:gd name="connsiteX42" fmla="*/ 168055 w 362309"/>
                <a:gd name="connsiteY42" fmla="*/ 188327 h 361971"/>
                <a:gd name="connsiteX43" fmla="*/ 184030 w 362309"/>
                <a:gd name="connsiteY43" fmla="*/ 194073 h 361971"/>
                <a:gd name="connsiteX44" fmla="*/ 184030 w 362309"/>
                <a:gd name="connsiteY44" fmla="*/ 210671 h 361971"/>
                <a:gd name="connsiteX45" fmla="*/ 182752 w 362309"/>
                <a:gd name="connsiteY45" fmla="*/ 217055 h 361971"/>
                <a:gd name="connsiteX46" fmla="*/ 187225 w 362309"/>
                <a:gd name="connsiteY46" fmla="*/ 221524 h 361971"/>
                <a:gd name="connsiteX47" fmla="*/ 196810 w 362309"/>
                <a:gd name="connsiteY47" fmla="*/ 234930 h 361971"/>
                <a:gd name="connsiteX48" fmla="*/ 187864 w 362309"/>
                <a:gd name="connsiteY48" fmla="*/ 248337 h 361971"/>
                <a:gd name="connsiteX49" fmla="*/ 187864 w 362309"/>
                <a:gd name="connsiteY49" fmla="*/ 248337 h 361971"/>
                <a:gd name="connsiteX50" fmla="*/ 293298 w 362309"/>
                <a:gd name="connsiteY50" fmla="*/ 142363 h 361971"/>
                <a:gd name="connsiteX51" fmla="*/ 288825 w 362309"/>
                <a:gd name="connsiteY51" fmla="*/ 146193 h 361971"/>
                <a:gd name="connsiteX52" fmla="*/ 290103 w 362309"/>
                <a:gd name="connsiteY52" fmla="*/ 151939 h 361971"/>
                <a:gd name="connsiteX53" fmla="*/ 285630 w 362309"/>
                <a:gd name="connsiteY53" fmla="*/ 172368 h 361971"/>
                <a:gd name="connsiteX54" fmla="*/ 273489 w 362309"/>
                <a:gd name="connsiteY54" fmla="*/ 174283 h 361971"/>
                <a:gd name="connsiteX55" fmla="*/ 267099 w 362309"/>
                <a:gd name="connsiteY55" fmla="*/ 174921 h 361971"/>
                <a:gd name="connsiteX56" fmla="*/ 264543 w 362309"/>
                <a:gd name="connsiteY56" fmla="*/ 180028 h 361971"/>
                <a:gd name="connsiteX57" fmla="*/ 254319 w 362309"/>
                <a:gd name="connsiteY57" fmla="*/ 193435 h 361971"/>
                <a:gd name="connsiteX58" fmla="*/ 251124 w 362309"/>
                <a:gd name="connsiteY58" fmla="*/ 194073 h 361971"/>
                <a:gd name="connsiteX59" fmla="*/ 238345 w 362309"/>
                <a:gd name="connsiteY59" fmla="*/ 188327 h 361971"/>
                <a:gd name="connsiteX60" fmla="*/ 233233 w 362309"/>
                <a:gd name="connsiteY60" fmla="*/ 185135 h 361971"/>
                <a:gd name="connsiteX61" fmla="*/ 228120 w 362309"/>
                <a:gd name="connsiteY61" fmla="*/ 188327 h 361971"/>
                <a:gd name="connsiteX62" fmla="*/ 212146 w 362309"/>
                <a:gd name="connsiteY62" fmla="*/ 192796 h 361971"/>
                <a:gd name="connsiteX63" fmla="*/ 201922 w 362309"/>
                <a:gd name="connsiteY63" fmla="*/ 179390 h 361971"/>
                <a:gd name="connsiteX64" fmla="*/ 199366 w 362309"/>
                <a:gd name="connsiteY64" fmla="*/ 173644 h 361971"/>
                <a:gd name="connsiteX65" fmla="*/ 193615 w 362309"/>
                <a:gd name="connsiteY65" fmla="*/ 173006 h 361971"/>
                <a:gd name="connsiteX66" fmla="*/ 175723 w 362309"/>
                <a:gd name="connsiteY66" fmla="*/ 162792 h 361971"/>
                <a:gd name="connsiteX67" fmla="*/ 177640 w 362309"/>
                <a:gd name="connsiteY67" fmla="*/ 150662 h 361971"/>
                <a:gd name="connsiteX68" fmla="*/ 178918 w 362309"/>
                <a:gd name="connsiteY68" fmla="*/ 144278 h 361971"/>
                <a:gd name="connsiteX69" fmla="*/ 174445 w 362309"/>
                <a:gd name="connsiteY69" fmla="*/ 139809 h 361971"/>
                <a:gd name="connsiteX70" fmla="*/ 164860 w 362309"/>
                <a:gd name="connsiteY70" fmla="*/ 126403 h 361971"/>
                <a:gd name="connsiteX71" fmla="*/ 174445 w 362309"/>
                <a:gd name="connsiteY71" fmla="*/ 112997 h 361971"/>
                <a:gd name="connsiteX72" fmla="*/ 178918 w 362309"/>
                <a:gd name="connsiteY72" fmla="*/ 109166 h 361971"/>
                <a:gd name="connsiteX73" fmla="*/ 177640 w 362309"/>
                <a:gd name="connsiteY73" fmla="*/ 103421 h 361971"/>
                <a:gd name="connsiteX74" fmla="*/ 178279 w 362309"/>
                <a:gd name="connsiteY74" fmla="*/ 86822 h 361971"/>
                <a:gd name="connsiteX75" fmla="*/ 194254 w 362309"/>
                <a:gd name="connsiteY75" fmla="*/ 81715 h 361971"/>
                <a:gd name="connsiteX76" fmla="*/ 200644 w 362309"/>
                <a:gd name="connsiteY76" fmla="*/ 81077 h 361971"/>
                <a:gd name="connsiteX77" fmla="*/ 203200 w 362309"/>
                <a:gd name="connsiteY77" fmla="*/ 75969 h 361971"/>
                <a:gd name="connsiteX78" fmla="*/ 213424 w 362309"/>
                <a:gd name="connsiteY78" fmla="*/ 62563 h 361971"/>
                <a:gd name="connsiteX79" fmla="*/ 229399 w 362309"/>
                <a:gd name="connsiteY79" fmla="*/ 67670 h 361971"/>
                <a:gd name="connsiteX80" fmla="*/ 234510 w 362309"/>
                <a:gd name="connsiteY80" fmla="*/ 70862 h 361971"/>
                <a:gd name="connsiteX81" fmla="*/ 239623 w 362309"/>
                <a:gd name="connsiteY81" fmla="*/ 67670 h 361971"/>
                <a:gd name="connsiteX82" fmla="*/ 255597 w 362309"/>
                <a:gd name="connsiteY82" fmla="*/ 63201 h 361971"/>
                <a:gd name="connsiteX83" fmla="*/ 265182 w 362309"/>
                <a:gd name="connsiteY83" fmla="*/ 76608 h 361971"/>
                <a:gd name="connsiteX84" fmla="*/ 267738 w 362309"/>
                <a:gd name="connsiteY84" fmla="*/ 82353 h 361971"/>
                <a:gd name="connsiteX85" fmla="*/ 273489 w 362309"/>
                <a:gd name="connsiteY85" fmla="*/ 82992 h 361971"/>
                <a:gd name="connsiteX86" fmla="*/ 289464 w 362309"/>
                <a:gd name="connsiteY86" fmla="*/ 88737 h 361971"/>
                <a:gd name="connsiteX87" fmla="*/ 289464 w 362309"/>
                <a:gd name="connsiteY87" fmla="*/ 105336 h 361971"/>
                <a:gd name="connsiteX88" fmla="*/ 288186 w 362309"/>
                <a:gd name="connsiteY88" fmla="*/ 111720 h 361971"/>
                <a:gd name="connsiteX89" fmla="*/ 293298 w 362309"/>
                <a:gd name="connsiteY89" fmla="*/ 116189 h 361971"/>
                <a:gd name="connsiteX90" fmla="*/ 301605 w 362309"/>
                <a:gd name="connsiteY90" fmla="*/ 135341 h 361971"/>
                <a:gd name="connsiteX91" fmla="*/ 293298 w 362309"/>
                <a:gd name="connsiteY91" fmla="*/ 142363 h 361971"/>
                <a:gd name="connsiteX92" fmla="*/ 293298 w 362309"/>
                <a:gd name="connsiteY92" fmla="*/ 142363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0438"/>
                    <a:pt x="281157" y="0"/>
                    <a:pt x="181474" y="0"/>
                  </a:cubicBezTo>
                  <a:lnTo>
                    <a:pt x="181474" y="0"/>
                  </a:lnTo>
                  <a:close/>
                  <a:moveTo>
                    <a:pt x="187864" y="248337"/>
                  </a:moveTo>
                  <a:cubicBezTo>
                    <a:pt x="185947" y="249614"/>
                    <a:pt x="184669" y="250890"/>
                    <a:pt x="183391" y="252167"/>
                  </a:cubicBezTo>
                  <a:cubicBezTo>
                    <a:pt x="183391" y="254082"/>
                    <a:pt x="184030" y="255998"/>
                    <a:pt x="184669" y="257913"/>
                  </a:cubicBezTo>
                  <a:cubicBezTo>
                    <a:pt x="189142" y="264935"/>
                    <a:pt x="187225" y="273873"/>
                    <a:pt x="180196" y="278341"/>
                  </a:cubicBezTo>
                  <a:cubicBezTo>
                    <a:pt x="176362" y="280895"/>
                    <a:pt x="171889" y="281533"/>
                    <a:pt x="168055" y="280257"/>
                  </a:cubicBezTo>
                  <a:cubicBezTo>
                    <a:pt x="166138" y="280257"/>
                    <a:pt x="163582" y="280257"/>
                    <a:pt x="161665" y="280895"/>
                  </a:cubicBezTo>
                  <a:cubicBezTo>
                    <a:pt x="160387" y="282810"/>
                    <a:pt x="159748" y="284087"/>
                    <a:pt x="159109" y="286002"/>
                  </a:cubicBezTo>
                  <a:cubicBezTo>
                    <a:pt x="157192" y="291109"/>
                    <a:pt x="154636" y="297493"/>
                    <a:pt x="148885" y="299409"/>
                  </a:cubicBezTo>
                  <a:cubicBezTo>
                    <a:pt x="147607" y="300047"/>
                    <a:pt x="146329" y="300047"/>
                    <a:pt x="145690" y="300047"/>
                  </a:cubicBezTo>
                  <a:cubicBezTo>
                    <a:pt x="141217" y="299409"/>
                    <a:pt x="136744" y="297493"/>
                    <a:pt x="132911" y="294301"/>
                  </a:cubicBezTo>
                  <a:cubicBezTo>
                    <a:pt x="131633" y="293025"/>
                    <a:pt x="129716" y="291748"/>
                    <a:pt x="127799" y="291109"/>
                  </a:cubicBezTo>
                  <a:cubicBezTo>
                    <a:pt x="125881" y="291748"/>
                    <a:pt x="123965" y="293025"/>
                    <a:pt x="122686" y="294301"/>
                  </a:cubicBezTo>
                  <a:cubicBezTo>
                    <a:pt x="118214" y="298132"/>
                    <a:pt x="112463" y="300047"/>
                    <a:pt x="106712" y="298770"/>
                  </a:cubicBezTo>
                  <a:cubicBezTo>
                    <a:pt x="100322" y="296855"/>
                    <a:pt x="98405" y="290471"/>
                    <a:pt x="97127" y="285364"/>
                  </a:cubicBezTo>
                  <a:cubicBezTo>
                    <a:pt x="96488" y="283449"/>
                    <a:pt x="95849" y="281533"/>
                    <a:pt x="94571" y="279618"/>
                  </a:cubicBezTo>
                  <a:cubicBezTo>
                    <a:pt x="92654" y="278980"/>
                    <a:pt x="90737" y="278980"/>
                    <a:pt x="88820" y="278980"/>
                  </a:cubicBezTo>
                  <a:cubicBezTo>
                    <a:pt x="83069" y="279618"/>
                    <a:pt x="76679" y="277703"/>
                    <a:pt x="72845" y="273234"/>
                  </a:cubicBezTo>
                  <a:cubicBezTo>
                    <a:pt x="70289" y="268127"/>
                    <a:pt x="70289" y="261743"/>
                    <a:pt x="72845" y="256636"/>
                  </a:cubicBezTo>
                  <a:cubicBezTo>
                    <a:pt x="73484" y="254721"/>
                    <a:pt x="74123" y="252167"/>
                    <a:pt x="74123" y="250252"/>
                  </a:cubicBezTo>
                  <a:cubicBezTo>
                    <a:pt x="72845" y="248337"/>
                    <a:pt x="70928" y="247060"/>
                    <a:pt x="69650" y="245783"/>
                  </a:cubicBezTo>
                  <a:cubicBezTo>
                    <a:pt x="65177" y="242591"/>
                    <a:pt x="60065" y="238122"/>
                    <a:pt x="60065" y="232377"/>
                  </a:cubicBezTo>
                  <a:cubicBezTo>
                    <a:pt x="60065" y="226631"/>
                    <a:pt x="65816" y="222163"/>
                    <a:pt x="69650" y="218971"/>
                  </a:cubicBezTo>
                  <a:cubicBezTo>
                    <a:pt x="71567" y="217694"/>
                    <a:pt x="72845" y="216417"/>
                    <a:pt x="74123" y="215140"/>
                  </a:cubicBezTo>
                  <a:cubicBezTo>
                    <a:pt x="74123" y="213225"/>
                    <a:pt x="73484" y="211310"/>
                    <a:pt x="72845" y="209395"/>
                  </a:cubicBezTo>
                  <a:cubicBezTo>
                    <a:pt x="68372" y="202372"/>
                    <a:pt x="70289" y="193435"/>
                    <a:pt x="76679" y="188966"/>
                  </a:cubicBezTo>
                  <a:cubicBezTo>
                    <a:pt x="80513" y="186412"/>
                    <a:pt x="84986" y="185774"/>
                    <a:pt x="88820" y="187051"/>
                  </a:cubicBezTo>
                  <a:cubicBezTo>
                    <a:pt x="90737" y="187051"/>
                    <a:pt x="93293" y="187051"/>
                    <a:pt x="95210" y="186412"/>
                  </a:cubicBezTo>
                  <a:cubicBezTo>
                    <a:pt x="95849" y="184497"/>
                    <a:pt x="97127" y="182582"/>
                    <a:pt x="97766" y="181305"/>
                  </a:cubicBezTo>
                  <a:cubicBezTo>
                    <a:pt x="99683" y="176198"/>
                    <a:pt x="102239" y="169814"/>
                    <a:pt x="107990" y="167899"/>
                  </a:cubicBezTo>
                  <a:cubicBezTo>
                    <a:pt x="113741" y="167260"/>
                    <a:pt x="120131" y="169176"/>
                    <a:pt x="123965" y="173006"/>
                  </a:cubicBezTo>
                  <a:cubicBezTo>
                    <a:pt x="125243" y="174283"/>
                    <a:pt x="127160" y="175560"/>
                    <a:pt x="129076" y="176198"/>
                  </a:cubicBezTo>
                  <a:cubicBezTo>
                    <a:pt x="130994" y="175560"/>
                    <a:pt x="132911" y="174283"/>
                    <a:pt x="134189" y="173006"/>
                  </a:cubicBezTo>
                  <a:cubicBezTo>
                    <a:pt x="138661" y="169176"/>
                    <a:pt x="144412" y="167260"/>
                    <a:pt x="150164" y="168537"/>
                  </a:cubicBezTo>
                  <a:cubicBezTo>
                    <a:pt x="156553" y="170452"/>
                    <a:pt x="158470" y="176836"/>
                    <a:pt x="159748" y="181944"/>
                  </a:cubicBezTo>
                  <a:cubicBezTo>
                    <a:pt x="160387" y="183859"/>
                    <a:pt x="161026" y="185774"/>
                    <a:pt x="162304" y="187689"/>
                  </a:cubicBezTo>
                  <a:cubicBezTo>
                    <a:pt x="164221" y="188327"/>
                    <a:pt x="166138" y="188327"/>
                    <a:pt x="168055" y="188327"/>
                  </a:cubicBezTo>
                  <a:cubicBezTo>
                    <a:pt x="173806" y="187689"/>
                    <a:pt x="179557" y="189604"/>
                    <a:pt x="184030" y="194073"/>
                  </a:cubicBezTo>
                  <a:cubicBezTo>
                    <a:pt x="186586" y="199180"/>
                    <a:pt x="186586" y="205564"/>
                    <a:pt x="184030" y="210671"/>
                  </a:cubicBezTo>
                  <a:cubicBezTo>
                    <a:pt x="183391" y="212587"/>
                    <a:pt x="182752" y="215140"/>
                    <a:pt x="182752" y="217055"/>
                  </a:cubicBezTo>
                  <a:cubicBezTo>
                    <a:pt x="184030" y="218971"/>
                    <a:pt x="185947" y="220247"/>
                    <a:pt x="187225" y="221524"/>
                  </a:cubicBezTo>
                  <a:cubicBezTo>
                    <a:pt x="191698" y="224716"/>
                    <a:pt x="196810" y="229185"/>
                    <a:pt x="196810" y="234930"/>
                  </a:cubicBezTo>
                  <a:cubicBezTo>
                    <a:pt x="196810" y="240676"/>
                    <a:pt x="191698" y="245145"/>
                    <a:pt x="187864" y="248337"/>
                  </a:cubicBezTo>
                  <a:lnTo>
                    <a:pt x="187864" y="248337"/>
                  </a:lnTo>
                  <a:close/>
                  <a:moveTo>
                    <a:pt x="293298" y="142363"/>
                  </a:moveTo>
                  <a:cubicBezTo>
                    <a:pt x="291381" y="143640"/>
                    <a:pt x="290103" y="144916"/>
                    <a:pt x="288825" y="146193"/>
                  </a:cubicBezTo>
                  <a:cubicBezTo>
                    <a:pt x="288825" y="148108"/>
                    <a:pt x="289464" y="150024"/>
                    <a:pt x="290103" y="151939"/>
                  </a:cubicBezTo>
                  <a:cubicBezTo>
                    <a:pt x="294576" y="158961"/>
                    <a:pt x="292659" y="167899"/>
                    <a:pt x="285630" y="172368"/>
                  </a:cubicBezTo>
                  <a:cubicBezTo>
                    <a:pt x="281796" y="174921"/>
                    <a:pt x="277962" y="175560"/>
                    <a:pt x="273489" y="174283"/>
                  </a:cubicBezTo>
                  <a:cubicBezTo>
                    <a:pt x="271572" y="174283"/>
                    <a:pt x="269016" y="174283"/>
                    <a:pt x="267099" y="174921"/>
                  </a:cubicBezTo>
                  <a:cubicBezTo>
                    <a:pt x="265821" y="176836"/>
                    <a:pt x="265182" y="178752"/>
                    <a:pt x="264543" y="180028"/>
                  </a:cubicBezTo>
                  <a:cubicBezTo>
                    <a:pt x="262626" y="185135"/>
                    <a:pt x="260070" y="191519"/>
                    <a:pt x="254319" y="193435"/>
                  </a:cubicBezTo>
                  <a:cubicBezTo>
                    <a:pt x="253041" y="194073"/>
                    <a:pt x="251763" y="194073"/>
                    <a:pt x="251124" y="194073"/>
                  </a:cubicBezTo>
                  <a:cubicBezTo>
                    <a:pt x="246651" y="193435"/>
                    <a:pt x="242178" y="191519"/>
                    <a:pt x="238345" y="188327"/>
                  </a:cubicBezTo>
                  <a:cubicBezTo>
                    <a:pt x="236428" y="187051"/>
                    <a:pt x="235150" y="185774"/>
                    <a:pt x="233233" y="185135"/>
                  </a:cubicBezTo>
                  <a:cubicBezTo>
                    <a:pt x="231315" y="185774"/>
                    <a:pt x="229399" y="187051"/>
                    <a:pt x="228120" y="188327"/>
                  </a:cubicBezTo>
                  <a:cubicBezTo>
                    <a:pt x="223648" y="192158"/>
                    <a:pt x="217897" y="194073"/>
                    <a:pt x="212146" y="192796"/>
                  </a:cubicBezTo>
                  <a:cubicBezTo>
                    <a:pt x="205756" y="190881"/>
                    <a:pt x="203839" y="184497"/>
                    <a:pt x="201922" y="179390"/>
                  </a:cubicBezTo>
                  <a:cubicBezTo>
                    <a:pt x="201283" y="177475"/>
                    <a:pt x="200644" y="175560"/>
                    <a:pt x="199366" y="173644"/>
                  </a:cubicBezTo>
                  <a:cubicBezTo>
                    <a:pt x="197449" y="173006"/>
                    <a:pt x="195532" y="173006"/>
                    <a:pt x="193615" y="173006"/>
                  </a:cubicBezTo>
                  <a:cubicBezTo>
                    <a:pt x="185947" y="174921"/>
                    <a:pt x="177640" y="170452"/>
                    <a:pt x="175723" y="162792"/>
                  </a:cubicBezTo>
                  <a:cubicBezTo>
                    <a:pt x="174445" y="158961"/>
                    <a:pt x="175084" y="154492"/>
                    <a:pt x="177640" y="150662"/>
                  </a:cubicBezTo>
                  <a:cubicBezTo>
                    <a:pt x="178279" y="148747"/>
                    <a:pt x="178918" y="146193"/>
                    <a:pt x="178918" y="144278"/>
                  </a:cubicBezTo>
                  <a:cubicBezTo>
                    <a:pt x="177640" y="142363"/>
                    <a:pt x="175723" y="141086"/>
                    <a:pt x="174445" y="139809"/>
                  </a:cubicBezTo>
                  <a:cubicBezTo>
                    <a:pt x="169972" y="136617"/>
                    <a:pt x="164860" y="132149"/>
                    <a:pt x="164860" y="126403"/>
                  </a:cubicBezTo>
                  <a:cubicBezTo>
                    <a:pt x="164860" y="120657"/>
                    <a:pt x="170611" y="116189"/>
                    <a:pt x="174445" y="112997"/>
                  </a:cubicBezTo>
                  <a:cubicBezTo>
                    <a:pt x="176362" y="111720"/>
                    <a:pt x="177640" y="110443"/>
                    <a:pt x="178918" y="109166"/>
                  </a:cubicBezTo>
                  <a:cubicBezTo>
                    <a:pt x="178918" y="107251"/>
                    <a:pt x="178279" y="105336"/>
                    <a:pt x="177640" y="103421"/>
                  </a:cubicBezTo>
                  <a:cubicBezTo>
                    <a:pt x="175084" y="98313"/>
                    <a:pt x="175723" y="91929"/>
                    <a:pt x="178279" y="86822"/>
                  </a:cubicBezTo>
                  <a:cubicBezTo>
                    <a:pt x="182113" y="82992"/>
                    <a:pt x="188503" y="80438"/>
                    <a:pt x="194254" y="81715"/>
                  </a:cubicBezTo>
                  <a:cubicBezTo>
                    <a:pt x="196171" y="81715"/>
                    <a:pt x="198727" y="81715"/>
                    <a:pt x="200644" y="81077"/>
                  </a:cubicBezTo>
                  <a:cubicBezTo>
                    <a:pt x="201922" y="79161"/>
                    <a:pt x="202561" y="77885"/>
                    <a:pt x="203200" y="75969"/>
                  </a:cubicBezTo>
                  <a:cubicBezTo>
                    <a:pt x="205117" y="70862"/>
                    <a:pt x="207673" y="64478"/>
                    <a:pt x="213424" y="62563"/>
                  </a:cubicBezTo>
                  <a:cubicBezTo>
                    <a:pt x="219175" y="61925"/>
                    <a:pt x="225565" y="63840"/>
                    <a:pt x="229399" y="67670"/>
                  </a:cubicBezTo>
                  <a:cubicBezTo>
                    <a:pt x="230677" y="68947"/>
                    <a:pt x="232593" y="70224"/>
                    <a:pt x="234510" y="70862"/>
                  </a:cubicBezTo>
                  <a:cubicBezTo>
                    <a:pt x="236428" y="70224"/>
                    <a:pt x="238345" y="68947"/>
                    <a:pt x="239623" y="67670"/>
                  </a:cubicBezTo>
                  <a:cubicBezTo>
                    <a:pt x="244095" y="63840"/>
                    <a:pt x="249846" y="62563"/>
                    <a:pt x="255597" y="63201"/>
                  </a:cubicBezTo>
                  <a:cubicBezTo>
                    <a:pt x="261348" y="65117"/>
                    <a:pt x="263904" y="71501"/>
                    <a:pt x="265182" y="76608"/>
                  </a:cubicBezTo>
                  <a:cubicBezTo>
                    <a:pt x="265821" y="78523"/>
                    <a:pt x="266460" y="80438"/>
                    <a:pt x="267738" y="82353"/>
                  </a:cubicBezTo>
                  <a:cubicBezTo>
                    <a:pt x="269655" y="82992"/>
                    <a:pt x="271572" y="82992"/>
                    <a:pt x="273489" y="82992"/>
                  </a:cubicBezTo>
                  <a:cubicBezTo>
                    <a:pt x="279240" y="82353"/>
                    <a:pt x="284991" y="84269"/>
                    <a:pt x="289464" y="88737"/>
                  </a:cubicBezTo>
                  <a:cubicBezTo>
                    <a:pt x="292020" y="93845"/>
                    <a:pt x="292020" y="100229"/>
                    <a:pt x="289464" y="105336"/>
                  </a:cubicBezTo>
                  <a:cubicBezTo>
                    <a:pt x="288825" y="107251"/>
                    <a:pt x="288186" y="109805"/>
                    <a:pt x="288186" y="111720"/>
                  </a:cubicBezTo>
                  <a:cubicBezTo>
                    <a:pt x="289464" y="113635"/>
                    <a:pt x="291381" y="114912"/>
                    <a:pt x="293298" y="116189"/>
                  </a:cubicBezTo>
                  <a:cubicBezTo>
                    <a:pt x="300966" y="119381"/>
                    <a:pt x="304161" y="127680"/>
                    <a:pt x="301605" y="135341"/>
                  </a:cubicBezTo>
                  <a:cubicBezTo>
                    <a:pt x="300327" y="138533"/>
                    <a:pt x="297132" y="141086"/>
                    <a:pt x="293298" y="142363"/>
                  </a:cubicBezTo>
                  <a:lnTo>
                    <a:pt x="293298" y="142363"/>
                  </a:lnTo>
                  <a:close/>
                </a:path>
              </a:pathLst>
            </a:custGeom>
            <a:grpFill/>
            <a:ln w="6390" cap="flat">
              <a:noFill/>
              <a:prstDash val="solid"/>
              <a:miter/>
            </a:ln>
          </p:spPr>
          <p:txBody>
            <a:bodyPr rtlCol="0" anchor="ctr"/>
            <a:lstStyle/>
            <a:p>
              <a:endParaRPr lang="en-US"/>
            </a:p>
          </p:txBody>
        </p:sp>
        <p:sp>
          <p:nvSpPr>
            <p:cNvPr id="78" name="Graphic 4">
              <a:extLst>
                <a:ext uri="{FF2B5EF4-FFF2-40B4-BE49-F238E27FC236}">
                  <a16:creationId xmlns:a16="http://schemas.microsoft.com/office/drawing/2014/main" id="{C54B791D-7DE0-47D3-8A52-FD1B07C3767E}"/>
                </a:ext>
              </a:extLst>
            </p:cNvPr>
            <p:cNvSpPr/>
            <p:nvPr/>
          </p:nvSpPr>
          <p:spPr>
            <a:xfrm>
              <a:off x="6218686" y="4973284"/>
              <a:ext cx="112462" cy="106612"/>
            </a:xfrm>
            <a:custGeom>
              <a:avLst/>
              <a:gdLst>
                <a:gd name="connsiteX0" fmla="*/ 99044 w 112462"/>
                <a:gd name="connsiteY0" fmla="*/ 40219 h 106612"/>
                <a:gd name="connsiteX1" fmla="*/ 99044 w 112462"/>
                <a:gd name="connsiteY1" fmla="*/ 40219 h 106612"/>
                <a:gd name="connsiteX2" fmla="*/ 100322 w 112462"/>
                <a:gd name="connsiteY2" fmla="*/ 26174 h 106612"/>
                <a:gd name="connsiteX3" fmla="*/ 101600 w 112462"/>
                <a:gd name="connsiteY3" fmla="*/ 21067 h 106612"/>
                <a:gd name="connsiteX4" fmla="*/ 95849 w 112462"/>
                <a:gd name="connsiteY4" fmla="*/ 21067 h 106612"/>
                <a:gd name="connsiteX5" fmla="*/ 82430 w 112462"/>
                <a:gd name="connsiteY5" fmla="*/ 17875 h 106612"/>
                <a:gd name="connsiteX6" fmla="*/ 75401 w 112462"/>
                <a:gd name="connsiteY6" fmla="*/ 5745 h 106612"/>
                <a:gd name="connsiteX7" fmla="*/ 73484 w 112462"/>
                <a:gd name="connsiteY7" fmla="*/ 638 h 106612"/>
                <a:gd name="connsiteX8" fmla="*/ 69011 w 112462"/>
                <a:gd name="connsiteY8" fmla="*/ 3830 h 106612"/>
                <a:gd name="connsiteX9" fmla="*/ 56231 w 112462"/>
                <a:gd name="connsiteY9" fmla="*/ 8937 h 106612"/>
                <a:gd name="connsiteX10" fmla="*/ 44090 w 112462"/>
                <a:gd name="connsiteY10" fmla="*/ 3192 h 106612"/>
                <a:gd name="connsiteX11" fmla="*/ 38978 w 112462"/>
                <a:gd name="connsiteY11" fmla="*/ 0 h 106612"/>
                <a:gd name="connsiteX12" fmla="*/ 36423 w 112462"/>
                <a:gd name="connsiteY12" fmla="*/ 5107 h 106612"/>
                <a:gd name="connsiteX13" fmla="*/ 29394 w 112462"/>
                <a:gd name="connsiteY13" fmla="*/ 16598 h 106612"/>
                <a:gd name="connsiteX14" fmla="*/ 15975 w 112462"/>
                <a:gd name="connsiteY14" fmla="*/ 19790 h 106612"/>
                <a:gd name="connsiteX15" fmla="*/ 10863 w 112462"/>
                <a:gd name="connsiteY15" fmla="*/ 19790 h 106612"/>
                <a:gd name="connsiteX16" fmla="*/ 12141 w 112462"/>
                <a:gd name="connsiteY16" fmla="*/ 24897 h 106612"/>
                <a:gd name="connsiteX17" fmla="*/ 5112 w 112462"/>
                <a:gd name="connsiteY17" fmla="*/ 47880 h 106612"/>
                <a:gd name="connsiteX18" fmla="*/ 4473 w 112462"/>
                <a:gd name="connsiteY18" fmla="*/ 48518 h 106612"/>
                <a:gd name="connsiteX19" fmla="*/ 0 w 112462"/>
                <a:gd name="connsiteY19" fmla="*/ 52348 h 106612"/>
                <a:gd name="connsiteX20" fmla="*/ 3834 w 112462"/>
                <a:gd name="connsiteY20" fmla="*/ 55540 h 106612"/>
                <a:gd name="connsiteX21" fmla="*/ 11502 w 112462"/>
                <a:gd name="connsiteY21" fmla="*/ 79161 h 106612"/>
                <a:gd name="connsiteX22" fmla="*/ 11502 w 112462"/>
                <a:gd name="connsiteY22" fmla="*/ 79800 h 106612"/>
                <a:gd name="connsiteX23" fmla="*/ 10224 w 112462"/>
                <a:gd name="connsiteY23" fmla="*/ 84907 h 106612"/>
                <a:gd name="connsiteX24" fmla="*/ 15975 w 112462"/>
                <a:gd name="connsiteY24" fmla="*/ 84907 h 106612"/>
                <a:gd name="connsiteX25" fmla="*/ 29394 w 112462"/>
                <a:gd name="connsiteY25" fmla="*/ 88099 h 106612"/>
                <a:gd name="connsiteX26" fmla="*/ 36423 w 112462"/>
                <a:gd name="connsiteY26" fmla="*/ 100228 h 106612"/>
                <a:gd name="connsiteX27" fmla="*/ 38340 w 112462"/>
                <a:gd name="connsiteY27" fmla="*/ 105336 h 106612"/>
                <a:gd name="connsiteX28" fmla="*/ 42813 w 112462"/>
                <a:gd name="connsiteY28" fmla="*/ 102782 h 106612"/>
                <a:gd name="connsiteX29" fmla="*/ 55593 w 112462"/>
                <a:gd name="connsiteY29" fmla="*/ 97675 h 106612"/>
                <a:gd name="connsiteX30" fmla="*/ 55593 w 112462"/>
                <a:gd name="connsiteY30" fmla="*/ 97675 h 106612"/>
                <a:gd name="connsiteX31" fmla="*/ 67733 w 112462"/>
                <a:gd name="connsiteY31" fmla="*/ 103420 h 106612"/>
                <a:gd name="connsiteX32" fmla="*/ 72845 w 112462"/>
                <a:gd name="connsiteY32" fmla="*/ 106612 h 106612"/>
                <a:gd name="connsiteX33" fmla="*/ 75401 w 112462"/>
                <a:gd name="connsiteY33" fmla="*/ 101505 h 106612"/>
                <a:gd name="connsiteX34" fmla="*/ 82430 w 112462"/>
                <a:gd name="connsiteY34" fmla="*/ 90014 h 106612"/>
                <a:gd name="connsiteX35" fmla="*/ 95849 w 112462"/>
                <a:gd name="connsiteY35" fmla="*/ 86822 h 106612"/>
                <a:gd name="connsiteX36" fmla="*/ 101600 w 112462"/>
                <a:gd name="connsiteY36" fmla="*/ 86822 h 106612"/>
                <a:gd name="connsiteX37" fmla="*/ 100322 w 112462"/>
                <a:gd name="connsiteY37" fmla="*/ 81715 h 106612"/>
                <a:gd name="connsiteX38" fmla="*/ 99044 w 112462"/>
                <a:gd name="connsiteY38" fmla="*/ 68308 h 106612"/>
                <a:gd name="connsiteX39" fmla="*/ 107990 w 112462"/>
                <a:gd name="connsiteY39" fmla="*/ 58094 h 106612"/>
                <a:gd name="connsiteX40" fmla="*/ 112463 w 112462"/>
                <a:gd name="connsiteY40" fmla="*/ 54902 h 106612"/>
                <a:gd name="connsiteX41" fmla="*/ 108629 w 112462"/>
                <a:gd name="connsiteY41" fmla="*/ 51710 h 106612"/>
                <a:gd name="connsiteX42" fmla="*/ 99044 w 112462"/>
                <a:gd name="connsiteY42" fmla="*/ 40219 h 106612"/>
                <a:gd name="connsiteX43" fmla="*/ 63260 w 112462"/>
                <a:gd name="connsiteY43" fmla="*/ 77884 h 106612"/>
                <a:gd name="connsiteX44" fmla="*/ 31310 w 112462"/>
                <a:gd name="connsiteY44" fmla="*/ 61286 h 106612"/>
                <a:gd name="connsiteX45" fmla="*/ 47925 w 112462"/>
                <a:gd name="connsiteY45" fmla="*/ 29366 h 106612"/>
                <a:gd name="connsiteX46" fmla="*/ 79874 w 112462"/>
                <a:gd name="connsiteY46" fmla="*/ 45964 h 106612"/>
                <a:gd name="connsiteX47" fmla="*/ 79874 w 112462"/>
                <a:gd name="connsiteY47" fmla="*/ 45964 h 106612"/>
                <a:gd name="connsiteX48" fmla="*/ 63260 w 112462"/>
                <a:gd name="connsiteY48" fmla="*/ 77884 h 106612"/>
                <a:gd name="connsiteX49" fmla="*/ 63260 w 112462"/>
                <a:gd name="connsiteY49" fmla="*/ 77884 h 106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12462" h="106612">
                  <a:moveTo>
                    <a:pt x="99044" y="40219"/>
                  </a:moveTo>
                  <a:lnTo>
                    <a:pt x="99044" y="40219"/>
                  </a:lnTo>
                  <a:cubicBezTo>
                    <a:pt x="98405" y="35750"/>
                    <a:pt x="98405" y="30643"/>
                    <a:pt x="100322" y="26174"/>
                  </a:cubicBezTo>
                  <a:cubicBezTo>
                    <a:pt x="100961" y="24259"/>
                    <a:pt x="101600" y="22344"/>
                    <a:pt x="101600" y="21067"/>
                  </a:cubicBezTo>
                  <a:cubicBezTo>
                    <a:pt x="100322" y="21067"/>
                    <a:pt x="97766" y="21067"/>
                    <a:pt x="95849" y="21067"/>
                  </a:cubicBezTo>
                  <a:cubicBezTo>
                    <a:pt x="91376" y="21067"/>
                    <a:pt x="86903" y="20428"/>
                    <a:pt x="82430" y="17875"/>
                  </a:cubicBezTo>
                  <a:cubicBezTo>
                    <a:pt x="79235" y="14683"/>
                    <a:pt x="76679" y="10852"/>
                    <a:pt x="75401" y="5745"/>
                  </a:cubicBezTo>
                  <a:cubicBezTo>
                    <a:pt x="74762" y="3830"/>
                    <a:pt x="74123" y="2553"/>
                    <a:pt x="73484" y="638"/>
                  </a:cubicBezTo>
                  <a:cubicBezTo>
                    <a:pt x="71567" y="1276"/>
                    <a:pt x="70289" y="2553"/>
                    <a:pt x="69011" y="3830"/>
                  </a:cubicBezTo>
                  <a:cubicBezTo>
                    <a:pt x="65177" y="7022"/>
                    <a:pt x="60704" y="8937"/>
                    <a:pt x="56231" y="8937"/>
                  </a:cubicBezTo>
                  <a:cubicBezTo>
                    <a:pt x="51758" y="8299"/>
                    <a:pt x="47285" y="6384"/>
                    <a:pt x="44090" y="3192"/>
                  </a:cubicBezTo>
                  <a:cubicBezTo>
                    <a:pt x="42813" y="1915"/>
                    <a:pt x="40895" y="638"/>
                    <a:pt x="38978" y="0"/>
                  </a:cubicBezTo>
                  <a:cubicBezTo>
                    <a:pt x="38340" y="1915"/>
                    <a:pt x="37062" y="3830"/>
                    <a:pt x="36423" y="5107"/>
                  </a:cubicBezTo>
                  <a:cubicBezTo>
                    <a:pt x="35145" y="9576"/>
                    <a:pt x="32589" y="13406"/>
                    <a:pt x="29394" y="16598"/>
                  </a:cubicBezTo>
                  <a:cubicBezTo>
                    <a:pt x="25560" y="19152"/>
                    <a:pt x="20448" y="19790"/>
                    <a:pt x="15975" y="19790"/>
                  </a:cubicBezTo>
                  <a:cubicBezTo>
                    <a:pt x="14058" y="19790"/>
                    <a:pt x="12141" y="19790"/>
                    <a:pt x="10863" y="19790"/>
                  </a:cubicBezTo>
                  <a:cubicBezTo>
                    <a:pt x="10863" y="21705"/>
                    <a:pt x="11502" y="23620"/>
                    <a:pt x="12141" y="24897"/>
                  </a:cubicBezTo>
                  <a:cubicBezTo>
                    <a:pt x="16614" y="33196"/>
                    <a:pt x="13419" y="43411"/>
                    <a:pt x="5112" y="47880"/>
                  </a:cubicBezTo>
                  <a:cubicBezTo>
                    <a:pt x="5112" y="47880"/>
                    <a:pt x="4473" y="47880"/>
                    <a:pt x="4473" y="48518"/>
                  </a:cubicBezTo>
                  <a:cubicBezTo>
                    <a:pt x="3195" y="49795"/>
                    <a:pt x="1278" y="51072"/>
                    <a:pt x="0" y="52348"/>
                  </a:cubicBezTo>
                  <a:cubicBezTo>
                    <a:pt x="1278" y="53625"/>
                    <a:pt x="2556" y="54902"/>
                    <a:pt x="3834" y="55540"/>
                  </a:cubicBezTo>
                  <a:cubicBezTo>
                    <a:pt x="12780" y="60009"/>
                    <a:pt x="15975" y="70862"/>
                    <a:pt x="11502" y="79161"/>
                  </a:cubicBezTo>
                  <a:cubicBezTo>
                    <a:pt x="11502" y="79161"/>
                    <a:pt x="11502" y="79161"/>
                    <a:pt x="11502" y="79800"/>
                  </a:cubicBezTo>
                  <a:cubicBezTo>
                    <a:pt x="10863" y="81715"/>
                    <a:pt x="10224" y="83630"/>
                    <a:pt x="10224" y="84907"/>
                  </a:cubicBezTo>
                  <a:lnTo>
                    <a:pt x="15975" y="84907"/>
                  </a:lnTo>
                  <a:cubicBezTo>
                    <a:pt x="20448" y="84907"/>
                    <a:pt x="24921" y="85545"/>
                    <a:pt x="29394" y="88099"/>
                  </a:cubicBezTo>
                  <a:cubicBezTo>
                    <a:pt x="32589" y="91291"/>
                    <a:pt x="35145" y="95121"/>
                    <a:pt x="36423" y="100228"/>
                  </a:cubicBezTo>
                  <a:cubicBezTo>
                    <a:pt x="37062" y="102144"/>
                    <a:pt x="37700" y="103420"/>
                    <a:pt x="38340" y="105336"/>
                  </a:cubicBezTo>
                  <a:cubicBezTo>
                    <a:pt x="40257" y="104697"/>
                    <a:pt x="41535" y="103420"/>
                    <a:pt x="42813" y="102782"/>
                  </a:cubicBezTo>
                  <a:cubicBezTo>
                    <a:pt x="46646" y="99590"/>
                    <a:pt x="51119" y="97675"/>
                    <a:pt x="55593" y="97675"/>
                  </a:cubicBezTo>
                  <a:lnTo>
                    <a:pt x="55593" y="97675"/>
                  </a:lnTo>
                  <a:cubicBezTo>
                    <a:pt x="60065" y="98313"/>
                    <a:pt x="64538" y="100228"/>
                    <a:pt x="67733" y="103420"/>
                  </a:cubicBezTo>
                  <a:cubicBezTo>
                    <a:pt x="69011" y="104697"/>
                    <a:pt x="70928" y="105974"/>
                    <a:pt x="72845" y="106612"/>
                  </a:cubicBezTo>
                  <a:cubicBezTo>
                    <a:pt x="73484" y="104697"/>
                    <a:pt x="74762" y="102782"/>
                    <a:pt x="75401" y="101505"/>
                  </a:cubicBezTo>
                  <a:cubicBezTo>
                    <a:pt x="76679" y="97036"/>
                    <a:pt x="79235" y="93206"/>
                    <a:pt x="82430" y="90014"/>
                  </a:cubicBezTo>
                  <a:cubicBezTo>
                    <a:pt x="86264" y="87460"/>
                    <a:pt x="91376" y="86822"/>
                    <a:pt x="95849" y="86822"/>
                  </a:cubicBezTo>
                  <a:cubicBezTo>
                    <a:pt x="97766" y="86822"/>
                    <a:pt x="99683" y="86822"/>
                    <a:pt x="101600" y="86822"/>
                  </a:cubicBezTo>
                  <a:cubicBezTo>
                    <a:pt x="101600" y="84907"/>
                    <a:pt x="100961" y="82992"/>
                    <a:pt x="100322" y="81715"/>
                  </a:cubicBezTo>
                  <a:cubicBezTo>
                    <a:pt x="98405" y="77246"/>
                    <a:pt x="98405" y="72777"/>
                    <a:pt x="99044" y="68308"/>
                  </a:cubicBezTo>
                  <a:cubicBezTo>
                    <a:pt x="100961" y="63840"/>
                    <a:pt x="104156" y="60648"/>
                    <a:pt x="107990" y="58094"/>
                  </a:cubicBezTo>
                  <a:cubicBezTo>
                    <a:pt x="109268" y="56817"/>
                    <a:pt x="111185" y="55540"/>
                    <a:pt x="112463" y="54902"/>
                  </a:cubicBezTo>
                  <a:cubicBezTo>
                    <a:pt x="111185" y="53625"/>
                    <a:pt x="109907" y="52348"/>
                    <a:pt x="108629" y="51710"/>
                  </a:cubicBezTo>
                  <a:cubicBezTo>
                    <a:pt x="104156" y="47880"/>
                    <a:pt x="100961" y="44688"/>
                    <a:pt x="99044" y="40219"/>
                  </a:cubicBezTo>
                  <a:close/>
                  <a:moveTo>
                    <a:pt x="63260" y="77884"/>
                  </a:moveTo>
                  <a:cubicBezTo>
                    <a:pt x="49841" y="82353"/>
                    <a:pt x="35145" y="74692"/>
                    <a:pt x="31310" y="61286"/>
                  </a:cubicBezTo>
                  <a:cubicBezTo>
                    <a:pt x="26838" y="47880"/>
                    <a:pt x="34505" y="33196"/>
                    <a:pt x="47925" y="29366"/>
                  </a:cubicBezTo>
                  <a:cubicBezTo>
                    <a:pt x="61343" y="25536"/>
                    <a:pt x="76040" y="32558"/>
                    <a:pt x="79874" y="45964"/>
                  </a:cubicBezTo>
                  <a:cubicBezTo>
                    <a:pt x="79874" y="45964"/>
                    <a:pt x="79874" y="45964"/>
                    <a:pt x="79874" y="45964"/>
                  </a:cubicBezTo>
                  <a:cubicBezTo>
                    <a:pt x="84347" y="59371"/>
                    <a:pt x="77318" y="73416"/>
                    <a:pt x="63260" y="77884"/>
                  </a:cubicBezTo>
                  <a:cubicBezTo>
                    <a:pt x="63899" y="77884"/>
                    <a:pt x="63899" y="77884"/>
                    <a:pt x="63260" y="77884"/>
                  </a:cubicBezTo>
                  <a:close/>
                </a:path>
              </a:pathLst>
            </a:custGeom>
            <a:grpFill/>
            <a:ln w="6390" cap="flat">
              <a:noFill/>
              <a:prstDash val="solid"/>
              <a:miter/>
            </a:ln>
          </p:spPr>
          <p:txBody>
            <a:bodyPr rtlCol="0" anchor="ctr"/>
            <a:lstStyle/>
            <a:p>
              <a:endParaRPr lang="en-US"/>
            </a:p>
          </p:txBody>
        </p:sp>
        <p:sp>
          <p:nvSpPr>
            <p:cNvPr id="79" name="Graphic 4">
              <a:extLst>
                <a:ext uri="{FF2B5EF4-FFF2-40B4-BE49-F238E27FC236}">
                  <a16:creationId xmlns:a16="http://schemas.microsoft.com/office/drawing/2014/main" id="{25B85FDB-0832-43E1-8B51-509A81CF3865}"/>
                </a:ext>
              </a:extLst>
            </p:cNvPr>
            <p:cNvSpPr/>
            <p:nvPr/>
          </p:nvSpPr>
          <p:spPr>
            <a:xfrm>
              <a:off x="6368153" y="4908806"/>
              <a:ext cx="26109" cy="26027"/>
            </a:xfrm>
            <a:custGeom>
              <a:avLst/>
              <a:gdLst>
                <a:gd name="connsiteX0" fmla="*/ 18588 w 26109"/>
                <a:gd name="connsiteY0" fmla="*/ 1277 h 26027"/>
                <a:gd name="connsiteX1" fmla="*/ 12837 w 26109"/>
                <a:gd name="connsiteY1" fmla="*/ 0 h 26027"/>
                <a:gd name="connsiteX2" fmla="*/ 9004 w 26109"/>
                <a:gd name="connsiteY2" fmla="*/ 639 h 26027"/>
                <a:gd name="connsiteX3" fmla="*/ 1336 w 26109"/>
                <a:gd name="connsiteY3" fmla="*/ 7023 h 26027"/>
                <a:gd name="connsiteX4" fmla="*/ 697 w 26109"/>
                <a:gd name="connsiteY4" fmla="*/ 16599 h 26027"/>
                <a:gd name="connsiteX5" fmla="*/ 16672 w 26109"/>
                <a:gd name="connsiteY5" fmla="*/ 25536 h 26027"/>
                <a:gd name="connsiteX6" fmla="*/ 25617 w 26109"/>
                <a:gd name="connsiteY6" fmla="*/ 9576 h 26027"/>
                <a:gd name="connsiteX7" fmla="*/ 18588 w 26109"/>
                <a:gd name="connsiteY7" fmla="*/ 1277 h 26027"/>
                <a:gd name="connsiteX8" fmla="*/ 18588 w 26109"/>
                <a:gd name="connsiteY8" fmla="*/ 1277 h 2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09" h="26027">
                  <a:moveTo>
                    <a:pt x="18588" y="1277"/>
                  </a:moveTo>
                  <a:cubicBezTo>
                    <a:pt x="16672" y="639"/>
                    <a:pt x="14755" y="0"/>
                    <a:pt x="12837" y="0"/>
                  </a:cubicBezTo>
                  <a:cubicBezTo>
                    <a:pt x="11560" y="0"/>
                    <a:pt x="10282" y="0"/>
                    <a:pt x="9004" y="639"/>
                  </a:cubicBezTo>
                  <a:cubicBezTo>
                    <a:pt x="5809" y="1915"/>
                    <a:pt x="3252" y="3831"/>
                    <a:pt x="1336" y="7023"/>
                  </a:cubicBezTo>
                  <a:cubicBezTo>
                    <a:pt x="57" y="10215"/>
                    <a:pt x="-581" y="13407"/>
                    <a:pt x="697" y="16599"/>
                  </a:cubicBezTo>
                  <a:cubicBezTo>
                    <a:pt x="2614" y="23621"/>
                    <a:pt x="9642" y="27451"/>
                    <a:pt x="16672" y="25536"/>
                  </a:cubicBezTo>
                  <a:cubicBezTo>
                    <a:pt x="23700" y="23621"/>
                    <a:pt x="27535" y="16599"/>
                    <a:pt x="25617" y="9576"/>
                  </a:cubicBezTo>
                  <a:cubicBezTo>
                    <a:pt x="24340" y="5746"/>
                    <a:pt x="21783" y="2554"/>
                    <a:pt x="18588" y="1277"/>
                  </a:cubicBezTo>
                  <a:lnTo>
                    <a:pt x="18588" y="1277"/>
                  </a:lnTo>
                  <a:close/>
                </a:path>
              </a:pathLst>
            </a:custGeom>
            <a:grpFill/>
            <a:ln w="6390" cap="flat">
              <a:noFill/>
              <a:prstDash val="solid"/>
              <a:miter/>
            </a:ln>
          </p:spPr>
          <p:txBody>
            <a:bodyPr rtlCol="0" anchor="ctr"/>
            <a:lstStyle/>
            <a:p>
              <a:endParaRPr lang="en-US"/>
            </a:p>
          </p:txBody>
        </p:sp>
        <p:sp>
          <p:nvSpPr>
            <p:cNvPr id="80" name="Graphic 4">
              <a:extLst>
                <a:ext uri="{FF2B5EF4-FFF2-40B4-BE49-F238E27FC236}">
                  <a16:creationId xmlns:a16="http://schemas.microsoft.com/office/drawing/2014/main" id="{F0D50D40-D1F6-404E-8EB5-F76079D43AC7}"/>
                </a:ext>
              </a:extLst>
            </p:cNvPr>
            <p:cNvSpPr/>
            <p:nvPr/>
          </p:nvSpPr>
          <p:spPr>
            <a:xfrm>
              <a:off x="6262229" y="5014142"/>
              <a:ext cx="25377" cy="25445"/>
            </a:xfrm>
            <a:custGeom>
              <a:avLst/>
              <a:gdLst>
                <a:gd name="connsiteX0" fmla="*/ 12689 w 25377"/>
                <a:gd name="connsiteY0" fmla="*/ 0 h 25445"/>
                <a:gd name="connsiteX1" fmla="*/ 8855 w 25377"/>
                <a:gd name="connsiteY1" fmla="*/ 639 h 25445"/>
                <a:gd name="connsiteX2" fmla="*/ 548 w 25377"/>
                <a:gd name="connsiteY2" fmla="*/ 16599 h 25445"/>
                <a:gd name="connsiteX3" fmla="*/ 16523 w 25377"/>
                <a:gd name="connsiteY3" fmla="*/ 24898 h 25445"/>
                <a:gd name="connsiteX4" fmla="*/ 24830 w 25377"/>
                <a:gd name="connsiteY4" fmla="*/ 8938 h 25445"/>
                <a:gd name="connsiteX5" fmla="*/ 12689 w 25377"/>
                <a:gd name="connsiteY5" fmla="*/ 0 h 25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77" h="25445">
                  <a:moveTo>
                    <a:pt x="12689" y="0"/>
                  </a:moveTo>
                  <a:cubicBezTo>
                    <a:pt x="11411" y="0"/>
                    <a:pt x="10133" y="0"/>
                    <a:pt x="8855" y="639"/>
                  </a:cubicBezTo>
                  <a:cubicBezTo>
                    <a:pt x="1826" y="2554"/>
                    <a:pt x="-1369" y="9576"/>
                    <a:pt x="548" y="16599"/>
                  </a:cubicBezTo>
                  <a:cubicBezTo>
                    <a:pt x="2465" y="23621"/>
                    <a:pt x="9494" y="26813"/>
                    <a:pt x="16523" y="24898"/>
                  </a:cubicBezTo>
                  <a:cubicBezTo>
                    <a:pt x="23552" y="22983"/>
                    <a:pt x="26747" y="15960"/>
                    <a:pt x="24830" y="8938"/>
                  </a:cubicBezTo>
                  <a:cubicBezTo>
                    <a:pt x="23552" y="3831"/>
                    <a:pt x="18440" y="0"/>
                    <a:pt x="12689" y="0"/>
                  </a:cubicBezTo>
                  <a:close/>
                </a:path>
              </a:pathLst>
            </a:custGeom>
            <a:grpFill/>
            <a:ln w="6390" cap="flat">
              <a:noFill/>
              <a:prstDash val="solid"/>
              <a:miter/>
            </a:ln>
          </p:spPr>
          <p:txBody>
            <a:bodyPr rtlCol="0" anchor="ctr"/>
            <a:lstStyle/>
            <a:p>
              <a:endParaRPr lang="en-US"/>
            </a:p>
          </p:txBody>
        </p:sp>
        <p:sp>
          <p:nvSpPr>
            <p:cNvPr id="81" name="Graphic 4">
              <a:extLst>
                <a:ext uri="{FF2B5EF4-FFF2-40B4-BE49-F238E27FC236}">
                  <a16:creationId xmlns:a16="http://schemas.microsoft.com/office/drawing/2014/main" id="{C0D538A4-62BB-48C8-AB58-DE8C10F9D010}"/>
                </a:ext>
              </a:extLst>
            </p:cNvPr>
            <p:cNvSpPr/>
            <p:nvPr/>
          </p:nvSpPr>
          <p:spPr>
            <a:xfrm>
              <a:off x="6324120" y="4866672"/>
              <a:ext cx="111823" cy="105335"/>
            </a:xfrm>
            <a:custGeom>
              <a:avLst/>
              <a:gdLst>
                <a:gd name="connsiteX0" fmla="*/ 99683 w 111823"/>
                <a:gd name="connsiteY0" fmla="*/ 40857 h 105335"/>
                <a:gd name="connsiteX1" fmla="*/ 100961 w 111823"/>
                <a:gd name="connsiteY1" fmla="*/ 26813 h 105335"/>
                <a:gd name="connsiteX2" fmla="*/ 102239 w 111823"/>
                <a:gd name="connsiteY2" fmla="*/ 21705 h 105335"/>
                <a:gd name="connsiteX3" fmla="*/ 96488 w 111823"/>
                <a:gd name="connsiteY3" fmla="*/ 21705 h 105335"/>
                <a:gd name="connsiteX4" fmla="*/ 76679 w 111823"/>
                <a:gd name="connsiteY4" fmla="*/ 7022 h 105335"/>
                <a:gd name="connsiteX5" fmla="*/ 76679 w 111823"/>
                <a:gd name="connsiteY5" fmla="*/ 6384 h 105335"/>
                <a:gd name="connsiteX6" fmla="*/ 74762 w 111823"/>
                <a:gd name="connsiteY6" fmla="*/ 1277 h 105335"/>
                <a:gd name="connsiteX7" fmla="*/ 70289 w 111823"/>
                <a:gd name="connsiteY7" fmla="*/ 3830 h 105335"/>
                <a:gd name="connsiteX8" fmla="*/ 57509 w 111823"/>
                <a:gd name="connsiteY8" fmla="*/ 8937 h 105335"/>
                <a:gd name="connsiteX9" fmla="*/ 45368 w 111823"/>
                <a:gd name="connsiteY9" fmla="*/ 3192 h 105335"/>
                <a:gd name="connsiteX10" fmla="*/ 40257 w 111823"/>
                <a:gd name="connsiteY10" fmla="*/ 0 h 105335"/>
                <a:gd name="connsiteX11" fmla="*/ 37700 w 111823"/>
                <a:gd name="connsiteY11" fmla="*/ 5107 h 105335"/>
                <a:gd name="connsiteX12" fmla="*/ 30672 w 111823"/>
                <a:gd name="connsiteY12" fmla="*/ 16598 h 105335"/>
                <a:gd name="connsiteX13" fmla="*/ 17253 w 111823"/>
                <a:gd name="connsiteY13" fmla="*/ 19790 h 105335"/>
                <a:gd name="connsiteX14" fmla="*/ 11502 w 111823"/>
                <a:gd name="connsiteY14" fmla="*/ 19790 h 105335"/>
                <a:gd name="connsiteX15" fmla="*/ 12780 w 111823"/>
                <a:gd name="connsiteY15" fmla="*/ 24897 h 105335"/>
                <a:gd name="connsiteX16" fmla="*/ 5751 w 111823"/>
                <a:gd name="connsiteY16" fmla="*/ 47880 h 105335"/>
                <a:gd name="connsiteX17" fmla="*/ 4473 w 111823"/>
                <a:gd name="connsiteY17" fmla="*/ 48518 h 105335"/>
                <a:gd name="connsiteX18" fmla="*/ 0 w 111823"/>
                <a:gd name="connsiteY18" fmla="*/ 52349 h 105335"/>
                <a:gd name="connsiteX19" fmla="*/ 3834 w 111823"/>
                <a:gd name="connsiteY19" fmla="*/ 55541 h 105335"/>
                <a:gd name="connsiteX20" fmla="*/ 12141 w 111823"/>
                <a:gd name="connsiteY20" fmla="*/ 79161 h 105335"/>
                <a:gd name="connsiteX21" fmla="*/ 11502 w 111823"/>
                <a:gd name="connsiteY21" fmla="*/ 79800 h 105335"/>
                <a:gd name="connsiteX22" fmla="*/ 10224 w 111823"/>
                <a:gd name="connsiteY22" fmla="*/ 84907 h 105335"/>
                <a:gd name="connsiteX23" fmla="*/ 15975 w 111823"/>
                <a:gd name="connsiteY23" fmla="*/ 84907 h 105335"/>
                <a:gd name="connsiteX24" fmla="*/ 35783 w 111823"/>
                <a:gd name="connsiteY24" fmla="*/ 98952 h 105335"/>
                <a:gd name="connsiteX25" fmla="*/ 35783 w 111823"/>
                <a:gd name="connsiteY25" fmla="*/ 99590 h 105335"/>
                <a:gd name="connsiteX26" fmla="*/ 37700 w 111823"/>
                <a:gd name="connsiteY26" fmla="*/ 104697 h 105335"/>
                <a:gd name="connsiteX27" fmla="*/ 42173 w 111823"/>
                <a:gd name="connsiteY27" fmla="*/ 101505 h 105335"/>
                <a:gd name="connsiteX28" fmla="*/ 54953 w 111823"/>
                <a:gd name="connsiteY28" fmla="*/ 96398 h 105335"/>
                <a:gd name="connsiteX29" fmla="*/ 54953 w 111823"/>
                <a:gd name="connsiteY29" fmla="*/ 96398 h 105335"/>
                <a:gd name="connsiteX30" fmla="*/ 67094 w 111823"/>
                <a:gd name="connsiteY30" fmla="*/ 102144 h 105335"/>
                <a:gd name="connsiteX31" fmla="*/ 72206 w 111823"/>
                <a:gd name="connsiteY31" fmla="*/ 105336 h 105335"/>
                <a:gd name="connsiteX32" fmla="*/ 74762 w 111823"/>
                <a:gd name="connsiteY32" fmla="*/ 100229 h 105335"/>
                <a:gd name="connsiteX33" fmla="*/ 81791 w 111823"/>
                <a:gd name="connsiteY33" fmla="*/ 88737 h 105335"/>
                <a:gd name="connsiteX34" fmla="*/ 95210 w 111823"/>
                <a:gd name="connsiteY34" fmla="*/ 85545 h 105335"/>
                <a:gd name="connsiteX35" fmla="*/ 100961 w 111823"/>
                <a:gd name="connsiteY35" fmla="*/ 85545 h 105335"/>
                <a:gd name="connsiteX36" fmla="*/ 99683 w 111823"/>
                <a:gd name="connsiteY36" fmla="*/ 80438 h 105335"/>
                <a:gd name="connsiteX37" fmla="*/ 98405 w 111823"/>
                <a:gd name="connsiteY37" fmla="*/ 67032 h 105335"/>
                <a:gd name="connsiteX38" fmla="*/ 107351 w 111823"/>
                <a:gd name="connsiteY38" fmla="*/ 56817 h 105335"/>
                <a:gd name="connsiteX39" fmla="*/ 111824 w 111823"/>
                <a:gd name="connsiteY39" fmla="*/ 52987 h 105335"/>
                <a:gd name="connsiteX40" fmla="*/ 107990 w 111823"/>
                <a:gd name="connsiteY40" fmla="*/ 49795 h 105335"/>
                <a:gd name="connsiteX41" fmla="*/ 99683 w 111823"/>
                <a:gd name="connsiteY41" fmla="*/ 40857 h 105335"/>
                <a:gd name="connsiteX42" fmla="*/ 79235 w 111823"/>
                <a:gd name="connsiteY42" fmla="*/ 65755 h 105335"/>
                <a:gd name="connsiteX43" fmla="*/ 64538 w 111823"/>
                <a:gd name="connsiteY43" fmla="*/ 78523 h 105335"/>
                <a:gd name="connsiteX44" fmla="*/ 56870 w 111823"/>
                <a:gd name="connsiteY44" fmla="*/ 79800 h 105335"/>
                <a:gd name="connsiteX45" fmla="*/ 45368 w 111823"/>
                <a:gd name="connsiteY45" fmla="*/ 76608 h 105335"/>
                <a:gd name="connsiteX46" fmla="*/ 33867 w 111823"/>
                <a:gd name="connsiteY46" fmla="*/ 42134 h 105335"/>
                <a:gd name="connsiteX47" fmla="*/ 68372 w 111823"/>
                <a:gd name="connsiteY47" fmla="*/ 30643 h 105335"/>
                <a:gd name="connsiteX48" fmla="*/ 81152 w 111823"/>
                <a:gd name="connsiteY48" fmla="*/ 45965 h 105335"/>
                <a:gd name="connsiteX49" fmla="*/ 79235 w 111823"/>
                <a:gd name="connsiteY49" fmla="*/ 65755 h 10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11823" h="105335">
                  <a:moveTo>
                    <a:pt x="99683" y="40857"/>
                  </a:moveTo>
                  <a:cubicBezTo>
                    <a:pt x="99044" y="36389"/>
                    <a:pt x="99044" y="31281"/>
                    <a:pt x="100961" y="26813"/>
                  </a:cubicBezTo>
                  <a:cubicBezTo>
                    <a:pt x="101600" y="24897"/>
                    <a:pt x="102239" y="22982"/>
                    <a:pt x="102239" y="21705"/>
                  </a:cubicBezTo>
                  <a:lnTo>
                    <a:pt x="96488" y="21705"/>
                  </a:lnTo>
                  <a:cubicBezTo>
                    <a:pt x="86903" y="22982"/>
                    <a:pt x="77957" y="16598"/>
                    <a:pt x="76679" y="7022"/>
                  </a:cubicBezTo>
                  <a:cubicBezTo>
                    <a:pt x="76679" y="7022"/>
                    <a:pt x="76679" y="6384"/>
                    <a:pt x="76679" y="6384"/>
                  </a:cubicBezTo>
                  <a:cubicBezTo>
                    <a:pt x="76040" y="4469"/>
                    <a:pt x="75401" y="3192"/>
                    <a:pt x="74762" y="1277"/>
                  </a:cubicBezTo>
                  <a:cubicBezTo>
                    <a:pt x="72845" y="1915"/>
                    <a:pt x="71567" y="3192"/>
                    <a:pt x="70289" y="3830"/>
                  </a:cubicBezTo>
                  <a:cubicBezTo>
                    <a:pt x="66455" y="7022"/>
                    <a:pt x="61982" y="8299"/>
                    <a:pt x="57509" y="8937"/>
                  </a:cubicBezTo>
                  <a:cubicBezTo>
                    <a:pt x="53036" y="8299"/>
                    <a:pt x="48563" y="6384"/>
                    <a:pt x="45368" y="3192"/>
                  </a:cubicBezTo>
                  <a:cubicBezTo>
                    <a:pt x="44090" y="1915"/>
                    <a:pt x="42173" y="1277"/>
                    <a:pt x="40257" y="0"/>
                  </a:cubicBezTo>
                  <a:cubicBezTo>
                    <a:pt x="39618" y="1915"/>
                    <a:pt x="38340" y="3192"/>
                    <a:pt x="37700" y="5107"/>
                  </a:cubicBezTo>
                  <a:cubicBezTo>
                    <a:pt x="36423" y="9576"/>
                    <a:pt x="33867" y="13406"/>
                    <a:pt x="30672" y="16598"/>
                  </a:cubicBezTo>
                  <a:cubicBezTo>
                    <a:pt x="26838" y="19152"/>
                    <a:pt x="21726" y="19790"/>
                    <a:pt x="17253" y="19790"/>
                  </a:cubicBezTo>
                  <a:cubicBezTo>
                    <a:pt x="15336" y="19790"/>
                    <a:pt x="13419" y="19790"/>
                    <a:pt x="11502" y="19790"/>
                  </a:cubicBezTo>
                  <a:cubicBezTo>
                    <a:pt x="11502" y="21705"/>
                    <a:pt x="12141" y="23621"/>
                    <a:pt x="12780" y="24897"/>
                  </a:cubicBezTo>
                  <a:cubicBezTo>
                    <a:pt x="17253" y="33197"/>
                    <a:pt x="14058" y="43411"/>
                    <a:pt x="5751" y="47880"/>
                  </a:cubicBezTo>
                  <a:cubicBezTo>
                    <a:pt x="5112" y="47880"/>
                    <a:pt x="5112" y="48518"/>
                    <a:pt x="4473" y="48518"/>
                  </a:cubicBezTo>
                  <a:cubicBezTo>
                    <a:pt x="3195" y="49795"/>
                    <a:pt x="1278" y="51072"/>
                    <a:pt x="0" y="52349"/>
                  </a:cubicBezTo>
                  <a:cubicBezTo>
                    <a:pt x="1278" y="53625"/>
                    <a:pt x="2556" y="54902"/>
                    <a:pt x="3834" y="55541"/>
                  </a:cubicBezTo>
                  <a:cubicBezTo>
                    <a:pt x="12780" y="60009"/>
                    <a:pt x="15975" y="70224"/>
                    <a:pt x="12141" y="79161"/>
                  </a:cubicBezTo>
                  <a:cubicBezTo>
                    <a:pt x="12141" y="79161"/>
                    <a:pt x="12141" y="79800"/>
                    <a:pt x="11502" y="79800"/>
                  </a:cubicBezTo>
                  <a:cubicBezTo>
                    <a:pt x="10863" y="81715"/>
                    <a:pt x="10224" y="83630"/>
                    <a:pt x="10224" y="84907"/>
                  </a:cubicBezTo>
                  <a:cubicBezTo>
                    <a:pt x="11502" y="84907"/>
                    <a:pt x="14058" y="84907"/>
                    <a:pt x="15975" y="84907"/>
                  </a:cubicBezTo>
                  <a:cubicBezTo>
                    <a:pt x="25560" y="83630"/>
                    <a:pt x="34505" y="89376"/>
                    <a:pt x="35783" y="98952"/>
                  </a:cubicBezTo>
                  <a:cubicBezTo>
                    <a:pt x="35783" y="98952"/>
                    <a:pt x="35783" y="99590"/>
                    <a:pt x="35783" y="99590"/>
                  </a:cubicBezTo>
                  <a:cubicBezTo>
                    <a:pt x="36423" y="101505"/>
                    <a:pt x="37062" y="102782"/>
                    <a:pt x="37700" y="104697"/>
                  </a:cubicBezTo>
                  <a:cubicBezTo>
                    <a:pt x="39618" y="104059"/>
                    <a:pt x="40895" y="102782"/>
                    <a:pt x="42173" y="101505"/>
                  </a:cubicBezTo>
                  <a:cubicBezTo>
                    <a:pt x="46008" y="98313"/>
                    <a:pt x="50480" y="97037"/>
                    <a:pt x="54953" y="96398"/>
                  </a:cubicBezTo>
                  <a:lnTo>
                    <a:pt x="54953" y="96398"/>
                  </a:lnTo>
                  <a:cubicBezTo>
                    <a:pt x="59426" y="97037"/>
                    <a:pt x="63899" y="98952"/>
                    <a:pt x="67094" y="102144"/>
                  </a:cubicBezTo>
                  <a:cubicBezTo>
                    <a:pt x="68372" y="103421"/>
                    <a:pt x="70289" y="104697"/>
                    <a:pt x="72206" y="105336"/>
                  </a:cubicBezTo>
                  <a:cubicBezTo>
                    <a:pt x="72845" y="103421"/>
                    <a:pt x="74123" y="101505"/>
                    <a:pt x="74762" y="100229"/>
                  </a:cubicBezTo>
                  <a:cubicBezTo>
                    <a:pt x="76040" y="95760"/>
                    <a:pt x="77957" y="91929"/>
                    <a:pt x="81791" y="88737"/>
                  </a:cubicBezTo>
                  <a:cubicBezTo>
                    <a:pt x="85625" y="86184"/>
                    <a:pt x="90737" y="85545"/>
                    <a:pt x="95210" y="85545"/>
                  </a:cubicBezTo>
                  <a:cubicBezTo>
                    <a:pt x="97127" y="85545"/>
                    <a:pt x="99044" y="85545"/>
                    <a:pt x="100961" y="85545"/>
                  </a:cubicBezTo>
                  <a:cubicBezTo>
                    <a:pt x="100961" y="83630"/>
                    <a:pt x="100322" y="81715"/>
                    <a:pt x="99683" y="80438"/>
                  </a:cubicBezTo>
                  <a:cubicBezTo>
                    <a:pt x="97766" y="75969"/>
                    <a:pt x="97766" y="71501"/>
                    <a:pt x="98405" y="67032"/>
                  </a:cubicBezTo>
                  <a:cubicBezTo>
                    <a:pt x="100322" y="62563"/>
                    <a:pt x="103517" y="59371"/>
                    <a:pt x="107351" y="56817"/>
                  </a:cubicBezTo>
                  <a:cubicBezTo>
                    <a:pt x="108629" y="55541"/>
                    <a:pt x="110546" y="54264"/>
                    <a:pt x="111824" y="52987"/>
                  </a:cubicBezTo>
                  <a:cubicBezTo>
                    <a:pt x="110546" y="51710"/>
                    <a:pt x="109268" y="50433"/>
                    <a:pt x="107990" y="49795"/>
                  </a:cubicBezTo>
                  <a:cubicBezTo>
                    <a:pt x="104795" y="49157"/>
                    <a:pt x="101600" y="45326"/>
                    <a:pt x="99683" y="40857"/>
                  </a:cubicBezTo>
                  <a:close/>
                  <a:moveTo>
                    <a:pt x="79235" y="65755"/>
                  </a:moveTo>
                  <a:cubicBezTo>
                    <a:pt x="76040" y="72139"/>
                    <a:pt x="70928" y="76608"/>
                    <a:pt x="64538" y="78523"/>
                  </a:cubicBezTo>
                  <a:cubicBezTo>
                    <a:pt x="61982" y="79161"/>
                    <a:pt x="59426" y="79800"/>
                    <a:pt x="56870" y="79800"/>
                  </a:cubicBezTo>
                  <a:cubicBezTo>
                    <a:pt x="53036" y="79800"/>
                    <a:pt x="48563" y="78523"/>
                    <a:pt x="45368" y="76608"/>
                  </a:cubicBezTo>
                  <a:cubicBezTo>
                    <a:pt x="32589" y="70224"/>
                    <a:pt x="27477" y="54902"/>
                    <a:pt x="33867" y="42134"/>
                  </a:cubicBezTo>
                  <a:cubicBezTo>
                    <a:pt x="40257" y="29366"/>
                    <a:pt x="55593" y="24259"/>
                    <a:pt x="68372" y="30643"/>
                  </a:cubicBezTo>
                  <a:cubicBezTo>
                    <a:pt x="74762" y="33835"/>
                    <a:pt x="79235" y="39581"/>
                    <a:pt x="81152" y="45965"/>
                  </a:cubicBezTo>
                  <a:cubicBezTo>
                    <a:pt x="83069" y="53625"/>
                    <a:pt x="82430" y="60009"/>
                    <a:pt x="79235" y="65755"/>
                  </a:cubicBezTo>
                  <a:close/>
                </a:path>
              </a:pathLst>
            </a:custGeom>
            <a:grpFill/>
            <a:ln w="6390" cap="flat">
              <a:noFill/>
              <a:prstDash val="solid"/>
              <a:miter/>
            </a:ln>
          </p:spPr>
          <p:txBody>
            <a:bodyPr rtlCol="0" anchor="ctr"/>
            <a:lstStyle/>
            <a:p>
              <a:endParaRPr lang="en-US"/>
            </a:p>
          </p:txBody>
        </p:sp>
      </p:grpSp>
      <p:grpSp>
        <p:nvGrpSpPr>
          <p:cNvPr id="82" name="Graphic 4">
            <a:extLst>
              <a:ext uri="{FF2B5EF4-FFF2-40B4-BE49-F238E27FC236}">
                <a16:creationId xmlns:a16="http://schemas.microsoft.com/office/drawing/2014/main" id="{FD1C8295-0A91-4B8B-92F5-C4F94209D322}"/>
              </a:ext>
            </a:extLst>
          </p:cNvPr>
          <p:cNvGrpSpPr>
            <a:grpSpLocks noChangeAspect="1"/>
          </p:cNvGrpSpPr>
          <p:nvPr/>
        </p:nvGrpSpPr>
        <p:grpSpPr>
          <a:xfrm>
            <a:off x="1768271" y="786659"/>
            <a:ext cx="601551" cy="600983"/>
            <a:chOff x="1952125" y="3339623"/>
            <a:chExt cx="362313" cy="361971"/>
          </a:xfrm>
          <a:solidFill>
            <a:srgbClr val="0076A8"/>
          </a:solidFill>
        </p:grpSpPr>
        <p:sp>
          <p:nvSpPr>
            <p:cNvPr id="83" name="Graphic 4">
              <a:extLst>
                <a:ext uri="{FF2B5EF4-FFF2-40B4-BE49-F238E27FC236}">
                  <a16:creationId xmlns:a16="http://schemas.microsoft.com/office/drawing/2014/main" id="{276EE586-7612-41C7-A3F3-BF78868F5A06}"/>
                </a:ext>
              </a:extLst>
            </p:cNvPr>
            <p:cNvSpPr/>
            <p:nvPr/>
          </p:nvSpPr>
          <p:spPr>
            <a:xfrm>
              <a:off x="2070978" y="3485817"/>
              <a:ext cx="125242" cy="45964"/>
            </a:xfrm>
            <a:custGeom>
              <a:avLst/>
              <a:gdLst>
                <a:gd name="connsiteX0" fmla="*/ 62621 w 125242"/>
                <a:gd name="connsiteY0" fmla="*/ 24259 h 45964"/>
                <a:gd name="connsiteX1" fmla="*/ 0 w 125242"/>
                <a:gd name="connsiteY1" fmla="*/ 0 h 45964"/>
                <a:gd name="connsiteX2" fmla="*/ 0 w 125242"/>
                <a:gd name="connsiteY2" fmla="*/ 45964 h 45964"/>
                <a:gd name="connsiteX3" fmla="*/ 125243 w 125242"/>
                <a:gd name="connsiteY3" fmla="*/ 45964 h 45964"/>
                <a:gd name="connsiteX4" fmla="*/ 125243 w 125242"/>
                <a:gd name="connsiteY4" fmla="*/ 0 h 45964"/>
                <a:gd name="connsiteX5" fmla="*/ 62621 w 125242"/>
                <a:gd name="connsiteY5" fmla="*/ 24259 h 4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242" h="45964">
                  <a:moveTo>
                    <a:pt x="62621" y="24259"/>
                  </a:moveTo>
                  <a:cubicBezTo>
                    <a:pt x="39617" y="24259"/>
                    <a:pt x="17253" y="15960"/>
                    <a:pt x="0" y="0"/>
                  </a:cubicBezTo>
                  <a:lnTo>
                    <a:pt x="0" y="45964"/>
                  </a:lnTo>
                  <a:lnTo>
                    <a:pt x="125243" y="45964"/>
                  </a:lnTo>
                  <a:lnTo>
                    <a:pt x="125243" y="0"/>
                  </a:lnTo>
                  <a:cubicBezTo>
                    <a:pt x="107990" y="15321"/>
                    <a:pt x="86264" y="24259"/>
                    <a:pt x="62621" y="24259"/>
                  </a:cubicBezTo>
                  <a:close/>
                </a:path>
              </a:pathLst>
            </a:custGeom>
            <a:solidFill>
              <a:srgbClr val="0076A8"/>
            </a:solidFill>
            <a:ln w="6390" cap="flat">
              <a:noFill/>
              <a:prstDash val="solid"/>
              <a:miter/>
            </a:ln>
          </p:spPr>
          <p:txBody>
            <a:bodyPr rtlCol="0" anchor="ctr"/>
            <a:lstStyle/>
            <a:p>
              <a:endParaRPr lang="en-US"/>
            </a:p>
          </p:txBody>
        </p:sp>
        <p:sp>
          <p:nvSpPr>
            <p:cNvPr id="84" name="Graphic 4">
              <a:extLst>
                <a:ext uri="{FF2B5EF4-FFF2-40B4-BE49-F238E27FC236}">
                  <a16:creationId xmlns:a16="http://schemas.microsoft.com/office/drawing/2014/main" id="{6F25F266-921D-49A8-B286-28A5B296EAAC}"/>
                </a:ext>
              </a:extLst>
            </p:cNvPr>
            <p:cNvSpPr/>
            <p:nvPr/>
          </p:nvSpPr>
          <p:spPr>
            <a:xfrm>
              <a:off x="2070978" y="3543911"/>
              <a:ext cx="125242" cy="37027"/>
            </a:xfrm>
            <a:custGeom>
              <a:avLst/>
              <a:gdLst>
                <a:gd name="connsiteX0" fmla="*/ 0 w 125242"/>
                <a:gd name="connsiteY0" fmla="*/ 35750 h 37027"/>
                <a:gd name="connsiteX1" fmla="*/ 12141 w 125242"/>
                <a:gd name="connsiteY1" fmla="*/ 27451 h 37027"/>
                <a:gd name="connsiteX2" fmla="*/ 21087 w 125242"/>
                <a:gd name="connsiteY2" fmla="*/ 27451 h 37027"/>
                <a:gd name="connsiteX3" fmla="*/ 21726 w 125242"/>
                <a:gd name="connsiteY3" fmla="*/ 28090 h 37027"/>
                <a:gd name="connsiteX4" fmla="*/ 38340 w 125242"/>
                <a:gd name="connsiteY4" fmla="*/ 37027 h 37027"/>
                <a:gd name="connsiteX5" fmla="*/ 58148 w 125242"/>
                <a:gd name="connsiteY5" fmla="*/ 27451 h 37027"/>
                <a:gd name="connsiteX6" fmla="*/ 67094 w 125242"/>
                <a:gd name="connsiteY6" fmla="*/ 27451 h 37027"/>
                <a:gd name="connsiteX7" fmla="*/ 67733 w 125242"/>
                <a:gd name="connsiteY7" fmla="*/ 28090 h 37027"/>
                <a:gd name="connsiteX8" fmla="*/ 84347 w 125242"/>
                <a:gd name="connsiteY8" fmla="*/ 37027 h 37027"/>
                <a:gd name="connsiteX9" fmla="*/ 104156 w 125242"/>
                <a:gd name="connsiteY9" fmla="*/ 27451 h 37027"/>
                <a:gd name="connsiteX10" fmla="*/ 113102 w 125242"/>
                <a:gd name="connsiteY10" fmla="*/ 27451 h 37027"/>
                <a:gd name="connsiteX11" fmla="*/ 113741 w 125242"/>
                <a:gd name="connsiteY11" fmla="*/ 28090 h 37027"/>
                <a:gd name="connsiteX12" fmla="*/ 125243 w 125242"/>
                <a:gd name="connsiteY12" fmla="*/ 35750 h 37027"/>
                <a:gd name="connsiteX13" fmla="*/ 125243 w 125242"/>
                <a:gd name="connsiteY13" fmla="*/ 0 h 37027"/>
                <a:gd name="connsiteX14" fmla="*/ 0 w 125242"/>
                <a:gd name="connsiteY14" fmla="*/ 0 h 37027"/>
                <a:gd name="connsiteX15" fmla="*/ 0 w 125242"/>
                <a:gd name="connsiteY15" fmla="*/ 35750 h 37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5242" h="37027">
                  <a:moveTo>
                    <a:pt x="0" y="35750"/>
                  </a:moveTo>
                  <a:cubicBezTo>
                    <a:pt x="4473" y="33835"/>
                    <a:pt x="8946" y="31282"/>
                    <a:pt x="12141" y="27451"/>
                  </a:cubicBezTo>
                  <a:cubicBezTo>
                    <a:pt x="14697" y="24898"/>
                    <a:pt x="18531" y="24898"/>
                    <a:pt x="21087" y="27451"/>
                  </a:cubicBezTo>
                  <a:cubicBezTo>
                    <a:pt x="21087" y="27451"/>
                    <a:pt x="21726" y="28090"/>
                    <a:pt x="21726" y="28090"/>
                  </a:cubicBezTo>
                  <a:cubicBezTo>
                    <a:pt x="26199" y="33197"/>
                    <a:pt x="31950" y="36389"/>
                    <a:pt x="38340" y="37027"/>
                  </a:cubicBezTo>
                  <a:cubicBezTo>
                    <a:pt x="46007" y="37027"/>
                    <a:pt x="53036" y="33197"/>
                    <a:pt x="58148" y="27451"/>
                  </a:cubicBezTo>
                  <a:cubicBezTo>
                    <a:pt x="60704" y="24898"/>
                    <a:pt x="64538" y="24898"/>
                    <a:pt x="67094" y="27451"/>
                  </a:cubicBezTo>
                  <a:cubicBezTo>
                    <a:pt x="67094" y="27451"/>
                    <a:pt x="67733" y="28090"/>
                    <a:pt x="67733" y="28090"/>
                  </a:cubicBezTo>
                  <a:cubicBezTo>
                    <a:pt x="72206" y="33197"/>
                    <a:pt x="77957" y="36389"/>
                    <a:pt x="84347" y="37027"/>
                  </a:cubicBezTo>
                  <a:cubicBezTo>
                    <a:pt x="92015" y="37027"/>
                    <a:pt x="99044" y="33197"/>
                    <a:pt x="104156" y="27451"/>
                  </a:cubicBezTo>
                  <a:cubicBezTo>
                    <a:pt x="106712" y="24898"/>
                    <a:pt x="110546" y="24898"/>
                    <a:pt x="113102" y="27451"/>
                  </a:cubicBezTo>
                  <a:cubicBezTo>
                    <a:pt x="113102" y="27451"/>
                    <a:pt x="113741" y="28090"/>
                    <a:pt x="113741" y="28090"/>
                  </a:cubicBezTo>
                  <a:cubicBezTo>
                    <a:pt x="116936" y="31920"/>
                    <a:pt x="120770" y="34474"/>
                    <a:pt x="125243" y="35750"/>
                  </a:cubicBezTo>
                  <a:lnTo>
                    <a:pt x="125243" y="0"/>
                  </a:lnTo>
                  <a:lnTo>
                    <a:pt x="0" y="0"/>
                  </a:lnTo>
                  <a:lnTo>
                    <a:pt x="0" y="35750"/>
                  </a:lnTo>
                  <a:close/>
                </a:path>
              </a:pathLst>
            </a:custGeom>
            <a:solidFill>
              <a:srgbClr val="0076A8"/>
            </a:solidFill>
            <a:ln w="6390" cap="flat">
              <a:noFill/>
              <a:prstDash val="solid"/>
              <a:miter/>
            </a:ln>
          </p:spPr>
          <p:txBody>
            <a:bodyPr rtlCol="0" anchor="ctr"/>
            <a:lstStyle/>
            <a:p>
              <a:endParaRPr lang="en-US"/>
            </a:p>
          </p:txBody>
        </p:sp>
        <p:sp>
          <p:nvSpPr>
            <p:cNvPr id="85" name="Graphic 4">
              <a:extLst>
                <a:ext uri="{FF2B5EF4-FFF2-40B4-BE49-F238E27FC236}">
                  <a16:creationId xmlns:a16="http://schemas.microsoft.com/office/drawing/2014/main" id="{1067C285-C1F0-4726-80E5-2E66AFC1B65B}"/>
                </a:ext>
              </a:extLst>
            </p:cNvPr>
            <p:cNvSpPr/>
            <p:nvPr/>
          </p:nvSpPr>
          <p:spPr>
            <a:xfrm>
              <a:off x="1952125" y="33396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88825 w 362313"/>
                <a:gd name="connsiteY6" fmla="*/ 192158 h 361971"/>
                <a:gd name="connsiteX7" fmla="*/ 295215 w 362313"/>
                <a:gd name="connsiteY7" fmla="*/ 198542 h 361971"/>
                <a:gd name="connsiteX8" fmla="*/ 288825 w 362313"/>
                <a:gd name="connsiteY8" fmla="*/ 204926 h 361971"/>
                <a:gd name="connsiteX9" fmla="*/ 256876 w 362313"/>
                <a:gd name="connsiteY9" fmla="*/ 204926 h 361971"/>
                <a:gd name="connsiteX10" fmla="*/ 256876 w 362313"/>
                <a:gd name="connsiteY10" fmla="*/ 240676 h 361971"/>
                <a:gd name="connsiteX11" fmla="*/ 269016 w 362313"/>
                <a:gd name="connsiteY11" fmla="*/ 232377 h 361971"/>
                <a:gd name="connsiteX12" fmla="*/ 274128 w 362313"/>
                <a:gd name="connsiteY12" fmla="*/ 230462 h 361971"/>
                <a:gd name="connsiteX13" fmla="*/ 278601 w 362313"/>
                <a:gd name="connsiteY13" fmla="*/ 233015 h 361971"/>
                <a:gd name="connsiteX14" fmla="*/ 290742 w 362313"/>
                <a:gd name="connsiteY14" fmla="*/ 241314 h 361971"/>
                <a:gd name="connsiteX15" fmla="*/ 295215 w 362313"/>
                <a:gd name="connsiteY15" fmla="*/ 248975 h 361971"/>
                <a:gd name="connsiteX16" fmla="*/ 287547 w 362313"/>
                <a:gd name="connsiteY16" fmla="*/ 253444 h 361971"/>
                <a:gd name="connsiteX17" fmla="*/ 274128 w 362313"/>
                <a:gd name="connsiteY17" fmla="*/ 245783 h 361971"/>
                <a:gd name="connsiteX18" fmla="*/ 249208 w 362313"/>
                <a:gd name="connsiteY18" fmla="*/ 254721 h 361971"/>
                <a:gd name="connsiteX19" fmla="*/ 228121 w 362313"/>
                <a:gd name="connsiteY19" fmla="*/ 245783 h 361971"/>
                <a:gd name="connsiteX20" fmla="*/ 203200 w 362313"/>
                <a:gd name="connsiteY20" fmla="*/ 254721 h 361971"/>
                <a:gd name="connsiteX21" fmla="*/ 182113 w 362313"/>
                <a:gd name="connsiteY21" fmla="*/ 245783 h 361971"/>
                <a:gd name="connsiteX22" fmla="*/ 159109 w 362313"/>
                <a:gd name="connsiteY22" fmla="*/ 254721 h 361971"/>
                <a:gd name="connsiteX23" fmla="*/ 156553 w 362313"/>
                <a:gd name="connsiteY23" fmla="*/ 254721 h 361971"/>
                <a:gd name="connsiteX24" fmla="*/ 135467 w 362313"/>
                <a:gd name="connsiteY24" fmla="*/ 245783 h 361971"/>
                <a:gd name="connsiteX25" fmla="*/ 110546 w 362313"/>
                <a:gd name="connsiteY25" fmla="*/ 254721 h 361971"/>
                <a:gd name="connsiteX26" fmla="*/ 89459 w 362313"/>
                <a:gd name="connsiteY26" fmla="*/ 245783 h 361971"/>
                <a:gd name="connsiteX27" fmla="*/ 76679 w 362313"/>
                <a:gd name="connsiteY27" fmla="*/ 253444 h 361971"/>
                <a:gd name="connsiteX28" fmla="*/ 68372 w 362313"/>
                <a:gd name="connsiteY28" fmla="*/ 249614 h 361971"/>
                <a:gd name="connsiteX29" fmla="*/ 72206 w 362313"/>
                <a:gd name="connsiteY29" fmla="*/ 241314 h 361971"/>
                <a:gd name="connsiteX30" fmla="*/ 84986 w 362313"/>
                <a:gd name="connsiteY30" fmla="*/ 233015 h 361971"/>
                <a:gd name="connsiteX31" fmla="*/ 93932 w 362313"/>
                <a:gd name="connsiteY31" fmla="*/ 233015 h 361971"/>
                <a:gd name="connsiteX32" fmla="*/ 94571 w 362313"/>
                <a:gd name="connsiteY32" fmla="*/ 233654 h 361971"/>
                <a:gd name="connsiteX33" fmla="*/ 106073 w 362313"/>
                <a:gd name="connsiteY33" fmla="*/ 241314 h 361971"/>
                <a:gd name="connsiteX34" fmla="*/ 106073 w 362313"/>
                <a:gd name="connsiteY34" fmla="*/ 205564 h 361971"/>
                <a:gd name="connsiteX35" fmla="*/ 74123 w 362313"/>
                <a:gd name="connsiteY35" fmla="*/ 205564 h 361971"/>
                <a:gd name="connsiteX36" fmla="*/ 67733 w 362313"/>
                <a:gd name="connsiteY36" fmla="*/ 199180 h 361971"/>
                <a:gd name="connsiteX37" fmla="*/ 74123 w 362313"/>
                <a:gd name="connsiteY37" fmla="*/ 192796 h 361971"/>
                <a:gd name="connsiteX38" fmla="*/ 106073 w 362313"/>
                <a:gd name="connsiteY38" fmla="*/ 192796 h 361971"/>
                <a:gd name="connsiteX39" fmla="*/ 106073 w 362313"/>
                <a:gd name="connsiteY39" fmla="*/ 146832 h 361971"/>
                <a:gd name="connsiteX40" fmla="*/ 76679 w 362313"/>
                <a:gd name="connsiteY40" fmla="*/ 164707 h 361971"/>
                <a:gd name="connsiteX41" fmla="*/ 74123 w 362313"/>
                <a:gd name="connsiteY41" fmla="*/ 165345 h 361971"/>
                <a:gd name="connsiteX42" fmla="*/ 67733 w 362313"/>
                <a:gd name="connsiteY42" fmla="*/ 158961 h 361971"/>
                <a:gd name="connsiteX43" fmla="*/ 71567 w 362313"/>
                <a:gd name="connsiteY43" fmla="*/ 153216 h 361971"/>
                <a:gd name="connsiteX44" fmla="*/ 106073 w 362313"/>
                <a:gd name="connsiteY44" fmla="*/ 128318 h 361971"/>
                <a:gd name="connsiteX45" fmla="*/ 106073 w 362313"/>
                <a:gd name="connsiteY45" fmla="*/ 114912 h 361971"/>
                <a:gd name="connsiteX46" fmla="*/ 112463 w 362313"/>
                <a:gd name="connsiteY46" fmla="*/ 108528 h 361971"/>
                <a:gd name="connsiteX47" fmla="*/ 118853 w 362313"/>
                <a:gd name="connsiteY47" fmla="*/ 114912 h 361971"/>
                <a:gd name="connsiteX48" fmla="*/ 118853 w 362313"/>
                <a:gd name="connsiteY48" fmla="*/ 127680 h 361971"/>
                <a:gd name="connsiteX49" fmla="*/ 181474 w 362313"/>
                <a:gd name="connsiteY49" fmla="*/ 157684 h 361971"/>
                <a:gd name="connsiteX50" fmla="*/ 244096 w 362313"/>
                <a:gd name="connsiteY50" fmla="*/ 127041 h 361971"/>
                <a:gd name="connsiteX51" fmla="*/ 244096 w 362313"/>
                <a:gd name="connsiteY51" fmla="*/ 114273 h 361971"/>
                <a:gd name="connsiteX52" fmla="*/ 250486 w 362313"/>
                <a:gd name="connsiteY52" fmla="*/ 107889 h 361971"/>
                <a:gd name="connsiteX53" fmla="*/ 256876 w 362313"/>
                <a:gd name="connsiteY53" fmla="*/ 114273 h 361971"/>
                <a:gd name="connsiteX54" fmla="*/ 256876 w 362313"/>
                <a:gd name="connsiteY54" fmla="*/ 127041 h 361971"/>
                <a:gd name="connsiteX55" fmla="*/ 291381 w 362313"/>
                <a:gd name="connsiteY55" fmla="*/ 151939 h 361971"/>
                <a:gd name="connsiteX56" fmla="*/ 295215 w 362313"/>
                <a:gd name="connsiteY56" fmla="*/ 160238 h 361971"/>
                <a:gd name="connsiteX57" fmla="*/ 289464 w 362313"/>
                <a:gd name="connsiteY57" fmla="*/ 164068 h 361971"/>
                <a:gd name="connsiteX58" fmla="*/ 286908 w 362313"/>
                <a:gd name="connsiteY58" fmla="*/ 163430 h 361971"/>
                <a:gd name="connsiteX59" fmla="*/ 257514 w 362313"/>
                <a:gd name="connsiteY59" fmla="*/ 145555 h 361971"/>
                <a:gd name="connsiteX60" fmla="*/ 257514 w 362313"/>
                <a:gd name="connsiteY60" fmla="*/ 191519 h 361971"/>
                <a:gd name="connsiteX61" fmla="*/ 288825 w 362313"/>
                <a:gd name="connsiteY61" fmla="*/ 19215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1077"/>
                    <a:pt x="281796" y="0"/>
                    <a:pt x="181474" y="0"/>
                  </a:cubicBezTo>
                  <a:close/>
                  <a:moveTo>
                    <a:pt x="288825" y="192158"/>
                  </a:moveTo>
                  <a:cubicBezTo>
                    <a:pt x="292659" y="192158"/>
                    <a:pt x="295215" y="194711"/>
                    <a:pt x="295215" y="198542"/>
                  </a:cubicBezTo>
                  <a:cubicBezTo>
                    <a:pt x="295215" y="202372"/>
                    <a:pt x="292659" y="204926"/>
                    <a:pt x="288825" y="204926"/>
                  </a:cubicBezTo>
                  <a:lnTo>
                    <a:pt x="256876" y="204926"/>
                  </a:lnTo>
                  <a:lnTo>
                    <a:pt x="256876" y="240676"/>
                  </a:lnTo>
                  <a:cubicBezTo>
                    <a:pt x="261348" y="238761"/>
                    <a:pt x="265821" y="236207"/>
                    <a:pt x="269016" y="232377"/>
                  </a:cubicBezTo>
                  <a:cubicBezTo>
                    <a:pt x="270294" y="231100"/>
                    <a:pt x="272211" y="230462"/>
                    <a:pt x="274128" y="230462"/>
                  </a:cubicBezTo>
                  <a:cubicBezTo>
                    <a:pt x="276045" y="230462"/>
                    <a:pt x="277323" y="231738"/>
                    <a:pt x="278601" y="233015"/>
                  </a:cubicBezTo>
                  <a:cubicBezTo>
                    <a:pt x="281796" y="236846"/>
                    <a:pt x="286269" y="239399"/>
                    <a:pt x="290742" y="241314"/>
                  </a:cubicBezTo>
                  <a:cubicBezTo>
                    <a:pt x="293937" y="242591"/>
                    <a:pt x="295854" y="245783"/>
                    <a:pt x="295215" y="248975"/>
                  </a:cubicBezTo>
                  <a:cubicBezTo>
                    <a:pt x="293937" y="252167"/>
                    <a:pt x="290742" y="254082"/>
                    <a:pt x="287547" y="253444"/>
                  </a:cubicBezTo>
                  <a:cubicBezTo>
                    <a:pt x="282435" y="251529"/>
                    <a:pt x="277962" y="248975"/>
                    <a:pt x="274128" y="245783"/>
                  </a:cubicBezTo>
                  <a:cubicBezTo>
                    <a:pt x="267099" y="252167"/>
                    <a:pt x="258153" y="255359"/>
                    <a:pt x="249208" y="254721"/>
                  </a:cubicBezTo>
                  <a:cubicBezTo>
                    <a:pt x="241540" y="254082"/>
                    <a:pt x="233872" y="250890"/>
                    <a:pt x="228121" y="245783"/>
                  </a:cubicBezTo>
                  <a:cubicBezTo>
                    <a:pt x="221092" y="251529"/>
                    <a:pt x="212146" y="254721"/>
                    <a:pt x="203200" y="254721"/>
                  </a:cubicBezTo>
                  <a:cubicBezTo>
                    <a:pt x="195532" y="254082"/>
                    <a:pt x="187864" y="250890"/>
                    <a:pt x="182113" y="245783"/>
                  </a:cubicBezTo>
                  <a:cubicBezTo>
                    <a:pt x="175723" y="251529"/>
                    <a:pt x="167416" y="254721"/>
                    <a:pt x="159109" y="254721"/>
                  </a:cubicBezTo>
                  <a:lnTo>
                    <a:pt x="156553" y="254721"/>
                  </a:lnTo>
                  <a:cubicBezTo>
                    <a:pt x="148885" y="254082"/>
                    <a:pt x="141218" y="250890"/>
                    <a:pt x="135467" y="245783"/>
                  </a:cubicBezTo>
                  <a:cubicBezTo>
                    <a:pt x="128438" y="252167"/>
                    <a:pt x="119492" y="255359"/>
                    <a:pt x="110546" y="254721"/>
                  </a:cubicBezTo>
                  <a:cubicBezTo>
                    <a:pt x="102878" y="254082"/>
                    <a:pt x="95210" y="250890"/>
                    <a:pt x="89459" y="245783"/>
                  </a:cubicBezTo>
                  <a:cubicBezTo>
                    <a:pt x="85625" y="248975"/>
                    <a:pt x="81152" y="251529"/>
                    <a:pt x="76679" y="253444"/>
                  </a:cubicBezTo>
                  <a:cubicBezTo>
                    <a:pt x="73484" y="254721"/>
                    <a:pt x="69650" y="252806"/>
                    <a:pt x="68372" y="249614"/>
                  </a:cubicBezTo>
                  <a:cubicBezTo>
                    <a:pt x="67094" y="246422"/>
                    <a:pt x="69011" y="242591"/>
                    <a:pt x="72206" y="241314"/>
                  </a:cubicBezTo>
                  <a:cubicBezTo>
                    <a:pt x="77318" y="239399"/>
                    <a:pt x="81152" y="236846"/>
                    <a:pt x="84986" y="233015"/>
                  </a:cubicBezTo>
                  <a:cubicBezTo>
                    <a:pt x="87542" y="230462"/>
                    <a:pt x="91376" y="230462"/>
                    <a:pt x="93932" y="233015"/>
                  </a:cubicBezTo>
                  <a:cubicBezTo>
                    <a:pt x="93932" y="233015"/>
                    <a:pt x="94571" y="233654"/>
                    <a:pt x="94571" y="233654"/>
                  </a:cubicBezTo>
                  <a:cubicBezTo>
                    <a:pt x="97766" y="237484"/>
                    <a:pt x="101600" y="240038"/>
                    <a:pt x="106073" y="241314"/>
                  </a:cubicBezTo>
                  <a:lnTo>
                    <a:pt x="106073" y="205564"/>
                  </a:lnTo>
                  <a:lnTo>
                    <a:pt x="74123" y="205564"/>
                  </a:lnTo>
                  <a:cubicBezTo>
                    <a:pt x="70289" y="205564"/>
                    <a:pt x="67733" y="203011"/>
                    <a:pt x="67733" y="199180"/>
                  </a:cubicBezTo>
                  <a:cubicBezTo>
                    <a:pt x="67733" y="195350"/>
                    <a:pt x="70289" y="192796"/>
                    <a:pt x="74123" y="192796"/>
                  </a:cubicBezTo>
                  <a:lnTo>
                    <a:pt x="106073" y="192796"/>
                  </a:lnTo>
                  <a:lnTo>
                    <a:pt x="106073" y="146832"/>
                  </a:lnTo>
                  <a:cubicBezTo>
                    <a:pt x="97127" y="154492"/>
                    <a:pt x="87542" y="160876"/>
                    <a:pt x="76679" y="164707"/>
                  </a:cubicBezTo>
                  <a:cubicBezTo>
                    <a:pt x="76040" y="164707"/>
                    <a:pt x="75401" y="165345"/>
                    <a:pt x="74123" y="165345"/>
                  </a:cubicBezTo>
                  <a:cubicBezTo>
                    <a:pt x="70289" y="165345"/>
                    <a:pt x="67733" y="162792"/>
                    <a:pt x="67733" y="158961"/>
                  </a:cubicBezTo>
                  <a:cubicBezTo>
                    <a:pt x="67733" y="156408"/>
                    <a:pt x="69011" y="153854"/>
                    <a:pt x="71567" y="153216"/>
                  </a:cubicBezTo>
                  <a:cubicBezTo>
                    <a:pt x="84986" y="148108"/>
                    <a:pt x="97127" y="139171"/>
                    <a:pt x="106073" y="128318"/>
                  </a:cubicBezTo>
                  <a:lnTo>
                    <a:pt x="106073" y="114912"/>
                  </a:lnTo>
                  <a:cubicBezTo>
                    <a:pt x="106073" y="111081"/>
                    <a:pt x="108629" y="108528"/>
                    <a:pt x="112463" y="108528"/>
                  </a:cubicBezTo>
                  <a:cubicBezTo>
                    <a:pt x="116297" y="108528"/>
                    <a:pt x="118853" y="111081"/>
                    <a:pt x="118853" y="114912"/>
                  </a:cubicBezTo>
                  <a:lnTo>
                    <a:pt x="118853" y="127680"/>
                  </a:lnTo>
                  <a:cubicBezTo>
                    <a:pt x="133550" y="147470"/>
                    <a:pt x="157192" y="158323"/>
                    <a:pt x="181474" y="157684"/>
                  </a:cubicBezTo>
                  <a:cubicBezTo>
                    <a:pt x="205756" y="157684"/>
                    <a:pt x="228760" y="146832"/>
                    <a:pt x="244096" y="127041"/>
                  </a:cubicBezTo>
                  <a:lnTo>
                    <a:pt x="244096" y="114273"/>
                  </a:lnTo>
                  <a:cubicBezTo>
                    <a:pt x="244096" y="110443"/>
                    <a:pt x="246652" y="107889"/>
                    <a:pt x="250486" y="107889"/>
                  </a:cubicBezTo>
                  <a:cubicBezTo>
                    <a:pt x="254319" y="107889"/>
                    <a:pt x="256876" y="110443"/>
                    <a:pt x="256876" y="114273"/>
                  </a:cubicBezTo>
                  <a:lnTo>
                    <a:pt x="256876" y="127041"/>
                  </a:lnTo>
                  <a:cubicBezTo>
                    <a:pt x="265821" y="138533"/>
                    <a:pt x="277323" y="146832"/>
                    <a:pt x="291381" y="151939"/>
                  </a:cubicBezTo>
                  <a:cubicBezTo>
                    <a:pt x="294576" y="153216"/>
                    <a:pt x="296493" y="157046"/>
                    <a:pt x="295215" y="160238"/>
                  </a:cubicBezTo>
                  <a:cubicBezTo>
                    <a:pt x="294576" y="162792"/>
                    <a:pt x="292020" y="164068"/>
                    <a:pt x="289464" y="164068"/>
                  </a:cubicBezTo>
                  <a:cubicBezTo>
                    <a:pt x="288825" y="164068"/>
                    <a:pt x="288186" y="164068"/>
                    <a:pt x="286908" y="163430"/>
                  </a:cubicBezTo>
                  <a:cubicBezTo>
                    <a:pt x="276045" y="159600"/>
                    <a:pt x="265821" y="153216"/>
                    <a:pt x="257514" y="145555"/>
                  </a:cubicBezTo>
                  <a:lnTo>
                    <a:pt x="257514" y="191519"/>
                  </a:lnTo>
                  <a:lnTo>
                    <a:pt x="288825" y="192158"/>
                  </a:lnTo>
                  <a:close/>
                </a:path>
              </a:pathLst>
            </a:custGeom>
            <a:solidFill>
              <a:srgbClr val="0076A8"/>
            </a:solidFill>
            <a:ln w="6390" cap="flat">
              <a:noFill/>
              <a:prstDash val="solid"/>
              <a:miter/>
            </a:ln>
          </p:spPr>
          <p:txBody>
            <a:bodyPr rtlCol="0" anchor="ctr"/>
            <a:lstStyle/>
            <a:p>
              <a:endParaRPr lang="en-US"/>
            </a:p>
          </p:txBody>
        </p:sp>
      </p:grpSp>
      <p:sp>
        <p:nvSpPr>
          <p:cNvPr id="86" name="TextBox 85">
            <a:extLst>
              <a:ext uri="{FF2B5EF4-FFF2-40B4-BE49-F238E27FC236}">
                <a16:creationId xmlns:a16="http://schemas.microsoft.com/office/drawing/2014/main" id="{5F2B59C0-EA5C-4A66-B6E6-D97333558C06}"/>
              </a:ext>
            </a:extLst>
          </p:cNvPr>
          <p:cNvSpPr txBox="1"/>
          <p:nvPr/>
        </p:nvSpPr>
        <p:spPr>
          <a:xfrm>
            <a:off x="5505169" y="790681"/>
            <a:ext cx="2163383" cy="815608"/>
          </a:xfrm>
          <a:prstGeom prst="rect">
            <a:avLst/>
          </a:prstGeom>
          <a:noFill/>
        </p:spPr>
        <p:txBody>
          <a:bodyPr wrap="square" lIns="0" tIns="0" rIns="0" bIns="0" rtlCol="0">
            <a:spAutoFit/>
          </a:bodyPr>
          <a:lstStyle/>
          <a:p>
            <a:pPr>
              <a:spcBef>
                <a:spcPts val="0"/>
              </a:spcBef>
              <a:spcAft>
                <a:spcPts val="600"/>
              </a:spcAft>
              <a:buSzPct val="100000"/>
            </a:pPr>
            <a:r>
              <a:rPr lang="en-US" sz="1200" b="1" noProof="0" dirty="0">
                <a:solidFill>
                  <a:schemeClr val="tx1"/>
                </a:solidFill>
              </a:rPr>
              <a:t>Component C (Standalone AG Pumps)</a:t>
            </a:r>
          </a:p>
          <a:p>
            <a:pPr>
              <a:spcBef>
                <a:spcPts val="0"/>
              </a:spcBef>
              <a:spcAft>
                <a:spcPts val="1333"/>
              </a:spcAft>
              <a:buSzPct val="100000"/>
            </a:pPr>
            <a:r>
              <a:rPr lang="en-US" sz="2400" b="1" dirty="0">
                <a:solidFill>
                  <a:schemeClr val="accent1"/>
                </a:solidFill>
              </a:rPr>
              <a:t>23,000</a:t>
            </a:r>
            <a:endParaRPr lang="en-US" sz="2400" b="1" noProof="0" dirty="0">
              <a:solidFill>
                <a:schemeClr val="accent1"/>
              </a:solidFill>
            </a:endParaRPr>
          </a:p>
        </p:txBody>
      </p:sp>
      <p:sp>
        <p:nvSpPr>
          <p:cNvPr id="87" name="TextBox 86">
            <a:extLst>
              <a:ext uri="{FF2B5EF4-FFF2-40B4-BE49-F238E27FC236}">
                <a16:creationId xmlns:a16="http://schemas.microsoft.com/office/drawing/2014/main" id="{6D37CBAB-7155-4738-A704-8B4F3D92A0DF}"/>
              </a:ext>
            </a:extLst>
          </p:cNvPr>
          <p:cNvSpPr txBox="1"/>
          <p:nvPr/>
        </p:nvSpPr>
        <p:spPr>
          <a:xfrm>
            <a:off x="2559903" y="800417"/>
            <a:ext cx="1963554" cy="815608"/>
          </a:xfrm>
          <a:prstGeom prst="rect">
            <a:avLst/>
          </a:prstGeom>
          <a:noFill/>
        </p:spPr>
        <p:txBody>
          <a:bodyPr wrap="square" lIns="0" tIns="0" rIns="0" bIns="0" rtlCol="0">
            <a:spAutoFit/>
          </a:bodyPr>
          <a:lstStyle/>
          <a:p>
            <a:pPr>
              <a:spcBef>
                <a:spcPts val="0"/>
              </a:spcBef>
              <a:spcAft>
                <a:spcPts val="600"/>
              </a:spcAft>
              <a:buSzPct val="100000"/>
            </a:pPr>
            <a:r>
              <a:rPr lang="en-US" sz="1200" b="1" noProof="0" dirty="0">
                <a:solidFill>
                  <a:schemeClr val="tx1"/>
                </a:solidFill>
              </a:rPr>
              <a:t>Component C (Feeders to be solarized)</a:t>
            </a:r>
          </a:p>
          <a:p>
            <a:pPr>
              <a:spcBef>
                <a:spcPts val="0"/>
              </a:spcBef>
              <a:spcAft>
                <a:spcPts val="1333"/>
              </a:spcAft>
              <a:buSzPct val="100000"/>
            </a:pPr>
            <a:r>
              <a:rPr lang="en-US" sz="2400" b="1" dirty="0">
                <a:solidFill>
                  <a:srgbClr val="0076A8"/>
                </a:solidFill>
              </a:rPr>
              <a:t>~100</a:t>
            </a:r>
            <a:endParaRPr lang="en-US" sz="2400" b="1" noProof="0" dirty="0">
              <a:solidFill>
                <a:srgbClr val="0076A8"/>
              </a:solidFill>
            </a:endParaRPr>
          </a:p>
        </p:txBody>
      </p:sp>
      <p:sp>
        <p:nvSpPr>
          <p:cNvPr id="88" name="TextBox 87">
            <a:extLst>
              <a:ext uri="{FF2B5EF4-FFF2-40B4-BE49-F238E27FC236}">
                <a16:creationId xmlns:a16="http://schemas.microsoft.com/office/drawing/2014/main" id="{E8A7E9AF-0D2A-46DE-B829-70FFFBD2B38F}"/>
              </a:ext>
            </a:extLst>
          </p:cNvPr>
          <p:cNvSpPr txBox="1"/>
          <p:nvPr/>
        </p:nvSpPr>
        <p:spPr>
          <a:xfrm>
            <a:off x="8940711" y="786659"/>
            <a:ext cx="1963554" cy="815608"/>
          </a:xfrm>
          <a:prstGeom prst="rect">
            <a:avLst/>
          </a:prstGeom>
          <a:noFill/>
        </p:spPr>
        <p:txBody>
          <a:bodyPr wrap="square" lIns="0" tIns="0" rIns="0" bIns="0" rtlCol="0">
            <a:spAutoFit/>
          </a:bodyPr>
          <a:lstStyle/>
          <a:p>
            <a:pPr>
              <a:spcBef>
                <a:spcPts val="0"/>
              </a:spcBef>
              <a:spcAft>
                <a:spcPts val="600"/>
              </a:spcAft>
              <a:buSzPct val="100000"/>
            </a:pPr>
            <a:r>
              <a:rPr lang="en-US" sz="1200" b="1" noProof="0" dirty="0">
                <a:solidFill>
                  <a:schemeClr val="tx1"/>
                </a:solidFill>
              </a:rPr>
              <a:t>Estimated Loan Requirement</a:t>
            </a:r>
          </a:p>
          <a:p>
            <a:pPr>
              <a:spcBef>
                <a:spcPts val="0"/>
              </a:spcBef>
              <a:spcAft>
                <a:spcPts val="1333"/>
              </a:spcAft>
              <a:buSzPct val="100000"/>
            </a:pPr>
            <a:r>
              <a:rPr lang="en-US" sz="2400" b="1" dirty="0">
                <a:solidFill>
                  <a:srgbClr val="007680"/>
                </a:solidFill>
              </a:rPr>
              <a:t>~750 Cr.</a:t>
            </a:r>
            <a:endParaRPr lang="en-US" sz="2400" b="1" noProof="0" dirty="0">
              <a:solidFill>
                <a:srgbClr val="007680"/>
              </a:solidFill>
            </a:endParaRPr>
          </a:p>
        </p:txBody>
      </p:sp>
      <p:grpSp>
        <p:nvGrpSpPr>
          <p:cNvPr id="89" name="Graphic 4">
            <a:extLst>
              <a:ext uri="{FF2B5EF4-FFF2-40B4-BE49-F238E27FC236}">
                <a16:creationId xmlns:a16="http://schemas.microsoft.com/office/drawing/2014/main" id="{F6BFA111-75A3-4D55-8968-2F0D54900302}"/>
              </a:ext>
            </a:extLst>
          </p:cNvPr>
          <p:cNvGrpSpPr/>
          <p:nvPr/>
        </p:nvGrpSpPr>
        <p:grpSpPr>
          <a:xfrm>
            <a:off x="8110196" y="759602"/>
            <a:ext cx="634237" cy="600983"/>
            <a:chOff x="9279466" y="918179"/>
            <a:chExt cx="361671" cy="361333"/>
          </a:xfrm>
          <a:solidFill>
            <a:srgbClr val="007680"/>
          </a:solidFill>
        </p:grpSpPr>
        <p:sp>
          <p:nvSpPr>
            <p:cNvPr id="90" name="Graphic 4">
              <a:extLst>
                <a:ext uri="{FF2B5EF4-FFF2-40B4-BE49-F238E27FC236}">
                  <a16:creationId xmlns:a16="http://schemas.microsoft.com/office/drawing/2014/main" id="{2572A030-0819-47A1-9F3D-1991CCA84EBB}"/>
                </a:ext>
              </a:extLst>
            </p:cNvPr>
            <p:cNvSpPr/>
            <p:nvPr/>
          </p:nvSpPr>
          <p:spPr>
            <a:xfrm>
              <a:off x="9423879" y="1003460"/>
              <a:ext cx="72844" cy="25161"/>
            </a:xfrm>
            <a:custGeom>
              <a:avLst/>
              <a:gdLst>
                <a:gd name="connsiteX0" fmla="*/ 49841 w 72844"/>
                <a:gd name="connsiteY0" fmla="*/ 25162 h 25161"/>
                <a:gd name="connsiteX1" fmla="*/ 72845 w 72844"/>
                <a:gd name="connsiteY1" fmla="*/ 903 h 25161"/>
                <a:gd name="connsiteX2" fmla="*/ 72206 w 72844"/>
                <a:gd name="connsiteY2" fmla="*/ 903 h 25161"/>
                <a:gd name="connsiteX3" fmla="*/ 38978 w 72844"/>
                <a:gd name="connsiteY3" fmla="*/ 7287 h 25161"/>
                <a:gd name="connsiteX4" fmla="*/ 38978 w 72844"/>
                <a:gd name="connsiteY4" fmla="*/ 7287 h 25161"/>
                <a:gd name="connsiteX5" fmla="*/ 37700 w 72844"/>
                <a:gd name="connsiteY5" fmla="*/ 7287 h 25161"/>
                <a:gd name="connsiteX6" fmla="*/ 36422 w 72844"/>
                <a:gd name="connsiteY6" fmla="*/ 7287 h 25161"/>
                <a:gd name="connsiteX7" fmla="*/ 35145 w 72844"/>
                <a:gd name="connsiteY7" fmla="*/ 7287 h 25161"/>
                <a:gd name="connsiteX8" fmla="*/ 33866 w 72844"/>
                <a:gd name="connsiteY8" fmla="*/ 7287 h 25161"/>
                <a:gd name="connsiteX9" fmla="*/ 33866 w 72844"/>
                <a:gd name="connsiteY9" fmla="*/ 7287 h 25161"/>
                <a:gd name="connsiteX10" fmla="*/ 639 w 72844"/>
                <a:gd name="connsiteY10" fmla="*/ 903 h 25161"/>
                <a:gd name="connsiteX11" fmla="*/ 0 w 72844"/>
                <a:gd name="connsiteY11" fmla="*/ 903 h 25161"/>
                <a:gd name="connsiteX12" fmla="*/ 23004 w 72844"/>
                <a:gd name="connsiteY12" fmla="*/ 25162 h 25161"/>
                <a:gd name="connsiteX13" fmla="*/ 49841 w 72844"/>
                <a:gd name="connsiteY13" fmla="*/ 25162 h 2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2844" h="25161">
                  <a:moveTo>
                    <a:pt x="49841" y="25162"/>
                  </a:moveTo>
                  <a:lnTo>
                    <a:pt x="72845" y="903"/>
                  </a:lnTo>
                  <a:cubicBezTo>
                    <a:pt x="72845" y="903"/>
                    <a:pt x="72206" y="903"/>
                    <a:pt x="72206" y="903"/>
                  </a:cubicBezTo>
                  <a:cubicBezTo>
                    <a:pt x="68372" y="-374"/>
                    <a:pt x="59426" y="-1651"/>
                    <a:pt x="38978" y="7287"/>
                  </a:cubicBezTo>
                  <a:cubicBezTo>
                    <a:pt x="38978" y="7287"/>
                    <a:pt x="38978" y="7287"/>
                    <a:pt x="38978" y="7287"/>
                  </a:cubicBezTo>
                  <a:cubicBezTo>
                    <a:pt x="38340" y="7287"/>
                    <a:pt x="38340" y="7287"/>
                    <a:pt x="37700" y="7287"/>
                  </a:cubicBezTo>
                  <a:cubicBezTo>
                    <a:pt x="37061" y="7287"/>
                    <a:pt x="37061" y="7287"/>
                    <a:pt x="36422" y="7287"/>
                  </a:cubicBezTo>
                  <a:cubicBezTo>
                    <a:pt x="35783" y="7287"/>
                    <a:pt x="35783" y="7287"/>
                    <a:pt x="35145" y="7287"/>
                  </a:cubicBezTo>
                  <a:cubicBezTo>
                    <a:pt x="34505" y="7287"/>
                    <a:pt x="33866" y="7287"/>
                    <a:pt x="33866" y="7287"/>
                  </a:cubicBezTo>
                  <a:cubicBezTo>
                    <a:pt x="33866" y="7287"/>
                    <a:pt x="33866" y="7287"/>
                    <a:pt x="33866" y="7287"/>
                  </a:cubicBezTo>
                  <a:cubicBezTo>
                    <a:pt x="13419" y="-1651"/>
                    <a:pt x="3834" y="-374"/>
                    <a:pt x="639" y="903"/>
                  </a:cubicBezTo>
                  <a:cubicBezTo>
                    <a:pt x="639" y="903"/>
                    <a:pt x="0" y="903"/>
                    <a:pt x="0" y="903"/>
                  </a:cubicBezTo>
                  <a:lnTo>
                    <a:pt x="23004" y="25162"/>
                  </a:lnTo>
                  <a:lnTo>
                    <a:pt x="49841" y="25162"/>
                  </a:lnTo>
                  <a:close/>
                </a:path>
              </a:pathLst>
            </a:custGeom>
            <a:solidFill>
              <a:srgbClr val="007680"/>
            </a:solidFill>
            <a:ln w="6390" cap="flat">
              <a:noFill/>
              <a:prstDash val="solid"/>
              <a:miter/>
            </a:ln>
          </p:spPr>
          <p:txBody>
            <a:bodyPr rtlCol="0" anchor="ctr"/>
            <a:lstStyle/>
            <a:p>
              <a:endParaRPr lang="en-US"/>
            </a:p>
          </p:txBody>
        </p:sp>
        <p:sp>
          <p:nvSpPr>
            <p:cNvPr id="91" name="Graphic 4">
              <a:extLst>
                <a:ext uri="{FF2B5EF4-FFF2-40B4-BE49-F238E27FC236}">
                  <a16:creationId xmlns:a16="http://schemas.microsoft.com/office/drawing/2014/main" id="{9CF58C0B-83FB-4516-A125-F630804D62B8}"/>
                </a:ext>
              </a:extLst>
            </p:cNvPr>
            <p:cNvSpPr/>
            <p:nvPr/>
          </p:nvSpPr>
          <p:spPr>
            <a:xfrm>
              <a:off x="9394485" y="1041390"/>
              <a:ext cx="130993" cy="152577"/>
            </a:xfrm>
            <a:custGeom>
              <a:avLst/>
              <a:gdLst>
                <a:gd name="connsiteX0" fmla="*/ 120131 w 130993"/>
                <a:gd name="connsiteY0" fmla="*/ 111081 h 152577"/>
                <a:gd name="connsiteX1" fmla="*/ 79874 w 130993"/>
                <a:gd name="connsiteY1" fmla="*/ 0 h 152577"/>
                <a:gd name="connsiteX2" fmla="*/ 51119 w 130993"/>
                <a:gd name="connsiteY2" fmla="*/ 0 h 152577"/>
                <a:gd name="connsiteX3" fmla="*/ 10863 w 130993"/>
                <a:gd name="connsiteY3" fmla="*/ 111081 h 152577"/>
                <a:gd name="connsiteX4" fmla="*/ 11502 w 130993"/>
                <a:gd name="connsiteY4" fmla="*/ 113635 h 152577"/>
                <a:gd name="connsiteX5" fmla="*/ 0 w 130993"/>
                <a:gd name="connsiteY5" fmla="*/ 152577 h 152577"/>
                <a:gd name="connsiteX6" fmla="*/ 130994 w 130993"/>
                <a:gd name="connsiteY6" fmla="*/ 152577 h 152577"/>
                <a:gd name="connsiteX7" fmla="*/ 119492 w 130993"/>
                <a:gd name="connsiteY7" fmla="*/ 113635 h 152577"/>
                <a:gd name="connsiteX8" fmla="*/ 120131 w 130993"/>
                <a:gd name="connsiteY8" fmla="*/ 111081 h 152577"/>
                <a:gd name="connsiteX9" fmla="*/ 65817 w 130993"/>
                <a:gd name="connsiteY9" fmla="*/ 72777 h 152577"/>
                <a:gd name="connsiteX10" fmla="*/ 88181 w 130993"/>
                <a:gd name="connsiteY10" fmla="*/ 95121 h 152577"/>
                <a:gd name="connsiteX11" fmla="*/ 72207 w 130993"/>
                <a:gd name="connsiteY11" fmla="*/ 116188 h 152577"/>
                <a:gd name="connsiteX12" fmla="*/ 72207 w 130993"/>
                <a:gd name="connsiteY12" fmla="*/ 121296 h 152577"/>
                <a:gd name="connsiteX13" fmla="*/ 65817 w 130993"/>
                <a:gd name="connsiteY13" fmla="*/ 127680 h 152577"/>
                <a:gd name="connsiteX14" fmla="*/ 59427 w 130993"/>
                <a:gd name="connsiteY14" fmla="*/ 121296 h 152577"/>
                <a:gd name="connsiteX15" fmla="*/ 59427 w 130993"/>
                <a:gd name="connsiteY15" fmla="*/ 116188 h 152577"/>
                <a:gd name="connsiteX16" fmla="*/ 43452 w 130993"/>
                <a:gd name="connsiteY16" fmla="*/ 95121 h 152577"/>
                <a:gd name="connsiteX17" fmla="*/ 49842 w 130993"/>
                <a:gd name="connsiteY17" fmla="*/ 88737 h 152577"/>
                <a:gd name="connsiteX18" fmla="*/ 56232 w 130993"/>
                <a:gd name="connsiteY18" fmla="*/ 95121 h 152577"/>
                <a:gd name="connsiteX19" fmla="*/ 65817 w 130993"/>
                <a:gd name="connsiteY19" fmla="*/ 104697 h 152577"/>
                <a:gd name="connsiteX20" fmla="*/ 75402 w 130993"/>
                <a:gd name="connsiteY20" fmla="*/ 95121 h 152577"/>
                <a:gd name="connsiteX21" fmla="*/ 65817 w 130993"/>
                <a:gd name="connsiteY21" fmla="*/ 85545 h 152577"/>
                <a:gd name="connsiteX22" fmla="*/ 43452 w 130993"/>
                <a:gd name="connsiteY22" fmla="*/ 63201 h 152577"/>
                <a:gd name="connsiteX23" fmla="*/ 59427 w 130993"/>
                <a:gd name="connsiteY23" fmla="*/ 41496 h 152577"/>
                <a:gd name="connsiteX24" fmla="*/ 59427 w 130993"/>
                <a:gd name="connsiteY24" fmla="*/ 36389 h 152577"/>
                <a:gd name="connsiteX25" fmla="*/ 65817 w 130993"/>
                <a:gd name="connsiteY25" fmla="*/ 30005 h 152577"/>
                <a:gd name="connsiteX26" fmla="*/ 72207 w 130993"/>
                <a:gd name="connsiteY26" fmla="*/ 36389 h 152577"/>
                <a:gd name="connsiteX27" fmla="*/ 72207 w 130993"/>
                <a:gd name="connsiteY27" fmla="*/ 41496 h 152577"/>
                <a:gd name="connsiteX28" fmla="*/ 88181 w 130993"/>
                <a:gd name="connsiteY28" fmla="*/ 63201 h 152577"/>
                <a:gd name="connsiteX29" fmla="*/ 81792 w 130993"/>
                <a:gd name="connsiteY29" fmla="*/ 69585 h 152577"/>
                <a:gd name="connsiteX30" fmla="*/ 75402 w 130993"/>
                <a:gd name="connsiteY30" fmla="*/ 63201 h 152577"/>
                <a:gd name="connsiteX31" fmla="*/ 65817 w 130993"/>
                <a:gd name="connsiteY31" fmla="*/ 53625 h 152577"/>
                <a:gd name="connsiteX32" fmla="*/ 56232 w 130993"/>
                <a:gd name="connsiteY32" fmla="*/ 63201 h 152577"/>
                <a:gd name="connsiteX33" fmla="*/ 65817 w 130993"/>
                <a:gd name="connsiteY33" fmla="*/ 72777 h 15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0993" h="152577">
                  <a:moveTo>
                    <a:pt x="120131" y="111081"/>
                  </a:moveTo>
                  <a:cubicBezTo>
                    <a:pt x="121409" y="108528"/>
                    <a:pt x="146330" y="55541"/>
                    <a:pt x="79874" y="0"/>
                  </a:cubicBezTo>
                  <a:lnTo>
                    <a:pt x="51119" y="0"/>
                  </a:lnTo>
                  <a:cubicBezTo>
                    <a:pt x="-15335" y="55541"/>
                    <a:pt x="9585" y="109166"/>
                    <a:pt x="10863" y="111081"/>
                  </a:cubicBezTo>
                  <a:cubicBezTo>
                    <a:pt x="11502" y="111720"/>
                    <a:pt x="11502" y="112996"/>
                    <a:pt x="11502" y="113635"/>
                  </a:cubicBezTo>
                  <a:cubicBezTo>
                    <a:pt x="11502" y="123849"/>
                    <a:pt x="4473" y="141724"/>
                    <a:pt x="0" y="152577"/>
                  </a:cubicBezTo>
                  <a:lnTo>
                    <a:pt x="130994" y="152577"/>
                  </a:lnTo>
                  <a:cubicBezTo>
                    <a:pt x="126521" y="141724"/>
                    <a:pt x="119492" y="123849"/>
                    <a:pt x="119492" y="113635"/>
                  </a:cubicBezTo>
                  <a:cubicBezTo>
                    <a:pt x="119492" y="112996"/>
                    <a:pt x="119492" y="112358"/>
                    <a:pt x="120131" y="111081"/>
                  </a:cubicBezTo>
                  <a:close/>
                  <a:moveTo>
                    <a:pt x="65817" y="72777"/>
                  </a:moveTo>
                  <a:cubicBezTo>
                    <a:pt x="78597" y="72777"/>
                    <a:pt x="88181" y="82992"/>
                    <a:pt x="88181" y="95121"/>
                  </a:cubicBezTo>
                  <a:cubicBezTo>
                    <a:pt x="88181" y="105336"/>
                    <a:pt x="81153" y="113635"/>
                    <a:pt x="72207" y="116188"/>
                  </a:cubicBezTo>
                  <a:lnTo>
                    <a:pt x="72207" y="121296"/>
                  </a:lnTo>
                  <a:cubicBezTo>
                    <a:pt x="72207" y="125126"/>
                    <a:pt x="69650" y="127680"/>
                    <a:pt x="65817" y="127680"/>
                  </a:cubicBezTo>
                  <a:cubicBezTo>
                    <a:pt x="61983" y="127680"/>
                    <a:pt x="59427" y="125126"/>
                    <a:pt x="59427" y="121296"/>
                  </a:cubicBezTo>
                  <a:lnTo>
                    <a:pt x="59427" y="116188"/>
                  </a:lnTo>
                  <a:cubicBezTo>
                    <a:pt x="50481" y="113635"/>
                    <a:pt x="43452" y="104697"/>
                    <a:pt x="43452" y="95121"/>
                  </a:cubicBezTo>
                  <a:cubicBezTo>
                    <a:pt x="43452" y="91291"/>
                    <a:pt x="46008" y="88737"/>
                    <a:pt x="49842" y="88737"/>
                  </a:cubicBezTo>
                  <a:cubicBezTo>
                    <a:pt x="53676" y="88737"/>
                    <a:pt x="56232" y="91291"/>
                    <a:pt x="56232" y="95121"/>
                  </a:cubicBezTo>
                  <a:cubicBezTo>
                    <a:pt x="56232" y="100229"/>
                    <a:pt x="60704" y="104697"/>
                    <a:pt x="65817" y="104697"/>
                  </a:cubicBezTo>
                  <a:cubicBezTo>
                    <a:pt x="71568" y="104697"/>
                    <a:pt x="75402" y="100229"/>
                    <a:pt x="75402" y="95121"/>
                  </a:cubicBezTo>
                  <a:cubicBezTo>
                    <a:pt x="75402" y="89376"/>
                    <a:pt x="70929" y="85545"/>
                    <a:pt x="65817" y="85545"/>
                  </a:cubicBezTo>
                  <a:cubicBezTo>
                    <a:pt x="53676" y="85545"/>
                    <a:pt x="43452" y="75331"/>
                    <a:pt x="43452" y="63201"/>
                  </a:cubicBezTo>
                  <a:cubicBezTo>
                    <a:pt x="43452" y="52987"/>
                    <a:pt x="50481" y="44688"/>
                    <a:pt x="59427" y="41496"/>
                  </a:cubicBezTo>
                  <a:lnTo>
                    <a:pt x="59427" y="36389"/>
                  </a:lnTo>
                  <a:cubicBezTo>
                    <a:pt x="59427" y="32558"/>
                    <a:pt x="61983" y="30005"/>
                    <a:pt x="65817" y="30005"/>
                  </a:cubicBezTo>
                  <a:cubicBezTo>
                    <a:pt x="69650" y="30005"/>
                    <a:pt x="72207" y="32558"/>
                    <a:pt x="72207" y="36389"/>
                  </a:cubicBezTo>
                  <a:lnTo>
                    <a:pt x="72207" y="41496"/>
                  </a:lnTo>
                  <a:cubicBezTo>
                    <a:pt x="81792" y="44049"/>
                    <a:pt x="88181" y="52987"/>
                    <a:pt x="88181" y="63201"/>
                  </a:cubicBezTo>
                  <a:cubicBezTo>
                    <a:pt x="88181" y="67032"/>
                    <a:pt x="85625" y="69585"/>
                    <a:pt x="81792" y="69585"/>
                  </a:cubicBezTo>
                  <a:cubicBezTo>
                    <a:pt x="77958" y="69585"/>
                    <a:pt x="75402" y="67032"/>
                    <a:pt x="75402" y="63201"/>
                  </a:cubicBezTo>
                  <a:cubicBezTo>
                    <a:pt x="75402" y="57456"/>
                    <a:pt x="70929" y="53625"/>
                    <a:pt x="65817" y="53625"/>
                  </a:cubicBezTo>
                  <a:cubicBezTo>
                    <a:pt x="60704" y="53625"/>
                    <a:pt x="56232" y="58094"/>
                    <a:pt x="56232" y="63201"/>
                  </a:cubicBezTo>
                  <a:cubicBezTo>
                    <a:pt x="56232" y="68309"/>
                    <a:pt x="60066" y="72777"/>
                    <a:pt x="65817" y="72777"/>
                  </a:cubicBezTo>
                  <a:close/>
                </a:path>
              </a:pathLst>
            </a:custGeom>
            <a:solidFill>
              <a:srgbClr val="007680"/>
            </a:solidFill>
            <a:ln w="6390" cap="flat">
              <a:noFill/>
              <a:prstDash val="solid"/>
              <a:miter/>
            </a:ln>
          </p:spPr>
          <p:txBody>
            <a:bodyPr rtlCol="0" anchor="ctr"/>
            <a:lstStyle/>
            <a:p>
              <a:endParaRPr lang="en-US"/>
            </a:p>
          </p:txBody>
        </p:sp>
        <p:sp>
          <p:nvSpPr>
            <p:cNvPr id="92" name="Graphic 4">
              <a:extLst>
                <a:ext uri="{FF2B5EF4-FFF2-40B4-BE49-F238E27FC236}">
                  <a16:creationId xmlns:a16="http://schemas.microsoft.com/office/drawing/2014/main" id="{6F20926F-D52B-47AB-9AD2-AC0A13720E31}"/>
                </a:ext>
              </a:extLst>
            </p:cNvPr>
            <p:cNvSpPr/>
            <p:nvPr/>
          </p:nvSpPr>
          <p:spPr>
            <a:xfrm>
              <a:off x="9279466" y="918179"/>
              <a:ext cx="361671" cy="361333"/>
            </a:xfrm>
            <a:custGeom>
              <a:avLst/>
              <a:gdLst>
                <a:gd name="connsiteX0" fmla="*/ 180836 w 361671"/>
                <a:gd name="connsiteY0" fmla="*/ 0 h 361333"/>
                <a:gd name="connsiteX1" fmla="*/ 0 w 361671"/>
                <a:gd name="connsiteY1" fmla="*/ 180667 h 361333"/>
                <a:gd name="connsiteX2" fmla="*/ 180836 w 361671"/>
                <a:gd name="connsiteY2" fmla="*/ 361333 h 361333"/>
                <a:gd name="connsiteX3" fmla="*/ 361671 w 361671"/>
                <a:gd name="connsiteY3" fmla="*/ 180667 h 361333"/>
                <a:gd name="connsiteX4" fmla="*/ 180836 w 361671"/>
                <a:gd name="connsiteY4" fmla="*/ 0 h 361333"/>
                <a:gd name="connsiteX5" fmla="*/ 261349 w 361671"/>
                <a:gd name="connsiteY5" fmla="*/ 286002 h 361333"/>
                <a:gd name="connsiteX6" fmla="*/ 256237 w 361671"/>
                <a:gd name="connsiteY6" fmla="*/ 289194 h 361333"/>
                <a:gd name="connsiteX7" fmla="*/ 105434 w 361671"/>
                <a:gd name="connsiteY7" fmla="*/ 289194 h 361333"/>
                <a:gd name="connsiteX8" fmla="*/ 100322 w 361671"/>
                <a:gd name="connsiteY8" fmla="*/ 286002 h 361333"/>
                <a:gd name="connsiteX9" fmla="*/ 99684 w 361671"/>
                <a:gd name="connsiteY9" fmla="*/ 279618 h 361333"/>
                <a:gd name="connsiteX10" fmla="*/ 114380 w 361671"/>
                <a:gd name="connsiteY10" fmla="*/ 238123 h 361333"/>
                <a:gd name="connsiteX11" fmla="*/ 155276 w 361671"/>
                <a:gd name="connsiteY11" fmla="*/ 116188 h 361333"/>
                <a:gd name="connsiteX12" fmla="*/ 131633 w 361671"/>
                <a:gd name="connsiteY12" fmla="*/ 90653 h 361333"/>
                <a:gd name="connsiteX13" fmla="*/ 130355 w 361671"/>
                <a:gd name="connsiteY13" fmla="*/ 84907 h 361333"/>
                <a:gd name="connsiteX14" fmla="*/ 139940 w 361671"/>
                <a:gd name="connsiteY14" fmla="*/ 74693 h 361333"/>
                <a:gd name="connsiteX15" fmla="*/ 182113 w 361671"/>
                <a:gd name="connsiteY15" fmla="*/ 79800 h 361333"/>
                <a:gd name="connsiteX16" fmla="*/ 224287 w 361671"/>
                <a:gd name="connsiteY16" fmla="*/ 74693 h 361333"/>
                <a:gd name="connsiteX17" fmla="*/ 233872 w 361671"/>
                <a:gd name="connsiteY17" fmla="*/ 84907 h 361333"/>
                <a:gd name="connsiteX18" fmla="*/ 232594 w 361671"/>
                <a:gd name="connsiteY18" fmla="*/ 90653 h 361333"/>
                <a:gd name="connsiteX19" fmla="*/ 208951 w 361671"/>
                <a:gd name="connsiteY19" fmla="*/ 116188 h 361333"/>
                <a:gd name="connsiteX20" fmla="*/ 255597 w 361671"/>
                <a:gd name="connsiteY20" fmla="*/ 199180 h 361333"/>
                <a:gd name="connsiteX21" fmla="*/ 249847 w 361671"/>
                <a:gd name="connsiteY21" fmla="*/ 238761 h 361333"/>
                <a:gd name="connsiteX22" fmla="*/ 264544 w 361671"/>
                <a:gd name="connsiteY22" fmla="*/ 279618 h 361333"/>
                <a:gd name="connsiteX23" fmla="*/ 261349 w 361671"/>
                <a:gd name="connsiteY23" fmla="*/ 286002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1671" h="361333">
                  <a:moveTo>
                    <a:pt x="180836" y="0"/>
                  </a:moveTo>
                  <a:cubicBezTo>
                    <a:pt x="80514" y="0"/>
                    <a:pt x="0" y="81077"/>
                    <a:pt x="0" y="180667"/>
                  </a:cubicBezTo>
                  <a:cubicBezTo>
                    <a:pt x="0" y="280257"/>
                    <a:pt x="81153" y="361333"/>
                    <a:pt x="180836" y="361333"/>
                  </a:cubicBezTo>
                  <a:cubicBezTo>
                    <a:pt x="281157" y="361333"/>
                    <a:pt x="361671" y="280257"/>
                    <a:pt x="361671" y="180667"/>
                  </a:cubicBezTo>
                  <a:cubicBezTo>
                    <a:pt x="361671" y="81077"/>
                    <a:pt x="280518" y="0"/>
                    <a:pt x="180836" y="0"/>
                  </a:cubicBezTo>
                  <a:close/>
                  <a:moveTo>
                    <a:pt x="261349" y="286002"/>
                  </a:moveTo>
                  <a:cubicBezTo>
                    <a:pt x="260071" y="287918"/>
                    <a:pt x="258154" y="289194"/>
                    <a:pt x="256237" y="289194"/>
                  </a:cubicBezTo>
                  <a:lnTo>
                    <a:pt x="105434" y="289194"/>
                  </a:lnTo>
                  <a:cubicBezTo>
                    <a:pt x="103517" y="289194"/>
                    <a:pt x="100961" y="287918"/>
                    <a:pt x="100322" y="286002"/>
                  </a:cubicBezTo>
                  <a:cubicBezTo>
                    <a:pt x="99044" y="284087"/>
                    <a:pt x="99044" y="281534"/>
                    <a:pt x="99684" y="279618"/>
                  </a:cubicBezTo>
                  <a:cubicBezTo>
                    <a:pt x="103517" y="271319"/>
                    <a:pt x="113102" y="248975"/>
                    <a:pt x="114380" y="238123"/>
                  </a:cubicBezTo>
                  <a:cubicBezTo>
                    <a:pt x="109907" y="227908"/>
                    <a:pt x="91376" y="171729"/>
                    <a:pt x="155276" y="116188"/>
                  </a:cubicBezTo>
                  <a:lnTo>
                    <a:pt x="131633" y="90653"/>
                  </a:lnTo>
                  <a:cubicBezTo>
                    <a:pt x="130355" y="88737"/>
                    <a:pt x="129716" y="86822"/>
                    <a:pt x="130355" y="84907"/>
                  </a:cubicBezTo>
                  <a:cubicBezTo>
                    <a:pt x="130355" y="83630"/>
                    <a:pt x="132272" y="77885"/>
                    <a:pt x="139940" y="74693"/>
                  </a:cubicBezTo>
                  <a:cubicBezTo>
                    <a:pt x="149525" y="70224"/>
                    <a:pt x="163583" y="72139"/>
                    <a:pt x="182113" y="79800"/>
                  </a:cubicBezTo>
                  <a:cubicBezTo>
                    <a:pt x="200644" y="72139"/>
                    <a:pt x="214703" y="70224"/>
                    <a:pt x="224287" y="74693"/>
                  </a:cubicBezTo>
                  <a:cubicBezTo>
                    <a:pt x="231316" y="77885"/>
                    <a:pt x="233233" y="83630"/>
                    <a:pt x="233872" y="84907"/>
                  </a:cubicBezTo>
                  <a:cubicBezTo>
                    <a:pt x="234511" y="86822"/>
                    <a:pt x="233872" y="89376"/>
                    <a:pt x="232594" y="90653"/>
                  </a:cubicBezTo>
                  <a:lnTo>
                    <a:pt x="208951" y="116188"/>
                  </a:lnTo>
                  <a:cubicBezTo>
                    <a:pt x="244735" y="147470"/>
                    <a:pt x="254320" y="178113"/>
                    <a:pt x="255597" y="199180"/>
                  </a:cubicBezTo>
                  <a:cubicBezTo>
                    <a:pt x="256876" y="218971"/>
                    <a:pt x="251764" y="233654"/>
                    <a:pt x="249847" y="238761"/>
                  </a:cubicBezTo>
                  <a:cubicBezTo>
                    <a:pt x="250486" y="249614"/>
                    <a:pt x="260071" y="271958"/>
                    <a:pt x="264544" y="279618"/>
                  </a:cubicBezTo>
                  <a:cubicBezTo>
                    <a:pt x="262627" y="281534"/>
                    <a:pt x="262627" y="284087"/>
                    <a:pt x="261349" y="286002"/>
                  </a:cubicBezTo>
                  <a:close/>
                </a:path>
              </a:pathLst>
            </a:custGeom>
            <a:solidFill>
              <a:srgbClr val="007680"/>
            </a:solidFill>
            <a:ln w="6390" cap="flat">
              <a:noFill/>
              <a:prstDash val="solid"/>
              <a:miter/>
            </a:ln>
          </p:spPr>
          <p:txBody>
            <a:bodyPr rtlCol="0" anchor="ctr"/>
            <a:lstStyle/>
            <a:p>
              <a:endParaRPr lang="en-US"/>
            </a:p>
          </p:txBody>
        </p:sp>
      </p:grpSp>
      <p:sp>
        <p:nvSpPr>
          <p:cNvPr id="94" name="Text Placeholder 3">
            <a:extLst>
              <a:ext uri="{FF2B5EF4-FFF2-40B4-BE49-F238E27FC236}">
                <a16:creationId xmlns:a16="http://schemas.microsoft.com/office/drawing/2014/main" id="{1B262FCC-D8C9-4A66-907D-AAB82B03EC2C}"/>
              </a:ext>
            </a:extLst>
          </p:cNvPr>
          <p:cNvSpPr txBox="1">
            <a:spLocks/>
          </p:cNvSpPr>
          <p:nvPr/>
        </p:nvSpPr>
        <p:spPr bwMode="gray">
          <a:xfrm>
            <a:off x="635038" y="4228778"/>
            <a:ext cx="10895664" cy="516680"/>
          </a:xfrm>
          <a:prstGeom prst="rect">
            <a:avLst/>
          </a:prstGeom>
        </p:spPr>
        <p:txBody>
          <a:bodyPr vert="horz" wrap="square" lIns="0" tIns="0" rIns="0" bIns="0" rtlCol="0">
            <a:spAutoFit/>
          </a:bodyPr>
          <a:lstStyle/>
          <a:p>
            <a:pPr marL="285750" lvl="1" indent="-285750">
              <a:lnSpc>
                <a:spcPct val="150000"/>
              </a:lnSpc>
              <a:buSzPct val="100000"/>
              <a:buFont typeface="Arial" panose="020B0604020202020204" pitchFamily="34" charset="0"/>
              <a:buChar char="•"/>
              <a:defRPr/>
            </a:pPr>
            <a:r>
              <a:rPr lang="en-US" sz="1200" dirty="0">
                <a:solidFill>
                  <a:prstClr val="black"/>
                </a:solidFill>
              </a:rPr>
              <a:t>No of Agriculture Consumers in West Bengal : </a:t>
            </a:r>
            <a:r>
              <a:rPr lang="en-US" sz="1200" b="1" dirty="0">
                <a:solidFill>
                  <a:prstClr val="black"/>
                </a:solidFill>
              </a:rPr>
              <a:t>339526 Nos</a:t>
            </a:r>
          </a:p>
          <a:p>
            <a:pPr marL="285750" lvl="1" indent="-285750">
              <a:lnSpc>
                <a:spcPct val="150000"/>
              </a:lnSpc>
              <a:buSzPct val="100000"/>
              <a:buFont typeface="Arial" panose="020B0604020202020204" pitchFamily="34" charset="0"/>
              <a:buChar char="•"/>
              <a:defRPr/>
            </a:pPr>
            <a:r>
              <a:rPr lang="en-US" sz="1200" dirty="0">
                <a:solidFill>
                  <a:prstClr val="black"/>
                </a:solidFill>
              </a:rPr>
              <a:t>Consumption of Agriculture consumers in last one year: </a:t>
            </a:r>
            <a:r>
              <a:rPr lang="en-US" sz="1200" b="1" dirty="0">
                <a:solidFill>
                  <a:prstClr val="black"/>
                </a:solidFill>
              </a:rPr>
              <a:t>1378.84 MU</a:t>
            </a:r>
          </a:p>
        </p:txBody>
      </p:sp>
      <p:grpSp>
        <p:nvGrpSpPr>
          <p:cNvPr id="9" name="Group 8">
            <a:extLst>
              <a:ext uri="{FF2B5EF4-FFF2-40B4-BE49-F238E27FC236}">
                <a16:creationId xmlns:a16="http://schemas.microsoft.com/office/drawing/2014/main" id="{B4114B1E-C3EF-4A9E-AC03-26A1CF2C3895}"/>
              </a:ext>
            </a:extLst>
          </p:cNvPr>
          <p:cNvGrpSpPr/>
          <p:nvPr/>
        </p:nvGrpSpPr>
        <p:grpSpPr>
          <a:xfrm>
            <a:off x="378265" y="3886965"/>
            <a:ext cx="11409210" cy="1476914"/>
            <a:chOff x="362242" y="4937739"/>
            <a:chExt cx="11667521" cy="1476914"/>
          </a:xfrm>
        </p:grpSpPr>
        <p:sp>
          <p:nvSpPr>
            <p:cNvPr id="93" name="Snip Diagonal Corner Rectangle 162">
              <a:extLst>
                <a:ext uri="{FF2B5EF4-FFF2-40B4-BE49-F238E27FC236}">
                  <a16:creationId xmlns:a16="http://schemas.microsoft.com/office/drawing/2014/main" id="{D5E29842-123B-4CE4-A8FA-B9128CA416BC}"/>
                </a:ext>
              </a:extLst>
            </p:cNvPr>
            <p:cNvSpPr/>
            <p:nvPr/>
          </p:nvSpPr>
          <p:spPr bwMode="gray">
            <a:xfrm>
              <a:off x="362242" y="4937739"/>
              <a:ext cx="11667521" cy="326123"/>
            </a:xfrm>
            <a:prstGeom prst="snip2DiagRect">
              <a:avLst>
                <a:gd name="adj1" fmla="val 0"/>
                <a:gd name="adj2" fmla="val 35930"/>
              </a:avLst>
            </a:prstGeom>
            <a:solidFill>
              <a:srgbClr val="009A4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66675" rIns="66675" bIns="66675" rtlCol="0" anchor="ctr"/>
            <a:lstStyle/>
            <a:p>
              <a:r>
                <a:rPr lang="en-US" sz="1200" b="1" dirty="0">
                  <a:solidFill>
                    <a:prstClr val="white"/>
                  </a:solidFill>
                </a:rPr>
                <a:t>Key Statistics at a Glance</a:t>
              </a:r>
            </a:p>
          </p:txBody>
        </p:sp>
        <p:cxnSp>
          <p:nvCxnSpPr>
            <p:cNvPr id="95" name="Straight Connector 94">
              <a:extLst>
                <a:ext uri="{FF2B5EF4-FFF2-40B4-BE49-F238E27FC236}">
                  <a16:creationId xmlns:a16="http://schemas.microsoft.com/office/drawing/2014/main" id="{D6254A52-5247-4786-9B35-5659B9BB4FF6}"/>
                </a:ext>
              </a:extLst>
            </p:cNvPr>
            <p:cNvCxnSpPr>
              <a:cxnSpLocks/>
            </p:cNvCxnSpPr>
            <p:nvPr/>
          </p:nvCxnSpPr>
          <p:spPr>
            <a:xfrm>
              <a:off x="12029763" y="5151289"/>
              <a:ext cx="0" cy="1263364"/>
            </a:xfrm>
            <a:prstGeom prst="line">
              <a:avLst/>
            </a:prstGeom>
            <a:ln>
              <a:solidFill>
                <a:srgbClr val="43B02A"/>
              </a:solidFill>
              <a:tailEnd type="ova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6E35F8A5-5E87-45AB-884B-C138E20A7217}"/>
              </a:ext>
            </a:extLst>
          </p:cNvPr>
          <p:cNvGrpSpPr/>
          <p:nvPr/>
        </p:nvGrpSpPr>
        <p:grpSpPr>
          <a:xfrm>
            <a:off x="391390" y="4804173"/>
            <a:ext cx="11409210" cy="1476914"/>
            <a:chOff x="362242" y="4937739"/>
            <a:chExt cx="11667521" cy="1476914"/>
          </a:xfrm>
        </p:grpSpPr>
        <p:sp>
          <p:nvSpPr>
            <p:cNvPr id="29" name="Snip Diagonal Corner Rectangle 162">
              <a:extLst>
                <a:ext uri="{FF2B5EF4-FFF2-40B4-BE49-F238E27FC236}">
                  <a16:creationId xmlns:a16="http://schemas.microsoft.com/office/drawing/2014/main" id="{15FDCF0B-B4CF-43FB-8DC4-4CF9E62F26A8}"/>
                </a:ext>
              </a:extLst>
            </p:cNvPr>
            <p:cNvSpPr/>
            <p:nvPr/>
          </p:nvSpPr>
          <p:spPr bwMode="gray">
            <a:xfrm>
              <a:off x="362242" y="4937739"/>
              <a:ext cx="11667521" cy="326123"/>
            </a:xfrm>
            <a:prstGeom prst="snip2DiagRect">
              <a:avLst>
                <a:gd name="adj1" fmla="val 0"/>
                <a:gd name="adj2" fmla="val 35930"/>
              </a:avLst>
            </a:prstGeom>
            <a:solidFill>
              <a:srgbClr val="00768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66675" rIns="66675" bIns="66675" rtlCol="0" anchor="ctr"/>
            <a:lstStyle/>
            <a:p>
              <a:r>
                <a:rPr lang="en-US" sz="1200" b="1" dirty="0">
                  <a:solidFill>
                    <a:prstClr val="white"/>
                  </a:solidFill>
                </a:rPr>
                <a:t>Component C Progress -  West Bengal</a:t>
              </a:r>
            </a:p>
          </p:txBody>
        </p:sp>
        <p:cxnSp>
          <p:nvCxnSpPr>
            <p:cNvPr id="30" name="Straight Connector 29">
              <a:extLst>
                <a:ext uri="{FF2B5EF4-FFF2-40B4-BE49-F238E27FC236}">
                  <a16:creationId xmlns:a16="http://schemas.microsoft.com/office/drawing/2014/main" id="{3AB5DFDF-E284-4636-9A50-20C1D9BF7E07}"/>
                </a:ext>
              </a:extLst>
            </p:cNvPr>
            <p:cNvCxnSpPr>
              <a:cxnSpLocks/>
            </p:cNvCxnSpPr>
            <p:nvPr/>
          </p:nvCxnSpPr>
          <p:spPr>
            <a:xfrm>
              <a:off x="12029763" y="5151289"/>
              <a:ext cx="0" cy="1263364"/>
            </a:xfrm>
            <a:prstGeom prst="line">
              <a:avLst/>
            </a:prstGeom>
            <a:ln>
              <a:solidFill>
                <a:srgbClr val="43B02A"/>
              </a:solidFill>
              <a:tailEnd type="oval"/>
            </a:ln>
          </p:spPr>
          <p:style>
            <a:lnRef idx="1">
              <a:schemeClr val="accent1"/>
            </a:lnRef>
            <a:fillRef idx="0">
              <a:schemeClr val="accent1"/>
            </a:fillRef>
            <a:effectRef idx="0">
              <a:schemeClr val="accent1"/>
            </a:effectRef>
            <a:fontRef idx="minor">
              <a:schemeClr val="tx1"/>
            </a:fontRef>
          </p:style>
        </p:cxnSp>
      </p:grpSp>
      <p:sp>
        <p:nvSpPr>
          <p:cNvPr id="31" name="Text Placeholder 3">
            <a:extLst>
              <a:ext uri="{FF2B5EF4-FFF2-40B4-BE49-F238E27FC236}">
                <a16:creationId xmlns:a16="http://schemas.microsoft.com/office/drawing/2014/main" id="{3F472CE9-DF81-4E78-A9B9-E4F058B719F3}"/>
              </a:ext>
            </a:extLst>
          </p:cNvPr>
          <p:cNvSpPr txBox="1">
            <a:spLocks/>
          </p:cNvSpPr>
          <p:nvPr/>
        </p:nvSpPr>
        <p:spPr bwMode="gray">
          <a:xfrm>
            <a:off x="635038" y="5153702"/>
            <a:ext cx="10895664" cy="1347677"/>
          </a:xfrm>
          <a:prstGeom prst="rect">
            <a:avLst/>
          </a:prstGeom>
        </p:spPr>
        <p:txBody>
          <a:bodyPr vert="horz" wrap="square" lIns="0" tIns="0" rIns="0" bIns="0" rtlCol="0">
            <a:spAutoFit/>
          </a:bodyPr>
          <a:lstStyle/>
          <a:p>
            <a:pPr marL="285750" lvl="1" indent="-285750">
              <a:lnSpc>
                <a:spcPct val="150000"/>
              </a:lnSpc>
              <a:buSzPct val="100000"/>
              <a:buFont typeface="Arial" panose="020B0604020202020204" pitchFamily="34" charset="0"/>
              <a:buChar char="•"/>
              <a:defRPr/>
            </a:pPr>
            <a:r>
              <a:rPr lang="en-IN" sz="1200" b="1" dirty="0"/>
              <a:t>5478 Pumps </a:t>
            </a:r>
            <a:r>
              <a:rPr lang="en-IN" sz="1200" dirty="0"/>
              <a:t>sanctioned</a:t>
            </a:r>
          </a:p>
          <a:p>
            <a:pPr marL="285750" lvl="1" indent="-285750">
              <a:lnSpc>
                <a:spcPct val="150000"/>
              </a:lnSpc>
              <a:buSzPct val="100000"/>
              <a:buFont typeface="Arial" panose="020B0604020202020204" pitchFamily="34" charset="0"/>
              <a:buChar char="•"/>
              <a:defRPr/>
            </a:pPr>
            <a:r>
              <a:rPr lang="en-IN" sz="1200" dirty="0"/>
              <a:t>Tender for selection of Bidders was floated in </a:t>
            </a:r>
            <a:r>
              <a:rPr lang="en-IN" sz="1200" b="1" dirty="0"/>
              <a:t>7 packages of 100</a:t>
            </a:r>
            <a:r>
              <a:rPr lang="en-IN" sz="1200" dirty="0"/>
              <a:t> each. </a:t>
            </a:r>
          </a:p>
          <a:p>
            <a:pPr marL="285750" lvl="1" indent="-285750">
              <a:lnSpc>
                <a:spcPct val="150000"/>
              </a:lnSpc>
              <a:buSzPct val="100000"/>
              <a:buFont typeface="Arial" panose="020B0604020202020204" pitchFamily="34" charset="0"/>
              <a:buChar char="•"/>
              <a:defRPr/>
            </a:pPr>
            <a:r>
              <a:rPr lang="en-IN" sz="1200" dirty="0"/>
              <a:t>Capacity of </a:t>
            </a:r>
            <a:r>
              <a:rPr lang="en-IN" sz="1200" b="1" dirty="0"/>
              <a:t>5.25 MW</a:t>
            </a:r>
            <a:r>
              <a:rPr lang="en-IN" sz="1200" dirty="0"/>
              <a:t> with quantity 700 </a:t>
            </a:r>
            <a:r>
              <a:rPr lang="en-IN" sz="1200" dirty="0" err="1"/>
              <a:t>nos</a:t>
            </a:r>
            <a:r>
              <a:rPr lang="en-IN" sz="1200" dirty="0"/>
              <a:t> x 7.5Kwp</a:t>
            </a:r>
          </a:p>
          <a:p>
            <a:pPr marL="285750" lvl="1" indent="-285750">
              <a:lnSpc>
                <a:spcPct val="150000"/>
              </a:lnSpc>
              <a:buSzPct val="100000"/>
              <a:buFont typeface="Arial" panose="020B0604020202020204" pitchFamily="34" charset="0"/>
              <a:buChar char="•"/>
              <a:defRPr/>
            </a:pPr>
            <a:r>
              <a:rPr lang="en-IN" sz="1200" dirty="0"/>
              <a:t>10 NTPs has been issued</a:t>
            </a:r>
          </a:p>
          <a:p>
            <a:pPr marL="285750" lvl="1" indent="-285750">
              <a:lnSpc>
                <a:spcPct val="150000"/>
              </a:lnSpc>
              <a:buSzPct val="100000"/>
              <a:buFont typeface="Arial" panose="020B0604020202020204" pitchFamily="34" charset="0"/>
              <a:buChar char="•"/>
              <a:defRPr/>
            </a:pPr>
            <a:r>
              <a:rPr lang="en-IN" sz="1200" dirty="0"/>
              <a:t>Requested additional </a:t>
            </a:r>
            <a:r>
              <a:rPr lang="en-IN" sz="1200" b="1" dirty="0"/>
              <a:t>23000 nos</a:t>
            </a:r>
            <a:r>
              <a:rPr lang="en-IN" sz="1200" dirty="0"/>
              <a:t>. of pumps; </a:t>
            </a:r>
            <a:r>
              <a:rPr lang="en-IN" sz="1200" b="1" dirty="0"/>
              <a:t>4478 nos.</a:t>
            </a:r>
            <a:r>
              <a:rPr lang="en-IN" sz="1200" dirty="0"/>
              <a:t> of pumps allocated</a:t>
            </a:r>
          </a:p>
        </p:txBody>
      </p:sp>
    </p:spTree>
    <p:extLst>
      <p:ext uri="{BB962C8B-B14F-4D97-AF65-F5344CB8AC3E}">
        <p14:creationId xmlns:p14="http://schemas.microsoft.com/office/powerpoint/2010/main" val="2059713156"/>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1017"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635358" y="1691826"/>
            <a:ext cx="9630230" cy="307777"/>
          </a:xfrm>
        </p:spPr>
        <p:txBody>
          <a:bodyPr anchor="ctr" anchorCtr="0">
            <a:spAutoFit/>
          </a:bodyPr>
          <a:lstStyle/>
          <a:p>
            <a:r>
              <a:rPr lang="en-US" sz="2000" i="0" dirty="0">
                <a:solidFill>
                  <a:schemeClr val="tx1"/>
                </a:solidFill>
              </a:rPr>
              <a:t>RIDF Scheme for Agriculture Solar Pump</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68992" y="1590786"/>
            <a:ext cx="811893" cy="501149"/>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lang="en-IN" sz="1400" b="1" kern="0" dirty="0">
                <a:solidFill>
                  <a:prstClr val="white"/>
                </a:solidFill>
              </a:rPr>
              <a:t>3B</a:t>
            </a:r>
            <a:endParaRPr kumimoji="0" lang="en-IN" sz="1400" b="1" i="0" u="none" strike="noStrike" kern="0" cap="none" spc="0" normalizeH="0" baseline="0" noProof="0" dirty="0">
              <a:ln>
                <a:noFill/>
              </a:ln>
              <a:solidFill>
                <a:prstClr val="white"/>
              </a:solidFill>
              <a:effectLst/>
              <a:uLnTx/>
              <a:uFillTx/>
            </a:endParaRPr>
          </a:p>
        </p:txBody>
      </p:sp>
      <p:grpSp>
        <p:nvGrpSpPr>
          <p:cNvPr id="14" name="Group 526">
            <a:extLst>
              <a:ext uri="{FF2B5EF4-FFF2-40B4-BE49-F238E27FC236}">
                <a16:creationId xmlns:a16="http://schemas.microsoft.com/office/drawing/2014/main" id="{5540E149-1F19-4064-9714-B21FD0705489}"/>
              </a:ext>
            </a:extLst>
          </p:cNvPr>
          <p:cNvGrpSpPr>
            <a:grpSpLocks noChangeAspect="1"/>
          </p:cNvGrpSpPr>
          <p:nvPr/>
        </p:nvGrpSpPr>
        <p:grpSpPr bwMode="auto">
          <a:xfrm>
            <a:off x="1104225" y="3008313"/>
            <a:ext cx="2345264" cy="2345264"/>
            <a:chOff x="3464" y="1974"/>
            <a:chExt cx="340" cy="340"/>
          </a:xfrm>
          <a:solidFill>
            <a:srgbClr val="9CAC00"/>
          </a:solidFill>
        </p:grpSpPr>
        <p:sp>
          <p:nvSpPr>
            <p:cNvPr id="15" name="Freeform 527">
              <a:extLst>
                <a:ext uri="{FF2B5EF4-FFF2-40B4-BE49-F238E27FC236}">
                  <a16:creationId xmlns:a16="http://schemas.microsoft.com/office/drawing/2014/main" id="{2261B12D-A407-4719-9125-F49F83DDB571}"/>
                </a:ext>
              </a:extLst>
            </p:cNvPr>
            <p:cNvSpPr>
              <a:spLocks noEditPoints="1"/>
            </p:cNvSpPr>
            <p:nvPr/>
          </p:nvSpPr>
          <p:spPr bwMode="auto">
            <a:xfrm>
              <a:off x="3464" y="197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528">
              <a:extLst>
                <a:ext uri="{FF2B5EF4-FFF2-40B4-BE49-F238E27FC236}">
                  <a16:creationId xmlns:a16="http://schemas.microsoft.com/office/drawing/2014/main" id="{4FB09AB9-A79B-434D-9DE7-187BE7279860}"/>
                </a:ext>
              </a:extLst>
            </p:cNvPr>
            <p:cNvSpPr>
              <a:spLocks noEditPoints="1"/>
            </p:cNvSpPr>
            <p:nvPr/>
          </p:nvSpPr>
          <p:spPr bwMode="auto">
            <a:xfrm>
              <a:off x="3541" y="2037"/>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42146753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252922"/>
            <a:ext cx="11188700" cy="368299"/>
          </a:xfrm>
        </p:spPr>
        <p:txBody>
          <a:bodyPr vert="horz"/>
          <a:lstStyle/>
          <a:p>
            <a:pPr algn="just"/>
            <a:r>
              <a:rPr lang="en-US" sz="1800" i="0" dirty="0">
                <a:solidFill>
                  <a:schemeClr val="tx1"/>
                </a:solidFill>
              </a:rPr>
              <a:t> Review of status of schemes sanctioned under different RIDF Tranche (1/6)</a:t>
            </a:r>
          </a:p>
        </p:txBody>
      </p:sp>
      <p:graphicFrame>
        <p:nvGraphicFramePr>
          <p:cNvPr id="3" name="Table 2">
            <a:extLst>
              <a:ext uri="{FF2B5EF4-FFF2-40B4-BE49-F238E27FC236}">
                <a16:creationId xmlns:a16="http://schemas.microsoft.com/office/drawing/2014/main" id="{018A4E37-1A88-40A6-B50D-5B2C5808A35C}"/>
              </a:ext>
            </a:extLst>
          </p:cNvPr>
          <p:cNvGraphicFramePr>
            <a:graphicFrameLocks noGrp="1"/>
          </p:cNvGraphicFramePr>
          <p:nvPr>
            <p:extLst>
              <p:ext uri="{D42A27DB-BD31-4B8C-83A1-F6EECF244321}">
                <p14:modId xmlns:p14="http://schemas.microsoft.com/office/powerpoint/2010/main" val="2250227980"/>
              </p:ext>
            </p:extLst>
          </p:nvPr>
        </p:nvGraphicFramePr>
        <p:xfrm>
          <a:off x="488935" y="794658"/>
          <a:ext cx="11278522" cy="5029660"/>
        </p:xfrm>
        <a:graphic>
          <a:graphicData uri="http://schemas.openxmlformats.org/drawingml/2006/table">
            <a:tbl>
              <a:tblPr/>
              <a:tblGrid>
                <a:gridCol w="405300">
                  <a:extLst>
                    <a:ext uri="{9D8B030D-6E8A-4147-A177-3AD203B41FA5}">
                      <a16:colId xmlns:a16="http://schemas.microsoft.com/office/drawing/2014/main" val="2661012687"/>
                    </a:ext>
                  </a:extLst>
                </a:gridCol>
                <a:gridCol w="1872767">
                  <a:extLst>
                    <a:ext uri="{9D8B030D-6E8A-4147-A177-3AD203B41FA5}">
                      <a16:colId xmlns:a16="http://schemas.microsoft.com/office/drawing/2014/main" val="2159347885"/>
                    </a:ext>
                  </a:extLst>
                </a:gridCol>
                <a:gridCol w="782648">
                  <a:extLst>
                    <a:ext uri="{9D8B030D-6E8A-4147-A177-3AD203B41FA5}">
                      <a16:colId xmlns:a16="http://schemas.microsoft.com/office/drawing/2014/main" val="1102580634"/>
                    </a:ext>
                  </a:extLst>
                </a:gridCol>
                <a:gridCol w="922408">
                  <a:extLst>
                    <a:ext uri="{9D8B030D-6E8A-4147-A177-3AD203B41FA5}">
                      <a16:colId xmlns:a16="http://schemas.microsoft.com/office/drawing/2014/main" val="26390714"/>
                    </a:ext>
                  </a:extLst>
                </a:gridCol>
                <a:gridCol w="782648">
                  <a:extLst>
                    <a:ext uri="{9D8B030D-6E8A-4147-A177-3AD203B41FA5}">
                      <a16:colId xmlns:a16="http://schemas.microsoft.com/office/drawing/2014/main" val="357901547"/>
                    </a:ext>
                  </a:extLst>
                </a:gridCol>
                <a:gridCol w="670841">
                  <a:extLst>
                    <a:ext uri="{9D8B030D-6E8A-4147-A177-3AD203B41FA5}">
                      <a16:colId xmlns:a16="http://schemas.microsoft.com/office/drawing/2014/main" val="2194092264"/>
                    </a:ext>
                  </a:extLst>
                </a:gridCol>
                <a:gridCol w="1020236">
                  <a:extLst>
                    <a:ext uri="{9D8B030D-6E8A-4147-A177-3AD203B41FA5}">
                      <a16:colId xmlns:a16="http://schemas.microsoft.com/office/drawing/2014/main" val="1466573589"/>
                    </a:ext>
                  </a:extLst>
                </a:gridCol>
                <a:gridCol w="922408">
                  <a:extLst>
                    <a:ext uri="{9D8B030D-6E8A-4147-A177-3AD203B41FA5}">
                      <a16:colId xmlns:a16="http://schemas.microsoft.com/office/drawing/2014/main" val="536198917"/>
                    </a:ext>
                  </a:extLst>
                </a:gridCol>
                <a:gridCol w="1034215">
                  <a:extLst>
                    <a:ext uri="{9D8B030D-6E8A-4147-A177-3AD203B41FA5}">
                      <a16:colId xmlns:a16="http://schemas.microsoft.com/office/drawing/2014/main" val="3320299849"/>
                    </a:ext>
                  </a:extLst>
                </a:gridCol>
                <a:gridCol w="1034215">
                  <a:extLst>
                    <a:ext uri="{9D8B030D-6E8A-4147-A177-3AD203B41FA5}">
                      <a16:colId xmlns:a16="http://schemas.microsoft.com/office/drawing/2014/main" val="2422235638"/>
                    </a:ext>
                  </a:extLst>
                </a:gridCol>
                <a:gridCol w="1830836">
                  <a:extLst>
                    <a:ext uri="{9D8B030D-6E8A-4147-A177-3AD203B41FA5}">
                      <a16:colId xmlns:a16="http://schemas.microsoft.com/office/drawing/2014/main" val="3221088986"/>
                    </a:ext>
                  </a:extLst>
                </a:gridCol>
              </a:tblGrid>
              <a:tr h="914291">
                <a:tc>
                  <a:txBody>
                    <a:bodyPr/>
                    <a:lstStyle/>
                    <a:p>
                      <a:pPr algn="ctr" fontAlgn="ctr"/>
                      <a:r>
                        <a:rPr lang="en-US" sz="1000" b="1" i="0" u="none" strike="noStrike" dirty="0" err="1">
                          <a:solidFill>
                            <a:schemeClr val="bg1"/>
                          </a:solidFill>
                          <a:effectLst/>
                          <a:latin typeface="+mn-lt"/>
                        </a:rPr>
                        <a:t>Sl</a:t>
                      </a:r>
                      <a:r>
                        <a:rPr lang="en-US" sz="1000" b="1" i="0" u="none" strike="noStrike" dirty="0">
                          <a:solidFill>
                            <a:schemeClr val="bg1"/>
                          </a:solidFill>
                          <a:effectLst/>
                          <a:latin typeface="+mn-lt"/>
                        </a:rPr>
                        <a:t> No</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Name of Project</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District</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Name of the implementing Agency</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TFO</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RIDF Loan</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Awarded Cost</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Fund released in FY 2021-22</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err="1">
                          <a:solidFill>
                            <a:schemeClr val="bg1"/>
                          </a:solidFill>
                          <a:effectLst/>
                          <a:latin typeface="+mn-lt"/>
                        </a:rPr>
                        <a:t>Tranch</a:t>
                      </a:r>
                      <a:r>
                        <a:rPr lang="en-US" sz="1000" b="1" i="0" u="none" strike="noStrike" dirty="0">
                          <a:solidFill>
                            <a:schemeClr val="bg1"/>
                          </a:solidFill>
                          <a:effectLst/>
                          <a:latin typeface="+mn-lt"/>
                        </a:rPr>
                        <a:t>-wise cumulative amount disbursed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Present Physical Progress/Financial Progress (% wise)</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Reasons for non </a:t>
                      </a:r>
                      <a:r>
                        <a:rPr lang="en-US" sz="1000" b="1" i="0" u="none" strike="noStrike" dirty="0" err="1">
                          <a:solidFill>
                            <a:schemeClr val="bg1"/>
                          </a:solidFill>
                          <a:effectLst/>
                          <a:latin typeface="+mn-lt"/>
                        </a:rPr>
                        <a:t>utilisation</a:t>
                      </a:r>
                      <a:endParaRPr lang="en-US" sz="1000" b="1" i="0" u="none" strike="noStrike" dirty="0">
                        <a:solidFill>
                          <a:schemeClr val="bg1"/>
                        </a:solidFill>
                        <a:effectLst/>
                        <a:latin typeface="+mn-lt"/>
                      </a:endParaRP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extLst>
                  <a:ext uri="{0D108BD9-81ED-4DB2-BD59-A6C34878D82A}">
                    <a16:rowId xmlns:a16="http://schemas.microsoft.com/office/drawing/2014/main" val="266403682"/>
                  </a:ext>
                </a:extLst>
              </a:tr>
              <a:tr h="153381">
                <a:tc>
                  <a:txBody>
                    <a:bodyPr/>
                    <a:lstStyle/>
                    <a:p>
                      <a:pPr algn="ctr" fontAlgn="ctr"/>
                      <a:r>
                        <a:rPr lang="en-US" sz="1000" b="1" i="0" u="none" strike="noStrike">
                          <a:solidFill>
                            <a:srgbClr val="000000"/>
                          </a:solidFill>
                          <a:effectLst/>
                          <a:latin typeface="+mn-lt"/>
                        </a:rPr>
                        <a:t>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iii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iv</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v</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vi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dirty="0">
                          <a:solidFill>
                            <a:srgbClr val="000000"/>
                          </a:solidFill>
                          <a:effectLst/>
                          <a:latin typeface="+mn-lt"/>
                        </a:rPr>
                        <a:t>vii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viii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ix</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x</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xi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xv</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06098558"/>
                  </a:ext>
                </a:extLst>
              </a:tr>
              <a:tr h="914291">
                <a:tc>
                  <a:txBody>
                    <a:bodyPr/>
                    <a:lstStyle/>
                    <a:p>
                      <a:pPr algn="ctr" fontAlgn="ctr"/>
                      <a:r>
                        <a:rPr lang="en-US" sz="1000" b="0" i="0" u="none" strike="noStrike">
                          <a:solidFill>
                            <a:srgbClr val="000000"/>
                          </a:solidFill>
                          <a:effectLst/>
                          <a:latin typeface="+mn-lt"/>
                        </a:rPr>
                        <a:t>1</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dirty="0">
                          <a:solidFill>
                            <a:srgbClr val="000000"/>
                          </a:solidFill>
                          <a:effectLst/>
                          <a:latin typeface="+mn-lt"/>
                        </a:rPr>
                        <a:t>Setting up of 10 MW Teesta Canal Bank Grid Connected Solar Photo Voltaic Power Plant at block: Chopra, district: Uttar Dinajpur.</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Uttar Dinajpur</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WBSEDCL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5136.99</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4880.14</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6636</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dirty="0">
                          <a:solidFill>
                            <a:srgbClr val="000000"/>
                          </a:solidFill>
                          <a:effectLst/>
                          <a:latin typeface="+mn-lt"/>
                        </a:rPr>
                        <a:t>5136.99</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100/PCR submitted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MNRE contribution of Rs. 1500 lakh received out side NABARD contribution/ PCR submittted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59290732"/>
                  </a:ext>
                </a:extLst>
              </a:tr>
              <a:tr h="914291">
                <a:tc>
                  <a:txBody>
                    <a:bodyPr/>
                    <a:lstStyle/>
                    <a:p>
                      <a:pPr algn="ctr" fontAlgn="ctr"/>
                      <a:r>
                        <a:rPr lang="en-US" sz="1000" b="0" i="0" u="none" strike="noStrike">
                          <a:solidFill>
                            <a:srgbClr val="000000"/>
                          </a:solidFill>
                          <a:effectLst/>
                          <a:latin typeface="+mn-lt"/>
                        </a:rPr>
                        <a:t>2</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Setting    up of 10 MW Grid-connected Solar Photo Voltaic Power Plant at village: Mejia, Block: Mejia, District: Bankura.</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Bankura</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WBSEDCL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6134</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5827.30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5606.23 + 169.42 [power evacuation cost] = 5775.65</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5775.65</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dirty="0">
                          <a:solidFill>
                            <a:srgbClr val="000000"/>
                          </a:solidFill>
                          <a:effectLst/>
                          <a:latin typeface="+mn-lt"/>
                        </a:rPr>
                        <a:t>100/PCR submitted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dirty="0">
                          <a:solidFill>
                            <a:srgbClr val="000000"/>
                          </a:solidFill>
                          <a:effectLst/>
                          <a:latin typeface="+mn-lt"/>
                        </a:rPr>
                        <a:t>PCR submitted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2564719"/>
                  </a:ext>
                </a:extLst>
              </a:tr>
              <a:tr h="1066473">
                <a:tc>
                  <a:txBody>
                    <a:bodyPr/>
                    <a:lstStyle/>
                    <a:p>
                      <a:pPr algn="ctr" fontAlgn="ctr"/>
                      <a:r>
                        <a:rPr lang="en-US" sz="1000" b="0" i="0" u="none" strike="noStrike">
                          <a:solidFill>
                            <a:srgbClr val="000000"/>
                          </a:solidFill>
                          <a:effectLst/>
                          <a:latin typeface="+mn-lt"/>
                        </a:rPr>
                        <a:t>3</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Setting up of 10 MW    Grid-connected Solar Photo Voltaic Power Plant at village: Santaldih, block:    Raghunathpur- II, district: Purulia.</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Purulia</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WBSEDCL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6194</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5884.30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5660.9 + 260.26 [power evacuation cost] = 5921.16</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5921.16</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100/PCR submitted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dirty="0">
                          <a:solidFill>
                            <a:srgbClr val="000000"/>
                          </a:solidFill>
                          <a:effectLst/>
                          <a:latin typeface="+mn-lt"/>
                        </a:rPr>
                        <a:t>PCR  submitted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4698107"/>
                  </a:ext>
                </a:extLst>
              </a:tr>
              <a:tr h="1066473">
                <a:tc>
                  <a:txBody>
                    <a:bodyPr/>
                    <a:lstStyle/>
                    <a:p>
                      <a:pPr algn="ctr" fontAlgn="ctr"/>
                      <a:r>
                        <a:rPr lang="en-US" sz="1000" b="0" i="0" u="none" strike="noStrike" dirty="0">
                          <a:solidFill>
                            <a:srgbClr val="000000"/>
                          </a:solidFill>
                          <a:effectLst/>
                          <a:latin typeface="+mn-lt"/>
                        </a:rPr>
                        <a:t>4</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Setting up of 10 MW    Grid-connected Solar Photo Voltaic Power Plant at village: Chharra, block:    Purulia- II, district: Purulia.</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Purulia</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WBSEDCL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6124</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5817.80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5606.23 + 37.47 [power evacuation cost] = 5643.7</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5643.70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100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dirty="0">
                          <a:solidFill>
                            <a:srgbClr val="000000"/>
                          </a:solidFill>
                          <a:effectLst/>
                          <a:latin typeface="+mn-lt"/>
                        </a:rPr>
                        <a:t>PCR  submitted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58368565"/>
                  </a:ext>
                </a:extLst>
              </a:tr>
            </a:tbl>
          </a:graphicData>
        </a:graphic>
      </p:graphicFrame>
      <p:sp>
        <p:nvSpPr>
          <p:cNvPr id="5" name="TextBox 4">
            <a:extLst>
              <a:ext uri="{FF2B5EF4-FFF2-40B4-BE49-F238E27FC236}">
                <a16:creationId xmlns:a16="http://schemas.microsoft.com/office/drawing/2014/main" id="{954D009B-E044-4A59-A514-AE39ACDA9A1C}"/>
              </a:ext>
            </a:extLst>
          </p:cNvPr>
          <p:cNvSpPr txBox="1"/>
          <p:nvPr/>
        </p:nvSpPr>
        <p:spPr>
          <a:xfrm>
            <a:off x="7728857" y="569441"/>
            <a:ext cx="4245429" cy="276999"/>
          </a:xfrm>
          <a:prstGeom prst="rect">
            <a:avLst/>
          </a:prstGeom>
          <a:noFill/>
        </p:spPr>
        <p:txBody>
          <a:bodyPr wrap="square">
            <a:spAutoFit/>
          </a:bodyPr>
          <a:lstStyle/>
          <a:p>
            <a:r>
              <a:rPr lang="en-US" sz="1200" i="1" dirty="0"/>
              <a:t>[yellow-completed, grey-deleted, rest are ongoing]</a:t>
            </a:r>
          </a:p>
        </p:txBody>
      </p:sp>
      <p:sp>
        <p:nvSpPr>
          <p:cNvPr id="2" name="TextBox 1">
            <a:extLst>
              <a:ext uri="{FF2B5EF4-FFF2-40B4-BE49-F238E27FC236}">
                <a16:creationId xmlns:a16="http://schemas.microsoft.com/office/drawing/2014/main" id="{ED3CB60C-63C4-4625-B94D-927D4CD63C6E}"/>
              </a:ext>
            </a:extLst>
          </p:cNvPr>
          <p:cNvSpPr txBox="1"/>
          <p:nvPr/>
        </p:nvSpPr>
        <p:spPr>
          <a:xfrm>
            <a:off x="8476177" y="6113124"/>
            <a:ext cx="3496760" cy="153888"/>
          </a:xfrm>
          <a:prstGeom prst="rect">
            <a:avLst/>
          </a:prstGeom>
          <a:noFill/>
        </p:spPr>
        <p:txBody>
          <a:bodyPr wrap="square" lIns="0" tIns="0" rIns="0" bIns="0" rtlCol="0">
            <a:spAutoFit/>
          </a:bodyPr>
          <a:lstStyle/>
          <a:p>
            <a:pPr>
              <a:spcBef>
                <a:spcPts val="600"/>
              </a:spcBef>
              <a:buSzPct val="100000"/>
            </a:pPr>
            <a:r>
              <a:rPr lang="en-US" sz="1000" dirty="0">
                <a:solidFill>
                  <a:srgbClr val="313131"/>
                </a:solidFill>
              </a:rPr>
              <a:t>Source: Dept. of Power, WB, RDSS Proposal </a:t>
            </a:r>
          </a:p>
        </p:txBody>
      </p:sp>
    </p:spTree>
    <p:extLst>
      <p:ext uri="{BB962C8B-B14F-4D97-AF65-F5344CB8AC3E}">
        <p14:creationId xmlns:p14="http://schemas.microsoft.com/office/powerpoint/2010/main" val="344096528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252922"/>
            <a:ext cx="11188700" cy="368299"/>
          </a:xfrm>
        </p:spPr>
        <p:txBody>
          <a:bodyPr vert="horz"/>
          <a:lstStyle/>
          <a:p>
            <a:pPr algn="just"/>
            <a:r>
              <a:rPr lang="en-US" sz="1800" i="0" dirty="0">
                <a:solidFill>
                  <a:schemeClr val="tx1"/>
                </a:solidFill>
              </a:rPr>
              <a:t> Review of status of schemes sanctioned under different RIDF Tranche (2/6)</a:t>
            </a:r>
          </a:p>
        </p:txBody>
      </p:sp>
      <p:graphicFrame>
        <p:nvGraphicFramePr>
          <p:cNvPr id="3" name="Table 2">
            <a:extLst>
              <a:ext uri="{FF2B5EF4-FFF2-40B4-BE49-F238E27FC236}">
                <a16:creationId xmlns:a16="http://schemas.microsoft.com/office/drawing/2014/main" id="{018A4E37-1A88-40A6-B50D-5B2C5808A35C}"/>
              </a:ext>
            </a:extLst>
          </p:cNvPr>
          <p:cNvGraphicFramePr>
            <a:graphicFrameLocks noGrp="1"/>
          </p:cNvGraphicFramePr>
          <p:nvPr>
            <p:extLst>
              <p:ext uri="{D42A27DB-BD31-4B8C-83A1-F6EECF244321}">
                <p14:modId xmlns:p14="http://schemas.microsoft.com/office/powerpoint/2010/main" val="4209972504"/>
              </p:ext>
            </p:extLst>
          </p:nvPr>
        </p:nvGraphicFramePr>
        <p:xfrm>
          <a:off x="488935" y="794658"/>
          <a:ext cx="11278522" cy="3361446"/>
        </p:xfrm>
        <a:graphic>
          <a:graphicData uri="http://schemas.openxmlformats.org/drawingml/2006/table">
            <a:tbl>
              <a:tblPr/>
              <a:tblGrid>
                <a:gridCol w="405300">
                  <a:extLst>
                    <a:ext uri="{9D8B030D-6E8A-4147-A177-3AD203B41FA5}">
                      <a16:colId xmlns:a16="http://schemas.microsoft.com/office/drawing/2014/main" val="2661012687"/>
                    </a:ext>
                  </a:extLst>
                </a:gridCol>
                <a:gridCol w="1872767">
                  <a:extLst>
                    <a:ext uri="{9D8B030D-6E8A-4147-A177-3AD203B41FA5}">
                      <a16:colId xmlns:a16="http://schemas.microsoft.com/office/drawing/2014/main" val="2159347885"/>
                    </a:ext>
                  </a:extLst>
                </a:gridCol>
                <a:gridCol w="782648">
                  <a:extLst>
                    <a:ext uri="{9D8B030D-6E8A-4147-A177-3AD203B41FA5}">
                      <a16:colId xmlns:a16="http://schemas.microsoft.com/office/drawing/2014/main" val="1102580634"/>
                    </a:ext>
                  </a:extLst>
                </a:gridCol>
                <a:gridCol w="922408">
                  <a:extLst>
                    <a:ext uri="{9D8B030D-6E8A-4147-A177-3AD203B41FA5}">
                      <a16:colId xmlns:a16="http://schemas.microsoft.com/office/drawing/2014/main" val="26390714"/>
                    </a:ext>
                  </a:extLst>
                </a:gridCol>
                <a:gridCol w="782648">
                  <a:extLst>
                    <a:ext uri="{9D8B030D-6E8A-4147-A177-3AD203B41FA5}">
                      <a16:colId xmlns:a16="http://schemas.microsoft.com/office/drawing/2014/main" val="357901547"/>
                    </a:ext>
                  </a:extLst>
                </a:gridCol>
                <a:gridCol w="670841">
                  <a:extLst>
                    <a:ext uri="{9D8B030D-6E8A-4147-A177-3AD203B41FA5}">
                      <a16:colId xmlns:a16="http://schemas.microsoft.com/office/drawing/2014/main" val="2194092264"/>
                    </a:ext>
                  </a:extLst>
                </a:gridCol>
                <a:gridCol w="1020236">
                  <a:extLst>
                    <a:ext uri="{9D8B030D-6E8A-4147-A177-3AD203B41FA5}">
                      <a16:colId xmlns:a16="http://schemas.microsoft.com/office/drawing/2014/main" val="1466573589"/>
                    </a:ext>
                  </a:extLst>
                </a:gridCol>
                <a:gridCol w="922408">
                  <a:extLst>
                    <a:ext uri="{9D8B030D-6E8A-4147-A177-3AD203B41FA5}">
                      <a16:colId xmlns:a16="http://schemas.microsoft.com/office/drawing/2014/main" val="536198917"/>
                    </a:ext>
                  </a:extLst>
                </a:gridCol>
                <a:gridCol w="1034215">
                  <a:extLst>
                    <a:ext uri="{9D8B030D-6E8A-4147-A177-3AD203B41FA5}">
                      <a16:colId xmlns:a16="http://schemas.microsoft.com/office/drawing/2014/main" val="3320299849"/>
                    </a:ext>
                  </a:extLst>
                </a:gridCol>
                <a:gridCol w="1034215">
                  <a:extLst>
                    <a:ext uri="{9D8B030D-6E8A-4147-A177-3AD203B41FA5}">
                      <a16:colId xmlns:a16="http://schemas.microsoft.com/office/drawing/2014/main" val="2422235638"/>
                    </a:ext>
                  </a:extLst>
                </a:gridCol>
                <a:gridCol w="1830836">
                  <a:extLst>
                    <a:ext uri="{9D8B030D-6E8A-4147-A177-3AD203B41FA5}">
                      <a16:colId xmlns:a16="http://schemas.microsoft.com/office/drawing/2014/main" val="3221088986"/>
                    </a:ext>
                  </a:extLst>
                </a:gridCol>
              </a:tblGrid>
              <a:tr h="235605">
                <a:tc>
                  <a:txBody>
                    <a:bodyPr/>
                    <a:lstStyle/>
                    <a:p>
                      <a:pPr algn="ctr" fontAlgn="ctr"/>
                      <a:r>
                        <a:rPr lang="en-US" sz="1000" b="1" i="0" u="none" strike="noStrike" dirty="0" err="1">
                          <a:solidFill>
                            <a:schemeClr val="bg1"/>
                          </a:solidFill>
                          <a:effectLst/>
                          <a:latin typeface="+mn-lt"/>
                        </a:rPr>
                        <a:t>Sl</a:t>
                      </a:r>
                      <a:r>
                        <a:rPr lang="en-US" sz="1000" b="1" i="0" u="none" strike="noStrike" dirty="0">
                          <a:solidFill>
                            <a:schemeClr val="bg1"/>
                          </a:solidFill>
                          <a:effectLst/>
                          <a:latin typeface="+mn-lt"/>
                        </a:rPr>
                        <a:t> No</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Name of Project</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District</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Name of the implementing Agency</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TFO</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RIDF Loan</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Awarded Cost</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Fund released in FY 2021-22</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err="1">
                          <a:solidFill>
                            <a:schemeClr val="bg1"/>
                          </a:solidFill>
                          <a:effectLst/>
                          <a:latin typeface="+mn-lt"/>
                        </a:rPr>
                        <a:t>Tranch</a:t>
                      </a:r>
                      <a:r>
                        <a:rPr lang="en-US" sz="1000" b="1" i="0" u="none" strike="noStrike" dirty="0">
                          <a:solidFill>
                            <a:schemeClr val="bg1"/>
                          </a:solidFill>
                          <a:effectLst/>
                          <a:latin typeface="+mn-lt"/>
                        </a:rPr>
                        <a:t>-wise cumulative amount disbursed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Present Physical Progress/Financial Progress (% wise)</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Reasons for non </a:t>
                      </a:r>
                      <a:r>
                        <a:rPr lang="en-US" sz="1000" b="1" i="0" u="none" strike="noStrike" dirty="0" err="1">
                          <a:solidFill>
                            <a:schemeClr val="bg1"/>
                          </a:solidFill>
                          <a:effectLst/>
                          <a:latin typeface="+mn-lt"/>
                        </a:rPr>
                        <a:t>utilisation</a:t>
                      </a:r>
                      <a:endParaRPr lang="en-US" sz="1000" b="1" i="0" u="none" strike="noStrike" dirty="0">
                        <a:solidFill>
                          <a:schemeClr val="bg1"/>
                        </a:solidFill>
                        <a:effectLst/>
                        <a:latin typeface="+mn-lt"/>
                      </a:endParaRP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extLst>
                  <a:ext uri="{0D108BD9-81ED-4DB2-BD59-A6C34878D82A}">
                    <a16:rowId xmlns:a16="http://schemas.microsoft.com/office/drawing/2014/main" val="266403682"/>
                  </a:ext>
                </a:extLst>
              </a:tr>
              <a:tr h="49511">
                <a:tc>
                  <a:txBody>
                    <a:bodyPr/>
                    <a:lstStyle/>
                    <a:p>
                      <a:pPr algn="ctr" fontAlgn="ctr"/>
                      <a:r>
                        <a:rPr lang="en-US" sz="1000" b="1" i="0" u="none" strike="noStrike">
                          <a:solidFill>
                            <a:srgbClr val="000000"/>
                          </a:solidFill>
                          <a:effectLst/>
                          <a:latin typeface="+mn-lt"/>
                        </a:rPr>
                        <a:t>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iii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iv</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v</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vi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vii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viii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ix</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x</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xi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xv</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06098558"/>
                  </a:ext>
                </a:extLst>
              </a:tr>
              <a:tr h="49511">
                <a:tc gridSpan="4">
                  <a:txBody>
                    <a:bodyPr/>
                    <a:lstStyle/>
                    <a:p>
                      <a:pPr algn="ctr" fontAlgn="ctr"/>
                      <a:r>
                        <a:rPr lang="en-US" sz="1000" b="1" i="0" u="none" strike="noStrike" dirty="0">
                          <a:solidFill>
                            <a:srgbClr val="000000"/>
                          </a:solidFill>
                          <a:effectLst/>
                          <a:latin typeface="+mn-lt"/>
                        </a:rPr>
                        <a:t>Sub-Total [Tranche XXI]</a:t>
                      </a:r>
                    </a:p>
                  </a:txBody>
                  <a:tcPr marL="1441" marR="1441" marT="144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r>
                        <a:rPr lang="en-US" sz="1000" b="1" i="0" u="none" strike="noStrike">
                          <a:solidFill>
                            <a:srgbClr val="000000"/>
                          </a:solidFill>
                          <a:effectLst/>
                          <a:latin typeface="+mn-lt"/>
                        </a:rPr>
                        <a:t>23588.99</a:t>
                      </a:r>
                    </a:p>
                  </a:txBody>
                  <a:tcPr marL="1441" marR="1441" marT="144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22409.54</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dirty="0">
                          <a:solidFill>
                            <a:srgbClr val="000000"/>
                          </a:solidFill>
                          <a:effectLst/>
                          <a:latin typeface="+mn-lt"/>
                        </a:rPr>
                        <a:t>23976.51</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1" i="0" u="none" strike="noStrike">
                          <a:solidFill>
                            <a:srgbClr val="000000"/>
                          </a:solidFill>
                          <a:effectLst/>
                          <a:latin typeface="+mn-lt"/>
                        </a:rPr>
                        <a:t>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22477.50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1" i="0" u="none" strike="noStrike">
                          <a:solidFill>
                            <a:srgbClr val="000000"/>
                          </a:solidFill>
                          <a:effectLst/>
                          <a:latin typeface="+mn-lt"/>
                        </a:rPr>
                        <a:t>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1" i="0" u="none" strike="noStrike" dirty="0">
                          <a:solidFill>
                            <a:srgbClr val="000000"/>
                          </a:solidFill>
                          <a:effectLst/>
                          <a:latin typeface="+mn-lt"/>
                        </a:rPr>
                        <a:t>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39868694"/>
                  </a:ext>
                </a:extLst>
              </a:tr>
              <a:tr h="217679">
                <a:tc>
                  <a:txBody>
                    <a:bodyPr/>
                    <a:lstStyle/>
                    <a:p>
                      <a:pPr algn="ctr" fontAlgn="ctr"/>
                      <a:r>
                        <a:rPr lang="en-US" sz="1000" b="0" i="0" u="none" strike="noStrike">
                          <a:solidFill>
                            <a:srgbClr val="000000"/>
                          </a:solidFill>
                          <a:effectLst/>
                          <a:latin typeface="+mn-lt"/>
                        </a:rPr>
                        <a:t>5</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dirty="0">
                          <a:solidFill>
                            <a:srgbClr val="000000"/>
                          </a:solidFill>
                          <a:effectLst/>
                          <a:latin typeface="+mn-lt"/>
                        </a:rPr>
                        <a:t>Setting up of 10 MW  Grid Connected Solar Photo Voltaic Power Plant at </a:t>
                      </a:r>
                      <a:r>
                        <a:rPr lang="en-US" sz="1000" b="0" i="0" u="none" strike="noStrike" dirty="0" err="1">
                          <a:solidFill>
                            <a:srgbClr val="000000"/>
                          </a:solidFill>
                          <a:effectLst/>
                          <a:latin typeface="+mn-lt"/>
                        </a:rPr>
                        <a:t>Khemasuli</a:t>
                      </a:r>
                      <a:r>
                        <a:rPr lang="en-US" sz="1000" b="0" i="0" u="none" strike="noStrike" dirty="0">
                          <a:solidFill>
                            <a:srgbClr val="000000"/>
                          </a:solidFill>
                          <a:effectLst/>
                          <a:latin typeface="+mn-lt"/>
                        </a:rPr>
                        <a:t>, Kharagpur-I, Paschim Medinipur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Paschim Medinipur</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WBSEDCL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6017.86</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5716.97</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4472.80 + 121.045 [power evacuation]= 4593.845</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dirty="0">
                          <a:solidFill>
                            <a:srgbClr val="000000"/>
                          </a:solidFill>
                          <a:effectLst/>
                          <a:latin typeface="+mn-lt"/>
                        </a:rPr>
                        <a:t>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dirty="0">
                          <a:solidFill>
                            <a:srgbClr val="000000"/>
                          </a:solidFill>
                          <a:effectLst/>
                          <a:latin typeface="+mn-lt"/>
                        </a:rPr>
                        <a:t>4593.87</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dirty="0">
                          <a:solidFill>
                            <a:srgbClr val="000000"/>
                          </a:solidFill>
                          <a:effectLst/>
                          <a:latin typeface="+mn-lt"/>
                        </a:rPr>
                        <a:t>100/PCR submitted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dirty="0">
                          <a:solidFill>
                            <a:srgbClr val="000000"/>
                          </a:solidFill>
                          <a:effectLst/>
                          <a:latin typeface="+mn-lt"/>
                        </a:rPr>
                        <a:t>PCR submitted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277415"/>
                  </a:ext>
                </a:extLst>
              </a:tr>
              <a:tr h="199752">
                <a:tc>
                  <a:txBody>
                    <a:bodyPr/>
                    <a:lstStyle/>
                    <a:p>
                      <a:pPr algn="ctr" fontAlgn="ctr"/>
                      <a:r>
                        <a:rPr lang="en-US" sz="1000" b="0" i="0" u="none" strike="noStrike">
                          <a:solidFill>
                            <a:srgbClr val="000000"/>
                          </a:solidFill>
                          <a:effectLst/>
                          <a:latin typeface="+mn-lt"/>
                        </a:rPr>
                        <a:t>6</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Setting up of 10 MW  Grid Connected Solar Photo Voltaic Power Plant at Salbani, Paschim Medinipur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Paschim Medinipur</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WBSEDCL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6000.66</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5700.63</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4462.80 + 67.437 [power evacuation cost] = 4530.237</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4530.24</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dirty="0">
                          <a:solidFill>
                            <a:srgbClr val="000000"/>
                          </a:solidFill>
                          <a:effectLst/>
                          <a:latin typeface="+mn-lt"/>
                        </a:rPr>
                        <a:t>100/PCR submitted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dirty="0">
                          <a:solidFill>
                            <a:srgbClr val="000000"/>
                          </a:solidFill>
                          <a:effectLst/>
                          <a:latin typeface="+mn-lt"/>
                        </a:rPr>
                        <a:t>PCR </a:t>
                      </a:r>
                      <a:r>
                        <a:rPr lang="en-US" sz="1000" b="1" i="0" u="none" strike="noStrike" dirty="0" err="1">
                          <a:solidFill>
                            <a:srgbClr val="000000"/>
                          </a:solidFill>
                          <a:effectLst/>
                          <a:latin typeface="+mn-lt"/>
                        </a:rPr>
                        <a:t>submittted</a:t>
                      </a:r>
                      <a:endParaRPr lang="en-US" sz="1000" b="1" i="0" u="none" strike="noStrike" dirty="0">
                        <a:solidFill>
                          <a:srgbClr val="000000"/>
                        </a:solidFill>
                        <a:effectLst/>
                        <a:latin typeface="+mn-lt"/>
                      </a:endParaRP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4523264"/>
                  </a:ext>
                </a:extLst>
              </a:tr>
              <a:tr h="189509">
                <a:tc>
                  <a:txBody>
                    <a:bodyPr/>
                    <a:lstStyle/>
                    <a:p>
                      <a:pPr algn="ctr" fontAlgn="ctr"/>
                      <a:r>
                        <a:rPr lang="en-US" sz="1000" b="0" i="0" u="none" strike="noStrike">
                          <a:solidFill>
                            <a:srgbClr val="000000"/>
                          </a:solidFill>
                          <a:effectLst/>
                          <a:latin typeface="+mn-lt"/>
                        </a:rPr>
                        <a:t>7</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dirty="0">
                          <a:solidFill>
                            <a:srgbClr val="000000"/>
                          </a:solidFill>
                          <a:effectLst/>
                          <a:latin typeface="+mn-lt"/>
                        </a:rPr>
                        <a:t>Setting up of  canal top 10 MW  Grid Connected Solar Photo Voltaic Power Plant at </a:t>
                      </a:r>
                      <a:r>
                        <a:rPr lang="en-US" sz="1000" b="0" i="0" u="none" strike="noStrike" dirty="0" err="1">
                          <a:solidFill>
                            <a:srgbClr val="000000"/>
                          </a:solidFill>
                          <a:effectLst/>
                          <a:latin typeface="+mn-lt"/>
                        </a:rPr>
                        <a:t>Haftiagacch</a:t>
                      </a:r>
                      <a:r>
                        <a:rPr lang="en-US" sz="1000" b="0" i="0" u="none" strike="noStrike" dirty="0">
                          <a:solidFill>
                            <a:srgbClr val="000000"/>
                          </a:solidFill>
                          <a:effectLst/>
                          <a:latin typeface="+mn-lt"/>
                        </a:rPr>
                        <a:t>, Uttar Dinajpur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Uttar Dinajpur</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WBSEDCL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8835.11</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6184.57</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8449.08 + Evacuation</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270.21</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6184.57</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100/PCR submitted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dirty="0">
                          <a:solidFill>
                            <a:srgbClr val="000000"/>
                          </a:solidFill>
                          <a:effectLst/>
                          <a:latin typeface="+mn-lt"/>
                        </a:rPr>
                        <a:t>PCR submitted.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3568584"/>
                  </a:ext>
                </a:extLst>
              </a:tr>
            </a:tbl>
          </a:graphicData>
        </a:graphic>
      </p:graphicFrame>
      <p:sp>
        <p:nvSpPr>
          <p:cNvPr id="12" name="TextBox 11">
            <a:extLst>
              <a:ext uri="{FF2B5EF4-FFF2-40B4-BE49-F238E27FC236}">
                <a16:creationId xmlns:a16="http://schemas.microsoft.com/office/drawing/2014/main" id="{1A425942-B716-48F4-818B-A62BAC51A9A6}"/>
              </a:ext>
            </a:extLst>
          </p:cNvPr>
          <p:cNvSpPr txBox="1"/>
          <p:nvPr/>
        </p:nvSpPr>
        <p:spPr>
          <a:xfrm>
            <a:off x="7728857" y="569441"/>
            <a:ext cx="4245429" cy="276999"/>
          </a:xfrm>
          <a:prstGeom prst="rect">
            <a:avLst/>
          </a:prstGeom>
          <a:noFill/>
        </p:spPr>
        <p:txBody>
          <a:bodyPr wrap="square">
            <a:spAutoFit/>
          </a:bodyPr>
          <a:lstStyle/>
          <a:p>
            <a:r>
              <a:rPr lang="en-US" sz="1200" i="1" dirty="0"/>
              <a:t>[yellow-completed, grey-deleted, rest are ongoing]</a:t>
            </a:r>
          </a:p>
        </p:txBody>
      </p:sp>
      <p:sp>
        <p:nvSpPr>
          <p:cNvPr id="5" name="TextBox 4">
            <a:extLst>
              <a:ext uri="{FF2B5EF4-FFF2-40B4-BE49-F238E27FC236}">
                <a16:creationId xmlns:a16="http://schemas.microsoft.com/office/drawing/2014/main" id="{E1115943-13C6-4A4E-B150-EF0C91F2E4C7}"/>
              </a:ext>
            </a:extLst>
          </p:cNvPr>
          <p:cNvSpPr txBox="1"/>
          <p:nvPr/>
        </p:nvSpPr>
        <p:spPr>
          <a:xfrm>
            <a:off x="8476177" y="6113124"/>
            <a:ext cx="3496760" cy="153888"/>
          </a:xfrm>
          <a:prstGeom prst="rect">
            <a:avLst/>
          </a:prstGeom>
          <a:noFill/>
        </p:spPr>
        <p:txBody>
          <a:bodyPr wrap="square" lIns="0" tIns="0" rIns="0" bIns="0" rtlCol="0">
            <a:spAutoFit/>
          </a:bodyPr>
          <a:lstStyle/>
          <a:p>
            <a:pPr>
              <a:spcBef>
                <a:spcPts val="600"/>
              </a:spcBef>
              <a:buSzPct val="100000"/>
            </a:pPr>
            <a:r>
              <a:rPr lang="en-US" sz="1000" dirty="0">
                <a:solidFill>
                  <a:srgbClr val="313131"/>
                </a:solidFill>
              </a:rPr>
              <a:t>Source: Dept. of Power, WB, RDSS Proposal </a:t>
            </a:r>
          </a:p>
        </p:txBody>
      </p:sp>
    </p:spTree>
    <p:extLst>
      <p:ext uri="{BB962C8B-B14F-4D97-AF65-F5344CB8AC3E}">
        <p14:creationId xmlns:p14="http://schemas.microsoft.com/office/powerpoint/2010/main" val="18085267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252922"/>
            <a:ext cx="11188700" cy="368299"/>
          </a:xfrm>
        </p:spPr>
        <p:txBody>
          <a:bodyPr vert="horz"/>
          <a:lstStyle/>
          <a:p>
            <a:pPr algn="just"/>
            <a:r>
              <a:rPr lang="en-US" sz="1800" i="0" dirty="0">
                <a:solidFill>
                  <a:schemeClr val="tx1"/>
                </a:solidFill>
              </a:rPr>
              <a:t> Review of status of schemes sanctioned under different RIDF Tranche (3/6)</a:t>
            </a:r>
          </a:p>
        </p:txBody>
      </p:sp>
      <p:graphicFrame>
        <p:nvGraphicFramePr>
          <p:cNvPr id="3" name="Table 2">
            <a:extLst>
              <a:ext uri="{FF2B5EF4-FFF2-40B4-BE49-F238E27FC236}">
                <a16:creationId xmlns:a16="http://schemas.microsoft.com/office/drawing/2014/main" id="{018A4E37-1A88-40A6-B50D-5B2C5808A35C}"/>
              </a:ext>
            </a:extLst>
          </p:cNvPr>
          <p:cNvGraphicFramePr>
            <a:graphicFrameLocks noGrp="1"/>
          </p:cNvGraphicFramePr>
          <p:nvPr>
            <p:extLst>
              <p:ext uri="{D42A27DB-BD31-4B8C-83A1-F6EECF244321}">
                <p14:modId xmlns:p14="http://schemas.microsoft.com/office/powerpoint/2010/main" val="3096115867"/>
              </p:ext>
            </p:extLst>
          </p:nvPr>
        </p:nvGraphicFramePr>
        <p:xfrm>
          <a:off x="488935" y="794658"/>
          <a:ext cx="11278522" cy="4330627"/>
        </p:xfrm>
        <a:graphic>
          <a:graphicData uri="http://schemas.openxmlformats.org/drawingml/2006/table">
            <a:tbl>
              <a:tblPr/>
              <a:tblGrid>
                <a:gridCol w="405300">
                  <a:extLst>
                    <a:ext uri="{9D8B030D-6E8A-4147-A177-3AD203B41FA5}">
                      <a16:colId xmlns:a16="http://schemas.microsoft.com/office/drawing/2014/main" val="2661012687"/>
                    </a:ext>
                  </a:extLst>
                </a:gridCol>
                <a:gridCol w="1872767">
                  <a:extLst>
                    <a:ext uri="{9D8B030D-6E8A-4147-A177-3AD203B41FA5}">
                      <a16:colId xmlns:a16="http://schemas.microsoft.com/office/drawing/2014/main" val="2159347885"/>
                    </a:ext>
                  </a:extLst>
                </a:gridCol>
                <a:gridCol w="782648">
                  <a:extLst>
                    <a:ext uri="{9D8B030D-6E8A-4147-A177-3AD203B41FA5}">
                      <a16:colId xmlns:a16="http://schemas.microsoft.com/office/drawing/2014/main" val="1102580634"/>
                    </a:ext>
                  </a:extLst>
                </a:gridCol>
                <a:gridCol w="922408">
                  <a:extLst>
                    <a:ext uri="{9D8B030D-6E8A-4147-A177-3AD203B41FA5}">
                      <a16:colId xmlns:a16="http://schemas.microsoft.com/office/drawing/2014/main" val="26390714"/>
                    </a:ext>
                  </a:extLst>
                </a:gridCol>
                <a:gridCol w="782648">
                  <a:extLst>
                    <a:ext uri="{9D8B030D-6E8A-4147-A177-3AD203B41FA5}">
                      <a16:colId xmlns:a16="http://schemas.microsoft.com/office/drawing/2014/main" val="357901547"/>
                    </a:ext>
                  </a:extLst>
                </a:gridCol>
                <a:gridCol w="670841">
                  <a:extLst>
                    <a:ext uri="{9D8B030D-6E8A-4147-A177-3AD203B41FA5}">
                      <a16:colId xmlns:a16="http://schemas.microsoft.com/office/drawing/2014/main" val="2194092264"/>
                    </a:ext>
                  </a:extLst>
                </a:gridCol>
                <a:gridCol w="1020236">
                  <a:extLst>
                    <a:ext uri="{9D8B030D-6E8A-4147-A177-3AD203B41FA5}">
                      <a16:colId xmlns:a16="http://schemas.microsoft.com/office/drawing/2014/main" val="1466573589"/>
                    </a:ext>
                  </a:extLst>
                </a:gridCol>
                <a:gridCol w="922408">
                  <a:extLst>
                    <a:ext uri="{9D8B030D-6E8A-4147-A177-3AD203B41FA5}">
                      <a16:colId xmlns:a16="http://schemas.microsoft.com/office/drawing/2014/main" val="536198917"/>
                    </a:ext>
                  </a:extLst>
                </a:gridCol>
                <a:gridCol w="1034215">
                  <a:extLst>
                    <a:ext uri="{9D8B030D-6E8A-4147-A177-3AD203B41FA5}">
                      <a16:colId xmlns:a16="http://schemas.microsoft.com/office/drawing/2014/main" val="3320299849"/>
                    </a:ext>
                  </a:extLst>
                </a:gridCol>
                <a:gridCol w="1034215">
                  <a:extLst>
                    <a:ext uri="{9D8B030D-6E8A-4147-A177-3AD203B41FA5}">
                      <a16:colId xmlns:a16="http://schemas.microsoft.com/office/drawing/2014/main" val="2422235638"/>
                    </a:ext>
                  </a:extLst>
                </a:gridCol>
                <a:gridCol w="1830836">
                  <a:extLst>
                    <a:ext uri="{9D8B030D-6E8A-4147-A177-3AD203B41FA5}">
                      <a16:colId xmlns:a16="http://schemas.microsoft.com/office/drawing/2014/main" val="3221088986"/>
                    </a:ext>
                  </a:extLst>
                </a:gridCol>
              </a:tblGrid>
              <a:tr h="235605">
                <a:tc>
                  <a:txBody>
                    <a:bodyPr/>
                    <a:lstStyle/>
                    <a:p>
                      <a:pPr algn="ctr" fontAlgn="ctr"/>
                      <a:r>
                        <a:rPr lang="en-US" sz="1050" b="1" i="0" u="none" strike="noStrike" dirty="0" err="1">
                          <a:solidFill>
                            <a:schemeClr val="bg1"/>
                          </a:solidFill>
                          <a:effectLst/>
                          <a:latin typeface="+mn-lt"/>
                        </a:rPr>
                        <a:t>Sl</a:t>
                      </a:r>
                      <a:r>
                        <a:rPr lang="en-US" sz="1050" b="1" i="0" u="none" strike="noStrike" dirty="0">
                          <a:solidFill>
                            <a:schemeClr val="bg1"/>
                          </a:solidFill>
                          <a:effectLst/>
                          <a:latin typeface="+mn-lt"/>
                        </a:rPr>
                        <a:t> no</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50" b="1" i="0" u="none" strike="noStrike" dirty="0">
                          <a:solidFill>
                            <a:schemeClr val="bg1"/>
                          </a:solidFill>
                          <a:effectLst/>
                          <a:latin typeface="+mn-lt"/>
                        </a:rPr>
                        <a:t>Name of Project</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50" b="1" i="0" u="none" strike="noStrike" dirty="0">
                          <a:solidFill>
                            <a:schemeClr val="bg1"/>
                          </a:solidFill>
                          <a:effectLst/>
                          <a:latin typeface="+mn-lt"/>
                        </a:rPr>
                        <a:t>District</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50" b="1" i="0" u="none" strike="noStrike" dirty="0">
                          <a:solidFill>
                            <a:schemeClr val="bg1"/>
                          </a:solidFill>
                          <a:effectLst/>
                          <a:latin typeface="+mn-lt"/>
                        </a:rPr>
                        <a:t>Name of the implementing Agency</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50" b="1" i="0" u="none" strike="noStrike" dirty="0">
                          <a:solidFill>
                            <a:schemeClr val="bg1"/>
                          </a:solidFill>
                          <a:effectLst/>
                          <a:latin typeface="+mn-lt"/>
                        </a:rPr>
                        <a:t>TFO</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50" b="1" i="0" u="none" strike="noStrike" dirty="0">
                          <a:solidFill>
                            <a:schemeClr val="bg1"/>
                          </a:solidFill>
                          <a:effectLst/>
                          <a:latin typeface="+mn-lt"/>
                        </a:rPr>
                        <a:t>RIDF Loan</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50" b="1" i="0" u="none" strike="noStrike" dirty="0">
                          <a:solidFill>
                            <a:schemeClr val="bg1"/>
                          </a:solidFill>
                          <a:effectLst/>
                          <a:latin typeface="+mn-lt"/>
                        </a:rPr>
                        <a:t>Awarded Cost</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50" b="1" i="0" u="none" strike="noStrike" dirty="0">
                          <a:solidFill>
                            <a:schemeClr val="bg1"/>
                          </a:solidFill>
                          <a:effectLst/>
                          <a:latin typeface="+mn-lt"/>
                        </a:rPr>
                        <a:t>Fund released in FY 2021-22</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50" b="1" i="0" u="none" strike="noStrike" dirty="0" err="1">
                          <a:solidFill>
                            <a:schemeClr val="bg1"/>
                          </a:solidFill>
                          <a:effectLst/>
                          <a:latin typeface="+mn-lt"/>
                        </a:rPr>
                        <a:t>Tranch</a:t>
                      </a:r>
                      <a:r>
                        <a:rPr lang="en-US" sz="1050" b="1" i="0" u="none" strike="noStrike" dirty="0">
                          <a:solidFill>
                            <a:schemeClr val="bg1"/>
                          </a:solidFill>
                          <a:effectLst/>
                          <a:latin typeface="+mn-lt"/>
                        </a:rPr>
                        <a:t>-wise cumulative amount disbursed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50" b="1" i="0" u="none" strike="noStrike" dirty="0">
                          <a:solidFill>
                            <a:schemeClr val="bg1"/>
                          </a:solidFill>
                          <a:effectLst/>
                          <a:latin typeface="+mn-lt"/>
                        </a:rPr>
                        <a:t>Present Physical Progress/Financial Progress (% wise)</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50" b="1" i="0" u="none" strike="noStrike" dirty="0">
                          <a:solidFill>
                            <a:schemeClr val="bg1"/>
                          </a:solidFill>
                          <a:effectLst/>
                          <a:latin typeface="+mn-lt"/>
                        </a:rPr>
                        <a:t>Reasons for non </a:t>
                      </a:r>
                      <a:r>
                        <a:rPr lang="en-US" sz="1050" b="1" i="0" u="none" strike="noStrike" dirty="0" err="1">
                          <a:solidFill>
                            <a:schemeClr val="bg1"/>
                          </a:solidFill>
                          <a:effectLst/>
                          <a:latin typeface="+mn-lt"/>
                        </a:rPr>
                        <a:t>utilisation</a:t>
                      </a:r>
                      <a:endParaRPr lang="en-US" sz="1050" b="1" i="0" u="none" strike="noStrike" dirty="0">
                        <a:solidFill>
                          <a:schemeClr val="bg1"/>
                        </a:solidFill>
                        <a:effectLst/>
                        <a:latin typeface="+mn-lt"/>
                      </a:endParaRP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extLst>
                  <a:ext uri="{0D108BD9-81ED-4DB2-BD59-A6C34878D82A}">
                    <a16:rowId xmlns:a16="http://schemas.microsoft.com/office/drawing/2014/main" val="266403682"/>
                  </a:ext>
                </a:extLst>
              </a:tr>
              <a:tr h="49511">
                <a:tc>
                  <a:txBody>
                    <a:bodyPr/>
                    <a:lstStyle/>
                    <a:p>
                      <a:pPr algn="ctr" fontAlgn="ctr"/>
                      <a:r>
                        <a:rPr lang="en-US" sz="1050" b="1" i="0" u="none" strike="noStrike">
                          <a:solidFill>
                            <a:srgbClr val="000000"/>
                          </a:solidFill>
                          <a:effectLst/>
                          <a:latin typeface="+mn-lt"/>
                        </a:rPr>
                        <a:t>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mn-lt"/>
                        </a:rPr>
                        <a:t>iii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mn-lt"/>
                        </a:rPr>
                        <a:t>iv</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mn-lt"/>
                        </a:rPr>
                        <a:t>v</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mn-lt"/>
                        </a:rPr>
                        <a:t>vi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mn-lt"/>
                        </a:rPr>
                        <a:t>vii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mn-lt"/>
                        </a:rPr>
                        <a:t>viii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mn-lt"/>
                        </a:rPr>
                        <a:t>ix</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mn-lt"/>
                        </a:rPr>
                        <a:t>x</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mn-lt"/>
                        </a:rPr>
                        <a:t>xi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mn-lt"/>
                        </a:rPr>
                        <a:t>xv</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6098558"/>
                  </a:ext>
                </a:extLst>
              </a:tr>
              <a:tr h="192070">
                <a:tc>
                  <a:txBody>
                    <a:bodyPr/>
                    <a:lstStyle/>
                    <a:p>
                      <a:pPr algn="ctr" fontAlgn="ctr"/>
                      <a:r>
                        <a:rPr lang="en-US" sz="1050" b="0" i="0" u="none" strike="noStrike" dirty="0">
                          <a:solidFill>
                            <a:srgbClr val="000000"/>
                          </a:solidFill>
                          <a:effectLst/>
                          <a:latin typeface="+mn-lt"/>
                        </a:rPr>
                        <a:t>8</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dirty="0">
                          <a:solidFill>
                            <a:srgbClr val="000000"/>
                          </a:solidFill>
                          <a:effectLst/>
                          <a:latin typeface="+mn-lt"/>
                        </a:rPr>
                        <a:t>Setting up of 10 MW Solar Photo Voltaic Power Plant    (Grid-connected) at villages: </a:t>
                      </a:r>
                      <a:r>
                        <a:rPr lang="en-US" sz="1050" b="0" i="0" u="none" strike="noStrike" dirty="0" err="1">
                          <a:solidFill>
                            <a:srgbClr val="000000"/>
                          </a:solidFill>
                          <a:effectLst/>
                          <a:latin typeface="+mn-lt"/>
                        </a:rPr>
                        <a:t>Atna</a:t>
                      </a:r>
                      <a:r>
                        <a:rPr lang="en-US" sz="1050" b="0" i="0" u="none" strike="noStrike" dirty="0">
                          <a:solidFill>
                            <a:srgbClr val="000000"/>
                          </a:solidFill>
                          <a:effectLst/>
                          <a:latin typeface="+mn-lt"/>
                        </a:rPr>
                        <a:t> &amp; </a:t>
                      </a:r>
                      <a:r>
                        <a:rPr lang="en-US" sz="1050" b="0" i="0" u="none" strike="noStrike" dirty="0" err="1">
                          <a:solidFill>
                            <a:srgbClr val="000000"/>
                          </a:solidFill>
                          <a:effectLst/>
                          <a:latin typeface="+mn-lt"/>
                        </a:rPr>
                        <a:t>Icchamara</a:t>
                      </a:r>
                      <a:r>
                        <a:rPr lang="en-US" sz="1050" b="0" i="0" u="none" strike="noStrike" dirty="0">
                          <a:solidFill>
                            <a:srgbClr val="000000"/>
                          </a:solidFill>
                          <a:effectLst/>
                          <a:latin typeface="+mn-lt"/>
                        </a:rPr>
                        <a:t> block: </a:t>
                      </a:r>
                      <a:r>
                        <a:rPr lang="en-US" sz="1050" b="0" i="0" u="none" strike="noStrike" dirty="0" err="1">
                          <a:solidFill>
                            <a:srgbClr val="000000"/>
                          </a:solidFill>
                          <a:effectLst/>
                          <a:latin typeface="+mn-lt"/>
                        </a:rPr>
                        <a:t>Bagmundi</a:t>
                      </a:r>
                      <a:r>
                        <a:rPr lang="en-US" sz="1050" b="0" i="0" u="none" strike="noStrike" dirty="0">
                          <a:solidFill>
                            <a:srgbClr val="000000"/>
                          </a:solidFill>
                          <a:effectLst/>
                          <a:latin typeface="+mn-lt"/>
                        </a:rPr>
                        <a:t>,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a:solidFill>
                            <a:srgbClr val="000000"/>
                          </a:solidFill>
                          <a:effectLst/>
                          <a:latin typeface="+mn-lt"/>
                        </a:rPr>
                        <a:t>Purulia</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a:solidFill>
                            <a:srgbClr val="000000"/>
                          </a:solidFill>
                          <a:effectLst/>
                          <a:latin typeface="+mn-lt"/>
                        </a:rPr>
                        <a:t>WBSEDCL/ WBREDA</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a:solidFill>
                            <a:srgbClr val="000000"/>
                          </a:solidFill>
                          <a:effectLst/>
                          <a:latin typeface="+mn-lt"/>
                        </a:rPr>
                        <a:t>6033.03</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a:solidFill>
                            <a:srgbClr val="000000"/>
                          </a:solidFill>
                          <a:effectLst/>
                          <a:latin typeface="+mn-lt"/>
                        </a:rPr>
                        <a:t>5731.38</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a:solidFill>
                            <a:srgbClr val="000000"/>
                          </a:solidFill>
                          <a:effectLst/>
                          <a:latin typeface="+mn-lt"/>
                        </a:rPr>
                        <a:t>2664.44 + Evacuation</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a:solidFill>
                            <a:srgbClr val="000000"/>
                          </a:solidFill>
                          <a:effectLst/>
                          <a:latin typeface="+mn-lt"/>
                        </a:rPr>
                        <a:t>NA</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a:solidFill>
                            <a:srgbClr val="000000"/>
                          </a:solidFill>
                          <a:effectLst/>
                          <a:latin typeface="+mn-lt"/>
                        </a:rPr>
                        <a:t>532.89</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a:solidFill>
                            <a:srgbClr val="000000"/>
                          </a:solidFill>
                          <a:effectLst/>
                          <a:latin typeface="+mn-lt"/>
                        </a:rPr>
                        <a:t>____</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3">
                  <a:txBody>
                    <a:bodyPr/>
                    <a:lstStyle/>
                    <a:p>
                      <a:pPr algn="ctr" fontAlgn="ctr"/>
                      <a:r>
                        <a:rPr lang="en-US" sz="1050" b="1" i="0" u="none" strike="noStrike" dirty="0">
                          <a:solidFill>
                            <a:srgbClr val="000000"/>
                          </a:solidFill>
                          <a:effectLst/>
                          <a:latin typeface="+mn-lt"/>
                        </a:rPr>
                        <a:t>Proposal for deletion of the projects was sent by FD to NABARD vide O.M. no. 951-FB dt. 21/10/19.  Out of released amount of Rs.30 crores only Rs.3 crores was utilized. The balance amount was adjusted against project at </a:t>
                      </a:r>
                      <a:r>
                        <a:rPr lang="en-US" sz="1050" b="1" i="0" u="none" strike="noStrike" dirty="0" err="1">
                          <a:solidFill>
                            <a:srgbClr val="000000"/>
                          </a:solidFill>
                          <a:effectLst/>
                          <a:latin typeface="+mn-lt"/>
                        </a:rPr>
                        <a:t>sl</a:t>
                      </a:r>
                      <a:r>
                        <a:rPr lang="en-US" sz="1050" b="1" i="0" u="none" strike="noStrike" dirty="0">
                          <a:solidFill>
                            <a:srgbClr val="000000"/>
                          </a:solidFill>
                          <a:effectLst/>
                          <a:latin typeface="+mn-lt"/>
                        </a:rPr>
                        <a:t> no. 14</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41208286"/>
                  </a:ext>
                </a:extLst>
              </a:tr>
              <a:tr h="199752">
                <a:tc>
                  <a:txBody>
                    <a:bodyPr/>
                    <a:lstStyle/>
                    <a:p>
                      <a:pPr algn="ctr" fontAlgn="ctr"/>
                      <a:r>
                        <a:rPr lang="en-US" sz="1050" b="0" i="0" u="none" strike="noStrike">
                          <a:solidFill>
                            <a:srgbClr val="000000"/>
                          </a:solidFill>
                          <a:effectLst/>
                          <a:latin typeface="+mn-lt"/>
                        </a:rPr>
                        <a:t>9</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dirty="0">
                          <a:solidFill>
                            <a:srgbClr val="000000"/>
                          </a:solidFill>
                          <a:effectLst/>
                          <a:latin typeface="+mn-lt"/>
                        </a:rPr>
                        <a:t>Setting up of 4 MW Solar Photo Voltaic Power Plant    (Grid-connected) at village: </a:t>
                      </a:r>
                      <a:r>
                        <a:rPr lang="en-US" sz="1050" b="0" i="0" u="none" strike="noStrike" dirty="0" err="1">
                          <a:solidFill>
                            <a:srgbClr val="000000"/>
                          </a:solidFill>
                          <a:effectLst/>
                          <a:latin typeface="+mn-lt"/>
                        </a:rPr>
                        <a:t>Koshangi</a:t>
                      </a:r>
                      <a:r>
                        <a:rPr lang="en-US" sz="1050" b="0" i="0" u="none" strike="noStrike" dirty="0">
                          <a:solidFill>
                            <a:srgbClr val="000000"/>
                          </a:solidFill>
                          <a:effectLst/>
                          <a:latin typeface="+mn-lt"/>
                        </a:rPr>
                        <a:t>, block: Jaipur.</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dirty="0">
                          <a:solidFill>
                            <a:srgbClr val="000000"/>
                          </a:solidFill>
                          <a:effectLst/>
                          <a:latin typeface="+mn-lt"/>
                        </a:rPr>
                        <a:t>Purulia</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a:solidFill>
                            <a:srgbClr val="000000"/>
                          </a:solidFill>
                          <a:effectLst/>
                          <a:latin typeface="+mn-lt"/>
                        </a:rPr>
                        <a:t>WBSEDCL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a:solidFill>
                            <a:srgbClr val="000000"/>
                          </a:solidFill>
                          <a:effectLst/>
                          <a:latin typeface="+mn-lt"/>
                        </a:rPr>
                        <a:t>2436.95</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a:solidFill>
                            <a:srgbClr val="000000"/>
                          </a:solidFill>
                          <a:effectLst/>
                          <a:latin typeface="+mn-lt"/>
                        </a:rPr>
                        <a:t>2315.10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
                  <a:txBody>
                    <a:bodyPr/>
                    <a:lstStyle/>
                    <a:p>
                      <a:pPr algn="ctr" fontAlgn="ctr"/>
                      <a:r>
                        <a:rPr lang="en-US" sz="1050" b="0" i="0" u="none" strike="noStrike">
                          <a:solidFill>
                            <a:srgbClr val="000000"/>
                          </a:solidFill>
                          <a:effectLst/>
                          <a:latin typeface="+mn-lt"/>
                        </a:rPr>
                        <a:t>4181.00 + Evacuation</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a:solidFill>
                            <a:srgbClr val="000000"/>
                          </a:solidFill>
                          <a:effectLst/>
                          <a:latin typeface="+mn-lt"/>
                        </a:rPr>
                        <a:t>NA</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
                  <a:txBody>
                    <a:bodyPr/>
                    <a:lstStyle/>
                    <a:p>
                      <a:pPr algn="ctr" fontAlgn="ctr"/>
                      <a:r>
                        <a:rPr lang="en-US" sz="1050" b="0" i="0" u="none" strike="noStrike">
                          <a:solidFill>
                            <a:srgbClr val="000000"/>
                          </a:solidFill>
                          <a:effectLst/>
                          <a:latin typeface="+mn-lt"/>
                        </a:rPr>
                        <a:t>2508.60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a:solidFill>
                            <a:srgbClr val="000000"/>
                          </a:solidFill>
                          <a:effectLst/>
                          <a:latin typeface="+mn-lt"/>
                        </a:rPr>
                        <a:t>____</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extLst>
                  <a:ext uri="{0D108BD9-81ED-4DB2-BD59-A6C34878D82A}">
                    <a16:rowId xmlns:a16="http://schemas.microsoft.com/office/drawing/2014/main" val="967862207"/>
                  </a:ext>
                </a:extLst>
              </a:tr>
              <a:tr h="215118">
                <a:tc>
                  <a:txBody>
                    <a:bodyPr/>
                    <a:lstStyle/>
                    <a:p>
                      <a:pPr algn="ctr" fontAlgn="ctr"/>
                      <a:r>
                        <a:rPr lang="en-US" sz="1050" b="0" i="0" u="none" strike="noStrike">
                          <a:solidFill>
                            <a:srgbClr val="000000"/>
                          </a:solidFill>
                          <a:effectLst/>
                          <a:latin typeface="+mn-lt"/>
                        </a:rPr>
                        <a:t>10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dirty="0">
                          <a:solidFill>
                            <a:srgbClr val="000000"/>
                          </a:solidFill>
                          <a:effectLst/>
                          <a:latin typeface="+mn-lt"/>
                        </a:rPr>
                        <a:t>Setting up of 6 MW Solar Photo Voltaic Power Plant    (Grid-connected) at village: </a:t>
                      </a:r>
                      <a:r>
                        <a:rPr lang="en-US" sz="1050" b="0" i="0" u="none" strike="noStrike" dirty="0" err="1">
                          <a:solidFill>
                            <a:srgbClr val="000000"/>
                          </a:solidFill>
                          <a:effectLst/>
                          <a:latin typeface="+mn-lt"/>
                        </a:rPr>
                        <a:t>Baghkhuar</a:t>
                      </a:r>
                      <a:r>
                        <a:rPr lang="en-US" sz="1050" b="0" i="0" u="none" strike="noStrike" dirty="0">
                          <a:solidFill>
                            <a:srgbClr val="000000"/>
                          </a:solidFill>
                          <a:effectLst/>
                          <a:latin typeface="+mn-lt"/>
                        </a:rPr>
                        <a:t>, block: </a:t>
                      </a:r>
                      <a:r>
                        <a:rPr lang="en-US" sz="1050" b="0" i="0" u="none" strike="noStrike" dirty="0" err="1">
                          <a:solidFill>
                            <a:srgbClr val="000000"/>
                          </a:solidFill>
                          <a:effectLst/>
                          <a:latin typeface="+mn-lt"/>
                        </a:rPr>
                        <a:t>Manbazar</a:t>
                      </a:r>
                      <a:r>
                        <a:rPr lang="en-US" sz="1050" b="0" i="0" u="none" strike="noStrike" dirty="0">
                          <a:solidFill>
                            <a:srgbClr val="000000"/>
                          </a:solidFill>
                          <a:effectLst/>
                          <a:latin typeface="+mn-lt"/>
                        </a:rPr>
                        <a:t>- 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a:solidFill>
                            <a:srgbClr val="000000"/>
                          </a:solidFill>
                          <a:effectLst/>
                          <a:latin typeface="+mn-lt"/>
                        </a:rPr>
                        <a:t>Purulia</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dirty="0">
                          <a:solidFill>
                            <a:srgbClr val="000000"/>
                          </a:solidFill>
                          <a:effectLst/>
                          <a:latin typeface="+mn-lt"/>
                        </a:rPr>
                        <a:t>WBSEDCL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dirty="0">
                          <a:solidFill>
                            <a:srgbClr val="000000"/>
                          </a:solidFill>
                          <a:effectLst/>
                          <a:latin typeface="+mn-lt"/>
                        </a:rPr>
                        <a:t>3573.37</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50" b="0" i="0" u="none" strike="noStrike" dirty="0">
                          <a:solidFill>
                            <a:srgbClr val="000000"/>
                          </a:solidFill>
                          <a:effectLst/>
                          <a:latin typeface="+mn-lt"/>
                        </a:rPr>
                        <a:t>3394.70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algn="ctr" fontAlgn="ctr"/>
                      <a:r>
                        <a:rPr lang="en-US" sz="1050" b="0" i="0" u="none" strike="noStrike" dirty="0">
                          <a:solidFill>
                            <a:srgbClr val="000000"/>
                          </a:solidFill>
                          <a:effectLst/>
                          <a:latin typeface="+mn-lt"/>
                        </a:rPr>
                        <a:t>NA</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algn="ctr" fontAlgn="ctr"/>
                      <a:r>
                        <a:rPr lang="en-US" sz="1050" b="0" i="0" u="none" strike="noStrike">
                          <a:solidFill>
                            <a:srgbClr val="000000"/>
                          </a:solidFill>
                          <a:effectLst/>
                          <a:latin typeface="+mn-lt"/>
                        </a:rPr>
                        <a:t>____</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extLst>
                  <a:ext uri="{0D108BD9-81ED-4DB2-BD59-A6C34878D82A}">
                    <a16:rowId xmlns:a16="http://schemas.microsoft.com/office/drawing/2014/main" val="3961359375"/>
                  </a:ext>
                </a:extLst>
              </a:tr>
              <a:tr h="49511">
                <a:tc gridSpan="4">
                  <a:txBody>
                    <a:bodyPr/>
                    <a:lstStyle/>
                    <a:p>
                      <a:pPr algn="ctr" fontAlgn="ctr"/>
                      <a:r>
                        <a:rPr lang="en-US" sz="1050" b="1" i="0" u="none" strike="noStrike" dirty="0">
                          <a:solidFill>
                            <a:srgbClr val="000000"/>
                          </a:solidFill>
                          <a:effectLst/>
                          <a:latin typeface="+mn-lt"/>
                        </a:rPr>
                        <a:t>Sub-Total [Tranche XXII]</a:t>
                      </a:r>
                    </a:p>
                  </a:txBody>
                  <a:tcPr marL="1441" marR="1441" marT="144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r>
                        <a:rPr lang="en-US" sz="1050" b="1" i="0" u="none" strike="noStrike">
                          <a:solidFill>
                            <a:srgbClr val="000000"/>
                          </a:solidFill>
                          <a:effectLst/>
                          <a:latin typeface="+mn-lt"/>
                        </a:rPr>
                        <a:t>32896.98</a:t>
                      </a:r>
                    </a:p>
                  </a:txBody>
                  <a:tcPr marL="1441" marR="1441" marT="144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mn-lt"/>
                        </a:rPr>
                        <a:t>29043.35</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mn-lt"/>
                        </a:rPr>
                        <a:t>24418.602</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mn-lt"/>
                        </a:rPr>
                        <a:t>270.21</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dirty="0">
                          <a:solidFill>
                            <a:srgbClr val="000000"/>
                          </a:solidFill>
                          <a:effectLst/>
                          <a:latin typeface="+mn-lt"/>
                        </a:rPr>
                        <a:t>18350.17</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mn-lt"/>
                        </a:rPr>
                        <a:t>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mn-lt"/>
                        </a:rPr>
                        <a:t>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33237934"/>
                  </a:ext>
                </a:extLst>
              </a:tr>
              <a:tr h="49511">
                <a:tc>
                  <a:txBody>
                    <a:bodyPr/>
                    <a:lstStyle/>
                    <a:p>
                      <a:pPr algn="ctr" fontAlgn="ctr"/>
                      <a:r>
                        <a:rPr lang="en-US" sz="1050" b="0" i="0" u="none" strike="noStrike" dirty="0">
                          <a:solidFill>
                            <a:schemeClr val="tx1"/>
                          </a:solidFill>
                          <a:effectLst/>
                          <a:latin typeface="+mn-lt"/>
                        </a:rPr>
                        <a:t>11</a:t>
                      </a:r>
                    </a:p>
                  </a:txBody>
                  <a:tcPr marL="1441" marR="1441" marT="144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mn-lt"/>
                        </a:rPr>
                        <a:t>10 MW Solar PV Power (grid connected) plant at </a:t>
                      </a:r>
                      <a:r>
                        <a:rPr lang="en-US" sz="1050" b="0" i="0" u="none" strike="noStrike" dirty="0" err="1">
                          <a:solidFill>
                            <a:srgbClr val="000000"/>
                          </a:solidFill>
                          <a:effectLst/>
                          <a:latin typeface="+mn-lt"/>
                        </a:rPr>
                        <a:t>Bhajanghat</a:t>
                      </a:r>
                      <a:endParaRPr lang="en-US" sz="1050" b="0" i="0" u="none" strike="noStrike" dirty="0">
                        <a:solidFill>
                          <a:srgbClr val="000000"/>
                        </a:solidFill>
                        <a:effectLst/>
                        <a:latin typeface="+mn-lt"/>
                      </a:endParaRPr>
                    </a:p>
                  </a:txBody>
                  <a:tcPr marL="1441" marR="1441" marT="1441" marB="0" anchor="ctr">
                    <a:lnL>
                      <a:noFill/>
                    </a:lnL>
                  </a:tcPr>
                </a:tc>
                <a:tc>
                  <a:txBody>
                    <a:bodyPr/>
                    <a:lstStyle/>
                    <a:p>
                      <a:pPr algn="ctr" fontAlgn="ctr"/>
                      <a:r>
                        <a:rPr lang="en-US" sz="1050" b="0" i="0" u="none" strike="noStrike" dirty="0">
                          <a:solidFill>
                            <a:srgbClr val="000000"/>
                          </a:solidFill>
                          <a:effectLst/>
                          <a:latin typeface="+mn-lt"/>
                        </a:rPr>
                        <a:t>Nadia</a:t>
                      </a:r>
                    </a:p>
                  </a:txBody>
                  <a:tcPr marL="1441" marR="1441" marT="1441" marB="0" anchor="ctr"/>
                </a:tc>
                <a:tc>
                  <a:txBody>
                    <a:bodyPr/>
                    <a:lstStyle/>
                    <a:p>
                      <a:pPr algn="ctr" fontAlgn="ctr"/>
                      <a:r>
                        <a:rPr lang="en-US" sz="1050" b="0" i="0" u="none" strike="noStrike" dirty="0">
                          <a:solidFill>
                            <a:srgbClr val="000000"/>
                          </a:solidFill>
                          <a:effectLst/>
                          <a:latin typeface="+mn-lt"/>
                        </a:rPr>
                        <a:t>WBREDA</a:t>
                      </a:r>
                    </a:p>
                  </a:txBody>
                  <a:tcPr marL="1441" marR="1441" marT="1441" marB="0" anchor="ctr"/>
                </a:tc>
                <a:tc>
                  <a:txBody>
                    <a:bodyPr/>
                    <a:lstStyle/>
                    <a:p>
                      <a:pPr algn="ctr" fontAlgn="ctr"/>
                      <a:r>
                        <a:rPr lang="en-US" sz="1050" b="0" i="0" u="none" strike="noStrike" dirty="0">
                          <a:solidFill>
                            <a:srgbClr val="000000"/>
                          </a:solidFill>
                          <a:effectLst/>
                          <a:latin typeface="+mn-lt"/>
                        </a:rPr>
                        <a:t>5255.89</a:t>
                      </a:r>
                    </a:p>
                  </a:txBody>
                  <a:tcPr marL="1441" marR="1441" marT="1441"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mn-lt"/>
                        </a:rPr>
                        <a:t>4993.10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mn-lt"/>
                        </a:rPr>
                        <a:t>4646.00 [excluding Evacuation]</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mn-lt"/>
                        </a:rPr>
                        <a:t>934.75</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mn-lt"/>
                        </a:rPr>
                        <a:t>4646.00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mn-lt"/>
                        </a:rPr>
                        <a:t>100%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mn-lt"/>
                        </a:rPr>
                        <a:t> Net release :- 4646 lakh. Project commissioned on 8th March,2021. PCR to be submitted.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2061696"/>
                  </a:ext>
                </a:extLst>
              </a:tr>
            </a:tbl>
          </a:graphicData>
        </a:graphic>
      </p:graphicFrame>
      <p:sp>
        <p:nvSpPr>
          <p:cNvPr id="4" name="TextBox 3">
            <a:extLst>
              <a:ext uri="{FF2B5EF4-FFF2-40B4-BE49-F238E27FC236}">
                <a16:creationId xmlns:a16="http://schemas.microsoft.com/office/drawing/2014/main" id="{FE97B4A8-69AA-40A0-BB86-6BDF546909B8}"/>
              </a:ext>
            </a:extLst>
          </p:cNvPr>
          <p:cNvSpPr txBox="1"/>
          <p:nvPr/>
        </p:nvSpPr>
        <p:spPr>
          <a:xfrm>
            <a:off x="7728857" y="569441"/>
            <a:ext cx="4245429" cy="276999"/>
          </a:xfrm>
          <a:prstGeom prst="rect">
            <a:avLst/>
          </a:prstGeom>
          <a:noFill/>
        </p:spPr>
        <p:txBody>
          <a:bodyPr wrap="square">
            <a:spAutoFit/>
          </a:bodyPr>
          <a:lstStyle/>
          <a:p>
            <a:r>
              <a:rPr lang="en-US" sz="1200" i="1" dirty="0"/>
              <a:t>[yellow-completed, grey-deleted, rest are ongoing]</a:t>
            </a:r>
          </a:p>
        </p:txBody>
      </p:sp>
      <p:sp>
        <p:nvSpPr>
          <p:cNvPr id="5" name="TextBox 4">
            <a:extLst>
              <a:ext uri="{FF2B5EF4-FFF2-40B4-BE49-F238E27FC236}">
                <a16:creationId xmlns:a16="http://schemas.microsoft.com/office/drawing/2014/main" id="{3FA3D4DB-7CA3-4292-9A74-4552B2F5C6F2}"/>
              </a:ext>
            </a:extLst>
          </p:cNvPr>
          <p:cNvSpPr txBox="1"/>
          <p:nvPr/>
        </p:nvSpPr>
        <p:spPr>
          <a:xfrm>
            <a:off x="8476177" y="6113124"/>
            <a:ext cx="3496760" cy="153888"/>
          </a:xfrm>
          <a:prstGeom prst="rect">
            <a:avLst/>
          </a:prstGeom>
          <a:noFill/>
        </p:spPr>
        <p:txBody>
          <a:bodyPr wrap="square" lIns="0" tIns="0" rIns="0" bIns="0" rtlCol="0">
            <a:spAutoFit/>
          </a:bodyPr>
          <a:lstStyle/>
          <a:p>
            <a:pPr>
              <a:spcBef>
                <a:spcPts val="600"/>
              </a:spcBef>
              <a:buSzPct val="100000"/>
            </a:pPr>
            <a:r>
              <a:rPr lang="en-US" sz="1000" dirty="0">
                <a:solidFill>
                  <a:srgbClr val="313131"/>
                </a:solidFill>
              </a:rPr>
              <a:t>Source: Dept. of Power, WB, RDSS Proposal </a:t>
            </a:r>
          </a:p>
        </p:txBody>
      </p:sp>
    </p:spTree>
    <p:extLst>
      <p:ext uri="{BB962C8B-B14F-4D97-AF65-F5344CB8AC3E}">
        <p14:creationId xmlns:p14="http://schemas.microsoft.com/office/powerpoint/2010/main" val="115895752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252922"/>
            <a:ext cx="11188700" cy="368299"/>
          </a:xfrm>
        </p:spPr>
        <p:txBody>
          <a:bodyPr vert="horz"/>
          <a:lstStyle/>
          <a:p>
            <a:pPr algn="just"/>
            <a:r>
              <a:rPr lang="en-US" sz="1800" i="0" dirty="0">
                <a:solidFill>
                  <a:schemeClr val="tx1"/>
                </a:solidFill>
              </a:rPr>
              <a:t> Review of status of schemes sanctioned under different RIDF Tranche (4/6)</a:t>
            </a:r>
          </a:p>
        </p:txBody>
      </p:sp>
      <p:graphicFrame>
        <p:nvGraphicFramePr>
          <p:cNvPr id="3" name="Table 2">
            <a:extLst>
              <a:ext uri="{FF2B5EF4-FFF2-40B4-BE49-F238E27FC236}">
                <a16:creationId xmlns:a16="http://schemas.microsoft.com/office/drawing/2014/main" id="{018A4E37-1A88-40A6-B50D-5B2C5808A35C}"/>
              </a:ext>
            </a:extLst>
          </p:cNvPr>
          <p:cNvGraphicFramePr>
            <a:graphicFrameLocks noGrp="1"/>
          </p:cNvGraphicFramePr>
          <p:nvPr>
            <p:extLst>
              <p:ext uri="{D42A27DB-BD31-4B8C-83A1-F6EECF244321}">
                <p14:modId xmlns:p14="http://schemas.microsoft.com/office/powerpoint/2010/main" val="59169157"/>
              </p:ext>
            </p:extLst>
          </p:nvPr>
        </p:nvGraphicFramePr>
        <p:xfrm>
          <a:off x="488936" y="783773"/>
          <a:ext cx="11549742" cy="4783098"/>
        </p:xfrm>
        <a:graphic>
          <a:graphicData uri="http://schemas.openxmlformats.org/drawingml/2006/table">
            <a:tbl>
              <a:tblPr/>
              <a:tblGrid>
                <a:gridCol w="415046">
                  <a:extLst>
                    <a:ext uri="{9D8B030D-6E8A-4147-A177-3AD203B41FA5}">
                      <a16:colId xmlns:a16="http://schemas.microsoft.com/office/drawing/2014/main" val="2661012687"/>
                    </a:ext>
                  </a:extLst>
                </a:gridCol>
                <a:gridCol w="1917802">
                  <a:extLst>
                    <a:ext uri="{9D8B030D-6E8A-4147-A177-3AD203B41FA5}">
                      <a16:colId xmlns:a16="http://schemas.microsoft.com/office/drawing/2014/main" val="2159347885"/>
                    </a:ext>
                  </a:extLst>
                </a:gridCol>
                <a:gridCol w="801469">
                  <a:extLst>
                    <a:ext uri="{9D8B030D-6E8A-4147-A177-3AD203B41FA5}">
                      <a16:colId xmlns:a16="http://schemas.microsoft.com/office/drawing/2014/main" val="1102580634"/>
                    </a:ext>
                  </a:extLst>
                </a:gridCol>
                <a:gridCol w="944590">
                  <a:extLst>
                    <a:ext uri="{9D8B030D-6E8A-4147-A177-3AD203B41FA5}">
                      <a16:colId xmlns:a16="http://schemas.microsoft.com/office/drawing/2014/main" val="26390714"/>
                    </a:ext>
                  </a:extLst>
                </a:gridCol>
                <a:gridCol w="801469">
                  <a:extLst>
                    <a:ext uri="{9D8B030D-6E8A-4147-A177-3AD203B41FA5}">
                      <a16:colId xmlns:a16="http://schemas.microsoft.com/office/drawing/2014/main" val="357901547"/>
                    </a:ext>
                  </a:extLst>
                </a:gridCol>
                <a:gridCol w="686973">
                  <a:extLst>
                    <a:ext uri="{9D8B030D-6E8A-4147-A177-3AD203B41FA5}">
                      <a16:colId xmlns:a16="http://schemas.microsoft.com/office/drawing/2014/main" val="2194092264"/>
                    </a:ext>
                  </a:extLst>
                </a:gridCol>
                <a:gridCol w="1044770">
                  <a:extLst>
                    <a:ext uri="{9D8B030D-6E8A-4147-A177-3AD203B41FA5}">
                      <a16:colId xmlns:a16="http://schemas.microsoft.com/office/drawing/2014/main" val="1466573589"/>
                    </a:ext>
                  </a:extLst>
                </a:gridCol>
                <a:gridCol w="944590">
                  <a:extLst>
                    <a:ext uri="{9D8B030D-6E8A-4147-A177-3AD203B41FA5}">
                      <a16:colId xmlns:a16="http://schemas.microsoft.com/office/drawing/2014/main" val="536198917"/>
                    </a:ext>
                  </a:extLst>
                </a:gridCol>
                <a:gridCol w="1059085">
                  <a:extLst>
                    <a:ext uri="{9D8B030D-6E8A-4147-A177-3AD203B41FA5}">
                      <a16:colId xmlns:a16="http://schemas.microsoft.com/office/drawing/2014/main" val="3320299849"/>
                    </a:ext>
                  </a:extLst>
                </a:gridCol>
                <a:gridCol w="1059085">
                  <a:extLst>
                    <a:ext uri="{9D8B030D-6E8A-4147-A177-3AD203B41FA5}">
                      <a16:colId xmlns:a16="http://schemas.microsoft.com/office/drawing/2014/main" val="2422235638"/>
                    </a:ext>
                  </a:extLst>
                </a:gridCol>
                <a:gridCol w="1874863">
                  <a:extLst>
                    <a:ext uri="{9D8B030D-6E8A-4147-A177-3AD203B41FA5}">
                      <a16:colId xmlns:a16="http://schemas.microsoft.com/office/drawing/2014/main" val="3221088986"/>
                    </a:ext>
                  </a:extLst>
                </a:gridCol>
              </a:tblGrid>
              <a:tr h="856696">
                <a:tc>
                  <a:txBody>
                    <a:bodyPr/>
                    <a:lstStyle/>
                    <a:p>
                      <a:pPr algn="ctr" fontAlgn="ctr"/>
                      <a:r>
                        <a:rPr lang="en-US" sz="1000" b="1" i="0" u="none" strike="noStrike" dirty="0" err="1">
                          <a:solidFill>
                            <a:schemeClr val="bg1"/>
                          </a:solidFill>
                          <a:effectLst/>
                          <a:latin typeface="+mn-lt"/>
                        </a:rPr>
                        <a:t>Sl</a:t>
                      </a:r>
                      <a:r>
                        <a:rPr lang="en-US" sz="1000" b="1" i="0" u="none" strike="noStrike" dirty="0">
                          <a:solidFill>
                            <a:schemeClr val="bg1"/>
                          </a:solidFill>
                          <a:effectLst/>
                          <a:latin typeface="+mn-lt"/>
                        </a:rPr>
                        <a:t> no</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Name of Project</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District</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Name of the implementing Agency</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TFO</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RIDF Loan</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Awarded Cost</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Fund released in FY 2021-22</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err="1">
                          <a:solidFill>
                            <a:schemeClr val="bg1"/>
                          </a:solidFill>
                          <a:effectLst/>
                          <a:latin typeface="+mn-lt"/>
                        </a:rPr>
                        <a:t>Tranch</a:t>
                      </a:r>
                      <a:r>
                        <a:rPr lang="en-US" sz="1000" b="1" i="0" u="none" strike="noStrike" dirty="0">
                          <a:solidFill>
                            <a:schemeClr val="bg1"/>
                          </a:solidFill>
                          <a:effectLst/>
                          <a:latin typeface="+mn-lt"/>
                        </a:rPr>
                        <a:t>-wise cumulative amount disbursed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Present Physical Progress/Financial Progress (% wise)</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Reasons for non </a:t>
                      </a:r>
                      <a:r>
                        <a:rPr lang="en-US" sz="1000" b="1" i="0" u="none" strike="noStrike" dirty="0" err="1">
                          <a:solidFill>
                            <a:schemeClr val="bg1"/>
                          </a:solidFill>
                          <a:effectLst/>
                          <a:latin typeface="+mn-lt"/>
                        </a:rPr>
                        <a:t>utilisation</a:t>
                      </a:r>
                      <a:endParaRPr lang="en-US" sz="1000" b="1" i="0" u="none" strike="noStrike" dirty="0">
                        <a:solidFill>
                          <a:schemeClr val="bg1"/>
                        </a:solidFill>
                        <a:effectLst/>
                        <a:latin typeface="+mn-lt"/>
                      </a:endParaRP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extLst>
                  <a:ext uri="{0D108BD9-81ED-4DB2-BD59-A6C34878D82A}">
                    <a16:rowId xmlns:a16="http://schemas.microsoft.com/office/drawing/2014/main" val="266403682"/>
                  </a:ext>
                </a:extLst>
              </a:tr>
              <a:tr h="143719">
                <a:tc>
                  <a:txBody>
                    <a:bodyPr/>
                    <a:lstStyle/>
                    <a:p>
                      <a:pPr algn="ctr" fontAlgn="ctr"/>
                      <a:r>
                        <a:rPr lang="en-US" sz="1000" b="1" i="0" u="none" strike="noStrike">
                          <a:solidFill>
                            <a:srgbClr val="000000"/>
                          </a:solidFill>
                          <a:effectLst/>
                          <a:latin typeface="+mn-lt"/>
                        </a:rPr>
                        <a:t>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iii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iv</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v</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vi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vii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viii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ix</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x</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xi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xv</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6098558"/>
                  </a:ext>
                </a:extLst>
              </a:tr>
              <a:tr h="428910">
                <a:tc>
                  <a:txBody>
                    <a:bodyPr/>
                    <a:lstStyle/>
                    <a:p>
                      <a:pPr algn="ctr" fontAlgn="ctr"/>
                      <a:r>
                        <a:rPr lang="en-US" sz="1000" b="0" i="0" u="none" strike="noStrike">
                          <a:solidFill>
                            <a:srgbClr val="000000"/>
                          </a:solidFill>
                          <a:effectLst/>
                          <a:latin typeface="+mn-lt"/>
                        </a:rPr>
                        <a:t>12</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effectLst/>
                          <a:latin typeface="+mn-lt"/>
                        </a:rPr>
                        <a:t>10 MW Solar PV Power (grid connected) plant at Andherijhari, Chopra</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effectLst/>
                          <a:latin typeface="+mn-lt"/>
                        </a:rPr>
                        <a:t>Uttar Dinajpur</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000" b="0" i="0" u="none" strike="noStrike">
                          <a:solidFill>
                            <a:srgbClr val="000000"/>
                          </a:solidFill>
                          <a:effectLst/>
                          <a:latin typeface="+mn-lt"/>
                        </a:rPr>
                        <a:t>WBSEDCL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000" b="0" i="0" u="none" strike="noStrike">
                          <a:solidFill>
                            <a:srgbClr val="000000"/>
                          </a:solidFill>
                          <a:effectLst/>
                          <a:latin typeface="+mn-lt"/>
                        </a:rPr>
                        <a:t>5104.25</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000" b="0" i="0" u="none" strike="noStrike">
                          <a:solidFill>
                            <a:srgbClr val="000000"/>
                          </a:solidFill>
                          <a:effectLst/>
                          <a:latin typeface="+mn-lt"/>
                        </a:rPr>
                        <a:t>4849.04</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000" b="0" i="0" u="none" strike="noStrike">
                          <a:solidFill>
                            <a:srgbClr val="000000"/>
                          </a:solidFill>
                          <a:effectLst/>
                          <a:latin typeface="+mn-lt"/>
                        </a:rPr>
                        <a:t>Non  grounded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000" b="0" i="0" u="none" strike="noStrike">
                          <a:solidFill>
                            <a:srgbClr val="000000"/>
                          </a:solidFill>
                          <a:effectLst/>
                          <a:latin typeface="+mn-lt"/>
                        </a:rPr>
                        <a:t>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000" b="0" i="0" u="none" strike="noStrike">
                          <a:solidFill>
                            <a:srgbClr val="000000"/>
                          </a:solidFill>
                          <a:effectLst/>
                          <a:latin typeface="+mn-lt"/>
                        </a:rPr>
                        <a:t>Nil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000" b="0" i="0" u="none" strike="noStrike">
                          <a:solidFill>
                            <a:srgbClr val="000000"/>
                          </a:solidFill>
                          <a:effectLst/>
                          <a:latin typeface="+mn-lt"/>
                        </a:rPr>
                        <a:t>____</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rowSpan="2">
                  <a:txBody>
                    <a:bodyPr/>
                    <a:lstStyle/>
                    <a:p>
                      <a:pPr algn="ctr" fontAlgn="ctr"/>
                      <a:r>
                        <a:rPr lang="en-US" sz="1000" b="1" i="0" u="none" strike="noStrike" dirty="0">
                          <a:solidFill>
                            <a:srgbClr val="000000"/>
                          </a:solidFill>
                          <a:effectLst/>
                          <a:latin typeface="+mn-lt"/>
                        </a:rPr>
                        <a:t>Proposal for deletion of the projects was sent by FD to NABARD vide O.M. no. 951-FB dt. 21/10/19.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11592167"/>
                  </a:ext>
                </a:extLst>
              </a:tr>
              <a:tr h="428910">
                <a:tc>
                  <a:txBody>
                    <a:bodyPr/>
                    <a:lstStyle/>
                    <a:p>
                      <a:pPr algn="ctr" fontAlgn="ctr"/>
                      <a:r>
                        <a:rPr lang="en-US" sz="1000" b="0" i="0" u="none" strike="noStrike">
                          <a:solidFill>
                            <a:srgbClr val="000000"/>
                          </a:solidFill>
                          <a:effectLst/>
                          <a:latin typeface="+mn-lt"/>
                        </a:rPr>
                        <a:t>13</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effectLst/>
                          <a:latin typeface="+mn-lt"/>
                        </a:rPr>
                        <a:t>4 MW Solar PV Power (grid connected) plant at Leusipukuri, Chopra</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effectLst/>
                          <a:latin typeface="+mn-lt"/>
                        </a:rPr>
                        <a:t>Darjeeling</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000" b="0" i="0" u="none" strike="noStrike">
                          <a:solidFill>
                            <a:srgbClr val="000000"/>
                          </a:solidFill>
                          <a:effectLst/>
                          <a:latin typeface="+mn-lt"/>
                        </a:rPr>
                        <a:t>WBSEDCL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000" b="0" i="0" u="none" strike="noStrike">
                          <a:solidFill>
                            <a:srgbClr val="000000"/>
                          </a:solidFill>
                          <a:effectLst/>
                          <a:latin typeface="+mn-lt"/>
                        </a:rPr>
                        <a:t>2047.14</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000" b="0" i="0" u="none" strike="noStrike">
                          <a:solidFill>
                            <a:srgbClr val="000000"/>
                          </a:solidFill>
                          <a:effectLst/>
                          <a:latin typeface="+mn-lt"/>
                        </a:rPr>
                        <a:t>1944.78</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000" b="0" i="0" u="none" strike="noStrike">
                          <a:solidFill>
                            <a:srgbClr val="000000"/>
                          </a:solidFill>
                          <a:effectLst/>
                          <a:latin typeface="+mn-lt"/>
                        </a:rPr>
                        <a:t>Non  grounded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000" b="0" i="0" u="none" strike="noStrike">
                          <a:solidFill>
                            <a:srgbClr val="000000"/>
                          </a:solidFill>
                          <a:effectLst/>
                          <a:latin typeface="+mn-lt"/>
                        </a:rPr>
                        <a:t>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000" b="0" i="0" u="none" strike="noStrike">
                          <a:solidFill>
                            <a:srgbClr val="000000"/>
                          </a:solidFill>
                          <a:effectLst/>
                          <a:latin typeface="+mn-lt"/>
                        </a:rPr>
                        <a:t>Nil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ctr" fontAlgn="ctr"/>
                      <a:r>
                        <a:rPr lang="en-US" sz="1000" b="0" i="0" u="none" strike="noStrike">
                          <a:solidFill>
                            <a:srgbClr val="000000"/>
                          </a:solidFill>
                          <a:effectLst/>
                          <a:latin typeface="+mn-lt"/>
                        </a:rPr>
                        <a:t>____</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vMerge="1">
                  <a:txBody>
                    <a:bodyPr/>
                    <a:lstStyle/>
                    <a:p>
                      <a:endParaRPr lang="en-US"/>
                    </a:p>
                  </a:txBody>
                  <a:tcPr/>
                </a:tc>
                <a:extLst>
                  <a:ext uri="{0D108BD9-81ED-4DB2-BD59-A6C34878D82A}">
                    <a16:rowId xmlns:a16="http://schemas.microsoft.com/office/drawing/2014/main" val="2031788988"/>
                  </a:ext>
                </a:extLst>
              </a:tr>
              <a:tr h="286314">
                <a:tc gridSpan="4">
                  <a:txBody>
                    <a:bodyPr/>
                    <a:lstStyle/>
                    <a:p>
                      <a:pPr algn="ctr" fontAlgn="ctr"/>
                      <a:r>
                        <a:rPr lang="en-US" sz="1000" b="1" i="0" u="none" strike="noStrike" dirty="0">
                          <a:solidFill>
                            <a:srgbClr val="000000"/>
                          </a:solidFill>
                          <a:effectLst/>
                          <a:latin typeface="+mn-lt"/>
                        </a:rPr>
                        <a:t>Sub-Total [Tranche XXIII]</a:t>
                      </a:r>
                    </a:p>
                  </a:txBody>
                  <a:tcPr marL="1441" marR="1441" marT="144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r>
                        <a:rPr lang="en-US" sz="1000" b="1" i="0" u="none" strike="noStrike">
                          <a:solidFill>
                            <a:srgbClr val="000000"/>
                          </a:solidFill>
                          <a:effectLst/>
                          <a:latin typeface="+mn-lt"/>
                        </a:rPr>
                        <a:t>12407.28</a:t>
                      </a:r>
                    </a:p>
                  </a:txBody>
                  <a:tcPr marL="1441" marR="1441" marT="144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11786.92</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4646.00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934.75</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4646.00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mn-lt"/>
                        </a:rPr>
                        <a:t>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484765"/>
                  </a:ext>
                </a:extLst>
              </a:tr>
              <a:tr h="1712269">
                <a:tc>
                  <a:txBody>
                    <a:bodyPr/>
                    <a:lstStyle/>
                    <a:p>
                      <a:pPr algn="ctr" fontAlgn="ctr"/>
                      <a:r>
                        <a:rPr lang="en-US" sz="1000" b="0" i="0" u="none" strike="noStrike" dirty="0">
                          <a:solidFill>
                            <a:srgbClr val="000000"/>
                          </a:solidFill>
                          <a:effectLst/>
                          <a:latin typeface="+mn-lt"/>
                        </a:rPr>
                        <a:t>14</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10 MW</a:t>
                      </a:r>
                      <a:r>
                        <a:rPr lang="en-US" sz="1000" b="1" i="0" u="none" strike="noStrike">
                          <a:solidFill>
                            <a:srgbClr val="000000"/>
                          </a:solidFill>
                          <a:effectLst/>
                          <a:latin typeface="+mn-lt"/>
                        </a:rPr>
                        <a:t> </a:t>
                      </a:r>
                      <a:r>
                        <a:rPr lang="en-US" sz="1000" b="0" i="0" u="none" strike="noStrike">
                          <a:solidFill>
                            <a:srgbClr val="000000"/>
                          </a:solidFill>
                          <a:effectLst/>
                          <a:latin typeface="+mn-lt"/>
                        </a:rPr>
                        <a:t>Ground mounted Solar PV power plant (grid connected) at Sankrail [ earlier it was proposed in Srirampur of the same district]</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Jhargram</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WBSEDCL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5119.17</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4863.21</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5925.69</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2402.58</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5119.17</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100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dirty="0">
                          <a:solidFill>
                            <a:srgbClr val="000000"/>
                          </a:solidFill>
                          <a:effectLst/>
                          <a:latin typeface="+mn-lt"/>
                        </a:rPr>
                        <a:t>Revised project cost :- Rs.59 crores  Revised order issued. Fund sanctioned :- Rs.51.19 crores including Rs.  27 cr. adjusted against deleted projects. Balance amount will be borne from state exchequer.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57246234"/>
                  </a:ext>
                </a:extLst>
              </a:tr>
              <a:tr h="856696">
                <a:tc>
                  <a:txBody>
                    <a:bodyPr/>
                    <a:lstStyle/>
                    <a:p>
                      <a:pPr algn="ctr" fontAlgn="ctr"/>
                      <a:r>
                        <a:rPr lang="en-US" sz="1000" b="0" i="0" u="none" strike="noStrike" dirty="0">
                          <a:solidFill>
                            <a:srgbClr val="000000"/>
                          </a:solidFill>
                          <a:effectLst/>
                          <a:latin typeface="+mn-lt"/>
                        </a:rPr>
                        <a:t>15</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10 MW Ground mounted Solar PV power plant (grid connected) at </a:t>
                      </a:r>
                      <a:r>
                        <a:rPr lang="en-US" sz="1000" b="0" i="0" u="none" strike="noStrike" dirty="0" err="1">
                          <a:solidFill>
                            <a:srgbClr val="000000"/>
                          </a:solidFill>
                          <a:effectLst/>
                          <a:latin typeface="+mn-lt"/>
                        </a:rPr>
                        <a:t>Chalbalpur</a:t>
                      </a:r>
                      <a:r>
                        <a:rPr lang="en-US" sz="1000" b="0" i="0" u="none" strike="noStrike" dirty="0">
                          <a:solidFill>
                            <a:srgbClr val="000000"/>
                          </a:solidFill>
                          <a:effectLst/>
                          <a:latin typeface="+mn-lt"/>
                        </a:rPr>
                        <a:t>, Block : </a:t>
                      </a:r>
                      <a:r>
                        <a:rPr lang="en-US" sz="1000" b="0" i="0" u="none" strike="noStrike" dirty="0" err="1">
                          <a:solidFill>
                            <a:srgbClr val="000000"/>
                          </a:solidFill>
                          <a:effectLst/>
                          <a:latin typeface="+mn-lt"/>
                        </a:rPr>
                        <a:t>Ranigunj</a:t>
                      </a:r>
                      <a:r>
                        <a:rPr lang="en-US" sz="1000" b="0" i="0" u="none" strike="noStrike" dirty="0">
                          <a:solidFill>
                            <a:srgbClr val="000000"/>
                          </a:solidFill>
                          <a:effectLst/>
                          <a:latin typeface="+mn-lt"/>
                        </a:rPr>
                        <a:t>,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Paschim </a:t>
                      </a:r>
                      <a:r>
                        <a:rPr lang="en-US" sz="1000" b="0" i="0" u="none" strike="noStrike" dirty="0" err="1">
                          <a:solidFill>
                            <a:srgbClr val="000000"/>
                          </a:solidFill>
                          <a:effectLst/>
                          <a:latin typeface="+mn-lt"/>
                        </a:rPr>
                        <a:t>Barddhaman</a:t>
                      </a:r>
                      <a:endParaRPr lang="en-US" sz="1000" b="0" i="0" u="none" strike="noStrike" dirty="0">
                        <a:solidFill>
                          <a:srgbClr val="000000"/>
                        </a:solidFill>
                        <a:effectLst/>
                        <a:latin typeface="+mn-lt"/>
                      </a:endParaRP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WBSEDCL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5249.84</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4987.35</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4194 [excluding power evacuation]</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0.00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4194.00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100%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Commissioned. PCR submitted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7960636"/>
                  </a:ext>
                </a:extLst>
              </a:tr>
            </a:tbl>
          </a:graphicData>
        </a:graphic>
      </p:graphicFrame>
      <p:sp>
        <p:nvSpPr>
          <p:cNvPr id="4" name="TextBox 3">
            <a:extLst>
              <a:ext uri="{FF2B5EF4-FFF2-40B4-BE49-F238E27FC236}">
                <a16:creationId xmlns:a16="http://schemas.microsoft.com/office/drawing/2014/main" id="{D3294C4B-68A6-46C9-91BC-5B6348B7DEA6}"/>
              </a:ext>
            </a:extLst>
          </p:cNvPr>
          <p:cNvSpPr txBox="1"/>
          <p:nvPr/>
        </p:nvSpPr>
        <p:spPr>
          <a:xfrm>
            <a:off x="7728857" y="569441"/>
            <a:ext cx="4245429" cy="276999"/>
          </a:xfrm>
          <a:prstGeom prst="rect">
            <a:avLst/>
          </a:prstGeom>
          <a:noFill/>
        </p:spPr>
        <p:txBody>
          <a:bodyPr wrap="square">
            <a:spAutoFit/>
          </a:bodyPr>
          <a:lstStyle/>
          <a:p>
            <a:r>
              <a:rPr lang="en-US" sz="1200" i="1" dirty="0"/>
              <a:t>[yellow-completed, grey-deleted, rest are ongoing]</a:t>
            </a:r>
          </a:p>
        </p:txBody>
      </p:sp>
      <p:sp>
        <p:nvSpPr>
          <p:cNvPr id="5" name="TextBox 4">
            <a:extLst>
              <a:ext uri="{FF2B5EF4-FFF2-40B4-BE49-F238E27FC236}">
                <a16:creationId xmlns:a16="http://schemas.microsoft.com/office/drawing/2014/main" id="{67473C8A-CBE2-4EE1-9D25-82C37D553919}"/>
              </a:ext>
            </a:extLst>
          </p:cNvPr>
          <p:cNvSpPr txBox="1"/>
          <p:nvPr/>
        </p:nvSpPr>
        <p:spPr>
          <a:xfrm>
            <a:off x="8476177" y="6113124"/>
            <a:ext cx="3496760" cy="153888"/>
          </a:xfrm>
          <a:prstGeom prst="rect">
            <a:avLst/>
          </a:prstGeom>
          <a:noFill/>
        </p:spPr>
        <p:txBody>
          <a:bodyPr wrap="square" lIns="0" tIns="0" rIns="0" bIns="0" rtlCol="0">
            <a:spAutoFit/>
          </a:bodyPr>
          <a:lstStyle/>
          <a:p>
            <a:pPr>
              <a:spcBef>
                <a:spcPts val="600"/>
              </a:spcBef>
              <a:buSzPct val="100000"/>
            </a:pPr>
            <a:r>
              <a:rPr lang="en-US" sz="1000" dirty="0">
                <a:solidFill>
                  <a:srgbClr val="313131"/>
                </a:solidFill>
              </a:rPr>
              <a:t>Source: Dept. of Power, WB, RDSS Proposal </a:t>
            </a:r>
          </a:p>
        </p:txBody>
      </p:sp>
    </p:spTree>
    <p:extLst>
      <p:ext uri="{BB962C8B-B14F-4D97-AF65-F5344CB8AC3E}">
        <p14:creationId xmlns:p14="http://schemas.microsoft.com/office/powerpoint/2010/main" val="293098201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252922"/>
            <a:ext cx="11188700" cy="368299"/>
          </a:xfrm>
        </p:spPr>
        <p:txBody>
          <a:bodyPr vert="horz"/>
          <a:lstStyle/>
          <a:p>
            <a:pPr algn="just"/>
            <a:r>
              <a:rPr lang="en-US" sz="1800" i="0" dirty="0">
                <a:solidFill>
                  <a:schemeClr val="tx1"/>
                </a:solidFill>
              </a:rPr>
              <a:t> Review of status of schemes sanctioned under different RIDF Tranche (5/6)</a:t>
            </a:r>
          </a:p>
        </p:txBody>
      </p:sp>
      <p:graphicFrame>
        <p:nvGraphicFramePr>
          <p:cNvPr id="3" name="Table 2">
            <a:extLst>
              <a:ext uri="{FF2B5EF4-FFF2-40B4-BE49-F238E27FC236}">
                <a16:creationId xmlns:a16="http://schemas.microsoft.com/office/drawing/2014/main" id="{018A4E37-1A88-40A6-B50D-5B2C5808A35C}"/>
              </a:ext>
            </a:extLst>
          </p:cNvPr>
          <p:cNvGraphicFramePr>
            <a:graphicFrameLocks noGrp="1"/>
          </p:cNvGraphicFramePr>
          <p:nvPr>
            <p:extLst>
              <p:ext uri="{D42A27DB-BD31-4B8C-83A1-F6EECF244321}">
                <p14:modId xmlns:p14="http://schemas.microsoft.com/office/powerpoint/2010/main" val="349724748"/>
              </p:ext>
            </p:extLst>
          </p:nvPr>
        </p:nvGraphicFramePr>
        <p:xfrm>
          <a:off x="488935" y="794658"/>
          <a:ext cx="11278522" cy="3361446"/>
        </p:xfrm>
        <a:graphic>
          <a:graphicData uri="http://schemas.openxmlformats.org/drawingml/2006/table">
            <a:tbl>
              <a:tblPr/>
              <a:tblGrid>
                <a:gridCol w="405300">
                  <a:extLst>
                    <a:ext uri="{9D8B030D-6E8A-4147-A177-3AD203B41FA5}">
                      <a16:colId xmlns:a16="http://schemas.microsoft.com/office/drawing/2014/main" val="2661012687"/>
                    </a:ext>
                  </a:extLst>
                </a:gridCol>
                <a:gridCol w="1872767">
                  <a:extLst>
                    <a:ext uri="{9D8B030D-6E8A-4147-A177-3AD203B41FA5}">
                      <a16:colId xmlns:a16="http://schemas.microsoft.com/office/drawing/2014/main" val="2159347885"/>
                    </a:ext>
                  </a:extLst>
                </a:gridCol>
                <a:gridCol w="782648">
                  <a:extLst>
                    <a:ext uri="{9D8B030D-6E8A-4147-A177-3AD203B41FA5}">
                      <a16:colId xmlns:a16="http://schemas.microsoft.com/office/drawing/2014/main" val="1102580634"/>
                    </a:ext>
                  </a:extLst>
                </a:gridCol>
                <a:gridCol w="922408">
                  <a:extLst>
                    <a:ext uri="{9D8B030D-6E8A-4147-A177-3AD203B41FA5}">
                      <a16:colId xmlns:a16="http://schemas.microsoft.com/office/drawing/2014/main" val="26390714"/>
                    </a:ext>
                  </a:extLst>
                </a:gridCol>
                <a:gridCol w="782648">
                  <a:extLst>
                    <a:ext uri="{9D8B030D-6E8A-4147-A177-3AD203B41FA5}">
                      <a16:colId xmlns:a16="http://schemas.microsoft.com/office/drawing/2014/main" val="357901547"/>
                    </a:ext>
                  </a:extLst>
                </a:gridCol>
                <a:gridCol w="670841">
                  <a:extLst>
                    <a:ext uri="{9D8B030D-6E8A-4147-A177-3AD203B41FA5}">
                      <a16:colId xmlns:a16="http://schemas.microsoft.com/office/drawing/2014/main" val="2194092264"/>
                    </a:ext>
                  </a:extLst>
                </a:gridCol>
                <a:gridCol w="1020236">
                  <a:extLst>
                    <a:ext uri="{9D8B030D-6E8A-4147-A177-3AD203B41FA5}">
                      <a16:colId xmlns:a16="http://schemas.microsoft.com/office/drawing/2014/main" val="1466573589"/>
                    </a:ext>
                  </a:extLst>
                </a:gridCol>
                <a:gridCol w="922408">
                  <a:extLst>
                    <a:ext uri="{9D8B030D-6E8A-4147-A177-3AD203B41FA5}">
                      <a16:colId xmlns:a16="http://schemas.microsoft.com/office/drawing/2014/main" val="536198917"/>
                    </a:ext>
                  </a:extLst>
                </a:gridCol>
                <a:gridCol w="1034215">
                  <a:extLst>
                    <a:ext uri="{9D8B030D-6E8A-4147-A177-3AD203B41FA5}">
                      <a16:colId xmlns:a16="http://schemas.microsoft.com/office/drawing/2014/main" val="3320299849"/>
                    </a:ext>
                  </a:extLst>
                </a:gridCol>
                <a:gridCol w="1034215">
                  <a:extLst>
                    <a:ext uri="{9D8B030D-6E8A-4147-A177-3AD203B41FA5}">
                      <a16:colId xmlns:a16="http://schemas.microsoft.com/office/drawing/2014/main" val="2422235638"/>
                    </a:ext>
                  </a:extLst>
                </a:gridCol>
                <a:gridCol w="1830836">
                  <a:extLst>
                    <a:ext uri="{9D8B030D-6E8A-4147-A177-3AD203B41FA5}">
                      <a16:colId xmlns:a16="http://schemas.microsoft.com/office/drawing/2014/main" val="3221088986"/>
                    </a:ext>
                  </a:extLst>
                </a:gridCol>
              </a:tblGrid>
              <a:tr h="235605">
                <a:tc>
                  <a:txBody>
                    <a:bodyPr/>
                    <a:lstStyle/>
                    <a:p>
                      <a:pPr algn="ctr" fontAlgn="ctr"/>
                      <a:r>
                        <a:rPr lang="en-US" sz="1000" b="1" i="0" u="none" strike="noStrike" dirty="0" err="1">
                          <a:solidFill>
                            <a:schemeClr val="bg1"/>
                          </a:solidFill>
                          <a:effectLst/>
                          <a:latin typeface="+mn-lt"/>
                        </a:rPr>
                        <a:t>Sl</a:t>
                      </a:r>
                      <a:r>
                        <a:rPr lang="en-US" sz="1000" b="1" i="0" u="none" strike="noStrike" dirty="0">
                          <a:solidFill>
                            <a:schemeClr val="bg1"/>
                          </a:solidFill>
                          <a:effectLst/>
                          <a:latin typeface="+mn-lt"/>
                        </a:rPr>
                        <a:t> no</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Name of Project</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District</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Name of the implementing Agency</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TFO</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RIDF Loan</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Awarded Cost</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Fund released in FY 2021-22</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err="1">
                          <a:solidFill>
                            <a:schemeClr val="bg1"/>
                          </a:solidFill>
                          <a:effectLst/>
                          <a:latin typeface="+mn-lt"/>
                        </a:rPr>
                        <a:t>Tranch</a:t>
                      </a:r>
                      <a:r>
                        <a:rPr lang="en-US" sz="1000" b="1" i="0" u="none" strike="noStrike" dirty="0">
                          <a:solidFill>
                            <a:schemeClr val="bg1"/>
                          </a:solidFill>
                          <a:effectLst/>
                          <a:latin typeface="+mn-lt"/>
                        </a:rPr>
                        <a:t>-wise cumulative amount disbursed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Present Physical Progress/Financial Progress (% wise)</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Reasons for non </a:t>
                      </a:r>
                      <a:r>
                        <a:rPr lang="en-US" sz="1000" b="1" i="0" u="none" strike="noStrike" dirty="0" err="1">
                          <a:solidFill>
                            <a:schemeClr val="bg1"/>
                          </a:solidFill>
                          <a:effectLst/>
                          <a:latin typeface="+mn-lt"/>
                        </a:rPr>
                        <a:t>utilisation</a:t>
                      </a:r>
                      <a:endParaRPr lang="en-US" sz="1000" b="1" i="0" u="none" strike="noStrike" dirty="0">
                        <a:solidFill>
                          <a:schemeClr val="bg1"/>
                        </a:solidFill>
                        <a:effectLst/>
                        <a:latin typeface="+mn-lt"/>
                      </a:endParaRP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extLst>
                  <a:ext uri="{0D108BD9-81ED-4DB2-BD59-A6C34878D82A}">
                    <a16:rowId xmlns:a16="http://schemas.microsoft.com/office/drawing/2014/main" val="266403682"/>
                  </a:ext>
                </a:extLst>
              </a:tr>
              <a:tr h="49511">
                <a:tc>
                  <a:txBody>
                    <a:bodyPr/>
                    <a:lstStyle/>
                    <a:p>
                      <a:pPr algn="ctr" fontAlgn="ctr"/>
                      <a:r>
                        <a:rPr lang="en-US" sz="1000" b="1" i="0" u="none" strike="noStrike">
                          <a:solidFill>
                            <a:srgbClr val="000000"/>
                          </a:solidFill>
                          <a:effectLst/>
                          <a:latin typeface="+mn-lt"/>
                        </a:rPr>
                        <a:t>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iii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iv</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v</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vi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vii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viii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ix</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x</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xi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xv</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6098558"/>
                  </a:ext>
                </a:extLst>
              </a:tr>
              <a:tr h="171583">
                <a:tc>
                  <a:txBody>
                    <a:bodyPr/>
                    <a:lstStyle/>
                    <a:p>
                      <a:pPr algn="ctr" fontAlgn="ctr"/>
                      <a:r>
                        <a:rPr lang="en-US" sz="1000" b="0" i="0" u="none" strike="noStrike">
                          <a:solidFill>
                            <a:srgbClr val="000000"/>
                          </a:solidFill>
                          <a:effectLst/>
                          <a:latin typeface="+mn-lt"/>
                        </a:rPr>
                        <a:t>16</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10 MW Ground mounted Solar PV power plant (grid connected) at Kotaldih-I, Asansol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Paschim Barddhaman</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WBSEDCL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5202.82</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4942.68</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4172(excluding power evacuation)</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1668.80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4172.00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100%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100% physical progress</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37761898"/>
                  </a:ext>
                </a:extLst>
              </a:tr>
              <a:tr h="279141">
                <a:tc>
                  <a:txBody>
                    <a:bodyPr/>
                    <a:lstStyle/>
                    <a:p>
                      <a:pPr algn="ctr" fontAlgn="ctr"/>
                      <a:r>
                        <a:rPr lang="en-US" sz="1000" b="0" i="0" u="none" strike="noStrike">
                          <a:solidFill>
                            <a:srgbClr val="000000"/>
                          </a:solidFill>
                          <a:effectLst/>
                          <a:latin typeface="+mn-lt"/>
                        </a:rPr>
                        <a:t>17</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effectLst/>
                          <a:latin typeface="+mn-lt"/>
                        </a:rPr>
                        <a:t>10 MW Ground mounted Solar PV power plant (grid connected) at Kotaldih-II, Asansol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effectLst/>
                          <a:latin typeface="+mn-lt"/>
                        </a:rPr>
                        <a:t>Paschim Barddhaman</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ctr"/>
                      <a:r>
                        <a:rPr lang="en-US" sz="1000" b="0" i="0" u="none" strike="noStrike">
                          <a:solidFill>
                            <a:srgbClr val="000000"/>
                          </a:solidFill>
                          <a:effectLst/>
                          <a:latin typeface="+mn-lt"/>
                        </a:rPr>
                        <a:t>WBSEDCL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ctr"/>
                      <a:r>
                        <a:rPr lang="en-US" sz="1000" b="0" i="0" u="none" strike="noStrike">
                          <a:solidFill>
                            <a:srgbClr val="000000"/>
                          </a:solidFill>
                          <a:effectLst/>
                          <a:latin typeface="+mn-lt"/>
                        </a:rPr>
                        <a:t>5186.18</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ctr"/>
                      <a:r>
                        <a:rPr lang="en-US" sz="1000" b="0" i="0" u="none" strike="noStrike">
                          <a:solidFill>
                            <a:srgbClr val="000000"/>
                          </a:solidFill>
                          <a:effectLst/>
                          <a:latin typeface="+mn-lt"/>
                        </a:rPr>
                        <a:t>4926.87</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ctr"/>
                      <a:r>
                        <a:rPr lang="en-US" sz="1000" b="0" i="0" u="none" strike="noStrike">
                          <a:solidFill>
                            <a:srgbClr val="000000"/>
                          </a:solidFill>
                          <a:effectLst/>
                          <a:latin typeface="+mn-lt"/>
                        </a:rPr>
                        <a:t>Non  grounded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ctr"/>
                      <a:r>
                        <a:rPr lang="en-US" sz="1000" b="0" i="0" u="none" strike="noStrike">
                          <a:solidFill>
                            <a:srgbClr val="000000"/>
                          </a:solidFill>
                          <a:effectLst/>
                          <a:latin typeface="+mn-lt"/>
                        </a:rPr>
                        <a:t>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ctr"/>
                      <a:r>
                        <a:rPr lang="en-US" sz="1000" b="0" i="0" u="none" strike="noStrike">
                          <a:solidFill>
                            <a:srgbClr val="000000"/>
                          </a:solidFill>
                          <a:effectLst/>
                          <a:latin typeface="+mn-lt"/>
                        </a:rPr>
                        <a:t>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ctr"/>
                      <a:r>
                        <a:rPr lang="en-US" sz="1000" b="0" i="0" u="none" strike="noStrike">
                          <a:solidFill>
                            <a:srgbClr val="000000"/>
                          </a:solidFill>
                          <a:effectLst/>
                          <a:latin typeface="+mn-lt"/>
                        </a:rPr>
                        <a:t>____</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ctr"/>
                      <a:r>
                        <a:rPr lang="en-US" sz="1000" b="1" i="0" u="none" strike="noStrike">
                          <a:solidFill>
                            <a:srgbClr val="000000"/>
                          </a:solidFill>
                          <a:effectLst/>
                          <a:latin typeface="+mn-lt"/>
                        </a:rPr>
                        <a:t>Proposal for deletion of the projects was sent by FD to NABARD vide O.M. no. 951-FB dt. 21/10/19.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4061697757"/>
                  </a:ext>
                </a:extLst>
              </a:tr>
              <a:tr h="174144">
                <a:tc>
                  <a:txBody>
                    <a:bodyPr/>
                    <a:lstStyle/>
                    <a:p>
                      <a:pPr algn="ctr" fontAlgn="ctr"/>
                      <a:r>
                        <a:rPr lang="en-US" sz="1000" b="0" i="0" u="none" strike="noStrike" dirty="0">
                          <a:solidFill>
                            <a:srgbClr val="000000"/>
                          </a:solidFill>
                          <a:effectLst/>
                          <a:latin typeface="+mn-lt"/>
                        </a:rPr>
                        <a:t>18</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10 MW Ground mounted Solar PV power plant (grid connected) at Dhaka-I, Rajnagar</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Birbhum</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WBSEDCL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5104.77</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4849.53</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3963.41(excluding power evacuation)</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0.00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3963.41</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100%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Commissioned. PCR  submitted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9280144"/>
                  </a:ext>
                </a:extLst>
              </a:tr>
              <a:tr h="174144">
                <a:tc>
                  <a:txBody>
                    <a:bodyPr/>
                    <a:lstStyle/>
                    <a:p>
                      <a:pPr algn="ctr" fontAlgn="ctr"/>
                      <a:r>
                        <a:rPr lang="en-US" sz="1000" b="0" i="0" u="none" strike="noStrike" dirty="0">
                          <a:solidFill>
                            <a:srgbClr val="000000"/>
                          </a:solidFill>
                          <a:effectLst/>
                          <a:latin typeface="+mn-lt"/>
                        </a:rPr>
                        <a:t>19</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10 MW Ground mounted Solar PV power plant (grid connected) at Dhaka-II, Rajnagar</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endParaRPr lang="en-US" sz="1000" dirty="0">
                        <a:latin typeface="+mn-lt"/>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WBSEDCL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5104.77</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4849.53</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3951.1(excluding power evacuation)</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0.00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3951.1</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100%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mn-lt"/>
                        </a:rPr>
                        <a:t>Commissioned. PCR  submitted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2116267"/>
                  </a:ext>
                </a:extLst>
              </a:tr>
            </a:tbl>
          </a:graphicData>
        </a:graphic>
      </p:graphicFrame>
      <p:sp>
        <p:nvSpPr>
          <p:cNvPr id="4" name="TextBox 3">
            <a:extLst>
              <a:ext uri="{FF2B5EF4-FFF2-40B4-BE49-F238E27FC236}">
                <a16:creationId xmlns:a16="http://schemas.microsoft.com/office/drawing/2014/main" id="{1285A978-23E9-495F-B50D-391929CF7EB5}"/>
              </a:ext>
            </a:extLst>
          </p:cNvPr>
          <p:cNvSpPr txBox="1"/>
          <p:nvPr/>
        </p:nvSpPr>
        <p:spPr>
          <a:xfrm>
            <a:off x="7728857" y="569441"/>
            <a:ext cx="4245429" cy="276999"/>
          </a:xfrm>
          <a:prstGeom prst="rect">
            <a:avLst/>
          </a:prstGeom>
          <a:noFill/>
        </p:spPr>
        <p:txBody>
          <a:bodyPr wrap="square">
            <a:spAutoFit/>
          </a:bodyPr>
          <a:lstStyle/>
          <a:p>
            <a:r>
              <a:rPr lang="en-US" sz="1200" i="1" dirty="0"/>
              <a:t>[yellow-completed, grey-deleted, rest are ongoing]</a:t>
            </a:r>
          </a:p>
        </p:txBody>
      </p:sp>
      <p:sp>
        <p:nvSpPr>
          <p:cNvPr id="5" name="TextBox 4">
            <a:extLst>
              <a:ext uri="{FF2B5EF4-FFF2-40B4-BE49-F238E27FC236}">
                <a16:creationId xmlns:a16="http://schemas.microsoft.com/office/drawing/2014/main" id="{1D706F5D-5251-4960-A2FE-73E153CBE2C4}"/>
              </a:ext>
            </a:extLst>
          </p:cNvPr>
          <p:cNvSpPr txBox="1"/>
          <p:nvPr/>
        </p:nvSpPr>
        <p:spPr>
          <a:xfrm>
            <a:off x="8476177" y="6102850"/>
            <a:ext cx="3496760" cy="153888"/>
          </a:xfrm>
          <a:prstGeom prst="rect">
            <a:avLst/>
          </a:prstGeom>
          <a:noFill/>
        </p:spPr>
        <p:txBody>
          <a:bodyPr wrap="square" lIns="0" tIns="0" rIns="0" bIns="0" rtlCol="0">
            <a:spAutoFit/>
          </a:bodyPr>
          <a:lstStyle/>
          <a:p>
            <a:pPr>
              <a:spcBef>
                <a:spcPts val="600"/>
              </a:spcBef>
              <a:buSzPct val="100000"/>
            </a:pPr>
            <a:r>
              <a:rPr lang="en-US" sz="1000" dirty="0">
                <a:solidFill>
                  <a:srgbClr val="313131"/>
                </a:solidFill>
              </a:rPr>
              <a:t>Source: Dept. of Power, WB, RDSS Proposal </a:t>
            </a:r>
          </a:p>
        </p:txBody>
      </p:sp>
    </p:spTree>
    <p:extLst>
      <p:ext uri="{BB962C8B-B14F-4D97-AF65-F5344CB8AC3E}">
        <p14:creationId xmlns:p14="http://schemas.microsoft.com/office/powerpoint/2010/main" val="102301613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252922"/>
            <a:ext cx="11188700" cy="368299"/>
          </a:xfrm>
        </p:spPr>
        <p:txBody>
          <a:bodyPr vert="horz"/>
          <a:lstStyle/>
          <a:p>
            <a:pPr algn="just"/>
            <a:r>
              <a:rPr lang="en-US" sz="1800" i="0" dirty="0">
                <a:solidFill>
                  <a:schemeClr val="tx1"/>
                </a:solidFill>
              </a:rPr>
              <a:t> Review of status of schemes sanctioned under different RIDF Tranche (6/6)</a:t>
            </a:r>
          </a:p>
        </p:txBody>
      </p:sp>
      <p:graphicFrame>
        <p:nvGraphicFramePr>
          <p:cNvPr id="3" name="Table 2">
            <a:extLst>
              <a:ext uri="{FF2B5EF4-FFF2-40B4-BE49-F238E27FC236}">
                <a16:creationId xmlns:a16="http://schemas.microsoft.com/office/drawing/2014/main" id="{018A4E37-1A88-40A6-B50D-5B2C5808A35C}"/>
              </a:ext>
            </a:extLst>
          </p:cNvPr>
          <p:cNvGraphicFramePr>
            <a:graphicFrameLocks noGrp="1"/>
          </p:cNvGraphicFramePr>
          <p:nvPr>
            <p:extLst>
              <p:ext uri="{D42A27DB-BD31-4B8C-83A1-F6EECF244321}">
                <p14:modId xmlns:p14="http://schemas.microsoft.com/office/powerpoint/2010/main" val="2658323013"/>
              </p:ext>
            </p:extLst>
          </p:nvPr>
        </p:nvGraphicFramePr>
        <p:xfrm>
          <a:off x="315686" y="805544"/>
          <a:ext cx="11549742" cy="3257887"/>
        </p:xfrm>
        <a:graphic>
          <a:graphicData uri="http://schemas.openxmlformats.org/drawingml/2006/table">
            <a:tbl>
              <a:tblPr/>
              <a:tblGrid>
                <a:gridCol w="415046">
                  <a:extLst>
                    <a:ext uri="{9D8B030D-6E8A-4147-A177-3AD203B41FA5}">
                      <a16:colId xmlns:a16="http://schemas.microsoft.com/office/drawing/2014/main" val="2661012687"/>
                    </a:ext>
                  </a:extLst>
                </a:gridCol>
                <a:gridCol w="1917802">
                  <a:extLst>
                    <a:ext uri="{9D8B030D-6E8A-4147-A177-3AD203B41FA5}">
                      <a16:colId xmlns:a16="http://schemas.microsoft.com/office/drawing/2014/main" val="2159347885"/>
                    </a:ext>
                  </a:extLst>
                </a:gridCol>
                <a:gridCol w="801469">
                  <a:extLst>
                    <a:ext uri="{9D8B030D-6E8A-4147-A177-3AD203B41FA5}">
                      <a16:colId xmlns:a16="http://schemas.microsoft.com/office/drawing/2014/main" val="1102580634"/>
                    </a:ext>
                  </a:extLst>
                </a:gridCol>
                <a:gridCol w="784540">
                  <a:extLst>
                    <a:ext uri="{9D8B030D-6E8A-4147-A177-3AD203B41FA5}">
                      <a16:colId xmlns:a16="http://schemas.microsoft.com/office/drawing/2014/main" val="26390714"/>
                    </a:ext>
                  </a:extLst>
                </a:gridCol>
                <a:gridCol w="961519">
                  <a:extLst>
                    <a:ext uri="{9D8B030D-6E8A-4147-A177-3AD203B41FA5}">
                      <a16:colId xmlns:a16="http://schemas.microsoft.com/office/drawing/2014/main" val="357901547"/>
                    </a:ext>
                  </a:extLst>
                </a:gridCol>
                <a:gridCol w="686973">
                  <a:extLst>
                    <a:ext uri="{9D8B030D-6E8A-4147-A177-3AD203B41FA5}">
                      <a16:colId xmlns:a16="http://schemas.microsoft.com/office/drawing/2014/main" val="2194092264"/>
                    </a:ext>
                  </a:extLst>
                </a:gridCol>
                <a:gridCol w="1044770">
                  <a:extLst>
                    <a:ext uri="{9D8B030D-6E8A-4147-A177-3AD203B41FA5}">
                      <a16:colId xmlns:a16="http://schemas.microsoft.com/office/drawing/2014/main" val="1466573589"/>
                    </a:ext>
                  </a:extLst>
                </a:gridCol>
                <a:gridCol w="944590">
                  <a:extLst>
                    <a:ext uri="{9D8B030D-6E8A-4147-A177-3AD203B41FA5}">
                      <a16:colId xmlns:a16="http://schemas.microsoft.com/office/drawing/2014/main" val="536198917"/>
                    </a:ext>
                  </a:extLst>
                </a:gridCol>
                <a:gridCol w="1059085">
                  <a:extLst>
                    <a:ext uri="{9D8B030D-6E8A-4147-A177-3AD203B41FA5}">
                      <a16:colId xmlns:a16="http://schemas.microsoft.com/office/drawing/2014/main" val="3320299849"/>
                    </a:ext>
                  </a:extLst>
                </a:gridCol>
                <a:gridCol w="1059085">
                  <a:extLst>
                    <a:ext uri="{9D8B030D-6E8A-4147-A177-3AD203B41FA5}">
                      <a16:colId xmlns:a16="http://schemas.microsoft.com/office/drawing/2014/main" val="2422235638"/>
                    </a:ext>
                  </a:extLst>
                </a:gridCol>
                <a:gridCol w="1874863">
                  <a:extLst>
                    <a:ext uri="{9D8B030D-6E8A-4147-A177-3AD203B41FA5}">
                      <a16:colId xmlns:a16="http://schemas.microsoft.com/office/drawing/2014/main" val="3221088986"/>
                    </a:ext>
                  </a:extLst>
                </a:gridCol>
              </a:tblGrid>
              <a:tr h="602144">
                <a:tc>
                  <a:txBody>
                    <a:bodyPr/>
                    <a:lstStyle/>
                    <a:p>
                      <a:pPr algn="ctr" fontAlgn="ctr"/>
                      <a:r>
                        <a:rPr lang="en-US" sz="1000" b="1" i="0" u="none" strike="noStrike" dirty="0" err="1">
                          <a:solidFill>
                            <a:schemeClr val="bg1"/>
                          </a:solidFill>
                          <a:effectLst/>
                          <a:latin typeface="+mn-lt"/>
                        </a:rPr>
                        <a:t>Sl</a:t>
                      </a:r>
                      <a:r>
                        <a:rPr lang="en-US" sz="1000" b="1" i="0" u="none" strike="noStrike" dirty="0">
                          <a:solidFill>
                            <a:schemeClr val="bg1"/>
                          </a:solidFill>
                          <a:effectLst/>
                          <a:latin typeface="+mn-lt"/>
                        </a:rPr>
                        <a:t> no</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Name of Project</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District</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Name of the implementing Agency</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TFO</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RIDF Loan</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Awarded Cost</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Fund released in FY 2021-22</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err="1">
                          <a:solidFill>
                            <a:schemeClr val="bg1"/>
                          </a:solidFill>
                          <a:effectLst/>
                          <a:latin typeface="+mn-lt"/>
                        </a:rPr>
                        <a:t>Tranch</a:t>
                      </a:r>
                      <a:r>
                        <a:rPr lang="en-US" sz="1000" b="1" i="0" u="none" strike="noStrike" dirty="0">
                          <a:solidFill>
                            <a:schemeClr val="bg1"/>
                          </a:solidFill>
                          <a:effectLst/>
                          <a:latin typeface="+mn-lt"/>
                        </a:rPr>
                        <a:t>-wise cumulative amount disbursed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Present Physical Progress/Financial Progress (% wise)</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tc>
                  <a:txBody>
                    <a:bodyPr/>
                    <a:lstStyle/>
                    <a:p>
                      <a:pPr algn="ctr" fontAlgn="ctr"/>
                      <a:r>
                        <a:rPr lang="en-US" sz="1000" b="1" i="0" u="none" strike="noStrike" dirty="0">
                          <a:solidFill>
                            <a:schemeClr val="bg1"/>
                          </a:solidFill>
                          <a:effectLst/>
                          <a:latin typeface="+mn-lt"/>
                        </a:rPr>
                        <a:t>Reasons for non </a:t>
                      </a:r>
                      <a:r>
                        <a:rPr lang="en-US" sz="1000" b="1" i="0" u="none" strike="noStrike" dirty="0" err="1">
                          <a:solidFill>
                            <a:schemeClr val="bg1"/>
                          </a:solidFill>
                          <a:effectLst/>
                          <a:latin typeface="+mn-lt"/>
                        </a:rPr>
                        <a:t>utilisation</a:t>
                      </a:r>
                      <a:endParaRPr lang="en-US" sz="1000" b="1" i="0" u="none" strike="noStrike" dirty="0">
                        <a:solidFill>
                          <a:schemeClr val="bg1"/>
                        </a:solidFill>
                        <a:effectLst/>
                        <a:latin typeface="+mn-lt"/>
                      </a:endParaRP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680"/>
                    </a:solidFill>
                  </a:tcPr>
                </a:tc>
                <a:extLst>
                  <a:ext uri="{0D108BD9-81ED-4DB2-BD59-A6C34878D82A}">
                    <a16:rowId xmlns:a16="http://schemas.microsoft.com/office/drawing/2014/main" val="266403682"/>
                  </a:ext>
                </a:extLst>
              </a:tr>
              <a:tr h="101015">
                <a:tc>
                  <a:txBody>
                    <a:bodyPr/>
                    <a:lstStyle/>
                    <a:p>
                      <a:pPr algn="ctr" fontAlgn="ctr"/>
                      <a:r>
                        <a:rPr lang="en-US" sz="1000" b="1" i="0" u="none" strike="noStrike">
                          <a:solidFill>
                            <a:srgbClr val="000000"/>
                          </a:solidFill>
                          <a:effectLst/>
                          <a:latin typeface="+mn-lt"/>
                        </a:rPr>
                        <a:t>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iii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iv</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v</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vi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vii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viii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ix</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x</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xi</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xv</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06098558"/>
                  </a:ext>
                </a:extLst>
              </a:tr>
              <a:tr h="802595">
                <a:tc>
                  <a:txBody>
                    <a:bodyPr/>
                    <a:lstStyle/>
                    <a:p>
                      <a:pPr algn="ctr" fontAlgn="ctr"/>
                      <a:r>
                        <a:rPr lang="en-US" sz="1000" b="0" i="0" u="none" strike="noStrike" dirty="0">
                          <a:solidFill>
                            <a:schemeClr val="tx1"/>
                          </a:solidFill>
                          <a:effectLst/>
                          <a:latin typeface="+mn-lt"/>
                        </a:rPr>
                        <a:t>20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7 MW Ground mounted Solar PV power plant (grid connected) at DPL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Paschim Barddhaman</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WBREDA</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4017.98</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3817.08</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523.60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20%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dirty="0">
                          <a:solidFill>
                            <a:srgbClr val="000000"/>
                          </a:solidFill>
                          <a:effectLst/>
                          <a:latin typeface="+mn-lt"/>
                        </a:rPr>
                        <a:t>Termination notice served to the contractor. DPL was entrusted with the job. New contractor will be selected through e-Tender. Tendering process started.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51234656"/>
                  </a:ext>
                </a:extLst>
              </a:tr>
              <a:tr h="401692">
                <a:tc>
                  <a:txBody>
                    <a:bodyPr/>
                    <a:lstStyle/>
                    <a:p>
                      <a:pPr algn="ctr" fontAlgn="ctr"/>
                      <a:r>
                        <a:rPr lang="en-US" sz="1000" b="0" i="0" u="none" strike="noStrike" dirty="0">
                          <a:solidFill>
                            <a:srgbClr val="000000"/>
                          </a:solidFill>
                          <a:effectLst/>
                          <a:latin typeface="+mn-lt"/>
                        </a:rPr>
                        <a:t>21</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10 MW Floating Solar PV power plant (grid connected) at Sagardighi TPS</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Murshidabad</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WBPDCL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6002.52</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5702.40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5654.79</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3068.74</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3068.74</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56%</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56% physical progress</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83920733"/>
                  </a:ext>
                </a:extLst>
              </a:tr>
              <a:tr h="201241">
                <a:tc gridSpan="4">
                  <a:txBody>
                    <a:bodyPr/>
                    <a:lstStyle/>
                    <a:p>
                      <a:pPr algn="ctr" fontAlgn="ctr"/>
                      <a:r>
                        <a:rPr lang="en-US" sz="1000" b="1" i="0" u="none" strike="noStrike" dirty="0">
                          <a:solidFill>
                            <a:srgbClr val="000000"/>
                          </a:solidFill>
                          <a:effectLst/>
                          <a:latin typeface="+mn-lt"/>
                        </a:rPr>
                        <a:t>Sub-Total [Tranche XXIV]</a:t>
                      </a:r>
                    </a:p>
                  </a:txBody>
                  <a:tcPr marL="1441" marR="1441" marT="144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r>
                        <a:rPr lang="en-US" sz="1000" b="1" i="0" u="none" strike="noStrike">
                          <a:solidFill>
                            <a:srgbClr val="000000"/>
                          </a:solidFill>
                          <a:effectLst/>
                          <a:latin typeface="+mn-lt"/>
                        </a:rPr>
                        <a:t>40988.05</a:t>
                      </a:r>
                    </a:p>
                  </a:txBody>
                  <a:tcPr marL="1441" marR="1441" marT="144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38938.65</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27860.99</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7140.12</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24992.02</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mn-lt"/>
                        </a:rPr>
                        <a:t>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63428338"/>
                  </a:ext>
                </a:extLst>
              </a:tr>
              <a:tr h="401692">
                <a:tc>
                  <a:txBody>
                    <a:bodyPr/>
                    <a:lstStyle/>
                    <a:p>
                      <a:pPr algn="ctr" fontAlgn="ctr"/>
                      <a:r>
                        <a:rPr lang="en-US" sz="1000" b="0" i="0" u="none" strike="noStrike">
                          <a:solidFill>
                            <a:srgbClr val="000000"/>
                          </a:solidFill>
                          <a:effectLst/>
                          <a:latin typeface="+mn-lt"/>
                        </a:rPr>
                        <a:t>22</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REAPS [energization of 6138 no. of Agricultural Pump sets] </a:t>
                      </a:r>
                      <a:r>
                        <a:rPr lang="en-US" sz="1000" b="1" i="0" u="none" strike="noStrike">
                          <a:solidFill>
                            <a:srgbClr val="000000"/>
                          </a:solidFill>
                          <a:effectLst/>
                          <a:latin typeface="+mn-lt"/>
                        </a:rPr>
                        <a:t>under TR XXV</a:t>
                      </a:r>
                      <a:endParaRPr lang="en-US" sz="1000" b="0" i="0" u="none" strike="noStrike">
                        <a:solidFill>
                          <a:srgbClr val="000000"/>
                        </a:solidFill>
                        <a:effectLst/>
                        <a:latin typeface="+mn-lt"/>
                      </a:endParaRP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W.B.</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WBSEDCL</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20747.92</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19710.52</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20747.92</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3053.43</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20747.92</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100%</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6138 service connections effected. PCR to be submitted.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38078431"/>
                  </a:ext>
                </a:extLst>
              </a:tr>
              <a:tr h="201241">
                <a:tc gridSpan="4">
                  <a:txBody>
                    <a:bodyPr/>
                    <a:lstStyle/>
                    <a:p>
                      <a:pPr algn="ctr" fontAlgn="ctr"/>
                      <a:r>
                        <a:rPr lang="en-US" sz="1000" b="1" i="0" u="none" strike="noStrike">
                          <a:solidFill>
                            <a:srgbClr val="000000"/>
                          </a:solidFill>
                          <a:effectLst/>
                          <a:latin typeface="+mn-lt"/>
                        </a:rPr>
                        <a:t>GrossTotal</a:t>
                      </a:r>
                    </a:p>
                  </a:txBody>
                  <a:tcPr marL="1441" marR="1441" marT="144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r>
                        <a:rPr lang="en-US" sz="1000" b="1" i="0" u="none" strike="noStrike">
                          <a:solidFill>
                            <a:srgbClr val="000000"/>
                          </a:solidFill>
                          <a:effectLst/>
                          <a:latin typeface="+mn-lt"/>
                        </a:rPr>
                        <a:t>130629.22</a:t>
                      </a:r>
                    </a:p>
                  </a:txBody>
                  <a:tcPr marL="1441" marR="1441" marT="144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121889</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101650.02</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11398.51</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a:solidFill>
                            <a:srgbClr val="000000"/>
                          </a:solidFill>
                          <a:effectLst/>
                          <a:latin typeface="+mn-lt"/>
                        </a:rPr>
                        <a:t>91213.61</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mn-lt"/>
                        </a:rPr>
                        <a:t> </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1" i="0" u="none" strike="noStrike" dirty="0">
                          <a:solidFill>
                            <a:srgbClr val="000000"/>
                          </a:solidFill>
                          <a:effectLst/>
                          <a:latin typeface="+mn-lt"/>
                        </a:rPr>
                        <a:t>BE 2021-22 :- Rs.30000 lakh</a:t>
                      </a:r>
                    </a:p>
                  </a:txBody>
                  <a:tcPr marL="1441" marR="1441" marT="14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4573310"/>
                  </a:ext>
                </a:extLst>
              </a:tr>
            </a:tbl>
          </a:graphicData>
        </a:graphic>
      </p:graphicFrame>
      <p:graphicFrame>
        <p:nvGraphicFramePr>
          <p:cNvPr id="4" name="Table 3">
            <a:extLst>
              <a:ext uri="{FF2B5EF4-FFF2-40B4-BE49-F238E27FC236}">
                <a16:creationId xmlns:a16="http://schemas.microsoft.com/office/drawing/2014/main" id="{405E26CE-2CAB-4E3D-A5A1-2F3B988130F4}"/>
              </a:ext>
            </a:extLst>
          </p:cNvPr>
          <p:cNvGraphicFramePr>
            <a:graphicFrameLocks noGrp="1"/>
          </p:cNvGraphicFramePr>
          <p:nvPr>
            <p:extLst>
              <p:ext uri="{D42A27DB-BD31-4B8C-83A1-F6EECF244321}">
                <p14:modId xmlns:p14="http://schemas.microsoft.com/office/powerpoint/2010/main" val="11379642"/>
              </p:ext>
            </p:extLst>
          </p:nvPr>
        </p:nvGraphicFramePr>
        <p:xfrm>
          <a:off x="315685" y="4998485"/>
          <a:ext cx="11549743" cy="745490"/>
        </p:xfrm>
        <a:graphic>
          <a:graphicData uri="http://schemas.openxmlformats.org/drawingml/2006/table">
            <a:tbl>
              <a:tblPr/>
              <a:tblGrid>
                <a:gridCol w="4619898">
                  <a:extLst>
                    <a:ext uri="{9D8B030D-6E8A-4147-A177-3AD203B41FA5}">
                      <a16:colId xmlns:a16="http://schemas.microsoft.com/office/drawing/2014/main" val="4226894918"/>
                    </a:ext>
                  </a:extLst>
                </a:gridCol>
                <a:gridCol w="6929845">
                  <a:extLst>
                    <a:ext uri="{9D8B030D-6E8A-4147-A177-3AD203B41FA5}">
                      <a16:colId xmlns:a16="http://schemas.microsoft.com/office/drawing/2014/main" val="839061527"/>
                    </a:ext>
                  </a:extLst>
                </a:gridCol>
              </a:tblGrid>
              <a:tr h="314325">
                <a:tc>
                  <a:txBody>
                    <a:bodyPr/>
                    <a:lstStyle/>
                    <a:p>
                      <a:pPr marL="171450" indent="-171450" algn="l" fontAlgn="ctr">
                        <a:buFont typeface="Wingdings" panose="05000000000000000000" pitchFamily="2" charset="2"/>
                        <a:buChar char="q"/>
                      </a:pPr>
                      <a:r>
                        <a:rPr lang="en-US" sz="1200" b="0" i="1" u="none" strike="noStrike" dirty="0">
                          <a:solidFill>
                            <a:srgbClr val="000000"/>
                          </a:solidFill>
                          <a:effectLst/>
                          <a:latin typeface="+mn-lt"/>
                        </a:rPr>
                        <a:t>TFO [excluding deleted projects] :- 106248.30 lakh. * Cumulative Awarded cost [excluding deleted projects] :- 101650 lakh  </a:t>
                      </a:r>
                    </a:p>
                  </a:txBody>
                  <a:tcPr marL="6350" marR="6350" marT="6350" marB="0"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rowSpan="2">
                  <a:txBody>
                    <a:bodyPr/>
                    <a:lstStyle/>
                    <a:p>
                      <a:pPr algn="l" fontAlgn="ctr">
                        <a:tabLst/>
                      </a:pPr>
                      <a:r>
                        <a:rPr lang="en-US" sz="1200" b="1" i="1" u="none" strike="noStrike" dirty="0">
                          <a:solidFill>
                            <a:srgbClr val="000000"/>
                          </a:solidFill>
                          <a:effectLst/>
                          <a:latin typeface="+mn-lt"/>
                        </a:rPr>
                        <a:t>(1) Total No of proposal deleted :- 6. (2) Cumulative Amount disbursed  :- Rs 91213.61 lakh. (3) Total value of Projects surrendered :- Rs. 24380.92 lakh. (5) % utilization during FY 21-22:- 99 on ceiling amount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67749968"/>
                  </a:ext>
                </a:extLst>
              </a:tr>
              <a:tr h="190500">
                <a:tc>
                  <a:txBody>
                    <a:bodyPr/>
                    <a:lstStyle/>
                    <a:p>
                      <a:pPr marL="171450" indent="-171450" algn="l" fontAlgn="ctr">
                        <a:buFont typeface="Wingdings" panose="05000000000000000000" pitchFamily="2" charset="2"/>
                        <a:buChar char="q"/>
                      </a:pPr>
                      <a:r>
                        <a:rPr lang="en-US" sz="1200" b="0" i="1" u="none" strike="noStrike" dirty="0">
                          <a:solidFill>
                            <a:srgbClr val="000000"/>
                          </a:solidFill>
                          <a:effectLst/>
                          <a:latin typeface="+mn-lt"/>
                        </a:rPr>
                        <a:t>% disbursement against Awarded cost is 82</a:t>
                      </a:r>
                    </a:p>
                  </a:txBody>
                  <a:tcPr marL="6350" marR="6350" marT="6350" marB="0" anchor="ctr">
                    <a:lnL>
                      <a:noFill/>
                    </a:lnL>
                    <a:lnR w="63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591003127"/>
                  </a:ext>
                </a:extLst>
              </a:tr>
            </a:tbl>
          </a:graphicData>
        </a:graphic>
      </p:graphicFrame>
      <p:sp>
        <p:nvSpPr>
          <p:cNvPr id="6" name="TextBox 5">
            <a:extLst>
              <a:ext uri="{FF2B5EF4-FFF2-40B4-BE49-F238E27FC236}">
                <a16:creationId xmlns:a16="http://schemas.microsoft.com/office/drawing/2014/main" id="{7BE538BB-C874-4D1B-91D0-8379C90DF46B}"/>
              </a:ext>
            </a:extLst>
          </p:cNvPr>
          <p:cNvSpPr txBox="1"/>
          <p:nvPr/>
        </p:nvSpPr>
        <p:spPr>
          <a:xfrm>
            <a:off x="7728857" y="569441"/>
            <a:ext cx="4245429" cy="276999"/>
          </a:xfrm>
          <a:prstGeom prst="rect">
            <a:avLst/>
          </a:prstGeom>
          <a:noFill/>
        </p:spPr>
        <p:txBody>
          <a:bodyPr wrap="square">
            <a:spAutoFit/>
          </a:bodyPr>
          <a:lstStyle/>
          <a:p>
            <a:r>
              <a:rPr lang="en-US" sz="1200" i="1" dirty="0"/>
              <a:t>[yellow-completed, grey-deleted, rest are ongoing]</a:t>
            </a:r>
          </a:p>
        </p:txBody>
      </p:sp>
      <p:sp>
        <p:nvSpPr>
          <p:cNvPr id="7" name="TextBox 6">
            <a:extLst>
              <a:ext uri="{FF2B5EF4-FFF2-40B4-BE49-F238E27FC236}">
                <a16:creationId xmlns:a16="http://schemas.microsoft.com/office/drawing/2014/main" id="{E14BB6AF-3FB8-4F30-9A10-13FD588F26FE}"/>
              </a:ext>
            </a:extLst>
          </p:cNvPr>
          <p:cNvSpPr txBox="1"/>
          <p:nvPr/>
        </p:nvSpPr>
        <p:spPr>
          <a:xfrm>
            <a:off x="8476177" y="6113124"/>
            <a:ext cx="3496760" cy="153888"/>
          </a:xfrm>
          <a:prstGeom prst="rect">
            <a:avLst/>
          </a:prstGeom>
          <a:noFill/>
        </p:spPr>
        <p:txBody>
          <a:bodyPr wrap="square" lIns="0" tIns="0" rIns="0" bIns="0" rtlCol="0">
            <a:spAutoFit/>
          </a:bodyPr>
          <a:lstStyle/>
          <a:p>
            <a:pPr>
              <a:spcBef>
                <a:spcPts val="600"/>
              </a:spcBef>
              <a:buSzPct val="100000"/>
            </a:pPr>
            <a:r>
              <a:rPr lang="en-US" sz="1000" dirty="0">
                <a:solidFill>
                  <a:srgbClr val="313131"/>
                </a:solidFill>
              </a:rPr>
              <a:t>Source: Dept. of Power, WB, RDSS Proposal </a:t>
            </a:r>
          </a:p>
        </p:txBody>
      </p:sp>
    </p:spTree>
    <p:extLst>
      <p:ext uri="{BB962C8B-B14F-4D97-AF65-F5344CB8AC3E}">
        <p14:creationId xmlns:p14="http://schemas.microsoft.com/office/powerpoint/2010/main" val="28953906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3065"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38352" y="1416208"/>
            <a:ext cx="10680733" cy="861774"/>
          </a:xfrm>
        </p:spPr>
        <p:txBody>
          <a:bodyPr wrap="square" anchor="ctr" anchorCtr="0">
            <a:spAutoFit/>
          </a:bodyPr>
          <a:lstStyle/>
          <a:p>
            <a:r>
              <a:rPr lang="en-US" sz="2800" i="0" dirty="0">
                <a:solidFill>
                  <a:schemeClr val="tx1"/>
                </a:solidFill>
              </a:rPr>
              <a:t>Identification of Policy and Regulatory Interventions to accelerate Grid Connected and off grid RE Projects</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68992" y="1590786"/>
            <a:ext cx="501149" cy="501149"/>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2000" b="1" i="0" u="none" strike="noStrike" kern="0" cap="none" spc="0" normalizeH="0" baseline="0" noProof="0" dirty="0">
                <a:ln>
                  <a:noFill/>
                </a:ln>
                <a:solidFill>
                  <a:prstClr val="white"/>
                </a:solidFill>
                <a:effectLst/>
                <a:uLnTx/>
                <a:uFillTx/>
              </a:rPr>
              <a:t>7</a:t>
            </a:r>
            <a:endParaRPr kumimoji="0" lang="en-IN" sz="20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5454753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828" y="1723"/>
          <a:ext cx="1588" cy="1588"/>
        </p:xfrm>
        <a:graphic>
          <a:graphicData uri="http://schemas.openxmlformats.org/presentationml/2006/ole">
            <mc:AlternateContent xmlns:mc="http://schemas.openxmlformats.org/markup-compatibility/2006">
              <mc:Choice xmlns:v="urn:schemas-microsoft-com:vml" Requires="v">
                <p:oleObj spid="_x0000_s44090" name="think-cell Slide" r:id="rId5" imgW="498" imgH="499" progId="TCLayout.ActiveDocument.1">
                  <p:embed/>
                </p:oleObj>
              </mc:Choice>
              <mc:Fallback>
                <p:oleObj name="think-cell Slide" r:id="rId5"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6"/>
                      <a:stretch>
                        <a:fillRect/>
                      </a:stretch>
                    </p:blipFill>
                    <p:spPr>
                      <a:xfrm>
                        <a:off x="1828" y="1723"/>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872" y="185428"/>
            <a:ext cx="11188260" cy="368285"/>
          </a:xfrm>
        </p:spPr>
        <p:txBody>
          <a:bodyPr vert="horz"/>
          <a:lstStyle/>
          <a:p>
            <a:pPr algn="just"/>
            <a:r>
              <a:rPr lang="en-US" sz="1800" b="1" dirty="0"/>
              <a:t>RE Integration Low in West Bengal- Significant scope for improvement</a:t>
            </a:r>
          </a:p>
        </p:txBody>
      </p:sp>
      <p:graphicFrame>
        <p:nvGraphicFramePr>
          <p:cNvPr id="4" name="Chart 3">
            <a:extLst>
              <a:ext uri="{FF2B5EF4-FFF2-40B4-BE49-F238E27FC236}">
                <a16:creationId xmlns:a16="http://schemas.microsoft.com/office/drawing/2014/main" id="{AD3DA6A3-9FD9-4FE6-8919-538F14B41A18}"/>
              </a:ext>
            </a:extLst>
          </p:cNvPr>
          <p:cNvGraphicFramePr/>
          <p:nvPr/>
        </p:nvGraphicFramePr>
        <p:xfrm>
          <a:off x="501873" y="3699101"/>
          <a:ext cx="11454747" cy="2348303"/>
        </p:xfrm>
        <a:graphic>
          <a:graphicData uri="http://schemas.openxmlformats.org/drawingml/2006/chart">
            <c:chart xmlns:c="http://schemas.openxmlformats.org/drawingml/2006/chart" xmlns:r="http://schemas.openxmlformats.org/officeDocument/2006/relationships" r:id="rId7"/>
          </a:graphicData>
        </a:graphic>
      </p:graphicFrame>
      <p:sp>
        <p:nvSpPr>
          <p:cNvPr id="57" name="Rectangle 56">
            <a:extLst>
              <a:ext uri="{FF2B5EF4-FFF2-40B4-BE49-F238E27FC236}">
                <a16:creationId xmlns:a16="http://schemas.microsoft.com/office/drawing/2014/main" id="{FB296D23-03AA-470D-9812-A6BAF36B0991}"/>
              </a:ext>
            </a:extLst>
          </p:cNvPr>
          <p:cNvSpPr/>
          <p:nvPr/>
        </p:nvSpPr>
        <p:spPr bwMode="gray">
          <a:xfrm>
            <a:off x="7060105" y="810596"/>
            <a:ext cx="4896515" cy="2393947"/>
          </a:xfrm>
          <a:prstGeom prst="rect">
            <a:avLst/>
          </a:prstGeom>
          <a:solidFill>
            <a:schemeClr val="bg1">
              <a:lumMod val="95000"/>
            </a:schemeClr>
          </a:solidFill>
          <a:ln>
            <a:solidFill>
              <a:schemeClr val="tx1"/>
            </a:solidFill>
            <a:prstDash val="dash"/>
          </a:ln>
        </p:spPr>
        <p:txBody>
          <a:bodyPr wrap="square" lIns="71997" tIns="71997" rIns="71997" bIns="71997" rtlCol="0" anchor="ctr" anchorCtr="0">
            <a:noAutofit/>
          </a:bodyPr>
          <a:lstStyle/>
          <a:p>
            <a:pPr marL="171438" marR="0" lvl="0" indent="-171438" algn="just" defTabSz="9142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1" u="none" strike="noStrike" kern="1200" cap="none" spc="0" normalizeH="0" baseline="0" noProof="0" dirty="0">
                <a:ln>
                  <a:noFill/>
                </a:ln>
                <a:solidFill>
                  <a:prstClr val="black"/>
                </a:solidFill>
                <a:effectLst/>
                <a:uLnTx/>
                <a:uFillTx/>
                <a:latin typeface="Verdana"/>
                <a:ea typeface="+mn-ea"/>
                <a:cs typeface="+mn-cs"/>
              </a:rPr>
              <a:t>With respect to Renewable Purchase Obligation (RPO), total RPO figures have drastically reduced in comparison to previous years, although target has increased </a:t>
            </a:r>
          </a:p>
          <a:p>
            <a:pPr marL="171438" marR="0" lvl="0" indent="-171438" algn="just" defTabSz="91427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1" u="none" strike="noStrike" kern="1200" cap="none" spc="0" normalizeH="0" baseline="0" noProof="0" dirty="0">
              <a:ln>
                <a:noFill/>
              </a:ln>
              <a:solidFill>
                <a:prstClr val="black"/>
              </a:solidFill>
              <a:effectLst/>
              <a:uLnTx/>
              <a:uFillTx/>
              <a:latin typeface="Verdana"/>
              <a:ea typeface="+mn-ea"/>
              <a:cs typeface="+mn-cs"/>
            </a:endParaRPr>
          </a:p>
          <a:p>
            <a:pPr marL="171438" marR="0" lvl="0" indent="-171438" algn="just" defTabSz="9142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1" u="none" strike="noStrike" kern="1200" cap="none" spc="0" normalizeH="0" baseline="0" noProof="0" dirty="0">
                <a:ln>
                  <a:noFill/>
                </a:ln>
                <a:solidFill>
                  <a:prstClr val="black"/>
                </a:solidFill>
                <a:effectLst/>
                <a:uLnTx/>
                <a:uFillTx/>
                <a:latin typeface="Verdana"/>
                <a:ea typeface="+mn-ea"/>
                <a:cs typeface="+mn-cs"/>
              </a:rPr>
              <a:t>Decrease in actual RPO can be because Total RE purchase has decreased from 890.55 MUs in FY 2019-20 to 384.37 MUs in FY 2020-21 </a:t>
            </a:r>
            <a:r>
              <a:rPr kumimoji="0" lang="en-US" sz="1200" b="1" i="1" u="none" strike="noStrike" kern="1200" cap="none" spc="0" normalizeH="0" baseline="0" noProof="0" dirty="0">
                <a:ln>
                  <a:noFill/>
                </a:ln>
                <a:solidFill>
                  <a:prstClr val="black"/>
                </a:solidFill>
                <a:effectLst/>
                <a:uLnTx/>
                <a:uFillTx/>
                <a:latin typeface="Verdana"/>
                <a:ea typeface="+mn-ea"/>
                <a:cs typeface="+mn-cs"/>
              </a:rPr>
              <a:t>(reduction by ~57%)</a:t>
            </a:r>
          </a:p>
          <a:p>
            <a:pPr marL="171438" marR="0" lvl="0" indent="-171438" algn="just" defTabSz="91427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1" i="1" u="none" strike="noStrike" kern="1200" cap="none" spc="0" normalizeH="0" baseline="0" noProof="0" dirty="0">
              <a:ln>
                <a:noFill/>
              </a:ln>
              <a:solidFill>
                <a:prstClr val="black"/>
              </a:solidFill>
              <a:effectLst/>
              <a:uLnTx/>
              <a:uFillTx/>
              <a:latin typeface="Verdana"/>
              <a:ea typeface="+mn-ea"/>
              <a:cs typeface="+mn-cs"/>
            </a:endParaRPr>
          </a:p>
          <a:p>
            <a:pPr marL="171438" marR="0" lvl="0" indent="-171438" algn="just" defTabSz="9142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1" u="none" strike="noStrike" kern="1200" cap="none" spc="0" normalizeH="0" baseline="0" noProof="0" dirty="0">
                <a:ln>
                  <a:noFill/>
                </a:ln>
                <a:solidFill>
                  <a:prstClr val="black"/>
                </a:solidFill>
                <a:effectLst/>
                <a:uLnTx/>
                <a:uFillTx/>
                <a:latin typeface="Verdana"/>
                <a:ea typeface="+mn-ea"/>
                <a:cs typeface="+mn-cs"/>
              </a:rPr>
              <a:t>Largest share of RE potential in West Bengal comes from Solar (</a:t>
            </a:r>
            <a:r>
              <a:rPr kumimoji="0" lang="en-US" sz="1200" b="1" i="1" u="none" strike="noStrike" kern="1200" cap="none" spc="0" normalizeH="0" baseline="0" noProof="0" dirty="0">
                <a:ln>
                  <a:noFill/>
                </a:ln>
                <a:solidFill>
                  <a:prstClr val="black"/>
                </a:solidFill>
                <a:effectLst/>
                <a:uLnTx/>
                <a:uFillTx/>
                <a:latin typeface="Verdana"/>
                <a:ea typeface="+mn-ea"/>
                <a:cs typeface="+mn-cs"/>
              </a:rPr>
              <a:t>6.26 GW</a:t>
            </a:r>
            <a:r>
              <a:rPr kumimoji="0" lang="en-US" sz="1200" b="0" i="1" u="none" strike="noStrike" kern="1200" cap="none" spc="0" normalizeH="0" baseline="0" noProof="0" dirty="0">
                <a:ln>
                  <a:noFill/>
                </a:ln>
                <a:solidFill>
                  <a:prstClr val="black"/>
                </a:solidFill>
                <a:effectLst/>
                <a:uLnTx/>
                <a:uFillTx/>
                <a:latin typeface="Verdana"/>
                <a:ea typeface="+mn-ea"/>
                <a:cs typeface="+mn-cs"/>
              </a:rPr>
              <a:t>) out of which only </a:t>
            </a:r>
            <a:r>
              <a:rPr kumimoji="0" lang="en-US" sz="1200" b="1" i="1" u="none" strike="noStrike" kern="1200" cap="none" spc="0" normalizeH="0" baseline="0" noProof="0" dirty="0">
                <a:ln>
                  <a:noFill/>
                </a:ln>
                <a:solidFill>
                  <a:prstClr val="black"/>
                </a:solidFill>
                <a:effectLst/>
                <a:uLnTx/>
                <a:uFillTx/>
                <a:latin typeface="Verdana"/>
                <a:ea typeface="+mn-ea"/>
                <a:cs typeface="+mn-cs"/>
              </a:rPr>
              <a:t>0.17 GW</a:t>
            </a:r>
            <a:r>
              <a:rPr kumimoji="0" lang="en-US" sz="1200" b="0" i="1" u="none" strike="noStrike" kern="1200" cap="none" spc="0" normalizeH="0" baseline="0" noProof="0" dirty="0">
                <a:ln>
                  <a:noFill/>
                </a:ln>
                <a:solidFill>
                  <a:prstClr val="black"/>
                </a:solidFill>
                <a:effectLst/>
                <a:uLnTx/>
                <a:uFillTx/>
                <a:latin typeface="Verdana"/>
                <a:ea typeface="+mn-ea"/>
                <a:cs typeface="+mn-cs"/>
              </a:rPr>
              <a:t> solar capacity has been installed as on January 2022 </a:t>
            </a:r>
            <a:r>
              <a:rPr kumimoji="0" lang="en-US" sz="1200" b="1" i="1" u="none" strike="noStrike" kern="1200" cap="none" spc="0" normalizeH="0" baseline="0" noProof="0" dirty="0">
                <a:ln>
                  <a:noFill/>
                </a:ln>
                <a:solidFill>
                  <a:prstClr val="black"/>
                </a:solidFill>
                <a:effectLst/>
                <a:uLnTx/>
                <a:uFillTx/>
                <a:latin typeface="Verdana"/>
                <a:ea typeface="+mn-ea"/>
                <a:cs typeface="+mn-cs"/>
              </a:rPr>
              <a:t>(Less than 3%)</a:t>
            </a:r>
          </a:p>
        </p:txBody>
      </p:sp>
      <p:sp>
        <p:nvSpPr>
          <p:cNvPr id="2" name="TextBox 1">
            <a:extLst>
              <a:ext uri="{FF2B5EF4-FFF2-40B4-BE49-F238E27FC236}">
                <a16:creationId xmlns:a16="http://schemas.microsoft.com/office/drawing/2014/main" id="{1523B0ED-60E2-49F3-A1DE-0C7052481509}"/>
              </a:ext>
            </a:extLst>
          </p:cNvPr>
          <p:cNvSpPr txBox="1"/>
          <p:nvPr/>
        </p:nvSpPr>
        <p:spPr>
          <a:xfrm>
            <a:off x="4899698" y="6304286"/>
            <a:ext cx="6617632" cy="323165"/>
          </a:xfrm>
          <a:prstGeom prst="rect">
            <a:avLst/>
          </a:prstGeom>
          <a:noFill/>
        </p:spPr>
        <p:txBody>
          <a:bodyPr wrap="square" lIns="0" tIns="0" rIns="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050" b="0" i="1" u="none" strike="noStrike" kern="1200" cap="none" spc="0" normalizeH="0" baseline="0" noProof="0" dirty="0">
                <a:ln>
                  <a:noFill/>
                </a:ln>
                <a:solidFill>
                  <a:srgbClr val="313131"/>
                </a:solidFill>
                <a:effectLst/>
                <a:uLnTx/>
                <a:uFillTx/>
                <a:latin typeface="Verdana"/>
                <a:ea typeface="+mn-ea"/>
                <a:cs typeface="+mn-cs"/>
              </a:rPr>
              <a:t>Source: 1) Actual RPO details from respective APR Application 2) Target RPO figures from WBERC 3) Actual installed capacity as on January 2022 from MNRE</a:t>
            </a:r>
          </a:p>
        </p:txBody>
      </p:sp>
      <p:sp>
        <p:nvSpPr>
          <p:cNvPr id="9" name="TextBox 8">
            <a:extLst>
              <a:ext uri="{FF2B5EF4-FFF2-40B4-BE49-F238E27FC236}">
                <a16:creationId xmlns:a16="http://schemas.microsoft.com/office/drawing/2014/main" id="{83A8177E-F677-49DF-9619-5683F1E951A6}"/>
              </a:ext>
            </a:extLst>
          </p:cNvPr>
          <p:cNvSpPr txBox="1"/>
          <p:nvPr/>
        </p:nvSpPr>
        <p:spPr>
          <a:xfrm>
            <a:off x="501873" y="3204544"/>
            <a:ext cx="10886872" cy="146515"/>
          </a:xfrm>
          <a:prstGeom prst="rect">
            <a:avLst/>
          </a:prstGeom>
          <a:noFill/>
        </p:spPr>
        <p:txBody>
          <a:bodyPr wrap="square" lIns="0" tIns="0" rIns="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952" b="0" i="1" u="none" strike="noStrike" kern="1200" cap="none" spc="0" normalizeH="0" baseline="0" noProof="0" dirty="0">
                <a:ln>
                  <a:noFill/>
                </a:ln>
                <a:solidFill>
                  <a:srgbClr val="313131"/>
                </a:solidFill>
                <a:effectLst/>
                <a:uLnTx/>
                <a:uFillTx/>
                <a:latin typeface="Verdana"/>
                <a:ea typeface="+mn-ea"/>
                <a:cs typeface="+mn-cs"/>
              </a:rPr>
              <a:t>*Note: Estimated actual RPO figures calculated from WBSEDCL Annual Report 2020-21 </a:t>
            </a:r>
          </a:p>
        </p:txBody>
      </p:sp>
      <p:sp>
        <p:nvSpPr>
          <p:cNvPr id="10" name="TextBox 9">
            <a:extLst>
              <a:ext uri="{FF2B5EF4-FFF2-40B4-BE49-F238E27FC236}">
                <a16:creationId xmlns:a16="http://schemas.microsoft.com/office/drawing/2014/main" id="{61259142-0D42-4BAA-AF3E-D86BE8539DF9}"/>
              </a:ext>
            </a:extLst>
          </p:cNvPr>
          <p:cNvSpPr txBox="1"/>
          <p:nvPr/>
        </p:nvSpPr>
        <p:spPr>
          <a:xfrm>
            <a:off x="413062" y="6058514"/>
            <a:ext cx="6094464" cy="245773"/>
          </a:xfrm>
          <a:prstGeom prst="rect">
            <a:avLst/>
          </a:prstGeom>
          <a:noFill/>
        </p:spPr>
        <p:txBody>
          <a:bodyPr wrap="square">
            <a:spAutoFit/>
          </a:bodyPr>
          <a:lstStyle/>
          <a:p>
            <a:pPr marL="0" marR="0" lvl="0" indent="0" algn="l" defTabSz="914342" rtl="0" eaLnBrk="1" fontAlgn="auto" latinLnBrk="0" hangingPunct="1">
              <a:lnSpc>
                <a:spcPct val="100000"/>
              </a:lnSpc>
              <a:spcBef>
                <a:spcPts val="0"/>
              </a:spcBef>
              <a:spcAft>
                <a:spcPts val="0"/>
              </a:spcAft>
              <a:buClrTx/>
              <a:buSzTx/>
              <a:buFontTx/>
              <a:buNone/>
              <a:tabLst/>
              <a:defRPr/>
            </a:pPr>
            <a:r>
              <a:rPr kumimoji="0" lang="en-US" sz="997" b="0" i="1" u="none" strike="noStrike" kern="1200" cap="none" spc="0" normalizeH="0" baseline="0" noProof="0" dirty="0">
                <a:ln>
                  <a:noFill/>
                </a:ln>
                <a:solidFill>
                  <a:srgbClr val="313131"/>
                </a:solidFill>
                <a:effectLst/>
                <a:uLnTx/>
                <a:uFillTx/>
                <a:latin typeface="Verdana"/>
                <a:ea typeface="+mn-ea"/>
                <a:cs typeface="+mn-cs"/>
              </a:rPr>
              <a:t>Source: RE potential data from MNRE’s Akshay </a:t>
            </a:r>
            <a:r>
              <a:rPr kumimoji="0" lang="en-US" sz="997" b="0" i="1" u="none" strike="noStrike" kern="1200" cap="none" spc="0" normalizeH="0" baseline="0" noProof="0" dirty="0" err="1">
                <a:ln>
                  <a:noFill/>
                </a:ln>
                <a:solidFill>
                  <a:srgbClr val="313131"/>
                </a:solidFill>
                <a:effectLst/>
                <a:uLnTx/>
                <a:uFillTx/>
                <a:latin typeface="Verdana"/>
                <a:ea typeface="+mn-ea"/>
                <a:cs typeface="+mn-cs"/>
              </a:rPr>
              <a:t>Urja</a:t>
            </a:r>
            <a:r>
              <a:rPr kumimoji="0" lang="en-US" sz="997" b="0" i="1" u="none" strike="noStrike" kern="1200" cap="none" spc="0" normalizeH="0" baseline="0" noProof="0" dirty="0">
                <a:ln>
                  <a:noFill/>
                </a:ln>
                <a:solidFill>
                  <a:srgbClr val="313131"/>
                </a:solidFill>
                <a:effectLst/>
                <a:uLnTx/>
                <a:uFillTx/>
                <a:latin typeface="Verdana"/>
                <a:ea typeface="+mn-ea"/>
                <a:cs typeface="+mn-cs"/>
              </a:rPr>
              <a:t> Portal </a:t>
            </a:r>
            <a:endParaRPr kumimoji="0" lang="en-US" sz="997" b="0" i="0" u="none" strike="noStrike" kern="1200" cap="none" spc="0" normalizeH="0" baseline="0" noProof="0" dirty="0">
              <a:ln>
                <a:noFill/>
              </a:ln>
              <a:solidFill>
                <a:prstClr val="black"/>
              </a:solidFill>
              <a:effectLst/>
              <a:uLnTx/>
              <a:uFillTx/>
              <a:latin typeface="Verdana"/>
              <a:ea typeface="+mn-ea"/>
              <a:cs typeface="+mn-cs"/>
            </a:endParaRPr>
          </a:p>
        </p:txBody>
      </p:sp>
      <p:graphicFrame>
        <p:nvGraphicFramePr>
          <p:cNvPr id="11" name="Chart 10">
            <a:extLst>
              <a:ext uri="{FF2B5EF4-FFF2-40B4-BE49-F238E27FC236}">
                <a16:creationId xmlns:a16="http://schemas.microsoft.com/office/drawing/2014/main" id="{9F11A4D8-0560-48BD-91F8-A6C37FFB3492}"/>
              </a:ext>
            </a:extLst>
          </p:cNvPr>
          <p:cNvGraphicFramePr/>
          <p:nvPr/>
        </p:nvGraphicFramePr>
        <p:xfrm>
          <a:off x="501874" y="810596"/>
          <a:ext cx="6380550" cy="2359412"/>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1296402501"/>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828" y="1723"/>
          <a:ext cx="1588" cy="1588"/>
        </p:xfrm>
        <a:graphic>
          <a:graphicData uri="http://schemas.openxmlformats.org/presentationml/2006/ole">
            <mc:AlternateContent xmlns:mc="http://schemas.openxmlformats.org/markup-compatibility/2006">
              <mc:Choice xmlns:v="urn:schemas-microsoft-com:vml" Requires="v">
                <p:oleObj spid="_x0000_s45113" name="think-cell Slide" r:id="rId5" imgW="498" imgH="499" progId="TCLayout.ActiveDocument.1">
                  <p:embed/>
                </p:oleObj>
              </mc:Choice>
              <mc:Fallback>
                <p:oleObj name="think-cell Slide" r:id="rId5"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6"/>
                      <a:stretch>
                        <a:fillRect/>
                      </a:stretch>
                    </p:blipFill>
                    <p:spPr>
                      <a:xfrm>
                        <a:off x="1828" y="1723"/>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872" y="241430"/>
            <a:ext cx="11188260" cy="368285"/>
          </a:xfrm>
        </p:spPr>
        <p:txBody>
          <a:bodyPr vert="horz"/>
          <a:lstStyle/>
          <a:p>
            <a:pPr algn="just"/>
            <a:r>
              <a:rPr lang="en-US" sz="1800" b="1" dirty="0"/>
              <a:t>West Bengal State Owned Power Utility wise RE Installation Status  as on 31.03.2021</a:t>
            </a:r>
            <a:endParaRPr lang="en-US" sz="1800" b="1" dirty="0">
              <a:solidFill>
                <a:srgbClr val="FF0000"/>
              </a:solidFill>
            </a:endParaRPr>
          </a:p>
        </p:txBody>
      </p:sp>
      <p:graphicFrame>
        <p:nvGraphicFramePr>
          <p:cNvPr id="5" name="Chart 4">
            <a:extLst>
              <a:ext uri="{FF2B5EF4-FFF2-40B4-BE49-F238E27FC236}">
                <a16:creationId xmlns:a16="http://schemas.microsoft.com/office/drawing/2014/main" id="{7023B2EC-0412-483F-9940-5498917C9C0B}"/>
              </a:ext>
            </a:extLst>
          </p:cNvPr>
          <p:cNvGraphicFramePr/>
          <p:nvPr>
            <p:extLst>
              <p:ext uri="{D42A27DB-BD31-4B8C-83A1-F6EECF244321}">
                <p14:modId xmlns:p14="http://schemas.microsoft.com/office/powerpoint/2010/main" val="1568610667"/>
              </p:ext>
            </p:extLst>
          </p:nvPr>
        </p:nvGraphicFramePr>
        <p:xfrm>
          <a:off x="501872" y="994041"/>
          <a:ext cx="11188258" cy="3399530"/>
        </p:xfrm>
        <a:graphic>
          <a:graphicData uri="http://schemas.openxmlformats.org/drawingml/2006/chart">
            <c:chart xmlns:c="http://schemas.openxmlformats.org/drawingml/2006/chart" xmlns:r="http://schemas.openxmlformats.org/officeDocument/2006/relationships" r:id="rId7"/>
          </a:graphicData>
        </a:graphic>
      </p:graphicFrame>
      <p:sp>
        <p:nvSpPr>
          <p:cNvPr id="10" name="Rectangle 9">
            <a:extLst>
              <a:ext uri="{FF2B5EF4-FFF2-40B4-BE49-F238E27FC236}">
                <a16:creationId xmlns:a16="http://schemas.microsoft.com/office/drawing/2014/main" id="{C5EF69C9-A14D-475C-98DF-3640B8B01EBF}"/>
              </a:ext>
            </a:extLst>
          </p:cNvPr>
          <p:cNvSpPr/>
          <p:nvPr/>
        </p:nvSpPr>
        <p:spPr bwMode="gray">
          <a:xfrm>
            <a:off x="501872" y="4740731"/>
            <a:ext cx="11188259" cy="1050377"/>
          </a:xfrm>
          <a:prstGeom prst="rect">
            <a:avLst/>
          </a:prstGeom>
          <a:solidFill>
            <a:schemeClr val="bg1">
              <a:lumMod val="95000"/>
            </a:schemeClr>
          </a:solidFill>
          <a:ln>
            <a:solidFill>
              <a:schemeClr val="tx1"/>
            </a:solidFill>
            <a:prstDash val="dash"/>
          </a:ln>
        </p:spPr>
        <p:txBody>
          <a:bodyPr wrap="square" lIns="71997" tIns="71997" rIns="71997" bIns="71997" rtlCol="0" anchor="ctr" anchorCtr="0">
            <a:noAutofit/>
          </a:bodyPr>
          <a:lstStyle/>
          <a:p>
            <a:pPr marL="171438" marR="0" lvl="0" indent="-171438" algn="just" defTabSz="9142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1" u="none" strike="noStrike" kern="1200" cap="none" spc="0" normalizeH="0" baseline="0" noProof="0" dirty="0">
                <a:ln>
                  <a:noFill/>
                </a:ln>
                <a:solidFill>
                  <a:prstClr val="black"/>
                </a:solidFill>
                <a:effectLst/>
                <a:uLnTx/>
                <a:uFillTx/>
                <a:latin typeface="Verdana"/>
                <a:ea typeface="+mn-ea"/>
                <a:cs typeface="+mn-cs"/>
              </a:rPr>
              <a:t>Total RE portfolio including commissioned projects as well as pipeline for WBSEDCL, WBPDCL and DPL is ~</a:t>
            </a:r>
            <a:r>
              <a:rPr kumimoji="0" lang="en-US" sz="1200" b="1" i="1" u="none" strike="noStrike" kern="1200" cap="none" spc="0" normalizeH="0" baseline="0" noProof="0" dirty="0">
                <a:ln>
                  <a:noFill/>
                </a:ln>
                <a:solidFill>
                  <a:prstClr val="black"/>
                </a:solidFill>
                <a:effectLst/>
                <a:uLnTx/>
                <a:uFillTx/>
                <a:latin typeface="Verdana"/>
                <a:ea typeface="+mn-ea"/>
                <a:cs typeface="+mn-cs"/>
              </a:rPr>
              <a:t>2.9 GW</a:t>
            </a:r>
            <a:r>
              <a:rPr kumimoji="0" lang="en-US" sz="1200" b="0" i="1" u="none" strike="noStrike" kern="1200" cap="none" spc="0" normalizeH="0" baseline="0" noProof="0" dirty="0">
                <a:ln>
                  <a:noFill/>
                </a:ln>
                <a:solidFill>
                  <a:prstClr val="black"/>
                </a:solidFill>
                <a:effectLst/>
                <a:uLnTx/>
                <a:uFillTx/>
                <a:latin typeface="Verdana"/>
                <a:ea typeface="+mn-ea"/>
                <a:cs typeface="+mn-cs"/>
              </a:rPr>
              <a:t> (out of total scope of </a:t>
            </a:r>
            <a:r>
              <a:rPr kumimoji="0" lang="en-US" sz="1200" b="1" i="1" u="none" strike="noStrike" kern="1200" cap="none" spc="0" normalizeH="0" baseline="0" noProof="0" dirty="0">
                <a:ln>
                  <a:noFill/>
                </a:ln>
                <a:solidFill>
                  <a:prstClr val="black"/>
                </a:solidFill>
                <a:effectLst/>
                <a:uLnTx/>
                <a:uFillTx/>
                <a:latin typeface="Verdana"/>
                <a:ea typeface="+mn-ea"/>
                <a:cs typeface="+mn-cs"/>
              </a:rPr>
              <a:t>~7.2 GW</a:t>
            </a:r>
            <a:r>
              <a:rPr kumimoji="0" lang="en-US" sz="1200" b="0" i="1" u="none" strike="noStrike" kern="1200" cap="none" spc="0" normalizeH="0" baseline="0" noProof="0" dirty="0">
                <a:ln>
                  <a:noFill/>
                </a:ln>
                <a:solidFill>
                  <a:prstClr val="black"/>
                </a:solidFill>
                <a:effectLst/>
                <a:uLnTx/>
                <a:uFillTx/>
                <a:latin typeface="Verdana"/>
                <a:ea typeface="+mn-ea"/>
                <a:cs typeface="+mn-cs"/>
              </a:rPr>
              <a:t> RE potential)</a:t>
            </a:r>
          </a:p>
          <a:p>
            <a:pPr marL="171438" marR="0" lvl="0" indent="-171438" algn="just" defTabSz="91427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1" u="none" strike="noStrike" kern="1200" cap="none" spc="0" normalizeH="0" baseline="0" noProof="0" dirty="0">
              <a:ln>
                <a:noFill/>
              </a:ln>
              <a:solidFill>
                <a:prstClr val="black"/>
              </a:solidFill>
              <a:effectLst/>
              <a:uLnTx/>
              <a:uFillTx/>
              <a:latin typeface="Verdana"/>
              <a:ea typeface="+mn-ea"/>
              <a:cs typeface="+mn-cs"/>
            </a:endParaRPr>
          </a:p>
          <a:p>
            <a:pPr marL="171438" marR="0" lvl="0" indent="-171438" algn="just" defTabSz="9142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1" u="none" strike="noStrike" kern="1200" cap="none" spc="0" normalizeH="0" baseline="0" noProof="0" dirty="0">
                <a:ln>
                  <a:noFill/>
                </a:ln>
                <a:solidFill>
                  <a:prstClr val="black"/>
                </a:solidFill>
                <a:effectLst/>
                <a:uLnTx/>
                <a:uFillTx/>
                <a:latin typeface="Verdana"/>
                <a:ea typeface="+mn-ea"/>
                <a:cs typeface="+mn-cs"/>
              </a:rPr>
              <a:t>Hence, significant opportunity for further RE capacity addition plans </a:t>
            </a:r>
            <a:r>
              <a:rPr kumimoji="0" lang="en-US" sz="1200" b="1" i="1" u="none" strike="noStrike" kern="1200" cap="none" spc="0" normalizeH="0" baseline="0" noProof="0" dirty="0">
                <a:ln>
                  <a:noFill/>
                </a:ln>
                <a:solidFill>
                  <a:prstClr val="black"/>
                </a:solidFill>
                <a:effectLst/>
                <a:uLnTx/>
                <a:uFillTx/>
                <a:latin typeface="Verdana"/>
                <a:ea typeface="+mn-ea"/>
                <a:cs typeface="+mn-cs"/>
              </a:rPr>
              <a:t>(~4.3 GW; 3.3 GW alone from solar)</a:t>
            </a:r>
            <a:r>
              <a:rPr kumimoji="0" lang="en-US" sz="1200" b="0" i="1" u="none" strike="noStrike" kern="1200" cap="none" spc="0" normalizeH="0" baseline="0" noProof="0" dirty="0">
                <a:ln>
                  <a:noFill/>
                </a:ln>
                <a:solidFill>
                  <a:prstClr val="black"/>
                </a:solidFill>
                <a:effectLst/>
                <a:uLnTx/>
                <a:uFillTx/>
                <a:latin typeface="Verdana"/>
                <a:ea typeface="+mn-ea"/>
                <a:cs typeface="+mn-cs"/>
              </a:rPr>
              <a:t> can be looked into for optimum utilization of RE resources in state</a:t>
            </a:r>
            <a:endParaRPr kumimoji="0" lang="en-US" sz="1200" b="1" i="1" u="none" strike="noStrike" kern="1200" cap="none" spc="0" normalizeH="0" baseline="0" noProof="0" dirty="0">
              <a:ln>
                <a:noFill/>
              </a:ln>
              <a:solidFill>
                <a:prstClr val="black"/>
              </a:solidFill>
              <a:effectLst/>
              <a:uLnTx/>
              <a:uFillTx/>
              <a:latin typeface="Verdana"/>
              <a:ea typeface="+mn-ea"/>
              <a:cs typeface="+mn-cs"/>
            </a:endParaRPr>
          </a:p>
        </p:txBody>
      </p:sp>
      <p:sp>
        <p:nvSpPr>
          <p:cNvPr id="20" name="TextBox 19">
            <a:extLst>
              <a:ext uri="{FF2B5EF4-FFF2-40B4-BE49-F238E27FC236}">
                <a16:creationId xmlns:a16="http://schemas.microsoft.com/office/drawing/2014/main" id="{C21ED694-4B0E-41EA-B990-6762130D4A29}"/>
              </a:ext>
            </a:extLst>
          </p:cNvPr>
          <p:cNvSpPr txBox="1"/>
          <p:nvPr/>
        </p:nvSpPr>
        <p:spPr>
          <a:xfrm>
            <a:off x="3118568" y="6118522"/>
            <a:ext cx="8318173" cy="323165"/>
          </a:xfrm>
          <a:prstGeom prst="rect">
            <a:avLst/>
          </a:prstGeom>
          <a:noFill/>
        </p:spPr>
        <p:txBody>
          <a:bodyPr wrap="square" lIns="0" tIns="0" rIns="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050" b="0" i="1" u="none" strike="noStrike" kern="1200" cap="none" spc="0" normalizeH="0" baseline="0" noProof="0" dirty="0">
                <a:ln>
                  <a:noFill/>
                </a:ln>
                <a:solidFill>
                  <a:srgbClr val="313131"/>
                </a:solidFill>
                <a:effectLst/>
                <a:uLnTx/>
                <a:uFillTx/>
                <a:latin typeface="Verdana"/>
                <a:ea typeface="+mn-ea"/>
                <a:cs typeface="+mn-cs"/>
              </a:rPr>
              <a:t>Source: 1) Solar portfolio of WBSEDCL taken from Annual report 2020-21 2) Solar portfolio data of WBPDCL and DPL from respective utilities and their website 3) Small HEP portfolio data taken from WBSEDCL Annual report 2020-21</a:t>
            </a:r>
          </a:p>
        </p:txBody>
      </p:sp>
      <p:sp>
        <p:nvSpPr>
          <p:cNvPr id="2" name="TextBox 1">
            <a:extLst>
              <a:ext uri="{FF2B5EF4-FFF2-40B4-BE49-F238E27FC236}">
                <a16:creationId xmlns:a16="http://schemas.microsoft.com/office/drawing/2014/main" id="{5C4625BB-B5DD-4559-BCB7-D337AF41198B}"/>
              </a:ext>
            </a:extLst>
          </p:cNvPr>
          <p:cNvSpPr txBox="1"/>
          <p:nvPr/>
        </p:nvSpPr>
        <p:spPr>
          <a:xfrm>
            <a:off x="9945452" y="1170190"/>
            <a:ext cx="1382432" cy="161583"/>
          </a:xfrm>
          <a:prstGeom prst="rect">
            <a:avLst/>
          </a:prstGeom>
          <a:noFill/>
        </p:spPr>
        <p:txBody>
          <a:bodyPr wrap="square" lIns="0" tIns="0" rIns="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050" b="0" i="1" u="none" strike="noStrike" kern="1200" cap="none" spc="0" normalizeH="0" baseline="0" noProof="0" dirty="0">
                <a:ln>
                  <a:noFill/>
                </a:ln>
                <a:solidFill>
                  <a:srgbClr val="313131"/>
                </a:solidFill>
                <a:effectLst/>
                <a:uLnTx/>
                <a:uFillTx/>
                <a:latin typeface="Verdana"/>
                <a:ea typeface="+mn-ea"/>
                <a:cs typeface="+mn-cs"/>
              </a:rPr>
              <a:t>Figures in MW</a:t>
            </a:r>
          </a:p>
        </p:txBody>
      </p:sp>
    </p:spTree>
    <p:extLst>
      <p:ext uri="{BB962C8B-B14F-4D97-AF65-F5344CB8AC3E}">
        <p14:creationId xmlns:p14="http://schemas.microsoft.com/office/powerpoint/2010/main" val="70405013"/>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828" y="1723"/>
          <a:ext cx="1588" cy="1588"/>
        </p:xfrm>
        <a:graphic>
          <a:graphicData uri="http://schemas.openxmlformats.org/presentationml/2006/ole">
            <mc:AlternateContent xmlns:mc="http://schemas.openxmlformats.org/markup-compatibility/2006">
              <mc:Choice xmlns:v="urn:schemas-microsoft-com:vml" Requires="v">
                <p:oleObj spid="_x0000_s46137" name="think-cell Slide" r:id="rId5" imgW="498" imgH="499" progId="TCLayout.ActiveDocument.1">
                  <p:embed/>
                </p:oleObj>
              </mc:Choice>
              <mc:Fallback>
                <p:oleObj name="think-cell Slide" r:id="rId5"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6"/>
                      <a:stretch>
                        <a:fillRect/>
                      </a:stretch>
                    </p:blipFill>
                    <p:spPr>
                      <a:xfrm>
                        <a:off x="1828" y="1723"/>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872" y="241430"/>
            <a:ext cx="11188260" cy="368285"/>
          </a:xfrm>
        </p:spPr>
        <p:txBody>
          <a:bodyPr vert="horz"/>
          <a:lstStyle/>
          <a:p>
            <a:pPr algn="just"/>
            <a:r>
              <a:rPr lang="en-US" sz="1800" b="1" dirty="0"/>
              <a:t>Target RPOs – Comparison among Rajasthan, Gujarat and West Bengal</a:t>
            </a:r>
          </a:p>
        </p:txBody>
      </p:sp>
      <p:graphicFrame>
        <p:nvGraphicFramePr>
          <p:cNvPr id="5" name="Chart 4">
            <a:extLst>
              <a:ext uri="{FF2B5EF4-FFF2-40B4-BE49-F238E27FC236}">
                <a16:creationId xmlns:a16="http://schemas.microsoft.com/office/drawing/2014/main" id="{132ED8C9-5E11-44A3-8DE0-D4E37FCC741D}"/>
              </a:ext>
            </a:extLst>
          </p:cNvPr>
          <p:cNvGraphicFramePr/>
          <p:nvPr>
            <p:extLst>
              <p:ext uri="{D42A27DB-BD31-4B8C-83A1-F6EECF244321}">
                <p14:modId xmlns:p14="http://schemas.microsoft.com/office/powerpoint/2010/main" val="732774100"/>
              </p:ext>
            </p:extLst>
          </p:nvPr>
        </p:nvGraphicFramePr>
        <p:xfrm>
          <a:off x="953801" y="609715"/>
          <a:ext cx="9943867" cy="1775581"/>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 name="Chart 6">
            <a:extLst>
              <a:ext uri="{FF2B5EF4-FFF2-40B4-BE49-F238E27FC236}">
                <a16:creationId xmlns:a16="http://schemas.microsoft.com/office/drawing/2014/main" id="{CA39365C-5439-4528-BDA8-0C70A020B59B}"/>
              </a:ext>
            </a:extLst>
          </p:cNvPr>
          <p:cNvGraphicFramePr/>
          <p:nvPr>
            <p:extLst>
              <p:ext uri="{D42A27DB-BD31-4B8C-83A1-F6EECF244321}">
                <p14:modId xmlns:p14="http://schemas.microsoft.com/office/powerpoint/2010/main" val="3738352562"/>
              </p:ext>
            </p:extLst>
          </p:nvPr>
        </p:nvGraphicFramePr>
        <p:xfrm>
          <a:off x="953801" y="4464019"/>
          <a:ext cx="9943867" cy="2012488"/>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8" name="Chart 7">
            <a:extLst>
              <a:ext uri="{FF2B5EF4-FFF2-40B4-BE49-F238E27FC236}">
                <a16:creationId xmlns:a16="http://schemas.microsoft.com/office/drawing/2014/main" id="{77B40623-8DF1-4F9C-968B-473A0D7E8BF3}"/>
              </a:ext>
            </a:extLst>
          </p:cNvPr>
          <p:cNvGraphicFramePr/>
          <p:nvPr>
            <p:extLst>
              <p:ext uri="{D42A27DB-BD31-4B8C-83A1-F6EECF244321}">
                <p14:modId xmlns:p14="http://schemas.microsoft.com/office/powerpoint/2010/main" val="921574263"/>
              </p:ext>
            </p:extLst>
          </p:nvPr>
        </p:nvGraphicFramePr>
        <p:xfrm>
          <a:off x="953801" y="2555227"/>
          <a:ext cx="9943867" cy="1775581"/>
        </p:xfrm>
        <a:graphic>
          <a:graphicData uri="http://schemas.openxmlformats.org/drawingml/2006/chart">
            <c:chart xmlns:c="http://schemas.openxmlformats.org/drawingml/2006/chart" xmlns:r="http://schemas.openxmlformats.org/officeDocument/2006/relationships" r:id="rId9"/>
          </a:graphicData>
        </a:graphic>
      </p:graphicFrame>
      <p:sp>
        <p:nvSpPr>
          <p:cNvPr id="2" name="TextBox 1">
            <a:extLst>
              <a:ext uri="{FF2B5EF4-FFF2-40B4-BE49-F238E27FC236}">
                <a16:creationId xmlns:a16="http://schemas.microsoft.com/office/drawing/2014/main" id="{2E2DBCB0-B819-4DCC-9D67-65E21EB96481}"/>
              </a:ext>
            </a:extLst>
          </p:cNvPr>
          <p:cNvSpPr txBox="1"/>
          <p:nvPr/>
        </p:nvSpPr>
        <p:spPr>
          <a:xfrm>
            <a:off x="3189513" y="6607627"/>
            <a:ext cx="4713514" cy="161583"/>
          </a:xfrm>
          <a:prstGeom prst="rect">
            <a:avLst/>
          </a:prstGeom>
          <a:noFill/>
        </p:spPr>
        <p:txBody>
          <a:bodyPr wrap="square" lIns="0" tIns="0" rIns="0" bIns="0" rtlCol="0">
            <a:spAutoFit/>
          </a:bodyPr>
          <a:lstStyle/>
          <a:p>
            <a:pPr>
              <a:spcBef>
                <a:spcPts val="600"/>
              </a:spcBef>
              <a:buSzPct val="100000"/>
            </a:pPr>
            <a:r>
              <a:rPr lang="en-US" sz="1050" i="1" dirty="0">
                <a:solidFill>
                  <a:srgbClr val="313131"/>
                </a:solidFill>
              </a:rPr>
              <a:t>Source: RPO regulations from respective State ERC website</a:t>
            </a:r>
          </a:p>
        </p:txBody>
      </p:sp>
    </p:spTree>
    <p:extLst>
      <p:ext uri="{BB962C8B-B14F-4D97-AF65-F5344CB8AC3E}">
        <p14:creationId xmlns:p14="http://schemas.microsoft.com/office/powerpoint/2010/main" val="3571376950"/>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4806" name="think-cell Slide" r:id="rId5" imgW="498" imgH="499" progId="TCLayout.ActiveDocument.1">
                  <p:embed/>
                </p:oleObj>
              </mc:Choice>
              <mc:Fallback>
                <p:oleObj name="think-cell Slide" r:id="rId5"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241304"/>
            <a:ext cx="11188700" cy="368299"/>
          </a:xfrm>
        </p:spPr>
        <p:txBody>
          <a:bodyPr vert="horz"/>
          <a:lstStyle/>
          <a:p>
            <a:pPr algn="just"/>
            <a:r>
              <a:rPr lang="en-US" sz="1800" b="1" dirty="0"/>
              <a:t>Reduction in Bulk Power Purchase Cost through fulfilling RPO - Illustration</a:t>
            </a:r>
          </a:p>
        </p:txBody>
      </p:sp>
      <p:graphicFrame>
        <p:nvGraphicFramePr>
          <p:cNvPr id="15" name="Table 14">
            <a:extLst>
              <a:ext uri="{FF2B5EF4-FFF2-40B4-BE49-F238E27FC236}">
                <a16:creationId xmlns:a16="http://schemas.microsoft.com/office/drawing/2014/main" id="{C4CC95FC-C9A2-4763-A9D4-EC296A35F1BA}"/>
              </a:ext>
            </a:extLst>
          </p:cNvPr>
          <p:cNvGraphicFramePr>
            <a:graphicFrameLocks noGrp="1"/>
          </p:cNvGraphicFramePr>
          <p:nvPr>
            <p:extLst>
              <p:ext uri="{D42A27DB-BD31-4B8C-83A1-F6EECF244321}">
                <p14:modId xmlns:p14="http://schemas.microsoft.com/office/powerpoint/2010/main" val="1290742906"/>
              </p:ext>
            </p:extLst>
          </p:nvPr>
        </p:nvGraphicFramePr>
        <p:xfrm>
          <a:off x="501652" y="1440886"/>
          <a:ext cx="10710633" cy="1258772"/>
        </p:xfrm>
        <a:graphic>
          <a:graphicData uri="http://schemas.openxmlformats.org/drawingml/2006/table">
            <a:tbl>
              <a:tblPr>
                <a:tableStyleId>{2D5ABB26-0587-4C30-8999-92F81FD0307C}</a:tableStyleId>
              </a:tblPr>
              <a:tblGrid>
                <a:gridCol w="3570211">
                  <a:extLst>
                    <a:ext uri="{9D8B030D-6E8A-4147-A177-3AD203B41FA5}">
                      <a16:colId xmlns:a16="http://schemas.microsoft.com/office/drawing/2014/main" val="4255169224"/>
                    </a:ext>
                  </a:extLst>
                </a:gridCol>
                <a:gridCol w="3570211">
                  <a:extLst>
                    <a:ext uri="{9D8B030D-6E8A-4147-A177-3AD203B41FA5}">
                      <a16:colId xmlns:a16="http://schemas.microsoft.com/office/drawing/2014/main" val="3340434987"/>
                    </a:ext>
                  </a:extLst>
                </a:gridCol>
                <a:gridCol w="3570211">
                  <a:extLst>
                    <a:ext uri="{9D8B030D-6E8A-4147-A177-3AD203B41FA5}">
                      <a16:colId xmlns:a16="http://schemas.microsoft.com/office/drawing/2014/main" val="1273344197"/>
                    </a:ext>
                  </a:extLst>
                </a:gridCol>
              </a:tblGrid>
              <a:tr h="314693">
                <a:tc>
                  <a:txBody>
                    <a:bodyPr/>
                    <a:lstStyle/>
                    <a:p>
                      <a:pPr algn="l" fontAlgn="ctr"/>
                      <a:r>
                        <a:rPr lang="en-US" sz="1400" b="1" u="none" strike="noStrike" dirty="0">
                          <a:solidFill>
                            <a:schemeClr val="bg1"/>
                          </a:solidFill>
                          <a:effectLst/>
                        </a:rPr>
                        <a:t>Particulars</a:t>
                      </a:r>
                      <a:endParaRPr lang="en-US" sz="1400" b="1" i="0" u="none" strike="noStrike" dirty="0">
                        <a:solidFill>
                          <a:schemeClr val="bg1"/>
                        </a:solidFill>
                        <a:effectLst/>
                        <a:latin typeface="+mj-lt"/>
                      </a:endParaRPr>
                    </a:p>
                  </a:txBody>
                  <a:tcPr marR="6350" marT="6350" marB="0" anchor="ctr">
                    <a:solidFill>
                      <a:schemeClr val="tx1">
                        <a:lumMod val="65000"/>
                        <a:lumOff val="35000"/>
                      </a:schemeClr>
                    </a:solidFill>
                  </a:tcPr>
                </a:tc>
                <a:tc>
                  <a:txBody>
                    <a:bodyPr/>
                    <a:lstStyle/>
                    <a:p>
                      <a:pPr algn="l" fontAlgn="ctr"/>
                      <a:r>
                        <a:rPr lang="en-US" sz="1400" b="1" u="none" strike="noStrike" dirty="0">
                          <a:solidFill>
                            <a:schemeClr val="bg1"/>
                          </a:solidFill>
                          <a:effectLst/>
                        </a:rPr>
                        <a:t>Value</a:t>
                      </a:r>
                      <a:endParaRPr lang="en-US" sz="1400" b="1" i="0" u="none" strike="noStrike" dirty="0">
                        <a:solidFill>
                          <a:schemeClr val="bg1"/>
                        </a:solidFill>
                        <a:effectLst/>
                        <a:latin typeface="+mj-lt"/>
                      </a:endParaRPr>
                    </a:p>
                  </a:txBody>
                  <a:tcPr marR="6350" marT="6350" marB="0" anchor="ctr">
                    <a:solidFill>
                      <a:schemeClr val="tx1">
                        <a:lumMod val="65000"/>
                        <a:lumOff val="35000"/>
                      </a:schemeClr>
                    </a:solidFill>
                  </a:tcPr>
                </a:tc>
                <a:tc>
                  <a:txBody>
                    <a:bodyPr/>
                    <a:lstStyle/>
                    <a:p>
                      <a:pPr algn="l" fontAlgn="ctr"/>
                      <a:r>
                        <a:rPr lang="en-US" sz="1400" b="1" u="none" strike="noStrike" dirty="0">
                          <a:solidFill>
                            <a:schemeClr val="bg1"/>
                          </a:solidFill>
                          <a:effectLst/>
                        </a:rPr>
                        <a:t>Unit</a:t>
                      </a:r>
                      <a:endParaRPr lang="en-US" sz="1400" b="1" i="0" u="none" strike="noStrike" dirty="0">
                        <a:solidFill>
                          <a:schemeClr val="bg1"/>
                        </a:solidFill>
                        <a:effectLst/>
                        <a:latin typeface="+mj-lt"/>
                      </a:endParaRPr>
                    </a:p>
                  </a:txBody>
                  <a:tcPr marR="6350" marT="6350" marB="0" anchor="ctr">
                    <a:solidFill>
                      <a:schemeClr val="tx1">
                        <a:lumMod val="65000"/>
                        <a:lumOff val="35000"/>
                      </a:schemeClr>
                    </a:solidFill>
                  </a:tcPr>
                </a:tc>
                <a:extLst>
                  <a:ext uri="{0D108BD9-81ED-4DB2-BD59-A6C34878D82A}">
                    <a16:rowId xmlns:a16="http://schemas.microsoft.com/office/drawing/2014/main" val="3349824983"/>
                  </a:ext>
                </a:extLst>
              </a:tr>
              <a:tr h="314693">
                <a:tc>
                  <a:txBody>
                    <a:bodyPr/>
                    <a:lstStyle/>
                    <a:p>
                      <a:pPr algn="l" fontAlgn="ctr"/>
                      <a:r>
                        <a:rPr lang="en-US" sz="1400" b="0" u="none" strike="noStrike" dirty="0">
                          <a:solidFill>
                            <a:srgbClr val="242424"/>
                          </a:solidFill>
                          <a:effectLst/>
                        </a:rPr>
                        <a:t>Total Power purchase cost</a:t>
                      </a:r>
                      <a:endParaRPr lang="en-US" sz="1400" b="0" i="0" u="none" strike="noStrike" dirty="0">
                        <a:solidFill>
                          <a:srgbClr val="242424"/>
                        </a:solidFill>
                        <a:effectLst/>
                        <a:latin typeface="+mj-lt"/>
                      </a:endParaRPr>
                    </a:p>
                  </a:txBody>
                  <a:tcPr marR="6350" marT="6350" marB="0" anchor="ctr"/>
                </a:tc>
                <a:tc>
                  <a:txBody>
                    <a:bodyPr/>
                    <a:lstStyle/>
                    <a:p>
                      <a:pPr algn="l" fontAlgn="ctr"/>
                      <a:r>
                        <a:rPr lang="en-US" sz="1400" b="0" u="none" strike="noStrike" dirty="0">
                          <a:solidFill>
                            <a:srgbClr val="242424"/>
                          </a:solidFill>
                          <a:effectLst/>
                        </a:rPr>
                        <a:t>18627</a:t>
                      </a:r>
                      <a:endParaRPr lang="en-US" sz="1400" b="0" i="0" u="none" strike="noStrike" dirty="0">
                        <a:solidFill>
                          <a:srgbClr val="242424"/>
                        </a:solidFill>
                        <a:effectLst/>
                        <a:latin typeface="+mj-lt"/>
                      </a:endParaRPr>
                    </a:p>
                  </a:txBody>
                  <a:tcPr marR="6350" marT="6350" marB="0" anchor="ctr"/>
                </a:tc>
                <a:tc>
                  <a:txBody>
                    <a:bodyPr/>
                    <a:lstStyle/>
                    <a:p>
                      <a:pPr algn="l" fontAlgn="ctr"/>
                      <a:r>
                        <a:rPr lang="en-US" sz="1400" b="0" u="none" strike="noStrike" dirty="0">
                          <a:solidFill>
                            <a:srgbClr val="242424"/>
                          </a:solidFill>
                          <a:effectLst/>
                        </a:rPr>
                        <a:t>Rs Crore</a:t>
                      </a:r>
                      <a:endParaRPr lang="en-US" sz="1400" b="0" i="0" u="none" strike="noStrike" dirty="0">
                        <a:solidFill>
                          <a:srgbClr val="242424"/>
                        </a:solidFill>
                        <a:effectLst/>
                        <a:latin typeface="+mj-lt"/>
                      </a:endParaRPr>
                    </a:p>
                  </a:txBody>
                  <a:tcPr marR="6350" marT="6350" marB="0" anchor="ctr"/>
                </a:tc>
                <a:extLst>
                  <a:ext uri="{0D108BD9-81ED-4DB2-BD59-A6C34878D82A}">
                    <a16:rowId xmlns:a16="http://schemas.microsoft.com/office/drawing/2014/main" val="578363992"/>
                  </a:ext>
                </a:extLst>
              </a:tr>
              <a:tr h="314693">
                <a:tc>
                  <a:txBody>
                    <a:bodyPr/>
                    <a:lstStyle/>
                    <a:p>
                      <a:pPr algn="l" fontAlgn="ctr"/>
                      <a:r>
                        <a:rPr lang="en-US" sz="1400" b="0" u="none" strike="noStrike">
                          <a:solidFill>
                            <a:srgbClr val="242424"/>
                          </a:solidFill>
                          <a:effectLst/>
                        </a:rPr>
                        <a:t>Total Power Purchase in MUs</a:t>
                      </a:r>
                      <a:endParaRPr lang="en-US" sz="1400" b="0" i="0" u="none" strike="noStrike">
                        <a:solidFill>
                          <a:srgbClr val="242424"/>
                        </a:solidFill>
                        <a:effectLst/>
                        <a:latin typeface="+mj-lt"/>
                      </a:endParaRPr>
                    </a:p>
                  </a:txBody>
                  <a:tcPr marR="6350" marT="6350" marB="0" anchor="ctr"/>
                </a:tc>
                <a:tc>
                  <a:txBody>
                    <a:bodyPr/>
                    <a:lstStyle/>
                    <a:p>
                      <a:pPr algn="l" fontAlgn="ctr"/>
                      <a:r>
                        <a:rPr lang="en-US" sz="1400" b="0" u="none" strike="noStrike" dirty="0">
                          <a:solidFill>
                            <a:srgbClr val="242424"/>
                          </a:solidFill>
                          <a:effectLst/>
                        </a:rPr>
                        <a:t>42,353</a:t>
                      </a:r>
                      <a:endParaRPr lang="en-US" sz="1400" b="0" i="0" u="none" strike="noStrike" dirty="0">
                        <a:solidFill>
                          <a:srgbClr val="242424"/>
                        </a:solidFill>
                        <a:effectLst/>
                        <a:latin typeface="+mj-lt"/>
                      </a:endParaRPr>
                    </a:p>
                  </a:txBody>
                  <a:tcPr marR="6350" marT="6350" marB="0" anchor="ctr"/>
                </a:tc>
                <a:tc>
                  <a:txBody>
                    <a:bodyPr/>
                    <a:lstStyle/>
                    <a:p>
                      <a:pPr algn="l" fontAlgn="ctr"/>
                      <a:r>
                        <a:rPr lang="en-US" sz="1400" b="0" u="none" strike="noStrike" dirty="0">
                          <a:solidFill>
                            <a:srgbClr val="242424"/>
                          </a:solidFill>
                          <a:effectLst/>
                        </a:rPr>
                        <a:t>MUs</a:t>
                      </a:r>
                      <a:endParaRPr lang="en-US" sz="1400" b="0" i="0" u="none" strike="noStrike" dirty="0">
                        <a:solidFill>
                          <a:srgbClr val="242424"/>
                        </a:solidFill>
                        <a:effectLst/>
                        <a:latin typeface="+mj-lt"/>
                      </a:endParaRPr>
                    </a:p>
                  </a:txBody>
                  <a:tcPr marR="6350" marT="6350" marB="0" anchor="ctr"/>
                </a:tc>
                <a:extLst>
                  <a:ext uri="{0D108BD9-81ED-4DB2-BD59-A6C34878D82A}">
                    <a16:rowId xmlns:a16="http://schemas.microsoft.com/office/drawing/2014/main" val="2199794588"/>
                  </a:ext>
                </a:extLst>
              </a:tr>
              <a:tr h="314693">
                <a:tc>
                  <a:txBody>
                    <a:bodyPr/>
                    <a:lstStyle/>
                    <a:p>
                      <a:pPr algn="l" fontAlgn="ctr"/>
                      <a:r>
                        <a:rPr lang="en-US" sz="1400" b="0" u="none" strike="noStrike" dirty="0">
                          <a:solidFill>
                            <a:srgbClr val="242424"/>
                          </a:solidFill>
                          <a:effectLst/>
                        </a:rPr>
                        <a:t>Requisite MUs to fulfil Total RPO</a:t>
                      </a:r>
                      <a:endParaRPr lang="en-US" sz="1400" b="0" i="0" u="none" strike="noStrike" dirty="0">
                        <a:solidFill>
                          <a:srgbClr val="242424"/>
                        </a:solidFill>
                        <a:effectLst/>
                        <a:latin typeface="+mj-lt"/>
                      </a:endParaRPr>
                    </a:p>
                  </a:txBody>
                  <a:tcPr marR="6350" marT="6350" marB="0" anchor="ctr"/>
                </a:tc>
                <a:tc>
                  <a:txBody>
                    <a:bodyPr/>
                    <a:lstStyle/>
                    <a:p>
                      <a:pPr algn="l" fontAlgn="ctr"/>
                      <a:r>
                        <a:rPr lang="en-US" sz="1400" b="0" u="none" strike="noStrike" dirty="0">
                          <a:solidFill>
                            <a:srgbClr val="242424"/>
                          </a:solidFill>
                          <a:effectLst/>
                        </a:rPr>
                        <a:t>3174</a:t>
                      </a:r>
                      <a:endParaRPr lang="en-US" sz="1400" b="0" i="0" u="none" strike="noStrike" dirty="0">
                        <a:solidFill>
                          <a:srgbClr val="242424"/>
                        </a:solidFill>
                        <a:effectLst/>
                        <a:latin typeface="+mj-lt"/>
                      </a:endParaRPr>
                    </a:p>
                  </a:txBody>
                  <a:tcPr marR="6350" marT="6350" marB="0" anchor="ctr"/>
                </a:tc>
                <a:tc>
                  <a:txBody>
                    <a:bodyPr/>
                    <a:lstStyle/>
                    <a:p>
                      <a:pPr algn="l" fontAlgn="ctr"/>
                      <a:r>
                        <a:rPr lang="en-US" sz="1400" b="0" u="none" strike="noStrike" dirty="0">
                          <a:solidFill>
                            <a:srgbClr val="242424"/>
                          </a:solidFill>
                          <a:effectLst/>
                        </a:rPr>
                        <a:t>MUs</a:t>
                      </a:r>
                      <a:endParaRPr lang="en-US" sz="1400" b="0" i="0" u="none" strike="noStrike" dirty="0">
                        <a:solidFill>
                          <a:srgbClr val="242424"/>
                        </a:solidFill>
                        <a:effectLst/>
                        <a:latin typeface="+mj-lt"/>
                      </a:endParaRPr>
                    </a:p>
                  </a:txBody>
                  <a:tcPr marR="6350" marT="6350" marB="0" anchor="ctr"/>
                </a:tc>
                <a:extLst>
                  <a:ext uri="{0D108BD9-81ED-4DB2-BD59-A6C34878D82A}">
                    <a16:rowId xmlns:a16="http://schemas.microsoft.com/office/drawing/2014/main" val="2838263672"/>
                  </a:ext>
                </a:extLst>
              </a:tr>
            </a:tbl>
          </a:graphicData>
        </a:graphic>
      </p:graphicFrame>
      <p:graphicFrame>
        <p:nvGraphicFramePr>
          <p:cNvPr id="16" name="Table 15">
            <a:extLst>
              <a:ext uri="{FF2B5EF4-FFF2-40B4-BE49-F238E27FC236}">
                <a16:creationId xmlns:a16="http://schemas.microsoft.com/office/drawing/2014/main" id="{51124C56-5B0C-4176-9CA0-0153E75BD345}"/>
              </a:ext>
            </a:extLst>
          </p:cNvPr>
          <p:cNvGraphicFramePr>
            <a:graphicFrameLocks noGrp="1"/>
          </p:cNvGraphicFramePr>
          <p:nvPr>
            <p:extLst>
              <p:ext uri="{D42A27DB-BD31-4B8C-83A1-F6EECF244321}">
                <p14:modId xmlns:p14="http://schemas.microsoft.com/office/powerpoint/2010/main" val="1317229679"/>
              </p:ext>
            </p:extLst>
          </p:nvPr>
        </p:nvGraphicFramePr>
        <p:xfrm>
          <a:off x="600533" y="3253641"/>
          <a:ext cx="10611753" cy="2851150"/>
        </p:xfrm>
        <a:graphic>
          <a:graphicData uri="http://schemas.openxmlformats.org/drawingml/2006/table">
            <a:tbl>
              <a:tblPr>
                <a:tableStyleId>{2D5ABB26-0587-4C30-8999-92F81FD0307C}</a:tableStyleId>
              </a:tblPr>
              <a:tblGrid>
                <a:gridCol w="3537251">
                  <a:extLst>
                    <a:ext uri="{9D8B030D-6E8A-4147-A177-3AD203B41FA5}">
                      <a16:colId xmlns:a16="http://schemas.microsoft.com/office/drawing/2014/main" val="4255169224"/>
                    </a:ext>
                  </a:extLst>
                </a:gridCol>
                <a:gridCol w="3537251">
                  <a:extLst>
                    <a:ext uri="{9D8B030D-6E8A-4147-A177-3AD203B41FA5}">
                      <a16:colId xmlns:a16="http://schemas.microsoft.com/office/drawing/2014/main" val="3340434987"/>
                    </a:ext>
                  </a:extLst>
                </a:gridCol>
                <a:gridCol w="3537251">
                  <a:extLst>
                    <a:ext uri="{9D8B030D-6E8A-4147-A177-3AD203B41FA5}">
                      <a16:colId xmlns:a16="http://schemas.microsoft.com/office/drawing/2014/main" val="1273344197"/>
                    </a:ext>
                  </a:extLst>
                </a:gridCol>
              </a:tblGrid>
              <a:tr h="444500">
                <a:tc>
                  <a:txBody>
                    <a:bodyPr/>
                    <a:lstStyle/>
                    <a:p>
                      <a:pPr algn="l" fontAlgn="ctr"/>
                      <a:r>
                        <a:rPr lang="en-US" sz="1400" b="1" u="none" strike="noStrike" dirty="0">
                          <a:solidFill>
                            <a:schemeClr val="bg1"/>
                          </a:solidFill>
                          <a:effectLst/>
                          <a:latin typeface="+mj-lt"/>
                        </a:rPr>
                        <a:t>Particulars</a:t>
                      </a:r>
                      <a:endParaRPr lang="en-US" sz="1400" b="1" i="0" u="none" strike="noStrike" dirty="0">
                        <a:solidFill>
                          <a:schemeClr val="bg1"/>
                        </a:solidFill>
                        <a:effectLst/>
                        <a:latin typeface="+mj-lt"/>
                      </a:endParaRPr>
                    </a:p>
                  </a:txBody>
                  <a:tcPr marR="6350" marT="6350" marB="0" anchor="ctr">
                    <a:solidFill>
                      <a:schemeClr val="tx1">
                        <a:lumMod val="65000"/>
                        <a:lumOff val="35000"/>
                      </a:schemeClr>
                    </a:solidFill>
                  </a:tcPr>
                </a:tc>
                <a:tc>
                  <a:txBody>
                    <a:bodyPr/>
                    <a:lstStyle/>
                    <a:p>
                      <a:pPr algn="l" fontAlgn="ctr"/>
                      <a:r>
                        <a:rPr lang="en-US" sz="1400" b="1" u="none" strike="noStrike" dirty="0">
                          <a:solidFill>
                            <a:schemeClr val="bg1"/>
                          </a:solidFill>
                          <a:effectLst/>
                          <a:latin typeface="+mj-lt"/>
                        </a:rPr>
                        <a:t>Value</a:t>
                      </a:r>
                      <a:endParaRPr lang="en-US" sz="1400" b="1" i="0" u="none" strike="noStrike" dirty="0">
                        <a:solidFill>
                          <a:schemeClr val="bg1"/>
                        </a:solidFill>
                        <a:effectLst/>
                        <a:latin typeface="+mj-lt"/>
                      </a:endParaRPr>
                    </a:p>
                  </a:txBody>
                  <a:tcPr marR="6350" marT="6350" marB="0" anchor="ctr">
                    <a:solidFill>
                      <a:schemeClr val="tx1">
                        <a:lumMod val="65000"/>
                        <a:lumOff val="35000"/>
                      </a:schemeClr>
                    </a:solidFill>
                  </a:tcPr>
                </a:tc>
                <a:tc>
                  <a:txBody>
                    <a:bodyPr/>
                    <a:lstStyle/>
                    <a:p>
                      <a:pPr algn="l" fontAlgn="ctr"/>
                      <a:r>
                        <a:rPr lang="en-US" sz="1400" b="1" u="none" strike="noStrike" dirty="0">
                          <a:solidFill>
                            <a:schemeClr val="bg1"/>
                          </a:solidFill>
                          <a:effectLst/>
                          <a:latin typeface="+mj-lt"/>
                        </a:rPr>
                        <a:t>Unit</a:t>
                      </a:r>
                      <a:endParaRPr lang="en-US" sz="1400" b="1" i="0" u="none" strike="noStrike" dirty="0">
                        <a:solidFill>
                          <a:schemeClr val="bg1"/>
                        </a:solidFill>
                        <a:effectLst/>
                        <a:latin typeface="+mj-lt"/>
                      </a:endParaRPr>
                    </a:p>
                  </a:txBody>
                  <a:tcPr marR="6350" marT="6350" marB="0" anchor="ctr">
                    <a:solidFill>
                      <a:schemeClr val="tx1">
                        <a:lumMod val="65000"/>
                        <a:lumOff val="35000"/>
                      </a:schemeClr>
                    </a:solidFill>
                  </a:tcPr>
                </a:tc>
                <a:extLst>
                  <a:ext uri="{0D108BD9-81ED-4DB2-BD59-A6C34878D82A}">
                    <a16:rowId xmlns:a16="http://schemas.microsoft.com/office/drawing/2014/main" val="3349824983"/>
                  </a:ext>
                </a:extLst>
              </a:tr>
              <a:tr h="444500">
                <a:tc>
                  <a:txBody>
                    <a:bodyPr/>
                    <a:lstStyle/>
                    <a:p>
                      <a:pPr algn="l" fontAlgn="ctr"/>
                      <a:r>
                        <a:rPr lang="en-US" sz="1400" b="0" i="0" u="none" strike="noStrike" dirty="0">
                          <a:solidFill>
                            <a:srgbClr val="242424"/>
                          </a:solidFill>
                          <a:effectLst/>
                          <a:latin typeface="+mj-lt"/>
                        </a:rPr>
                        <a:t>Actual Average Power Purchase Cost for FY 21</a:t>
                      </a:r>
                    </a:p>
                  </a:txBody>
                  <a:tcPr marR="6350" marT="6350" marB="0" anchor="ctr"/>
                </a:tc>
                <a:tc>
                  <a:txBody>
                    <a:bodyPr/>
                    <a:lstStyle/>
                    <a:p>
                      <a:pPr algn="ctr" fontAlgn="ctr"/>
                      <a:r>
                        <a:rPr lang="en-US" sz="1400" b="0" i="0" u="none" strike="noStrike" dirty="0">
                          <a:solidFill>
                            <a:srgbClr val="242424"/>
                          </a:solidFill>
                          <a:effectLst/>
                          <a:latin typeface="+mj-lt"/>
                        </a:rPr>
                        <a:t>439.80</a:t>
                      </a:r>
                    </a:p>
                  </a:txBody>
                  <a:tcPr marR="6350" marT="6350" marB="0" anchor="ctr"/>
                </a:tc>
                <a:tc>
                  <a:txBody>
                    <a:bodyPr/>
                    <a:lstStyle/>
                    <a:p>
                      <a:pPr algn="l" fontAlgn="ctr"/>
                      <a:r>
                        <a:rPr lang="en-US" sz="1400" b="0" i="0" u="none" strike="noStrike" dirty="0">
                          <a:solidFill>
                            <a:srgbClr val="242424"/>
                          </a:solidFill>
                          <a:effectLst/>
                          <a:latin typeface="+mj-lt"/>
                        </a:rPr>
                        <a:t>Paisa/Unit</a:t>
                      </a:r>
                    </a:p>
                  </a:txBody>
                  <a:tcPr marR="6350" marT="6350" marB="0" anchor="ctr"/>
                </a:tc>
                <a:extLst>
                  <a:ext uri="{0D108BD9-81ED-4DB2-BD59-A6C34878D82A}">
                    <a16:rowId xmlns:a16="http://schemas.microsoft.com/office/drawing/2014/main" val="578363992"/>
                  </a:ext>
                </a:extLst>
              </a:tr>
              <a:tr h="444500">
                <a:tc>
                  <a:txBody>
                    <a:bodyPr/>
                    <a:lstStyle/>
                    <a:p>
                      <a:pPr algn="l" fontAlgn="ctr"/>
                      <a:endParaRPr lang="en-US" sz="1400" b="0" i="0" u="none" strike="noStrike" dirty="0">
                        <a:solidFill>
                          <a:srgbClr val="242424"/>
                        </a:solidFill>
                        <a:effectLst/>
                        <a:latin typeface="+mj-lt"/>
                      </a:endParaRPr>
                    </a:p>
                    <a:p>
                      <a:pPr algn="l" fontAlgn="ctr"/>
                      <a:r>
                        <a:rPr lang="en-US" sz="1400" b="0" i="0" u="none" strike="noStrike" dirty="0">
                          <a:solidFill>
                            <a:srgbClr val="242424"/>
                          </a:solidFill>
                          <a:effectLst/>
                          <a:latin typeface="+mj-lt"/>
                        </a:rPr>
                        <a:t>Average power purchase cost with full RPO Obligation met: RE Purchases @ Rs. 3/unit </a:t>
                      </a:r>
                      <a:r>
                        <a:rPr lang="en-US" sz="1400" b="0" i="1" u="none" strike="noStrike" dirty="0">
                          <a:solidFill>
                            <a:srgbClr val="242424"/>
                          </a:solidFill>
                          <a:effectLst/>
                          <a:latin typeface="+mj-lt"/>
                        </a:rPr>
                        <a:t>(*Keeping total Power Purchase Volume Constant)</a:t>
                      </a:r>
                    </a:p>
                  </a:txBody>
                  <a:tcPr marR="6350" marT="6350" marB="0" anchor="ctr"/>
                </a:tc>
                <a:tc>
                  <a:txBody>
                    <a:bodyPr/>
                    <a:lstStyle/>
                    <a:p>
                      <a:pPr algn="ctr" fontAlgn="ctr"/>
                      <a:r>
                        <a:rPr lang="en-US" sz="1400" b="0" i="0" u="none" strike="noStrike" dirty="0">
                          <a:solidFill>
                            <a:srgbClr val="242424"/>
                          </a:solidFill>
                          <a:effectLst/>
                          <a:latin typeface="+mj-lt"/>
                        </a:rPr>
                        <a:t>429.33</a:t>
                      </a:r>
                    </a:p>
                  </a:txBody>
                  <a:tcPr marR="6350" marT="6350" marB="0" anchor="ctr"/>
                </a:tc>
                <a:tc>
                  <a:txBody>
                    <a:bodyPr/>
                    <a:lstStyle/>
                    <a:p>
                      <a:pPr algn="l" fontAlgn="ctr"/>
                      <a:r>
                        <a:rPr lang="en-US" sz="1400" b="0" i="0" u="none" strike="noStrike" dirty="0">
                          <a:solidFill>
                            <a:srgbClr val="242424"/>
                          </a:solidFill>
                          <a:effectLst/>
                          <a:latin typeface="+mj-lt"/>
                        </a:rPr>
                        <a:t>Paisa/unit</a:t>
                      </a:r>
                    </a:p>
                  </a:txBody>
                  <a:tcPr marR="6350" marT="6350" marB="0" anchor="ctr"/>
                </a:tc>
                <a:extLst>
                  <a:ext uri="{0D108BD9-81ED-4DB2-BD59-A6C34878D82A}">
                    <a16:rowId xmlns:a16="http://schemas.microsoft.com/office/drawing/2014/main" val="2199794588"/>
                  </a:ext>
                </a:extLst>
              </a:tr>
              <a:tr h="444500">
                <a:tc>
                  <a:txBody>
                    <a:bodyPr/>
                    <a:lstStyle/>
                    <a:p>
                      <a:pPr algn="l" fontAlgn="ctr"/>
                      <a:r>
                        <a:rPr lang="en-US" sz="1400" b="1" i="0" u="none" strike="noStrike" dirty="0">
                          <a:solidFill>
                            <a:srgbClr val="242424"/>
                          </a:solidFill>
                          <a:effectLst/>
                          <a:latin typeface="+mj-lt"/>
                        </a:rPr>
                        <a:t>Total Savings</a:t>
                      </a:r>
                    </a:p>
                  </a:txBody>
                  <a:tcPr marR="6350" marT="6350" marB="0" anchor="ctr"/>
                </a:tc>
                <a:tc>
                  <a:txBody>
                    <a:bodyPr/>
                    <a:lstStyle/>
                    <a:p>
                      <a:pPr algn="ctr" fontAlgn="ctr"/>
                      <a:r>
                        <a:rPr lang="en-US" sz="1400" b="1" i="0" u="none" strike="noStrike" dirty="0">
                          <a:solidFill>
                            <a:srgbClr val="242424"/>
                          </a:solidFill>
                          <a:effectLst/>
                          <a:highlight>
                            <a:srgbClr val="00FF00"/>
                          </a:highlight>
                          <a:latin typeface="+mj-lt"/>
                        </a:rPr>
                        <a:t>10.48</a:t>
                      </a:r>
                    </a:p>
                  </a:txBody>
                  <a:tcPr marR="6350" marT="6350" marB="0" anchor="ctr"/>
                </a:tc>
                <a:tc>
                  <a:txBody>
                    <a:bodyPr/>
                    <a:lstStyle/>
                    <a:p>
                      <a:pPr algn="l" fontAlgn="ctr"/>
                      <a:r>
                        <a:rPr lang="en-US" sz="1400" b="1" i="0" u="none" strike="noStrike" dirty="0">
                          <a:solidFill>
                            <a:srgbClr val="242424"/>
                          </a:solidFill>
                          <a:effectLst/>
                          <a:latin typeface="+mj-lt"/>
                        </a:rPr>
                        <a:t>Paisa/unit</a:t>
                      </a:r>
                    </a:p>
                  </a:txBody>
                  <a:tcPr marR="6350" marT="6350" marB="0" anchor="ctr"/>
                </a:tc>
                <a:extLst>
                  <a:ext uri="{0D108BD9-81ED-4DB2-BD59-A6C34878D82A}">
                    <a16:rowId xmlns:a16="http://schemas.microsoft.com/office/drawing/2014/main" val="2838263672"/>
                  </a:ext>
                </a:extLst>
              </a:tr>
              <a:tr h="444500">
                <a:tc>
                  <a:txBody>
                    <a:bodyPr/>
                    <a:lstStyle/>
                    <a:p>
                      <a:pPr algn="l" fontAlgn="ctr"/>
                      <a:r>
                        <a:rPr lang="en-US" sz="1400" b="1" i="0" u="none" strike="noStrike" dirty="0">
                          <a:solidFill>
                            <a:srgbClr val="242424"/>
                          </a:solidFill>
                          <a:effectLst/>
                          <a:latin typeface="+mj-lt"/>
                        </a:rPr>
                        <a:t>Total Savings</a:t>
                      </a:r>
                    </a:p>
                  </a:txBody>
                  <a:tcPr marR="6350" marT="6350" marB="0" anchor="ctr"/>
                </a:tc>
                <a:tc>
                  <a:txBody>
                    <a:bodyPr/>
                    <a:lstStyle/>
                    <a:p>
                      <a:pPr algn="ctr" fontAlgn="ctr"/>
                      <a:r>
                        <a:rPr lang="en-US" sz="1400" b="1" i="0" u="none" strike="noStrike" dirty="0">
                          <a:solidFill>
                            <a:srgbClr val="242424"/>
                          </a:solidFill>
                          <a:effectLst/>
                          <a:highlight>
                            <a:srgbClr val="00FF00"/>
                          </a:highlight>
                          <a:latin typeface="+mj-lt"/>
                        </a:rPr>
                        <a:t>~460</a:t>
                      </a:r>
                    </a:p>
                  </a:txBody>
                  <a:tcPr marR="6350" marT="6350" marB="0" anchor="ctr"/>
                </a:tc>
                <a:tc>
                  <a:txBody>
                    <a:bodyPr/>
                    <a:lstStyle/>
                    <a:p>
                      <a:pPr algn="l" fontAlgn="ctr"/>
                      <a:r>
                        <a:rPr lang="en-US" sz="1400" b="1" i="0" u="none" strike="noStrike" dirty="0">
                          <a:solidFill>
                            <a:srgbClr val="242424"/>
                          </a:solidFill>
                          <a:effectLst/>
                          <a:latin typeface="+mj-lt"/>
                        </a:rPr>
                        <a:t>Rs. Crore</a:t>
                      </a:r>
                    </a:p>
                  </a:txBody>
                  <a:tcPr marR="6350" marT="6350" marB="0" anchor="ctr"/>
                </a:tc>
                <a:extLst>
                  <a:ext uri="{0D108BD9-81ED-4DB2-BD59-A6C34878D82A}">
                    <a16:rowId xmlns:a16="http://schemas.microsoft.com/office/drawing/2014/main" val="220689118"/>
                  </a:ext>
                </a:extLst>
              </a:tr>
            </a:tbl>
          </a:graphicData>
        </a:graphic>
      </p:graphicFrame>
      <p:sp>
        <p:nvSpPr>
          <p:cNvPr id="17" name="TextBox 16">
            <a:extLst>
              <a:ext uri="{FF2B5EF4-FFF2-40B4-BE49-F238E27FC236}">
                <a16:creationId xmlns:a16="http://schemas.microsoft.com/office/drawing/2014/main" id="{4EA06B4A-2286-492E-87F3-A345EA43265C}"/>
              </a:ext>
            </a:extLst>
          </p:cNvPr>
          <p:cNvSpPr txBox="1"/>
          <p:nvPr/>
        </p:nvSpPr>
        <p:spPr>
          <a:xfrm>
            <a:off x="-2133600" y="1067386"/>
            <a:ext cx="6096000" cy="373500"/>
          </a:xfrm>
          <a:prstGeom prst="rect">
            <a:avLst/>
          </a:prstGeom>
          <a:noFill/>
        </p:spPr>
        <p:txBody>
          <a:bodyPr wrap="square">
            <a:spAutoFit/>
          </a:bodyPr>
          <a:lstStyle/>
          <a:p>
            <a:pPr marL="0" marR="0" lvl="0" indent="0" algn="ctr" defTabSz="914342" rtl="0" eaLnBrk="1" fontAlgn="auto" latinLnBrk="0" hangingPunct="1">
              <a:lnSpc>
                <a:spcPct val="106000"/>
              </a:lnSpc>
              <a:spcBef>
                <a:spcPts val="0"/>
              </a:spcBef>
              <a:spcAft>
                <a:spcPts val="0"/>
              </a:spcAft>
              <a:buClrTx/>
              <a:buSzTx/>
              <a:buFont typeface="Wingdings 2" pitchFamily="18" charset="2"/>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Verdana" panose="020B0604030504040204" pitchFamily="34" charset="0"/>
                <a:cs typeface="Calibri" panose="020F0502020204030204" pitchFamily="34" charset="0"/>
              </a:rPr>
              <a:t>Inputs:</a:t>
            </a:r>
          </a:p>
        </p:txBody>
      </p:sp>
      <p:sp>
        <p:nvSpPr>
          <p:cNvPr id="18" name="TextBox 17">
            <a:extLst>
              <a:ext uri="{FF2B5EF4-FFF2-40B4-BE49-F238E27FC236}">
                <a16:creationId xmlns:a16="http://schemas.microsoft.com/office/drawing/2014/main" id="{F80B514A-B85E-49C8-887F-16A88A50F222}"/>
              </a:ext>
            </a:extLst>
          </p:cNvPr>
          <p:cNvSpPr txBox="1"/>
          <p:nvPr/>
        </p:nvSpPr>
        <p:spPr>
          <a:xfrm>
            <a:off x="501652" y="2880041"/>
            <a:ext cx="11582399" cy="373500"/>
          </a:xfrm>
          <a:prstGeom prst="rect">
            <a:avLst/>
          </a:prstGeom>
          <a:noFill/>
        </p:spPr>
        <p:txBody>
          <a:bodyPr wrap="square">
            <a:spAutoFit/>
          </a:bodyPr>
          <a:lstStyle/>
          <a:p>
            <a:pPr marL="0" marR="0" lvl="0" indent="0" defTabSz="914342" rtl="0" eaLnBrk="1" fontAlgn="auto" latinLnBrk="0" hangingPunct="1">
              <a:lnSpc>
                <a:spcPct val="106000"/>
              </a:lnSpc>
              <a:spcBef>
                <a:spcPts val="0"/>
              </a:spcBef>
              <a:spcAft>
                <a:spcPts val="0"/>
              </a:spcAft>
              <a:buClrTx/>
              <a:buSzTx/>
              <a:buFont typeface="Wingdings 2" pitchFamily="18" charset="2"/>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Verdana" panose="020B0604030504040204" pitchFamily="34" charset="0"/>
                <a:cs typeface="Calibri" panose="020F0502020204030204" pitchFamily="34" charset="0"/>
              </a:rPr>
              <a:t>Resultant savings on influx and swapping with RE to the extent of quantum for which RPO is unfulfilled for FY 21</a:t>
            </a:r>
          </a:p>
        </p:txBody>
      </p:sp>
      <p:sp>
        <p:nvSpPr>
          <p:cNvPr id="8" name="TextBox 7">
            <a:extLst>
              <a:ext uri="{FF2B5EF4-FFF2-40B4-BE49-F238E27FC236}">
                <a16:creationId xmlns:a16="http://schemas.microsoft.com/office/drawing/2014/main" id="{B4FD3D44-2D8C-4148-B6D6-C83CFB4257AD}"/>
              </a:ext>
            </a:extLst>
          </p:cNvPr>
          <p:cNvSpPr txBox="1"/>
          <p:nvPr/>
        </p:nvSpPr>
        <p:spPr>
          <a:xfrm>
            <a:off x="8587291" y="6318609"/>
            <a:ext cx="3496760" cy="161583"/>
          </a:xfrm>
          <a:prstGeom prst="rect">
            <a:avLst/>
          </a:prstGeom>
          <a:noFill/>
        </p:spPr>
        <p:txBody>
          <a:bodyPr wrap="square" lIns="0" tIns="0" rIns="0" bIns="0" rtlCol="0">
            <a:spAutoFit/>
          </a:bodyPr>
          <a:lstStyle/>
          <a:p>
            <a:pPr>
              <a:spcBef>
                <a:spcPts val="600"/>
              </a:spcBef>
              <a:buSzPct val="100000"/>
            </a:pPr>
            <a:r>
              <a:rPr lang="en-US" sz="1050" dirty="0">
                <a:solidFill>
                  <a:srgbClr val="313131"/>
                </a:solidFill>
              </a:rPr>
              <a:t>Source: Deloitte Analysis </a:t>
            </a:r>
          </a:p>
        </p:txBody>
      </p:sp>
    </p:spTree>
    <p:extLst>
      <p:ext uri="{BB962C8B-B14F-4D97-AF65-F5344CB8AC3E}">
        <p14:creationId xmlns:p14="http://schemas.microsoft.com/office/powerpoint/2010/main" val="3912772587"/>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378EC-4146-4016-8F1C-11267B36B8EA}"/>
              </a:ext>
            </a:extLst>
          </p:cNvPr>
          <p:cNvSpPr>
            <a:spLocks noGrp="1"/>
          </p:cNvSpPr>
          <p:nvPr>
            <p:ph type="title"/>
          </p:nvPr>
        </p:nvSpPr>
        <p:spPr>
          <a:xfrm>
            <a:off x="292529" y="311213"/>
            <a:ext cx="10515186" cy="432717"/>
          </a:xfrm>
        </p:spPr>
        <p:txBody>
          <a:bodyPr>
            <a:noAutofit/>
          </a:bodyPr>
          <a:lstStyle/>
          <a:p>
            <a:r>
              <a:rPr lang="en-US" sz="1800" b="1" i="0" dirty="0">
                <a:solidFill>
                  <a:schemeClr val="tx1"/>
                </a:solidFill>
                <a:latin typeface="Verdana" panose="020B0604030504040204" pitchFamily="34" charset="0"/>
                <a:ea typeface="Verdana" panose="020B0604030504040204" pitchFamily="34" charset="0"/>
              </a:rPr>
              <a:t>West Bengal Draft Solar Policy Highlights (1/3)</a:t>
            </a:r>
          </a:p>
        </p:txBody>
      </p:sp>
      <p:graphicFrame>
        <p:nvGraphicFramePr>
          <p:cNvPr id="5" name="Content Placeholder 4">
            <a:extLst>
              <a:ext uri="{FF2B5EF4-FFF2-40B4-BE49-F238E27FC236}">
                <a16:creationId xmlns:a16="http://schemas.microsoft.com/office/drawing/2014/main" id="{DF53598A-E81C-4269-A154-343233F0B81B}"/>
              </a:ext>
            </a:extLst>
          </p:cNvPr>
          <p:cNvGraphicFramePr>
            <a:graphicFrameLocks noGrp="1"/>
          </p:cNvGraphicFramePr>
          <p:nvPr>
            <p:ph idx="1"/>
          </p:nvPr>
        </p:nvGraphicFramePr>
        <p:xfrm>
          <a:off x="6283405" y="1576897"/>
          <a:ext cx="5476256" cy="43458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Content Placeholder 7">
            <a:extLst>
              <a:ext uri="{FF2B5EF4-FFF2-40B4-BE49-F238E27FC236}">
                <a16:creationId xmlns:a16="http://schemas.microsoft.com/office/drawing/2014/main" id="{7FF3BA38-FA09-49EC-93F4-F92DD17006E0}"/>
              </a:ext>
            </a:extLst>
          </p:cNvPr>
          <p:cNvGraphicFramePr>
            <a:graphicFrameLocks/>
          </p:cNvGraphicFramePr>
          <p:nvPr/>
        </p:nvGraphicFramePr>
        <p:xfrm>
          <a:off x="292529" y="1658358"/>
          <a:ext cx="5345438" cy="1018480"/>
        </p:xfrm>
        <a:graphic>
          <a:graphicData uri="http://schemas.openxmlformats.org/drawingml/2006/table">
            <a:tbl>
              <a:tblPr firstRow="1" bandRow="1">
                <a:tableStyleId>{7E9639D4-E3E2-4D34-9284-5A2195B3D0D7}</a:tableStyleId>
              </a:tblPr>
              <a:tblGrid>
                <a:gridCol w="785330">
                  <a:extLst>
                    <a:ext uri="{9D8B030D-6E8A-4147-A177-3AD203B41FA5}">
                      <a16:colId xmlns:a16="http://schemas.microsoft.com/office/drawing/2014/main" val="1879644709"/>
                    </a:ext>
                  </a:extLst>
                </a:gridCol>
                <a:gridCol w="793956">
                  <a:extLst>
                    <a:ext uri="{9D8B030D-6E8A-4147-A177-3AD203B41FA5}">
                      <a16:colId xmlns:a16="http://schemas.microsoft.com/office/drawing/2014/main" val="99379997"/>
                    </a:ext>
                  </a:extLst>
                </a:gridCol>
                <a:gridCol w="919806">
                  <a:extLst>
                    <a:ext uri="{9D8B030D-6E8A-4147-A177-3AD203B41FA5}">
                      <a16:colId xmlns:a16="http://schemas.microsoft.com/office/drawing/2014/main" val="4074739615"/>
                    </a:ext>
                  </a:extLst>
                </a:gridCol>
                <a:gridCol w="1021921">
                  <a:extLst>
                    <a:ext uri="{9D8B030D-6E8A-4147-A177-3AD203B41FA5}">
                      <a16:colId xmlns:a16="http://schemas.microsoft.com/office/drawing/2014/main" val="384021926"/>
                    </a:ext>
                  </a:extLst>
                </a:gridCol>
                <a:gridCol w="815859">
                  <a:extLst>
                    <a:ext uri="{9D8B030D-6E8A-4147-A177-3AD203B41FA5}">
                      <a16:colId xmlns:a16="http://schemas.microsoft.com/office/drawing/2014/main" val="483228404"/>
                    </a:ext>
                  </a:extLst>
                </a:gridCol>
                <a:gridCol w="1008566">
                  <a:extLst>
                    <a:ext uri="{9D8B030D-6E8A-4147-A177-3AD203B41FA5}">
                      <a16:colId xmlns:a16="http://schemas.microsoft.com/office/drawing/2014/main" val="3364315206"/>
                    </a:ext>
                  </a:extLst>
                </a:gridCol>
              </a:tblGrid>
              <a:tr h="724977">
                <a:tc>
                  <a:txBody>
                    <a:bodyPr/>
                    <a:lstStyle/>
                    <a:p>
                      <a:pPr marL="0" marR="0" algn="ctr">
                        <a:lnSpc>
                          <a:spcPct val="120000"/>
                        </a:lnSpc>
                        <a:spcBef>
                          <a:spcPts val="0"/>
                        </a:spcBef>
                        <a:spcAft>
                          <a:spcPts val="0"/>
                        </a:spcAft>
                      </a:pPr>
                      <a:r>
                        <a:rPr lang="en-US" sz="1000" dirty="0">
                          <a:effectLst/>
                        </a:rPr>
                        <a:t>Small Hydro </a:t>
                      </a:r>
                      <a:r>
                        <a:rPr lang="en-IN" sz="1000" dirty="0">
                          <a:effectLst/>
                        </a:rPr>
                        <a:t>(MW)</a:t>
                      </a:r>
                      <a:endParaRPr lang="en-US"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162141" marR="162141" marT="0" marB="0" anchor="ctr"/>
                </a:tc>
                <a:tc>
                  <a:txBody>
                    <a:bodyPr/>
                    <a:lstStyle/>
                    <a:p>
                      <a:pPr marL="0" marR="0" algn="ctr">
                        <a:lnSpc>
                          <a:spcPct val="120000"/>
                        </a:lnSpc>
                        <a:spcBef>
                          <a:spcPts val="0"/>
                        </a:spcBef>
                        <a:spcAft>
                          <a:spcPts val="0"/>
                        </a:spcAft>
                      </a:pPr>
                      <a:r>
                        <a:rPr lang="en-US" sz="1000" dirty="0">
                          <a:effectLst/>
                        </a:rPr>
                        <a:t>Wind </a:t>
                      </a:r>
                      <a:r>
                        <a:rPr lang="en-IN" sz="1000" dirty="0">
                          <a:effectLst/>
                        </a:rPr>
                        <a:t>(MW)</a:t>
                      </a:r>
                      <a:endParaRPr lang="en-US"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162141" marR="162141" marT="0" marB="0" anchor="ctr"/>
                </a:tc>
                <a:tc>
                  <a:txBody>
                    <a:bodyPr/>
                    <a:lstStyle/>
                    <a:p>
                      <a:pPr marL="0" marR="0" algn="ctr">
                        <a:lnSpc>
                          <a:spcPct val="120000"/>
                        </a:lnSpc>
                        <a:spcBef>
                          <a:spcPts val="0"/>
                        </a:spcBef>
                        <a:spcAft>
                          <a:spcPts val="0"/>
                        </a:spcAft>
                      </a:pPr>
                      <a:r>
                        <a:rPr lang="en-US" sz="1000" dirty="0">
                          <a:effectLst/>
                        </a:rPr>
                        <a:t>Biomass </a:t>
                      </a:r>
                      <a:r>
                        <a:rPr lang="en-IN" sz="1000" dirty="0">
                          <a:effectLst/>
                        </a:rPr>
                        <a:t>(MW)</a:t>
                      </a:r>
                      <a:endParaRPr lang="en-US"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162141" marR="162141" marT="0" marB="0" anchor="ctr"/>
                </a:tc>
                <a:tc>
                  <a:txBody>
                    <a:bodyPr/>
                    <a:lstStyle/>
                    <a:p>
                      <a:pPr marL="0" marR="0" algn="ctr">
                        <a:lnSpc>
                          <a:spcPct val="120000"/>
                        </a:lnSpc>
                        <a:spcBef>
                          <a:spcPts val="0"/>
                        </a:spcBef>
                        <a:spcAft>
                          <a:spcPts val="0"/>
                        </a:spcAft>
                      </a:pPr>
                      <a:r>
                        <a:rPr lang="en-US" sz="1000" dirty="0">
                          <a:effectLst/>
                        </a:rPr>
                        <a:t>Waste to Energy </a:t>
                      </a:r>
                      <a:r>
                        <a:rPr lang="en-IN" sz="1000" dirty="0">
                          <a:effectLst/>
                        </a:rPr>
                        <a:t>(MW)</a:t>
                      </a:r>
                      <a:endParaRPr lang="en-US"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162141" marR="162141" marT="0" marB="0" anchor="ctr"/>
                </a:tc>
                <a:tc>
                  <a:txBody>
                    <a:bodyPr/>
                    <a:lstStyle/>
                    <a:p>
                      <a:pPr marL="0" marR="0" algn="ctr">
                        <a:lnSpc>
                          <a:spcPct val="120000"/>
                        </a:lnSpc>
                        <a:spcBef>
                          <a:spcPts val="0"/>
                        </a:spcBef>
                        <a:spcAft>
                          <a:spcPts val="0"/>
                        </a:spcAft>
                      </a:pPr>
                      <a:r>
                        <a:rPr lang="en-US" sz="1000" dirty="0">
                          <a:effectLst/>
                        </a:rPr>
                        <a:t>Solar Power </a:t>
                      </a:r>
                      <a:r>
                        <a:rPr lang="en-IN" sz="1000" dirty="0">
                          <a:effectLst/>
                        </a:rPr>
                        <a:t>(MW)</a:t>
                      </a:r>
                      <a:endParaRPr lang="en-US"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162141" marR="162141" marT="0" marB="0" anchor="ctr"/>
                </a:tc>
                <a:tc>
                  <a:txBody>
                    <a:bodyPr/>
                    <a:lstStyle/>
                    <a:p>
                      <a:pPr marL="0" marR="0" algn="ctr">
                        <a:lnSpc>
                          <a:spcPct val="120000"/>
                        </a:lnSpc>
                        <a:spcBef>
                          <a:spcPts val="0"/>
                        </a:spcBef>
                        <a:spcAft>
                          <a:spcPts val="0"/>
                        </a:spcAft>
                      </a:pPr>
                      <a:r>
                        <a:rPr lang="en-US" sz="1000" dirty="0">
                          <a:effectLst/>
                        </a:rPr>
                        <a:t>Total Capacity </a:t>
                      </a:r>
                      <a:r>
                        <a:rPr lang="en-IN" sz="1000" dirty="0">
                          <a:effectLst/>
                        </a:rPr>
                        <a:t>(MW)</a:t>
                      </a:r>
                      <a:endParaRPr lang="en-US" sz="1000" dirty="0">
                        <a:effectLst/>
                        <a:latin typeface="Verdana" panose="020B0604030504040204" pitchFamily="34" charset="0"/>
                        <a:ea typeface="Verdana" panose="020B0604030504040204" pitchFamily="34" charset="0"/>
                        <a:cs typeface="Times New Roman" panose="02020603050405020304" pitchFamily="18" charset="0"/>
                      </a:endParaRPr>
                    </a:p>
                  </a:txBody>
                  <a:tcPr marL="162141" marR="162141" marT="0" marB="0" anchor="ctr"/>
                </a:tc>
                <a:extLst>
                  <a:ext uri="{0D108BD9-81ED-4DB2-BD59-A6C34878D82A}">
                    <a16:rowId xmlns:a16="http://schemas.microsoft.com/office/drawing/2014/main" val="3333999965"/>
                  </a:ext>
                </a:extLst>
              </a:tr>
              <a:tr h="293503">
                <a:tc>
                  <a:txBody>
                    <a:bodyPr/>
                    <a:lstStyle/>
                    <a:p>
                      <a:pPr marL="0" marR="0" algn="ctr">
                        <a:lnSpc>
                          <a:spcPct val="120000"/>
                        </a:lnSpc>
                        <a:spcBef>
                          <a:spcPts val="0"/>
                        </a:spcBef>
                        <a:spcAft>
                          <a:spcPts val="0"/>
                        </a:spcAft>
                      </a:pPr>
                      <a:r>
                        <a:rPr lang="en-US" sz="1300" b="1" dirty="0">
                          <a:effectLst/>
                        </a:rPr>
                        <a:t>200</a:t>
                      </a:r>
                      <a:endParaRPr lang="en-US" sz="1300" b="1" dirty="0">
                        <a:effectLst/>
                        <a:latin typeface="Verdana" panose="020B0604030504040204" pitchFamily="34" charset="0"/>
                        <a:ea typeface="Verdana" panose="020B0604030504040204" pitchFamily="34" charset="0"/>
                        <a:cs typeface="Times New Roman" panose="02020603050405020304" pitchFamily="18" charset="0"/>
                      </a:endParaRPr>
                    </a:p>
                  </a:txBody>
                  <a:tcPr marL="162141" marR="162141" marT="0" marB="0" anchor="ctr"/>
                </a:tc>
                <a:tc>
                  <a:txBody>
                    <a:bodyPr/>
                    <a:lstStyle/>
                    <a:p>
                      <a:pPr marL="0" marR="0" algn="ctr">
                        <a:lnSpc>
                          <a:spcPct val="120000"/>
                        </a:lnSpc>
                        <a:spcBef>
                          <a:spcPts val="0"/>
                        </a:spcBef>
                        <a:spcAft>
                          <a:spcPts val="0"/>
                        </a:spcAft>
                      </a:pPr>
                      <a:r>
                        <a:rPr lang="en-US" sz="1300" b="1" dirty="0">
                          <a:effectLst/>
                        </a:rPr>
                        <a:t>100</a:t>
                      </a:r>
                      <a:endParaRPr lang="en-US" sz="1300" b="1" dirty="0">
                        <a:effectLst/>
                        <a:latin typeface="Verdana" panose="020B0604030504040204" pitchFamily="34" charset="0"/>
                        <a:ea typeface="Verdana" panose="020B0604030504040204" pitchFamily="34" charset="0"/>
                        <a:cs typeface="Times New Roman" panose="02020603050405020304" pitchFamily="18" charset="0"/>
                      </a:endParaRPr>
                    </a:p>
                  </a:txBody>
                  <a:tcPr marL="162141" marR="162141" marT="0" marB="0" anchor="ctr"/>
                </a:tc>
                <a:tc>
                  <a:txBody>
                    <a:bodyPr/>
                    <a:lstStyle/>
                    <a:p>
                      <a:pPr marL="0" marR="0" algn="ctr">
                        <a:lnSpc>
                          <a:spcPct val="120000"/>
                        </a:lnSpc>
                        <a:spcBef>
                          <a:spcPts val="0"/>
                        </a:spcBef>
                        <a:spcAft>
                          <a:spcPts val="0"/>
                        </a:spcAft>
                      </a:pPr>
                      <a:r>
                        <a:rPr lang="en-US" sz="1300" b="1" dirty="0">
                          <a:effectLst/>
                        </a:rPr>
                        <a:t>200</a:t>
                      </a:r>
                      <a:endParaRPr lang="en-US" sz="1300" b="1" dirty="0">
                        <a:effectLst/>
                        <a:latin typeface="Verdana" panose="020B0604030504040204" pitchFamily="34" charset="0"/>
                        <a:ea typeface="Verdana" panose="020B0604030504040204" pitchFamily="34" charset="0"/>
                        <a:cs typeface="Times New Roman" panose="02020603050405020304" pitchFamily="18" charset="0"/>
                      </a:endParaRPr>
                    </a:p>
                  </a:txBody>
                  <a:tcPr marL="162141" marR="162141" marT="0" marB="0" anchor="ctr"/>
                </a:tc>
                <a:tc>
                  <a:txBody>
                    <a:bodyPr/>
                    <a:lstStyle/>
                    <a:p>
                      <a:pPr marL="0" marR="0" algn="ctr">
                        <a:lnSpc>
                          <a:spcPct val="120000"/>
                        </a:lnSpc>
                        <a:spcBef>
                          <a:spcPts val="0"/>
                        </a:spcBef>
                        <a:spcAft>
                          <a:spcPts val="0"/>
                        </a:spcAft>
                      </a:pPr>
                      <a:r>
                        <a:rPr lang="en-US" sz="1300" b="1" dirty="0">
                          <a:effectLst/>
                        </a:rPr>
                        <a:t>150</a:t>
                      </a:r>
                      <a:endParaRPr lang="en-US" sz="1300" b="1" dirty="0">
                        <a:effectLst/>
                        <a:latin typeface="Verdana" panose="020B0604030504040204" pitchFamily="34" charset="0"/>
                        <a:ea typeface="Verdana" panose="020B0604030504040204" pitchFamily="34" charset="0"/>
                        <a:cs typeface="Times New Roman" panose="02020603050405020304" pitchFamily="18" charset="0"/>
                      </a:endParaRPr>
                    </a:p>
                  </a:txBody>
                  <a:tcPr marL="162141" marR="162141" marT="0" marB="0" anchor="ctr"/>
                </a:tc>
                <a:tc>
                  <a:txBody>
                    <a:bodyPr/>
                    <a:lstStyle/>
                    <a:p>
                      <a:pPr marL="0" marR="0" algn="ctr">
                        <a:lnSpc>
                          <a:spcPct val="120000"/>
                        </a:lnSpc>
                        <a:spcBef>
                          <a:spcPts val="0"/>
                        </a:spcBef>
                        <a:spcAft>
                          <a:spcPts val="0"/>
                        </a:spcAft>
                      </a:pPr>
                      <a:r>
                        <a:rPr lang="en-US" sz="1300" b="1" dirty="0">
                          <a:effectLst/>
                        </a:rPr>
                        <a:t>6000</a:t>
                      </a:r>
                      <a:endParaRPr lang="en-US" sz="1300" b="1" dirty="0">
                        <a:effectLst/>
                        <a:latin typeface="Verdana" panose="020B0604030504040204" pitchFamily="34" charset="0"/>
                        <a:ea typeface="Verdana" panose="020B0604030504040204" pitchFamily="34" charset="0"/>
                        <a:cs typeface="Times New Roman" panose="02020603050405020304" pitchFamily="18" charset="0"/>
                      </a:endParaRPr>
                    </a:p>
                  </a:txBody>
                  <a:tcPr marL="162141" marR="162141" marT="0" marB="0" anchor="ctr"/>
                </a:tc>
                <a:tc>
                  <a:txBody>
                    <a:bodyPr/>
                    <a:lstStyle/>
                    <a:p>
                      <a:pPr marL="0" marR="0" algn="ctr">
                        <a:lnSpc>
                          <a:spcPct val="120000"/>
                        </a:lnSpc>
                        <a:spcBef>
                          <a:spcPts val="0"/>
                        </a:spcBef>
                        <a:spcAft>
                          <a:spcPts val="0"/>
                        </a:spcAft>
                      </a:pPr>
                      <a:r>
                        <a:rPr lang="en-US" sz="1300" b="1" dirty="0">
                          <a:effectLst/>
                        </a:rPr>
                        <a:t>6650</a:t>
                      </a:r>
                      <a:endParaRPr lang="en-US" sz="1300" b="1" dirty="0">
                        <a:effectLst/>
                        <a:latin typeface="Verdana" panose="020B0604030504040204" pitchFamily="34" charset="0"/>
                        <a:ea typeface="Verdana" panose="020B0604030504040204" pitchFamily="34" charset="0"/>
                        <a:cs typeface="Times New Roman" panose="02020603050405020304" pitchFamily="18" charset="0"/>
                      </a:endParaRPr>
                    </a:p>
                  </a:txBody>
                  <a:tcPr marL="162141" marR="162141" marT="0" marB="0" anchor="ctr"/>
                </a:tc>
                <a:extLst>
                  <a:ext uri="{0D108BD9-81ED-4DB2-BD59-A6C34878D82A}">
                    <a16:rowId xmlns:a16="http://schemas.microsoft.com/office/drawing/2014/main" val="3782118611"/>
                  </a:ext>
                </a:extLst>
              </a:tr>
            </a:tbl>
          </a:graphicData>
        </a:graphic>
      </p:graphicFrame>
      <p:sp>
        <p:nvSpPr>
          <p:cNvPr id="8" name="TextBox 7">
            <a:extLst>
              <a:ext uri="{FF2B5EF4-FFF2-40B4-BE49-F238E27FC236}">
                <a16:creationId xmlns:a16="http://schemas.microsoft.com/office/drawing/2014/main" id="{0928060D-1746-4834-8E96-AC969C4B7B59}"/>
              </a:ext>
            </a:extLst>
          </p:cNvPr>
          <p:cNvSpPr txBox="1"/>
          <p:nvPr/>
        </p:nvSpPr>
        <p:spPr>
          <a:xfrm>
            <a:off x="212053" y="1225253"/>
            <a:ext cx="5584793" cy="307777"/>
          </a:xfrm>
          <a:prstGeom prst="rect">
            <a:avLst/>
          </a:prstGeom>
          <a:noFill/>
        </p:spPr>
        <p:txBody>
          <a:bodyPr wrap="square" rtlCol="0">
            <a:spAutoFit/>
          </a:bodyPr>
          <a:lstStyle/>
          <a:p>
            <a:pPr marL="0" marR="0" lvl="0" indent="0" algn="l" defTabSz="914335"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Targets for grid connected renewable sources:</a:t>
            </a:r>
            <a:endParaRPr kumimoji="0" lang="en-US" sz="1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graphicFrame>
        <p:nvGraphicFramePr>
          <p:cNvPr id="9" name="Table 8">
            <a:extLst>
              <a:ext uri="{FF2B5EF4-FFF2-40B4-BE49-F238E27FC236}">
                <a16:creationId xmlns:a16="http://schemas.microsoft.com/office/drawing/2014/main" id="{3ECE8FF6-E73E-4B88-8636-9AFA6DA77693}"/>
              </a:ext>
            </a:extLst>
          </p:cNvPr>
          <p:cNvGraphicFramePr>
            <a:graphicFrameLocks noGrp="1"/>
          </p:cNvGraphicFramePr>
          <p:nvPr/>
        </p:nvGraphicFramePr>
        <p:xfrm>
          <a:off x="297522" y="3229213"/>
          <a:ext cx="5345440" cy="1473351"/>
        </p:xfrm>
        <a:graphic>
          <a:graphicData uri="http://schemas.openxmlformats.org/drawingml/2006/table">
            <a:tbl>
              <a:tblPr firstRow="1" firstCol="1" bandRow="1">
                <a:tableStyleId>{21E4AEA4-8DFA-4A89-87EB-49C32662AFE0}</a:tableStyleId>
              </a:tblPr>
              <a:tblGrid>
                <a:gridCol w="1082954">
                  <a:extLst>
                    <a:ext uri="{9D8B030D-6E8A-4147-A177-3AD203B41FA5}">
                      <a16:colId xmlns:a16="http://schemas.microsoft.com/office/drawing/2014/main" val="1675682049"/>
                    </a:ext>
                  </a:extLst>
                </a:gridCol>
                <a:gridCol w="1054999">
                  <a:extLst>
                    <a:ext uri="{9D8B030D-6E8A-4147-A177-3AD203B41FA5}">
                      <a16:colId xmlns:a16="http://schemas.microsoft.com/office/drawing/2014/main" val="2129894395"/>
                    </a:ext>
                  </a:extLst>
                </a:gridCol>
                <a:gridCol w="1068978">
                  <a:extLst>
                    <a:ext uri="{9D8B030D-6E8A-4147-A177-3AD203B41FA5}">
                      <a16:colId xmlns:a16="http://schemas.microsoft.com/office/drawing/2014/main" val="1917423943"/>
                    </a:ext>
                  </a:extLst>
                </a:gridCol>
                <a:gridCol w="1068978">
                  <a:extLst>
                    <a:ext uri="{9D8B030D-6E8A-4147-A177-3AD203B41FA5}">
                      <a16:colId xmlns:a16="http://schemas.microsoft.com/office/drawing/2014/main" val="3200209859"/>
                    </a:ext>
                  </a:extLst>
                </a:gridCol>
                <a:gridCol w="1069531">
                  <a:extLst>
                    <a:ext uri="{9D8B030D-6E8A-4147-A177-3AD203B41FA5}">
                      <a16:colId xmlns:a16="http://schemas.microsoft.com/office/drawing/2014/main" val="3840745075"/>
                    </a:ext>
                  </a:extLst>
                </a:gridCol>
              </a:tblGrid>
              <a:tr h="995012">
                <a:tc>
                  <a:txBody>
                    <a:bodyPr/>
                    <a:lstStyle/>
                    <a:p>
                      <a:pPr marL="0" marR="0" algn="l">
                        <a:lnSpc>
                          <a:spcPct val="120000"/>
                        </a:lnSpc>
                        <a:spcBef>
                          <a:spcPts val="0"/>
                        </a:spcBef>
                        <a:spcAft>
                          <a:spcPts val="0"/>
                        </a:spcAft>
                      </a:pPr>
                      <a:r>
                        <a:rPr lang="en-IN" sz="1100" dirty="0">
                          <a:effectLst/>
                        </a:rPr>
                        <a:t>Technology </a:t>
                      </a:r>
                      <a:endParaRPr lang="en-US"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tc>
                  <a:txBody>
                    <a:bodyPr/>
                    <a:lstStyle/>
                    <a:p>
                      <a:pPr marL="0" marR="0" algn="l">
                        <a:lnSpc>
                          <a:spcPct val="120000"/>
                        </a:lnSpc>
                        <a:spcBef>
                          <a:spcPts val="0"/>
                        </a:spcBef>
                        <a:spcAft>
                          <a:spcPts val="0"/>
                        </a:spcAft>
                      </a:pPr>
                      <a:r>
                        <a:rPr lang="en-IN" sz="1100" dirty="0">
                          <a:effectLst/>
                        </a:rPr>
                        <a:t>Distributed Land Based Solar Projects </a:t>
                      </a:r>
                      <a:endParaRPr lang="en-US"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tc>
                  <a:txBody>
                    <a:bodyPr/>
                    <a:lstStyle/>
                    <a:p>
                      <a:pPr marL="0" marR="0" algn="l">
                        <a:lnSpc>
                          <a:spcPct val="120000"/>
                        </a:lnSpc>
                        <a:spcBef>
                          <a:spcPts val="0"/>
                        </a:spcBef>
                        <a:spcAft>
                          <a:spcPts val="0"/>
                        </a:spcAft>
                      </a:pPr>
                      <a:r>
                        <a:rPr lang="en-IN" sz="1100" dirty="0">
                          <a:effectLst/>
                        </a:rPr>
                        <a:t>Solar or Hybrid Park </a:t>
                      </a:r>
                      <a:endParaRPr lang="en-US"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tc>
                  <a:txBody>
                    <a:bodyPr/>
                    <a:lstStyle/>
                    <a:p>
                      <a:pPr marL="0" marR="0" algn="l">
                        <a:lnSpc>
                          <a:spcPct val="120000"/>
                        </a:lnSpc>
                        <a:spcBef>
                          <a:spcPts val="0"/>
                        </a:spcBef>
                        <a:spcAft>
                          <a:spcPts val="0"/>
                        </a:spcAft>
                      </a:pPr>
                      <a:r>
                        <a:rPr lang="en-IN" sz="1100" dirty="0">
                          <a:effectLst/>
                        </a:rPr>
                        <a:t>Projects utilising water bodies </a:t>
                      </a:r>
                      <a:endParaRPr lang="en-US"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tc>
                  <a:txBody>
                    <a:bodyPr/>
                    <a:lstStyle/>
                    <a:p>
                      <a:pPr marL="0" marR="0" algn="just">
                        <a:lnSpc>
                          <a:spcPct val="115000"/>
                        </a:lnSpc>
                        <a:spcBef>
                          <a:spcPts val="0"/>
                        </a:spcBef>
                        <a:spcAft>
                          <a:spcPts val="0"/>
                        </a:spcAft>
                      </a:pPr>
                      <a:r>
                        <a:rPr lang="en-US" sz="1100" dirty="0">
                          <a:effectLst/>
                        </a:rPr>
                        <a:t>Projects on consumer side of meter</a:t>
                      </a:r>
                    </a:p>
                    <a:p>
                      <a:pPr marL="0" marR="0" algn="just">
                        <a:lnSpc>
                          <a:spcPct val="115000"/>
                        </a:lnSpc>
                        <a:spcBef>
                          <a:spcPts val="0"/>
                        </a:spcBef>
                        <a:spcAft>
                          <a:spcPts val="0"/>
                        </a:spcAft>
                      </a:pPr>
                      <a:r>
                        <a:rPr lang="en-IN" sz="1100" dirty="0">
                          <a:effectLst/>
                        </a:rPr>
                        <a:t> </a:t>
                      </a:r>
                      <a:endParaRPr lang="en-US"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extLst>
                  <a:ext uri="{0D108BD9-81ED-4DB2-BD59-A6C34878D82A}">
                    <a16:rowId xmlns:a16="http://schemas.microsoft.com/office/drawing/2014/main" val="3506488000"/>
                  </a:ext>
                </a:extLst>
              </a:tr>
              <a:tr h="478339">
                <a:tc>
                  <a:txBody>
                    <a:bodyPr/>
                    <a:lstStyle/>
                    <a:p>
                      <a:pPr marL="0" marR="0" algn="just">
                        <a:lnSpc>
                          <a:spcPct val="120000"/>
                        </a:lnSpc>
                        <a:spcBef>
                          <a:spcPts val="0"/>
                        </a:spcBef>
                        <a:spcAft>
                          <a:spcPts val="0"/>
                        </a:spcAft>
                      </a:pPr>
                      <a:r>
                        <a:rPr lang="en-IN" sz="1100" dirty="0">
                          <a:effectLst/>
                        </a:rPr>
                        <a:t>Target by 2027 (MW)</a:t>
                      </a:r>
                      <a:endParaRPr lang="en-US"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tc>
                <a:tc>
                  <a:txBody>
                    <a:bodyPr/>
                    <a:lstStyle/>
                    <a:p>
                      <a:pPr marL="0" marR="0" algn="ctr">
                        <a:lnSpc>
                          <a:spcPct val="120000"/>
                        </a:lnSpc>
                        <a:spcBef>
                          <a:spcPts val="0"/>
                        </a:spcBef>
                        <a:spcAft>
                          <a:spcPts val="0"/>
                        </a:spcAft>
                      </a:pPr>
                      <a:r>
                        <a:rPr lang="en-IN" sz="1100" b="1" dirty="0">
                          <a:effectLst/>
                        </a:rPr>
                        <a:t>1600</a:t>
                      </a:r>
                      <a:endParaRPr lang="en-US" sz="1100" b="1"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tc>
                  <a:txBody>
                    <a:bodyPr/>
                    <a:lstStyle/>
                    <a:p>
                      <a:pPr marL="0" marR="0" algn="ctr">
                        <a:lnSpc>
                          <a:spcPct val="120000"/>
                        </a:lnSpc>
                        <a:spcBef>
                          <a:spcPts val="0"/>
                        </a:spcBef>
                        <a:spcAft>
                          <a:spcPts val="0"/>
                        </a:spcAft>
                      </a:pPr>
                      <a:r>
                        <a:rPr lang="en-IN" sz="1100" b="1" dirty="0">
                          <a:effectLst/>
                        </a:rPr>
                        <a:t>2000</a:t>
                      </a:r>
                      <a:endParaRPr lang="en-US" sz="1100" b="1"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tc>
                  <a:txBody>
                    <a:bodyPr/>
                    <a:lstStyle/>
                    <a:p>
                      <a:pPr marL="0" marR="0" algn="ctr">
                        <a:lnSpc>
                          <a:spcPct val="120000"/>
                        </a:lnSpc>
                        <a:spcBef>
                          <a:spcPts val="0"/>
                        </a:spcBef>
                        <a:spcAft>
                          <a:spcPts val="0"/>
                        </a:spcAft>
                      </a:pPr>
                      <a:r>
                        <a:rPr lang="en-IN" sz="1100" b="1" dirty="0">
                          <a:effectLst/>
                        </a:rPr>
                        <a:t>1100</a:t>
                      </a:r>
                      <a:endParaRPr lang="en-US" sz="1100" b="1"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tc>
                  <a:txBody>
                    <a:bodyPr/>
                    <a:lstStyle/>
                    <a:p>
                      <a:pPr marL="0" marR="0" algn="ctr">
                        <a:lnSpc>
                          <a:spcPct val="115000"/>
                        </a:lnSpc>
                        <a:spcBef>
                          <a:spcPts val="0"/>
                        </a:spcBef>
                        <a:spcAft>
                          <a:spcPts val="0"/>
                        </a:spcAft>
                      </a:pPr>
                      <a:r>
                        <a:rPr lang="en-IN" sz="1100" b="1" dirty="0">
                          <a:effectLst/>
                        </a:rPr>
                        <a:t>1300</a:t>
                      </a:r>
                      <a:endParaRPr lang="en-US" sz="1100" b="1"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extLst>
                  <a:ext uri="{0D108BD9-81ED-4DB2-BD59-A6C34878D82A}">
                    <a16:rowId xmlns:a16="http://schemas.microsoft.com/office/drawing/2014/main" val="1413671694"/>
                  </a:ext>
                </a:extLst>
              </a:tr>
            </a:tbl>
          </a:graphicData>
        </a:graphic>
      </p:graphicFrame>
      <p:sp>
        <p:nvSpPr>
          <p:cNvPr id="10" name="TextBox 9">
            <a:extLst>
              <a:ext uri="{FF2B5EF4-FFF2-40B4-BE49-F238E27FC236}">
                <a16:creationId xmlns:a16="http://schemas.microsoft.com/office/drawing/2014/main" id="{27FD43EC-3FE8-47FF-B410-7EACB5A43E23}"/>
              </a:ext>
            </a:extLst>
          </p:cNvPr>
          <p:cNvSpPr txBox="1"/>
          <p:nvPr/>
        </p:nvSpPr>
        <p:spPr>
          <a:xfrm>
            <a:off x="212053" y="2964684"/>
            <a:ext cx="5584793" cy="307777"/>
          </a:xfrm>
          <a:prstGeom prst="rect">
            <a:avLst/>
          </a:prstGeom>
          <a:noFill/>
        </p:spPr>
        <p:txBody>
          <a:bodyPr wrap="square" rtlCol="0">
            <a:spAutoFit/>
          </a:bodyPr>
          <a:lstStyle/>
          <a:p>
            <a:pPr marL="0" marR="0" lvl="0" indent="0" algn="l" defTabSz="914335"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Solar technology wise capacity addition targets:</a:t>
            </a:r>
            <a:endParaRPr kumimoji="0" lang="en-US" sz="1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graphicFrame>
        <p:nvGraphicFramePr>
          <p:cNvPr id="11" name="Table 10">
            <a:extLst>
              <a:ext uri="{FF2B5EF4-FFF2-40B4-BE49-F238E27FC236}">
                <a16:creationId xmlns:a16="http://schemas.microsoft.com/office/drawing/2014/main" id="{C052C03E-3EB1-435C-A655-BCD4383CB765}"/>
              </a:ext>
            </a:extLst>
          </p:cNvPr>
          <p:cNvGraphicFramePr>
            <a:graphicFrameLocks noGrp="1"/>
          </p:cNvGraphicFramePr>
          <p:nvPr/>
        </p:nvGraphicFramePr>
        <p:xfrm>
          <a:off x="292529" y="5319669"/>
          <a:ext cx="5345442" cy="603040"/>
        </p:xfrm>
        <a:graphic>
          <a:graphicData uri="http://schemas.openxmlformats.org/drawingml/2006/table">
            <a:tbl>
              <a:tblPr firstRow="1" firstCol="1" bandRow="1">
                <a:tableStyleId>{5C22544A-7EE6-4342-B048-85BDC9FD1C3A}</a:tableStyleId>
              </a:tblPr>
              <a:tblGrid>
                <a:gridCol w="1323632">
                  <a:extLst>
                    <a:ext uri="{9D8B030D-6E8A-4147-A177-3AD203B41FA5}">
                      <a16:colId xmlns:a16="http://schemas.microsoft.com/office/drawing/2014/main" val="3819339023"/>
                    </a:ext>
                  </a:extLst>
                </a:gridCol>
                <a:gridCol w="804362">
                  <a:extLst>
                    <a:ext uri="{9D8B030D-6E8A-4147-A177-3AD203B41FA5}">
                      <a16:colId xmlns:a16="http://schemas.microsoft.com/office/drawing/2014/main" val="1788812292"/>
                    </a:ext>
                  </a:extLst>
                </a:gridCol>
                <a:gridCol w="804362">
                  <a:extLst>
                    <a:ext uri="{9D8B030D-6E8A-4147-A177-3AD203B41FA5}">
                      <a16:colId xmlns:a16="http://schemas.microsoft.com/office/drawing/2014/main" val="3869952161"/>
                    </a:ext>
                  </a:extLst>
                </a:gridCol>
                <a:gridCol w="804362">
                  <a:extLst>
                    <a:ext uri="{9D8B030D-6E8A-4147-A177-3AD203B41FA5}">
                      <a16:colId xmlns:a16="http://schemas.microsoft.com/office/drawing/2014/main" val="3760637481"/>
                    </a:ext>
                  </a:extLst>
                </a:gridCol>
                <a:gridCol w="804362">
                  <a:extLst>
                    <a:ext uri="{9D8B030D-6E8A-4147-A177-3AD203B41FA5}">
                      <a16:colId xmlns:a16="http://schemas.microsoft.com/office/drawing/2014/main" val="1755230576"/>
                    </a:ext>
                  </a:extLst>
                </a:gridCol>
                <a:gridCol w="804362">
                  <a:extLst>
                    <a:ext uri="{9D8B030D-6E8A-4147-A177-3AD203B41FA5}">
                      <a16:colId xmlns:a16="http://schemas.microsoft.com/office/drawing/2014/main" val="3360855595"/>
                    </a:ext>
                  </a:extLst>
                </a:gridCol>
              </a:tblGrid>
              <a:tr h="242773">
                <a:tc>
                  <a:txBody>
                    <a:bodyPr/>
                    <a:lstStyle/>
                    <a:p>
                      <a:pPr marL="0" marR="0" algn="just">
                        <a:lnSpc>
                          <a:spcPct val="120000"/>
                        </a:lnSpc>
                        <a:spcBef>
                          <a:spcPts val="0"/>
                        </a:spcBef>
                        <a:spcAft>
                          <a:spcPts val="0"/>
                        </a:spcAft>
                      </a:pPr>
                      <a:r>
                        <a:rPr lang="en-IN" sz="1100" dirty="0">
                          <a:effectLst/>
                        </a:rPr>
                        <a:t>Year</a:t>
                      </a:r>
                      <a:endParaRPr lang="en-US"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tc>
                  <a:txBody>
                    <a:bodyPr/>
                    <a:lstStyle/>
                    <a:p>
                      <a:pPr marL="0" marR="0" algn="just">
                        <a:lnSpc>
                          <a:spcPct val="120000"/>
                        </a:lnSpc>
                        <a:spcBef>
                          <a:spcPts val="0"/>
                        </a:spcBef>
                        <a:spcAft>
                          <a:spcPts val="0"/>
                        </a:spcAft>
                      </a:pPr>
                      <a:r>
                        <a:rPr lang="en-IN" sz="1100" dirty="0">
                          <a:effectLst/>
                        </a:rPr>
                        <a:t>2022-23</a:t>
                      </a:r>
                      <a:endParaRPr lang="en-US"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tc>
                  <a:txBody>
                    <a:bodyPr/>
                    <a:lstStyle/>
                    <a:p>
                      <a:pPr marL="0" marR="0" algn="just">
                        <a:lnSpc>
                          <a:spcPct val="120000"/>
                        </a:lnSpc>
                        <a:spcBef>
                          <a:spcPts val="0"/>
                        </a:spcBef>
                        <a:spcAft>
                          <a:spcPts val="0"/>
                        </a:spcAft>
                      </a:pPr>
                      <a:r>
                        <a:rPr lang="en-IN" sz="1100" dirty="0">
                          <a:effectLst/>
                        </a:rPr>
                        <a:t>2023-24</a:t>
                      </a:r>
                      <a:endParaRPr lang="en-US"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tc>
                  <a:txBody>
                    <a:bodyPr/>
                    <a:lstStyle/>
                    <a:p>
                      <a:pPr marL="0" marR="0" algn="just">
                        <a:lnSpc>
                          <a:spcPct val="120000"/>
                        </a:lnSpc>
                        <a:spcBef>
                          <a:spcPts val="0"/>
                        </a:spcBef>
                        <a:spcAft>
                          <a:spcPts val="0"/>
                        </a:spcAft>
                      </a:pPr>
                      <a:r>
                        <a:rPr lang="en-IN" sz="1100" dirty="0">
                          <a:effectLst/>
                        </a:rPr>
                        <a:t>2024-25</a:t>
                      </a:r>
                      <a:endParaRPr lang="en-US"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tc>
                  <a:txBody>
                    <a:bodyPr/>
                    <a:lstStyle/>
                    <a:p>
                      <a:pPr marL="0" marR="0" algn="just">
                        <a:lnSpc>
                          <a:spcPct val="120000"/>
                        </a:lnSpc>
                        <a:spcBef>
                          <a:spcPts val="0"/>
                        </a:spcBef>
                        <a:spcAft>
                          <a:spcPts val="0"/>
                        </a:spcAft>
                      </a:pPr>
                      <a:r>
                        <a:rPr lang="en-IN" sz="1100" dirty="0">
                          <a:effectLst/>
                        </a:rPr>
                        <a:t>2025-26</a:t>
                      </a:r>
                      <a:endParaRPr lang="en-US"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tc>
                  <a:txBody>
                    <a:bodyPr/>
                    <a:lstStyle/>
                    <a:p>
                      <a:pPr marL="0" marR="0" algn="just">
                        <a:lnSpc>
                          <a:spcPct val="120000"/>
                        </a:lnSpc>
                        <a:spcBef>
                          <a:spcPts val="0"/>
                        </a:spcBef>
                        <a:spcAft>
                          <a:spcPts val="0"/>
                        </a:spcAft>
                      </a:pPr>
                      <a:r>
                        <a:rPr lang="en-IN" sz="1100" dirty="0">
                          <a:effectLst/>
                        </a:rPr>
                        <a:t>2026-27</a:t>
                      </a:r>
                      <a:endParaRPr lang="en-US"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extLst>
                  <a:ext uri="{0D108BD9-81ED-4DB2-BD59-A6C34878D82A}">
                    <a16:rowId xmlns:a16="http://schemas.microsoft.com/office/drawing/2014/main" val="3988774000"/>
                  </a:ext>
                </a:extLst>
              </a:tr>
              <a:tr h="360267">
                <a:tc>
                  <a:txBody>
                    <a:bodyPr/>
                    <a:lstStyle/>
                    <a:p>
                      <a:pPr marL="0" marR="0" algn="just">
                        <a:lnSpc>
                          <a:spcPct val="120000"/>
                        </a:lnSpc>
                        <a:spcBef>
                          <a:spcPts val="0"/>
                        </a:spcBef>
                        <a:spcAft>
                          <a:spcPts val="0"/>
                        </a:spcAft>
                      </a:pPr>
                      <a:r>
                        <a:rPr lang="en-IN" sz="1100" dirty="0">
                          <a:effectLst/>
                        </a:rPr>
                        <a:t>Target (MW) </a:t>
                      </a:r>
                      <a:endParaRPr lang="en-US" sz="1100"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tc>
                  <a:txBody>
                    <a:bodyPr/>
                    <a:lstStyle/>
                    <a:p>
                      <a:pPr marL="0" marR="0" algn="ctr">
                        <a:lnSpc>
                          <a:spcPct val="120000"/>
                        </a:lnSpc>
                        <a:spcBef>
                          <a:spcPts val="0"/>
                        </a:spcBef>
                        <a:spcAft>
                          <a:spcPts val="0"/>
                        </a:spcAft>
                      </a:pPr>
                      <a:r>
                        <a:rPr lang="en-IN" sz="1100" b="1" dirty="0">
                          <a:effectLst/>
                        </a:rPr>
                        <a:t>10</a:t>
                      </a:r>
                      <a:endParaRPr lang="en-US" sz="1100" b="1"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tc>
                  <a:txBody>
                    <a:bodyPr/>
                    <a:lstStyle/>
                    <a:p>
                      <a:pPr marL="0" marR="0" algn="ctr">
                        <a:lnSpc>
                          <a:spcPct val="120000"/>
                        </a:lnSpc>
                        <a:spcBef>
                          <a:spcPts val="0"/>
                        </a:spcBef>
                        <a:spcAft>
                          <a:spcPts val="0"/>
                        </a:spcAft>
                      </a:pPr>
                      <a:r>
                        <a:rPr lang="en-IN" sz="1100" b="1" dirty="0">
                          <a:effectLst/>
                        </a:rPr>
                        <a:t>12</a:t>
                      </a:r>
                      <a:endParaRPr lang="en-US" sz="1100" b="1"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tc>
                  <a:txBody>
                    <a:bodyPr/>
                    <a:lstStyle/>
                    <a:p>
                      <a:pPr marL="0" marR="0" algn="ctr">
                        <a:lnSpc>
                          <a:spcPct val="120000"/>
                        </a:lnSpc>
                        <a:spcBef>
                          <a:spcPts val="0"/>
                        </a:spcBef>
                        <a:spcAft>
                          <a:spcPts val="0"/>
                        </a:spcAft>
                      </a:pPr>
                      <a:r>
                        <a:rPr lang="en-IN" sz="1100" b="1" dirty="0">
                          <a:effectLst/>
                        </a:rPr>
                        <a:t>15</a:t>
                      </a:r>
                      <a:endParaRPr lang="en-US" sz="1100" b="1"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tc>
                  <a:txBody>
                    <a:bodyPr/>
                    <a:lstStyle/>
                    <a:p>
                      <a:pPr marL="0" marR="0" algn="ctr">
                        <a:lnSpc>
                          <a:spcPct val="120000"/>
                        </a:lnSpc>
                        <a:spcBef>
                          <a:spcPts val="0"/>
                        </a:spcBef>
                        <a:spcAft>
                          <a:spcPts val="0"/>
                        </a:spcAft>
                      </a:pPr>
                      <a:r>
                        <a:rPr lang="en-IN" sz="1100" b="1" dirty="0">
                          <a:effectLst/>
                        </a:rPr>
                        <a:t>17</a:t>
                      </a:r>
                      <a:endParaRPr lang="en-US" sz="1100" b="1"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tc>
                  <a:txBody>
                    <a:bodyPr/>
                    <a:lstStyle/>
                    <a:p>
                      <a:pPr marL="0" marR="0" algn="ctr">
                        <a:lnSpc>
                          <a:spcPct val="120000"/>
                        </a:lnSpc>
                        <a:spcBef>
                          <a:spcPts val="0"/>
                        </a:spcBef>
                        <a:spcAft>
                          <a:spcPts val="0"/>
                        </a:spcAft>
                      </a:pPr>
                      <a:r>
                        <a:rPr lang="en-IN" sz="1100" b="1" dirty="0">
                          <a:effectLst/>
                        </a:rPr>
                        <a:t>20</a:t>
                      </a:r>
                      <a:endParaRPr lang="en-US" sz="1100" b="1" dirty="0">
                        <a:effectLst/>
                        <a:latin typeface="Verdana" panose="020B0604030504040204" pitchFamily="34" charset="0"/>
                        <a:ea typeface="Verdana" panose="020B0604030504040204" pitchFamily="34" charset="0"/>
                        <a:cs typeface="Times New Roman" panose="02020603050405020304" pitchFamily="18" charset="0"/>
                      </a:endParaRPr>
                    </a:p>
                  </a:txBody>
                  <a:tcPr marL="68578" marR="68578" marT="0" marB="0" anchor="ctr"/>
                </a:tc>
                <a:extLst>
                  <a:ext uri="{0D108BD9-81ED-4DB2-BD59-A6C34878D82A}">
                    <a16:rowId xmlns:a16="http://schemas.microsoft.com/office/drawing/2014/main" val="261046900"/>
                  </a:ext>
                </a:extLst>
              </a:tr>
            </a:tbl>
          </a:graphicData>
        </a:graphic>
      </p:graphicFrame>
      <p:sp>
        <p:nvSpPr>
          <p:cNvPr id="13" name="TextBox 12">
            <a:extLst>
              <a:ext uri="{FF2B5EF4-FFF2-40B4-BE49-F238E27FC236}">
                <a16:creationId xmlns:a16="http://schemas.microsoft.com/office/drawing/2014/main" id="{A4BC794D-AE1B-40F0-96C3-9C14B6EC86CD}"/>
              </a:ext>
            </a:extLst>
          </p:cNvPr>
          <p:cNvSpPr txBox="1"/>
          <p:nvPr/>
        </p:nvSpPr>
        <p:spPr>
          <a:xfrm>
            <a:off x="249456" y="5052764"/>
            <a:ext cx="2913505" cy="307777"/>
          </a:xfrm>
          <a:prstGeom prst="rect">
            <a:avLst/>
          </a:prstGeom>
          <a:noFill/>
        </p:spPr>
        <p:txBody>
          <a:bodyPr wrap="square">
            <a:spAutoFit/>
          </a:bodyPr>
          <a:lstStyle/>
          <a:p>
            <a:pPr marL="0" marR="0" lvl="0" indent="0" algn="l" defTabSz="914335"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Decentralized RE targets:</a:t>
            </a:r>
          </a:p>
        </p:txBody>
      </p:sp>
      <p:cxnSp>
        <p:nvCxnSpPr>
          <p:cNvPr id="4" name="Straight Connector 3">
            <a:extLst>
              <a:ext uri="{FF2B5EF4-FFF2-40B4-BE49-F238E27FC236}">
                <a16:creationId xmlns:a16="http://schemas.microsoft.com/office/drawing/2014/main" id="{7907B124-6C11-4519-B05F-5AE43CC6A3F4}"/>
              </a:ext>
            </a:extLst>
          </p:cNvPr>
          <p:cNvCxnSpPr>
            <a:cxnSpLocks/>
          </p:cNvCxnSpPr>
          <p:nvPr/>
        </p:nvCxnSpPr>
        <p:spPr>
          <a:xfrm>
            <a:off x="6096000" y="1449082"/>
            <a:ext cx="0" cy="4613618"/>
          </a:xfrm>
          <a:prstGeom prst="line">
            <a:avLst/>
          </a:prstGeom>
          <a:ln w="381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1A48A44-F112-4239-8DD4-7B35D516C562}"/>
              </a:ext>
            </a:extLst>
          </p:cNvPr>
          <p:cNvSpPr txBox="1"/>
          <p:nvPr/>
        </p:nvSpPr>
        <p:spPr>
          <a:xfrm>
            <a:off x="6229136" y="1277687"/>
            <a:ext cx="5584793" cy="307777"/>
          </a:xfrm>
          <a:prstGeom prst="rect">
            <a:avLst/>
          </a:prstGeom>
          <a:noFill/>
        </p:spPr>
        <p:txBody>
          <a:bodyPr wrap="square" rtlCol="0">
            <a:spAutoFit/>
          </a:bodyPr>
          <a:lstStyle/>
          <a:p>
            <a:pPr marL="0" marR="0" lvl="0" indent="0" algn="l" defTabSz="914335"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Provisions for Distributed Land Based Solar Projects:</a:t>
            </a:r>
          </a:p>
        </p:txBody>
      </p:sp>
    </p:spTree>
    <p:extLst>
      <p:ext uri="{BB962C8B-B14F-4D97-AF65-F5344CB8AC3E}">
        <p14:creationId xmlns:p14="http://schemas.microsoft.com/office/powerpoint/2010/main" val="358844364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978E72C0-C032-4343-9594-7C6A7F818EA7}"/>
              </a:ext>
            </a:extLst>
          </p:cNvPr>
          <p:cNvGraphicFramePr>
            <a:graphicFrameLocks noGrp="1"/>
          </p:cNvGraphicFramePr>
          <p:nvPr>
            <p:ph idx="1"/>
            <p:extLst>
              <p:ext uri="{D42A27DB-BD31-4B8C-83A1-F6EECF244321}">
                <p14:modId xmlns:p14="http://schemas.microsoft.com/office/powerpoint/2010/main" val="2912632245"/>
              </p:ext>
            </p:extLst>
          </p:nvPr>
        </p:nvGraphicFramePr>
        <p:xfrm>
          <a:off x="718365" y="3268842"/>
          <a:ext cx="10755270" cy="29761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Diagram 8">
            <a:extLst>
              <a:ext uri="{FF2B5EF4-FFF2-40B4-BE49-F238E27FC236}">
                <a16:creationId xmlns:a16="http://schemas.microsoft.com/office/drawing/2014/main" id="{1AC42941-7FEC-4317-943D-8852524804B2}"/>
              </a:ext>
            </a:extLst>
          </p:cNvPr>
          <p:cNvGraphicFramePr/>
          <p:nvPr>
            <p:extLst>
              <p:ext uri="{D42A27DB-BD31-4B8C-83A1-F6EECF244321}">
                <p14:modId xmlns:p14="http://schemas.microsoft.com/office/powerpoint/2010/main" val="2046622741"/>
              </p:ext>
            </p:extLst>
          </p:nvPr>
        </p:nvGraphicFramePr>
        <p:xfrm>
          <a:off x="240376" y="882966"/>
          <a:ext cx="11314100" cy="205469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5" name="Title 1">
            <a:extLst>
              <a:ext uri="{FF2B5EF4-FFF2-40B4-BE49-F238E27FC236}">
                <a16:creationId xmlns:a16="http://schemas.microsoft.com/office/drawing/2014/main" id="{A059EC1C-D596-4B80-8FA3-A7735AE14D37}"/>
              </a:ext>
            </a:extLst>
          </p:cNvPr>
          <p:cNvSpPr>
            <a:spLocks noGrp="1"/>
          </p:cNvSpPr>
          <p:nvPr>
            <p:ph type="title"/>
          </p:nvPr>
        </p:nvSpPr>
        <p:spPr>
          <a:xfrm>
            <a:off x="292529" y="338894"/>
            <a:ext cx="10515186" cy="432717"/>
          </a:xfrm>
        </p:spPr>
        <p:txBody>
          <a:bodyPr>
            <a:noAutofit/>
          </a:bodyPr>
          <a:lstStyle/>
          <a:p>
            <a:r>
              <a:rPr lang="en-US" sz="1800" b="1" i="0" dirty="0">
                <a:solidFill>
                  <a:schemeClr val="tx1"/>
                </a:solidFill>
                <a:latin typeface="Verdana" panose="020B0604030504040204" pitchFamily="34" charset="0"/>
                <a:ea typeface="Verdana" panose="020B0604030504040204" pitchFamily="34" charset="0"/>
              </a:rPr>
              <a:t>West Bengal Draft Solar Policy Highlights (2/3)</a:t>
            </a:r>
          </a:p>
        </p:txBody>
      </p:sp>
    </p:spTree>
    <p:extLst>
      <p:ext uri="{BB962C8B-B14F-4D97-AF65-F5344CB8AC3E}">
        <p14:creationId xmlns:p14="http://schemas.microsoft.com/office/powerpoint/2010/main" val="170433970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1AC42941-7FEC-4317-943D-8852524804B2}"/>
              </a:ext>
            </a:extLst>
          </p:cNvPr>
          <p:cNvGraphicFramePr/>
          <p:nvPr>
            <p:extLst>
              <p:ext uri="{D42A27DB-BD31-4B8C-83A1-F6EECF244321}">
                <p14:modId xmlns:p14="http://schemas.microsoft.com/office/powerpoint/2010/main" val="2253761797"/>
              </p:ext>
            </p:extLst>
          </p:nvPr>
        </p:nvGraphicFramePr>
        <p:xfrm>
          <a:off x="498169" y="1208231"/>
          <a:ext cx="11195662" cy="25758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a:extLst>
              <a:ext uri="{FF2B5EF4-FFF2-40B4-BE49-F238E27FC236}">
                <a16:creationId xmlns:a16="http://schemas.microsoft.com/office/drawing/2014/main" id="{54195CA2-4B38-494A-91C9-F2D77E04AEC6}"/>
              </a:ext>
            </a:extLst>
          </p:cNvPr>
          <p:cNvGraphicFramePr/>
          <p:nvPr>
            <p:extLst>
              <p:ext uri="{D42A27DB-BD31-4B8C-83A1-F6EECF244321}">
                <p14:modId xmlns:p14="http://schemas.microsoft.com/office/powerpoint/2010/main" val="1505258080"/>
              </p:ext>
            </p:extLst>
          </p:nvPr>
        </p:nvGraphicFramePr>
        <p:xfrm>
          <a:off x="498169" y="3819903"/>
          <a:ext cx="11195662" cy="257581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 name="Title 1">
            <a:extLst>
              <a:ext uri="{FF2B5EF4-FFF2-40B4-BE49-F238E27FC236}">
                <a16:creationId xmlns:a16="http://schemas.microsoft.com/office/drawing/2014/main" id="{5A008BEC-5CFD-406B-9B9B-F0CE2CFCD8B0}"/>
              </a:ext>
            </a:extLst>
          </p:cNvPr>
          <p:cNvSpPr>
            <a:spLocks noGrp="1"/>
          </p:cNvSpPr>
          <p:nvPr>
            <p:ph type="title"/>
          </p:nvPr>
        </p:nvSpPr>
        <p:spPr>
          <a:xfrm>
            <a:off x="219175" y="338894"/>
            <a:ext cx="10515186" cy="432717"/>
          </a:xfrm>
        </p:spPr>
        <p:txBody>
          <a:bodyPr>
            <a:noAutofit/>
          </a:bodyPr>
          <a:lstStyle/>
          <a:p>
            <a:r>
              <a:rPr lang="en-US" sz="1800" b="1" i="0" dirty="0">
                <a:solidFill>
                  <a:schemeClr val="tx1"/>
                </a:solidFill>
                <a:latin typeface="Verdana" panose="020B0604030504040204" pitchFamily="34" charset="0"/>
                <a:ea typeface="Verdana" panose="020B0604030504040204" pitchFamily="34" charset="0"/>
              </a:rPr>
              <a:t>West Bengal Draft Solar Policy Highlights (3/3)</a:t>
            </a:r>
          </a:p>
        </p:txBody>
      </p:sp>
      <p:sp>
        <p:nvSpPr>
          <p:cNvPr id="2" name="Arrow: Right 1">
            <a:extLst>
              <a:ext uri="{FF2B5EF4-FFF2-40B4-BE49-F238E27FC236}">
                <a16:creationId xmlns:a16="http://schemas.microsoft.com/office/drawing/2014/main" id="{888D4485-E2B0-4B63-B570-4FF0D55E2E6B}"/>
              </a:ext>
            </a:extLst>
          </p:cNvPr>
          <p:cNvSpPr/>
          <p:nvPr/>
        </p:nvSpPr>
        <p:spPr>
          <a:xfrm>
            <a:off x="498169" y="2058528"/>
            <a:ext cx="307559" cy="237229"/>
          </a:xfrm>
          <a:prstGeom prst="rightArrow">
            <a:avLst/>
          </a:prstGeom>
          <a:solidFill>
            <a:schemeClr val="accent4"/>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342" rtl="0" eaLnBrk="1" fontAlgn="auto" latinLnBrk="0" hangingPunct="1">
              <a:lnSpc>
                <a:spcPct val="100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Verdana"/>
              <a:ea typeface="+mn-ea"/>
              <a:cs typeface="+mn-cs"/>
            </a:endParaRPr>
          </a:p>
        </p:txBody>
      </p:sp>
      <p:sp>
        <p:nvSpPr>
          <p:cNvPr id="6" name="Arrow: Right 5">
            <a:extLst>
              <a:ext uri="{FF2B5EF4-FFF2-40B4-BE49-F238E27FC236}">
                <a16:creationId xmlns:a16="http://schemas.microsoft.com/office/drawing/2014/main" id="{C801354B-3DB4-42F9-8BD7-993420E39DDB}"/>
              </a:ext>
            </a:extLst>
          </p:cNvPr>
          <p:cNvSpPr/>
          <p:nvPr/>
        </p:nvSpPr>
        <p:spPr>
          <a:xfrm>
            <a:off x="2804076" y="2058528"/>
            <a:ext cx="307559" cy="237229"/>
          </a:xfrm>
          <a:prstGeom prst="rightArrow">
            <a:avLst/>
          </a:prstGeom>
          <a:solidFill>
            <a:schemeClr val="accent4"/>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342" rtl="0" eaLnBrk="1" fontAlgn="auto" latinLnBrk="0" hangingPunct="1">
              <a:lnSpc>
                <a:spcPct val="100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Verdana"/>
              <a:ea typeface="+mn-ea"/>
              <a:cs typeface="+mn-cs"/>
            </a:endParaRPr>
          </a:p>
        </p:txBody>
      </p:sp>
      <p:sp>
        <p:nvSpPr>
          <p:cNvPr id="8" name="Arrow: Right 7">
            <a:extLst>
              <a:ext uri="{FF2B5EF4-FFF2-40B4-BE49-F238E27FC236}">
                <a16:creationId xmlns:a16="http://schemas.microsoft.com/office/drawing/2014/main" id="{E9201324-B352-4735-B680-285200BAC0BD}"/>
              </a:ext>
            </a:extLst>
          </p:cNvPr>
          <p:cNvSpPr/>
          <p:nvPr/>
        </p:nvSpPr>
        <p:spPr>
          <a:xfrm>
            <a:off x="5169210" y="2058528"/>
            <a:ext cx="307559" cy="237229"/>
          </a:xfrm>
          <a:prstGeom prst="rightArrow">
            <a:avLst/>
          </a:prstGeom>
          <a:solidFill>
            <a:schemeClr val="accent4"/>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342" rtl="0" eaLnBrk="1" fontAlgn="auto" latinLnBrk="0" hangingPunct="1">
              <a:lnSpc>
                <a:spcPct val="100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Verdana"/>
              <a:ea typeface="+mn-ea"/>
              <a:cs typeface="+mn-cs"/>
            </a:endParaRPr>
          </a:p>
        </p:txBody>
      </p:sp>
      <p:sp>
        <p:nvSpPr>
          <p:cNvPr id="10" name="Arrow: Right 9">
            <a:extLst>
              <a:ext uri="{FF2B5EF4-FFF2-40B4-BE49-F238E27FC236}">
                <a16:creationId xmlns:a16="http://schemas.microsoft.com/office/drawing/2014/main" id="{2321B4E7-A1E2-42EC-BA0E-55B439B4145D}"/>
              </a:ext>
            </a:extLst>
          </p:cNvPr>
          <p:cNvSpPr/>
          <p:nvPr/>
        </p:nvSpPr>
        <p:spPr>
          <a:xfrm>
            <a:off x="7380564" y="2068441"/>
            <a:ext cx="307559" cy="237229"/>
          </a:xfrm>
          <a:prstGeom prst="rightArrow">
            <a:avLst/>
          </a:prstGeom>
          <a:solidFill>
            <a:schemeClr val="accent4"/>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342" rtl="0" eaLnBrk="1" fontAlgn="auto" latinLnBrk="0" hangingPunct="1">
              <a:lnSpc>
                <a:spcPct val="100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Verdana"/>
              <a:ea typeface="+mn-ea"/>
              <a:cs typeface="+mn-cs"/>
            </a:endParaRPr>
          </a:p>
        </p:txBody>
      </p:sp>
      <p:sp>
        <p:nvSpPr>
          <p:cNvPr id="11" name="Arrow: Right 10">
            <a:extLst>
              <a:ext uri="{FF2B5EF4-FFF2-40B4-BE49-F238E27FC236}">
                <a16:creationId xmlns:a16="http://schemas.microsoft.com/office/drawing/2014/main" id="{69592489-4CB5-4B43-8115-71E00E917295}"/>
              </a:ext>
            </a:extLst>
          </p:cNvPr>
          <p:cNvSpPr/>
          <p:nvPr/>
        </p:nvSpPr>
        <p:spPr>
          <a:xfrm>
            <a:off x="9603763" y="2058527"/>
            <a:ext cx="307559" cy="237229"/>
          </a:xfrm>
          <a:prstGeom prst="rightArrow">
            <a:avLst/>
          </a:prstGeom>
          <a:solidFill>
            <a:schemeClr val="accent4"/>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342" rtl="0" eaLnBrk="1" fontAlgn="auto" latinLnBrk="0" hangingPunct="1">
              <a:lnSpc>
                <a:spcPct val="100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Verdana"/>
              <a:ea typeface="+mn-ea"/>
              <a:cs typeface="+mn-cs"/>
            </a:endParaRPr>
          </a:p>
        </p:txBody>
      </p:sp>
      <p:sp>
        <p:nvSpPr>
          <p:cNvPr id="12" name="Arrow: Right 11">
            <a:extLst>
              <a:ext uri="{FF2B5EF4-FFF2-40B4-BE49-F238E27FC236}">
                <a16:creationId xmlns:a16="http://schemas.microsoft.com/office/drawing/2014/main" id="{93A381EB-A2E7-4AE1-8AC4-80B346EF40F6}"/>
              </a:ext>
            </a:extLst>
          </p:cNvPr>
          <p:cNvSpPr/>
          <p:nvPr/>
        </p:nvSpPr>
        <p:spPr>
          <a:xfrm>
            <a:off x="628257" y="4655777"/>
            <a:ext cx="307559" cy="237229"/>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342" rtl="0" eaLnBrk="1" fontAlgn="auto" latinLnBrk="0" hangingPunct="1">
              <a:lnSpc>
                <a:spcPct val="100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Verdana"/>
              <a:ea typeface="+mn-ea"/>
              <a:cs typeface="+mn-cs"/>
            </a:endParaRPr>
          </a:p>
        </p:txBody>
      </p:sp>
      <p:sp>
        <p:nvSpPr>
          <p:cNvPr id="13" name="Arrow: Right 12">
            <a:extLst>
              <a:ext uri="{FF2B5EF4-FFF2-40B4-BE49-F238E27FC236}">
                <a16:creationId xmlns:a16="http://schemas.microsoft.com/office/drawing/2014/main" id="{7D7CCEE2-361A-464A-82DE-498984E21C12}"/>
              </a:ext>
            </a:extLst>
          </p:cNvPr>
          <p:cNvSpPr/>
          <p:nvPr/>
        </p:nvSpPr>
        <p:spPr>
          <a:xfrm>
            <a:off x="2839400" y="4655777"/>
            <a:ext cx="307559" cy="237229"/>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342" rtl="0" eaLnBrk="1" fontAlgn="auto" latinLnBrk="0" hangingPunct="1">
              <a:lnSpc>
                <a:spcPct val="100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Verdana"/>
              <a:ea typeface="+mn-ea"/>
              <a:cs typeface="+mn-cs"/>
            </a:endParaRPr>
          </a:p>
        </p:txBody>
      </p:sp>
      <p:sp>
        <p:nvSpPr>
          <p:cNvPr id="14" name="Arrow: Right 13">
            <a:extLst>
              <a:ext uri="{FF2B5EF4-FFF2-40B4-BE49-F238E27FC236}">
                <a16:creationId xmlns:a16="http://schemas.microsoft.com/office/drawing/2014/main" id="{B2B7E039-88FE-409A-ADB9-2A41B2DE3908}"/>
              </a:ext>
            </a:extLst>
          </p:cNvPr>
          <p:cNvSpPr/>
          <p:nvPr/>
        </p:nvSpPr>
        <p:spPr>
          <a:xfrm>
            <a:off x="5109560" y="4656949"/>
            <a:ext cx="307559" cy="237229"/>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342" rtl="0" eaLnBrk="1" fontAlgn="auto" latinLnBrk="0" hangingPunct="1">
              <a:lnSpc>
                <a:spcPct val="100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Verdana"/>
              <a:ea typeface="+mn-ea"/>
              <a:cs typeface="+mn-cs"/>
            </a:endParaRPr>
          </a:p>
        </p:txBody>
      </p:sp>
      <p:sp>
        <p:nvSpPr>
          <p:cNvPr id="15" name="Arrow: Right 14">
            <a:extLst>
              <a:ext uri="{FF2B5EF4-FFF2-40B4-BE49-F238E27FC236}">
                <a16:creationId xmlns:a16="http://schemas.microsoft.com/office/drawing/2014/main" id="{3FDDFE5D-3996-4372-9242-A9A3BAAE4264}"/>
              </a:ext>
            </a:extLst>
          </p:cNvPr>
          <p:cNvSpPr/>
          <p:nvPr/>
        </p:nvSpPr>
        <p:spPr>
          <a:xfrm>
            <a:off x="7380564" y="4668794"/>
            <a:ext cx="307559" cy="237229"/>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342" rtl="0" eaLnBrk="1" fontAlgn="auto" latinLnBrk="0" hangingPunct="1">
              <a:lnSpc>
                <a:spcPct val="100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Verdana"/>
              <a:ea typeface="+mn-ea"/>
              <a:cs typeface="+mn-cs"/>
            </a:endParaRPr>
          </a:p>
        </p:txBody>
      </p:sp>
      <p:sp>
        <p:nvSpPr>
          <p:cNvPr id="16" name="Arrow: Right 15">
            <a:extLst>
              <a:ext uri="{FF2B5EF4-FFF2-40B4-BE49-F238E27FC236}">
                <a16:creationId xmlns:a16="http://schemas.microsoft.com/office/drawing/2014/main" id="{27017FAE-1FC6-4230-ACC9-FB0B50E847CD}"/>
              </a:ext>
            </a:extLst>
          </p:cNvPr>
          <p:cNvSpPr/>
          <p:nvPr/>
        </p:nvSpPr>
        <p:spPr>
          <a:xfrm>
            <a:off x="9708892" y="4668794"/>
            <a:ext cx="307559" cy="237229"/>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342" rtl="0" eaLnBrk="1" fontAlgn="auto" latinLnBrk="0" hangingPunct="1">
              <a:lnSpc>
                <a:spcPct val="100000"/>
              </a:lnSpc>
              <a:spcBef>
                <a:spcPts val="0"/>
              </a:spcBef>
              <a:spcAft>
                <a:spcPts val="0"/>
              </a:spcAft>
              <a:buClrTx/>
              <a:buSzTx/>
              <a:buFontTx/>
              <a:buNone/>
              <a:tabLst/>
              <a:defRPr/>
            </a:pPr>
            <a:endParaRPr kumimoji="0" lang="en-US" sz="1632" b="0"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53865084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6A1D354-357C-4A5F-9426-B0CCD15BF67B}"/>
              </a:ext>
            </a:extLst>
          </p:cNvPr>
          <p:cNvPicPr>
            <a:picLocks noChangeAspect="1"/>
          </p:cNvPicPr>
          <p:nvPr/>
        </p:nvPicPr>
        <p:blipFill>
          <a:blip r:embed="rId2"/>
          <a:stretch>
            <a:fillRect/>
          </a:stretch>
        </p:blipFill>
        <p:spPr>
          <a:xfrm>
            <a:off x="838407" y="1246007"/>
            <a:ext cx="914364" cy="914364"/>
          </a:xfrm>
          <a:prstGeom prst="rect">
            <a:avLst/>
          </a:prstGeom>
        </p:spPr>
      </p:pic>
      <p:graphicFrame>
        <p:nvGraphicFramePr>
          <p:cNvPr id="4" name="Content Placeholder 3">
            <a:extLst>
              <a:ext uri="{FF2B5EF4-FFF2-40B4-BE49-F238E27FC236}">
                <a16:creationId xmlns:a16="http://schemas.microsoft.com/office/drawing/2014/main" id="{98501641-A469-48FB-87AB-6EE913E07F93}"/>
              </a:ext>
            </a:extLst>
          </p:cNvPr>
          <p:cNvGraphicFramePr>
            <a:graphicFrameLocks noGrp="1"/>
          </p:cNvGraphicFramePr>
          <p:nvPr>
            <p:ph idx="1"/>
            <p:extLst>
              <p:ext uri="{D42A27DB-BD31-4B8C-83A1-F6EECF244321}">
                <p14:modId xmlns:p14="http://schemas.microsoft.com/office/powerpoint/2010/main" val="3798994336"/>
              </p:ext>
            </p:extLst>
          </p:nvPr>
        </p:nvGraphicFramePr>
        <p:xfrm>
          <a:off x="838407" y="2284756"/>
          <a:ext cx="10515186" cy="34336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a:extLst>
              <a:ext uri="{FF2B5EF4-FFF2-40B4-BE49-F238E27FC236}">
                <a16:creationId xmlns:a16="http://schemas.microsoft.com/office/drawing/2014/main" id="{157AE129-6633-490A-823E-70BD92627396}"/>
              </a:ext>
            </a:extLst>
          </p:cNvPr>
          <p:cNvPicPr>
            <a:picLocks noChangeAspect="1"/>
          </p:cNvPicPr>
          <p:nvPr/>
        </p:nvPicPr>
        <p:blipFill>
          <a:blip r:embed="rId8"/>
          <a:stretch>
            <a:fillRect/>
          </a:stretch>
        </p:blipFill>
        <p:spPr>
          <a:xfrm>
            <a:off x="5638818" y="1218545"/>
            <a:ext cx="914364" cy="914364"/>
          </a:xfrm>
          <a:prstGeom prst="rect">
            <a:avLst/>
          </a:prstGeom>
        </p:spPr>
      </p:pic>
      <p:grpSp>
        <p:nvGrpSpPr>
          <p:cNvPr id="8" name="Graphic 4">
            <a:extLst>
              <a:ext uri="{FF2B5EF4-FFF2-40B4-BE49-F238E27FC236}">
                <a16:creationId xmlns:a16="http://schemas.microsoft.com/office/drawing/2014/main" id="{8027CC88-10A6-4997-8531-CF1F9ADEA29B}"/>
              </a:ext>
            </a:extLst>
          </p:cNvPr>
          <p:cNvGrpSpPr/>
          <p:nvPr/>
        </p:nvGrpSpPr>
        <p:grpSpPr>
          <a:xfrm>
            <a:off x="10156382" y="1246007"/>
            <a:ext cx="914364" cy="914364"/>
            <a:chOff x="10324860" y="918179"/>
            <a:chExt cx="361674" cy="361333"/>
          </a:xfrm>
          <a:solidFill>
            <a:srgbClr val="007680"/>
          </a:solidFill>
        </p:grpSpPr>
        <p:sp>
          <p:nvSpPr>
            <p:cNvPr id="10" name="Graphic 4">
              <a:extLst>
                <a:ext uri="{FF2B5EF4-FFF2-40B4-BE49-F238E27FC236}">
                  <a16:creationId xmlns:a16="http://schemas.microsoft.com/office/drawing/2014/main" id="{A427FB7D-03AD-44CE-93ED-184919190CA8}"/>
                </a:ext>
              </a:extLst>
            </p:cNvPr>
            <p:cNvSpPr/>
            <p:nvPr/>
          </p:nvSpPr>
          <p:spPr>
            <a:xfrm>
              <a:off x="10437962" y="1059265"/>
              <a:ext cx="8307" cy="1276"/>
            </a:xfrm>
            <a:custGeom>
              <a:avLst/>
              <a:gdLst>
                <a:gd name="connsiteX0" fmla="*/ 8307 w 8307"/>
                <a:gd name="connsiteY0" fmla="*/ 1277 h 1276"/>
                <a:gd name="connsiteX1" fmla="*/ 8307 w 8307"/>
                <a:gd name="connsiteY1" fmla="*/ 0 h 1276"/>
                <a:gd name="connsiteX2" fmla="*/ 0 w 8307"/>
                <a:gd name="connsiteY2" fmla="*/ 1277 h 1276"/>
                <a:gd name="connsiteX3" fmla="*/ 8307 w 8307"/>
                <a:gd name="connsiteY3" fmla="*/ 1277 h 1276"/>
              </a:gdLst>
              <a:ahLst/>
              <a:cxnLst>
                <a:cxn ang="0">
                  <a:pos x="connsiteX0" y="connsiteY0"/>
                </a:cxn>
                <a:cxn ang="0">
                  <a:pos x="connsiteX1" y="connsiteY1"/>
                </a:cxn>
                <a:cxn ang="0">
                  <a:pos x="connsiteX2" y="connsiteY2"/>
                </a:cxn>
                <a:cxn ang="0">
                  <a:pos x="connsiteX3" y="connsiteY3"/>
                </a:cxn>
              </a:cxnLst>
              <a:rect l="l" t="t" r="r" b="b"/>
              <a:pathLst>
                <a:path w="8307" h="1276">
                  <a:moveTo>
                    <a:pt x="8307" y="1277"/>
                  </a:moveTo>
                  <a:cubicBezTo>
                    <a:pt x="8307" y="638"/>
                    <a:pt x="8307" y="638"/>
                    <a:pt x="8307" y="0"/>
                  </a:cubicBezTo>
                  <a:lnTo>
                    <a:pt x="0" y="1277"/>
                  </a:lnTo>
                  <a:lnTo>
                    <a:pt x="8307" y="1277"/>
                  </a:lnTo>
                  <a:close/>
                </a:path>
              </a:pathLst>
            </a:custGeom>
            <a:solidFill>
              <a:srgbClr val="007680"/>
            </a:solidFill>
            <a:ln w="6390" cap="flat">
              <a:noFill/>
              <a:prstDash val="solid"/>
              <a:miter/>
            </a:ln>
          </p:spPr>
          <p:txBody>
            <a:bodyPr rtlCol="0" anchor="ctr"/>
            <a:lstStyle/>
            <a:p>
              <a:pPr marL="0" marR="0" lvl="0" indent="0" algn="l" defTabSz="91433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Graphic 4">
              <a:extLst>
                <a:ext uri="{FF2B5EF4-FFF2-40B4-BE49-F238E27FC236}">
                  <a16:creationId xmlns:a16="http://schemas.microsoft.com/office/drawing/2014/main" id="{6839F3D2-EE03-430C-929A-5C72B755A689}"/>
                </a:ext>
              </a:extLst>
            </p:cNvPr>
            <p:cNvSpPr/>
            <p:nvPr/>
          </p:nvSpPr>
          <p:spPr>
            <a:xfrm>
              <a:off x="10555537" y="1073948"/>
              <a:ext cx="14696" cy="14683"/>
            </a:xfrm>
            <a:custGeom>
              <a:avLst/>
              <a:gdLst>
                <a:gd name="connsiteX0" fmla="*/ 14696 w 14696"/>
                <a:gd name="connsiteY0" fmla="*/ 14683 h 14683"/>
                <a:gd name="connsiteX1" fmla="*/ 14696 w 14696"/>
                <a:gd name="connsiteY1" fmla="*/ 0 h 14683"/>
                <a:gd name="connsiteX2" fmla="*/ 0 w 14696"/>
                <a:gd name="connsiteY2" fmla="*/ 0 h 14683"/>
                <a:gd name="connsiteX3" fmla="*/ 14696 w 14696"/>
                <a:gd name="connsiteY3" fmla="*/ 14683 h 14683"/>
              </a:gdLst>
              <a:ahLst/>
              <a:cxnLst>
                <a:cxn ang="0">
                  <a:pos x="connsiteX0" y="connsiteY0"/>
                </a:cxn>
                <a:cxn ang="0">
                  <a:pos x="connsiteX1" y="connsiteY1"/>
                </a:cxn>
                <a:cxn ang="0">
                  <a:pos x="connsiteX2" y="connsiteY2"/>
                </a:cxn>
                <a:cxn ang="0">
                  <a:pos x="connsiteX3" y="connsiteY3"/>
                </a:cxn>
              </a:cxnLst>
              <a:rect l="l" t="t" r="r" b="b"/>
              <a:pathLst>
                <a:path w="14696" h="14683">
                  <a:moveTo>
                    <a:pt x="14696" y="14683"/>
                  </a:moveTo>
                  <a:lnTo>
                    <a:pt x="14696" y="0"/>
                  </a:lnTo>
                  <a:lnTo>
                    <a:pt x="0" y="0"/>
                  </a:lnTo>
                  <a:cubicBezTo>
                    <a:pt x="1917" y="7022"/>
                    <a:pt x="7668" y="12130"/>
                    <a:pt x="14696" y="14683"/>
                  </a:cubicBezTo>
                  <a:close/>
                </a:path>
              </a:pathLst>
            </a:custGeom>
            <a:solidFill>
              <a:srgbClr val="007680"/>
            </a:solidFill>
            <a:ln w="6390" cap="flat">
              <a:noFill/>
              <a:prstDash val="solid"/>
              <a:miter/>
            </a:ln>
          </p:spPr>
          <p:txBody>
            <a:bodyPr rtlCol="0" anchor="ctr"/>
            <a:lstStyle/>
            <a:p>
              <a:pPr marL="0" marR="0" lvl="0" indent="0" algn="l" defTabSz="91433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Graphic 4">
              <a:extLst>
                <a:ext uri="{FF2B5EF4-FFF2-40B4-BE49-F238E27FC236}">
                  <a16:creationId xmlns:a16="http://schemas.microsoft.com/office/drawing/2014/main" id="{10577595-6C00-4E46-8739-7C0DCD029243}"/>
                </a:ext>
              </a:extLst>
            </p:cNvPr>
            <p:cNvSpPr/>
            <p:nvPr/>
          </p:nvSpPr>
          <p:spPr>
            <a:xfrm>
              <a:off x="10459049" y="1044582"/>
              <a:ext cx="110545" cy="15959"/>
            </a:xfrm>
            <a:custGeom>
              <a:avLst/>
              <a:gdLst>
                <a:gd name="connsiteX0" fmla="*/ 0 w 110545"/>
                <a:gd name="connsiteY0" fmla="*/ 15960 h 15959"/>
                <a:gd name="connsiteX1" fmla="*/ 110545 w 110545"/>
                <a:gd name="connsiteY1" fmla="*/ 15960 h 15959"/>
                <a:gd name="connsiteX2" fmla="*/ 99683 w 110545"/>
                <a:gd name="connsiteY2" fmla="*/ 0 h 15959"/>
                <a:gd name="connsiteX3" fmla="*/ 0 w 110545"/>
                <a:gd name="connsiteY3" fmla="*/ 12768 h 15959"/>
                <a:gd name="connsiteX4" fmla="*/ 0 w 110545"/>
                <a:gd name="connsiteY4" fmla="*/ 15960 h 15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545" h="15959">
                  <a:moveTo>
                    <a:pt x="0" y="15960"/>
                  </a:moveTo>
                  <a:lnTo>
                    <a:pt x="110545" y="15960"/>
                  </a:lnTo>
                  <a:cubicBezTo>
                    <a:pt x="105434" y="11491"/>
                    <a:pt x="101599" y="6384"/>
                    <a:pt x="99683" y="0"/>
                  </a:cubicBezTo>
                  <a:lnTo>
                    <a:pt x="0" y="12768"/>
                  </a:lnTo>
                  <a:cubicBezTo>
                    <a:pt x="0" y="14045"/>
                    <a:pt x="0" y="15322"/>
                    <a:pt x="0" y="15960"/>
                  </a:cubicBezTo>
                  <a:close/>
                </a:path>
              </a:pathLst>
            </a:custGeom>
            <a:solidFill>
              <a:srgbClr val="007680"/>
            </a:solidFill>
            <a:ln w="6390" cap="flat">
              <a:noFill/>
              <a:prstDash val="solid"/>
              <a:miter/>
            </a:ln>
          </p:spPr>
          <p:txBody>
            <a:bodyPr rtlCol="0" anchor="ctr"/>
            <a:lstStyle/>
            <a:p>
              <a:pPr marL="0" marR="0" lvl="0" indent="0" algn="l" defTabSz="91433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Graphic 4">
              <a:extLst>
                <a:ext uri="{FF2B5EF4-FFF2-40B4-BE49-F238E27FC236}">
                  <a16:creationId xmlns:a16="http://schemas.microsoft.com/office/drawing/2014/main" id="{C8ED6563-AB9A-499D-B942-2724428F8F68}"/>
                </a:ext>
              </a:extLst>
            </p:cNvPr>
            <p:cNvSpPr/>
            <p:nvPr/>
          </p:nvSpPr>
          <p:spPr>
            <a:xfrm>
              <a:off x="10572150" y="1041390"/>
              <a:ext cx="16613" cy="14683"/>
            </a:xfrm>
            <a:custGeom>
              <a:avLst/>
              <a:gdLst>
                <a:gd name="connsiteX0" fmla="*/ 6390 w 16613"/>
                <a:gd name="connsiteY0" fmla="*/ 10214 h 14683"/>
                <a:gd name="connsiteX1" fmla="*/ 16614 w 16613"/>
                <a:gd name="connsiteY1" fmla="*/ 14683 h 14683"/>
                <a:gd name="connsiteX2" fmla="*/ 14697 w 16613"/>
                <a:gd name="connsiteY2" fmla="*/ 0 h 14683"/>
                <a:gd name="connsiteX3" fmla="*/ 0 w 16613"/>
                <a:gd name="connsiteY3" fmla="*/ 1915 h 14683"/>
                <a:gd name="connsiteX4" fmla="*/ 6390 w 16613"/>
                <a:gd name="connsiteY4" fmla="*/ 10214 h 14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13" h="14683">
                  <a:moveTo>
                    <a:pt x="6390" y="10214"/>
                  </a:moveTo>
                  <a:cubicBezTo>
                    <a:pt x="9585" y="12768"/>
                    <a:pt x="12780" y="14045"/>
                    <a:pt x="16614" y="14683"/>
                  </a:cubicBezTo>
                  <a:lnTo>
                    <a:pt x="14697" y="0"/>
                  </a:lnTo>
                  <a:lnTo>
                    <a:pt x="0" y="1915"/>
                  </a:lnTo>
                  <a:cubicBezTo>
                    <a:pt x="1278" y="5107"/>
                    <a:pt x="3195" y="8299"/>
                    <a:pt x="6390" y="10214"/>
                  </a:cubicBezTo>
                  <a:close/>
                </a:path>
              </a:pathLst>
            </a:custGeom>
            <a:solidFill>
              <a:srgbClr val="007680"/>
            </a:solidFill>
            <a:ln w="6390" cap="flat">
              <a:noFill/>
              <a:prstDash val="solid"/>
              <a:miter/>
            </a:ln>
          </p:spPr>
          <p:txBody>
            <a:bodyPr rtlCol="0" anchor="ctr"/>
            <a:lstStyle/>
            <a:p>
              <a:pPr marL="0" marR="0" lvl="0" indent="0" algn="l" defTabSz="91433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Graphic 4">
              <a:extLst>
                <a:ext uri="{FF2B5EF4-FFF2-40B4-BE49-F238E27FC236}">
                  <a16:creationId xmlns:a16="http://schemas.microsoft.com/office/drawing/2014/main" id="{573E96A3-331E-4E0C-99F9-EC72F7613904}"/>
                </a:ext>
              </a:extLst>
            </p:cNvPr>
            <p:cNvSpPr/>
            <p:nvPr/>
          </p:nvSpPr>
          <p:spPr>
            <a:xfrm>
              <a:off x="10476301" y="1099484"/>
              <a:ext cx="31949" cy="31919"/>
            </a:xfrm>
            <a:custGeom>
              <a:avLst/>
              <a:gdLst>
                <a:gd name="connsiteX0" fmla="*/ 15975 w 31949"/>
                <a:gd name="connsiteY0" fmla="*/ 0 h 31919"/>
                <a:gd name="connsiteX1" fmla="*/ 0 w 31949"/>
                <a:gd name="connsiteY1" fmla="*/ 15960 h 31919"/>
                <a:gd name="connsiteX2" fmla="*/ 15975 w 31949"/>
                <a:gd name="connsiteY2" fmla="*/ 31920 h 31919"/>
                <a:gd name="connsiteX3" fmla="*/ 31950 w 31949"/>
                <a:gd name="connsiteY3" fmla="*/ 15960 h 31919"/>
                <a:gd name="connsiteX4" fmla="*/ 15975 w 31949"/>
                <a:gd name="connsiteY4" fmla="*/ 0 h 3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49" h="31919">
                  <a:moveTo>
                    <a:pt x="15975" y="0"/>
                  </a:moveTo>
                  <a:cubicBezTo>
                    <a:pt x="7029" y="0"/>
                    <a:pt x="0" y="7022"/>
                    <a:pt x="0" y="15960"/>
                  </a:cubicBezTo>
                  <a:cubicBezTo>
                    <a:pt x="0" y="24897"/>
                    <a:pt x="7029" y="31920"/>
                    <a:pt x="15975" y="31920"/>
                  </a:cubicBezTo>
                  <a:cubicBezTo>
                    <a:pt x="24921" y="31920"/>
                    <a:pt x="31950" y="24897"/>
                    <a:pt x="31950" y="15960"/>
                  </a:cubicBezTo>
                  <a:cubicBezTo>
                    <a:pt x="31950" y="7022"/>
                    <a:pt x="24282" y="0"/>
                    <a:pt x="15975" y="0"/>
                  </a:cubicBezTo>
                  <a:close/>
                </a:path>
              </a:pathLst>
            </a:custGeom>
            <a:solidFill>
              <a:srgbClr val="007680"/>
            </a:solidFill>
            <a:ln w="6390" cap="flat">
              <a:noFill/>
              <a:prstDash val="solid"/>
              <a:miter/>
            </a:ln>
          </p:spPr>
          <p:txBody>
            <a:bodyPr rtlCol="0" anchor="ctr"/>
            <a:lstStyle/>
            <a:p>
              <a:pPr marL="0" marR="0" lvl="0" indent="0" algn="l" defTabSz="91433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Graphic 4">
              <a:extLst>
                <a:ext uri="{FF2B5EF4-FFF2-40B4-BE49-F238E27FC236}">
                  <a16:creationId xmlns:a16="http://schemas.microsoft.com/office/drawing/2014/main" id="{615C5E07-E752-427B-917D-32E749DEC766}"/>
                </a:ext>
              </a:extLst>
            </p:cNvPr>
            <p:cNvSpPr/>
            <p:nvPr/>
          </p:nvSpPr>
          <p:spPr>
            <a:xfrm>
              <a:off x="10413680" y="1073310"/>
              <a:ext cx="156553" cy="83630"/>
            </a:xfrm>
            <a:custGeom>
              <a:avLst/>
              <a:gdLst>
                <a:gd name="connsiteX0" fmla="*/ 156553 w 156553"/>
                <a:gd name="connsiteY0" fmla="*/ 28089 h 83630"/>
                <a:gd name="connsiteX1" fmla="*/ 128438 w 156553"/>
                <a:gd name="connsiteY1" fmla="*/ 0 h 83630"/>
                <a:gd name="connsiteX2" fmla="*/ 28116 w 156553"/>
                <a:gd name="connsiteY2" fmla="*/ 0 h 83630"/>
                <a:gd name="connsiteX3" fmla="*/ 0 w 156553"/>
                <a:gd name="connsiteY3" fmla="*/ 28089 h 83630"/>
                <a:gd name="connsiteX4" fmla="*/ 0 w 156553"/>
                <a:gd name="connsiteY4" fmla="*/ 55541 h 83630"/>
                <a:gd name="connsiteX5" fmla="*/ 28116 w 156553"/>
                <a:gd name="connsiteY5" fmla="*/ 83630 h 83630"/>
                <a:gd name="connsiteX6" fmla="*/ 128438 w 156553"/>
                <a:gd name="connsiteY6" fmla="*/ 83630 h 83630"/>
                <a:gd name="connsiteX7" fmla="*/ 156553 w 156553"/>
                <a:gd name="connsiteY7" fmla="*/ 55541 h 83630"/>
                <a:gd name="connsiteX8" fmla="*/ 156553 w 156553"/>
                <a:gd name="connsiteY8" fmla="*/ 28089 h 83630"/>
                <a:gd name="connsiteX9" fmla="*/ 78597 w 156553"/>
                <a:gd name="connsiteY9" fmla="*/ 70862 h 83630"/>
                <a:gd name="connsiteX10" fmla="*/ 49842 w 156553"/>
                <a:gd name="connsiteY10" fmla="*/ 42134 h 83630"/>
                <a:gd name="connsiteX11" fmla="*/ 78597 w 156553"/>
                <a:gd name="connsiteY11" fmla="*/ 13406 h 83630"/>
                <a:gd name="connsiteX12" fmla="*/ 107351 w 156553"/>
                <a:gd name="connsiteY12" fmla="*/ 42134 h 83630"/>
                <a:gd name="connsiteX13" fmla="*/ 78597 w 156553"/>
                <a:gd name="connsiteY13" fmla="*/ 70862 h 8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553" h="83630">
                  <a:moveTo>
                    <a:pt x="156553" y="28089"/>
                  </a:moveTo>
                  <a:cubicBezTo>
                    <a:pt x="142496" y="25536"/>
                    <a:pt x="130994" y="14045"/>
                    <a:pt x="128438" y="0"/>
                  </a:cubicBezTo>
                  <a:lnTo>
                    <a:pt x="28116" y="0"/>
                  </a:lnTo>
                  <a:cubicBezTo>
                    <a:pt x="25560" y="14045"/>
                    <a:pt x="14058" y="25536"/>
                    <a:pt x="0" y="28089"/>
                  </a:cubicBezTo>
                  <a:lnTo>
                    <a:pt x="0" y="55541"/>
                  </a:lnTo>
                  <a:cubicBezTo>
                    <a:pt x="14058" y="58094"/>
                    <a:pt x="25560" y="69585"/>
                    <a:pt x="28116" y="83630"/>
                  </a:cubicBezTo>
                  <a:lnTo>
                    <a:pt x="128438" y="83630"/>
                  </a:lnTo>
                  <a:cubicBezTo>
                    <a:pt x="130994" y="69585"/>
                    <a:pt x="142496" y="58094"/>
                    <a:pt x="156553" y="55541"/>
                  </a:cubicBezTo>
                  <a:lnTo>
                    <a:pt x="156553" y="28089"/>
                  </a:lnTo>
                  <a:close/>
                  <a:moveTo>
                    <a:pt x="78597" y="70862"/>
                  </a:moveTo>
                  <a:cubicBezTo>
                    <a:pt x="62622" y="70862"/>
                    <a:pt x="49842" y="58094"/>
                    <a:pt x="49842" y="42134"/>
                  </a:cubicBezTo>
                  <a:cubicBezTo>
                    <a:pt x="49842" y="26174"/>
                    <a:pt x="62622" y="13406"/>
                    <a:pt x="78597" y="13406"/>
                  </a:cubicBezTo>
                  <a:cubicBezTo>
                    <a:pt x="94571" y="13406"/>
                    <a:pt x="107351" y="26174"/>
                    <a:pt x="107351" y="42134"/>
                  </a:cubicBezTo>
                  <a:cubicBezTo>
                    <a:pt x="107351" y="58094"/>
                    <a:pt x="93933" y="70862"/>
                    <a:pt x="78597" y="70862"/>
                  </a:cubicBezTo>
                  <a:close/>
                </a:path>
              </a:pathLst>
            </a:custGeom>
            <a:solidFill>
              <a:srgbClr val="007680"/>
            </a:solidFill>
            <a:ln w="6390" cap="flat">
              <a:noFill/>
              <a:prstDash val="solid"/>
              <a:miter/>
            </a:ln>
          </p:spPr>
          <p:txBody>
            <a:bodyPr rtlCol="0" anchor="ctr"/>
            <a:lstStyle/>
            <a:p>
              <a:pPr marL="0" marR="0" lvl="0" indent="0" algn="l" defTabSz="91433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Graphic 4">
              <a:extLst>
                <a:ext uri="{FF2B5EF4-FFF2-40B4-BE49-F238E27FC236}">
                  <a16:creationId xmlns:a16="http://schemas.microsoft.com/office/drawing/2014/main" id="{1CBB18E4-BCF5-4FB7-AEF7-D4B97CF33DD1}"/>
                </a:ext>
              </a:extLst>
            </p:cNvPr>
            <p:cNvSpPr/>
            <p:nvPr/>
          </p:nvSpPr>
          <p:spPr>
            <a:xfrm>
              <a:off x="10555537" y="1142895"/>
              <a:ext cx="14696" cy="14683"/>
            </a:xfrm>
            <a:custGeom>
              <a:avLst/>
              <a:gdLst>
                <a:gd name="connsiteX0" fmla="*/ 0 w 14696"/>
                <a:gd name="connsiteY0" fmla="*/ 14683 h 14683"/>
                <a:gd name="connsiteX1" fmla="*/ 14696 w 14696"/>
                <a:gd name="connsiteY1" fmla="*/ 14683 h 14683"/>
                <a:gd name="connsiteX2" fmla="*/ 14696 w 14696"/>
                <a:gd name="connsiteY2" fmla="*/ 0 h 14683"/>
                <a:gd name="connsiteX3" fmla="*/ 0 w 14696"/>
                <a:gd name="connsiteY3" fmla="*/ 14683 h 14683"/>
              </a:gdLst>
              <a:ahLst/>
              <a:cxnLst>
                <a:cxn ang="0">
                  <a:pos x="connsiteX0" y="connsiteY0"/>
                </a:cxn>
                <a:cxn ang="0">
                  <a:pos x="connsiteX1" y="connsiteY1"/>
                </a:cxn>
                <a:cxn ang="0">
                  <a:pos x="connsiteX2" y="connsiteY2"/>
                </a:cxn>
                <a:cxn ang="0">
                  <a:pos x="connsiteX3" y="connsiteY3"/>
                </a:cxn>
              </a:cxnLst>
              <a:rect l="l" t="t" r="r" b="b"/>
              <a:pathLst>
                <a:path w="14696" h="14683">
                  <a:moveTo>
                    <a:pt x="0" y="14683"/>
                  </a:moveTo>
                  <a:lnTo>
                    <a:pt x="14696" y="14683"/>
                  </a:lnTo>
                  <a:lnTo>
                    <a:pt x="14696" y="0"/>
                  </a:lnTo>
                  <a:cubicBezTo>
                    <a:pt x="7668" y="1915"/>
                    <a:pt x="1917" y="7022"/>
                    <a:pt x="0" y="14683"/>
                  </a:cubicBezTo>
                  <a:close/>
                </a:path>
              </a:pathLst>
            </a:custGeom>
            <a:solidFill>
              <a:srgbClr val="007680"/>
            </a:solidFill>
            <a:ln w="6390" cap="flat">
              <a:noFill/>
              <a:prstDash val="solid"/>
              <a:miter/>
            </a:ln>
          </p:spPr>
          <p:txBody>
            <a:bodyPr rtlCol="0" anchor="ctr"/>
            <a:lstStyle/>
            <a:p>
              <a:pPr marL="0" marR="0" lvl="0" indent="0" algn="l" defTabSz="91433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Graphic 4">
              <a:extLst>
                <a:ext uri="{FF2B5EF4-FFF2-40B4-BE49-F238E27FC236}">
                  <a16:creationId xmlns:a16="http://schemas.microsoft.com/office/drawing/2014/main" id="{EDDCFFFA-C98A-4C4F-B0DB-7DDA1E5D8782}"/>
                </a:ext>
              </a:extLst>
            </p:cNvPr>
            <p:cNvSpPr/>
            <p:nvPr/>
          </p:nvSpPr>
          <p:spPr>
            <a:xfrm>
              <a:off x="10413680" y="1073310"/>
              <a:ext cx="14697" cy="14683"/>
            </a:xfrm>
            <a:custGeom>
              <a:avLst/>
              <a:gdLst>
                <a:gd name="connsiteX0" fmla="*/ 14697 w 14697"/>
                <a:gd name="connsiteY0" fmla="*/ 0 h 14683"/>
                <a:gd name="connsiteX1" fmla="*/ 0 w 14697"/>
                <a:gd name="connsiteY1" fmla="*/ 0 h 14683"/>
                <a:gd name="connsiteX2" fmla="*/ 0 w 14697"/>
                <a:gd name="connsiteY2" fmla="*/ 14683 h 14683"/>
                <a:gd name="connsiteX3" fmla="*/ 14697 w 14697"/>
                <a:gd name="connsiteY3" fmla="*/ 0 h 14683"/>
              </a:gdLst>
              <a:ahLst/>
              <a:cxnLst>
                <a:cxn ang="0">
                  <a:pos x="connsiteX0" y="connsiteY0"/>
                </a:cxn>
                <a:cxn ang="0">
                  <a:pos x="connsiteX1" y="connsiteY1"/>
                </a:cxn>
                <a:cxn ang="0">
                  <a:pos x="connsiteX2" y="connsiteY2"/>
                </a:cxn>
                <a:cxn ang="0">
                  <a:pos x="connsiteX3" y="connsiteY3"/>
                </a:cxn>
              </a:cxnLst>
              <a:rect l="l" t="t" r="r" b="b"/>
              <a:pathLst>
                <a:path w="14697" h="14683">
                  <a:moveTo>
                    <a:pt x="14697" y="0"/>
                  </a:moveTo>
                  <a:lnTo>
                    <a:pt x="0" y="0"/>
                  </a:lnTo>
                  <a:lnTo>
                    <a:pt x="0" y="14683"/>
                  </a:lnTo>
                  <a:cubicBezTo>
                    <a:pt x="7030" y="12768"/>
                    <a:pt x="12780" y="7661"/>
                    <a:pt x="14697" y="0"/>
                  </a:cubicBezTo>
                  <a:close/>
                </a:path>
              </a:pathLst>
            </a:custGeom>
            <a:solidFill>
              <a:srgbClr val="007680"/>
            </a:solidFill>
            <a:ln w="6390" cap="flat">
              <a:noFill/>
              <a:prstDash val="solid"/>
              <a:miter/>
            </a:ln>
          </p:spPr>
          <p:txBody>
            <a:bodyPr rtlCol="0" anchor="ctr"/>
            <a:lstStyle/>
            <a:p>
              <a:pPr marL="0" marR="0" lvl="0" indent="0" algn="l" defTabSz="91433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Graphic 4">
              <a:extLst>
                <a:ext uri="{FF2B5EF4-FFF2-40B4-BE49-F238E27FC236}">
                  <a16:creationId xmlns:a16="http://schemas.microsoft.com/office/drawing/2014/main" id="{59F4994B-FAF5-4605-AEAD-8E0E7BD56A20}"/>
                </a:ext>
              </a:extLst>
            </p:cNvPr>
            <p:cNvSpPr/>
            <p:nvPr/>
          </p:nvSpPr>
          <p:spPr>
            <a:xfrm>
              <a:off x="10583013" y="1068202"/>
              <a:ext cx="14697" cy="58094"/>
            </a:xfrm>
            <a:custGeom>
              <a:avLst/>
              <a:gdLst>
                <a:gd name="connsiteX0" fmla="*/ 0 w 14697"/>
                <a:gd name="connsiteY0" fmla="*/ 0 h 58094"/>
                <a:gd name="connsiteX1" fmla="*/ 0 w 14697"/>
                <a:gd name="connsiteY1" fmla="*/ 58094 h 58094"/>
                <a:gd name="connsiteX2" fmla="*/ 14697 w 14697"/>
                <a:gd name="connsiteY2" fmla="*/ 56179 h 58094"/>
                <a:gd name="connsiteX3" fmla="*/ 7668 w 14697"/>
                <a:gd name="connsiteY3" fmla="*/ 638 h 58094"/>
                <a:gd name="connsiteX4" fmla="*/ 0 w 14697"/>
                <a:gd name="connsiteY4" fmla="*/ 0 h 58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97" h="58094">
                  <a:moveTo>
                    <a:pt x="0" y="0"/>
                  </a:moveTo>
                  <a:lnTo>
                    <a:pt x="0" y="58094"/>
                  </a:lnTo>
                  <a:lnTo>
                    <a:pt x="14697" y="56179"/>
                  </a:lnTo>
                  <a:lnTo>
                    <a:pt x="7668" y="638"/>
                  </a:lnTo>
                  <a:cubicBezTo>
                    <a:pt x="5112" y="638"/>
                    <a:pt x="2556" y="638"/>
                    <a:pt x="0" y="0"/>
                  </a:cubicBezTo>
                  <a:close/>
                </a:path>
              </a:pathLst>
            </a:custGeom>
            <a:solidFill>
              <a:srgbClr val="007680"/>
            </a:solidFill>
            <a:ln w="6390" cap="flat">
              <a:noFill/>
              <a:prstDash val="solid"/>
              <a:miter/>
            </a:ln>
          </p:spPr>
          <p:txBody>
            <a:bodyPr rtlCol="0" anchor="ctr"/>
            <a:lstStyle/>
            <a:p>
              <a:pPr marL="0" marR="0" lvl="0" indent="0" algn="l" defTabSz="91433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Graphic 4">
              <a:extLst>
                <a:ext uri="{FF2B5EF4-FFF2-40B4-BE49-F238E27FC236}">
                  <a16:creationId xmlns:a16="http://schemas.microsoft.com/office/drawing/2014/main" id="{D35E4AE2-E02D-4DA4-9F3A-D7D369C25911}"/>
                </a:ext>
              </a:extLst>
            </p:cNvPr>
            <p:cNvSpPr/>
            <p:nvPr/>
          </p:nvSpPr>
          <p:spPr>
            <a:xfrm>
              <a:off x="10324860" y="918179"/>
              <a:ext cx="361674" cy="361333"/>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80518 w 361674"/>
                <a:gd name="connsiteY5" fmla="*/ 218332 h 361333"/>
                <a:gd name="connsiteX6" fmla="*/ 258153 w 361674"/>
                <a:gd name="connsiteY6" fmla="*/ 221524 h 361333"/>
                <a:gd name="connsiteX7" fmla="*/ 258153 w 361674"/>
                <a:gd name="connsiteY7" fmla="*/ 245783 h 361333"/>
                <a:gd name="connsiteX8" fmla="*/ 251763 w 361674"/>
                <a:gd name="connsiteY8" fmla="*/ 252167 h 361333"/>
                <a:gd name="connsiteX9" fmla="*/ 82430 w 361674"/>
                <a:gd name="connsiteY9" fmla="*/ 252167 h 361333"/>
                <a:gd name="connsiteX10" fmla="*/ 76040 w 361674"/>
                <a:gd name="connsiteY10" fmla="*/ 245783 h 361333"/>
                <a:gd name="connsiteX11" fmla="*/ 76040 w 361674"/>
                <a:gd name="connsiteY11" fmla="*/ 149385 h 361333"/>
                <a:gd name="connsiteX12" fmla="*/ 82430 w 361674"/>
                <a:gd name="connsiteY12" fmla="*/ 143001 h 361333"/>
                <a:gd name="connsiteX13" fmla="*/ 93293 w 361674"/>
                <a:gd name="connsiteY13" fmla="*/ 143001 h 361333"/>
                <a:gd name="connsiteX14" fmla="*/ 92654 w 361674"/>
                <a:gd name="connsiteY14" fmla="*/ 139171 h 361333"/>
                <a:gd name="connsiteX15" fmla="*/ 98404 w 361674"/>
                <a:gd name="connsiteY15" fmla="*/ 132148 h 361333"/>
                <a:gd name="connsiteX16" fmla="*/ 237705 w 361674"/>
                <a:gd name="connsiteY16" fmla="*/ 113635 h 361333"/>
                <a:gd name="connsiteX17" fmla="*/ 237705 w 361674"/>
                <a:gd name="connsiteY17" fmla="*/ 113635 h 361333"/>
                <a:gd name="connsiteX18" fmla="*/ 237705 w 361674"/>
                <a:gd name="connsiteY18" fmla="*/ 113635 h 361333"/>
                <a:gd name="connsiteX19" fmla="*/ 266460 w 361674"/>
                <a:gd name="connsiteY19" fmla="*/ 109804 h 361333"/>
                <a:gd name="connsiteX20" fmla="*/ 273489 w 361674"/>
                <a:gd name="connsiteY20" fmla="*/ 115550 h 361333"/>
                <a:gd name="connsiteX21" fmla="*/ 277323 w 361674"/>
                <a:gd name="connsiteY21" fmla="*/ 144278 h 361333"/>
                <a:gd name="connsiteX22" fmla="*/ 277323 w 361674"/>
                <a:gd name="connsiteY22" fmla="*/ 144278 h 361333"/>
                <a:gd name="connsiteX23" fmla="*/ 277323 w 361674"/>
                <a:gd name="connsiteY23" fmla="*/ 144278 h 361333"/>
                <a:gd name="connsiteX24" fmla="*/ 286269 w 361674"/>
                <a:gd name="connsiteY24" fmla="*/ 211310 h 361333"/>
                <a:gd name="connsiteX25" fmla="*/ 280518 w 361674"/>
                <a:gd name="connsiteY25" fmla="*/ 218332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61674" h="361333">
                  <a:moveTo>
                    <a:pt x="180835" y="0"/>
                  </a:moveTo>
                  <a:cubicBezTo>
                    <a:pt x="80513" y="0"/>
                    <a:pt x="0" y="81077"/>
                    <a:pt x="0" y="180667"/>
                  </a:cubicBezTo>
                  <a:cubicBezTo>
                    <a:pt x="0" y="280895"/>
                    <a:pt x="81152" y="361333"/>
                    <a:pt x="180835" y="361333"/>
                  </a:cubicBezTo>
                  <a:cubicBezTo>
                    <a:pt x="280518" y="361333"/>
                    <a:pt x="361670" y="280257"/>
                    <a:pt x="361670" y="180667"/>
                  </a:cubicBezTo>
                  <a:cubicBezTo>
                    <a:pt x="362309" y="81077"/>
                    <a:pt x="281157" y="0"/>
                    <a:pt x="180835" y="0"/>
                  </a:cubicBezTo>
                  <a:close/>
                  <a:moveTo>
                    <a:pt x="280518" y="218332"/>
                  </a:moveTo>
                  <a:lnTo>
                    <a:pt x="258153" y="221524"/>
                  </a:lnTo>
                  <a:lnTo>
                    <a:pt x="258153" y="245783"/>
                  </a:lnTo>
                  <a:cubicBezTo>
                    <a:pt x="258153" y="249614"/>
                    <a:pt x="255597" y="252167"/>
                    <a:pt x="251763" y="252167"/>
                  </a:cubicBezTo>
                  <a:lnTo>
                    <a:pt x="82430" y="252167"/>
                  </a:lnTo>
                  <a:cubicBezTo>
                    <a:pt x="78596" y="252167"/>
                    <a:pt x="76040" y="249614"/>
                    <a:pt x="76040" y="245783"/>
                  </a:cubicBezTo>
                  <a:lnTo>
                    <a:pt x="76040" y="149385"/>
                  </a:lnTo>
                  <a:cubicBezTo>
                    <a:pt x="76040" y="145555"/>
                    <a:pt x="78596" y="143001"/>
                    <a:pt x="82430" y="143001"/>
                  </a:cubicBezTo>
                  <a:lnTo>
                    <a:pt x="93293" y="143001"/>
                  </a:lnTo>
                  <a:lnTo>
                    <a:pt x="92654" y="139171"/>
                  </a:lnTo>
                  <a:cubicBezTo>
                    <a:pt x="92014" y="135979"/>
                    <a:pt x="94571" y="132787"/>
                    <a:pt x="98404" y="132148"/>
                  </a:cubicBezTo>
                  <a:lnTo>
                    <a:pt x="237705" y="113635"/>
                  </a:lnTo>
                  <a:cubicBezTo>
                    <a:pt x="237705" y="113635"/>
                    <a:pt x="237705" y="113635"/>
                    <a:pt x="237705" y="113635"/>
                  </a:cubicBezTo>
                  <a:cubicBezTo>
                    <a:pt x="237705" y="113635"/>
                    <a:pt x="237705" y="113635"/>
                    <a:pt x="237705" y="113635"/>
                  </a:cubicBezTo>
                  <a:lnTo>
                    <a:pt x="266460" y="109804"/>
                  </a:lnTo>
                  <a:cubicBezTo>
                    <a:pt x="269655" y="109166"/>
                    <a:pt x="272850" y="111720"/>
                    <a:pt x="273489" y="115550"/>
                  </a:cubicBezTo>
                  <a:lnTo>
                    <a:pt x="277323" y="144278"/>
                  </a:lnTo>
                  <a:cubicBezTo>
                    <a:pt x="277323" y="144278"/>
                    <a:pt x="277323" y="144278"/>
                    <a:pt x="277323" y="144278"/>
                  </a:cubicBezTo>
                  <a:cubicBezTo>
                    <a:pt x="277323" y="144278"/>
                    <a:pt x="277323" y="144278"/>
                    <a:pt x="277323" y="144278"/>
                  </a:cubicBezTo>
                  <a:lnTo>
                    <a:pt x="286269" y="211310"/>
                  </a:lnTo>
                  <a:cubicBezTo>
                    <a:pt x="286269" y="214502"/>
                    <a:pt x="284352" y="217694"/>
                    <a:pt x="280518" y="218332"/>
                  </a:cubicBezTo>
                  <a:close/>
                </a:path>
              </a:pathLst>
            </a:custGeom>
            <a:solidFill>
              <a:srgbClr val="007680"/>
            </a:solidFill>
            <a:ln w="6390" cap="flat">
              <a:noFill/>
              <a:prstDash val="solid"/>
              <a:miter/>
            </a:ln>
          </p:spPr>
          <p:txBody>
            <a:bodyPr rtlCol="0" anchor="ctr"/>
            <a:lstStyle/>
            <a:p>
              <a:pPr marL="0" marR="0" lvl="0" indent="0" algn="l" defTabSz="91433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Graphic 4">
              <a:extLst>
                <a:ext uri="{FF2B5EF4-FFF2-40B4-BE49-F238E27FC236}">
                  <a16:creationId xmlns:a16="http://schemas.microsoft.com/office/drawing/2014/main" id="{98C9BF22-7527-4B7D-8A9C-BFE6EE79B190}"/>
                </a:ext>
              </a:extLst>
            </p:cNvPr>
            <p:cNvSpPr/>
            <p:nvPr/>
          </p:nvSpPr>
          <p:spPr>
            <a:xfrm>
              <a:off x="10413680" y="1142257"/>
              <a:ext cx="14697" cy="14683"/>
            </a:xfrm>
            <a:custGeom>
              <a:avLst/>
              <a:gdLst>
                <a:gd name="connsiteX0" fmla="*/ 0 w 14697"/>
                <a:gd name="connsiteY0" fmla="*/ 0 h 14683"/>
                <a:gd name="connsiteX1" fmla="*/ 0 w 14697"/>
                <a:gd name="connsiteY1" fmla="*/ 14683 h 14683"/>
                <a:gd name="connsiteX2" fmla="*/ 14697 w 14697"/>
                <a:gd name="connsiteY2" fmla="*/ 14683 h 14683"/>
                <a:gd name="connsiteX3" fmla="*/ 0 w 14697"/>
                <a:gd name="connsiteY3" fmla="*/ 0 h 14683"/>
              </a:gdLst>
              <a:ahLst/>
              <a:cxnLst>
                <a:cxn ang="0">
                  <a:pos x="connsiteX0" y="connsiteY0"/>
                </a:cxn>
                <a:cxn ang="0">
                  <a:pos x="connsiteX1" y="connsiteY1"/>
                </a:cxn>
                <a:cxn ang="0">
                  <a:pos x="connsiteX2" y="connsiteY2"/>
                </a:cxn>
                <a:cxn ang="0">
                  <a:pos x="connsiteX3" y="connsiteY3"/>
                </a:cxn>
              </a:cxnLst>
              <a:rect l="l" t="t" r="r" b="b"/>
              <a:pathLst>
                <a:path w="14697" h="14683">
                  <a:moveTo>
                    <a:pt x="0" y="0"/>
                  </a:moveTo>
                  <a:lnTo>
                    <a:pt x="0" y="14683"/>
                  </a:lnTo>
                  <a:lnTo>
                    <a:pt x="14697" y="14683"/>
                  </a:lnTo>
                  <a:cubicBezTo>
                    <a:pt x="12780" y="7661"/>
                    <a:pt x="7030" y="2554"/>
                    <a:pt x="0" y="0"/>
                  </a:cubicBezTo>
                  <a:close/>
                </a:path>
              </a:pathLst>
            </a:custGeom>
            <a:solidFill>
              <a:srgbClr val="007680"/>
            </a:solidFill>
            <a:ln w="6390" cap="flat">
              <a:noFill/>
              <a:prstDash val="solid"/>
              <a:miter/>
            </a:ln>
          </p:spPr>
          <p:txBody>
            <a:bodyPr rtlCol="0" anchor="ctr"/>
            <a:lstStyle/>
            <a:p>
              <a:pPr marL="0" marR="0" lvl="0" indent="0" algn="l" defTabSz="91433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2" name="Title 1">
            <a:extLst>
              <a:ext uri="{FF2B5EF4-FFF2-40B4-BE49-F238E27FC236}">
                <a16:creationId xmlns:a16="http://schemas.microsoft.com/office/drawing/2014/main" id="{5FC29F30-8E83-4AD3-8CBC-E1FD33E1AEAF}"/>
              </a:ext>
            </a:extLst>
          </p:cNvPr>
          <p:cNvSpPr>
            <a:spLocks noGrp="1"/>
          </p:cNvSpPr>
          <p:nvPr>
            <p:ph type="title"/>
          </p:nvPr>
        </p:nvSpPr>
        <p:spPr>
          <a:xfrm>
            <a:off x="219175" y="338895"/>
            <a:ext cx="11697549" cy="491934"/>
          </a:xfrm>
        </p:spPr>
        <p:txBody>
          <a:bodyPr>
            <a:noAutofit/>
          </a:bodyPr>
          <a:lstStyle/>
          <a:p>
            <a:r>
              <a:rPr lang="en-US" sz="1800" b="1" i="0" dirty="0">
                <a:solidFill>
                  <a:schemeClr val="tx1"/>
                </a:solidFill>
                <a:latin typeface="Verdana" panose="020B0604030504040204" pitchFamily="34" charset="0"/>
                <a:ea typeface="Verdana" panose="020B0604030504040204" pitchFamily="34" charset="0"/>
              </a:rPr>
              <a:t>Key Provisions -Rooftop Solar </a:t>
            </a:r>
            <a:r>
              <a:rPr lang="en-US" sz="1800" i="0" dirty="0">
                <a:solidFill>
                  <a:schemeClr val="tx1"/>
                </a:solidFill>
                <a:latin typeface="Verdana" panose="020B0604030504040204" pitchFamily="34" charset="0"/>
                <a:ea typeface="Verdana" panose="020B0604030504040204" pitchFamily="34" charset="0"/>
              </a:rPr>
              <a:t>P</a:t>
            </a:r>
            <a:r>
              <a:rPr lang="en-US" sz="1800" b="1" i="0" dirty="0">
                <a:solidFill>
                  <a:schemeClr val="tx1"/>
                </a:solidFill>
                <a:latin typeface="Verdana" panose="020B0604030504040204" pitchFamily="34" charset="0"/>
                <a:ea typeface="Verdana" panose="020B0604030504040204" pitchFamily="34" charset="0"/>
              </a:rPr>
              <a:t>rojects in Draft West Bengal RE Policy 2022</a:t>
            </a:r>
          </a:p>
        </p:txBody>
      </p:sp>
    </p:spTree>
    <p:extLst>
      <p:ext uri="{BB962C8B-B14F-4D97-AF65-F5344CB8AC3E}">
        <p14:creationId xmlns:p14="http://schemas.microsoft.com/office/powerpoint/2010/main" val="152469513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8">
            <a:extLst>
              <a:ext uri="{FF2B5EF4-FFF2-40B4-BE49-F238E27FC236}">
                <a16:creationId xmlns:a16="http://schemas.microsoft.com/office/drawing/2014/main" id="{C8DD47FD-C517-4BC6-9A67-A4A71C476E1E}"/>
              </a:ext>
            </a:extLst>
          </p:cNvPr>
          <p:cNvGraphicFramePr>
            <a:graphicFrameLocks noGrp="1"/>
          </p:cNvGraphicFramePr>
          <p:nvPr>
            <p:extLst>
              <p:ext uri="{D42A27DB-BD31-4B8C-83A1-F6EECF244321}">
                <p14:modId xmlns:p14="http://schemas.microsoft.com/office/powerpoint/2010/main" val="3842753864"/>
              </p:ext>
            </p:extLst>
          </p:nvPr>
        </p:nvGraphicFramePr>
        <p:xfrm>
          <a:off x="448112" y="1067426"/>
          <a:ext cx="11210488" cy="4219600"/>
        </p:xfrm>
        <a:graphic>
          <a:graphicData uri="http://schemas.openxmlformats.org/drawingml/2006/table">
            <a:tbl>
              <a:tblPr firstRow="1" bandRow="1">
                <a:tableStyleId>{93296810-A885-4BE3-A3E7-6D5BEEA58F35}</a:tableStyleId>
              </a:tblPr>
              <a:tblGrid>
                <a:gridCol w="2353380">
                  <a:extLst>
                    <a:ext uri="{9D8B030D-6E8A-4147-A177-3AD203B41FA5}">
                      <a16:colId xmlns:a16="http://schemas.microsoft.com/office/drawing/2014/main" val="3568548837"/>
                    </a:ext>
                  </a:extLst>
                </a:gridCol>
                <a:gridCol w="3251866">
                  <a:extLst>
                    <a:ext uri="{9D8B030D-6E8A-4147-A177-3AD203B41FA5}">
                      <a16:colId xmlns:a16="http://schemas.microsoft.com/office/drawing/2014/main" val="1109609590"/>
                    </a:ext>
                  </a:extLst>
                </a:gridCol>
                <a:gridCol w="2802621">
                  <a:extLst>
                    <a:ext uri="{9D8B030D-6E8A-4147-A177-3AD203B41FA5}">
                      <a16:colId xmlns:a16="http://schemas.microsoft.com/office/drawing/2014/main" val="305563361"/>
                    </a:ext>
                  </a:extLst>
                </a:gridCol>
                <a:gridCol w="2802621">
                  <a:extLst>
                    <a:ext uri="{9D8B030D-6E8A-4147-A177-3AD203B41FA5}">
                      <a16:colId xmlns:a16="http://schemas.microsoft.com/office/drawing/2014/main" val="2226858278"/>
                    </a:ext>
                  </a:extLst>
                </a:gridCol>
              </a:tblGrid>
              <a:tr h="217539">
                <a:tc>
                  <a:txBody>
                    <a:bodyPr/>
                    <a:lstStyle/>
                    <a:p>
                      <a:endParaRPr lang="en-US" sz="1400" dirty="0">
                        <a:latin typeface="+mn-lt"/>
                      </a:endParaRPr>
                    </a:p>
                  </a:txBody>
                  <a:tcPr marL="91436" marR="91436" marT="45718" marB="45718" anchor="ctr"/>
                </a:tc>
                <a:tc>
                  <a:txBody>
                    <a:bodyPr/>
                    <a:lstStyle/>
                    <a:p>
                      <a:pPr algn="ctr"/>
                      <a:r>
                        <a:rPr lang="en-US" sz="1400" b="1" kern="1200" dirty="0" err="1">
                          <a:solidFill>
                            <a:schemeClr val="lt1"/>
                          </a:solidFill>
                          <a:effectLst/>
                          <a:latin typeface="+mn-lt"/>
                        </a:rPr>
                        <a:t>Agro</a:t>
                      </a:r>
                      <a:r>
                        <a:rPr lang="en-US" sz="1400" b="1" kern="1200" dirty="0">
                          <a:solidFill>
                            <a:schemeClr val="lt1"/>
                          </a:solidFill>
                          <a:effectLst/>
                          <a:latin typeface="+mn-lt"/>
                        </a:rPr>
                        <a:t> PV</a:t>
                      </a:r>
                      <a:endParaRPr lang="en-US" sz="1400" b="1" dirty="0">
                        <a:latin typeface="+mn-lt"/>
                      </a:endParaRPr>
                    </a:p>
                  </a:txBody>
                  <a:tcPr marL="91436" marR="91436" marT="45718" marB="45718" anchor="ctr">
                    <a:solidFill>
                      <a:schemeClr val="tx1">
                        <a:lumMod val="75000"/>
                        <a:lumOff val="25000"/>
                      </a:schemeClr>
                    </a:solidFill>
                  </a:tcPr>
                </a:tc>
                <a:tc>
                  <a:txBody>
                    <a:bodyPr/>
                    <a:lstStyle/>
                    <a:p>
                      <a:pPr algn="ctr"/>
                      <a:r>
                        <a:rPr lang="en-US" sz="1400" b="1" kern="1200" dirty="0">
                          <a:solidFill>
                            <a:schemeClr val="lt1"/>
                          </a:solidFill>
                          <a:effectLst/>
                          <a:latin typeface="+mn-lt"/>
                        </a:rPr>
                        <a:t>Solar City</a:t>
                      </a:r>
                      <a:endParaRPr lang="en-US" sz="1400" b="1" dirty="0">
                        <a:latin typeface="+mn-lt"/>
                      </a:endParaRPr>
                    </a:p>
                  </a:txBody>
                  <a:tcPr marL="91436" marR="91436" marT="45718" marB="45718" anchor="ctr">
                    <a:solidFill>
                      <a:schemeClr val="tx1">
                        <a:lumMod val="75000"/>
                        <a:lumOff val="25000"/>
                      </a:schemeClr>
                    </a:solidFill>
                  </a:tcPr>
                </a:tc>
                <a:tc>
                  <a:txBody>
                    <a:bodyPr/>
                    <a:lstStyle/>
                    <a:p>
                      <a:pPr algn="ctr"/>
                      <a:r>
                        <a:rPr lang="en-US" sz="1400" b="1" kern="1200" dirty="0">
                          <a:solidFill>
                            <a:schemeClr val="lt1"/>
                          </a:solidFill>
                          <a:effectLst/>
                          <a:latin typeface="+mn-lt"/>
                        </a:rPr>
                        <a:t>Vertical PV</a:t>
                      </a:r>
                      <a:endParaRPr lang="en-US" sz="1400" b="1" dirty="0">
                        <a:latin typeface="+mn-lt"/>
                      </a:endParaRPr>
                    </a:p>
                  </a:txBody>
                  <a:tcPr marL="91436" marR="91436" marT="45718" marB="45718" anchor="ctr">
                    <a:solidFill>
                      <a:schemeClr val="tx1">
                        <a:lumMod val="75000"/>
                        <a:lumOff val="25000"/>
                      </a:schemeClr>
                    </a:solidFill>
                  </a:tcPr>
                </a:tc>
                <a:extLst>
                  <a:ext uri="{0D108BD9-81ED-4DB2-BD59-A6C34878D82A}">
                    <a16:rowId xmlns:a16="http://schemas.microsoft.com/office/drawing/2014/main" val="3793777115"/>
                  </a:ext>
                </a:extLst>
              </a:tr>
              <a:tr h="369818">
                <a:tc>
                  <a:txBody>
                    <a:bodyPr/>
                    <a:lstStyle/>
                    <a:p>
                      <a:r>
                        <a:rPr lang="en-US" sz="1400" b="1" kern="1200" dirty="0">
                          <a:solidFill>
                            <a:schemeClr val="dk1"/>
                          </a:solidFill>
                          <a:effectLst/>
                          <a:latin typeface="+mn-lt"/>
                        </a:rPr>
                        <a:t>Target</a:t>
                      </a:r>
                      <a:endParaRPr lang="en-US" sz="1400" dirty="0">
                        <a:latin typeface="+mn-lt"/>
                      </a:endParaRPr>
                    </a:p>
                  </a:txBody>
                  <a:tcPr marL="91436" marR="91436" marT="45718" marB="45718" anchor="ctr"/>
                </a:tc>
                <a:tc>
                  <a:txBody>
                    <a:bodyPr/>
                    <a:lstStyle/>
                    <a:p>
                      <a:r>
                        <a:rPr lang="en-US" sz="1200" kern="1200" dirty="0">
                          <a:solidFill>
                            <a:schemeClr val="dk1"/>
                          </a:solidFill>
                          <a:effectLst/>
                          <a:latin typeface="+mn-lt"/>
                          <a:ea typeface="Verdana" panose="020B0604030504040204" pitchFamily="34" charset="0"/>
                        </a:rPr>
                        <a:t>To promote </a:t>
                      </a:r>
                      <a:r>
                        <a:rPr lang="en-US" sz="1200" kern="1200" dirty="0" err="1">
                          <a:solidFill>
                            <a:schemeClr val="dk1"/>
                          </a:solidFill>
                          <a:effectLst/>
                          <a:latin typeface="+mn-lt"/>
                          <a:ea typeface="Verdana" panose="020B0604030504040204" pitchFamily="34" charset="0"/>
                        </a:rPr>
                        <a:t>Agro</a:t>
                      </a:r>
                      <a:r>
                        <a:rPr lang="en-US" sz="1200" kern="1200" dirty="0">
                          <a:solidFill>
                            <a:schemeClr val="dk1"/>
                          </a:solidFill>
                          <a:effectLst/>
                          <a:latin typeface="+mn-lt"/>
                          <a:ea typeface="Verdana" panose="020B0604030504040204" pitchFamily="34" charset="0"/>
                        </a:rPr>
                        <a:t> PV in all farming activities </a:t>
                      </a:r>
                      <a:endParaRPr lang="en-US" sz="1200" dirty="0">
                        <a:latin typeface="+mn-lt"/>
                        <a:ea typeface="Verdana" panose="020B0604030504040204" pitchFamily="34" charset="0"/>
                      </a:endParaRPr>
                    </a:p>
                  </a:txBody>
                  <a:tcPr marL="91436" marR="91436" marT="45718" marB="45718" anchor="ctr"/>
                </a:tc>
                <a:tc>
                  <a:txBody>
                    <a:bodyPr/>
                    <a:lstStyle/>
                    <a:p>
                      <a:r>
                        <a:rPr lang="en-US" sz="1200" kern="1200" dirty="0">
                          <a:solidFill>
                            <a:schemeClr val="dk1"/>
                          </a:solidFill>
                          <a:effectLst/>
                          <a:latin typeface="+mn-lt"/>
                          <a:ea typeface="Verdana" panose="020B0604030504040204" pitchFamily="34" charset="0"/>
                        </a:rPr>
                        <a:t>To solarize minimum of 2 solar cities </a:t>
                      </a:r>
                      <a:endParaRPr lang="en-US" sz="1200" dirty="0">
                        <a:latin typeface="+mn-lt"/>
                        <a:ea typeface="Verdana" panose="020B0604030504040204" pitchFamily="34" charset="0"/>
                      </a:endParaRPr>
                    </a:p>
                  </a:txBody>
                  <a:tcPr marL="91436" marR="91436" marT="45718" marB="45718" anchor="ctr"/>
                </a:tc>
                <a:tc>
                  <a:txBody>
                    <a:bodyPr/>
                    <a:lstStyle/>
                    <a:p>
                      <a:r>
                        <a:rPr lang="en-US" sz="1200" dirty="0">
                          <a:latin typeface="+mn-lt"/>
                          <a:ea typeface="Verdana" panose="020B0604030504040204" pitchFamily="34" charset="0"/>
                        </a:rPr>
                        <a:t>To implement 2 pilot projects with vertical PV</a:t>
                      </a:r>
                    </a:p>
                  </a:txBody>
                  <a:tcPr marL="91436" marR="91436" marT="45718" marB="45718" anchor="ctr"/>
                </a:tc>
                <a:extLst>
                  <a:ext uri="{0D108BD9-81ED-4DB2-BD59-A6C34878D82A}">
                    <a16:rowId xmlns:a16="http://schemas.microsoft.com/office/drawing/2014/main" val="1374917845"/>
                  </a:ext>
                </a:extLst>
              </a:tr>
              <a:tr h="826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dk1"/>
                          </a:solidFill>
                          <a:effectLst/>
                          <a:latin typeface="+mn-lt"/>
                        </a:rPr>
                        <a:t>Description/ Rationale</a:t>
                      </a:r>
                      <a:endParaRPr lang="en-US" sz="1400" kern="1200" dirty="0">
                        <a:solidFill>
                          <a:schemeClr val="dk1"/>
                        </a:solidFill>
                        <a:effectLst/>
                        <a:latin typeface="+mn-lt"/>
                        <a:ea typeface="+mn-ea"/>
                        <a:cs typeface="+mn-cs"/>
                      </a:endParaRPr>
                    </a:p>
                  </a:txBody>
                  <a:tcPr marL="91436" marR="91436" marT="45718" marB="45718" anchor="ctr"/>
                </a:tc>
                <a:tc>
                  <a:txBody>
                    <a:bodyPr/>
                    <a:lstStyle/>
                    <a:p>
                      <a:r>
                        <a:rPr lang="en-US" sz="1200" kern="1200" dirty="0">
                          <a:solidFill>
                            <a:schemeClr val="dk1"/>
                          </a:solidFill>
                          <a:effectLst/>
                          <a:latin typeface="+mn-lt"/>
                          <a:ea typeface="Verdana" panose="020B0604030504040204" pitchFamily="34" charset="0"/>
                        </a:rPr>
                        <a:t>Agra-PV is promoted as it leads to sustainable agriculture and clean energy transitions. </a:t>
                      </a:r>
                      <a:endParaRPr lang="en-US" sz="1200" dirty="0">
                        <a:latin typeface="+mn-lt"/>
                        <a:ea typeface="Verdana" panose="020B0604030504040204" pitchFamily="34" charset="0"/>
                      </a:endParaRPr>
                    </a:p>
                  </a:txBody>
                  <a:tcPr marL="91436" marR="91436" marT="45718" marB="45718" anchor="ctr"/>
                </a:tc>
                <a:tc>
                  <a:txBody>
                    <a:bodyPr/>
                    <a:lstStyle/>
                    <a:p>
                      <a:r>
                        <a:rPr lang="en-US" sz="1200" kern="1200" dirty="0">
                          <a:solidFill>
                            <a:schemeClr val="dk1"/>
                          </a:solidFill>
                          <a:effectLst/>
                          <a:latin typeface="+mn-lt"/>
                          <a:ea typeface="Verdana" panose="020B0604030504040204" pitchFamily="34" charset="0"/>
                        </a:rPr>
                        <a:t>RE city aims at least 10% reduction in projected demand of conventional energy at the end of five years.</a:t>
                      </a:r>
                      <a:endParaRPr lang="en-US" sz="1200" dirty="0">
                        <a:latin typeface="+mn-lt"/>
                        <a:ea typeface="Verdana" panose="020B0604030504040204" pitchFamily="34" charset="0"/>
                      </a:endParaRPr>
                    </a:p>
                  </a:txBody>
                  <a:tcPr marL="91436" marR="91436" marT="45718" marB="45718" anchor="ctr"/>
                </a:tc>
                <a:tc>
                  <a:txBody>
                    <a:bodyPr/>
                    <a:lstStyle/>
                    <a:p>
                      <a:r>
                        <a:rPr lang="en-US" sz="1200" kern="1200" dirty="0">
                          <a:solidFill>
                            <a:schemeClr val="dk1"/>
                          </a:solidFill>
                          <a:effectLst/>
                          <a:latin typeface="+mn-lt"/>
                          <a:ea typeface="Verdana" panose="020B0604030504040204" pitchFamily="34" charset="0"/>
                        </a:rPr>
                        <a:t>With increasing concerns across land availability Agra/vertical PV could be the required solution</a:t>
                      </a:r>
                      <a:endParaRPr lang="en-US" sz="1200" dirty="0">
                        <a:latin typeface="+mn-lt"/>
                        <a:ea typeface="Verdana" panose="020B0604030504040204" pitchFamily="34" charset="0"/>
                      </a:endParaRPr>
                    </a:p>
                  </a:txBody>
                  <a:tcPr marL="91436" marR="91436" marT="45718" marB="45718" anchor="ctr"/>
                </a:tc>
                <a:extLst>
                  <a:ext uri="{0D108BD9-81ED-4DB2-BD59-A6C34878D82A}">
                    <a16:rowId xmlns:a16="http://schemas.microsoft.com/office/drawing/2014/main" val="2042582914"/>
                  </a:ext>
                </a:extLst>
              </a:tr>
              <a:tr h="369818">
                <a:tc>
                  <a:txBody>
                    <a:bodyPr/>
                    <a:lstStyle/>
                    <a:p>
                      <a:r>
                        <a:rPr lang="en-US" sz="1400" b="1" kern="1200" dirty="0">
                          <a:solidFill>
                            <a:schemeClr val="dk1"/>
                          </a:solidFill>
                          <a:effectLst/>
                          <a:latin typeface="+mn-lt"/>
                        </a:rPr>
                        <a:t>Implementing Agency</a:t>
                      </a:r>
                      <a:endParaRPr lang="en-US" sz="1400" dirty="0">
                        <a:latin typeface="+mn-lt"/>
                      </a:endParaRPr>
                    </a:p>
                  </a:txBody>
                  <a:tcPr marL="91436" marR="91436" marT="45718" marB="45718" anchor="ctr"/>
                </a:tc>
                <a:tc>
                  <a:txBody>
                    <a:bodyPr/>
                    <a:lstStyle/>
                    <a:p>
                      <a:pPr marL="0" marR="0">
                        <a:lnSpc>
                          <a:spcPct val="120000"/>
                        </a:lnSpc>
                        <a:spcBef>
                          <a:spcPts val="0"/>
                        </a:spcBef>
                        <a:spcAft>
                          <a:spcPts val="0"/>
                        </a:spcAft>
                      </a:pPr>
                      <a:r>
                        <a:rPr lang="en-IN" sz="1200" dirty="0">
                          <a:solidFill>
                            <a:srgbClr val="000000"/>
                          </a:solidFill>
                          <a:effectLst/>
                          <a:latin typeface="+mn-lt"/>
                          <a:ea typeface="Verdana" panose="020B0604030504040204" pitchFamily="34" charset="0"/>
                        </a:rPr>
                        <a:t>WBREDA and DISCOMs </a:t>
                      </a:r>
                      <a:endParaRPr lang="en-US" sz="1200" dirty="0">
                        <a:effectLst/>
                        <a:latin typeface="+mn-lt"/>
                        <a:ea typeface="Verdana" panose="020B0604030504040204" pitchFamily="34" charset="0"/>
                      </a:endParaRPr>
                    </a:p>
                    <a:p>
                      <a:pPr marL="0" marR="0">
                        <a:lnSpc>
                          <a:spcPct val="120000"/>
                        </a:lnSpc>
                        <a:spcBef>
                          <a:spcPts val="0"/>
                        </a:spcBef>
                        <a:spcAft>
                          <a:spcPts val="0"/>
                        </a:spcAft>
                      </a:pPr>
                      <a:r>
                        <a:rPr lang="en-IN" sz="1200" dirty="0">
                          <a:solidFill>
                            <a:srgbClr val="000000"/>
                          </a:solidFill>
                          <a:effectLst/>
                          <a:latin typeface="+mn-lt"/>
                          <a:ea typeface="Verdana" panose="020B0604030504040204" pitchFamily="34" charset="0"/>
                        </a:rPr>
                        <a:t> </a:t>
                      </a:r>
                      <a:endParaRPr lang="en-US" sz="1200" dirty="0">
                        <a:effectLst/>
                        <a:latin typeface="+mn-lt"/>
                        <a:ea typeface="Verdana" panose="020B0604030504040204" pitchFamily="34" charset="0"/>
                        <a:cs typeface="Times New Roman" panose="02020603050405020304" pitchFamily="18" charset="0"/>
                      </a:endParaRPr>
                    </a:p>
                  </a:txBody>
                  <a:tcPr marL="68578" marR="68578" marT="0" marB="0" anchor="ctr"/>
                </a:tc>
                <a:tc>
                  <a:txBody>
                    <a:bodyPr/>
                    <a:lstStyle/>
                    <a:p>
                      <a:pPr marL="0" marR="0">
                        <a:lnSpc>
                          <a:spcPct val="120000"/>
                        </a:lnSpc>
                        <a:spcBef>
                          <a:spcPts val="0"/>
                        </a:spcBef>
                        <a:spcAft>
                          <a:spcPts val="0"/>
                        </a:spcAft>
                      </a:pPr>
                      <a:r>
                        <a:rPr lang="en-IN" sz="1200" dirty="0">
                          <a:solidFill>
                            <a:srgbClr val="000000"/>
                          </a:solidFill>
                          <a:effectLst/>
                          <a:latin typeface="+mn-lt"/>
                          <a:ea typeface="Verdana" panose="020B0604030504040204" pitchFamily="34" charset="0"/>
                        </a:rPr>
                        <a:t>Respective Urban local body and NRES/WBREDA</a:t>
                      </a:r>
                      <a:endParaRPr lang="en-US" sz="1200" dirty="0">
                        <a:effectLst/>
                        <a:latin typeface="+mn-lt"/>
                        <a:ea typeface="Verdana" panose="020B0604030504040204" pitchFamily="34" charset="0"/>
                        <a:cs typeface="Times New Roman" panose="02020603050405020304" pitchFamily="18" charset="0"/>
                      </a:endParaRPr>
                    </a:p>
                  </a:txBody>
                  <a:tcPr marL="68578" marR="68578" marT="0" marB="0" anchor="ctr"/>
                </a:tc>
                <a:tc>
                  <a:txBody>
                    <a:bodyPr/>
                    <a:lstStyle/>
                    <a:p>
                      <a:pPr marL="0" marR="0">
                        <a:lnSpc>
                          <a:spcPct val="120000"/>
                        </a:lnSpc>
                        <a:spcBef>
                          <a:spcPts val="0"/>
                        </a:spcBef>
                        <a:spcAft>
                          <a:spcPts val="0"/>
                        </a:spcAft>
                      </a:pPr>
                      <a:r>
                        <a:rPr lang="en-IN" sz="1200" dirty="0">
                          <a:solidFill>
                            <a:srgbClr val="000000"/>
                          </a:solidFill>
                          <a:effectLst/>
                          <a:latin typeface="+mn-lt"/>
                          <a:ea typeface="Verdana" panose="020B0604030504040204" pitchFamily="34" charset="0"/>
                        </a:rPr>
                        <a:t>WBSEDCL/WBREDA</a:t>
                      </a:r>
                      <a:endParaRPr lang="en-US" sz="1200" dirty="0">
                        <a:effectLst/>
                        <a:latin typeface="+mn-lt"/>
                        <a:ea typeface="Verdana" panose="020B0604030504040204" pitchFamily="34" charset="0"/>
                        <a:cs typeface="Times New Roman" panose="02020603050405020304" pitchFamily="18" charset="0"/>
                      </a:endParaRPr>
                    </a:p>
                  </a:txBody>
                  <a:tcPr marL="68578" marR="68578" marT="0" marB="0" anchor="ctr"/>
                </a:tc>
                <a:extLst>
                  <a:ext uri="{0D108BD9-81ED-4DB2-BD59-A6C34878D82A}">
                    <a16:rowId xmlns:a16="http://schemas.microsoft.com/office/drawing/2014/main" val="793407170"/>
                  </a:ext>
                </a:extLst>
              </a:tr>
              <a:tr h="217539">
                <a:tc>
                  <a:txBody>
                    <a:bodyPr/>
                    <a:lstStyle/>
                    <a:p>
                      <a:r>
                        <a:rPr lang="en-US" sz="1400" b="1" kern="1200" dirty="0">
                          <a:solidFill>
                            <a:schemeClr val="dk1"/>
                          </a:solidFill>
                          <a:effectLst/>
                          <a:latin typeface="+mn-lt"/>
                        </a:rPr>
                        <a:t>Duration</a:t>
                      </a:r>
                      <a:endParaRPr lang="en-US" sz="1400" dirty="0">
                        <a:latin typeface="+mn-lt"/>
                      </a:endParaRPr>
                    </a:p>
                  </a:txBody>
                  <a:tcPr marL="91436" marR="91436" marT="45718" marB="45718" anchor="ctr"/>
                </a:tc>
                <a:tc>
                  <a:txBody>
                    <a:bodyPr/>
                    <a:lstStyle/>
                    <a:p>
                      <a:pPr marL="0" marR="0">
                        <a:lnSpc>
                          <a:spcPct val="120000"/>
                        </a:lnSpc>
                        <a:spcBef>
                          <a:spcPts val="0"/>
                        </a:spcBef>
                        <a:spcAft>
                          <a:spcPts val="0"/>
                        </a:spcAft>
                      </a:pPr>
                      <a:r>
                        <a:rPr lang="en-IN" sz="1200" dirty="0">
                          <a:solidFill>
                            <a:srgbClr val="000000"/>
                          </a:solidFill>
                          <a:effectLst/>
                          <a:latin typeface="+mn-lt"/>
                          <a:ea typeface="Verdana" panose="020B0604030504040204" pitchFamily="34" charset="0"/>
                        </a:rPr>
                        <a:t>5 Years</a:t>
                      </a:r>
                      <a:endParaRPr lang="en-US" sz="1200" dirty="0">
                        <a:effectLst/>
                        <a:latin typeface="+mn-lt"/>
                        <a:ea typeface="Verdana" panose="020B0604030504040204" pitchFamily="34" charset="0"/>
                        <a:cs typeface="Times New Roman" panose="02020603050405020304" pitchFamily="18" charset="0"/>
                      </a:endParaRPr>
                    </a:p>
                  </a:txBody>
                  <a:tcPr marL="68578" marR="68578" marT="0" marB="0" anchor="ctr"/>
                </a:tc>
                <a:tc>
                  <a:txBody>
                    <a:bodyPr/>
                    <a:lstStyle/>
                    <a:p>
                      <a:pPr marL="0" marR="0">
                        <a:lnSpc>
                          <a:spcPct val="120000"/>
                        </a:lnSpc>
                        <a:spcBef>
                          <a:spcPts val="0"/>
                        </a:spcBef>
                        <a:spcAft>
                          <a:spcPts val="0"/>
                        </a:spcAft>
                      </a:pPr>
                      <a:r>
                        <a:rPr lang="en-IN" sz="1200" dirty="0">
                          <a:solidFill>
                            <a:srgbClr val="000000"/>
                          </a:solidFill>
                          <a:effectLst/>
                          <a:latin typeface="+mn-lt"/>
                          <a:ea typeface="Verdana" panose="020B0604030504040204" pitchFamily="34" charset="0"/>
                        </a:rPr>
                        <a:t>2 years</a:t>
                      </a:r>
                      <a:endParaRPr lang="en-US" sz="1200" dirty="0">
                        <a:effectLst/>
                        <a:latin typeface="+mn-lt"/>
                        <a:ea typeface="Verdana" panose="020B0604030504040204" pitchFamily="34" charset="0"/>
                        <a:cs typeface="Times New Roman" panose="02020603050405020304" pitchFamily="18" charset="0"/>
                      </a:endParaRPr>
                    </a:p>
                  </a:txBody>
                  <a:tcPr marL="68578" marR="68578" marT="0" marB="0" anchor="ctr"/>
                </a:tc>
                <a:tc>
                  <a:txBody>
                    <a:bodyPr/>
                    <a:lstStyle/>
                    <a:p>
                      <a:pPr marL="0" marR="0">
                        <a:lnSpc>
                          <a:spcPct val="120000"/>
                        </a:lnSpc>
                        <a:spcBef>
                          <a:spcPts val="0"/>
                        </a:spcBef>
                        <a:spcAft>
                          <a:spcPts val="0"/>
                        </a:spcAft>
                      </a:pPr>
                      <a:r>
                        <a:rPr lang="en-IN" sz="1200" dirty="0">
                          <a:solidFill>
                            <a:srgbClr val="000000"/>
                          </a:solidFill>
                          <a:effectLst/>
                          <a:latin typeface="+mn-lt"/>
                          <a:ea typeface="Verdana" panose="020B0604030504040204" pitchFamily="34" charset="0"/>
                        </a:rPr>
                        <a:t>2 years</a:t>
                      </a:r>
                      <a:endParaRPr lang="en-US" sz="1200" dirty="0">
                        <a:effectLst/>
                        <a:latin typeface="+mn-lt"/>
                        <a:ea typeface="Verdana" panose="020B0604030504040204" pitchFamily="34" charset="0"/>
                        <a:cs typeface="Times New Roman" panose="02020603050405020304" pitchFamily="18" charset="0"/>
                      </a:endParaRPr>
                    </a:p>
                  </a:txBody>
                  <a:tcPr marL="68578" marR="68578" marT="0" marB="0" anchor="ctr"/>
                </a:tc>
                <a:extLst>
                  <a:ext uri="{0D108BD9-81ED-4DB2-BD59-A6C34878D82A}">
                    <a16:rowId xmlns:a16="http://schemas.microsoft.com/office/drawing/2014/main" val="3373910201"/>
                  </a:ext>
                </a:extLst>
              </a:tr>
              <a:tr h="1808000">
                <a:tc>
                  <a:txBody>
                    <a:bodyPr/>
                    <a:lstStyle/>
                    <a:p>
                      <a:r>
                        <a:rPr lang="en-US" sz="1400" b="1" kern="1200" dirty="0">
                          <a:solidFill>
                            <a:schemeClr val="dk1"/>
                          </a:solidFill>
                          <a:effectLst/>
                          <a:latin typeface="+mn-lt"/>
                        </a:rPr>
                        <a:t>Activities for IA</a:t>
                      </a:r>
                      <a:endParaRPr lang="en-US" sz="1400" dirty="0">
                        <a:latin typeface="+mn-lt"/>
                      </a:endParaRPr>
                    </a:p>
                  </a:txBody>
                  <a:tcPr marL="91436" marR="91436" marT="45718" marB="45718" anchor="ctr"/>
                </a:tc>
                <a:tc>
                  <a:txBody>
                    <a:bodyPr/>
                    <a:lstStyle/>
                    <a:p>
                      <a:pPr marL="342900" marR="0" lvl="0" indent="-342900">
                        <a:lnSpc>
                          <a:spcPct val="120000"/>
                        </a:lnSpc>
                        <a:spcBef>
                          <a:spcPts val="0"/>
                        </a:spcBef>
                        <a:spcAft>
                          <a:spcPts val="0"/>
                        </a:spcAft>
                        <a:buFont typeface="Arial" panose="020B0604020202020204" pitchFamily="34" charset="0"/>
                        <a:buChar char="•"/>
                        <a:tabLst>
                          <a:tab pos="161290" algn="l"/>
                        </a:tabLst>
                      </a:pPr>
                      <a:r>
                        <a:rPr lang="en-IN" sz="1200" dirty="0">
                          <a:solidFill>
                            <a:srgbClr val="000000"/>
                          </a:solidFill>
                          <a:effectLst/>
                          <a:latin typeface="+mn-lt"/>
                          <a:ea typeface="Verdana" panose="020B0604030504040204" pitchFamily="34" charset="0"/>
                        </a:rPr>
                        <a:t>Identify present </a:t>
                      </a:r>
                      <a:r>
                        <a:rPr lang="en-IN" sz="1200" dirty="0" err="1">
                          <a:solidFill>
                            <a:srgbClr val="000000"/>
                          </a:solidFill>
                          <a:effectLst/>
                          <a:latin typeface="+mn-lt"/>
                          <a:ea typeface="Verdana" panose="020B0604030504040204" pitchFamily="34" charset="0"/>
                        </a:rPr>
                        <a:t>Agro</a:t>
                      </a:r>
                      <a:r>
                        <a:rPr lang="en-IN" sz="1200" dirty="0">
                          <a:solidFill>
                            <a:srgbClr val="000000"/>
                          </a:solidFill>
                          <a:effectLst/>
                          <a:latin typeface="+mn-lt"/>
                          <a:ea typeface="Verdana" panose="020B0604030504040204" pitchFamily="34" charset="0"/>
                        </a:rPr>
                        <a:t> consumptions </a:t>
                      </a:r>
                      <a:endParaRPr lang="en-US" sz="1200" dirty="0">
                        <a:effectLst/>
                        <a:latin typeface="+mn-lt"/>
                        <a:ea typeface="Verdana" panose="020B0604030504040204" pitchFamily="34" charset="0"/>
                      </a:endParaRPr>
                    </a:p>
                    <a:p>
                      <a:pPr marL="342900" marR="0" lvl="0" indent="-342900">
                        <a:lnSpc>
                          <a:spcPct val="120000"/>
                        </a:lnSpc>
                        <a:spcBef>
                          <a:spcPts val="0"/>
                        </a:spcBef>
                        <a:spcAft>
                          <a:spcPts val="0"/>
                        </a:spcAft>
                        <a:buFont typeface="Arial" panose="020B0604020202020204" pitchFamily="34" charset="0"/>
                        <a:buChar char="•"/>
                        <a:tabLst>
                          <a:tab pos="161290" algn="l"/>
                        </a:tabLst>
                      </a:pPr>
                      <a:r>
                        <a:rPr lang="en-IN" sz="1200" dirty="0">
                          <a:solidFill>
                            <a:srgbClr val="000000"/>
                          </a:solidFill>
                          <a:effectLst/>
                          <a:latin typeface="+mn-lt"/>
                          <a:ea typeface="Verdana" panose="020B0604030504040204" pitchFamily="34" charset="0"/>
                        </a:rPr>
                        <a:t>Implementation of central schemes such as KUSUM with MNRE</a:t>
                      </a:r>
                      <a:endParaRPr lang="en-US" sz="1200" dirty="0">
                        <a:effectLst/>
                        <a:latin typeface="+mn-lt"/>
                        <a:ea typeface="Verdana" panose="020B0604030504040204" pitchFamily="34" charset="0"/>
                      </a:endParaRPr>
                    </a:p>
                    <a:p>
                      <a:pPr marL="342900" marR="0" lvl="0" indent="-342900">
                        <a:lnSpc>
                          <a:spcPct val="120000"/>
                        </a:lnSpc>
                        <a:spcBef>
                          <a:spcPts val="0"/>
                        </a:spcBef>
                        <a:spcAft>
                          <a:spcPts val="0"/>
                        </a:spcAft>
                        <a:buFont typeface="Arial" panose="020B0604020202020204" pitchFamily="34" charset="0"/>
                        <a:buChar char="•"/>
                        <a:tabLst>
                          <a:tab pos="161290" algn="l"/>
                        </a:tabLst>
                      </a:pPr>
                      <a:r>
                        <a:rPr lang="en-IN" sz="1200" dirty="0">
                          <a:solidFill>
                            <a:srgbClr val="000000"/>
                          </a:solidFill>
                          <a:effectLst/>
                          <a:latin typeface="+mn-lt"/>
                          <a:ea typeface="Verdana" panose="020B0604030504040204" pitchFamily="34" charset="0"/>
                        </a:rPr>
                        <a:t>WBREDA to prepare detailed plans for solarisation of all Ag-feeders </a:t>
                      </a:r>
                      <a:endParaRPr lang="en-US" sz="1200" dirty="0">
                        <a:effectLst/>
                        <a:latin typeface="+mn-lt"/>
                        <a:ea typeface="Verdana" panose="020B0604030504040204" pitchFamily="34" charset="0"/>
                      </a:endParaRPr>
                    </a:p>
                    <a:p>
                      <a:pPr marL="342900" marR="0" lvl="0" indent="-342900">
                        <a:lnSpc>
                          <a:spcPct val="120000"/>
                        </a:lnSpc>
                        <a:spcBef>
                          <a:spcPts val="0"/>
                        </a:spcBef>
                        <a:spcAft>
                          <a:spcPts val="0"/>
                        </a:spcAft>
                        <a:buFont typeface="Arial" panose="020B0604020202020204" pitchFamily="34" charset="0"/>
                        <a:buChar char="•"/>
                        <a:tabLst>
                          <a:tab pos="161290" algn="l"/>
                        </a:tabLst>
                      </a:pPr>
                      <a:r>
                        <a:rPr lang="en-IN" sz="1200" dirty="0">
                          <a:solidFill>
                            <a:srgbClr val="000000"/>
                          </a:solidFill>
                          <a:effectLst/>
                          <a:latin typeface="+mn-lt"/>
                          <a:ea typeface="Verdana" panose="020B0604030504040204" pitchFamily="34" charset="0"/>
                        </a:rPr>
                        <a:t>DISCOMs to solarise </a:t>
                      </a:r>
                      <a:r>
                        <a:rPr lang="en-IN" sz="1200" dirty="0" err="1">
                          <a:solidFill>
                            <a:srgbClr val="000000"/>
                          </a:solidFill>
                          <a:effectLst/>
                          <a:latin typeface="+mn-lt"/>
                          <a:ea typeface="Verdana" panose="020B0604030504040204" pitchFamily="34" charset="0"/>
                        </a:rPr>
                        <a:t>agro</a:t>
                      </a:r>
                      <a:r>
                        <a:rPr lang="en-IN" sz="1200" dirty="0">
                          <a:solidFill>
                            <a:srgbClr val="000000"/>
                          </a:solidFill>
                          <a:effectLst/>
                          <a:latin typeface="+mn-lt"/>
                          <a:ea typeface="Verdana" panose="020B0604030504040204" pitchFamily="34" charset="0"/>
                        </a:rPr>
                        <a:t>-feeders.</a:t>
                      </a:r>
                      <a:endParaRPr lang="en-US" sz="1200" dirty="0">
                        <a:effectLst/>
                        <a:latin typeface="+mn-lt"/>
                        <a:ea typeface="Verdana" panose="020B0604030504040204" pitchFamily="34" charset="0"/>
                        <a:cs typeface="Times New Roman" panose="02020603050405020304" pitchFamily="18" charset="0"/>
                      </a:endParaRPr>
                    </a:p>
                  </a:txBody>
                  <a:tcPr marL="68578" marR="68578" marT="0" marB="0" anchor="ctr"/>
                </a:tc>
                <a:tc>
                  <a:txBody>
                    <a:bodyPr/>
                    <a:lstStyle/>
                    <a:p>
                      <a:pPr marL="342900" marR="0" lvl="0" indent="-342900" algn="just">
                        <a:lnSpc>
                          <a:spcPct val="120000"/>
                        </a:lnSpc>
                        <a:spcBef>
                          <a:spcPts val="0"/>
                        </a:spcBef>
                        <a:spcAft>
                          <a:spcPts val="0"/>
                        </a:spcAft>
                        <a:buFont typeface="Arial" panose="020B0604020202020204" pitchFamily="34" charset="0"/>
                        <a:buChar char="•"/>
                        <a:tabLst>
                          <a:tab pos="111125" algn="l"/>
                          <a:tab pos="457200" algn="l"/>
                        </a:tabLst>
                      </a:pPr>
                      <a:r>
                        <a:rPr lang="en-IN" sz="1200" dirty="0">
                          <a:solidFill>
                            <a:srgbClr val="000000"/>
                          </a:solidFill>
                          <a:effectLst/>
                          <a:latin typeface="+mn-lt"/>
                          <a:ea typeface="Verdana" panose="020B0604030504040204" pitchFamily="34" charset="0"/>
                        </a:rPr>
                        <a:t>Act as a nodal point for Co-ordination with MNRE for implementation of Solar city schemes </a:t>
                      </a:r>
                      <a:endParaRPr lang="en-US" sz="1200" dirty="0">
                        <a:effectLst/>
                        <a:latin typeface="+mn-lt"/>
                        <a:ea typeface="Verdana" panose="020B0604030504040204" pitchFamily="34" charset="0"/>
                      </a:endParaRPr>
                    </a:p>
                    <a:p>
                      <a:pPr marL="342900" marR="0" lvl="0" indent="-342900" algn="just">
                        <a:lnSpc>
                          <a:spcPct val="120000"/>
                        </a:lnSpc>
                        <a:spcBef>
                          <a:spcPts val="0"/>
                        </a:spcBef>
                        <a:spcAft>
                          <a:spcPts val="0"/>
                        </a:spcAft>
                        <a:buFont typeface="Arial" panose="020B0604020202020204" pitchFamily="34" charset="0"/>
                        <a:buChar char="•"/>
                        <a:tabLst>
                          <a:tab pos="111125" algn="l"/>
                          <a:tab pos="457200" algn="l"/>
                        </a:tabLst>
                      </a:pPr>
                      <a:r>
                        <a:rPr lang="en-IN" sz="1200" dirty="0">
                          <a:solidFill>
                            <a:srgbClr val="000000"/>
                          </a:solidFill>
                          <a:effectLst/>
                          <a:latin typeface="+mn-lt"/>
                          <a:ea typeface="Verdana" panose="020B0604030504040204" pitchFamily="34" charset="0"/>
                        </a:rPr>
                        <a:t>Identify priority city and prepare detailed DPR </a:t>
                      </a:r>
                      <a:endParaRPr lang="en-US" sz="1200" dirty="0">
                        <a:effectLst/>
                        <a:latin typeface="+mn-lt"/>
                        <a:ea typeface="Verdana" panose="020B0604030504040204" pitchFamily="34" charset="0"/>
                      </a:endParaRPr>
                    </a:p>
                    <a:p>
                      <a:pPr marL="342900" marR="0" lvl="0" indent="-342900" algn="just">
                        <a:lnSpc>
                          <a:spcPct val="120000"/>
                        </a:lnSpc>
                        <a:spcBef>
                          <a:spcPts val="0"/>
                        </a:spcBef>
                        <a:spcAft>
                          <a:spcPts val="0"/>
                        </a:spcAft>
                        <a:buFont typeface="Arial" panose="020B0604020202020204" pitchFamily="34" charset="0"/>
                        <a:buChar char="•"/>
                        <a:tabLst>
                          <a:tab pos="111125" algn="l"/>
                          <a:tab pos="457200" algn="l"/>
                        </a:tabLst>
                      </a:pPr>
                      <a:r>
                        <a:rPr lang="en-IN" sz="1200" dirty="0">
                          <a:solidFill>
                            <a:srgbClr val="000000"/>
                          </a:solidFill>
                          <a:effectLst/>
                          <a:latin typeface="+mn-lt"/>
                          <a:ea typeface="Verdana" panose="020B0604030504040204" pitchFamily="34" charset="0"/>
                        </a:rPr>
                        <a:t>Coordinate with DISCOMS and WBSETCL </a:t>
                      </a:r>
                      <a:endParaRPr lang="en-US" sz="1200" dirty="0">
                        <a:effectLst/>
                        <a:latin typeface="+mn-lt"/>
                        <a:ea typeface="Verdana" panose="020B0604030504040204" pitchFamily="34" charset="0"/>
                        <a:cs typeface="Times New Roman" panose="02020603050405020304" pitchFamily="18" charset="0"/>
                      </a:endParaRPr>
                    </a:p>
                  </a:txBody>
                  <a:tcPr marL="68578" marR="68578" marT="0" marB="0" anchor="ctr"/>
                </a:tc>
                <a:tc>
                  <a:txBody>
                    <a:bodyPr/>
                    <a:lstStyle/>
                    <a:p>
                      <a:pPr marL="342900" marR="0" lvl="0" indent="-342900" algn="just">
                        <a:lnSpc>
                          <a:spcPct val="120000"/>
                        </a:lnSpc>
                        <a:spcBef>
                          <a:spcPts val="0"/>
                        </a:spcBef>
                        <a:spcAft>
                          <a:spcPts val="0"/>
                        </a:spcAft>
                        <a:buFont typeface="Arial" panose="020B0604020202020204" pitchFamily="34" charset="0"/>
                        <a:buChar char="•"/>
                        <a:tabLst>
                          <a:tab pos="21590" algn="l"/>
                          <a:tab pos="111760" algn="l"/>
                        </a:tabLst>
                      </a:pPr>
                      <a:r>
                        <a:rPr lang="en-IN" sz="1200" dirty="0">
                          <a:solidFill>
                            <a:srgbClr val="000000"/>
                          </a:solidFill>
                          <a:effectLst/>
                          <a:latin typeface="+mn-lt"/>
                          <a:ea typeface="Verdana" panose="020B0604030504040204" pitchFamily="34" charset="0"/>
                        </a:rPr>
                        <a:t>Choose suitable sites vertical PV</a:t>
                      </a:r>
                      <a:endParaRPr lang="en-US" sz="1200" dirty="0">
                        <a:effectLst/>
                        <a:latin typeface="+mn-lt"/>
                        <a:ea typeface="Verdana" panose="020B0604030504040204" pitchFamily="34" charset="0"/>
                      </a:endParaRPr>
                    </a:p>
                    <a:p>
                      <a:pPr marL="342900" marR="0" lvl="0" indent="-342900" algn="just">
                        <a:lnSpc>
                          <a:spcPct val="120000"/>
                        </a:lnSpc>
                        <a:spcBef>
                          <a:spcPts val="0"/>
                        </a:spcBef>
                        <a:spcAft>
                          <a:spcPts val="0"/>
                        </a:spcAft>
                        <a:buFont typeface="Arial" panose="020B0604020202020204" pitchFamily="34" charset="0"/>
                        <a:buChar char="•"/>
                        <a:tabLst>
                          <a:tab pos="21590" algn="l"/>
                          <a:tab pos="111760" algn="l"/>
                        </a:tabLst>
                      </a:pPr>
                      <a:r>
                        <a:rPr lang="en-IN" sz="1200" dirty="0">
                          <a:solidFill>
                            <a:srgbClr val="000000"/>
                          </a:solidFill>
                          <a:effectLst/>
                          <a:latin typeface="+mn-lt"/>
                          <a:ea typeface="Verdana" panose="020B0604030504040204" pitchFamily="34" charset="0"/>
                        </a:rPr>
                        <a:t> Prepare DPR for each project.</a:t>
                      </a:r>
                      <a:endParaRPr lang="en-US" sz="1200" dirty="0">
                        <a:effectLst/>
                        <a:latin typeface="+mn-lt"/>
                        <a:ea typeface="Verdana" panose="020B0604030504040204" pitchFamily="34" charset="0"/>
                      </a:endParaRPr>
                    </a:p>
                    <a:p>
                      <a:pPr marL="342900" marR="0" lvl="0" indent="-342900" algn="just">
                        <a:lnSpc>
                          <a:spcPct val="120000"/>
                        </a:lnSpc>
                        <a:spcBef>
                          <a:spcPts val="0"/>
                        </a:spcBef>
                        <a:spcAft>
                          <a:spcPts val="0"/>
                        </a:spcAft>
                        <a:buFont typeface="Arial" panose="020B0604020202020204" pitchFamily="34" charset="0"/>
                        <a:buChar char="•"/>
                        <a:tabLst>
                          <a:tab pos="21590" algn="l"/>
                          <a:tab pos="111760" algn="l"/>
                        </a:tabLst>
                      </a:pPr>
                      <a:r>
                        <a:rPr lang="en-IN" sz="1200" dirty="0">
                          <a:solidFill>
                            <a:srgbClr val="000000"/>
                          </a:solidFill>
                          <a:effectLst/>
                          <a:latin typeface="+mn-lt"/>
                          <a:ea typeface="Verdana" panose="020B0604030504040204" pitchFamily="34" charset="0"/>
                        </a:rPr>
                        <a:t>Engage with prospective funding agencies to implement the project </a:t>
                      </a:r>
                      <a:endParaRPr lang="en-US" sz="1200" dirty="0">
                        <a:effectLst/>
                        <a:latin typeface="+mn-lt"/>
                        <a:ea typeface="Verdana" panose="020B0604030504040204" pitchFamily="34" charset="0"/>
                        <a:cs typeface="Times New Roman" panose="02020603050405020304" pitchFamily="18" charset="0"/>
                      </a:endParaRPr>
                    </a:p>
                  </a:txBody>
                  <a:tcPr marL="68578" marR="68578" marT="0" marB="0" anchor="ctr"/>
                </a:tc>
                <a:extLst>
                  <a:ext uri="{0D108BD9-81ED-4DB2-BD59-A6C34878D82A}">
                    <a16:rowId xmlns:a16="http://schemas.microsoft.com/office/drawing/2014/main" val="3516392007"/>
                  </a:ext>
                </a:extLst>
              </a:tr>
            </a:tbl>
          </a:graphicData>
        </a:graphic>
      </p:graphicFrame>
      <p:sp>
        <p:nvSpPr>
          <p:cNvPr id="5" name="Title 1">
            <a:extLst>
              <a:ext uri="{FF2B5EF4-FFF2-40B4-BE49-F238E27FC236}">
                <a16:creationId xmlns:a16="http://schemas.microsoft.com/office/drawing/2014/main" id="{3A3D479B-FEA9-4CF9-B2B3-D2F4831CF46B}"/>
              </a:ext>
            </a:extLst>
          </p:cNvPr>
          <p:cNvSpPr>
            <a:spLocks noGrp="1"/>
          </p:cNvSpPr>
          <p:nvPr>
            <p:ph type="title"/>
          </p:nvPr>
        </p:nvSpPr>
        <p:spPr>
          <a:xfrm>
            <a:off x="448112" y="300827"/>
            <a:ext cx="11295776" cy="459461"/>
          </a:xfrm>
        </p:spPr>
        <p:txBody>
          <a:bodyPr>
            <a:noAutofit/>
          </a:bodyPr>
          <a:lstStyle/>
          <a:p>
            <a:r>
              <a:rPr lang="en-US" sz="1800" b="1" i="0" dirty="0">
                <a:solidFill>
                  <a:schemeClr val="tx1"/>
                </a:solidFill>
                <a:latin typeface="+mj-lt"/>
                <a:ea typeface="Verdana" panose="020B0604030504040204" pitchFamily="34" charset="0"/>
              </a:rPr>
              <a:t>Promotion of </a:t>
            </a:r>
            <a:r>
              <a:rPr lang="en-US" sz="1800" i="0" dirty="0">
                <a:solidFill>
                  <a:schemeClr val="tx1"/>
                </a:solidFill>
                <a:latin typeface="+mj-lt"/>
                <a:ea typeface="Verdana" panose="020B0604030504040204" pitchFamily="34" charset="0"/>
              </a:rPr>
              <a:t>I</a:t>
            </a:r>
            <a:r>
              <a:rPr lang="en-US" sz="1800" b="1" i="0" dirty="0">
                <a:solidFill>
                  <a:schemeClr val="tx1"/>
                </a:solidFill>
                <a:latin typeface="+mj-lt"/>
                <a:ea typeface="Verdana" panose="020B0604030504040204" pitchFamily="34" charset="0"/>
              </a:rPr>
              <a:t>nnovative Solar </a:t>
            </a:r>
            <a:r>
              <a:rPr lang="en-US" sz="1800" i="0" dirty="0">
                <a:solidFill>
                  <a:schemeClr val="tx1"/>
                </a:solidFill>
                <a:latin typeface="+mj-lt"/>
                <a:ea typeface="Verdana" panose="020B0604030504040204" pitchFamily="34" charset="0"/>
              </a:rPr>
              <a:t>T</a:t>
            </a:r>
            <a:r>
              <a:rPr lang="en-US" sz="1800" b="1" i="0" dirty="0">
                <a:solidFill>
                  <a:schemeClr val="tx1"/>
                </a:solidFill>
                <a:latin typeface="+mj-lt"/>
                <a:ea typeface="Verdana" panose="020B0604030504040204" pitchFamily="34" charset="0"/>
              </a:rPr>
              <a:t>echnologies </a:t>
            </a:r>
            <a:r>
              <a:rPr lang="en-US" sz="1800" i="0" dirty="0">
                <a:solidFill>
                  <a:schemeClr val="tx1"/>
                </a:solidFill>
                <a:latin typeface="+mj-lt"/>
                <a:ea typeface="Verdana" panose="020B0604030504040204" pitchFamily="34" charset="0"/>
              </a:rPr>
              <a:t>P</a:t>
            </a:r>
            <a:r>
              <a:rPr lang="en-US" sz="1800" b="1" i="0" dirty="0">
                <a:solidFill>
                  <a:schemeClr val="tx1"/>
                </a:solidFill>
                <a:latin typeface="+mj-lt"/>
                <a:ea typeface="Verdana" panose="020B0604030504040204" pitchFamily="34" charset="0"/>
              </a:rPr>
              <a:t>roposed in Draft WB RE Policy 2022 </a:t>
            </a:r>
          </a:p>
        </p:txBody>
      </p:sp>
    </p:spTree>
    <p:extLst>
      <p:ext uri="{BB962C8B-B14F-4D97-AF65-F5344CB8AC3E}">
        <p14:creationId xmlns:p14="http://schemas.microsoft.com/office/powerpoint/2010/main" val="166290129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5B5AFD3-5150-4098-A3EB-C74D71E5DA91}"/>
              </a:ext>
            </a:extLst>
          </p:cNvPr>
          <p:cNvGrpSpPr/>
          <p:nvPr/>
        </p:nvGrpSpPr>
        <p:grpSpPr>
          <a:xfrm>
            <a:off x="1041745" y="1130371"/>
            <a:ext cx="10108510" cy="5144434"/>
            <a:chOff x="770711" y="1703747"/>
            <a:chExt cx="11147440" cy="5673168"/>
          </a:xfrm>
        </p:grpSpPr>
        <p:sp>
          <p:nvSpPr>
            <p:cNvPr id="4" name="Rectangular Callout 17">
              <a:extLst>
                <a:ext uri="{FF2B5EF4-FFF2-40B4-BE49-F238E27FC236}">
                  <a16:creationId xmlns:a16="http://schemas.microsoft.com/office/drawing/2014/main" id="{55E80556-6BFB-4F65-B82C-C5A4840117F1}"/>
                </a:ext>
              </a:extLst>
            </p:cNvPr>
            <p:cNvSpPr/>
            <p:nvPr/>
          </p:nvSpPr>
          <p:spPr bwMode="gray">
            <a:xfrm>
              <a:off x="7309123" y="1703747"/>
              <a:ext cx="4609028" cy="670540"/>
            </a:xfrm>
            <a:prstGeom prst="wedgeRectCallout">
              <a:avLst>
                <a:gd name="adj1" fmla="val -60256"/>
                <a:gd name="adj2" fmla="val 39198"/>
              </a:avLst>
            </a:prstGeom>
            <a:solidFill>
              <a:schemeClr val="accent1">
                <a:lumMod val="20000"/>
                <a:lumOff val="80000"/>
              </a:schemeClr>
            </a:solidFill>
            <a:ln w="6350" algn="ctr">
              <a:solidFill>
                <a:schemeClr val="accent1"/>
              </a:solidFill>
              <a:miter lim="800000"/>
              <a:headEnd/>
              <a:tailEnd/>
            </a:ln>
          </p:spPr>
          <p:txBody>
            <a:bodyPr wrap="square" lIns="73149" tIns="73149" rIns="73149" bIns="73149" rtlCol="0" anchor="ctr">
              <a:spAutoFit/>
            </a:bodyPr>
            <a:lstStyle/>
            <a:p>
              <a:pPr marL="91434" marR="0" lvl="0" indent="-91434" algn="l" defTabSz="913621"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997" b="1" i="0"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rPr>
                <a:t>100% exemption from </a:t>
              </a:r>
              <a:r>
                <a:rPr kumimoji="0" lang="en-US" sz="997"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Land Mutation &amp; Conversion Fees</a:t>
              </a:r>
              <a:r>
                <a:rPr kumimoji="0" lang="en-US" sz="997"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for privately purchased lands to set up the Units within the Policy Period </a:t>
              </a:r>
            </a:p>
          </p:txBody>
        </p:sp>
        <p:sp>
          <p:nvSpPr>
            <p:cNvPr id="5" name="Rectangular Callout 18">
              <a:extLst>
                <a:ext uri="{FF2B5EF4-FFF2-40B4-BE49-F238E27FC236}">
                  <a16:creationId xmlns:a16="http://schemas.microsoft.com/office/drawing/2014/main" id="{F3BBF3F6-DEBA-4D92-9853-67C292301D3D}"/>
                </a:ext>
              </a:extLst>
            </p:cNvPr>
            <p:cNvSpPr/>
            <p:nvPr/>
          </p:nvSpPr>
          <p:spPr bwMode="gray">
            <a:xfrm>
              <a:off x="8830876" y="3011099"/>
              <a:ext cx="3087275" cy="716784"/>
            </a:xfrm>
            <a:prstGeom prst="wedgeRectCallout">
              <a:avLst>
                <a:gd name="adj1" fmla="val -66671"/>
                <a:gd name="adj2" fmla="val -7275"/>
              </a:avLst>
            </a:prstGeom>
            <a:solidFill>
              <a:schemeClr val="accent1">
                <a:lumMod val="20000"/>
                <a:lumOff val="80000"/>
              </a:schemeClr>
            </a:solidFill>
            <a:ln w="6350" algn="ctr">
              <a:solidFill>
                <a:schemeClr val="accent2"/>
              </a:solidFill>
              <a:miter lim="800000"/>
              <a:headEnd/>
              <a:tailEnd/>
            </a:ln>
          </p:spPr>
          <p:txBody>
            <a:bodyPr wrap="square" lIns="73149" tIns="73149" rIns="73149" bIns="73149" rtlCol="0" anchor="ctr">
              <a:spAutoFit/>
            </a:bodyPr>
            <a:lstStyle/>
            <a:p>
              <a:pPr marL="91434" marR="0" lvl="0" indent="-91434" algn="l" defTabSz="913621"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88" b="1" i="0"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rPr>
                <a:t>100% exemption from </a:t>
              </a:r>
              <a:r>
                <a:rPr kumimoji="0" lang="en-US" sz="1088"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Stamp Duty</a:t>
              </a:r>
              <a:r>
                <a:rPr kumimoji="0" lang="en-US" sz="1088"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For all transactions of deeds within the Policy Period</a:t>
              </a:r>
            </a:p>
          </p:txBody>
        </p:sp>
        <p:sp>
          <p:nvSpPr>
            <p:cNvPr id="6" name="Rectangular Callout 19">
              <a:extLst>
                <a:ext uri="{FF2B5EF4-FFF2-40B4-BE49-F238E27FC236}">
                  <a16:creationId xmlns:a16="http://schemas.microsoft.com/office/drawing/2014/main" id="{9B0831F2-E971-46EF-BB6F-21E7CD7A2DD8}"/>
                </a:ext>
              </a:extLst>
            </p:cNvPr>
            <p:cNvSpPr/>
            <p:nvPr/>
          </p:nvSpPr>
          <p:spPr bwMode="gray">
            <a:xfrm>
              <a:off x="9220751" y="4440372"/>
              <a:ext cx="2697400" cy="839748"/>
            </a:xfrm>
            <a:prstGeom prst="wedgeRectCallout">
              <a:avLst>
                <a:gd name="adj1" fmla="val -65289"/>
                <a:gd name="adj2" fmla="val -17249"/>
              </a:avLst>
            </a:prstGeom>
            <a:solidFill>
              <a:schemeClr val="accent1">
                <a:lumMod val="20000"/>
                <a:lumOff val="80000"/>
              </a:schemeClr>
            </a:solidFill>
            <a:ln w="6350" algn="ctr">
              <a:solidFill>
                <a:schemeClr val="accent3"/>
              </a:solidFill>
              <a:miter lim="800000"/>
              <a:headEnd/>
              <a:tailEnd/>
            </a:ln>
          </p:spPr>
          <p:txBody>
            <a:bodyPr wrap="square" lIns="73149" tIns="73149" rIns="73149" bIns="73149" rtlCol="0" anchor="ctr">
              <a:spAutoFit/>
            </a:bodyPr>
            <a:lstStyle/>
            <a:p>
              <a:pPr marL="91434" marR="0" lvl="0" indent="-91434" algn="l" defTabSz="913621"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997" b="1" i="0"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rPr>
                <a:t>100% exemption from a</a:t>
              </a:r>
              <a:r>
                <a:rPr kumimoji="0" lang="en-US" sz="997"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ny additional Charge</a:t>
              </a:r>
              <a:r>
                <a:rPr kumimoji="0" lang="en-US" sz="997"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levy by any State Agency for supplying water to the Unit. </a:t>
              </a:r>
              <a:endParaRPr kumimoji="0" lang="en-US" sz="997" b="0" i="0"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endParaRPr>
            </a:p>
          </p:txBody>
        </p:sp>
        <p:sp>
          <p:nvSpPr>
            <p:cNvPr id="7" name="Rectangular Callout 20">
              <a:extLst>
                <a:ext uri="{FF2B5EF4-FFF2-40B4-BE49-F238E27FC236}">
                  <a16:creationId xmlns:a16="http://schemas.microsoft.com/office/drawing/2014/main" id="{43CDF49D-131F-4EB2-817A-602D999E087A}"/>
                </a:ext>
              </a:extLst>
            </p:cNvPr>
            <p:cNvSpPr/>
            <p:nvPr/>
          </p:nvSpPr>
          <p:spPr bwMode="gray">
            <a:xfrm>
              <a:off x="8025766" y="6198748"/>
              <a:ext cx="3892385" cy="1178167"/>
            </a:xfrm>
            <a:prstGeom prst="wedgeRectCallout">
              <a:avLst>
                <a:gd name="adj1" fmla="val -58915"/>
                <a:gd name="adj2" fmla="val -39733"/>
              </a:avLst>
            </a:prstGeom>
            <a:solidFill>
              <a:schemeClr val="accent1">
                <a:lumMod val="20000"/>
                <a:lumOff val="80000"/>
              </a:schemeClr>
            </a:solidFill>
            <a:ln w="6350" algn="ctr">
              <a:solidFill>
                <a:schemeClr val="accent4"/>
              </a:solidFill>
              <a:miter lim="800000"/>
              <a:headEnd/>
              <a:tailEnd/>
            </a:ln>
          </p:spPr>
          <p:txBody>
            <a:bodyPr wrap="square" lIns="73149" tIns="73149" rIns="73149" bIns="73149" rtlCol="0" anchor="ctr">
              <a:spAutoFit/>
            </a:bodyPr>
            <a:lstStyle/>
            <a:p>
              <a:pPr marL="91434" marR="0" lvl="0" indent="-91434" algn="l" defTabSz="913621"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997"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New units being established and registered</a:t>
              </a:r>
              <a:r>
                <a:rPr kumimoji="0" lang="en-US" sz="997"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within the Policy Period </a:t>
              </a:r>
              <a:r>
                <a:rPr kumimoji="0" lang="en-US" sz="997"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which become operational within two years before the Policy End Date</a:t>
              </a:r>
              <a:r>
                <a:rPr kumimoji="0" lang="en-US" sz="997"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are </a:t>
              </a:r>
              <a:r>
                <a:rPr kumimoji="0" lang="en-US" sz="997"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eligible for electricity duty exemption for a period of five years from date of the commercial operations</a:t>
              </a:r>
              <a:endParaRPr kumimoji="0" lang="en-US" sz="997" b="1" i="0" u="none" strike="noStrike" kern="1200" cap="none" spc="0" normalizeH="0" baseline="0" noProof="0" dirty="0">
                <a:ln>
                  <a:noFill/>
                </a:ln>
                <a:solidFill>
                  <a:srgbClr val="313131"/>
                </a:solidFill>
                <a:effectLst/>
                <a:uLnTx/>
                <a:uFillTx/>
                <a:latin typeface="Calibri" panose="020F0502020204030204"/>
                <a:ea typeface="+mn-ea"/>
                <a:cs typeface="+mn-cs"/>
              </a:endParaRPr>
            </a:p>
          </p:txBody>
        </p:sp>
        <p:sp>
          <p:nvSpPr>
            <p:cNvPr id="8" name="Rectangular Callout 21">
              <a:extLst>
                <a:ext uri="{FF2B5EF4-FFF2-40B4-BE49-F238E27FC236}">
                  <a16:creationId xmlns:a16="http://schemas.microsoft.com/office/drawing/2014/main" id="{BCBC27C9-854C-4815-9527-C7993EF74B42}"/>
                </a:ext>
              </a:extLst>
            </p:cNvPr>
            <p:cNvSpPr/>
            <p:nvPr/>
          </p:nvSpPr>
          <p:spPr bwMode="gray">
            <a:xfrm>
              <a:off x="834401" y="6144050"/>
              <a:ext cx="3959619" cy="1178167"/>
            </a:xfrm>
            <a:prstGeom prst="wedgeRectCallout">
              <a:avLst>
                <a:gd name="adj1" fmla="val 59724"/>
                <a:gd name="adj2" fmla="val -40042"/>
              </a:avLst>
            </a:prstGeom>
            <a:solidFill>
              <a:schemeClr val="accent1">
                <a:lumMod val="20000"/>
                <a:lumOff val="80000"/>
              </a:schemeClr>
            </a:solidFill>
            <a:ln w="6350" algn="ctr">
              <a:solidFill>
                <a:schemeClr val="accent5"/>
              </a:solidFill>
              <a:miter lim="800000"/>
              <a:headEnd/>
              <a:tailEnd/>
            </a:ln>
          </p:spPr>
          <p:txBody>
            <a:bodyPr wrap="square" lIns="73149" tIns="73149" rIns="73149" bIns="73149" rtlCol="0" anchor="ctr">
              <a:spAutoFit/>
            </a:bodyPr>
            <a:lstStyle/>
            <a:p>
              <a:pPr marL="0" marR="0" lvl="0" indent="0" algn="l" defTabSz="913621" rtl="0" eaLnBrk="1" fontAlgn="auto" latinLnBrk="0" hangingPunct="1">
                <a:lnSpc>
                  <a:spcPct val="100000"/>
                </a:lnSpc>
                <a:spcBef>
                  <a:spcPts val="0"/>
                </a:spcBef>
                <a:spcAft>
                  <a:spcPts val="0"/>
                </a:spcAft>
                <a:buClrTx/>
                <a:buSzPct val="100000"/>
                <a:buFontTx/>
                <a:buNone/>
                <a:tabLst/>
                <a:defRPr/>
              </a:pPr>
              <a:r>
                <a:rPr kumimoji="0" lang="en-US" sz="997" b="0" i="0"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rPr>
                <a:t>Eligible units (operational) </a:t>
              </a:r>
              <a:r>
                <a:rPr kumimoji="0" lang="en-US" sz="997"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shall be given </a:t>
              </a:r>
              <a:r>
                <a:rPr kumimoji="0" lang="en-US" sz="997"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subsidy for 5 years 100% costs of skill development would be borne through State budgetary grant for minorities</a:t>
              </a:r>
              <a:r>
                <a:rPr kumimoji="0" lang="en-US" sz="997"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domiciled in West Bengal. development are undertaken or endorsed by the State Technical Education and Training Department </a:t>
              </a:r>
              <a:r>
                <a:rPr kumimoji="0" lang="en-US" sz="997"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GoWB</a:t>
              </a:r>
              <a:r>
                <a:rPr kumimoji="0" lang="en-US" sz="997"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a:t>
              </a:r>
              <a:endParaRPr kumimoji="0" lang="en-US" sz="997" b="0" i="0"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endParaRPr>
            </a:p>
          </p:txBody>
        </p:sp>
        <p:sp>
          <p:nvSpPr>
            <p:cNvPr id="9" name="Rectangular Callout 22">
              <a:extLst>
                <a:ext uri="{FF2B5EF4-FFF2-40B4-BE49-F238E27FC236}">
                  <a16:creationId xmlns:a16="http://schemas.microsoft.com/office/drawing/2014/main" id="{44CECBAE-02CB-4743-83EE-9C1DE87C8BC0}"/>
                </a:ext>
              </a:extLst>
            </p:cNvPr>
            <p:cNvSpPr/>
            <p:nvPr/>
          </p:nvSpPr>
          <p:spPr bwMode="gray">
            <a:xfrm>
              <a:off x="770711" y="4100874"/>
              <a:ext cx="2981506" cy="1516586"/>
            </a:xfrm>
            <a:prstGeom prst="wedgeRectCallout">
              <a:avLst>
                <a:gd name="adj1" fmla="val 65675"/>
                <a:gd name="adj2" fmla="val -5801"/>
              </a:avLst>
            </a:prstGeom>
            <a:solidFill>
              <a:schemeClr val="accent1">
                <a:lumMod val="20000"/>
                <a:lumOff val="80000"/>
              </a:schemeClr>
            </a:solidFill>
            <a:ln w="6350" algn="ctr">
              <a:solidFill>
                <a:schemeClr val="accent6"/>
              </a:solidFill>
              <a:miter lim="800000"/>
              <a:headEnd/>
              <a:tailEnd/>
            </a:ln>
          </p:spPr>
          <p:txBody>
            <a:bodyPr wrap="square" lIns="73149" tIns="73149" rIns="73149" bIns="73149" rtlCol="0" anchor="ctr">
              <a:spAutoFit/>
            </a:bodyPr>
            <a:lstStyle/>
            <a:p>
              <a:pPr marL="91434" marR="0" lvl="0" indent="-91434" algn="l" defTabSz="913621"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997" b="0" i="0"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rPr>
                <a:t>Eligible units will get </a:t>
              </a:r>
              <a:r>
                <a:rPr kumimoji="0" lang="en-US" sz="997"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50% of employer's contribution of EPF and ESI for five years from CCP</a:t>
              </a:r>
              <a:r>
                <a:rPr kumimoji="0" lang="en-US" sz="997"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 </a:t>
              </a:r>
              <a:r>
                <a:rPr kumimoji="0" lang="en-US" sz="997"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100% of employer’s contribution</a:t>
              </a:r>
              <a:r>
                <a:rPr kumimoji="0" lang="en-US" sz="997"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of </a:t>
              </a:r>
              <a:r>
                <a:rPr kumimoji="0" lang="en-US" sz="997"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EPF and ESI for five years particularly for Women</a:t>
              </a:r>
              <a:r>
                <a:rPr kumimoji="0" lang="en-US" sz="997"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en-US" sz="997"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Specially Abled and Transgenders</a:t>
              </a:r>
              <a:r>
                <a:rPr kumimoji="0" lang="en-US" sz="997"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who are domiciled in the state of West Bengal</a:t>
              </a:r>
              <a:endParaRPr kumimoji="0" lang="en-US" sz="997" b="0" i="0"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endParaRPr>
            </a:p>
          </p:txBody>
        </p:sp>
        <p:sp>
          <p:nvSpPr>
            <p:cNvPr id="10" name="Rectangular Callout 23">
              <a:extLst>
                <a:ext uri="{FF2B5EF4-FFF2-40B4-BE49-F238E27FC236}">
                  <a16:creationId xmlns:a16="http://schemas.microsoft.com/office/drawing/2014/main" id="{6998FE6C-0C51-4F4D-8A8A-BB179CDEACCD}"/>
                </a:ext>
              </a:extLst>
            </p:cNvPr>
            <p:cNvSpPr/>
            <p:nvPr/>
          </p:nvSpPr>
          <p:spPr bwMode="gray">
            <a:xfrm>
              <a:off x="770711" y="1846009"/>
              <a:ext cx="3712048" cy="1685797"/>
            </a:xfrm>
            <a:prstGeom prst="wedgeRectCallout">
              <a:avLst>
                <a:gd name="adj1" fmla="val 62002"/>
                <a:gd name="adj2" fmla="val -53"/>
              </a:avLst>
            </a:prstGeom>
            <a:solidFill>
              <a:schemeClr val="accent1">
                <a:lumMod val="20000"/>
                <a:lumOff val="80000"/>
              </a:schemeClr>
            </a:solidFill>
            <a:ln w="6350" algn="ctr">
              <a:solidFill>
                <a:schemeClr val="tx2"/>
              </a:solidFill>
              <a:miter lim="800000"/>
              <a:headEnd/>
              <a:tailEnd/>
            </a:ln>
          </p:spPr>
          <p:txBody>
            <a:bodyPr wrap="square" lIns="73149" tIns="73149" rIns="73149" bIns="73149" rtlCol="0" anchor="ctr">
              <a:spAutoFit/>
            </a:bodyPr>
            <a:lstStyle/>
            <a:p>
              <a:pPr marL="0" marR="0" lvl="0" indent="0" algn="l" defTabSz="913621" rtl="0" eaLnBrk="1" fontAlgn="auto" latinLnBrk="0" hangingPunct="1">
                <a:lnSpc>
                  <a:spcPct val="100000"/>
                </a:lnSpc>
                <a:spcBef>
                  <a:spcPts val="0"/>
                </a:spcBef>
                <a:spcAft>
                  <a:spcPts val="0"/>
                </a:spcAft>
                <a:buClrTx/>
                <a:buSzPct val="100000"/>
                <a:buFontTx/>
                <a:buNone/>
                <a:tabLst/>
                <a:defRPr/>
              </a:pPr>
              <a:r>
                <a:rPr kumimoji="0" lang="en-US" sz="997" b="0" i="0"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rPr>
                <a:t>Operational Eligible units </a:t>
              </a:r>
              <a:r>
                <a:rPr kumimoji="0" lang="en-US" sz="997"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shall be given subsidy for 5 years</a:t>
              </a:r>
              <a:endParaRPr kumimoji="0" lang="en-US" sz="997" b="1" i="0"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endParaRPr>
            </a:p>
            <a:p>
              <a:pPr marL="91434" marR="0" lvl="0" indent="-91434" algn="l" defTabSz="913621"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997" b="1" i="0"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rPr>
                <a:t>100% net SGST reimbursement</a:t>
              </a:r>
              <a:r>
                <a:rPr kumimoji="0" lang="en-US" sz="997" b="0" i="0"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rPr>
                <a:t> (FCI) for Large Units </a:t>
              </a:r>
              <a:r>
                <a:rPr kumimoji="0" lang="en-US" sz="997" b="1" i="0"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rPr>
                <a:t>having FCI of over Rs.500 Cr</a:t>
              </a:r>
              <a:r>
                <a:rPr kumimoji="0" lang="en-US" sz="997" b="0" i="0"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rPr>
                <a:t> </a:t>
              </a:r>
            </a:p>
            <a:p>
              <a:pPr marL="91434" marR="0" lvl="0" indent="-91434" algn="l" defTabSz="913621"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997" b="1" i="0"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rPr>
                <a:t>50% of net SGST reimbursement</a:t>
              </a:r>
              <a:r>
                <a:rPr kumimoji="0" lang="en-US" sz="997" b="0" i="0"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rPr>
                <a:t> (FCI) for Large Units having FCI of over Rs.50 Cr- Rs.500Cr</a:t>
              </a:r>
            </a:p>
            <a:p>
              <a:pPr marL="91434" marR="0" lvl="0" indent="-91434" algn="l" defTabSz="913621"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997"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100% net SGST reimbursement</a:t>
              </a:r>
              <a:r>
                <a:rPr kumimoji="0" lang="en-US" sz="997"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(FCI) for MSME Units and up to a </a:t>
              </a:r>
              <a:r>
                <a:rPr kumimoji="0" lang="en-US" sz="997"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maximum of Rs.10Cr</a:t>
              </a:r>
              <a:r>
                <a:rPr kumimoji="0" lang="en-US" sz="997" b="0" i="0"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rPr>
                <a:t> </a:t>
              </a:r>
            </a:p>
          </p:txBody>
        </p:sp>
        <p:sp>
          <p:nvSpPr>
            <p:cNvPr id="11" name="Freeform 24">
              <a:extLst>
                <a:ext uri="{FF2B5EF4-FFF2-40B4-BE49-F238E27FC236}">
                  <a16:creationId xmlns:a16="http://schemas.microsoft.com/office/drawing/2014/main" id="{C848FE3E-7C64-45B0-8584-DBD600CBFEF3}"/>
                </a:ext>
              </a:extLst>
            </p:cNvPr>
            <p:cNvSpPr/>
            <p:nvPr/>
          </p:nvSpPr>
          <p:spPr>
            <a:xfrm>
              <a:off x="5819947" y="3789500"/>
              <a:ext cx="1308055" cy="1308055"/>
            </a:xfrm>
            <a:custGeom>
              <a:avLst/>
              <a:gdLst>
                <a:gd name="connsiteX0" fmla="*/ 0 w 1069248"/>
                <a:gd name="connsiteY0" fmla="*/ 534624 h 1069248"/>
                <a:gd name="connsiteX1" fmla="*/ 534624 w 1069248"/>
                <a:gd name="connsiteY1" fmla="*/ 0 h 1069248"/>
                <a:gd name="connsiteX2" fmla="*/ 1069248 w 1069248"/>
                <a:gd name="connsiteY2" fmla="*/ 534624 h 1069248"/>
                <a:gd name="connsiteX3" fmla="*/ 534624 w 1069248"/>
                <a:gd name="connsiteY3" fmla="*/ 1069248 h 1069248"/>
                <a:gd name="connsiteX4" fmla="*/ 0 w 1069248"/>
                <a:gd name="connsiteY4" fmla="*/ 534624 h 1069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9248" h="1069248">
                  <a:moveTo>
                    <a:pt x="0" y="534624"/>
                  </a:moveTo>
                  <a:cubicBezTo>
                    <a:pt x="0" y="239359"/>
                    <a:pt x="239359" y="0"/>
                    <a:pt x="534624" y="0"/>
                  </a:cubicBezTo>
                  <a:cubicBezTo>
                    <a:pt x="829889" y="0"/>
                    <a:pt x="1069248" y="239359"/>
                    <a:pt x="1069248" y="534624"/>
                  </a:cubicBezTo>
                  <a:cubicBezTo>
                    <a:pt x="1069248" y="829889"/>
                    <a:pt x="829889" y="1069248"/>
                    <a:pt x="534624" y="1069248"/>
                  </a:cubicBezTo>
                  <a:cubicBezTo>
                    <a:pt x="239359" y="1069248"/>
                    <a:pt x="0" y="829889"/>
                    <a:pt x="0" y="534624"/>
                  </a:cubicBezTo>
                  <a:close/>
                </a:path>
              </a:pathLst>
            </a:custGeom>
            <a:solidFill>
              <a:schemeClr val="tx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4520" tIns="184520" rIns="184520" bIns="184520" numCol="1" spcCol="1270" anchor="ctr" anchorCtr="0">
              <a:noAutofit/>
            </a:bodyPr>
            <a:lstStyle/>
            <a:p>
              <a:pPr marL="0" marR="0" lvl="0" indent="0" algn="ctr" defTabSz="97783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25">
              <a:extLst>
                <a:ext uri="{FF2B5EF4-FFF2-40B4-BE49-F238E27FC236}">
                  <a16:creationId xmlns:a16="http://schemas.microsoft.com/office/drawing/2014/main" id="{AF7DE94F-C15D-4A8A-BD5C-E41BB2161370}"/>
                </a:ext>
              </a:extLst>
            </p:cNvPr>
            <p:cNvSpPr/>
            <p:nvPr/>
          </p:nvSpPr>
          <p:spPr>
            <a:xfrm rot="16200000">
              <a:off x="6335658" y="3313983"/>
              <a:ext cx="276637" cy="444738"/>
            </a:xfrm>
            <a:custGeom>
              <a:avLst/>
              <a:gdLst>
                <a:gd name="connsiteX0" fmla="*/ 0 w 226133"/>
                <a:gd name="connsiteY0" fmla="*/ 72709 h 363544"/>
                <a:gd name="connsiteX1" fmla="*/ 113067 w 226133"/>
                <a:gd name="connsiteY1" fmla="*/ 72709 h 363544"/>
                <a:gd name="connsiteX2" fmla="*/ 113067 w 226133"/>
                <a:gd name="connsiteY2" fmla="*/ 0 h 363544"/>
                <a:gd name="connsiteX3" fmla="*/ 226133 w 226133"/>
                <a:gd name="connsiteY3" fmla="*/ 181772 h 363544"/>
                <a:gd name="connsiteX4" fmla="*/ 113067 w 226133"/>
                <a:gd name="connsiteY4" fmla="*/ 363544 h 363544"/>
                <a:gd name="connsiteX5" fmla="*/ 113067 w 226133"/>
                <a:gd name="connsiteY5" fmla="*/ 290835 h 363544"/>
                <a:gd name="connsiteX6" fmla="*/ 0 w 226133"/>
                <a:gd name="connsiteY6" fmla="*/ 290835 h 363544"/>
                <a:gd name="connsiteX7" fmla="*/ 0 w 226133"/>
                <a:gd name="connsiteY7" fmla="*/ 72709 h 363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6133" h="363544">
                  <a:moveTo>
                    <a:pt x="0" y="72709"/>
                  </a:moveTo>
                  <a:lnTo>
                    <a:pt x="113067" y="72709"/>
                  </a:lnTo>
                  <a:lnTo>
                    <a:pt x="113067" y="0"/>
                  </a:lnTo>
                  <a:lnTo>
                    <a:pt x="226133" y="181772"/>
                  </a:lnTo>
                  <a:lnTo>
                    <a:pt x="113067" y="363544"/>
                  </a:lnTo>
                  <a:lnTo>
                    <a:pt x="113067" y="290835"/>
                  </a:lnTo>
                  <a:lnTo>
                    <a:pt x="0" y="290835"/>
                  </a:lnTo>
                  <a:lnTo>
                    <a:pt x="0" y="72709"/>
                  </a:lnTo>
                  <a:close/>
                </a:path>
              </a:pathLst>
            </a:custGeom>
            <a:solidFill>
              <a:schemeClr val="tx1"/>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72706" rIns="67838" bIns="72705" numCol="1" spcCol="1270" anchor="ctr" anchorCtr="0">
              <a:noAutofit/>
            </a:bodyPr>
            <a:lstStyle/>
            <a:p>
              <a:pPr marL="0" marR="0" lvl="0" indent="0" algn="ctr" defTabSz="71114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Freeform 26">
              <a:extLst>
                <a:ext uri="{FF2B5EF4-FFF2-40B4-BE49-F238E27FC236}">
                  <a16:creationId xmlns:a16="http://schemas.microsoft.com/office/drawing/2014/main" id="{B5B01D62-03B3-49EB-BEA0-6E1716B1A407}"/>
                </a:ext>
              </a:extLst>
            </p:cNvPr>
            <p:cNvSpPr/>
            <p:nvPr/>
          </p:nvSpPr>
          <p:spPr>
            <a:xfrm>
              <a:off x="5885352" y="2090293"/>
              <a:ext cx="1177249" cy="1177249"/>
            </a:xfrm>
            <a:custGeom>
              <a:avLst/>
              <a:gdLst>
                <a:gd name="connsiteX0" fmla="*/ 0 w 962323"/>
                <a:gd name="connsiteY0" fmla="*/ 481162 h 962323"/>
                <a:gd name="connsiteX1" fmla="*/ 481162 w 962323"/>
                <a:gd name="connsiteY1" fmla="*/ 0 h 962323"/>
                <a:gd name="connsiteX2" fmla="*/ 962324 w 962323"/>
                <a:gd name="connsiteY2" fmla="*/ 481162 h 962323"/>
                <a:gd name="connsiteX3" fmla="*/ 481162 w 962323"/>
                <a:gd name="connsiteY3" fmla="*/ 962324 h 962323"/>
                <a:gd name="connsiteX4" fmla="*/ 0 w 962323"/>
                <a:gd name="connsiteY4" fmla="*/ 481162 h 9623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323" h="962323">
                  <a:moveTo>
                    <a:pt x="0" y="481162"/>
                  </a:moveTo>
                  <a:cubicBezTo>
                    <a:pt x="0" y="215424"/>
                    <a:pt x="215424" y="0"/>
                    <a:pt x="481162" y="0"/>
                  </a:cubicBezTo>
                  <a:cubicBezTo>
                    <a:pt x="746900" y="0"/>
                    <a:pt x="962324" y="215424"/>
                    <a:pt x="962324" y="481162"/>
                  </a:cubicBezTo>
                  <a:cubicBezTo>
                    <a:pt x="962324" y="746900"/>
                    <a:pt x="746900" y="962324"/>
                    <a:pt x="481162" y="962324"/>
                  </a:cubicBezTo>
                  <a:cubicBezTo>
                    <a:pt x="215424" y="962324"/>
                    <a:pt x="0" y="746900"/>
                    <a:pt x="0" y="481162"/>
                  </a:cubicBezTo>
                  <a:close/>
                </a:path>
              </a:pathLst>
            </a:custGeom>
            <a:solidFill>
              <a:schemeClr val="accent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6323" tIns="166323" rIns="166323" bIns="166323" numCol="1" spcCol="1270" anchor="ctr" anchorCtr="0">
              <a:noAutofit/>
            </a:bodyPr>
            <a:lstStyle/>
            <a:p>
              <a:pPr marL="0" marR="0" lvl="0" indent="0" algn="ctr" defTabSz="888936"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27">
              <a:extLst>
                <a:ext uri="{FF2B5EF4-FFF2-40B4-BE49-F238E27FC236}">
                  <a16:creationId xmlns:a16="http://schemas.microsoft.com/office/drawing/2014/main" id="{59D46A14-599D-4C16-82B0-8507D494CA06}"/>
                </a:ext>
              </a:extLst>
            </p:cNvPr>
            <p:cNvSpPr/>
            <p:nvPr/>
          </p:nvSpPr>
          <p:spPr>
            <a:xfrm rot="19285714">
              <a:off x="7044918" y="3655545"/>
              <a:ext cx="276637" cy="444738"/>
            </a:xfrm>
            <a:custGeom>
              <a:avLst/>
              <a:gdLst>
                <a:gd name="connsiteX0" fmla="*/ 0 w 226133"/>
                <a:gd name="connsiteY0" fmla="*/ 72709 h 363544"/>
                <a:gd name="connsiteX1" fmla="*/ 113067 w 226133"/>
                <a:gd name="connsiteY1" fmla="*/ 72709 h 363544"/>
                <a:gd name="connsiteX2" fmla="*/ 113067 w 226133"/>
                <a:gd name="connsiteY2" fmla="*/ 0 h 363544"/>
                <a:gd name="connsiteX3" fmla="*/ 226133 w 226133"/>
                <a:gd name="connsiteY3" fmla="*/ 181772 h 363544"/>
                <a:gd name="connsiteX4" fmla="*/ 113067 w 226133"/>
                <a:gd name="connsiteY4" fmla="*/ 363544 h 363544"/>
                <a:gd name="connsiteX5" fmla="*/ 113067 w 226133"/>
                <a:gd name="connsiteY5" fmla="*/ 290835 h 363544"/>
                <a:gd name="connsiteX6" fmla="*/ 0 w 226133"/>
                <a:gd name="connsiteY6" fmla="*/ 290835 h 363544"/>
                <a:gd name="connsiteX7" fmla="*/ 0 w 226133"/>
                <a:gd name="connsiteY7" fmla="*/ 72709 h 363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6133" h="363544">
                  <a:moveTo>
                    <a:pt x="0" y="72709"/>
                  </a:moveTo>
                  <a:lnTo>
                    <a:pt x="113067" y="72709"/>
                  </a:lnTo>
                  <a:lnTo>
                    <a:pt x="113067" y="0"/>
                  </a:lnTo>
                  <a:lnTo>
                    <a:pt x="226133" y="181772"/>
                  </a:lnTo>
                  <a:lnTo>
                    <a:pt x="113067" y="363544"/>
                  </a:lnTo>
                  <a:lnTo>
                    <a:pt x="113067" y="290835"/>
                  </a:lnTo>
                  <a:lnTo>
                    <a:pt x="0" y="290835"/>
                  </a:lnTo>
                  <a:lnTo>
                    <a:pt x="0" y="72709"/>
                  </a:lnTo>
                  <a:close/>
                </a:path>
              </a:pathLst>
            </a:custGeom>
            <a:solidFill>
              <a:schemeClr val="tx1"/>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72706" rIns="67838" bIns="72705" numCol="1" spcCol="1270" anchor="ctr" anchorCtr="0">
              <a:noAutofit/>
            </a:bodyPr>
            <a:lstStyle/>
            <a:p>
              <a:pPr marL="0" marR="0" lvl="0" indent="0" algn="ctr" defTabSz="71114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reeform 28">
              <a:extLst>
                <a:ext uri="{FF2B5EF4-FFF2-40B4-BE49-F238E27FC236}">
                  <a16:creationId xmlns:a16="http://schemas.microsoft.com/office/drawing/2014/main" id="{8D1E6F3E-103D-4BC8-B350-9900CAFA9DC9}"/>
                </a:ext>
              </a:extLst>
            </p:cNvPr>
            <p:cNvSpPr/>
            <p:nvPr/>
          </p:nvSpPr>
          <p:spPr>
            <a:xfrm>
              <a:off x="7264979" y="2754687"/>
              <a:ext cx="1177249" cy="1177249"/>
            </a:xfrm>
            <a:custGeom>
              <a:avLst/>
              <a:gdLst>
                <a:gd name="connsiteX0" fmla="*/ 0 w 962323"/>
                <a:gd name="connsiteY0" fmla="*/ 481162 h 962323"/>
                <a:gd name="connsiteX1" fmla="*/ 481162 w 962323"/>
                <a:gd name="connsiteY1" fmla="*/ 0 h 962323"/>
                <a:gd name="connsiteX2" fmla="*/ 962324 w 962323"/>
                <a:gd name="connsiteY2" fmla="*/ 481162 h 962323"/>
                <a:gd name="connsiteX3" fmla="*/ 481162 w 962323"/>
                <a:gd name="connsiteY3" fmla="*/ 962324 h 962323"/>
                <a:gd name="connsiteX4" fmla="*/ 0 w 962323"/>
                <a:gd name="connsiteY4" fmla="*/ 481162 h 9623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323" h="962323">
                  <a:moveTo>
                    <a:pt x="0" y="481162"/>
                  </a:moveTo>
                  <a:cubicBezTo>
                    <a:pt x="0" y="215424"/>
                    <a:pt x="215424" y="0"/>
                    <a:pt x="481162" y="0"/>
                  </a:cubicBezTo>
                  <a:cubicBezTo>
                    <a:pt x="746900" y="0"/>
                    <a:pt x="962324" y="215424"/>
                    <a:pt x="962324" y="481162"/>
                  </a:cubicBezTo>
                  <a:cubicBezTo>
                    <a:pt x="962324" y="746900"/>
                    <a:pt x="746900" y="962324"/>
                    <a:pt x="481162" y="962324"/>
                  </a:cubicBezTo>
                  <a:cubicBezTo>
                    <a:pt x="215424" y="962324"/>
                    <a:pt x="0" y="746900"/>
                    <a:pt x="0" y="481162"/>
                  </a:cubicBezTo>
                  <a:close/>
                </a:path>
              </a:pathLst>
            </a:cu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6323" tIns="166323" rIns="166323" bIns="166323" numCol="1" spcCol="1270" anchor="ctr" anchorCtr="0">
              <a:noAutofit/>
            </a:bodyPr>
            <a:lstStyle/>
            <a:p>
              <a:pPr marL="0" marR="0" lvl="0" indent="0" algn="ctr" defTabSz="888936"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29">
              <a:extLst>
                <a:ext uri="{FF2B5EF4-FFF2-40B4-BE49-F238E27FC236}">
                  <a16:creationId xmlns:a16="http://schemas.microsoft.com/office/drawing/2014/main" id="{A07E275A-C5FC-40CD-BC1D-10AE1EEA4381}"/>
                </a:ext>
              </a:extLst>
            </p:cNvPr>
            <p:cNvSpPr/>
            <p:nvPr/>
          </p:nvSpPr>
          <p:spPr>
            <a:xfrm rot="771429">
              <a:off x="7220090" y="4423026"/>
              <a:ext cx="276637" cy="444738"/>
            </a:xfrm>
            <a:custGeom>
              <a:avLst/>
              <a:gdLst>
                <a:gd name="connsiteX0" fmla="*/ 0 w 226133"/>
                <a:gd name="connsiteY0" fmla="*/ 72709 h 363544"/>
                <a:gd name="connsiteX1" fmla="*/ 113067 w 226133"/>
                <a:gd name="connsiteY1" fmla="*/ 72709 h 363544"/>
                <a:gd name="connsiteX2" fmla="*/ 113067 w 226133"/>
                <a:gd name="connsiteY2" fmla="*/ 0 h 363544"/>
                <a:gd name="connsiteX3" fmla="*/ 226133 w 226133"/>
                <a:gd name="connsiteY3" fmla="*/ 181772 h 363544"/>
                <a:gd name="connsiteX4" fmla="*/ 113067 w 226133"/>
                <a:gd name="connsiteY4" fmla="*/ 363544 h 363544"/>
                <a:gd name="connsiteX5" fmla="*/ 113067 w 226133"/>
                <a:gd name="connsiteY5" fmla="*/ 290835 h 363544"/>
                <a:gd name="connsiteX6" fmla="*/ 0 w 226133"/>
                <a:gd name="connsiteY6" fmla="*/ 290835 h 363544"/>
                <a:gd name="connsiteX7" fmla="*/ 0 w 226133"/>
                <a:gd name="connsiteY7" fmla="*/ 72709 h 363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6133" h="363544">
                  <a:moveTo>
                    <a:pt x="0" y="72709"/>
                  </a:moveTo>
                  <a:lnTo>
                    <a:pt x="113067" y="72709"/>
                  </a:lnTo>
                  <a:lnTo>
                    <a:pt x="113067" y="0"/>
                  </a:lnTo>
                  <a:lnTo>
                    <a:pt x="226133" y="181772"/>
                  </a:lnTo>
                  <a:lnTo>
                    <a:pt x="113067" y="363544"/>
                  </a:lnTo>
                  <a:lnTo>
                    <a:pt x="113067" y="290835"/>
                  </a:lnTo>
                  <a:lnTo>
                    <a:pt x="0" y="290835"/>
                  </a:lnTo>
                  <a:lnTo>
                    <a:pt x="0" y="72709"/>
                  </a:lnTo>
                  <a:close/>
                </a:path>
              </a:pathLst>
            </a:custGeom>
            <a:solidFill>
              <a:schemeClr val="tx1"/>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72705" rIns="67838" bIns="72706" numCol="1" spcCol="1270" anchor="ctr" anchorCtr="0">
              <a:noAutofit/>
            </a:bodyPr>
            <a:lstStyle/>
            <a:p>
              <a:pPr marL="0" marR="0" lvl="0" indent="0" algn="ctr" defTabSz="71114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Freeform 30">
              <a:extLst>
                <a:ext uri="{FF2B5EF4-FFF2-40B4-BE49-F238E27FC236}">
                  <a16:creationId xmlns:a16="http://schemas.microsoft.com/office/drawing/2014/main" id="{A69B1C33-E5A3-4497-8C9C-57F87563E163}"/>
                </a:ext>
              </a:extLst>
            </p:cNvPr>
            <p:cNvSpPr/>
            <p:nvPr/>
          </p:nvSpPr>
          <p:spPr>
            <a:xfrm>
              <a:off x="7605720" y="4247568"/>
              <a:ext cx="1177249" cy="1177249"/>
            </a:xfrm>
            <a:custGeom>
              <a:avLst/>
              <a:gdLst>
                <a:gd name="connsiteX0" fmla="*/ 0 w 962323"/>
                <a:gd name="connsiteY0" fmla="*/ 481162 h 962323"/>
                <a:gd name="connsiteX1" fmla="*/ 481162 w 962323"/>
                <a:gd name="connsiteY1" fmla="*/ 0 h 962323"/>
                <a:gd name="connsiteX2" fmla="*/ 962324 w 962323"/>
                <a:gd name="connsiteY2" fmla="*/ 481162 h 962323"/>
                <a:gd name="connsiteX3" fmla="*/ 481162 w 962323"/>
                <a:gd name="connsiteY3" fmla="*/ 962324 h 962323"/>
                <a:gd name="connsiteX4" fmla="*/ 0 w 962323"/>
                <a:gd name="connsiteY4" fmla="*/ 481162 h 9623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323" h="962323">
                  <a:moveTo>
                    <a:pt x="0" y="481162"/>
                  </a:moveTo>
                  <a:cubicBezTo>
                    <a:pt x="0" y="215424"/>
                    <a:pt x="215424" y="0"/>
                    <a:pt x="481162" y="0"/>
                  </a:cubicBezTo>
                  <a:cubicBezTo>
                    <a:pt x="746900" y="0"/>
                    <a:pt x="962324" y="215424"/>
                    <a:pt x="962324" y="481162"/>
                  </a:cubicBezTo>
                  <a:cubicBezTo>
                    <a:pt x="962324" y="746900"/>
                    <a:pt x="746900" y="962324"/>
                    <a:pt x="481162" y="962324"/>
                  </a:cubicBezTo>
                  <a:cubicBezTo>
                    <a:pt x="215424" y="962324"/>
                    <a:pt x="0" y="746900"/>
                    <a:pt x="0" y="481162"/>
                  </a:cubicBezTo>
                  <a:close/>
                </a:path>
              </a:pathLst>
            </a:custGeom>
            <a:solidFill>
              <a:schemeClr val="accent3"/>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6323" tIns="166323" rIns="166323" bIns="166323" numCol="1" spcCol="1270" anchor="ctr" anchorCtr="0">
              <a:noAutofit/>
            </a:bodyPr>
            <a:lstStyle/>
            <a:p>
              <a:pPr marL="0" marR="0" lvl="0" indent="0" algn="ctr" defTabSz="888936"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Freeform 31">
              <a:extLst>
                <a:ext uri="{FF2B5EF4-FFF2-40B4-BE49-F238E27FC236}">
                  <a16:creationId xmlns:a16="http://schemas.microsoft.com/office/drawing/2014/main" id="{A851A602-0508-41A7-B9CD-7A3DF61FB336}"/>
                </a:ext>
              </a:extLst>
            </p:cNvPr>
            <p:cNvSpPr/>
            <p:nvPr/>
          </p:nvSpPr>
          <p:spPr>
            <a:xfrm rot="3857143">
              <a:off x="6729268" y="5038499"/>
              <a:ext cx="276637" cy="444738"/>
            </a:xfrm>
            <a:custGeom>
              <a:avLst/>
              <a:gdLst>
                <a:gd name="connsiteX0" fmla="*/ 0 w 226133"/>
                <a:gd name="connsiteY0" fmla="*/ 72709 h 363544"/>
                <a:gd name="connsiteX1" fmla="*/ 113067 w 226133"/>
                <a:gd name="connsiteY1" fmla="*/ 72709 h 363544"/>
                <a:gd name="connsiteX2" fmla="*/ 113067 w 226133"/>
                <a:gd name="connsiteY2" fmla="*/ 0 h 363544"/>
                <a:gd name="connsiteX3" fmla="*/ 226133 w 226133"/>
                <a:gd name="connsiteY3" fmla="*/ 181772 h 363544"/>
                <a:gd name="connsiteX4" fmla="*/ 113067 w 226133"/>
                <a:gd name="connsiteY4" fmla="*/ 363544 h 363544"/>
                <a:gd name="connsiteX5" fmla="*/ 113067 w 226133"/>
                <a:gd name="connsiteY5" fmla="*/ 290835 h 363544"/>
                <a:gd name="connsiteX6" fmla="*/ 0 w 226133"/>
                <a:gd name="connsiteY6" fmla="*/ 290835 h 363544"/>
                <a:gd name="connsiteX7" fmla="*/ 0 w 226133"/>
                <a:gd name="connsiteY7" fmla="*/ 72709 h 363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6133" h="363544">
                  <a:moveTo>
                    <a:pt x="0" y="72709"/>
                  </a:moveTo>
                  <a:lnTo>
                    <a:pt x="113067" y="72709"/>
                  </a:lnTo>
                  <a:lnTo>
                    <a:pt x="113067" y="0"/>
                  </a:lnTo>
                  <a:lnTo>
                    <a:pt x="226133" y="181772"/>
                  </a:lnTo>
                  <a:lnTo>
                    <a:pt x="113067" y="363544"/>
                  </a:lnTo>
                  <a:lnTo>
                    <a:pt x="113067" y="290835"/>
                  </a:lnTo>
                  <a:lnTo>
                    <a:pt x="0" y="290835"/>
                  </a:lnTo>
                  <a:lnTo>
                    <a:pt x="0" y="72709"/>
                  </a:lnTo>
                  <a:close/>
                </a:path>
              </a:pathLst>
            </a:custGeom>
            <a:solidFill>
              <a:schemeClr val="tx1"/>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72705" rIns="67838" bIns="72706" numCol="1" spcCol="1270" anchor="ctr" anchorCtr="0">
              <a:noAutofit/>
            </a:bodyPr>
            <a:lstStyle/>
            <a:p>
              <a:pPr marL="0" marR="0" lvl="0" indent="0" algn="ctr" defTabSz="71114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Freeform 32">
              <a:extLst>
                <a:ext uri="{FF2B5EF4-FFF2-40B4-BE49-F238E27FC236}">
                  <a16:creationId xmlns:a16="http://schemas.microsoft.com/office/drawing/2014/main" id="{AD980FF9-ABDF-487E-8ECE-F4785E5B0CC4}"/>
                </a:ext>
              </a:extLst>
            </p:cNvPr>
            <p:cNvSpPr/>
            <p:nvPr/>
          </p:nvSpPr>
          <p:spPr>
            <a:xfrm>
              <a:off x="6650987" y="5444765"/>
              <a:ext cx="1177249" cy="1177249"/>
            </a:xfrm>
            <a:custGeom>
              <a:avLst/>
              <a:gdLst>
                <a:gd name="connsiteX0" fmla="*/ 0 w 962323"/>
                <a:gd name="connsiteY0" fmla="*/ 481162 h 962323"/>
                <a:gd name="connsiteX1" fmla="*/ 481162 w 962323"/>
                <a:gd name="connsiteY1" fmla="*/ 0 h 962323"/>
                <a:gd name="connsiteX2" fmla="*/ 962324 w 962323"/>
                <a:gd name="connsiteY2" fmla="*/ 481162 h 962323"/>
                <a:gd name="connsiteX3" fmla="*/ 481162 w 962323"/>
                <a:gd name="connsiteY3" fmla="*/ 962324 h 962323"/>
                <a:gd name="connsiteX4" fmla="*/ 0 w 962323"/>
                <a:gd name="connsiteY4" fmla="*/ 481162 h 9623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323" h="962323">
                  <a:moveTo>
                    <a:pt x="0" y="481162"/>
                  </a:moveTo>
                  <a:cubicBezTo>
                    <a:pt x="0" y="215424"/>
                    <a:pt x="215424" y="0"/>
                    <a:pt x="481162" y="0"/>
                  </a:cubicBezTo>
                  <a:cubicBezTo>
                    <a:pt x="746900" y="0"/>
                    <a:pt x="962324" y="215424"/>
                    <a:pt x="962324" y="481162"/>
                  </a:cubicBezTo>
                  <a:cubicBezTo>
                    <a:pt x="962324" y="746900"/>
                    <a:pt x="746900" y="962324"/>
                    <a:pt x="481162" y="962324"/>
                  </a:cubicBezTo>
                  <a:cubicBezTo>
                    <a:pt x="215424" y="962324"/>
                    <a:pt x="0" y="746900"/>
                    <a:pt x="0" y="481162"/>
                  </a:cubicBezTo>
                  <a:close/>
                </a:path>
              </a:pathLst>
            </a:custGeom>
            <a:solidFill>
              <a:schemeClr val="accent4"/>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6323" tIns="166323" rIns="166323" bIns="166323" numCol="1" spcCol="1270" anchor="ctr" anchorCtr="0">
              <a:noAutofit/>
            </a:bodyPr>
            <a:lstStyle/>
            <a:p>
              <a:pPr marL="0" marR="0" lvl="0" indent="0" algn="ctr" defTabSz="888936"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Freeform 33">
              <a:extLst>
                <a:ext uri="{FF2B5EF4-FFF2-40B4-BE49-F238E27FC236}">
                  <a16:creationId xmlns:a16="http://schemas.microsoft.com/office/drawing/2014/main" id="{5D5A44CE-6E4C-46EE-BD6B-7F6448F043C4}"/>
                </a:ext>
              </a:extLst>
            </p:cNvPr>
            <p:cNvSpPr/>
            <p:nvPr/>
          </p:nvSpPr>
          <p:spPr>
            <a:xfrm rot="17742857">
              <a:off x="5942046" y="5038496"/>
              <a:ext cx="276639" cy="444739"/>
            </a:xfrm>
            <a:custGeom>
              <a:avLst/>
              <a:gdLst>
                <a:gd name="connsiteX0" fmla="*/ 0 w 226133"/>
                <a:gd name="connsiteY0" fmla="*/ 72709 h 363544"/>
                <a:gd name="connsiteX1" fmla="*/ 113067 w 226133"/>
                <a:gd name="connsiteY1" fmla="*/ 72709 h 363544"/>
                <a:gd name="connsiteX2" fmla="*/ 113067 w 226133"/>
                <a:gd name="connsiteY2" fmla="*/ 0 h 363544"/>
                <a:gd name="connsiteX3" fmla="*/ 226133 w 226133"/>
                <a:gd name="connsiteY3" fmla="*/ 181772 h 363544"/>
                <a:gd name="connsiteX4" fmla="*/ 113067 w 226133"/>
                <a:gd name="connsiteY4" fmla="*/ 363544 h 363544"/>
                <a:gd name="connsiteX5" fmla="*/ 113067 w 226133"/>
                <a:gd name="connsiteY5" fmla="*/ 290835 h 363544"/>
                <a:gd name="connsiteX6" fmla="*/ 0 w 226133"/>
                <a:gd name="connsiteY6" fmla="*/ 290835 h 363544"/>
                <a:gd name="connsiteX7" fmla="*/ 0 w 226133"/>
                <a:gd name="connsiteY7" fmla="*/ 72709 h 363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6133" h="363544">
                  <a:moveTo>
                    <a:pt x="226132" y="290835"/>
                  </a:moveTo>
                  <a:lnTo>
                    <a:pt x="113066" y="290835"/>
                  </a:lnTo>
                  <a:lnTo>
                    <a:pt x="113066" y="363544"/>
                  </a:lnTo>
                  <a:lnTo>
                    <a:pt x="1" y="181772"/>
                  </a:lnTo>
                  <a:lnTo>
                    <a:pt x="113066" y="0"/>
                  </a:lnTo>
                  <a:lnTo>
                    <a:pt x="113066" y="72709"/>
                  </a:lnTo>
                  <a:lnTo>
                    <a:pt x="226132" y="72709"/>
                  </a:lnTo>
                  <a:lnTo>
                    <a:pt x="226132" y="290835"/>
                  </a:lnTo>
                  <a:close/>
                </a:path>
              </a:pathLst>
            </a:custGeom>
            <a:solidFill>
              <a:schemeClr val="tx1"/>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67836" tIns="72705" rIns="1" bIns="72707" numCol="1" spcCol="1270" anchor="ctr" anchorCtr="0">
              <a:noAutofit/>
            </a:bodyPr>
            <a:lstStyle/>
            <a:p>
              <a:pPr marL="0" marR="0" lvl="0" indent="0" algn="ctr" defTabSz="71114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34">
              <a:extLst>
                <a:ext uri="{FF2B5EF4-FFF2-40B4-BE49-F238E27FC236}">
                  <a16:creationId xmlns:a16="http://schemas.microsoft.com/office/drawing/2014/main" id="{DB01DA4F-CBFE-4276-A24B-263BF619472C}"/>
                </a:ext>
              </a:extLst>
            </p:cNvPr>
            <p:cNvSpPr/>
            <p:nvPr/>
          </p:nvSpPr>
          <p:spPr>
            <a:xfrm>
              <a:off x="5119714" y="5444765"/>
              <a:ext cx="1177249" cy="1177249"/>
            </a:xfrm>
            <a:custGeom>
              <a:avLst/>
              <a:gdLst>
                <a:gd name="connsiteX0" fmla="*/ 0 w 962323"/>
                <a:gd name="connsiteY0" fmla="*/ 481162 h 962323"/>
                <a:gd name="connsiteX1" fmla="*/ 481162 w 962323"/>
                <a:gd name="connsiteY1" fmla="*/ 0 h 962323"/>
                <a:gd name="connsiteX2" fmla="*/ 962324 w 962323"/>
                <a:gd name="connsiteY2" fmla="*/ 481162 h 962323"/>
                <a:gd name="connsiteX3" fmla="*/ 481162 w 962323"/>
                <a:gd name="connsiteY3" fmla="*/ 962324 h 962323"/>
                <a:gd name="connsiteX4" fmla="*/ 0 w 962323"/>
                <a:gd name="connsiteY4" fmla="*/ 481162 h 9623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323" h="962323">
                  <a:moveTo>
                    <a:pt x="0" y="481162"/>
                  </a:moveTo>
                  <a:cubicBezTo>
                    <a:pt x="0" y="215424"/>
                    <a:pt x="215424" y="0"/>
                    <a:pt x="481162" y="0"/>
                  </a:cubicBezTo>
                  <a:cubicBezTo>
                    <a:pt x="746900" y="0"/>
                    <a:pt x="962324" y="215424"/>
                    <a:pt x="962324" y="481162"/>
                  </a:cubicBezTo>
                  <a:cubicBezTo>
                    <a:pt x="962324" y="746900"/>
                    <a:pt x="746900" y="962324"/>
                    <a:pt x="481162" y="962324"/>
                  </a:cubicBezTo>
                  <a:cubicBezTo>
                    <a:pt x="215424" y="962324"/>
                    <a:pt x="0" y="746900"/>
                    <a:pt x="0" y="481162"/>
                  </a:cubicBezTo>
                  <a:close/>
                </a:path>
              </a:pathLst>
            </a:cu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95532" tIns="195532" rIns="195532" bIns="195532" numCol="1" spcCol="1270" anchor="ctr" anchorCtr="0">
              <a:noAutofit/>
            </a:bodyPr>
            <a:lstStyle/>
            <a:p>
              <a:pPr marL="0" marR="0" lvl="0" indent="0" algn="ctr" defTabSz="191121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35">
              <a:extLst>
                <a:ext uri="{FF2B5EF4-FFF2-40B4-BE49-F238E27FC236}">
                  <a16:creationId xmlns:a16="http://schemas.microsoft.com/office/drawing/2014/main" id="{07EF5D9D-26F8-4019-9BF9-E60CF62D0A6C}"/>
                </a:ext>
              </a:extLst>
            </p:cNvPr>
            <p:cNvSpPr/>
            <p:nvPr/>
          </p:nvSpPr>
          <p:spPr>
            <a:xfrm rot="20828571">
              <a:off x="5451224" y="4423024"/>
              <a:ext cx="276637" cy="444739"/>
            </a:xfrm>
            <a:custGeom>
              <a:avLst/>
              <a:gdLst>
                <a:gd name="connsiteX0" fmla="*/ 0 w 226133"/>
                <a:gd name="connsiteY0" fmla="*/ 72709 h 363544"/>
                <a:gd name="connsiteX1" fmla="*/ 113067 w 226133"/>
                <a:gd name="connsiteY1" fmla="*/ 72709 h 363544"/>
                <a:gd name="connsiteX2" fmla="*/ 113067 w 226133"/>
                <a:gd name="connsiteY2" fmla="*/ 0 h 363544"/>
                <a:gd name="connsiteX3" fmla="*/ 226133 w 226133"/>
                <a:gd name="connsiteY3" fmla="*/ 181772 h 363544"/>
                <a:gd name="connsiteX4" fmla="*/ 113067 w 226133"/>
                <a:gd name="connsiteY4" fmla="*/ 363544 h 363544"/>
                <a:gd name="connsiteX5" fmla="*/ 113067 w 226133"/>
                <a:gd name="connsiteY5" fmla="*/ 290835 h 363544"/>
                <a:gd name="connsiteX6" fmla="*/ 0 w 226133"/>
                <a:gd name="connsiteY6" fmla="*/ 290835 h 363544"/>
                <a:gd name="connsiteX7" fmla="*/ 0 w 226133"/>
                <a:gd name="connsiteY7" fmla="*/ 72709 h 363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6133" h="363544">
                  <a:moveTo>
                    <a:pt x="226132" y="290835"/>
                  </a:moveTo>
                  <a:lnTo>
                    <a:pt x="113066" y="290835"/>
                  </a:lnTo>
                  <a:lnTo>
                    <a:pt x="113066" y="363544"/>
                  </a:lnTo>
                  <a:lnTo>
                    <a:pt x="1" y="181772"/>
                  </a:lnTo>
                  <a:lnTo>
                    <a:pt x="113066" y="0"/>
                  </a:lnTo>
                  <a:lnTo>
                    <a:pt x="113066" y="72709"/>
                  </a:lnTo>
                  <a:lnTo>
                    <a:pt x="226132" y="72709"/>
                  </a:lnTo>
                  <a:lnTo>
                    <a:pt x="226132" y="290835"/>
                  </a:lnTo>
                  <a:close/>
                </a:path>
              </a:pathLst>
            </a:custGeom>
            <a:solidFill>
              <a:schemeClr val="tx1"/>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67838" tIns="72707" rIns="-1" bIns="72705" numCol="1" spcCol="1270" anchor="ctr" anchorCtr="0">
              <a:noAutofit/>
            </a:bodyPr>
            <a:lstStyle/>
            <a:p>
              <a:pPr marL="0" marR="0" lvl="0" indent="0" algn="ctr" defTabSz="71114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36">
              <a:extLst>
                <a:ext uri="{FF2B5EF4-FFF2-40B4-BE49-F238E27FC236}">
                  <a16:creationId xmlns:a16="http://schemas.microsoft.com/office/drawing/2014/main" id="{A93352DB-996F-4D44-A3E0-0189FE92499F}"/>
                </a:ext>
              </a:extLst>
            </p:cNvPr>
            <p:cNvSpPr/>
            <p:nvPr/>
          </p:nvSpPr>
          <p:spPr>
            <a:xfrm>
              <a:off x="4164982" y="4247568"/>
              <a:ext cx="1177249" cy="1177249"/>
            </a:xfrm>
            <a:custGeom>
              <a:avLst/>
              <a:gdLst>
                <a:gd name="connsiteX0" fmla="*/ 0 w 962323"/>
                <a:gd name="connsiteY0" fmla="*/ 481162 h 962323"/>
                <a:gd name="connsiteX1" fmla="*/ 481162 w 962323"/>
                <a:gd name="connsiteY1" fmla="*/ 0 h 962323"/>
                <a:gd name="connsiteX2" fmla="*/ 962324 w 962323"/>
                <a:gd name="connsiteY2" fmla="*/ 481162 h 962323"/>
                <a:gd name="connsiteX3" fmla="*/ 481162 w 962323"/>
                <a:gd name="connsiteY3" fmla="*/ 962324 h 962323"/>
                <a:gd name="connsiteX4" fmla="*/ 0 w 962323"/>
                <a:gd name="connsiteY4" fmla="*/ 481162 h 9623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323" h="962323">
                  <a:moveTo>
                    <a:pt x="0" y="481162"/>
                  </a:moveTo>
                  <a:cubicBezTo>
                    <a:pt x="0" y="215424"/>
                    <a:pt x="215424" y="0"/>
                    <a:pt x="481162" y="0"/>
                  </a:cubicBezTo>
                  <a:cubicBezTo>
                    <a:pt x="746900" y="0"/>
                    <a:pt x="962324" y="215424"/>
                    <a:pt x="962324" y="481162"/>
                  </a:cubicBezTo>
                  <a:cubicBezTo>
                    <a:pt x="962324" y="746900"/>
                    <a:pt x="746900" y="962324"/>
                    <a:pt x="481162" y="962324"/>
                  </a:cubicBezTo>
                  <a:cubicBezTo>
                    <a:pt x="215424" y="962324"/>
                    <a:pt x="0" y="746900"/>
                    <a:pt x="0" y="481162"/>
                  </a:cubicBezTo>
                  <a:close/>
                </a:path>
              </a:pathLst>
            </a:custGeom>
            <a:solidFill>
              <a:schemeClr val="accent6"/>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95532" tIns="195532" rIns="195532" bIns="195532" numCol="1" spcCol="1270" anchor="ctr" anchorCtr="0">
              <a:noAutofit/>
            </a:bodyPr>
            <a:lstStyle/>
            <a:p>
              <a:pPr marL="0" marR="0" lvl="0" indent="0" algn="ctr" defTabSz="191121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Freeform 37">
              <a:extLst>
                <a:ext uri="{FF2B5EF4-FFF2-40B4-BE49-F238E27FC236}">
                  <a16:creationId xmlns:a16="http://schemas.microsoft.com/office/drawing/2014/main" id="{9B62476F-0A0A-49BB-B530-AD36EF242B00}"/>
                </a:ext>
              </a:extLst>
            </p:cNvPr>
            <p:cNvSpPr/>
            <p:nvPr/>
          </p:nvSpPr>
          <p:spPr>
            <a:xfrm rot="2314286">
              <a:off x="5626397" y="3655543"/>
              <a:ext cx="276637" cy="444739"/>
            </a:xfrm>
            <a:custGeom>
              <a:avLst/>
              <a:gdLst>
                <a:gd name="connsiteX0" fmla="*/ 0 w 226133"/>
                <a:gd name="connsiteY0" fmla="*/ 72709 h 363544"/>
                <a:gd name="connsiteX1" fmla="*/ 113067 w 226133"/>
                <a:gd name="connsiteY1" fmla="*/ 72709 h 363544"/>
                <a:gd name="connsiteX2" fmla="*/ 113067 w 226133"/>
                <a:gd name="connsiteY2" fmla="*/ 0 h 363544"/>
                <a:gd name="connsiteX3" fmla="*/ 226133 w 226133"/>
                <a:gd name="connsiteY3" fmla="*/ 181772 h 363544"/>
                <a:gd name="connsiteX4" fmla="*/ 113067 w 226133"/>
                <a:gd name="connsiteY4" fmla="*/ 363544 h 363544"/>
                <a:gd name="connsiteX5" fmla="*/ 113067 w 226133"/>
                <a:gd name="connsiteY5" fmla="*/ 290835 h 363544"/>
                <a:gd name="connsiteX6" fmla="*/ 0 w 226133"/>
                <a:gd name="connsiteY6" fmla="*/ 290835 h 363544"/>
                <a:gd name="connsiteX7" fmla="*/ 0 w 226133"/>
                <a:gd name="connsiteY7" fmla="*/ 72709 h 363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6133" h="363544">
                  <a:moveTo>
                    <a:pt x="226132" y="290835"/>
                  </a:moveTo>
                  <a:lnTo>
                    <a:pt x="113066" y="290835"/>
                  </a:lnTo>
                  <a:lnTo>
                    <a:pt x="113066" y="363544"/>
                  </a:lnTo>
                  <a:lnTo>
                    <a:pt x="1" y="181772"/>
                  </a:lnTo>
                  <a:lnTo>
                    <a:pt x="113066" y="0"/>
                  </a:lnTo>
                  <a:lnTo>
                    <a:pt x="113066" y="72709"/>
                  </a:lnTo>
                  <a:lnTo>
                    <a:pt x="226132" y="72709"/>
                  </a:lnTo>
                  <a:lnTo>
                    <a:pt x="226132" y="290835"/>
                  </a:lnTo>
                  <a:close/>
                </a:path>
              </a:pathLst>
            </a:custGeom>
            <a:solidFill>
              <a:schemeClr val="tx1"/>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67838" tIns="72706" rIns="-1" bIns="72706" numCol="1" spcCol="1270" anchor="ctr" anchorCtr="0">
              <a:noAutofit/>
            </a:bodyPr>
            <a:lstStyle/>
            <a:p>
              <a:pPr marL="0" marR="0" lvl="0" indent="0" algn="ctr" defTabSz="71114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Freeform 38">
              <a:extLst>
                <a:ext uri="{FF2B5EF4-FFF2-40B4-BE49-F238E27FC236}">
                  <a16:creationId xmlns:a16="http://schemas.microsoft.com/office/drawing/2014/main" id="{97293BA6-40D1-4642-A042-CB962F90C5AC}"/>
                </a:ext>
              </a:extLst>
            </p:cNvPr>
            <p:cNvSpPr/>
            <p:nvPr/>
          </p:nvSpPr>
          <p:spPr>
            <a:xfrm>
              <a:off x="4505723" y="2754687"/>
              <a:ext cx="1177249" cy="1177249"/>
            </a:xfrm>
            <a:custGeom>
              <a:avLst/>
              <a:gdLst>
                <a:gd name="connsiteX0" fmla="*/ 0 w 962323"/>
                <a:gd name="connsiteY0" fmla="*/ 481162 h 962323"/>
                <a:gd name="connsiteX1" fmla="*/ 481162 w 962323"/>
                <a:gd name="connsiteY1" fmla="*/ 0 h 962323"/>
                <a:gd name="connsiteX2" fmla="*/ 962324 w 962323"/>
                <a:gd name="connsiteY2" fmla="*/ 481162 h 962323"/>
                <a:gd name="connsiteX3" fmla="*/ 481162 w 962323"/>
                <a:gd name="connsiteY3" fmla="*/ 962324 h 962323"/>
                <a:gd name="connsiteX4" fmla="*/ 0 w 962323"/>
                <a:gd name="connsiteY4" fmla="*/ 481162 h 9623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323" h="962323">
                  <a:moveTo>
                    <a:pt x="0" y="481162"/>
                  </a:moveTo>
                  <a:cubicBezTo>
                    <a:pt x="0" y="215424"/>
                    <a:pt x="215424" y="0"/>
                    <a:pt x="481162" y="0"/>
                  </a:cubicBezTo>
                  <a:cubicBezTo>
                    <a:pt x="746900" y="0"/>
                    <a:pt x="962324" y="215424"/>
                    <a:pt x="962324" y="481162"/>
                  </a:cubicBezTo>
                  <a:cubicBezTo>
                    <a:pt x="962324" y="746900"/>
                    <a:pt x="746900" y="962324"/>
                    <a:pt x="481162" y="962324"/>
                  </a:cubicBezTo>
                  <a:cubicBezTo>
                    <a:pt x="215424" y="962324"/>
                    <a:pt x="0" y="746900"/>
                    <a:pt x="0" y="481162"/>
                  </a:cubicBezTo>
                  <a:close/>
                </a:path>
              </a:pathLst>
            </a:custGeom>
            <a:solidFill>
              <a:schemeClr val="tx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95532" tIns="195532" rIns="195532" bIns="195532" numCol="1" spcCol="1270" anchor="ctr" anchorCtr="0">
              <a:noAutofit/>
            </a:bodyPr>
            <a:lstStyle/>
            <a:p>
              <a:pPr marL="0" marR="0" lvl="0" indent="0" algn="ctr" defTabSz="1911213"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96E0E9F6-5EDB-45A9-A797-24ADB5109D30}"/>
                </a:ext>
              </a:extLst>
            </p:cNvPr>
            <p:cNvSpPr/>
            <p:nvPr/>
          </p:nvSpPr>
          <p:spPr>
            <a:xfrm>
              <a:off x="5816148" y="4211233"/>
              <a:ext cx="1339292" cy="458202"/>
            </a:xfrm>
            <a:prstGeom prst="rect">
              <a:avLst/>
            </a:prstGeom>
          </p:spPr>
          <p:txBody>
            <a:bodyPr wrap="square" lIns="0" tIns="0" rIns="0" bIns="0">
              <a:spAutoFit/>
            </a:bodyPr>
            <a:lstStyle/>
            <a:p>
              <a:pPr marL="0" marR="0" lvl="0" indent="0" algn="ctr" defTabSz="913621" rtl="0" eaLnBrk="1" fontAlgn="auto" latinLnBrk="0" hangingPunct="1">
                <a:lnSpc>
                  <a:spcPct val="100000"/>
                </a:lnSpc>
                <a:spcBef>
                  <a:spcPts val="0"/>
                </a:spcBef>
                <a:spcAft>
                  <a:spcPts val="0"/>
                </a:spcAft>
                <a:buClrTx/>
                <a:buSzPct val="100000"/>
                <a:buFontTx/>
                <a:buNone/>
                <a:tabLst/>
                <a:defRPr/>
              </a:pPr>
              <a:r>
                <a:rPr kumimoji="0" lang="en-US"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en-US" sz="9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Industrial Promotion Assistance </a:t>
              </a:r>
            </a:p>
          </p:txBody>
        </p:sp>
        <p:sp>
          <p:nvSpPr>
            <p:cNvPr id="27" name="Rectangle 26">
              <a:extLst>
                <a:ext uri="{FF2B5EF4-FFF2-40B4-BE49-F238E27FC236}">
                  <a16:creationId xmlns:a16="http://schemas.microsoft.com/office/drawing/2014/main" id="{3D1205CF-05C8-407A-B1BE-5CF31D834663}"/>
                </a:ext>
              </a:extLst>
            </p:cNvPr>
            <p:cNvSpPr/>
            <p:nvPr/>
          </p:nvSpPr>
          <p:spPr>
            <a:xfrm>
              <a:off x="6093480" y="2513579"/>
              <a:ext cx="760988" cy="305468"/>
            </a:xfrm>
            <a:prstGeom prst="rect">
              <a:avLst/>
            </a:prstGeom>
          </p:spPr>
          <p:txBody>
            <a:bodyPr wrap="square" lIns="0" tIns="0" rIns="0" bIns="0">
              <a:spAutoFit/>
            </a:bodyPr>
            <a:lstStyle/>
            <a:p>
              <a:pPr marL="0" marR="0" lvl="0" indent="0" algn="ctr" defTabSz="913621" rtl="0" eaLnBrk="1" fontAlgn="auto" latinLnBrk="0" hangingPunct="1">
                <a:lnSpc>
                  <a:spcPct val="100000"/>
                </a:lnSpc>
                <a:spcBef>
                  <a:spcPts val="0"/>
                </a:spcBef>
                <a:spcAft>
                  <a:spcPts val="0"/>
                </a:spcAft>
                <a:buClrTx/>
                <a:buSzPct val="100000"/>
                <a:buFontTx/>
                <a:buNone/>
                <a:tabLst/>
                <a:defRPr/>
              </a:pPr>
              <a:r>
                <a:rPr kumimoji="0" lang="en-US" sz="9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Land </a:t>
              </a:r>
              <a:r>
                <a:rPr kumimoji="0" lang="en-US" sz="900" b="1" i="0" u="none" strike="noStrike" kern="1200" cap="none" spc="0" normalizeH="0" baseline="0" noProof="0" dirty="0" err="1">
                  <a:ln>
                    <a:noFill/>
                  </a:ln>
                  <a:solidFill>
                    <a:prstClr val="white"/>
                  </a:solidFill>
                  <a:effectLst/>
                  <a:uLnTx/>
                  <a:uFillTx/>
                  <a:latin typeface="Verdana" panose="020B0604030504040204" pitchFamily="34" charset="0"/>
                  <a:ea typeface="Verdana" panose="020B0604030504040204" pitchFamily="34" charset="0"/>
                  <a:cs typeface="+mn-cs"/>
                </a:rPr>
                <a:t>cess</a:t>
              </a:r>
              <a:r>
                <a:rPr kumimoji="0" lang="en-US" sz="9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 exemption</a:t>
              </a:r>
            </a:p>
          </p:txBody>
        </p:sp>
        <p:sp>
          <p:nvSpPr>
            <p:cNvPr id="28" name="Rectangle 27">
              <a:extLst>
                <a:ext uri="{FF2B5EF4-FFF2-40B4-BE49-F238E27FC236}">
                  <a16:creationId xmlns:a16="http://schemas.microsoft.com/office/drawing/2014/main" id="{B5B7C9FC-6895-43F4-BCC0-10D7F7FCD870}"/>
                </a:ext>
              </a:extLst>
            </p:cNvPr>
            <p:cNvSpPr/>
            <p:nvPr/>
          </p:nvSpPr>
          <p:spPr>
            <a:xfrm>
              <a:off x="7476378" y="3108771"/>
              <a:ext cx="754452" cy="458202"/>
            </a:xfrm>
            <a:prstGeom prst="rect">
              <a:avLst/>
            </a:prstGeom>
          </p:spPr>
          <p:txBody>
            <a:bodyPr wrap="square" lIns="0" tIns="0" rIns="0" bIns="0">
              <a:spAutoFit/>
            </a:bodyPr>
            <a:lstStyle/>
            <a:p>
              <a:pPr marL="0" marR="0" lvl="0" indent="0" algn="ctr" defTabSz="913621" rtl="0" eaLnBrk="1" fontAlgn="auto" latinLnBrk="0" hangingPunct="1">
                <a:lnSpc>
                  <a:spcPct val="100000"/>
                </a:lnSpc>
                <a:spcBef>
                  <a:spcPts val="0"/>
                </a:spcBef>
                <a:spcAft>
                  <a:spcPts val="0"/>
                </a:spcAft>
                <a:buClrTx/>
                <a:buSzPct val="100000"/>
                <a:buFontTx/>
                <a:buNone/>
                <a:tabLst/>
                <a:defRPr/>
              </a:pPr>
              <a:r>
                <a:rPr kumimoji="0" lang="en-US" sz="9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Stamp Duty exemption</a:t>
              </a:r>
            </a:p>
          </p:txBody>
        </p:sp>
        <p:sp>
          <p:nvSpPr>
            <p:cNvPr id="29" name="Rectangle 28">
              <a:extLst>
                <a:ext uri="{FF2B5EF4-FFF2-40B4-BE49-F238E27FC236}">
                  <a16:creationId xmlns:a16="http://schemas.microsoft.com/office/drawing/2014/main" id="{BAF6E7A4-81B1-48F2-905D-7732B14103FB}"/>
                </a:ext>
              </a:extLst>
            </p:cNvPr>
            <p:cNvSpPr/>
            <p:nvPr/>
          </p:nvSpPr>
          <p:spPr>
            <a:xfrm>
              <a:off x="7799249" y="4680740"/>
              <a:ext cx="790192" cy="305468"/>
            </a:xfrm>
            <a:prstGeom prst="rect">
              <a:avLst/>
            </a:prstGeom>
          </p:spPr>
          <p:txBody>
            <a:bodyPr wrap="square" lIns="0" tIns="0" rIns="0" bIns="0">
              <a:spAutoFit/>
            </a:bodyPr>
            <a:lstStyle/>
            <a:p>
              <a:pPr marL="0" marR="0" lvl="0" indent="0" algn="ctr" defTabSz="913621" rtl="0" eaLnBrk="1" fontAlgn="auto" latinLnBrk="0" hangingPunct="1">
                <a:lnSpc>
                  <a:spcPct val="100000"/>
                </a:lnSpc>
                <a:spcBef>
                  <a:spcPts val="0"/>
                </a:spcBef>
                <a:spcAft>
                  <a:spcPts val="0"/>
                </a:spcAft>
                <a:buClrTx/>
                <a:buSzPct val="100000"/>
                <a:buFontTx/>
                <a:buNone/>
                <a:tabLst/>
                <a:defRPr/>
              </a:pPr>
              <a:r>
                <a:rPr kumimoji="0" lang="en-US" sz="9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Water </a:t>
              </a:r>
              <a:r>
                <a:rPr kumimoji="0" lang="en-US" sz="900" b="1" i="0" u="none" strike="noStrike" kern="1200" cap="none" spc="0" normalizeH="0" baseline="0" noProof="0" dirty="0" err="1">
                  <a:ln>
                    <a:noFill/>
                  </a:ln>
                  <a:solidFill>
                    <a:prstClr val="white"/>
                  </a:solidFill>
                  <a:effectLst/>
                  <a:uLnTx/>
                  <a:uFillTx/>
                  <a:latin typeface="Verdana" panose="020B0604030504040204" pitchFamily="34" charset="0"/>
                  <a:ea typeface="Verdana" panose="020B0604030504040204" pitchFamily="34" charset="0"/>
                  <a:cs typeface="+mn-cs"/>
                </a:rPr>
                <a:t>cess</a:t>
              </a:r>
              <a:r>
                <a:rPr kumimoji="0" lang="en-US" sz="9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 exemption</a:t>
              </a:r>
            </a:p>
          </p:txBody>
        </p:sp>
        <p:sp>
          <p:nvSpPr>
            <p:cNvPr id="30" name="Rectangle 29">
              <a:extLst>
                <a:ext uri="{FF2B5EF4-FFF2-40B4-BE49-F238E27FC236}">
                  <a16:creationId xmlns:a16="http://schemas.microsoft.com/office/drawing/2014/main" id="{64A594E0-AF54-490D-9EAD-B8AA323F9850}"/>
                </a:ext>
              </a:extLst>
            </p:cNvPr>
            <p:cNvSpPr/>
            <p:nvPr/>
          </p:nvSpPr>
          <p:spPr>
            <a:xfrm>
              <a:off x="6796184" y="5788964"/>
              <a:ext cx="886852" cy="458202"/>
            </a:xfrm>
            <a:prstGeom prst="rect">
              <a:avLst/>
            </a:prstGeom>
          </p:spPr>
          <p:txBody>
            <a:bodyPr wrap="square" lIns="0" tIns="0" rIns="0" bIns="0">
              <a:spAutoFit/>
            </a:bodyPr>
            <a:lstStyle/>
            <a:p>
              <a:pPr marL="0" marR="0" lvl="0" indent="0" algn="ctr" defTabSz="913621" rtl="0" eaLnBrk="1" fontAlgn="auto" latinLnBrk="0" hangingPunct="1">
                <a:lnSpc>
                  <a:spcPct val="100000"/>
                </a:lnSpc>
                <a:spcBef>
                  <a:spcPts val="0"/>
                </a:spcBef>
                <a:spcAft>
                  <a:spcPts val="0"/>
                </a:spcAft>
                <a:buClrTx/>
                <a:buSzPct val="100000"/>
                <a:buFontTx/>
                <a:buNone/>
                <a:tabLst/>
                <a:defRPr/>
              </a:pPr>
              <a:r>
                <a:rPr kumimoji="0" lang="en-US" sz="9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Electricity Duty exemption</a:t>
              </a:r>
              <a:endParaRPr kumimoji="0" lang="en-US" sz="9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7610D288-4DE7-4C47-94CC-F30388372F00}"/>
                </a:ext>
              </a:extLst>
            </p:cNvPr>
            <p:cNvSpPr/>
            <p:nvPr/>
          </p:nvSpPr>
          <p:spPr>
            <a:xfrm>
              <a:off x="5228670" y="5765747"/>
              <a:ext cx="959336" cy="458202"/>
            </a:xfrm>
            <a:prstGeom prst="rect">
              <a:avLst/>
            </a:prstGeom>
          </p:spPr>
          <p:txBody>
            <a:bodyPr wrap="square" lIns="0" tIns="0" rIns="0" bIns="0">
              <a:spAutoFit/>
            </a:bodyPr>
            <a:lstStyle/>
            <a:p>
              <a:pPr marL="0" marR="0" lvl="0" indent="0" algn="ctr" defTabSz="913621" rtl="0" eaLnBrk="1" fontAlgn="auto" latinLnBrk="0" hangingPunct="1">
                <a:lnSpc>
                  <a:spcPct val="100000"/>
                </a:lnSpc>
                <a:spcBef>
                  <a:spcPts val="0"/>
                </a:spcBef>
                <a:spcAft>
                  <a:spcPts val="0"/>
                </a:spcAft>
                <a:buClrTx/>
                <a:buSzPct val="100000"/>
                <a:buFontTx/>
                <a:buNone/>
                <a:tabLst/>
                <a:defRPr/>
              </a:pPr>
              <a:r>
                <a:rPr kumimoji="0" lang="en-US" sz="9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Skill Development Subsidy</a:t>
              </a:r>
            </a:p>
          </p:txBody>
        </p:sp>
        <p:sp>
          <p:nvSpPr>
            <p:cNvPr id="32" name="Rectangle 31">
              <a:extLst>
                <a:ext uri="{FF2B5EF4-FFF2-40B4-BE49-F238E27FC236}">
                  <a16:creationId xmlns:a16="http://schemas.microsoft.com/office/drawing/2014/main" id="{8C1FE282-349B-490E-997C-A8E1987C8242}"/>
                </a:ext>
              </a:extLst>
            </p:cNvPr>
            <p:cNvSpPr/>
            <p:nvPr/>
          </p:nvSpPr>
          <p:spPr>
            <a:xfrm>
              <a:off x="4269165" y="4630162"/>
              <a:ext cx="951671" cy="458202"/>
            </a:xfrm>
            <a:prstGeom prst="rect">
              <a:avLst/>
            </a:prstGeom>
          </p:spPr>
          <p:txBody>
            <a:bodyPr wrap="square" lIns="0" tIns="0" rIns="0" bIns="0">
              <a:spAutoFit/>
            </a:bodyPr>
            <a:lstStyle/>
            <a:p>
              <a:pPr marL="0" marR="0" lvl="0" indent="0" algn="ctr" defTabSz="913621" rtl="0" eaLnBrk="1" fontAlgn="auto" latinLnBrk="0" hangingPunct="1">
                <a:lnSpc>
                  <a:spcPct val="100000"/>
                </a:lnSpc>
                <a:spcBef>
                  <a:spcPts val="0"/>
                </a:spcBef>
                <a:spcAft>
                  <a:spcPts val="0"/>
                </a:spcAft>
                <a:buClrTx/>
                <a:buSzPct val="100000"/>
                <a:buFontTx/>
                <a:buNone/>
                <a:tabLst/>
                <a:defRPr/>
              </a:pPr>
              <a:r>
                <a:rPr kumimoji="0" lang="en-US" sz="9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Employment Generation Subsidy</a:t>
              </a:r>
            </a:p>
          </p:txBody>
        </p:sp>
        <p:sp>
          <p:nvSpPr>
            <p:cNvPr id="33" name="Rectangle 32">
              <a:extLst>
                <a:ext uri="{FF2B5EF4-FFF2-40B4-BE49-F238E27FC236}">
                  <a16:creationId xmlns:a16="http://schemas.microsoft.com/office/drawing/2014/main" id="{F734ECA7-F363-4C04-A2FF-045DE0535811}"/>
                </a:ext>
              </a:extLst>
            </p:cNvPr>
            <p:cNvSpPr/>
            <p:nvPr/>
          </p:nvSpPr>
          <p:spPr>
            <a:xfrm>
              <a:off x="4633963" y="3162854"/>
              <a:ext cx="866373" cy="305468"/>
            </a:xfrm>
            <a:prstGeom prst="rect">
              <a:avLst/>
            </a:prstGeom>
          </p:spPr>
          <p:txBody>
            <a:bodyPr wrap="square" lIns="0" tIns="0" rIns="0" bIns="0">
              <a:spAutoFit/>
            </a:bodyPr>
            <a:lstStyle/>
            <a:p>
              <a:pPr marL="0" marR="0" lvl="0" indent="0" algn="ctr" defTabSz="913621" rtl="0" eaLnBrk="1" fontAlgn="auto" latinLnBrk="0" hangingPunct="1">
                <a:lnSpc>
                  <a:spcPct val="100000"/>
                </a:lnSpc>
                <a:spcBef>
                  <a:spcPts val="0"/>
                </a:spcBef>
                <a:spcAft>
                  <a:spcPts val="0"/>
                </a:spcAft>
                <a:buClrTx/>
                <a:buSzPct val="100000"/>
                <a:buFontTx/>
                <a:buNone/>
                <a:tabLst/>
                <a:defRPr/>
              </a:pPr>
              <a:r>
                <a:rPr kumimoji="0" lang="en-US" sz="9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Subsidy on FCI</a:t>
              </a:r>
            </a:p>
          </p:txBody>
        </p:sp>
      </p:grpSp>
      <p:sp>
        <p:nvSpPr>
          <p:cNvPr id="34" name="TextBox 33">
            <a:extLst>
              <a:ext uri="{FF2B5EF4-FFF2-40B4-BE49-F238E27FC236}">
                <a16:creationId xmlns:a16="http://schemas.microsoft.com/office/drawing/2014/main" id="{D594F018-41BA-42AF-8A67-3E274DFF7FE5}"/>
              </a:ext>
            </a:extLst>
          </p:cNvPr>
          <p:cNvSpPr txBox="1"/>
          <p:nvPr/>
        </p:nvSpPr>
        <p:spPr>
          <a:xfrm>
            <a:off x="530780" y="206576"/>
            <a:ext cx="9647363" cy="400110"/>
          </a:xfrm>
          <a:prstGeom prst="rect">
            <a:avLst/>
          </a:prstGeom>
          <a:noFill/>
        </p:spPr>
        <p:txBody>
          <a:bodyPr wrap="square">
            <a:spAutoFit/>
          </a:bodyPr>
          <a:lstStyle/>
          <a:p>
            <a:pPr marL="0" marR="0" lvl="0" indent="0" algn="l" defTabSz="914335"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Solar Manufacturing Policy Highlights (1/2)</a:t>
            </a:r>
          </a:p>
        </p:txBody>
      </p:sp>
    </p:spTree>
    <p:extLst>
      <p:ext uri="{BB962C8B-B14F-4D97-AF65-F5344CB8AC3E}">
        <p14:creationId xmlns:p14="http://schemas.microsoft.com/office/powerpoint/2010/main" val="201570301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D594F018-41BA-42AF-8A67-3E274DFF7FE5}"/>
              </a:ext>
            </a:extLst>
          </p:cNvPr>
          <p:cNvSpPr txBox="1"/>
          <p:nvPr/>
        </p:nvSpPr>
        <p:spPr>
          <a:xfrm>
            <a:off x="530780" y="135456"/>
            <a:ext cx="7830845" cy="369332"/>
          </a:xfrm>
          <a:prstGeom prst="rect">
            <a:avLst/>
          </a:prstGeom>
          <a:noFill/>
        </p:spPr>
        <p:txBody>
          <a:bodyPr wrap="square">
            <a:spAutoFit/>
          </a:bodyPr>
          <a:lstStyle/>
          <a:p>
            <a:pPr defTabSz="914335"/>
            <a:r>
              <a:rPr lang="en-US" b="1" dirty="0">
                <a:solidFill>
                  <a:prstClr val="black"/>
                </a:solidFill>
                <a:latin typeface="+mj-lt"/>
                <a:ea typeface="Verdana" panose="020B0604030504040204" pitchFamily="34" charset="0"/>
              </a:rPr>
              <a:t>Solar Manufacturing Policy highlights (2/2)</a:t>
            </a:r>
          </a:p>
        </p:txBody>
      </p:sp>
      <p:graphicFrame>
        <p:nvGraphicFramePr>
          <p:cNvPr id="2" name="Diagram 1">
            <a:extLst>
              <a:ext uri="{FF2B5EF4-FFF2-40B4-BE49-F238E27FC236}">
                <a16:creationId xmlns:a16="http://schemas.microsoft.com/office/drawing/2014/main" id="{3005DA91-FE55-4AF4-97F0-357494EBE024}"/>
              </a:ext>
            </a:extLst>
          </p:cNvPr>
          <p:cNvGraphicFramePr/>
          <p:nvPr>
            <p:extLst>
              <p:ext uri="{D42A27DB-BD31-4B8C-83A1-F6EECF244321}">
                <p14:modId xmlns:p14="http://schemas.microsoft.com/office/powerpoint/2010/main" val="2569067230"/>
              </p:ext>
            </p:extLst>
          </p:nvPr>
        </p:nvGraphicFramePr>
        <p:xfrm>
          <a:off x="-525858" y="1428119"/>
          <a:ext cx="7830845" cy="51324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19B5AD0B-6ADE-4D54-95FD-FDC3E37BE8BF}"/>
              </a:ext>
            </a:extLst>
          </p:cNvPr>
          <p:cNvSpPr txBox="1"/>
          <p:nvPr/>
        </p:nvSpPr>
        <p:spPr>
          <a:xfrm>
            <a:off x="228599" y="689455"/>
            <a:ext cx="11576407" cy="307777"/>
          </a:xfrm>
          <a:prstGeom prst="rect">
            <a:avLst/>
          </a:prstGeom>
          <a:noFill/>
        </p:spPr>
        <p:txBody>
          <a:bodyPr wrap="square">
            <a:spAutoFit/>
          </a:bodyPr>
          <a:lstStyle/>
          <a:p>
            <a:pPr algn="just"/>
            <a:r>
              <a:rPr lang="en-US" sz="1400" dirty="0">
                <a:latin typeface="+mj-lt"/>
                <a:ea typeface="Calibri" panose="020F0502020204030204" pitchFamily="34" charset="0"/>
              </a:rPr>
              <a:t>S</a:t>
            </a:r>
            <a:r>
              <a:rPr lang="en-US" sz="1400" dirty="0">
                <a:effectLst/>
                <a:latin typeface="+mj-lt"/>
                <a:ea typeface="Calibri" panose="020F0502020204030204" pitchFamily="34" charset="0"/>
              </a:rPr>
              <a:t>olar Manufacturing excluding upstream products like Wafer and Polysilicon, the key components for Cell and Modules are: </a:t>
            </a:r>
            <a:endParaRPr lang="en-US" sz="1400" dirty="0">
              <a:latin typeface="+mj-lt"/>
            </a:endParaRPr>
          </a:p>
        </p:txBody>
      </p:sp>
      <p:sp>
        <p:nvSpPr>
          <p:cNvPr id="10" name="TextBox 9">
            <a:extLst>
              <a:ext uri="{FF2B5EF4-FFF2-40B4-BE49-F238E27FC236}">
                <a16:creationId xmlns:a16="http://schemas.microsoft.com/office/drawing/2014/main" id="{8B580DAA-544B-46AA-8058-C9D17590AB54}"/>
              </a:ext>
            </a:extLst>
          </p:cNvPr>
          <p:cNvSpPr txBox="1"/>
          <p:nvPr/>
        </p:nvSpPr>
        <p:spPr>
          <a:xfrm>
            <a:off x="6479850" y="1646062"/>
            <a:ext cx="5161280" cy="1600438"/>
          </a:xfrm>
          <a:prstGeom prst="rect">
            <a:avLst/>
          </a:prstGeom>
          <a:noFill/>
        </p:spPr>
        <p:txBody>
          <a:bodyPr wrap="square">
            <a:spAutoFit/>
          </a:bodyPr>
          <a:lstStyle/>
          <a:p>
            <a:pPr marL="285750" marR="0" indent="-285750" algn="just">
              <a:spcBef>
                <a:spcPts val="0"/>
              </a:spcBef>
              <a:spcAft>
                <a:spcPts val="0"/>
              </a:spcAft>
              <a:buFont typeface="Wingdings" panose="05000000000000000000" pitchFamily="2" charset="2"/>
              <a:buChar char="Ø"/>
            </a:pPr>
            <a:r>
              <a:rPr lang="en-US" sz="1400" i="1" dirty="0">
                <a:effectLst/>
                <a:ea typeface="Calibri" panose="020F0502020204030204" pitchFamily="34" charset="0"/>
              </a:rPr>
              <a:t>If the Policy is intended to target any specific industry /component; then the policy will need to be aligned to those specific component(s)</a:t>
            </a:r>
          </a:p>
          <a:p>
            <a:pPr marL="0" marR="0" algn="just">
              <a:spcBef>
                <a:spcPts val="0"/>
              </a:spcBef>
              <a:spcAft>
                <a:spcPts val="0"/>
              </a:spcAft>
            </a:pPr>
            <a:endParaRPr lang="en-US" sz="1400" i="1" dirty="0">
              <a:ea typeface="Calibri" panose="020F0502020204030204" pitchFamily="34" charset="0"/>
            </a:endParaRPr>
          </a:p>
          <a:p>
            <a:pPr marL="285750" indent="-285750" algn="just">
              <a:buFont typeface="Wingdings" panose="05000000000000000000" pitchFamily="2" charset="2"/>
              <a:buChar char="Ø"/>
            </a:pPr>
            <a:r>
              <a:rPr lang="en-US" sz="1400" i="1" dirty="0">
                <a:effectLst/>
                <a:ea typeface="Calibri" panose="020F0502020204030204" pitchFamily="34" charset="0"/>
              </a:rPr>
              <a:t>Solar Manufacturing players usually prefer a hinterland or a radius of influence to keep the supply chain flow into the production process</a:t>
            </a:r>
          </a:p>
        </p:txBody>
      </p:sp>
      <p:grpSp>
        <p:nvGrpSpPr>
          <p:cNvPr id="12" name="Group 11">
            <a:extLst>
              <a:ext uri="{FF2B5EF4-FFF2-40B4-BE49-F238E27FC236}">
                <a16:creationId xmlns:a16="http://schemas.microsoft.com/office/drawing/2014/main" id="{C7EB22DE-5617-4370-8867-6E3F9BFE1516}"/>
              </a:ext>
            </a:extLst>
          </p:cNvPr>
          <p:cNvGrpSpPr/>
          <p:nvPr/>
        </p:nvGrpSpPr>
        <p:grpSpPr>
          <a:xfrm>
            <a:off x="6479850" y="4151665"/>
            <a:ext cx="4821723" cy="1883112"/>
            <a:chOff x="6096000" y="1578139"/>
            <a:chExt cx="6736080" cy="1883112"/>
          </a:xfrm>
        </p:grpSpPr>
        <p:sp>
          <p:nvSpPr>
            <p:cNvPr id="9" name="Rectangle 8">
              <a:extLst>
                <a:ext uri="{FF2B5EF4-FFF2-40B4-BE49-F238E27FC236}">
                  <a16:creationId xmlns:a16="http://schemas.microsoft.com/office/drawing/2014/main" id="{F7238354-6C5B-48B3-9447-DCE089A69A2C}"/>
                </a:ext>
              </a:extLst>
            </p:cNvPr>
            <p:cNvSpPr/>
            <p:nvPr/>
          </p:nvSpPr>
          <p:spPr bwMode="gray">
            <a:xfrm>
              <a:off x="6096000" y="1584960"/>
              <a:ext cx="944880" cy="335280"/>
            </a:xfrm>
            <a:prstGeom prst="rect">
              <a:avLst/>
            </a:prstGeom>
            <a:solidFill>
              <a:schemeClr val="tx1">
                <a:lumMod val="75000"/>
                <a:lumOff val="2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100" b="1" dirty="0">
                <a:solidFill>
                  <a:schemeClr val="bg1"/>
                </a:solidFill>
              </a:endParaRPr>
            </a:p>
          </p:txBody>
        </p:sp>
        <p:sp>
          <p:nvSpPr>
            <p:cNvPr id="13" name="Rectangle 12">
              <a:extLst>
                <a:ext uri="{FF2B5EF4-FFF2-40B4-BE49-F238E27FC236}">
                  <a16:creationId xmlns:a16="http://schemas.microsoft.com/office/drawing/2014/main" id="{DAE39EB2-A235-44FC-BD5F-076CD2F10B7C}"/>
                </a:ext>
              </a:extLst>
            </p:cNvPr>
            <p:cNvSpPr/>
            <p:nvPr/>
          </p:nvSpPr>
          <p:spPr bwMode="gray">
            <a:xfrm>
              <a:off x="6096000" y="2104606"/>
              <a:ext cx="944880" cy="335280"/>
            </a:xfrm>
            <a:prstGeom prst="rect">
              <a:avLst/>
            </a:prstGeom>
            <a:solidFill>
              <a:srgbClr val="FFC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100" b="1" dirty="0">
                <a:solidFill>
                  <a:schemeClr val="bg1"/>
                </a:solidFill>
              </a:endParaRPr>
            </a:p>
          </p:txBody>
        </p:sp>
        <p:sp>
          <p:nvSpPr>
            <p:cNvPr id="14" name="Rectangle 13">
              <a:extLst>
                <a:ext uri="{FF2B5EF4-FFF2-40B4-BE49-F238E27FC236}">
                  <a16:creationId xmlns:a16="http://schemas.microsoft.com/office/drawing/2014/main" id="{494FCB09-E9E7-46AB-B4B5-A6F33A93009A}"/>
                </a:ext>
              </a:extLst>
            </p:cNvPr>
            <p:cNvSpPr/>
            <p:nvPr/>
          </p:nvSpPr>
          <p:spPr bwMode="gray">
            <a:xfrm>
              <a:off x="6096000" y="2606414"/>
              <a:ext cx="944880" cy="335280"/>
            </a:xfrm>
            <a:prstGeom prst="rect">
              <a:avLst/>
            </a:prstGeom>
            <a:solidFill>
              <a:schemeClr val="accent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100" b="1" dirty="0">
                <a:solidFill>
                  <a:schemeClr val="bg1"/>
                </a:solidFill>
              </a:endParaRPr>
            </a:p>
          </p:txBody>
        </p:sp>
        <p:sp>
          <p:nvSpPr>
            <p:cNvPr id="15" name="TextBox 14">
              <a:extLst>
                <a:ext uri="{FF2B5EF4-FFF2-40B4-BE49-F238E27FC236}">
                  <a16:creationId xmlns:a16="http://schemas.microsoft.com/office/drawing/2014/main" id="{E8F65B10-C069-4AA1-BDCC-C135961BC342}"/>
                </a:ext>
              </a:extLst>
            </p:cNvPr>
            <p:cNvSpPr txBox="1"/>
            <p:nvPr/>
          </p:nvSpPr>
          <p:spPr>
            <a:xfrm>
              <a:off x="7157720" y="1578139"/>
              <a:ext cx="5674360" cy="261610"/>
            </a:xfrm>
            <a:prstGeom prst="rect">
              <a:avLst/>
            </a:prstGeom>
            <a:noFill/>
          </p:spPr>
          <p:txBody>
            <a:bodyPr wrap="square">
              <a:spAutoFit/>
            </a:bodyPr>
            <a:lstStyle/>
            <a:p>
              <a:pPr algn="just"/>
              <a:r>
                <a:rPr lang="en-US" sz="1100" dirty="0"/>
                <a:t>Not available domestically</a:t>
              </a:r>
            </a:p>
          </p:txBody>
        </p:sp>
        <p:sp>
          <p:nvSpPr>
            <p:cNvPr id="16" name="TextBox 15">
              <a:extLst>
                <a:ext uri="{FF2B5EF4-FFF2-40B4-BE49-F238E27FC236}">
                  <a16:creationId xmlns:a16="http://schemas.microsoft.com/office/drawing/2014/main" id="{B2B95547-A919-47B6-ADCB-9AAACA4180EE}"/>
                </a:ext>
              </a:extLst>
            </p:cNvPr>
            <p:cNvSpPr txBox="1"/>
            <p:nvPr/>
          </p:nvSpPr>
          <p:spPr>
            <a:xfrm>
              <a:off x="7157720" y="2104606"/>
              <a:ext cx="5674360" cy="261610"/>
            </a:xfrm>
            <a:prstGeom prst="rect">
              <a:avLst/>
            </a:prstGeom>
            <a:noFill/>
          </p:spPr>
          <p:txBody>
            <a:bodyPr wrap="square">
              <a:spAutoFit/>
            </a:bodyPr>
            <a:lstStyle/>
            <a:p>
              <a:pPr algn="just"/>
              <a:r>
                <a:rPr lang="en-US" sz="1100" dirty="0"/>
                <a:t>Scarce availability – majorly dependent on imports</a:t>
              </a:r>
            </a:p>
          </p:txBody>
        </p:sp>
        <p:sp>
          <p:nvSpPr>
            <p:cNvPr id="17" name="TextBox 16">
              <a:extLst>
                <a:ext uri="{FF2B5EF4-FFF2-40B4-BE49-F238E27FC236}">
                  <a16:creationId xmlns:a16="http://schemas.microsoft.com/office/drawing/2014/main" id="{AD985C2B-1450-41EE-9534-3480D90EA565}"/>
                </a:ext>
              </a:extLst>
            </p:cNvPr>
            <p:cNvSpPr txBox="1"/>
            <p:nvPr/>
          </p:nvSpPr>
          <p:spPr>
            <a:xfrm>
              <a:off x="7157720" y="2601742"/>
              <a:ext cx="5674360" cy="261610"/>
            </a:xfrm>
            <a:prstGeom prst="rect">
              <a:avLst/>
            </a:prstGeom>
            <a:noFill/>
          </p:spPr>
          <p:txBody>
            <a:bodyPr wrap="square">
              <a:spAutoFit/>
            </a:bodyPr>
            <a:lstStyle/>
            <a:p>
              <a:pPr algn="just"/>
              <a:r>
                <a:rPr lang="en-US" sz="1100" dirty="0"/>
                <a:t>Partly available</a:t>
              </a:r>
            </a:p>
          </p:txBody>
        </p:sp>
        <p:sp>
          <p:nvSpPr>
            <p:cNvPr id="18" name="Rectangle 17">
              <a:extLst>
                <a:ext uri="{FF2B5EF4-FFF2-40B4-BE49-F238E27FC236}">
                  <a16:creationId xmlns:a16="http://schemas.microsoft.com/office/drawing/2014/main" id="{AAF811BA-90AE-4485-AF25-79E550B9DA4C}"/>
                </a:ext>
              </a:extLst>
            </p:cNvPr>
            <p:cNvSpPr/>
            <p:nvPr/>
          </p:nvSpPr>
          <p:spPr bwMode="gray">
            <a:xfrm>
              <a:off x="6096000" y="3125971"/>
              <a:ext cx="944880" cy="33528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100" b="1" dirty="0">
                <a:solidFill>
                  <a:schemeClr val="bg1"/>
                </a:solidFill>
              </a:endParaRPr>
            </a:p>
          </p:txBody>
        </p:sp>
        <p:sp>
          <p:nvSpPr>
            <p:cNvPr id="19" name="TextBox 18">
              <a:extLst>
                <a:ext uri="{FF2B5EF4-FFF2-40B4-BE49-F238E27FC236}">
                  <a16:creationId xmlns:a16="http://schemas.microsoft.com/office/drawing/2014/main" id="{73239F2C-D5C4-4EE1-9120-E13C444B643B}"/>
                </a:ext>
              </a:extLst>
            </p:cNvPr>
            <p:cNvSpPr txBox="1"/>
            <p:nvPr/>
          </p:nvSpPr>
          <p:spPr>
            <a:xfrm>
              <a:off x="7157720" y="3129061"/>
              <a:ext cx="5674360" cy="261610"/>
            </a:xfrm>
            <a:prstGeom prst="rect">
              <a:avLst/>
            </a:prstGeom>
            <a:noFill/>
          </p:spPr>
          <p:txBody>
            <a:bodyPr wrap="square">
              <a:spAutoFit/>
            </a:bodyPr>
            <a:lstStyle/>
            <a:p>
              <a:pPr algn="just"/>
              <a:r>
                <a:rPr lang="en-US" sz="1100" dirty="0"/>
                <a:t>Domestic Suppliers Available</a:t>
              </a:r>
            </a:p>
          </p:txBody>
        </p:sp>
      </p:grpSp>
    </p:spTree>
    <p:extLst>
      <p:ext uri="{BB962C8B-B14F-4D97-AF65-F5344CB8AC3E}">
        <p14:creationId xmlns:p14="http://schemas.microsoft.com/office/powerpoint/2010/main" val="250543282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B2CDAD-2EAD-48D0-9015-BE2F76C3DEFD}"/>
              </a:ext>
            </a:extLst>
          </p:cNvPr>
          <p:cNvPicPr>
            <a:picLocks noChangeAspect="1"/>
          </p:cNvPicPr>
          <p:nvPr/>
        </p:nvPicPr>
        <p:blipFill>
          <a:blip r:embed="rId5"/>
          <a:stretch>
            <a:fillRect/>
          </a:stretch>
        </p:blipFill>
        <p:spPr>
          <a:xfrm>
            <a:off x="6436101" y="780124"/>
            <a:ext cx="5371889" cy="5435545"/>
          </a:xfrm>
          <a:prstGeom prst="rect">
            <a:avLst/>
          </a:prstGeom>
        </p:spPr>
      </p:pic>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828" y="1723"/>
          <a:ext cx="1588" cy="1588"/>
        </p:xfrm>
        <a:graphic>
          <a:graphicData uri="http://schemas.openxmlformats.org/presentationml/2006/ole">
            <mc:AlternateContent xmlns:mc="http://schemas.openxmlformats.org/markup-compatibility/2006">
              <mc:Choice xmlns:v="urn:schemas-microsoft-com:vml" Requires="v">
                <p:oleObj spid="_x0000_s47161" name="think-cell Slide" r:id="rId6" imgW="498" imgH="499" progId="TCLayout.ActiveDocument.1">
                  <p:embed/>
                </p:oleObj>
              </mc:Choice>
              <mc:Fallback>
                <p:oleObj name="think-cell Slide" r:id="rId6"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7"/>
                      <a:stretch>
                        <a:fillRect/>
                      </a:stretch>
                    </p:blipFill>
                    <p:spPr>
                      <a:xfrm>
                        <a:off x="1828" y="1723"/>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305749" y="196877"/>
            <a:ext cx="11188260" cy="368285"/>
          </a:xfrm>
        </p:spPr>
        <p:txBody>
          <a:bodyPr vert="horz"/>
          <a:lstStyle/>
          <a:p>
            <a:pPr algn="just"/>
            <a:r>
              <a:rPr lang="en-US" sz="1800" b="1" dirty="0"/>
              <a:t>Status of Rooftop Solar Progress -West Bengal vs other states as on May 2022</a:t>
            </a:r>
          </a:p>
        </p:txBody>
      </p:sp>
      <p:grpSp>
        <p:nvGrpSpPr>
          <p:cNvPr id="337" name="Group 336">
            <a:extLst>
              <a:ext uri="{FF2B5EF4-FFF2-40B4-BE49-F238E27FC236}">
                <a16:creationId xmlns:a16="http://schemas.microsoft.com/office/drawing/2014/main" id="{C66B5586-C599-495A-A447-F8D72A57B88E}"/>
              </a:ext>
            </a:extLst>
          </p:cNvPr>
          <p:cNvGrpSpPr/>
          <p:nvPr/>
        </p:nvGrpSpPr>
        <p:grpSpPr>
          <a:xfrm>
            <a:off x="514203" y="780124"/>
            <a:ext cx="5401004" cy="5732835"/>
            <a:chOff x="514203" y="649493"/>
            <a:chExt cx="5401004" cy="5732835"/>
          </a:xfrm>
        </p:grpSpPr>
        <p:sp>
          <p:nvSpPr>
            <p:cNvPr id="8" name="object 8">
              <a:extLst>
                <a:ext uri="{FF2B5EF4-FFF2-40B4-BE49-F238E27FC236}">
                  <a16:creationId xmlns:a16="http://schemas.microsoft.com/office/drawing/2014/main" id="{3DEB91F7-4EE2-46F0-A3DE-92EC763B1F3D}"/>
                </a:ext>
              </a:extLst>
            </p:cNvPr>
            <p:cNvSpPr/>
            <p:nvPr/>
          </p:nvSpPr>
          <p:spPr>
            <a:xfrm>
              <a:off x="514203" y="649493"/>
              <a:ext cx="5229225" cy="503916"/>
            </a:xfrm>
            <a:custGeom>
              <a:avLst/>
              <a:gdLst/>
              <a:ahLst/>
              <a:cxnLst/>
              <a:rect l="l" t="t" r="r" b="b"/>
              <a:pathLst>
                <a:path w="5229225" h="582294">
                  <a:moveTo>
                    <a:pt x="5228844" y="0"/>
                  </a:moveTo>
                  <a:lnTo>
                    <a:pt x="0" y="0"/>
                  </a:lnTo>
                  <a:lnTo>
                    <a:pt x="0" y="582168"/>
                  </a:lnTo>
                  <a:lnTo>
                    <a:pt x="5228844" y="582168"/>
                  </a:lnTo>
                  <a:lnTo>
                    <a:pt x="5228844" y="0"/>
                  </a:lnTo>
                  <a:close/>
                </a:path>
              </a:pathLst>
            </a:custGeom>
            <a:solidFill>
              <a:schemeClr val="accent2">
                <a:lumMod val="20000"/>
                <a:lumOff val="80000"/>
                <a:alpha val="79998"/>
              </a:schemeClr>
            </a:solidFill>
          </p:spPr>
          <p:txBody>
            <a:bodyPr wrap="square" lIns="0" tIns="0" rIns="0" bIns="0" rtlCol="0"/>
            <a:lstStyle/>
            <a:p>
              <a:pPr marL="0" marR="0" lvl="0" indent="0" algn="ctr"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9" name="object 9">
              <a:extLst>
                <a:ext uri="{FF2B5EF4-FFF2-40B4-BE49-F238E27FC236}">
                  <a16:creationId xmlns:a16="http://schemas.microsoft.com/office/drawing/2014/main" id="{F290E68C-082B-473F-A2A3-81194EEB8D47}"/>
                </a:ext>
              </a:extLst>
            </p:cNvPr>
            <p:cNvSpPr txBox="1"/>
            <p:nvPr/>
          </p:nvSpPr>
          <p:spPr>
            <a:xfrm>
              <a:off x="1571602" y="680868"/>
              <a:ext cx="3418105" cy="258404"/>
            </a:xfrm>
            <a:prstGeom prst="rect">
              <a:avLst/>
            </a:prstGeom>
          </p:spPr>
          <p:txBody>
            <a:bodyPr vert="horz" wrap="square" lIns="0" tIns="12065" rIns="0" bIns="0" rtlCol="0">
              <a:spAutoFit/>
            </a:bodyPr>
            <a:lstStyle/>
            <a:p>
              <a:pPr marL="12700" marR="0" lvl="0" indent="0" algn="ctr" defTabSz="914342" rtl="0" eaLnBrk="1" fontAlgn="auto" latinLnBrk="0" hangingPunct="1">
                <a:lnSpc>
                  <a:spcPct val="100000"/>
                </a:lnSpc>
                <a:spcBef>
                  <a:spcPts val="95"/>
                </a:spcBef>
                <a:spcAft>
                  <a:spcPts val="0"/>
                </a:spcAft>
                <a:buClrTx/>
                <a:buSzTx/>
                <a:buFontTx/>
                <a:buNone/>
                <a:tabLst/>
                <a:defRPr/>
              </a:pPr>
              <a:r>
                <a:rPr kumimoji="0" lang="en-US" sz="1600" b="1" i="0" u="none" strike="noStrike" kern="1200" cap="none" spc="0" normalizeH="0" baseline="0" noProof="0" dirty="0">
                  <a:ln>
                    <a:noFill/>
                  </a:ln>
                  <a:effectLst/>
                  <a:uLnTx/>
                  <a:uFillTx/>
                  <a:ea typeface="+mn-ea"/>
                  <a:cs typeface="Arial"/>
                </a:rPr>
                <a:t>RTS  Progress Status</a:t>
              </a:r>
              <a:endParaRPr kumimoji="0" sz="1600" b="1" i="0" u="none" strike="noStrike" kern="1200" cap="none" spc="0" normalizeH="0" baseline="0" noProof="0" dirty="0">
                <a:ln>
                  <a:noFill/>
                </a:ln>
                <a:effectLst/>
                <a:uLnTx/>
                <a:uFillTx/>
                <a:ea typeface="+mn-ea"/>
                <a:cs typeface="Arial"/>
              </a:endParaRPr>
            </a:p>
          </p:txBody>
        </p:sp>
        <p:grpSp>
          <p:nvGrpSpPr>
            <p:cNvPr id="11" name="object 156">
              <a:extLst>
                <a:ext uri="{FF2B5EF4-FFF2-40B4-BE49-F238E27FC236}">
                  <a16:creationId xmlns:a16="http://schemas.microsoft.com/office/drawing/2014/main" id="{B11B6FBD-845F-4391-B9FE-ABF4808A5DD2}"/>
                </a:ext>
              </a:extLst>
            </p:cNvPr>
            <p:cNvGrpSpPr/>
            <p:nvPr/>
          </p:nvGrpSpPr>
          <p:grpSpPr>
            <a:xfrm>
              <a:off x="570412" y="1163898"/>
              <a:ext cx="5344795" cy="5218430"/>
              <a:chOff x="243840" y="1261872"/>
              <a:chExt cx="5344795" cy="5218430"/>
            </a:xfrm>
          </p:grpSpPr>
          <p:sp>
            <p:nvSpPr>
              <p:cNvPr id="12" name="object 157">
                <a:extLst>
                  <a:ext uri="{FF2B5EF4-FFF2-40B4-BE49-F238E27FC236}">
                    <a16:creationId xmlns:a16="http://schemas.microsoft.com/office/drawing/2014/main" id="{97BCAC31-1FAB-4CD9-956E-727C7EC01045}"/>
                  </a:ext>
                </a:extLst>
              </p:cNvPr>
              <p:cNvSpPr/>
              <p:nvPr/>
            </p:nvSpPr>
            <p:spPr>
              <a:xfrm>
                <a:off x="801623" y="2458211"/>
                <a:ext cx="1503426" cy="1180338"/>
              </a:xfrm>
              <a:prstGeom prst="rect">
                <a:avLst/>
              </a:prstGeom>
              <a:blipFill>
                <a:blip r:embed="rId8"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3" name="object 158">
                <a:extLst>
                  <a:ext uri="{FF2B5EF4-FFF2-40B4-BE49-F238E27FC236}">
                    <a16:creationId xmlns:a16="http://schemas.microsoft.com/office/drawing/2014/main" id="{2CF4CDC6-C474-4F07-8551-6832E5DB4973}"/>
                  </a:ext>
                </a:extLst>
              </p:cNvPr>
              <p:cNvSpPr/>
              <p:nvPr/>
            </p:nvSpPr>
            <p:spPr>
              <a:xfrm>
                <a:off x="819912" y="2438400"/>
                <a:ext cx="1493520" cy="1170940"/>
              </a:xfrm>
              <a:custGeom>
                <a:avLst/>
                <a:gdLst/>
                <a:ahLst/>
                <a:cxnLst/>
                <a:rect l="l" t="t" r="r" b="b"/>
                <a:pathLst>
                  <a:path w="1493520" h="1170939">
                    <a:moveTo>
                      <a:pt x="780415" y="0"/>
                    </a:moveTo>
                    <a:lnTo>
                      <a:pt x="706374" y="18414"/>
                    </a:lnTo>
                    <a:lnTo>
                      <a:pt x="672084" y="91821"/>
                    </a:lnTo>
                    <a:lnTo>
                      <a:pt x="636143" y="142239"/>
                    </a:lnTo>
                    <a:lnTo>
                      <a:pt x="585597" y="190880"/>
                    </a:lnTo>
                    <a:lnTo>
                      <a:pt x="541147" y="195579"/>
                    </a:lnTo>
                    <a:lnTo>
                      <a:pt x="499872" y="233425"/>
                    </a:lnTo>
                    <a:lnTo>
                      <a:pt x="478281" y="279019"/>
                    </a:lnTo>
                    <a:lnTo>
                      <a:pt x="441248" y="305688"/>
                    </a:lnTo>
                    <a:lnTo>
                      <a:pt x="410527" y="353440"/>
                    </a:lnTo>
                    <a:lnTo>
                      <a:pt x="322986" y="358013"/>
                    </a:lnTo>
                    <a:lnTo>
                      <a:pt x="248856" y="376047"/>
                    </a:lnTo>
                    <a:lnTo>
                      <a:pt x="217792" y="364998"/>
                    </a:lnTo>
                    <a:lnTo>
                      <a:pt x="219214" y="325627"/>
                    </a:lnTo>
                    <a:lnTo>
                      <a:pt x="191325" y="314833"/>
                    </a:lnTo>
                    <a:lnTo>
                      <a:pt x="166966" y="315849"/>
                    </a:lnTo>
                    <a:lnTo>
                      <a:pt x="114020" y="382777"/>
                    </a:lnTo>
                    <a:lnTo>
                      <a:pt x="61417" y="422275"/>
                    </a:lnTo>
                    <a:lnTo>
                      <a:pt x="6350" y="466344"/>
                    </a:lnTo>
                    <a:lnTo>
                      <a:pt x="0" y="508508"/>
                    </a:lnTo>
                    <a:lnTo>
                      <a:pt x="15887" y="534924"/>
                    </a:lnTo>
                    <a:lnTo>
                      <a:pt x="74841" y="550799"/>
                    </a:lnTo>
                    <a:lnTo>
                      <a:pt x="118605" y="553212"/>
                    </a:lnTo>
                    <a:lnTo>
                      <a:pt x="106603" y="610108"/>
                    </a:lnTo>
                    <a:lnTo>
                      <a:pt x="90360" y="654558"/>
                    </a:lnTo>
                    <a:lnTo>
                      <a:pt x="134137" y="709549"/>
                    </a:lnTo>
                    <a:lnTo>
                      <a:pt x="176491" y="706501"/>
                    </a:lnTo>
                    <a:lnTo>
                      <a:pt x="201917" y="743585"/>
                    </a:lnTo>
                    <a:lnTo>
                      <a:pt x="192379" y="765555"/>
                    </a:lnTo>
                    <a:lnTo>
                      <a:pt x="222745" y="810640"/>
                    </a:lnTo>
                    <a:lnTo>
                      <a:pt x="228028" y="838073"/>
                    </a:lnTo>
                    <a:lnTo>
                      <a:pt x="256273" y="874902"/>
                    </a:lnTo>
                    <a:lnTo>
                      <a:pt x="290156" y="885571"/>
                    </a:lnTo>
                    <a:lnTo>
                      <a:pt x="343115" y="884936"/>
                    </a:lnTo>
                    <a:lnTo>
                      <a:pt x="392531" y="892937"/>
                    </a:lnTo>
                    <a:lnTo>
                      <a:pt x="425716" y="880363"/>
                    </a:lnTo>
                    <a:lnTo>
                      <a:pt x="450722" y="907923"/>
                    </a:lnTo>
                    <a:lnTo>
                      <a:pt x="489203" y="916177"/>
                    </a:lnTo>
                    <a:lnTo>
                      <a:pt x="543306" y="938784"/>
                    </a:lnTo>
                    <a:lnTo>
                      <a:pt x="579247" y="929894"/>
                    </a:lnTo>
                    <a:lnTo>
                      <a:pt x="619887" y="948309"/>
                    </a:lnTo>
                    <a:lnTo>
                      <a:pt x="595884" y="968121"/>
                    </a:lnTo>
                    <a:lnTo>
                      <a:pt x="610997" y="999744"/>
                    </a:lnTo>
                    <a:lnTo>
                      <a:pt x="638175" y="998474"/>
                    </a:lnTo>
                    <a:lnTo>
                      <a:pt x="657225" y="1018032"/>
                    </a:lnTo>
                    <a:lnTo>
                      <a:pt x="632206" y="1046226"/>
                    </a:lnTo>
                    <a:lnTo>
                      <a:pt x="645668" y="1064005"/>
                    </a:lnTo>
                    <a:lnTo>
                      <a:pt x="679831" y="1078357"/>
                    </a:lnTo>
                    <a:lnTo>
                      <a:pt x="679831" y="1101216"/>
                    </a:lnTo>
                    <a:lnTo>
                      <a:pt x="743076" y="1128776"/>
                    </a:lnTo>
                    <a:lnTo>
                      <a:pt x="802766" y="1170432"/>
                    </a:lnTo>
                    <a:lnTo>
                      <a:pt x="843280" y="1170432"/>
                    </a:lnTo>
                    <a:lnTo>
                      <a:pt x="881126" y="1156335"/>
                    </a:lnTo>
                    <a:lnTo>
                      <a:pt x="839469" y="1136523"/>
                    </a:lnTo>
                    <a:lnTo>
                      <a:pt x="849630" y="1115060"/>
                    </a:lnTo>
                    <a:lnTo>
                      <a:pt x="916051" y="1083183"/>
                    </a:lnTo>
                    <a:lnTo>
                      <a:pt x="908304" y="1046226"/>
                    </a:lnTo>
                    <a:lnTo>
                      <a:pt x="927607" y="1018666"/>
                    </a:lnTo>
                    <a:lnTo>
                      <a:pt x="911732" y="986536"/>
                    </a:lnTo>
                    <a:lnTo>
                      <a:pt x="885317" y="975867"/>
                    </a:lnTo>
                    <a:lnTo>
                      <a:pt x="906526" y="957199"/>
                    </a:lnTo>
                    <a:lnTo>
                      <a:pt x="892048" y="940053"/>
                    </a:lnTo>
                    <a:lnTo>
                      <a:pt x="897636" y="916177"/>
                    </a:lnTo>
                    <a:lnTo>
                      <a:pt x="906526" y="874902"/>
                    </a:lnTo>
                    <a:lnTo>
                      <a:pt x="943610" y="885571"/>
                    </a:lnTo>
                    <a:lnTo>
                      <a:pt x="961263" y="861060"/>
                    </a:lnTo>
                    <a:lnTo>
                      <a:pt x="996442" y="865632"/>
                    </a:lnTo>
                    <a:lnTo>
                      <a:pt x="971804" y="903859"/>
                    </a:lnTo>
                    <a:lnTo>
                      <a:pt x="1008888" y="916177"/>
                    </a:lnTo>
                    <a:lnTo>
                      <a:pt x="1051179" y="903859"/>
                    </a:lnTo>
                    <a:lnTo>
                      <a:pt x="1078102" y="922909"/>
                    </a:lnTo>
                    <a:lnTo>
                      <a:pt x="1086865" y="954659"/>
                    </a:lnTo>
                    <a:lnTo>
                      <a:pt x="1051179" y="963549"/>
                    </a:lnTo>
                    <a:lnTo>
                      <a:pt x="1058926" y="991362"/>
                    </a:lnTo>
                    <a:lnTo>
                      <a:pt x="1060069" y="1019937"/>
                    </a:lnTo>
                    <a:lnTo>
                      <a:pt x="1019429" y="1026287"/>
                    </a:lnTo>
                    <a:lnTo>
                      <a:pt x="1007110" y="1044701"/>
                    </a:lnTo>
                    <a:lnTo>
                      <a:pt x="1045971" y="1069086"/>
                    </a:lnTo>
                    <a:lnTo>
                      <a:pt x="1091819" y="1044701"/>
                    </a:lnTo>
                    <a:lnTo>
                      <a:pt x="1104138" y="1009523"/>
                    </a:lnTo>
                    <a:lnTo>
                      <a:pt x="1135888" y="985012"/>
                    </a:lnTo>
                    <a:lnTo>
                      <a:pt x="1192402" y="1000251"/>
                    </a:lnTo>
                    <a:lnTo>
                      <a:pt x="1218183" y="985265"/>
                    </a:lnTo>
                    <a:lnTo>
                      <a:pt x="1233677" y="1009141"/>
                    </a:lnTo>
                    <a:lnTo>
                      <a:pt x="1256283" y="1018413"/>
                    </a:lnTo>
                    <a:lnTo>
                      <a:pt x="1276095" y="1004315"/>
                    </a:lnTo>
                    <a:lnTo>
                      <a:pt x="1252474" y="985012"/>
                    </a:lnTo>
                    <a:lnTo>
                      <a:pt x="1245362" y="949833"/>
                    </a:lnTo>
                    <a:lnTo>
                      <a:pt x="1273556" y="954404"/>
                    </a:lnTo>
                    <a:lnTo>
                      <a:pt x="1298320" y="950087"/>
                    </a:lnTo>
                    <a:lnTo>
                      <a:pt x="1284224" y="917701"/>
                    </a:lnTo>
                    <a:lnTo>
                      <a:pt x="1246377" y="900557"/>
                    </a:lnTo>
                    <a:lnTo>
                      <a:pt x="1261618" y="889508"/>
                    </a:lnTo>
                    <a:lnTo>
                      <a:pt x="1247139" y="874902"/>
                    </a:lnTo>
                    <a:lnTo>
                      <a:pt x="1271777" y="858012"/>
                    </a:lnTo>
                    <a:lnTo>
                      <a:pt x="1353058" y="848867"/>
                    </a:lnTo>
                    <a:lnTo>
                      <a:pt x="1345945" y="798322"/>
                    </a:lnTo>
                    <a:lnTo>
                      <a:pt x="1289431" y="819785"/>
                    </a:lnTo>
                    <a:lnTo>
                      <a:pt x="1234820" y="815213"/>
                    </a:lnTo>
                    <a:lnTo>
                      <a:pt x="1202944" y="770763"/>
                    </a:lnTo>
                    <a:lnTo>
                      <a:pt x="1202944" y="727963"/>
                    </a:lnTo>
                    <a:lnTo>
                      <a:pt x="1252474" y="709549"/>
                    </a:lnTo>
                    <a:lnTo>
                      <a:pt x="1278889" y="677417"/>
                    </a:lnTo>
                    <a:lnTo>
                      <a:pt x="1337437" y="637666"/>
                    </a:lnTo>
                    <a:lnTo>
                      <a:pt x="1390395" y="635888"/>
                    </a:lnTo>
                    <a:lnTo>
                      <a:pt x="1430020" y="594867"/>
                    </a:lnTo>
                    <a:lnTo>
                      <a:pt x="1473454" y="598551"/>
                    </a:lnTo>
                    <a:lnTo>
                      <a:pt x="1493520" y="567944"/>
                    </a:lnTo>
                    <a:lnTo>
                      <a:pt x="1488948" y="545591"/>
                    </a:lnTo>
                    <a:lnTo>
                      <a:pt x="1462405" y="559308"/>
                    </a:lnTo>
                    <a:lnTo>
                      <a:pt x="1427099" y="554736"/>
                    </a:lnTo>
                    <a:lnTo>
                      <a:pt x="1367155" y="577723"/>
                    </a:lnTo>
                    <a:lnTo>
                      <a:pt x="1374267" y="559308"/>
                    </a:lnTo>
                    <a:lnTo>
                      <a:pt x="1384808" y="530351"/>
                    </a:lnTo>
                    <a:lnTo>
                      <a:pt x="1392936" y="487807"/>
                    </a:lnTo>
                    <a:lnTo>
                      <a:pt x="1348105" y="437261"/>
                    </a:lnTo>
                    <a:lnTo>
                      <a:pt x="1352677" y="403860"/>
                    </a:lnTo>
                    <a:lnTo>
                      <a:pt x="1303908" y="399288"/>
                    </a:lnTo>
                    <a:lnTo>
                      <a:pt x="1278889" y="415544"/>
                    </a:lnTo>
                    <a:lnTo>
                      <a:pt x="1278889" y="366522"/>
                    </a:lnTo>
                    <a:lnTo>
                      <a:pt x="1267968" y="324103"/>
                    </a:lnTo>
                    <a:lnTo>
                      <a:pt x="1241425" y="354329"/>
                    </a:lnTo>
                    <a:lnTo>
                      <a:pt x="1207262" y="367157"/>
                    </a:lnTo>
                    <a:lnTo>
                      <a:pt x="1191768" y="340613"/>
                    </a:lnTo>
                    <a:lnTo>
                      <a:pt x="1156715" y="348488"/>
                    </a:lnTo>
                    <a:lnTo>
                      <a:pt x="1139825" y="390398"/>
                    </a:lnTo>
                    <a:lnTo>
                      <a:pt x="1114044" y="384048"/>
                    </a:lnTo>
                    <a:lnTo>
                      <a:pt x="1123569" y="339598"/>
                    </a:lnTo>
                    <a:lnTo>
                      <a:pt x="1102740" y="298703"/>
                    </a:lnTo>
                    <a:lnTo>
                      <a:pt x="1050544" y="265557"/>
                    </a:lnTo>
                    <a:lnTo>
                      <a:pt x="1054100" y="202311"/>
                    </a:lnTo>
                    <a:lnTo>
                      <a:pt x="1032510" y="179070"/>
                    </a:lnTo>
                    <a:lnTo>
                      <a:pt x="1034669" y="138557"/>
                    </a:lnTo>
                    <a:lnTo>
                      <a:pt x="987298" y="146303"/>
                    </a:lnTo>
                    <a:lnTo>
                      <a:pt x="938276" y="140208"/>
                    </a:lnTo>
                    <a:lnTo>
                      <a:pt x="901192" y="136778"/>
                    </a:lnTo>
                    <a:lnTo>
                      <a:pt x="900176" y="87249"/>
                    </a:lnTo>
                    <a:lnTo>
                      <a:pt x="879348" y="60578"/>
                    </a:lnTo>
                    <a:lnTo>
                      <a:pt x="890651" y="34925"/>
                    </a:lnTo>
                    <a:lnTo>
                      <a:pt x="807593" y="25400"/>
                    </a:lnTo>
                    <a:lnTo>
                      <a:pt x="780415" y="0"/>
                    </a:lnTo>
                    <a:close/>
                  </a:path>
                </a:pathLst>
              </a:custGeom>
              <a:solidFill>
                <a:srgbClr val="6FAC46"/>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4" name="object 159">
                <a:extLst>
                  <a:ext uri="{FF2B5EF4-FFF2-40B4-BE49-F238E27FC236}">
                    <a16:creationId xmlns:a16="http://schemas.microsoft.com/office/drawing/2014/main" id="{922283B2-0CBF-4F0B-92DF-BD012E45A2D7}"/>
                  </a:ext>
                </a:extLst>
              </p:cNvPr>
              <p:cNvSpPr/>
              <p:nvPr/>
            </p:nvSpPr>
            <p:spPr>
              <a:xfrm>
                <a:off x="819912" y="2438400"/>
                <a:ext cx="1493520" cy="1170940"/>
              </a:xfrm>
              <a:custGeom>
                <a:avLst/>
                <a:gdLst/>
                <a:ahLst/>
                <a:cxnLst/>
                <a:rect l="l" t="t" r="r" b="b"/>
                <a:pathLst>
                  <a:path w="1493520" h="1170939">
                    <a:moveTo>
                      <a:pt x="256273" y="874902"/>
                    </a:moveTo>
                    <a:lnTo>
                      <a:pt x="228028" y="838073"/>
                    </a:lnTo>
                    <a:lnTo>
                      <a:pt x="222745" y="810640"/>
                    </a:lnTo>
                    <a:lnTo>
                      <a:pt x="192379" y="765555"/>
                    </a:lnTo>
                    <a:lnTo>
                      <a:pt x="201917" y="743585"/>
                    </a:lnTo>
                    <a:lnTo>
                      <a:pt x="176491" y="706501"/>
                    </a:lnTo>
                    <a:lnTo>
                      <a:pt x="134137" y="709549"/>
                    </a:lnTo>
                    <a:lnTo>
                      <a:pt x="90360" y="654558"/>
                    </a:lnTo>
                    <a:lnTo>
                      <a:pt x="106603" y="610108"/>
                    </a:lnTo>
                    <a:lnTo>
                      <a:pt x="118605" y="553212"/>
                    </a:lnTo>
                    <a:lnTo>
                      <a:pt x="74841" y="550799"/>
                    </a:lnTo>
                    <a:lnTo>
                      <a:pt x="15887" y="534924"/>
                    </a:lnTo>
                    <a:lnTo>
                      <a:pt x="0" y="508508"/>
                    </a:lnTo>
                    <a:lnTo>
                      <a:pt x="6350" y="466344"/>
                    </a:lnTo>
                    <a:lnTo>
                      <a:pt x="61417" y="422275"/>
                    </a:lnTo>
                    <a:lnTo>
                      <a:pt x="114020" y="382777"/>
                    </a:lnTo>
                    <a:lnTo>
                      <a:pt x="166966" y="315849"/>
                    </a:lnTo>
                    <a:lnTo>
                      <a:pt x="191325" y="314833"/>
                    </a:lnTo>
                    <a:lnTo>
                      <a:pt x="219214" y="325627"/>
                    </a:lnTo>
                    <a:lnTo>
                      <a:pt x="217792" y="364998"/>
                    </a:lnTo>
                    <a:lnTo>
                      <a:pt x="248856" y="376047"/>
                    </a:lnTo>
                    <a:lnTo>
                      <a:pt x="322986" y="358013"/>
                    </a:lnTo>
                    <a:lnTo>
                      <a:pt x="410527" y="353440"/>
                    </a:lnTo>
                    <a:lnTo>
                      <a:pt x="441248" y="305688"/>
                    </a:lnTo>
                    <a:lnTo>
                      <a:pt x="478281" y="279019"/>
                    </a:lnTo>
                    <a:lnTo>
                      <a:pt x="499872" y="233425"/>
                    </a:lnTo>
                    <a:lnTo>
                      <a:pt x="541147" y="195579"/>
                    </a:lnTo>
                    <a:lnTo>
                      <a:pt x="585597" y="190880"/>
                    </a:lnTo>
                    <a:lnTo>
                      <a:pt x="636143" y="142239"/>
                    </a:lnTo>
                    <a:lnTo>
                      <a:pt x="672084" y="91821"/>
                    </a:lnTo>
                    <a:lnTo>
                      <a:pt x="706374" y="18414"/>
                    </a:lnTo>
                    <a:lnTo>
                      <a:pt x="780415" y="0"/>
                    </a:lnTo>
                    <a:lnTo>
                      <a:pt x="807593" y="25400"/>
                    </a:lnTo>
                    <a:lnTo>
                      <a:pt x="890651" y="34925"/>
                    </a:lnTo>
                    <a:lnTo>
                      <a:pt x="879348" y="60578"/>
                    </a:lnTo>
                    <a:lnTo>
                      <a:pt x="900176" y="87249"/>
                    </a:lnTo>
                    <a:lnTo>
                      <a:pt x="901192" y="136778"/>
                    </a:lnTo>
                    <a:lnTo>
                      <a:pt x="938276" y="140208"/>
                    </a:lnTo>
                    <a:lnTo>
                      <a:pt x="987298" y="146303"/>
                    </a:lnTo>
                    <a:lnTo>
                      <a:pt x="1034669" y="138557"/>
                    </a:lnTo>
                    <a:lnTo>
                      <a:pt x="1032510" y="179070"/>
                    </a:lnTo>
                    <a:lnTo>
                      <a:pt x="1054100" y="202311"/>
                    </a:lnTo>
                    <a:lnTo>
                      <a:pt x="1050544" y="265557"/>
                    </a:lnTo>
                    <a:lnTo>
                      <a:pt x="1102740" y="298703"/>
                    </a:lnTo>
                    <a:lnTo>
                      <a:pt x="1123569" y="339598"/>
                    </a:lnTo>
                    <a:lnTo>
                      <a:pt x="1114044" y="384048"/>
                    </a:lnTo>
                    <a:lnTo>
                      <a:pt x="1139825" y="390398"/>
                    </a:lnTo>
                    <a:lnTo>
                      <a:pt x="1156715" y="348488"/>
                    </a:lnTo>
                    <a:lnTo>
                      <a:pt x="1191768" y="340613"/>
                    </a:lnTo>
                    <a:lnTo>
                      <a:pt x="1207262" y="367157"/>
                    </a:lnTo>
                    <a:lnTo>
                      <a:pt x="1241425" y="354329"/>
                    </a:lnTo>
                    <a:lnTo>
                      <a:pt x="1267968" y="324103"/>
                    </a:lnTo>
                    <a:lnTo>
                      <a:pt x="1278889" y="366522"/>
                    </a:lnTo>
                    <a:lnTo>
                      <a:pt x="1278889" y="415544"/>
                    </a:lnTo>
                    <a:lnTo>
                      <a:pt x="1303908" y="399288"/>
                    </a:lnTo>
                    <a:lnTo>
                      <a:pt x="1352677" y="403860"/>
                    </a:lnTo>
                    <a:lnTo>
                      <a:pt x="1348105" y="437261"/>
                    </a:lnTo>
                    <a:lnTo>
                      <a:pt x="1392936" y="487807"/>
                    </a:lnTo>
                    <a:lnTo>
                      <a:pt x="1384808" y="530351"/>
                    </a:lnTo>
                    <a:lnTo>
                      <a:pt x="1374267" y="559308"/>
                    </a:lnTo>
                    <a:lnTo>
                      <a:pt x="1367155" y="577723"/>
                    </a:lnTo>
                    <a:lnTo>
                      <a:pt x="1427099" y="554736"/>
                    </a:lnTo>
                    <a:lnTo>
                      <a:pt x="1462405" y="559308"/>
                    </a:lnTo>
                    <a:lnTo>
                      <a:pt x="1488948" y="545591"/>
                    </a:lnTo>
                    <a:lnTo>
                      <a:pt x="1493520" y="567944"/>
                    </a:lnTo>
                    <a:lnTo>
                      <a:pt x="1473454" y="598551"/>
                    </a:lnTo>
                    <a:lnTo>
                      <a:pt x="1430020" y="594867"/>
                    </a:lnTo>
                    <a:lnTo>
                      <a:pt x="1390395" y="635888"/>
                    </a:lnTo>
                    <a:lnTo>
                      <a:pt x="1337437" y="637666"/>
                    </a:lnTo>
                    <a:lnTo>
                      <a:pt x="1278889" y="677417"/>
                    </a:lnTo>
                    <a:lnTo>
                      <a:pt x="1252474" y="709549"/>
                    </a:lnTo>
                    <a:lnTo>
                      <a:pt x="1202944" y="727963"/>
                    </a:lnTo>
                    <a:lnTo>
                      <a:pt x="1202944" y="770763"/>
                    </a:lnTo>
                    <a:lnTo>
                      <a:pt x="1234820" y="815213"/>
                    </a:lnTo>
                    <a:lnTo>
                      <a:pt x="1289431" y="819785"/>
                    </a:lnTo>
                    <a:lnTo>
                      <a:pt x="1345945" y="798322"/>
                    </a:lnTo>
                    <a:lnTo>
                      <a:pt x="1353058" y="848867"/>
                    </a:lnTo>
                    <a:lnTo>
                      <a:pt x="1271777" y="858012"/>
                    </a:lnTo>
                    <a:lnTo>
                      <a:pt x="1247139" y="874902"/>
                    </a:lnTo>
                    <a:lnTo>
                      <a:pt x="1261618" y="889508"/>
                    </a:lnTo>
                    <a:lnTo>
                      <a:pt x="1246377" y="900557"/>
                    </a:lnTo>
                    <a:lnTo>
                      <a:pt x="1284224" y="917701"/>
                    </a:lnTo>
                    <a:lnTo>
                      <a:pt x="1298320" y="950087"/>
                    </a:lnTo>
                    <a:lnTo>
                      <a:pt x="1273556" y="954404"/>
                    </a:lnTo>
                    <a:lnTo>
                      <a:pt x="1245362" y="949833"/>
                    </a:lnTo>
                    <a:lnTo>
                      <a:pt x="1252474" y="985012"/>
                    </a:lnTo>
                    <a:lnTo>
                      <a:pt x="1276095" y="1004315"/>
                    </a:lnTo>
                    <a:lnTo>
                      <a:pt x="1256283" y="1018413"/>
                    </a:lnTo>
                    <a:lnTo>
                      <a:pt x="1233677" y="1009141"/>
                    </a:lnTo>
                    <a:lnTo>
                      <a:pt x="1218183" y="985265"/>
                    </a:lnTo>
                    <a:lnTo>
                      <a:pt x="1192402" y="1000251"/>
                    </a:lnTo>
                    <a:lnTo>
                      <a:pt x="1135888" y="985012"/>
                    </a:lnTo>
                    <a:lnTo>
                      <a:pt x="1104138" y="1009523"/>
                    </a:lnTo>
                    <a:lnTo>
                      <a:pt x="1091819" y="1044701"/>
                    </a:lnTo>
                    <a:lnTo>
                      <a:pt x="1045971" y="1069086"/>
                    </a:lnTo>
                    <a:lnTo>
                      <a:pt x="1007110" y="1044701"/>
                    </a:lnTo>
                    <a:lnTo>
                      <a:pt x="1019429" y="1026287"/>
                    </a:lnTo>
                    <a:lnTo>
                      <a:pt x="1060069" y="1019937"/>
                    </a:lnTo>
                    <a:lnTo>
                      <a:pt x="1058926" y="991362"/>
                    </a:lnTo>
                    <a:lnTo>
                      <a:pt x="1051179" y="963549"/>
                    </a:lnTo>
                    <a:lnTo>
                      <a:pt x="1086865" y="954659"/>
                    </a:lnTo>
                    <a:lnTo>
                      <a:pt x="1078102" y="922909"/>
                    </a:lnTo>
                    <a:lnTo>
                      <a:pt x="1051179" y="903859"/>
                    </a:lnTo>
                    <a:lnTo>
                      <a:pt x="1008888" y="916177"/>
                    </a:lnTo>
                    <a:lnTo>
                      <a:pt x="971804" y="903859"/>
                    </a:lnTo>
                    <a:lnTo>
                      <a:pt x="996442" y="865632"/>
                    </a:lnTo>
                    <a:lnTo>
                      <a:pt x="961263" y="861060"/>
                    </a:lnTo>
                    <a:lnTo>
                      <a:pt x="943610" y="885571"/>
                    </a:lnTo>
                    <a:lnTo>
                      <a:pt x="906526" y="874902"/>
                    </a:lnTo>
                    <a:lnTo>
                      <a:pt x="897636" y="916177"/>
                    </a:lnTo>
                    <a:lnTo>
                      <a:pt x="892048" y="940053"/>
                    </a:lnTo>
                    <a:lnTo>
                      <a:pt x="906526" y="957199"/>
                    </a:lnTo>
                    <a:lnTo>
                      <a:pt x="885317" y="975867"/>
                    </a:lnTo>
                    <a:lnTo>
                      <a:pt x="911732" y="986536"/>
                    </a:lnTo>
                    <a:lnTo>
                      <a:pt x="927607" y="1018666"/>
                    </a:lnTo>
                    <a:lnTo>
                      <a:pt x="908304" y="1046226"/>
                    </a:lnTo>
                    <a:lnTo>
                      <a:pt x="916051" y="1083183"/>
                    </a:lnTo>
                    <a:lnTo>
                      <a:pt x="849630" y="1115060"/>
                    </a:lnTo>
                    <a:lnTo>
                      <a:pt x="839469" y="1136523"/>
                    </a:lnTo>
                    <a:lnTo>
                      <a:pt x="881126" y="1156335"/>
                    </a:lnTo>
                    <a:lnTo>
                      <a:pt x="843280" y="1170432"/>
                    </a:lnTo>
                    <a:lnTo>
                      <a:pt x="802766" y="1170432"/>
                    </a:lnTo>
                    <a:lnTo>
                      <a:pt x="743076" y="1128776"/>
                    </a:lnTo>
                    <a:lnTo>
                      <a:pt x="679831" y="1101216"/>
                    </a:lnTo>
                    <a:lnTo>
                      <a:pt x="679831" y="1078357"/>
                    </a:lnTo>
                    <a:lnTo>
                      <a:pt x="645668" y="1064005"/>
                    </a:lnTo>
                    <a:lnTo>
                      <a:pt x="632206" y="1046226"/>
                    </a:lnTo>
                    <a:lnTo>
                      <a:pt x="657225" y="1018032"/>
                    </a:lnTo>
                    <a:lnTo>
                      <a:pt x="638175" y="998474"/>
                    </a:lnTo>
                    <a:lnTo>
                      <a:pt x="610997" y="999744"/>
                    </a:lnTo>
                    <a:lnTo>
                      <a:pt x="595884" y="968121"/>
                    </a:lnTo>
                    <a:lnTo>
                      <a:pt x="619887" y="948309"/>
                    </a:lnTo>
                    <a:lnTo>
                      <a:pt x="579247" y="929894"/>
                    </a:lnTo>
                    <a:lnTo>
                      <a:pt x="543306" y="938784"/>
                    </a:lnTo>
                    <a:lnTo>
                      <a:pt x="489203" y="916177"/>
                    </a:lnTo>
                    <a:lnTo>
                      <a:pt x="450722" y="907923"/>
                    </a:lnTo>
                    <a:lnTo>
                      <a:pt x="425716" y="880363"/>
                    </a:lnTo>
                    <a:lnTo>
                      <a:pt x="392531" y="892937"/>
                    </a:lnTo>
                    <a:lnTo>
                      <a:pt x="343115" y="884936"/>
                    </a:lnTo>
                    <a:lnTo>
                      <a:pt x="290156" y="885571"/>
                    </a:lnTo>
                    <a:lnTo>
                      <a:pt x="256273" y="874902"/>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5" name="object 160">
                <a:extLst>
                  <a:ext uri="{FF2B5EF4-FFF2-40B4-BE49-F238E27FC236}">
                    <a16:creationId xmlns:a16="http://schemas.microsoft.com/office/drawing/2014/main" id="{67DCC86D-3376-4833-AB6B-E2AB8C6A9A63}"/>
                  </a:ext>
                </a:extLst>
              </p:cNvPr>
              <p:cNvSpPr/>
              <p:nvPr/>
            </p:nvSpPr>
            <p:spPr>
              <a:xfrm>
                <a:off x="504444" y="3332988"/>
                <a:ext cx="1113282" cy="781050"/>
              </a:xfrm>
              <a:prstGeom prst="rect">
                <a:avLst/>
              </a:prstGeom>
              <a:blipFill>
                <a:blip r:embed="rId9"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6" name="object 161">
                <a:extLst>
                  <a:ext uri="{FF2B5EF4-FFF2-40B4-BE49-F238E27FC236}">
                    <a16:creationId xmlns:a16="http://schemas.microsoft.com/office/drawing/2014/main" id="{760CB429-2F44-42C6-A87B-3C330352D155}"/>
                  </a:ext>
                </a:extLst>
              </p:cNvPr>
              <p:cNvSpPr/>
              <p:nvPr/>
            </p:nvSpPr>
            <p:spPr>
              <a:xfrm>
                <a:off x="522731" y="3313176"/>
                <a:ext cx="1103630" cy="771525"/>
              </a:xfrm>
              <a:custGeom>
                <a:avLst/>
                <a:gdLst/>
                <a:ahLst/>
                <a:cxnLst/>
                <a:rect l="l" t="t" r="r" b="b"/>
                <a:pathLst>
                  <a:path w="1103630" h="771525">
                    <a:moveTo>
                      <a:pt x="552742" y="0"/>
                    </a:moveTo>
                    <a:lnTo>
                      <a:pt x="553808" y="34289"/>
                    </a:lnTo>
                    <a:lnTo>
                      <a:pt x="580275" y="32512"/>
                    </a:lnTo>
                    <a:lnTo>
                      <a:pt x="578154" y="44450"/>
                    </a:lnTo>
                    <a:lnTo>
                      <a:pt x="542163" y="52450"/>
                    </a:lnTo>
                    <a:lnTo>
                      <a:pt x="509333" y="61849"/>
                    </a:lnTo>
                    <a:lnTo>
                      <a:pt x="478624" y="62864"/>
                    </a:lnTo>
                    <a:lnTo>
                      <a:pt x="476504" y="31496"/>
                    </a:lnTo>
                    <a:lnTo>
                      <a:pt x="440499" y="32512"/>
                    </a:lnTo>
                    <a:lnTo>
                      <a:pt x="392150" y="53339"/>
                    </a:lnTo>
                    <a:lnTo>
                      <a:pt x="357911" y="69214"/>
                    </a:lnTo>
                    <a:lnTo>
                      <a:pt x="315556" y="65532"/>
                    </a:lnTo>
                    <a:lnTo>
                      <a:pt x="285902" y="37084"/>
                    </a:lnTo>
                    <a:lnTo>
                      <a:pt x="250609" y="51815"/>
                    </a:lnTo>
                    <a:lnTo>
                      <a:pt x="189547" y="37973"/>
                    </a:lnTo>
                    <a:lnTo>
                      <a:pt x="150012" y="42545"/>
                    </a:lnTo>
                    <a:lnTo>
                      <a:pt x="134124" y="80010"/>
                    </a:lnTo>
                    <a:lnTo>
                      <a:pt x="106946" y="84836"/>
                    </a:lnTo>
                    <a:lnTo>
                      <a:pt x="65303" y="90043"/>
                    </a:lnTo>
                    <a:lnTo>
                      <a:pt x="43408" y="83947"/>
                    </a:lnTo>
                    <a:lnTo>
                      <a:pt x="26123" y="99313"/>
                    </a:lnTo>
                    <a:lnTo>
                      <a:pt x="0" y="123444"/>
                    </a:lnTo>
                    <a:lnTo>
                      <a:pt x="37058" y="138811"/>
                    </a:lnTo>
                    <a:lnTo>
                      <a:pt x="63538" y="125349"/>
                    </a:lnTo>
                    <a:lnTo>
                      <a:pt x="118249" y="108712"/>
                    </a:lnTo>
                    <a:lnTo>
                      <a:pt x="114363" y="120650"/>
                    </a:lnTo>
                    <a:lnTo>
                      <a:pt x="65646" y="151002"/>
                    </a:lnTo>
                    <a:lnTo>
                      <a:pt x="68834" y="172465"/>
                    </a:lnTo>
                    <a:lnTo>
                      <a:pt x="75882" y="208914"/>
                    </a:lnTo>
                    <a:lnTo>
                      <a:pt x="142951" y="268732"/>
                    </a:lnTo>
                    <a:lnTo>
                      <a:pt x="201193" y="299338"/>
                    </a:lnTo>
                    <a:lnTo>
                      <a:pt x="259435" y="305435"/>
                    </a:lnTo>
                    <a:lnTo>
                      <a:pt x="306730" y="287020"/>
                    </a:lnTo>
                    <a:lnTo>
                      <a:pt x="361442" y="273303"/>
                    </a:lnTo>
                    <a:lnTo>
                      <a:pt x="387908" y="244221"/>
                    </a:lnTo>
                    <a:lnTo>
                      <a:pt x="430263" y="245745"/>
                    </a:lnTo>
                    <a:lnTo>
                      <a:pt x="436270" y="260476"/>
                    </a:lnTo>
                    <a:lnTo>
                      <a:pt x="419684" y="300863"/>
                    </a:lnTo>
                    <a:lnTo>
                      <a:pt x="382612" y="310006"/>
                    </a:lnTo>
                    <a:lnTo>
                      <a:pt x="340258" y="354456"/>
                    </a:lnTo>
                    <a:lnTo>
                      <a:pt x="313791" y="342265"/>
                    </a:lnTo>
                    <a:lnTo>
                      <a:pt x="285902" y="368300"/>
                    </a:lnTo>
                    <a:lnTo>
                      <a:pt x="255905" y="360553"/>
                    </a:lnTo>
                    <a:lnTo>
                      <a:pt x="240017" y="388238"/>
                    </a:lnTo>
                    <a:lnTo>
                      <a:pt x="174713" y="400685"/>
                    </a:lnTo>
                    <a:lnTo>
                      <a:pt x="187071" y="363728"/>
                    </a:lnTo>
                    <a:lnTo>
                      <a:pt x="153543" y="365251"/>
                    </a:lnTo>
                    <a:lnTo>
                      <a:pt x="137655" y="386588"/>
                    </a:lnTo>
                    <a:lnTo>
                      <a:pt x="176479" y="443611"/>
                    </a:lnTo>
                    <a:lnTo>
                      <a:pt x="222364" y="471169"/>
                    </a:lnTo>
                    <a:lnTo>
                      <a:pt x="280606" y="540131"/>
                    </a:lnTo>
                    <a:lnTo>
                      <a:pt x="364972" y="627126"/>
                    </a:lnTo>
                    <a:lnTo>
                      <a:pt x="417918" y="653161"/>
                    </a:lnTo>
                    <a:lnTo>
                      <a:pt x="468033" y="654685"/>
                    </a:lnTo>
                    <a:lnTo>
                      <a:pt x="486041" y="660907"/>
                    </a:lnTo>
                    <a:lnTo>
                      <a:pt x="495566" y="661162"/>
                    </a:lnTo>
                    <a:lnTo>
                      <a:pt x="505091" y="661797"/>
                    </a:lnTo>
                    <a:lnTo>
                      <a:pt x="522744" y="651001"/>
                    </a:lnTo>
                    <a:lnTo>
                      <a:pt x="547103" y="645541"/>
                    </a:lnTo>
                    <a:lnTo>
                      <a:pt x="578866" y="625601"/>
                    </a:lnTo>
                    <a:lnTo>
                      <a:pt x="637108" y="621030"/>
                    </a:lnTo>
                    <a:lnTo>
                      <a:pt x="690054" y="580009"/>
                    </a:lnTo>
                    <a:lnTo>
                      <a:pt x="734872" y="548132"/>
                    </a:lnTo>
                    <a:lnTo>
                      <a:pt x="743343" y="509524"/>
                    </a:lnTo>
                    <a:lnTo>
                      <a:pt x="734872" y="470916"/>
                    </a:lnTo>
                    <a:lnTo>
                      <a:pt x="736993" y="439674"/>
                    </a:lnTo>
                    <a:lnTo>
                      <a:pt x="751840" y="426719"/>
                    </a:lnTo>
                    <a:lnTo>
                      <a:pt x="779399" y="408431"/>
                    </a:lnTo>
                    <a:lnTo>
                      <a:pt x="827659" y="416051"/>
                    </a:lnTo>
                    <a:lnTo>
                      <a:pt x="832993" y="443611"/>
                    </a:lnTo>
                    <a:lnTo>
                      <a:pt x="778256" y="446659"/>
                    </a:lnTo>
                    <a:lnTo>
                      <a:pt x="774700" y="478917"/>
                    </a:lnTo>
                    <a:lnTo>
                      <a:pt x="817118" y="478917"/>
                    </a:lnTo>
                    <a:lnTo>
                      <a:pt x="783590" y="515619"/>
                    </a:lnTo>
                    <a:lnTo>
                      <a:pt x="827659" y="520192"/>
                    </a:lnTo>
                    <a:lnTo>
                      <a:pt x="788924" y="590676"/>
                    </a:lnTo>
                    <a:lnTo>
                      <a:pt x="820674" y="625601"/>
                    </a:lnTo>
                    <a:lnTo>
                      <a:pt x="833374" y="649859"/>
                    </a:lnTo>
                    <a:lnTo>
                      <a:pt x="827024" y="678561"/>
                    </a:lnTo>
                    <a:lnTo>
                      <a:pt x="825881" y="710438"/>
                    </a:lnTo>
                    <a:lnTo>
                      <a:pt x="828802" y="708913"/>
                    </a:lnTo>
                    <a:lnTo>
                      <a:pt x="835152" y="709930"/>
                    </a:lnTo>
                    <a:lnTo>
                      <a:pt x="834390" y="712597"/>
                    </a:lnTo>
                    <a:lnTo>
                      <a:pt x="830199" y="714121"/>
                    </a:lnTo>
                    <a:lnTo>
                      <a:pt x="829818" y="716915"/>
                    </a:lnTo>
                    <a:lnTo>
                      <a:pt x="834390" y="716026"/>
                    </a:lnTo>
                    <a:lnTo>
                      <a:pt x="837565" y="718693"/>
                    </a:lnTo>
                    <a:lnTo>
                      <a:pt x="835152" y="719963"/>
                    </a:lnTo>
                    <a:lnTo>
                      <a:pt x="834390" y="722376"/>
                    </a:lnTo>
                    <a:lnTo>
                      <a:pt x="835533" y="724535"/>
                    </a:lnTo>
                    <a:lnTo>
                      <a:pt x="832993" y="725169"/>
                    </a:lnTo>
                    <a:lnTo>
                      <a:pt x="826643" y="725551"/>
                    </a:lnTo>
                    <a:lnTo>
                      <a:pt x="820674" y="726440"/>
                    </a:lnTo>
                    <a:lnTo>
                      <a:pt x="794131" y="746632"/>
                    </a:lnTo>
                    <a:lnTo>
                      <a:pt x="819277" y="752729"/>
                    </a:lnTo>
                    <a:lnTo>
                      <a:pt x="816356" y="748411"/>
                    </a:lnTo>
                    <a:lnTo>
                      <a:pt x="820674" y="744855"/>
                    </a:lnTo>
                    <a:lnTo>
                      <a:pt x="828040" y="748411"/>
                    </a:lnTo>
                    <a:lnTo>
                      <a:pt x="827659" y="744474"/>
                    </a:lnTo>
                    <a:lnTo>
                      <a:pt x="840740" y="744855"/>
                    </a:lnTo>
                    <a:lnTo>
                      <a:pt x="843915" y="737997"/>
                    </a:lnTo>
                    <a:lnTo>
                      <a:pt x="849884" y="739267"/>
                    </a:lnTo>
                    <a:lnTo>
                      <a:pt x="851408" y="734441"/>
                    </a:lnTo>
                    <a:lnTo>
                      <a:pt x="853440" y="732790"/>
                    </a:lnTo>
                    <a:lnTo>
                      <a:pt x="854583" y="737107"/>
                    </a:lnTo>
                    <a:lnTo>
                      <a:pt x="854202" y="741172"/>
                    </a:lnTo>
                    <a:lnTo>
                      <a:pt x="855599" y="742061"/>
                    </a:lnTo>
                    <a:lnTo>
                      <a:pt x="860933" y="741680"/>
                    </a:lnTo>
                    <a:lnTo>
                      <a:pt x="867918" y="742061"/>
                    </a:lnTo>
                    <a:lnTo>
                      <a:pt x="867283" y="744474"/>
                    </a:lnTo>
                    <a:lnTo>
                      <a:pt x="862711" y="745363"/>
                    </a:lnTo>
                    <a:lnTo>
                      <a:pt x="855599" y="750951"/>
                    </a:lnTo>
                    <a:lnTo>
                      <a:pt x="853440" y="753110"/>
                    </a:lnTo>
                    <a:lnTo>
                      <a:pt x="849884" y="755776"/>
                    </a:lnTo>
                    <a:lnTo>
                      <a:pt x="845058" y="756412"/>
                    </a:lnTo>
                    <a:lnTo>
                      <a:pt x="842899" y="758571"/>
                    </a:lnTo>
                    <a:lnTo>
                      <a:pt x="842899" y="763143"/>
                    </a:lnTo>
                    <a:lnTo>
                      <a:pt x="845058" y="767715"/>
                    </a:lnTo>
                    <a:lnTo>
                      <a:pt x="847852" y="766826"/>
                    </a:lnTo>
                    <a:lnTo>
                      <a:pt x="850265" y="771144"/>
                    </a:lnTo>
                    <a:lnTo>
                      <a:pt x="852424" y="768350"/>
                    </a:lnTo>
                    <a:lnTo>
                      <a:pt x="856361" y="770255"/>
                    </a:lnTo>
                    <a:lnTo>
                      <a:pt x="862965" y="767715"/>
                    </a:lnTo>
                    <a:lnTo>
                      <a:pt x="862711" y="765048"/>
                    </a:lnTo>
                    <a:lnTo>
                      <a:pt x="866902" y="763143"/>
                    </a:lnTo>
                    <a:lnTo>
                      <a:pt x="882015" y="765682"/>
                    </a:lnTo>
                    <a:lnTo>
                      <a:pt x="894461" y="766572"/>
                    </a:lnTo>
                    <a:lnTo>
                      <a:pt x="922655" y="722122"/>
                    </a:lnTo>
                    <a:lnTo>
                      <a:pt x="915543" y="677672"/>
                    </a:lnTo>
                    <a:lnTo>
                      <a:pt x="968502" y="708279"/>
                    </a:lnTo>
                    <a:lnTo>
                      <a:pt x="1012698" y="676148"/>
                    </a:lnTo>
                    <a:lnTo>
                      <a:pt x="1005586" y="645541"/>
                    </a:lnTo>
                    <a:lnTo>
                      <a:pt x="963295" y="617982"/>
                    </a:lnTo>
                    <a:lnTo>
                      <a:pt x="1017270" y="581532"/>
                    </a:lnTo>
                    <a:lnTo>
                      <a:pt x="1070610" y="558546"/>
                    </a:lnTo>
                    <a:lnTo>
                      <a:pt x="1022604" y="548386"/>
                    </a:lnTo>
                    <a:lnTo>
                      <a:pt x="997458" y="543813"/>
                    </a:lnTo>
                    <a:lnTo>
                      <a:pt x="996061" y="507111"/>
                    </a:lnTo>
                    <a:lnTo>
                      <a:pt x="1037336" y="483107"/>
                    </a:lnTo>
                    <a:lnTo>
                      <a:pt x="1033526" y="456184"/>
                    </a:lnTo>
                    <a:lnTo>
                      <a:pt x="1020826" y="434086"/>
                    </a:lnTo>
                    <a:lnTo>
                      <a:pt x="1029208" y="419481"/>
                    </a:lnTo>
                    <a:lnTo>
                      <a:pt x="1054608" y="423163"/>
                    </a:lnTo>
                    <a:lnTo>
                      <a:pt x="1065276" y="408431"/>
                    </a:lnTo>
                    <a:lnTo>
                      <a:pt x="1035558" y="401066"/>
                    </a:lnTo>
                    <a:lnTo>
                      <a:pt x="1022858" y="388238"/>
                    </a:lnTo>
                    <a:lnTo>
                      <a:pt x="1092835" y="356869"/>
                    </a:lnTo>
                    <a:lnTo>
                      <a:pt x="1103376" y="331216"/>
                    </a:lnTo>
                    <a:lnTo>
                      <a:pt x="1075817" y="316484"/>
                    </a:lnTo>
                    <a:lnTo>
                      <a:pt x="1097407" y="296291"/>
                    </a:lnTo>
                    <a:lnTo>
                      <a:pt x="1071626" y="276987"/>
                    </a:lnTo>
                    <a:lnTo>
                      <a:pt x="1038479" y="253619"/>
                    </a:lnTo>
                    <a:lnTo>
                      <a:pt x="975614" y="227329"/>
                    </a:lnTo>
                    <a:lnTo>
                      <a:pt x="975614" y="204343"/>
                    </a:lnTo>
                    <a:lnTo>
                      <a:pt x="942467" y="189611"/>
                    </a:lnTo>
                    <a:lnTo>
                      <a:pt x="928624" y="171831"/>
                    </a:lnTo>
                    <a:lnTo>
                      <a:pt x="953008" y="143637"/>
                    </a:lnTo>
                    <a:lnTo>
                      <a:pt x="933958" y="124333"/>
                    </a:lnTo>
                    <a:lnTo>
                      <a:pt x="907542" y="124968"/>
                    </a:lnTo>
                    <a:lnTo>
                      <a:pt x="892302" y="93725"/>
                    </a:lnTo>
                    <a:lnTo>
                      <a:pt x="915924" y="73787"/>
                    </a:lnTo>
                    <a:lnTo>
                      <a:pt x="875411" y="55499"/>
                    </a:lnTo>
                    <a:lnTo>
                      <a:pt x="839343" y="63753"/>
                    </a:lnTo>
                    <a:lnTo>
                      <a:pt x="787527" y="42545"/>
                    </a:lnTo>
                    <a:lnTo>
                      <a:pt x="746531" y="33147"/>
                    </a:lnTo>
                    <a:lnTo>
                      <a:pt x="722172" y="6476"/>
                    </a:lnTo>
                    <a:lnTo>
                      <a:pt x="687933" y="17779"/>
                    </a:lnTo>
                    <a:lnTo>
                      <a:pt x="640283" y="10413"/>
                    </a:lnTo>
                    <a:lnTo>
                      <a:pt x="586625" y="11049"/>
                    </a:lnTo>
                    <a:lnTo>
                      <a:pt x="552742" y="0"/>
                    </a:lnTo>
                    <a:close/>
                  </a:path>
                </a:pathLst>
              </a:custGeom>
              <a:solidFill>
                <a:srgbClr val="6FAC46"/>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7" name="object 162">
                <a:extLst>
                  <a:ext uri="{FF2B5EF4-FFF2-40B4-BE49-F238E27FC236}">
                    <a16:creationId xmlns:a16="http://schemas.microsoft.com/office/drawing/2014/main" id="{8D432ADC-008F-4418-9B9A-91B12EFB0B6F}"/>
                  </a:ext>
                </a:extLst>
              </p:cNvPr>
              <p:cNvSpPr/>
              <p:nvPr/>
            </p:nvSpPr>
            <p:spPr>
              <a:xfrm>
                <a:off x="522731" y="3313176"/>
                <a:ext cx="1103630" cy="771525"/>
              </a:xfrm>
              <a:custGeom>
                <a:avLst/>
                <a:gdLst/>
                <a:ahLst/>
                <a:cxnLst/>
                <a:rect l="l" t="t" r="r" b="b"/>
                <a:pathLst>
                  <a:path w="1103630" h="771525">
                    <a:moveTo>
                      <a:pt x="68834" y="172465"/>
                    </a:moveTo>
                    <a:lnTo>
                      <a:pt x="75882" y="208914"/>
                    </a:lnTo>
                    <a:lnTo>
                      <a:pt x="142951" y="268732"/>
                    </a:lnTo>
                    <a:lnTo>
                      <a:pt x="201193" y="299338"/>
                    </a:lnTo>
                    <a:lnTo>
                      <a:pt x="259435" y="305435"/>
                    </a:lnTo>
                    <a:lnTo>
                      <a:pt x="306730" y="287020"/>
                    </a:lnTo>
                    <a:lnTo>
                      <a:pt x="361442" y="273303"/>
                    </a:lnTo>
                    <a:lnTo>
                      <a:pt x="387908" y="244221"/>
                    </a:lnTo>
                    <a:lnTo>
                      <a:pt x="430263" y="245745"/>
                    </a:lnTo>
                    <a:lnTo>
                      <a:pt x="436270" y="260476"/>
                    </a:lnTo>
                    <a:lnTo>
                      <a:pt x="419684" y="300863"/>
                    </a:lnTo>
                    <a:lnTo>
                      <a:pt x="382612" y="310006"/>
                    </a:lnTo>
                    <a:lnTo>
                      <a:pt x="340258" y="354456"/>
                    </a:lnTo>
                    <a:lnTo>
                      <a:pt x="313791" y="342265"/>
                    </a:lnTo>
                    <a:lnTo>
                      <a:pt x="285902" y="368300"/>
                    </a:lnTo>
                    <a:lnTo>
                      <a:pt x="255905" y="360553"/>
                    </a:lnTo>
                    <a:lnTo>
                      <a:pt x="240017" y="388238"/>
                    </a:lnTo>
                    <a:lnTo>
                      <a:pt x="174713" y="400685"/>
                    </a:lnTo>
                    <a:lnTo>
                      <a:pt x="187071" y="363728"/>
                    </a:lnTo>
                    <a:lnTo>
                      <a:pt x="153543" y="365251"/>
                    </a:lnTo>
                    <a:lnTo>
                      <a:pt x="137655" y="386588"/>
                    </a:lnTo>
                    <a:lnTo>
                      <a:pt x="176479" y="443611"/>
                    </a:lnTo>
                    <a:lnTo>
                      <a:pt x="222364" y="471169"/>
                    </a:lnTo>
                    <a:lnTo>
                      <a:pt x="280606" y="540131"/>
                    </a:lnTo>
                    <a:lnTo>
                      <a:pt x="364972" y="627126"/>
                    </a:lnTo>
                    <a:lnTo>
                      <a:pt x="417918" y="653161"/>
                    </a:lnTo>
                    <a:lnTo>
                      <a:pt x="468033" y="654685"/>
                    </a:lnTo>
                    <a:lnTo>
                      <a:pt x="486041" y="660907"/>
                    </a:lnTo>
                    <a:lnTo>
                      <a:pt x="495566" y="661162"/>
                    </a:lnTo>
                    <a:lnTo>
                      <a:pt x="505091" y="661797"/>
                    </a:lnTo>
                    <a:lnTo>
                      <a:pt x="522744" y="651001"/>
                    </a:lnTo>
                    <a:lnTo>
                      <a:pt x="547103" y="645541"/>
                    </a:lnTo>
                    <a:lnTo>
                      <a:pt x="578866" y="625601"/>
                    </a:lnTo>
                    <a:lnTo>
                      <a:pt x="637108" y="621030"/>
                    </a:lnTo>
                    <a:lnTo>
                      <a:pt x="690054" y="580009"/>
                    </a:lnTo>
                    <a:lnTo>
                      <a:pt x="734872" y="548132"/>
                    </a:lnTo>
                    <a:lnTo>
                      <a:pt x="743343" y="509524"/>
                    </a:lnTo>
                    <a:lnTo>
                      <a:pt x="734872" y="470916"/>
                    </a:lnTo>
                    <a:lnTo>
                      <a:pt x="736993" y="439674"/>
                    </a:lnTo>
                    <a:lnTo>
                      <a:pt x="751840" y="426719"/>
                    </a:lnTo>
                    <a:lnTo>
                      <a:pt x="779399" y="408431"/>
                    </a:lnTo>
                    <a:lnTo>
                      <a:pt x="827659" y="416051"/>
                    </a:lnTo>
                    <a:lnTo>
                      <a:pt x="832993" y="443611"/>
                    </a:lnTo>
                    <a:lnTo>
                      <a:pt x="778256" y="446659"/>
                    </a:lnTo>
                    <a:lnTo>
                      <a:pt x="774700" y="478917"/>
                    </a:lnTo>
                    <a:lnTo>
                      <a:pt x="817118" y="478917"/>
                    </a:lnTo>
                    <a:lnTo>
                      <a:pt x="783590" y="515619"/>
                    </a:lnTo>
                    <a:lnTo>
                      <a:pt x="827659" y="520192"/>
                    </a:lnTo>
                    <a:lnTo>
                      <a:pt x="788924" y="590676"/>
                    </a:lnTo>
                    <a:lnTo>
                      <a:pt x="820674" y="625601"/>
                    </a:lnTo>
                    <a:lnTo>
                      <a:pt x="833374" y="649859"/>
                    </a:lnTo>
                    <a:lnTo>
                      <a:pt x="827024" y="678561"/>
                    </a:lnTo>
                    <a:lnTo>
                      <a:pt x="825881" y="710438"/>
                    </a:lnTo>
                    <a:lnTo>
                      <a:pt x="828802" y="708913"/>
                    </a:lnTo>
                    <a:lnTo>
                      <a:pt x="835152" y="709930"/>
                    </a:lnTo>
                    <a:lnTo>
                      <a:pt x="834390" y="712597"/>
                    </a:lnTo>
                    <a:lnTo>
                      <a:pt x="830199" y="714121"/>
                    </a:lnTo>
                    <a:lnTo>
                      <a:pt x="829818" y="716915"/>
                    </a:lnTo>
                    <a:lnTo>
                      <a:pt x="834390" y="716026"/>
                    </a:lnTo>
                    <a:lnTo>
                      <a:pt x="837565" y="718693"/>
                    </a:lnTo>
                    <a:lnTo>
                      <a:pt x="835152" y="719963"/>
                    </a:lnTo>
                    <a:lnTo>
                      <a:pt x="834390" y="722376"/>
                    </a:lnTo>
                    <a:lnTo>
                      <a:pt x="835533" y="724535"/>
                    </a:lnTo>
                    <a:lnTo>
                      <a:pt x="832993" y="725169"/>
                    </a:lnTo>
                    <a:lnTo>
                      <a:pt x="826643" y="725551"/>
                    </a:lnTo>
                    <a:lnTo>
                      <a:pt x="820674" y="726440"/>
                    </a:lnTo>
                    <a:lnTo>
                      <a:pt x="794131" y="746632"/>
                    </a:lnTo>
                    <a:lnTo>
                      <a:pt x="819277" y="752729"/>
                    </a:lnTo>
                    <a:lnTo>
                      <a:pt x="816356" y="748411"/>
                    </a:lnTo>
                    <a:lnTo>
                      <a:pt x="820674" y="744855"/>
                    </a:lnTo>
                    <a:lnTo>
                      <a:pt x="828040" y="748411"/>
                    </a:lnTo>
                    <a:lnTo>
                      <a:pt x="827659" y="744474"/>
                    </a:lnTo>
                    <a:lnTo>
                      <a:pt x="840740" y="744855"/>
                    </a:lnTo>
                    <a:lnTo>
                      <a:pt x="843915" y="737997"/>
                    </a:lnTo>
                    <a:lnTo>
                      <a:pt x="849884" y="739267"/>
                    </a:lnTo>
                    <a:lnTo>
                      <a:pt x="851408" y="734441"/>
                    </a:lnTo>
                    <a:lnTo>
                      <a:pt x="853440" y="732790"/>
                    </a:lnTo>
                    <a:lnTo>
                      <a:pt x="854583" y="737107"/>
                    </a:lnTo>
                    <a:lnTo>
                      <a:pt x="854202" y="741172"/>
                    </a:lnTo>
                    <a:lnTo>
                      <a:pt x="855599" y="742061"/>
                    </a:lnTo>
                    <a:lnTo>
                      <a:pt x="860933" y="741680"/>
                    </a:lnTo>
                    <a:lnTo>
                      <a:pt x="867918" y="742061"/>
                    </a:lnTo>
                    <a:lnTo>
                      <a:pt x="867283" y="744474"/>
                    </a:lnTo>
                    <a:lnTo>
                      <a:pt x="862711" y="745363"/>
                    </a:lnTo>
                    <a:lnTo>
                      <a:pt x="855599" y="750951"/>
                    </a:lnTo>
                    <a:lnTo>
                      <a:pt x="853440" y="753110"/>
                    </a:lnTo>
                    <a:lnTo>
                      <a:pt x="849884" y="755776"/>
                    </a:lnTo>
                    <a:lnTo>
                      <a:pt x="845058" y="756412"/>
                    </a:lnTo>
                    <a:lnTo>
                      <a:pt x="842899" y="758571"/>
                    </a:lnTo>
                    <a:lnTo>
                      <a:pt x="842899" y="763143"/>
                    </a:lnTo>
                    <a:lnTo>
                      <a:pt x="845058" y="767715"/>
                    </a:lnTo>
                    <a:lnTo>
                      <a:pt x="847852" y="766826"/>
                    </a:lnTo>
                    <a:lnTo>
                      <a:pt x="850265" y="771144"/>
                    </a:lnTo>
                    <a:lnTo>
                      <a:pt x="852424" y="768350"/>
                    </a:lnTo>
                    <a:lnTo>
                      <a:pt x="856361" y="770255"/>
                    </a:lnTo>
                    <a:lnTo>
                      <a:pt x="862965" y="767715"/>
                    </a:lnTo>
                    <a:lnTo>
                      <a:pt x="862711" y="765048"/>
                    </a:lnTo>
                    <a:lnTo>
                      <a:pt x="866902" y="763143"/>
                    </a:lnTo>
                    <a:lnTo>
                      <a:pt x="882015" y="765682"/>
                    </a:lnTo>
                    <a:lnTo>
                      <a:pt x="894461" y="766572"/>
                    </a:lnTo>
                    <a:lnTo>
                      <a:pt x="922655" y="722122"/>
                    </a:lnTo>
                    <a:lnTo>
                      <a:pt x="915543" y="677672"/>
                    </a:lnTo>
                    <a:lnTo>
                      <a:pt x="968502" y="708279"/>
                    </a:lnTo>
                    <a:lnTo>
                      <a:pt x="1012698" y="676148"/>
                    </a:lnTo>
                    <a:lnTo>
                      <a:pt x="1005586" y="645541"/>
                    </a:lnTo>
                    <a:lnTo>
                      <a:pt x="963295" y="617982"/>
                    </a:lnTo>
                    <a:lnTo>
                      <a:pt x="1017270" y="581532"/>
                    </a:lnTo>
                    <a:lnTo>
                      <a:pt x="1070610" y="558546"/>
                    </a:lnTo>
                    <a:lnTo>
                      <a:pt x="1022604" y="548386"/>
                    </a:lnTo>
                    <a:lnTo>
                      <a:pt x="997458" y="543813"/>
                    </a:lnTo>
                    <a:lnTo>
                      <a:pt x="996061" y="507111"/>
                    </a:lnTo>
                    <a:lnTo>
                      <a:pt x="1037336" y="483107"/>
                    </a:lnTo>
                    <a:lnTo>
                      <a:pt x="1033526" y="456184"/>
                    </a:lnTo>
                    <a:lnTo>
                      <a:pt x="1020826" y="434086"/>
                    </a:lnTo>
                    <a:lnTo>
                      <a:pt x="1029208" y="419481"/>
                    </a:lnTo>
                    <a:lnTo>
                      <a:pt x="1054608" y="423163"/>
                    </a:lnTo>
                    <a:lnTo>
                      <a:pt x="1065276" y="408431"/>
                    </a:lnTo>
                    <a:lnTo>
                      <a:pt x="1035558" y="401066"/>
                    </a:lnTo>
                    <a:lnTo>
                      <a:pt x="1022858" y="388238"/>
                    </a:lnTo>
                    <a:lnTo>
                      <a:pt x="1092835" y="356869"/>
                    </a:lnTo>
                    <a:lnTo>
                      <a:pt x="1103376" y="331216"/>
                    </a:lnTo>
                    <a:lnTo>
                      <a:pt x="1075817" y="316484"/>
                    </a:lnTo>
                    <a:lnTo>
                      <a:pt x="1097407" y="296291"/>
                    </a:lnTo>
                    <a:lnTo>
                      <a:pt x="1071626" y="276987"/>
                    </a:lnTo>
                    <a:lnTo>
                      <a:pt x="1038479" y="253619"/>
                    </a:lnTo>
                    <a:lnTo>
                      <a:pt x="975614" y="227329"/>
                    </a:lnTo>
                    <a:lnTo>
                      <a:pt x="975614" y="204343"/>
                    </a:lnTo>
                    <a:lnTo>
                      <a:pt x="942467" y="189611"/>
                    </a:lnTo>
                    <a:lnTo>
                      <a:pt x="928624" y="171831"/>
                    </a:lnTo>
                    <a:lnTo>
                      <a:pt x="953008" y="143637"/>
                    </a:lnTo>
                    <a:lnTo>
                      <a:pt x="933958" y="124333"/>
                    </a:lnTo>
                    <a:lnTo>
                      <a:pt x="907542" y="124968"/>
                    </a:lnTo>
                    <a:lnTo>
                      <a:pt x="892302" y="93725"/>
                    </a:lnTo>
                    <a:lnTo>
                      <a:pt x="915924" y="73787"/>
                    </a:lnTo>
                    <a:lnTo>
                      <a:pt x="875411" y="55499"/>
                    </a:lnTo>
                    <a:lnTo>
                      <a:pt x="839343" y="63753"/>
                    </a:lnTo>
                    <a:lnTo>
                      <a:pt x="787527" y="42545"/>
                    </a:lnTo>
                    <a:lnTo>
                      <a:pt x="746531" y="33147"/>
                    </a:lnTo>
                    <a:lnTo>
                      <a:pt x="722172" y="6476"/>
                    </a:lnTo>
                    <a:lnTo>
                      <a:pt x="687933" y="17779"/>
                    </a:lnTo>
                    <a:lnTo>
                      <a:pt x="640283" y="10413"/>
                    </a:lnTo>
                    <a:lnTo>
                      <a:pt x="586625" y="11049"/>
                    </a:lnTo>
                    <a:lnTo>
                      <a:pt x="552742" y="0"/>
                    </a:lnTo>
                    <a:lnTo>
                      <a:pt x="553808" y="34289"/>
                    </a:lnTo>
                    <a:lnTo>
                      <a:pt x="580275" y="32512"/>
                    </a:lnTo>
                    <a:lnTo>
                      <a:pt x="578154" y="44450"/>
                    </a:lnTo>
                    <a:lnTo>
                      <a:pt x="542163" y="52450"/>
                    </a:lnTo>
                    <a:lnTo>
                      <a:pt x="509333" y="61849"/>
                    </a:lnTo>
                    <a:lnTo>
                      <a:pt x="478624" y="62864"/>
                    </a:lnTo>
                    <a:lnTo>
                      <a:pt x="476504" y="31496"/>
                    </a:lnTo>
                    <a:lnTo>
                      <a:pt x="440499" y="32512"/>
                    </a:lnTo>
                    <a:lnTo>
                      <a:pt x="392150" y="53339"/>
                    </a:lnTo>
                    <a:lnTo>
                      <a:pt x="357911" y="69214"/>
                    </a:lnTo>
                    <a:lnTo>
                      <a:pt x="315556" y="65532"/>
                    </a:lnTo>
                    <a:lnTo>
                      <a:pt x="285902" y="37084"/>
                    </a:lnTo>
                    <a:lnTo>
                      <a:pt x="250609" y="51815"/>
                    </a:lnTo>
                    <a:lnTo>
                      <a:pt x="189547" y="37973"/>
                    </a:lnTo>
                    <a:lnTo>
                      <a:pt x="150012" y="42545"/>
                    </a:lnTo>
                    <a:lnTo>
                      <a:pt x="134124" y="80010"/>
                    </a:lnTo>
                    <a:lnTo>
                      <a:pt x="106946" y="84836"/>
                    </a:lnTo>
                    <a:lnTo>
                      <a:pt x="91071" y="86740"/>
                    </a:lnTo>
                    <a:lnTo>
                      <a:pt x="65303" y="90043"/>
                    </a:lnTo>
                    <a:lnTo>
                      <a:pt x="43408" y="83947"/>
                    </a:lnTo>
                    <a:lnTo>
                      <a:pt x="26123" y="99313"/>
                    </a:lnTo>
                    <a:lnTo>
                      <a:pt x="0" y="123444"/>
                    </a:lnTo>
                    <a:lnTo>
                      <a:pt x="37058" y="138811"/>
                    </a:lnTo>
                    <a:lnTo>
                      <a:pt x="63538" y="125349"/>
                    </a:lnTo>
                    <a:lnTo>
                      <a:pt x="118249" y="108712"/>
                    </a:lnTo>
                    <a:lnTo>
                      <a:pt x="114363" y="120650"/>
                    </a:lnTo>
                    <a:lnTo>
                      <a:pt x="65646" y="151002"/>
                    </a:lnTo>
                    <a:lnTo>
                      <a:pt x="68834" y="172465"/>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8" name="object 163">
                <a:extLst>
                  <a:ext uri="{FF2B5EF4-FFF2-40B4-BE49-F238E27FC236}">
                    <a16:creationId xmlns:a16="http://schemas.microsoft.com/office/drawing/2014/main" id="{A9FD7962-4F75-40CD-86E2-6CD57E5A7B70}"/>
                  </a:ext>
                </a:extLst>
              </p:cNvPr>
              <p:cNvSpPr/>
              <p:nvPr/>
            </p:nvSpPr>
            <p:spPr>
              <a:xfrm>
                <a:off x="1287779" y="3811523"/>
                <a:ext cx="1495806" cy="1066038"/>
              </a:xfrm>
              <a:prstGeom prst="rect">
                <a:avLst/>
              </a:prstGeom>
              <a:blipFill>
                <a:blip r:embed="rId10"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9" name="object 164">
                <a:extLst>
                  <a:ext uri="{FF2B5EF4-FFF2-40B4-BE49-F238E27FC236}">
                    <a16:creationId xmlns:a16="http://schemas.microsoft.com/office/drawing/2014/main" id="{CC6E0BBA-DC2D-44D3-B6AC-97AA9179AC35}"/>
                  </a:ext>
                </a:extLst>
              </p:cNvPr>
              <p:cNvSpPr/>
              <p:nvPr/>
            </p:nvSpPr>
            <p:spPr>
              <a:xfrm>
                <a:off x="1306068" y="3791711"/>
                <a:ext cx="1485900" cy="1056640"/>
              </a:xfrm>
              <a:custGeom>
                <a:avLst/>
                <a:gdLst/>
                <a:ahLst/>
                <a:cxnLst/>
                <a:rect l="l" t="t" r="r" b="b"/>
                <a:pathLst>
                  <a:path w="1485900" h="1056639">
                    <a:moveTo>
                      <a:pt x="329438" y="0"/>
                    </a:moveTo>
                    <a:lnTo>
                      <a:pt x="294131" y="4571"/>
                    </a:lnTo>
                    <a:lnTo>
                      <a:pt x="255650" y="3429"/>
                    </a:lnTo>
                    <a:lnTo>
                      <a:pt x="214629" y="27558"/>
                    </a:lnTo>
                    <a:lnTo>
                      <a:pt x="215391" y="64896"/>
                    </a:lnTo>
                    <a:lnTo>
                      <a:pt x="288797" y="79629"/>
                    </a:lnTo>
                    <a:lnTo>
                      <a:pt x="235838" y="102488"/>
                    </a:lnTo>
                    <a:lnTo>
                      <a:pt x="181482" y="139319"/>
                    </a:lnTo>
                    <a:lnTo>
                      <a:pt x="223773" y="167767"/>
                    </a:lnTo>
                    <a:lnTo>
                      <a:pt x="230123" y="198119"/>
                    </a:lnTo>
                    <a:lnTo>
                      <a:pt x="187451" y="229615"/>
                    </a:lnTo>
                    <a:lnTo>
                      <a:pt x="133857" y="199898"/>
                    </a:lnTo>
                    <a:lnTo>
                      <a:pt x="140462" y="243331"/>
                    </a:lnTo>
                    <a:lnTo>
                      <a:pt x="112268" y="287146"/>
                    </a:lnTo>
                    <a:lnTo>
                      <a:pt x="84709" y="284988"/>
                    </a:lnTo>
                    <a:lnTo>
                      <a:pt x="86868" y="289560"/>
                    </a:lnTo>
                    <a:lnTo>
                      <a:pt x="92201" y="290449"/>
                    </a:lnTo>
                    <a:lnTo>
                      <a:pt x="95376" y="294131"/>
                    </a:lnTo>
                    <a:lnTo>
                      <a:pt x="93218" y="300608"/>
                    </a:lnTo>
                    <a:lnTo>
                      <a:pt x="88900" y="304292"/>
                    </a:lnTo>
                    <a:lnTo>
                      <a:pt x="89281" y="307975"/>
                    </a:lnTo>
                    <a:lnTo>
                      <a:pt x="85725" y="309752"/>
                    </a:lnTo>
                    <a:lnTo>
                      <a:pt x="81915" y="307339"/>
                    </a:lnTo>
                    <a:lnTo>
                      <a:pt x="78359" y="305562"/>
                    </a:lnTo>
                    <a:lnTo>
                      <a:pt x="73406" y="304545"/>
                    </a:lnTo>
                    <a:lnTo>
                      <a:pt x="67818" y="302513"/>
                    </a:lnTo>
                    <a:lnTo>
                      <a:pt x="61468" y="300863"/>
                    </a:lnTo>
                    <a:lnTo>
                      <a:pt x="59690" y="306069"/>
                    </a:lnTo>
                    <a:lnTo>
                      <a:pt x="56134" y="304292"/>
                    </a:lnTo>
                    <a:lnTo>
                      <a:pt x="53975" y="300608"/>
                    </a:lnTo>
                    <a:lnTo>
                      <a:pt x="50800" y="296290"/>
                    </a:lnTo>
                    <a:lnTo>
                      <a:pt x="46990" y="297814"/>
                    </a:lnTo>
                    <a:lnTo>
                      <a:pt x="43815" y="295401"/>
                    </a:lnTo>
                    <a:lnTo>
                      <a:pt x="46609" y="288036"/>
                    </a:lnTo>
                    <a:lnTo>
                      <a:pt x="45593" y="280669"/>
                    </a:lnTo>
                    <a:lnTo>
                      <a:pt x="42418" y="275844"/>
                    </a:lnTo>
                    <a:lnTo>
                      <a:pt x="36321" y="273431"/>
                    </a:lnTo>
                    <a:lnTo>
                      <a:pt x="12065" y="267588"/>
                    </a:lnTo>
                    <a:lnTo>
                      <a:pt x="0" y="278511"/>
                    </a:lnTo>
                    <a:lnTo>
                      <a:pt x="2793" y="339470"/>
                    </a:lnTo>
                    <a:lnTo>
                      <a:pt x="1015" y="437514"/>
                    </a:lnTo>
                    <a:lnTo>
                      <a:pt x="13462" y="500252"/>
                    </a:lnTo>
                    <a:lnTo>
                      <a:pt x="18668" y="543051"/>
                    </a:lnTo>
                    <a:lnTo>
                      <a:pt x="31115" y="633349"/>
                    </a:lnTo>
                    <a:lnTo>
                      <a:pt x="61087" y="662432"/>
                    </a:lnTo>
                    <a:lnTo>
                      <a:pt x="59309" y="685419"/>
                    </a:lnTo>
                    <a:lnTo>
                      <a:pt x="71628" y="731393"/>
                    </a:lnTo>
                    <a:lnTo>
                      <a:pt x="87503" y="913130"/>
                    </a:lnTo>
                    <a:lnTo>
                      <a:pt x="101726" y="988187"/>
                    </a:lnTo>
                    <a:lnTo>
                      <a:pt x="138684" y="1041781"/>
                    </a:lnTo>
                    <a:lnTo>
                      <a:pt x="172338" y="1034033"/>
                    </a:lnTo>
                    <a:lnTo>
                      <a:pt x="191643" y="1055496"/>
                    </a:lnTo>
                    <a:lnTo>
                      <a:pt x="231266" y="1056132"/>
                    </a:lnTo>
                    <a:lnTo>
                      <a:pt x="260476" y="1046352"/>
                    </a:lnTo>
                    <a:lnTo>
                      <a:pt x="271144" y="1000379"/>
                    </a:lnTo>
                    <a:lnTo>
                      <a:pt x="288416" y="978407"/>
                    </a:lnTo>
                    <a:lnTo>
                      <a:pt x="267207" y="951738"/>
                    </a:lnTo>
                    <a:lnTo>
                      <a:pt x="263016" y="908557"/>
                    </a:lnTo>
                    <a:lnTo>
                      <a:pt x="371729" y="877315"/>
                    </a:lnTo>
                    <a:lnTo>
                      <a:pt x="378459" y="839724"/>
                    </a:lnTo>
                    <a:lnTo>
                      <a:pt x="432054" y="862711"/>
                    </a:lnTo>
                    <a:lnTo>
                      <a:pt x="474852" y="848613"/>
                    </a:lnTo>
                    <a:lnTo>
                      <a:pt x="525652" y="853439"/>
                    </a:lnTo>
                    <a:lnTo>
                      <a:pt x="509396" y="813688"/>
                    </a:lnTo>
                    <a:lnTo>
                      <a:pt x="509396" y="768095"/>
                    </a:lnTo>
                    <a:lnTo>
                      <a:pt x="564133" y="789558"/>
                    </a:lnTo>
                    <a:lnTo>
                      <a:pt x="602614" y="786383"/>
                    </a:lnTo>
                    <a:lnTo>
                      <a:pt x="643889" y="782193"/>
                    </a:lnTo>
                    <a:lnTo>
                      <a:pt x="638682" y="751839"/>
                    </a:lnTo>
                    <a:lnTo>
                      <a:pt x="679195" y="726694"/>
                    </a:lnTo>
                    <a:lnTo>
                      <a:pt x="710692" y="731393"/>
                    </a:lnTo>
                    <a:lnTo>
                      <a:pt x="721613" y="702818"/>
                    </a:lnTo>
                    <a:lnTo>
                      <a:pt x="754761" y="683894"/>
                    </a:lnTo>
                    <a:lnTo>
                      <a:pt x="750188" y="653288"/>
                    </a:lnTo>
                    <a:lnTo>
                      <a:pt x="800988" y="651382"/>
                    </a:lnTo>
                    <a:lnTo>
                      <a:pt x="813688" y="616838"/>
                    </a:lnTo>
                    <a:lnTo>
                      <a:pt x="875538" y="635254"/>
                    </a:lnTo>
                    <a:lnTo>
                      <a:pt x="866394" y="601218"/>
                    </a:lnTo>
                    <a:lnTo>
                      <a:pt x="908684" y="584454"/>
                    </a:lnTo>
                    <a:lnTo>
                      <a:pt x="928115" y="547624"/>
                    </a:lnTo>
                    <a:lnTo>
                      <a:pt x="903351" y="515493"/>
                    </a:lnTo>
                    <a:lnTo>
                      <a:pt x="924559" y="490981"/>
                    </a:lnTo>
                    <a:lnTo>
                      <a:pt x="933450" y="463423"/>
                    </a:lnTo>
                    <a:lnTo>
                      <a:pt x="977519" y="472694"/>
                    </a:lnTo>
                    <a:lnTo>
                      <a:pt x="1007490" y="440563"/>
                    </a:lnTo>
                    <a:lnTo>
                      <a:pt x="1014602" y="405256"/>
                    </a:lnTo>
                    <a:lnTo>
                      <a:pt x="1018158" y="367030"/>
                    </a:lnTo>
                    <a:lnTo>
                      <a:pt x="1065783" y="380873"/>
                    </a:lnTo>
                    <a:lnTo>
                      <a:pt x="1097533" y="399161"/>
                    </a:lnTo>
                    <a:lnTo>
                      <a:pt x="1118743" y="432815"/>
                    </a:lnTo>
                    <a:lnTo>
                      <a:pt x="1177036" y="440563"/>
                    </a:lnTo>
                    <a:lnTo>
                      <a:pt x="1184020" y="426719"/>
                    </a:lnTo>
                    <a:lnTo>
                      <a:pt x="1231773" y="428244"/>
                    </a:lnTo>
                    <a:lnTo>
                      <a:pt x="1274064" y="423671"/>
                    </a:lnTo>
                    <a:lnTo>
                      <a:pt x="1314704" y="446658"/>
                    </a:lnTo>
                    <a:lnTo>
                      <a:pt x="1305814" y="506349"/>
                    </a:lnTo>
                    <a:lnTo>
                      <a:pt x="1316482" y="555370"/>
                    </a:lnTo>
                    <a:lnTo>
                      <a:pt x="1360170" y="564133"/>
                    </a:lnTo>
                    <a:lnTo>
                      <a:pt x="1383919" y="545845"/>
                    </a:lnTo>
                    <a:lnTo>
                      <a:pt x="1374648" y="520064"/>
                    </a:lnTo>
                    <a:lnTo>
                      <a:pt x="1395857" y="483362"/>
                    </a:lnTo>
                    <a:lnTo>
                      <a:pt x="1431163" y="458850"/>
                    </a:lnTo>
                    <a:lnTo>
                      <a:pt x="1454150" y="474218"/>
                    </a:lnTo>
                    <a:lnTo>
                      <a:pt x="1473581" y="464946"/>
                    </a:lnTo>
                    <a:lnTo>
                      <a:pt x="1485900" y="437514"/>
                    </a:lnTo>
                    <a:lnTo>
                      <a:pt x="1409954" y="367030"/>
                    </a:lnTo>
                    <a:lnTo>
                      <a:pt x="1422400" y="339470"/>
                    </a:lnTo>
                    <a:lnTo>
                      <a:pt x="1388871" y="321182"/>
                    </a:lnTo>
                    <a:lnTo>
                      <a:pt x="1399413" y="299719"/>
                    </a:lnTo>
                    <a:lnTo>
                      <a:pt x="1436496" y="293624"/>
                    </a:lnTo>
                    <a:lnTo>
                      <a:pt x="1427607" y="226568"/>
                    </a:lnTo>
                    <a:lnTo>
                      <a:pt x="1401190" y="180594"/>
                    </a:lnTo>
                    <a:lnTo>
                      <a:pt x="1406525" y="153035"/>
                    </a:lnTo>
                    <a:lnTo>
                      <a:pt x="1435734" y="123062"/>
                    </a:lnTo>
                    <a:lnTo>
                      <a:pt x="1396619" y="114426"/>
                    </a:lnTo>
                    <a:lnTo>
                      <a:pt x="1369440" y="82676"/>
                    </a:lnTo>
                    <a:lnTo>
                      <a:pt x="1279398" y="88773"/>
                    </a:lnTo>
                    <a:lnTo>
                      <a:pt x="1236980" y="93344"/>
                    </a:lnTo>
                    <a:lnTo>
                      <a:pt x="1198118" y="68833"/>
                    </a:lnTo>
                    <a:lnTo>
                      <a:pt x="1150493" y="78105"/>
                    </a:lnTo>
                    <a:lnTo>
                      <a:pt x="1104645" y="105663"/>
                    </a:lnTo>
                    <a:lnTo>
                      <a:pt x="1007490" y="82676"/>
                    </a:lnTo>
                    <a:lnTo>
                      <a:pt x="956309" y="114807"/>
                    </a:lnTo>
                    <a:lnTo>
                      <a:pt x="901573" y="116331"/>
                    </a:lnTo>
                    <a:lnTo>
                      <a:pt x="861059" y="93344"/>
                    </a:lnTo>
                    <a:lnTo>
                      <a:pt x="887476" y="50545"/>
                    </a:lnTo>
                    <a:lnTo>
                      <a:pt x="818642" y="52069"/>
                    </a:lnTo>
                    <a:lnTo>
                      <a:pt x="753363" y="65786"/>
                    </a:lnTo>
                    <a:lnTo>
                      <a:pt x="723011" y="134746"/>
                    </a:lnTo>
                    <a:lnTo>
                      <a:pt x="691261" y="153035"/>
                    </a:lnTo>
                    <a:lnTo>
                      <a:pt x="648843" y="165354"/>
                    </a:lnTo>
                    <a:lnTo>
                      <a:pt x="620649" y="143890"/>
                    </a:lnTo>
                    <a:lnTo>
                      <a:pt x="615314" y="111760"/>
                    </a:lnTo>
                    <a:lnTo>
                      <a:pt x="452881" y="102488"/>
                    </a:lnTo>
                    <a:lnTo>
                      <a:pt x="426465" y="75056"/>
                    </a:lnTo>
                    <a:lnTo>
                      <a:pt x="341756" y="50545"/>
                    </a:lnTo>
                    <a:lnTo>
                      <a:pt x="341756" y="19938"/>
                    </a:lnTo>
                    <a:lnTo>
                      <a:pt x="329438" y="0"/>
                    </a:lnTo>
                    <a:close/>
                  </a:path>
                </a:pathLst>
              </a:custGeom>
              <a:solidFill>
                <a:srgbClr val="FFD966"/>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21" name="object 165">
                <a:extLst>
                  <a:ext uri="{FF2B5EF4-FFF2-40B4-BE49-F238E27FC236}">
                    <a16:creationId xmlns:a16="http://schemas.microsoft.com/office/drawing/2014/main" id="{8FEE2BBB-44D2-453B-9ECD-E7619BD94D03}"/>
                  </a:ext>
                </a:extLst>
              </p:cNvPr>
              <p:cNvSpPr/>
              <p:nvPr/>
            </p:nvSpPr>
            <p:spPr>
              <a:xfrm>
                <a:off x="1306068" y="3791711"/>
                <a:ext cx="1485900" cy="1056640"/>
              </a:xfrm>
              <a:custGeom>
                <a:avLst/>
                <a:gdLst/>
                <a:ahLst/>
                <a:cxnLst/>
                <a:rect l="l" t="t" r="r" b="b"/>
                <a:pathLst>
                  <a:path w="1485900" h="1056639">
                    <a:moveTo>
                      <a:pt x="1316482" y="555370"/>
                    </a:moveTo>
                    <a:lnTo>
                      <a:pt x="1305814" y="506349"/>
                    </a:lnTo>
                    <a:lnTo>
                      <a:pt x="1314704" y="446658"/>
                    </a:lnTo>
                    <a:lnTo>
                      <a:pt x="1274064" y="423671"/>
                    </a:lnTo>
                    <a:lnTo>
                      <a:pt x="1231773" y="428244"/>
                    </a:lnTo>
                    <a:lnTo>
                      <a:pt x="1184020" y="426719"/>
                    </a:lnTo>
                    <a:lnTo>
                      <a:pt x="1177036" y="440563"/>
                    </a:lnTo>
                    <a:lnTo>
                      <a:pt x="1118743" y="432815"/>
                    </a:lnTo>
                    <a:lnTo>
                      <a:pt x="1097533" y="399161"/>
                    </a:lnTo>
                    <a:lnTo>
                      <a:pt x="1065783" y="380873"/>
                    </a:lnTo>
                    <a:lnTo>
                      <a:pt x="1018158" y="367030"/>
                    </a:lnTo>
                    <a:lnTo>
                      <a:pt x="1014602" y="405256"/>
                    </a:lnTo>
                    <a:lnTo>
                      <a:pt x="1007490" y="440563"/>
                    </a:lnTo>
                    <a:lnTo>
                      <a:pt x="977519" y="472694"/>
                    </a:lnTo>
                    <a:lnTo>
                      <a:pt x="933450" y="463423"/>
                    </a:lnTo>
                    <a:lnTo>
                      <a:pt x="924559" y="490981"/>
                    </a:lnTo>
                    <a:lnTo>
                      <a:pt x="903351" y="515493"/>
                    </a:lnTo>
                    <a:lnTo>
                      <a:pt x="928115" y="547624"/>
                    </a:lnTo>
                    <a:lnTo>
                      <a:pt x="908684" y="584454"/>
                    </a:lnTo>
                    <a:lnTo>
                      <a:pt x="866394" y="601218"/>
                    </a:lnTo>
                    <a:lnTo>
                      <a:pt x="875538" y="635254"/>
                    </a:lnTo>
                    <a:lnTo>
                      <a:pt x="813688" y="616838"/>
                    </a:lnTo>
                    <a:lnTo>
                      <a:pt x="800988" y="651382"/>
                    </a:lnTo>
                    <a:lnTo>
                      <a:pt x="750188" y="653288"/>
                    </a:lnTo>
                    <a:lnTo>
                      <a:pt x="754761" y="683894"/>
                    </a:lnTo>
                    <a:lnTo>
                      <a:pt x="721613" y="702818"/>
                    </a:lnTo>
                    <a:lnTo>
                      <a:pt x="710692" y="731393"/>
                    </a:lnTo>
                    <a:lnTo>
                      <a:pt x="679195" y="726694"/>
                    </a:lnTo>
                    <a:lnTo>
                      <a:pt x="638682" y="751839"/>
                    </a:lnTo>
                    <a:lnTo>
                      <a:pt x="643889" y="782193"/>
                    </a:lnTo>
                    <a:lnTo>
                      <a:pt x="602614" y="786383"/>
                    </a:lnTo>
                    <a:lnTo>
                      <a:pt x="564133" y="789558"/>
                    </a:lnTo>
                    <a:lnTo>
                      <a:pt x="509396" y="768095"/>
                    </a:lnTo>
                    <a:lnTo>
                      <a:pt x="509396" y="813688"/>
                    </a:lnTo>
                    <a:lnTo>
                      <a:pt x="525652" y="853439"/>
                    </a:lnTo>
                    <a:lnTo>
                      <a:pt x="474852" y="848613"/>
                    </a:lnTo>
                    <a:lnTo>
                      <a:pt x="432054" y="862711"/>
                    </a:lnTo>
                    <a:lnTo>
                      <a:pt x="378459" y="839724"/>
                    </a:lnTo>
                    <a:lnTo>
                      <a:pt x="371729" y="877315"/>
                    </a:lnTo>
                    <a:lnTo>
                      <a:pt x="263016" y="908557"/>
                    </a:lnTo>
                    <a:lnTo>
                      <a:pt x="267207" y="951738"/>
                    </a:lnTo>
                    <a:lnTo>
                      <a:pt x="288416" y="978407"/>
                    </a:lnTo>
                    <a:lnTo>
                      <a:pt x="271144" y="1000379"/>
                    </a:lnTo>
                    <a:lnTo>
                      <a:pt x="260476" y="1046352"/>
                    </a:lnTo>
                    <a:lnTo>
                      <a:pt x="231266" y="1056132"/>
                    </a:lnTo>
                    <a:lnTo>
                      <a:pt x="191643" y="1055496"/>
                    </a:lnTo>
                    <a:lnTo>
                      <a:pt x="172338" y="1034033"/>
                    </a:lnTo>
                    <a:lnTo>
                      <a:pt x="138684" y="1041781"/>
                    </a:lnTo>
                    <a:lnTo>
                      <a:pt x="101726" y="988187"/>
                    </a:lnTo>
                    <a:lnTo>
                      <a:pt x="87503" y="913130"/>
                    </a:lnTo>
                    <a:lnTo>
                      <a:pt x="71628" y="731393"/>
                    </a:lnTo>
                    <a:lnTo>
                      <a:pt x="59309" y="685419"/>
                    </a:lnTo>
                    <a:lnTo>
                      <a:pt x="61087" y="662432"/>
                    </a:lnTo>
                    <a:lnTo>
                      <a:pt x="31115" y="633349"/>
                    </a:lnTo>
                    <a:lnTo>
                      <a:pt x="18668" y="543051"/>
                    </a:lnTo>
                    <a:lnTo>
                      <a:pt x="13462" y="500252"/>
                    </a:lnTo>
                    <a:lnTo>
                      <a:pt x="1015" y="437514"/>
                    </a:lnTo>
                    <a:lnTo>
                      <a:pt x="2793" y="339470"/>
                    </a:lnTo>
                    <a:lnTo>
                      <a:pt x="0" y="278511"/>
                    </a:lnTo>
                    <a:lnTo>
                      <a:pt x="12065" y="267588"/>
                    </a:lnTo>
                    <a:lnTo>
                      <a:pt x="36321" y="273431"/>
                    </a:lnTo>
                    <a:lnTo>
                      <a:pt x="42418" y="275844"/>
                    </a:lnTo>
                    <a:lnTo>
                      <a:pt x="45593" y="280669"/>
                    </a:lnTo>
                    <a:lnTo>
                      <a:pt x="46609" y="288036"/>
                    </a:lnTo>
                    <a:lnTo>
                      <a:pt x="43815" y="295401"/>
                    </a:lnTo>
                    <a:lnTo>
                      <a:pt x="46990" y="297814"/>
                    </a:lnTo>
                    <a:lnTo>
                      <a:pt x="50800" y="296290"/>
                    </a:lnTo>
                    <a:lnTo>
                      <a:pt x="53975" y="300608"/>
                    </a:lnTo>
                    <a:lnTo>
                      <a:pt x="56134" y="304292"/>
                    </a:lnTo>
                    <a:lnTo>
                      <a:pt x="59690" y="306069"/>
                    </a:lnTo>
                    <a:lnTo>
                      <a:pt x="61468" y="300863"/>
                    </a:lnTo>
                    <a:lnTo>
                      <a:pt x="67818" y="302513"/>
                    </a:lnTo>
                    <a:lnTo>
                      <a:pt x="73406" y="304545"/>
                    </a:lnTo>
                    <a:lnTo>
                      <a:pt x="78359" y="305562"/>
                    </a:lnTo>
                    <a:lnTo>
                      <a:pt x="81915" y="307339"/>
                    </a:lnTo>
                    <a:lnTo>
                      <a:pt x="85725" y="309752"/>
                    </a:lnTo>
                    <a:lnTo>
                      <a:pt x="89281" y="307975"/>
                    </a:lnTo>
                    <a:lnTo>
                      <a:pt x="88900" y="304292"/>
                    </a:lnTo>
                    <a:lnTo>
                      <a:pt x="93218" y="300608"/>
                    </a:lnTo>
                    <a:lnTo>
                      <a:pt x="95376" y="294131"/>
                    </a:lnTo>
                    <a:lnTo>
                      <a:pt x="92201" y="290449"/>
                    </a:lnTo>
                    <a:lnTo>
                      <a:pt x="86868" y="289560"/>
                    </a:lnTo>
                    <a:lnTo>
                      <a:pt x="84709" y="284988"/>
                    </a:lnTo>
                    <a:lnTo>
                      <a:pt x="112268" y="287146"/>
                    </a:lnTo>
                    <a:lnTo>
                      <a:pt x="140462" y="243331"/>
                    </a:lnTo>
                    <a:lnTo>
                      <a:pt x="133857" y="199898"/>
                    </a:lnTo>
                    <a:lnTo>
                      <a:pt x="187451" y="229615"/>
                    </a:lnTo>
                    <a:lnTo>
                      <a:pt x="230123" y="198119"/>
                    </a:lnTo>
                    <a:lnTo>
                      <a:pt x="223773" y="167767"/>
                    </a:lnTo>
                    <a:lnTo>
                      <a:pt x="181482" y="139319"/>
                    </a:lnTo>
                    <a:lnTo>
                      <a:pt x="235838" y="102488"/>
                    </a:lnTo>
                    <a:lnTo>
                      <a:pt x="288797" y="79629"/>
                    </a:lnTo>
                    <a:lnTo>
                      <a:pt x="215391" y="64896"/>
                    </a:lnTo>
                    <a:lnTo>
                      <a:pt x="214629" y="27558"/>
                    </a:lnTo>
                    <a:lnTo>
                      <a:pt x="255650" y="3429"/>
                    </a:lnTo>
                    <a:lnTo>
                      <a:pt x="294131" y="4571"/>
                    </a:lnTo>
                    <a:lnTo>
                      <a:pt x="329438" y="0"/>
                    </a:lnTo>
                    <a:lnTo>
                      <a:pt x="341756" y="19938"/>
                    </a:lnTo>
                    <a:lnTo>
                      <a:pt x="341756" y="50545"/>
                    </a:lnTo>
                    <a:lnTo>
                      <a:pt x="389381" y="64262"/>
                    </a:lnTo>
                    <a:lnTo>
                      <a:pt x="426465" y="75056"/>
                    </a:lnTo>
                    <a:lnTo>
                      <a:pt x="452881" y="102488"/>
                    </a:lnTo>
                    <a:lnTo>
                      <a:pt x="615314" y="111760"/>
                    </a:lnTo>
                    <a:lnTo>
                      <a:pt x="620649" y="143890"/>
                    </a:lnTo>
                    <a:lnTo>
                      <a:pt x="648843" y="165354"/>
                    </a:lnTo>
                    <a:lnTo>
                      <a:pt x="691261" y="153035"/>
                    </a:lnTo>
                    <a:lnTo>
                      <a:pt x="723011" y="134746"/>
                    </a:lnTo>
                    <a:lnTo>
                      <a:pt x="753363" y="65786"/>
                    </a:lnTo>
                    <a:lnTo>
                      <a:pt x="818642" y="52069"/>
                    </a:lnTo>
                    <a:lnTo>
                      <a:pt x="887476" y="50545"/>
                    </a:lnTo>
                    <a:lnTo>
                      <a:pt x="861059" y="93344"/>
                    </a:lnTo>
                    <a:lnTo>
                      <a:pt x="901573" y="116331"/>
                    </a:lnTo>
                    <a:lnTo>
                      <a:pt x="956309" y="114807"/>
                    </a:lnTo>
                    <a:lnTo>
                      <a:pt x="1007490" y="82676"/>
                    </a:lnTo>
                    <a:lnTo>
                      <a:pt x="1104645" y="105663"/>
                    </a:lnTo>
                    <a:lnTo>
                      <a:pt x="1150493" y="78105"/>
                    </a:lnTo>
                    <a:lnTo>
                      <a:pt x="1198118" y="68833"/>
                    </a:lnTo>
                    <a:lnTo>
                      <a:pt x="1236980" y="93344"/>
                    </a:lnTo>
                    <a:lnTo>
                      <a:pt x="1279398" y="88773"/>
                    </a:lnTo>
                    <a:lnTo>
                      <a:pt x="1369440" y="82676"/>
                    </a:lnTo>
                    <a:lnTo>
                      <a:pt x="1396619" y="114426"/>
                    </a:lnTo>
                    <a:lnTo>
                      <a:pt x="1435734" y="123062"/>
                    </a:lnTo>
                    <a:lnTo>
                      <a:pt x="1406525" y="153035"/>
                    </a:lnTo>
                    <a:lnTo>
                      <a:pt x="1401190" y="180594"/>
                    </a:lnTo>
                    <a:lnTo>
                      <a:pt x="1427607" y="226568"/>
                    </a:lnTo>
                    <a:lnTo>
                      <a:pt x="1436496" y="293624"/>
                    </a:lnTo>
                    <a:lnTo>
                      <a:pt x="1399413" y="299719"/>
                    </a:lnTo>
                    <a:lnTo>
                      <a:pt x="1388871" y="321182"/>
                    </a:lnTo>
                    <a:lnTo>
                      <a:pt x="1422400" y="339470"/>
                    </a:lnTo>
                    <a:lnTo>
                      <a:pt x="1409954" y="367030"/>
                    </a:lnTo>
                    <a:lnTo>
                      <a:pt x="1485900" y="437514"/>
                    </a:lnTo>
                    <a:lnTo>
                      <a:pt x="1473581" y="464946"/>
                    </a:lnTo>
                    <a:lnTo>
                      <a:pt x="1454150" y="474218"/>
                    </a:lnTo>
                    <a:lnTo>
                      <a:pt x="1431163" y="458850"/>
                    </a:lnTo>
                    <a:lnTo>
                      <a:pt x="1395857" y="483362"/>
                    </a:lnTo>
                    <a:lnTo>
                      <a:pt x="1374648" y="520064"/>
                    </a:lnTo>
                    <a:lnTo>
                      <a:pt x="1383919" y="545845"/>
                    </a:lnTo>
                    <a:lnTo>
                      <a:pt x="1360170" y="564133"/>
                    </a:lnTo>
                    <a:lnTo>
                      <a:pt x="1316482" y="555370"/>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22" name="object 166">
                <a:extLst>
                  <a:ext uri="{FF2B5EF4-FFF2-40B4-BE49-F238E27FC236}">
                    <a16:creationId xmlns:a16="http://schemas.microsoft.com/office/drawing/2014/main" id="{02060BD6-DCB6-4047-9315-D18DD093AF94}"/>
                  </a:ext>
                </a:extLst>
              </p:cNvPr>
              <p:cNvSpPr/>
              <p:nvPr/>
            </p:nvSpPr>
            <p:spPr>
              <a:xfrm>
                <a:off x="1513331" y="4428744"/>
                <a:ext cx="828294" cy="1148334"/>
              </a:xfrm>
              <a:prstGeom prst="rect">
                <a:avLst/>
              </a:prstGeom>
              <a:blipFill>
                <a:blip r:embed="rId11"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23" name="object 167">
                <a:extLst>
                  <a:ext uri="{FF2B5EF4-FFF2-40B4-BE49-F238E27FC236}">
                    <a16:creationId xmlns:a16="http://schemas.microsoft.com/office/drawing/2014/main" id="{E4F02F92-F0FF-44CC-87BD-EA3D0C43CF55}"/>
                  </a:ext>
                </a:extLst>
              </p:cNvPr>
              <p:cNvSpPr/>
              <p:nvPr/>
            </p:nvSpPr>
            <p:spPr>
              <a:xfrm>
                <a:off x="1531620" y="4408932"/>
                <a:ext cx="818515" cy="1138555"/>
              </a:xfrm>
              <a:custGeom>
                <a:avLst/>
                <a:gdLst/>
                <a:ahLst/>
                <a:cxnLst/>
                <a:rect l="l" t="t" r="r" b="b"/>
                <a:pathLst>
                  <a:path w="818514" h="1138554">
                    <a:moveTo>
                      <a:pt x="587121" y="0"/>
                    </a:moveTo>
                    <a:lnTo>
                      <a:pt x="574802" y="35179"/>
                    </a:lnTo>
                    <a:lnTo>
                      <a:pt x="523621" y="36703"/>
                    </a:lnTo>
                    <a:lnTo>
                      <a:pt x="528955" y="67310"/>
                    </a:lnTo>
                    <a:lnTo>
                      <a:pt x="495427" y="87249"/>
                    </a:lnTo>
                    <a:lnTo>
                      <a:pt x="484886" y="114681"/>
                    </a:lnTo>
                    <a:lnTo>
                      <a:pt x="453136" y="110109"/>
                    </a:lnTo>
                    <a:lnTo>
                      <a:pt x="412496" y="136144"/>
                    </a:lnTo>
                    <a:lnTo>
                      <a:pt x="417830" y="165227"/>
                    </a:lnTo>
                    <a:lnTo>
                      <a:pt x="379094" y="169799"/>
                    </a:lnTo>
                    <a:lnTo>
                      <a:pt x="338455" y="172847"/>
                    </a:lnTo>
                    <a:lnTo>
                      <a:pt x="283844" y="151384"/>
                    </a:lnTo>
                    <a:lnTo>
                      <a:pt x="283844" y="195834"/>
                    </a:lnTo>
                    <a:lnTo>
                      <a:pt x="299719" y="237109"/>
                    </a:lnTo>
                    <a:lnTo>
                      <a:pt x="248538" y="232537"/>
                    </a:lnTo>
                    <a:lnTo>
                      <a:pt x="206248" y="246253"/>
                    </a:lnTo>
                    <a:lnTo>
                      <a:pt x="153035" y="223393"/>
                    </a:lnTo>
                    <a:lnTo>
                      <a:pt x="146304" y="260604"/>
                    </a:lnTo>
                    <a:lnTo>
                      <a:pt x="36703" y="292227"/>
                    </a:lnTo>
                    <a:lnTo>
                      <a:pt x="41910" y="335026"/>
                    </a:lnTo>
                    <a:lnTo>
                      <a:pt x="63118" y="362585"/>
                    </a:lnTo>
                    <a:lnTo>
                      <a:pt x="45466" y="383921"/>
                    </a:lnTo>
                    <a:lnTo>
                      <a:pt x="34925" y="429895"/>
                    </a:lnTo>
                    <a:lnTo>
                      <a:pt x="5334" y="439674"/>
                    </a:lnTo>
                    <a:lnTo>
                      <a:pt x="24384" y="500253"/>
                    </a:lnTo>
                    <a:lnTo>
                      <a:pt x="20828" y="541528"/>
                    </a:lnTo>
                    <a:lnTo>
                      <a:pt x="0" y="577596"/>
                    </a:lnTo>
                    <a:lnTo>
                      <a:pt x="36703" y="642493"/>
                    </a:lnTo>
                    <a:lnTo>
                      <a:pt x="87757" y="769493"/>
                    </a:lnTo>
                    <a:lnTo>
                      <a:pt x="94868" y="803148"/>
                    </a:lnTo>
                    <a:lnTo>
                      <a:pt x="84328" y="838327"/>
                    </a:lnTo>
                    <a:lnTo>
                      <a:pt x="119506" y="939292"/>
                    </a:lnTo>
                    <a:lnTo>
                      <a:pt x="168910" y="954532"/>
                    </a:lnTo>
                    <a:lnTo>
                      <a:pt x="215137" y="1017270"/>
                    </a:lnTo>
                    <a:lnTo>
                      <a:pt x="310261" y="1073912"/>
                    </a:lnTo>
                    <a:lnTo>
                      <a:pt x="349123" y="1083056"/>
                    </a:lnTo>
                    <a:lnTo>
                      <a:pt x="404749" y="1129284"/>
                    </a:lnTo>
                    <a:lnTo>
                      <a:pt x="464057" y="1138428"/>
                    </a:lnTo>
                    <a:lnTo>
                      <a:pt x="507746" y="1109091"/>
                    </a:lnTo>
                    <a:lnTo>
                      <a:pt x="593090" y="1110615"/>
                    </a:lnTo>
                    <a:lnTo>
                      <a:pt x="686181" y="1058545"/>
                    </a:lnTo>
                    <a:lnTo>
                      <a:pt x="611759" y="1037209"/>
                    </a:lnTo>
                    <a:lnTo>
                      <a:pt x="635381" y="1012698"/>
                    </a:lnTo>
                    <a:lnTo>
                      <a:pt x="624078" y="981202"/>
                    </a:lnTo>
                    <a:lnTo>
                      <a:pt x="661162" y="954532"/>
                    </a:lnTo>
                    <a:lnTo>
                      <a:pt x="672084" y="922401"/>
                    </a:lnTo>
                    <a:lnTo>
                      <a:pt x="704469" y="936244"/>
                    </a:lnTo>
                    <a:lnTo>
                      <a:pt x="756666" y="940816"/>
                    </a:lnTo>
                    <a:lnTo>
                      <a:pt x="791972" y="917829"/>
                    </a:lnTo>
                    <a:lnTo>
                      <a:pt x="814832" y="890270"/>
                    </a:lnTo>
                    <a:lnTo>
                      <a:pt x="818388" y="861187"/>
                    </a:lnTo>
                    <a:lnTo>
                      <a:pt x="788416" y="852043"/>
                    </a:lnTo>
                    <a:lnTo>
                      <a:pt x="788416" y="815340"/>
                    </a:lnTo>
                    <a:lnTo>
                      <a:pt x="756666" y="812292"/>
                    </a:lnTo>
                    <a:lnTo>
                      <a:pt x="728472" y="792353"/>
                    </a:lnTo>
                    <a:lnTo>
                      <a:pt x="719709" y="757174"/>
                    </a:lnTo>
                    <a:lnTo>
                      <a:pt x="686181" y="752602"/>
                    </a:lnTo>
                    <a:lnTo>
                      <a:pt x="670306" y="774065"/>
                    </a:lnTo>
                    <a:lnTo>
                      <a:pt x="597662" y="783209"/>
                    </a:lnTo>
                    <a:lnTo>
                      <a:pt x="597662" y="760222"/>
                    </a:lnTo>
                    <a:lnTo>
                      <a:pt x="555371" y="764921"/>
                    </a:lnTo>
                    <a:lnTo>
                      <a:pt x="543052" y="778637"/>
                    </a:lnTo>
                    <a:lnTo>
                      <a:pt x="513080" y="774065"/>
                    </a:lnTo>
                    <a:lnTo>
                      <a:pt x="527177" y="751078"/>
                    </a:lnTo>
                    <a:lnTo>
                      <a:pt x="521843" y="723519"/>
                    </a:lnTo>
                    <a:lnTo>
                      <a:pt x="565912" y="734314"/>
                    </a:lnTo>
                    <a:lnTo>
                      <a:pt x="611759" y="715899"/>
                    </a:lnTo>
                    <a:lnTo>
                      <a:pt x="606425" y="688340"/>
                    </a:lnTo>
                    <a:lnTo>
                      <a:pt x="555371" y="677672"/>
                    </a:lnTo>
                    <a:lnTo>
                      <a:pt x="527177" y="711327"/>
                    </a:lnTo>
                    <a:lnTo>
                      <a:pt x="513080" y="692912"/>
                    </a:lnTo>
                    <a:lnTo>
                      <a:pt x="518287" y="665480"/>
                    </a:lnTo>
                    <a:lnTo>
                      <a:pt x="479552" y="636397"/>
                    </a:lnTo>
                    <a:lnTo>
                      <a:pt x="491871" y="596646"/>
                    </a:lnTo>
                    <a:lnTo>
                      <a:pt x="507746" y="569087"/>
                    </a:lnTo>
                    <a:lnTo>
                      <a:pt x="548259" y="569087"/>
                    </a:lnTo>
                    <a:lnTo>
                      <a:pt x="558927" y="532384"/>
                    </a:lnTo>
                    <a:lnTo>
                      <a:pt x="543052" y="498729"/>
                    </a:lnTo>
                    <a:lnTo>
                      <a:pt x="537718" y="468122"/>
                    </a:lnTo>
                    <a:lnTo>
                      <a:pt x="539496" y="426847"/>
                    </a:lnTo>
                    <a:lnTo>
                      <a:pt x="565912" y="403860"/>
                    </a:lnTo>
                    <a:lnTo>
                      <a:pt x="628015" y="402336"/>
                    </a:lnTo>
                    <a:lnTo>
                      <a:pt x="624459" y="376301"/>
                    </a:lnTo>
                    <a:lnTo>
                      <a:pt x="649097" y="351790"/>
                    </a:lnTo>
                    <a:lnTo>
                      <a:pt x="597662" y="339598"/>
                    </a:lnTo>
                    <a:lnTo>
                      <a:pt x="628015" y="315087"/>
                    </a:lnTo>
                    <a:lnTo>
                      <a:pt x="624459" y="264668"/>
                    </a:lnTo>
                    <a:lnTo>
                      <a:pt x="633222" y="229489"/>
                    </a:lnTo>
                    <a:lnTo>
                      <a:pt x="608203" y="206502"/>
                    </a:lnTo>
                    <a:lnTo>
                      <a:pt x="619125" y="191262"/>
                    </a:lnTo>
                    <a:lnTo>
                      <a:pt x="654431" y="151384"/>
                    </a:lnTo>
                    <a:lnTo>
                      <a:pt x="622681" y="136144"/>
                    </a:lnTo>
                    <a:lnTo>
                      <a:pt x="638556" y="105537"/>
                    </a:lnTo>
                    <a:lnTo>
                      <a:pt x="670306" y="82550"/>
                    </a:lnTo>
                    <a:lnTo>
                      <a:pt x="645668" y="59690"/>
                    </a:lnTo>
                    <a:lnTo>
                      <a:pt x="649097" y="18415"/>
                    </a:lnTo>
                    <a:lnTo>
                      <a:pt x="587121" y="0"/>
                    </a:lnTo>
                    <a:close/>
                  </a:path>
                </a:pathLst>
              </a:custGeom>
              <a:solidFill>
                <a:srgbClr val="F4B083"/>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24" name="object 168">
                <a:extLst>
                  <a:ext uri="{FF2B5EF4-FFF2-40B4-BE49-F238E27FC236}">
                    <a16:creationId xmlns:a16="http://schemas.microsoft.com/office/drawing/2014/main" id="{A663A8DF-79EA-42EB-B1C4-C4F5FD36F360}"/>
                  </a:ext>
                </a:extLst>
              </p:cNvPr>
              <p:cNvSpPr/>
              <p:nvPr/>
            </p:nvSpPr>
            <p:spPr>
              <a:xfrm>
                <a:off x="1531620" y="4408932"/>
                <a:ext cx="818515" cy="1138555"/>
              </a:xfrm>
              <a:custGeom>
                <a:avLst/>
                <a:gdLst/>
                <a:ahLst/>
                <a:cxnLst/>
                <a:rect l="l" t="t" r="r" b="b"/>
                <a:pathLst>
                  <a:path w="818514" h="1138554">
                    <a:moveTo>
                      <a:pt x="310261" y="1073912"/>
                    </a:moveTo>
                    <a:lnTo>
                      <a:pt x="215137" y="1017270"/>
                    </a:lnTo>
                    <a:lnTo>
                      <a:pt x="168910" y="954532"/>
                    </a:lnTo>
                    <a:lnTo>
                      <a:pt x="119506" y="939292"/>
                    </a:lnTo>
                    <a:lnTo>
                      <a:pt x="84328" y="838327"/>
                    </a:lnTo>
                    <a:lnTo>
                      <a:pt x="94868" y="803148"/>
                    </a:lnTo>
                    <a:lnTo>
                      <a:pt x="87757" y="769493"/>
                    </a:lnTo>
                    <a:lnTo>
                      <a:pt x="36703" y="642493"/>
                    </a:lnTo>
                    <a:lnTo>
                      <a:pt x="0" y="577596"/>
                    </a:lnTo>
                    <a:lnTo>
                      <a:pt x="20828" y="541528"/>
                    </a:lnTo>
                    <a:lnTo>
                      <a:pt x="24384" y="500253"/>
                    </a:lnTo>
                    <a:lnTo>
                      <a:pt x="5334" y="439674"/>
                    </a:lnTo>
                    <a:lnTo>
                      <a:pt x="34925" y="429895"/>
                    </a:lnTo>
                    <a:lnTo>
                      <a:pt x="45466" y="383921"/>
                    </a:lnTo>
                    <a:lnTo>
                      <a:pt x="63118" y="362585"/>
                    </a:lnTo>
                    <a:lnTo>
                      <a:pt x="41910" y="335026"/>
                    </a:lnTo>
                    <a:lnTo>
                      <a:pt x="36703" y="292227"/>
                    </a:lnTo>
                    <a:lnTo>
                      <a:pt x="146304" y="260604"/>
                    </a:lnTo>
                    <a:lnTo>
                      <a:pt x="153035" y="223393"/>
                    </a:lnTo>
                    <a:lnTo>
                      <a:pt x="206248" y="246253"/>
                    </a:lnTo>
                    <a:lnTo>
                      <a:pt x="248538" y="232537"/>
                    </a:lnTo>
                    <a:lnTo>
                      <a:pt x="299719" y="237109"/>
                    </a:lnTo>
                    <a:lnTo>
                      <a:pt x="283844" y="195834"/>
                    </a:lnTo>
                    <a:lnTo>
                      <a:pt x="283844" y="151384"/>
                    </a:lnTo>
                    <a:lnTo>
                      <a:pt x="338455" y="172847"/>
                    </a:lnTo>
                    <a:lnTo>
                      <a:pt x="379094" y="169799"/>
                    </a:lnTo>
                    <a:lnTo>
                      <a:pt x="417830" y="165227"/>
                    </a:lnTo>
                    <a:lnTo>
                      <a:pt x="412496" y="136144"/>
                    </a:lnTo>
                    <a:lnTo>
                      <a:pt x="453136" y="110109"/>
                    </a:lnTo>
                    <a:lnTo>
                      <a:pt x="484886" y="114681"/>
                    </a:lnTo>
                    <a:lnTo>
                      <a:pt x="495427" y="87249"/>
                    </a:lnTo>
                    <a:lnTo>
                      <a:pt x="528955" y="67310"/>
                    </a:lnTo>
                    <a:lnTo>
                      <a:pt x="523621" y="36703"/>
                    </a:lnTo>
                    <a:lnTo>
                      <a:pt x="574802" y="35179"/>
                    </a:lnTo>
                    <a:lnTo>
                      <a:pt x="587121" y="0"/>
                    </a:lnTo>
                    <a:lnTo>
                      <a:pt x="649097" y="18415"/>
                    </a:lnTo>
                    <a:lnTo>
                      <a:pt x="645668" y="59690"/>
                    </a:lnTo>
                    <a:lnTo>
                      <a:pt x="670306" y="82550"/>
                    </a:lnTo>
                    <a:lnTo>
                      <a:pt x="638556" y="105537"/>
                    </a:lnTo>
                    <a:lnTo>
                      <a:pt x="622681" y="136144"/>
                    </a:lnTo>
                    <a:lnTo>
                      <a:pt x="654431" y="151384"/>
                    </a:lnTo>
                    <a:lnTo>
                      <a:pt x="619125" y="191262"/>
                    </a:lnTo>
                    <a:lnTo>
                      <a:pt x="608203" y="206502"/>
                    </a:lnTo>
                    <a:lnTo>
                      <a:pt x="633222" y="229489"/>
                    </a:lnTo>
                    <a:lnTo>
                      <a:pt x="624459" y="264668"/>
                    </a:lnTo>
                    <a:lnTo>
                      <a:pt x="628015" y="315087"/>
                    </a:lnTo>
                    <a:lnTo>
                      <a:pt x="597662" y="339598"/>
                    </a:lnTo>
                    <a:lnTo>
                      <a:pt x="649097" y="351790"/>
                    </a:lnTo>
                    <a:lnTo>
                      <a:pt x="624459" y="376301"/>
                    </a:lnTo>
                    <a:lnTo>
                      <a:pt x="628015" y="402336"/>
                    </a:lnTo>
                    <a:lnTo>
                      <a:pt x="565912" y="403860"/>
                    </a:lnTo>
                    <a:lnTo>
                      <a:pt x="539496" y="426847"/>
                    </a:lnTo>
                    <a:lnTo>
                      <a:pt x="537718" y="468122"/>
                    </a:lnTo>
                    <a:lnTo>
                      <a:pt x="543052" y="498729"/>
                    </a:lnTo>
                    <a:lnTo>
                      <a:pt x="558927" y="532384"/>
                    </a:lnTo>
                    <a:lnTo>
                      <a:pt x="548259" y="569087"/>
                    </a:lnTo>
                    <a:lnTo>
                      <a:pt x="507746" y="569087"/>
                    </a:lnTo>
                    <a:lnTo>
                      <a:pt x="491871" y="596646"/>
                    </a:lnTo>
                    <a:lnTo>
                      <a:pt x="479552" y="636397"/>
                    </a:lnTo>
                    <a:lnTo>
                      <a:pt x="518287" y="665480"/>
                    </a:lnTo>
                    <a:lnTo>
                      <a:pt x="513080" y="692912"/>
                    </a:lnTo>
                    <a:lnTo>
                      <a:pt x="527177" y="711327"/>
                    </a:lnTo>
                    <a:lnTo>
                      <a:pt x="555371" y="677672"/>
                    </a:lnTo>
                    <a:lnTo>
                      <a:pt x="606425" y="688340"/>
                    </a:lnTo>
                    <a:lnTo>
                      <a:pt x="611759" y="715899"/>
                    </a:lnTo>
                    <a:lnTo>
                      <a:pt x="565912" y="734314"/>
                    </a:lnTo>
                    <a:lnTo>
                      <a:pt x="521843" y="723519"/>
                    </a:lnTo>
                    <a:lnTo>
                      <a:pt x="527177" y="751078"/>
                    </a:lnTo>
                    <a:lnTo>
                      <a:pt x="513080" y="774065"/>
                    </a:lnTo>
                    <a:lnTo>
                      <a:pt x="543052" y="778637"/>
                    </a:lnTo>
                    <a:lnTo>
                      <a:pt x="555371" y="764921"/>
                    </a:lnTo>
                    <a:lnTo>
                      <a:pt x="597662" y="760222"/>
                    </a:lnTo>
                    <a:lnTo>
                      <a:pt x="597662" y="783209"/>
                    </a:lnTo>
                    <a:lnTo>
                      <a:pt x="670306" y="774065"/>
                    </a:lnTo>
                    <a:lnTo>
                      <a:pt x="686181" y="752602"/>
                    </a:lnTo>
                    <a:lnTo>
                      <a:pt x="719709" y="757174"/>
                    </a:lnTo>
                    <a:lnTo>
                      <a:pt x="728472" y="792353"/>
                    </a:lnTo>
                    <a:lnTo>
                      <a:pt x="756666" y="812292"/>
                    </a:lnTo>
                    <a:lnTo>
                      <a:pt x="788416" y="815340"/>
                    </a:lnTo>
                    <a:lnTo>
                      <a:pt x="788416" y="852043"/>
                    </a:lnTo>
                    <a:lnTo>
                      <a:pt x="818388" y="861187"/>
                    </a:lnTo>
                    <a:lnTo>
                      <a:pt x="814832" y="890270"/>
                    </a:lnTo>
                    <a:lnTo>
                      <a:pt x="791972" y="917829"/>
                    </a:lnTo>
                    <a:lnTo>
                      <a:pt x="756666" y="940816"/>
                    </a:lnTo>
                    <a:lnTo>
                      <a:pt x="704469" y="936244"/>
                    </a:lnTo>
                    <a:lnTo>
                      <a:pt x="672084" y="922401"/>
                    </a:lnTo>
                    <a:lnTo>
                      <a:pt x="661162" y="954532"/>
                    </a:lnTo>
                    <a:lnTo>
                      <a:pt x="624078" y="981202"/>
                    </a:lnTo>
                    <a:lnTo>
                      <a:pt x="635381" y="1012698"/>
                    </a:lnTo>
                    <a:lnTo>
                      <a:pt x="611759" y="1037209"/>
                    </a:lnTo>
                    <a:lnTo>
                      <a:pt x="686181" y="1058545"/>
                    </a:lnTo>
                    <a:lnTo>
                      <a:pt x="593090" y="1110615"/>
                    </a:lnTo>
                    <a:lnTo>
                      <a:pt x="507746" y="1109091"/>
                    </a:lnTo>
                    <a:lnTo>
                      <a:pt x="464057" y="1138428"/>
                    </a:lnTo>
                    <a:lnTo>
                      <a:pt x="404749" y="1129284"/>
                    </a:lnTo>
                    <a:lnTo>
                      <a:pt x="349123" y="1083056"/>
                    </a:lnTo>
                    <a:lnTo>
                      <a:pt x="310261" y="1073912"/>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25" name="object 169">
                <a:extLst>
                  <a:ext uri="{FF2B5EF4-FFF2-40B4-BE49-F238E27FC236}">
                    <a16:creationId xmlns:a16="http://schemas.microsoft.com/office/drawing/2014/main" id="{4752BFAB-4504-47A9-9FD8-51F0A9B74333}"/>
                  </a:ext>
                </a:extLst>
              </p:cNvPr>
              <p:cNvSpPr/>
              <p:nvPr/>
            </p:nvSpPr>
            <p:spPr>
              <a:xfrm>
                <a:off x="1525523" y="3025139"/>
                <a:ext cx="1590294" cy="960881"/>
              </a:xfrm>
              <a:prstGeom prst="rect">
                <a:avLst/>
              </a:prstGeom>
              <a:blipFill>
                <a:blip r:embed="rId12"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26" name="object 170">
                <a:extLst>
                  <a:ext uri="{FF2B5EF4-FFF2-40B4-BE49-F238E27FC236}">
                    <a16:creationId xmlns:a16="http://schemas.microsoft.com/office/drawing/2014/main" id="{EF7E138F-DA9C-43B6-9B1A-F5C747F1F6C1}"/>
                  </a:ext>
                </a:extLst>
              </p:cNvPr>
              <p:cNvSpPr/>
              <p:nvPr/>
            </p:nvSpPr>
            <p:spPr>
              <a:xfrm>
                <a:off x="1543812" y="3005327"/>
                <a:ext cx="1580515" cy="951230"/>
              </a:xfrm>
              <a:custGeom>
                <a:avLst/>
                <a:gdLst/>
                <a:ahLst/>
                <a:cxnLst/>
                <a:rect l="l" t="t" r="r" b="b"/>
                <a:pathLst>
                  <a:path w="1580514" h="951229">
                    <a:moveTo>
                      <a:pt x="834898" y="0"/>
                    </a:moveTo>
                    <a:lnTo>
                      <a:pt x="769112" y="0"/>
                    </a:lnTo>
                    <a:lnTo>
                      <a:pt x="749426" y="30861"/>
                    </a:lnTo>
                    <a:lnTo>
                      <a:pt x="705612" y="27559"/>
                    </a:lnTo>
                    <a:lnTo>
                      <a:pt x="664971" y="68834"/>
                    </a:lnTo>
                    <a:lnTo>
                      <a:pt x="611886" y="70358"/>
                    </a:lnTo>
                    <a:lnTo>
                      <a:pt x="553338" y="110489"/>
                    </a:lnTo>
                    <a:lnTo>
                      <a:pt x="527557" y="142621"/>
                    </a:lnTo>
                    <a:lnTo>
                      <a:pt x="477646" y="160782"/>
                    </a:lnTo>
                    <a:lnTo>
                      <a:pt x="478027" y="204216"/>
                    </a:lnTo>
                    <a:lnTo>
                      <a:pt x="509524" y="248285"/>
                    </a:lnTo>
                    <a:lnTo>
                      <a:pt x="564642" y="252857"/>
                    </a:lnTo>
                    <a:lnTo>
                      <a:pt x="620776" y="231521"/>
                    </a:lnTo>
                    <a:lnTo>
                      <a:pt x="627888" y="281686"/>
                    </a:lnTo>
                    <a:lnTo>
                      <a:pt x="546988" y="291211"/>
                    </a:lnTo>
                    <a:lnTo>
                      <a:pt x="522605" y="307975"/>
                    </a:lnTo>
                    <a:lnTo>
                      <a:pt x="537082" y="321437"/>
                    </a:lnTo>
                    <a:lnTo>
                      <a:pt x="522224" y="332867"/>
                    </a:lnTo>
                    <a:lnTo>
                      <a:pt x="559688" y="351155"/>
                    </a:lnTo>
                    <a:lnTo>
                      <a:pt x="574167" y="383032"/>
                    </a:lnTo>
                    <a:lnTo>
                      <a:pt x="549020" y="387604"/>
                    </a:lnTo>
                    <a:lnTo>
                      <a:pt x="520445" y="383032"/>
                    </a:lnTo>
                    <a:lnTo>
                      <a:pt x="527557" y="417957"/>
                    </a:lnTo>
                    <a:lnTo>
                      <a:pt x="552195" y="437261"/>
                    </a:lnTo>
                    <a:lnTo>
                      <a:pt x="532130" y="450342"/>
                    </a:lnTo>
                    <a:lnTo>
                      <a:pt x="510539" y="442087"/>
                    </a:lnTo>
                    <a:lnTo>
                      <a:pt x="493521" y="418211"/>
                    </a:lnTo>
                    <a:lnTo>
                      <a:pt x="467487" y="433577"/>
                    </a:lnTo>
                    <a:lnTo>
                      <a:pt x="410210" y="418211"/>
                    </a:lnTo>
                    <a:lnTo>
                      <a:pt x="378460" y="442975"/>
                    </a:lnTo>
                    <a:lnTo>
                      <a:pt x="366394" y="478536"/>
                    </a:lnTo>
                    <a:lnTo>
                      <a:pt x="320167" y="502412"/>
                    </a:lnTo>
                    <a:lnTo>
                      <a:pt x="281939" y="477647"/>
                    </a:lnTo>
                    <a:lnTo>
                      <a:pt x="293624" y="460121"/>
                    </a:lnTo>
                    <a:lnTo>
                      <a:pt x="336042" y="452247"/>
                    </a:lnTo>
                    <a:lnTo>
                      <a:pt x="334644" y="425576"/>
                    </a:lnTo>
                    <a:lnTo>
                      <a:pt x="326517" y="396748"/>
                    </a:lnTo>
                    <a:lnTo>
                      <a:pt x="362838" y="387350"/>
                    </a:lnTo>
                    <a:lnTo>
                      <a:pt x="352932" y="354584"/>
                    </a:lnTo>
                    <a:lnTo>
                      <a:pt x="326517" y="337058"/>
                    </a:lnTo>
                    <a:lnTo>
                      <a:pt x="283718" y="349376"/>
                    </a:lnTo>
                    <a:lnTo>
                      <a:pt x="246252" y="336804"/>
                    </a:lnTo>
                    <a:lnTo>
                      <a:pt x="271399" y="298831"/>
                    </a:lnTo>
                    <a:lnTo>
                      <a:pt x="235965" y="293877"/>
                    </a:lnTo>
                    <a:lnTo>
                      <a:pt x="218312" y="319024"/>
                    </a:lnTo>
                    <a:lnTo>
                      <a:pt x="180848" y="307975"/>
                    </a:lnTo>
                    <a:lnTo>
                      <a:pt x="166750" y="373507"/>
                    </a:lnTo>
                    <a:lnTo>
                      <a:pt x="180848" y="390398"/>
                    </a:lnTo>
                    <a:lnTo>
                      <a:pt x="159638" y="408686"/>
                    </a:lnTo>
                    <a:lnTo>
                      <a:pt x="186181" y="419481"/>
                    </a:lnTo>
                    <a:lnTo>
                      <a:pt x="202056" y="451612"/>
                    </a:lnTo>
                    <a:lnTo>
                      <a:pt x="183006" y="479806"/>
                    </a:lnTo>
                    <a:lnTo>
                      <a:pt x="191515" y="516255"/>
                    </a:lnTo>
                    <a:lnTo>
                      <a:pt x="124332" y="548386"/>
                    </a:lnTo>
                    <a:lnTo>
                      <a:pt x="113792" y="569849"/>
                    </a:lnTo>
                    <a:lnTo>
                      <a:pt x="156210" y="589661"/>
                    </a:lnTo>
                    <a:lnTo>
                      <a:pt x="117348" y="603504"/>
                    </a:lnTo>
                    <a:lnTo>
                      <a:pt x="76707" y="603504"/>
                    </a:lnTo>
                    <a:lnTo>
                      <a:pt x="55118" y="623316"/>
                    </a:lnTo>
                    <a:lnTo>
                      <a:pt x="82676" y="638048"/>
                    </a:lnTo>
                    <a:lnTo>
                      <a:pt x="72135" y="663829"/>
                    </a:lnTo>
                    <a:lnTo>
                      <a:pt x="2159" y="695071"/>
                    </a:lnTo>
                    <a:lnTo>
                      <a:pt x="14859" y="708787"/>
                    </a:lnTo>
                    <a:lnTo>
                      <a:pt x="44196" y="714629"/>
                    </a:lnTo>
                    <a:lnTo>
                      <a:pt x="34671" y="729869"/>
                    </a:lnTo>
                    <a:lnTo>
                      <a:pt x="8128" y="726567"/>
                    </a:lnTo>
                    <a:lnTo>
                      <a:pt x="0" y="742188"/>
                    </a:lnTo>
                    <a:lnTo>
                      <a:pt x="13462" y="764794"/>
                    </a:lnTo>
                    <a:lnTo>
                      <a:pt x="16637" y="789305"/>
                    </a:lnTo>
                    <a:lnTo>
                      <a:pt x="57276" y="790194"/>
                    </a:lnTo>
                    <a:lnTo>
                      <a:pt x="90043" y="785622"/>
                    </a:lnTo>
                    <a:lnTo>
                      <a:pt x="102869" y="804672"/>
                    </a:lnTo>
                    <a:lnTo>
                      <a:pt x="103505" y="836168"/>
                    </a:lnTo>
                    <a:lnTo>
                      <a:pt x="187198" y="860044"/>
                    </a:lnTo>
                    <a:lnTo>
                      <a:pt x="214756" y="888238"/>
                    </a:lnTo>
                    <a:lnTo>
                      <a:pt x="376936" y="897763"/>
                    </a:lnTo>
                    <a:lnTo>
                      <a:pt x="382269" y="929894"/>
                    </a:lnTo>
                    <a:lnTo>
                      <a:pt x="410590" y="950976"/>
                    </a:lnTo>
                    <a:lnTo>
                      <a:pt x="456438" y="937260"/>
                    </a:lnTo>
                    <a:lnTo>
                      <a:pt x="484377" y="920623"/>
                    </a:lnTo>
                    <a:lnTo>
                      <a:pt x="514731" y="850900"/>
                    </a:lnTo>
                    <a:lnTo>
                      <a:pt x="580136" y="837692"/>
                    </a:lnTo>
                    <a:lnTo>
                      <a:pt x="648335" y="836168"/>
                    </a:lnTo>
                    <a:lnTo>
                      <a:pt x="622554" y="878967"/>
                    </a:lnTo>
                    <a:lnTo>
                      <a:pt x="663575" y="901954"/>
                    </a:lnTo>
                    <a:lnTo>
                      <a:pt x="716533" y="901065"/>
                    </a:lnTo>
                    <a:lnTo>
                      <a:pt x="769493" y="868045"/>
                    </a:lnTo>
                    <a:lnTo>
                      <a:pt x="866394" y="890905"/>
                    </a:lnTo>
                    <a:lnTo>
                      <a:pt x="913002" y="863473"/>
                    </a:lnTo>
                    <a:lnTo>
                      <a:pt x="961389" y="854583"/>
                    </a:lnTo>
                    <a:lnTo>
                      <a:pt x="998855" y="878459"/>
                    </a:lnTo>
                    <a:lnTo>
                      <a:pt x="1044448" y="874395"/>
                    </a:lnTo>
                    <a:lnTo>
                      <a:pt x="1131696" y="868299"/>
                    </a:lnTo>
                    <a:lnTo>
                      <a:pt x="1158113" y="900430"/>
                    </a:lnTo>
                    <a:lnTo>
                      <a:pt x="1198752" y="908685"/>
                    </a:lnTo>
                    <a:lnTo>
                      <a:pt x="1235964" y="851408"/>
                    </a:lnTo>
                    <a:lnTo>
                      <a:pt x="1246505" y="785622"/>
                    </a:lnTo>
                    <a:lnTo>
                      <a:pt x="1294257" y="718312"/>
                    </a:lnTo>
                    <a:lnTo>
                      <a:pt x="1331340" y="722884"/>
                    </a:lnTo>
                    <a:lnTo>
                      <a:pt x="1378965" y="698373"/>
                    </a:lnTo>
                    <a:lnTo>
                      <a:pt x="1426718" y="631063"/>
                    </a:lnTo>
                    <a:lnTo>
                      <a:pt x="1470152" y="594613"/>
                    </a:lnTo>
                    <a:lnTo>
                      <a:pt x="1442593" y="566674"/>
                    </a:lnTo>
                    <a:lnTo>
                      <a:pt x="1394840" y="546862"/>
                    </a:lnTo>
                    <a:lnTo>
                      <a:pt x="1368806" y="548386"/>
                    </a:lnTo>
                    <a:lnTo>
                      <a:pt x="1378965" y="519302"/>
                    </a:lnTo>
                    <a:lnTo>
                      <a:pt x="1370838" y="491363"/>
                    </a:lnTo>
                    <a:lnTo>
                      <a:pt x="1428114" y="496062"/>
                    </a:lnTo>
                    <a:lnTo>
                      <a:pt x="1479042" y="491363"/>
                    </a:lnTo>
                    <a:lnTo>
                      <a:pt x="1523873" y="500888"/>
                    </a:lnTo>
                    <a:lnTo>
                      <a:pt x="1580388" y="474599"/>
                    </a:lnTo>
                    <a:lnTo>
                      <a:pt x="1553845" y="445516"/>
                    </a:lnTo>
                    <a:lnTo>
                      <a:pt x="1569846" y="408686"/>
                    </a:lnTo>
                    <a:lnTo>
                      <a:pt x="1555623" y="396494"/>
                    </a:lnTo>
                    <a:lnTo>
                      <a:pt x="1571498" y="371983"/>
                    </a:lnTo>
                    <a:lnTo>
                      <a:pt x="1553845" y="348996"/>
                    </a:lnTo>
                    <a:lnTo>
                      <a:pt x="1497330" y="368935"/>
                    </a:lnTo>
                    <a:lnTo>
                      <a:pt x="1432052" y="312293"/>
                    </a:lnTo>
                    <a:lnTo>
                      <a:pt x="1380744" y="298576"/>
                    </a:lnTo>
                    <a:lnTo>
                      <a:pt x="1357757" y="267843"/>
                    </a:lnTo>
                    <a:lnTo>
                      <a:pt x="1317117" y="272542"/>
                    </a:lnTo>
                    <a:lnTo>
                      <a:pt x="1290701" y="313817"/>
                    </a:lnTo>
                    <a:lnTo>
                      <a:pt x="1241170" y="313817"/>
                    </a:lnTo>
                    <a:lnTo>
                      <a:pt x="1237614" y="271018"/>
                    </a:lnTo>
                    <a:lnTo>
                      <a:pt x="1174114" y="298576"/>
                    </a:lnTo>
                    <a:lnTo>
                      <a:pt x="1142238" y="290830"/>
                    </a:lnTo>
                    <a:lnTo>
                      <a:pt x="1152906" y="261747"/>
                    </a:lnTo>
                    <a:lnTo>
                      <a:pt x="1135252" y="234187"/>
                    </a:lnTo>
                    <a:lnTo>
                      <a:pt x="1083945" y="252602"/>
                    </a:lnTo>
                    <a:lnTo>
                      <a:pt x="1060958" y="277113"/>
                    </a:lnTo>
                    <a:lnTo>
                      <a:pt x="986789" y="290830"/>
                    </a:lnTo>
                    <a:lnTo>
                      <a:pt x="992124" y="254126"/>
                    </a:lnTo>
                    <a:lnTo>
                      <a:pt x="946150" y="280162"/>
                    </a:lnTo>
                    <a:lnTo>
                      <a:pt x="896746" y="252602"/>
                    </a:lnTo>
                    <a:lnTo>
                      <a:pt x="886079" y="220472"/>
                    </a:lnTo>
                    <a:lnTo>
                      <a:pt x="845438" y="226568"/>
                    </a:lnTo>
                    <a:lnTo>
                      <a:pt x="824230" y="252602"/>
                    </a:lnTo>
                    <a:lnTo>
                      <a:pt x="855726" y="296925"/>
                    </a:lnTo>
                    <a:lnTo>
                      <a:pt x="864869" y="335280"/>
                    </a:lnTo>
                    <a:lnTo>
                      <a:pt x="866648" y="368935"/>
                    </a:lnTo>
                    <a:lnTo>
                      <a:pt x="903732" y="376555"/>
                    </a:lnTo>
                    <a:lnTo>
                      <a:pt x="898779" y="422783"/>
                    </a:lnTo>
                    <a:lnTo>
                      <a:pt x="859663" y="431673"/>
                    </a:lnTo>
                    <a:lnTo>
                      <a:pt x="829563" y="405638"/>
                    </a:lnTo>
                    <a:lnTo>
                      <a:pt x="797432" y="413385"/>
                    </a:lnTo>
                    <a:lnTo>
                      <a:pt x="774445" y="376555"/>
                    </a:lnTo>
                    <a:lnTo>
                      <a:pt x="765682" y="321437"/>
                    </a:lnTo>
                    <a:lnTo>
                      <a:pt x="785113" y="284734"/>
                    </a:lnTo>
                    <a:lnTo>
                      <a:pt x="781557" y="231139"/>
                    </a:lnTo>
                    <a:lnTo>
                      <a:pt x="808355" y="199009"/>
                    </a:lnTo>
                    <a:lnTo>
                      <a:pt x="856107" y="206629"/>
                    </a:lnTo>
                    <a:lnTo>
                      <a:pt x="882523" y="171450"/>
                    </a:lnTo>
                    <a:lnTo>
                      <a:pt x="903732" y="130175"/>
                    </a:lnTo>
                    <a:lnTo>
                      <a:pt x="924940" y="96393"/>
                    </a:lnTo>
                    <a:lnTo>
                      <a:pt x="919733" y="52070"/>
                    </a:lnTo>
                    <a:lnTo>
                      <a:pt x="898525" y="15367"/>
                    </a:lnTo>
                    <a:lnTo>
                      <a:pt x="834898" y="0"/>
                    </a:lnTo>
                    <a:close/>
                  </a:path>
                </a:pathLst>
              </a:custGeom>
              <a:solidFill>
                <a:srgbClr val="6FAC46"/>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27" name="object 171">
                <a:extLst>
                  <a:ext uri="{FF2B5EF4-FFF2-40B4-BE49-F238E27FC236}">
                    <a16:creationId xmlns:a16="http://schemas.microsoft.com/office/drawing/2014/main" id="{84B6EFC4-C8E9-40C6-A7EB-391A782A7EEC}"/>
                  </a:ext>
                </a:extLst>
              </p:cNvPr>
              <p:cNvSpPr/>
              <p:nvPr/>
            </p:nvSpPr>
            <p:spPr>
              <a:xfrm>
                <a:off x="1543812" y="3005327"/>
                <a:ext cx="1580515" cy="951230"/>
              </a:xfrm>
              <a:custGeom>
                <a:avLst/>
                <a:gdLst/>
                <a:ahLst/>
                <a:cxnLst/>
                <a:rect l="l" t="t" r="r" b="b"/>
                <a:pathLst>
                  <a:path w="1580514" h="951229">
                    <a:moveTo>
                      <a:pt x="769112" y="0"/>
                    </a:moveTo>
                    <a:lnTo>
                      <a:pt x="749426" y="30861"/>
                    </a:lnTo>
                    <a:lnTo>
                      <a:pt x="705612" y="27559"/>
                    </a:lnTo>
                    <a:lnTo>
                      <a:pt x="664971" y="68834"/>
                    </a:lnTo>
                    <a:lnTo>
                      <a:pt x="611886" y="70358"/>
                    </a:lnTo>
                    <a:lnTo>
                      <a:pt x="553338" y="110489"/>
                    </a:lnTo>
                    <a:lnTo>
                      <a:pt x="527557" y="142621"/>
                    </a:lnTo>
                    <a:lnTo>
                      <a:pt x="477646" y="160782"/>
                    </a:lnTo>
                    <a:lnTo>
                      <a:pt x="478027" y="204216"/>
                    </a:lnTo>
                    <a:lnTo>
                      <a:pt x="509524" y="248285"/>
                    </a:lnTo>
                    <a:lnTo>
                      <a:pt x="564642" y="252857"/>
                    </a:lnTo>
                    <a:lnTo>
                      <a:pt x="620776" y="231521"/>
                    </a:lnTo>
                    <a:lnTo>
                      <a:pt x="627888" y="281686"/>
                    </a:lnTo>
                    <a:lnTo>
                      <a:pt x="546988" y="291211"/>
                    </a:lnTo>
                    <a:lnTo>
                      <a:pt x="522605" y="307975"/>
                    </a:lnTo>
                    <a:lnTo>
                      <a:pt x="537082" y="321437"/>
                    </a:lnTo>
                    <a:lnTo>
                      <a:pt x="522224" y="332867"/>
                    </a:lnTo>
                    <a:lnTo>
                      <a:pt x="559688" y="351155"/>
                    </a:lnTo>
                    <a:lnTo>
                      <a:pt x="574167" y="383032"/>
                    </a:lnTo>
                    <a:lnTo>
                      <a:pt x="549020" y="387604"/>
                    </a:lnTo>
                    <a:lnTo>
                      <a:pt x="520445" y="383032"/>
                    </a:lnTo>
                    <a:lnTo>
                      <a:pt x="527557" y="417957"/>
                    </a:lnTo>
                    <a:lnTo>
                      <a:pt x="552195" y="437261"/>
                    </a:lnTo>
                    <a:lnTo>
                      <a:pt x="532130" y="450342"/>
                    </a:lnTo>
                    <a:lnTo>
                      <a:pt x="510539" y="442087"/>
                    </a:lnTo>
                    <a:lnTo>
                      <a:pt x="493521" y="418211"/>
                    </a:lnTo>
                    <a:lnTo>
                      <a:pt x="467487" y="433577"/>
                    </a:lnTo>
                    <a:lnTo>
                      <a:pt x="410210" y="418211"/>
                    </a:lnTo>
                    <a:lnTo>
                      <a:pt x="378460" y="442975"/>
                    </a:lnTo>
                    <a:lnTo>
                      <a:pt x="366394" y="478536"/>
                    </a:lnTo>
                    <a:lnTo>
                      <a:pt x="320167" y="502412"/>
                    </a:lnTo>
                    <a:lnTo>
                      <a:pt x="281939" y="477647"/>
                    </a:lnTo>
                    <a:lnTo>
                      <a:pt x="293624" y="460121"/>
                    </a:lnTo>
                    <a:lnTo>
                      <a:pt x="336042" y="452247"/>
                    </a:lnTo>
                    <a:lnTo>
                      <a:pt x="334644" y="425576"/>
                    </a:lnTo>
                    <a:lnTo>
                      <a:pt x="326517" y="396748"/>
                    </a:lnTo>
                    <a:lnTo>
                      <a:pt x="362838" y="387350"/>
                    </a:lnTo>
                    <a:lnTo>
                      <a:pt x="352932" y="354584"/>
                    </a:lnTo>
                    <a:lnTo>
                      <a:pt x="326517" y="337058"/>
                    </a:lnTo>
                    <a:lnTo>
                      <a:pt x="283718" y="349376"/>
                    </a:lnTo>
                    <a:lnTo>
                      <a:pt x="246252" y="336804"/>
                    </a:lnTo>
                    <a:lnTo>
                      <a:pt x="271399" y="298831"/>
                    </a:lnTo>
                    <a:lnTo>
                      <a:pt x="235965" y="293877"/>
                    </a:lnTo>
                    <a:lnTo>
                      <a:pt x="218312" y="319024"/>
                    </a:lnTo>
                    <a:lnTo>
                      <a:pt x="180848" y="307975"/>
                    </a:lnTo>
                    <a:lnTo>
                      <a:pt x="166750" y="373507"/>
                    </a:lnTo>
                    <a:lnTo>
                      <a:pt x="180848" y="390398"/>
                    </a:lnTo>
                    <a:lnTo>
                      <a:pt x="159638" y="408686"/>
                    </a:lnTo>
                    <a:lnTo>
                      <a:pt x="186181" y="419481"/>
                    </a:lnTo>
                    <a:lnTo>
                      <a:pt x="202056" y="451612"/>
                    </a:lnTo>
                    <a:lnTo>
                      <a:pt x="183006" y="479806"/>
                    </a:lnTo>
                    <a:lnTo>
                      <a:pt x="191515" y="516255"/>
                    </a:lnTo>
                    <a:lnTo>
                      <a:pt x="124332" y="548386"/>
                    </a:lnTo>
                    <a:lnTo>
                      <a:pt x="113792" y="569849"/>
                    </a:lnTo>
                    <a:lnTo>
                      <a:pt x="156210" y="589661"/>
                    </a:lnTo>
                    <a:lnTo>
                      <a:pt x="117348" y="603504"/>
                    </a:lnTo>
                    <a:lnTo>
                      <a:pt x="76707" y="603504"/>
                    </a:lnTo>
                    <a:lnTo>
                      <a:pt x="55118" y="623316"/>
                    </a:lnTo>
                    <a:lnTo>
                      <a:pt x="82676" y="638048"/>
                    </a:lnTo>
                    <a:lnTo>
                      <a:pt x="72135" y="663829"/>
                    </a:lnTo>
                    <a:lnTo>
                      <a:pt x="2159" y="695071"/>
                    </a:lnTo>
                    <a:lnTo>
                      <a:pt x="14859" y="708787"/>
                    </a:lnTo>
                    <a:lnTo>
                      <a:pt x="44196" y="714629"/>
                    </a:lnTo>
                    <a:lnTo>
                      <a:pt x="34671" y="729869"/>
                    </a:lnTo>
                    <a:lnTo>
                      <a:pt x="8128" y="726567"/>
                    </a:lnTo>
                    <a:lnTo>
                      <a:pt x="0" y="742188"/>
                    </a:lnTo>
                    <a:lnTo>
                      <a:pt x="13462" y="764794"/>
                    </a:lnTo>
                    <a:lnTo>
                      <a:pt x="16637" y="789305"/>
                    </a:lnTo>
                    <a:lnTo>
                      <a:pt x="57276" y="790194"/>
                    </a:lnTo>
                    <a:lnTo>
                      <a:pt x="90043" y="785622"/>
                    </a:lnTo>
                    <a:lnTo>
                      <a:pt x="102869" y="804672"/>
                    </a:lnTo>
                    <a:lnTo>
                      <a:pt x="103505" y="836168"/>
                    </a:lnTo>
                    <a:lnTo>
                      <a:pt x="187198" y="860044"/>
                    </a:lnTo>
                    <a:lnTo>
                      <a:pt x="214756" y="888238"/>
                    </a:lnTo>
                    <a:lnTo>
                      <a:pt x="376936" y="897763"/>
                    </a:lnTo>
                    <a:lnTo>
                      <a:pt x="382269" y="929894"/>
                    </a:lnTo>
                    <a:lnTo>
                      <a:pt x="410590" y="950976"/>
                    </a:lnTo>
                    <a:lnTo>
                      <a:pt x="456438" y="937260"/>
                    </a:lnTo>
                    <a:lnTo>
                      <a:pt x="484377" y="920623"/>
                    </a:lnTo>
                    <a:lnTo>
                      <a:pt x="514731" y="850900"/>
                    </a:lnTo>
                    <a:lnTo>
                      <a:pt x="580136" y="837692"/>
                    </a:lnTo>
                    <a:lnTo>
                      <a:pt x="648335" y="836168"/>
                    </a:lnTo>
                    <a:lnTo>
                      <a:pt x="622554" y="878967"/>
                    </a:lnTo>
                    <a:lnTo>
                      <a:pt x="663575" y="901954"/>
                    </a:lnTo>
                    <a:lnTo>
                      <a:pt x="716533" y="901065"/>
                    </a:lnTo>
                    <a:lnTo>
                      <a:pt x="769493" y="868045"/>
                    </a:lnTo>
                    <a:lnTo>
                      <a:pt x="866394" y="890905"/>
                    </a:lnTo>
                    <a:lnTo>
                      <a:pt x="913002" y="863473"/>
                    </a:lnTo>
                    <a:lnTo>
                      <a:pt x="961389" y="854583"/>
                    </a:lnTo>
                    <a:lnTo>
                      <a:pt x="998855" y="878459"/>
                    </a:lnTo>
                    <a:lnTo>
                      <a:pt x="1044448" y="874395"/>
                    </a:lnTo>
                    <a:lnTo>
                      <a:pt x="1131696" y="868299"/>
                    </a:lnTo>
                    <a:lnTo>
                      <a:pt x="1158113" y="900430"/>
                    </a:lnTo>
                    <a:lnTo>
                      <a:pt x="1198752" y="908685"/>
                    </a:lnTo>
                    <a:lnTo>
                      <a:pt x="1235964" y="851408"/>
                    </a:lnTo>
                    <a:lnTo>
                      <a:pt x="1246505" y="785622"/>
                    </a:lnTo>
                    <a:lnTo>
                      <a:pt x="1294257" y="718312"/>
                    </a:lnTo>
                    <a:lnTo>
                      <a:pt x="1331340" y="722884"/>
                    </a:lnTo>
                    <a:lnTo>
                      <a:pt x="1378965" y="698373"/>
                    </a:lnTo>
                    <a:lnTo>
                      <a:pt x="1426718" y="631063"/>
                    </a:lnTo>
                    <a:lnTo>
                      <a:pt x="1470152" y="594613"/>
                    </a:lnTo>
                    <a:lnTo>
                      <a:pt x="1442593" y="566674"/>
                    </a:lnTo>
                    <a:lnTo>
                      <a:pt x="1394840" y="546862"/>
                    </a:lnTo>
                    <a:lnTo>
                      <a:pt x="1368806" y="548386"/>
                    </a:lnTo>
                    <a:lnTo>
                      <a:pt x="1378965" y="519302"/>
                    </a:lnTo>
                    <a:lnTo>
                      <a:pt x="1370838" y="491363"/>
                    </a:lnTo>
                    <a:lnTo>
                      <a:pt x="1428114" y="496062"/>
                    </a:lnTo>
                    <a:lnTo>
                      <a:pt x="1479042" y="491363"/>
                    </a:lnTo>
                    <a:lnTo>
                      <a:pt x="1523873" y="500888"/>
                    </a:lnTo>
                    <a:lnTo>
                      <a:pt x="1580388" y="474599"/>
                    </a:lnTo>
                    <a:lnTo>
                      <a:pt x="1553845" y="445516"/>
                    </a:lnTo>
                    <a:lnTo>
                      <a:pt x="1569846" y="408686"/>
                    </a:lnTo>
                    <a:lnTo>
                      <a:pt x="1555623" y="396494"/>
                    </a:lnTo>
                    <a:lnTo>
                      <a:pt x="1571498" y="371983"/>
                    </a:lnTo>
                    <a:lnTo>
                      <a:pt x="1553845" y="348996"/>
                    </a:lnTo>
                    <a:lnTo>
                      <a:pt x="1497330" y="368935"/>
                    </a:lnTo>
                    <a:lnTo>
                      <a:pt x="1432052" y="312293"/>
                    </a:lnTo>
                    <a:lnTo>
                      <a:pt x="1380744" y="298576"/>
                    </a:lnTo>
                    <a:lnTo>
                      <a:pt x="1357757" y="267843"/>
                    </a:lnTo>
                    <a:lnTo>
                      <a:pt x="1317117" y="272542"/>
                    </a:lnTo>
                    <a:lnTo>
                      <a:pt x="1290701" y="313817"/>
                    </a:lnTo>
                    <a:lnTo>
                      <a:pt x="1241170" y="313817"/>
                    </a:lnTo>
                    <a:lnTo>
                      <a:pt x="1237614" y="271018"/>
                    </a:lnTo>
                    <a:lnTo>
                      <a:pt x="1174114" y="298576"/>
                    </a:lnTo>
                    <a:lnTo>
                      <a:pt x="1142238" y="290830"/>
                    </a:lnTo>
                    <a:lnTo>
                      <a:pt x="1152906" y="261747"/>
                    </a:lnTo>
                    <a:lnTo>
                      <a:pt x="1135252" y="234187"/>
                    </a:lnTo>
                    <a:lnTo>
                      <a:pt x="1083945" y="252602"/>
                    </a:lnTo>
                    <a:lnTo>
                      <a:pt x="1060958" y="277113"/>
                    </a:lnTo>
                    <a:lnTo>
                      <a:pt x="986789" y="290830"/>
                    </a:lnTo>
                    <a:lnTo>
                      <a:pt x="992124" y="254126"/>
                    </a:lnTo>
                    <a:lnTo>
                      <a:pt x="946150" y="280162"/>
                    </a:lnTo>
                    <a:lnTo>
                      <a:pt x="896746" y="252602"/>
                    </a:lnTo>
                    <a:lnTo>
                      <a:pt x="886079" y="220472"/>
                    </a:lnTo>
                    <a:lnTo>
                      <a:pt x="845438" y="226568"/>
                    </a:lnTo>
                    <a:lnTo>
                      <a:pt x="824230" y="252602"/>
                    </a:lnTo>
                    <a:lnTo>
                      <a:pt x="855726" y="296925"/>
                    </a:lnTo>
                    <a:lnTo>
                      <a:pt x="864869" y="335280"/>
                    </a:lnTo>
                    <a:lnTo>
                      <a:pt x="866648" y="368935"/>
                    </a:lnTo>
                    <a:lnTo>
                      <a:pt x="903732" y="376555"/>
                    </a:lnTo>
                    <a:lnTo>
                      <a:pt x="898779" y="422783"/>
                    </a:lnTo>
                    <a:lnTo>
                      <a:pt x="859663" y="431673"/>
                    </a:lnTo>
                    <a:lnTo>
                      <a:pt x="829563" y="405638"/>
                    </a:lnTo>
                    <a:lnTo>
                      <a:pt x="797432" y="413385"/>
                    </a:lnTo>
                    <a:lnTo>
                      <a:pt x="774445" y="376555"/>
                    </a:lnTo>
                    <a:lnTo>
                      <a:pt x="765682" y="321437"/>
                    </a:lnTo>
                    <a:lnTo>
                      <a:pt x="785113" y="284734"/>
                    </a:lnTo>
                    <a:lnTo>
                      <a:pt x="781557" y="231139"/>
                    </a:lnTo>
                    <a:lnTo>
                      <a:pt x="808355" y="199009"/>
                    </a:lnTo>
                    <a:lnTo>
                      <a:pt x="856107" y="206629"/>
                    </a:lnTo>
                    <a:lnTo>
                      <a:pt x="882523" y="171450"/>
                    </a:lnTo>
                    <a:lnTo>
                      <a:pt x="903732" y="130175"/>
                    </a:lnTo>
                    <a:lnTo>
                      <a:pt x="924940" y="96393"/>
                    </a:lnTo>
                    <a:lnTo>
                      <a:pt x="919733" y="52070"/>
                    </a:lnTo>
                    <a:lnTo>
                      <a:pt x="898525" y="15367"/>
                    </a:lnTo>
                    <a:lnTo>
                      <a:pt x="834898" y="0"/>
                    </a:lnTo>
                    <a:lnTo>
                      <a:pt x="769112" y="0"/>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28" name="object 172">
                <a:extLst>
                  <a:ext uri="{FF2B5EF4-FFF2-40B4-BE49-F238E27FC236}">
                    <a16:creationId xmlns:a16="http://schemas.microsoft.com/office/drawing/2014/main" id="{7FED80A3-F24D-48E2-9834-4F0EE00B66AC}"/>
                  </a:ext>
                </a:extLst>
              </p:cNvPr>
              <p:cNvSpPr/>
              <p:nvPr/>
            </p:nvSpPr>
            <p:spPr>
              <a:xfrm>
                <a:off x="2112263" y="2433827"/>
                <a:ext cx="1305306" cy="1090422"/>
              </a:xfrm>
              <a:prstGeom prst="rect">
                <a:avLst/>
              </a:prstGeom>
              <a:blipFill>
                <a:blip r:embed="rId13"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29" name="object 173">
                <a:extLst>
                  <a:ext uri="{FF2B5EF4-FFF2-40B4-BE49-F238E27FC236}">
                    <a16:creationId xmlns:a16="http://schemas.microsoft.com/office/drawing/2014/main" id="{3E7F1369-56B4-4201-834A-15D442850292}"/>
                  </a:ext>
                </a:extLst>
              </p:cNvPr>
              <p:cNvSpPr/>
              <p:nvPr/>
            </p:nvSpPr>
            <p:spPr>
              <a:xfrm>
                <a:off x="2130551" y="2414016"/>
                <a:ext cx="1295400" cy="1080770"/>
              </a:xfrm>
              <a:custGeom>
                <a:avLst/>
                <a:gdLst/>
                <a:ahLst/>
                <a:cxnLst/>
                <a:rect l="l" t="t" r="r" b="b"/>
                <a:pathLst>
                  <a:path w="1295400" h="1080770">
                    <a:moveTo>
                      <a:pt x="87122" y="0"/>
                    </a:moveTo>
                    <a:lnTo>
                      <a:pt x="68834" y="34289"/>
                    </a:lnTo>
                    <a:lnTo>
                      <a:pt x="26416" y="66421"/>
                    </a:lnTo>
                    <a:lnTo>
                      <a:pt x="0" y="121538"/>
                    </a:lnTo>
                    <a:lnTo>
                      <a:pt x="10541" y="176657"/>
                    </a:lnTo>
                    <a:lnTo>
                      <a:pt x="21209" y="229870"/>
                    </a:lnTo>
                    <a:lnTo>
                      <a:pt x="16891" y="244221"/>
                    </a:lnTo>
                    <a:lnTo>
                      <a:pt x="32131" y="259587"/>
                    </a:lnTo>
                    <a:lnTo>
                      <a:pt x="41275" y="276098"/>
                    </a:lnTo>
                    <a:lnTo>
                      <a:pt x="44831" y="299085"/>
                    </a:lnTo>
                    <a:lnTo>
                      <a:pt x="74168" y="335534"/>
                    </a:lnTo>
                    <a:lnTo>
                      <a:pt x="73406" y="373380"/>
                    </a:lnTo>
                    <a:lnTo>
                      <a:pt x="42418" y="428879"/>
                    </a:lnTo>
                    <a:lnTo>
                      <a:pt x="37084" y="461010"/>
                    </a:lnTo>
                    <a:lnTo>
                      <a:pt x="82931" y="512063"/>
                    </a:lnTo>
                    <a:lnTo>
                      <a:pt x="74422" y="555625"/>
                    </a:lnTo>
                    <a:lnTo>
                      <a:pt x="56768" y="602361"/>
                    </a:lnTo>
                    <a:lnTo>
                      <a:pt x="116840" y="580389"/>
                    </a:lnTo>
                    <a:lnTo>
                      <a:pt x="152146" y="584326"/>
                    </a:lnTo>
                    <a:lnTo>
                      <a:pt x="178562" y="570611"/>
                    </a:lnTo>
                    <a:lnTo>
                      <a:pt x="182499" y="592582"/>
                    </a:lnTo>
                    <a:lnTo>
                      <a:pt x="248793" y="592582"/>
                    </a:lnTo>
                    <a:lnTo>
                      <a:pt x="312674" y="607313"/>
                    </a:lnTo>
                    <a:lnTo>
                      <a:pt x="333883" y="644017"/>
                    </a:lnTo>
                    <a:lnTo>
                      <a:pt x="339217" y="688086"/>
                    </a:lnTo>
                    <a:lnTo>
                      <a:pt x="316992" y="724535"/>
                    </a:lnTo>
                    <a:lnTo>
                      <a:pt x="297180" y="763143"/>
                    </a:lnTo>
                    <a:lnTo>
                      <a:pt x="270764" y="799211"/>
                    </a:lnTo>
                    <a:lnTo>
                      <a:pt x="222758" y="790956"/>
                    </a:lnTo>
                    <a:lnTo>
                      <a:pt x="195580" y="823976"/>
                    </a:lnTo>
                    <a:lnTo>
                      <a:pt x="199390" y="877316"/>
                    </a:lnTo>
                    <a:lnTo>
                      <a:pt x="179959" y="913638"/>
                    </a:lnTo>
                    <a:lnTo>
                      <a:pt x="188849" y="968501"/>
                    </a:lnTo>
                    <a:lnTo>
                      <a:pt x="211455" y="1005205"/>
                    </a:lnTo>
                    <a:lnTo>
                      <a:pt x="243205" y="997204"/>
                    </a:lnTo>
                    <a:lnTo>
                      <a:pt x="273939" y="1023874"/>
                    </a:lnTo>
                    <a:lnTo>
                      <a:pt x="313055" y="1014349"/>
                    </a:lnTo>
                    <a:lnTo>
                      <a:pt x="318008" y="967867"/>
                    </a:lnTo>
                    <a:lnTo>
                      <a:pt x="280924" y="961136"/>
                    </a:lnTo>
                    <a:lnTo>
                      <a:pt x="279146" y="928116"/>
                    </a:lnTo>
                    <a:lnTo>
                      <a:pt x="270383" y="890143"/>
                    </a:lnTo>
                    <a:lnTo>
                      <a:pt x="239014" y="845185"/>
                    </a:lnTo>
                    <a:lnTo>
                      <a:pt x="260096" y="818134"/>
                    </a:lnTo>
                    <a:lnTo>
                      <a:pt x="299339" y="812673"/>
                    </a:lnTo>
                    <a:lnTo>
                      <a:pt x="311658" y="845693"/>
                    </a:lnTo>
                    <a:lnTo>
                      <a:pt x="359664" y="872617"/>
                    </a:lnTo>
                    <a:lnTo>
                      <a:pt x="405892" y="846709"/>
                    </a:lnTo>
                    <a:lnTo>
                      <a:pt x="400558" y="882523"/>
                    </a:lnTo>
                    <a:lnTo>
                      <a:pt x="475106" y="869569"/>
                    </a:lnTo>
                    <a:lnTo>
                      <a:pt x="498094" y="844804"/>
                    </a:lnTo>
                    <a:lnTo>
                      <a:pt x="548894" y="826770"/>
                    </a:lnTo>
                    <a:lnTo>
                      <a:pt x="566166" y="854329"/>
                    </a:lnTo>
                    <a:lnTo>
                      <a:pt x="555625" y="883666"/>
                    </a:lnTo>
                    <a:lnTo>
                      <a:pt x="589153" y="890778"/>
                    </a:lnTo>
                    <a:lnTo>
                      <a:pt x="651256" y="863473"/>
                    </a:lnTo>
                    <a:lnTo>
                      <a:pt x="654812" y="905383"/>
                    </a:lnTo>
                    <a:lnTo>
                      <a:pt x="703834" y="906018"/>
                    </a:lnTo>
                    <a:lnTo>
                      <a:pt x="731393" y="864362"/>
                    </a:lnTo>
                    <a:lnTo>
                      <a:pt x="771271" y="860425"/>
                    </a:lnTo>
                    <a:lnTo>
                      <a:pt x="793877" y="890143"/>
                    </a:lnTo>
                    <a:lnTo>
                      <a:pt x="844296" y="903605"/>
                    </a:lnTo>
                    <a:lnTo>
                      <a:pt x="909955" y="960501"/>
                    </a:lnTo>
                    <a:lnTo>
                      <a:pt x="967105" y="941197"/>
                    </a:lnTo>
                    <a:lnTo>
                      <a:pt x="985139" y="964184"/>
                    </a:lnTo>
                    <a:lnTo>
                      <a:pt x="968502" y="988695"/>
                    </a:lnTo>
                    <a:lnTo>
                      <a:pt x="983361" y="1000887"/>
                    </a:lnTo>
                    <a:lnTo>
                      <a:pt x="967486" y="1036701"/>
                    </a:lnTo>
                    <a:lnTo>
                      <a:pt x="993902" y="1066800"/>
                    </a:lnTo>
                    <a:lnTo>
                      <a:pt x="1030732" y="1080516"/>
                    </a:lnTo>
                    <a:lnTo>
                      <a:pt x="1069848" y="1066800"/>
                    </a:lnTo>
                    <a:lnTo>
                      <a:pt x="1090676" y="1042288"/>
                    </a:lnTo>
                    <a:lnTo>
                      <a:pt x="1099439" y="984123"/>
                    </a:lnTo>
                    <a:lnTo>
                      <a:pt x="1120648" y="964184"/>
                    </a:lnTo>
                    <a:lnTo>
                      <a:pt x="1090676" y="915162"/>
                    </a:lnTo>
                    <a:lnTo>
                      <a:pt x="1073023" y="881888"/>
                    </a:lnTo>
                    <a:lnTo>
                      <a:pt x="1085342" y="845185"/>
                    </a:lnTo>
                    <a:lnTo>
                      <a:pt x="1157732" y="808355"/>
                    </a:lnTo>
                    <a:lnTo>
                      <a:pt x="1216025" y="762508"/>
                    </a:lnTo>
                    <a:lnTo>
                      <a:pt x="1290065" y="762508"/>
                    </a:lnTo>
                    <a:lnTo>
                      <a:pt x="1295400" y="736473"/>
                    </a:lnTo>
                    <a:lnTo>
                      <a:pt x="1207135" y="708913"/>
                    </a:lnTo>
                    <a:lnTo>
                      <a:pt x="1217802" y="658368"/>
                    </a:lnTo>
                    <a:lnTo>
                      <a:pt x="1175385" y="647700"/>
                    </a:lnTo>
                    <a:lnTo>
                      <a:pt x="1205357" y="620141"/>
                    </a:lnTo>
                    <a:lnTo>
                      <a:pt x="1260094" y="615569"/>
                    </a:lnTo>
                    <a:lnTo>
                      <a:pt x="1207135" y="575818"/>
                    </a:lnTo>
                    <a:lnTo>
                      <a:pt x="1175003" y="530098"/>
                    </a:lnTo>
                    <a:lnTo>
                      <a:pt x="1160272" y="483362"/>
                    </a:lnTo>
                    <a:lnTo>
                      <a:pt x="1111504" y="473201"/>
                    </a:lnTo>
                    <a:lnTo>
                      <a:pt x="1078738" y="497459"/>
                    </a:lnTo>
                    <a:lnTo>
                      <a:pt x="979805" y="465836"/>
                    </a:lnTo>
                    <a:lnTo>
                      <a:pt x="967105" y="437769"/>
                    </a:lnTo>
                    <a:lnTo>
                      <a:pt x="926211" y="442975"/>
                    </a:lnTo>
                    <a:lnTo>
                      <a:pt x="861187" y="405892"/>
                    </a:lnTo>
                    <a:lnTo>
                      <a:pt x="830834" y="422656"/>
                    </a:lnTo>
                    <a:lnTo>
                      <a:pt x="684403" y="326644"/>
                    </a:lnTo>
                    <a:lnTo>
                      <a:pt x="514223" y="266954"/>
                    </a:lnTo>
                    <a:lnTo>
                      <a:pt x="418211" y="248285"/>
                    </a:lnTo>
                    <a:lnTo>
                      <a:pt x="342392" y="216154"/>
                    </a:lnTo>
                    <a:lnTo>
                      <a:pt x="291211" y="184023"/>
                    </a:lnTo>
                    <a:lnTo>
                      <a:pt x="311277" y="155829"/>
                    </a:lnTo>
                    <a:lnTo>
                      <a:pt x="259461" y="138303"/>
                    </a:lnTo>
                    <a:lnTo>
                      <a:pt x="227711" y="107696"/>
                    </a:lnTo>
                    <a:lnTo>
                      <a:pt x="167640" y="136779"/>
                    </a:lnTo>
                    <a:lnTo>
                      <a:pt x="125349" y="107696"/>
                    </a:lnTo>
                    <a:lnTo>
                      <a:pt x="125349" y="78612"/>
                    </a:lnTo>
                    <a:lnTo>
                      <a:pt x="141859" y="24511"/>
                    </a:lnTo>
                    <a:lnTo>
                      <a:pt x="87122" y="0"/>
                    </a:lnTo>
                    <a:close/>
                  </a:path>
                </a:pathLst>
              </a:custGeom>
              <a:solidFill>
                <a:srgbClr val="6FAC46"/>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30" name="object 174">
                <a:extLst>
                  <a:ext uri="{FF2B5EF4-FFF2-40B4-BE49-F238E27FC236}">
                    <a16:creationId xmlns:a16="http://schemas.microsoft.com/office/drawing/2014/main" id="{45093769-B629-43AD-A9D0-A6B749C84032}"/>
                  </a:ext>
                </a:extLst>
              </p:cNvPr>
              <p:cNvSpPr/>
              <p:nvPr/>
            </p:nvSpPr>
            <p:spPr>
              <a:xfrm>
                <a:off x="2130551" y="2414016"/>
                <a:ext cx="1295400" cy="1080770"/>
              </a:xfrm>
              <a:custGeom>
                <a:avLst/>
                <a:gdLst/>
                <a:ahLst/>
                <a:cxnLst/>
                <a:rect l="l" t="t" r="r" b="b"/>
                <a:pathLst>
                  <a:path w="1295400" h="1080770">
                    <a:moveTo>
                      <a:pt x="42418" y="428879"/>
                    </a:moveTo>
                    <a:lnTo>
                      <a:pt x="37084" y="461010"/>
                    </a:lnTo>
                    <a:lnTo>
                      <a:pt x="82931" y="512063"/>
                    </a:lnTo>
                    <a:lnTo>
                      <a:pt x="74422" y="555625"/>
                    </a:lnTo>
                    <a:lnTo>
                      <a:pt x="56768" y="602361"/>
                    </a:lnTo>
                    <a:lnTo>
                      <a:pt x="116840" y="580389"/>
                    </a:lnTo>
                    <a:lnTo>
                      <a:pt x="152146" y="584326"/>
                    </a:lnTo>
                    <a:lnTo>
                      <a:pt x="178562" y="570611"/>
                    </a:lnTo>
                    <a:lnTo>
                      <a:pt x="182499" y="592582"/>
                    </a:lnTo>
                    <a:lnTo>
                      <a:pt x="248793" y="592582"/>
                    </a:lnTo>
                    <a:lnTo>
                      <a:pt x="312674" y="607313"/>
                    </a:lnTo>
                    <a:lnTo>
                      <a:pt x="333883" y="644017"/>
                    </a:lnTo>
                    <a:lnTo>
                      <a:pt x="339217" y="688086"/>
                    </a:lnTo>
                    <a:lnTo>
                      <a:pt x="316992" y="724535"/>
                    </a:lnTo>
                    <a:lnTo>
                      <a:pt x="297180" y="763143"/>
                    </a:lnTo>
                    <a:lnTo>
                      <a:pt x="270764" y="799211"/>
                    </a:lnTo>
                    <a:lnTo>
                      <a:pt x="222758" y="790956"/>
                    </a:lnTo>
                    <a:lnTo>
                      <a:pt x="195580" y="823976"/>
                    </a:lnTo>
                    <a:lnTo>
                      <a:pt x="199390" y="877316"/>
                    </a:lnTo>
                    <a:lnTo>
                      <a:pt x="179959" y="913638"/>
                    </a:lnTo>
                    <a:lnTo>
                      <a:pt x="188849" y="968501"/>
                    </a:lnTo>
                    <a:lnTo>
                      <a:pt x="211455" y="1005205"/>
                    </a:lnTo>
                    <a:lnTo>
                      <a:pt x="243205" y="997204"/>
                    </a:lnTo>
                    <a:lnTo>
                      <a:pt x="273939" y="1023874"/>
                    </a:lnTo>
                    <a:lnTo>
                      <a:pt x="313055" y="1014349"/>
                    </a:lnTo>
                    <a:lnTo>
                      <a:pt x="318008" y="967867"/>
                    </a:lnTo>
                    <a:lnTo>
                      <a:pt x="280924" y="961136"/>
                    </a:lnTo>
                    <a:lnTo>
                      <a:pt x="279146" y="928116"/>
                    </a:lnTo>
                    <a:lnTo>
                      <a:pt x="270383" y="890143"/>
                    </a:lnTo>
                    <a:lnTo>
                      <a:pt x="239014" y="845185"/>
                    </a:lnTo>
                    <a:lnTo>
                      <a:pt x="260096" y="818134"/>
                    </a:lnTo>
                    <a:lnTo>
                      <a:pt x="299339" y="812673"/>
                    </a:lnTo>
                    <a:lnTo>
                      <a:pt x="311658" y="845693"/>
                    </a:lnTo>
                    <a:lnTo>
                      <a:pt x="359664" y="872617"/>
                    </a:lnTo>
                    <a:lnTo>
                      <a:pt x="405892" y="846709"/>
                    </a:lnTo>
                    <a:lnTo>
                      <a:pt x="400558" y="882523"/>
                    </a:lnTo>
                    <a:lnTo>
                      <a:pt x="475106" y="869569"/>
                    </a:lnTo>
                    <a:lnTo>
                      <a:pt x="498094" y="844804"/>
                    </a:lnTo>
                    <a:lnTo>
                      <a:pt x="548894" y="826770"/>
                    </a:lnTo>
                    <a:lnTo>
                      <a:pt x="566166" y="854329"/>
                    </a:lnTo>
                    <a:lnTo>
                      <a:pt x="555625" y="883666"/>
                    </a:lnTo>
                    <a:lnTo>
                      <a:pt x="589153" y="890778"/>
                    </a:lnTo>
                    <a:lnTo>
                      <a:pt x="651256" y="863473"/>
                    </a:lnTo>
                    <a:lnTo>
                      <a:pt x="654812" y="905383"/>
                    </a:lnTo>
                    <a:lnTo>
                      <a:pt x="703834" y="906018"/>
                    </a:lnTo>
                    <a:lnTo>
                      <a:pt x="731393" y="864362"/>
                    </a:lnTo>
                    <a:lnTo>
                      <a:pt x="771271" y="860425"/>
                    </a:lnTo>
                    <a:lnTo>
                      <a:pt x="793877" y="890143"/>
                    </a:lnTo>
                    <a:lnTo>
                      <a:pt x="844296" y="903605"/>
                    </a:lnTo>
                    <a:lnTo>
                      <a:pt x="909955" y="960501"/>
                    </a:lnTo>
                    <a:lnTo>
                      <a:pt x="967105" y="941197"/>
                    </a:lnTo>
                    <a:lnTo>
                      <a:pt x="985139" y="964184"/>
                    </a:lnTo>
                    <a:lnTo>
                      <a:pt x="968502" y="988695"/>
                    </a:lnTo>
                    <a:lnTo>
                      <a:pt x="983361" y="1000887"/>
                    </a:lnTo>
                    <a:lnTo>
                      <a:pt x="967486" y="1036701"/>
                    </a:lnTo>
                    <a:lnTo>
                      <a:pt x="993902" y="1066800"/>
                    </a:lnTo>
                    <a:lnTo>
                      <a:pt x="1030732" y="1080516"/>
                    </a:lnTo>
                    <a:lnTo>
                      <a:pt x="1069848" y="1066800"/>
                    </a:lnTo>
                    <a:lnTo>
                      <a:pt x="1090676" y="1042288"/>
                    </a:lnTo>
                    <a:lnTo>
                      <a:pt x="1099439" y="984123"/>
                    </a:lnTo>
                    <a:lnTo>
                      <a:pt x="1120648" y="964184"/>
                    </a:lnTo>
                    <a:lnTo>
                      <a:pt x="1090676" y="915162"/>
                    </a:lnTo>
                    <a:lnTo>
                      <a:pt x="1073023" y="881888"/>
                    </a:lnTo>
                    <a:lnTo>
                      <a:pt x="1085342" y="845185"/>
                    </a:lnTo>
                    <a:lnTo>
                      <a:pt x="1157732" y="808355"/>
                    </a:lnTo>
                    <a:lnTo>
                      <a:pt x="1216025" y="762508"/>
                    </a:lnTo>
                    <a:lnTo>
                      <a:pt x="1290065" y="762508"/>
                    </a:lnTo>
                    <a:lnTo>
                      <a:pt x="1295400" y="736473"/>
                    </a:lnTo>
                    <a:lnTo>
                      <a:pt x="1207135" y="708913"/>
                    </a:lnTo>
                    <a:lnTo>
                      <a:pt x="1217802" y="658368"/>
                    </a:lnTo>
                    <a:lnTo>
                      <a:pt x="1175385" y="647700"/>
                    </a:lnTo>
                    <a:lnTo>
                      <a:pt x="1205357" y="620141"/>
                    </a:lnTo>
                    <a:lnTo>
                      <a:pt x="1260094" y="615569"/>
                    </a:lnTo>
                    <a:lnTo>
                      <a:pt x="1207135" y="575818"/>
                    </a:lnTo>
                    <a:lnTo>
                      <a:pt x="1175003" y="530098"/>
                    </a:lnTo>
                    <a:lnTo>
                      <a:pt x="1160272" y="483362"/>
                    </a:lnTo>
                    <a:lnTo>
                      <a:pt x="1111504" y="473201"/>
                    </a:lnTo>
                    <a:lnTo>
                      <a:pt x="1078738" y="497459"/>
                    </a:lnTo>
                    <a:lnTo>
                      <a:pt x="979805" y="465836"/>
                    </a:lnTo>
                    <a:lnTo>
                      <a:pt x="967105" y="437769"/>
                    </a:lnTo>
                    <a:lnTo>
                      <a:pt x="926211" y="442975"/>
                    </a:lnTo>
                    <a:lnTo>
                      <a:pt x="861187" y="405892"/>
                    </a:lnTo>
                    <a:lnTo>
                      <a:pt x="830834" y="422656"/>
                    </a:lnTo>
                    <a:lnTo>
                      <a:pt x="684403" y="326644"/>
                    </a:lnTo>
                    <a:lnTo>
                      <a:pt x="514223" y="266954"/>
                    </a:lnTo>
                    <a:lnTo>
                      <a:pt x="418211" y="248285"/>
                    </a:lnTo>
                    <a:lnTo>
                      <a:pt x="342392" y="216154"/>
                    </a:lnTo>
                    <a:lnTo>
                      <a:pt x="291211" y="184023"/>
                    </a:lnTo>
                    <a:lnTo>
                      <a:pt x="311277" y="155829"/>
                    </a:lnTo>
                    <a:lnTo>
                      <a:pt x="259461" y="138303"/>
                    </a:lnTo>
                    <a:lnTo>
                      <a:pt x="227711" y="107696"/>
                    </a:lnTo>
                    <a:lnTo>
                      <a:pt x="167640" y="136779"/>
                    </a:lnTo>
                    <a:lnTo>
                      <a:pt x="125349" y="107696"/>
                    </a:lnTo>
                    <a:lnTo>
                      <a:pt x="125349" y="78612"/>
                    </a:lnTo>
                    <a:lnTo>
                      <a:pt x="141859" y="24511"/>
                    </a:lnTo>
                    <a:lnTo>
                      <a:pt x="87122" y="0"/>
                    </a:lnTo>
                    <a:lnTo>
                      <a:pt x="68834" y="34289"/>
                    </a:lnTo>
                    <a:lnTo>
                      <a:pt x="26416" y="66421"/>
                    </a:lnTo>
                    <a:lnTo>
                      <a:pt x="0" y="121538"/>
                    </a:lnTo>
                    <a:lnTo>
                      <a:pt x="10541" y="176657"/>
                    </a:lnTo>
                    <a:lnTo>
                      <a:pt x="21209" y="229870"/>
                    </a:lnTo>
                    <a:lnTo>
                      <a:pt x="16891" y="244221"/>
                    </a:lnTo>
                    <a:lnTo>
                      <a:pt x="32131" y="259587"/>
                    </a:lnTo>
                    <a:lnTo>
                      <a:pt x="41275" y="276098"/>
                    </a:lnTo>
                    <a:lnTo>
                      <a:pt x="44831" y="299085"/>
                    </a:lnTo>
                    <a:lnTo>
                      <a:pt x="74168" y="335534"/>
                    </a:lnTo>
                    <a:lnTo>
                      <a:pt x="73406" y="373380"/>
                    </a:lnTo>
                    <a:lnTo>
                      <a:pt x="42418" y="428879"/>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31" name="object 175">
                <a:extLst>
                  <a:ext uri="{FF2B5EF4-FFF2-40B4-BE49-F238E27FC236}">
                    <a16:creationId xmlns:a16="http://schemas.microsoft.com/office/drawing/2014/main" id="{A421E4B9-8222-4B72-B694-2D94CCE6598C}"/>
                  </a:ext>
                </a:extLst>
              </p:cNvPr>
              <p:cNvSpPr/>
              <p:nvPr/>
            </p:nvSpPr>
            <p:spPr>
              <a:xfrm>
                <a:off x="2647188" y="3476244"/>
                <a:ext cx="745998" cy="1062990"/>
              </a:xfrm>
              <a:prstGeom prst="rect">
                <a:avLst/>
              </a:prstGeom>
              <a:blipFill>
                <a:blip r:embed="rId14"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32" name="object 176">
                <a:extLst>
                  <a:ext uri="{FF2B5EF4-FFF2-40B4-BE49-F238E27FC236}">
                    <a16:creationId xmlns:a16="http://schemas.microsoft.com/office/drawing/2014/main" id="{B74FBF3B-7110-41DE-BD5E-62C609190978}"/>
                  </a:ext>
                </a:extLst>
              </p:cNvPr>
              <p:cNvSpPr/>
              <p:nvPr/>
            </p:nvSpPr>
            <p:spPr>
              <a:xfrm>
                <a:off x="2665475" y="3456432"/>
                <a:ext cx="736600" cy="1053465"/>
              </a:xfrm>
              <a:custGeom>
                <a:avLst/>
                <a:gdLst/>
                <a:ahLst/>
                <a:cxnLst/>
                <a:rect l="l" t="t" r="r" b="b"/>
                <a:pathLst>
                  <a:path w="736600" h="1053464">
                    <a:moveTo>
                      <a:pt x="556006" y="0"/>
                    </a:moveTo>
                    <a:lnTo>
                      <a:pt x="534797" y="24510"/>
                    </a:lnTo>
                    <a:lnTo>
                      <a:pt x="497840" y="38226"/>
                    </a:lnTo>
                    <a:lnTo>
                      <a:pt x="458978" y="24510"/>
                    </a:lnTo>
                    <a:lnTo>
                      <a:pt x="401700" y="51053"/>
                    </a:lnTo>
                    <a:lnTo>
                      <a:pt x="358394" y="41275"/>
                    </a:lnTo>
                    <a:lnTo>
                      <a:pt x="305435" y="45846"/>
                    </a:lnTo>
                    <a:lnTo>
                      <a:pt x="248919" y="41275"/>
                    </a:lnTo>
                    <a:lnTo>
                      <a:pt x="257682" y="68833"/>
                    </a:lnTo>
                    <a:lnTo>
                      <a:pt x="247142" y="97916"/>
                    </a:lnTo>
                    <a:lnTo>
                      <a:pt x="273557" y="96392"/>
                    </a:lnTo>
                    <a:lnTo>
                      <a:pt x="321310" y="116331"/>
                    </a:lnTo>
                    <a:lnTo>
                      <a:pt x="349504" y="143890"/>
                    </a:lnTo>
                    <a:lnTo>
                      <a:pt x="305435" y="180593"/>
                    </a:lnTo>
                    <a:lnTo>
                      <a:pt x="258063" y="247903"/>
                    </a:lnTo>
                    <a:lnTo>
                      <a:pt x="210057" y="271779"/>
                    </a:lnTo>
                    <a:lnTo>
                      <a:pt x="173355" y="267842"/>
                    </a:lnTo>
                    <a:lnTo>
                      <a:pt x="125730" y="335152"/>
                    </a:lnTo>
                    <a:lnTo>
                      <a:pt x="115062" y="400049"/>
                    </a:lnTo>
                    <a:lnTo>
                      <a:pt x="76962" y="458723"/>
                    </a:lnTo>
                    <a:lnTo>
                      <a:pt x="48006" y="488187"/>
                    </a:lnTo>
                    <a:lnTo>
                      <a:pt x="42672" y="515619"/>
                    </a:lnTo>
                    <a:lnTo>
                      <a:pt x="68834" y="561847"/>
                    </a:lnTo>
                    <a:lnTo>
                      <a:pt x="77724" y="629792"/>
                    </a:lnTo>
                    <a:lnTo>
                      <a:pt x="40640" y="635380"/>
                    </a:lnTo>
                    <a:lnTo>
                      <a:pt x="30353" y="656462"/>
                    </a:lnTo>
                    <a:lnTo>
                      <a:pt x="63881" y="675131"/>
                    </a:lnTo>
                    <a:lnTo>
                      <a:pt x="51562" y="702690"/>
                    </a:lnTo>
                    <a:lnTo>
                      <a:pt x="127507" y="773302"/>
                    </a:lnTo>
                    <a:lnTo>
                      <a:pt x="114046" y="800607"/>
                    </a:lnTo>
                    <a:lnTo>
                      <a:pt x="96012" y="809751"/>
                    </a:lnTo>
                    <a:lnTo>
                      <a:pt x="72390" y="794511"/>
                    </a:lnTo>
                    <a:lnTo>
                      <a:pt x="37084" y="819022"/>
                    </a:lnTo>
                    <a:lnTo>
                      <a:pt x="15875" y="855725"/>
                    </a:lnTo>
                    <a:lnTo>
                      <a:pt x="24765" y="881760"/>
                    </a:lnTo>
                    <a:lnTo>
                      <a:pt x="0" y="900048"/>
                    </a:lnTo>
                    <a:lnTo>
                      <a:pt x="84709" y="932179"/>
                    </a:lnTo>
                    <a:lnTo>
                      <a:pt x="109474" y="991869"/>
                    </a:lnTo>
                    <a:lnTo>
                      <a:pt x="137668" y="987297"/>
                    </a:lnTo>
                    <a:lnTo>
                      <a:pt x="151765" y="1046987"/>
                    </a:lnTo>
                    <a:lnTo>
                      <a:pt x="188849" y="1039367"/>
                    </a:lnTo>
                    <a:lnTo>
                      <a:pt x="222376" y="1053083"/>
                    </a:lnTo>
                    <a:lnTo>
                      <a:pt x="248919" y="964310"/>
                    </a:lnTo>
                    <a:lnTo>
                      <a:pt x="286004" y="942847"/>
                    </a:lnTo>
                    <a:lnTo>
                      <a:pt x="321310" y="913891"/>
                    </a:lnTo>
                    <a:lnTo>
                      <a:pt x="370713" y="854201"/>
                    </a:lnTo>
                    <a:lnTo>
                      <a:pt x="360044" y="823594"/>
                    </a:lnTo>
                    <a:lnTo>
                      <a:pt x="354838" y="786891"/>
                    </a:lnTo>
                    <a:lnTo>
                      <a:pt x="332231" y="758316"/>
                    </a:lnTo>
                    <a:lnTo>
                      <a:pt x="333248" y="720724"/>
                    </a:lnTo>
                    <a:lnTo>
                      <a:pt x="296925" y="690371"/>
                    </a:lnTo>
                    <a:lnTo>
                      <a:pt x="316356" y="665987"/>
                    </a:lnTo>
                    <a:lnTo>
                      <a:pt x="377698" y="692276"/>
                    </a:lnTo>
                    <a:lnTo>
                      <a:pt x="432435" y="711834"/>
                    </a:lnTo>
                    <a:lnTo>
                      <a:pt x="476250" y="695070"/>
                    </a:lnTo>
                    <a:lnTo>
                      <a:pt x="437769" y="676655"/>
                    </a:lnTo>
                    <a:lnTo>
                      <a:pt x="402081" y="661923"/>
                    </a:lnTo>
                    <a:lnTo>
                      <a:pt x="391922" y="551179"/>
                    </a:lnTo>
                    <a:lnTo>
                      <a:pt x="428244" y="518794"/>
                    </a:lnTo>
                    <a:lnTo>
                      <a:pt x="448691" y="483488"/>
                    </a:lnTo>
                    <a:lnTo>
                      <a:pt x="518668" y="483869"/>
                    </a:lnTo>
                    <a:lnTo>
                      <a:pt x="566928" y="454151"/>
                    </a:lnTo>
                    <a:lnTo>
                      <a:pt x="570103" y="405510"/>
                    </a:lnTo>
                    <a:lnTo>
                      <a:pt x="603758" y="364235"/>
                    </a:lnTo>
                    <a:lnTo>
                      <a:pt x="604012" y="321944"/>
                    </a:lnTo>
                    <a:lnTo>
                      <a:pt x="677545" y="272668"/>
                    </a:lnTo>
                    <a:lnTo>
                      <a:pt x="681354" y="249427"/>
                    </a:lnTo>
                    <a:lnTo>
                      <a:pt x="736091" y="201929"/>
                    </a:lnTo>
                    <a:lnTo>
                      <a:pt x="734313" y="174497"/>
                    </a:lnTo>
                    <a:lnTo>
                      <a:pt x="692023" y="165226"/>
                    </a:lnTo>
                    <a:lnTo>
                      <a:pt x="672591" y="130047"/>
                    </a:lnTo>
                    <a:lnTo>
                      <a:pt x="677799" y="65785"/>
                    </a:lnTo>
                    <a:lnTo>
                      <a:pt x="635508" y="79628"/>
                    </a:lnTo>
                    <a:lnTo>
                      <a:pt x="598424" y="38226"/>
                    </a:lnTo>
                    <a:lnTo>
                      <a:pt x="556006" y="0"/>
                    </a:lnTo>
                    <a:close/>
                  </a:path>
                </a:pathLst>
              </a:custGeom>
              <a:solidFill>
                <a:srgbClr val="FFD966"/>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33" name="object 177">
                <a:extLst>
                  <a:ext uri="{FF2B5EF4-FFF2-40B4-BE49-F238E27FC236}">
                    <a16:creationId xmlns:a16="http://schemas.microsoft.com/office/drawing/2014/main" id="{1A8D92A6-FB24-4FFD-846C-B0D45A56EBAF}"/>
                  </a:ext>
                </a:extLst>
              </p:cNvPr>
              <p:cNvSpPr/>
              <p:nvPr/>
            </p:nvSpPr>
            <p:spPr>
              <a:xfrm>
                <a:off x="2665475" y="3456432"/>
                <a:ext cx="736600" cy="1053465"/>
              </a:xfrm>
              <a:custGeom>
                <a:avLst/>
                <a:gdLst/>
                <a:ahLst/>
                <a:cxnLst/>
                <a:rect l="l" t="t" r="r" b="b"/>
                <a:pathLst>
                  <a:path w="736600" h="1053464">
                    <a:moveTo>
                      <a:pt x="556006" y="0"/>
                    </a:moveTo>
                    <a:lnTo>
                      <a:pt x="598424" y="38226"/>
                    </a:lnTo>
                    <a:lnTo>
                      <a:pt x="635508" y="79628"/>
                    </a:lnTo>
                    <a:lnTo>
                      <a:pt x="677799" y="65785"/>
                    </a:lnTo>
                    <a:lnTo>
                      <a:pt x="672591" y="130047"/>
                    </a:lnTo>
                    <a:lnTo>
                      <a:pt x="692023" y="165226"/>
                    </a:lnTo>
                    <a:lnTo>
                      <a:pt x="734313" y="174497"/>
                    </a:lnTo>
                    <a:lnTo>
                      <a:pt x="736091" y="201929"/>
                    </a:lnTo>
                    <a:lnTo>
                      <a:pt x="681354" y="249427"/>
                    </a:lnTo>
                    <a:lnTo>
                      <a:pt x="677545" y="272668"/>
                    </a:lnTo>
                    <a:lnTo>
                      <a:pt x="604012" y="321944"/>
                    </a:lnTo>
                    <a:lnTo>
                      <a:pt x="603758" y="364235"/>
                    </a:lnTo>
                    <a:lnTo>
                      <a:pt x="570103" y="405510"/>
                    </a:lnTo>
                    <a:lnTo>
                      <a:pt x="566928" y="454151"/>
                    </a:lnTo>
                    <a:lnTo>
                      <a:pt x="518668" y="483869"/>
                    </a:lnTo>
                    <a:lnTo>
                      <a:pt x="448691" y="483488"/>
                    </a:lnTo>
                    <a:lnTo>
                      <a:pt x="428244" y="518794"/>
                    </a:lnTo>
                    <a:lnTo>
                      <a:pt x="391922" y="551179"/>
                    </a:lnTo>
                    <a:lnTo>
                      <a:pt x="402081" y="661923"/>
                    </a:lnTo>
                    <a:lnTo>
                      <a:pt x="437769" y="676655"/>
                    </a:lnTo>
                    <a:lnTo>
                      <a:pt x="476250" y="695070"/>
                    </a:lnTo>
                    <a:lnTo>
                      <a:pt x="432435" y="711834"/>
                    </a:lnTo>
                    <a:lnTo>
                      <a:pt x="377698" y="692276"/>
                    </a:lnTo>
                    <a:lnTo>
                      <a:pt x="316356" y="665987"/>
                    </a:lnTo>
                    <a:lnTo>
                      <a:pt x="296925" y="690371"/>
                    </a:lnTo>
                    <a:lnTo>
                      <a:pt x="333248" y="720724"/>
                    </a:lnTo>
                    <a:lnTo>
                      <a:pt x="332231" y="758316"/>
                    </a:lnTo>
                    <a:lnTo>
                      <a:pt x="354838" y="786891"/>
                    </a:lnTo>
                    <a:lnTo>
                      <a:pt x="360044" y="823594"/>
                    </a:lnTo>
                    <a:lnTo>
                      <a:pt x="370713" y="854201"/>
                    </a:lnTo>
                    <a:lnTo>
                      <a:pt x="321310" y="913891"/>
                    </a:lnTo>
                    <a:lnTo>
                      <a:pt x="286004" y="942847"/>
                    </a:lnTo>
                    <a:lnTo>
                      <a:pt x="248919" y="964310"/>
                    </a:lnTo>
                    <a:lnTo>
                      <a:pt x="222376" y="1053083"/>
                    </a:lnTo>
                    <a:lnTo>
                      <a:pt x="188849" y="1039367"/>
                    </a:lnTo>
                    <a:lnTo>
                      <a:pt x="151765" y="1046987"/>
                    </a:lnTo>
                    <a:lnTo>
                      <a:pt x="137668" y="987297"/>
                    </a:lnTo>
                    <a:lnTo>
                      <a:pt x="109474" y="991869"/>
                    </a:lnTo>
                    <a:lnTo>
                      <a:pt x="84709" y="932179"/>
                    </a:lnTo>
                    <a:lnTo>
                      <a:pt x="0" y="900048"/>
                    </a:lnTo>
                    <a:lnTo>
                      <a:pt x="24765" y="881760"/>
                    </a:lnTo>
                    <a:lnTo>
                      <a:pt x="15875" y="855725"/>
                    </a:lnTo>
                    <a:lnTo>
                      <a:pt x="37084" y="819022"/>
                    </a:lnTo>
                    <a:lnTo>
                      <a:pt x="72390" y="794511"/>
                    </a:lnTo>
                    <a:lnTo>
                      <a:pt x="96012" y="809751"/>
                    </a:lnTo>
                    <a:lnTo>
                      <a:pt x="114046" y="800607"/>
                    </a:lnTo>
                    <a:lnTo>
                      <a:pt x="127507" y="773302"/>
                    </a:lnTo>
                    <a:lnTo>
                      <a:pt x="51562" y="702690"/>
                    </a:lnTo>
                    <a:lnTo>
                      <a:pt x="63881" y="675131"/>
                    </a:lnTo>
                    <a:lnTo>
                      <a:pt x="30353" y="656462"/>
                    </a:lnTo>
                    <a:lnTo>
                      <a:pt x="40640" y="635380"/>
                    </a:lnTo>
                    <a:lnTo>
                      <a:pt x="77724" y="629792"/>
                    </a:lnTo>
                    <a:lnTo>
                      <a:pt x="68834" y="561847"/>
                    </a:lnTo>
                    <a:lnTo>
                      <a:pt x="42672" y="515619"/>
                    </a:lnTo>
                    <a:lnTo>
                      <a:pt x="48006" y="488187"/>
                    </a:lnTo>
                    <a:lnTo>
                      <a:pt x="76962" y="458723"/>
                    </a:lnTo>
                    <a:lnTo>
                      <a:pt x="115062" y="400049"/>
                    </a:lnTo>
                    <a:lnTo>
                      <a:pt x="125730" y="335152"/>
                    </a:lnTo>
                    <a:lnTo>
                      <a:pt x="173355" y="267842"/>
                    </a:lnTo>
                    <a:lnTo>
                      <a:pt x="210057" y="271779"/>
                    </a:lnTo>
                    <a:lnTo>
                      <a:pt x="258063" y="247903"/>
                    </a:lnTo>
                    <a:lnTo>
                      <a:pt x="305435" y="180593"/>
                    </a:lnTo>
                    <a:lnTo>
                      <a:pt x="349504" y="143890"/>
                    </a:lnTo>
                    <a:lnTo>
                      <a:pt x="321310" y="116331"/>
                    </a:lnTo>
                    <a:lnTo>
                      <a:pt x="273557" y="96392"/>
                    </a:lnTo>
                    <a:lnTo>
                      <a:pt x="247142" y="97916"/>
                    </a:lnTo>
                    <a:lnTo>
                      <a:pt x="257682" y="68833"/>
                    </a:lnTo>
                    <a:lnTo>
                      <a:pt x="248919" y="41275"/>
                    </a:lnTo>
                    <a:lnTo>
                      <a:pt x="305435" y="45846"/>
                    </a:lnTo>
                    <a:lnTo>
                      <a:pt x="358394" y="41275"/>
                    </a:lnTo>
                    <a:lnTo>
                      <a:pt x="401700" y="51053"/>
                    </a:lnTo>
                    <a:lnTo>
                      <a:pt x="458978" y="24510"/>
                    </a:lnTo>
                    <a:lnTo>
                      <a:pt x="497840" y="38226"/>
                    </a:lnTo>
                    <a:lnTo>
                      <a:pt x="534797" y="24510"/>
                    </a:lnTo>
                    <a:lnTo>
                      <a:pt x="556006" y="0"/>
                    </a:lnTo>
                    <a:close/>
                  </a:path>
                </a:pathLst>
              </a:custGeom>
              <a:ln w="9143">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34" name="object 178">
                <a:extLst>
                  <a:ext uri="{FF2B5EF4-FFF2-40B4-BE49-F238E27FC236}">
                    <a16:creationId xmlns:a16="http://schemas.microsoft.com/office/drawing/2014/main" id="{895F2C49-2B60-449D-B06C-0E5754ACF7B1}"/>
                  </a:ext>
                </a:extLst>
              </p:cNvPr>
              <p:cNvSpPr/>
              <p:nvPr/>
            </p:nvSpPr>
            <p:spPr>
              <a:xfrm>
                <a:off x="2197607" y="2250935"/>
                <a:ext cx="585978" cy="457974"/>
              </a:xfrm>
              <a:prstGeom prst="rect">
                <a:avLst/>
              </a:prstGeom>
              <a:blipFill>
                <a:blip r:embed="rId15"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35" name="object 179">
                <a:extLst>
                  <a:ext uri="{FF2B5EF4-FFF2-40B4-BE49-F238E27FC236}">
                    <a16:creationId xmlns:a16="http://schemas.microsoft.com/office/drawing/2014/main" id="{F4A5684D-F44A-4235-9E6C-03A79D3E5987}"/>
                  </a:ext>
                </a:extLst>
              </p:cNvPr>
              <p:cNvSpPr/>
              <p:nvPr/>
            </p:nvSpPr>
            <p:spPr>
              <a:xfrm>
                <a:off x="2215895" y="2231136"/>
                <a:ext cx="576580" cy="448309"/>
              </a:xfrm>
              <a:custGeom>
                <a:avLst/>
                <a:gdLst/>
                <a:ahLst/>
                <a:cxnLst/>
                <a:rect l="l" t="t" r="r" b="b"/>
                <a:pathLst>
                  <a:path w="576580" h="448310">
                    <a:moveTo>
                      <a:pt x="262890" y="0"/>
                    </a:moveTo>
                    <a:lnTo>
                      <a:pt x="220853" y="18668"/>
                    </a:lnTo>
                    <a:lnTo>
                      <a:pt x="246634" y="58419"/>
                    </a:lnTo>
                    <a:lnTo>
                      <a:pt x="215137" y="59562"/>
                    </a:lnTo>
                    <a:lnTo>
                      <a:pt x="189356" y="44576"/>
                    </a:lnTo>
                    <a:lnTo>
                      <a:pt x="133731" y="30861"/>
                    </a:lnTo>
                    <a:lnTo>
                      <a:pt x="71881" y="48894"/>
                    </a:lnTo>
                    <a:lnTo>
                      <a:pt x="38227" y="71881"/>
                    </a:lnTo>
                    <a:lnTo>
                      <a:pt x="32893" y="123825"/>
                    </a:lnTo>
                    <a:lnTo>
                      <a:pt x="38227" y="155828"/>
                    </a:lnTo>
                    <a:lnTo>
                      <a:pt x="0" y="180975"/>
                    </a:lnTo>
                    <a:lnTo>
                      <a:pt x="55499" y="205739"/>
                    </a:lnTo>
                    <a:lnTo>
                      <a:pt x="38608" y="259206"/>
                    </a:lnTo>
                    <a:lnTo>
                      <a:pt x="38608" y="288543"/>
                    </a:lnTo>
                    <a:lnTo>
                      <a:pt x="81787" y="319404"/>
                    </a:lnTo>
                    <a:lnTo>
                      <a:pt x="141224" y="289178"/>
                    </a:lnTo>
                    <a:lnTo>
                      <a:pt x="172974" y="319659"/>
                    </a:lnTo>
                    <a:lnTo>
                      <a:pt x="225425" y="337058"/>
                    </a:lnTo>
                    <a:lnTo>
                      <a:pt x="204851" y="365505"/>
                    </a:lnTo>
                    <a:lnTo>
                      <a:pt x="255778" y="397383"/>
                    </a:lnTo>
                    <a:lnTo>
                      <a:pt x="331851" y="429387"/>
                    </a:lnTo>
                    <a:lnTo>
                      <a:pt x="427863" y="448055"/>
                    </a:lnTo>
                    <a:lnTo>
                      <a:pt x="427101" y="397637"/>
                    </a:lnTo>
                    <a:lnTo>
                      <a:pt x="470281" y="371601"/>
                    </a:lnTo>
                    <a:lnTo>
                      <a:pt x="452247" y="333121"/>
                    </a:lnTo>
                    <a:lnTo>
                      <a:pt x="464312" y="310261"/>
                    </a:lnTo>
                    <a:lnTo>
                      <a:pt x="468122" y="274700"/>
                    </a:lnTo>
                    <a:lnTo>
                      <a:pt x="576072" y="201675"/>
                    </a:lnTo>
                    <a:lnTo>
                      <a:pt x="526542" y="160400"/>
                    </a:lnTo>
                    <a:lnTo>
                      <a:pt x="452247" y="154304"/>
                    </a:lnTo>
                    <a:lnTo>
                      <a:pt x="452247" y="117728"/>
                    </a:lnTo>
                    <a:lnTo>
                      <a:pt x="404495" y="85598"/>
                    </a:lnTo>
                    <a:lnTo>
                      <a:pt x="335406" y="73405"/>
                    </a:lnTo>
                    <a:lnTo>
                      <a:pt x="300101" y="45847"/>
                    </a:lnTo>
                    <a:lnTo>
                      <a:pt x="289433" y="18287"/>
                    </a:lnTo>
                    <a:lnTo>
                      <a:pt x="262890" y="0"/>
                    </a:lnTo>
                    <a:close/>
                  </a:path>
                </a:pathLst>
              </a:custGeom>
              <a:solidFill>
                <a:srgbClr val="6FAC46"/>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38" name="object 180">
                <a:extLst>
                  <a:ext uri="{FF2B5EF4-FFF2-40B4-BE49-F238E27FC236}">
                    <a16:creationId xmlns:a16="http://schemas.microsoft.com/office/drawing/2014/main" id="{A21552F3-8A3A-4698-9975-373196DB33D4}"/>
                  </a:ext>
                </a:extLst>
              </p:cNvPr>
              <p:cNvSpPr/>
              <p:nvPr/>
            </p:nvSpPr>
            <p:spPr>
              <a:xfrm>
                <a:off x="2215895" y="2231136"/>
                <a:ext cx="576580" cy="448309"/>
              </a:xfrm>
              <a:custGeom>
                <a:avLst/>
                <a:gdLst/>
                <a:ahLst/>
                <a:cxnLst/>
                <a:rect l="l" t="t" r="r" b="b"/>
                <a:pathLst>
                  <a:path w="576580" h="448310">
                    <a:moveTo>
                      <a:pt x="0" y="180975"/>
                    </a:moveTo>
                    <a:lnTo>
                      <a:pt x="38227" y="155828"/>
                    </a:lnTo>
                    <a:lnTo>
                      <a:pt x="32893" y="123825"/>
                    </a:lnTo>
                    <a:lnTo>
                      <a:pt x="38227" y="71881"/>
                    </a:lnTo>
                    <a:lnTo>
                      <a:pt x="71881" y="48894"/>
                    </a:lnTo>
                    <a:lnTo>
                      <a:pt x="133731" y="30861"/>
                    </a:lnTo>
                    <a:lnTo>
                      <a:pt x="189356" y="44576"/>
                    </a:lnTo>
                    <a:lnTo>
                      <a:pt x="215137" y="59562"/>
                    </a:lnTo>
                    <a:lnTo>
                      <a:pt x="246634" y="58419"/>
                    </a:lnTo>
                    <a:lnTo>
                      <a:pt x="220853" y="18668"/>
                    </a:lnTo>
                    <a:lnTo>
                      <a:pt x="262890" y="0"/>
                    </a:lnTo>
                    <a:lnTo>
                      <a:pt x="289433" y="18287"/>
                    </a:lnTo>
                    <a:lnTo>
                      <a:pt x="300101" y="45847"/>
                    </a:lnTo>
                    <a:lnTo>
                      <a:pt x="335406" y="73405"/>
                    </a:lnTo>
                    <a:lnTo>
                      <a:pt x="404495" y="85598"/>
                    </a:lnTo>
                    <a:lnTo>
                      <a:pt x="452247" y="117728"/>
                    </a:lnTo>
                    <a:lnTo>
                      <a:pt x="452247" y="154304"/>
                    </a:lnTo>
                    <a:lnTo>
                      <a:pt x="526542" y="160400"/>
                    </a:lnTo>
                    <a:lnTo>
                      <a:pt x="576072" y="201675"/>
                    </a:lnTo>
                    <a:lnTo>
                      <a:pt x="468122" y="274700"/>
                    </a:lnTo>
                    <a:lnTo>
                      <a:pt x="464312" y="310261"/>
                    </a:lnTo>
                    <a:lnTo>
                      <a:pt x="452247" y="333121"/>
                    </a:lnTo>
                    <a:lnTo>
                      <a:pt x="470281" y="371601"/>
                    </a:lnTo>
                    <a:lnTo>
                      <a:pt x="427101" y="397637"/>
                    </a:lnTo>
                    <a:lnTo>
                      <a:pt x="427863" y="448055"/>
                    </a:lnTo>
                    <a:lnTo>
                      <a:pt x="331851" y="429387"/>
                    </a:lnTo>
                    <a:lnTo>
                      <a:pt x="255778" y="397383"/>
                    </a:lnTo>
                    <a:lnTo>
                      <a:pt x="204851" y="365505"/>
                    </a:lnTo>
                    <a:lnTo>
                      <a:pt x="225425" y="337058"/>
                    </a:lnTo>
                    <a:lnTo>
                      <a:pt x="172974" y="319659"/>
                    </a:lnTo>
                    <a:lnTo>
                      <a:pt x="141224" y="289178"/>
                    </a:lnTo>
                    <a:lnTo>
                      <a:pt x="81787" y="319404"/>
                    </a:lnTo>
                    <a:lnTo>
                      <a:pt x="38608" y="288543"/>
                    </a:lnTo>
                    <a:lnTo>
                      <a:pt x="38608" y="259206"/>
                    </a:lnTo>
                    <a:lnTo>
                      <a:pt x="55499" y="205739"/>
                    </a:lnTo>
                    <a:lnTo>
                      <a:pt x="0" y="180975"/>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39" name="object 181">
                <a:extLst>
                  <a:ext uri="{FF2B5EF4-FFF2-40B4-BE49-F238E27FC236}">
                    <a16:creationId xmlns:a16="http://schemas.microsoft.com/office/drawing/2014/main" id="{FF1B4321-DA00-4B58-A49C-207FF0E383BD}"/>
                  </a:ext>
                </a:extLst>
              </p:cNvPr>
              <p:cNvSpPr/>
              <p:nvPr/>
            </p:nvSpPr>
            <p:spPr>
              <a:xfrm>
                <a:off x="3185160" y="2906267"/>
                <a:ext cx="874013" cy="540258"/>
              </a:xfrm>
              <a:prstGeom prst="rect">
                <a:avLst/>
              </a:prstGeom>
              <a:blipFill>
                <a:blip r:embed="rId16"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40" name="object 182">
                <a:extLst>
                  <a:ext uri="{FF2B5EF4-FFF2-40B4-BE49-F238E27FC236}">
                    <a16:creationId xmlns:a16="http://schemas.microsoft.com/office/drawing/2014/main" id="{4658567A-74DE-4BB8-87C1-A861D32F75EE}"/>
                  </a:ext>
                </a:extLst>
              </p:cNvPr>
              <p:cNvSpPr/>
              <p:nvPr/>
            </p:nvSpPr>
            <p:spPr>
              <a:xfrm>
                <a:off x="3203447" y="2886455"/>
                <a:ext cx="864235" cy="530860"/>
              </a:xfrm>
              <a:custGeom>
                <a:avLst/>
                <a:gdLst/>
                <a:ahLst/>
                <a:cxnLst/>
                <a:rect l="l" t="t" r="r" b="b"/>
                <a:pathLst>
                  <a:path w="864235" h="530860">
                    <a:moveTo>
                      <a:pt x="132206" y="0"/>
                    </a:moveTo>
                    <a:lnTo>
                      <a:pt x="86613" y="10160"/>
                    </a:lnTo>
                    <a:lnTo>
                      <a:pt x="102107" y="56642"/>
                    </a:lnTo>
                    <a:lnTo>
                      <a:pt x="133985" y="102616"/>
                    </a:lnTo>
                    <a:lnTo>
                      <a:pt x="186562" y="142494"/>
                    </a:lnTo>
                    <a:lnTo>
                      <a:pt x="132206" y="147955"/>
                    </a:lnTo>
                    <a:lnTo>
                      <a:pt x="102107" y="174625"/>
                    </a:lnTo>
                    <a:lnTo>
                      <a:pt x="144144" y="185674"/>
                    </a:lnTo>
                    <a:lnTo>
                      <a:pt x="133985" y="235966"/>
                    </a:lnTo>
                    <a:lnTo>
                      <a:pt x="222250" y="263779"/>
                    </a:lnTo>
                    <a:lnTo>
                      <a:pt x="217042" y="289814"/>
                    </a:lnTo>
                    <a:lnTo>
                      <a:pt x="142748" y="289560"/>
                    </a:lnTo>
                    <a:lnTo>
                      <a:pt x="84836" y="335534"/>
                    </a:lnTo>
                    <a:lnTo>
                      <a:pt x="12318" y="372237"/>
                    </a:lnTo>
                    <a:lnTo>
                      <a:pt x="0" y="409321"/>
                    </a:lnTo>
                    <a:lnTo>
                      <a:pt x="16637" y="441452"/>
                    </a:lnTo>
                    <a:lnTo>
                      <a:pt x="47370" y="491744"/>
                    </a:lnTo>
                    <a:lnTo>
                      <a:pt x="105663" y="491998"/>
                    </a:lnTo>
                    <a:lnTo>
                      <a:pt x="126873" y="473710"/>
                    </a:lnTo>
                    <a:lnTo>
                      <a:pt x="144525" y="501269"/>
                    </a:lnTo>
                    <a:lnTo>
                      <a:pt x="185165" y="482854"/>
                    </a:lnTo>
                    <a:lnTo>
                      <a:pt x="185165" y="511937"/>
                    </a:lnTo>
                    <a:lnTo>
                      <a:pt x="222250" y="530352"/>
                    </a:lnTo>
                    <a:lnTo>
                      <a:pt x="232917" y="505841"/>
                    </a:lnTo>
                    <a:lnTo>
                      <a:pt x="259461" y="487426"/>
                    </a:lnTo>
                    <a:lnTo>
                      <a:pt x="287654" y="510413"/>
                    </a:lnTo>
                    <a:lnTo>
                      <a:pt x="362203" y="490855"/>
                    </a:lnTo>
                    <a:lnTo>
                      <a:pt x="397255" y="486537"/>
                    </a:lnTo>
                    <a:lnTo>
                      <a:pt x="418464" y="456819"/>
                    </a:lnTo>
                    <a:lnTo>
                      <a:pt x="430784" y="438404"/>
                    </a:lnTo>
                    <a:lnTo>
                      <a:pt x="493013" y="452247"/>
                    </a:lnTo>
                    <a:lnTo>
                      <a:pt x="530098" y="470662"/>
                    </a:lnTo>
                    <a:lnTo>
                      <a:pt x="537210" y="498221"/>
                    </a:lnTo>
                    <a:lnTo>
                      <a:pt x="568960" y="502793"/>
                    </a:lnTo>
                    <a:lnTo>
                      <a:pt x="577850" y="469138"/>
                    </a:lnTo>
                    <a:lnTo>
                      <a:pt x="622046" y="475234"/>
                    </a:lnTo>
                    <a:lnTo>
                      <a:pt x="669036" y="459613"/>
                    </a:lnTo>
                    <a:lnTo>
                      <a:pt x="675386" y="422148"/>
                    </a:lnTo>
                    <a:lnTo>
                      <a:pt x="685673" y="381508"/>
                    </a:lnTo>
                    <a:lnTo>
                      <a:pt x="712469" y="358775"/>
                    </a:lnTo>
                    <a:lnTo>
                      <a:pt x="754506" y="336677"/>
                    </a:lnTo>
                    <a:lnTo>
                      <a:pt x="794130" y="345948"/>
                    </a:lnTo>
                    <a:lnTo>
                      <a:pt x="789939" y="327533"/>
                    </a:lnTo>
                    <a:lnTo>
                      <a:pt x="797305" y="308229"/>
                    </a:lnTo>
                    <a:lnTo>
                      <a:pt x="826642" y="305181"/>
                    </a:lnTo>
                    <a:lnTo>
                      <a:pt x="817499" y="273304"/>
                    </a:lnTo>
                    <a:lnTo>
                      <a:pt x="779272" y="234442"/>
                    </a:lnTo>
                    <a:lnTo>
                      <a:pt x="796925" y="198882"/>
                    </a:lnTo>
                    <a:lnTo>
                      <a:pt x="864107" y="167005"/>
                    </a:lnTo>
                    <a:lnTo>
                      <a:pt x="832357" y="129921"/>
                    </a:lnTo>
                    <a:lnTo>
                      <a:pt x="777493" y="150114"/>
                    </a:lnTo>
                    <a:lnTo>
                      <a:pt x="664463" y="165481"/>
                    </a:lnTo>
                    <a:lnTo>
                      <a:pt x="641476" y="133223"/>
                    </a:lnTo>
                    <a:lnTo>
                      <a:pt x="579627" y="151638"/>
                    </a:lnTo>
                    <a:lnTo>
                      <a:pt x="531876" y="130175"/>
                    </a:lnTo>
                    <a:lnTo>
                      <a:pt x="484124" y="119507"/>
                    </a:lnTo>
                    <a:lnTo>
                      <a:pt x="450596" y="137922"/>
                    </a:lnTo>
                    <a:lnTo>
                      <a:pt x="418464" y="133223"/>
                    </a:lnTo>
                    <a:lnTo>
                      <a:pt x="404367" y="102616"/>
                    </a:lnTo>
                    <a:lnTo>
                      <a:pt x="388365" y="91948"/>
                    </a:lnTo>
                    <a:lnTo>
                      <a:pt x="330453" y="111506"/>
                    </a:lnTo>
                    <a:lnTo>
                      <a:pt x="296544" y="96520"/>
                    </a:lnTo>
                    <a:lnTo>
                      <a:pt x="259714" y="79375"/>
                    </a:lnTo>
                    <a:lnTo>
                      <a:pt x="224409" y="78105"/>
                    </a:lnTo>
                    <a:lnTo>
                      <a:pt x="224409" y="23241"/>
                    </a:lnTo>
                    <a:lnTo>
                      <a:pt x="176656" y="19558"/>
                    </a:lnTo>
                    <a:lnTo>
                      <a:pt x="132206" y="0"/>
                    </a:lnTo>
                    <a:close/>
                  </a:path>
                </a:pathLst>
              </a:custGeom>
              <a:solidFill>
                <a:srgbClr val="FFD966"/>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41" name="object 183">
                <a:extLst>
                  <a:ext uri="{FF2B5EF4-FFF2-40B4-BE49-F238E27FC236}">
                    <a16:creationId xmlns:a16="http://schemas.microsoft.com/office/drawing/2014/main" id="{D49F08C7-9AE7-48A0-B1BB-9011C5E797E8}"/>
                  </a:ext>
                </a:extLst>
              </p:cNvPr>
              <p:cNvSpPr/>
              <p:nvPr/>
            </p:nvSpPr>
            <p:spPr>
              <a:xfrm>
                <a:off x="3203447" y="2886455"/>
                <a:ext cx="864235" cy="530860"/>
              </a:xfrm>
              <a:custGeom>
                <a:avLst/>
                <a:gdLst/>
                <a:ahLst/>
                <a:cxnLst/>
                <a:rect l="l" t="t" r="r" b="b"/>
                <a:pathLst>
                  <a:path w="864235" h="530860">
                    <a:moveTo>
                      <a:pt x="86613" y="10160"/>
                    </a:moveTo>
                    <a:lnTo>
                      <a:pt x="132206" y="0"/>
                    </a:lnTo>
                    <a:lnTo>
                      <a:pt x="176656" y="19558"/>
                    </a:lnTo>
                    <a:lnTo>
                      <a:pt x="224409" y="23241"/>
                    </a:lnTo>
                    <a:lnTo>
                      <a:pt x="224409" y="78105"/>
                    </a:lnTo>
                    <a:lnTo>
                      <a:pt x="259714" y="79375"/>
                    </a:lnTo>
                    <a:lnTo>
                      <a:pt x="296544" y="96520"/>
                    </a:lnTo>
                    <a:lnTo>
                      <a:pt x="330453" y="111506"/>
                    </a:lnTo>
                    <a:lnTo>
                      <a:pt x="388365" y="91948"/>
                    </a:lnTo>
                    <a:lnTo>
                      <a:pt x="404367" y="102616"/>
                    </a:lnTo>
                    <a:lnTo>
                      <a:pt x="418464" y="133223"/>
                    </a:lnTo>
                    <a:lnTo>
                      <a:pt x="450596" y="137922"/>
                    </a:lnTo>
                    <a:lnTo>
                      <a:pt x="484124" y="119507"/>
                    </a:lnTo>
                    <a:lnTo>
                      <a:pt x="531876" y="130175"/>
                    </a:lnTo>
                    <a:lnTo>
                      <a:pt x="579627" y="151638"/>
                    </a:lnTo>
                    <a:lnTo>
                      <a:pt x="641476" y="133223"/>
                    </a:lnTo>
                    <a:lnTo>
                      <a:pt x="664463" y="165481"/>
                    </a:lnTo>
                    <a:lnTo>
                      <a:pt x="777493" y="150114"/>
                    </a:lnTo>
                    <a:lnTo>
                      <a:pt x="832357" y="129921"/>
                    </a:lnTo>
                    <a:lnTo>
                      <a:pt x="864107" y="167005"/>
                    </a:lnTo>
                    <a:lnTo>
                      <a:pt x="796925" y="198882"/>
                    </a:lnTo>
                    <a:lnTo>
                      <a:pt x="779272" y="234442"/>
                    </a:lnTo>
                    <a:lnTo>
                      <a:pt x="817499" y="273304"/>
                    </a:lnTo>
                    <a:lnTo>
                      <a:pt x="826642" y="305181"/>
                    </a:lnTo>
                    <a:lnTo>
                      <a:pt x="797305" y="308229"/>
                    </a:lnTo>
                    <a:lnTo>
                      <a:pt x="789939" y="327533"/>
                    </a:lnTo>
                    <a:lnTo>
                      <a:pt x="794130" y="345948"/>
                    </a:lnTo>
                    <a:lnTo>
                      <a:pt x="754506" y="336677"/>
                    </a:lnTo>
                    <a:lnTo>
                      <a:pt x="712469" y="358775"/>
                    </a:lnTo>
                    <a:lnTo>
                      <a:pt x="685673" y="381508"/>
                    </a:lnTo>
                    <a:lnTo>
                      <a:pt x="675386" y="422148"/>
                    </a:lnTo>
                    <a:lnTo>
                      <a:pt x="669036" y="459613"/>
                    </a:lnTo>
                    <a:lnTo>
                      <a:pt x="622046" y="475234"/>
                    </a:lnTo>
                    <a:lnTo>
                      <a:pt x="577850" y="469138"/>
                    </a:lnTo>
                    <a:lnTo>
                      <a:pt x="568960" y="502793"/>
                    </a:lnTo>
                    <a:lnTo>
                      <a:pt x="537210" y="498221"/>
                    </a:lnTo>
                    <a:lnTo>
                      <a:pt x="530098" y="470662"/>
                    </a:lnTo>
                    <a:lnTo>
                      <a:pt x="493013" y="452247"/>
                    </a:lnTo>
                    <a:lnTo>
                      <a:pt x="430784" y="438404"/>
                    </a:lnTo>
                    <a:lnTo>
                      <a:pt x="418464" y="456819"/>
                    </a:lnTo>
                    <a:lnTo>
                      <a:pt x="397255" y="486537"/>
                    </a:lnTo>
                    <a:lnTo>
                      <a:pt x="362203" y="490855"/>
                    </a:lnTo>
                    <a:lnTo>
                      <a:pt x="287654" y="510413"/>
                    </a:lnTo>
                    <a:lnTo>
                      <a:pt x="259461" y="487426"/>
                    </a:lnTo>
                    <a:lnTo>
                      <a:pt x="232917" y="505841"/>
                    </a:lnTo>
                    <a:lnTo>
                      <a:pt x="222250" y="530352"/>
                    </a:lnTo>
                    <a:lnTo>
                      <a:pt x="185165" y="511937"/>
                    </a:lnTo>
                    <a:lnTo>
                      <a:pt x="185165" y="482854"/>
                    </a:lnTo>
                    <a:lnTo>
                      <a:pt x="144525" y="501269"/>
                    </a:lnTo>
                    <a:lnTo>
                      <a:pt x="126873" y="473710"/>
                    </a:lnTo>
                    <a:lnTo>
                      <a:pt x="105663" y="491998"/>
                    </a:lnTo>
                    <a:lnTo>
                      <a:pt x="47370" y="491744"/>
                    </a:lnTo>
                    <a:lnTo>
                      <a:pt x="16637" y="441452"/>
                    </a:lnTo>
                    <a:lnTo>
                      <a:pt x="0" y="409321"/>
                    </a:lnTo>
                    <a:lnTo>
                      <a:pt x="12318" y="372237"/>
                    </a:lnTo>
                    <a:lnTo>
                      <a:pt x="84836" y="335534"/>
                    </a:lnTo>
                    <a:lnTo>
                      <a:pt x="142748" y="289560"/>
                    </a:lnTo>
                    <a:lnTo>
                      <a:pt x="217042" y="289814"/>
                    </a:lnTo>
                    <a:lnTo>
                      <a:pt x="222250" y="263779"/>
                    </a:lnTo>
                    <a:lnTo>
                      <a:pt x="133985" y="235966"/>
                    </a:lnTo>
                    <a:lnTo>
                      <a:pt x="144144" y="185674"/>
                    </a:lnTo>
                    <a:lnTo>
                      <a:pt x="102107" y="174625"/>
                    </a:lnTo>
                    <a:lnTo>
                      <a:pt x="132206" y="147955"/>
                    </a:lnTo>
                    <a:lnTo>
                      <a:pt x="186562" y="142494"/>
                    </a:lnTo>
                    <a:lnTo>
                      <a:pt x="133985" y="102616"/>
                    </a:lnTo>
                    <a:lnTo>
                      <a:pt x="102107" y="56642"/>
                    </a:lnTo>
                    <a:lnTo>
                      <a:pt x="86613" y="10160"/>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42" name="object 184">
                <a:extLst>
                  <a:ext uri="{FF2B5EF4-FFF2-40B4-BE49-F238E27FC236}">
                    <a16:creationId xmlns:a16="http://schemas.microsoft.com/office/drawing/2014/main" id="{F831DE43-CB8B-47F7-8BA2-0A26751769F6}"/>
                  </a:ext>
                </a:extLst>
              </p:cNvPr>
              <p:cNvSpPr/>
              <p:nvPr/>
            </p:nvSpPr>
            <p:spPr>
              <a:xfrm>
                <a:off x="2869691" y="3720083"/>
                <a:ext cx="1091945" cy="819150"/>
              </a:xfrm>
              <a:prstGeom prst="rect">
                <a:avLst/>
              </a:prstGeom>
              <a:blipFill>
                <a:blip r:embed="rId17"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43" name="object 185">
                <a:extLst>
                  <a:ext uri="{FF2B5EF4-FFF2-40B4-BE49-F238E27FC236}">
                    <a16:creationId xmlns:a16="http://schemas.microsoft.com/office/drawing/2014/main" id="{08BB8AF3-053D-481C-B1D7-6324CA797D51}"/>
                  </a:ext>
                </a:extLst>
              </p:cNvPr>
              <p:cNvSpPr/>
              <p:nvPr/>
            </p:nvSpPr>
            <p:spPr>
              <a:xfrm>
                <a:off x="2887979" y="3700272"/>
                <a:ext cx="1082040" cy="809625"/>
              </a:xfrm>
              <a:custGeom>
                <a:avLst/>
                <a:gdLst/>
                <a:ahLst/>
                <a:cxnLst/>
                <a:rect l="l" t="t" r="r" b="b"/>
                <a:pathLst>
                  <a:path w="1082039" h="809625">
                    <a:moveTo>
                      <a:pt x="830707" y="0"/>
                    </a:moveTo>
                    <a:lnTo>
                      <a:pt x="802385" y="1523"/>
                    </a:lnTo>
                    <a:lnTo>
                      <a:pt x="809497" y="33654"/>
                    </a:lnTo>
                    <a:lnTo>
                      <a:pt x="820039" y="65785"/>
                    </a:lnTo>
                    <a:lnTo>
                      <a:pt x="797179" y="96392"/>
                    </a:lnTo>
                    <a:lnTo>
                      <a:pt x="760094" y="77977"/>
                    </a:lnTo>
                    <a:lnTo>
                      <a:pt x="703580" y="70357"/>
                    </a:lnTo>
                    <a:lnTo>
                      <a:pt x="677164" y="84073"/>
                    </a:lnTo>
                    <a:lnTo>
                      <a:pt x="634745" y="82550"/>
                    </a:lnTo>
                    <a:lnTo>
                      <a:pt x="654177" y="50418"/>
                    </a:lnTo>
                    <a:lnTo>
                      <a:pt x="643635" y="18287"/>
                    </a:lnTo>
                    <a:lnTo>
                      <a:pt x="564133" y="18287"/>
                    </a:lnTo>
                    <a:lnTo>
                      <a:pt x="512953" y="36702"/>
                    </a:lnTo>
                    <a:lnTo>
                      <a:pt x="454659" y="29082"/>
                    </a:lnTo>
                    <a:lnTo>
                      <a:pt x="380619" y="79501"/>
                    </a:lnTo>
                    <a:lnTo>
                      <a:pt x="380619" y="120776"/>
                    </a:lnTo>
                    <a:lnTo>
                      <a:pt x="347090" y="162051"/>
                    </a:lnTo>
                    <a:lnTo>
                      <a:pt x="343534" y="211073"/>
                    </a:lnTo>
                    <a:lnTo>
                      <a:pt x="295782" y="240029"/>
                    </a:lnTo>
                    <a:lnTo>
                      <a:pt x="225170" y="240029"/>
                    </a:lnTo>
                    <a:lnTo>
                      <a:pt x="205867" y="275208"/>
                    </a:lnTo>
                    <a:lnTo>
                      <a:pt x="168782" y="307339"/>
                    </a:lnTo>
                    <a:lnTo>
                      <a:pt x="173989" y="362457"/>
                    </a:lnTo>
                    <a:lnTo>
                      <a:pt x="180086" y="418972"/>
                    </a:lnTo>
                    <a:lnTo>
                      <a:pt x="214630" y="433069"/>
                    </a:lnTo>
                    <a:lnTo>
                      <a:pt x="253492" y="451357"/>
                    </a:lnTo>
                    <a:lnTo>
                      <a:pt x="209295" y="468248"/>
                    </a:lnTo>
                    <a:lnTo>
                      <a:pt x="158114" y="449833"/>
                    </a:lnTo>
                    <a:lnTo>
                      <a:pt x="92837" y="422401"/>
                    </a:lnTo>
                    <a:lnTo>
                      <a:pt x="73406" y="446785"/>
                    </a:lnTo>
                    <a:lnTo>
                      <a:pt x="110489" y="477392"/>
                    </a:lnTo>
                    <a:lnTo>
                      <a:pt x="108712" y="514095"/>
                    </a:lnTo>
                    <a:lnTo>
                      <a:pt x="132080" y="544067"/>
                    </a:lnTo>
                    <a:lnTo>
                      <a:pt x="137032" y="579882"/>
                    </a:lnTo>
                    <a:lnTo>
                      <a:pt x="147955" y="610107"/>
                    </a:lnTo>
                    <a:lnTo>
                      <a:pt x="98551" y="669163"/>
                    </a:lnTo>
                    <a:lnTo>
                      <a:pt x="64262" y="698500"/>
                    </a:lnTo>
                    <a:lnTo>
                      <a:pt x="26162" y="720216"/>
                    </a:lnTo>
                    <a:lnTo>
                      <a:pt x="0" y="809244"/>
                    </a:lnTo>
                    <a:lnTo>
                      <a:pt x="34543" y="803147"/>
                    </a:lnTo>
                    <a:lnTo>
                      <a:pt x="57531" y="780160"/>
                    </a:lnTo>
                    <a:lnTo>
                      <a:pt x="163830" y="758825"/>
                    </a:lnTo>
                    <a:lnTo>
                      <a:pt x="174370" y="727582"/>
                    </a:lnTo>
                    <a:lnTo>
                      <a:pt x="167386" y="697357"/>
                    </a:lnTo>
                    <a:lnTo>
                      <a:pt x="195199" y="676147"/>
                    </a:lnTo>
                    <a:lnTo>
                      <a:pt x="217169" y="731265"/>
                    </a:lnTo>
                    <a:lnTo>
                      <a:pt x="262255" y="699388"/>
                    </a:lnTo>
                    <a:lnTo>
                      <a:pt x="301497" y="708659"/>
                    </a:lnTo>
                    <a:lnTo>
                      <a:pt x="290194" y="662432"/>
                    </a:lnTo>
                    <a:lnTo>
                      <a:pt x="312038" y="642238"/>
                    </a:lnTo>
                    <a:lnTo>
                      <a:pt x="349122" y="633094"/>
                    </a:lnTo>
                    <a:lnTo>
                      <a:pt x="352297" y="606425"/>
                    </a:lnTo>
                    <a:lnTo>
                      <a:pt x="401446" y="583564"/>
                    </a:lnTo>
                    <a:lnTo>
                      <a:pt x="431799" y="610488"/>
                    </a:lnTo>
                    <a:lnTo>
                      <a:pt x="478662" y="633348"/>
                    </a:lnTo>
                    <a:lnTo>
                      <a:pt x="526415" y="639826"/>
                    </a:lnTo>
                    <a:lnTo>
                      <a:pt x="550036" y="592708"/>
                    </a:lnTo>
                    <a:lnTo>
                      <a:pt x="595883" y="569721"/>
                    </a:lnTo>
                    <a:lnTo>
                      <a:pt x="613918" y="587247"/>
                    </a:lnTo>
                    <a:lnTo>
                      <a:pt x="642111" y="543178"/>
                    </a:lnTo>
                    <a:lnTo>
                      <a:pt x="682370" y="520191"/>
                    </a:lnTo>
                    <a:lnTo>
                      <a:pt x="677164" y="495807"/>
                    </a:lnTo>
                    <a:lnTo>
                      <a:pt x="691260" y="468248"/>
                    </a:lnTo>
                    <a:lnTo>
                      <a:pt x="738885" y="442213"/>
                    </a:lnTo>
                    <a:lnTo>
                      <a:pt x="732535" y="485647"/>
                    </a:lnTo>
                    <a:lnTo>
                      <a:pt x="883666" y="436117"/>
                    </a:lnTo>
                    <a:lnTo>
                      <a:pt x="920749" y="386841"/>
                    </a:lnTo>
                    <a:lnTo>
                      <a:pt x="977137" y="350138"/>
                    </a:lnTo>
                    <a:lnTo>
                      <a:pt x="966596" y="334898"/>
                    </a:lnTo>
                    <a:lnTo>
                      <a:pt x="1003681" y="314451"/>
                    </a:lnTo>
                    <a:lnTo>
                      <a:pt x="998346" y="284479"/>
                    </a:lnTo>
                    <a:lnTo>
                      <a:pt x="963041" y="215645"/>
                    </a:lnTo>
                    <a:lnTo>
                      <a:pt x="1024890" y="157479"/>
                    </a:lnTo>
                    <a:lnTo>
                      <a:pt x="1082040" y="151383"/>
                    </a:lnTo>
                    <a:lnTo>
                      <a:pt x="1079627" y="116585"/>
                    </a:lnTo>
                    <a:lnTo>
                      <a:pt x="1044956" y="118998"/>
                    </a:lnTo>
                    <a:lnTo>
                      <a:pt x="1026668" y="87756"/>
                    </a:lnTo>
                    <a:lnTo>
                      <a:pt x="994791" y="97916"/>
                    </a:lnTo>
                    <a:lnTo>
                      <a:pt x="961262" y="56641"/>
                    </a:lnTo>
                    <a:lnTo>
                      <a:pt x="830707" y="0"/>
                    </a:lnTo>
                    <a:close/>
                  </a:path>
                </a:pathLst>
              </a:custGeom>
              <a:solidFill>
                <a:srgbClr val="FFD966"/>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44" name="object 186">
                <a:extLst>
                  <a:ext uri="{FF2B5EF4-FFF2-40B4-BE49-F238E27FC236}">
                    <a16:creationId xmlns:a16="http://schemas.microsoft.com/office/drawing/2014/main" id="{0060BC4A-5F0B-49CE-AA5B-0376095306EC}"/>
                  </a:ext>
                </a:extLst>
              </p:cNvPr>
              <p:cNvSpPr/>
              <p:nvPr/>
            </p:nvSpPr>
            <p:spPr>
              <a:xfrm>
                <a:off x="2887979" y="3700272"/>
                <a:ext cx="1082040" cy="809625"/>
              </a:xfrm>
              <a:custGeom>
                <a:avLst/>
                <a:gdLst/>
                <a:ahLst/>
                <a:cxnLst/>
                <a:rect l="l" t="t" r="r" b="b"/>
                <a:pathLst>
                  <a:path w="1082039" h="809625">
                    <a:moveTo>
                      <a:pt x="454659" y="29082"/>
                    </a:moveTo>
                    <a:lnTo>
                      <a:pt x="512953" y="36702"/>
                    </a:lnTo>
                    <a:lnTo>
                      <a:pt x="564133" y="18287"/>
                    </a:lnTo>
                    <a:lnTo>
                      <a:pt x="643635" y="18287"/>
                    </a:lnTo>
                    <a:lnTo>
                      <a:pt x="654177" y="50418"/>
                    </a:lnTo>
                    <a:lnTo>
                      <a:pt x="634745" y="82550"/>
                    </a:lnTo>
                    <a:lnTo>
                      <a:pt x="677164" y="84073"/>
                    </a:lnTo>
                    <a:lnTo>
                      <a:pt x="703580" y="70357"/>
                    </a:lnTo>
                    <a:lnTo>
                      <a:pt x="760094" y="77977"/>
                    </a:lnTo>
                    <a:lnTo>
                      <a:pt x="797179" y="96392"/>
                    </a:lnTo>
                    <a:lnTo>
                      <a:pt x="820039" y="65785"/>
                    </a:lnTo>
                    <a:lnTo>
                      <a:pt x="809497" y="33654"/>
                    </a:lnTo>
                    <a:lnTo>
                      <a:pt x="802385" y="1523"/>
                    </a:lnTo>
                    <a:lnTo>
                      <a:pt x="830707" y="0"/>
                    </a:lnTo>
                    <a:lnTo>
                      <a:pt x="876554" y="19938"/>
                    </a:lnTo>
                    <a:lnTo>
                      <a:pt x="961262" y="56641"/>
                    </a:lnTo>
                    <a:lnTo>
                      <a:pt x="994791" y="97916"/>
                    </a:lnTo>
                    <a:lnTo>
                      <a:pt x="1026668" y="87756"/>
                    </a:lnTo>
                    <a:lnTo>
                      <a:pt x="1044956" y="118998"/>
                    </a:lnTo>
                    <a:lnTo>
                      <a:pt x="1079627" y="116585"/>
                    </a:lnTo>
                    <a:lnTo>
                      <a:pt x="1082040" y="151383"/>
                    </a:lnTo>
                    <a:lnTo>
                      <a:pt x="1024890" y="157479"/>
                    </a:lnTo>
                    <a:lnTo>
                      <a:pt x="963041" y="215645"/>
                    </a:lnTo>
                    <a:lnTo>
                      <a:pt x="998346" y="284479"/>
                    </a:lnTo>
                    <a:lnTo>
                      <a:pt x="1003681" y="314451"/>
                    </a:lnTo>
                    <a:lnTo>
                      <a:pt x="966596" y="334898"/>
                    </a:lnTo>
                    <a:lnTo>
                      <a:pt x="977137" y="350138"/>
                    </a:lnTo>
                    <a:lnTo>
                      <a:pt x="920749" y="386841"/>
                    </a:lnTo>
                    <a:lnTo>
                      <a:pt x="883666" y="436117"/>
                    </a:lnTo>
                    <a:lnTo>
                      <a:pt x="732535" y="485647"/>
                    </a:lnTo>
                    <a:lnTo>
                      <a:pt x="738885" y="442213"/>
                    </a:lnTo>
                    <a:lnTo>
                      <a:pt x="691260" y="468248"/>
                    </a:lnTo>
                    <a:lnTo>
                      <a:pt x="677164" y="495807"/>
                    </a:lnTo>
                    <a:lnTo>
                      <a:pt x="682370" y="520191"/>
                    </a:lnTo>
                    <a:lnTo>
                      <a:pt x="642111" y="543178"/>
                    </a:lnTo>
                    <a:lnTo>
                      <a:pt x="613918" y="587247"/>
                    </a:lnTo>
                    <a:lnTo>
                      <a:pt x="595883" y="569721"/>
                    </a:lnTo>
                    <a:lnTo>
                      <a:pt x="550036" y="592708"/>
                    </a:lnTo>
                    <a:lnTo>
                      <a:pt x="526415" y="639826"/>
                    </a:lnTo>
                    <a:lnTo>
                      <a:pt x="478662" y="633348"/>
                    </a:lnTo>
                    <a:lnTo>
                      <a:pt x="431799" y="610488"/>
                    </a:lnTo>
                    <a:lnTo>
                      <a:pt x="401446" y="583564"/>
                    </a:lnTo>
                    <a:lnTo>
                      <a:pt x="352297" y="606425"/>
                    </a:lnTo>
                    <a:lnTo>
                      <a:pt x="349122" y="633094"/>
                    </a:lnTo>
                    <a:lnTo>
                      <a:pt x="312038" y="642238"/>
                    </a:lnTo>
                    <a:lnTo>
                      <a:pt x="290194" y="662432"/>
                    </a:lnTo>
                    <a:lnTo>
                      <a:pt x="301497" y="708659"/>
                    </a:lnTo>
                    <a:lnTo>
                      <a:pt x="262255" y="699388"/>
                    </a:lnTo>
                    <a:lnTo>
                      <a:pt x="217169" y="731265"/>
                    </a:lnTo>
                    <a:lnTo>
                      <a:pt x="195199" y="676147"/>
                    </a:lnTo>
                    <a:lnTo>
                      <a:pt x="167386" y="697357"/>
                    </a:lnTo>
                    <a:lnTo>
                      <a:pt x="174370" y="727582"/>
                    </a:lnTo>
                    <a:lnTo>
                      <a:pt x="163830" y="758825"/>
                    </a:lnTo>
                    <a:lnTo>
                      <a:pt x="57531" y="780160"/>
                    </a:lnTo>
                    <a:lnTo>
                      <a:pt x="34543" y="803147"/>
                    </a:lnTo>
                    <a:lnTo>
                      <a:pt x="0" y="809244"/>
                    </a:lnTo>
                    <a:lnTo>
                      <a:pt x="26162" y="720216"/>
                    </a:lnTo>
                    <a:lnTo>
                      <a:pt x="64262" y="698500"/>
                    </a:lnTo>
                    <a:lnTo>
                      <a:pt x="98551" y="669163"/>
                    </a:lnTo>
                    <a:lnTo>
                      <a:pt x="147955" y="610107"/>
                    </a:lnTo>
                    <a:lnTo>
                      <a:pt x="137032" y="579882"/>
                    </a:lnTo>
                    <a:lnTo>
                      <a:pt x="132080" y="544067"/>
                    </a:lnTo>
                    <a:lnTo>
                      <a:pt x="108712" y="514095"/>
                    </a:lnTo>
                    <a:lnTo>
                      <a:pt x="110489" y="477392"/>
                    </a:lnTo>
                    <a:lnTo>
                      <a:pt x="73406" y="446785"/>
                    </a:lnTo>
                    <a:lnTo>
                      <a:pt x="92837" y="422401"/>
                    </a:lnTo>
                    <a:lnTo>
                      <a:pt x="158114" y="449833"/>
                    </a:lnTo>
                    <a:lnTo>
                      <a:pt x="209295" y="468248"/>
                    </a:lnTo>
                    <a:lnTo>
                      <a:pt x="253492" y="451357"/>
                    </a:lnTo>
                    <a:lnTo>
                      <a:pt x="214630" y="433069"/>
                    </a:lnTo>
                    <a:lnTo>
                      <a:pt x="180086" y="418972"/>
                    </a:lnTo>
                    <a:lnTo>
                      <a:pt x="173989" y="362457"/>
                    </a:lnTo>
                    <a:lnTo>
                      <a:pt x="168782" y="307339"/>
                    </a:lnTo>
                    <a:lnTo>
                      <a:pt x="205867" y="275208"/>
                    </a:lnTo>
                    <a:lnTo>
                      <a:pt x="225170" y="240029"/>
                    </a:lnTo>
                    <a:lnTo>
                      <a:pt x="295782" y="240029"/>
                    </a:lnTo>
                    <a:lnTo>
                      <a:pt x="343534" y="211073"/>
                    </a:lnTo>
                    <a:lnTo>
                      <a:pt x="347090" y="162051"/>
                    </a:lnTo>
                    <a:lnTo>
                      <a:pt x="380619" y="120776"/>
                    </a:lnTo>
                    <a:lnTo>
                      <a:pt x="380619" y="79501"/>
                    </a:lnTo>
                    <a:lnTo>
                      <a:pt x="454659" y="29082"/>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45" name="object 187">
                <a:extLst>
                  <a:ext uri="{FF2B5EF4-FFF2-40B4-BE49-F238E27FC236}">
                    <a16:creationId xmlns:a16="http://schemas.microsoft.com/office/drawing/2014/main" id="{0806C03F-9381-496F-9E36-DB331996E5D8}"/>
                  </a:ext>
                </a:extLst>
              </p:cNvPr>
              <p:cNvSpPr/>
              <p:nvPr/>
            </p:nvSpPr>
            <p:spPr>
              <a:xfrm>
                <a:off x="3203447" y="3243072"/>
                <a:ext cx="803910" cy="582929"/>
              </a:xfrm>
              <a:prstGeom prst="rect">
                <a:avLst/>
              </a:prstGeom>
              <a:blipFill>
                <a:blip r:embed="rId18"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46" name="object 188">
                <a:extLst>
                  <a:ext uri="{FF2B5EF4-FFF2-40B4-BE49-F238E27FC236}">
                    <a16:creationId xmlns:a16="http://schemas.microsoft.com/office/drawing/2014/main" id="{4ED23418-85DF-462B-B4CE-491CEEC74AF6}"/>
                  </a:ext>
                </a:extLst>
              </p:cNvPr>
              <p:cNvSpPr/>
              <p:nvPr/>
            </p:nvSpPr>
            <p:spPr>
              <a:xfrm>
                <a:off x="3221735" y="3223260"/>
                <a:ext cx="794385" cy="573405"/>
              </a:xfrm>
              <a:custGeom>
                <a:avLst/>
                <a:gdLst/>
                <a:ahLst/>
                <a:cxnLst/>
                <a:rect l="l" t="t" r="r" b="b"/>
                <a:pathLst>
                  <a:path w="794385" h="573404">
                    <a:moveTo>
                      <a:pt x="735838" y="0"/>
                    </a:moveTo>
                    <a:lnTo>
                      <a:pt x="693419" y="21462"/>
                    </a:lnTo>
                    <a:lnTo>
                      <a:pt x="667003" y="44450"/>
                    </a:lnTo>
                    <a:lnTo>
                      <a:pt x="656463" y="85725"/>
                    </a:lnTo>
                    <a:lnTo>
                      <a:pt x="651128" y="122554"/>
                    </a:lnTo>
                    <a:lnTo>
                      <a:pt x="603503" y="138175"/>
                    </a:lnTo>
                    <a:lnTo>
                      <a:pt x="559435" y="131699"/>
                    </a:lnTo>
                    <a:lnTo>
                      <a:pt x="550672" y="165735"/>
                    </a:lnTo>
                    <a:lnTo>
                      <a:pt x="518922" y="161416"/>
                    </a:lnTo>
                    <a:lnTo>
                      <a:pt x="511810" y="133223"/>
                    </a:lnTo>
                    <a:lnTo>
                      <a:pt x="474472" y="115442"/>
                    </a:lnTo>
                    <a:lnTo>
                      <a:pt x="413003" y="101091"/>
                    </a:lnTo>
                    <a:lnTo>
                      <a:pt x="379856" y="149098"/>
                    </a:lnTo>
                    <a:lnTo>
                      <a:pt x="344677" y="153797"/>
                    </a:lnTo>
                    <a:lnTo>
                      <a:pt x="269875" y="173354"/>
                    </a:lnTo>
                    <a:lnTo>
                      <a:pt x="242315" y="150367"/>
                    </a:lnTo>
                    <a:lnTo>
                      <a:pt x="215518" y="168401"/>
                    </a:lnTo>
                    <a:lnTo>
                      <a:pt x="204215" y="193293"/>
                    </a:lnTo>
                    <a:lnTo>
                      <a:pt x="167893" y="174878"/>
                    </a:lnTo>
                    <a:lnTo>
                      <a:pt x="167893" y="145795"/>
                    </a:lnTo>
                    <a:lnTo>
                      <a:pt x="127635" y="164211"/>
                    </a:lnTo>
                    <a:lnTo>
                      <a:pt x="109727" y="136651"/>
                    </a:lnTo>
                    <a:lnTo>
                      <a:pt x="87884" y="154304"/>
                    </a:lnTo>
                    <a:lnTo>
                      <a:pt x="30734" y="154939"/>
                    </a:lnTo>
                    <a:lnTo>
                      <a:pt x="9143" y="174243"/>
                    </a:lnTo>
                    <a:lnTo>
                      <a:pt x="0" y="232790"/>
                    </a:lnTo>
                    <a:lnTo>
                      <a:pt x="42037" y="270382"/>
                    </a:lnTo>
                    <a:lnTo>
                      <a:pt x="80010" y="313054"/>
                    </a:lnTo>
                    <a:lnTo>
                      <a:pt x="122047" y="299212"/>
                    </a:lnTo>
                    <a:lnTo>
                      <a:pt x="117093" y="363854"/>
                    </a:lnTo>
                    <a:lnTo>
                      <a:pt x="136143" y="398779"/>
                    </a:lnTo>
                    <a:lnTo>
                      <a:pt x="178435" y="407669"/>
                    </a:lnTo>
                    <a:lnTo>
                      <a:pt x="179831" y="436117"/>
                    </a:lnTo>
                    <a:lnTo>
                      <a:pt x="124840" y="482981"/>
                    </a:lnTo>
                    <a:lnTo>
                      <a:pt x="121665" y="505967"/>
                    </a:lnTo>
                    <a:lnTo>
                      <a:pt x="179831" y="513588"/>
                    </a:lnTo>
                    <a:lnTo>
                      <a:pt x="232410" y="494919"/>
                    </a:lnTo>
                    <a:lnTo>
                      <a:pt x="310768" y="495172"/>
                    </a:lnTo>
                    <a:lnTo>
                      <a:pt x="320675" y="527431"/>
                    </a:lnTo>
                    <a:lnTo>
                      <a:pt x="300863" y="559815"/>
                    </a:lnTo>
                    <a:lnTo>
                      <a:pt x="343153" y="561339"/>
                    </a:lnTo>
                    <a:lnTo>
                      <a:pt x="370713" y="547623"/>
                    </a:lnTo>
                    <a:lnTo>
                      <a:pt x="428243" y="554989"/>
                    </a:lnTo>
                    <a:lnTo>
                      <a:pt x="464185" y="573023"/>
                    </a:lnTo>
                    <a:lnTo>
                      <a:pt x="487172" y="543051"/>
                    </a:lnTo>
                    <a:lnTo>
                      <a:pt x="476250" y="510285"/>
                    </a:lnTo>
                    <a:lnTo>
                      <a:pt x="468122" y="478663"/>
                    </a:lnTo>
                    <a:lnTo>
                      <a:pt x="498093" y="476884"/>
                    </a:lnTo>
                    <a:lnTo>
                      <a:pt x="628268" y="533526"/>
                    </a:lnTo>
                    <a:lnTo>
                      <a:pt x="624713" y="487552"/>
                    </a:lnTo>
                    <a:lnTo>
                      <a:pt x="571753" y="444753"/>
                    </a:lnTo>
                    <a:lnTo>
                      <a:pt x="495935" y="386460"/>
                    </a:lnTo>
                    <a:lnTo>
                      <a:pt x="439547" y="369697"/>
                    </a:lnTo>
                    <a:lnTo>
                      <a:pt x="448310" y="320675"/>
                    </a:lnTo>
                    <a:lnTo>
                      <a:pt x="492378" y="308355"/>
                    </a:lnTo>
                    <a:lnTo>
                      <a:pt x="534797" y="320675"/>
                    </a:lnTo>
                    <a:lnTo>
                      <a:pt x="622935" y="241935"/>
                    </a:lnTo>
                    <a:lnTo>
                      <a:pt x="677544" y="238887"/>
                    </a:lnTo>
                    <a:lnTo>
                      <a:pt x="739266" y="197485"/>
                    </a:lnTo>
                    <a:lnTo>
                      <a:pt x="772794" y="156210"/>
                    </a:lnTo>
                    <a:lnTo>
                      <a:pt x="794003" y="114807"/>
                    </a:lnTo>
                    <a:lnTo>
                      <a:pt x="771016" y="90297"/>
                    </a:lnTo>
                    <a:lnTo>
                      <a:pt x="783463" y="53593"/>
                    </a:lnTo>
                    <a:lnTo>
                      <a:pt x="776351" y="9143"/>
                    </a:lnTo>
                    <a:lnTo>
                      <a:pt x="735838" y="0"/>
                    </a:lnTo>
                    <a:close/>
                  </a:path>
                </a:pathLst>
              </a:custGeom>
              <a:solidFill>
                <a:srgbClr val="FFD966"/>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47" name="object 189">
                <a:extLst>
                  <a:ext uri="{FF2B5EF4-FFF2-40B4-BE49-F238E27FC236}">
                    <a16:creationId xmlns:a16="http://schemas.microsoft.com/office/drawing/2014/main" id="{FCF2FA3E-2B8A-40B6-8EE4-0200ADA6C7A4}"/>
                  </a:ext>
                </a:extLst>
              </p:cNvPr>
              <p:cNvSpPr/>
              <p:nvPr/>
            </p:nvSpPr>
            <p:spPr>
              <a:xfrm>
                <a:off x="3221735" y="3223260"/>
                <a:ext cx="794385" cy="573405"/>
              </a:xfrm>
              <a:custGeom>
                <a:avLst/>
                <a:gdLst/>
                <a:ahLst/>
                <a:cxnLst/>
                <a:rect l="l" t="t" r="r" b="b"/>
                <a:pathLst>
                  <a:path w="794385" h="573404">
                    <a:moveTo>
                      <a:pt x="776351" y="9143"/>
                    </a:moveTo>
                    <a:lnTo>
                      <a:pt x="783463" y="53593"/>
                    </a:lnTo>
                    <a:lnTo>
                      <a:pt x="771016" y="90297"/>
                    </a:lnTo>
                    <a:lnTo>
                      <a:pt x="794003" y="114807"/>
                    </a:lnTo>
                    <a:lnTo>
                      <a:pt x="772794" y="156210"/>
                    </a:lnTo>
                    <a:lnTo>
                      <a:pt x="739266" y="197485"/>
                    </a:lnTo>
                    <a:lnTo>
                      <a:pt x="677544" y="238887"/>
                    </a:lnTo>
                    <a:lnTo>
                      <a:pt x="622935" y="241935"/>
                    </a:lnTo>
                    <a:lnTo>
                      <a:pt x="534797" y="320675"/>
                    </a:lnTo>
                    <a:lnTo>
                      <a:pt x="492378" y="308355"/>
                    </a:lnTo>
                    <a:lnTo>
                      <a:pt x="448310" y="320675"/>
                    </a:lnTo>
                    <a:lnTo>
                      <a:pt x="439547" y="369697"/>
                    </a:lnTo>
                    <a:lnTo>
                      <a:pt x="495935" y="386460"/>
                    </a:lnTo>
                    <a:lnTo>
                      <a:pt x="571753" y="444753"/>
                    </a:lnTo>
                    <a:lnTo>
                      <a:pt x="624713" y="487552"/>
                    </a:lnTo>
                    <a:lnTo>
                      <a:pt x="628268" y="533526"/>
                    </a:lnTo>
                    <a:lnTo>
                      <a:pt x="498093" y="476884"/>
                    </a:lnTo>
                    <a:lnTo>
                      <a:pt x="468122" y="478663"/>
                    </a:lnTo>
                    <a:lnTo>
                      <a:pt x="476250" y="510285"/>
                    </a:lnTo>
                    <a:lnTo>
                      <a:pt x="487172" y="543051"/>
                    </a:lnTo>
                    <a:lnTo>
                      <a:pt x="464185" y="573023"/>
                    </a:lnTo>
                    <a:lnTo>
                      <a:pt x="428243" y="554989"/>
                    </a:lnTo>
                    <a:lnTo>
                      <a:pt x="370713" y="547623"/>
                    </a:lnTo>
                    <a:lnTo>
                      <a:pt x="343153" y="561339"/>
                    </a:lnTo>
                    <a:lnTo>
                      <a:pt x="300863" y="559815"/>
                    </a:lnTo>
                    <a:lnTo>
                      <a:pt x="320675" y="527431"/>
                    </a:lnTo>
                    <a:lnTo>
                      <a:pt x="310768" y="495172"/>
                    </a:lnTo>
                    <a:lnTo>
                      <a:pt x="232410" y="494919"/>
                    </a:lnTo>
                    <a:lnTo>
                      <a:pt x="179831" y="513588"/>
                    </a:lnTo>
                    <a:lnTo>
                      <a:pt x="121665" y="505967"/>
                    </a:lnTo>
                    <a:lnTo>
                      <a:pt x="124840" y="482981"/>
                    </a:lnTo>
                    <a:lnTo>
                      <a:pt x="179831" y="436117"/>
                    </a:lnTo>
                    <a:lnTo>
                      <a:pt x="178435" y="407669"/>
                    </a:lnTo>
                    <a:lnTo>
                      <a:pt x="136143" y="398779"/>
                    </a:lnTo>
                    <a:lnTo>
                      <a:pt x="117093" y="363854"/>
                    </a:lnTo>
                    <a:lnTo>
                      <a:pt x="122047" y="299212"/>
                    </a:lnTo>
                    <a:lnTo>
                      <a:pt x="80010" y="313054"/>
                    </a:lnTo>
                    <a:lnTo>
                      <a:pt x="42037" y="270382"/>
                    </a:lnTo>
                    <a:lnTo>
                      <a:pt x="0" y="232790"/>
                    </a:lnTo>
                    <a:lnTo>
                      <a:pt x="9143" y="174243"/>
                    </a:lnTo>
                    <a:lnTo>
                      <a:pt x="30734" y="154939"/>
                    </a:lnTo>
                    <a:lnTo>
                      <a:pt x="87884" y="154304"/>
                    </a:lnTo>
                    <a:lnTo>
                      <a:pt x="109727" y="136651"/>
                    </a:lnTo>
                    <a:lnTo>
                      <a:pt x="127635" y="164211"/>
                    </a:lnTo>
                    <a:lnTo>
                      <a:pt x="167893" y="145795"/>
                    </a:lnTo>
                    <a:lnTo>
                      <a:pt x="167893" y="174878"/>
                    </a:lnTo>
                    <a:lnTo>
                      <a:pt x="204215" y="193293"/>
                    </a:lnTo>
                    <a:lnTo>
                      <a:pt x="215518" y="168401"/>
                    </a:lnTo>
                    <a:lnTo>
                      <a:pt x="242315" y="150367"/>
                    </a:lnTo>
                    <a:lnTo>
                      <a:pt x="269875" y="173354"/>
                    </a:lnTo>
                    <a:lnTo>
                      <a:pt x="344677" y="153797"/>
                    </a:lnTo>
                    <a:lnTo>
                      <a:pt x="379856" y="149098"/>
                    </a:lnTo>
                    <a:lnTo>
                      <a:pt x="413003" y="101091"/>
                    </a:lnTo>
                    <a:lnTo>
                      <a:pt x="474472" y="115442"/>
                    </a:lnTo>
                    <a:lnTo>
                      <a:pt x="511810" y="133223"/>
                    </a:lnTo>
                    <a:lnTo>
                      <a:pt x="518922" y="161416"/>
                    </a:lnTo>
                    <a:lnTo>
                      <a:pt x="550672" y="165735"/>
                    </a:lnTo>
                    <a:lnTo>
                      <a:pt x="559435" y="131699"/>
                    </a:lnTo>
                    <a:lnTo>
                      <a:pt x="603503" y="138175"/>
                    </a:lnTo>
                    <a:lnTo>
                      <a:pt x="651128" y="122554"/>
                    </a:lnTo>
                    <a:lnTo>
                      <a:pt x="656463" y="85725"/>
                    </a:lnTo>
                    <a:lnTo>
                      <a:pt x="667003" y="44450"/>
                    </a:lnTo>
                    <a:lnTo>
                      <a:pt x="693419" y="21462"/>
                    </a:lnTo>
                    <a:lnTo>
                      <a:pt x="735838" y="0"/>
                    </a:lnTo>
                    <a:lnTo>
                      <a:pt x="776351" y="9143"/>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48" name="object 190">
                <a:extLst>
                  <a:ext uri="{FF2B5EF4-FFF2-40B4-BE49-F238E27FC236}">
                    <a16:creationId xmlns:a16="http://schemas.microsoft.com/office/drawing/2014/main" id="{281445DD-1948-4EB2-8FF0-DE0255BC9276}"/>
                  </a:ext>
                </a:extLst>
              </p:cNvPr>
              <p:cNvSpPr/>
              <p:nvPr/>
            </p:nvSpPr>
            <p:spPr>
              <a:xfrm>
                <a:off x="3642360" y="2916936"/>
                <a:ext cx="677417" cy="963930"/>
              </a:xfrm>
              <a:prstGeom prst="rect">
                <a:avLst/>
              </a:prstGeom>
              <a:blipFill>
                <a:blip r:embed="rId19"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49" name="object 191">
                <a:extLst>
                  <a:ext uri="{FF2B5EF4-FFF2-40B4-BE49-F238E27FC236}">
                    <a16:creationId xmlns:a16="http://schemas.microsoft.com/office/drawing/2014/main" id="{0F3B1447-0427-4F05-B678-3B8A706DCE8C}"/>
                  </a:ext>
                </a:extLst>
              </p:cNvPr>
              <p:cNvSpPr/>
              <p:nvPr/>
            </p:nvSpPr>
            <p:spPr>
              <a:xfrm>
                <a:off x="3660648" y="2897123"/>
                <a:ext cx="668020" cy="954405"/>
              </a:xfrm>
              <a:custGeom>
                <a:avLst/>
                <a:gdLst/>
                <a:ahLst/>
                <a:cxnLst/>
                <a:rect l="l" t="t" r="r" b="b"/>
                <a:pathLst>
                  <a:path w="668020" h="954404">
                    <a:moveTo>
                      <a:pt x="349503" y="0"/>
                    </a:moveTo>
                    <a:lnTo>
                      <a:pt x="335025" y="21462"/>
                    </a:lnTo>
                    <a:lnTo>
                      <a:pt x="384810" y="82041"/>
                    </a:lnTo>
                    <a:lnTo>
                      <a:pt x="375285" y="118745"/>
                    </a:lnTo>
                    <a:lnTo>
                      <a:pt x="405638" y="155828"/>
                    </a:lnTo>
                    <a:lnTo>
                      <a:pt x="338836" y="187960"/>
                    </a:lnTo>
                    <a:lnTo>
                      <a:pt x="320928" y="223138"/>
                    </a:lnTo>
                    <a:lnTo>
                      <a:pt x="359410" y="262127"/>
                    </a:lnTo>
                    <a:lnTo>
                      <a:pt x="368935" y="293624"/>
                    </a:lnTo>
                    <a:lnTo>
                      <a:pt x="338836" y="296672"/>
                    </a:lnTo>
                    <a:lnTo>
                      <a:pt x="331469" y="316611"/>
                    </a:lnTo>
                    <a:lnTo>
                      <a:pt x="338836" y="342646"/>
                    </a:lnTo>
                    <a:lnTo>
                      <a:pt x="344169" y="379602"/>
                    </a:lnTo>
                    <a:lnTo>
                      <a:pt x="331469" y="416051"/>
                    </a:lnTo>
                    <a:lnTo>
                      <a:pt x="354711" y="440309"/>
                    </a:lnTo>
                    <a:lnTo>
                      <a:pt x="333248" y="482473"/>
                    </a:lnTo>
                    <a:lnTo>
                      <a:pt x="301116" y="523239"/>
                    </a:lnTo>
                    <a:lnTo>
                      <a:pt x="239267" y="564514"/>
                    </a:lnTo>
                    <a:lnTo>
                      <a:pt x="183261" y="568198"/>
                    </a:lnTo>
                    <a:lnTo>
                      <a:pt x="94614" y="646302"/>
                    </a:lnTo>
                    <a:lnTo>
                      <a:pt x="53339" y="634111"/>
                    </a:lnTo>
                    <a:lnTo>
                      <a:pt x="8762" y="646302"/>
                    </a:lnTo>
                    <a:lnTo>
                      <a:pt x="0" y="695578"/>
                    </a:lnTo>
                    <a:lnTo>
                      <a:pt x="56514" y="712088"/>
                    </a:lnTo>
                    <a:lnTo>
                      <a:pt x="125349" y="764794"/>
                    </a:lnTo>
                    <a:lnTo>
                      <a:pt x="185674" y="813815"/>
                    </a:lnTo>
                    <a:lnTo>
                      <a:pt x="188467" y="859408"/>
                    </a:lnTo>
                    <a:lnTo>
                      <a:pt x="221996" y="900811"/>
                    </a:lnTo>
                    <a:lnTo>
                      <a:pt x="253746" y="890015"/>
                    </a:lnTo>
                    <a:lnTo>
                      <a:pt x="273176" y="922146"/>
                    </a:lnTo>
                    <a:lnTo>
                      <a:pt x="306704" y="919099"/>
                    </a:lnTo>
                    <a:lnTo>
                      <a:pt x="310261" y="954024"/>
                    </a:lnTo>
                    <a:lnTo>
                      <a:pt x="370586" y="931418"/>
                    </a:lnTo>
                    <a:lnTo>
                      <a:pt x="405891" y="882395"/>
                    </a:lnTo>
                    <a:lnTo>
                      <a:pt x="527685" y="886968"/>
                    </a:lnTo>
                    <a:lnTo>
                      <a:pt x="593089" y="871601"/>
                    </a:lnTo>
                    <a:lnTo>
                      <a:pt x="561213" y="785621"/>
                    </a:lnTo>
                    <a:lnTo>
                      <a:pt x="560577" y="720725"/>
                    </a:lnTo>
                    <a:lnTo>
                      <a:pt x="545338" y="696849"/>
                    </a:lnTo>
                    <a:lnTo>
                      <a:pt x="566547" y="666241"/>
                    </a:lnTo>
                    <a:lnTo>
                      <a:pt x="516763" y="650621"/>
                    </a:lnTo>
                    <a:lnTo>
                      <a:pt x="517143" y="623951"/>
                    </a:lnTo>
                    <a:lnTo>
                      <a:pt x="479678" y="606551"/>
                    </a:lnTo>
                    <a:lnTo>
                      <a:pt x="474725" y="564261"/>
                    </a:lnTo>
                    <a:lnTo>
                      <a:pt x="497713" y="549910"/>
                    </a:lnTo>
                    <a:lnTo>
                      <a:pt x="508253" y="522350"/>
                    </a:lnTo>
                    <a:lnTo>
                      <a:pt x="480060" y="487172"/>
                    </a:lnTo>
                    <a:lnTo>
                      <a:pt x="405891" y="458977"/>
                    </a:lnTo>
                    <a:lnTo>
                      <a:pt x="374141" y="431418"/>
                    </a:lnTo>
                    <a:lnTo>
                      <a:pt x="395350" y="380873"/>
                    </a:lnTo>
                    <a:lnTo>
                      <a:pt x="428878" y="388492"/>
                    </a:lnTo>
                    <a:lnTo>
                      <a:pt x="448310" y="371728"/>
                    </a:lnTo>
                    <a:lnTo>
                      <a:pt x="434213" y="347217"/>
                    </a:lnTo>
                    <a:lnTo>
                      <a:pt x="465963" y="338074"/>
                    </a:lnTo>
                    <a:lnTo>
                      <a:pt x="511810" y="347217"/>
                    </a:lnTo>
                    <a:lnTo>
                      <a:pt x="527685" y="321183"/>
                    </a:lnTo>
                    <a:lnTo>
                      <a:pt x="492760" y="282955"/>
                    </a:lnTo>
                    <a:lnTo>
                      <a:pt x="459993" y="288416"/>
                    </a:lnTo>
                    <a:lnTo>
                      <a:pt x="405891" y="236981"/>
                    </a:lnTo>
                    <a:lnTo>
                      <a:pt x="379475" y="243077"/>
                    </a:lnTo>
                    <a:lnTo>
                      <a:pt x="375919" y="215518"/>
                    </a:lnTo>
                    <a:lnTo>
                      <a:pt x="384810" y="181228"/>
                    </a:lnTo>
                    <a:lnTo>
                      <a:pt x="444753" y="151002"/>
                    </a:lnTo>
                    <a:lnTo>
                      <a:pt x="414019" y="128650"/>
                    </a:lnTo>
                    <a:lnTo>
                      <a:pt x="428878" y="109600"/>
                    </a:lnTo>
                    <a:lnTo>
                      <a:pt x="469518" y="135636"/>
                    </a:lnTo>
                    <a:lnTo>
                      <a:pt x="460628" y="160400"/>
                    </a:lnTo>
                    <a:lnTo>
                      <a:pt x="485393" y="174243"/>
                    </a:lnTo>
                    <a:lnTo>
                      <a:pt x="527685" y="151002"/>
                    </a:lnTo>
                    <a:lnTo>
                      <a:pt x="513588" y="131063"/>
                    </a:lnTo>
                    <a:lnTo>
                      <a:pt x="545338" y="131063"/>
                    </a:lnTo>
                    <a:lnTo>
                      <a:pt x="559435" y="160400"/>
                    </a:lnTo>
                    <a:lnTo>
                      <a:pt x="577088" y="183387"/>
                    </a:lnTo>
                    <a:lnTo>
                      <a:pt x="619505" y="204850"/>
                    </a:lnTo>
                    <a:lnTo>
                      <a:pt x="624839" y="164973"/>
                    </a:lnTo>
                    <a:lnTo>
                      <a:pt x="654812" y="154050"/>
                    </a:lnTo>
                    <a:lnTo>
                      <a:pt x="667512" y="71627"/>
                    </a:lnTo>
                    <a:lnTo>
                      <a:pt x="584962" y="49911"/>
                    </a:lnTo>
                    <a:lnTo>
                      <a:pt x="559180" y="62737"/>
                    </a:lnTo>
                    <a:lnTo>
                      <a:pt x="493522" y="28193"/>
                    </a:lnTo>
                    <a:lnTo>
                      <a:pt x="479678" y="1777"/>
                    </a:lnTo>
                    <a:lnTo>
                      <a:pt x="427100" y="18034"/>
                    </a:lnTo>
                    <a:lnTo>
                      <a:pt x="379475" y="20827"/>
                    </a:lnTo>
                    <a:lnTo>
                      <a:pt x="349503" y="0"/>
                    </a:lnTo>
                    <a:close/>
                  </a:path>
                </a:pathLst>
              </a:custGeom>
              <a:solidFill>
                <a:srgbClr val="F4B083"/>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50" name="object 192">
                <a:extLst>
                  <a:ext uri="{FF2B5EF4-FFF2-40B4-BE49-F238E27FC236}">
                    <a16:creationId xmlns:a16="http://schemas.microsoft.com/office/drawing/2014/main" id="{19F455D7-7E23-466F-9B12-B03B55353219}"/>
                  </a:ext>
                </a:extLst>
              </p:cNvPr>
              <p:cNvSpPr/>
              <p:nvPr/>
            </p:nvSpPr>
            <p:spPr>
              <a:xfrm>
                <a:off x="3660648" y="2897123"/>
                <a:ext cx="668020" cy="954405"/>
              </a:xfrm>
              <a:custGeom>
                <a:avLst/>
                <a:gdLst/>
                <a:ahLst/>
                <a:cxnLst/>
                <a:rect l="l" t="t" r="r" b="b"/>
                <a:pathLst>
                  <a:path w="668020" h="954404">
                    <a:moveTo>
                      <a:pt x="310261" y="954024"/>
                    </a:moveTo>
                    <a:lnTo>
                      <a:pt x="370586" y="931418"/>
                    </a:lnTo>
                    <a:lnTo>
                      <a:pt x="405891" y="882395"/>
                    </a:lnTo>
                    <a:lnTo>
                      <a:pt x="527685" y="886968"/>
                    </a:lnTo>
                    <a:lnTo>
                      <a:pt x="593089" y="871601"/>
                    </a:lnTo>
                    <a:lnTo>
                      <a:pt x="561213" y="785621"/>
                    </a:lnTo>
                    <a:lnTo>
                      <a:pt x="560577" y="720725"/>
                    </a:lnTo>
                    <a:lnTo>
                      <a:pt x="545338" y="696849"/>
                    </a:lnTo>
                    <a:lnTo>
                      <a:pt x="566547" y="666241"/>
                    </a:lnTo>
                    <a:lnTo>
                      <a:pt x="516763" y="650621"/>
                    </a:lnTo>
                    <a:lnTo>
                      <a:pt x="517143" y="623951"/>
                    </a:lnTo>
                    <a:lnTo>
                      <a:pt x="479678" y="606551"/>
                    </a:lnTo>
                    <a:lnTo>
                      <a:pt x="474725" y="564261"/>
                    </a:lnTo>
                    <a:lnTo>
                      <a:pt x="497713" y="549910"/>
                    </a:lnTo>
                    <a:lnTo>
                      <a:pt x="508253" y="522350"/>
                    </a:lnTo>
                    <a:lnTo>
                      <a:pt x="480060" y="487172"/>
                    </a:lnTo>
                    <a:lnTo>
                      <a:pt x="405891" y="458977"/>
                    </a:lnTo>
                    <a:lnTo>
                      <a:pt x="374141" y="431418"/>
                    </a:lnTo>
                    <a:lnTo>
                      <a:pt x="395350" y="380873"/>
                    </a:lnTo>
                    <a:lnTo>
                      <a:pt x="428878" y="388492"/>
                    </a:lnTo>
                    <a:lnTo>
                      <a:pt x="448310" y="371728"/>
                    </a:lnTo>
                    <a:lnTo>
                      <a:pt x="434213" y="347217"/>
                    </a:lnTo>
                    <a:lnTo>
                      <a:pt x="465963" y="338074"/>
                    </a:lnTo>
                    <a:lnTo>
                      <a:pt x="511810" y="347217"/>
                    </a:lnTo>
                    <a:lnTo>
                      <a:pt x="527685" y="321183"/>
                    </a:lnTo>
                    <a:lnTo>
                      <a:pt x="492760" y="282955"/>
                    </a:lnTo>
                    <a:lnTo>
                      <a:pt x="459993" y="288416"/>
                    </a:lnTo>
                    <a:lnTo>
                      <a:pt x="405891" y="236981"/>
                    </a:lnTo>
                    <a:lnTo>
                      <a:pt x="379475" y="243077"/>
                    </a:lnTo>
                    <a:lnTo>
                      <a:pt x="375919" y="215518"/>
                    </a:lnTo>
                    <a:lnTo>
                      <a:pt x="384810" y="181228"/>
                    </a:lnTo>
                    <a:lnTo>
                      <a:pt x="444753" y="151002"/>
                    </a:lnTo>
                    <a:lnTo>
                      <a:pt x="414019" y="128650"/>
                    </a:lnTo>
                    <a:lnTo>
                      <a:pt x="428878" y="109600"/>
                    </a:lnTo>
                    <a:lnTo>
                      <a:pt x="469518" y="135636"/>
                    </a:lnTo>
                    <a:lnTo>
                      <a:pt x="460628" y="160400"/>
                    </a:lnTo>
                    <a:lnTo>
                      <a:pt x="485393" y="174243"/>
                    </a:lnTo>
                    <a:lnTo>
                      <a:pt x="527685" y="151002"/>
                    </a:lnTo>
                    <a:lnTo>
                      <a:pt x="513588" y="131063"/>
                    </a:lnTo>
                    <a:lnTo>
                      <a:pt x="545338" y="131063"/>
                    </a:lnTo>
                    <a:lnTo>
                      <a:pt x="559435" y="160400"/>
                    </a:lnTo>
                    <a:lnTo>
                      <a:pt x="577088" y="183387"/>
                    </a:lnTo>
                    <a:lnTo>
                      <a:pt x="619505" y="204850"/>
                    </a:lnTo>
                    <a:lnTo>
                      <a:pt x="624839" y="164973"/>
                    </a:lnTo>
                    <a:lnTo>
                      <a:pt x="654812" y="154050"/>
                    </a:lnTo>
                    <a:lnTo>
                      <a:pt x="667512" y="71627"/>
                    </a:lnTo>
                    <a:lnTo>
                      <a:pt x="584962" y="49911"/>
                    </a:lnTo>
                    <a:lnTo>
                      <a:pt x="559180" y="62737"/>
                    </a:lnTo>
                    <a:lnTo>
                      <a:pt x="493522" y="28193"/>
                    </a:lnTo>
                    <a:lnTo>
                      <a:pt x="479678" y="1777"/>
                    </a:lnTo>
                    <a:lnTo>
                      <a:pt x="427100" y="18034"/>
                    </a:lnTo>
                    <a:lnTo>
                      <a:pt x="379475" y="20827"/>
                    </a:lnTo>
                    <a:lnTo>
                      <a:pt x="349503" y="0"/>
                    </a:lnTo>
                    <a:lnTo>
                      <a:pt x="335025" y="21462"/>
                    </a:lnTo>
                    <a:lnTo>
                      <a:pt x="354711" y="45338"/>
                    </a:lnTo>
                    <a:lnTo>
                      <a:pt x="384810" y="82041"/>
                    </a:lnTo>
                    <a:lnTo>
                      <a:pt x="375285" y="118745"/>
                    </a:lnTo>
                    <a:lnTo>
                      <a:pt x="405638" y="155828"/>
                    </a:lnTo>
                    <a:lnTo>
                      <a:pt x="338836" y="187960"/>
                    </a:lnTo>
                    <a:lnTo>
                      <a:pt x="320928" y="223138"/>
                    </a:lnTo>
                    <a:lnTo>
                      <a:pt x="359410" y="262127"/>
                    </a:lnTo>
                    <a:lnTo>
                      <a:pt x="368935" y="293624"/>
                    </a:lnTo>
                    <a:lnTo>
                      <a:pt x="338836" y="296672"/>
                    </a:lnTo>
                    <a:lnTo>
                      <a:pt x="331469" y="316611"/>
                    </a:lnTo>
                    <a:lnTo>
                      <a:pt x="338836" y="342646"/>
                    </a:lnTo>
                    <a:lnTo>
                      <a:pt x="344169" y="379602"/>
                    </a:lnTo>
                    <a:lnTo>
                      <a:pt x="331469" y="416051"/>
                    </a:lnTo>
                    <a:lnTo>
                      <a:pt x="354711" y="440309"/>
                    </a:lnTo>
                    <a:lnTo>
                      <a:pt x="333248" y="482473"/>
                    </a:lnTo>
                    <a:lnTo>
                      <a:pt x="301116" y="523239"/>
                    </a:lnTo>
                    <a:lnTo>
                      <a:pt x="239267" y="564514"/>
                    </a:lnTo>
                    <a:lnTo>
                      <a:pt x="183261" y="568198"/>
                    </a:lnTo>
                    <a:lnTo>
                      <a:pt x="94614" y="646302"/>
                    </a:lnTo>
                    <a:lnTo>
                      <a:pt x="53339" y="634111"/>
                    </a:lnTo>
                    <a:lnTo>
                      <a:pt x="8762" y="646302"/>
                    </a:lnTo>
                    <a:lnTo>
                      <a:pt x="0" y="695578"/>
                    </a:lnTo>
                    <a:lnTo>
                      <a:pt x="56514" y="712088"/>
                    </a:lnTo>
                    <a:lnTo>
                      <a:pt x="125349" y="764794"/>
                    </a:lnTo>
                    <a:lnTo>
                      <a:pt x="185674" y="813815"/>
                    </a:lnTo>
                    <a:lnTo>
                      <a:pt x="188467" y="859408"/>
                    </a:lnTo>
                    <a:lnTo>
                      <a:pt x="221996" y="900811"/>
                    </a:lnTo>
                    <a:lnTo>
                      <a:pt x="253746" y="890015"/>
                    </a:lnTo>
                    <a:lnTo>
                      <a:pt x="273176" y="922146"/>
                    </a:lnTo>
                    <a:lnTo>
                      <a:pt x="306704" y="919099"/>
                    </a:lnTo>
                    <a:lnTo>
                      <a:pt x="310261" y="954024"/>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51" name="object 193">
                <a:extLst>
                  <a:ext uri="{FF2B5EF4-FFF2-40B4-BE49-F238E27FC236}">
                    <a16:creationId xmlns:a16="http://schemas.microsoft.com/office/drawing/2014/main" id="{7D4EA5D8-F3AF-4C04-AE81-6FE6F1B67819}"/>
                  </a:ext>
                </a:extLst>
              </p:cNvPr>
              <p:cNvSpPr/>
              <p:nvPr/>
            </p:nvSpPr>
            <p:spPr>
              <a:xfrm>
                <a:off x="1680972" y="2325624"/>
                <a:ext cx="528065" cy="558546"/>
              </a:xfrm>
              <a:prstGeom prst="rect">
                <a:avLst/>
              </a:prstGeom>
              <a:blipFill>
                <a:blip r:embed="rId20"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52" name="object 194">
                <a:extLst>
                  <a:ext uri="{FF2B5EF4-FFF2-40B4-BE49-F238E27FC236}">
                    <a16:creationId xmlns:a16="http://schemas.microsoft.com/office/drawing/2014/main" id="{29A2A0EB-96F8-4E18-993C-B66F51AF52F0}"/>
                  </a:ext>
                </a:extLst>
              </p:cNvPr>
              <p:cNvSpPr/>
              <p:nvPr/>
            </p:nvSpPr>
            <p:spPr>
              <a:xfrm>
                <a:off x="1699259" y="2305811"/>
                <a:ext cx="518159" cy="548640"/>
              </a:xfrm>
              <a:custGeom>
                <a:avLst/>
                <a:gdLst/>
                <a:ahLst/>
                <a:cxnLst/>
                <a:rect l="l" t="t" r="r" b="b"/>
                <a:pathLst>
                  <a:path w="518160" h="548639">
                    <a:moveTo>
                      <a:pt x="412114" y="0"/>
                    </a:moveTo>
                    <a:lnTo>
                      <a:pt x="406145" y="635"/>
                    </a:lnTo>
                    <a:lnTo>
                      <a:pt x="403987" y="5461"/>
                    </a:lnTo>
                    <a:lnTo>
                      <a:pt x="401954" y="11684"/>
                    </a:lnTo>
                    <a:lnTo>
                      <a:pt x="391032" y="12826"/>
                    </a:lnTo>
                    <a:lnTo>
                      <a:pt x="392048" y="19938"/>
                    </a:lnTo>
                    <a:lnTo>
                      <a:pt x="402589" y="34036"/>
                    </a:lnTo>
                    <a:lnTo>
                      <a:pt x="424814" y="42037"/>
                    </a:lnTo>
                    <a:lnTo>
                      <a:pt x="430148" y="89026"/>
                    </a:lnTo>
                    <a:lnTo>
                      <a:pt x="412876" y="89662"/>
                    </a:lnTo>
                    <a:lnTo>
                      <a:pt x="382904" y="80390"/>
                    </a:lnTo>
                    <a:lnTo>
                      <a:pt x="360044" y="112902"/>
                    </a:lnTo>
                    <a:lnTo>
                      <a:pt x="351154" y="143637"/>
                    </a:lnTo>
                    <a:lnTo>
                      <a:pt x="291719" y="139953"/>
                    </a:lnTo>
                    <a:lnTo>
                      <a:pt x="287400" y="175767"/>
                    </a:lnTo>
                    <a:lnTo>
                      <a:pt x="260603" y="208407"/>
                    </a:lnTo>
                    <a:lnTo>
                      <a:pt x="227583" y="191515"/>
                    </a:lnTo>
                    <a:lnTo>
                      <a:pt x="181101" y="189991"/>
                    </a:lnTo>
                    <a:lnTo>
                      <a:pt x="122173" y="218186"/>
                    </a:lnTo>
                    <a:lnTo>
                      <a:pt x="116966" y="176149"/>
                    </a:lnTo>
                    <a:lnTo>
                      <a:pt x="69087" y="152780"/>
                    </a:lnTo>
                    <a:lnTo>
                      <a:pt x="11683" y="166624"/>
                    </a:lnTo>
                    <a:lnTo>
                      <a:pt x="0" y="191515"/>
                    </a:lnTo>
                    <a:lnTo>
                      <a:pt x="21081" y="219455"/>
                    </a:lnTo>
                    <a:lnTo>
                      <a:pt x="22225" y="268224"/>
                    </a:lnTo>
                    <a:lnTo>
                      <a:pt x="108203" y="277367"/>
                    </a:lnTo>
                    <a:lnTo>
                      <a:pt x="154939" y="270001"/>
                    </a:lnTo>
                    <a:lnTo>
                      <a:pt x="153542" y="310514"/>
                    </a:lnTo>
                    <a:lnTo>
                      <a:pt x="175006" y="334517"/>
                    </a:lnTo>
                    <a:lnTo>
                      <a:pt x="170814" y="397383"/>
                    </a:lnTo>
                    <a:lnTo>
                      <a:pt x="222250" y="429640"/>
                    </a:lnTo>
                    <a:lnTo>
                      <a:pt x="243458" y="471042"/>
                    </a:lnTo>
                    <a:lnTo>
                      <a:pt x="234950" y="517016"/>
                    </a:lnTo>
                    <a:lnTo>
                      <a:pt x="260603" y="522859"/>
                    </a:lnTo>
                    <a:lnTo>
                      <a:pt x="277240" y="481711"/>
                    </a:lnTo>
                    <a:lnTo>
                      <a:pt x="312419" y="472566"/>
                    </a:lnTo>
                    <a:lnTo>
                      <a:pt x="328294" y="500125"/>
                    </a:lnTo>
                    <a:lnTo>
                      <a:pt x="361822" y="486410"/>
                    </a:lnTo>
                    <a:lnTo>
                      <a:pt x="388238" y="456946"/>
                    </a:lnTo>
                    <a:lnTo>
                      <a:pt x="398779" y="498601"/>
                    </a:lnTo>
                    <a:lnTo>
                      <a:pt x="399160" y="548639"/>
                    </a:lnTo>
                    <a:lnTo>
                      <a:pt x="424433" y="532129"/>
                    </a:lnTo>
                    <a:lnTo>
                      <a:pt x="472694" y="536321"/>
                    </a:lnTo>
                    <a:lnTo>
                      <a:pt x="503427" y="481075"/>
                    </a:lnTo>
                    <a:lnTo>
                      <a:pt x="504825" y="444626"/>
                    </a:lnTo>
                    <a:lnTo>
                      <a:pt x="475869" y="407542"/>
                    </a:lnTo>
                    <a:lnTo>
                      <a:pt x="456564" y="421259"/>
                    </a:lnTo>
                    <a:lnTo>
                      <a:pt x="439927" y="400176"/>
                    </a:lnTo>
                    <a:lnTo>
                      <a:pt x="421639" y="407797"/>
                    </a:lnTo>
                    <a:lnTo>
                      <a:pt x="408304" y="397637"/>
                    </a:lnTo>
                    <a:lnTo>
                      <a:pt x="424814" y="387603"/>
                    </a:lnTo>
                    <a:lnTo>
                      <a:pt x="420623" y="362330"/>
                    </a:lnTo>
                    <a:lnTo>
                      <a:pt x="445896" y="353187"/>
                    </a:lnTo>
                    <a:lnTo>
                      <a:pt x="451992" y="337185"/>
                    </a:lnTo>
                    <a:lnTo>
                      <a:pt x="430148" y="228346"/>
                    </a:lnTo>
                    <a:lnTo>
                      <a:pt x="457581" y="172465"/>
                    </a:lnTo>
                    <a:lnTo>
                      <a:pt x="499109" y="141097"/>
                    </a:lnTo>
                    <a:lnTo>
                      <a:pt x="518159" y="106172"/>
                    </a:lnTo>
                    <a:lnTo>
                      <a:pt x="457200" y="74295"/>
                    </a:lnTo>
                    <a:lnTo>
                      <a:pt x="463931" y="60451"/>
                    </a:lnTo>
                    <a:lnTo>
                      <a:pt x="471677" y="45720"/>
                    </a:lnTo>
                    <a:lnTo>
                      <a:pt x="424814" y="11937"/>
                    </a:lnTo>
                    <a:lnTo>
                      <a:pt x="412114" y="0"/>
                    </a:lnTo>
                    <a:close/>
                  </a:path>
                </a:pathLst>
              </a:custGeom>
              <a:solidFill>
                <a:srgbClr val="6FAC46"/>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53" name="object 195">
                <a:extLst>
                  <a:ext uri="{FF2B5EF4-FFF2-40B4-BE49-F238E27FC236}">
                    <a16:creationId xmlns:a16="http://schemas.microsoft.com/office/drawing/2014/main" id="{2218E75C-8910-4A9A-8EDF-AD5022323F61}"/>
                  </a:ext>
                </a:extLst>
              </p:cNvPr>
              <p:cNvSpPr/>
              <p:nvPr/>
            </p:nvSpPr>
            <p:spPr>
              <a:xfrm>
                <a:off x="1699259" y="2305811"/>
                <a:ext cx="518159" cy="548640"/>
              </a:xfrm>
              <a:custGeom>
                <a:avLst/>
                <a:gdLst/>
                <a:ahLst/>
                <a:cxnLst/>
                <a:rect l="l" t="t" r="r" b="b"/>
                <a:pathLst>
                  <a:path w="518160" h="548639">
                    <a:moveTo>
                      <a:pt x="11683" y="166624"/>
                    </a:moveTo>
                    <a:lnTo>
                      <a:pt x="69087" y="152780"/>
                    </a:lnTo>
                    <a:lnTo>
                      <a:pt x="116966" y="176149"/>
                    </a:lnTo>
                    <a:lnTo>
                      <a:pt x="122173" y="218186"/>
                    </a:lnTo>
                    <a:lnTo>
                      <a:pt x="181101" y="189991"/>
                    </a:lnTo>
                    <a:lnTo>
                      <a:pt x="227583" y="191515"/>
                    </a:lnTo>
                    <a:lnTo>
                      <a:pt x="260603" y="208407"/>
                    </a:lnTo>
                    <a:lnTo>
                      <a:pt x="287400" y="175767"/>
                    </a:lnTo>
                    <a:lnTo>
                      <a:pt x="291719" y="139953"/>
                    </a:lnTo>
                    <a:lnTo>
                      <a:pt x="351154" y="143637"/>
                    </a:lnTo>
                    <a:lnTo>
                      <a:pt x="360044" y="112902"/>
                    </a:lnTo>
                    <a:lnTo>
                      <a:pt x="382904" y="80390"/>
                    </a:lnTo>
                    <a:lnTo>
                      <a:pt x="412876" y="89662"/>
                    </a:lnTo>
                    <a:lnTo>
                      <a:pt x="430148" y="89026"/>
                    </a:lnTo>
                    <a:lnTo>
                      <a:pt x="424814" y="42037"/>
                    </a:lnTo>
                    <a:lnTo>
                      <a:pt x="402589" y="34036"/>
                    </a:lnTo>
                    <a:lnTo>
                      <a:pt x="392048" y="19938"/>
                    </a:lnTo>
                    <a:lnTo>
                      <a:pt x="391032" y="12826"/>
                    </a:lnTo>
                    <a:lnTo>
                      <a:pt x="401954" y="11684"/>
                    </a:lnTo>
                    <a:lnTo>
                      <a:pt x="403987" y="5461"/>
                    </a:lnTo>
                    <a:lnTo>
                      <a:pt x="406145" y="635"/>
                    </a:lnTo>
                    <a:lnTo>
                      <a:pt x="412114" y="0"/>
                    </a:lnTo>
                    <a:lnTo>
                      <a:pt x="424814" y="11937"/>
                    </a:lnTo>
                    <a:lnTo>
                      <a:pt x="471677" y="45720"/>
                    </a:lnTo>
                    <a:lnTo>
                      <a:pt x="463931" y="60451"/>
                    </a:lnTo>
                    <a:lnTo>
                      <a:pt x="457200" y="74295"/>
                    </a:lnTo>
                    <a:lnTo>
                      <a:pt x="518159" y="106172"/>
                    </a:lnTo>
                    <a:lnTo>
                      <a:pt x="499109" y="141097"/>
                    </a:lnTo>
                    <a:lnTo>
                      <a:pt x="457581" y="172465"/>
                    </a:lnTo>
                    <a:lnTo>
                      <a:pt x="430148" y="228346"/>
                    </a:lnTo>
                    <a:lnTo>
                      <a:pt x="451992" y="337185"/>
                    </a:lnTo>
                    <a:lnTo>
                      <a:pt x="445896" y="353187"/>
                    </a:lnTo>
                    <a:lnTo>
                      <a:pt x="420623" y="362330"/>
                    </a:lnTo>
                    <a:lnTo>
                      <a:pt x="424814" y="387603"/>
                    </a:lnTo>
                    <a:lnTo>
                      <a:pt x="408304" y="397637"/>
                    </a:lnTo>
                    <a:lnTo>
                      <a:pt x="421639" y="407797"/>
                    </a:lnTo>
                    <a:lnTo>
                      <a:pt x="439927" y="400176"/>
                    </a:lnTo>
                    <a:lnTo>
                      <a:pt x="456564" y="421259"/>
                    </a:lnTo>
                    <a:lnTo>
                      <a:pt x="475869" y="407542"/>
                    </a:lnTo>
                    <a:lnTo>
                      <a:pt x="504825" y="444626"/>
                    </a:lnTo>
                    <a:lnTo>
                      <a:pt x="503427" y="481075"/>
                    </a:lnTo>
                    <a:lnTo>
                      <a:pt x="472694" y="536321"/>
                    </a:lnTo>
                    <a:lnTo>
                      <a:pt x="424433" y="532129"/>
                    </a:lnTo>
                    <a:lnTo>
                      <a:pt x="399160" y="548639"/>
                    </a:lnTo>
                    <a:lnTo>
                      <a:pt x="398779" y="498601"/>
                    </a:lnTo>
                    <a:lnTo>
                      <a:pt x="388238" y="456946"/>
                    </a:lnTo>
                    <a:lnTo>
                      <a:pt x="361822" y="486410"/>
                    </a:lnTo>
                    <a:lnTo>
                      <a:pt x="328294" y="500125"/>
                    </a:lnTo>
                    <a:lnTo>
                      <a:pt x="312419" y="472566"/>
                    </a:lnTo>
                    <a:lnTo>
                      <a:pt x="277240" y="481711"/>
                    </a:lnTo>
                    <a:lnTo>
                      <a:pt x="260603" y="522859"/>
                    </a:lnTo>
                    <a:lnTo>
                      <a:pt x="234950" y="517016"/>
                    </a:lnTo>
                    <a:lnTo>
                      <a:pt x="243458" y="471042"/>
                    </a:lnTo>
                    <a:lnTo>
                      <a:pt x="222250" y="429640"/>
                    </a:lnTo>
                    <a:lnTo>
                      <a:pt x="170814" y="397383"/>
                    </a:lnTo>
                    <a:lnTo>
                      <a:pt x="175006" y="334517"/>
                    </a:lnTo>
                    <a:lnTo>
                      <a:pt x="153542" y="310514"/>
                    </a:lnTo>
                    <a:lnTo>
                      <a:pt x="154939" y="270001"/>
                    </a:lnTo>
                    <a:lnTo>
                      <a:pt x="108203" y="277367"/>
                    </a:lnTo>
                    <a:lnTo>
                      <a:pt x="22225" y="268224"/>
                    </a:lnTo>
                    <a:lnTo>
                      <a:pt x="21081" y="219455"/>
                    </a:lnTo>
                    <a:lnTo>
                      <a:pt x="0" y="191515"/>
                    </a:lnTo>
                    <a:lnTo>
                      <a:pt x="11683" y="166624"/>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54" name="object 196">
                <a:extLst>
                  <a:ext uri="{FF2B5EF4-FFF2-40B4-BE49-F238E27FC236}">
                    <a16:creationId xmlns:a16="http://schemas.microsoft.com/office/drawing/2014/main" id="{48063605-B244-40DF-B6A1-FA71BCFA0E56}"/>
                  </a:ext>
                </a:extLst>
              </p:cNvPr>
              <p:cNvSpPr/>
              <p:nvPr/>
            </p:nvSpPr>
            <p:spPr>
              <a:xfrm>
                <a:off x="1882140" y="5241036"/>
                <a:ext cx="793242" cy="930402"/>
              </a:xfrm>
              <a:prstGeom prst="rect">
                <a:avLst/>
              </a:prstGeom>
              <a:blipFill>
                <a:blip r:embed="rId21"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55" name="object 197">
                <a:extLst>
                  <a:ext uri="{FF2B5EF4-FFF2-40B4-BE49-F238E27FC236}">
                    <a16:creationId xmlns:a16="http://schemas.microsoft.com/office/drawing/2014/main" id="{DE014016-0D71-4A0E-A438-1803D7CDD67D}"/>
                  </a:ext>
                </a:extLst>
              </p:cNvPr>
              <p:cNvSpPr/>
              <p:nvPr/>
            </p:nvSpPr>
            <p:spPr>
              <a:xfrm>
                <a:off x="1900428" y="5221224"/>
                <a:ext cx="783590" cy="920750"/>
              </a:xfrm>
              <a:custGeom>
                <a:avLst/>
                <a:gdLst/>
                <a:ahLst/>
                <a:cxnLst/>
                <a:rect l="l" t="t" r="r" b="b"/>
                <a:pathLst>
                  <a:path w="783589" h="920750">
                    <a:moveTo>
                      <a:pt x="747014" y="0"/>
                    </a:moveTo>
                    <a:lnTo>
                      <a:pt x="698627" y="39878"/>
                    </a:lnTo>
                    <a:lnTo>
                      <a:pt x="635000" y="36703"/>
                    </a:lnTo>
                    <a:lnTo>
                      <a:pt x="578485" y="82041"/>
                    </a:lnTo>
                    <a:lnTo>
                      <a:pt x="524510" y="85725"/>
                    </a:lnTo>
                    <a:lnTo>
                      <a:pt x="478536" y="81153"/>
                    </a:lnTo>
                    <a:lnTo>
                      <a:pt x="425577" y="151637"/>
                    </a:lnTo>
                    <a:lnTo>
                      <a:pt x="393827" y="150113"/>
                    </a:lnTo>
                    <a:lnTo>
                      <a:pt x="389890" y="128904"/>
                    </a:lnTo>
                    <a:lnTo>
                      <a:pt x="335534" y="124078"/>
                    </a:lnTo>
                    <a:lnTo>
                      <a:pt x="303784" y="110235"/>
                    </a:lnTo>
                    <a:lnTo>
                      <a:pt x="293116" y="142494"/>
                    </a:lnTo>
                    <a:lnTo>
                      <a:pt x="256032" y="168528"/>
                    </a:lnTo>
                    <a:lnTo>
                      <a:pt x="266700" y="200659"/>
                    </a:lnTo>
                    <a:lnTo>
                      <a:pt x="243713" y="225170"/>
                    </a:lnTo>
                    <a:lnTo>
                      <a:pt x="317881" y="246634"/>
                    </a:lnTo>
                    <a:lnTo>
                      <a:pt x="224282" y="298703"/>
                    </a:lnTo>
                    <a:lnTo>
                      <a:pt x="139446" y="297179"/>
                    </a:lnTo>
                    <a:lnTo>
                      <a:pt x="95377" y="326263"/>
                    </a:lnTo>
                    <a:lnTo>
                      <a:pt x="37084" y="316991"/>
                    </a:lnTo>
                    <a:lnTo>
                      <a:pt x="0" y="343026"/>
                    </a:lnTo>
                    <a:lnTo>
                      <a:pt x="42418" y="370649"/>
                    </a:lnTo>
                    <a:lnTo>
                      <a:pt x="42418" y="402805"/>
                    </a:lnTo>
                    <a:lnTo>
                      <a:pt x="75946" y="399745"/>
                    </a:lnTo>
                    <a:lnTo>
                      <a:pt x="97155" y="427316"/>
                    </a:lnTo>
                    <a:lnTo>
                      <a:pt x="74168" y="445693"/>
                    </a:lnTo>
                    <a:lnTo>
                      <a:pt x="121793" y="478167"/>
                    </a:lnTo>
                    <a:lnTo>
                      <a:pt x="100711" y="504202"/>
                    </a:lnTo>
                    <a:lnTo>
                      <a:pt x="107696" y="560870"/>
                    </a:lnTo>
                    <a:lnTo>
                      <a:pt x="132461" y="568528"/>
                    </a:lnTo>
                    <a:lnTo>
                      <a:pt x="174879" y="550151"/>
                    </a:lnTo>
                    <a:lnTo>
                      <a:pt x="190754" y="579247"/>
                    </a:lnTo>
                    <a:lnTo>
                      <a:pt x="180086" y="606818"/>
                    </a:lnTo>
                    <a:lnTo>
                      <a:pt x="187198" y="646645"/>
                    </a:lnTo>
                    <a:lnTo>
                      <a:pt x="158877" y="663486"/>
                    </a:lnTo>
                    <a:lnTo>
                      <a:pt x="192532" y="671144"/>
                    </a:lnTo>
                    <a:lnTo>
                      <a:pt x="222504" y="692594"/>
                    </a:lnTo>
                    <a:lnTo>
                      <a:pt x="165989" y="766114"/>
                    </a:lnTo>
                    <a:lnTo>
                      <a:pt x="174879" y="798576"/>
                    </a:lnTo>
                    <a:lnTo>
                      <a:pt x="169926" y="825538"/>
                    </a:lnTo>
                    <a:lnTo>
                      <a:pt x="181483" y="857694"/>
                    </a:lnTo>
                    <a:lnTo>
                      <a:pt x="164211" y="904570"/>
                    </a:lnTo>
                    <a:lnTo>
                      <a:pt x="198501" y="916825"/>
                    </a:lnTo>
                    <a:lnTo>
                      <a:pt x="236601" y="920495"/>
                    </a:lnTo>
                    <a:lnTo>
                      <a:pt x="264922" y="899668"/>
                    </a:lnTo>
                    <a:lnTo>
                      <a:pt x="328422" y="867803"/>
                    </a:lnTo>
                    <a:lnTo>
                      <a:pt x="356743" y="841159"/>
                    </a:lnTo>
                    <a:lnTo>
                      <a:pt x="362331" y="806234"/>
                    </a:lnTo>
                    <a:lnTo>
                      <a:pt x="359537" y="778357"/>
                    </a:lnTo>
                    <a:lnTo>
                      <a:pt x="383540" y="753859"/>
                    </a:lnTo>
                    <a:lnTo>
                      <a:pt x="418846" y="735482"/>
                    </a:lnTo>
                    <a:lnTo>
                      <a:pt x="471170" y="719543"/>
                    </a:lnTo>
                    <a:lnTo>
                      <a:pt x="544576" y="713422"/>
                    </a:lnTo>
                    <a:lnTo>
                      <a:pt x="529082" y="701166"/>
                    </a:lnTo>
                    <a:lnTo>
                      <a:pt x="502158" y="675436"/>
                    </a:lnTo>
                    <a:lnTo>
                      <a:pt x="524764" y="639902"/>
                    </a:lnTo>
                    <a:lnTo>
                      <a:pt x="548767" y="606818"/>
                    </a:lnTo>
                    <a:lnTo>
                      <a:pt x="582676" y="570064"/>
                    </a:lnTo>
                    <a:lnTo>
                      <a:pt x="593979" y="536981"/>
                    </a:lnTo>
                    <a:lnTo>
                      <a:pt x="639191" y="533311"/>
                    </a:lnTo>
                    <a:lnTo>
                      <a:pt x="688721" y="549236"/>
                    </a:lnTo>
                    <a:lnTo>
                      <a:pt x="694309" y="513702"/>
                    </a:lnTo>
                    <a:lnTo>
                      <a:pt x="695706" y="450291"/>
                    </a:lnTo>
                    <a:lnTo>
                      <a:pt x="671703" y="441413"/>
                    </a:lnTo>
                    <a:lnTo>
                      <a:pt x="650494" y="427926"/>
                    </a:lnTo>
                    <a:lnTo>
                      <a:pt x="661797" y="414451"/>
                    </a:lnTo>
                    <a:lnTo>
                      <a:pt x="691515" y="413232"/>
                    </a:lnTo>
                    <a:lnTo>
                      <a:pt x="690118" y="385051"/>
                    </a:lnTo>
                    <a:lnTo>
                      <a:pt x="679831" y="347725"/>
                    </a:lnTo>
                    <a:lnTo>
                      <a:pt x="668528" y="289432"/>
                    </a:lnTo>
                    <a:lnTo>
                      <a:pt x="654812" y="288544"/>
                    </a:lnTo>
                    <a:lnTo>
                      <a:pt x="643128" y="281178"/>
                    </a:lnTo>
                    <a:lnTo>
                      <a:pt x="637794" y="267462"/>
                    </a:lnTo>
                    <a:lnTo>
                      <a:pt x="646303" y="255523"/>
                    </a:lnTo>
                    <a:lnTo>
                      <a:pt x="650494" y="242569"/>
                    </a:lnTo>
                    <a:lnTo>
                      <a:pt x="666496" y="247141"/>
                    </a:lnTo>
                    <a:lnTo>
                      <a:pt x="682371" y="258190"/>
                    </a:lnTo>
                    <a:lnTo>
                      <a:pt x="687578" y="229742"/>
                    </a:lnTo>
                    <a:lnTo>
                      <a:pt x="743458" y="197612"/>
                    </a:lnTo>
                    <a:lnTo>
                      <a:pt x="755142" y="148589"/>
                    </a:lnTo>
                    <a:lnTo>
                      <a:pt x="773430" y="98297"/>
                    </a:lnTo>
                    <a:lnTo>
                      <a:pt x="783336" y="49275"/>
                    </a:lnTo>
                    <a:lnTo>
                      <a:pt x="770636" y="13842"/>
                    </a:lnTo>
                    <a:lnTo>
                      <a:pt x="747014" y="0"/>
                    </a:lnTo>
                    <a:close/>
                  </a:path>
                </a:pathLst>
              </a:custGeom>
              <a:solidFill>
                <a:srgbClr val="F4B083"/>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56" name="object 198">
                <a:extLst>
                  <a:ext uri="{FF2B5EF4-FFF2-40B4-BE49-F238E27FC236}">
                    <a16:creationId xmlns:a16="http://schemas.microsoft.com/office/drawing/2014/main" id="{3B1363F3-2F87-4E22-800E-91E1C33B59F3}"/>
                  </a:ext>
                </a:extLst>
              </p:cNvPr>
              <p:cNvSpPr/>
              <p:nvPr/>
            </p:nvSpPr>
            <p:spPr>
              <a:xfrm>
                <a:off x="1900428" y="5221224"/>
                <a:ext cx="783590" cy="920750"/>
              </a:xfrm>
              <a:custGeom>
                <a:avLst/>
                <a:gdLst/>
                <a:ahLst/>
                <a:cxnLst/>
                <a:rect l="l" t="t" r="r" b="b"/>
                <a:pathLst>
                  <a:path w="783589" h="920750">
                    <a:moveTo>
                      <a:pt x="0" y="343026"/>
                    </a:moveTo>
                    <a:lnTo>
                      <a:pt x="42418" y="370649"/>
                    </a:lnTo>
                    <a:lnTo>
                      <a:pt x="42418" y="402805"/>
                    </a:lnTo>
                    <a:lnTo>
                      <a:pt x="75946" y="399745"/>
                    </a:lnTo>
                    <a:lnTo>
                      <a:pt x="97155" y="427316"/>
                    </a:lnTo>
                    <a:lnTo>
                      <a:pt x="74168" y="445693"/>
                    </a:lnTo>
                    <a:lnTo>
                      <a:pt x="121793" y="478167"/>
                    </a:lnTo>
                    <a:lnTo>
                      <a:pt x="100711" y="504202"/>
                    </a:lnTo>
                    <a:lnTo>
                      <a:pt x="107696" y="560870"/>
                    </a:lnTo>
                    <a:lnTo>
                      <a:pt x="132461" y="568528"/>
                    </a:lnTo>
                    <a:lnTo>
                      <a:pt x="174879" y="550151"/>
                    </a:lnTo>
                    <a:lnTo>
                      <a:pt x="190754" y="579247"/>
                    </a:lnTo>
                    <a:lnTo>
                      <a:pt x="180086" y="606818"/>
                    </a:lnTo>
                    <a:lnTo>
                      <a:pt x="187198" y="646645"/>
                    </a:lnTo>
                    <a:lnTo>
                      <a:pt x="158877" y="663486"/>
                    </a:lnTo>
                    <a:lnTo>
                      <a:pt x="192532" y="671144"/>
                    </a:lnTo>
                    <a:lnTo>
                      <a:pt x="222504" y="692594"/>
                    </a:lnTo>
                    <a:lnTo>
                      <a:pt x="201295" y="720166"/>
                    </a:lnTo>
                    <a:lnTo>
                      <a:pt x="165989" y="766114"/>
                    </a:lnTo>
                    <a:lnTo>
                      <a:pt x="174879" y="798576"/>
                    </a:lnTo>
                    <a:lnTo>
                      <a:pt x="169926" y="825538"/>
                    </a:lnTo>
                    <a:lnTo>
                      <a:pt x="181483" y="857694"/>
                    </a:lnTo>
                    <a:lnTo>
                      <a:pt x="164211" y="904570"/>
                    </a:lnTo>
                    <a:lnTo>
                      <a:pt x="198501" y="916825"/>
                    </a:lnTo>
                    <a:lnTo>
                      <a:pt x="236601" y="920495"/>
                    </a:lnTo>
                    <a:lnTo>
                      <a:pt x="264922" y="899668"/>
                    </a:lnTo>
                    <a:lnTo>
                      <a:pt x="328422" y="867803"/>
                    </a:lnTo>
                    <a:lnTo>
                      <a:pt x="356743" y="841159"/>
                    </a:lnTo>
                    <a:lnTo>
                      <a:pt x="362331" y="806234"/>
                    </a:lnTo>
                    <a:lnTo>
                      <a:pt x="359537" y="778357"/>
                    </a:lnTo>
                    <a:lnTo>
                      <a:pt x="383540" y="753859"/>
                    </a:lnTo>
                    <a:lnTo>
                      <a:pt x="418846" y="735482"/>
                    </a:lnTo>
                    <a:lnTo>
                      <a:pt x="471170" y="719543"/>
                    </a:lnTo>
                    <a:lnTo>
                      <a:pt x="544576" y="713422"/>
                    </a:lnTo>
                    <a:lnTo>
                      <a:pt x="529082" y="701166"/>
                    </a:lnTo>
                    <a:lnTo>
                      <a:pt x="502158" y="675436"/>
                    </a:lnTo>
                    <a:lnTo>
                      <a:pt x="524764" y="639902"/>
                    </a:lnTo>
                    <a:lnTo>
                      <a:pt x="548767" y="606818"/>
                    </a:lnTo>
                    <a:lnTo>
                      <a:pt x="582676" y="570064"/>
                    </a:lnTo>
                    <a:lnTo>
                      <a:pt x="593979" y="536981"/>
                    </a:lnTo>
                    <a:lnTo>
                      <a:pt x="639191" y="533311"/>
                    </a:lnTo>
                    <a:lnTo>
                      <a:pt x="688721" y="549236"/>
                    </a:lnTo>
                    <a:lnTo>
                      <a:pt x="694309" y="513702"/>
                    </a:lnTo>
                    <a:lnTo>
                      <a:pt x="695706" y="450291"/>
                    </a:lnTo>
                    <a:lnTo>
                      <a:pt x="671703" y="441413"/>
                    </a:lnTo>
                    <a:lnTo>
                      <a:pt x="650494" y="427926"/>
                    </a:lnTo>
                    <a:lnTo>
                      <a:pt x="661797" y="414451"/>
                    </a:lnTo>
                    <a:lnTo>
                      <a:pt x="691515" y="413232"/>
                    </a:lnTo>
                    <a:lnTo>
                      <a:pt x="690118" y="385051"/>
                    </a:lnTo>
                    <a:lnTo>
                      <a:pt x="679831" y="347725"/>
                    </a:lnTo>
                    <a:lnTo>
                      <a:pt x="668528" y="289432"/>
                    </a:lnTo>
                    <a:lnTo>
                      <a:pt x="654812" y="288544"/>
                    </a:lnTo>
                    <a:lnTo>
                      <a:pt x="643128" y="281178"/>
                    </a:lnTo>
                    <a:lnTo>
                      <a:pt x="637794" y="267462"/>
                    </a:lnTo>
                    <a:lnTo>
                      <a:pt x="646303" y="255523"/>
                    </a:lnTo>
                    <a:lnTo>
                      <a:pt x="650494" y="242569"/>
                    </a:lnTo>
                    <a:lnTo>
                      <a:pt x="666496" y="247141"/>
                    </a:lnTo>
                    <a:lnTo>
                      <a:pt x="682371" y="258190"/>
                    </a:lnTo>
                    <a:lnTo>
                      <a:pt x="687578" y="229742"/>
                    </a:lnTo>
                    <a:lnTo>
                      <a:pt x="743458" y="197612"/>
                    </a:lnTo>
                    <a:lnTo>
                      <a:pt x="755142" y="148589"/>
                    </a:lnTo>
                    <a:lnTo>
                      <a:pt x="773430" y="98297"/>
                    </a:lnTo>
                    <a:lnTo>
                      <a:pt x="783336" y="49275"/>
                    </a:lnTo>
                    <a:lnTo>
                      <a:pt x="770636" y="13842"/>
                    </a:lnTo>
                    <a:lnTo>
                      <a:pt x="747014" y="0"/>
                    </a:lnTo>
                    <a:lnTo>
                      <a:pt x="698627" y="39878"/>
                    </a:lnTo>
                    <a:lnTo>
                      <a:pt x="635000" y="36703"/>
                    </a:lnTo>
                    <a:lnTo>
                      <a:pt x="578485" y="82041"/>
                    </a:lnTo>
                    <a:lnTo>
                      <a:pt x="524510" y="85725"/>
                    </a:lnTo>
                    <a:lnTo>
                      <a:pt x="478536" y="81153"/>
                    </a:lnTo>
                    <a:lnTo>
                      <a:pt x="425577" y="151637"/>
                    </a:lnTo>
                    <a:lnTo>
                      <a:pt x="393827" y="150113"/>
                    </a:lnTo>
                    <a:lnTo>
                      <a:pt x="389890" y="128904"/>
                    </a:lnTo>
                    <a:lnTo>
                      <a:pt x="335534" y="124078"/>
                    </a:lnTo>
                    <a:lnTo>
                      <a:pt x="303784" y="110235"/>
                    </a:lnTo>
                    <a:lnTo>
                      <a:pt x="293116" y="142494"/>
                    </a:lnTo>
                    <a:lnTo>
                      <a:pt x="256032" y="168528"/>
                    </a:lnTo>
                    <a:lnTo>
                      <a:pt x="266700" y="200659"/>
                    </a:lnTo>
                    <a:lnTo>
                      <a:pt x="243713" y="225170"/>
                    </a:lnTo>
                    <a:lnTo>
                      <a:pt x="317881" y="246634"/>
                    </a:lnTo>
                    <a:lnTo>
                      <a:pt x="224282" y="298703"/>
                    </a:lnTo>
                    <a:lnTo>
                      <a:pt x="139446" y="297179"/>
                    </a:lnTo>
                    <a:lnTo>
                      <a:pt x="95377" y="326263"/>
                    </a:lnTo>
                    <a:lnTo>
                      <a:pt x="37084" y="316991"/>
                    </a:lnTo>
                    <a:lnTo>
                      <a:pt x="0" y="343026"/>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57" name="object 199">
                <a:extLst>
                  <a:ext uri="{FF2B5EF4-FFF2-40B4-BE49-F238E27FC236}">
                    <a16:creationId xmlns:a16="http://schemas.microsoft.com/office/drawing/2014/main" id="{4EB5B5EF-85B7-4E55-9228-AFF555203D4E}"/>
                  </a:ext>
                </a:extLst>
              </p:cNvPr>
              <p:cNvSpPr/>
              <p:nvPr/>
            </p:nvSpPr>
            <p:spPr>
              <a:xfrm>
                <a:off x="1633728" y="5367527"/>
                <a:ext cx="480834" cy="787146"/>
              </a:xfrm>
              <a:prstGeom prst="rect">
                <a:avLst/>
              </a:prstGeom>
              <a:blipFill>
                <a:blip r:embed="rId22"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58" name="object 200">
                <a:extLst>
                  <a:ext uri="{FF2B5EF4-FFF2-40B4-BE49-F238E27FC236}">
                    <a16:creationId xmlns:a16="http://schemas.microsoft.com/office/drawing/2014/main" id="{223BCADF-CD65-4339-8E6E-67B4FE8D3F3D}"/>
                  </a:ext>
                </a:extLst>
              </p:cNvPr>
              <p:cNvSpPr/>
              <p:nvPr/>
            </p:nvSpPr>
            <p:spPr>
              <a:xfrm>
                <a:off x="1652015" y="5347716"/>
                <a:ext cx="471170" cy="777240"/>
              </a:xfrm>
              <a:custGeom>
                <a:avLst/>
                <a:gdLst/>
                <a:ahLst/>
                <a:cxnLst/>
                <a:rect l="l" t="t" r="r" b="b"/>
                <a:pathLst>
                  <a:path w="471169" h="777239">
                    <a:moveTo>
                      <a:pt x="0" y="0"/>
                    </a:moveTo>
                    <a:lnTo>
                      <a:pt x="47625" y="119888"/>
                    </a:lnTo>
                    <a:lnTo>
                      <a:pt x="96265" y="150876"/>
                    </a:lnTo>
                    <a:lnTo>
                      <a:pt x="106044" y="146558"/>
                    </a:lnTo>
                    <a:lnTo>
                      <a:pt x="117347" y="149352"/>
                    </a:lnTo>
                    <a:lnTo>
                      <a:pt x="119506" y="162814"/>
                    </a:lnTo>
                    <a:lnTo>
                      <a:pt x="106044" y="167767"/>
                    </a:lnTo>
                    <a:lnTo>
                      <a:pt x="112775" y="194691"/>
                    </a:lnTo>
                    <a:lnTo>
                      <a:pt x="160019" y="263677"/>
                    </a:lnTo>
                    <a:lnTo>
                      <a:pt x="179704" y="351066"/>
                    </a:lnTo>
                    <a:lnTo>
                      <a:pt x="240791" y="457149"/>
                    </a:lnTo>
                    <a:lnTo>
                      <a:pt x="249173" y="511416"/>
                    </a:lnTo>
                    <a:lnTo>
                      <a:pt x="270001" y="549744"/>
                    </a:lnTo>
                    <a:lnTo>
                      <a:pt x="261238" y="576719"/>
                    </a:lnTo>
                    <a:lnTo>
                      <a:pt x="303529" y="668401"/>
                    </a:lnTo>
                    <a:lnTo>
                      <a:pt x="340486" y="723582"/>
                    </a:lnTo>
                    <a:lnTo>
                      <a:pt x="345820" y="745045"/>
                    </a:lnTo>
                    <a:lnTo>
                      <a:pt x="412750" y="777240"/>
                    </a:lnTo>
                    <a:lnTo>
                      <a:pt x="430402" y="731253"/>
                    </a:lnTo>
                    <a:lnTo>
                      <a:pt x="418083" y="699058"/>
                    </a:lnTo>
                    <a:lnTo>
                      <a:pt x="423290" y="671461"/>
                    </a:lnTo>
                    <a:lnTo>
                      <a:pt x="414527" y="639267"/>
                    </a:lnTo>
                    <a:lnTo>
                      <a:pt x="470915" y="565683"/>
                    </a:lnTo>
                    <a:lnTo>
                      <a:pt x="441325" y="544525"/>
                    </a:lnTo>
                    <a:lnTo>
                      <a:pt x="406781" y="537171"/>
                    </a:lnTo>
                    <a:lnTo>
                      <a:pt x="435609" y="520001"/>
                    </a:lnTo>
                    <a:lnTo>
                      <a:pt x="428625" y="481063"/>
                    </a:lnTo>
                    <a:lnTo>
                      <a:pt x="439165" y="452234"/>
                    </a:lnTo>
                    <a:lnTo>
                      <a:pt x="423290" y="423113"/>
                    </a:lnTo>
                    <a:lnTo>
                      <a:pt x="381000" y="441502"/>
                    </a:lnTo>
                    <a:lnTo>
                      <a:pt x="357123" y="434759"/>
                    </a:lnTo>
                    <a:lnTo>
                      <a:pt x="349631" y="377736"/>
                    </a:lnTo>
                    <a:lnTo>
                      <a:pt x="370839" y="351370"/>
                    </a:lnTo>
                    <a:lnTo>
                      <a:pt x="323214" y="318871"/>
                    </a:lnTo>
                    <a:lnTo>
                      <a:pt x="345820" y="300469"/>
                    </a:lnTo>
                    <a:lnTo>
                      <a:pt x="324231" y="272872"/>
                    </a:lnTo>
                    <a:lnTo>
                      <a:pt x="290448" y="275640"/>
                    </a:lnTo>
                    <a:lnTo>
                      <a:pt x="291464" y="243446"/>
                    </a:lnTo>
                    <a:lnTo>
                      <a:pt x="249173" y="215900"/>
                    </a:lnTo>
                    <a:lnTo>
                      <a:pt x="284860" y="190754"/>
                    </a:lnTo>
                    <a:lnTo>
                      <a:pt x="229107" y="144399"/>
                    </a:lnTo>
                    <a:lnTo>
                      <a:pt x="190753" y="135509"/>
                    </a:lnTo>
                    <a:lnTo>
                      <a:pt x="95122" y="78232"/>
                    </a:lnTo>
                    <a:lnTo>
                      <a:pt x="48640" y="14986"/>
                    </a:lnTo>
                    <a:lnTo>
                      <a:pt x="0" y="0"/>
                    </a:lnTo>
                    <a:close/>
                  </a:path>
                </a:pathLst>
              </a:custGeom>
              <a:solidFill>
                <a:srgbClr val="FFD966"/>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59" name="object 201">
                <a:extLst>
                  <a:ext uri="{FF2B5EF4-FFF2-40B4-BE49-F238E27FC236}">
                    <a16:creationId xmlns:a16="http://schemas.microsoft.com/office/drawing/2014/main" id="{757377B5-48B8-46C3-9C03-12EFEF06548C}"/>
                  </a:ext>
                </a:extLst>
              </p:cNvPr>
              <p:cNvSpPr/>
              <p:nvPr/>
            </p:nvSpPr>
            <p:spPr>
              <a:xfrm>
                <a:off x="1652015" y="5347716"/>
                <a:ext cx="471170" cy="777240"/>
              </a:xfrm>
              <a:custGeom>
                <a:avLst/>
                <a:gdLst/>
                <a:ahLst/>
                <a:cxnLst/>
                <a:rect l="l" t="t" r="r" b="b"/>
                <a:pathLst>
                  <a:path w="471169" h="777239">
                    <a:moveTo>
                      <a:pt x="0" y="0"/>
                    </a:moveTo>
                    <a:lnTo>
                      <a:pt x="47625" y="119888"/>
                    </a:lnTo>
                    <a:lnTo>
                      <a:pt x="79247" y="140081"/>
                    </a:lnTo>
                    <a:lnTo>
                      <a:pt x="96265" y="150876"/>
                    </a:lnTo>
                    <a:lnTo>
                      <a:pt x="106044" y="146558"/>
                    </a:lnTo>
                    <a:lnTo>
                      <a:pt x="117347" y="149352"/>
                    </a:lnTo>
                    <a:lnTo>
                      <a:pt x="119506" y="162814"/>
                    </a:lnTo>
                    <a:lnTo>
                      <a:pt x="106044" y="167767"/>
                    </a:lnTo>
                    <a:lnTo>
                      <a:pt x="112775" y="194691"/>
                    </a:lnTo>
                    <a:lnTo>
                      <a:pt x="160019" y="263677"/>
                    </a:lnTo>
                    <a:lnTo>
                      <a:pt x="179704" y="351066"/>
                    </a:lnTo>
                    <a:lnTo>
                      <a:pt x="240791" y="457149"/>
                    </a:lnTo>
                    <a:lnTo>
                      <a:pt x="249173" y="511416"/>
                    </a:lnTo>
                    <a:lnTo>
                      <a:pt x="270001" y="549744"/>
                    </a:lnTo>
                    <a:lnTo>
                      <a:pt x="261238" y="576719"/>
                    </a:lnTo>
                    <a:lnTo>
                      <a:pt x="303529" y="668401"/>
                    </a:lnTo>
                    <a:lnTo>
                      <a:pt x="340486" y="723582"/>
                    </a:lnTo>
                    <a:lnTo>
                      <a:pt x="345820" y="745045"/>
                    </a:lnTo>
                    <a:lnTo>
                      <a:pt x="412750" y="777240"/>
                    </a:lnTo>
                    <a:lnTo>
                      <a:pt x="430402" y="731253"/>
                    </a:lnTo>
                    <a:lnTo>
                      <a:pt x="418083" y="699058"/>
                    </a:lnTo>
                    <a:lnTo>
                      <a:pt x="423290" y="671461"/>
                    </a:lnTo>
                    <a:lnTo>
                      <a:pt x="414527" y="639267"/>
                    </a:lnTo>
                    <a:lnTo>
                      <a:pt x="470915" y="565683"/>
                    </a:lnTo>
                    <a:lnTo>
                      <a:pt x="441325" y="544525"/>
                    </a:lnTo>
                    <a:lnTo>
                      <a:pt x="406781" y="537171"/>
                    </a:lnTo>
                    <a:lnTo>
                      <a:pt x="435609" y="520001"/>
                    </a:lnTo>
                    <a:lnTo>
                      <a:pt x="428625" y="481063"/>
                    </a:lnTo>
                    <a:lnTo>
                      <a:pt x="439165" y="452234"/>
                    </a:lnTo>
                    <a:lnTo>
                      <a:pt x="423290" y="423113"/>
                    </a:lnTo>
                    <a:lnTo>
                      <a:pt x="381000" y="441502"/>
                    </a:lnTo>
                    <a:lnTo>
                      <a:pt x="357123" y="434759"/>
                    </a:lnTo>
                    <a:lnTo>
                      <a:pt x="349631" y="377736"/>
                    </a:lnTo>
                    <a:lnTo>
                      <a:pt x="370839" y="351370"/>
                    </a:lnTo>
                    <a:lnTo>
                      <a:pt x="323214" y="318871"/>
                    </a:lnTo>
                    <a:lnTo>
                      <a:pt x="345820" y="300469"/>
                    </a:lnTo>
                    <a:lnTo>
                      <a:pt x="324231" y="272872"/>
                    </a:lnTo>
                    <a:lnTo>
                      <a:pt x="290448" y="275640"/>
                    </a:lnTo>
                    <a:lnTo>
                      <a:pt x="291464" y="243446"/>
                    </a:lnTo>
                    <a:lnTo>
                      <a:pt x="249173" y="215900"/>
                    </a:lnTo>
                    <a:lnTo>
                      <a:pt x="284860" y="190754"/>
                    </a:lnTo>
                    <a:lnTo>
                      <a:pt x="229107" y="144399"/>
                    </a:lnTo>
                    <a:lnTo>
                      <a:pt x="190753" y="135509"/>
                    </a:lnTo>
                    <a:lnTo>
                      <a:pt x="95122" y="78232"/>
                    </a:lnTo>
                    <a:lnTo>
                      <a:pt x="48640" y="14986"/>
                    </a:lnTo>
                    <a:lnTo>
                      <a:pt x="0" y="0"/>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60" name="object 202">
                <a:extLst>
                  <a:ext uri="{FF2B5EF4-FFF2-40B4-BE49-F238E27FC236}">
                    <a16:creationId xmlns:a16="http://schemas.microsoft.com/office/drawing/2014/main" id="{47F6588F-EADF-4DBF-B2BB-EDAD600DD228}"/>
                  </a:ext>
                </a:extLst>
              </p:cNvPr>
              <p:cNvSpPr/>
              <p:nvPr/>
            </p:nvSpPr>
            <p:spPr>
              <a:xfrm>
                <a:off x="1889760" y="1944636"/>
                <a:ext cx="566165" cy="497573"/>
              </a:xfrm>
              <a:prstGeom prst="rect">
                <a:avLst/>
              </a:prstGeom>
              <a:blipFill>
                <a:blip r:embed="rId23"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61" name="object 203">
                <a:extLst>
                  <a:ext uri="{FF2B5EF4-FFF2-40B4-BE49-F238E27FC236}">
                    <a16:creationId xmlns:a16="http://schemas.microsoft.com/office/drawing/2014/main" id="{2079C7CE-DB3C-482D-BD0B-441059A0160C}"/>
                  </a:ext>
                </a:extLst>
              </p:cNvPr>
              <p:cNvSpPr/>
              <p:nvPr/>
            </p:nvSpPr>
            <p:spPr>
              <a:xfrm>
                <a:off x="1908047" y="1924812"/>
                <a:ext cx="556260" cy="487680"/>
              </a:xfrm>
              <a:custGeom>
                <a:avLst/>
                <a:gdLst/>
                <a:ahLst/>
                <a:cxnLst/>
                <a:rect l="l" t="t" r="r" b="b"/>
                <a:pathLst>
                  <a:path w="556260" h="487680">
                    <a:moveTo>
                      <a:pt x="152272" y="0"/>
                    </a:moveTo>
                    <a:lnTo>
                      <a:pt x="100964" y="21462"/>
                    </a:lnTo>
                    <a:lnTo>
                      <a:pt x="69214" y="56768"/>
                    </a:lnTo>
                    <a:lnTo>
                      <a:pt x="37464" y="56768"/>
                    </a:lnTo>
                    <a:lnTo>
                      <a:pt x="44450" y="80645"/>
                    </a:lnTo>
                    <a:lnTo>
                      <a:pt x="27177" y="117728"/>
                    </a:lnTo>
                    <a:lnTo>
                      <a:pt x="46227" y="141350"/>
                    </a:lnTo>
                    <a:lnTo>
                      <a:pt x="15493" y="163322"/>
                    </a:lnTo>
                    <a:lnTo>
                      <a:pt x="0" y="189991"/>
                    </a:lnTo>
                    <a:lnTo>
                      <a:pt x="36068" y="214884"/>
                    </a:lnTo>
                    <a:lnTo>
                      <a:pt x="63881" y="274065"/>
                    </a:lnTo>
                    <a:lnTo>
                      <a:pt x="91439" y="301625"/>
                    </a:lnTo>
                    <a:lnTo>
                      <a:pt x="126110" y="296163"/>
                    </a:lnTo>
                    <a:lnTo>
                      <a:pt x="143382" y="312292"/>
                    </a:lnTo>
                    <a:lnTo>
                      <a:pt x="162051" y="316991"/>
                    </a:lnTo>
                    <a:lnTo>
                      <a:pt x="175132" y="359283"/>
                    </a:lnTo>
                    <a:lnTo>
                      <a:pt x="181482" y="361950"/>
                    </a:lnTo>
                    <a:lnTo>
                      <a:pt x="181228" y="367538"/>
                    </a:lnTo>
                    <a:lnTo>
                      <a:pt x="188975" y="364743"/>
                    </a:lnTo>
                    <a:lnTo>
                      <a:pt x="189991" y="370586"/>
                    </a:lnTo>
                    <a:lnTo>
                      <a:pt x="195960" y="375158"/>
                    </a:lnTo>
                    <a:lnTo>
                      <a:pt x="198500" y="382524"/>
                    </a:lnTo>
                    <a:lnTo>
                      <a:pt x="204850" y="382524"/>
                    </a:lnTo>
                    <a:lnTo>
                      <a:pt x="216534" y="393573"/>
                    </a:lnTo>
                    <a:lnTo>
                      <a:pt x="263778" y="427354"/>
                    </a:lnTo>
                    <a:lnTo>
                      <a:pt x="250062" y="456691"/>
                    </a:lnTo>
                    <a:lnTo>
                      <a:pt x="309752" y="487679"/>
                    </a:lnTo>
                    <a:lnTo>
                      <a:pt x="347471" y="462534"/>
                    </a:lnTo>
                    <a:lnTo>
                      <a:pt x="342645" y="428878"/>
                    </a:lnTo>
                    <a:lnTo>
                      <a:pt x="348233" y="377698"/>
                    </a:lnTo>
                    <a:lnTo>
                      <a:pt x="381381" y="355218"/>
                    </a:lnTo>
                    <a:lnTo>
                      <a:pt x="443229" y="336930"/>
                    </a:lnTo>
                    <a:lnTo>
                      <a:pt x="497966" y="350647"/>
                    </a:lnTo>
                    <a:lnTo>
                      <a:pt x="524509" y="366013"/>
                    </a:lnTo>
                    <a:lnTo>
                      <a:pt x="556259" y="364489"/>
                    </a:lnTo>
                    <a:lnTo>
                      <a:pt x="529716" y="324612"/>
                    </a:lnTo>
                    <a:lnTo>
                      <a:pt x="517397" y="300100"/>
                    </a:lnTo>
                    <a:lnTo>
                      <a:pt x="533272" y="278638"/>
                    </a:lnTo>
                    <a:lnTo>
                      <a:pt x="517397" y="249554"/>
                    </a:lnTo>
                    <a:lnTo>
                      <a:pt x="522731" y="212978"/>
                    </a:lnTo>
                    <a:lnTo>
                      <a:pt x="497966" y="186943"/>
                    </a:lnTo>
                    <a:lnTo>
                      <a:pt x="480313" y="150240"/>
                    </a:lnTo>
                    <a:lnTo>
                      <a:pt x="453897" y="130301"/>
                    </a:lnTo>
                    <a:lnTo>
                      <a:pt x="445007" y="88900"/>
                    </a:lnTo>
                    <a:lnTo>
                      <a:pt x="392049" y="102742"/>
                    </a:lnTo>
                    <a:lnTo>
                      <a:pt x="381381" y="79755"/>
                    </a:lnTo>
                    <a:lnTo>
                      <a:pt x="342645" y="44450"/>
                    </a:lnTo>
                    <a:lnTo>
                      <a:pt x="284352" y="65912"/>
                    </a:lnTo>
                    <a:lnTo>
                      <a:pt x="238759" y="56768"/>
                    </a:lnTo>
                    <a:lnTo>
                      <a:pt x="196341" y="12318"/>
                    </a:lnTo>
                    <a:lnTo>
                      <a:pt x="152272" y="0"/>
                    </a:lnTo>
                    <a:close/>
                  </a:path>
                </a:pathLst>
              </a:custGeom>
              <a:solidFill>
                <a:srgbClr val="FFD966"/>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62" name="object 204">
                <a:extLst>
                  <a:ext uri="{FF2B5EF4-FFF2-40B4-BE49-F238E27FC236}">
                    <a16:creationId xmlns:a16="http://schemas.microsoft.com/office/drawing/2014/main" id="{AC40EC1E-702C-488B-B930-DA7A3E0A197B}"/>
                  </a:ext>
                </a:extLst>
              </p:cNvPr>
              <p:cNvSpPr/>
              <p:nvPr/>
            </p:nvSpPr>
            <p:spPr>
              <a:xfrm>
                <a:off x="1908047" y="1924812"/>
                <a:ext cx="556260" cy="487680"/>
              </a:xfrm>
              <a:custGeom>
                <a:avLst/>
                <a:gdLst/>
                <a:ahLst/>
                <a:cxnLst/>
                <a:rect l="l" t="t" r="r" b="b"/>
                <a:pathLst>
                  <a:path w="556260" h="487680">
                    <a:moveTo>
                      <a:pt x="27177" y="117728"/>
                    </a:moveTo>
                    <a:lnTo>
                      <a:pt x="46227" y="141350"/>
                    </a:lnTo>
                    <a:lnTo>
                      <a:pt x="15493" y="163322"/>
                    </a:lnTo>
                    <a:lnTo>
                      <a:pt x="0" y="189991"/>
                    </a:lnTo>
                    <a:lnTo>
                      <a:pt x="36068" y="214884"/>
                    </a:lnTo>
                    <a:lnTo>
                      <a:pt x="63881" y="274065"/>
                    </a:lnTo>
                    <a:lnTo>
                      <a:pt x="91439" y="301625"/>
                    </a:lnTo>
                    <a:lnTo>
                      <a:pt x="126110" y="296163"/>
                    </a:lnTo>
                    <a:lnTo>
                      <a:pt x="143382" y="312292"/>
                    </a:lnTo>
                    <a:lnTo>
                      <a:pt x="162051" y="316991"/>
                    </a:lnTo>
                    <a:lnTo>
                      <a:pt x="167385" y="334390"/>
                    </a:lnTo>
                    <a:lnTo>
                      <a:pt x="175132" y="359283"/>
                    </a:lnTo>
                    <a:lnTo>
                      <a:pt x="181482" y="361950"/>
                    </a:lnTo>
                    <a:lnTo>
                      <a:pt x="181228" y="367538"/>
                    </a:lnTo>
                    <a:lnTo>
                      <a:pt x="188975" y="364743"/>
                    </a:lnTo>
                    <a:lnTo>
                      <a:pt x="189991" y="370586"/>
                    </a:lnTo>
                    <a:lnTo>
                      <a:pt x="195960" y="375158"/>
                    </a:lnTo>
                    <a:lnTo>
                      <a:pt x="198500" y="382524"/>
                    </a:lnTo>
                    <a:lnTo>
                      <a:pt x="204850" y="382524"/>
                    </a:lnTo>
                    <a:lnTo>
                      <a:pt x="216534" y="393573"/>
                    </a:lnTo>
                    <a:lnTo>
                      <a:pt x="263778" y="427354"/>
                    </a:lnTo>
                    <a:lnTo>
                      <a:pt x="250062" y="456691"/>
                    </a:lnTo>
                    <a:lnTo>
                      <a:pt x="309752" y="487679"/>
                    </a:lnTo>
                    <a:lnTo>
                      <a:pt x="347471" y="462534"/>
                    </a:lnTo>
                    <a:lnTo>
                      <a:pt x="342645" y="428878"/>
                    </a:lnTo>
                    <a:lnTo>
                      <a:pt x="348233" y="377698"/>
                    </a:lnTo>
                    <a:lnTo>
                      <a:pt x="381381" y="355218"/>
                    </a:lnTo>
                    <a:lnTo>
                      <a:pt x="443229" y="336930"/>
                    </a:lnTo>
                    <a:lnTo>
                      <a:pt x="497966" y="350647"/>
                    </a:lnTo>
                    <a:lnTo>
                      <a:pt x="524509" y="366013"/>
                    </a:lnTo>
                    <a:lnTo>
                      <a:pt x="556259" y="364489"/>
                    </a:lnTo>
                    <a:lnTo>
                      <a:pt x="529716" y="324612"/>
                    </a:lnTo>
                    <a:lnTo>
                      <a:pt x="517397" y="300100"/>
                    </a:lnTo>
                    <a:lnTo>
                      <a:pt x="533272" y="278638"/>
                    </a:lnTo>
                    <a:lnTo>
                      <a:pt x="517397" y="249554"/>
                    </a:lnTo>
                    <a:lnTo>
                      <a:pt x="522731" y="212978"/>
                    </a:lnTo>
                    <a:lnTo>
                      <a:pt x="497966" y="186943"/>
                    </a:lnTo>
                    <a:lnTo>
                      <a:pt x="480313" y="150240"/>
                    </a:lnTo>
                    <a:lnTo>
                      <a:pt x="453897" y="130301"/>
                    </a:lnTo>
                    <a:lnTo>
                      <a:pt x="445007" y="88900"/>
                    </a:lnTo>
                    <a:lnTo>
                      <a:pt x="392049" y="102742"/>
                    </a:lnTo>
                    <a:lnTo>
                      <a:pt x="381381" y="79755"/>
                    </a:lnTo>
                    <a:lnTo>
                      <a:pt x="342645" y="44450"/>
                    </a:lnTo>
                    <a:lnTo>
                      <a:pt x="284352" y="65912"/>
                    </a:lnTo>
                    <a:lnTo>
                      <a:pt x="238759" y="56768"/>
                    </a:lnTo>
                    <a:lnTo>
                      <a:pt x="196341" y="12318"/>
                    </a:lnTo>
                    <a:lnTo>
                      <a:pt x="152272" y="0"/>
                    </a:lnTo>
                    <a:lnTo>
                      <a:pt x="100964" y="21462"/>
                    </a:lnTo>
                    <a:lnTo>
                      <a:pt x="69214" y="56768"/>
                    </a:lnTo>
                    <a:lnTo>
                      <a:pt x="37464" y="56768"/>
                    </a:lnTo>
                    <a:lnTo>
                      <a:pt x="44450" y="80645"/>
                    </a:lnTo>
                    <a:lnTo>
                      <a:pt x="27177" y="117728"/>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63" name="object 205">
                <a:extLst>
                  <a:ext uri="{FF2B5EF4-FFF2-40B4-BE49-F238E27FC236}">
                    <a16:creationId xmlns:a16="http://schemas.microsoft.com/office/drawing/2014/main" id="{3B54E75A-1383-4230-9A7F-0ECF408CC229}"/>
                  </a:ext>
                </a:extLst>
              </p:cNvPr>
              <p:cNvSpPr/>
              <p:nvPr/>
            </p:nvSpPr>
            <p:spPr>
              <a:xfrm>
                <a:off x="1415795" y="1286256"/>
                <a:ext cx="1255014" cy="817626"/>
              </a:xfrm>
              <a:prstGeom prst="rect">
                <a:avLst/>
              </a:prstGeom>
              <a:blipFill>
                <a:blip r:embed="rId24"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64" name="object 206">
                <a:extLst>
                  <a:ext uri="{FF2B5EF4-FFF2-40B4-BE49-F238E27FC236}">
                    <a16:creationId xmlns:a16="http://schemas.microsoft.com/office/drawing/2014/main" id="{2E58A50A-9F2A-4DA1-ACE7-4A02A87E9EDD}"/>
                  </a:ext>
                </a:extLst>
              </p:cNvPr>
              <p:cNvSpPr/>
              <p:nvPr/>
            </p:nvSpPr>
            <p:spPr>
              <a:xfrm>
                <a:off x="1434084" y="1266444"/>
                <a:ext cx="1245235" cy="807720"/>
              </a:xfrm>
              <a:custGeom>
                <a:avLst/>
                <a:gdLst/>
                <a:ahLst/>
                <a:cxnLst/>
                <a:rect l="l" t="t" r="r" b="b"/>
                <a:pathLst>
                  <a:path w="1245235" h="807719">
                    <a:moveTo>
                      <a:pt x="323849" y="0"/>
                    </a:moveTo>
                    <a:lnTo>
                      <a:pt x="227457" y="31241"/>
                    </a:lnTo>
                    <a:lnTo>
                      <a:pt x="116204" y="44703"/>
                    </a:lnTo>
                    <a:lnTo>
                      <a:pt x="65024" y="96773"/>
                    </a:lnTo>
                    <a:lnTo>
                      <a:pt x="10287" y="127507"/>
                    </a:lnTo>
                    <a:lnTo>
                      <a:pt x="0" y="178053"/>
                    </a:lnTo>
                    <a:lnTo>
                      <a:pt x="89662" y="191769"/>
                    </a:lnTo>
                    <a:lnTo>
                      <a:pt x="128524" y="237743"/>
                    </a:lnTo>
                    <a:lnTo>
                      <a:pt x="161035" y="261111"/>
                    </a:lnTo>
                    <a:lnTo>
                      <a:pt x="196722" y="253364"/>
                    </a:lnTo>
                    <a:lnTo>
                      <a:pt x="197865" y="316229"/>
                    </a:lnTo>
                    <a:lnTo>
                      <a:pt x="248665" y="335788"/>
                    </a:lnTo>
                    <a:lnTo>
                      <a:pt x="203453" y="384809"/>
                    </a:lnTo>
                    <a:lnTo>
                      <a:pt x="128269" y="437260"/>
                    </a:lnTo>
                    <a:lnTo>
                      <a:pt x="155447" y="546988"/>
                    </a:lnTo>
                    <a:lnTo>
                      <a:pt x="144144" y="660653"/>
                    </a:lnTo>
                    <a:lnTo>
                      <a:pt x="438658" y="807719"/>
                    </a:lnTo>
                    <a:lnTo>
                      <a:pt x="500126" y="775842"/>
                    </a:lnTo>
                    <a:lnTo>
                      <a:pt x="518922" y="739139"/>
                    </a:lnTo>
                    <a:lnTo>
                      <a:pt x="510793" y="716152"/>
                    </a:lnTo>
                    <a:lnTo>
                      <a:pt x="542543" y="715771"/>
                    </a:lnTo>
                    <a:lnTo>
                      <a:pt x="574040" y="680846"/>
                    </a:lnTo>
                    <a:lnTo>
                      <a:pt x="625221" y="658748"/>
                    </a:lnTo>
                    <a:lnTo>
                      <a:pt x="669416" y="671067"/>
                    </a:lnTo>
                    <a:lnTo>
                      <a:pt x="711072" y="715771"/>
                    </a:lnTo>
                    <a:lnTo>
                      <a:pt x="756285" y="725042"/>
                    </a:lnTo>
                    <a:lnTo>
                      <a:pt x="815593" y="703833"/>
                    </a:lnTo>
                    <a:lnTo>
                      <a:pt x="854074" y="737869"/>
                    </a:lnTo>
                    <a:lnTo>
                      <a:pt x="865378" y="762126"/>
                    </a:lnTo>
                    <a:lnTo>
                      <a:pt x="918336" y="748283"/>
                    </a:lnTo>
                    <a:lnTo>
                      <a:pt x="926846" y="789304"/>
                    </a:lnTo>
                    <a:lnTo>
                      <a:pt x="960373" y="763269"/>
                    </a:lnTo>
                    <a:lnTo>
                      <a:pt x="990472" y="761745"/>
                    </a:lnTo>
                    <a:lnTo>
                      <a:pt x="1001014" y="790828"/>
                    </a:lnTo>
                    <a:lnTo>
                      <a:pt x="1027557" y="804671"/>
                    </a:lnTo>
                    <a:lnTo>
                      <a:pt x="1061085" y="786256"/>
                    </a:lnTo>
                    <a:lnTo>
                      <a:pt x="1128141" y="754126"/>
                    </a:lnTo>
                    <a:lnTo>
                      <a:pt x="1096391" y="708151"/>
                    </a:lnTo>
                    <a:lnTo>
                      <a:pt x="1098168" y="660653"/>
                    </a:lnTo>
                    <a:lnTo>
                      <a:pt x="1022222" y="643763"/>
                    </a:lnTo>
                    <a:lnTo>
                      <a:pt x="1016889" y="605535"/>
                    </a:lnTo>
                    <a:lnTo>
                      <a:pt x="1045210" y="593216"/>
                    </a:lnTo>
                    <a:lnTo>
                      <a:pt x="1013333" y="536575"/>
                    </a:lnTo>
                    <a:lnTo>
                      <a:pt x="1059307" y="522731"/>
                    </a:lnTo>
                    <a:lnTo>
                      <a:pt x="1097788" y="527684"/>
                    </a:lnTo>
                    <a:lnTo>
                      <a:pt x="1133855" y="500125"/>
                    </a:lnTo>
                    <a:lnTo>
                      <a:pt x="1130299" y="455040"/>
                    </a:lnTo>
                    <a:lnTo>
                      <a:pt x="1170940" y="432688"/>
                    </a:lnTo>
                    <a:lnTo>
                      <a:pt x="1209040" y="423798"/>
                    </a:lnTo>
                    <a:lnTo>
                      <a:pt x="1215136" y="342518"/>
                    </a:lnTo>
                    <a:lnTo>
                      <a:pt x="1245108" y="265302"/>
                    </a:lnTo>
                    <a:lnTo>
                      <a:pt x="1204467" y="221233"/>
                    </a:lnTo>
                    <a:lnTo>
                      <a:pt x="1135634" y="206882"/>
                    </a:lnTo>
                    <a:lnTo>
                      <a:pt x="1096391" y="184403"/>
                    </a:lnTo>
                    <a:lnTo>
                      <a:pt x="1033907" y="211454"/>
                    </a:lnTo>
                    <a:lnTo>
                      <a:pt x="944879" y="216026"/>
                    </a:lnTo>
                    <a:lnTo>
                      <a:pt x="905636" y="258063"/>
                    </a:lnTo>
                    <a:lnTo>
                      <a:pt x="780288" y="271525"/>
                    </a:lnTo>
                    <a:lnTo>
                      <a:pt x="769366" y="228853"/>
                    </a:lnTo>
                    <a:lnTo>
                      <a:pt x="683133" y="205866"/>
                    </a:lnTo>
                    <a:lnTo>
                      <a:pt x="672591" y="161162"/>
                    </a:lnTo>
                    <a:lnTo>
                      <a:pt x="463041" y="36448"/>
                    </a:lnTo>
                    <a:lnTo>
                      <a:pt x="449326" y="634"/>
                    </a:lnTo>
                    <a:lnTo>
                      <a:pt x="393827" y="12572"/>
                    </a:lnTo>
                    <a:lnTo>
                      <a:pt x="323849" y="0"/>
                    </a:lnTo>
                    <a:close/>
                  </a:path>
                </a:pathLst>
              </a:custGeom>
              <a:solidFill>
                <a:srgbClr val="F4B083"/>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65" name="object 207">
                <a:extLst>
                  <a:ext uri="{FF2B5EF4-FFF2-40B4-BE49-F238E27FC236}">
                    <a16:creationId xmlns:a16="http://schemas.microsoft.com/office/drawing/2014/main" id="{72CFAE8E-AEE8-493D-BC89-66167535108E}"/>
                  </a:ext>
                </a:extLst>
              </p:cNvPr>
              <p:cNvSpPr/>
              <p:nvPr/>
            </p:nvSpPr>
            <p:spPr>
              <a:xfrm>
                <a:off x="1434084" y="1266444"/>
                <a:ext cx="1245235" cy="807720"/>
              </a:xfrm>
              <a:custGeom>
                <a:avLst/>
                <a:gdLst/>
                <a:ahLst/>
                <a:cxnLst/>
                <a:rect l="l" t="t" r="r" b="b"/>
                <a:pathLst>
                  <a:path w="1245235" h="807719">
                    <a:moveTo>
                      <a:pt x="438658" y="807719"/>
                    </a:moveTo>
                    <a:lnTo>
                      <a:pt x="144144" y="660653"/>
                    </a:lnTo>
                    <a:lnTo>
                      <a:pt x="155447" y="546988"/>
                    </a:lnTo>
                    <a:lnTo>
                      <a:pt x="128269" y="437260"/>
                    </a:lnTo>
                    <a:lnTo>
                      <a:pt x="203453" y="384809"/>
                    </a:lnTo>
                    <a:lnTo>
                      <a:pt x="248665" y="335788"/>
                    </a:lnTo>
                    <a:lnTo>
                      <a:pt x="197865" y="316229"/>
                    </a:lnTo>
                    <a:lnTo>
                      <a:pt x="196722" y="253364"/>
                    </a:lnTo>
                    <a:lnTo>
                      <a:pt x="161035" y="261111"/>
                    </a:lnTo>
                    <a:lnTo>
                      <a:pt x="128524" y="237743"/>
                    </a:lnTo>
                    <a:lnTo>
                      <a:pt x="89662" y="191769"/>
                    </a:lnTo>
                    <a:lnTo>
                      <a:pt x="0" y="178053"/>
                    </a:lnTo>
                    <a:lnTo>
                      <a:pt x="10287" y="127507"/>
                    </a:lnTo>
                    <a:lnTo>
                      <a:pt x="65024" y="96773"/>
                    </a:lnTo>
                    <a:lnTo>
                      <a:pt x="116204" y="44703"/>
                    </a:lnTo>
                    <a:lnTo>
                      <a:pt x="227457" y="31241"/>
                    </a:lnTo>
                    <a:lnTo>
                      <a:pt x="323849" y="0"/>
                    </a:lnTo>
                    <a:lnTo>
                      <a:pt x="393827" y="12572"/>
                    </a:lnTo>
                    <a:lnTo>
                      <a:pt x="449326" y="634"/>
                    </a:lnTo>
                    <a:lnTo>
                      <a:pt x="463041" y="36448"/>
                    </a:lnTo>
                    <a:lnTo>
                      <a:pt x="672591" y="161162"/>
                    </a:lnTo>
                    <a:lnTo>
                      <a:pt x="683133" y="205866"/>
                    </a:lnTo>
                    <a:lnTo>
                      <a:pt x="769366" y="228853"/>
                    </a:lnTo>
                    <a:lnTo>
                      <a:pt x="780288" y="271525"/>
                    </a:lnTo>
                    <a:lnTo>
                      <a:pt x="905636" y="258063"/>
                    </a:lnTo>
                    <a:lnTo>
                      <a:pt x="944879" y="216026"/>
                    </a:lnTo>
                    <a:lnTo>
                      <a:pt x="1033907" y="211454"/>
                    </a:lnTo>
                    <a:lnTo>
                      <a:pt x="1096391" y="184403"/>
                    </a:lnTo>
                    <a:lnTo>
                      <a:pt x="1135634" y="206882"/>
                    </a:lnTo>
                    <a:lnTo>
                      <a:pt x="1204467" y="221233"/>
                    </a:lnTo>
                    <a:lnTo>
                      <a:pt x="1245108" y="265302"/>
                    </a:lnTo>
                    <a:lnTo>
                      <a:pt x="1215136" y="342518"/>
                    </a:lnTo>
                    <a:lnTo>
                      <a:pt x="1209040" y="423798"/>
                    </a:lnTo>
                    <a:lnTo>
                      <a:pt x="1170940" y="432688"/>
                    </a:lnTo>
                    <a:lnTo>
                      <a:pt x="1130299" y="455040"/>
                    </a:lnTo>
                    <a:lnTo>
                      <a:pt x="1133855" y="500125"/>
                    </a:lnTo>
                    <a:lnTo>
                      <a:pt x="1097788" y="527684"/>
                    </a:lnTo>
                    <a:lnTo>
                      <a:pt x="1059307" y="522731"/>
                    </a:lnTo>
                    <a:lnTo>
                      <a:pt x="1013333" y="536575"/>
                    </a:lnTo>
                    <a:lnTo>
                      <a:pt x="1045210" y="593216"/>
                    </a:lnTo>
                    <a:lnTo>
                      <a:pt x="1016889" y="605535"/>
                    </a:lnTo>
                    <a:lnTo>
                      <a:pt x="1022222" y="643763"/>
                    </a:lnTo>
                    <a:lnTo>
                      <a:pt x="1098168" y="660653"/>
                    </a:lnTo>
                    <a:lnTo>
                      <a:pt x="1096391" y="708151"/>
                    </a:lnTo>
                    <a:lnTo>
                      <a:pt x="1128141" y="754126"/>
                    </a:lnTo>
                    <a:lnTo>
                      <a:pt x="1061085" y="786256"/>
                    </a:lnTo>
                    <a:lnTo>
                      <a:pt x="1027557" y="804671"/>
                    </a:lnTo>
                    <a:lnTo>
                      <a:pt x="1001014" y="790828"/>
                    </a:lnTo>
                    <a:lnTo>
                      <a:pt x="990472" y="761745"/>
                    </a:lnTo>
                    <a:lnTo>
                      <a:pt x="960373" y="763269"/>
                    </a:lnTo>
                    <a:lnTo>
                      <a:pt x="926846" y="789304"/>
                    </a:lnTo>
                    <a:lnTo>
                      <a:pt x="918336" y="748283"/>
                    </a:lnTo>
                    <a:lnTo>
                      <a:pt x="865378" y="762126"/>
                    </a:lnTo>
                    <a:lnTo>
                      <a:pt x="854074" y="737869"/>
                    </a:lnTo>
                    <a:lnTo>
                      <a:pt x="815593" y="703833"/>
                    </a:lnTo>
                    <a:lnTo>
                      <a:pt x="756285" y="725042"/>
                    </a:lnTo>
                    <a:lnTo>
                      <a:pt x="711072" y="715771"/>
                    </a:lnTo>
                    <a:lnTo>
                      <a:pt x="669416" y="671067"/>
                    </a:lnTo>
                    <a:lnTo>
                      <a:pt x="625221" y="658748"/>
                    </a:lnTo>
                    <a:lnTo>
                      <a:pt x="574040" y="680846"/>
                    </a:lnTo>
                    <a:lnTo>
                      <a:pt x="542543" y="715771"/>
                    </a:lnTo>
                    <a:lnTo>
                      <a:pt x="510793" y="716152"/>
                    </a:lnTo>
                    <a:lnTo>
                      <a:pt x="518922" y="739139"/>
                    </a:lnTo>
                    <a:lnTo>
                      <a:pt x="500126" y="775842"/>
                    </a:lnTo>
                    <a:lnTo>
                      <a:pt x="438658" y="807719"/>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66" name="object 208">
                <a:extLst>
                  <a:ext uri="{FF2B5EF4-FFF2-40B4-BE49-F238E27FC236}">
                    <a16:creationId xmlns:a16="http://schemas.microsoft.com/office/drawing/2014/main" id="{03F629E5-E6F1-4333-80C3-7B95F6A3452B}"/>
                  </a:ext>
                </a:extLst>
              </p:cNvPr>
              <p:cNvSpPr/>
              <p:nvPr/>
            </p:nvSpPr>
            <p:spPr>
              <a:xfrm>
                <a:off x="1581912" y="2063495"/>
                <a:ext cx="540270" cy="491489"/>
              </a:xfrm>
              <a:prstGeom prst="rect">
                <a:avLst/>
              </a:prstGeom>
              <a:blipFill>
                <a:blip r:embed="rId25"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67" name="object 209">
                <a:extLst>
                  <a:ext uri="{FF2B5EF4-FFF2-40B4-BE49-F238E27FC236}">
                    <a16:creationId xmlns:a16="http://schemas.microsoft.com/office/drawing/2014/main" id="{951487DC-65D1-4890-8341-CC51C18DE9C5}"/>
                  </a:ext>
                </a:extLst>
              </p:cNvPr>
              <p:cNvSpPr/>
              <p:nvPr/>
            </p:nvSpPr>
            <p:spPr>
              <a:xfrm>
                <a:off x="1600200" y="2043684"/>
                <a:ext cx="530860" cy="481965"/>
              </a:xfrm>
              <a:custGeom>
                <a:avLst/>
                <a:gdLst/>
                <a:ahLst/>
                <a:cxnLst/>
                <a:rect l="l" t="t" r="r" b="b"/>
                <a:pathLst>
                  <a:path w="530860" h="481964">
                    <a:moveTo>
                      <a:pt x="334010" y="0"/>
                    </a:moveTo>
                    <a:lnTo>
                      <a:pt x="272923" y="31495"/>
                    </a:lnTo>
                    <a:lnTo>
                      <a:pt x="249300" y="67817"/>
                    </a:lnTo>
                    <a:lnTo>
                      <a:pt x="196342" y="73913"/>
                    </a:lnTo>
                    <a:lnTo>
                      <a:pt x="152145" y="95376"/>
                    </a:lnTo>
                    <a:lnTo>
                      <a:pt x="122174" y="127380"/>
                    </a:lnTo>
                    <a:lnTo>
                      <a:pt x="138049" y="164083"/>
                    </a:lnTo>
                    <a:lnTo>
                      <a:pt x="115062" y="200787"/>
                    </a:lnTo>
                    <a:lnTo>
                      <a:pt x="132714" y="234314"/>
                    </a:lnTo>
                    <a:lnTo>
                      <a:pt x="85089" y="247776"/>
                    </a:lnTo>
                    <a:lnTo>
                      <a:pt x="26797" y="324230"/>
                    </a:lnTo>
                    <a:lnTo>
                      <a:pt x="0" y="394842"/>
                    </a:lnTo>
                    <a:lnTo>
                      <a:pt x="26797" y="420496"/>
                    </a:lnTo>
                    <a:lnTo>
                      <a:pt x="111887" y="429640"/>
                    </a:lnTo>
                    <a:lnTo>
                      <a:pt x="168020" y="415925"/>
                    </a:lnTo>
                    <a:lnTo>
                      <a:pt x="215773" y="438785"/>
                    </a:lnTo>
                    <a:lnTo>
                      <a:pt x="220980" y="481583"/>
                    </a:lnTo>
                    <a:lnTo>
                      <a:pt x="278892" y="452500"/>
                    </a:lnTo>
                    <a:lnTo>
                      <a:pt x="326644" y="454025"/>
                    </a:lnTo>
                    <a:lnTo>
                      <a:pt x="360172" y="470915"/>
                    </a:lnTo>
                    <a:lnTo>
                      <a:pt x="386588" y="438785"/>
                    </a:lnTo>
                    <a:lnTo>
                      <a:pt x="390525" y="403351"/>
                    </a:lnTo>
                    <a:lnTo>
                      <a:pt x="449833" y="406780"/>
                    </a:lnTo>
                    <a:lnTo>
                      <a:pt x="458977" y="376174"/>
                    </a:lnTo>
                    <a:lnTo>
                      <a:pt x="481583" y="344424"/>
                    </a:lnTo>
                    <a:lnTo>
                      <a:pt x="512318" y="353821"/>
                    </a:lnTo>
                    <a:lnTo>
                      <a:pt x="530351" y="352678"/>
                    </a:lnTo>
                    <a:lnTo>
                      <a:pt x="524001" y="304926"/>
                    </a:lnTo>
                    <a:lnTo>
                      <a:pt x="502793" y="298195"/>
                    </a:lnTo>
                    <a:lnTo>
                      <a:pt x="492251" y="282955"/>
                    </a:lnTo>
                    <a:lnTo>
                      <a:pt x="490093" y="277113"/>
                    </a:lnTo>
                    <a:lnTo>
                      <a:pt x="479170" y="274700"/>
                    </a:lnTo>
                    <a:lnTo>
                      <a:pt x="474852" y="269875"/>
                    </a:lnTo>
                    <a:lnTo>
                      <a:pt x="472820" y="264287"/>
                    </a:lnTo>
                    <a:lnTo>
                      <a:pt x="468883" y="257937"/>
                    </a:lnTo>
                    <a:lnTo>
                      <a:pt x="463676" y="259714"/>
                    </a:lnTo>
                    <a:lnTo>
                      <a:pt x="458977" y="258825"/>
                    </a:lnTo>
                    <a:lnTo>
                      <a:pt x="457962" y="249936"/>
                    </a:lnTo>
                    <a:lnTo>
                      <a:pt x="462152" y="248157"/>
                    </a:lnTo>
                    <a:lnTo>
                      <a:pt x="471043" y="246887"/>
                    </a:lnTo>
                    <a:lnTo>
                      <a:pt x="478408" y="246252"/>
                    </a:lnTo>
                    <a:lnTo>
                      <a:pt x="481583" y="240791"/>
                    </a:lnTo>
                    <a:lnTo>
                      <a:pt x="475995" y="215773"/>
                    </a:lnTo>
                    <a:lnTo>
                      <a:pt x="469645" y="198627"/>
                    </a:lnTo>
                    <a:lnTo>
                      <a:pt x="449833" y="194055"/>
                    </a:lnTo>
                    <a:lnTo>
                      <a:pt x="432943" y="178180"/>
                    </a:lnTo>
                    <a:lnTo>
                      <a:pt x="400050" y="183006"/>
                    </a:lnTo>
                    <a:lnTo>
                      <a:pt x="368935" y="152526"/>
                    </a:lnTo>
                    <a:lnTo>
                      <a:pt x="342519" y="96900"/>
                    </a:lnTo>
                    <a:lnTo>
                      <a:pt x="307213" y="72389"/>
                    </a:lnTo>
                    <a:lnTo>
                      <a:pt x="321310" y="46481"/>
                    </a:lnTo>
                    <a:lnTo>
                      <a:pt x="353060" y="23494"/>
                    </a:lnTo>
                    <a:lnTo>
                      <a:pt x="334010" y="0"/>
                    </a:lnTo>
                    <a:close/>
                  </a:path>
                </a:pathLst>
              </a:custGeom>
              <a:solidFill>
                <a:srgbClr val="6FAC46"/>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68" name="object 210">
                <a:extLst>
                  <a:ext uri="{FF2B5EF4-FFF2-40B4-BE49-F238E27FC236}">
                    <a16:creationId xmlns:a16="http://schemas.microsoft.com/office/drawing/2014/main" id="{3CCE36BD-BD01-4CDB-ACD4-9351FB2E5034}"/>
                  </a:ext>
                </a:extLst>
              </p:cNvPr>
              <p:cNvSpPr/>
              <p:nvPr/>
            </p:nvSpPr>
            <p:spPr>
              <a:xfrm>
                <a:off x="1600200" y="2043684"/>
                <a:ext cx="530860" cy="481965"/>
              </a:xfrm>
              <a:custGeom>
                <a:avLst/>
                <a:gdLst/>
                <a:ahLst/>
                <a:cxnLst/>
                <a:rect l="l" t="t" r="r" b="b"/>
                <a:pathLst>
                  <a:path w="530860" h="481964">
                    <a:moveTo>
                      <a:pt x="196342" y="73913"/>
                    </a:moveTo>
                    <a:lnTo>
                      <a:pt x="152145" y="95376"/>
                    </a:lnTo>
                    <a:lnTo>
                      <a:pt x="122174" y="127380"/>
                    </a:lnTo>
                    <a:lnTo>
                      <a:pt x="138049" y="164083"/>
                    </a:lnTo>
                    <a:lnTo>
                      <a:pt x="115062" y="200787"/>
                    </a:lnTo>
                    <a:lnTo>
                      <a:pt x="132714" y="234314"/>
                    </a:lnTo>
                    <a:lnTo>
                      <a:pt x="85089" y="247776"/>
                    </a:lnTo>
                    <a:lnTo>
                      <a:pt x="26797" y="324230"/>
                    </a:lnTo>
                    <a:lnTo>
                      <a:pt x="0" y="394842"/>
                    </a:lnTo>
                    <a:lnTo>
                      <a:pt x="26797" y="420496"/>
                    </a:lnTo>
                    <a:lnTo>
                      <a:pt x="111887" y="429640"/>
                    </a:lnTo>
                    <a:lnTo>
                      <a:pt x="168020" y="415925"/>
                    </a:lnTo>
                    <a:lnTo>
                      <a:pt x="215773" y="438785"/>
                    </a:lnTo>
                    <a:lnTo>
                      <a:pt x="220980" y="481583"/>
                    </a:lnTo>
                    <a:lnTo>
                      <a:pt x="278892" y="452500"/>
                    </a:lnTo>
                    <a:lnTo>
                      <a:pt x="326644" y="454025"/>
                    </a:lnTo>
                    <a:lnTo>
                      <a:pt x="360172" y="470915"/>
                    </a:lnTo>
                    <a:lnTo>
                      <a:pt x="386588" y="438785"/>
                    </a:lnTo>
                    <a:lnTo>
                      <a:pt x="390525" y="403351"/>
                    </a:lnTo>
                    <a:lnTo>
                      <a:pt x="449833" y="406780"/>
                    </a:lnTo>
                    <a:lnTo>
                      <a:pt x="458977" y="376174"/>
                    </a:lnTo>
                    <a:lnTo>
                      <a:pt x="481583" y="344424"/>
                    </a:lnTo>
                    <a:lnTo>
                      <a:pt x="512318" y="353821"/>
                    </a:lnTo>
                    <a:lnTo>
                      <a:pt x="530351" y="352678"/>
                    </a:lnTo>
                    <a:lnTo>
                      <a:pt x="524001" y="304926"/>
                    </a:lnTo>
                    <a:lnTo>
                      <a:pt x="502793" y="298195"/>
                    </a:lnTo>
                    <a:lnTo>
                      <a:pt x="492251" y="282955"/>
                    </a:lnTo>
                    <a:lnTo>
                      <a:pt x="490093" y="277113"/>
                    </a:lnTo>
                    <a:lnTo>
                      <a:pt x="479170" y="274700"/>
                    </a:lnTo>
                    <a:lnTo>
                      <a:pt x="474852" y="269875"/>
                    </a:lnTo>
                    <a:lnTo>
                      <a:pt x="472820" y="264287"/>
                    </a:lnTo>
                    <a:lnTo>
                      <a:pt x="468883" y="257937"/>
                    </a:lnTo>
                    <a:lnTo>
                      <a:pt x="463676" y="259714"/>
                    </a:lnTo>
                    <a:lnTo>
                      <a:pt x="458977" y="258825"/>
                    </a:lnTo>
                    <a:lnTo>
                      <a:pt x="457962" y="249936"/>
                    </a:lnTo>
                    <a:lnTo>
                      <a:pt x="462152" y="248157"/>
                    </a:lnTo>
                    <a:lnTo>
                      <a:pt x="471043" y="246887"/>
                    </a:lnTo>
                    <a:lnTo>
                      <a:pt x="478408" y="246252"/>
                    </a:lnTo>
                    <a:lnTo>
                      <a:pt x="481583" y="240791"/>
                    </a:lnTo>
                    <a:lnTo>
                      <a:pt x="475995" y="215773"/>
                    </a:lnTo>
                    <a:lnTo>
                      <a:pt x="469645" y="198627"/>
                    </a:lnTo>
                    <a:lnTo>
                      <a:pt x="449833" y="194055"/>
                    </a:lnTo>
                    <a:lnTo>
                      <a:pt x="432943" y="178180"/>
                    </a:lnTo>
                    <a:lnTo>
                      <a:pt x="400050" y="183006"/>
                    </a:lnTo>
                    <a:lnTo>
                      <a:pt x="368935" y="152526"/>
                    </a:lnTo>
                    <a:lnTo>
                      <a:pt x="342519" y="96900"/>
                    </a:lnTo>
                    <a:lnTo>
                      <a:pt x="307213" y="72389"/>
                    </a:lnTo>
                    <a:lnTo>
                      <a:pt x="321310" y="46481"/>
                    </a:lnTo>
                    <a:lnTo>
                      <a:pt x="353060" y="23494"/>
                    </a:lnTo>
                    <a:lnTo>
                      <a:pt x="334010" y="0"/>
                    </a:lnTo>
                    <a:lnTo>
                      <a:pt x="272923" y="31495"/>
                    </a:lnTo>
                    <a:lnTo>
                      <a:pt x="249300" y="67817"/>
                    </a:lnTo>
                    <a:lnTo>
                      <a:pt x="196342" y="73913"/>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69" name="object 211">
                <a:extLst>
                  <a:ext uri="{FF2B5EF4-FFF2-40B4-BE49-F238E27FC236}">
                    <a16:creationId xmlns:a16="http://schemas.microsoft.com/office/drawing/2014/main" id="{CFD1BB3D-5D70-4EEE-A7A6-7786A1488B13}"/>
                  </a:ext>
                </a:extLst>
              </p:cNvPr>
              <p:cNvSpPr/>
              <p:nvPr/>
            </p:nvSpPr>
            <p:spPr>
              <a:xfrm>
                <a:off x="4297680" y="2695955"/>
                <a:ext cx="1049274" cy="704850"/>
              </a:xfrm>
              <a:prstGeom prst="rect">
                <a:avLst/>
              </a:prstGeom>
              <a:blipFill>
                <a:blip r:embed="rId26"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70" name="object 212">
                <a:extLst>
                  <a:ext uri="{FF2B5EF4-FFF2-40B4-BE49-F238E27FC236}">
                    <a16:creationId xmlns:a16="http://schemas.microsoft.com/office/drawing/2014/main" id="{8D51929C-B6B2-4004-8365-FFDD7C6BCFE0}"/>
                  </a:ext>
                </a:extLst>
              </p:cNvPr>
              <p:cNvSpPr/>
              <p:nvPr/>
            </p:nvSpPr>
            <p:spPr>
              <a:xfrm>
                <a:off x="4315968" y="2676144"/>
                <a:ext cx="1039494" cy="695325"/>
              </a:xfrm>
              <a:custGeom>
                <a:avLst/>
                <a:gdLst/>
                <a:ahLst/>
                <a:cxnLst/>
                <a:rect l="l" t="t" r="r" b="b"/>
                <a:pathLst>
                  <a:path w="1039495" h="695325">
                    <a:moveTo>
                      <a:pt x="1023493" y="0"/>
                    </a:moveTo>
                    <a:lnTo>
                      <a:pt x="968756" y="12318"/>
                    </a:lnTo>
                    <a:lnTo>
                      <a:pt x="901827" y="26034"/>
                    </a:lnTo>
                    <a:lnTo>
                      <a:pt x="832231" y="61975"/>
                    </a:lnTo>
                    <a:lnTo>
                      <a:pt x="764159" y="87502"/>
                    </a:lnTo>
                    <a:lnTo>
                      <a:pt x="720090" y="122681"/>
                    </a:lnTo>
                    <a:lnTo>
                      <a:pt x="688340" y="165734"/>
                    </a:lnTo>
                    <a:lnTo>
                      <a:pt x="651256" y="211708"/>
                    </a:lnTo>
                    <a:lnTo>
                      <a:pt x="598297" y="200913"/>
                    </a:lnTo>
                    <a:lnTo>
                      <a:pt x="552450" y="219328"/>
                    </a:lnTo>
                    <a:lnTo>
                      <a:pt x="493903" y="205612"/>
                    </a:lnTo>
                    <a:lnTo>
                      <a:pt x="393319" y="242442"/>
                    </a:lnTo>
                    <a:lnTo>
                      <a:pt x="345694" y="239267"/>
                    </a:lnTo>
                    <a:lnTo>
                      <a:pt x="271653" y="260857"/>
                    </a:lnTo>
                    <a:lnTo>
                      <a:pt x="202819" y="270001"/>
                    </a:lnTo>
                    <a:lnTo>
                      <a:pt x="134112" y="274573"/>
                    </a:lnTo>
                    <a:lnTo>
                      <a:pt x="97028" y="253110"/>
                    </a:lnTo>
                    <a:lnTo>
                      <a:pt x="49403" y="276097"/>
                    </a:lnTo>
                    <a:lnTo>
                      <a:pt x="12700" y="292988"/>
                    </a:lnTo>
                    <a:lnTo>
                      <a:pt x="0" y="375538"/>
                    </a:lnTo>
                    <a:lnTo>
                      <a:pt x="33528" y="495172"/>
                    </a:lnTo>
                    <a:lnTo>
                      <a:pt x="58166" y="478281"/>
                    </a:lnTo>
                    <a:lnTo>
                      <a:pt x="42291" y="449198"/>
                    </a:lnTo>
                    <a:lnTo>
                      <a:pt x="95250" y="409320"/>
                    </a:lnTo>
                    <a:lnTo>
                      <a:pt x="174625" y="421513"/>
                    </a:lnTo>
                    <a:lnTo>
                      <a:pt x="305181" y="430783"/>
                    </a:lnTo>
                    <a:lnTo>
                      <a:pt x="317500" y="403097"/>
                    </a:lnTo>
                    <a:lnTo>
                      <a:pt x="366903" y="377063"/>
                    </a:lnTo>
                    <a:lnTo>
                      <a:pt x="407543" y="380110"/>
                    </a:lnTo>
                    <a:lnTo>
                      <a:pt x="418084" y="430783"/>
                    </a:lnTo>
                    <a:lnTo>
                      <a:pt x="465709" y="430783"/>
                    </a:lnTo>
                    <a:lnTo>
                      <a:pt x="502793" y="449198"/>
                    </a:lnTo>
                    <a:lnTo>
                      <a:pt x="518668" y="504443"/>
                    </a:lnTo>
                    <a:lnTo>
                      <a:pt x="486918" y="532002"/>
                    </a:lnTo>
                    <a:lnTo>
                      <a:pt x="481584" y="565784"/>
                    </a:lnTo>
                    <a:lnTo>
                      <a:pt x="506984" y="577468"/>
                    </a:lnTo>
                    <a:lnTo>
                      <a:pt x="501650" y="596772"/>
                    </a:lnTo>
                    <a:lnTo>
                      <a:pt x="490093" y="599566"/>
                    </a:lnTo>
                    <a:lnTo>
                      <a:pt x="465709" y="584834"/>
                    </a:lnTo>
                    <a:lnTo>
                      <a:pt x="454787" y="592835"/>
                    </a:lnTo>
                    <a:lnTo>
                      <a:pt x="447675" y="637920"/>
                    </a:lnTo>
                    <a:lnTo>
                      <a:pt x="478409" y="694943"/>
                    </a:lnTo>
                    <a:lnTo>
                      <a:pt x="524256" y="676275"/>
                    </a:lnTo>
                    <a:lnTo>
                      <a:pt x="547243" y="647064"/>
                    </a:lnTo>
                    <a:lnTo>
                      <a:pt x="593090" y="651636"/>
                    </a:lnTo>
                    <a:lnTo>
                      <a:pt x="587375" y="596772"/>
                    </a:lnTo>
                    <a:lnTo>
                      <a:pt x="622300" y="544956"/>
                    </a:lnTo>
                    <a:lnTo>
                      <a:pt x="647700" y="490600"/>
                    </a:lnTo>
                    <a:lnTo>
                      <a:pt x="621284" y="444626"/>
                    </a:lnTo>
                    <a:lnTo>
                      <a:pt x="661924" y="400050"/>
                    </a:lnTo>
                    <a:lnTo>
                      <a:pt x="732409" y="380491"/>
                    </a:lnTo>
                    <a:lnTo>
                      <a:pt x="732790" y="327025"/>
                    </a:lnTo>
                    <a:lnTo>
                      <a:pt x="774446" y="279145"/>
                    </a:lnTo>
                    <a:lnTo>
                      <a:pt x="791718" y="291845"/>
                    </a:lnTo>
                    <a:lnTo>
                      <a:pt x="808228" y="266953"/>
                    </a:lnTo>
                    <a:lnTo>
                      <a:pt x="811784" y="243966"/>
                    </a:lnTo>
                    <a:lnTo>
                      <a:pt x="868934" y="196341"/>
                    </a:lnTo>
                    <a:lnTo>
                      <a:pt x="926465" y="179196"/>
                    </a:lnTo>
                    <a:lnTo>
                      <a:pt x="963549" y="131952"/>
                    </a:lnTo>
                    <a:lnTo>
                      <a:pt x="1039368" y="114807"/>
                    </a:lnTo>
                    <a:lnTo>
                      <a:pt x="1005840" y="53720"/>
                    </a:lnTo>
                    <a:lnTo>
                      <a:pt x="1023493" y="0"/>
                    </a:lnTo>
                    <a:close/>
                  </a:path>
                </a:pathLst>
              </a:custGeom>
              <a:solidFill>
                <a:srgbClr val="F4B083"/>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71" name="object 213">
                <a:extLst>
                  <a:ext uri="{FF2B5EF4-FFF2-40B4-BE49-F238E27FC236}">
                    <a16:creationId xmlns:a16="http://schemas.microsoft.com/office/drawing/2014/main" id="{A835D1A4-66D5-43E8-B91D-2B4198494377}"/>
                  </a:ext>
                </a:extLst>
              </p:cNvPr>
              <p:cNvSpPr/>
              <p:nvPr/>
            </p:nvSpPr>
            <p:spPr>
              <a:xfrm>
                <a:off x="4315968" y="2676144"/>
                <a:ext cx="1039494" cy="695325"/>
              </a:xfrm>
              <a:custGeom>
                <a:avLst/>
                <a:gdLst/>
                <a:ahLst/>
                <a:cxnLst/>
                <a:rect l="l" t="t" r="r" b="b"/>
                <a:pathLst>
                  <a:path w="1039495" h="695325">
                    <a:moveTo>
                      <a:pt x="33528" y="495172"/>
                    </a:moveTo>
                    <a:lnTo>
                      <a:pt x="0" y="375538"/>
                    </a:lnTo>
                    <a:lnTo>
                      <a:pt x="12700" y="292988"/>
                    </a:lnTo>
                    <a:lnTo>
                      <a:pt x="49403" y="276097"/>
                    </a:lnTo>
                    <a:lnTo>
                      <a:pt x="97028" y="253110"/>
                    </a:lnTo>
                    <a:lnTo>
                      <a:pt x="134112" y="274573"/>
                    </a:lnTo>
                    <a:lnTo>
                      <a:pt x="202819" y="270001"/>
                    </a:lnTo>
                    <a:lnTo>
                      <a:pt x="271653" y="260857"/>
                    </a:lnTo>
                    <a:lnTo>
                      <a:pt x="345694" y="239267"/>
                    </a:lnTo>
                    <a:lnTo>
                      <a:pt x="393319" y="242442"/>
                    </a:lnTo>
                    <a:lnTo>
                      <a:pt x="493903" y="205612"/>
                    </a:lnTo>
                    <a:lnTo>
                      <a:pt x="552450" y="219328"/>
                    </a:lnTo>
                    <a:lnTo>
                      <a:pt x="598297" y="200913"/>
                    </a:lnTo>
                    <a:lnTo>
                      <a:pt x="651256" y="211708"/>
                    </a:lnTo>
                    <a:lnTo>
                      <a:pt x="688340" y="165734"/>
                    </a:lnTo>
                    <a:lnTo>
                      <a:pt x="720090" y="122681"/>
                    </a:lnTo>
                    <a:lnTo>
                      <a:pt x="764159" y="87502"/>
                    </a:lnTo>
                    <a:lnTo>
                      <a:pt x="832231" y="61975"/>
                    </a:lnTo>
                    <a:lnTo>
                      <a:pt x="901827" y="26034"/>
                    </a:lnTo>
                    <a:lnTo>
                      <a:pt x="968756" y="12318"/>
                    </a:lnTo>
                    <a:lnTo>
                      <a:pt x="1023493" y="0"/>
                    </a:lnTo>
                    <a:lnTo>
                      <a:pt x="1005840" y="53720"/>
                    </a:lnTo>
                    <a:lnTo>
                      <a:pt x="1039368" y="114807"/>
                    </a:lnTo>
                    <a:lnTo>
                      <a:pt x="963549" y="131952"/>
                    </a:lnTo>
                    <a:lnTo>
                      <a:pt x="926465" y="179196"/>
                    </a:lnTo>
                    <a:lnTo>
                      <a:pt x="868934" y="196341"/>
                    </a:lnTo>
                    <a:lnTo>
                      <a:pt x="811784" y="243966"/>
                    </a:lnTo>
                    <a:lnTo>
                      <a:pt x="808228" y="266953"/>
                    </a:lnTo>
                    <a:lnTo>
                      <a:pt x="791718" y="291845"/>
                    </a:lnTo>
                    <a:lnTo>
                      <a:pt x="774446" y="279145"/>
                    </a:lnTo>
                    <a:lnTo>
                      <a:pt x="732790" y="327025"/>
                    </a:lnTo>
                    <a:lnTo>
                      <a:pt x="732409" y="380491"/>
                    </a:lnTo>
                    <a:lnTo>
                      <a:pt x="661924" y="400050"/>
                    </a:lnTo>
                    <a:lnTo>
                      <a:pt x="621284" y="444626"/>
                    </a:lnTo>
                    <a:lnTo>
                      <a:pt x="647700" y="490600"/>
                    </a:lnTo>
                    <a:lnTo>
                      <a:pt x="622300" y="544956"/>
                    </a:lnTo>
                    <a:lnTo>
                      <a:pt x="587375" y="596772"/>
                    </a:lnTo>
                    <a:lnTo>
                      <a:pt x="593090" y="651636"/>
                    </a:lnTo>
                    <a:lnTo>
                      <a:pt x="547243" y="647064"/>
                    </a:lnTo>
                    <a:lnTo>
                      <a:pt x="524256" y="676275"/>
                    </a:lnTo>
                    <a:lnTo>
                      <a:pt x="478409" y="694943"/>
                    </a:lnTo>
                    <a:lnTo>
                      <a:pt x="447675" y="637920"/>
                    </a:lnTo>
                    <a:lnTo>
                      <a:pt x="454787" y="592835"/>
                    </a:lnTo>
                    <a:lnTo>
                      <a:pt x="465709" y="584834"/>
                    </a:lnTo>
                    <a:lnTo>
                      <a:pt x="490093" y="599566"/>
                    </a:lnTo>
                    <a:lnTo>
                      <a:pt x="501650" y="596772"/>
                    </a:lnTo>
                    <a:lnTo>
                      <a:pt x="506984" y="577468"/>
                    </a:lnTo>
                    <a:lnTo>
                      <a:pt x="481584" y="565784"/>
                    </a:lnTo>
                    <a:lnTo>
                      <a:pt x="486918" y="532002"/>
                    </a:lnTo>
                    <a:lnTo>
                      <a:pt x="518668" y="504443"/>
                    </a:lnTo>
                    <a:lnTo>
                      <a:pt x="502793" y="449198"/>
                    </a:lnTo>
                    <a:lnTo>
                      <a:pt x="465709" y="430783"/>
                    </a:lnTo>
                    <a:lnTo>
                      <a:pt x="418084" y="430783"/>
                    </a:lnTo>
                    <a:lnTo>
                      <a:pt x="407543" y="380110"/>
                    </a:lnTo>
                    <a:lnTo>
                      <a:pt x="366903" y="377063"/>
                    </a:lnTo>
                    <a:lnTo>
                      <a:pt x="317500" y="403097"/>
                    </a:lnTo>
                    <a:lnTo>
                      <a:pt x="305181" y="430783"/>
                    </a:lnTo>
                    <a:lnTo>
                      <a:pt x="174625" y="421513"/>
                    </a:lnTo>
                    <a:lnTo>
                      <a:pt x="95250" y="409320"/>
                    </a:lnTo>
                    <a:lnTo>
                      <a:pt x="42291" y="449198"/>
                    </a:lnTo>
                    <a:lnTo>
                      <a:pt x="58166" y="478281"/>
                    </a:lnTo>
                    <a:lnTo>
                      <a:pt x="33528" y="495172"/>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72" name="object 214">
                <a:extLst>
                  <a:ext uri="{FF2B5EF4-FFF2-40B4-BE49-F238E27FC236}">
                    <a16:creationId xmlns:a16="http://schemas.microsoft.com/office/drawing/2014/main" id="{31B9362D-0C53-4DB5-94AC-2D5B4D9F26E7}"/>
                  </a:ext>
                </a:extLst>
              </p:cNvPr>
              <p:cNvSpPr/>
              <p:nvPr/>
            </p:nvSpPr>
            <p:spPr>
              <a:xfrm>
                <a:off x="4591811" y="2447531"/>
                <a:ext cx="983741" cy="544842"/>
              </a:xfrm>
              <a:prstGeom prst="rect">
                <a:avLst/>
              </a:prstGeom>
              <a:blipFill>
                <a:blip r:embed="rId27"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73" name="object 215">
                <a:extLst>
                  <a:ext uri="{FF2B5EF4-FFF2-40B4-BE49-F238E27FC236}">
                    <a16:creationId xmlns:a16="http://schemas.microsoft.com/office/drawing/2014/main" id="{367703B0-FA83-47E9-834A-47CDEA75EC17}"/>
                  </a:ext>
                </a:extLst>
              </p:cNvPr>
              <p:cNvSpPr/>
              <p:nvPr/>
            </p:nvSpPr>
            <p:spPr>
              <a:xfrm>
                <a:off x="4610099" y="2427732"/>
                <a:ext cx="974090" cy="535305"/>
              </a:xfrm>
              <a:custGeom>
                <a:avLst/>
                <a:gdLst/>
                <a:ahLst/>
                <a:cxnLst/>
                <a:rect l="l" t="t" r="r" b="b"/>
                <a:pathLst>
                  <a:path w="974089" h="535305">
                    <a:moveTo>
                      <a:pt x="733298" y="0"/>
                    </a:moveTo>
                    <a:lnTo>
                      <a:pt x="674624" y="22987"/>
                    </a:lnTo>
                    <a:lnTo>
                      <a:pt x="637413" y="41275"/>
                    </a:lnTo>
                    <a:lnTo>
                      <a:pt x="612648" y="70357"/>
                    </a:lnTo>
                    <a:lnTo>
                      <a:pt x="538352" y="68833"/>
                    </a:lnTo>
                    <a:lnTo>
                      <a:pt x="479678" y="36702"/>
                    </a:lnTo>
                    <a:lnTo>
                      <a:pt x="424814" y="77977"/>
                    </a:lnTo>
                    <a:lnTo>
                      <a:pt x="377063" y="148335"/>
                    </a:lnTo>
                    <a:lnTo>
                      <a:pt x="334645" y="166623"/>
                    </a:lnTo>
                    <a:lnTo>
                      <a:pt x="278002" y="171322"/>
                    </a:lnTo>
                    <a:lnTo>
                      <a:pt x="244475" y="215645"/>
                    </a:lnTo>
                    <a:lnTo>
                      <a:pt x="222885" y="233933"/>
                    </a:lnTo>
                    <a:lnTo>
                      <a:pt x="171576" y="263016"/>
                    </a:lnTo>
                    <a:lnTo>
                      <a:pt x="160909" y="302767"/>
                    </a:lnTo>
                    <a:lnTo>
                      <a:pt x="134365" y="327278"/>
                    </a:lnTo>
                    <a:lnTo>
                      <a:pt x="91948" y="311912"/>
                    </a:lnTo>
                    <a:lnTo>
                      <a:pt x="53086" y="339470"/>
                    </a:lnTo>
                    <a:lnTo>
                      <a:pt x="22987" y="331850"/>
                    </a:lnTo>
                    <a:lnTo>
                      <a:pt x="0" y="336422"/>
                    </a:lnTo>
                    <a:lnTo>
                      <a:pt x="0" y="377697"/>
                    </a:lnTo>
                    <a:lnTo>
                      <a:pt x="28321" y="391540"/>
                    </a:lnTo>
                    <a:lnTo>
                      <a:pt x="65404" y="386841"/>
                    </a:lnTo>
                    <a:lnTo>
                      <a:pt x="86613" y="412876"/>
                    </a:lnTo>
                    <a:lnTo>
                      <a:pt x="79628" y="449579"/>
                    </a:lnTo>
                    <a:lnTo>
                      <a:pt x="95503" y="490854"/>
                    </a:lnTo>
                    <a:lnTo>
                      <a:pt x="198120" y="454532"/>
                    </a:lnTo>
                    <a:lnTo>
                      <a:pt x="255015" y="467994"/>
                    </a:lnTo>
                    <a:lnTo>
                      <a:pt x="302767" y="449579"/>
                    </a:lnTo>
                    <a:lnTo>
                      <a:pt x="355853" y="459993"/>
                    </a:lnTo>
                    <a:lnTo>
                      <a:pt x="395097" y="412241"/>
                    </a:lnTo>
                    <a:lnTo>
                      <a:pt x="424814" y="370966"/>
                    </a:lnTo>
                    <a:lnTo>
                      <a:pt x="470153" y="336168"/>
                    </a:lnTo>
                    <a:lnTo>
                      <a:pt x="536575" y="311912"/>
                    </a:lnTo>
                    <a:lnTo>
                      <a:pt x="607313" y="275208"/>
                    </a:lnTo>
                    <a:lnTo>
                      <a:pt x="729741" y="249300"/>
                    </a:lnTo>
                    <a:lnTo>
                      <a:pt x="711708" y="302767"/>
                    </a:lnTo>
                    <a:lnTo>
                      <a:pt x="745616" y="363981"/>
                    </a:lnTo>
                    <a:lnTo>
                      <a:pt x="669289" y="380745"/>
                    </a:lnTo>
                    <a:lnTo>
                      <a:pt x="632078" y="427863"/>
                    </a:lnTo>
                    <a:lnTo>
                      <a:pt x="574801" y="445007"/>
                    </a:lnTo>
                    <a:lnTo>
                      <a:pt x="517144" y="492378"/>
                    </a:lnTo>
                    <a:lnTo>
                      <a:pt x="514985" y="514476"/>
                    </a:lnTo>
                    <a:lnTo>
                      <a:pt x="560704" y="514476"/>
                    </a:lnTo>
                    <a:lnTo>
                      <a:pt x="583311" y="529463"/>
                    </a:lnTo>
                    <a:lnTo>
                      <a:pt x="616203" y="534923"/>
                    </a:lnTo>
                    <a:lnTo>
                      <a:pt x="639572" y="504951"/>
                    </a:lnTo>
                    <a:lnTo>
                      <a:pt x="670687" y="482980"/>
                    </a:lnTo>
                    <a:lnTo>
                      <a:pt x="699008" y="460882"/>
                    </a:lnTo>
                    <a:lnTo>
                      <a:pt x="741426" y="429132"/>
                    </a:lnTo>
                    <a:lnTo>
                      <a:pt x="783844" y="385063"/>
                    </a:lnTo>
                    <a:lnTo>
                      <a:pt x="826388" y="365505"/>
                    </a:lnTo>
                    <a:lnTo>
                      <a:pt x="857503" y="360552"/>
                    </a:lnTo>
                    <a:lnTo>
                      <a:pt x="899540" y="348614"/>
                    </a:lnTo>
                    <a:lnTo>
                      <a:pt x="915415" y="373125"/>
                    </a:lnTo>
                    <a:lnTo>
                      <a:pt x="945134" y="397255"/>
                    </a:lnTo>
                    <a:lnTo>
                      <a:pt x="962151" y="387476"/>
                    </a:lnTo>
                    <a:lnTo>
                      <a:pt x="952626" y="363981"/>
                    </a:lnTo>
                    <a:lnTo>
                      <a:pt x="936751" y="348614"/>
                    </a:lnTo>
                    <a:lnTo>
                      <a:pt x="910209" y="318134"/>
                    </a:lnTo>
                    <a:lnTo>
                      <a:pt x="899540" y="286003"/>
                    </a:lnTo>
                    <a:lnTo>
                      <a:pt x="966724" y="243204"/>
                    </a:lnTo>
                    <a:lnTo>
                      <a:pt x="973836" y="192658"/>
                    </a:lnTo>
                    <a:lnTo>
                      <a:pt x="926084" y="171322"/>
                    </a:lnTo>
                    <a:lnTo>
                      <a:pt x="835913" y="162051"/>
                    </a:lnTo>
                    <a:lnTo>
                      <a:pt x="802259" y="178942"/>
                    </a:lnTo>
                    <a:lnTo>
                      <a:pt x="782827" y="169798"/>
                    </a:lnTo>
                    <a:lnTo>
                      <a:pt x="777494" y="148335"/>
                    </a:lnTo>
                    <a:lnTo>
                      <a:pt x="818134" y="107060"/>
                    </a:lnTo>
                    <a:lnTo>
                      <a:pt x="807592" y="59689"/>
                    </a:lnTo>
                    <a:lnTo>
                      <a:pt x="775715" y="59689"/>
                    </a:lnTo>
                    <a:lnTo>
                      <a:pt x="735076" y="77977"/>
                    </a:lnTo>
                    <a:lnTo>
                      <a:pt x="740410" y="50418"/>
                    </a:lnTo>
                    <a:lnTo>
                      <a:pt x="775715" y="32130"/>
                    </a:lnTo>
                    <a:lnTo>
                      <a:pt x="743965" y="19938"/>
                    </a:lnTo>
                    <a:lnTo>
                      <a:pt x="733298"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74" name="object 216">
                <a:extLst>
                  <a:ext uri="{FF2B5EF4-FFF2-40B4-BE49-F238E27FC236}">
                    <a16:creationId xmlns:a16="http://schemas.microsoft.com/office/drawing/2014/main" id="{045B83C4-67AF-4A95-A4DC-36317007E99C}"/>
                  </a:ext>
                </a:extLst>
              </p:cNvPr>
              <p:cNvSpPr/>
              <p:nvPr/>
            </p:nvSpPr>
            <p:spPr>
              <a:xfrm>
                <a:off x="4610099" y="2427732"/>
                <a:ext cx="974090" cy="535305"/>
              </a:xfrm>
              <a:custGeom>
                <a:avLst/>
                <a:gdLst/>
                <a:ahLst/>
                <a:cxnLst/>
                <a:rect l="l" t="t" r="r" b="b"/>
                <a:pathLst>
                  <a:path w="974089" h="535305">
                    <a:moveTo>
                      <a:pt x="0" y="336422"/>
                    </a:moveTo>
                    <a:lnTo>
                      <a:pt x="0" y="377697"/>
                    </a:lnTo>
                    <a:lnTo>
                      <a:pt x="28321" y="391540"/>
                    </a:lnTo>
                    <a:lnTo>
                      <a:pt x="65404" y="386841"/>
                    </a:lnTo>
                    <a:lnTo>
                      <a:pt x="86613" y="412876"/>
                    </a:lnTo>
                    <a:lnTo>
                      <a:pt x="79628" y="449579"/>
                    </a:lnTo>
                    <a:lnTo>
                      <a:pt x="95503" y="490854"/>
                    </a:lnTo>
                    <a:lnTo>
                      <a:pt x="198120" y="454532"/>
                    </a:lnTo>
                    <a:lnTo>
                      <a:pt x="255015" y="467994"/>
                    </a:lnTo>
                    <a:lnTo>
                      <a:pt x="302767" y="449579"/>
                    </a:lnTo>
                    <a:lnTo>
                      <a:pt x="355853" y="459993"/>
                    </a:lnTo>
                    <a:lnTo>
                      <a:pt x="395097" y="412241"/>
                    </a:lnTo>
                    <a:lnTo>
                      <a:pt x="424814" y="370966"/>
                    </a:lnTo>
                    <a:lnTo>
                      <a:pt x="470153" y="336168"/>
                    </a:lnTo>
                    <a:lnTo>
                      <a:pt x="536575" y="311912"/>
                    </a:lnTo>
                    <a:lnTo>
                      <a:pt x="607313" y="275208"/>
                    </a:lnTo>
                    <a:lnTo>
                      <a:pt x="729741" y="249300"/>
                    </a:lnTo>
                    <a:lnTo>
                      <a:pt x="711708" y="302767"/>
                    </a:lnTo>
                    <a:lnTo>
                      <a:pt x="745616" y="363981"/>
                    </a:lnTo>
                    <a:lnTo>
                      <a:pt x="669289" y="380745"/>
                    </a:lnTo>
                    <a:lnTo>
                      <a:pt x="632078" y="427863"/>
                    </a:lnTo>
                    <a:lnTo>
                      <a:pt x="574801" y="445007"/>
                    </a:lnTo>
                    <a:lnTo>
                      <a:pt x="517144" y="492378"/>
                    </a:lnTo>
                    <a:lnTo>
                      <a:pt x="514985" y="514476"/>
                    </a:lnTo>
                    <a:lnTo>
                      <a:pt x="560704" y="514476"/>
                    </a:lnTo>
                    <a:lnTo>
                      <a:pt x="583311" y="529463"/>
                    </a:lnTo>
                    <a:lnTo>
                      <a:pt x="616203" y="534923"/>
                    </a:lnTo>
                    <a:lnTo>
                      <a:pt x="639572" y="504951"/>
                    </a:lnTo>
                    <a:lnTo>
                      <a:pt x="670687" y="482980"/>
                    </a:lnTo>
                    <a:lnTo>
                      <a:pt x="699008" y="460882"/>
                    </a:lnTo>
                    <a:lnTo>
                      <a:pt x="741426" y="429132"/>
                    </a:lnTo>
                    <a:lnTo>
                      <a:pt x="783844" y="385063"/>
                    </a:lnTo>
                    <a:lnTo>
                      <a:pt x="826388" y="365505"/>
                    </a:lnTo>
                    <a:lnTo>
                      <a:pt x="857503" y="360552"/>
                    </a:lnTo>
                    <a:lnTo>
                      <a:pt x="899540" y="348614"/>
                    </a:lnTo>
                    <a:lnTo>
                      <a:pt x="915415" y="373125"/>
                    </a:lnTo>
                    <a:lnTo>
                      <a:pt x="945134" y="397255"/>
                    </a:lnTo>
                    <a:lnTo>
                      <a:pt x="962151" y="387476"/>
                    </a:lnTo>
                    <a:lnTo>
                      <a:pt x="952626" y="363981"/>
                    </a:lnTo>
                    <a:lnTo>
                      <a:pt x="936751" y="348614"/>
                    </a:lnTo>
                    <a:lnTo>
                      <a:pt x="910209" y="318134"/>
                    </a:lnTo>
                    <a:lnTo>
                      <a:pt x="899540" y="286003"/>
                    </a:lnTo>
                    <a:lnTo>
                      <a:pt x="966724" y="243204"/>
                    </a:lnTo>
                    <a:lnTo>
                      <a:pt x="973836" y="192658"/>
                    </a:lnTo>
                    <a:lnTo>
                      <a:pt x="926084" y="171322"/>
                    </a:lnTo>
                    <a:lnTo>
                      <a:pt x="835913" y="162051"/>
                    </a:lnTo>
                    <a:lnTo>
                      <a:pt x="802259" y="178942"/>
                    </a:lnTo>
                    <a:lnTo>
                      <a:pt x="782827" y="169798"/>
                    </a:lnTo>
                    <a:lnTo>
                      <a:pt x="777494" y="148335"/>
                    </a:lnTo>
                    <a:lnTo>
                      <a:pt x="818134" y="107060"/>
                    </a:lnTo>
                    <a:lnTo>
                      <a:pt x="807592" y="59689"/>
                    </a:lnTo>
                    <a:lnTo>
                      <a:pt x="775715" y="59689"/>
                    </a:lnTo>
                    <a:lnTo>
                      <a:pt x="735076" y="77977"/>
                    </a:lnTo>
                    <a:lnTo>
                      <a:pt x="740410" y="50418"/>
                    </a:lnTo>
                    <a:lnTo>
                      <a:pt x="775715" y="32130"/>
                    </a:lnTo>
                    <a:lnTo>
                      <a:pt x="743965" y="19938"/>
                    </a:lnTo>
                    <a:lnTo>
                      <a:pt x="733298" y="0"/>
                    </a:lnTo>
                    <a:lnTo>
                      <a:pt x="674624" y="22987"/>
                    </a:lnTo>
                    <a:lnTo>
                      <a:pt x="637413" y="41275"/>
                    </a:lnTo>
                    <a:lnTo>
                      <a:pt x="612648" y="70357"/>
                    </a:lnTo>
                    <a:lnTo>
                      <a:pt x="538352" y="68833"/>
                    </a:lnTo>
                    <a:lnTo>
                      <a:pt x="479678" y="36702"/>
                    </a:lnTo>
                    <a:lnTo>
                      <a:pt x="424814" y="77977"/>
                    </a:lnTo>
                    <a:lnTo>
                      <a:pt x="377063" y="148335"/>
                    </a:lnTo>
                    <a:lnTo>
                      <a:pt x="334645" y="166623"/>
                    </a:lnTo>
                    <a:lnTo>
                      <a:pt x="278002" y="171322"/>
                    </a:lnTo>
                    <a:lnTo>
                      <a:pt x="244475" y="215645"/>
                    </a:lnTo>
                    <a:lnTo>
                      <a:pt x="222885" y="233933"/>
                    </a:lnTo>
                    <a:lnTo>
                      <a:pt x="171576" y="263016"/>
                    </a:lnTo>
                    <a:lnTo>
                      <a:pt x="160909" y="302767"/>
                    </a:lnTo>
                    <a:lnTo>
                      <a:pt x="134365" y="327278"/>
                    </a:lnTo>
                    <a:lnTo>
                      <a:pt x="91948" y="311912"/>
                    </a:lnTo>
                    <a:lnTo>
                      <a:pt x="53086" y="339470"/>
                    </a:lnTo>
                    <a:lnTo>
                      <a:pt x="22987" y="331850"/>
                    </a:lnTo>
                    <a:lnTo>
                      <a:pt x="0" y="336422"/>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75" name="object 217">
                <a:extLst>
                  <a:ext uri="{FF2B5EF4-FFF2-40B4-BE49-F238E27FC236}">
                    <a16:creationId xmlns:a16="http://schemas.microsoft.com/office/drawing/2014/main" id="{FD337EAB-98C0-44E0-9E44-6A4196821498}"/>
                  </a:ext>
                </a:extLst>
              </p:cNvPr>
              <p:cNvSpPr/>
              <p:nvPr/>
            </p:nvSpPr>
            <p:spPr>
              <a:xfrm>
                <a:off x="4919472" y="2962643"/>
                <a:ext cx="331470" cy="233946"/>
              </a:xfrm>
              <a:prstGeom prst="rect">
                <a:avLst/>
              </a:prstGeom>
              <a:blipFill>
                <a:blip r:embed="rId28"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76" name="object 218">
                <a:extLst>
                  <a:ext uri="{FF2B5EF4-FFF2-40B4-BE49-F238E27FC236}">
                    <a16:creationId xmlns:a16="http://schemas.microsoft.com/office/drawing/2014/main" id="{0C6286F6-2000-45C9-8B06-EEAD91CE9B4E}"/>
                  </a:ext>
                </a:extLst>
              </p:cNvPr>
              <p:cNvSpPr/>
              <p:nvPr/>
            </p:nvSpPr>
            <p:spPr>
              <a:xfrm>
                <a:off x="4937760" y="2942844"/>
                <a:ext cx="321945" cy="224154"/>
              </a:xfrm>
              <a:custGeom>
                <a:avLst/>
                <a:gdLst/>
                <a:ahLst/>
                <a:cxnLst/>
                <a:rect l="l" t="t" r="r" b="b"/>
                <a:pathLst>
                  <a:path w="321945" h="224155">
                    <a:moveTo>
                      <a:pt x="233044" y="0"/>
                    </a:moveTo>
                    <a:lnTo>
                      <a:pt x="187960" y="0"/>
                    </a:lnTo>
                    <a:lnTo>
                      <a:pt x="171068" y="24510"/>
                    </a:lnTo>
                    <a:lnTo>
                      <a:pt x="152273" y="13461"/>
                    </a:lnTo>
                    <a:lnTo>
                      <a:pt x="111378" y="59943"/>
                    </a:lnTo>
                    <a:lnTo>
                      <a:pt x="111378" y="113791"/>
                    </a:lnTo>
                    <a:lnTo>
                      <a:pt x="40512" y="133730"/>
                    </a:lnTo>
                    <a:lnTo>
                      <a:pt x="0" y="178434"/>
                    </a:lnTo>
                    <a:lnTo>
                      <a:pt x="26415" y="224027"/>
                    </a:lnTo>
                    <a:lnTo>
                      <a:pt x="58547" y="220598"/>
                    </a:lnTo>
                    <a:lnTo>
                      <a:pt x="88137" y="201421"/>
                    </a:lnTo>
                    <a:lnTo>
                      <a:pt x="79628" y="177545"/>
                    </a:lnTo>
                    <a:lnTo>
                      <a:pt x="120268" y="164337"/>
                    </a:lnTo>
                    <a:lnTo>
                      <a:pt x="141350" y="178180"/>
                    </a:lnTo>
                    <a:lnTo>
                      <a:pt x="187960" y="181482"/>
                    </a:lnTo>
                    <a:lnTo>
                      <a:pt x="198881" y="156717"/>
                    </a:lnTo>
                    <a:lnTo>
                      <a:pt x="230250" y="147573"/>
                    </a:lnTo>
                    <a:lnTo>
                      <a:pt x="231266" y="178180"/>
                    </a:lnTo>
                    <a:lnTo>
                      <a:pt x="265175" y="180847"/>
                    </a:lnTo>
                    <a:lnTo>
                      <a:pt x="270382" y="137667"/>
                    </a:lnTo>
                    <a:lnTo>
                      <a:pt x="301498" y="97916"/>
                    </a:lnTo>
                    <a:lnTo>
                      <a:pt x="321563" y="62991"/>
                    </a:lnTo>
                    <a:lnTo>
                      <a:pt x="303529" y="41655"/>
                    </a:lnTo>
                    <a:lnTo>
                      <a:pt x="289432" y="19557"/>
                    </a:lnTo>
                    <a:lnTo>
                      <a:pt x="255650" y="14731"/>
                    </a:lnTo>
                    <a:lnTo>
                      <a:pt x="233044" y="0"/>
                    </a:lnTo>
                    <a:close/>
                  </a:path>
                </a:pathLst>
              </a:custGeom>
              <a:solidFill>
                <a:srgbClr val="F4B083"/>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77" name="object 219">
                <a:extLst>
                  <a:ext uri="{FF2B5EF4-FFF2-40B4-BE49-F238E27FC236}">
                    <a16:creationId xmlns:a16="http://schemas.microsoft.com/office/drawing/2014/main" id="{44B7BFE1-5F0C-4D69-B0EA-8C49EBD3BB81}"/>
                  </a:ext>
                </a:extLst>
              </p:cNvPr>
              <p:cNvSpPr/>
              <p:nvPr/>
            </p:nvSpPr>
            <p:spPr>
              <a:xfrm>
                <a:off x="4937760" y="2942844"/>
                <a:ext cx="321945" cy="224154"/>
              </a:xfrm>
              <a:custGeom>
                <a:avLst/>
                <a:gdLst/>
                <a:ahLst/>
                <a:cxnLst/>
                <a:rect l="l" t="t" r="r" b="b"/>
                <a:pathLst>
                  <a:path w="321945" h="224155">
                    <a:moveTo>
                      <a:pt x="231266" y="178180"/>
                    </a:moveTo>
                    <a:lnTo>
                      <a:pt x="230250" y="147573"/>
                    </a:lnTo>
                    <a:lnTo>
                      <a:pt x="198881" y="156717"/>
                    </a:lnTo>
                    <a:lnTo>
                      <a:pt x="187960" y="181482"/>
                    </a:lnTo>
                    <a:lnTo>
                      <a:pt x="141350" y="178180"/>
                    </a:lnTo>
                    <a:lnTo>
                      <a:pt x="120268" y="164337"/>
                    </a:lnTo>
                    <a:lnTo>
                      <a:pt x="79628" y="177545"/>
                    </a:lnTo>
                    <a:lnTo>
                      <a:pt x="88137" y="201421"/>
                    </a:lnTo>
                    <a:lnTo>
                      <a:pt x="58547" y="220598"/>
                    </a:lnTo>
                    <a:lnTo>
                      <a:pt x="26415" y="224027"/>
                    </a:lnTo>
                    <a:lnTo>
                      <a:pt x="0" y="178434"/>
                    </a:lnTo>
                    <a:lnTo>
                      <a:pt x="40512" y="133730"/>
                    </a:lnTo>
                    <a:lnTo>
                      <a:pt x="111378" y="113791"/>
                    </a:lnTo>
                    <a:lnTo>
                      <a:pt x="111378" y="59943"/>
                    </a:lnTo>
                    <a:lnTo>
                      <a:pt x="152273" y="13461"/>
                    </a:lnTo>
                    <a:lnTo>
                      <a:pt x="171068" y="24510"/>
                    </a:lnTo>
                    <a:lnTo>
                      <a:pt x="187960" y="0"/>
                    </a:lnTo>
                    <a:lnTo>
                      <a:pt x="233044" y="0"/>
                    </a:lnTo>
                    <a:lnTo>
                      <a:pt x="255650" y="14731"/>
                    </a:lnTo>
                    <a:lnTo>
                      <a:pt x="289432" y="19557"/>
                    </a:lnTo>
                    <a:lnTo>
                      <a:pt x="303529" y="41655"/>
                    </a:lnTo>
                    <a:lnTo>
                      <a:pt x="321563" y="62991"/>
                    </a:lnTo>
                    <a:lnTo>
                      <a:pt x="301498" y="97916"/>
                    </a:lnTo>
                    <a:lnTo>
                      <a:pt x="270382" y="137667"/>
                    </a:lnTo>
                    <a:lnTo>
                      <a:pt x="265175" y="180847"/>
                    </a:lnTo>
                    <a:lnTo>
                      <a:pt x="231266" y="178180"/>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78" name="object 220">
                <a:extLst>
                  <a:ext uri="{FF2B5EF4-FFF2-40B4-BE49-F238E27FC236}">
                    <a16:creationId xmlns:a16="http://schemas.microsoft.com/office/drawing/2014/main" id="{F0C7067A-C3B1-413D-B827-9EA81A3E6DEA}"/>
                  </a:ext>
                </a:extLst>
              </p:cNvPr>
              <p:cNvSpPr/>
              <p:nvPr/>
            </p:nvSpPr>
            <p:spPr>
              <a:xfrm>
                <a:off x="4885943" y="3110483"/>
                <a:ext cx="322325" cy="304038"/>
              </a:xfrm>
              <a:prstGeom prst="rect">
                <a:avLst/>
              </a:prstGeom>
              <a:blipFill>
                <a:blip r:embed="rId29"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79" name="object 221">
                <a:extLst>
                  <a:ext uri="{FF2B5EF4-FFF2-40B4-BE49-F238E27FC236}">
                    <a16:creationId xmlns:a16="http://schemas.microsoft.com/office/drawing/2014/main" id="{F43004A9-3865-40E3-A57B-790B10DBFFE8}"/>
                  </a:ext>
                </a:extLst>
              </p:cNvPr>
              <p:cNvSpPr/>
              <p:nvPr/>
            </p:nvSpPr>
            <p:spPr>
              <a:xfrm>
                <a:off x="4904231" y="3090672"/>
                <a:ext cx="312420" cy="294640"/>
              </a:xfrm>
              <a:custGeom>
                <a:avLst/>
                <a:gdLst/>
                <a:ahLst/>
                <a:cxnLst/>
                <a:rect l="l" t="t" r="r" b="b"/>
                <a:pathLst>
                  <a:path w="312420" h="294639">
                    <a:moveTo>
                      <a:pt x="264413" y="0"/>
                    </a:moveTo>
                    <a:lnTo>
                      <a:pt x="233298" y="9778"/>
                    </a:lnTo>
                    <a:lnTo>
                      <a:pt x="221995" y="34289"/>
                    </a:lnTo>
                    <a:lnTo>
                      <a:pt x="174878" y="30861"/>
                    </a:lnTo>
                    <a:lnTo>
                      <a:pt x="153796" y="17144"/>
                    </a:lnTo>
                    <a:lnTo>
                      <a:pt x="113029" y="30861"/>
                    </a:lnTo>
                    <a:lnTo>
                      <a:pt x="121919" y="53848"/>
                    </a:lnTo>
                    <a:lnTo>
                      <a:pt x="91947" y="73660"/>
                    </a:lnTo>
                    <a:lnTo>
                      <a:pt x="60070" y="76707"/>
                    </a:lnTo>
                    <a:lnTo>
                      <a:pt x="33527" y="131825"/>
                    </a:lnTo>
                    <a:lnTo>
                      <a:pt x="0" y="182499"/>
                    </a:lnTo>
                    <a:lnTo>
                      <a:pt x="5333" y="237616"/>
                    </a:lnTo>
                    <a:lnTo>
                      <a:pt x="7112" y="266573"/>
                    </a:lnTo>
                    <a:lnTo>
                      <a:pt x="28320" y="284988"/>
                    </a:lnTo>
                    <a:lnTo>
                      <a:pt x="58292" y="284988"/>
                    </a:lnTo>
                    <a:lnTo>
                      <a:pt x="106044" y="292607"/>
                    </a:lnTo>
                    <a:lnTo>
                      <a:pt x="134238" y="283463"/>
                    </a:lnTo>
                    <a:lnTo>
                      <a:pt x="197865" y="294131"/>
                    </a:lnTo>
                    <a:lnTo>
                      <a:pt x="219075" y="266573"/>
                    </a:lnTo>
                    <a:lnTo>
                      <a:pt x="247395" y="212851"/>
                    </a:lnTo>
                    <a:lnTo>
                      <a:pt x="261492" y="171195"/>
                    </a:lnTo>
                    <a:lnTo>
                      <a:pt x="287019" y="141858"/>
                    </a:lnTo>
                    <a:lnTo>
                      <a:pt x="312419" y="119887"/>
                    </a:lnTo>
                    <a:lnTo>
                      <a:pt x="288035" y="87502"/>
                    </a:lnTo>
                    <a:lnTo>
                      <a:pt x="259714" y="67563"/>
                    </a:lnTo>
                    <a:lnTo>
                      <a:pt x="265810" y="31241"/>
                    </a:lnTo>
                    <a:lnTo>
                      <a:pt x="264413" y="0"/>
                    </a:lnTo>
                    <a:close/>
                  </a:path>
                </a:pathLst>
              </a:custGeom>
              <a:solidFill>
                <a:srgbClr val="F4B083"/>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80" name="object 222">
                <a:extLst>
                  <a:ext uri="{FF2B5EF4-FFF2-40B4-BE49-F238E27FC236}">
                    <a16:creationId xmlns:a16="http://schemas.microsoft.com/office/drawing/2014/main" id="{51E041EB-3C11-4D0F-9D7E-5E6E67CE9CB1}"/>
                  </a:ext>
                </a:extLst>
              </p:cNvPr>
              <p:cNvSpPr/>
              <p:nvPr/>
            </p:nvSpPr>
            <p:spPr>
              <a:xfrm>
                <a:off x="4904231" y="3090672"/>
                <a:ext cx="312420" cy="294640"/>
              </a:xfrm>
              <a:custGeom>
                <a:avLst/>
                <a:gdLst/>
                <a:ahLst/>
                <a:cxnLst/>
                <a:rect l="l" t="t" r="r" b="b"/>
                <a:pathLst>
                  <a:path w="312420" h="294639">
                    <a:moveTo>
                      <a:pt x="265810" y="31241"/>
                    </a:moveTo>
                    <a:lnTo>
                      <a:pt x="264413" y="0"/>
                    </a:lnTo>
                    <a:lnTo>
                      <a:pt x="233298" y="9778"/>
                    </a:lnTo>
                    <a:lnTo>
                      <a:pt x="221995" y="34289"/>
                    </a:lnTo>
                    <a:lnTo>
                      <a:pt x="174878" y="30861"/>
                    </a:lnTo>
                    <a:lnTo>
                      <a:pt x="153796" y="17144"/>
                    </a:lnTo>
                    <a:lnTo>
                      <a:pt x="113029" y="30861"/>
                    </a:lnTo>
                    <a:lnTo>
                      <a:pt x="121919" y="53848"/>
                    </a:lnTo>
                    <a:lnTo>
                      <a:pt x="91947" y="73660"/>
                    </a:lnTo>
                    <a:lnTo>
                      <a:pt x="60070" y="76707"/>
                    </a:lnTo>
                    <a:lnTo>
                      <a:pt x="33527" y="131825"/>
                    </a:lnTo>
                    <a:lnTo>
                      <a:pt x="0" y="182499"/>
                    </a:lnTo>
                    <a:lnTo>
                      <a:pt x="5333" y="237616"/>
                    </a:lnTo>
                    <a:lnTo>
                      <a:pt x="7112" y="266573"/>
                    </a:lnTo>
                    <a:lnTo>
                      <a:pt x="28320" y="284988"/>
                    </a:lnTo>
                    <a:lnTo>
                      <a:pt x="58292" y="284988"/>
                    </a:lnTo>
                    <a:lnTo>
                      <a:pt x="106044" y="292607"/>
                    </a:lnTo>
                    <a:lnTo>
                      <a:pt x="134238" y="283463"/>
                    </a:lnTo>
                    <a:lnTo>
                      <a:pt x="197865" y="294131"/>
                    </a:lnTo>
                    <a:lnTo>
                      <a:pt x="219075" y="266573"/>
                    </a:lnTo>
                    <a:lnTo>
                      <a:pt x="247395" y="212851"/>
                    </a:lnTo>
                    <a:lnTo>
                      <a:pt x="261492" y="171195"/>
                    </a:lnTo>
                    <a:lnTo>
                      <a:pt x="287019" y="141858"/>
                    </a:lnTo>
                    <a:lnTo>
                      <a:pt x="312419" y="119887"/>
                    </a:lnTo>
                    <a:lnTo>
                      <a:pt x="288035" y="87502"/>
                    </a:lnTo>
                    <a:lnTo>
                      <a:pt x="259714" y="67563"/>
                    </a:lnTo>
                    <a:lnTo>
                      <a:pt x="265810" y="31241"/>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81" name="object 223">
                <a:extLst>
                  <a:ext uri="{FF2B5EF4-FFF2-40B4-BE49-F238E27FC236}">
                    <a16:creationId xmlns:a16="http://schemas.microsoft.com/office/drawing/2014/main" id="{93F294E7-47A6-47A5-A34F-B1895A4C7754}"/>
                  </a:ext>
                </a:extLst>
              </p:cNvPr>
              <p:cNvSpPr/>
              <p:nvPr/>
            </p:nvSpPr>
            <p:spPr>
              <a:xfrm>
                <a:off x="4764024" y="3342144"/>
                <a:ext cx="236969" cy="415277"/>
              </a:xfrm>
              <a:prstGeom prst="rect">
                <a:avLst/>
              </a:prstGeom>
              <a:blipFill>
                <a:blip r:embed="rId30"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82" name="object 224">
                <a:extLst>
                  <a:ext uri="{FF2B5EF4-FFF2-40B4-BE49-F238E27FC236}">
                    <a16:creationId xmlns:a16="http://schemas.microsoft.com/office/drawing/2014/main" id="{97656222-FE37-41CD-A2FF-0827A8F8A491}"/>
                  </a:ext>
                </a:extLst>
              </p:cNvPr>
              <p:cNvSpPr/>
              <p:nvPr/>
            </p:nvSpPr>
            <p:spPr>
              <a:xfrm>
                <a:off x="4782311" y="3322320"/>
                <a:ext cx="227329" cy="405765"/>
              </a:xfrm>
              <a:custGeom>
                <a:avLst/>
                <a:gdLst/>
                <a:ahLst/>
                <a:cxnLst/>
                <a:rect l="l" t="t" r="r" b="b"/>
                <a:pathLst>
                  <a:path w="227329" h="405764">
                    <a:moveTo>
                      <a:pt x="81025" y="0"/>
                    </a:moveTo>
                    <a:lnTo>
                      <a:pt x="58038" y="29209"/>
                    </a:lnTo>
                    <a:lnTo>
                      <a:pt x="12700" y="46989"/>
                    </a:lnTo>
                    <a:lnTo>
                      <a:pt x="0" y="115062"/>
                    </a:lnTo>
                    <a:lnTo>
                      <a:pt x="22225" y="150113"/>
                    </a:lnTo>
                    <a:lnTo>
                      <a:pt x="33400" y="184150"/>
                    </a:lnTo>
                    <a:lnTo>
                      <a:pt x="21082" y="204088"/>
                    </a:lnTo>
                    <a:lnTo>
                      <a:pt x="46482" y="262635"/>
                    </a:lnTo>
                    <a:lnTo>
                      <a:pt x="81279" y="315213"/>
                    </a:lnTo>
                    <a:lnTo>
                      <a:pt x="91566" y="397382"/>
                    </a:lnTo>
                    <a:lnTo>
                      <a:pt x="133730" y="378713"/>
                    </a:lnTo>
                    <a:lnTo>
                      <a:pt x="154939" y="405383"/>
                    </a:lnTo>
                    <a:lnTo>
                      <a:pt x="170687" y="386333"/>
                    </a:lnTo>
                    <a:lnTo>
                      <a:pt x="184785" y="360298"/>
                    </a:lnTo>
                    <a:lnTo>
                      <a:pt x="179577" y="318896"/>
                    </a:lnTo>
                    <a:lnTo>
                      <a:pt x="169037" y="271271"/>
                    </a:lnTo>
                    <a:lnTo>
                      <a:pt x="159512" y="242442"/>
                    </a:lnTo>
                    <a:lnTo>
                      <a:pt x="193293" y="242442"/>
                    </a:lnTo>
                    <a:lnTo>
                      <a:pt x="210185" y="208025"/>
                    </a:lnTo>
                    <a:lnTo>
                      <a:pt x="227075" y="168782"/>
                    </a:lnTo>
                    <a:lnTo>
                      <a:pt x="212978" y="110108"/>
                    </a:lnTo>
                    <a:lnTo>
                      <a:pt x="181355" y="51815"/>
                    </a:lnTo>
                    <a:lnTo>
                      <a:pt x="150622" y="52196"/>
                    </a:lnTo>
                    <a:lnTo>
                      <a:pt x="128524" y="34670"/>
                    </a:lnTo>
                    <a:lnTo>
                      <a:pt x="126364" y="4317"/>
                    </a:lnTo>
                    <a:lnTo>
                      <a:pt x="81025" y="0"/>
                    </a:lnTo>
                    <a:close/>
                  </a:path>
                </a:pathLst>
              </a:custGeom>
              <a:solidFill>
                <a:srgbClr val="F4B083"/>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83" name="object 225">
                <a:extLst>
                  <a:ext uri="{FF2B5EF4-FFF2-40B4-BE49-F238E27FC236}">
                    <a16:creationId xmlns:a16="http://schemas.microsoft.com/office/drawing/2014/main" id="{2BA00056-2E9E-4708-8859-60400E723C49}"/>
                  </a:ext>
                </a:extLst>
              </p:cNvPr>
              <p:cNvSpPr/>
              <p:nvPr/>
            </p:nvSpPr>
            <p:spPr>
              <a:xfrm>
                <a:off x="4782311" y="3322320"/>
                <a:ext cx="227329" cy="405765"/>
              </a:xfrm>
              <a:custGeom>
                <a:avLst/>
                <a:gdLst/>
                <a:ahLst/>
                <a:cxnLst/>
                <a:rect l="l" t="t" r="r" b="b"/>
                <a:pathLst>
                  <a:path w="227329" h="405764">
                    <a:moveTo>
                      <a:pt x="12700" y="46989"/>
                    </a:moveTo>
                    <a:lnTo>
                      <a:pt x="0" y="115062"/>
                    </a:lnTo>
                    <a:lnTo>
                      <a:pt x="22225" y="150113"/>
                    </a:lnTo>
                    <a:lnTo>
                      <a:pt x="33400" y="184150"/>
                    </a:lnTo>
                    <a:lnTo>
                      <a:pt x="21082" y="204088"/>
                    </a:lnTo>
                    <a:lnTo>
                      <a:pt x="46482" y="262635"/>
                    </a:lnTo>
                    <a:lnTo>
                      <a:pt x="81279" y="315213"/>
                    </a:lnTo>
                    <a:lnTo>
                      <a:pt x="87629" y="366775"/>
                    </a:lnTo>
                    <a:lnTo>
                      <a:pt x="91566" y="397382"/>
                    </a:lnTo>
                    <a:lnTo>
                      <a:pt x="133730" y="378713"/>
                    </a:lnTo>
                    <a:lnTo>
                      <a:pt x="154939" y="405383"/>
                    </a:lnTo>
                    <a:lnTo>
                      <a:pt x="170687" y="386333"/>
                    </a:lnTo>
                    <a:lnTo>
                      <a:pt x="184785" y="360298"/>
                    </a:lnTo>
                    <a:lnTo>
                      <a:pt x="179577" y="318896"/>
                    </a:lnTo>
                    <a:lnTo>
                      <a:pt x="169037" y="271271"/>
                    </a:lnTo>
                    <a:lnTo>
                      <a:pt x="159512" y="242442"/>
                    </a:lnTo>
                    <a:lnTo>
                      <a:pt x="193293" y="242442"/>
                    </a:lnTo>
                    <a:lnTo>
                      <a:pt x="210185" y="208025"/>
                    </a:lnTo>
                    <a:lnTo>
                      <a:pt x="227075" y="168782"/>
                    </a:lnTo>
                    <a:lnTo>
                      <a:pt x="212978" y="110108"/>
                    </a:lnTo>
                    <a:lnTo>
                      <a:pt x="181355" y="51815"/>
                    </a:lnTo>
                    <a:lnTo>
                      <a:pt x="150622" y="52196"/>
                    </a:lnTo>
                    <a:lnTo>
                      <a:pt x="128524" y="34670"/>
                    </a:lnTo>
                    <a:lnTo>
                      <a:pt x="126364" y="4317"/>
                    </a:lnTo>
                    <a:lnTo>
                      <a:pt x="81025" y="0"/>
                    </a:lnTo>
                    <a:lnTo>
                      <a:pt x="58038" y="29209"/>
                    </a:lnTo>
                    <a:lnTo>
                      <a:pt x="12700" y="46989"/>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84" name="object 226">
                <a:extLst>
                  <a:ext uri="{FF2B5EF4-FFF2-40B4-BE49-F238E27FC236}">
                    <a16:creationId xmlns:a16="http://schemas.microsoft.com/office/drawing/2014/main" id="{880E2AE7-DFB3-4C10-A031-5C421B4C61E7}"/>
                  </a:ext>
                </a:extLst>
              </p:cNvPr>
              <p:cNvSpPr/>
              <p:nvPr/>
            </p:nvSpPr>
            <p:spPr>
              <a:xfrm>
                <a:off x="3986784" y="2761500"/>
                <a:ext cx="157734" cy="186677"/>
              </a:xfrm>
              <a:prstGeom prst="rect">
                <a:avLst/>
              </a:prstGeom>
              <a:blipFill>
                <a:blip r:embed="rId31"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85" name="object 227">
                <a:extLst>
                  <a:ext uri="{FF2B5EF4-FFF2-40B4-BE49-F238E27FC236}">
                    <a16:creationId xmlns:a16="http://schemas.microsoft.com/office/drawing/2014/main" id="{9D8BEEDA-1C7B-4889-9296-6FD27A40CBCA}"/>
                  </a:ext>
                </a:extLst>
              </p:cNvPr>
              <p:cNvSpPr/>
              <p:nvPr/>
            </p:nvSpPr>
            <p:spPr>
              <a:xfrm>
                <a:off x="4000499" y="2737104"/>
                <a:ext cx="156972" cy="185928"/>
              </a:xfrm>
              <a:prstGeom prst="rect">
                <a:avLst/>
              </a:prstGeom>
              <a:blipFill>
                <a:blip r:embed="rId32"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86" name="object 228">
                <a:extLst>
                  <a:ext uri="{FF2B5EF4-FFF2-40B4-BE49-F238E27FC236}">
                    <a16:creationId xmlns:a16="http://schemas.microsoft.com/office/drawing/2014/main" id="{5CB996A9-863E-44D2-83EC-75F6725CE3F6}"/>
                  </a:ext>
                </a:extLst>
              </p:cNvPr>
              <p:cNvSpPr/>
              <p:nvPr/>
            </p:nvSpPr>
            <p:spPr>
              <a:xfrm>
                <a:off x="1426464" y="4846294"/>
                <a:ext cx="121157" cy="169951"/>
              </a:xfrm>
              <a:prstGeom prst="rect">
                <a:avLst/>
              </a:prstGeom>
              <a:blipFill>
                <a:blip r:embed="rId33"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87" name="object 229">
                <a:extLst>
                  <a:ext uri="{FF2B5EF4-FFF2-40B4-BE49-F238E27FC236}">
                    <a16:creationId xmlns:a16="http://schemas.microsoft.com/office/drawing/2014/main" id="{F89E09EE-AF5C-4336-B90A-1BB135FDEA7C}"/>
                  </a:ext>
                </a:extLst>
              </p:cNvPr>
              <p:cNvSpPr/>
              <p:nvPr/>
            </p:nvSpPr>
            <p:spPr>
              <a:xfrm>
                <a:off x="1440179" y="4821936"/>
                <a:ext cx="120395" cy="169164"/>
              </a:xfrm>
              <a:prstGeom prst="rect">
                <a:avLst/>
              </a:prstGeom>
              <a:blipFill>
                <a:blip r:embed="rId34"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88" name="object 230">
                <a:extLst>
                  <a:ext uri="{FF2B5EF4-FFF2-40B4-BE49-F238E27FC236}">
                    <a16:creationId xmlns:a16="http://schemas.microsoft.com/office/drawing/2014/main" id="{C5748E7E-F2AD-4462-99CC-8DC19F2A0819}"/>
                  </a:ext>
                </a:extLst>
              </p:cNvPr>
              <p:cNvSpPr/>
              <p:nvPr/>
            </p:nvSpPr>
            <p:spPr>
              <a:xfrm>
                <a:off x="4585716" y="3333000"/>
                <a:ext cx="200393" cy="278117"/>
              </a:xfrm>
              <a:prstGeom prst="rect">
                <a:avLst/>
              </a:prstGeom>
              <a:blipFill>
                <a:blip r:embed="rId35"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89" name="object 231">
                <a:extLst>
                  <a:ext uri="{FF2B5EF4-FFF2-40B4-BE49-F238E27FC236}">
                    <a16:creationId xmlns:a16="http://schemas.microsoft.com/office/drawing/2014/main" id="{B51A5E68-C518-4474-B4C3-69782494A0C0}"/>
                  </a:ext>
                </a:extLst>
              </p:cNvPr>
              <p:cNvSpPr/>
              <p:nvPr/>
            </p:nvSpPr>
            <p:spPr>
              <a:xfrm>
                <a:off x="4604004" y="3313176"/>
                <a:ext cx="190500" cy="268605"/>
              </a:xfrm>
              <a:custGeom>
                <a:avLst/>
                <a:gdLst/>
                <a:ahLst/>
                <a:cxnLst/>
                <a:rect l="l" t="t" r="r" b="b"/>
                <a:pathLst>
                  <a:path w="190500" h="268604">
                    <a:moveTo>
                      <a:pt x="159766" y="0"/>
                    </a:moveTo>
                    <a:lnTo>
                      <a:pt x="135762" y="5841"/>
                    </a:lnTo>
                    <a:lnTo>
                      <a:pt x="110362" y="45593"/>
                    </a:lnTo>
                    <a:lnTo>
                      <a:pt x="67056" y="54863"/>
                    </a:lnTo>
                    <a:lnTo>
                      <a:pt x="17653" y="70103"/>
                    </a:lnTo>
                    <a:lnTo>
                      <a:pt x="0" y="139064"/>
                    </a:lnTo>
                    <a:lnTo>
                      <a:pt x="17653" y="209803"/>
                    </a:lnTo>
                    <a:lnTo>
                      <a:pt x="33147" y="248665"/>
                    </a:lnTo>
                    <a:lnTo>
                      <a:pt x="52959" y="214375"/>
                    </a:lnTo>
                    <a:lnTo>
                      <a:pt x="58547" y="243712"/>
                    </a:lnTo>
                    <a:lnTo>
                      <a:pt x="86741" y="268224"/>
                    </a:lnTo>
                    <a:lnTo>
                      <a:pt x="116459" y="240411"/>
                    </a:lnTo>
                    <a:lnTo>
                      <a:pt x="111125" y="206628"/>
                    </a:lnTo>
                    <a:lnTo>
                      <a:pt x="127000" y="162306"/>
                    </a:lnTo>
                    <a:lnTo>
                      <a:pt x="125222" y="137540"/>
                    </a:lnTo>
                    <a:lnTo>
                      <a:pt x="178181" y="123698"/>
                    </a:lnTo>
                    <a:lnTo>
                      <a:pt x="190500" y="56387"/>
                    </a:lnTo>
                    <a:lnTo>
                      <a:pt x="159766" y="0"/>
                    </a:lnTo>
                    <a:close/>
                  </a:path>
                </a:pathLst>
              </a:custGeom>
              <a:solidFill>
                <a:srgbClr val="F4B083"/>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90" name="object 232">
                <a:extLst>
                  <a:ext uri="{FF2B5EF4-FFF2-40B4-BE49-F238E27FC236}">
                    <a16:creationId xmlns:a16="http://schemas.microsoft.com/office/drawing/2014/main" id="{20B1D6B5-B941-440E-8BA0-6A4461351D5C}"/>
                  </a:ext>
                </a:extLst>
              </p:cNvPr>
              <p:cNvSpPr/>
              <p:nvPr/>
            </p:nvSpPr>
            <p:spPr>
              <a:xfrm>
                <a:off x="4604004" y="3313176"/>
                <a:ext cx="190500" cy="268605"/>
              </a:xfrm>
              <a:custGeom>
                <a:avLst/>
                <a:gdLst/>
                <a:ahLst/>
                <a:cxnLst/>
                <a:rect l="l" t="t" r="r" b="b"/>
                <a:pathLst>
                  <a:path w="190500" h="268604">
                    <a:moveTo>
                      <a:pt x="178181" y="123698"/>
                    </a:moveTo>
                    <a:lnTo>
                      <a:pt x="125222" y="137540"/>
                    </a:lnTo>
                    <a:lnTo>
                      <a:pt x="127000" y="162306"/>
                    </a:lnTo>
                    <a:lnTo>
                      <a:pt x="111125" y="206628"/>
                    </a:lnTo>
                    <a:lnTo>
                      <a:pt x="116459" y="240411"/>
                    </a:lnTo>
                    <a:lnTo>
                      <a:pt x="86741" y="268224"/>
                    </a:lnTo>
                    <a:lnTo>
                      <a:pt x="58547" y="243712"/>
                    </a:lnTo>
                    <a:lnTo>
                      <a:pt x="52959" y="214375"/>
                    </a:lnTo>
                    <a:lnTo>
                      <a:pt x="33147" y="248665"/>
                    </a:lnTo>
                    <a:lnTo>
                      <a:pt x="17653" y="209803"/>
                    </a:lnTo>
                    <a:lnTo>
                      <a:pt x="0" y="139064"/>
                    </a:lnTo>
                    <a:lnTo>
                      <a:pt x="17653" y="70103"/>
                    </a:lnTo>
                    <a:lnTo>
                      <a:pt x="67056" y="54863"/>
                    </a:lnTo>
                    <a:lnTo>
                      <a:pt x="110362" y="45593"/>
                    </a:lnTo>
                    <a:lnTo>
                      <a:pt x="135762" y="5841"/>
                    </a:lnTo>
                    <a:lnTo>
                      <a:pt x="159766" y="0"/>
                    </a:lnTo>
                    <a:lnTo>
                      <a:pt x="190500" y="56387"/>
                    </a:lnTo>
                    <a:lnTo>
                      <a:pt x="178181" y="123698"/>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91" name="object 233">
                <a:extLst>
                  <a:ext uri="{FF2B5EF4-FFF2-40B4-BE49-F238E27FC236}">
                    <a16:creationId xmlns:a16="http://schemas.microsoft.com/office/drawing/2014/main" id="{2A7C5D6A-EAAD-4AE2-A2EA-201F29CFAAFA}"/>
                  </a:ext>
                </a:extLst>
              </p:cNvPr>
              <p:cNvSpPr/>
              <p:nvPr/>
            </p:nvSpPr>
            <p:spPr>
              <a:xfrm>
                <a:off x="4309872" y="3073895"/>
                <a:ext cx="517410" cy="197370"/>
              </a:xfrm>
              <a:prstGeom prst="rect">
                <a:avLst/>
              </a:prstGeom>
              <a:blipFill>
                <a:blip r:embed="rId36"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92" name="object 234">
                <a:extLst>
                  <a:ext uri="{FF2B5EF4-FFF2-40B4-BE49-F238E27FC236}">
                    <a16:creationId xmlns:a16="http://schemas.microsoft.com/office/drawing/2014/main" id="{FC4EF3B8-9634-4F6E-8A5E-D3BA826B871D}"/>
                  </a:ext>
                </a:extLst>
              </p:cNvPr>
              <p:cNvSpPr/>
              <p:nvPr/>
            </p:nvSpPr>
            <p:spPr>
              <a:xfrm>
                <a:off x="4328160" y="3054095"/>
                <a:ext cx="508000" cy="187960"/>
              </a:xfrm>
              <a:custGeom>
                <a:avLst/>
                <a:gdLst/>
                <a:ahLst/>
                <a:cxnLst/>
                <a:rect l="l" t="t" r="r" b="b"/>
                <a:pathLst>
                  <a:path w="508000" h="187960">
                    <a:moveTo>
                      <a:pt x="355091" y="0"/>
                    </a:moveTo>
                    <a:lnTo>
                      <a:pt x="305815" y="25653"/>
                    </a:lnTo>
                    <a:lnTo>
                      <a:pt x="293750" y="53975"/>
                    </a:lnTo>
                    <a:lnTo>
                      <a:pt x="164718" y="44830"/>
                    </a:lnTo>
                    <a:lnTo>
                      <a:pt x="83565" y="32003"/>
                    </a:lnTo>
                    <a:lnTo>
                      <a:pt x="30352" y="71881"/>
                    </a:lnTo>
                    <a:lnTo>
                      <a:pt x="46227" y="100583"/>
                    </a:lnTo>
                    <a:lnTo>
                      <a:pt x="0" y="132587"/>
                    </a:lnTo>
                    <a:lnTo>
                      <a:pt x="14859" y="158750"/>
                    </a:lnTo>
                    <a:lnTo>
                      <a:pt x="131952" y="169799"/>
                    </a:lnTo>
                    <a:lnTo>
                      <a:pt x="160527" y="155193"/>
                    </a:lnTo>
                    <a:lnTo>
                      <a:pt x="244093" y="155701"/>
                    </a:lnTo>
                    <a:lnTo>
                      <a:pt x="321690" y="154177"/>
                    </a:lnTo>
                    <a:lnTo>
                      <a:pt x="436625" y="178053"/>
                    </a:lnTo>
                    <a:lnTo>
                      <a:pt x="469773" y="187451"/>
                    </a:lnTo>
                    <a:lnTo>
                      <a:pt x="475741" y="153669"/>
                    </a:lnTo>
                    <a:lnTo>
                      <a:pt x="507491" y="127126"/>
                    </a:lnTo>
                    <a:lnTo>
                      <a:pt x="490600" y="71881"/>
                    </a:lnTo>
                    <a:lnTo>
                      <a:pt x="454532" y="53975"/>
                    </a:lnTo>
                    <a:lnTo>
                      <a:pt x="406273" y="53593"/>
                    </a:lnTo>
                    <a:lnTo>
                      <a:pt x="395731" y="3301"/>
                    </a:lnTo>
                    <a:lnTo>
                      <a:pt x="355091" y="0"/>
                    </a:lnTo>
                    <a:close/>
                  </a:path>
                </a:pathLst>
              </a:custGeom>
              <a:solidFill>
                <a:srgbClr val="F4B083"/>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93" name="object 235">
                <a:extLst>
                  <a:ext uri="{FF2B5EF4-FFF2-40B4-BE49-F238E27FC236}">
                    <a16:creationId xmlns:a16="http://schemas.microsoft.com/office/drawing/2014/main" id="{3DAD7266-BF32-4E0F-B354-4102F3CCF8EE}"/>
                  </a:ext>
                </a:extLst>
              </p:cNvPr>
              <p:cNvSpPr/>
              <p:nvPr/>
            </p:nvSpPr>
            <p:spPr>
              <a:xfrm>
                <a:off x="4328160" y="3054095"/>
                <a:ext cx="508000" cy="187960"/>
              </a:xfrm>
              <a:custGeom>
                <a:avLst/>
                <a:gdLst/>
                <a:ahLst/>
                <a:cxnLst/>
                <a:rect l="l" t="t" r="r" b="b"/>
                <a:pathLst>
                  <a:path w="508000" h="187960">
                    <a:moveTo>
                      <a:pt x="436625" y="178053"/>
                    </a:moveTo>
                    <a:lnTo>
                      <a:pt x="321690" y="154177"/>
                    </a:lnTo>
                    <a:lnTo>
                      <a:pt x="244093" y="155701"/>
                    </a:lnTo>
                    <a:lnTo>
                      <a:pt x="160527" y="155193"/>
                    </a:lnTo>
                    <a:lnTo>
                      <a:pt x="131952" y="169799"/>
                    </a:lnTo>
                    <a:lnTo>
                      <a:pt x="14859" y="158750"/>
                    </a:lnTo>
                    <a:lnTo>
                      <a:pt x="0" y="132587"/>
                    </a:lnTo>
                    <a:lnTo>
                      <a:pt x="46227" y="100583"/>
                    </a:lnTo>
                    <a:lnTo>
                      <a:pt x="30352" y="71881"/>
                    </a:lnTo>
                    <a:lnTo>
                      <a:pt x="83565" y="32003"/>
                    </a:lnTo>
                    <a:lnTo>
                      <a:pt x="164718" y="44830"/>
                    </a:lnTo>
                    <a:lnTo>
                      <a:pt x="293750" y="53975"/>
                    </a:lnTo>
                    <a:lnTo>
                      <a:pt x="305815" y="25653"/>
                    </a:lnTo>
                    <a:lnTo>
                      <a:pt x="355091" y="0"/>
                    </a:lnTo>
                    <a:lnTo>
                      <a:pt x="395731" y="3301"/>
                    </a:lnTo>
                    <a:lnTo>
                      <a:pt x="406273" y="53593"/>
                    </a:lnTo>
                    <a:lnTo>
                      <a:pt x="454532" y="53975"/>
                    </a:lnTo>
                    <a:lnTo>
                      <a:pt x="490600" y="71881"/>
                    </a:lnTo>
                    <a:lnTo>
                      <a:pt x="507491" y="127126"/>
                    </a:lnTo>
                    <a:lnTo>
                      <a:pt x="475741" y="153669"/>
                    </a:lnTo>
                    <a:lnTo>
                      <a:pt x="469773" y="187451"/>
                    </a:lnTo>
                    <a:lnTo>
                      <a:pt x="436625" y="178053"/>
                    </a:lnTo>
                    <a:close/>
                  </a:path>
                </a:pathLst>
              </a:custGeom>
              <a:ln w="9143">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94" name="object 236">
                <a:extLst>
                  <a:ext uri="{FF2B5EF4-FFF2-40B4-BE49-F238E27FC236}">
                    <a16:creationId xmlns:a16="http://schemas.microsoft.com/office/drawing/2014/main" id="{7F8CFE6C-D533-4C2C-98AF-E20B030F96A4}"/>
                  </a:ext>
                </a:extLst>
              </p:cNvPr>
              <p:cNvSpPr/>
              <p:nvPr/>
            </p:nvSpPr>
            <p:spPr>
              <a:xfrm>
                <a:off x="5000243" y="5140439"/>
                <a:ext cx="89153" cy="398538"/>
              </a:xfrm>
              <a:prstGeom prst="rect">
                <a:avLst/>
              </a:prstGeom>
              <a:blipFill>
                <a:blip r:embed="rId37"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95" name="object 237">
                <a:extLst>
                  <a:ext uri="{FF2B5EF4-FFF2-40B4-BE49-F238E27FC236}">
                    <a16:creationId xmlns:a16="http://schemas.microsoft.com/office/drawing/2014/main" id="{DEA6B8C8-E121-44D3-98E2-D1C246EE478C}"/>
                  </a:ext>
                </a:extLst>
              </p:cNvPr>
              <p:cNvSpPr/>
              <p:nvPr/>
            </p:nvSpPr>
            <p:spPr>
              <a:xfrm>
                <a:off x="5018531" y="5120639"/>
                <a:ext cx="79375" cy="388620"/>
              </a:xfrm>
              <a:custGeom>
                <a:avLst/>
                <a:gdLst/>
                <a:ahLst/>
                <a:cxnLst/>
                <a:rect l="l" t="t" r="r" b="b"/>
                <a:pathLst>
                  <a:path w="79375" h="388620">
                    <a:moveTo>
                      <a:pt x="76072" y="0"/>
                    </a:moveTo>
                    <a:lnTo>
                      <a:pt x="49529" y="0"/>
                    </a:lnTo>
                    <a:lnTo>
                      <a:pt x="38862" y="71882"/>
                    </a:lnTo>
                    <a:lnTo>
                      <a:pt x="36829" y="103378"/>
                    </a:lnTo>
                    <a:lnTo>
                      <a:pt x="28320" y="122301"/>
                    </a:lnTo>
                    <a:lnTo>
                      <a:pt x="31876" y="145288"/>
                    </a:lnTo>
                    <a:lnTo>
                      <a:pt x="21208" y="183515"/>
                    </a:lnTo>
                    <a:lnTo>
                      <a:pt x="33654" y="220472"/>
                    </a:lnTo>
                    <a:lnTo>
                      <a:pt x="12318" y="280035"/>
                    </a:lnTo>
                    <a:lnTo>
                      <a:pt x="0" y="306070"/>
                    </a:lnTo>
                    <a:lnTo>
                      <a:pt x="26542" y="338201"/>
                    </a:lnTo>
                    <a:lnTo>
                      <a:pt x="12318" y="376428"/>
                    </a:lnTo>
                    <a:lnTo>
                      <a:pt x="37083" y="388620"/>
                    </a:lnTo>
                    <a:lnTo>
                      <a:pt x="37083" y="356489"/>
                    </a:lnTo>
                    <a:lnTo>
                      <a:pt x="54863" y="335153"/>
                    </a:lnTo>
                    <a:lnTo>
                      <a:pt x="58038" y="312547"/>
                    </a:lnTo>
                    <a:lnTo>
                      <a:pt x="49529" y="283083"/>
                    </a:lnTo>
                    <a:lnTo>
                      <a:pt x="54863" y="232664"/>
                    </a:lnTo>
                    <a:lnTo>
                      <a:pt x="55879" y="193294"/>
                    </a:lnTo>
                    <a:lnTo>
                      <a:pt x="70738" y="171196"/>
                    </a:lnTo>
                    <a:lnTo>
                      <a:pt x="64388" y="136398"/>
                    </a:lnTo>
                    <a:lnTo>
                      <a:pt x="62229" y="108839"/>
                    </a:lnTo>
                    <a:lnTo>
                      <a:pt x="79247" y="81280"/>
                    </a:lnTo>
                    <a:lnTo>
                      <a:pt x="72897" y="48260"/>
                    </a:lnTo>
                    <a:lnTo>
                      <a:pt x="76072" y="0"/>
                    </a:lnTo>
                    <a:close/>
                  </a:path>
                </a:pathLst>
              </a:custGeom>
              <a:solidFill>
                <a:srgbClr val="F4B083"/>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96" name="object 238">
                <a:extLst>
                  <a:ext uri="{FF2B5EF4-FFF2-40B4-BE49-F238E27FC236}">
                    <a16:creationId xmlns:a16="http://schemas.microsoft.com/office/drawing/2014/main" id="{DE80B98C-5376-463F-93A9-6915BDF26B43}"/>
                  </a:ext>
                </a:extLst>
              </p:cNvPr>
              <p:cNvSpPr/>
              <p:nvPr/>
            </p:nvSpPr>
            <p:spPr>
              <a:xfrm>
                <a:off x="5018531" y="5120639"/>
                <a:ext cx="79375" cy="388620"/>
              </a:xfrm>
              <a:custGeom>
                <a:avLst/>
                <a:gdLst/>
                <a:ahLst/>
                <a:cxnLst/>
                <a:rect l="l" t="t" r="r" b="b"/>
                <a:pathLst>
                  <a:path w="79375" h="388620">
                    <a:moveTo>
                      <a:pt x="76072" y="0"/>
                    </a:moveTo>
                    <a:lnTo>
                      <a:pt x="49529" y="0"/>
                    </a:lnTo>
                    <a:lnTo>
                      <a:pt x="38862" y="71882"/>
                    </a:lnTo>
                    <a:lnTo>
                      <a:pt x="36829" y="103378"/>
                    </a:lnTo>
                    <a:lnTo>
                      <a:pt x="28320" y="122301"/>
                    </a:lnTo>
                    <a:lnTo>
                      <a:pt x="31876" y="145288"/>
                    </a:lnTo>
                    <a:lnTo>
                      <a:pt x="21208" y="183515"/>
                    </a:lnTo>
                    <a:lnTo>
                      <a:pt x="33654" y="220472"/>
                    </a:lnTo>
                    <a:lnTo>
                      <a:pt x="12318" y="280035"/>
                    </a:lnTo>
                    <a:lnTo>
                      <a:pt x="0" y="306070"/>
                    </a:lnTo>
                    <a:lnTo>
                      <a:pt x="26542" y="338201"/>
                    </a:lnTo>
                    <a:lnTo>
                      <a:pt x="12318" y="376428"/>
                    </a:lnTo>
                    <a:lnTo>
                      <a:pt x="37083" y="388620"/>
                    </a:lnTo>
                    <a:lnTo>
                      <a:pt x="37083" y="356489"/>
                    </a:lnTo>
                    <a:lnTo>
                      <a:pt x="54863" y="335153"/>
                    </a:lnTo>
                    <a:lnTo>
                      <a:pt x="58038" y="312547"/>
                    </a:lnTo>
                    <a:lnTo>
                      <a:pt x="49529" y="283083"/>
                    </a:lnTo>
                    <a:lnTo>
                      <a:pt x="54863" y="232664"/>
                    </a:lnTo>
                    <a:lnTo>
                      <a:pt x="55879" y="193294"/>
                    </a:lnTo>
                    <a:lnTo>
                      <a:pt x="70738" y="171196"/>
                    </a:lnTo>
                    <a:lnTo>
                      <a:pt x="64388" y="136398"/>
                    </a:lnTo>
                    <a:lnTo>
                      <a:pt x="62229" y="108839"/>
                    </a:lnTo>
                    <a:lnTo>
                      <a:pt x="79247" y="81280"/>
                    </a:lnTo>
                    <a:lnTo>
                      <a:pt x="72897" y="48260"/>
                    </a:lnTo>
                    <a:lnTo>
                      <a:pt x="76072" y="0"/>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97" name="object 239">
                <a:extLst>
                  <a:ext uri="{FF2B5EF4-FFF2-40B4-BE49-F238E27FC236}">
                    <a16:creationId xmlns:a16="http://schemas.microsoft.com/office/drawing/2014/main" id="{074747D5-06A9-4D6D-A7D5-6790777AB8BB}"/>
                  </a:ext>
                </a:extLst>
              </p:cNvPr>
              <p:cNvSpPr/>
              <p:nvPr/>
            </p:nvSpPr>
            <p:spPr>
              <a:xfrm>
                <a:off x="4980431" y="5605272"/>
                <a:ext cx="60252" cy="67767"/>
              </a:xfrm>
              <a:prstGeom prst="rect">
                <a:avLst/>
              </a:prstGeom>
              <a:blipFill>
                <a:blip r:embed="rId38"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98" name="object 240">
                <a:extLst>
                  <a:ext uri="{FF2B5EF4-FFF2-40B4-BE49-F238E27FC236}">
                    <a16:creationId xmlns:a16="http://schemas.microsoft.com/office/drawing/2014/main" id="{B7DEAE52-1D06-4C12-BC06-295D79369214}"/>
                  </a:ext>
                </a:extLst>
              </p:cNvPr>
              <p:cNvSpPr/>
              <p:nvPr/>
            </p:nvSpPr>
            <p:spPr>
              <a:xfrm>
                <a:off x="4998719" y="5585460"/>
                <a:ext cx="50800" cy="58419"/>
              </a:xfrm>
              <a:custGeom>
                <a:avLst/>
                <a:gdLst/>
                <a:ahLst/>
                <a:cxnLst/>
                <a:rect l="l" t="t" r="r" b="b"/>
                <a:pathLst>
                  <a:path w="50800" h="58420">
                    <a:moveTo>
                      <a:pt x="28447" y="0"/>
                    </a:moveTo>
                    <a:lnTo>
                      <a:pt x="6984" y="12661"/>
                    </a:lnTo>
                    <a:lnTo>
                      <a:pt x="0" y="39814"/>
                    </a:lnTo>
                    <a:lnTo>
                      <a:pt x="17906" y="57911"/>
                    </a:lnTo>
                    <a:lnTo>
                      <a:pt x="41528" y="47053"/>
                    </a:lnTo>
                    <a:lnTo>
                      <a:pt x="50291" y="16281"/>
                    </a:lnTo>
                    <a:lnTo>
                      <a:pt x="28447"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99" name="object 241">
                <a:extLst>
                  <a:ext uri="{FF2B5EF4-FFF2-40B4-BE49-F238E27FC236}">
                    <a16:creationId xmlns:a16="http://schemas.microsoft.com/office/drawing/2014/main" id="{7E9933D5-2CDE-436E-948E-E3C5AAC2BBB6}"/>
                  </a:ext>
                </a:extLst>
              </p:cNvPr>
              <p:cNvSpPr/>
              <p:nvPr/>
            </p:nvSpPr>
            <p:spPr>
              <a:xfrm>
                <a:off x="4998719" y="5585460"/>
                <a:ext cx="50800" cy="58419"/>
              </a:xfrm>
              <a:custGeom>
                <a:avLst/>
                <a:gdLst/>
                <a:ahLst/>
                <a:cxnLst/>
                <a:rect l="l" t="t" r="r" b="b"/>
                <a:pathLst>
                  <a:path w="50800" h="58420">
                    <a:moveTo>
                      <a:pt x="17906" y="57911"/>
                    </a:moveTo>
                    <a:lnTo>
                      <a:pt x="0" y="39814"/>
                    </a:lnTo>
                    <a:lnTo>
                      <a:pt x="6984" y="12661"/>
                    </a:lnTo>
                    <a:lnTo>
                      <a:pt x="28447" y="0"/>
                    </a:lnTo>
                    <a:lnTo>
                      <a:pt x="50291" y="16281"/>
                    </a:lnTo>
                    <a:lnTo>
                      <a:pt x="41528" y="47053"/>
                    </a:lnTo>
                    <a:lnTo>
                      <a:pt x="17906" y="57911"/>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00" name="object 242">
                <a:extLst>
                  <a:ext uri="{FF2B5EF4-FFF2-40B4-BE49-F238E27FC236}">
                    <a16:creationId xmlns:a16="http://schemas.microsoft.com/office/drawing/2014/main" id="{DF564FFE-A4C3-486C-B4C3-13F11571CC20}"/>
                  </a:ext>
                </a:extLst>
              </p:cNvPr>
              <p:cNvSpPr/>
              <p:nvPr/>
            </p:nvSpPr>
            <p:spPr>
              <a:xfrm>
                <a:off x="5294375" y="6208778"/>
                <a:ext cx="67767" cy="86065"/>
              </a:xfrm>
              <a:prstGeom prst="rect">
                <a:avLst/>
              </a:prstGeom>
              <a:blipFill>
                <a:blip r:embed="rId39"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01" name="object 243">
                <a:extLst>
                  <a:ext uri="{FF2B5EF4-FFF2-40B4-BE49-F238E27FC236}">
                    <a16:creationId xmlns:a16="http://schemas.microsoft.com/office/drawing/2014/main" id="{4ADD8777-A5EB-43FD-A51A-F3FEB2341139}"/>
                  </a:ext>
                </a:extLst>
              </p:cNvPr>
              <p:cNvSpPr/>
              <p:nvPr/>
            </p:nvSpPr>
            <p:spPr>
              <a:xfrm>
                <a:off x="5312663" y="6188963"/>
                <a:ext cx="58419" cy="76200"/>
              </a:xfrm>
              <a:custGeom>
                <a:avLst/>
                <a:gdLst/>
                <a:ahLst/>
                <a:cxnLst/>
                <a:rect l="l" t="t" r="r" b="b"/>
                <a:pathLst>
                  <a:path w="58420" h="76200">
                    <a:moveTo>
                      <a:pt x="27939" y="0"/>
                    </a:moveTo>
                    <a:lnTo>
                      <a:pt x="6731" y="12700"/>
                    </a:lnTo>
                    <a:lnTo>
                      <a:pt x="0" y="39916"/>
                    </a:lnTo>
                    <a:lnTo>
                      <a:pt x="17525" y="58051"/>
                    </a:lnTo>
                    <a:lnTo>
                      <a:pt x="25781" y="76200"/>
                    </a:lnTo>
                    <a:lnTo>
                      <a:pt x="45085" y="76200"/>
                    </a:lnTo>
                    <a:lnTo>
                      <a:pt x="53594" y="59867"/>
                    </a:lnTo>
                    <a:lnTo>
                      <a:pt x="57912" y="36283"/>
                    </a:lnTo>
                    <a:lnTo>
                      <a:pt x="49275" y="16332"/>
                    </a:lnTo>
                    <a:lnTo>
                      <a:pt x="27939"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02" name="object 244">
                <a:extLst>
                  <a:ext uri="{FF2B5EF4-FFF2-40B4-BE49-F238E27FC236}">
                    <a16:creationId xmlns:a16="http://schemas.microsoft.com/office/drawing/2014/main" id="{37AA53AA-090A-4408-A87E-CCCF244AD375}"/>
                  </a:ext>
                </a:extLst>
              </p:cNvPr>
              <p:cNvSpPr/>
              <p:nvPr/>
            </p:nvSpPr>
            <p:spPr>
              <a:xfrm>
                <a:off x="5312663" y="6188963"/>
                <a:ext cx="58419" cy="76200"/>
              </a:xfrm>
              <a:custGeom>
                <a:avLst/>
                <a:gdLst/>
                <a:ahLst/>
                <a:cxnLst/>
                <a:rect l="l" t="t" r="r" b="b"/>
                <a:pathLst>
                  <a:path w="58420" h="76200">
                    <a:moveTo>
                      <a:pt x="17525" y="58051"/>
                    </a:moveTo>
                    <a:lnTo>
                      <a:pt x="0" y="39916"/>
                    </a:lnTo>
                    <a:lnTo>
                      <a:pt x="6731" y="12700"/>
                    </a:lnTo>
                    <a:lnTo>
                      <a:pt x="27939" y="0"/>
                    </a:lnTo>
                    <a:lnTo>
                      <a:pt x="49275" y="16332"/>
                    </a:lnTo>
                    <a:lnTo>
                      <a:pt x="57912" y="36283"/>
                    </a:lnTo>
                    <a:lnTo>
                      <a:pt x="53594" y="59867"/>
                    </a:lnTo>
                    <a:lnTo>
                      <a:pt x="45085" y="76200"/>
                    </a:lnTo>
                    <a:lnTo>
                      <a:pt x="25781" y="76200"/>
                    </a:lnTo>
                    <a:lnTo>
                      <a:pt x="17525" y="58051"/>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03" name="object 245">
                <a:extLst>
                  <a:ext uri="{FF2B5EF4-FFF2-40B4-BE49-F238E27FC236}">
                    <a16:creationId xmlns:a16="http://schemas.microsoft.com/office/drawing/2014/main" id="{E9162EB1-A30F-4A76-BD04-35EE754CC74B}"/>
                  </a:ext>
                </a:extLst>
              </p:cNvPr>
              <p:cNvSpPr/>
              <p:nvPr/>
            </p:nvSpPr>
            <p:spPr>
              <a:xfrm>
                <a:off x="5119116" y="6030473"/>
                <a:ext cx="48005" cy="55684"/>
              </a:xfrm>
              <a:prstGeom prst="rect">
                <a:avLst/>
              </a:prstGeom>
              <a:blipFill>
                <a:blip r:embed="rId40"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04" name="object 246">
                <a:extLst>
                  <a:ext uri="{FF2B5EF4-FFF2-40B4-BE49-F238E27FC236}">
                    <a16:creationId xmlns:a16="http://schemas.microsoft.com/office/drawing/2014/main" id="{FE9A9E3E-C03B-45CF-890C-A980AA8C5A54}"/>
                  </a:ext>
                </a:extLst>
              </p:cNvPr>
              <p:cNvSpPr/>
              <p:nvPr/>
            </p:nvSpPr>
            <p:spPr>
              <a:xfrm>
                <a:off x="5137404" y="6010656"/>
                <a:ext cx="38100" cy="45720"/>
              </a:xfrm>
              <a:custGeom>
                <a:avLst/>
                <a:gdLst/>
                <a:ahLst/>
                <a:cxnLst/>
                <a:rect l="l" t="t" r="r" b="b"/>
                <a:pathLst>
                  <a:path w="38100" h="45720">
                    <a:moveTo>
                      <a:pt x="0" y="0"/>
                    </a:moveTo>
                    <a:lnTo>
                      <a:pt x="6350" y="26670"/>
                    </a:lnTo>
                    <a:lnTo>
                      <a:pt x="23622" y="45720"/>
                    </a:lnTo>
                    <a:lnTo>
                      <a:pt x="38100" y="34290"/>
                    </a:lnTo>
                    <a:lnTo>
                      <a:pt x="29591" y="17145"/>
                    </a:lnTo>
                    <a:lnTo>
                      <a:pt x="16891" y="1905"/>
                    </a:lnTo>
                    <a:lnTo>
                      <a:pt x="0"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05" name="object 247">
                <a:extLst>
                  <a:ext uri="{FF2B5EF4-FFF2-40B4-BE49-F238E27FC236}">
                    <a16:creationId xmlns:a16="http://schemas.microsoft.com/office/drawing/2014/main" id="{AAE71984-0902-4D7C-9FDA-68BBED643CCD}"/>
                  </a:ext>
                </a:extLst>
              </p:cNvPr>
              <p:cNvSpPr/>
              <p:nvPr/>
            </p:nvSpPr>
            <p:spPr>
              <a:xfrm>
                <a:off x="5137404" y="6010656"/>
                <a:ext cx="38100" cy="45720"/>
              </a:xfrm>
              <a:custGeom>
                <a:avLst/>
                <a:gdLst/>
                <a:ahLst/>
                <a:cxnLst/>
                <a:rect l="l" t="t" r="r" b="b"/>
                <a:pathLst>
                  <a:path w="38100" h="45720">
                    <a:moveTo>
                      <a:pt x="23622" y="45720"/>
                    </a:moveTo>
                    <a:lnTo>
                      <a:pt x="6350" y="26670"/>
                    </a:lnTo>
                    <a:lnTo>
                      <a:pt x="0" y="0"/>
                    </a:lnTo>
                    <a:lnTo>
                      <a:pt x="16891" y="1905"/>
                    </a:lnTo>
                    <a:lnTo>
                      <a:pt x="29591" y="17145"/>
                    </a:lnTo>
                    <a:lnTo>
                      <a:pt x="38100" y="34290"/>
                    </a:lnTo>
                    <a:lnTo>
                      <a:pt x="23622" y="45720"/>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06" name="object 248">
                <a:extLst>
                  <a:ext uri="{FF2B5EF4-FFF2-40B4-BE49-F238E27FC236}">
                    <a16:creationId xmlns:a16="http://schemas.microsoft.com/office/drawing/2014/main" id="{1BE9849D-5AB0-48AC-A4D2-67BABE6BEAF8}"/>
                  </a:ext>
                </a:extLst>
              </p:cNvPr>
              <p:cNvSpPr/>
              <p:nvPr/>
            </p:nvSpPr>
            <p:spPr>
              <a:xfrm>
                <a:off x="5183124" y="6074660"/>
                <a:ext cx="70865" cy="60252"/>
              </a:xfrm>
              <a:prstGeom prst="rect">
                <a:avLst/>
              </a:prstGeom>
              <a:blipFill>
                <a:blip r:embed="rId41"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07" name="object 249">
                <a:extLst>
                  <a:ext uri="{FF2B5EF4-FFF2-40B4-BE49-F238E27FC236}">
                    <a16:creationId xmlns:a16="http://schemas.microsoft.com/office/drawing/2014/main" id="{7D5D07B6-22A1-42F7-AB1D-8C84B526F4FB}"/>
                  </a:ext>
                </a:extLst>
              </p:cNvPr>
              <p:cNvSpPr/>
              <p:nvPr/>
            </p:nvSpPr>
            <p:spPr>
              <a:xfrm>
                <a:off x="5201411" y="6054851"/>
                <a:ext cx="60960" cy="50800"/>
              </a:xfrm>
              <a:custGeom>
                <a:avLst/>
                <a:gdLst/>
                <a:ahLst/>
                <a:cxnLst/>
                <a:rect l="l" t="t" r="r" b="b"/>
                <a:pathLst>
                  <a:path w="60960" h="50800">
                    <a:moveTo>
                      <a:pt x="30861" y="0"/>
                    </a:moveTo>
                    <a:lnTo>
                      <a:pt x="37337" y="25450"/>
                    </a:lnTo>
                    <a:lnTo>
                      <a:pt x="24002" y="35750"/>
                    </a:lnTo>
                    <a:lnTo>
                      <a:pt x="1397" y="32715"/>
                    </a:lnTo>
                    <a:lnTo>
                      <a:pt x="0" y="45745"/>
                    </a:lnTo>
                    <a:lnTo>
                      <a:pt x="22225" y="48780"/>
                    </a:lnTo>
                    <a:lnTo>
                      <a:pt x="44450" y="50292"/>
                    </a:lnTo>
                    <a:lnTo>
                      <a:pt x="60198" y="35750"/>
                    </a:lnTo>
                    <a:lnTo>
                      <a:pt x="60960" y="16357"/>
                    </a:lnTo>
                    <a:lnTo>
                      <a:pt x="48005" y="1816"/>
                    </a:lnTo>
                    <a:lnTo>
                      <a:pt x="30861"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08" name="object 250">
                <a:extLst>
                  <a:ext uri="{FF2B5EF4-FFF2-40B4-BE49-F238E27FC236}">
                    <a16:creationId xmlns:a16="http://schemas.microsoft.com/office/drawing/2014/main" id="{4ED259F1-D55D-4800-A814-E272D407330F}"/>
                  </a:ext>
                </a:extLst>
              </p:cNvPr>
              <p:cNvSpPr/>
              <p:nvPr/>
            </p:nvSpPr>
            <p:spPr>
              <a:xfrm>
                <a:off x="5201411" y="6054851"/>
                <a:ext cx="60960" cy="50800"/>
              </a:xfrm>
              <a:custGeom>
                <a:avLst/>
                <a:gdLst/>
                <a:ahLst/>
                <a:cxnLst/>
                <a:rect l="l" t="t" r="r" b="b"/>
                <a:pathLst>
                  <a:path w="60960" h="50800">
                    <a:moveTo>
                      <a:pt x="44450" y="50292"/>
                    </a:moveTo>
                    <a:lnTo>
                      <a:pt x="22225" y="48780"/>
                    </a:lnTo>
                    <a:lnTo>
                      <a:pt x="0" y="45745"/>
                    </a:lnTo>
                    <a:lnTo>
                      <a:pt x="1397" y="32715"/>
                    </a:lnTo>
                    <a:lnTo>
                      <a:pt x="24002" y="35750"/>
                    </a:lnTo>
                    <a:lnTo>
                      <a:pt x="37337" y="25450"/>
                    </a:lnTo>
                    <a:lnTo>
                      <a:pt x="30861" y="0"/>
                    </a:lnTo>
                    <a:lnTo>
                      <a:pt x="48005" y="1816"/>
                    </a:lnTo>
                    <a:lnTo>
                      <a:pt x="60960" y="16357"/>
                    </a:lnTo>
                    <a:lnTo>
                      <a:pt x="60198" y="35750"/>
                    </a:lnTo>
                    <a:lnTo>
                      <a:pt x="44450" y="50292"/>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09" name="object 251">
                <a:extLst>
                  <a:ext uri="{FF2B5EF4-FFF2-40B4-BE49-F238E27FC236}">
                    <a16:creationId xmlns:a16="http://schemas.microsoft.com/office/drawing/2014/main" id="{7D506AD3-39CD-4B2F-8EC0-DFC7AA3CF053}"/>
                  </a:ext>
                </a:extLst>
              </p:cNvPr>
              <p:cNvSpPr/>
              <p:nvPr/>
            </p:nvSpPr>
            <p:spPr>
              <a:xfrm>
                <a:off x="5044440" y="5896356"/>
                <a:ext cx="44881" cy="44881"/>
              </a:xfrm>
              <a:prstGeom prst="rect">
                <a:avLst/>
              </a:prstGeom>
              <a:blipFill>
                <a:blip r:embed="rId42"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10" name="object 252">
                <a:extLst>
                  <a:ext uri="{FF2B5EF4-FFF2-40B4-BE49-F238E27FC236}">
                    <a16:creationId xmlns:a16="http://schemas.microsoft.com/office/drawing/2014/main" id="{CC6A42C6-7DCE-4A23-A5F9-F2AA1E769847}"/>
                  </a:ext>
                </a:extLst>
              </p:cNvPr>
              <p:cNvSpPr/>
              <p:nvPr/>
            </p:nvSpPr>
            <p:spPr>
              <a:xfrm>
                <a:off x="5062728" y="5876543"/>
                <a:ext cx="35560" cy="35560"/>
              </a:xfrm>
              <a:custGeom>
                <a:avLst/>
                <a:gdLst/>
                <a:ahLst/>
                <a:cxnLst/>
                <a:rect l="l" t="t" r="r" b="b"/>
                <a:pathLst>
                  <a:path w="35560" h="35560">
                    <a:moveTo>
                      <a:pt x="4699" y="0"/>
                    </a:moveTo>
                    <a:lnTo>
                      <a:pt x="0" y="20548"/>
                    </a:lnTo>
                    <a:lnTo>
                      <a:pt x="6858" y="35051"/>
                    </a:lnTo>
                    <a:lnTo>
                      <a:pt x="27812" y="30518"/>
                    </a:lnTo>
                    <a:lnTo>
                      <a:pt x="35051" y="16319"/>
                    </a:lnTo>
                    <a:lnTo>
                      <a:pt x="22098" y="1816"/>
                    </a:lnTo>
                    <a:lnTo>
                      <a:pt x="4699"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11" name="object 253">
                <a:extLst>
                  <a:ext uri="{FF2B5EF4-FFF2-40B4-BE49-F238E27FC236}">
                    <a16:creationId xmlns:a16="http://schemas.microsoft.com/office/drawing/2014/main" id="{F54B6B82-39A8-4AF2-9634-3A5503DED6B8}"/>
                  </a:ext>
                </a:extLst>
              </p:cNvPr>
              <p:cNvSpPr/>
              <p:nvPr/>
            </p:nvSpPr>
            <p:spPr>
              <a:xfrm>
                <a:off x="5062728" y="5876543"/>
                <a:ext cx="35560" cy="35560"/>
              </a:xfrm>
              <a:custGeom>
                <a:avLst/>
                <a:gdLst/>
                <a:ahLst/>
                <a:cxnLst/>
                <a:rect l="l" t="t" r="r" b="b"/>
                <a:pathLst>
                  <a:path w="35560" h="35560">
                    <a:moveTo>
                      <a:pt x="6858" y="35051"/>
                    </a:moveTo>
                    <a:lnTo>
                      <a:pt x="0" y="20548"/>
                    </a:lnTo>
                    <a:lnTo>
                      <a:pt x="4699" y="0"/>
                    </a:lnTo>
                    <a:lnTo>
                      <a:pt x="22098" y="1816"/>
                    </a:lnTo>
                    <a:lnTo>
                      <a:pt x="35051" y="16319"/>
                    </a:lnTo>
                    <a:lnTo>
                      <a:pt x="27812" y="30518"/>
                    </a:lnTo>
                    <a:lnTo>
                      <a:pt x="6858" y="35051"/>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12" name="object 254">
                <a:extLst>
                  <a:ext uri="{FF2B5EF4-FFF2-40B4-BE49-F238E27FC236}">
                    <a16:creationId xmlns:a16="http://schemas.microsoft.com/office/drawing/2014/main" id="{5D6702B3-E0B3-45AB-A37A-EA5D7BC1B90A}"/>
                  </a:ext>
                </a:extLst>
              </p:cNvPr>
              <p:cNvSpPr/>
              <p:nvPr/>
            </p:nvSpPr>
            <p:spPr>
              <a:xfrm>
                <a:off x="5274563" y="6173719"/>
                <a:ext cx="44881" cy="31132"/>
              </a:xfrm>
              <a:prstGeom prst="rect">
                <a:avLst/>
              </a:prstGeom>
              <a:blipFill>
                <a:blip r:embed="rId43"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13" name="object 255">
                <a:extLst>
                  <a:ext uri="{FF2B5EF4-FFF2-40B4-BE49-F238E27FC236}">
                    <a16:creationId xmlns:a16="http://schemas.microsoft.com/office/drawing/2014/main" id="{B713A276-91D1-418C-A8BD-9BB39F64B900}"/>
                  </a:ext>
                </a:extLst>
              </p:cNvPr>
              <p:cNvSpPr/>
              <p:nvPr/>
            </p:nvSpPr>
            <p:spPr>
              <a:xfrm>
                <a:off x="5292851" y="6153912"/>
                <a:ext cx="35560" cy="21590"/>
              </a:xfrm>
              <a:custGeom>
                <a:avLst/>
                <a:gdLst/>
                <a:ahLst/>
                <a:cxnLst/>
                <a:rect l="l" t="t" r="r" b="b"/>
                <a:pathLst>
                  <a:path w="35560" h="21589">
                    <a:moveTo>
                      <a:pt x="35051" y="0"/>
                    </a:moveTo>
                    <a:lnTo>
                      <a:pt x="16637" y="0"/>
                    </a:lnTo>
                    <a:lnTo>
                      <a:pt x="4190" y="3301"/>
                    </a:lnTo>
                    <a:lnTo>
                      <a:pt x="0" y="18630"/>
                    </a:lnTo>
                    <a:lnTo>
                      <a:pt x="21209" y="21335"/>
                    </a:lnTo>
                    <a:lnTo>
                      <a:pt x="35051" y="17424"/>
                    </a:lnTo>
                    <a:lnTo>
                      <a:pt x="35051" y="0"/>
                    </a:lnTo>
                    <a:close/>
                  </a:path>
                </a:pathLst>
              </a:custGeom>
              <a:solidFill>
                <a:srgbClr val="F4B083"/>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14" name="object 256">
                <a:extLst>
                  <a:ext uri="{FF2B5EF4-FFF2-40B4-BE49-F238E27FC236}">
                    <a16:creationId xmlns:a16="http://schemas.microsoft.com/office/drawing/2014/main" id="{8C86F5E7-4DE2-4B5A-80EE-5E02AB318ECA}"/>
                  </a:ext>
                </a:extLst>
              </p:cNvPr>
              <p:cNvSpPr/>
              <p:nvPr/>
            </p:nvSpPr>
            <p:spPr>
              <a:xfrm>
                <a:off x="5292851" y="6153912"/>
                <a:ext cx="35560" cy="21590"/>
              </a:xfrm>
              <a:custGeom>
                <a:avLst/>
                <a:gdLst/>
                <a:ahLst/>
                <a:cxnLst/>
                <a:rect l="l" t="t" r="r" b="b"/>
                <a:pathLst>
                  <a:path w="35560" h="21589">
                    <a:moveTo>
                      <a:pt x="21209" y="21335"/>
                    </a:moveTo>
                    <a:lnTo>
                      <a:pt x="0" y="18630"/>
                    </a:lnTo>
                    <a:lnTo>
                      <a:pt x="4190" y="3301"/>
                    </a:lnTo>
                    <a:lnTo>
                      <a:pt x="16637" y="0"/>
                    </a:lnTo>
                    <a:lnTo>
                      <a:pt x="35051" y="0"/>
                    </a:lnTo>
                    <a:lnTo>
                      <a:pt x="35051" y="17424"/>
                    </a:lnTo>
                    <a:lnTo>
                      <a:pt x="21209" y="21335"/>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15" name="object 257">
                <a:extLst>
                  <a:ext uri="{FF2B5EF4-FFF2-40B4-BE49-F238E27FC236}">
                    <a16:creationId xmlns:a16="http://schemas.microsoft.com/office/drawing/2014/main" id="{995D4C6D-EC81-49A1-9156-9C890A68A361}"/>
                  </a:ext>
                </a:extLst>
              </p:cNvPr>
              <p:cNvSpPr/>
              <p:nvPr/>
            </p:nvSpPr>
            <p:spPr>
              <a:xfrm>
                <a:off x="2087879" y="2679191"/>
                <a:ext cx="80010" cy="80010"/>
              </a:xfrm>
              <a:prstGeom prst="rect">
                <a:avLst/>
              </a:prstGeom>
              <a:blipFill>
                <a:blip r:embed="rId44"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16" name="object 258">
                <a:extLst>
                  <a:ext uri="{FF2B5EF4-FFF2-40B4-BE49-F238E27FC236}">
                    <a16:creationId xmlns:a16="http://schemas.microsoft.com/office/drawing/2014/main" id="{E7DC0FCB-7EC7-4C7E-B099-51A4B45168E5}"/>
                  </a:ext>
                </a:extLst>
              </p:cNvPr>
              <p:cNvSpPr/>
              <p:nvPr/>
            </p:nvSpPr>
            <p:spPr>
              <a:xfrm>
                <a:off x="2101595" y="2654808"/>
                <a:ext cx="79248" cy="79248"/>
              </a:xfrm>
              <a:prstGeom prst="rect">
                <a:avLst/>
              </a:prstGeom>
              <a:blipFill>
                <a:blip r:embed="rId45"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17" name="object 259">
                <a:extLst>
                  <a:ext uri="{FF2B5EF4-FFF2-40B4-BE49-F238E27FC236}">
                    <a16:creationId xmlns:a16="http://schemas.microsoft.com/office/drawing/2014/main" id="{DB4C0CCC-0C65-4919-9C24-94C5F69BD1AE}"/>
                  </a:ext>
                </a:extLst>
              </p:cNvPr>
              <p:cNvSpPr/>
              <p:nvPr/>
            </p:nvSpPr>
            <p:spPr>
              <a:xfrm>
                <a:off x="2532888" y="5654034"/>
                <a:ext cx="54038" cy="46550"/>
              </a:xfrm>
              <a:prstGeom prst="rect">
                <a:avLst/>
              </a:prstGeom>
              <a:blipFill>
                <a:blip r:embed="rId46"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18" name="object 260">
                <a:extLst>
                  <a:ext uri="{FF2B5EF4-FFF2-40B4-BE49-F238E27FC236}">
                    <a16:creationId xmlns:a16="http://schemas.microsoft.com/office/drawing/2014/main" id="{8DCE58A7-1DFA-46EF-BD8B-91475B0A3D61}"/>
                  </a:ext>
                </a:extLst>
              </p:cNvPr>
              <p:cNvSpPr/>
              <p:nvPr/>
            </p:nvSpPr>
            <p:spPr>
              <a:xfrm>
                <a:off x="2551175" y="5634227"/>
                <a:ext cx="44450" cy="36830"/>
              </a:xfrm>
              <a:custGeom>
                <a:avLst/>
                <a:gdLst/>
                <a:ahLst/>
                <a:cxnLst/>
                <a:rect l="l" t="t" r="r" b="b"/>
                <a:pathLst>
                  <a:path w="44450" h="36829">
                    <a:moveTo>
                      <a:pt x="39243" y="0"/>
                    </a:moveTo>
                    <a:lnTo>
                      <a:pt x="9525" y="914"/>
                    </a:lnTo>
                    <a:lnTo>
                      <a:pt x="0" y="14630"/>
                    </a:lnTo>
                    <a:lnTo>
                      <a:pt x="11303" y="23164"/>
                    </a:lnTo>
                    <a:lnTo>
                      <a:pt x="20828" y="27736"/>
                    </a:lnTo>
                    <a:lnTo>
                      <a:pt x="44196" y="36576"/>
                    </a:lnTo>
                    <a:lnTo>
                      <a:pt x="41021" y="17373"/>
                    </a:lnTo>
                    <a:lnTo>
                      <a:pt x="39243"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19" name="object 261">
                <a:extLst>
                  <a:ext uri="{FF2B5EF4-FFF2-40B4-BE49-F238E27FC236}">
                    <a16:creationId xmlns:a16="http://schemas.microsoft.com/office/drawing/2014/main" id="{40462E29-4CC9-4899-96D1-FF49419EBA5F}"/>
                  </a:ext>
                </a:extLst>
              </p:cNvPr>
              <p:cNvSpPr/>
              <p:nvPr/>
            </p:nvSpPr>
            <p:spPr>
              <a:xfrm>
                <a:off x="2551175" y="5634227"/>
                <a:ext cx="44450" cy="36830"/>
              </a:xfrm>
              <a:custGeom>
                <a:avLst/>
                <a:gdLst/>
                <a:ahLst/>
                <a:cxnLst/>
                <a:rect l="l" t="t" r="r" b="b"/>
                <a:pathLst>
                  <a:path w="44450" h="36829">
                    <a:moveTo>
                      <a:pt x="39243" y="0"/>
                    </a:moveTo>
                    <a:lnTo>
                      <a:pt x="9525" y="914"/>
                    </a:lnTo>
                    <a:lnTo>
                      <a:pt x="0" y="14630"/>
                    </a:lnTo>
                    <a:lnTo>
                      <a:pt x="11303" y="23164"/>
                    </a:lnTo>
                    <a:lnTo>
                      <a:pt x="20828" y="27736"/>
                    </a:lnTo>
                    <a:lnTo>
                      <a:pt x="44196" y="36576"/>
                    </a:lnTo>
                    <a:lnTo>
                      <a:pt x="41021" y="17373"/>
                    </a:lnTo>
                    <a:lnTo>
                      <a:pt x="39243" y="0"/>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20" name="object 262">
                <a:extLst>
                  <a:ext uri="{FF2B5EF4-FFF2-40B4-BE49-F238E27FC236}">
                    <a16:creationId xmlns:a16="http://schemas.microsoft.com/office/drawing/2014/main" id="{4FD50140-DD36-4072-8051-7E15A8F63C32}"/>
                  </a:ext>
                </a:extLst>
              </p:cNvPr>
              <p:cNvSpPr/>
              <p:nvPr/>
            </p:nvSpPr>
            <p:spPr>
              <a:xfrm>
                <a:off x="2519172" y="5483351"/>
                <a:ext cx="54038" cy="57150"/>
              </a:xfrm>
              <a:prstGeom prst="rect">
                <a:avLst/>
              </a:prstGeom>
              <a:blipFill>
                <a:blip r:embed="rId47"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21" name="object 263">
                <a:extLst>
                  <a:ext uri="{FF2B5EF4-FFF2-40B4-BE49-F238E27FC236}">
                    <a16:creationId xmlns:a16="http://schemas.microsoft.com/office/drawing/2014/main" id="{CF57C71D-752F-4226-A317-B90790258109}"/>
                  </a:ext>
                </a:extLst>
              </p:cNvPr>
              <p:cNvSpPr/>
              <p:nvPr/>
            </p:nvSpPr>
            <p:spPr>
              <a:xfrm>
                <a:off x="2537460" y="5463539"/>
                <a:ext cx="44450" cy="47625"/>
              </a:xfrm>
              <a:custGeom>
                <a:avLst/>
                <a:gdLst/>
                <a:ahLst/>
                <a:cxnLst/>
                <a:rect l="l" t="t" r="r" b="b"/>
                <a:pathLst>
                  <a:path w="44450" h="47625">
                    <a:moveTo>
                      <a:pt x="11556" y="0"/>
                    </a:moveTo>
                    <a:lnTo>
                      <a:pt x="7365" y="13081"/>
                    </a:lnTo>
                    <a:lnTo>
                      <a:pt x="0" y="24892"/>
                    </a:lnTo>
                    <a:lnTo>
                      <a:pt x="4190" y="38862"/>
                    </a:lnTo>
                    <a:lnTo>
                      <a:pt x="16890" y="47244"/>
                    </a:lnTo>
                    <a:lnTo>
                      <a:pt x="30225" y="47244"/>
                    </a:lnTo>
                    <a:lnTo>
                      <a:pt x="40004" y="39116"/>
                    </a:lnTo>
                    <a:lnTo>
                      <a:pt x="42798" y="27051"/>
                    </a:lnTo>
                    <a:lnTo>
                      <a:pt x="44195" y="15494"/>
                    </a:lnTo>
                    <a:lnTo>
                      <a:pt x="28066" y="4699"/>
                    </a:lnTo>
                    <a:lnTo>
                      <a:pt x="11556" y="0"/>
                    </a:lnTo>
                    <a:close/>
                  </a:path>
                </a:pathLst>
              </a:custGeom>
              <a:solidFill>
                <a:srgbClr val="F4B083"/>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22" name="object 264">
                <a:extLst>
                  <a:ext uri="{FF2B5EF4-FFF2-40B4-BE49-F238E27FC236}">
                    <a16:creationId xmlns:a16="http://schemas.microsoft.com/office/drawing/2014/main" id="{C5954B0D-3B62-48A8-BE58-95D74DFC00D1}"/>
                  </a:ext>
                </a:extLst>
              </p:cNvPr>
              <p:cNvSpPr/>
              <p:nvPr/>
            </p:nvSpPr>
            <p:spPr>
              <a:xfrm>
                <a:off x="2537460" y="5463539"/>
                <a:ext cx="44450" cy="47625"/>
              </a:xfrm>
              <a:custGeom>
                <a:avLst/>
                <a:gdLst/>
                <a:ahLst/>
                <a:cxnLst/>
                <a:rect l="l" t="t" r="r" b="b"/>
                <a:pathLst>
                  <a:path w="44450" h="47625">
                    <a:moveTo>
                      <a:pt x="44195" y="15494"/>
                    </a:moveTo>
                    <a:lnTo>
                      <a:pt x="28066" y="4699"/>
                    </a:lnTo>
                    <a:lnTo>
                      <a:pt x="11556" y="0"/>
                    </a:lnTo>
                    <a:lnTo>
                      <a:pt x="7365" y="13081"/>
                    </a:lnTo>
                    <a:lnTo>
                      <a:pt x="0" y="24892"/>
                    </a:lnTo>
                    <a:lnTo>
                      <a:pt x="4190" y="38862"/>
                    </a:lnTo>
                    <a:lnTo>
                      <a:pt x="16890" y="47244"/>
                    </a:lnTo>
                    <a:lnTo>
                      <a:pt x="30225" y="47244"/>
                    </a:lnTo>
                    <a:lnTo>
                      <a:pt x="40004" y="39116"/>
                    </a:lnTo>
                    <a:lnTo>
                      <a:pt x="42798" y="27051"/>
                    </a:lnTo>
                    <a:lnTo>
                      <a:pt x="44195" y="15494"/>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23" name="object 265">
                <a:extLst>
                  <a:ext uri="{FF2B5EF4-FFF2-40B4-BE49-F238E27FC236}">
                    <a16:creationId xmlns:a16="http://schemas.microsoft.com/office/drawing/2014/main" id="{33C925C3-A913-4E95-B5BA-19FCB0447273}"/>
                  </a:ext>
                </a:extLst>
              </p:cNvPr>
              <p:cNvSpPr/>
              <p:nvPr/>
            </p:nvSpPr>
            <p:spPr>
              <a:xfrm>
                <a:off x="3006851" y="4689348"/>
                <a:ext cx="41986" cy="34289"/>
              </a:xfrm>
              <a:prstGeom prst="rect">
                <a:avLst/>
              </a:prstGeom>
              <a:blipFill>
                <a:blip r:embed="rId48"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24" name="object 266">
                <a:extLst>
                  <a:ext uri="{FF2B5EF4-FFF2-40B4-BE49-F238E27FC236}">
                    <a16:creationId xmlns:a16="http://schemas.microsoft.com/office/drawing/2014/main" id="{965D5688-F9E1-41C2-9B96-60B05274CE02}"/>
                  </a:ext>
                </a:extLst>
              </p:cNvPr>
              <p:cNvSpPr/>
              <p:nvPr/>
            </p:nvSpPr>
            <p:spPr>
              <a:xfrm>
                <a:off x="3025140" y="4669536"/>
                <a:ext cx="32384" cy="24765"/>
              </a:xfrm>
              <a:custGeom>
                <a:avLst/>
                <a:gdLst/>
                <a:ahLst/>
                <a:cxnLst/>
                <a:rect l="l" t="t" r="r" b="b"/>
                <a:pathLst>
                  <a:path w="32385" h="24764">
                    <a:moveTo>
                      <a:pt x="12192" y="0"/>
                    </a:moveTo>
                    <a:lnTo>
                      <a:pt x="0" y="8889"/>
                    </a:lnTo>
                    <a:lnTo>
                      <a:pt x="15621" y="24383"/>
                    </a:lnTo>
                    <a:lnTo>
                      <a:pt x="32004" y="10668"/>
                    </a:lnTo>
                    <a:lnTo>
                      <a:pt x="12192"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25" name="object 267">
                <a:extLst>
                  <a:ext uri="{FF2B5EF4-FFF2-40B4-BE49-F238E27FC236}">
                    <a16:creationId xmlns:a16="http://schemas.microsoft.com/office/drawing/2014/main" id="{25CCB132-80AE-4AF5-9D4A-9A7FB64221A9}"/>
                  </a:ext>
                </a:extLst>
              </p:cNvPr>
              <p:cNvSpPr/>
              <p:nvPr/>
            </p:nvSpPr>
            <p:spPr>
              <a:xfrm>
                <a:off x="3025140" y="4669536"/>
                <a:ext cx="32384" cy="24765"/>
              </a:xfrm>
              <a:custGeom>
                <a:avLst/>
                <a:gdLst/>
                <a:ahLst/>
                <a:cxnLst/>
                <a:rect l="l" t="t" r="r" b="b"/>
                <a:pathLst>
                  <a:path w="32385" h="24764">
                    <a:moveTo>
                      <a:pt x="0" y="8889"/>
                    </a:moveTo>
                    <a:lnTo>
                      <a:pt x="15621" y="24383"/>
                    </a:lnTo>
                    <a:lnTo>
                      <a:pt x="32004" y="10668"/>
                    </a:lnTo>
                    <a:lnTo>
                      <a:pt x="12192" y="0"/>
                    </a:lnTo>
                    <a:lnTo>
                      <a:pt x="0" y="8889"/>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26" name="object 268">
                <a:extLst>
                  <a:ext uri="{FF2B5EF4-FFF2-40B4-BE49-F238E27FC236}">
                    <a16:creationId xmlns:a16="http://schemas.microsoft.com/office/drawing/2014/main" id="{1BD05719-61B0-4165-82F3-B584A4491310}"/>
                  </a:ext>
                </a:extLst>
              </p:cNvPr>
              <p:cNvSpPr/>
              <p:nvPr/>
            </p:nvSpPr>
            <p:spPr>
              <a:xfrm>
                <a:off x="1729740" y="5515356"/>
                <a:ext cx="32861" cy="29718"/>
              </a:xfrm>
              <a:prstGeom prst="rect">
                <a:avLst/>
              </a:prstGeom>
              <a:blipFill>
                <a:blip r:embed="rId49"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27" name="object 269">
                <a:extLst>
                  <a:ext uri="{FF2B5EF4-FFF2-40B4-BE49-F238E27FC236}">
                    <a16:creationId xmlns:a16="http://schemas.microsoft.com/office/drawing/2014/main" id="{4973F5BA-A165-4348-9962-1C4B37050D9B}"/>
                  </a:ext>
                </a:extLst>
              </p:cNvPr>
              <p:cNvSpPr/>
              <p:nvPr/>
            </p:nvSpPr>
            <p:spPr>
              <a:xfrm>
                <a:off x="1748028" y="5495543"/>
                <a:ext cx="22860" cy="20320"/>
              </a:xfrm>
              <a:custGeom>
                <a:avLst/>
                <a:gdLst/>
                <a:ahLst/>
                <a:cxnLst/>
                <a:rect l="l" t="t" r="r" b="b"/>
                <a:pathLst>
                  <a:path w="22860" h="20320">
                    <a:moveTo>
                      <a:pt x="9144" y="0"/>
                    </a:moveTo>
                    <a:lnTo>
                      <a:pt x="0" y="4444"/>
                    </a:lnTo>
                    <a:lnTo>
                      <a:pt x="10160" y="19811"/>
                    </a:lnTo>
                    <a:lnTo>
                      <a:pt x="22860" y="16763"/>
                    </a:lnTo>
                    <a:lnTo>
                      <a:pt x="21082" y="2666"/>
                    </a:lnTo>
                    <a:lnTo>
                      <a:pt x="9144"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28" name="object 270">
                <a:extLst>
                  <a:ext uri="{FF2B5EF4-FFF2-40B4-BE49-F238E27FC236}">
                    <a16:creationId xmlns:a16="http://schemas.microsoft.com/office/drawing/2014/main" id="{DAEB1445-3D56-4402-A3B4-B73453D125C3}"/>
                  </a:ext>
                </a:extLst>
              </p:cNvPr>
              <p:cNvSpPr/>
              <p:nvPr/>
            </p:nvSpPr>
            <p:spPr>
              <a:xfrm>
                <a:off x="1748028" y="5495543"/>
                <a:ext cx="22860" cy="20320"/>
              </a:xfrm>
              <a:custGeom>
                <a:avLst/>
                <a:gdLst/>
                <a:ahLst/>
                <a:cxnLst/>
                <a:rect l="l" t="t" r="r" b="b"/>
                <a:pathLst>
                  <a:path w="22860" h="20320">
                    <a:moveTo>
                      <a:pt x="0" y="4444"/>
                    </a:moveTo>
                    <a:lnTo>
                      <a:pt x="10160" y="19811"/>
                    </a:lnTo>
                    <a:lnTo>
                      <a:pt x="22860" y="16763"/>
                    </a:lnTo>
                    <a:lnTo>
                      <a:pt x="21082" y="2666"/>
                    </a:lnTo>
                    <a:lnTo>
                      <a:pt x="9144" y="0"/>
                    </a:lnTo>
                    <a:lnTo>
                      <a:pt x="0" y="4444"/>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29" name="object 271">
                <a:extLst>
                  <a:ext uri="{FF2B5EF4-FFF2-40B4-BE49-F238E27FC236}">
                    <a16:creationId xmlns:a16="http://schemas.microsoft.com/office/drawing/2014/main" id="{8B95B9BC-FCE9-44B1-AE79-9E648E68AEBB}"/>
                  </a:ext>
                </a:extLst>
              </p:cNvPr>
              <p:cNvSpPr/>
              <p:nvPr/>
            </p:nvSpPr>
            <p:spPr>
              <a:xfrm>
                <a:off x="1072895" y="5497026"/>
                <a:ext cx="32861" cy="40300"/>
              </a:xfrm>
              <a:prstGeom prst="rect">
                <a:avLst/>
              </a:prstGeom>
              <a:blipFill>
                <a:blip r:embed="rId50"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30" name="object 272">
                <a:extLst>
                  <a:ext uri="{FF2B5EF4-FFF2-40B4-BE49-F238E27FC236}">
                    <a16:creationId xmlns:a16="http://schemas.microsoft.com/office/drawing/2014/main" id="{C12048D8-15E2-4D22-8F3E-41E6B4B55C72}"/>
                  </a:ext>
                </a:extLst>
              </p:cNvPr>
              <p:cNvSpPr/>
              <p:nvPr/>
            </p:nvSpPr>
            <p:spPr>
              <a:xfrm>
                <a:off x="1091184" y="5477256"/>
                <a:ext cx="22860" cy="30480"/>
              </a:xfrm>
              <a:custGeom>
                <a:avLst/>
                <a:gdLst/>
                <a:ahLst/>
                <a:cxnLst/>
                <a:rect l="l" t="t" r="r" b="b"/>
                <a:pathLst>
                  <a:path w="22859" h="30479">
                    <a:moveTo>
                      <a:pt x="16814" y="0"/>
                    </a:moveTo>
                    <a:lnTo>
                      <a:pt x="8737" y="254"/>
                    </a:lnTo>
                    <a:lnTo>
                      <a:pt x="3022" y="8636"/>
                    </a:lnTo>
                    <a:lnTo>
                      <a:pt x="0" y="21844"/>
                    </a:lnTo>
                    <a:lnTo>
                      <a:pt x="8064" y="30480"/>
                    </a:lnTo>
                    <a:lnTo>
                      <a:pt x="18821" y="25146"/>
                    </a:lnTo>
                    <a:lnTo>
                      <a:pt x="22859" y="10160"/>
                    </a:lnTo>
                    <a:lnTo>
                      <a:pt x="16814"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31" name="object 273">
                <a:extLst>
                  <a:ext uri="{FF2B5EF4-FFF2-40B4-BE49-F238E27FC236}">
                    <a16:creationId xmlns:a16="http://schemas.microsoft.com/office/drawing/2014/main" id="{838115B5-634F-4885-9B46-3A3DBDD8248A}"/>
                  </a:ext>
                </a:extLst>
              </p:cNvPr>
              <p:cNvSpPr/>
              <p:nvPr/>
            </p:nvSpPr>
            <p:spPr>
              <a:xfrm>
                <a:off x="1091184" y="5477256"/>
                <a:ext cx="22860" cy="30480"/>
              </a:xfrm>
              <a:custGeom>
                <a:avLst/>
                <a:gdLst/>
                <a:ahLst/>
                <a:cxnLst/>
                <a:rect l="l" t="t" r="r" b="b"/>
                <a:pathLst>
                  <a:path w="22859" h="30479">
                    <a:moveTo>
                      <a:pt x="8064" y="30480"/>
                    </a:moveTo>
                    <a:lnTo>
                      <a:pt x="0" y="21844"/>
                    </a:lnTo>
                    <a:lnTo>
                      <a:pt x="3022" y="8636"/>
                    </a:lnTo>
                    <a:lnTo>
                      <a:pt x="8737" y="254"/>
                    </a:lnTo>
                    <a:lnTo>
                      <a:pt x="16814" y="0"/>
                    </a:lnTo>
                    <a:lnTo>
                      <a:pt x="22859" y="10160"/>
                    </a:lnTo>
                    <a:lnTo>
                      <a:pt x="18821" y="25146"/>
                    </a:lnTo>
                    <a:lnTo>
                      <a:pt x="8064" y="30480"/>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32" name="object 274">
                <a:extLst>
                  <a:ext uri="{FF2B5EF4-FFF2-40B4-BE49-F238E27FC236}">
                    <a16:creationId xmlns:a16="http://schemas.microsoft.com/office/drawing/2014/main" id="{B3343CF0-8042-40FB-A6C7-BAC61C8C7866}"/>
                  </a:ext>
                </a:extLst>
              </p:cNvPr>
              <p:cNvSpPr/>
              <p:nvPr/>
            </p:nvSpPr>
            <p:spPr>
              <a:xfrm>
                <a:off x="1182623" y="5564124"/>
                <a:ext cx="37423" cy="34290"/>
              </a:xfrm>
              <a:prstGeom prst="rect">
                <a:avLst/>
              </a:prstGeom>
              <a:blipFill>
                <a:blip r:embed="rId51"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33" name="object 275">
                <a:extLst>
                  <a:ext uri="{FF2B5EF4-FFF2-40B4-BE49-F238E27FC236}">
                    <a16:creationId xmlns:a16="http://schemas.microsoft.com/office/drawing/2014/main" id="{1F42A303-C442-4DFD-9400-D9E5C393FB76}"/>
                  </a:ext>
                </a:extLst>
              </p:cNvPr>
              <p:cNvSpPr/>
              <p:nvPr/>
            </p:nvSpPr>
            <p:spPr>
              <a:xfrm>
                <a:off x="1018031" y="5373624"/>
                <a:ext cx="41986" cy="43434"/>
              </a:xfrm>
              <a:prstGeom prst="rect">
                <a:avLst/>
              </a:prstGeom>
              <a:blipFill>
                <a:blip r:embed="rId52"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34" name="object 276">
                <a:extLst>
                  <a:ext uri="{FF2B5EF4-FFF2-40B4-BE49-F238E27FC236}">
                    <a16:creationId xmlns:a16="http://schemas.microsoft.com/office/drawing/2014/main" id="{4EDED247-1734-43FC-AD1A-59DABB8CE628}"/>
                  </a:ext>
                </a:extLst>
              </p:cNvPr>
              <p:cNvSpPr/>
              <p:nvPr/>
            </p:nvSpPr>
            <p:spPr>
              <a:xfrm>
                <a:off x="1036320" y="5353812"/>
                <a:ext cx="32384" cy="33655"/>
              </a:xfrm>
              <a:custGeom>
                <a:avLst/>
                <a:gdLst/>
                <a:ahLst/>
                <a:cxnLst/>
                <a:rect l="l" t="t" r="r" b="b"/>
                <a:pathLst>
                  <a:path w="32384" h="33654">
                    <a:moveTo>
                      <a:pt x="17589" y="0"/>
                    </a:moveTo>
                    <a:lnTo>
                      <a:pt x="9143" y="253"/>
                    </a:lnTo>
                    <a:lnTo>
                      <a:pt x="3162" y="9143"/>
                    </a:lnTo>
                    <a:lnTo>
                      <a:pt x="0" y="23113"/>
                    </a:lnTo>
                    <a:lnTo>
                      <a:pt x="8445" y="32257"/>
                    </a:lnTo>
                    <a:lnTo>
                      <a:pt x="19342" y="33528"/>
                    </a:lnTo>
                    <a:lnTo>
                      <a:pt x="29540" y="25907"/>
                    </a:lnTo>
                    <a:lnTo>
                      <a:pt x="32004" y="18668"/>
                    </a:lnTo>
                    <a:lnTo>
                      <a:pt x="30594" y="7874"/>
                    </a:lnTo>
                    <a:lnTo>
                      <a:pt x="17589"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35" name="object 277">
                <a:extLst>
                  <a:ext uri="{FF2B5EF4-FFF2-40B4-BE49-F238E27FC236}">
                    <a16:creationId xmlns:a16="http://schemas.microsoft.com/office/drawing/2014/main" id="{D19A3FD5-2FF3-4832-8F68-32847FEA7805}"/>
                  </a:ext>
                </a:extLst>
              </p:cNvPr>
              <p:cNvSpPr/>
              <p:nvPr/>
            </p:nvSpPr>
            <p:spPr>
              <a:xfrm>
                <a:off x="1036320" y="5353812"/>
                <a:ext cx="32384" cy="33655"/>
              </a:xfrm>
              <a:custGeom>
                <a:avLst/>
                <a:gdLst/>
                <a:ahLst/>
                <a:cxnLst/>
                <a:rect l="l" t="t" r="r" b="b"/>
                <a:pathLst>
                  <a:path w="32384" h="33654">
                    <a:moveTo>
                      <a:pt x="8445" y="32257"/>
                    </a:moveTo>
                    <a:lnTo>
                      <a:pt x="0" y="23113"/>
                    </a:lnTo>
                    <a:lnTo>
                      <a:pt x="3162" y="9143"/>
                    </a:lnTo>
                    <a:lnTo>
                      <a:pt x="9143" y="253"/>
                    </a:lnTo>
                    <a:lnTo>
                      <a:pt x="17589" y="0"/>
                    </a:lnTo>
                    <a:lnTo>
                      <a:pt x="30594" y="7874"/>
                    </a:lnTo>
                    <a:lnTo>
                      <a:pt x="32004" y="18668"/>
                    </a:lnTo>
                    <a:lnTo>
                      <a:pt x="29540" y="25907"/>
                    </a:lnTo>
                    <a:lnTo>
                      <a:pt x="19342" y="33528"/>
                    </a:lnTo>
                    <a:lnTo>
                      <a:pt x="8445" y="32257"/>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36" name="object 278">
                <a:extLst>
                  <a:ext uri="{FF2B5EF4-FFF2-40B4-BE49-F238E27FC236}">
                    <a16:creationId xmlns:a16="http://schemas.microsoft.com/office/drawing/2014/main" id="{E668EE51-DE0F-41A7-8AB3-1916321D5D81}"/>
                  </a:ext>
                </a:extLst>
              </p:cNvPr>
              <p:cNvSpPr/>
              <p:nvPr/>
            </p:nvSpPr>
            <p:spPr>
              <a:xfrm>
                <a:off x="1056131" y="5567172"/>
                <a:ext cx="28303" cy="34290"/>
              </a:xfrm>
              <a:prstGeom prst="rect">
                <a:avLst/>
              </a:prstGeom>
              <a:blipFill>
                <a:blip r:embed="rId53"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37" name="object 279">
                <a:extLst>
                  <a:ext uri="{FF2B5EF4-FFF2-40B4-BE49-F238E27FC236}">
                    <a16:creationId xmlns:a16="http://schemas.microsoft.com/office/drawing/2014/main" id="{93F5DF77-F33E-4216-8BD9-817499B23DD6}"/>
                  </a:ext>
                </a:extLst>
              </p:cNvPr>
              <p:cNvSpPr/>
              <p:nvPr/>
            </p:nvSpPr>
            <p:spPr>
              <a:xfrm>
                <a:off x="1196340" y="5524531"/>
                <a:ext cx="79900" cy="48736"/>
              </a:xfrm>
              <a:prstGeom prst="rect">
                <a:avLst/>
              </a:prstGeom>
              <a:blipFill>
                <a:blip r:embed="rId54"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38" name="object 280">
                <a:extLst>
                  <a:ext uri="{FF2B5EF4-FFF2-40B4-BE49-F238E27FC236}">
                    <a16:creationId xmlns:a16="http://schemas.microsoft.com/office/drawing/2014/main" id="{2E908DBD-6B76-4CB8-8325-DB8C8E3DAB29}"/>
                  </a:ext>
                </a:extLst>
              </p:cNvPr>
              <p:cNvSpPr/>
              <p:nvPr/>
            </p:nvSpPr>
            <p:spPr>
              <a:xfrm>
                <a:off x="1074420" y="5547360"/>
                <a:ext cx="18415" cy="24765"/>
              </a:xfrm>
              <a:custGeom>
                <a:avLst/>
                <a:gdLst/>
                <a:ahLst/>
                <a:cxnLst/>
                <a:rect l="l" t="t" r="r" b="b"/>
                <a:pathLst>
                  <a:path w="18415" h="24764">
                    <a:moveTo>
                      <a:pt x="10121" y="0"/>
                    </a:moveTo>
                    <a:lnTo>
                      <a:pt x="2286" y="2793"/>
                    </a:lnTo>
                    <a:lnTo>
                      <a:pt x="0" y="14731"/>
                    </a:lnTo>
                    <a:lnTo>
                      <a:pt x="1308" y="21208"/>
                    </a:lnTo>
                    <a:lnTo>
                      <a:pt x="7835" y="23748"/>
                    </a:lnTo>
                    <a:lnTo>
                      <a:pt x="15024" y="24383"/>
                    </a:lnTo>
                    <a:lnTo>
                      <a:pt x="18288" y="18160"/>
                    </a:lnTo>
                    <a:lnTo>
                      <a:pt x="17957" y="8127"/>
                    </a:lnTo>
                    <a:lnTo>
                      <a:pt x="14693" y="3428"/>
                    </a:lnTo>
                    <a:lnTo>
                      <a:pt x="10121"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39" name="object 281">
                <a:extLst>
                  <a:ext uri="{FF2B5EF4-FFF2-40B4-BE49-F238E27FC236}">
                    <a16:creationId xmlns:a16="http://schemas.microsoft.com/office/drawing/2014/main" id="{92ED715B-CCFE-488E-A241-EBF130BDD64E}"/>
                  </a:ext>
                </a:extLst>
              </p:cNvPr>
              <p:cNvSpPr/>
              <p:nvPr/>
            </p:nvSpPr>
            <p:spPr>
              <a:xfrm>
                <a:off x="1074420" y="5547360"/>
                <a:ext cx="18415" cy="24765"/>
              </a:xfrm>
              <a:custGeom>
                <a:avLst/>
                <a:gdLst/>
                <a:ahLst/>
                <a:cxnLst/>
                <a:rect l="l" t="t" r="r" b="b"/>
                <a:pathLst>
                  <a:path w="18415" h="24764">
                    <a:moveTo>
                      <a:pt x="7835" y="23748"/>
                    </a:moveTo>
                    <a:lnTo>
                      <a:pt x="1308" y="21208"/>
                    </a:lnTo>
                    <a:lnTo>
                      <a:pt x="0" y="14731"/>
                    </a:lnTo>
                    <a:lnTo>
                      <a:pt x="2286" y="2793"/>
                    </a:lnTo>
                    <a:lnTo>
                      <a:pt x="10121" y="0"/>
                    </a:lnTo>
                    <a:lnTo>
                      <a:pt x="14693" y="3428"/>
                    </a:lnTo>
                    <a:lnTo>
                      <a:pt x="17957" y="8127"/>
                    </a:lnTo>
                    <a:lnTo>
                      <a:pt x="18288" y="18160"/>
                    </a:lnTo>
                    <a:lnTo>
                      <a:pt x="15024" y="24383"/>
                    </a:lnTo>
                    <a:lnTo>
                      <a:pt x="7835" y="23748"/>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40" name="object 282">
                <a:extLst>
                  <a:ext uri="{FF2B5EF4-FFF2-40B4-BE49-F238E27FC236}">
                    <a16:creationId xmlns:a16="http://schemas.microsoft.com/office/drawing/2014/main" id="{BB3B5C96-54E4-43E7-8FB9-50DF1D6CD986}"/>
                  </a:ext>
                </a:extLst>
              </p:cNvPr>
              <p:cNvSpPr/>
              <p:nvPr/>
            </p:nvSpPr>
            <p:spPr>
              <a:xfrm>
                <a:off x="1069848" y="5626601"/>
                <a:ext cx="31132" cy="35718"/>
              </a:xfrm>
              <a:prstGeom prst="rect">
                <a:avLst/>
              </a:prstGeom>
              <a:blipFill>
                <a:blip r:embed="rId55"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41" name="object 283">
                <a:extLst>
                  <a:ext uri="{FF2B5EF4-FFF2-40B4-BE49-F238E27FC236}">
                    <a16:creationId xmlns:a16="http://schemas.microsoft.com/office/drawing/2014/main" id="{0628021D-C8C6-4A1D-BC0A-980E1A5E5101}"/>
                  </a:ext>
                </a:extLst>
              </p:cNvPr>
              <p:cNvSpPr/>
              <p:nvPr/>
            </p:nvSpPr>
            <p:spPr>
              <a:xfrm>
                <a:off x="1083564" y="5602224"/>
                <a:ext cx="40385" cy="35051"/>
              </a:xfrm>
              <a:prstGeom prst="rect">
                <a:avLst/>
              </a:prstGeom>
              <a:blipFill>
                <a:blip r:embed="rId56"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42" name="object 284">
                <a:extLst>
                  <a:ext uri="{FF2B5EF4-FFF2-40B4-BE49-F238E27FC236}">
                    <a16:creationId xmlns:a16="http://schemas.microsoft.com/office/drawing/2014/main" id="{DB88B67C-E2AA-4087-8B29-C3F088D27B18}"/>
                  </a:ext>
                </a:extLst>
              </p:cNvPr>
              <p:cNvSpPr/>
              <p:nvPr/>
            </p:nvSpPr>
            <p:spPr>
              <a:xfrm>
                <a:off x="1263395" y="5504687"/>
                <a:ext cx="21590" cy="22860"/>
              </a:xfrm>
              <a:custGeom>
                <a:avLst/>
                <a:gdLst/>
                <a:ahLst/>
                <a:cxnLst/>
                <a:rect l="l" t="t" r="r" b="b"/>
                <a:pathLst>
                  <a:path w="21590" h="22860">
                    <a:moveTo>
                      <a:pt x="11684" y="0"/>
                    </a:moveTo>
                    <a:lnTo>
                      <a:pt x="1066" y="3175"/>
                    </a:lnTo>
                    <a:lnTo>
                      <a:pt x="0" y="12065"/>
                    </a:lnTo>
                    <a:lnTo>
                      <a:pt x="2489" y="19684"/>
                    </a:lnTo>
                    <a:lnTo>
                      <a:pt x="9651" y="22859"/>
                    </a:lnTo>
                    <a:lnTo>
                      <a:pt x="16382" y="21843"/>
                    </a:lnTo>
                    <a:lnTo>
                      <a:pt x="20573" y="18415"/>
                    </a:lnTo>
                    <a:lnTo>
                      <a:pt x="21335" y="10414"/>
                    </a:lnTo>
                    <a:lnTo>
                      <a:pt x="18541" y="2793"/>
                    </a:lnTo>
                    <a:lnTo>
                      <a:pt x="11684"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43" name="object 285">
                <a:extLst>
                  <a:ext uri="{FF2B5EF4-FFF2-40B4-BE49-F238E27FC236}">
                    <a16:creationId xmlns:a16="http://schemas.microsoft.com/office/drawing/2014/main" id="{9C849D8C-C547-41BA-83B3-0C7F12DC0B68}"/>
                  </a:ext>
                </a:extLst>
              </p:cNvPr>
              <p:cNvSpPr/>
              <p:nvPr/>
            </p:nvSpPr>
            <p:spPr>
              <a:xfrm>
                <a:off x="1263395" y="5504687"/>
                <a:ext cx="21590" cy="22860"/>
              </a:xfrm>
              <a:custGeom>
                <a:avLst/>
                <a:gdLst/>
                <a:ahLst/>
                <a:cxnLst/>
                <a:rect l="l" t="t" r="r" b="b"/>
                <a:pathLst>
                  <a:path w="21590" h="22860">
                    <a:moveTo>
                      <a:pt x="9651" y="22859"/>
                    </a:moveTo>
                    <a:lnTo>
                      <a:pt x="2489" y="19684"/>
                    </a:lnTo>
                    <a:lnTo>
                      <a:pt x="0" y="12065"/>
                    </a:lnTo>
                    <a:lnTo>
                      <a:pt x="1066" y="3175"/>
                    </a:lnTo>
                    <a:lnTo>
                      <a:pt x="11684" y="0"/>
                    </a:lnTo>
                    <a:lnTo>
                      <a:pt x="18541" y="2793"/>
                    </a:lnTo>
                    <a:lnTo>
                      <a:pt x="21335" y="10414"/>
                    </a:lnTo>
                    <a:lnTo>
                      <a:pt x="20573" y="18415"/>
                    </a:lnTo>
                    <a:lnTo>
                      <a:pt x="16382" y="21843"/>
                    </a:lnTo>
                    <a:lnTo>
                      <a:pt x="9651" y="22859"/>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44" name="object 286">
                <a:extLst>
                  <a:ext uri="{FF2B5EF4-FFF2-40B4-BE49-F238E27FC236}">
                    <a16:creationId xmlns:a16="http://schemas.microsoft.com/office/drawing/2014/main" id="{F9B72C2C-44B9-4759-8A44-569424F6FDCC}"/>
                  </a:ext>
                </a:extLst>
              </p:cNvPr>
              <p:cNvSpPr/>
              <p:nvPr/>
            </p:nvSpPr>
            <p:spPr>
              <a:xfrm>
                <a:off x="1011936" y="5460474"/>
                <a:ext cx="31132" cy="31132"/>
              </a:xfrm>
              <a:prstGeom prst="rect">
                <a:avLst/>
              </a:prstGeom>
              <a:blipFill>
                <a:blip r:embed="rId57"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45" name="object 287">
                <a:extLst>
                  <a:ext uri="{FF2B5EF4-FFF2-40B4-BE49-F238E27FC236}">
                    <a16:creationId xmlns:a16="http://schemas.microsoft.com/office/drawing/2014/main" id="{937B124E-C5B1-4F3A-86A5-ED0A376A7F91}"/>
                  </a:ext>
                </a:extLst>
              </p:cNvPr>
              <p:cNvSpPr/>
              <p:nvPr/>
            </p:nvSpPr>
            <p:spPr>
              <a:xfrm>
                <a:off x="1107948" y="5583936"/>
                <a:ext cx="64879" cy="76961"/>
              </a:xfrm>
              <a:prstGeom prst="rect">
                <a:avLst/>
              </a:prstGeom>
              <a:blipFill>
                <a:blip r:embed="rId58"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46" name="object 288">
                <a:extLst>
                  <a:ext uri="{FF2B5EF4-FFF2-40B4-BE49-F238E27FC236}">
                    <a16:creationId xmlns:a16="http://schemas.microsoft.com/office/drawing/2014/main" id="{2DEECC59-7787-41A4-9F9D-2E4A050024D7}"/>
                  </a:ext>
                </a:extLst>
              </p:cNvPr>
              <p:cNvSpPr/>
              <p:nvPr/>
            </p:nvSpPr>
            <p:spPr>
              <a:xfrm>
                <a:off x="1030223" y="5440680"/>
                <a:ext cx="21590" cy="21590"/>
              </a:xfrm>
              <a:custGeom>
                <a:avLst/>
                <a:gdLst/>
                <a:ahLst/>
                <a:cxnLst/>
                <a:rect l="l" t="t" r="r" b="b"/>
                <a:pathLst>
                  <a:path w="21590" h="21589">
                    <a:moveTo>
                      <a:pt x="9245" y="0"/>
                    </a:moveTo>
                    <a:lnTo>
                      <a:pt x="355" y="3302"/>
                    </a:lnTo>
                    <a:lnTo>
                      <a:pt x="0" y="9525"/>
                    </a:lnTo>
                    <a:lnTo>
                      <a:pt x="1422" y="15748"/>
                    </a:lnTo>
                    <a:lnTo>
                      <a:pt x="5689" y="20193"/>
                    </a:lnTo>
                    <a:lnTo>
                      <a:pt x="14223" y="21336"/>
                    </a:lnTo>
                    <a:lnTo>
                      <a:pt x="20624" y="17780"/>
                    </a:lnTo>
                    <a:lnTo>
                      <a:pt x="21335" y="5334"/>
                    </a:lnTo>
                    <a:lnTo>
                      <a:pt x="16713" y="254"/>
                    </a:lnTo>
                    <a:lnTo>
                      <a:pt x="9245"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47" name="object 289">
                <a:extLst>
                  <a:ext uri="{FF2B5EF4-FFF2-40B4-BE49-F238E27FC236}">
                    <a16:creationId xmlns:a16="http://schemas.microsoft.com/office/drawing/2014/main" id="{6568669D-7A64-4A8C-86CE-3EFF49CE45A6}"/>
                  </a:ext>
                </a:extLst>
              </p:cNvPr>
              <p:cNvSpPr/>
              <p:nvPr/>
            </p:nvSpPr>
            <p:spPr>
              <a:xfrm>
                <a:off x="1030223" y="5440680"/>
                <a:ext cx="21590" cy="21590"/>
              </a:xfrm>
              <a:custGeom>
                <a:avLst/>
                <a:gdLst/>
                <a:ahLst/>
                <a:cxnLst/>
                <a:rect l="l" t="t" r="r" b="b"/>
                <a:pathLst>
                  <a:path w="21590" h="21589">
                    <a:moveTo>
                      <a:pt x="5689" y="20193"/>
                    </a:moveTo>
                    <a:lnTo>
                      <a:pt x="1422" y="15748"/>
                    </a:lnTo>
                    <a:lnTo>
                      <a:pt x="0" y="9525"/>
                    </a:lnTo>
                    <a:lnTo>
                      <a:pt x="355" y="3302"/>
                    </a:lnTo>
                    <a:lnTo>
                      <a:pt x="9245" y="0"/>
                    </a:lnTo>
                    <a:lnTo>
                      <a:pt x="16713" y="254"/>
                    </a:lnTo>
                    <a:lnTo>
                      <a:pt x="21335" y="5334"/>
                    </a:lnTo>
                    <a:lnTo>
                      <a:pt x="20624" y="17780"/>
                    </a:lnTo>
                    <a:lnTo>
                      <a:pt x="14223" y="21336"/>
                    </a:lnTo>
                    <a:lnTo>
                      <a:pt x="5689" y="20193"/>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48" name="object 290">
                <a:extLst>
                  <a:ext uri="{FF2B5EF4-FFF2-40B4-BE49-F238E27FC236}">
                    <a16:creationId xmlns:a16="http://schemas.microsoft.com/office/drawing/2014/main" id="{F60A2518-6190-4BED-9F13-EDD1F04F2349}"/>
                  </a:ext>
                </a:extLst>
              </p:cNvPr>
              <p:cNvSpPr/>
              <p:nvPr/>
            </p:nvSpPr>
            <p:spPr>
              <a:xfrm>
                <a:off x="1162812" y="5611368"/>
                <a:ext cx="18415" cy="20320"/>
              </a:xfrm>
              <a:custGeom>
                <a:avLst/>
                <a:gdLst/>
                <a:ahLst/>
                <a:cxnLst/>
                <a:rect l="l" t="t" r="r" b="b"/>
                <a:pathLst>
                  <a:path w="18415" h="20320">
                    <a:moveTo>
                      <a:pt x="8204" y="0"/>
                    </a:moveTo>
                    <a:lnTo>
                      <a:pt x="3467" y="3149"/>
                    </a:lnTo>
                    <a:lnTo>
                      <a:pt x="0" y="10058"/>
                    </a:lnTo>
                    <a:lnTo>
                      <a:pt x="1257" y="16662"/>
                    </a:lnTo>
                    <a:lnTo>
                      <a:pt x="7569" y="19176"/>
                    </a:lnTo>
                    <a:lnTo>
                      <a:pt x="14503" y="19811"/>
                    </a:lnTo>
                    <a:lnTo>
                      <a:pt x="17653" y="13525"/>
                    </a:lnTo>
                    <a:lnTo>
                      <a:pt x="18287" y="5029"/>
                    </a:lnTo>
                    <a:lnTo>
                      <a:pt x="14820" y="317"/>
                    </a:lnTo>
                    <a:lnTo>
                      <a:pt x="8204"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49" name="object 291">
                <a:extLst>
                  <a:ext uri="{FF2B5EF4-FFF2-40B4-BE49-F238E27FC236}">
                    <a16:creationId xmlns:a16="http://schemas.microsoft.com/office/drawing/2014/main" id="{3B7EEB39-923A-4E37-9BF1-F5422EB6AFB2}"/>
                  </a:ext>
                </a:extLst>
              </p:cNvPr>
              <p:cNvSpPr/>
              <p:nvPr/>
            </p:nvSpPr>
            <p:spPr>
              <a:xfrm>
                <a:off x="1162812" y="5611368"/>
                <a:ext cx="18415" cy="20320"/>
              </a:xfrm>
              <a:custGeom>
                <a:avLst/>
                <a:gdLst/>
                <a:ahLst/>
                <a:cxnLst/>
                <a:rect l="l" t="t" r="r" b="b"/>
                <a:pathLst>
                  <a:path w="18415" h="20320">
                    <a:moveTo>
                      <a:pt x="7569" y="19176"/>
                    </a:moveTo>
                    <a:lnTo>
                      <a:pt x="1257" y="16662"/>
                    </a:lnTo>
                    <a:lnTo>
                      <a:pt x="0" y="10058"/>
                    </a:lnTo>
                    <a:lnTo>
                      <a:pt x="3467" y="3149"/>
                    </a:lnTo>
                    <a:lnTo>
                      <a:pt x="8204" y="0"/>
                    </a:lnTo>
                    <a:lnTo>
                      <a:pt x="14820" y="317"/>
                    </a:lnTo>
                    <a:lnTo>
                      <a:pt x="18287" y="5029"/>
                    </a:lnTo>
                    <a:lnTo>
                      <a:pt x="17653" y="13525"/>
                    </a:lnTo>
                    <a:lnTo>
                      <a:pt x="14503" y="19811"/>
                    </a:lnTo>
                    <a:lnTo>
                      <a:pt x="7569" y="19176"/>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50" name="object 292">
                <a:extLst>
                  <a:ext uri="{FF2B5EF4-FFF2-40B4-BE49-F238E27FC236}">
                    <a16:creationId xmlns:a16="http://schemas.microsoft.com/office/drawing/2014/main" id="{21B837D1-D4D6-49ED-AF0A-AD67B9A1BF4F}"/>
                  </a:ext>
                </a:extLst>
              </p:cNvPr>
              <p:cNvSpPr/>
              <p:nvPr/>
            </p:nvSpPr>
            <p:spPr>
              <a:xfrm>
                <a:off x="1184148" y="5486417"/>
                <a:ext cx="31132" cy="28303"/>
              </a:xfrm>
              <a:prstGeom prst="rect">
                <a:avLst/>
              </a:prstGeom>
              <a:blipFill>
                <a:blip r:embed="rId59"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51" name="object 293">
                <a:extLst>
                  <a:ext uri="{FF2B5EF4-FFF2-40B4-BE49-F238E27FC236}">
                    <a16:creationId xmlns:a16="http://schemas.microsoft.com/office/drawing/2014/main" id="{1EE00058-DF0A-4505-8765-A23A686A4E2D}"/>
                  </a:ext>
                </a:extLst>
              </p:cNvPr>
              <p:cNvSpPr/>
              <p:nvPr/>
            </p:nvSpPr>
            <p:spPr>
              <a:xfrm>
                <a:off x="1202436" y="5466587"/>
                <a:ext cx="21590" cy="18415"/>
              </a:xfrm>
              <a:custGeom>
                <a:avLst/>
                <a:gdLst/>
                <a:ahLst/>
                <a:cxnLst/>
                <a:rect l="l" t="t" r="r" b="b"/>
                <a:pathLst>
                  <a:path w="21590" h="18414">
                    <a:moveTo>
                      <a:pt x="9563" y="0"/>
                    </a:moveTo>
                    <a:lnTo>
                      <a:pt x="4051" y="2921"/>
                    </a:lnTo>
                    <a:lnTo>
                      <a:pt x="0" y="9271"/>
                    </a:lnTo>
                    <a:lnTo>
                      <a:pt x="1473" y="15367"/>
                    </a:lnTo>
                    <a:lnTo>
                      <a:pt x="8826" y="17653"/>
                    </a:lnTo>
                    <a:lnTo>
                      <a:pt x="16916" y="18287"/>
                    </a:lnTo>
                    <a:lnTo>
                      <a:pt x="20599" y="12446"/>
                    </a:lnTo>
                    <a:lnTo>
                      <a:pt x="21335" y="4699"/>
                    </a:lnTo>
                    <a:lnTo>
                      <a:pt x="17284" y="253"/>
                    </a:lnTo>
                    <a:lnTo>
                      <a:pt x="9563"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52" name="object 294">
                <a:extLst>
                  <a:ext uri="{FF2B5EF4-FFF2-40B4-BE49-F238E27FC236}">
                    <a16:creationId xmlns:a16="http://schemas.microsoft.com/office/drawing/2014/main" id="{7EF391DD-DEC4-43FB-AC18-8D0474632664}"/>
                  </a:ext>
                </a:extLst>
              </p:cNvPr>
              <p:cNvSpPr/>
              <p:nvPr/>
            </p:nvSpPr>
            <p:spPr>
              <a:xfrm>
                <a:off x="1202436" y="5466587"/>
                <a:ext cx="21590" cy="18415"/>
              </a:xfrm>
              <a:custGeom>
                <a:avLst/>
                <a:gdLst/>
                <a:ahLst/>
                <a:cxnLst/>
                <a:rect l="l" t="t" r="r" b="b"/>
                <a:pathLst>
                  <a:path w="21590" h="18414">
                    <a:moveTo>
                      <a:pt x="8826" y="17653"/>
                    </a:moveTo>
                    <a:lnTo>
                      <a:pt x="1473" y="15367"/>
                    </a:lnTo>
                    <a:lnTo>
                      <a:pt x="0" y="9271"/>
                    </a:lnTo>
                    <a:lnTo>
                      <a:pt x="4051" y="2921"/>
                    </a:lnTo>
                    <a:lnTo>
                      <a:pt x="9563" y="0"/>
                    </a:lnTo>
                    <a:lnTo>
                      <a:pt x="17284" y="253"/>
                    </a:lnTo>
                    <a:lnTo>
                      <a:pt x="21335" y="4699"/>
                    </a:lnTo>
                    <a:lnTo>
                      <a:pt x="20599" y="12446"/>
                    </a:lnTo>
                    <a:lnTo>
                      <a:pt x="16916" y="18287"/>
                    </a:lnTo>
                    <a:lnTo>
                      <a:pt x="8826" y="17653"/>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53" name="object 295">
                <a:extLst>
                  <a:ext uri="{FF2B5EF4-FFF2-40B4-BE49-F238E27FC236}">
                    <a16:creationId xmlns:a16="http://schemas.microsoft.com/office/drawing/2014/main" id="{D7B51EEF-9DA2-4259-9F6F-25EA504C4655}"/>
                  </a:ext>
                </a:extLst>
              </p:cNvPr>
              <p:cNvSpPr/>
              <p:nvPr/>
            </p:nvSpPr>
            <p:spPr>
              <a:xfrm>
                <a:off x="973836" y="5503181"/>
                <a:ext cx="29718" cy="28303"/>
              </a:xfrm>
              <a:prstGeom prst="rect">
                <a:avLst/>
              </a:prstGeom>
              <a:blipFill>
                <a:blip r:embed="rId60"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54" name="object 296">
                <a:extLst>
                  <a:ext uri="{FF2B5EF4-FFF2-40B4-BE49-F238E27FC236}">
                    <a16:creationId xmlns:a16="http://schemas.microsoft.com/office/drawing/2014/main" id="{690D4026-DEAE-49EC-A9F1-36DA63FAFEE9}"/>
                  </a:ext>
                </a:extLst>
              </p:cNvPr>
              <p:cNvSpPr/>
              <p:nvPr/>
            </p:nvSpPr>
            <p:spPr>
              <a:xfrm>
                <a:off x="992123" y="5483351"/>
                <a:ext cx="20320" cy="18415"/>
              </a:xfrm>
              <a:custGeom>
                <a:avLst/>
                <a:gdLst/>
                <a:ahLst/>
                <a:cxnLst/>
                <a:rect l="l" t="t" r="r" b="b"/>
                <a:pathLst>
                  <a:path w="20319" h="18414">
                    <a:moveTo>
                      <a:pt x="9359" y="0"/>
                    </a:moveTo>
                    <a:lnTo>
                      <a:pt x="3962" y="2921"/>
                    </a:lnTo>
                    <a:lnTo>
                      <a:pt x="0" y="9271"/>
                    </a:lnTo>
                    <a:lnTo>
                      <a:pt x="1435" y="15367"/>
                    </a:lnTo>
                    <a:lnTo>
                      <a:pt x="8648" y="17653"/>
                    </a:lnTo>
                    <a:lnTo>
                      <a:pt x="16573" y="18288"/>
                    </a:lnTo>
                    <a:lnTo>
                      <a:pt x="19812" y="12827"/>
                    </a:lnTo>
                    <a:lnTo>
                      <a:pt x="18376" y="6985"/>
                    </a:lnTo>
                    <a:lnTo>
                      <a:pt x="15493" y="1397"/>
                    </a:lnTo>
                    <a:lnTo>
                      <a:pt x="9359"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55" name="object 297">
                <a:extLst>
                  <a:ext uri="{FF2B5EF4-FFF2-40B4-BE49-F238E27FC236}">
                    <a16:creationId xmlns:a16="http://schemas.microsoft.com/office/drawing/2014/main" id="{07A8AD42-5161-48CB-88C7-02114D95DC7D}"/>
                  </a:ext>
                </a:extLst>
              </p:cNvPr>
              <p:cNvSpPr/>
              <p:nvPr/>
            </p:nvSpPr>
            <p:spPr>
              <a:xfrm>
                <a:off x="992123" y="5483351"/>
                <a:ext cx="20320" cy="18415"/>
              </a:xfrm>
              <a:custGeom>
                <a:avLst/>
                <a:gdLst/>
                <a:ahLst/>
                <a:cxnLst/>
                <a:rect l="l" t="t" r="r" b="b"/>
                <a:pathLst>
                  <a:path w="20319" h="18414">
                    <a:moveTo>
                      <a:pt x="8648" y="17653"/>
                    </a:moveTo>
                    <a:lnTo>
                      <a:pt x="1435" y="15367"/>
                    </a:lnTo>
                    <a:lnTo>
                      <a:pt x="0" y="9271"/>
                    </a:lnTo>
                    <a:lnTo>
                      <a:pt x="3962" y="2921"/>
                    </a:lnTo>
                    <a:lnTo>
                      <a:pt x="9359" y="0"/>
                    </a:lnTo>
                    <a:lnTo>
                      <a:pt x="15493" y="1397"/>
                    </a:lnTo>
                    <a:lnTo>
                      <a:pt x="18376" y="6985"/>
                    </a:lnTo>
                    <a:lnTo>
                      <a:pt x="19812" y="12827"/>
                    </a:lnTo>
                    <a:lnTo>
                      <a:pt x="16573" y="18288"/>
                    </a:lnTo>
                    <a:lnTo>
                      <a:pt x="8648" y="17653"/>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56" name="object 298">
                <a:extLst>
                  <a:ext uri="{FF2B5EF4-FFF2-40B4-BE49-F238E27FC236}">
                    <a16:creationId xmlns:a16="http://schemas.microsoft.com/office/drawing/2014/main" id="{4A27DB5F-25FC-4120-8394-126F80EF315E}"/>
                  </a:ext>
                </a:extLst>
              </p:cNvPr>
              <p:cNvSpPr/>
              <p:nvPr/>
            </p:nvSpPr>
            <p:spPr>
              <a:xfrm>
                <a:off x="1144523" y="5692134"/>
                <a:ext cx="35718" cy="31132"/>
              </a:xfrm>
              <a:prstGeom prst="rect">
                <a:avLst/>
              </a:prstGeom>
              <a:blipFill>
                <a:blip r:embed="rId61"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57" name="object 299">
                <a:extLst>
                  <a:ext uri="{FF2B5EF4-FFF2-40B4-BE49-F238E27FC236}">
                    <a16:creationId xmlns:a16="http://schemas.microsoft.com/office/drawing/2014/main" id="{A4A5C3E0-562C-411D-A7A7-A6DAEB2B2DAB}"/>
                  </a:ext>
                </a:extLst>
              </p:cNvPr>
              <p:cNvSpPr/>
              <p:nvPr/>
            </p:nvSpPr>
            <p:spPr>
              <a:xfrm>
                <a:off x="1162812" y="5672327"/>
                <a:ext cx="26034" cy="21590"/>
              </a:xfrm>
              <a:custGeom>
                <a:avLst/>
                <a:gdLst/>
                <a:ahLst/>
                <a:cxnLst/>
                <a:rect l="l" t="t" r="r" b="b"/>
                <a:pathLst>
                  <a:path w="26034" h="21589">
                    <a:moveTo>
                      <a:pt x="6222" y="0"/>
                    </a:moveTo>
                    <a:lnTo>
                      <a:pt x="0" y="7886"/>
                    </a:lnTo>
                    <a:lnTo>
                      <a:pt x="1041" y="16078"/>
                    </a:lnTo>
                    <a:lnTo>
                      <a:pt x="7251" y="21336"/>
                    </a:lnTo>
                    <a:lnTo>
                      <a:pt x="15887" y="21336"/>
                    </a:lnTo>
                    <a:lnTo>
                      <a:pt x="25222" y="12865"/>
                    </a:lnTo>
                    <a:lnTo>
                      <a:pt x="25907" y="4965"/>
                    </a:lnTo>
                    <a:lnTo>
                      <a:pt x="22110" y="584"/>
                    </a:lnTo>
                    <a:lnTo>
                      <a:pt x="6222"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58" name="object 300">
                <a:extLst>
                  <a:ext uri="{FF2B5EF4-FFF2-40B4-BE49-F238E27FC236}">
                    <a16:creationId xmlns:a16="http://schemas.microsoft.com/office/drawing/2014/main" id="{A8110325-C5E1-4B0D-94C6-26F7827BF0E5}"/>
                  </a:ext>
                </a:extLst>
              </p:cNvPr>
              <p:cNvSpPr/>
              <p:nvPr/>
            </p:nvSpPr>
            <p:spPr>
              <a:xfrm>
                <a:off x="1162812" y="5672327"/>
                <a:ext cx="26034" cy="21590"/>
              </a:xfrm>
              <a:custGeom>
                <a:avLst/>
                <a:gdLst/>
                <a:ahLst/>
                <a:cxnLst/>
                <a:rect l="l" t="t" r="r" b="b"/>
                <a:pathLst>
                  <a:path w="26034" h="21589">
                    <a:moveTo>
                      <a:pt x="7251" y="21336"/>
                    </a:moveTo>
                    <a:lnTo>
                      <a:pt x="1041" y="16078"/>
                    </a:lnTo>
                    <a:lnTo>
                      <a:pt x="0" y="7886"/>
                    </a:lnTo>
                    <a:lnTo>
                      <a:pt x="6222" y="0"/>
                    </a:lnTo>
                    <a:lnTo>
                      <a:pt x="14859" y="292"/>
                    </a:lnTo>
                    <a:lnTo>
                      <a:pt x="22110" y="584"/>
                    </a:lnTo>
                    <a:lnTo>
                      <a:pt x="25907" y="4965"/>
                    </a:lnTo>
                    <a:lnTo>
                      <a:pt x="25222" y="12865"/>
                    </a:lnTo>
                    <a:lnTo>
                      <a:pt x="15887" y="21336"/>
                    </a:lnTo>
                    <a:lnTo>
                      <a:pt x="7251" y="21336"/>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59" name="object 301">
                <a:extLst>
                  <a:ext uri="{FF2B5EF4-FFF2-40B4-BE49-F238E27FC236}">
                    <a16:creationId xmlns:a16="http://schemas.microsoft.com/office/drawing/2014/main" id="{A33945F7-70C6-4C26-BDB0-318106ED53B1}"/>
                  </a:ext>
                </a:extLst>
              </p:cNvPr>
              <p:cNvSpPr/>
              <p:nvPr/>
            </p:nvSpPr>
            <p:spPr>
              <a:xfrm>
                <a:off x="1065276" y="5753093"/>
                <a:ext cx="32861" cy="35718"/>
              </a:xfrm>
              <a:prstGeom prst="rect">
                <a:avLst/>
              </a:prstGeom>
              <a:blipFill>
                <a:blip r:embed="rId62"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60" name="object 302">
                <a:extLst>
                  <a:ext uri="{FF2B5EF4-FFF2-40B4-BE49-F238E27FC236}">
                    <a16:creationId xmlns:a16="http://schemas.microsoft.com/office/drawing/2014/main" id="{E10AE79D-D91A-4522-9BD5-519DC4BBEE89}"/>
                  </a:ext>
                </a:extLst>
              </p:cNvPr>
              <p:cNvSpPr/>
              <p:nvPr/>
            </p:nvSpPr>
            <p:spPr>
              <a:xfrm>
                <a:off x="1083564" y="5733287"/>
                <a:ext cx="22860" cy="26034"/>
              </a:xfrm>
              <a:custGeom>
                <a:avLst/>
                <a:gdLst/>
                <a:ahLst/>
                <a:cxnLst/>
                <a:rect l="l" t="t" r="r" b="b"/>
                <a:pathLst>
                  <a:path w="22859" h="26035">
                    <a:moveTo>
                      <a:pt x="11607" y="0"/>
                    </a:moveTo>
                    <a:lnTo>
                      <a:pt x="6324" y="3162"/>
                    </a:lnTo>
                    <a:lnTo>
                      <a:pt x="2463" y="10109"/>
                    </a:lnTo>
                    <a:lnTo>
                      <a:pt x="0" y="19278"/>
                    </a:lnTo>
                    <a:lnTo>
                      <a:pt x="4216" y="25908"/>
                    </a:lnTo>
                    <a:lnTo>
                      <a:pt x="13017" y="24015"/>
                    </a:lnTo>
                    <a:lnTo>
                      <a:pt x="20040" y="14528"/>
                    </a:lnTo>
                    <a:lnTo>
                      <a:pt x="22860" y="5054"/>
                    </a:lnTo>
                    <a:lnTo>
                      <a:pt x="18986" y="317"/>
                    </a:lnTo>
                    <a:lnTo>
                      <a:pt x="11607"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61" name="object 303">
                <a:extLst>
                  <a:ext uri="{FF2B5EF4-FFF2-40B4-BE49-F238E27FC236}">
                    <a16:creationId xmlns:a16="http://schemas.microsoft.com/office/drawing/2014/main" id="{45583D94-F0D9-4937-82BD-8748A23DC038}"/>
                  </a:ext>
                </a:extLst>
              </p:cNvPr>
              <p:cNvSpPr/>
              <p:nvPr/>
            </p:nvSpPr>
            <p:spPr>
              <a:xfrm>
                <a:off x="1083564" y="5733287"/>
                <a:ext cx="22860" cy="26034"/>
              </a:xfrm>
              <a:custGeom>
                <a:avLst/>
                <a:gdLst/>
                <a:ahLst/>
                <a:cxnLst/>
                <a:rect l="l" t="t" r="r" b="b"/>
                <a:pathLst>
                  <a:path w="22859" h="26035">
                    <a:moveTo>
                      <a:pt x="4216" y="25908"/>
                    </a:moveTo>
                    <a:lnTo>
                      <a:pt x="0" y="19278"/>
                    </a:lnTo>
                    <a:lnTo>
                      <a:pt x="2463" y="10109"/>
                    </a:lnTo>
                    <a:lnTo>
                      <a:pt x="6324" y="3162"/>
                    </a:lnTo>
                    <a:lnTo>
                      <a:pt x="11607" y="0"/>
                    </a:lnTo>
                    <a:lnTo>
                      <a:pt x="18986" y="317"/>
                    </a:lnTo>
                    <a:lnTo>
                      <a:pt x="22860" y="5054"/>
                    </a:lnTo>
                    <a:lnTo>
                      <a:pt x="20040" y="14528"/>
                    </a:lnTo>
                    <a:lnTo>
                      <a:pt x="13017" y="24015"/>
                    </a:lnTo>
                    <a:lnTo>
                      <a:pt x="4216" y="25908"/>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62" name="object 304">
                <a:extLst>
                  <a:ext uri="{FF2B5EF4-FFF2-40B4-BE49-F238E27FC236}">
                    <a16:creationId xmlns:a16="http://schemas.microsoft.com/office/drawing/2014/main" id="{450E669F-EDD9-4DEA-83D8-3147D8CB3303}"/>
                  </a:ext>
                </a:extLst>
              </p:cNvPr>
              <p:cNvSpPr/>
              <p:nvPr/>
            </p:nvSpPr>
            <p:spPr>
              <a:xfrm>
                <a:off x="1205484" y="6063995"/>
                <a:ext cx="37423" cy="38862"/>
              </a:xfrm>
              <a:prstGeom prst="rect">
                <a:avLst/>
              </a:prstGeom>
              <a:blipFill>
                <a:blip r:embed="rId63"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63" name="object 305">
                <a:extLst>
                  <a:ext uri="{FF2B5EF4-FFF2-40B4-BE49-F238E27FC236}">
                    <a16:creationId xmlns:a16="http://schemas.microsoft.com/office/drawing/2014/main" id="{1C202A7B-661A-451C-9B4E-F2EC60F8EA31}"/>
                  </a:ext>
                </a:extLst>
              </p:cNvPr>
              <p:cNvSpPr/>
              <p:nvPr/>
            </p:nvSpPr>
            <p:spPr>
              <a:xfrm>
                <a:off x="1223772" y="6044183"/>
                <a:ext cx="27940" cy="29209"/>
              </a:xfrm>
              <a:custGeom>
                <a:avLst/>
                <a:gdLst/>
                <a:ahLst/>
                <a:cxnLst/>
                <a:rect l="l" t="t" r="r" b="b"/>
                <a:pathLst>
                  <a:path w="27940" h="29210">
                    <a:moveTo>
                      <a:pt x="20294" y="0"/>
                    </a:moveTo>
                    <a:lnTo>
                      <a:pt x="11277" y="0"/>
                    </a:lnTo>
                    <a:lnTo>
                      <a:pt x="4508" y="4356"/>
                    </a:lnTo>
                    <a:lnTo>
                      <a:pt x="381" y="12141"/>
                    </a:lnTo>
                    <a:lnTo>
                      <a:pt x="0" y="22415"/>
                    </a:lnTo>
                    <a:lnTo>
                      <a:pt x="8267" y="28016"/>
                    </a:lnTo>
                    <a:lnTo>
                      <a:pt x="19164" y="28955"/>
                    </a:lnTo>
                    <a:lnTo>
                      <a:pt x="26301" y="23977"/>
                    </a:lnTo>
                    <a:lnTo>
                      <a:pt x="27431" y="13080"/>
                    </a:lnTo>
                    <a:lnTo>
                      <a:pt x="25171" y="5600"/>
                    </a:lnTo>
                    <a:lnTo>
                      <a:pt x="20294"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64" name="object 306">
                <a:extLst>
                  <a:ext uri="{FF2B5EF4-FFF2-40B4-BE49-F238E27FC236}">
                    <a16:creationId xmlns:a16="http://schemas.microsoft.com/office/drawing/2014/main" id="{1402C4BB-6DEC-4199-99B2-EAD3CFDA0B30}"/>
                  </a:ext>
                </a:extLst>
              </p:cNvPr>
              <p:cNvSpPr/>
              <p:nvPr/>
            </p:nvSpPr>
            <p:spPr>
              <a:xfrm>
                <a:off x="1223772" y="6044183"/>
                <a:ext cx="27940" cy="29209"/>
              </a:xfrm>
              <a:custGeom>
                <a:avLst/>
                <a:gdLst/>
                <a:ahLst/>
                <a:cxnLst/>
                <a:rect l="l" t="t" r="r" b="b"/>
                <a:pathLst>
                  <a:path w="27940" h="29210">
                    <a:moveTo>
                      <a:pt x="8267" y="28016"/>
                    </a:moveTo>
                    <a:lnTo>
                      <a:pt x="0" y="22415"/>
                    </a:lnTo>
                    <a:lnTo>
                      <a:pt x="381" y="12141"/>
                    </a:lnTo>
                    <a:lnTo>
                      <a:pt x="4508" y="4356"/>
                    </a:lnTo>
                    <a:lnTo>
                      <a:pt x="11277" y="0"/>
                    </a:lnTo>
                    <a:lnTo>
                      <a:pt x="20294" y="0"/>
                    </a:lnTo>
                    <a:lnTo>
                      <a:pt x="25171" y="5600"/>
                    </a:lnTo>
                    <a:lnTo>
                      <a:pt x="27431" y="13080"/>
                    </a:lnTo>
                    <a:lnTo>
                      <a:pt x="26301" y="23977"/>
                    </a:lnTo>
                    <a:lnTo>
                      <a:pt x="19164" y="28955"/>
                    </a:lnTo>
                    <a:lnTo>
                      <a:pt x="8267" y="28016"/>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65" name="object 307">
                <a:extLst>
                  <a:ext uri="{FF2B5EF4-FFF2-40B4-BE49-F238E27FC236}">
                    <a16:creationId xmlns:a16="http://schemas.microsoft.com/office/drawing/2014/main" id="{FEF7F1E3-B281-454B-AA74-8E200AE04C6E}"/>
                  </a:ext>
                </a:extLst>
              </p:cNvPr>
              <p:cNvSpPr/>
              <p:nvPr/>
            </p:nvSpPr>
            <p:spPr>
              <a:xfrm>
                <a:off x="1347215" y="5762243"/>
                <a:ext cx="31132" cy="29718"/>
              </a:xfrm>
              <a:prstGeom prst="rect">
                <a:avLst/>
              </a:prstGeom>
              <a:blipFill>
                <a:blip r:embed="rId64"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66" name="object 308">
                <a:extLst>
                  <a:ext uri="{FF2B5EF4-FFF2-40B4-BE49-F238E27FC236}">
                    <a16:creationId xmlns:a16="http://schemas.microsoft.com/office/drawing/2014/main" id="{CEA63CF2-6BF6-4BE3-8F22-67DAED2AAA73}"/>
                  </a:ext>
                </a:extLst>
              </p:cNvPr>
              <p:cNvSpPr/>
              <p:nvPr/>
            </p:nvSpPr>
            <p:spPr>
              <a:xfrm>
                <a:off x="1365504" y="5742431"/>
                <a:ext cx="21590" cy="20320"/>
              </a:xfrm>
              <a:custGeom>
                <a:avLst/>
                <a:gdLst/>
                <a:ahLst/>
                <a:cxnLst/>
                <a:rect l="l" t="t" r="r" b="b"/>
                <a:pathLst>
                  <a:path w="21590" h="20320">
                    <a:moveTo>
                      <a:pt x="9525" y="0"/>
                    </a:moveTo>
                    <a:lnTo>
                      <a:pt x="4064" y="3149"/>
                    </a:lnTo>
                    <a:lnTo>
                      <a:pt x="0" y="10058"/>
                    </a:lnTo>
                    <a:lnTo>
                      <a:pt x="1524" y="16662"/>
                    </a:lnTo>
                    <a:lnTo>
                      <a:pt x="8890" y="19177"/>
                    </a:lnTo>
                    <a:lnTo>
                      <a:pt x="16890" y="19812"/>
                    </a:lnTo>
                    <a:lnTo>
                      <a:pt x="20574" y="13525"/>
                    </a:lnTo>
                    <a:lnTo>
                      <a:pt x="21336" y="5029"/>
                    </a:lnTo>
                    <a:lnTo>
                      <a:pt x="17271" y="317"/>
                    </a:lnTo>
                    <a:lnTo>
                      <a:pt x="9525"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67" name="object 309">
                <a:extLst>
                  <a:ext uri="{FF2B5EF4-FFF2-40B4-BE49-F238E27FC236}">
                    <a16:creationId xmlns:a16="http://schemas.microsoft.com/office/drawing/2014/main" id="{1438EAD5-AA7A-400B-A4CF-88B9F9D38D24}"/>
                  </a:ext>
                </a:extLst>
              </p:cNvPr>
              <p:cNvSpPr/>
              <p:nvPr/>
            </p:nvSpPr>
            <p:spPr>
              <a:xfrm>
                <a:off x="1365504" y="5742431"/>
                <a:ext cx="21590" cy="20320"/>
              </a:xfrm>
              <a:custGeom>
                <a:avLst/>
                <a:gdLst/>
                <a:ahLst/>
                <a:cxnLst/>
                <a:rect l="l" t="t" r="r" b="b"/>
                <a:pathLst>
                  <a:path w="21590" h="20320">
                    <a:moveTo>
                      <a:pt x="8890" y="19177"/>
                    </a:moveTo>
                    <a:lnTo>
                      <a:pt x="1524" y="16662"/>
                    </a:lnTo>
                    <a:lnTo>
                      <a:pt x="0" y="10058"/>
                    </a:lnTo>
                    <a:lnTo>
                      <a:pt x="4064" y="3149"/>
                    </a:lnTo>
                    <a:lnTo>
                      <a:pt x="9525" y="0"/>
                    </a:lnTo>
                    <a:lnTo>
                      <a:pt x="17271" y="317"/>
                    </a:lnTo>
                    <a:lnTo>
                      <a:pt x="21336" y="5029"/>
                    </a:lnTo>
                    <a:lnTo>
                      <a:pt x="20574" y="13525"/>
                    </a:lnTo>
                    <a:lnTo>
                      <a:pt x="16890" y="19812"/>
                    </a:lnTo>
                    <a:lnTo>
                      <a:pt x="8890" y="19177"/>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68" name="object 310">
                <a:extLst>
                  <a:ext uri="{FF2B5EF4-FFF2-40B4-BE49-F238E27FC236}">
                    <a16:creationId xmlns:a16="http://schemas.microsoft.com/office/drawing/2014/main" id="{22D89DA1-5626-41CC-A933-573A83EBC221}"/>
                  </a:ext>
                </a:extLst>
              </p:cNvPr>
              <p:cNvSpPr/>
              <p:nvPr/>
            </p:nvSpPr>
            <p:spPr>
              <a:xfrm>
                <a:off x="2039112" y="2302822"/>
                <a:ext cx="57150" cy="46550"/>
              </a:xfrm>
              <a:prstGeom prst="rect">
                <a:avLst/>
              </a:prstGeom>
              <a:blipFill>
                <a:blip r:embed="rId65"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69" name="object 311">
                <a:extLst>
                  <a:ext uri="{FF2B5EF4-FFF2-40B4-BE49-F238E27FC236}">
                    <a16:creationId xmlns:a16="http://schemas.microsoft.com/office/drawing/2014/main" id="{2461B3F2-C063-4994-907C-48B5B1374C72}"/>
                  </a:ext>
                </a:extLst>
              </p:cNvPr>
              <p:cNvSpPr/>
              <p:nvPr/>
            </p:nvSpPr>
            <p:spPr>
              <a:xfrm>
                <a:off x="2057400" y="2282952"/>
                <a:ext cx="47625" cy="36830"/>
              </a:xfrm>
              <a:custGeom>
                <a:avLst/>
                <a:gdLst/>
                <a:ahLst/>
                <a:cxnLst/>
                <a:rect l="l" t="t" r="r" b="b"/>
                <a:pathLst>
                  <a:path w="47625" h="36830">
                    <a:moveTo>
                      <a:pt x="24130" y="0"/>
                    </a:moveTo>
                    <a:lnTo>
                      <a:pt x="19938" y="5587"/>
                    </a:lnTo>
                    <a:lnTo>
                      <a:pt x="12573" y="6223"/>
                    </a:lnTo>
                    <a:lnTo>
                      <a:pt x="5587" y="7493"/>
                    </a:lnTo>
                    <a:lnTo>
                      <a:pt x="0" y="9398"/>
                    </a:lnTo>
                    <a:lnTo>
                      <a:pt x="381" y="17780"/>
                    </a:lnTo>
                    <a:lnTo>
                      <a:pt x="6350" y="18796"/>
                    </a:lnTo>
                    <a:lnTo>
                      <a:pt x="11556" y="17780"/>
                    </a:lnTo>
                    <a:lnTo>
                      <a:pt x="14731" y="23495"/>
                    </a:lnTo>
                    <a:lnTo>
                      <a:pt x="17525" y="31876"/>
                    </a:lnTo>
                    <a:lnTo>
                      <a:pt x="21336" y="34671"/>
                    </a:lnTo>
                    <a:lnTo>
                      <a:pt x="30733" y="36575"/>
                    </a:lnTo>
                    <a:lnTo>
                      <a:pt x="42291" y="35687"/>
                    </a:lnTo>
                    <a:lnTo>
                      <a:pt x="45466" y="28701"/>
                    </a:lnTo>
                    <a:lnTo>
                      <a:pt x="47243" y="23113"/>
                    </a:lnTo>
                    <a:lnTo>
                      <a:pt x="44450" y="16001"/>
                    </a:lnTo>
                    <a:lnTo>
                      <a:pt x="39877" y="10922"/>
                    </a:lnTo>
                    <a:lnTo>
                      <a:pt x="38862" y="4699"/>
                    </a:lnTo>
                    <a:lnTo>
                      <a:pt x="29718" y="7493"/>
                    </a:lnTo>
                    <a:lnTo>
                      <a:pt x="30733" y="2539"/>
                    </a:lnTo>
                    <a:lnTo>
                      <a:pt x="24130"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70" name="object 312">
                <a:extLst>
                  <a:ext uri="{FF2B5EF4-FFF2-40B4-BE49-F238E27FC236}">
                    <a16:creationId xmlns:a16="http://schemas.microsoft.com/office/drawing/2014/main" id="{57E86D62-D1CB-4C77-9587-3FB9A374129F}"/>
                  </a:ext>
                </a:extLst>
              </p:cNvPr>
              <p:cNvSpPr/>
              <p:nvPr/>
            </p:nvSpPr>
            <p:spPr>
              <a:xfrm>
                <a:off x="2057400" y="2282952"/>
                <a:ext cx="47625" cy="36830"/>
              </a:xfrm>
              <a:custGeom>
                <a:avLst/>
                <a:gdLst/>
                <a:ahLst/>
                <a:cxnLst/>
                <a:rect l="l" t="t" r="r" b="b"/>
                <a:pathLst>
                  <a:path w="47625" h="36830">
                    <a:moveTo>
                      <a:pt x="44450" y="16001"/>
                    </a:moveTo>
                    <a:lnTo>
                      <a:pt x="39877" y="10922"/>
                    </a:lnTo>
                    <a:lnTo>
                      <a:pt x="38862" y="4699"/>
                    </a:lnTo>
                    <a:lnTo>
                      <a:pt x="29718" y="7493"/>
                    </a:lnTo>
                    <a:lnTo>
                      <a:pt x="30733" y="2539"/>
                    </a:lnTo>
                    <a:lnTo>
                      <a:pt x="24130" y="0"/>
                    </a:lnTo>
                    <a:lnTo>
                      <a:pt x="19938" y="5587"/>
                    </a:lnTo>
                    <a:lnTo>
                      <a:pt x="12573" y="6223"/>
                    </a:lnTo>
                    <a:lnTo>
                      <a:pt x="5587" y="7493"/>
                    </a:lnTo>
                    <a:lnTo>
                      <a:pt x="0" y="9398"/>
                    </a:lnTo>
                    <a:lnTo>
                      <a:pt x="381" y="17780"/>
                    </a:lnTo>
                    <a:lnTo>
                      <a:pt x="6350" y="18796"/>
                    </a:lnTo>
                    <a:lnTo>
                      <a:pt x="11556" y="17780"/>
                    </a:lnTo>
                    <a:lnTo>
                      <a:pt x="14731" y="23495"/>
                    </a:lnTo>
                    <a:lnTo>
                      <a:pt x="17525" y="31876"/>
                    </a:lnTo>
                    <a:lnTo>
                      <a:pt x="21336" y="34671"/>
                    </a:lnTo>
                    <a:lnTo>
                      <a:pt x="30733" y="36575"/>
                    </a:lnTo>
                    <a:lnTo>
                      <a:pt x="42291" y="35687"/>
                    </a:lnTo>
                    <a:lnTo>
                      <a:pt x="45466" y="28701"/>
                    </a:lnTo>
                    <a:lnTo>
                      <a:pt x="47243" y="23113"/>
                    </a:lnTo>
                    <a:lnTo>
                      <a:pt x="44450" y="16001"/>
                    </a:lnTo>
                    <a:close/>
                  </a:path>
                </a:pathLst>
              </a:custGeom>
              <a:ln w="9143">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71" name="object 313">
                <a:extLst>
                  <a:ext uri="{FF2B5EF4-FFF2-40B4-BE49-F238E27FC236}">
                    <a16:creationId xmlns:a16="http://schemas.microsoft.com/office/drawing/2014/main" id="{80F99BD2-FB79-4D24-BCD1-6377161562C5}"/>
                  </a:ext>
                </a:extLst>
              </p:cNvPr>
              <p:cNvSpPr/>
              <p:nvPr/>
            </p:nvSpPr>
            <p:spPr>
              <a:xfrm>
                <a:off x="1322831" y="4065981"/>
                <a:ext cx="69390" cy="64820"/>
              </a:xfrm>
              <a:prstGeom prst="rect">
                <a:avLst/>
              </a:prstGeom>
              <a:blipFill>
                <a:blip r:embed="rId66"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72" name="object 314">
                <a:extLst>
                  <a:ext uri="{FF2B5EF4-FFF2-40B4-BE49-F238E27FC236}">
                    <a16:creationId xmlns:a16="http://schemas.microsoft.com/office/drawing/2014/main" id="{1050D9B0-C996-4FBB-AB76-496D12EFF27B}"/>
                  </a:ext>
                </a:extLst>
              </p:cNvPr>
              <p:cNvSpPr/>
              <p:nvPr/>
            </p:nvSpPr>
            <p:spPr>
              <a:xfrm>
                <a:off x="1324356" y="4040123"/>
                <a:ext cx="80772" cy="65531"/>
              </a:xfrm>
              <a:prstGeom prst="rect">
                <a:avLst/>
              </a:prstGeom>
              <a:blipFill>
                <a:blip r:embed="rId67"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73" name="object 315">
                <a:extLst>
                  <a:ext uri="{FF2B5EF4-FFF2-40B4-BE49-F238E27FC236}">
                    <a16:creationId xmlns:a16="http://schemas.microsoft.com/office/drawing/2014/main" id="{7594C3CA-C800-40E7-8D16-67D1DCF0FF4D}"/>
                  </a:ext>
                </a:extLst>
              </p:cNvPr>
              <p:cNvSpPr/>
              <p:nvPr/>
            </p:nvSpPr>
            <p:spPr>
              <a:xfrm>
                <a:off x="1345692" y="4020311"/>
                <a:ext cx="17145" cy="20320"/>
              </a:xfrm>
              <a:custGeom>
                <a:avLst/>
                <a:gdLst/>
                <a:ahLst/>
                <a:cxnLst/>
                <a:rect l="l" t="t" r="r" b="b"/>
                <a:pathLst>
                  <a:path w="17144" h="20320">
                    <a:moveTo>
                      <a:pt x="6604" y="0"/>
                    </a:moveTo>
                    <a:lnTo>
                      <a:pt x="3937" y="1905"/>
                    </a:lnTo>
                    <a:lnTo>
                      <a:pt x="2159" y="4190"/>
                    </a:lnTo>
                    <a:lnTo>
                      <a:pt x="1524" y="6476"/>
                    </a:lnTo>
                    <a:lnTo>
                      <a:pt x="1270" y="9270"/>
                    </a:lnTo>
                    <a:lnTo>
                      <a:pt x="1396" y="14858"/>
                    </a:lnTo>
                    <a:lnTo>
                      <a:pt x="0" y="19050"/>
                    </a:lnTo>
                    <a:lnTo>
                      <a:pt x="1143" y="19812"/>
                    </a:lnTo>
                    <a:lnTo>
                      <a:pt x="3302" y="18542"/>
                    </a:lnTo>
                    <a:lnTo>
                      <a:pt x="5715" y="18668"/>
                    </a:lnTo>
                    <a:lnTo>
                      <a:pt x="6604" y="19431"/>
                    </a:lnTo>
                    <a:lnTo>
                      <a:pt x="9017" y="18923"/>
                    </a:lnTo>
                    <a:lnTo>
                      <a:pt x="11938" y="19050"/>
                    </a:lnTo>
                    <a:lnTo>
                      <a:pt x="14096" y="18033"/>
                    </a:lnTo>
                    <a:lnTo>
                      <a:pt x="14859" y="16763"/>
                    </a:lnTo>
                    <a:lnTo>
                      <a:pt x="14351" y="16256"/>
                    </a:lnTo>
                    <a:lnTo>
                      <a:pt x="12700" y="15493"/>
                    </a:lnTo>
                    <a:lnTo>
                      <a:pt x="12954" y="13843"/>
                    </a:lnTo>
                    <a:lnTo>
                      <a:pt x="13462" y="12318"/>
                    </a:lnTo>
                    <a:lnTo>
                      <a:pt x="16129" y="12064"/>
                    </a:lnTo>
                    <a:lnTo>
                      <a:pt x="16764" y="10413"/>
                    </a:lnTo>
                    <a:lnTo>
                      <a:pt x="14732" y="8381"/>
                    </a:lnTo>
                    <a:lnTo>
                      <a:pt x="13335" y="7619"/>
                    </a:lnTo>
                    <a:lnTo>
                      <a:pt x="10033" y="8636"/>
                    </a:lnTo>
                    <a:lnTo>
                      <a:pt x="8763" y="8000"/>
                    </a:lnTo>
                    <a:lnTo>
                      <a:pt x="9652" y="5206"/>
                    </a:lnTo>
                    <a:lnTo>
                      <a:pt x="10668" y="4699"/>
                    </a:lnTo>
                    <a:lnTo>
                      <a:pt x="11684" y="4952"/>
                    </a:lnTo>
                    <a:lnTo>
                      <a:pt x="13335" y="4063"/>
                    </a:lnTo>
                    <a:lnTo>
                      <a:pt x="12700" y="2539"/>
                    </a:lnTo>
                    <a:lnTo>
                      <a:pt x="12700" y="1015"/>
                    </a:lnTo>
                    <a:lnTo>
                      <a:pt x="9779" y="762"/>
                    </a:lnTo>
                    <a:lnTo>
                      <a:pt x="6604"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74" name="object 316">
                <a:extLst>
                  <a:ext uri="{FF2B5EF4-FFF2-40B4-BE49-F238E27FC236}">
                    <a16:creationId xmlns:a16="http://schemas.microsoft.com/office/drawing/2014/main" id="{943A3485-5FA7-4D06-8FA5-27EF4F17F079}"/>
                  </a:ext>
                </a:extLst>
              </p:cNvPr>
              <p:cNvSpPr/>
              <p:nvPr/>
            </p:nvSpPr>
            <p:spPr>
              <a:xfrm>
                <a:off x="1345692" y="4020311"/>
                <a:ext cx="17145" cy="20320"/>
              </a:xfrm>
              <a:custGeom>
                <a:avLst/>
                <a:gdLst/>
                <a:ahLst/>
                <a:cxnLst/>
                <a:rect l="l" t="t" r="r" b="b"/>
                <a:pathLst>
                  <a:path w="17144" h="20320">
                    <a:moveTo>
                      <a:pt x="0" y="19050"/>
                    </a:moveTo>
                    <a:lnTo>
                      <a:pt x="1143" y="19812"/>
                    </a:lnTo>
                    <a:lnTo>
                      <a:pt x="3302" y="18542"/>
                    </a:lnTo>
                    <a:lnTo>
                      <a:pt x="5715" y="18668"/>
                    </a:lnTo>
                    <a:lnTo>
                      <a:pt x="6604" y="19431"/>
                    </a:lnTo>
                    <a:lnTo>
                      <a:pt x="9017" y="18923"/>
                    </a:lnTo>
                    <a:lnTo>
                      <a:pt x="11938" y="19050"/>
                    </a:lnTo>
                    <a:lnTo>
                      <a:pt x="14096" y="18033"/>
                    </a:lnTo>
                    <a:lnTo>
                      <a:pt x="14859" y="16763"/>
                    </a:lnTo>
                    <a:lnTo>
                      <a:pt x="14351" y="16256"/>
                    </a:lnTo>
                    <a:lnTo>
                      <a:pt x="12700" y="15493"/>
                    </a:lnTo>
                    <a:lnTo>
                      <a:pt x="12954" y="13843"/>
                    </a:lnTo>
                    <a:lnTo>
                      <a:pt x="13462" y="12318"/>
                    </a:lnTo>
                    <a:lnTo>
                      <a:pt x="14732" y="12318"/>
                    </a:lnTo>
                    <a:lnTo>
                      <a:pt x="16129" y="12064"/>
                    </a:lnTo>
                    <a:lnTo>
                      <a:pt x="16764" y="10413"/>
                    </a:lnTo>
                    <a:lnTo>
                      <a:pt x="15748" y="9398"/>
                    </a:lnTo>
                    <a:lnTo>
                      <a:pt x="14732" y="8381"/>
                    </a:lnTo>
                    <a:lnTo>
                      <a:pt x="13335" y="7619"/>
                    </a:lnTo>
                    <a:lnTo>
                      <a:pt x="11938" y="8000"/>
                    </a:lnTo>
                    <a:lnTo>
                      <a:pt x="10033" y="8636"/>
                    </a:lnTo>
                    <a:lnTo>
                      <a:pt x="8763" y="8000"/>
                    </a:lnTo>
                    <a:lnTo>
                      <a:pt x="9144" y="6476"/>
                    </a:lnTo>
                    <a:lnTo>
                      <a:pt x="9652" y="5206"/>
                    </a:lnTo>
                    <a:lnTo>
                      <a:pt x="10668" y="4699"/>
                    </a:lnTo>
                    <a:lnTo>
                      <a:pt x="11684" y="4952"/>
                    </a:lnTo>
                    <a:lnTo>
                      <a:pt x="13335" y="4063"/>
                    </a:lnTo>
                    <a:lnTo>
                      <a:pt x="12700" y="2539"/>
                    </a:lnTo>
                    <a:lnTo>
                      <a:pt x="12700" y="1015"/>
                    </a:lnTo>
                    <a:lnTo>
                      <a:pt x="11303" y="888"/>
                    </a:lnTo>
                    <a:lnTo>
                      <a:pt x="9779" y="762"/>
                    </a:lnTo>
                    <a:lnTo>
                      <a:pt x="8128" y="381"/>
                    </a:lnTo>
                    <a:lnTo>
                      <a:pt x="6604" y="0"/>
                    </a:lnTo>
                    <a:lnTo>
                      <a:pt x="3937" y="1905"/>
                    </a:lnTo>
                    <a:lnTo>
                      <a:pt x="2159" y="4190"/>
                    </a:lnTo>
                    <a:lnTo>
                      <a:pt x="1524" y="6476"/>
                    </a:lnTo>
                    <a:lnTo>
                      <a:pt x="1270" y="9270"/>
                    </a:lnTo>
                    <a:lnTo>
                      <a:pt x="1396" y="11430"/>
                    </a:lnTo>
                    <a:lnTo>
                      <a:pt x="1396" y="14858"/>
                    </a:lnTo>
                    <a:lnTo>
                      <a:pt x="508" y="17399"/>
                    </a:lnTo>
                    <a:lnTo>
                      <a:pt x="0" y="19050"/>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75" name="object 317">
                <a:extLst>
                  <a:ext uri="{FF2B5EF4-FFF2-40B4-BE49-F238E27FC236}">
                    <a16:creationId xmlns:a16="http://schemas.microsoft.com/office/drawing/2014/main" id="{960D984A-C282-40D6-90EA-C9980FB63940}"/>
                  </a:ext>
                </a:extLst>
              </p:cNvPr>
              <p:cNvSpPr/>
              <p:nvPr/>
            </p:nvSpPr>
            <p:spPr>
              <a:xfrm>
                <a:off x="982980" y="3995928"/>
                <a:ext cx="30987" cy="16128"/>
              </a:xfrm>
              <a:prstGeom prst="rect">
                <a:avLst/>
              </a:prstGeom>
              <a:blipFill>
                <a:blip r:embed="rId68"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76" name="object 318">
                <a:extLst>
                  <a:ext uri="{FF2B5EF4-FFF2-40B4-BE49-F238E27FC236}">
                    <a16:creationId xmlns:a16="http://schemas.microsoft.com/office/drawing/2014/main" id="{47821412-E692-47B7-9802-D8AB85ABABF7}"/>
                  </a:ext>
                </a:extLst>
              </p:cNvPr>
              <p:cNvSpPr/>
              <p:nvPr/>
            </p:nvSpPr>
            <p:spPr>
              <a:xfrm>
                <a:off x="1001268" y="3977639"/>
                <a:ext cx="20320" cy="5080"/>
              </a:xfrm>
              <a:custGeom>
                <a:avLst/>
                <a:gdLst/>
                <a:ahLst/>
                <a:cxnLst/>
                <a:rect l="l" t="t" r="r" b="b"/>
                <a:pathLst>
                  <a:path w="20319" h="5079">
                    <a:moveTo>
                      <a:pt x="7315" y="3302"/>
                    </a:moveTo>
                    <a:lnTo>
                      <a:pt x="2362" y="3302"/>
                    </a:lnTo>
                    <a:lnTo>
                      <a:pt x="2717" y="3429"/>
                    </a:lnTo>
                    <a:lnTo>
                      <a:pt x="3187" y="3556"/>
                    </a:lnTo>
                    <a:lnTo>
                      <a:pt x="3454" y="3556"/>
                    </a:lnTo>
                    <a:lnTo>
                      <a:pt x="3644" y="3683"/>
                    </a:lnTo>
                    <a:lnTo>
                      <a:pt x="3860" y="3937"/>
                    </a:lnTo>
                    <a:lnTo>
                      <a:pt x="4076" y="3937"/>
                    </a:lnTo>
                    <a:lnTo>
                      <a:pt x="4102" y="4191"/>
                    </a:lnTo>
                    <a:lnTo>
                      <a:pt x="3911" y="4318"/>
                    </a:lnTo>
                    <a:lnTo>
                      <a:pt x="3860" y="4572"/>
                    </a:lnTo>
                    <a:lnTo>
                      <a:pt x="5156" y="4572"/>
                    </a:lnTo>
                    <a:lnTo>
                      <a:pt x="5524" y="4445"/>
                    </a:lnTo>
                    <a:lnTo>
                      <a:pt x="5765" y="4445"/>
                    </a:lnTo>
                    <a:lnTo>
                      <a:pt x="5956" y="4318"/>
                    </a:lnTo>
                    <a:lnTo>
                      <a:pt x="6692" y="4318"/>
                    </a:lnTo>
                    <a:lnTo>
                      <a:pt x="6654" y="3810"/>
                    </a:lnTo>
                    <a:lnTo>
                      <a:pt x="6921" y="3556"/>
                    </a:lnTo>
                    <a:lnTo>
                      <a:pt x="7315" y="3302"/>
                    </a:lnTo>
                    <a:close/>
                  </a:path>
                  <a:path w="20319" h="5079">
                    <a:moveTo>
                      <a:pt x="6692" y="4318"/>
                    </a:moveTo>
                    <a:lnTo>
                      <a:pt x="6095" y="4318"/>
                    </a:lnTo>
                    <a:lnTo>
                      <a:pt x="6134" y="4572"/>
                    </a:lnTo>
                    <a:lnTo>
                      <a:pt x="6362" y="4445"/>
                    </a:lnTo>
                    <a:lnTo>
                      <a:pt x="6692" y="4318"/>
                    </a:lnTo>
                    <a:close/>
                  </a:path>
                  <a:path w="20319" h="5079">
                    <a:moveTo>
                      <a:pt x="17094" y="3683"/>
                    </a:moveTo>
                    <a:lnTo>
                      <a:pt x="15366" y="3683"/>
                    </a:lnTo>
                    <a:lnTo>
                      <a:pt x="15595" y="3937"/>
                    </a:lnTo>
                    <a:lnTo>
                      <a:pt x="16141" y="3937"/>
                    </a:lnTo>
                    <a:lnTo>
                      <a:pt x="16357" y="4064"/>
                    </a:lnTo>
                    <a:lnTo>
                      <a:pt x="16611" y="4064"/>
                    </a:lnTo>
                    <a:lnTo>
                      <a:pt x="16789" y="3810"/>
                    </a:lnTo>
                    <a:lnTo>
                      <a:pt x="17094" y="3683"/>
                    </a:lnTo>
                    <a:close/>
                  </a:path>
                  <a:path w="20319" h="5079">
                    <a:moveTo>
                      <a:pt x="19253" y="3048"/>
                    </a:moveTo>
                    <a:lnTo>
                      <a:pt x="9817" y="3048"/>
                    </a:lnTo>
                    <a:lnTo>
                      <a:pt x="10248" y="3302"/>
                    </a:lnTo>
                    <a:lnTo>
                      <a:pt x="10363" y="3556"/>
                    </a:lnTo>
                    <a:lnTo>
                      <a:pt x="10960" y="3683"/>
                    </a:lnTo>
                    <a:lnTo>
                      <a:pt x="11099" y="3810"/>
                    </a:lnTo>
                    <a:lnTo>
                      <a:pt x="12166" y="3810"/>
                    </a:lnTo>
                    <a:lnTo>
                      <a:pt x="12420" y="3937"/>
                    </a:lnTo>
                    <a:lnTo>
                      <a:pt x="12547" y="4064"/>
                    </a:lnTo>
                    <a:lnTo>
                      <a:pt x="12941" y="4064"/>
                    </a:lnTo>
                    <a:lnTo>
                      <a:pt x="13131" y="3937"/>
                    </a:lnTo>
                    <a:lnTo>
                      <a:pt x="13754" y="3683"/>
                    </a:lnTo>
                    <a:lnTo>
                      <a:pt x="17576" y="3683"/>
                    </a:lnTo>
                    <a:lnTo>
                      <a:pt x="17983" y="3302"/>
                    </a:lnTo>
                    <a:lnTo>
                      <a:pt x="19151" y="3302"/>
                    </a:lnTo>
                    <a:lnTo>
                      <a:pt x="19253" y="3048"/>
                    </a:lnTo>
                    <a:close/>
                  </a:path>
                  <a:path w="20319" h="5079">
                    <a:moveTo>
                      <a:pt x="14808" y="3683"/>
                    </a:moveTo>
                    <a:lnTo>
                      <a:pt x="14122" y="3683"/>
                    </a:lnTo>
                    <a:lnTo>
                      <a:pt x="14376" y="3810"/>
                    </a:lnTo>
                    <a:lnTo>
                      <a:pt x="14808" y="3683"/>
                    </a:lnTo>
                    <a:close/>
                  </a:path>
                  <a:path w="20319" h="5079">
                    <a:moveTo>
                      <a:pt x="2019" y="1397"/>
                    </a:moveTo>
                    <a:lnTo>
                      <a:pt x="1650" y="1397"/>
                    </a:lnTo>
                    <a:lnTo>
                      <a:pt x="1168" y="1651"/>
                    </a:lnTo>
                    <a:lnTo>
                      <a:pt x="1028" y="2032"/>
                    </a:lnTo>
                    <a:lnTo>
                      <a:pt x="774" y="2159"/>
                    </a:lnTo>
                    <a:lnTo>
                      <a:pt x="114" y="2159"/>
                    </a:lnTo>
                    <a:lnTo>
                      <a:pt x="0" y="3048"/>
                    </a:lnTo>
                    <a:lnTo>
                      <a:pt x="152" y="3302"/>
                    </a:lnTo>
                    <a:lnTo>
                      <a:pt x="292" y="3429"/>
                    </a:lnTo>
                    <a:lnTo>
                      <a:pt x="736" y="3302"/>
                    </a:lnTo>
                    <a:lnTo>
                      <a:pt x="7315" y="3302"/>
                    </a:lnTo>
                    <a:lnTo>
                      <a:pt x="8204" y="3048"/>
                    </a:lnTo>
                    <a:lnTo>
                      <a:pt x="19456" y="3048"/>
                    </a:lnTo>
                    <a:lnTo>
                      <a:pt x="19583" y="2921"/>
                    </a:lnTo>
                    <a:lnTo>
                      <a:pt x="19659" y="2793"/>
                    </a:lnTo>
                    <a:lnTo>
                      <a:pt x="16370" y="2793"/>
                    </a:lnTo>
                    <a:lnTo>
                      <a:pt x="16141" y="2667"/>
                    </a:lnTo>
                    <a:lnTo>
                      <a:pt x="11988" y="2540"/>
                    </a:lnTo>
                    <a:lnTo>
                      <a:pt x="11544" y="2412"/>
                    </a:lnTo>
                    <a:lnTo>
                      <a:pt x="10960" y="2286"/>
                    </a:lnTo>
                    <a:lnTo>
                      <a:pt x="10287" y="2032"/>
                    </a:lnTo>
                    <a:lnTo>
                      <a:pt x="10032" y="1905"/>
                    </a:lnTo>
                    <a:lnTo>
                      <a:pt x="3835" y="1778"/>
                    </a:lnTo>
                    <a:lnTo>
                      <a:pt x="3594" y="1651"/>
                    </a:lnTo>
                    <a:lnTo>
                      <a:pt x="3276" y="1524"/>
                    </a:lnTo>
                    <a:lnTo>
                      <a:pt x="2324" y="1524"/>
                    </a:lnTo>
                    <a:lnTo>
                      <a:pt x="2019" y="1397"/>
                    </a:lnTo>
                    <a:close/>
                  </a:path>
                  <a:path w="20319" h="5079">
                    <a:moveTo>
                      <a:pt x="18783" y="3302"/>
                    </a:moveTo>
                    <a:lnTo>
                      <a:pt x="18300" y="3302"/>
                    </a:lnTo>
                    <a:lnTo>
                      <a:pt x="18478" y="3429"/>
                    </a:lnTo>
                    <a:lnTo>
                      <a:pt x="18783" y="3302"/>
                    </a:lnTo>
                    <a:close/>
                  </a:path>
                  <a:path w="20319" h="5079">
                    <a:moveTo>
                      <a:pt x="17322" y="2032"/>
                    </a:moveTo>
                    <a:lnTo>
                      <a:pt x="17094" y="2540"/>
                    </a:lnTo>
                    <a:lnTo>
                      <a:pt x="16840" y="2793"/>
                    </a:lnTo>
                    <a:lnTo>
                      <a:pt x="19659" y="2793"/>
                    </a:lnTo>
                    <a:lnTo>
                      <a:pt x="19812" y="2667"/>
                    </a:lnTo>
                    <a:lnTo>
                      <a:pt x="19215" y="2667"/>
                    </a:lnTo>
                    <a:lnTo>
                      <a:pt x="18922" y="2412"/>
                    </a:lnTo>
                    <a:lnTo>
                      <a:pt x="18313" y="2159"/>
                    </a:lnTo>
                    <a:lnTo>
                      <a:pt x="17691" y="2159"/>
                    </a:lnTo>
                    <a:lnTo>
                      <a:pt x="17322" y="2032"/>
                    </a:lnTo>
                    <a:close/>
                  </a:path>
                  <a:path w="20319" h="5079">
                    <a:moveTo>
                      <a:pt x="19583" y="2540"/>
                    </a:moveTo>
                    <a:lnTo>
                      <a:pt x="19812" y="2667"/>
                    </a:lnTo>
                    <a:lnTo>
                      <a:pt x="19583" y="2540"/>
                    </a:lnTo>
                    <a:close/>
                  </a:path>
                  <a:path w="20319" h="5079">
                    <a:moveTo>
                      <a:pt x="12890" y="1905"/>
                    </a:moveTo>
                    <a:lnTo>
                      <a:pt x="12572" y="1905"/>
                    </a:lnTo>
                    <a:lnTo>
                      <a:pt x="12382" y="2159"/>
                    </a:lnTo>
                    <a:lnTo>
                      <a:pt x="12318" y="2540"/>
                    </a:lnTo>
                    <a:lnTo>
                      <a:pt x="16497" y="2540"/>
                    </a:lnTo>
                    <a:lnTo>
                      <a:pt x="16497" y="2412"/>
                    </a:lnTo>
                    <a:lnTo>
                      <a:pt x="13373" y="2412"/>
                    </a:lnTo>
                    <a:lnTo>
                      <a:pt x="13004" y="2159"/>
                    </a:lnTo>
                    <a:lnTo>
                      <a:pt x="12890" y="1905"/>
                    </a:lnTo>
                    <a:close/>
                  </a:path>
                  <a:path w="20319" h="5079">
                    <a:moveTo>
                      <a:pt x="14325" y="2286"/>
                    </a:moveTo>
                    <a:lnTo>
                      <a:pt x="13817" y="2412"/>
                    </a:lnTo>
                    <a:lnTo>
                      <a:pt x="14693" y="2412"/>
                    </a:lnTo>
                    <a:lnTo>
                      <a:pt x="14325" y="2286"/>
                    </a:lnTo>
                    <a:close/>
                  </a:path>
                  <a:path w="20319" h="5079">
                    <a:moveTo>
                      <a:pt x="16789" y="1905"/>
                    </a:moveTo>
                    <a:lnTo>
                      <a:pt x="16535" y="1905"/>
                    </a:lnTo>
                    <a:lnTo>
                      <a:pt x="16281" y="2032"/>
                    </a:lnTo>
                    <a:lnTo>
                      <a:pt x="15557" y="2159"/>
                    </a:lnTo>
                    <a:lnTo>
                      <a:pt x="15189" y="2286"/>
                    </a:lnTo>
                    <a:lnTo>
                      <a:pt x="14693" y="2412"/>
                    </a:lnTo>
                    <a:lnTo>
                      <a:pt x="16865" y="2412"/>
                    </a:lnTo>
                    <a:lnTo>
                      <a:pt x="16789" y="1905"/>
                    </a:lnTo>
                    <a:close/>
                  </a:path>
                  <a:path w="20319" h="5079">
                    <a:moveTo>
                      <a:pt x="558" y="2032"/>
                    </a:moveTo>
                    <a:lnTo>
                      <a:pt x="304" y="2159"/>
                    </a:lnTo>
                    <a:lnTo>
                      <a:pt x="774" y="2159"/>
                    </a:lnTo>
                    <a:lnTo>
                      <a:pt x="558" y="2032"/>
                    </a:lnTo>
                    <a:close/>
                  </a:path>
                  <a:path w="20319" h="5079">
                    <a:moveTo>
                      <a:pt x="4597" y="1524"/>
                    </a:moveTo>
                    <a:lnTo>
                      <a:pt x="3835" y="1778"/>
                    </a:lnTo>
                    <a:lnTo>
                      <a:pt x="4889" y="1778"/>
                    </a:lnTo>
                    <a:lnTo>
                      <a:pt x="4597" y="1524"/>
                    </a:lnTo>
                    <a:close/>
                  </a:path>
                  <a:path w="20319" h="5079">
                    <a:moveTo>
                      <a:pt x="10261" y="1143"/>
                    </a:moveTo>
                    <a:lnTo>
                      <a:pt x="2616" y="1143"/>
                    </a:lnTo>
                    <a:lnTo>
                      <a:pt x="2933" y="1270"/>
                    </a:lnTo>
                    <a:lnTo>
                      <a:pt x="3428" y="1524"/>
                    </a:lnTo>
                    <a:lnTo>
                      <a:pt x="4787" y="1524"/>
                    </a:lnTo>
                    <a:lnTo>
                      <a:pt x="4889" y="1778"/>
                    </a:lnTo>
                    <a:lnTo>
                      <a:pt x="10001" y="1778"/>
                    </a:lnTo>
                    <a:lnTo>
                      <a:pt x="10121" y="1397"/>
                    </a:lnTo>
                    <a:lnTo>
                      <a:pt x="10375" y="1270"/>
                    </a:lnTo>
                    <a:lnTo>
                      <a:pt x="10261" y="1143"/>
                    </a:lnTo>
                    <a:close/>
                  </a:path>
                  <a:path w="20319" h="5079">
                    <a:moveTo>
                      <a:pt x="4851" y="762"/>
                    </a:moveTo>
                    <a:lnTo>
                      <a:pt x="2578" y="762"/>
                    </a:lnTo>
                    <a:lnTo>
                      <a:pt x="1904" y="1016"/>
                    </a:lnTo>
                    <a:lnTo>
                      <a:pt x="10045" y="1143"/>
                    </a:lnTo>
                    <a:lnTo>
                      <a:pt x="8826" y="1016"/>
                    </a:lnTo>
                    <a:lnTo>
                      <a:pt x="5219" y="889"/>
                    </a:lnTo>
                    <a:lnTo>
                      <a:pt x="4851" y="762"/>
                    </a:lnTo>
                    <a:close/>
                  </a:path>
                  <a:path w="20319" h="5079">
                    <a:moveTo>
                      <a:pt x="9931" y="889"/>
                    </a:moveTo>
                    <a:lnTo>
                      <a:pt x="9334" y="889"/>
                    </a:lnTo>
                    <a:lnTo>
                      <a:pt x="9080" y="1016"/>
                    </a:lnTo>
                    <a:lnTo>
                      <a:pt x="9988" y="1016"/>
                    </a:lnTo>
                    <a:close/>
                  </a:path>
                  <a:path w="20319" h="5079">
                    <a:moveTo>
                      <a:pt x="6984" y="127"/>
                    </a:moveTo>
                    <a:lnTo>
                      <a:pt x="6769" y="127"/>
                    </a:lnTo>
                    <a:lnTo>
                      <a:pt x="6464" y="254"/>
                    </a:lnTo>
                    <a:lnTo>
                      <a:pt x="6350" y="508"/>
                    </a:lnTo>
                    <a:lnTo>
                      <a:pt x="5918" y="762"/>
                    </a:lnTo>
                    <a:lnTo>
                      <a:pt x="5549" y="889"/>
                    </a:lnTo>
                    <a:lnTo>
                      <a:pt x="8750" y="889"/>
                    </a:lnTo>
                    <a:lnTo>
                      <a:pt x="8826" y="635"/>
                    </a:lnTo>
                    <a:lnTo>
                      <a:pt x="9042" y="381"/>
                    </a:lnTo>
                    <a:lnTo>
                      <a:pt x="7277" y="254"/>
                    </a:lnTo>
                    <a:lnTo>
                      <a:pt x="6984" y="127"/>
                    </a:lnTo>
                    <a:close/>
                  </a:path>
                  <a:path w="20319" h="5079">
                    <a:moveTo>
                      <a:pt x="3759" y="508"/>
                    </a:moveTo>
                    <a:lnTo>
                      <a:pt x="3314" y="635"/>
                    </a:lnTo>
                    <a:lnTo>
                      <a:pt x="2984" y="762"/>
                    </a:lnTo>
                    <a:lnTo>
                      <a:pt x="4013" y="762"/>
                    </a:lnTo>
                    <a:lnTo>
                      <a:pt x="3759" y="508"/>
                    </a:lnTo>
                    <a:close/>
                  </a:path>
                  <a:path w="20319" h="5079">
                    <a:moveTo>
                      <a:pt x="8724" y="0"/>
                    </a:moveTo>
                    <a:lnTo>
                      <a:pt x="8166" y="0"/>
                    </a:lnTo>
                    <a:lnTo>
                      <a:pt x="7873" y="127"/>
                    </a:lnTo>
                    <a:lnTo>
                      <a:pt x="7505" y="254"/>
                    </a:lnTo>
                    <a:lnTo>
                      <a:pt x="9080" y="254"/>
                    </a:lnTo>
                    <a:lnTo>
                      <a:pt x="8724"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77" name="object 319">
                <a:extLst>
                  <a:ext uri="{FF2B5EF4-FFF2-40B4-BE49-F238E27FC236}">
                    <a16:creationId xmlns:a16="http://schemas.microsoft.com/office/drawing/2014/main" id="{ED3EF510-B83F-4285-BB50-5C8872263C57}"/>
                  </a:ext>
                </a:extLst>
              </p:cNvPr>
              <p:cNvSpPr/>
              <p:nvPr/>
            </p:nvSpPr>
            <p:spPr>
              <a:xfrm>
                <a:off x="1001268" y="3977639"/>
                <a:ext cx="20320" cy="5080"/>
              </a:xfrm>
              <a:custGeom>
                <a:avLst/>
                <a:gdLst/>
                <a:ahLst/>
                <a:cxnLst/>
                <a:rect l="l" t="t" r="r" b="b"/>
                <a:pathLst>
                  <a:path w="20319" h="5079">
                    <a:moveTo>
                      <a:pt x="6769" y="127"/>
                    </a:moveTo>
                    <a:lnTo>
                      <a:pt x="6464" y="254"/>
                    </a:lnTo>
                    <a:lnTo>
                      <a:pt x="6350" y="508"/>
                    </a:lnTo>
                    <a:lnTo>
                      <a:pt x="6146" y="635"/>
                    </a:lnTo>
                    <a:lnTo>
                      <a:pt x="5918" y="762"/>
                    </a:lnTo>
                    <a:lnTo>
                      <a:pt x="5549" y="889"/>
                    </a:lnTo>
                    <a:lnTo>
                      <a:pt x="5219" y="889"/>
                    </a:lnTo>
                    <a:lnTo>
                      <a:pt x="4851" y="762"/>
                    </a:lnTo>
                    <a:lnTo>
                      <a:pt x="4660" y="762"/>
                    </a:lnTo>
                    <a:lnTo>
                      <a:pt x="4368" y="762"/>
                    </a:lnTo>
                    <a:lnTo>
                      <a:pt x="4013" y="762"/>
                    </a:lnTo>
                    <a:lnTo>
                      <a:pt x="3759" y="508"/>
                    </a:lnTo>
                    <a:lnTo>
                      <a:pt x="3314" y="635"/>
                    </a:lnTo>
                    <a:lnTo>
                      <a:pt x="2984" y="762"/>
                    </a:lnTo>
                    <a:lnTo>
                      <a:pt x="2578" y="762"/>
                    </a:lnTo>
                    <a:lnTo>
                      <a:pt x="2235" y="889"/>
                    </a:lnTo>
                    <a:lnTo>
                      <a:pt x="1904" y="1016"/>
                    </a:lnTo>
                    <a:lnTo>
                      <a:pt x="2285" y="1143"/>
                    </a:lnTo>
                    <a:lnTo>
                      <a:pt x="2616" y="1143"/>
                    </a:lnTo>
                    <a:lnTo>
                      <a:pt x="2933" y="1270"/>
                    </a:lnTo>
                    <a:lnTo>
                      <a:pt x="3187" y="1397"/>
                    </a:lnTo>
                    <a:lnTo>
                      <a:pt x="3428" y="1524"/>
                    </a:lnTo>
                    <a:lnTo>
                      <a:pt x="3797" y="1524"/>
                    </a:lnTo>
                    <a:lnTo>
                      <a:pt x="4127" y="1524"/>
                    </a:lnTo>
                    <a:lnTo>
                      <a:pt x="4483" y="1524"/>
                    </a:lnTo>
                    <a:lnTo>
                      <a:pt x="4787" y="1524"/>
                    </a:lnTo>
                    <a:lnTo>
                      <a:pt x="4965" y="1651"/>
                    </a:lnTo>
                    <a:lnTo>
                      <a:pt x="4597" y="1524"/>
                    </a:lnTo>
                    <a:lnTo>
                      <a:pt x="4190" y="1651"/>
                    </a:lnTo>
                    <a:lnTo>
                      <a:pt x="3835" y="1778"/>
                    </a:lnTo>
                    <a:lnTo>
                      <a:pt x="3594" y="1651"/>
                    </a:lnTo>
                    <a:lnTo>
                      <a:pt x="3276" y="1524"/>
                    </a:lnTo>
                    <a:lnTo>
                      <a:pt x="3009" y="1524"/>
                    </a:lnTo>
                    <a:lnTo>
                      <a:pt x="2692" y="1524"/>
                    </a:lnTo>
                    <a:lnTo>
                      <a:pt x="2324" y="1524"/>
                    </a:lnTo>
                    <a:lnTo>
                      <a:pt x="2019" y="1397"/>
                    </a:lnTo>
                    <a:lnTo>
                      <a:pt x="1650" y="1397"/>
                    </a:lnTo>
                    <a:lnTo>
                      <a:pt x="1396" y="1524"/>
                    </a:lnTo>
                    <a:lnTo>
                      <a:pt x="1168" y="1651"/>
                    </a:lnTo>
                    <a:lnTo>
                      <a:pt x="965" y="1905"/>
                    </a:lnTo>
                    <a:lnTo>
                      <a:pt x="1028" y="2032"/>
                    </a:lnTo>
                    <a:lnTo>
                      <a:pt x="774" y="2159"/>
                    </a:lnTo>
                    <a:lnTo>
                      <a:pt x="558" y="2032"/>
                    </a:lnTo>
                    <a:lnTo>
                      <a:pt x="304" y="2159"/>
                    </a:lnTo>
                    <a:lnTo>
                      <a:pt x="114" y="2159"/>
                    </a:lnTo>
                    <a:lnTo>
                      <a:pt x="76" y="2412"/>
                    </a:lnTo>
                    <a:lnTo>
                      <a:pt x="114" y="2540"/>
                    </a:lnTo>
                    <a:lnTo>
                      <a:pt x="76" y="2793"/>
                    </a:lnTo>
                    <a:lnTo>
                      <a:pt x="0" y="3048"/>
                    </a:lnTo>
                    <a:lnTo>
                      <a:pt x="152" y="3302"/>
                    </a:lnTo>
                    <a:lnTo>
                      <a:pt x="292" y="3429"/>
                    </a:lnTo>
                    <a:lnTo>
                      <a:pt x="736" y="3302"/>
                    </a:lnTo>
                    <a:lnTo>
                      <a:pt x="1028" y="3302"/>
                    </a:lnTo>
                    <a:lnTo>
                      <a:pt x="1219" y="3302"/>
                    </a:lnTo>
                    <a:lnTo>
                      <a:pt x="1752" y="3302"/>
                    </a:lnTo>
                    <a:lnTo>
                      <a:pt x="2362" y="3302"/>
                    </a:lnTo>
                    <a:lnTo>
                      <a:pt x="2717" y="3429"/>
                    </a:lnTo>
                    <a:lnTo>
                      <a:pt x="3187" y="3556"/>
                    </a:lnTo>
                    <a:lnTo>
                      <a:pt x="3454" y="3556"/>
                    </a:lnTo>
                    <a:lnTo>
                      <a:pt x="3644" y="3683"/>
                    </a:lnTo>
                    <a:lnTo>
                      <a:pt x="3860" y="3937"/>
                    </a:lnTo>
                    <a:lnTo>
                      <a:pt x="4076" y="3937"/>
                    </a:lnTo>
                    <a:lnTo>
                      <a:pt x="4102" y="4191"/>
                    </a:lnTo>
                    <a:lnTo>
                      <a:pt x="3911" y="4318"/>
                    </a:lnTo>
                    <a:lnTo>
                      <a:pt x="3860" y="4572"/>
                    </a:lnTo>
                    <a:lnTo>
                      <a:pt x="4165" y="4572"/>
                    </a:lnTo>
                    <a:lnTo>
                      <a:pt x="4635" y="4572"/>
                    </a:lnTo>
                    <a:lnTo>
                      <a:pt x="4876" y="4572"/>
                    </a:lnTo>
                    <a:lnTo>
                      <a:pt x="5156" y="4572"/>
                    </a:lnTo>
                    <a:lnTo>
                      <a:pt x="5524" y="4445"/>
                    </a:lnTo>
                    <a:lnTo>
                      <a:pt x="5765" y="4445"/>
                    </a:lnTo>
                    <a:lnTo>
                      <a:pt x="5956" y="4318"/>
                    </a:lnTo>
                    <a:lnTo>
                      <a:pt x="6095" y="4318"/>
                    </a:lnTo>
                    <a:lnTo>
                      <a:pt x="6134" y="4572"/>
                    </a:lnTo>
                    <a:lnTo>
                      <a:pt x="6362" y="4445"/>
                    </a:lnTo>
                    <a:lnTo>
                      <a:pt x="6692" y="4318"/>
                    </a:lnTo>
                    <a:lnTo>
                      <a:pt x="6692" y="3937"/>
                    </a:lnTo>
                    <a:lnTo>
                      <a:pt x="6921" y="3556"/>
                    </a:lnTo>
                    <a:lnTo>
                      <a:pt x="7315" y="3302"/>
                    </a:lnTo>
                    <a:lnTo>
                      <a:pt x="7785" y="3175"/>
                    </a:lnTo>
                    <a:lnTo>
                      <a:pt x="8204" y="3048"/>
                    </a:lnTo>
                    <a:lnTo>
                      <a:pt x="8674" y="3048"/>
                    </a:lnTo>
                    <a:lnTo>
                      <a:pt x="9410" y="3048"/>
                    </a:lnTo>
                    <a:lnTo>
                      <a:pt x="9817" y="3048"/>
                    </a:lnTo>
                    <a:lnTo>
                      <a:pt x="10045" y="3175"/>
                    </a:lnTo>
                    <a:lnTo>
                      <a:pt x="10248" y="3302"/>
                    </a:lnTo>
                    <a:lnTo>
                      <a:pt x="10363" y="3556"/>
                    </a:lnTo>
                    <a:lnTo>
                      <a:pt x="10960" y="3683"/>
                    </a:lnTo>
                    <a:lnTo>
                      <a:pt x="11099" y="3810"/>
                    </a:lnTo>
                    <a:lnTo>
                      <a:pt x="11531" y="3810"/>
                    </a:lnTo>
                    <a:lnTo>
                      <a:pt x="11912" y="3810"/>
                    </a:lnTo>
                    <a:lnTo>
                      <a:pt x="12166" y="3810"/>
                    </a:lnTo>
                    <a:lnTo>
                      <a:pt x="12420" y="3937"/>
                    </a:lnTo>
                    <a:lnTo>
                      <a:pt x="12547" y="4064"/>
                    </a:lnTo>
                    <a:lnTo>
                      <a:pt x="12941" y="4064"/>
                    </a:lnTo>
                    <a:lnTo>
                      <a:pt x="13131" y="3937"/>
                    </a:lnTo>
                    <a:lnTo>
                      <a:pt x="13754" y="3683"/>
                    </a:lnTo>
                    <a:lnTo>
                      <a:pt x="14122" y="3683"/>
                    </a:lnTo>
                    <a:lnTo>
                      <a:pt x="14376" y="3810"/>
                    </a:lnTo>
                    <a:lnTo>
                      <a:pt x="14808" y="3683"/>
                    </a:lnTo>
                    <a:lnTo>
                      <a:pt x="15112" y="3683"/>
                    </a:lnTo>
                    <a:lnTo>
                      <a:pt x="15366" y="3683"/>
                    </a:lnTo>
                    <a:lnTo>
                      <a:pt x="15595" y="3937"/>
                    </a:lnTo>
                    <a:lnTo>
                      <a:pt x="15951" y="3937"/>
                    </a:lnTo>
                    <a:lnTo>
                      <a:pt x="16141" y="3937"/>
                    </a:lnTo>
                    <a:lnTo>
                      <a:pt x="16357" y="4064"/>
                    </a:lnTo>
                    <a:lnTo>
                      <a:pt x="16611" y="4064"/>
                    </a:lnTo>
                    <a:lnTo>
                      <a:pt x="16789" y="3810"/>
                    </a:lnTo>
                    <a:lnTo>
                      <a:pt x="17094" y="3683"/>
                    </a:lnTo>
                    <a:lnTo>
                      <a:pt x="17576" y="3683"/>
                    </a:lnTo>
                    <a:lnTo>
                      <a:pt x="17729" y="3556"/>
                    </a:lnTo>
                    <a:lnTo>
                      <a:pt x="17983" y="3302"/>
                    </a:lnTo>
                    <a:lnTo>
                      <a:pt x="18300" y="3302"/>
                    </a:lnTo>
                    <a:lnTo>
                      <a:pt x="18478" y="3429"/>
                    </a:lnTo>
                    <a:lnTo>
                      <a:pt x="18783" y="3302"/>
                    </a:lnTo>
                    <a:lnTo>
                      <a:pt x="19151" y="3302"/>
                    </a:lnTo>
                    <a:lnTo>
                      <a:pt x="19253" y="3048"/>
                    </a:lnTo>
                    <a:lnTo>
                      <a:pt x="19456" y="3048"/>
                    </a:lnTo>
                    <a:lnTo>
                      <a:pt x="19583" y="2921"/>
                    </a:lnTo>
                    <a:lnTo>
                      <a:pt x="19659" y="2793"/>
                    </a:lnTo>
                    <a:lnTo>
                      <a:pt x="19812" y="2667"/>
                    </a:lnTo>
                    <a:lnTo>
                      <a:pt x="19583" y="2540"/>
                    </a:lnTo>
                    <a:lnTo>
                      <a:pt x="19215" y="2667"/>
                    </a:lnTo>
                    <a:lnTo>
                      <a:pt x="18922" y="2412"/>
                    </a:lnTo>
                    <a:lnTo>
                      <a:pt x="18643" y="2286"/>
                    </a:lnTo>
                    <a:lnTo>
                      <a:pt x="18313" y="2159"/>
                    </a:lnTo>
                    <a:lnTo>
                      <a:pt x="18059" y="2159"/>
                    </a:lnTo>
                    <a:lnTo>
                      <a:pt x="17691" y="2159"/>
                    </a:lnTo>
                    <a:lnTo>
                      <a:pt x="17322" y="2032"/>
                    </a:lnTo>
                    <a:lnTo>
                      <a:pt x="17195" y="2286"/>
                    </a:lnTo>
                    <a:lnTo>
                      <a:pt x="17094" y="2540"/>
                    </a:lnTo>
                    <a:lnTo>
                      <a:pt x="16840" y="2793"/>
                    </a:lnTo>
                    <a:lnTo>
                      <a:pt x="16370" y="2793"/>
                    </a:lnTo>
                    <a:lnTo>
                      <a:pt x="16141" y="2667"/>
                    </a:lnTo>
                    <a:lnTo>
                      <a:pt x="16497" y="2540"/>
                    </a:lnTo>
                    <a:lnTo>
                      <a:pt x="16497" y="2412"/>
                    </a:lnTo>
                    <a:lnTo>
                      <a:pt x="16865" y="2412"/>
                    </a:lnTo>
                    <a:lnTo>
                      <a:pt x="16903" y="2159"/>
                    </a:lnTo>
                    <a:lnTo>
                      <a:pt x="16789" y="1905"/>
                    </a:lnTo>
                    <a:lnTo>
                      <a:pt x="16535" y="1905"/>
                    </a:lnTo>
                    <a:lnTo>
                      <a:pt x="16281" y="2032"/>
                    </a:lnTo>
                    <a:lnTo>
                      <a:pt x="15557" y="2159"/>
                    </a:lnTo>
                    <a:lnTo>
                      <a:pt x="15189" y="2286"/>
                    </a:lnTo>
                    <a:lnTo>
                      <a:pt x="14693" y="2412"/>
                    </a:lnTo>
                    <a:lnTo>
                      <a:pt x="14325" y="2286"/>
                    </a:lnTo>
                    <a:lnTo>
                      <a:pt x="13817" y="2412"/>
                    </a:lnTo>
                    <a:lnTo>
                      <a:pt x="13373" y="2412"/>
                    </a:lnTo>
                    <a:lnTo>
                      <a:pt x="13169" y="2286"/>
                    </a:lnTo>
                    <a:lnTo>
                      <a:pt x="13004" y="2159"/>
                    </a:lnTo>
                    <a:lnTo>
                      <a:pt x="12890" y="1905"/>
                    </a:lnTo>
                    <a:lnTo>
                      <a:pt x="12572" y="1905"/>
                    </a:lnTo>
                    <a:lnTo>
                      <a:pt x="12382" y="2159"/>
                    </a:lnTo>
                    <a:lnTo>
                      <a:pt x="12318" y="2540"/>
                    </a:lnTo>
                    <a:lnTo>
                      <a:pt x="11988" y="2540"/>
                    </a:lnTo>
                    <a:lnTo>
                      <a:pt x="11544" y="2412"/>
                    </a:lnTo>
                    <a:lnTo>
                      <a:pt x="10960" y="2286"/>
                    </a:lnTo>
                    <a:lnTo>
                      <a:pt x="10617" y="2159"/>
                    </a:lnTo>
                    <a:lnTo>
                      <a:pt x="10287" y="2032"/>
                    </a:lnTo>
                    <a:lnTo>
                      <a:pt x="10032" y="1905"/>
                    </a:lnTo>
                    <a:lnTo>
                      <a:pt x="9969" y="1651"/>
                    </a:lnTo>
                    <a:lnTo>
                      <a:pt x="10121" y="1397"/>
                    </a:lnTo>
                    <a:lnTo>
                      <a:pt x="10375" y="1270"/>
                    </a:lnTo>
                    <a:lnTo>
                      <a:pt x="10261" y="1143"/>
                    </a:lnTo>
                    <a:lnTo>
                      <a:pt x="10045" y="1143"/>
                    </a:lnTo>
                    <a:lnTo>
                      <a:pt x="9931" y="889"/>
                    </a:lnTo>
                    <a:lnTo>
                      <a:pt x="9677" y="889"/>
                    </a:lnTo>
                    <a:lnTo>
                      <a:pt x="9334" y="889"/>
                    </a:lnTo>
                    <a:lnTo>
                      <a:pt x="9080" y="1016"/>
                    </a:lnTo>
                    <a:lnTo>
                      <a:pt x="8826" y="1016"/>
                    </a:lnTo>
                    <a:lnTo>
                      <a:pt x="8826" y="635"/>
                    </a:lnTo>
                    <a:lnTo>
                      <a:pt x="9042" y="381"/>
                    </a:lnTo>
                    <a:lnTo>
                      <a:pt x="9118" y="127"/>
                    </a:lnTo>
                    <a:lnTo>
                      <a:pt x="8724" y="0"/>
                    </a:lnTo>
                    <a:lnTo>
                      <a:pt x="8458" y="0"/>
                    </a:lnTo>
                    <a:lnTo>
                      <a:pt x="8166" y="0"/>
                    </a:lnTo>
                    <a:lnTo>
                      <a:pt x="7873" y="127"/>
                    </a:lnTo>
                    <a:lnTo>
                      <a:pt x="7505" y="254"/>
                    </a:lnTo>
                    <a:lnTo>
                      <a:pt x="7277" y="254"/>
                    </a:lnTo>
                    <a:lnTo>
                      <a:pt x="6984" y="127"/>
                    </a:lnTo>
                    <a:lnTo>
                      <a:pt x="6769" y="127"/>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78" name="object 320">
                <a:extLst>
                  <a:ext uri="{FF2B5EF4-FFF2-40B4-BE49-F238E27FC236}">
                    <a16:creationId xmlns:a16="http://schemas.microsoft.com/office/drawing/2014/main" id="{59ACAAD3-7E56-4F19-ABF1-6BECB0BAB5AA}"/>
                  </a:ext>
                </a:extLst>
              </p:cNvPr>
              <p:cNvSpPr/>
              <p:nvPr/>
            </p:nvSpPr>
            <p:spPr>
              <a:xfrm>
                <a:off x="1019556" y="3976116"/>
                <a:ext cx="3175" cy="3175"/>
              </a:xfrm>
              <a:custGeom>
                <a:avLst/>
                <a:gdLst/>
                <a:ahLst/>
                <a:cxnLst/>
                <a:rect l="l" t="t" r="r" b="b"/>
                <a:pathLst>
                  <a:path w="3175" h="3175">
                    <a:moveTo>
                      <a:pt x="2578" y="0"/>
                    </a:moveTo>
                    <a:lnTo>
                      <a:pt x="1968" y="253"/>
                    </a:lnTo>
                    <a:lnTo>
                      <a:pt x="1778" y="380"/>
                    </a:lnTo>
                    <a:lnTo>
                      <a:pt x="1206" y="1523"/>
                    </a:lnTo>
                    <a:lnTo>
                      <a:pt x="736" y="1904"/>
                    </a:lnTo>
                    <a:lnTo>
                      <a:pt x="596" y="1777"/>
                    </a:lnTo>
                    <a:lnTo>
                      <a:pt x="444" y="2031"/>
                    </a:lnTo>
                    <a:lnTo>
                      <a:pt x="292" y="2285"/>
                    </a:lnTo>
                    <a:lnTo>
                      <a:pt x="0" y="2412"/>
                    </a:lnTo>
                    <a:lnTo>
                      <a:pt x="317" y="2539"/>
                    </a:lnTo>
                    <a:lnTo>
                      <a:pt x="507" y="3047"/>
                    </a:lnTo>
                    <a:lnTo>
                      <a:pt x="723" y="2920"/>
                    </a:lnTo>
                    <a:lnTo>
                      <a:pt x="787" y="2666"/>
                    </a:lnTo>
                    <a:lnTo>
                      <a:pt x="1092" y="2031"/>
                    </a:lnTo>
                    <a:lnTo>
                      <a:pt x="1727" y="1269"/>
                    </a:lnTo>
                    <a:lnTo>
                      <a:pt x="2425" y="888"/>
                    </a:lnTo>
                    <a:lnTo>
                      <a:pt x="2793" y="634"/>
                    </a:lnTo>
                    <a:lnTo>
                      <a:pt x="3047" y="634"/>
                    </a:lnTo>
                    <a:lnTo>
                      <a:pt x="2857" y="253"/>
                    </a:lnTo>
                    <a:lnTo>
                      <a:pt x="2578" y="0"/>
                    </a:lnTo>
                    <a:close/>
                  </a:path>
                </a:pathLst>
              </a:custGeom>
              <a:solidFill>
                <a:srgbClr val="C4B797"/>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79" name="object 321">
                <a:extLst>
                  <a:ext uri="{FF2B5EF4-FFF2-40B4-BE49-F238E27FC236}">
                    <a16:creationId xmlns:a16="http://schemas.microsoft.com/office/drawing/2014/main" id="{95019F6E-7827-4550-B35B-6AA100543749}"/>
                  </a:ext>
                </a:extLst>
              </p:cNvPr>
              <p:cNvSpPr/>
              <p:nvPr/>
            </p:nvSpPr>
            <p:spPr>
              <a:xfrm>
                <a:off x="1019556" y="3976116"/>
                <a:ext cx="3175" cy="3175"/>
              </a:xfrm>
              <a:custGeom>
                <a:avLst/>
                <a:gdLst/>
                <a:ahLst/>
                <a:cxnLst/>
                <a:rect l="l" t="t" r="r" b="b"/>
                <a:pathLst>
                  <a:path w="3175" h="3175">
                    <a:moveTo>
                      <a:pt x="1968" y="253"/>
                    </a:moveTo>
                    <a:lnTo>
                      <a:pt x="1778" y="380"/>
                    </a:lnTo>
                    <a:lnTo>
                      <a:pt x="1562" y="761"/>
                    </a:lnTo>
                    <a:lnTo>
                      <a:pt x="1384" y="1142"/>
                    </a:lnTo>
                    <a:lnTo>
                      <a:pt x="1206" y="1523"/>
                    </a:lnTo>
                    <a:lnTo>
                      <a:pt x="927" y="1777"/>
                    </a:lnTo>
                    <a:lnTo>
                      <a:pt x="736" y="1904"/>
                    </a:lnTo>
                    <a:lnTo>
                      <a:pt x="596" y="1777"/>
                    </a:lnTo>
                    <a:lnTo>
                      <a:pt x="444" y="2031"/>
                    </a:lnTo>
                    <a:lnTo>
                      <a:pt x="292" y="2285"/>
                    </a:lnTo>
                    <a:lnTo>
                      <a:pt x="0" y="2412"/>
                    </a:lnTo>
                    <a:lnTo>
                      <a:pt x="317" y="2539"/>
                    </a:lnTo>
                    <a:lnTo>
                      <a:pt x="419" y="2793"/>
                    </a:lnTo>
                    <a:lnTo>
                      <a:pt x="507" y="3047"/>
                    </a:lnTo>
                    <a:lnTo>
                      <a:pt x="723" y="2920"/>
                    </a:lnTo>
                    <a:lnTo>
                      <a:pt x="787" y="2666"/>
                    </a:lnTo>
                    <a:lnTo>
                      <a:pt x="990" y="2285"/>
                    </a:lnTo>
                    <a:lnTo>
                      <a:pt x="1092" y="2031"/>
                    </a:lnTo>
                    <a:lnTo>
                      <a:pt x="1269" y="1777"/>
                    </a:lnTo>
                    <a:lnTo>
                      <a:pt x="1524" y="1523"/>
                    </a:lnTo>
                    <a:lnTo>
                      <a:pt x="1727" y="1269"/>
                    </a:lnTo>
                    <a:lnTo>
                      <a:pt x="1955" y="1142"/>
                    </a:lnTo>
                    <a:lnTo>
                      <a:pt x="2184" y="1015"/>
                    </a:lnTo>
                    <a:lnTo>
                      <a:pt x="2425" y="888"/>
                    </a:lnTo>
                    <a:lnTo>
                      <a:pt x="2578" y="761"/>
                    </a:lnTo>
                    <a:lnTo>
                      <a:pt x="2793" y="634"/>
                    </a:lnTo>
                    <a:lnTo>
                      <a:pt x="3047" y="634"/>
                    </a:lnTo>
                    <a:lnTo>
                      <a:pt x="2857" y="253"/>
                    </a:lnTo>
                    <a:lnTo>
                      <a:pt x="2578" y="0"/>
                    </a:lnTo>
                    <a:lnTo>
                      <a:pt x="2273" y="126"/>
                    </a:lnTo>
                    <a:lnTo>
                      <a:pt x="1968" y="253"/>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80" name="object 322">
                <a:extLst>
                  <a:ext uri="{FF2B5EF4-FFF2-40B4-BE49-F238E27FC236}">
                    <a16:creationId xmlns:a16="http://schemas.microsoft.com/office/drawing/2014/main" id="{FD194309-492A-455C-A592-8ECA44E505A0}"/>
                  </a:ext>
                </a:extLst>
              </p:cNvPr>
              <p:cNvSpPr/>
              <p:nvPr/>
            </p:nvSpPr>
            <p:spPr>
              <a:xfrm>
                <a:off x="2112263" y="4178807"/>
                <a:ext cx="829818" cy="678942"/>
              </a:xfrm>
              <a:prstGeom prst="rect">
                <a:avLst/>
              </a:prstGeom>
              <a:blipFill>
                <a:blip r:embed="rId69"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81" name="object 323">
                <a:extLst>
                  <a:ext uri="{FF2B5EF4-FFF2-40B4-BE49-F238E27FC236}">
                    <a16:creationId xmlns:a16="http://schemas.microsoft.com/office/drawing/2014/main" id="{7438B82C-97F6-4678-823A-4F110ABB14A7}"/>
                  </a:ext>
                </a:extLst>
              </p:cNvPr>
              <p:cNvSpPr/>
              <p:nvPr/>
            </p:nvSpPr>
            <p:spPr>
              <a:xfrm>
                <a:off x="2130551" y="4158995"/>
                <a:ext cx="820419" cy="669290"/>
              </a:xfrm>
              <a:custGeom>
                <a:avLst/>
                <a:gdLst/>
                <a:ahLst/>
                <a:cxnLst/>
                <a:rect l="l" t="t" r="r" b="b"/>
                <a:pathLst>
                  <a:path w="820419" h="669289">
                    <a:moveTo>
                      <a:pt x="193675" y="0"/>
                    </a:moveTo>
                    <a:lnTo>
                      <a:pt x="190881" y="36702"/>
                    </a:lnTo>
                    <a:lnTo>
                      <a:pt x="183134" y="72897"/>
                    </a:lnTo>
                    <a:lnTo>
                      <a:pt x="153162" y="105917"/>
                    </a:lnTo>
                    <a:lnTo>
                      <a:pt x="108966" y="96773"/>
                    </a:lnTo>
                    <a:lnTo>
                      <a:pt x="99441" y="124840"/>
                    </a:lnTo>
                    <a:lnTo>
                      <a:pt x="79375" y="148716"/>
                    </a:lnTo>
                    <a:lnTo>
                      <a:pt x="104140" y="180847"/>
                    </a:lnTo>
                    <a:lnTo>
                      <a:pt x="83566" y="217931"/>
                    </a:lnTo>
                    <a:lnTo>
                      <a:pt x="41275" y="234187"/>
                    </a:lnTo>
                    <a:lnTo>
                      <a:pt x="50800" y="268096"/>
                    </a:lnTo>
                    <a:lnTo>
                      <a:pt x="47243" y="309371"/>
                    </a:lnTo>
                    <a:lnTo>
                      <a:pt x="72009" y="332358"/>
                    </a:lnTo>
                    <a:lnTo>
                      <a:pt x="40259" y="355345"/>
                    </a:lnTo>
                    <a:lnTo>
                      <a:pt x="24637" y="385952"/>
                    </a:lnTo>
                    <a:lnTo>
                      <a:pt x="56134" y="400684"/>
                    </a:lnTo>
                    <a:lnTo>
                      <a:pt x="22606" y="438022"/>
                    </a:lnTo>
                    <a:lnTo>
                      <a:pt x="10541" y="456691"/>
                    </a:lnTo>
                    <a:lnTo>
                      <a:pt x="35306" y="479551"/>
                    </a:lnTo>
                    <a:lnTo>
                      <a:pt x="25781" y="514476"/>
                    </a:lnTo>
                    <a:lnTo>
                      <a:pt x="29972" y="565022"/>
                    </a:lnTo>
                    <a:lnTo>
                      <a:pt x="0" y="589406"/>
                    </a:lnTo>
                    <a:lnTo>
                      <a:pt x="50800" y="601726"/>
                    </a:lnTo>
                    <a:lnTo>
                      <a:pt x="25781" y="625855"/>
                    </a:lnTo>
                    <a:lnTo>
                      <a:pt x="29591" y="651636"/>
                    </a:lnTo>
                    <a:lnTo>
                      <a:pt x="38481" y="658367"/>
                    </a:lnTo>
                    <a:lnTo>
                      <a:pt x="51816" y="662558"/>
                    </a:lnTo>
                    <a:lnTo>
                      <a:pt x="68072" y="668146"/>
                    </a:lnTo>
                    <a:lnTo>
                      <a:pt x="96266" y="668146"/>
                    </a:lnTo>
                    <a:lnTo>
                      <a:pt x="111125" y="664463"/>
                    </a:lnTo>
                    <a:lnTo>
                      <a:pt x="132334" y="662558"/>
                    </a:lnTo>
                    <a:lnTo>
                      <a:pt x="145034" y="669035"/>
                    </a:lnTo>
                    <a:lnTo>
                      <a:pt x="158750" y="661669"/>
                    </a:lnTo>
                    <a:lnTo>
                      <a:pt x="172466" y="657986"/>
                    </a:lnTo>
                    <a:lnTo>
                      <a:pt x="176784" y="646048"/>
                    </a:lnTo>
                    <a:lnTo>
                      <a:pt x="186309" y="642365"/>
                    </a:lnTo>
                    <a:lnTo>
                      <a:pt x="201041" y="635126"/>
                    </a:lnTo>
                    <a:lnTo>
                      <a:pt x="219075" y="635126"/>
                    </a:lnTo>
                    <a:lnTo>
                      <a:pt x="229616" y="637793"/>
                    </a:lnTo>
                    <a:lnTo>
                      <a:pt x="243459" y="635126"/>
                    </a:lnTo>
                    <a:lnTo>
                      <a:pt x="259334" y="642365"/>
                    </a:lnTo>
                    <a:lnTo>
                      <a:pt x="278384" y="640587"/>
                    </a:lnTo>
                    <a:lnTo>
                      <a:pt x="284734" y="624966"/>
                    </a:lnTo>
                    <a:lnTo>
                      <a:pt x="297434" y="633221"/>
                    </a:lnTo>
                    <a:lnTo>
                      <a:pt x="298450" y="620394"/>
                    </a:lnTo>
                    <a:lnTo>
                      <a:pt x="306959" y="611251"/>
                    </a:lnTo>
                    <a:lnTo>
                      <a:pt x="324993" y="608456"/>
                    </a:lnTo>
                    <a:lnTo>
                      <a:pt x="349250" y="612139"/>
                    </a:lnTo>
                    <a:lnTo>
                      <a:pt x="354584" y="599312"/>
                    </a:lnTo>
                    <a:lnTo>
                      <a:pt x="348234" y="587374"/>
                    </a:lnTo>
                    <a:lnTo>
                      <a:pt x="350393" y="564387"/>
                    </a:lnTo>
                    <a:lnTo>
                      <a:pt x="363093" y="553338"/>
                    </a:lnTo>
                    <a:lnTo>
                      <a:pt x="388493" y="554227"/>
                    </a:lnTo>
                    <a:lnTo>
                      <a:pt x="400050" y="545972"/>
                    </a:lnTo>
                    <a:lnTo>
                      <a:pt x="419100" y="543305"/>
                    </a:lnTo>
                    <a:lnTo>
                      <a:pt x="433959" y="537717"/>
                    </a:lnTo>
                    <a:lnTo>
                      <a:pt x="451993" y="530351"/>
                    </a:lnTo>
                    <a:lnTo>
                      <a:pt x="463550" y="533145"/>
                    </a:lnTo>
                    <a:lnTo>
                      <a:pt x="488950" y="541401"/>
                    </a:lnTo>
                    <a:lnTo>
                      <a:pt x="503809" y="529462"/>
                    </a:lnTo>
                    <a:lnTo>
                      <a:pt x="508000" y="514730"/>
                    </a:lnTo>
                    <a:lnTo>
                      <a:pt x="497459" y="501903"/>
                    </a:lnTo>
                    <a:lnTo>
                      <a:pt x="512318" y="489965"/>
                    </a:lnTo>
                    <a:lnTo>
                      <a:pt x="529209" y="475360"/>
                    </a:lnTo>
                    <a:lnTo>
                      <a:pt x="539750" y="483615"/>
                    </a:lnTo>
                    <a:lnTo>
                      <a:pt x="553593" y="489076"/>
                    </a:lnTo>
                    <a:lnTo>
                      <a:pt x="559943" y="505586"/>
                    </a:lnTo>
                    <a:lnTo>
                      <a:pt x="570484" y="512952"/>
                    </a:lnTo>
                    <a:lnTo>
                      <a:pt x="585343" y="516635"/>
                    </a:lnTo>
                    <a:lnTo>
                      <a:pt x="609600" y="518413"/>
                    </a:lnTo>
                    <a:lnTo>
                      <a:pt x="604393" y="504697"/>
                    </a:lnTo>
                    <a:lnTo>
                      <a:pt x="601218" y="489965"/>
                    </a:lnTo>
                    <a:lnTo>
                      <a:pt x="587375" y="493648"/>
                    </a:lnTo>
                    <a:lnTo>
                      <a:pt x="571500" y="486282"/>
                    </a:lnTo>
                    <a:lnTo>
                      <a:pt x="570484" y="471677"/>
                    </a:lnTo>
                    <a:lnTo>
                      <a:pt x="587375" y="472566"/>
                    </a:lnTo>
                    <a:lnTo>
                      <a:pt x="598043" y="458723"/>
                    </a:lnTo>
                    <a:lnTo>
                      <a:pt x="620268" y="466978"/>
                    </a:lnTo>
                    <a:lnTo>
                      <a:pt x="643509" y="472566"/>
                    </a:lnTo>
                    <a:lnTo>
                      <a:pt x="655193" y="478916"/>
                    </a:lnTo>
                    <a:lnTo>
                      <a:pt x="658368" y="458723"/>
                    </a:lnTo>
                    <a:lnTo>
                      <a:pt x="664718" y="447801"/>
                    </a:lnTo>
                    <a:lnTo>
                      <a:pt x="687959" y="450468"/>
                    </a:lnTo>
                    <a:lnTo>
                      <a:pt x="711200" y="444118"/>
                    </a:lnTo>
                    <a:lnTo>
                      <a:pt x="715518" y="429386"/>
                    </a:lnTo>
                    <a:lnTo>
                      <a:pt x="734568" y="424814"/>
                    </a:lnTo>
                    <a:lnTo>
                      <a:pt x="739775" y="416559"/>
                    </a:lnTo>
                    <a:lnTo>
                      <a:pt x="752475" y="420242"/>
                    </a:lnTo>
                    <a:lnTo>
                      <a:pt x="767334" y="410082"/>
                    </a:lnTo>
                    <a:lnTo>
                      <a:pt x="776859" y="400049"/>
                    </a:lnTo>
                    <a:lnTo>
                      <a:pt x="770509" y="391794"/>
                    </a:lnTo>
                    <a:lnTo>
                      <a:pt x="782193" y="374268"/>
                    </a:lnTo>
                    <a:lnTo>
                      <a:pt x="788543" y="361441"/>
                    </a:lnTo>
                    <a:lnTo>
                      <a:pt x="815975" y="345820"/>
                    </a:lnTo>
                    <a:lnTo>
                      <a:pt x="817118" y="342772"/>
                    </a:lnTo>
                    <a:lnTo>
                      <a:pt x="818515" y="340994"/>
                    </a:lnTo>
                    <a:lnTo>
                      <a:pt x="819150" y="336676"/>
                    </a:lnTo>
                    <a:lnTo>
                      <a:pt x="819912" y="320420"/>
                    </a:lnTo>
                    <a:lnTo>
                      <a:pt x="813562" y="321690"/>
                    </a:lnTo>
                    <a:lnTo>
                      <a:pt x="790956" y="344677"/>
                    </a:lnTo>
                    <a:lnTo>
                      <a:pt x="756793" y="351027"/>
                    </a:lnTo>
                    <a:lnTo>
                      <a:pt x="723265" y="336930"/>
                    </a:lnTo>
                    <a:lnTo>
                      <a:pt x="685800" y="345185"/>
                    </a:lnTo>
                    <a:lnTo>
                      <a:pt x="671322" y="285495"/>
                    </a:lnTo>
                    <a:lnTo>
                      <a:pt x="643890" y="289559"/>
                    </a:lnTo>
                    <a:lnTo>
                      <a:pt x="619125" y="230504"/>
                    </a:lnTo>
                    <a:lnTo>
                      <a:pt x="534797" y="197357"/>
                    </a:lnTo>
                    <a:lnTo>
                      <a:pt x="491744" y="188467"/>
                    </a:lnTo>
                    <a:lnTo>
                      <a:pt x="480822" y="140461"/>
                    </a:lnTo>
                    <a:lnTo>
                      <a:pt x="490347" y="80136"/>
                    </a:lnTo>
                    <a:lnTo>
                      <a:pt x="450215" y="56895"/>
                    </a:lnTo>
                    <a:lnTo>
                      <a:pt x="408940" y="61467"/>
                    </a:lnTo>
                    <a:lnTo>
                      <a:pt x="359156" y="59943"/>
                    </a:lnTo>
                    <a:lnTo>
                      <a:pt x="352425" y="73786"/>
                    </a:lnTo>
                    <a:lnTo>
                      <a:pt x="294640" y="66420"/>
                    </a:lnTo>
                    <a:lnTo>
                      <a:pt x="273431" y="32384"/>
                    </a:lnTo>
                    <a:lnTo>
                      <a:pt x="243459" y="14731"/>
                    </a:lnTo>
                    <a:lnTo>
                      <a:pt x="193675" y="0"/>
                    </a:lnTo>
                    <a:close/>
                  </a:path>
                </a:pathLst>
              </a:custGeom>
              <a:solidFill>
                <a:srgbClr val="6FAC46"/>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82" name="object 324">
                <a:extLst>
                  <a:ext uri="{FF2B5EF4-FFF2-40B4-BE49-F238E27FC236}">
                    <a16:creationId xmlns:a16="http://schemas.microsoft.com/office/drawing/2014/main" id="{D15F0DDE-D22C-495E-AF52-C97F012461CF}"/>
                  </a:ext>
                </a:extLst>
              </p:cNvPr>
              <p:cNvSpPr/>
              <p:nvPr/>
            </p:nvSpPr>
            <p:spPr>
              <a:xfrm>
                <a:off x="2130551" y="4158995"/>
                <a:ext cx="820419" cy="669290"/>
              </a:xfrm>
              <a:custGeom>
                <a:avLst/>
                <a:gdLst/>
                <a:ahLst/>
                <a:cxnLst/>
                <a:rect l="l" t="t" r="r" b="b"/>
                <a:pathLst>
                  <a:path w="820419" h="669289">
                    <a:moveTo>
                      <a:pt x="193675" y="0"/>
                    </a:moveTo>
                    <a:lnTo>
                      <a:pt x="243459" y="14731"/>
                    </a:lnTo>
                    <a:lnTo>
                      <a:pt x="273431" y="32384"/>
                    </a:lnTo>
                    <a:lnTo>
                      <a:pt x="294640" y="66420"/>
                    </a:lnTo>
                    <a:lnTo>
                      <a:pt x="352425" y="73786"/>
                    </a:lnTo>
                    <a:lnTo>
                      <a:pt x="359156" y="59943"/>
                    </a:lnTo>
                    <a:lnTo>
                      <a:pt x="408940" y="61467"/>
                    </a:lnTo>
                    <a:lnTo>
                      <a:pt x="450215" y="56895"/>
                    </a:lnTo>
                    <a:lnTo>
                      <a:pt x="490347" y="80136"/>
                    </a:lnTo>
                    <a:lnTo>
                      <a:pt x="480822" y="140461"/>
                    </a:lnTo>
                    <a:lnTo>
                      <a:pt x="491744" y="188467"/>
                    </a:lnTo>
                    <a:lnTo>
                      <a:pt x="534797" y="197357"/>
                    </a:lnTo>
                    <a:lnTo>
                      <a:pt x="619125" y="230504"/>
                    </a:lnTo>
                    <a:lnTo>
                      <a:pt x="643890" y="289559"/>
                    </a:lnTo>
                    <a:lnTo>
                      <a:pt x="671322" y="285495"/>
                    </a:lnTo>
                    <a:lnTo>
                      <a:pt x="685800" y="345185"/>
                    </a:lnTo>
                    <a:lnTo>
                      <a:pt x="723265" y="336930"/>
                    </a:lnTo>
                    <a:lnTo>
                      <a:pt x="756793" y="351027"/>
                    </a:lnTo>
                    <a:lnTo>
                      <a:pt x="790956" y="344677"/>
                    </a:lnTo>
                    <a:lnTo>
                      <a:pt x="813562" y="321690"/>
                    </a:lnTo>
                    <a:lnTo>
                      <a:pt x="819912" y="320420"/>
                    </a:lnTo>
                    <a:lnTo>
                      <a:pt x="819150" y="336676"/>
                    </a:lnTo>
                    <a:lnTo>
                      <a:pt x="818515" y="340994"/>
                    </a:lnTo>
                    <a:lnTo>
                      <a:pt x="817118" y="342772"/>
                    </a:lnTo>
                    <a:lnTo>
                      <a:pt x="815975" y="345820"/>
                    </a:lnTo>
                    <a:lnTo>
                      <a:pt x="788543" y="361441"/>
                    </a:lnTo>
                    <a:lnTo>
                      <a:pt x="786384" y="365759"/>
                    </a:lnTo>
                    <a:lnTo>
                      <a:pt x="784225" y="370077"/>
                    </a:lnTo>
                    <a:lnTo>
                      <a:pt x="782193" y="374268"/>
                    </a:lnTo>
                    <a:lnTo>
                      <a:pt x="770509" y="391794"/>
                    </a:lnTo>
                    <a:lnTo>
                      <a:pt x="772668" y="394461"/>
                    </a:lnTo>
                    <a:lnTo>
                      <a:pt x="774700" y="397255"/>
                    </a:lnTo>
                    <a:lnTo>
                      <a:pt x="776859" y="400049"/>
                    </a:lnTo>
                    <a:lnTo>
                      <a:pt x="773684" y="403351"/>
                    </a:lnTo>
                    <a:lnTo>
                      <a:pt x="770509" y="406780"/>
                    </a:lnTo>
                    <a:lnTo>
                      <a:pt x="767334" y="410082"/>
                    </a:lnTo>
                    <a:lnTo>
                      <a:pt x="752475" y="420242"/>
                    </a:lnTo>
                    <a:lnTo>
                      <a:pt x="748284" y="418972"/>
                    </a:lnTo>
                    <a:lnTo>
                      <a:pt x="744093" y="417702"/>
                    </a:lnTo>
                    <a:lnTo>
                      <a:pt x="739775" y="416559"/>
                    </a:lnTo>
                    <a:lnTo>
                      <a:pt x="738124" y="419353"/>
                    </a:lnTo>
                    <a:lnTo>
                      <a:pt x="736346" y="422020"/>
                    </a:lnTo>
                    <a:lnTo>
                      <a:pt x="734568" y="424814"/>
                    </a:lnTo>
                    <a:lnTo>
                      <a:pt x="715518" y="429386"/>
                    </a:lnTo>
                    <a:lnTo>
                      <a:pt x="711200" y="444118"/>
                    </a:lnTo>
                    <a:lnTo>
                      <a:pt x="687959" y="450468"/>
                    </a:lnTo>
                    <a:lnTo>
                      <a:pt x="664718" y="447801"/>
                    </a:lnTo>
                    <a:lnTo>
                      <a:pt x="662559" y="451484"/>
                    </a:lnTo>
                    <a:lnTo>
                      <a:pt x="660400" y="455040"/>
                    </a:lnTo>
                    <a:lnTo>
                      <a:pt x="658368" y="458723"/>
                    </a:lnTo>
                    <a:lnTo>
                      <a:pt x="657225" y="465454"/>
                    </a:lnTo>
                    <a:lnTo>
                      <a:pt x="656209" y="472185"/>
                    </a:lnTo>
                    <a:lnTo>
                      <a:pt x="655193" y="478916"/>
                    </a:lnTo>
                    <a:lnTo>
                      <a:pt x="643509" y="472566"/>
                    </a:lnTo>
                    <a:lnTo>
                      <a:pt x="620268" y="466978"/>
                    </a:lnTo>
                    <a:lnTo>
                      <a:pt x="598043" y="458723"/>
                    </a:lnTo>
                    <a:lnTo>
                      <a:pt x="594487" y="463422"/>
                    </a:lnTo>
                    <a:lnTo>
                      <a:pt x="590931" y="467994"/>
                    </a:lnTo>
                    <a:lnTo>
                      <a:pt x="587375" y="472566"/>
                    </a:lnTo>
                    <a:lnTo>
                      <a:pt x="570484" y="471677"/>
                    </a:lnTo>
                    <a:lnTo>
                      <a:pt x="570865" y="476503"/>
                    </a:lnTo>
                    <a:lnTo>
                      <a:pt x="571246" y="481456"/>
                    </a:lnTo>
                    <a:lnTo>
                      <a:pt x="571500" y="486282"/>
                    </a:lnTo>
                    <a:lnTo>
                      <a:pt x="587375" y="493648"/>
                    </a:lnTo>
                    <a:lnTo>
                      <a:pt x="601218" y="489965"/>
                    </a:lnTo>
                    <a:lnTo>
                      <a:pt x="602234" y="494918"/>
                    </a:lnTo>
                    <a:lnTo>
                      <a:pt x="603250" y="499744"/>
                    </a:lnTo>
                    <a:lnTo>
                      <a:pt x="604393" y="504697"/>
                    </a:lnTo>
                    <a:lnTo>
                      <a:pt x="606171" y="509269"/>
                    </a:lnTo>
                    <a:lnTo>
                      <a:pt x="607822" y="513841"/>
                    </a:lnTo>
                    <a:lnTo>
                      <a:pt x="609600" y="518413"/>
                    </a:lnTo>
                    <a:lnTo>
                      <a:pt x="585343" y="516635"/>
                    </a:lnTo>
                    <a:lnTo>
                      <a:pt x="570484" y="512952"/>
                    </a:lnTo>
                    <a:lnTo>
                      <a:pt x="559943" y="505586"/>
                    </a:lnTo>
                    <a:lnTo>
                      <a:pt x="557784" y="500125"/>
                    </a:lnTo>
                    <a:lnTo>
                      <a:pt x="555625" y="494537"/>
                    </a:lnTo>
                    <a:lnTo>
                      <a:pt x="553593" y="489076"/>
                    </a:lnTo>
                    <a:lnTo>
                      <a:pt x="539750" y="483615"/>
                    </a:lnTo>
                    <a:lnTo>
                      <a:pt x="536321" y="480821"/>
                    </a:lnTo>
                    <a:lnTo>
                      <a:pt x="532765" y="478027"/>
                    </a:lnTo>
                    <a:lnTo>
                      <a:pt x="529209" y="475360"/>
                    </a:lnTo>
                    <a:lnTo>
                      <a:pt x="512318" y="489965"/>
                    </a:lnTo>
                    <a:lnTo>
                      <a:pt x="497459" y="501903"/>
                    </a:lnTo>
                    <a:lnTo>
                      <a:pt x="501015" y="506221"/>
                    </a:lnTo>
                    <a:lnTo>
                      <a:pt x="504444" y="510539"/>
                    </a:lnTo>
                    <a:lnTo>
                      <a:pt x="508000" y="514730"/>
                    </a:lnTo>
                    <a:lnTo>
                      <a:pt x="506603" y="519683"/>
                    </a:lnTo>
                    <a:lnTo>
                      <a:pt x="505206" y="524636"/>
                    </a:lnTo>
                    <a:lnTo>
                      <a:pt x="503809" y="529462"/>
                    </a:lnTo>
                    <a:lnTo>
                      <a:pt x="488950" y="541401"/>
                    </a:lnTo>
                    <a:lnTo>
                      <a:pt x="463550" y="533145"/>
                    </a:lnTo>
                    <a:lnTo>
                      <a:pt x="451993" y="530351"/>
                    </a:lnTo>
                    <a:lnTo>
                      <a:pt x="433959" y="537717"/>
                    </a:lnTo>
                    <a:lnTo>
                      <a:pt x="419100" y="543305"/>
                    </a:lnTo>
                    <a:lnTo>
                      <a:pt x="400050" y="545972"/>
                    </a:lnTo>
                    <a:lnTo>
                      <a:pt x="388493" y="554227"/>
                    </a:lnTo>
                    <a:lnTo>
                      <a:pt x="363093" y="553338"/>
                    </a:lnTo>
                    <a:lnTo>
                      <a:pt x="350393" y="564387"/>
                    </a:lnTo>
                    <a:lnTo>
                      <a:pt x="349631" y="572007"/>
                    </a:lnTo>
                    <a:lnTo>
                      <a:pt x="348869" y="579627"/>
                    </a:lnTo>
                    <a:lnTo>
                      <a:pt x="348234" y="587374"/>
                    </a:lnTo>
                    <a:lnTo>
                      <a:pt x="350393" y="591311"/>
                    </a:lnTo>
                    <a:lnTo>
                      <a:pt x="352425" y="595248"/>
                    </a:lnTo>
                    <a:lnTo>
                      <a:pt x="354584" y="599312"/>
                    </a:lnTo>
                    <a:lnTo>
                      <a:pt x="352806" y="603503"/>
                    </a:lnTo>
                    <a:lnTo>
                      <a:pt x="351028" y="607821"/>
                    </a:lnTo>
                    <a:lnTo>
                      <a:pt x="349250" y="612139"/>
                    </a:lnTo>
                    <a:lnTo>
                      <a:pt x="324993" y="608456"/>
                    </a:lnTo>
                    <a:lnTo>
                      <a:pt x="306959" y="611251"/>
                    </a:lnTo>
                    <a:lnTo>
                      <a:pt x="304165" y="614298"/>
                    </a:lnTo>
                    <a:lnTo>
                      <a:pt x="301244" y="617346"/>
                    </a:lnTo>
                    <a:lnTo>
                      <a:pt x="298450" y="620394"/>
                    </a:lnTo>
                    <a:lnTo>
                      <a:pt x="298069" y="624712"/>
                    </a:lnTo>
                    <a:lnTo>
                      <a:pt x="297815" y="628903"/>
                    </a:lnTo>
                    <a:lnTo>
                      <a:pt x="297434" y="633221"/>
                    </a:lnTo>
                    <a:lnTo>
                      <a:pt x="284734" y="624966"/>
                    </a:lnTo>
                    <a:lnTo>
                      <a:pt x="282575" y="630173"/>
                    </a:lnTo>
                    <a:lnTo>
                      <a:pt x="280416" y="635380"/>
                    </a:lnTo>
                    <a:lnTo>
                      <a:pt x="278384" y="640587"/>
                    </a:lnTo>
                    <a:lnTo>
                      <a:pt x="259334" y="642365"/>
                    </a:lnTo>
                    <a:lnTo>
                      <a:pt x="243459" y="635126"/>
                    </a:lnTo>
                    <a:lnTo>
                      <a:pt x="229616" y="637793"/>
                    </a:lnTo>
                    <a:lnTo>
                      <a:pt x="226187" y="636904"/>
                    </a:lnTo>
                    <a:lnTo>
                      <a:pt x="222631" y="636015"/>
                    </a:lnTo>
                    <a:lnTo>
                      <a:pt x="219075" y="635126"/>
                    </a:lnTo>
                    <a:lnTo>
                      <a:pt x="201041" y="635126"/>
                    </a:lnTo>
                    <a:lnTo>
                      <a:pt x="196215" y="637539"/>
                    </a:lnTo>
                    <a:lnTo>
                      <a:pt x="191262" y="639952"/>
                    </a:lnTo>
                    <a:lnTo>
                      <a:pt x="186309" y="642365"/>
                    </a:lnTo>
                    <a:lnTo>
                      <a:pt x="176784" y="646048"/>
                    </a:lnTo>
                    <a:lnTo>
                      <a:pt x="175387" y="650112"/>
                    </a:lnTo>
                    <a:lnTo>
                      <a:pt x="173990" y="654049"/>
                    </a:lnTo>
                    <a:lnTo>
                      <a:pt x="172466" y="657986"/>
                    </a:lnTo>
                    <a:lnTo>
                      <a:pt x="158750" y="661669"/>
                    </a:lnTo>
                    <a:lnTo>
                      <a:pt x="145034" y="669035"/>
                    </a:lnTo>
                    <a:lnTo>
                      <a:pt x="132334" y="662558"/>
                    </a:lnTo>
                    <a:lnTo>
                      <a:pt x="111125" y="664463"/>
                    </a:lnTo>
                    <a:lnTo>
                      <a:pt x="96266" y="668146"/>
                    </a:lnTo>
                    <a:lnTo>
                      <a:pt x="68072" y="668146"/>
                    </a:lnTo>
                    <a:lnTo>
                      <a:pt x="51816" y="662558"/>
                    </a:lnTo>
                    <a:lnTo>
                      <a:pt x="38481" y="658367"/>
                    </a:lnTo>
                    <a:lnTo>
                      <a:pt x="29591" y="651636"/>
                    </a:lnTo>
                    <a:lnTo>
                      <a:pt x="25781" y="625855"/>
                    </a:lnTo>
                    <a:lnTo>
                      <a:pt x="50800" y="601726"/>
                    </a:lnTo>
                    <a:lnTo>
                      <a:pt x="0" y="589406"/>
                    </a:lnTo>
                    <a:lnTo>
                      <a:pt x="29972" y="565022"/>
                    </a:lnTo>
                    <a:lnTo>
                      <a:pt x="25781" y="514476"/>
                    </a:lnTo>
                    <a:lnTo>
                      <a:pt x="35306" y="479551"/>
                    </a:lnTo>
                    <a:lnTo>
                      <a:pt x="10541" y="456691"/>
                    </a:lnTo>
                    <a:lnTo>
                      <a:pt x="22606" y="438022"/>
                    </a:lnTo>
                    <a:lnTo>
                      <a:pt x="56134" y="400684"/>
                    </a:lnTo>
                    <a:lnTo>
                      <a:pt x="24637" y="385952"/>
                    </a:lnTo>
                    <a:lnTo>
                      <a:pt x="40259" y="355345"/>
                    </a:lnTo>
                    <a:lnTo>
                      <a:pt x="72009" y="332358"/>
                    </a:lnTo>
                    <a:lnTo>
                      <a:pt x="47243" y="309371"/>
                    </a:lnTo>
                    <a:lnTo>
                      <a:pt x="50800" y="268096"/>
                    </a:lnTo>
                    <a:lnTo>
                      <a:pt x="41275" y="234187"/>
                    </a:lnTo>
                    <a:lnTo>
                      <a:pt x="83566" y="217931"/>
                    </a:lnTo>
                    <a:lnTo>
                      <a:pt x="104140" y="180847"/>
                    </a:lnTo>
                    <a:lnTo>
                      <a:pt x="79375" y="148716"/>
                    </a:lnTo>
                    <a:lnTo>
                      <a:pt x="99441" y="124840"/>
                    </a:lnTo>
                    <a:lnTo>
                      <a:pt x="108966" y="96773"/>
                    </a:lnTo>
                    <a:lnTo>
                      <a:pt x="153162" y="105917"/>
                    </a:lnTo>
                    <a:lnTo>
                      <a:pt x="183134" y="72897"/>
                    </a:lnTo>
                    <a:lnTo>
                      <a:pt x="190881" y="36702"/>
                    </a:lnTo>
                    <a:lnTo>
                      <a:pt x="193675" y="0"/>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83" name="object 325">
                <a:extLst>
                  <a:ext uri="{FF2B5EF4-FFF2-40B4-BE49-F238E27FC236}">
                    <a16:creationId xmlns:a16="http://schemas.microsoft.com/office/drawing/2014/main" id="{3A0EF6C3-160A-4A61-B91C-350CEFCA83BD}"/>
                  </a:ext>
                </a:extLst>
              </p:cNvPr>
              <p:cNvSpPr/>
              <p:nvPr/>
            </p:nvSpPr>
            <p:spPr>
              <a:xfrm>
                <a:off x="1993391" y="4288536"/>
                <a:ext cx="1498854" cy="1114805"/>
              </a:xfrm>
              <a:prstGeom prst="rect">
                <a:avLst/>
              </a:prstGeom>
              <a:blipFill>
                <a:blip r:embed="rId70" cstate="print"/>
                <a:stretch>
                  <a:fillRect/>
                </a:stretch>
              </a:blip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84" name="object 326">
                <a:extLst>
                  <a:ext uri="{FF2B5EF4-FFF2-40B4-BE49-F238E27FC236}">
                    <a16:creationId xmlns:a16="http://schemas.microsoft.com/office/drawing/2014/main" id="{8EDC4372-1677-43A8-92AE-2B32DBA41186}"/>
                  </a:ext>
                </a:extLst>
              </p:cNvPr>
              <p:cNvSpPr/>
              <p:nvPr/>
            </p:nvSpPr>
            <p:spPr>
              <a:xfrm>
                <a:off x="2011679" y="4268723"/>
                <a:ext cx="1489075" cy="1104900"/>
              </a:xfrm>
              <a:custGeom>
                <a:avLst/>
                <a:gdLst/>
                <a:ahLst/>
                <a:cxnLst/>
                <a:rect l="l" t="t" r="r" b="b"/>
                <a:pathLst>
                  <a:path w="1489075" h="1104900">
                    <a:moveTo>
                      <a:pt x="1473072" y="0"/>
                    </a:moveTo>
                    <a:lnTo>
                      <a:pt x="1427098" y="24511"/>
                    </a:lnTo>
                    <a:lnTo>
                      <a:pt x="1404111" y="70484"/>
                    </a:lnTo>
                    <a:lnTo>
                      <a:pt x="1356486" y="64388"/>
                    </a:lnTo>
                    <a:lnTo>
                      <a:pt x="1308734" y="41401"/>
                    </a:lnTo>
                    <a:lnTo>
                      <a:pt x="1278762" y="13843"/>
                    </a:lnTo>
                    <a:lnTo>
                      <a:pt x="1229359" y="36830"/>
                    </a:lnTo>
                    <a:lnTo>
                      <a:pt x="1225803" y="64388"/>
                    </a:lnTo>
                    <a:lnTo>
                      <a:pt x="1188720" y="73532"/>
                    </a:lnTo>
                    <a:lnTo>
                      <a:pt x="1167511" y="93471"/>
                    </a:lnTo>
                    <a:lnTo>
                      <a:pt x="1178052" y="139445"/>
                    </a:lnTo>
                    <a:lnTo>
                      <a:pt x="1139189" y="130301"/>
                    </a:lnTo>
                    <a:lnTo>
                      <a:pt x="1093343" y="162432"/>
                    </a:lnTo>
                    <a:lnTo>
                      <a:pt x="1072133" y="107314"/>
                    </a:lnTo>
                    <a:lnTo>
                      <a:pt x="1043813" y="128777"/>
                    </a:lnTo>
                    <a:lnTo>
                      <a:pt x="1050925" y="157861"/>
                    </a:lnTo>
                    <a:lnTo>
                      <a:pt x="1040383" y="189992"/>
                    </a:lnTo>
                    <a:lnTo>
                      <a:pt x="1001521" y="197738"/>
                    </a:lnTo>
                    <a:lnTo>
                      <a:pt x="939672" y="210565"/>
                    </a:lnTo>
                    <a:lnTo>
                      <a:pt x="938911" y="226440"/>
                    </a:lnTo>
                    <a:lnTo>
                      <a:pt x="938276" y="230758"/>
                    </a:lnTo>
                    <a:lnTo>
                      <a:pt x="936878" y="232663"/>
                    </a:lnTo>
                    <a:lnTo>
                      <a:pt x="935736" y="235712"/>
                    </a:lnTo>
                    <a:lnTo>
                      <a:pt x="908176" y="251332"/>
                    </a:lnTo>
                    <a:lnTo>
                      <a:pt x="901826" y="264159"/>
                    </a:lnTo>
                    <a:lnTo>
                      <a:pt x="890143" y="281686"/>
                    </a:lnTo>
                    <a:lnTo>
                      <a:pt x="896493" y="289940"/>
                    </a:lnTo>
                    <a:lnTo>
                      <a:pt x="886968" y="300100"/>
                    </a:lnTo>
                    <a:lnTo>
                      <a:pt x="872236" y="310133"/>
                    </a:lnTo>
                    <a:lnTo>
                      <a:pt x="859408" y="306450"/>
                    </a:lnTo>
                    <a:lnTo>
                      <a:pt x="854201" y="314706"/>
                    </a:lnTo>
                    <a:lnTo>
                      <a:pt x="835025" y="319405"/>
                    </a:lnTo>
                    <a:lnTo>
                      <a:pt x="830833" y="334137"/>
                    </a:lnTo>
                    <a:lnTo>
                      <a:pt x="807465" y="340487"/>
                    </a:lnTo>
                    <a:lnTo>
                      <a:pt x="784225" y="337693"/>
                    </a:lnTo>
                    <a:lnTo>
                      <a:pt x="777875" y="348742"/>
                    </a:lnTo>
                    <a:lnTo>
                      <a:pt x="774700" y="369062"/>
                    </a:lnTo>
                    <a:lnTo>
                      <a:pt x="763015" y="362584"/>
                    </a:lnTo>
                    <a:lnTo>
                      <a:pt x="739647" y="357124"/>
                    </a:lnTo>
                    <a:lnTo>
                      <a:pt x="717422" y="348742"/>
                    </a:lnTo>
                    <a:lnTo>
                      <a:pt x="706882" y="362584"/>
                    </a:lnTo>
                    <a:lnTo>
                      <a:pt x="689863" y="361695"/>
                    </a:lnTo>
                    <a:lnTo>
                      <a:pt x="691007" y="376427"/>
                    </a:lnTo>
                    <a:lnTo>
                      <a:pt x="706882" y="383667"/>
                    </a:lnTo>
                    <a:lnTo>
                      <a:pt x="720597" y="380111"/>
                    </a:lnTo>
                    <a:lnTo>
                      <a:pt x="723772" y="394715"/>
                    </a:lnTo>
                    <a:lnTo>
                      <a:pt x="729107" y="408558"/>
                    </a:lnTo>
                    <a:lnTo>
                      <a:pt x="704722" y="406653"/>
                    </a:lnTo>
                    <a:lnTo>
                      <a:pt x="689863" y="403098"/>
                    </a:lnTo>
                    <a:lnTo>
                      <a:pt x="679322" y="395731"/>
                    </a:lnTo>
                    <a:lnTo>
                      <a:pt x="672972" y="379094"/>
                    </a:lnTo>
                    <a:lnTo>
                      <a:pt x="659130" y="373633"/>
                    </a:lnTo>
                    <a:lnTo>
                      <a:pt x="648588" y="365378"/>
                    </a:lnTo>
                    <a:lnTo>
                      <a:pt x="631570" y="380111"/>
                    </a:lnTo>
                    <a:lnTo>
                      <a:pt x="616712" y="392049"/>
                    </a:lnTo>
                    <a:lnTo>
                      <a:pt x="627380" y="404875"/>
                    </a:lnTo>
                    <a:lnTo>
                      <a:pt x="623188" y="419607"/>
                    </a:lnTo>
                    <a:lnTo>
                      <a:pt x="608330" y="431545"/>
                    </a:lnTo>
                    <a:lnTo>
                      <a:pt x="582802" y="423290"/>
                    </a:lnTo>
                    <a:lnTo>
                      <a:pt x="571245" y="420496"/>
                    </a:lnTo>
                    <a:lnTo>
                      <a:pt x="553212" y="427863"/>
                    </a:lnTo>
                    <a:lnTo>
                      <a:pt x="538352" y="433324"/>
                    </a:lnTo>
                    <a:lnTo>
                      <a:pt x="519302" y="436118"/>
                    </a:lnTo>
                    <a:lnTo>
                      <a:pt x="507619" y="444373"/>
                    </a:lnTo>
                    <a:lnTo>
                      <a:pt x="482219" y="443483"/>
                    </a:lnTo>
                    <a:lnTo>
                      <a:pt x="469519" y="454532"/>
                    </a:lnTo>
                    <a:lnTo>
                      <a:pt x="467359" y="477519"/>
                    </a:lnTo>
                    <a:lnTo>
                      <a:pt x="473709" y="489457"/>
                    </a:lnTo>
                    <a:lnTo>
                      <a:pt x="468375" y="502284"/>
                    </a:lnTo>
                    <a:lnTo>
                      <a:pt x="443992" y="498601"/>
                    </a:lnTo>
                    <a:lnTo>
                      <a:pt x="425957" y="501395"/>
                    </a:lnTo>
                    <a:lnTo>
                      <a:pt x="417575" y="510667"/>
                    </a:lnTo>
                    <a:lnTo>
                      <a:pt x="416432" y="523494"/>
                    </a:lnTo>
                    <a:lnTo>
                      <a:pt x="403732" y="515238"/>
                    </a:lnTo>
                    <a:lnTo>
                      <a:pt x="397382" y="530859"/>
                    </a:lnTo>
                    <a:lnTo>
                      <a:pt x="378332" y="532638"/>
                    </a:lnTo>
                    <a:lnTo>
                      <a:pt x="362457" y="525271"/>
                    </a:lnTo>
                    <a:lnTo>
                      <a:pt x="348614" y="528065"/>
                    </a:lnTo>
                    <a:lnTo>
                      <a:pt x="338074" y="525271"/>
                    </a:lnTo>
                    <a:lnTo>
                      <a:pt x="320039" y="525271"/>
                    </a:lnTo>
                    <a:lnTo>
                      <a:pt x="305181" y="532638"/>
                    </a:lnTo>
                    <a:lnTo>
                      <a:pt x="295656" y="536320"/>
                    </a:lnTo>
                    <a:lnTo>
                      <a:pt x="291464" y="548258"/>
                    </a:lnTo>
                    <a:lnTo>
                      <a:pt x="277621" y="551942"/>
                    </a:lnTo>
                    <a:lnTo>
                      <a:pt x="263906" y="559307"/>
                    </a:lnTo>
                    <a:lnTo>
                      <a:pt x="251206" y="552957"/>
                    </a:lnTo>
                    <a:lnTo>
                      <a:pt x="229996" y="554736"/>
                    </a:lnTo>
                    <a:lnTo>
                      <a:pt x="215137" y="558419"/>
                    </a:lnTo>
                    <a:lnTo>
                      <a:pt x="186817" y="558419"/>
                    </a:lnTo>
                    <a:lnTo>
                      <a:pt x="157225" y="548639"/>
                    </a:lnTo>
                    <a:lnTo>
                      <a:pt x="154050" y="546226"/>
                    </a:lnTo>
                    <a:lnTo>
                      <a:pt x="147955" y="540384"/>
                    </a:lnTo>
                    <a:lnTo>
                      <a:pt x="148336" y="542544"/>
                    </a:lnTo>
                    <a:lnTo>
                      <a:pt x="86487" y="543687"/>
                    </a:lnTo>
                    <a:lnTo>
                      <a:pt x="60451" y="567055"/>
                    </a:lnTo>
                    <a:lnTo>
                      <a:pt x="58293" y="610234"/>
                    </a:lnTo>
                    <a:lnTo>
                      <a:pt x="63626" y="638682"/>
                    </a:lnTo>
                    <a:lnTo>
                      <a:pt x="79501" y="671830"/>
                    </a:lnTo>
                    <a:lnTo>
                      <a:pt x="68833" y="709168"/>
                    </a:lnTo>
                    <a:lnTo>
                      <a:pt x="27939" y="709549"/>
                    </a:lnTo>
                    <a:lnTo>
                      <a:pt x="13081" y="736219"/>
                    </a:lnTo>
                    <a:lnTo>
                      <a:pt x="0" y="776605"/>
                    </a:lnTo>
                    <a:lnTo>
                      <a:pt x="38100" y="805814"/>
                    </a:lnTo>
                    <a:lnTo>
                      <a:pt x="33908" y="833374"/>
                    </a:lnTo>
                    <a:lnTo>
                      <a:pt x="47751" y="852677"/>
                    </a:lnTo>
                    <a:lnTo>
                      <a:pt x="75564" y="818007"/>
                    </a:lnTo>
                    <a:lnTo>
                      <a:pt x="127126" y="829056"/>
                    </a:lnTo>
                    <a:lnTo>
                      <a:pt x="132461" y="856361"/>
                    </a:lnTo>
                    <a:lnTo>
                      <a:pt x="86868" y="874776"/>
                    </a:lnTo>
                    <a:lnTo>
                      <a:pt x="42799" y="864615"/>
                    </a:lnTo>
                    <a:lnTo>
                      <a:pt x="47751" y="892556"/>
                    </a:lnTo>
                    <a:lnTo>
                      <a:pt x="33146" y="914273"/>
                    </a:lnTo>
                    <a:lnTo>
                      <a:pt x="64643" y="918844"/>
                    </a:lnTo>
                    <a:lnTo>
                      <a:pt x="75945" y="905382"/>
                    </a:lnTo>
                    <a:lnTo>
                      <a:pt x="118363" y="900811"/>
                    </a:lnTo>
                    <a:lnTo>
                      <a:pt x="118363" y="923798"/>
                    </a:lnTo>
                    <a:lnTo>
                      <a:pt x="191134" y="914273"/>
                    </a:lnTo>
                    <a:lnTo>
                      <a:pt x="207009" y="893063"/>
                    </a:lnTo>
                    <a:lnTo>
                      <a:pt x="239902" y="897127"/>
                    </a:lnTo>
                    <a:lnTo>
                      <a:pt x="249046" y="932942"/>
                    </a:lnTo>
                    <a:lnTo>
                      <a:pt x="276987" y="952881"/>
                    </a:lnTo>
                    <a:lnTo>
                      <a:pt x="309118" y="955928"/>
                    </a:lnTo>
                    <a:lnTo>
                      <a:pt x="309499" y="992759"/>
                    </a:lnTo>
                    <a:lnTo>
                      <a:pt x="339089" y="1001903"/>
                    </a:lnTo>
                    <a:lnTo>
                      <a:pt x="335280" y="1031366"/>
                    </a:lnTo>
                    <a:lnTo>
                      <a:pt x="312927" y="1058672"/>
                    </a:lnTo>
                    <a:lnTo>
                      <a:pt x="278002" y="1081659"/>
                    </a:lnTo>
                    <a:lnTo>
                      <a:pt x="282956" y="1102741"/>
                    </a:lnTo>
                    <a:lnTo>
                      <a:pt x="314706" y="1104900"/>
                    </a:lnTo>
                    <a:lnTo>
                      <a:pt x="367411" y="1034160"/>
                    </a:lnTo>
                    <a:lnTo>
                      <a:pt x="418592" y="1038732"/>
                    </a:lnTo>
                    <a:lnTo>
                      <a:pt x="466344" y="1035685"/>
                    </a:lnTo>
                    <a:lnTo>
                      <a:pt x="524637" y="989710"/>
                    </a:lnTo>
                    <a:lnTo>
                      <a:pt x="588137" y="992759"/>
                    </a:lnTo>
                    <a:lnTo>
                      <a:pt x="635888" y="952881"/>
                    </a:lnTo>
                    <a:lnTo>
                      <a:pt x="659892" y="966723"/>
                    </a:lnTo>
                    <a:lnTo>
                      <a:pt x="635888" y="847089"/>
                    </a:lnTo>
                    <a:lnTo>
                      <a:pt x="651763" y="805814"/>
                    </a:lnTo>
                    <a:lnTo>
                      <a:pt x="639699" y="745998"/>
                    </a:lnTo>
                    <a:lnTo>
                      <a:pt x="626999" y="698245"/>
                    </a:lnTo>
                    <a:lnTo>
                      <a:pt x="630555" y="657098"/>
                    </a:lnTo>
                    <a:lnTo>
                      <a:pt x="658749" y="629538"/>
                    </a:lnTo>
                    <a:lnTo>
                      <a:pt x="683513" y="592708"/>
                    </a:lnTo>
                    <a:lnTo>
                      <a:pt x="725932" y="565150"/>
                    </a:lnTo>
                    <a:lnTo>
                      <a:pt x="759459" y="569721"/>
                    </a:lnTo>
                    <a:lnTo>
                      <a:pt x="768350" y="582930"/>
                    </a:lnTo>
                    <a:lnTo>
                      <a:pt x="797940" y="581659"/>
                    </a:lnTo>
                    <a:lnTo>
                      <a:pt x="800100" y="569721"/>
                    </a:lnTo>
                    <a:lnTo>
                      <a:pt x="828420" y="556006"/>
                    </a:lnTo>
                    <a:lnTo>
                      <a:pt x="849502" y="491870"/>
                    </a:lnTo>
                    <a:lnTo>
                      <a:pt x="895476" y="482726"/>
                    </a:lnTo>
                    <a:lnTo>
                      <a:pt x="950213" y="482726"/>
                    </a:lnTo>
                    <a:lnTo>
                      <a:pt x="1001521" y="461518"/>
                    </a:lnTo>
                    <a:lnTo>
                      <a:pt x="1031113" y="441959"/>
                    </a:lnTo>
                    <a:lnTo>
                      <a:pt x="1029715" y="426084"/>
                    </a:lnTo>
                    <a:lnTo>
                      <a:pt x="1014221" y="410082"/>
                    </a:lnTo>
                    <a:lnTo>
                      <a:pt x="1026921" y="401446"/>
                    </a:lnTo>
                    <a:lnTo>
                      <a:pt x="1046733" y="411352"/>
                    </a:lnTo>
                    <a:lnTo>
                      <a:pt x="1035050" y="386206"/>
                    </a:lnTo>
                    <a:lnTo>
                      <a:pt x="1072133" y="341756"/>
                    </a:lnTo>
                    <a:lnTo>
                      <a:pt x="1151636" y="298831"/>
                    </a:lnTo>
                    <a:lnTo>
                      <a:pt x="1215136" y="268224"/>
                    </a:lnTo>
                    <a:lnTo>
                      <a:pt x="1239900" y="226821"/>
                    </a:lnTo>
                    <a:lnTo>
                      <a:pt x="1303528" y="179324"/>
                    </a:lnTo>
                    <a:lnTo>
                      <a:pt x="1361820" y="153288"/>
                    </a:lnTo>
                    <a:lnTo>
                      <a:pt x="1488947" y="18414"/>
                    </a:lnTo>
                    <a:lnTo>
                      <a:pt x="1473072" y="0"/>
                    </a:lnTo>
                    <a:close/>
                  </a:path>
                </a:pathLst>
              </a:custGeom>
              <a:solidFill>
                <a:srgbClr val="FFD966"/>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85" name="object 327">
                <a:extLst>
                  <a:ext uri="{FF2B5EF4-FFF2-40B4-BE49-F238E27FC236}">
                    <a16:creationId xmlns:a16="http://schemas.microsoft.com/office/drawing/2014/main" id="{D73D568D-E5B3-4129-B3C4-FE1A3D24BE78}"/>
                  </a:ext>
                </a:extLst>
              </p:cNvPr>
              <p:cNvSpPr/>
              <p:nvPr/>
            </p:nvSpPr>
            <p:spPr>
              <a:xfrm>
                <a:off x="2011679" y="4268723"/>
                <a:ext cx="1489075" cy="1104900"/>
              </a:xfrm>
              <a:custGeom>
                <a:avLst/>
                <a:gdLst/>
                <a:ahLst/>
                <a:cxnLst/>
                <a:rect l="l" t="t" r="r" b="b"/>
                <a:pathLst>
                  <a:path w="1489075" h="1104900">
                    <a:moveTo>
                      <a:pt x="1473072" y="0"/>
                    </a:moveTo>
                    <a:lnTo>
                      <a:pt x="1488947" y="18414"/>
                    </a:lnTo>
                    <a:lnTo>
                      <a:pt x="1361820" y="153288"/>
                    </a:lnTo>
                    <a:lnTo>
                      <a:pt x="1303528" y="179324"/>
                    </a:lnTo>
                    <a:lnTo>
                      <a:pt x="1239900" y="226821"/>
                    </a:lnTo>
                    <a:lnTo>
                      <a:pt x="1215136" y="268224"/>
                    </a:lnTo>
                    <a:lnTo>
                      <a:pt x="1151636" y="298831"/>
                    </a:lnTo>
                    <a:lnTo>
                      <a:pt x="1072133" y="341756"/>
                    </a:lnTo>
                    <a:lnTo>
                      <a:pt x="1035050" y="386206"/>
                    </a:lnTo>
                    <a:lnTo>
                      <a:pt x="1046733" y="411352"/>
                    </a:lnTo>
                    <a:lnTo>
                      <a:pt x="1026921" y="401446"/>
                    </a:lnTo>
                    <a:lnTo>
                      <a:pt x="1014221" y="410082"/>
                    </a:lnTo>
                    <a:lnTo>
                      <a:pt x="1029715" y="426084"/>
                    </a:lnTo>
                    <a:lnTo>
                      <a:pt x="1031113" y="441959"/>
                    </a:lnTo>
                    <a:lnTo>
                      <a:pt x="1001521" y="461518"/>
                    </a:lnTo>
                    <a:lnTo>
                      <a:pt x="950213" y="482726"/>
                    </a:lnTo>
                    <a:lnTo>
                      <a:pt x="895476" y="482726"/>
                    </a:lnTo>
                    <a:lnTo>
                      <a:pt x="849502" y="491870"/>
                    </a:lnTo>
                    <a:lnTo>
                      <a:pt x="828420" y="556006"/>
                    </a:lnTo>
                    <a:lnTo>
                      <a:pt x="800100" y="569721"/>
                    </a:lnTo>
                    <a:lnTo>
                      <a:pt x="797940" y="581659"/>
                    </a:lnTo>
                    <a:lnTo>
                      <a:pt x="768350" y="582930"/>
                    </a:lnTo>
                    <a:lnTo>
                      <a:pt x="759459" y="569721"/>
                    </a:lnTo>
                    <a:lnTo>
                      <a:pt x="725932" y="565150"/>
                    </a:lnTo>
                    <a:lnTo>
                      <a:pt x="683513" y="592708"/>
                    </a:lnTo>
                    <a:lnTo>
                      <a:pt x="658749" y="629538"/>
                    </a:lnTo>
                    <a:lnTo>
                      <a:pt x="630555" y="657098"/>
                    </a:lnTo>
                    <a:lnTo>
                      <a:pt x="626999" y="698245"/>
                    </a:lnTo>
                    <a:lnTo>
                      <a:pt x="639699" y="745998"/>
                    </a:lnTo>
                    <a:lnTo>
                      <a:pt x="651763" y="805814"/>
                    </a:lnTo>
                    <a:lnTo>
                      <a:pt x="635888" y="847089"/>
                    </a:lnTo>
                    <a:lnTo>
                      <a:pt x="659892" y="966723"/>
                    </a:lnTo>
                    <a:lnTo>
                      <a:pt x="635888" y="952881"/>
                    </a:lnTo>
                    <a:lnTo>
                      <a:pt x="588137" y="992759"/>
                    </a:lnTo>
                    <a:lnTo>
                      <a:pt x="524637" y="989710"/>
                    </a:lnTo>
                    <a:lnTo>
                      <a:pt x="466344" y="1035685"/>
                    </a:lnTo>
                    <a:lnTo>
                      <a:pt x="418592" y="1038732"/>
                    </a:lnTo>
                    <a:lnTo>
                      <a:pt x="367411" y="1034160"/>
                    </a:lnTo>
                    <a:lnTo>
                      <a:pt x="314706" y="1104900"/>
                    </a:lnTo>
                    <a:lnTo>
                      <a:pt x="282956" y="1102741"/>
                    </a:lnTo>
                    <a:lnTo>
                      <a:pt x="278002" y="1081659"/>
                    </a:lnTo>
                    <a:lnTo>
                      <a:pt x="312927" y="1058672"/>
                    </a:lnTo>
                    <a:lnTo>
                      <a:pt x="335280" y="1031366"/>
                    </a:lnTo>
                    <a:lnTo>
                      <a:pt x="339089" y="1001903"/>
                    </a:lnTo>
                    <a:lnTo>
                      <a:pt x="309499" y="992759"/>
                    </a:lnTo>
                    <a:lnTo>
                      <a:pt x="309439" y="983539"/>
                    </a:lnTo>
                    <a:lnTo>
                      <a:pt x="309308" y="974344"/>
                    </a:lnTo>
                    <a:lnTo>
                      <a:pt x="309177" y="965148"/>
                    </a:lnTo>
                    <a:lnTo>
                      <a:pt x="309118" y="955928"/>
                    </a:lnTo>
                    <a:lnTo>
                      <a:pt x="276987" y="952881"/>
                    </a:lnTo>
                    <a:lnTo>
                      <a:pt x="249046" y="932942"/>
                    </a:lnTo>
                    <a:lnTo>
                      <a:pt x="239902" y="897127"/>
                    </a:lnTo>
                    <a:lnTo>
                      <a:pt x="207009" y="893063"/>
                    </a:lnTo>
                    <a:lnTo>
                      <a:pt x="191134" y="914273"/>
                    </a:lnTo>
                    <a:lnTo>
                      <a:pt x="118363" y="923798"/>
                    </a:lnTo>
                    <a:lnTo>
                      <a:pt x="118363" y="900811"/>
                    </a:lnTo>
                    <a:lnTo>
                      <a:pt x="75945" y="905382"/>
                    </a:lnTo>
                    <a:lnTo>
                      <a:pt x="64643" y="918844"/>
                    </a:lnTo>
                    <a:lnTo>
                      <a:pt x="33146" y="914273"/>
                    </a:lnTo>
                    <a:lnTo>
                      <a:pt x="47751" y="892556"/>
                    </a:lnTo>
                    <a:lnTo>
                      <a:pt x="42799" y="864615"/>
                    </a:lnTo>
                    <a:lnTo>
                      <a:pt x="86868" y="874776"/>
                    </a:lnTo>
                    <a:lnTo>
                      <a:pt x="132461" y="856361"/>
                    </a:lnTo>
                    <a:lnTo>
                      <a:pt x="127126" y="829056"/>
                    </a:lnTo>
                    <a:lnTo>
                      <a:pt x="75564" y="818007"/>
                    </a:lnTo>
                    <a:lnTo>
                      <a:pt x="47751" y="852677"/>
                    </a:lnTo>
                    <a:lnTo>
                      <a:pt x="33908" y="833374"/>
                    </a:lnTo>
                    <a:lnTo>
                      <a:pt x="38100" y="805814"/>
                    </a:lnTo>
                    <a:lnTo>
                      <a:pt x="0" y="776605"/>
                    </a:lnTo>
                    <a:lnTo>
                      <a:pt x="13081" y="736219"/>
                    </a:lnTo>
                    <a:lnTo>
                      <a:pt x="27939" y="709549"/>
                    </a:lnTo>
                    <a:lnTo>
                      <a:pt x="68833" y="709168"/>
                    </a:lnTo>
                    <a:lnTo>
                      <a:pt x="79501" y="671830"/>
                    </a:lnTo>
                    <a:lnTo>
                      <a:pt x="63626" y="638682"/>
                    </a:lnTo>
                    <a:lnTo>
                      <a:pt x="58293" y="610234"/>
                    </a:lnTo>
                    <a:lnTo>
                      <a:pt x="60451" y="567055"/>
                    </a:lnTo>
                    <a:lnTo>
                      <a:pt x="86487" y="543687"/>
                    </a:lnTo>
                    <a:lnTo>
                      <a:pt x="148336" y="542544"/>
                    </a:lnTo>
                    <a:lnTo>
                      <a:pt x="147955" y="540384"/>
                    </a:lnTo>
                    <a:lnTo>
                      <a:pt x="148336" y="540893"/>
                    </a:lnTo>
                    <a:lnTo>
                      <a:pt x="151130" y="543432"/>
                    </a:lnTo>
                    <a:lnTo>
                      <a:pt x="154050" y="546226"/>
                    </a:lnTo>
                    <a:lnTo>
                      <a:pt x="157225" y="548639"/>
                    </a:lnTo>
                    <a:lnTo>
                      <a:pt x="170561" y="552957"/>
                    </a:lnTo>
                    <a:lnTo>
                      <a:pt x="186817" y="558419"/>
                    </a:lnTo>
                    <a:lnTo>
                      <a:pt x="215137" y="558419"/>
                    </a:lnTo>
                    <a:lnTo>
                      <a:pt x="229996" y="554736"/>
                    </a:lnTo>
                    <a:lnTo>
                      <a:pt x="251206" y="552957"/>
                    </a:lnTo>
                    <a:lnTo>
                      <a:pt x="263906" y="559307"/>
                    </a:lnTo>
                    <a:lnTo>
                      <a:pt x="277621" y="551942"/>
                    </a:lnTo>
                    <a:lnTo>
                      <a:pt x="291464" y="548258"/>
                    </a:lnTo>
                    <a:lnTo>
                      <a:pt x="292862" y="544321"/>
                    </a:lnTo>
                    <a:lnTo>
                      <a:pt x="294258" y="540384"/>
                    </a:lnTo>
                    <a:lnTo>
                      <a:pt x="295656" y="536320"/>
                    </a:lnTo>
                    <a:lnTo>
                      <a:pt x="305181" y="532638"/>
                    </a:lnTo>
                    <a:lnTo>
                      <a:pt x="310133" y="530225"/>
                    </a:lnTo>
                    <a:lnTo>
                      <a:pt x="315087" y="527812"/>
                    </a:lnTo>
                    <a:lnTo>
                      <a:pt x="320039" y="525271"/>
                    </a:lnTo>
                    <a:lnTo>
                      <a:pt x="338074" y="525271"/>
                    </a:lnTo>
                    <a:lnTo>
                      <a:pt x="341630" y="526288"/>
                    </a:lnTo>
                    <a:lnTo>
                      <a:pt x="345186" y="527176"/>
                    </a:lnTo>
                    <a:lnTo>
                      <a:pt x="348614" y="528065"/>
                    </a:lnTo>
                    <a:lnTo>
                      <a:pt x="362457" y="525271"/>
                    </a:lnTo>
                    <a:lnTo>
                      <a:pt x="378332" y="532638"/>
                    </a:lnTo>
                    <a:lnTo>
                      <a:pt x="397382" y="530859"/>
                    </a:lnTo>
                    <a:lnTo>
                      <a:pt x="399542" y="525652"/>
                    </a:lnTo>
                    <a:lnTo>
                      <a:pt x="401700" y="520445"/>
                    </a:lnTo>
                    <a:lnTo>
                      <a:pt x="403732" y="515238"/>
                    </a:lnTo>
                    <a:lnTo>
                      <a:pt x="416432" y="523494"/>
                    </a:lnTo>
                    <a:lnTo>
                      <a:pt x="416813" y="519175"/>
                    </a:lnTo>
                    <a:lnTo>
                      <a:pt x="417194" y="514857"/>
                    </a:lnTo>
                    <a:lnTo>
                      <a:pt x="417575" y="510667"/>
                    </a:lnTo>
                    <a:lnTo>
                      <a:pt x="420369" y="507492"/>
                    </a:lnTo>
                    <a:lnTo>
                      <a:pt x="423163" y="504444"/>
                    </a:lnTo>
                    <a:lnTo>
                      <a:pt x="425957" y="501395"/>
                    </a:lnTo>
                    <a:lnTo>
                      <a:pt x="443992" y="498601"/>
                    </a:lnTo>
                    <a:lnTo>
                      <a:pt x="468375" y="502284"/>
                    </a:lnTo>
                    <a:lnTo>
                      <a:pt x="470153" y="498094"/>
                    </a:lnTo>
                    <a:lnTo>
                      <a:pt x="471931" y="493775"/>
                    </a:lnTo>
                    <a:lnTo>
                      <a:pt x="473709" y="489457"/>
                    </a:lnTo>
                    <a:lnTo>
                      <a:pt x="471550" y="485520"/>
                    </a:lnTo>
                    <a:lnTo>
                      <a:pt x="469519" y="481456"/>
                    </a:lnTo>
                    <a:lnTo>
                      <a:pt x="467359" y="477519"/>
                    </a:lnTo>
                    <a:lnTo>
                      <a:pt x="467994" y="469900"/>
                    </a:lnTo>
                    <a:lnTo>
                      <a:pt x="468756" y="462152"/>
                    </a:lnTo>
                    <a:lnTo>
                      <a:pt x="469519" y="454532"/>
                    </a:lnTo>
                    <a:lnTo>
                      <a:pt x="482219" y="443483"/>
                    </a:lnTo>
                    <a:lnTo>
                      <a:pt x="507619" y="444373"/>
                    </a:lnTo>
                    <a:lnTo>
                      <a:pt x="519302" y="436118"/>
                    </a:lnTo>
                    <a:lnTo>
                      <a:pt x="538352" y="433324"/>
                    </a:lnTo>
                    <a:lnTo>
                      <a:pt x="553212" y="427863"/>
                    </a:lnTo>
                    <a:lnTo>
                      <a:pt x="571245" y="420496"/>
                    </a:lnTo>
                    <a:lnTo>
                      <a:pt x="582802" y="423290"/>
                    </a:lnTo>
                    <a:lnTo>
                      <a:pt x="608330" y="431545"/>
                    </a:lnTo>
                    <a:lnTo>
                      <a:pt x="623188" y="419607"/>
                    </a:lnTo>
                    <a:lnTo>
                      <a:pt x="624586" y="414655"/>
                    </a:lnTo>
                    <a:lnTo>
                      <a:pt x="625982" y="409828"/>
                    </a:lnTo>
                    <a:lnTo>
                      <a:pt x="627380" y="404875"/>
                    </a:lnTo>
                    <a:lnTo>
                      <a:pt x="623824" y="400557"/>
                    </a:lnTo>
                    <a:lnTo>
                      <a:pt x="620268" y="396239"/>
                    </a:lnTo>
                    <a:lnTo>
                      <a:pt x="616712" y="392049"/>
                    </a:lnTo>
                    <a:lnTo>
                      <a:pt x="631570" y="380111"/>
                    </a:lnTo>
                    <a:lnTo>
                      <a:pt x="648588" y="365378"/>
                    </a:lnTo>
                    <a:lnTo>
                      <a:pt x="652144" y="368045"/>
                    </a:lnTo>
                    <a:lnTo>
                      <a:pt x="655574" y="370839"/>
                    </a:lnTo>
                    <a:lnTo>
                      <a:pt x="659130" y="373633"/>
                    </a:lnTo>
                    <a:lnTo>
                      <a:pt x="672972" y="379094"/>
                    </a:lnTo>
                    <a:lnTo>
                      <a:pt x="675005" y="384682"/>
                    </a:lnTo>
                    <a:lnTo>
                      <a:pt x="677163" y="390144"/>
                    </a:lnTo>
                    <a:lnTo>
                      <a:pt x="679322" y="395731"/>
                    </a:lnTo>
                    <a:lnTo>
                      <a:pt x="689863" y="403098"/>
                    </a:lnTo>
                    <a:lnTo>
                      <a:pt x="704722" y="406653"/>
                    </a:lnTo>
                    <a:lnTo>
                      <a:pt x="729107" y="408558"/>
                    </a:lnTo>
                    <a:lnTo>
                      <a:pt x="727328" y="403987"/>
                    </a:lnTo>
                    <a:lnTo>
                      <a:pt x="725551" y="399414"/>
                    </a:lnTo>
                    <a:lnTo>
                      <a:pt x="723772" y="394715"/>
                    </a:lnTo>
                    <a:lnTo>
                      <a:pt x="722757" y="389889"/>
                    </a:lnTo>
                    <a:lnTo>
                      <a:pt x="721740" y="384937"/>
                    </a:lnTo>
                    <a:lnTo>
                      <a:pt x="720597" y="380111"/>
                    </a:lnTo>
                    <a:lnTo>
                      <a:pt x="706882" y="383667"/>
                    </a:lnTo>
                    <a:lnTo>
                      <a:pt x="691007" y="376427"/>
                    </a:lnTo>
                    <a:lnTo>
                      <a:pt x="690626" y="371475"/>
                    </a:lnTo>
                    <a:lnTo>
                      <a:pt x="690244" y="366521"/>
                    </a:lnTo>
                    <a:lnTo>
                      <a:pt x="689863" y="361695"/>
                    </a:lnTo>
                    <a:lnTo>
                      <a:pt x="706882" y="362584"/>
                    </a:lnTo>
                    <a:lnTo>
                      <a:pt x="710438" y="358013"/>
                    </a:lnTo>
                    <a:lnTo>
                      <a:pt x="713867" y="353440"/>
                    </a:lnTo>
                    <a:lnTo>
                      <a:pt x="717422" y="348742"/>
                    </a:lnTo>
                    <a:lnTo>
                      <a:pt x="739647" y="357124"/>
                    </a:lnTo>
                    <a:lnTo>
                      <a:pt x="763015" y="362584"/>
                    </a:lnTo>
                    <a:lnTo>
                      <a:pt x="774700" y="369062"/>
                    </a:lnTo>
                    <a:lnTo>
                      <a:pt x="775715" y="362331"/>
                    </a:lnTo>
                    <a:lnTo>
                      <a:pt x="776858" y="355473"/>
                    </a:lnTo>
                    <a:lnTo>
                      <a:pt x="777875" y="348742"/>
                    </a:lnTo>
                    <a:lnTo>
                      <a:pt x="780033" y="345058"/>
                    </a:lnTo>
                    <a:lnTo>
                      <a:pt x="782065" y="341375"/>
                    </a:lnTo>
                    <a:lnTo>
                      <a:pt x="784225" y="337693"/>
                    </a:lnTo>
                    <a:lnTo>
                      <a:pt x="807465" y="340487"/>
                    </a:lnTo>
                    <a:lnTo>
                      <a:pt x="830833" y="334137"/>
                    </a:lnTo>
                    <a:lnTo>
                      <a:pt x="835025" y="319405"/>
                    </a:lnTo>
                    <a:lnTo>
                      <a:pt x="854201" y="314706"/>
                    </a:lnTo>
                    <a:lnTo>
                      <a:pt x="855980" y="312038"/>
                    </a:lnTo>
                    <a:lnTo>
                      <a:pt x="857631" y="309244"/>
                    </a:lnTo>
                    <a:lnTo>
                      <a:pt x="859408" y="306450"/>
                    </a:lnTo>
                    <a:lnTo>
                      <a:pt x="863726" y="307720"/>
                    </a:lnTo>
                    <a:lnTo>
                      <a:pt x="867918" y="308990"/>
                    </a:lnTo>
                    <a:lnTo>
                      <a:pt x="872236" y="310133"/>
                    </a:lnTo>
                    <a:lnTo>
                      <a:pt x="886968" y="300100"/>
                    </a:lnTo>
                    <a:lnTo>
                      <a:pt x="890143" y="296671"/>
                    </a:lnTo>
                    <a:lnTo>
                      <a:pt x="893318" y="293369"/>
                    </a:lnTo>
                    <a:lnTo>
                      <a:pt x="896493" y="289940"/>
                    </a:lnTo>
                    <a:lnTo>
                      <a:pt x="894461" y="287146"/>
                    </a:lnTo>
                    <a:lnTo>
                      <a:pt x="892301" y="284480"/>
                    </a:lnTo>
                    <a:lnTo>
                      <a:pt x="890143" y="281686"/>
                    </a:lnTo>
                    <a:lnTo>
                      <a:pt x="901826" y="264159"/>
                    </a:lnTo>
                    <a:lnTo>
                      <a:pt x="903986" y="259842"/>
                    </a:lnTo>
                    <a:lnTo>
                      <a:pt x="906144" y="255650"/>
                    </a:lnTo>
                    <a:lnTo>
                      <a:pt x="908176" y="251332"/>
                    </a:lnTo>
                    <a:lnTo>
                      <a:pt x="935736" y="235712"/>
                    </a:lnTo>
                    <a:lnTo>
                      <a:pt x="936878" y="232663"/>
                    </a:lnTo>
                    <a:lnTo>
                      <a:pt x="938276" y="230758"/>
                    </a:lnTo>
                    <a:lnTo>
                      <a:pt x="938911" y="226440"/>
                    </a:lnTo>
                    <a:lnTo>
                      <a:pt x="939672" y="210565"/>
                    </a:lnTo>
                    <a:lnTo>
                      <a:pt x="1001521" y="197738"/>
                    </a:lnTo>
                    <a:lnTo>
                      <a:pt x="1040383" y="189992"/>
                    </a:lnTo>
                    <a:lnTo>
                      <a:pt x="1050925" y="157861"/>
                    </a:lnTo>
                    <a:lnTo>
                      <a:pt x="1043813" y="128777"/>
                    </a:lnTo>
                    <a:lnTo>
                      <a:pt x="1072133" y="107314"/>
                    </a:lnTo>
                    <a:lnTo>
                      <a:pt x="1093343" y="162432"/>
                    </a:lnTo>
                    <a:lnTo>
                      <a:pt x="1139189" y="130301"/>
                    </a:lnTo>
                    <a:lnTo>
                      <a:pt x="1178052" y="139445"/>
                    </a:lnTo>
                    <a:lnTo>
                      <a:pt x="1167511" y="93471"/>
                    </a:lnTo>
                    <a:lnTo>
                      <a:pt x="1188720" y="73532"/>
                    </a:lnTo>
                    <a:lnTo>
                      <a:pt x="1225803" y="64388"/>
                    </a:lnTo>
                    <a:lnTo>
                      <a:pt x="1229359" y="36830"/>
                    </a:lnTo>
                    <a:lnTo>
                      <a:pt x="1278762" y="13843"/>
                    </a:lnTo>
                    <a:lnTo>
                      <a:pt x="1308734" y="41401"/>
                    </a:lnTo>
                    <a:lnTo>
                      <a:pt x="1356486" y="64388"/>
                    </a:lnTo>
                    <a:lnTo>
                      <a:pt x="1404111" y="70484"/>
                    </a:lnTo>
                    <a:lnTo>
                      <a:pt x="1427098" y="24511"/>
                    </a:lnTo>
                    <a:lnTo>
                      <a:pt x="1473072" y="0"/>
                    </a:lnTo>
                    <a:close/>
                  </a:path>
                </a:pathLst>
              </a:custGeom>
              <a:ln w="9144">
                <a:solidFill>
                  <a:srgbClr val="000000"/>
                </a:solidFill>
              </a:ln>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86" name="object 328">
                <a:extLst>
                  <a:ext uri="{FF2B5EF4-FFF2-40B4-BE49-F238E27FC236}">
                    <a16:creationId xmlns:a16="http://schemas.microsoft.com/office/drawing/2014/main" id="{E7CDD4F1-50CE-414B-A552-B664D00EA98F}"/>
                  </a:ext>
                </a:extLst>
              </p:cNvPr>
              <p:cNvSpPr/>
              <p:nvPr/>
            </p:nvSpPr>
            <p:spPr>
              <a:xfrm>
                <a:off x="243840" y="6275831"/>
                <a:ext cx="454659" cy="204470"/>
              </a:xfrm>
              <a:custGeom>
                <a:avLst/>
                <a:gdLst/>
                <a:ahLst/>
                <a:cxnLst/>
                <a:rect l="l" t="t" r="r" b="b"/>
                <a:pathLst>
                  <a:path w="454659" h="204470">
                    <a:moveTo>
                      <a:pt x="454151" y="0"/>
                    </a:moveTo>
                    <a:lnTo>
                      <a:pt x="0" y="0"/>
                    </a:lnTo>
                    <a:lnTo>
                      <a:pt x="0" y="204216"/>
                    </a:lnTo>
                    <a:lnTo>
                      <a:pt x="454151" y="204216"/>
                    </a:lnTo>
                    <a:lnTo>
                      <a:pt x="454151" y="0"/>
                    </a:lnTo>
                    <a:close/>
                  </a:path>
                </a:pathLst>
              </a:custGeom>
              <a:solidFill>
                <a:srgbClr val="6FAC46"/>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87" name="object 329">
                <a:extLst>
                  <a:ext uri="{FF2B5EF4-FFF2-40B4-BE49-F238E27FC236}">
                    <a16:creationId xmlns:a16="http://schemas.microsoft.com/office/drawing/2014/main" id="{1698C974-A625-4059-A7EC-055A2BD8F396}"/>
                  </a:ext>
                </a:extLst>
              </p:cNvPr>
              <p:cNvSpPr/>
              <p:nvPr/>
            </p:nvSpPr>
            <p:spPr>
              <a:xfrm>
                <a:off x="2307335" y="6248400"/>
                <a:ext cx="454659" cy="204470"/>
              </a:xfrm>
              <a:custGeom>
                <a:avLst/>
                <a:gdLst/>
                <a:ahLst/>
                <a:cxnLst/>
                <a:rect l="l" t="t" r="r" b="b"/>
                <a:pathLst>
                  <a:path w="454660" h="204470">
                    <a:moveTo>
                      <a:pt x="454151" y="0"/>
                    </a:moveTo>
                    <a:lnTo>
                      <a:pt x="0" y="0"/>
                    </a:lnTo>
                    <a:lnTo>
                      <a:pt x="0" y="204215"/>
                    </a:lnTo>
                    <a:lnTo>
                      <a:pt x="454151" y="204215"/>
                    </a:lnTo>
                    <a:lnTo>
                      <a:pt x="454151" y="0"/>
                    </a:lnTo>
                    <a:close/>
                  </a:path>
                </a:pathLst>
              </a:custGeom>
              <a:solidFill>
                <a:srgbClr val="FFD966"/>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sp>
            <p:nvSpPr>
              <p:cNvPr id="188" name="object 330">
                <a:extLst>
                  <a:ext uri="{FF2B5EF4-FFF2-40B4-BE49-F238E27FC236}">
                    <a16:creationId xmlns:a16="http://schemas.microsoft.com/office/drawing/2014/main" id="{7D31262C-6A22-4F05-987D-56F932CF6F1E}"/>
                  </a:ext>
                </a:extLst>
              </p:cNvPr>
              <p:cNvSpPr/>
              <p:nvPr/>
            </p:nvSpPr>
            <p:spPr>
              <a:xfrm>
                <a:off x="4002024" y="6263639"/>
                <a:ext cx="454659" cy="204470"/>
              </a:xfrm>
              <a:custGeom>
                <a:avLst/>
                <a:gdLst/>
                <a:ahLst/>
                <a:cxnLst/>
                <a:rect l="l" t="t" r="r" b="b"/>
                <a:pathLst>
                  <a:path w="454660" h="204470">
                    <a:moveTo>
                      <a:pt x="454151" y="0"/>
                    </a:moveTo>
                    <a:lnTo>
                      <a:pt x="0" y="0"/>
                    </a:lnTo>
                    <a:lnTo>
                      <a:pt x="0" y="204216"/>
                    </a:lnTo>
                    <a:lnTo>
                      <a:pt x="454151" y="204216"/>
                    </a:lnTo>
                    <a:lnTo>
                      <a:pt x="454151" y="0"/>
                    </a:lnTo>
                    <a:close/>
                  </a:path>
                </a:pathLst>
              </a:custGeom>
              <a:solidFill>
                <a:srgbClr val="F4B083"/>
              </a:solidFill>
            </p:spPr>
            <p:txBody>
              <a:bodyPr wrap="square" lIns="0" tIns="0" rIns="0" bIns="0" rtlCol="0"/>
              <a:lstStyle/>
              <a:p>
                <a:pPr marL="0" marR="0" lvl="0" indent="0" algn="l" defTabSz="914342"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189" name="object 331">
              <a:extLst>
                <a:ext uri="{FF2B5EF4-FFF2-40B4-BE49-F238E27FC236}">
                  <a16:creationId xmlns:a16="http://schemas.microsoft.com/office/drawing/2014/main" id="{4B7B1385-40CD-4F47-BDC4-57EDD855A4E2}"/>
                </a:ext>
              </a:extLst>
            </p:cNvPr>
            <p:cNvSpPr txBox="1"/>
            <p:nvPr/>
          </p:nvSpPr>
          <p:spPr>
            <a:xfrm>
              <a:off x="1110009" y="6117914"/>
              <a:ext cx="1429385" cy="239395"/>
            </a:xfrm>
            <a:prstGeom prst="rect">
              <a:avLst/>
            </a:prstGeom>
          </p:spPr>
          <p:txBody>
            <a:bodyPr vert="horz" wrap="square" lIns="0" tIns="12700" rIns="0" bIns="0" rtlCol="0">
              <a:spAutoFit/>
            </a:bodyPr>
            <a:lstStyle/>
            <a:p>
              <a:pPr marL="12700" marR="0" lvl="0" indent="0" algn="l" defTabSz="914342" rtl="0" eaLnBrk="1" fontAlgn="auto" latinLnBrk="0" hangingPunct="1">
                <a:lnSpc>
                  <a:spcPct val="100000"/>
                </a:lnSpc>
                <a:spcBef>
                  <a:spcPts val="100"/>
                </a:spcBef>
                <a:spcAft>
                  <a:spcPts val="0"/>
                </a:spcAft>
                <a:buClrTx/>
                <a:buSzTx/>
                <a:buFontTx/>
                <a:buNone/>
                <a:tabLst/>
                <a:defRPr/>
              </a:pPr>
              <a:r>
                <a:rPr kumimoji="0" sz="1400" b="0" i="0" u="none" strike="noStrike" kern="1200" cap="none" spc="-55" normalizeH="0" baseline="0" noProof="0" dirty="0">
                  <a:ln>
                    <a:noFill/>
                  </a:ln>
                  <a:solidFill>
                    <a:prstClr val="black"/>
                  </a:solidFill>
                  <a:effectLst/>
                  <a:uLnTx/>
                  <a:uFillTx/>
                  <a:latin typeface="Arimo"/>
                  <a:ea typeface="+mn-ea"/>
                  <a:cs typeface="Arimo"/>
                </a:rPr>
                <a:t>Significant</a:t>
              </a:r>
              <a:r>
                <a:rPr kumimoji="0" sz="1400" b="0" i="0" u="none" strike="noStrike" kern="1200" cap="none" spc="-120" normalizeH="0" baseline="0" noProof="0" dirty="0">
                  <a:ln>
                    <a:noFill/>
                  </a:ln>
                  <a:solidFill>
                    <a:prstClr val="black"/>
                  </a:solidFill>
                  <a:effectLst/>
                  <a:uLnTx/>
                  <a:uFillTx/>
                  <a:latin typeface="Arimo"/>
                  <a:ea typeface="+mn-ea"/>
                  <a:cs typeface="Arimo"/>
                </a:rPr>
                <a:t> </a:t>
              </a:r>
              <a:r>
                <a:rPr kumimoji="0" sz="1400" b="0" i="0" u="none" strike="noStrike" kern="1200" cap="none" spc="-100" normalizeH="0" baseline="0" noProof="0" dirty="0">
                  <a:ln>
                    <a:noFill/>
                  </a:ln>
                  <a:solidFill>
                    <a:prstClr val="black"/>
                  </a:solidFill>
                  <a:effectLst/>
                  <a:uLnTx/>
                  <a:uFillTx/>
                  <a:latin typeface="Arimo"/>
                  <a:ea typeface="+mn-ea"/>
                  <a:cs typeface="Arimo"/>
                </a:rPr>
                <a:t>Progress</a:t>
              </a:r>
              <a:endParaRPr kumimoji="0" sz="1400" b="0" i="0" u="none" strike="noStrike" kern="1200" cap="none" spc="0" normalizeH="0" baseline="0" noProof="0">
                <a:ln>
                  <a:noFill/>
                </a:ln>
                <a:solidFill>
                  <a:prstClr val="black"/>
                </a:solidFill>
                <a:effectLst/>
                <a:uLnTx/>
                <a:uFillTx/>
                <a:latin typeface="Arimo"/>
                <a:ea typeface="+mn-ea"/>
                <a:cs typeface="Arimo"/>
              </a:endParaRPr>
            </a:p>
          </p:txBody>
        </p:sp>
        <p:sp>
          <p:nvSpPr>
            <p:cNvPr id="190" name="object 332">
              <a:extLst>
                <a:ext uri="{FF2B5EF4-FFF2-40B4-BE49-F238E27FC236}">
                  <a16:creationId xmlns:a16="http://schemas.microsoft.com/office/drawing/2014/main" id="{57BE1570-B775-482A-ACDC-ACB54A4C3097}"/>
                </a:ext>
              </a:extLst>
            </p:cNvPr>
            <p:cNvSpPr txBox="1"/>
            <p:nvPr/>
          </p:nvSpPr>
          <p:spPr>
            <a:xfrm>
              <a:off x="3190929" y="6117914"/>
              <a:ext cx="1024255" cy="239395"/>
            </a:xfrm>
            <a:prstGeom prst="rect">
              <a:avLst/>
            </a:prstGeom>
          </p:spPr>
          <p:txBody>
            <a:bodyPr vert="horz" wrap="square" lIns="0" tIns="12700" rIns="0" bIns="0" rtlCol="0">
              <a:spAutoFit/>
            </a:bodyPr>
            <a:lstStyle/>
            <a:p>
              <a:pPr marL="12700" marR="0" lvl="0" indent="0" algn="l" defTabSz="914342" rtl="0" eaLnBrk="1" fontAlgn="auto" latinLnBrk="0" hangingPunct="1">
                <a:lnSpc>
                  <a:spcPct val="100000"/>
                </a:lnSpc>
                <a:spcBef>
                  <a:spcPts val="100"/>
                </a:spcBef>
                <a:spcAft>
                  <a:spcPts val="0"/>
                </a:spcAft>
                <a:buClrTx/>
                <a:buSzTx/>
                <a:buFontTx/>
                <a:buNone/>
                <a:tabLst/>
                <a:defRPr/>
              </a:pPr>
              <a:r>
                <a:rPr kumimoji="0" sz="1400" b="0" i="0" u="none" strike="noStrike" kern="1200" cap="none" spc="-85" normalizeH="0" baseline="0" noProof="0" dirty="0">
                  <a:ln>
                    <a:noFill/>
                  </a:ln>
                  <a:solidFill>
                    <a:prstClr val="black"/>
                  </a:solidFill>
                  <a:effectLst/>
                  <a:uLnTx/>
                  <a:uFillTx/>
                  <a:latin typeface="Arimo"/>
                  <a:ea typeface="+mn-ea"/>
                  <a:cs typeface="Arimo"/>
                </a:rPr>
                <a:t>Slow</a:t>
              </a:r>
              <a:r>
                <a:rPr kumimoji="0" sz="1400" b="0" i="0" u="none" strike="noStrike" kern="1200" cap="none" spc="-140" normalizeH="0" baseline="0" noProof="0" dirty="0">
                  <a:ln>
                    <a:noFill/>
                  </a:ln>
                  <a:solidFill>
                    <a:prstClr val="black"/>
                  </a:solidFill>
                  <a:effectLst/>
                  <a:uLnTx/>
                  <a:uFillTx/>
                  <a:latin typeface="Arimo"/>
                  <a:ea typeface="+mn-ea"/>
                  <a:cs typeface="Arimo"/>
                </a:rPr>
                <a:t> </a:t>
              </a:r>
              <a:r>
                <a:rPr kumimoji="0" sz="1400" b="0" i="0" u="none" strike="noStrike" kern="1200" cap="none" spc="-100" normalizeH="0" baseline="0" noProof="0" dirty="0">
                  <a:ln>
                    <a:noFill/>
                  </a:ln>
                  <a:solidFill>
                    <a:prstClr val="black"/>
                  </a:solidFill>
                  <a:effectLst/>
                  <a:uLnTx/>
                  <a:uFillTx/>
                  <a:latin typeface="Arimo"/>
                  <a:ea typeface="+mn-ea"/>
                  <a:cs typeface="Arimo"/>
                </a:rPr>
                <a:t>Progress</a:t>
              </a:r>
              <a:endParaRPr kumimoji="0" sz="1400" b="0" i="0" u="none" strike="noStrike" kern="1200" cap="none" spc="0" normalizeH="0" baseline="0" noProof="0">
                <a:ln>
                  <a:noFill/>
                </a:ln>
                <a:solidFill>
                  <a:prstClr val="black"/>
                </a:solidFill>
                <a:effectLst/>
                <a:uLnTx/>
                <a:uFillTx/>
                <a:latin typeface="Arimo"/>
                <a:ea typeface="+mn-ea"/>
                <a:cs typeface="Arimo"/>
              </a:endParaRPr>
            </a:p>
          </p:txBody>
        </p:sp>
        <p:sp>
          <p:nvSpPr>
            <p:cNvPr id="191" name="object 333">
              <a:extLst>
                <a:ext uri="{FF2B5EF4-FFF2-40B4-BE49-F238E27FC236}">
                  <a16:creationId xmlns:a16="http://schemas.microsoft.com/office/drawing/2014/main" id="{7B1B75C7-6230-4212-A6A4-E4DF9C4B2E8D}"/>
                </a:ext>
              </a:extLst>
            </p:cNvPr>
            <p:cNvSpPr txBox="1"/>
            <p:nvPr/>
          </p:nvSpPr>
          <p:spPr>
            <a:xfrm>
              <a:off x="4851708" y="6128581"/>
              <a:ext cx="889000" cy="239395"/>
            </a:xfrm>
            <a:prstGeom prst="rect">
              <a:avLst/>
            </a:prstGeom>
          </p:spPr>
          <p:txBody>
            <a:bodyPr vert="horz" wrap="square" lIns="0" tIns="12700" rIns="0" bIns="0" rtlCol="0">
              <a:spAutoFit/>
            </a:bodyPr>
            <a:lstStyle/>
            <a:p>
              <a:pPr marL="12700" marR="0" lvl="0" indent="0" algn="l" defTabSz="914342" rtl="0" eaLnBrk="1" fontAlgn="auto" latinLnBrk="0" hangingPunct="1">
                <a:lnSpc>
                  <a:spcPct val="100000"/>
                </a:lnSpc>
                <a:spcBef>
                  <a:spcPts val="100"/>
                </a:spcBef>
                <a:spcAft>
                  <a:spcPts val="0"/>
                </a:spcAft>
                <a:buClrTx/>
                <a:buSzTx/>
                <a:buFontTx/>
                <a:buNone/>
                <a:tabLst/>
                <a:defRPr/>
              </a:pPr>
              <a:r>
                <a:rPr kumimoji="0" sz="1400" b="0" i="0" u="none" strike="noStrike" kern="1200" cap="none" spc="-75" normalizeH="0" baseline="0" noProof="0" dirty="0">
                  <a:ln>
                    <a:noFill/>
                  </a:ln>
                  <a:solidFill>
                    <a:prstClr val="black"/>
                  </a:solidFill>
                  <a:effectLst/>
                  <a:uLnTx/>
                  <a:uFillTx/>
                  <a:latin typeface="Arimo"/>
                  <a:ea typeface="+mn-ea"/>
                  <a:cs typeface="Arimo"/>
                </a:rPr>
                <a:t>No</a:t>
              </a:r>
              <a:r>
                <a:rPr kumimoji="0" sz="1400" b="0" i="0" u="none" strike="noStrike" kern="1200" cap="none" spc="-145" normalizeH="0" baseline="0" noProof="0" dirty="0">
                  <a:ln>
                    <a:noFill/>
                  </a:ln>
                  <a:solidFill>
                    <a:prstClr val="black"/>
                  </a:solidFill>
                  <a:effectLst/>
                  <a:uLnTx/>
                  <a:uFillTx/>
                  <a:latin typeface="Arimo"/>
                  <a:ea typeface="+mn-ea"/>
                  <a:cs typeface="Arimo"/>
                </a:rPr>
                <a:t> </a:t>
              </a:r>
              <a:r>
                <a:rPr kumimoji="0" sz="1400" b="0" i="0" u="none" strike="noStrike" kern="1200" cap="none" spc="-100" normalizeH="0" baseline="0" noProof="0" dirty="0">
                  <a:ln>
                    <a:noFill/>
                  </a:ln>
                  <a:solidFill>
                    <a:prstClr val="black"/>
                  </a:solidFill>
                  <a:effectLst/>
                  <a:uLnTx/>
                  <a:uFillTx/>
                  <a:latin typeface="Arimo"/>
                  <a:ea typeface="+mn-ea"/>
                  <a:cs typeface="Arimo"/>
                </a:rPr>
                <a:t>Progress</a:t>
              </a:r>
              <a:endParaRPr kumimoji="0" sz="1400" b="0" i="0" u="none" strike="noStrike" kern="1200" cap="none" spc="0" normalizeH="0" baseline="0" noProof="0">
                <a:ln>
                  <a:noFill/>
                </a:ln>
                <a:solidFill>
                  <a:prstClr val="black"/>
                </a:solidFill>
                <a:effectLst/>
                <a:uLnTx/>
                <a:uFillTx/>
                <a:latin typeface="Arimo"/>
                <a:ea typeface="+mn-ea"/>
                <a:cs typeface="Arimo"/>
              </a:endParaRPr>
            </a:p>
          </p:txBody>
        </p:sp>
      </p:grpSp>
      <p:sp>
        <p:nvSpPr>
          <p:cNvPr id="6" name="Rectangle: Rounded Corners 5">
            <a:extLst>
              <a:ext uri="{FF2B5EF4-FFF2-40B4-BE49-F238E27FC236}">
                <a16:creationId xmlns:a16="http://schemas.microsoft.com/office/drawing/2014/main" id="{278303A5-C0E2-4A54-A7B1-A88AF55C6D56}"/>
              </a:ext>
            </a:extLst>
          </p:cNvPr>
          <p:cNvSpPr/>
          <p:nvPr/>
        </p:nvSpPr>
        <p:spPr bwMode="gray">
          <a:xfrm>
            <a:off x="6422572" y="5094242"/>
            <a:ext cx="5371889" cy="159639"/>
          </a:xfrm>
          <a:prstGeom prst="roundRect">
            <a:avLst/>
          </a:prstGeom>
          <a:noFill/>
          <a:ln w="57150" algn="ctr">
            <a:solidFill>
              <a:srgbClr val="FF0000"/>
            </a:solidFill>
            <a:miter lim="800000"/>
            <a:headEnd/>
            <a:tailEnd/>
          </a:ln>
        </p:spPr>
        <p:txBody>
          <a:bodyPr wrap="square" lIns="88900" tIns="88900" rIns="88900" bIns="88900" rtlCol="0" anchor="ctr"/>
          <a:lstStyle/>
          <a:p>
            <a:pPr marL="0" marR="0" lvl="0" indent="0" algn="ctr" defTabSz="914342"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cxnSp>
        <p:nvCxnSpPr>
          <p:cNvPr id="334" name="Straight Arrow Connector 333">
            <a:extLst>
              <a:ext uri="{FF2B5EF4-FFF2-40B4-BE49-F238E27FC236}">
                <a16:creationId xmlns:a16="http://schemas.microsoft.com/office/drawing/2014/main" id="{C21E982A-924D-40D9-B33C-02A1F0D1DA7C}"/>
              </a:ext>
            </a:extLst>
          </p:cNvPr>
          <p:cNvCxnSpPr>
            <a:cxnSpLocks/>
          </p:cNvCxnSpPr>
          <p:nvPr/>
        </p:nvCxnSpPr>
        <p:spPr>
          <a:xfrm>
            <a:off x="4629235" y="3756316"/>
            <a:ext cx="1684184" cy="14334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8" name="TextBox 337">
            <a:extLst>
              <a:ext uri="{FF2B5EF4-FFF2-40B4-BE49-F238E27FC236}">
                <a16:creationId xmlns:a16="http://schemas.microsoft.com/office/drawing/2014/main" id="{668C24D4-BBDE-4B8F-B834-FA50062E3A75}"/>
              </a:ext>
            </a:extLst>
          </p:cNvPr>
          <p:cNvSpPr txBox="1"/>
          <p:nvPr/>
        </p:nvSpPr>
        <p:spPr>
          <a:xfrm>
            <a:off x="6422572" y="6399586"/>
            <a:ext cx="2821636" cy="169277"/>
          </a:xfrm>
          <a:prstGeom prst="rect">
            <a:avLst/>
          </a:prstGeom>
          <a:noFill/>
        </p:spPr>
        <p:txBody>
          <a:bodyPr wrap="square" lIns="0" tIns="0" rIns="0" bIns="0" rtlCol="0">
            <a:spAutoFit/>
          </a:bodyPr>
          <a:lstStyle/>
          <a:p>
            <a:pPr marL="0" marR="0" lvl="0" indent="0" algn="l" defTabSz="914342" rtl="0" eaLnBrk="1" fontAlgn="auto" latinLnBrk="0" hangingPunct="1">
              <a:lnSpc>
                <a:spcPct val="100000"/>
              </a:lnSpc>
              <a:spcBef>
                <a:spcPts val="600"/>
              </a:spcBef>
              <a:spcAft>
                <a:spcPts val="0"/>
              </a:spcAft>
              <a:buClrTx/>
              <a:buSzPct val="100000"/>
              <a:buFontTx/>
              <a:buNone/>
              <a:tabLst/>
              <a:defRPr/>
            </a:pPr>
            <a:r>
              <a:rPr kumimoji="0" lang="en-US" sz="1100" b="0" i="1" u="none" strike="noStrike" kern="1200" cap="none" spc="0" normalizeH="0" baseline="0" noProof="0" dirty="0">
                <a:ln>
                  <a:noFill/>
                </a:ln>
                <a:solidFill>
                  <a:srgbClr val="313131"/>
                </a:solidFill>
                <a:effectLst/>
                <a:uLnTx/>
                <a:uFillTx/>
                <a:latin typeface="Verdana"/>
                <a:ea typeface="+mn-ea"/>
                <a:cs typeface="+mn-cs"/>
              </a:rPr>
              <a:t>All figures in MW</a:t>
            </a:r>
          </a:p>
        </p:txBody>
      </p:sp>
    </p:spTree>
    <p:extLst>
      <p:ext uri="{BB962C8B-B14F-4D97-AF65-F5344CB8AC3E}">
        <p14:creationId xmlns:p14="http://schemas.microsoft.com/office/powerpoint/2010/main" val="3058594843"/>
      </p:ext>
    </p:extLst>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9">
            <a:extLst>
              <a:ext uri="{FF2B5EF4-FFF2-40B4-BE49-F238E27FC236}">
                <a16:creationId xmlns:a16="http://schemas.microsoft.com/office/drawing/2014/main" id="{3B965B31-A42F-432A-9628-2810F7FA8813}"/>
              </a:ext>
            </a:extLst>
          </p:cNvPr>
          <p:cNvGraphicFramePr>
            <a:graphicFrameLocks noGrp="1"/>
          </p:cNvGraphicFramePr>
          <p:nvPr>
            <p:extLst>
              <p:ext uri="{D42A27DB-BD31-4B8C-83A1-F6EECF244321}">
                <p14:modId xmlns:p14="http://schemas.microsoft.com/office/powerpoint/2010/main" val="1385665327"/>
              </p:ext>
            </p:extLst>
          </p:nvPr>
        </p:nvGraphicFramePr>
        <p:xfrm>
          <a:off x="421757" y="910689"/>
          <a:ext cx="11348486" cy="5577840"/>
        </p:xfrm>
        <a:graphic>
          <a:graphicData uri="http://schemas.openxmlformats.org/drawingml/2006/table">
            <a:tbl>
              <a:tblPr firstRow="1" bandRow="1">
                <a:tableStyleId>{00A15C55-8517-42AA-B614-E9B94910E393}</a:tableStyleId>
              </a:tblPr>
              <a:tblGrid>
                <a:gridCol w="472795">
                  <a:extLst>
                    <a:ext uri="{9D8B030D-6E8A-4147-A177-3AD203B41FA5}">
                      <a16:colId xmlns:a16="http://schemas.microsoft.com/office/drawing/2014/main" val="3694550279"/>
                    </a:ext>
                  </a:extLst>
                </a:gridCol>
                <a:gridCol w="1616971">
                  <a:extLst>
                    <a:ext uri="{9D8B030D-6E8A-4147-A177-3AD203B41FA5}">
                      <a16:colId xmlns:a16="http://schemas.microsoft.com/office/drawing/2014/main" val="608444954"/>
                    </a:ext>
                  </a:extLst>
                </a:gridCol>
                <a:gridCol w="1668979">
                  <a:extLst>
                    <a:ext uri="{9D8B030D-6E8A-4147-A177-3AD203B41FA5}">
                      <a16:colId xmlns:a16="http://schemas.microsoft.com/office/drawing/2014/main" val="1229523106"/>
                    </a:ext>
                  </a:extLst>
                </a:gridCol>
                <a:gridCol w="2083773">
                  <a:extLst>
                    <a:ext uri="{9D8B030D-6E8A-4147-A177-3AD203B41FA5}">
                      <a16:colId xmlns:a16="http://schemas.microsoft.com/office/drawing/2014/main" val="191566766"/>
                    </a:ext>
                  </a:extLst>
                </a:gridCol>
                <a:gridCol w="2083773">
                  <a:extLst>
                    <a:ext uri="{9D8B030D-6E8A-4147-A177-3AD203B41FA5}">
                      <a16:colId xmlns:a16="http://schemas.microsoft.com/office/drawing/2014/main" val="3487239413"/>
                    </a:ext>
                  </a:extLst>
                </a:gridCol>
                <a:gridCol w="1906544">
                  <a:extLst>
                    <a:ext uri="{9D8B030D-6E8A-4147-A177-3AD203B41FA5}">
                      <a16:colId xmlns:a16="http://schemas.microsoft.com/office/drawing/2014/main" val="2782877304"/>
                    </a:ext>
                  </a:extLst>
                </a:gridCol>
                <a:gridCol w="1515651">
                  <a:extLst>
                    <a:ext uri="{9D8B030D-6E8A-4147-A177-3AD203B41FA5}">
                      <a16:colId xmlns:a16="http://schemas.microsoft.com/office/drawing/2014/main" val="1984441472"/>
                    </a:ext>
                  </a:extLst>
                </a:gridCol>
              </a:tblGrid>
              <a:tr h="383981">
                <a:tc>
                  <a:txBody>
                    <a:bodyPr/>
                    <a:lstStyle/>
                    <a:p>
                      <a:r>
                        <a:rPr lang="en-US" sz="1200" b="0" dirty="0" err="1"/>
                        <a:t>Sl</a:t>
                      </a:r>
                      <a:r>
                        <a:rPr lang="en-US" sz="1200" b="0" dirty="0"/>
                        <a:t> No</a:t>
                      </a:r>
                      <a:endParaRPr lang="en-US" sz="1200" b="0" dirty="0">
                        <a:latin typeface="+mn-lt"/>
                      </a:endParaRPr>
                    </a:p>
                  </a:txBody>
                  <a:tcPr anchor="ctr"/>
                </a:tc>
                <a:tc>
                  <a:txBody>
                    <a:bodyPr/>
                    <a:lstStyle/>
                    <a:p>
                      <a:r>
                        <a:rPr lang="en-US" sz="1200" b="0" dirty="0"/>
                        <a:t>Particulars</a:t>
                      </a:r>
                      <a:endParaRPr lang="en-US" sz="1200" b="0" dirty="0">
                        <a:latin typeface="+mn-lt"/>
                      </a:endParaRPr>
                    </a:p>
                  </a:txBody>
                  <a:tcPr anchor="ctr"/>
                </a:tc>
                <a:tc>
                  <a:txBody>
                    <a:bodyPr/>
                    <a:lstStyle/>
                    <a:p>
                      <a:pPr algn="ctr"/>
                      <a:r>
                        <a:rPr lang="en-US" sz="1200" b="0" dirty="0"/>
                        <a:t>Gujarat*</a:t>
                      </a:r>
                      <a:endParaRPr lang="en-US" sz="1200" b="0" dirty="0">
                        <a:latin typeface="+mn-lt"/>
                      </a:endParaRPr>
                    </a:p>
                  </a:txBody>
                  <a:tcPr anchor="ctr"/>
                </a:tc>
                <a:tc>
                  <a:txBody>
                    <a:bodyPr/>
                    <a:lstStyle/>
                    <a:p>
                      <a:pPr algn="ctr"/>
                      <a:r>
                        <a:rPr lang="en-US" sz="1200" b="0" dirty="0"/>
                        <a:t>Rajasthan*</a:t>
                      </a:r>
                      <a:endParaRPr lang="en-US" sz="1200" b="0" dirty="0">
                        <a:latin typeface="+mn-lt"/>
                      </a:endParaRPr>
                    </a:p>
                  </a:txBody>
                  <a:tcPr anchor="ctr"/>
                </a:tc>
                <a:tc>
                  <a:txBody>
                    <a:bodyPr/>
                    <a:lstStyle/>
                    <a:p>
                      <a:pPr algn="ctr"/>
                      <a:r>
                        <a:rPr lang="en-US" sz="1200" b="0" dirty="0"/>
                        <a:t>Uttar Pradesh*</a:t>
                      </a:r>
                      <a:endParaRPr lang="en-US" sz="1200" b="0" dirty="0">
                        <a:latin typeface="+mn-lt"/>
                      </a:endParaRPr>
                    </a:p>
                  </a:txBody>
                  <a:tcPr anchor="ctr"/>
                </a:tc>
                <a:tc>
                  <a:txBody>
                    <a:bodyPr/>
                    <a:lstStyle/>
                    <a:p>
                      <a:pPr algn="ctr"/>
                      <a:r>
                        <a:rPr lang="en-US" sz="1200" b="0" dirty="0"/>
                        <a:t>Madhya Pradesh*</a:t>
                      </a:r>
                      <a:endParaRPr lang="en-US" sz="1200" b="0" dirty="0">
                        <a:latin typeface="+mn-lt"/>
                      </a:endParaRPr>
                    </a:p>
                  </a:txBody>
                  <a:tcPr anchor="ctr"/>
                </a:tc>
                <a:tc>
                  <a:txBody>
                    <a:bodyPr/>
                    <a:lstStyle/>
                    <a:p>
                      <a:pPr algn="ctr"/>
                      <a:r>
                        <a:rPr lang="en-US" sz="1200" b="0" dirty="0"/>
                        <a:t>West Bengal**</a:t>
                      </a:r>
                      <a:endParaRPr lang="en-US" sz="1200" b="0" dirty="0">
                        <a:latin typeface="+mn-lt"/>
                      </a:endParaRPr>
                    </a:p>
                  </a:txBody>
                  <a:tcPr anchor="ctr"/>
                </a:tc>
                <a:extLst>
                  <a:ext uri="{0D108BD9-81ED-4DB2-BD59-A6C34878D82A}">
                    <a16:rowId xmlns:a16="http://schemas.microsoft.com/office/drawing/2014/main" val="273414995"/>
                  </a:ext>
                </a:extLst>
              </a:tr>
              <a:tr h="691166">
                <a:tc>
                  <a:txBody>
                    <a:bodyPr/>
                    <a:lstStyle/>
                    <a:p>
                      <a:pPr algn="ctr"/>
                      <a:r>
                        <a:rPr lang="en-US" sz="1200" b="0" dirty="0"/>
                        <a:t>1</a:t>
                      </a:r>
                      <a:endParaRPr lang="en-US" sz="1200" b="0" dirty="0">
                        <a:latin typeface="+mn-lt"/>
                      </a:endParaRPr>
                    </a:p>
                  </a:txBody>
                  <a:tcPr anchor="ctr"/>
                </a:tc>
                <a:tc>
                  <a:txBody>
                    <a:bodyPr/>
                    <a:lstStyle/>
                    <a:p>
                      <a:pPr marL="56515" algn="l">
                        <a:lnSpc>
                          <a:spcPts val="2285"/>
                        </a:lnSpc>
                      </a:pPr>
                      <a:r>
                        <a:rPr sz="1200" b="0" spc="-60" dirty="0">
                          <a:solidFill>
                            <a:schemeClr val="tx1"/>
                          </a:solidFill>
                        </a:rPr>
                        <a:t>Implementing</a:t>
                      </a:r>
                      <a:r>
                        <a:rPr sz="1200" b="0" spc="-105" dirty="0">
                          <a:solidFill>
                            <a:schemeClr val="tx1"/>
                          </a:solidFill>
                        </a:rPr>
                        <a:t> </a:t>
                      </a:r>
                      <a:r>
                        <a:rPr sz="1200" b="0" spc="-130" dirty="0">
                          <a:solidFill>
                            <a:schemeClr val="tx1"/>
                          </a:solidFill>
                        </a:rPr>
                        <a:t>agency</a:t>
                      </a:r>
                      <a:r>
                        <a:rPr lang="en-US" sz="1200" b="0" spc="-130" dirty="0">
                          <a:solidFill>
                            <a:schemeClr val="tx1"/>
                          </a:solidFill>
                        </a:rPr>
                        <a:t>/DISCOMs</a:t>
                      </a:r>
                      <a:endParaRPr sz="1200" b="0" dirty="0">
                        <a:solidFill>
                          <a:schemeClr val="tx1"/>
                        </a:solidFill>
                        <a:latin typeface="+mn-lt"/>
                        <a:cs typeface="Arimo"/>
                      </a:endParaRPr>
                    </a:p>
                  </a:txBody>
                  <a:tcPr marL="0" marR="0" marT="0" marB="0" anchor="ctr"/>
                </a:tc>
                <a:tc>
                  <a:txBody>
                    <a:bodyPr/>
                    <a:lstStyle/>
                    <a:p>
                      <a:r>
                        <a:rPr lang="en-US" sz="1200" b="0" dirty="0"/>
                        <a:t>MGVCL, UGVCL, PGVCL,  DGVCL, Torrent (Surat), Torrent ( </a:t>
                      </a:r>
                      <a:r>
                        <a:rPr lang="en-US" sz="1200" b="0" dirty="0" err="1"/>
                        <a:t>Ahmd</a:t>
                      </a:r>
                      <a:r>
                        <a:rPr lang="en-US" sz="1200" b="0" dirty="0"/>
                        <a:t>)</a:t>
                      </a:r>
                      <a:endParaRPr lang="en-US" sz="1200" b="0" dirty="0">
                        <a:latin typeface="+mn-lt"/>
                      </a:endParaRPr>
                    </a:p>
                  </a:txBody>
                  <a:tcPr anchor="ctr"/>
                </a:tc>
                <a:tc>
                  <a:txBody>
                    <a:bodyPr/>
                    <a:lstStyle/>
                    <a:p>
                      <a:r>
                        <a:rPr lang="en-US" sz="1200" b="0" dirty="0"/>
                        <a:t>AVVNL, </a:t>
                      </a:r>
                      <a:r>
                        <a:rPr lang="en-US" sz="1200" b="0" dirty="0" err="1"/>
                        <a:t>JdVVNL</a:t>
                      </a:r>
                      <a:r>
                        <a:rPr lang="en-US" sz="1200" b="0" dirty="0"/>
                        <a:t>, JVVNL</a:t>
                      </a:r>
                      <a:endParaRPr lang="en-US" sz="1200" b="0" dirty="0">
                        <a:latin typeface="+mn-lt"/>
                      </a:endParaRPr>
                    </a:p>
                  </a:txBody>
                  <a:tcPr anchor="ctr"/>
                </a:tc>
                <a:tc>
                  <a:txBody>
                    <a:bodyPr/>
                    <a:lstStyle/>
                    <a:p>
                      <a:pPr algn="ctr"/>
                      <a:r>
                        <a:rPr lang="en-US" sz="1200" b="0" dirty="0"/>
                        <a:t>DVVNL,</a:t>
                      </a:r>
                    </a:p>
                    <a:p>
                      <a:pPr algn="ctr"/>
                      <a:r>
                        <a:rPr lang="en-US" sz="1200" b="0" dirty="0"/>
                        <a:t>PVVNL,</a:t>
                      </a:r>
                    </a:p>
                    <a:p>
                      <a:pPr algn="ctr"/>
                      <a:r>
                        <a:rPr lang="en-US" sz="1200" b="0" dirty="0" err="1"/>
                        <a:t>PuVVNL</a:t>
                      </a:r>
                      <a:r>
                        <a:rPr lang="en-US" sz="1200" b="0" dirty="0"/>
                        <a:t>,</a:t>
                      </a:r>
                    </a:p>
                    <a:p>
                      <a:pPr algn="ctr"/>
                      <a:r>
                        <a:rPr lang="en-US" sz="1200" b="0" dirty="0"/>
                        <a:t>MVVNL</a:t>
                      </a:r>
                      <a:endParaRPr lang="en-US" sz="1200" b="0" dirty="0">
                        <a:latin typeface="+mn-lt"/>
                      </a:endParaRPr>
                    </a:p>
                  </a:txBody>
                  <a:tcPr anchor="ctr"/>
                </a:tc>
                <a:tc>
                  <a:txBody>
                    <a:bodyPr/>
                    <a:lstStyle/>
                    <a:p>
                      <a:pPr algn="ctr" defTabSz="1716088"/>
                      <a:r>
                        <a:rPr lang="en-US" sz="1200" b="0" dirty="0"/>
                        <a:t>MPMKVVCL, </a:t>
                      </a:r>
                      <a:r>
                        <a:rPr lang="en-US" sz="1200" b="0" dirty="0" err="1"/>
                        <a:t>MPPsKVVCL</a:t>
                      </a:r>
                      <a:r>
                        <a:rPr lang="en-US" sz="1200" b="0" dirty="0"/>
                        <a:t>, </a:t>
                      </a:r>
                      <a:r>
                        <a:rPr lang="en-US" sz="1200" b="0" dirty="0" err="1"/>
                        <a:t>MPPoKVVCL</a:t>
                      </a:r>
                      <a:endParaRPr lang="en-US" sz="1200" b="0" dirty="0">
                        <a:latin typeface="+mn-lt"/>
                      </a:endParaRPr>
                    </a:p>
                  </a:txBody>
                  <a:tcPr anchor="ctr"/>
                </a:tc>
                <a:tc>
                  <a:txBody>
                    <a:bodyPr/>
                    <a:lstStyle/>
                    <a:p>
                      <a:pPr marL="4445" marR="0" lvl="0" indent="0" algn="ctr" defTabSz="1219231" rtl="0" eaLnBrk="1" fontAlgn="auto" latinLnBrk="0" hangingPunct="1">
                        <a:lnSpc>
                          <a:spcPct val="100000"/>
                        </a:lnSpc>
                        <a:spcBef>
                          <a:spcPts val="245"/>
                        </a:spcBef>
                        <a:spcAft>
                          <a:spcPts val="0"/>
                        </a:spcAft>
                        <a:buClrTx/>
                        <a:buSzTx/>
                        <a:buFontTx/>
                        <a:buNone/>
                        <a:tabLst/>
                        <a:defRPr/>
                      </a:pPr>
                      <a:r>
                        <a:rPr lang="en-US" sz="1200" b="0" kern="1200" spc="-285" dirty="0">
                          <a:solidFill>
                            <a:schemeClr val="dk1"/>
                          </a:solidFill>
                        </a:rPr>
                        <a:t>W  B  S  E  D C  L</a:t>
                      </a:r>
                      <a:endParaRPr lang="en-US" sz="1200" b="0" kern="1200" dirty="0">
                        <a:solidFill>
                          <a:schemeClr val="dk1"/>
                        </a:solidFill>
                        <a:latin typeface="+mn-lt"/>
                        <a:ea typeface="+mn-ea"/>
                        <a:cs typeface="Arimo"/>
                      </a:endParaRPr>
                    </a:p>
                  </a:txBody>
                  <a:tcPr marL="0" marR="0" marT="31115" marB="0" anchor="ctr"/>
                </a:tc>
                <a:extLst>
                  <a:ext uri="{0D108BD9-81ED-4DB2-BD59-A6C34878D82A}">
                    <a16:rowId xmlns:a16="http://schemas.microsoft.com/office/drawing/2014/main" val="2517311248"/>
                  </a:ext>
                </a:extLst>
              </a:tr>
              <a:tr h="1459128">
                <a:tc>
                  <a:txBody>
                    <a:bodyPr/>
                    <a:lstStyle/>
                    <a:p>
                      <a:pPr algn="ctr"/>
                      <a:r>
                        <a:rPr lang="en-US" sz="1200" b="0" dirty="0"/>
                        <a:t>2</a:t>
                      </a:r>
                      <a:endParaRPr lang="en-US" sz="1200" b="0" dirty="0">
                        <a:latin typeface="+mn-lt"/>
                      </a:endParaRPr>
                    </a:p>
                  </a:txBody>
                  <a:tcPr anchor="ctr"/>
                </a:tc>
                <a:tc>
                  <a:txBody>
                    <a:bodyPr/>
                    <a:lstStyle/>
                    <a:p>
                      <a:pPr marL="59055" algn="l">
                        <a:lnSpc>
                          <a:spcPts val="2285"/>
                        </a:lnSpc>
                      </a:pPr>
                      <a:r>
                        <a:rPr sz="1200" b="0" spc="-110" dirty="0">
                          <a:solidFill>
                            <a:schemeClr val="tx1"/>
                          </a:solidFill>
                        </a:rPr>
                        <a:t>Capacity</a:t>
                      </a:r>
                      <a:r>
                        <a:rPr sz="1200" b="0" spc="-114" dirty="0">
                          <a:solidFill>
                            <a:schemeClr val="tx1"/>
                          </a:solidFill>
                        </a:rPr>
                        <a:t> </a:t>
                      </a:r>
                      <a:r>
                        <a:rPr sz="1200" b="0" spc="-70" dirty="0">
                          <a:solidFill>
                            <a:schemeClr val="tx1"/>
                          </a:solidFill>
                        </a:rPr>
                        <a:t>allocated</a:t>
                      </a:r>
                      <a:endParaRPr sz="1200" b="0" dirty="0">
                        <a:solidFill>
                          <a:schemeClr val="tx1"/>
                        </a:solidFill>
                        <a:latin typeface="+mn-lt"/>
                        <a:cs typeface="Arimo"/>
                      </a:endParaRPr>
                    </a:p>
                  </a:txBody>
                  <a:tcPr marL="0" marR="0" marT="0" marB="0" anchor="ctr"/>
                </a:tc>
                <a:tc>
                  <a:txBody>
                    <a:bodyPr/>
                    <a:lstStyle/>
                    <a:p>
                      <a:r>
                        <a:rPr lang="en-US" sz="1200" b="0" dirty="0"/>
                        <a:t>FY-2019-20 :- 440 MW; FY-2020-21 :- 750 MW</a:t>
                      </a:r>
                      <a:endParaRPr lang="en-US" sz="1200" b="0" dirty="0">
                        <a:latin typeface="+mn-lt"/>
                      </a:endParaRPr>
                    </a:p>
                  </a:txBody>
                  <a:tcPr anchor="ctr"/>
                </a:tc>
                <a:tc>
                  <a:txBody>
                    <a:bodyPr/>
                    <a:lstStyle/>
                    <a:p>
                      <a:r>
                        <a:rPr lang="en-US" sz="1200" b="0" dirty="0"/>
                        <a:t>5 MW, 15 MW and 25 MW respectively for AVVNL, </a:t>
                      </a:r>
                      <a:r>
                        <a:rPr lang="en-US" sz="1200" b="0" dirty="0" err="1"/>
                        <a:t>JdVVNL</a:t>
                      </a:r>
                      <a:r>
                        <a:rPr lang="en-US" sz="1200" b="0" dirty="0"/>
                        <a:t> and JVVNL (</a:t>
                      </a:r>
                      <a:r>
                        <a:rPr lang="en-US" sz="1200" b="0" dirty="0" err="1"/>
                        <a:t>upto</a:t>
                      </a:r>
                      <a:r>
                        <a:rPr lang="en-US" sz="1200" b="0" dirty="0"/>
                        <a:t> Dec ‘21; extension request applied)</a:t>
                      </a:r>
                      <a:endParaRPr lang="en-US" sz="1200" b="0" dirty="0">
                        <a:latin typeface="+mn-lt"/>
                      </a:endParaRPr>
                    </a:p>
                  </a:txBody>
                  <a:tcPr anchor="ctr"/>
                </a:tc>
                <a:tc>
                  <a:txBody>
                    <a:bodyPr/>
                    <a:lstStyle/>
                    <a:p>
                      <a:r>
                        <a:rPr lang="en-US" sz="1200" b="0" dirty="0"/>
                        <a:t>For FY 19-20, 11 MW, 12 MW, 10 MW and 19 MW for DVVNL, PVVNL, </a:t>
                      </a:r>
                      <a:r>
                        <a:rPr lang="en-US" sz="1200" b="0" dirty="0" err="1"/>
                        <a:t>PuVVNL</a:t>
                      </a:r>
                      <a:r>
                        <a:rPr lang="en-US" sz="1200" b="0" dirty="0"/>
                        <a:t>, MVVNL respectively</a:t>
                      </a:r>
                    </a:p>
                    <a:p>
                      <a:endParaRPr lang="en-US" sz="1200" b="0" dirty="0"/>
                    </a:p>
                    <a:p>
                      <a:r>
                        <a:rPr lang="en-US" sz="1200" b="0" dirty="0"/>
                        <a:t>5 MW for each DISCOM (exception: 20 MW for MVVNL) in FY 21-22</a:t>
                      </a:r>
                      <a:endParaRPr lang="en-US" sz="1200" b="0" dirty="0">
                        <a:latin typeface="+mn-lt"/>
                      </a:endParaRPr>
                    </a:p>
                  </a:txBody>
                  <a:tcPr anchor="ctr"/>
                </a:tc>
                <a:tc>
                  <a:txBody>
                    <a:bodyPr/>
                    <a:lstStyle/>
                    <a:p>
                      <a:pPr algn="ctr"/>
                      <a:r>
                        <a:rPr lang="en-US" sz="1200" b="0" dirty="0"/>
                        <a:t>45 MW in FY 19-20</a:t>
                      </a:r>
                      <a:endParaRPr lang="en-US" sz="1200" b="0" dirty="0">
                        <a:latin typeface="+mn-lt"/>
                      </a:endParaRPr>
                    </a:p>
                  </a:txBody>
                  <a:tcPr anchor="ctr"/>
                </a:tc>
                <a:tc>
                  <a:txBody>
                    <a:bodyPr/>
                    <a:lstStyle/>
                    <a:p>
                      <a:pPr marL="0" marR="0" lvl="0" indent="0" algn="ctr" rtl="0">
                        <a:spcBef>
                          <a:spcPts val="0"/>
                        </a:spcBef>
                        <a:spcAft>
                          <a:spcPts val="0"/>
                        </a:spcAft>
                        <a:buNone/>
                      </a:pPr>
                      <a:r>
                        <a:rPr lang="en-US" sz="1200" b="0" dirty="0">
                          <a:sym typeface="Arial"/>
                        </a:rPr>
                        <a:t>FY 2019-20:</a:t>
                      </a:r>
                      <a:r>
                        <a:rPr lang="en-US" sz="1200" b="0" dirty="0">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lc="http://schemas.openxmlformats.org/drawingml/2006/lockedCanvas" textRoundtripDataId="16"/>
                            </a:ext>
                          </a:extLst>
                        </a:rPr>
                        <a:t>5MW</a:t>
                      </a:r>
                      <a:r>
                        <a:rPr lang="en-US" sz="1200" b="0" u="none" strike="noStrike" cap="none" dirty="0">
                          <a:sym typeface="Arial"/>
                        </a:rPr>
                        <a:t> </a:t>
                      </a:r>
                      <a:endParaRPr lang="en-US" sz="1200" b="0" dirty="0"/>
                    </a:p>
                    <a:p>
                      <a:pPr marL="0" marR="0" lvl="0" indent="0" algn="ctr" rtl="0">
                        <a:spcBef>
                          <a:spcPts val="0"/>
                        </a:spcBef>
                        <a:spcAft>
                          <a:spcPts val="0"/>
                        </a:spcAft>
                        <a:buNone/>
                      </a:pPr>
                      <a:r>
                        <a:rPr lang="en-US" sz="1200" b="0" u="none" strike="noStrike" cap="none" dirty="0">
                          <a:sym typeface="Arial"/>
                        </a:rPr>
                        <a:t>FY 202</a:t>
                      </a:r>
                      <a:r>
                        <a:rPr lang="en-US" sz="1200" b="0" dirty="0">
                          <a:sym typeface="Arial"/>
                        </a:rPr>
                        <a:t>0</a:t>
                      </a:r>
                      <a:r>
                        <a:rPr lang="en-US" sz="1200" b="0" u="none" strike="noStrike" cap="none" dirty="0">
                          <a:sym typeface="Arial"/>
                        </a:rPr>
                        <a:t>-2</a:t>
                      </a:r>
                      <a:r>
                        <a:rPr lang="en-US" sz="1200" b="0" dirty="0">
                          <a:sym typeface="Arial"/>
                        </a:rPr>
                        <a:t>1</a:t>
                      </a:r>
                      <a:r>
                        <a:rPr lang="en-US" sz="1200" b="0" u="none" strike="noStrike" cap="none" dirty="0">
                          <a:sym typeface="Arial"/>
                        </a:rPr>
                        <a:t>: 50 MW</a:t>
                      </a:r>
                    </a:p>
                    <a:p>
                      <a:pPr marL="0" marR="0" lvl="0" indent="0" algn="ctr" rtl="0">
                        <a:spcBef>
                          <a:spcPts val="0"/>
                        </a:spcBef>
                        <a:spcAft>
                          <a:spcPts val="0"/>
                        </a:spcAft>
                        <a:buNone/>
                      </a:pPr>
                      <a:r>
                        <a:rPr lang="en-US" sz="1200" b="0" dirty="0">
                          <a:sym typeface="Arial"/>
                        </a:rPr>
                        <a:t>FY 2021-22:10 MW</a:t>
                      </a:r>
                      <a:endParaRPr lang="en-US" sz="1200" b="0" u="none" strike="noStrike" cap="none" dirty="0">
                        <a:solidFill>
                          <a:schemeClr val="lt1"/>
                        </a:solidFill>
                        <a:latin typeface="+mn-lt"/>
                        <a:ea typeface="Arial"/>
                        <a:cs typeface="Arial"/>
                        <a:sym typeface="Arial"/>
                      </a:endParaRPr>
                    </a:p>
                  </a:txBody>
                  <a:tcPr marL="0" marR="0" marT="27940" marB="0" anchor="ctr"/>
                </a:tc>
                <a:extLst>
                  <a:ext uri="{0D108BD9-81ED-4DB2-BD59-A6C34878D82A}">
                    <a16:rowId xmlns:a16="http://schemas.microsoft.com/office/drawing/2014/main" val="851272834"/>
                  </a:ext>
                </a:extLst>
              </a:tr>
              <a:tr h="1459128">
                <a:tc>
                  <a:txBody>
                    <a:bodyPr/>
                    <a:lstStyle/>
                    <a:p>
                      <a:pPr algn="ctr"/>
                      <a:r>
                        <a:rPr lang="en-US" sz="1200" b="0" dirty="0"/>
                        <a:t>3</a:t>
                      </a:r>
                      <a:endParaRPr lang="en-US" sz="1200" b="0" dirty="0">
                        <a:latin typeface="+mn-lt"/>
                      </a:endParaRPr>
                    </a:p>
                  </a:txBody>
                  <a:tcPr anchor="ctr"/>
                </a:tc>
                <a:tc>
                  <a:txBody>
                    <a:bodyPr/>
                    <a:lstStyle/>
                    <a:p>
                      <a:pPr marL="60960" algn="l">
                        <a:lnSpc>
                          <a:spcPts val="2290"/>
                        </a:lnSpc>
                      </a:pPr>
                      <a:r>
                        <a:rPr sz="1200" b="0" spc="-110" dirty="0">
                          <a:solidFill>
                            <a:schemeClr val="tx1"/>
                          </a:solidFill>
                        </a:rPr>
                        <a:t>Capacity</a:t>
                      </a:r>
                      <a:r>
                        <a:rPr sz="1200" b="0" spc="-114" dirty="0">
                          <a:solidFill>
                            <a:schemeClr val="tx1"/>
                          </a:solidFill>
                        </a:rPr>
                        <a:t> </a:t>
                      </a:r>
                      <a:r>
                        <a:rPr sz="1200" b="0" spc="-55" dirty="0">
                          <a:solidFill>
                            <a:schemeClr val="tx1"/>
                          </a:solidFill>
                        </a:rPr>
                        <a:t>tendered</a:t>
                      </a:r>
                      <a:endParaRPr sz="1200" b="0" dirty="0">
                        <a:solidFill>
                          <a:schemeClr val="tx1"/>
                        </a:solidFill>
                        <a:latin typeface="+mn-lt"/>
                        <a:cs typeface="Arimo"/>
                      </a:endParaRPr>
                    </a:p>
                  </a:txBody>
                  <a:tcPr marL="0" marR="0" marT="0" marB="0" anchor="ctr"/>
                </a:tc>
                <a:tc>
                  <a:txBody>
                    <a:bodyPr/>
                    <a:lstStyle/>
                    <a:p>
                      <a:r>
                        <a:rPr lang="en-US" sz="1200" b="0" dirty="0"/>
                        <a:t>Tender-I :- 600MW in FY 19-20 &amp; Tender-II :- 600MW in FY 20-21</a:t>
                      </a:r>
                      <a:endParaRPr lang="en-US" sz="1200" b="0" dirty="0">
                        <a:latin typeface="+mn-lt"/>
                      </a:endParaRPr>
                    </a:p>
                  </a:txBody>
                  <a:tcPr anchor="ctr"/>
                </a:tc>
                <a:tc>
                  <a:txBody>
                    <a:bodyPr/>
                    <a:lstStyle/>
                    <a:p>
                      <a:r>
                        <a:rPr lang="en-US" sz="1200" b="0" dirty="0"/>
                        <a:t>5 MW, 15 MW and 25 MW respectively for AVVNL, </a:t>
                      </a:r>
                      <a:r>
                        <a:rPr lang="en-US" sz="1200" b="0" dirty="0" err="1"/>
                        <a:t>JdVVNL</a:t>
                      </a:r>
                      <a:r>
                        <a:rPr lang="en-US" sz="1200" b="0" dirty="0"/>
                        <a:t> and JVVNL through RREC</a:t>
                      </a:r>
                      <a:endParaRPr lang="en-US" sz="1200" b="0" dirty="0">
                        <a:latin typeface="+mn-lt"/>
                      </a:endParaRPr>
                    </a:p>
                  </a:txBody>
                  <a:tcPr anchor="ctr"/>
                </a:tc>
                <a:tc>
                  <a:txBody>
                    <a:bodyPr/>
                    <a:lstStyle/>
                    <a:p>
                      <a:pPr marL="12065" marR="5080" algn="ctr">
                        <a:lnSpc>
                          <a:spcPct val="100000"/>
                        </a:lnSpc>
                        <a:spcBef>
                          <a:spcPts val="105"/>
                        </a:spcBef>
                      </a:pPr>
                      <a:r>
                        <a:rPr lang="en-US" sz="1200" b="0" dirty="0"/>
                        <a:t>Tender floated combined by UPNEDA  for all </a:t>
                      </a:r>
                      <a:r>
                        <a:rPr lang="en-US" sz="1200" b="0" dirty="0" err="1"/>
                        <a:t>Discoms</a:t>
                      </a:r>
                      <a:r>
                        <a:rPr lang="en-US" sz="1200" b="0" dirty="0"/>
                        <a:t> in FY 20 and rate discovered   and  projects being implemented. For allocation made in FY  22 tender under finalization</a:t>
                      </a:r>
                      <a:endParaRPr lang="en-US" sz="1200" b="0" dirty="0">
                        <a:latin typeface="+mn-lt"/>
                        <a:cs typeface="Arimo"/>
                      </a:endParaRPr>
                    </a:p>
                  </a:txBody>
                  <a:tcPr anchor="ctr"/>
                </a:tc>
                <a:tc>
                  <a:txBody>
                    <a:bodyPr/>
                    <a:lstStyle/>
                    <a:p>
                      <a:pPr algn="ctr"/>
                      <a:r>
                        <a:rPr lang="en-US" sz="1200" b="0" dirty="0"/>
                        <a:t>40.67 MW</a:t>
                      </a:r>
                      <a:endParaRPr lang="en-US" sz="1200" b="0" dirty="0">
                        <a:latin typeface="+mn-lt"/>
                      </a:endParaRPr>
                    </a:p>
                  </a:txBody>
                  <a:tcPr anchor="ctr"/>
                </a:tc>
                <a:tc>
                  <a:txBody>
                    <a:bodyPr/>
                    <a:lstStyle/>
                    <a:p>
                      <a:pPr marL="3810" algn="ctr">
                        <a:lnSpc>
                          <a:spcPct val="100000"/>
                        </a:lnSpc>
                        <a:spcBef>
                          <a:spcPts val="5"/>
                        </a:spcBef>
                      </a:pPr>
                      <a:r>
                        <a:rPr lang="en-US" sz="1200" b="0" u="none" strike="noStrike" cap="none" dirty="0">
                          <a:sym typeface="Arial"/>
                        </a:rPr>
                        <a:t>FY 202</a:t>
                      </a:r>
                      <a:r>
                        <a:rPr lang="en-US" sz="1200" b="0" dirty="0">
                          <a:sym typeface="Arial"/>
                        </a:rPr>
                        <a:t>1</a:t>
                      </a:r>
                      <a:r>
                        <a:rPr lang="en-US" sz="1200" b="0" u="none" strike="noStrike" cap="none" dirty="0">
                          <a:sym typeface="Arial"/>
                        </a:rPr>
                        <a:t>-22: 50MW</a:t>
                      </a:r>
                      <a:endParaRPr sz="1200" b="0" dirty="0">
                        <a:solidFill>
                          <a:srgbClr val="DA291C"/>
                        </a:solidFill>
                        <a:latin typeface="+mn-lt"/>
                        <a:cs typeface="Arimo"/>
                      </a:endParaRPr>
                    </a:p>
                  </a:txBody>
                  <a:tcPr marL="0" marR="0" marT="635" marB="0" anchor="ctr"/>
                </a:tc>
                <a:extLst>
                  <a:ext uri="{0D108BD9-81ED-4DB2-BD59-A6C34878D82A}">
                    <a16:rowId xmlns:a16="http://schemas.microsoft.com/office/drawing/2014/main" val="1116861126"/>
                  </a:ext>
                </a:extLst>
              </a:tr>
              <a:tr h="691166">
                <a:tc>
                  <a:txBody>
                    <a:bodyPr/>
                    <a:lstStyle/>
                    <a:p>
                      <a:pPr algn="ctr"/>
                      <a:r>
                        <a:rPr lang="en-US" sz="1200" b="0" dirty="0"/>
                        <a:t>4</a:t>
                      </a:r>
                      <a:endParaRPr lang="en-US" sz="1200" b="0" dirty="0">
                        <a:latin typeface="+mn-lt"/>
                      </a:endParaRPr>
                    </a:p>
                  </a:txBody>
                  <a:tcPr anchor="ctr"/>
                </a:tc>
                <a:tc>
                  <a:txBody>
                    <a:bodyPr/>
                    <a:lstStyle/>
                    <a:p>
                      <a:pPr marL="64769" algn="l">
                        <a:lnSpc>
                          <a:spcPts val="2285"/>
                        </a:lnSpc>
                      </a:pPr>
                      <a:r>
                        <a:rPr sz="1200" b="0" spc="-110" dirty="0">
                          <a:solidFill>
                            <a:schemeClr val="tx1"/>
                          </a:solidFill>
                        </a:rPr>
                        <a:t>Empaneled </a:t>
                      </a:r>
                      <a:r>
                        <a:rPr sz="1200" b="0" spc="-95" dirty="0">
                          <a:solidFill>
                            <a:schemeClr val="tx1"/>
                          </a:solidFill>
                        </a:rPr>
                        <a:t>vendors</a:t>
                      </a:r>
                      <a:endParaRPr sz="1200" b="0" dirty="0">
                        <a:solidFill>
                          <a:schemeClr val="tx1"/>
                        </a:solidFill>
                        <a:latin typeface="+mn-lt"/>
                        <a:cs typeface="Arimo"/>
                      </a:endParaRPr>
                    </a:p>
                  </a:txBody>
                  <a:tcPr marL="0" marR="0" marT="0" marB="0" anchor="ctr"/>
                </a:tc>
                <a:tc>
                  <a:txBody>
                    <a:bodyPr/>
                    <a:lstStyle/>
                    <a:p>
                      <a:r>
                        <a:rPr lang="en-US" sz="1200" b="0" dirty="0"/>
                        <a:t>Tender-I :- 459 (In all slab) &amp; Tender-II :- 548 (In all slab)</a:t>
                      </a:r>
                      <a:endParaRPr lang="en-US" sz="1200" b="0" dirty="0">
                        <a:latin typeface="+mn-lt"/>
                      </a:endParaRPr>
                    </a:p>
                  </a:txBody>
                  <a:tcPr anchor="ctr"/>
                </a:tc>
                <a:tc>
                  <a:txBody>
                    <a:bodyPr/>
                    <a:lstStyle/>
                    <a:p>
                      <a:r>
                        <a:rPr lang="en-US" sz="1200" b="0" dirty="0"/>
                        <a:t>28, 15, 92 respectively for AVVNL, </a:t>
                      </a:r>
                      <a:r>
                        <a:rPr lang="en-US" sz="1200" b="0" dirty="0" err="1"/>
                        <a:t>JdVVNL</a:t>
                      </a:r>
                      <a:r>
                        <a:rPr lang="en-US" sz="1200" b="0" dirty="0"/>
                        <a:t> and JVVNL</a:t>
                      </a:r>
                      <a:endParaRPr lang="en-US" sz="1200" b="0" dirty="0">
                        <a:latin typeface="+mn-lt"/>
                      </a:endParaRPr>
                    </a:p>
                  </a:txBody>
                  <a:tcPr anchor="ctr"/>
                </a:tc>
                <a:tc>
                  <a:txBody>
                    <a:bodyPr/>
                    <a:lstStyle/>
                    <a:p>
                      <a:r>
                        <a:rPr lang="pl-PL" sz="1200" b="0" dirty="0"/>
                        <a:t>71Nos. ( 1-10kW), 6Nos.( 11-100kW) in FY 2019-20</a:t>
                      </a:r>
                      <a:endParaRPr lang="pl-PL" sz="1200" b="0" dirty="0">
                        <a:latin typeface="+mn-lt"/>
                      </a:endParaRPr>
                    </a:p>
                  </a:txBody>
                  <a:tcPr anchor="ctr"/>
                </a:tc>
                <a:tc>
                  <a:txBody>
                    <a:bodyPr/>
                    <a:lstStyle/>
                    <a:p>
                      <a:pPr algn="ctr"/>
                      <a:r>
                        <a:rPr lang="en-US" sz="1200" b="0" dirty="0"/>
                        <a:t>58 Nos</a:t>
                      </a:r>
                      <a:endParaRPr lang="en-US" sz="1200" b="0" dirty="0">
                        <a:latin typeface="+mn-lt"/>
                      </a:endParaRPr>
                    </a:p>
                  </a:txBody>
                  <a:tcPr anchor="ctr"/>
                </a:tc>
                <a:tc>
                  <a:txBody>
                    <a:bodyPr/>
                    <a:lstStyle/>
                    <a:p>
                      <a:pPr marL="3810" algn="ctr">
                        <a:lnSpc>
                          <a:spcPct val="100000"/>
                        </a:lnSpc>
                        <a:spcBef>
                          <a:spcPts val="5"/>
                        </a:spcBef>
                      </a:pPr>
                      <a:r>
                        <a:rPr lang="en-US" sz="1200" b="0" u="none" strike="noStrike" cap="none" dirty="0">
                          <a:sym typeface="Arial"/>
                        </a:rPr>
                        <a:t>FY 2021-22: 12</a:t>
                      </a:r>
                      <a:endParaRPr sz="1200" b="0" dirty="0">
                        <a:solidFill>
                          <a:srgbClr val="DA291C"/>
                        </a:solidFill>
                        <a:latin typeface="+mn-lt"/>
                        <a:cs typeface="Arimo"/>
                      </a:endParaRPr>
                    </a:p>
                  </a:txBody>
                  <a:tcPr marL="0" marR="0" marT="635" marB="0" anchor="ctr"/>
                </a:tc>
                <a:extLst>
                  <a:ext uri="{0D108BD9-81ED-4DB2-BD59-A6C34878D82A}">
                    <a16:rowId xmlns:a16="http://schemas.microsoft.com/office/drawing/2014/main" val="1975731704"/>
                  </a:ext>
                </a:extLst>
              </a:tr>
            </a:tbl>
          </a:graphicData>
        </a:graphic>
      </p:graphicFrame>
      <p:sp>
        <p:nvSpPr>
          <p:cNvPr id="3" name="Title 3">
            <a:extLst>
              <a:ext uri="{FF2B5EF4-FFF2-40B4-BE49-F238E27FC236}">
                <a16:creationId xmlns:a16="http://schemas.microsoft.com/office/drawing/2014/main" id="{0A18204E-AACC-483B-AA1E-35F6145EC5A6}"/>
              </a:ext>
            </a:extLst>
          </p:cNvPr>
          <p:cNvSpPr txBox="1">
            <a:spLocks/>
          </p:cNvSpPr>
          <p:nvPr/>
        </p:nvSpPr>
        <p:spPr>
          <a:xfrm>
            <a:off x="254725" y="314399"/>
            <a:ext cx="11188260" cy="368285"/>
          </a:xfrm>
          <a:prstGeom prst="rect">
            <a:avLst/>
          </a:prstGeom>
        </p:spPr>
        <p:txBody>
          <a:bodyPr vert="horz"/>
          <a:lstStyle>
            <a:lvl1pPr algn="l" defTabSz="1219231" rtl="0" eaLnBrk="1" latinLnBrk="0" hangingPunct="1">
              <a:spcBef>
                <a:spcPct val="0"/>
              </a:spcBef>
              <a:buNone/>
              <a:defRPr sz="2667" kern="1200">
                <a:solidFill>
                  <a:schemeClr val="tx1"/>
                </a:solidFill>
                <a:latin typeface="+mj-lt"/>
                <a:ea typeface="+mj-ea"/>
                <a:cs typeface="+mj-cs"/>
              </a:defRPr>
            </a:lvl1pPr>
          </a:lstStyle>
          <a:p>
            <a:pPr algn="just"/>
            <a:r>
              <a:rPr lang="en-US" sz="1800" b="1" dirty="0"/>
              <a:t>RTS implementation status of select states (1/2)</a:t>
            </a:r>
          </a:p>
        </p:txBody>
      </p:sp>
      <p:sp>
        <p:nvSpPr>
          <p:cNvPr id="2" name="TextBox 1">
            <a:extLst>
              <a:ext uri="{FF2B5EF4-FFF2-40B4-BE49-F238E27FC236}">
                <a16:creationId xmlns:a16="http://schemas.microsoft.com/office/drawing/2014/main" id="{48D88FF0-F953-4998-9383-4588FA9AA077}"/>
              </a:ext>
            </a:extLst>
          </p:cNvPr>
          <p:cNvSpPr txBox="1"/>
          <p:nvPr/>
        </p:nvSpPr>
        <p:spPr>
          <a:xfrm>
            <a:off x="8722760" y="682684"/>
            <a:ext cx="3047483" cy="161583"/>
          </a:xfrm>
          <a:prstGeom prst="rect">
            <a:avLst/>
          </a:prstGeom>
          <a:noFill/>
        </p:spPr>
        <p:txBody>
          <a:bodyPr wrap="square" lIns="0" tIns="0" rIns="0" bIns="0" rtlCol="0">
            <a:spAutoFit/>
          </a:bodyPr>
          <a:lstStyle/>
          <a:p>
            <a:pPr>
              <a:spcBef>
                <a:spcPts val="600"/>
              </a:spcBef>
              <a:buSzPct val="100000"/>
            </a:pPr>
            <a:r>
              <a:rPr lang="en-US" sz="1050" dirty="0">
                <a:solidFill>
                  <a:srgbClr val="313131"/>
                </a:solidFill>
              </a:rPr>
              <a:t>*As on Dec 2021          **As on May 2022</a:t>
            </a:r>
          </a:p>
        </p:txBody>
      </p:sp>
    </p:spTree>
    <p:extLst>
      <p:ext uri="{BB962C8B-B14F-4D97-AF65-F5344CB8AC3E}">
        <p14:creationId xmlns:p14="http://schemas.microsoft.com/office/powerpoint/2010/main" val="77994559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9">
            <a:extLst>
              <a:ext uri="{FF2B5EF4-FFF2-40B4-BE49-F238E27FC236}">
                <a16:creationId xmlns:a16="http://schemas.microsoft.com/office/drawing/2014/main" id="{3B965B31-A42F-432A-9628-2810F7FA8813}"/>
              </a:ext>
            </a:extLst>
          </p:cNvPr>
          <p:cNvGraphicFramePr>
            <a:graphicFrameLocks noGrp="1"/>
          </p:cNvGraphicFramePr>
          <p:nvPr>
            <p:extLst>
              <p:ext uri="{D42A27DB-BD31-4B8C-83A1-F6EECF244321}">
                <p14:modId xmlns:p14="http://schemas.microsoft.com/office/powerpoint/2010/main" val="2169215824"/>
              </p:ext>
            </p:extLst>
          </p:nvPr>
        </p:nvGraphicFramePr>
        <p:xfrm>
          <a:off x="313247" y="926926"/>
          <a:ext cx="11443325" cy="5196092"/>
        </p:xfrm>
        <a:graphic>
          <a:graphicData uri="http://schemas.openxmlformats.org/drawingml/2006/table">
            <a:tbl>
              <a:tblPr firstRow="1" bandRow="1">
                <a:tableStyleId>{00A15C55-8517-42AA-B614-E9B94910E393}</a:tableStyleId>
              </a:tblPr>
              <a:tblGrid>
                <a:gridCol w="447598">
                  <a:extLst>
                    <a:ext uri="{9D8B030D-6E8A-4147-A177-3AD203B41FA5}">
                      <a16:colId xmlns:a16="http://schemas.microsoft.com/office/drawing/2014/main" val="3694550279"/>
                    </a:ext>
                  </a:extLst>
                </a:gridCol>
                <a:gridCol w="1530796">
                  <a:extLst>
                    <a:ext uri="{9D8B030D-6E8A-4147-A177-3AD203B41FA5}">
                      <a16:colId xmlns:a16="http://schemas.microsoft.com/office/drawing/2014/main" val="608444954"/>
                    </a:ext>
                  </a:extLst>
                </a:gridCol>
                <a:gridCol w="1580032">
                  <a:extLst>
                    <a:ext uri="{9D8B030D-6E8A-4147-A177-3AD203B41FA5}">
                      <a16:colId xmlns:a16="http://schemas.microsoft.com/office/drawing/2014/main" val="1229523106"/>
                    </a:ext>
                  </a:extLst>
                </a:gridCol>
                <a:gridCol w="1825225">
                  <a:extLst>
                    <a:ext uri="{9D8B030D-6E8A-4147-A177-3AD203B41FA5}">
                      <a16:colId xmlns:a16="http://schemas.microsoft.com/office/drawing/2014/main" val="191566766"/>
                    </a:ext>
                  </a:extLst>
                </a:gridCol>
                <a:gridCol w="1956646">
                  <a:extLst>
                    <a:ext uri="{9D8B030D-6E8A-4147-A177-3AD203B41FA5}">
                      <a16:colId xmlns:a16="http://schemas.microsoft.com/office/drawing/2014/main" val="3487239413"/>
                    </a:ext>
                  </a:extLst>
                </a:gridCol>
                <a:gridCol w="2404856">
                  <a:extLst>
                    <a:ext uri="{9D8B030D-6E8A-4147-A177-3AD203B41FA5}">
                      <a16:colId xmlns:a16="http://schemas.microsoft.com/office/drawing/2014/main" val="2782877304"/>
                    </a:ext>
                  </a:extLst>
                </a:gridCol>
                <a:gridCol w="1698172">
                  <a:extLst>
                    <a:ext uri="{9D8B030D-6E8A-4147-A177-3AD203B41FA5}">
                      <a16:colId xmlns:a16="http://schemas.microsoft.com/office/drawing/2014/main" val="524648008"/>
                    </a:ext>
                  </a:extLst>
                </a:gridCol>
              </a:tblGrid>
              <a:tr h="587585">
                <a:tc>
                  <a:txBody>
                    <a:bodyPr/>
                    <a:lstStyle/>
                    <a:p>
                      <a:r>
                        <a:rPr lang="en-US" sz="1200" dirty="0" err="1"/>
                        <a:t>Sl</a:t>
                      </a:r>
                      <a:r>
                        <a:rPr lang="en-US" sz="1200" dirty="0"/>
                        <a:t> No</a:t>
                      </a:r>
                      <a:endParaRPr lang="en-US" sz="1200" dirty="0">
                        <a:latin typeface="+mn-lt"/>
                      </a:endParaRPr>
                    </a:p>
                  </a:txBody>
                  <a:tcPr anchor="ctr"/>
                </a:tc>
                <a:tc>
                  <a:txBody>
                    <a:bodyPr/>
                    <a:lstStyle/>
                    <a:p>
                      <a:r>
                        <a:rPr lang="en-US" sz="1200" dirty="0"/>
                        <a:t>Particulars</a:t>
                      </a:r>
                      <a:endParaRPr lang="en-US" sz="1200" dirty="0">
                        <a:latin typeface="+mn-lt"/>
                      </a:endParaRPr>
                    </a:p>
                  </a:txBody>
                  <a:tcPr anchor="ctr"/>
                </a:tc>
                <a:tc>
                  <a:txBody>
                    <a:bodyPr/>
                    <a:lstStyle/>
                    <a:p>
                      <a:pPr algn="ctr"/>
                      <a:r>
                        <a:rPr lang="en-US" sz="1200" dirty="0"/>
                        <a:t>Gujarat*</a:t>
                      </a:r>
                      <a:endParaRPr lang="en-US" sz="1200" dirty="0">
                        <a:latin typeface="+mn-lt"/>
                      </a:endParaRPr>
                    </a:p>
                  </a:txBody>
                  <a:tcPr anchor="ctr"/>
                </a:tc>
                <a:tc>
                  <a:txBody>
                    <a:bodyPr/>
                    <a:lstStyle/>
                    <a:p>
                      <a:pPr algn="ctr"/>
                      <a:r>
                        <a:rPr lang="en-US" sz="1200" dirty="0"/>
                        <a:t>Rajasthan*</a:t>
                      </a:r>
                      <a:endParaRPr lang="en-US" sz="1200" dirty="0">
                        <a:latin typeface="+mn-lt"/>
                      </a:endParaRPr>
                    </a:p>
                  </a:txBody>
                  <a:tcPr anchor="ctr"/>
                </a:tc>
                <a:tc>
                  <a:txBody>
                    <a:bodyPr/>
                    <a:lstStyle/>
                    <a:p>
                      <a:pPr algn="ctr"/>
                      <a:r>
                        <a:rPr lang="en-US" sz="1200" dirty="0"/>
                        <a:t>Uttar Pradesh*</a:t>
                      </a:r>
                      <a:endParaRPr lang="en-US" sz="1200" dirty="0">
                        <a:latin typeface="+mn-lt"/>
                      </a:endParaRPr>
                    </a:p>
                  </a:txBody>
                  <a:tcPr anchor="ctr"/>
                </a:tc>
                <a:tc>
                  <a:txBody>
                    <a:bodyPr/>
                    <a:lstStyle/>
                    <a:p>
                      <a:pPr algn="ctr"/>
                      <a:r>
                        <a:rPr lang="en-US" sz="1200" dirty="0"/>
                        <a:t>Madhya Pradesh*</a:t>
                      </a:r>
                      <a:endParaRPr lang="en-US" sz="1200" dirty="0">
                        <a:latin typeface="+mn-lt"/>
                      </a:endParaRPr>
                    </a:p>
                  </a:txBody>
                  <a:tcPr anchor="ctr"/>
                </a:tc>
                <a:tc>
                  <a:txBody>
                    <a:bodyPr/>
                    <a:lstStyle/>
                    <a:p>
                      <a:pPr algn="ctr"/>
                      <a:r>
                        <a:rPr lang="en-US" sz="1200" dirty="0"/>
                        <a:t>West Bengal**</a:t>
                      </a:r>
                      <a:endParaRPr lang="en-US" sz="1200" dirty="0">
                        <a:latin typeface="+mn-lt"/>
                      </a:endParaRPr>
                    </a:p>
                  </a:txBody>
                  <a:tcPr anchor="ctr"/>
                </a:tc>
                <a:extLst>
                  <a:ext uri="{0D108BD9-81ED-4DB2-BD59-A6C34878D82A}">
                    <a16:rowId xmlns:a16="http://schemas.microsoft.com/office/drawing/2014/main" val="273414995"/>
                  </a:ext>
                </a:extLst>
              </a:tr>
              <a:tr h="1416864">
                <a:tc>
                  <a:txBody>
                    <a:bodyPr/>
                    <a:lstStyle/>
                    <a:p>
                      <a:pPr algn="ctr"/>
                      <a:r>
                        <a:rPr lang="en-US" sz="1200" dirty="0"/>
                        <a:t>5</a:t>
                      </a:r>
                      <a:endParaRPr lang="en-US" sz="1200" dirty="0">
                        <a:latin typeface="+mn-lt"/>
                      </a:endParaRPr>
                    </a:p>
                  </a:txBody>
                  <a:tcPr anchor="ctr"/>
                </a:tc>
                <a:tc>
                  <a:txBody>
                    <a:bodyPr/>
                    <a:lstStyle/>
                    <a:p>
                      <a:pPr algn="l">
                        <a:lnSpc>
                          <a:spcPct val="100000"/>
                        </a:lnSpc>
                        <a:spcBef>
                          <a:spcPts val="250"/>
                        </a:spcBef>
                      </a:pPr>
                      <a:r>
                        <a:rPr lang="en-US" sz="1200" b="1" dirty="0">
                          <a:solidFill>
                            <a:schemeClr val="tx1"/>
                          </a:solidFill>
                        </a:rPr>
                        <a:t>Rates discovered</a:t>
                      </a:r>
                      <a:endParaRPr sz="1200" b="1" dirty="0">
                        <a:solidFill>
                          <a:schemeClr val="tx1"/>
                        </a:solidFill>
                        <a:latin typeface="+mn-lt"/>
                        <a:cs typeface="Arimo"/>
                      </a:endParaRPr>
                    </a:p>
                  </a:txBody>
                  <a:tcPr marL="0" marR="0" marT="31750" marB="0" anchor="ctr"/>
                </a:tc>
                <a:tc>
                  <a:txBody>
                    <a:bodyPr/>
                    <a:lstStyle/>
                    <a:p>
                      <a:r>
                        <a:rPr lang="en-US" sz="1200" dirty="0"/>
                        <a:t>Tender-I: Rs. 46827 per kW to Rs. 33,999 per kW; Tender-II: Rs.  46,827 per kW to Rs. 30,492 per kW</a:t>
                      </a:r>
                      <a:endParaRPr lang="en-US" sz="1200" dirty="0">
                        <a:latin typeface="+mn-lt"/>
                      </a:endParaRPr>
                    </a:p>
                  </a:txBody>
                  <a:tcPr anchor="ctr"/>
                </a:tc>
                <a:tc>
                  <a:txBody>
                    <a:bodyPr/>
                    <a:lstStyle/>
                    <a:p>
                      <a:pPr algn="ctr"/>
                      <a:r>
                        <a:rPr lang="en-US" sz="1200" dirty="0"/>
                        <a:t>1- 3 kW:  (Rs 43k-43.26k/kW)</a:t>
                      </a:r>
                    </a:p>
                    <a:p>
                      <a:pPr algn="ctr"/>
                      <a:r>
                        <a:rPr lang="en-US" sz="1200" dirty="0"/>
                        <a:t>3-10 kW: (Rs 42.2k-42.6k/kW)</a:t>
                      </a:r>
                    </a:p>
                    <a:p>
                      <a:pPr algn="ctr"/>
                      <a:r>
                        <a:rPr lang="en-US" sz="1200" dirty="0"/>
                        <a:t>10-50 kW: (Rs 35k/kW)</a:t>
                      </a:r>
                    </a:p>
                    <a:p>
                      <a:pPr algn="ctr"/>
                      <a:r>
                        <a:rPr lang="en-US" sz="1200" dirty="0"/>
                        <a:t>50-500 kW: (Rs 35k/kW)</a:t>
                      </a:r>
                      <a:endParaRPr lang="en-US" sz="1200" dirty="0">
                        <a:latin typeface="+mn-lt"/>
                      </a:endParaRPr>
                    </a:p>
                  </a:txBody>
                  <a:tcPr anchor="ctr"/>
                </a:tc>
                <a:tc>
                  <a:txBody>
                    <a:bodyPr/>
                    <a:lstStyle/>
                    <a:p>
                      <a:r>
                        <a:rPr lang="en-US" sz="1200" dirty="0"/>
                        <a:t>Rs.38000/- (For 1-10kW),Rs.32000/- (For 11-100kW) in FY 2019-20</a:t>
                      </a:r>
                      <a:endParaRPr lang="en-US" sz="1200" dirty="0">
                        <a:latin typeface="+mn-lt"/>
                      </a:endParaRPr>
                    </a:p>
                  </a:txBody>
                  <a:tcPr anchor="ctr"/>
                </a:tc>
                <a:tc>
                  <a:txBody>
                    <a:bodyPr/>
                    <a:lstStyle/>
                    <a:p>
                      <a:pPr marL="0" indent="0" algn="ctr" defTabSz="1716088"/>
                      <a:r>
                        <a:rPr lang="pl-PL" sz="1200" dirty="0"/>
                        <a:t>1-3 kW: Rs.</a:t>
                      </a:r>
                      <a:r>
                        <a:rPr lang="en-US" sz="1200" dirty="0"/>
                        <a:t> </a:t>
                      </a:r>
                      <a:r>
                        <a:rPr lang="pl-PL" sz="1200" dirty="0"/>
                        <a:t>37</a:t>
                      </a:r>
                      <a:r>
                        <a:rPr lang="en-US" sz="1200" dirty="0"/>
                        <a:t>k</a:t>
                      </a:r>
                      <a:r>
                        <a:rPr lang="pl-PL" sz="1200" dirty="0"/>
                        <a:t>/kW</a:t>
                      </a:r>
                      <a:endParaRPr lang="en-US" sz="1200" dirty="0"/>
                    </a:p>
                    <a:p>
                      <a:pPr marL="0" indent="0" algn="ctr" defTabSz="1716088"/>
                      <a:r>
                        <a:rPr lang="pl-PL" sz="1200" dirty="0"/>
                        <a:t>3-10 kW:Rs.</a:t>
                      </a:r>
                      <a:r>
                        <a:rPr lang="en-US" sz="1200" dirty="0"/>
                        <a:t> </a:t>
                      </a:r>
                      <a:r>
                        <a:rPr lang="pl-PL" sz="1200" dirty="0"/>
                        <a:t>39</a:t>
                      </a:r>
                      <a:r>
                        <a:rPr lang="en-US" sz="1200" dirty="0"/>
                        <a:t>.</a:t>
                      </a:r>
                      <a:r>
                        <a:rPr lang="pl-PL" sz="1200" dirty="0"/>
                        <a:t>8</a:t>
                      </a:r>
                      <a:r>
                        <a:rPr lang="en-US" sz="1200" dirty="0"/>
                        <a:t>k</a:t>
                      </a:r>
                      <a:r>
                        <a:rPr lang="pl-PL" sz="1200" dirty="0"/>
                        <a:t>/kW</a:t>
                      </a:r>
                    </a:p>
                    <a:p>
                      <a:pPr marL="0" indent="0" algn="ctr" defTabSz="1716088"/>
                      <a:r>
                        <a:rPr lang="pl-PL" sz="1200" dirty="0"/>
                        <a:t>10-100kW: Rs</a:t>
                      </a:r>
                      <a:r>
                        <a:rPr lang="en-US" sz="1200" dirty="0"/>
                        <a:t> </a:t>
                      </a:r>
                      <a:r>
                        <a:rPr lang="pl-PL" sz="1200" dirty="0"/>
                        <a:t>36</a:t>
                      </a:r>
                      <a:r>
                        <a:rPr lang="en-US" sz="1200" dirty="0"/>
                        <a:t>.</a:t>
                      </a:r>
                      <a:r>
                        <a:rPr lang="pl-PL" sz="1200" dirty="0"/>
                        <a:t>5</a:t>
                      </a:r>
                      <a:r>
                        <a:rPr lang="en-US" sz="1200" dirty="0"/>
                        <a:t>k</a:t>
                      </a:r>
                      <a:r>
                        <a:rPr lang="pl-PL" sz="1200" dirty="0"/>
                        <a:t>/kW</a:t>
                      </a:r>
                    </a:p>
                    <a:p>
                      <a:pPr marL="0" indent="0" algn="ctr" defTabSz="1716088"/>
                      <a:r>
                        <a:rPr lang="pl-PL" sz="1200" dirty="0"/>
                        <a:t>100-500kW:Rs</a:t>
                      </a:r>
                      <a:r>
                        <a:rPr lang="en-US" sz="1200" dirty="0"/>
                        <a:t> </a:t>
                      </a:r>
                      <a:r>
                        <a:rPr lang="pl-PL" sz="1200" dirty="0"/>
                        <a:t>34</a:t>
                      </a:r>
                      <a:r>
                        <a:rPr lang="en-US" sz="1200" dirty="0"/>
                        <a:t>.</a:t>
                      </a:r>
                      <a:r>
                        <a:rPr lang="pl-PL" sz="1200" dirty="0"/>
                        <a:t>9</a:t>
                      </a:r>
                      <a:r>
                        <a:rPr lang="en-US" sz="1200" dirty="0"/>
                        <a:t>k</a:t>
                      </a:r>
                      <a:r>
                        <a:rPr lang="pl-PL" sz="1200" dirty="0"/>
                        <a:t>/kW</a:t>
                      </a:r>
                      <a:endParaRPr lang="pl-PL" sz="1200" dirty="0">
                        <a:latin typeface="+mn-lt"/>
                      </a:endParaRPr>
                    </a:p>
                  </a:txBody>
                  <a:tcPr anchor="ctr"/>
                </a:tc>
                <a:tc>
                  <a:txBody>
                    <a:bodyPr/>
                    <a:lstStyle/>
                    <a:p>
                      <a:pPr marL="0" marR="0" lvl="0" indent="0" algn="ctr" defTabSz="1716088" rtl="0" eaLnBrk="1" fontAlgn="auto" latinLnBrk="0" hangingPunct="1">
                        <a:lnSpc>
                          <a:spcPct val="100000"/>
                        </a:lnSpc>
                        <a:spcBef>
                          <a:spcPts val="0"/>
                        </a:spcBef>
                        <a:spcAft>
                          <a:spcPts val="0"/>
                        </a:spcAft>
                        <a:buClrTx/>
                        <a:buSzTx/>
                        <a:buFontTx/>
                        <a:buNone/>
                        <a:tabLst/>
                        <a:defRPr/>
                      </a:pPr>
                      <a:r>
                        <a:rPr lang="pl-PL" sz="1200" kern="1200" spc="-105" dirty="0">
                          <a:solidFill>
                            <a:schemeClr val="tx1"/>
                          </a:solidFill>
                        </a:rPr>
                        <a:t>FY 2021-22:Tender : Rs. 51190 per kW to Rs. 39150 per kW (1-500kW)</a:t>
                      </a:r>
                      <a:endParaRPr lang="pl-PL" sz="1200" kern="1200" spc="-105" dirty="0">
                        <a:solidFill>
                          <a:schemeClr val="tx1"/>
                        </a:solidFill>
                        <a:latin typeface="+mn-lt"/>
                        <a:ea typeface="+mn-ea"/>
                        <a:cs typeface="+mn-cs"/>
                      </a:endParaRPr>
                    </a:p>
                  </a:txBody>
                  <a:tcPr anchor="ctr"/>
                </a:tc>
                <a:extLst>
                  <a:ext uri="{0D108BD9-81ED-4DB2-BD59-A6C34878D82A}">
                    <a16:rowId xmlns:a16="http://schemas.microsoft.com/office/drawing/2014/main" val="584814656"/>
                  </a:ext>
                </a:extLst>
              </a:tr>
              <a:tr h="661033">
                <a:tc>
                  <a:txBody>
                    <a:bodyPr/>
                    <a:lstStyle/>
                    <a:p>
                      <a:pPr algn="ctr"/>
                      <a:r>
                        <a:rPr lang="en-US" sz="1200" dirty="0"/>
                        <a:t>6</a:t>
                      </a:r>
                      <a:endParaRPr lang="en-US" sz="1200" dirty="0">
                        <a:latin typeface="+mn-lt"/>
                      </a:endParaRPr>
                    </a:p>
                  </a:txBody>
                  <a:tcPr anchor="ctr"/>
                </a:tc>
                <a:tc>
                  <a:txBody>
                    <a:bodyPr/>
                    <a:lstStyle/>
                    <a:p>
                      <a:pPr algn="l">
                        <a:lnSpc>
                          <a:spcPct val="100000"/>
                        </a:lnSpc>
                        <a:spcBef>
                          <a:spcPts val="250"/>
                        </a:spcBef>
                      </a:pPr>
                      <a:r>
                        <a:rPr lang="en-US" sz="1200" b="1" dirty="0">
                          <a:solidFill>
                            <a:schemeClr val="tx1"/>
                          </a:solidFill>
                        </a:rPr>
                        <a:t>Online portal of DISCOMs</a:t>
                      </a:r>
                      <a:endParaRPr lang="en-US" sz="1200" b="1" dirty="0">
                        <a:solidFill>
                          <a:schemeClr val="tx1"/>
                        </a:solidFill>
                        <a:latin typeface="+mn-lt"/>
                        <a:cs typeface="Arimo"/>
                      </a:endParaRPr>
                    </a:p>
                  </a:txBody>
                  <a:tcPr marL="0" marR="0" marT="31750" marB="0" anchor="ctr"/>
                </a:tc>
                <a:tc>
                  <a:txBody>
                    <a:bodyPr/>
                    <a:lstStyle/>
                    <a:p>
                      <a:pPr algn="ctr"/>
                      <a:r>
                        <a:rPr lang="en-US" sz="1200" dirty="0"/>
                        <a:t>Yes</a:t>
                      </a:r>
                      <a:endParaRPr lang="en-US" sz="1200" dirty="0">
                        <a:latin typeface="+mn-lt"/>
                      </a:endParaRPr>
                    </a:p>
                  </a:txBody>
                  <a:tcPr anchor="ct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spc="-215" dirty="0"/>
                        <a:t>DISCOM  </a:t>
                      </a:r>
                      <a:r>
                        <a:rPr lang="en-US" sz="1200" spc="-75" dirty="0"/>
                        <a:t>Portal </a:t>
                      </a:r>
                      <a:r>
                        <a:rPr lang="en-US" sz="1200" spc="-85" dirty="0"/>
                        <a:t>developed </a:t>
                      </a:r>
                      <a:r>
                        <a:rPr lang="en-US" sz="1200" spc="-5" dirty="0"/>
                        <a:t>but not</a:t>
                      </a:r>
                      <a:r>
                        <a:rPr lang="en-US" sz="1200" spc="-150" dirty="0"/>
                        <a:t> </a:t>
                      </a:r>
                      <a:r>
                        <a:rPr lang="en-US" sz="1200" spc="-80" dirty="0"/>
                        <a:t>deployed</a:t>
                      </a:r>
                      <a:endParaRPr lang="en-US" sz="1200" dirty="0">
                        <a:latin typeface="+mn-lt"/>
                        <a:cs typeface="Arimo"/>
                      </a:endParaRPr>
                    </a:p>
                  </a:txBody>
                  <a:tcPr anchor="ct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dirty="0"/>
                        <a:t>Yes, developed by UPNEDA (</a:t>
                      </a:r>
                      <a:r>
                        <a:rPr lang="en-US" sz="1200" dirty="0" err="1"/>
                        <a:t>upneda</a:t>
                      </a:r>
                      <a:r>
                        <a:rPr lang="en-US" sz="1200" dirty="0"/>
                        <a:t> solarrooftopportal.com)</a:t>
                      </a:r>
                      <a:endParaRPr lang="en-US" sz="1200" dirty="0">
                        <a:latin typeface="+mn-lt"/>
                        <a:cs typeface="Arimo"/>
                      </a:endParaRPr>
                    </a:p>
                  </a:txBody>
                  <a:tcPr anchor="ctr"/>
                </a:tc>
                <a:tc>
                  <a:txBody>
                    <a:bodyPr/>
                    <a:lstStyle/>
                    <a:p>
                      <a:pPr marL="0" marR="0" lvl="0" indent="0" algn="ctr" defTabSz="1219231" rtl="0" eaLnBrk="1" fontAlgn="auto" latinLnBrk="0" hangingPunct="1">
                        <a:lnSpc>
                          <a:spcPct val="100000"/>
                        </a:lnSpc>
                        <a:spcBef>
                          <a:spcPts val="0"/>
                        </a:spcBef>
                        <a:spcAft>
                          <a:spcPts val="0"/>
                        </a:spcAft>
                        <a:buClrTx/>
                        <a:buSzTx/>
                        <a:buFontTx/>
                        <a:buNone/>
                        <a:tabLst/>
                        <a:defRPr/>
                      </a:pPr>
                      <a:r>
                        <a:rPr lang="en-US" sz="1200" dirty="0"/>
                        <a:t>Yes</a:t>
                      </a:r>
                      <a:endParaRPr lang="en-US" sz="1200" dirty="0">
                        <a:latin typeface="+mn-lt"/>
                        <a:cs typeface="Arimo"/>
                      </a:endParaRPr>
                    </a:p>
                  </a:txBody>
                  <a:tcPr anchor="ctr"/>
                </a:tc>
                <a:tc>
                  <a:txBody>
                    <a:bodyPr/>
                    <a:lstStyle/>
                    <a:p>
                      <a:pPr marL="0" marR="0" lvl="0" indent="0" algn="ctr" defTabSz="1219231" rtl="0" eaLnBrk="1" fontAlgn="auto" latinLnBrk="0" hangingPunct="1">
                        <a:lnSpc>
                          <a:spcPct val="100000"/>
                        </a:lnSpc>
                        <a:spcBef>
                          <a:spcPts val="0"/>
                        </a:spcBef>
                        <a:spcAft>
                          <a:spcPts val="0"/>
                        </a:spcAft>
                        <a:buClrTx/>
                        <a:buSzTx/>
                        <a:buFontTx/>
                        <a:buNone/>
                        <a:tabLst/>
                        <a:defRPr/>
                      </a:pPr>
                      <a:r>
                        <a:rPr lang="en-US" sz="1200" dirty="0"/>
                        <a:t>Yes</a:t>
                      </a:r>
                      <a:endParaRPr lang="en-US" sz="1200" dirty="0">
                        <a:latin typeface="+mn-lt"/>
                        <a:cs typeface="Arimo"/>
                      </a:endParaRPr>
                    </a:p>
                  </a:txBody>
                  <a:tcPr anchor="ctr"/>
                </a:tc>
                <a:extLst>
                  <a:ext uri="{0D108BD9-81ED-4DB2-BD59-A6C34878D82A}">
                    <a16:rowId xmlns:a16="http://schemas.microsoft.com/office/drawing/2014/main" val="3876629600"/>
                  </a:ext>
                </a:extLst>
              </a:tr>
              <a:tr h="499549">
                <a:tc>
                  <a:txBody>
                    <a:bodyPr/>
                    <a:lstStyle/>
                    <a:p>
                      <a:pPr algn="ctr"/>
                      <a:r>
                        <a:rPr lang="en-US" sz="1200" dirty="0"/>
                        <a:t>7</a:t>
                      </a:r>
                      <a:endParaRPr lang="en-US" sz="1200" dirty="0">
                        <a:latin typeface="+mn-lt"/>
                      </a:endParaRPr>
                    </a:p>
                  </a:txBody>
                  <a:tcPr anchor="ctr"/>
                </a:tc>
                <a:tc>
                  <a:txBody>
                    <a:bodyPr/>
                    <a:lstStyle/>
                    <a:p>
                      <a:pPr marL="70485" algn="l">
                        <a:lnSpc>
                          <a:spcPts val="2290"/>
                        </a:lnSpc>
                      </a:pPr>
                      <a:r>
                        <a:rPr sz="1200" b="1" spc="-110" dirty="0">
                          <a:solidFill>
                            <a:schemeClr val="tx1"/>
                          </a:solidFill>
                        </a:rPr>
                        <a:t>Capacity</a:t>
                      </a:r>
                      <a:r>
                        <a:rPr sz="1200" b="1" spc="-114" dirty="0">
                          <a:solidFill>
                            <a:schemeClr val="tx1"/>
                          </a:solidFill>
                        </a:rPr>
                        <a:t> </a:t>
                      </a:r>
                      <a:r>
                        <a:rPr sz="1200" b="1" spc="-60" dirty="0">
                          <a:solidFill>
                            <a:schemeClr val="tx1"/>
                          </a:solidFill>
                        </a:rPr>
                        <a:t>installed</a:t>
                      </a:r>
                      <a:endParaRPr sz="1200" b="1" dirty="0">
                        <a:solidFill>
                          <a:schemeClr val="tx1"/>
                        </a:solidFill>
                        <a:latin typeface="+mn-lt"/>
                        <a:cs typeface="Arimo"/>
                      </a:endParaRPr>
                    </a:p>
                  </a:txBody>
                  <a:tcPr marL="0" marR="0" marT="0" marB="0" anchor="ctr"/>
                </a:tc>
                <a:tc>
                  <a:txBody>
                    <a:bodyPr/>
                    <a:lstStyle/>
                    <a:p>
                      <a:r>
                        <a:rPr lang="en-US" sz="1200" dirty="0"/>
                        <a:t>991.860 MW as  on  30.11.2021</a:t>
                      </a:r>
                      <a:endParaRPr lang="en-US" sz="1200" dirty="0">
                        <a:latin typeface="+mn-lt"/>
                      </a:endParaRPr>
                    </a:p>
                  </a:txBody>
                  <a:tcPr anchor="ctr"/>
                </a:tc>
                <a:tc>
                  <a:txBody>
                    <a:bodyPr/>
                    <a:lstStyle/>
                    <a:p>
                      <a:pPr algn="ctr"/>
                      <a:r>
                        <a:rPr lang="en-US" sz="1200" dirty="0"/>
                        <a:t>33.993 MW</a:t>
                      </a:r>
                      <a:endParaRPr lang="en-US" sz="1200" dirty="0">
                        <a:latin typeface="+mn-lt"/>
                      </a:endParaRPr>
                    </a:p>
                  </a:txBody>
                  <a:tcPr anchor="ctr"/>
                </a:tc>
                <a:tc>
                  <a:txBody>
                    <a:bodyPr/>
                    <a:lstStyle/>
                    <a:p>
                      <a:pPr algn="ctr"/>
                      <a:r>
                        <a:rPr lang="en-US" sz="1200" dirty="0"/>
                        <a:t>20.742 MW</a:t>
                      </a:r>
                      <a:endParaRPr lang="en-US" sz="1200" dirty="0">
                        <a:latin typeface="+mn-lt"/>
                      </a:endParaRPr>
                    </a:p>
                  </a:txBody>
                  <a:tcPr anchor="ctr"/>
                </a:tc>
                <a:tc>
                  <a:txBody>
                    <a:bodyPr/>
                    <a:lstStyle/>
                    <a:p>
                      <a:pPr algn="ctr"/>
                      <a:r>
                        <a:rPr lang="en-US" sz="1200" dirty="0"/>
                        <a:t>11.752 MW</a:t>
                      </a:r>
                      <a:endParaRPr lang="en-US" sz="1200" dirty="0">
                        <a:latin typeface="+mn-lt"/>
                      </a:endParaRPr>
                    </a:p>
                  </a:txBody>
                  <a:tcPr anchor="ctr"/>
                </a:tc>
                <a:tc>
                  <a:txBody>
                    <a:bodyPr/>
                    <a:lstStyle/>
                    <a:p>
                      <a:pPr algn="ctr"/>
                      <a:r>
                        <a:rPr lang="en-US" sz="1200" dirty="0">
                          <a:solidFill>
                            <a:srgbClr val="DA291C"/>
                          </a:solidFill>
                        </a:rPr>
                        <a:t>Nil</a:t>
                      </a:r>
                      <a:endParaRPr lang="en-US" sz="1200" dirty="0">
                        <a:solidFill>
                          <a:srgbClr val="DA291C"/>
                        </a:solidFill>
                        <a:latin typeface="+mn-lt"/>
                      </a:endParaRPr>
                    </a:p>
                  </a:txBody>
                  <a:tcPr anchor="ctr"/>
                </a:tc>
                <a:extLst>
                  <a:ext uri="{0D108BD9-81ED-4DB2-BD59-A6C34878D82A}">
                    <a16:rowId xmlns:a16="http://schemas.microsoft.com/office/drawing/2014/main" val="55783658"/>
                  </a:ext>
                </a:extLst>
              </a:tr>
              <a:tr h="499549">
                <a:tc>
                  <a:txBody>
                    <a:bodyPr/>
                    <a:lstStyle/>
                    <a:p>
                      <a:pPr algn="ctr"/>
                      <a:r>
                        <a:rPr lang="en-US" sz="1200" dirty="0"/>
                        <a:t>8</a:t>
                      </a:r>
                      <a:endParaRPr lang="en-US" sz="1200" dirty="0">
                        <a:latin typeface="+mn-lt"/>
                      </a:endParaRPr>
                    </a:p>
                  </a:txBody>
                  <a:tcPr anchor="ctr"/>
                </a:tc>
                <a:tc>
                  <a:txBody>
                    <a:bodyPr/>
                    <a:lstStyle/>
                    <a:p>
                      <a:pPr marL="69215" algn="l">
                        <a:lnSpc>
                          <a:spcPts val="2290"/>
                        </a:lnSpc>
                      </a:pPr>
                      <a:r>
                        <a:rPr lang="en-US" sz="1200" b="1" dirty="0">
                          <a:solidFill>
                            <a:schemeClr val="tx1"/>
                          </a:solidFill>
                        </a:rPr>
                        <a:t>CFA  released by MNRE</a:t>
                      </a:r>
                      <a:endParaRPr sz="1200" b="1" dirty="0">
                        <a:solidFill>
                          <a:schemeClr val="tx1"/>
                        </a:solidFill>
                        <a:latin typeface="+mn-lt"/>
                      </a:endParaRPr>
                    </a:p>
                  </a:txBody>
                  <a:tcPr marL="0" marR="0" marT="0" marB="0" anchor="ctr"/>
                </a:tc>
                <a:tc>
                  <a:txBody>
                    <a:bodyPr/>
                    <a:lstStyle/>
                    <a:p>
                      <a:r>
                        <a:rPr lang="en-US" sz="1200" dirty="0"/>
                        <a:t>Rs. 763.74 Cr</a:t>
                      </a:r>
                      <a:endParaRPr lang="en-US" sz="1200" dirty="0">
                        <a:latin typeface="+mn-lt"/>
                      </a:endParaRPr>
                    </a:p>
                  </a:txBody>
                  <a:tcPr anchor="ctr"/>
                </a:tc>
                <a:tc>
                  <a:txBody>
                    <a:bodyPr/>
                    <a:lstStyle/>
                    <a:p>
                      <a:pPr algn="ctr"/>
                      <a:r>
                        <a:rPr lang="en-US" sz="1200" dirty="0"/>
                        <a:t>Rs 10.37 Cr</a:t>
                      </a:r>
                      <a:endParaRPr lang="en-US" sz="1200" dirty="0">
                        <a:latin typeface="+mn-lt"/>
                      </a:endParaRPr>
                    </a:p>
                  </a:txBody>
                  <a:tcPr anchor="ctr"/>
                </a:tc>
                <a:tc>
                  <a:txBody>
                    <a:bodyPr/>
                    <a:lstStyle/>
                    <a:p>
                      <a:pPr algn="ctr"/>
                      <a:r>
                        <a:rPr lang="en-US" sz="1200" dirty="0"/>
                        <a:t>INR 16.188 Cr</a:t>
                      </a:r>
                      <a:endParaRPr lang="en-US" sz="1200" dirty="0">
                        <a:latin typeface="+mn-lt"/>
                      </a:endParaRPr>
                    </a:p>
                  </a:txBody>
                  <a:tcPr anchor="ctr"/>
                </a:tc>
                <a:tc>
                  <a:txBody>
                    <a:bodyPr/>
                    <a:lstStyle/>
                    <a:p>
                      <a:pPr algn="ctr"/>
                      <a:r>
                        <a:rPr lang="en-US" sz="1200" dirty="0"/>
                        <a:t>INR 8.50 Cr</a:t>
                      </a:r>
                      <a:endParaRPr lang="en-US" sz="1200" dirty="0">
                        <a:latin typeface="+mn-lt"/>
                      </a:endParaRPr>
                    </a:p>
                  </a:txBody>
                  <a:tcPr anchor="ctr"/>
                </a:tc>
                <a:tc>
                  <a:txBody>
                    <a:bodyPr/>
                    <a:lstStyle/>
                    <a:p>
                      <a:pPr algn="ctr"/>
                      <a:r>
                        <a:rPr lang="en-US" sz="1200" dirty="0">
                          <a:solidFill>
                            <a:srgbClr val="DA291C"/>
                          </a:solidFill>
                        </a:rPr>
                        <a:t>Nil</a:t>
                      </a:r>
                      <a:endParaRPr lang="en-US" sz="1200" dirty="0">
                        <a:solidFill>
                          <a:srgbClr val="DA291C"/>
                        </a:solidFill>
                        <a:latin typeface="+mn-lt"/>
                      </a:endParaRPr>
                    </a:p>
                  </a:txBody>
                  <a:tcPr anchor="ctr"/>
                </a:tc>
                <a:extLst>
                  <a:ext uri="{0D108BD9-81ED-4DB2-BD59-A6C34878D82A}">
                    <a16:rowId xmlns:a16="http://schemas.microsoft.com/office/drawing/2014/main" val="3759866625"/>
                  </a:ext>
                </a:extLst>
              </a:tr>
              <a:tr h="1101722">
                <a:tc>
                  <a:txBody>
                    <a:bodyPr/>
                    <a:lstStyle/>
                    <a:p>
                      <a:pPr algn="ctr"/>
                      <a:r>
                        <a:rPr lang="en-US" sz="1200" dirty="0"/>
                        <a:t>9</a:t>
                      </a:r>
                      <a:endParaRPr lang="en-US" sz="1200" dirty="0">
                        <a:latin typeface="+mn-lt"/>
                      </a:endParaRPr>
                    </a:p>
                  </a:txBody>
                  <a:tcPr anchor="ctr"/>
                </a:tc>
                <a:tc>
                  <a:txBody>
                    <a:bodyPr/>
                    <a:lstStyle/>
                    <a:p>
                      <a:pPr algn="l">
                        <a:lnSpc>
                          <a:spcPct val="100000"/>
                        </a:lnSpc>
                        <a:spcBef>
                          <a:spcPts val="5"/>
                        </a:spcBef>
                      </a:pPr>
                      <a:r>
                        <a:rPr lang="en-US" sz="1200" b="1" dirty="0">
                          <a:solidFill>
                            <a:schemeClr val="tx1"/>
                          </a:solidFill>
                        </a:rPr>
                        <a:t>Remarks</a:t>
                      </a:r>
                      <a:endParaRPr sz="1200" b="1" dirty="0">
                        <a:solidFill>
                          <a:schemeClr val="tx1"/>
                        </a:solidFill>
                        <a:latin typeface="+mn-lt"/>
                        <a:cs typeface="Arimo"/>
                      </a:endParaRPr>
                    </a:p>
                  </a:txBody>
                  <a:tcPr marL="0" marR="0" marT="0" marB="0" anchor="ctr"/>
                </a:tc>
                <a:tc>
                  <a:txBody>
                    <a:bodyPr/>
                    <a:lstStyle/>
                    <a:p>
                      <a:pPr algn="ctr"/>
                      <a:r>
                        <a:rPr lang="en-US" sz="1200" dirty="0"/>
                        <a:t>New capacity request of 750 MW has been received and under  consideration</a:t>
                      </a:r>
                      <a:endParaRPr lang="en-US" sz="1200" dirty="0">
                        <a:latin typeface="+mn-lt"/>
                      </a:endParaRPr>
                    </a:p>
                  </a:txBody>
                  <a:tcPr anchor="ctr"/>
                </a:tc>
                <a:tc>
                  <a:txBody>
                    <a:bodyPr/>
                    <a:lstStyle/>
                    <a:p>
                      <a:pPr marL="0" marR="0" lvl="0" indent="0" algn="ctr" defTabSz="1219231" rtl="0" eaLnBrk="1" fontAlgn="auto" latinLnBrk="0" hangingPunct="1">
                        <a:lnSpc>
                          <a:spcPct val="100000"/>
                        </a:lnSpc>
                        <a:spcBef>
                          <a:spcPts val="0"/>
                        </a:spcBef>
                        <a:spcAft>
                          <a:spcPts val="0"/>
                        </a:spcAft>
                        <a:buClrTx/>
                        <a:buSzTx/>
                        <a:buFontTx/>
                        <a:buNone/>
                        <a:tabLst/>
                        <a:defRPr/>
                      </a:pPr>
                      <a:r>
                        <a:rPr lang="en-US" sz="1200" spc="-110" dirty="0">
                          <a:solidFill>
                            <a:schemeClr val="tx1"/>
                          </a:solidFill>
                        </a:rPr>
                        <a:t>Proposal </a:t>
                      </a:r>
                      <a:r>
                        <a:rPr lang="en-US" sz="1200" spc="-5" dirty="0">
                          <a:solidFill>
                            <a:schemeClr val="tx1"/>
                          </a:solidFill>
                        </a:rPr>
                        <a:t>of </a:t>
                      </a:r>
                      <a:r>
                        <a:rPr lang="en-US" sz="1200" spc="-70" dirty="0">
                          <a:solidFill>
                            <a:schemeClr val="tx1"/>
                          </a:solidFill>
                        </a:rPr>
                        <a:t>new </a:t>
                      </a:r>
                      <a:r>
                        <a:rPr lang="en-US" sz="1200" spc="-80" dirty="0">
                          <a:solidFill>
                            <a:schemeClr val="tx1"/>
                          </a:solidFill>
                        </a:rPr>
                        <a:t>capacity </a:t>
                      </a:r>
                      <a:r>
                        <a:rPr lang="en-US" sz="1200" spc="-85" dirty="0">
                          <a:solidFill>
                            <a:schemeClr val="tx1"/>
                          </a:solidFill>
                        </a:rPr>
                        <a:t>received </a:t>
                      </a:r>
                      <a:r>
                        <a:rPr lang="en-US" sz="1200" spc="-95" dirty="0">
                          <a:solidFill>
                            <a:schemeClr val="tx1"/>
                          </a:solidFill>
                        </a:rPr>
                        <a:t>and </a:t>
                      </a:r>
                      <a:r>
                        <a:rPr lang="en-US" sz="1200" spc="-55" dirty="0">
                          <a:solidFill>
                            <a:schemeClr val="tx1"/>
                          </a:solidFill>
                        </a:rPr>
                        <a:t>under </a:t>
                      </a:r>
                      <a:r>
                        <a:rPr lang="en-US" sz="1200" spc="-70" dirty="0">
                          <a:solidFill>
                            <a:schemeClr val="tx1"/>
                          </a:solidFill>
                        </a:rPr>
                        <a:t>consideration</a:t>
                      </a:r>
                      <a:r>
                        <a:rPr lang="en-US" sz="1200" spc="-360" dirty="0">
                          <a:solidFill>
                            <a:schemeClr val="tx1"/>
                          </a:solidFill>
                        </a:rPr>
                        <a:t> </a:t>
                      </a:r>
                      <a:r>
                        <a:rPr lang="en-US" sz="1200" spc="-50" dirty="0">
                          <a:solidFill>
                            <a:schemeClr val="tx1"/>
                          </a:solidFill>
                        </a:rPr>
                        <a:t>.  </a:t>
                      </a:r>
                      <a:r>
                        <a:rPr lang="en-US" sz="1200" spc="-100" dirty="0">
                          <a:solidFill>
                            <a:schemeClr val="tx1"/>
                          </a:solidFill>
                        </a:rPr>
                        <a:t>New </a:t>
                      </a:r>
                      <a:r>
                        <a:rPr lang="en-US" sz="1200" spc="-40" dirty="0">
                          <a:solidFill>
                            <a:schemeClr val="tx1"/>
                          </a:solidFill>
                        </a:rPr>
                        <a:t>tender </a:t>
                      </a:r>
                      <a:r>
                        <a:rPr lang="en-US" sz="1200" spc="-105" dirty="0">
                          <a:solidFill>
                            <a:schemeClr val="tx1"/>
                          </a:solidFill>
                        </a:rPr>
                        <a:t>is </a:t>
                      </a:r>
                      <a:r>
                        <a:rPr lang="en-US" sz="1200" spc="15" dirty="0">
                          <a:solidFill>
                            <a:schemeClr val="tx1"/>
                          </a:solidFill>
                        </a:rPr>
                        <a:t>to </a:t>
                      </a:r>
                      <a:r>
                        <a:rPr lang="en-US" sz="1200" spc="-90" dirty="0">
                          <a:solidFill>
                            <a:schemeClr val="tx1"/>
                          </a:solidFill>
                        </a:rPr>
                        <a:t>be </a:t>
                      </a:r>
                      <a:r>
                        <a:rPr lang="en-US" sz="1200" spc="-320" dirty="0">
                          <a:solidFill>
                            <a:schemeClr val="tx1"/>
                          </a:solidFill>
                        </a:rPr>
                        <a:t> </a:t>
                      </a:r>
                      <a:r>
                        <a:rPr lang="en-US" sz="1200" spc="-60" dirty="0">
                          <a:solidFill>
                            <a:schemeClr val="tx1"/>
                          </a:solidFill>
                        </a:rPr>
                        <a:t>finalized</a:t>
                      </a:r>
                      <a:endParaRPr lang="en-US" sz="1200" dirty="0">
                        <a:solidFill>
                          <a:schemeClr val="tx1"/>
                        </a:solidFill>
                        <a:latin typeface="+mn-lt"/>
                        <a:cs typeface="Arimo"/>
                      </a:endParaRPr>
                    </a:p>
                  </a:txBody>
                  <a:tcPr anchor="ctr"/>
                </a:tc>
                <a:tc>
                  <a:txBody>
                    <a:bodyPr/>
                    <a:lstStyle/>
                    <a:p>
                      <a:pPr marL="0" marR="0" lvl="0" indent="0" algn="l" defTabSz="1219231" rtl="0" eaLnBrk="1" fontAlgn="auto" latinLnBrk="0" hangingPunct="1">
                        <a:lnSpc>
                          <a:spcPct val="100000"/>
                        </a:lnSpc>
                        <a:spcBef>
                          <a:spcPts val="0"/>
                        </a:spcBef>
                        <a:spcAft>
                          <a:spcPts val="0"/>
                        </a:spcAft>
                        <a:buClrTx/>
                        <a:buSzTx/>
                        <a:buFontTx/>
                        <a:buNone/>
                        <a:tabLst/>
                        <a:defRPr/>
                      </a:pPr>
                      <a:r>
                        <a:rPr lang="en-US" sz="1200" dirty="0">
                          <a:solidFill>
                            <a:schemeClr val="tx1"/>
                          </a:solidFill>
                        </a:rPr>
                        <a:t>Timelines of 2019-20 sanctioned expired . New tender was exp. to be </a:t>
                      </a:r>
                      <a:r>
                        <a:rPr lang="en-US" sz="1200" dirty="0" err="1">
                          <a:solidFill>
                            <a:schemeClr val="tx1"/>
                          </a:solidFill>
                        </a:rPr>
                        <a:t>finalised</a:t>
                      </a:r>
                      <a:r>
                        <a:rPr lang="en-US" sz="1200" dirty="0">
                          <a:solidFill>
                            <a:schemeClr val="tx1"/>
                          </a:solidFill>
                        </a:rPr>
                        <a:t> for allocations made in FY 2021-22</a:t>
                      </a:r>
                      <a:endParaRPr lang="en-US" sz="1200" dirty="0">
                        <a:solidFill>
                          <a:schemeClr val="tx1"/>
                        </a:solidFill>
                        <a:latin typeface="+mn-lt"/>
                        <a:cs typeface="Arimo"/>
                      </a:endParaRPr>
                    </a:p>
                  </a:txBody>
                  <a:tcPr anchor="ctr"/>
                </a:tc>
                <a:tc>
                  <a:txBody>
                    <a:bodyPr/>
                    <a:lstStyle/>
                    <a:p>
                      <a:pPr marL="247015" algn="ctr">
                        <a:lnSpc>
                          <a:spcPct val="100000"/>
                        </a:lnSpc>
                        <a:spcBef>
                          <a:spcPts val="350"/>
                        </a:spcBef>
                      </a:pPr>
                      <a:r>
                        <a:rPr lang="en-US" sz="1200" dirty="0">
                          <a:solidFill>
                            <a:schemeClr val="tx1"/>
                          </a:solidFill>
                        </a:rPr>
                        <a:t>Extension request received from DISCOMs. New capacity for FY 2021-22 is yet to be received from DISCOMs</a:t>
                      </a:r>
                      <a:endParaRPr lang="en-US" sz="1200" dirty="0">
                        <a:solidFill>
                          <a:schemeClr val="tx1"/>
                        </a:solidFill>
                        <a:latin typeface="+mn-lt"/>
                        <a:cs typeface="Arimo"/>
                      </a:endParaRPr>
                    </a:p>
                  </a:txBody>
                  <a:tcPr anchor="ctr"/>
                </a:tc>
                <a:tc>
                  <a:txBody>
                    <a:bodyPr/>
                    <a:lstStyle/>
                    <a:p>
                      <a:pPr marL="247015" algn="ctr">
                        <a:lnSpc>
                          <a:spcPct val="100000"/>
                        </a:lnSpc>
                        <a:spcBef>
                          <a:spcPts val="350"/>
                        </a:spcBef>
                      </a:pPr>
                      <a:r>
                        <a:rPr lang="en-US" sz="1200" dirty="0">
                          <a:solidFill>
                            <a:srgbClr val="DA291C"/>
                          </a:solidFill>
                        </a:rPr>
                        <a:t>No incentives released by MNRE and 1.No Capacity Installed so far</a:t>
                      </a:r>
                      <a:endParaRPr lang="en-US" sz="1200" dirty="0">
                        <a:solidFill>
                          <a:srgbClr val="DA291C"/>
                        </a:solidFill>
                        <a:latin typeface="+mn-lt"/>
                        <a:cs typeface="Arimo"/>
                      </a:endParaRPr>
                    </a:p>
                  </a:txBody>
                  <a:tcPr anchor="ctr"/>
                </a:tc>
                <a:extLst>
                  <a:ext uri="{0D108BD9-81ED-4DB2-BD59-A6C34878D82A}">
                    <a16:rowId xmlns:a16="http://schemas.microsoft.com/office/drawing/2014/main" val="3650051299"/>
                  </a:ext>
                </a:extLst>
              </a:tr>
            </a:tbl>
          </a:graphicData>
        </a:graphic>
      </p:graphicFrame>
      <p:sp>
        <p:nvSpPr>
          <p:cNvPr id="5" name="Title 3">
            <a:extLst>
              <a:ext uri="{FF2B5EF4-FFF2-40B4-BE49-F238E27FC236}">
                <a16:creationId xmlns:a16="http://schemas.microsoft.com/office/drawing/2014/main" id="{7F8CCE40-D510-49F6-8DF2-BA0565385010}"/>
              </a:ext>
            </a:extLst>
          </p:cNvPr>
          <p:cNvSpPr txBox="1">
            <a:spLocks/>
          </p:cNvSpPr>
          <p:nvPr/>
        </p:nvSpPr>
        <p:spPr>
          <a:xfrm>
            <a:off x="254725" y="314399"/>
            <a:ext cx="11188260" cy="368285"/>
          </a:xfrm>
          <a:prstGeom prst="rect">
            <a:avLst/>
          </a:prstGeom>
        </p:spPr>
        <p:txBody>
          <a:bodyPr vert="horz"/>
          <a:lstStyle>
            <a:lvl1pPr algn="l" defTabSz="1219231" rtl="0" eaLnBrk="1" latinLnBrk="0" hangingPunct="1">
              <a:spcBef>
                <a:spcPct val="0"/>
              </a:spcBef>
              <a:buNone/>
              <a:defRPr sz="2667" kern="1200">
                <a:solidFill>
                  <a:schemeClr val="tx1"/>
                </a:solidFill>
                <a:latin typeface="+mj-lt"/>
                <a:ea typeface="+mj-ea"/>
                <a:cs typeface="+mj-cs"/>
              </a:defRPr>
            </a:lvl1pPr>
          </a:lstStyle>
          <a:p>
            <a:pPr algn="just"/>
            <a:r>
              <a:rPr lang="en-US" sz="1800" b="1" dirty="0"/>
              <a:t>RTS implementation status of select states (2/2)</a:t>
            </a:r>
          </a:p>
        </p:txBody>
      </p:sp>
      <p:sp>
        <p:nvSpPr>
          <p:cNvPr id="6" name="TextBox 5">
            <a:extLst>
              <a:ext uri="{FF2B5EF4-FFF2-40B4-BE49-F238E27FC236}">
                <a16:creationId xmlns:a16="http://schemas.microsoft.com/office/drawing/2014/main" id="{BD3F06D4-ECBE-4F80-B5D5-D147EB1C57D3}"/>
              </a:ext>
            </a:extLst>
          </p:cNvPr>
          <p:cNvSpPr txBox="1"/>
          <p:nvPr/>
        </p:nvSpPr>
        <p:spPr>
          <a:xfrm>
            <a:off x="8404261" y="682684"/>
            <a:ext cx="3311552" cy="161583"/>
          </a:xfrm>
          <a:prstGeom prst="rect">
            <a:avLst/>
          </a:prstGeom>
          <a:noFill/>
        </p:spPr>
        <p:txBody>
          <a:bodyPr wrap="square" lIns="0" tIns="0" rIns="0" bIns="0" rtlCol="0">
            <a:spAutoFit/>
          </a:bodyPr>
          <a:lstStyle/>
          <a:p>
            <a:pPr>
              <a:spcBef>
                <a:spcPts val="600"/>
              </a:spcBef>
              <a:buSzPct val="100000"/>
            </a:pPr>
            <a:r>
              <a:rPr lang="en-US" sz="1050" dirty="0">
                <a:solidFill>
                  <a:srgbClr val="313131"/>
                </a:solidFill>
              </a:rPr>
              <a:t>*As on Dec 2021               **As on May 2022</a:t>
            </a:r>
          </a:p>
        </p:txBody>
      </p:sp>
    </p:spTree>
    <p:extLst>
      <p:ext uri="{BB962C8B-B14F-4D97-AF65-F5344CB8AC3E}">
        <p14:creationId xmlns:p14="http://schemas.microsoft.com/office/powerpoint/2010/main" val="267903795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828" y="1723"/>
          <a:ext cx="1588" cy="1588"/>
        </p:xfrm>
        <a:graphic>
          <a:graphicData uri="http://schemas.openxmlformats.org/presentationml/2006/ole">
            <mc:AlternateContent xmlns:mc="http://schemas.openxmlformats.org/markup-compatibility/2006">
              <mc:Choice xmlns:v="urn:schemas-microsoft-com:vml" Requires="v">
                <p:oleObj spid="_x0000_s48185" name="think-cell Slide" r:id="rId5" imgW="498" imgH="499" progId="TCLayout.ActiveDocument.1">
                  <p:embed/>
                </p:oleObj>
              </mc:Choice>
              <mc:Fallback>
                <p:oleObj name="think-cell Slide" r:id="rId5"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6"/>
                      <a:stretch>
                        <a:fillRect/>
                      </a:stretch>
                    </p:blipFill>
                    <p:spPr>
                      <a:xfrm>
                        <a:off x="1828" y="1723"/>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872" y="241430"/>
            <a:ext cx="11188260" cy="368285"/>
          </a:xfrm>
        </p:spPr>
        <p:txBody>
          <a:bodyPr vert="horz"/>
          <a:lstStyle/>
          <a:p>
            <a:pPr algn="just"/>
            <a:r>
              <a:rPr lang="en-US" sz="1800" b="1" dirty="0"/>
              <a:t>Solar Policy Comparison (1/2)</a:t>
            </a:r>
          </a:p>
        </p:txBody>
      </p:sp>
      <p:graphicFrame>
        <p:nvGraphicFramePr>
          <p:cNvPr id="3" name="Table 2">
            <a:extLst>
              <a:ext uri="{FF2B5EF4-FFF2-40B4-BE49-F238E27FC236}">
                <a16:creationId xmlns:a16="http://schemas.microsoft.com/office/drawing/2014/main" id="{4453357E-2B32-4916-AD5D-5C34FC0E94B4}"/>
              </a:ext>
            </a:extLst>
          </p:cNvPr>
          <p:cNvGraphicFramePr>
            <a:graphicFrameLocks noGrp="1"/>
          </p:cNvGraphicFramePr>
          <p:nvPr>
            <p:extLst>
              <p:ext uri="{D42A27DB-BD31-4B8C-83A1-F6EECF244321}">
                <p14:modId xmlns:p14="http://schemas.microsoft.com/office/powerpoint/2010/main" val="2866991364"/>
              </p:ext>
            </p:extLst>
          </p:nvPr>
        </p:nvGraphicFramePr>
        <p:xfrm>
          <a:off x="189446" y="672101"/>
          <a:ext cx="11813109" cy="5795964"/>
        </p:xfrm>
        <a:graphic>
          <a:graphicData uri="http://schemas.openxmlformats.org/drawingml/2006/table">
            <a:tbl>
              <a:tblPr>
                <a:tableStyleId>{5C22544A-7EE6-4342-B048-85BDC9FD1C3A}</a:tableStyleId>
              </a:tblPr>
              <a:tblGrid>
                <a:gridCol w="435371">
                  <a:extLst>
                    <a:ext uri="{9D8B030D-6E8A-4147-A177-3AD203B41FA5}">
                      <a16:colId xmlns:a16="http://schemas.microsoft.com/office/drawing/2014/main" val="965988282"/>
                    </a:ext>
                  </a:extLst>
                </a:gridCol>
                <a:gridCol w="1049871">
                  <a:extLst>
                    <a:ext uri="{9D8B030D-6E8A-4147-A177-3AD203B41FA5}">
                      <a16:colId xmlns:a16="http://schemas.microsoft.com/office/drawing/2014/main" val="1284218174"/>
                    </a:ext>
                  </a:extLst>
                </a:gridCol>
                <a:gridCol w="3462154">
                  <a:extLst>
                    <a:ext uri="{9D8B030D-6E8A-4147-A177-3AD203B41FA5}">
                      <a16:colId xmlns:a16="http://schemas.microsoft.com/office/drawing/2014/main" val="2226796636"/>
                    </a:ext>
                  </a:extLst>
                </a:gridCol>
                <a:gridCol w="3171680">
                  <a:extLst>
                    <a:ext uri="{9D8B030D-6E8A-4147-A177-3AD203B41FA5}">
                      <a16:colId xmlns:a16="http://schemas.microsoft.com/office/drawing/2014/main" val="2743073994"/>
                    </a:ext>
                  </a:extLst>
                </a:gridCol>
                <a:gridCol w="3694033">
                  <a:extLst>
                    <a:ext uri="{9D8B030D-6E8A-4147-A177-3AD203B41FA5}">
                      <a16:colId xmlns:a16="http://schemas.microsoft.com/office/drawing/2014/main" val="719130779"/>
                    </a:ext>
                  </a:extLst>
                </a:gridCol>
              </a:tblGrid>
              <a:tr h="296608">
                <a:tc>
                  <a:txBody>
                    <a:bodyPr/>
                    <a:lstStyle/>
                    <a:p>
                      <a:pPr algn="ctr" fontAlgn="ctr"/>
                      <a:r>
                        <a:rPr lang="en-US" sz="1000" b="1" u="none" strike="noStrike" dirty="0" err="1">
                          <a:solidFill>
                            <a:schemeClr val="bg1"/>
                          </a:solidFill>
                          <a:effectLst/>
                          <a:latin typeface="+mn-lt"/>
                        </a:rPr>
                        <a:t>Sl</a:t>
                      </a:r>
                      <a:r>
                        <a:rPr lang="en-US" sz="1000" b="1" u="none" strike="noStrike" dirty="0">
                          <a:solidFill>
                            <a:schemeClr val="bg1"/>
                          </a:solidFill>
                          <a:effectLst/>
                          <a:latin typeface="+mn-lt"/>
                        </a:rPr>
                        <a:t> No.</a:t>
                      </a:r>
                      <a:endParaRPr lang="en-US" sz="1000" b="1" i="0" u="none" strike="noStrike" dirty="0">
                        <a:solidFill>
                          <a:schemeClr val="bg1"/>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fontAlgn="ctr"/>
                      <a:r>
                        <a:rPr lang="en-US" sz="1000" b="1" u="none" strike="noStrike" dirty="0">
                          <a:solidFill>
                            <a:schemeClr val="bg1"/>
                          </a:solidFill>
                          <a:effectLst/>
                          <a:latin typeface="+mn-lt"/>
                        </a:rPr>
                        <a:t>Parameter</a:t>
                      </a:r>
                      <a:endParaRPr lang="en-US" sz="1000" b="1" i="0" u="none" strike="noStrike" dirty="0">
                        <a:solidFill>
                          <a:schemeClr val="bg1"/>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en-US" sz="1000" b="1" u="none" strike="noStrike" dirty="0">
                          <a:solidFill>
                            <a:schemeClr val="bg1"/>
                          </a:solidFill>
                          <a:effectLst/>
                          <a:latin typeface="+mn-lt"/>
                        </a:rPr>
                        <a:t>Rajasthan Solar Policy 2019</a:t>
                      </a:r>
                      <a:endParaRPr lang="en-US" sz="1000" b="1" i="0" u="none" strike="noStrike" dirty="0">
                        <a:solidFill>
                          <a:schemeClr val="bg1"/>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en-US" sz="1000" b="1" u="none" strike="noStrike" dirty="0">
                          <a:solidFill>
                            <a:schemeClr val="bg1"/>
                          </a:solidFill>
                          <a:effectLst/>
                          <a:latin typeface="+mn-lt"/>
                        </a:rPr>
                        <a:t>Gujarat Solar Power Policy 2021</a:t>
                      </a:r>
                      <a:endParaRPr lang="en-US" sz="1000" b="1" i="0" u="none" strike="noStrike" dirty="0">
                        <a:solidFill>
                          <a:schemeClr val="bg1"/>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en-US" sz="1000" b="1" u="none" strike="noStrike" dirty="0">
                          <a:solidFill>
                            <a:schemeClr val="bg1"/>
                          </a:solidFill>
                          <a:effectLst/>
                          <a:latin typeface="+mn-lt"/>
                        </a:rPr>
                        <a:t>Draft West Bengal RE Policy 2022-2027</a:t>
                      </a:r>
                      <a:endParaRPr lang="en-US" sz="1000" b="1" i="0" u="none" strike="noStrike" dirty="0">
                        <a:solidFill>
                          <a:schemeClr val="bg1"/>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575551451"/>
                  </a:ext>
                </a:extLst>
              </a:tr>
              <a:tr h="3445511">
                <a:tc>
                  <a:txBody>
                    <a:bodyPr/>
                    <a:lstStyle/>
                    <a:p>
                      <a:pPr algn="ctr" fontAlgn="ctr"/>
                      <a:r>
                        <a:rPr lang="en-US" sz="1000" u="none" strike="noStrike" dirty="0">
                          <a:effectLst/>
                          <a:latin typeface="+mn-lt"/>
                        </a:rPr>
                        <a:t>1</a:t>
                      </a:r>
                      <a:endParaRPr lang="en-US" sz="1000" b="0" i="0" u="none" strike="noStrike" dirty="0">
                        <a:solidFill>
                          <a:srgbClr val="000000"/>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u="none" strike="noStrike" dirty="0">
                          <a:effectLst/>
                          <a:latin typeface="+mn-lt"/>
                        </a:rPr>
                        <a:t>Major incentives/</a:t>
                      </a:r>
                    </a:p>
                    <a:p>
                      <a:pPr algn="l" fontAlgn="ctr"/>
                      <a:r>
                        <a:rPr lang="en-US" sz="1000" u="none" strike="noStrike" dirty="0">
                          <a:effectLst/>
                          <a:latin typeface="+mn-lt"/>
                        </a:rPr>
                        <a:t>drivers</a:t>
                      </a:r>
                      <a:endParaRPr lang="en-US" sz="1000" b="0" i="0" u="none" strike="noStrike" dirty="0">
                        <a:solidFill>
                          <a:srgbClr val="FFFFFF"/>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indent="-228600" algn="l" fontAlgn="ctr">
                        <a:buFont typeface="+mj-lt"/>
                        <a:buAutoNum type="arabicPeriod"/>
                      </a:pPr>
                      <a:r>
                        <a:rPr lang="en-US" sz="1000" b="1" u="none" strike="noStrike" dirty="0">
                          <a:effectLst/>
                          <a:latin typeface="+mn-lt"/>
                        </a:rPr>
                        <a:t>Banking allowed for Captive and Third Party Sale on yearly basis</a:t>
                      </a:r>
                    </a:p>
                    <a:p>
                      <a:pPr marL="228600" indent="-228600" algn="l" fontAlgn="ctr">
                        <a:buFont typeface="+mj-lt"/>
                        <a:buAutoNum type="arabicPeriod"/>
                      </a:pPr>
                      <a:r>
                        <a:rPr lang="en-US" sz="1000" b="1" u="none" strike="noStrike" dirty="0">
                          <a:effectLst/>
                          <a:latin typeface="+mn-lt"/>
                        </a:rPr>
                        <a:t>Exemption/Relaxation from Electricity Duty for captive use within the State for 7 years from COD</a:t>
                      </a:r>
                    </a:p>
                    <a:p>
                      <a:pPr marL="228600" indent="-228600" algn="l" fontAlgn="ctr">
                        <a:buFont typeface="+mj-lt"/>
                        <a:buAutoNum type="arabicPeriod"/>
                      </a:pPr>
                      <a:r>
                        <a:rPr lang="en-US" sz="1000" b="1" u="none" strike="noStrike" dirty="0">
                          <a:effectLst/>
                          <a:latin typeface="+mn-lt"/>
                        </a:rPr>
                        <a:t>Transmission and wheeling charge discount (for projects </a:t>
                      </a:r>
                      <a:r>
                        <a:rPr lang="en-US" sz="1000" b="1" u="none" strike="noStrike" dirty="0" err="1">
                          <a:effectLst/>
                          <a:latin typeface="+mn-lt"/>
                        </a:rPr>
                        <a:t>upto</a:t>
                      </a:r>
                      <a:r>
                        <a:rPr lang="en-US" sz="1000" b="1" u="none" strike="noStrike" dirty="0">
                          <a:effectLst/>
                          <a:latin typeface="+mn-lt"/>
                        </a:rPr>
                        <a:t> 25 MW capacity):</a:t>
                      </a:r>
                    </a:p>
                    <a:p>
                      <a:pPr marL="732800" lvl="1" indent="-228600" algn="l" fontAlgn="ctr">
                        <a:buFont typeface="+mj-lt"/>
                        <a:buAutoNum type="alphaLcParenR"/>
                      </a:pPr>
                      <a:r>
                        <a:rPr lang="en-US" sz="1000" u="none" strike="noStrike" dirty="0">
                          <a:effectLst/>
                          <a:latin typeface="+mn-lt"/>
                        </a:rPr>
                        <a:t>50% applicable only for solar projects outside premises of RJ consumers and for solar projects with sale of power within state through open access</a:t>
                      </a:r>
                    </a:p>
                    <a:p>
                      <a:pPr marL="732800" lvl="1" indent="-228600" algn="l" fontAlgn="ctr">
                        <a:buFont typeface="+mj-lt"/>
                        <a:buAutoNum type="alphaLcParenR"/>
                      </a:pPr>
                      <a:r>
                        <a:rPr lang="en-US" sz="1000" u="none" strike="noStrike" dirty="0">
                          <a:effectLst/>
                          <a:latin typeface="+mn-lt"/>
                        </a:rPr>
                        <a:t>25% applicable for solar projects with storage system for third party or captive sale </a:t>
                      </a:r>
                    </a:p>
                    <a:p>
                      <a:pPr marL="732800" lvl="1" indent="-228600" algn="l" fontAlgn="ctr">
                        <a:buFont typeface="+mj-lt"/>
                        <a:buAutoNum type="alphaLcParenR"/>
                      </a:pPr>
                      <a:r>
                        <a:rPr lang="en-US" sz="1000" u="none" strike="noStrike" dirty="0">
                          <a:effectLst/>
                          <a:latin typeface="+mn-lt"/>
                        </a:rPr>
                        <a:t>No charges applicable for solar projects set up in vicinity of EV charging stations</a:t>
                      </a:r>
                      <a:br>
                        <a:rPr lang="en-US" sz="1000" u="none" strike="noStrike" dirty="0">
                          <a:effectLst/>
                          <a:latin typeface="+mn-lt"/>
                        </a:rPr>
                      </a:br>
                      <a:r>
                        <a:rPr lang="en-US" sz="1000" u="none" strike="noStrike" dirty="0">
                          <a:effectLst/>
                          <a:latin typeface="+mn-lt"/>
                        </a:rPr>
                        <a:t> </a:t>
                      </a:r>
                    </a:p>
                    <a:p>
                      <a:pPr marL="228600" indent="-228600" algn="l" fontAlgn="ctr">
                        <a:buFont typeface="+mj-lt"/>
                        <a:buAutoNum type="arabicPeriod" startAt="4"/>
                      </a:pPr>
                      <a:r>
                        <a:rPr lang="en-US" sz="1000" b="1" u="none" strike="noStrike" dirty="0">
                          <a:effectLst/>
                          <a:latin typeface="+mn-lt"/>
                        </a:rPr>
                        <a:t>Manufacturing of solar equipment would be entitled to following benefits/incentives</a:t>
                      </a:r>
                    </a:p>
                    <a:p>
                      <a:pPr marL="732800" lvl="1" indent="-228600" algn="l" fontAlgn="ctr">
                        <a:buFont typeface="+mj-lt"/>
                        <a:buAutoNum type="alphaLcParenR"/>
                      </a:pPr>
                      <a:r>
                        <a:rPr lang="en-US" sz="1000" u="none" strike="noStrike" dirty="0">
                          <a:effectLst/>
                          <a:latin typeface="+mn-lt"/>
                        </a:rPr>
                        <a:t>Benefits of Micro, Small and Medium Enterprises (MSME) Policy to eligible manufacturers</a:t>
                      </a:r>
                    </a:p>
                    <a:p>
                      <a:pPr marL="732800" lvl="1" indent="-228600" algn="l" fontAlgn="ctr">
                        <a:buFont typeface="+mj-lt"/>
                        <a:buAutoNum type="alphaLcParenR"/>
                      </a:pPr>
                      <a:r>
                        <a:rPr lang="en-US" sz="1000" u="none" strike="noStrike" dirty="0">
                          <a:effectLst/>
                          <a:latin typeface="+mn-lt"/>
                        </a:rPr>
                        <a:t>Land allotment at 50% concessional rate in industrial area/any other area</a:t>
                      </a:r>
                    </a:p>
                    <a:p>
                      <a:pPr marL="732800" lvl="1" indent="-228600" algn="l" fontAlgn="ctr">
                        <a:buFont typeface="+mj-lt"/>
                        <a:buAutoNum type="alphaLcParenR"/>
                      </a:pPr>
                      <a:r>
                        <a:rPr lang="en-US" sz="1000" u="none" strike="noStrike" dirty="0">
                          <a:effectLst/>
                          <a:latin typeface="+mn-lt"/>
                        </a:rPr>
                        <a:t>Exemption of 100% Stamp duty</a:t>
                      </a:r>
                    </a:p>
                    <a:p>
                      <a:pPr marL="732800" lvl="1" indent="-228600" algn="l" fontAlgn="ctr">
                        <a:buFont typeface="+mj-lt"/>
                        <a:buAutoNum type="alphaLcParenR"/>
                      </a:pPr>
                      <a:r>
                        <a:rPr lang="en-US" sz="1000" u="none" strike="noStrike" dirty="0">
                          <a:effectLst/>
                          <a:latin typeface="+mn-lt"/>
                        </a:rPr>
                        <a:t>Full exemption in Electricity Duty for 10 years</a:t>
                      </a:r>
                    </a:p>
                    <a:p>
                      <a:pPr marL="732800" lvl="1" indent="-228600" algn="l" fontAlgn="ctr">
                        <a:buFont typeface="+mj-lt"/>
                        <a:buAutoNum type="alphaLcParenR"/>
                      </a:pPr>
                      <a:r>
                        <a:rPr lang="en-US" sz="1000" u="none" strike="noStrike" dirty="0">
                          <a:effectLst/>
                          <a:latin typeface="+mn-lt"/>
                        </a:rPr>
                        <a:t>90% of SGST applicable for 7 years</a:t>
                      </a:r>
                    </a:p>
                    <a:p>
                      <a:pPr marL="228600" indent="-228600" algn="l" fontAlgn="ctr">
                        <a:buFont typeface="+mj-lt"/>
                        <a:buAutoNum type="arabicPeriod" startAt="4"/>
                      </a:pPr>
                      <a:r>
                        <a:rPr lang="en-US" sz="1000" b="1" u="none" strike="noStrike" dirty="0">
                          <a:effectLst/>
                          <a:latin typeface="+mn-lt"/>
                        </a:rPr>
                        <a:t>Government land will be allotted at 50% concessional rate for first 500 renewable energy based EV charging stations installed within Dec 2024 (5 years from introduction of solar policy 2019)</a:t>
                      </a:r>
                      <a:endParaRPr lang="en-US" sz="1000" b="1" i="0" u="none" strike="noStrike" dirty="0">
                        <a:solidFill>
                          <a:srgbClr val="000000"/>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indent="-228600" algn="l" fontAlgn="b">
                        <a:buFont typeface="+mj-lt"/>
                        <a:buAutoNum type="arabicPeriod"/>
                      </a:pPr>
                      <a:r>
                        <a:rPr lang="en-US" sz="1000" b="1" u="none" strike="noStrike" dirty="0">
                          <a:effectLst/>
                          <a:latin typeface="+mn-lt"/>
                        </a:rPr>
                        <a:t>For Residential Projects</a:t>
                      </a:r>
                    </a:p>
                    <a:p>
                      <a:pPr marL="732800" lvl="1" indent="-228600" algn="l" fontAlgn="b">
                        <a:buFont typeface="+mj-lt"/>
                        <a:buAutoNum type="alphaLcParenR"/>
                      </a:pPr>
                      <a:r>
                        <a:rPr lang="en-US" sz="1000" u="none" strike="noStrike" dirty="0">
                          <a:effectLst/>
                          <a:latin typeface="+mn-lt"/>
                        </a:rPr>
                        <a:t>No restriction on capacity</a:t>
                      </a:r>
                    </a:p>
                    <a:p>
                      <a:pPr marL="732800" lvl="1" indent="-228600" algn="l" fontAlgn="b">
                        <a:buFont typeface="+mj-lt"/>
                        <a:buAutoNum type="alphaLcParenR"/>
                      </a:pPr>
                      <a:r>
                        <a:rPr lang="en-US" sz="1000" u="none" strike="noStrike" dirty="0">
                          <a:effectLst/>
                          <a:latin typeface="+mn-lt"/>
                        </a:rPr>
                        <a:t>Capital subsidy as per govt. (as announced from time to time)</a:t>
                      </a:r>
                    </a:p>
                    <a:p>
                      <a:pPr marL="732800" lvl="1" indent="-228600" algn="l" fontAlgn="b">
                        <a:buFont typeface="+mj-lt"/>
                        <a:buAutoNum type="alphaLcParenR"/>
                      </a:pPr>
                      <a:r>
                        <a:rPr lang="en-US" sz="1000" u="none" strike="noStrike" dirty="0">
                          <a:effectLst/>
                          <a:latin typeface="+mn-lt"/>
                        </a:rPr>
                        <a:t>Third Party sale allowed</a:t>
                      </a:r>
                    </a:p>
                    <a:p>
                      <a:pPr marL="732800" lvl="1" indent="-228600" algn="l" fontAlgn="b">
                        <a:buFont typeface="+mj-lt"/>
                        <a:buAutoNum type="alphaLcParenR"/>
                      </a:pPr>
                      <a:r>
                        <a:rPr lang="en-US" sz="1000" u="none" strike="noStrike" dirty="0">
                          <a:effectLst/>
                          <a:latin typeface="+mn-lt"/>
                        </a:rPr>
                        <a:t>No Banking charges</a:t>
                      </a:r>
                    </a:p>
                    <a:p>
                      <a:pPr marL="732800" lvl="1" indent="-228600" algn="l" fontAlgn="b">
                        <a:buFont typeface="+mj-lt"/>
                        <a:buAutoNum type="alphaLcParenR"/>
                      </a:pPr>
                      <a:r>
                        <a:rPr lang="en-US" sz="1000" u="none" strike="noStrike" dirty="0">
                          <a:effectLst/>
                          <a:latin typeface="+mn-lt"/>
                        </a:rPr>
                        <a:t>No Transmission and wheeling charges</a:t>
                      </a:r>
                    </a:p>
                    <a:p>
                      <a:pPr marL="732800" lvl="1" indent="-228600" algn="l" fontAlgn="b">
                        <a:buFont typeface="+mj-lt"/>
                        <a:buAutoNum type="alphaLcParenR"/>
                      </a:pPr>
                      <a:r>
                        <a:rPr lang="en-US" sz="1000" u="none" strike="noStrike" dirty="0">
                          <a:effectLst/>
                          <a:latin typeface="+mn-lt"/>
                        </a:rPr>
                        <a:t>Cross subsidy and addl. Surcharge not applicable for self consumption</a:t>
                      </a:r>
                    </a:p>
                    <a:p>
                      <a:pPr marL="228600" indent="-228600" algn="l" fontAlgn="b">
                        <a:buFont typeface="+mj-lt"/>
                        <a:buAutoNum type="arabicPeriod" startAt="2"/>
                      </a:pPr>
                      <a:r>
                        <a:rPr lang="en-US" sz="1000" b="1" u="none" strike="noStrike" dirty="0">
                          <a:effectLst/>
                          <a:latin typeface="+mn-lt"/>
                        </a:rPr>
                        <a:t>For Captive projects</a:t>
                      </a:r>
                    </a:p>
                    <a:p>
                      <a:pPr marL="732800" lvl="1" indent="-228600" algn="l" fontAlgn="b">
                        <a:buFont typeface="+mj-lt"/>
                        <a:buAutoNum type="alphaLcParenR"/>
                      </a:pPr>
                      <a:r>
                        <a:rPr lang="en-US" sz="1000" u="none" strike="noStrike" dirty="0">
                          <a:effectLst/>
                          <a:latin typeface="+mn-lt"/>
                        </a:rPr>
                        <a:t>No restriction on installed capacity</a:t>
                      </a:r>
                    </a:p>
                    <a:p>
                      <a:pPr marL="732800" lvl="1" indent="-228600" algn="l" fontAlgn="b">
                        <a:buFont typeface="+mj-lt"/>
                        <a:buAutoNum type="alphaLcParenR"/>
                      </a:pPr>
                      <a:r>
                        <a:rPr lang="en-US" sz="1000" u="none" strike="noStrike" dirty="0">
                          <a:effectLst/>
                          <a:latin typeface="+mn-lt"/>
                        </a:rPr>
                        <a:t>Surplus injection compensation</a:t>
                      </a:r>
                    </a:p>
                    <a:p>
                      <a:pPr marL="732800" lvl="1" indent="-228600" algn="l" fontAlgn="b">
                        <a:buFont typeface="+mj-lt"/>
                        <a:buAutoNum type="alphaLcParenR"/>
                      </a:pPr>
                      <a:r>
                        <a:rPr lang="en-US" sz="1000" u="none" strike="noStrike" dirty="0">
                          <a:effectLst/>
                          <a:latin typeface="+mn-lt"/>
                        </a:rPr>
                        <a:t>CSS and addl. surcharge are exempted</a:t>
                      </a:r>
                    </a:p>
                    <a:p>
                      <a:pPr marL="228600" lvl="0" indent="-228600" algn="l" fontAlgn="b">
                        <a:buFont typeface="+mj-lt"/>
                        <a:buAutoNum type="arabicPeriod" startAt="2"/>
                      </a:pPr>
                      <a:r>
                        <a:rPr lang="en-US" sz="1000" b="1" u="none" strike="noStrike" dirty="0">
                          <a:effectLst/>
                          <a:latin typeface="+mn-lt"/>
                        </a:rPr>
                        <a:t>For Third Party Sale</a:t>
                      </a:r>
                    </a:p>
                    <a:p>
                      <a:pPr marL="732800" lvl="1" indent="-228600" algn="l" fontAlgn="b">
                        <a:buFont typeface="+mj-lt"/>
                        <a:buAutoNum type="alphaLcParenR"/>
                      </a:pPr>
                      <a:r>
                        <a:rPr lang="en-US" sz="1000" u="none" strike="noStrike" dirty="0">
                          <a:effectLst/>
                          <a:latin typeface="+mn-lt"/>
                        </a:rPr>
                        <a:t>Banking charges for Govt. buildings exempted</a:t>
                      </a:r>
                    </a:p>
                    <a:p>
                      <a:pPr marL="732800" lvl="1" indent="-228600" algn="l" fontAlgn="b">
                        <a:buFont typeface="+mj-lt"/>
                        <a:buAutoNum type="alphaLcParenR"/>
                      </a:pPr>
                      <a:r>
                        <a:rPr lang="en-US" sz="1000" u="none" strike="noStrike" dirty="0">
                          <a:effectLst/>
                          <a:latin typeface="+mn-lt"/>
                        </a:rPr>
                        <a:t>Surplus injection compensation @75% of avg tariff discovered in GUVNL bid</a:t>
                      </a:r>
                    </a:p>
                    <a:p>
                      <a:pPr marL="732800" lvl="1" indent="-228600" algn="l" fontAlgn="b">
                        <a:buFont typeface="+mj-lt"/>
                        <a:buAutoNum type="alphaLcParenR"/>
                      </a:pPr>
                      <a:r>
                        <a:rPr lang="en-US" sz="1000" u="none" strike="noStrike" dirty="0">
                          <a:effectLst/>
                          <a:latin typeface="+mn-lt"/>
                        </a:rPr>
                        <a:t>Concession of 50% on CSS and additional surcharge for wind projects under this category</a:t>
                      </a:r>
                    </a:p>
                    <a:p>
                      <a:pPr marL="228600" lvl="0" indent="-228600" algn="l" fontAlgn="b">
                        <a:buFont typeface="+mj-lt"/>
                        <a:buAutoNum type="arabicPeriod" startAt="4"/>
                      </a:pPr>
                      <a:r>
                        <a:rPr lang="en-US" sz="1000" b="1" u="none" strike="noStrike" dirty="0">
                          <a:effectLst/>
                          <a:latin typeface="+mn-lt"/>
                        </a:rPr>
                        <a:t>For projects under REC mechanism</a:t>
                      </a:r>
                    </a:p>
                    <a:p>
                      <a:pPr marL="732800" lvl="1" indent="-228600" algn="l" fontAlgn="b">
                        <a:buFont typeface="+mj-lt"/>
                        <a:buAutoNum type="alphaLcParenR"/>
                      </a:pPr>
                      <a:r>
                        <a:rPr lang="en-US" sz="1000" u="none" strike="noStrike" dirty="0">
                          <a:effectLst/>
                          <a:latin typeface="+mn-lt"/>
                        </a:rPr>
                        <a:t>Banking charges exempted</a:t>
                      </a:r>
                    </a:p>
                    <a:p>
                      <a:pPr marL="732800" lvl="1" indent="-228600" algn="l" fontAlgn="b">
                        <a:buFont typeface="+mj-lt"/>
                        <a:buAutoNum type="alphaLcParenR"/>
                      </a:pPr>
                      <a:r>
                        <a:rPr lang="en-US" sz="1000" u="none" strike="noStrike" dirty="0">
                          <a:effectLst/>
                          <a:latin typeface="+mn-lt"/>
                        </a:rPr>
                        <a:t>Surplus injection compensation of 65% of avg. tariff discovered in GUVNL bid</a:t>
                      </a:r>
                      <a:br>
                        <a:rPr lang="en-US" sz="1000" u="none" strike="noStrike" dirty="0">
                          <a:effectLst/>
                          <a:latin typeface="+mn-lt"/>
                        </a:rPr>
                      </a:br>
                      <a:endParaRPr lang="en-US" sz="1000" b="0" i="0" u="none" strike="noStrike" dirty="0">
                        <a:solidFill>
                          <a:srgbClr val="000000"/>
                        </a:solidFill>
                        <a:effectLst/>
                        <a:latin typeface="+mn-lt"/>
                      </a:endParaRPr>
                    </a:p>
                  </a:txBody>
                  <a:tcPr marT="238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lgn="l" fontAlgn="ctr">
                        <a:buFont typeface="Arial" panose="020B0604020202020204" pitchFamily="34" charset="0"/>
                        <a:buChar char="•"/>
                      </a:pPr>
                      <a:r>
                        <a:rPr lang="en-US" sz="1000" b="1" i="0" u="none" strike="noStrike" dirty="0">
                          <a:solidFill>
                            <a:srgbClr val="000000"/>
                          </a:solidFill>
                          <a:effectLst/>
                          <a:latin typeface="+mn-lt"/>
                        </a:rPr>
                        <a:t>RE Projects would be treated as new industrial units thereby enjoying benefits of MSME or large sectors</a:t>
                      </a:r>
                    </a:p>
                    <a:p>
                      <a:pPr marL="171450" indent="-171450" algn="l" fontAlgn="ctr">
                        <a:buFont typeface="Arial" panose="020B0604020202020204" pitchFamily="34" charset="0"/>
                        <a:buChar char="•"/>
                      </a:pPr>
                      <a:endParaRPr lang="en-US" sz="1000" b="1" i="0" u="none" strike="noStrike" dirty="0">
                        <a:solidFill>
                          <a:srgbClr val="000000"/>
                        </a:solidFill>
                        <a:effectLst/>
                        <a:latin typeface="+mn-lt"/>
                      </a:endParaRPr>
                    </a:p>
                    <a:p>
                      <a:pPr marL="171450" indent="-171450" algn="l" fontAlgn="ctr">
                        <a:buFont typeface="Arial" panose="020B0604020202020204" pitchFamily="34" charset="0"/>
                        <a:buChar char="•"/>
                      </a:pPr>
                      <a:r>
                        <a:rPr lang="en-US" sz="1000" b="1" i="0" u="none" strike="noStrike" dirty="0">
                          <a:solidFill>
                            <a:srgbClr val="000000"/>
                          </a:solidFill>
                          <a:effectLst/>
                          <a:latin typeface="+mn-lt"/>
                        </a:rPr>
                        <a:t>Exemption on stamp duty for land allotted by Govt. for RE projects</a:t>
                      </a:r>
                    </a:p>
                    <a:p>
                      <a:pPr marL="171450" indent="-171450" algn="l" fontAlgn="ctr">
                        <a:buFont typeface="Arial" panose="020B0604020202020204" pitchFamily="34" charset="0"/>
                        <a:buChar char="•"/>
                      </a:pPr>
                      <a:endParaRPr lang="en-US" sz="1000" b="1" i="0" u="none" strike="noStrike" dirty="0">
                        <a:solidFill>
                          <a:srgbClr val="000000"/>
                        </a:solidFill>
                        <a:effectLst/>
                        <a:latin typeface="+mn-lt"/>
                      </a:endParaRPr>
                    </a:p>
                    <a:p>
                      <a:pPr marL="171450" indent="-171450" algn="l" fontAlgn="ctr">
                        <a:buFont typeface="Arial" panose="020B0604020202020204" pitchFamily="34" charset="0"/>
                        <a:buChar char="•"/>
                      </a:pPr>
                      <a:r>
                        <a:rPr lang="en-US" sz="1000" b="1" i="0" u="none" strike="noStrike" dirty="0">
                          <a:solidFill>
                            <a:srgbClr val="000000"/>
                          </a:solidFill>
                          <a:effectLst/>
                          <a:latin typeface="+mn-lt"/>
                        </a:rPr>
                        <a:t>Exemption of RE projects from payment of electricity duty w.r.t self consumption for 5 years from COD</a:t>
                      </a:r>
                    </a:p>
                    <a:p>
                      <a:pPr marL="171450" indent="-171450" algn="l" fontAlgn="ctr">
                        <a:buFont typeface="Arial" panose="020B0604020202020204" pitchFamily="34" charset="0"/>
                        <a:buChar char="•"/>
                      </a:pPr>
                      <a:endParaRPr lang="en-US" sz="1000" b="1" i="0" u="none" strike="noStrike" dirty="0">
                        <a:solidFill>
                          <a:srgbClr val="000000"/>
                        </a:solidFill>
                        <a:effectLst/>
                        <a:latin typeface="+mn-lt"/>
                      </a:endParaRPr>
                    </a:p>
                    <a:p>
                      <a:pPr marL="171450" indent="-171450" algn="l" fontAlgn="ctr">
                        <a:buFont typeface="Arial" panose="020B0604020202020204" pitchFamily="34" charset="0"/>
                        <a:buChar char="•"/>
                      </a:pPr>
                      <a:r>
                        <a:rPr lang="en-US" sz="1000" b="1" i="0" u="none" strike="noStrike" dirty="0">
                          <a:solidFill>
                            <a:srgbClr val="000000"/>
                          </a:solidFill>
                          <a:effectLst/>
                          <a:latin typeface="+mn-lt"/>
                        </a:rPr>
                        <a:t>Supervision charges shall not be levied by DISCOM for projects under this Policy.</a:t>
                      </a:r>
                    </a:p>
                    <a:p>
                      <a:pPr marL="171450" indent="-171450" algn="l" fontAlgn="ctr">
                        <a:buFont typeface="Arial" panose="020B0604020202020204" pitchFamily="34" charset="0"/>
                        <a:buChar char="•"/>
                      </a:pPr>
                      <a:endParaRPr lang="en-US" sz="1000" b="1" i="0" u="none" strike="noStrike" dirty="0">
                        <a:solidFill>
                          <a:srgbClr val="000000"/>
                        </a:solidFill>
                        <a:effectLst/>
                        <a:latin typeface="+mn-lt"/>
                      </a:endParaRPr>
                    </a:p>
                    <a:p>
                      <a:pPr marL="171450" indent="-171450" algn="l" fontAlgn="ctr">
                        <a:buFont typeface="Arial" panose="020B0604020202020204" pitchFamily="34" charset="0"/>
                        <a:buChar char="•"/>
                      </a:pPr>
                      <a:r>
                        <a:rPr lang="en-US" sz="1000" b="1" i="0" u="none" strike="noStrike" dirty="0">
                          <a:solidFill>
                            <a:srgbClr val="000000"/>
                          </a:solidFill>
                          <a:effectLst/>
                          <a:latin typeface="+mn-lt"/>
                        </a:rPr>
                        <a:t>No clearance from State Pollution Control Board, West Bengal would be required for Renewable Energy projects except Biomass and Municipal Solid Waste Projects</a:t>
                      </a:r>
                    </a:p>
                    <a:p>
                      <a:pPr marL="171450" indent="-171450" algn="l" fontAlgn="ctr">
                        <a:buFont typeface="Arial" panose="020B0604020202020204" pitchFamily="34" charset="0"/>
                        <a:buChar char="•"/>
                      </a:pPr>
                      <a:endParaRPr lang="en-US" sz="1000" b="1" i="0" u="none" strike="noStrike" dirty="0">
                        <a:solidFill>
                          <a:srgbClr val="000000"/>
                        </a:solidFill>
                        <a:effectLst/>
                        <a:latin typeface="+mn-lt"/>
                      </a:endParaRPr>
                    </a:p>
                    <a:p>
                      <a:pPr marL="171450" indent="-171450" algn="l" fontAlgn="ctr">
                        <a:buFont typeface="Arial" panose="020B0604020202020204" pitchFamily="34" charset="0"/>
                        <a:buChar char="•"/>
                      </a:pPr>
                      <a:r>
                        <a:rPr lang="en-US" sz="1000" b="1" i="0" u="none" strike="noStrike" dirty="0">
                          <a:solidFill>
                            <a:srgbClr val="000000"/>
                          </a:solidFill>
                          <a:effectLst/>
                          <a:latin typeface="+mn-lt"/>
                        </a:rPr>
                        <a:t>On-grid renewable energy projects involving innovative/new technologies may be given Viability Gap Funding (VGF) by the Government on case-to-case basis</a:t>
                      </a:r>
                    </a:p>
                    <a:p>
                      <a:pPr marL="171450" indent="-171450" algn="l" fontAlgn="ctr">
                        <a:buFont typeface="Arial" panose="020B0604020202020204" pitchFamily="34" charset="0"/>
                        <a:buChar char="•"/>
                      </a:pPr>
                      <a:endParaRPr lang="en-US" sz="1000" b="1" i="0" u="none" strike="noStrike" dirty="0">
                        <a:solidFill>
                          <a:srgbClr val="000000"/>
                        </a:solidFill>
                        <a:effectLst/>
                        <a:latin typeface="+mn-lt"/>
                      </a:endParaRPr>
                    </a:p>
                    <a:p>
                      <a:pPr marL="171450" indent="-171450" algn="l" fontAlgn="ctr">
                        <a:buFont typeface="Arial" panose="020B0604020202020204" pitchFamily="34" charset="0"/>
                        <a:buChar char="•"/>
                      </a:pPr>
                      <a:r>
                        <a:rPr lang="en-US" sz="1000" b="1" i="0" u="none" strike="noStrike" dirty="0">
                          <a:solidFill>
                            <a:srgbClr val="000000"/>
                          </a:solidFill>
                          <a:effectLst/>
                          <a:latin typeface="+mn-lt"/>
                        </a:rPr>
                        <a:t>Land:</a:t>
                      </a:r>
                    </a:p>
                    <a:p>
                      <a:pPr marL="675650" lvl="1" indent="-171450" algn="l" fontAlgn="ctr">
                        <a:buFont typeface="Arial" panose="020B0604020202020204" pitchFamily="34" charset="0"/>
                        <a:buChar char="•"/>
                      </a:pPr>
                      <a:r>
                        <a:rPr lang="en-US" sz="1000" b="0" i="0" u="none" strike="noStrike" dirty="0">
                          <a:solidFill>
                            <a:srgbClr val="000000"/>
                          </a:solidFill>
                          <a:effectLst/>
                          <a:latin typeface="+mn-lt"/>
                        </a:rPr>
                        <a:t>Exemption from the ceiling on land holdings as per the Land Reforms Act of West Bengal (if any) and its amendments shall be applicable for RE projects</a:t>
                      </a:r>
                    </a:p>
                    <a:p>
                      <a:pPr marL="675650" lvl="1" indent="-171450" algn="l" fontAlgn="ctr">
                        <a:buFont typeface="Arial" panose="020B0604020202020204" pitchFamily="34" charset="0"/>
                        <a:buChar char="•"/>
                      </a:pPr>
                      <a:endParaRPr lang="en-US" sz="1000" b="0" i="0" u="none" strike="noStrike" dirty="0">
                        <a:solidFill>
                          <a:srgbClr val="000000"/>
                        </a:solidFill>
                        <a:effectLst/>
                        <a:latin typeface="+mn-lt"/>
                      </a:endParaRPr>
                    </a:p>
                    <a:p>
                      <a:pPr marL="675650" lvl="1" indent="-171450" algn="l" fontAlgn="ctr">
                        <a:buFont typeface="Arial" panose="020B0604020202020204" pitchFamily="34" charset="0"/>
                        <a:buChar char="•"/>
                      </a:pPr>
                      <a:r>
                        <a:rPr lang="en-US" sz="1000" b="0" i="0" u="none" strike="noStrike" dirty="0">
                          <a:solidFill>
                            <a:srgbClr val="000000"/>
                          </a:solidFill>
                          <a:effectLst/>
                          <a:latin typeface="+mn-lt"/>
                        </a:rPr>
                        <a:t>Deemed NA status on payment of applicable conversion charges for RE projects</a:t>
                      </a:r>
                    </a:p>
                  </a:txBody>
                  <a:tcPr marT="238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6666475"/>
                  </a:ext>
                </a:extLst>
              </a:tr>
            </a:tbl>
          </a:graphicData>
        </a:graphic>
      </p:graphicFrame>
    </p:spTree>
    <p:extLst>
      <p:ext uri="{BB962C8B-B14F-4D97-AF65-F5344CB8AC3E}">
        <p14:creationId xmlns:p14="http://schemas.microsoft.com/office/powerpoint/2010/main" val="3395047905"/>
      </p:ext>
    </p:extLst>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828" y="1723"/>
          <a:ext cx="1588" cy="1588"/>
        </p:xfrm>
        <a:graphic>
          <a:graphicData uri="http://schemas.openxmlformats.org/presentationml/2006/ole">
            <mc:AlternateContent xmlns:mc="http://schemas.openxmlformats.org/markup-compatibility/2006">
              <mc:Choice xmlns:v="urn:schemas-microsoft-com:vml" Requires="v">
                <p:oleObj spid="_x0000_s49209" name="think-cell Slide" r:id="rId5" imgW="498" imgH="499" progId="TCLayout.ActiveDocument.1">
                  <p:embed/>
                </p:oleObj>
              </mc:Choice>
              <mc:Fallback>
                <p:oleObj name="think-cell Slide" r:id="rId5"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6"/>
                      <a:stretch>
                        <a:fillRect/>
                      </a:stretch>
                    </p:blipFill>
                    <p:spPr>
                      <a:xfrm>
                        <a:off x="1828" y="1723"/>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872" y="241430"/>
            <a:ext cx="11188260" cy="368285"/>
          </a:xfrm>
        </p:spPr>
        <p:txBody>
          <a:bodyPr vert="horz"/>
          <a:lstStyle/>
          <a:p>
            <a:pPr algn="just"/>
            <a:r>
              <a:rPr lang="en-US" sz="1800" b="1" dirty="0"/>
              <a:t>Solar Policy Comparison (2/2)</a:t>
            </a:r>
          </a:p>
        </p:txBody>
      </p:sp>
      <p:graphicFrame>
        <p:nvGraphicFramePr>
          <p:cNvPr id="3" name="Table 2">
            <a:extLst>
              <a:ext uri="{FF2B5EF4-FFF2-40B4-BE49-F238E27FC236}">
                <a16:creationId xmlns:a16="http://schemas.microsoft.com/office/drawing/2014/main" id="{4453357E-2B32-4916-AD5D-5C34FC0E94B4}"/>
              </a:ext>
            </a:extLst>
          </p:cNvPr>
          <p:cNvGraphicFramePr>
            <a:graphicFrameLocks noGrp="1"/>
          </p:cNvGraphicFramePr>
          <p:nvPr>
            <p:extLst>
              <p:ext uri="{D42A27DB-BD31-4B8C-83A1-F6EECF244321}">
                <p14:modId xmlns:p14="http://schemas.microsoft.com/office/powerpoint/2010/main" val="516335896"/>
              </p:ext>
            </p:extLst>
          </p:nvPr>
        </p:nvGraphicFramePr>
        <p:xfrm>
          <a:off x="301758" y="926097"/>
          <a:ext cx="11479283" cy="3224496"/>
        </p:xfrm>
        <a:graphic>
          <a:graphicData uri="http://schemas.openxmlformats.org/drawingml/2006/table">
            <a:tbl>
              <a:tblPr>
                <a:tableStyleId>{5C22544A-7EE6-4342-B048-85BDC9FD1C3A}</a:tableStyleId>
              </a:tblPr>
              <a:tblGrid>
                <a:gridCol w="825874">
                  <a:extLst>
                    <a:ext uri="{9D8B030D-6E8A-4147-A177-3AD203B41FA5}">
                      <a16:colId xmlns:a16="http://schemas.microsoft.com/office/drawing/2014/main" val="965988282"/>
                    </a:ext>
                  </a:extLst>
                </a:gridCol>
                <a:gridCol w="1177845">
                  <a:extLst>
                    <a:ext uri="{9D8B030D-6E8A-4147-A177-3AD203B41FA5}">
                      <a16:colId xmlns:a16="http://schemas.microsoft.com/office/drawing/2014/main" val="1284218174"/>
                    </a:ext>
                  </a:extLst>
                </a:gridCol>
                <a:gridCol w="3589994">
                  <a:extLst>
                    <a:ext uri="{9D8B030D-6E8A-4147-A177-3AD203B41FA5}">
                      <a16:colId xmlns:a16="http://schemas.microsoft.com/office/drawing/2014/main" val="2226796636"/>
                    </a:ext>
                  </a:extLst>
                </a:gridCol>
                <a:gridCol w="2295927">
                  <a:extLst>
                    <a:ext uri="{9D8B030D-6E8A-4147-A177-3AD203B41FA5}">
                      <a16:colId xmlns:a16="http://schemas.microsoft.com/office/drawing/2014/main" val="2743073994"/>
                    </a:ext>
                  </a:extLst>
                </a:gridCol>
                <a:gridCol w="3589643">
                  <a:extLst>
                    <a:ext uri="{9D8B030D-6E8A-4147-A177-3AD203B41FA5}">
                      <a16:colId xmlns:a16="http://schemas.microsoft.com/office/drawing/2014/main" val="719130779"/>
                    </a:ext>
                  </a:extLst>
                </a:gridCol>
              </a:tblGrid>
              <a:tr h="348119">
                <a:tc>
                  <a:txBody>
                    <a:bodyPr/>
                    <a:lstStyle/>
                    <a:p>
                      <a:pPr algn="ctr" fontAlgn="ctr"/>
                      <a:r>
                        <a:rPr lang="en-US" sz="1200" b="1" u="none" strike="noStrike" dirty="0" err="1">
                          <a:solidFill>
                            <a:schemeClr val="bg1"/>
                          </a:solidFill>
                          <a:effectLst/>
                          <a:latin typeface="+mn-lt"/>
                        </a:rPr>
                        <a:t>Sl</a:t>
                      </a:r>
                      <a:r>
                        <a:rPr lang="en-US" sz="1200" b="1" u="none" strike="noStrike" dirty="0">
                          <a:solidFill>
                            <a:schemeClr val="bg1"/>
                          </a:solidFill>
                          <a:effectLst/>
                          <a:latin typeface="+mn-lt"/>
                        </a:rPr>
                        <a:t> No.</a:t>
                      </a:r>
                      <a:endParaRPr lang="en-US" sz="1200" b="1" i="0" u="none" strike="noStrike" dirty="0">
                        <a:solidFill>
                          <a:schemeClr val="bg1"/>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fontAlgn="ctr"/>
                      <a:r>
                        <a:rPr lang="en-US" sz="1200" b="1" u="none" strike="noStrike" dirty="0">
                          <a:solidFill>
                            <a:schemeClr val="bg1"/>
                          </a:solidFill>
                          <a:effectLst/>
                          <a:latin typeface="+mn-lt"/>
                        </a:rPr>
                        <a:t>Parameter</a:t>
                      </a:r>
                      <a:endParaRPr lang="en-US" sz="1200" b="1" i="0" u="none" strike="noStrike" dirty="0">
                        <a:solidFill>
                          <a:schemeClr val="bg1"/>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en-US" sz="1200" b="1" u="none" strike="noStrike" dirty="0">
                          <a:solidFill>
                            <a:schemeClr val="bg1"/>
                          </a:solidFill>
                          <a:effectLst/>
                          <a:latin typeface="+mn-lt"/>
                        </a:rPr>
                        <a:t>Rajasthan Solar Policy 2019</a:t>
                      </a:r>
                      <a:endParaRPr lang="en-US" sz="1200" b="1" i="0" u="none" strike="noStrike" dirty="0">
                        <a:solidFill>
                          <a:schemeClr val="bg1"/>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en-US" sz="1200" b="1" u="none" strike="noStrike" dirty="0">
                          <a:solidFill>
                            <a:schemeClr val="bg1"/>
                          </a:solidFill>
                          <a:effectLst/>
                          <a:latin typeface="+mn-lt"/>
                        </a:rPr>
                        <a:t>Gujarat Solar Power Policy 2021</a:t>
                      </a:r>
                      <a:endParaRPr lang="en-US" sz="1200" b="1" i="0" u="none" strike="noStrike" dirty="0">
                        <a:solidFill>
                          <a:schemeClr val="bg1"/>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en-US" sz="1200" b="1" u="none" strike="noStrike" dirty="0">
                          <a:solidFill>
                            <a:schemeClr val="bg1"/>
                          </a:solidFill>
                          <a:effectLst/>
                          <a:latin typeface="+mn-lt"/>
                        </a:rPr>
                        <a:t>Draft West Bengal RE Policy 2022-2027</a:t>
                      </a:r>
                      <a:endParaRPr lang="en-US" sz="1200" b="1" i="0" u="none" strike="noStrike" dirty="0">
                        <a:solidFill>
                          <a:schemeClr val="bg1"/>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575551451"/>
                  </a:ext>
                </a:extLst>
              </a:tr>
              <a:tr h="1557845">
                <a:tc>
                  <a:txBody>
                    <a:bodyPr/>
                    <a:lstStyle/>
                    <a:p>
                      <a:pPr algn="ctr" fontAlgn="ctr"/>
                      <a:r>
                        <a:rPr lang="en-US" sz="1200" u="none" strike="noStrike" dirty="0">
                          <a:effectLst/>
                          <a:latin typeface="+mn-lt"/>
                        </a:rPr>
                        <a:t>2</a:t>
                      </a:r>
                      <a:endParaRPr lang="en-US" sz="1200" b="0" i="0" u="none" strike="noStrike" dirty="0">
                        <a:solidFill>
                          <a:srgbClr val="000000"/>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a:effectLst/>
                          <a:latin typeface="+mn-lt"/>
                        </a:rPr>
                        <a:t>Capacity Addition Target</a:t>
                      </a:r>
                      <a:endParaRPr lang="en-US" sz="1200" b="0" i="0" u="none" strike="noStrike">
                        <a:solidFill>
                          <a:srgbClr val="FFFFFF"/>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200" u="none" strike="noStrike">
                          <a:effectLst/>
                          <a:latin typeface="+mn-lt"/>
                        </a:rPr>
                        <a:t>By 2024-25,</a:t>
                      </a:r>
                      <a:br>
                        <a:rPr lang="en-US" sz="1200" u="none" strike="noStrike">
                          <a:effectLst/>
                          <a:latin typeface="+mn-lt"/>
                        </a:rPr>
                      </a:br>
                      <a:r>
                        <a:rPr lang="en-US" sz="1200" u="none" strike="noStrike">
                          <a:effectLst/>
                          <a:latin typeface="+mn-lt"/>
                        </a:rPr>
                        <a:t>1. Utility/Grid Scale Solar</a:t>
                      </a:r>
                      <a:br>
                        <a:rPr lang="en-US" sz="1200" u="none" strike="noStrike">
                          <a:effectLst/>
                          <a:latin typeface="+mn-lt"/>
                        </a:rPr>
                      </a:br>
                      <a:r>
                        <a:rPr lang="en-US" sz="1200" u="none" strike="noStrike">
                          <a:effectLst/>
                          <a:latin typeface="+mn-lt"/>
                        </a:rPr>
                        <a:t>Parks - 24 GW</a:t>
                      </a:r>
                      <a:br>
                        <a:rPr lang="en-US" sz="1200" u="none" strike="noStrike">
                          <a:effectLst/>
                          <a:latin typeface="+mn-lt"/>
                        </a:rPr>
                      </a:br>
                      <a:r>
                        <a:rPr lang="en-US" sz="1200" u="none" strike="noStrike">
                          <a:effectLst/>
                          <a:latin typeface="+mn-lt"/>
                        </a:rPr>
                        <a:t>2. Distributed Generation - 4 GW</a:t>
                      </a:r>
                      <a:br>
                        <a:rPr lang="en-US" sz="1200" u="none" strike="noStrike">
                          <a:effectLst/>
                          <a:latin typeface="+mn-lt"/>
                        </a:rPr>
                      </a:br>
                      <a:r>
                        <a:rPr lang="en-US" sz="1200" u="none" strike="noStrike">
                          <a:effectLst/>
                          <a:latin typeface="+mn-lt"/>
                        </a:rPr>
                        <a:t>3. Solar Rooftop - 1 GW</a:t>
                      </a:r>
                      <a:br>
                        <a:rPr lang="en-US" sz="1200" u="none" strike="noStrike">
                          <a:effectLst/>
                          <a:latin typeface="+mn-lt"/>
                        </a:rPr>
                      </a:br>
                      <a:r>
                        <a:rPr lang="en-US" sz="1200" u="none" strike="noStrike">
                          <a:effectLst/>
                          <a:latin typeface="+mn-lt"/>
                        </a:rPr>
                        <a:t>4. Solar Pumps - 1 GW</a:t>
                      </a:r>
                      <a:br>
                        <a:rPr lang="en-US" sz="1200" u="none" strike="noStrike">
                          <a:effectLst/>
                          <a:latin typeface="+mn-lt"/>
                        </a:rPr>
                      </a:br>
                      <a:r>
                        <a:rPr lang="en-US" sz="1200" u="none" strike="noStrike">
                          <a:effectLst/>
                          <a:latin typeface="+mn-lt"/>
                        </a:rPr>
                        <a:t>5. Wind projects - 2 GW</a:t>
                      </a:r>
                      <a:br>
                        <a:rPr lang="en-US" sz="1200" u="none" strike="noStrike">
                          <a:effectLst/>
                          <a:latin typeface="+mn-lt"/>
                        </a:rPr>
                      </a:br>
                      <a:r>
                        <a:rPr lang="en-US" sz="1200" u="none" strike="noStrike">
                          <a:effectLst/>
                          <a:latin typeface="+mn-lt"/>
                        </a:rPr>
                        <a:t>6. Wind projects for captive/third party sale - 2 GW</a:t>
                      </a:r>
                      <a:endParaRPr lang="en-US" sz="1200" b="0" i="0" u="none" strike="noStrike">
                        <a:solidFill>
                          <a:srgbClr val="000000"/>
                        </a:solidFill>
                        <a:effectLst/>
                        <a:latin typeface="+mn-lt"/>
                      </a:endParaRPr>
                    </a:p>
                  </a:txBody>
                  <a:tcPr marT="238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a:effectLst/>
                          <a:latin typeface="+mn-lt"/>
                        </a:rPr>
                        <a:t>NA-</a:t>
                      </a:r>
                      <a:endParaRPr lang="en-US" sz="1200" b="1" i="0" u="none" strike="noStrike" dirty="0">
                        <a:solidFill>
                          <a:srgbClr val="000000"/>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200" u="none" strike="noStrike" dirty="0">
                          <a:effectLst/>
                          <a:latin typeface="+mn-lt"/>
                        </a:rPr>
                        <a:t>Target capacity addition by 2027,</a:t>
                      </a:r>
                      <a:br>
                        <a:rPr lang="en-US" sz="1200" u="none" strike="noStrike" dirty="0">
                          <a:effectLst/>
                          <a:latin typeface="+mn-lt"/>
                        </a:rPr>
                      </a:br>
                      <a:r>
                        <a:rPr lang="en-US" sz="1200" u="none" strike="noStrike" dirty="0">
                          <a:effectLst/>
                          <a:latin typeface="+mn-lt"/>
                        </a:rPr>
                        <a:t>Wind Power - 100 MW</a:t>
                      </a:r>
                      <a:br>
                        <a:rPr lang="en-US" sz="1200" u="none" strike="noStrike" dirty="0">
                          <a:effectLst/>
                          <a:latin typeface="+mn-lt"/>
                        </a:rPr>
                      </a:br>
                      <a:r>
                        <a:rPr lang="en-US" sz="1200" u="none" strike="noStrike" dirty="0">
                          <a:effectLst/>
                          <a:latin typeface="+mn-lt"/>
                        </a:rPr>
                        <a:t>Mini &amp; Small Hydro - 200 MW</a:t>
                      </a:r>
                      <a:br>
                        <a:rPr lang="en-US" sz="1200" u="none" strike="noStrike" dirty="0">
                          <a:effectLst/>
                          <a:latin typeface="+mn-lt"/>
                        </a:rPr>
                      </a:br>
                      <a:r>
                        <a:rPr lang="en-US" sz="1200" u="none" strike="noStrike" dirty="0">
                          <a:effectLst/>
                          <a:latin typeface="+mn-lt"/>
                        </a:rPr>
                        <a:t>Bio-mass - 200 MW</a:t>
                      </a:r>
                      <a:br>
                        <a:rPr lang="en-US" sz="1200" u="none" strike="noStrike" dirty="0">
                          <a:effectLst/>
                          <a:latin typeface="+mn-lt"/>
                        </a:rPr>
                      </a:br>
                      <a:r>
                        <a:rPr lang="en-US" sz="1200" u="none" strike="noStrike" dirty="0">
                          <a:effectLst/>
                          <a:latin typeface="+mn-lt"/>
                        </a:rPr>
                        <a:t>Waste to Energy - 150 MW</a:t>
                      </a:r>
                      <a:br>
                        <a:rPr lang="en-US" sz="1200" u="none" strike="noStrike" dirty="0">
                          <a:effectLst/>
                          <a:latin typeface="+mn-lt"/>
                        </a:rPr>
                      </a:br>
                      <a:r>
                        <a:rPr lang="en-US" sz="1200" u="none" strike="noStrike" dirty="0">
                          <a:effectLst/>
                          <a:latin typeface="+mn-lt"/>
                        </a:rPr>
                        <a:t>Solar 6000 MW</a:t>
                      </a:r>
                      <a:endParaRPr lang="en-US" sz="1200" b="0" i="0" u="none" strike="noStrike" dirty="0">
                        <a:solidFill>
                          <a:srgbClr val="000000"/>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8552622"/>
                  </a:ext>
                </a:extLst>
              </a:tr>
              <a:tr h="1208052">
                <a:tc>
                  <a:txBody>
                    <a:bodyPr/>
                    <a:lstStyle/>
                    <a:p>
                      <a:pPr algn="ctr" fontAlgn="ctr"/>
                      <a:r>
                        <a:rPr lang="en-US" sz="1200" u="none" strike="noStrike" dirty="0">
                          <a:effectLst/>
                          <a:latin typeface="+mn-lt"/>
                        </a:rPr>
                        <a:t>3</a:t>
                      </a:r>
                      <a:endParaRPr lang="en-US" sz="1200" b="0" i="0" u="none" strike="noStrike" dirty="0">
                        <a:solidFill>
                          <a:srgbClr val="000000"/>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dirty="0">
                          <a:effectLst/>
                          <a:latin typeface="+mn-lt"/>
                        </a:rPr>
                        <a:t>Solar Park Incentives</a:t>
                      </a:r>
                      <a:endParaRPr lang="en-US" sz="1200" b="0" i="0" u="none" strike="noStrike" dirty="0">
                        <a:solidFill>
                          <a:srgbClr val="FFFFFF"/>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dirty="0">
                          <a:effectLst/>
                          <a:latin typeface="+mn-lt"/>
                        </a:rPr>
                        <a:t>Land conversion will not be required in accordance with the provisions of Rajasthan Tenancy Ac t, 1955 and Rajasthan Land Revenue Act, 1956 for the development of solar park on private agriculture land</a:t>
                      </a:r>
                      <a:endParaRPr lang="en-US" sz="1200" b="0" i="0" u="none" strike="noStrike" dirty="0">
                        <a:solidFill>
                          <a:srgbClr val="000000"/>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a:effectLst/>
                          <a:latin typeface="+mn-lt"/>
                        </a:rPr>
                        <a:t>NA</a:t>
                      </a:r>
                      <a:endParaRPr lang="en-US" sz="1200" b="1" i="0" u="none" strike="noStrike" dirty="0">
                        <a:solidFill>
                          <a:srgbClr val="000000"/>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200" u="none" strike="noStrike" dirty="0">
                          <a:effectLst/>
                          <a:latin typeface="+mn-lt"/>
                        </a:rPr>
                        <a:t>WBREDA shall undertake an assessment of usable Government land and submit its report to </a:t>
                      </a:r>
                      <a:r>
                        <a:rPr lang="en-US" sz="1200" u="none" strike="noStrike" dirty="0" err="1">
                          <a:effectLst/>
                          <a:latin typeface="+mn-lt"/>
                        </a:rPr>
                        <a:t>GoWB</a:t>
                      </a:r>
                      <a:r>
                        <a:rPr lang="en-US" sz="1200" u="none" strike="noStrike" dirty="0">
                          <a:effectLst/>
                          <a:latin typeface="+mn-lt"/>
                        </a:rPr>
                        <a:t> for the development of Solar Parks on such land</a:t>
                      </a:r>
                      <a:endParaRPr lang="en-US" sz="1200" b="1" i="0" u="none" strike="noStrike" dirty="0">
                        <a:solidFill>
                          <a:srgbClr val="000000"/>
                        </a:solidFill>
                        <a:effectLst/>
                        <a:latin typeface="+mn-lt"/>
                      </a:endParaRPr>
                    </a:p>
                  </a:txBody>
                  <a:tcPr marT="23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6702626"/>
                  </a:ext>
                </a:extLst>
              </a:tr>
            </a:tbl>
          </a:graphicData>
        </a:graphic>
      </p:graphicFrame>
    </p:spTree>
    <p:extLst>
      <p:ext uri="{BB962C8B-B14F-4D97-AF65-F5344CB8AC3E}">
        <p14:creationId xmlns:p14="http://schemas.microsoft.com/office/powerpoint/2010/main" val="1348862387"/>
      </p:ext>
    </p:extLst>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828" y="1723"/>
          <a:ext cx="1588" cy="1588"/>
        </p:xfrm>
        <a:graphic>
          <a:graphicData uri="http://schemas.openxmlformats.org/presentationml/2006/ole">
            <mc:AlternateContent xmlns:mc="http://schemas.openxmlformats.org/markup-compatibility/2006">
              <mc:Choice xmlns:v="urn:schemas-microsoft-com:vml" Requires="v">
                <p:oleObj spid="_x0000_s50288" name="think-cell Slide" r:id="rId5" imgW="498" imgH="499" progId="TCLayout.ActiveDocument.1">
                  <p:embed/>
                </p:oleObj>
              </mc:Choice>
              <mc:Fallback>
                <p:oleObj name="think-cell Slide" r:id="rId5"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6"/>
                      <a:stretch>
                        <a:fillRect/>
                      </a:stretch>
                    </p:blipFill>
                    <p:spPr>
                      <a:xfrm>
                        <a:off x="1828" y="1723"/>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872" y="241430"/>
            <a:ext cx="11188260" cy="368285"/>
          </a:xfrm>
        </p:spPr>
        <p:txBody>
          <a:bodyPr vert="horz"/>
          <a:lstStyle/>
          <a:p>
            <a:pPr algn="just"/>
            <a:r>
              <a:rPr lang="en-US" sz="1800" b="1" dirty="0"/>
              <a:t>RTS - Key Policy Comparison of some states</a:t>
            </a:r>
          </a:p>
        </p:txBody>
      </p:sp>
      <p:graphicFrame>
        <p:nvGraphicFramePr>
          <p:cNvPr id="8" name="Table 7">
            <a:extLst>
              <a:ext uri="{FF2B5EF4-FFF2-40B4-BE49-F238E27FC236}">
                <a16:creationId xmlns:a16="http://schemas.microsoft.com/office/drawing/2014/main" id="{BB74C942-E05D-4437-9247-E11D3BB4A172}"/>
              </a:ext>
            </a:extLst>
          </p:cNvPr>
          <p:cNvGraphicFramePr>
            <a:graphicFrameLocks noGrp="1"/>
          </p:cNvGraphicFramePr>
          <p:nvPr>
            <p:extLst>
              <p:ext uri="{D42A27DB-BD31-4B8C-83A1-F6EECF244321}">
                <p14:modId xmlns:p14="http://schemas.microsoft.com/office/powerpoint/2010/main" val="1588522309"/>
              </p:ext>
            </p:extLst>
          </p:nvPr>
        </p:nvGraphicFramePr>
        <p:xfrm>
          <a:off x="324952" y="836390"/>
          <a:ext cx="11542097" cy="5198270"/>
        </p:xfrm>
        <a:graphic>
          <a:graphicData uri="http://schemas.openxmlformats.org/drawingml/2006/table">
            <a:tbl>
              <a:tblPr>
                <a:tableStyleId>{5C22544A-7EE6-4342-B048-85BDC9FD1C3A}</a:tableStyleId>
              </a:tblPr>
              <a:tblGrid>
                <a:gridCol w="930138">
                  <a:extLst>
                    <a:ext uri="{9D8B030D-6E8A-4147-A177-3AD203B41FA5}">
                      <a16:colId xmlns:a16="http://schemas.microsoft.com/office/drawing/2014/main" val="3741566004"/>
                    </a:ext>
                  </a:extLst>
                </a:gridCol>
                <a:gridCol w="1160850">
                  <a:extLst>
                    <a:ext uri="{9D8B030D-6E8A-4147-A177-3AD203B41FA5}">
                      <a16:colId xmlns:a16="http://schemas.microsoft.com/office/drawing/2014/main" val="3821812454"/>
                    </a:ext>
                  </a:extLst>
                </a:gridCol>
                <a:gridCol w="793642">
                  <a:extLst>
                    <a:ext uri="{9D8B030D-6E8A-4147-A177-3AD203B41FA5}">
                      <a16:colId xmlns:a16="http://schemas.microsoft.com/office/drawing/2014/main" val="3739552653"/>
                    </a:ext>
                  </a:extLst>
                </a:gridCol>
                <a:gridCol w="739577">
                  <a:extLst>
                    <a:ext uri="{9D8B030D-6E8A-4147-A177-3AD203B41FA5}">
                      <a16:colId xmlns:a16="http://schemas.microsoft.com/office/drawing/2014/main" val="547285372"/>
                    </a:ext>
                  </a:extLst>
                </a:gridCol>
                <a:gridCol w="723755">
                  <a:extLst>
                    <a:ext uri="{9D8B030D-6E8A-4147-A177-3AD203B41FA5}">
                      <a16:colId xmlns:a16="http://schemas.microsoft.com/office/drawing/2014/main" val="1685783288"/>
                    </a:ext>
                  </a:extLst>
                </a:gridCol>
                <a:gridCol w="665856">
                  <a:extLst>
                    <a:ext uri="{9D8B030D-6E8A-4147-A177-3AD203B41FA5}">
                      <a16:colId xmlns:a16="http://schemas.microsoft.com/office/drawing/2014/main" val="3713966931"/>
                    </a:ext>
                  </a:extLst>
                </a:gridCol>
                <a:gridCol w="868507">
                  <a:extLst>
                    <a:ext uri="{9D8B030D-6E8A-4147-A177-3AD203B41FA5}">
                      <a16:colId xmlns:a16="http://schemas.microsoft.com/office/drawing/2014/main" val="3247519403"/>
                    </a:ext>
                  </a:extLst>
                </a:gridCol>
                <a:gridCol w="492154">
                  <a:extLst>
                    <a:ext uri="{9D8B030D-6E8A-4147-A177-3AD203B41FA5}">
                      <a16:colId xmlns:a16="http://schemas.microsoft.com/office/drawing/2014/main" val="1576851979"/>
                    </a:ext>
                  </a:extLst>
                </a:gridCol>
                <a:gridCol w="607955">
                  <a:extLst>
                    <a:ext uri="{9D8B030D-6E8A-4147-A177-3AD203B41FA5}">
                      <a16:colId xmlns:a16="http://schemas.microsoft.com/office/drawing/2014/main" val="3451071943"/>
                    </a:ext>
                  </a:extLst>
                </a:gridCol>
                <a:gridCol w="1201435">
                  <a:extLst>
                    <a:ext uri="{9D8B030D-6E8A-4147-A177-3AD203B41FA5}">
                      <a16:colId xmlns:a16="http://schemas.microsoft.com/office/drawing/2014/main" val="66531496"/>
                    </a:ext>
                  </a:extLst>
                </a:gridCol>
                <a:gridCol w="2096830">
                  <a:extLst>
                    <a:ext uri="{9D8B030D-6E8A-4147-A177-3AD203B41FA5}">
                      <a16:colId xmlns:a16="http://schemas.microsoft.com/office/drawing/2014/main" val="4184644775"/>
                    </a:ext>
                  </a:extLst>
                </a:gridCol>
                <a:gridCol w="1261398">
                  <a:extLst>
                    <a:ext uri="{9D8B030D-6E8A-4147-A177-3AD203B41FA5}">
                      <a16:colId xmlns:a16="http://schemas.microsoft.com/office/drawing/2014/main" val="2782439560"/>
                    </a:ext>
                  </a:extLst>
                </a:gridCol>
              </a:tblGrid>
              <a:tr h="307367">
                <a:tc rowSpan="2">
                  <a:txBody>
                    <a:bodyPr/>
                    <a:lstStyle/>
                    <a:p>
                      <a:pPr algn="l" fontAlgn="ctr"/>
                      <a:r>
                        <a:rPr lang="en-US" sz="1000" b="1" u="none" strike="noStrike" dirty="0">
                          <a:solidFill>
                            <a:schemeClr val="bg1"/>
                          </a:solidFill>
                          <a:effectLst/>
                          <a:latin typeface="+mj-lt"/>
                        </a:rPr>
                        <a:t>State</a:t>
                      </a:r>
                      <a:endParaRPr lang="en-US" sz="1000" b="1" i="0" u="none" strike="noStrike" dirty="0">
                        <a:solidFill>
                          <a:schemeClr val="bg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rowSpan="2">
                  <a:txBody>
                    <a:bodyPr/>
                    <a:lstStyle/>
                    <a:p>
                      <a:pPr algn="ctr" fontAlgn="ctr"/>
                      <a:r>
                        <a:rPr lang="en-US" sz="1000" b="1" u="none" strike="noStrike" dirty="0">
                          <a:solidFill>
                            <a:schemeClr val="bg1"/>
                          </a:solidFill>
                          <a:effectLst/>
                          <a:latin typeface="+mj-lt"/>
                        </a:rPr>
                        <a:t>Metering Principles</a:t>
                      </a:r>
                      <a:endParaRPr lang="en-US" sz="1000" b="1" i="0" u="none" strike="noStrike" dirty="0">
                        <a:solidFill>
                          <a:schemeClr val="bg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rowSpan="2">
                  <a:txBody>
                    <a:bodyPr/>
                    <a:lstStyle/>
                    <a:p>
                      <a:pPr algn="ctr" fontAlgn="ctr"/>
                      <a:r>
                        <a:rPr lang="en-US" sz="1000" b="1" u="none" strike="noStrike" dirty="0">
                          <a:solidFill>
                            <a:schemeClr val="bg1"/>
                          </a:solidFill>
                          <a:effectLst/>
                          <a:latin typeface="+mj-lt"/>
                        </a:rPr>
                        <a:t>Limit on system capacity based on sanctioned load </a:t>
                      </a:r>
                      <a:endParaRPr lang="en-US" sz="1000" b="1" i="0" u="none" strike="noStrike" dirty="0">
                        <a:solidFill>
                          <a:schemeClr val="bg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rowSpan="2">
                  <a:txBody>
                    <a:bodyPr/>
                    <a:lstStyle/>
                    <a:p>
                      <a:pPr algn="ctr" fontAlgn="ctr"/>
                      <a:r>
                        <a:rPr lang="en-US" sz="1000" b="1" u="none" strike="noStrike" dirty="0">
                          <a:solidFill>
                            <a:schemeClr val="bg1"/>
                          </a:solidFill>
                          <a:effectLst/>
                          <a:latin typeface="+mj-lt"/>
                        </a:rPr>
                        <a:t>System Capacity</a:t>
                      </a:r>
                    </a:p>
                    <a:p>
                      <a:pPr algn="ctr" fontAlgn="ctr"/>
                      <a:endParaRPr lang="en-US" sz="1000" b="1" i="0" u="none" strike="noStrike" dirty="0">
                        <a:solidFill>
                          <a:schemeClr val="bg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a:txBody>
                    <a:bodyPr/>
                    <a:lstStyle/>
                    <a:p>
                      <a:pPr algn="ctr" fontAlgn="ctr"/>
                      <a:r>
                        <a:rPr lang="en-US" sz="1000" b="1" u="none" strike="noStrike" dirty="0">
                          <a:solidFill>
                            <a:schemeClr val="bg1"/>
                          </a:solidFill>
                          <a:effectLst/>
                          <a:latin typeface="+mj-lt"/>
                        </a:rPr>
                        <a:t>DT loading</a:t>
                      </a:r>
                      <a:endParaRPr lang="en-US" sz="1000" b="1" i="0" u="none" strike="noStrike" dirty="0">
                        <a:solidFill>
                          <a:schemeClr val="bg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gridSpan="5">
                  <a:txBody>
                    <a:bodyPr/>
                    <a:lstStyle/>
                    <a:p>
                      <a:pPr algn="ctr" fontAlgn="ctr"/>
                      <a:r>
                        <a:rPr lang="en-US" sz="1000" b="1" u="none" strike="noStrike" dirty="0">
                          <a:solidFill>
                            <a:schemeClr val="bg1"/>
                          </a:solidFill>
                          <a:effectLst/>
                          <a:latin typeface="+mj-lt"/>
                        </a:rPr>
                        <a:t>Exemption of Charges and taxes</a:t>
                      </a:r>
                      <a:endParaRPr lang="en-US" sz="1000" b="1" i="0" u="none" strike="noStrike" dirty="0">
                        <a:solidFill>
                          <a:schemeClr val="bg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ctr"/>
                      <a:r>
                        <a:rPr lang="en-US" sz="1000" b="1" u="none" strike="noStrike" dirty="0">
                          <a:solidFill>
                            <a:schemeClr val="bg1"/>
                          </a:solidFill>
                          <a:effectLst/>
                          <a:latin typeface="+mj-lt"/>
                        </a:rPr>
                        <a:t>Treatment  in case of net Export</a:t>
                      </a:r>
                      <a:endParaRPr lang="en-US" sz="1000" b="1" i="0" u="none" strike="noStrike" dirty="0">
                        <a:solidFill>
                          <a:schemeClr val="bg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hMerge="1">
                  <a:txBody>
                    <a:bodyPr/>
                    <a:lstStyle/>
                    <a:p>
                      <a:endParaRPr lang="en-US"/>
                    </a:p>
                  </a:txBody>
                  <a:tcPr/>
                </a:tc>
                <a:extLst>
                  <a:ext uri="{0D108BD9-81ED-4DB2-BD59-A6C34878D82A}">
                    <a16:rowId xmlns:a16="http://schemas.microsoft.com/office/drawing/2014/main" val="2870593301"/>
                  </a:ext>
                </a:extLst>
              </a:tr>
              <a:tr h="1067447">
                <a:tc vMerge="1">
                  <a:txBody>
                    <a:bodyPr/>
                    <a:lstStyle/>
                    <a:p>
                      <a:endParaRPr lang="en-US"/>
                    </a:p>
                  </a:txBody>
                  <a:tcPr/>
                </a:tc>
                <a:tc vMerge="1">
                  <a:txBody>
                    <a:bodyPr/>
                    <a:lstStyle/>
                    <a:p>
                      <a:pPr algn="ctr" fontAlgn="ctr"/>
                      <a:endParaRPr lang="en-US" sz="1000" b="1" i="0" u="none" strike="noStrike" dirty="0">
                        <a:solidFill>
                          <a:srgbClr val="000000"/>
                        </a:solidFill>
                        <a:effectLst/>
                        <a:latin typeface="Arial" panose="020B0604020202020204" pitchFamily="34" charset="0"/>
                      </a:endParaRPr>
                    </a:p>
                  </a:txBody>
                  <a:tcPr marL="3677" marR="3677" marT="3677" marB="0" anchor="ctr">
                    <a:solidFill>
                      <a:srgbClr val="62B5E5"/>
                    </a:solidFill>
                  </a:tcPr>
                </a:tc>
                <a:tc vMerge="1">
                  <a:txBody>
                    <a:bodyPr/>
                    <a:lstStyle/>
                    <a:p>
                      <a:endParaRPr lang="en-US"/>
                    </a:p>
                  </a:txBody>
                  <a:tcPr/>
                </a:tc>
                <a:tc vMerge="1">
                  <a:txBody>
                    <a:bodyPr/>
                    <a:lstStyle/>
                    <a:p>
                      <a:pPr algn="ctr" fontAlgn="ctr"/>
                      <a:r>
                        <a:rPr lang="en-US" sz="1000" u="none" strike="noStrike" dirty="0">
                          <a:effectLst/>
                        </a:rPr>
                        <a:t>Minimum Size in kW</a:t>
                      </a:r>
                      <a:endParaRPr lang="en-US" sz="1000" b="1" i="0" u="none" strike="noStrike" dirty="0">
                        <a:solidFill>
                          <a:srgbClr val="000000"/>
                        </a:solidFill>
                        <a:effectLst/>
                        <a:latin typeface="Arial" panose="020B0604020202020204" pitchFamily="34" charset="0"/>
                      </a:endParaRPr>
                    </a:p>
                  </a:txBody>
                  <a:tcPr marL="3677" marR="3677" marT="3677" marB="0" anchor="ctr">
                    <a:solidFill>
                      <a:srgbClr val="62B5E5"/>
                    </a:solidFill>
                  </a:tcPr>
                </a:tc>
                <a:tc>
                  <a:txBody>
                    <a:bodyPr/>
                    <a:lstStyle/>
                    <a:p>
                      <a:pPr algn="ctr" fontAlgn="ctr"/>
                      <a:r>
                        <a:rPr lang="en-US" sz="1000" u="none" strike="noStrike" dirty="0">
                          <a:solidFill>
                            <a:schemeClr val="bg1"/>
                          </a:solidFill>
                          <a:effectLst/>
                          <a:latin typeface="+mj-lt"/>
                        </a:rPr>
                        <a:t>In %</a:t>
                      </a:r>
                      <a:endParaRPr lang="en-US" sz="1000" b="1" i="0" u="none" strike="noStrike" dirty="0">
                        <a:solidFill>
                          <a:schemeClr val="bg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a:txBody>
                    <a:bodyPr/>
                    <a:lstStyle/>
                    <a:p>
                      <a:pPr algn="ctr" fontAlgn="ctr"/>
                      <a:r>
                        <a:rPr lang="en-US" sz="1000" u="none" strike="noStrike" dirty="0">
                          <a:solidFill>
                            <a:schemeClr val="bg1"/>
                          </a:solidFill>
                          <a:effectLst/>
                          <a:latin typeface="+mj-lt"/>
                        </a:rPr>
                        <a:t>Wheeling Charges  (Y/N)</a:t>
                      </a:r>
                      <a:endParaRPr lang="en-US" sz="1000" b="1" i="0" u="none" strike="noStrike" dirty="0">
                        <a:solidFill>
                          <a:schemeClr val="bg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a:txBody>
                    <a:bodyPr/>
                    <a:lstStyle/>
                    <a:p>
                      <a:pPr algn="ctr" fontAlgn="ctr"/>
                      <a:r>
                        <a:rPr lang="en-US" sz="1000" u="none" strike="noStrike" dirty="0">
                          <a:solidFill>
                            <a:schemeClr val="bg1"/>
                          </a:solidFill>
                          <a:effectLst/>
                          <a:latin typeface="+mj-lt"/>
                        </a:rPr>
                        <a:t>Cross-subsidy surcharge and additional surcharge (Y/N)</a:t>
                      </a:r>
                      <a:endParaRPr lang="en-US" sz="1000" b="1" i="0" u="none" strike="noStrike" dirty="0">
                        <a:solidFill>
                          <a:schemeClr val="bg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a:txBody>
                    <a:bodyPr/>
                    <a:lstStyle/>
                    <a:p>
                      <a:pPr algn="ctr" fontAlgn="ctr"/>
                      <a:r>
                        <a:rPr lang="en-US" sz="1000" u="none" strike="noStrike" dirty="0">
                          <a:solidFill>
                            <a:schemeClr val="bg1"/>
                          </a:solidFill>
                          <a:effectLst/>
                          <a:latin typeface="+mj-lt"/>
                        </a:rPr>
                        <a:t>Banking Charges (Y/N)</a:t>
                      </a:r>
                      <a:endParaRPr lang="en-US" sz="1000" b="1" i="0" u="none" strike="noStrike" dirty="0">
                        <a:solidFill>
                          <a:schemeClr val="bg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a:txBody>
                    <a:bodyPr/>
                    <a:lstStyle/>
                    <a:p>
                      <a:pPr algn="ctr" fontAlgn="ctr"/>
                      <a:r>
                        <a:rPr lang="en-US" sz="1000" u="none" strike="noStrike" dirty="0">
                          <a:solidFill>
                            <a:schemeClr val="bg1"/>
                          </a:solidFill>
                          <a:effectLst/>
                          <a:latin typeface="+mj-lt"/>
                        </a:rPr>
                        <a:t>Transmission Charge (Y/N)</a:t>
                      </a:r>
                      <a:endParaRPr lang="en-US" sz="1000" b="1" i="0" u="none" strike="noStrike" dirty="0">
                        <a:solidFill>
                          <a:schemeClr val="bg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a:txBody>
                    <a:bodyPr/>
                    <a:lstStyle/>
                    <a:p>
                      <a:pPr algn="ctr" fontAlgn="ctr"/>
                      <a:r>
                        <a:rPr lang="en-US" sz="1000" u="none" strike="noStrike" dirty="0">
                          <a:solidFill>
                            <a:schemeClr val="bg1"/>
                          </a:solidFill>
                          <a:effectLst/>
                          <a:latin typeface="+mj-lt"/>
                        </a:rPr>
                        <a:t>Other to specify</a:t>
                      </a:r>
                      <a:endParaRPr lang="en-US" sz="1000" b="1" i="0" u="none" strike="noStrike" dirty="0">
                        <a:solidFill>
                          <a:schemeClr val="bg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a:txBody>
                    <a:bodyPr/>
                    <a:lstStyle/>
                    <a:p>
                      <a:pPr algn="ctr" fontAlgn="ctr"/>
                      <a:r>
                        <a:rPr lang="en-US" sz="1000" u="none" strike="noStrike" dirty="0">
                          <a:solidFill>
                            <a:schemeClr val="bg1"/>
                          </a:solidFill>
                          <a:effectLst/>
                          <a:latin typeface="+mj-lt"/>
                        </a:rPr>
                        <a:t>Rate applicable </a:t>
                      </a:r>
                      <a:endParaRPr lang="en-US" sz="1000" b="1" i="0" u="none" strike="noStrike" dirty="0">
                        <a:solidFill>
                          <a:schemeClr val="bg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tc>
                  <a:txBody>
                    <a:bodyPr/>
                    <a:lstStyle/>
                    <a:p>
                      <a:pPr algn="ctr" fontAlgn="ctr"/>
                      <a:r>
                        <a:rPr lang="en-US" sz="1000" u="none" strike="noStrike" dirty="0">
                          <a:solidFill>
                            <a:schemeClr val="bg1"/>
                          </a:solidFill>
                          <a:effectLst/>
                          <a:latin typeface="+mj-lt"/>
                        </a:rPr>
                        <a:t>Any other condition</a:t>
                      </a:r>
                      <a:endParaRPr lang="en-US" sz="1000" b="1" i="0" u="none" strike="noStrike" dirty="0">
                        <a:solidFill>
                          <a:schemeClr val="bg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A44"/>
                    </a:solidFill>
                  </a:tcPr>
                </a:tc>
                <a:extLst>
                  <a:ext uri="{0D108BD9-81ED-4DB2-BD59-A6C34878D82A}">
                    <a16:rowId xmlns:a16="http://schemas.microsoft.com/office/drawing/2014/main" val="2143450916"/>
                  </a:ext>
                </a:extLst>
              </a:tr>
              <a:tr h="1523496">
                <a:tc>
                  <a:txBody>
                    <a:bodyPr/>
                    <a:lstStyle/>
                    <a:p>
                      <a:pPr algn="l" fontAlgn="ctr"/>
                      <a:r>
                        <a:rPr lang="en-US" sz="1000" b="1" u="none" strike="noStrike" dirty="0">
                          <a:solidFill>
                            <a:schemeClr val="bg1"/>
                          </a:solidFill>
                          <a:effectLst/>
                          <a:latin typeface="+mj-lt"/>
                        </a:rPr>
                        <a:t>Rajasthan</a:t>
                      </a:r>
                      <a:endParaRPr lang="en-US" sz="1000" b="1" i="0" u="none" strike="noStrike" dirty="0">
                        <a:solidFill>
                          <a:schemeClr val="bg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fontAlgn="ctr"/>
                      <a:r>
                        <a:rPr lang="en-US" sz="1000" b="0" i="0" u="none" strike="noStrike" dirty="0">
                          <a:solidFill>
                            <a:srgbClr val="000000"/>
                          </a:solidFill>
                          <a:effectLst/>
                          <a:latin typeface="+mj-lt"/>
                        </a:rPr>
                        <a:t>Net Metering</a:t>
                      </a: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u="none" strike="noStrike">
                          <a:effectLst/>
                          <a:latin typeface="+mj-lt"/>
                        </a:rPr>
                        <a:t>80%</a:t>
                      </a:r>
                      <a:endParaRPr lang="en-US" sz="1000" b="0" i="0" u="none" strike="noStrike">
                        <a:solidFill>
                          <a:srgbClr val="000000"/>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pl-PL" sz="1000" u="none" strike="noStrike" dirty="0">
                          <a:effectLst/>
                          <a:latin typeface="+mj-lt"/>
                        </a:rPr>
                        <a:t>1 kW to 1000 kW</a:t>
                      </a:r>
                      <a:endParaRPr lang="pl-PL" sz="1000" b="0" i="0" u="none" strike="noStrike" dirty="0">
                        <a:solidFill>
                          <a:srgbClr val="000000"/>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u="none" strike="noStrike">
                          <a:effectLst/>
                          <a:latin typeface="+mj-lt"/>
                        </a:rPr>
                        <a:t>30%</a:t>
                      </a:r>
                      <a:endParaRPr lang="en-US" sz="1000" b="0" i="0" u="none" strike="noStrike">
                        <a:solidFill>
                          <a:srgbClr val="000000"/>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u="none" strike="noStrike">
                          <a:effectLst/>
                          <a:latin typeface="+mj-lt"/>
                        </a:rPr>
                        <a:t>Y</a:t>
                      </a:r>
                      <a:endParaRPr lang="en-US" sz="1000" b="0" i="0" u="none" strike="noStrike">
                        <a:solidFill>
                          <a:srgbClr val="000000"/>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u="none" strike="noStrike">
                          <a:effectLst/>
                          <a:latin typeface="+mj-lt"/>
                        </a:rPr>
                        <a:t>Y</a:t>
                      </a:r>
                      <a:endParaRPr lang="en-US" sz="1000" b="0" i="0" u="none" strike="noStrike">
                        <a:solidFill>
                          <a:srgbClr val="000000"/>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u="none" strike="noStrike">
                          <a:effectLst/>
                          <a:latin typeface="+mj-lt"/>
                        </a:rPr>
                        <a:t>Y</a:t>
                      </a:r>
                      <a:endParaRPr lang="en-US" sz="1000" b="0" i="0" u="none" strike="noStrike">
                        <a:solidFill>
                          <a:srgbClr val="000000"/>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u="none" strike="noStrike">
                          <a:effectLst/>
                          <a:latin typeface="+mj-lt"/>
                        </a:rPr>
                        <a:t>N</a:t>
                      </a:r>
                      <a:endParaRPr lang="en-US" sz="1000" b="0" i="0" u="none" strike="noStrike">
                        <a:solidFill>
                          <a:srgbClr val="000000"/>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u="none" strike="noStrike">
                          <a:effectLst/>
                          <a:latin typeface="+mj-lt"/>
                        </a:rPr>
                        <a:t> </a:t>
                      </a:r>
                      <a:endParaRPr lang="en-US" sz="1000" b="0" i="0" u="none" strike="noStrike">
                        <a:solidFill>
                          <a:srgbClr val="000000"/>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u="none" strike="noStrike" dirty="0">
                          <a:effectLst/>
                          <a:latin typeface="+mj-lt"/>
                        </a:rPr>
                        <a:t>FIT</a:t>
                      </a:r>
                      <a:endParaRPr lang="en-US" sz="1000" b="0" i="0" u="none" strike="noStrike" dirty="0">
                        <a:solidFill>
                          <a:srgbClr val="000000"/>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u="none" strike="noStrike">
                          <a:effectLst/>
                          <a:latin typeface="+mj-lt"/>
                        </a:rPr>
                        <a:t>1) If export more than 50 units then at FIT  in next billing period                          2) If export less than 50 units then adjustment in billing period till credit of 50 units is achieved</a:t>
                      </a:r>
                      <a:endParaRPr lang="en-US" sz="1000" b="0" i="0" u="none" strike="noStrike">
                        <a:solidFill>
                          <a:srgbClr val="000000"/>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56700404"/>
                  </a:ext>
                </a:extLst>
              </a:tr>
              <a:tr h="1219463">
                <a:tc>
                  <a:txBody>
                    <a:bodyPr/>
                    <a:lstStyle/>
                    <a:p>
                      <a:pPr algn="l" fontAlgn="ctr"/>
                      <a:r>
                        <a:rPr lang="en-US" sz="1000" b="1" u="none" strike="noStrike" dirty="0">
                          <a:solidFill>
                            <a:schemeClr val="bg1"/>
                          </a:solidFill>
                          <a:effectLst/>
                          <a:latin typeface="+mj-lt"/>
                        </a:rPr>
                        <a:t>Gujarat</a:t>
                      </a:r>
                      <a:endParaRPr lang="en-US" sz="1000" b="1" i="0" u="none" strike="noStrike" dirty="0">
                        <a:solidFill>
                          <a:schemeClr val="bg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ctr" fontAlgn="ctr"/>
                      <a:r>
                        <a:rPr lang="en-US" sz="1000" b="0" i="0" u="none" strike="noStrike" dirty="0">
                          <a:solidFill>
                            <a:srgbClr val="000000"/>
                          </a:solidFill>
                          <a:effectLst/>
                          <a:latin typeface="+mj-lt"/>
                        </a:rPr>
                        <a:t>Net Metering</a:t>
                      </a: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u="none" strike="noStrike">
                          <a:effectLst/>
                          <a:latin typeface="+mj-lt"/>
                        </a:rPr>
                        <a:t>50%</a:t>
                      </a:r>
                      <a:endParaRPr lang="en-US" sz="1000" b="0" i="0" u="none" strike="noStrike">
                        <a:solidFill>
                          <a:srgbClr val="000000"/>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pl-PL" sz="1000" u="none" strike="noStrike">
                          <a:effectLst/>
                          <a:latin typeface="+mj-lt"/>
                        </a:rPr>
                        <a:t>1 kW to 1000 kW</a:t>
                      </a:r>
                      <a:endParaRPr lang="pl-PL" sz="1000" b="0" i="0" u="none" strike="noStrike">
                        <a:solidFill>
                          <a:srgbClr val="000000"/>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u="none" strike="noStrike">
                          <a:effectLst/>
                          <a:latin typeface="+mj-lt"/>
                        </a:rPr>
                        <a:t>65%</a:t>
                      </a:r>
                      <a:endParaRPr lang="en-US" sz="1000" b="0" i="0" u="none" strike="noStrike">
                        <a:solidFill>
                          <a:srgbClr val="000000"/>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u="none" strike="noStrike">
                          <a:effectLst/>
                          <a:latin typeface="+mj-lt"/>
                        </a:rPr>
                        <a:t>Y</a:t>
                      </a:r>
                      <a:endParaRPr lang="en-US" sz="1000" b="0" i="0" u="none" strike="noStrike">
                        <a:solidFill>
                          <a:srgbClr val="000000"/>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u="none" strike="noStrike">
                          <a:effectLst/>
                          <a:latin typeface="+mj-lt"/>
                        </a:rPr>
                        <a:t>Y</a:t>
                      </a:r>
                      <a:endParaRPr lang="en-US" sz="1000" b="0" i="0" u="none" strike="noStrike">
                        <a:solidFill>
                          <a:srgbClr val="000000"/>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u="none" strike="noStrike">
                          <a:effectLst/>
                          <a:latin typeface="+mj-lt"/>
                        </a:rPr>
                        <a:t>Y</a:t>
                      </a:r>
                      <a:endParaRPr lang="en-US" sz="1000" b="0" i="0" u="none" strike="noStrike">
                        <a:solidFill>
                          <a:srgbClr val="000000"/>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u="none" strike="noStrike">
                          <a:effectLst/>
                          <a:latin typeface="+mj-lt"/>
                        </a:rPr>
                        <a:t>Y</a:t>
                      </a:r>
                      <a:endParaRPr lang="en-US" sz="1000" b="0" i="0" u="none" strike="noStrike">
                        <a:solidFill>
                          <a:srgbClr val="000000"/>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u="none" strike="noStrike">
                          <a:effectLst/>
                          <a:latin typeface="+mj-lt"/>
                        </a:rPr>
                        <a:t>Transmission loss , Wheeling Loss</a:t>
                      </a:r>
                      <a:endParaRPr lang="en-US" sz="1000" b="0" i="0" u="none" strike="noStrike">
                        <a:solidFill>
                          <a:srgbClr val="000000"/>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1" u="none" strike="noStrike" dirty="0">
                          <a:effectLst/>
                          <a:latin typeface="+mj-lt"/>
                        </a:rPr>
                        <a:t>Compensation @ of Rs. 2.25 per unit</a:t>
                      </a:r>
                      <a:r>
                        <a:rPr lang="en-US" sz="1000" u="none" strike="noStrike" dirty="0">
                          <a:effectLst/>
                          <a:latin typeface="+mj-lt"/>
                        </a:rPr>
                        <a:t>  or the rate, if any, specified by the Commission for Surplus Injection Compensation (SIC) from time to time for the whole life of the Rooftop Solar PV System (for Residential and Govt Consumers)</a:t>
                      </a:r>
                      <a:endParaRPr lang="en-US" sz="1000" b="0" i="0" u="none" strike="noStrike" dirty="0">
                        <a:solidFill>
                          <a:srgbClr val="000000"/>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u="none" strike="noStrike" dirty="0">
                          <a:effectLst/>
                          <a:latin typeface="+mj-lt"/>
                        </a:rPr>
                        <a:t> Banking of energy allowed within one billing cycle</a:t>
                      </a:r>
                      <a:endParaRPr lang="en-US" sz="1000" b="0" i="0" u="none" strike="noStrike" dirty="0">
                        <a:solidFill>
                          <a:srgbClr val="000000"/>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61927763"/>
                  </a:ext>
                </a:extLst>
              </a:tr>
              <a:tr h="1067447">
                <a:tc>
                  <a:txBody>
                    <a:bodyPr/>
                    <a:lstStyle/>
                    <a:p>
                      <a:pPr algn="l" fontAlgn="ctr"/>
                      <a:r>
                        <a:rPr lang="en-US" sz="1000" b="1" u="none" strike="noStrike" dirty="0">
                          <a:solidFill>
                            <a:schemeClr val="tx1"/>
                          </a:solidFill>
                          <a:effectLst/>
                          <a:latin typeface="+mj-lt"/>
                        </a:rPr>
                        <a:t>West Bengal</a:t>
                      </a:r>
                      <a:endParaRPr lang="en-US" sz="1000" b="1" i="0" u="none" strike="noStrike" dirty="0">
                        <a:solidFill>
                          <a:schemeClr val="tx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1000" b="0" i="0" u="none" strike="noStrike" dirty="0">
                          <a:solidFill>
                            <a:schemeClr val="tx1"/>
                          </a:solidFill>
                          <a:effectLst/>
                          <a:latin typeface="+mj-lt"/>
                        </a:rPr>
                        <a:t>Net metering, </a:t>
                      </a:r>
                    </a:p>
                    <a:p>
                      <a:pPr algn="ctr" fontAlgn="ctr"/>
                      <a:r>
                        <a:rPr lang="en-US" sz="1000" b="0" i="0" u="none" strike="noStrike" dirty="0">
                          <a:solidFill>
                            <a:schemeClr val="tx1"/>
                          </a:solidFill>
                          <a:effectLst/>
                          <a:latin typeface="+mj-lt"/>
                        </a:rPr>
                        <a:t>Net Billing</a:t>
                      </a:r>
                    </a:p>
                    <a:p>
                      <a:pPr algn="ctr" fontAlgn="ctr"/>
                      <a:r>
                        <a:rPr lang="en-US" sz="1000" b="0" i="0" u="none" strike="noStrike" dirty="0">
                          <a:solidFill>
                            <a:schemeClr val="tx1"/>
                          </a:solidFill>
                          <a:effectLst/>
                          <a:latin typeface="+mj-lt"/>
                        </a:rPr>
                        <a:t>Net </a:t>
                      </a:r>
                      <a:r>
                        <a:rPr lang="en-US" sz="1000" b="0" i="0" u="none" strike="noStrike" dirty="0" err="1">
                          <a:solidFill>
                            <a:schemeClr val="tx1"/>
                          </a:solidFill>
                          <a:effectLst/>
                          <a:latin typeface="+mj-lt"/>
                        </a:rPr>
                        <a:t>FiT</a:t>
                      </a:r>
                      <a:endParaRPr lang="en-US" sz="1000" b="0" i="0" u="none" strike="noStrike" dirty="0">
                        <a:solidFill>
                          <a:schemeClr val="tx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1000" u="none" strike="noStrike" dirty="0">
                          <a:solidFill>
                            <a:schemeClr val="tx1"/>
                          </a:solidFill>
                          <a:effectLst/>
                          <a:latin typeface="+mj-lt"/>
                        </a:rPr>
                        <a:t>100%</a:t>
                      </a:r>
                      <a:endParaRPr lang="en-US" sz="1000" b="0" i="0" u="none" strike="noStrike" dirty="0">
                        <a:solidFill>
                          <a:schemeClr val="tx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1000" u="none" strike="noStrike" dirty="0">
                          <a:solidFill>
                            <a:schemeClr val="tx1"/>
                          </a:solidFill>
                          <a:effectLst/>
                          <a:latin typeface="+mj-lt"/>
                        </a:rPr>
                        <a:t>1 kW to contracted demand</a:t>
                      </a:r>
                      <a:endParaRPr lang="en-US" sz="1000" b="0" i="0" u="none" strike="noStrike" dirty="0">
                        <a:solidFill>
                          <a:schemeClr val="tx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1000" u="none" strike="noStrike" dirty="0">
                          <a:solidFill>
                            <a:schemeClr val="tx1"/>
                          </a:solidFill>
                          <a:effectLst/>
                          <a:latin typeface="+mj-lt"/>
                        </a:rPr>
                        <a:t>100%</a:t>
                      </a:r>
                      <a:endParaRPr lang="en-US" sz="1000" b="0" i="0" u="none" strike="noStrike" dirty="0">
                        <a:solidFill>
                          <a:schemeClr val="tx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1000" u="none" strike="noStrike" dirty="0">
                          <a:solidFill>
                            <a:schemeClr val="tx1"/>
                          </a:solidFill>
                          <a:effectLst/>
                          <a:latin typeface="+mj-lt"/>
                        </a:rPr>
                        <a:t>NA</a:t>
                      </a:r>
                      <a:endParaRPr lang="en-US" sz="1000" b="0" i="0" u="none" strike="noStrike" dirty="0">
                        <a:solidFill>
                          <a:schemeClr val="tx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1000" u="none" strike="noStrike" dirty="0">
                          <a:solidFill>
                            <a:schemeClr val="tx1"/>
                          </a:solidFill>
                          <a:effectLst/>
                          <a:latin typeface="+mj-lt"/>
                        </a:rPr>
                        <a:t>NA</a:t>
                      </a:r>
                      <a:endParaRPr lang="en-US" sz="1000" b="0" i="0" u="none" strike="noStrike" dirty="0">
                        <a:solidFill>
                          <a:schemeClr val="tx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1000" u="none" strike="noStrike" dirty="0">
                          <a:solidFill>
                            <a:schemeClr val="tx1"/>
                          </a:solidFill>
                          <a:effectLst/>
                          <a:latin typeface="+mj-lt"/>
                        </a:rPr>
                        <a:t>Y</a:t>
                      </a:r>
                      <a:endParaRPr lang="en-US" sz="1000" b="0" i="0" u="none" strike="noStrike" dirty="0">
                        <a:solidFill>
                          <a:schemeClr val="tx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1000" u="none" strike="noStrike" dirty="0">
                          <a:solidFill>
                            <a:schemeClr val="tx1"/>
                          </a:solidFill>
                          <a:effectLst/>
                          <a:latin typeface="+mj-lt"/>
                        </a:rPr>
                        <a:t>NA</a:t>
                      </a:r>
                      <a:endParaRPr lang="en-US" sz="1000" b="0" i="0" u="none" strike="noStrike" dirty="0">
                        <a:solidFill>
                          <a:schemeClr val="tx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1000" u="none" strike="noStrike" dirty="0">
                          <a:solidFill>
                            <a:schemeClr val="tx1"/>
                          </a:solidFill>
                          <a:effectLst/>
                          <a:latin typeface="+mj-lt"/>
                        </a:rPr>
                        <a:t>Banking charges are exempted for net metering </a:t>
                      </a:r>
                      <a:r>
                        <a:rPr lang="en-US" sz="1000" u="none" strike="noStrike" dirty="0" err="1">
                          <a:solidFill>
                            <a:schemeClr val="tx1"/>
                          </a:solidFill>
                          <a:effectLst/>
                          <a:latin typeface="+mj-lt"/>
                        </a:rPr>
                        <a:t>upto</a:t>
                      </a:r>
                      <a:r>
                        <a:rPr lang="en-US" sz="1000" u="none" strike="noStrike" dirty="0">
                          <a:solidFill>
                            <a:schemeClr val="tx1"/>
                          </a:solidFill>
                          <a:effectLst/>
                          <a:latin typeface="+mj-lt"/>
                        </a:rPr>
                        <a:t> 5kwp for a particular financial year</a:t>
                      </a:r>
                      <a:endParaRPr lang="en-US" sz="1000" b="0" i="0" u="none" strike="noStrike" dirty="0">
                        <a:solidFill>
                          <a:schemeClr val="tx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1000" u="none" strike="noStrike" dirty="0">
                          <a:solidFill>
                            <a:schemeClr val="tx1"/>
                          </a:solidFill>
                          <a:effectLst/>
                          <a:latin typeface="+mj-lt"/>
                        </a:rPr>
                        <a:t>For Net Metering = </a:t>
                      </a:r>
                      <a:r>
                        <a:rPr lang="en-US" sz="1000" b="1" u="none" strike="noStrike" dirty="0">
                          <a:solidFill>
                            <a:schemeClr val="tx1"/>
                          </a:solidFill>
                          <a:effectLst/>
                          <a:latin typeface="+mj-lt"/>
                        </a:rPr>
                        <a:t>Adjustment up to 90 % of consumption excess energy carry forward to next billing cycle</a:t>
                      </a:r>
                      <a:r>
                        <a:rPr lang="en-US" sz="1000" u="none" strike="noStrike" dirty="0">
                          <a:solidFill>
                            <a:schemeClr val="tx1"/>
                          </a:solidFill>
                          <a:effectLst/>
                          <a:latin typeface="+mj-lt"/>
                        </a:rPr>
                        <a:t> in a financial year. </a:t>
                      </a:r>
                      <a:br>
                        <a:rPr lang="en-US" sz="1000" u="none" strike="noStrike" dirty="0">
                          <a:solidFill>
                            <a:schemeClr val="tx1"/>
                          </a:solidFill>
                          <a:effectLst/>
                          <a:latin typeface="+mj-lt"/>
                        </a:rPr>
                      </a:br>
                      <a:r>
                        <a:rPr lang="en-US" sz="1000" u="none" strike="noStrike" dirty="0">
                          <a:solidFill>
                            <a:schemeClr val="tx1"/>
                          </a:solidFill>
                          <a:effectLst/>
                          <a:latin typeface="+mj-lt"/>
                        </a:rPr>
                        <a:t>For </a:t>
                      </a:r>
                      <a:r>
                        <a:rPr lang="en-US" sz="1000" b="1" u="none" strike="noStrike" dirty="0">
                          <a:solidFill>
                            <a:schemeClr val="tx1"/>
                          </a:solidFill>
                          <a:effectLst/>
                          <a:latin typeface="+mj-lt"/>
                        </a:rPr>
                        <a:t>Net Billing</a:t>
                      </a:r>
                      <a:r>
                        <a:rPr lang="en-US" sz="1000" u="none" strike="noStrike" dirty="0">
                          <a:solidFill>
                            <a:schemeClr val="tx1"/>
                          </a:solidFill>
                          <a:effectLst/>
                          <a:latin typeface="+mj-lt"/>
                        </a:rPr>
                        <a:t> as per WBERC Tariff order</a:t>
                      </a:r>
                      <a:endParaRPr lang="en-US" sz="1000" b="0" i="0" u="none" strike="noStrike" dirty="0">
                        <a:solidFill>
                          <a:schemeClr val="tx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US" sz="1000" u="none" strike="noStrike" dirty="0">
                          <a:solidFill>
                            <a:schemeClr val="tx1"/>
                          </a:solidFill>
                          <a:effectLst/>
                          <a:latin typeface="+mj-lt"/>
                        </a:rPr>
                        <a:t> </a:t>
                      </a:r>
                      <a:endParaRPr lang="en-US" sz="1000" b="0" i="0" u="none" strike="noStrike" dirty="0">
                        <a:solidFill>
                          <a:schemeClr val="tx1"/>
                        </a:solidFill>
                        <a:effectLst/>
                        <a:latin typeface="+mj-lt"/>
                      </a:endParaRPr>
                    </a:p>
                  </a:txBody>
                  <a:tcPr marL="3334" marR="3334" marT="333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461085837"/>
                  </a:ext>
                </a:extLst>
              </a:tr>
            </a:tbl>
          </a:graphicData>
        </a:graphic>
      </p:graphicFrame>
      <p:sp>
        <p:nvSpPr>
          <p:cNvPr id="11" name="TextBox 10">
            <a:extLst>
              <a:ext uri="{FF2B5EF4-FFF2-40B4-BE49-F238E27FC236}">
                <a16:creationId xmlns:a16="http://schemas.microsoft.com/office/drawing/2014/main" id="{D51983C0-9168-4B09-BBFD-3FB95B706FD4}"/>
              </a:ext>
            </a:extLst>
          </p:cNvPr>
          <p:cNvSpPr txBox="1"/>
          <p:nvPr/>
        </p:nvSpPr>
        <p:spPr>
          <a:xfrm>
            <a:off x="307900" y="6203253"/>
            <a:ext cx="11576200" cy="427168"/>
          </a:xfrm>
          <a:prstGeom prst="rect">
            <a:avLst/>
          </a:prstGeom>
          <a:solidFill>
            <a:schemeClr val="bg1">
              <a:lumMod val="95000"/>
            </a:schemeClr>
          </a:solidFill>
        </p:spPr>
        <p:txBody>
          <a:bodyPr wrap="square" rtlCol="0" anchor="ctr">
            <a:spAutoFit/>
          </a:bodyPr>
          <a:lstStyle/>
          <a:p>
            <a:r>
              <a:rPr lang="en-US" sz="1088" i="1" dirty="0"/>
              <a:t>Additional details provided in attached excel sheet for further reference</a:t>
            </a:r>
          </a:p>
          <a:p>
            <a:r>
              <a:rPr lang="en-US" sz="1088" i="1" dirty="0"/>
              <a:t> </a:t>
            </a:r>
          </a:p>
        </p:txBody>
      </p:sp>
      <p:graphicFrame>
        <p:nvGraphicFramePr>
          <p:cNvPr id="12" name="Object 11">
            <a:extLst>
              <a:ext uri="{FF2B5EF4-FFF2-40B4-BE49-F238E27FC236}">
                <a16:creationId xmlns:a16="http://schemas.microsoft.com/office/drawing/2014/main" id="{9D5E3FD2-88C0-458D-BA85-6F68EFA17C76}"/>
              </a:ext>
            </a:extLst>
          </p:cNvPr>
          <p:cNvGraphicFramePr>
            <a:graphicFrameLocks noChangeAspect="1"/>
          </p:cNvGraphicFramePr>
          <p:nvPr/>
        </p:nvGraphicFramePr>
        <p:xfrm>
          <a:off x="5160163" y="6207519"/>
          <a:ext cx="1125365" cy="992509"/>
        </p:xfrm>
        <a:graphic>
          <a:graphicData uri="http://schemas.openxmlformats.org/presentationml/2006/ole">
            <mc:AlternateContent xmlns:mc="http://schemas.openxmlformats.org/markup-compatibility/2006">
              <mc:Choice xmlns:v="urn:schemas-microsoft-com:vml" Requires="v">
                <p:oleObj spid="_x0000_s50289" name="Worksheet" showAsIcon="1" r:id="rId7" imgW="914400" imgH="806335" progId="Excel.Sheet.12">
                  <p:embed/>
                </p:oleObj>
              </mc:Choice>
              <mc:Fallback>
                <p:oleObj name="Worksheet" showAsIcon="1" r:id="rId7" imgW="914400" imgH="806335" progId="Excel.Sheet.12">
                  <p:embed/>
                  <p:pic>
                    <p:nvPicPr>
                      <p:cNvPr id="12" name="Object 11">
                        <a:extLst>
                          <a:ext uri="{FF2B5EF4-FFF2-40B4-BE49-F238E27FC236}">
                            <a16:creationId xmlns:a16="http://schemas.microsoft.com/office/drawing/2014/main" id="{9D5E3FD2-88C0-458D-BA85-6F68EFA17C76}"/>
                          </a:ext>
                        </a:extLst>
                      </p:cNvPr>
                      <p:cNvPicPr/>
                      <p:nvPr/>
                    </p:nvPicPr>
                    <p:blipFill>
                      <a:blip r:embed="rId8"/>
                      <a:stretch>
                        <a:fillRect/>
                      </a:stretch>
                    </p:blipFill>
                    <p:spPr>
                      <a:xfrm>
                        <a:off x="5160163" y="6207519"/>
                        <a:ext cx="1125365" cy="992509"/>
                      </a:xfrm>
                      <a:prstGeom prst="rect">
                        <a:avLst/>
                      </a:prstGeom>
                    </p:spPr>
                  </p:pic>
                </p:oleObj>
              </mc:Fallback>
            </mc:AlternateContent>
          </a:graphicData>
        </a:graphic>
      </p:graphicFrame>
    </p:spTree>
    <p:extLst>
      <p:ext uri="{BB962C8B-B14F-4D97-AF65-F5344CB8AC3E}">
        <p14:creationId xmlns:p14="http://schemas.microsoft.com/office/powerpoint/2010/main" val="3845735795"/>
      </p:ext>
    </p:extLst>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828" y="1723"/>
          <a:ext cx="1588" cy="1588"/>
        </p:xfrm>
        <a:graphic>
          <a:graphicData uri="http://schemas.openxmlformats.org/presentationml/2006/ole">
            <mc:AlternateContent xmlns:mc="http://schemas.openxmlformats.org/markup-compatibility/2006">
              <mc:Choice xmlns:v="urn:schemas-microsoft-com:vml" Requires="v">
                <p:oleObj spid="_x0000_s88072" name="think-cell Slide" r:id="rId5" imgW="498" imgH="499" progId="TCLayout.ActiveDocument.1">
                  <p:embed/>
                </p:oleObj>
              </mc:Choice>
              <mc:Fallback>
                <p:oleObj name="think-cell Slide" r:id="rId5"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6"/>
                      <a:stretch>
                        <a:fillRect/>
                      </a:stretch>
                    </p:blipFill>
                    <p:spPr>
                      <a:xfrm>
                        <a:off x="1828" y="1723"/>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872" y="241430"/>
            <a:ext cx="11188260" cy="368285"/>
          </a:xfrm>
        </p:spPr>
        <p:txBody>
          <a:bodyPr vert="horz"/>
          <a:lstStyle/>
          <a:p>
            <a:pPr algn="just"/>
            <a:r>
              <a:rPr lang="en-US" sz="1800" b="1" dirty="0"/>
              <a:t>Snapshot of Non-exhaustive Policy and Regulatory intervention options for accelerating RE in West Bengal (1/2)</a:t>
            </a:r>
          </a:p>
        </p:txBody>
      </p:sp>
      <p:graphicFrame>
        <p:nvGraphicFramePr>
          <p:cNvPr id="3" name="Diagram 2">
            <a:extLst>
              <a:ext uri="{FF2B5EF4-FFF2-40B4-BE49-F238E27FC236}">
                <a16:creationId xmlns:a16="http://schemas.microsoft.com/office/drawing/2014/main" id="{0685521F-F37F-40DD-B6B4-8B8B1B708EFA}"/>
              </a:ext>
            </a:extLst>
          </p:cNvPr>
          <p:cNvGraphicFramePr/>
          <p:nvPr/>
        </p:nvGraphicFramePr>
        <p:xfrm>
          <a:off x="620486" y="1111555"/>
          <a:ext cx="10874828" cy="530013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006784978"/>
      </p:ext>
    </p:extLst>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828" y="1723"/>
          <a:ext cx="1588" cy="1588"/>
        </p:xfrm>
        <a:graphic>
          <a:graphicData uri="http://schemas.openxmlformats.org/presentationml/2006/ole">
            <mc:AlternateContent xmlns:mc="http://schemas.openxmlformats.org/markup-compatibility/2006">
              <mc:Choice xmlns:v="urn:schemas-microsoft-com:vml" Requires="v">
                <p:oleObj spid="_x0000_s89096" name="think-cell Slide" r:id="rId5" imgW="498" imgH="499" progId="TCLayout.ActiveDocument.1">
                  <p:embed/>
                </p:oleObj>
              </mc:Choice>
              <mc:Fallback>
                <p:oleObj name="think-cell Slide" r:id="rId5"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6"/>
                      <a:stretch>
                        <a:fillRect/>
                      </a:stretch>
                    </p:blipFill>
                    <p:spPr>
                      <a:xfrm>
                        <a:off x="1828" y="1723"/>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872" y="241430"/>
            <a:ext cx="11188260" cy="368285"/>
          </a:xfrm>
        </p:spPr>
        <p:txBody>
          <a:bodyPr vert="horz"/>
          <a:lstStyle/>
          <a:p>
            <a:pPr algn="just"/>
            <a:r>
              <a:rPr lang="en-US" sz="1800" b="1" dirty="0"/>
              <a:t>Snapshot of Non-exhaustive Policy and Regulatory intervention options for accelerating RE in West Bengal (2/2)</a:t>
            </a:r>
          </a:p>
        </p:txBody>
      </p:sp>
      <p:graphicFrame>
        <p:nvGraphicFramePr>
          <p:cNvPr id="3" name="Diagram 2">
            <a:extLst>
              <a:ext uri="{FF2B5EF4-FFF2-40B4-BE49-F238E27FC236}">
                <a16:creationId xmlns:a16="http://schemas.microsoft.com/office/drawing/2014/main" id="{0685521F-F37F-40DD-B6B4-8B8B1B708EFA}"/>
              </a:ext>
            </a:extLst>
          </p:cNvPr>
          <p:cNvGraphicFramePr/>
          <p:nvPr/>
        </p:nvGraphicFramePr>
        <p:xfrm>
          <a:off x="598715" y="1111555"/>
          <a:ext cx="10874828" cy="530013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160259926"/>
      </p:ext>
    </p:extLst>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258"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4" y="1631651"/>
            <a:ext cx="10405591" cy="430887"/>
          </a:xfrm>
        </p:spPr>
        <p:txBody>
          <a:bodyPr wrap="square" anchor="ctr" anchorCtr="0">
            <a:spAutoFit/>
          </a:bodyPr>
          <a:lstStyle/>
          <a:p>
            <a:r>
              <a:rPr lang="en-US" sz="2800" i="0" dirty="0">
                <a:solidFill>
                  <a:schemeClr val="tx1"/>
                </a:solidFill>
              </a:rPr>
              <a:t>Proposed Schemes</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367990" y="1523711"/>
            <a:ext cx="717291" cy="646768"/>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lang="en-US" b="1" kern="0" dirty="0">
                <a:solidFill>
                  <a:prstClr val="white"/>
                </a:solidFill>
              </a:rPr>
              <a:t>8</a:t>
            </a:r>
            <a:endParaRPr kumimoji="0" lang="en-IN"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1B748CB-0B57-4CA1-9B41-81AB5E897267}"/>
              </a:ext>
            </a:extLst>
          </p:cNvPr>
          <p:cNvSpPr txBox="1"/>
          <p:nvPr/>
        </p:nvSpPr>
        <p:spPr>
          <a:xfrm>
            <a:off x="4972286" y="2929535"/>
            <a:ext cx="5570865" cy="2369880"/>
          </a:xfrm>
          <a:prstGeom prst="rect">
            <a:avLst/>
          </a:prstGeom>
          <a:noFill/>
        </p:spPr>
        <p:txBody>
          <a:bodyPr wrap="square" lIns="0" tIns="0" rIns="0" bIns="0" rtlCol="0">
            <a:spAutoFit/>
          </a:bodyPr>
          <a:lstStyle/>
          <a:p>
            <a:pPr>
              <a:spcBef>
                <a:spcPts val="1800"/>
              </a:spcBef>
              <a:buSzPct val="100000"/>
            </a:pPr>
            <a:r>
              <a:rPr lang="en-IN" sz="1400" b="1" dirty="0"/>
              <a:t>Topics Covered</a:t>
            </a:r>
          </a:p>
          <a:p>
            <a:pPr marL="800071" lvl="1" indent="-342900">
              <a:buSzPct val="100000"/>
              <a:buFont typeface="+mj-lt"/>
              <a:buAutoNum type="alphaUcPeriod"/>
            </a:pPr>
            <a:r>
              <a:rPr lang="en-IN" sz="1400" b="1" dirty="0"/>
              <a:t>Convergence Scheme on Pump Solarization</a:t>
            </a:r>
          </a:p>
          <a:p>
            <a:pPr marL="800071" lvl="1" indent="-342900">
              <a:buSzPct val="100000"/>
              <a:buFont typeface="+mj-lt"/>
              <a:buAutoNum type="alphaUcPeriod"/>
            </a:pPr>
            <a:r>
              <a:rPr lang="en-IN" sz="1400" b="1" dirty="0"/>
              <a:t>Green Tariff Scheme</a:t>
            </a:r>
          </a:p>
          <a:p>
            <a:pPr marL="800071" lvl="1" indent="-342900">
              <a:buSzPct val="100000"/>
              <a:buFont typeface="+mj-lt"/>
              <a:buAutoNum type="alphaUcPeriod"/>
            </a:pPr>
            <a:r>
              <a:rPr lang="en-IN" sz="1400" b="1" dirty="0"/>
              <a:t>Smart Metering</a:t>
            </a:r>
          </a:p>
          <a:p>
            <a:pPr marL="800071" lvl="1" indent="-342900">
              <a:buSzPct val="100000"/>
              <a:buFont typeface="+mj-lt"/>
              <a:buAutoNum type="alphaUcPeriod"/>
            </a:pPr>
            <a:r>
              <a:rPr lang="en-IN" sz="1400" b="1" dirty="0"/>
              <a:t>Demand/Fixed Charge Rationalization</a:t>
            </a:r>
          </a:p>
          <a:p>
            <a:pPr marL="800071" lvl="1" indent="-342900">
              <a:buSzPct val="100000"/>
              <a:buFont typeface="+mj-lt"/>
              <a:buAutoNum type="alphaUcPeriod"/>
            </a:pPr>
            <a:r>
              <a:rPr lang="en-IN" sz="1400" b="1" dirty="0"/>
              <a:t>Industrial Tariff Subsidization- Increase Consumer Base/ Overall Revenue Base</a:t>
            </a:r>
          </a:p>
          <a:p>
            <a:pPr lvl="1">
              <a:buSzPct val="100000"/>
            </a:pPr>
            <a:endParaRPr lang="en-IN" sz="1400" b="1" dirty="0"/>
          </a:p>
          <a:p>
            <a:pPr marL="800071" lvl="1" indent="-342900">
              <a:buSzPct val="100000"/>
              <a:buFont typeface="+mj-lt"/>
              <a:buAutoNum type="alphaUcPeriod"/>
            </a:pPr>
            <a:endParaRPr lang="en-IN" sz="1400" b="1" dirty="0"/>
          </a:p>
          <a:p>
            <a:pPr>
              <a:buSzPct val="100000"/>
            </a:pPr>
            <a:endParaRPr lang="en-IN" sz="1400" b="1" dirty="0"/>
          </a:p>
          <a:p>
            <a:pPr marL="342900" indent="-342900">
              <a:buSzPct val="100000"/>
              <a:buFont typeface="+mj-lt"/>
              <a:buAutoNum type="arabicPeriod"/>
            </a:pPr>
            <a:endParaRPr lang="en-IN" sz="1400" b="1" dirty="0"/>
          </a:p>
        </p:txBody>
      </p: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47657227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7872"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5" y="1539318"/>
            <a:ext cx="9630230" cy="615553"/>
          </a:xfrm>
        </p:spPr>
        <p:txBody>
          <a:bodyPr anchor="ctr" anchorCtr="0">
            <a:spAutoFit/>
          </a:bodyPr>
          <a:lstStyle/>
          <a:p>
            <a:r>
              <a:rPr lang="en-US" sz="2000" i="0" dirty="0">
                <a:solidFill>
                  <a:schemeClr val="tx1"/>
                </a:solidFill>
              </a:rPr>
              <a:t>Convergence Scheme of Agriculture Pump Solarization </a:t>
            </a:r>
            <a:br>
              <a:rPr lang="en-US" sz="2000" i="0" dirty="0">
                <a:solidFill>
                  <a:schemeClr val="tx1"/>
                </a:solidFill>
              </a:rPr>
            </a:br>
            <a:r>
              <a:rPr lang="en-US" sz="2000" i="0" dirty="0">
                <a:solidFill>
                  <a:schemeClr val="tx1"/>
                </a:solidFill>
              </a:rPr>
              <a:t>                                                               (REAPS+ RIDF+ PM KUSUM)</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68992" y="1590786"/>
            <a:ext cx="811893" cy="501149"/>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lang="en-IN" sz="1400" b="1" kern="0" dirty="0">
                <a:solidFill>
                  <a:prstClr val="white"/>
                </a:solidFill>
              </a:rPr>
              <a:t>8A</a:t>
            </a:r>
            <a:endParaRPr kumimoji="0" lang="en-IN" sz="14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a:cxnSpLocks/>
          </p:cNvCxnSpPr>
          <p:nvPr/>
        </p:nvCxnSpPr>
        <p:spPr>
          <a:xfrm>
            <a:off x="4615544" y="3499011"/>
            <a:ext cx="0" cy="15955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526">
            <a:extLst>
              <a:ext uri="{FF2B5EF4-FFF2-40B4-BE49-F238E27FC236}">
                <a16:creationId xmlns:a16="http://schemas.microsoft.com/office/drawing/2014/main" id="{5540E149-1F19-4064-9714-B21FD0705489}"/>
              </a:ext>
            </a:extLst>
          </p:cNvPr>
          <p:cNvGrpSpPr>
            <a:grpSpLocks noChangeAspect="1"/>
          </p:cNvGrpSpPr>
          <p:nvPr/>
        </p:nvGrpSpPr>
        <p:grpSpPr bwMode="auto">
          <a:xfrm>
            <a:off x="1104225" y="3008313"/>
            <a:ext cx="2345264" cy="2345264"/>
            <a:chOff x="3464" y="1974"/>
            <a:chExt cx="340" cy="340"/>
          </a:xfrm>
          <a:solidFill>
            <a:srgbClr val="9CAC00"/>
          </a:solidFill>
        </p:grpSpPr>
        <p:sp>
          <p:nvSpPr>
            <p:cNvPr id="15" name="Freeform 527">
              <a:extLst>
                <a:ext uri="{FF2B5EF4-FFF2-40B4-BE49-F238E27FC236}">
                  <a16:creationId xmlns:a16="http://schemas.microsoft.com/office/drawing/2014/main" id="{2261B12D-A407-4719-9125-F49F83DDB571}"/>
                </a:ext>
              </a:extLst>
            </p:cNvPr>
            <p:cNvSpPr>
              <a:spLocks noEditPoints="1"/>
            </p:cNvSpPr>
            <p:nvPr/>
          </p:nvSpPr>
          <p:spPr bwMode="auto">
            <a:xfrm>
              <a:off x="3464" y="197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528">
              <a:extLst>
                <a:ext uri="{FF2B5EF4-FFF2-40B4-BE49-F238E27FC236}">
                  <a16:creationId xmlns:a16="http://schemas.microsoft.com/office/drawing/2014/main" id="{4FB09AB9-A79B-434D-9DE7-187BE7279860}"/>
                </a:ext>
              </a:extLst>
            </p:cNvPr>
            <p:cNvSpPr>
              <a:spLocks noEditPoints="1"/>
            </p:cNvSpPr>
            <p:nvPr/>
          </p:nvSpPr>
          <p:spPr bwMode="auto">
            <a:xfrm>
              <a:off x="3541" y="2037"/>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235775093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2AFF1-A63D-4F16-977D-5D0AEF6BC863}"/>
              </a:ext>
            </a:extLst>
          </p:cNvPr>
          <p:cNvSpPr>
            <a:spLocks noGrp="1"/>
          </p:cNvSpPr>
          <p:nvPr>
            <p:ph type="title"/>
          </p:nvPr>
        </p:nvSpPr>
        <p:spPr>
          <a:xfrm>
            <a:off x="469902" y="402588"/>
            <a:ext cx="11252200" cy="458011"/>
          </a:xfrm>
        </p:spPr>
        <p:txBody>
          <a:bodyPr/>
          <a:lstStyle/>
          <a:p>
            <a:r>
              <a:rPr lang="en-US" sz="1800" b="1" dirty="0"/>
              <a:t>Background of Convergence Scheme</a:t>
            </a:r>
          </a:p>
        </p:txBody>
      </p:sp>
      <p:sp>
        <p:nvSpPr>
          <p:cNvPr id="31" name="Freeform 7">
            <a:extLst>
              <a:ext uri="{FF2B5EF4-FFF2-40B4-BE49-F238E27FC236}">
                <a16:creationId xmlns:a16="http://schemas.microsoft.com/office/drawing/2014/main" id="{BFCFD01F-31F6-47DC-AC63-EA9A729570DE}"/>
              </a:ext>
            </a:extLst>
          </p:cNvPr>
          <p:cNvSpPr>
            <a:spLocks/>
          </p:cNvSpPr>
          <p:nvPr/>
        </p:nvSpPr>
        <p:spPr bwMode="auto">
          <a:xfrm rot="16200000">
            <a:off x="-1935311" y="3220991"/>
            <a:ext cx="5354323" cy="1114517"/>
          </a:xfrm>
          <a:custGeom>
            <a:avLst/>
            <a:gdLst>
              <a:gd name="T0" fmla="*/ 10 w 1798"/>
              <a:gd name="T1" fmla="*/ 166 h 168"/>
              <a:gd name="T2" fmla="*/ 1 w 1798"/>
              <a:gd name="T3" fmla="*/ 158 h 168"/>
              <a:gd name="T4" fmla="*/ 7 w 1798"/>
              <a:gd name="T5" fmla="*/ 147 h 168"/>
              <a:gd name="T6" fmla="*/ 896 w 1798"/>
              <a:gd name="T7" fmla="*/ 0 h 168"/>
              <a:gd name="T8" fmla="*/ 1790 w 1798"/>
              <a:gd name="T9" fmla="*/ 149 h 168"/>
              <a:gd name="T10" fmla="*/ 1797 w 1798"/>
              <a:gd name="T11" fmla="*/ 160 h 168"/>
              <a:gd name="T12" fmla="*/ 1787 w 1798"/>
              <a:gd name="T13" fmla="*/ 168 h 168"/>
              <a:gd name="T14" fmla="*/ 10 w 1798"/>
              <a:gd name="T15" fmla="*/ 166 h 1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98" h="168">
                <a:moveTo>
                  <a:pt x="10" y="166"/>
                </a:moveTo>
                <a:cubicBezTo>
                  <a:pt x="6" y="166"/>
                  <a:pt x="1" y="163"/>
                  <a:pt x="1" y="158"/>
                </a:cubicBezTo>
                <a:cubicBezTo>
                  <a:pt x="0" y="153"/>
                  <a:pt x="2" y="148"/>
                  <a:pt x="7" y="147"/>
                </a:cubicBezTo>
                <a:cubicBezTo>
                  <a:pt x="273" y="51"/>
                  <a:pt x="580" y="0"/>
                  <a:pt x="896" y="0"/>
                </a:cubicBezTo>
                <a:cubicBezTo>
                  <a:pt x="1214" y="0"/>
                  <a:pt x="1523" y="51"/>
                  <a:pt x="1790" y="149"/>
                </a:cubicBezTo>
                <a:cubicBezTo>
                  <a:pt x="1795" y="150"/>
                  <a:pt x="1798" y="155"/>
                  <a:pt x="1797" y="160"/>
                </a:cubicBezTo>
                <a:cubicBezTo>
                  <a:pt x="1796" y="165"/>
                  <a:pt x="1792" y="168"/>
                  <a:pt x="1787" y="168"/>
                </a:cubicBezTo>
                <a:cubicBezTo>
                  <a:pt x="1787" y="168"/>
                  <a:pt x="10" y="166"/>
                  <a:pt x="10" y="166"/>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1600" dirty="0"/>
          </a:p>
        </p:txBody>
      </p:sp>
      <p:grpSp>
        <p:nvGrpSpPr>
          <p:cNvPr id="3" name="Group 2">
            <a:extLst>
              <a:ext uri="{FF2B5EF4-FFF2-40B4-BE49-F238E27FC236}">
                <a16:creationId xmlns:a16="http://schemas.microsoft.com/office/drawing/2014/main" id="{AAEE9590-8246-44B3-AE38-5019422102EF}"/>
              </a:ext>
            </a:extLst>
          </p:cNvPr>
          <p:cNvGrpSpPr/>
          <p:nvPr/>
        </p:nvGrpSpPr>
        <p:grpSpPr>
          <a:xfrm>
            <a:off x="576587" y="1447322"/>
            <a:ext cx="11252200" cy="4637904"/>
            <a:chOff x="504669" y="1447322"/>
            <a:chExt cx="11574658" cy="4637904"/>
          </a:xfrm>
        </p:grpSpPr>
        <p:sp>
          <p:nvSpPr>
            <p:cNvPr id="32" name="îŝľiďé">
              <a:extLst>
                <a:ext uri="{FF2B5EF4-FFF2-40B4-BE49-F238E27FC236}">
                  <a16:creationId xmlns:a16="http://schemas.microsoft.com/office/drawing/2014/main" id="{0006AE60-CBD1-49A3-950F-1BB3BFBCB155}"/>
                </a:ext>
              </a:extLst>
            </p:cNvPr>
            <p:cNvSpPr/>
            <p:nvPr/>
          </p:nvSpPr>
          <p:spPr bwMode="auto">
            <a:xfrm rot="16200000">
              <a:off x="-522585" y="3521861"/>
              <a:ext cx="2727347" cy="672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lgn="ctr">
                <a:defRPr/>
              </a:pPr>
              <a:r>
                <a:rPr lang="en-US" altLang="zh-CN" sz="1400" b="1" dirty="0">
                  <a:solidFill>
                    <a:srgbClr val="FFFFFF"/>
                  </a:solidFill>
                  <a:ea typeface="Verdana" panose="020B0604030504040204" pitchFamily="34" charset="0"/>
                  <a:cs typeface="Verdana" panose="020B0604030504040204" pitchFamily="34" charset="0"/>
                </a:rPr>
                <a:t>Why Convergence Scheme?</a:t>
              </a:r>
            </a:p>
          </p:txBody>
        </p:sp>
        <p:sp>
          <p:nvSpPr>
            <p:cNvPr id="8" name="Oval 7">
              <a:extLst>
                <a:ext uri="{FF2B5EF4-FFF2-40B4-BE49-F238E27FC236}">
                  <a16:creationId xmlns:a16="http://schemas.microsoft.com/office/drawing/2014/main" id="{CAE3B9AA-06E8-4C55-AE0B-7AE67BDAC4F9}"/>
                </a:ext>
              </a:extLst>
            </p:cNvPr>
            <p:cNvSpPr/>
            <p:nvPr/>
          </p:nvSpPr>
          <p:spPr>
            <a:xfrm>
              <a:off x="2198630" y="1820397"/>
              <a:ext cx="544623" cy="557992"/>
            </a:xfrm>
            <a:prstGeom prst="ellipse">
              <a:avLst/>
            </a:prstGeom>
            <a:solidFill>
              <a:srgbClr val="007680">
                <a:alpha val="80000"/>
              </a:srgbClr>
            </a:solidFill>
            <a:ln w="41275">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US" sz="1400" dirty="0">
                  <a:solidFill>
                    <a:srgbClr val="FFFFFF"/>
                  </a:solidFill>
                </a:rPr>
                <a:t>1</a:t>
              </a:r>
            </a:p>
          </p:txBody>
        </p:sp>
        <p:sp>
          <p:nvSpPr>
            <p:cNvPr id="9" name="Oval 8">
              <a:extLst>
                <a:ext uri="{FF2B5EF4-FFF2-40B4-BE49-F238E27FC236}">
                  <a16:creationId xmlns:a16="http://schemas.microsoft.com/office/drawing/2014/main" id="{9F6BD60A-C17B-4031-A517-8A55E1E13D5A}"/>
                </a:ext>
              </a:extLst>
            </p:cNvPr>
            <p:cNvSpPr/>
            <p:nvPr/>
          </p:nvSpPr>
          <p:spPr>
            <a:xfrm>
              <a:off x="11097253" y="2878647"/>
              <a:ext cx="544623" cy="557992"/>
            </a:xfrm>
            <a:prstGeom prst="ellipse">
              <a:avLst/>
            </a:prstGeom>
            <a:solidFill>
              <a:srgbClr val="43B02A">
                <a:alpha val="80000"/>
              </a:srgbClr>
            </a:solidFill>
            <a:ln w="41275">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US" sz="1400" dirty="0">
                  <a:solidFill>
                    <a:srgbClr val="FFFFFF"/>
                  </a:solidFill>
                </a:rPr>
                <a:t>2</a:t>
              </a:r>
            </a:p>
          </p:txBody>
        </p:sp>
        <p:sp>
          <p:nvSpPr>
            <p:cNvPr id="10" name="Rectangle 9">
              <a:extLst>
                <a:ext uri="{FF2B5EF4-FFF2-40B4-BE49-F238E27FC236}">
                  <a16:creationId xmlns:a16="http://schemas.microsoft.com/office/drawing/2014/main" id="{7B35EA4C-2FCA-45F1-8618-A03491AFCE55}"/>
                </a:ext>
              </a:extLst>
            </p:cNvPr>
            <p:cNvSpPr/>
            <p:nvPr/>
          </p:nvSpPr>
          <p:spPr>
            <a:xfrm>
              <a:off x="2908391" y="1785749"/>
              <a:ext cx="7303372" cy="646331"/>
            </a:xfrm>
            <a:prstGeom prst="rect">
              <a:avLst/>
            </a:prstGeom>
          </p:spPr>
          <p:txBody>
            <a:bodyPr wrap="square" lIns="0" tIns="0" rIns="0" bIns="0" anchor="ctr">
              <a:spAutoFit/>
            </a:bodyPr>
            <a:lstStyle/>
            <a:p>
              <a:pPr algn="just"/>
              <a:r>
                <a:rPr lang="en-US" sz="1400" b="1" dirty="0"/>
                <a:t>Agriculture sector contributes to around ~15% of the State’s GDP</a:t>
              </a:r>
              <a:r>
                <a:rPr lang="en-US" sz="1400" dirty="0"/>
                <a:t>; however, is heavily reliant on cross subsidy for electricity, which resultantly puts pressure on WBSEDCL and its C&amp;I consumers</a:t>
              </a:r>
            </a:p>
          </p:txBody>
        </p:sp>
        <p:sp>
          <p:nvSpPr>
            <p:cNvPr id="11" name="Rectangle 10">
              <a:extLst>
                <a:ext uri="{FF2B5EF4-FFF2-40B4-BE49-F238E27FC236}">
                  <a16:creationId xmlns:a16="http://schemas.microsoft.com/office/drawing/2014/main" id="{ECE7F6D4-99CC-47F1-90DE-5DAD5E16F40C}"/>
                </a:ext>
              </a:extLst>
            </p:cNvPr>
            <p:cNvSpPr/>
            <p:nvPr/>
          </p:nvSpPr>
          <p:spPr>
            <a:xfrm>
              <a:off x="2263192" y="2865596"/>
              <a:ext cx="8697904" cy="646331"/>
            </a:xfrm>
            <a:prstGeom prst="rect">
              <a:avLst/>
            </a:prstGeom>
          </p:spPr>
          <p:txBody>
            <a:bodyPr wrap="square" lIns="0" tIns="0" rIns="0" bIns="0" anchor="ctr">
              <a:spAutoFit/>
            </a:bodyPr>
            <a:lstStyle/>
            <a:p>
              <a:pPr algn="just"/>
              <a:r>
                <a:rPr lang="en-US" sz="1400" b="1" dirty="0"/>
                <a:t>Implementation of KUSUM (Part C) for WBSEDCL has been relatively slow</a:t>
              </a:r>
              <a:r>
                <a:rPr lang="en-US" sz="1400" dirty="0"/>
                <a:t>; whereas with respect to Irrigation Department, out of 572 Diesel Operated Pumps, </a:t>
              </a:r>
              <a:r>
                <a:rPr lang="en-US" sz="1400" b="1" dirty="0"/>
                <a:t>electrification has been achieved for only 10% of the total number of sets, as on December 2021 </a:t>
              </a:r>
            </a:p>
          </p:txBody>
        </p:sp>
        <p:sp>
          <p:nvSpPr>
            <p:cNvPr id="12" name="Oval 11">
              <a:extLst>
                <a:ext uri="{FF2B5EF4-FFF2-40B4-BE49-F238E27FC236}">
                  <a16:creationId xmlns:a16="http://schemas.microsoft.com/office/drawing/2014/main" id="{98AF79CE-E362-4039-94C6-155068394423}"/>
                </a:ext>
              </a:extLst>
            </p:cNvPr>
            <p:cNvSpPr/>
            <p:nvPr/>
          </p:nvSpPr>
          <p:spPr>
            <a:xfrm>
              <a:off x="1718568" y="3836025"/>
              <a:ext cx="544623" cy="557992"/>
            </a:xfrm>
            <a:prstGeom prst="ellipse">
              <a:avLst/>
            </a:prstGeom>
            <a:solidFill>
              <a:srgbClr val="009A44">
                <a:alpha val="80000"/>
              </a:srgbClr>
            </a:solidFill>
            <a:ln w="41275">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US" sz="1400" dirty="0">
                  <a:solidFill>
                    <a:srgbClr val="FFFFFF"/>
                  </a:solidFill>
                </a:rPr>
                <a:t>3</a:t>
              </a:r>
            </a:p>
          </p:txBody>
        </p:sp>
        <p:sp>
          <p:nvSpPr>
            <p:cNvPr id="13" name="Rectangle 12">
              <a:extLst>
                <a:ext uri="{FF2B5EF4-FFF2-40B4-BE49-F238E27FC236}">
                  <a16:creationId xmlns:a16="http://schemas.microsoft.com/office/drawing/2014/main" id="{CF9FBF8D-F960-4778-9DA2-98EFFA0D7D75}"/>
                </a:ext>
              </a:extLst>
            </p:cNvPr>
            <p:cNvSpPr/>
            <p:nvPr/>
          </p:nvSpPr>
          <p:spPr>
            <a:xfrm>
              <a:off x="2402016" y="3926523"/>
              <a:ext cx="9239860" cy="447695"/>
            </a:xfrm>
            <a:prstGeom prst="rect">
              <a:avLst/>
            </a:prstGeom>
          </p:spPr>
          <p:txBody>
            <a:bodyPr wrap="square" lIns="0" tIns="0" rIns="0" bIns="0" anchor="ctr">
              <a:spAutoFit/>
            </a:bodyPr>
            <a:lstStyle/>
            <a:p>
              <a:r>
                <a:rPr lang="en-US" sz="1400" b="1" dirty="0"/>
                <a:t>Multiple Departments in the state have allocated some budget</a:t>
              </a:r>
              <a:r>
                <a:rPr lang="en-US" sz="1400" dirty="0"/>
                <a:t> towards electrification/solarization of water pumps for agricultural sector</a:t>
              </a:r>
            </a:p>
          </p:txBody>
        </p:sp>
        <p:sp>
          <p:nvSpPr>
            <p:cNvPr id="14" name="Oval 13">
              <a:extLst>
                <a:ext uri="{FF2B5EF4-FFF2-40B4-BE49-F238E27FC236}">
                  <a16:creationId xmlns:a16="http://schemas.microsoft.com/office/drawing/2014/main" id="{F8718034-ED45-4E2E-AC2A-12E4551D715E}"/>
                </a:ext>
              </a:extLst>
            </p:cNvPr>
            <p:cNvSpPr/>
            <p:nvPr/>
          </p:nvSpPr>
          <p:spPr>
            <a:xfrm>
              <a:off x="10028633" y="4886616"/>
              <a:ext cx="544623" cy="557992"/>
            </a:xfrm>
            <a:prstGeom prst="ellipse">
              <a:avLst/>
            </a:prstGeom>
            <a:solidFill>
              <a:srgbClr val="000000">
                <a:alpha val="80000"/>
              </a:srgbClr>
            </a:solidFill>
            <a:ln w="41275">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US" sz="1400" dirty="0">
                  <a:solidFill>
                    <a:srgbClr val="FFFFFF"/>
                  </a:solidFill>
                </a:rPr>
                <a:t>4</a:t>
              </a:r>
            </a:p>
          </p:txBody>
        </p:sp>
        <p:sp>
          <p:nvSpPr>
            <p:cNvPr id="15" name="Line 16">
              <a:extLst>
                <a:ext uri="{FF2B5EF4-FFF2-40B4-BE49-F238E27FC236}">
                  <a16:creationId xmlns:a16="http://schemas.microsoft.com/office/drawing/2014/main" id="{858ABB84-CDFD-4577-BF24-3A2421C0A112}"/>
                </a:ext>
              </a:extLst>
            </p:cNvPr>
            <p:cNvSpPr>
              <a:spLocks noChangeShapeType="1"/>
            </p:cNvSpPr>
            <p:nvPr/>
          </p:nvSpPr>
          <p:spPr bwMode="auto">
            <a:xfrm flipV="1">
              <a:off x="3399612" y="2604920"/>
              <a:ext cx="7173644" cy="58074"/>
            </a:xfrm>
            <a:prstGeom prst="line">
              <a:avLst/>
            </a:prstGeom>
            <a:noFill/>
            <a:ln w="12700" cap="rnd">
              <a:gradFill>
                <a:gsLst>
                  <a:gs pos="0">
                    <a:srgbClr val="86BC25"/>
                  </a:gs>
                  <a:gs pos="100000">
                    <a:srgbClr val="43B02A"/>
                  </a:gs>
                </a:gsLst>
                <a:lin ang="0" scaled="0"/>
              </a:gradFill>
              <a:prstDash val="solid"/>
              <a:round/>
              <a:headEnd/>
              <a:tailEn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endParaRPr lang="en-US" sz="1400" dirty="0"/>
            </a:p>
          </p:txBody>
        </p:sp>
        <p:grpSp>
          <p:nvGrpSpPr>
            <p:cNvPr id="16" name="Group 15">
              <a:extLst>
                <a:ext uri="{FF2B5EF4-FFF2-40B4-BE49-F238E27FC236}">
                  <a16:creationId xmlns:a16="http://schemas.microsoft.com/office/drawing/2014/main" id="{F4C452DC-75A5-444C-87CD-D8FBDD88631A}"/>
                </a:ext>
              </a:extLst>
            </p:cNvPr>
            <p:cNvGrpSpPr/>
            <p:nvPr/>
          </p:nvGrpSpPr>
          <p:grpSpPr>
            <a:xfrm>
              <a:off x="10421490" y="2393061"/>
              <a:ext cx="1657837" cy="1421192"/>
              <a:chOff x="6687200" y="2321439"/>
              <a:chExt cx="1698531" cy="1421192"/>
            </a:xfrm>
          </p:grpSpPr>
          <p:sp>
            <p:nvSpPr>
              <p:cNvPr id="17" name="Freeform 17">
                <a:extLst>
                  <a:ext uri="{FF2B5EF4-FFF2-40B4-BE49-F238E27FC236}">
                    <a16:creationId xmlns:a16="http://schemas.microsoft.com/office/drawing/2014/main" id="{0C9A23B3-BAA0-4A0D-96C4-6EBE3D4DB0F9}"/>
                  </a:ext>
                </a:extLst>
              </p:cNvPr>
              <p:cNvSpPr>
                <a:spLocks/>
              </p:cNvSpPr>
              <p:nvPr/>
            </p:nvSpPr>
            <p:spPr bwMode="auto">
              <a:xfrm>
                <a:off x="7658548" y="2321439"/>
                <a:ext cx="727183" cy="1421192"/>
              </a:xfrm>
              <a:custGeom>
                <a:avLst/>
                <a:gdLst>
                  <a:gd name="T0" fmla="*/ 0 w 548"/>
                  <a:gd name="T1" fmla="*/ 916 h 1071"/>
                  <a:gd name="T2" fmla="*/ 0 w 548"/>
                  <a:gd name="T3" fmla="*/ 1071 h 1071"/>
                  <a:gd name="T4" fmla="*/ 548 w 548"/>
                  <a:gd name="T5" fmla="*/ 533 h 1071"/>
                  <a:gd name="T6" fmla="*/ 0 w 548"/>
                  <a:gd name="T7" fmla="*/ 0 h 1071"/>
                  <a:gd name="T8" fmla="*/ 0 w 548"/>
                  <a:gd name="T9" fmla="*/ 155 h 1071"/>
                </a:gdLst>
                <a:ahLst/>
                <a:cxnLst>
                  <a:cxn ang="0">
                    <a:pos x="T0" y="T1"/>
                  </a:cxn>
                  <a:cxn ang="0">
                    <a:pos x="T2" y="T3"/>
                  </a:cxn>
                  <a:cxn ang="0">
                    <a:pos x="T4" y="T5"/>
                  </a:cxn>
                  <a:cxn ang="0">
                    <a:pos x="T6" y="T7"/>
                  </a:cxn>
                  <a:cxn ang="0">
                    <a:pos x="T8" y="T9"/>
                  </a:cxn>
                </a:cxnLst>
                <a:rect l="0" t="0" r="r" b="b"/>
                <a:pathLst>
                  <a:path w="548" h="1071">
                    <a:moveTo>
                      <a:pt x="0" y="916"/>
                    </a:moveTo>
                    <a:lnTo>
                      <a:pt x="0" y="1071"/>
                    </a:lnTo>
                    <a:lnTo>
                      <a:pt x="548" y="533"/>
                    </a:lnTo>
                    <a:lnTo>
                      <a:pt x="0" y="0"/>
                    </a:lnTo>
                    <a:lnTo>
                      <a:pt x="0" y="155"/>
                    </a:lnTo>
                  </a:path>
                </a:pathLst>
              </a:custGeom>
              <a:noFill/>
              <a:ln w="12700" cap="rnd">
                <a:solidFill>
                  <a:srgbClr val="43B02A"/>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dirty="0"/>
              </a:p>
            </p:txBody>
          </p:sp>
          <p:sp>
            <p:nvSpPr>
              <p:cNvPr id="18" name="Line 18">
                <a:extLst>
                  <a:ext uri="{FF2B5EF4-FFF2-40B4-BE49-F238E27FC236}">
                    <a16:creationId xmlns:a16="http://schemas.microsoft.com/office/drawing/2014/main" id="{8808FA46-59D7-44EF-AEE6-93B3CCF56AF3}"/>
                  </a:ext>
                </a:extLst>
              </p:cNvPr>
              <p:cNvSpPr>
                <a:spLocks noChangeShapeType="1"/>
              </p:cNvSpPr>
              <p:nvPr/>
            </p:nvSpPr>
            <p:spPr bwMode="auto">
              <a:xfrm>
                <a:off x="6687201" y="3536950"/>
                <a:ext cx="971347" cy="0"/>
              </a:xfrm>
              <a:prstGeom prst="line">
                <a:avLst/>
              </a:prstGeom>
              <a:noFill/>
              <a:ln w="12700" cap="rnd">
                <a:solidFill>
                  <a:srgbClr val="43B02A"/>
                </a:solidFill>
                <a:prstDash val="solid"/>
                <a:round/>
                <a:headEnd/>
                <a:tailEn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endParaRPr lang="en-US" sz="1400" dirty="0"/>
              </a:p>
            </p:txBody>
          </p:sp>
          <p:sp>
            <p:nvSpPr>
              <p:cNvPr id="19" name="Line 19">
                <a:extLst>
                  <a:ext uri="{FF2B5EF4-FFF2-40B4-BE49-F238E27FC236}">
                    <a16:creationId xmlns:a16="http://schemas.microsoft.com/office/drawing/2014/main" id="{333206B9-DA53-4DD6-9CFC-111AD993BF79}"/>
                  </a:ext>
                </a:extLst>
              </p:cNvPr>
              <p:cNvSpPr>
                <a:spLocks noChangeShapeType="1"/>
              </p:cNvSpPr>
              <p:nvPr/>
            </p:nvSpPr>
            <p:spPr bwMode="auto">
              <a:xfrm flipH="1">
                <a:off x="6687200" y="2527121"/>
                <a:ext cx="971347" cy="0"/>
              </a:xfrm>
              <a:prstGeom prst="line">
                <a:avLst/>
              </a:prstGeom>
              <a:noFill/>
              <a:ln w="12700" cap="rnd">
                <a:solidFill>
                  <a:srgbClr val="43B02A"/>
                </a:solidFill>
                <a:prstDash val="solid"/>
                <a:round/>
                <a:headEnd/>
                <a:tailEn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endParaRPr lang="en-US" sz="1400" dirty="0"/>
              </a:p>
            </p:txBody>
          </p:sp>
        </p:grpSp>
        <p:grpSp>
          <p:nvGrpSpPr>
            <p:cNvPr id="20" name="Group 19">
              <a:extLst>
                <a:ext uri="{FF2B5EF4-FFF2-40B4-BE49-F238E27FC236}">
                  <a16:creationId xmlns:a16="http://schemas.microsoft.com/office/drawing/2014/main" id="{712A888C-E3E8-4BC8-8197-8D911BFFCB3F}"/>
                </a:ext>
              </a:extLst>
            </p:cNvPr>
            <p:cNvGrpSpPr/>
            <p:nvPr/>
          </p:nvGrpSpPr>
          <p:grpSpPr>
            <a:xfrm>
              <a:off x="1741777" y="1447322"/>
              <a:ext cx="1657836" cy="1413230"/>
              <a:chOff x="758270" y="1311610"/>
              <a:chExt cx="1698530" cy="1413230"/>
            </a:xfrm>
          </p:grpSpPr>
          <p:sp>
            <p:nvSpPr>
              <p:cNvPr id="21" name="Freeform 14">
                <a:extLst>
                  <a:ext uri="{FF2B5EF4-FFF2-40B4-BE49-F238E27FC236}">
                    <a16:creationId xmlns:a16="http://schemas.microsoft.com/office/drawing/2014/main" id="{6B1E4ED8-ABE1-4D76-B2E7-B942743C90C4}"/>
                  </a:ext>
                </a:extLst>
              </p:cNvPr>
              <p:cNvSpPr>
                <a:spLocks/>
              </p:cNvSpPr>
              <p:nvPr/>
            </p:nvSpPr>
            <p:spPr bwMode="auto">
              <a:xfrm>
                <a:off x="758270" y="1311610"/>
                <a:ext cx="727183" cy="1413230"/>
              </a:xfrm>
              <a:custGeom>
                <a:avLst/>
                <a:gdLst>
                  <a:gd name="T0" fmla="*/ 548 w 548"/>
                  <a:gd name="T1" fmla="*/ 149 h 1065"/>
                  <a:gd name="T2" fmla="*/ 548 w 548"/>
                  <a:gd name="T3" fmla="*/ 0 h 1065"/>
                  <a:gd name="T4" fmla="*/ 0 w 548"/>
                  <a:gd name="T5" fmla="*/ 532 h 1065"/>
                  <a:gd name="T6" fmla="*/ 548 w 548"/>
                  <a:gd name="T7" fmla="*/ 1065 h 1065"/>
                  <a:gd name="T8" fmla="*/ 548 w 548"/>
                  <a:gd name="T9" fmla="*/ 916 h 1065"/>
                </a:gdLst>
                <a:ahLst/>
                <a:cxnLst>
                  <a:cxn ang="0">
                    <a:pos x="T0" y="T1"/>
                  </a:cxn>
                  <a:cxn ang="0">
                    <a:pos x="T2" y="T3"/>
                  </a:cxn>
                  <a:cxn ang="0">
                    <a:pos x="T4" y="T5"/>
                  </a:cxn>
                  <a:cxn ang="0">
                    <a:pos x="T6" y="T7"/>
                  </a:cxn>
                  <a:cxn ang="0">
                    <a:pos x="T8" y="T9"/>
                  </a:cxn>
                </a:cxnLst>
                <a:rect l="0" t="0" r="r" b="b"/>
                <a:pathLst>
                  <a:path w="548" h="1065">
                    <a:moveTo>
                      <a:pt x="548" y="149"/>
                    </a:moveTo>
                    <a:lnTo>
                      <a:pt x="548" y="0"/>
                    </a:lnTo>
                    <a:lnTo>
                      <a:pt x="0" y="532"/>
                    </a:lnTo>
                    <a:lnTo>
                      <a:pt x="548" y="1065"/>
                    </a:lnTo>
                    <a:lnTo>
                      <a:pt x="548" y="916"/>
                    </a:lnTo>
                  </a:path>
                </a:pathLst>
              </a:custGeom>
              <a:noFill/>
              <a:ln w="12700" cap="rnd">
                <a:solidFill>
                  <a:srgbClr val="86BC25"/>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dirty="0"/>
              </a:p>
            </p:txBody>
          </p:sp>
          <p:sp>
            <p:nvSpPr>
              <p:cNvPr id="22" name="Line 15">
                <a:extLst>
                  <a:ext uri="{FF2B5EF4-FFF2-40B4-BE49-F238E27FC236}">
                    <a16:creationId xmlns:a16="http://schemas.microsoft.com/office/drawing/2014/main" id="{59BEF6D0-CCE6-4505-B645-9EC38933D34F}"/>
                  </a:ext>
                </a:extLst>
              </p:cNvPr>
              <p:cNvSpPr>
                <a:spLocks noChangeShapeType="1"/>
              </p:cNvSpPr>
              <p:nvPr/>
            </p:nvSpPr>
            <p:spPr bwMode="auto">
              <a:xfrm flipH="1">
                <a:off x="1485453" y="1509330"/>
                <a:ext cx="971347" cy="0"/>
              </a:xfrm>
              <a:prstGeom prst="line">
                <a:avLst/>
              </a:prstGeom>
              <a:noFill/>
              <a:ln w="12700" cap="rnd">
                <a:solidFill>
                  <a:srgbClr val="86BC25"/>
                </a:solidFill>
                <a:prstDash val="solid"/>
                <a:round/>
                <a:headEnd/>
                <a:tailEn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endParaRPr lang="en-US" sz="1400" dirty="0"/>
              </a:p>
            </p:txBody>
          </p:sp>
          <p:sp>
            <p:nvSpPr>
              <p:cNvPr id="23" name="Line 15">
                <a:extLst>
                  <a:ext uri="{FF2B5EF4-FFF2-40B4-BE49-F238E27FC236}">
                    <a16:creationId xmlns:a16="http://schemas.microsoft.com/office/drawing/2014/main" id="{C2CB3F1C-3AFC-4E75-A124-66C1F27A958E}"/>
                  </a:ext>
                </a:extLst>
              </p:cNvPr>
              <p:cNvSpPr>
                <a:spLocks noChangeShapeType="1"/>
              </p:cNvSpPr>
              <p:nvPr/>
            </p:nvSpPr>
            <p:spPr bwMode="auto">
              <a:xfrm flipH="1">
                <a:off x="1485453" y="2527121"/>
                <a:ext cx="971347" cy="0"/>
              </a:xfrm>
              <a:prstGeom prst="line">
                <a:avLst/>
              </a:prstGeom>
              <a:noFill/>
              <a:ln w="12700" cap="rnd">
                <a:solidFill>
                  <a:srgbClr val="86BC25"/>
                </a:solidFill>
                <a:prstDash val="solid"/>
                <a:round/>
                <a:headEnd/>
                <a:tailEn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endParaRPr lang="en-US" sz="1400" dirty="0"/>
              </a:p>
            </p:txBody>
          </p:sp>
        </p:grpSp>
        <p:sp>
          <p:nvSpPr>
            <p:cNvPr id="24" name="Line 16">
              <a:extLst>
                <a:ext uri="{FF2B5EF4-FFF2-40B4-BE49-F238E27FC236}">
                  <a16:creationId xmlns:a16="http://schemas.microsoft.com/office/drawing/2014/main" id="{CF9B8589-E0FF-45FD-B159-BC7FFF201CF7}"/>
                </a:ext>
              </a:extLst>
            </p:cNvPr>
            <p:cNvSpPr>
              <a:spLocks noChangeShapeType="1"/>
            </p:cNvSpPr>
            <p:nvPr/>
          </p:nvSpPr>
          <p:spPr bwMode="auto">
            <a:xfrm>
              <a:off x="2787190" y="3599604"/>
              <a:ext cx="7786066" cy="0"/>
            </a:xfrm>
            <a:prstGeom prst="line">
              <a:avLst/>
            </a:prstGeom>
            <a:noFill/>
            <a:ln w="12700" cap="rnd">
              <a:gradFill>
                <a:gsLst>
                  <a:gs pos="100000">
                    <a:srgbClr val="009A44"/>
                  </a:gs>
                  <a:gs pos="0">
                    <a:srgbClr val="43B02A"/>
                  </a:gs>
                </a:gsLst>
                <a:lin ang="0" scaled="0"/>
              </a:gradFill>
              <a:prstDash val="solid"/>
              <a:round/>
              <a:headEnd/>
              <a:tailEn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endParaRPr lang="en-US" sz="1400" dirty="0"/>
            </a:p>
          </p:txBody>
        </p:sp>
        <p:grpSp>
          <p:nvGrpSpPr>
            <p:cNvPr id="25" name="Group 24">
              <a:extLst>
                <a:ext uri="{FF2B5EF4-FFF2-40B4-BE49-F238E27FC236}">
                  <a16:creationId xmlns:a16="http://schemas.microsoft.com/office/drawing/2014/main" id="{C75835B3-E499-469D-9E61-647BCE64D7E6}"/>
                </a:ext>
              </a:extLst>
            </p:cNvPr>
            <p:cNvGrpSpPr/>
            <p:nvPr/>
          </p:nvGrpSpPr>
          <p:grpSpPr>
            <a:xfrm>
              <a:off x="1227191" y="3400211"/>
              <a:ext cx="1657836" cy="1421192"/>
              <a:chOff x="758270" y="1311610"/>
              <a:chExt cx="1698530" cy="1413230"/>
            </a:xfrm>
          </p:grpSpPr>
          <p:sp>
            <p:nvSpPr>
              <p:cNvPr id="26" name="Freeform 14">
                <a:extLst>
                  <a:ext uri="{FF2B5EF4-FFF2-40B4-BE49-F238E27FC236}">
                    <a16:creationId xmlns:a16="http://schemas.microsoft.com/office/drawing/2014/main" id="{705D1FA0-16B7-4415-BC50-BEA509FCA612}"/>
                  </a:ext>
                </a:extLst>
              </p:cNvPr>
              <p:cNvSpPr>
                <a:spLocks/>
              </p:cNvSpPr>
              <p:nvPr/>
            </p:nvSpPr>
            <p:spPr bwMode="auto">
              <a:xfrm>
                <a:off x="758270" y="1311610"/>
                <a:ext cx="727183" cy="1413230"/>
              </a:xfrm>
              <a:custGeom>
                <a:avLst/>
                <a:gdLst>
                  <a:gd name="T0" fmla="*/ 548 w 548"/>
                  <a:gd name="T1" fmla="*/ 149 h 1065"/>
                  <a:gd name="T2" fmla="*/ 548 w 548"/>
                  <a:gd name="T3" fmla="*/ 0 h 1065"/>
                  <a:gd name="T4" fmla="*/ 0 w 548"/>
                  <a:gd name="T5" fmla="*/ 532 h 1065"/>
                  <a:gd name="T6" fmla="*/ 548 w 548"/>
                  <a:gd name="T7" fmla="*/ 1065 h 1065"/>
                  <a:gd name="T8" fmla="*/ 548 w 548"/>
                  <a:gd name="T9" fmla="*/ 916 h 1065"/>
                </a:gdLst>
                <a:ahLst/>
                <a:cxnLst>
                  <a:cxn ang="0">
                    <a:pos x="T0" y="T1"/>
                  </a:cxn>
                  <a:cxn ang="0">
                    <a:pos x="T2" y="T3"/>
                  </a:cxn>
                  <a:cxn ang="0">
                    <a:pos x="T4" y="T5"/>
                  </a:cxn>
                  <a:cxn ang="0">
                    <a:pos x="T6" y="T7"/>
                  </a:cxn>
                  <a:cxn ang="0">
                    <a:pos x="T8" y="T9"/>
                  </a:cxn>
                </a:cxnLst>
                <a:rect l="0" t="0" r="r" b="b"/>
                <a:pathLst>
                  <a:path w="548" h="1065">
                    <a:moveTo>
                      <a:pt x="548" y="149"/>
                    </a:moveTo>
                    <a:lnTo>
                      <a:pt x="548" y="0"/>
                    </a:lnTo>
                    <a:lnTo>
                      <a:pt x="0" y="532"/>
                    </a:lnTo>
                    <a:lnTo>
                      <a:pt x="548" y="1065"/>
                    </a:lnTo>
                    <a:lnTo>
                      <a:pt x="548" y="916"/>
                    </a:lnTo>
                  </a:path>
                </a:pathLst>
              </a:custGeom>
              <a:noFill/>
              <a:ln w="12700" cap="rnd">
                <a:solidFill>
                  <a:srgbClr val="009A44"/>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dirty="0"/>
              </a:p>
            </p:txBody>
          </p:sp>
          <p:sp>
            <p:nvSpPr>
              <p:cNvPr id="27" name="Line 15">
                <a:extLst>
                  <a:ext uri="{FF2B5EF4-FFF2-40B4-BE49-F238E27FC236}">
                    <a16:creationId xmlns:a16="http://schemas.microsoft.com/office/drawing/2014/main" id="{18B90786-951A-4630-9D3D-366E5B813A87}"/>
                  </a:ext>
                </a:extLst>
              </p:cNvPr>
              <p:cNvSpPr>
                <a:spLocks noChangeShapeType="1"/>
              </p:cNvSpPr>
              <p:nvPr/>
            </p:nvSpPr>
            <p:spPr bwMode="auto">
              <a:xfrm flipH="1">
                <a:off x="1485453" y="1509330"/>
                <a:ext cx="971347" cy="0"/>
              </a:xfrm>
              <a:prstGeom prst="line">
                <a:avLst/>
              </a:prstGeom>
              <a:noFill/>
              <a:ln w="12700" cap="rnd">
                <a:solidFill>
                  <a:srgbClr val="009A44"/>
                </a:solidFill>
                <a:prstDash val="solid"/>
                <a:round/>
                <a:headEnd/>
                <a:tailEn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endParaRPr lang="en-US" sz="1400" dirty="0"/>
              </a:p>
            </p:txBody>
          </p:sp>
          <p:sp>
            <p:nvSpPr>
              <p:cNvPr id="28" name="Line 15">
                <a:extLst>
                  <a:ext uri="{FF2B5EF4-FFF2-40B4-BE49-F238E27FC236}">
                    <a16:creationId xmlns:a16="http://schemas.microsoft.com/office/drawing/2014/main" id="{250D6805-E3D8-455E-B046-F5D5506D009D}"/>
                  </a:ext>
                </a:extLst>
              </p:cNvPr>
              <p:cNvSpPr>
                <a:spLocks noChangeShapeType="1"/>
              </p:cNvSpPr>
              <p:nvPr/>
            </p:nvSpPr>
            <p:spPr bwMode="auto">
              <a:xfrm flipH="1">
                <a:off x="1485453" y="2527121"/>
                <a:ext cx="971347" cy="0"/>
              </a:xfrm>
              <a:prstGeom prst="line">
                <a:avLst/>
              </a:prstGeom>
              <a:noFill/>
              <a:ln w="12700" cap="rnd">
                <a:solidFill>
                  <a:srgbClr val="009A44"/>
                </a:solidFill>
                <a:prstDash val="solid"/>
                <a:round/>
                <a:headEnd/>
                <a:tailEn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endParaRPr lang="en-US" sz="1400" dirty="0"/>
              </a:p>
            </p:txBody>
          </p:sp>
        </p:grpSp>
        <p:sp>
          <p:nvSpPr>
            <p:cNvPr id="29" name="Line 16">
              <a:extLst>
                <a:ext uri="{FF2B5EF4-FFF2-40B4-BE49-F238E27FC236}">
                  <a16:creationId xmlns:a16="http://schemas.microsoft.com/office/drawing/2014/main" id="{E1C974AE-42DD-4BEA-961A-0A9A80E4BA67}"/>
                </a:ext>
              </a:extLst>
            </p:cNvPr>
            <p:cNvSpPr>
              <a:spLocks noChangeShapeType="1"/>
            </p:cNvSpPr>
            <p:nvPr/>
          </p:nvSpPr>
          <p:spPr bwMode="auto">
            <a:xfrm>
              <a:off x="4757256" y="4631410"/>
              <a:ext cx="4722771" cy="0"/>
            </a:xfrm>
            <a:prstGeom prst="line">
              <a:avLst/>
            </a:prstGeom>
            <a:noFill/>
            <a:ln w="12700" cap="rnd">
              <a:gradFill>
                <a:gsLst>
                  <a:gs pos="0">
                    <a:srgbClr val="009A44"/>
                  </a:gs>
                  <a:gs pos="100000">
                    <a:srgbClr val="000000"/>
                  </a:gs>
                </a:gsLst>
                <a:lin ang="0" scaled="0"/>
              </a:gradFill>
              <a:prstDash val="solid"/>
              <a:round/>
              <a:headEnd/>
              <a:tailEn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endParaRPr lang="en-US" sz="1400" dirty="0"/>
            </a:p>
          </p:txBody>
        </p:sp>
        <p:sp>
          <p:nvSpPr>
            <p:cNvPr id="30" name="Rectangle 29">
              <a:extLst>
                <a:ext uri="{FF2B5EF4-FFF2-40B4-BE49-F238E27FC236}">
                  <a16:creationId xmlns:a16="http://schemas.microsoft.com/office/drawing/2014/main" id="{089C126C-02C6-4B24-9951-A10B6C99B88E}"/>
                </a:ext>
              </a:extLst>
            </p:cNvPr>
            <p:cNvSpPr/>
            <p:nvPr/>
          </p:nvSpPr>
          <p:spPr>
            <a:xfrm>
              <a:off x="2451536" y="4697115"/>
              <a:ext cx="7443835" cy="1077218"/>
            </a:xfrm>
            <a:prstGeom prst="rect">
              <a:avLst/>
            </a:prstGeom>
          </p:spPr>
          <p:txBody>
            <a:bodyPr wrap="square" lIns="0" tIns="0" rIns="0" bIns="0" anchor="ctr">
              <a:spAutoFit/>
            </a:bodyPr>
            <a:lstStyle/>
            <a:p>
              <a:pPr algn="just"/>
              <a:r>
                <a:rPr lang="en-US" sz="1400" b="1" dirty="0"/>
                <a:t>From a state’s perspective, pooling of resources of different state departments</a:t>
              </a:r>
              <a:r>
                <a:rPr lang="en-US" sz="1400" dirty="0"/>
                <a:t> with common goal electrification/greening of agricultural diesel pumps; along with implementation of common PMU (Project Monitoring Unit) can present significant opportunity for better implementation and achievement of State target of </a:t>
              </a:r>
              <a:r>
                <a:rPr lang="en-US" sz="1400" dirty="0" err="1"/>
                <a:t>agri</a:t>
              </a:r>
              <a:r>
                <a:rPr lang="en-US" sz="1400" dirty="0"/>
                <a:t> pump electrification and solarization as a whole</a:t>
              </a:r>
            </a:p>
          </p:txBody>
        </p:sp>
        <p:grpSp>
          <p:nvGrpSpPr>
            <p:cNvPr id="34" name="Group 33">
              <a:extLst>
                <a:ext uri="{FF2B5EF4-FFF2-40B4-BE49-F238E27FC236}">
                  <a16:creationId xmlns:a16="http://schemas.microsoft.com/office/drawing/2014/main" id="{25A1FA26-D5E7-4BEA-9E7F-482E2E4DD9DE}"/>
                </a:ext>
              </a:extLst>
            </p:cNvPr>
            <p:cNvGrpSpPr/>
            <p:nvPr/>
          </p:nvGrpSpPr>
          <p:grpSpPr>
            <a:xfrm>
              <a:off x="9382845" y="4387259"/>
              <a:ext cx="1657837" cy="1697967"/>
              <a:chOff x="6687200" y="2321439"/>
              <a:chExt cx="1698531" cy="1421192"/>
            </a:xfrm>
          </p:grpSpPr>
          <p:sp>
            <p:nvSpPr>
              <p:cNvPr id="35" name="Freeform 17">
                <a:extLst>
                  <a:ext uri="{FF2B5EF4-FFF2-40B4-BE49-F238E27FC236}">
                    <a16:creationId xmlns:a16="http://schemas.microsoft.com/office/drawing/2014/main" id="{03326BFE-EF9E-450B-A498-0BCFEE8FB0FD}"/>
                  </a:ext>
                </a:extLst>
              </p:cNvPr>
              <p:cNvSpPr>
                <a:spLocks/>
              </p:cNvSpPr>
              <p:nvPr/>
            </p:nvSpPr>
            <p:spPr bwMode="auto">
              <a:xfrm>
                <a:off x="7658548" y="2321439"/>
                <a:ext cx="727183" cy="1421192"/>
              </a:xfrm>
              <a:custGeom>
                <a:avLst/>
                <a:gdLst>
                  <a:gd name="T0" fmla="*/ 0 w 548"/>
                  <a:gd name="T1" fmla="*/ 916 h 1071"/>
                  <a:gd name="T2" fmla="*/ 0 w 548"/>
                  <a:gd name="T3" fmla="*/ 1071 h 1071"/>
                  <a:gd name="T4" fmla="*/ 548 w 548"/>
                  <a:gd name="T5" fmla="*/ 533 h 1071"/>
                  <a:gd name="T6" fmla="*/ 0 w 548"/>
                  <a:gd name="T7" fmla="*/ 0 h 1071"/>
                  <a:gd name="T8" fmla="*/ 0 w 548"/>
                  <a:gd name="T9" fmla="*/ 155 h 1071"/>
                </a:gdLst>
                <a:ahLst/>
                <a:cxnLst>
                  <a:cxn ang="0">
                    <a:pos x="T0" y="T1"/>
                  </a:cxn>
                  <a:cxn ang="0">
                    <a:pos x="T2" y="T3"/>
                  </a:cxn>
                  <a:cxn ang="0">
                    <a:pos x="T4" y="T5"/>
                  </a:cxn>
                  <a:cxn ang="0">
                    <a:pos x="T6" y="T7"/>
                  </a:cxn>
                  <a:cxn ang="0">
                    <a:pos x="T8" y="T9"/>
                  </a:cxn>
                </a:cxnLst>
                <a:rect l="0" t="0" r="r" b="b"/>
                <a:pathLst>
                  <a:path w="548" h="1071">
                    <a:moveTo>
                      <a:pt x="0" y="916"/>
                    </a:moveTo>
                    <a:lnTo>
                      <a:pt x="0" y="1071"/>
                    </a:lnTo>
                    <a:lnTo>
                      <a:pt x="548" y="533"/>
                    </a:lnTo>
                    <a:lnTo>
                      <a:pt x="0" y="0"/>
                    </a:lnTo>
                    <a:lnTo>
                      <a:pt x="0" y="155"/>
                    </a:lnTo>
                  </a:path>
                </a:pathLst>
              </a:custGeom>
              <a:noFill/>
              <a:ln w="12700" cap="rnd">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400" dirty="0"/>
              </a:p>
            </p:txBody>
          </p:sp>
          <p:sp>
            <p:nvSpPr>
              <p:cNvPr id="36" name="Line 18">
                <a:extLst>
                  <a:ext uri="{FF2B5EF4-FFF2-40B4-BE49-F238E27FC236}">
                    <a16:creationId xmlns:a16="http://schemas.microsoft.com/office/drawing/2014/main" id="{B62DCE25-4490-41A9-9E4D-0002D765F56D}"/>
                  </a:ext>
                </a:extLst>
              </p:cNvPr>
              <p:cNvSpPr>
                <a:spLocks noChangeShapeType="1"/>
              </p:cNvSpPr>
              <p:nvPr/>
            </p:nvSpPr>
            <p:spPr bwMode="auto">
              <a:xfrm>
                <a:off x="6687201" y="3536950"/>
                <a:ext cx="971347" cy="0"/>
              </a:xfrm>
              <a:prstGeom prst="line">
                <a:avLst/>
              </a:prstGeom>
              <a:noFill/>
              <a:ln w="12700" cap="rnd">
                <a:solidFill>
                  <a:srgbClr val="000000"/>
                </a:solidFill>
                <a:prstDash val="solid"/>
                <a:round/>
                <a:headEnd/>
                <a:tailEn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endParaRPr lang="en-US" sz="1400" dirty="0"/>
              </a:p>
            </p:txBody>
          </p:sp>
          <p:sp>
            <p:nvSpPr>
              <p:cNvPr id="37" name="Line 19">
                <a:extLst>
                  <a:ext uri="{FF2B5EF4-FFF2-40B4-BE49-F238E27FC236}">
                    <a16:creationId xmlns:a16="http://schemas.microsoft.com/office/drawing/2014/main" id="{A3561A27-2D54-4447-B12A-A560CFF7F099}"/>
                  </a:ext>
                </a:extLst>
              </p:cNvPr>
              <p:cNvSpPr>
                <a:spLocks noChangeShapeType="1"/>
              </p:cNvSpPr>
              <p:nvPr/>
            </p:nvSpPr>
            <p:spPr bwMode="auto">
              <a:xfrm flipH="1">
                <a:off x="6687200" y="2527121"/>
                <a:ext cx="971347" cy="0"/>
              </a:xfrm>
              <a:prstGeom prst="line">
                <a:avLst/>
              </a:prstGeom>
              <a:noFill/>
              <a:ln w="12700" cap="rnd">
                <a:solidFill>
                  <a:srgbClr val="000000"/>
                </a:solidFill>
                <a:prstDash val="solid"/>
                <a:round/>
                <a:headEnd/>
                <a:tailEn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endParaRPr lang="en-US" sz="1400" dirty="0"/>
              </a:p>
            </p:txBody>
          </p:sp>
        </p:grpSp>
        <p:sp>
          <p:nvSpPr>
            <p:cNvPr id="38" name="Line 16">
              <a:extLst>
                <a:ext uri="{FF2B5EF4-FFF2-40B4-BE49-F238E27FC236}">
                  <a16:creationId xmlns:a16="http://schemas.microsoft.com/office/drawing/2014/main" id="{10D44ABB-80E5-4BF5-BF98-656AC84C5CBF}"/>
                </a:ext>
              </a:extLst>
            </p:cNvPr>
            <p:cNvSpPr>
              <a:spLocks noChangeShapeType="1"/>
            </p:cNvSpPr>
            <p:nvPr/>
          </p:nvSpPr>
          <p:spPr bwMode="auto">
            <a:xfrm flipV="1">
              <a:off x="2885027" y="4631589"/>
              <a:ext cx="5804239" cy="0"/>
            </a:xfrm>
            <a:prstGeom prst="line">
              <a:avLst/>
            </a:prstGeom>
            <a:noFill/>
            <a:ln w="12700" cap="rnd">
              <a:gradFill>
                <a:gsLst>
                  <a:gs pos="0">
                    <a:srgbClr val="009A44"/>
                  </a:gs>
                  <a:gs pos="100000">
                    <a:srgbClr val="000000"/>
                  </a:gs>
                </a:gsLst>
                <a:lin ang="0" scaled="0"/>
              </a:gradFill>
              <a:prstDash val="solid"/>
              <a:round/>
              <a:headEnd/>
              <a:tailEn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endParaRPr lang="en-US" sz="1400" dirty="0"/>
            </a:p>
          </p:txBody>
        </p:sp>
      </p:grpSp>
    </p:spTree>
    <p:extLst>
      <p:ext uri="{BB962C8B-B14F-4D97-AF65-F5344CB8AC3E}">
        <p14:creationId xmlns:p14="http://schemas.microsoft.com/office/powerpoint/2010/main" val="3549643265"/>
      </p:ext>
    </p:extLst>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2AFF1-A63D-4F16-977D-5D0AEF6BC863}"/>
              </a:ext>
            </a:extLst>
          </p:cNvPr>
          <p:cNvSpPr>
            <a:spLocks noGrp="1"/>
          </p:cNvSpPr>
          <p:nvPr>
            <p:ph type="title"/>
          </p:nvPr>
        </p:nvSpPr>
        <p:spPr>
          <a:xfrm>
            <a:off x="469902" y="255124"/>
            <a:ext cx="11252200" cy="623564"/>
          </a:xfrm>
        </p:spPr>
        <p:txBody>
          <a:bodyPr/>
          <a:lstStyle/>
          <a:p>
            <a:r>
              <a:rPr lang="en-US" sz="1800" b="1" dirty="0"/>
              <a:t>Integrating Multiple State Dept.-Different initiatives- Common Objective: Agri pump Electrification and Solarization </a:t>
            </a:r>
          </a:p>
        </p:txBody>
      </p:sp>
      <p:sp>
        <p:nvSpPr>
          <p:cNvPr id="32" name="îŝľiďé">
            <a:extLst>
              <a:ext uri="{FF2B5EF4-FFF2-40B4-BE49-F238E27FC236}">
                <a16:creationId xmlns:a16="http://schemas.microsoft.com/office/drawing/2014/main" id="{0006AE60-CBD1-49A3-950F-1BB3BFBCB155}"/>
              </a:ext>
            </a:extLst>
          </p:cNvPr>
          <p:cNvSpPr/>
          <p:nvPr/>
        </p:nvSpPr>
        <p:spPr bwMode="auto">
          <a:xfrm>
            <a:off x="3652802" y="837480"/>
            <a:ext cx="4561344" cy="672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lgn="ctr">
              <a:defRPr/>
            </a:pPr>
            <a:r>
              <a:rPr lang="en-US" altLang="zh-CN" sz="1600" b="1" dirty="0">
                <a:solidFill>
                  <a:srgbClr val="FFFFFF"/>
                </a:solidFill>
                <a:latin typeface="Verdana" panose="020B0604030504040204" pitchFamily="34" charset="0"/>
                <a:ea typeface="Verdana" panose="020B0604030504040204" pitchFamily="34" charset="0"/>
                <a:cs typeface="Verdana" panose="020B0604030504040204" pitchFamily="34" charset="0"/>
              </a:rPr>
              <a:t>Why Convergence Scheme?</a:t>
            </a:r>
          </a:p>
        </p:txBody>
      </p:sp>
      <p:sp>
        <p:nvSpPr>
          <p:cNvPr id="39" name="TextBox 38">
            <a:extLst>
              <a:ext uri="{FF2B5EF4-FFF2-40B4-BE49-F238E27FC236}">
                <a16:creationId xmlns:a16="http://schemas.microsoft.com/office/drawing/2014/main" id="{5863BD67-B561-48A9-8A17-EFF7462E8386}"/>
              </a:ext>
            </a:extLst>
          </p:cNvPr>
          <p:cNvSpPr txBox="1"/>
          <p:nvPr/>
        </p:nvSpPr>
        <p:spPr>
          <a:xfrm>
            <a:off x="398088" y="1053161"/>
            <a:ext cx="11324014" cy="1169551"/>
          </a:xfrm>
          <a:prstGeom prst="rect">
            <a:avLst/>
          </a:prstGeom>
          <a:noFill/>
        </p:spPr>
        <p:txBody>
          <a:bodyPr wrap="square">
            <a:spAutoFit/>
          </a:bodyPr>
          <a:lstStyle/>
          <a:p>
            <a:r>
              <a:rPr lang="en-US" sz="1400" i="1" dirty="0"/>
              <a:t>Several departments in the state have allocated some part of its budget directly or indirectly towards electrification and greening of agricultural pumps</a:t>
            </a:r>
          </a:p>
          <a:p>
            <a:endParaRPr lang="en-US" sz="1400" i="1" dirty="0"/>
          </a:p>
          <a:p>
            <a:r>
              <a:rPr lang="en-US" sz="1400" i="1" dirty="0"/>
              <a:t>As per </a:t>
            </a:r>
            <a:r>
              <a:rPr lang="en-US" sz="1400" i="1" dirty="0" err="1"/>
              <a:t>GoWB</a:t>
            </a:r>
            <a:r>
              <a:rPr lang="en-US" sz="1400" i="1" dirty="0"/>
              <a:t> Budget Publication 2022-23, following departments have budget allocations towards the above, as mentioned below:</a:t>
            </a:r>
          </a:p>
        </p:txBody>
      </p:sp>
      <p:sp>
        <p:nvSpPr>
          <p:cNvPr id="40" name="Freeform 39">
            <a:extLst>
              <a:ext uri="{FF2B5EF4-FFF2-40B4-BE49-F238E27FC236}">
                <a16:creationId xmlns:a16="http://schemas.microsoft.com/office/drawing/2014/main" id="{DE2B472A-9A4D-42CE-A019-0BEAD7E1F88C}"/>
              </a:ext>
            </a:extLst>
          </p:cNvPr>
          <p:cNvSpPr/>
          <p:nvPr/>
        </p:nvSpPr>
        <p:spPr bwMode="gray">
          <a:xfrm>
            <a:off x="705230" y="3740381"/>
            <a:ext cx="1836603" cy="990258"/>
          </a:xfrm>
          <a:custGeom>
            <a:avLst/>
            <a:gdLst>
              <a:gd name="connsiteX0" fmla="*/ 7014 w 1775792"/>
              <a:gd name="connsiteY0" fmla="*/ 0 h 957470"/>
              <a:gd name="connsiteX1" fmla="*/ 1768779 w 1775792"/>
              <a:gd name="connsiteY1" fmla="*/ 0 h 957470"/>
              <a:gd name="connsiteX2" fmla="*/ 1775792 w 1775792"/>
              <a:gd name="connsiteY2" fmla="*/ 69574 h 957470"/>
              <a:gd name="connsiteX3" fmla="*/ 887896 w 1775792"/>
              <a:gd name="connsiteY3" fmla="*/ 957470 h 957470"/>
              <a:gd name="connsiteX4" fmla="*/ 0 w 1775792"/>
              <a:gd name="connsiteY4" fmla="*/ 69574 h 957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5792" h="957470">
                <a:moveTo>
                  <a:pt x="7014" y="0"/>
                </a:moveTo>
                <a:lnTo>
                  <a:pt x="1768779" y="0"/>
                </a:lnTo>
                <a:lnTo>
                  <a:pt x="1775792" y="69574"/>
                </a:lnTo>
                <a:cubicBezTo>
                  <a:pt x="1775792" y="559945"/>
                  <a:pt x="1378267" y="957470"/>
                  <a:pt x="887896" y="957470"/>
                </a:cubicBezTo>
                <a:cubicBezTo>
                  <a:pt x="397525" y="957470"/>
                  <a:pt x="0" y="559945"/>
                  <a:pt x="0" y="69574"/>
                </a:cubicBezTo>
                <a:close/>
              </a:path>
            </a:pathLst>
          </a:custGeom>
          <a:solidFill>
            <a:schemeClr val="accent1"/>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100" b="1" dirty="0">
              <a:solidFill>
                <a:schemeClr val="bg1"/>
              </a:solidFill>
            </a:endParaRPr>
          </a:p>
        </p:txBody>
      </p:sp>
      <p:sp>
        <p:nvSpPr>
          <p:cNvPr id="41" name="Oval 40">
            <a:extLst>
              <a:ext uri="{FF2B5EF4-FFF2-40B4-BE49-F238E27FC236}">
                <a16:creationId xmlns:a16="http://schemas.microsoft.com/office/drawing/2014/main" id="{F0001152-DD4B-4988-B990-618ABE02E8FD}"/>
              </a:ext>
            </a:extLst>
          </p:cNvPr>
          <p:cNvSpPr/>
          <p:nvPr/>
        </p:nvSpPr>
        <p:spPr bwMode="gray">
          <a:xfrm>
            <a:off x="863104" y="3039539"/>
            <a:ext cx="1564410" cy="1520856"/>
          </a:xfrm>
          <a:prstGeom prst="ellipse">
            <a:avLst/>
          </a:prstGeom>
          <a:solidFill>
            <a:srgbClr val="E3E48D"/>
          </a:solidFill>
          <a:ln w="19050" algn="ctr">
            <a:noFill/>
            <a:miter lim="800000"/>
            <a:headEnd/>
            <a:tailEnd/>
          </a:ln>
        </p:spPr>
        <p:txBody>
          <a:bodyPr wrap="square" lIns="0" tIns="0" rIns="0" bIns="0" rtlCol="0" anchor="ctr"/>
          <a:lstStyle/>
          <a:p>
            <a:pPr algn="ctr">
              <a:buFont typeface="Wingdings 2" pitchFamily="18" charset="2"/>
              <a:buNone/>
            </a:pPr>
            <a:r>
              <a:rPr lang="en-US" sz="1300" b="1" dirty="0"/>
              <a:t>Agriculture Department</a:t>
            </a:r>
          </a:p>
        </p:txBody>
      </p:sp>
      <p:sp>
        <p:nvSpPr>
          <p:cNvPr id="42" name="Oval 41">
            <a:extLst>
              <a:ext uri="{FF2B5EF4-FFF2-40B4-BE49-F238E27FC236}">
                <a16:creationId xmlns:a16="http://schemas.microsoft.com/office/drawing/2014/main" id="{18DE0AF1-E52F-4C52-BD0E-A078182E45AE}"/>
              </a:ext>
            </a:extLst>
          </p:cNvPr>
          <p:cNvSpPr/>
          <p:nvPr/>
        </p:nvSpPr>
        <p:spPr bwMode="gray">
          <a:xfrm>
            <a:off x="1493010" y="5157740"/>
            <a:ext cx="261042" cy="261042"/>
          </a:xfrm>
          <a:prstGeom prst="ellipse">
            <a:avLst/>
          </a:prstGeom>
          <a:solidFill>
            <a:schemeClr val="accent1"/>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100" b="1" dirty="0">
              <a:solidFill>
                <a:schemeClr val="bg1"/>
              </a:solidFill>
            </a:endParaRPr>
          </a:p>
        </p:txBody>
      </p:sp>
      <p:cxnSp>
        <p:nvCxnSpPr>
          <p:cNvPr id="43" name="Straight Connector 42">
            <a:extLst>
              <a:ext uri="{FF2B5EF4-FFF2-40B4-BE49-F238E27FC236}">
                <a16:creationId xmlns:a16="http://schemas.microsoft.com/office/drawing/2014/main" id="{8F3F5DCE-469C-4AC0-8ED6-CB1DCFA5785E}"/>
              </a:ext>
            </a:extLst>
          </p:cNvPr>
          <p:cNvCxnSpPr>
            <a:stCxn id="40" idx="3"/>
            <a:endCxn id="42" idx="0"/>
          </p:cNvCxnSpPr>
          <p:nvPr/>
        </p:nvCxnSpPr>
        <p:spPr>
          <a:xfrm flipH="1">
            <a:off x="1623531" y="4730639"/>
            <a:ext cx="1" cy="427101"/>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Freeform 80">
            <a:extLst>
              <a:ext uri="{FF2B5EF4-FFF2-40B4-BE49-F238E27FC236}">
                <a16:creationId xmlns:a16="http://schemas.microsoft.com/office/drawing/2014/main" id="{F3349C45-1A3F-4CE6-AE1E-203691E6CC51}"/>
              </a:ext>
            </a:extLst>
          </p:cNvPr>
          <p:cNvSpPr/>
          <p:nvPr/>
        </p:nvSpPr>
        <p:spPr bwMode="gray">
          <a:xfrm rot="10800000">
            <a:off x="2654846" y="4662611"/>
            <a:ext cx="1836603" cy="990258"/>
          </a:xfrm>
          <a:custGeom>
            <a:avLst/>
            <a:gdLst>
              <a:gd name="connsiteX0" fmla="*/ 7014 w 1775792"/>
              <a:gd name="connsiteY0" fmla="*/ 0 h 957470"/>
              <a:gd name="connsiteX1" fmla="*/ 1768779 w 1775792"/>
              <a:gd name="connsiteY1" fmla="*/ 0 h 957470"/>
              <a:gd name="connsiteX2" fmla="*/ 1775792 w 1775792"/>
              <a:gd name="connsiteY2" fmla="*/ 69574 h 957470"/>
              <a:gd name="connsiteX3" fmla="*/ 887896 w 1775792"/>
              <a:gd name="connsiteY3" fmla="*/ 957470 h 957470"/>
              <a:gd name="connsiteX4" fmla="*/ 0 w 1775792"/>
              <a:gd name="connsiteY4" fmla="*/ 69574 h 957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5792" h="957470">
                <a:moveTo>
                  <a:pt x="7014" y="0"/>
                </a:moveTo>
                <a:lnTo>
                  <a:pt x="1768779" y="0"/>
                </a:lnTo>
                <a:lnTo>
                  <a:pt x="1775792" y="69574"/>
                </a:lnTo>
                <a:cubicBezTo>
                  <a:pt x="1775792" y="559945"/>
                  <a:pt x="1378267" y="957470"/>
                  <a:pt x="887896" y="957470"/>
                </a:cubicBezTo>
                <a:cubicBezTo>
                  <a:pt x="397525" y="957470"/>
                  <a:pt x="0" y="559945"/>
                  <a:pt x="0" y="69574"/>
                </a:cubicBezTo>
                <a:close/>
              </a:path>
            </a:pathLst>
          </a:custGeom>
          <a:solidFill>
            <a:schemeClr val="tx2"/>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100" b="1" dirty="0">
              <a:solidFill>
                <a:schemeClr val="bg1"/>
              </a:solidFill>
            </a:endParaRPr>
          </a:p>
        </p:txBody>
      </p:sp>
      <p:sp>
        <p:nvSpPr>
          <p:cNvPr id="45" name="Oval 44">
            <a:extLst>
              <a:ext uri="{FF2B5EF4-FFF2-40B4-BE49-F238E27FC236}">
                <a16:creationId xmlns:a16="http://schemas.microsoft.com/office/drawing/2014/main" id="{A7526711-C736-4842-A8BA-5A979C9D535D}"/>
              </a:ext>
            </a:extLst>
          </p:cNvPr>
          <p:cNvSpPr/>
          <p:nvPr/>
        </p:nvSpPr>
        <p:spPr bwMode="gray">
          <a:xfrm>
            <a:off x="2812719" y="4837084"/>
            <a:ext cx="1520856" cy="1520856"/>
          </a:xfrm>
          <a:prstGeom prst="ellipse">
            <a:avLst/>
          </a:prstGeom>
          <a:solidFill>
            <a:schemeClr val="tx2">
              <a:lumMod val="20000"/>
              <a:lumOff val="80000"/>
            </a:schemeClr>
          </a:solidFill>
          <a:ln w="19050" algn="ctr">
            <a:noFill/>
            <a:miter lim="800000"/>
            <a:headEnd/>
            <a:tailEnd/>
          </a:ln>
        </p:spPr>
        <p:txBody>
          <a:bodyPr wrap="square" lIns="0" tIns="0" rIns="0" bIns="0" rtlCol="0" anchor="ctr"/>
          <a:lstStyle/>
          <a:p>
            <a:pPr algn="ctr">
              <a:buFont typeface="Wingdings 2" pitchFamily="18" charset="2"/>
              <a:buNone/>
            </a:pPr>
            <a:r>
              <a:rPr lang="en-US" sz="1200" b="1" i="0" u="none" strike="noStrike" baseline="0" dirty="0">
                <a:latin typeface="+mj-lt"/>
              </a:rPr>
              <a:t>Irrigation &amp; Waterways Department</a:t>
            </a:r>
            <a:endParaRPr lang="en-US" sz="1200" b="1" dirty="0">
              <a:latin typeface="+mj-lt"/>
            </a:endParaRPr>
          </a:p>
        </p:txBody>
      </p:sp>
      <p:sp>
        <p:nvSpPr>
          <p:cNvPr id="46" name="Oval 45">
            <a:extLst>
              <a:ext uri="{FF2B5EF4-FFF2-40B4-BE49-F238E27FC236}">
                <a16:creationId xmlns:a16="http://schemas.microsoft.com/office/drawing/2014/main" id="{325AE0A4-9B2A-4483-969F-6889BB2571BB}"/>
              </a:ext>
            </a:extLst>
          </p:cNvPr>
          <p:cNvSpPr/>
          <p:nvPr/>
        </p:nvSpPr>
        <p:spPr bwMode="gray">
          <a:xfrm>
            <a:off x="3442626" y="3951809"/>
            <a:ext cx="261042" cy="261042"/>
          </a:xfrm>
          <a:prstGeom prst="ellipse">
            <a:avLst/>
          </a:prstGeom>
          <a:solidFill>
            <a:schemeClr val="tx2"/>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100" b="1" dirty="0">
              <a:solidFill>
                <a:schemeClr val="bg1"/>
              </a:solidFill>
            </a:endParaRPr>
          </a:p>
        </p:txBody>
      </p:sp>
      <p:cxnSp>
        <p:nvCxnSpPr>
          <p:cNvPr id="47" name="Straight Connector 46">
            <a:extLst>
              <a:ext uri="{FF2B5EF4-FFF2-40B4-BE49-F238E27FC236}">
                <a16:creationId xmlns:a16="http://schemas.microsoft.com/office/drawing/2014/main" id="{678FBEA0-8C82-4EBA-8CCA-DFDE7C730836}"/>
              </a:ext>
            </a:extLst>
          </p:cNvPr>
          <p:cNvCxnSpPr>
            <a:stCxn id="44" idx="3"/>
            <a:endCxn id="46" idx="0"/>
          </p:cNvCxnSpPr>
          <p:nvPr/>
        </p:nvCxnSpPr>
        <p:spPr>
          <a:xfrm flipV="1">
            <a:off x="3573147" y="3951809"/>
            <a:ext cx="0" cy="710802"/>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48" name="Freeform 85">
            <a:extLst>
              <a:ext uri="{FF2B5EF4-FFF2-40B4-BE49-F238E27FC236}">
                <a16:creationId xmlns:a16="http://schemas.microsoft.com/office/drawing/2014/main" id="{DB50359B-C3C3-4E38-937B-BCD65B0E5ABB}"/>
              </a:ext>
            </a:extLst>
          </p:cNvPr>
          <p:cNvSpPr/>
          <p:nvPr/>
        </p:nvSpPr>
        <p:spPr bwMode="gray">
          <a:xfrm>
            <a:off x="4776120" y="3740381"/>
            <a:ext cx="1836603" cy="990258"/>
          </a:xfrm>
          <a:custGeom>
            <a:avLst/>
            <a:gdLst>
              <a:gd name="connsiteX0" fmla="*/ 7014 w 1775792"/>
              <a:gd name="connsiteY0" fmla="*/ 0 h 957470"/>
              <a:gd name="connsiteX1" fmla="*/ 1768779 w 1775792"/>
              <a:gd name="connsiteY1" fmla="*/ 0 h 957470"/>
              <a:gd name="connsiteX2" fmla="*/ 1775792 w 1775792"/>
              <a:gd name="connsiteY2" fmla="*/ 69574 h 957470"/>
              <a:gd name="connsiteX3" fmla="*/ 887896 w 1775792"/>
              <a:gd name="connsiteY3" fmla="*/ 957470 h 957470"/>
              <a:gd name="connsiteX4" fmla="*/ 0 w 1775792"/>
              <a:gd name="connsiteY4" fmla="*/ 69574 h 957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5792" h="957470">
                <a:moveTo>
                  <a:pt x="7014" y="0"/>
                </a:moveTo>
                <a:lnTo>
                  <a:pt x="1768779" y="0"/>
                </a:lnTo>
                <a:lnTo>
                  <a:pt x="1775792" y="69574"/>
                </a:lnTo>
                <a:cubicBezTo>
                  <a:pt x="1775792" y="559945"/>
                  <a:pt x="1378267" y="957470"/>
                  <a:pt x="887896" y="957470"/>
                </a:cubicBezTo>
                <a:cubicBezTo>
                  <a:pt x="397525" y="957470"/>
                  <a:pt x="0" y="559945"/>
                  <a:pt x="0" y="69574"/>
                </a:cubicBezTo>
                <a:close/>
              </a:path>
            </a:pathLst>
          </a:custGeom>
          <a:solidFill>
            <a:schemeClr val="accent3"/>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100" b="1" dirty="0">
              <a:solidFill>
                <a:schemeClr val="bg1"/>
              </a:solidFill>
            </a:endParaRPr>
          </a:p>
        </p:txBody>
      </p:sp>
      <p:sp>
        <p:nvSpPr>
          <p:cNvPr id="49" name="Oval 48">
            <a:extLst>
              <a:ext uri="{FF2B5EF4-FFF2-40B4-BE49-F238E27FC236}">
                <a16:creationId xmlns:a16="http://schemas.microsoft.com/office/drawing/2014/main" id="{BD77959C-B42E-4C23-9C5A-0D44C9A221FD}"/>
              </a:ext>
            </a:extLst>
          </p:cNvPr>
          <p:cNvSpPr/>
          <p:nvPr/>
        </p:nvSpPr>
        <p:spPr bwMode="gray">
          <a:xfrm>
            <a:off x="4912212" y="3039539"/>
            <a:ext cx="1564410" cy="1520856"/>
          </a:xfrm>
          <a:prstGeom prst="ellipse">
            <a:avLst/>
          </a:prstGeom>
          <a:solidFill>
            <a:srgbClr val="C4D600"/>
          </a:solidFill>
          <a:ln w="19050" algn="ctr">
            <a:noFill/>
            <a:miter lim="800000"/>
            <a:headEnd/>
            <a:tailEnd/>
          </a:ln>
        </p:spPr>
        <p:txBody>
          <a:bodyPr wrap="square" lIns="0" tIns="0" rIns="0" bIns="0" rtlCol="0" anchor="ctr"/>
          <a:lstStyle/>
          <a:p>
            <a:pPr algn="ctr">
              <a:buFont typeface="Wingdings 2" pitchFamily="18" charset="2"/>
              <a:buNone/>
            </a:pPr>
            <a:r>
              <a:rPr lang="en-US" sz="1300" b="1" dirty="0"/>
              <a:t>NRES Department</a:t>
            </a:r>
          </a:p>
        </p:txBody>
      </p:sp>
      <p:sp>
        <p:nvSpPr>
          <p:cNvPr id="50" name="Oval 49">
            <a:extLst>
              <a:ext uri="{FF2B5EF4-FFF2-40B4-BE49-F238E27FC236}">
                <a16:creationId xmlns:a16="http://schemas.microsoft.com/office/drawing/2014/main" id="{92A54333-4288-4E43-BB58-F092B2868773}"/>
              </a:ext>
            </a:extLst>
          </p:cNvPr>
          <p:cNvSpPr/>
          <p:nvPr/>
        </p:nvSpPr>
        <p:spPr bwMode="gray">
          <a:xfrm>
            <a:off x="5563900" y="5157740"/>
            <a:ext cx="261042" cy="261042"/>
          </a:xfrm>
          <a:prstGeom prst="ellipse">
            <a:avLst/>
          </a:prstGeom>
          <a:solidFill>
            <a:schemeClr val="accent3"/>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100" b="1" dirty="0">
              <a:solidFill>
                <a:schemeClr val="bg1"/>
              </a:solidFill>
            </a:endParaRPr>
          </a:p>
        </p:txBody>
      </p:sp>
      <p:cxnSp>
        <p:nvCxnSpPr>
          <p:cNvPr id="51" name="Straight Connector 50">
            <a:extLst>
              <a:ext uri="{FF2B5EF4-FFF2-40B4-BE49-F238E27FC236}">
                <a16:creationId xmlns:a16="http://schemas.microsoft.com/office/drawing/2014/main" id="{4B7A5091-AE74-488C-84EB-4047CB248951}"/>
              </a:ext>
            </a:extLst>
          </p:cNvPr>
          <p:cNvCxnSpPr>
            <a:stCxn id="48" idx="3"/>
            <a:endCxn id="50" idx="0"/>
          </p:cNvCxnSpPr>
          <p:nvPr/>
        </p:nvCxnSpPr>
        <p:spPr>
          <a:xfrm flipH="1">
            <a:off x="5694421" y="4730639"/>
            <a:ext cx="1" cy="42710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6" name="Freeform 85">
            <a:extLst>
              <a:ext uri="{FF2B5EF4-FFF2-40B4-BE49-F238E27FC236}">
                <a16:creationId xmlns:a16="http://schemas.microsoft.com/office/drawing/2014/main" id="{E9023B5D-24E1-4F72-9C18-5DAF82AD7368}"/>
              </a:ext>
            </a:extLst>
          </p:cNvPr>
          <p:cNvSpPr/>
          <p:nvPr/>
        </p:nvSpPr>
        <p:spPr bwMode="gray">
          <a:xfrm>
            <a:off x="9050992" y="3740381"/>
            <a:ext cx="1836603" cy="990258"/>
          </a:xfrm>
          <a:custGeom>
            <a:avLst/>
            <a:gdLst>
              <a:gd name="connsiteX0" fmla="*/ 7014 w 1775792"/>
              <a:gd name="connsiteY0" fmla="*/ 0 h 957470"/>
              <a:gd name="connsiteX1" fmla="*/ 1768779 w 1775792"/>
              <a:gd name="connsiteY1" fmla="*/ 0 h 957470"/>
              <a:gd name="connsiteX2" fmla="*/ 1775792 w 1775792"/>
              <a:gd name="connsiteY2" fmla="*/ 69574 h 957470"/>
              <a:gd name="connsiteX3" fmla="*/ 887896 w 1775792"/>
              <a:gd name="connsiteY3" fmla="*/ 957470 h 957470"/>
              <a:gd name="connsiteX4" fmla="*/ 0 w 1775792"/>
              <a:gd name="connsiteY4" fmla="*/ 69574 h 957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5792" h="957470">
                <a:moveTo>
                  <a:pt x="7014" y="0"/>
                </a:moveTo>
                <a:lnTo>
                  <a:pt x="1768779" y="0"/>
                </a:lnTo>
                <a:lnTo>
                  <a:pt x="1775792" y="69574"/>
                </a:lnTo>
                <a:cubicBezTo>
                  <a:pt x="1775792" y="559945"/>
                  <a:pt x="1378267" y="957470"/>
                  <a:pt x="887896" y="957470"/>
                </a:cubicBezTo>
                <a:cubicBezTo>
                  <a:pt x="397525" y="957470"/>
                  <a:pt x="0" y="559945"/>
                  <a:pt x="0" y="69574"/>
                </a:cubicBezTo>
                <a:close/>
              </a:path>
            </a:pathLst>
          </a:custGeom>
          <a:solidFill>
            <a:srgbClr val="2C5234"/>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100" b="1" dirty="0">
              <a:solidFill>
                <a:schemeClr val="bg1"/>
              </a:solidFill>
            </a:endParaRPr>
          </a:p>
        </p:txBody>
      </p:sp>
      <p:sp>
        <p:nvSpPr>
          <p:cNvPr id="57" name="Oval 56">
            <a:extLst>
              <a:ext uri="{FF2B5EF4-FFF2-40B4-BE49-F238E27FC236}">
                <a16:creationId xmlns:a16="http://schemas.microsoft.com/office/drawing/2014/main" id="{C0AD91CB-AA45-4A07-B615-C926298A8122}"/>
              </a:ext>
            </a:extLst>
          </p:cNvPr>
          <p:cNvSpPr/>
          <p:nvPr/>
        </p:nvSpPr>
        <p:spPr bwMode="gray">
          <a:xfrm>
            <a:off x="9119037" y="3039539"/>
            <a:ext cx="1700511" cy="1520856"/>
          </a:xfrm>
          <a:prstGeom prst="ellipse">
            <a:avLst/>
          </a:prstGeom>
          <a:solidFill>
            <a:schemeClr val="accent4">
              <a:lumMod val="40000"/>
              <a:lumOff val="60000"/>
            </a:schemeClr>
          </a:solidFill>
          <a:ln w="19050" algn="ctr">
            <a:noFill/>
            <a:miter lim="800000"/>
            <a:headEnd/>
            <a:tailEnd/>
          </a:ln>
        </p:spPr>
        <p:txBody>
          <a:bodyPr wrap="square" lIns="0" tIns="0" rIns="0" bIns="0" rtlCol="0" anchor="ctr"/>
          <a:lstStyle/>
          <a:p>
            <a:pPr algn="ctr">
              <a:buFont typeface="Wingdings 2" pitchFamily="18" charset="2"/>
              <a:buNone/>
            </a:pPr>
            <a:r>
              <a:rPr lang="en-US" sz="1200" b="1" i="0" u="none" strike="noStrike" baseline="0" dirty="0">
                <a:latin typeface="+mj-lt"/>
              </a:rPr>
              <a:t>Water Resources Investigation &amp; Development Department</a:t>
            </a:r>
            <a:endParaRPr lang="en-US" sz="1200" b="1" dirty="0">
              <a:latin typeface="+mj-lt"/>
            </a:endParaRPr>
          </a:p>
        </p:txBody>
      </p:sp>
      <p:sp>
        <p:nvSpPr>
          <p:cNvPr id="58" name="Oval 57">
            <a:extLst>
              <a:ext uri="{FF2B5EF4-FFF2-40B4-BE49-F238E27FC236}">
                <a16:creationId xmlns:a16="http://schemas.microsoft.com/office/drawing/2014/main" id="{16BF7918-5112-4090-BCBD-8229DD238B6D}"/>
              </a:ext>
            </a:extLst>
          </p:cNvPr>
          <p:cNvSpPr/>
          <p:nvPr/>
        </p:nvSpPr>
        <p:spPr bwMode="gray">
          <a:xfrm>
            <a:off x="9838772" y="5157740"/>
            <a:ext cx="261042" cy="261042"/>
          </a:xfrm>
          <a:prstGeom prst="ellipse">
            <a:avLst/>
          </a:prstGeom>
          <a:solidFill>
            <a:srgbClr val="2C5234"/>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100" b="1" dirty="0">
              <a:solidFill>
                <a:schemeClr val="bg1"/>
              </a:solidFill>
            </a:endParaRPr>
          </a:p>
        </p:txBody>
      </p:sp>
      <p:cxnSp>
        <p:nvCxnSpPr>
          <p:cNvPr id="59" name="Straight Connector 58">
            <a:extLst>
              <a:ext uri="{FF2B5EF4-FFF2-40B4-BE49-F238E27FC236}">
                <a16:creationId xmlns:a16="http://schemas.microsoft.com/office/drawing/2014/main" id="{594EE3A6-CF38-4109-B362-64CC820A20D4}"/>
              </a:ext>
            </a:extLst>
          </p:cNvPr>
          <p:cNvCxnSpPr>
            <a:stCxn id="56" idx="3"/>
            <a:endCxn id="58" idx="0"/>
          </p:cNvCxnSpPr>
          <p:nvPr/>
        </p:nvCxnSpPr>
        <p:spPr>
          <a:xfrm flipH="1">
            <a:off x="9969293" y="4730639"/>
            <a:ext cx="1" cy="42710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7" name="Freeform 80">
            <a:extLst>
              <a:ext uri="{FF2B5EF4-FFF2-40B4-BE49-F238E27FC236}">
                <a16:creationId xmlns:a16="http://schemas.microsoft.com/office/drawing/2014/main" id="{1357D3AA-3B51-4BF8-8833-8B83C2EBA11F}"/>
              </a:ext>
            </a:extLst>
          </p:cNvPr>
          <p:cNvSpPr/>
          <p:nvPr/>
        </p:nvSpPr>
        <p:spPr bwMode="gray">
          <a:xfrm rot="10800000">
            <a:off x="6969420" y="4662611"/>
            <a:ext cx="1836603" cy="990258"/>
          </a:xfrm>
          <a:custGeom>
            <a:avLst/>
            <a:gdLst>
              <a:gd name="connsiteX0" fmla="*/ 7014 w 1775792"/>
              <a:gd name="connsiteY0" fmla="*/ 0 h 957470"/>
              <a:gd name="connsiteX1" fmla="*/ 1768779 w 1775792"/>
              <a:gd name="connsiteY1" fmla="*/ 0 h 957470"/>
              <a:gd name="connsiteX2" fmla="*/ 1775792 w 1775792"/>
              <a:gd name="connsiteY2" fmla="*/ 69574 h 957470"/>
              <a:gd name="connsiteX3" fmla="*/ 887896 w 1775792"/>
              <a:gd name="connsiteY3" fmla="*/ 957470 h 957470"/>
              <a:gd name="connsiteX4" fmla="*/ 0 w 1775792"/>
              <a:gd name="connsiteY4" fmla="*/ 69574 h 957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5792" h="957470">
                <a:moveTo>
                  <a:pt x="7014" y="0"/>
                </a:moveTo>
                <a:lnTo>
                  <a:pt x="1768779" y="0"/>
                </a:lnTo>
                <a:lnTo>
                  <a:pt x="1775792" y="69574"/>
                </a:lnTo>
                <a:cubicBezTo>
                  <a:pt x="1775792" y="559945"/>
                  <a:pt x="1378267" y="957470"/>
                  <a:pt x="887896" y="957470"/>
                </a:cubicBezTo>
                <a:cubicBezTo>
                  <a:pt x="397525" y="957470"/>
                  <a:pt x="0" y="559945"/>
                  <a:pt x="0" y="69574"/>
                </a:cubicBezTo>
                <a:close/>
              </a:path>
            </a:pathLst>
          </a:custGeom>
          <a:solidFill>
            <a:schemeClr val="tx1"/>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100" b="1" dirty="0">
              <a:solidFill>
                <a:schemeClr val="bg1"/>
              </a:solidFill>
            </a:endParaRPr>
          </a:p>
        </p:txBody>
      </p:sp>
      <p:sp>
        <p:nvSpPr>
          <p:cNvPr id="68" name="Oval 67">
            <a:extLst>
              <a:ext uri="{FF2B5EF4-FFF2-40B4-BE49-F238E27FC236}">
                <a16:creationId xmlns:a16="http://schemas.microsoft.com/office/drawing/2014/main" id="{CBF7A3F8-5FE9-437E-A9D7-8309BF22A46F}"/>
              </a:ext>
            </a:extLst>
          </p:cNvPr>
          <p:cNvSpPr/>
          <p:nvPr/>
        </p:nvSpPr>
        <p:spPr bwMode="gray">
          <a:xfrm>
            <a:off x="7127293" y="4837084"/>
            <a:ext cx="1520856" cy="1520856"/>
          </a:xfrm>
          <a:prstGeom prst="ellipse">
            <a:avLst/>
          </a:prstGeom>
          <a:solidFill>
            <a:schemeClr val="tx2">
              <a:lumMod val="20000"/>
              <a:lumOff val="80000"/>
            </a:schemeClr>
          </a:solidFill>
          <a:ln w="19050" algn="ctr">
            <a:noFill/>
            <a:miter lim="800000"/>
            <a:headEnd/>
            <a:tailEnd/>
          </a:ln>
        </p:spPr>
        <p:txBody>
          <a:bodyPr wrap="square" lIns="0" tIns="0" rIns="0" bIns="0" rtlCol="0" anchor="ctr"/>
          <a:lstStyle/>
          <a:p>
            <a:pPr algn="ctr">
              <a:buFont typeface="Wingdings 2" pitchFamily="18" charset="2"/>
              <a:buNone/>
            </a:pPr>
            <a:r>
              <a:rPr lang="en-US" sz="1200" b="1" i="0" u="none" strike="noStrike" baseline="0" dirty="0">
                <a:latin typeface="+mj-lt"/>
              </a:rPr>
              <a:t>Dept. of Power</a:t>
            </a:r>
            <a:endParaRPr lang="en-US" sz="1200" b="1" dirty="0">
              <a:latin typeface="+mj-lt"/>
            </a:endParaRPr>
          </a:p>
        </p:txBody>
      </p:sp>
      <p:sp>
        <p:nvSpPr>
          <p:cNvPr id="69" name="Oval 68">
            <a:extLst>
              <a:ext uri="{FF2B5EF4-FFF2-40B4-BE49-F238E27FC236}">
                <a16:creationId xmlns:a16="http://schemas.microsoft.com/office/drawing/2014/main" id="{F93E78A1-85D8-418C-8AA6-AEAC3631DA5C}"/>
              </a:ext>
            </a:extLst>
          </p:cNvPr>
          <p:cNvSpPr/>
          <p:nvPr/>
        </p:nvSpPr>
        <p:spPr bwMode="gray">
          <a:xfrm>
            <a:off x="7757200" y="3951809"/>
            <a:ext cx="261042" cy="261042"/>
          </a:xfrm>
          <a:prstGeom prst="ellipse">
            <a:avLst/>
          </a:prstGeom>
          <a:solidFill>
            <a:schemeClr val="tx1"/>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100" b="1" dirty="0">
              <a:solidFill>
                <a:schemeClr val="bg1"/>
              </a:solidFill>
            </a:endParaRPr>
          </a:p>
        </p:txBody>
      </p:sp>
      <p:cxnSp>
        <p:nvCxnSpPr>
          <p:cNvPr id="70" name="Straight Connector 69">
            <a:extLst>
              <a:ext uri="{FF2B5EF4-FFF2-40B4-BE49-F238E27FC236}">
                <a16:creationId xmlns:a16="http://schemas.microsoft.com/office/drawing/2014/main" id="{A4801DD2-C368-4044-890E-B522CC783CCD}"/>
              </a:ext>
            </a:extLst>
          </p:cNvPr>
          <p:cNvCxnSpPr>
            <a:stCxn id="67" idx="3"/>
            <a:endCxn id="69" idx="0"/>
          </p:cNvCxnSpPr>
          <p:nvPr/>
        </p:nvCxnSpPr>
        <p:spPr>
          <a:xfrm flipV="1">
            <a:off x="7887721" y="3951809"/>
            <a:ext cx="0" cy="71080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CF49C154-B1CE-473D-9FAE-3E8B86C7AB62}"/>
              </a:ext>
            </a:extLst>
          </p:cNvPr>
          <p:cNvSpPr txBox="1"/>
          <p:nvPr/>
        </p:nvSpPr>
        <p:spPr>
          <a:xfrm>
            <a:off x="789339" y="5431481"/>
            <a:ext cx="1665514" cy="1107996"/>
          </a:xfrm>
          <a:prstGeom prst="rect">
            <a:avLst/>
          </a:prstGeom>
          <a:noFill/>
        </p:spPr>
        <p:txBody>
          <a:bodyPr wrap="square">
            <a:spAutoFit/>
          </a:bodyPr>
          <a:lstStyle/>
          <a:p>
            <a:pPr algn="ctr"/>
            <a:r>
              <a:rPr lang="en-US" sz="1100" b="0" i="1" u="none" strike="noStrike" baseline="0" dirty="0">
                <a:latin typeface="+mj-lt"/>
              </a:rPr>
              <a:t>Farm Mechanization including one time assistance to farmers for electrification of Agri pump sets</a:t>
            </a:r>
            <a:endParaRPr lang="en-US" sz="1100" i="1" dirty="0">
              <a:latin typeface="+mj-lt"/>
            </a:endParaRPr>
          </a:p>
        </p:txBody>
      </p:sp>
      <p:sp>
        <p:nvSpPr>
          <p:cNvPr id="75" name="TextBox 74">
            <a:extLst>
              <a:ext uri="{FF2B5EF4-FFF2-40B4-BE49-F238E27FC236}">
                <a16:creationId xmlns:a16="http://schemas.microsoft.com/office/drawing/2014/main" id="{501A0095-987B-4B3F-A3C2-ED18A1E0641C}"/>
              </a:ext>
            </a:extLst>
          </p:cNvPr>
          <p:cNvSpPr txBox="1"/>
          <p:nvPr/>
        </p:nvSpPr>
        <p:spPr>
          <a:xfrm>
            <a:off x="2753909" y="3264409"/>
            <a:ext cx="1665514" cy="600164"/>
          </a:xfrm>
          <a:prstGeom prst="rect">
            <a:avLst/>
          </a:prstGeom>
          <a:noFill/>
        </p:spPr>
        <p:txBody>
          <a:bodyPr wrap="square">
            <a:spAutoFit/>
          </a:bodyPr>
          <a:lstStyle/>
          <a:p>
            <a:pPr algn="ctr"/>
            <a:r>
              <a:rPr lang="en-US" sz="1100" b="0" i="1" u="none" strike="noStrike" baseline="0" dirty="0">
                <a:latin typeface="+mj-lt"/>
              </a:rPr>
              <a:t>Schemes sanctioned under NABARD {RIDF}</a:t>
            </a:r>
            <a:endParaRPr lang="en-US" sz="1100" i="1" dirty="0">
              <a:latin typeface="+mj-lt"/>
            </a:endParaRPr>
          </a:p>
        </p:txBody>
      </p:sp>
      <p:sp>
        <p:nvSpPr>
          <p:cNvPr id="76" name="TextBox 75">
            <a:extLst>
              <a:ext uri="{FF2B5EF4-FFF2-40B4-BE49-F238E27FC236}">
                <a16:creationId xmlns:a16="http://schemas.microsoft.com/office/drawing/2014/main" id="{BA506B11-DE72-4DFE-A807-F1DA4884824C}"/>
              </a:ext>
            </a:extLst>
          </p:cNvPr>
          <p:cNvSpPr txBox="1"/>
          <p:nvPr/>
        </p:nvSpPr>
        <p:spPr>
          <a:xfrm>
            <a:off x="4897677" y="5418782"/>
            <a:ext cx="1665514" cy="430887"/>
          </a:xfrm>
          <a:prstGeom prst="rect">
            <a:avLst/>
          </a:prstGeom>
          <a:noFill/>
        </p:spPr>
        <p:txBody>
          <a:bodyPr wrap="square">
            <a:spAutoFit/>
          </a:bodyPr>
          <a:lstStyle/>
          <a:p>
            <a:pPr algn="ctr"/>
            <a:r>
              <a:rPr lang="en-US" sz="1100" b="0" i="1" u="none" strike="noStrike" baseline="0" dirty="0">
                <a:latin typeface="+mj-lt"/>
              </a:rPr>
              <a:t>Procurement/installation of P.V. Pumps</a:t>
            </a:r>
            <a:endParaRPr lang="en-US" sz="1100" i="1" dirty="0">
              <a:latin typeface="+mj-lt"/>
            </a:endParaRPr>
          </a:p>
        </p:txBody>
      </p:sp>
      <p:sp>
        <p:nvSpPr>
          <p:cNvPr id="77" name="TextBox 76">
            <a:extLst>
              <a:ext uri="{FF2B5EF4-FFF2-40B4-BE49-F238E27FC236}">
                <a16:creationId xmlns:a16="http://schemas.microsoft.com/office/drawing/2014/main" id="{279CCD9A-20DD-49F6-8338-227DB8437EE7}"/>
              </a:ext>
            </a:extLst>
          </p:cNvPr>
          <p:cNvSpPr txBox="1"/>
          <p:nvPr/>
        </p:nvSpPr>
        <p:spPr>
          <a:xfrm>
            <a:off x="6875215" y="2950890"/>
            <a:ext cx="1980668" cy="938719"/>
          </a:xfrm>
          <a:prstGeom prst="rect">
            <a:avLst/>
          </a:prstGeom>
          <a:noFill/>
        </p:spPr>
        <p:txBody>
          <a:bodyPr wrap="square">
            <a:spAutoFit/>
          </a:bodyPr>
          <a:lstStyle/>
          <a:p>
            <a:pPr algn="ctr"/>
            <a:r>
              <a:rPr lang="en-US" sz="1100" b="0" i="1" u="none" strike="noStrike" baseline="0" dirty="0">
                <a:latin typeface="+mj-lt"/>
              </a:rPr>
              <a:t>Special Assistance to WBSEDCL for energizing power-driven pump sets installed for Agricultural purposes</a:t>
            </a:r>
            <a:endParaRPr lang="en-US" sz="1100" i="1" dirty="0">
              <a:latin typeface="+mj-lt"/>
            </a:endParaRPr>
          </a:p>
        </p:txBody>
      </p:sp>
      <p:sp>
        <p:nvSpPr>
          <p:cNvPr id="78" name="TextBox 77">
            <a:extLst>
              <a:ext uri="{FF2B5EF4-FFF2-40B4-BE49-F238E27FC236}">
                <a16:creationId xmlns:a16="http://schemas.microsoft.com/office/drawing/2014/main" id="{62EB9703-7037-450B-9977-65E03658A03E}"/>
              </a:ext>
            </a:extLst>
          </p:cNvPr>
          <p:cNvSpPr txBox="1"/>
          <p:nvPr/>
        </p:nvSpPr>
        <p:spPr>
          <a:xfrm>
            <a:off x="9162720" y="5431481"/>
            <a:ext cx="1665514" cy="1277273"/>
          </a:xfrm>
          <a:prstGeom prst="rect">
            <a:avLst/>
          </a:prstGeom>
          <a:noFill/>
        </p:spPr>
        <p:txBody>
          <a:bodyPr wrap="square">
            <a:spAutoFit/>
          </a:bodyPr>
          <a:lstStyle/>
          <a:p>
            <a:pPr algn="ctr"/>
            <a:r>
              <a:rPr lang="en-US" sz="1100" b="0" i="1" u="none" strike="noStrike" baseline="0" dirty="0">
                <a:latin typeface="+mj-lt"/>
              </a:rPr>
              <a:t>River Lift Irrigation; Distribution of </a:t>
            </a:r>
            <a:r>
              <a:rPr lang="en-US" sz="1100" b="0" i="1" u="none" strike="noStrike" baseline="0" dirty="0" err="1">
                <a:latin typeface="+mj-lt"/>
              </a:rPr>
              <a:t>Pumpsets</a:t>
            </a:r>
            <a:r>
              <a:rPr lang="en-US" sz="1100" b="0" i="1" u="none" strike="noStrike" baseline="0" dirty="0">
                <a:latin typeface="+mj-lt"/>
              </a:rPr>
              <a:t> and Other Low Lift Pumping Devices; Electrification of Diesel Pumps</a:t>
            </a:r>
            <a:endParaRPr lang="en-US" sz="1100" i="1" dirty="0">
              <a:latin typeface="+mj-lt"/>
            </a:endParaRPr>
          </a:p>
        </p:txBody>
      </p:sp>
      <p:grpSp>
        <p:nvGrpSpPr>
          <p:cNvPr id="79" name="Group 78">
            <a:extLst>
              <a:ext uri="{FF2B5EF4-FFF2-40B4-BE49-F238E27FC236}">
                <a16:creationId xmlns:a16="http://schemas.microsoft.com/office/drawing/2014/main" id="{52FDAA2E-F232-40D9-B522-132B9DDD9164}"/>
              </a:ext>
            </a:extLst>
          </p:cNvPr>
          <p:cNvGrpSpPr/>
          <p:nvPr/>
        </p:nvGrpSpPr>
        <p:grpSpPr>
          <a:xfrm>
            <a:off x="273811" y="2160416"/>
            <a:ext cx="11260364" cy="638558"/>
            <a:chOff x="529404" y="1578244"/>
            <a:chExt cx="11260364" cy="774814"/>
          </a:xfrm>
        </p:grpSpPr>
        <p:sp>
          <p:nvSpPr>
            <p:cNvPr id="80" name="Isosceles Triangle 1">
              <a:extLst>
                <a:ext uri="{FF2B5EF4-FFF2-40B4-BE49-F238E27FC236}">
                  <a16:creationId xmlns:a16="http://schemas.microsoft.com/office/drawing/2014/main" id="{B05F4132-0E23-4F7C-ABF2-51E99F6D6ACE}"/>
                </a:ext>
              </a:extLst>
            </p:cNvPr>
            <p:cNvSpPr/>
            <p:nvPr/>
          </p:nvSpPr>
          <p:spPr bwMode="gray">
            <a:xfrm>
              <a:off x="529404" y="1578244"/>
              <a:ext cx="11260364" cy="774814"/>
            </a:xfrm>
            <a:prstGeom prst="triangle">
              <a:avLst/>
            </a:prstGeom>
            <a:solidFill>
              <a:srgbClr val="53565A"/>
            </a:solidFill>
            <a:ln w="19050" algn="ctr">
              <a:noFill/>
              <a:miter lim="800000"/>
              <a:headEnd/>
              <a:tailEnd/>
            </a:ln>
          </p:spPr>
          <p:txBody>
            <a:bodyPr wrap="square" lIns="93834" tIns="93834" rIns="93834" bIns="93834" rtlCol="0" anchor="ctr"/>
            <a:lstStyle/>
            <a:p>
              <a:pPr defTabSz="965149">
                <a:defRPr/>
              </a:pPr>
              <a:endParaRPr lang="en-US" sz="1300" kern="0" dirty="0">
                <a:solidFill>
                  <a:prstClr val="white"/>
                </a:solidFill>
                <a:latin typeface="Verdana"/>
              </a:endParaRPr>
            </a:p>
          </p:txBody>
        </p:sp>
        <p:sp>
          <p:nvSpPr>
            <p:cNvPr id="81" name="Isosceles Triangle 1">
              <a:extLst>
                <a:ext uri="{FF2B5EF4-FFF2-40B4-BE49-F238E27FC236}">
                  <a16:creationId xmlns:a16="http://schemas.microsoft.com/office/drawing/2014/main" id="{9BCBE0C1-A2B3-4AA3-B321-851419B58CCF}"/>
                </a:ext>
              </a:extLst>
            </p:cNvPr>
            <p:cNvSpPr/>
            <p:nvPr/>
          </p:nvSpPr>
          <p:spPr bwMode="gray">
            <a:xfrm>
              <a:off x="1587586" y="1578470"/>
              <a:ext cx="9144000" cy="629189"/>
            </a:xfrm>
            <a:prstGeom prst="triangle">
              <a:avLst/>
            </a:prstGeom>
            <a:solidFill>
              <a:srgbClr val="000000"/>
            </a:solidFill>
            <a:ln w="19050" algn="ctr">
              <a:noFill/>
              <a:miter lim="800000"/>
              <a:headEnd/>
              <a:tailEnd/>
            </a:ln>
          </p:spPr>
          <p:txBody>
            <a:bodyPr wrap="square" lIns="93834" tIns="93834" rIns="93834" bIns="93834" rtlCol="0" anchor="ctr"/>
            <a:lstStyle/>
            <a:p>
              <a:pPr defTabSz="965149">
                <a:defRPr/>
              </a:pPr>
              <a:endParaRPr lang="en-US" sz="1300" kern="0" dirty="0">
                <a:solidFill>
                  <a:prstClr val="white"/>
                </a:solidFill>
                <a:latin typeface="Verdana"/>
              </a:endParaRPr>
            </a:p>
          </p:txBody>
        </p:sp>
      </p:grpSp>
    </p:spTree>
    <p:extLst>
      <p:ext uri="{BB962C8B-B14F-4D97-AF65-F5344CB8AC3E}">
        <p14:creationId xmlns:p14="http://schemas.microsoft.com/office/powerpoint/2010/main" val="1820351406"/>
      </p:ext>
    </p:extLst>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9AB790-4F16-43DD-BB50-31270723FCC0}"/>
              </a:ext>
            </a:extLst>
          </p:cNvPr>
          <p:cNvSpPr>
            <a:spLocks noGrp="1"/>
          </p:cNvSpPr>
          <p:nvPr>
            <p:ph type="title"/>
          </p:nvPr>
        </p:nvSpPr>
        <p:spPr>
          <a:xfrm>
            <a:off x="469903" y="204768"/>
            <a:ext cx="11252200" cy="334102"/>
          </a:xfrm>
        </p:spPr>
        <p:txBody>
          <a:bodyPr/>
          <a:lstStyle/>
          <a:p>
            <a:r>
              <a:rPr lang="en-US" sz="1800" b="1" dirty="0"/>
              <a:t>Rajasthan Case Study : Convergence Scheme for Solar Water Pump with Drip Irrigation</a:t>
            </a:r>
          </a:p>
        </p:txBody>
      </p:sp>
      <p:sp>
        <p:nvSpPr>
          <p:cNvPr id="6" name="Rectangle 5">
            <a:extLst>
              <a:ext uri="{FF2B5EF4-FFF2-40B4-BE49-F238E27FC236}">
                <a16:creationId xmlns:a16="http://schemas.microsoft.com/office/drawing/2014/main" id="{5531ED36-901F-4CBF-8874-173E2075CE0E}"/>
              </a:ext>
            </a:extLst>
          </p:cNvPr>
          <p:cNvSpPr/>
          <p:nvPr/>
        </p:nvSpPr>
        <p:spPr bwMode="gray">
          <a:xfrm>
            <a:off x="469903" y="4404732"/>
            <a:ext cx="5250673" cy="1962614"/>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171450" indent="-171450">
              <a:lnSpc>
                <a:spcPct val="106000"/>
              </a:lnSpc>
              <a:buFont typeface="Arial" panose="020B0604020202020204" pitchFamily="34" charset="0"/>
              <a:buChar char="•"/>
            </a:pPr>
            <a:r>
              <a:rPr lang="en-US" sz="1200" b="1" i="0" u="none" strike="noStrike" baseline="0" dirty="0"/>
              <a:t>Exponential Scaling</a:t>
            </a:r>
          </a:p>
          <a:p>
            <a:pPr marL="171450" indent="-171450">
              <a:lnSpc>
                <a:spcPct val="106000"/>
              </a:lnSpc>
              <a:buFont typeface="Arial" panose="020B0604020202020204" pitchFamily="34" charset="0"/>
              <a:buChar char="•"/>
            </a:pPr>
            <a:r>
              <a:rPr lang="en-US" sz="1200" b="1" i="0" u="none" strike="noStrike" baseline="0" dirty="0"/>
              <a:t>Political-Will Expressed in CM Budget-Announcements</a:t>
            </a:r>
            <a:endParaRPr lang="en-US" sz="1200" b="1" dirty="0"/>
          </a:p>
          <a:p>
            <a:pPr marL="171450" indent="-171450">
              <a:lnSpc>
                <a:spcPct val="106000"/>
              </a:lnSpc>
              <a:buFont typeface="Arial" panose="020B0604020202020204" pitchFamily="34" charset="0"/>
              <a:buChar char="•"/>
            </a:pPr>
            <a:r>
              <a:rPr lang="en-US" sz="1200" b="1" i="0" u="none" strike="noStrike" baseline="0" dirty="0"/>
              <a:t>Decentralization of Implementation Process to District Level</a:t>
            </a:r>
          </a:p>
          <a:p>
            <a:pPr marL="171450" indent="-171450">
              <a:lnSpc>
                <a:spcPct val="106000"/>
              </a:lnSpc>
              <a:buFont typeface="Arial" panose="020B0604020202020204" pitchFamily="34" charset="0"/>
              <a:buChar char="•"/>
            </a:pPr>
            <a:r>
              <a:rPr lang="en-US" sz="1200" b="1" i="0" u="none" strike="noStrike" baseline="0" dirty="0"/>
              <a:t>Structural Provisions to Ensure Sustained Support for Beneficiaries</a:t>
            </a:r>
            <a:endParaRPr lang="en-US" sz="1200" b="1" dirty="0"/>
          </a:p>
          <a:p>
            <a:pPr marL="171450" indent="-171450">
              <a:lnSpc>
                <a:spcPct val="106000"/>
              </a:lnSpc>
              <a:buFont typeface="Arial" panose="020B0604020202020204" pitchFamily="34" charset="0"/>
              <a:buChar char="•"/>
            </a:pPr>
            <a:r>
              <a:rPr lang="en-US" sz="1200" b="1" i="0" u="none" strike="noStrike" baseline="0" dirty="0"/>
              <a:t>Transparency and Stakeholder Participation</a:t>
            </a:r>
            <a:endParaRPr lang="en-US" sz="1200" dirty="0">
              <a:ln w="0"/>
              <a:solidFill>
                <a:schemeClr val="tx1"/>
              </a:solidFill>
              <a:effectLst>
                <a:outerShdw blurRad="38100" dist="19050" dir="2700000" algn="tl" rotWithShape="0">
                  <a:schemeClr val="dk1">
                    <a:alpha val="40000"/>
                  </a:schemeClr>
                </a:outerShdw>
              </a:effectLst>
            </a:endParaRPr>
          </a:p>
        </p:txBody>
      </p:sp>
      <p:cxnSp>
        <p:nvCxnSpPr>
          <p:cNvPr id="63" name="Straight Connector 62">
            <a:extLst>
              <a:ext uri="{FF2B5EF4-FFF2-40B4-BE49-F238E27FC236}">
                <a16:creationId xmlns:a16="http://schemas.microsoft.com/office/drawing/2014/main" id="{4F895F24-1C89-419D-A3FC-FB432869CBA5}"/>
              </a:ext>
            </a:extLst>
          </p:cNvPr>
          <p:cNvCxnSpPr>
            <a:cxnSpLocks/>
          </p:cNvCxnSpPr>
          <p:nvPr/>
        </p:nvCxnSpPr>
        <p:spPr>
          <a:xfrm>
            <a:off x="521689" y="993089"/>
            <a:ext cx="11222717"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FD40387B-00ED-4851-B69A-8578EC50343B}"/>
              </a:ext>
            </a:extLst>
          </p:cNvPr>
          <p:cNvSpPr/>
          <p:nvPr/>
        </p:nvSpPr>
        <p:spPr bwMode="gray">
          <a:xfrm>
            <a:off x="3865974" y="890553"/>
            <a:ext cx="4460052" cy="205071"/>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Approach adopted</a:t>
            </a:r>
          </a:p>
        </p:txBody>
      </p:sp>
      <p:sp>
        <p:nvSpPr>
          <p:cNvPr id="65" name="Rectangle 64">
            <a:extLst>
              <a:ext uri="{FF2B5EF4-FFF2-40B4-BE49-F238E27FC236}">
                <a16:creationId xmlns:a16="http://schemas.microsoft.com/office/drawing/2014/main" id="{C9BAF84A-BB93-424B-A7AF-D6F0565CC963}"/>
              </a:ext>
            </a:extLst>
          </p:cNvPr>
          <p:cNvSpPr/>
          <p:nvPr/>
        </p:nvSpPr>
        <p:spPr bwMode="gray">
          <a:xfrm>
            <a:off x="469905" y="1144294"/>
            <a:ext cx="11383843" cy="722522"/>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just">
              <a:lnSpc>
                <a:spcPct val="106000"/>
              </a:lnSpc>
            </a:pPr>
            <a:r>
              <a:rPr lang="en-US" sz="1200" b="1" dirty="0">
                <a:ln w="0"/>
              </a:rPr>
              <a:t>1. Schemes</a:t>
            </a:r>
            <a:r>
              <a:rPr lang="en-US" sz="1200" dirty="0">
                <a:ln w="0"/>
              </a:rPr>
              <a:t> </a:t>
            </a:r>
            <a:r>
              <a:rPr lang="en-US" sz="1200" b="1" dirty="0">
                <a:ln w="0"/>
              </a:rPr>
              <a:t>implemented</a:t>
            </a:r>
            <a:r>
              <a:rPr lang="en-US" sz="1200" dirty="0">
                <a:ln w="0"/>
              </a:rPr>
              <a:t> by the State’s Horticulture Department, comprising of National Horticulture Mission (NHM), National Mission on Micro Irrigation (NMMI), National Mission on Medicinal Plants (NMMP), National Bamboo Mission (NBM), Jawahar Lal Nehru National Solar Mission (JNNSM), </a:t>
            </a:r>
            <a:r>
              <a:rPr lang="en-US" sz="1200" dirty="0" err="1">
                <a:ln w="0"/>
              </a:rPr>
              <a:t>Rashtriya</a:t>
            </a:r>
            <a:r>
              <a:rPr lang="en-US" sz="1200" dirty="0">
                <a:ln w="0"/>
              </a:rPr>
              <a:t> Krishi Vikas Yojana (RKVY), </a:t>
            </a:r>
            <a:r>
              <a:rPr lang="en-US" sz="1200" b="1" dirty="0">
                <a:ln w="0"/>
              </a:rPr>
              <a:t>and other State Programs were studied</a:t>
            </a:r>
          </a:p>
        </p:txBody>
      </p:sp>
      <p:sp>
        <p:nvSpPr>
          <p:cNvPr id="66" name="Rectangle 65">
            <a:extLst>
              <a:ext uri="{FF2B5EF4-FFF2-40B4-BE49-F238E27FC236}">
                <a16:creationId xmlns:a16="http://schemas.microsoft.com/office/drawing/2014/main" id="{DCAE3498-32BB-4990-9233-2D0B4C31D3C8}"/>
              </a:ext>
            </a:extLst>
          </p:cNvPr>
          <p:cNvSpPr/>
          <p:nvPr/>
        </p:nvSpPr>
        <p:spPr bwMode="gray">
          <a:xfrm>
            <a:off x="469903" y="2049766"/>
            <a:ext cx="11383843" cy="477169"/>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just">
              <a:lnSpc>
                <a:spcPct val="106000"/>
              </a:lnSpc>
              <a:buFont typeface="Wingdings 2" pitchFamily="18" charset="2"/>
              <a:buNone/>
            </a:pPr>
            <a:r>
              <a:rPr lang="en-US" sz="1200" dirty="0">
                <a:ln w="0"/>
                <a:solidFill>
                  <a:schemeClr val="bg1"/>
                </a:solidFill>
                <a:effectLst>
                  <a:outerShdw blurRad="38100" dist="19050" dir="2700000" algn="tl" rotWithShape="0">
                    <a:schemeClr val="dk1">
                      <a:alpha val="40000"/>
                    </a:schemeClr>
                  </a:outerShdw>
                </a:effectLst>
              </a:rPr>
              <a:t>2. The schemes that were studied were contemplated for amalgamation after careful consideration</a:t>
            </a:r>
          </a:p>
        </p:txBody>
      </p:sp>
      <p:sp>
        <p:nvSpPr>
          <p:cNvPr id="67" name="Rectangle 66">
            <a:extLst>
              <a:ext uri="{FF2B5EF4-FFF2-40B4-BE49-F238E27FC236}">
                <a16:creationId xmlns:a16="http://schemas.microsoft.com/office/drawing/2014/main" id="{77080A81-4646-489C-8344-4D3B2C968293}"/>
              </a:ext>
            </a:extLst>
          </p:cNvPr>
          <p:cNvSpPr/>
          <p:nvPr/>
        </p:nvSpPr>
        <p:spPr bwMode="gray">
          <a:xfrm>
            <a:off x="441125" y="2694549"/>
            <a:ext cx="11383843" cy="477169"/>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200" dirty="0">
                <a:ln w="0"/>
                <a:solidFill>
                  <a:schemeClr val="tx1"/>
                </a:solidFill>
                <a:effectLst>
                  <a:outerShdw blurRad="38100" dist="19050" dir="2700000" algn="tl" rotWithShape="0">
                    <a:schemeClr val="dk1">
                      <a:alpha val="40000"/>
                    </a:schemeClr>
                  </a:outerShdw>
                </a:effectLst>
              </a:rPr>
              <a:t>3. Finally, JNNSM’s solar water pump, NHM’s water harvesting structures (farm ponds, </a:t>
            </a:r>
            <a:r>
              <a:rPr lang="en-US" sz="1200" dirty="0" err="1">
                <a:ln w="0"/>
                <a:solidFill>
                  <a:schemeClr val="tx1"/>
                </a:solidFill>
                <a:effectLst>
                  <a:outerShdw blurRad="38100" dist="19050" dir="2700000" algn="tl" rotWithShape="0">
                    <a:schemeClr val="dk1">
                      <a:alpha val="40000"/>
                    </a:schemeClr>
                  </a:outerShdw>
                </a:effectLst>
              </a:rPr>
              <a:t>diggies</a:t>
            </a:r>
            <a:r>
              <a:rPr lang="en-US" sz="1200" dirty="0">
                <a:ln w="0"/>
                <a:solidFill>
                  <a:schemeClr val="tx1"/>
                </a:solidFill>
                <a:effectLst>
                  <a:outerShdw blurRad="38100" dist="19050" dir="2700000" algn="tl" rotWithShape="0">
                    <a:schemeClr val="dk1">
                      <a:alpha val="40000"/>
                    </a:schemeClr>
                  </a:outerShdw>
                </a:effectLst>
              </a:rPr>
              <a:t>) and NMMI’s drip irrigation were combined</a:t>
            </a:r>
          </a:p>
        </p:txBody>
      </p:sp>
      <p:sp>
        <p:nvSpPr>
          <p:cNvPr id="68" name="Rectangle 67">
            <a:extLst>
              <a:ext uri="{FF2B5EF4-FFF2-40B4-BE49-F238E27FC236}">
                <a16:creationId xmlns:a16="http://schemas.microsoft.com/office/drawing/2014/main" id="{15E2D700-2F52-4F1F-A894-7941399F9542}"/>
              </a:ext>
            </a:extLst>
          </p:cNvPr>
          <p:cNvSpPr/>
          <p:nvPr/>
        </p:nvSpPr>
        <p:spPr bwMode="gray">
          <a:xfrm>
            <a:off x="469903" y="3330794"/>
            <a:ext cx="11383843" cy="475078"/>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just">
              <a:lnSpc>
                <a:spcPct val="106000"/>
              </a:lnSpc>
              <a:buFont typeface="Wingdings 2" pitchFamily="18" charset="2"/>
              <a:buNone/>
            </a:pPr>
            <a:r>
              <a:rPr lang="en-US" sz="1200" dirty="0">
                <a:ln w="0"/>
                <a:solidFill>
                  <a:schemeClr val="bg1"/>
                </a:solidFill>
                <a:effectLst>
                  <a:outerShdw blurRad="38100" dist="19050" dir="2700000" algn="tl" rotWithShape="0">
                    <a:schemeClr val="dk1">
                      <a:alpha val="40000"/>
                    </a:schemeClr>
                  </a:outerShdw>
                </a:effectLst>
              </a:rPr>
              <a:t>4. Financial resources were arranged in following manner - </a:t>
            </a:r>
            <a:r>
              <a:rPr lang="en-US" sz="1200" b="1" dirty="0">
                <a:ln w="0"/>
                <a:solidFill>
                  <a:schemeClr val="bg1"/>
                </a:solidFill>
                <a:effectLst>
                  <a:outerShdw blurRad="38100" dist="19050" dir="2700000" algn="tl" rotWithShape="0">
                    <a:schemeClr val="dk1">
                      <a:alpha val="40000"/>
                    </a:schemeClr>
                  </a:outerShdw>
                </a:effectLst>
              </a:rPr>
              <a:t>30% subsidy under JNNSM and 56% from RKVY/ State</a:t>
            </a:r>
          </a:p>
        </p:txBody>
      </p:sp>
      <p:cxnSp>
        <p:nvCxnSpPr>
          <p:cNvPr id="71" name="Straight Connector 70">
            <a:extLst>
              <a:ext uri="{FF2B5EF4-FFF2-40B4-BE49-F238E27FC236}">
                <a16:creationId xmlns:a16="http://schemas.microsoft.com/office/drawing/2014/main" id="{0BF1661A-28B7-4816-AA95-845C3145542B}"/>
              </a:ext>
            </a:extLst>
          </p:cNvPr>
          <p:cNvCxnSpPr>
            <a:cxnSpLocks/>
          </p:cNvCxnSpPr>
          <p:nvPr/>
        </p:nvCxnSpPr>
        <p:spPr>
          <a:xfrm>
            <a:off x="1098305" y="4146303"/>
            <a:ext cx="370864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881726F4-983A-45B1-B773-A01BA6632F69}"/>
              </a:ext>
            </a:extLst>
          </p:cNvPr>
          <p:cNvSpPr/>
          <p:nvPr/>
        </p:nvSpPr>
        <p:spPr bwMode="gray">
          <a:xfrm>
            <a:off x="1748297" y="4033087"/>
            <a:ext cx="2408664" cy="169312"/>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Implementation Strategy</a:t>
            </a:r>
          </a:p>
        </p:txBody>
      </p:sp>
      <p:cxnSp>
        <p:nvCxnSpPr>
          <p:cNvPr id="75" name="Straight Connector 74">
            <a:extLst>
              <a:ext uri="{FF2B5EF4-FFF2-40B4-BE49-F238E27FC236}">
                <a16:creationId xmlns:a16="http://schemas.microsoft.com/office/drawing/2014/main" id="{263DBC02-AA12-4A74-B376-9327716C69A5}"/>
              </a:ext>
            </a:extLst>
          </p:cNvPr>
          <p:cNvCxnSpPr>
            <a:cxnSpLocks/>
          </p:cNvCxnSpPr>
          <p:nvPr/>
        </p:nvCxnSpPr>
        <p:spPr>
          <a:xfrm>
            <a:off x="7385049" y="4200108"/>
            <a:ext cx="370864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4DE68948-5D78-4413-BD9D-1770FA94CD8F}"/>
              </a:ext>
            </a:extLst>
          </p:cNvPr>
          <p:cNvSpPr/>
          <p:nvPr/>
        </p:nvSpPr>
        <p:spPr bwMode="gray">
          <a:xfrm>
            <a:off x="8035041" y="4142648"/>
            <a:ext cx="2536315" cy="83661"/>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Impact of Scheme Convergence </a:t>
            </a:r>
          </a:p>
        </p:txBody>
      </p:sp>
      <p:graphicFrame>
        <p:nvGraphicFramePr>
          <p:cNvPr id="77" name="Diagram 76">
            <a:extLst>
              <a:ext uri="{FF2B5EF4-FFF2-40B4-BE49-F238E27FC236}">
                <a16:creationId xmlns:a16="http://schemas.microsoft.com/office/drawing/2014/main" id="{19B9093B-862E-427E-B8B3-D9C902EE9731}"/>
              </a:ext>
            </a:extLst>
          </p:cNvPr>
          <p:cNvGraphicFramePr/>
          <p:nvPr/>
        </p:nvGraphicFramePr>
        <p:xfrm>
          <a:off x="6377132" y="4068586"/>
          <a:ext cx="5476614" cy="27733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78211792"/>
      </p:ext>
    </p:extLst>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9AB790-4F16-43DD-BB50-31270723FCC0}"/>
              </a:ext>
            </a:extLst>
          </p:cNvPr>
          <p:cNvSpPr>
            <a:spLocks noGrp="1"/>
          </p:cNvSpPr>
          <p:nvPr>
            <p:ph type="title"/>
          </p:nvPr>
        </p:nvSpPr>
        <p:spPr>
          <a:xfrm>
            <a:off x="469903" y="204768"/>
            <a:ext cx="11252200" cy="334102"/>
          </a:xfrm>
        </p:spPr>
        <p:txBody>
          <a:bodyPr/>
          <a:lstStyle/>
          <a:p>
            <a:r>
              <a:rPr lang="en-US" sz="1800" b="1" dirty="0"/>
              <a:t>Need for Convergence Scheme for Agri Pump Solarization in West Bengal</a:t>
            </a:r>
          </a:p>
        </p:txBody>
      </p:sp>
      <p:graphicFrame>
        <p:nvGraphicFramePr>
          <p:cNvPr id="2" name="Diagram 1">
            <a:extLst>
              <a:ext uri="{FF2B5EF4-FFF2-40B4-BE49-F238E27FC236}">
                <a16:creationId xmlns:a16="http://schemas.microsoft.com/office/drawing/2014/main" id="{A7DB4D31-F69A-404C-8D2C-51CBF5F941DD}"/>
              </a:ext>
            </a:extLst>
          </p:cNvPr>
          <p:cNvGraphicFramePr/>
          <p:nvPr>
            <p:extLst>
              <p:ext uri="{D42A27DB-BD31-4B8C-83A1-F6EECF244321}">
                <p14:modId xmlns:p14="http://schemas.microsoft.com/office/powerpoint/2010/main" val="1981611768"/>
              </p:ext>
            </p:extLst>
          </p:nvPr>
        </p:nvGraphicFramePr>
        <p:xfrm>
          <a:off x="621060" y="1058886"/>
          <a:ext cx="5637650" cy="18275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Connector 4">
            <a:extLst>
              <a:ext uri="{FF2B5EF4-FFF2-40B4-BE49-F238E27FC236}">
                <a16:creationId xmlns:a16="http://schemas.microsoft.com/office/drawing/2014/main" id="{9B6BC0AA-F7AD-4486-AB12-DDA31590EB3C}"/>
              </a:ext>
            </a:extLst>
          </p:cNvPr>
          <p:cNvCxnSpPr>
            <a:cxnSpLocks/>
          </p:cNvCxnSpPr>
          <p:nvPr/>
        </p:nvCxnSpPr>
        <p:spPr>
          <a:xfrm>
            <a:off x="1377952" y="870844"/>
            <a:ext cx="384084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A9D48A31-4EFA-4ADD-8510-536EB54C6539}"/>
              </a:ext>
            </a:extLst>
          </p:cNvPr>
          <p:cNvSpPr/>
          <p:nvPr/>
        </p:nvSpPr>
        <p:spPr bwMode="gray">
          <a:xfrm>
            <a:off x="2275115" y="703804"/>
            <a:ext cx="2046514" cy="334100"/>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Key Concept</a:t>
            </a:r>
          </a:p>
        </p:txBody>
      </p:sp>
      <p:cxnSp>
        <p:nvCxnSpPr>
          <p:cNvPr id="7" name="Straight Connector 6">
            <a:extLst>
              <a:ext uri="{FF2B5EF4-FFF2-40B4-BE49-F238E27FC236}">
                <a16:creationId xmlns:a16="http://schemas.microsoft.com/office/drawing/2014/main" id="{7371E36C-B0C7-41C0-97F6-152C8A5F9A21}"/>
              </a:ext>
            </a:extLst>
          </p:cNvPr>
          <p:cNvCxnSpPr>
            <a:cxnSpLocks/>
          </p:cNvCxnSpPr>
          <p:nvPr/>
        </p:nvCxnSpPr>
        <p:spPr>
          <a:xfrm>
            <a:off x="7331529" y="870845"/>
            <a:ext cx="4093029" cy="1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3B36265-0FF9-4393-98A4-B4FAA6A80824}"/>
              </a:ext>
            </a:extLst>
          </p:cNvPr>
          <p:cNvSpPr/>
          <p:nvPr/>
        </p:nvSpPr>
        <p:spPr bwMode="gray">
          <a:xfrm>
            <a:off x="8752116" y="703804"/>
            <a:ext cx="1251856" cy="334083"/>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Steps </a:t>
            </a:r>
          </a:p>
        </p:txBody>
      </p:sp>
      <p:graphicFrame>
        <p:nvGraphicFramePr>
          <p:cNvPr id="9" name="Diagram 8">
            <a:extLst>
              <a:ext uri="{FF2B5EF4-FFF2-40B4-BE49-F238E27FC236}">
                <a16:creationId xmlns:a16="http://schemas.microsoft.com/office/drawing/2014/main" id="{7257AD22-9C77-48DF-BB97-9C9F27E3D3D7}"/>
              </a:ext>
            </a:extLst>
          </p:cNvPr>
          <p:cNvGraphicFramePr/>
          <p:nvPr/>
        </p:nvGraphicFramePr>
        <p:xfrm>
          <a:off x="6498773" y="1176950"/>
          <a:ext cx="5519056" cy="504343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cxnSp>
        <p:nvCxnSpPr>
          <p:cNvPr id="12" name="Straight Connector 11">
            <a:extLst>
              <a:ext uri="{FF2B5EF4-FFF2-40B4-BE49-F238E27FC236}">
                <a16:creationId xmlns:a16="http://schemas.microsoft.com/office/drawing/2014/main" id="{AEC3FC95-5034-4C13-80C5-C85C2F88AF52}"/>
              </a:ext>
            </a:extLst>
          </p:cNvPr>
          <p:cNvCxnSpPr>
            <a:cxnSpLocks/>
          </p:cNvCxnSpPr>
          <p:nvPr/>
        </p:nvCxnSpPr>
        <p:spPr>
          <a:xfrm>
            <a:off x="1264692" y="3276752"/>
            <a:ext cx="384084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59F0AED-71ED-4254-AD6A-9838AB524356}"/>
              </a:ext>
            </a:extLst>
          </p:cNvPr>
          <p:cNvSpPr/>
          <p:nvPr/>
        </p:nvSpPr>
        <p:spPr bwMode="gray">
          <a:xfrm>
            <a:off x="1535927" y="3042846"/>
            <a:ext cx="3298371" cy="334076"/>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Pool of essential parameters</a:t>
            </a:r>
          </a:p>
        </p:txBody>
      </p:sp>
      <p:pic>
        <p:nvPicPr>
          <p:cNvPr id="14" name="Picture 13">
            <a:extLst>
              <a:ext uri="{FF2B5EF4-FFF2-40B4-BE49-F238E27FC236}">
                <a16:creationId xmlns:a16="http://schemas.microsoft.com/office/drawing/2014/main" id="{B16F3E9F-2E51-44DE-8A84-9D139B17332D}"/>
              </a:ext>
            </a:extLst>
          </p:cNvPr>
          <p:cNvPicPr/>
          <p:nvPr/>
        </p:nvPicPr>
        <p:blipFill>
          <a:blip r:embed="rId12"/>
          <a:stretch>
            <a:fillRect/>
          </a:stretch>
        </p:blipFill>
        <p:spPr>
          <a:xfrm>
            <a:off x="248989" y="3415816"/>
            <a:ext cx="6249784" cy="3065051"/>
          </a:xfrm>
          <a:prstGeom prst="rect">
            <a:avLst/>
          </a:prstGeom>
        </p:spPr>
      </p:pic>
    </p:spTree>
    <p:extLst>
      <p:ext uri="{BB962C8B-B14F-4D97-AF65-F5344CB8AC3E}">
        <p14:creationId xmlns:p14="http://schemas.microsoft.com/office/powerpoint/2010/main" val="2149713783"/>
      </p:ext>
    </p:extLst>
  </p:cSld>
  <p:clrMapOvr>
    <a:masterClrMapping/>
  </p:clrMapOvr>
  <p:transition>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8898"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5" y="1691825"/>
            <a:ext cx="9630230" cy="307777"/>
          </a:xfrm>
        </p:spPr>
        <p:txBody>
          <a:bodyPr anchor="ctr" anchorCtr="0">
            <a:spAutoFit/>
          </a:bodyPr>
          <a:lstStyle/>
          <a:p>
            <a:r>
              <a:rPr lang="en-US" sz="2000" i="0" dirty="0">
                <a:solidFill>
                  <a:schemeClr val="tx1"/>
                </a:solidFill>
              </a:rPr>
              <a:t>Green Tariff Introduction by WBSEDCL for C&amp;I Consumers </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68992" y="1590786"/>
            <a:ext cx="811893" cy="501149"/>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lang="en-IN" sz="1400" b="1" kern="0" dirty="0">
                <a:solidFill>
                  <a:prstClr val="white"/>
                </a:solidFill>
              </a:rPr>
              <a:t>8B</a:t>
            </a:r>
            <a:endParaRPr kumimoji="0" lang="en-IN" sz="14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a:cxnSpLocks/>
          </p:cNvCxnSpPr>
          <p:nvPr/>
        </p:nvCxnSpPr>
        <p:spPr>
          <a:xfrm>
            <a:off x="4615544" y="3499011"/>
            <a:ext cx="0" cy="15955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526">
            <a:extLst>
              <a:ext uri="{FF2B5EF4-FFF2-40B4-BE49-F238E27FC236}">
                <a16:creationId xmlns:a16="http://schemas.microsoft.com/office/drawing/2014/main" id="{5540E149-1F19-4064-9714-B21FD0705489}"/>
              </a:ext>
            </a:extLst>
          </p:cNvPr>
          <p:cNvGrpSpPr>
            <a:grpSpLocks noChangeAspect="1"/>
          </p:cNvGrpSpPr>
          <p:nvPr/>
        </p:nvGrpSpPr>
        <p:grpSpPr bwMode="auto">
          <a:xfrm>
            <a:off x="1104225" y="3008313"/>
            <a:ext cx="2345264" cy="2345264"/>
            <a:chOff x="3464" y="1974"/>
            <a:chExt cx="340" cy="340"/>
          </a:xfrm>
          <a:solidFill>
            <a:srgbClr val="9CAC00"/>
          </a:solidFill>
        </p:grpSpPr>
        <p:sp>
          <p:nvSpPr>
            <p:cNvPr id="15" name="Freeform 527">
              <a:extLst>
                <a:ext uri="{FF2B5EF4-FFF2-40B4-BE49-F238E27FC236}">
                  <a16:creationId xmlns:a16="http://schemas.microsoft.com/office/drawing/2014/main" id="{2261B12D-A407-4719-9125-F49F83DDB571}"/>
                </a:ext>
              </a:extLst>
            </p:cNvPr>
            <p:cNvSpPr>
              <a:spLocks noEditPoints="1"/>
            </p:cNvSpPr>
            <p:nvPr/>
          </p:nvSpPr>
          <p:spPr bwMode="auto">
            <a:xfrm>
              <a:off x="3464" y="197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528">
              <a:extLst>
                <a:ext uri="{FF2B5EF4-FFF2-40B4-BE49-F238E27FC236}">
                  <a16:creationId xmlns:a16="http://schemas.microsoft.com/office/drawing/2014/main" id="{4FB09AB9-A79B-434D-9DE7-187BE7279860}"/>
                </a:ext>
              </a:extLst>
            </p:cNvPr>
            <p:cNvSpPr>
              <a:spLocks noEditPoints="1"/>
            </p:cNvSpPr>
            <p:nvPr/>
          </p:nvSpPr>
          <p:spPr bwMode="auto">
            <a:xfrm>
              <a:off x="3541" y="2037"/>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21504917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02F641-FAA0-4647-BB71-2A929E824A77}"/>
              </a:ext>
            </a:extLst>
          </p:cNvPr>
          <p:cNvSpPr>
            <a:spLocks noGrp="1"/>
          </p:cNvSpPr>
          <p:nvPr>
            <p:ph type="title"/>
          </p:nvPr>
        </p:nvSpPr>
        <p:spPr/>
        <p:txBody>
          <a:bodyPr/>
          <a:lstStyle/>
          <a:p>
            <a:r>
              <a:rPr lang="en-US" sz="1800" b="1" dirty="0"/>
              <a:t>Green Tariff Scheme - Background</a:t>
            </a:r>
          </a:p>
        </p:txBody>
      </p:sp>
      <p:sp>
        <p:nvSpPr>
          <p:cNvPr id="12" name="TextBox 11">
            <a:extLst>
              <a:ext uri="{FF2B5EF4-FFF2-40B4-BE49-F238E27FC236}">
                <a16:creationId xmlns:a16="http://schemas.microsoft.com/office/drawing/2014/main" id="{FC6A14A1-06F3-4129-8B4D-824D617A30B1}"/>
              </a:ext>
            </a:extLst>
          </p:cNvPr>
          <p:cNvSpPr txBox="1"/>
          <p:nvPr/>
        </p:nvSpPr>
        <p:spPr>
          <a:xfrm>
            <a:off x="469900" y="924286"/>
            <a:ext cx="11252200" cy="523220"/>
          </a:xfrm>
          <a:prstGeom prst="rect">
            <a:avLst/>
          </a:prstGeom>
          <a:noFill/>
        </p:spPr>
        <p:txBody>
          <a:bodyPr wrap="square">
            <a:spAutoFit/>
          </a:bodyPr>
          <a:lstStyle/>
          <a:p>
            <a:pPr algn="just"/>
            <a:r>
              <a:rPr lang="en-US" sz="1400" dirty="0"/>
              <a:t>Customers from residential customers to large industrial ones are increasingly procuring renewable energy in an effort to reduce their electricity bills and avoid fuel price unpredictability</a:t>
            </a:r>
          </a:p>
        </p:txBody>
      </p:sp>
      <p:cxnSp>
        <p:nvCxnSpPr>
          <p:cNvPr id="27" name="Straight Connector 26">
            <a:extLst>
              <a:ext uri="{FF2B5EF4-FFF2-40B4-BE49-F238E27FC236}">
                <a16:creationId xmlns:a16="http://schemas.microsoft.com/office/drawing/2014/main" id="{7196E12D-7DDF-45A0-A3D1-5DDE03959DCF}"/>
              </a:ext>
            </a:extLst>
          </p:cNvPr>
          <p:cNvCxnSpPr>
            <a:cxnSpLocks/>
          </p:cNvCxnSpPr>
          <p:nvPr/>
        </p:nvCxnSpPr>
        <p:spPr>
          <a:xfrm>
            <a:off x="393547" y="1824397"/>
            <a:ext cx="5197034" cy="0"/>
          </a:xfrm>
          <a:prstGeom prst="line">
            <a:avLst/>
          </a:prstGeom>
          <a:noFill/>
          <a:ln w="9525" cap="flat" cmpd="sng" algn="ctr">
            <a:solidFill>
              <a:srgbClr val="53565A"/>
            </a:solidFill>
            <a:prstDash val="solid"/>
          </a:ln>
          <a:effectLst/>
        </p:spPr>
      </p:cxnSp>
      <p:sp>
        <p:nvSpPr>
          <p:cNvPr id="28" name="Rectangle 27">
            <a:extLst>
              <a:ext uri="{FF2B5EF4-FFF2-40B4-BE49-F238E27FC236}">
                <a16:creationId xmlns:a16="http://schemas.microsoft.com/office/drawing/2014/main" id="{15604245-10F8-46B8-8D1A-6FCB40A4BF41}"/>
              </a:ext>
            </a:extLst>
          </p:cNvPr>
          <p:cNvSpPr/>
          <p:nvPr/>
        </p:nvSpPr>
        <p:spPr bwMode="gray">
          <a:xfrm>
            <a:off x="1004232" y="1675864"/>
            <a:ext cx="3810845" cy="297065"/>
          </a:xfrm>
          <a:prstGeom prst="rect">
            <a:avLst/>
          </a:prstGeom>
          <a:solidFill>
            <a:srgbClr val="F4FAFD"/>
          </a:solidFill>
          <a:ln w="19050" algn="ctr">
            <a:noFill/>
            <a:miter lim="800000"/>
            <a:headEnd/>
            <a:tailEnd/>
          </a:ln>
        </p:spPr>
        <p:txBody>
          <a:bodyPr wrap="square" lIns="80615" tIns="80615" rIns="80615" bIns="80615"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0" cap="none" spc="0" normalizeH="0" baseline="0" noProof="0" dirty="0">
                <a:ln>
                  <a:noFill/>
                </a:ln>
                <a:solidFill>
                  <a:prstClr val="black"/>
                </a:solidFill>
                <a:effectLst/>
                <a:uLnTx/>
                <a:uFillTx/>
              </a:rPr>
              <a:t>Factors influencing rising demand for RE</a:t>
            </a:r>
            <a:endParaRPr kumimoji="0" lang="en-IN" sz="1200" b="1" i="0" u="none" strike="noStrike" kern="0" cap="none" spc="0" normalizeH="0" baseline="0" noProof="0" dirty="0">
              <a:ln>
                <a:noFill/>
              </a:ln>
              <a:solidFill>
                <a:prstClr val="black"/>
              </a:solidFill>
              <a:effectLst/>
              <a:uLnTx/>
              <a:uFillTx/>
            </a:endParaRPr>
          </a:p>
        </p:txBody>
      </p:sp>
      <p:sp>
        <p:nvSpPr>
          <p:cNvPr id="35" name="Rectangle: Rounded Corners 34">
            <a:extLst>
              <a:ext uri="{FF2B5EF4-FFF2-40B4-BE49-F238E27FC236}">
                <a16:creationId xmlns:a16="http://schemas.microsoft.com/office/drawing/2014/main" id="{622858D2-22BC-42E6-91A5-614800560769}"/>
              </a:ext>
            </a:extLst>
          </p:cNvPr>
          <p:cNvSpPr/>
          <p:nvPr/>
        </p:nvSpPr>
        <p:spPr bwMode="gray">
          <a:xfrm>
            <a:off x="5544272" y="2052719"/>
            <a:ext cx="6273479" cy="1594046"/>
          </a:xfrm>
          <a:prstGeom prst="roundRect">
            <a:avLst/>
          </a:prstGeom>
          <a:noFill/>
          <a:ln>
            <a:solidFill>
              <a:schemeClr val="bg2">
                <a:lumMod val="25000"/>
              </a:schemeClr>
            </a:solidFill>
            <a:prstDash val="lgDash"/>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just"/>
            <a:r>
              <a:rPr lang="en-US" sz="1400" b="1" i="1" u="none" strike="noStrike" baseline="0" dirty="0">
                <a:latin typeface="+mj-lt"/>
              </a:rPr>
              <a:t>As a result of a multitude of factors</a:t>
            </a:r>
            <a:r>
              <a:rPr lang="en-US" sz="1400" i="1" u="none" strike="noStrike" baseline="0" dirty="0">
                <a:latin typeface="+mj-lt"/>
              </a:rPr>
              <a:t>, such as national and international commitments to RE, falling RE prices, government regulation promoting RE, and the advent of sustainability targets, </a:t>
            </a:r>
            <a:r>
              <a:rPr lang="en-US" sz="1400" b="1" i="1" u="none" strike="noStrike" baseline="0" dirty="0">
                <a:latin typeface="+mj-lt"/>
              </a:rPr>
              <a:t>C&amp;I consumers all over the world have begun to actively explore the possibility of increasing the share of RE in their power mix.</a:t>
            </a:r>
            <a:endParaRPr lang="en-US" sz="1400" b="1" i="1" dirty="0">
              <a:latin typeface="+mj-lt"/>
            </a:endParaRPr>
          </a:p>
        </p:txBody>
      </p:sp>
      <p:graphicFrame>
        <p:nvGraphicFramePr>
          <p:cNvPr id="2" name="Diagram 1">
            <a:extLst>
              <a:ext uri="{FF2B5EF4-FFF2-40B4-BE49-F238E27FC236}">
                <a16:creationId xmlns:a16="http://schemas.microsoft.com/office/drawing/2014/main" id="{3EE47F60-D729-4FA4-9045-CF33A014B83B}"/>
              </a:ext>
            </a:extLst>
          </p:cNvPr>
          <p:cNvGraphicFramePr/>
          <p:nvPr/>
        </p:nvGraphicFramePr>
        <p:xfrm>
          <a:off x="-563461" y="1920902"/>
          <a:ext cx="6574420" cy="46787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8" name="Group 17">
            <a:extLst>
              <a:ext uri="{FF2B5EF4-FFF2-40B4-BE49-F238E27FC236}">
                <a16:creationId xmlns:a16="http://schemas.microsoft.com/office/drawing/2014/main" id="{C4FD3A34-B964-45D1-9433-3897207A82C7}"/>
              </a:ext>
            </a:extLst>
          </p:cNvPr>
          <p:cNvGrpSpPr/>
          <p:nvPr/>
        </p:nvGrpSpPr>
        <p:grpSpPr>
          <a:xfrm>
            <a:off x="5544272" y="3943866"/>
            <a:ext cx="6177827" cy="2566957"/>
            <a:chOff x="-623103" y="2312432"/>
            <a:chExt cx="12489083" cy="2388647"/>
          </a:xfrm>
        </p:grpSpPr>
        <p:sp>
          <p:nvSpPr>
            <p:cNvPr id="25" name="Rectangle: Rounded Corners 24">
              <a:extLst>
                <a:ext uri="{FF2B5EF4-FFF2-40B4-BE49-F238E27FC236}">
                  <a16:creationId xmlns:a16="http://schemas.microsoft.com/office/drawing/2014/main" id="{6E8A141A-5C42-4C1C-90A3-F7F4413E95AE}"/>
                </a:ext>
              </a:extLst>
            </p:cNvPr>
            <p:cNvSpPr/>
            <p:nvPr/>
          </p:nvSpPr>
          <p:spPr bwMode="gray">
            <a:xfrm>
              <a:off x="3377879" y="2312432"/>
              <a:ext cx="5000262" cy="442343"/>
            </a:xfrm>
            <a:prstGeom prst="roundRect">
              <a:avLst/>
            </a:prstGeom>
            <a:solidFill>
              <a:schemeClr val="accent1">
                <a:lumMod val="60000"/>
                <a:lumOff val="40000"/>
              </a:schemeClr>
            </a:solidFill>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400" b="1" dirty="0">
                  <a:solidFill>
                    <a:sysClr val="windowText" lastClr="000000"/>
                  </a:solidFill>
                </a:rPr>
                <a:t>Opportunities thus presented </a:t>
              </a:r>
            </a:p>
          </p:txBody>
        </p:sp>
        <p:cxnSp>
          <p:nvCxnSpPr>
            <p:cNvPr id="26" name="Straight Arrow Connector 25">
              <a:extLst>
                <a:ext uri="{FF2B5EF4-FFF2-40B4-BE49-F238E27FC236}">
                  <a16:creationId xmlns:a16="http://schemas.microsoft.com/office/drawing/2014/main" id="{EE3C2899-54DE-4261-A4D8-C5E343D998F1}"/>
                </a:ext>
              </a:extLst>
            </p:cNvPr>
            <p:cNvCxnSpPr>
              <a:cxnSpLocks/>
              <a:stCxn id="25" idx="2"/>
            </p:cNvCxnSpPr>
            <p:nvPr/>
          </p:nvCxnSpPr>
          <p:spPr>
            <a:xfrm flipH="1">
              <a:off x="5868366" y="2754775"/>
              <a:ext cx="9644" cy="462987"/>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0606A7BF-B96D-4D4C-ACF7-EAA280722407}"/>
                </a:ext>
              </a:extLst>
            </p:cNvPr>
            <p:cNvCxnSpPr/>
            <p:nvPr/>
          </p:nvCxnSpPr>
          <p:spPr>
            <a:xfrm>
              <a:off x="1875099" y="3217762"/>
              <a:ext cx="8264324"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106ACA4-2FF0-4729-ACCB-B9496E8807AF}"/>
                </a:ext>
              </a:extLst>
            </p:cNvPr>
            <p:cNvCxnSpPr/>
            <p:nvPr/>
          </p:nvCxnSpPr>
          <p:spPr>
            <a:xfrm>
              <a:off x="1875099" y="3217762"/>
              <a:ext cx="0" cy="462987"/>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747BA672-42D9-423E-B0D5-5F0392B2B396}"/>
                </a:ext>
              </a:extLst>
            </p:cNvPr>
            <p:cNvCxnSpPr/>
            <p:nvPr/>
          </p:nvCxnSpPr>
          <p:spPr>
            <a:xfrm>
              <a:off x="10176076" y="3197506"/>
              <a:ext cx="0" cy="462987"/>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32" name="Rectangle: Rounded Corners 31">
              <a:extLst>
                <a:ext uri="{FF2B5EF4-FFF2-40B4-BE49-F238E27FC236}">
                  <a16:creationId xmlns:a16="http://schemas.microsoft.com/office/drawing/2014/main" id="{13CFC841-10AE-4AAC-BBB4-8DEBB790724E}"/>
                </a:ext>
              </a:extLst>
            </p:cNvPr>
            <p:cNvSpPr/>
            <p:nvPr/>
          </p:nvSpPr>
          <p:spPr bwMode="gray">
            <a:xfrm>
              <a:off x="-623103" y="3680754"/>
              <a:ext cx="5436238" cy="1020325"/>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285750" indent="-285750" algn="just">
                <a:lnSpc>
                  <a:spcPct val="106000"/>
                </a:lnSpc>
                <a:buFont typeface="Arial" panose="020B0604020202020204" pitchFamily="34" charset="0"/>
                <a:buChar char="•"/>
              </a:pPr>
              <a:r>
                <a:rPr lang="en-US" sz="1400" dirty="0">
                  <a:solidFill>
                    <a:sysClr val="windowText" lastClr="000000"/>
                  </a:solidFill>
                </a:rPr>
                <a:t>Opportunity for C&amp;I consumers to drive the demand for RE products</a:t>
              </a:r>
            </a:p>
          </p:txBody>
        </p:sp>
        <p:sp>
          <p:nvSpPr>
            <p:cNvPr id="33" name="Rectangle: Rounded Corners 32">
              <a:extLst>
                <a:ext uri="{FF2B5EF4-FFF2-40B4-BE49-F238E27FC236}">
                  <a16:creationId xmlns:a16="http://schemas.microsoft.com/office/drawing/2014/main" id="{9AFE2445-06F5-409E-9821-01BBB3A27ACD}"/>
                </a:ext>
              </a:extLst>
            </p:cNvPr>
            <p:cNvSpPr/>
            <p:nvPr/>
          </p:nvSpPr>
          <p:spPr bwMode="gray">
            <a:xfrm>
              <a:off x="6850304" y="3680750"/>
              <a:ext cx="5015676" cy="1020325"/>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285750" indent="-285750" algn="just">
                <a:lnSpc>
                  <a:spcPct val="106000"/>
                </a:lnSpc>
                <a:buFont typeface="Arial" panose="020B0604020202020204" pitchFamily="34" charset="0"/>
                <a:buChar char="•"/>
              </a:pPr>
              <a:r>
                <a:rPr lang="en-US" sz="1400" dirty="0">
                  <a:solidFill>
                    <a:sysClr val="windowText" lastClr="000000"/>
                  </a:solidFill>
                </a:rPr>
                <a:t>Unique opportunity for utilities to market new RE products to C&amp;I consumers</a:t>
              </a:r>
            </a:p>
          </p:txBody>
        </p:sp>
      </p:grpSp>
    </p:spTree>
    <p:extLst>
      <p:ext uri="{BB962C8B-B14F-4D97-AF65-F5344CB8AC3E}">
        <p14:creationId xmlns:p14="http://schemas.microsoft.com/office/powerpoint/2010/main" val="1751961193"/>
      </p:ext>
    </p:extLst>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501651" y="706032"/>
            <a:ext cx="11162349" cy="757255"/>
          </a:xfrm>
        </p:spPr>
        <p:txBody>
          <a:bodyPr anchor="ctr"/>
          <a:lstStyle/>
          <a:p>
            <a:r>
              <a:rPr lang="en-US" sz="1600" dirty="0">
                <a:latin typeface="Verdana" panose="020B0604030504040204" pitchFamily="34" charset="0"/>
                <a:ea typeface="Verdana" panose="020B0604030504040204" pitchFamily="34" charset="0"/>
              </a:rPr>
              <a:t>C&amp;I consumers are motivated to source power directly from generators due to commercial advantages and regulatory requirements</a:t>
            </a:r>
            <a:endParaRPr lang="en-IN" sz="1600" dirty="0">
              <a:latin typeface="Verdana" panose="020B0604030504040204" pitchFamily="34" charset="0"/>
              <a:ea typeface="Verdana" panose="020B0604030504040204" pitchFamily="34" charset="0"/>
            </a:endParaRPr>
          </a:p>
        </p:txBody>
      </p:sp>
      <p:sp>
        <p:nvSpPr>
          <p:cNvPr id="6" name="TextBox 5"/>
          <p:cNvSpPr txBox="1"/>
          <p:nvPr/>
        </p:nvSpPr>
        <p:spPr>
          <a:xfrm>
            <a:off x="1916902" y="1909368"/>
            <a:ext cx="4818195" cy="1077218"/>
          </a:xfrm>
          <a:prstGeom prst="rect">
            <a:avLst/>
          </a:prstGeom>
          <a:noFill/>
        </p:spPr>
        <p:txBody>
          <a:bodyPr wrap="square" lIns="0" tIns="0" rIns="0" bIns="0" rtlCol="0">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62B5E5"/>
                </a:solidFill>
                <a:effectLst/>
                <a:uLnTx/>
                <a:uFillTx/>
                <a:latin typeface="Verdana" panose="020B0604030504040204" pitchFamily="34" charset="0"/>
                <a:ea typeface="Verdana" panose="020B0604030504040204" pitchFamily="34" charset="0"/>
              </a:rPr>
              <a:t>Saving in power purchase cost</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Arbitrage of RE/ conventional cost over DISCOM/ESCOM tariff </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Favorable Open Access (OA) Regulations and charges drive demand in a state</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Consumers opting for this model prefer short/medium term agreements</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Consumer tariff is linked/ indexed to their existing power purchase cost</a:t>
            </a:r>
          </a:p>
        </p:txBody>
      </p:sp>
      <p:sp>
        <p:nvSpPr>
          <p:cNvPr id="7" name="TextBox 6"/>
          <p:cNvSpPr txBox="1"/>
          <p:nvPr/>
        </p:nvSpPr>
        <p:spPr>
          <a:xfrm>
            <a:off x="-17904" y="3153721"/>
            <a:ext cx="2153518" cy="1231106"/>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600"/>
              </a:spcBef>
              <a:spcAft>
                <a:spcPts val="0"/>
              </a:spcAft>
              <a:buClrTx/>
              <a:buSzPct val="100000"/>
              <a:buFontTx/>
              <a:buNone/>
              <a:tabLst/>
              <a:defRPr/>
            </a:pPr>
            <a:r>
              <a:rPr kumimoji="0" lang="en-GB" sz="8000" b="0" i="0" u="none" strike="noStrike" kern="1200" cap="none" spc="0" normalizeH="0" baseline="0" noProof="0" dirty="0">
                <a:ln>
                  <a:noFill/>
                </a:ln>
                <a:solidFill>
                  <a:srgbClr val="046A38"/>
                </a:solidFill>
                <a:effectLst/>
                <a:uLnTx/>
                <a:uFillTx/>
                <a:latin typeface="Verdana" panose="020B0604030504040204" pitchFamily="34" charset="0"/>
                <a:ea typeface="Verdana" panose="020B0604030504040204" pitchFamily="34" charset="0"/>
              </a:rPr>
              <a:t>02</a:t>
            </a:r>
          </a:p>
        </p:txBody>
      </p:sp>
      <p:sp>
        <p:nvSpPr>
          <p:cNvPr id="8" name="TextBox 7"/>
          <p:cNvSpPr txBox="1"/>
          <p:nvPr/>
        </p:nvSpPr>
        <p:spPr>
          <a:xfrm>
            <a:off x="-17904" y="1683733"/>
            <a:ext cx="2153518" cy="1231106"/>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600"/>
              </a:spcBef>
              <a:spcAft>
                <a:spcPts val="0"/>
              </a:spcAft>
              <a:buClrTx/>
              <a:buSzPct val="100000"/>
              <a:buFontTx/>
              <a:buNone/>
              <a:tabLst/>
              <a:defRPr/>
            </a:pPr>
            <a:r>
              <a:rPr kumimoji="0" lang="en-GB" sz="8000" b="0" i="0" u="none" strike="noStrike" kern="1200" cap="none" spc="0" normalizeH="0" baseline="0" noProof="0" dirty="0">
                <a:ln>
                  <a:noFill/>
                </a:ln>
                <a:solidFill>
                  <a:srgbClr val="62B5E5"/>
                </a:solidFill>
                <a:effectLst/>
                <a:uLnTx/>
                <a:uFillTx/>
                <a:latin typeface="Verdana" panose="020B0604030504040204" pitchFamily="34" charset="0"/>
                <a:ea typeface="Verdana" panose="020B0604030504040204" pitchFamily="34" charset="0"/>
              </a:rPr>
              <a:t>01</a:t>
            </a:r>
          </a:p>
        </p:txBody>
      </p:sp>
      <p:sp>
        <p:nvSpPr>
          <p:cNvPr id="9" name="TextBox 8"/>
          <p:cNvSpPr txBox="1"/>
          <p:nvPr/>
        </p:nvSpPr>
        <p:spPr>
          <a:xfrm>
            <a:off x="-17904" y="4670053"/>
            <a:ext cx="2153518" cy="1231106"/>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600"/>
              </a:spcBef>
              <a:spcAft>
                <a:spcPts val="0"/>
              </a:spcAft>
              <a:buClrTx/>
              <a:buSzPct val="100000"/>
              <a:buFontTx/>
              <a:buNone/>
              <a:tabLst/>
              <a:defRPr/>
            </a:pPr>
            <a:r>
              <a:rPr kumimoji="0" lang="en-GB" sz="8000" b="0" i="0" u="none" strike="noStrike" kern="1200" cap="none" spc="0" normalizeH="0" baseline="0" noProof="0" dirty="0">
                <a:ln>
                  <a:noFill/>
                </a:ln>
                <a:solidFill>
                  <a:srgbClr val="86BC25"/>
                </a:solidFill>
                <a:effectLst/>
                <a:uLnTx/>
                <a:uFillTx/>
                <a:latin typeface="Verdana" panose="020B0604030504040204" pitchFamily="34" charset="0"/>
                <a:ea typeface="Verdana" panose="020B0604030504040204" pitchFamily="34" charset="0"/>
              </a:rPr>
              <a:t>03</a:t>
            </a:r>
          </a:p>
        </p:txBody>
      </p:sp>
      <p:sp>
        <p:nvSpPr>
          <p:cNvPr id="10" name="TextBox 9"/>
          <p:cNvSpPr txBox="1"/>
          <p:nvPr/>
        </p:nvSpPr>
        <p:spPr>
          <a:xfrm>
            <a:off x="1916903" y="3420937"/>
            <a:ext cx="4818194" cy="1077218"/>
          </a:xfrm>
          <a:prstGeom prst="rect">
            <a:avLst/>
          </a:prstGeom>
          <a:noFill/>
        </p:spPr>
        <p:txBody>
          <a:bodyPr wrap="square" lIns="0" tIns="0" rIns="0" bIns="0" rtlCol="0">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46A38"/>
                </a:solidFill>
                <a:effectLst/>
                <a:uLnTx/>
                <a:uFillTx/>
                <a:latin typeface="Verdana" panose="020B0604030504040204" pitchFamily="34" charset="0"/>
                <a:ea typeface="Verdana" panose="020B0604030504040204" pitchFamily="34" charset="0"/>
              </a:rPr>
              <a:t>Meeting RPO / green sourcing commitment</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Consumer is driven by RPO it has to meet</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An emerging group of consumers, especially MNCs and Indian MNCs undertake green power sourcing as part of its corporate goals</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Savings in energy cost and energy security are added incentives factored </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Consumers opting for this model prefer long term commitments</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dirty="0">
              <a:ln>
                <a:noFill/>
              </a:ln>
              <a:solidFill>
                <a:srgbClr val="046A38"/>
              </a:solidFill>
              <a:effectLst/>
              <a:uLnTx/>
              <a:uFillTx/>
              <a:latin typeface="Verdana" panose="020B0604030504040204" pitchFamily="34" charset="0"/>
              <a:ea typeface="Verdana" panose="020B0604030504040204" pitchFamily="34" charset="0"/>
            </a:endParaRPr>
          </a:p>
        </p:txBody>
      </p:sp>
      <p:sp>
        <p:nvSpPr>
          <p:cNvPr id="11" name="TextBox 10"/>
          <p:cNvSpPr txBox="1"/>
          <p:nvPr/>
        </p:nvSpPr>
        <p:spPr>
          <a:xfrm>
            <a:off x="1916903" y="4944110"/>
            <a:ext cx="4995174" cy="1077218"/>
          </a:xfrm>
          <a:prstGeom prst="rect">
            <a:avLst/>
          </a:prstGeom>
          <a:noFill/>
        </p:spPr>
        <p:txBody>
          <a:bodyPr wrap="square" lIns="0" tIns="0" rIns="0" bIns="0" rtlCol="0">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srgbClr val="86BC25"/>
                </a:solidFill>
                <a:effectLst/>
                <a:uLnTx/>
                <a:uFillTx/>
                <a:latin typeface="Verdana" panose="020B0604030504040204" pitchFamily="34" charset="0"/>
                <a:ea typeface="Verdana" panose="020B0604030504040204" pitchFamily="34" charset="0"/>
              </a:rPr>
              <a:t>Reliable supply of power</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High energy intensive industries where uninterrupted supply of electricity is crucial opts for captive source </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This is a motive for consumers in states which face energy deficit </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Reliability of supply is the vital criterion and cost of supply is secondary. Therefore, energy banking facilities and storage technologies are crucial for these set of consumers</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Sale under this driver usually have medium to long term commitment</a:t>
            </a:r>
          </a:p>
        </p:txBody>
      </p:sp>
      <p:sp>
        <p:nvSpPr>
          <p:cNvPr id="13" name="Rectangle 12"/>
          <p:cNvSpPr>
            <a:spLocks noChangeArrowheads="1"/>
          </p:cNvSpPr>
          <p:nvPr/>
        </p:nvSpPr>
        <p:spPr bwMode="auto">
          <a:xfrm>
            <a:off x="7051254" y="2127749"/>
            <a:ext cx="4854612" cy="4493735"/>
          </a:xfrm>
          <a:prstGeom prst="rect">
            <a:avLst/>
          </a:prstGeom>
          <a:noFill/>
          <a:ln w="9525" algn="ctr">
            <a:solidFill>
              <a:schemeClr val="bg2">
                <a:lumMod val="90000"/>
              </a:schemeClr>
            </a:solidFill>
            <a:miter lim="800000"/>
            <a:headEnd/>
            <a:tailEnd/>
          </a:ln>
        </p:spPr>
        <p:txBody>
          <a:bodyPr lIns="88900" tIns="88900" rIns="88900" bIns="88900" anchor="t"/>
          <a:lstStyle/>
          <a:p>
            <a:pPr marL="0" marR="0" lvl="0" indent="0" algn="just" defTabSz="957998"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a:p>
            <a:pPr marL="0" marR="0" lvl="0" indent="0" algn="just" defTabSz="957998"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a:p>
            <a:pPr marL="171450" marR="0" lvl="0" indent="-171450" algn="just" defTabSz="95799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Solar and wind energy have become the cheapest source of ex-bus energy in most of the large states;</a:t>
            </a:r>
          </a:p>
          <a:p>
            <a:pPr marL="171450" marR="0" lvl="0" indent="-171450" algn="just" defTabSz="95799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Increasing RPO compliance of DISCOMs/ESCOMs, thereby putting pressure on obligated C&amp;I consumers to comply with their RPO targets;</a:t>
            </a:r>
          </a:p>
          <a:p>
            <a:pPr marL="171450" marR="0" lvl="0" indent="-171450" algn="just" defTabSz="95799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Many corporates adopting net zero strategy;</a:t>
            </a:r>
          </a:p>
          <a:p>
            <a:pPr marL="171450" marR="0" lvl="0" indent="-171450" algn="just" defTabSz="95799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Falling prices of storage technologies;</a:t>
            </a:r>
          </a:p>
          <a:p>
            <a:pPr marL="171450" marR="0" lvl="0" indent="-171450" algn="just" defTabSz="95799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Draft Amendments to Electricity Act 2003 and Tariff Policy 2016 promoting development of electricity markets:</a:t>
            </a:r>
          </a:p>
          <a:p>
            <a:pPr marL="357188" marR="0" lvl="3" indent="-171450" algn="just" defTabSz="1219170" rtl="0" eaLnBrk="1" fontAlgn="auto" latinLnBrk="0" hangingPunct="1">
              <a:lnSpc>
                <a:spcPct val="100000"/>
              </a:lnSpc>
              <a:spcBef>
                <a:spcPts val="0"/>
              </a:spcBef>
              <a:spcAft>
                <a:spcPts val="600"/>
              </a:spcAft>
              <a:buClrTx/>
              <a:buSzPct val="100000"/>
              <a:buFont typeface="Verdana" panose="020B060403050404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Delicensing of distribution business to enable increased competition and thus enable efficient services to consumers;</a:t>
            </a:r>
          </a:p>
          <a:p>
            <a:pPr marL="357188" marR="0" lvl="3" indent="-171450" algn="just" defTabSz="1219170" rtl="0" eaLnBrk="1" fontAlgn="auto" latinLnBrk="0" hangingPunct="1">
              <a:lnSpc>
                <a:spcPct val="100000"/>
              </a:lnSpc>
              <a:spcBef>
                <a:spcPts val="0"/>
              </a:spcBef>
              <a:spcAft>
                <a:spcPts val="600"/>
              </a:spcAft>
              <a:buClrTx/>
              <a:buSzPct val="100000"/>
              <a:buFont typeface="Verdana" panose="020B060403050404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Penalty for not meeting RPO target specified by Central Government: Rs. 0.25-0.50/kWh in 1</a:t>
            </a:r>
            <a:r>
              <a:rPr kumimoji="0" lang="en-US" sz="1050" b="0" i="0" u="none" strike="noStrike" kern="1200" cap="none" spc="0" normalizeH="0" baseline="30000" noProof="0" dirty="0">
                <a:ln>
                  <a:noFill/>
                </a:ln>
                <a:solidFill>
                  <a:srgbClr val="000000"/>
                </a:solidFill>
                <a:effectLst/>
                <a:uLnTx/>
                <a:uFillTx/>
                <a:latin typeface="Verdana" panose="020B0604030504040204" pitchFamily="34" charset="0"/>
                <a:ea typeface="Verdana" panose="020B0604030504040204" pitchFamily="34" charset="0"/>
              </a:rPr>
              <a:t>st</a:t>
            </a: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 year of default; </a:t>
            </a:r>
            <a:b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b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Rs. 0.5-1/kWh in 2</a:t>
            </a:r>
            <a:r>
              <a:rPr kumimoji="0" lang="en-US" sz="1050" b="0" i="0" u="none" strike="noStrike" kern="1200" cap="none" spc="0" normalizeH="0" baseline="30000" noProof="0" dirty="0">
                <a:ln>
                  <a:noFill/>
                </a:ln>
                <a:solidFill>
                  <a:srgbClr val="000000"/>
                </a:solidFill>
                <a:effectLst/>
                <a:uLnTx/>
                <a:uFillTx/>
                <a:latin typeface="Verdana" panose="020B0604030504040204" pitchFamily="34" charset="0"/>
                <a:ea typeface="Verdana" panose="020B0604030504040204" pitchFamily="34" charset="0"/>
              </a:rPr>
              <a:t>nd</a:t>
            </a: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 successive year of default and </a:t>
            </a:r>
            <a:b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b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Rs. 1-2/kWh continuing after 2</a:t>
            </a:r>
            <a:r>
              <a:rPr kumimoji="0" lang="en-US" sz="1050" b="0" i="0" u="none" strike="noStrike" kern="1200" cap="none" spc="0" normalizeH="0" baseline="30000" noProof="0" dirty="0">
                <a:ln>
                  <a:noFill/>
                </a:ln>
                <a:solidFill>
                  <a:srgbClr val="000000"/>
                </a:solidFill>
                <a:effectLst/>
                <a:uLnTx/>
                <a:uFillTx/>
                <a:latin typeface="Verdana" panose="020B0604030504040204" pitchFamily="34" charset="0"/>
                <a:ea typeface="Verdana" panose="020B0604030504040204" pitchFamily="34" charset="0"/>
              </a:rPr>
              <a:t>nd</a:t>
            </a: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 year of default.</a:t>
            </a:r>
          </a:p>
          <a:p>
            <a:pPr marL="357188" marR="0" lvl="3" indent="-171450" algn="just" defTabSz="1219170" rtl="0" eaLnBrk="1" fontAlgn="auto" latinLnBrk="0" hangingPunct="1">
              <a:lnSpc>
                <a:spcPct val="100000"/>
              </a:lnSpc>
              <a:spcBef>
                <a:spcPts val="0"/>
              </a:spcBef>
              <a:spcAft>
                <a:spcPts val="600"/>
              </a:spcAft>
              <a:buClrTx/>
              <a:buSzPct val="100000"/>
              <a:buFont typeface="Verdana" panose="020B060403050404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Transparent open access process and time bound approvals;</a:t>
            </a:r>
          </a:p>
          <a:p>
            <a:pPr marL="357188" marR="0" lvl="3" indent="-171450" algn="just" defTabSz="1219170" rtl="0" eaLnBrk="1" fontAlgn="auto" latinLnBrk="0" hangingPunct="1">
              <a:lnSpc>
                <a:spcPct val="100000"/>
              </a:lnSpc>
              <a:spcBef>
                <a:spcPts val="0"/>
              </a:spcBef>
              <a:spcAft>
                <a:spcPts val="600"/>
              </a:spcAft>
              <a:buClrTx/>
              <a:buSzPct val="100000"/>
              <a:buFont typeface="Verdana" panose="020B060403050404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Open access surcharge (CSS and additional surcharge) shall not be more than 20% of applicable tariff;</a:t>
            </a:r>
            <a:endParaRPr kumimoji="0" lang="en-US" sz="1050" b="0" i="0" u="none" strike="noStrike" kern="1200" cap="none" spc="0" normalizeH="0" baseline="0" noProof="0" dirty="0">
              <a:ln>
                <a:noFill/>
              </a:ln>
              <a:solidFill>
                <a:srgbClr val="000000"/>
              </a:solidFill>
              <a:effectLst/>
              <a:highlight>
                <a:srgbClr val="FFFF00"/>
              </a:highlight>
              <a:uLnTx/>
              <a:uFillTx/>
              <a:latin typeface="Verdana" panose="020B0604030504040204" pitchFamily="34" charset="0"/>
              <a:ea typeface="Verdana" panose="020B0604030504040204" pitchFamily="34" charset="0"/>
            </a:endParaRPr>
          </a:p>
          <a:p>
            <a:pPr marL="357188" marR="0" lvl="3" indent="-171450" algn="just" defTabSz="1219170" rtl="0" eaLnBrk="1" fontAlgn="auto" latinLnBrk="0" hangingPunct="1">
              <a:lnSpc>
                <a:spcPct val="100000"/>
              </a:lnSpc>
              <a:spcBef>
                <a:spcPts val="0"/>
              </a:spcBef>
              <a:spcAft>
                <a:spcPts val="600"/>
              </a:spcAft>
              <a:buClrTx/>
              <a:buSzPct val="100000"/>
              <a:buFont typeface="Verdana" panose="020B060403050404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Cross Subsidy Surcharge shall be applicable for a maximum period of 1 year from the date of opting for open access.</a:t>
            </a:r>
          </a:p>
        </p:txBody>
      </p:sp>
      <p:sp>
        <p:nvSpPr>
          <p:cNvPr id="14" name="Rectangle 13"/>
          <p:cNvSpPr/>
          <p:nvPr/>
        </p:nvSpPr>
        <p:spPr>
          <a:xfrm>
            <a:off x="6972595" y="1789195"/>
            <a:ext cx="4695773" cy="307777"/>
          </a:xfrm>
          <a:prstGeom prst="rect">
            <a:avLst/>
          </a:prstGeom>
        </p:spPr>
        <p:txBody>
          <a:bodyPr wrap="square">
            <a:spAutoFit/>
          </a:bodyPr>
          <a:lstStyle/>
          <a:p>
            <a:pPr marL="0" marR="0" lvl="0" indent="0" algn="l" defTabSz="957263"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rPr>
              <a:t>What has changed in last 3 years?</a:t>
            </a:r>
          </a:p>
        </p:txBody>
      </p:sp>
      <p:sp>
        <p:nvSpPr>
          <p:cNvPr id="15" name="Freeform 46"/>
          <p:cNvSpPr>
            <a:spLocks noChangeAspect="1" noEditPoints="1"/>
          </p:cNvSpPr>
          <p:nvPr/>
        </p:nvSpPr>
        <p:spPr bwMode="auto">
          <a:xfrm>
            <a:off x="7169239" y="2149661"/>
            <a:ext cx="259091" cy="301752"/>
          </a:xfrm>
          <a:custGeom>
            <a:avLst/>
            <a:gdLst>
              <a:gd name="T0" fmla="*/ 86 w 118"/>
              <a:gd name="T1" fmla="*/ 51 h 137"/>
              <a:gd name="T2" fmla="*/ 97 w 118"/>
              <a:gd name="T3" fmla="*/ 5 h 137"/>
              <a:gd name="T4" fmla="*/ 63 w 118"/>
              <a:gd name="T5" fmla="*/ 39 h 137"/>
              <a:gd name="T6" fmla="*/ 30 w 118"/>
              <a:gd name="T7" fmla="*/ 67 h 137"/>
              <a:gd name="T8" fmla="*/ 30 w 118"/>
              <a:gd name="T9" fmla="*/ 118 h 137"/>
              <a:gd name="T10" fmla="*/ 94 w 118"/>
              <a:gd name="T11" fmla="*/ 137 h 137"/>
              <a:gd name="T12" fmla="*/ 118 w 118"/>
              <a:gd name="T13" fmla="*/ 64 h 137"/>
              <a:gd name="T14" fmla="*/ 86 w 118"/>
              <a:gd name="T15" fmla="*/ 51 h 137"/>
              <a:gd name="T16" fmla="*/ 22 w 118"/>
              <a:gd name="T17" fmla="*/ 52 h 137"/>
              <a:gd name="T18" fmla="*/ 0 w 118"/>
              <a:gd name="T19" fmla="*/ 75 h 137"/>
              <a:gd name="T20" fmla="*/ 0 w 118"/>
              <a:gd name="T21" fmla="*/ 111 h 137"/>
              <a:gd name="T22" fmla="*/ 22 w 118"/>
              <a:gd name="T23" fmla="*/ 133 h 137"/>
              <a:gd name="T24" fmla="*/ 15 w 118"/>
              <a:gd name="T25" fmla="*/ 116 h 137"/>
              <a:gd name="T26" fmla="*/ 15 w 118"/>
              <a:gd name="T27" fmla="*/ 69 h 137"/>
              <a:gd name="T28" fmla="*/ 22 w 118"/>
              <a:gd name="T29" fmla="*/ 52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8" h="137">
                <a:moveTo>
                  <a:pt x="86" y="51"/>
                </a:moveTo>
                <a:cubicBezTo>
                  <a:pt x="85" y="49"/>
                  <a:pt x="112" y="24"/>
                  <a:pt x="97" y="5"/>
                </a:cubicBezTo>
                <a:cubicBezTo>
                  <a:pt x="93" y="0"/>
                  <a:pt x="80" y="27"/>
                  <a:pt x="63" y="39"/>
                </a:cubicBezTo>
                <a:cubicBezTo>
                  <a:pt x="53" y="45"/>
                  <a:pt x="30" y="60"/>
                  <a:pt x="30" y="67"/>
                </a:cubicBezTo>
                <a:cubicBezTo>
                  <a:pt x="30" y="118"/>
                  <a:pt x="30" y="118"/>
                  <a:pt x="30" y="118"/>
                </a:cubicBezTo>
                <a:cubicBezTo>
                  <a:pt x="30" y="127"/>
                  <a:pt x="66" y="137"/>
                  <a:pt x="94" y="137"/>
                </a:cubicBezTo>
                <a:cubicBezTo>
                  <a:pt x="104" y="137"/>
                  <a:pt x="118" y="74"/>
                  <a:pt x="118" y="64"/>
                </a:cubicBezTo>
                <a:cubicBezTo>
                  <a:pt x="118" y="54"/>
                  <a:pt x="87" y="54"/>
                  <a:pt x="86" y="51"/>
                </a:cubicBezTo>
                <a:close/>
                <a:moveTo>
                  <a:pt x="22" y="52"/>
                </a:moveTo>
                <a:cubicBezTo>
                  <a:pt x="18" y="52"/>
                  <a:pt x="0" y="55"/>
                  <a:pt x="0" y="75"/>
                </a:cubicBezTo>
                <a:cubicBezTo>
                  <a:pt x="0" y="111"/>
                  <a:pt x="0" y="111"/>
                  <a:pt x="0" y="111"/>
                </a:cubicBezTo>
                <a:cubicBezTo>
                  <a:pt x="0" y="131"/>
                  <a:pt x="18" y="133"/>
                  <a:pt x="22" y="133"/>
                </a:cubicBezTo>
                <a:cubicBezTo>
                  <a:pt x="27" y="133"/>
                  <a:pt x="15" y="129"/>
                  <a:pt x="15" y="116"/>
                </a:cubicBezTo>
                <a:cubicBezTo>
                  <a:pt x="15" y="69"/>
                  <a:pt x="15" y="69"/>
                  <a:pt x="15" y="69"/>
                </a:cubicBezTo>
                <a:cubicBezTo>
                  <a:pt x="15" y="56"/>
                  <a:pt x="27" y="52"/>
                  <a:pt x="22" y="5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16" name="Title 2">
            <a:extLst>
              <a:ext uri="{FF2B5EF4-FFF2-40B4-BE49-F238E27FC236}">
                <a16:creationId xmlns:a16="http://schemas.microsoft.com/office/drawing/2014/main" id="{3C86B2DE-4778-4224-AB7A-69E397D3B409}"/>
              </a:ext>
            </a:extLst>
          </p:cNvPr>
          <p:cNvSpPr>
            <a:spLocks noGrp="1"/>
          </p:cNvSpPr>
          <p:nvPr>
            <p:ph type="title"/>
          </p:nvPr>
        </p:nvSpPr>
        <p:spPr>
          <a:xfrm>
            <a:off x="469902" y="402587"/>
            <a:ext cx="11252200" cy="334102"/>
          </a:xfrm>
        </p:spPr>
        <p:txBody>
          <a:bodyPr/>
          <a:lstStyle/>
          <a:p>
            <a:r>
              <a:rPr lang="en-US" sz="1800" b="1" dirty="0">
                <a:latin typeface="Verdana" panose="020B0604030504040204" pitchFamily="34" charset="0"/>
                <a:ea typeface="Verdana" panose="020B0604030504040204" pitchFamily="34" charset="0"/>
              </a:rPr>
              <a:t>Drivers for procuring RE by C&amp;I consumers (2/2)</a:t>
            </a:r>
            <a:endParaRPr lang="en-US" sz="1800" b="1" dirty="0"/>
          </a:p>
        </p:txBody>
      </p:sp>
    </p:spTree>
    <p:extLst>
      <p:ext uri="{BB962C8B-B14F-4D97-AF65-F5344CB8AC3E}">
        <p14:creationId xmlns:p14="http://schemas.microsoft.com/office/powerpoint/2010/main" val="3211508986"/>
      </p:ext>
    </p:extLst>
  </p:cSld>
  <p:clrMapOvr>
    <a:masterClrMapping/>
  </p:clrMapOvr>
  <p:transition>
    <p:fad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56A5F-4359-419E-8783-5066005B6A11}"/>
              </a:ext>
            </a:extLst>
          </p:cNvPr>
          <p:cNvSpPr>
            <a:spLocks noGrp="1"/>
          </p:cNvSpPr>
          <p:nvPr>
            <p:ph type="title"/>
          </p:nvPr>
        </p:nvSpPr>
        <p:spPr>
          <a:xfrm>
            <a:off x="469902" y="402586"/>
            <a:ext cx="11252200" cy="691591"/>
          </a:xfrm>
        </p:spPr>
        <p:txBody>
          <a:bodyPr/>
          <a:lstStyle/>
          <a:p>
            <a:r>
              <a:rPr lang="en-US" sz="1800" b="1" dirty="0">
                <a:ea typeface="Verdana" panose="020B0604030504040204" pitchFamily="34" charset="0"/>
              </a:rPr>
              <a:t>RE100 -Initiative to Bring together Businesses all around the globe to transition to 100% Renewable Electricity</a:t>
            </a:r>
            <a:endParaRPr lang="en-IN" sz="1800" b="1" dirty="0">
              <a:ea typeface="Verdana" panose="020B0604030504040204" pitchFamily="34" charset="0"/>
            </a:endParaRPr>
          </a:p>
        </p:txBody>
      </p:sp>
      <p:graphicFrame>
        <p:nvGraphicFramePr>
          <p:cNvPr id="5" name="Table 7">
            <a:extLst>
              <a:ext uri="{FF2B5EF4-FFF2-40B4-BE49-F238E27FC236}">
                <a16:creationId xmlns:a16="http://schemas.microsoft.com/office/drawing/2014/main" id="{D2C463EE-E386-4575-85E7-78F16E9CF24E}"/>
              </a:ext>
            </a:extLst>
          </p:cNvPr>
          <p:cNvGraphicFramePr>
            <a:graphicFrameLocks noGrp="1"/>
          </p:cNvGraphicFramePr>
          <p:nvPr/>
        </p:nvGraphicFramePr>
        <p:xfrm>
          <a:off x="7096124" y="1518541"/>
          <a:ext cx="4625976" cy="2860248"/>
        </p:xfrm>
        <a:graphic>
          <a:graphicData uri="http://schemas.openxmlformats.org/drawingml/2006/table">
            <a:tbl>
              <a:tblPr firstRow="1" bandRow="1">
                <a:tableStyleId>{69012ECD-51FC-41F1-AA8D-1B2483CD663E}</a:tableStyleId>
              </a:tblPr>
              <a:tblGrid>
                <a:gridCol w="3343276">
                  <a:extLst>
                    <a:ext uri="{9D8B030D-6E8A-4147-A177-3AD203B41FA5}">
                      <a16:colId xmlns:a16="http://schemas.microsoft.com/office/drawing/2014/main" val="2042966635"/>
                    </a:ext>
                  </a:extLst>
                </a:gridCol>
                <a:gridCol w="1282700">
                  <a:extLst>
                    <a:ext uri="{9D8B030D-6E8A-4147-A177-3AD203B41FA5}">
                      <a16:colId xmlns:a16="http://schemas.microsoft.com/office/drawing/2014/main" val="28411845"/>
                    </a:ext>
                  </a:extLst>
                </a:gridCol>
              </a:tblGrid>
              <a:tr h="754889">
                <a:tc gridSpan="2">
                  <a:txBody>
                    <a:bodyPr/>
                    <a:lstStyle/>
                    <a:p>
                      <a:pPr algn="ctr" rtl="0" fontAlgn="ctr"/>
                      <a:endParaRPr lang="en-IN" sz="1200" b="1" i="0" u="none" strike="noStrike" dirty="0">
                        <a:solidFill>
                          <a:srgbClr val="FFFFFF"/>
                        </a:solidFill>
                        <a:effectLst/>
                        <a:latin typeface="Verdana" panose="020B0604030504040204" pitchFamily="34" charset="0"/>
                      </a:endParaRPr>
                    </a:p>
                    <a:p>
                      <a:pPr algn="ctr" rtl="0" fontAlgn="ctr"/>
                      <a:endParaRPr lang="en-IN" sz="1200" b="1" i="0" u="none" strike="noStrike" dirty="0">
                        <a:solidFill>
                          <a:schemeClr val="tx1"/>
                        </a:solidFill>
                        <a:effectLst/>
                        <a:latin typeface="Verdana" panose="020B0604030504040204" pitchFamily="34" charset="0"/>
                      </a:endParaRPr>
                    </a:p>
                    <a:p>
                      <a:pPr algn="ctr" rtl="0" fontAlgn="ctr"/>
                      <a:r>
                        <a:rPr lang="en-IN" sz="1200" b="1" i="0" u="none" strike="noStrike" dirty="0">
                          <a:solidFill>
                            <a:schemeClr val="tx1"/>
                          </a:solidFill>
                          <a:effectLst/>
                          <a:latin typeface="Verdana" panose="020B0604030504040204" pitchFamily="34" charset="0"/>
                        </a:rPr>
                        <a:t>India RE100 Companies Status</a:t>
                      </a:r>
                    </a:p>
                  </a:txBody>
                  <a:tcPr marL="21600" marR="21600" marT="21600" marB="216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rtl="0" fontAlgn="ctr"/>
                      <a:endParaRPr lang="en-IN" sz="1000" b="1" i="0" u="none" strike="noStrike" dirty="0">
                        <a:solidFill>
                          <a:srgbClr val="FFFFFF"/>
                        </a:solidFill>
                        <a:effectLst/>
                        <a:latin typeface="Verdana" panose="020B0604030504040204" pitchFamily="34" charset="0"/>
                      </a:endParaRPr>
                    </a:p>
                  </a:txBody>
                  <a:tcPr marL="21600" marR="21600" marT="21600" marB="2160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15060310"/>
                  </a:ext>
                </a:extLst>
              </a:tr>
              <a:tr h="286639">
                <a:tc>
                  <a:txBody>
                    <a:bodyPr/>
                    <a:lstStyle/>
                    <a:p>
                      <a:pPr algn="l" rtl="0" fontAlgn="t"/>
                      <a:r>
                        <a:rPr lang="en-IN" sz="1200" b="1" i="0" u="none" strike="noStrike" dirty="0">
                          <a:solidFill>
                            <a:srgbClr val="000000"/>
                          </a:solidFill>
                          <a:effectLst/>
                          <a:latin typeface="+mn-lt"/>
                        </a:rPr>
                        <a:t>No. of RE100 companies headquartered in India</a:t>
                      </a:r>
                    </a:p>
                  </a:txBody>
                  <a:tcPr marL="21600" marR="21600" marT="21600" marB="2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tc>
                  <a:txBody>
                    <a:bodyPr/>
                    <a:lstStyle/>
                    <a:p>
                      <a:pPr algn="ctr" rtl="0" fontAlgn="t"/>
                      <a:r>
                        <a:rPr lang="en-IN" sz="1200" b="0" i="0" u="none" strike="noStrike" dirty="0">
                          <a:solidFill>
                            <a:srgbClr val="000000"/>
                          </a:solidFill>
                          <a:effectLst/>
                          <a:latin typeface="Verdana" panose="020B0604030504040204" pitchFamily="34" charset="0"/>
                        </a:rPr>
                        <a:t>4</a:t>
                      </a:r>
                    </a:p>
                  </a:txBody>
                  <a:tcPr marL="21600" marR="21600" marT="21600" marB="2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extLst>
                  <a:ext uri="{0D108BD9-81ED-4DB2-BD59-A6C34878D82A}">
                    <a16:rowId xmlns:a16="http://schemas.microsoft.com/office/drawing/2014/main" val="1400417218"/>
                  </a:ext>
                </a:extLst>
              </a:tr>
              <a:tr h="286639">
                <a:tc>
                  <a:txBody>
                    <a:bodyPr/>
                    <a:lstStyle/>
                    <a:p>
                      <a:pPr algn="l" rtl="0" fontAlgn="t"/>
                      <a:r>
                        <a:rPr lang="en-IN" sz="1200" b="1" i="0" u="none" strike="noStrike" dirty="0">
                          <a:solidFill>
                            <a:srgbClr val="000000"/>
                          </a:solidFill>
                          <a:effectLst/>
                          <a:latin typeface="+mn-lt"/>
                        </a:rPr>
                        <a:t>Electricity Consumption (MWh)</a:t>
                      </a:r>
                    </a:p>
                  </a:txBody>
                  <a:tcPr marL="21600" marR="21600" marT="21600" marB="2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tc>
                  <a:txBody>
                    <a:bodyPr/>
                    <a:lstStyle/>
                    <a:p>
                      <a:pPr algn="ctr" rtl="0" fontAlgn="t"/>
                      <a:r>
                        <a:rPr lang="en-IN" sz="1200" b="0" i="0" u="none" strike="noStrike" dirty="0">
                          <a:solidFill>
                            <a:srgbClr val="000000"/>
                          </a:solidFill>
                          <a:effectLst/>
                          <a:latin typeface="Verdana" panose="020B0604030504040204" pitchFamily="34" charset="0"/>
                        </a:rPr>
                        <a:t>2,057,658</a:t>
                      </a:r>
                    </a:p>
                  </a:txBody>
                  <a:tcPr marL="21600" marR="21600" marT="21600" marB="2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extLst>
                  <a:ext uri="{0D108BD9-81ED-4DB2-BD59-A6C34878D82A}">
                    <a16:rowId xmlns:a16="http://schemas.microsoft.com/office/drawing/2014/main" val="2835160068"/>
                  </a:ext>
                </a:extLst>
              </a:tr>
              <a:tr h="286639">
                <a:tc>
                  <a:txBody>
                    <a:bodyPr/>
                    <a:lstStyle/>
                    <a:p>
                      <a:pPr algn="l" rtl="0" fontAlgn="t"/>
                      <a:r>
                        <a:rPr lang="en-IN" sz="1200" b="1" i="0" u="none" strike="noStrike" dirty="0">
                          <a:solidFill>
                            <a:srgbClr val="000000"/>
                          </a:solidFill>
                          <a:effectLst/>
                          <a:latin typeface="+mn-lt"/>
                        </a:rPr>
                        <a:t>Total Renewable Electricity Consumption (MWh)</a:t>
                      </a:r>
                    </a:p>
                  </a:txBody>
                  <a:tcPr marL="21600" marR="21600" marT="21600" marB="2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tc>
                  <a:txBody>
                    <a:bodyPr/>
                    <a:lstStyle/>
                    <a:p>
                      <a:pPr algn="ctr" rtl="0" fontAlgn="t"/>
                      <a:r>
                        <a:rPr lang="en-IN" sz="1200" b="0" i="0" u="none" strike="noStrike" dirty="0">
                          <a:solidFill>
                            <a:srgbClr val="000000"/>
                          </a:solidFill>
                          <a:effectLst/>
                          <a:latin typeface="Verdana" panose="020B0604030504040204" pitchFamily="34" charset="0"/>
                        </a:rPr>
                        <a:t>805,255</a:t>
                      </a:r>
                    </a:p>
                  </a:txBody>
                  <a:tcPr marL="21600" marR="21600" marT="21600" marB="2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extLst>
                  <a:ext uri="{0D108BD9-81ED-4DB2-BD59-A6C34878D82A}">
                    <a16:rowId xmlns:a16="http://schemas.microsoft.com/office/drawing/2014/main" val="1224567405"/>
                  </a:ext>
                </a:extLst>
              </a:tr>
              <a:tr h="286639">
                <a:tc>
                  <a:txBody>
                    <a:bodyPr/>
                    <a:lstStyle/>
                    <a:p>
                      <a:pPr algn="l" rtl="0" fontAlgn="t"/>
                      <a:r>
                        <a:rPr lang="en-IN" sz="1200" b="1" i="0" u="none" strike="noStrike" dirty="0">
                          <a:solidFill>
                            <a:srgbClr val="000000"/>
                          </a:solidFill>
                          <a:effectLst/>
                          <a:latin typeface="+mn-lt"/>
                        </a:rPr>
                        <a:t>Percentage share of renewable electricity among RE100 members in the market</a:t>
                      </a:r>
                    </a:p>
                  </a:txBody>
                  <a:tcPr marL="21600" marR="21600" marT="21600" marB="2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tc>
                  <a:txBody>
                    <a:bodyPr/>
                    <a:lstStyle/>
                    <a:p>
                      <a:pPr algn="ctr" rtl="0" fontAlgn="t"/>
                      <a:r>
                        <a:rPr lang="en-IN" sz="1200" b="0" i="0" u="none" strike="noStrike" dirty="0">
                          <a:solidFill>
                            <a:srgbClr val="000000"/>
                          </a:solidFill>
                          <a:effectLst/>
                          <a:latin typeface="Verdana" panose="020B0604030504040204" pitchFamily="34" charset="0"/>
                        </a:rPr>
                        <a:t>39%</a:t>
                      </a:r>
                    </a:p>
                  </a:txBody>
                  <a:tcPr marL="21600" marR="21600" marT="21600" marB="2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extLst>
                  <a:ext uri="{0D108BD9-81ED-4DB2-BD59-A6C34878D82A}">
                    <a16:rowId xmlns:a16="http://schemas.microsoft.com/office/drawing/2014/main" val="1615832818"/>
                  </a:ext>
                </a:extLst>
              </a:tr>
              <a:tr h="286639">
                <a:tc>
                  <a:txBody>
                    <a:bodyPr/>
                    <a:lstStyle/>
                    <a:p>
                      <a:pPr algn="l" rtl="0" fontAlgn="t"/>
                      <a:r>
                        <a:rPr lang="en-IN" sz="1200" b="1" i="0" u="none" strike="noStrike" dirty="0">
                          <a:solidFill>
                            <a:srgbClr val="000000"/>
                          </a:solidFill>
                          <a:effectLst/>
                          <a:latin typeface="+mn-lt"/>
                        </a:rPr>
                        <a:t>Existing Energy Attribute Certificates</a:t>
                      </a:r>
                    </a:p>
                  </a:txBody>
                  <a:tcPr marL="21600" marR="21600" marT="21600" marB="2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tc>
                  <a:txBody>
                    <a:bodyPr/>
                    <a:lstStyle/>
                    <a:p>
                      <a:pPr algn="ctr" rtl="0" fontAlgn="t"/>
                      <a:r>
                        <a:rPr lang="en-IN" sz="1200" b="0" i="0" u="none" strike="noStrike" dirty="0">
                          <a:solidFill>
                            <a:srgbClr val="000000"/>
                          </a:solidFill>
                          <a:effectLst/>
                          <a:latin typeface="Verdana" panose="020B0604030504040204" pitchFamily="34" charset="0"/>
                        </a:rPr>
                        <a:t>Indian RECs, I-RECs</a:t>
                      </a:r>
                    </a:p>
                  </a:txBody>
                  <a:tcPr marL="21600" marR="21600" marT="21600" marB="2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extLst>
                  <a:ext uri="{0D108BD9-81ED-4DB2-BD59-A6C34878D82A}">
                    <a16:rowId xmlns:a16="http://schemas.microsoft.com/office/drawing/2014/main" val="2093254123"/>
                  </a:ext>
                </a:extLst>
              </a:tr>
            </a:tbl>
          </a:graphicData>
        </a:graphic>
      </p:graphicFrame>
      <p:pic>
        <p:nvPicPr>
          <p:cNvPr id="6" name="Picture 4" descr="indian flag, india flag, ashok chakra, august 15, january 26, independence  day, india independence … | Indian flag wallpaper, Indian flag colors, Indian  flag photos">
            <a:extLst>
              <a:ext uri="{FF2B5EF4-FFF2-40B4-BE49-F238E27FC236}">
                <a16:creationId xmlns:a16="http://schemas.microsoft.com/office/drawing/2014/main" id="{DF4CA446-DC2A-4E48-9925-E78DD43DD90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23362" y="1468080"/>
            <a:ext cx="571499" cy="52416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8894EF80-D57F-47BF-84D1-FF4F4B7C6ADD}"/>
              </a:ext>
            </a:extLst>
          </p:cNvPr>
          <p:cNvSpPr/>
          <p:nvPr/>
        </p:nvSpPr>
        <p:spPr bwMode="gray">
          <a:xfrm>
            <a:off x="469901" y="5822715"/>
            <a:ext cx="11252200" cy="404906"/>
          </a:xfrm>
          <a:prstGeom prst="rect">
            <a:avLst/>
          </a:prstGeom>
          <a:noFill/>
          <a:ln w="19050" algn="ctr">
            <a:solidFill>
              <a:schemeClr val="accent3"/>
            </a:solidFill>
            <a:prstDash val="dash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With the C&amp;I segment being the major consumers of electricity, the onus is on them to drive the decarbonization of the power sector</a:t>
            </a:r>
          </a:p>
        </p:txBody>
      </p:sp>
      <p:grpSp>
        <p:nvGrpSpPr>
          <p:cNvPr id="8" name="Group 7">
            <a:extLst>
              <a:ext uri="{FF2B5EF4-FFF2-40B4-BE49-F238E27FC236}">
                <a16:creationId xmlns:a16="http://schemas.microsoft.com/office/drawing/2014/main" id="{1AD222AA-9607-4A95-97F4-DA3BF85DFF81}"/>
              </a:ext>
            </a:extLst>
          </p:cNvPr>
          <p:cNvGrpSpPr/>
          <p:nvPr/>
        </p:nvGrpSpPr>
        <p:grpSpPr>
          <a:xfrm>
            <a:off x="7058355" y="4720997"/>
            <a:ext cx="4625975" cy="844748"/>
            <a:chOff x="7096124" y="4702631"/>
            <a:chExt cx="4625975" cy="844748"/>
          </a:xfrm>
        </p:grpSpPr>
        <p:pic>
          <p:nvPicPr>
            <p:cNvPr id="9" name="Picture 6" descr="Infosys - Media Resources | Infosys Logo | Campus">
              <a:extLst>
                <a:ext uri="{FF2B5EF4-FFF2-40B4-BE49-F238E27FC236}">
                  <a16:creationId xmlns:a16="http://schemas.microsoft.com/office/drawing/2014/main" id="{FB22EC96-0603-4FDB-932B-BDAC60CB7F4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96124" y="4871850"/>
              <a:ext cx="1000125" cy="50813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Club Mahindra Logo Vector (.EPS) Free Download">
              <a:extLst>
                <a:ext uri="{FF2B5EF4-FFF2-40B4-BE49-F238E27FC236}">
                  <a16:creationId xmlns:a16="http://schemas.microsoft.com/office/drawing/2014/main" id="{D7EA7806-5FC1-4DE0-B1CE-8578C041DC3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71218" y="4818690"/>
              <a:ext cx="1000125" cy="61674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2" descr="Dalmia Cements commences operation of Midnapore unit. | News On Project">
              <a:extLst>
                <a:ext uri="{FF2B5EF4-FFF2-40B4-BE49-F238E27FC236}">
                  <a16:creationId xmlns:a16="http://schemas.microsoft.com/office/drawing/2014/main" id="{91643802-B118-4C50-B7FF-2779253FC24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409111" y="4966255"/>
              <a:ext cx="1000125" cy="3175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4" descr="Tata Logo, HD Png, Meaning, Information">
              <a:extLst>
                <a:ext uri="{FF2B5EF4-FFF2-40B4-BE49-F238E27FC236}">
                  <a16:creationId xmlns:a16="http://schemas.microsoft.com/office/drawing/2014/main" id="{3211BF3B-C9F8-4F5D-80FD-6A5279F2913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220325" y="4702631"/>
              <a:ext cx="1501774" cy="84474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2">
            <a:extLst>
              <a:ext uri="{FF2B5EF4-FFF2-40B4-BE49-F238E27FC236}">
                <a16:creationId xmlns:a16="http://schemas.microsoft.com/office/drawing/2014/main" id="{0AE1C97B-89EF-485A-91EE-6145D2D45FDE}"/>
              </a:ext>
            </a:extLst>
          </p:cNvPr>
          <p:cNvGrpSpPr/>
          <p:nvPr/>
        </p:nvGrpSpPr>
        <p:grpSpPr>
          <a:xfrm>
            <a:off x="466869" y="1518541"/>
            <a:ext cx="6356921" cy="4070580"/>
            <a:chOff x="466869" y="1518541"/>
            <a:chExt cx="6356921" cy="4070580"/>
          </a:xfrm>
        </p:grpSpPr>
        <p:sp>
          <p:nvSpPr>
            <p:cNvPr id="14" name="Rectangle 13">
              <a:extLst>
                <a:ext uri="{FF2B5EF4-FFF2-40B4-BE49-F238E27FC236}">
                  <a16:creationId xmlns:a16="http://schemas.microsoft.com/office/drawing/2014/main" id="{95AC9078-4D21-431C-9462-FE9ABF44D3CB}"/>
                </a:ext>
              </a:extLst>
            </p:cNvPr>
            <p:cNvSpPr/>
            <p:nvPr/>
          </p:nvSpPr>
          <p:spPr bwMode="gray">
            <a:xfrm>
              <a:off x="1002760" y="1518541"/>
              <a:ext cx="5821030" cy="757255"/>
            </a:xfrm>
            <a:prstGeom prst="rect">
              <a:avLst/>
            </a:prstGeom>
            <a:ln w="12700">
              <a:solidFill>
                <a:srgbClr val="C4D600"/>
              </a:solidFill>
              <a:headEnd/>
              <a:tailEnd/>
            </a:ln>
            <a:effectLst>
              <a:outerShdw blurRad="50800" dist="38100" dir="5400000" algn="t"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lIns="88900" tIns="88900" rIns="88900" bIns="88900" rtlCol="0" anchor="ctr"/>
            <a:lstStyle/>
            <a:p>
              <a:pPr marL="0" marR="0" lvl="0" indent="0" algn="just" defTabSz="914400" rtl="0" eaLnBrk="1" fontAlgn="auto" latinLnBrk="0" hangingPunct="1">
                <a:lnSpc>
                  <a:spcPct val="100000"/>
                </a:lnSpc>
                <a:spcBef>
                  <a:spcPts val="0"/>
                </a:spcBef>
                <a:spcAft>
                  <a:spcPts val="600"/>
                </a:spcAft>
                <a:buClrTx/>
                <a:buSzPct val="100000"/>
                <a:buFontTx/>
                <a:buNone/>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RE100 is a global initiative urging and bringing together businesses around the globe to transition to 100% RE </a:t>
              </a:r>
              <a:endParaRPr kumimoji="0" lang="en-US" sz="11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endParaRPr>
            </a:p>
          </p:txBody>
        </p:sp>
        <p:sp>
          <p:nvSpPr>
            <p:cNvPr id="15" name="Rectangle 14">
              <a:extLst>
                <a:ext uri="{FF2B5EF4-FFF2-40B4-BE49-F238E27FC236}">
                  <a16:creationId xmlns:a16="http://schemas.microsoft.com/office/drawing/2014/main" id="{38146D1E-D056-4BFA-AE36-F9DC67976A79}"/>
                </a:ext>
              </a:extLst>
            </p:cNvPr>
            <p:cNvSpPr/>
            <p:nvPr/>
          </p:nvSpPr>
          <p:spPr bwMode="gray">
            <a:xfrm>
              <a:off x="1002760" y="2547392"/>
              <a:ext cx="5821030" cy="977520"/>
            </a:xfrm>
            <a:prstGeom prst="rect">
              <a:avLst/>
            </a:prstGeom>
            <a:ln w="12700">
              <a:solidFill>
                <a:srgbClr val="C4D600"/>
              </a:solidFill>
              <a:headEnd/>
              <a:tailEnd/>
            </a:ln>
            <a:effectLst>
              <a:outerShdw blurRad="50800" dist="38100" dir="5400000" algn="t"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lIns="88900" tIns="88900" rIns="88900" bIns="88900" rtlCol="0" anchor="ctr"/>
            <a:lstStyle/>
            <a:p>
              <a:pPr marL="0" marR="0" lvl="0" indent="0" algn="just" defTabSz="914400" rtl="0" eaLnBrk="1" fontAlgn="auto" latinLnBrk="0" hangingPunct="1">
                <a:lnSpc>
                  <a:spcPct val="100000"/>
                </a:lnSpc>
                <a:spcBef>
                  <a:spcPts val="0"/>
                </a:spcBef>
                <a:spcAft>
                  <a:spcPts val="600"/>
                </a:spcAft>
                <a:buClrTx/>
                <a:buSzPct val="100000"/>
                <a:buFontTx/>
                <a:buNone/>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India in the Paris Climate Agreement committed to </a:t>
              </a: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an </a:t>
              </a: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“Intended Nationally Determined Contributions” (INDC)</a:t>
              </a:r>
              <a:r>
                <a:rPr kumimoji="0" lang="en-US" sz="11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 </a:t>
              </a: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target of achieving </a:t>
              </a: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40% </a:t>
              </a: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of its total electricity generation from </a:t>
              </a: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non-fossil fuel </a:t>
              </a: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sources by </a:t>
              </a: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2030 </a:t>
              </a:r>
              <a:endParaRPr kumimoji="0" lang="en-US" sz="11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endParaRPr>
            </a:p>
          </p:txBody>
        </p:sp>
        <p:sp>
          <p:nvSpPr>
            <p:cNvPr id="16" name="Rectangle 15">
              <a:extLst>
                <a:ext uri="{FF2B5EF4-FFF2-40B4-BE49-F238E27FC236}">
                  <a16:creationId xmlns:a16="http://schemas.microsoft.com/office/drawing/2014/main" id="{C1EDFB08-3580-4916-828E-B1ABA71147C6}"/>
                </a:ext>
              </a:extLst>
            </p:cNvPr>
            <p:cNvSpPr/>
            <p:nvPr/>
          </p:nvSpPr>
          <p:spPr bwMode="gray">
            <a:xfrm>
              <a:off x="1002760" y="3791746"/>
              <a:ext cx="5821030" cy="977520"/>
            </a:xfrm>
            <a:prstGeom prst="rect">
              <a:avLst/>
            </a:prstGeom>
            <a:ln w="12700">
              <a:solidFill>
                <a:srgbClr val="C4D600"/>
              </a:solidFill>
              <a:headEnd/>
              <a:tailEnd/>
            </a:ln>
            <a:effectLst>
              <a:outerShdw blurRad="50800" dist="38100" dir="5400000" algn="t"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lIns="88900" tIns="88900" rIns="88900" bIns="88900" rtlCol="0" anchor="ctr"/>
            <a:lstStyle/>
            <a:p>
              <a:pPr marL="0" marR="0" lvl="0" indent="0" algn="just" defTabSz="914400" rtl="0" eaLnBrk="1" fontAlgn="auto" latinLnBrk="0" hangingPunct="1">
                <a:lnSpc>
                  <a:spcPct val="100000"/>
                </a:lnSpc>
                <a:spcBef>
                  <a:spcPts val="0"/>
                </a:spcBef>
                <a:spcAft>
                  <a:spcPts val="600"/>
                </a:spcAft>
                <a:buClrTx/>
                <a:buSzPct val="100000"/>
                <a:buFontTx/>
                <a:buNone/>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Corporate Electricity majorly the industrial and commercial sector demand accounts for about </a:t>
              </a:r>
              <a:r>
                <a:rPr kumimoji="0" lang="en-US" sz="11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50% </a:t>
              </a: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of total electricity consumption  in India and globally.  </a:t>
              </a:r>
              <a:endParaRPr kumimoji="0" lang="en-US" sz="11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endParaRPr>
            </a:p>
          </p:txBody>
        </p:sp>
        <p:sp>
          <p:nvSpPr>
            <p:cNvPr id="17" name="Rectangle 16">
              <a:extLst>
                <a:ext uri="{FF2B5EF4-FFF2-40B4-BE49-F238E27FC236}">
                  <a16:creationId xmlns:a16="http://schemas.microsoft.com/office/drawing/2014/main" id="{35A8B189-39C4-4D68-8225-B683C9952FAD}"/>
                </a:ext>
              </a:extLst>
            </p:cNvPr>
            <p:cNvSpPr/>
            <p:nvPr/>
          </p:nvSpPr>
          <p:spPr bwMode="gray">
            <a:xfrm>
              <a:off x="1002760" y="5007550"/>
              <a:ext cx="5821030" cy="581571"/>
            </a:xfrm>
            <a:prstGeom prst="rect">
              <a:avLst/>
            </a:prstGeom>
            <a:ln w="12700">
              <a:solidFill>
                <a:srgbClr val="C4D600"/>
              </a:solidFill>
              <a:headEnd/>
              <a:tailEnd/>
            </a:ln>
            <a:effectLst>
              <a:outerShdw blurRad="50800" dist="38100" dir="5400000" algn="t"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lIns="88900" tIns="88900" rIns="88900" bIns="88900" rtlCol="0" anchor="ctr"/>
            <a:lstStyle/>
            <a:p>
              <a:pPr marL="0" marR="0" lvl="0" indent="0" algn="just" defTabSz="914400" rtl="0" eaLnBrk="1" fontAlgn="auto" latinLnBrk="0" hangingPunct="1">
                <a:lnSpc>
                  <a:spcPct val="100000"/>
                </a:lnSpc>
                <a:spcBef>
                  <a:spcPts val="0"/>
                </a:spcBef>
                <a:spcAft>
                  <a:spcPts val="600"/>
                </a:spcAft>
                <a:buClrTx/>
                <a:buSzPct val="100000"/>
                <a:buFontTx/>
                <a:buNone/>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In 2019,  </a:t>
              </a: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RE100 grew </a:t>
              </a: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over by a third and </a:t>
              </a: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50 Indian companies </a:t>
              </a: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reported </a:t>
              </a: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GHG emission reduction targets</a:t>
              </a:r>
              <a:endPar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endParaRPr>
            </a:p>
          </p:txBody>
        </p:sp>
        <p:sp>
          <p:nvSpPr>
            <p:cNvPr id="18" name="Freeform 496">
              <a:extLst>
                <a:ext uri="{FF2B5EF4-FFF2-40B4-BE49-F238E27FC236}">
                  <a16:creationId xmlns:a16="http://schemas.microsoft.com/office/drawing/2014/main" id="{55064C8F-686D-407D-81F8-EA44B57E09D4}"/>
                </a:ext>
              </a:extLst>
            </p:cNvPr>
            <p:cNvSpPr>
              <a:spLocks noChangeAspect="1" noEditPoints="1"/>
            </p:cNvSpPr>
            <p:nvPr/>
          </p:nvSpPr>
          <p:spPr bwMode="auto">
            <a:xfrm>
              <a:off x="473614" y="2852092"/>
              <a:ext cx="367041" cy="368120"/>
            </a:xfrm>
            <a:custGeom>
              <a:avLst/>
              <a:gdLst>
                <a:gd name="T0" fmla="*/ 254 w 512"/>
                <a:gd name="T1" fmla="*/ 191 h 512"/>
                <a:gd name="T2" fmla="*/ 195 w 512"/>
                <a:gd name="T3" fmla="*/ 206 h 512"/>
                <a:gd name="T4" fmla="*/ 165 w 512"/>
                <a:gd name="T5" fmla="*/ 258 h 512"/>
                <a:gd name="T6" fmla="*/ 187 w 512"/>
                <a:gd name="T7" fmla="*/ 316 h 512"/>
                <a:gd name="T8" fmla="*/ 299 w 512"/>
                <a:gd name="T9" fmla="*/ 313 h 512"/>
                <a:gd name="T10" fmla="*/ 349 w 512"/>
                <a:gd name="T11" fmla="*/ 165 h 512"/>
                <a:gd name="T12" fmla="*/ 254 w 512"/>
                <a:gd name="T13" fmla="*/ 191 h 512"/>
                <a:gd name="T14" fmla="*/ 291 w 512"/>
                <a:gd name="T15" fmla="*/ 237 h 512"/>
                <a:gd name="T16" fmla="*/ 216 w 512"/>
                <a:gd name="T17" fmla="*/ 298 h 512"/>
                <a:gd name="T18" fmla="*/ 206 w 512"/>
                <a:gd name="T19" fmla="*/ 305 h 512"/>
                <a:gd name="T20" fmla="*/ 202 w 512"/>
                <a:gd name="T21" fmla="*/ 304 h 512"/>
                <a:gd name="T22" fmla="*/ 196 w 512"/>
                <a:gd name="T23" fmla="*/ 291 h 512"/>
                <a:gd name="T24" fmla="*/ 288 w 512"/>
                <a:gd name="T25" fmla="*/ 216 h 512"/>
                <a:gd name="T26" fmla="*/ 300 w 512"/>
                <a:gd name="T27" fmla="*/ 225 h 512"/>
                <a:gd name="T28" fmla="*/ 291 w 512"/>
                <a:gd name="T29" fmla="*/ 237 h 512"/>
                <a:gd name="T30" fmla="*/ 256 w 512"/>
                <a:gd name="T31" fmla="*/ 0 h 512"/>
                <a:gd name="T32" fmla="*/ 0 w 512"/>
                <a:gd name="T33" fmla="*/ 256 h 512"/>
                <a:gd name="T34" fmla="*/ 256 w 512"/>
                <a:gd name="T35" fmla="*/ 512 h 512"/>
                <a:gd name="T36" fmla="*/ 512 w 512"/>
                <a:gd name="T37" fmla="*/ 256 h 512"/>
                <a:gd name="T38" fmla="*/ 256 w 512"/>
                <a:gd name="T39" fmla="*/ 0 h 512"/>
                <a:gd name="T40" fmla="*/ 314 w 512"/>
                <a:gd name="T41" fmla="*/ 328 h 512"/>
                <a:gd name="T42" fmla="*/ 240 w 512"/>
                <a:gd name="T43" fmla="*/ 360 h 512"/>
                <a:gd name="T44" fmla="*/ 179 w 512"/>
                <a:gd name="T45" fmla="*/ 338 h 512"/>
                <a:gd name="T46" fmla="*/ 161 w 512"/>
                <a:gd name="T47" fmla="*/ 365 h 512"/>
                <a:gd name="T48" fmla="*/ 151 w 512"/>
                <a:gd name="T49" fmla="*/ 376 h 512"/>
                <a:gd name="T50" fmla="*/ 151 w 512"/>
                <a:gd name="T51" fmla="*/ 376 h 512"/>
                <a:gd name="T52" fmla="*/ 140 w 512"/>
                <a:gd name="T53" fmla="*/ 365 h 512"/>
                <a:gd name="T54" fmla="*/ 164 w 512"/>
                <a:gd name="T55" fmla="*/ 323 h 512"/>
                <a:gd name="T56" fmla="*/ 144 w 512"/>
                <a:gd name="T57" fmla="*/ 256 h 512"/>
                <a:gd name="T58" fmla="*/ 182 w 512"/>
                <a:gd name="T59" fmla="*/ 189 h 512"/>
                <a:gd name="T60" fmla="*/ 253 w 512"/>
                <a:gd name="T61" fmla="*/ 170 h 512"/>
                <a:gd name="T62" fmla="*/ 350 w 512"/>
                <a:gd name="T63" fmla="*/ 138 h 512"/>
                <a:gd name="T64" fmla="*/ 361 w 512"/>
                <a:gd name="T65" fmla="*/ 136 h 512"/>
                <a:gd name="T66" fmla="*/ 367 w 512"/>
                <a:gd name="T67" fmla="*/ 144 h 512"/>
                <a:gd name="T68" fmla="*/ 314 w 512"/>
                <a:gd name="T69" fmla="*/ 32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2" h="512">
                  <a:moveTo>
                    <a:pt x="254" y="191"/>
                  </a:moveTo>
                  <a:cubicBezTo>
                    <a:pt x="231" y="192"/>
                    <a:pt x="214" y="193"/>
                    <a:pt x="195" y="206"/>
                  </a:cubicBezTo>
                  <a:cubicBezTo>
                    <a:pt x="178" y="218"/>
                    <a:pt x="167" y="237"/>
                    <a:pt x="165" y="258"/>
                  </a:cubicBezTo>
                  <a:cubicBezTo>
                    <a:pt x="164" y="280"/>
                    <a:pt x="171" y="301"/>
                    <a:pt x="187" y="316"/>
                  </a:cubicBezTo>
                  <a:cubicBezTo>
                    <a:pt x="218" y="348"/>
                    <a:pt x="266" y="346"/>
                    <a:pt x="299" y="313"/>
                  </a:cubicBezTo>
                  <a:cubicBezTo>
                    <a:pt x="330" y="283"/>
                    <a:pt x="355" y="224"/>
                    <a:pt x="349" y="165"/>
                  </a:cubicBezTo>
                  <a:cubicBezTo>
                    <a:pt x="311" y="189"/>
                    <a:pt x="281" y="191"/>
                    <a:pt x="254" y="191"/>
                  </a:cubicBezTo>
                  <a:close/>
                  <a:moveTo>
                    <a:pt x="291" y="237"/>
                  </a:moveTo>
                  <a:cubicBezTo>
                    <a:pt x="237" y="247"/>
                    <a:pt x="216" y="298"/>
                    <a:pt x="216" y="298"/>
                  </a:cubicBezTo>
                  <a:cubicBezTo>
                    <a:pt x="215" y="303"/>
                    <a:pt x="211" y="305"/>
                    <a:pt x="206" y="305"/>
                  </a:cubicBezTo>
                  <a:cubicBezTo>
                    <a:pt x="205" y="305"/>
                    <a:pt x="204" y="305"/>
                    <a:pt x="202" y="304"/>
                  </a:cubicBezTo>
                  <a:cubicBezTo>
                    <a:pt x="197" y="302"/>
                    <a:pt x="194" y="296"/>
                    <a:pt x="196" y="291"/>
                  </a:cubicBezTo>
                  <a:cubicBezTo>
                    <a:pt x="197" y="288"/>
                    <a:pt x="221" y="228"/>
                    <a:pt x="288" y="216"/>
                  </a:cubicBezTo>
                  <a:cubicBezTo>
                    <a:pt x="294" y="215"/>
                    <a:pt x="299" y="219"/>
                    <a:pt x="300" y="225"/>
                  </a:cubicBezTo>
                  <a:cubicBezTo>
                    <a:pt x="301" y="230"/>
                    <a:pt x="297" y="236"/>
                    <a:pt x="291" y="237"/>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14" y="328"/>
                  </a:moveTo>
                  <a:cubicBezTo>
                    <a:pt x="293" y="349"/>
                    <a:pt x="267" y="360"/>
                    <a:pt x="240" y="360"/>
                  </a:cubicBezTo>
                  <a:cubicBezTo>
                    <a:pt x="218" y="360"/>
                    <a:pt x="197" y="353"/>
                    <a:pt x="179" y="338"/>
                  </a:cubicBezTo>
                  <a:cubicBezTo>
                    <a:pt x="162" y="353"/>
                    <a:pt x="162" y="365"/>
                    <a:pt x="161" y="365"/>
                  </a:cubicBezTo>
                  <a:cubicBezTo>
                    <a:pt x="161" y="371"/>
                    <a:pt x="157" y="376"/>
                    <a:pt x="151" y="376"/>
                  </a:cubicBezTo>
                  <a:cubicBezTo>
                    <a:pt x="151" y="376"/>
                    <a:pt x="151" y="376"/>
                    <a:pt x="151" y="376"/>
                  </a:cubicBezTo>
                  <a:cubicBezTo>
                    <a:pt x="145" y="376"/>
                    <a:pt x="140" y="371"/>
                    <a:pt x="140" y="365"/>
                  </a:cubicBezTo>
                  <a:cubicBezTo>
                    <a:pt x="140" y="363"/>
                    <a:pt x="141" y="344"/>
                    <a:pt x="164" y="323"/>
                  </a:cubicBezTo>
                  <a:cubicBezTo>
                    <a:pt x="149" y="304"/>
                    <a:pt x="142" y="280"/>
                    <a:pt x="144" y="256"/>
                  </a:cubicBezTo>
                  <a:cubicBezTo>
                    <a:pt x="146" y="229"/>
                    <a:pt x="160" y="204"/>
                    <a:pt x="182" y="189"/>
                  </a:cubicBezTo>
                  <a:cubicBezTo>
                    <a:pt x="207" y="172"/>
                    <a:pt x="230" y="171"/>
                    <a:pt x="253" y="170"/>
                  </a:cubicBezTo>
                  <a:cubicBezTo>
                    <a:pt x="281" y="169"/>
                    <a:pt x="311" y="168"/>
                    <a:pt x="350" y="138"/>
                  </a:cubicBezTo>
                  <a:cubicBezTo>
                    <a:pt x="353" y="135"/>
                    <a:pt x="357" y="135"/>
                    <a:pt x="361" y="136"/>
                  </a:cubicBezTo>
                  <a:cubicBezTo>
                    <a:pt x="364" y="137"/>
                    <a:pt x="366" y="140"/>
                    <a:pt x="367" y="144"/>
                  </a:cubicBezTo>
                  <a:cubicBezTo>
                    <a:pt x="382" y="215"/>
                    <a:pt x="352" y="291"/>
                    <a:pt x="314" y="328"/>
                  </a:cubicBezTo>
                  <a:close/>
                </a:path>
              </a:pathLst>
            </a:custGeom>
            <a:solidFill>
              <a:srgbClr val="549E3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endParaRPr>
            </a:p>
          </p:txBody>
        </p:sp>
        <p:sp>
          <p:nvSpPr>
            <p:cNvPr id="19" name="Freeform 324">
              <a:extLst>
                <a:ext uri="{FF2B5EF4-FFF2-40B4-BE49-F238E27FC236}">
                  <a16:creationId xmlns:a16="http://schemas.microsoft.com/office/drawing/2014/main" id="{5E697CC5-E381-4DD6-ADEE-6833095FA489}"/>
                </a:ext>
              </a:extLst>
            </p:cNvPr>
            <p:cNvSpPr>
              <a:spLocks noChangeAspect="1" noEditPoints="1"/>
            </p:cNvSpPr>
            <p:nvPr/>
          </p:nvSpPr>
          <p:spPr bwMode="auto">
            <a:xfrm>
              <a:off x="472535" y="1713108"/>
              <a:ext cx="368120" cy="368120"/>
            </a:xfrm>
            <a:custGeom>
              <a:avLst/>
              <a:gdLst>
                <a:gd name="T0" fmla="*/ 264 w 512"/>
                <a:gd name="T1" fmla="*/ 120 h 512"/>
                <a:gd name="T2" fmla="*/ 343 w 512"/>
                <a:gd name="T3" fmla="*/ 151 h 512"/>
                <a:gd name="T4" fmla="*/ 341 w 512"/>
                <a:gd name="T5" fmla="*/ 156 h 512"/>
                <a:gd name="T6" fmla="*/ 331 w 512"/>
                <a:gd name="T7" fmla="*/ 161 h 512"/>
                <a:gd name="T8" fmla="*/ 326 w 512"/>
                <a:gd name="T9" fmla="*/ 167 h 512"/>
                <a:gd name="T10" fmla="*/ 291 w 512"/>
                <a:gd name="T11" fmla="*/ 256 h 512"/>
                <a:gd name="T12" fmla="*/ 294 w 512"/>
                <a:gd name="T13" fmla="*/ 268 h 512"/>
                <a:gd name="T14" fmla="*/ 315 w 512"/>
                <a:gd name="T15" fmla="*/ 285 h 512"/>
                <a:gd name="T16" fmla="*/ 306 w 512"/>
                <a:gd name="T17" fmla="*/ 308 h 512"/>
                <a:gd name="T18" fmla="*/ 186 w 512"/>
                <a:gd name="T19" fmla="*/ 262 h 512"/>
                <a:gd name="T20" fmla="*/ 195 w 512"/>
                <a:gd name="T21" fmla="*/ 239 h 512"/>
                <a:gd name="T22" fmla="*/ 221 w 512"/>
                <a:gd name="T23" fmla="*/ 240 h 512"/>
                <a:gd name="T24" fmla="*/ 232 w 512"/>
                <a:gd name="T25" fmla="*/ 233 h 512"/>
                <a:gd name="T26" fmla="*/ 266 w 512"/>
                <a:gd name="T27" fmla="*/ 144 h 512"/>
                <a:gd name="T28" fmla="*/ 266 w 512"/>
                <a:gd name="T29" fmla="*/ 136 h 512"/>
                <a:gd name="T30" fmla="*/ 261 w 512"/>
                <a:gd name="T31" fmla="*/ 126 h 512"/>
                <a:gd name="T32" fmla="*/ 264 w 512"/>
                <a:gd name="T33" fmla="*/ 120 h 512"/>
                <a:gd name="T34" fmla="*/ 512 w 512"/>
                <a:gd name="T35" fmla="*/ 256 h 512"/>
                <a:gd name="T36" fmla="*/ 256 w 512"/>
                <a:gd name="T37" fmla="*/ 512 h 512"/>
                <a:gd name="T38" fmla="*/ 0 w 512"/>
                <a:gd name="T39" fmla="*/ 256 h 512"/>
                <a:gd name="T40" fmla="*/ 256 w 512"/>
                <a:gd name="T41" fmla="*/ 0 h 512"/>
                <a:gd name="T42" fmla="*/ 512 w 512"/>
                <a:gd name="T43" fmla="*/ 256 h 512"/>
                <a:gd name="T44" fmla="*/ 361 w 512"/>
                <a:gd name="T45" fmla="*/ 134 h 512"/>
                <a:gd name="T46" fmla="*/ 261 w 512"/>
                <a:gd name="T47" fmla="*/ 96 h 512"/>
                <a:gd name="T48" fmla="*/ 247 w 512"/>
                <a:gd name="T49" fmla="*/ 102 h 512"/>
                <a:gd name="T50" fmla="*/ 240 w 512"/>
                <a:gd name="T51" fmla="*/ 122 h 512"/>
                <a:gd name="T52" fmla="*/ 240 w 512"/>
                <a:gd name="T53" fmla="*/ 131 h 512"/>
                <a:gd name="T54" fmla="*/ 244 w 512"/>
                <a:gd name="T55" fmla="*/ 140 h 512"/>
                <a:gd name="T56" fmla="*/ 214 w 512"/>
                <a:gd name="T57" fmla="*/ 219 h 512"/>
                <a:gd name="T58" fmla="*/ 188 w 512"/>
                <a:gd name="T59" fmla="*/ 218 h 512"/>
                <a:gd name="T60" fmla="*/ 178 w 512"/>
                <a:gd name="T61" fmla="*/ 224 h 512"/>
                <a:gd name="T62" fmla="*/ 163 w 512"/>
                <a:gd name="T63" fmla="*/ 264 h 512"/>
                <a:gd name="T64" fmla="*/ 163 w 512"/>
                <a:gd name="T65" fmla="*/ 272 h 512"/>
                <a:gd name="T66" fmla="*/ 169 w 512"/>
                <a:gd name="T67" fmla="*/ 278 h 512"/>
                <a:gd name="T68" fmla="*/ 229 w 512"/>
                <a:gd name="T69" fmla="*/ 301 h 512"/>
                <a:gd name="T70" fmla="*/ 194 w 512"/>
                <a:gd name="T71" fmla="*/ 391 h 512"/>
                <a:gd name="T72" fmla="*/ 200 w 512"/>
                <a:gd name="T73" fmla="*/ 404 h 512"/>
                <a:gd name="T74" fmla="*/ 204 w 512"/>
                <a:gd name="T75" fmla="*/ 405 h 512"/>
                <a:gd name="T76" fmla="*/ 214 w 512"/>
                <a:gd name="T77" fmla="*/ 398 h 512"/>
                <a:gd name="T78" fmla="*/ 248 w 512"/>
                <a:gd name="T79" fmla="*/ 308 h 512"/>
                <a:gd name="T80" fmla="*/ 308 w 512"/>
                <a:gd name="T81" fmla="*/ 331 h 512"/>
                <a:gd name="T82" fmla="*/ 312 w 512"/>
                <a:gd name="T83" fmla="*/ 332 h 512"/>
                <a:gd name="T84" fmla="*/ 322 w 512"/>
                <a:gd name="T85" fmla="*/ 325 h 512"/>
                <a:gd name="T86" fmla="*/ 337 w 512"/>
                <a:gd name="T87" fmla="*/ 285 h 512"/>
                <a:gd name="T88" fmla="*/ 334 w 512"/>
                <a:gd name="T89" fmla="*/ 273 h 512"/>
                <a:gd name="T90" fmla="*/ 314 w 512"/>
                <a:gd name="T91" fmla="*/ 257 h 512"/>
                <a:gd name="T92" fmla="*/ 344 w 512"/>
                <a:gd name="T93" fmla="*/ 178 h 512"/>
                <a:gd name="T94" fmla="*/ 354 w 512"/>
                <a:gd name="T95" fmla="*/ 174 h 512"/>
                <a:gd name="T96" fmla="*/ 359 w 512"/>
                <a:gd name="T97" fmla="*/ 168 h 512"/>
                <a:gd name="T98" fmla="*/ 367 w 512"/>
                <a:gd name="T99" fmla="*/ 148 h 512"/>
                <a:gd name="T100" fmla="*/ 361 w 512"/>
                <a:gd name="T101" fmla="*/ 13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12" h="512">
                  <a:moveTo>
                    <a:pt x="264" y="120"/>
                  </a:moveTo>
                  <a:cubicBezTo>
                    <a:pt x="343" y="151"/>
                    <a:pt x="343" y="151"/>
                    <a:pt x="343" y="151"/>
                  </a:cubicBezTo>
                  <a:cubicBezTo>
                    <a:pt x="341" y="156"/>
                    <a:pt x="341" y="156"/>
                    <a:pt x="341" y="156"/>
                  </a:cubicBezTo>
                  <a:cubicBezTo>
                    <a:pt x="331" y="161"/>
                    <a:pt x="331" y="161"/>
                    <a:pt x="331" y="161"/>
                  </a:cubicBezTo>
                  <a:cubicBezTo>
                    <a:pt x="329" y="162"/>
                    <a:pt x="327" y="164"/>
                    <a:pt x="326" y="167"/>
                  </a:cubicBezTo>
                  <a:cubicBezTo>
                    <a:pt x="291" y="256"/>
                    <a:pt x="291" y="256"/>
                    <a:pt x="291" y="256"/>
                  </a:cubicBezTo>
                  <a:cubicBezTo>
                    <a:pt x="290" y="261"/>
                    <a:pt x="291" y="266"/>
                    <a:pt x="294" y="268"/>
                  </a:cubicBezTo>
                  <a:cubicBezTo>
                    <a:pt x="315" y="285"/>
                    <a:pt x="315" y="285"/>
                    <a:pt x="315" y="285"/>
                  </a:cubicBezTo>
                  <a:cubicBezTo>
                    <a:pt x="306" y="308"/>
                    <a:pt x="306" y="308"/>
                    <a:pt x="306" y="308"/>
                  </a:cubicBezTo>
                  <a:cubicBezTo>
                    <a:pt x="186" y="262"/>
                    <a:pt x="186" y="262"/>
                    <a:pt x="186" y="262"/>
                  </a:cubicBezTo>
                  <a:cubicBezTo>
                    <a:pt x="195" y="239"/>
                    <a:pt x="195" y="239"/>
                    <a:pt x="195" y="239"/>
                  </a:cubicBezTo>
                  <a:cubicBezTo>
                    <a:pt x="221" y="240"/>
                    <a:pt x="221" y="240"/>
                    <a:pt x="221" y="240"/>
                  </a:cubicBezTo>
                  <a:cubicBezTo>
                    <a:pt x="226" y="241"/>
                    <a:pt x="230" y="238"/>
                    <a:pt x="232" y="233"/>
                  </a:cubicBezTo>
                  <a:cubicBezTo>
                    <a:pt x="266" y="144"/>
                    <a:pt x="266" y="144"/>
                    <a:pt x="266" y="144"/>
                  </a:cubicBezTo>
                  <a:cubicBezTo>
                    <a:pt x="267" y="141"/>
                    <a:pt x="267" y="138"/>
                    <a:pt x="266" y="136"/>
                  </a:cubicBezTo>
                  <a:cubicBezTo>
                    <a:pt x="261" y="126"/>
                    <a:pt x="261" y="126"/>
                    <a:pt x="261" y="126"/>
                  </a:cubicBezTo>
                  <a:lnTo>
                    <a:pt x="264" y="12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61" y="134"/>
                  </a:moveTo>
                  <a:cubicBezTo>
                    <a:pt x="261" y="96"/>
                    <a:pt x="261" y="96"/>
                    <a:pt x="261" y="96"/>
                  </a:cubicBezTo>
                  <a:cubicBezTo>
                    <a:pt x="256" y="94"/>
                    <a:pt x="250" y="97"/>
                    <a:pt x="247" y="102"/>
                  </a:cubicBezTo>
                  <a:cubicBezTo>
                    <a:pt x="240" y="122"/>
                    <a:pt x="240" y="122"/>
                    <a:pt x="240" y="122"/>
                  </a:cubicBezTo>
                  <a:cubicBezTo>
                    <a:pt x="239" y="125"/>
                    <a:pt x="239" y="128"/>
                    <a:pt x="240" y="131"/>
                  </a:cubicBezTo>
                  <a:cubicBezTo>
                    <a:pt x="244" y="140"/>
                    <a:pt x="244" y="140"/>
                    <a:pt x="244" y="140"/>
                  </a:cubicBezTo>
                  <a:cubicBezTo>
                    <a:pt x="214" y="219"/>
                    <a:pt x="214" y="219"/>
                    <a:pt x="214" y="219"/>
                  </a:cubicBezTo>
                  <a:cubicBezTo>
                    <a:pt x="188" y="218"/>
                    <a:pt x="188" y="218"/>
                    <a:pt x="188" y="218"/>
                  </a:cubicBezTo>
                  <a:cubicBezTo>
                    <a:pt x="184" y="217"/>
                    <a:pt x="180" y="220"/>
                    <a:pt x="178" y="224"/>
                  </a:cubicBezTo>
                  <a:cubicBezTo>
                    <a:pt x="163" y="264"/>
                    <a:pt x="163" y="264"/>
                    <a:pt x="163" y="264"/>
                  </a:cubicBezTo>
                  <a:cubicBezTo>
                    <a:pt x="162" y="267"/>
                    <a:pt x="162" y="270"/>
                    <a:pt x="163" y="272"/>
                  </a:cubicBezTo>
                  <a:cubicBezTo>
                    <a:pt x="164" y="275"/>
                    <a:pt x="166" y="277"/>
                    <a:pt x="169" y="278"/>
                  </a:cubicBezTo>
                  <a:cubicBezTo>
                    <a:pt x="229" y="301"/>
                    <a:pt x="229" y="301"/>
                    <a:pt x="229" y="301"/>
                  </a:cubicBezTo>
                  <a:cubicBezTo>
                    <a:pt x="194" y="391"/>
                    <a:pt x="194" y="391"/>
                    <a:pt x="194" y="391"/>
                  </a:cubicBezTo>
                  <a:cubicBezTo>
                    <a:pt x="192" y="396"/>
                    <a:pt x="195" y="402"/>
                    <a:pt x="200" y="404"/>
                  </a:cubicBezTo>
                  <a:cubicBezTo>
                    <a:pt x="202" y="405"/>
                    <a:pt x="203" y="405"/>
                    <a:pt x="204" y="405"/>
                  </a:cubicBezTo>
                  <a:cubicBezTo>
                    <a:pt x="208" y="405"/>
                    <a:pt x="212" y="402"/>
                    <a:pt x="214" y="398"/>
                  </a:cubicBezTo>
                  <a:cubicBezTo>
                    <a:pt x="248" y="308"/>
                    <a:pt x="248" y="308"/>
                    <a:pt x="248" y="308"/>
                  </a:cubicBezTo>
                  <a:cubicBezTo>
                    <a:pt x="308" y="331"/>
                    <a:pt x="308" y="331"/>
                    <a:pt x="308" y="331"/>
                  </a:cubicBezTo>
                  <a:cubicBezTo>
                    <a:pt x="309" y="332"/>
                    <a:pt x="311" y="332"/>
                    <a:pt x="312" y="332"/>
                  </a:cubicBezTo>
                  <a:cubicBezTo>
                    <a:pt x="316" y="332"/>
                    <a:pt x="320" y="329"/>
                    <a:pt x="322" y="325"/>
                  </a:cubicBezTo>
                  <a:cubicBezTo>
                    <a:pt x="337" y="285"/>
                    <a:pt x="337" y="285"/>
                    <a:pt x="337" y="285"/>
                  </a:cubicBezTo>
                  <a:cubicBezTo>
                    <a:pt x="339" y="281"/>
                    <a:pt x="338" y="276"/>
                    <a:pt x="334" y="273"/>
                  </a:cubicBezTo>
                  <a:cubicBezTo>
                    <a:pt x="314" y="257"/>
                    <a:pt x="314" y="257"/>
                    <a:pt x="314" y="257"/>
                  </a:cubicBezTo>
                  <a:cubicBezTo>
                    <a:pt x="344" y="178"/>
                    <a:pt x="344" y="178"/>
                    <a:pt x="344" y="178"/>
                  </a:cubicBezTo>
                  <a:cubicBezTo>
                    <a:pt x="354" y="174"/>
                    <a:pt x="354" y="174"/>
                    <a:pt x="354" y="174"/>
                  </a:cubicBezTo>
                  <a:cubicBezTo>
                    <a:pt x="356" y="173"/>
                    <a:pt x="358" y="171"/>
                    <a:pt x="359" y="168"/>
                  </a:cubicBezTo>
                  <a:cubicBezTo>
                    <a:pt x="367" y="148"/>
                    <a:pt x="367" y="148"/>
                    <a:pt x="367" y="148"/>
                  </a:cubicBezTo>
                  <a:cubicBezTo>
                    <a:pt x="369" y="143"/>
                    <a:pt x="366" y="137"/>
                    <a:pt x="361" y="134"/>
                  </a:cubicBezTo>
                  <a:close/>
                </a:path>
              </a:pathLst>
            </a:custGeom>
            <a:solidFill>
              <a:srgbClr val="549E3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endParaRPr>
            </a:p>
          </p:txBody>
        </p:sp>
        <p:sp>
          <p:nvSpPr>
            <p:cNvPr id="20" name="Freeform 538">
              <a:extLst>
                <a:ext uri="{FF2B5EF4-FFF2-40B4-BE49-F238E27FC236}">
                  <a16:creationId xmlns:a16="http://schemas.microsoft.com/office/drawing/2014/main" id="{85091EBF-32E4-4232-ADEE-877775BECB71}"/>
                </a:ext>
              </a:extLst>
            </p:cNvPr>
            <p:cNvSpPr>
              <a:spLocks noChangeAspect="1" noEditPoints="1"/>
            </p:cNvSpPr>
            <p:nvPr/>
          </p:nvSpPr>
          <p:spPr bwMode="auto">
            <a:xfrm>
              <a:off x="466869" y="4096985"/>
              <a:ext cx="367041" cy="367041"/>
            </a:xfrm>
            <a:custGeom>
              <a:avLst/>
              <a:gdLst>
                <a:gd name="T0" fmla="*/ 226 w 512"/>
                <a:gd name="T1" fmla="*/ 352 h 512"/>
                <a:gd name="T2" fmla="*/ 286 w 512"/>
                <a:gd name="T3" fmla="*/ 352 h 512"/>
                <a:gd name="T4" fmla="*/ 279 w 512"/>
                <a:gd name="T5" fmla="*/ 394 h 512"/>
                <a:gd name="T6" fmla="*/ 233 w 512"/>
                <a:gd name="T7" fmla="*/ 394 h 512"/>
                <a:gd name="T8" fmla="*/ 226 w 512"/>
                <a:gd name="T9" fmla="*/ 352 h 512"/>
                <a:gd name="T10" fmla="*/ 256 w 512"/>
                <a:gd name="T11" fmla="*/ 117 h 512"/>
                <a:gd name="T12" fmla="*/ 178 w 512"/>
                <a:gd name="T13" fmla="*/ 191 h 512"/>
                <a:gd name="T14" fmla="*/ 194 w 512"/>
                <a:gd name="T15" fmla="*/ 242 h 512"/>
                <a:gd name="T16" fmla="*/ 224 w 512"/>
                <a:gd name="T17" fmla="*/ 309 h 512"/>
                <a:gd name="T18" fmla="*/ 224 w 512"/>
                <a:gd name="T19" fmla="*/ 330 h 512"/>
                <a:gd name="T20" fmla="*/ 245 w 512"/>
                <a:gd name="T21" fmla="*/ 330 h 512"/>
                <a:gd name="T22" fmla="*/ 245 w 512"/>
                <a:gd name="T23" fmla="*/ 249 h 512"/>
                <a:gd name="T24" fmla="*/ 227 w 512"/>
                <a:gd name="T25" fmla="*/ 231 h 512"/>
                <a:gd name="T26" fmla="*/ 227 w 512"/>
                <a:gd name="T27" fmla="*/ 216 h 512"/>
                <a:gd name="T28" fmla="*/ 242 w 512"/>
                <a:gd name="T29" fmla="*/ 216 h 512"/>
                <a:gd name="T30" fmla="*/ 256 w 512"/>
                <a:gd name="T31" fmla="*/ 230 h 512"/>
                <a:gd name="T32" fmla="*/ 269 w 512"/>
                <a:gd name="T33" fmla="*/ 216 h 512"/>
                <a:gd name="T34" fmla="*/ 285 w 512"/>
                <a:gd name="T35" fmla="*/ 216 h 512"/>
                <a:gd name="T36" fmla="*/ 285 w 512"/>
                <a:gd name="T37" fmla="*/ 231 h 512"/>
                <a:gd name="T38" fmla="*/ 266 w 512"/>
                <a:gd name="T39" fmla="*/ 249 h 512"/>
                <a:gd name="T40" fmla="*/ 266 w 512"/>
                <a:gd name="T41" fmla="*/ 330 h 512"/>
                <a:gd name="T42" fmla="*/ 288 w 512"/>
                <a:gd name="T43" fmla="*/ 330 h 512"/>
                <a:gd name="T44" fmla="*/ 288 w 512"/>
                <a:gd name="T45" fmla="*/ 309 h 512"/>
                <a:gd name="T46" fmla="*/ 318 w 512"/>
                <a:gd name="T47" fmla="*/ 243 h 512"/>
                <a:gd name="T48" fmla="*/ 334 w 512"/>
                <a:gd name="T49" fmla="*/ 191 h 512"/>
                <a:gd name="T50" fmla="*/ 256 w 512"/>
                <a:gd name="T51" fmla="*/ 117 h 512"/>
                <a:gd name="T52" fmla="*/ 512 w 512"/>
                <a:gd name="T53" fmla="*/ 256 h 512"/>
                <a:gd name="T54" fmla="*/ 256 w 512"/>
                <a:gd name="T55" fmla="*/ 512 h 512"/>
                <a:gd name="T56" fmla="*/ 0 w 512"/>
                <a:gd name="T57" fmla="*/ 256 h 512"/>
                <a:gd name="T58" fmla="*/ 256 w 512"/>
                <a:gd name="T59" fmla="*/ 0 h 512"/>
                <a:gd name="T60" fmla="*/ 512 w 512"/>
                <a:gd name="T61" fmla="*/ 256 h 512"/>
                <a:gd name="T62" fmla="*/ 356 w 512"/>
                <a:gd name="T63" fmla="*/ 191 h 512"/>
                <a:gd name="T64" fmla="*/ 256 w 512"/>
                <a:gd name="T65" fmla="*/ 96 h 512"/>
                <a:gd name="T66" fmla="*/ 256 w 512"/>
                <a:gd name="T67" fmla="*/ 96 h 512"/>
                <a:gd name="T68" fmla="*/ 256 w 512"/>
                <a:gd name="T69" fmla="*/ 96 h 512"/>
                <a:gd name="T70" fmla="*/ 256 w 512"/>
                <a:gd name="T71" fmla="*/ 96 h 512"/>
                <a:gd name="T72" fmla="*/ 255 w 512"/>
                <a:gd name="T73" fmla="*/ 96 h 512"/>
                <a:gd name="T74" fmla="*/ 157 w 512"/>
                <a:gd name="T75" fmla="*/ 191 h 512"/>
                <a:gd name="T76" fmla="*/ 176 w 512"/>
                <a:gd name="T77" fmla="*/ 254 h 512"/>
                <a:gd name="T78" fmla="*/ 202 w 512"/>
                <a:gd name="T79" fmla="*/ 309 h 512"/>
                <a:gd name="T80" fmla="*/ 202 w 512"/>
                <a:gd name="T81" fmla="*/ 341 h 512"/>
                <a:gd name="T82" fmla="*/ 203 w 512"/>
                <a:gd name="T83" fmla="*/ 342 h 512"/>
                <a:gd name="T84" fmla="*/ 202 w 512"/>
                <a:gd name="T85" fmla="*/ 343 h 512"/>
                <a:gd name="T86" fmla="*/ 213 w 512"/>
                <a:gd name="T87" fmla="*/ 407 h 512"/>
                <a:gd name="T88" fmla="*/ 224 w 512"/>
                <a:gd name="T89" fmla="*/ 416 h 512"/>
                <a:gd name="T90" fmla="*/ 288 w 512"/>
                <a:gd name="T91" fmla="*/ 416 h 512"/>
                <a:gd name="T92" fmla="*/ 298 w 512"/>
                <a:gd name="T93" fmla="*/ 407 h 512"/>
                <a:gd name="T94" fmla="*/ 309 w 512"/>
                <a:gd name="T95" fmla="*/ 343 h 512"/>
                <a:gd name="T96" fmla="*/ 309 w 512"/>
                <a:gd name="T97" fmla="*/ 342 h 512"/>
                <a:gd name="T98" fmla="*/ 309 w 512"/>
                <a:gd name="T99" fmla="*/ 341 h 512"/>
                <a:gd name="T100" fmla="*/ 309 w 512"/>
                <a:gd name="T101" fmla="*/ 309 h 512"/>
                <a:gd name="T102" fmla="*/ 336 w 512"/>
                <a:gd name="T103" fmla="*/ 254 h 512"/>
                <a:gd name="T104" fmla="*/ 356 w 512"/>
                <a:gd name="T105" fmla="*/ 19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26" y="352"/>
                  </a:moveTo>
                  <a:cubicBezTo>
                    <a:pt x="286" y="352"/>
                    <a:pt x="286" y="352"/>
                    <a:pt x="286" y="352"/>
                  </a:cubicBezTo>
                  <a:cubicBezTo>
                    <a:pt x="279" y="394"/>
                    <a:pt x="279" y="394"/>
                    <a:pt x="279" y="394"/>
                  </a:cubicBezTo>
                  <a:cubicBezTo>
                    <a:pt x="233" y="394"/>
                    <a:pt x="233" y="394"/>
                    <a:pt x="233" y="394"/>
                  </a:cubicBezTo>
                  <a:lnTo>
                    <a:pt x="226" y="352"/>
                  </a:lnTo>
                  <a:close/>
                  <a:moveTo>
                    <a:pt x="256" y="117"/>
                  </a:moveTo>
                  <a:cubicBezTo>
                    <a:pt x="214" y="117"/>
                    <a:pt x="178" y="151"/>
                    <a:pt x="178" y="191"/>
                  </a:cubicBezTo>
                  <a:cubicBezTo>
                    <a:pt x="178" y="219"/>
                    <a:pt x="194" y="242"/>
                    <a:pt x="194" y="242"/>
                  </a:cubicBezTo>
                  <a:cubicBezTo>
                    <a:pt x="201" y="254"/>
                    <a:pt x="224" y="292"/>
                    <a:pt x="224" y="309"/>
                  </a:cubicBezTo>
                  <a:cubicBezTo>
                    <a:pt x="224" y="330"/>
                    <a:pt x="224" y="330"/>
                    <a:pt x="224" y="330"/>
                  </a:cubicBezTo>
                  <a:cubicBezTo>
                    <a:pt x="245" y="330"/>
                    <a:pt x="245" y="330"/>
                    <a:pt x="245" y="330"/>
                  </a:cubicBezTo>
                  <a:cubicBezTo>
                    <a:pt x="245" y="249"/>
                    <a:pt x="245" y="249"/>
                    <a:pt x="245" y="249"/>
                  </a:cubicBezTo>
                  <a:cubicBezTo>
                    <a:pt x="227" y="231"/>
                    <a:pt x="227" y="231"/>
                    <a:pt x="227" y="231"/>
                  </a:cubicBezTo>
                  <a:cubicBezTo>
                    <a:pt x="223" y="227"/>
                    <a:pt x="223" y="220"/>
                    <a:pt x="227" y="216"/>
                  </a:cubicBezTo>
                  <a:cubicBezTo>
                    <a:pt x="231" y="212"/>
                    <a:pt x="238" y="212"/>
                    <a:pt x="242" y="216"/>
                  </a:cubicBezTo>
                  <a:cubicBezTo>
                    <a:pt x="256" y="230"/>
                    <a:pt x="256" y="230"/>
                    <a:pt x="256" y="230"/>
                  </a:cubicBezTo>
                  <a:cubicBezTo>
                    <a:pt x="269" y="216"/>
                    <a:pt x="269" y="216"/>
                    <a:pt x="269" y="216"/>
                  </a:cubicBezTo>
                  <a:cubicBezTo>
                    <a:pt x="274" y="212"/>
                    <a:pt x="280" y="212"/>
                    <a:pt x="285" y="216"/>
                  </a:cubicBezTo>
                  <a:cubicBezTo>
                    <a:pt x="289" y="220"/>
                    <a:pt x="289" y="227"/>
                    <a:pt x="285" y="231"/>
                  </a:cubicBezTo>
                  <a:cubicBezTo>
                    <a:pt x="266" y="249"/>
                    <a:pt x="266" y="249"/>
                    <a:pt x="266" y="249"/>
                  </a:cubicBezTo>
                  <a:cubicBezTo>
                    <a:pt x="266" y="330"/>
                    <a:pt x="266" y="330"/>
                    <a:pt x="266" y="330"/>
                  </a:cubicBezTo>
                  <a:cubicBezTo>
                    <a:pt x="288" y="330"/>
                    <a:pt x="288" y="330"/>
                    <a:pt x="288" y="330"/>
                  </a:cubicBezTo>
                  <a:cubicBezTo>
                    <a:pt x="288" y="309"/>
                    <a:pt x="288" y="309"/>
                    <a:pt x="288" y="309"/>
                  </a:cubicBezTo>
                  <a:cubicBezTo>
                    <a:pt x="288" y="292"/>
                    <a:pt x="311" y="254"/>
                    <a:pt x="318" y="243"/>
                  </a:cubicBezTo>
                  <a:cubicBezTo>
                    <a:pt x="318" y="242"/>
                    <a:pt x="334" y="218"/>
                    <a:pt x="334" y="191"/>
                  </a:cubicBezTo>
                  <a:cubicBezTo>
                    <a:pt x="334" y="151"/>
                    <a:pt x="298" y="117"/>
                    <a:pt x="256" y="117"/>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56" y="191"/>
                  </a:moveTo>
                  <a:cubicBezTo>
                    <a:pt x="356" y="140"/>
                    <a:pt x="310" y="96"/>
                    <a:pt x="256" y="96"/>
                  </a:cubicBezTo>
                  <a:cubicBezTo>
                    <a:pt x="256" y="96"/>
                    <a:pt x="256" y="96"/>
                    <a:pt x="256" y="96"/>
                  </a:cubicBezTo>
                  <a:cubicBezTo>
                    <a:pt x="256" y="96"/>
                    <a:pt x="256" y="96"/>
                    <a:pt x="256" y="96"/>
                  </a:cubicBezTo>
                  <a:cubicBezTo>
                    <a:pt x="256" y="96"/>
                    <a:pt x="256" y="96"/>
                    <a:pt x="256" y="96"/>
                  </a:cubicBezTo>
                  <a:cubicBezTo>
                    <a:pt x="256" y="96"/>
                    <a:pt x="256" y="96"/>
                    <a:pt x="255" y="96"/>
                  </a:cubicBezTo>
                  <a:cubicBezTo>
                    <a:pt x="202" y="96"/>
                    <a:pt x="157" y="140"/>
                    <a:pt x="157" y="191"/>
                  </a:cubicBezTo>
                  <a:cubicBezTo>
                    <a:pt x="157" y="225"/>
                    <a:pt x="175" y="253"/>
                    <a:pt x="176" y="254"/>
                  </a:cubicBezTo>
                  <a:cubicBezTo>
                    <a:pt x="189" y="275"/>
                    <a:pt x="202" y="302"/>
                    <a:pt x="202" y="309"/>
                  </a:cubicBezTo>
                  <a:cubicBezTo>
                    <a:pt x="202" y="341"/>
                    <a:pt x="202" y="341"/>
                    <a:pt x="202" y="341"/>
                  </a:cubicBezTo>
                  <a:cubicBezTo>
                    <a:pt x="202" y="341"/>
                    <a:pt x="202" y="342"/>
                    <a:pt x="203" y="342"/>
                  </a:cubicBezTo>
                  <a:cubicBezTo>
                    <a:pt x="203" y="342"/>
                    <a:pt x="202" y="342"/>
                    <a:pt x="202" y="343"/>
                  </a:cubicBezTo>
                  <a:cubicBezTo>
                    <a:pt x="213" y="407"/>
                    <a:pt x="213" y="407"/>
                    <a:pt x="213" y="407"/>
                  </a:cubicBezTo>
                  <a:cubicBezTo>
                    <a:pt x="214" y="412"/>
                    <a:pt x="218" y="416"/>
                    <a:pt x="224" y="416"/>
                  </a:cubicBezTo>
                  <a:cubicBezTo>
                    <a:pt x="288" y="416"/>
                    <a:pt x="288" y="416"/>
                    <a:pt x="288" y="416"/>
                  </a:cubicBezTo>
                  <a:cubicBezTo>
                    <a:pt x="293" y="416"/>
                    <a:pt x="297" y="412"/>
                    <a:pt x="298" y="407"/>
                  </a:cubicBezTo>
                  <a:cubicBezTo>
                    <a:pt x="309" y="343"/>
                    <a:pt x="309" y="343"/>
                    <a:pt x="309" y="343"/>
                  </a:cubicBezTo>
                  <a:cubicBezTo>
                    <a:pt x="309" y="342"/>
                    <a:pt x="309" y="342"/>
                    <a:pt x="309" y="342"/>
                  </a:cubicBezTo>
                  <a:cubicBezTo>
                    <a:pt x="309" y="342"/>
                    <a:pt x="309" y="341"/>
                    <a:pt x="309" y="341"/>
                  </a:cubicBezTo>
                  <a:cubicBezTo>
                    <a:pt x="309" y="309"/>
                    <a:pt x="309" y="309"/>
                    <a:pt x="309" y="309"/>
                  </a:cubicBezTo>
                  <a:cubicBezTo>
                    <a:pt x="309" y="302"/>
                    <a:pt x="323" y="275"/>
                    <a:pt x="336" y="254"/>
                  </a:cubicBezTo>
                  <a:cubicBezTo>
                    <a:pt x="337" y="253"/>
                    <a:pt x="356" y="225"/>
                    <a:pt x="356" y="191"/>
                  </a:cubicBezTo>
                  <a:close/>
                </a:path>
              </a:pathLst>
            </a:custGeom>
            <a:solidFill>
              <a:srgbClr val="549E3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endParaRPr>
            </a:p>
          </p:txBody>
        </p:sp>
        <p:grpSp>
          <p:nvGrpSpPr>
            <p:cNvPr id="21" name="Group 490">
              <a:extLst>
                <a:ext uri="{FF2B5EF4-FFF2-40B4-BE49-F238E27FC236}">
                  <a16:creationId xmlns:a16="http://schemas.microsoft.com/office/drawing/2014/main" id="{B3D92951-B3DD-4AD8-BBDF-9A49AFD48F49}"/>
                </a:ext>
              </a:extLst>
            </p:cNvPr>
            <p:cNvGrpSpPr>
              <a:grpSpLocks noChangeAspect="1"/>
            </p:cNvGrpSpPr>
            <p:nvPr/>
          </p:nvGrpSpPr>
          <p:grpSpPr bwMode="auto">
            <a:xfrm>
              <a:off x="469900" y="5111835"/>
              <a:ext cx="369676" cy="369676"/>
              <a:chOff x="-10" y="1542"/>
              <a:chExt cx="340" cy="340"/>
            </a:xfrm>
            <a:solidFill>
              <a:srgbClr val="549E39"/>
            </a:solidFill>
          </p:grpSpPr>
          <p:sp>
            <p:nvSpPr>
              <p:cNvPr id="22" name="Freeform 491">
                <a:extLst>
                  <a:ext uri="{FF2B5EF4-FFF2-40B4-BE49-F238E27FC236}">
                    <a16:creationId xmlns:a16="http://schemas.microsoft.com/office/drawing/2014/main" id="{948F1BEB-37AC-4B7D-9FC3-37B0829F2EAB}"/>
                  </a:ext>
                </a:extLst>
              </p:cNvPr>
              <p:cNvSpPr>
                <a:spLocks noEditPoints="1"/>
              </p:cNvSpPr>
              <p:nvPr/>
            </p:nvSpPr>
            <p:spPr bwMode="auto">
              <a:xfrm>
                <a:off x="-10" y="1542"/>
                <a:ext cx="340" cy="340"/>
              </a:xfrm>
              <a:custGeom>
                <a:avLst/>
                <a:gdLst>
                  <a:gd name="T0" fmla="*/ 0 w 512"/>
                  <a:gd name="T1" fmla="*/ 256 h 512"/>
                  <a:gd name="T2" fmla="*/ 512 w 512"/>
                  <a:gd name="T3" fmla="*/ 256 h 512"/>
                  <a:gd name="T4" fmla="*/ 245 w 512"/>
                  <a:gd name="T5" fmla="*/ 106 h 512"/>
                  <a:gd name="T6" fmla="*/ 266 w 512"/>
                  <a:gd name="T7" fmla="*/ 106 h 512"/>
                  <a:gd name="T8" fmla="*/ 256 w 512"/>
                  <a:gd name="T9" fmla="*/ 138 h 512"/>
                  <a:gd name="T10" fmla="*/ 245 w 512"/>
                  <a:gd name="T11" fmla="*/ 106 h 512"/>
                  <a:gd name="T12" fmla="*/ 158 w 512"/>
                  <a:gd name="T13" fmla="*/ 143 h 512"/>
                  <a:gd name="T14" fmla="*/ 173 w 512"/>
                  <a:gd name="T15" fmla="*/ 173 h 512"/>
                  <a:gd name="T16" fmla="*/ 158 w 512"/>
                  <a:gd name="T17" fmla="*/ 173 h 512"/>
                  <a:gd name="T18" fmla="*/ 143 w 512"/>
                  <a:gd name="T19" fmla="*/ 143 h 512"/>
                  <a:gd name="T20" fmla="*/ 106 w 512"/>
                  <a:gd name="T21" fmla="*/ 266 h 512"/>
                  <a:gd name="T22" fmla="*/ 106 w 512"/>
                  <a:gd name="T23" fmla="*/ 245 h 512"/>
                  <a:gd name="T24" fmla="*/ 138 w 512"/>
                  <a:gd name="T25" fmla="*/ 256 h 512"/>
                  <a:gd name="T26" fmla="*/ 173 w 512"/>
                  <a:gd name="T27" fmla="*/ 354 h 512"/>
                  <a:gd name="T28" fmla="*/ 150 w 512"/>
                  <a:gd name="T29" fmla="*/ 372 h 512"/>
                  <a:gd name="T30" fmla="*/ 143 w 512"/>
                  <a:gd name="T31" fmla="*/ 354 h 512"/>
                  <a:gd name="T32" fmla="*/ 173 w 512"/>
                  <a:gd name="T33" fmla="*/ 339 h 512"/>
                  <a:gd name="T34" fmla="*/ 266 w 512"/>
                  <a:gd name="T35" fmla="*/ 405 h 512"/>
                  <a:gd name="T36" fmla="*/ 245 w 512"/>
                  <a:gd name="T37" fmla="*/ 405 h 512"/>
                  <a:gd name="T38" fmla="*/ 256 w 512"/>
                  <a:gd name="T39" fmla="*/ 373 h 512"/>
                  <a:gd name="T40" fmla="*/ 266 w 512"/>
                  <a:gd name="T41" fmla="*/ 405 h 512"/>
                  <a:gd name="T42" fmla="*/ 160 w 512"/>
                  <a:gd name="T43" fmla="*/ 256 h 512"/>
                  <a:gd name="T44" fmla="*/ 352 w 512"/>
                  <a:gd name="T45" fmla="*/ 256 h 512"/>
                  <a:gd name="T46" fmla="*/ 369 w 512"/>
                  <a:gd name="T47" fmla="*/ 369 h 512"/>
                  <a:gd name="T48" fmla="*/ 354 w 512"/>
                  <a:gd name="T49" fmla="*/ 369 h 512"/>
                  <a:gd name="T50" fmla="*/ 339 w 512"/>
                  <a:gd name="T51" fmla="*/ 339 h 512"/>
                  <a:gd name="T52" fmla="*/ 369 w 512"/>
                  <a:gd name="T53" fmla="*/ 354 h 512"/>
                  <a:gd name="T54" fmla="*/ 369 w 512"/>
                  <a:gd name="T55" fmla="*/ 158 h 512"/>
                  <a:gd name="T56" fmla="*/ 346 w 512"/>
                  <a:gd name="T57" fmla="*/ 176 h 512"/>
                  <a:gd name="T58" fmla="*/ 339 w 512"/>
                  <a:gd name="T59" fmla="*/ 158 h 512"/>
                  <a:gd name="T60" fmla="*/ 369 w 512"/>
                  <a:gd name="T61" fmla="*/ 143 h 512"/>
                  <a:gd name="T62" fmla="*/ 405 w 512"/>
                  <a:gd name="T63" fmla="*/ 266 h 512"/>
                  <a:gd name="T64" fmla="*/ 373 w 512"/>
                  <a:gd name="T65" fmla="*/ 256 h 512"/>
                  <a:gd name="T66" fmla="*/ 405 w 512"/>
                  <a:gd name="T67" fmla="*/ 245 h 512"/>
                  <a:gd name="T68" fmla="*/ 405 w 512"/>
                  <a:gd name="T69"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45" y="106"/>
                    </a:moveTo>
                    <a:cubicBezTo>
                      <a:pt x="245" y="100"/>
                      <a:pt x="250" y="96"/>
                      <a:pt x="256" y="96"/>
                    </a:cubicBezTo>
                    <a:cubicBezTo>
                      <a:pt x="262" y="96"/>
                      <a:pt x="266" y="100"/>
                      <a:pt x="266" y="106"/>
                    </a:cubicBezTo>
                    <a:cubicBezTo>
                      <a:pt x="266" y="128"/>
                      <a:pt x="266" y="128"/>
                      <a:pt x="266" y="128"/>
                    </a:cubicBezTo>
                    <a:cubicBezTo>
                      <a:pt x="266" y="134"/>
                      <a:pt x="262" y="138"/>
                      <a:pt x="256" y="138"/>
                    </a:cubicBezTo>
                    <a:cubicBezTo>
                      <a:pt x="250" y="138"/>
                      <a:pt x="245" y="134"/>
                      <a:pt x="245" y="128"/>
                    </a:cubicBezTo>
                    <a:lnTo>
                      <a:pt x="245" y="106"/>
                    </a:lnTo>
                    <a:close/>
                    <a:moveTo>
                      <a:pt x="143" y="143"/>
                    </a:moveTo>
                    <a:cubicBezTo>
                      <a:pt x="147" y="138"/>
                      <a:pt x="153" y="138"/>
                      <a:pt x="158" y="143"/>
                    </a:cubicBezTo>
                    <a:cubicBezTo>
                      <a:pt x="173" y="158"/>
                      <a:pt x="173" y="158"/>
                      <a:pt x="173" y="158"/>
                    </a:cubicBezTo>
                    <a:cubicBezTo>
                      <a:pt x="177" y="162"/>
                      <a:pt x="177" y="169"/>
                      <a:pt x="173" y="173"/>
                    </a:cubicBezTo>
                    <a:cubicBezTo>
                      <a:pt x="171" y="175"/>
                      <a:pt x="168" y="176"/>
                      <a:pt x="165" y="176"/>
                    </a:cubicBezTo>
                    <a:cubicBezTo>
                      <a:pt x="162" y="176"/>
                      <a:pt x="160" y="175"/>
                      <a:pt x="158" y="173"/>
                    </a:cubicBezTo>
                    <a:cubicBezTo>
                      <a:pt x="143" y="158"/>
                      <a:pt x="143" y="158"/>
                      <a:pt x="143" y="158"/>
                    </a:cubicBezTo>
                    <a:cubicBezTo>
                      <a:pt x="138" y="153"/>
                      <a:pt x="138" y="147"/>
                      <a:pt x="143" y="143"/>
                    </a:cubicBezTo>
                    <a:close/>
                    <a:moveTo>
                      <a:pt x="128" y="266"/>
                    </a:moveTo>
                    <a:cubicBezTo>
                      <a:pt x="106" y="266"/>
                      <a:pt x="106" y="266"/>
                      <a:pt x="106" y="266"/>
                    </a:cubicBezTo>
                    <a:cubicBezTo>
                      <a:pt x="100" y="266"/>
                      <a:pt x="96" y="262"/>
                      <a:pt x="96" y="256"/>
                    </a:cubicBezTo>
                    <a:cubicBezTo>
                      <a:pt x="96" y="250"/>
                      <a:pt x="100" y="245"/>
                      <a:pt x="106" y="245"/>
                    </a:cubicBezTo>
                    <a:cubicBezTo>
                      <a:pt x="128" y="245"/>
                      <a:pt x="128" y="245"/>
                      <a:pt x="128" y="245"/>
                    </a:cubicBezTo>
                    <a:cubicBezTo>
                      <a:pt x="134" y="245"/>
                      <a:pt x="138" y="250"/>
                      <a:pt x="138" y="256"/>
                    </a:cubicBezTo>
                    <a:cubicBezTo>
                      <a:pt x="138" y="262"/>
                      <a:pt x="134" y="266"/>
                      <a:pt x="128" y="266"/>
                    </a:cubicBezTo>
                    <a:close/>
                    <a:moveTo>
                      <a:pt x="173" y="354"/>
                    </a:moveTo>
                    <a:cubicBezTo>
                      <a:pt x="158" y="369"/>
                      <a:pt x="158" y="369"/>
                      <a:pt x="158" y="369"/>
                    </a:cubicBezTo>
                    <a:cubicBezTo>
                      <a:pt x="156" y="371"/>
                      <a:pt x="153" y="372"/>
                      <a:pt x="150" y="372"/>
                    </a:cubicBezTo>
                    <a:cubicBezTo>
                      <a:pt x="147" y="372"/>
                      <a:pt x="145" y="371"/>
                      <a:pt x="143" y="369"/>
                    </a:cubicBezTo>
                    <a:cubicBezTo>
                      <a:pt x="138" y="365"/>
                      <a:pt x="138" y="358"/>
                      <a:pt x="143" y="354"/>
                    </a:cubicBezTo>
                    <a:cubicBezTo>
                      <a:pt x="158" y="339"/>
                      <a:pt x="158" y="339"/>
                      <a:pt x="158" y="339"/>
                    </a:cubicBezTo>
                    <a:cubicBezTo>
                      <a:pt x="162" y="334"/>
                      <a:pt x="169" y="334"/>
                      <a:pt x="173" y="339"/>
                    </a:cubicBezTo>
                    <a:cubicBezTo>
                      <a:pt x="177" y="343"/>
                      <a:pt x="177" y="350"/>
                      <a:pt x="173" y="354"/>
                    </a:cubicBezTo>
                    <a:close/>
                    <a:moveTo>
                      <a:pt x="266" y="405"/>
                    </a:moveTo>
                    <a:cubicBezTo>
                      <a:pt x="266" y="411"/>
                      <a:pt x="262" y="416"/>
                      <a:pt x="256" y="416"/>
                    </a:cubicBezTo>
                    <a:cubicBezTo>
                      <a:pt x="250" y="416"/>
                      <a:pt x="245" y="411"/>
                      <a:pt x="245" y="405"/>
                    </a:cubicBezTo>
                    <a:cubicBezTo>
                      <a:pt x="245" y="384"/>
                      <a:pt x="245" y="384"/>
                      <a:pt x="245" y="384"/>
                    </a:cubicBezTo>
                    <a:cubicBezTo>
                      <a:pt x="245" y="378"/>
                      <a:pt x="250" y="373"/>
                      <a:pt x="256" y="373"/>
                    </a:cubicBezTo>
                    <a:cubicBezTo>
                      <a:pt x="262" y="373"/>
                      <a:pt x="266" y="378"/>
                      <a:pt x="266" y="384"/>
                    </a:cubicBezTo>
                    <a:lnTo>
                      <a:pt x="266" y="405"/>
                    </a:lnTo>
                    <a:close/>
                    <a:moveTo>
                      <a:pt x="256" y="352"/>
                    </a:moveTo>
                    <a:cubicBezTo>
                      <a:pt x="203" y="352"/>
                      <a:pt x="160" y="309"/>
                      <a:pt x="160" y="256"/>
                    </a:cubicBezTo>
                    <a:cubicBezTo>
                      <a:pt x="160" y="203"/>
                      <a:pt x="203" y="160"/>
                      <a:pt x="256" y="160"/>
                    </a:cubicBezTo>
                    <a:cubicBezTo>
                      <a:pt x="309" y="160"/>
                      <a:pt x="352" y="203"/>
                      <a:pt x="352" y="256"/>
                    </a:cubicBezTo>
                    <a:cubicBezTo>
                      <a:pt x="352" y="309"/>
                      <a:pt x="309" y="352"/>
                      <a:pt x="256" y="352"/>
                    </a:cubicBezTo>
                    <a:close/>
                    <a:moveTo>
                      <a:pt x="369" y="369"/>
                    </a:moveTo>
                    <a:cubicBezTo>
                      <a:pt x="367" y="371"/>
                      <a:pt x="364" y="372"/>
                      <a:pt x="361" y="372"/>
                    </a:cubicBezTo>
                    <a:cubicBezTo>
                      <a:pt x="359" y="372"/>
                      <a:pt x="356" y="371"/>
                      <a:pt x="354" y="369"/>
                    </a:cubicBezTo>
                    <a:cubicBezTo>
                      <a:pt x="339" y="354"/>
                      <a:pt x="339" y="354"/>
                      <a:pt x="339" y="354"/>
                    </a:cubicBezTo>
                    <a:cubicBezTo>
                      <a:pt x="334" y="350"/>
                      <a:pt x="334" y="343"/>
                      <a:pt x="339" y="339"/>
                    </a:cubicBezTo>
                    <a:cubicBezTo>
                      <a:pt x="343" y="334"/>
                      <a:pt x="350" y="334"/>
                      <a:pt x="354" y="339"/>
                    </a:cubicBezTo>
                    <a:cubicBezTo>
                      <a:pt x="369" y="354"/>
                      <a:pt x="369" y="354"/>
                      <a:pt x="369" y="354"/>
                    </a:cubicBezTo>
                    <a:cubicBezTo>
                      <a:pt x="373" y="358"/>
                      <a:pt x="373" y="365"/>
                      <a:pt x="369" y="369"/>
                    </a:cubicBezTo>
                    <a:close/>
                    <a:moveTo>
                      <a:pt x="369" y="158"/>
                    </a:moveTo>
                    <a:cubicBezTo>
                      <a:pt x="354" y="173"/>
                      <a:pt x="354" y="173"/>
                      <a:pt x="354" y="173"/>
                    </a:cubicBezTo>
                    <a:cubicBezTo>
                      <a:pt x="352" y="175"/>
                      <a:pt x="349" y="176"/>
                      <a:pt x="346" y="176"/>
                    </a:cubicBezTo>
                    <a:cubicBezTo>
                      <a:pt x="343" y="176"/>
                      <a:pt x="341" y="175"/>
                      <a:pt x="339" y="173"/>
                    </a:cubicBezTo>
                    <a:cubicBezTo>
                      <a:pt x="334" y="169"/>
                      <a:pt x="334" y="162"/>
                      <a:pt x="339" y="158"/>
                    </a:cubicBezTo>
                    <a:cubicBezTo>
                      <a:pt x="354" y="143"/>
                      <a:pt x="354" y="143"/>
                      <a:pt x="354" y="143"/>
                    </a:cubicBezTo>
                    <a:cubicBezTo>
                      <a:pt x="358" y="138"/>
                      <a:pt x="365" y="138"/>
                      <a:pt x="369" y="143"/>
                    </a:cubicBezTo>
                    <a:cubicBezTo>
                      <a:pt x="373" y="147"/>
                      <a:pt x="373" y="153"/>
                      <a:pt x="369" y="158"/>
                    </a:cubicBezTo>
                    <a:close/>
                    <a:moveTo>
                      <a:pt x="405" y="266"/>
                    </a:moveTo>
                    <a:cubicBezTo>
                      <a:pt x="384" y="266"/>
                      <a:pt x="384" y="266"/>
                      <a:pt x="384" y="266"/>
                    </a:cubicBezTo>
                    <a:cubicBezTo>
                      <a:pt x="378" y="266"/>
                      <a:pt x="373" y="262"/>
                      <a:pt x="373" y="256"/>
                    </a:cubicBezTo>
                    <a:cubicBezTo>
                      <a:pt x="373" y="250"/>
                      <a:pt x="378" y="245"/>
                      <a:pt x="384" y="245"/>
                    </a:cubicBezTo>
                    <a:cubicBezTo>
                      <a:pt x="405" y="245"/>
                      <a:pt x="405" y="245"/>
                      <a:pt x="405" y="245"/>
                    </a:cubicBezTo>
                    <a:cubicBezTo>
                      <a:pt x="411" y="245"/>
                      <a:pt x="416" y="250"/>
                      <a:pt x="416" y="256"/>
                    </a:cubicBezTo>
                    <a:cubicBezTo>
                      <a:pt x="416" y="262"/>
                      <a:pt x="411" y="266"/>
                      <a:pt x="405"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endParaRPr>
              </a:p>
            </p:txBody>
          </p:sp>
          <p:sp>
            <p:nvSpPr>
              <p:cNvPr id="23" name="Oval 492">
                <a:extLst>
                  <a:ext uri="{FF2B5EF4-FFF2-40B4-BE49-F238E27FC236}">
                    <a16:creationId xmlns:a16="http://schemas.microsoft.com/office/drawing/2014/main" id="{6BB2CA43-DA74-4FA0-8396-32336BC77C6D}"/>
                  </a:ext>
                </a:extLst>
              </p:cNvPr>
              <p:cNvSpPr>
                <a:spLocks noChangeArrowheads="1"/>
              </p:cNvSpPr>
              <p:nvPr/>
            </p:nvSpPr>
            <p:spPr bwMode="auto">
              <a:xfrm>
                <a:off x="110" y="1662"/>
                <a:ext cx="99" cy="99"/>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endParaRPr>
              </a:p>
            </p:txBody>
          </p:sp>
        </p:grpSp>
      </p:grpSp>
      <p:sp>
        <p:nvSpPr>
          <p:cNvPr id="24" name="Rectangle 23">
            <a:extLst>
              <a:ext uri="{FF2B5EF4-FFF2-40B4-BE49-F238E27FC236}">
                <a16:creationId xmlns:a16="http://schemas.microsoft.com/office/drawing/2014/main" id="{61CCE52E-702E-4176-A275-CC3E80F6F2BB}"/>
              </a:ext>
            </a:extLst>
          </p:cNvPr>
          <p:cNvSpPr/>
          <p:nvPr/>
        </p:nvSpPr>
        <p:spPr bwMode="gray">
          <a:xfrm>
            <a:off x="7058355" y="4397512"/>
            <a:ext cx="4625976" cy="397983"/>
          </a:xfrm>
          <a:prstGeom prst="rect">
            <a:avLst/>
          </a:prstGeom>
          <a:noFill/>
          <a:ln w="190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Indian companies voluntarily adopting 100% RE consumption targets</a:t>
            </a:r>
          </a:p>
        </p:txBody>
      </p:sp>
    </p:spTree>
    <p:extLst>
      <p:ext uri="{BB962C8B-B14F-4D97-AF65-F5344CB8AC3E}">
        <p14:creationId xmlns:p14="http://schemas.microsoft.com/office/powerpoint/2010/main" val="805956531"/>
      </p:ext>
    </p:extLst>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02F641-FAA0-4647-BB71-2A929E824A77}"/>
              </a:ext>
            </a:extLst>
          </p:cNvPr>
          <p:cNvSpPr>
            <a:spLocks noGrp="1"/>
          </p:cNvSpPr>
          <p:nvPr>
            <p:ph type="title"/>
          </p:nvPr>
        </p:nvSpPr>
        <p:spPr/>
        <p:txBody>
          <a:bodyPr/>
          <a:lstStyle/>
          <a:p>
            <a:r>
              <a:rPr lang="en-US" sz="1800" b="1" dirty="0"/>
              <a:t>Impact of RE 100 and resultant Rise of Corporate RE Procurement Market in India </a:t>
            </a:r>
          </a:p>
        </p:txBody>
      </p:sp>
      <p:sp>
        <p:nvSpPr>
          <p:cNvPr id="19" name="TextBox 18">
            <a:extLst>
              <a:ext uri="{FF2B5EF4-FFF2-40B4-BE49-F238E27FC236}">
                <a16:creationId xmlns:a16="http://schemas.microsoft.com/office/drawing/2014/main" id="{8AE715BD-8055-48A9-BE6B-855D5D22951C}"/>
              </a:ext>
            </a:extLst>
          </p:cNvPr>
          <p:cNvSpPr txBox="1"/>
          <p:nvPr/>
        </p:nvSpPr>
        <p:spPr>
          <a:xfrm>
            <a:off x="359228" y="885304"/>
            <a:ext cx="11362873" cy="2662267"/>
          </a:xfrm>
          <a:prstGeom prst="rect">
            <a:avLst/>
          </a:prstGeom>
          <a:noFill/>
        </p:spPr>
        <p:txBody>
          <a:bodyPr wrap="square">
            <a:spAutoFit/>
          </a:bodyPr>
          <a:lstStyle/>
          <a:p>
            <a:pPr marL="285750" indent="-285750" algn="just">
              <a:buFont typeface="Arial" panose="020B0604020202020204" pitchFamily="34" charset="0"/>
              <a:buChar char="•"/>
            </a:pPr>
            <a:r>
              <a:rPr lang="en-US" sz="1300" dirty="0"/>
              <a:t>There is a </a:t>
            </a:r>
            <a:r>
              <a:rPr lang="en-US" sz="1300" b="1" dirty="0"/>
              <a:t>growing demand from consumers for a rapid transition to a zero-carbon economy</a:t>
            </a:r>
            <a:r>
              <a:rPr lang="en-US" sz="1300" dirty="0"/>
              <a:t> with over 175 of the world’s most </a:t>
            </a:r>
            <a:r>
              <a:rPr lang="en-US" sz="1300" b="1" dirty="0"/>
              <a:t>influential companies having already made this commitment </a:t>
            </a:r>
            <a:r>
              <a:rPr lang="en-US" sz="1300" dirty="0"/>
              <a:t>through the </a:t>
            </a:r>
            <a:r>
              <a:rPr lang="en-US" sz="1300" b="1" dirty="0"/>
              <a:t>global corporate leadership initiative, RE100. </a:t>
            </a:r>
          </a:p>
          <a:p>
            <a:pPr marL="285750" indent="-285750" algn="just">
              <a:buFont typeface="Arial" panose="020B0604020202020204" pitchFamily="34" charset="0"/>
              <a:buChar char="•"/>
            </a:pPr>
            <a:endParaRPr lang="en-US" sz="1300" dirty="0"/>
          </a:p>
          <a:p>
            <a:pPr marL="285750" indent="-285750" algn="just">
              <a:buFont typeface="Arial" panose="020B0604020202020204" pitchFamily="34" charset="0"/>
              <a:buChar char="•"/>
            </a:pPr>
            <a:r>
              <a:rPr lang="en-US" sz="1300" dirty="0"/>
              <a:t>This is driving up demand for renewable electricity and creating a shift in demand patterns away from fossil fuels across the global power system</a:t>
            </a:r>
          </a:p>
          <a:p>
            <a:pPr marL="285750" indent="-285750" algn="just">
              <a:buFont typeface="Arial" panose="020B0604020202020204" pitchFamily="34" charset="0"/>
              <a:buChar char="•"/>
            </a:pPr>
            <a:endParaRPr lang="en-US" sz="1300" dirty="0"/>
          </a:p>
          <a:p>
            <a:pPr marL="285750" indent="-285750" algn="just">
              <a:buFont typeface="Arial" panose="020B0604020202020204" pitchFamily="34" charset="0"/>
              <a:buChar char="•"/>
            </a:pPr>
            <a:r>
              <a:rPr lang="en-US" sz="1200" b="1" dirty="0"/>
              <a:t>In India, the main drivers for many companies to adopt this transition are rising electricity tariffs for commercial and industrial consumers, falling prices for solar photovoltaic (PV) technology and corporate sustainability goals</a:t>
            </a:r>
            <a:endParaRPr lang="en-US" sz="1300" b="1" dirty="0"/>
          </a:p>
          <a:p>
            <a:pPr algn="just"/>
            <a:endParaRPr lang="en-US" sz="1300" dirty="0"/>
          </a:p>
          <a:p>
            <a:pPr marL="285750" indent="-285750" algn="just">
              <a:buFont typeface="Arial" panose="020B0604020202020204" pitchFamily="34" charset="0"/>
              <a:buChar char="•"/>
            </a:pPr>
            <a:r>
              <a:rPr lang="en-US" sz="1300" dirty="0"/>
              <a:t>As companies seek to meet their renewable electricity targets, manage their electricity costs and obtain tariff certainty in the longer term, </a:t>
            </a:r>
            <a:r>
              <a:rPr lang="en-US" sz="1300" b="1" dirty="0"/>
              <a:t>market for corporate RE PPA(s) are set to substantially grow globally as well as in India</a:t>
            </a:r>
          </a:p>
          <a:p>
            <a:pPr marL="285750" indent="-285750" algn="just">
              <a:buFont typeface="Arial" panose="020B0604020202020204" pitchFamily="34" charset="0"/>
              <a:buChar char="•"/>
            </a:pPr>
            <a:endParaRPr lang="en-US" sz="1300" dirty="0"/>
          </a:p>
        </p:txBody>
      </p:sp>
      <p:pic>
        <p:nvPicPr>
          <p:cNvPr id="13" name="Picture 12">
            <a:extLst>
              <a:ext uri="{FF2B5EF4-FFF2-40B4-BE49-F238E27FC236}">
                <a16:creationId xmlns:a16="http://schemas.microsoft.com/office/drawing/2014/main" id="{A10682E8-F2FD-4B9C-AFCE-2A454A7495B0}"/>
              </a:ext>
            </a:extLst>
          </p:cNvPr>
          <p:cNvPicPr>
            <a:picLocks noChangeAspect="1"/>
          </p:cNvPicPr>
          <p:nvPr/>
        </p:nvPicPr>
        <p:blipFill>
          <a:blip r:embed="rId3"/>
          <a:stretch>
            <a:fillRect/>
          </a:stretch>
        </p:blipFill>
        <p:spPr>
          <a:xfrm>
            <a:off x="578756" y="4112744"/>
            <a:ext cx="5223331" cy="2491435"/>
          </a:xfrm>
          <a:prstGeom prst="rect">
            <a:avLst/>
          </a:prstGeom>
        </p:spPr>
      </p:pic>
      <p:cxnSp>
        <p:nvCxnSpPr>
          <p:cNvPr id="34" name="Straight Connector 33">
            <a:extLst>
              <a:ext uri="{FF2B5EF4-FFF2-40B4-BE49-F238E27FC236}">
                <a16:creationId xmlns:a16="http://schemas.microsoft.com/office/drawing/2014/main" id="{247302A7-DE11-4DA3-B7A0-8F683E8EEC3C}"/>
              </a:ext>
            </a:extLst>
          </p:cNvPr>
          <p:cNvCxnSpPr>
            <a:cxnSpLocks/>
          </p:cNvCxnSpPr>
          <p:nvPr/>
        </p:nvCxnSpPr>
        <p:spPr>
          <a:xfrm flipV="1">
            <a:off x="709232" y="3964213"/>
            <a:ext cx="5331433" cy="1"/>
          </a:xfrm>
          <a:prstGeom prst="line">
            <a:avLst/>
          </a:prstGeom>
          <a:noFill/>
          <a:ln w="9525" cap="flat" cmpd="sng" algn="ctr">
            <a:solidFill>
              <a:srgbClr val="53565A"/>
            </a:solidFill>
            <a:prstDash val="solid"/>
          </a:ln>
          <a:effectLst/>
        </p:spPr>
      </p:cxnSp>
      <p:sp>
        <p:nvSpPr>
          <p:cNvPr id="36" name="Rectangle 35">
            <a:extLst>
              <a:ext uri="{FF2B5EF4-FFF2-40B4-BE49-F238E27FC236}">
                <a16:creationId xmlns:a16="http://schemas.microsoft.com/office/drawing/2014/main" id="{99D8D04E-8D27-477C-A6A4-3F8BBB0AB9C3}"/>
              </a:ext>
            </a:extLst>
          </p:cNvPr>
          <p:cNvSpPr/>
          <p:nvPr/>
        </p:nvSpPr>
        <p:spPr bwMode="gray">
          <a:xfrm>
            <a:off x="878151" y="3815680"/>
            <a:ext cx="5028115" cy="297064"/>
          </a:xfrm>
          <a:prstGeom prst="rect">
            <a:avLst/>
          </a:prstGeom>
          <a:solidFill>
            <a:srgbClr val="F4FAFD"/>
          </a:solidFill>
          <a:ln w="19050" algn="ctr">
            <a:noFill/>
            <a:miter lim="800000"/>
            <a:headEnd/>
            <a:tailEnd/>
          </a:ln>
        </p:spPr>
        <p:txBody>
          <a:bodyPr wrap="square" lIns="80615" tIns="80615" rIns="80615" bIns="80615"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0" cap="none" spc="0" normalizeH="0" baseline="0" noProof="0" dirty="0">
                <a:ln>
                  <a:noFill/>
                </a:ln>
                <a:solidFill>
                  <a:prstClr val="black"/>
                </a:solidFill>
                <a:effectLst/>
                <a:uLnTx/>
                <a:uFillTx/>
              </a:rPr>
              <a:t>Annual global signed corporate renewable PPA capacity</a:t>
            </a:r>
            <a:endParaRPr kumimoji="0" lang="en-IN" sz="1200" b="1" i="0" u="none" strike="noStrike" kern="0" cap="none" spc="0" normalizeH="0" baseline="0" noProof="0" dirty="0">
              <a:ln>
                <a:noFill/>
              </a:ln>
              <a:solidFill>
                <a:prstClr val="black"/>
              </a:solidFill>
              <a:effectLst/>
              <a:uLnTx/>
              <a:uFillTx/>
            </a:endParaRPr>
          </a:p>
        </p:txBody>
      </p:sp>
      <p:cxnSp>
        <p:nvCxnSpPr>
          <p:cNvPr id="37" name="Straight Connector 36">
            <a:extLst>
              <a:ext uri="{FF2B5EF4-FFF2-40B4-BE49-F238E27FC236}">
                <a16:creationId xmlns:a16="http://schemas.microsoft.com/office/drawing/2014/main" id="{E0A74FE4-E895-4BAB-9B76-9A9D284203D9}"/>
              </a:ext>
            </a:extLst>
          </p:cNvPr>
          <p:cNvCxnSpPr>
            <a:cxnSpLocks/>
          </p:cNvCxnSpPr>
          <p:nvPr/>
        </p:nvCxnSpPr>
        <p:spPr>
          <a:xfrm>
            <a:off x="6338204" y="3952909"/>
            <a:ext cx="5331434" cy="32241"/>
          </a:xfrm>
          <a:prstGeom prst="line">
            <a:avLst/>
          </a:prstGeom>
          <a:noFill/>
          <a:ln w="9525" cap="flat" cmpd="sng" algn="ctr">
            <a:solidFill>
              <a:srgbClr val="53565A"/>
            </a:solidFill>
            <a:prstDash val="solid"/>
          </a:ln>
          <a:effectLst/>
        </p:spPr>
      </p:cxnSp>
      <p:sp>
        <p:nvSpPr>
          <p:cNvPr id="38" name="Rectangle 37">
            <a:extLst>
              <a:ext uri="{FF2B5EF4-FFF2-40B4-BE49-F238E27FC236}">
                <a16:creationId xmlns:a16="http://schemas.microsoft.com/office/drawing/2014/main" id="{CA4DD55E-0FF2-4878-8986-5778964740F1}"/>
              </a:ext>
            </a:extLst>
          </p:cNvPr>
          <p:cNvSpPr/>
          <p:nvPr/>
        </p:nvSpPr>
        <p:spPr bwMode="gray">
          <a:xfrm>
            <a:off x="6422664" y="3872699"/>
            <a:ext cx="5137966" cy="177767"/>
          </a:xfrm>
          <a:prstGeom prst="rect">
            <a:avLst/>
          </a:prstGeom>
          <a:solidFill>
            <a:srgbClr val="F4FAFD"/>
          </a:solidFill>
          <a:ln w="19050" algn="ctr">
            <a:noFill/>
            <a:miter lim="800000"/>
            <a:headEnd/>
            <a:tailEnd/>
          </a:ln>
        </p:spPr>
        <p:txBody>
          <a:bodyPr wrap="square" lIns="80615" tIns="80615" rIns="80615" bIns="80615"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0" cap="none" spc="0" normalizeH="0" baseline="0" noProof="0" dirty="0">
                <a:ln>
                  <a:noFill/>
                </a:ln>
                <a:solidFill>
                  <a:prstClr val="black"/>
                </a:solidFill>
                <a:effectLst/>
                <a:uLnTx/>
                <a:uFillTx/>
              </a:rPr>
              <a:t>Annual India corporate renewable PPA capacity additions</a:t>
            </a:r>
            <a:endParaRPr kumimoji="0" lang="en-IN" sz="1200" b="1" i="0" u="none" strike="noStrike" kern="0" cap="none" spc="0" normalizeH="0" baseline="0" noProof="0" dirty="0">
              <a:ln>
                <a:noFill/>
              </a:ln>
              <a:solidFill>
                <a:prstClr val="black"/>
              </a:solidFill>
              <a:effectLst/>
              <a:uLnTx/>
              <a:uFillTx/>
            </a:endParaRPr>
          </a:p>
        </p:txBody>
      </p:sp>
      <p:pic>
        <p:nvPicPr>
          <p:cNvPr id="22" name="Picture 21">
            <a:extLst>
              <a:ext uri="{FF2B5EF4-FFF2-40B4-BE49-F238E27FC236}">
                <a16:creationId xmlns:a16="http://schemas.microsoft.com/office/drawing/2014/main" id="{8780839A-1440-4004-B441-FB3BF5959E4A}"/>
              </a:ext>
            </a:extLst>
          </p:cNvPr>
          <p:cNvPicPr>
            <a:picLocks noChangeAspect="1"/>
          </p:cNvPicPr>
          <p:nvPr/>
        </p:nvPicPr>
        <p:blipFill>
          <a:blip r:embed="rId4"/>
          <a:stretch>
            <a:fillRect/>
          </a:stretch>
        </p:blipFill>
        <p:spPr>
          <a:xfrm>
            <a:off x="6040665" y="4380856"/>
            <a:ext cx="5681437" cy="2223323"/>
          </a:xfrm>
          <a:prstGeom prst="rect">
            <a:avLst/>
          </a:prstGeom>
        </p:spPr>
      </p:pic>
      <p:sp>
        <p:nvSpPr>
          <p:cNvPr id="2" name="TextBox 1">
            <a:extLst>
              <a:ext uri="{FF2B5EF4-FFF2-40B4-BE49-F238E27FC236}">
                <a16:creationId xmlns:a16="http://schemas.microsoft.com/office/drawing/2014/main" id="{D39BAF8C-6149-4069-9A38-71A2A99F9E9B}"/>
              </a:ext>
            </a:extLst>
          </p:cNvPr>
          <p:cNvSpPr txBox="1"/>
          <p:nvPr/>
        </p:nvSpPr>
        <p:spPr>
          <a:xfrm>
            <a:off x="3190421" y="6639548"/>
            <a:ext cx="8240486" cy="138499"/>
          </a:xfrm>
          <a:prstGeom prst="rect">
            <a:avLst/>
          </a:prstGeom>
          <a:noFill/>
        </p:spPr>
        <p:txBody>
          <a:bodyPr wrap="square" lIns="0" tIns="0" rIns="0" bIns="0" rtlCol="0">
            <a:spAutoFit/>
          </a:bodyPr>
          <a:lstStyle/>
          <a:p>
            <a:pPr>
              <a:spcBef>
                <a:spcPts val="600"/>
              </a:spcBef>
              <a:buSzPct val="100000"/>
            </a:pPr>
            <a:r>
              <a:rPr lang="en-US" sz="900" i="1" dirty="0" err="1">
                <a:solidFill>
                  <a:srgbClr val="313131"/>
                </a:solidFill>
              </a:rPr>
              <a:t>Source:</a:t>
            </a:r>
            <a:r>
              <a:rPr lang="en-US" sz="900" i="1" dirty="0" err="1">
                <a:solidFill>
                  <a:srgbClr val="313131"/>
                </a:solidFill>
                <a:hlinkClick r:id="rId5"/>
              </a:rPr>
              <a:t>https</a:t>
            </a:r>
            <a:r>
              <a:rPr lang="en-US" sz="900" i="1" dirty="0">
                <a:solidFill>
                  <a:srgbClr val="313131"/>
                </a:solidFill>
                <a:hlinkClick r:id="rId5"/>
              </a:rPr>
              <a:t>://www.wbcsd.org/contentwbc/download/11241/165820/1</a:t>
            </a:r>
            <a:endParaRPr lang="en-US" sz="900" i="1" dirty="0">
              <a:solidFill>
                <a:srgbClr val="313131"/>
              </a:solidFill>
            </a:endParaRPr>
          </a:p>
        </p:txBody>
      </p:sp>
    </p:spTree>
    <p:extLst>
      <p:ext uri="{BB962C8B-B14F-4D97-AF65-F5344CB8AC3E}">
        <p14:creationId xmlns:p14="http://schemas.microsoft.com/office/powerpoint/2010/main" val="2770029305"/>
      </p:ext>
    </p:extLst>
  </p:cSld>
  <p:clrMapOvr>
    <a:masterClrMapping/>
  </p:clrMapOvr>
  <p:transition>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02F641-FAA0-4647-BB71-2A929E824A77}"/>
              </a:ext>
            </a:extLst>
          </p:cNvPr>
          <p:cNvSpPr>
            <a:spLocks noGrp="1"/>
          </p:cNvSpPr>
          <p:nvPr>
            <p:ph type="title"/>
          </p:nvPr>
        </p:nvSpPr>
        <p:spPr/>
        <p:txBody>
          <a:bodyPr/>
          <a:lstStyle/>
          <a:p>
            <a:r>
              <a:rPr lang="en-US" sz="1800" b="1" dirty="0"/>
              <a:t>Green Tariff – Operational Principle</a:t>
            </a:r>
          </a:p>
        </p:txBody>
      </p:sp>
      <p:sp>
        <p:nvSpPr>
          <p:cNvPr id="12" name="TextBox 11">
            <a:extLst>
              <a:ext uri="{FF2B5EF4-FFF2-40B4-BE49-F238E27FC236}">
                <a16:creationId xmlns:a16="http://schemas.microsoft.com/office/drawing/2014/main" id="{FC6A14A1-06F3-4129-8B4D-824D617A30B1}"/>
              </a:ext>
            </a:extLst>
          </p:cNvPr>
          <p:cNvSpPr txBox="1"/>
          <p:nvPr/>
        </p:nvSpPr>
        <p:spPr>
          <a:xfrm>
            <a:off x="469900" y="924286"/>
            <a:ext cx="11252200" cy="1092607"/>
          </a:xfrm>
          <a:prstGeom prst="rect">
            <a:avLst/>
          </a:prstGeom>
          <a:noFill/>
        </p:spPr>
        <p:txBody>
          <a:bodyPr wrap="square">
            <a:spAutoFit/>
          </a:bodyPr>
          <a:lstStyle/>
          <a:p>
            <a:pPr marL="285750" indent="-285750" algn="just">
              <a:buFont typeface="Wingdings" panose="05000000000000000000" pitchFamily="2" charset="2"/>
              <a:buChar char="Ø"/>
            </a:pPr>
            <a:r>
              <a:rPr lang="en-US" sz="1300" dirty="0"/>
              <a:t>Green tariffs are </a:t>
            </a:r>
            <a:r>
              <a:rPr lang="en-US" sz="1300" b="1" dirty="0"/>
              <a:t>tariff structures offered by utilities that allow large commercial and industrial customers to buy bundled renewable electricity</a:t>
            </a:r>
            <a:r>
              <a:rPr lang="en-US" sz="1300" dirty="0"/>
              <a:t> from a specific project </a:t>
            </a:r>
            <a:r>
              <a:rPr lang="en-US" sz="1300" b="1" dirty="0"/>
              <a:t>through a special utility tariff rate or a premium</a:t>
            </a:r>
            <a:r>
              <a:rPr lang="en-US" sz="1300" dirty="0"/>
              <a:t>. </a:t>
            </a:r>
          </a:p>
          <a:p>
            <a:pPr algn="just"/>
            <a:endParaRPr lang="en-US" sz="1300" dirty="0"/>
          </a:p>
          <a:p>
            <a:pPr marL="285750" indent="-285750" algn="just">
              <a:buFont typeface="Wingdings" panose="05000000000000000000" pitchFamily="2" charset="2"/>
              <a:buChar char="Ø"/>
            </a:pPr>
            <a:r>
              <a:rPr lang="en-US" sz="1300" dirty="0"/>
              <a:t>This </a:t>
            </a:r>
            <a:r>
              <a:rPr lang="en-US" sz="1300" b="1" dirty="0"/>
              <a:t>provides these larger energy customers an option to meet their sustainability and renewable energy goals</a:t>
            </a:r>
            <a:r>
              <a:rPr lang="en-US" sz="1300" dirty="0"/>
              <a:t>, reduce long-term energy risks, and demonstrate commitment to the development of new renewable energy projects.</a:t>
            </a:r>
          </a:p>
        </p:txBody>
      </p:sp>
      <p:sp>
        <p:nvSpPr>
          <p:cNvPr id="4" name="Rectangle 3">
            <a:extLst>
              <a:ext uri="{FF2B5EF4-FFF2-40B4-BE49-F238E27FC236}">
                <a16:creationId xmlns:a16="http://schemas.microsoft.com/office/drawing/2014/main" id="{BE07707E-84CE-4CBE-B58A-1978660AFEE6}"/>
              </a:ext>
            </a:extLst>
          </p:cNvPr>
          <p:cNvSpPr/>
          <p:nvPr/>
        </p:nvSpPr>
        <p:spPr bwMode="gray">
          <a:xfrm>
            <a:off x="696686" y="2688768"/>
            <a:ext cx="2547257" cy="522515"/>
          </a:xfrm>
          <a:prstGeom prst="rect">
            <a:avLst/>
          </a:prstGeom>
          <a:solidFill>
            <a:srgbClr val="007680"/>
          </a:solidFill>
          <a:ln w="19050" algn="ctr">
            <a:noFill/>
            <a:miter lim="800000"/>
            <a:headEnd/>
            <a:tailEnd/>
          </a:ln>
        </p:spPr>
        <p:txBody>
          <a:bodyPr wrap="square" lIns="88900" tIns="88900" rIns="88900" bIns="88900" rtlCol="0" anchor="ctr"/>
          <a:lstStyle/>
          <a:p>
            <a:pPr algn="ctr">
              <a:lnSpc>
                <a:spcPct val="106000"/>
              </a:lnSpc>
            </a:pPr>
            <a:r>
              <a:rPr lang="en-US" sz="1300" b="1" dirty="0">
                <a:solidFill>
                  <a:schemeClr val="bg1"/>
                </a:solidFill>
              </a:rPr>
              <a:t>Thermal Generators</a:t>
            </a:r>
          </a:p>
        </p:txBody>
      </p:sp>
      <p:sp>
        <p:nvSpPr>
          <p:cNvPr id="6" name="Rectangle 5">
            <a:extLst>
              <a:ext uri="{FF2B5EF4-FFF2-40B4-BE49-F238E27FC236}">
                <a16:creationId xmlns:a16="http://schemas.microsoft.com/office/drawing/2014/main" id="{F3F0EDBE-D506-4457-A884-64504DE4C14F}"/>
              </a:ext>
            </a:extLst>
          </p:cNvPr>
          <p:cNvSpPr/>
          <p:nvPr/>
        </p:nvSpPr>
        <p:spPr bwMode="gray">
          <a:xfrm>
            <a:off x="696685" y="3211283"/>
            <a:ext cx="2547257" cy="2133604"/>
          </a:xfrm>
          <a:prstGeom prst="rect">
            <a:avLst/>
          </a:prstGeom>
          <a:ln>
            <a:solidFill>
              <a:srgbClr val="007680"/>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nSpc>
                <a:spcPct val="106000"/>
              </a:lnSpc>
            </a:pPr>
            <a:r>
              <a:rPr lang="en-US" sz="1300" dirty="0"/>
              <a:t>Increased daytime demand can improve the PLFs and reduce the variability in the generation pattern, which can increase the revenue from catering to increased demand and cost of generation</a:t>
            </a:r>
          </a:p>
        </p:txBody>
      </p:sp>
      <p:sp>
        <p:nvSpPr>
          <p:cNvPr id="7" name="Rectangle 6">
            <a:extLst>
              <a:ext uri="{FF2B5EF4-FFF2-40B4-BE49-F238E27FC236}">
                <a16:creationId xmlns:a16="http://schemas.microsoft.com/office/drawing/2014/main" id="{DD8DA6DC-ACBE-4416-A95B-5C96573745A1}"/>
              </a:ext>
            </a:extLst>
          </p:cNvPr>
          <p:cNvSpPr/>
          <p:nvPr/>
        </p:nvSpPr>
        <p:spPr bwMode="gray">
          <a:xfrm>
            <a:off x="3450769" y="2688768"/>
            <a:ext cx="2547257" cy="522515"/>
          </a:xfrm>
          <a:prstGeom prst="rect">
            <a:avLst/>
          </a:prstGeom>
          <a:solidFill>
            <a:srgbClr val="86BC25"/>
          </a:solidFill>
          <a:ln w="19050" algn="ctr">
            <a:noFill/>
            <a:miter lim="800000"/>
            <a:headEnd/>
            <a:tailEnd/>
          </a:ln>
        </p:spPr>
        <p:txBody>
          <a:bodyPr wrap="square" lIns="88900" tIns="88900" rIns="88900" bIns="88900" rtlCol="0" anchor="ctr"/>
          <a:lstStyle/>
          <a:p>
            <a:pPr algn="ctr">
              <a:lnSpc>
                <a:spcPct val="106000"/>
              </a:lnSpc>
            </a:pPr>
            <a:r>
              <a:rPr lang="en-US" sz="1300" b="1" dirty="0">
                <a:solidFill>
                  <a:schemeClr val="bg1"/>
                </a:solidFill>
              </a:rPr>
              <a:t>RE Generators</a:t>
            </a:r>
          </a:p>
        </p:txBody>
      </p:sp>
      <p:sp>
        <p:nvSpPr>
          <p:cNvPr id="8" name="Rectangle 7">
            <a:extLst>
              <a:ext uri="{FF2B5EF4-FFF2-40B4-BE49-F238E27FC236}">
                <a16:creationId xmlns:a16="http://schemas.microsoft.com/office/drawing/2014/main" id="{5B3673E9-4DA4-4FD6-ADB8-07815B3E4403}"/>
              </a:ext>
            </a:extLst>
          </p:cNvPr>
          <p:cNvSpPr/>
          <p:nvPr/>
        </p:nvSpPr>
        <p:spPr bwMode="gray">
          <a:xfrm>
            <a:off x="3450768" y="3211283"/>
            <a:ext cx="2547257" cy="2133604"/>
          </a:xfrm>
          <a:prstGeom prst="rect">
            <a:avLst/>
          </a:prstGeom>
          <a:ln>
            <a:solidFill>
              <a:srgbClr val="86BC25"/>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nSpc>
                <a:spcPct val="106000"/>
              </a:lnSpc>
            </a:pPr>
            <a:r>
              <a:rPr lang="en-US" sz="1300" dirty="0"/>
              <a:t>Increased demand can provide enough capacity for the grid to absorb more RE and thus reduce the need for curtailment. A decrease in curtailment will increase the revenue of the RE generators</a:t>
            </a:r>
          </a:p>
        </p:txBody>
      </p:sp>
      <p:sp>
        <p:nvSpPr>
          <p:cNvPr id="9" name="Rectangle 8">
            <a:extLst>
              <a:ext uri="{FF2B5EF4-FFF2-40B4-BE49-F238E27FC236}">
                <a16:creationId xmlns:a16="http://schemas.microsoft.com/office/drawing/2014/main" id="{EA8448F3-6B3C-4439-991B-C6C72230C159}"/>
              </a:ext>
            </a:extLst>
          </p:cNvPr>
          <p:cNvSpPr/>
          <p:nvPr/>
        </p:nvSpPr>
        <p:spPr bwMode="gray">
          <a:xfrm>
            <a:off x="6237511" y="2688768"/>
            <a:ext cx="2547257" cy="522515"/>
          </a:xfrm>
          <a:prstGeom prst="rect">
            <a:avLst/>
          </a:prstGeom>
          <a:solidFill>
            <a:schemeClr val="bg2">
              <a:lumMod val="90000"/>
            </a:schemeClr>
          </a:solidFill>
          <a:ln w="19050" algn="ctr">
            <a:noFill/>
            <a:miter lim="800000"/>
            <a:headEnd/>
            <a:tailEnd/>
          </a:ln>
        </p:spPr>
        <p:txBody>
          <a:bodyPr wrap="square" lIns="88900" tIns="88900" rIns="88900" bIns="88900" rtlCol="0" anchor="ctr"/>
          <a:lstStyle/>
          <a:p>
            <a:pPr algn="ctr">
              <a:lnSpc>
                <a:spcPct val="106000"/>
              </a:lnSpc>
            </a:pPr>
            <a:r>
              <a:rPr lang="en-US" sz="1300" b="1" dirty="0"/>
              <a:t>DISCOMs</a:t>
            </a:r>
          </a:p>
        </p:txBody>
      </p:sp>
      <p:sp>
        <p:nvSpPr>
          <p:cNvPr id="10" name="Rectangle 9">
            <a:extLst>
              <a:ext uri="{FF2B5EF4-FFF2-40B4-BE49-F238E27FC236}">
                <a16:creationId xmlns:a16="http://schemas.microsoft.com/office/drawing/2014/main" id="{9B465555-6EED-49D3-9E98-C498C6AEE54D}"/>
              </a:ext>
            </a:extLst>
          </p:cNvPr>
          <p:cNvSpPr/>
          <p:nvPr/>
        </p:nvSpPr>
        <p:spPr bwMode="gray">
          <a:xfrm>
            <a:off x="6237511" y="3211283"/>
            <a:ext cx="2547257" cy="2133604"/>
          </a:xfrm>
          <a:prstGeom prst="rect">
            <a:avLst/>
          </a:prstGeom>
          <a:ln>
            <a:solidFill>
              <a:schemeClr val="bg2">
                <a:lumMod val="90000"/>
              </a:schemeClr>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nSpc>
                <a:spcPct val="106000"/>
              </a:lnSpc>
            </a:pPr>
            <a:r>
              <a:rPr lang="en-US" sz="1300" dirty="0"/>
              <a:t>Increased daytime demand can help flatten the load profile, allowing DISCOMs to absorb more power at a lower cost. Adding new demand will increase the business and profitability of the DISCOM</a:t>
            </a:r>
          </a:p>
        </p:txBody>
      </p:sp>
      <p:sp>
        <p:nvSpPr>
          <p:cNvPr id="11" name="Rectangle 10">
            <a:extLst>
              <a:ext uri="{FF2B5EF4-FFF2-40B4-BE49-F238E27FC236}">
                <a16:creationId xmlns:a16="http://schemas.microsoft.com/office/drawing/2014/main" id="{6BE00624-0C4B-40BF-BE78-82AB54646E5A}"/>
              </a:ext>
            </a:extLst>
          </p:cNvPr>
          <p:cNvSpPr/>
          <p:nvPr/>
        </p:nvSpPr>
        <p:spPr bwMode="gray">
          <a:xfrm>
            <a:off x="9024253" y="2688768"/>
            <a:ext cx="2547257" cy="522515"/>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pPr>
            <a:r>
              <a:rPr lang="en-US" sz="1300" b="1" dirty="0">
                <a:solidFill>
                  <a:schemeClr val="bg1"/>
                </a:solidFill>
              </a:rPr>
              <a:t>Customers</a:t>
            </a:r>
          </a:p>
        </p:txBody>
      </p:sp>
      <p:sp>
        <p:nvSpPr>
          <p:cNvPr id="13" name="Rectangle 12">
            <a:extLst>
              <a:ext uri="{FF2B5EF4-FFF2-40B4-BE49-F238E27FC236}">
                <a16:creationId xmlns:a16="http://schemas.microsoft.com/office/drawing/2014/main" id="{41EE446D-74A0-4511-86FC-D38CA48509C4}"/>
              </a:ext>
            </a:extLst>
          </p:cNvPr>
          <p:cNvSpPr/>
          <p:nvPr/>
        </p:nvSpPr>
        <p:spPr bwMode="gray">
          <a:xfrm>
            <a:off x="9024252" y="3211283"/>
            <a:ext cx="2547257" cy="2133604"/>
          </a:xfrm>
          <a:prstGeom prst="rect">
            <a:avLst/>
          </a:prstGeom>
          <a:ln>
            <a:solidFill>
              <a:schemeClr val="tx1">
                <a:lumMod val="65000"/>
                <a:lumOff val="35000"/>
              </a:schemeClr>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nSpc>
                <a:spcPct val="106000"/>
              </a:lnSpc>
            </a:pPr>
            <a:r>
              <a:rPr lang="en-US" sz="1300" dirty="0"/>
              <a:t>With the rebate for incremental consumption, customers can consume more electricity by adding new appliances and substituting other energy sources for electricity. This can reduce their average cost of energy</a:t>
            </a:r>
          </a:p>
        </p:txBody>
      </p:sp>
      <p:sp>
        <p:nvSpPr>
          <p:cNvPr id="16" name="TextBox 15">
            <a:extLst>
              <a:ext uri="{FF2B5EF4-FFF2-40B4-BE49-F238E27FC236}">
                <a16:creationId xmlns:a16="http://schemas.microsoft.com/office/drawing/2014/main" id="{9E5F1160-8F12-480C-8252-721007600B57}"/>
              </a:ext>
            </a:extLst>
          </p:cNvPr>
          <p:cNvSpPr txBox="1"/>
          <p:nvPr/>
        </p:nvSpPr>
        <p:spPr>
          <a:xfrm>
            <a:off x="718453" y="2319789"/>
            <a:ext cx="5464629" cy="215444"/>
          </a:xfrm>
          <a:prstGeom prst="rect">
            <a:avLst/>
          </a:prstGeom>
          <a:noFill/>
        </p:spPr>
        <p:txBody>
          <a:bodyPr wrap="square" lIns="0" tIns="0" rIns="0" bIns="0" rtlCol="0">
            <a:spAutoFit/>
          </a:bodyP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0" cap="none" spc="0" normalizeH="0" baseline="0" noProof="0" dirty="0">
                <a:ln>
                  <a:noFill/>
                </a:ln>
                <a:solidFill>
                  <a:prstClr val="black"/>
                </a:solidFill>
                <a:effectLst/>
                <a:uLnTx/>
                <a:uFillTx/>
              </a:rPr>
              <a:t>Advantages of Green </a:t>
            </a:r>
            <a:r>
              <a:rPr kumimoji="0" lang="en-US" sz="1400" b="1" i="0" u="none" strike="noStrike" kern="0" cap="none" spc="0" normalizeH="0" baseline="0" noProof="0" dirty="0" err="1">
                <a:ln>
                  <a:noFill/>
                </a:ln>
                <a:solidFill>
                  <a:prstClr val="black"/>
                </a:solidFill>
                <a:effectLst/>
                <a:uLnTx/>
                <a:uFillTx/>
              </a:rPr>
              <a:t>ToD</a:t>
            </a:r>
            <a:r>
              <a:rPr kumimoji="0" lang="en-US" sz="1400" b="1" i="0" u="none" strike="noStrike" kern="0" cap="none" spc="0" normalizeH="0" baseline="0" noProof="0" dirty="0">
                <a:ln>
                  <a:noFill/>
                </a:ln>
                <a:solidFill>
                  <a:prstClr val="black"/>
                </a:solidFill>
                <a:effectLst/>
                <a:uLnTx/>
                <a:uFillTx/>
              </a:rPr>
              <a:t> with respect to stakeholders</a:t>
            </a:r>
            <a:endParaRPr kumimoji="0" lang="en-IN" sz="1400" b="1"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4158012424"/>
      </p:ext>
    </p:extLst>
  </p:cSld>
  <p:clrMapOvr>
    <a:masterClrMapping/>
  </p:clrMapOvr>
  <p:transition>
    <p:fad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02F641-FAA0-4647-BB71-2A929E824A77}"/>
              </a:ext>
            </a:extLst>
          </p:cNvPr>
          <p:cNvSpPr>
            <a:spLocks noGrp="1"/>
          </p:cNvSpPr>
          <p:nvPr>
            <p:ph type="title"/>
          </p:nvPr>
        </p:nvSpPr>
        <p:spPr/>
        <p:txBody>
          <a:bodyPr/>
          <a:lstStyle/>
          <a:p>
            <a:pPr marL="0" marR="0">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Times New Roman" panose="02020603050405020304" pitchFamily="18" charset="0"/>
              </a:rPr>
              <a:t>Estimation of Potential of Additional Electricity Demand</a:t>
            </a:r>
          </a:p>
        </p:txBody>
      </p:sp>
      <p:sp>
        <p:nvSpPr>
          <p:cNvPr id="16" name="TextBox 15">
            <a:extLst>
              <a:ext uri="{FF2B5EF4-FFF2-40B4-BE49-F238E27FC236}">
                <a16:creationId xmlns:a16="http://schemas.microsoft.com/office/drawing/2014/main" id="{0B2BEC13-DE52-4151-B663-6F52DA323891}"/>
              </a:ext>
            </a:extLst>
          </p:cNvPr>
          <p:cNvSpPr txBox="1"/>
          <p:nvPr/>
        </p:nvSpPr>
        <p:spPr>
          <a:xfrm>
            <a:off x="315686" y="776459"/>
            <a:ext cx="11517085" cy="1292662"/>
          </a:xfrm>
          <a:prstGeom prst="rect">
            <a:avLst/>
          </a:prstGeom>
          <a:noFill/>
        </p:spPr>
        <p:txBody>
          <a:bodyPr wrap="square">
            <a:spAutoFit/>
          </a:bodyPr>
          <a:lstStyle/>
          <a:p>
            <a:r>
              <a:rPr lang="en-US" sz="1300" dirty="0"/>
              <a:t>As per latest 19</a:t>
            </a:r>
            <a:r>
              <a:rPr lang="en-US" sz="1300" baseline="30000" dirty="0"/>
              <a:t>th</a:t>
            </a:r>
            <a:r>
              <a:rPr lang="en-US" sz="1300" dirty="0"/>
              <a:t> Electric Power Survey (EPS) Report , CEA observes that in the business as usual (BAU) case, </a:t>
            </a:r>
          </a:p>
          <a:p>
            <a:pPr marL="285750" indent="-285750">
              <a:buFont typeface="Wingdings" panose="05000000000000000000" pitchFamily="2" charset="2"/>
              <a:buChar char="Ø"/>
            </a:pPr>
            <a:endParaRPr lang="en-US" sz="1300" b="1" dirty="0"/>
          </a:p>
          <a:p>
            <a:pPr marL="285750" indent="-285750">
              <a:buFont typeface="Wingdings" panose="05000000000000000000" pitchFamily="2" charset="2"/>
              <a:buChar char="Ø"/>
            </a:pPr>
            <a:r>
              <a:rPr lang="en-US" sz="1300" b="1" dirty="0"/>
              <a:t>Electricity demand will grow</a:t>
            </a:r>
            <a:r>
              <a:rPr lang="en-US" sz="1300" dirty="0"/>
              <a:t> at a CAGR of </a:t>
            </a:r>
            <a:r>
              <a:rPr lang="en-US" sz="1300" b="1" dirty="0"/>
              <a:t>5.1% from 2021-2022 to 2026-2027</a:t>
            </a:r>
            <a:r>
              <a:rPr lang="en-US" sz="1300" dirty="0"/>
              <a:t>, </a:t>
            </a:r>
          </a:p>
          <a:p>
            <a:pPr marL="285750" indent="-285750">
              <a:buFont typeface="Wingdings" panose="05000000000000000000" pitchFamily="2" charset="2"/>
              <a:buChar char="Ø"/>
            </a:pPr>
            <a:endParaRPr lang="en-US" sz="1300" dirty="0"/>
          </a:p>
          <a:p>
            <a:pPr marL="285750" indent="-285750">
              <a:buFont typeface="Wingdings" panose="05000000000000000000" pitchFamily="2" charset="2"/>
              <a:buChar char="Ø"/>
            </a:pPr>
            <a:r>
              <a:rPr lang="en-US" sz="1300" dirty="0"/>
              <a:t>and at the rate of </a:t>
            </a:r>
            <a:r>
              <a:rPr lang="en-US" sz="1300" b="1" dirty="0"/>
              <a:t>4.66 percent from 2026-2027 to 2036-2037</a:t>
            </a:r>
            <a:r>
              <a:rPr lang="en-US" sz="1300" dirty="0"/>
              <a:t>, assuming CAGR of gross domestic product GDP) is 7.3 percent and using a partial end-use methodology</a:t>
            </a:r>
          </a:p>
        </p:txBody>
      </p:sp>
      <p:graphicFrame>
        <p:nvGraphicFramePr>
          <p:cNvPr id="17" name="Diagram 16">
            <a:extLst>
              <a:ext uri="{FF2B5EF4-FFF2-40B4-BE49-F238E27FC236}">
                <a16:creationId xmlns:a16="http://schemas.microsoft.com/office/drawing/2014/main" id="{8C563E2A-E7BF-455B-A401-952B4329A1ED}"/>
              </a:ext>
            </a:extLst>
          </p:cNvPr>
          <p:cNvGraphicFramePr/>
          <p:nvPr/>
        </p:nvGraphicFramePr>
        <p:xfrm>
          <a:off x="229509" y="2282591"/>
          <a:ext cx="5386611" cy="44338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8" name="TextBox 17">
            <a:extLst>
              <a:ext uri="{FF2B5EF4-FFF2-40B4-BE49-F238E27FC236}">
                <a16:creationId xmlns:a16="http://schemas.microsoft.com/office/drawing/2014/main" id="{CD028D71-A089-4F0F-A6E3-B3BD1D98DB7F}"/>
              </a:ext>
            </a:extLst>
          </p:cNvPr>
          <p:cNvSpPr txBox="1"/>
          <p:nvPr/>
        </p:nvSpPr>
        <p:spPr>
          <a:xfrm>
            <a:off x="391431" y="2155370"/>
            <a:ext cx="5464629" cy="200055"/>
          </a:xfrm>
          <a:prstGeom prst="rect">
            <a:avLst/>
          </a:prstGeom>
          <a:noFill/>
        </p:spPr>
        <p:txBody>
          <a:bodyPr wrap="square" lIns="0" tIns="0" rIns="0" bIns="0" rtlCol="0">
            <a:spAutoFit/>
          </a:bodyPr>
          <a:lstStyle/>
          <a:p>
            <a:pPr>
              <a:spcBef>
                <a:spcPts val="600"/>
              </a:spcBef>
              <a:buSzPct val="100000"/>
            </a:pPr>
            <a:r>
              <a:rPr lang="en-US" sz="1300" b="1" dirty="0">
                <a:solidFill>
                  <a:srgbClr val="313131"/>
                </a:solidFill>
              </a:rPr>
              <a:t>Key factors that can contribute to increase in Demand:</a:t>
            </a:r>
          </a:p>
        </p:txBody>
      </p:sp>
      <p:sp>
        <p:nvSpPr>
          <p:cNvPr id="19" name="TextBox 18">
            <a:extLst>
              <a:ext uri="{FF2B5EF4-FFF2-40B4-BE49-F238E27FC236}">
                <a16:creationId xmlns:a16="http://schemas.microsoft.com/office/drawing/2014/main" id="{0CD3BDC4-560F-49D0-BEEC-40AA2C9D6163}"/>
              </a:ext>
            </a:extLst>
          </p:cNvPr>
          <p:cNvSpPr txBox="1"/>
          <p:nvPr/>
        </p:nvSpPr>
        <p:spPr>
          <a:xfrm>
            <a:off x="7315198" y="2156546"/>
            <a:ext cx="3570515" cy="215444"/>
          </a:xfrm>
          <a:prstGeom prst="rect">
            <a:avLst/>
          </a:prstGeom>
          <a:noFill/>
        </p:spPr>
        <p:txBody>
          <a:bodyPr wrap="square" lIns="0" tIns="0" rIns="0" bIns="0" rtlCol="0">
            <a:spAutoFit/>
          </a:bodyPr>
          <a:lstStyle/>
          <a:p>
            <a:pPr>
              <a:spcBef>
                <a:spcPts val="600"/>
              </a:spcBef>
              <a:buSzPct val="100000"/>
            </a:pPr>
            <a:r>
              <a:rPr lang="en-US" sz="1400" b="1" dirty="0">
                <a:solidFill>
                  <a:srgbClr val="313131"/>
                </a:solidFill>
              </a:rPr>
              <a:t>Potential of Demand Generation*</a:t>
            </a:r>
          </a:p>
        </p:txBody>
      </p:sp>
      <p:graphicFrame>
        <p:nvGraphicFramePr>
          <p:cNvPr id="20" name="Table 20">
            <a:extLst>
              <a:ext uri="{FF2B5EF4-FFF2-40B4-BE49-F238E27FC236}">
                <a16:creationId xmlns:a16="http://schemas.microsoft.com/office/drawing/2014/main" id="{614C2EBE-5A41-43EB-8160-357D556660FC}"/>
              </a:ext>
            </a:extLst>
          </p:cNvPr>
          <p:cNvGraphicFramePr>
            <a:graphicFrameLocks noGrp="1"/>
          </p:cNvGraphicFramePr>
          <p:nvPr/>
        </p:nvGraphicFramePr>
        <p:xfrm>
          <a:off x="6096000" y="2554198"/>
          <a:ext cx="5736771" cy="1615440"/>
        </p:xfrm>
        <a:graphic>
          <a:graphicData uri="http://schemas.openxmlformats.org/drawingml/2006/table">
            <a:tbl>
              <a:tblPr firstRow="1" bandRow="1">
                <a:tableStyleId>{5C22544A-7EE6-4342-B048-85BDC9FD1C3A}</a:tableStyleId>
              </a:tblPr>
              <a:tblGrid>
                <a:gridCol w="718457">
                  <a:extLst>
                    <a:ext uri="{9D8B030D-6E8A-4147-A177-3AD203B41FA5}">
                      <a16:colId xmlns:a16="http://schemas.microsoft.com/office/drawing/2014/main" val="2126389172"/>
                    </a:ext>
                  </a:extLst>
                </a:gridCol>
                <a:gridCol w="1295400">
                  <a:extLst>
                    <a:ext uri="{9D8B030D-6E8A-4147-A177-3AD203B41FA5}">
                      <a16:colId xmlns:a16="http://schemas.microsoft.com/office/drawing/2014/main" val="256914045"/>
                    </a:ext>
                  </a:extLst>
                </a:gridCol>
                <a:gridCol w="1935176">
                  <a:extLst>
                    <a:ext uri="{9D8B030D-6E8A-4147-A177-3AD203B41FA5}">
                      <a16:colId xmlns:a16="http://schemas.microsoft.com/office/drawing/2014/main" val="859187615"/>
                    </a:ext>
                  </a:extLst>
                </a:gridCol>
                <a:gridCol w="1787738">
                  <a:extLst>
                    <a:ext uri="{9D8B030D-6E8A-4147-A177-3AD203B41FA5}">
                      <a16:colId xmlns:a16="http://schemas.microsoft.com/office/drawing/2014/main" val="2642988300"/>
                    </a:ext>
                  </a:extLst>
                </a:gridCol>
              </a:tblGrid>
              <a:tr h="514916">
                <a:tc>
                  <a:txBody>
                    <a:bodyPr/>
                    <a:lstStyle/>
                    <a:p>
                      <a:pPr algn="ctr"/>
                      <a:endParaRPr lang="en-US" sz="11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a:solidFill>
                            <a:schemeClr val="tx1"/>
                          </a:solidFill>
                        </a:rPr>
                        <a:t>Elasticity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a:solidFill>
                            <a:schemeClr val="tx1"/>
                          </a:solidFill>
                        </a:rPr>
                        <a:t>Potential of Demand</a:t>
                      </a:r>
                    </a:p>
                    <a:p>
                      <a:pPr algn="ctr"/>
                      <a:r>
                        <a:rPr lang="en-US" sz="1100" dirty="0">
                          <a:solidFill>
                            <a:schemeClr val="tx1"/>
                          </a:solidFill>
                        </a:rPr>
                        <a:t>Generation (GWh) at</a:t>
                      </a:r>
                    </a:p>
                    <a:p>
                      <a:pPr algn="ctr"/>
                      <a:r>
                        <a:rPr lang="en-US" sz="1100" dirty="0">
                          <a:solidFill>
                            <a:schemeClr val="tx1"/>
                          </a:solidFill>
                        </a:rPr>
                        <a:t>1% Lower Tariff</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dirty="0">
                          <a:solidFill>
                            <a:schemeClr val="tx1"/>
                          </a:solidFill>
                        </a:rPr>
                        <a:t>Potential of Demand</a:t>
                      </a:r>
                    </a:p>
                    <a:p>
                      <a:pPr algn="ctr"/>
                      <a:r>
                        <a:rPr lang="en-US" sz="1100" dirty="0">
                          <a:solidFill>
                            <a:schemeClr val="tx1"/>
                          </a:solidFill>
                        </a:rPr>
                        <a:t>Generation (GWh) at</a:t>
                      </a:r>
                    </a:p>
                    <a:p>
                      <a:pPr algn="ctr"/>
                      <a:r>
                        <a:rPr lang="en-US" sz="1100" dirty="0">
                          <a:solidFill>
                            <a:schemeClr val="tx1"/>
                          </a:solidFill>
                        </a:rPr>
                        <a:t>15% Lower Tariff</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031988287"/>
                  </a:ext>
                </a:extLst>
              </a:tr>
              <a:tr h="348927">
                <a:tc>
                  <a:txBody>
                    <a:bodyPr/>
                    <a:lstStyle/>
                    <a:p>
                      <a:pPr algn="ctr"/>
                      <a:r>
                        <a:rPr lang="en-US" sz="1100" dirty="0"/>
                        <a:t>Short term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a:t>0.02%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1" dirty="0"/>
                        <a:t>22.6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1" dirty="0"/>
                        <a:t>3390.7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3814746"/>
                  </a:ext>
                </a:extLst>
              </a:tr>
              <a:tr h="348927">
                <a:tc>
                  <a:txBody>
                    <a:bodyPr/>
                    <a:lstStyle/>
                    <a:p>
                      <a:pPr algn="ctr"/>
                      <a:r>
                        <a:rPr lang="en-US" sz="1100" dirty="0"/>
                        <a:t>Long term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a:t>0.06%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1" dirty="0"/>
                        <a:t>67.8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1" dirty="0"/>
                        <a:t>10172.7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1282925"/>
                  </a:ext>
                </a:extLst>
              </a:tr>
            </a:tbl>
          </a:graphicData>
        </a:graphic>
      </p:graphicFrame>
      <p:sp>
        <p:nvSpPr>
          <p:cNvPr id="22" name="TextBox 21">
            <a:extLst>
              <a:ext uri="{FF2B5EF4-FFF2-40B4-BE49-F238E27FC236}">
                <a16:creationId xmlns:a16="http://schemas.microsoft.com/office/drawing/2014/main" id="{807D397B-D479-4250-AAB8-D01BB36F27AA}"/>
              </a:ext>
            </a:extLst>
          </p:cNvPr>
          <p:cNvSpPr txBox="1"/>
          <p:nvPr/>
        </p:nvSpPr>
        <p:spPr>
          <a:xfrm>
            <a:off x="5911169" y="4788880"/>
            <a:ext cx="6106431" cy="1665199"/>
          </a:xfrm>
          <a:prstGeom prst="rect">
            <a:avLst/>
          </a:prstGeom>
          <a:noFill/>
        </p:spPr>
        <p:txBody>
          <a:bodyPr wrap="square">
            <a:spAutoFit/>
          </a:bodyPr>
          <a:lstStyle/>
          <a:p>
            <a:pPr marL="171450" marR="0" indent="-171450" algn="just">
              <a:lnSpc>
                <a:spcPct val="107000"/>
              </a:lnSpc>
              <a:spcBef>
                <a:spcPts val="0"/>
              </a:spcBef>
              <a:spcAft>
                <a:spcPts val="800"/>
              </a:spcAft>
              <a:buFont typeface="Wingdings" panose="05000000000000000000" pitchFamily="2" charset="2"/>
              <a:buChar char="Ø"/>
            </a:pPr>
            <a:r>
              <a:rPr lang="en-US" sz="1300" dirty="0">
                <a:effectLst/>
                <a:latin typeface="Verdana" panose="020B0604030504040204" pitchFamily="34" charset="0"/>
                <a:ea typeface="Verdana" panose="020B0604030504040204" pitchFamily="34" charset="0"/>
                <a:cs typeface="Times New Roman" panose="02020603050405020304" pitchFamily="18" charset="0"/>
              </a:rPr>
              <a:t>Electricity consumption for industrial loads is elastic in nature. The elasticity is higher in the long term compared to the short term because industry needs to make investments, either capital investments in equipment or investment in processes, to alter its consumption patterns. </a:t>
            </a:r>
          </a:p>
          <a:p>
            <a:pPr marL="171450" indent="-171450" algn="just">
              <a:buFont typeface="Wingdings" panose="05000000000000000000" pitchFamily="2" charset="2"/>
              <a:buChar char="Ø"/>
            </a:pPr>
            <a:r>
              <a:rPr lang="en-US" sz="1300" dirty="0">
                <a:effectLst/>
                <a:latin typeface="Verdana" panose="020B0604030504040204" pitchFamily="34" charset="0"/>
                <a:ea typeface="Verdana" panose="020B0604030504040204" pitchFamily="34" charset="0"/>
                <a:cs typeface="Times New Roman" panose="02020603050405020304" pitchFamily="18" charset="0"/>
              </a:rPr>
              <a:t>Also, changes in demand curves will kick in only after a tariff change of say 5 percent; below that, the demand will be inelastic</a:t>
            </a:r>
            <a:endParaRPr lang="en-US" sz="1300" dirty="0"/>
          </a:p>
        </p:txBody>
      </p:sp>
      <p:sp>
        <p:nvSpPr>
          <p:cNvPr id="9" name="TextBox 8">
            <a:extLst>
              <a:ext uri="{FF2B5EF4-FFF2-40B4-BE49-F238E27FC236}">
                <a16:creationId xmlns:a16="http://schemas.microsoft.com/office/drawing/2014/main" id="{C77FAEC6-DEE2-4229-8D2F-2CED0BFA3A50}"/>
              </a:ext>
            </a:extLst>
          </p:cNvPr>
          <p:cNvSpPr txBox="1"/>
          <p:nvPr/>
        </p:nvSpPr>
        <p:spPr>
          <a:xfrm>
            <a:off x="6096000" y="4410009"/>
            <a:ext cx="8240486" cy="138499"/>
          </a:xfrm>
          <a:prstGeom prst="rect">
            <a:avLst/>
          </a:prstGeom>
          <a:noFill/>
        </p:spPr>
        <p:txBody>
          <a:bodyPr wrap="square" lIns="0" tIns="0" rIns="0" bIns="0" rtlCol="0">
            <a:spAutoFit/>
          </a:bodyPr>
          <a:lstStyle/>
          <a:p>
            <a:pPr>
              <a:spcBef>
                <a:spcPts val="600"/>
              </a:spcBef>
              <a:buSzPct val="100000"/>
            </a:pPr>
            <a:r>
              <a:rPr lang="en-US" sz="900" i="1" dirty="0">
                <a:solidFill>
                  <a:srgbClr val="313131"/>
                </a:solidFill>
              </a:rPr>
              <a:t>Source: </a:t>
            </a:r>
            <a:r>
              <a:rPr lang="en-US" sz="900" i="1" dirty="0">
                <a:solidFill>
                  <a:srgbClr val="313131"/>
                </a:solidFill>
                <a:hlinkClick r:id="rId8"/>
              </a:rPr>
              <a:t>https://www.pace-d.com/wp-content/uploads/2021/07/Green-ToD-White-Paper_1.pdf</a:t>
            </a:r>
            <a:r>
              <a:rPr lang="en-US" sz="900" i="1" dirty="0">
                <a:solidFill>
                  <a:srgbClr val="313131"/>
                </a:solidFill>
              </a:rPr>
              <a:t> </a:t>
            </a:r>
          </a:p>
        </p:txBody>
      </p:sp>
    </p:spTree>
    <p:extLst>
      <p:ext uri="{BB962C8B-B14F-4D97-AF65-F5344CB8AC3E}">
        <p14:creationId xmlns:p14="http://schemas.microsoft.com/office/powerpoint/2010/main" val="3020401063"/>
      </p:ext>
    </p:extLst>
  </p:cSld>
  <p:clrMapOvr>
    <a:masterClrMapping/>
  </p:clrMapOvr>
  <p:transition>
    <p:fad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02F641-FAA0-4647-BB71-2A929E824A77}"/>
              </a:ext>
            </a:extLst>
          </p:cNvPr>
          <p:cNvSpPr>
            <a:spLocks noGrp="1"/>
          </p:cNvSpPr>
          <p:nvPr>
            <p:ph type="title"/>
          </p:nvPr>
        </p:nvSpPr>
        <p:spPr>
          <a:xfrm>
            <a:off x="377432" y="224834"/>
            <a:ext cx="11571413" cy="658743"/>
          </a:xfrm>
        </p:spPr>
        <p:txBody>
          <a:bodyPr/>
          <a:lstStyle/>
          <a:p>
            <a:pPr marL="0" marR="0">
              <a:lnSpc>
                <a:spcPct val="107000"/>
              </a:lnSpc>
              <a:spcBef>
                <a:spcPts val="0"/>
              </a:spcBef>
              <a:spcAft>
                <a:spcPts val="800"/>
              </a:spcAft>
            </a:pPr>
            <a:r>
              <a:rPr lang="en-US" sz="1800" b="1" dirty="0">
                <a:effectLst/>
                <a:ea typeface="Verdana" panose="020B0604030504040204" pitchFamily="34" charset="0"/>
                <a:cs typeface="Times New Roman" panose="02020603050405020304" pitchFamily="18" charset="0"/>
              </a:rPr>
              <a:t>High Industrial Tariff</a:t>
            </a:r>
            <a:r>
              <a:rPr lang="en-US" sz="1800" b="1" dirty="0">
                <a:ea typeface="Verdana" panose="020B0604030504040204" pitchFamily="34" charset="0"/>
                <a:cs typeface="Times New Roman" panose="02020603050405020304" pitchFamily="18" charset="0"/>
              </a:rPr>
              <a:t>- T</a:t>
            </a:r>
            <a:r>
              <a:rPr lang="en-US" sz="1800" b="1" dirty="0">
                <a:effectLst/>
                <a:ea typeface="Verdana" panose="020B0604030504040204" pitchFamily="34" charset="0"/>
                <a:cs typeface="Times New Roman" panose="02020603050405020304" pitchFamily="18" charset="0"/>
              </a:rPr>
              <a:t>rend of Customer shift towards RE- </a:t>
            </a:r>
            <a:r>
              <a:rPr lang="en-US" sz="1800" b="1" dirty="0">
                <a:ea typeface="Verdana" panose="020B0604030504040204" pitchFamily="34" charset="0"/>
                <a:cs typeface="Times New Roman" panose="02020603050405020304" pitchFamily="18" charset="0"/>
              </a:rPr>
              <a:t>E</a:t>
            </a:r>
            <a:r>
              <a:rPr lang="en-US" sz="1800" b="1" dirty="0">
                <a:effectLst/>
                <a:ea typeface="Verdana" panose="020B0604030504040204" pitchFamily="34" charset="0"/>
                <a:cs typeface="Times New Roman" panose="02020603050405020304" pitchFamily="18" charset="0"/>
              </a:rPr>
              <a:t>xpected increase in Demand among key factors that can motivate introduction of Green Tariff in West Bengal</a:t>
            </a:r>
          </a:p>
        </p:txBody>
      </p:sp>
      <p:sp>
        <p:nvSpPr>
          <p:cNvPr id="15" name="Rectangle 14">
            <a:extLst>
              <a:ext uri="{FF2B5EF4-FFF2-40B4-BE49-F238E27FC236}">
                <a16:creationId xmlns:a16="http://schemas.microsoft.com/office/drawing/2014/main" id="{8FF6D540-C5AC-4DA0-AA4B-CDFE5930903C}"/>
              </a:ext>
            </a:extLst>
          </p:cNvPr>
          <p:cNvSpPr/>
          <p:nvPr/>
        </p:nvSpPr>
        <p:spPr bwMode="gray">
          <a:xfrm>
            <a:off x="377432" y="1199228"/>
            <a:ext cx="8980714" cy="512733"/>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1" u="none" strike="noStrike" kern="1200" cap="none" spc="0" normalizeH="0" baseline="0" noProof="0" dirty="0">
                <a:ln>
                  <a:noFill/>
                </a:ln>
                <a:solidFill>
                  <a:schemeClr val="tx1"/>
                </a:solidFill>
                <a:effectLst/>
                <a:uLnTx/>
                <a:uFillTx/>
                <a:latin typeface="+mj-lt"/>
                <a:ea typeface="+mn-ea"/>
                <a:cs typeface="+mn-cs"/>
              </a:rPr>
              <a:t>Key Factors that can encourage Green Tariff introduction in West Bengal: </a:t>
            </a:r>
          </a:p>
        </p:txBody>
      </p:sp>
      <p:graphicFrame>
        <p:nvGraphicFramePr>
          <p:cNvPr id="2" name="Diagram 1">
            <a:extLst>
              <a:ext uri="{FF2B5EF4-FFF2-40B4-BE49-F238E27FC236}">
                <a16:creationId xmlns:a16="http://schemas.microsoft.com/office/drawing/2014/main" id="{947BAFAF-0389-4894-B540-D87CD60AF004}"/>
              </a:ext>
            </a:extLst>
          </p:cNvPr>
          <p:cNvGraphicFramePr/>
          <p:nvPr>
            <p:extLst>
              <p:ext uri="{D42A27DB-BD31-4B8C-83A1-F6EECF244321}">
                <p14:modId xmlns:p14="http://schemas.microsoft.com/office/powerpoint/2010/main" val="3657991428"/>
              </p:ext>
            </p:extLst>
          </p:nvPr>
        </p:nvGraphicFramePr>
        <p:xfrm>
          <a:off x="427262" y="1835251"/>
          <a:ext cx="11337475" cy="44675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89271445"/>
      </p:ext>
    </p:extLst>
  </p:cSld>
  <p:clrMapOvr>
    <a:masterClrMapping/>
  </p:clrMapOvr>
  <p:transition>
    <p:fad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E847AA3D-1589-4FE0-8833-414023DF6933}"/>
              </a:ext>
            </a:extLst>
          </p:cNvPr>
          <p:cNvGraphicFramePr/>
          <p:nvPr>
            <p:extLst>
              <p:ext uri="{D42A27DB-BD31-4B8C-83A1-F6EECF244321}">
                <p14:modId xmlns:p14="http://schemas.microsoft.com/office/powerpoint/2010/main" val="415331294"/>
              </p:ext>
            </p:extLst>
          </p:nvPr>
        </p:nvGraphicFramePr>
        <p:xfrm>
          <a:off x="-1025073" y="402587"/>
          <a:ext cx="12583886" cy="50849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a:extLst>
              <a:ext uri="{FF2B5EF4-FFF2-40B4-BE49-F238E27FC236}">
                <a16:creationId xmlns:a16="http://schemas.microsoft.com/office/drawing/2014/main" id="{8002F641-FAA0-4647-BB71-2A929E824A77}"/>
              </a:ext>
            </a:extLst>
          </p:cNvPr>
          <p:cNvSpPr>
            <a:spLocks noGrp="1"/>
          </p:cNvSpPr>
          <p:nvPr>
            <p:ph type="title"/>
          </p:nvPr>
        </p:nvSpPr>
        <p:spPr>
          <a:xfrm>
            <a:off x="469902" y="289573"/>
            <a:ext cx="11252200" cy="334102"/>
          </a:xfrm>
        </p:spPr>
        <p:txBody>
          <a:bodyPr/>
          <a:lstStyle/>
          <a:p>
            <a:pPr marL="0" marR="0">
              <a:lnSpc>
                <a:spcPct val="107000"/>
              </a:lnSpc>
              <a:spcBef>
                <a:spcPts val="0"/>
              </a:spcBef>
              <a:spcAft>
                <a:spcPts val="800"/>
              </a:spcAft>
            </a:pPr>
            <a:r>
              <a:rPr lang="en-US" sz="1800" b="1" dirty="0">
                <a:effectLst/>
                <a:ea typeface="Verdana" panose="020B0604030504040204" pitchFamily="34" charset="0"/>
                <a:cs typeface="Times New Roman" panose="02020603050405020304" pitchFamily="18" charset="0"/>
              </a:rPr>
              <a:t>Precedence Cases – Andhra Pradesh</a:t>
            </a:r>
          </a:p>
        </p:txBody>
      </p:sp>
      <p:sp>
        <p:nvSpPr>
          <p:cNvPr id="5" name="Rectangle 4">
            <a:extLst>
              <a:ext uri="{FF2B5EF4-FFF2-40B4-BE49-F238E27FC236}">
                <a16:creationId xmlns:a16="http://schemas.microsoft.com/office/drawing/2014/main" id="{BEA93724-84D4-477D-A57C-A21E4264FE05}"/>
              </a:ext>
            </a:extLst>
          </p:cNvPr>
          <p:cNvSpPr/>
          <p:nvPr/>
        </p:nvSpPr>
        <p:spPr bwMode="gray">
          <a:xfrm>
            <a:off x="6750955" y="4440239"/>
            <a:ext cx="4971147" cy="2015174"/>
          </a:xfrm>
          <a:prstGeom prst="rect">
            <a:avLst/>
          </a:prstGeom>
          <a:solidFill>
            <a:schemeClr val="bg1">
              <a:lumMod val="95000"/>
            </a:schemeClr>
          </a:solidFill>
          <a:ln w="6350">
            <a:solidFill>
              <a:schemeClr val="tx1"/>
            </a:solidFill>
            <a:prstDash val="lgDash"/>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100" b="1" i="1" dirty="0">
                <a:solidFill>
                  <a:schemeClr val="tx1"/>
                </a:solidFill>
              </a:rPr>
              <a:t>Note: </a:t>
            </a:r>
          </a:p>
          <a:p>
            <a:pPr marL="171450" indent="-171450" algn="just">
              <a:lnSpc>
                <a:spcPct val="106000"/>
              </a:lnSpc>
              <a:buFont typeface="Arial" panose="020B0604020202020204" pitchFamily="34" charset="0"/>
              <a:buChar char="•"/>
            </a:pPr>
            <a:r>
              <a:rPr lang="en-US" sz="1100" i="1" dirty="0">
                <a:solidFill>
                  <a:schemeClr val="tx1"/>
                </a:solidFill>
              </a:rPr>
              <a:t>However, In 2019, AP Govt had launched  High Level Negotiation Committee (HLNC) to renegotiate tariffs set under Power Purchase Agreements (PPAs) for solar and wind projects </a:t>
            </a:r>
          </a:p>
          <a:p>
            <a:pPr marL="171450" indent="-171450" algn="just">
              <a:lnSpc>
                <a:spcPct val="106000"/>
              </a:lnSpc>
              <a:buFont typeface="Arial" panose="020B0604020202020204" pitchFamily="34" charset="0"/>
              <a:buChar char="•"/>
            </a:pPr>
            <a:endParaRPr lang="en-US" sz="1100" i="1" dirty="0">
              <a:solidFill>
                <a:schemeClr val="tx1"/>
              </a:solidFill>
            </a:endParaRPr>
          </a:p>
          <a:p>
            <a:pPr marL="171450" indent="-171450" algn="just">
              <a:lnSpc>
                <a:spcPct val="106000"/>
              </a:lnSpc>
              <a:buFont typeface="Arial" panose="020B0604020202020204" pitchFamily="34" charset="0"/>
              <a:buChar char="•"/>
            </a:pPr>
            <a:r>
              <a:rPr lang="en-US" sz="1100" i="1" dirty="0">
                <a:solidFill>
                  <a:schemeClr val="tx1"/>
                </a:solidFill>
              </a:rPr>
              <a:t>Industry associations consequently moved the Andhra Pradesh High Court (APHC), which had put a halt to the stand-off by dismissing the HLNC and directing AP to clear the dues of power generators</a:t>
            </a:r>
          </a:p>
        </p:txBody>
      </p:sp>
      <p:sp>
        <p:nvSpPr>
          <p:cNvPr id="6" name="TextBox 5">
            <a:extLst>
              <a:ext uri="{FF2B5EF4-FFF2-40B4-BE49-F238E27FC236}">
                <a16:creationId xmlns:a16="http://schemas.microsoft.com/office/drawing/2014/main" id="{3D4BC615-996F-4394-ADBF-6281718ED800}"/>
              </a:ext>
            </a:extLst>
          </p:cNvPr>
          <p:cNvSpPr txBox="1"/>
          <p:nvPr/>
        </p:nvSpPr>
        <p:spPr>
          <a:xfrm>
            <a:off x="3182329" y="6621462"/>
            <a:ext cx="8240486" cy="138499"/>
          </a:xfrm>
          <a:prstGeom prst="rect">
            <a:avLst/>
          </a:prstGeom>
          <a:noFill/>
        </p:spPr>
        <p:txBody>
          <a:bodyPr wrap="square" lIns="0" tIns="0" rIns="0" bIns="0" rtlCol="0">
            <a:spAutoFit/>
          </a:bodyPr>
          <a:lstStyle/>
          <a:p>
            <a:pPr>
              <a:spcBef>
                <a:spcPts val="600"/>
              </a:spcBef>
              <a:buSzPct val="100000"/>
            </a:pPr>
            <a:r>
              <a:rPr lang="en-US" sz="900" i="1" dirty="0">
                <a:solidFill>
                  <a:srgbClr val="313131"/>
                </a:solidFill>
              </a:rPr>
              <a:t>Source: Respective tariff order and Working paper by WRI India</a:t>
            </a:r>
          </a:p>
        </p:txBody>
      </p:sp>
    </p:spTree>
    <p:extLst>
      <p:ext uri="{BB962C8B-B14F-4D97-AF65-F5344CB8AC3E}">
        <p14:creationId xmlns:p14="http://schemas.microsoft.com/office/powerpoint/2010/main" val="57425270"/>
      </p:ext>
    </p:extLst>
  </p:cSld>
  <p:clrMapOvr>
    <a:masterClrMapping/>
  </p:clrMapOvr>
  <p:transition>
    <p:fade/>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02F641-FAA0-4647-BB71-2A929E824A77}"/>
              </a:ext>
            </a:extLst>
          </p:cNvPr>
          <p:cNvSpPr>
            <a:spLocks noGrp="1"/>
          </p:cNvSpPr>
          <p:nvPr>
            <p:ph type="title"/>
          </p:nvPr>
        </p:nvSpPr>
        <p:spPr/>
        <p:txBody>
          <a:bodyPr/>
          <a:lstStyle/>
          <a:p>
            <a:pPr marL="0" marR="0">
              <a:lnSpc>
                <a:spcPct val="107000"/>
              </a:lnSpc>
              <a:spcBef>
                <a:spcPts val="0"/>
              </a:spcBef>
              <a:spcAft>
                <a:spcPts val="800"/>
              </a:spcAft>
            </a:pPr>
            <a:r>
              <a:rPr lang="en-US" sz="1800" b="1" dirty="0">
                <a:effectLst/>
                <a:ea typeface="Verdana" panose="020B0604030504040204" pitchFamily="34" charset="0"/>
                <a:cs typeface="Times New Roman" panose="02020603050405020304" pitchFamily="18" charset="0"/>
              </a:rPr>
              <a:t>Precedence cases – Karnataka (1/2)</a:t>
            </a:r>
          </a:p>
        </p:txBody>
      </p:sp>
      <p:sp>
        <p:nvSpPr>
          <p:cNvPr id="6" name="TextBox 5">
            <a:extLst>
              <a:ext uri="{FF2B5EF4-FFF2-40B4-BE49-F238E27FC236}">
                <a16:creationId xmlns:a16="http://schemas.microsoft.com/office/drawing/2014/main" id="{78802F5C-0148-45A1-9187-CABB72BC7851}"/>
              </a:ext>
            </a:extLst>
          </p:cNvPr>
          <p:cNvSpPr txBox="1"/>
          <p:nvPr/>
        </p:nvSpPr>
        <p:spPr>
          <a:xfrm>
            <a:off x="404586" y="814980"/>
            <a:ext cx="10905669" cy="692497"/>
          </a:xfrm>
          <a:prstGeom prst="rect">
            <a:avLst/>
          </a:prstGeom>
          <a:noFill/>
        </p:spPr>
        <p:txBody>
          <a:bodyPr wrap="square">
            <a:spAutoFit/>
          </a:bodyPr>
          <a:lstStyle/>
          <a:p>
            <a:pPr marL="285750" indent="-285750">
              <a:buFont typeface="Wingdings" panose="05000000000000000000" pitchFamily="2" charset="2"/>
              <a:buChar char="Ø"/>
            </a:pPr>
            <a:r>
              <a:rPr lang="en-US" sz="1300" dirty="0"/>
              <a:t>Karnataka Electricity Regulatory Commission ["KERC"] </a:t>
            </a:r>
            <a:r>
              <a:rPr lang="en-US" sz="1300" b="1" dirty="0"/>
              <a:t>had already approved Green Power Tariff </a:t>
            </a:r>
            <a:r>
              <a:rPr lang="en-US" sz="1300" dirty="0"/>
              <a:t>for the distribution licensee (BESCOM) since FY 2011-12 in respective tariff orders</a:t>
            </a:r>
          </a:p>
          <a:p>
            <a:endParaRPr lang="en-US" sz="1300" dirty="0"/>
          </a:p>
        </p:txBody>
      </p:sp>
      <p:sp>
        <p:nvSpPr>
          <p:cNvPr id="8" name="TextBox 7">
            <a:extLst>
              <a:ext uri="{FF2B5EF4-FFF2-40B4-BE49-F238E27FC236}">
                <a16:creationId xmlns:a16="http://schemas.microsoft.com/office/drawing/2014/main" id="{7EFB031F-57B7-464A-9614-771944F2303A}"/>
              </a:ext>
            </a:extLst>
          </p:cNvPr>
          <p:cNvSpPr txBox="1"/>
          <p:nvPr/>
        </p:nvSpPr>
        <p:spPr>
          <a:xfrm>
            <a:off x="511627" y="1448965"/>
            <a:ext cx="10905669" cy="3293209"/>
          </a:xfrm>
          <a:prstGeom prst="rect">
            <a:avLst/>
          </a:prstGeom>
          <a:solidFill>
            <a:schemeClr val="accent1">
              <a:lumMod val="20000"/>
              <a:lumOff val="80000"/>
            </a:schemeClr>
          </a:solidFill>
        </p:spPr>
        <p:txBody>
          <a:bodyPr wrap="square">
            <a:spAutoFit/>
          </a:bodyPr>
          <a:lstStyle/>
          <a:p>
            <a:pPr algn="just"/>
            <a:r>
              <a:rPr lang="en-US" sz="1300" b="1" dirty="0"/>
              <a:t>Relevant extract of BESCOM tariff order for FY 2011-12 for approval of green power tariff is as follows:</a:t>
            </a:r>
          </a:p>
          <a:p>
            <a:pPr algn="just"/>
            <a:endParaRPr lang="en-US" sz="1300" b="1" dirty="0"/>
          </a:p>
          <a:p>
            <a:pPr algn="just"/>
            <a:r>
              <a:rPr lang="en-US" sz="1300" i="1" dirty="0"/>
              <a:t>“1) Tariff for Green Power: </a:t>
            </a:r>
          </a:p>
          <a:p>
            <a:pPr algn="just"/>
            <a:r>
              <a:rPr lang="en-US" sz="1300" i="1" dirty="0"/>
              <a:t>…. </a:t>
            </a:r>
          </a:p>
          <a:p>
            <a:pPr algn="just"/>
            <a:r>
              <a:rPr lang="en-US" sz="1300" i="1" dirty="0"/>
              <a:t>Commission’s Analysis &amp; Decision: </a:t>
            </a:r>
          </a:p>
          <a:p>
            <a:pPr algn="just"/>
            <a:r>
              <a:rPr lang="en-US" sz="1300" i="1" dirty="0"/>
              <a:t>The </a:t>
            </a:r>
            <a:r>
              <a:rPr lang="en-US" sz="1300" b="1" i="1" dirty="0"/>
              <a:t>Commission welcomes the new initiative of BESCOM to promote Green Energy and hence, decides to introduce Green Tariff</a:t>
            </a:r>
            <a:r>
              <a:rPr lang="en-US" sz="1300" i="1" dirty="0"/>
              <a:t> for HT industries &amp; HT Commercial Consumers with Contract Demand of 1 MVA &amp; above in all the ESCOMs. The above Tariff is optional</a:t>
            </a:r>
            <a:r>
              <a:rPr lang="en-US" sz="1300" b="1" i="1" dirty="0"/>
              <a:t>. The Commission is of the view that, the Consumers who opt for Green Energy should bear the additional power purchase cost of Renewable Energy sources over and above the normal tariff. </a:t>
            </a:r>
          </a:p>
          <a:p>
            <a:pPr algn="just"/>
            <a:endParaRPr lang="en-US" sz="1300" b="1" i="1" dirty="0"/>
          </a:p>
          <a:p>
            <a:pPr algn="just"/>
            <a:r>
              <a:rPr lang="en-US" sz="1300" i="1" dirty="0"/>
              <a:t>Based on the power purchase cost approved for FY-11, the additional average cost for RE source in the State as a whole is worked out as under: </a:t>
            </a:r>
          </a:p>
          <a:p>
            <a:pPr algn="just"/>
            <a:r>
              <a:rPr lang="en-US" sz="1300" i="1" dirty="0"/>
              <a:t>… </a:t>
            </a:r>
          </a:p>
          <a:p>
            <a:pPr algn="just"/>
            <a:r>
              <a:rPr lang="en-US" sz="1300" i="1" dirty="0"/>
              <a:t>As per the existing Tariff schedule, there is no separate category for EHT &amp; HT supply. As such the HT distribution loss has been considered in addition to transmission loss. </a:t>
            </a:r>
            <a:r>
              <a:rPr lang="en-US" sz="1300" b="1" i="1" dirty="0"/>
              <a:t>Accordingly, the Commission determines Green Tariff at Re.1.00 per unit as the additional tariff over and above the normal tariff to be paid by HT-consumers, who opt for Green Tariff</a:t>
            </a:r>
            <a:r>
              <a:rPr lang="en-US" sz="1300" i="1" dirty="0"/>
              <a:t>.”</a:t>
            </a:r>
          </a:p>
        </p:txBody>
      </p:sp>
      <p:sp>
        <p:nvSpPr>
          <p:cNvPr id="7" name="TextBox 6">
            <a:extLst>
              <a:ext uri="{FF2B5EF4-FFF2-40B4-BE49-F238E27FC236}">
                <a16:creationId xmlns:a16="http://schemas.microsoft.com/office/drawing/2014/main" id="{7FA94927-DEA0-451D-90E3-7FBBAE752CCB}"/>
              </a:ext>
            </a:extLst>
          </p:cNvPr>
          <p:cNvSpPr txBox="1"/>
          <p:nvPr/>
        </p:nvSpPr>
        <p:spPr>
          <a:xfrm>
            <a:off x="3176810" y="6654119"/>
            <a:ext cx="8240486" cy="138499"/>
          </a:xfrm>
          <a:prstGeom prst="rect">
            <a:avLst/>
          </a:prstGeom>
          <a:noFill/>
        </p:spPr>
        <p:txBody>
          <a:bodyPr wrap="square" lIns="0" tIns="0" rIns="0" bIns="0" rtlCol="0">
            <a:spAutoFit/>
          </a:bodyPr>
          <a:lstStyle/>
          <a:p>
            <a:pPr>
              <a:spcBef>
                <a:spcPts val="600"/>
              </a:spcBef>
              <a:buSzPct val="100000"/>
            </a:pPr>
            <a:r>
              <a:rPr lang="en-US" sz="900" i="1" dirty="0">
                <a:solidFill>
                  <a:srgbClr val="313131"/>
                </a:solidFill>
              </a:rPr>
              <a:t>Source: Respective tariff order</a:t>
            </a:r>
          </a:p>
        </p:txBody>
      </p:sp>
    </p:spTree>
    <p:extLst>
      <p:ext uri="{BB962C8B-B14F-4D97-AF65-F5344CB8AC3E}">
        <p14:creationId xmlns:p14="http://schemas.microsoft.com/office/powerpoint/2010/main" val="4047994434"/>
      </p:ext>
    </p:extLst>
  </p:cSld>
  <p:clrMapOvr>
    <a:masterClrMapping/>
  </p:clrMapOvr>
  <p:transition>
    <p:fad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02F641-FAA0-4647-BB71-2A929E824A77}"/>
              </a:ext>
            </a:extLst>
          </p:cNvPr>
          <p:cNvSpPr>
            <a:spLocks noGrp="1"/>
          </p:cNvSpPr>
          <p:nvPr>
            <p:ph type="title"/>
          </p:nvPr>
        </p:nvSpPr>
        <p:spPr/>
        <p:txBody>
          <a:bodyPr/>
          <a:lstStyle/>
          <a:p>
            <a:pPr marL="0" marR="0">
              <a:lnSpc>
                <a:spcPct val="107000"/>
              </a:lnSpc>
              <a:spcBef>
                <a:spcPts val="0"/>
              </a:spcBef>
              <a:spcAft>
                <a:spcPts val="800"/>
              </a:spcAft>
            </a:pPr>
            <a:r>
              <a:rPr lang="en-US" sz="1800" b="1" dirty="0">
                <a:effectLst/>
                <a:ea typeface="Verdana" panose="020B0604030504040204" pitchFamily="34" charset="0"/>
                <a:cs typeface="Times New Roman" panose="02020603050405020304" pitchFamily="18" charset="0"/>
              </a:rPr>
              <a:t>Precedence Cases – Karnataka (2/2)</a:t>
            </a:r>
          </a:p>
        </p:txBody>
      </p:sp>
      <p:graphicFrame>
        <p:nvGraphicFramePr>
          <p:cNvPr id="5" name="Chart 4">
            <a:extLst>
              <a:ext uri="{FF2B5EF4-FFF2-40B4-BE49-F238E27FC236}">
                <a16:creationId xmlns:a16="http://schemas.microsoft.com/office/drawing/2014/main" id="{79CF27E6-609F-4619-8BBC-2E8F680AE4F1}"/>
              </a:ext>
            </a:extLst>
          </p:cNvPr>
          <p:cNvGraphicFramePr/>
          <p:nvPr/>
        </p:nvGraphicFramePr>
        <p:xfrm>
          <a:off x="469902" y="851689"/>
          <a:ext cx="11079845" cy="424772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a:extLst>
              <a:ext uri="{FF2B5EF4-FFF2-40B4-BE49-F238E27FC236}">
                <a16:creationId xmlns:a16="http://schemas.microsoft.com/office/drawing/2014/main" id="{7CAAFDC9-6B94-4037-A608-F9720DAEA595}"/>
              </a:ext>
            </a:extLst>
          </p:cNvPr>
          <p:cNvSpPr txBox="1"/>
          <p:nvPr/>
        </p:nvSpPr>
        <p:spPr>
          <a:xfrm>
            <a:off x="9514115" y="1589315"/>
            <a:ext cx="2207983" cy="169277"/>
          </a:xfrm>
          <a:prstGeom prst="rect">
            <a:avLst/>
          </a:prstGeom>
          <a:noFill/>
        </p:spPr>
        <p:txBody>
          <a:bodyPr wrap="square" lIns="0" tIns="0" rIns="0" bIns="0" rtlCol="0">
            <a:spAutoFit/>
          </a:bodyPr>
          <a:lstStyle/>
          <a:p>
            <a:pPr>
              <a:spcBef>
                <a:spcPts val="600"/>
              </a:spcBef>
              <a:buSzPct val="100000"/>
            </a:pPr>
            <a:r>
              <a:rPr lang="en-US" sz="1100" i="1" dirty="0">
                <a:solidFill>
                  <a:srgbClr val="313131"/>
                </a:solidFill>
              </a:rPr>
              <a:t>All figures in Rs/unit</a:t>
            </a:r>
          </a:p>
        </p:txBody>
      </p:sp>
      <p:sp>
        <p:nvSpPr>
          <p:cNvPr id="11" name="Rectangle 10">
            <a:extLst>
              <a:ext uri="{FF2B5EF4-FFF2-40B4-BE49-F238E27FC236}">
                <a16:creationId xmlns:a16="http://schemas.microsoft.com/office/drawing/2014/main" id="{348568C6-6BA8-42AC-9DB5-FF368F8C12B2}"/>
              </a:ext>
            </a:extLst>
          </p:cNvPr>
          <p:cNvSpPr/>
          <p:nvPr/>
        </p:nvSpPr>
        <p:spPr bwMode="gray">
          <a:xfrm>
            <a:off x="469902" y="5099409"/>
            <a:ext cx="10905669" cy="1184599"/>
          </a:xfrm>
          <a:prstGeom prst="rect">
            <a:avLst/>
          </a:prstGeom>
          <a:solidFill>
            <a:schemeClr val="bg1">
              <a:lumMod val="95000"/>
            </a:schemeClr>
          </a:solidFill>
          <a:ln w="6350">
            <a:solidFill>
              <a:schemeClr val="tx1"/>
            </a:solidFill>
            <a:prstDash val="lgDash"/>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300" b="1" i="1" dirty="0">
                <a:solidFill>
                  <a:schemeClr val="tx1"/>
                </a:solidFill>
              </a:rPr>
              <a:t>Note: </a:t>
            </a:r>
          </a:p>
          <a:p>
            <a:pPr marL="171450" indent="-171450" algn="just">
              <a:lnSpc>
                <a:spcPct val="106000"/>
              </a:lnSpc>
              <a:buFont typeface="Arial" panose="020B0604020202020204" pitchFamily="34" charset="0"/>
              <a:buChar char="•"/>
            </a:pPr>
            <a:r>
              <a:rPr lang="en-US" sz="1300" i="1" dirty="0">
                <a:solidFill>
                  <a:schemeClr val="tx1"/>
                </a:solidFill>
              </a:rPr>
              <a:t>As per latest KERC tariff Order for BESCOM (FY 21</a:t>
            </a:r>
            <a:r>
              <a:rPr lang="en-US" sz="1300" b="1" i="1" dirty="0">
                <a:solidFill>
                  <a:schemeClr val="tx1"/>
                </a:solidFill>
              </a:rPr>
              <a:t>), Commission has decided to continue the existing Green Tariff of 50 paise per unit as the additional tariff over and above the normal tariff</a:t>
            </a:r>
            <a:r>
              <a:rPr lang="en-US" sz="1300" i="1" dirty="0">
                <a:solidFill>
                  <a:schemeClr val="tx1"/>
                </a:solidFill>
              </a:rPr>
              <a:t> to be paid by HT consumers, who opt for supply of green power from out of the renewable energy procured by distribution utilities over and above their Renewable Purchase Obligation (RPO)</a:t>
            </a:r>
          </a:p>
        </p:txBody>
      </p:sp>
      <p:sp>
        <p:nvSpPr>
          <p:cNvPr id="12" name="TextBox 11">
            <a:extLst>
              <a:ext uri="{FF2B5EF4-FFF2-40B4-BE49-F238E27FC236}">
                <a16:creationId xmlns:a16="http://schemas.microsoft.com/office/drawing/2014/main" id="{9CEFEBAC-8B82-4EAC-8473-7CF5C260F524}"/>
              </a:ext>
            </a:extLst>
          </p:cNvPr>
          <p:cNvSpPr txBox="1"/>
          <p:nvPr/>
        </p:nvSpPr>
        <p:spPr>
          <a:xfrm>
            <a:off x="3167337" y="6645955"/>
            <a:ext cx="8240486" cy="138499"/>
          </a:xfrm>
          <a:prstGeom prst="rect">
            <a:avLst/>
          </a:prstGeom>
          <a:noFill/>
        </p:spPr>
        <p:txBody>
          <a:bodyPr wrap="square" lIns="0" tIns="0" rIns="0" bIns="0" rtlCol="0">
            <a:spAutoFit/>
          </a:bodyPr>
          <a:lstStyle/>
          <a:p>
            <a:pPr>
              <a:spcBef>
                <a:spcPts val="600"/>
              </a:spcBef>
              <a:buSzPct val="100000"/>
            </a:pPr>
            <a:r>
              <a:rPr lang="en-US" sz="900" i="1" dirty="0">
                <a:solidFill>
                  <a:srgbClr val="313131"/>
                </a:solidFill>
              </a:rPr>
              <a:t>Source: </a:t>
            </a:r>
            <a:r>
              <a:rPr lang="en-US" sz="900" i="1" dirty="0">
                <a:solidFill>
                  <a:srgbClr val="313131"/>
                </a:solidFill>
                <a:hlinkClick r:id="rId4"/>
              </a:rPr>
              <a:t>https://bescom.karnataka.gov.in/storage/pdf-files/RA%20section/Electricity%20rates.xlsx</a:t>
            </a:r>
            <a:r>
              <a:rPr lang="en-US" sz="900" i="1" dirty="0">
                <a:solidFill>
                  <a:srgbClr val="313131"/>
                </a:solidFill>
              </a:rPr>
              <a:t> </a:t>
            </a:r>
          </a:p>
        </p:txBody>
      </p:sp>
      <p:sp>
        <p:nvSpPr>
          <p:cNvPr id="14" name="TextBox 13">
            <a:extLst>
              <a:ext uri="{FF2B5EF4-FFF2-40B4-BE49-F238E27FC236}">
                <a16:creationId xmlns:a16="http://schemas.microsoft.com/office/drawing/2014/main" id="{7D09119D-326E-4C0A-A08D-787FD59D0724}"/>
              </a:ext>
            </a:extLst>
          </p:cNvPr>
          <p:cNvSpPr txBox="1"/>
          <p:nvPr/>
        </p:nvSpPr>
        <p:spPr>
          <a:xfrm>
            <a:off x="469902" y="6284008"/>
            <a:ext cx="6096000" cy="276999"/>
          </a:xfrm>
          <a:prstGeom prst="rect">
            <a:avLst/>
          </a:prstGeom>
          <a:noFill/>
        </p:spPr>
        <p:txBody>
          <a:bodyPr wrap="square">
            <a:spAutoFit/>
          </a:bodyPr>
          <a:lstStyle/>
          <a:p>
            <a:r>
              <a:rPr lang="en-US" sz="1200" i="1" u="none" strike="noStrike" baseline="0" dirty="0">
                <a:effectLst/>
              </a:rPr>
              <a:t>*assuming power factor of 0.85</a:t>
            </a:r>
            <a:endParaRPr lang="en-US" sz="1200" i="1" dirty="0"/>
          </a:p>
        </p:txBody>
      </p:sp>
    </p:spTree>
    <p:extLst>
      <p:ext uri="{BB962C8B-B14F-4D97-AF65-F5344CB8AC3E}">
        <p14:creationId xmlns:p14="http://schemas.microsoft.com/office/powerpoint/2010/main" val="410778099"/>
      </p:ext>
    </p:extLst>
  </p:cSld>
  <p:clrMapOvr>
    <a:masterClrMapping/>
  </p:clrMapOvr>
  <p:transition>
    <p:fade/>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02F641-FAA0-4647-BB71-2A929E824A77}"/>
              </a:ext>
            </a:extLst>
          </p:cNvPr>
          <p:cNvSpPr>
            <a:spLocks noGrp="1"/>
          </p:cNvSpPr>
          <p:nvPr>
            <p:ph type="title"/>
          </p:nvPr>
        </p:nvSpPr>
        <p:spPr>
          <a:xfrm>
            <a:off x="469902" y="371765"/>
            <a:ext cx="11252200" cy="334102"/>
          </a:xfrm>
        </p:spPr>
        <p:txBody>
          <a:bodyPr/>
          <a:lstStyle/>
          <a:p>
            <a:pPr marL="0" marR="0">
              <a:lnSpc>
                <a:spcPct val="107000"/>
              </a:lnSpc>
              <a:spcBef>
                <a:spcPts val="0"/>
              </a:spcBef>
              <a:spcAft>
                <a:spcPts val="800"/>
              </a:spcAft>
            </a:pPr>
            <a:r>
              <a:rPr lang="en-US" sz="1800" b="1" dirty="0">
                <a:effectLst/>
                <a:ea typeface="Verdana" panose="020B0604030504040204" pitchFamily="34" charset="0"/>
                <a:cs typeface="Times New Roman" panose="02020603050405020304" pitchFamily="18" charset="0"/>
              </a:rPr>
              <a:t>Precedence Cases – Maharashtra (1/2)</a:t>
            </a:r>
          </a:p>
        </p:txBody>
      </p:sp>
      <p:sp>
        <p:nvSpPr>
          <p:cNvPr id="6" name="TextBox 5">
            <a:extLst>
              <a:ext uri="{FF2B5EF4-FFF2-40B4-BE49-F238E27FC236}">
                <a16:creationId xmlns:a16="http://schemas.microsoft.com/office/drawing/2014/main" id="{78802F5C-0148-45A1-9187-CABB72BC7851}"/>
              </a:ext>
            </a:extLst>
          </p:cNvPr>
          <p:cNvSpPr txBox="1"/>
          <p:nvPr/>
        </p:nvSpPr>
        <p:spPr>
          <a:xfrm>
            <a:off x="404586" y="814980"/>
            <a:ext cx="10905669" cy="1492716"/>
          </a:xfrm>
          <a:prstGeom prst="rect">
            <a:avLst/>
          </a:prstGeom>
          <a:noFill/>
        </p:spPr>
        <p:txBody>
          <a:bodyPr wrap="square">
            <a:spAutoFit/>
          </a:bodyPr>
          <a:lstStyle/>
          <a:p>
            <a:pPr marL="285750" indent="-285750" algn="just">
              <a:buFont typeface="Wingdings" panose="05000000000000000000" pitchFamily="2" charset="2"/>
              <a:buChar char="Ø"/>
            </a:pPr>
            <a:r>
              <a:rPr lang="en-US" sz="1300" dirty="0"/>
              <a:t>Citing KERC’s Order on Green Tariff as reference, Tata Power Company Limited (Distribution) had filed a petition before Maharashtra Electricity Regulatory Commission (MERC) seeking approval for levying “Green Energy Tariff" to supply Renewable Energy to consumers opting for 100% green energy for meeting their entire demand </a:t>
            </a:r>
          </a:p>
          <a:p>
            <a:pPr algn="just"/>
            <a:endParaRPr lang="en-US" sz="1300" dirty="0"/>
          </a:p>
          <a:p>
            <a:pPr marL="285750" indent="-285750" algn="just">
              <a:buFont typeface="Wingdings" panose="05000000000000000000" pitchFamily="2" charset="2"/>
              <a:buChar char="Ø"/>
            </a:pPr>
            <a:r>
              <a:rPr lang="en-US" sz="1300" dirty="0"/>
              <a:t>In the petition, MERC had issued an order in Case No. 134 of 2020 dated 22</a:t>
            </a:r>
            <a:r>
              <a:rPr lang="en-US" sz="1300" baseline="30000" dirty="0"/>
              <a:t>nd</a:t>
            </a:r>
            <a:r>
              <a:rPr lang="en-US" sz="1300" dirty="0"/>
              <a:t> March 2021 and has determined Green Energy Tariff of Rs 0.66/kWh which is over and above the normal tariff of the respective category as per Tariff Orders, be levied to the consumers opting for meeting their demand by 100% green energy</a:t>
            </a:r>
          </a:p>
        </p:txBody>
      </p:sp>
      <p:sp>
        <p:nvSpPr>
          <p:cNvPr id="7" name="TextBox 6">
            <a:extLst>
              <a:ext uri="{FF2B5EF4-FFF2-40B4-BE49-F238E27FC236}">
                <a16:creationId xmlns:a16="http://schemas.microsoft.com/office/drawing/2014/main" id="{9100F42D-8325-4B26-929B-106A582F5243}"/>
              </a:ext>
            </a:extLst>
          </p:cNvPr>
          <p:cNvSpPr txBox="1"/>
          <p:nvPr/>
        </p:nvSpPr>
        <p:spPr>
          <a:xfrm>
            <a:off x="469902" y="2501853"/>
            <a:ext cx="5394870" cy="3693319"/>
          </a:xfrm>
          <a:prstGeom prst="rect">
            <a:avLst/>
          </a:prstGeom>
          <a:solidFill>
            <a:schemeClr val="accent1">
              <a:lumMod val="20000"/>
              <a:lumOff val="80000"/>
            </a:schemeClr>
          </a:solidFill>
        </p:spPr>
        <p:txBody>
          <a:bodyPr wrap="square">
            <a:spAutoFit/>
          </a:bodyPr>
          <a:lstStyle/>
          <a:p>
            <a:pPr algn="just"/>
            <a:r>
              <a:rPr lang="en-US" sz="1300" b="1" i="1" dirty="0"/>
              <a:t>Following order was passed by MERC:</a:t>
            </a:r>
          </a:p>
          <a:p>
            <a:pPr algn="just"/>
            <a:endParaRPr lang="en-US" sz="1300" i="1" dirty="0"/>
          </a:p>
          <a:p>
            <a:pPr marL="342900" indent="-342900" algn="just">
              <a:buFont typeface="+mj-lt"/>
              <a:buAutoNum type="alphaLcParenR"/>
            </a:pPr>
            <a:r>
              <a:rPr lang="en-US" sz="1300" i="1" dirty="0"/>
              <a:t>Green Energy Tariff of Rs 0.66/kWh, which is over and above the normal tariff of the respective category as per Tariff Orders, be levied to the consumers opting for meeting their demand by 100% green energy.</a:t>
            </a:r>
          </a:p>
          <a:p>
            <a:pPr marL="342900" indent="-342900" algn="just">
              <a:buFont typeface="+mj-lt"/>
              <a:buAutoNum type="alphaLcParenR"/>
            </a:pPr>
            <a:endParaRPr lang="en-US" sz="1300" i="1" dirty="0"/>
          </a:p>
          <a:p>
            <a:pPr marL="342900" indent="-342900" algn="just">
              <a:buFont typeface="+mj-lt"/>
              <a:buAutoNum type="alphaLcParenR"/>
            </a:pPr>
            <a:r>
              <a:rPr lang="en-US" sz="1300" i="1" dirty="0"/>
              <a:t>Revenue earned through Green Energy Tariff shall be treated as non-tariff income of Supply Business and thereby be fully accounted for reduction in ARR of supply business.</a:t>
            </a:r>
          </a:p>
          <a:p>
            <a:pPr marL="342900" indent="-342900" algn="just">
              <a:buFont typeface="+mj-lt"/>
              <a:buAutoNum type="alphaLcParenR"/>
            </a:pPr>
            <a:endParaRPr lang="en-US" sz="1300" i="1" dirty="0"/>
          </a:p>
          <a:p>
            <a:pPr marL="342900" indent="-342900" algn="just">
              <a:buFont typeface="+mj-lt"/>
              <a:buAutoNum type="alphaLcParenR"/>
            </a:pPr>
            <a:r>
              <a:rPr lang="en-US" sz="1300" i="1" dirty="0"/>
              <a:t>All consumers (Extra High Voltage, High Voltage and Low Voltage) shall be eligible for opting 100% RE power on payment of Green Power Tariff.</a:t>
            </a:r>
          </a:p>
          <a:p>
            <a:pPr marL="342900" indent="-342900" algn="just">
              <a:buFont typeface="+mj-lt"/>
              <a:buAutoNum type="alphaLcParenR"/>
            </a:pPr>
            <a:endParaRPr lang="en-US" sz="1300" i="1" dirty="0"/>
          </a:p>
          <a:p>
            <a:pPr marL="342900" indent="-342900" algn="just">
              <a:buFont typeface="+mj-lt"/>
              <a:buAutoNum type="alphaLcParenR"/>
            </a:pPr>
            <a:r>
              <a:rPr lang="en-US" sz="1300" i="1" dirty="0"/>
              <a:t>The Commission may take overview of the scheme at the time of MTR Proceedings.</a:t>
            </a:r>
          </a:p>
        </p:txBody>
      </p:sp>
      <p:sp>
        <p:nvSpPr>
          <p:cNvPr id="11" name="Rectangle 10">
            <a:extLst>
              <a:ext uri="{FF2B5EF4-FFF2-40B4-BE49-F238E27FC236}">
                <a16:creationId xmlns:a16="http://schemas.microsoft.com/office/drawing/2014/main" id="{E668102B-0C2C-4833-B28A-8D05C2042A78}"/>
              </a:ext>
            </a:extLst>
          </p:cNvPr>
          <p:cNvSpPr/>
          <p:nvPr/>
        </p:nvSpPr>
        <p:spPr bwMode="gray">
          <a:xfrm>
            <a:off x="6198041" y="2501852"/>
            <a:ext cx="5394869" cy="3693319"/>
          </a:xfrm>
          <a:prstGeom prst="rect">
            <a:avLst/>
          </a:prstGeom>
          <a:solidFill>
            <a:schemeClr val="bg1">
              <a:lumMod val="95000"/>
            </a:schemeClr>
          </a:solidFill>
          <a:ln w="6350">
            <a:solidFill>
              <a:schemeClr val="tx1"/>
            </a:solidFill>
            <a:prstDash val="lgDash"/>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300" b="1" i="1" dirty="0">
                <a:solidFill>
                  <a:schemeClr val="tx1"/>
                </a:solidFill>
              </a:rPr>
              <a:t>Note: </a:t>
            </a:r>
          </a:p>
          <a:p>
            <a:pPr algn="just">
              <a:lnSpc>
                <a:spcPct val="106000"/>
              </a:lnSpc>
              <a:buFont typeface="Wingdings 2" pitchFamily="18" charset="2"/>
              <a:buNone/>
            </a:pPr>
            <a:endParaRPr lang="en-US" sz="1300" b="1" i="1" dirty="0">
              <a:solidFill>
                <a:schemeClr val="tx1"/>
              </a:solidFill>
            </a:endParaRPr>
          </a:p>
          <a:p>
            <a:pPr marL="171450" indent="-171450" algn="just">
              <a:lnSpc>
                <a:spcPct val="106000"/>
              </a:lnSpc>
              <a:buFont typeface="Arial" panose="020B0604020202020204" pitchFamily="34" charset="0"/>
              <a:buChar char="•"/>
            </a:pPr>
            <a:r>
              <a:rPr lang="en-US" sz="1300" i="1" dirty="0">
                <a:solidFill>
                  <a:schemeClr val="tx1"/>
                </a:solidFill>
              </a:rPr>
              <a:t>As submitted by Tata Power Co. Ltd., the </a:t>
            </a:r>
            <a:r>
              <a:rPr lang="en-US" sz="1300" b="1" i="1" dirty="0">
                <a:solidFill>
                  <a:schemeClr val="tx1"/>
                </a:solidFill>
              </a:rPr>
              <a:t>Green Power Tariff recovered from these consumers </a:t>
            </a:r>
            <a:r>
              <a:rPr lang="en-US" sz="1300" i="1" dirty="0">
                <a:solidFill>
                  <a:schemeClr val="tx1"/>
                </a:solidFill>
              </a:rPr>
              <a:t>for supply of 100% RE </a:t>
            </a:r>
            <a:r>
              <a:rPr lang="en-US" sz="1300" b="1" i="1" dirty="0">
                <a:solidFill>
                  <a:schemeClr val="tx1"/>
                </a:solidFill>
              </a:rPr>
              <a:t>will increase the other business income of the distribution business</a:t>
            </a:r>
          </a:p>
          <a:p>
            <a:pPr marL="171450" indent="-171450" algn="just">
              <a:lnSpc>
                <a:spcPct val="106000"/>
              </a:lnSpc>
              <a:buFont typeface="Arial" panose="020B0604020202020204" pitchFamily="34" charset="0"/>
              <a:buChar char="•"/>
            </a:pPr>
            <a:endParaRPr lang="en-US" sz="1300" b="1" i="1" dirty="0">
              <a:solidFill>
                <a:schemeClr val="tx1"/>
              </a:solidFill>
            </a:endParaRPr>
          </a:p>
          <a:p>
            <a:pPr marL="171450" indent="-171450" algn="just">
              <a:lnSpc>
                <a:spcPct val="106000"/>
              </a:lnSpc>
              <a:buFont typeface="Arial" panose="020B0604020202020204" pitchFamily="34" charset="0"/>
              <a:buChar char="•"/>
            </a:pPr>
            <a:r>
              <a:rPr lang="en-US" sz="1300" i="1" dirty="0">
                <a:solidFill>
                  <a:schemeClr val="tx1"/>
                </a:solidFill>
              </a:rPr>
              <a:t>As per </a:t>
            </a:r>
            <a:r>
              <a:rPr lang="en-US" sz="1300" b="1" i="1" dirty="0">
                <a:solidFill>
                  <a:schemeClr val="tx1"/>
                </a:solidFill>
              </a:rPr>
              <a:t>Section 51 of the EA, 2003, a proportion of the revenues derived from such business shall</a:t>
            </a:r>
            <a:r>
              <a:rPr lang="en-US" sz="1300" i="1" dirty="0">
                <a:solidFill>
                  <a:schemeClr val="tx1"/>
                </a:solidFill>
              </a:rPr>
              <a:t>, as may be specified by the concerned State Commission, </a:t>
            </a:r>
            <a:r>
              <a:rPr lang="en-US" sz="1300" b="1" i="1" dirty="0">
                <a:solidFill>
                  <a:schemeClr val="tx1"/>
                </a:solidFill>
              </a:rPr>
              <a:t>be utilized for reducing its charges for wheeling</a:t>
            </a:r>
          </a:p>
          <a:p>
            <a:pPr marL="171450" indent="-171450" algn="just">
              <a:lnSpc>
                <a:spcPct val="106000"/>
              </a:lnSpc>
              <a:buFont typeface="Arial" panose="020B0604020202020204" pitchFamily="34" charset="0"/>
              <a:buChar char="•"/>
            </a:pPr>
            <a:endParaRPr lang="en-US" sz="1300" i="1" dirty="0">
              <a:solidFill>
                <a:schemeClr val="tx1"/>
              </a:solidFill>
            </a:endParaRPr>
          </a:p>
          <a:p>
            <a:pPr marL="171450" indent="-171450" algn="just">
              <a:lnSpc>
                <a:spcPct val="106000"/>
              </a:lnSpc>
              <a:buFont typeface="Arial" panose="020B0604020202020204" pitchFamily="34" charset="0"/>
              <a:buChar char="•"/>
            </a:pPr>
            <a:r>
              <a:rPr lang="en-US" sz="1300" b="1" i="1" dirty="0">
                <a:solidFill>
                  <a:schemeClr val="tx1"/>
                </a:solidFill>
              </a:rPr>
              <a:t>Therefore, these services will further subsidize the Annual Revenue Requirement (ARR) of the distribution business and normal tariff of the consumers may also get proportionately subsidized</a:t>
            </a:r>
            <a:endParaRPr lang="en-US" sz="1300" i="1" dirty="0">
              <a:solidFill>
                <a:schemeClr val="tx1"/>
              </a:solidFill>
            </a:endParaRPr>
          </a:p>
        </p:txBody>
      </p:sp>
      <p:sp>
        <p:nvSpPr>
          <p:cNvPr id="8" name="TextBox 7">
            <a:extLst>
              <a:ext uri="{FF2B5EF4-FFF2-40B4-BE49-F238E27FC236}">
                <a16:creationId xmlns:a16="http://schemas.microsoft.com/office/drawing/2014/main" id="{4E5309CE-ABC9-4A3A-806D-D48FD85EAF89}"/>
              </a:ext>
            </a:extLst>
          </p:cNvPr>
          <p:cNvSpPr txBox="1"/>
          <p:nvPr/>
        </p:nvSpPr>
        <p:spPr>
          <a:xfrm>
            <a:off x="3167337" y="6645955"/>
            <a:ext cx="8240486" cy="138499"/>
          </a:xfrm>
          <a:prstGeom prst="rect">
            <a:avLst/>
          </a:prstGeom>
          <a:noFill/>
        </p:spPr>
        <p:txBody>
          <a:bodyPr wrap="square" lIns="0" tIns="0" rIns="0" bIns="0" rtlCol="0">
            <a:spAutoFit/>
          </a:bodyPr>
          <a:lstStyle/>
          <a:p>
            <a:pPr>
              <a:spcBef>
                <a:spcPts val="600"/>
              </a:spcBef>
              <a:buSzPct val="100000"/>
            </a:pPr>
            <a:r>
              <a:rPr lang="en-US" sz="900" i="1" dirty="0">
                <a:solidFill>
                  <a:srgbClr val="313131"/>
                </a:solidFill>
              </a:rPr>
              <a:t>Source: Respective tariff order</a:t>
            </a:r>
          </a:p>
        </p:txBody>
      </p:sp>
    </p:spTree>
    <p:extLst>
      <p:ext uri="{BB962C8B-B14F-4D97-AF65-F5344CB8AC3E}">
        <p14:creationId xmlns:p14="http://schemas.microsoft.com/office/powerpoint/2010/main" val="4045522614"/>
      </p:ext>
    </p:extLst>
  </p:cSld>
  <p:clrMapOvr>
    <a:masterClrMapping/>
  </p:clrMapOvr>
  <p:transition>
    <p:fade/>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02F641-FAA0-4647-BB71-2A929E824A77}"/>
              </a:ext>
            </a:extLst>
          </p:cNvPr>
          <p:cNvSpPr>
            <a:spLocks noGrp="1"/>
          </p:cNvSpPr>
          <p:nvPr>
            <p:ph type="title"/>
          </p:nvPr>
        </p:nvSpPr>
        <p:spPr>
          <a:xfrm>
            <a:off x="469902" y="351217"/>
            <a:ext cx="11252200" cy="334102"/>
          </a:xfrm>
        </p:spPr>
        <p:txBody>
          <a:bodyPr/>
          <a:lstStyle/>
          <a:p>
            <a:pPr marL="0" marR="0">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Times New Roman" panose="02020603050405020304" pitchFamily="18" charset="0"/>
              </a:rPr>
              <a:t>Precedence Cases – Maharashtra (2/2)</a:t>
            </a:r>
          </a:p>
        </p:txBody>
      </p:sp>
      <p:sp>
        <p:nvSpPr>
          <p:cNvPr id="8" name="TextBox 7">
            <a:extLst>
              <a:ext uri="{FF2B5EF4-FFF2-40B4-BE49-F238E27FC236}">
                <a16:creationId xmlns:a16="http://schemas.microsoft.com/office/drawing/2014/main" id="{4E5309CE-ABC9-4A3A-806D-D48FD85EAF89}"/>
              </a:ext>
            </a:extLst>
          </p:cNvPr>
          <p:cNvSpPr txBox="1"/>
          <p:nvPr/>
        </p:nvSpPr>
        <p:spPr>
          <a:xfrm>
            <a:off x="3069363" y="6645955"/>
            <a:ext cx="8240486" cy="138499"/>
          </a:xfrm>
          <a:prstGeom prst="rect">
            <a:avLst/>
          </a:prstGeom>
          <a:noFill/>
        </p:spPr>
        <p:txBody>
          <a:bodyPr wrap="square" lIns="0" tIns="0" rIns="0" bIns="0" rtlCol="0">
            <a:spAutoFit/>
          </a:bodyPr>
          <a:lstStyle/>
          <a:p>
            <a:pPr>
              <a:spcBef>
                <a:spcPts val="600"/>
              </a:spcBef>
              <a:buSzPct val="100000"/>
            </a:pPr>
            <a:r>
              <a:rPr lang="en-US" sz="900" i="1" dirty="0">
                <a:solidFill>
                  <a:srgbClr val="313131"/>
                </a:solidFill>
              </a:rPr>
              <a:t>Source: Respective tariff order</a:t>
            </a:r>
          </a:p>
        </p:txBody>
      </p:sp>
      <p:sp>
        <p:nvSpPr>
          <p:cNvPr id="10" name="TextBox 9">
            <a:extLst>
              <a:ext uri="{FF2B5EF4-FFF2-40B4-BE49-F238E27FC236}">
                <a16:creationId xmlns:a16="http://schemas.microsoft.com/office/drawing/2014/main" id="{3D203D06-2DD2-4A8C-982C-9673D1233DF5}"/>
              </a:ext>
            </a:extLst>
          </p:cNvPr>
          <p:cNvSpPr txBox="1"/>
          <p:nvPr/>
        </p:nvSpPr>
        <p:spPr>
          <a:xfrm>
            <a:off x="384175" y="685119"/>
            <a:ext cx="11252199" cy="1384995"/>
          </a:xfrm>
          <a:prstGeom prst="rect">
            <a:avLst/>
          </a:prstGeom>
          <a:noFill/>
        </p:spPr>
        <p:txBody>
          <a:bodyPr wrap="square">
            <a:spAutoFit/>
          </a:bodyPr>
          <a:lstStyle/>
          <a:p>
            <a:pPr marL="285750" indent="-285750" algn="just">
              <a:buFont typeface="Wingdings" panose="05000000000000000000" pitchFamily="2" charset="2"/>
              <a:buChar char="q"/>
            </a:pPr>
            <a:r>
              <a:rPr lang="en-US" sz="1400" dirty="0"/>
              <a:t>As per Order, Commission had ruled that Green Power Tariff which would be uniform for all Distribution Licensees in the State is to be computed as difference between pooled power purchase cost of non-conventional and conventional sources of energy (only variable cost) for all Distribution Licensees in the State. </a:t>
            </a:r>
          </a:p>
          <a:p>
            <a:pPr marL="285750" indent="-285750" algn="just">
              <a:buFont typeface="Wingdings" panose="05000000000000000000" pitchFamily="2" charset="2"/>
              <a:buChar char="q"/>
            </a:pPr>
            <a:endParaRPr lang="en-US" sz="1400" dirty="0"/>
          </a:p>
          <a:p>
            <a:pPr marL="285750" indent="-285750" algn="just">
              <a:buFont typeface="Wingdings" panose="05000000000000000000" pitchFamily="2" charset="2"/>
              <a:buChar char="q"/>
            </a:pPr>
            <a:r>
              <a:rPr lang="en-US" sz="1400" dirty="0"/>
              <a:t>While doing so, instead of computing year wise different tariff, uniform number for MYT control period is computed for providing certainty in rate as shown below:</a:t>
            </a:r>
          </a:p>
        </p:txBody>
      </p:sp>
      <p:sp>
        <p:nvSpPr>
          <p:cNvPr id="13" name="TextBox 12">
            <a:extLst>
              <a:ext uri="{FF2B5EF4-FFF2-40B4-BE49-F238E27FC236}">
                <a16:creationId xmlns:a16="http://schemas.microsoft.com/office/drawing/2014/main" id="{F72D99D0-5CF2-4BAA-AE5F-83B96A205E7B}"/>
              </a:ext>
            </a:extLst>
          </p:cNvPr>
          <p:cNvSpPr txBox="1"/>
          <p:nvPr/>
        </p:nvSpPr>
        <p:spPr>
          <a:xfrm>
            <a:off x="7815940" y="2180880"/>
            <a:ext cx="3995057" cy="4093428"/>
          </a:xfrm>
          <a:prstGeom prst="rect">
            <a:avLst/>
          </a:prstGeom>
          <a:solidFill>
            <a:schemeClr val="bg1">
              <a:lumMod val="95000"/>
            </a:schemeClr>
          </a:solidFill>
          <a:ln>
            <a:solidFill>
              <a:schemeClr val="tx1"/>
            </a:solidFill>
            <a:prstDash val="dash"/>
          </a:ln>
        </p:spPr>
        <p:txBody>
          <a:bodyPr wrap="square">
            <a:spAutoFit/>
          </a:bodyPr>
          <a:lstStyle/>
          <a:p>
            <a:pPr marL="285750" indent="-285750" algn="just">
              <a:buFont typeface="Arial" panose="020B0604020202020204" pitchFamily="34" charset="0"/>
              <a:buChar char="•"/>
            </a:pPr>
            <a:r>
              <a:rPr lang="en-US" sz="1300" i="1" dirty="0"/>
              <a:t>Thus, </a:t>
            </a:r>
            <a:r>
              <a:rPr lang="en-US" sz="1300" b="1" i="1" dirty="0"/>
              <a:t>as per methodology</a:t>
            </a:r>
            <a:r>
              <a:rPr lang="en-US" sz="1300" i="1" dirty="0"/>
              <a:t> explained, </a:t>
            </a:r>
            <a:r>
              <a:rPr lang="en-US" sz="1300" b="1" i="1" dirty="0"/>
              <a:t>Rs. 1.33/kWh </a:t>
            </a:r>
            <a:r>
              <a:rPr lang="en-US" sz="1300" i="1" dirty="0"/>
              <a:t>could have been Green Power Tariff. </a:t>
            </a:r>
          </a:p>
          <a:p>
            <a:pPr marL="285750" indent="-285750" algn="just">
              <a:buFont typeface="Arial" panose="020B0604020202020204" pitchFamily="34" charset="0"/>
              <a:buChar char="•"/>
            </a:pPr>
            <a:r>
              <a:rPr lang="en-US" sz="1300" i="1" dirty="0"/>
              <a:t>However, as this concept was being introduced for the first time and also considering the fact that Distribution Licensee would be able to use such power consumed by consumers towards fulfilment of its RPO target, certain benefit of the same needs to be passed on to concerned consumers. </a:t>
            </a:r>
          </a:p>
          <a:p>
            <a:pPr marL="285750" indent="-285750" algn="just">
              <a:buFont typeface="Arial" panose="020B0604020202020204" pitchFamily="34" charset="0"/>
              <a:buChar char="•"/>
            </a:pPr>
            <a:r>
              <a:rPr lang="en-US" sz="1300" b="1" i="1" dirty="0"/>
              <a:t>Hence, the Commission had decided to levy only 50% of charge determined above i.e. </a:t>
            </a:r>
            <a:r>
              <a:rPr lang="en-US" sz="1300" b="1" i="1" dirty="0">
                <a:highlight>
                  <a:srgbClr val="00FF00"/>
                </a:highlight>
              </a:rPr>
              <a:t>0.66/kWh</a:t>
            </a:r>
            <a:r>
              <a:rPr lang="en-US" sz="1300" b="1" i="1" dirty="0"/>
              <a:t> as Green Power Tariff </a:t>
            </a:r>
            <a:r>
              <a:rPr lang="en-US" sz="1300" i="1" dirty="0"/>
              <a:t>to the consumer opting for meeting its 100% of power requirement through RE sources. </a:t>
            </a:r>
          </a:p>
          <a:p>
            <a:pPr marL="285750" indent="-285750" algn="just">
              <a:buFont typeface="Arial" panose="020B0604020202020204" pitchFamily="34" charset="0"/>
              <a:buChar char="•"/>
            </a:pPr>
            <a:r>
              <a:rPr lang="en-US" sz="1300" i="1" dirty="0"/>
              <a:t>Such Green Power Tariff would be in addition to regular tariff approved in MYT Order</a:t>
            </a:r>
          </a:p>
        </p:txBody>
      </p:sp>
      <p:graphicFrame>
        <p:nvGraphicFramePr>
          <p:cNvPr id="5" name="Table 4">
            <a:extLst>
              <a:ext uri="{FF2B5EF4-FFF2-40B4-BE49-F238E27FC236}">
                <a16:creationId xmlns:a16="http://schemas.microsoft.com/office/drawing/2014/main" id="{F9B6E6E3-C8E2-403F-8EC5-DB03743DE09A}"/>
              </a:ext>
            </a:extLst>
          </p:cNvPr>
          <p:cNvGraphicFramePr>
            <a:graphicFrameLocks noGrp="1"/>
          </p:cNvGraphicFramePr>
          <p:nvPr/>
        </p:nvGraphicFramePr>
        <p:xfrm>
          <a:off x="513442" y="2202844"/>
          <a:ext cx="7083424" cy="4089086"/>
        </p:xfrm>
        <a:graphic>
          <a:graphicData uri="http://schemas.openxmlformats.org/drawingml/2006/table">
            <a:tbl>
              <a:tblPr/>
              <a:tblGrid>
                <a:gridCol w="1086758">
                  <a:extLst>
                    <a:ext uri="{9D8B030D-6E8A-4147-A177-3AD203B41FA5}">
                      <a16:colId xmlns:a16="http://schemas.microsoft.com/office/drawing/2014/main" val="1869833757"/>
                    </a:ext>
                  </a:extLst>
                </a:gridCol>
                <a:gridCol w="771524">
                  <a:extLst>
                    <a:ext uri="{9D8B030D-6E8A-4147-A177-3AD203B41FA5}">
                      <a16:colId xmlns:a16="http://schemas.microsoft.com/office/drawing/2014/main" val="2361725011"/>
                    </a:ext>
                  </a:extLst>
                </a:gridCol>
                <a:gridCol w="726909">
                  <a:extLst>
                    <a:ext uri="{9D8B030D-6E8A-4147-A177-3AD203B41FA5}">
                      <a16:colId xmlns:a16="http://schemas.microsoft.com/office/drawing/2014/main" val="190292431"/>
                    </a:ext>
                  </a:extLst>
                </a:gridCol>
                <a:gridCol w="551507">
                  <a:extLst>
                    <a:ext uri="{9D8B030D-6E8A-4147-A177-3AD203B41FA5}">
                      <a16:colId xmlns:a16="http://schemas.microsoft.com/office/drawing/2014/main" val="434447464"/>
                    </a:ext>
                  </a:extLst>
                </a:gridCol>
                <a:gridCol w="870348">
                  <a:extLst>
                    <a:ext uri="{9D8B030D-6E8A-4147-A177-3AD203B41FA5}">
                      <a16:colId xmlns:a16="http://schemas.microsoft.com/office/drawing/2014/main" val="2209085345"/>
                    </a:ext>
                  </a:extLst>
                </a:gridCol>
                <a:gridCol w="689384">
                  <a:extLst>
                    <a:ext uri="{9D8B030D-6E8A-4147-A177-3AD203B41FA5}">
                      <a16:colId xmlns:a16="http://schemas.microsoft.com/office/drawing/2014/main" val="2999445196"/>
                    </a:ext>
                  </a:extLst>
                </a:gridCol>
                <a:gridCol w="870348">
                  <a:extLst>
                    <a:ext uri="{9D8B030D-6E8A-4147-A177-3AD203B41FA5}">
                      <a16:colId xmlns:a16="http://schemas.microsoft.com/office/drawing/2014/main" val="1828318046"/>
                    </a:ext>
                  </a:extLst>
                </a:gridCol>
                <a:gridCol w="1516646">
                  <a:extLst>
                    <a:ext uri="{9D8B030D-6E8A-4147-A177-3AD203B41FA5}">
                      <a16:colId xmlns:a16="http://schemas.microsoft.com/office/drawing/2014/main" val="3637946439"/>
                    </a:ext>
                  </a:extLst>
                </a:gridCol>
              </a:tblGrid>
              <a:tr h="929271">
                <a:tc rowSpan="2">
                  <a:txBody>
                    <a:bodyPr/>
                    <a:lstStyle/>
                    <a:p>
                      <a:pPr algn="ctr" fontAlgn="ctr"/>
                      <a:r>
                        <a:rPr lang="en-US" sz="1200" b="1" i="0" u="none" strike="noStrike">
                          <a:solidFill>
                            <a:srgbClr val="FFFFFF"/>
                          </a:solidFill>
                          <a:effectLst/>
                          <a:latin typeface="+mj-lt"/>
                        </a:rPr>
                        <a:t>Total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gridSpan="3">
                  <a:txBody>
                    <a:bodyPr/>
                    <a:lstStyle/>
                    <a:p>
                      <a:pPr algn="ctr" fontAlgn="ctr"/>
                      <a:r>
                        <a:rPr lang="en-US" sz="1200" b="1" i="0" u="none" strike="noStrike">
                          <a:solidFill>
                            <a:srgbClr val="FFFFFF"/>
                          </a:solidFill>
                          <a:effectLst/>
                          <a:latin typeface="+mj-lt"/>
                        </a:rPr>
                        <a:t>RE power Procurement for</a:t>
                      </a:r>
                      <a:br>
                        <a:rPr lang="en-US" sz="1200" b="1" i="0" u="none" strike="noStrike">
                          <a:solidFill>
                            <a:srgbClr val="FFFFFF"/>
                          </a:solidFill>
                          <a:effectLst/>
                          <a:latin typeface="+mj-lt"/>
                        </a:rPr>
                      </a:br>
                      <a:r>
                        <a:rPr lang="en-US" sz="1200" b="1" i="0" u="none" strike="noStrike">
                          <a:solidFill>
                            <a:srgbClr val="FFFFFF"/>
                          </a:solidFill>
                          <a:effectLst/>
                          <a:latin typeface="+mj-lt"/>
                        </a:rPr>
                        <a:t>MYT Period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hMerge="1">
                  <a:txBody>
                    <a:bodyPr/>
                    <a:lstStyle/>
                    <a:p>
                      <a:endParaRPr lang="en-US"/>
                    </a:p>
                  </a:txBody>
                  <a:tcPr/>
                </a:tc>
                <a:tc hMerge="1">
                  <a:txBody>
                    <a:bodyPr/>
                    <a:lstStyle/>
                    <a:p>
                      <a:endParaRPr lang="en-US"/>
                    </a:p>
                  </a:txBody>
                  <a:tcPr/>
                </a:tc>
                <a:tc gridSpan="3">
                  <a:txBody>
                    <a:bodyPr/>
                    <a:lstStyle/>
                    <a:p>
                      <a:pPr algn="ctr" fontAlgn="ctr"/>
                      <a:r>
                        <a:rPr lang="en-US" sz="1200" b="1" i="0" u="none" strike="noStrike">
                          <a:solidFill>
                            <a:srgbClr val="FFFFFF"/>
                          </a:solidFill>
                          <a:effectLst/>
                          <a:latin typeface="+mj-lt"/>
                        </a:rPr>
                        <a:t>Non-RE power</a:t>
                      </a:r>
                      <a:br>
                        <a:rPr lang="en-US" sz="1200" b="1" i="0" u="none" strike="noStrike">
                          <a:solidFill>
                            <a:srgbClr val="FFFFFF"/>
                          </a:solidFill>
                          <a:effectLst/>
                          <a:latin typeface="+mj-lt"/>
                        </a:rPr>
                      </a:br>
                      <a:r>
                        <a:rPr lang="en-US" sz="1200" b="1" i="0" u="none" strike="noStrike">
                          <a:solidFill>
                            <a:srgbClr val="FFFFFF"/>
                          </a:solidFill>
                          <a:effectLst/>
                          <a:latin typeface="+mj-lt"/>
                        </a:rPr>
                        <a:t>procurement (only</a:t>
                      </a:r>
                      <a:br>
                        <a:rPr lang="en-US" sz="1200" b="1" i="0" u="none" strike="noStrike">
                          <a:solidFill>
                            <a:srgbClr val="FFFFFF"/>
                          </a:solidFill>
                          <a:effectLst/>
                          <a:latin typeface="+mj-lt"/>
                        </a:rPr>
                      </a:br>
                      <a:r>
                        <a:rPr lang="en-US" sz="1200" b="1" i="0" u="none" strike="noStrike">
                          <a:solidFill>
                            <a:srgbClr val="FFFFFF"/>
                          </a:solidFill>
                          <a:effectLst/>
                          <a:latin typeface="+mj-lt"/>
                        </a:rPr>
                        <a:t>variable) for MYT Period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hMerge="1">
                  <a:txBody>
                    <a:bodyPr/>
                    <a:lstStyle/>
                    <a:p>
                      <a:endParaRPr lang="en-US"/>
                    </a:p>
                  </a:txBody>
                  <a:tcPr/>
                </a:tc>
                <a:tc hMerge="1">
                  <a:txBody>
                    <a:bodyPr/>
                    <a:lstStyle/>
                    <a:p>
                      <a:endParaRPr lang="en-US"/>
                    </a:p>
                  </a:txBody>
                  <a:tcPr/>
                </a:tc>
                <a:tc>
                  <a:txBody>
                    <a:bodyPr/>
                    <a:lstStyle/>
                    <a:p>
                      <a:pPr algn="ctr" fontAlgn="ctr"/>
                      <a:r>
                        <a:rPr lang="en-US" sz="1200" b="1" i="0" u="none" strike="noStrike">
                          <a:solidFill>
                            <a:srgbClr val="FFFFFF"/>
                          </a:solidFill>
                          <a:effectLst/>
                          <a:latin typeface="+mj-lt"/>
                        </a:rPr>
                        <a:t>Diff between RE &amp; Non-RE power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extLst>
                  <a:ext uri="{0D108BD9-81ED-4DB2-BD59-A6C34878D82A}">
                    <a16:rowId xmlns:a16="http://schemas.microsoft.com/office/drawing/2014/main" val="2227715994"/>
                  </a:ext>
                </a:extLst>
              </a:tr>
              <a:tr h="345085">
                <a:tc vMerge="1">
                  <a:txBody>
                    <a:bodyPr/>
                    <a:lstStyle/>
                    <a:p>
                      <a:endParaRPr lang="en-US"/>
                    </a:p>
                  </a:txBody>
                  <a:tcPr/>
                </a:tc>
                <a:tc>
                  <a:txBody>
                    <a:bodyPr/>
                    <a:lstStyle/>
                    <a:p>
                      <a:pPr algn="ctr" fontAlgn="ctr"/>
                      <a:r>
                        <a:rPr lang="en-US" sz="1200" b="1" i="0" u="none" strike="noStrike">
                          <a:solidFill>
                            <a:srgbClr val="FFFFFF"/>
                          </a:solidFill>
                          <a:effectLst/>
                          <a:latin typeface="+mj-lt"/>
                        </a:rPr>
                        <a:t>MU</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200" b="1" i="0" u="none" strike="noStrike" dirty="0">
                          <a:solidFill>
                            <a:srgbClr val="FFFFFF"/>
                          </a:solidFill>
                          <a:effectLst/>
                          <a:latin typeface="+mj-lt"/>
                        </a:rPr>
                        <a:t>Rs. Cr.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200" b="1" i="0" u="none" strike="noStrike">
                          <a:solidFill>
                            <a:srgbClr val="FFFFFF"/>
                          </a:solidFill>
                          <a:effectLst/>
                          <a:latin typeface="+mj-lt"/>
                        </a:rPr>
                        <a:t>Rs./kWh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200" b="1" i="0" u="none" strike="noStrike">
                          <a:solidFill>
                            <a:srgbClr val="FFFFFF"/>
                          </a:solidFill>
                          <a:effectLst/>
                          <a:latin typeface="+mj-lt"/>
                        </a:rPr>
                        <a:t>MU</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200" b="1" i="0" u="none" strike="noStrike">
                          <a:solidFill>
                            <a:srgbClr val="FFFFFF"/>
                          </a:solidFill>
                          <a:effectLst/>
                          <a:latin typeface="+mj-lt"/>
                        </a:rPr>
                        <a:t>Rs. Cr.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200" b="1" i="0" u="none" strike="noStrike">
                          <a:solidFill>
                            <a:srgbClr val="FFFFFF"/>
                          </a:solidFill>
                          <a:effectLst/>
                          <a:latin typeface="+mj-lt"/>
                        </a:rPr>
                        <a:t>Rs./kWh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200" b="1" i="0" u="none" strike="noStrike">
                          <a:solidFill>
                            <a:srgbClr val="FFFFFF"/>
                          </a:solidFill>
                          <a:effectLst/>
                          <a:latin typeface="+mj-lt"/>
                        </a:rPr>
                        <a:t>Rs./kWh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extLst>
                  <a:ext uri="{0D108BD9-81ED-4DB2-BD59-A6C34878D82A}">
                    <a16:rowId xmlns:a16="http://schemas.microsoft.com/office/drawing/2014/main" val="1620803360"/>
                  </a:ext>
                </a:extLst>
              </a:tr>
              <a:tr h="345085">
                <a:tc>
                  <a:txBody>
                    <a:bodyPr/>
                    <a:lstStyle/>
                    <a:p>
                      <a:pPr algn="ctr" fontAlgn="b"/>
                      <a:r>
                        <a:rPr lang="en-US" sz="1200" b="1" i="0" u="none" strike="noStrike" dirty="0">
                          <a:solidFill>
                            <a:srgbClr val="000000"/>
                          </a:solidFill>
                          <a:effectLst/>
                          <a:latin typeface="+mj-lt"/>
                        </a:rPr>
                        <a:t>MSEDCL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141772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57440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4.05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586029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146412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2.50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1.55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90036030"/>
                  </a:ext>
                </a:extLst>
              </a:tr>
              <a:tr h="345085">
                <a:tc>
                  <a:txBody>
                    <a:bodyPr/>
                    <a:lstStyle/>
                    <a:p>
                      <a:pPr algn="ctr" fontAlgn="b"/>
                      <a:r>
                        <a:rPr lang="en-US" sz="1200" b="1" i="0" u="none" strike="noStrike" dirty="0">
                          <a:solidFill>
                            <a:srgbClr val="000000"/>
                          </a:solidFill>
                          <a:effectLst/>
                          <a:latin typeface="+mj-lt"/>
                        </a:rPr>
                        <a:t>AEML-D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13295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4691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3.53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38206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15367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4.02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-0.49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2323017"/>
                  </a:ext>
                </a:extLst>
              </a:tr>
              <a:tr h="345085">
                <a:tc>
                  <a:txBody>
                    <a:bodyPr/>
                    <a:lstStyle/>
                    <a:p>
                      <a:pPr algn="ctr" fontAlgn="b"/>
                      <a:r>
                        <a:rPr lang="en-US" sz="1200" b="1" i="0" u="none" strike="noStrike" dirty="0">
                          <a:solidFill>
                            <a:srgbClr val="000000"/>
                          </a:solidFill>
                          <a:effectLst/>
                          <a:latin typeface="+mj-lt"/>
                        </a:rPr>
                        <a:t>BEST Undertaking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2949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940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3.19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22534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7938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3.58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mj-lt"/>
                        </a:rPr>
                        <a:t>-0.34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1023802"/>
                  </a:ext>
                </a:extLst>
              </a:tr>
              <a:tr h="345085">
                <a:tc>
                  <a:txBody>
                    <a:bodyPr/>
                    <a:lstStyle/>
                    <a:p>
                      <a:pPr algn="ctr" fontAlgn="b"/>
                      <a:r>
                        <a:rPr lang="en-US" sz="1200" b="1" i="0" u="none" strike="noStrike" dirty="0">
                          <a:solidFill>
                            <a:srgbClr val="000000"/>
                          </a:solidFill>
                          <a:effectLst/>
                          <a:latin typeface="+mj-lt"/>
                        </a:rPr>
                        <a:t>TPC-D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3927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1491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3.80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22377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8069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3.61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mj-lt"/>
                        </a:rPr>
                        <a:t>0.19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3510395"/>
                  </a:ext>
                </a:extLst>
              </a:tr>
              <a:tr h="345085">
                <a:tc>
                  <a:txBody>
                    <a:bodyPr/>
                    <a:lstStyle/>
                    <a:p>
                      <a:pPr algn="ctr" fontAlgn="b"/>
                      <a:r>
                        <a:rPr lang="en-US" sz="1200" b="1" i="0" u="none" strike="noStrike" dirty="0">
                          <a:solidFill>
                            <a:srgbClr val="000000"/>
                          </a:solidFill>
                          <a:effectLst/>
                          <a:latin typeface="+mj-lt"/>
                        </a:rPr>
                        <a:t>MBPPL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58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17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2.88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348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161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4.19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mj-lt"/>
                        </a:rPr>
                        <a:t>-1.31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06163941"/>
                  </a:ext>
                </a:extLst>
              </a:tr>
              <a:tr h="345085">
                <a:tc>
                  <a:txBody>
                    <a:bodyPr/>
                    <a:lstStyle/>
                    <a:p>
                      <a:pPr algn="ctr" fontAlgn="b"/>
                      <a:r>
                        <a:rPr lang="en-US" sz="1200" b="1" i="0" u="none" strike="noStrike" dirty="0">
                          <a:solidFill>
                            <a:srgbClr val="000000"/>
                          </a:solidFill>
                          <a:effectLst/>
                          <a:latin typeface="+mj-lt"/>
                        </a:rPr>
                        <a:t>GEPL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41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12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2.88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248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101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4.08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mj-lt"/>
                        </a:rPr>
                        <a:t>-1.20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4881488"/>
                  </a:ext>
                </a:extLst>
              </a:tr>
              <a:tr h="345085">
                <a:tc>
                  <a:txBody>
                    <a:bodyPr/>
                    <a:lstStyle/>
                    <a:p>
                      <a:pPr algn="ctr" fontAlgn="b"/>
                      <a:r>
                        <a:rPr lang="en-US" sz="1200" b="1" i="0" u="none" strike="noStrike" dirty="0">
                          <a:solidFill>
                            <a:srgbClr val="000000"/>
                          </a:solidFill>
                          <a:effectLst/>
                          <a:latin typeface="+mj-lt"/>
                        </a:rPr>
                        <a:t>KRC</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35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2.89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190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76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mj-lt"/>
                        </a:rPr>
                        <a:t>4.02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mj-lt"/>
                        </a:rPr>
                        <a:t>-1.14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9529525"/>
                  </a:ext>
                </a:extLst>
              </a:tr>
              <a:tr h="345085">
                <a:tc>
                  <a:txBody>
                    <a:bodyPr/>
                    <a:lstStyle/>
                    <a:p>
                      <a:pPr algn="ctr" fontAlgn="b"/>
                      <a:r>
                        <a:rPr lang="en-US" sz="1200" b="1" i="0" u="none" strike="noStrike">
                          <a:solidFill>
                            <a:srgbClr val="000000"/>
                          </a:solidFill>
                          <a:effectLst/>
                          <a:latin typeface="+mj-lt"/>
                        </a:rPr>
                        <a:t>Total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en-US" sz="1200" b="1" i="0" u="none" strike="noStrike">
                          <a:solidFill>
                            <a:srgbClr val="000000"/>
                          </a:solidFill>
                          <a:effectLst/>
                          <a:latin typeface="+mj-lt"/>
                        </a:rPr>
                        <a:t>162077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en-US" sz="1200" b="1" i="0" u="none" strike="noStrike">
                          <a:solidFill>
                            <a:srgbClr val="000000"/>
                          </a:solidFill>
                          <a:effectLst/>
                          <a:latin typeface="+mj-lt"/>
                        </a:rPr>
                        <a:t>64600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en-US" sz="1200" b="1" i="0" u="none" strike="noStrike">
                          <a:solidFill>
                            <a:srgbClr val="000000"/>
                          </a:solidFill>
                          <a:effectLst/>
                          <a:latin typeface="+mj-lt"/>
                        </a:rPr>
                        <a:t>3.99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en-US" sz="1200" b="1" i="0" u="none" strike="noStrike">
                          <a:solidFill>
                            <a:srgbClr val="000000"/>
                          </a:solidFill>
                          <a:effectLst/>
                          <a:latin typeface="+mj-lt"/>
                        </a:rPr>
                        <a:t>669968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en-US" sz="1200" b="1" i="0" u="none" strike="noStrike">
                          <a:solidFill>
                            <a:srgbClr val="000000"/>
                          </a:solidFill>
                          <a:effectLst/>
                          <a:latin typeface="+mj-lt"/>
                        </a:rPr>
                        <a:t>178125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en-US" sz="1200" b="1" i="0" u="none" strike="noStrike">
                          <a:solidFill>
                            <a:srgbClr val="000000"/>
                          </a:solidFill>
                          <a:effectLst/>
                          <a:latin typeface="+mj-lt"/>
                        </a:rPr>
                        <a:t>2.66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en-US" sz="1200" b="1" i="0" u="none" strike="noStrike" dirty="0">
                          <a:solidFill>
                            <a:srgbClr val="000000"/>
                          </a:solidFill>
                          <a:effectLst/>
                          <a:latin typeface="+mj-lt"/>
                        </a:rPr>
                        <a:t>1.33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630228885"/>
                  </a:ext>
                </a:extLst>
              </a:tr>
            </a:tbl>
          </a:graphicData>
        </a:graphic>
      </p:graphicFrame>
      <p:sp>
        <p:nvSpPr>
          <p:cNvPr id="9" name="Oval 8">
            <a:extLst>
              <a:ext uri="{FF2B5EF4-FFF2-40B4-BE49-F238E27FC236}">
                <a16:creationId xmlns:a16="http://schemas.microsoft.com/office/drawing/2014/main" id="{06149874-A619-44C0-A225-EB13B8A21D74}"/>
              </a:ext>
            </a:extLst>
          </p:cNvPr>
          <p:cNvSpPr/>
          <p:nvPr/>
        </p:nvSpPr>
        <p:spPr bwMode="gray">
          <a:xfrm>
            <a:off x="6096000" y="5912607"/>
            <a:ext cx="1467752" cy="379323"/>
          </a:xfrm>
          <a:prstGeom prst="ellipse">
            <a:avLst/>
          </a:prstGeom>
          <a:noFill/>
          <a:ln w="57150">
            <a:prstDash val="sysDash"/>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1345447359"/>
      </p:ext>
    </p:extLst>
  </p:cSld>
  <p:clrMapOvr>
    <a:masterClrMapping/>
  </p:clrMapOvr>
  <p:transition>
    <p:fad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02F641-FAA0-4647-BB71-2A929E824A77}"/>
              </a:ext>
            </a:extLst>
          </p:cNvPr>
          <p:cNvSpPr>
            <a:spLocks noGrp="1"/>
          </p:cNvSpPr>
          <p:nvPr>
            <p:ph type="title"/>
          </p:nvPr>
        </p:nvSpPr>
        <p:spPr/>
        <p:txBody>
          <a:bodyPr/>
          <a:lstStyle/>
          <a:p>
            <a:pPr marL="0" marR="0">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Times New Roman" panose="02020603050405020304" pitchFamily="18" charset="0"/>
              </a:rPr>
              <a:t>Precedence Cases – Madhya Pradesh (1/2)</a:t>
            </a:r>
          </a:p>
        </p:txBody>
      </p:sp>
      <p:sp>
        <p:nvSpPr>
          <p:cNvPr id="6" name="TextBox 5">
            <a:extLst>
              <a:ext uri="{FF2B5EF4-FFF2-40B4-BE49-F238E27FC236}">
                <a16:creationId xmlns:a16="http://schemas.microsoft.com/office/drawing/2014/main" id="{78802F5C-0148-45A1-9187-CABB72BC7851}"/>
              </a:ext>
            </a:extLst>
          </p:cNvPr>
          <p:cNvSpPr txBox="1"/>
          <p:nvPr/>
        </p:nvSpPr>
        <p:spPr>
          <a:xfrm>
            <a:off x="404586" y="814980"/>
            <a:ext cx="10905669" cy="523220"/>
          </a:xfrm>
          <a:prstGeom prst="rect">
            <a:avLst/>
          </a:prstGeom>
          <a:noFill/>
        </p:spPr>
        <p:txBody>
          <a:bodyPr wrap="square">
            <a:spAutoFit/>
          </a:bodyPr>
          <a:lstStyle/>
          <a:p>
            <a:r>
              <a:rPr lang="en-US" sz="1300" dirty="0"/>
              <a:t>Citing KERC’s Order on Green Tariff as precedence, as well as the MERC order on the same, </a:t>
            </a:r>
            <a:r>
              <a:rPr lang="en-US" sz="1400" dirty="0"/>
              <a:t>MPPMCL or collectively with DISCOMs have submitted in their petition to MPERC to include the option of Green Tariff</a:t>
            </a:r>
            <a:endParaRPr lang="en-US" sz="1300" dirty="0"/>
          </a:p>
        </p:txBody>
      </p:sp>
      <p:sp>
        <p:nvSpPr>
          <p:cNvPr id="5" name="TextBox 4">
            <a:extLst>
              <a:ext uri="{FF2B5EF4-FFF2-40B4-BE49-F238E27FC236}">
                <a16:creationId xmlns:a16="http://schemas.microsoft.com/office/drawing/2014/main" id="{AE052FDA-9F69-47AF-94C7-2065AACE7347}"/>
              </a:ext>
            </a:extLst>
          </p:cNvPr>
          <p:cNvSpPr txBox="1"/>
          <p:nvPr/>
        </p:nvSpPr>
        <p:spPr>
          <a:xfrm>
            <a:off x="469902" y="1616188"/>
            <a:ext cx="10905669" cy="3924151"/>
          </a:xfrm>
          <a:prstGeom prst="rect">
            <a:avLst/>
          </a:prstGeom>
          <a:solidFill>
            <a:schemeClr val="accent1">
              <a:lumMod val="20000"/>
              <a:lumOff val="80000"/>
            </a:schemeClr>
          </a:solidFill>
        </p:spPr>
        <p:txBody>
          <a:bodyPr wrap="square">
            <a:spAutoFit/>
          </a:bodyPr>
          <a:lstStyle/>
          <a:p>
            <a:pPr algn="just"/>
            <a:r>
              <a:rPr lang="en-US" sz="1300" b="1" i="1" dirty="0"/>
              <a:t>Following order was passed by MPERC:</a:t>
            </a:r>
          </a:p>
          <a:p>
            <a:pPr algn="just"/>
            <a:endParaRPr lang="en-US" sz="1300" i="1" dirty="0"/>
          </a:p>
          <a:p>
            <a:pPr marL="342900" indent="-342900" algn="just">
              <a:buFont typeface="+mj-lt"/>
              <a:buAutoNum type="alphaLcParenR"/>
            </a:pPr>
            <a:r>
              <a:rPr lang="en-US" sz="1300" b="1" i="1" dirty="0"/>
              <a:t>Commission had fixed Green Energy Tariff</a:t>
            </a:r>
            <a:r>
              <a:rPr lang="en-US" sz="1300" i="1" dirty="0"/>
              <a:t> for FY 2022-23 </a:t>
            </a:r>
            <a:r>
              <a:rPr lang="en-US" sz="1300" b="1" i="1" dirty="0"/>
              <a:t>as 50% of the difference in weighted average charge of RE and weighted average rate of Energy charge of Non RE sources</a:t>
            </a:r>
          </a:p>
          <a:p>
            <a:pPr marL="342900" indent="-342900" algn="just">
              <a:buFont typeface="+mj-lt"/>
              <a:buAutoNum type="alphaLcParenR"/>
            </a:pPr>
            <a:endParaRPr lang="en-US" sz="1300" i="1" dirty="0"/>
          </a:p>
          <a:p>
            <a:pPr marL="342900" indent="-342900" algn="just">
              <a:buFont typeface="+mj-lt"/>
              <a:buAutoNum type="alphaLcParenR"/>
            </a:pPr>
            <a:r>
              <a:rPr lang="en-US" sz="1300" i="1" dirty="0"/>
              <a:t>RE supplied by the Petitioners to its consumer shall only be considered towards the RPO compliance of the Petitioners. Further, if the consumer is also an obligated entity, then he may make its own arrangement towards fulfilment of its RPO, separately</a:t>
            </a:r>
          </a:p>
          <a:p>
            <a:pPr marL="342900" indent="-342900" algn="just">
              <a:buFont typeface="+mj-lt"/>
              <a:buAutoNum type="alphaLcParenR"/>
            </a:pPr>
            <a:endParaRPr lang="en-US" sz="1300" i="1" dirty="0"/>
          </a:p>
          <a:p>
            <a:pPr marL="342900" indent="-342900" algn="just">
              <a:buFont typeface="+mj-lt"/>
              <a:buAutoNum type="alphaLcParenR"/>
            </a:pPr>
            <a:r>
              <a:rPr lang="en-US" sz="1300" i="1" dirty="0"/>
              <a:t>the </a:t>
            </a:r>
            <a:r>
              <a:rPr lang="en-US" sz="1300" b="1" i="1" dirty="0"/>
              <a:t>revenue </a:t>
            </a:r>
            <a:r>
              <a:rPr lang="en-US" sz="1300" i="1" dirty="0"/>
              <a:t>earned by the Petitioners from such sale of power </a:t>
            </a:r>
            <a:r>
              <a:rPr lang="en-US" sz="1300" b="1" i="1" dirty="0"/>
              <a:t>shall be considered as Tariff Income</a:t>
            </a:r>
            <a:r>
              <a:rPr lang="en-US" sz="1300" i="1" dirty="0"/>
              <a:t> at the time of truing up. Such treatment of revenue shall also ensure that the benefit of same is passed on to other consumers of the State in terms of reduced cost</a:t>
            </a:r>
          </a:p>
          <a:p>
            <a:pPr marL="342900" indent="-342900" algn="just">
              <a:buFont typeface="+mj-lt"/>
              <a:buAutoNum type="alphaLcParenR"/>
            </a:pPr>
            <a:endParaRPr lang="en-US" sz="1300" i="1" dirty="0"/>
          </a:p>
          <a:p>
            <a:pPr marL="342900" indent="-342900" algn="just">
              <a:buFont typeface="+mj-lt"/>
              <a:buAutoNum type="alphaLcParenR"/>
            </a:pPr>
            <a:r>
              <a:rPr lang="en-US" sz="1300" i="1" dirty="0"/>
              <a:t>This </a:t>
            </a:r>
            <a:r>
              <a:rPr lang="en-US" sz="1300" b="1" i="1" dirty="0"/>
              <a:t>arrangement is optional / voluntary </a:t>
            </a:r>
            <a:r>
              <a:rPr lang="en-US" sz="1300" i="1" dirty="0"/>
              <a:t>and shall only be provided on the request of the Consumer. The Green Energy Tariff shall only be applicable if Consumer wishes to avail power under this arrangement</a:t>
            </a:r>
          </a:p>
          <a:p>
            <a:pPr marL="342900" indent="-342900" algn="just">
              <a:buFont typeface="+mj-lt"/>
              <a:buAutoNum type="alphaLcParenR"/>
            </a:pPr>
            <a:endParaRPr lang="en-US" sz="1300" i="1" dirty="0"/>
          </a:p>
          <a:p>
            <a:pPr marL="342900" indent="-342900" algn="just">
              <a:buFont typeface="+mj-lt"/>
              <a:buAutoNum type="alphaLcParenR"/>
            </a:pPr>
            <a:r>
              <a:rPr lang="en-US" sz="1300" i="1" dirty="0"/>
              <a:t>In order to operationalize the scheme uniformly across the State, necessary modalities including guidelines, if any shall be worked out / prepared by the Licensees &amp; information in this regard shall be made available to the Commission within period of one month from the date of this Order</a:t>
            </a:r>
          </a:p>
        </p:txBody>
      </p:sp>
      <p:sp>
        <p:nvSpPr>
          <p:cNvPr id="7" name="Rectangle 6">
            <a:extLst>
              <a:ext uri="{FF2B5EF4-FFF2-40B4-BE49-F238E27FC236}">
                <a16:creationId xmlns:a16="http://schemas.microsoft.com/office/drawing/2014/main" id="{BF0CA1A7-9C5F-4838-BA35-7D12EF5A6FCD}"/>
              </a:ext>
            </a:extLst>
          </p:cNvPr>
          <p:cNvSpPr/>
          <p:nvPr/>
        </p:nvSpPr>
        <p:spPr bwMode="gray">
          <a:xfrm>
            <a:off x="472967" y="5818327"/>
            <a:ext cx="10944330" cy="538930"/>
          </a:xfrm>
          <a:prstGeom prst="rect">
            <a:avLst/>
          </a:prstGeom>
          <a:solidFill>
            <a:schemeClr val="bg1">
              <a:lumMod val="95000"/>
            </a:schemeClr>
          </a:solidFill>
          <a:ln w="6350">
            <a:solidFill>
              <a:schemeClr val="tx1"/>
            </a:solidFill>
            <a:prstDash val="lgDash"/>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300" b="1" i="1" dirty="0">
                <a:solidFill>
                  <a:schemeClr val="tx1"/>
                </a:solidFill>
              </a:rPr>
              <a:t>Note: </a:t>
            </a:r>
          </a:p>
          <a:p>
            <a:pPr marL="171450" indent="-171450" algn="just">
              <a:lnSpc>
                <a:spcPct val="106000"/>
              </a:lnSpc>
              <a:buFont typeface="Arial" panose="020B0604020202020204" pitchFamily="34" charset="0"/>
              <a:buChar char="•"/>
            </a:pPr>
            <a:r>
              <a:rPr lang="en-US" sz="1300" i="1" dirty="0">
                <a:solidFill>
                  <a:schemeClr val="tx1"/>
                </a:solidFill>
              </a:rPr>
              <a:t>The above is as per the latest MPERC Tariff Order for FY 23</a:t>
            </a:r>
          </a:p>
        </p:txBody>
      </p:sp>
      <p:sp>
        <p:nvSpPr>
          <p:cNvPr id="8" name="TextBox 7">
            <a:extLst>
              <a:ext uri="{FF2B5EF4-FFF2-40B4-BE49-F238E27FC236}">
                <a16:creationId xmlns:a16="http://schemas.microsoft.com/office/drawing/2014/main" id="{B96C04D7-45F0-4967-B811-3D4CACE79BD9}"/>
              </a:ext>
            </a:extLst>
          </p:cNvPr>
          <p:cNvSpPr txBox="1"/>
          <p:nvPr/>
        </p:nvSpPr>
        <p:spPr>
          <a:xfrm>
            <a:off x="3182329" y="6621462"/>
            <a:ext cx="8240486" cy="138499"/>
          </a:xfrm>
          <a:prstGeom prst="rect">
            <a:avLst/>
          </a:prstGeom>
          <a:noFill/>
        </p:spPr>
        <p:txBody>
          <a:bodyPr wrap="square" lIns="0" tIns="0" rIns="0" bIns="0" rtlCol="0">
            <a:spAutoFit/>
          </a:bodyPr>
          <a:lstStyle/>
          <a:p>
            <a:pPr>
              <a:spcBef>
                <a:spcPts val="600"/>
              </a:spcBef>
              <a:buSzPct val="100000"/>
            </a:pPr>
            <a:r>
              <a:rPr lang="en-US" sz="900" i="1" dirty="0">
                <a:solidFill>
                  <a:srgbClr val="313131"/>
                </a:solidFill>
              </a:rPr>
              <a:t>Source: Respective tariff order</a:t>
            </a:r>
          </a:p>
        </p:txBody>
      </p:sp>
    </p:spTree>
    <p:extLst>
      <p:ext uri="{BB962C8B-B14F-4D97-AF65-F5344CB8AC3E}">
        <p14:creationId xmlns:p14="http://schemas.microsoft.com/office/powerpoint/2010/main" val="126565223"/>
      </p:ext>
    </p:extLst>
  </p:cSld>
  <p:clrMapOvr>
    <a:masterClrMapping/>
  </p:clrMapOvr>
  <p:transition>
    <p:fad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02F641-FAA0-4647-BB71-2A929E824A77}"/>
              </a:ext>
            </a:extLst>
          </p:cNvPr>
          <p:cNvSpPr>
            <a:spLocks noGrp="1"/>
          </p:cNvSpPr>
          <p:nvPr>
            <p:ph type="title"/>
          </p:nvPr>
        </p:nvSpPr>
        <p:spPr/>
        <p:txBody>
          <a:bodyPr/>
          <a:lstStyle/>
          <a:p>
            <a:pPr marL="0" marR="0">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Times New Roman" panose="02020603050405020304" pitchFamily="18" charset="0"/>
              </a:rPr>
              <a:t>Precedence Cases – Madhya Pradesh (2/2)</a:t>
            </a:r>
          </a:p>
        </p:txBody>
      </p:sp>
      <p:sp>
        <p:nvSpPr>
          <p:cNvPr id="6" name="TextBox 5">
            <a:extLst>
              <a:ext uri="{FF2B5EF4-FFF2-40B4-BE49-F238E27FC236}">
                <a16:creationId xmlns:a16="http://schemas.microsoft.com/office/drawing/2014/main" id="{78802F5C-0148-45A1-9187-CABB72BC7851}"/>
              </a:ext>
            </a:extLst>
          </p:cNvPr>
          <p:cNvSpPr txBox="1"/>
          <p:nvPr/>
        </p:nvSpPr>
        <p:spPr>
          <a:xfrm>
            <a:off x="411563" y="814980"/>
            <a:ext cx="11166928" cy="523220"/>
          </a:xfrm>
          <a:prstGeom prst="rect">
            <a:avLst/>
          </a:prstGeom>
          <a:noFill/>
        </p:spPr>
        <p:txBody>
          <a:bodyPr wrap="square">
            <a:spAutoFit/>
          </a:bodyPr>
          <a:lstStyle/>
          <a:p>
            <a:r>
              <a:rPr lang="en-US" sz="1400" dirty="0"/>
              <a:t>Similar to Maharashtra case, following is the computation of green tariff as was proposed to Commission along with the tariff actually approved:</a:t>
            </a:r>
          </a:p>
        </p:txBody>
      </p:sp>
      <p:sp>
        <p:nvSpPr>
          <p:cNvPr id="13" name="TextBox 12">
            <a:extLst>
              <a:ext uri="{FF2B5EF4-FFF2-40B4-BE49-F238E27FC236}">
                <a16:creationId xmlns:a16="http://schemas.microsoft.com/office/drawing/2014/main" id="{392D49F7-FF9C-4076-98E3-C8139EF5BDE8}"/>
              </a:ext>
            </a:extLst>
          </p:cNvPr>
          <p:cNvSpPr txBox="1"/>
          <p:nvPr/>
        </p:nvSpPr>
        <p:spPr>
          <a:xfrm>
            <a:off x="469901" y="3429000"/>
            <a:ext cx="10905669" cy="307777"/>
          </a:xfrm>
          <a:prstGeom prst="rect">
            <a:avLst/>
          </a:prstGeom>
          <a:noFill/>
        </p:spPr>
        <p:txBody>
          <a:bodyPr wrap="square">
            <a:spAutoFit/>
          </a:bodyPr>
          <a:lstStyle/>
          <a:p>
            <a:r>
              <a:rPr lang="en-US" sz="1400" b="1" dirty="0"/>
              <a:t>Reasons for adoption of Green Tariff by Commission:</a:t>
            </a:r>
          </a:p>
        </p:txBody>
      </p:sp>
      <p:sp>
        <p:nvSpPr>
          <p:cNvPr id="15" name="TextBox 14">
            <a:extLst>
              <a:ext uri="{FF2B5EF4-FFF2-40B4-BE49-F238E27FC236}">
                <a16:creationId xmlns:a16="http://schemas.microsoft.com/office/drawing/2014/main" id="{AAF2895A-1B3D-4BFC-9BE6-49C903E491D2}"/>
              </a:ext>
            </a:extLst>
          </p:cNvPr>
          <p:cNvSpPr txBox="1"/>
          <p:nvPr/>
        </p:nvSpPr>
        <p:spPr>
          <a:xfrm>
            <a:off x="469901" y="3867022"/>
            <a:ext cx="11108589" cy="2462213"/>
          </a:xfrm>
          <a:prstGeom prst="rect">
            <a:avLst/>
          </a:prstGeom>
          <a:noFill/>
        </p:spPr>
        <p:txBody>
          <a:bodyPr wrap="square">
            <a:spAutoFit/>
          </a:bodyPr>
          <a:lstStyle/>
          <a:p>
            <a:pPr marL="285750" indent="-285750" algn="just">
              <a:buFont typeface="Wingdings" panose="05000000000000000000" pitchFamily="2" charset="2"/>
              <a:buChar char="Ø"/>
            </a:pPr>
            <a:r>
              <a:rPr lang="en-US" sz="1400" i="1" dirty="0"/>
              <a:t>The Commission has observed that during the meeting of State Advisory Committee as well during the Public Hearings some of the stakeholders have requested green energy tariff for consumers who are willing to purchase 100% Renewable Energy from the Distribution Licensee. </a:t>
            </a:r>
          </a:p>
          <a:p>
            <a:pPr marL="285750" indent="-285750" algn="just">
              <a:buFont typeface="Wingdings" panose="05000000000000000000" pitchFamily="2" charset="2"/>
              <a:buChar char="Ø"/>
            </a:pPr>
            <a:endParaRPr lang="en-US" sz="1400" i="1" dirty="0"/>
          </a:p>
          <a:p>
            <a:pPr marL="285750" indent="-285750" algn="just">
              <a:buFont typeface="Wingdings" panose="05000000000000000000" pitchFamily="2" charset="2"/>
              <a:buChar char="Ø"/>
            </a:pPr>
            <a:r>
              <a:rPr lang="en-US" sz="1400" i="1" dirty="0"/>
              <a:t>These consumers are either not eligible for taking 100% RE through Open Access or they do not have the resources, expertise and the bandwidth required for carrying out this activity. </a:t>
            </a:r>
          </a:p>
          <a:p>
            <a:pPr marL="285750" indent="-285750" algn="just">
              <a:buFont typeface="Wingdings" panose="05000000000000000000" pitchFamily="2" charset="2"/>
              <a:buChar char="Ø"/>
            </a:pPr>
            <a:endParaRPr lang="en-US" sz="1400" i="1" dirty="0"/>
          </a:p>
          <a:p>
            <a:pPr marL="285750" indent="-285750" algn="just">
              <a:buFont typeface="Wingdings" panose="05000000000000000000" pitchFamily="2" charset="2"/>
              <a:buChar char="Ø"/>
            </a:pPr>
            <a:r>
              <a:rPr lang="en-US" sz="1400" i="1" dirty="0"/>
              <a:t>Given the proposed arrangement is </a:t>
            </a:r>
            <a:r>
              <a:rPr lang="en-US" sz="1400" b="1" i="1" dirty="0"/>
              <a:t>completely voluntary in nature</a:t>
            </a:r>
            <a:r>
              <a:rPr lang="en-US" sz="1400" i="1" dirty="0"/>
              <a:t>, the Commission have been inclined to consider it</a:t>
            </a:r>
          </a:p>
          <a:p>
            <a:pPr marL="285750" indent="-285750" algn="just">
              <a:buFont typeface="Wingdings" panose="05000000000000000000" pitchFamily="2" charset="2"/>
              <a:buChar char="Ø"/>
            </a:pPr>
            <a:endParaRPr lang="en-US" sz="1400" i="1" dirty="0"/>
          </a:p>
          <a:p>
            <a:pPr marL="285750" indent="-285750" algn="just">
              <a:buFont typeface="Wingdings" panose="05000000000000000000" pitchFamily="2" charset="2"/>
              <a:buChar char="Ø"/>
            </a:pPr>
            <a:r>
              <a:rPr lang="en-US" sz="1400" i="1" dirty="0"/>
              <a:t>Further, such arrangement would promote RE in MP, which is also one of the mandates under the Electricity Act, 2003</a:t>
            </a:r>
          </a:p>
        </p:txBody>
      </p:sp>
      <p:graphicFrame>
        <p:nvGraphicFramePr>
          <p:cNvPr id="4" name="Table 3">
            <a:extLst>
              <a:ext uri="{FF2B5EF4-FFF2-40B4-BE49-F238E27FC236}">
                <a16:creationId xmlns:a16="http://schemas.microsoft.com/office/drawing/2014/main" id="{1CEBDD6A-4468-482A-B9E9-944CF4B177FC}"/>
              </a:ext>
            </a:extLst>
          </p:cNvPr>
          <p:cNvGraphicFramePr>
            <a:graphicFrameLocks noGrp="1"/>
          </p:cNvGraphicFramePr>
          <p:nvPr/>
        </p:nvGraphicFramePr>
        <p:xfrm>
          <a:off x="469900" y="1774000"/>
          <a:ext cx="10905671" cy="1305560"/>
        </p:xfrm>
        <a:graphic>
          <a:graphicData uri="http://schemas.openxmlformats.org/drawingml/2006/table">
            <a:tbl>
              <a:tblPr/>
              <a:tblGrid>
                <a:gridCol w="1043214">
                  <a:extLst>
                    <a:ext uri="{9D8B030D-6E8A-4147-A177-3AD203B41FA5}">
                      <a16:colId xmlns:a16="http://schemas.microsoft.com/office/drawing/2014/main" val="1327474082"/>
                    </a:ext>
                  </a:extLst>
                </a:gridCol>
                <a:gridCol w="1012372">
                  <a:extLst>
                    <a:ext uri="{9D8B030D-6E8A-4147-A177-3AD203B41FA5}">
                      <a16:colId xmlns:a16="http://schemas.microsoft.com/office/drawing/2014/main" val="2514973162"/>
                    </a:ext>
                  </a:extLst>
                </a:gridCol>
                <a:gridCol w="1099457">
                  <a:extLst>
                    <a:ext uri="{9D8B030D-6E8A-4147-A177-3AD203B41FA5}">
                      <a16:colId xmlns:a16="http://schemas.microsoft.com/office/drawing/2014/main" val="2298734829"/>
                    </a:ext>
                  </a:extLst>
                </a:gridCol>
                <a:gridCol w="1153886">
                  <a:extLst>
                    <a:ext uri="{9D8B030D-6E8A-4147-A177-3AD203B41FA5}">
                      <a16:colId xmlns:a16="http://schemas.microsoft.com/office/drawing/2014/main" val="2625647180"/>
                    </a:ext>
                  </a:extLst>
                </a:gridCol>
                <a:gridCol w="1317171">
                  <a:extLst>
                    <a:ext uri="{9D8B030D-6E8A-4147-A177-3AD203B41FA5}">
                      <a16:colId xmlns:a16="http://schemas.microsoft.com/office/drawing/2014/main" val="3788400957"/>
                    </a:ext>
                  </a:extLst>
                </a:gridCol>
                <a:gridCol w="1404257">
                  <a:extLst>
                    <a:ext uri="{9D8B030D-6E8A-4147-A177-3AD203B41FA5}">
                      <a16:colId xmlns:a16="http://schemas.microsoft.com/office/drawing/2014/main" val="4230278045"/>
                    </a:ext>
                  </a:extLst>
                </a:gridCol>
                <a:gridCol w="1970314">
                  <a:extLst>
                    <a:ext uri="{9D8B030D-6E8A-4147-A177-3AD203B41FA5}">
                      <a16:colId xmlns:a16="http://schemas.microsoft.com/office/drawing/2014/main" val="1927636228"/>
                    </a:ext>
                  </a:extLst>
                </a:gridCol>
                <a:gridCol w="1905000">
                  <a:extLst>
                    <a:ext uri="{9D8B030D-6E8A-4147-A177-3AD203B41FA5}">
                      <a16:colId xmlns:a16="http://schemas.microsoft.com/office/drawing/2014/main" val="3358142948"/>
                    </a:ext>
                  </a:extLst>
                </a:gridCol>
              </a:tblGrid>
              <a:tr h="457200">
                <a:tc gridSpan="3">
                  <a:txBody>
                    <a:bodyPr/>
                    <a:lstStyle/>
                    <a:p>
                      <a:pPr algn="ctr" fontAlgn="ctr"/>
                      <a:r>
                        <a:rPr lang="en-US" sz="1400" b="1" i="0" u="none" strike="noStrike" dirty="0">
                          <a:solidFill>
                            <a:srgbClr val="FFFFFF"/>
                          </a:solidFill>
                          <a:effectLst/>
                          <a:latin typeface="+mj-lt"/>
                        </a:rPr>
                        <a:t>RE Power Procurement for the</a:t>
                      </a:r>
                      <a:br>
                        <a:rPr lang="en-US" sz="1400" b="1" i="0" u="none" strike="noStrike" dirty="0">
                          <a:solidFill>
                            <a:srgbClr val="FFFFFF"/>
                          </a:solidFill>
                          <a:effectLst/>
                          <a:latin typeface="+mj-lt"/>
                        </a:rPr>
                      </a:br>
                      <a:r>
                        <a:rPr lang="en-US" sz="1400" b="1" i="0" u="none" strike="noStrike" dirty="0">
                          <a:solidFill>
                            <a:srgbClr val="FFFFFF"/>
                          </a:solidFill>
                          <a:effectLst/>
                          <a:latin typeface="+mj-lt"/>
                        </a:rPr>
                        <a:t>Period FY 2022-23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4F59"/>
                    </a:solidFill>
                  </a:tcPr>
                </a:tc>
                <a:tc hMerge="1">
                  <a:txBody>
                    <a:bodyPr/>
                    <a:lstStyle/>
                    <a:p>
                      <a:endParaRPr lang="en-US"/>
                    </a:p>
                  </a:txBody>
                  <a:tcPr/>
                </a:tc>
                <a:tc hMerge="1">
                  <a:txBody>
                    <a:bodyPr/>
                    <a:lstStyle/>
                    <a:p>
                      <a:endParaRPr lang="en-US"/>
                    </a:p>
                  </a:txBody>
                  <a:tcPr/>
                </a:tc>
                <a:tc gridSpan="3">
                  <a:txBody>
                    <a:bodyPr/>
                    <a:lstStyle/>
                    <a:p>
                      <a:pPr algn="ctr" fontAlgn="ctr"/>
                      <a:r>
                        <a:rPr lang="en-US" sz="1400" b="1" i="0" u="none" strike="noStrike" dirty="0">
                          <a:solidFill>
                            <a:srgbClr val="FFFFFF"/>
                          </a:solidFill>
                          <a:effectLst/>
                          <a:latin typeface="+mj-lt"/>
                        </a:rPr>
                        <a:t>Non-RE Power Procurement (Only</a:t>
                      </a:r>
                      <a:br>
                        <a:rPr lang="en-US" sz="1400" b="1" i="0" u="none" strike="noStrike" dirty="0">
                          <a:solidFill>
                            <a:srgbClr val="FFFFFF"/>
                          </a:solidFill>
                          <a:effectLst/>
                          <a:latin typeface="+mj-lt"/>
                        </a:rPr>
                      </a:br>
                      <a:r>
                        <a:rPr lang="en-US" sz="1400" b="1" i="0" u="none" strike="noStrike" dirty="0">
                          <a:solidFill>
                            <a:srgbClr val="FFFFFF"/>
                          </a:solidFill>
                          <a:effectLst/>
                          <a:latin typeface="+mj-lt"/>
                        </a:rPr>
                        <a:t>Variable) for the Period FY 2022-23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4F59"/>
                    </a:solidFill>
                  </a:tcPr>
                </a:tc>
                <a:tc hMerge="1">
                  <a:txBody>
                    <a:bodyPr/>
                    <a:lstStyle/>
                    <a:p>
                      <a:endParaRPr lang="en-US"/>
                    </a:p>
                  </a:txBody>
                  <a:tcPr/>
                </a:tc>
                <a:tc hMerge="1">
                  <a:txBody>
                    <a:bodyPr/>
                    <a:lstStyle/>
                    <a:p>
                      <a:endParaRPr lang="en-US"/>
                    </a:p>
                  </a:txBody>
                  <a:tcPr/>
                </a:tc>
                <a:tc>
                  <a:txBody>
                    <a:bodyPr/>
                    <a:lstStyle/>
                    <a:p>
                      <a:pPr algn="ctr" fontAlgn="ctr"/>
                      <a:r>
                        <a:rPr lang="en-US" sz="1400" b="1" i="0" u="none" strike="noStrike" dirty="0">
                          <a:solidFill>
                            <a:srgbClr val="FFFFFF"/>
                          </a:solidFill>
                          <a:effectLst/>
                          <a:latin typeface="+mj-lt"/>
                        </a:rPr>
                        <a:t>Difference between</a:t>
                      </a:r>
                      <a:br>
                        <a:rPr lang="en-US" sz="1400" b="1" i="0" u="none" strike="noStrike" dirty="0">
                          <a:solidFill>
                            <a:srgbClr val="FFFFFF"/>
                          </a:solidFill>
                          <a:effectLst/>
                          <a:latin typeface="+mj-lt"/>
                        </a:rPr>
                      </a:br>
                      <a:r>
                        <a:rPr lang="en-US" sz="1400" b="1" i="0" u="none" strike="noStrike" dirty="0">
                          <a:solidFill>
                            <a:srgbClr val="FFFFFF"/>
                          </a:solidFill>
                          <a:effectLst/>
                          <a:latin typeface="+mj-lt"/>
                        </a:rPr>
                        <a:t>RE &amp; Non-RE Power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4F59"/>
                    </a:solidFill>
                  </a:tcPr>
                </a:tc>
                <a:tc>
                  <a:txBody>
                    <a:bodyPr/>
                    <a:lstStyle/>
                    <a:p>
                      <a:pPr algn="ctr" fontAlgn="ctr"/>
                      <a:r>
                        <a:rPr lang="en-US" sz="1400" b="1" i="0" u="none" strike="noStrike" dirty="0">
                          <a:solidFill>
                            <a:srgbClr val="FFFFFF"/>
                          </a:solidFill>
                          <a:effectLst/>
                          <a:latin typeface="+mj-lt"/>
                        </a:rPr>
                        <a:t>Approved Green</a:t>
                      </a:r>
                      <a:br>
                        <a:rPr lang="en-US" sz="1400" b="1" i="0" u="none" strike="noStrike" dirty="0">
                          <a:solidFill>
                            <a:srgbClr val="FFFFFF"/>
                          </a:solidFill>
                          <a:effectLst/>
                          <a:latin typeface="+mj-lt"/>
                        </a:rPr>
                      </a:br>
                      <a:r>
                        <a:rPr lang="en-US" sz="1400" b="1" i="0" u="none" strike="noStrike" dirty="0">
                          <a:solidFill>
                            <a:srgbClr val="FFFFFF"/>
                          </a:solidFill>
                          <a:effectLst/>
                          <a:latin typeface="+mj-lt"/>
                        </a:rPr>
                        <a:t>Energy Tariff</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4F59"/>
                    </a:solidFill>
                  </a:tcPr>
                </a:tc>
                <a:extLst>
                  <a:ext uri="{0D108BD9-81ED-4DB2-BD59-A6C34878D82A}">
                    <a16:rowId xmlns:a16="http://schemas.microsoft.com/office/drawing/2014/main" val="3044038976"/>
                  </a:ext>
                </a:extLst>
              </a:tr>
              <a:tr h="184150">
                <a:tc>
                  <a:txBody>
                    <a:bodyPr/>
                    <a:lstStyle/>
                    <a:p>
                      <a:pPr algn="ctr" fontAlgn="ctr"/>
                      <a:r>
                        <a:rPr lang="en-US" sz="1400" b="1" i="0" u="none" strike="noStrike">
                          <a:solidFill>
                            <a:srgbClr val="FFFFFF"/>
                          </a:solidFill>
                          <a:effectLst/>
                          <a:latin typeface="+mj-lt"/>
                        </a:rPr>
                        <a:t>MU</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400" b="1" i="0" u="none" strike="noStrike">
                          <a:solidFill>
                            <a:srgbClr val="FFFFFF"/>
                          </a:solidFill>
                          <a:effectLst/>
                          <a:latin typeface="+mj-lt"/>
                        </a:rPr>
                        <a:t>Rs. Cr.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400" b="1" i="0" u="none" strike="noStrike">
                          <a:solidFill>
                            <a:srgbClr val="FFFFFF"/>
                          </a:solidFill>
                          <a:effectLst/>
                          <a:latin typeface="+mj-lt"/>
                        </a:rPr>
                        <a:t>Rs./kWh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400" b="1" i="0" u="none" strike="noStrike">
                          <a:solidFill>
                            <a:srgbClr val="FFFFFF"/>
                          </a:solidFill>
                          <a:effectLst/>
                          <a:latin typeface="+mj-lt"/>
                        </a:rPr>
                        <a:t>MU</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400" b="1" i="0" u="none" strike="noStrike">
                          <a:solidFill>
                            <a:srgbClr val="FFFFFF"/>
                          </a:solidFill>
                          <a:effectLst/>
                          <a:latin typeface="+mj-lt"/>
                        </a:rPr>
                        <a:t>Rs. Cr.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400" b="1" i="0" u="none" strike="noStrike">
                          <a:solidFill>
                            <a:srgbClr val="FFFFFF"/>
                          </a:solidFill>
                          <a:effectLst/>
                          <a:latin typeface="+mj-lt"/>
                        </a:rPr>
                        <a:t>Rs./kWh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400" b="1" i="0" u="none" strike="noStrike">
                          <a:solidFill>
                            <a:srgbClr val="FFFFFF"/>
                          </a:solidFill>
                          <a:effectLst/>
                          <a:latin typeface="+mj-lt"/>
                        </a:rPr>
                        <a:t>Rs./unit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400" b="1" i="0" u="none" strike="noStrike">
                          <a:solidFill>
                            <a:srgbClr val="FFFFFF"/>
                          </a:solidFill>
                          <a:effectLst/>
                          <a:latin typeface="+mj-lt"/>
                        </a:rPr>
                        <a:t>Rs./unit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extLst>
                  <a:ext uri="{0D108BD9-81ED-4DB2-BD59-A6C34878D82A}">
                    <a16:rowId xmlns:a16="http://schemas.microsoft.com/office/drawing/2014/main" val="257817877"/>
                  </a:ext>
                </a:extLst>
              </a:tr>
              <a:tr h="184150">
                <a:tc>
                  <a:txBody>
                    <a:bodyPr/>
                    <a:lstStyle/>
                    <a:p>
                      <a:pPr algn="ctr" fontAlgn="ctr"/>
                      <a:r>
                        <a:rPr lang="en-US" sz="1400" b="1" i="0" u="none" strike="noStrike">
                          <a:solidFill>
                            <a:srgbClr val="FFFFFF"/>
                          </a:solidFill>
                          <a:effectLst/>
                          <a:latin typeface="+mj-lt"/>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400" b="1" i="0" u="none" strike="noStrike">
                          <a:solidFill>
                            <a:srgbClr val="FFFFFF"/>
                          </a:solidFill>
                          <a:effectLst/>
                          <a:latin typeface="+mj-lt"/>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400" b="1" i="0" u="none" strike="noStrike">
                          <a:solidFill>
                            <a:srgbClr val="FFFFFF"/>
                          </a:solidFill>
                          <a:effectLst/>
                          <a:latin typeface="+mj-lt"/>
                        </a:rPr>
                        <a:t>C</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400" b="1" i="0" u="none" strike="noStrike">
                          <a:solidFill>
                            <a:srgbClr val="FFFFFF"/>
                          </a:solidFill>
                          <a:effectLst/>
                          <a:latin typeface="+mj-lt"/>
                        </a:rPr>
                        <a:t>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400" b="1" i="0" u="none" strike="noStrike">
                          <a:solidFill>
                            <a:srgbClr val="FFFFFF"/>
                          </a:solidFill>
                          <a:effectLst/>
                          <a:latin typeface="+mj-lt"/>
                        </a:rPr>
                        <a:t>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400" b="1" i="0" u="none" strike="noStrike">
                          <a:solidFill>
                            <a:srgbClr val="FFFFFF"/>
                          </a:solidFill>
                          <a:effectLst/>
                          <a:latin typeface="+mj-lt"/>
                        </a:rPr>
                        <a:t>F</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400" b="1" i="0" u="none" strike="noStrike">
                          <a:solidFill>
                            <a:srgbClr val="FFFFFF"/>
                          </a:solidFill>
                          <a:effectLst/>
                          <a:latin typeface="+mj-lt"/>
                        </a:rPr>
                        <a:t>G = (C-F)</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en-US" sz="1400" b="1" i="0" u="none" strike="noStrike">
                          <a:solidFill>
                            <a:srgbClr val="FFFFFF"/>
                          </a:solidFill>
                          <a:effectLst/>
                          <a:latin typeface="+mj-lt"/>
                        </a:rPr>
                        <a:t>H = G*50%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95959"/>
                    </a:solidFill>
                  </a:tcPr>
                </a:tc>
                <a:extLst>
                  <a:ext uri="{0D108BD9-81ED-4DB2-BD59-A6C34878D82A}">
                    <a16:rowId xmlns:a16="http://schemas.microsoft.com/office/drawing/2014/main" val="190909598"/>
                  </a:ext>
                </a:extLst>
              </a:tr>
              <a:tr h="184150">
                <a:tc>
                  <a:txBody>
                    <a:bodyPr/>
                    <a:lstStyle/>
                    <a:p>
                      <a:pPr algn="ctr" fontAlgn="ctr"/>
                      <a:r>
                        <a:rPr lang="en-US" sz="1400" b="0" i="0" u="none" strike="noStrike">
                          <a:solidFill>
                            <a:srgbClr val="000000"/>
                          </a:solidFill>
                          <a:effectLst/>
                          <a:latin typeface="+mj-lt"/>
                        </a:rPr>
                        <a:t>14,625.42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mj-lt"/>
                        </a:rPr>
                        <a:t>6,051.10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mj-lt"/>
                        </a:rPr>
                        <a:t>4.14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mj-lt"/>
                        </a:rPr>
                        <a:t>71,070.76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mj-lt"/>
                        </a:rPr>
                        <a:t>13,328.04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mj-lt"/>
                        </a:rPr>
                        <a:t>1.88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mj-lt"/>
                        </a:rPr>
                        <a:t>2.26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mj-lt"/>
                        </a:rPr>
                        <a:t>1.13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1966723"/>
                  </a:ext>
                </a:extLst>
              </a:tr>
            </a:tbl>
          </a:graphicData>
        </a:graphic>
      </p:graphicFrame>
    </p:spTree>
    <p:extLst>
      <p:ext uri="{BB962C8B-B14F-4D97-AF65-F5344CB8AC3E}">
        <p14:creationId xmlns:p14="http://schemas.microsoft.com/office/powerpoint/2010/main" val="800594012"/>
      </p:ext>
    </p:extLst>
  </p:cSld>
  <p:clrMapOvr>
    <a:masterClrMapping/>
  </p:clrMapOvr>
  <p:transition>
    <p:fade/>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02F641-FAA0-4647-BB71-2A929E824A77}"/>
              </a:ext>
            </a:extLst>
          </p:cNvPr>
          <p:cNvSpPr>
            <a:spLocks noGrp="1"/>
          </p:cNvSpPr>
          <p:nvPr>
            <p:ph type="title"/>
          </p:nvPr>
        </p:nvSpPr>
        <p:spPr/>
        <p:txBody>
          <a:bodyPr/>
          <a:lstStyle/>
          <a:p>
            <a:pPr marL="0" marR="0">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Times New Roman" panose="02020603050405020304" pitchFamily="18" charset="0"/>
              </a:rPr>
              <a:t>Best Practices for Designing Green Tariff (1/4)</a:t>
            </a:r>
          </a:p>
        </p:txBody>
      </p:sp>
      <p:sp>
        <p:nvSpPr>
          <p:cNvPr id="4" name="Rectangle 3">
            <a:extLst>
              <a:ext uri="{FF2B5EF4-FFF2-40B4-BE49-F238E27FC236}">
                <a16:creationId xmlns:a16="http://schemas.microsoft.com/office/drawing/2014/main" id="{932C3CBB-0759-42B7-AF04-2171A2EB1952}"/>
              </a:ext>
            </a:extLst>
          </p:cNvPr>
          <p:cNvSpPr/>
          <p:nvPr/>
        </p:nvSpPr>
        <p:spPr bwMode="gray">
          <a:xfrm>
            <a:off x="609600" y="1153882"/>
            <a:ext cx="2547257" cy="4506689"/>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pPr>
            <a:r>
              <a:rPr lang="en-US" sz="1300" b="1" dirty="0">
                <a:solidFill>
                  <a:schemeClr val="bg1"/>
                </a:solidFill>
              </a:rPr>
              <a:t>A. Tariff Design, Planning, and Forecasting</a:t>
            </a:r>
          </a:p>
        </p:txBody>
      </p:sp>
      <p:sp>
        <p:nvSpPr>
          <p:cNvPr id="5" name="Rectangle 4">
            <a:extLst>
              <a:ext uri="{FF2B5EF4-FFF2-40B4-BE49-F238E27FC236}">
                <a16:creationId xmlns:a16="http://schemas.microsoft.com/office/drawing/2014/main" id="{03EEC73C-C26F-4E79-BFB1-694AC8F308BD}"/>
              </a:ext>
            </a:extLst>
          </p:cNvPr>
          <p:cNvSpPr/>
          <p:nvPr/>
        </p:nvSpPr>
        <p:spPr bwMode="gray">
          <a:xfrm>
            <a:off x="3657599" y="1153882"/>
            <a:ext cx="7924801" cy="4506689"/>
          </a:xfrm>
          <a:prstGeom prst="rect">
            <a:avLst/>
          </a:prstGeom>
          <a:ln>
            <a:solidFill>
              <a:schemeClr val="accent3"/>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lvl="0" indent="-171450" algn="just">
              <a:buFont typeface="Arial" panose="020B0604020202020204" pitchFamily="34" charset="0"/>
              <a:buChar char="•"/>
            </a:pPr>
            <a:r>
              <a:rPr lang="en-US" sz="1400" dirty="0"/>
              <a:t>Since green tariffs are based on long-term contracts, it is imperative that DISCOMs invest in improving their planning and forecasting mechanisms to efficiently assess demand and supply, and strive toward creating optimal infrastructure</a:t>
            </a:r>
          </a:p>
          <a:p>
            <a:pPr marL="171450" lvl="0" indent="-171450" algn="just">
              <a:buFont typeface="Arial" panose="020B0604020202020204" pitchFamily="34" charset="0"/>
              <a:buChar char="•"/>
            </a:pPr>
            <a:endParaRPr lang="en-US" sz="1400" dirty="0"/>
          </a:p>
          <a:p>
            <a:pPr marL="171450" lvl="0" indent="-171450" algn="just">
              <a:buFont typeface="Arial" panose="020B0604020202020204" pitchFamily="34" charset="0"/>
              <a:buChar char="•"/>
            </a:pPr>
            <a:r>
              <a:rPr lang="en-US" sz="1400" dirty="0"/>
              <a:t>While enabling large consumers to choose their energy suppliers for the long term, DISCOMs must be cautious to avoid adding additional base load capacity without first undertaking a rigorous demand-supply analysis</a:t>
            </a:r>
          </a:p>
          <a:p>
            <a:pPr marL="171450" lvl="0" indent="-171450" algn="just">
              <a:buFont typeface="Arial" panose="020B0604020202020204" pitchFamily="34" charset="0"/>
              <a:buChar char="•"/>
            </a:pPr>
            <a:endParaRPr lang="en-US" sz="1400" dirty="0"/>
          </a:p>
          <a:p>
            <a:pPr marL="171450" lvl="0" indent="-171450" algn="just">
              <a:buFont typeface="Arial" panose="020B0604020202020204" pitchFamily="34" charset="0"/>
              <a:buChar char="•"/>
            </a:pPr>
            <a:r>
              <a:rPr lang="en-US" sz="1400" dirty="0"/>
              <a:t>DISCOMs must assess the quantum and nature of demand from various consumer segments (for example, the specific demand for RE by C&amp;I consumers based on their sustainability targets)</a:t>
            </a:r>
          </a:p>
          <a:p>
            <a:pPr marL="171450" lvl="0" indent="-171450" algn="just">
              <a:buFont typeface="Arial" panose="020B0604020202020204" pitchFamily="34" charset="0"/>
              <a:buChar char="•"/>
            </a:pPr>
            <a:endParaRPr lang="en-US" sz="1400" dirty="0"/>
          </a:p>
          <a:p>
            <a:pPr marL="171450" lvl="0" indent="-171450" algn="just">
              <a:buFont typeface="Arial" panose="020B0604020202020204" pitchFamily="34" charset="0"/>
              <a:buChar char="•"/>
            </a:pPr>
            <a:r>
              <a:rPr lang="en-US" sz="1400" dirty="0"/>
              <a:t>On the other hand, DISCOMs must assess potential supply-side options (for example, the availability of third-party RE producers that are amenable to entering into long-term contracts with DISCOMs)</a:t>
            </a:r>
          </a:p>
          <a:p>
            <a:pPr marL="171450" lvl="0" indent="-171450" algn="just">
              <a:buFont typeface="Arial" panose="020B0604020202020204" pitchFamily="34" charset="0"/>
              <a:buChar char="•"/>
            </a:pPr>
            <a:endParaRPr lang="en-US" sz="1400" dirty="0"/>
          </a:p>
          <a:p>
            <a:pPr marL="171450" lvl="0" indent="-171450" algn="just">
              <a:buFont typeface="Arial" panose="020B0604020202020204" pitchFamily="34" charset="0"/>
              <a:buChar char="•"/>
            </a:pPr>
            <a:r>
              <a:rPr lang="en-US" sz="1400" dirty="0"/>
              <a:t>Instead of charging a fixed premium as part of the green tariffs, DISCOM(s) could link the pricing of green tariffs to the price of RE in the long-term PPAs executed</a:t>
            </a:r>
          </a:p>
        </p:txBody>
      </p:sp>
    </p:spTree>
    <p:extLst>
      <p:ext uri="{BB962C8B-B14F-4D97-AF65-F5344CB8AC3E}">
        <p14:creationId xmlns:p14="http://schemas.microsoft.com/office/powerpoint/2010/main" val="2600499308"/>
      </p:ext>
    </p:extLst>
  </p:cSld>
  <p:clrMapOvr>
    <a:masterClrMapping/>
  </p:clrMapOvr>
  <p:transition>
    <p:fade/>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02F641-FAA0-4647-BB71-2A929E824A77}"/>
              </a:ext>
            </a:extLst>
          </p:cNvPr>
          <p:cNvSpPr>
            <a:spLocks noGrp="1"/>
          </p:cNvSpPr>
          <p:nvPr>
            <p:ph type="title"/>
          </p:nvPr>
        </p:nvSpPr>
        <p:spPr/>
        <p:txBody>
          <a:bodyPr/>
          <a:lstStyle/>
          <a:p>
            <a:pPr marL="0" marR="0">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Times New Roman" panose="02020603050405020304" pitchFamily="18" charset="0"/>
              </a:rPr>
              <a:t>Best Practices for Designing Green Tariff (2/4)</a:t>
            </a:r>
          </a:p>
        </p:txBody>
      </p:sp>
      <p:sp>
        <p:nvSpPr>
          <p:cNvPr id="4" name="Rectangle 3">
            <a:extLst>
              <a:ext uri="{FF2B5EF4-FFF2-40B4-BE49-F238E27FC236}">
                <a16:creationId xmlns:a16="http://schemas.microsoft.com/office/drawing/2014/main" id="{932C3CBB-0759-42B7-AF04-2171A2EB1952}"/>
              </a:ext>
            </a:extLst>
          </p:cNvPr>
          <p:cNvSpPr/>
          <p:nvPr/>
        </p:nvSpPr>
        <p:spPr bwMode="gray">
          <a:xfrm>
            <a:off x="609600" y="1153882"/>
            <a:ext cx="2547257" cy="2841175"/>
          </a:xfrm>
          <a:prstGeom prst="rect">
            <a:avLst/>
          </a:prstGeom>
          <a:solidFill>
            <a:schemeClr val="tx1">
              <a:lumMod val="75000"/>
              <a:lumOff val="25000"/>
            </a:schemeClr>
          </a:solidFill>
          <a:ln w="19050" algn="ctr">
            <a:noFill/>
            <a:miter lim="800000"/>
            <a:headEnd/>
            <a:tailEnd/>
          </a:ln>
        </p:spPr>
        <p:txBody>
          <a:bodyPr wrap="square" lIns="88900" tIns="88900" rIns="88900" bIns="88900" rtlCol="0" anchor="ctr"/>
          <a:lstStyle/>
          <a:p>
            <a:pPr algn="ctr">
              <a:lnSpc>
                <a:spcPct val="106000"/>
              </a:lnSpc>
            </a:pPr>
            <a:r>
              <a:rPr lang="en-US" sz="1300" b="1" dirty="0">
                <a:solidFill>
                  <a:schemeClr val="bg1"/>
                </a:solidFill>
              </a:rPr>
              <a:t>B. Tailor-Made Solutions for Different Categories</a:t>
            </a:r>
          </a:p>
          <a:p>
            <a:pPr algn="ctr">
              <a:lnSpc>
                <a:spcPct val="106000"/>
              </a:lnSpc>
            </a:pPr>
            <a:r>
              <a:rPr lang="en-US" sz="1300" b="1" dirty="0">
                <a:solidFill>
                  <a:schemeClr val="bg1"/>
                </a:solidFill>
              </a:rPr>
              <a:t>within the C&amp;I Sector</a:t>
            </a:r>
          </a:p>
        </p:txBody>
      </p:sp>
      <p:sp>
        <p:nvSpPr>
          <p:cNvPr id="5" name="Rectangle 4">
            <a:extLst>
              <a:ext uri="{FF2B5EF4-FFF2-40B4-BE49-F238E27FC236}">
                <a16:creationId xmlns:a16="http://schemas.microsoft.com/office/drawing/2014/main" id="{03EEC73C-C26F-4E79-BFB1-694AC8F308BD}"/>
              </a:ext>
            </a:extLst>
          </p:cNvPr>
          <p:cNvSpPr/>
          <p:nvPr/>
        </p:nvSpPr>
        <p:spPr bwMode="gray">
          <a:xfrm>
            <a:off x="3657599" y="1153882"/>
            <a:ext cx="7924801" cy="2841175"/>
          </a:xfrm>
          <a:prstGeom prst="rect">
            <a:avLst/>
          </a:prstGeom>
          <a:ln>
            <a:solidFill>
              <a:schemeClr val="tx1">
                <a:lumMod val="85000"/>
                <a:lumOff val="15000"/>
              </a:schemeClr>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lvl="0" indent="-171450" algn="just">
              <a:buFont typeface="Arial" panose="020B0604020202020204" pitchFamily="34" charset="0"/>
              <a:buChar char="•"/>
            </a:pPr>
            <a:r>
              <a:rPr lang="en-US" sz="1400" dirty="0"/>
              <a:t>In order to increase corporate sourcing of RE, particularly among the small and medium enterprises (SMEs), there is a need to further develop procurement mechanisms</a:t>
            </a:r>
          </a:p>
          <a:p>
            <a:pPr marL="171450" lvl="0" indent="-171450" algn="just">
              <a:buFont typeface="Arial" panose="020B0604020202020204" pitchFamily="34" charset="0"/>
              <a:buChar char="•"/>
            </a:pPr>
            <a:endParaRPr lang="en-US" sz="1400" dirty="0"/>
          </a:p>
          <a:p>
            <a:pPr marL="171450" lvl="0" indent="-171450" algn="just">
              <a:buFont typeface="Arial" panose="020B0604020202020204" pitchFamily="34" charset="0"/>
              <a:buChar char="•"/>
            </a:pPr>
            <a:r>
              <a:rPr lang="en-US" sz="1400" dirty="0"/>
              <a:t>The identification and study of the specific needs of different sectors may help utilities offer attractive customized green tariffs to different corporate consumers.</a:t>
            </a:r>
          </a:p>
          <a:p>
            <a:pPr marL="171450" lvl="0" indent="-171450" algn="just">
              <a:buFont typeface="Arial" panose="020B0604020202020204" pitchFamily="34" charset="0"/>
              <a:buChar char="•"/>
            </a:pPr>
            <a:endParaRPr lang="en-US" sz="1400" dirty="0"/>
          </a:p>
          <a:p>
            <a:pPr marL="171450" lvl="0" indent="-171450" algn="just">
              <a:buFont typeface="Arial" panose="020B0604020202020204" pitchFamily="34" charset="0"/>
              <a:buChar char="•"/>
            </a:pPr>
            <a:r>
              <a:rPr lang="en-US" sz="1400" dirty="0"/>
              <a:t>However, excessive customization options may be </a:t>
            </a:r>
            <a:r>
              <a:rPr lang="en-US" sz="1400" dirty="0" err="1"/>
              <a:t>deterrernt</a:t>
            </a:r>
            <a:r>
              <a:rPr lang="en-US" sz="1400" dirty="0"/>
              <a:t> to achieving economies of scale and hence, a balance must be ensured (Scope for further research study)</a:t>
            </a:r>
          </a:p>
        </p:txBody>
      </p:sp>
      <p:sp>
        <p:nvSpPr>
          <p:cNvPr id="6" name="Rectangle 5">
            <a:extLst>
              <a:ext uri="{FF2B5EF4-FFF2-40B4-BE49-F238E27FC236}">
                <a16:creationId xmlns:a16="http://schemas.microsoft.com/office/drawing/2014/main" id="{F9F8CD4B-642D-429D-9743-0BF63FCF475A}"/>
              </a:ext>
            </a:extLst>
          </p:cNvPr>
          <p:cNvSpPr/>
          <p:nvPr/>
        </p:nvSpPr>
        <p:spPr bwMode="gray">
          <a:xfrm>
            <a:off x="609600" y="4190998"/>
            <a:ext cx="2547257" cy="2111832"/>
          </a:xfrm>
          <a:prstGeom prst="rect">
            <a:avLst/>
          </a:prstGeom>
          <a:solidFill>
            <a:srgbClr val="007680"/>
          </a:solidFill>
          <a:ln w="19050" algn="ctr">
            <a:noFill/>
            <a:miter lim="800000"/>
            <a:headEnd/>
            <a:tailEnd/>
          </a:ln>
        </p:spPr>
        <p:txBody>
          <a:bodyPr wrap="square" lIns="88900" tIns="88900" rIns="88900" bIns="88900" rtlCol="0" anchor="ctr"/>
          <a:lstStyle/>
          <a:p>
            <a:pPr algn="ctr">
              <a:lnSpc>
                <a:spcPct val="106000"/>
              </a:lnSpc>
            </a:pPr>
            <a:r>
              <a:rPr lang="en-US" sz="1300" b="1" dirty="0">
                <a:solidFill>
                  <a:schemeClr val="bg1"/>
                </a:solidFill>
              </a:rPr>
              <a:t>C. Fairness Toward Non-subsidizing Consumer</a:t>
            </a:r>
          </a:p>
          <a:p>
            <a:pPr algn="ctr">
              <a:lnSpc>
                <a:spcPct val="106000"/>
              </a:lnSpc>
            </a:pPr>
            <a:r>
              <a:rPr lang="en-US" sz="1300" b="1" dirty="0">
                <a:solidFill>
                  <a:schemeClr val="bg1"/>
                </a:solidFill>
              </a:rPr>
              <a:t>Categories</a:t>
            </a:r>
          </a:p>
        </p:txBody>
      </p:sp>
      <p:sp>
        <p:nvSpPr>
          <p:cNvPr id="7" name="Rectangle 6">
            <a:extLst>
              <a:ext uri="{FF2B5EF4-FFF2-40B4-BE49-F238E27FC236}">
                <a16:creationId xmlns:a16="http://schemas.microsoft.com/office/drawing/2014/main" id="{970C2087-7AB1-4204-8DBA-FE01818C0140}"/>
              </a:ext>
            </a:extLst>
          </p:cNvPr>
          <p:cNvSpPr/>
          <p:nvPr/>
        </p:nvSpPr>
        <p:spPr bwMode="gray">
          <a:xfrm>
            <a:off x="3657599" y="4190998"/>
            <a:ext cx="7924801" cy="2111832"/>
          </a:xfrm>
          <a:prstGeom prst="rect">
            <a:avLst/>
          </a:prstGeom>
          <a:ln>
            <a:solidFill>
              <a:srgbClr val="007680"/>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lvl="0" indent="-171450" algn="just">
              <a:buFont typeface="Arial" panose="020B0604020202020204" pitchFamily="34" charset="0"/>
              <a:buChar char="•"/>
            </a:pPr>
            <a:r>
              <a:rPr lang="en-US" sz="1400" dirty="0"/>
              <a:t>The successful formulation of green tariffs by utilities entails working closely with regulators and consumers to ensure that the tariff adds value to certain consumers without unfairly shifting the cost of the tariff to other consumer groups</a:t>
            </a:r>
          </a:p>
          <a:p>
            <a:pPr marL="171450" lvl="0" indent="-171450" algn="just">
              <a:buFont typeface="Arial" panose="020B0604020202020204" pitchFamily="34" charset="0"/>
              <a:buChar char="•"/>
            </a:pPr>
            <a:endParaRPr lang="en-US" sz="1400" dirty="0"/>
          </a:p>
          <a:p>
            <a:pPr marL="171450" lvl="0" indent="-171450" algn="just">
              <a:buFont typeface="Arial" panose="020B0604020202020204" pitchFamily="34" charset="0"/>
              <a:buChar char="•"/>
            </a:pPr>
            <a:r>
              <a:rPr lang="en-US" sz="1400" dirty="0"/>
              <a:t>Comprehensive discussions about the various cost components of green tariffs at forecasting stage can further the goal of transparency and prevent the inequitable passing on of these costs to other groups at an ex post stage (i.e. based on actual results rather than forecast data)</a:t>
            </a:r>
          </a:p>
        </p:txBody>
      </p:sp>
    </p:spTree>
    <p:extLst>
      <p:ext uri="{BB962C8B-B14F-4D97-AF65-F5344CB8AC3E}">
        <p14:creationId xmlns:p14="http://schemas.microsoft.com/office/powerpoint/2010/main" val="2061430146"/>
      </p:ext>
    </p:extLst>
  </p:cSld>
  <p:clrMapOvr>
    <a:masterClrMapping/>
  </p:clrMapOvr>
  <p:transition>
    <p:fade/>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02F641-FAA0-4647-BB71-2A929E824A77}"/>
              </a:ext>
            </a:extLst>
          </p:cNvPr>
          <p:cNvSpPr>
            <a:spLocks noGrp="1"/>
          </p:cNvSpPr>
          <p:nvPr>
            <p:ph type="title"/>
          </p:nvPr>
        </p:nvSpPr>
        <p:spPr/>
        <p:txBody>
          <a:bodyPr/>
          <a:lstStyle/>
          <a:p>
            <a:pPr marL="0" marR="0">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Times New Roman" panose="02020603050405020304" pitchFamily="18" charset="0"/>
              </a:rPr>
              <a:t>Best Practices for Designing Green Tariff (3/4)</a:t>
            </a:r>
          </a:p>
        </p:txBody>
      </p:sp>
      <p:sp>
        <p:nvSpPr>
          <p:cNvPr id="4" name="Rectangle 3">
            <a:extLst>
              <a:ext uri="{FF2B5EF4-FFF2-40B4-BE49-F238E27FC236}">
                <a16:creationId xmlns:a16="http://schemas.microsoft.com/office/drawing/2014/main" id="{932C3CBB-0759-42B7-AF04-2171A2EB1952}"/>
              </a:ext>
            </a:extLst>
          </p:cNvPr>
          <p:cNvSpPr/>
          <p:nvPr/>
        </p:nvSpPr>
        <p:spPr bwMode="gray">
          <a:xfrm>
            <a:off x="609600" y="1153882"/>
            <a:ext cx="2547257" cy="2841175"/>
          </a:xfrm>
          <a:prstGeom prst="rect">
            <a:avLst/>
          </a:prstGeom>
          <a:solidFill>
            <a:srgbClr val="62B5E5"/>
          </a:solidFill>
          <a:ln w="19050" algn="ctr">
            <a:noFill/>
            <a:miter lim="800000"/>
            <a:headEnd/>
            <a:tailEnd/>
          </a:ln>
        </p:spPr>
        <p:txBody>
          <a:bodyPr wrap="square" lIns="88900" tIns="88900" rIns="88900" bIns="88900" rtlCol="0" anchor="ctr"/>
          <a:lstStyle/>
          <a:p>
            <a:pPr algn="ctr">
              <a:lnSpc>
                <a:spcPct val="106000"/>
              </a:lnSpc>
            </a:pPr>
            <a:r>
              <a:rPr lang="en-US" sz="1300" b="1" dirty="0">
                <a:solidFill>
                  <a:schemeClr val="bg1"/>
                </a:solidFill>
              </a:rPr>
              <a:t>D. Ensuring an Inclusive, Transparent</a:t>
            </a:r>
          </a:p>
          <a:p>
            <a:pPr algn="ctr">
              <a:lnSpc>
                <a:spcPct val="106000"/>
              </a:lnSpc>
            </a:pPr>
            <a:r>
              <a:rPr lang="en-US" sz="1300" b="1" dirty="0">
                <a:solidFill>
                  <a:schemeClr val="bg1"/>
                </a:solidFill>
              </a:rPr>
              <a:t>Consultative Process</a:t>
            </a:r>
          </a:p>
        </p:txBody>
      </p:sp>
      <p:sp>
        <p:nvSpPr>
          <p:cNvPr id="5" name="Rectangle 4">
            <a:extLst>
              <a:ext uri="{FF2B5EF4-FFF2-40B4-BE49-F238E27FC236}">
                <a16:creationId xmlns:a16="http://schemas.microsoft.com/office/drawing/2014/main" id="{03EEC73C-C26F-4E79-BFB1-694AC8F308BD}"/>
              </a:ext>
            </a:extLst>
          </p:cNvPr>
          <p:cNvSpPr/>
          <p:nvPr/>
        </p:nvSpPr>
        <p:spPr bwMode="gray">
          <a:xfrm>
            <a:off x="3657599" y="1153882"/>
            <a:ext cx="7924801" cy="2841175"/>
          </a:xfrm>
          <a:prstGeom prst="rect">
            <a:avLst/>
          </a:prstGeom>
          <a:ln>
            <a:solidFill>
              <a:schemeClr val="accent6">
                <a:lumMod val="60000"/>
                <a:lumOff val="40000"/>
              </a:schemeClr>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lvl="0" indent="-171450" algn="just">
              <a:buFont typeface="Arial" panose="020B0604020202020204" pitchFamily="34" charset="0"/>
              <a:buChar char="•"/>
            </a:pPr>
            <a:r>
              <a:rPr lang="en-US" sz="1400" dirty="0"/>
              <a:t>Collaborative exchanges between corporate consumers and utilities can help utilities with integrative resource planning, and help corporates achieve their decarbonization goals more quickly</a:t>
            </a:r>
          </a:p>
          <a:p>
            <a:pPr marL="171450" lvl="0" indent="-171450" algn="just">
              <a:buFont typeface="Arial" panose="020B0604020202020204" pitchFamily="34" charset="0"/>
              <a:buChar char="•"/>
            </a:pPr>
            <a:endParaRPr lang="en-US" sz="1400" dirty="0"/>
          </a:p>
          <a:p>
            <a:pPr marL="171450" lvl="0" indent="-171450" algn="just">
              <a:buFont typeface="Arial" panose="020B0604020202020204" pitchFamily="34" charset="0"/>
              <a:buChar char="•"/>
            </a:pPr>
            <a:r>
              <a:rPr lang="en-US" sz="1400" dirty="0"/>
              <a:t>So far, in the Indian context, exchanges like Green Power Market Development Group (GPMDG), Distribution Utilities Forum (DUF), and so on, have focused on enabling OA. </a:t>
            </a:r>
            <a:r>
              <a:rPr lang="en-US" sz="1400" b="1" dirty="0"/>
              <a:t>A similar structure can be adopted for consultative processes to design green tariffs.</a:t>
            </a:r>
          </a:p>
        </p:txBody>
      </p:sp>
      <p:sp>
        <p:nvSpPr>
          <p:cNvPr id="6" name="Rectangle 5">
            <a:extLst>
              <a:ext uri="{FF2B5EF4-FFF2-40B4-BE49-F238E27FC236}">
                <a16:creationId xmlns:a16="http://schemas.microsoft.com/office/drawing/2014/main" id="{F9F8CD4B-642D-429D-9743-0BF63FCF475A}"/>
              </a:ext>
            </a:extLst>
          </p:cNvPr>
          <p:cNvSpPr/>
          <p:nvPr/>
        </p:nvSpPr>
        <p:spPr bwMode="gray">
          <a:xfrm>
            <a:off x="609600" y="4190998"/>
            <a:ext cx="2547257" cy="2111832"/>
          </a:xfrm>
          <a:prstGeom prst="rect">
            <a:avLst/>
          </a:prstGeom>
          <a:solidFill>
            <a:srgbClr val="86BC25"/>
          </a:solidFill>
          <a:ln w="19050" algn="ctr">
            <a:noFill/>
            <a:miter lim="800000"/>
            <a:headEnd/>
            <a:tailEnd/>
          </a:ln>
        </p:spPr>
        <p:txBody>
          <a:bodyPr wrap="square" lIns="88900" tIns="88900" rIns="88900" bIns="88900" rtlCol="0" anchor="ctr"/>
          <a:lstStyle/>
          <a:p>
            <a:pPr algn="ctr">
              <a:lnSpc>
                <a:spcPct val="106000"/>
              </a:lnSpc>
            </a:pPr>
            <a:r>
              <a:rPr lang="en-US" sz="1300" b="1" dirty="0">
                <a:solidFill>
                  <a:schemeClr val="bg1"/>
                </a:solidFill>
              </a:rPr>
              <a:t>E. Transparency and Verifiability</a:t>
            </a:r>
          </a:p>
        </p:txBody>
      </p:sp>
      <p:sp>
        <p:nvSpPr>
          <p:cNvPr id="7" name="Rectangle 6">
            <a:extLst>
              <a:ext uri="{FF2B5EF4-FFF2-40B4-BE49-F238E27FC236}">
                <a16:creationId xmlns:a16="http://schemas.microsoft.com/office/drawing/2014/main" id="{970C2087-7AB1-4204-8DBA-FE01818C0140}"/>
              </a:ext>
            </a:extLst>
          </p:cNvPr>
          <p:cNvSpPr/>
          <p:nvPr/>
        </p:nvSpPr>
        <p:spPr bwMode="gray">
          <a:xfrm>
            <a:off x="3657599" y="4190998"/>
            <a:ext cx="7924801" cy="2111832"/>
          </a:xfrm>
          <a:prstGeom prst="rect">
            <a:avLst/>
          </a:prstGeom>
          <a:ln>
            <a:solidFill>
              <a:srgbClr val="86BC25"/>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lvl="0" indent="-171450" algn="just">
              <a:buFont typeface="Arial" panose="020B0604020202020204" pitchFamily="34" charset="0"/>
              <a:buChar char="•"/>
            </a:pPr>
            <a:r>
              <a:rPr lang="en-US" sz="1400" dirty="0"/>
              <a:t>Transparent and predictable energy prices through the duration of the green tariffs contract are one of the most valued features of successful green tariff contracts</a:t>
            </a:r>
          </a:p>
          <a:p>
            <a:pPr marL="171450" lvl="0" indent="-171450" algn="just">
              <a:buFont typeface="Arial" panose="020B0604020202020204" pitchFamily="34" charset="0"/>
              <a:buChar char="•"/>
            </a:pPr>
            <a:endParaRPr lang="en-US" sz="1400" dirty="0"/>
          </a:p>
          <a:p>
            <a:pPr marL="171450" lvl="0" indent="-171450" algn="just">
              <a:buFont typeface="Arial" panose="020B0604020202020204" pitchFamily="34" charset="0"/>
              <a:buChar char="•"/>
            </a:pPr>
            <a:r>
              <a:rPr lang="en-US" sz="1400" dirty="0"/>
              <a:t>As part of this process, utilities must start publishing integrated resource plans (IRPs), which would describe their long-term RE sourcing plans, energy efficiency plans‚ and conventional plant retirements</a:t>
            </a:r>
          </a:p>
        </p:txBody>
      </p:sp>
    </p:spTree>
    <p:extLst>
      <p:ext uri="{BB962C8B-B14F-4D97-AF65-F5344CB8AC3E}">
        <p14:creationId xmlns:p14="http://schemas.microsoft.com/office/powerpoint/2010/main" val="1400300628"/>
      </p:ext>
    </p:extLst>
  </p:cSld>
  <p:clrMapOvr>
    <a:masterClrMapping/>
  </p:clrMapOvr>
  <p:transition>
    <p:fade/>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02F641-FAA0-4647-BB71-2A929E824A77}"/>
              </a:ext>
            </a:extLst>
          </p:cNvPr>
          <p:cNvSpPr>
            <a:spLocks noGrp="1"/>
          </p:cNvSpPr>
          <p:nvPr>
            <p:ph type="title"/>
          </p:nvPr>
        </p:nvSpPr>
        <p:spPr/>
        <p:txBody>
          <a:bodyPr/>
          <a:lstStyle/>
          <a:p>
            <a:pPr marL="0" marR="0">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Times New Roman" panose="02020603050405020304" pitchFamily="18" charset="0"/>
              </a:rPr>
              <a:t>Best Practices for Designing Green Tariff (4/4)</a:t>
            </a:r>
          </a:p>
        </p:txBody>
      </p:sp>
      <p:sp>
        <p:nvSpPr>
          <p:cNvPr id="6" name="Rectangle 5">
            <a:extLst>
              <a:ext uri="{FF2B5EF4-FFF2-40B4-BE49-F238E27FC236}">
                <a16:creationId xmlns:a16="http://schemas.microsoft.com/office/drawing/2014/main" id="{F9F8CD4B-642D-429D-9743-0BF63FCF475A}"/>
              </a:ext>
            </a:extLst>
          </p:cNvPr>
          <p:cNvSpPr/>
          <p:nvPr/>
        </p:nvSpPr>
        <p:spPr bwMode="gray">
          <a:xfrm>
            <a:off x="469902" y="1208311"/>
            <a:ext cx="2547257" cy="2960917"/>
          </a:xfrm>
          <a:prstGeom prst="rect">
            <a:avLst/>
          </a:prstGeom>
          <a:solidFill>
            <a:srgbClr val="86BC25"/>
          </a:solidFill>
          <a:ln w="19050" algn="ctr">
            <a:noFill/>
            <a:miter lim="800000"/>
            <a:headEnd/>
            <a:tailEnd/>
          </a:ln>
        </p:spPr>
        <p:txBody>
          <a:bodyPr wrap="square" lIns="88900" tIns="88900" rIns="88900" bIns="88900" rtlCol="0" anchor="ctr"/>
          <a:lstStyle/>
          <a:p>
            <a:pPr algn="ctr">
              <a:lnSpc>
                <a:spcPct val="106000"/>
              </a:lnSpc>
            </a:pPr>
            <a:r>
              <a:rPr lang="en-US" sz="1300" b="1" dirty="0">
                <a:solidFill>
                  <a:schemeClr val="bg1"/>
                </a:solidFill>
              </a:rPr>
              <a:t>E. Transparency and Verifiability (Contd..)</a:t>
            </a:r>
          </a:p>
        </p:txBody>
      </p:sp>
      <p:sp>
        <p:nvSpPr>
          <p:cNvPr id="7" name="Rectangle 6">
            <a:extLst>
              <a:ext uri="{FF2B5EF4-FFF2-40B4-BE49-F238E27FC236}">
                <a16:creationId xmlns:a16="http://schemas.microsoft.com/office/drawing/2014/main" id="{970C2087-7AB1-4204-8DBA-FE01818C0140}"/>
              </a:ext>
            </a:extLst>
          </p:cNvPr>
          <p:cNvSpPr/>
          <p:nvPr/>
        </p:nvSpPr>
        <p:spPr bwMode="gray">
          <a:xfrm>
            <a:off x="3516085" y="1208311"/>
            <a:ext cx="7924801" cy="2960918"/>
          </a:xfrm>
          <a:prstGeom prst="rect">
            <a:avLst/>
          </a:prstGeom>
          <a:ln>
            <a:solidFill>
              <a:srgbClr val="86BC25"/>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lvl="0" indent="-171450" algn="just">
              <a:buFont typeface="Arial" panose="020B0604020202020204" pitchFamily="34" charset="0"/>
              <a:buChar char="•"/>
            </a:pPr>
            <a:r>
              <a:rPr lang="en-US" sz="1400" dirty="0"/>
              <a:t>Therefore, with increasing RE purchases, an important best practice is the development of infrastructure that facilitates the verification and tracking of RE purchases, and provides strong contractual arrangements that enable corporates to have confidence in their procurement</a:t>
            </a:r>
          </a:p>
          <a:p>
            <a:pPr marL="171450" lvl="0" indent="-171450" algn="just">
              <a:buFont typeface="Arial" panose="020B0604020202020204" pitchFamily="34" charset="0"/>
              <a:buChar char="•"/>
            </a:pPr>
            <a:endParaRPr lang="en-US" sz="1400" dirty="0"/>
          </a:p>
          <a:p>
            <a:pPr marL="171450" lvl="0" indent="-171450" algn="just">
              <a:buFont typeface="Arial" panose="020B0604020202020204" pitchFamily="34" charset="0"/>
              <a:buChar char="•"/>
            </a:pPr>
            <a:r>
              <a:rPr lang="en-US" sz="1400" dirty="0"/>
              <a:t>One of the preferred modes for tracking and verifying RE purchases is Renewable Energy Certificates (RECs), which can be sold separately or together with the underlying electricity to the corporates. </a:t>
            </a:r>
          </a:p>
          <a:p>
            <a:pPr marL="171450" lvl="0" indent="-171450" algn="just">
              <a:buFont typeface="Arial" panose="020B0604020202020204" pitchFamily="34" charset="0"/>
              <a:buChar char="•"/>
            </a:pPr>
            <a:endParaRPr lang="en-US" sz="1400" dirty="0"/>
          </a:p>
          <a:p>
            <a:pPr marL="171450" lvl="0" indent="-171450" algn="just">
              <a:buFont typeface="Arial" panose="020B0604020202020204" pitchFamily="34" charset="0"/>
              <a:buChar char="•"/>
            </a:pPr>
            <a:r>
              <a:rPr lang="en-US" sz="1400" dirty="0"/>
              <a:t>These certificates help corporates ensure that the RE is not double-counted by different end users, and allow them to corroborate their claims about their RE purchases</a:t>
            </a:r>
          </a:p>
        </p:txBody>
      </p:sp>
    </p:spTree>
    <p:extLst>
      <p:ext uri="{BB962C8B-B14F-4D97-AF65-F5344CB8AC3E}">
        <p14:creationId xmlns:p14="http://schemas.microsoft.com/office/powerpoint/2010/main" val="1868237359"/>
      </p:ext>
    </p:extLst>
  </p:cSld>
  <p:clrMapOvr>
    <a:masterClrMapping/>
  </p:clrMapOvr>
  <p:transition>
    <p:fade/>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3306"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4" y="1693206"/>
            <a:ext cx="10543125" cy="307777"/>
          </a:xfrm>
        </p:spPr>
        <p:txBody>
          <a:bodyPr wrap="square" anchor="ctr" anchorCtr="0">
            <a:spAutoFit/>
          </a:bodyPr>
          <a:lstStyle/>
          <a:p>
            <a:r>
              <a:rPr lang="en-US" sz="2000" i="0" dirty="0">
                <a:solidFill>
                  <a:schemeClr val="tx1"/>
                </a:solidFill>
              </a:rPr>
              <a:t>Implementation of Cloud based Advanced Metering Infrastructure (AMI)</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367990" y="1523711"/>
            <a:ext cx="717291" cy="646768"/>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b="1" i="0" u="none" strike="noStrike" kern="0" cap="none" spc="0" normalizeH="0" baseline="0" noProof="0" dirty="0">
                <a:ln>
                  <a:noFill/>
                </a:ln>
                <a:solidFill>
                  <a:prstClr val="white"/>
                </a:solidFill>
                <a:effectLst/>
                <a:uLnTx/>
                <a:uFillTx/>
              </a:rPr>
              <a:t>8C</a:t>
            </a:r>
            <a:endParaRPr kumimoji="0" lang="en-IN"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80474115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252922"/>
            <a:ext cx="11188700" cy="368299"/>
          </a:xfrm>
        </p:spPr>
        <p:txBody>
          <a:bodyPr vert="horz"/>
          <a:lstStyle/>
          <a:p>
            <a:pPr algn="just"/>
            <a:r>
              <a:rPr lang="en-US" sz="1800" i="0" dirty="0">
                <a:solidFill>
                  <a:schemeClr val="tx1"/>
                </a:solidFill>
                <a:latin typeface="+mj-lt"/>
              </a:rPr>
              <a:t>Introduction</a:t>
            </a:r>
          </a:p>
        </p:txBody>
      </p:sp>
      <p:sp>
        <p:nvSpPr>
          <p:cNvPr id="4" name="Rectangle 3">
            <a:extLst>
              <a:ext uri="{FF2B5EF4-FFF2-40B4-BE49-F238E27FC236}">
                <a16:creationId xmlns:a16="http://schemas.microsoft.com/office/drawing/2014/main" id="{D5FDA17B-EAB6-4F5C-BEE7-9DF2F1FA71D6}"/>
              </a:ext>
            </a:extLst>
          </p:cNvPr>
          <p:cNvSpPr/>
          <p:nvPr/>
        </p:nvSpPr>
        <p:spPr bwMode="gray">
          <a:xfrm>
            <a:off x="488936" y="957945"/>
            <a:ext cx="11188700" cy="3897084"/>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285750" indent="-285750">
              <a:lnSpc>
                <a:spcPct val="106000"/>
              </a:lnSpc>
              <a:buFont typeface="Wingdings" panose="05000000000000000000" pitchFamily="2" charset="2"/>
              <a:buChar char="q"/>
            </a:pPr>
            <a:r>
              <a:rPr lang="en-US" sz="1400" b="1" dirty="0">
                <a:effectLst/>
                <a:ea typeface="Calibri Light" panose="020F0302020204030204" pitchFamily="34" charset="0"/>
                <a:cs typeface="Times New Roman" panose="02020603050405020304" pitchFamily="18" charset="0"/>
              </a:rPr>
              <a:t>WBSEDCL caters to</a:t>
            </a:r>
            <a:r>
              <a:rPr lang="en-US" sz="1400" dirty="0">
                <a:effectLst/>
                <a:ea typeface="Calibri Light" panose="020F0302020204030204" pitchFamily="34" charset="0"/>
                <a:cs typeface="Times New Roman" panose="02020603050405020304" pitchFamily="18" charset="0"/>
              </a:rPr>
              <a:t> the electricity needs of </a:t>
            </a:r>
            <a:r>
              <a:rPr lang="en-US" sz="1400" b="1" dirty="0">
                <a:effectLst/>
                <a:ea typeface="Calibri Light" panose="020F0302020204030204" pitchFamily="34" charset="0"/>
                <a:cs typeface="Times New Roman" panose="02020603050405020304" pitchFamily="18" charset="0"/>
              </a:rPr>
              <a:t>more than 2.07 crore consumers across 21 Districts</a:t>
            </a:r>
            <a:r>
              <a:rPr lang="en-US" sz="1400" dirty="0">
                <a:effectLst/>
                <a:ea typeface="Calibri Light" panose="020F0302020204030204" pitchFamily="34" charset="0"/>
                <a:cs typeface="Times New Roman" panose="02020603050405020304" pitchFamily="18" charset="0"/>
              </a:rPr>
              <a:t>.</a:t>
            </a:r>
          </a:p>
          <a:p>
            <a:pPr marL="285750" indent="-285750">
              <a:lnSpc>
                <a:spcPct val="106000"/>
              </a:lnSpc>
              <a:buFont typeface="Wingdings" panose="05000000000000000000" pitchFamily="2" charset="2"/>
              <a:buChar char="q"/>
            </a:pPr>
            <a:endParaRPr lang="en-US" sz="1400" dirty="0">
              <a:effectLst/>
              <a:ea typeface="Calibri Light" panose="020F0302020204030204" pitchFamily="34" charset="0"/>
              <a:cs typeface="Times New Roman" panose="02020603050405020304" pitchFamily="18" charset="0"/>
            </a:endParaRPr>
          </a:p>
          <a:p>
            <a:pPr marL="285750" indent="-285750">
              <a:lnSpc>
                <a:spcPct val="106000"/>
              </a:lnSpc>
              <a:buFont typeface="Wingdings" panose="05000000000000000000" pitchFamily="2" charset="2"/>
              <a:buChar char="q"/>
            </a:pPr>
            <a:r>
              <a:rPr lang="en-US" sz="1400" b="1" dirty="0">
                <a:effectLst/>
                <a:ea typeface="Calibri Light" panose="020F0302020204030204" pitchFamily="34" charset="0"/>
                <a:cs typeface="Times New Roman" panose="02020603050405020304" pitchFamily="18" charset="0"/>
              </a:rPr>
              <a:t>To match the infrastructure needed to meet increasing load growth, WBSEDCL has been heavily investing in power distribution infrastructure</a:t>
            </a:r>
            <a:r>
              <a:rPr lang="en-US" sz="1400" dirty="0">
                <a:effectLst/>
                <a:ea typeface="Calibri Light" panose="020F0302020204030204" pitchFamily="34" charset="0"/>
                <a:cs typeface="Times New Roman" panose="02020603050405020304" pitchFamily="18" charset="0"/>
              </a:rPr>
              <a:t> through own fund as well as funding received from various central government schemes as well as from multilateral funding agencies</a:t>
            </a:r>
          </a:p>
          <a:p>
            <a:pPr marL="285750" indent="-285750">
              <a:lnSpc>
                <a:spcPct val="106000"/>
              </a:lnSpc>
              <a:buFont typeface="Wingdings" panose="05000000000000000000" pitchFamily="2" charset="2"/>
              <a:buChar char="q"/>
            </a:pPr>
            <a:endParaRPr lang="en-US" sz="1400" dirty="0">
              <a:ea typeface="Calibri Light" panose="020F0302020204030204" pitchFamily="34" charset="0"/>
              <a:cs typeface="Times New Roman" panose="02020603050405020304" pitchFamily="18" charset="0"/>
            </a:endParaRPr>
          </a:p>
          <a:p>
            <a:pPr marL="285750" indent="-285750">
              <a:lnSpc>
                <a:spcPct val="106000"/>
              </a:lnSpc>
              <a:buFont typeface="Wingdings" panose="05000000000000000000" pitchFamily="2" charset="2"/>
              <a:buChar char="q"/>
            </a:pPr>
            <a:r>
              <a:rPr lang="en-US" sz="1400" b="1" dirty="0">
                <a:effectLst/>
                <a:ea typeface="Calibri Light" panose="020F0302020204030204" pitchFamily="34" charset="0"/>
                <a:cs typeface="Times New Roman" panose="02020603050405020304" pitchFamily="18" charset="0"/>
              </a:rPr>
              <a:t>One of the key investment areas for WBSEDCL is implementation of Cloud based Advanced Metering Infrastructure (AMI). </a:t>
            </a:r>
          </a:p>
          <a:p>
            <a:pPr marL="285750" indent="-285750">
              <a:lnSpc>
                <a:spcPct val="106000"/>
              </a:lnSpc>
              <a:buFont typeface="Wingdings" panose="05000000000000000000" pitchFamily="2" charset="2"/>
              <a:buChar char="q"/>
            </a:pPr>
            <a:endParaRPr lang="en-US" sz="1400" dirty="0">
              <a:effectLst/>
              <a:ea typeface="Calibri Light" panose="020F0302020204030204" pitchFamily="34" charset="0"/>
              <a:cs typeface="Times New Roman" panose="02020603050405020304" pitchFamily="18" charset="0"/>
            </a:endParaRPr>
          </a:p>
          <a:p>
            <a:pPr marL="285750" indent="-285750">
              <a:lnSpc>
                <a:spcPct val="106000"/>
              </a:lnSpc>
              <a:buFont typeface="Wingdings" panose="05000000000000000000" pitchFamily="2" charset="2"/>
              <a:buChar char="q"/>
            </a:pPr>
            <a:r>
              <a:rPr lang="en-US" sz="1400" dirty="0">
                <a:effectLst/>
                <a:ea typeface="Calibri Light" panose="020F0302020204030204" pitchFamily="34" charset="0"/>
                <a:cs typeface="Times New Roman" panose="02020603050405020304" pitchFamily="18" charset="0"/>
              </a:rPr>
              <a:t>Currently, WBSEDCL </a:t>
            </a:r>
            <a:r>
              <a:rPr lang="en-US" sz="1400" dirty="0">
                <a:ea typeface="Calibri Light" panose="020F0302020204030204" pitchFamily="34" charset="0"/>
                <a:cs typeface="Times New Roman" panose="02020603050405020304" pitchFamily="18" charset="0"/>
              </a:rPr>
              <a:t>has recently floated NIT to</a:t>
            </a:r>
            <a:r>
              <a:rPr lang="en-US" sz="1400" dirty="0">
                <a:effectLst/>
                <a:ea typeface="Calibri Light" panose="020F0302020204030204" pitchFamily="34" charset="0"/>
                <a:cs typeface="Times New Roman" panose="02020603050405020304" pitchFamily="18" charset="0"/>
              </a:rPr>
              <a:t> implement AMI Solution for all RLI (River Lift Irrigation) Consumers, that is Consumers having Connected Load 5 KVA to 50 KVA with all Distribution Transformer meters throughout the jurisdiction of WBSEDCL. Total numbers of such category consumers are 5,22,300 approximately*</a:t>
            </a:r>
            <a:endParaRPr lang="en-US" sz="1400" dirty="0">
              <a:ln w="0"/>
              <a:solidFill>
                <a:schemeClr val="tx1"/>
              </a:solidFill>
              <a:effectLst>
                <a:outerShdw blurRad="38100" dist="19050" dir="2700000" algn="tl" rotWithShape="0">
                  <a:schemeClr val="dk1">
                    <a:alpha val="40000"/>
                  </a:schemeClr>
                </a:outerShdw>
              </a:effectLst>
            </a:endParaRPr>
          </a:p>
        </p:txBody>
      </p:sp>
      <p:sp>
        <p:nvSpPr>
          <p:cNvPr id="5" name="TextBox 4">
            <a:extLst>
              <a:ext uri="{FF2B5EF4-FFF2-40B4-BE49-F238E27FC236}">
                <a16:creationId xmlns:a16="http://schemas.microsoft.com/office/drawing/2014/main" id="{92337874-E238-4801-AA19-F8AA0E3B030E}"/>
              </a:ext>
            </a:extLst>
          </p:cNvPr>
          <p:cNvSpPr txBox="1"/>
          <p:nvPr/>
        </p:nvSpPr>
        <p:spPr>
          <a:xfrm>
            <a:off x="3057965" y="6605078"/>
            <a:ext cx="11188700" cy="169277"/>
          </a:xfrm>
          <a:prstGeom prst="rect">
            <a:avLst/>
          </a:prstGeom>
          <a:noFill/>
        </p:spPr>
        <p:txBody>
          <a:bodyPr wrap="square" lIns="0" tIns="0" rIns="0" bIns="0" rtlCol="0">
            <a:spAutoFit/>
          </a:bodyPr>
          <a:lstStyle/>
          <a:p>
            <a:pPr>
              <a:spcBef>
                <a:spcPts val="600"/>
              </a:spcBef>
              <a:buSzPct val="100000"/>
            </a:pPr>
            <a:r>
              <a:rPr lang="en-US" sz="1100" b="1" i="1" dirty="0">
                <a:solidFill>
                  <a:srgbClr val="313131"/>
                </a:solidFill>
              </a:rPr>
              <a:t>*Source:</a:t>
            </a:r>
            <a:r>
              <a:rPr lang="en-US" sz="1100" dirty="0">
                <a:solidFill>
                  <a:srgbClr val="313131"/>
                </a:solidFill>
              </a:rPr>
              <a:t> WBSEDCL Tender Notice No: WBSEDCL/ IT&amp;C/ 33.10(iv)/ 1402 dated 20.02.2019</a:t>
            </a:r>
          </a:p>
        </p:txBody>
      </p:sp>
    </p:spTree>
    <p:extLst>
      <p:ext uri="{BB962C8B-B14F-4D97-AF65-F5344CB8AC3E}">
        <p14:creationId xmlns:p14="http://schemas.microsoft.com/office/powerpoint/2010/main" val="111322650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252922"/>
            <a:ext cx="11188700" cy="368299"/>
          </a:xfrm>
        </p:spPr>
        <p:txBody>
          <a:bodyPr vert="horz"/>
          <a:lstStyle/>
          <a:p>
            <a:pPr algn="just"/>
            <a:r>
              <a:rPr lang="en-US" sz="1800" i="0" dirty="0">
                <a:solidFill>
                  <a:schemeClr val="tx1"/>
                </a:solidFill>
                <a:latin typeface="+mj-lt"/>
              </a:rPr>
              <a:t>Background and Objective</a:t>
            </a:r>
          </a:p>
        </p:txBody>
      </p:sp>
      <p:sp>
        <p:nvSpPr>
          <p:cNvPr id="7" name="Rectangle 6">
            <a:extLst>
              <a:ext uri="{FF2B5EF4-FFF2-40B4-BE49-F238E27FC236}">
                <a16:creationId xmlns:a16="http://schemas.microsoft.com/office/drawing/2014/main" id="{66D78846-9150-4901-8529-69809A623414}"/>
              </a:ext>
            </a:extLst>
          </p:cNvPr>
          <p:cNvSpPr/>
          <p:nvPr/>
        </p:nvSpPr>
        <p:spPr bwMode="gray">
          <a:xfrm>
            <a:off x="642257" y="4065280"/>
            <a:ext cx="4746172" cy="1910681"/>
          </a:xfrm>
          <a:prstGeom prst="rect">
            <a:avLst/>
          </a:prstGeom>
          <a:solidFill>
            <a:schemeClr val="accent1">
              <a:lumMod val="20000"/>
              <a:lumOff val="80000"/>
            </a:schemeClr>
          </a:solidFill>
          <a:ln>
            <a:noFill/>
            <a:headEnd/>
            <a:tailEnd/>
          </a:ln>
        </p:spPr>
        <p:style>
          <a:lnRef idx="2">
            <a:schemeClr val="accent2"/>
          </a:lnRef>
          <a:fillRef idx="1">
            <a:schemeClr val="lt1"/>
          </a:fillRef>
          <a:effectRef idx="0">
            <a:schemeClr val="accent2"/>
          </a:effectRef>
          <a:fontRef idx="minor">
            <a:schemeClr val="dk1"/>
          </a:fontRef>
        </p:style>
        <p:txBody>
          <a:bodyPr wrap="square" lIns="182880" tIns="88900" rIns="182880" bIns="88900" rtlCol="0" anchor="ctr"/>
          <a:lstStyle/>
          <a:p>
            <a:pPr algn="just">
              <a:lnSpc>
                <a:spcPct val="106000"/>
              </a:lnSpc>
              <a:buFont typeface="Wingdings 2" pitchFamily="18" charset="2"/>
              <a:buNone/>
            </a:pPr>
            <a:r>
              <a:rPr lang="en-US" sz="1400" dirty="0">
                <a:effectLst/>
                <a:ea typeface="Calibri Light" panose="020F0302020204030204" pitchFamily="34" charset="0"/>
                <a:cs typeface="Times New Roman" panose="02020603050405020304" pitchFamily="18" charset="0"/>
              </a:rPr>
              <a:t>Key objective of AMI is </a:t>
            </a:r>
            <a:r>
              <a:rPr lang="en-US" sz="1400" b="1" dirty="0">
                <a:effectLst/>
                <a:ea typeface="Calibri Light" panose="020F0302020204030204" pitchFamily="34" charset="0"/>
                <a:cs typeface="Times New Roman" panose="02020603050405020304" pitchFamily="18" charset="0"/>
              </a:rPr>
              <a:t>to implement smart metering system and data analytics</a:t>
            </a:r>
            <a:r>
              <a:rPr lang="en-US" sz="1400" dirty="0">
                <a:effectLst/>
                <a:ea typeface="Calibri Light" panose="020F0302020204030204" pitchFamily="34" charset="0"/>
                <a:cs typeface="Times New Roman" panose="02020603050405020304" pitchFamily="18" charset="0"/>
              </a:rPr>
              <a:t> with an aim of implementing Revenue protection measures, bring </a:t>
            </a:r>
            <a:r>
              <a:rPr lang="en-US" sz="1400" b="1" dirty="0">
                <a:effectLst/>
                <a:ea typeface="Calibri Light" panose="020F0302020204030204" pitchFamily="34" charset="0"/>
                <a:cs typeface="Times New Roman" panose="02020603050405020304" pitchFamily="18" charset="0"/>
              </a:rPr>
              <a:t>improvement in Billing / Collection efficiencies and betterment /automation</a:t>
            </a:r>
            <a:r>
              <a:rPr lang="en-US" sz="1400" dirty="0">
                <a:effectLst/>
                <a:ea typeface="Calibri Light" panose="020F0302020204030204" pitchFamily="34" charset="0"/>
                <a:cs typeface="Times New Roman" panose="02020603050405020304" pitchFamily="18" charset="0"/>
              </a:rPr>
              <a:t> of customer services in a targeted manner</a:t>
            </a:r>
            <a:endParaRPr lang="en-US" sz="1400" dirty="0">
              <a:ln w="0"/>
              <a:effectLst>
                <a:outerShdw blurRad="38100" dist="19050" dir="2700000" algn="tl" rotWithShape="0">
                  <a:schemeClr val="dk1">
                    <a:alpha val="40000"/>
                  </a:schemeClr>
                </a:outerShdw>
              </a:effectLst>
            </a:endParaRPr>
          </a:p>
        </p:txBody>
      </p:sp>
      <p:cxnSp>
        <p:nvCxnSpPr>
          <p:cNvPr id="8" name="Straight Connector 7">
            <a:extLst>
              <a:ext uri="{FF2B5EF4-FFF2-40B4-BE49-F238E27FC236}">
                <a16:creationId xmlns:a16="http://schemas.microsoft.com/office/drawing/2014/main" id="{5B7FE512-9F0D-49E8-8E4E-88981F28FF6C}"/>
              </a:ext>
            </a:extLst>
          </p:cNvPr>
          <p:cNvCxnSpPr>
            <a:cxnSpLocks/>
          </p:cNvCxnSpPr>
          <p:nvPr/>
        </p:nvCxnSpPr>
        <p:spPr>
          <a:xfrm>
            <a:off x="910802" y="956676"/>
            <a:ext cx="1066071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DE958C-AFEA-4A88-B5CE-FA13C590D62E}"/>
              </a:ext>
            </a:extLst>
          </p:cNvPr>
          <p:cNvSpPr/>
          <p:nvPr/>
        </p:nvSpPr>
        <p:spPr bwMode="gray">
          <a:xfrm>
            <a:off x="5294763" y="852578"/>
            <a:ext cx="1577045" cy="208195"/>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Background</a:t>
            </a:r>
          </a:p>
        </p:txBody>
      </p:sp>
      <p:sp>
        <p:nvSpPr>
          <p:cNvPr id="10" name="Rectangle 9">
            <a:extLst>
              <a:ext uri="{FF2B5EF4-FFF2-40B4-BE49-F238E27FC236}">
                <a16:creationId xmlns:a16="http://schemas.microsoft.com/office/drawing/2014/main" id="{724E8D31-B431-4D58-8F32-0A98B7349DE4}"/>
              </a:ext>
            </a:extLst>
          </p:cNvPr>
          <p:cNvSpPr/>
          <p:nvPr/>
        </p:nvSpPr>
        <p:spPr>
          <a:xfrm>
            <a:off x="5617029" y="1455833"/>
            <a:ext cx="6086035" cy="1678133"/>
          </a:xfrm>
          <a:prstGeom prst="rect">
            <a:avLst/>
          </a:prstGeom>
          <a:solidFill>
            <a:srgbClr val="004F5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spcBef>
                <a:spcPts val="0"/>
              </a:spcBef>
              <a:spcAft>
                <a:spcPts val="1200"/>
              </a:spcAft>
            </a:pPr>
            <a:r>
              <a:rPr lang="en-US" sz="1400" b="1" dirty="0">
                <a:solidFill>
                  <a:srgbClr val="FFFFFF"/>
                </a:solidFill>
                <a:effectLst/>
                <a:ea typeface="Calibri Light" panose="020F0302020204030204" pitchFamily="34" charset="0"/>
                <a:cs typeface="Times New Roman" panose="02020603050405020304" pitchFamily="18" charset="0"/>
              </a:rPr>
              <a:t>High AT&amp;C Loss</a:t>
            </a:r>
          </a:p>
          <a:p>
            <a:pPr marL="228600" marR="0" indent="-228600">
              <a:lnSpc>
                <a:spcPts val="1200"/>
              </a:lnSpc>
              <a:spcBef>
                <a:spcPts val="0"/>
              </a:spcBef>
              <a:spcAft>
                <a:spcPts val="0"/>
              </a:spcAft>
              <a:buClr>
                <a:schemeClr val="bg1"/>
              </a:buClr>
              <a:buFont typeface="Wingdings" panose="05000000000000000000" pitchFamily="2" charset="2"/>
              <a:buChar char="v"/>
            </a:pPr>
            <a:r>
              <a:rPr lang="en-US" sz="1400" b="1" dirty="0">
                <a:solidFill>
                  <a:srgbClr val="FFFF00"/>
                </a:solidFill>
                <a:effectLst/>
                <a:ea typeface="Calibri Light" panose="020F0302020204030204" pitchFamily="34" charset="0"/>
                <a:cs typeface="Times New Roman" panose="02020603050405020304" pitchFamily="18" charset="0"/>
              </a:rPr>
              <a:t>5.66%</a:t>
            </a:r>
            <a:r>
              <a:rPr lang="en-US" sz="1400" b="1" dirty="0">
                <a:solidFill>
                  <a:schemeClr val="bg1"/>
                </a:solidFill>
                <a:effectLst/>
                <a:ea typeface="Calibri Light" panose="020F0302020204030204" pitchFamily="34" charset="0"/>
                <a:cs typeface="Times New Roman" panose="02020603050405020304" pitchFamily="18" charset="0"/>
              </a:rPr>
              <a:t> (46,16,925 nos.)</a:t>
            </a:r>
            <a:r>
              <a:rPr lang="en-US" sz="1400" dirty="0">
                <a:solidFill>
                  <a:srgbClr val="005C83"/>
                </a:solidFill>
                <a:effectLst/>
                <a:ea typeface="Calibri Light" panose="020F0302020204030204" pitchFamily="34" charset="0"/>
                <a:cs typeface="Times New Roman" panose="02020603050405020304" pitchFamily="18" charset="0"/>
              </a:rPr>
              <a:t> </a:t>
            </a:r>
            <a:r>
              <a:rPr lang="en-US" sz="1400" dirty="0">
                <a:solidFill>
                  <a:srgbClr val="FFFFFF"/>
                </a:solidFill>
                <a:effectLst/>
                <a:ea typeface="Calibri Light" panose="020F0302020204030204" pitchFamily="34" charset="0"/>
                <a:cs typeface="Times New Roman" panose="02020603050405020304" pitchFamily="18" charset="0"/>
              </a:rPr>
              <a:t>of total bills generated in a year is </a:t>
            </a:r>
            <a:r>
              <a:rPr lang="en-US" sz="1400" b="1" dirty="0">
                <a:solidFill>
                  <a:srgbClr val="FFFF00"/>
                </a:solidFill>
                <a:effectLst/>
                <a:ea typeface="Calibri Light" panose="020F0302020204030204" pitchFamily="34" charset="0"/>
                <a:cs typeface="Times New Roman" panose="02020603050405020304" pitchFamily="18" charset="0"/>
              </a:rPr>
              <a:t>based on average billing</a:t>
            </a:r>
            <a:r>
              <a:rPr lang="en-US" sz="1400" dirty="0">
                <a:solidFill>
                  <a:srgbClr val="005C83"/>
                </a:solidFill>
                <a:effectLst/>
                <a:ea typeface="Calibri Light" panose="020F0302020204030204" pitchFamily="34" charset="0"/>
                <a:cs typeface="Times New Roman" panose="02020603050405020304" pitchFamily="18" charset="0"/>
              </a:rPr>
              <a:t> </a:t>
            </a:r>
            <a:r>
              <a:rPr lang="en-US" sz="1400" dirty="0">
                <a:solidFill>
                  <a:srgbClr val="FFFFFF"/>
                </a:solidFill>
                <a:effectLst/>
                <a:ea typeface="Calibri Light" panose="020F0302020204030204" pitchFamily="34" charset="0"/>
                <a:cs typeface="Times New Roman" panose="02020603050405020304" pitchFamily="18" charset="0"/>
              </a:rPr>
              <a:t>of consumers </a:t>
            </a:r>
          </a:p>
          <a:p>
            <a:pPr marL="228600" marR="0" indent="-228600">
              <a:lnSpc>
                <a:spcPts val="1200"/>
              </a:lnSpc>
              <a:spcBef>
                <a:spcPts val="0"/>
              </a:spcBef>
              <a:spcAft>
                <a:spcPts val="0"/>
              </a:spcAft>
              <a:buFont typeface="Wingdings" panose="05000000000000000000" pitchFamily="2" charset="2"/>
              <a:buChar char="v"/>
            </a:pPr>
            <a:r>
              <a:rPr lang="en-US" sz="1400" b="1" dirty="0">
                <a:solidFill>
                  <a:schemeClr val="bg1"/>
                </a:solidFill>
                <a:effectLst/>
                <a:ea typeface="Calibri Light" panose="020F0302020204030204" pitchFamily="34" charset="0"/>
                <a:cs typeface="Times New Roman" panose="02020603050405020304" pitchFamily="18" charset="0"/>
              </a:rPr>
              <a:t>Cumulative</a:t>
            </a:r>
            <a:r>
              <a:rPr lang="en-US" sz="1400" dirty="0">
                <a:solidFill>
                  <a:srgbClr val="FFFFFF"/>
                </a:solidFill>
                <a:effectLst/>
                <a:ea typeface="Calibri Light" panose="020F0302020204030204" pitchFamily="34" charset="0"/>
                <a:cs typeface="Times New Roman" panose="02020603050405020304" pitchFamily="18" charset="0"/>
              </a:rPr>
              <a:t> government department</a:t>
            </a:r>
            <a:r>
              <a:rPr lang="en-US" sz="1400" b="1" dirty="0">
                <a:solidFill>
                  <a:srgbClr val="005C83"/>
                </a:solidFill>
                <a:effectLst/>
                <a:ea typeface="Calibri Light" panose="020F0302020204030204" pitchFamily="34" charset="0"/>
                <a:cs typeface="Times New Roman" panose="02020603050405020304" pitchFamily="18" charset="0"/>
              </a:rPr>
              <a:t> </a:t>
            </a:r>
            <a:r>
              <a:rPr lang="en-US" sz="1400" b="1" dirty="0">
                <a:solidFill>
                  <a:srgbClr val="FFFF00"/>
                </a:solidFill>
                <a:effectLst/>
                <a:ea typeface="Calibri Light" panose="020F0302020204030204" pitchFamily="34" charset="0"/>
                <a:cs typeface="Times New Roman" panose="02020603050405020304" pitchFamily="18" charset="0"/>
              </a:rPr>
              <a:t>dues</a:t>
            </a:r>
            <a:r>
              <a:rPr lang="en-US" sz="1400" b="1" dirty="0">
                <a:solidFill>
                  <a:srgbClr val="005C83"/>
                </a:solidFill>
                <a:effectLst/>
                <a:ea typeface="Calibri Light" panose="020F0302020204030204" pitchFamily="34" charset="0"/>
                <a:cs typeface="Times New Roman" panose="02020603050405020304" pitchFamily="18" charset="0"/>
              </a:rPr>
              <a:t> </a:t>
            </a:r>
            <a:r>
              <a:rPr lang="en-US" sz="1400" dirty="0">
                <a:solidFill>
                  <a:srgbClr val="FFFFFF"/>
                </a:solidFill>
                <a:effectLst/>
                <a:ea typeface="Calibri Light" panose="020F0302020204030204" pitchFamily="34" charset="0"/>
                <a:cs typeface="Times New Roman" panose="02020603050405020304" pitchFamily="18" charset="0"/>
              </a:rPr>
              <a:t>are in the range of</a:t>
            </a:r>
            <a:r>
              <a:rPr lang="en-US" sz="1400" b="1" dirty="0">
                <a:solidFill>
                  <a:srgbClr val="005C83"/>
                </a:solidFill>
                <a:effectLst/>
                <a:ea typeface="Calibri Light" panose="020F0302020204030204" pitchFamily="34" charset="0"/>
                <a:cs typeface="Times New Roman" panose="02020603050405020304" pitchFamily="18" charset="0"/>
              </a:rPr>
              <a:t> </a:t>
            </a:r>
            <a:r>
              <a:rPr lang="en-US" sz="1400" b="1" dirty="0">
                <a:solidFill>
                  <a:srgbClr val="FFFF00"/>
                </a:solidFill>
                <a:effectLst/>
                <a:ea typeface="Calibri Light" panose="020F0302020204030204" pitchFamily="34" charset="0"/>
                <a:cs typeface="Times New Roman" panose="02020603050405020304" pitchFamily="18" charset="0"/>
              </a:rPr>
              <a:t>4 to 6% of total revenue of WBSEDCL</a:t>
            </a:r>
            <a:r>
              <a:rPr lang="en-US" sz="1400" dirty="0">
                <a:solidFill>
                  <a:srgbClr val="FFFFFF"/>
                </a:solidFill>
                <a:effectLst/>
                <a:ea typeface="Calibri Light" panose="020F0302020204030204" pitchFamily="34" charset="0"/>
                <a:cs typeface="Times New Roman" panose="02020603050405020304" pitchFamily="18" charset="0"/>
              </a:rPr>
              <a:t> </a:t>
            </a:r>
          </a:p>
          <a:p>
            <a:pPr marL="228600" marR="0" indent="-228600">
              <a:lnSpc>
                <a:spcPts val="1200"/>
              </a:lnSpc>
              <a:spcBef>
                <a:spcPts val="0"/>
              </a:spcBef>
              <a:spcAft>
                <a:spcPts val="0"/>
              </a:spcAft>
              <a:buFont typeface="Wingdings" panose="05000000000000000000" pitchFamily="2" charset="2"/>
              <a:buChar char="v"/>
            </a:pPr>
            <a:r>
              <a:rPr lang="en-US" sz="1400" dirty="0">
                <a:solidFill>
                  <a:srgbClr val="FFFFFF"/>
                </a:solidFill>
                <a:effectLst/>
                <a:ea typeface="Calibri Light" panose="020F0302020204030204" pitchFamily="34" charset="0"/>
                <a:cs typeface="Times New Roman" panose="02020603050405020304" pitchFamily="18" charset="0"/>
              </a:rPr>
              <a:t>In addition to the same, debtors amounting to Rs </a:t>
            </a:r>
            <a:r>
              <a:rPr lang="en-US" sz="1400" b="1" dirty="0">
                <a:solidFill>
                  <a:srgbClr val="FFFF00"/>
                </a:solidFill>
                <a:effectLst/>
                <a:ea typeface="Calibri Light" panose="020F0302020204030204" pitchFamily="34" charset="0"/>
                <a:cs typeface="Times New Roman" panose="02020603050405020304" pitchFamily="18" charset="0"/>
              </a:rPr>
              <a:t>772.81 Cr</a:t>
            </a:r>
            <a:r>
              <a:rPr lang="en-US" sz="1400" dirty="0">
                <a:solidFill>
                  <a:srgbClr val="005C83"/>
                </a:solidFill>
                <a:effectLst/>
                <a:ea typeface="Calibri Light" panose="020F0302020204030204" pitchFamily="34" charset="0"/>
                <a:cs typeface="Times New Roman" panose="02020603050405020304" pitchFamily="18" charset="0"/>
              </a:rPr>
              <a:t> </a:t>
            </a:r>
            <a:r>
              <a:rPr lang="en-US" sz="1400" dirty="0">
                <a:solidFill>
                  <a:srgbClr val="FFFFFF"/>
                </a:solidFill>
                <a:effectLst/>
                <a:ea typeface="Calibri Light" panose="020F0302020204030204" pitchFamily="34" charset="0"/>
                <a:cs typeface="Times New Roman" panose="02020603050405020304" pitchFamily="18" charset="0"/>
              </a:rPr>
              <a:t>has an average aging of more than </a:t>
            </a:r>
            <a:r>
              <a:rPr lang="en-US" sz="1400" b="1" dirty="0">
                <a:solidFill>
                  <a:srgbClr val="FFFF00"/>
                </a:solidFill>
                <a:effectLst/>
                <a:ea typeface="Calibri Light" panose="020F0302020204030204" pitchFamily="34" charset="0"/>
                <a:cs typeface="Times New Roman" panose="02020603050405020304" pitchFamily="18" charset="0"/>
              </a:rPr>
              <a:t>4 years</a:t>
            </a:r>
            <a:endParaRPr lang="en-US" sz="1400" dirty="0">
              <a:solidFill>
                <a:srgbClr val="FFFFFF"/>
              </a:solidFill>
              <a:effectLst/>
              <a:ea typeface="Calibri Light" panose="020F03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5233049E-8F88-4C45-A162-88AC96DFB674}"/>
              </a:ext>
            </a:extLst>
          </p:cNvPr>
          <p:cNvSpPr txBox="1"/>
          <p:nvPr/>
        </p:nvSpPr>
        <p:spPr>
          <a:xfrm>
            <a:off x="488936" y="1417440"/>
            <a:ext cx="4899493" cy="1801968"/>
          </a:xfrm>
          <a:prstGeom prst="rect">
            <a:avLst/>
          </a:prstGeom>
          <a:noFill/>
        </p:spPr>
        <p:txBody>
          <a:bodyPr wrap="square">
            <a:spAutoFit/>
          </a:bodyPr>
          <a:lstStyle/>
          <a:p>
            <a:pPr marL="342900" marR="27305" lvl="0" indent="-342900" algn="just">
              <a:lnSpc>
                <a:spcPct val="115000"/>
              </a:lnSpc>
              <a:spcBef>
                <a:spcPts val="0"/>
              </a:spcBef>
              <a:spcAft>
                <a:spcPts val="0"/>
              </a:spcAft>
              <a:buFont typeface="Symbol" panose="05050102010706020507" pitchFamily="18" charset="2"/>
              <a:buChar char=""/>
            </a:pPr>
            <a:r>
              <a:rPr lang="en-US" sz="1400" dirty="0">
                <a:effectLst/>
                <a:ea typeface="Calibri Light" panose="020F0302020204030204" pitchFamily="34" charset="0"/>
                <a:cs typeface="Times New Roman" panose="02020603050405020304" pitchFamily="18" charset="0"/>
              </a:rPr>
              <a:t>Out of total 77 divisions in West Bengal</a:t>
            </a:r>
            <a:r>
              <a:rPr lang="en-US" sz="1400" b="1" dirty="0">
                <a:effectLst/>
                <a:ea typeface="Calibri Light" panose="020F0302020204030204" pitchFamily="34" charset="0"/>
                <a:cs typeface="Times New Roman" panose="02020603050405020304" pitchFamily="18" charset="0"/>
              </a:rPr>
              <a:t>, billing efficiency is found to be less than 80% in 42 divisions</a:t>
            </a:r>
            <a:r>
              <a:rPr lang="en-US" sz="1400" dirty="0">
                <a:effectLst/>
                <a:ea typeface="Calibri Light" panose="020F0302020204030204" pitchFamily="34" charset="0"/>
                <a:cs typeface="Times New Roman" panose="02020603050405020304" pitchFamily="18" charset="0"/>
              </a:rPr>
              <a:t>. </a:t>
            </a:r>
          </a:p>
          <a:p>
            <a:pPr marL="342900" marR="27305" lvl="0" indent="-342900" algn="just">
              <a:lnSpc>
                <a:spcPct val="115000"/>
              </a:lnSpc>
              <a:spcBef>
                <a:spcPts val="0"/>
              </a:spcBef>
              <a:spcAft>
                <a:spcPts val="0"/>
              </a:spcAft>
              <a:buFont typeface="Symbol" panose="05050102010706020507" pitchFamily="18" charset="2"/>
              <a:buChar char=""/>
            </a:pPr>
            <a:r>
              <a:rPr lang="en-US" sz="1400" b="1" dirty="0">
                <a:effectLst/>
                <a:ea typeface="Calibri Light" panose="020F0302020204030204" pitchFamily="34" charset="0"/>
                <a:cs typeface="Times New Roman" panose="02020603050405020304" pitchFamily="18" charset="0"/>
              </a:rPr>
              <a:t>Collection efficiency is found to be less than 95% in 32 divisions</a:t>
            </a:r>
            <a:r>
              <a:rPr lang="en-US" sz="1400" dirty="0">
                <a:effectLst/>
                <a:ea typeface="Calibri Light" panose="020F0302020204030204" pitchFamily="34" charset="0"/>
                <a:cs typeface="Times New Roman" panose="02020603050405020304" pitchFamily="18" charset="0"/>
              </a:rPr>
              <a:t>.  Further </a:t>
            </a:r>
            <a:r>
              <a:rPr lang="en-US" sz="1400" b="1" dirty="0">
                <a:effectLst/>
                <a:ea typeface="Calibri Light" panose="020F0302020204030204" pitchFamily="34" charset="0"/>
                <a:cs typeface="Times New Roman" panose="02020603050405020304" pitchFamily="18" charset="0"/>
              </a:rPr>
              <a:t>AT&amp;C loss is more than 30% in 32 divisions</a:t>
            </a:r>
            <a:r>
              <a:rPr lang="en-US" sz="1400" dirty="0">
                <a:effectLst/>
                <a:ea typeface="Calibri Light" panose="020F0302020204030204" pitchFamily="34" charset="0"/>
                <a:cs typeface="Times New Roman" panose="02020603050405020304" pitchFamily="18" charset="0"/>
              </a:rPr>
              <a:t>. Same is summarized below as follows</a:t>
            </a:r>
          </a:p>
        </p:txBody>
      </p:sp>
      <p:graphicFrame>
        <p:nvGraphicFramePr>
          <p:cNvPr id="14" name="Table 13">
            <a:extLst>
              <a:ext uri="{FF2B5EF4-FFF2-40B4-BE49-F238E27FC236}">
                <a16:creationId xmlns:a16="http://schemas.microsoft.com/office/drawing/2014/main" id="{83DC63DD-8572-4D47-9E55-6A7854306011}"/>
              </a:ext>
            </a:extLst>
          </p:cNvPr>
          <p:cNvGraphicFramePr>
            <a:graphicFrameLocks noGrp="1"/>
          </p:cNvGraphicFramePr>
          <p:nvPr>
            <p:extLst>
              <p:ext uri="{D42A27DB-BD31-4B8C-83A1-F6EECF244321}">
                <p14:modId xmlns:p14="http://schemas.microsoft.com/office/powerpoint/2010/main" val="2978847126"/>
              </p:ext>
            </p:extLst>
          </p:nvPr>
        </p:nvGraphicFramePr>
        <p:xfrm>
          <a:off x="5637577" y="3692237"/>
          <a:ext cx="6086034" cy="2329865"/>
        </p:xfrm>
        <a:graphic>
          <a:graphicData uri="http://schemas.openxmlformats.org/drawingml/2006/table">
            <a:tbl>
              <a:tblPr firstRow="1" firstCol="1" bandRow="1">
                <a:tableStyleId>{00A15C55-8517-42AA-B614-E9B94910E393}</a:tableStyleId>
              </a:tblPr>
              <a:tblGrid>
                <a:gridCol w="192554">
                  <a:extLst>
                    <a:ext uri="{9D8B030D-6E8A-4147-A177-3AD203B41FA5}">
                      <a16:colId xmlns:a16="http://schemas.microsoft.com/office/drawing/2014/main" val="3388878588"/>
                    </a:ext>
                  </a:extLst>
                </a:gridCol>
                <a:gridCol w="1136979">
                  <a:extLst>
                    <a:ext uri="{9D8B030D-6E8A-4147-A177-3AD203B41FA5}">
                      <a16:colId xmlns:a16="http://schemas.microsoft.com/office/drawing/2014/main" val="3965011954"/>
                    </a:ext>
                  </a:extLst>
                </a:gridCol>
                <a:gridCol w="706027">
                  <a:extLst>
                    <a:ext uri="{9D8B030D-6E8A-4147-A177-3AD203B41FA5}">
                      <a16:colId xmlns:a16="http://schemas.microsoft.com/office/drawing/2014/main" val="1182163104"/>
                    </a:ext>
                  </a:extLst>
                </a:gridCol>
                <a:gridCol w="1228670">
                  <a:extLst>
                    <a:ext uri="{9D8B030D-6E8A-4147-A177-3AD203B41FA5}">
                      <a16:colId xmlns:a16="http://schemas.microsoft.com/office/drawing/2014/main" val="48768268"/>
                    </a:ext>
                  </a:extLst>
                </a:gridCol>
                <a:gridCol w="1384547">
                  <a:extLst>
                    <a:ext uri="{9D8B030D-6E8A-4147-A177-3AD203B41FA5}">
                      <a16:colId xmlns:a16="http://schemas.microsoft.com/office/drawing/2014/main" val="3159574989"/>
                    </a:ext>
                  </a:extLst>
                </a:gridCol>
                <a:gridCol w="724366">
                  <a:extLst>
                    <a:ext uri="{9D8B030D-6E8A-4147-A177-3AD203B41FA5}">
                      <a16:colId xmlns:a16="http://schemas.microsoft.com/office/drawing/2014/main" val="1417792687"/>
                    </a:ext>
                  </a:extLst>
                </a:gridCol>
                <a:gridCol w="712891">
                  <a:extLst>
                    <a:ext uri="{9D8B030D-6E8A-4147-A177-3AD203B41FA5}">
                      <a16:colId xmlns:a16="http://schemas.microsoft.com/office/drawing/2014/main" val="262265174"/>
                    </a:ext>
                  </a:extLst>
                </a:gridCol>
              </a:tblGrid>
              <a:tr h="246406">
                <a:tc rowSpan="2">
                  <a:txBody>
                    <a:bodyPr/>
                    <a:lstStyle/>
                    <a:p>
                      <a:pPr marL="0" marR="0" algn="ctr">
                        <a:lnSpc>
                          <a:spcPts val="1200"/>
                        </a:lnSpc>
                        <a:spcBef>
                          <a:spcPts val="0"/>
                        </a:spcBef>
                        <a:spcAft>
                          <a:spcPts val="0"/>
                        </a:spcAft>
                      </a:pPr>
                      <a:r>
                        <a:rPr lang="en-US" sz="1200" dirty="0">
                          <a:effectLst/>
                          <a:latin typeface="+mn-lt"/>
                          <a:ea typeface="Calibri Light" panose="020F0302020204030204" pitchFamily="34" charset="0"/>
                          <a:cs typeface="Times New Roman" panose="02020603050405020304" pitchFamily="18" charset="0"/>
                        </a:rPr>
                        <a:t>#</a:t>
                      </a:r>
                      <a:endParaRPr lang="en-US" sz="1000" dirty="0">
                        <a:effectLst/>
                        <a:latin typeface="+mn-lt"/>
                        <a:ea typeface="Calibri Light" panose="020F0302020204030204" pitchFamily="34" charset="0"/>
                        <a:cs typeface="Times New Roman" panose="02020603050405020304" pitchFamily="18" charset="0"/>
                      </a:endParaRPr>
                    </a:p>
                  </a:txBody>
                  <a:tcPr marL="68580" marR="68580" marT="0" marB="0" anchor="ctr"/>
                </a:tc>
                <a:tc rowSpan="2">
                  <a:txBody>
                    <a:bodyPr/>
                    <a:lstStyle/>
                    <a:p>
                      <a:pPr marL="0" marR="0" algn="ctr">
                        <a:lnSpc>
                          <a:spcPts val="1200"/>
                        </a:lnSpc>
                        <a:spcBef>
                          <a:spcPts val="0"/>
                        </a:spcBef>
                        <a:spcAft>
                          <a:spcPts val="0"/>
                        </a:spcAft>
                      </a:pPr>
                      <a:r>
                        <a:rPr lang="en-US" sz="1200" dirty="0">
                          <a:effectLst/>
                          <a:latin typeface="+mn-lt"/>
                        </a:rPr>
                        <a:t>Zone</a:t>
                      </a:r>
                      <a:endParaRPr lang="en-US" sz="1000" dirty="0">
                        <a:effectLst/>
                        <a:latin typeface="+mn-lt"/>
                        <a:ea typeface="Calibri Light" panose="020F0302020204030204" pitchFamily="34" charset="0"/>
                        <a:cs typeface="Times New Roman" panose="02020603050405020304" pitchFamily="18" charset="0"/>
                      </a:endParaRPr>
                    </a:p>
                  </a:txBody>
                  <a:tcPr marL="68580" marR="68580" marT="0" marB="0" anchor="ctr"/>
                </a:tc>
                <a:tc gridSpan="4">
                  <a:txBody>
                    <a:bodyPr/>
                    <a:lstStyle/>
                    <a:p>
                      <a:pPr marL="0" marR="0" algn="ctr">
                        <a:lnSpc>
                          <a:spcPts val="1200"/>
                        </a:lnSpc>
                        <a:spcBef>
                          <a:spcPts val="0"/>
                        </a:spcBef>
                        <a:spcAft>
                          <a:spcPts val="0"/>
                        </a:spcAft>
                      </a:pPr>
                      <a:r>
                        <a:rPr lang="en-US" sz="1200">
                          <a:effectLst/>
                          <a:latin typeface="+mn-lt"/>
                        </a:rPr>
                        <a:t>No of divisions with billing efficiency</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marL="0" marR="0" algn="ctr">
                        <a:lnSpc>
                          <a:spcPts val="1200"/>
                        </a:lnSpc>
                        <a:spcBef>
                          <a:spcPts val="0"/>
                        </a:spcBef>
                        <a:spcAft>
                          <a:spcPts val="0"/>
                        </a:spcAft>
                      </a:pPr>
                      <a:r>
                        <a:rPr lang="en-US" sz="1200">
                          <a:effectLst/>
                          <a:latin typeface="+mn-lt"/>
                        </a:rPr>
                        <a:t>Grand Total</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54172775"/>
                  </a:ext>
                </a:extLst>
              </a:tr>
              <a:tr h="365945">
                <a:tc vMerge="1">
                  <a:txBody>
                    <a:bodyPr/>
                    <a:lstStyle/>
                    <a:p>
                      <a:endParaRPr lang="en-US"/>
                    </a:p>
                  </a:txBody>
                  <a:tcPr/>
                </a:tc>
                <a:tc vMerge="1">
                  <a:txBody>
                    <a:bodyPr/>
                    <a:lstStyle/>
                    <a:p>
                      <a:endParaRPr lang="en-US"/>
                    </a:p>
                  </a:txBody>
                  <a:tcPr/>
                </a:tc>
                <a:tc>
                  <a:txBody>
                    <a:bodyPr/>
                    <a:lstStyle/>
                    <a:p>
                      <a:pPr marL="0" marR="0" algn="ctr">
                        <a:lnSpc>
                          <a:spcPts val="1200"/>
                        </a:lnSpc>
                        <a:spcBef>
                          <a:spcPts val="0"/>
                        </a:spcBef>
                        <a:spcAft>
                          <a:spcPts val="0"/>
                        </a:spcAft>
                      </a:pPr>
                      <a:r>
                        <a:rPr lang="en-US" sz="1200" b="1" dirty="0">
                          <a:effectLst/>
                          <a:latin typeface="+mn-lt"/>
                        </a:rPr>
                        <a:t>&lt;60%</a:t>
                      </a:r>
                      <a:endParaRPr lang="en-US" sz="1000" b="1" dirty="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b="1" dirty="0">
                          <a:effectLst/>
                          <a:latin typeface="+mn-lt"/>
                        </a:rPr>
                        <a:t>60% to 80%</a:t>
                      </a:r>
                      <a:endParaRPr lang="en-US" sz="1000" b="1" dirty="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b="1" dirty="0">
                          <a:effectLst/>
                          <a:latin typeface="+mn-lt"/>
                        </a:rPr>
                        <a:t>80% to 90%</a:t>
                      </a:r>
                      <a:endParaRPr lang="en-US" sz="1000" b="1" dirty="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b="1" dirty="0">
                          <a:effectLst/>
                          <a:latin typeface="+mn-lt"/>
                        </a:rPr>
                        <a:t>&gt;90%</a:t>
                      </a:r>
                      <a:endParaRPr lang="en-US" sz="1000" b="1" dirty="0">
                        <a:effectLst/>
                        <a:latin typeface="+mn-lt"/>
                        <a:ea typeface="Calibri Light" panose="020F0302020204030204" pitchFamily="34" charset="0"/>
                        <a:cs typeface="Times New Roman" panose="02020603050405020304" pitchFamily="18" charset="0"/>
                      </a:endParaRPr>
                    </a:p>
                  </a:txBody>
                  <a:tcPr marL="68580" marR="68580" marT="0" marB="0" anchor="ctr"/>
                </a:tc>
                <a:tc vMerge="1">
                  <a:txBody>
                    <a:bodyPr/>
                    <a:lstStyle/>
                    <a:p>
                      <a:endParaRPr lang="en-US"/>
                    </a:p>
                  </a:txBody>
                  <a:tcPr/>
                </a:tc>
                <a:extLst>
                  <a:ext uri="{0D108BD9-81ED-4DB2-BD59-A6C34878D82A}">
                    <a16:rowId xmlns:a16="http://schemas.microsoft.com/office/drawing/2014/main" val="4282761886"/>
                  </a:ext>
                </a:extLst>
              </a:tr>
              <a:tr h="365945">
                <a:tc>
                  <a:txBody>
                    <a:bodyPr/>
                    <a:lstStyle/>
                    <a:p>
                      <a:pPr marL="0" marR="0" algn="ctr">
                        <a:lnSpc>
                          <a:spcPts val="1200"/>
                        </a:lnSpc>
                        <a:spcBef>
                          <a:spcPts val="0"/>
                        </a:spcBef>
                        <a:spcAft>
                          <a:spcPts val="0"/>
                        </a:spcAft>
                      </a:pPr>
                      <a:r>
                        <a:rPr lang="en-US" sz="1200" dirty="0">
                          <a:effectLst/>
                          <a:latin typeface="+mn-lt"/>
                        </a:rPr>
                        <a:t>1</a:t>
                      </a:r>
                      <a:endParaRPr lang="en-US" sz="1000" dirty="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l">
                        <a:lnSpc>
                          <a:spcPts val="1200"/>
                        </a:lnSpc>
                        <a:spcBef>
                          <a:spcPts val="0"/>
                        </a:spcBef>
                        <a:spcAft>
                          <a:spcPts val="0"/>
                        </a:spcAft>
                      </a:pPr>
                      <a:r>
                        <a:rPr lang="en-US" sz="1200" b="1" dirty="0" err="1">
                          <a:effectLst/>
                          <a:latin typeface="+mn-lt"/>
                        </a:rPr>
                        <a:t>Bardhaman</a:t>
                      </a:r>
                      <a:endParaRPr lang="en-US" sz="1000" b="1" dirty="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dirty="0">
                          <a:effectLst/>
                          <a:latin typeface="+mn-lt"/>
                        </a:rPr>
                        <a:t>1</a:t>
                      </a:r>
                      <a:endParaRPr lang="en-US" sz="1000" dirty="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7</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5</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3</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16</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93290792"/>
                  </a:ext>
                </a:extLst>
              </a:tr>
              <a:tr h="246406">
                <a:tc>
                  <a:txBody>
                    <a:bodyPr/>
                    <a:lstStyle/>
                    <a:p>
                      <a:pPr marL="0" marR="0" algn="ctr">
                        <a:lnSpc>
                          <a:spcPts val="1200"/>
                        </a:lnSpc>
                        <a:spcBef>
                          <a:spcPts val="0"/>
                        </a:spcBef>
                        <a:spcAft>
                          <a:spcPts val="0"/>
                        </a:spcAft>
                      </a:pPr>
                      <a:r>
                        <a:rPr lang="en-US" sz="1200" dirty="0">
                          <a:effectLst/>
                          <a:latin typeface="+mn-lt"/>
                        </a:rPr>
                        <a:t>2</a:t>
                      </a:r>
                      <a:endParaRPr lang="en-US" sz="1000" dirty="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l">
                        <a:lnSpc>
                          <a:spcPts val="1200"/>
                        </a:lnSpc>
                        <a:spcBef>
                          <a:spcPts val="0"/>
                        </a:spcBef>
                        <a:spcAft>
                          <a:spcPts val="0"/>
                        </a:spcAft>
                      </a:pPr>
                      <a:r>
                        <a:rPr lang="en-US" sz="1200" b="1" dirty="0">
                          <a:effectLst/>
                          <a:latin typeface="+mn-lt"/>
                        </a:rPr>
                        <a:t>Siliguri</a:t>
                      </a:r>
                      <a:endParaRPr lang="en-US" sz="1000" b="1" dirty="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 </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dirty="0">
                          <a:effectLst/>
                          <a:latin typeface="+mn-lt"/>
                        </a:rPr>
                        <a:t>6</a:t>
                      </a:r>
                      <a:endParaRPr lang="en-US" sz="1000" dirty="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7</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2</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15</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68807273"/>
                  </a:ext>
                </a:extLst>
              </a:tr>
              <a:tr h="365945">
                <a:tc>
                  <a:txBody>
                    <a:bodyPr/>
                    <a:lstStyle/>
                    <a:p>
                      <a:pPr marL="0" marR="0" algn="ctr">
                        <a:lnSpc>
                          <a:spcPts val="1200"/>
                        </a:lnSpc>
                        <a:spcBef>
                          <a:spcPts val="0"/>
                        </a:spcBef>
                        <a:spcAft>
                          <a:spcPts val="0"/>
                        </a:spcAft>
                      </a:pPr>
                      <a:r>
                        <a:rPr lang="en-US" sz="1200">
                          <a:effectLst/>
                          <a:latin typeface="+mn-lt"/>
                        </a:rPr>
                        <a:t>3</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l">
                        <a:lnSpc>
                          <a:spcPts val="1200"/>
                        </a:lnSpc>
                        <a:spcBef>
                          <a:spcPts val="0"/>
                        </a:spcBef>
                        <a:spcAft>
                          <a:spcPts val="0"/>
                        </a:spcAft>
                      </a:pPr>
                      <a:r>
                        <a:rPr lang="en-US" sz="1200" b="1" dirty="0">
                          <a:effectLst/>
                          <a:latin typeface="+mn-lt"/>
                        </a:rPr>
                        <a:t>Berhampur</a:t>
                      </a:r>
                      <a:endParaRPr lang="en-US" sz="1000" b="1" dirty="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1</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8</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3</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0</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12</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556140100"/>
                  </a:ext>
                </a:extLst>
              </a:tr>
              <a:tr h="246406">
                <a:tc>
                  <a:txBody>
                    <a:bodyPr/>
                    <a:lstStyle/>
                    <a:p>
                      <a:pPr marL="0" marR="0" algn="ctr">
                        <a:lnSpc>
                          <a:spcPts val="1200"/>
                        </a:lnSpc>
                        <a:spcBef>
                          <a:spcPts val="0"/>
                        </a:spcBef>
                        <a:spcAft>
                          <a:spcPts val="0"/>
                        </a:spcAft>
                      </a:pPr>
                      <a:r>
                        <a:rPr lang="en-US" sz="1200">
                          <a:effectLst/>
                          <a:latin typeface="+mn-lt"/>
                        </a:rPr>
                        <a:t>4</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l">
                        <a:lnSpc>
                          <a:spcPts val="1200"/>
                        </a:lnSpc>
                        <a:spcBef>
                          <a:spcPts val="0"/>
                        </a:spcBef>
                        <a:spcAft>
                          <a:spcPts val="0"/>
                        </a:spcAft>
                      </a:pPr>
                      <a:r>
                        <a:rPr lang="en-US" sz="1200" b="1" dirty="0">
                          <a:effectLst/>
                          <a:latin typeface="+mn-lt"/>
                        </a:rPr>
                        <a:t>Kolkata</a:t>
                      </a:r>
                      <a:endParaRPr lang="en-US" sz="1000" b="1" dirty="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6</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3</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6</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5</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20</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595858694"/>
                  </a:ext>
                </a:extLst>
              </a:tr>
              <a:tr h="246406">
                <a:tc>
                  <a:txBody>
                    <a:bodyPr/>
                    <a:lstStyle/>
                    <a:p>
                      <a:pPr marL="0" marR="0" algn="ctr">
                        <a:lnSpc>
                          <a:spcPts val="1200"/>
                        </a:lnSpc>
                        <a:spcBef>
                          <a:spcPts val="0"/>
                        </a:spcBef>
                        <a:spcAft>
                          <a:spcPts val="0"/>
                        </a:spcAft>
                      </a:pPr>
                      <a:r>
                        <a:rPr lang="en-US" sz="1200">
                          <a:effectLst/>
                          <a:latin typeface="+mn-lt"/>
                        </a:rPr>
                        <a:t>5</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l">
                        <a:lnSpc>
                          <a:spcPts val="1200"/>
                        </a:lnSpc>
                        <a:spcBef>
                          <a:spcPts val="0"/>
                        </a:spcBef>
                        <a:spcAft>
                          <a:spcPts val="0"/>
                        </a:spcAft>
                      </a:pPr>
                      <a:r>
                        <a:rPr lang="en-US" sz="1200" b="1" dirty="0">
                          <a:effectLst/>
                          <a:latin typeface="+mn-lt"/>
                        </a:rPr>
                        <a:t>Medinipur</a:t>
                      </a:r>
                      <a:endParaRPr lang="en-US" sz="1000" b="1" dirty="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dirty="0">
                          <a:effectLst/>
                          <a:latin typeface="+mn-lt"/>
                        </a:rPr>
                        <a:t>1</a:t>
                      </a:r>
                      <a:endParaRPr lang="en-US" sz="1000" dirty="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9</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3</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1</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a:effectLst/>
                          <a:latin typeface="+mn-lt"/>
                        </a:rPr>
                        <a:t>14</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5772158"/>
                  </a:ext>
                </a:extLst>
              </a:tr>
              <a:tr h="246406">
                <a:tc gridSpan="2">
                  <a:txBody>
                    <a:bodyPr/>
                    <a:lstStyle/>
                    <a:p>
                      <a:pPr marL="0" marR="0" algn="ctr">
                        <a:lnSpc>
                          <a:spcPts val="1200"/>
                        </a:lnSpc>
                        <a:spcBef>
                          <a:spcPts val="0"/>
                        </a:spcBef>
                        <a:spcAft>
                          <a:spcPts val="0"/>
                        </a:spcAft>
                      </a:pPr>
                      <a:r>
                        <a:rPr lang="en-US" sz="1200">
                          <a:effectLst/>
                          <a:latin typeface="+mn-lt"/>
                        </a:rPr>
                        <a:t>Total</a:t>
                      </a:r>
                      <a:endParaRPr lang="en-US" sz="1000">
                        <a:effectLst/>
                        <a:latin typeface="+mn-lt"/>
                        <a:ea typeface="Calibri Light" panose="020F0302020204030204" pitchFamily="34" charset="0"/>
                        <a:cs typeface="Times New Roman" panose="02020603050405020304" pitchFamily="18" charset="0"/>
                      </a:endParaRPr>
                    </a:p>
                  </a:txBody>
                  <a:tcPr marL="68580" marR="68580" marT="0" marB="0" anchor="ctr"/>
                </a:tc>
                <a:tc hMerge="1">
                  <a:txBody>
                    <a:bodyPr/>
                    <a:lstStyle/>
                    <a:p>
                      <a:endParaRPr lang="en-US"/>
                    </a:p>
                  </a:txBody>
                  <a:tcPr/>
                </a:tc>
                <a:tc>
                  <a:txBody>
                    <a:bodyPr/>
                    <a:lstStyle/>
                    <a:p>
                      <a:pPr marL="0" marR="0" algn="ctr">
                        <a:lnSpc>
                          <a:spcPts val="1200"/>
                        </a:lnSpc>
                        <a:spcBef>
                          <a:spcPts val="0"/>
                        </a:spcBef>
                        <a:spcAft>
                          <a:spcPts val="0"/>
                        </a:spcAft>
                      </a:pPr>
                      <a:r>
                        <a:rPr lang="en-US" sz="1200" b="1" dirty="0">
                          <a:effectLst/>
                          <a:latin typeface="+mn-lt"/>
                        </a:rPr>
                        <a:t>9</a:t>
                      </a:r>
                      <a:endParaRPr lang="en-US" sz="1000" b="1" dirty="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b="1" dirty="0">
                          <a:effectLst/>
                          <a:latin typeface="+mn-lt"/>
                        </a:rPr>
                        <a:t>33</a:t>
                      </a:r>
                      <a:endParaRPr lang="en-US" sz="1000" b="1" dirty="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b="1" dirty="0">
                          <a:effectLst/>
                          <a:latin typeface="+mn-lt"/>
                        </a:rPr>
                        <a:t>24</a:t>
                      </a:r>
                      <a:endParaRPr lang="en-US" sz="1000" b="1" dirty="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b="1" dirty="0">
                          <a:effectLst/>
                          <a:latin typeface="+mn-lt"/>
                        </a:rPr>
                        <a:t>11</a:t>
                      </a:r>
                      <a:endParaRPr lang="en-US" sz="1000" b="1" dirty="0">
                        <a:effectLst/>
                        <a:latin typeface="+mn-lt"/>
                        <a:ea typeface="Calibri Light" panose="020F0302020204030204" pitchFamily="34" charset="0"/>
                        <a:cs typeface="Times New Roman" panose="02020603050405020304" pitchFamily="18" charset="0"/>
                      </a:endParaRPr>
                    </a:p>
                  </a:txBody>
                  <a:tcPr marL="68580" marR="68580" marT="0" marB="0" anchor="ctr"/>
                </a:tc>
                <a:tc>
                  <a:txBody>
                    <a:bodyPr/>
                    <a:lstStyle/>
                    <a:p>
                      <a:pPr marL="0" marR="0" algn="ctr">
                        <a:lnSpc>
                          <a:spcPts val="1200"/>
                        </a:lnSpc>
                        <a:spcBef>
                          <a:spcPts val="0"/>
                        </a:spcBef>
                        <a:spcAft>
                          <a:spcPts val="0"/>
                        </a:spcAft>
                      </a:pPr>
                      <a:r>
                        <a:rPr lang="en-US" sz="1200" b="1" dirty="0">
                          <a:effectLst/>
                          <a:latin typeface="+mn-lt"/>
                        </a:rPr>
                        <a:t>77</a:t>
                      </a:r>
                      <a:endParaRPr lang="en-US" sz="1000" b="1" dirty="0">
                        <a:effectLst/>
                        <a:latin typeface="+mn-lt"/>
                        <a:ea typeface="Calibri Light" panose="020F03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83756678"/>
                  </a:ext>
                </a:extLst>
              </a:tr>
            </a:tbl>
          </a:graphicData>
        </a:graphic>
      </p:graphicFrame>
      <p:cxnSp>
        <p:nvCxnSpPr>
          <p:cNvPr id="17" name="Straight Connector 16">
            <a:extLst>
              <a:ext uri="{FF2B5EF4-FFF2-40B4-BE49-F238E27FC236}">
                <a16:creationId xmlns:a16="http://schemas.microsoft.com/office/drawing/2014/main" id="{ECFA537C-BE26-4D6D-9BCE-2415943AF678}"/>
              </a:ext>
            </a:extLst>
          </p:cNvPr>
          <p:cNvCxnSpPr>
            <a:cxnSpLocks/>
          </p:cNvCxnSpPr>
          <p:nvPr/>
        </p:nvCxnSpPr>
        <p:spPr>
          <a:xfrm>
            <a:off x="910802" y="3769221"/>
            <a:ext cx="40225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417CE8C-1A86-46DC-885A-F94A7C080D87}"/>
              </a:ext>
            </a:extLst>
          </p:cNvPr>
          <p:cNvSpPr/>
          <p:nvPr/>
        </p:nvSpPr>
        <p:spPr bwMode="gray">
          <a:xfrm>
            <a:off x="1970309" y="3665126"/>
            <a:ext cx="1926777" cy="157736"/>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Key Objective of Smart Metering</a:t>
            </a:r>
          </a:p>
        </p:txBody>
      </p:sp>
    </p:spTree>
    <p:extLst>
      <p:ext uri="{BB962C8B-B14F-4D97-AF65-F5344CB8AC3E}">
        <p14:creationId xmlns:p14="http://schemas.microsoft.com/office/powerpoint/2010/main" val="344437679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252922"/>
            <a:ext cx="11188700" cy="368299"/>
          </a:xfrm>
        </p:spPr>
        <p:txBody>
          <a:bodyPr vert="horz"/>
          <a:lstStyle/>
          <a:p>
            <a:pPr algn="just"/>
            <a:r>
              <a:rPr lang="en-US" sz="1800" i="0" dirty="0">
                <a:solidFill>
                  <a:schemeClr val="tx1"/>
                </a:solidFill>
                <a:latin typeface="+mj-lt"/>
              </a:rPr>
              <a:t>AMI - Rationale for implementation</a:t>
            </a:r>
          </a:p>
        </p:txBody>
      </p:sp>
      <p:graphicFrame>
        <p:nvGraphicFramePr>
          <p:cNvPr id="13" name="Diagram 12">
            <a:extLst>
              <a:ext uri="{FF2B5EF4-FFF2-40B4-BE49-F238E27FC236}">
                <a16:creationId xmlns:a16="http://schemas.microsoft.com/office/drawing/2014/main" id="{16BB35C5-48C5-4CAA-AAAA-57EFDABFA967}"/>
              </a:ext>
            </a:extLst>
          </p:cNvPr>
          <p:cNvGraphicFramePr/>
          <p:nvPr/>
        </p:nvGraphicFramePr>
        <p:xfrm>
          <a:off x="86163" y="1216652"/>
          <a:ext cx="6162237" cy="53921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6" name="Picture 15">
            <a:extLst>
              <a:ext uri="{FF2B5EF4-FFF2-40B4-BE49-F238E27FC236}">
                <a16:creationId xmlns:a16="http://schemas.microsoft.com/office/drawing/2014/main" id="{6E5C3EF0-B903-49CC-BAF6-06824DFFFC1C}"/>
              </a:ext>
            </a:extLst>
          </p:cNvPr>
          <p:cNvPicPr/>
          <p:nvPr/>
        </p:nvPicPr>
        <p:blipFill rotWithShape="1">
          <a:blip r:embed="rId7"/>
          <a:srcRect t="1632"/>
          <a:stretch/>
        </p:blipFill>
        <p:spPr bwMode="auto">
          <a:xfrm>
            <a:off x="6584966" y="1623138"/>
            <a:ext cx="5520871" cy="4477919"/>
          </a:xfrm>
          <a:prstGeom prst="rect">
            <a:avLst/>
          </a:prstGeom>
          <a:ln>
            <a:noFill/>
          </a:ln>
          <a:extLst>
            <a:ext uri="{53640926-AAD7-44D8-BBD7-CCE9431645EC}">
              <a14:shadowObscured xmlns:a14="http://schemas.microsoft.com/office/drawing/2010/main"/>
            </a:ext>
          </a:extLst>
        </p:spPr>
      </p:pic>
      <p:sp>
        <p:nvSpPr>
          <p:cNvPr id="19" name="TextBox 18">
            <a:extLst>
              <a:ext uri="{FF2B5EF4-FFF2-40B4-BE49-F238E27FC236}">
                <a16:creationId xmlns:a16="http://schemas.microsoft.com/office/drawing/2014/main" id="{C10FF28E-7B2A-4D7B-94DB-2D7BF7D3B3ED}"/>
              </a:ext>
            </a:extLst>
          </p:cNvPr>
          <p:cNvSpPr txBox="1"/>
          <p:nvPr/>
        </p:nvSpPr>
        <p:spPr>
          <a:xfrm>
            <a:off x="3069785" y="6418535"/>
            <a:ext cx="9122215" cy="430887"/>
          </a:xfrm>
          <a:prstGeom prst="rect">
            <a:avLst/>
          </a:prstGeom>
          <a:noFill/>
        </p:spPr>
        <p:txBody>
          <a:bodyPr wrap="square">
            <a:spAutoFit/>
          </a:bodyPr>
          <a:lstStyle/>
          <a:p>
            <a:r>
              <a:rPr lang="en-US" sz="1100" b="1" i="1" dirty="0">
                <a:effectLst/>
                <a:latin typeface="+mj-lt"/>
                <a:ea typeface="Calibri Light" panose="020F0302020204030204" pitchFamily="34" charset="0"/>
                <a:cs typeface="Times New Roman" panose="02020603050405020304" pitchFamily="18" charset="0"/>
              </a:rPr>
              <a:t>Source</a:t>
            </a:r>
            <a:r>
              <a:rPr lang="en-US" sz="1100" dirty="0">
                <a:effectLst/>
                <a:latin typeface="+mj-lt"/>
                <a:ea typeface="Calibri Light" panose="020F0302020204030204" pitchFamily="34" charset="0"/>
                <a:cs typeface="Times New Roman" panose="02020603050405020304" pitchFamily="18" charset="0"/>
              </a:rPr>
              <a:t> - </a:t>
            </a:r>
            <a:r>
              <a:rPr lang="en-US" sz="1100" dirty="0">
                <a:effectLst/>
                <a:latin typeface="+mj-lt"/>
                <a:ea typeface="Calibri Light" panose="020F0302020204030204" pitchFamily="34" charset="0"/>
              </a:rPr>
              <a:t>https://zhuhaiyujian.en.made-in-china.com/product/HsIxrohZElkV/China-Advanced-Metering-Infrastructure-AMI-and-System.html</a:t>
            </a:r>
            <a:endParaRPr lang="en-US" sz="1100" dirty="0">
              <a:latin typeface="+mj-lt"/>
            </a:endParaRPr>
          </a:p>
        </p:txBody>
      </p:sp>
      <p:cxnSp>
        <p:nvCxnSpPr>
          <p:cNvPr id="20" name="Straight Connector 19">
            <a:extLst>
              <a:ext uri="{FF2B5EF4-FFF2-40B4-BE49-F238E27FC236}">
                <a16:creationId xmlns:a16="http://schemas.microsoft.com/office/drawing/2014/main" id="{6D2CCF14-7A43-48B8-99C7-2218A7E9131C}"/>
              </a:ext>
            </a:extLst>
          </p:cNvPr>
          <p:cNvCxnSpPr>
            <a:cxnSpLocks/>
          </p:cNvCxnSpPr>
          <p:nvPr/>
        </p:nvCxnSpPr>
        <p:spPr>
          <a:xfrm>
            <a:off x="7083002" y="1167565"/>
            <a:ext cx="40225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E2A7B9E3-8341-4C04-87DC-34ABE0F7076A}"/>
              </a:ext>
            </a:extLst>
          </p:cNvPr>
          <p:cNvSpPr/>
          <p:nvPr/>
        </p:nvSpPr>
        <p:spPr bwMode="gray">
          <a:xfrm>
            <a:off x="8001001" y="1063470"/>
            <a:ext cx="2449286" cy="26022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Advanced Metering Infrastructure (AMI)</a:t>
            </a:r>
          </a:p>
        </p:txBody>
      </p:sp>
      <p:cxnSp>
        <p:nvCxnSpPr>
          <p:cNvPr id="22" name="Straight Connector 21">
            <a:extLst>
              <a:ext uri="{FF2B5EF4-FFF2-40B4-BE49-F238E27FC236}">
                <a16:creationId xmlns:a16="http://schemas.microsoft.com/office/drawing/2014/main" id="{9136B8F0-CE23-444F-9E49-DBC67309448C}"/>
              </a:ext>
            </a:extLst>
          </p:cNvPr>
          <p:cNvCxnSpPr>
            <a:cxnSpLocks/>
          </p:cNvCxnSpPr>
          <p:nvPr/>
        </p:nvCxnSpPr>
        <p:spPr>
          <a:xfrm>
            <a:off x="714859" y="1174439"/>
            <a:ext cx="40225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1827A21B-D2F6-4394-8017-667BD293A74D}"/>
              </a:ext>
            </a:extLst>
          </p:cNvPr>
          <p:cNvSpPr/>
          <p:nvPr/>
        </p:nvSpPr>
        <p:spPr bwMode="gray">
          <a:xfrm>
            <a:off x="1860697" y="992521"/>
            <a:ext cx="1730830" cy="363836"/>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Why AMI?</a:t>
            </a:r>
          </a:p>
        </p:txBody>
      </p:sp>
    </p:spTree>
    <p:extLst>
      <p:ext uri="{BB962C8B-B14F-4D97-AF65-F5344CB8AC3E}">
        <p14:creationId xmlns:p14="http://schemas.microsoft.com/office/powerpoint/2010/main" val="333791959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Diagram 16">
            <a:extLst>
              <a:ext uri="{FF2B5EF4-FFF2-40B4-BE49-F238E27FC236}">
                <a16:creationId xmlns:a16="http://schemas.microsoft.com/office/drawing/2014/main" id="{54A3BCA5-4B2D-4619-98B0-FC53E7F3C850}"/>
              </a:ext>
            </a:extLst>
          </p:cNvPr>
          <p:cNvGraphicFramePr/>
          <p:nvPr/>
        </p:nvGraphicFramePr>
        <p:xfrm>
          <a:off x="-17696" y="1954695"/>
          <a:ext cx="7085325" cy="21633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18" name="Straight Connector 17">
            <a:extLst>
              <a:ext uri="{FF2B5EF4-FFF2-40B4-BE49-F238E27FC236}">
                <a16:creationId xmlns:a16="http://schemas.microsoft.com/office/drawing/2014/main" id="{A503062D-F9B3-4061-A454-3AA58368869A}"/>
              </a:ext>
            </a:extLst>
          </p:cNvPr>
          <p:cNvCxnSpPr>
            <a:cxnSpLocks/>
          </p:cNvCxnSpPr>
          <p:nvPr/>
        </p:nvCxnSpPr>
        <p:spPr>
          <a:xfrm>
            <a:off x="5707458" y="3035886"/>
            <a:ext cx="1088753"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82CF56C-D7FD-4288-997A-987330DEFFE5}"/>
              </a:ext>
            </a:extLst>
          </p:cNvPr>
          <p:cNvCxnSpPr>
            <a:cxnSpLocks/>
          </p:cNvCxnSpPr>
          <p:nvPr/>
        </p:nvCxnSpPr>
        <p:spPr>
          <a:xfrm>
            <a:off x="6796212" y="3032944"/>
            <a:ext cx="0" cy="20128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C26CD23-1CDB-4D41-9AE5-DDDC6827C717}"/>
              </a:ext>
            </a:extLst>
          </p:cNvPr>
          <p:cNvCxnSpPr>
            <a:cxnSpLocks/>
          </p:cNvCxnSpPr>
          <p:nvPr/>
        </p:nvCxnSpPr>
        <p:spPr>
          <a:xfrm>
            <a:off x="6796212" y="3032944"/>
            <a:ext cx="556053"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894D1EF-3465-45B8-A884-C400B4AD1D73}"/>
              </a:ext>
            </a:extLst>
          </p:cNvPr>
          <p:cNvCxnSpPr>
            <a:cxnSpLocks/>
          </p:cNvCxnSpPr>
          <p:nvPr/>
        </p:nvCxnSpPr>
        <p:spPr>
          <a:xfrm flipV="1">
            <a:off x="6796212" y="5031663"/>
            <a:ext cx="712087" cy="1416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Arc 26">
            <a:extLst>
              <a:ext uri="{FF2B5EF4-FFF2-40B4-BE49-F238E27FC236}">
                <a16:creationId xmlns:a16="http://schemas.microsoft.com/office/drawing/2014/main" id="{E2986AB8-C4EC-4C24-AB4C-D27351B6BB8C}"/>
              </a:ext>
            </a:extLst>
          </p:cNvPr>
          <p:cNvSpPr/>
          <p:nvPr/>
        </p:nvSpPr>
        <p:spPr>
          <a:xfrm>
            <a:off x="7517770" y="2917559"/>
            <a:ext cx="1035727" cy="748554"/>
          </a:xfrm>
          <a:prstGeom prst="arc">
            <a:avLst>
              <a:gd name="adj1" fmla="val 13200000"/>
              <a:gd name="adj2" fmla="val 1920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sz="1400"/>
          </a:p>
        </p:txBody>
      </p:sp>
      <p:grpSp>
        <p:nvGrpSpPr>
          <p:cNvPr id="28" name="Group 27">
            <a:extLst>
              <a:ext uri="{FF2B5EF4-FFF2-40B4-BE49-F238E27FC236}">
                <a16:creationId xmlns:a16="http://schemas.microsoft.com/office/drawing/2014/main" id="{EA6D9ACF-8C12-4E46-A660-A1AAB0FD92C1}"/>
              </a:ext>
            </a:extLst>
          </p:cNvPr>
          <p:cNvGrpSpPr/>
          <p:nvPr/>
        </p:nvGrpSpPr>
        <p:grpSpPr>
          <a:xfrm>
            <a:off x="7295785" y="3125008"/>
            <a:ext cx="1528725" cy="356500"/>
            <a:chOff x="5147270" y="1663647"/>
            <a:chExt cx="1417046" cy="457231"/>
          </a:xfrm>
        </p:grpSpPr>
        <p:sp>
          <p:nvSpPr>
            <p:cNvPr id="38" name="Rectangle 37">
              <a:extLst>
                <a:ext uri="{FF2B5EF4-FFF2-40B4-BE49-F238E27FC236}">
                  <a16:creationId xmlns:a16="http://schemas.microsoft.com/office/drawing/2014/main" id="{590B9AC9-1A28-4FA3-99CB-4C0A8686DE47}"/>
                </a:ext>
              </a:extLst>
            </p:cNvPr>
            <p:cNvSpPr/>
            <p:nvPr/>
          </p:nvSpPr>
          <p:spPr>
            <a:xfrm>
              <a:off x="5147271" y="1663647"/>
              <a:ext cx="1417045" cy="453454"/>
            </a:xfrm>
            <a:prstGeom prst="rect">
              <a:avLst/>
            </a:prstGeom>
            <a:noFill/>
            <a:ln>
              <a:noFill/>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sp>
        <p:sp>
          <p:nvSpPr>
            <p:cNvPr id="39" name="TextBox 38">
              <a:extLst>
                <a:ext uri="{FF2B5EF4-FFF2-40B4-BE49-F238E27FC236}">
                  <a16:creationId xmlns:a16="http://schemas.microsoft.com/office/drawing/2014/main" id="{0350A0DB-3F4D-4E9B-AA47-39E4179F0F43}"/>
                </a:ext>
              </a:extLst>
            </p:cNvPr>
            <p:cNvSpPr txBox="1"/>
            <p:nvPr/>
          </p:nvSpPr>
          <p:spPr>
            <a:xfrm>
              <a:off x="5147271" y="1663647"/>
              <a:ext cx="1417045" cy="45345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200" kern="1200" dirty="0"/>
                <a:t>D. Outage Management</a:t>
              </a:r>
            </a:p>
          </p:txBody>
        </p:sp>
        <p:sp>
          <p:nvSpPr>
            <p:cNvPr id="49" name="TextBox 48">
              <a:extLst>
                <a:ext uri="{FF2B5EF4-FFF2-40B4-BE49-F238E27FC236}">
                  <a16:creationId xmlns:a16="http://schemas.microsoft.com/office/drawing/2014/main" id="{93EDB193-1BBC-4523-B362-9201C38A70D4}"/>
                </a:ext>
              </a:extLst>
            </p:cNvPr>
            <p:cNvSpPr txBox="1"/>
            <p:nvPr/>
          </p:nvSpPr>
          <p:spPr>
            <a:xfrm>
              <a:off x="5147270" y="1667420"/>
              <a:ext cx="1417045" cy="453458"/>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200" kern="1200" dirty="0"/>
                <a:t>D. Outage Management</a:t>
              </a:r>
            </a:p>
          </p:txBody>
        </p:sp>
      </p:grpSp>
      <p:sp>
        <p:nvSpPr>
          <p:cNvPr id="29" name="Arc 28">
            <a:extLst>
              <a:ext uri="{FF2B5EF4-FFF2-40B4-BE49-F238E27FC236}">
                <a16:creationId xmlns:a16="http://schemas.microsoft.com/office/drawing/2014/main" id="{EEDC1A95-9187-4819-AAB3-9E09FF28CDF2}"/>
              </a:ext>
            </a:extLst>
          </p:cNvPr>
          <p:cNvSpPr/>
          <p:nvPr/>
        </p:nvSpPr>
        <p:spPr>
          <a:xfrm rot="10800000">
            <a:off x="7517769" y="2927508"/>
            <a:ext cx="1035727" cy="748554"/>
          </a:xfrm>
          <a:prstGeom prst="arc">
            <a:avLst>
              <a:gd name="adj1" fmla="val 13200000"/>
              <a:gd name="adj2" fmla="val 1920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sz="1400"/>
          </a:p>
        </p:txBody>
      </p:sp>
      <p:sp>
        <p:nvSpPr>
          <p:cNvPr id="30" name="Rectangle 29">
            <a:extLst>
              <a:ext uri="{FF2B5EF4-FFF2-40B4-BE49-F238E27FC236}">
                <a16:creationId xmlns:a16="http://schemas.microsoft.com/office/drawing/2014/main" id="{1FD99390-C676-4DDA-B0C3-53ADF1BEF728}"/>
              </a:ext>
            </a:extLst>
          </p:cNvPr>
          <p:cNvSpPr/>
          <p:nvPr/>
        </p:nvSpPr>
        <p:spPr bwMode="gray">
          <a:xfrm>
            <a:off x="414784" y="4200786"/>
            <a:ext cx="1805254" cy="169597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228600" indent="-228600">
              <a:lnSpc>
                <a:spcPct val="106000"/>
              </a:lnSpc>
              <a:buFont typeface="+mj-lt"/>
              <a:buAutoNum type="arabicPeriod"/>
            </a:pPr>
            <a:r>
              <a:rPr lang="en-US" sz="1050" dirty="0">
                <a:ln w="0"/>
                <a:solidFill>
                  <a:schemeClr val="tx1"/>
                </a:solidFill>
                <a:effectLst>
                  <a:outerShdw blurRad="38100" dist="19050" dir="2700000" algn="tl" rotWithShape="0">
                    <a:schemeClr val="dk1">
                      <a:alpha val="40000"/>
                    </a:schemeClr>
                  </a:outerShdw>
                </a:effectLst>
                <a:latin typeface="+mj-lt"/>
              </a:rPr>
              <a:t>Bad Data Detection</a:t>
            </a:r>
          </a:p>
          <a:p>
            <a:pPr marL="228600" indent="-228600">
              <a:lnSpc>
                <a:spcPct val="106000"/>
              </a:lnSpc>
              <a:buFont typeface="+mj-lt"/>
              <a:buAutoNum type="arabicPeriod"/>
            </a:pPr>
            <a:endParaRPr lang="en-US" sz="1050" dirty="0">
              <a:ln w="0"/>
              <a:solidFill>
                <a:schemeClr val="tx1"/>
              </a:solidFill>
              <a:effectLst>
                <a:outerShdw blurRad="38100" dist="19050" dir="2700000" algn="tl" rotWithShape="0">
                  <a:schemeClr val="dk1">
                    <a:alpha val="40000"/>
                  </a:schemeClr>
                </a:outerShdw>
              </a:effectLst>
              <a:latin typeface="+mj-lt"/>
            </a:endParaRPr>
          </a:p>
          <a:p>
            <a:pPr marL="228600" indent="-228600">
              <a:lnSpc>
                <a:spcPct val="106000"/>
              </a:lnSpc>
              <a:buFont typeface="+mj-lt"/>
              <a:buAutoNum type="arabicPeriod"/>
            </a:pPr>
            <a:endParaRPr lang="en-US" sz="1050" dirty="0">
              <a:ln w="0"/>
              <a:solidFill>
                <a:schemeClr val="tx1"/>
              </a:solidFill>
              <a:effectLst>
                <a:outerShdw blurRad="38100" dist="19050" dir="2700000" algn="tl" rotWithShape="0">
                  <a:schemeClr val="dk1">
                    <a:alpha val="40000"/>
                  </a:schemeClr>
                </a:outerShdw>
              </a:effectLst>
              <a:latin typeface="+mj-lt"/>
            </a:endParaRPr>
          </a:p>
          <a:p>
            <a:pPr marL="228600" indent="-228600">
              <a:lnSpc>
                <a:spcPct val="106000"/>
              </a:lnSpc>
              <a:buFont typeface="+mj-lt"/>
              <a:buAutoNum type="arabicPeriod"/>
            </a:pPr>
            <a:r>
              <a:rPr lang="en-US" sz="1050" dirty="0">
                <a:ln w="0"/>
                <a:solidFill>
                  <a:schemeClr val="tx1"/>
                </a:solidFill>
                <a:effectLst>
                  <a:outerShdw blurRad="38100" dist="19050" dir="2700000" algn="tl" rotWithShape="0">
                    <a:schemeClr val="dk1">
                      <a:alpha val="40000"/>
                    </a:schemeClr>
                  </a:outerShdw>
                </a:effectLst>
                <a:latin typeface="+mj-lt"/>
              </a:rPr>
              <a:t>Non-technical loss detection</a:t>
            </a:r>
          </a:p>
          <a:p>
            <a:pPr marL="228600" indent="-228600">
              <a:lnSpc>
                <a:spcPct val="106000"/>
              </a:lnSpc>
              <a:buFont typeface="+mj-lt"/>
              <a:buAutoNum type="arabicPeriod"/>
            </a:pPr>
            <a:endParaRPr lang="en-US" sz="1050" dirty="0">
              <a:ln w="0"/>
              <a:solidFill>
                <a:schemeClr val="tx1"/>
              </a:solidFill>
              <a:effectLst>
                <a:outerShdw blurRad="38100" dist="19050" dir="2700000" algn="tl" rotWithShape="0">
                  <a:schemeClr val="dk1">
                    <a:alpha val="40000"/>
                  </a:schemeClr>
                </a:outerShdw>
              </a:effectLst>
              <a:latin typeface="+mj-lt"/>
            </a:endParaRPr>
          </a:p>
          <a:p>
            <a:pPr marL="228600" indent="-228600">
              <a:lnSpc>
                <a:spcPct val="106000"/>
              </a:lnSpc>
              <a:buFont typeface="+mj-lt"/>
              <a:buAutoNum type="arabicPeriod"/>
            </a:pPr>
            <a:r>
              <a:rPr lang="en-US" sz="1050" dirty="0">
                <a:ln w="0"/>
                <a:solidFill>
                  <a:schemeClr val="tx1"/>
                </a:solidFill>
                <a:effectLst>
                  <a:outerShdw blurRad="38100" dist="19050" dir="2700000" algn="tl" rotWithShape="0">
                    <a:schemeClr val="dk1">
                      <a:alpha val="40000"/>
                    </a:schemeClr>
                  </a:outerShdw>
                </a:effectLst>
                <a:latin typeface="+mj-lt"/>
              </a:rPr>
              <a:t>Load Profiling</a:t>
            </a:r>
          </a:p>
        </p:txBody>
      </p:sp>
      <p:sp>
        <p:nvSpPr>
          <p:cNvPr id="31" name="Rectangle 30">
            <a:extLst>
              <a:ext uri="{FF2B5EF4-FFF2-40B4-BE49-F238E27FC236}">
                <a16:creationId xmlns:a16="http://schemas.microsoft.com/office/drawing/2014/main" id="{A4E250A0-83B5-4E5E-8352-A64DBED676CE}"/>
              </a:ext>
            </a:extLst>
          </p:cNvPr>
          <p:cNvSpPr/>
          <p:nvPr/>
        </p:nvSpPr>
        <p:spPr bwMode="gray">
          <a:xfrm>
            <a:off x="2622340" y="4196568"/>
            <a:ext cx="1805252" cy="169597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228600" indent="-228600">
              <a:lnSpc>
                <a:spcPct val="106000"/>
              </a:lnSpc>
              <a:buFont typeface="+mj-lt"/>
              <a:buAutoNum type="arabicPeriod"/>
            </a:pPr>
            <a:r>
              <a:rPr lang="en-US" sz="1050" dirty="0">
                <a:ln w="0"/>
                <a:solidFill>
                  <a:schemeClr val="tx1"/>
                </a:solidFill>
                <a:effectLst>
                  <a:outerShdw blurRad="38100" dist="19050" dir="2700000" algn="tl" rotWithShape="0">
                    <a:schemeClr val="dk1">
                      <a:alpha val="40000"/>
                    </a:schemeClr>
                  </a:outerShdw>
                </a:effectLst>
                <a:latin typeface="+mj-lt"/>
              </a:rPr>
              <a:t>Forecasting with Individual Meters</a:t>
            </a:r>
          </a:p>
          <a:p>
            <a:pPr marL="228600" indent="-228600">
              <a:lnSpc>
                <a:spcPct val="106000"/>
              </a:lnSpc>
              <a:buFont typeface="+mj-lt"/>
              <a:buAutoNum type="arabicPeriod"/>
            </a:pPr>
            <a:endParaRPr lang="en-US" sz="1050" dirty="0">
              <a:ln w="0"/>
              <a:solidFill>
                <a:schemeClr val="tx1"/>
              </a:solidFill>
              <a:effectLst>
                <a:outerShdw blurRad="38100" dist="19050" dir="2700000" algn="tl" rotWithShape="0">
                  <a:schemeClr val="dk1">
                    <a:alpha val="40000"/>
                  </a:schemeClr>
                </a:outerShdw>
              </a:effectLst>
              <a:latin typeface="+mj-lt"/>
            </a:endParaRPr>
          </a:p>
          <a:p>
            <a:pPr marL="228600" indent="-228600">
              <a:lnSpc>
                <a:spcPct val="106000"/>
              </a:lnSpc>
              <a:buFont typeface="+mj-lt"/>
              <a:buAutoNum type="arabicPeriod"/>
            </a:pPr>
            <a:r>
              <a:rPr lang="en-US" sz="1050" dirty="0">
                <a:ln w="0"/>
                <a:solidFill>
                  <a:schemeClr val="tx1"/>
                </a:solidFill>
                <a:effectLst>
                  <a:outerShdw blurRad="38100" dist="19050" dir="2700000" algn="tl" rotWithShape="0">
                    <a:schemeClr val="dk1">
                      <a:alpha val="40000"/>
                    </a:schemeClr>
                  </a:outerShdw>
                </a:effectLst>
                <a:latin typeface="+mj-lt"/>
              </a:rPr>
              <a:t>Forecasting w/o Individual Meters</a:t>
            </a:r>
          </a:p>
          <a:p>
            <a:pPr marL="228600" indent="-228600">
              <a:lnSpc>
                <a:spcPct val="106000"/>
              </a:lnSpc>
              <a:buFont typeface="+mj-lt"/>
              <a:buAutoNum type="arabicPeriod"/>
            </a:pPr>
            <a:endParaRPr lang="en-US" sz="1050" dirty="0">
              <a:ln w="0"/>
              <a:solidFill>
                <a:schemeClr val="tx1"/>
              </a:solidFill>
              <a:effectLst>
                <a:outerShdw blurRad="38100" dist="19050" dir="2700000" algn="tl" rotWithShape="0">
                  <a:schemeClr val="dk1">
                    <a:alpha val="40000"/>
                  </a:schemeClr>
                </a:outerShdw>
              </a:effectLst>
              <a:latin typeface="+mj-lt"/>
            </a:endParaRPr>
          </a:p>
          <a:p>
            <a:pPr marL="228600" indent="-228600">
              <a:lnSpc>
                <a:spcPct val="106000"/>
              </a:lnSpc>
              <a:buFont typeface="+mj-lt"/>
              <a:buAutoNum type="arabicPeriod"/>
            </a:pPr>
            <a:r>
              <a:rPr lang="en-US" sz="1050" dirty="0">
                <a:ln w="0"/>
                <a:solidFill>
                  <a:schemeClr val="tx1"/>
                </a:solidFill>
                <a:effectLst>
                  <a:outerShdw blurRad="38100" dist="19050" dir="2700000" algn="tl" rotWithShape="0">
                    <a:schemeClr val="dk1">
                      <a:alpha val="40000"/>
                    </a:schemeClr>
                  </a:outerShdw>
                </a:effectLst>
                <a:latin typeface="+mj-lt"/>
              </a:rPr>
              <a:t>Probabilistic Forecasting</a:t>
            </a:r>
          </a:p>
        </p:txBody>
      </p:sp>
      <p:sp>
        <p:nvSpPr>
          <p:cNvPr id="32" name="Rectangle 31">
            <a:extLst>
              <a:ext uri="{FF2B5EF4-FFF2-40B4-BE49-F238E27FC236}">
                <a16:creationId xmlns:a16="http://schemas.microsoft.com/office/drawing/2014/main" id="{791A8975-499E-4B6A-91E8-9D44CA2B0A84}"/>
              </a:ext>
            </a:extLst>
          </p:cNvPr>
          <p:cNvSpPr/>
          <p:nvPr/>
        </p:nvSpPr>
        <p:spPr bwMode="gray">
          <a:xfrm>
            <a:off x="4867978" y="4196568"/>
            <a:ext cx="1805252" cy="169597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228600" indent="-228600">
              <a:lnSpc>
                <a:spcPct val="106000"/>
              </a:lnSpc>
              <a:buFont typeface="+mj-lt"/>
              <a:buAutoNum type="arabicPeriod"/>
            </a:pPr>
            <a:r>
              <a:rPr lang="en-US" sz="1050" dirty="0">
                <a:ln w="0"/>
                <a:solidFill>
                  <a:schemeClr val="tx1"/>
                </a:solidFill>
                <a:effectLst>
                  <a:outerShdw blurRad="38100" dist="19050" dir="2700000" algn="tl" rotWithShape="0">
                    <a:schemeClr val="dk1">
                      <a:alpha val="40000"/>
                    </a:schemeClr>
                  </a:outerShdw>
                </a:effectLst>
                <a:latin typeface="+mj-lt"/>
              </a:rPr>
              <a:t>Customer Characterization</a:t>
            </a:r>
          </a:p>
          <a:p>
            <a:pPr marL="228600" indent="-228600">
              <a:lnSpc>
                <a:spcPct val="106000"/>
              </a:lnSpc>
              <a:buFont typeface="+mj-lt"/>
              <a:buAutoNum type="arabicPeriod"/>
            </a:pPr>
            <a:endParaRPr lang="en-US" sz="1050" dirty="0">
              <a:ln w="0"/>
              <a:solidFill>
                <a:schemeClr val="tx1"/>
              </a:solidFill>
              <a:effectLst>
                <a:outerShdw blurRad="38100" dist="19050" dir="2700000" algn="tl" rotWithShape="0">
                  <a:schemeClr val="dk1">
                    <a:alpha val="40000"/>
                  </a:schemeClr>
                </a:outerShdw>
              </a:effectLst>
              <a:latin typeface="+mj-lt"/>
            </a:endParaRPr>
          </a:p>
          <a:p>
            <a:pPr marL="228600" indent="-228600">
              <a:lnSpc>
                <a:spcPct val="106000"/>
              </a:lnSpc>
              <a:buFont typeface="+mj-lt"/>
              <a:buAutoNum type="arabicPeriod"/>
            </a:pPr>
            <a:r>
              <a:rPr lang="en-US" sz="1050" dirty="0">
                <a:ln w="0"/>
                <a:solidFill>
                  <a:schemeClr val="tx1"/>
                </a:solidFill>
                <a:effectLst>
                  <a:outerShdw blurRad="38100" dist="19050" dir="2700000" algn="tl" rotWithShape="0">
                    <a:schemeClr val="dk1">
                      <a:alpha val="40000"/>
                    </a:schemeClr>
                  </a:outerShdw>
                </a:effectLst>
                <a:latin typeface="+mj-lt"/>
              </a:rPr>
              <a:t>Customer Demand Assessment</a:t>
            </a:r>
          </a:p>
          <a:p>
            <a:pPr marL="228600" indent="-228600">
              <a:lnSpc>
                <a:spcPct val="106000"/>
              </a:lnSpc>
              <a:buFont typeface="+mj-lt"/>
              <a:buAutoNum type="arabicPeriod"/>
            </a:pPr>
            <a:endParaRPr lang="en-US" sz="1050" dirty="0">
              <a:ln w="0"/>
              <a:solidFill>
                <a:schemeClr val="tx1"/>
              </a:solidFill>
              <a:effectLst>
                <a:outerShdw blurRad="38100" dist="19050" dir="2700000" algn="tl" rotWithShape="0">
                  <a:schemeClr val="dk1">
                    <a:alpha val="40000"/>
                  </a:schemeClr>
                </a:outerShdw>
              </a:effectLst>
              <a:latin typeface="+mj-lt"/>
            </a:endParaRPr>
          </a:p>
          <a:p>
            <a:pPr marL="228600" indent="-228600">
              <a:lnSpc>
                <a:spcPct val="106000"/>
              </a:lnSpc>
              <a:buFont typeface="+mj-lt"/>
              <a:buAutoNum type="arabicPeriod"/>
            </a:pPr>
            <a:r>
              <a:rPr lang="en-US" sz="1050" dirty="0">
                <a:ln w="0"/>
                <a:solidFill>
                  <a:schemeClr val="tx1"/>
                </a:solidFill>
                <a:effectLst>
                  <a:outerShdw blurRad="38100" dist="19050" dir="2700000" algn="tl" rotWithShape="0">
                    <a:schemeClr val="dk1">
                      <a:alpha val="40000"/>
                    </a:schemeClr>
                  </a:outerShdw>
                </a:effectLst>
                <a:latin typeface="+mj-lt"/>
              </a:rPr>
              <a:t>Remote Disconnect/Reconnect based on Demand Profile</a:t>
            </a:r>
          </a:p>
        </p:txBody>
      </p:sp>
      <p:sp>
        <p:nvSpPr>
          <p:cNvPr id="33" name="Arc 32">
            <a:extLst>
              <a:ext uri="{FF2B5EF4-FFF2-40B4-BE49-F238E27FC236}">
                <a16:creationId xmlns:a16="http://schemas.microsoft.com/office/drawing/2014/main" id="{D8CE9EBD-A098-489C-9D0E-FC9748741275}"/>
              </a:ext>
            </a:extLst>
          </p:cNvPr>
          <p:cNvSpPr/>
          <p:nvPr/>
        </p:nvSpPr>
        <p:spPr>
          <a:xfrm>
            <a:off x="7563597" y="4572512"/>
            <a:ext cx="1035727" cy="748554"/>
          </a:xfrm>
          <a:prstGeom prst="arc">
            <a:avLst>
              <a:gd name="adj1" fmla="val 13200000"/>
              <a:gd name="adj2" fmla="val 1920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sz="1400" dirty="0"/>
          </a:p>
        </p:txBody>
      </p:sp>
      <p:grpSp>
        <p:nvGrpSpPr>
          <p:cNvPr id="34" name="Group 33">
            <a:extLst>
              <a:ext uri="{FF2B5EF4-FFF2-40B4-BE49-F238E27FC236}">
                <a16:creationId xmlns:a16="http://schemas.microsoft.com/office/drawing/2014/main" id="{3E15684C-A307-4CCD-B91F-D253B3E81C6A}"/>
              </a:ext>
            </a:extLst>
          </p:cNvPr>
          <p:cNvGrpSpPr/>
          <p:nvPr/>
        </p:nvGrpSpPr>
        <p:grpSpPr>
          <a:xfrm>
            <a:off x="7231662" y="4854886"/>
            <a:ext cx="1805252" cy="363504"/>
            <a:chOff x="4976627" y="1650887"/>
            <a:chExt cx="1673371" cy="466214"/>
          </a:xfrm>
        </p:grpSpPr>
        <p:sp>
          <p:nvSpPr>
            <p:cNvPr id="36" name="Rectangle 35">
              <a:extLst>
                <a:ext uri="{FF2B5EF4-FFF2-40B4-BE49-F238E27FC236}">
                  <a16:creationId xmlns:a16="http://schemas.microsoft.com/office/drawing/2014/main" id="{44289962-C960-4BF4-B19D-AB5DDF8DAFA4}"/>
                </a:ext>
              </a:extLst>
            </p:cNvPr>
            <p:cNvSpPr/>
            <p:nvPr/>
          </p:nvSpPr>
          <p:spPr>
            <a:xfrm>
              <a:off x="5147271" y="1663647"/>
              <a:ext cx="1417045" cy="453454"/>
            </a:xfrm>
            <a:prstGeom prst="rect">
              <a:avLst/>
            </a:prstGeom>
            <a:noFill/>
            <a:ln>
              <a:noFill/>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sp>
        <p:sp>
          <p:nvSpPr>
            <p:cNvPr id="37" name="TextBox 36">
              <a:extLst>
                <a:ext uri="{FF2B5EF4-FFF2-40B4-BE49-F238E27FC236}">
                  <a16:creationId xmlns:a16="http://schemas.microsoft.com/office/drawing/2014/main" id="{A3381D24-875A-4FBC-A717-9F92C62C6192}"/>
                </a:ext>
              </a:extLst>
            </p:cNvPr>
            <p:cNvSpPr txBox="1"/>
            <p:nvPr/>
          </p:nvSpPr>
          <p:spPr>
            <a:xfrm>
              <a:off x="4976628" y="1650887"/>
              <a:ext cx="1673370" cy="453453"/>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200" kern="1200" dirty="0"/>
                <a:t>E. Asset Manager Management</a:t>
              </a:r>
            </a:p>
          </p:txBody>
        </p:sp>
        <p:sp>
          <p:nvSpPr>
            <p:cNvPr id="50" name="TextBox 49">
              <a:extLst>
                <a:ext uri="{FF2B5EF4-FFF2-40B4-BE49-F238E27FC236}">
                  <a16:creationId xmlns:a16="http://schemas.microsoft.com/office/drawing/2014/main" id="{E61CDFA5-1E87-48DD-8DDC-A7F7DD01665B}"/>
                </a:ext>
              </a:extLst>
            </p:cNvPr>
            <p:cNvSpPr txBox="1"/>
            <p:nvPr/>
          </p:nvSpPr>
          <p:spPr>
            <a:xfrm>
              <a:off x="4976627" y="1654660"/>
              <a:ext cx="1673370" cy="45345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200" kern="1200" dirty="0"/>
                <a:t>E. Asset Manager Management</a:t>
              </a:r>
            </a:p>
          </p:txBody>
        </p:sp>
      </p:grpSp>
      <p:sp>
        <p:nvSpPr>
          <p:cNvPr id="35" name="Arc 34">
            <a:extLst>
              <a:ext uri="{FF2B5EF4-FFF2-40B4-BE49-F238E27FC236}">
                <a16:creationId xmlns:a16="http://schemas.microsoft.com/office/drawing/2014/main" id="{7F08E289-4E7C-425E-8509-1148CBB6BB7B}"/>
              </a:ext>
            </a:extLst>
          </p:cNvPr>
          <p:cNvSpPr/>
          <p:nvPr/>
        </p:nvSpPr>
        <p:spPr>
          <a:xfrm rot="10800000">
            <a:off x="7563597" y="4711311"/>
            <a:ext cx="1035727" cy="748554"/>
          </a:xfrm>
          <a:prstGeom prst="arc">
            <a:avLst>
              <a:gd name="adj1" fmla="val 13200000"/>
              <a:gd name="adj2" fmla="val 1920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sz="1400" dirty="0"/>
          </a:p>
        </p:txBody>
      </p:sp>
      <p:cxnSp>
        <p:nvCxnSpPr>
          <p:cNvPr id="45" name="Straight Connector 44">
            <a:extLst>
              <a:ext uri="{FF2B5EF4-FFF2-40B4-BE49-F238E27FC236}">
                <a16:creationId xmlns:a16="http://schemas.microsoft.com/office/drawing/2014/main" id="{E686CDC3-11ED-4624-B150-9DDDFEF4DAE9}"/>
              </a:ext>
            </a:extLst>
          </p:cNvPr>
          <p:cNvCxnSpPr>
            <a:cxnSpLocks/>
          </p:cNvCxnSpPr>
          <p:nvPr/>
        </p:nvCxnSpPr>
        <p:spPr>
          <a:xfrm>
            <a:off x="6796211" y="3035886"/>
            <a:ext cx="0" cy="201288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8" name="Arc 47">
            <a:extLst>
              <a:ext uri="{FF2B5EF4-FFF2-40B4-BE49-F238E27FC236}">
                <a16:creationId xmlns:a16="http://schemas.microsoft.com/office/drawing/2014/main" id="{014FB9CB-1514-4FA6-87C3-832F47C3FC30}"/>
              </a:ext>
            </a:extLst>
          </p:cNvPr>
          <p:cNvSpPr/>
          <p:nvPr/>
        </p:nvSpPr>
        <p:spPr>
          <a:xfrm>
            <a:off x="7517769" y="2920501"/>
            <a:ext cx="1035727" cy="748554"/>
          </a:xfrm>
          <a:prstGeom prst="arc">
            <a:avLst>
              <a:gd name="adj1" fmla="val 13200000"/>
              <a:gd name="adj2" fmla="val 1920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sz="1400"/>
          </a:p>
        </p:txBody>
      </p:sp>
      <p:sp>
        <p:nvSpPr>
          <p:cNvPr id="40" name="Rectangle 39">
            <a:extLst>
              <a:ext uri="{FF2B5EF4-FFF2-40B4-BE49-F238E27FC236}">
                <a16:creationId xmlns:a16="http://schemas.microsoft.com/office/drawing/2014/main" id="{B2C721CD-8BCB-4979-BF86-59F8BB6F4594}"/>
              </a:ext>
            </a:extLst>
          </p:cNvPr>
          <p:cNvSpPr/>
          <p:nvPr/>
        </p:nvSpPr>
        <p:spPr>
          <a:xfrm>
            <a:off x="414783" y="6080546"/>
            <a:ext cx="11464225" cy="41934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1200"/>
              </a:spcAft>
            </a:pPr>
            <a:r>
              <a:rPr lang="en-US" sz="1400" b="1" dirty="0">
                <a:solidFill>
                  <a:srgbClr val="FFFFFF"/>
                </a:solidFill>
                <a:effectLst/>
                <a:latin typeface="+mj-lt"/>
                <a:ea typeface="Calibri Light" panose="020F0302020204030204" pitchFamily="34" charset="0"/>
                <a:cs typeface="Times New Roman" panose="02020603050405020304" pitchFamily="18" charset="0"/>
              </a:rPr>
              <a:t>Key Techniques – Time Series Analysis, Outlier Detection, Classification, Clustering</a:t>
            </a:r>
          </a:p>
        </p:txBody>
      </p:sp>
      <p:sp>
        <p:nvSpPr>
          <p:cNvPr id="42" name="TextBox 41">
            <a:extLst>
              <a:ext uri="{FF2B5EF4-FFF2-40B4-BE49-F238E27FC236}">
                <a16:creationId xmlns:a16="http://schemas.microsoft.com/office/drawing/2014/main" id="{1EEC36F7-6C85-45B2-B70B-75E6DEF33C06}"/>
              </a:ext>
            </a:extLst>
          </p:cNvPr>
          <p:cNvSpPr txBox="1"/>
          <p:nvPr/>
        </p:nvSpPr>
        <p:spPr>
          <a:xfrm>
            <a:off x="440719" y="733220"/>
            <a:ext cx="10927489" cy="738664"/>
          </a:xfrm>
          <a:prstGeom prst="rect">
            <a:avLst/>
          </a:prstGeom>
          <a:noFill/>
        </p:spPr>
        <p:txBody>
          <a:bodyPr wrap="square">
            <a:spAutoFit/>
          </a:bodyPr>
          <a:lstStyle/>
          <a:p>
            <a:pPr algn="just"/>
            <a:r>
              <a:rPr lang="en-US" sz="1400" dirty="0"/>
              <a:t>Areas where Smart meter data can be used for analytics, include energy forecasting, smart meter analytics, asset management/analytics, grid operation, customer segmentation, energy trading, credit and collection, call center analytics, energy efficiency and demand management</a:t>
            </a:r>
          </a:p>
        </p:txBody>
      </p:sp>
      <p:sp>
        <p:nvSpPr>
          <p:cNvPr id="43" name="Title 3">
            <a:extLst>
              <a:ext uri="{FF2B5EF4-FFF2-40B4-BE49-F238E27FC236}">
                <a16:creationId xmlns:a16="http://schemas.microsoft.com/office/drawing/2014/main" id="{94F6A868-65C2-4A4E-B14A-EA85DDBC4A05}"/>
              </a:ext>
            </a:extLst>
          </p:cNvPr>
          <p:cNvSpPr>
            <a:spLocks noGrp="1"/>
          </p:cNvSpPr>
          <p:nvPr>
            <p:ph type="title"/>
          </p:nvPr>
        </p:nvSpPr>
        <p:spPr>
          <a:xfrm>
            <a:off x="488936" y="252922"/>
            <a:ext cx="11188700" cy="368299"/>
          </a:xfrm>
        </p:spPr>
        <p:txBody>
          <a:bodyPr vert="horz"/>
          <a:lstStyle/>
          <a:p>
            <a:pPr algn="just"/>
            <a:r>
              <a:rPr lang="en-US" sz="1800" i="0" dirty="0">
                <a:solidFill>
                  <a:schemeClr val="tx1"/>
                </a:solidFill>
                <a:latin typeface="+mj-lt"/>
              </a:rPr>
              <a:t>Utilization of Smart Meter Data</a:t>
            </a:r>
          </a:p>
        </p:txBody>
      </p:sp>
      <p:cxnSp>
        <p:nvCxnSpPr>
          <p:cNvPr id="51" name="Straight Connector 50">
            <a:extLst>
              <a:ext uri="{FF2B5EF4-FFF2-40B4-BE49-F238E27FC236}">
                <a16:creationId xmlns:a16="http://schemas.microsoft.com/office/drawing/2014/main" id="{8CD1F4EC-760F-43A3-87E0-FE4A8A8F6FB9}"/>
              </a:ext>
            </a:extLst>
          </p:cNvPr>
          <p:cNvCxnSpPr>
            <a:cxnSpLocks/>
          </p:cNvCxnSpPr>
          <p:nvPr/>
        </p:nvCxnSpPr>
        <p:spPr>
          <a:xfrm>
            <a:off x="3485793" y="1767105"/>
            <a:ext cx="40225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C7D2A7A2-9805-4ED1-9F3C-925EB6620E0A}"/>
              </a:ext>
            </a:extLst>
          </p:cNvPr>
          <p:cNvSpPr/>
          <p:nvPr/>
        </p:nvSpPr>
        <p:spPr bwMode="gray">
          <a:xfrm>
            <a:off x="3916057" y="1522741"/>
            <a:ext cx="3161978" cy="476453"/>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Smart Meter Data Analytics</a:t>
            </a:r>
          </a:p>
        </p:txBody>
      </p:sp>
      <p:sp>
        <p:nvSpPr>
          <p:cNvPr id="55" name="Rectangle 54">
            <a:extLst>
              <a:ext uri="{FF2B5EF4-FFF2-40B4-BE49-F238E27FC236}">
                <a16:creationId xmlns:a16="http://schemas.microsoft.com/office/drawing/2014/main" id="{95326387-321D-43A9-A31D-38AEA020B831}"/>
              </a:ext>
            </a:extLst>
          </p:cNvPr>
          <p:cNvSpPr/>
          <p:nvPr/>
        </p:nvSpPr>
        <p:spPr>
          <a:xfrm>
            <a:off x="9033945" y="2602283"/>
            <a:ext cx="2870414" cy="318856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spcBef>
                <a:spcPts val="0"/>
              </a:spcBef>
              <a:spcAft>
                <a:spcPts val="1200"/>
              </a:spcAft>
            </a:pPr>
            <a:r>
              <a:rPr lang="en-US" b="1" dirty="0">
                <a:solidFill>
                  <a:schemeClr val="tx1"/>
                </a:solidFill>
                <a:effectLst/>
                <a:latin typeface="+mj-lt"/>
                <a:ea typeface="Calibri Light" panose="020F0302020204030204" pitchFamily="34" charset="0"/>
                <a:cs typeface="Times New Roman" panose="02020603050405020304" pitchFamily="18" charset="0"/>
              </a:rPr>
              <a:t>Use case </a:t>
            </a:r>
          </a:p>
          <a:p>
            <a:pPr marL="0" marR="0">
              <a:lnSpc>
                <a:spcPts val="1200"/>
              </a:lnSpc>
              <a:spcBef>
                <a:spcPts val="0"/>
              </a:spcBef>
              <a:spcAft>
                <a:spcPts val="0"/>
              </a:spcAft>
            </a:pPr>
            <a:r>
              <a:rPr lang="en-US" sz="1200" b="1" dirty="0">
                <a:solidFill>
                  <a:schemeClr val="tx1"/>
                </a:solidFill>
                <a:effectLst/>
                <a:latin typeface="+mj-lt"/>
                <a:ea typeface="Calibri Light" panose="020F0302020204030204" pitchFamily="34" charset="0"/>
                <a:cs typeface="Times New Roman" panose="02020603050405020304" pitchFamily="18" charset="0"/>
              </a:rPr>
              <a:t>Customer Characterization - Identify applicable tariff category of consumer based on consumption pattern</a:t>
            </a:r>
          </a:p>
          <a:p>
            <a:pPr marL="0" marR="0">
              <a:lnSpc>
                <a:spcPts val="1200"/>
              </a:lnSpc>
              <a:spcBef>
                <a:spcPts val="0"/>
              </a:spcBef>
              <a:spcAft>
                <a:spcPts val="0"/>
              </a:spcAft>
            </a:pPr>
            <a:endParaRPr lang="en-US" sz="1200" dirty="0">
              <a:solidFill>
                <a:schemeClr val="tx1"/>
              </a:solidFill>
              <a:effectLst/>
              <a:latin typeface="+mj-lt"/>
              <a:ea typeface="Calibri Light" panose="020F0302020204030204" pitchFamily="34" charset="0"/>
              <a:cs typeface="Times New Roman" panose="02020603050405020304" pitchFamily="18" charset="0"/>
            </a:endParaRPr>
          </a:p>
          <a:p>
            <a:pPr marL="228600" marR="0" indent="-228600">
              <a:lnSpc>
                <a:spcPts val="1200"/>
              </a:lnSpc>
              <a:spcBef>
                <a:spcPts val="0"/>
              </a:spcBef>
              <a:spcAft>
                <a:spcPts val="0"/>
              </a:spcAft>
              <a:buFont typeface="Arial" panose="020B0604020202020204" pitchFamily="34" charset="0"/>
              <a:buChar char="•"/>
            </a:pPr>
            <a:r>
              <a:rPr lang="en-US" sz="1200" dirty="0">
                <a:solidFill>
                  <a:schemeClr val="tx1"/>
                </a:solidFill>
                <a:effectLst/>
                <a:latin typeface="+mj-lt"/>
                <a:ea typeface="Calibri Light" panose="020F0302020204030204" pitchFamily="34" charset="0"/>
                <a:cs typeface="Times New Roman" panose="02020603050405020304" pitchFamily="18" charset="0"/>
              </a:rPr>
              <a:t>Electricity consumption profiles follow a </a:t>
            </a:r>
            <a:r>
              <a:rPr lang="en-US" sz="1200" b="1" dirty="0">
                <a:solidFill>
                  <a:schemeClr val="tx1"/>
                </a:solidFill>
                <a:effectLst/>
                <a:latin typeface="+mj-lt"/>
                <a:ea typeface="Calibri Light" panose="020F0302020204030204" pitchFamily="34" charset="0"/>
                <a:cs typeface="Times New Roman" panose="02020603050405020304" pitchFamily="18" charset="0"/>
              </a:rPr>
              <a:t>daily, weekly, and seasonal</a:t>
            </a:r>
            <a:r>
              <a:rPr lang="en-US" sz="1200" dirty="0">
                <a:solidFill>
                  <a:schemeClr val="tx1"/>
                </a:solidFill>
                <a:effectLst/>
                <a:latin typeface="+mj-lt"/>
                <a:ea typeface="Calibri Light" panose="020F0302020204030204" pitchFamily="34" charset="0"/>
                <a:cs typeface="Times New Roman" panose="02020603050405020304" pitchFamily="18" charset="0"/>
              </a:rPr>
              <a:t> trends.</a:t>
            </a:r>
          </a:p>
          <a:p>
            <a:pPr marL="228600" marR="0" indent="-228600">
              <a:lnSpc>
                <a:spcPts val="1200"/>
              </a:lnSpc>
              <a:spcBef>
                <a:spcPts val="0"/>
              </a:spcBef>
              <a:spcAft>
                <a:spcPts val="0"/>
              </a:spcAft>
              <a:buFont typeface="Arial" panose="020B0604020202020204" pitchFamily="34" charset="0"/>
              <a:buChar char="•"/>
            </a:pPr>
            <a:endParaRPr lang="en-US" sz="1200" dirty="0">
              <a:solidFill>
                <a:schemeClr val="tx1"/>
              </a:solidFill>
              <a:effectLst/>
              <a:latin typeface="+mj-lt"/>
              <a:ea typeface="Calibri Light" panose="020F0302020204030204" pitchFamily="34" charset="0"/>
              <a:cs typeface="Times New Roman" panose="02020603050405020304" pitchFamily="18" charset="0"/>
            </a:endParaRPr>
          </a:p>
          <a:p>
            <a:pPr marL="228600" marR="0" indent="-228600">
              <a:lnSpc>
                <a:spcPts val="1200"/>
              </a:lnSpc>
              <a:spcBef>
                <a:spcPts val="0"/>
              </a:spcBef>
              <a:spcAft>
                <a:spcPts val="0"/>
              </a:spcAft>
              <a:buFont typeface="Arial" panose="020B0604020202020204" pitchFamily="34" charset="0"/>
              <a:buChar char="•"/>
            </a:pPr>
            <a:r>
              <a:rPr lang="en-US" sz="1200" b="1" dirty="0">
                <a:solidFill>
                  <a:schemeClr val="tx1"/>
                </a:solidFill>
                <a:effectLst/>
                <a:latin typeface="+mj-lt"/>
                <a:ea typeface="Calibri Light" panose="020F0302020204030204" pitchFamily="34" charset="0"/>
                <a:cs typeface="Times New Roman" panose="02020603050405020304" pitchFamily="18" charset="0"/>
              </a:rPr>
              <a:t>Consumption Data</a:t>
            </a:r>
            <a:r>
              <a:rPr lang="en-US" sz="1200" dirty="0">
                <a:solidFill>
                  <a:schemeClr val="tx1"/>
                </a:solidFill>
                <a:effectLst/>
                <a:latin typeface="+mj-lt"/>
                <a:ea typeface="Calibri Light" panose="020F0302020204030204" pitchFamily="34" charset="0"/>
                <a:cs typeface="Times New Roman" panose="02020603050405020304" pitchFamily="18" charset="0"/>
              </a:rPr>
              <a:t> from meters </a:t>
            </a:r>
            <a:r>
              <a:rPr lang="en-US" sz="1200" b="1" dirty="0">
                <a:solidFill>
                  <a:schemeClr val="tx1"/>
                </a:solidFill>
                <a:effectLst/>
                <a:latin typeface="+mj-lt"/>
                <a:ea typeface="Calibri Light" panose="020F0302020204030204" pitchFamily="34" charset="0"/>
                <a:cs typeface="Times New Roman" panose="02020603050405020304" pitchFamily="18" charset="0"/>
              </a:rPr>
              <a:t>may be compared with benchmarked consumption data of consumers to identify tariff category</a:t>
            </a:r>
            <a:r>
              <a:rPr lang="en-US" sz="1200" dirty="0">
                <a:solidFill>
                  <a:schemeClr val="tx1"/>
                </a:solidFill>
                <a:effectLst/>
                <a:latin typeface="+mj-lt"/>
                <a:ea typeface="Calibri Light" panose="020F0302020204030204" pitchFamily="34" charset="0"/>
                <a:cs typeface="Times New Roman" panose="02020603050405020304" pitchFamily="18" charset="0"/>
              </a:rPr>
              <a:t> the consumer belongs to</a:t>
            </a:r>
            <a:endParaRPr lang="en-US" sz="1200" dirty="0">
              <a:solidFill>
                <a:schemeClr val="tx1"/>
              </a:solidFill>
              <a:latin typeface="+mj-lt"/>
              <a:ea typeface="Calibri Light" panose="020F0302020204030204" pitchFamily="34" charset="0"/>
              <a:cs typeface="Times New Roman" panose="02020603050405020304" pitchFamily="18" charset="0"/>
            </a:endParaRPr>
          </a:p>
        </p:txBody>
      </p:sp>
    </p:spTree>
    <p:extLst>
      <p:ext uri="{BB962C8B-B14F-4D97-AF65-F5344CB8AC3E}">
        <p14:creationId xmlns:p14="http://schemas.microsoft.com/office/powerpoint/2010/main" val="40208280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itle 3">
            <a:extLst>
              <a:ext uri="{FF2B5EF4-FFF2-40B4-BE49-F238E27FC236}">
                <a16:creationId xmlns:a16="http://schemas.microsoft.com/office/drawing/2014/main" id="{94F6A868-65C2-4A4E-B14A-EA85DDBC4A05}"/>
              </a:ext>
            </a:extLst>
          </p:cNvPr>
          <p:cNvSpPr>
            <a:spLocks noGrp="1"/>
          </p:cNvSpPr>
          <p:nvPr>
            <p:ph type="title"/>
          </p:nvPr>
        </p:nvSpPr>
        <p:spPr>
          <a:xfrm>
            <a:off x="488936" y="252922"/>
            <a:ext cx="11188700" cy="368299"/>
          </a:xfrm>
        </p:spPr>
        <p:txBody>
          <a:bodyPr vert="horz"/>
          <a:lstStyle/>
          <a:p>
            <a:pPr algn="just"/>
            <a:r>
              <a:rPr lang="en-US" sz="1800" i="0" dirty="0">
                <a:solidFill>
                  <a:schemeClr val="tx1"/>
                </a:solidFill>
                <a:latin typeface="+mj-lt"/>
              </a:rPr>
              <a:t>Benefits to WBSEDCL (1/2)</a:t>
            </a:r>
          </a:p>
        </p:txBody>
      </p:sp>
      <p:sp>
        <p:nvSpPr>
          <p:cNvPr id="53" name="TextBox 52">
            <a:extLst>
              <a:ext uri="{FF2B5EF4-FFF2-40B4-BE49-F238E27FC236}">
                <a16:creationId xmlns:a16="http://schemas.microsoft.com/office/drawing/2014/main" id="{FB296757-6A39-43A2-84A9-35DD0764C249}"/>
              </a:ext>
            </a:extLst>
          </p:cNvPr>
          <p:cNvSpPr txBox="1"/>
          <p:nvPr/>
        </p:nvSpPr>
        <p:spPr>
          <a:xfrm>
            <a:off x="392327" y="621221"/>
            <a:ext cx="6098058" cy="338554"/>
          </a:xfrm>
          <a:prstGeom prst="rect">
            <a:avLst/>
          </a:prstGeom>
          <a:noFill/>
        </p:spPr>
        <p:txBody>
          <a:bodyPr wrap="square">
            <a:spAutoFit/>
          </a:bodyPr>
          <a:lstStyle/>
          <a:p>
            <a:r>
              <a:rPr lang="en-US" sz="1600" dirty="0">
                <a:effectLst/>
                <a:latin typeface="+mj-lt"/>
                <a:ea typeface="Calibri Light" panose="020F0302020204030204" pitchFamily="34" charset="0"/>
                <a:cs typeface="Times New Roman" panose="02020603050405020304" pitchFamily="18" charset="0"/>
              </a:rPr>
              <a:t>Benefits for Customers and Utilities</a:t>
            </a:r>
            <a:endParaRPr lang="en-US" sz="1600" dirty="0">
              <a:latin typeface="+mj-lt"/>
            </a:endParaRPr>
          </a:p>
        </p:txBody>
      </p:sp>
      <p:sp>
        <p:nvSpPr>
          <p:cNvPr id="54" name="TextBox 53">
            <a:extLst>
              <a:ext uri="{FF2B5EF4-FFF2-40B4-BE49-F238E27FC236}">
                <a16:creationId xmlns:a16="http://schemas.microsoft.com/office/drawing/2014/main" id="{701C97F7-03E7-470D-B76C-F533B43181B0}"/>
              </a:ext>
            </a:extLst>
          </p:cNvPr>
          <p:cNvSpPr txBox="1"/>
          <p:nvPr/>
        </p:nvSpPr>
        <p:spPr>
          <a:xfrm>
            <a:off x="247136" y="989520"/>
            <a:ext cx="11590638" cy="1600438"/>
          </a:xfrm>
          <a:prstGeom prst="rect">
            <a:avLst/>
          </a:prstGeom>
          <a:noFill/>
        </p:spPr>
        <p:txBody>
          <a:bodyPr wrap="square">
            <a:spAutoFit/>
          </a:bodyPr>
          <a:lstStyle/>
          <a:p>
            <a:pPr marL="285750" indent="-285750">
              <a:buFont typeface="Arial" panose="020B0604020202020204" pitchFamily="34" charset="0"/>
              <a:buChar char="•"/>
            </a:pPr>
            <a:r>
              <a:rPr lang="en-US" sz="1400" dirty="0"/>
              <a:t>Improvement in Meter Reading, Billing and Collection (MBC) from remote billing and metering services is a major benefit of implementation of AMI in Utilities.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AMI helps in enhancing revenue collection and bring about improvement in customer service and satisfaction</a:t>
            </a:r>
          </a:p>
          <a:p>
            <a:pPr marL="285750" indent="-285750">
              <a:buFont typeface="Arial" panose="020B0604020202020204" pitchFamily="34" charset="0"/>
              <a:buChar char="•"/>
            </a:pPr>
            <a:endParaRPr lang="en-US" sz="1400" dirty="0">
              <a:effectLst/>
              <a:ea typeface="Calibri Light" panose="020F0302020204030204" pitchFamily="34" charset="0"/>
              <a:cs typeface="Times New Roman" panose="02020603050405020304" pitchFamily="18" charset="0"/>
            </a:endParaRPr>
          </a:p>
          <a:p>
            <a:pPr marL="285750" indent="-285750">
              <a:buFont typeface="Arial" panose="020B0604020202020204" pitchFamily="34" charset="0"/>
              <a:buChar char="•"/>
            </a:pPr>
            <a:r>
              <a:rPr lang="en-US" sz="1400" dirty="0">
                <a:effectLst/>
                <a:ea typeface="Calibri Light" panose="020F0302020204030204" pitchFamily="34" charset="0"/>
                <a:cs typeface="Times New Roman" panose="02020603050405020304" pitchFamily="18" charset="0"/>
              </a:rPr>
              <a:t>AMI projects demonstrate that AMI and customer systems can achieve substantial grid impacts and benefits for customers and utilities as follows:</a:t>
            </a:r>
            <a:endParaRPr lang="en-US" sz="1400" dirty="0"/>
          </a:p>
        </p:txBody>
      </p:sp>
      <p:sp>
        <p:nvSpPr>
          <p:cNvPr id="64" name="Rectangle 63">
            <a:extLst>
              <a:ext uri="{FF2B5EF4-FFF2-40B4-BE49-F238E27FC236}">
                <a16:creationId xmlns:a16="http://schemas.microsoft.com/office/drawing/2014/main" id="{AE007EDF-F5B5-4EAB-8E43-F8383CD25564}"/>
              </a:ext>
            </a:extLst>
          </p:cNvPr>
          <p:cNvSpPr/>
          <p:nvPr/>
        </p:nvSpPr>
        <p:spPr>
          <a:xfrm>
            <a:off x="3044855" y="2861257"/>
            <a:ext cx="8880007" cy="2961757"/>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R="0">
              <a:spcBef>
                <a:spcPts val="0"/>
              </a:spcBef>
              <a:spcAft>
                <a:spcPts val="1200"/>
              </a:spcAft>
            </a:pPr>
            <a:endParaRPr lang="en-US" sz="1400" b="1" dirty="0">
              <a:effectLst/>
              <a:ea typeface="Calibri Light" panose="020F0302020204030204" pitchFamily="34" charset="0"/>
              <a:cs typeface="Times New Roman" panose="02020603050405020304" pitchFamily="18" charset="0"/>
            </a:endParaRPr>
          </a:p>
          <a:p>
            <a:pPr marL="285750" indent="-285750">
              <a:spcAft>
                <a:spcPts val="1200"/>
              </a:spcAft>
              <a:buFont typeface="Wingdings" panose="05000000000000000000" pitchFamily="2" charset="2"/>
              <a:buChar char="q"/>
            </a:pPr>
            <a:r>
              <a:rPr lang="en-US" sz="1400" dirty="0">
                <a:effectLst/>
                <a:ea typeface="Calibri Light" panose="020F0302020204030204" pitchFamily="34" charset="0"/>
                <a:cs typeface="Times New Roman" panose="02020603050405020304" pitchFamily="18" charset="0"/>
              </a:rPr>
              <a:t>Remote meter reading using AMI generates more timely, accurate bills; also, </a:t>
            </a:r>
            <a:r>
              <a:rPr lang="en-US" sz="1400" dirty="0"/>
              <a:t>WBSEDCL will be able to execute remote service connection and disconnection orders in hours instead of days</a:t>
            </a:r>
          </a:p>
          <a:p>
            <a:pPr marL="285750" indent="-285750">
              <a:spcAft>
                <a:spcPts val="1200"/>
              </a:spcAft>
              <a:buFont typeface="Wingdings" panose="05000000000000000000" pitchFamily="2" charset="2"/>
              <a:buChar char="q"/>
            </a:pPr>
            <a:endParaRPr lang="en-US" sz="1400" dirty="0"/>
          </a:p>
          <a:p>
            <a:pPr marL="285750" indent="-285750">
              <a:spcAft>
                <a:spcPts val="1200"/>
              </a:spcAft>
              <a:buFont typeface="Wingdings" panose="05000000000000000000" pitchFamily="2" charset="2"/>
              <a:buChar char="q"/>
            </a:pPr>
            <a:r>
              <a:rPr lang="en-US" sz="1400" dirty="0"/>
              <a:t>WBSEDCL would be able to improve billing accuracy, reduced customer complaint and use AMI data to resolve billing disputes faster</a:t>
            </a:r>
          </a:p>
          <a:p>
            <a:pPr marL="285750" indent="-285750">
              <a:spcAft>
                <a:spcPts val="1200"/>
              </a:spcAft>
              <a:buFont typeface="Wingdings" panose="05000000000000000000" pitchFamily="2" charset="2"/>
              <a:buChar char="q"/>
            </a:pPr>
            <a:endParaRPr lang="en-US" sz="1400" dirty="0">
              <a:effectLst/>
              <a:ea typeface="Calibri Light" panose="020F0302020204030204" pitchFamily="34" charset="0"/>
              <a:cs typeface="Times New Roman" panose="02020603050405020304" pitchFamily="18" charset="0"/>
            </a:endParaRPr>
          </a:p>
          <a:p>
            <a:pPr marL="285750" indent="-285750">
              <a:spcAft>
                <a:spcPts val="1200"/>
              </a:spcAft>
              <a:buFont typeface="Wingdings" panose="05000000000000000000" pitchFamily="2" charset="2"/>
              <a:buChar char="q"/>
            </a:pPr>
            <a:r>
              <a:rPr lang="en-US" sz="1400" dirty="0">
                <a:effectLst/>
                <a:ea typeface="Calibri Light" panose="020F0302020204030204" pitchFamily="34" charset="0"/>
                <a:cs typeface="Times New Roman" panose="02020603050405020304" pitchFamily="18" charset="0"/>
              </a:rPr>
              <a:t>Provisional billing estimation accuracy and precision shall be enhanced significantly.</a:t>
            </a:r>
            <a:endParaRPr lang="en-US" sz="1400" dirty="0"/>
          </a:p>
        </p:txBody>
      </p:sp>
      <p:sp>
        <p:nvSpPr>
          <p:cNvPr id="66" name="Rectangle 65">
            <a:extLst>
              <a:ext uri="{FF2B5EF4-FFF2-40B4-BE49-F238E27FC236}">
                <a16:creationId xmlns:a16="http://schemas.microsoft.com/office/drawing/2014/main" id="{71CE2961-458E-444D-B886-F7034ADE7295}"/>
              </a:ext>
            </a:extLst>
          </p:cNvPr>
          <p:cNvSpPr/>
          <p:nvPr/>
        </p:nvSpPr>
        <p:spPr>
          <a:xfrm>
            <a:off x="334224" y="2861257"/>
            <a:ext cx="2550493" cy="2961757"/>
          </a:xfrm>
          <a:prstGeom prst="rect">
            <a:avLst/>
          </a:prstGeom>
          <a:solidFill>
            <a:srgbClr val="004F5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R="0">
              <a:spcBef>
                <a:spcPts val="0"/>
              </a:spcBef>
              <a:spcAft>
                <a:spcPts val="1200"/>
              </a:spcAft>
            </a:pPr>
            <a:r>
              <a:rPr lang="en-US" sz="1400" b="1" dirty="0">
                <a:effectLst/>
                <a:ea typeface="Calibri Light" panose="020F0302020204030204" pitchFamily="34" charset="0"/>
                <a:cs typeface="Times New Roman" panose="02020603050405020304" pitchFamily="18" charset="0"/>
              </a:rPr>
              <a:t>1. Reduced costs for metering and billing</a:t>
            </a:r>
            <a:r>
              <a:rPr lang="en-US" sz="1400" dirty="0">
                <a:effectLst/>
                <a:ea typeface="Calibri Light" panose="020F0302020204030204" pitchFamily="34" charset="0"/>
                <a:cs typeface="Times New Roman" panose="02020603050405020304" pitchFamily="18" charset="0"/>
              </a:rPr>
              <a:t>.</a:t>
            </a:r>
            <a:endParaRPr lang="en-US" sz="1400" dirty="0"/>
          </a:p>
        </p:txBody>
      </p:sp>
    </p:spTree>
    <p:extLst>
      <p:ext uri="{BB962C8B-B14F-4D97-AF65-F5344CB8AC3E}">
        <p14:creationId xmlns:p14="http://schemas.microsoft.com/office/powerpoint/2010/main" val="286513813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itle 3">
            <a:extLst>
              <a:ext uri="{FF2B5EF4-FFF2-40B4-BE49-F238E27FC236}">
                <a16:creationId xmlns:a16="http://schemas.microsoft.com/office/drawing/2014/main" id="{94F6A868-65C2-4A4E-B14A-EA85DDBC4A05}"/>
              </a:ext>
            </a:extLst>
          </p:cNvPr>
          <p:cNvSpPr>
            <a:spLocks noGrp="1"/>
          </p:cNvSpPr>
          <p:nvPr>
            <p:ph type="title"/>
          </p:nvPr>
        </p:nvSpPr>
        <p:spPr>
          <a:xfrm>
            <a:off x="488936" y="252922"/>
            <a:ext cx="11188700" cy="368299"/>
          </a:xfrm>
        </p:spPr>
        <p:txBody>
          <a:bodyPr vert="horz"/>
          <a:lstStyle/>
          <a:p>
            <a:pPr algn="just"/>
            <a:r>
              <a:rPr lang="en-US" sz="1800" i="0" dirty="0">
                <a:solidFill>
                  <a:schemeClr val="tx1"/>
                </a:solidFill>
                <a:latin typeface="+mj-lt"/>
              </a:rPr>
              <a:t>Benefits to WBSEDCL (2/2)</a:t>
            </a:r>
          </a:p>
        </p:txBody>
      </p:sp>
      <p:sp>
        <p:nvSpPr>
          <p:cNvPr id="64" name="Rectangle 63">
            <a:extLst>
              <a:ext uri="{FF2B5EF4-FFF2-40B4-BE49-F238E27FC236}">
                <a16:creationId xmlns:a16="http://schemas.microsoft.com/office/drawing/2014/main" id="{AE007EDF-F5B5-4EAB-8E43-F8383CD25564}"/>
              </a:ext>
            </a:extLst>
          </p:cNvPr>
          <p:cNvSpPr/>
          <p:nvPr/>
        </p:nvSpPr>
        <p:spPr>
          <a:xfrm>
            <a:off x="3023081" y="3057202"/>
            <a:ext cx="8880007" cy="1188227"/>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85750" marR="0" indent="-285750">
              <a:spcBef>
                <a:spcPts val="0"/>
              </a:spcBef>
              <a:spcAft>
                <a:spcPts val="1200"/>
              </a:spcAft>
              <a:buFont typeface="Wingdings" panose="05000000000000000000" pitchFamily="2" charset="2"/>
              <a:buChar char="q"/>
            </a:pPr>
            <a:r>
              <a:rPr lang="en-US" sz="1400" dirty="0">
                <a:effectLst/>
                <a:ea typeface="Calibri Light" panose="020F0302020204030204" pitchFamily="34" charset="0"/>
                <a:cs typeface="Times New Roman" panose="02020603050405020304" pitchFamily="18" charset="0"/>
              </a:rPr>
              <a:t>Lower utility capital expenditures leading to customer bill savings</a:t>
            </a:r>
          </a:p>
          <a:p>
            <a:pPr marL="285750" marR="0" indent="-285750">
              <a:spcBef>
                <a:spcPts val="0"/>
              </a:spcBef>
              <a:spcAft>
                <a:spcPts val="1200"/>
              </a:spcAft>
              <a:buFont typeface="Wingdings" panose="05000000000000000000" pitchFamily="2" charset="2"/>
              <a:buChar char="q"/>
            </a:pPr>
            <a:r>
              <a:rPr lang="en-US" sz="1400" dirty="0">
                <a:effectLst/>
                <a:ea typeface="Calibri Light" panose="020F0302020204030204" pitchFamily="34" charset="0"/>
                <a:cs typeface="Times New Roman" panose="02020603050405020304" pitchFamily="18" charset="0"/>
              </a:rPr>
              <a:t>Smart meter data will help WBSEDCL in taking informed decision on Demand Management, improve its asset utilization and plan maintenance activity</a:t>
            </a:r>
          </a:p>
        </p:txBody>
      </p:sp>
      <p:sp>
        <p:nvSpPr>
          <p:cNvPr id="66" name="Rectangle 65">
            <a:extLst>
              <a:ext uri="{FF2B5EF4-FFF2-40B4-BE49-F238E27FC236}">
                <a16:creationId xmlns:a16="http://schemas.microsoft.com/office/drawing/2014/main" id="{71CE2961-458E-444D-B886-F7034ADE7295}"/>
              </a:ext>
            </a:extLst>
          </p:cNvPr>
          <p:cNvSpPr/>
          <p:nvPr/>
        </p:nvSpPr>
        <p:spPr>
          <a:xfrm>
            <a:off x="312450" y="3057202"/>
            <a:ext cx="2550493" cy="118822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R="0">
              <a:spcBef>
                <a:spcPts val="0"/>
              </a:spcBef>
              <a:spcAft>
                <a:spcPts val="1200"/>
              </a:spcAft>
            </a:pPr>
            <a:r>
              <a:rPr lang="en-US" sz="1400" b="1" dirty="0">
                <a:effectLst/>
                <a:ea typeface="Calibri Light" panose="020F0302020204030204" pitchFamily="34" charset="0"/>
                <a:cs typeface="Times New Roman" panose="02020603050405020304" pitchFamily="18" charset="0"/>
              </a:rPr>
              <a:t>3. Lower utility capital expenditures</a:t>
            </a:r>
            <a:endParaRPr lang="en-US" sz="1400" dirty="0"/>
          </a:p>
        </p:txBody>
      </p:sp>
      <p:sp>
        <p:nvSpPr>
          <p:cNvPr id="7" name="Rectangle 6">
            <a:extLst>
              <a:ext uri="{FF2B5EF4-FFF2-40B4-BE49-F238E27FC236}">
                <a16:creationId xmlns:a16="http://schemas.microsoft.com/office/drawing/2014/main" id="{6BC7AEEF-64D5-46D9-A979-F8357D32252F}"/>
              </a:ext>
            </a:extLst>
          </p:cNvPr>
          <p:cNvSpPr/>
          <p:nvPr/>
        </p:nvSpPr>
        <p:spPr>
          <a:xfrm>
            <a:off x="3023080" y="4685459"/>
            <a:ext cx="8880007" cy="1405942"/>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85750" marR="0" indent="-285750">
              <a:spcBef>
                <a:spcPts val="0"/>
              </a:spcBef>
              <a:spcAft>
                <a:spcPts val="1200"/>
              </a:spcAft>
              <a:buFont typeface="Wingdings" panose="05000000000000000000" pitchFamily="2" charset="2"/>
              <a:buChar char="q"/>
            </a:pPr>
            <a:r>
              <a:rPr lang="en-US" sz="1400" dirty="0">
                <a:effectLst/>
                <a:ea typeface="Calibri Light" panose="020F0302020204030204" pitchFamily="34" charset="0"/>
                <a:cs typeface="Times New Roman" panose="02020603050405020304" pitchFamily="18" charset="0"/>
              </a:rPr>
              <a:t>Lower outage costs and fewer inconveniences for customers from faster outage restoration</a:t>
            </a:r>
          </a:p>
          <a:p>
            <a:pPr marL="285750" marR="0" indent="-285750">
              <a:spcBef>
                <a:spcPts val="0"/>
              </a:spcBef>
              <a:spcAft>
                <a:spcPts val="1200"/>
              </a:spcAft>
              <a:buFont typeface="Wingdings" panose="05000000000000000000" pitchFamily="2" charset="2"/>
              <a:buChar char="q"/>
            </a:pPr>
            <a:r>
              <a:rPr lang="en-US" sz="1400" dirty="0">
                <a:effectLst/>
                <a:ea typeface="Calibri Light" panose="020F0302020204030204" pitchFamily="34" charset="0"/>
                <a:cs typeface="Times New Roman" panose="02020603050405020304" pitchFamily="18" charset="0"/>
              </a:rPr>
              <a:t>Crew mobilization; Precise dispatching of repair crews to the locations where they are needed</a:t>
            </a:r>
          </a:p>
        </p:txBody>
      </p:sp>
      <p:sp>
        <p:nvSpPr>
          <p:cNvPr id="8" name="Rectangle 7">
            <a:extLst>
              <a:ext uri="{FF2B5EF4-FFF2-40B4-BE49-F238E27FC236}">
                <a16:creationId xmlns:a16="http://schemas.microsoft.com/office/drawing/2014/main" id="{100CC30C-20A9-42E6-B0C3-1EEA6B9467CD}"/>
              </a:ext>
            </a:extLst>
          </p:cNvPr>
          <p:cNvSpPr/>
          <p:nvPr/>
        </p:nvSpPr>
        <p:spPr>
          <a:xfrm>
            <a:off x="312449" y="4685459"/>
            <a:ext cx="2550493" cy="1405942"/>
          </a:xfrm>
          <a:prstGeom prst="rect">
            <a:avLst/>
          </a:prstGeom>
          <a:solidFill>
            <a:srgbClr val="86BC2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R="0">
              <a:spcBef>
                <a:spcPts val="0"/>
              </a:spcBef>
              <a:spcAft>
                <a:spcPts val="1200"/>
              </a:spcAft>
            </a:pPr>
            <a:r>
              <a:rPr lang="en-US" sz="1400" b="1" dirty="0">
                <a:effectLst/>
                <a:ea typeface="Calibri Light" panose="020F0302020204030204" pitchFamily="34" charset="0"/>
                <a:cs typeface="Times New Roman" panose="02020603050405020304" pitchFamily="18" charset="0"/>
              </a:rPr>
              <a:t>4. Faster outage restoration</a:t>
            </a:r>
            <a:endParaRPr lang="en-US" sz="1400" dirty="0"/>
          </a:p>
        </p:txBody>
      </p:sp>
      <p:sp>
        <p:nvSpPr>
          <p:cNvPr id="11" name="Rectangle 10">
            <a:extLst>
              <a:ext uri="{FF2B5EF4-FFF2-40B4-BE49-F238E27FC236}">
                <a16:creationId xmlns:a16="http://schemas.microsoft.com/office/drawing/2014/main" id="{F2ED5944-8E43-4DF8-9950-DC67AA5637DD}"/>
              </a:ext>
            </a:extLst>
          </p:cNvPr>
          <p:cNvSpPr/>
          <p:nvPr/>
        </p:nvSpPr>
        <p:spPr>
          <a:xfrm>
            <a:off x="3023080" y="1211230"/>
            <a:ext cx="8880007" cy="1405942"/>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85750" marR="0" indent="-285750">
              <a:spcBef>
                <a:spcPts val="0"/>
              </a:spcBef>
              <a:spcAft>
                <a:spcPts val="1200"/>
              </a:spcAft>
              <a:buFont typeface="Wingdings" panose="05000000000000000000" pitchFamily="2" charset="2"/>
              <a:buChar char="q"/>
            </a:pPr>
            <a:r>
              <a:rPr lang="en-US" sz="1400" dirty="0">
                <a:effectLst/>
                <a:ea typeface="Calibri Light" panose="020F0302020204030204" pitchFamily="34" charset="0"/>
                <a:cs typeface="Times New Roman" panose="02020603050405020304" pitchFamily="18" charset="0"/>
              </a:rPr>
              <a:t>More customer control over electricity consumption, costs, and bills </a:t>
            </a:r>
          </a:p>
          <a:p>
            <a:pPr marL="285750" marR="0" indent="-285750">
              <a:spcBef>
                <a:spcPts val="0"/>
              </a:spcBef>
              <a:spcAft>
                <a:spcPts val="1200"/>
              </a:spcAft>
              <a:buFont typeface="Wingdings" panose="05000000000000000000" pitchFamily="2" charset="2"/>
              <a:buChar char="q"/>
            </a:pPr>
            <a:r>
              <a:rPr lang="en-US" sz="1400" dirty="0">
                <a:effectLst/>
                <a:ea typeface="Calibri Light" panose="020F0302020204030204" pitchFamily="34" charset="0"/>
                <a:cs typeface="Times New Roman" panose="02020603050405020304" pitchFamily="18" charset="0"/>
              </a:rPr>
              <a:t>It facilitates greater use of new customer tools (e.g., web portals and smart electrical devices) and techniques (e.g., shifting demand to off-peak periods).</a:t>
            </a:r>
          </a:p>
        </p:txBody>
      </p:sp>
      <p:sp>
        <p:nvSpPr>
          <p:cNvPr id="12" name="Rectangle 11">
            <a:extLst>
              <a:ext uri="{FF2B5EF4-FFF2-40B4-BE49-F238E27FC236}">
                <a16:creationId xmlns:a16="http://schemas.microsoft.com/office/drawing/2014/main" id="{75AC3E7B-6756-4102-AE20-9575A5883A10}"/>
              </a:ext>
            </a:extLst>
          </p:cNvPr>
          <p:cNvSpPr/>
          <p:nvPr/>
        </p:nvSpPr>
        <p:spPr>
          <a:xfrm>
            <a:off x="312449" y="1211230"/>
            <a:ext cx="2550493" cy="1405942"/>
          </a:xfrm>
          <a:prstGeom prst="rect">
            <a:avLst/>
          </a:prstGeom>
          <a:solidFill>
            <a:srgbClr val="E3E4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R="0">
              <a:spcBef>
                <a:spcPts val="0"/>
              </a:spcBef>
              <a:spcAft>
                <a:spcPts val="1200"/>
              </a:spcAft>
            </a:pPr>
            <a:r>
              <a:rPr lang="en-US" sz="1400" b="1" dirty="0">
                <a:solidFill>
                  <a:schemeClr val="tx1"/>
                </a:solidFill>
                <a:effectLst/>
                <a:ea typeface="Calibri Light" panose="020F0302020204030204" pitchFamily="34" charset="0"/>
                <a:cs typeface="Times New Roman" panose="02020603050405020304" pitchFamily="18" charset="0"/>
              </a:rPr>
              <a:t>2. Enhanced customer control</a:t>
            </a:r>
            <a:endParaRPr lang="en-US" sz="1400" dirty="0">
              <a:solidFill>
                <a:schemeClr val="tx1"/>
              </a:solidFill>
            </a:endParaRPr>
          </a:p>
        </p:txBody>
      </p:sp>
    </p:spTree>
    <p:extLst>
      <p:ext uri="{BB962C8B-B14F-4D97-AF65-F5344CB8AC3E}">
        <p14:creationId xmlns:p14="http://schemas.microsoft.com/office/powerpoint/2010/main" val="170131341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itle 3">
            <a:extLst>
              <a:ext uri="{FF2B5EF4-FFF2-40B4-BE49-F238E27FC236}">
                <a16:creationId xmlns:a16="http://schemas.microsoft.com/office/drawing/2014/main" id="{94F6A868-65C2-4A4E-B14A-EA85DDBC4A05}"/>
              </a:ext>
            </a:extLst>
          </p:cNvPr>
          <p:cNvSpPr>
            <a:spLocks noGrp="1"/>
          </p:cNvSpPr>
          <p:nvPr>
            <p:ph type="title"/>
          </p:nvPr>
        </p:nvSpPr>
        <p:spPr>
          <a:xfrm>
            <a:off x="488936" y="252922"/>
            <a:ext cx="11188700" cy="368299"/>
          </a:xfrm>
        </p:spPr>
        <p:txBody>
          <a:bodyPr vert="horz"/>
          <a:lstStyle/>
          <a:p>
            <a:pPr algn="just"/>
            <a:r>
              <a:rPr lang="en-US" sz="1800" i="0" dirty="0">
                <a:solidFill>
                  <a:schemeClr val="tx1"/>
                </a:solidFill>
                <a:latin typeface="+mj-lt"/>
              </a:rPr>
              <a:t>Important contributor to Operation and Maintenance (O&amp;M) activities</a:t>
            </a:r>
          </a:p>
        </p:txBody>
      </p:sp>
      <p:sp>
        <p:nvSpPr>
          <p:cNvPr id="7" name="TextBox 6">
            <a:extLst>
              <a:ext uri="{FF2B5EF4-FFF2-40B4-BE49-F238E27FC236}">
                <a16:creationId xmlns:a16="http://schemas.microsoft.com/office/drawing/2014/main" id="{D5776852-D88A-49E3-8619-F4FDCBDB4B8D}"/>
              </a:ext>
            </a:extLst>
          </p:cNvPr>
          <p:cNvSpPr txBox="1"/>
          <p:nvPr/>
        </p:nvSpPr>
        <p:spPr>
          <a:xfrm>
            <a:off x="488935" y="744809"/>
            <a:ext cx="11365607" cy="523220"/>
          </a:xfrm>
          <a:prstGeom prst="rect">
            <a:avLst/>
          </a:prstGeom>
          <a:noFill/>
        </p:spPr>
        <p:txBody>
          <a:bodyPr wrap="square">
            <a:spAutoFit/>
          </a:bodyPr>
          <a:lstStyle/>
          <a:p>
            <a:pPr algn="just"/>
            <a:r>
              <a:rPr lang="en-US" sz="1400" dirty="0"/>
              <a:t>AMI can be an important contributor to outage management, service restoration, and voltage monitoring and should be implemented as part of investments in distribution automation technologies,</a:t>
            </a:r>
          </a:p>
        </p:txBody>
      </p:sp>
      <p:graphicFrame>
        <p:nvGraphicFramePr>
          <p:cNvPr id="5" name="Diagram 4">
            <a:extLst>
              <a:ext uri="{FF2B5EF4-FFF2-40B4-BE49-F238E27FC236}">
                <a16:creationId xmlns:a16="http://schemas.microsoft.com/office/drawing/2014/main" id="{53EEBACF-C34F-4359-BD42-857E13396DF6}"/>
              </a:ext>
            </a:extLst>
          </p:cNvPr>
          <p:cNvGraphicFramePr/>
          <p:nvPr>
            <p:extLst>
              <p:ext uri="{D42A27DB-BD31-4B8C-83A1-F6EECF244321}">
                <p14:modId xmlns:p14="http://schemas.microsoft.com/office/powerpoint/2010/main" val="1116913600"/>
              </p:ext>
            </p:extLst>
          </p:nvPr>
        </p:nvGraphicFramePr>
        <p:xfrm>
          <a:off x="488936" y="1589313"/>
          <a:ext cx="7697121" cy="48332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a:extLst>
              <a:ext uri="{FF2B5EF4-FFF2-40B4-BE49-F238E27FC236}">
                <a16:creationId xmlns:a16="http://schemas.microsoft.com/office/drawing/2014/main" id="{8C7304AC-8ED4-492B-9E55-8ADA0E09F176}"/>
              </a:ext>
            </a:extLst>
          </p:cNvPr>
          <p:cNvSpPr/>
          <p:nvPr/>
        </p:nvSpPr>
        <p:spPr>
          <a:xfrm>
            <a:off x="8458200" y="1589313"/>
            <a:ext cx="3603172" cy="3243944"/>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just">
              <a:lnSpc>
                <a:spcPts val="1200"/>
              </a:lnSpc>
              <a:spcBef>
                <a:spcPts val="0"/>
              </a:spcBef>
              <a:spcAft>
                <a:spcPts val="1200"/>
              </a:spcAft>
            </a:pPr>
            <a:r>
              <a:rPr lang="en-US" sz="1200" b="1" dirty="0">
                <a:solidFill>
                  <a:schemeClr val="tx1"/>
                </a:solidFill>
                <a:effectLst/>
                <a:ea typeface="Calibri Light" panose="020F0302020204030204" pitchFamily="34" charset="0"/>
                <a:cs typeface="Times New Roman" panose="02020603050405020304" pitchFamily="18" charset="0"/>
              </a:rPr>
              <a:t>Use case </a:t>
            </a:r>
            <a:endParaRPr lang="en-US" sz="1200" dirty="0">
              <a:solidFill>
                <a:schemeClr val="tx1"/>
              </a:solidFill>
              <a:effectLst/>
              <a:ea typeface="Calibri Light" panose="020F0302020204030204" pitchFamily="34" charset="0"/>
              <a:cs typeface="Times New Roman" panose="02020603050405020304" pitchFamily="18" charset="0"/>
            </a:endParaRPr>
          </a:p>
          <a:p>
            <a:pPr marL="0" marR="0" algn="just">
              <a:lnSpc>
                <a:spcPts val="1200"/>
              </a:lnSpc>
              <a:spcBef>
                <a:spcPts val="0"/>
              </a:spcBef>
              <a:spcAft>
                <a:spcPts val="0"/>
              </a:spcAft>
            </a:pPr>
            <a:r>
              <a:rPr lang="en-US" sz="1200" b="1" dirty="0">
                <a:solidFill>
                  <a:schemeClr val="tx1"/>
                </a:solidFill>
                <a:effectLst/>
                <a:ea typeface="Calibri Light" panose="020F0302020204030204" pitchFamily="34" charset="0"/>
                <a:cs typeface="Times New Roman" panose="02020603050405020304" pitchFamily="18" charset="0"/>
              </a:rPr>
              <a:t>Monitor power quality of Distribution Transformer – Identify useful life of transformer, enhance capacity, or replace transformer </a:t>
            </a:r>
            <a:endParaRPr lang="en-US" sz="1200" dirty="0">
              <a:solidFill>
                <a:schemeClr val="tx1"/>
              </a:solidFill>
              <a:effectLst/>
              <a:ea typeface="Calibri Light" panose="020F0302020204030204" pitchFamily="34" charset="0"/>
              <a:cs typeface="Times New Roman" panose="02020603050405020304" pitchFamily="18" charset="0"/>
            </a:endParaRPr>
          </a:p>
          <a:p>
            <a:pPr marL="0" marR="0" algn="just">
              <a:lnSpc>
                <a:spcPts val="1200"/>
              </a:lnSpc>
              <a:spcBef>
                <a:spcPts val="0"/>
              </a:spcBef>
              <a:spcAft>
                <a:spcPts val="0"/>
              </a:spcAft>
            </a:pPr>
            <a:r>
              <a:rPr lang="en-US" sz="1200" dirty="0">
                <a:solidFill>
                  <a:schemeClr val="tx1"/>
                </a:solidFill>
                <a:effectLst/>
                <a:ea typeface="Calibri Light" panose="020F0302020204030204" pitchFamily="34" charset="0"/>
                <a:cs typeface="Times New Roman" panose="02020603050405020304" pitchFamily="18" charset="0"/>
              </a:rPr>
              <a:t> </a:t>
            </a:r>
          </a:p>
          <a:p>
            <a:pPr marL="285750" marR="0" indent="-285750" algn="just">
              <a:lnSpc>
                <a:spcPts val="1200"/>
              </a:lnSpc>
              <a:spcBef>
                <a:spcPts val="0"/>
              </a:spcBef>
              <a:spcAft>
                <a:spcPts val="0"/>
              </a:spcAft>
              <a:buFont typeface="Arial" panose="020B0604020202020204" pitchFamily="34" charset="0"/>
              <a:buChar char="•"/>
            </a:pPr>
            <a:r>
              <a:rPr lang="en-US" sz="1200" dirty="0">
                <a:solidFill>
                  <a:schemeClr val="tx1"/>
                </a:solidFill>
                <a:effectLst/>
                <a:ea typeface="Calibri Light" panose="020F0302020204030204" pitchFamily="34" charset="0"/>
                <a:cs typeface="Times New Roman" panose="02020603050405020304" pitchFamily="18" charset="0"/>
              </a:rPr>
              <a:t>Utility can judge the use of distribution transformers through smart meter data, determined whether the transformer's actual voltage exceeded the rating plate rating to determine its remaining life</a:t>
            </a:r>
            <a:endParaRPr lang="en-US" sz="1200" dirty="0">
              <a:solidFill>
                <a:schemeClr val="tx1"/>
              </a:solidFill>
              <a:ea typeface="Calibri Light" panose="020F0302020204030204" pitchFamily="34" charset="0"/>
              <a:cs typeface="Times New Roman" panose="02020603050405020304" pitchFamily="18" charset="0"/>
            </a:endParaRPr>
          </a:p>
          <a:p>
            <a:pPr marL="285750" marR="0" indent="-285750" algn="just">
              <a:lnSpc>
                <a:spcPts val="1200"/>
              </a:lnSpc>
              <a:spcBef>
                <a:spcPts val="0"/>
              </a:spcBef>
              <a:spcAft>
                <a:spcPts val="0"/>
              </a:spcAft>
              <a:buFont typeface="Arial" panose="020B0604020202020204" pitchFamily="34" charset="0"/>
              <a:buChar char="•"/>
            </a:pPr>
            <a:endParaRPr lang="en-US" sz="1200" dirty="0">
              <a:solidFill>
                <a:schemeClr val="tx1"/>
              </a:solidFill>
              <a:effectLst/>
              <a:ea typeface="Calibri Light" panose="020F0302020204030204" pitchFamily="34" charset="0"/>
              <a:cs typeface="Times New Roman" panose="02020603050405020304" pitchFamily="18" charset="0"/>
            </a:endParaRPr>
          </a:p>
          <a:p>
            <a:pPr marL="285750" marR="0" indent="-285750" algn="just">
              <a:lnSpc>
                <a:spcPts val="1200"/>
              </a:lnSpc>
              <a:spcBef>
                <a:spcPts val="0"/>
              </a:spcBef>
              <a:spcAft>
                <a:spcPts val="0"/>
              </a:spcAft>
              <a:buFont typeface="Arial" panose="020B0604020202020204" pitchFamily="34" charset="0"/>
              <a:buChar char="•"/>
            </a:pPr>
            <a:r>
              <a:rPr lang="en-US" sz="1200" dirty="0">
                <a:solidFill>
                  <a:schemeClr val="tx1"/>
                </a:solidFill>
                <a:effectLst/>
                <a:ea typeface="Calibri Light" panose="020F0302020204030204" pitchFamily="34" charset="0"/>
                <a:cs typeface="Times New Roman" panose="02020603050405020304" pitchFamily="18" charset="0"/>
              </a:rPr>
              <a:t>Use the load data from meter to assess if capacity of the transformer needs to be enhanced to meet existing / future load growth. </a:t>
            </a:r>
          </a:p>
        </p:txBody>
      </p:sp>
    </p:spTree>
    <p:extLst>
      <p:ext uri="{BB962C8B-B14F-4D97-AF65-F5344CB8AC3E}">
        <p14:creationId xmlns:p14="http://schemas.microsoft.com/office/powerpoint/2010/main" val="308003508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17592284-4E72-4253-A66D-FCA2A7FA8799}"/>
              </a:ext>
            </a:extLst>
          </p:cNvPr>
          <p:cNvSpPr>
            <a:spLocks noGrp="1"/>
          </p:cNvSpPr>
          <p:nvPr>
            <p:ph type="title"/>
          </p:nvPr>
        </p:nvSpPr>
        <p:spPr>
          <a:xfrm>
            <a:off x="469902" y="402587"/>
            <a:ext cx="11252200" cy="334102"/>
          </a:xfrm>
        </p:spPr>
        <p:txBody>
          <a:bodyPr/>
          <a:lstStyle/>
          <a:p>
            <a:r>
              <a:rPr lang="en-US" sz="1800" b="1" dirty="0">
                <a:latin typeface="Verdana" panose="020B0604030504040204" pitchFamily="34" charset="0"/>
                <a:ea typeface="Verdana" panose="020B0604030504040204" pitchFamily="34" charset="0"/>
              </a:rPr>
              <a:t>Significant Cost Reduction can be achieved by Commercial Losses Reduction (1/2)</a:t>
            </a:r>
          </a:p>
        </p:txBody>
      </p:sp>
      <p:graphicFrame>
        <p:nvGraphicFramePr>
          <p:cNvPr id="8" name="Chart 7">
            <a:extLst>
              <a:ext uri="{FF2B5EF4-FFF2-40B4-BE49-F238E27FC236}">
                <a16:creationId xmlns:a16="http://schemas.microsoft.com/office/drawing/2014/main" id="{5024E70B-057C-4DA0-B489-C27FC122BAAA}"/>
              </a:ext>
            </a:extLst>
          </p:cNvPr>
          <p:cNvGraphicFramePr/>
          <p:nvPr/>
        </p:nvGraphicFramePr>
        <p:xfrm>
          <a:off x="513444" y="1591555"/>
          <a:ext cx="5508173" cy="220755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6C75CD23-5269-4FE1-A754-58D71D178695}"/>
              </a:ext>
            </a:extLst>
          </p:cNvPr>
          <p:cNvGraphicFramePr/>
          <p:nvPr/>
        </p:nvGraphicFramePr>
        <p:xfrm>
          <a:off x="6213924" y="1591556"/>
          <a:ext cx="5508173" cy="2201046"/>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a:extLst>
              <a:ext uri="{FF2B5EF4-FFF2-40B4-BE49-F238E27FC236}">
                <a16:creationId xmlns:a16="http://schemas.microsoft.com/office/drawing/2014/main" id="{5DCF8B83-D495-4B6C-AECF-04FF87D5C6E2}"/>
              </a:ext>
            </a:extLst>
          </p:cNvPr>
          <p:cNvSpPr txBox="1"/>
          <p:nvPr/>
        </p:nvSpPr>
        <p:spPr>
          <a:xfrm>
            <a:off x="513444" y="850689"/>
            <a:ext cx="11208653" cy="630942"/>
          </a:xfrm>
          <a:prstGeom prst="rect">
            <a:avLst/>
          </a:prstGeom>
          <a:noFill/>
          <a:ln>
            <a:solidFill>
              <a:schemeClr val="accent1"/>
            </a:solidFill>
          </a:ln>
        </p:spPr>
        <p:txBody>
          <a:bodyPr wrap="square" lIns="0" tIns="0" rIns="0" bIns="0" rtlCol="0">
            <a:spAutoFit/>
          </a:bodyPr>
          <a:lstStyle/>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800" b="0" i="0" u="none" strike="noStrike" kern="1200" cap="none" spc="0" normalizeH="0" baseline="0" noProof="0" dirty="0">
                <a:ln>
                  <a:noFill/>
                </a:ln>
                <a:solidFill>
                  <a:srgbClr val="313131"/>
                </a:solidFill>
                <a:effectLst/>
                <a:uLnTx/>
                <a:uFillTx/>
                <a:latin typeface="Calibri"/>
                <a:ea typeface="+mn-ea"/>
                <a:cs typeface="+mn-cs"/>
              </a:rPr>
              <a:t>Leveraging of RDSS Investments in a targeted manner complemented with IT OT initiatives are critical</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800" b="0" i="0" u="none" strike="noStrike" kern="1200" cap="none" spc="0" normalizeH="0" baseline="0" noProof="0" dirty="0">
                <a:ln>
                  <a:noFill/>
                </a:ln>
                <a:solidFill>
                  <a:srgbClr val="313131"/>
                </a:solidFill>
                <a:effectLst/>
                <a:uLnTx/>
                <a:uFillTx/>
                <a:latin typeface="Calibri"/>
                <a:ea typeface="+mn-ea"/>
                <a:cs typeface="+mn-cs"/>
              </a:rPr>
              <a:t>Targeted Program on Metering Efficacy for Billing complemented with other initiatives for specific pockets</a:t>
            </a:r>
          </a:p>
        </p:txBody>
      </p:sp>
      <p:sp>
        <p:nvSpPr>
          <p:cNvPr id="24" name="TextBox 23">
            <a:extLst>
              <a:ext uri="{FF2B5EF4-FFF2-40B4-BE49-F238E27FC236}">
                <a16:creationId xmlns:a16="http://schemas.microsoft.com/office/drawing/2014/main" id="{8A383170-A2DF-4214-B597-395830857221}"/>
              </a:ext>
            </a:extLst>
          </p:cNvPr>
          <p:cNvSpPr txBox="1"/>
          <p:nvPr/>
        </p:nvSpPr>
        <p:spPr>
          <a:xfrm rot="10800000" flipV="1">
            <a:off x="3267530" y="6582353"/>
            <a:ext cx="7569764" cy="184666"/>
          </a:xfrm>
          <a:prstGeom prst="rect">
            <a:avLst/>
          </a:prstGeom>
          <a:noFill/>
        </p:spPr>
        <p:txBody>
          <a:bodyPr wrap="square" lIns="0" tIns="0" rIns="0" bIns="0" rtlCol="0">
            <a:spAutoFit/>
          </a:bodyPr>
          <a:lstStyle/>
          <a:p>
            <a:pPr>
              <a:buSzPct val="100000"/>
            </a:pPr>
            <a:r>
              <a:rPr lang="en-US" sz="1200" dirty="0">
                <a:solidFill>
                  <a:srgbClr val="313131"/>
                </a:solidFill>
                <a:latin typeface="Calibri" panose="020F0502020204030204" pitchFamily="34" charset="0"/>
                <a:cs typeface="Calibri" panose="020F0502020204030204" pitchFamily="34" charset="0"/>
              </a:rPr>
              <a:t>** Based on approved average power purchase rate of DVC Plant – Mejia and RTPS </a:t>
            </a:r>
          </a:p>
        </p:txBody>
      </p:sp>
      <p:sp>
        <p:nvSpPr>
          <p:cNvPr id="2" name="Rectangle 1">
            <a:extLst>
              <a:ext uri="{FF2B5EF4-FFF2-40B4-BE49-F238E27FC236}">
                <a16:creationId xmlns:a16="http://schemas.microsoft.com/office/drawing/2014/main" id="{9BED1684-351B-4845-ACD3-283F3450EAB8}"/>
              </a:ext>
            </a:extLst>
          </p:cNvPr>
          <p:cNvSpPr/>
          <p:nvPr/>
        </p:nvSpPr>
        <p:spPr bwMode="gray">
          <a:xfrm>
            <a:off x="513444" y="4253713"/>
            <a:ext cx="2007232" cy="1042788"/>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200" b="1" dirty="0">
                <a:solidFill>
                  <a:schemeClr val="tx1"/>
                </a:solidFill>
                <a:latin typeface="+mj-lt"/>
              </a:rPr>
              <a:t>Improvement in Billing Efficiency vis a vis AT&amp;C Losses </a:t>
            </a:r>
          </a:p>
        </p:txBody>
      </p:sp>
      <p:sp>
        <p:nvSpPr>
          <p:cNvPr id="4" name="Arrow: Right 3">
            <a:extLst>
              <a:ext uri="{FF2B5EF4-FFF2-40B4-BE49-F238E27FC236}">
                <a16:creationId xmlns:a16="http://schemas.microsoft.com/office/drawing/2014/main" id="{5715E96F-9FFB-47B2-82EC-A8B9C5746E66}"/>
              </a:ext>
            </a:extLst>
          </p:cNvPr>
          <p:cNvSpPr/>
          <p:nvPr/>
        </p:nvSpPr>
        <p:spPr bwMode="gray">
          <a:xfrm>
            <a:off x="2644604" y="4540157"/>
            <a:ext cx="361081" cy="469897"/>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200" b="1" dirty="0">
              <a:solidFill>
                <a:schemeClr val="bg1"/>
              </a:solidFill>
              <a:latin typeface="+mj-lt"/>
            </a:endParaRPr>
          </a:p>
        </p:txBody>
      </p:sp>
      <p:sp>
        <p:nvSpPr>
          <p:cNvPr id="23" name="Rectangle 22">
            <a:extLst>
              <a:ext uri="{FF2B5EF4-FFF2-40B4-BE49-F238E27FC236}">
                <a16:creationId xmlns:a16="http://schemas.microsoft.com/office/drawing/2014/main" id="{D5903771-A40A-422F-B7FC-00CD9BE4CFA0}"/>
              </a:ext>
            </a:extLst>
          </p:cNvPr>
          <p:cNvSpPr/>
          <p:nvPr/>
        </p:nvSpPr>
        <p:spPr bwMode="gray">
          <a:xfrm>
            <a:off x="3219105" y="4253712"/>
            <a:ext cx="2007232" cy="1042788"/>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200" b="1" dirty="0">
                <a:solidFill>
                  <a:schemeClr val="tx1"/>
                </a:solidFill>
                <a:latin typeface="+mj-lt"/>
                <a:ea typeface="Verdana" panose="020B0604030504040204" pitchFamily="34" charset="0"/>
              </a:rPr>
              <a:t>Requirement of input energy would go down</a:t>
            </a:r>
            <a:endParaRPr lang="en-US" sz="1200" b="1" dirty="0">
              <a:solidFill>
                <a:schemeClr val="tx1"/>
              </a:solidFill>
              <a:latin typeface="+mj-lt"/>
            </a:endParaRPr>
          </a:p>
        </p:txBody>
      </p:sp>
      <p:sp>
        <p:nvSpPr>
          <p:cNvPr id="25" name="Arrow: Right 24">
            <a:extLst>
              <a:ext uri="{FF2B5EF4-FFF2-40B4-BE49-F238E27FC236}">
                <a16:creationId xmlns:a16="http://schemas.microsoft.com/office/drawing/2014/main" id="{2A5A7809-EF1D-4492-9C1C-48C8DC855CD9}"/>
              </a:ext>
            </a:extLst>
          </p:cNvPr>
          <p:cNvSpPr/>
          <p:nvPr/>
        </p:nvSpPr>
        <p:spPr bwMode="gray">
          <a:xfrm>
            <a:off x="5366447" y="4540157"/>
            <a:ext cx="361081" cy="469897"/>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200" b="1" dirty="0">
              <a:solidFill>
                <a:schemeClr val="bg1"/>
              </a:solidFill>
              <a:latin typeface="+mj-lt"/>
            </a:endParaRPr>
          </a:p>
        </p:txBody>
      </p:sp>
      <p:cxnSp>
        <p:nvCxnSpPr>
          <p:cNvPr id="27" name="Straight Connector 26">
            <a:extLst>
              <a:ext uri="{FF2B5EF4-FFF2-40B4-BE49-F238E27FC236}">
                <a16:creationId xmlns:a16="http://schemas.microsoft.com/office/drawing/2014/main" id="{35E308D5-DA40-4918-8268-879AE1D3A36F}"/>
              </a:ext>
            </a:extLst>
          </p:cNvPr>
          <p:cNvCxnSpPr>
            <a:cxnSpLocks/>
          </p:cNvCxnSpPr>
          <p:nvPr/>
        </p:nvCxnSpPr>
        <p:spPr>
          <a:xfrm flipV="1">
            <a:off x="5887687" y="4126499"/>
            <a:ext cx="0" cy="132106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Arrow: Right 27">
            <a:extLst>
              <a:ext uri="{FF2B5EF4-FFF2-40B4-BE49-F238E27FC236}">
                <a16:creationId xmlns:a16="http://schemas.microsoft.com/office/drawing/2014/main" id="{B56E70D8-6A26-43F5-87DA-465550C6D419}"/>
              </a:ext>
            </a:extLst>
          </p:cNvPr>
          <p:cNvSpPr/>
          <p:nvPr/>
        </p:nvSpPr>
        <p:spPr bwMode="gray">
          <a:xfrm>
            <a:off x="6047847" y="4018763"/>
            <a:ext cx="361081" cy="469897"/>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200" b="1" dirty="0">
              <a:solidFill>
                <a:schemeClr val="bg1"/>
              </a:solidFill>
              <a:latin typeface="+mj-lt"/>
            </a:endParaRPr>
          </a:p>
        </p:txBody>
      </p:sp>
      <p:sp>
        <p:nvSpPr>
          <p:cNvPr id="29" name="Arrow: Right 28">
            <a:extLst>
              <a:ext uri="{FF2B5EF4-FFF2-40B4-BE49-F238E27FC236}">
                <a16:creationId xmlns:a16="http://schemas.microsoft.com/office/drawing/2014/main" id="{79F4AFCC-F081-429E-AB3C-CAE40D132DB9}"/>
              </a:ext>
            </a:extLst>
          </p:cNvPr>
          <p:cNvSpPr/>
          <p:nvPr/>
        </p:nvSpPr>
        <p:spPr bwMode="gray">
          <a:xfrm>
            <a:off x="6026170" y="5118574"/>
            <a:ext cx="361081" cy="469897"/>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200" b="1" dirty="0">
              <a:solidFill>
                <a:schemeClr val="bg1"/>
              </a:solidFill>
              <a:latin typeface="+mj-lt"/>
            </a:endParaRPr>
          </a:p>
        </p:txBody>
      </p:sp>
      <p:sp>
        <p:nvSpPr>
          <p:cNvPr id="30" name="Rectangle 29">
            <a:extLst>
              <a:ext uri="{FF2B5EF4-FFF2-40B4-BE49-F238E27FC236}">
                <a16:creationId xmlns:a16="http://schemas.microsoft.com/office/drawing/2014/main" id="{CA5279D7-EBC7-40BF-818A-FADF4E4140E9}"/>
              </a:ext>
            </a:extLst>
          </p:cNvPr>
          <p:cNvSpPr/>
          <p:nvPr/>
        </p:nvSpPr>
        <p:spPr>
          <a:xfrm>
            <a:off x="6503551" y="3932582"/>
            <a:ext cx="5218546" cy="5560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Reduction of Cost of Supply after considering Average variable cost of DVC ** Plant  (as per tariff petition for FY 2020-21) </a:t>
            </a:r>
          </a:p>
        </p:txBody>
      </p:sp>
      <p:sp>
        <p:nvSpPr>
          <p:cNvPr id="31" name="Rectangle 30">
            <a:extLst>
              <a:ext uri="{FF2B5EF4-FFF2-40B4-BE49-F238E27FC236}">
                <a16:creationId xmlns:a16="http://schemas.microsoft.com/office/drawing/2014/main" id="{E6DD1F4B-B712-40F0-9720-9FD46D5986A4}"/>
              </a:ext>
            </a:extLst>
          </p:cNvPr>
          <p:cNvSpPr/>
          <p:nvPr/>
        </p:nvSpPr>
        <p:spPr>
          <a:xfrm>
            <a:off x="6503551" y="5085730"/>
            <a:ext cx="5218546" cy="5560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Reduction of Cost of Supply after retirement of contract of highest merit order plants</a:t>
            </a:r>
          </a:p>
        </p:txBody>
      </p:sp>
      <p:sp>
        <p:nvSpPr>
          <p:cNvPr id="10" name="Rectangle: Rounded Corners 9">
            <a:extLst>
              <a:ext uri="{FF2B5EF4-FFF2-40B4-BE49-F238E27FC236}">
                <a16:creationId xmlns:a16="http://schemas.microsoft.com/office/drawing/2014/main" id="{D1AA3B14-FD93-4A90-BB19-15257FA599D4}"/>
              </a:ext>
            </a:extLst>
          </p:cNvPr>
          <p:cNvSpPr/>
          <p:nvPr/>
        </p:nvSpPr>
        <p:spPr bwMode="gray">
          <a:xfrm>
            <a:off x="513443" y="5382456"/>
            <a:ext cx="2007230" cy="719060"/>
          </a:xfrm>
          <a:prstGeom prst="roundRect">
            <a:avLst/>
          </a:prstGeom>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171450">
              <a:lnSpc>
                <a:spcPct val="106000"/>
              </a:lnSpc>
              <a:buFont typeface="Arial" panose="020B0604020202020204" pitchFamily="34" charset="0"/>
              <a:buChar char="•"/>
            </a:pPr>
            <a:r>
              <a:rPr lang="en-US" sz="1100" b="1" dirty="0">
                <a:solidFill>
                  <a:sysClr val="windowText" lastClr="000000"/>
                </a:solidFill>
              </a:rPr>
              <a:t>RDSS</a:t>
            </a:r>
          </a:p>
          <a:p>
            <a:pPr marL="171450" indent="-171450">
              <a:lnSpc>
                <a:spcPct val="106000"/>
              </a:lnSpc>
              <a:buFont typeface="Arial" panose="020B0604020202020204" pitchFamily="34" charset="0"/>
              <a:buChar char="•"/>
            </a:pPr>
            <a:r>
              <a:rPr lang="en-US" sz="1100" b="1" dirty="0">
                <a:solidFill>
                  <a:sysClr val="windowText" lastClr="000000"/>
                </a:solidFill>
              </a:rPr>
              <a:t>Grid Modernization</a:t>
            </a:r>
          </a:p>
          <a:p>
            <a:pPr marL="171450" indent="-171450">
              <a:lnSpc>
                <a:spcPct val="106000"/>
              </a:lnSpc>
              <a:buFont typeface="Arial" panose="020B0604020202020204" pitchFamily="34" charset="0"/>
              <a:buChar char="•"/>
            </a:pPr>
            <a:r>
              <a:rPr lang="en-US" sz="1100" b="1" dirty="0">
                <a:solidFill>
                  <a:sysClr val="windowText" lastClr="000000"/>
                </a:solidFill>
              </a:rPr>
              <a:t>IT/OT System</a:t>
            </a:r>
          </a:p>
        </p:txBody>
      </p:sp>
    </p:spTree>
    <p:extLst>
      <p:ext uri="{BB962C8B-B14F-4D97-AF65-F5344CB8AC3E}">
        <p14:creationId xmlns:p14="http://schemas.microsoft.com/office/powerpoint/2010/main" val="3022234290"/>
      </p:ext>
    </p:extLst>
  </p:cSld>
  <p:clrMapOvr>
    <a:masterClrMapping/>
  </p:clrMapOvr>
  <p:transition>
    <p:fade/>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2363828-33D2-482A-99CA-10B8F59DB684}"/>
              </a:ext>
            </a:extLst>
          </p:cNvPr>
          <p:cNvCxnSpPr>
            <a:cxnSpLocks/>
          </p:cNvCxnSpPr>
          <p:nvPr/>
        </p:nvCxnSpPr>
        <p:spPr>
          <a:xfrm flipV="1">
            <a:off x="491670" y="1027295"/>
            <a:ext cx="11208653" cy="2219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7644591-423B-443E-A070-7451A76FBAB0}"/>
              </a:ext>
            </a:extLst>
          </p:cNvPr>
          <p:cNvCxnSpPr>
            <a:cxnSpLocks/>
          </p:cNvCxnSpPr>
          <p:nvPr/>
        </p:nvCxnSpPr>
        <p:spPr>
          <a:xfrm flipV="1">
            <a:off x="513444" y="3877465"/>
            <a:ext cx="11208653" cy="2219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itle 2">
            <a:extLst>
              <a:ext uri="{FF2B5EF4-FFF2-40B4-BE49-F238E27FC236}">
                <a16:creationId xmlns:a16="http://schemas.microsoft.com/office/drawing/2014/main" id="{17592284-4E72-4253-A66D-FCA2A7FA8799}"/>
              </a:ext>
            </a:extLst>
          </p:cNvPr>
          <p:cNvSpPr>
            <a:spLocks noGrp="1"/>
          </p:cNvSpPr>
          <p:nvPr>
            <p:ph type="title"/>
          </p:nvPr>
        </p:nvSpPr>
        <p:spPr>
          <a:xfrm>
            <a:off x="469902" y="402587"/>
            <a:ext cx="11252200" cy="334102"/>
          </a:xfrm>
        </p:spPr>
        <p:txBody>
          <a:bodyPr/>
          <a:lstStyle/>
          <a:p>
            <a:r>
              <a:rPr lang="en-US" sz="1800" b="1" dirty="0">
                <a:latin typeface="Verdana" panose="020B0604030504040204" pitchFamily="34" charset="0"/>
                <a:ea typeface="Verdana" panose="020B0604030504040204" pitchFamily="34" charset="0"/>
              </a:rPr>
              <a:t>Significant Cost Reduction can be achieved by Commercial Losses Reduction (2/2)</a:t>
            </a:r>
          </a:p>
        </p:txBody>
      </p:sp>
      <p:sp>
        <p:nvSpPr>
          <p:cNvPr id="10" name="Rectangle 9">
            <a:extLst>
              <a:ext uri="{FF2B5EF4-FFF2-40B4-BE49-F238E27FC236}">
                <a16:creationId xmlns:a16="http://schemas.microsoft.com/office/drawing/2014/main" id="{D7498EAB-CA39-4F76-A485-38414C30FEE6}"/>
              </a:ext>
            </a:extLst>
          </p:cNvPr>
          <p:cNvSpPr/>
          <p:nvPr/>
        </p:nvSpPr>
        <p:spPr bwMode="gray">
          <a:xfrm>
            <a:off x="2544644" y="3710387"/>
            <a:ext cx="7744623" cy="356351"/>
          </a:xfrm>
          <a:prstGeom prst="rect">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Reduction of Cost of Supply after retirement of contract of highest merit order plants  </a:t>
            </a:r>
          </a:p>
        </p:txBody>
      </p:sp>
      <p:sp>
        <p:nvSpPr>
          <p:cNvPr id="11" name="Rectangle 10">
            <a:extLst>
              <a:ext uri="{FF2B5EF4-FFF2-40B4-BE49-F238E27FC236}">
                <a16:creationId xmlns:a16="http://schemas.microsoft.com/office/drawing/2014/main" id="{2AF575A8-9D3A-4D7D-AA7D-3249E7C2237E}"/>
              </a:ext>
            </a:extLst>
          </p:cNvPr>
          <p:cNvSpPr/>
          <p:nvPr/>
        </p:nvSpPr>
        <p:spPr bwMode="gray">
          <a:xfrm>
            <a:off x="587826" y="968344"/>
            <a:ext cx="10760530" cy="130058"/>
          </a:xfrm>
          <a:prstGeom prst="rect">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Reduction of Cost of Supply after considering Average variable cost of DVC ** Plant  ( as per tariff petition for FY 2020-21) </a:t>
            </a:r>
          </a:p>
        </p:txBody>
      </p:sp>
      <p:sp>
        <p:nvSpPr>
          <p:cNvPr id="15" name="TextBox 14">
            <a:extLst>
              <a:ext uri="{FF2B5EF4-FFF2-40B4-BE49-F238E27FC236}">
                <a16:creationId xmlns:a16="http://schemas.microsoft.com/office/drawing/2014/main" id="{C7679E21-39C7-4223-8D1C-D86BF7971724}"/>
              </a:ext>
            </a:extLst>
          </p:cNvPr>
          <p:cNvSpPr txBox="1"/>
          <p:nvPr/>
        </p:nvSpPr>
        <p:spPr>
          <a:xfrm>
            <a:off x="8386535" y="6397932"/>
            <a:ext cx="3805465" cy="184666"/>
          </a:xfrm>
          <a:prstGeom prst="rect">
            <a:avLst/>
          </a:prstGeom>
          <a:noFill/>
        </p:spPr>
        <p:txBody>
          <a:bodyPr wrap="square" lIns="0" tIns="0" rIns="0" bIns="0" rtlCol="0">
            <a:spAutoFit/>
          </a:bodyPr>
          <a:lstStyle/>
          <a:p>
            <a:pPr>
              <a:spcBef>
                <a:spcPts val="600"/>
              </a:spcBef>
              <a:buSzPct val="100000"/>
            </a:pPr>
            <a:r>
              <a:rPr lang="en-US" sz="1200" dirty="0">
                <a:latin typeface="Calibri" panose="020F0502020204030204" pitchFamily="34" charset="0"/>
                <a:cs typeface="Calibri" panose="020F0502020204030204" pitchFamily="34" charset="0"/>
              </a:rPr>
              <a:t>Source : Tariff Order for 7</a:t>
            </a:r>
            <a:r>
              <a:rPr lang="en-US" sz="1200" baseline="30000" dirty="0">
                <a:latin typeface="Calibri" panose="020F0502020204030204" pitchFamily="34" charset="0"/>
                <a:cs typeface="Calibri" panose="020F0502020204030204" pitchFamily="34" charset="0"/>
              </a:rPr>
              <a:t>th</a:t>
            </a:r>
            <a:r>
              <a:rPr lang="en-US" sz="1200" dirty="0">
                <a:latin typeface="Calibri" panose="020F0502020204030204" pitchFamily="34" charset="0"/>
                <a:cs typeface="Calibri" panose="020F0502020204030204" pitchFamily="34" charset="0"/>
              </a:rPr>
              <a:t> Control Period of WBSEDCL.  </a:t>
            </a:r>
          </a:p>
        </p:txBody>
      </p:sp>
      <p:graphicFrame>
        <p:nvGraphicFramePr>
          <p:cNvPr id="4" name="Table 3">
            <a:extLst>
              <a:ext uri="{FF2B5EF4-FFF2-40B4-BE49-F238E27FC236}">
                <a16:creationId xmlns:a16="http://schemas.microsoft.com/office/drawing/2014/main" id="{DA8F2F57-C4F5-4326-99A6-73DA442A8A2E}"/>
              </a:ext>
            </a:extLst>
          </p:cNvPr>
          <p:cNvGraphicFramePr>
            <a:graphicFrameLocks noGrp="1"/>
          </p:cNvGraphicFramePr>
          <p:nvPr/>
        </p:nvGraphicFramePr>
        <p:xfrm>
          <a:off x="513444" y="1330057"/>
          <a:ext cx="11208652" cy="2098946"/>
        </p:xfrm>
        <a:graphic>
          <a:graphicData uri="http://schemas.openxmlformats.org/drawingml/2006/table">
            <a:tbl>
              <a:tblPr/>
              <a:tblGrid>
                <a:gridCol w="1557207">
                  <a:extLst>
                    <a:ext uri="{9D8B030D-6E8A-4147-A177-3AD203B41FA5}">
                      <a16:colId xmlns:a16="http://schemas.microsoft.com/office/drawing/2014/main" val="3511060075"/>
                    </a:ext>
                  </a:extLst>
                </a:gridCol>
                <a:gridCol w="1265231">
                  <a:extLst>
                    <a:ext uri="{9D8B030D-6E8A-4147-A177-3AD203B41FA5}">
                      <a16:colId xmlns:a16="http://schemas.microsoft.com/office/drawing/2014/main" val="1671708121"/>
                    </a:ext>
                  </a:extLst>
                </a:gridCol>
                <a:gridCol w="1605871">
                  <a:extLst>
                    <a:ext uri="{9D8B030D-6E8A-4147-A177-3AD203B41FA5}">
                      <a16:colId xmlns:a16="http://schemas.microsoft.com/office/drawing/2014/main" val="1450684219"/>
                    </a:ext>
                  </a:extLst>
                </a:gridCol>
                <a:gridCol w="1605871">
                  <a:extLst>
                    <a:ext uri="{9D8B030D-6E8A-4147-A177-3AD203B41FA5}">
                      <a16:colId xmlns:a16="http://schemas.microsoft.com/office/drawing/2014/main" val="4143939798"/>
                    </a:ext>
                  </a:extLst>
                </a:gridCol>
                <a:gridCol w="1297673">
                  <a:extLst>
                    <a:ext uri="{9D8B030D-6E8A-4147-A177-3AD203B41FA5}">
                      <a16:colId xmlns:a16="http://schemas.microsoft.com/office/drawing/2014/main" val="629305440"/>
                    </a:ext>
                  </a:extLst>
                </a:gridCol>
                <a:gridCol w="1151685">
                  <a:extLst>
                    <a:ext uri="{9D8B030D-6E8A-4147-A177-3AD203B41FA5}">
                      <a16:colId xmlns:a16="http://schemas.microsoft.com/office/drawing/2014/main" val="2703666184"/>
                    </a:ext>
                  </a:extLst>
                </a:gridCol>
                <a:gridCol w="1038138">
                  <a:extLst>
                    <a:ext uri="{9D8B030D-6E8A-4147-A177-3AD203B41FA5}">
                      <a16:colId xmlns:a16="http://schemas.microsoft.com/office/drawing/2014/main" val="1880513222"/>
                    </a:ext>
                  </a:extLst>
                </a:gridCol>
                <a:gridCol w="843488">
                  <a:extLst>
                    <a:ext uri="{9D8B030D-6E8A-4147-A177-3AD203B41FA5}">
                      <a16:colId xmlns:a16="http://schemas.microsoft.com/office/drawing/2014/main" val="2183588369"/>
                    </a:ext>
                  </a:extLst>
                </a:gridCol>
                <a:gridCol w="843488">
                  <a:extLst>
                    <a:ext uri="{9D8B030D-6E8A-4147-A177-3AD203B41FA5}">
                      <a16:colId xmlns:a16="http://schemas.microsoft.com/office/drawing/2014/main" val="2473272566"/>
                    </a:ext>
                  </a:extLst>
                </a:gridCol>
              </a:tblGrid>
              <a:tr h="366258">
                <a:tc rowSpan="2" gridSpan="2">
                  <a:txBody>
                    <a:bodyPr/>
                    <a:lstStyle/>
                    <a:p>
                      <a:pPr algn="ctr" rtl="0" fontAlgn="ctr"/>
                      <a:r>
                        <a:rPr lang="en-US" sz="1200" b="0" i="0" u="none" strike="noStrike">
                          <a:solidFill>
                            <a:srgbClr val="FFFFFF"/>
                          </a:solidFill>
                          <a:effectLst/>
                          <a:latin typeface="+mj-lt"/>
                        </a:rPr>
                        <a:t>Particulars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86BC25"/>
                    </a:solidFill>
                  </a:tcPr>
                </a:tc>
                <a:tc rowSpan="2" hMerge="1">
                  <a:txBody>
                    <a:bodyPr/>
                    <a:lstStyle/>
                    <a:p>
                      <a:endParaRPr lang="en-US"/>
                    </a:p>
                  </a:txBody>
                  <a:tcPr/>
                </a:tc>
                <a:tc>
                  <a:txBody>
                    <a:bodyPr/>
                    <a:lstStyle/>
                    <a:p>
                      <a:pPr algn="ctr" rtl="0" fontAlgn="ctr"/>
                      <a:r>
                        <a:rPr lang="en-US" sz="1200" b="0" i="0" u="none" strike="noStrike">
                          <a:solidFill>
                            <a:srgbClr val="FFFFFF"/>
                          </a:solidFill>
                          <a:effectLst/>
                          <a:latin typeface="+mj-lt"/>
                        </a:rPr>
                        <a:t>Billing Efficiency</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rowSpan="2">
                  <a:txBody>
                    <a:bodyPr/>
                    <a:lstStyle/>
                    <a:p>
                      <a:pPr algn="ctr" rtl="0" fontAlgn="ctr"/>
                      <a:r>
                        <a:rPr lang="en-US" sz="1200" b="0" i="0" u="none" strike="noStrike">
                          <a:solidFill>
                            <a:srgbClr val="FFFFFF"/>
                          </a:solidFill>
                          <a:effectLst/>
                          <a:latin typeface="+mj-lt"/>
                        </a:rPr>
                        <a:t>Energy Sold (MU)</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rowSpan="2">
                  <a:txBody>
                    <a:bodyPr/>
                    <a:lstStyle/>
                    <a:p>
                      <a:pPr algn="ctr" rtl="0" fontAlgn="ctr"/>
                      <a:r>
                        <a:rPr lang="en-US" sz="1200" b="0" i="0" u="none" strike="noStrike">
                          <a:solidFill>
                            <a:srgbClr val="FFFFFF"/>
                          </a:solidFill>
                          <a:effectLst/>
                          <a:latin typeface="+mj-lt"/>
                        </a:rPr>
                        <a:t>Net Input Energy (MU)</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rowSpan="2">
                  <a:txBody>
                    <a:bodyPr/>
                    <a:lstStyle/>
                    <a:p>
                      <a:pPr algn="ctr" rtl="0" fontAlgn="ctr"/>
                      <a:r>
                        <a:rPr lang="en-US" sz="1200" b="0" i="0" u="none" strike="noStrike">
                          <a:solidFill>
                            <a:srgbClr val="FFFFFF"/>
                          </a:solidFill>
                          <a:effectLst/>
                          <a:latin typeface="+mj-lt"/>
                        </a:rPr>
                        <a:t>Net Energy Reduction (MU)</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200" b="0" i="0" u="none" strike="noStrike">
                          <a:solidFill>
                            <a:srgbClr val="FFFFFF"/>
                          </a:solidFill>
                          <a:effectLst/>
                          <a:latin typeface="+mj-lt"/>
                        </a:rPr>
                        <a:t>Energy Charge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200" b="0" i="0" u="none" strike="noStrike">
                          <a:solidFill>
                            <a:srgbClr val="FFFFFF"/>
                          </a:solidFill>
                          <a:effectLst/>
                          <a:latin typeface="+mj-lt"/>
                        </a:rPr>
                        <a:t>Net Saving</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200" b="0" i="0" u="none" strike="noStrike">
                          <a:solidFill>
                            <a:srgbClr val="FFFFFF"/>
                          </a:solidFill>
                          <a:effectLst/>
                          <a:latin typeface="+mj-lt"/>
                        </a:rPr>
                        <a:t>Saving in Per Unit </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86BC25"/>
                    </a:solidFill>
                  </a:tcPr>
                </a:tc>
                <a:extLst>
                  <a:ext uri="{0D108BD9-81ED-4DB2-BD59-A6C34878D82A}">
                    <a16:rowId xmlns:a16="http://schemas.microsoft.com/office/drawing/2014/main" val="2723434495"/>
                  </a:ext>
                </a:extLst>
              </a:tr>
              <a:tr h="302868">
                <a:tc gridSpan="2" vMerge="1">
                  <a:txBody>
                    <a:bodyPr/>
                    <a:lstStyle/>
                    <a:p>
                      <a:endParaRPr lang="en-US"/>
                    </a:p>
                  </a:txBody>
                  <a:tcPr/>
                </a:tc>
                <a:tc hMerge="1" vMerge="1">
                  <a:txBody>
                    <a:bodyPr/>
                    <a:lstStyle/>
                    <a:p>
                      <a:endParaRPr lang="en-US"/>
                    </a:p>
                  </a:txBody>
                  <a:tcPr/>
                </a:tc>
                <a:tc>
                  <a:txBody>
                    <a:bodyPr/>
                    <a:lstStyle/>
                    <a:p>
                      <a:pPr algn="ctr" rtl="0" fontAlgn="ctr"/>
                      <a:r>
                        <a:rPr lang="en-US" sz="1200" b="0" i="0" u="none" strike="noStrike">
                          <a:solidFill>
                            <a:srgbClr val="FFFFFF"/>
                          </a:solidFill>
                          <a:effectLst/>
                          <a:latin typeface="+mj-lt"/>
                        </a:rPr>
                        <a:t>(%)</a:t>
                      </a:r>
                    </a:p>
                  </a:txBody>
                  <a:tcPr marL="0" marR="0" marT="0" marB="0" anchor="ctr">
                    <a:lnL>
                      <a:noFill/>
                    </a:lnL>
                    <a:lnR>
                      <a:noFill/>
                    </a:lnR>
                    <a:lnT>
                      <a:noFill/>
                    </a:lnT>
                    <a:lnB>
                      <a:noFill/>
                    </a:lnB>
                    <a:solidFill>
                      <a:srgbClr val="86BC25"/>
                    </a:solidFill>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r>
                        <a:rPr lang="en-US" sz="1200" b="0" i="0" u="none" strike="noStrike">
                          <a:solidFill>
                            <a:srgbClr val="FFFFFF"/>
                          </a:solidFill>
                          <a:effectLst/>
                          <a:latin typeface="+mj-lt"/>
                        </a:rPr>
                        <a:t>  ( Rs /KWh)</a:t>
                      </a:r>
                    </a:p>
                  </a:txBody>
                  <a:tcPr marL="0" marR="0" marT="0" marB="0" anchor="ctr">
                    <a:lnL>
                      <a:noFill/>
                    </a:lnL>
                    <a:lnR>
                      <a:noFill/>
                    </a:lnR>
                    <a:lnT>
                      <a:noFill/>
                    </a:lnT>
                    <a:lnB>
                      <a:noFill/>
                    </a:lnB>
                    <a:solidFill>
                      <a:srgbClr val="86BC25"/>
                    </a:solidFill>
                  </a:tcPr>
                </a:tc>
                <a:tc>
                  <a:txBody>
                    <a:bodyPr/>
                    <a:lstStyle/>
                    <a:p>
                      <a:pPr algn="ctr" rtl="0" fontAlgn="ctr"/>
                      <a:r>
                        <a:rPr lang="en-US" sz="1200" b="0" i="0" u="none" strike="noStrike">
                          <a:solidFill>
                            <a:srgbClr val="FFFFFF"/>
                          </a:solidFill>
                          <a:effectLst/>
                          <a:latin typeface="+mj-lt"/>
                        </a:rPr>
                        <a:t> ( Crore)</a:t>
                      </a:r>
                    </a:p>
                  </a:txBody>
                  <a:tcPr marL="0" marR="0" marT="0" marB="0" anchor="ctr">
                    <a:lnL>
                      <a:noFill/>
                    </a:lnL>
                    <a:lnR>
                      <a:noFill/>
                    </a:lnR>
                    <a:lnT>
                      <a:noFill/>
                    </a:lnT>
                    <a:lnB>
                      <a:noFill/>
                    </a:lnB>
                    <a:solidFill>
                      <a:srgbClr val="86BC25"/>
                    </a:solidFill>
                  </a:tcPr>
                </a:tc>
                <a:tc>
                  <a:txBody>
                    <a:bodyPr/>
                    <a:lstStyle/>
                    <a:p>
                      <a:pPr algn="ctr" rtl="0" fontAlgn="ctr"/>
                      <a:r>
                        <a:rPr lang="en-US" sz="1200" b="0" i="0" u="none" strike="noStrike">
                          <a:solidFill>
                            <a:srgbClr val="FFFFFF"/>
                          </a:solidFill>
                          <a:effectLst/>
                          <a:latin typeface="+mj-lt"/>
                        </a:rPr>
                        <a:t>(Rs/KWh)</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86BC25"/>
                    </a:solidFill>
                  </a:tcPr>
                </a:tc>
                <a:extLst>
                  <a:ext uri="{0D108BD9-81ED-4DB2-BD59-A6C34878D82A}">
                    <a16:rowId xmlns:a16="http://schemas.microsoft.com/office/drawing/2014/main" val="3322470589"/>
                  </a:ext>
                </a:extLst>
              </a:tr>
              <a:tr h="204260">
                <a:tc gridSpan="2">
                  <a:txBody>
                    <a:bodyPr/>
                    <a:lstStyle/>
                    <a:p>
                      <a:pPr algn="ctr" rtl="0" fontAlgn="ctr"/>
                      <a:r>
                        <a:rPr lang="en-US" sz="1200" b="0" i="0" u="none" strike="noStrike">
                          <a:solidFill>
                            <a:srgbClr val="000000"/>
                          </a:solidFill>
                          <a:effectLst/>
                          <a:latin typeface="+mj-lt"/>
                        </a:rPr>
                        <a:t>Actual Parameter</a:t>
                      </a:r>
                    </a:p>
                  </a:txBody>
                  <a:tcPr marL="0" marR="0" marT="0" marB="0" anchor="ctr">
                    <a:lnL>
                      <a:noFill/>
                    </a:lnL>
                    <a:lnR>
                      <a:noFill/>
                    </a:lnR>
                    <a:lnT>
                      <a:noFill/>
                    </a:lnT>
                    <a:lnB>
                      <a:noFill/>
                    </a:lnB>
                    <a:solidFill>
                      <a:srgbClr val="DDEBF7"/>
                    </a:solidFill>
                  </a:tcPr>
                </a:tc>
                <a:tc hMerge="1">
                  <a:txBody>
                    <a:bodyPr/>
                    <a:lstStyle/>
                    <a:p>
                      <a:endParaRPr lang="en-US"/>
                    </a:p>
                  </a:txBody>
                  <a:tcPr/>
                </a:tc>
                <a:tc>
                  <a:txBody>
                    <a:bodyPr/>
                    <a:lstStyle/>
                    <a:p>
                      <a:pPr algn="ctr" rtl="0" fontAlgn="ctr"/>
                      <a:r>
                        <a:rPr lang="en-US" sz="1200" b="0" i="0" u="none" strike="noStrike">
                          <a:solidFill>
                            <a:srgbClr val="000000"/>
                          </a:solidFill>
                          <a:effectLst/>
                          <a:latin typeface="+mj-lt"/>
                        </a:rPr>
                        <a:t>79%</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37361</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0</a:t>
                      </a:r>
                    </a:p>
                  </a:txBody>
                  <a:tcPr marL="0" marR="0" marT="0" marB="0" anchor="ctr">
                    <a:lnL>
                      <a:noFill/>
                    </a:lnL>
                    <a:lnR>
                      <a:noFill/>
                    </a:lnR>
                    <a:lnT>
                      <a:noFill/>
                    </a:lnT>
                    <a:lnB>
                      <a:noFill/>
                    </a:lnB>
                    <a:solidFill>
                      <a:srgbClr val="FFFFFF"/>
                    </a:solidFill>
                  </a:tcPr>
                </a:tc>
                <a:tc rowSpan="4">
                  <a:txBody>
                    <a:bodyPr/>
                    <a:lstStyle/>
                    <a:p>
                      <a:pPr algn="ctr" rtl="0" fontAlgn="ctr"/>
                      <a:r>
                        <a:rPr lang="en-US" sz="1200" b="1" i="0" u="none" strike="noStrike">
                          <a:solidFill>
                            <a:srgbClr val="000000"/>
                          </a:solidFill>
                          <a:effectLst/>
                          <a:latin typeface="+mj-lt"/>
                        </a:rPr>
                        <a:t>2.89</a:t>
                      </a:r>
                    </a:p>
                  </a:txBody>
                  <a:tcPr marL="0" marR="0" marT="0" marB="0" anchor="ctr">
                    <a:lnL>
                      <a:noFill/>
                    </a:lnL>
                    <a:lnR>
                      <a:noFill/>
                    </a:lnR>
                    <a:lnT>
                      <a:noFill/>
                    </a:lnT>
                    <a:lnB>
                      <a:noFill/>
                    </a:lnB>
                    <a:solidFill>
                      <a:srgbClr val="FFFFFF"/>
                    </a:solidFill>
                  </a:tcPr>
                </a:tc>
                <a:tc gridSpan="2">
                  <a:txBody>
                    <a:bodyPr/>
                    <a:lstStyle/>
                    <a:p>
                      <a:pPr algn="ctr" rtl="0" fontAlgn="b"/>
                      <a:r>
                        <a:rPr lang="en-US" sz="1200" b="0" i="0" u="none" strike="noStrike">
                          <a:solidFill>
                            <a:srgbClr val="000000"/>
                          </a:solidFill>
                          <a:effectLst/>
                          <a:latin typeface="+mj-lt"/>
                        </a:rPr>
                        <a:t>0</a:t>
                      </a:r>
                    </a:p>
                  </a:txBody>
                  <a:tcPr marL="0" marR="0" marT="0" marB="0" anchor="b">
                    <a:lnL>
                      <a:noFill/>
                    </a:lnL>
                    <a:lnR>
                      <a:noFill/>
                    </a:lnR>
                    <a:lnT>
                      <a:noFill/>
                    </a:lnT>
                    <a:lnB>
                      <a:noFill/>
                    </a:lnB>
                    <a:solidFill>
                      <a:srgbClr val="FFFFFF"/>
                    </a:solidFill>
                  </a:tcPr>
                </a:tc>
                <a:tc hMerge="1">
                  <a:txBody>
                    <a:bodyPr/>
                    <a:lstStyle/>
                    <a:p>
                      <a:endParaRPr lang="en-US"/>
                    </a:p>
                  </a:txBody>
                  <a:tcPr/>
                </a:tc>
                <a:extLst>
                  <a:ext uri="{0D108BD9-81ED-4DB2-BD59-A6C34878D82A}">
                    <a16:rowId xmlns:a16="http://schemas.microsoft.com/office/drawing/2014/main" val="3924133680"/>
                  </a:ext>
                </a:extLst>
              </a:tr>
              <a:tr h="204260">
                <a:tc gridSpan="6">
                  <a:txBody>
                    <a:bodyPr/>
                    <a:lstStyle/>
                    <a:p>
                      <a:pPr algn="ctr" rtl="0" fontAlgn="ctr"/>
                      <a:r>
                        <a:rPr lang="en-US" sz="1200" b="1" i="0" u="none" strike="noStrike">
                          <a:solidFill>
                            <a:srgbClr val="000000"/>
                          </a:solidFill>
                          <a:effectLst/>
                          <a:latin typeface="+mj-lt"/>
                        </a:rPr>
                        <a:t>Phase Wise Reduction </a:t>
                      </a:r>
                    </a:p>
                  </a:txBody>
                  <a:tcPr marL="0" marR="0" marT="0" marB="0" anchor="ctr">
                    <a:lnL>
                      <a:noFill/>
                    </a:lnL>
                    <a:lnR>
                      <a:noFill/>
                    </a:lnR>
                    <a:lnT>
                      <a:noFill/>
                    </a:lnT>
                    <a:lnB>
                      <a:noFill/>
                    </a:lnB>
                    <a:solidFill>
                      <a:srgbClr val="FCE4D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vMerge="1">
                  <a:txBody>
                    <a:bodyPr/>
                    <a:lstStyle/>
                    <a:p>
                      <a:endParaRPr lang="en-US"/>
                    </a:p>
                  </a:txBody>
                  <a:tcPr/>
                </a:tc>
                <a:tc>
                  <a:txBody>
                    <a:bodyPr/>
                    <a:lstStyle/>
                    <a:p>
                      <a:pPr algn="ctr" rtl="0" fontAlgn="b"/>
                      <a:r>
                        <a:rPr lang="en-US" sz="1200" b="0" i="0" u="none" strike="noStrike">
                          <a:solidFill>
                            <a:srgbClr val="000000"/>
                          </a:solidFill>
                          <a:effectLst/>
                          <a:latin typeface="+mj-lt"/>
                        </a:rPr>
                        <a:t> </a:t>
                      </a:r>
                    </a:p>
                  </a:txBody>
                  <a:tcPr marL="0" marR="0" marT="0" marB="0" anchor="b">
                    <a:lnL>
                      <a:noFill/>
                    </a:lnL>
                    <a:lnR>
                      <a:noFill/>
                    </a:lnR>
                    <a:lnT>
                      <a:noFill/>
                    </a:lnT>
                    <a:lnB>
                      <a:noFill/>
                    </a:lnB>
                    <a:solidFill>
                      <a:srgbClr val="FFFFFF"/>
                    </a:solidFill>
                  </a:tcPr>
                </a:tc>
                <a:tc>
                  <a:txBody>
                    <a:bodyPr/>
                    <a:lstStyle/>
                    <a:p>
                      <a:pPr algn="ctr" rtl="0" fontAlgn="b"/>
                      <a:r>
                        <a:rPr lang="en-US" sz="1200" b="0" i="0" u="none" strike="noStrike">
                          <a:solidFill>
                            <a:srgbClr val="000000"/>
                          </a:solidFill>
                          <a:effectLst/>
                          <a:latin typeface="+mj-lt"/>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215916655"/>
                  </a:ext>
                </a:extLst>
              </a:tr>
              <a:tr h="204260">
                <a:tc rowSpan="2">
                  <a:txBody>
                    <a:bodyPr/>
                    <a:lstStyle/>
                    <a:p>
                      <a:pPr algn="ctr" rtl="0" fontAlgn="ctr"/>
                      <a:r>
                        <a:rPr lang="en-US" sz="1200" b="0" i="0" u="none" strike="noStrike">
                          <a:solidFill>
                            <a:srgbClr val="000000"/>
                          </a:solidFill>
                          <a:effectLst/>
                          <a:latin typeface="+mj-lt"/>
                        </a:rPr>
                        <a:t>Phase Wise Loss Reduction Planning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dirty="0">
                          <a:solidFill>
                            <a:srgbClr val="000000"/>
                          </a:solidFill>
                          <a:effectLst/>
                          <a:latin typeface="+mj-lt"/>
                        </a:rPr>
                        <a:t>Phase 1</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82%</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36044</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1317</a:t>
                      </a:r>
                    </a:p>
                  </a:txBody>
                  <a:tcPr marL="0" marR="0" marT="0" marB="0" anchor="ctr">
                    <a:lnL>
                      <a:noFill/>
                    </a:lnL>
                    <a:lnR>
                      <a:noFill/>
                    </a:lnR>
                    <a:lnT>
                      <a:noFill/>
                    </a:lnT>
                    <a:lnB>
                      <a:noFill/>
                    </a:lnB>
                    <a:solidFill>
                      <a:srgbClr val="FFFFFF"/>
                    </a:solidFill>
                  </a:tcPr>
                </a:tc>
                <a:tc vMerge="1">
                  <a:txBody>
                    <a:bodyPr/>
                    <a:lstStyle/>
                    <a:p>
                      <a:endParaRPr lang="en-US"/>
                    </a:p>
                  </a:txBody>
                  <a:tcPr/>
                </a:tc>
                <a:tc>
                  <a:txBody>
                    <a:bodyPr/>
                    <a:lstStyle/>
                    <a:p>
                      <a:pPr algn="ctr" rtl="0" fontAlgn="ctr"/>
                      <a:r>
                        <a:rPr lang="en-US" sz="1200" b="0" i="0" u="none" strike="noStrike">
                          <a:solidFill>
                            <a:srgbClr val="000000"/>
                          </a:solidFill>
                          <a:effectLst/>
                          <a:latin typeface="+mj-lt"/>
                        </a:rPr>
                        <a:t>380</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0.11</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840713459"/>
                  </a:ext>
                </a:extLst>
              </a:tr>
              <a:tr h="204260">
                <a:tc vMerge="1">
                  <a:txBody>
                    <a:bodyPr/>
                    <a:lstStyle/>
                    <a:p>
                      <a:endParaRPr lang="en-US"/>
                    </a:p>
                  </a:txBody>
                  <a:tcPr/>
                </a:tc>
                <a:tc>
                  <a:txBody>
                    <a:bodyPr/>
                    <a:lstStyle/>
                    <a:p>
                      <a:pPr algn="ctr" rtl="0" fontAlgn="ctr"/>
                      <a:r>
                        <a:rPr lang="en-US" sz="1200" b="0" i="0" u="none" strike="noStrike">
                          <a:solidFill>
                            <a:srgbClr val="000000"/>
                          </a:solidFill>
                          <a:effectLst/>
                          <a:latin typeface="+mj-lt"/>
                        </a:rPr>
                        <a:t>Phase 2</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85%</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34772</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1272</a:t>
                      </a:r>
                    </a:p>
                  </a:txBody>
                  <a:tcPr marL="0" marR="0" marT="0" marB="0" anchor="ctr">
                    <a:lnL>
                      <a:noFill/>
                    </a:lnL>
                    <a:lnR>
                      <a:noFill/>
                    </a:lnR>
                    <a:lnT>
                      <a:noFill/>
                    </a:lnT>
                    <a:lnB>
                      <a:noFill/>
                    </a:lnB>
                    <a:solidFill>
                      <a:srgbClr val="FFFFFF"/>
                    </a:solidFill>
                  </a:tcPr>
                </a:tc>
                <a:tc vMerge="1">
                  <a:txBody>
                    <a:bodyPr/>
                    <a:lstStyle/>
                    <a:p>
                      <a:endParaRPr lang="en-US"/>
                    </a:p>
                  </a:txBody>
                  <a:tcPr/>
                </a:tc>
                <a:tc>
                  <a:txBody>
                    <a:bodyPr/>
                    <a:lstStyle/>
                    <a:p>
                      <a:pPr algn="ctr" rtl="0" fontAlgn="ctr"/>
                      <a:r>
                        <a:rPr lang="en-US" sz="1200" b="0" i="0" u="none" strike="noStrike">
                          <a:solidFill>
                            <a:srgbClr val="000000"/>
                          </a:solidFill>
                          <a:effectLst/>
                          <a:latin typeface="+mj-lt"/>
                        </a:rPr>
                        <a:t>367</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0.11</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433385184"/>
                  </a:ext>
                </a:extLst>
              </a:tr>
              <a:tr h="204260">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88%</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33510</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1262</a:t>
                      </a:r>
                    </a:p>
                  </a:txBody>
                  <a:tcPr marL="0" marR="0" marT="0" marB="0" anchor="ctr">
                    <a:lnL>
                      <a:noFill/>
                    </a:lnL>
                    <a:lnR>
                      <a:noFill/>
                    </a:lnR>
                    <a:lnT>
                      <a:noFill/>
                    </a:lnT>
                    <a:lnB>
                      <a:noFill/>
                    </a:lnB>
                    <a:solidFill>
                      <a:srgbClr val="FFFFFF"/>
                    </a:solidFill>
                  </a:tcPr>
                </a:tc>
                <a:tc>
                  <a:txBody>
                    <a:bodyPr/>
                    <a:lstStyle/>
                    <a:p>
                      <a:pPr algn="ctr" rtl="0" fontAlgn="ctr"/>
                      <a:r>
                        <a:rPr lang="en-US" sz="1200" b="1" i="0" u="none" strike="noStrike">
                          <a:solidFill>
                            <a:srgbClr val="000000"/>
                          </a:solidFill>
                          <a:effectLst/>
                          <a:latin typeface="+mj-lt"/>
                        </a:rPr>
                        <a:t> </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364</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0.11</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70282390"/>
                  </a:ext>
                </a:extLst>
              </a:tr>
              <a:tr h="204260">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91%</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32319</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1191</a:t>
                      </a:r>
                    </a:p>
                  </a:txBody>
                  <a:tcPr marL="0" marR="0" marT="0" marB="0" anchor="ctr">
                    <a:lnL>
                      <a:noFill/>
                    </a:lnL>
                    <a:lnR>
                      <a:noFill/>
                    </a:lnR>
                    <a:lnT>
                      <a:noFill/>
                    </a:lnT>
                    <a:lnB>
                      <a:noFill/>
                    </a:lnB>
                    <a:solidFill>
                      <a:srgbClr val="FFFFFF"/>
                    </a:solidFill>
                  </a:tcPr>
                </a:tc>
                <a:tc>
                  <a:txBody>
                    <a:bodyPr/>
                    <a:lstStyle/>
                    <a:p>
                      <a:pPr algn="ctr" rtl="0" fontAlgn="ctr"/>
                      <a:r>
                        <a:rPr lang="en-US" sz="1200" b="1" i="0" u="none" strike="noStrike">
                          <a:solidFill>
                            <a:srgbClr val="000000"/>
                          </a:solidFill>
                          <a:effectLst/>
                          <a:latin typeface="+mj-lt"/>
                        </a:rPr>
                        <a:t> </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344</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0.11</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546623184"/>
                  </a:ext>
                </a:extLst>
              </a:tr>
              <a:tr h="204260">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95%</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31112</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1208</a:t>
                      </a:r>
                    </a:p>
                  </a:txBody>
                  <a:tcPr marL="0" marR="0" marT="0" marB="0" anchor="ctr">
                    <a:lnL>
                      <a:noFill/>
                    </a:lnL>
                    <a:lnR>
                      <a:noFill/>
                    </a:lnR>
                    <a:lnT>
                      <a:noFill/>
                    </a:lnT>
                    <a:lnB>
                      <a:noFill/>
                    </a:lnB>
                    <a:solidFill>
                      <a:srgbClr val="FFFFFF"/>
                    </a:solidFill>
                  </a:tcPr>
                </a:tc>
                <a:tc>
                  <a:txBody>
                    <a:bodyPr/>
                    <a:lstStyle/>
                    <a:p>
                      <a:pPr algn="ctr" rtl="0" fontAlgn="ctr"/>
                      <a:r>
                        <a:rPr lang="en-US" sz="1200" b="1" i="0" u="none" strike="noStrike">
                          <a:solidFill>
                            <a:srgbClr val="000000"/>
                          </a:solidFill>
                          <a:effectLst/>
                          <a:latin typeface="+mj-lt"/>
                        </a:rPr>
                        <a:t> </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349</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dirty="0">
                          <a:solidFill>
                            <a:srgbClr val="000000"/>
                          </a:solidFill>
                          <a:effectLst/>
                          <a:latin typeface="+mj-lt"/>
                        </a:rPr>
                        <a:t>0.11</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57592213"/>
                  </a:ext>
                </a:extLst>
              </a:tr>
            </a:tbl>
          </a:graphicData>
        </a:graphic>
      </p:graphicFrame>
      <p:graphicFrame>
        <p:nvGraphicFramePr>
          <p:cNvPr id="17" name="Table 16">
            <a:extLst>
              <a:ext uri="{FF2B5EF4-FFF2-40B4-BE49-F238E27FC236}">
                <a16:creationId xmlns:a16="http://schemas.microsoft.com/office/drawing/2014/main" id="{E60A50A7-4042-4C3C-85C3-52BEBE126D4F}"/>
              </a:ext>
            </a:extLst>
          </p:cNvPr>
          <p:cNvGraphicFramePr>
            <a:graphicFrameLocks noGrp="1"/>
          </p:cNvGraphicFramePr>
          <p:nvPr/>
        </p:nvGraphicFramePr>
        <p:xfrm>
          <a:off x="539747" y="4108549"/>
          <a:ext cx="11160575" cy="1921928"/>
        </p:xfrm>
        <a:graphic>
          <a:graphicData uri="http://schemas.openxmlformats.org/drawingml/2006/table">
            <a:tbl>
              <a:tblPr/>
              <a:tblGrid>
                <a:gridCol w="1550528">
                  <a:extLst>
                    <a:ext uri="{9D8B030D-6E8A-4147-A177-3AD203B41FA5}">
                      <a16:colId xmlns:a16="http://schemas.microsoft.com/office/drawing/2014/main" val="3572253722"/>
                    </a:ext>
                  </a:extLst>
                </a:gridCol>
                <a:gridCol w="1259804">
                  <a:extLst>
                    <a:ext uri="{9D8B030D-6E8A-4147-A177-3AD203B41FA5}">
                      <a16:colId xmlns:a16="http://schemas.microsoft.com/office/drawing/2014/main" val="3993421989"/>
                    </a:ext>
                  </a:extLst>
                </a:gridCol>
                <a:gridCol w="1598983">
                  <a:extLst>
                    <a:ext uri="{9D8B030D-6E8A-4147-A177-3AD203B41FA5}">
                      <a16:colId xmlns:a16="http://schemas.microsoft.com/office/drawing/2014/main" val="3394016231"/>
                    </a:ext>
                  </a:extLst>
                </a:gridCol>
                <a:gridCol w="1598983">
                  <a:extLst>
                    <a:ext uri="{9D8B030D-6E8A-4147-A177-3AD203B41FA5}">
                      <a16:colId xmlns:a16="http://schemas.microsoft.com/office/drawing/2014/main" val="3356572549"/>
                    </a:ext>
                  </a:extLst>
                </a:gridCol>
                <a:gridCol w="1292107">
                  <a:extLst>
                    <a:ext uri="{9D8B030D-6E8A-4147-A177-3AD203B41FA5}">
                      <a16:colId xmlns:a16="http://schemas.microsoft.com/office/drawing/2014/main" val="4117298484"/>
                    </a:ext>
                  </a:extLst>
                </a:gridCol>
                <a:gridCol w="1146745">
                  <a:extLst>
                    <a:ext uri="{9D8B030D-6E8A-4147-A177-3AD203B41FA5}">
                      <a16:colId xmlns:a16="http://schemas.microsoft.com/office/drawing/2014/main" val="1278422191"/>
                    </a:ext>
                  </a:extLst>
                </a:gridCol>
                <a:gridCol w="1033685">
                  <a:extLst>
                    <a:ext uri="{9D8B030D-6E8A-4147-A177-3AD203B41FA5}">
                      <a16:colId xmlns:a16="http://schemas.microsoft.com/office/drawing/2014/main" val="1254033770"/>
                    </a:ext>
                  </a:extLst>
                </a:gridCol>
                <a:gridCol w="839870">
                  <a:extLst>
                    <a:ext uri="{9D8B030D-6E8A-4147-A177-3AD203B41FA5}">
                      <a16:colId xmlns:a16="http://schemas.microsoft.com/office/drawing/2014/main" val="4125753427"/>
                    </a:ext>
                  </a:extLst>
                </a:gridCol>
                <a:gridCol w="839870">
                  <a:extLst>
                    <a:ext uri="{9D8B030D-6E8A-4147-A177-3AD203B41FA5}">
                      <a16:colId xmlns:a16="http://schemas.microsoft.com/office/drawing/2014/main" val="751648865"/>
                    </a:ext>
                  </a:extLst>
                </a:gridCol>
              </a:tblGrid>
              <a:tr h="348795">
                <a:tc rowSpan="2" gridSpan="2">
                  <a:txBody>
                    <a:bodyPr/>
                    <a:lstStyle/>
                    <a:p>
                      <a:pPr algn="ctr" rtl="0" fontAlgn="ctr"/>
                      <a:r>
                        <a:rPr lang="en-US" sz="1200" b="0" i="0" u="none" strike="noStrike">
                          <a:solidFill>
                            <a:srgbClr val="FFFFFF"/>
                          </a:solidFill>
                          <a:effectLst/>
                          <a:latin typeface="+mj-lt"/>
                        </a:rPr>
                        <a:t>Particulars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86BC25"/>
                    </a:solidFill>
                  </a:tcPr>
                </a:tc>
                <a:tc rowSpan="2" hMerge="1">
                  <a:txBody>
                    <a:bodyPr/>
                    <a:lstStyle/>
                    <a:p>
                      <a:endParaRPr lang="en-US"/>
                    </a:p>
                  </a:txBody>
                  <a:tcPr/>
                </a:tc>
                <a:tc>
                  <a:txBody>
                    <a:bodyPr/>
                    <a:lstStyle/>
                    <a:p>
                      <a:pPr algn="ctr" rtl="0" fontAlgn="ctr"/>
                      <a:r>
                        <a:rPr lang="en-US" sz="1200" b="0" i="0" u="none" strike="noStrike">
                          <a:solidFill>
                            <a:srgbClr val="FFFFFF"/>
                          </a:solidFill>
                          <a:effectLst/>
                          <a:latin typeface="+mj-lt"/>
                        </a:rPr>
                        <a:t>Billing Efficiency</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rowSpan="2">
                  <a:txBody>
                    <a:bodyPr/>
                    <a:lstStyle/>
                    <a:p>
                      <a:pPr algn="ctr" rtl="0" fontAlgn="ctr"/>
                      <a:r>
                        <a:rPr lang="en-US" sz="1200" b="0" i="0" u="none" strike="noStrike">
                          <a:solidFill>
                            <a:srgbClr val="FFFFFF"/>
                          </a:solidFill>
                          <a:effectLst/>
                          <a:latin typeface="+mj-lt"/>
                        </a:rPr>
                        <a:t>Energy Sold (MU)</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rowSpan="2">
                  <a:txBody>
                    <a:bodyPr/>
                    <a:lstStyle/>
                    <a:p>
                      <a:pPr algn="ctr" rtl="0" fontAlgn="ctr"/>
                      <a:r>
                        <a:rPr lang="en-US" sz="1200" b="0" i="0" u="none" strike="noStrike">
                          <a:solidFill>
                            <a:srgbClr val="FFFFFF"/>
                          </a:solidFill>
                          <a:effectLst/>
                          <a:latin typeface="+mj-lt"/>
                        </a:rPr>
                        <a:t>Net Input Energy (MU)</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rowSpan="2">
                  <a:txBody>
                    <a:bodyPr/>
                    <a:lstStyle/>
                    <a:p>
                      <a:pPr algn="ctr" rtl="0" fontAlgn="ctr"/>
                      <a:r>
                        <a:rPr lang="en-US" sz="1200" b="0" i="0" u="none" strike="noStrike">
                          <a:solidFill>
                            <a:srgbClr val="FFFFFF"/>
                          </a:solidFill>
                          <a:effectLst/>
                          <a:latin typeface="+mj-lt"/>
                        </a:rPr>
                        <a:t>Net Energy Reduction (MU)</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200" b="0" i="0" u="none" strike="noStrike">
                          <a:solidFill>
                            <a:srgbClr val="FFFFFF"/>
                          </a:solidFill>
                          <a:effectLst/>
                          <a:latin typeface="+mj-lt"/>
                        </a:rPr>
                        <a:t>Energy Charge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200" b="0" i="0" u="none" strike="noStrike">
                          <a:solidFill>
                            <a:srgbClr val="FFFFFF"/>
                          </a:solidFill>
                          <a:effectLst/>
                          <a:latin typeface="+mj-lt"/>
                        </a:rPr>
                        <a:t>Net Saving</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200" b="0" i="0" u="none" strike="noStrike">
                          <a:solidFill>
                            <a:srgbClr val="FFFFFF"/>
                          </a:solidFill>
                          <a:effectLst/>
                          <a:latin typeface="+mj-lt"/>
                        </a:rPr>
                        <a:t>Saving in Per Unit </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86BC25"/>
                    </a:solidFill>
                  </a:tcPr>
                </a:tc>
                <a:extLst>
                  <a:ext uri="{0D108BD9-81ED-4DB2-BD59-A6C34878D82A}">
                    <a16:rowId xmlns:a16="http://schemas.microsoft.com/office/drawing/2014/main" val="4000647371"/>
                  </a:ext>
                </a:extLst>
              </a:tr>
              <a:tr h="194521">
                <a:tc gridSpan="2" vMerge="1">
                  <a:txBody>
                    <a:bodyPr/>
                    <a:lstStyle/>
                    <a:p>
                      <a:endParaRPr lang="en-US"/>
                    </a:p>
                  </a:txBody>
                  <a:tcPr/>
                </a:tc>
                <a:tc hMerge="1" vMerge="1">
                  <a:txBody>
                    <a:bodyPr/>
                    <a:lstStyle/>
                    <a:p>
                      <a:endParaRPr lang="en-US"/>
                    </a:p>
                  </a:txBody>
                  <a:tcPr/>
                </a:tc>
                <a:tc>
                  <a:txBody>
                    <a:bodyPr/>
                    <a:lstStyle/>
                    <a:p>
                      <a:pPr algn="ctr" rtl="0" fontAlgn="ctr"/>
                      <a:r>
                        <a:rPr lang="en-US" sz="1200" b="0" i="0" u="none" strike="noStrike">
                          <a:solidFill>
                            <a:srgbClr val="FFFFFF"/>
                          </a:solidFill>
                          <a:effectLst/>
                          <a:latin typeface="+mj-lt"/>
                        </a:rPr>
                        <a:t>(%)</a:t>
                      </a:r>
                    </a:p>
                  </a:txBody>
                  <a:tcPr marL="0" marR="0" marT="0" marB="0" anchor="ctr">
                    <a:lnL>
                      <a:noFill/>
                    </a:lnL>
                    <a:lnR>
                      <a:noFill/>
                    </a:lnR>
                    <a:lnT>
                      <a:noFill/>
                    </a:lnT>
                    <a:lnB>
                      <a:noFill/>
                    </a:lnB>
                    <a:solidFill>
                      <a:srgbClr val="86BC25"/>
                    </a:solidFill>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r>
                        <a:rPr lang="en-US" sz="1200" b="0" i="0" u="none" strike="noStrike">
                          <a:solidFill>
                            <a:srgbClr val="FFFFFF"/>
                          </a:solidFill>
                          <a:effectLst/>
                          <a:latin typeface="+mj-lt"/>
                        </a:rPr>
                        <a:t>  ( Rs /KWh)</a:t>
                      </a:r>
                    </a:p>
                  </a:txBody>
                  <a:tcPr marL="0" marR="0" marT="0" marB="0" anchor="ctr">
                    <a:lnL>
                      <a:noFill/>
                    </a:lnL>
                    <a:lnR>
                      <a:noFill/>
                    </a:lnR>
                    <a:lnT>
                      <a:noFill/>
                    </a:lnT>
                    <a:lnB>
                      <a:noFill/>
                    </a:lnB>
                    <a:solidFill>
                      <a:srgbClr val="86BC25"/>
                    </a:solidFill>
                  </a:tcPr>
                </a:tc>
                <a:tc>
                  <a:txBody>
                    <a:bodyPr/>
                    <a:lstStyle/>
                    <a:p>
                      <a:pPr algn="ctr" rtl="0" fontAlgn="ctr"/>
                      <a:r>
                        <a:rPr lang="en-US" sz="1200" b="0" i="0" u="none" strike="noStrike">
                          <a:solidFill>
                            <a:srgbClr val="FFFFFF"/>
                          </a:solidFill>
                          <a:effectLst/>
                          <a:latin typeface="+mj-lt"/>
                        </a:rPr>
                        <a:t> ( Crore)</a:t>
                      </a:r>
                    </a:p>
                  </a:txBody>
                  <a:tcPr marL="0" marR="0" marT="0" marB="0" anchor="ctr">
                    <a:lnL>
                      <a:noFill/>
                    </a:lnL>
                    <a:lnR>
                      <a:noFill/>
                    </a:lnR>
                    <a:lnT>
                      <a:noFill/>
                    </a:lnT>
                    <a:lnB>
                      <a:noFill/>
                    </a:lnB>
                    <a:solidFill>
                      <a:srgbClr val="86BC25"/>
                    </a:solidFill>
                  </a:tcPr>
                </a:tc>
                <a:tc>
                  <a:txBody>
                    <a:bodyPr/>
                    <a:lstStyle/>
                    <a:p>
                      <a:pPr algn="ctr" rtl="0" fontAlgn="ctr"/>
                      <a:r>
                        <a:rPr lang="en-US" sz="1200" b="0" i="0" u="none" strike="noStrike">
                          <a:solidFill>
                            <a:srgbClr val="FFFFFF"/>
                          </a:solidFill>
                          <a:effectLst/>
                          <a:latin typeface="+mj-lt"/>
                        </a:rPr>
                        <a:t>(Rs/KWh)</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86BC25"/>
                    </a:solidFill>
                  </a:tcPr>
                </a:tc>
                <a:extLst>
                  <a:ext uri="{0D108BD9-81ED-4DB2-BD59-A6C34878D82A}">
                    <a16:rowId xmlns:a16="http://schemas.microsoft.com/office/drawing/2014/main" val="1812149934"/>
                  </a:ext>
                </a:extLst>
              </a:tr>
              <a:tr h="194521">
                <a:tc gridSpan="2">
                  <a:txBody>
                    <a:bodyPr/>
                    <a:lstStyle/>
                    <a:p>
                      <a:pPr algn="ctr" rtl="0" fontAlgn="ctr"/>
                      <a:r>
                        <a:rPr lang="en-US" sz="1200" b="0" i="0" u="none" strike="noStrike">
                          <a:solidFill>
                            <a:srgbClr val="000000"/>
                          </a:solidFill>
                          <a:effectLst/>
                          <a:latin typeface="+mj-lt"/>
                        </a:rPr>
                        <a:t>Actual Parameter</a:t>
                      </a:r>
                    </a:p>
                  </a:txBody>
                  <a:tcPr marL="0" marR="0" marT="0" marB="0" anchor="ctr">
                    <a:lnL>
                      <a:noFill/>
                    </a:lnL>
                    <a:lnR>
                      <a:noFill/>
                    </a:lnR>
                    <a:lnT>
                      <a:noFill/>
                    </a:lnT>
                    <a:lnB>
                      <a:noFill/>
                    </a:lnB>
                    <a:solidFill>
                      <a:srgbClr val="DDEBF7"/>
                    </a:solidFill>
                  </a:tcPr>
                </a:tc>
                <a:tc hMerge="1">
                  <a:txBody>
                    <a:bodyPr/>
                    <a:lstStyle/>
                    <a:p>
                      <a:endParaRPr lang="en-US"/>
                    </a:p>
                  </a:txBody>
                  <a:tcPr/>
                </a:tc>
                <a:tc>
                  <a:txBody>
                    <a:bodyPr/>
                    <a:lstStyle/>
                    <a:p>
                      <a:pPr algn="ctr" rtl="0" fontAlgn="ctr"/>
                      <a:r>
                        <a:rPr lang="en-US" sz="1200" b="0" i="0" u="none" strike="noStrike">
                          <a:solidFill>
                            <a:srgbClr val="000000"/>
                          </a:solidFill>
                          <a:effectLst/>
                          <a:latin typeface="+mj-lt"/>
                        </a:rPr>
                        <a:t>79%</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37361</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0</a:t>
                      </a:r>
                    </a:p>
                  </a:txBody>
                  <a:tcPr marL="0" marR="0" marT="0" marB="0" anchor="ctr">
                    <a:lnL>
                      <a:noFill/>
                    </a:lnL>
                    <a:lnR>
                      <a:noFill/>
                    </a:lnR>
                    <a:lnT>
                      <a:noFill/>
                    </a:lnT>
                    <a:lnB>
                      <a:noFill/>
                    </a:lnB>
                    <a:solidFill>
                      <a:srgbClr val="FFFFFF"/>
                    </a:solidFill>
                  </a:tcPr>
                </a:tc>
                <a:tc rowSpan="4">
                  <a:txBody>
                    <a:bodyPr/>
                    <a:lstStyle/>
                    <a:p>
                      <a:pPr algn="ctr" rtl="0" fontAlgn="ctr"/>
                      <a:r>
                        <a:rPr lang="en-US" sz="1200" b="1" i="0" u="none" strike="noStrike">
                          <a:solidFill>
                            <a:srgbClr val="000000"/>
                          </a:solidFill>
                          <a:effectLst/>
                          <a:latin typeface="+mj-lt"/>
                        </a:rPr>
                        <a:t>4.49</a:t>
                      </a:r>
                    </a:p>
                  </a:txBody>
                  <a:tcPr marL="0" marR="0" marT="0" marB="0" anchor="ctr">
                    <a:lnL>
                      <a:noFill/>
                    </a:lnL>
                    <a:lnR>
                      <a:noFill/>
                    </a:lnR>
                    <a:lnT>
                      <a:noFill/>
                    </a:lnT>
                    <a:lnB>
                      <a:noFill/>
                    </a:lnB>
                    <a:solidFill>
                      <a:srgbClr val="FFFFFF"/>
                    </a:solidFill>
                  </a:tcPr>
                </a:tc>
                <a:tc gridSpan="2">
                  <a:txBody>
                    <a:bodyPr/>
                    <a:lstStyle/>
                    <a:p>
                      <a:pPr algn="ctr" rtl="0" fontAlgn="b"/>
                      <a:r>
                        <a:rPr lang="en-US" sz="1200" b="0" i="0" u="none" strike="noStrike">
                          <a:solidFill>
                            <a:srgbClr val="000000"/>
                          </a:solidFill>
                          <a:effectLst/>
                          <a:latin typeface="+mj-lt"/>
                        </a:rPr>
                        <a:t>0</a:t>
                      </a:r>
                    </a:p>
                  </a:txBody>
                  <a:tcPr marL="0" marR="0" marT="0" marB="0" anchor="b">
                    <a:lnL>
                      <a:noFill/>
                    </a:lnL>
                    <a:lnR>
                      <a:noFill/>
                    </a:lnR>
                    <a:lnT>
                      <a:noFill/>
                    </a:lnT>
                    <a:lnB>
                      <a:noFill/>
                    </a:lnB>
                    <a:solidFill>
                      <a:srgbClr val="FFFFFF"/>
                    </a:solidFill>
                  </a:tcPr>
                </a:tc>
                <a:tc hMerge="1">
                  <a:txBody>
                    <a:bodyPr/>
                    <a:lstStyle/>
                    <a:p>
                      <a:endParaRPr lang="en-US"/>
                    </a:p>
                  </a:txBody>
                  <a:tcPr/>
                </a:tc>
                <a:extLst>
                  <a:ext uri="{0D108BD9-81ED-4DB2-BD59-A6C34878D82A}">
                    <a16:rowId xmlns:a16="http://schemas.microsoft.com/office/drawing/2014/main" val="4046288100"/>
                  </a:ext>
                </a:extLst>
              </a:tr>
              <a:tr h="194521">
                <a:tc gridSpan="6">
                  <a:txBody>
                    <a:bodyPr/>
                    <a:lstStyle/>
                    <a:p>
                      <a:pPr algn="ctr" rtl="0" fontAlgn="ctr"/>
                      <a:r>
                        <a:rPr lang="en-US" sz="1200" b="1" i="0" u="none" strike="noStrike">
                          <a:solidFill>
                            <a:srgbClr val="000000"/>
                          </a:solidFill>
                          <a:effectLst/>
                          <a:latin typeface="+mj-lt"/>
                        </a:rPr>
                        <a:t>Phase Wise Reduction </a:t>
                      </a:r>
                    </a:p>
                  </a:txBody>
                  <a:tcPr marL="0" marR="0" marT="0" marB="0" anchor="ctr">
                    <a:lnL>
                      <a:noFill/>
                    </a:lnL>
                    <a:lnR>
                      <a:noFill/>
                    </a:lnR>
                    <a:lnT>
                      <a:noFill/>
                    </a:lnT>
                    <a:lnB>
                      <a:noFill/>
                    </a:lnB>
                    <a:solidFill>
                      <a:srgbClr val="FCE4D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vMerge="1">
                  <a:txBody>
                    <a:bodyPr/>
                    <a:lstStyle/>
                    <a:p>
                      <a:endParaRPr lang="en-US"/>
                    </a:p>
                  </a:txBody>
                  <a:tcPr/>
                </a:tc>
                <a:tc>
                  <a:txBody>
                    <a:bodyPr/>
                    <a:lstStyle/>
                    <a:p>
                      <a:pPr algn="ctr" rtl="0" fontAlgn="b"/>
                      <a:r>
                        <a:rPr lang="en-US" sz="1200" b="0" i="0" u="none" strike="noStrike">
                          <a:solidFill>
                            <a:srgbClr val="000000"/>
                          </a:solidFill>
                          <a:effectLst/>
                          <a:latin typeface="+mj-lt"/>
                        </a:rPr>
                        <a:t> </a:t>
                      </a:r>
                    </a:p>
                  </a:txBody>
                  <a:tcPr marL="0" marR="0" marT="0" marB="0" anchor="b">
                    <a:lnL>
                      <a:noFill/>
                    </a:lnL>
                    <a:lnR>
                      <a:noFill/>
                    </a:lnR>
                    <a:lnT>
                      <a:noFill/>
                    </a:lnT>
                    <a:lnB>
                      <a:noFill/>
                    </a:lnB>
                    <a:solidFill>
                      <a:srgbClr val="FFFFFF"/>
                    </a:solidFill>
                  </a:tcPr>
                </a:tc>
                <a:tc>
                  <a:txBody>
                    <a:bodyPr/>
                    <a:lstStyle/>
                    <a:p>
                      <a:pPr algn="ctr" rtl="0" fontAlgn="b"/>
                      <a:r>
                        <a:rPr lang="en-US" sz="1200" b="0" i="0" u="none" strike="noStrike">
                          <a:solidFill>
                            <a:srgbClr val="000000"/>
                          </a:solidFill>
                          <a:effectLst/>
                          <a:latin typeface="+mj-lt"/>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100954583"/>
                  </a:ext>
                </a:extLst>
              </a:tr>
              <a:tr h="194521">
                <a:tc rowSpan="2">
                  <a:txBody>
                    <a:bodyPr/>
                    <a:lstStyle/>
                    <a:p>
                      <a:pPr algn="ctr" rtl="0" fontAlgn="ctr"/>
                      <a:r>
                        <a:rPr lang="en-US" sz="1200" b="0" i="0" u="none" strike="noStrike">
                          <a:solidFill>
                            <a:srgbClr val="000000"/>
                          </a:solidFill>
                          <a:effectLst/>
                          <a:latin typeface="+mj-lt"/>
                        </a:rPr>
                        <a:t>Phase Wise Loss Reduction Planning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Phase 1</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82%</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36044</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1317</a:t>
                      </a:r>
                    </a:p>
                  </a:txBody>
                  <a:tcPr marL="0" marR="0" marT="0" marB="0" anchor="ctr">
                    <a:lnL>
                      <a:noFill/>
                    </a:lnL>
                    <a:lnR>
                      <a:noFill/>
                    </a:lnR>
                    <a:lnT>
                      <a:noFill/>
                    </a:lnT>
                    <a:lnB>
                      <a:noFill/>
                    </a:lnB>
                    <a:solidFill>
                      <a:srgbClr val="FFFFFF"/>
                    </a:solidFill>
                  </a:tcPr>
                </a:tc>
                <a:tc vMerge="1">
                  <a:txBody>
                    <a:bodyPr/>
                    <a:lstStyle/>
                    <a:p>
                      <a:endParaRPr lang="en-US"/>
                    </a:p>
                  </a:txBody>
                  <a:tcPr/>
                </a:tc>
                <a:tc>
                  <a:txBody>
                    <a:bodyPr/>
                    <a:lstStyle/>
                    <a:p>
                      <a:pPr algn="ctr" rtl="0" fontAlgn="ctr"/>
                      <a:r>
                        <a:rPr lang="en-US" sz="1200" b="0" i="0" u="none" strike="noStrike">
                          <a:solidFill>
                            <a:srgbClr val="000000"/>
                          </a:solidFill>
                          <a:effectLst/>
                          <a:latin typeface="+mj-lt"/>
                        </a:rPr>
                        <a:t>592</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0.16</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508910071"/>
                  </a:ext>
                </a:extLst>
              </a:tr>
              <a:tr h="194521">
                <a:tc vMerge="1">
                  <a:txBody>
                    <a:bodyPr/>
                    <a:lstStyle/>
                    <a:p>
                      <a:endParaRPr lang="en-US"/>
                    </a:p>
                  </a:txBody>
                  <a:tcPr/>
                </a:tc>
                <a:tc>
                  <a:txBody>
                    <a:bodyPr/>
                    <a:lstStyle/>
                    <a:p>
                      <a:pPr algn="ctr" rtl="0" fontAlgn="ctr"/>
                      <a:r>
                        <a:rPr lang="en-US" sz="1200" b="0" i="0" u="none" strike="noStrike">
                          <a:solidFill>
                            <a:srgbClr val="000000"/>
                          </a:solidFill>
                          <a:effectLst/>
                          <a:latin typeface="+mj-lt"/>
                        </a:rPr>
                        <a:t>Phase 2</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85%</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34772</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1272</a:t>
                      </a:r>
                    </a:p>
                  </a:txBody>
                  <a:tcPr marL="0" marR="0" marT="0" marB="0" anchor="ctr">
                    <a:lnL>
                      <a:noFill/>
                    </a:lnL>
                    <a:lnR>
                      <a:noFill/>
                    </a:lnR>
                    <a:lnT>
                      <a:noFill/>
                    </a:lnT>
                    <a:lnB>
                      <a:noFill/>
                    </a:lnB>
                    <a:solidFill>
                      <a:srgbClr val="FFFFFF"/>
                    </a:solidFill>
                  </a:tcPr>
                </a:tc>
                <a:tc vMerge="1">
                  <a:txBody>
                    <a:bodyPr/>
                    <a:lstStyle/>
                    <a:p>
                      <a:endParaRPr lang="en-US"/>
                    </a:p>
                  </a:txBody>
                  <a:tcPr/>
                </a:tc>
                <a:tc>
                  <a:txBody>
                    <a:bodyPr/>
                    <a:lstStyle/>
                    <a:p>
                      <a:pPr algn="ctr" rtl="0" fontAlgn="ctr"/>
                      <a:r>
                        <a:rPr lang="en-US" sz="1200" b="0" i="0" u="none" strike="noStrike">
                          <a:solidFill>
                            <a:srgbClr val="000000"/>
                          </a:solidFill>
                          <a:effectLst/>
                          <a:latin typeface="+mj-lt"/>
                        </a:rPr>
                        <a:t>572</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0.16</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754293025"/>
                  </a:ext>
                </a:extLst>
              </a:tr>
              <a:tr h="194521">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88%</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33586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1185</a:t>
                      </a:r>
                    </a:p>
                  </a:txBody>
                  <a:tcPr marL="0" marR="0" marT="0" marB="0" anchor="ctr">
                    <a:lnL>
                      <a:noFill/>
                    </a:lnL>
                    <a:lnR>
                      <a:noFill/>
                    </a:lnR>
                    <a:lnT>
                      <a:noFill/>
                    </a:lnT>
                    <a:lnB>
                      <a:noFill/>
                    </a:lnB>
                    <a:solidFill>
                      <a:srgbClr val="FFFFFF"/>
                    </a:solidFill>
                  </a:tcPr>
                </a:tc>
                <a:tc>
                  <a:txBody>
                    <a:bodyPr/>
                    <a:lstStyle/>
                    <a:p>
                      <a:pPr algn="ctr" rtl="0" fontAlgn="ctr"/>
                      <a:r>
                        <a:rPr lang="en-US" sz="1200" b="1" i="0" u="none" strike="noStrike">
                          <a:solidFill>
                            <a:srgbClr val="000000"/>
                          </a:solidFill>
                          <a:effectLst/>
                          <a:latin typeface="+mj-lt"/>
                        </a:rPr>
                        <a:t> </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533</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0.16</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882967247"/>
                  </a:ext>
                </a:extLst>
              </a:tr>
              <a:tr h="194521">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91%</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32443</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1143</a:t>
                      </a:r>
                    </a:p>
                  </a:txBody>
                  <a:tcPr marL="0" marR="0" marT="0" marB="0" anchor="ctr">
                    <a:lnL>
                      <a:noFill/>
                    </a:lnL>
                    <a:lnR>
                      <a:noFill/>
                    </a:lnR>
                    <a:lnT>
                      <a:noFill/>
                    </a:lnT>
                    <a:lnB>
                      <a:noFill/>
                    </a:lnB>
                    <a:solidFill>
                      <a:srgbClr val="FFFFFF"/>
                    </a:solidFill>
                  </a:tcPr>
                </a:tc>
                <a:tc>
                  <a:txBody>
                    <a:bodyPr/>
                    <a:lstStyle/>
                    <a:p>
                      <a:pPr algn="ctr" rtl="0" fontAlgn="ctr"/>
                      <a:r>
                        <a:rPr lang="en-US" sz="1200" b="1" i="0" u="none" strike="noStrike">
                          <a:solidFill>
                            <a:srgbClr val="000000"/>
                          </a:solidFill>
                          <a:effectLst/>
                          <a:latin typeface="+mj-lt"/>
                        </a:rPr>
                        <a:t> </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514</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0.16</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825505377"/>
                  </a:ext>
                </a:extLst>
              </a:tr>
              <a:tr h="194521">
                <a:tc>
                  <a:txBody>
                    <a:bodyPr/>
                    <a:lstStyle/>
                    <a:p>
                      <a:pPr algn="ctr" rtl="0" fontAlgn="ctr"/>
                      <a:r>
                        <a:rPr lang="en-US" sz="1200" b="0" i="0" u="none" strike="noStrike">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dirty="0">
                          <a:solidFill>
                            <a:srgbClr val="000000"/>
                          </a:solidFill>
                          <a:effectLst/>
                          <a:latin typeface="+mj-lt"/>
                        </a:rPr>
                        <a:t> </a:t>
                      </a:r>
                    </a:p>
                  </a:txBody>
                  <a:tcPr marL="0" marR="0" marT="0" marB="0" anchor="ctr">
                    <a:lnL>
                      <a:noFill/>
                    </a:lnL>
                    <a:lnR>
                      <a:noFill/>
                    </a:lnR>
                    <a:lnT>
                      <a:noFill/>
                    </a:lnT>
                    <a:lnB>
                      <a:noFill/>
                    </a:lnB>
                    <a:solidFill>
                      <a:srgbClr val="FFF2CC"/>
                    </a:solidFill>
                  </a:tcPr>
                </a:tc>
                <a:tc>
                  <a:txBody>
                    <a:bodyPr/>
                    <a:lstStyle/>
                    <a:p>
                      <a:pPr algn="ctr" rtl="0" fontAlgn="ctr"/>
                      <a:r>
                        <a:rPr lang="en-US" sz="1200" b="0" i="0" u="none" strike="noStrike">
                          <a:solidFill>
                            <a:srgbClr val="000000"/>
                          </a:solidFill>
                          <a:effectLst/>
                          <a:latin typeface="+mj-lt"/>
                        </a:rPr>
                        <a:t>94%</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29556</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31309</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1134</a:t>
                      </a:r>
                    </a:p>
                  </a:txBody>
                  <a:tcPr marL="0" marR="0" marT="0" marB="0" anchor="ctr">
                    <a:lnL>
                      <a:noFill/>
                    </a:lnL>
                    <a:lnR>
                      <a:noFill/>
                    </a:lnR>
                    <a:lnT>
                      <a:noFill/>
                    </a:lnT>
                    <a:lnB>
                      <a:noFill/>
                    </a:lnB>
                    <a:solidFill>
                      <a:srgbClr val="FFFFFF"/>
                    </a:solidFill>
                  </a:tcPr>
                </a:tc>
                <a:tc>
                  <a:txBody>
                    <a:bodyPr/>
                    <a:lstStyle/>
                    <a:p>
                      <a:pPr algn="ctr" rtl="0" fontAlgn="ctr"/>
                      <a:r>
                        <a:rPr lang="en-US" sz="1200" b="1" i="0" u="none" strike="noStrike">
                          <a:solidFill>
                            <a:srgbClr val="000000"/>
                          </a:solidFill>
                          <a:effectLst/>
                          <a:latin typeface="+mj-lt"/>
                        </a:rPr>
                        <a:t> </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a:solidFill>
                            <a:srgbClr val="000000"/>
                          </a:solidFill>
                          <a:effectLst/>
                          <a:latin typeface="+mj-lt"/>
                        </a:rPr>
                        <a:t>510</a:t>
                      </a:r>
                    </a:p>
                  </a:txBody>
                  <a:tcPr marL="0" marR="0" marT="0" marB="0" anchor="ctr">
                    <a:lnL>
                      <a:noFill/>
                    </a:lnL>
                    <a:lnR>
                      <a:noFill/>
                    </a:lnR>
                    <a:lnT>
                      <a:noFill/>
                    </a:lnT>
                    <a:lnB>
                      <a:noFill/>
                    </a:lnB>
                    <a:solidFill>
                      <a:srgbClr val="FFFFFF"/>
                    </a:solidFill>
                  </a:tcPr>
                </a:tc>
                <a:tc>
                  <a:txBody>
                    <a:bodyPr/>
                    <a:lstStyle/>
                    <a:p>
                      <a:pPr algn="ctr" rtl="0" fontAlgn="ctr"/>
                      <a:r>
                        <a:rPr lang="en-US" sz="1200" b="0" i="0" u="none" strike="noStrike" dirty="0">
                          <a:solidFill>
                            <a:srgbClr val="000000"/>
                          </a:solidFill>
                          <a:effectLst/>
                          <a:latin typeface="+mj-lt"/>
                        </a:rPr>
                        <a:t>0.16</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780008989"/>
                  </a:ext>
                </a:extLst>
              </a:tr>
            </a:tbl>
          </a:graphicData>
        </a:graphic>
      </p:graphicFrame>
      <p:sp>
        <p:nvSpPr>
          <p:cNvPr id="18" name="TextBox 17">
            <a:extLst>
              <a:ext uri="{FF2B5EF4-FFF2-40B4-BE49-F238E27FC236}">
                <a16:creationId xmlns:a16="http://schemas.microsoft.com/office/drawing/2014/main" id="{01D6F6CC-AEA1-495C-98E8-4B7906FCFF2A}"/>
              </a:ext>
            </a:extLst>
          </p:cNvPr>
          <p:cNvSpPr txBox="1"/>
          <p:nvPr/>
        </p:nvSpPr>
        <p:spPr>
          <a:xfrm rot="10800000" flipV="1">
            <a:off x="491670" y="6121871"/>
            <a:ext cx="7569764" cy="184666"/>
          </a:xfrm>
          <a:prstGeom prst="rect">
            <a:avLst/>
          </a:prstGeom>
          <a:noFill/>
        </p:spPr>
        <p:txBody>
          <a:bodyPr wrap="square" lIns="0" tIns="0" rIns="0" bIns="0" rtlCol="0">
            <a:spAutoFit/>
          </a:bodyPr>
          <a:lstStyle/>
          <a:p>
            <a:pPr>
              <a:buSzPct val="100000"/>
            </a:pPr>
            <a:r>
              <a:rPr lang="en-US" sz="1200" dirty="0">
                <a:solidFill>
                  <a:srgbClr val="313131"/>
                </a:solidFill>
                <a:latin typeface="Calibri" panose="020F0502020204030204" pitchFamily="34" charset="0"/>
                <a:cs typeface="Calibri" panose="020F0502020204030204" pitchFamily="34" charset="0"/>
              </a:rPr>
              <a:t>** Based on approved average power purchase rate of DVC Plant – Mejia and RTPS </a:t>
            </a:r>
          </a:p>
        </p:txBody>
      </p:sp>
    </p:spTree>
    <p:extLst>
      <p:ext uri="{BB962C8B-B14F-4D97-AF65-F5344CB8AC3E}">
        <p14:creationId xmlns:p14="http://schemas.microsoft.com/office/powerpoint/2010/main" val="688196453"/>
      </p:ext>
    </p:extLst>
  </p:cSld>
  <p:clrMapOvr>
    <a:masterClrMapping/>
  </p:clrMapOvr>
  <p:transition>
    <p:fade/>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1960"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4" y="1693206"/>
            <a:ext cx="10543125" cy="307777"/>
          </a:xfrm>
        </p:spPr>
        <p:txBody>
          <a:bodyPr wrap="square" anchor="ctr" anchorCtr="0">
            <a:spAutoFit/>
          </a:bodyPr>
          <a:lstStyle/>
          <a:p>
            <a:r>
              <a:rPr lang="en-US" sz="2000" i="0" dirty="0">
                <a:solidFill>
                  <a:schemeClr val="tx1"/>
                </a:solidFill>
              </a:rPr>
              <a:t>Demand/Fixed Charge Rationalization – Domestic Consumers</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367990" y="1523711"/>
            <a:ext cx="731345" cy="646768"/>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0" cap="none" spc="0" normalizeH="0" baseline="0" noProof="0" dirty="0">
                <a:ln>
                  <a:noFill/>
                </a:ln>
                <a:solidFill>
                  <a:prstClr val="white"/>
                </a:solidFill>
                <a:effectLst/>
                <a:uLnTx/>
                <a:uFillTx/>
              </a:rPr>
              <a:t>8</a:t>
            </a:r>
            <a:r>
              <a:rPr lang="en-US" sz="1600" b="1" kern="0" dirty="0">
                <a:solidFill>
                  <a:prstClr val="white"/>
                </a:solidFill>
              </a:rPr>
              <a:t>D</a:t>
            </a:r>
            <a:endParaRPr kumimoji="0" lang="en-IN" sz="16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60424893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925438-C85E-46E7-ADA2-736B167E5A85}"/>
              </a:ext>
            </a:extLst>
          </p:cNvPr>
          <p:cNvSpPr>
            <a:spLocks noGrp="1"/>
          </p:cNvSpPr>
          <p:nvPr>
            <p:ph type="title"/>
          </p:nvPr>
        </p:nvSpPr>
        <p:spPr/>
        <p:txBody>
          <a:bodyPr anchor="t">
            <a:noAutofit/>
          </a:bodyPr>
          <a:lstStyle/>
          <a:p>
            <a:pPr>
              <a:lnSpc>
                <a:spcPct val="90000"/>
              </a:lnSpc>
            </a:pPr>
            <a:r>
              <a:rPr lang="en-US" sz="2000" b="1" dirty="0">
                <a:latin typeface="Verdana" panose="020B0604030504040204" pitchFamily="34" charset="0"/>
                <a:ea typeface="Verdana" panose="020B0604030504040204" pitchFamily="34" charset="0"/>
              </a:rPr>
              <a:t>Domestic LV Fixed charges for West Bengal is much lesser as compared to other states </a:t>
            </a:r>
          </a:p>
        </p:txBody>
      </p:sp>
      <p:graphicFrame>
        <p:nvGraphicFramePr>
          <p:cNvPr id="7" name="Chart 6">
            <a:extLst>
              <a:ext uri="{FF2B5EF4-FFF2-40B4-BE49-F238E27FC236}">
                <a16:creationId xmlns:a16="http://schemas.microsoft.com/office/drawing/2014/main" id="{037C7482-8BBA-4BF0-B395-BA13A2F47D8D}"/>
              </a:ext>
            </a:extLst>
          </p:cNvPr>
          <p:cNvGraphicFramePr>
            <a:graphicFrameLocks/>
          </p:cNvGraphicFramePr>
          <p:nvPr/>
        </p:nvGraphicFramePr>
        <p:xfrm>
          <a:off x="469902" y="1175657"/>
          <a:ext cx="11054400" cy="4723293"/>
        </p:xfrm>
        <a:graphic>
          <a:graphicData uri="http://schemas.openxmlformats.org/drawingml/2006/chart">
            <c:chart xmlns:c="http://schemas.openxmlformats.org/drawingml/2006/chart" xmlns:r="http://schemas.openxmlformats.org/officeDocument/2006/relationships" r:id="rId3"/>
          </a:graphicData>
        </a:graphic>
      </p:graphicFrame>
      <p:sp>
        <p:nvSpPr>
          <p:cNvPr id="2" name="Left Brace 1">
            <a:extLst>
              <a:ext uri="{FF2B5EF4-FFF2-40B4-BE49-F238E27FC236}">
                <a16:creationId xmlns:a16="http://schemas.microsoft.com/office/drawing/2014/main" id="{8493E373-7866-46DE-A140-7DD00CB10CED}"/>
              </a:ext>
            </a:extLst>
          </p:cNvPr>
          <p:cNvSpPr/>
          <p:nvPr/>
        </p:nvSpPr>
        <p:spPr>
          <a:xfrm rot="5400000">
            <a:off x="1237364" y="2347707"/>
            <a:ext cx="228597" cy="1367931"/>
          </a:xfrm>
          <a:prstGeom prst="leftBrace">
            <a:avLst/>
          </a:prstGeom>
          <a:ln w="38100">
            <a:solidFill>
              <a:schemeClr val="accent3">
                <a:lumMod val="75000"/>
              </a:schemeClr>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17A46E90-0518-487A-BEFF-3DEB81F66944}"/>
              </a:ext>
            </a:extLst>
          </p:cNvPr>
          <p:cNvSpPr txBox="1"/>
          <p:nvPr/>
        </p:nvSpPr>
        <p:spPr>
          <a:xfrm>
            <a:off x="8476177" y="6113124"/>
            <a:ext cx="3496760" cy="138499"/>
          </a:xfrm>
          <a:prstGeom prst="rect">
            <a:avLst/>
          </a:prstGeom>
          <a:noFill/>
        </p:spPr>
        <p:txBody>
          <a:bodyPr wrap="square" lIns="0" tIns="0" rIns="0" bIns="0" rtlCol="0">
            <a:spAutoFit/>
          </a:bodyPr>
          <a:lstStyle/>
          <a:p>
            <a:pPr>
              <a:spcBef>
                <a:spcPts val="600"/>
              </a:spcBef>
              <a:buSzPct val="100000"/>
            </a:pPr>
            <a:r>
              <a:rPr lang="en-US" sz="900" dirty="0">
                <a:solidFill>
                  <a:srgbClr val="313131"/>
                </a:solidFill>
              </a:rPr>
              <a:t>Source: Applicable Tariff Orders of States </a:t>
            </a:r>
          </a:p>
        </p:txBody>
      </p:sp>
    </p:spTree>
    <p:extLst>
      <p:ext uri="{BB962C8B-B14F-4D97-AF65-F5344CB8AC3E}">
        <p14:creationId xmlns:p14="http://schemas.microsoft.com/office/powerpoint/2010/main" val="3291601702"/>
      </p:ext>
    </p:extLst>
  </p:cSld>
  <p:clrMapOvr>
    <a:masterClrMapping/>
  </p:clrMapOvr>
  <p:transition>
    <p:fade/>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925438-C85E-46E7-ADA2-736B167E5A85}"/>
              </a:ext>
            </a:extLst>
          </p:cNvPr>
          <p:cNvSpPr>
            <a:spLocks noGrp="1"/>
          </p:cNvSpPr>
          <p:nvPr>
            <p:ph type="title"/>
          </p:nvPr>
        </p:nvSpPr>
        <p:spPr>
          <a:xfrm>
            <a:off x="501651" y="295729"/>
            <a:ext cx="11162350" cy="334101"/>
          </a:xfrm>
        </p:spPr>
        <p:txBody>
          <a:bodyPr anchor="t">
            <a:noAutofit/>
          </a:bodyPr>
          <a:lstStyle/>
          <a:p>
            <a:pPr>
              <a:lnSpc>
                <a:spcPct val="90000"/>
              </a:lnSpc>
            </a:pPr>
            <a:r>
              <a:rPr lang="en-US" sz="2000" b="1" dirty="0">
                <a:latin typeface="Verdana" panose="020B0604030504040204" pitchFamily="34" charset="0"/>
                <a:ea typeface="Verdana" panose="020B0604030504040204" pitchFamily="34" charset="0"/>
              </a:rPr>
              <a:t>Domestic HV Fixed Charge Comparison</a:t>
            </a:r>
          </a:p>
        </p:txBody>
      </p:sp>
      <p:sp>
        <p:nvSpPr>
          <p:cNvPr id="6" name="Rectangle 5">
            <a:extLst>
              <a:ext uri="{FF2B5EF4-FFF2-40B4-BE49-F238E27FC236}">
                <a16:creationId xmlns:a16="http://schemas.microsoft.com/office/drawing/2014/main" id="{99151174-7F23-45DF-A7E5-D5C83569FF4B}"/>
              </a:ext>
            </a:extLst>
          </p:cNvPr>
          <p:cNvSpPr/>
          <p:nvPr/>
        </p:nvSpPr>
        <p:spPr bwMode="gray">
          <a:xfrm>
            <a:off x="469902" y="5900056"/>
            <a:ext cx="11194099" cy="413657"/>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400" b="1" i="1" dirty="0">
                <a:latin typeface="Verdana" panose="020B0604030504040204" pitchFamily="34" charset="0"/>
                <a:ea typeface="Verdana" panose="020B0604030504040204" pitchFamily="34" charset="0"/>
              </a:rPr>
              <a:t>As can be seen from above, Domestic Fixed charges for HV connections for West Bengal are considerably lower compared to other states</a:t>
            </a:r>
          </a:p>
        </p:txBody>
      </p:sp>
      <p:graphicFrame>
        <p:nvGraphicFramePr>
          <p:cNvPr id="8" name="Chart 7">
            <a:extLst>
              <a:ext uri="{FF2B5EF4-FFF2-40B4-BE49-F238E27FC236}">
                <a16:creationId xmlns:a16="http://schemas.microsoft.com/office/drawing/2014/main" id="{D00357D1-26FD-4861-A818-EE6134B24603}"/>
              </a:ext>
            </a:extLst>
          </p:cNvPr>
          <p:cNvGraphicFramePr>
            <a:graphicFrameLocks/>
          </p:cNvGraphicFramePr>
          <p:nvPr/>
        </p:nvGraphicFramePr>
        <p:xfrm>
          <a:off x="501651" y="922592"/>
          <a:ext cx="11162349" cy="4509661"/>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D7E464BD-305A-437D-BB86-017500FAC428}"/>
              </a:ext>
            </a:extLst>
          </p:cNvPr>
          <p:cNvSpPr txBox="1"/>
          <p:nvPr/>
        </p:nvSpPr>
        <p:spPr>
          <a:xfrm>
            <a:off x="8455629" y="5655765"/>
            <a:ext cx="3496760" cy="138499"/>
          </a:xfrm>
          <a:prstGeom prst="rect">
            <a:avLst/>
          </a:prstGeom>
          <a:noFill/>
        </p:spPr>
        <p:txBody>
          <a:bodyPr wrap="square" lIns="0" tIns="0" rIns="0" bIns="0" rtlCol="0">
            <a:spAutoFit/>
          </a:bodyPr>
          <a:lstStyle/>
          <a:p>
            <a:pPr>
              <a:spcBef>
                <a:spcPts val="600"/>
              </a:spcBef>
              <a:buSzPct val="100000"/>
            </a:pPr>
            <a:r>
              <a:rPr lang="en-US" sz="900" dirty="0">
                <a:solidFill>
                  <a:srgbClr val="313131"/>
                </a:solidFill>
              </a:rPr>
              <a:t>Source: Applicable Tariff Orders of States </a:t>
            </a:r>
          </a:p>
        </p:txBody>
      </p:sp>
    </p:spTree>
    <p:extLst>
      <p:ext uri="{BB962C8B-B14F-4D97-AF65-F5344CB8AC3E}">
        <p14:creationId xmlns:p14="http://schemas.microsoft.com/office/powerpoint/2010/main" val="3024164416"/>
      </p:ext>
    </p:extLst>
  </p:cSld>
  <p:clrMapOvr>
    <a:masterClrMapping/>
  </p:clrMapOvr>
  <p:transition>
    <p:fade/>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5EA66DFD-97F0-463B-B7B0-4678D6D07140}"/>
              </a:ext>
            </a:extLst>
          </p:cNvPr>
          <p:cNvGraphicFramePr/>
          <p:nvPr>
            <p:extLst>
              <p:ext uri="{D42A27DB-BD31-4B8C-83A1-F6EECF244321}">
                <p14:modId xmlns:p14="http://schemas.microsoft.com/office/powerpoint/2010/main" val="3787561563"/>
              </p:ext>
            </p:extLst>
          </p:nvPr>
        </p:nvGraphicFramePr>
        <p:xfrm>
          <a:off x="-359229" y="-314477"/>
          <a:ext cx="12289972"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8" name="Straight Connector 7">
            <a:extLst>
              <a:ext uri="{FF2B5EF4-FFF2-40B4-BE49-F238E27FC236}">
                <a16:creationId xmlns:a16="http://schemas.microsoft.com/office/drawing/2014/main" id="{79FF8AFF-6F32-4B70-8AE1-D4BE0C78D606}"/>
              </a:ext>
            </a:extLst>
          </p:cNvPr>
          <p:cNvCxnSpPr>
            <a:cxnSpLocks/>
          </p:cNvCxnSpPr>
          <p:nvPr/>
        </p:nvCxnSpPr>
        <p:spPr>
          <a:xfrm>
            <a:off x="363887" y="4031489"/>
            <a:ext cx="5220484"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0409BB74-E916-485C-A763-8FD74B0F5D74}"/>
              </a:ext>
            </a:extLst>
          </p:cNvPr>
          <p:cNvSpPr/>
          <p:nvPr/>
        </p:nvSpPr>
        <p:spPr bwMode="gray">
          <a:xfrm>
            <a:off x="857171" y="3793262"/>
            <a:ext cx="4280886" cy="476453"/>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t>Illustration 1 : Calculation of Modified Energy Charge Rate with increase in Fixed Charge</a:t>
            </a:r>
          </a:p>
        </p:txBody>
      </p:sp>
      <p:sp>
        <p:nvSpPr>
          <p:cNvPr id="3" name="Title 2">
            <a:extLst>
              <a:ext uri="{FF2B5EF4-FFF2-40B4-BE49-F238E27FC236}">
                <a16:creationId xmlns:a16="http://schemas.microsoft.com/office/drawing/2014/main" id="{38925438-C85E-46E7-ADA2-736B167E5A85}"/>
              </a:ext>
            </a:extLst>
          </p:cNvPr>
          <p:cNvSpPr>
            <a:spLocks noGrp="1"/>
          </p:cNvSpPr>
          <p:nvPr>
            <p:ph type="title"/>
          </p:nvPr>
        </p:nvSpPr>
        <p:spPr>
          <a:xfrm>
            <a:off x="501651" y="175151"/>
            <a:ext cx="11162350" cy="476452"/>
          </a:xfrm>
        </p:spPr>
        <p:txBody>
          <a:bodyPr anchor="t">
            <a:noAutofit/>
          </a:bodyPr>
          <a:lstStyle/>
          <a:p>
            <a:pPr>
              <a:lnSpc>
                <a:spcPct val="90000"/>
              </a:lnSpc>
            </a:pPr>
            <a:r>
              <a:rPr lang="en-US" sz="1800" b="1" dirty="0">
                <a:latin typeface="+mn-lt"/>
                <a:ea typeface="Verdana" panose="020B0604030504040204" pitchFamily="34" charset="0"/>
              </a:rPr>
              <a:t>Opportunity for WBSEDCL for higher FC recovery from idle consumers with negligible consumption</a:t>
            </a:r>
          </a:p>
        </p:txBody>
      </p:sp>
      <p:sp>
        <p:nvSpPr>
          <p:cNvPr id="6" name="Rectangle 5">
            <a:extLst>
              <a:ext uri="{FF2B5EF4-FFF2-40B4-BE49-F238E27FC236}">
                <a16:creationId xmlns:a16="http://schemas.microsoft.com/office/drawing/2014/main" id="{14633FB7-012B-46A5-83FA-7F6AB10C79D1}"/>
              </a:ext>
            </a:extLst>
          </p:cNvPr>
          <p:cNvSpPr/>
          <p:nvPr/>
        </p:nvSpPr>
        <p:spPr>
          <a:xfrm>
            <a:off x="261257" y="4341847"/>
            <a:ext cx="5584372" cy="2148544"/>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spcBef>
                <a:spcPts val="0"/>
              </a:spcBef>
              <a:spcAft>
                <a:spcPts val="1200"/>
              </a:spcAft>
            </a:pPr>
            <a:r>
              <a:rPr lang="en-US" sz="1100" b="1" dirty="0">
                <a:solidFill>
                  <a:schemeClr val="tx1"/>
                </a:solidFill>
                <a:effectLst/>
                <a:latin typeface="+mj-lt"/>
                <a:ea typeface="Calibri Light" panose="020F0302020204030204" pitchFamily="34" charset="0"/>
                <a:cs typeface="Times New Roman" panose="02020603050405020304" pitchFamily="18" charset="0"/>
              </a:rPr>
              <a:t>Assumptions/ Computation:</a:t>
            </a:r>
          </a:p>
          <a:p>
            <a:pPr marL="285750" marR="0" indent="-285750">
              <a:spcBef>
                <a:spcPts val="0"/>
              </a:spcBef>
              <a:buFont typeface="Wingdings" panose="05000000000000000000" pitchFamily="2" charset="2"/>
              <a:buChar char="q"/>
            </a:pPr>
            <a:r>
              <a:rPr lang="en-US" sz="1100" dirty="0">
                <a:solidFill>
                  <a:schemeClr val="tx1"/>
                </a:solidFill>
                <a:latin typeface="+mj-lt"/>
                <a:ea typeface="Calibri Light" panose="020F0302020204030204" pitchFamily="34" charset="0"/>
                <a:cs typeface="Times New Roman" panose="02020603050405020304" pitchFamily="18" charset="0"/>
              </a:rPr>
              <a:t>Load: </a:t>
            </a:r>
            <a:r>
              <a:rPr lang="en-US" sz="1100" b="1" dirty="0">
                <a:solidFill>
                  <a:schemeClr val="tx1"/>
                </a:solidFill>
                <a:latin typeface="+mj-lt"/>
                <a:ea typeface="Calibri Light" panose="020F0302020204030204" pitchFamily="34" charset="0"/>
                <a:cs typeface="Times New Roman" panose="02020603050405020304" pitchFamily="18" charset="0"/>
              </a:rPr>
              <a:t>1 kVA</a:t>
            </a:r>
          </a:p>
          <a:p>
            <a:pPr marL="285750" marR="0" indent="-285750">
              <a:spcBef>
                <a:spcPts val="0"/>
              </a:spcBef>
              <a:buFont typeface="Wingdings" panose="05000000000000000000" pitchFamily="2" charset="2"/>
              <a:buChar char="q"/>
            </a:pPr>
            <a:r>
              <a:rPr lang="en-US" sz="1100" dirty="0">
                <a:solidFill>
                  <a:schemeClr val="tx1"/>
                </a:solidFill>
                <a:effectLst/>
                <a:latin typeface="+mj-lt"/>
                <a:ea typeface="Calibri Light" panose="020F0302020204030204" pitchFamily="34" charset="0"/>
                <a:cs typeface="Times New Roman" panose="02020603050405020304" pitchFamily="18" charset="0"/>
              </a:rPr>
              <a:t>Assumed monthly unit consumption: </a:t>
            </a:r>
            <a:r>
              <a:rPr lang="en-US" sz="1100" b="1" dirty="0">
                <a:solidFill>
                  <a:schemeClr val="tx1"/>
                </a:solidFill>
                <a:effectLst/>
                <a:latin typeface="+mj-lt"/>
                <a:ea typeface="Calibri Light" panose="020F0302020204030204" pitchFamily="34" charset="0"/>
                <a:cs typeface="Times New Roman" panose="02020603050405020304" pitchFamily="18" charset="0"/>
              </a:rPr>
              <a:t>200 kWh</a:t>
            </a:r>
          </a:p>
          <a:p>
            <a:pPr marL="285750" marR="0" indent="-285750">
              <a:spcBef>
                <a:spcPts val="0"/>
              </a:spcBef>
              <a:buFont typeface="Wingdings" panose="05000000000000000000" pitchFamily="2" charset="2"/>
              <a:buChar char="q"/>
            </a:pPr>
            <a:r>
              <a:rPr lang="en-US" sz="1100" dirty="0">
                <a:solidFill>
                  <a:schemeClr val="tx1"/>
                </a:solidFill>
                <a:effectLst/>
                <a:latin typeface="+mj-lt"/>
                <a:ea typeface="Calibri Light" panose="020F0302020204030204" pitchFamily="34" charset="0"/>
                <a:cs typeface="Times New Roman" panose="02020603050405020304" pitchFamily="18" charset="0"/>
              </a:rPr>
              <a:t>Average Energy Charge rate assumed: </a:t>
            </a:r>
            <a:r>
              <a:rPr lang="en-US" sz="1100" b="1" dirty="0">
                <a:solidFill>
                  <a:srgbClr val="0A626C"/>
                </a:solidFill>
                <a:effectLst/>
                <a:latin typeface="+mj-lt"/>
                <a:ea typeface="Calibri Light" panose="020F0302020204030204" pitchFamily="34" charset="0"/>
                <a:cs typeface="Times New Roman" panose="02020603050405020304" pitchFamily="18" charset="0"/>
              </a:rPr>
              <a:t>Rs. 4.5/kWh</a:t>
            </a:r>
          </a:p>
          <a:p>
            <a:pPr marL="285750" marR="0" indent="-285750">
              <a:spcBef>
                <a:spcPts val="0"/>
              </a:spcBef>
              <a:buFont typeface="Wingdings" panose="05000000000000000000" pitchFamily="2" charset="2"/>
              <a:buChar char="q"/>
            </a:pPr>
            <a:r>
              <a:rPr lang="en-US" sz="1100" dirty="0">
                <a:solidFill>
                  <a:schemeClr val="tx1"/>
                </a:solidFill>
                <a:effectLst/>
                <a:latin typeface="+mj-lt"/>
                <a:ea typeface="Calibri Light" panose="020F0302020204030204" pitchFamily="34" charset="0"/>
                <a:cs typeface="Times New Roman" panose="02020603050405020304" pitchFamily="18" charset="0"/>
              </a:rPr>
              <a:t>Original Fixed C</a:t>
            </a:r>
            <a:r>
              <a:rPr lang="en-US" sz="1100" dirty="0">
                <a:solidFill>
                  <a:schemeClr val="tx1"/>
                </a:solidFill>
                <a:latin typeface="+mj-lt"/>
                <a:ea typeface="Calibri Light" panose="020F0302020204030204" pitchFamily="34" charset="0"/>
                <a:cs typeface="Times New Roman" panose="02020603050405020304" pitchFamily="18" charset="0"/>
              </a:rPr>
              <a:t>harge: </a:t>
            </a:r>
            <a:r>
              <a:rPr lang="en-US" sz="1100" b="1" dirty="0">
                <a:solidFill>
                  <a:srgbClr val="0A626C"/>
                </a:solidFill>
                <a:latin typeface="+mj-lt"/>
                <a:ea typeface="Calibri Light" panose="020F0302020204030204" pitchFamily="34" charset="0"/>
                <a:cs typeface="Times New Roman" panose="02020603050405020304" pitchFamily="18" charset="0"/>
              </a:rPr>
              <a:t>Rs. 15/kVA/month</a:t>
            </a:r>
          </a:p>
          <a:p>
            <a:pPr marL="285750" marR="0" indent="-285750">
              <a:spcBef>
                <a:spcPts val="0"/>
              </a:spcBef>
              <a:buFont typeface="Wingdings" panose="05000000000000000000" pitchFamily="2" charset="2"/>
              <a:buChar char="q"/>
            </a:pPr>
            <a:r>
              <a:rPr lang="en-US" sz="1100" dirty="0">
                <a:solidFill>
                  <a:schemeClr val="tx1"/>
                </a:solidFill>
                <a:effectLst/>
                <a:latin typeface="+mj-lt"/>
                <a:ea typeface="Calibri Light" panose="020F0302020204030204" pitchFamily="34" charset="0"/>
                <a:cs typeface="Times New Roman" panose="02020603050405020304" pitchFamily="18" charset="0"/>
              </a:rPr>
              <a:t>Modified Fixed Charge proposed (for illustrative purpose): </a:t>
            </a:r>
            <a:r>
              <a:rPr lang="en-US" sz="1100" b="1" dirty="0">
                <a:solidFill>
                  <a:srgbClr val="046A38"/>
                </a:solidFill>
                <a:effectLst/>
                <a:latin typeface="+mj-lt"/>
                <a:ea typeface="Calibri Light" panose="020F0302020204030204" pitchFamily="34" charset="0"/>
                <a:cs typeface="Times New Roman" panose="02020603050405020304" pitchFamily="18" charset="0"/>
              </a:rPr>
              <a:t>Rs. 50/kVA/month</a:t>
            </a:r>
          </a:p>
          <a:p>
            <a:pPr marL="285750" marR="0" indent="-285750">
              <a:spcBef>
                <a:spcPts val="0"/>
              </a:spcBef>
              <a:buFont typeface="Wingdings" panose="05000000000000000000" pitchFamily="2" charset="2"/>
              <a:buChar char="q"/>
            </a:pPr>
            <a:r>
              <a:rPr lang="en-US" sz="1100" dirty="0">
                <a:solidFill>
                  <a:schemeClr val="tx1"/>
                </a:solidFill>
                <a:latin typeface="+mj-lt"/>
                <a:ea typeface="Calibri Light" panose="020F0302020204030204" pitchFamily="34" charset="0"/>
                <a:cs typeface="Times New Roman" panose="02020603050405020304" pitchFamily="18" charset="0"/>
              </a:rPr>
              <a:t>Therefore, modified Energy Charge : Rs.((200*4.5+15)-50)/200)/kWh = </a:t>
            </a:r>
            <a:r>
              <a:rPr lang="en-US" sz="1100" b="1" dirty="0">
                <a:solidFill>
                  <a:schemeClr val="accent3"/>
                </a:solidFill>
                <a:latin typeface="+mj-lt"/>
                <a:ea typeface="Calibri Light" panose="020F0302020204030204" pitchFamily="34" charset="0"/>
                <a:cs typeface="Times New Roman" panose="02020603050405020304" pitchFamily="18" charset="0"/>
              </a:rPr>
              <a:t>Rs. 4.3/unit</a:t>
            </a:r>
            <a:endParaRPr lang="en-US" sz="1100" b="1" dirty="0">
              <a:solidFill>
                <a:schemeClr val="accent3"/>
              </a:solidFill>
              <a:effectLst/>
              <a:latin typeface="+mj-lt"/>
              <a:ea typeface="Calibri Light" panose="020F0302020204030204" pitchFamily="34"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628F3770-225D-46FD-A71B-C2CA1681A9F1}"/>
              </a:ext>
            </a:extLst>
          </p:cNvPr>
          <p:cNvCxnSpPr>
            <a:cxnSpLocks/>
          </p:cNvCxnSpPr>
          <p:nvPr/>
        </p:nvCxnSpPr>
        <p:spPr>
          <a:xfrm>
            <a:off x="7608288" y="4031489"/>
            <a:ext cx="405571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72EB24B0-7510-4262-9128-E85AA12323D8}"/>
              </a:ext>
            </a:extLst>
          </p:cNvPr>
          <p:cNvSpPr/>
          <p:nvPr/>
        </p:nvSpPr>
        <p:spPr bwMode="gray">
          <a:xfrm>
            <a:off x="8194143" y="3793262"/>
            <a:ext cx="2909286" cy="476453"/>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t>Illustration 2 : Cost benefit Analysis</a:t>
            </a:r>
          </a:p>
        </p:txBody>
      </p:sp>
      <p:sp>
        <p:nvSpPr>
          <p:cNvPr id="15" name="Rectangle 14">
            <a:extLst>
              <a:ext uri="{FF2B5EF4-FFF2-40B4-BE49-F238E27FC236}">
                <a16:creationId xmlns:a16="http://schemas.microsoft.com/office/drawing/2014/main" id="{E177F691-21E4-46ED-99FC-2A594B164847}"/>
              </a:ext>
            </a:extLst>
          </p:cNvPr>
          <p:cNvSpPr/>
          <p:nvPr/>
        </p:nvSpPr>
        <p:spPr>
          <a:xfrm>
            <a:off x="6346371" y="4341847"/>
            <a:ext cx="5584372" cy="2148545"/>
          </a:xfrm>
          <a:prstGeom prst="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spcBef>
                <a:spcPts val="0"/>
              </a:spcBef>
              <a:spcAft>
                <a:spcPts val="1200"/>
              </a:spcAft>
            </a:pPr>
            <a:r>
              <a:rPr lang="en-US" sz="1100" b="1" dirty="0">
                <a:solidFill>
                  <a:schemeClr val="tx1"/>
                </a:solidFill>
                <a:effectLst/>
                <a:latin typeface="+mj-lt"/>
                <a:ea typeface="Calibri Light" panose="020F0302020204030204" pitchFamily="34" charset="0"/>
                <a:cs typeface="Times New Roman" panose="02020603050405020304" pitchFamily="18" charset="0"/>
              </a:rPr>
              <a:t>Assumptions/ Computation:</a:t>
            </a:r>
          </a:p>
          <a:p>
            <a:pPr marL="285750" marR="0" indent="-285750">
              <a:spcBef>
                <a:spcPts val="0"/>
              </a:spcBef>
              <a:buFont typeface="Wingdings" panose="05000000000000000000" pitchFamily="2" charset="2"/>
              <a:buChar char="q"/>
            </a:pPr>
            <a:r>
              <a:rPr lang="en-US" sz="1100" dirty="0">
                <a:solidFill>
                  <a:schemeClr val="tx1"/>
                </a:solidFill>
                <a:latin typeface="+mj-lt"/>
                <a:ea typeface="Calibri Light" panose="020F0302020204030204" pitchFamily="34" charset="0"/>
                <a:cs typeface="Times New Roman" panose="02020603050405020304" pitchFamily="18" charset="0"/>
              </a:rPr>
              <a:t>Sample size no. of consumers with load of 1 kVA: </a:t>
            </a:r>
            <a:r>
              <a:rPr lang="en-US" sz="1100" b="1" dirty="0">
                <a:solidFill>
                  <a:schemeClr val="tx1"/>
                </a:solidFill>
                <a:latin typeface="+mj-lt"/>
                <a:ea typeface="Calibri Light" panose="020F0302020204030204" pitchFamily="34" charset="0"/>
                <a:cs typeface="Times New Roman" panose="02020603050405020304" pitchFamily="18" charset="0"/>
              </a:rPr>
              <a:t>10 </a:t>
            </a:r>
          </a:p>
          <a:p>
            <a:pPr marL="285750" marR="0" indent="-285750">
              <a:spcBef>
                <a:spcPts val="0"/>
              </a:spcBef>
              <a:buFont typeface="Wingdings" panose="05000000000000000000" pitchFamily="2" charset="2"/>
              <a:buChar char="q"/>
            </a:pPr>
            <a:r>
              <a:rPr lang="en-US" sz="1100" dirty="0">
                <a:solidFill>
                  <a:schemeClr val="tx1"/>
                </a:solidFill>
                <a:latin typeface="+mj-lt"/>
                <a:ea typeface="Calibri Light" panose="020F0302020204030204" pitchFamily="34" charset="0"/>
                <a:cs typeface="Times New Roman" panose="02020603050405020304" pitchFamily="18" charset="0"/>
              </a:rPr>
              <a:t>No. of consumers with negligible consumption: 5</a:t>
            </a:r>
          </a:p>
          <a:p>
            <a:pPr marL="285750" marR="0" indent="-285750">
              <a:spcBef>
                <a:spcPts val="0"/>
              </a:spcBef>
              <a:buFont typeface="Wingdings" panose="05000000000000000000" pitchFamily="2" charset="2"/>
              <a:buChar char="q"/>
            </a:pPr>
            <a:r>
              <a:rPr lang="en-US" sz="1100" dirty="0">
                <a:solidFill>
                  <a:schemeClr val="tx1"/>
                </a:solidFill>
                <a:latin typeface="+mj-lt"/>
                <a:ea typeface="Calibri Light" panose="020F0302020204030204" pitchFamily="34" charset="0"/>
                <a:cs typeface="Times New Roman" panose="02020603050405020304" pitchFamily="18" charset="0"/>
              </a:rPr>
              <a:t>No. of consumers with average consumption of 200 units/month: </a:t>
            </a:r>
            <a:r>
              <a:rPr lang="en-US" sz="1100" b="1" dirty="0">
                <a:solidFill>
                  <a:schemeClr val="tx1"/>
                </a:solidFill>
                <a:latin typeface="+mj-lt"/>
                <a:ea typeface="Calibri Light" panose="020F0302020204030204" pitchFamily="34" charset="0"/>
                <a:cs typeface="Times New Roman" panose="02020603050405020304" pitchFamily="18" charset="0"/>
              </a:rPr>
              <a:t>5</a:t>
            </a:r>
          </a:p>
          <a:p>
            <a:pPr marL="285750" marR="0" indent="-285750">
              <a:spcBef>
                <a:spcPts val="0"/>
              </a:spcBef>
              <a:buFont typeface="Wingdings" panose="05000000000000000000" pitchFamily="2" charset="2"/>
              <a:buChar char="q"/>
            </a:pPr>
            <a:r>
              <a:rPr lang="en-US" sz="1100" dirty="0">
                <a:solidFill>
                  <a:schemeClr val="tx1"/>
                </a:solidFill>
                <a:latin typeface="+mj-lt"/>
                <a:ea typeface="Calibri Light" panose="020F0302020204030204" pitchFamily="34" charset="0"/>
                <a:cs typeface="Times New Roman" panose="02020603050405020304" pitchFamily="18" charset="0"/>
              </a:rPr>
              <a:t>Revenue Recovery by WBSEDCL at original Fixed charge and Energy Charge rate  : </a:t>
            </a:r>
            <a:r>
              <a:rPr lang="en-US" sz="1100" b="1" dirty="0">
                <a:solidFill>
                  <a:srgbClr val="C00000"/>
                </a:solidFill>
                <a:latin typeface="+mj-lt"/>
                <a:ea typeface="Calibri Light" panose="020F0302020204030204" pitchFamily="34" charset="0"/>
                <a:cs typeface="Times New Roman" panose="02020603050405020304" pitchFamily="18" charset="0"/>
              </a:rPr>
              <a:t>Rs.</a:t>
            </a:r>
            <a:r>
              <a:rPr lang="en-US" sz="1100" dirty="0">
                <a:solidFill>
                  <a:schemeClr val="tx1"/>
                </a:solidFill>
                <a:latin typeface="+mj-lt"/>
                <a:ea typeface="Calibri Light" panose="020F0302020204030204" pitchFamily="34" charset="0"/>
                <a:cs typeface="Times New Roman" panose="02020603050405020304" pitchFamily="18" charset="0"/>
              </a:rPr>
              <a:t> </a:t>
            </a:r>
            <a:r>
              <a:rPr lang="en-US" sz="1100" b="1" dirty="0">
                <a:solidFill>
                  <a:srgbClr val="C00000"/>
                </a:solidFill>
                <a:latin typeface="+mj-lt"/>
                <a:ea typeface="Calibri Light" panose="020F0302020204030204" pitchFamily="34" charset="0"/>
                <a:cs typeface="Times New Roman" panose="02020603050405020304" pitchFamily="18" charset="0"/>
              </a:rPr>
              <a:t>(5*15)+(5*15)+(5*200*4.5) = Rs. 4650</a:t>
            </a:r>
          </a:p>
          <a:p>
            <a:pPr marL="285750" indent="-285750">
              <a:buFont typeface="Wingdings" panose="05000000000000000000" pitchFamily="2" charset="2"/>
              <a:buChar char="q"/>
            </a:pPr>
            <a:r>
              <a:rPr lang="en-US" sz="1100" dirty="0">
                <a:solidFill>
                  <a:schemeClr val="tx1"/>
                </a:solidFill>
                <a:latin typeface="+mj-lt"/>
                <a:ea typeface="Calibri Light" panose="020F0302020204030204" pitchFamily="34" charset="0"/>
                <a:cs typeface="Times New Roman" panose="02020603050405020304" pitchFamily="18" charset="0"/>
              </a:rPr>
              <a:t>Revenue Recovery by WBSEDCL at </a:t>
            </a:r>
            <a:r>
              <a:rPr lang="en-US" sz="1100" b="1" dirty="0">
                <a:solidFill>
                  <a:srgbClr val="046A38"/>
                </a:solidFill>
                <a:latin typeface="+mj-lt"/>
                <a:ea typeface="Calibri Light" panose="020F0302020204030204" pitchFamily="34" charset="0"/>
                <a:cs typeface="Times New Roman" panose="02020603050405020304" pitchFamily="18" charset="0"/>
              </a:rPr>
              <a:t>Modified</a:t>
            </a:r>
            <a:r>
              <a:rPr lang="en-US" sz="1100" dirty="0">
                <a:solidFill>
                  <a:schemeClr val="tx1"/>
                </a:solidFill>
                <a:latin typeface="+mj-lt"/>
                <a:ea typeface="Calibri Light" panose="020F0302020204030204" pitchFamily="34" charset="0"/>
                <a:cs typeface="Times New Roman" panose="02020603050405020304" pitchFamily="18" charset="0"/>
              </a:rPr>
              <a:t> Fixed charge and Energy Charge rate : </a:t>
            </a:r>
            <a:r>
              <a:rPr lang="en-US" sz="1100" b="1" dirty="0">
                <a:solidFill>
                  <a:srgbClr val="046A38"/>
                </a:solidFill>
                <a:latin typeface="+mj-lt"/>
                <a:ea typeface="Calibri Light" panose="020F0302020204030204" pitchFamily="34" charset="0"/>
                <a:cs typeface="Times New Roman" panose="02020603050405020304" pitchFamily="18" charset="0"/>
              </a:rPr>
              <a:t>Rs.</a:t>
            </a:r>
            <a:r>
              <a:rPr lang="en-US" sz="1100" dirty="0">
                <a:solidFill>
                  <a:srgbClr val="046A38"/>
                </a:solidFill>
                <a:latin typeface="+mj-lt"/>
                <a:ea typeface="Calibri Light" panose="020F0302020204030204" pitchFamily="34" charset="0"/>
                <a:cs typeface="Times New Roman" panose="02020603050405020304" pitchFamily="18" charset="0"/>
              </a:rPr>
              <a:t> </a:t>
            </a:r>
            <a:r>
              <a:rPr lang="en-US" sz="1100" b="1" dirty="0">
                <a:solidFill>
                  <a:srgbClr val="046A38"/>
                </a:solidFill>
                <a:latin typeface="+mj-lt"/>
                <a:ea typeface="Calibri Light" panose="020F0302020204030204" pitchFamily="34" charset="0"/>
                <a:cs typeface="Times New Roman" panose="02020603050405020304" pitchFamily="18" charset="0"/>
              </a:rPr>
              <a:t>(5*50)+(5*50)+(5*200*4.3) = Rs. 4800</a:t>
            </a:r>
          </a:p>
          <a:p>
            <a:pPr marL="285750" indent="-285750">
              <a:buFont typeface="Wingdings" panose="05000000000000000000" pitchFamily="2" charset="2"/>
              <a:buChar char="q"/>
            </a:pPr>
            <a:r>
              <a:rPr lang="en-US" sz="1100" dirty="0">
                <a:solidFill>
                  <a:schemeClr val="tx1"/>
                </a:solidFill>
                <a:latin typeface="+mj-lt"/>
                <a:ea typeface="Calibri Light" panose="020F0302020204030204" pitchFamily="34" charset="0"/>
                <a:cs typeface="Times New Roman" panose="02020603050405020304" pitchFamily="18" charset="0"/>
              </a:rPr>
              <a:t>Net Benefit of WBSEDCL</a:t>
            </a:r>
            <a:r>
              <a:rPr lang="en-US" sz="1100" b="1" dirty="0">
                <a:solidFill>
                  <a:srgbClr val="046A38"/>
                </a:solidFill>
                <a:latin typeface="+mj-lt"/>
                <a:ea typeface="Calibri Light" panose="020F0302020204030204" pitchFamily="34" charset="0"/>
                <a:cs typeface="Times New Roman" panose="02020603050405020304" pitchFamily="18" charset="0"/>
              </a:rPr>
              <a:t> = </a:t>
            </a:r>
            <a:r>
              <a:rPr lang="en-US" sz="1100" b="1" dirty="0">
                <a:solidFill>
                  <a:schemeClr val="bg1"/>
                </a:solidFill>
                <a:highlight>
                  <a:srgbClr val="008000"/>
                </a:highlight>
                <a:latin typeface="+mj-lt"/>
                <a:ea typeface="Calibri Light" panose="020F0302020204030204" pitchFamily="34" charset="0"/>
                <a:cs typeface="Times New Roman" panose="02020603050405020304" pitchFamily="18" charset="0"/>
              </a:rPr>
              <a:t>Rs. 150</a:t>
            </a:r>
          </a:p>
        </p:txBody>
      </p:sp>
    </p:spTree>
    <p:extLst>
      <p:ext uri="{BB962C8B-B14F-4D97-AF65-F5344CB8AC3E}">
        <p14:creationId xmlns:p14="http://schemas.microsoft.com/office/powerpoint/2010/main" val="507412036"/>
      </p:ext>
    </p:extLst>
  </p:cSld>
  <p:clrMapOvr>
    <a:masterClrMapping/>
  </p:clrMapOvr>
  <p:transition>
    <p:fade/>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2983"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4" y="1693206"/>
            <a:ext cx="10543125" cy="307777"/>
          </a:xfrm>
        </p:spPr>
        <p:txBody>
          <a:bodyPr wrap="square" anchor="ctr" anchorCtr="0">
            <a:spAutoFit/>
          </a:bodyPr>
          <a:lstStyle/>
          <a:p>
            <a:r>
              <a:rPr lang="en-US" sz="2000" i="0" dirty="0">
                <a:solidFill>
                  <a:schemeClr val="tx1"/>
                </a:solidFill>
              </a:rPr>
              <a:t>Industrial Tariff Rationalization</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367990" y="1523711"/>
            <a:ext cx="731345" cy="646768"/>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0" cap="none" spc="0" normalizeH="0" baseline="0" noProof="0" dirty="0">
                <a:ln>
                  <a:noFill/>
                </a:ln>
                <a:solidFill>
                  <a:prstClr val="white"/>
                </a:solidFill>
                <a:effectLst/>
                <a:uLnTx/>
                <a:uFillTx/>
              </a:rPr>
              <a:t>8E</a:t>
            </a:r>
            <a:endParaRPr kumimoji="0" lang="en-IN" sz="16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339400650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87D366E2-48EF-4F98-9C61-0265E3A88FBE}"/>
              </a:ext>
            </a:extLst>
          </p:cNvPr>
          <p:cNvSpPr txBox="1">
            <a:spLocks/>
          </p:cNvSpPr>
          <p:nvPr/>
        </p:nvSpPr>
        <p:spPr bwMode="gray">
          <a:xfrm>
            <a:off x="383754" y="332246"/>
            <a:ext cx="11188700" cy="368299"/>
          </a:xfrm>
          <a:prstGeom prst="rect">
            <a:avLst/>
          </a:prstGeom>
        </p:spPr>
        <p:txBody>
          <a:bodyPr vert="horz" lIns="0" tIns="0" rIns="0" bIns="0" rtlCol="0" anchor="t" anchorCtr="0">
            <a:noAutofit/>
          </a:bodyPr>
          <a:lstStyle>
            <a:lvl1pPr algn="l" defTabSz="1219231" rtl="0" eaLnBrk="1" latinLnBrk="0" hangingPunct="1">
              <a:spcBef>
                <a:spcPct val="0"/>
              </a:spcBef>
              <a:buNone/>
              <a:defRPr sz="3200" b="1" i="1" kern="1200">
                <a:solidFill>
                  <a:schemeClr val="bg1"/>
                </a:solidFill>
                <a:latin typeface="Verdana"/>
                <a:ea typeface="+mj-ea"/>
                <a:cs typeface="Verdana"/>
              </a:defRPr>
            </a:lvl1pPr>
          </a:lstStyle>
          <a:p>
            <a:pPr marL="0" marR="0" lvl="0" indent="0" algn="just" defTabSz="1219231"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j-ea"/>
              </a:rPr>
              <a:t>Comparison of Industrial Tariff Rate vs Average </a:t>
            </a:r>
            <a:r>
              <a:rPr lang="en-US" sz="1800" i="0" dirty="0">
                <a:solidFill>
                  <a:prstClr val="black"/>
                </a:solidFill>
                <a:latin typeface="+mn-lt"/>
              </a:rPr>
              <a:t>T</a:t>
            </a:r>
            <a:r>
              <a:rPr kumimoji="0" lang="en-US" sz="1800" b="1" i="0" u="none" strike="noStrike" kern="1200" cap="none" spc="0" normalizeH="0" baseline="0" noProof="0" dirty="0" err="1">
                <a:ln>
                  <a:noFill/>
                </a:ln>
                <a:solidFill>
                  <a:prstClr val="black"/>
                </a:solidFill>
                <a:effectLst/>
                <a:uLnTx/>
                <a:uFillTx/>
                <a:latin typeface="+mn-lt"/>
                <a:ea typeface="+mj-ea"/>
              </a:rPr>
              <a:t>ariff</a:t>
            </a:r>
            <a:r>
              <a:rPr kumimoji="0" lang="en-US" sz="1800" b="1" i="0" u="none" strike="noStrike" kern="1200" cap="none" spc="0" normalizeH="0" baseline="0" noProof="0" dirty="0">
                <a:ln>
                  <a:noFill/>
                </a:ln>
                <a:solidFill>
                  <a:prstClr val="black"/>
                </a:solidFill>
                <a:effectLst/>
                <a:uLnTx/>
                <a:uFillTx/>
                <a:latin typeface="+mn-lt"/>
                <a:ea typeface="+mj-ea"/>
              </a:rPr>
              <a:t> rate of different States</a:t>
            </a:r>
          </a:p>
        </p:txBody>
      </p:sp>
      <p:graphicFrame>
        <p:nvGraphicFramePr>
          <p:cNvPr id="3" name="Chart 2">
            <a:extLst>
              <a:ext uri="{FF2B5EF4-FFF2-40B4-BE49-F238E27FC236}">
                <a16:creationId xmlns:a16="http://schemas.microsoft.com/office/drawing/2014/main" id="{83271764-C2C2-4868-94B8-CCDC2FC2B8DF}"/>
              </a:ext>
            </a:extLst>
          </p:cNvPr>
          <p:cNvGraphicFramePr/>
          <p:nvPr/>
        </p:nvGraphicFramePr>
        <p:xfrm>
          <a:off x="383754" y="1476405"/>
          <a:ext cx="11424492" cy="2180921"/>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AFE79ACD-FC5B-4E91-8937-FF52DB7C1C36}"/>
              </a:ext>
            </a:extLst>
          </p:cNvPr>
          <p:cNvSpPr txBox="1"/>
          <p:nvPr/>
        </p:nvSpPr>
        <p:spPr>
          <a:xfrm>
            <a:off x="383754" y="6150033"/>
            <a:ext cx="9688952"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0" i="0" u="none" strike="noStrike" kern="1200" cap="none" spc="0" normalizeH="0" baseline="0" noProof="0" dirty="0">
                <a:ln>
                  <a:noFill/>
                </a:ln>
                <a:solidFill>
                  <a:srgbClr val="313131"/>
                </a:solidFill>
                <a:effectLst/>
                <a:uLnTx/>
                <a:uFillTx/>
                <a:latin typeface="Calibri"/>
                <a:ea typeface="+mn-ea"/>
                <a:cs typeface="+mn-cs"/>
              </a:rPr>
              <a:t>** Average Tariff rate includes fixed charge, variable charges and electricity duty  </a:t>
            </a:r>
          </a:p>
        </p:txBody>
      </p:sp>
      <p:sp>
        <p:nvSpPr>
          <p:cNvPr id="5" name="TextBox 4">
            <a:extLst>
              <a:ext uri="{FF2B5EF4-FFF2-40B4-BE49-F238E27FC236}">
                <a16:creationId xmlns:a16="http://schemas.microsoft.com/office/drawing/2014/main" id="{466BA5D0-A3DB-4251-A6E7-86A5BBCA5C2D}"/>
              </a:ext>
            </a:extLst>
          </p:cNvPr>
          <p:cNvSpPr txBox="1"/>
          <p:nvPr/>
        </p:nvSpPr>
        <p:spPr>
          <a:xfrm>
            <a:off x="383754" y="6334699"/>
            <a:ext cx="1130659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313131"/>
                </a:solidFill>
                <a:effectLst/>
                <a:uLnTx/>
                <a:uFillTx/>
                <a:latin typeface="Calibri"/>
                <a:ea typeface="+mn-ea"/>
                <a:cs typeface="+mn-cs"/>
              </a:rPr>
              <a:t>Source : </a:t>
            </a:r>
            <a:r>
              <a:rPr kumimoji="0" lang="en-US" altLang="en-US" sz="1200" b="0" i="1" u="none" strike="noStrike" kern="1200" cap="none" spc="0" normalizeH="0" baseline="0" noProof="0" dirty="0">
                <a:ln>
                  <a:noFill/>
                </a:ln>
                <a:solidFill>
                  <a:srgbClr val="007CB0">
                    <a:lumMod val="40000"/>
                    <a:lumOff val="60000"/>
                  </a:srgbClr>
                </a:solidFill>
                <a:effectLst/>
                <a:uLnTx/>
                <a:uFillTx/>
                <a:latin typeface="Calibri"/>
                <a:ea typeface="+mn-ea"/>
                <a:cs typeface="Segoe UI" panose="020B0502040204020203" pitchFamily="34" charset="0"/>
              </a:rPr>
              <a:t>https://cea.nic.in/wp-content/uploads/2021/03/tariff_2019.pdf , ERC Order of different states and Annual report of WBSEDCL , </a:t>
            </a:r>
            <a:r>
              <a:rPr kumimoji="0" lang="en-US" altLang="en-US" sz="1200" b="0" i="1" u="none" strike="noStrike" kern="1200" cap="none" spc="0" normalizeH="0" baseline="0" noProof="0" dirty="0" err="1">
                <a:ln>
                  <a:noFill/>
                </a:ln>
                <a:solidFill>
                  <a:srgbClr val="007CB0">
                    <a:lumMod val="40000"/>
                    <a:lumOff val="60000"/>
                  </a:srgbClr>
                </a:solidFill>
                <a:effectLst/>
                <a:uLnTx/>
                <a:uFillTx/>
                <a:latin typeface="Calibri"/>
                <a:ea typeface="+mn-ea"/>
                <a:cs typeface="Segoe UI" panose="020B0502040204020203" pitchFamily="34" charset="0"/>
              </a:rPr>
              <a:t>pg</a:t>
            </a:r>
            <a:r>
              <a:rPr kumimoji="0" lang="en-US" altLang="en-US" sz="1200" b="0" i="1" u="none" strike="noStrike" kern="1200" cap="none" spc="0" normalizeH="0" baseline="0" noProof="0" dirty="0">
                <a:ln>
                  <a:noFill/>
                </a:ln>
                <a:solidFill>
                  <a:srgbClr val="007CB0">
                    <a:lumMod val="40000"/>
                    <a:lumOff val="60000"/>
                  </a:srgbClr>
                </a:solidFill>
                <a:effectLst/>
                <a:uLnTx/>
                <a:uFillTx/>
                <a:latin typeface="Calibri"/>
                <a:ea typeface="+mn-ea"/>
                <a:cs typeface="Segoe UI" panose="020B0502040204020203" pitchFamily="34" charset="0"/>
              </a:rPr>
              <a:t> 191 of 225 (250kW large industry 40% LF) </a:t>
            </a:r>
            <a:r>
              <a:rPr kumimoji="0" lang="en-US" sz="1200" b="0" i="1" u="none" strike="noStrike" kern="1200" cap="none" spc="0" normalizeH="0" baseline="0" noProof="0" dirty="0">
                <a:ln>
                  <a:noFill/>
                </a:ln>
                <a:solidFill>
                  <a:srgbClr val="007CB0">
                    <a:lumMod val="40000"/>
                    <a:lumOff val="60000"/>
                  </a:srgbClr>
                </a:solidFill>
                <a:effectLst/>
                <a:uLnTx/>
                <a:uFillTx/>
                <a:latin typeface="Calibri"/>
                <a:ea typeface="+mn-ea"/>
                <a:cs typeface="+mn-cs"/>
              </a:rPr>
              <a:t> </a:t>
            </a:r>
          </a:p>
        </p:txBody>
      </p:sp>
      <p:sp>
        <p:nvSpPr>
          <p:cNvPr id="6" name="Rectangle 5">
            <a:extLst>
              <a:ext uri="{FF2B5EF4-FFF2-40B4-BE49-F238E27FC236}">
                <a16:creationId xmlns:a16="http://schemas.microsoft.com/office/drawing/2014/main" id="{CA05E53B-92DB-4E0C-B1CD-9792EF324717}"/>
              </a:ext>
            </a:extLst>
          </p:cNvPr>
          <p:cNvSpPr/>
          <p:nvPr/>
        </p:nvSpPr>
        <p:spPr bwMode="gray">
          <a:xfrm>
            <a:off x="383754" y="1060216"/>
            <a:ext cx="11424492" cy="368299"/>
          </a:xfrm>
          <a:prstGeom prst="rect">
            <a:avLst/>
          </a:prstGeom>
          <a:solidFill>
            <a:srgbClr val="0076A8"/>
          </a:solidFill>
          <a:ln>
            <a:solidFill>
              <a:schemeClr val="bg1"/>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dirty="0">
                <a:ln>
                  <a:noFill/>
                </a:ln>
                <a:solidFill>
                  <a:prstClr val="white"/>
                </a:solidFill>
                <a:effectLst/>
                <a:uLnTx/>
                <a:uFillTx/>
                <a:latin typeface="Calibri"/>
                <a:ea typeface="+mn-ea"/>
                <a:cs typeface="+mn-cs"/>
              </a:rPr>
              <a:t>Average tariff rate for 11 KV Industrial Consumer and Average Billing Rate ( At Load Factor 40%) </a:t>
            </a:r>
          </a:p>
        </p:txBody>
      </p:sp>
      <p:sp>
        <p:nvSpPr>
          <p:cNvPr id="7" name="TextBox 6">
            <a:extLst>
              <a:ext uri="{FF2B5EF4-FFF2-40B4-BE49-F238E27FC236}">
                <a16:creationId xmlns:a16="http://schemas.microsoft.com/office/drawing/2014/main" id="{C30971A6-1FAD-458E-B3C7-F32DB548F9EC}"/>
              </a:ext>
            </a:extLst>
          </p:cNvPr>
          <p:cNvSpPr txBox="1"/>
          <p:nvPr/>
        </p:nvSpPr>
        <p:spPr>
          <a:xfrm>
            <a:off x="383754" y="775269"/>
            <a:ext cx="11424492" cy="215444"/>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100000"/>
              </a:lnSpc>
              <a:spcBef>
                <a:spcPts val="600"/>
              </a:spcBef>
              <a:spcAft>
                <a:spcPts val="0"/>
              </a:spcAft>
              <a:buClrTx/>
              <a:buSzPct val="100000"/>
              <a:buFont typeface="Wingdings" panose="05000000000000000000" pitchFamily="2" charset="2"/>
              <a:buChar char="q"/>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Industry Intensive state like Gujarat, Andhra Pradesh have lower Industrial Tariff. </a:t>
            </a:r>
          </a:p>
        </p:txBody>
      </p:sp>
      <p:graphicFrame>
        <p:nvGraphicFramePr>
          <p:cNvPr id="8" name="Chart 7">
            <a:extLst>
              <a:ext uri="{FF2B5EF4-FFF2-40B4-BE49-F238E27FC236}">
                <a16:creationId xmlns:a16="http://schemas.microsoft.com/office/drawing/2014/main" id="{7F8D992C-972E-4421-9E4A-B6B0358DAA96}"/>
              </a:ext>
            </a:extLst>
          </p:cNvPr>
          <p:cNvGraphicFramePr/>
          <p:nvPr/>
        </p:nvGraphicFramePr>
        <p:xfrm>
          <a:off x="383754" y="4176661"/>
          <a:ext cx="11424492" cy="1926279"/>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a:extLst>
              <a:ext uri="{FF2B5EF4-FFF2-40B4-BE49-F238E27FC236}">
                <a16:creationId xmlns:a16="http://schemas.microsoft.com/office/drawing/2014/main" id="{2E56455D-76EC-409B-9D95-D2EE800783A9}"/>
              </a:ext>
            </a:extLst>
          </p:cNvPr>
          <p:cNvSpPr/>
          <p:nvPr/>
        </p:nvSpPr>
        <p:spPr bwMode="gray">
          <a:xfrm>
            <a:off x="383754" y="3824245"/>
            <a:ext cx="11424492" cy="305323"/>
          </a:xfrm>
          <a:prstGeom prst="rect">
            <a:avLst/>
          </a:prstGeom>
          <a:solidFill>
            <a:srgbClr val="0076A8"/>
          </a:solidFill>
          <a:ln>
            <a:solidFill>
              <a:schemeClr val="bg1"/>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dirty="0">
                <a:ln>
                  <a:noFill/>
                </a:ln>
                <a:solidFill>
                  <a:prstClr val="white"/>
                </a:solidFill>
                <a:effectLst/>
                <a:uLnTx/>
                <a:uFillTx/>
                <a:latin typeface="Calibri"/>
                <a:ea typeface="+mn-ea"/>
                <a:cs typeface="+mn-cs"/>
              </a:rPr>
              <a:t>Average tariff rate for 33 KV Industrial Consumer and Average Billing Rate (Load Factor of 40%)</a:t>
            </a:r>
          </a:p>
        </p:txBody>
      </p:sp>
    </p:spTree>
    <p:extLst>
      <p:ext uri="{BB962C8B-B14F-4D97-AF65-F5344CB8AC3E}">
        <p14:creationId xmlns:p14="http://schemas.microsoft.com/office/powerpoint/2010/main" val="3353299715"/>
      </p:ext>
    </p:extLst>
  </p:cSld>
  <p:clrMapOvr>
    <a:masterClrMapping/>
  </p:clrMapOvr>
  <p:transition>
    <p:fade/>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91A4CEF-309A-4525-94F3-B7BF919B9F7A}"/>
              </a:ext>
            </a:extLst>
          </p:cNvPr>
          <p:cNvSpPr>
            <a:spLocks noGrp="1"/>
          </p:cNvSpPr>
          <p:nvPr>
            <p:ph type="title"/>
          </p:nvPr>
        </p:nvSpPr>
        <p:spPr/>
        <p:txBody>
          <a:bodyPr/>
          <a:lstStyle/>
          <a:p>
            <a:r>
              <a:rPr lang="en-US" sz="1800" b="1" dirty="0"/>
              <a:t>Industrial Consumer Growth Analysis for WBSEDCL : Case Scenario 1 (1/2) </a:t>
            </a:r>
          </a:p>
        </p:txBody>
      </p:sp>
      <p:grpSp>
        <p:nvGrpSpPr>
          <p:cNvPr id="53" name="Group 52">
            <a:extLst>
              <a:ext uri="{FF2B5EF4-FFF2-40B4-BE49-F238E27FC236}">
                <a16:creationId xmlns:a16="http://schemas.microsoft.com/office/drawing/2014/main" id="{BC5C8887-73BD-422D-998C-3F2299CB921B}"/>
              </a:ext>
            </a:extLst>
          </p:cNvPr>
          <p:cNvGrpSpPr/>
          <p:nvPr/>
        </p:nvGrpSpPr>
        <p:grpSpPr>
          <a:xfrm>
            <a:off x="338255" y="680637"/>
            <a:ext cx="11515492" cy="5859862"/>
            <a:chOff x="528000" y="668388"/>
            <a:chExt cx="10999971" cy="4998976"/>
          </a:xfrm>
        </p:grpSpPr>
        <p:sp>
          <p:nvSpPr>
            <p:cNvPr id="54" name="Freeform: Shape 53">
              <a:extLst>
                <a:ext uri="{FF2B5EF4-FFF2-40B4-BE49-F238E27FC236}">
                  <a16:creationId xmlns:a16="http://schemas.microsoft.com/office/drawing/2014/main" id="{5ADB8E44-BFB7-4C05-87AA-972ACC4C30E7}"/>
                </a:ext>
              </a:extLst>
            </p:cNvPr>
            <p:cNvSpPr/>
            <p:nvPr/>
          </p:nvSpPr>
          <p:spPr>
            <a:xfrm>
              <a:off x="528000" y="668388"/>
              <a:ext cx="2879230" cy="556711"/>
            </a:xfrm>
            <a:custGeom>
              <a:avLst/>
              <a:gdLst>
                <a:gd name="connsiteX0" fmla="*/ 0 w 3351553"/>
                <a:gd name="connsiteY0" fmla="*/ 0 h 1340621"/>
                <a:gd name="connsiteX1" fmla="*/ 3351553 w 3351553"/>
                <a:gd name="connsiteY1" fmla="*/ 0 h 1340621"/>
                <a:gd name="connsiteX2" fmla="*/ 3351553 w 3351553"/>
                <a:gd name="connsiteY2" fmla="*/ 1340621 h 1340621"/>
                <a:gd name="connsiteX3" fmla="*/ 0 w 3351553"/>
                <a:gd name="connsiteY3" fmla="*/ 1340621 h 1340621"/>
                <a:gd name="connsiteX4" fmla="*/ 0 w 3351553"/>
                <a:gd name="connsiteY4" fmla="*/ 0 h 1340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1553" h="1340621">
                  <a:moveTo>
                    <a:pt x="0" y="0"/>
                  </a:moveTo>
                  <a:lnTo>
                    <a:pt x="3351553" y="0"/>
                  </a:lnTo>
                  <a:lnTo>
                    <a:pt x="3351553" y="1340621"/>
                  </a:lnTo>
                  <a:lnTo>
                    <a:pt x="0" y="1340621"/>
                  </a:lnTo>
                  <a:lnTo>
                    <a:pt x="0" y="0"/>
                  </a:lnTo>
                  <a:close/>
                </a:path>
              </a:pathLst>
            </a:cu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400" kern="1200" dirty="0"/>
                <a:t>Present Scenario of WBSEDCL</a:t>
              </a:r>
            </a:p>
          </p:txBody>
        </p:sp>
        <p:sp>
          <p:nvSpPr>
            <p:cNvPr id="55" name="Freeform: Shape 54">
              <a:extLst>
                <a:ext uri="{FF2B5EF4-FFF2-40B4-BE49-F238E27FC236}">
                  <a16:creationId xmlns:a16="http://schemas.microsoft.com/office/drawing/2014/main" id="{B6BC32FC-251B-4EFE-A80A-AC3478417A17}"/>
                </a:ext>
              </a:extLst>
            </p:cNvPr>
            <p:cNvSpPr/>
            <p:nvPr/>
          </p:nvSpPr>
          <p:spPr>
            <a:xfrm>
              <a:off x="531435" y="1225098"/>
              <a:ext cx="2991021" cy="4442266"/>
            </a:xfrm>
            <a:custGeom>
              <a:avLst/>
              <a:gdLst>
                <a:gd name="connsiteX0" fmla="*/ 0 w 3351553"/>
                <a:gd name="connsiteY0" fmla="*/ 0 h 3033224"/>
                <a:gd name="connsiteX1" fmla="*/ 3351553 w 3351553"/>
                <a:gd name="connsiteY1" fmla="*/ 0 h 3033224"/>
                <a:gd name="connsiteX2" fmla="*/ 3351553 w 3351553"/>
                <a:gd name="connsiteY2" fmla="*/ 3033224 h 3033224"/>
                <a:gd name="connsiteX3" fmla="*/ 0 w 3351553"/>
                <a:gd name="connsiteY3" fmla="*/ 3033224 h 3033224"/>
                <a:gd name="connsiteX4" fmla="*/ 0 w 3351553"/>
                <a:gd name="connsiteY4" fmla="*/ 0 h 3033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1553" h="3033224">
                  <a:moveTo>
                    <a:pt x="0" y="0"/>
                  </a:moveTo>
                  <a:lnTo>
                    <a:pt x="3351553" y="0"/>
                  </a:lnTo>
                  <a:lnTo>
                    <a:pt x="3351553" y="3033224"/>
                  </a:lnTo>
                  <a:lnTo>
                    <a:pt x="0" y="3033224"/>
                  </a:lnTo>
                  <a:lnTo>
                    <a:pt x="0" y="0"/>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300" lvl="1" indent="-114300" algn="just" defTabSz="533400">
                <a:lnSpc>
                  <a:spcPct val="150000"/>
                </a:lnSpc>
                <a:spcBef>
                  <a:spcPts val="600"/>
                </a:spcBef>
                <a:spcAft>
                  <a:spcPct val="15000"/>
                </a:spcAft>
                <a:buFont typeface="Wingdings" panose="05000000000000000000" pitchFamily="2" charset="2"/>
                <a:buChar char="§"/>
              </a:pPr>
              <a:r>
                <a:rPr lang="en-US" sz="1400" kern="1200" dirty="0"/>
                <a:t>Industrial Tariff Rate is higher than other Utilities in multiple licensee area.</a:t>
              </a:r>
            </a:p>
            <a:p>
              <a:pPr marL="114300" lvl="1" indent="-114300" algn="just" defTabSz="533400">
                <a:lnSpc>
                  <a:spcPct val="150000"/>
                </a:lnSpc>
                <a:spcBef>
                  <a:spcPts val="600"/>
                </a:spcBef>
                <a:spcAft>
                  <a:spcPct val="15000"/>
                </a:spcAft>
                <a:buChar char="•"/>
              </a:pPr>
              <a:r>
                <a:rPr lang="en-US" sz="1400" kern="1200" dirty="0"/>
                <a:t>WBSEDCL currently </a:t>
              </a:r>
              <a:r>
                <a:rPr lang="en-US" sz="1400" dirty="0"/>
                <a:t>notified lower tariff for </a:t>
              </a:r>
              <a:r>
                <a:rPr lang="en-US" sz="1400" kern="1200" dirty="0"/>
                <a:t>Industrial Consumer in multiple licensee area but not in other area where it has larger industrial consumer base.</a:t>
              </a:r>
            </a:p>
            <a:p>
              <a:pPr marL="114300" lvl="1" indent="-114300" algn="just" defTabSz="533400">
                <a:lnSpc>
                  <a:spcPct val="150000"/>
                </a:lnSpc>
                <a:spcBef>
                  <a:spcPts val="600"/>
                </a:spcBef>
                <a:spcAft>
                  <a:spcPct val="15000"/>
                </a:spcAft>
                <a:buChar char="•"/>
              </a:pPr>
              <a:r>
                <a:rPr lang="en-US" sz="1400" kern="1200" dirty="0"/>
                <a:t>Share of Lower Industrial Consumer adversely impacts revenue for WBSEDCL.</a:t>
              </a:r>
            </a:p>
            <a:p>
              <a:pPr marL="114300" lvl="1" indent="-114300" algn="just" defTabSz="533400">
                <a:lnSpc>
                  <a:spcPct val="150000"/>
                </a:lnSpc>
                <a:spcBef>
                  <a:spcPts val="600"/>
                </a:spcBef>
                <a:spcAft>
                  <a:spcPct val="15000"/>
                </a:spcAft>
                <a:buChar char="•"/>
              </a:pPr>
              <a:r>
                <a:rPr lang="en-US" sz="1400" dirty="0"/>
                <a:t>Potential of possible increase in Sales volume also remain untapped.</a:t>
              </a:r>
              <a:endParaRPr lang="en-US" sz="1400" kern="1200" dirty="0"/>
            </a:p>
          </p:txBody>
        </p:sp>
        <p:sp>
          <p:nvSpPr>
            <p:cNvPr id="56" name="Freeform: Shape 55">
              <a:extLst>
                <a:ext uri="{FF2B5EF4-FFF2-40B4-BE49-F238E27FC236}">
                  <a16:creationId xmlns:a16="http://schemas.microsoft.com/office/drawing/2014/main" id="{070A0157-DDC3-424B-8269-942C11D61268}"/>
                </a:ext>
              </a:extLst>
            </p:cNvPr>
            <p:cNvSpPr/>
            <p:nvPr/>
          </p:nvSpPr>
          <p:spPr>
            <a:xfrm>
              <a:off x="3535779" y="668388"/>
              <a:ext cx="3351553" cy="556712"/>
            </a:xfrm>
            <a:custGeom>
              <a:avLst/>
              <a:gdLst>
                <a:gd name="connsiteX0" fmla="*/ 0 w 3351553"/>
                <a:gd name="connsiteY0" fmla="*/ 0 h 1340621"/>
                <a:gd name="connsiteX1" fmla="*/ 3351553 w 3351553"/>
                <a:gd name="connsiteY1" fmla="*/ 0 h 1340621"/>
                <a:gd name="connsiteX2" fmla="*/ 3351553 w 3351553"/>
                <a:gd name="connsiteY2" fmla="*/ 1340621 h 1340621"/>
                <a:gd name="connsiteX3" fmla="*/ 0 w 3351553"/>
                <a:gd name="connsiteY3" fmla="*/ 1340621 h 1340621"/>
                <a:gd name="connsiteX4" fmla="*/ 0 w 3351553"/>
                <a:gd name="connsiteY4" fmla="*/ 0 h 1340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1553" h="1340621">
                  <a:moveTo>
                    <a:pt x="0" y="0"/>
                  </a:moveTo>
                  <a:lnTo>
                    <a:pt x="3351553" y="0"/>
                  </a:lnTo>
                  <a:lnTo>
                    <a:pt x="3351553" y="1340621"/>
                  </a:lnTo>
                  <a:lnTo>
                    <a:pt x="0" y="1340621"/>
                  </a:lnTo>
                  <a:lnTo>
                    <a:pt x="0" y="0"/>
                  </a:lnTo>
                  <a:close/>
                </a:path>
              </a:pathLst>
            </a:custGeom>
          </p:spPr>
          <p:style>
            <a:lnRef idx="2">
              <a:schemeClr val="accent4">
                <a:hueOff val="1060772"/>
                <a:satOff val="-4648"/>
                <a:lumOff val="4608"/>
                <a:alphaOff val="0"/>
              </a:schemeClr>
            </a:lnRef>
            <a:fillRef idx="1">
              <a:schemeClr val="accent4">
                <a:hueOff val="1060772"/>
                <a:satOff val="-4648"/>
                <a:lumOff val="4608"/>
                <a:alphaOff val="0"/>
              </a:schemeClr>
            </a:fillRef>
            <a:effectRef idx="0">
              <a:schemeClr val="accent4">
                <a:hueOff val="1060772"/>
                <a:satOff val="-4648"/>
                <a:lumOff val="4608"/>
                <a:alphaOff val="0"/>
              </a:schemeClr>
            </a:effectRef>
            <a:fontRef idx="minor">
              <a:schemeClr val="lt1"/>
            </a:fontRef>
          </p:style>
          <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400" kern="1200" dirty="0"/>
                <a:t>Scenario Analysis </a:t>
              </a:r>
            </a:p>
          </p:txBody>
        </p:sp>
        <p:sp>
          <p:nvSpPr>
            <p:cNvPr id="57" name="Freeform: Shape 56">
              <a:extLst>
                <a:ext uri="{FF2B5EF4-FFF2-40B4-BE49-F238E27FC236}">
                  <a16:creationId xmlns:a16="http://schemas.microsoft.com/office/drawing/2014/main" id="{45A9520A-EA79-4E14-81DA-8AE55CFCB34B}"/>
                </a:ext>
              </a:extLst>
            </p:cNvPr>
            <p:cNvSpPr/>
            <p:nvPr/>
          </p:nvSpPr>
          <p:spPr>
            <a:xfrm>
              <a:off x="3582490" y="1233161"/>
              <a:ext cx="3304842" cy="3751219"/>
            </a:xfrm>
            <a:custGeom>
              <a:avLst/>
              <a:gdLst>
                <a:gd name="connsiteX0" fmla="*/ 0 w 3351553"/>
                <a:gd name="connsiteY0" fmla="*/ 0 h 3033224"/>
                <a:gd name="connsiteX1" fmla="*/ 3351553 w 3351553"/>
                <a:gd name="connsiteY1" fmla="*/ 0 h 3033224"/>
                <a:gd name="connsiteX2" fmla="*/ 3351553 w 3351553"/>
                <a:gd name="connsiteY2" fmla="*/ 3033224 h 3033224"/>
                <a:gd name="connsiteX3" fmla="*/ 0 w 3351553"/>
                <a:gd name="connsiteY3" fmla="*/ 3033224 h 3033224"/>
                <a:gd name="connsiteX4" fmla="*/ 0 w 3351553"/>
                <a:gd name="connsiteY4" fmla="*/ 0 h 3033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1553" h="3033224">
                  <a:moveTo>
                    <a:pt x="0" y="0"/>
                  </a:moveTo>
                  <a:lnTo>
                    <a:pt x="3351553" y="0"/>
                  </a:lnTo>
                  <a:lnTo>
                    <a:pt x="3351553" y="3033224"/>
                  </a:lnTo>
                  <a:lnTo>
                    <a:pt x="0" y="3033224"/>
                  </a:lnTo>
                  <a:lnTo>
                    <a:pt x="0" y="0"/>
                  </a:lnTo>
                  <a:close/>
                </a:path>
              </a:pathLst>
            </a:custGeom>
          </p:spPr>
          <p:style>
            <a:lnRef idx="2">
              <a:schemeClr val="accent4">
                <a:tint val="40000"/>
                <a:alpha val="90000"/>
                <a:hueOff val="1634442"/>
                <a:satOff val="4634"/>
                <a:lumOff val="756"/>
                <a:alphaOff val="0"/>
              </a:schemeClr>
            </a:lnRef>
            <a:fillRef idx="1">
              <a:schemeClr val="accent4">
                <a:tint val="40000"/>
                <a:alpha val="90000"/>
                <a:hueOff val="1634442"/>
                <a:satOff val="4634"/>
                <a:lumOff val="756"/>
                <a:alphaOff val="0"/>
              </a:schemeClr>
            </a:fillRef>
            <a:effectRef idx="0">
              <a:schemeClr val="accent4">
                <a:tint val="40000"/>
                <a:alpha val="90000"/>
                <a:hueOff val="1634442"/>
                <a:satOff val="4634"/>
                <a:lumOff val="756"/>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300" lvl="1" indent="-114300" algn="just" defTabSz="533400">
                <a:lnSpc>
                  <a:spcPct val="150000"/>
                </a:lnSpc>
                <a:spcBef>
                  <a:spcPts val="1200"/>
                </a:spcBef>
                <a:spcAft>
                  <a:spcPct val="15000"/>
                </a:spcAft>
                <a:buChar char="•"/>
              </a:pPr>
              <a:r>
                <a:rPr lang="en-US" sz="1400" kern="1200" dirty="0"/>
                <a:t>For illustration purpose a model </a:t>
              </a:r>
              <a:r>
                <a:rPr lang="en-US" sz="1400" dirty="0"/>
                <a:t>has been</a:t>
              </a:r>
              <a:r>
                <a:rPr lang="en-US" sz="1400" kern="1200" dirty="0"/>
                <a:t> prepared considering three Utilities (A,B &amp; C) within State.</a:t>
              </a:r>
            </a:p>
            <a:p>
              <a:pPr marL="114300" lvl="1" indent="-114300" algn="just" defTabSz="533400">
                <a:lnSpc>
                  <a:spcPct val="150000"/>
                </a:lnSpc>
                <a:spcBef>
                  <a:spcPts val="1200"/>
                </a:spcBef>
                <a:spcAft>
                  <a:spcPct val="15000"/>
                </a:spcAft>
                <a:buChar char="•"/>
              </a:pPr>
              <a:r>
                <a:rPr lang="en-US" sz="1400" kern="1200" dirty="0"/>
                <a:t>We have mapped hypothetical share of number of HT Consumer based on Tariff Rate for the above Utilities.</a:t>
              </a:r>
            </a:p>
            <a:p>
              <a:pPr marL="114300" lvl="1" indent="-114300" algn="just" defTabSz="533400">
                <a:lnSpc>
                  <a:spcPct val="150000"/>
                </a:lnSpc>
                <a:spcBef>
                  <a:spcPts val="1200"/>
                </a:spcBef>
                <a:spcAft>
                  <a:spcPct val="15000"/>
                </a:spcAft>
                <a:buChar char="•"/>
              </a:pPr>
              <a:r>
                <a:rPr lang="en-US" sz="1400" kern="1200" dirty="0"/>
                <a:t>We have analyzed the impact in Revenue by altering the Tariff Rate as well as the share of HT Consumer in our Model.</a:t>
              </a:r>
            </a:p>
          </p:txBody>
        </p:sp>
        <p:sp>
          <p:nvSpPr>
            <p:cNvPr id="58" name="Freeform: Shape 57">
              <a:extLst>
                <a:ext uri="{FF2B5EF4-FFF2-40B4-BE49-F238E27FC236}">
                  <a16:creationId xmlns:a16="http://schemas.microsoft.com/office/drawing/2014/main" id="{B810FB79-C95C-499C-8371-E56EFAD7BC68}"/>
                </a:ext>
              </a:extLst>
            </p:cNvPr>
            <p:cNvSpPr/>
            <p:nvPr/>
          </p:nvSpPr>
          <p:spPr>
            <a:xfrm>
              <a:off x="7015881" y="668388"/>
              <a:ext cx="4512090" cy="500747"/>
            </a:xfrm>
            <a:custGeom>
              <a:avLst/>
              <a:gdLst>
                <a:gd name="connsiteX0" fmla="*/ 0 w 3351553"/>
                <a:gd name="connsiteY0" fmla="*/ 0 h 1340621"/>
                <a:gd name="connsiteX1" fmla="*/ 3351553 w 3351553"/>
                <a:gd name="connsiteY1" fmla="*/ 0 h 1340621"/>
                <a:gd name="connsiteX2" fmla="*/ 3351553 w 3351553"/>
                <a:gd name="connsiteY2" fmla="*/ 1340621 h 1340621"/>
                <a:gd name="connsiteX3" fmla="*/ 0 w 3351553"/>
                <a:gd name="connsiteY3" fmla="*/ 1340621 h 1340621"/>
                <a:gd name="connsiteX4" fmla="*/ 0 w 3351553"/>
                <a:gd name="connsiteY4" fmla="*/ 0 h 1340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1553" h="1340621">
                  <a:moveTo>
                    <a:pt x="0" y="0"/>
                  </a:moveTo>
                  <a:lnTo>
                    <a:pt x="3351553" y="0"/>
                  </a:lnTo>
                  <a:lnTo>
                    <a:pt x="3351553" y="1340621"/>
                  </a:lnTo>
                  <a:lnTo>
                    <a:pt x="0" y="1340621"/>
                  </a:lnTo>
                  <a:lnTo>
                    <a:pt x="0" y="0"/>
                  </a:lnTo>
                  <a:close/>
                </a:path>
              </a:pathLst>
            </a:custGeom>
          </p:spPr>
          <p:style>
            <a:lnRef idx="2">
              <a:schemeClr val="accent4">
                <a:hueOff val="2121544"/>
                <a:satOff val="-9296"/>
                <a:lumOff val="9216"/>
                <a:alphaOff val="0"/>
              </a:schemeClr>
            </a:lnRef>
            <a:fillRef idx="1">
              <a:schemeClr val="accent4">
                <a:hueOff val="2121544"/>
                <a:satOff val="-9296"/>
                <a:lumOff val="9216"/>
                <a:alphaOff val="0"/>
              </a:schemeClr>
            </a:fillRef>
            <a:effectRef idx="0">
              <a:schemeClr val="accent4">
                <a:hueOff val="2121544"/>
                <a:satOff val="-9296"/>
                <a:lumOff val="9216"/>
                <a:alphaOff val="0"/>
              </a:schemeClr>
            </a:effectRef>
            <a:fontRef idx="minor">
              <a:schemeClr val="lt1"/>
            </a:fontRef>
          </p:style>
          <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400" kern="1200" dirty="0"/>
                <a:t>Outcome</a:t>
              </a:r>
              <a:r>
                <a:rPr lang="en-US" sz="1400" kern="1200" baseline="0" dirty="0"/>
                <a:t> of Scenario Analysis </a:t>
              </a:r>
              <a:endParaRPr lang="en-US" sz="1400" kern="1200" dirty="0"/>
            </a:p>
          </p:txBody>
        </p:sp>
        <p:sp>
          <p:nvSpPr>
            <p:cNvPr id="59" name="Freeform: Shape 58">
              <a:extLst>
                <a:ext uri="{FF2B5EF4-FFF2-40B4-BE49-F238E27FC236}">
                  <a16:creationId xmlns:a16="http://schemas.microsoft.com/office/drawing/2014/main" id="{208C89CF-F16C-43CB-BC39-2E015D1B2B04}"/>
                </a:ext>
              </a:extLst>
            </p:cNvPr>
            <p:cNvSpPr/>
            <p:nvPr/>
          </p:nvSpPr>
          <p:spPr>
            <a:xfrm>
              <a:off x="7015877" y="1233161"/>
              <a:ext cx="4512090" cy="3564381"/>
            </a:xfrm>
            <a:custGeom>
              <a:avLst/>
              <a:gdLst>
                <a:gd name="connsiteX0" fmla="*/ 0 w 3351553"/>
                <a:gd name="connsiteY0" fmla="*/ 0 h 3033224"/>
                <a:gd name="connsiteX1" fmla="*/ 3351553 w 3351553"/>
                <a:gd name="connsiteY1" fmla="*/ 0 h 3033224"/>
                <a:gd name="connsiteX2" fmla="*/ 3351553 w 3351553"/>
                <a:gd name="connsiteY2" fmla="*/ 3033224 h 3033224"/>
                <a:gd name="connsiteX3" fmla="*/ 0 w 3351553"/>
                <a:gd name="connsiteY3" fmla="*/ 3033224 h 3033224"/>
                <a:gd name="connsiteX4" fmla="*/ 0 w 3351553"/>
                <a:gd name="connsiteY4" fmla="*/ 0 h 3033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1553" h="3033224">
                  <a:moveTo>
                    <a:pt x="0" y="0"/>
                  </a:moveTo>
                  <a:lnTo>
                    <a:pt x="3351553" y="0"/>
                  </a:lnTo>
                  <a:lnTo>
                    <a:pt x="3351553" y="3033224"/>
                  </a:lnTo>
                  <a:lnTo>
                    <a:pt x="0" y="3033224"/>
                  </a:lnTo>
                  <a:lnTo>
                    <a:pt x="0" y="0"/>
                  </a:lnTo>
                  <a:close/>
                </a:path>
              </a:pathLst>
            </a:custGeom>
          </p:spPr>
          <p:style>
            <a:lnRef idx="2">
              <a:schemeClr val="accent4">
                <a:tint val="40000"/>
                <a:alpha val="90000"/>
                <a:hueOff val="3268884"/>
                <a:satOff val="9268"/>
                <a:lumOff val="1512"/>
                <a:alphaOff val="0"/>
              </a:schemeClr>
            </a:lnRef>
            <a:fillRef idx="1">
              <a:schemeClr val="accent4">
                <a:tint val="40000"/>
                <a:alpha val="90000"/>
                <a:hueOff val="3268884"/>
                <a:satOff val="9268"/>
                <a:lumOff val="1512"/>
                <a:alphaOff val="0"/>
              </a:schemeClr>
            </a:fillRef>
            <a:effectRef idx="0">
              <a:schemeClr val="accent4">
                <a:tint val="40000"/>
                <a:alpha val="90000"/>
                <a:hueOff val="3268884"/>
                <a:satOff val="9268"/>
                <a:lumOff val="1512"/>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endParaRPr lang="en-US" sz="1400" b="1" kern="1200" dirty="0"/>
            </a:p>
          </p:txBody>
        </p:sp>
      </p:grpSp>
      <p:graphicFrame>
        <p:nvGraphicFramePr>
          <p:cNvPr id="47" name="Table 47">
            <a:extLst>
              <a:ext uri="{FF2B5EF4-FFF2-40B4-BE49-F238E27FC236}">
                <a16:creationId xmlns:a16="http://schemas.microsoft.com/office/drawing/2014/main" id="{70A0B874-44A6-45C8-8BA0-F81E2C972C4C}"/>
              </a:ext>
            </a:extLst>
          </p:cNvPr>
          <p:cNvGraphicFramePr>
            <a:graphicFrameLocks noGrp="1"/>
          </p:cNvGraphicFramePr>
          <p:nvPr/>
        </p:nvGraphicFramePr>
        <p:xfrm>
          <a:off x="7179096" y="1187620"/>
          <a:ext cx="4674646" cy="944834"/>
        </p:xfrm>
        <a:graphic>
          <a:graphicData uri="http://schemas.openxmlformats.org/drawingml/2006/table">
            <a:tbl>
              <a:tblPr firstRow="1" bandRow="1">
                <a:tableStyleId>{5C22544A-7EE6-4342-B048-85BDC9FD1C3A}</a:tableStyleId>
              </a:tblPr>
              <a:tblGrid>
                <a:gridCol w="4674646">
                  <a:extLst>
                    <a:ext uri="{9D8B030D-6E8A-4147-A177-3AD203B41FA5}">
                      <a16:colId xmlns:a16="http://schemas.microsoft.com/office/drawing/2014/main" val="1929807492"/>
                    </a:ext>
                  </a:extLst>
                </a:gridCol>
              </a:tblGrid>
              <a:tr h="356937">
                <a:tc>
                  <a:txBody>
                    <a:bodyPr/>
                    <a:lstStyle/>
                    <a:p>
                      <a:r>
                        <a:rPr lang="en-US" sz="1100" dirty="0"/>
                        <a:t>Actual Scenario ( For Utility C)</a:t>
                      </a:r>
                    </a:p>
                  </a:txBody>
                  <a:tcPr>
                    <a:solidFill>
                      <a:srgbClr val="009A44"/>
                    </a:solidFill>
                  </a:tcPr>
                </a:tc>
                <a:extLst>
                  <a:ext uri="{0D108BD9-81ED-4DB2-BD59-A6C34878D82A}">
                    <a16:rowId xmlns:a16="http://schemas.microsoft.com/office/drawing/2014/main" val="3492027303"/>
                  </a:ext>
                </a:extLst>
              </a:tr>
              <a:tr h="587897">
                <a:tc>
                  <a:txBody>
                    <a:bodyPr/>
                    <a:lstStyle/>
                    <a:p>
                      <a:pPr marL="171450" indent="-171450">
                        <a:buFont typeface="Wingdings" panose="05000000000000000000" pitchFamily="2" charset="2"/>
                        <a:buChar char="§"/>
                      </a:pPr>
                      <a:r>
                        <a:rPr lang="en-US" sz="1100" dirty="0"/>
                        <a:t>Higher Tariff Rate (Rs. 8.35 / KWh) has led to reduction in share of Consumer i.e 10%. </a:t>
                      </a:r>
                    </a:p>
                  </a:txBody>
                  <a:tcPr/>
                </a:tc>
                <a:extLst>
                  <a:ext uri="{0D108BD9-81ED-4DB2-BD59-A6C34878D82A}">
                    <a16:rowId xmlns:a16="http://schemas.microsoft.com/office/drawing/2014/main" val="3678669713"/>
                  </a:ext>
                </a:extLst>
              </a:tr>
            </a:tbl>
          </a:graphicData>
        </a:graphic>
      </p:graphicFrame>
      <p:graphicFrame>
        <p:nvGraphicFramePr>
          <p:cNvPr id="51" name="Table 50">
            <a:extLst>
              <a:ext uri="{FF2B5EF4-FFF2-40B4-BE49-F238E27FC236}">
                <a16:creationId xmlns:a16="http://schemas.microsoft.com/office/drawing/2014/main" id="{CCC4F787-047C-49E8-9C4F-C0A833A701A8}"/>
              </a:ext>
            </a:extLst>
          </p:cNvPr>
          <p:cNvGraphicFramePr>
            <a:graphicFrameLocks noGrp="1"/>
          </p:cNvGraphicFramePr>
          <p:nvPr/>
        </p:nvGraphicFramePr>
        <p:xfrm>
          <a:off x="7179096" y="2196269"/>
          <a:ext cx="4674646" cy="944834"/>
        </p:xfrm>
        <a:graphic>
          <a:graphicData uri="http://schemas.openxmlformats.org/drawingml/2006/table">
            <a:tbl>
              <a:tblPr firstRow="1" bandRow="1">
                <a:tableStyleId>{5C22544A-7EE6-4342-B048-85BDC9FD1C3A}</a:tableStyleId>
              </a:tblPr>
              <a:tblGrid>
                <a:gridCol w="4674646">
                  <a:extLst>
                    <a:ext uri="{9D8B030D-6E8A-4147-A177-3AD203B41FA5}">
                      <a16:colId xmlns:a16="http://schemas.microsoft.com/office/drawing/2014/main" val="1929807492"/>
                    </a:ext>
                  </a:extLst>
                </a:gridCol>
              </a:tblGrid>
              <a:tr h="286825">
                <a:tc>
                  <a:txBody>
                    <a:bodyPr/>
                    <a:lstStyle/>
                    <a:p>
                      <a:r>
                        <a:rPr lang="en-US" sz="1100" dirty="0"/>
                        <a:t>Scenario 1 ( For Utility C)</a:t>
                      </a:r>
                    </a:p>
                  </a:txBody>
                  <a:tcPr>
                    <a:solidFill>
                      <a:srgbClr val="009A44"/>
                    </a:solidFill>
                  </a:tcPr>
                </a:tc>
                <a:extLst>
                  <a:ext uri="{0D108BD9-81ED-4DB2-BD59-A6C34878D82A}">
                    <a16:rowId xmlns:a16="http://schemas.microsoft.com/office/drawing/2014/main" val="3492027303"/>
                  </a:ext>
                </a:extLst>
              </a:tr>
              <a:tr h="658009">
                <a:tc>
                  <a:txBody>
                    <a:bodyPr/>
                    <a:lstStyle/>
                    <a:p>
                      <a:pPr marL="171450" indent="-171450">
                        <a:buFont typeface="Wingdings" panose="05000000000000000000" pitchFamily="2" charset="2"/>
                        <a:buChar char="§"/>
                      </a:pPr>
                      <a:r>
                        <a:rPr lang="en-US" sz="1100" dirty="0"/>
                        <a:t>Tariff Rate has been revised to Rs. 5.55 / KWh which resulted in increase in share of Consumer to 20% which impacts revenue growth by 33%.</a:t>
                      </a:r>
                    </a:p>
                  </a:txBody>
                  <a:tcPr/>
                </a:tc>
                <a:extLst>
                  <a:ext uri="{0D108BD9-81ED-4DB2-BD59-A6C34878D82A}">
                    <a16:rowId xmlns:a16="http://schemas.microsoft.com/office/drawing/2014/main" val="3678669713"/>
                  </a:ext>
                </a:extLst>
              </a:tr>
            </a:tbl>
          </a:graphicData>
        </a:graphic>
      </p:graphicFrame>
      <p:graphicFrame>
        <p:nvGraphicFramePr>
          <p:cNvPr id="24" name="Table 47">
            <a:extLst>
              <a:ext uri="{FF2B5EF4-FFF2-40B4-BE49-F238E27FC236}">
                <a16:creationId xmlns:a16="http://schemas.microsoft.com/office/drawing/2014/main" id="{14E616E8-18DA-4AF2-AEDA-DCBD9BC6CB67}"/>
              </a:ext>
            </a:extLst>
          </p:cNvPr>
          <p:cNvGraphicFramePr>
            <a:graphicFrameLocks noGrp="1"/>
          </p:cNvGraphicFramePr>
          <p:nvPr>
            <p:extLst>
              <p:ext uri="{D42A27DB-BD31-4B8C-83A1-F6EECF244321}">
                <p14:modId xmlns:p14="http://schemas.microsoft.com/office/powerpoint/2010/main" val="2780446310"/>
              </p:ext>
            </p:extLst>
          </p:nvPr>
        </p:nvGraphicFramePr>
        <p:xfrm>
          <a:off x="7179096" y="1146522"/>
          <a:ext cx="4674646" cy="1615077"/>
        </p:xfrm>
        <a:graphic>
          <a:graphicData uri="http://schemas.openxmlformats.org/drawingml/2006/table">
            <a:tbl>
              <a:tblPr firstRow="1" bandRow="1">
                <a:tableStyleId>{5C22544A-7EE6-4342-B048-85BDC9FD1C3A}</a:tableStyleId>
              </a:tblPr>
              <a:tblGrid>
                <a:gridCol w="4674646">
                  <a:extLst>
                    <a:ext uri="{9D8B030D-6E8A-4147-A177-3AD203B41FA5}">
                      <a16:colId xmlns:a16="http://schemas.microsoft.com/office/drawing/2014/main" val="1929807492"/>
                    </a:ext>
                  </a:extLst>
                </a:gridCol>
              </a:tblGrid>
              <a:tr h="562977">
                <a:tc>
                  <a:txBody>
                    <a:bodyPr/>
                    <a:lstStyle/>
                    <a:p>
                      <a:pPr>
                        <a:lnSpc>
                          <a:spcPct val="150000"/>
                        </a:lnSpc>
                      </a:pPr>
                      <a:r>
                        <a:rPr lang="en-US" sz="1400" dirty="0"/>
                        <a:t>Actual Scenario ( For Utility C)</a:t>
                      </a:r>
                    </a:p>
                  </a:txBody>
                  <a:tcPr>
                    <a:solidFill>
                      <a:srgbClr val="009A44"/>
                    </a:solidFill>
                  </a:tcPr>
                </a:tc>
                <a:extLst>
                  <a:ext uri="{0D108BD9-81ED-4DB2-BD59-A6C34878D82A}">
                    <a16:rowId xmlns:a16="http://schemas.microsoft.com/office/drawing/2014/main" val="3492027303"/>
                  </a:ext>
                </a:extLst>
              </a:tr>
              <a:tr h="1052100">
                <a:tc>
                  <a:txBody>
                    <a:bodyPr/>
                    <a:lstStyle/>
                    <a:p>
                      <a:pPr marL="171450" indent="-171450">
                        <a:lnSpc>
                          <a:spcPct val="150000"/>
                        </a:lnSpc>
                        <a:buFont typeface="Wingdings" panose="05000000000000000000" pitchFamily="2" charset="2"/>
                        <a:buChar char="§"/>
                      </a:pPr>
                      <a:r>
                        <a:rPr lang="en-US" sz="1400" dirty="0"/>
                        <a:t>Higher Tariff Rate (Rs. 8.35 / KWh) has led to reduction in share of Consumer i.e 10%. </a:t>
                      </a:r>
                    </a:p>
                  </a:txBody>
                  <a:tcPr/>
                </a:tc>
                <a:extLst>
                  <a:ext uri="{0D108BD9-81ED-4DB2-BD59-A6C34878D82A}">
                    <a16:rowId xmlns:a16="http://schemas.microsoft.com/office/drawing/2014/main" val="3678669713"/>
                  </a:ext>
                </a:extLst>
              </a:tr>
            </a:tbl>
          </a:graphicData>
        </a:graphic>
      </p:graphicFrame>
      <p:graphicFrame>
        <p:nvGraphicFramePr>
          <p:cNvPr id="25" name="Table 24">
            <a:extLst>
              <a:ext uri="{FF2B5EF4-FFF2-40B4-BE49-F238E27FC236}">
                <a16:creationId xmlns:a16="http://schemas.microsoft.com/office/drawing/2014/main" id="{A5C74296-DCA6-4DB5-9A32-3F9E04F56B5C}"/>
              </a:ext>
            </a:extLst>
          </p:cNvPr>
          <p:cNvGraphicFramePr>
            <a:graphicFrameLocks noGrp="1"/>
          </p:cNvGraphicFramePr>
          <p:nvPr>
            <p:extLst>
              <p:ext uri="{D42A27DB-BD31-4B8C-83A1-F6EECF244321}">
                <p14:modId xmlns:p14="http://schemas.microsoft.com/office/powerpoint/2010/main" val="1154630952"/>
              </p:ext>
            </p:extLst>
          </p:nvPr>
        </p:nvGraphicFramePr>
        <p:xfrm>
          <a:off x="7179096" y="4302297"/>
          <a:ext cx="4674646" cy="2061973"/>
        </p:xfrm>
        <a:graphic>
          <a:graphicData uri="http://schemas.openxmlformats.org/drawingml/2006/table">
            <a:tbl>
              <a:tblPr firstRow="1" bandRow="1">
                <a:tableStyleId>{5C22544A-7EE6-4342-B048-85BDC9FD1C3A}</a:tableStyleId>
              </a:tblPr>
              <a:tblGrid>
                <a:gridCol w="4674646">
                  <a:extLst>
                    <a:ext uri="{9D8B030D-6E8A-4147-A177-3AD203B41FA5}">
                      <a16:colId xmlns:a16="http://schemas.microsoft.com/office/drawing/2014/main" val="1929807492"/>
                    </a:ext>
                  </a:extLst>
                </a:gridCol>
              </a:tblGrid>
              <a:tr h="733489">
                <a:tc>
                  <a:txBody>
                    <a:bodyPr/>
                    <a:lstStyle/>
                    <a:p>
                      <a:pPr>
                        <a:lnSpc>
                          <a:spcPct val="150000"/>
                        </a:lnSpc>
                      </a:pPr>
                      <a:r>
                        <a:rPr lang="en-US" sz="1400" dirty="0"/>
                        <a:t>Scenario 2 ( For Utility C)</a:t>
                      </a:r>
                    </a:p>
                  </a:txBody>
                  <a:tcPr>
                    <a:solidFill>
                      <a:srgbClr val="009A44"/>
                    </a:solidFill>
                  </a:tcPr>
                </a:tc>
                <a:extLst>
                  <a:ext uri="{0D108BD9-81ED-4DB2-BD59-A6C34878D82A}">
                    <a16:rowId xmlns:a16="http://schemas.microsoft.com/office/drawing/2014/main" val="3492027303"/>
                  </a:ext>
                </a:extLst>
              </a:tr>
              <a:tr h="1291887">
                <a:tc>
                  <a:txBody>
                    <a:bodyPr/>
                    <a:lstStyle/>
                    <a:p>
                      <a:pPr marL="171450" indent="-171450">
                        <a:lnSpc>
                          <a:spcPct val="150000"/>
                        </a:lnSpc>
                        <a:buFont typeface="Wingdings" panose="05000000000000000000" pitchFamily="2" charset="2"/>
                        <a:buChar char="§"/>
                      </a:pPr>
                      <a:r>
                        <a:rPr lang="en-US" sz="1400" dirty="0"/>
                        <a:t>Tariff Rate has been revised to Rs. 5.30 / KWh which resulted in increase in share of Consumer to 50% which impacts revenue growth by 217%.</a:t>
                      </a:r>
                    </a:p>
                  </a:txBody>
                  <a:tcPr/>
                </a:tc>
                <a:extLst>
                  <a:ext uri="{0D108BD9-81ED-4DB2-BD59-A6C34878D82A}">
                    <a16:rowId xmlns:a16="http://schemas.microsoft.com/office/drawing/2014/main" val="3678669713"/>
                  </a:ext>
                </a:extLst>
              </a:tr>
            </a:tbl>
          </a:graphicData>
        </a:graphic>
      </p:graphicFrame>
      <p:graphicFrame>
        <p:nvGraphicFramePr>
          <p:cNvPr id="26" name="Table 25">
            <a:extLst>
              <a:ext uri="{FF2B5EF4-FFF2-40B4-BE49-F238E27FC236}">
                <a16:creationId xmlns:a16="http://schemas.microsoft.com/office/drawing/2014/main" id="{9E1CE1B9-4807-4457-A190-CA0950EEFF27}"/>
              </a:ext>
            </a:extLst>
          </p:cNvPr>
          <p:cNvGraphicFramePr>
            <a:graphicFrameLocks noGrp="1"/>
          </p:cNvGraphicFramePr>
          <p:nvPr>
            <p:extLst>
              <p:ext uri="{D42A27DB-BD31-4B8C-83A1-F6EECF244321}">
                <p14:modId xmlns:p14="http://schemas.microsoft.com/office/powerpoint/2010/main" val="1971581151"/>
              </p:ext>
            </p:extLst>
          </p:nvPr>
        </p:nvGraphicFramePr>
        <p:xfrm>
          <a:off x="7179096" y="2792161"/>
          <a:ext cx="4674646" cy="1376808"/>
        </p:xfrm>
        <a:graphic>
          <a:graphicData uri="http://schemas.openxmlformats.org/drawingml/2006/table">
            <a:tbl>
              <a:tblPr firstRow="1" bandRow="1">
                <a:tableStyleId>{5C22544A-7EE6-4342-B048-85BDC9FD1C3A}</a:tableStyleId>
              </a:tblPr>
              <a:tblGrid>
                <a:gridCol w="4674646">
                  <a:extLst>
                    <a:ext uri="{9D8B030D-6E8A-4147-A177-3AD203B41FA5}">
                      <a16:colId xmlns:a16="http://schemas.microsoft.com/office/drawing/2014/main" val="1929807492"/>
                    </a:ext>
                  </a:extLst>
                </a:gridCol>
              </a:tblGrid>
              <a:tr h="355095">
                <a:tc>
                  <a:txBody>
                    <a:bodyPr/>
                    <a:lstStyle/>
                    <a:p>
                      <a:pPr>
                        <a:lnSpc>
                          <a:spcPct val="150000"/>
                        </a:lnSpc>
                      </a:pPr>
                      <a:r>
                        <a:rPr lang="en-US" sz="1400" dirty="0"/>
                        <a:t>Scenario 1 ( For Utility C)</a:t>
                      </a:r>
                    </a:p>
                  </a:txBody>
                  <a:tcPr>
                    <a:solidFill>
                      <a:srgbClr val="009A44"/>
                    </a:solidFill>
                  </a:tcPr>
                </a:tc>
                <a:extLst>
                  <a:ext uri="{0D108BD9-81ED-4DB2-BD59-A6C34878D82A}">
                    <a16:rowId xmlns:a16="http://schemas.microsoft.com/office/drawing/2014/main" val="3492027303"/>
                  </a:ext>
                </a:extLst>
              </a:tr>
              <a:tr h="852227">
                <a:tc>
                  <a:txBody>
                    <a:bodyPr/>
                    <a:lstStyle/>
                    <a:p>
                      <a:pPr marL="171450" indent="-171450">
                        <a:lnSpc>
                          <a:spcPct val="150000"/>
                        </a:lnSpc>
                        <a:buFont typeface="Wingdings" panose="05000000000000000000" pitchFamily="2" charset="2"/>
                        <a:buChar char="§"/>
                      </a:pPr>
                      <a:r>
                        <a:rPr lang="en-US" sz="1400" dirty="0"/>
                        <a:t>Tariff Rate has been revised to Rs. 5.55 / KWh which resulted in increase in share of Consumer to 20% which impacts revenue growth by 33%.</a:t>
                      </a:r>
                    </a:p>
                  </a:txBody>
                  <a:tcPr/>
                </a:tc>
                <a:extLst>
                  <a:ext uri="{0D108BD9-81ED-4DB2-BD59-A6C34878D82A}">
                    <a16:rowId xmlns:a16="http://schemas.microsoft.com/office/drawing/2014/main" val="3678669713"/>
                  </a:ext>
                </a:extLst>
              </a:tr>
            </a:tbl>
          </a:graphicData>
        </a:graphic>
      </p:graphicFrame>
    </p:spTree>
    <p:extLst>
      <p:ext uri="{BB962C8B-B14F-4D97-AF65-F5344CB8AC3E}">
        <p14:creationId xmlns:p14="http://schemas.microsoft.com/office/powerpoint/2010/main" val="2804898244"/>
      </p:ext>
    </p:extLst>
  </p:cSld>
  <p:clrMapOvr>
    <a:masterClrMapping/>
  </p:clrMapOvr>
  <p:transition>
    <p:fade/>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91A4CEF-309A-4525-94F3-B7BF919B9F7A}"/>
              </a:ext>
            </a:extLst>
          </p:cNvPr>
          <p:cNvSpPr>
            <a:spLocks noGrp="1"/>
          </p:cNvSpPr>
          <p:nvPr>
            <p:ph type="title"/>
          </p:nvPr>
        </p:nvSpPr>
        <p:spPr/>
        <p:txBody>
          <a:bodyPr/>
          <a:lstStyle/>
          <a:p>
            <a:r>
              <a:rPr lang="en-US" sz="1800" b="1" dirty="0"/>
              <a:t>Industrial Consumer Growth Illustrative Analysis for WBSEDCL–Case Scenario 1 (2/2) </a:t>
            </a:r>
          </a:p>
        </p:txBody>
      </p:sp>
      <p:graphicFrame>
        <p:nvGraphicFramePr>
          <p:cNvPr id="16" name="Table 15">
            <a:extLst>
              <a:ext uri="{FF2B5EF4-FFF2-40B4-BE49-F238E27FC236}">
                <a16:creationId xmlns:a16="http://schemas.microsoft.com/office/drawing/2014/main" id="{B01EC806-2A1F-4A75-8C86-C9470FB73EF5}"/>
              </a:ext>
            </a:extLst>
          </p:cNvPr>
          <p:cNvGraphicFramePr>
            <a:graphicFrameLocks noGrp="1"/>
          </p:cNvGraphicFramePr>
          <p:nvPr>
            <p:extLst>
              <p:ext uri="{D42A27DB-BD31-4B8C-83A1-F6EECF244321}">
                <p14:modId xmlns:p14="http://schemas.microsoft.com/office/powerpoint/2010/main" val="2210853439"/>
              </p:ext>
            </p:extLst>
          </p:nvPr>
        </p:nvGraphicFramePr>
        <p:xfrm>
          <a:off x="501651" y="1138384"/>
          <a:ext cx="4865007" cy="1976549"/>
        </p:xfrm>
        <a:graphic>
          <a:graphicData uri="http://schemas.openxmlformats.org/drawingml/2006/table">
            <a:tbl>
              <a:tblPr firstRow="1" bandRow="1">
                <a:tableStyleId>{5A111915-BE36-4E01-A7E5-04B1672EAD32}</a:tableStyleId>
              </a:tblPr>
              <a:tblGrid>
                <a:gridCol w="646925">
                  <a:extLst>
                    <a:ext uri="{9D8B030D-6E8A-4147-A177-3AD203B41FA5}">
                      <a16:colId xmlns:a16="http://schemas.microsoft.com/office/drawing/2014/main" val="2765994723"/>
                    </a:ext>
                  </a:extLst>
                </a:gridCol>
                <a:gridCol w="646770">
                  <a:extLst>
                    <a:ext uri="{9D8B030D-6E8A-4147-A177-3AD203B41FA5}">
                      <a16:colId xmlns:a16="http://schemas.microsoft.com/office/drawing/2014/main" val="3665149842"/>
                    </a:ext>
                  </a:extLst>
                </a:gridCol>
                <a:gridCol w="1479812">
                  <a:extLst>
                    <a:ext uri="{9D8B030D-6E8A-4147-A177-3AD203B41FA5}">
                      <a16:colId xmlns:a16="http://schemas.microsoft.com/office/drawing/2014/main" val="1000219469"/>
                    </a:ext>
                  </a:extLst>
                </a:gridCol>
                <a:gridCol w="1045750">
                  <a:extLst>
                    <a:ext uri="{9D8B030D-6E8A-4147-A177-3AD203B41FA5}">
                      <a16:colId xmlns:a16="http://schemas.microsoft.com/office/drawing/2014/main" val="3329030665"/>
                    </a:ext>
                  </a:extLst>
                </a:gridCol>
                <a:gridCol w="1045750">
                  <a:extLst>
                    <a:ext uri="{9D8B030D-6E8A-4147-A177-3AD203B41FA5}">
                      <a16:colId xmlns:a16="http://schemas.microsoft.com/office/drawing/2014/main" val="1898449707"/>
                    </a:ext>
                  </a:extLst>
                </a:gridCol>
              </a:tblGrid>
              <a:tr h="987833">
                <a:tc>
                  <a:txBody>
                    <a:bodyPr/>
                    <a:lstStyle/>
                    <a:p>
                      <a:r>
                        <a:rPr lang="en-US" sz="1200" b="0" dirty="0"/>
                        <a:t>Utility </a:t>
                      </a:r>
                    </a:p>
                  </a:txBody>
                  <a:tcPr anchor="ctr">
                    <a:solidFill>
                      <a:srgbClr val="009A44"/>
                    </a:solidFill>
                  </a:tcPr>
                </a:tc>
                <a:tc>
                  <a:txBody>
                    <a:bodyPr/>
                    <a:lstStyle/>
                    <a:p>
                      <a:r>
                        <a:rPr lang="en-US" sz="1200" b="0" dirty="0"/>
                        <a:t>Consumer Share</a:t>
                      </a:r>
                    </a:p>
                  </a:txBody>
                  <a:tcPr anchor="ctr">
                    <a:solidFill>
                      <a:srgbClr val="009A44"/>
                    </a:solidFill>
                  </a:tcPr>
                </a:tc>
                <a:tc>
                  <a:txBody>
                    <a:bodyPr/>
                    <a:lstStyle/>
                    <a:p>
                      <a:r>
                        <a:rPr lang="en-US" sz="1200" b="0" dirty="0"/>
                        <a:t>Fixed Charge </a:t>
                      </a:r>
                    </a:p>
                    <a:p>
                      <a:r>
                        <a:rPr lang="en-US" sz="1200" b="0" dirty="0"/>
                        <a:t>(Rs/KVA/Month)</a:t>
                      </a:r>
                    </a:p>
                  </a:txBody>
                  <a:tcPr anchor="ctr">
                    <a:solidFill>
                      <a:srgbClr val="009A44"/>
                    </a:solidFill>
                  </a:tcPr>
                </a:tc>
                <a:tc>
                  <a:txBody>
                    <a:bodyPr/>
                    <a:lstStyle/>
                    <a:p>
                      <a:r>
                        <a:rPr lang="en-US" sz="1200" b="0" dirty="0"/>
                        <a:t>Variable Charge </a:t>
                      </a:r>
                    </a:p>
                    <a:p>
                      <a:r>
                        <a:rPr lang="en-US" sz="1200" b="0" dirty="0"/>
                        <a:t>( Rs/KWh)</a:t>
                      </a:r>
                    </a:p>
                  </a:txBody>
                  <a:tcPr anchor="ctr">
                    <a:solidFill>
                      <a:srgbClr val="009A44"/>
                    </a:solidFill>
                  </a:tcPr>
                </a:tc>
                <a:tc>
                  <a:txBody>
                    <a:bodyPr/>
                    <a:lstStyle/>
                    <a:p>
                      <a:r>
                        <a:rPr lang="en-US" sz="1200" b="0" dirty="0"/>
                        <a:t>Average Tariff Rate </a:t>
                      </a:r>
                    </a:p>
                    <a:p>
                      <a:r>
                        <a:rPr lang="en-US" sz="1200" b="0" dirty="0"/>
                        <a:t>(Rs/KWh)</a:t>
                      </a:r>
                    </a:p>
                  </a:txBody>
                  <a:tcPr anchor="ctr">
                    <a:solidFill>
                      <a:srgbClr val="009A44"/>
                    </a:solidFill>
                  </a:tcPr>
                </a:tc>
                <a:extLst>
                  <a:ext uri="{0D108BD9-81ED-4DB2-BD59-A6C34878D82A}">
                    <a16:rowId xmlns:a16="http://schemas.microsoft.com/office/drawing/2014/main" val="337266798"/>
                  </a:ext>
                </a:extLst>
              </a:tr>
              <a:tr h="329572">
                <a:tc>
                  <a:txBody>
                    <a:bodyPr/>
                    <a:lstStyle/>
                    <a:p>
                      <a:pPr algn="ctr"/>
                      <a:r>
                        <a:rPr lang="en-US" sz="1200" dirty="0"/>
                        <a:t>A</a:t>
                      </a:r>
                    </a:p>
                  </a:txBody>
                  <a:tcPr anchor="ctr"/>
                </a:tc>
                <a:tc>
                  <a:txBody>
                    <a:bodyPr/>
                    <a:lstStyle/>
                    <a:p>
                      <a:pPr algn="ctr"/>
                      <a:r>
                        <a:rPr lang="en-US" sz="1200" dirty="0"/>
                        <a:t>10%</a:t>
                      </a:r>
                    </a:p>
                  </a:txBody>
                  <a:tcPr anchor="ctr"/>
                </a:tc>
                <a:tc>
                  <a:txBody>
                    <a:bodyPr/>
                    <a:lstStyle/>
                    <a:p>
                      <a:pPr algn="ctr" fontAlgn="ctr"/>
                      <a:r>
                        <a:rPr lang="en-US" sz="1200" b="0" u="none" strike="noStrike" dirty="0">
                          <a:solidFill>
                            <a:srgbClr val="000000"/>
                          </a:solidFill>
                          <a:effectLst/>
                        </a:rPr>
                        <a:t>384</a:t>
                      </a:r>
                      <a:endParaRPr lang="en-US" sz="1200" b="0" i="0" u="none" strike="noStrike" dirty="0">
                        <a:solidFill>
                          <a:srgbClr val="000000"/>
                        </a:solidFill>
                        <a:effectLst/>
                        <a:latin typeface="+mn-lt"/>
                      </a:endParaRPr>
                    </a:p>
                  </a:txBody>
                  <a:tcPr marL="6350" marR="6350" marT="6350" marB="0" anchor="ctr"/>
                </a:tc>
                <a:tc>
                  <a:txBody>
                    <a:bodyPr/>
                    <a:lstStyle/>
                    <a:p>
                      <a:pPr algn="ctr" fontAlgn="ctr"/>
                      <a:r>
                        <a:rPr lang="en-US" sz="1200" b="0" u="none" strike="noStrike">
                          <a:solidFill>
                            <a:srgbClr val="000000"/>
                          </a:solidFill>
                          <a:effectLst/>
                        </a:rPr>
                        <a:t>7.32</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dirty="0">
                          <a:solidFill>
                            <a:srgbClr val="000000"/>
                          </a:solidFill>
                          <a:effectLst/>
                        </a:rPr>
                        <a:t>8.35</a:t>
                      </a:r>
                      <a:endParaRPr lang="en-US" sz="1200" b="0" i="0" u="none" strike="noStrike" dirty="0">
                        <a:solidFill>
                          <a:srgbClr val="000000"/>
                        </a:solidFill>
                        <a:effectLst/>
                        <a:latin typeface="+mn-lt"/>
                      </a:endParaRPr>
                    </a:p>
                  </a:txBody>
                  <a:tcPr marL="6350" marR="6350" marT="6350" marB="0" anchor="ctr"/>
                </a:tc>
                <a:extLst>
                  <a:ext uri="{0D108BD9-81ED-4DB2-BD59-A6C34878D82A}">
                    <a16:rowId xmlns:a16="http://schemas.microsoft.com/office/drawing/2014/main" val="840852053"/>
                  </a:ext>
                </a:extLst>
              </a:tr>
              <a:tr h="329572">
                <a:tc>
                  <a:txBody>
                    <a:bodyPr/>
                    <a:lstStyle/>
                    <a:p>
                      <a:pPr algn="ctr"/>
                      <a:r>
                        <a:rPr lang="en-US" sz="1200" dirty="0"/>
                        <a:t>B</a:t>
                      </a:r>
                    </a:p>
                  </a:txBody>
                  <a:tcPr anchor="ctr"/>
                </a:tc>
                <a:tc>
                  <a:txBody>
                    <a:bodyPr/>
                    <a:lstStyle/>
                    <a:p>
                      <a:pPr algn="ctr"/>
                      <a:r>
                        <a:rPr lang="en-US" sz="1200" dirty="0"/>
                        <a:t>55%</a:t>
                      </a:r>
                    </a:p>
                  </a:txBody>
                  <a:tcPr anchor="ctr"/>
                </a:tc>
                <a:tc>
                  <a:txBody>
                    <a:bodyPr/>
                    <a:lstStyle/>
                    <a:p>
                      <a:pPr algn="ctr" fontAlgn="ctr"/>
                      <a:r>
                        <a:rPr lang="en-US" sz="1200" b="0" u="none" strike="noStrike" dirty="0">
                          <a:solidFill>
                            <a:srgbClr val="000000"/>
                          </a:solidFill>
                          <a:effectLst/>
                        </a:rPr>
                        <a:t>384</a:t>
                      </a:r>
                      <a:endParaRPr lang="en-US" sz="1200" b="0" i="0" u="none" strike="noStrike" dirty="0">
                        <a:solidFill>
                          <a:srgbClr val="000000"/>
                        </a:solidFill>
                        <a:effectLst/>
                        <a:latin typeface="+mn-lt"/>
                      </a:endParaRPr>
                    </a:p>
                  </a:txBody>
                  <a:tcPr marL="6350" marR="6350" marT="6350" marB="0" anchor="ctr"/>
                </a:tc>
                <a:tc>
                  <a:txBody>
                    <a:bodyPr/>
                    <a:lstStyle/>
                    <a:p>
                      <a:pPr algn="ctr" fontAlgn="ctr"/>
                      <a:r>
                        <a:rPr lang="en-US" sz="1200" b="0" u="none" strike="noStrike" dirty="0">
                          <a:solidFill>
                            <a:srgbClr val="000000"/>
                          </a:solidFill>
                          <a:effectLst/>
                        </a:rPr>
                        <a:t>4.52</a:t>
                      </a:r>
                      <a:endParaRPr lang="en-US" sz="1200" b="0" i="0" u="none" strike="noStrike" dirty="0">
                        <a:solidFill>
                          <a:srgbClr val="000000"/>
                        </a:solidFill>
                        <a:effectLst/>
                        <a:latin typeface="+mn-lt"/>
                      </a:endParaRPr>
                    </a:p>
                  </a:txBody>
                  <a:tcPr marL="6350" marR="6350" marT="6350" marB="0" anchor="ctr"/>
                </a:tc>
                <a:tc>
                  <a:txBody>
                    <a:bodyPr/>
                    <a:lstStyle/>
                    <a:p>
                      <a:pPr algn="ctr" fontAlgn="ctr"/>
                      <a:r>
                        <a:rPr lang="en-US" sz="1200" b="0" u="none" strike="noStrike" dirty="0">
                          <a:solidFill>
                            <a:srgbClr val="000000"/>
                          </a:solidFill>
                          <a:effectLst/>
                        </a:rPr>
                        <a:t>5.55</a:t>
                      </a:r>
                      <a:endParaRPr lang="en-US" sz="1200" b="0" i="0" u="none" strike="noStrike" dirty="0">
                        <a:solidFill>
                          <a:srgbClr val="000000"/>
                        </a:solidFill>
                        <a:effectLst/>
                        <a:latin typeface="+mn-lt"/>
                      </a:endParaRPr>
                    </a:p>
                  </a:txBody>
                  <a:tcPr marL="6350" marR="6350" marT="6350" marB="0" anchor="ctr"/>
                </a:tc>
                <a:extLst>
                  <a:ext uri="{0D108BD9-81ED-4DB2-BD59-A6C34878D82A}">
                    <a16:rowId xmlns:a16="http://schemas.microsoft.com/office/drawing/2014/main" val="2853930003"/>
                  </a:ext>
                </a:extLst>
              </a:tr>
              <a:tr h="329572">
                <a:tc>
                  <a:txBody>
                    <a:bodyPr/>
                    <a:lstStyle/>
                    <a:p>
                      <a:pPr algn="ctr"/>
                      <a:r>
                        <a:rPr lang="en-US" sz="1200" dirty="0"/>
                        <a:t>C</a:t>
                      </a:r>
                    </a:p>
                  </a:txBody>
                  <a:tcPr anchor="ctr"/>
                </a:tc>
                <a:tc>
                  <a:txBody>
                    <a:bodyPr/>
                    <a:lstStyle/>
                    <a:p>
                      <a:pPr algn="ctr"/>
                      <a:r>
                        <a:rPr lang="en-US" sz="1200" dirty="0"/>
                        <a:t>35%</a:t>
                      </a:r>
                    </a:p>
                  </a:txBody>
                  <a:tcPr anchor="ctr"/>
                </a:tc>
                <a:tc>
                  <a:txBody>
                    <a:bodyPr/>
                    <a:lstStyle/>
                    <a:p>
                      <a:pPr algn="ctr" fontAlgn="ctr"/>
                      <a:r>
                        <a:rPr lang="en-US" sz="1200" b="0" u="none" strike="noStrike">
                          <a:solidFill>
                            <a:srgbClr val="000000"/>
                          </a:solidFill>
                          <a:effectLst/>
                        </a:rPr>
                        <a:t>384</a:t>
                      </a:r>
                      <a:endParaRPr lang="en-US" sz="1200" b="0" i="0" u="none" strike="noStrike">
                        <a:solidFill>
                          <a:srgbClr val="000000"/>
                        </a:solidFill>
                        <a:effectLst/>
                        <a:latin typeface="+mn-lt"/>
                      </a:endParaRPr>
                    </a:p>
                  </a:txBody>
                  <a:tcPr marL="6350" marR="6350" marT="6350" marB="0" anchor="ctr"/>
                </a:tc>
                <a:tc>
                  <a:txBody>
                    <a:bodyPr/>
                    <a:lstStyle/>
                    <a:p>
                      <a:pPr algn="ctr" fontAlgn="ctr"/>
                      <a:r>
                        <a:rPr lang="en-US" sz="1200" b="0" u="none" strike="noStrike" dirty="0">
                          <a:solidFill>
                            <a:srgbClr val="000000"/>
                          </a:solidFill>
                          <a:effectLst/>
                        </a:rPr>
                        <a:t>4.27</a:t>
                      </a:r>
                      <a:endParaRPr lang="en-US" sz="1200" b="0" i="0" u="none" strike="noStrike" dirty="0">
                        <a:solidFill>
                          <a:srgbClr val="000000"/>
                        </a:solidFill>
                        <a:effectLst/>
                        <a:latin typeface="+mn-lt"/>
                      </a:endParaRPr>
                    </a:p>
                  </a:txBody>
                  <a:tcPr marL="6350" marR="6350" marT="6350" marB="0" anchor="ctr"/>
                </a:tc>
                <a:tc>
                  <a:txBody>
                    <a:bodyPr/>
                    <a:lstStyle/>
                    <a:p>
                      <a:pPr algn="ctr" fontAlgn="ctr"/>
                      <a:r>
                        <a:rPr lang="en-US" sz="1200" b="0" u="none" strike="noStrike" dirty="0">
                          <a:solidFill>
                            <a:srgbClr val="000000"/>
                          </a:solidFill>
                          <a:effectLst/>
                        </a:rPr>
                        <a:t>5.30</a:t>
                      </a:r>
                      <a:endParaRPr lang="en-US" sz="1200" b="0" i="0" u="none" strike="noStrike" dirty="0">
                        <a:solidFill>
                          <a:srgbClr val="000000"/>
                        </a:solidFill>
                        <a:effectLst/>
                        <a:latin typeface="+mn-lt"/>
                      </a:endParaRPr>
                    </a:p>
                  </a:txBody>
                  <a:tcPr marL="6350" marR="6350" marT="6350" marB="0" anchor="ctr"/>
                </a:tc>
                <a:extLst>
                  <a:ext uri="{0D108BD9-81ED-4DB2-BD59-A6C34878D82A}">
                    <a16:rowId xmlns:a16="http://schemas.microsoft.com/office/drawing/2014/main" val="720384639"/>
                  </a:ext>
                </a:extLst>
              </a:tr>
            </a:tbl>
          </a:graphicData>
        </a:graphic>
      </p:graphicFrame>
      <p:sp>
        <p:nvSpPr>
          <p:cNvPr id="17" name="Parallelogram 16">
            <a:extLst>
              <a:ext uri="{FF2B5EF4-FFF2-40B4-BE49-F238E27FC236}">
                <a16:creationId xmlns:a16="http://schemas.microsoft.com/office/drawing/2014/main" id="{7FABB9DB-B562-42CF-A471-BDD729A85020}"/>
              </a:ext>
            </a:extLst>
          </p:cNvPr>
          <p:cNvSpPr/>
          <p:nvPr/>
        </p:nvSpPr>
        <p:spPr bwMode="gray">
          <a:xfrm>
            <a:off x="501651" y="736062"/>
            <a:ext cx="4879393" cy="334101"/>
          </a:xfrm>
          <a:prstGeom prst="parallelogram">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i="1" dirty="0">
                <a:solidFill>
                  <a:schemeClr val="bg1"/>
                </a:solidFill>
              </a:rPr>
              <a:t>3 Scenario- Parallel License Operation Area</a:t>
            </a:r>
          </a:p>
        </p:txBody>
      </p:sp>
      <p:graphicFrame>
        <p:nvGraphicFramePr>
          <p:cNvPr id="18" name="Table 17">
            <a:extLst>
              <a:ext uri="{FF2B5EF4-FFF2-40B4-BE49-F238E27FC236}">
                <a16:creationId xmlns:a16="http://schemas.microsoft.com/office/drawing/2014/main" id="{E2AAFBF9-FF76-469A-BB41-D21762BC1153}"/>
              </a:ext>
            </a:extLst>
          </p:cNvPr>
          <p:cNvGraphicFramePr>
            <a:graphicFrameLocks noGrp="1"/>
          </p:cNvGraphicFramePr>
          <p:nvPr>
            <p:extLst>
              <p:ext uri="{D42A27DB-BD31-4B8C-83A1-F6EECF244321}">
                <p14:modId xmlns:p14="http://schemas.microsoft.com/office/powerpoint/2010/main" val="1496129748"/>
              </p:ext>
            </p:extLst>
          </p:nvPr>
        </p:nvGraphicFramePr>
        <p:xfrm>
          <a:off x="501650" y="3167523"/>
          <a:ext cx="11342045" cy="1976550"/>
        </p:xfrm>
        <a:graphic>
          <a:graphicData uri="http://schemas.openxmlformats.org/drawingml/2006/table">
            <a:tbl>
              <a:tblPr/>
              <a:tblGrid>
                <a:gridCol w="892251">
                  <a:extLst>
                    <a:ext uri="{9D8B030D-6E8A-4147-A177-3AD203B41FA5}">
                      <a16:colId xmlns:a16="http://schemas.microsoft.com/office/drawing/2014/main" val="1530829025"/>
                    </a:ext>
                  </a:extLst>
                </a:gridCol>
                <a:gridCol w="535259">
                  <a:extLst>
                    <a:ext uri="{9D8B030D-6E8A-4147-A177-3AD203B41FA5}">
                      <a16:colId xmlns:a16="http://schemas.microsoft.com/office/drawing/2014/main" val="193054866"/>
                    </a:ext>
                  </a:extLst>
                </a:gridCol>
                <a:gridCol w="669073">
                  <a:extLst>
                    <a:ext uri="{9D8B030D-6E8A-4147-A177-3AD203B41FA5}">
                      <a16:colId xmlns:a16="http://schemas.microsoft.com/office/drawing/2014/main" val="615943139"/>
                    </a:ext>
                  </a:extLst>
                </a:gridCol>
                <a:gridCol w="992459">
                  <a:extLst>
                    <a:ext uri="{9D8B030D-6E8A-4147-A177-3AD203B41FA5}">
                      <a16:colId xmlns:a16="http://schemas.microsoft.com/office/drawing/2014/main" val="1237019521"/>
                    </a:ext>
                  </a:extLst>
                </a:gridCol>
                <a:gridCol w="657922">
                  <a:extLst>
                    <a:ext uri="{9D8B030D-6E8A-4147-A177-3AD203B41FA5}">
                      <a16:colId xmlns:a16="http://schemas.microsoft.com/office/drawing/2014/main" val="817278644"/>
                    </a:ext>
                  </a:extLst>
                </a:gridCol>
                <a:gridCol w="780585">
                  <a:extLst>
                    <a:ext uri="{9D8B030D-6E8A-4147-A177-3AD203B41FA5}">
                      <a16:colId xmlns:a16="http://schemas.microsoft.com/office/drawing/2014/main" val="1012046988"/>
                    </a:ext>
                  </a:extLst>
                </a:gridCol>
                <a:gridCol w="557561">
                  <a:extLst>
                    <a:ext uri="{9D8B030D-6E8A-4147-A177-3AD203B41FA5}">
                      <a16:colId xmlns:a16="http://schemas.microsoft.com/office/drawing/2014/main" val="2146777449"/>
                    </a:ext>
                  </a:extLst>
                </a:gridCol>
                <a:gridCol w="546410">
                  <a:extLst>
                    <a:ext uri="{9D8B030D-6E8A-4147-A177-3AD203B41FA5}">
                      <a16:colId xmlns:a16="http://schemas.microsoft.com/office/drawing/2014/main" val="3472575621"/>
                    </a:ext>
                  </a:extLst>
                </a:gridCol>
                <a:gridCol w="635619">
                  <a:extLst>
                    <a:ext uri="{9D8B030D-6E8A-4147-A177-3AD203B41FA5}">
                      <a16:colId xmlns:a16="http://schemas.microsoft.com/office/drawing/2014/main" val="1238654672"/>
                    </a:ext>
                  </a:extLst>
                </a:gridCol>
                <a:gridCol w="836342">
                  <a:extLst>
                    <a:ext uri="{9D8B030D-6E8A-4147-A177-3AD203B41FA5}">
                      <a16:colId xmlns:a16="http://schemas.microsoft.com/office/drawing/2014/main" val="717836973"/>
                    </a:ext>
                  </a:extLst>
                </a:gridCol>
                <a:gridCol w="837259">
                  <a:extLst>
                    <a:ext uri="{9D8B030D-6E8A-4147-A177-3AD203B41FA5}">
                      <a16:colId xmlns:a16="http://schemas.microsoft.com/office/drawing/2014/main" val="772176173"/>
                    </a:ext>
                  </a:extLst>
                </a:gridCol>
                <a:gridCol w="627933">
                  <a:extLst>
                    <a:ext uri="{9D8B030D-6E8A-4147-A177-3AD203B41FA5}">
                      <a16:colId xmlns:a16="http://schemas.microsoft.com/office/drawing/2014/main" val="1226665195"/>
                    </a:ext>
                  </a:extLst>
                </a:gridCol>
                <a:gridCol w="627933">
                  <a:extLst>
                    <a:ext uri="{9D8B030D-6E8A-4147-A177-3AD203B41FA5}">
                      <a16:colId xmlns:a16="http://schemas.microsoft.com/office/drawing/2014/main" val="2370156501"/>
                    </a:ext>
                  </a:extLst>
                </a:gridCol>
                <a:gridCol w="1020392">
                  <a:extLst>
                    <a:ext uri="{9D8B030D-6E8A-4147-A177-3AD203B41FA5}">
                      <a16:colId xmlns:a16="http://schemas.microsoft.com/office/drawing/2014/main" val="1595617841"/>
                    </a:ext>
                  </a:extLst>
                </a:gridCol>
                <a:gridCol w="1125047">
                  <a:extLst>
                    <a:ext uri="{9D8B030D-6E8A-4147-A177-3AD203B41FA5}">
                      <a16:colId xmlns:a16="http://schemas.microsoft.com/office/drawing/2014/main" val="2735750551"/>
                    </a:ext>
                  </a:extLst>
                </a:gridCol>
              </a:tblGrid>
              <a:tr h="315565">
                <a:tc>
                  <a:txBody>
                    <a:bodyPr/>
                    <a:lstStyle/>
                    <a:p>
                      <a:pPr algn="ctr" fontAlgn="ctr"/>
                      <a:endParaRPr lang="en-US" sz="1200" b="1" i="0" u="none" strike="noStrike" dirty="0">
                        <a:solidFill>
                          <a:srgbClr val="000000"/>
                        </a:solidFill>
                        <a:effectLst/>
                        <a:latin typeface="+mn-lt"/>
                      </a:endParaRPr>
                    </a:p>
                  </a:txBody>
                  <a:tcPr marL="6350" marR="6350" marT="6350" marB="0" anchor="ctr">
                    <a:lnL>
                      <a:noFill/>
                    </a:lnL>
                    <a:lnR>
                      <a:noFill/>
                    </a:lnR>
                    <a:lnT>
                      <a:noFill/>
                    </a:lnT>
                    <a:lnB>
                      <a:noFill/>
                    </a:lnB>
                    <a:solidFill>
                      <a:schemeClr val="accent5"/>
                    </a:solidFill>
                  </a:tcPr>
                </a:tc>
                <a:tc gridSpan="14">
                  <a:txBody>
                    <a:bodyPr/>
                    <a:lstStyle/>
                    <a:p>
                      <a:pPr algn="ctr" fontAlgn="ctr"/>
                      <a:r>
                        <a:rPr lang="en-US" sz="1400" b="1" i="0" u="none" strike="noStrike" dirty="0">
                          <a:solidFill>
                            <a:schemeClr val="bg1"/>
                          </a:solidFill>
                          <a:effectLst/>
                          <a:latin typeface="+mn-lt"/>
                        </a:rPr>
                        <a:t>Future HT Growth Planning for Utility “A”</a:t>
                      </a:r>
                    </a:p>
                  </a:txBody>
                  <a:tcPr marL="6350" marR="6350" marT="6350" marB="0" anchor="ctr">
                    <a:lnL>
                      <a:noFill/>
                    </a:lnL>
                    <a:lnR>
                      <a:noFill/>
                    </a:lnR>
                    <a:lnT>
                      <a:noFill/>
                    </a:lnT>
                    <a:lnB>
                      <a:noFill/>
                    </a:lnB>
                    <a:solidFill>
                      <a:schemeClr val="accent5"/>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31452303"/>
                  </a:ext>
                </a:extLst>
              </a:tr>
              <a:tr h="413482">
                <a:tc rowSpan="2">
                  <a:txBody>
                    <a:bodyPr/>
                    <a:lstStyle/>
                    <a:p>
                      <a:pPr algn="ctr" fontAlgn="ctr"/>
                      <a:r>
                        <a:rPr lang="en-US" sz="1200" b="1" i="0" u="none" strike="noStrike" dirty="0">
                          <a:solidFill>
                            <a:srgbClr val="000000"/>
                          </a:solidFill>
                          <a:effectLst/>
                          <a:latin typeface="+mn-lt"/>
                        </a:rPr>
                        <a:t>Scenario</a:t>
                      </a:r>
                    </a:p>
                  </a:txBody>
                  <a:tcPr marL="6350" marR="6350" marT="6350" marB="0" anchor="ctr">
                    <a:lnL>
                      <a:noFill/>
                    </a:lnL>
                    <a:lnR>
                      <a:noFill/>
                    </a:lnR>
                    <a:lnT>
                      <a:noFill/>
                    </a:lnT>
                    <a:lnB>
                      <a:noFill/>
                    </a:lnB>
                    <a:solidFill>
                      <a:srgbClr val="00ABAB"/>
                    </a:solidFill>
                  </a:tcPr>
                </a:tc>
                <a:tc gridSpan="3">
                  <a:txBody>
                    <a:bodyPr/>
                    <a:lstStyle/>
                    <a:p>
                      <a:pPr algn="ctr" fontAlgn="ctr"/>
                      <a:r>
                        <a:rPr lang="en-US" sz="1200" b="1" i="0" u="none" strike="noStrike" dirty="0">
                          <a:solidFill>
                            <a:srgbClr val="000000"/>
                          </a:solidFill>
                          <a:effectLst/>
                          <a:latin typeface="+mn-lt"/>
                        </a:rPr>
                        <a:t>Average Proposed Tariff Rate for HT Consumer</a:t>
                      </a:r>
                    </a:p>
                  </a:txBody>
                  <a:tcPr marL="6350" marR="6350" marT="6350" marB="0" anchor="ctr">
                    <a:lnL>
                      <a:noFill/>
                    </a:lnL>
                    <a:lnR>
                      <a:noFill/>
                    </a:lnR>
                    <a:lnT>
                      <a:noFill/>
                    </a:lnT>
                    <a:lnB>
                      <a:noFill/>
                    </a:lnB>
                    <a:solidFill>
                      <a:srgbClr val="F4B084"/>
                    </a:solidFill>
                  </a:tcPr>
                </a:tc>
                <a:tc hMerge="1">
                  <a:txBody>
                    <a:bodyPr/>
                    <a:lstStyle/>
                    <a:p>
                      <a:endParaRPr lang="en-US"/>
                    </a:p>
                  </a:txBody>
                  <a:tcPr/>
                </a:tc>
                <a:tc hMerge="1">
                  <a:txBody>
                    <a:bodyPr/>
                    <a:lstStyle/>
                    <a:p>
                      <a:endParaRPr lang="en-US"/>
                    </a:p>
                  </a:txBody>
                  <a:tcPr/>
                </a:tc>
                <a:tc gridSpan="3">
                  <a:txBody>
                    <a:bodyPr/>
                    <a:lstStyle/>
                    <a:p>
                      <a:pPr algn="ctr" fontAlgn="ctr"/>
                      <a:r>
                        <a:rPr lang="en-US" sz="1200" b="1" i="0" u="none" strike="noStrike" dirty="0">
                          <a:solidFill>
                            <a:srgbClr val="000000"/>
                          </a:solidFill>
                          <a:effectLst/>
                          <a:latin typeface="+mn-lt"/>
                        </a:rPr>
                        <a:t>% of Consumer Share</a:t>
                      </a:r>
                    </a:p>
                  </a:txBody>
                  <a:tcPr marL="6350" marR="6350" marT="6350" marB="0" anchor="ctr">
                    <a:lnL>
                      <a:noFill/>
                    </a:lnL>
                    <a:lnR>
                      <a:noFill/>
                    </a:lnR>
                    <a:lnT>
                      <a:noFill/>
                    </a:lnT>
                    <a:lnB>
                      <a:noFill/>
                    </a:lnB>
                    <a:solidFill>
                      <a:srgbClr val="00B050"/>
                    </a:solidFill>
                  </a:tcPr>
                </a:tc>
                <a:tc hMerge="1">
                  <a:txBody>
                    <a:bodyPr/>
                    <a:lstStyle/>
                    <a:p>
                      <a:endParaRPr lang="en-US"/>
                    </a:p>
                  </a:txBody>
                  <a:tcPr/>
                </a:tc>
                <a:tc hMerge="1">
                  <a:txBody>
                    <a:bodyPr/>
                    <a:lstStyle/>
                    <a:p>
                      <a:endParaRPr lang="en-US"/>
                    </a:p>
                  </a:txBody>
                  <a:tcPr/>
                </a:tc>
                <a:tc gridSpan="3">
                  <a:txBody>
                    <a:bodyPr/>
                    <a:lstStyle/>
                    <a:p>
                      <a:pPr algn="ctr" fontAlgn="ctr"/>
                      <a:r>
                        <a:rPr lang="en-US" sz="1200" b="1" i="0" u="none" strike="noStrike" dirty="0">
                          <a:solidFill>
                            <a:srgbClr val="000000"/>
                          </a:solidFill>
                          <a:effectLst/>
                          <a:latin typeface="+mn-lt"/>
                        </a:rPr>
                        <a:t>No of Consumer Share </a:t>
                      </a:r>
                    </a:p>
                  </a:txBody>
                  <a:tcPr marL="6350" marR="6350" marT="6350" marB="0" anchor="ctr">
                    <a:lnL>
                      <a:noFill/>
                    </a:lnL>
                    <a:lnR>
                      <a:noFill/>
                    </a:lnR>
                    <a:lnT>
                      <a:noFill/>
                    </a:lnT>
                    <a:lnB>
                      <a:noFill/>
                    </a:lnB>
                    <a:solidFill>
                      <a:srgbClr val="FFD966"/>
                    </a:solidFill>
                  </a:tcPr>
                </a:tc>
                <a:tc hMerge="1">
                  <a:txBody>
                    <a:bodyPr/>
                    <a:lstStyle/>
                    <a:p>
                      <a:endParaRPr lang="en-US"/>
                    </a:p>
                  </a:txBody>
                  <a:tcPr/>
                </a:tc>
                <a:tc hMerge="1">
                  <a:txBody>
                    <a:bodyPr/>
                    <a:lstStyle/>
                    <a:p>
                      <a:endParaRPr lang="en-US"/>
                    </a:p>
                  </a:txBody>
                  <a:tcPr/>
                </a:tc>
                <a:tc gridSpan="3">
                  <a:txBody>
                    <a:bodyPr/>
                    <a:lstStyle/>
                    <a:p>
                      <a:pPr algn="ctr" fontAlgn="ctr"/>
                      <a:r>
                        <a:rPr lang="en-US" sz="1200" b="1" i="0" u="none" strike="noStrike" dirty="0">
                          <a:solidFill>
                            <a:srgbClr val="000000"/>
                          </a:solidFill>
                          <a:effectLst/>
                          <a:latin typeface="+mn-lt"/>
                        </a:rPr>
                        <a:t>Revenue Growth </a:t>
                      </a:r>
                    </a:p>
                    <a:p>
                      <a:pPr algn="ctr" fontAlgn="ctr"/>
                      <a:r>
                        <a:rPr lang="en-US" sz="1200" b="1" i="0" u="none" strike="noStrike" dirty="0">
                          <a:solidFill>
                            <a:srgbClr val="000000"/>
                          </a:solidFill>
                          <a:effectLst/>
                          <a:latin typeface="+mn-lt"/>
                        </a:rPr>
                        <a:t>( In Crore)</a:t>
                      </a:r>
                    </a:p>
                  </a:txBody>
                  <a:tcPr marL="6350" marR="6350" marT="6350" marB="0" anchor="ctr">
                    <a:lnL>
                      <a:noFill/>
                    </a:lnL>
                    <a:lnR>
                      <a:noFill/>
                    </a:lnR>
                    <a:lnT>
                      <a:noFill/>
                    </a:lnT>
                    <a:lnB>
                      <a:noFill/>
                    </a:lnB>
                    <a:solidFill>
                      <a:srgbClr val="F4B084"/>
                    </a:solidFill>
                  </a:tcPr>
                </a:tc>
                <a:tc hMerge="1">
                  <a:txBody>
                    <a:bodyPr/>
                    <a:lstStyle/>
                    <a:p>
                      <a:endParaRPr lang="en-US"/>
                    </a:p>
                  </a:txBody>
                  <a:tcPr/>
                </a:tc>
                <a:tc hMerge="1">
                  <a:txBody>
                    <a:bodyPr/>
                    <a:lstStyle/>
                    <a:p>
                      <a:endParaRPr lang="en-US"/>
                    </a:p>
                  </a:txBody>
                  <a:tcPr/>
                </a:tc>
                <a:tc gridSpan="2">
                  <a:txBody>
                    <a:bodyPr/>
                    <a:lstStyle/>
                    <a:p>
                      <a:pPr algn="ctr" fontAlgn="ctr"/>
                      <a:r>
                        <a:rPr lang="en-US" sz="1200" b="1" i="0" u="none" strike="noStrike" dirty="0">
                          <a:solidFill>
                            <a:srgbClr val="000000"/>
                          </a:solidFill>
                          <a:effectLst/>
                          <a:latin typeface="+mn-lt"/>
                        </a:rPr>
                        <a:t>Growth Analysis for C</a:t>
                      </a:r>
                    </a:p>
                  </a:txBody>
                  <a:tcPr marL="6350" marR="6350" marT="6350" marB="0" anchor="ctr">
                    <a:lnL>
                      <a:noFill/>
                    </a:lnL>
                    <a:lnR>
                      <a:noFill/>
                    </a:lnR>
                    <a:lnT>
                      <a:noFill/>
                    </a:lnT>
                    <a:lnB>
                      <a:noFill/>
                    </a:lnB>
                    <a:solidFill>
                      <a:srgbClr val="00B050"/>
                    </a:solidFill>
                  </a:tcPr>
                </a:tc>
                <a:tc hMerge="1">
                  <a:txBody>
                    <a:bodyPr/>
                    <a:lstStyle/>
                    <a:p>
                      <a:endParaRPr lang="en-US"/>
                    </a:p>
                  </a:txBody>
                  <a:tcPr/>
                </a:tc>
                <a:extLst>
                  <a:ext uri="{0D108BD9-81ED-4DB2-BD59-A6C34878D82A}">
                    <a16:rowId xmlns:a16="http://schemas.microsoft.com/office/drawing/2014/main" val="3775321199"/>
                  </a:ext>
                </a:extLst>
              </a:tr>
              <a:tr h="616696">
                <a:tc vMerge="1">
                  <a:txBody>
                    <a:bodyPr/>
                    <a:lstStyle/>
                    <a:p>
                      <a:pPr algn="ctr" fontAlgn="ctr"/>
                      <a:endParaRPr lang="en-US" sz="1200" b="0" i="0" u="none" strike="noStrike" dirty="0">
                        <a:solidFill>
                          <a:srgbClr val="000000"/>
                        </a:solidFill>
                        <a:effectLst/>
                        <a:latin typeface="+mn-lt"/>
                      </a:endParaRPr>
                    </a:p>
                  </a:txBody>
                  <a:tcPr marL="6350" marR="6350" marT="6350" marB="0" anchor="ctr">
                    <a:lnL>
                      <a:noFill/>
                    </a:lnL>
                    <a:lnR>
                      <a:noFill/>
                    </a:lnR>
                    <a:lnT>
                      <a:noFill/>
                    </a:lnT>
                    <a:lnB>
                      <a:noFill/>
                    </a:lnB>
                    <a:solidFill>
                      <a:srgbClr val="00ABAB"/>
                    </a:solidFill>
                  </a:tcPr>
                </a:tc>
                <a:tc>
                  <a:txBody>
                    <a:bodyPr/>
                    <a:lstStyle/>
                    <a:p>
                      <a:pPr algn="ctr" fontAlgn="ctr"/>
                      <a:r>
                        <a:rPr lang="en-US" sz="1200" b="0" i="0" u="none" strike="noStrike" dirty="0">
                          <a:solidFill>
                            <a:srgbClr val="000000"/>
                          </a:solidFill>
                          <a:effectLst/>
                          <a:latin typeface="+mn-lt"/>
                        </a:rPr>
                        <a:t>A</a:t>
                      </a:r>
                    </a:p>
                  </a:txBody>
                  <a:tcPr marL="6350" marR="6350" marT="6350" marB="0" anchor="ctr">
                    <a:lnL>
                      <a:noFill/>
                    </a:lnL>
                    <a:lnR>
                      <a:noFill/>
                    </a:lnR>
                    <a:lnT>
                      <a:noFill/>
                    </a:lnT>
                    <a:lnB>
                      <a:noFill/>
                    </a:lnB>
                    <a:solidFill>
                      <a:srgbClr val="F4B084"/>
                    </a:solidFill>
                  </a:tcPr>
                </a:tc>
                <a:tc>
                  <a:txBody>
                    <a:bodyPr/>
                    <a:lstStyle/>
                    <a:p>
                      <a:pPr algn="ctr" fontAlgn="ctr"/>
                      <a:r>
                        <a:rPr lang="en-US" sz="1200" b="0" i="0" u="none" strike="noStrike" dirty="0">
                          <a:solidFill>
                            <a:srgbClr val="000000"/>
                          </a:solidFill>
                          <a:effectLst/>
                          <a:latin typeface="+mn-lt"/>
                        </a:rPr>
                        <a:t>B</a:t>
                      </a:r>
                    </a:p>
                  </a:txBody>
                  <a:tcPr marL="6350" marR="6350" marT="6350" marB="0" anchor="ctr">
                    <a:lnL>
                      <a:noFill/>
                    </a:lnL>
                    <a:lnR>
                      <a:noFill/>
                    </a:lnR>
                    <a:lnT>
                      <a:noFill/>
                    </a:lnT>
                    <a:lnB>
                      <a:noFill/>
                    </a:lnB>
                    <a:solidFill>
                      <a:srgbClr val="F4B084"/>
                    </a:solidFill>
                  </a:tcPr>
                </a:tc>
                <a:tc>
                  <a:txBody>
                    <a:bodyPr/>
                    <a:lstStyle/>
                    <a:p>
                      <a:pPr algn="ctr" fontAlgn="ctr"/>
                      <a:r>
                        <a:rPr lang="en-US" sz="1200" b="0" i="0" u="none" strike="noStrike" dirty="0">
                          <a:solidFill>
                            <a:srgbClr val="000000"/>
                          </a:solidFill>
                          <a:effectLst/>
                          <a:latin typeface="+mn-lt"/>
                        </a:rPr>
                        <a:t>C</a:t>
                      </a:r>
                    </a:p>
                  </a:txBody>
                  <a:tcPr marL="6350" marR="6350" marT="6350" marB="0" anchor="ctr">
                    <a:lnL>
                      <a:noFill/>
                    </a:lnL>
                    <a:lnR>
                      <a:noFill/>
                    </a:lnR>
                    <a:lnT>
                      <a:noFill/>
                    </a:lnT>
                    <a:lnB>
                      <a:noFill/>
                    </a:lnB>
                    <a:solidFill>
                      <a:srgbClr val="F4B084"/>
                    </a:solidFill>
                  </a:tcPr>
                </a:tc>
                <a:tc>
                  <a:txBody>
                    <a:bodyPr/>
                    <a:lstStyle/>
                    <a:p>
                      <a:pPr algn="ctr" fontAlgn="ctr"/>
                      <a:r>
                        <a:rPr lang="en-US" sz="1200" b="0" i="0" u="none" strike="noStrike" dirty="0">
                          <a:solidFill>
                            <a:srgbClr val="000000"/>
                          </a:solidFill>
                          <a:effectLst/>
                          <a:latin typeface="+mn-lt"/>
                        </a:rPr>
                        <a:t>A</a:t>
                      </a:r>
                    </a:p>
                  </a:txBody>
                  <a:tcPr marL="6350" marR="6350" marT="6350" marB="0" anchor="ctr">
                    <a:lnL>
                      <a:noFill/>
                    </a:lnL>
                    <a:lnR>
                      <a:noFill/>
                    </a:lnR>
                    <a:lnT>
                      <a:noFill/>
                    </a:lnT>
                    <a:lnB>
                      <a:noFill/>
                    </a:lnB>
                    <a:solidFill>
                      <a:srgbClr val="00B050"/>
                    </a:solidFill>
                  </a:tcPr>
                </a:tc>
                <a:tc>
                  <a:txBody>
                    <a:bodyPr/>
                    <a:lstStyle/>
                    <a:p>
                      <a:pPr algn="ctr" fontAlgn="ctr"/>
                      <a:r>
                        <a:rPr lang="en-US" sz="1200" b="0" i="0" u="none" strike="noStrike" dirty="0">
                          <a:solidFill>
                            <a:srgbClr val="000000"/>
                          </a:solidFill>
                          <a:effectLst/>
                          <a:latin typeface="+mn-lt"/>
                        </a:rPr>
                        <a:t>B</a:t>
                      </a:r>
                    </a:p>
                  </a:txBody>
                  <a:tcPr marL="6350" marR="6350" marT="6350" marB="0" anchor="ctr">
                    <a:lnL>
                      <a:noFill/>
                    </a:lnL>
                    <a:lnR>
                      <a:noFill/>
                    </a:lnR>
                    <a:lnT>
                      <a:noFill/>
                    </a:lnT>
                    <a:lnB>
                      <a:noFill/>
                    </a:lnB>
                    <a:solidFill>
                      <a:srgbClr val="00B050"/>
                    </a:solidFill>
                  </a:tcPr>
                </a:tc>
                <a:tc>
                  <a:txBody>
                    <a:bodyPr/>
                    <a:lstStyle/>
                    <a:p>
                      <a:pPr algn="ctr" fontAlgn="ctr"/>
                      <a:r>
                        <a:rPr lang="en-US" sz="1200" b="0" i="0" u="none" strike="noStrike" dirty="0">
                          <a:solidFill>
                            <a:srgbClr val="000000"/>
                          </a:solidFill>
                          <a:effectLst/>
                          <a:latin typeface="+mn-lt"/>
                        </a:rPr>
                        <a:t>C</a:t>
                      </a:r>
                    </a:p>
                  </a:txBody>
                  <a:tcPr marL="6350" marR="6350" marT="6350" marB="0" anchor="ctr">
                    <a:lnL>
                      <a:noFill/>
                    </a:lnL>
                    <a:lnR>
                      <a:noFill/>
                    </a:lnR>
                    <a:lnT>
                      <a:noFill/>
                    </a:lnT>
                    <a:lnB>
                      <a:noFill/>
                    </a:lnB>
                    <a:solidFill>
                      <a:srgbClr val="00B050"/>
                    </a:solidFill>
                  </a:tcPr>
                </a:tc>
                <a:tc>
                  <a:txBody>
                    <a:bodyPr/>
                    <a:lstStyle/>
                    <a:p>
                      <a:pPr algn="ctr" fontAlgn="ctr"/>
                      <a:r>
                        <a:rPr lang="en-US" sz="1200" b="0" i="0" u="none" strike="noStrike" dirty="0">
                          <a:solidFill>
                            <a:srgbClr val="000000"/>
                          </a:solidFill>
                          <a:effectLst/>
                          <a:latin typeface="+mn-lt"/>
                        </a:rPr>
                        <a:t>A</a:t>
                      </a:r>
                    </a:p>
                  </a:txBody>
                  <a:tcPr marL="6350" marR="6350" marT="6350" marB="0" anchor="ctr">
                    <a:lnL>
                      <a:noFill/>
                    </a:lnL>
                    <a:lnR>
                      <a:noFill/>
                    </a:lnR>
                    <a:lnT>
                      <a:noFill/>
                    </a:lnT>
                    <a:lnB>
                      <a:noFill/>
                    </a:lnB>
                    <a:solidFill>
                      <a:srgbClr val="FFD966"/>
                    </a:solidFill>
                  </a:tcPr>
                </a:tc>
                <a:tc>
                  <a:txBody>
                    <a:bodyPr/>
                    <a:lstStyle/>
                    <a:p>
                      <a:pPr algn="ctr" fontAlgn="ctr"/>
                      <a:r>
                        <a:rPr lang="en-US" sz="1200" b="0" i="0" u="none" strike="noStrike" dirty="0">
                          <a:solidFill>
                            <a:srgbClr val="000000"/>
                          </a:solidFill>
                          <a:effectLst/>
                          <a:latin typeface="+mn-lt"/>
                        </a:rPr>
                        <a:t>B</a:t>
                      </a:r>
                    </a:p>
                  </a:txBody>
                  <a:tcPr marL="6350" marR="6350" marT="6350" marB="0" anchor="ctr">
                    <a:lnL>
                      <a:noFill/>
                    </a:lnL>
                    <a:lnR>
                      <a:noFill/>
                    </a:lnR>
                    <a:lnT>
                      <a:noFill/>
                    </a:lnT>
                    <a:lnB>
                      <a:noFill/>
                    </a:lnB>
                    <a:solidFill>
                      <a:srgbClr val="FFD966"/>
                    </a:solidFill>
                  </a:tcPr>
                </a:tc>
                <a:tc>
                  <a:txBody>
                    <a:bodyPr/>
                    <a:lstStyle/>
                    <a:p>
                      <a:pPr algn="ctr" fontAlgn="ctr"/>
                      <a:r>
                        <a:rPr lang="en-US" sz="1200" b="0" i="0" u="none" strike="noStrike" dirty="0">
                          <a:solidFill>
                            <a:srgbClr val="000000"/>
                          </a:solidFill>
                          <a:effectLst/>
                          <a:latin typeface="+mn-lt"/>
                        </a:rPr>
                        <a:t>C</a:t>
                      </a:r>
                    </a:p>
                  </a:txBody>
                  <a:tcPr marL="6350" marR="6350" marT="6350" marB="0" anchor="ctr">
                    <a:lnL>
                      <a:noFill/>
                    </a:lnL>
                    <a:lnR>
                      <a:noFill/>
                    </a:lnR>
                    <a:lnT>
                      <a:noFill/>
                    </a:lnT>
                    <a:lnB>
                      <a:noFill/>
                    </a:lnB>
                    <a:solidFill>
                      <a:srgbClr val="FFD966"/>
                    </a:solidFill>
                  </a:tcPr>
                </a:tc>
                <a:tc>
                  <a:txBody>
                    <a:bodyPr/>
                    <a:lstStyle/>
                    <a:p>
                      <a:pPr algn="ctr" fontAlgn="ctr"/>
                      <a:r>
                        <a:rPr lang="en-US" sz="1200" b="0" i="0" u="none" strike="noStrike" dirty="0">
                          <a:solidFill>
                            <a:srgbClr val="000000"/>
                          </a:solidFill>
                          <a:effectLst/>
                          <a:latin typeface="+mn-lt"/>
                        </a:rPr>
                        <a:t>A</a:t>
                      </a:r>
                    </a:p>
                  </a:txBody>
                  <a:tcPr marL="6350" marR="6350" marT="6350" marB="0" anchor="ctr">
                    <a:lnL>
                      <a:noFill/>
                    </a:lnL>
                    <a:lnR>
                      <a:noFill/>
                    </a:lnR>
                    <a:lnT>
                      <a:noFill/>
                    </a:lnT>
                    <a:lnB>
                      <a:noFill/>
                    </a:lnB>
                    <a:solidFill>
                      <a:srgbClr val="F4B084"/>
                    </a:solidFill>
                  </a:tcPr>
                </a:tc>
                <a:tc>
                  <a:txBody>
                    <a:bodyPr/>
                    <a:lstStyle/>
                    <a:p>
                      <a:pPr algn="ctr" fontAlgn="ctr"/>
                      <a:r>
                        <a:rPr lang="en-US" sz="1200" b="0" i="0" u="none" strike="noStrike" dirty="0">
                          <a:solidFill>
                            <a:srgbClr val="000000"/>
                          </a:solidFill>
                          <a:effectLst/>
                          <a:latin typeface="+mn-lt"/>
                        </a:rPr>
                        <a:t>B</a:t>
                      </a:r>
                    </a:p>
                  </a:txBody>
                  <a:tcPr marL="6350" marR="6350" marT="6350" marB="0" anchor="ctr">
                    <a:lnL>
                      <a:noFill/>
                    </a:lnL>
                    <a:lnR>
                      <a:noFill/>
                    </a:lnR>
                    <a:lnT>
                      <a:noFill/>
                    </a:lnT>
                    <a:lnB>
                      <a:noFill/>
                    </a:lnB>
                    <a:solidFill>
                      <a:srgbClr val="F4B084"/>
                    </a:solidFill>
                  </a:tcPr>
                </a:tc>
                <a:tc>
                  <a:txBody>
                    <a:bodyPr/>
                    <a:lstStyle/>
                    <a:p>
                      <a:pPr algn="ctr" fontAlgn="ctr"/>
                      <a:r>
                        <a:rPr lang="en-US" sz="1200" b="0" i="0" u="none" strike="noStrike" dirty="0">
                          <a:solidFill>
                            <a:srgbClr val="000000"/>
                          </a:solidFill>
                          <a:effectLst/>
                          <a:latin typeface="+mn-lt"/>
                        </a:rPr>
                        <a:t>C</a:t>
                      </a:r>
                    </a:p>
                  </a:txBody>
                  <a:tcPr marL="6350" marR="6350" marT="6350" marB="0" anchor="ctr">
                    <a:lnL>
                      <a:noFill/>
                    </a:lnL>
                    <a:lnR>
                      <a:noFill/>
                    </a:lnR>
                    <a:lnT>
                      <a:noFill/>
                    </a:lnT>
                    <a:lnB>
                      <a:noFill/>
                    </a:lnB>
                    <a:solidFill>
                      <a:srgbClr val="F4B084"/>
                    </a:solidFill>
                  </a:tcPr>
                </a:tc>
                <a:tc>
                  <a:txBody>
                    <a:bodyPr/>
                    <a:lstStyle/>
                    <a:p>
                      <a:pPr algn="ctr" fontAlgn="ctr"/>
                      <a:r>
                        <a:rPr lang="en-US" sz="1200" b="0" i="0" u="none" strike="noStrike" dirty="0">
                          <a:solidFill>
                            <a:srgbClr val="000000"/>
                          </a:solidFill>
                          <a:effectLst/>
                          <a:latin typeface="+mn-lt"/>
                        </a:rPr>
                        <a:t>No of HT Consumer</a:t>
                      </a:r>
                    </a:p>
                  </a:txBody>
                  <a:tcPr marL="6350" marR="6350" marT="6350" marB="0" anchor="ctr">
                    <a:lnL>
                      <a:noFill/>
                    </a:lnL>
                    <a:lnR>
                      <a:noFill/>
                    </a:lnR>
                    <a:lnT>
                      <a:noFill/>
                    </a:lnT>
                    <a:lnB>
                      <a:noFill/>
                    </a:lnB>
                    <a:solidFill>
                      <a:srgbClr val="00B050"/>
                    </a:solidFill>
                  </a:tcPr>
                </a:tc>
                <a:tc>
                  <a:txBody>
                    <a:bodyPr/>
                    <a:lstStyle/>
                    <a:p>
                      <a:pPr algn="ctr" fontAlgn="ctr"/>
                      <a:r>
                        <a:rPr lang="en-US" sz="1200" b="0" i="0" u="none" strike="noStrike" dirty="0">
                          <a:solidFill>
                            <a:srgbClr val="000000"/>
                          </a:solidFill>
                          <a:effectLst/>
                          <a:latin typeface="+mn-lt"/>
                        </a:rPr>
                        <a:t>Increase in Revenue for HT Consumer</a:t>
                      </a:r>
                    </a:p>
                  </a:txBody>
                  <a:tcPr marL="6350" marR="6350" marT="6350" marB="0" anchor="ctr">
                    <a:lnL>
                      <a:noFill/>
                    </a:lnL>
                    <a:lnR>
                      <a:noFill/>
                    </a:lnR>
                    <a:lnT>
                      <a:noFill/>
                    </a:lnT>
                    <a:lnB>
                      <a:noFill/>
                    </a:lnB>
                    <a:solidFill>
                      <a:srgbClr val="00B050"/>
                    </a:solidFill>
                  </a:tcPr>
                </a:tc>
                <a:extLst>
                  <a:ext uri="{0D108BD9-81ED-4DB2-BD59-A6C34878D82A}">
                    <a16:rowId xmlns:a16="http://schemas.microsoft.com/office/drawing/2014/main" val="2155327126"/>
                  </a:ext>
                </a:extLst>
              </a:tr>
              <a:tr h="210269">
                <a:tc>
                  <a:txBody>
                    <a:bodyPr/>
                    <a:lstStyle/>
                    <a:p>
                      <a:pPr algn="ctr" fontAlgn="ctr"/>
                      <a:r>
                        <a:rPr lang="en-US" sz="1200" b="0" i="0" u="none" strike="noStrike" dirty="0">
                          <a:solidFill>
                            <a:srgbClr val="000000"/>
                          </a:solidFill>
                          <a:effectLst/>
                          <a:latin typeface="+mn-lt"/>
                        </a:rPr>
                        <a:t>Original</a:t>
                      </a:r>
                    </a:p>
                  </a:txBody>
                  <a:tcPr marL="6350" marR="6350" marT="6350" marB="0" anchor="ctr">
                    <a:lnL>
                      <a:noFill/>
                    </a:lnL>
                    <a:lnR>
                      <a:noFill/>
                    </a:lnR>
                    <a:lnT>
                      <a:noFill/>
                    </a:lnT>
                    <a:lnB>
                      <a:noFill/>
                    </a:lnB>
                    <a:solidFill>
                      <a:srgbClr val="DDEFE8"/>
                    </a:solidFill>
                  </a:tcPr>
                </a:tc>
                <a:tc>
                  <a:txBody>
                    <a:bodyPr/>
                    <a:lstStyle/>
                    <a:p>
                      <a:pPr algn="ctr" fontAlgn="ctr"/>
                      <a:r>
                        <a:rPr lang="en-US" sz="1200" b="0" i="0" u="none" strike="noStrike" dirty="0">
                          <a:solidFill>
                            <a:srgbClr val="000000"/>
                          </a:solidFill>
                          <a:effectLst/>
                          <a:latin typeface="+mn-lt"/>
                        </a:rPr>
                        <a:t>8.35</a:t>
                      </a:r>
                    </a:p>
                  </a:txBody>
                  <a:tcPr marL="6350" marR="6350" marT="6350" marB="0" anchor="ctr">
                    <a:lnL>
                      <a:noFill/>
                    </a:lnL>
                    <a:lnR>
                      <a:noFill/>
                    </a:lnR>
                    <a:lnT>
                      <a:noFill/>
                    </a:lnT>
                    <a:lnB>
                      <a:noFill/>
                    </a:lnB>
                    <a:solidFill>
                      <a:srgbClr val="E2EFDA"/>
                    </a:solidFill>
                  </a:tcPr>
                </a:tc>
                <a:tc>
                  <a:txBody>
                    <a:bodyPr/>
                    <a:lstStyle/>
                    <a:p>
                      <a:pPr algn="ctr" fontAlgn="b"/>
                      <a:r>
                        <a:rPr lang="en-US" sz="1200" b="0" i="0" u="none" strike="noStrike">
                          <a:solidFill>
                            <a:srgbClr val="000000"/>
                          </a:solidFill>
                          <a:effectLst/>
                          <a:latin typeface="+mn-lt"/>
                        </a:rPr>
                        <a:t>5.55</a:t>
                      </a:r>
                    </a:p>
                  </a:txBody>
                  <a:tcPr marL="6350" marR="6350" marT="6350" marB="0" anchor="ctr">
                    <a:lnL>
                      <a:noFill/>
                    </a:lnL>
                    <a:lnR>
                      <a:noFill/>
                    </a:lnR>
                    <a:lnT>
                      <a:noFill/>
                    </a:lnT>
                    <a:lnB>
                      <a:noFill/>
                    </a:lnB>
                    <a:solidFill>
                      <a:srgbClr val="E2EFDA"/>
                    </a:solidFill>
                  </a:tcPr>
                </a:tc>
                <a:tc>
                  <a:txBody>
                    <a:bodyPr/>
                    <a:lstStyle/>
                    <a:p>
                      <a:pPr algn="ctr" fontAlgn="ctr"/>
                      <a:r>
                        <a:rPr lang="en-US" sz="1200" b="0" i="0" u="none" strike="noStrike">
                          <a:solidFill>
                            <a:srgbClr val="000000"/>
                          </a:solidFill>
                          <a:effectLst/>
                          <a:latin typeface="+mn-lt"/>
                        </a:rPr>
                        <a:t>5.30</a:t>
                      </a:r>
                    </a:p>
                  </a:txBody>
                  <a:tcPr marL="6350" marR="6350" marT="6350" marB="0" anchor="ctr">
                    <a:lnL>
                      <a:noFill/>
                    </a:lnL>
                    <a:lnR>
                      <a:noFill/>
                    </a:lnR>
                    <a:lnT>
                      <a:noFill/>
                    </a:lnT>
                    <a:lnB>
                      <a:noFill/>
                    </a:lnB>
                    <a:solidFill>
                      <a:srgbClr val="E2EFDA"/>
                    </a:solidFill>
                  </a:tcPr>
                </a:tc>
                <a:tc>
                  <a:txBody>
                    <a:bodyPr/>
                    <a:lstStyle/>
                    <a:p>
                      <a:pPr algn="ctr" fontAlgn="b"/>
                      <a:r>
                        <a:rPr lang="en-US" sz="1200" b="1" i="0" u="none" strike="noStrike" dirty="0">
                          <a:solidFill>
                            <a:srgbClr val="000000"/>
                          </a:solidFill>
                          <a:effectLst/>
                          <a:latin typeface="+mn-lt"/>
                        </a:rPr>
                        <a:t>10%</a:t>
                      </a:r>
                    </a:p>
                  </a:txBody>
                  <a:tcPr marL="6350" marR="6350" marT="6350" marB="0" anchor="ctr">
                    <a:lnL>
                      <a:noFill/>
                    </a:lnL>
                    <a:lnR>
                      <a:noFill/>
                    </a:lnR>
                    <a:lnT>
                      <a:noFill/>
                    </a:lnT>
                    <a:lnB>
                      <a:noFill/>
                    </a:lnB>
                    <a:solidFill>
                      <a:srgbClr val="FFF2CC"/>
                    </a:solidFill>
                  </a:tcPr>
                </a:tc>
                <a:tc>
                  <a:txBody>
                    <a:bodyPr/>
                    <a:lstStyle/>
                    <a:p>
                      <a:pPr algn="ctr" fontAlgn="b"/>
                      <a:r>
                        <a:rPr lang="en-US" sz="1200" b="0" i="0" u="none" strike="noStrike">
                          <a:solidFill>
                            <a:srgbClr val="000000"/>
                          </a:solidFill>
                          <a:effectLst/>
                          <a:latin typeface="+mn-lt"/>
                        </a:rPr>
                        <a:t>55%</a:t>
                      </a:r>
                    </a:p>
                  </a:txBody>
                  <a:tcPr marL="6350" marR="6350" marT="6350" marB="0" anchor="ctr">
                    <a:lnL>
                      <a:noFill/>
                    </a:lnL>
                    <a:lnR>
                      <a:noFill/>
                    </a:lnR>
                    <a:lnT>
                      <a:noFill/>
                    </a:lnT>
                    <a:lnB>
                      <a:noFill/>
                    </a:lnB>
                    <a:solidFill>
                      <a:srgbClr val="FFF2CC"/>
                    </a:solidFill>
                  </a:tcPr>
                </a:tc>
                <a:tc>
                  <a:txBody>
                    <a:bodyPr/>
                    <a:lstStyle/>
                    <a:p>
                      <a:pPr algn="ctr" fontAlgn="b"/>
                      <a:r>
                        <a:rPr lang="en-US" sz="1200" b="0" i="0" u="none" strike="noStrike">
                          <a:solidFill>
                            <a:srgbClr val="000000"/>
                          </a:solidFill>
                          <a:effectLst/>
                          <a:latin typeface="+mn-lt"/>
                        </a:rPr>
                        <a:t>35%</a:t>
                      </a:r>
                    </a:p>
                  </a:txBody>
                  <a:tcPr marL="6350" marR="6350" marT="6350" marB="0" anchor="ctr">
                    <a:lnL>
                      <a:noFill/>
                    </a:lnL>
                    <a:lnR>
                      <a:noFill/>
                    </a:lnR>
                    <a:lnT>
                      <a:noFill/>
                    </a:lnT>
                    <a:lnB>
                      <a:noFill/>
                    </a:lnB>
                    <a:solidFill>
                      <a:srgbClr val="FFF2CC"/>
                    </a:solidFill>
                  </a:tcPr>
                </a:tc>
                <a:tc>
                  <a:txBody>
                    <a:bodyPr/>
                    <a:lstStyle/>
                    <a:p>
                      <a:pPr algn="ctr" fontAlgn="b"/>
                      <a:r>
                        <a:rPr lang="en-US" sz="1200" b="0" i="0" u="none" strike="noStrike">
                          <a:solidFill>
                            <a:srgbClr val="000000"/>
                          </a:solidFill>
                          <a:effectLst/>
                          <a:latin typeface="+mn-lt"/>
                        </a:rPr>
                        <a:t>10</a:t>
                      </a:r>
                    </a:p>
                  </a:txBody>
                  <a:tcPr marL="6350" marR="6350" marT="6350" marB="0" anchor="ctr">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mn-lt"/>
                        </a:rPr>
                        <a:t>55</a:t>
                      </a:r>
                    </a:p>
                  </a:txBody>
                  <a:tcPr marL="6350" marR="6350" marT="6350" marB="0" anchor="ctr">
                    <a:lnL>
                      <a:noFill/>
                    </a:lnL>
                    <a:lnR>
                      <a:noFill/>
                    </a:lnR>
                    <a:lnT>
                      <a:noFill/>
                    </a:lnT>
                    <a:lnB>
                      <a:noFill/>
                    </a:lnB>
                    <a:solidFill>
                      <a:srgbClr val="F2F2F2"/>
                    </a:solidFill>
                  </a:tcPr>
                </a:tc>
                <a:tc>
                  <a:txBody>
                    <a:bodyPr/>
                    <a:lstStyle/>
                    <a:p>
                      <a:pPr algn="ctr" fontAlgn="b"/>
                      <a:r>
                        <a:rPr lang="en-US" sz="1200" b="0" i="0" u="none" strike="noStrike" dirty="0">
                          <a:solidFill>
                            <a:srgbClr val="000000"/>
                          </a:solidFill>
                          <a:effectLst/>
                          <a:latin typeface="+mn-lt"/>
                        </a:rPr>
                        <a:t>35</a:t>
                      </a:r>
                    </a:p>
                  </a:txBody>
                  <a:tcPr marL="6350" marR="6350" marT="6350" marB="0" anchor="ctr">
                    <a:lnL>
                      <a:noFill/>
                    </a:lnL>
                    <a:lnR>
                      <a:noFill/>
                    </a:lnR>
                    <a:lnT>
                      <a:noFill/>
                    </a:lnT>
                    <a:lnB>
                      <a:noFill/>
                    </a:lnB>
                    <a:solidFill>
                      <a:srgbClr val="F2F2F2"/>
                    </a:solidFill>
                  </a:tcPr>
                </a:tc>
                <a:tc>
                  <a:txBody>
                    <a:bodyPr/>
                    <a:lstStyle/>
                    <a:p>
                      <a:pPr algn="ctr" fontAlgn="ctr"/>
                      <a:r>
                        <a:rPr lang="en-US" sz="1200" b="0" i="0" u="none" strike="noStrike">
                          <a:solidFill>
                            <a:srgbClr val="000000"/>
                          </a:solidFill>
                          <a:effectLst/>
                          <a:latin typeface="+mn-lt"/>
                        </a:rPr>
                        <a:t>44</a:t>
                      </a:r>
                    </a:p>
                  </a:txBody>
                  <a:tcPr marL="6350" marR="6350" marT="6350" marB="0" anchor="ctr">
                    <a:lnL>
                      <a:noFill/>
                    </a:lnL>
                    <a:lnR>
                      <a:noFill/>
                    </a:lnR>
                    <a:lnT>
                      <a:noFill/>
                    </a:lnT>
                    <a:lnB>
                      <a:noFill/>
                    </a:lnB>
                    <a:solidFill>
                      <a:srgbClr val="E2EFDA"/>
                    </a:solidFill>
                  </a:tcPr>
                </a:tc>
                <a:tc>
                  <a:txBody>
                    <a:bodyPr/>
                    <a:lstStyle/>
                    <a:p>
                      <a:pPr algn="ctr" fontAlgn="ctr"/>
                      <a:r>
                        <a:rPr lang="en-US" sz="1200" b="0" i="0" u="none" strike="noStrike">
                          <a:solidFill>
                            <a:srgbClr val="000000"/>
                          </a:solidFill>
                          <a:effectLst/>
                          <a:latin typeface="+mn-lt"/>
                        </a:rPr>
                        <a:t>160</a:t>
                      </a:r>
                    </a:p>
                  </a:txBody>
                  <a:tcPr marL="6350" marR="6350" marT="6350" marB="0" anchor="ctr">
                    <a:lnL>
                      <a:noFill/>
                    </a:lnL>
                    <a:lnR>
                      <a:noFill/>
                    </a:lnR>
                    <a:lnT>
                      <a:noFill/>
                    </a:lnT>
                    <a:lnB>
                      <a:noFill/>
                    </a:lnB>
                    <a:solidFill>
                      <a:srgbClr val="E2EFDA"/>
                    </a:solidFill>
                  </a:tcPr>
                </a:tc>
                <a:tc>
                  <a:txBody>
                    <a:bodyPr/>
                    <a:lstStyle/>
                    <a:p>
                      <a:pPr algn="ctr" fontAlgn="ctr"/>
                      <a:r>
                        <a:rPr lang="en-US" sz="1200" b="0" i="0" u="none" strike="noStrike" dirty="0">
                          <a:solidFill>
                            <a:srgbClr val="000000"/>
                          </a:solidFill>
                          <a:effectLst/>
                          <a:latin typeface="+mn-lt"/>
                        </a:rPr>
                        <a:t>98</a:t>
                      </a:r>
                    </a:p>
                  </a:txBody>
                  <a:tcPr marL="6350" marR="6350" marT="6350" marB="0" anchor="ctr">
                    <a:lnL>
                      <a:noFill/>
                    </a:lnL>
                    <a:lnR>
                      <a:noFill/>
                    </a:lnR>
                    <a:lnT>
                      <a:noFill/>
                    </a:lnT>
                    <a:lnB>
                      <a:noFill/>
                    </a:lnB>
                    <a:solidFill>
                      <a:srgbClr val="E2EFDA"/>
                    </a:solidFill>
                  </a:tcPr>
                </a:tc>
                <a:tc>
                  <a:txBody>
                    <a:bodyPr/>
                    <a:lstStyle/>
                    <a:p>
                      <a:pPr algn="ctr" fontAlgn="ctr"/>
                      <a:r>
                        <a:rPr lang="en-US" sz="1200" b="0" i="0" u="none" strike="noStrike" dirty="0">
                          <a:solidFill>
                            <a:srgbClr val="000000"/>
                          </a:solidFill>
                          <a:effectLst/>
                          <a:latin typeface="+mn-lt"/>
                        </a:rPr>
                        <a:t>0%</a:t>
                      </a:r>
                    </a:p>
                  </a:txBody>
                  <a:tcPr marL="6350" marR="6350" marT="6350" marB="0" anchor="ctr">
                    <a:lnL>
                      <a:noFill/>
                    </a:lnL>
                    <a:lnR>
                      <a:noFill/>
                    </a:lnR>
                    <a:lnT>
                      <a:noFill/>
                    </a:lnT>
                    <a:lnB>
                      <a:noFill/>
                    </a:lnB>
                    <a:solidFill>
                      <a:srgbClr val="DDEBF7"/>
                    </a:solidFill>
                  </a:tcPr>
                </a:tc>
                <a:tc>
                  <a:txBody>
                    <a:bodyPr/>
                    <a:lstStyle/>
                    <a:p>
                      <a:pPr algn="ctr" fontAlgn="ctr"/>
                      <a:r>
                        <a:rPr lang="en-US" sz="1200" b="0" i="0" u="none" strike="noStrike">
                          <a:solidFill>
                            <a:srgbClr val="000000"/>
                          </a:solidFill>
                          <a:effectLst/>
                          <a:latin typeface="+mn-lt"/>
                        </a:rPr>
                        <a:t>0%</a:t>
                      </a:r>
                    </a:p>
                  </a:txBody>
                  <a:tcPr marL="6350" marR="6350" marT="6350" marB="0" anchor="ctr">
                    <a:lnL>
                      <a:noFill/>
                    </a:lnL>
                    <a:lnR>
                      <a:noFill/>
                    </a:lnR>
                    <a:lnT>
                      <a:noFill/>
                    </a:lnT>
                    <a:lnB>
                      <a:noFill/>
                    </a:lnB>
                    <a:solidFill>
                      <a:srgbClr val="DDEBF7"/>
                    </a:solidFill>
                  </a:tcPr>
                </a:tc>
                <a:extLst>
                  <a:ext uri="{0D108BD9-81ED-4DB2-BD59-A6C34878D82A}">
                    <a16:rowId xmlns:a16="http://schemas.microsoft.com/office/drawing/2014/main" val="4281417630"/>
                  </a:ext>
                </a:extLst>
              </a:tr>
              <a:tr h="210269">
                <a:tc>
                  <a:txBody>
                    <a:bodyPr/>
                    <a:lstStyle/>
                    <a:p>
                      <a:pPr algn="ctr" fontAlgn="b"/>
                      <a:r>
                        <a:rPr lang="en-US" sz="1200" b="0" i="0" u="none" strike="noStrike" dirty="0">
                          <a:solidFill>
                            <a:srgbClr val="000000"/>
                          </a:solidFill>
                          <a:effectLst/>
                          <a:latin typeface="+mn-lt"/>
                        </a:rPr>
                        <a:t>1</a:t>
                      </a:r>
                    </a:p>
                  </a:txBody>
                  <a:tcPr marL="6350" marR="6350" marT="6350" marB="0" anchor="ctr">
                    <a:lnL>
                      <a:noFill/>
                    </a:lnL>
                    <a:lnR>
                      <a:noFill/>
                    </a:lnR>
                    <a:lnT>
                      <a:noFill/>
                    </a:lnT>
                    <a:lnB>
                      <a:noFill/>
                    </a:lnB>
                    <a:solidFill>
                      <a:srgbClr val="DDEFE8"/>
                    </a:solidFill>
                  </a:tcPr>
                </a:tc>
                <a:tc>
                  <a:txBody>
                    <a:bodyPr/>
                    <a:lstStyle/>
                    <a:p>
                      <a:pPr algn="ctr" fontAlgn="b"/>
                      <a:r>
                        <a:rPr lang="en-US" sz="1200" b="0" i="0" u="none" strike="noStrike">
                          <a:solidFill>
                            <a:srgbClr val="000000"/>
                          </a:solidFill>
                          <a:effectLst/>
                          <a:latin typeface="+mn-lt"/>
                        </a:rPr>
                        <a:t>5.55</a:t>
                      </a:r>
                    </a:p>
                  </a:txBody>
                  <a:tcPr marL="6350" marR="6350" marT="6350" marB="0" anchor="ctr">
                    <a:lnL>
                      <a:noFill/>
                    </a:lnL>
                    <a:lnR>
                      <a:noFill/>
                    </a:lnR>
                    <a:lnT>
                      <a:noFill/>
                    </a:lnT>
                    <a:lnB>
                      <a:noFill/>
                    </a:lnB>
                    <a:solidFill>
                      <a:srgbClr val="E2EFDA"/>
                    </a:solidFill>
                  </a:tcPr>
                </a:tc>
                <a:tc>
                  <a:txBody>
                    <a:bodyPr/>
                    <a:lstStyle/>
                    <a:p>
                      <a:pPr algn="ctr" fontAlgn="b"/>
                      <a:r>
                        <a:rPr lang="en-US" sz="1200" b="0" i="0" u="none" strike="noStrike">
                          <a:solidFill>
                            <a:srgbClr val="000000"/>
                          </a:solidFill>
                          <a:effectLst/>
                          <a:latin typeface="+mn-lt"/>
                        </a:rPr>
                        <a:t>5.55</a:t>
                      </a:r>
                    </a:p>
                  </a:txBody>
                  <a:tcPr marL="6350" marR="6350" marT="6350" marB="0" anchor="ctr">
                    <a:lnL>
                      <a:noFill/>
                    </a:lnL>
                    <a:lnR>
                      <a:noFill/>
                    </a:lnR>
                    <a:lnT>
                      <a:noFill/>
                    </a:lnT>
                    <a:lnB>
                      <a:noFill/>
                    </a:lnB>
                    <a:solidFill>
                      <a:srgbClr val="E2EFDA"/>
                    </a:solidFill>
                  </a:tcPr>
                </a:tc>
                <a:tc>
                  <a:txBody>
                    <a:bodyPr/>
                    <a:lstStyle/>
                    <a:p>
                      <a:pPr algn="ctr" fontAlgn="ctr"/>
                      <a:r>
                        <a:rPr lang="en-US" sz="1200" b="0" i="0" u="none" strike="noStrike">
                          <a:solidFill>
                            <a:srgbClr val="000000"/>
                          </a:solidFill>
                          <a:effectLst/>
                          <a:latin typeface="+mn-lt"/>
                        </a:rPr>
                        <a:t>5.30</a:t>
                      </a:r>
                    </a:p>
                  </a:txBody>
                  <a:tcPr marL="6350" marR="6350" marT="6350" marB="0" anchor="ctr">
                    <a:lnL>
                      <a:noFill/>
                    </a:lnL>
                    <a:lnR>
                      <a:noFill/>
                    </a:lnR>
                    <a:lnT>
                      <a:noFill/>
                    </a:lnT>
                    <a:lnB>
                      <a:noFill/>
                    </a:lnB>
                    <a:solidFill>
                      <a:srgbClr val="E2EFDA"/>
                    </a:solidFill>
                  </a:tcPr>
                </a:tc>
                <a:tc>
                  <a:txBody>
                    <a:bodyPr/>
                    <a:lstStyle/>
                    <a:p>
                      <a:pPr algn="ctr" fontAlgn="ctr"/>
                      <a:r>
                        <a:rPr lang="en-US" sz="1200" b="1" i="0" u="none" strike="noStrike" dirty="0">
                          <a:solidFill>
                            <a:srgbClr val="000000"/>
                          </a:solidFill>
                          <a:effectLst/>
                          <a:latin typeface="+mn-lt"/>
                        </a:rPr>
                        <a:t>20%</a:t>
                      </a:r>
                    </a:p>
                  </a:txBody>
                  <a:tcPr marL="6350" marR="6350" marT="6350" marB="0" anchor="ctr">
                    <a:lnL>
                      <a:noFill/>
                    </a:lnL>
                    <a:lnR>
                      <a:noFill/>
                    </a:lnR>
                    <a:lnT>
                      <a:noFill/>
                    </a:lnT>
                    <a:lnB>
                      <a:noFill/>
                    </a:lnB>
                    <a:solidFill>
                      <a:srgbClr val="FFF2CC"/>
                    </a:solidFill>
                  </a:tcPr>
                </a:tc>
                <a:tc>
                  <a:txBody>
                    <a:bodyPr/>
                    <a:lstStyle/>
                    <a:p>
                      <a:pPr algn="ctr" fontAlgn="ctr"/>
                      <a:r>
                        <a:rPr lang="en-US" sz="1200" b="0" i="0" u="none" strike="noStrike">
                          <a:solidFill>
                            <a:srgbClr val="000000"/>
                          </a:solidFill>
                          <a:effectLst/>
                          <a:latin typeface="+mn-lt"/>
                        </a:rPr>
                        <a:t>45%</a:t>
                      </a:r>
                    </a:p>
                  </a:txBody>
                  <a:tcPr marL="6350" marR="6350" marT="6350" marB="0" anchor="ctr">
                    <a:lnL>
                      <a:noFill/>
                    </a:lnL>
                    <a:lnR>
                      <a:noFill/>
                    </a:lnR>
                    <a:lnT>
                      <a:noFill/>
                    </a:lnT>
                    <a:lnB>
                      <a:noFill/>
                    </a:lnB>
                    <a:solidFill>
                      <a:srgbClr val="FFF2CC"/>
                    </a:solidFill>
                  </a:tcPr>
                </a:tc>
                <a:tc>
                  <a:txBody>
                    <a:bodyPr/>
                    <a:lstStyle/>
                    <a:p>
                      <a:pPr algn="ctr" fontAlgn="ctr"/>
                      <a:r>
                        <a:rPr lang="en-US" sz="1200" b="0" i="0" u="none" strike="noStrike">
                          <a:solidFill>
                            <a:srgbClr val="000000"/>
                          </a:solidFill>
                          <a:effectLst/>
                          <a:latin typeface="+mn-lt"/>
                        </a:rPr>
                        <a:t>35%</a:t>
                      </a:r>
                    </a:p>
                  </a:txBody>
                  <a:tcPr marL="6350" marR="6350" marT="6350" marB="0" anchor="ctr">
                    <a:lnL>
                      <a:noFill/>
                    </a:lnL>
                    <a:lnR>
                      <a:noFill/>
                    </a:lnR>
                    <a:lnT>
                      <a:noFill/>
                    </a:lnT>
                    <a:lnB>
                      <a:noFill/>
                    </a:lnB>
                    <a:solidFill>
                      <a:srgbClr val="FFF2CC"/>
                    </a:solidFill>
                  </a:tcPr>
                </a:tc>
                <a:tc>
                  <a:txBody>
                    <a:bodyPr/>
                    <a:lstStyle/>
                    <a:p>
                      <a:pPr algn="ctr" fontAlgn="b"/>
                      <a:r>
                        <a:rPr lang="en-US" sz="1200" b="0" i="0" u="none" strike="noStrike">
                          <a:solidFill>
                            <a:srgbClr val="000000"/>
                          </a:solidFill>
                          <a:effectLst/>
                          <a:latin typeface="+mn-lt"/>
                        </a:rPr>
                        <a:t>20</a:t>
                      </a:r>
                    </a:p>
                  </a:txBody>
                  <a:tcPr marL="6350" marR="6350" marT="6350" marB="0" anchor="ctr">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mn-lt"/>
                        </a:rPr>
                        <a:t>45</a:t>
                      </a:r>
                    </a:p>
                  </a:txBody>
                  <a:tcPr marL="6350" marR="6350" marT="6350" marB="0" anchor="ctr">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mn-lt"/>
                        </a:rPr>
                        <a:t>35</a:t>
                      </a:r>
                    </a:p>
                  </a:txBody>
                  <a:tcPr marL="6350" marR="6350" marT="6350" marB="0" anchor="ctr">
                    <a:lnL>
                      <a:noFill/>
                    </a:lnL>
                    <a:lnR>
                      <a:noFill/>
                    </a:lnR>
                    <a:lnT>
                      <a:noFill/>
                    </a:lnT>
                    <a:lnB>
                      <a:noFill/>
                    </a:lnB>
                    <a:solidFill>
                      <a:srgbClr val="F2F2F2"/>
                    </a:solidFill>
                  </a:tcPr>
                </a:tc>
                <a:tc>
                  <a:txBody>
                    <a:bodyPr/>
                    <a:lstStyle/>
                    <a:p>
                      <a:pPr algn="ctr" fontAlgn="ctr"/>
                      <a:r>
                        <a:rPr lang="en-US" sz="1200" b="0" i="0" u="none" strike="noStrike">
                          <a:solidFill>
                            <a:srgbClr val="000000"/>
                          </a:solidFill>
                          <a:effectLst/>
                          <a:latin typeface="+mn-lt"/>
                        </a:rPr>
                        <a:t>58</a:t>
                      </a:r>
                    </a:p>
                  </a:txBody>
                  <a:tcPr marL="6350" marR="6350" marT="6350" marB="0" anchor="ctr">
                    <a:lnL>
                      <a:noFill/>
                    </a:lnL>
                    <a:lnR>
                      <a:noFill/>
                    </a:lnR>
                    <a:lnT>
                      <a:noFill/>
                    </a:lnT>
                    <a:lnB>
                      <a:noFill/>
                    </a:lnB>
                    <a:solidFill>
                      <a:srgbClr val="E2EFDA"/>
                    </a:solidFill>
                  </a:tcPr>
                </a:tc>
                <a:tc>
                  <a:txBody>
                    <a:bodyPr/>
                    <a:lstStyle/>
                    <a:p>
                      <a:pPr algn="ctr" fontAlgn="ctr"/>
                      <a:r>
                        <a:rPr lang="en-US" sz="1200" b="0" i="0" u="none" strike="noStrike">
                          <a:solidFill>
                            <a:srgbClr val="000000"/>
                          </a:solidFill>
                          <a:effectLst/>
                          <a:latin typeface="+mn-lt"/>
                        </a:rPr>
                        <a:t>131</a:t>
                      </a:r>
                    </a:p>
                  </a:txBody>
                  <a:tcPr marL="6350" marR="6350" marT="6350" marB="0" anchor="ctr">
                    <a:lnL>
                      <a:noFill/>
                    </a:lnL>
                    <a:lnR>
                      <a:noFill/>
                    </a:lnR>
                    <a:lnT>
                      <a:noFill/>
                    </a:lnT>
                    <a:lnB>
                      <a:noFill/>
                    </a:lnB>
                    <a:solidFill>
                      <a:srgbClr val="E2EFDA"/>
                    </a:solidFill>
                  </a:tcPr>
                </a:tc>
                <a:tc>
                  <a:txBody>
                    <a:bodyPr/>
                    <a:lstStyle/>
                    <a:p>
                      <a:pPr algn="ctr" fontAlgn="ctr"/>
                      <a:r>
                        <a:rPr lang="en-US" sz="1200" b="0" i="0" u="none" strike="noStrike">
                          <a:solidFill>
                            <a:srgbClr val="000000"/>
                          </a:solidFill>
                          <a:effectLst/>
                          <a:latin typeface="+mn-lt"/>
                        </a:rPr>
                        <a:t>98</a:t>
                      </a:r>
                    </a:p>
                  </a:txBody>
                  <a:tcPr marL="6350" marR="6350" marT="6350" marB="0" anchor="ctr">
                    <a:lnL>
                      <a:noFill/>
                    </a:lnL>
                    <a:lnR>
                      <a:noFill/>
                    </a:lnR>
                    <a:lnT>
                      <a:noFill/>
                    </a:lnT>
                    <a:lnB>
                      <a:noFill/>
                    </a:lnB>
                    <a:solidFill>
                      <a:srgbClr val="E2EFDA"/>
                    </a:solidFill>
                  </a:tcPr>
                </a:tc>
                <a:tc>
                  <a:txBody>
                    <a:bodyPr/>
                    <a:lstStyle/>
                    <a:p>
                      <a:pPr algn="ctr" fontAlgn="ctr"/>
                      <a:r>
                        <a:rPr lang="en-US" sz="1200" b="0" i="0" u="none" strike="noStrike" dirty="0">
                          <a:solidFill>
                            <a:srgbClr val="000000"/>
                          </a:solidFill>
                          <a:effectLst/>
                          <a:latin typeface="+mn-lt"/>
                        </a:rPr>
                        <a:t>100%</a:t>
                      </a:r>
                    </a:p>
                  </a:txBody>
                  <a:tcPr marL="6350" marR="6350" marT="6350" marB="0" anchor="ctr">
                    <a:lnL>
                      <a:noFill/>
                    </a:lnL>
                    <a:lnR>
                      <a:noFill/>
                    </a:lnR>
                    <a:lnT>
                      <a:noFill/>
                    </a:lnT>
                    <a:lnB>
                      <a:noFill/>
                    </a:lnB>
                    <a:solidFill>
                      <a:srgbClr val="DDEBF7"/>
                    </a:solidFill>
                  </a:tcPr>
                </a:tc>
                <a:tc>
                  <a:txBody>
                    <a:bodyPr/>
                    <a:lstStyle/>
                    <a:p>
                      <a:pPr algn="ctr" fontAlgn="ctr"/>
                      <a:r>
                        <a:rPr lang="en-US" sz="1200" b="0" i="0" u="none" strike="noStrike">
                          <a:solidFill>
                            <a:srgbClr val="000000"/>
                          </a:solidFill>
                          <a:effectLst/>
                          <a:latin typeface="+mn-lt"/>
                        </a:rPr>
                        <a:t>33%</a:t>
                      </a:r>
                    </a:p>
                  </a:txBody>
                  <a:tcPr marL="6350" marR="6350" marT="6350" marB="0" anchor="ctr">
                    <a:lnL>
                      <a:noFill/>
                    </a:lnL>
                    <a:lnR>
                      <a:noFill/>
                    </a:lnR>
                    <a:lnT>
                      <a:noFill/>
                    </a:lnT>
                    <a:lnB>
                      <a:noFill/>
                    </a:lnB>
                    <a:solidFill>
                      <a:srgbClr val="DDEBF7"/>
                    </a:solidFill>
                  </a:tcPr>
                </a:tc>
                <a:extLst>
                  <a:ext uri="{0D108BD9-81ED-4DB2-BD59-A6C34878D82A}">
                    <a16:rowId xmlns:a16="http://schemas.microsoft.com/office/drawing/2014/main" val="959319665"/>
                  </a:ext>
                </a:extLst>
              </a:tr>
              <a:tr h="210269">
                <a:tc>
                  <a:txBody>
                    <a:bodyPr/>
                    <a:lstStyle/>
                    <a:p>
                      <a:pPr algn="ctr" fontAlgn="ctr"/>
                      <a:r>
                        <a:rPr lang="en-US" sz="1200" b="0" i="0" u="none" strike="noStrike" dirty="0">
                          <a:solidFill>
                            <a:srgbClr val="000000"/>
                          </a:solidFill>
                          <a:effectLst/>
                          <a:latin typeface="+mn-lt"/>
                        </a:rPr>
                        <a:t>2</a:t>
                      </a:r>
                    </a:p>
                  </a:txBody>
                  <a:tcPr marL="6350" marR="6350" marT="6350" marB="0" anchor="ctr">
                    <a:lnL>
                      <a:noFill/>
                    </a:lnL>
                    <a:lnR>
                      <a:noFill/>
                    </a:lnR>
                    <a:lnT>
                      <a:noFill/>
                    </a:lnT>
                    <a:lnB>
                      <a:noFill/>
                    </a:lnB>
                    <a:solidFill>
                      <a:srgbClr val="DDEFE8"/>
                    </a:solidFill>
                  </a:tcPr>
                </a:tc>
                <a:tc>
                  <a:txBody>
                    <a:bodyPr/>
                    <a:lstStyle/>
                    <a:p>
                      <a:pPr algn="ctr" fontAlgn="ctr"/>
                      <a:r>
                        <a:rPr lang="en-US" sz="1200" b="0" i="0" u="none" strike="noStrike">
                          <a:solidFill>
                            <a:srgbClr val="000000"/>
                          </a:solidFill>
                          <a:effectLst/>
                          <a:latin typeface="+mn-lt"/>
                        </a:rPr>
                        <a:t>5.30</a:t>
                      </a:r>
                    </a:p>
                  </a:txBody>
                  <a:tcPr marL="6350" marR="6350" marT="6350" marB="0" anchor="ctr">
                    <a:lnL>
                      <a:noFill/>
                    </a:lnL>
                    <a:lnR>
                      <a:noFill/>
                    </a:lnR>
                    <a:lnT>
                      <a:noFill/>
                    </a:lnT>
                    <a:lnB>
                      <a:noFill/>
                    </a:lnB>
                    <a:solidFill>
                      <a:srgbClr val="E2EFDA"/>
                    </a:solidFill>
                  </a:tcPr>
                </a:tc>
                <a:tc>
                  <a:txBody>
                    <a:bodyPr/>
                    <a:lstStyle/>
                    <a:p>
                      <a:pPr algn="ctr" fontAlgn="b"/>
                      <a:r>
                        <a:rPr lang="en-US" sz="1200" b="0" i="0" u="none" strike="noStrike">
                          <a:solidFill>
                            <a:srgbClr val="000000"/>
                          </a:solidFill>
                          <a:effectLst/>
                          <a:latin typeface="+mn-lt"/>
                        </a:rPr>
                        <a:t>5.55</a:t>
                      </a:r>
                    </a:p>
                  </a:txBody>
                  <a:tcPr marL="6350" marR="6350" marT="6350" marB="0" anchor="ctr">
                    <a:lnL>
                      <a:noFill/>
                    </a:lnL>
                    <a:lnR>
                      <a:noFill/>
                    </a:lnR>
                    <a:lnT>
                      <a:noFill/>
                    </a:lnT>
                    <a:lnB>
                      <a:noFill/>
                    </a:lnB>
                    <a:solidFill>
                      <a:srgbClr val="E2EFDA"/>
                    </a:solidFill>
                  </a:tcPr>
                </a:tc>
                <a:tc>
                  <a:txBody>
                    <a:bodyPr/>
                    <a:lstStyle/>
                    <a:p>
                      <a:pPr algn="ctr" fontAlgn="ctr"/>
                      <a:r>
                        <a:rPr lang="en-US" sz="1200" b="0" i="0" u="none" strike="noStrike">
                          <a:solidFill>
                            <a:srgbClr val="000000"/>
                          </a:solidFill>
                          <a:effectLst/>
                          <a:latin typeface="+mn-lt"/>
                        </a:rPr>
                        <a:t>5.30</a:t>
                      </a:r>
                    </a:p>
                  </a:txBody>
                  <a:tcPr marL="6350" marR="6350" marT="6350" marB="0" anchor="ctr">
                    <a:lnL>
                      <a:noFill/>
                    </a:lnL>
                    <a:lnR>
                      <a:noFill/>
                    </a:lnR>
                    <a:lnT>
                      <a:noFill/>
                    </a:lnT>
                    <a:lnB>
                      <a:noFill/>
                    </a:lnB>
                    <a:solidFill>
                      <a:srgbClr val="E2EFDA"/>
                    </a:solidFill>
                  </a:tcPr>
                </a:tc>
                <a:tc>
                  <a:txBody>
                    <a:bodyPr/>
                    <a:lstStyle/>
                    <a:p>
                      <a:pPr algn="ctr" fontAlgn="ctr"/>
                      <a:r>
                        <a:rPr lang="en-US" sz="1200" b="1" i="0" u="none" strike="noStrike" dirty="0">
                          <a:solidFill>
                            <a:srgbClr val="000000"/>
                          </a:solidFill>
                          <a:effectLst/>
                          <a:latin typeface="+mn-lt"/>
                        </a:rPr>
                        <a:t>50%</a:t>
                      </a:r>
                    </a:p>
                  </a:txBody>
                  <a:tcPr marL="6350" marR="6350" marT="6350" marB="0" anchor="ctr">
                    <a:lnL>
                      <a:noFill/>
                    </a:lnL>
                    <a:lnR>
                      <a:noFill/>
                    </a:lnR>
                    <a:lnT>
                      <a:noFill/>
                    </a:lnT>
                    <a:lnB>
                      <a:noFill/>
                    </a:lnB>
                    <a:solidFill>
                      <a:srgbClr val="FFF2CC"/>
                    </a:solidFill>
                  </a:tcPr>
                </a:tc>
                <a:tc>
                  <a:txBody>
                    <a:bodyPr/>
                    <a:lstStyle/>
                    <a:p>
                      <a:pPr algn="ctr" fontAlgn="ctr"/>
                      <a:r>
                        <a:rPr lang="en-US" sz="1200" b="0" i="0" u="none" strike="noStrike">
                          <a:solidFill>
                            <a:srgbClr val="000000"/>
                          </a:solidFill>
                          <a:effectLst/>
                          <a:latin typeface="+mn-lt"/>
                        </a:rPr>
                        <a:t>30%</a:t>
                      </a:r>
                    </a:p>
                  </a:txBody>
                  <a:tcPr marL="6350" marR="6350" marT="6350" marB="0" anchor="ctr">
                    <a:lnL>
                      <a:noFill/>
                    </a:lnL>
                    <a:lnR>
                      <a:noFill/>
                    </a:lnR>
                    <a:lnT>
                      <a:noFill/>
                    </a:lnT>
                    <a:lnB>
                      <a:noFill/>
                    </a:lnB>
                    <a:solidFill>
                      <a:srgbClr val="FFF2CC"/>
                    </a:solidFill>
                  </a:tcPr>
                </a:tc>
                <a:tc>
                  <a:txBody>
                    <a:bodyPr/>
                    <a:lstStyle/>
                    <a:p>
                      <a:pPr algn="ctr" fontAlgn="ctr"/>
                      <a:r>
                        <a:rPr lang="en-US" sz="1200" b="0" i="0" u="none" strike="noStrike">
                          <a:solidFill>
                            <a:srgbClr val="000000"/>
                          </a:solidFill>
                          <a:effectLst/>
                          <a:latin typeface="+mn-lt"/>
                        </a:rPr>
                        <a:t>20%</a:t>
                      </a:r>
                    </a:p>
                  </a:txBody>
                  <a:tcPr marL="6350" marR="6350" marT="6350" marB="0" anchor="ctr">
                    <a:lnL>
                      <a:noFill/>
                    </a:lnL>
                    <a:lnR>
                      <a:noFill/>
                    </a:lnR>
                    <a:lnT>
                      <a:noFill/>
                    </a:lnT>
                    <a:lnB>
                      <a:noFill/>
                    </a:lnB>
                    <a:solidFill>
                      <a:srgbClr val="FFF2CC"/>
                    </a:solidFill>
                  </a:tcPr>
                </a:tc>
                <a:tc>
                  <a:txBody>
                    <a:bodyPr/>
                    <a:lstStyle/>
                    <a:p>
                      <a:pPr algn="ctr" fontAlgn="b"/>
                      <a:r>
                        <a:rPr lang="en-US" sz="1200" b="0" i="0" u="none" strike="noStrike">
                          <a:solidFill>
                            <a:srgbClr val="000000"/>
                          </a:solidFill>
                          <a:effectLst/>
                          <a:latin typeface="+mn-lt"/>
                        </a:rPr>
                        <a:t>50</a:t>
                      </a:r>
                    </a:p>
                  </a:txBody>
                  <a:tcPr marL="6350" marR="6350" marT="6350" marB="0" anchor="ctr">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mn-lt"/>
                        </a:rPr>
                        <a:t>30</a:t>
                      </a:r>
                    </a:p>
                  </a:txBody>
                  <a:tcPr marL="6350" marR="6350" marT="6350" marB="0" anchor="ctr">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mn-lt"/>
                        </a:rPr>
                        <a:t>20</a:t>
                      </a:r>
                    </a:p>
                  </a:txBody>
                  <a:tcPr marL="6350" marR="6350" marT="6350" marB="0" anchor="ctr">
                    <a:lnL>
                      <a:noFill/>
                    </a:lnL>
                    <a:lnR>
                      <a:noFill/>
                    </a:lnR>
                    <a:lnT>
                      <a:noFill/>
                    </a:lnT>
                    <a:lnB>
                      <a:noFill/>
                    </a:lnB>
                    <a:solidFill>
                      <a:srgbClr val="F2F2F2"/>
                    </a:solidFill>
                  </a:tcPr>
                </a:tc>
                <a:tc>
                  <a:txBody>
                    <a:bodyPr/>
                    <a:lstStyle/>
                    <a:p>
                      <a:pPr algn="ctr" fontAlgn="ctr"/>
                      <a:r>
                        <a:rPr lang="en-US" sz="1200" b="0" i="0" u="none" strike="noStrike">
                          <a:solidFill>
                            <a:srgbClr val="000000"/>
                          </a:solidFill>
                          <a:effectLst/>
                          <a:latin typeface="+mn-lt"/>
                        </a:rPr>
                        <a:t>139</a:t>
                      </a:r>
                    </a:p>
                  </a:txBody>
                  <a:tcPr marL="6350" marR="6350" marT="6350" marB="0" anchor="ctr">
                    <a:lnL>
                      <a:noFill/>
                    </a:lnL>
                    <a:lnR>
                      <a:noFill/>
                    </a:lnR>
                    <a:lnT>
                      <a:noFill/>
                    </a:lnT>
                    <a:lnB>
                      <a:noFill/>
                    </a:lnB>
                    <a:solidFill>
                      <a:srgbClr val="E2EFDA"/>
                    </a:solidFill>
                  </a:tcPr>
                </a:tc>
                <a:tc>
                  <a:txBody>
                    <a:bodyPr/>
                    <a:lstStyle/>
                    <a:p>
                      <a:pPr algn="ctr" fontAlgn="ctr"/>
                      <a:r>
                        <a:rPr lang="en-US" sz="1200" b="0" i="0" u="none" strike="noStrike">
                          <a:solidFill>
                            <a:srgbClr val="000000"/>
                          </a:solidFill>
                          <a:effectLst/>
                          <a:latin typeface="+mn-lt"/>
                        </a:rPr>
                        <a:t>88</a:t>
                      </a:r>
                    </a:p>
                  </a:txBody>
                  <a:tcPr marL="6350" marR="6350" marT="6350" marB="0" anchor="ctr">
                    <a:lnL>
                      <a:noFill/>
                    </a:lnL>
                    <a:lnR>
                      <a:noFill/>
                    </a:lnR>
                    <a:lnT>
                      <a:noFill/>
                    </a:lnT>
                    <a:lnB>
                      <a:noFill/>
                    </a:lnB>
                    <a:solidFill>
                      <a:srgbClr val="E2EFDA"/>
                    </a:solidFill>
                  </a:tcPr>
                </a:tc>
                <a:tc>
                  <a:txBody>
                    <a:bodyPr/>
                    <a:lstStyle/>
                    <a:p>
                      <a:pPr algn="ctr" fontAlgn="ctr"/>
                      <a:r>
                        <a:rPr lang="en-US" sz="1200" b="0" i="0" u="none" strike="noStrike">
                          <a:solidFill>
                            <a:srgbClr val="000000"/>
                          </a:solidFill>
                          <a:effectLst/>
                          <a:latin typeface="+mn-lt"/>
                        </a:rPr>
                        <a:t>56</a:t>
                      </a:r>
                    </a:p>
                  </a:txBody>
                  <a:tcPr marL="6350" marR="6350" marT="6350" marB="0" anchor="ctr">
                    <a:lnL>
                      <a:noFill/>
                    </a:lnL>
                    <a:lnR>
                      <a:noFill/>
                    </a:lnR>
                    <a:lnT>
                      <a:noFill/>
                    </a:lnT>
                    <a:lnB>
                      <a:noFill/>
                    </a:lnB>
                    <a:solidFill>
                      <a:srgbClr val="E2EFDA"/>
                    </a:solidFill>
                  </a:tcPr>
                </a:tc>
                <a:tc>
                  <a:txBody>
                    <a:bodyPr/>
                    <a:lstStyle/>
                    <a:p>
                      <a:pPr algn="ctr" fontAlgn="ctr"/>
                      <a:r>
                        <a:rPr lang="en-US" sz="1200" b="0" i="0" u="none" strike="noStrike">
                          <a:solidFill>
                            <a:srgbClr val="000000"/>
                          </a:solidFill>
                          <a:effectLst/>
                          <a:latin typeface="+mn-lt"/>
                        </a:rPr>
                        <a:t>400%</a:t>
                      </a:r>
                    </a:p>
                  </a:txBody>
                  <a:tcPr marL="6350" marR="6350" marT="6350" marB="0" anchor="ctr">
                    <a:lnL>
                      <a:noFill/>
                    </a:lnL>
                    <a:lnR>
                      <a:noFill/>
                    </a:lnR>
                    <a:lnT>
                      <a:noFill/>
                    </a:lnT>
                    <a:lnB>
                      <a:noFill/>
                    </a:lnB>
                    <a:solidFill>
                      <a:srgbClr val="DDEBF7"/>
                    </a:solidFill>
                  </a:tcPr>
                </a:tc>
                <a:tc>
                  <a:txBody>
                    <a:bodyPr/>
                    <a:lstStyle/>
                    <a:p>
                      <a:pPr algn="ctr" fontAlgn="ctr"/>
                      <a:r>
                        <a:rPr lang="en-US" sz="1200" b="0" i="0" u="none" strike="noStrike" dirty="0">
                          <a:solidFill>
                            <a:srgbClr val="000000"/>
                          </a:solidFill>
                          <a:effectLst/>
                          <a:latin typeface="+mn-lt"/>
                        </a:rPr>
                        <a:t>217%</a:t>
                      </a:r>
                    </a:p>
                  </a:txBody>
                  <a:tcPr marL="6350" marR="6350" marT="6350" marB="0" anchor="ctr">
                    <a:lnL>
                      <a:noFill/>
                    </a:lnL>
                    <a:lnR>
                      <a:noFill/>
                    </a:lnR>
                    <a:lnT>
                      <a:noFill/>
                    </a:lnT>
                    <a:lnB>
                      <a:noFill/>
                    </a:lnB>
                    <a:solidFill>
                      <a:srgbClr val="DDEBF7"/>
                    </a:solidFill>
                  </a:tcPr>
                </a:tc>
                <a:extLst>
                  <a:ext uri="{0D108BD9-81ED-4DB2-BD59-A6C34878D82A}">
                    <a16:rowId xmlns:a16="http://schemas.microsoft.com/office/drawing/2014/main" val="3445933330"/>
                  </a:ext>
                </a:extLst>
              </a:tr>
            </a:tbl>
          </a:graphicData>
        </a:graphic>
      </p:graphicFrame>
      <p:sp>
        <p:nvSpPr>
          <p:cNvPr id="28" name="Rectangle: Rounded Corners 27">
            <a:extLst>
              <a:ext uri="{FF2B5EF4-FFF2-40B4-BE49-F238E27FC236}">
                <a16:creationId xmlns:a16="http://schemas.microsoft.com/office/drawing/2014/main" id="{7F21EB26-330B-4D6F-B4A9-8C054F84123F}"/>
              </a:ext>
            </a:extLst>
          </p:cNvPr>
          <p:cNvSpPr/>
          <p:nvPr/>
        </p:nvSpPr>
        <p:spPr bwMode="gray">
          <a:xfrm>
            <a:off x="5734709" y="1153057"/>
            <a:ext cx="5955640" cy="1976550"/>
          </a:xfrm>
          <a:prstGeom prst="roundRect">
            <a:avLst/>
          </a:prstGeom>
          <a:solidFill>
            <a:srgbClr val="009A44">
              <a:alpha val="10000"/>
            </a:srgbClr>
          </a:solidFill>
          <a:ln w="19050" algn="ctr">
            <a:noFill/>
            <a:miter lim="800000"/>
            <a:headEnd/>
            <a:tailEnd/>
          </a:ln>
        </p:spPr>
        <p:txBody>
          <a:bodyPr wrap="square" lIns="88900" tIns="88900" rIns="88900" bIns="88900" rtlCol="0" anchor="ctr"/>
          <a:lstStyle/>
          <a:p>
            <a:pPr marL="285750" indent="-285750">
              <a:lnSpc>
                <a:spcPct val="150000"/>
              </a:lnSpc>
              <a:buFont typeface="Wingdings" panose="05000000000000000000" pitchFamily="2" charset="2"/>
              <a:buChar char="q"/>
            </a:pPr>
            <a:endParaRPr lang="en-US" sz="1200" b="1" dirty="0">
              <a:solidFill>
                <a:schemeClr val="bg1"/>
              </a:solidFill>
            </a:endParaRPr>
          </a:p>
          <a:p>
            <a:pPr>
              <a:lnSpc>
                <a:spcPct val="150000"/>
              </a:lnSpc>
            </a:pPr>
            <a:endParaRPr lang="en-US" sz="500" b="1" dirty="0">
              <a:solidFill>
                <a:schemeClr val="bg1"/>
              </a:solidFill>
            </a:endParaRPr>
          </a:p>
          <a:p>
            <a:pPr marL="285750" indent="-285750">
              <a:lnSpc>
                <a:spcPct val="150000"/>
              </a:lnSpc>
              <a:buFont typeface="Wingdings" panose="05000000000000000000" pitchFamily="2" charset="2"/>
              <a:buChar char="q"/>
            </a:pPr>
            <a:r>
              <a:rPr lang="en-US" sz="1200" dirty="0"/>
              <a:t>Three Utilities considered with state i.e A, B &amp; C with different Tariff Rate and Share of HT Consumer.</a:t>
            </a:r>
          </a:p>
          <a:p>
            <a:pPr marL="285750" indent="-285750">
              <a:lnSpc>
                <a:spcPct val="150000"/>
              </a:lnSpc>
              <a:buFont typeface="Wingdings" panose="05000000000000000000" pitchFamily="2" charset="2"/>
              <a:buChar char="q"/>
            </a:pPr>
            <a:r>
              <a:rPr lang="en-US" sz="1200" dirty="0"/>
              <a:t>Total Number of HT Consumer : 100 </a:t>
            </a:r>
          </a:p>
          <a:p>
            <a:pPr marL="285750" indent="-285750">
              <a:lnSpc>
                <a:spcPct val="150000"/>
              </a:lnSpc>
              <a:buFont typeface="Wingdings" panose="05000000000000000000" pitchFamily="2" charset="2"/>
              <a:buChar char="q"/>
            </a:pPr>
            <a:r>
              <a:rPr lang="en-US" sz="1200" dirty="0"/>
              <a:t>Load Factor of each Consumer : 60% </a:t>
            </a:r>
          </a:p>
          <a:p>
            <a:pPr marL="285750" indent="-285750">
              <a:lnSpc>
                <a:spcPct val="150000"/>
              </a:lnSpc>
              <a:buFont typeface="Wingdings" panose="05000000000000000000" pitchFamily="2" charset="2"/>
              <a:buChar char="q"/>
            </a:pPr>
            <a:r>
              <a:rPr lang="en-US" sz="1200" dirty="0"/>
              <a:t>Average Load of Each Consumer : 1  MW</a:t>
            </a:r>
          </a:p>
          <a:p>
            <a:pPr marL="285750" indent="-285750">
              <a:lnSpc>
                <a:spcPct val="150000"/>
              </a:lnSpc>
              <a:buFont typeface="Wingdings" panose="05000000000000000000" pitchFamily="2" charset="2"/>
              <a:buChar char="q"/>
            </a:pPr>
            <a:r>
              <a:rPr lang="en-US" sz="1200" dirty="0"/>
              <a:t>Average Power Factor : 85% </a:t>
            </a:r>
          </a:p>
          <a:p>
            <a:pPr marL="285750" indent="-285750">
              <a:lnSpc>
                <a:spcPct val="150000"/>
              </a:lnSpc>
              <a:buFont typeface="Wingdings" panose="05000000000000000000" pitchFamily="2" charset="2"/>
              <a:buChar char="q"/>
            </a:pPr>
            <a:r>
              <a:rPr lang="en-US" sz="1200" dirty="0"/>
              <a:t>Annual Average Consumer of Each Consumer : 5.26 MUs</a:t>
            </a:r>
          </a:p>
          <a:p>
            <a:pPr marL="285750" indent="-285750">
              <a:lnSpc>
                <a:spcPct val="106000"/>
              </a:lnSpc>
              <a:buFont typeface="Wingdings" panose="05000000000000000000" pitchFamily="2" charset="2"/>
              <a:buChar char="q"/>
            </a:pPr>
            <a:endParaRPr lang="en-US" sz="1200" b="1" dirty="0">
              <a:solidFill>
                <a:schemeClr val="bg1"/>
              </a:solidFill>
            </a:endParaRPr>
          </a:p>
          <a:p>
            <a:pPr algn="ctr">
              <a:lnSpc>
                <a:spcPct val="106000"/>
              </a:lnSpc>
            </a:pPr>
            <a:endParaRPr lang="en-US" sz="1600" b="1" dirty="0">
              <a:solidFill>
                <a:schemeClr val="bg1"/>
              </a:solidFill>
            </a:endParaRPr>
          </a:p>
        </p:txBody>
      </p:sp>
      <p:sp>
        <p:nvSpPr>
          <p:cNvPr id="29" name="Parallelogram 28">
            <a:extLst>
              <a:ext uri="{FF2B5EF4-FFF2-40B4-BE49-F238E27FC236}">
                <a16:creationId xmlns:a16="http://schemas.microsoft.com/office/drawing/2014/main" id="{A790AD58-52AE-4B52-B234-CB68E8948F9D}"/>
              </a:ext>
            </a:extLst>
          </p:cNvPr>
          <p:cNvSpPr/>
          <p:nvPr/>
        </p:nvSpPr>
        <p:spPr bwMode="gray">
          <a:xfrm>
            <a:off x="5734709" y="731249"/>
            <a:ext cx="5955640" cy="334101"/>
          </a:xfrm>
          <a:prstGeom prst="parallelogram">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i="1" dirty="0">
                <a:solidFill>
                  <a:schemeClr val="bg1"/>
                </a:solidFill>
              </a:rPr>
              <a:t>Assumption considered for Scenario Analysis </a:t>
            </a:r>
          </a:p>
        </p:txBody>
      </p:sp>
      <p:sp>
        <p:nvSpPr>
          <p:cNvPr id="2" name="TextBox 1">
            <a:extLst>
              <a:ext uri="{FF2B5EF4-FFF2-40B4-BE49-F238E27FC236}">
                <a16:creationId xmlns:a16="http://schemas.microsoft.com/office/drawing/2014/main" id="{3F3547AD-E483-4937-8066-1E9AF3EBEB90}"/>
              </a:ext>
            </a:extLst>
          </p:cNvPr>
          <p:cNvSpPr txBox="1"/>
          <p:nvPr/>
        </p:nvSpPr>
        <p:spPr>
          <a:xfrm>
            <a:off x="501650" y="5163764"/>
            <a:ext cx="11342045" cy="1446550"/>
          </a:xfrm>
          <a:prstGeom prst="rect">
            <a:avLst/>
          </a:prstGeom>
          <a:solidFill>
            <a:srgbClr val="0076A8">
              <a:alpha val="24000"/>
            </a:srgbClr>
          </a:solidFill>
        </p:spPr>
        <p:txBody>
          <a:bodyPr wrap="square" lIns="91440" tIns="91440" rIns="91440" bIns="91440" rtlCol="0">
            <a:spAutoFit/>
          </a:bodyPr>
          <a:lstStyle/>
          <a:p>
            <a:pPr marL="171450" indent="-171450">
              <a:spcBef>
                <a:spcPts val="600"/>
              </a:spcBef>
              <a:buSzPct val="100000"/>
              <a:buFont typeface="Wingdings" panose="05000000000000000000" pitchFamily="2" charset="2"/>
              <a:buChar char="Ø"/>
            </a:pPr>
            <a:r>
              <a:rPr lang="en-US" sz="1200" b="1" dirty="0">
                <a:solidFill>
                  <a:srgbClr val="313131"/>
                </a:solidFill>
              </a:rPr>
              <a:t>Scenario 1 : </a:t>
            </a:r>
            <a:r>
              <a:rPr lang="en-US" sz="1200" dirty="0">
                <a:solidFill>
                  <a:srgbClr val="313131"/>
                </a:solidFill>
              </a:rPr>
              <a:t>With revision of Tariff Rate from Rs. 8.35/KWh to Rs. 5.55/KWh , the consumer share will increase 10% to 20% ( Subject to Variation). It is because of shifting of Consumer from Utility B i.e 55% to 45%.</a:t>
            </a:r>
          </a:p>
          <a:p>
            <a:pPr marL="171450" indent="-171450">
              <a:spcBef>
                <a:spcPts val="600"/>
              </a:spcBef>
              <a:buSzPct val="100000"/>
              <a:buFont typeface="Wingdings" panose="05000000000000000000" pitchFamily="2" charset="2"/>
              <a:buChar char="Ø"/>
            </a:pPr>
            <a:r>
              <a:rPr lang="en-US" sz="1200" b="1" dirty="0">
                <a:solidFill>
                  <a:srgbClr val="313131"/>
                </a:solidFill>
              </a:rPr>
              <a:t>Scenario 2 : </a:t>
            </a:r>
            <a:r>
              <a:rPr lang="en-US" sz="1200" dirty="0">
                <a:solidFill>
                  <a:srgbClr val="313131"/>
                </a:solidFill>
              </a:rPr>
              <a:t>With revision of Tariff Rate from Rs. 8.35/KWh to Rs. 5.30/KWh, the consumer share will increase 10% to 50% (Subject to Variation) . It is because of shifting of Consumer from Utility B  and Utility C ( For Utility B : 55% to 30% &amp; Utility C : 35% to 20%)</a:t>
            </a:r>
          </a:p>
          <a:p>
            <a:pPr marL="171450" indent="-171450">
              <a:spcBef>
                <a:spcPts val="600"/>
              </a:spcBef>
              <a:buSzPct val="100000"/>
              <a:buFont typeface="Wingdings" panose="05000000000000000000" pitchFamily="2" charset="2"/>
              <a:buChar char="q"/>
            </a:pPr>
            <a:r>
              <a:rPr lang="en-US" sz="1200" b="1" dirty="0">
                <a:solidFill>
                  <a:srgbClr val="313131"/>
                </a:solidFill>
              </a:rPr>
              <a:t>Detailed Analysis need to be conducted through statistical assessment of Tariff structure, Network availability, any future capex requirement to cater new load. Additionally proper business development strategies needs to be prepared.</a:t>
            </a:r>
          </a:p>
        </p:txBody>
      </p:sp>
    </p:spTree>
    <p:extLst>
      <p:ext uri="{BB962C8B-B14F-4D97-AF65-F5344CB8AC3E}">
        <p14:creationId xmlns:p14="http://schemas.microsoft.com/office/powerpoint/2010/main" val="2058454299"/>
      </p:ext>
    </p:extLst>
  </p:cSld>
  <p:clrMapOvr>
    <a:masterClrMapping/>
  </p:clrMapOvr>
  <p:transition>
    <p:fade/>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4D26366-006B-4614-894F-BB794787E2A2}"/>
              </a:ext>
            </a:extLst>
          </p:cNvPr>
          <p:cNvSpPr>
            <a:spLocks noGrp="1"/>
          </p:cNvSpPr>
          <p:nvPr>
            <p:ph type="title"/>
          </p:nvPr>
        </p:nvSpPr>
        <p:spPr/>
        <p:txBody>
          <a:bodyPr/>
          <a:lstStyle/>
          <a:p>
            <a:r>
              <a:rPr lang="en-US" sz="2000" b="1" dirty="0"/>
              <a:t>Industrial Consumer Growth Analysis for WBSEDCL : Case Scenario 2</a:t>
            </a:r>
            <a:endParaRPr lang="en-US" dirty="0"/>
          </a:p>
        </p:txBody>
      </p:sp>
      <p:graphicFrame>
        <p:nvGraphicFramePr>
          <p:cNvPr id="8" name="Diagram 7">
            <a:extLst>
              <a:ext uri="{FF2B5EF4-FFF2-40B4-BE49-F238E27FC236}">
                <a16:creationId xmlns:a16="http://schemas.microsoft.com/office/drawing/2014/main" id="{0597B4E8-A851-4CFB-991B-490E907AD8A3}"/>
              </a:ext>
            </a:extLst>
          </p:cNvPr>
          <p:cNvGraphicFramePr/>
          <p:nvPr>
            <p:extLst>
              <p:ext uri="{D42A27DB-BD31-4B8C-83A1-F6EECF244321}">
                <p14:modId xmlns:p14="http://schemas.microsoft.com/office/powerpoint/2010/main" val="4095288304"/>
              </p:ext>
            </p:extLst>
          </p:nvPr>
        </p:nvGraphicFramePr>
        <p:xfrm>
          <a:off x="469900" y="651602"/>
          <a:ext cx="11439602" cy="29279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Table 9">
            <a:extLst>
              <a:ext uri="{FF2B5EF4-FFF2-40B4-BE49-F238E27FC236}">
                <a16:creationId xmlns:a16="http://schemas.microsoft.com/office/drawing/2014/main" id="{2D4BBF15-30E2-4F43-BAC3-43E4FB1943A9}"/>
              </a:ext>
            </a:extLst>
          </p:cNvPr>
          <p:cNvGraphicFramePr>
            <a:graphicFrameLocks noGrp="1"/>
          </p:cNvGraphicFramePr>
          <p:nvPr>
            <p:extLst>
              <p:ext uri="{D42A27DB-BD31-4B8C-83A1-F6EECF244321}">
                <p14:modId xmlns:p14="http://schemas.microsoft.com/office/powerpoint/2010/main" val="45160039"/>
              </p:ext>
            </p:extLst>
          </p:nvPr>
        </p:nvGraphicFramePr>
        <p:xfrm>
          <a:off x="469899" y="3546340"/>
          <a:ext cx="11439600" cy="1848918"/>
        </p:xfrm>
        <a:graphic>
          <a:graphicData uri="http://schemas.openxmlformats.org/drawingml/2006/table">
            <a:tbl>
              <a:tblPr firstRow="1" bandRow="1">
                <a:tableStyleId>{5C22544A-7EE6-4342-B048-85BDC9FD1C3A}</a:tableStyleId>
              </a:tblPr>
              <a:tblGrid>
                <a:gridCol w="1906600">
                  <a:extLst>
                    <a:ext uri="{9D8B030D-6E8A-4147-A177-3AD203B41FA5}">
                      <a16:colId xmlns:a16="http://schemas.microsoft.com/office/drawing/2014/main" val="899538677"/>
                    </a:ext>
                  </a:extLst>
                </a:gridCol>
                <a:gridCol w="1906600">
                  <a:extLst>
                    <a:ext uri="{9D8B030D-6E8A-4147-A177-3AD203B41FA5}">
                      <a16:colId xmlns:a16="http://schemas.microsoft.com/office/drawing/2014/main" val="2434850096"/>
                    </a:ext>
                  </a:extLst>
                </a:gridCol>
                <a:gridCol w="1906600">
                  <a:extLst>
                    <a:ext uri="{9D8B030D-6E8A-4147-A177-3AD203B41FA5}">
                      <a16:colId xmlns:a16="http://schemas.microsoft.com/office/drawing/2014/main" val="1720389503"/>
                    </a:ext>
                  </a:extLst>
                </a:gridCol>
                <a:gridCol w="1906600">
                  <a:extLst>
                    <a:ext uri="{9D8B030D-6E8A-4147-A177-3AD203B41FA5}">
                      <a16:colId xmlns:a16="http://schemas.microsoft.com/office/drawing/2014/main" val="12686145"/>
                    </a:ext>
                  </a:extLst>
                </a:gridCol>
                <a:gridCol w="1906600">
                  <a:extLst>
                    <a:ext uri="{9D8B030D-6E8A-4147-A177-3AD203B41FA5}">
                      <a16:colId xmlns:a16="http://schemas.microsoft.com/office/drawing/2014/main" val="956879627"/>
                    </a:ext>
                  </a:extLst>
                </a:gridCol>
                <a:gridCol w="1906600">
                  <a:extLst>
                    <a:ext uri="{9D8B030D-6E8A-4147-A177-3AD203B41FA5}">
                      <a16:colId xmlns:a16="http://schemas.microsoft.com/office/drawing/2014/main" val="1763250459"/>
                    </a:ext>
                  </a:extLst>
                </a:gridCol>
              </a:tblGrid>
              <a:tr h="385878">
                <a:tc>
                  <a:txBody>
                    <a:bodyPr/>
                    <a:lstStyle/>
                    <a:p>
                      <a:pPr algn="l" fontAlgn="b"/>
                      <a:r>
                        <a:rPr lang="en-US" sz="1200" b="1" i="0" u="none" strike="noStrike" dirty="0">
                          <a:solidFill>
                            <a:srgbClr val="000000"/>
                          </a:solidFill>
                          <a:effectLst/>
                          <a:latin typeface="+mn-lt"/>
                        </a:rPr>
                        <a:t>Particulars </a:t>
                      </a:r>
                    </a:p>
                  </a:txBody>
                  <a:tcPr marT="18288" marB="18288" anchor="ctr"/>
                </a:tc>
                <a:tc>
                  <a:txBody>
                    <a:bodyPr/>
                    <a:lstStyle/>
                    <a:p>
                      <a:pPr algn="ctr" fontAlgn="b"/>
                      <a:r>
                        <a:rPr lang="en-US" sz="1200" b="1" i="0" u="none" strike="noStrike" dirty="0">
                          <a:solidFill>
                            <a:srgbClr val="000000"/>
                          </a:solidFill>
                          <a:effectLst/>
                          <a:latin typeface="+mn-lt"/>
                        </a:rPr>
                        <a:t>Unit </a:t>
                      </a:r>
                    </a:p>
                  </a:txBody>
                  <a:tcPr marR="6350" marT="18288" marB="18288" anchor="ctr"/>
                </a:tc>
                <a:tc>
                  <a:txBody>
                    <a:bodyPr/>
                    <a:lstStyle/>
                    <a:p>
                      <a:pPr algn="ctr" fontAlgn="b"/>
                      <a:r>
                        <a:rPr lang="en-US" sz="1200" b="1" i="0" u="none" strike="noStrike" dirty="0">
                          <a:solidFill>
                            <a:srgbClr val="000000"/>
                          </a:solidFill>
                          <a:effectLst/>
                          <a:latin typeface="+mn-lt"/>
                        </a:rPr>
                        <a:t>Actual</a:t>
                      </a:r>
                    </a:p>
                  </a:txBody>
                  <a:tcPr marR="6350" marT="18288" marB="18288" anchor="ctr"/>
                </a:tc>
                <a:tc>
                  <a:txBody>
                    <a:bodyPr/>
                    <a:lstStyle/>
                    <a:p>
                      <a:pPr algn="ctr" fontAlgn="ctr"/>
                      <a:r>
                        <a:rPr lang="en-US" sz="1200" b="1" i="0" u="none" strike="noStrike" dirty="0">
                          <a:solidFill>
                            <a:srgbClr val="000000"/>
                          </a:solidFill>
                          <a:effectLst/>
                          <a:latin typeface="+mn-lt"/>
                        </a:rPr>
                        <a:t>Situation 1</a:t>
                      </a:r>
                    </a:p>
                  </a:txBody>
                  <a:tcPr marR="6350" marT="18288" marB="18288" anchor="ctr"/>
                </a:tc>
                <a:tc>
                  <a:txBody>
                    <a:bodyPr/>
                    <a:lstStyle/>
                    <a:p>
                      <a:pPr algn="ctr" fontAlgn="ctr"/>
                      <a:r>
                        <a:rPr lang="en-US" sz="1200" b="1" i="0" u="none" strike="noStrike" dirty="0">
                          <a:solidFill>
                            <a:srgbClr val="000000"/>
                          </a:solidFill>
                          <a:effectLst/>
                          <a:latin typeface="+mn-lt"/>
                        </a:rPr>
                        <a:t>Situation 2</a:t>
                      </a:r>
                    </a:p>
                  </a:txBody>
                  <a:tcPr marR="6350" marT="18288" marB="18288" anchor="ctr"/>
                </a:tc>
                <a:tc>
                  <a:txBody>
                    <a:bodyPr/>
                    <a:lstStyle/>
                    <a:p>
                      <a:pPr algn="ctr" fontAlgn="ctr"/>
                      <a:r>
                        <a:rPr lang="en-US" sz="1200" b="1" i="0" u="none" strike="noStrike" dirty="0">
                          <a:solidFill>
                            <a:srgbClr val="000000"/>
                          </a:solidFill>
                          <a:effectLst/>
                          <a:latin typeface="+mn-lt"/>
                        </a:rPr>
                        <a:t>Situation 3</a:t>
                      </a:r>
                    </a:p>
                  </a:txBody>
                  <a:tcPr marR="6350" marT="18288" marB="18288" anchor="ctr"/>
                </a:tc>
                <a:extLst>
                  <a:ext uri="{0D108BD9-81ED-4DB2-BD59-A6C34878D82A}">
                    <a16:rowId xmlns:a16="http://schemas.microsoft.com/office/drawing/2014/main" val="674775209"/>
                  </a:ext>
                </a:extLst>
              </a:tr>
              <a:tr h="343497">
                <a:tc>
                  <a:txBody>
                    <a:bodyPr/>
                    <a:lstStyle/>
                    <a:p>
                      <a:pPr algn="l" fontAlgn="b"/>
                      <a:r>
                        <a:rPr lang="en-US" sz="1200" b="0" i="0" u="none" strike="noStrike" dirty="0">
                          <a:solidFill>
                            <a:srgbClr val="000000"/>
                          </a:solidFill>
                          <a:effectLst/>
                          <a:latin typeface="+mn-lt"/>
                        </a:rPr>
                        <a:t>Increase in Energy during Peak Period </a:t>
                      </a:r>
                    </a:p>
                  </a:txBody>
                  <a:tcPr marT="18288" marB="18288" anchor="ctr">
                    <a:solidFill>
                      <a:schemeClr val="bg1">
                        <a:lumMod val="95000"/>
                      </a:schemeClr>
                    </a:solidFill>
                  </a:tcPr>
                </a:tc>
                <a:tc>
                  <a:txBody>
                    <a:bodyPr/>
                    <a:lstStyle/>
                    <a:p>
                      <a:pPr algn="ctr" fontAlgn="b"/>
                      <a:r>
                        <a:rPr lang="en-US" sz="1200" b="0" i="0" u="none" strike="noStrike">
                          <a:solidFill>
                            <a:srgbClr val="000000"/>
                          </a:solidFill>
                          <a:effectLst/>
                          <a:latin typeface="+mn-lt"/>
                        </a:rPr>
                        <a:t>MU</a:t>
                      </a:r>
                    </a:p>
                  </a:txBody>
                  <a:tcPr marR="6350" marT="18288" marB="18288" anchor="ctr">
                    <a:solidFill>
                      <a:schemeClr val="bg1">
                        <a:lumMod val="95000"/>
                      </a:schemeClr>
                    </a:solidFill>
                  </a:tcPr>
                </a:tc>
                <a:tc>
                  <a:txBody>
                    <a:bodyPr/>
                    <a:lstStyle/>
                    <a:p>
                      <a:pPr algn="ctr" fontAlgn="ctr"/>
                      <a:r>
                        <a:rPr lang="en-US" sz="1200" b="0" i="0" u="none" strike="noStrike" dirty="0">
                          <a:solidFill>
                            <a:srgbClr val="000000"/>
                          </a:solidFill>
                          <a:effectLst/>
                          <a:latin typeface="+mn-lt"/>
                        </a:rPr>
                        <a:t>100</a:t>
                      </a:r>
                    </a:p>
                  </a:txBody>
                  <a:tcPr marR="6350" marT="18288" marB="18288" anchor="ctr">
                    <a:solidFill>
                      <a:schemeClr val="bg1">
                        <a:lumMod val="95000"/>
                      </a:schemeClr>
                    </a:solidFill>
                  </a:tcPr>
                </a:tc>
                <a:tc>
                  <a:txBody>
                    <a:bodyPr/>
                    <a:lstStyle/>
                    <a:p>
                      <a:pPr algn="ctr" fontAlgn="ctr"/>
                      <a:r>
                        <a:rPr lang="en-US" sz="1200" b="0" i="0" u="none" strike="noStrike" dirty="0">
                          <a:solidFill>
                            <a:srgbClr val="000000"/>
                          </a:solidFill>
                          <a:effectLst/>
                          <a:latin typeface="+mn-lt"/>
                        </a:rPr>
                        <a:t>125</a:t>
                      </a:r>
                    </a:p>
                  </a:txBody>
                  <a:tcPr marR="6350" marT="18288" marB="18288" anchor="ctr">
                    <a:solidFill>
                      <a:schemeClr val="bg1">
                        <a:lumMod val="95000"/>
                      </a:schemeClr>
                    </a:solidFill>
                  </a:tcPr>
                </a:tc>
                <a:tc>
                  <a:txBody>
                    <a:bodyPr/>
                    <a:lstStyle/>
                    <a:p>
                      <a:pPr algn="ctr" fontAlgn="ctr"/>
                      <a:r>
                        <a:rPr lang="en-US" sz="1200" b="0" i="0" u="none" strike="noStrike" dirty="0">
                          <a:solidFill>
                            <a:srgbClr val="000000"/>
                          </a:solidFill>
                          <a:effectLst/>
                          <a:latin typeface="+mn-lt"/>
                        </a:rPr>
                        <a:t>150</a:t>
                      </a:r>
                    </a:p>
                  </a:txBody>
                  <a:tcPr marR="6350" marT="18288" marB="18288" anchor="ctr">
                    <a:solidFill>
                      <a:schemeClr val="bg1">
                        <a:lumMod val="95000"/>
                      </a:schemeClr>
                    </a:solidFill>
                  </a:tcPr>
                </a:tc>
                <a:tc>
                  <a:txBody>
                    <a:bodyPr/>
                    <a:lstStyle/>
                    <a:p>
                      <a:pPr algn="ctr" fontAlgn="ctr"/>
                      <a:r>
                        <a:rPr lang="en-US" sz="1200" b="0" i="0" u="none" strike="noStrike" dirty="0">
                          <a:solidFill>
                            <a:srgbClr val="000000"/>
                          </a:solidFill>
                          <a:effectLst/>
                          <a:latin typeface="+mn-lt"/>
                        </a:rPr>
                        <a:t>175</a:t>
                      </a:r>
                    </a:p>
                  </a:txBody>
                  <a:tcPr marR="6350" marT="18288" marB="18288" anchor="ctr">
                    <a:solidFill>
                      <a:schemeClr val="bg1">
                        <a:lumMod val="95000"/>
                      </a:schemeClr>
                    </a:solidFill>
                  </a:tcPr>
                </a:tc>
                <a:extLst>
                  <a:ext uri="{0D108BD9-81ED-4DB2-BD59-A6C34878D82A}">
                    <a16:rowId xmlns:a16="http://schemas.microsoft.com/office/drawing/2014/main" val="966867533"/>
                  </a:ext>
                </a:extLst>
              </a:tr>
              <a:tr h="196220">
                <a:tc>
                  <a:txBody>
                    <a:bodyPr/>
                    <a:lstStyle/>
                    <a:p>
                      <a:pPr algn="l" fontAlgn="b"/>
                      <a:r>
                        <a:rPr lang="en-US" sz="1200" b="0" i="0" u="none" strike="noStrike" dirty="0">
                          <a:solidFill>
                            <a:srgbClr val="000000"/>
                          </a:solidFill>
                          <a:effectLst/>
                          <a:latin typeface="+mn-lt"/>
                        </a:rPr>
                        <a:t>Peak Hours Rate </a:t>
                      </a:r>
                    </a:p>
                  </a:txBody>
                  <a:tcPr marT="18288" marB="18288" anchor="ctr">
                    <a:solidFill>
                      <a:schemeClr val="bg1">
                        <a:lumMod val="95000"/>
                      </a:schemeClr>
                    </a:solidFill>
                  </a:tcPr>
                </a:tc>
                <a:tc>
                  <a:txBody>
                    <a:bodyPr/>
                    <a:lstStyle/>
                    <a:p>
                      <a:pPr algn="ctr" fontAlgn="b"/>
                      <a:r>
                        <a:rPr lang="en-US" sz="1200" b="0" i="0" u="none" strike="noStrike" dirty="0">
                          <a:solidFill>
                            <a:srgbClr val="000000"/>
                          </a:solidFill>
                          <a:effectLst/>
                          <a:latin typeface="+mn-lt"/>
                        </a:rPr>
                        <a:t>Rs /</a:t>
                      </a:r>
                      <a:r>
                        <a:rPr lang="en-US" sz="1200" b="0" i="0" u="none" strike="noStrike" dirty="0" err="1">
                          <a:solidFill>
                            <a:srgbClr val="000000"/>
                          </a:solidFill>
                          <a:effectLst/>
                          <a:latin typeface="+mn-lt"/>
                        </a:rPr>
                        <a:t>KWh</a:t>
                      </a:r>
                      <a:endParaRPr lang="en-US" sz="1200" b="0" i="0" u="none" strike="noStrike" dirty="0">
                        <a:solidFill>
                          <a:srgbClr val="000000"/>
                        </a:solidFill>
                        <a:effectLst/>
                        <a:latin typeface="+mn-lt"/>
                      </a:endParaRPr>
                    </a:p>
                  </a:txBody>
                  <a:tcPr marR="6350" marT="18288" marB="18288" anchor="ctr">
                    <a:solidFill>
                      <a:schemeClr val="bg1">
                        <a:lumMod val="95000"/>
                      </a:schemeClr>
                    </a:solidFill>
                  </a:tcPr>
                </a:tc>
                <a:tc>
                  <a:txBody>
                    <a:bodyPr/>
                    <a:lstStyle/>
                    <a:p>
                      <a:pPr algn="ctr" fontAlgn="ctr"/>
                      <a:r>
                        <a:rPr lang="en-US" sz="1200" b="0" i="0" u="none" strike="noStrike">
                          <a:solidFill>
                            <a:srgbClr val="000000"/>
                          </a:solidFill>
                          <a:effectLst/>
                          <a:latin typeface="+mn-lt"/>
                        </a:rPr>
                        <a:t>8.64</a:t>
                      </a:r>
                    </a:p>
                  </a:txBody>
                  <a:tcPr marR="6350" marT="18288" marB="18288" anchor="ctr">
                    <a:solidFill>
                      <a:schemeClr val="bg1">
                        <a:lumMod val="95000"/>
                      </a:schemeClr>
                    </a:solidFill>
                  </a:tcPr>
                </a:tc>
                <a:tc>
                  <a:txBody>
                    <a:bodyPr/>
                    <a:lstStyle/>
                    <a:p>
                      <a:pPr algn="ctr" fontAlgn="ctr"/>
                      <a:r>
                        <a:rPr lang="en-US" sz="1200" b="0" i="0" u="none" strike="noStrike">
                          <a:solidFill>
                            <a:srgbClr val="000000"/>
                          </a:solidFill>
                          <a:effectLst/>
                          <a:latin typeface="+mn-lt"/>
                        </a:rPr>
                        <a:t>7.78</a:t>
                      </a:r>
                    </a:p>
                  </a:txBody>
                  <a:tcPr marR="6350" marT="18288" marB="18288" anchor="ctr">
                    <a:solidFill>
                      <a:schemeClr val="bg1">
                        <a:lumMod val="95000"/>
                      </a:schemeClr>
                    </a:solidFill>
                  </a:tcPr>
                </a:tc>
                <a:tc>
                  <a:txBody>
                    <a:bodyPr/>
                    <a:lstStyle/>
                    <a:p>
                      <a:pPr algn="ctr" fontAlgn="ctr"/>
                      <a:r>
                        <a:rPr lang="en-US" sz="1200" b="0" i="0" u="none" strike="noStrike" dirty="0">
                          <a:solidFill>
                            <a:srgbClr val="000000"/>
                          </a:solidFill>
                          <a:effectLst/>
                          <a:latin typeface="+mn-lt"/>
                        </a:rPr>
                        <a:t>7.00</a:t>
                      </a:r>
                    </a:p>
                  </a:txBody>
                  <a:tcPr marR="6350" marT="18288" marB="18288" anchor="ctr">
                    <a:solidFill>
                      <a:schemeClr val="bg1">
                        <a:lumMod val="95000"/>
                      </a:schemeClr>
                    </a:solidFill>
                  </a:tcPr>
                </a:tc>
                <a:tc>
                  <a:txBody>
                    <a:bodyPr/>
                    <a:lstStyle/>
                    <a:p>
                      <a:pPr algn="ctr" fontAlgn="ctr"/>
                      <a:r>
                        <a:rPr lang="en-US" sz="1200" b="0" i="0" u="none" strike="noStrike" dirty="0">
                          <a:solidFill>
                            <a:srgbClr val="000000"/>
                          </a:solidFill>
                          <a:effectLst/>
                          <a:latin typeface="+mn-lt"/>
                        </a:rPr>
                        <a:t>6.30</a:t>
                      </a:r>
                    </a:p>
                  </a:txBody>
                  <a:tcPr marR="6350" marT="18288" marB="18288" anchor="ctr">
                    <a:solidFill>
                      <a:schemeClr val="bg1">
                        <a:lumMod val="95000"/>
                      </a:schemeClr>
                    </a:solidFill>
                  </a:tcPr>
                </a:tc>
                <a:extLst>
                  <a:ext uri="{0D108BD9-81ED-4DB2-BD59-A6C34878D82A}">
                    <a16:rowId xmlns:a16="http://schemas.microsoft.com/office/drawing/2014/main" val="1001785537"/>
                  </a:ext>
                </a:extLst>
              </a:tr>
              <a:tr h="343497">
                <a:tc>
                  <a:txBody>
                    <a:bodyPr/>
                    <a:lstStyle/>
                    <a:p>
                      <a:pPr algn="l" fontAlgn="b"/>
                      <a:r>
                        <a:rPr lang="en-US" sz="1200" b="1" i="0" u="none" strike="noStrike" dirty="0">
                          <a:solidFill>
                            <a:srgbClr val="000000"/>
                          </a:solidFill>
                          <a:effectLst/>
                          <a:latin typeface="+mn-lt"/>
                        </a:rPr>
                        <a:t>Decrease rate of Peak </a:t>
                      </a:r>
                    </a:p>
                  </a:txBody>
                  <a:tcPr marT="18288" marB="18288" anchor="ctr">
                    <a:solidFill>
                      <a:schemeClr val="bg1">
                        <a:lumMod val="95000"/>
                      </a:schemeClr>
                    </a:solidFill>
                  </a:tcPr>
                </a:tc>
                <a:tc>
                  <a:txBody>
                    <a:bodyPr/>
                    <a:lstStyle/>
                    <a:p>
                      <a:pPr algn="ctr" fontAlgn="b"/>
                      <a:r>
                        <a:rPr lang="en-US" sz="1200" b="1" i="0" u="none" strike="noStrike" dirty="0">
                          <a:solidFill>
                            <a:srgbClr val="000000"/>
                          </a:solidFill>
                          <a:effectLst/>
                          <a:latin typeface="+mn-lt"/>
                        </a:rPr>
                        <a:t>%</a:t>
                      </a:r>
                    </a:p>
                  </a:txBody>
                  <a:tcPr marR="6350" marT="18288" marB="18288" anchor="ctr">
                    <a:solidFill>
                      <a:schemeClr val="bg1">
                        <a:lumMod val="95000"/>
                      </a:schemeClr>
                    </a:solidFill>
                  </a:tcPr>
                </a:tc>
                <a:tc>
                  <a:txBody>
                    <a:bodyPr/>
                    <a:lstStyle/>
                    <a:p>
                      <a:pPr algn="ctr" fontAlgn="ctr"/>
                      <a:r>
                        <a:rPr lang="en-US" sz="1200" b="1" i="0" u="none" strike="noStrike" dirty="0">
                          <a:solidFill>
                            <a:srgbClr val="000000"/>
                          </a:solidFill>
                          <a:effectLst/>
                          <a:latin typeface="+mn-lt"/>
                        </a:rPr>
                        <a:t>0%</a:t>
                      </a:r>
                    </a:p>
                  </a:txBody>
                  <a:tcPr marR="6350" marT="18288" marB="18288" anchor="ctr">
                    <a:solidFill>
                      <a:schemeClr val="bg1">
                        <a:lumMod val="95000"/>
                      </a:schemeClr>
                    </a:solidFill>
                  </a:tcPr>
                </a:tc>
                <a:tc>
                  <a:txBody>
                    <a:bodyPr/>
                    <a:lstStyle/>
                    <a:p>
                      <a:pPr algn="ctr" fontAlgn="ctr"/>
                      <a:r>
                        <a:rPr lang="en-US" sz="1200" b="1" i="0" u="none" strike="noStrike" dirty="0">
                          <a:solidFill>
                            <a:srgbClr val="000000"/>
                          </a:solidFill>
                          <a:effectLst/>
                          <a:latin typeface="+mn-lt"/>
                        </a:rPr>
                        <a:t>-10%</a:t>
                      </a:r>
                    </a:p>
                  </a:txBody>
                  <a:tcPr marR="6350" marT="18288" marB="18288" anchor="ctr">
                    <a:solidFill>
                      <a:schemeClr val="bg1">
                        <a:lumMod val="95000"/>
                      </a:schemeClr>
                    </a:solidFill>
                  </a:tcPr>
                </a:tc>
                <a:tc>
                  <a:txBody>
                    <a:bodyPr/>
                    <a:lstStyle/>
                    <a:p>
                      <a:pPr algn="ctr" fontAlgn="ctr"/>
                      <a:r>
                        <a:rPr lang="en-US" sz="1200" b="1" i="0" u="none" strike="noStrike" dirty="0">
                          <a:solidFill>
                            <a:srgbClr val="000000"/>
                          </a:solidFill>
                          <a:effectLst/>
                          <a:latin typeface="+mn-lt"/>
                        </a:rPr>
                        <a:t>-19%</a:t>
                      </a:r>
                    </a:p>
                  </a:txBody>
                  <a:tcPr marR="6350" marT="18288" marB="18288" anchor="ctr">
                    <a:solidFill>
                      <a:schemeClr val="bg1">
                        <a:lumMod val="95000"/>
                      </a:schemeClr>
                    </a:solidFill>
                  </a:tcPr>
                </a:tc>
                <a:tc>
                  <a:txBody>
                    <a:bodyPr/>
                    <a:lstStyle/>
                    <a:p>
                      <a:pPr algn="ctr" fontAlgn="ctr"/>
                      <a:r>
                        <a:rPr lang="en-US" sz="1200" b="1" i="0" u="none" strike="noStrike" dirty="0">
                          <a:solidFill>
                            <a:srgbClr val="000000"/>
                          </a:solidFill>
                          <a:effectLst/>
                          <a:latin typeface="+mn-lt"/>
                        </a:rPr>
                        <a:t>-27%</a:t>
                      </a:r>
                    </a:p>
                  </a:txBody>
                  <a:tcPr marR="6350" marT="18288" marB="18288" anchor="ctr">
                    <a:solidFill>
                      <a:schemeClr val="bg1">
                        <a:lumMod val="95000"/>
                      </a:schemeClr>
                    </a:solidFill>
                  </a:tcPr>
                </a:tc>
                <a:extLst>
                  <a:ext uri="{0D108BD9-81ED-4DB2-BD59-A6C34878D82A}">
                    <a16:rowId xmlns:a16="http://schemas.microsoft.com/office/drawing/2014/main" val="2841857079"/>
                  </a:ext>
                </a:extLst>
              </a:tr>
              <a:tr h="196220">
                <a:tc>
                  <a:txBody>
                    <a:bodyPr/>
                    <a:lstStyle/>
                    <a:p>
                      <a:pPr algn="l" fontAlgn="b"/>
                      <a:r>
                        <a:rPr lang="en-US" sz="1200" b="0" i="0" u="none" strike="noStrike" dirty="0">
                          <a:solidFill>
                            <a:srgbClr val="000000"/>
                          </a:solidFill>
                          <a:effectLst/>
                          <a:latin typeface="+mn-lt"/>
                        </a:rPr>
                        <a:t>Revenue </a:t>
                      </a:r>
                    </a:p>
                  </a:txBody>
                  <a:tcPr marT="18288" marB="18288" anchor="ctr">
                    <a:solidFill>
                      <a:schemeClr val="bg1">
                        <a:lumMod val="95000"/>
                      </a:schemeClr>
                    </a:solidFill>
                  </a:tcPr>
                </a:tc>
                <a:tc>
                  <a:txBody>
                    <a:bodyPr/>
                    <a:lstStyle/>
                    <a:p>
                      <a:pPr algn="ctr" fontAlgn="b"/>
                      <a:r>
                        <a:rPr lang="en-US" sz="1200" b="0" i="0" u="none" strike="noStrike" dirty="0">
                          <a:solidFill>
                            <a:srgbClr val="000000"/>
                          </a:solidFill>
                          <a:effectLst/>
                          <a:latin typeface="+mn-lt"/>
                        </a:rPr>
                        <a:t>Rs. Crore</a:t>
                      </a:r>
                    </a:p>
                  </a:txBody>
                  <a:tcPr marR="6350" marT="18288" marB="18288" anchor="ctr">
                    <a:solidFill>
                      <a:schemeClr val="bg1">
                        <a:lumMod val="95000"/>
                      </a:schemeClr>
                    </a:solidFill>
                  </a:tcPr>
                </a:tc>
                <a:tc>
                  <a:txBody>
                    <a:bodyPr/>
                    <a:lstStyle/>
                    <a:p>
                      <a:pPr algn="ctr" fontAlgn="ctr"/>
                      <a:r>
                        <a:rPr lang="en-US" sz="1200" b="0" i="0" u="none" strike="noStrike" dirty="0">
                          <a:solidFill>
                            <a:srgbClr val="000000"/>
                          </a:solidFill>
                          <a:effectLst/>
                          <a:latin typeface="+mn-lt"/>
                        </a:rPr>
                        <a:t>86.4</a:t>
                      </a:r>
                    </a:p>
                  </a:txBody>
                  <a:tcPr marR="6350" marT="18288" marB="18288" anchor="ctr">
                    <a:solidFill>
                      <a:schemeClr val="bg1">
                        <a:lumMod val="95000"/>
                      </a:schemeClr>
                    </a:solidFill>
                  </a:tcPr>
                </a:tc>
                <a:tc>
                  <a:txBody>
                    <a:bodyPr/>
                    <a:lstStyle/>
                    <a:p>
                      <a:pPr algn="ctr" fontAlgn="ctr"/>
                      <a:r>
                        <a:rPr lang="en-US" sz="1200" b="0" i="0" u="none" strike="noStrike" dirty="0">
                          <a:solidFill>
                            <a:srgbClr val="000000"/>
                          </a:solidFill>
                          <a:effectLst/>
                          <a:latin typeface="+mn-lt"/>
                        </a:rPr>
                        <a:t>97.2</a:t>
                      </a:r>
                    </a:p>
                  </a:txBody>
                  <a:tcPr marR="6350" marT="18288" marB="18288" anchor="ctr">
                    <a:solidFill>
                      <a:schemeClr val="bg1">
                        <a:lumMod val="95000"/>
                      </a:schemeClr>
                    </a:solidFill>
                  </a:tcPr>
                </a:tc>
                <a:tc>
                  <a:txBody>
                    <a:bodyPr/>
                    <a:lstStyle/>
                    <a:p>
                      <a:pPr algn="ctr" fontAlgn="ctr"/>
                      <a:r>
                        <a:rPr lang="en-US" sz="1200" b="0" i="0" u="none" strike="noStrike" dirty="0">
                          <a:solidFill>
                            <a:srgbClr val="000000"/>
                          </a:solidFill>
                          <a:effectLst/>
                          <a:latin typeface="+mn-lt"/>
                        </a:rPr>
                        <a:t>105.0</a:t>
                      </a:r>
                    </a:p>
                  </a:txBody>
                  <a:tcPr marR="6350" marT="18288" marB="18288" anchor="ctr">
                    <a:solidFill>
                      <a:schemeClr val="bg1">
                        <a:lumMod val="95000"/>
                      </a:schemeClr>
                    </a:solidFill>
                  </a:tcPr>
                </a:tc>
                <a:tc>
                  <a:txBody>
                    <a:bodyPr/>
                    <a:lstStyle/>
                    <a:p>
                      <a:pPr algn="ctr" fontAlgn="ctr"/>
                      <a:r>
                        <a:rPr lang="en-US" sz="1200" b="0" i="0" u="none" strike="noStrike" dirty="0">
                          <a:solidFill>
                            <a:srgbClr val="000000"/>
                          </a:solidFill>
                          <a:effectLst/>
                          <a:latin typeface="+mn-lt"/>
                        </a:rPr>
                        <a:t>110.2</a:t>
                      </a:r>
                    </a:p>
                  </a:txBody>
                  <a:tcPr marR="6350" marT="18288" marB="18288" anchor="ctr">
                    <a:solidFill>
                      <a:schemeClr val="bg1">
                        <a:lumMod val="95000"/>
                      </a:schemeClr>
                    </a:solidFill>
                  </a:tcPr>
                </a:tc>
                <a:extLst>
                  <a:ext uri="{0D108BD9-81ED-4DB2-BD59-A6C34878D82A}">
                    <a16:rowId xmlns:a16="http://schemas.microsoft.com/office/drawing/2014/main" val="1627128503"/>
                  </a:ext>
                </a:extLst>
              </a:tr>
              <a:tr h="196220">
                <a:tc>
                  <a:txBody>
                    <a:bodyPr/>
                    <a:lstStyle/>
                    <a:p>
                      <a:pPr algn="l" fontAlgn="b"/>
                      <a:r>
                        <a:rPr lang="en-US" sz="1200" b="1" i="0" u="none" strike="noStrike" dirty="0">
                          <a:solidFill>
                            <a:srgbClr val="000000"/>
                          </a:solidFill>
                          <a:effectLst/>
                          <a:latin typeface="+mn-lt"/>
                        </a:rPr>
                        <a:t>Revenue Growth </a:t>
                      </a:r>
                    </a:p>
                  </a:txBody>
                  <a:tcPr marT="18288" marB="18288" anchor="ctr">
                    <a:solidFill>
                      <a:schemeClr val="bg1">
                        <a:lumMod val="95000"/>
                      </a:schemeClr>
                    </a:solidFill>
                  </a:tcPr>
                </a:tc>
                <a:tc>
                  <a:txBody>
                    <a:bodyPr/>
                    <a:lstStyle/>
                    <a:p>
                      <a:pPr algn="ctr" fontAlgn="b"/>
                      <a:r>
                        <a:rPr lang="en-US" sz="1200" b="1" i="0" u="none" strike="noStrike" dirty="0">
                          <a:solidFill>
                            <a:srgbClr val="000000"/>
                          </a:solidFill>
                          <a:effectLst/>
                          <a:latin typeface="+mn-lt"/>
                        </a:rPr>
                        <a:t>% </a:t>
                      </a:r>
                    </a:p>
                  </a:txBody>
                  <a:tcPr marR="6350" marT="18288" marB="18288" anchor="ctr">
                    <a:solidFill>
                      <a:schemeClr val="bg1">
                        <a:lumMod val="95000"/>
                      </a:schemeClr>
                    </a:solidFill>
                  </a:tcPr>
                </a:tc>
                <a:tc>
                  <a:txBody>
                    <a:bodyPr/>
                    <a:lstStyle/>
                    <a:p>
                      <a:pPr algn="ctr" fontAlgn="b"/>
                      <a:r>
                        <a:rPr lang="en-US" sz="1200" b="1" i="0" u="none" strike="noStrike" dirty="0">
                          <a:solidFill>
                            <a:srgbClr val="000000"/>
                          </a:solidFill>
                          <a:effectLst/>
                          <a:latin typeface="+mn-lt"/>
                        </a:rPr>
                        <a:t>0%</a:t>
                      </a:r>
                    </a:p>
                  </a:txBody>
                  <a:tcPr marR="6350" marT="18288" marB="18288" anchor="ctr">
                    <a:solidFill>
                      <a:schemeClr val="bg1">
                        <a:lumMod val="95000"/>
                      </a:schemeClr>
                    </a:solidFill>
                  </a:tcPr>
                </a:tc>
                <a:tc>
                  <a:txBody>
                    <a:bodyPr/>
                    <a:lstStyle/>
                    <a:p>
                      <a:pPr algn="ctr" fontAlgn="ctr"/>
                      <a:r>
                        <a:rPr lang="en-US" sz="1200" b="1" i="0" u="none" strike="noStrike" dirty="0">
                          <a:solidFill>
                            <a:srgbClr val="000000"/>
                          </a:solidFill>
                          <a:effectLst/>
                          <a:latin typeface="+mn-lt"/>
                        </a:rPr>
                        <a:t>13%</a:t>
                      </a:r>
                    </a:p>
                  </a:txBody>
                  <a:tcPr marR="6350" marT="18288" marB="18288" anchor="ctr">
                    <a:solidFill>
                      <a:schemeClr val="bg1">
                        <a:lumMod val="95000"/>
                      </a:schemeClr>
                    </a:solidFill>
                  </a:tcPr>
                </a:tc>
                <a:tc>
                  <a:txBody>
                    <a:bodyPr/>
                    <a:lstStyle/>
                    <a:p>
                      <a:pPr algn="ctr" fontAlgn="ctr"/>
                      <a:r>
                        <a:rPr lang="en-US" sz="1200" b="1" i="0" u="none" strike="noStrike" dirty="0">
                          <a:solidFill>
                            <a:srgbClr val="000000"/>
                          </a:solidFill>
                          <a:effectLst/>
                          <a:latin typeface="+mn-lt"/>
                        </a:rPr>
                        <a:t>22%</a:t>
                      </a:r>
                    </a:p>
                  </a:txBody>
                  <a:tcPr marR="6350" marT="18288" marB="18288" anchor="ctr">
                    <a:solidFill>
                      <a:schemeClr val="bg1">
                        <a:lumMod val="95000"/>
                      </a:schemeClr>
                    </a:solidFill>
                  </a:tcPr>
                </a:tc>
                <a:tc>
                  <a:txBody>
                    <a:bodyPr/>
                    <a:lstStyle/>
                    <a:p>
                      <a:pPr algn="ctr" fontAlgn="ctr"/>
                      <a:r>
                        <a:rPr lang="en-US" sz="1200" b="1" i="0" u="none" strike="noStrike" dirty="0">
                          <a:solidFill>
                            <a:srgbClr val="000000"/>
                          </a:solidFill>
                          <a:effectLst/>
                          <a:latin typeface="+mn-lt"/>
                        </a:rPr>
                        <a:t>28%</a:t>
                      </a:r>
                    </a:p>
                  </a:txBody>
                  <a:tcPr marR="6350" marT="18288" marB="18288" anchor="ctr">
                    <a:solidFill>
                      <a:schemeClr val="bg1">
                        <a:lumMod val="95000"/>
                      </a:schemeClr>
                    </a:solidFill>
                  </a:tcPr>
                </a:tc>
                <a:extLst>
                  <a:ext uri="{0D108BD9-81ED-4DB2-BD59-A6C34878D82A}">
                    <a16:rowId xmlns:a16="http://schemas.microsoft.com/office/drawing/2014/main" val="4240120201"/>
                  </a:ext>
                </a:extLst>
              </a:tr>
            </a:tbl>
          </a:graphicData>
        </a:graphic>
      </p:graphicFrame>
      <p:sp>
        <p:nvSpPr>
          <p:cNvPr id="11" name="TextBox 10">
            <a:extLst>
              <a:ext uri="{FF2B5EF4-FFF2-40B4-BE49-F238E27FC236}">
                <a16:creationId xmlns:a16="http://schemas.microsoft.com/office/drawing/2014/main" id="{B7E50A33-60C8-421D-A17F-0708127D60BF}"/>
              </a:ext>
            </a:extLst>
          </p:cNvPr>
          <p:cNvSpPr txBox="1"/>
          <p:nvPr/>
        </p:nvSpPr>
        <p:spPr>
          <a:xfrm>
            <a:off x="501651" y="5495619"/>
            <a:ext cx="11407849" cy="1114151"/>
          </a:xfrm>
          <a:prstGeom prst="rect">
            <a:avLst/>
          </a:prstGeom>
          <a:solidFill>
            <a:srgbClr val="0076A8">
              <a:alpha val="30000"/>
            </a:srgbClr>
          </a:solidFill>
        </p:spPr>
        <p:txBody>
          <a:bodyPr wrap="square" lIns="91440" tIns="18288" rIns="91440" bIns="18288" rtlCol="0">
            <a:spAutoFit/>
          </a:bodyPr>
          <a:lstStyle/>
          <a:p>
            <a:pPr marL="285750" indent="-285750">
              <a:spcBef>
                <a:spcPts val="600"/>
              </a:spcBef>
              <a:buSzPct val="100000"/>
              <a:buFont typeface="Wingdings" panose="05000000000000000000" pitchFamily="2" charset="2"/>
              <a:buChar char="q"/>
            </a:pPr>
            <a:r>
              <a:rPr lang="en-US" sz="1200" b="1" dirty="0">
                <a:solidFill>
                  <a:srgbClr val="313131"/>
                </a:solidFill>
              </a:rPr>
              <a:t>Scenario : </a:t>
            </a:r>
            <a:r>
              <a:rPr lang="en-US" sz="1200" dirty="0">
                <a:solidFill>
                  <a:srgbClr val="313131"/>
                </a:solidFill>
              </a:rPr>
              <a:t>Reduction in Peak Hours tariff rate from 10% to 27% will impacts revenue growth from 13% to 28%.  </a:t>
            </a:r>
          </a:p>
          <a:p>
            <a:pPr marL="285750" indent="-285750">
              <a:spcBef>
                <a:spcPts val="600"/>
              </a:spcBef>
              <a:buSzPct val="100000"/>
              <a:buFont typeface="Wingdings" panose="05000000000000000000" pitchFamily="2" charset="2"/>
              <a:buChar char="q"/>
            </a:pPr>
            <a:r>
              <a:rPr lang="en-US" sz="1200" dirty="0">
                <a:solidFill>
                  <a:srgbClr val="313131"/>
                </a:solidFill>
              </a:rPr>
              <a:t>Similar exercise shall be carried out for Normal Hours Rate and Off- Peak Hours Rate.</a:t>
            </a:r>
          </a:p>
          <a:p>
            <a:pPr marL="285750" indent="-285750">
              <a:spcBef>
                <a:spcPts val="600"/>
              </a:spcBef>
              <a:buSzPct val="100000"/>
              <a:buFont typeface="Wingdings" panose="05000000000000000000" pitchFamily="2" charset="2"/>
              <a:buChar char="q"/>
            </a:pPr>
            <a:r>
              <a:rPr lang="en-US" sz="1200" b="1" dirty="0">
                <a:solidFill>
                  <a:srgbClr val="313131"/>
                </a:solidFill>
              </a:rPr>
              <a:t>Detailed Analysis need to be conducted using statistical modelling through assessment of Production growth, Consumption Pattern, preferential industrial segments, willingness and affordability of consumers. Additionally, State Industrial Policy and Government initiative for any additional measures for incentivization of industrial consumers in West Bengal to be considered.</a:t>
            </a:r>
          </a:p>
        </p:txBody>
      </p:sp>
    </p:spTree>
    <p:extLst>
      <p:ext uri="{BB962C8B-B14F-4D97-AF65-F5344CB8AC3E}">
        <p14:creationId xmlns:p14="http://schemas.microsoft.com/office/powerpoint/2010/main" val="2924439162"/>
      </p:ext>
    </p:extLst>
  </p:cSld>
  <p:clrMapOvr>
    <a:masterClrMapping/>
  </p:clrMapOvr>
  <p:transition>
    <p:fade/>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3780"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5" y="1631651"/>
            <a:ext cx="9630230" cy="430887"/>
          </a:xfrm>
        </p:spPr>
        <p:txBody>
          <a:bodyPr anchor="ctr" anchorCtr="0">
            <a:spAutoFit/>
          </a:bodyPr>
          <a:lstStyle/>
          <a:p>
            <a:r>
              <a:rPr lang="en-US" sz="2800" i="0" dirty="0">
                <a:solidFill>
                  <a:schemeClr val="tx1"/>
                </a:solidFill>
              </a:rPr>
              <a:t>Way Forward</a:t>
            </a: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367990" y="1523711"/>
            <a:ext cx="717291" cy="646768"/>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lang="en-US" b="1" kern="0" dirty="0">
                <a:solidFill>
                  <a:prstClr val="white"/>
                </a:solidFill>
              </a:rPr>
              <a:t>9</a:t>
            </a:r>
            <a:endParaRPr kumimoji="0" lang="en-IN"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269489387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02F641-FAA0-4647-BB71-2A929E824A77}"/>
              </a:ext>
            </a:extLst>
          </p:cNvPr>
          <p:cNvSpPr>
            <a:spLocks noGrp="1"/>
          </p:cNvSpPr>
          <p:nvPr>
            <p:ph type="title"/>
          </p:nvPr>
        </p:nvSpPr>
        <p:spPr/>
        <p:txBody>
          <a:bodyPr/>
          <a:lstStyle/>
          <a:p>
            <a:pPr marL="0" marR="0">
              <a:lnSpc>
                <a:spcPct val="107000"/>
              </a:lnSpc>
              <a:spcBef>
                <a:spcPts val="0"/>
              </a:spcBef>
              <a:spcAft>
                <a:spcPts val="800"/>
              </a:spcAft>
            </a:pPr>
            <a:r>
              <a:rPr lang="en-US" sz="1800" b="1" dirty="0">
                <a:effectLst/>
                <a:latin typeface="Verdana" panose="020B0604030504040204" pitchFamily="34" charset="0"/>
                <a:ea typeface="Verdana" panose="020B0604030504040204" pitchFamily="34" charset="0"/>
                <a:cs typeface="Times New Roman" panose="02020603050405020304" pitchFamily="18" charset="0"/>
              </a:rPr>
              <a:t>Requirement of Project Monitoring Unit for Department of Power, West Bengal</a:t>
            </a:r>
            <a:endParaRPr lang="en-US" sz="1800" b="1" dirty="0">
              <a:solidFill>
                <a:srgbClr val="FF0000"/>
              </a:solidFill>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D52CA0C1-7181-4FF4-8613-9AFC20970BA1}"/>
              </a:ext>
            </a:extLst>
          </p:cNvPr>
          <p:cNvSpPr/>
          <p:nvPr/>
        </p:nvSpPr>
        <p:spPr bwMode="gray">
          <a:xfrm>
            <a:off x="576943" y="1023257"/>
            <a:ext cx="10994571" cy="1654629"/>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285750" indent="-285750">
              <a:lnSpc>
                <a:spcPct val="106000"/>
              </a:lnSpc>
              <a:buFont typeface="Wingdings" panose="05000000000000000000" pitchFamily="2" charset="2"/>
              <a:buChar char="Ø"/>
            </a:pPr>
            <a:r>
              <a:rPr lang="en-US" sz="1400" b="1" dirty="0"/>
              <a:t>Establishment of Project Monitoring Unit (PMU) for better implementation of schemes</a:t>
            </a:r>
          </a:p>
          <a:p>
            <a:pPr marL="742921" lvl="1" indent="-285750">
              <a:lnSpc>
                <a:spcPct val="106000"/>
              </a:lnSpc>
              <a:buFont typeface="Courier New" panose="02070309020205020404" pitchFamily="49" charset="0"/>
              <a:buChar char="o"/>
            </a:pPr>
            <a:r>
              <a:rPr lang="en-US" sz="1400" i="1" dirty="0"/>
              <a:t>Monitoring corporate governance</a:t>
            </a:r>
          </a:p>
          <a:p>
            <a:pPr marL="742921" lvl="1" indent="-285750">
              <a:lnSpc>
                <a:spcPct val="106000"/>
              </a:lnSpc>
              <a:buFont typeface="Courier New" panose="02070309020205020404" pitchFamily="49" charset="0"/>
              <a:buChar char="o"/>
            </a:pPr>
            <a:r>
              <a:rPr lang="en-US" sz="1400" i="1" dirty="0"/>
              <a:t>Proper phasing of project costs and implementation schedule through past experience</a:t>
            </a:r>
          </a:p>
          <a:p>
            <a:pPr marL="742921" lvl="1" indent="-285750">
              <a:lnSpc>
                <a:spcPct val="106000"/>
              </a:lnSpc>
              <a:buFont typeface="Courier New" panose="02070309020205020404" pitchFamily="49" charset="0"/>
              <a:buChar char="o"/>
            </a:pPr>
            <a:r>
              <a:rPr lang="en-US" sz="1400" i="1" dirty="0"/>
              <a:t>PMU monitoring would help in aligning progress of work with amount of funds disbursed and would further help in proper utilization of funds and further would result in reduction of IDC cost</a:t>
            </a:r>
          </a:p>
        </p:txBody>
      </p:sp>
      <p:sp>
        <p:nvSpPr>
          <p:cNvPr id="8" name="Rectangle 7">
            <a:extLst>
              <a:ext uri="{FF2B5EF4-FFF2-40B4-BE49-F238E27FC236}">
                <a16:creationId xmlns:a16="http://schemas.microsoft.com/office/drawing/2014/main" id="{5F1E6E5D-346A-451D-9462-FD98D6C6540A}"/>
              </a:ext>
            </a:extLst>
          </p:cNvPr>
          <p:cNvSpPr/>
          <p:nvPr/>
        </p:nvSpPr>
        <p:spPr bwMode="gray">
          <a:xfrm>
            <a:off x="576943" y="3145971"/>
            <a:ext cx="10994571" cy="2688772"/>
          </a:xfrm>
          <a:prstGeom prst="rect">
            <a:avLst/>
          </a:prstGeom>
          <a:solidFill>
            <a:schemeClr val="accent2">
              <a:lumMod val="40000"/>
              <a:lumOff val="60000"/>
            </a:schemeClr>
          </a:solidFill>
          <a:ln w="19050" algn="ctr">
            <a:noFill/>
            <a:miter lim="800000"/>
            <a:headEnd/>
            <a:tailEnd/>
          </a:ln>
        </p:spPr>
        <p:txBody>
          <a:bodyPr wrap="square" lIns="88900" tIns="88900" rIns="88900" bIns="88900" rtlCol="0" anchor="ctr"/>
          <a:lstStyle/>
          <a:p>
            <a:pPr marL="285750" indent="-285750">
              <a:lnSpc>
                <a:spcPct val="106000"/>
              </a:lnSpc>
              <a:buFont typeface="Wingdings" panose="05000000000000000000" pitchFamily="2" charset="2"/>
              <a:buChar char="Ø"/>
            </a:pPr>
            <a:r>
              <a:rPr lang="en-US" sz="1400" b="1" dirty="0"/>
              <a:t>Adopting convergence schemes for implementation of separate individual schemes which would result in optimal outcome for the implementation of all the sub-schemes</a:t>
            </a:r>
          </a:p>
          <a:p>
            <a:pPr marL="742921" lvl="1" indent="-285750">
              <a:lnSpc>
                <a:spcPct val="106000"/>
              </a:lnSpc>
              <a:buFont typeface="Courier New" panose="02070309020205020404" pitchFamily="49" charset="0"/>
              <a:buChar char="o"/>
            </a:pPr>
            <a:r>
              <a:rPr lang="en-US" sz="1400" i="1" dirty="0"/>
              <a:t>Central and State schemes can be merged to prepare a convergence scheme which fulfills the purpose for all state departments concerned</a:t>
            </a:r>
          </a:p>
          <a:p>
            <a:pPr marL="742921" lvl="1" indent="-285750">
              <a:lnSpc>
                <a:spcPct val="106000"/>
              </a:lnSpc>
              <a:buFont typeface="Courier New" panose="02070309020205020404" pitchFamily="49" charset="0"/>
              <a:buChar char="o"/>
            </a:pPr>
            <a:r>
              <a:rPr lang="en-US" sz="1400" i="1" dirty="0"/>
              <a:t>This can ensure optimal utilization of pooled funds with PMU in place for proper project monitoring</a:t>
            </a:r>
          </a:p>
          <a:p>
            <a:pPr marL="742921" lvl="1" indent="-285750">
              <a:lnSpc>
                <a:spcPct val="106000"/>
              </a:lnSpc>
              <a:buFont typeface="Courier New" panose="02070309020205020404" pitchFamily="49" charset="0"/>
              <a:buChar char="o"/>
            </a:pPr>
            <a:r>
              <a:rPr lang="en-US" sz="1400" i="1" dirty="0"/>
              <a:t>With respect to </a:t>
            </a:r>
            <a:r>
              <a:rPr lang="en-US" sz="1400" i="1" dirty="0" err="1"/>
              <a:t>agri</a:t>
            </a:r>
            <a:r>
              <a:rPr lang="en-US" sz="1400" i="1" dirty="0"/>
              <a:t>-solarization, PM-KUSUM (Part C), REAPS, RIDF can be clubbed to a composite and convergent scheme</a:t>
            </a:r>
          </a:p>
          <a:p>
            <a:pPr marL="742921" lvl="1" indent="-285750">
              <a:lnSpc>
                <a:spcPct val="106000"/>
              </a:lnSpc>
              <a:buFont typeface="Courier New" panose="02070309020205020404" pitchFamily="49" charset="0"/>
              <a:buChar char="o"/>
            </a:pPr>
            <a:r>
              <a:rPr lang="en-US" sz="1400" i="1" dirty="0"/>
              <a:t>Department of Power may become the nodal agency for this convergent scheme, upon consensus</a:t>
            </a:r>
          </a:p>
          <a:p>
            <a:pPr marL="742921" lvl="1" indent="-285750">
              <a:lnSpc>
                <a:spcPct val="106000"/>
              </a:lnSpc>
              <a:buFont typeface="Courier New" panose="02070309020205020404" pitchFamily="49" charset="0"/>
              <a:buChar char="o"/>
            </a:pPr>
            <a:r>
              <a:rPr lang="en-US" sz="1400" i="1" dirty="0"/>
              <a:t>Solarization of agricultural/irrigation pumps and sale of excess energy (if any) can be achieved leading to decrease in subsidy requirement</a:t>
            </a:r>
          </a:p>
        </p:txBody>
      </p:sp>
    </p:spTree>
    <p:extLst>
      <p:ext uri="{BB962C8B-B14F-4D97-AF65-F5344CB8AC3E}">
        <p14:creationId xmlns:p14="http://schemas.microsoft.com/office/powerpoint/2010/main" val="3458834090"/>
      </p:ext>
    </p:extLst>
  </p:cSld>
  <p:clrMapOvr>
    <a:masterClrMapping/>
  </p:clrMapOvr>
  <p:transition>
    <p:fade/>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itle 3"/>
          <p:cNvSpPr>
            <a:spLocks noGrp="1"/>
          </p:cNvSpPr>
          <p:nvPr>
            <p:ph type="title"/>
          </p:nvPr>
        </p:nvSpPr>
        <p:spPr>
          <a:xfrm>
            <a:off x="324000" y="96336"/>
            <a:ext cx="11252200" cy="334102"/>
          </a:xfrm>
        </p:spPr>
        <p:txBody>
          <a:bodyPr vert="horz" lIns="0" tIns="0" rIns="0" bIns="0" rtlCol="0" anchor="t" anchorCtr="0">
            <a:noAutofit/>
          </a:bodyPr>
          <a:lstStyle/>
          <a:p>
            <a:r>
              <a:rPr lang="en-US" b="1" dirty="0"/>
              <a:t>Overview of Smart Project Monitoring Office</a:t>
            </a:r>
          </a:p>
        </p:txBody>
      </p:sp>
      <p:sp>
        <p:nvSpPr>
          <p:cNvPr id="179" name="Rounded Rectangle 178"/>
          <p:cNvSpPr/>
          <p:nvPr/>
        </p:nvSpPr>
        <p:spPr bwMode="gray">
          <a:xfrm>
            <a:off x="365203" y="700284"/>
            <a:ext cx="11512424" cy="628617"/>
          </a:xfrm>
          <a:prstGeom prst="roundRect">
            <a:avLst/>
          </a:prstGeom>
          <a:solidFill>
            <a:schemeClr val="tx1">
              <a:lumMod val="75000"/>
              <a:lumOff val="25000"/>
            </a:schemeClr>
          </a:solidFill>
          <a:ln>
            <a:headEnd/>
            <a:tailEnd/>
          </a:ln>
        </p:spPr>
        <p:style>
          <a:lnRef idx="3">
            <a:schemeClr val="lt1"/>
          </a:lnRef>
          <a:fillRef idx="1">
            <a:schemeClr val="dk1"/>
          </a:fillRef>
          <a:effectRef idx="1">
            <a:schemeClr val="dk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80" name="Rectangle 179"/>
          <p:cNvSpPr/>
          <p:nvPr/>
        </p:nvSpPr>
        <p:spPr>
          <a:xfrm>
            <a:off x="1105741" y="723883"/>
            <a:ext cx="10688759" cy="859466"/>
          </a:xfrm>
          <a:prstGeom prst="rect">
            <a:avLst/>
          </a:prstGeom>
        </p:spPr>
        <p:txBody>
          <a:bodyPr wrap="square">
            <a:spAutoFit/>
          </a:bodyPr>
          <a:lstStyle/>
          <a:p>
            <a:pPr>
              <a:lnSpc>
                <a:spcPct val="107000"/>
              </a:lnSpc>
              <a:spcAft>
                <a:spcPts val="800"/>
              </a:spcAft>
            </a:pPr>
            <a:r>
              <a:rPr lang="en-US" sz="1600" dirty="0">
                <a:solidFill>
                  <a:schemeClr val="bg1"/>
                </a:solidFill>
                <a:latin typeface="+mj-lt"/>
                <a:ea typeface="Calibri" panose="020F0502020204030204" pitchFamily="34" charset="0"/>
                <a:cs typeface="Times New Roman" panose="02020603050405020304" pitchFamily="18" charset="0"/>
              </a:rPr>
              <a:t>SMART Project Monitoring Office (PMO) will help, maintain, control smooth operation of State Govt. financed/ subsidized projects through a holistic framework enabled by technology, process &amp; people alignment</a:t>
            </a:r>
            <a:endParaRPr lang="en-IN" sz="1600" dirty="0">
              <a:solidFill>
                <a:schemeClr val="bg1"/>
              </a:solidFill>
              <a:latin typeface="+mj-lt"/>
              <a:ea typeface="Calibri" panose="020F0502020204030204" pitchFamily="34" charset="0"/>
              <a:cs typeface="Times New Roman" panose="02020603050405020304" pitchFamily="18" charset="0"/>
            </a:endParaRPr>
          </a:p>
        </p:txBody>
      </p:sp>
      <p:grpSp>
        <p:nvGrpSpPr>
          <p:cNvPr id="181" name="Group 180"/>
          <p:cNvGrpSpPr/>
          <p:nvPr/>
        </p:nvGrpSpPr>
        <p:grpSpPr>
          <a:xfrm>
            <a:off x="529929" y="815662"/>
            <a:ext cx="511472" cy="388894"/>
            <a:chOff x="4914861" y="4095581"/>
            <a:chExt cx="726891" cy="510110"/>
          </a:xfrm>
          <a:solidFill>
            <a:schemeClr val="bg1"/>
          </a:solidFill>
        </p:grpSpPr>
        <p:sp>
          <p:nvSpPr>
            <p:cNvPr id="182" name="Rectangle 268"/>
            <p:cNvSpPr>
              <a:spLocks noChangeArrowheads="1"/>
            </p:cNvSpPr>
            <p:nvPr/>
          </p:nvSpPr>
          <p:spPr bwMode="auto">
            <a:xfrm>
              <a:off x="5430760" y="4315579"/>
              <a:ext cx="79122" cy="1138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Rectangle 269"/>
            <p:cNvSpPr>
              <a:spLocks noChangeArrowheads="1"/>
            </p:cNvSpPr>
            <p:nvPr/>
          </p:nvSpPr>
          <p:spPr bwMode="auto">
            <a:xfrm>
              <a:off x="5527893" y="4315579"/>
              <a:ext cx="79122" cy="1138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270"/>
            <p:cNvSpPr>
              <a:spLocks/>
            </p:cNvSpPr>
            <p:nvPr/>
          </p:nvSpPr>
          <p:spPr bwMode="auto">
            <a:xfrm>
              <a:off x="5430760" y="4453238"/>
              <a:ext cx="176255" cy="14795"/>
            </a:xfrm>
            <a:custGeom>
              <a:avLst/>
              <a:gdLst>
                <a:gd name="T0" fmla="*/ 57 w 60"/>
                <a:gd name="T1" fmla="*/ 5 h 5"/>
                <a:gd name="T2" fmla="*/ 3 w 60"/>
                <a:gd name="T3" fmla="*/ 5 h 5"/>
                <a:gd name="T4" fmla="*/ 0 w 60"/>
                <a:gd name="T5" fmla="*/ 2 h 5"/>
                <a:gd name="T6" fmla="*/ 3 w 60"/>
                <a:gd name="T7" fmla="*/ 0 h 5"/>
                <a:gd name="T8" fmla="*/ 57 w 60"/>
                <a:gd name="T9" fmla="*/ 0 h 5"/>
                <a:gd name="T10" fmla="*/ 60 w 60"/>
                <a:gd name="T11" fmla="*/ 2 h 5"/>
                <a:gd name="T12" fmla="*/ 57 w 60"/>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60" h="5">
                  <a:moveTo>
                    <a:pt x="57" y="5"/>
                  </a:moveTo>
                  <a:cubicBezTo>
                    <a:pt x="3" y="5"/>
                    <a:pt x="3" y="5"/>
                    <a:pt x="3" y="5"/>
                  </a:cubicBezTo>
                  <a:cubicBezTo>
                    <a:pt x="1" y="5"/>
                    <a:pt x="0" y="4"/>
                    <a:pt x="0" y="2"/>
                  </a:cubicBezTo>
                  <a:cubicBezTo>
                    <a:pt x="0" y="1"/>
                    <a:pt x="1" y="0"/>
                    <a:pt x="3" y="0"/>
                  </a:cubicBezTo>
                  <a:cubicBezTo>
                    <a:pt x="57" y="0"/>
                    <a:pt x="57" y="0"/>
                    <a:pt x="57" y="0"/>
                  </a:cubicBezTo>
                  <a:cubicBezTo>
                    <a:pt x="59" y="0"/>
                    <a:pt x="60" y="1"/>
                    <a:pt x="60" y="2"/>
                  </a:cubicBezTo>
                  <a:cubicBezTo>
                    <a:pt x="60" y="4"/>
                    <a:pt x="59" y="5"/>
                    <a:pt x="5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271"/>
            <p:cNvSpPr>
              <a:spLocks/>
            </p:cNvSpPr>
            <p:nvPr/>
          </p:nvSpPr>
          <p:spPr bwMode="auto">
            <a:xfrm>
              <a:off x="4947024" y="4508558"/>
              <a:ext cx="84911" cy="14795"/>
            </a:xfrm>
            <a:custGeom>
              <a:avLst/>
              <a:gdLst>
                <a:gd name="T0" fmla="*/ 27 w 29"/>
                <a:gd name="T1" fmla="*/ 5 h 5"/>
                <a:gd name="T2" fmla="*/ 2 w 29"/>
                <a:gd name="T3" fmla="*/ 5 h 5"/>
                <a:gd name="T4" fmla="*/ 0 w 29"/>
                <a:gd name="T5" fmla="*/ 3 h 5"/>
                <a:gd name="T6" fmla="*/ 2 w 29"/>
                <a:gd name="T7" fmla="*/ 0 h 5"/>
                <a:gd name="T8" fmla="*/ 27 w 29"/>
                <a:gd name="T9" fmla="*/ 0 h 5"/>
                <a:gd name="T10" fmla="*/ 29 w 29"/>
                <a:gd name="T11" fmla="*/ 3 h 5"/>
                <a:gd name="T12" fmla="*/ 27 w 29"/>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29" h="5">
                  <a:moveTo>
                    <a:pt x="27" y="5"/>
                  </a:moveTo>
                  <a:cubicBezTo>
                    <a:pt x="2" y="5"/>
                    <a:pt x="2" y="5"/>
                    <a:pt x="2" y="5"/>
                  </a:cubicBezTo>
                  <a:cubicBezTo>
                    <a:pt x="1" y="5"/>
                    <a:pt x="0" y="4"/>
                    <a:pt x="0" y="3"/>
                  </a:cubicBezTo>
                  <a:cubicBezTo>
                    <a:pt x="0" y="1"/>
                    <a:pt x="1" y="0"/>
                    <a:pt x="2" y="0"/>
                  </a:cubicBezTo>
                  <a:cubicBezTo>
                    <a:pt x="27" y="0"/>
                    <a:pt x="27" y="0"/>
                    <a:pt x="27" y="0"/>
                  </a:cubicBezTo>
                  <a:cubicBezTo>
                    <a:pt x="28" y="0"/>
                    <a:pt x="29" y="1"/>
                    <a:pt x="29" y="3"/>
                  </a:cubicBezTo>
                  <a:cubicBezTo>
                    <a:pt x="29" y="4"/>
                    <a:pt x="28" y="5"/>
                    <a:pt x="2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272"/>
            <p:cNvSpPr>
              <a:spLocks/>
            </p:cNvSpPr>
            <p:nvPr/>
          </p:nvSpPr>
          <p:spPr bwMode="auto">
            <a:xfrm>
              <a:off x="5430760" y="4487974"/>
              <a:ext cx="176255" cy="14795"/>
            </a:xfrm>
            <a:custGeom>
              <a:avLst/>
              <a:gdLst>
                <a:gd name="T0" fmla="*/ 57 w 60"/>
                <a:gd name="T1" fmla="*/ 5 h 5"/>
                <a:gd name="T2" fmla="*/ 3 w 60"/>
                <a:gd name="T3" fmla="*/ 5 h 5"/>
                <a:gd name="T4" fmla="*/ 0 w 60"/>
                <a:gd name="T5" fmla="*/ 2 h 5"/>
                <a:gd name="T6" fmla="*/ 3 w 60"/>
                <a:gd name="T7" fmla="*/ 0 h 5"/>
                <a:gd name="T8" fmla="*/ 57 w 60"/>
                <a:gd name="T9" fmla="*/ 0 h 5"/>
                <a:gd name="T10" fmla="*/ 60 w 60"/>
                <a:gd name="T11" fmla="*/ 2 h 5"/>
                <a:gd name="T12" fmla="*/ 57 w 60"/>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60" h="5">
                  <a:moveTo>
                    <a:pt x="57" y="5"/>
                  </a:moveTo>
                  <a:cubicBezTo>
                    <a:pt x="3" y="5"/>
                    <a:pt x="3" y="5"/>
                    <a:pt x="3" y="5"/>
                  </a:cubicBezTo>
                  <a:cubicBezTo>
                    <a:pt x="1" y="5"/>
                    <a:pt x="0" y="4"/>
                    <a:pt x="0" y="2"/>
                  </a:cubicBezTo>
                  <a:cubicBezTo>
                    <a:pt x="0" y="1"/>
                    <a:pt x="1" y="0"/>
                    <a:pt x="3" y="0"/>
                  </a:cubicBezTo>
                  <a:cubicBezTo>
                    <a:pt x="57" y="0"/>
                    <a:pt x="57" y="0"/>
                    <a:pt x="57" y="0"/>
                  </a:cubicBezTo>
                  <a:cubicBezTo>
                    <a:pt x="59" y="0"/>
                    <a:pt x="60" y="1"/>
                    <a:pt x="60" y="2"/>
                  </a:cubicBezTo>
                  <a:cubicBezTo>
                    <a:pt x="60" y="4"/>
                    <a:pt x="59" y="5"/>
                    <a:pt x="5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273"/>
            <p:cNvSpPr>
              <a:spLocks noEditPoints="1"/>
            </p:cNvSpPr>
            <p:nvPr/>
          </p:nvSpPr>
          <p:spPr bwMode="auto">
            <a:xfrm>
              <a:off x="5395381" y="4259614"/>
              <a:ext cx="246371" cy="304908"/>
            </a:xfrm>
            <a:custGeom>
              <a:avLst/>
              <a:gdLst>
                <a:gd name="T0" fmla="*/ 73 w 84"/>
                <a:gd name="T1" fmla="*/ 0 h 104"/>
                <a:gd name="T2" fmla="*/ 11 w 84"/>
                <a:gd name="T3" fmla="*/ 0 h 104"/>
                <a:gd name="T4" fmla="*/ 0 w 84"/>
                <a:gd name="T5" fmla="*/ 11 h 104"/>
                <a:gd name="T6" fmla="*/ 0 w 84"/>
                <a:gd name="T7" fmla="*/ 92 h 104"/>
                <a:gd name="T8" fmla="*/ 11 w 84"/>
                <a:gd name="T9" fmla="*/ 104 h 104"/>
                <a:gd name="T10" fmla="*/ 73 w 84"/>
                <a:gd name="T11" fmla="*/ 104 h 104"/>
                <a:gd name="T12" fmla="*/ 84 w 84"/>
                <a:gd name="T13" fmla="*/ 92 h 104"/>
                <a:gd name="T14" fmla="*/ 84 w 84"/>
                <a:gd name="T15" fmla="*/ 11 h 104"/>
                <a:gd name="T16" fmla="*/ 73 w 84"/>
                <a:gd name="T17" fmla="*/ 0 h 104"/>
                <a:gd name="T18" fmla="*/ 77 w 84"/>
                <a:gd name="T19" fmla="*/ 90 h 104"/>
                <a:gd name="T20" fmla="*/ 7 w 84"/>
                <a:gd name="T21" fmla="*/ 90 h 104"/>
                <a:gd name="T22" fmla="*/ 7 w 84"/>
                <a:gd name="T23" fmla="*/ 13 h 104"/>
                <a:gd name="T24" fmla="*/ 77 w 84"/>
                <a:gd name="T25" fmla="*/ 13 h 104"/>
                <a:gd name="T26" fmla="*/ 77 w 84"/>
                <a:gd name="T27" fmla="*/ 9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104">
                  <a:moveTo>
                    <a:pt x="73" y="0"/>
                  </a:moveTo>
                  <a:cubicBezTo>
                    <a:pt x="11" y="0"/>
                    <a:pt x="11" y="0"/>
                    <a:pt x="11" y="0"/>
                  </a:cubicBezTo>
                  <a:cubicBezTo>
                    <a:pt x="5" y="0"/>
                    <a:pt x="0" y="5"/>
                    <a:pt x="0" y="11"/>
                  </a:cubicBezTo>
                  <a:cubicBezTo>
                    <a:pt x="0" y="92"/>
                    <a:pt x="0" y="92"/>
                    <a:pt x="0" y="92"/>
                  </a:cubicBezTo>
                  <a:cubicBezTo>
                    <a:pt x="0" y="99"/>
                    <a:pt x="5" y="104"/>
                    <a:pt x="11" y="104"/>
                  </a:cubicBezTo>
                  <a:cubicBezTo>
                    <a:pt x="73" y="104"/>
                    <a:pt x="73" y="104"/>
                    <a:pt x="73" y="104"/>
                  </a:cubicBezTo>
                  <a:cubicBezTo>
                    <a:pt x="79" y="104"/>
                    <a:pt x="84" y="99"/>
                    <a:pt x="84" y="92"/>
                  </a:cubicBezTo>
                  <a:cubicBezTo>
                    <a:pt x="84" y="11"/>
                    <a:pt x="84" y="11"/>
                    <a:pt x="84" y="11"/>
                  </a:cubicBezTo>
                  <a:cubicBezTo>
                    <a:pt x="84" y="5"/>
                    <a:pt x="79" y="0"/>
                    <a:pt x="73" y="0"/>
                  </a:cubicBezTo>
                  <a:close/>
                  <a:moveTo>
                    <a:pt x="77" y="90"/>
                  </a:moveTo>
                  <a:cubicBezTo>
                    <a:pt x="7" y="90"/>
                    <a:pt x="7" y="90"/>
                    <a:pt x="7" y="90"/>
                  </a:cubicBezTo>
                  <a:cubicBezTo>
                    <a:pt x="7" y="13"/>
                    <a:pt x="7" y="13"/>
                    <a:pt x="7" y="13"/>
                  </a:cubicBezTo>
                  <a:cubicBezTo>
                    <a:pt x="77" y="13"/>
                    <a:pt x="77" y="13"/>
                    <a:pt x="77" y="13"/>
                  </a:cubicBezTo>
                  <a:lnTo>
                    <a:pt x="77"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9" name="Freeform 274"/>
            <p:cNvSpPr>
              <a:spLocks noEditPoints="1"/>
            </p:cNvSpPr>
            <p:nvPr/>
          </p:nvSpPr>
          <p:spPr bwMode="auto">
            <a:xfrm>
              <a:off x="4959246" y="4095581"/>
              <a:ext cx="606600" cy="510110"/>
            </a:xfrm>
            <a:custGeom>
              <a:avLst/>
              <a:gdLst>
                <a:gd name="T0" fmla="*/ 141 w 207"/>
                <a:gd name="T1" fmla="*/ 164 h 174"/>
                <a:gd name="T2" fmla="*/ 65 w 207"/>
                <a:gd name="T3" fmla="*/ 164 h 174"/>
                <a:gd name="T4" fmla="*/ 61 w 207"/>
                <a:gd name="T5" fmla="*/ 169 h 174"/>
                <a:gd name="T6" fmla="*/ 65 w 207"/>
                <a:gd name="T7" fmla="*/ 174 h 174"/>
                <a:gd name="T8" fmla="*/ 141 w 207"/>
                <a:gd name="T9" fmla="*/ 174 h 174"/>
                <a:gd name="T10" fmla="*/ 146 w 207"/>
                <a:gd name="T11" fmla="*/ 169 h 174"/>
                <a:gd name="T12" fmla="*/ 141 w 207"/>
                <a:gd name="T13" fmla="*/ 164 h 174"/>
                <a:gd name="T14" fmla="*/ 84 w 207"/>
                <a:gd name="T15" fmla="*/ 140 h 174"/>
                <a:gd name="T16" fmla="*/ 81 w 207"/>
                <a:gd name="T17" fmla="*/ 143 h 174"/>
                <a:gd name="T18" fmla="*/ 81 w 207"/>
                <a:gd name="T19" fmla="*/ 153 h 174"/>
                <a:gd name="T20" fmla="*/ 84 w 207"/>
                <a:gd name="T21" fmla="*/ 157 h 174"/>
                <a:gd name="T22" fmla="*/ 122 w 207"/>
                <a:gd name="T23" fmla="*/ 157 h 174"/>
                <a:gd name="T24" fmla="*/ 126 w 207"/>
                <a:gd name="T25" fmla="*/ 153 h 174"/>
                <a:gd name="T26" fmla="*/ 126 w 207"/>
                <a:gd name="T27" fmla="*/ 143 h 174"/>
                <a:gd name="T28" fmla="*/ 122 w 207"/>
                <a:gd name="T29" fmla="*/ 140 h 174"/>
                <a:gd name="T30" fmla="*/ 119 w 207"/>
                <a:gd name="T31" fmla="*/ 143 h 174"/>
                <a:gd name="T32" fmla="*/ 119 w 207"/>
                <a:gd name="T33" fmla="*/ 150 h 174"/>
                <a:gd name="T34" fmla="*/ 88 w 207"/>
                <a:gd name="T35" fmla="*/ 150 h 174"/>
                <a:gd name="T36" fmla="*/ 88 w 207"/>
                <a:gd name="T37" fmla="*/ 143 h 174"/>
                <a:gd name="T38" fmla="*/ 84 w 207"/>
                <a:gd name="T39" fmla="*/ 140 h 174"/>
                <a:gd name="T40" fmla="*/ 202 w 207"/>
                <a:gd name="T41" fmla="*/ 0 h 174"/>
                <a:gd name="T42" fmla="*/ 5 w 207"/>
                <a:gd name="T43" fmla="*/ 0 h 174"/>
                <a:gd name="T44" fmla="*/ 0 w 207"/>
                <a:gd name="T45" fmla="*/ 5 h 174"/>
                <a:gd name="T46" fmla="*/ 0 w 207"/>
                <a:gd name="T47" fmla="*/ 71 h 174"/>
                <a:gd name="T48" fmla="*/ 10 w 207"/>
                <a:gd name="T49" fmla="*/ 71 h 174"/>
                <a:gd name="T50" fmla="*/ 10 w 207"/>
                <a:gd name="T51" fmla="*/ 10 h 174"/>
                <a:gd name="T52" fmla="*/ 197 w 207"/>
                <a:gd name="T53" fmla="*/ 10 h 174"/>
                <a:gd name="T54" fmla="*/ 197 w 207"/>
                <a:gd name="T55" fmla="*/ 48 h 174"/>
                <a:gd name="T56" fmla="*/ 207 w 207"/>
                <a:gd name="T57" fmla="*/ 48 h 174"/>
                <a:gd name="T58" fmla="*/ 207 w 207"/>
                <a:gd name="T59" fmla="*/ 5 h 174"/>
                <a:gd name="T60" fmla="*/ 202 w 207"/>
                <a:gd name="T61" fmla="*/ 0 h 174"/>
                <a:gd name="T62" fmla="*/ 142 w 207"/>
                <a:gd name="T63" fmla="*/ 123 h 174"/>
                <a:gd name="T64" fmla="*/ 43 w 207"/>
                <a:gd name="T65" fmla="*/ 123 h 174"/>
                <a:gd name="T66" fmla="*/ 43 w 207"/>
                <a:gd name="T67" fmla="*/ 133 h 174"/>
                <a:gd name="T68" fmla="*/ 142 w 207"/>
                <a:gd name="T69" fmla="*/ 133 h 174"/>
                <a:gd name="T70" fmla="*/ 142 w 207"/>
                <a:gd name="T71" fmla="*/ 123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7" h="174">
                  <a:moveTo>
                    <a:pt x="141" y="164"/>
                  </a:moveTo>
                  <a:cubicBezTo>
                    <a:pt x="65" y="164"/>
                    <a:pt x="65" y="164"/>
                    <a:pt x="65" y="164"/>
                  </a:cubicBezTo>
                  <a:cubicBezTo>
                    <a:pt x="63" y="164"/>
                    <a:pt x="61" y="167"/>
                    <a:pt x="61" y="169"/>
                  </a:cubicBezTo>
                  <a:cubicBezTo>
                    <a:pt x="61" y="172"/>
                    <a:pt x="63" y="174"/>
                    <a:pt x="65" y="174"/>
                  </a:cubicBezTo>
                  <a:cubicBezTo>
                    <a:pt x="141" y="174"/>
                    <a:pt x="141" y="174"/>
                    <a:pt x="141" y="174"/>
                  </a:cubicBezTo>
                  <a:cubicBezTo>
                    <a:pt x="144" y="174"/>
                    <a:pt x="146" y="172"/>
                    <a:pt x="146" y="169"/>
                  </a:cubicBezTo>
                  <a:cubicBezTo>
                    <a:pt x="146" y="167"/>
                    <a:pt x="144" y="164"/>
                    <a:pt x="141" y="164"/>
                  </a:cubicBezTo>
                  <a:close/>
                  <a:moveTo>
                    <a:pt x="84" y="140"/>
                  </a:moveTo>
                  <a:cubicBezTo>
                    <a:pt x="82" y="140"/>
                    <a:pt x="81" y="141"/>
                    <a:pt x="81" y="143"/>
                  </a:cubicBezTo>
                  <a:cubicBezTo>
                    <a:pt x="81" y="153"/>
                    <a:pt x="81" y="153"/>
                    <a:pt x="81" y="153"/>
                  </a:cubicBezTo>
                  <a:cubicBezTo>
                    <a:pt x="81" y="155"/>
                    <a:pt x="82" y="157"/>
                    <a:pt x="84" y="157"/>
                  </a:cubicBezTo>
                  <a:cubicBezTo>
                    <a:pt x="122" y="157"/>
                    <a:pt x="122" y="157"/>
                    <a:pt x="122" y="157"/>
                  </a:cubicBezTo>
                  <a:cubicBezTo>
                    <a:pt x="124" y="157"/>
                    <a:pt x="126" y="155"/>
                    <a:pt x="126" y="153"/>
                  </a:cubicBezTo>
                  <a:cubicBezTo>
                    <a:pt x="126" y="143"/>
                    <a:pt x="126" y="143"/>
                    <a:pt x="126" y="143"/>
                  </a:cubicBezTo>
                  <a:cubicBezTo>
                    <a:pt x="126" y="141"/>
                    <a:pt x="124" y="140"/>
                    <a:pt x="122" y="140"/>
                  </a:cubicBezTo>
                  <a:cubicBezTo>
                    <a:pt x="120" y="140"/>
                    <a:pt x="119" y="141"/>
                    <a:pt x="119" y="143"/>
                  </a:cubicBezTo>
                  <a:cubicBezTo>
                    <a:pt x="119" y="150"/>
                    <a:pt x="119" y="150"/>
                    <a:pt x="119" y="150"/>
                  </a:cubicBezTo>
                  <a:cubicBezTo>
                    <a:pt x="88" y="150"/>
                    <a:pt x="88" y="150"/>
                    <a:pt x="88" y="150"/>
                  </a:cubicBezTo>
                  <a:cubicBezTo>
                    <a:pt x="88" y="143"/>
                    <a:pt x="88" y="143"/>
                    <a:pt x="88" y="143"/>
                  </a:cubicBezTo>
                  <a:cubicBezTo>
                    <a:pt x="88" y="141"/>
                    <a:pt x="86" y="140"/>
                    <a:pt x="84" y="140"/>
                  </a:cubicBezTo>
                  <a:close/>
                  <a:moveTo>
                    <a:pt x="202" y="0"/>
                  </a:moveTo>
                  <a:cubicBezTo>
                    <a:pt x="5" y="0"/>
                    <a:pt x="5" y="0"/>
                    <a:pt x="5" y="0"/>
                  </a:cubicBezTo>
                  <a:cubicBezTo>
                    <a:pt x="2" y="0"/>
                    <a:pt x="0" y="2"/>
                    <a:pt x="0" y="5"/>
                  </a:cubicBezTo>
                  <a:cubicBezTo>
                    <a:pt x="0" y="71"/>
                    <a:pt x="0" y="71"/>
                    <a:pt x="0" y="71"/>
                  </a:cubicBezTo>
                  <a:cubicBezTo>
                    <a:pt x="10" y="71"/>
                    <a:pt x="10" y="71"/>
                    <a:pt x="10" y="71"/>
                  </a:cubicBezTo>
                  <a:cubicBezTo>
                    <a:pt x="10" y="10"/>
                    <a:pt x="10" y="10"/>
                    <a:pt x="10" y="10"/>
                  </a:cubicBezTo>
                  <a:cubicBezTo>
                    <a:pt x="197" y="10"/>
                    <a:pt x="197" y="10"/>
                    <a:pt x="197" y="10"/>
                  </a:cubicBezTo>
                  <a:cubicBezTo>
                    <a:pt x="197" y="48"/>
                    <a:pt x="197" y="48"/>
                    <a:pt x="197" y="48"/>
                  </a:cubicBezTo>
                  <a:cubicBezTo>
                    <a:pt x="207" y="48"/>
                    <a:pt x="207" y="48"/>
                    <a:pt x="207" y="48"/>
                  </a:cubicBezTo>
                  <a:cubicBezTo>
                    <a:pt x="207" y="5"/>
                    <a:pt x="207" y="5"/>
                    <a:pt x="207" y="5"/>
                  </a:cubicBezTo>
                  <a:cubicBezTo>
                    <a:pt x="207" y="2"/>
                    <a:pt x="204" y="0"/>
                    <a:pt x="202" y="0"/>
                  </a:cubicBezTo>
                  <a:close/>
                  <a:moveTo>
                    <a:pt x="142" y="123"/>
                  </a:moveTo>
                  <a:cubicBezTo>
                    <a:pt x="43" y="123"/>
                    <a:pt x="43" y="123"/>
                    <a:pt x="43" y="123"/>
                  </a:cubicBezTo>
                  <a:cubicBezTo>
                    <a:pt x="43" y="133"/>
                    <a:pt x="43" y="133"/>
                    <a:pt x="43" y="133"/>
                  </a:cubicBezTo>
                  <a:cubicBezTo>
                    <a:pt x="142" y="133"/>
                    <a:pt x="142" y="133"/>
                    <a:pt x="142" y="133"/>
                  </a:cubicBezTo>
                  <a:lnTo>
                    <a:pt x="142"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0" name="Rectangle 275"/>
            <p:cNvSpPr>
              <a:spLocks noChangeArrowheads="1"/>
            </p:cNvSpPr>
            <p:nvPr/>
          </p:nvSpPr>
          <p:spPr bwMode="auto">
            <a:xfrm>
              <a:off x="4947024" y="4368326"/>
              <a:ext cx="84911" cy="11707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2" name="Freeform 276"/>
            <p:cNvSpPr>
              <a:spLocks noEditPoints="1"/>
            </p:cNvSpPr>
            <p:nvPr/>
          </p:nvSpPr>
          <p:spPr bwMode="auto">
            <a:xfrm>
              <a:off x="4914861" y="4323941"/>
              <a:ext cx="146665" cy="240582"/>
            </a:xfrm>
            <a:custGeom>
              <a:avLst/>
              <a:gdLst>
                <a:gd name="T0" fmla="*/ 42 w 50"/>
                <a:gd name="T1" fmla="*/ 0 h 82"/>
                <a:gd name="T2" fmla="*/ 8 w 50"/>
                <a:gd name="T3" fmla="*/ 0 h 82"/>
                <a:gd name="T4" fmla="*/ 0 w 50"/>
                <a:gd name="T5" fmla="*/ 8 h 82"/>
                <a:gd name="T6" fmla="*/ 0 w 50"/>
                <a:gd name="T7" fmla="*/ 74 h 82"/>
                <a:gd name="T8" fmla="*/ 8 w 50"/>
                <a:gd name="T9" fmla="*/ 82 h 82"/>
                <a:gd name="T10" fmla="*/ 8 w 50"/>
                <a:gd name="T11" fmla="*/ 82 h 82"/>
                <a:gd name="T12" fmla="*/ 42 w 50"/>
                <a:gd name="T13" fmla="*/ 82 h 82"/>
                <a:gd name="T14" fmla="*/ 50 w 50"/>
                <a:gd name="T15" fmla="*/ 74 h 82"/>
                <a:gd name="T16" fmla="*/ 50 w 50"/>
                <a:gd name="T17" fmla="*/ 8 h 82"/>
                <a:gd name="T18" fmla="*/ 42 w 50"/>
                <a:gd name="T19" fmla="*/ 0 h 82"/>
                <a:gd name="T20" fmla="*/ 47 w 50"/>
                <a:gd name="T21" fmla="*/ 73 h 82"/>
                <a:gd name="T22" fmla="*/ 4 w 50"/>
                <a:gd name="T23" fmla="*/ 73 h 82"/>
                <a:gd name="T24" fmla="*/ 4 w 50"/>
                <a:gd name="T25" fmla="*/ 9 h 82"/>
                <a:gd name="T26" fmla="*/ 47 w 50"/>
                <a:gd name="T27" fmla="*/ 9 h 82"/>
                <a:gd name="T28" fmla="*/ 47 w 50"/>
                <a:gd name="T29" fmla="*/ 7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82">
                  <a:moveTo>
                    <a:pt x="42" y="0"/>
                  </a:moveTo>
                  <a:cubicBezTo>
                    <a:pt x="8" y="0"/>
                    <a:pt x="8" y="0"/>
                    <a:pt x="8" y="0"/>
                  </a:cubicBezTo>
                  <a:cubicBezTo>
                    <a:pt x="4" y="0"/>
                    <a:pt x="0" y="4"/>
                    <a:pt x="0" y="8"/>
                  </a:cubicBezTo>
                  <a:cubicBezTo>
                    <a:pt x="0" y="74"/>
                    <a:pt x="0" y="74"/>
                    <a:pt x="0" y="74"/>
                  </a:cubicBezTo>
                  <a:cubicBezTo>
                    <a:pt x="0" y="78"/>
                    <a:pt x="4" y="82"/>
                    <a:pt x="8" y="82"/>
                  </a:cubicBezTo>
                  <a:cubicBezTo>
                    <a:pt x="8" y="82"/>
                    <a:pt x="8" y="82"/>
                    <a:pt x="8" y="82"/>
                  </a:cubicBezTo>
                  <a:cubicBezTo>
                    <a:pt x="42" y="82"/>
                    <a:pt x="42" y="82"/>
                    <a:pt x="42" y="82"/>
                  </a:cubicBezTo>
                  <a:cubicBezTo>
                    <a:pt x="47" y="82"/>
                    <a:pt x="50" y="78"/>
                    <a:pt x="50" y="74"/>
                  </a:cubicBezTo>
                  <a:cubicBezTo>
                    <a:pt x="50" y="8"/>
                    <a:pt x="50" y="8"/>
                    <a:pt x="50" y="8"/>
                  </a:cubicBezTo>
                  <a:cubicBezTo>
                    <a:pt x="50" y="4"/>
                    <a:pt x="47" y="0"/>
                    <a:pt x="42" y="0"/>
                  </a:cubicBezTo>
                  <a:close/>
                  <a:moveTo>
                    <a:pt x="47" y="73"/>
                  </a:moveTo>
                  <a:cubicBezTo>
                    <a:pt x="4" y="73"/>
                    <a:pt x="4" y="73"/>
                    <a:pt x="4" y="73"/>
                  </a:cubicBezTo>
                  <a:cubicBezTo>
                    <a:pt x="4" y="9"/>
                    <a:pt x="4" y="9"/>
                    <a:pt x="4" y="9"/>
                  </a:cubicBezTo>
                  <a:cubicBezTo>
                    <a:pt x="47" y="9"/>
                    <a:pt x="47" y="9"/>
                    <a:pt x="47" y="9"/>
                  </a:cubicBezTo>
                  <a:lnTo>
                    <a:pt x="47" y="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4" name="Freeform 277"/>
            <p:cNvSpPr>
              <a:spLocks noEditPoints="1"/>
            </p:cNvSpPr>
            <p:nvPr/>
          </p:nvSpPr>
          <p:spPr bwMode="auto">
            <a:xfrm>
              <a:off x="5020356" y="4165697"/>
              <a:ext cx="483736" cy="246371"/>
            </a:xfrm>
            <a:custGeom>
              <a:avLst/>
              <a:gdLst>
                <a:gd name="T0" fmla="*/ 39 w 165"/>
                <a:gd name="T1" fmla="*/ 75 h 84"/>
                <a:gd name="T2" fmla="*/ 39 w 165"/>
                <a:gd name="T3" fmla="*/ 62 h 84"/>
                <a:gd name="T4" fmla="*/ 39 w 165"/>
                <a:gd name="T5" fmla="*/ 61 h 84"/>
                <a:gd name="T6" fmla="*/ 38 w 165"/>
                <a:gd name="T7" fmla="*/ 59 h 84"/>
                <a:gd name="T8" fmla="*/ 38 w 165"/>
                <a:gd name="T9" fmla="*/ 59 h 84"/>
                <a:gd name="T10" fmla="*/ 28 w 165"/>
                <a:gd name="T11" fmla="*/ 49 h 84"/>
                <a:gd name="T12" fmla="*/ 28 w 165"/>
                <a:gd name="T13" fmla="*/ 49 h 84"/>
                <a:gd name="T14" fmla="*/ 27 w 165"/>
                <a:gd name="T15" fmla="*/ 42 h 84"/>
                <a:gd name="T16" fmla="*/ 28 w 165"/>
                <a:gd name="T17" fmla="*/ 35 h 84"/>
                <a:gd name="T18" fmla="*/ 28 w 165"/>
                <a:gd name="T19" fmla="*/ 35 h 84"/>
                <a:gd name="T20" fmla="*/ 38 w 165"/>
                <a:gd name="T21" fmla="*/ 25 h 84"/>
                <a:gd name="T22" fmla="*/ 38 w 165"/>
                <a:gd name="T23" fmla="*/ 25 h 84"/>
                <a:gd name="T24" fmla="*/ 39 w 165"/>
                <a:gd name="T25" fmla="*/ 23 h 84"/>
                <a:gd name="T26" fmla="*/ 39 w 165"/>
                <a:gd name="T27" fmla="*/ 22 h 84"/>
                <a:gd name="T28" fmla="*/ 39 w 165"/>
                <a:gd name="T29" fmla="*/ 9 h 84"/>
                <a:gd name="T30" fmla="*/ 47 w 165"/>
                <a:gd name="T31" fmla="*/ 0 h 84"/>
                <a:gd name="T32" fmla="*/ 0 w 165"/>
                <a:gd name="T33" fmla="*/ 0 h 84"/>
                <a:gd name="T34" fmla="*/ 0 w 165"/>
                <a:gd name="T35" fmla="*/ 47 h 84"/>
                <a:gd name="T36" fmla="*/ 6 w 165"/>
                <a:gd name="T37" fmla="*/ 47 h 84"/>
                <a:gd name="T38" fmla="*/ 22 w 165"/>
                <a:gd name="T39" fmla="*/ 62 h 84"/>
                <a:gd name="T40" fmla="*/ 22 w 165"/>
                <a:gd name="T41" fmla="*/ 84 h 84"/>
                <a:gd name="T42" fmla="*/ 47 w 165"/>
                <a:gd name="T43" fmla="*/ 84 h 84"/>
                <a:gd name="T44" fmla="*/ 39 w 165"/>
                <a:gd name="T45" fmla="*/ 75 h 84"/>
                <a:gd name="T46" fmla="*/ 121 w 165"/>
                <a:gd name="T47" fmla="*/ 84 h 84"/>
                <a:gd name="T48" fmla="*/ 121 w 165"/>
                <a:gd name="T49" fmla="*/ 81 h 84"/>
                <a:gd name="T50" fmla="*/ 118 w 165"/>
                <a:gd name="T51" fmla="*/ 84 h 84"/>
                <a:gd name="T52" fmla="*/ 121 w 165"/>
                <a:gd name="T53" fmla="*/ 84 h 84"/>
                <a:gd name="T54" fmla="*/ 118 w 165"/>
                <a:gd name="T55" fmla="*/ 0 h 84"/>
                <a:gd name="T56" fmla="*/ 126 w 165"/>
                <a:gd name="T57" fmla="*/ 9 h 84"/>
                <a:gd name="T58" fmla="*/ 126 w 165"/>
                <a:gd name="T59" fmla="*/ 22 h 84"/>
                <a:gd name="T60" fmla="*/ 125 w 165"/>
                <a:gd name="T61" fmla="*/ 23 h 84"/>
                <a:gd name="T62" fmla="*/ 126 w 165"/>
                <a:gd name="T63" fmla="*/ 25 h 84"/>
                <a:gd name="T64" fmla="*/ 127 w 165"/>
                <a:gd name="T65" fmla="*/ 25 h 84"/>
                <a:gd name="T66" fmla="*/ 131 w 165"/>
                <a:gd name="T67" fmla="*/ 27 h 84"/>
                <a:gd name="T68" fmla="*/ 138 w 165"/>
                <a:gd name="T69" fmla="*/ 24 h 84"/>
                <a:gd name="T70" fmla="*/ 165 w 165"/>
                <a:gd name="T71" fmla="*/ 24 h 84"/>
                <a:gd name="T72" fmla="*/ 165 w 165"/>
                <a:gd name="T73" fmla="*/ 0 h 84"/>
                <a:gd name="T74" fmla="*/ 118 w 165"/>
                <a:gd name="T7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5" h="84">
                  <a:moveTo>
                    <a:pt x="39" y="75"/>
                  </a:moveTo>
                  <a:cubicBezTo>
                    <a:pt x="36" y="71"/>
                    <a:pt x="36" y="66"/>
                    <a:pt x="39" y="62"/>
                  </a:cubicBezTo>
                  <a:cubicBezTo>
                    <a:pt x="39" y="62"/>
                    <a:pt x="39" y="62"/>
                    <a:pt x="39" y="61"/>
                  </a:cubicBezTo>
                  <a:cubicBezTo>
                    <a:pt x="39" y="61"/>
                    <a:pt x="39" y="60"/>
                    <a:pt x="38" y="59"/>
                  </a:cubicBezTo>
                  <a:cubicBezTo>
                    <a:pt x="38" y="59"/>
                    <a:pt x="38" y="59"/>
                    <a:pt x="38" y="59"/>
                  </a:cubicBezTo>
                  <a:cubicBezTo>
                    <a:pt x="33" y="58"/>
                    <a:pt x="29" y="54"/>
                    <a:pt x="28" y="49"/>
                  </a:cubicBezTo>
                  <a:cubicBezTo>
                    <a:pt x="28" y="49"/>
                    <a:pt x="28" y="49"/>
                    <a:pt x="28" y="49"/>
                  </a:cubicBezTo>
                  <a:cubicBezTo>
                    <a:pt x="28" y="47"/>
                    <a:pt x="27" y="44"/>
                    <a:pt x="27" y="42"/>
                  </a:cubicBezTo>
                  <a:cubicBezTo>
                    <a:pt x="27" y="40"/>
                    <a:pt x="28" y="37"/>
                    <a:pt x="28" y="35"/>
                  </a:cubicBezTo>
                  <a:cubicBezTo>
                    <a:pt x="28" y="35"/>
                    <a:pt x="28" y="35"/>
                    <a:pt x="28" y="35"/>
                  </a:cubicBezTo>
                  <a:cubicBezTo>
                    <a:pt x="29" y="30"/>
                    <a:pt x="33" y="26"/>
                    <a:pt x="38" y="25"/>
                  </a:cubicBezTo>
                  <a:cubicBezTo>
                    <a:pt x="38" y="25"/>
                    <a:pt x="38" y="25"/>
                    <a:pt x="38" y="25"/>
                  </a:cubicBezTo>
                  <a:cubicBezTo>
                    <a:pt x="39" y="24"/>
                    <a:pt x="39" y="24"/>
                    <a:pt x="39" y="23"/>
                  </a:cubicBezTo>
                  <a:cubicBezTo>
                    <a:pt x="39" y="23"/>
                    <a:pt x="39" y="22"/>
                    <a:pt x="39" y="22"/>
                  </a:cubicBezTo>
                  <a:cubicBezTo>
                    <a:pt x="36" y="18"/>
                    <a:pt x="36" y="13"/>
                    <a:pt x="39" y="9"/>
                  </a:cubicBezTo>
                  <a:cubicBezTo>
                    <a:pt x="41" y="6"/>
                    <a:pt x="44" y="3"/>
                    <a:pt x="47" y="0"/>
                  </a:cubicBezTo>
                  <a:cubicBezTo>
                    <a:pt x="0" y="0"/>
                    <a:pt x="0" y="0"/>
                    <a:pt x="0" y="0"/>
                  </a:cubicBezTo>
                  <a:cubicBezTo>
                    <a:pt x="0" y="47"/>
                    <a:pt x="0" y="47"/>
                    <a:pt x="0" y="47"/>
                  </a:cubicBezTo>
                  <a:cubicBezTo>
                    <a:pt x="6" y="47"/>
                    <a:pt x="6" y="47"/>
                    <a:pt x="6" y="47"/>
                  </a:cubicBezTo>
                  <a:cubicBezTo>
                    <a:pt x="15" y="47"/>
                    <a:pt x="22" y="54"/>
                    <a:pt x="22" y="62"/>
                  </a:cubicBezTo>
                  <a:cubicBezTo>
                    <a:pt x="22" y="84"/>
                    <a:pt x="22" y="84"/>
                    <a:pt x="22" y="84"/>
                  </a:cubicBezTo>
                  <a:cubicBezTo>
                    <a:pt x="47" y="84"/>
                    <a:pt x="47" y="84"/>
                    <a:pt x="47" y="84"/>
                  </a:cubicBezTo>
                  <a:cubicBezTo>
                    <a:pt x="44" y="81"/>
                    <a:pt x="41" y="78"/>
                    <a:pt x="39" y="75"/>
                  </a:cubicBezTo>
                  <a:close/>
                  <a:moveTo>
                    <a:pt x="121" y="84"/>
                  </a:moveTo>
                  <a:cubicBezTo>
                    <a:pt x="121" y="81"/>
                    <a:pt x="121" y="81"/>
                    <a:pt x="121" y="81"/>
                  </a:cubicBezTo>
                  <a:cubicBezTo>
                    <a:pt x="120" y="82"/>
                    <a:pt x="119" y="83"/>
                    <a:pt x="118" y="84"/>
                  </a:cubicBezTo>
                  <a:lnTo>
                    <a:pt x="121" y="84"/>
                  </a:lnTo>
                  <a:close/>
                  <a:moveTo>
                    <a:pt x="118" y="0"/>
                  </a:moveTo>
                  <a:cubicBezTo>
                    <a:pt x="121" y="3"/>
                    <a:pt x="124" y="6"/>
                    <a:pt x="126" y="9"/>
                  </a:cubicBezTo>
                  <a:cubicBezTo>
                    <a:pt x="129" y="13"/>
                    <a:pt x="129" y="18"/>
                    <a:pt x="126" y="22"/>
                  </a:cubicBezTo>
                  <a:cubicBezTo>
                    <a:pt x="126" y="22"/>
                    <a:pt x="125" y="23"/>
                    <a:pt x="125" y="23"/>
                  </a:cubicBezTo>
                  <a:cubicBezTo>
                    <a:pt x="126" y="24"/>
                    <a:pt x="126" y="24"/>
                    <a:pt x="126" y="25"/>
                  </a:cubicBezTo>
                  <a:cubicBezTo>
                    <a:pt x="127" y="25"/>
                    <a:pt x="127" y="25"/>
                    <a:pt x="127" y="25"/>
                  </a:cubicBezTo>
                  <a:cubicBezTo>
                    <a:pt x="128" y="26"/>
                    <a:pt x="130" y="26"/>
                    <a:pt x="131" y="27"/>
                  </a:cubicBezTo>
                  <a:cubicBezTo>
                    <a:pt x="133" y="25"/>
                    <a:pt x="136" y="24"/>
                    <a:pt x="138" y="24"/>
                  </a:cubicBezTo>
                  <a:cubicBezTo>
                    <a:pt x="165" y="24"/>
                    <a:pt x="165" y="24"/>
                    <a:pt x="165" y="24"/>
                  </a:cubicBezTo>
                  <a:cubicBezTo>
                    <a:pt x="165" y="0"/>
                    <a:pt x="165" y="0"/>
                    <a:pt x="165" y="0"/>
                  </a:cubicBezTo>
                  <a:lnTo>
                    <a:pt x="1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6" name="Freeform 278"/>
            <p:cNvSpPr>
              <a:spLocks noEditPoints="1"/>
            </p:cNvSpPr>
            <p:nvPr/>
          </p:nvSpPr>
          <p:spPr bwMode="auto">
            <a:xfrm>
              <a:off x="5213980" y="4239030"/>
              <a:ext cx="96490" cy="99706"/>
            </a:xfrm>
            <a:custGeom>
              <a:avLst/>
              <a:gdLst>
                <a:gd name="T0" fmla="*/ 16 w 33"/>
                <a:gd name="T1" fmla="*/ 34 h 34"/>
                <a:gd name="T2" fmla="*/ 0 w 33"/>
                <a:gd name="T3" fmla="*/ 17 h 34"/>
                <a:gd name="T4" fmla="*/ 16 w 33"/>
                <a:gd name="T5" fmla="*/ 0 h 34"/>
                <a:gd name="T6" fmla="*/ 33 w 33"/>
                <a:gd name="T7" fmla="*/ 17 h 34"/>
                <a:gd name="T8" fmla="*/ 16 w 33"/>
                <a:gd name="T9" fmla="*/ 34 h 34"/>
                <a:gd name="T10" fmla="*/ 16 w 33"/>
                <a:gd name="T11" fmla="*/ 7 h 34"/>
                <a:gd name="T12" fmla="*/ 6 w 33"/>
                <a:gd name="T13" fmla="*/ 17 h 34"/>
                <a:gd name="T14" fmla="*/ 16 w 33"/>
                <a:gd name="T15" fmla="*/ 27 h 34"/>
                <a:gd name="T16" fmla="*/ 26 w 33"/>
                <a:gd name="T17" fmla="*/ 17 h 34"/>
                <a:gd name="T18" fmla="*/ 16 w 33"/>
                <a:gd name="T19" fmla="*/ 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16" y="34"/>
                  </a:moveTo>
                  <a:cubicBezTo>
                    <a:pt x="7" y="34"/>
                    <a:pt x="0" y="26"/>
                    <a:pt x="0" y="17"/>
                  </a:cubicBezTo>
                  <a:cubicBezTo>
                    <a:pt x="0" y="8"/>
                    <a:pt x="7" y="0"/>
                    <a:pt x="16" y="0"/>
                  </a:cubicBezTo>
                  <a:cubicBezTo>
                    <a:pt x="26" y="0"/>
                    <a:pt x="33" y="8"/>
                    <a:pt x="33" y="17"/>
                  </a:cubicBezTo>
                  <a:cubicBezTo>
                    <a:pt x="33" y="26"/>
                    <a:pt x="26" y="34"/>
                    <a:pt x="16" y="34"/>
                  </a:cubicBezTo>
                  <a:close/>
                  <a:moveTo>
                    <a:pt x="16" y="7"/>
                  </a:moveTo>
                  <a:cubicBezTo>
                    <a:pt x="11" y="7"/>
                    <a:pt x="6" y="12"/>
                    <a:pt x="6" y="17"/>
                  </a:cubicBezTo>
                  <a:cubicBezTo>
                    <a:pt x="6" y="23"/>
                    <a:pt x="11" y="27"/>
                    <a:pt x="16" y="27"/>
                  </a:cubicBezTo>
                  <a:cubicBezTo>
                    <a:pt x="22" y="27"/>
                    <a:pt x="26" y="23"/>
                    <a:pt x="26" y="17"/>
                  </a:cubicBezTo>
                  <a:cubicBezTo>
                    <a:pt x="26" y="12"/>
                    <a:pt x="22" y="7"/>
                    <a:pt x="1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8" name="Freeform 279"/>
            <p:cNvSpPr>
              <a:spLocks/>
            </p:cNvSpPr>
            <p:nvPr/>
          </p:nvSpPr>
          <p:spPr bwMode="auto">
            <a:xfrm>
              <a:off x="5123279" y="4148329"/>
              <a:ext cx="260523" cy="281107"/>
            </a:xfrm>
            <a:custGeom>
              <a:avLst/>
              <a:gdLst>
                <a:gd name="T0" fmla="*/ 85 w 89"/>
                <a:gd name="T1" fmla="*/ 73 h 96"/>
                <a:gd name="T2" fmla="*/ 86 w 89"/>
                <a:gd name="T3" fmla="*/ 59 h 96"/>
                <a:gd name="T4" fmla="*/ 81 w 89"/>
                <a:gd name="T5" fmla="*/ 53 h 96"/>
                <a:gd name="T6" fmla="*/ 75 w 89"/>
                <a:gd name="T7" fmla="*/ 66 h 96"/>
                <a:gd name="T8" fmla="*/ 78 w 89"/>
                <a:gd name="T9" fmla="*/ 75 h 96"/>
                <a:gd name="T10" fmla="*/ 68 w 89"/>
                <a:gd name="T11" fmla="*/ 75 h 96"/>
                <a:gd name="T12" fmla="*/ 54 w 89"/>
                <a:gd name="T13" fmla="*/ 80 h 96"/>
                <a:gd name="T14" fmla="*/ 50 w 89"/>
                <a:gd name="T15" fmla="*/ 89 h 96"/>
                <a:gd name="T16" fmla="*/ 43 w 89"/>
                <a:gd name="T17" fmla="*/ 82 h 96"/>
                <a:gd name="T18" fmla="*/ 29 w 89"/>
                <a:gd name="T19" fmla="*/ 76 h 96"/>
                <a:gd name="T20" fmla="*/ 21 w 89"/>
                <a:gd name="T21" fmla="*/ 79 h 96"/>
                <a:gd name="T22" fmla="*/ 20 w 89"/>
                <a:gd name="T23" fmla="*/ 69 h 96"/>
                <a:gd name="T24" fmla="*/ 15 w 89"/>
                <a:gd name="T25" fmla="*/ 55 h 96"/>
                <a:gd name="T26" fmla="*/ 7 w 89"/>
                <a:gd name="T27" fmla="*/ 51 h 96"/>
                <a:gd name="T28" fmla="*/ 7 w 89"/>
                <a:gd name="T29" fmla="*/ 45 h 96"/>
                <a:gd name="T30" fmla="*/ 15 w 89"/>
                <a:gd name="T31" fmla="*/ 41 h 96"/>
                <a:gd name="T32" fmla="*/ 20 w 89"/>
                <a:gd name="T33" fmla="*/ 28 h 96"/>
                <a:gd name="T34" fmla="*/ 21 w 89"/>
                <a:gd name="T35" fmla="*/ 17 h 96"/>
                <a:gd name="T36" fmla="*/ 29 w 89"/>
                <a:gd name="T37" fmla="*/ 20 h 96"/>
                <a:gd name="T38" fmla="*/ 43 w 89"/>
                <a:gd name="T39" fmla="*/ 14 h 96"/>
                <a:gd name="T40" fmla="*/ 50 w 89"/>
                <a:gd name="T41" fmla="*/ 7 h 96"/>
                <a:gd name="T42" fmla="*/ 54 w 89"/>
                <a:gd name="T43" fmla="*/ 16 h 96"/>
                <a:gd name="T44" fmla="*/ 68 w 89"/>
                <a:gd name="T45" fmla="*/ 21 h 96"/>
                <a:gd name="T46" fmla="*/ 78 w 89"/>
                <a:gd name="T47" fmla="*/ 21 h 96"/>
                <a:gd name="T48" fmla="*/ 75 w 89"/>
                <a:gd name="T49" fmla="*/ 30 h 96"/>
                <a:gd name="T50" fmla="*/ 81 w 89"/>
                <a:gd name="T51" fmla="*/ 43 h 96"/>
                <a:gd name="T52" fmla="*/ 89 w 89"/>
                <a:gd name="T53" fmla="*/ 38 h 96"/>
                <a:gd name="T54" fmla="*/ 82 w 89"/>
                <a:gd name="T55" fmla="*/ 28 h 96"/>
                <a:gd name="T56" fmla="*/ 85 w 89"/>
                <a:gd name="T57" fmla="*/ 19 h 96"/>
                <a:gd name="T58" fmla="*/ 72 w 89"/>
                <a:gd name="T59" fmla="*/ 10 h 96"/>
                <a:gd name="T60" fmla="*/ 67 w 89"/>
                <a:gd name="T61" fmla="*/ 14 h 96"/>
                <a:gd name="T62" fmla="*/ 57 w 89"/>
                <a:gd name="T63" fmla="*/ 4 h 96"/>
                <a:gd name="T64" fmla="*/ 53 w 89"/>
                <a:gd name="T65" fmla="*/ 1 h 96"/>
                <a:gd name="T66" fmla="*/ 41 w 89"/>
                <a:gd name="T67" fmla="*/ 1 h 96"/>
                <a:gd name="T68" fmla="*/ 37 w 89"/>
                <a:gd name="T69" fmla="*/ 10 h 96"/>
                <a:gd name="T70" fmla="*/ 23 w 89"/>
                <a:gd name="T71" fmla="*/ 11 h 96"/>
                <a:gd name="T72" fmla="*/ 19 w 89"/>
                <a:gd name="T73" fmla="*/ 10 h 96"/>
                <a:gd name="T74" fmla="*/ 10 w 89"/>
                <a:gd name="T75" fmla="*/ 24 h 96"/>
                <a:gd name="T76" fmla="*/ 9 w 89"/>
                <a:gd name="T77" fmla="*/ 38 h 96"/>
                <a:gd name="T78" fmla="*/ 0 w 89"/>
                <a:gd name="T79" fmla="*/ 42 h 96"/>
                <a:gd name="T80" fmla="*/ 0 w 89"/>
                <a:gd name="T81" fmla="*/ 48 h 96"/>
                <a:gd name="T82" fmla="*/ 0 w 89"/>
                <a:gd name="T83" fmla="*/ 55 h 96"/>
                <a:gd name="T84" fmla="*/ 9 w 89"/>
                <a:gd name="T85" fmla="*/ 58 h 96"/>
                <a:gd name="T86" fmla="*/ 10 w 89"/>
                <a:gd name="T87" fmla="*/ 73 h 96"/>
                <a:gd name="T88" fmla="*/ 19 w 89"/>
                <a:gd name="T89" fmla="*/ 86 h 96"/>
                <a:gd name="T90" fmla="*/ 23 w 89"/>
                <a:gd name="T91" fmla="*/ 85 h 96"/>
                <a:gd name="T92" fmla="*/ 37 w 89"/>
                <a:gd name="T93" fmla="*/ 87 h 96"/>
                <a:gd name="T94" fmla="*/ 41 w 89"/>
                <a:gd name="T95" fmla="*/ 95 h 96"/>
                <a:gd name="T96" fmla="*/ 47 w 89"/>
                <a:gd name="T97" fmla="*/ 96 h 96"/>
                <a:gd name="T98" fmla="*/ 54 w 89"/>
                <a:gd name="T99" fmla="*/ 95 h 96"/>
                <a:gd name="T100" fmla="*/ 57 w 89"/>
                <a:gd name="T101" fmla="*/ 87 h 96"/>
                <a:gd name="T102" fmla="*/ 71 w 89"/>
                <a:gd name="T103" fmla="*/ 85 h 96"/>
                <a:gd name="T104" fmla="*/ 76 w 89"/>
                <a:gd name="T105" fmla="*/ 86 h 96"/>
                <a:gd name="T106" fmla="*/ 86 w 89"/>
                <a:gd name="T107"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9" h="96">
                  <a:moveTo>
                    <a:pt x="86" y="74"/>
                  </a:moveTo>
                  <a:cubicBezTo>
                    <a:pt x="86" y="73"/>
                    <a:pt x="85" y="73"/>
                    <a:pt x="85" y="73"/>
                  </a:cubicBezTo>
                  <a:cubicBezTo>
                    <a:pt x="83" y="70"/>
                    <a:pt x="82" y="69"/>
                    <a:pt x="82" y="68"/>
                  </a:cubicBezTo>
                  <a:cubicBezTo>
                    <a:pt x="83" y="65"/>
                    <a:pt x="85" y="62"/>
                    <a:pt x="86" y="59"/>
                  </a:cubicBezTo>
                  <a:cubicBezTo>
                    <a:pt x="86" y="51"/>
                    <a:pt x="86" y="51"/>
                    <a:pt x="86" y="51"/>
                  </a:cubicBezTo>
                  <a:cubicBezTo>
                    <a:pt x="84" y="52"/>
                    <a:pt x="82" y="52"/>
                    <a:pt x="81" y="53"/>
                  </a:cubicBezTo>
                  <a:cubicBezTo>
                    <a:pt x="80" y="53"/>
                    <a:pt x="80" y="54"/>
                    <a:pt x="80" y="55"/>
                  </a:cubicBezTo>
                  <a:cubicBezTo>
                    <a:pt x="79" y="59"/>
                    <a:pt x="77" y="63"/>
                    <a:pt x="75" y="66"/>
                  </a:cubicBezTo>
                  <a:cubicBezTo>
                    <a:pt x="75" y="67"/>
                    <a:pt x="74" y="68"/>
                    <a:pt x="75" y="69"/>
                  </a:cubicBezTo>
                  <a:cubicBezTo>
                    <a:pt x="75" y="70"/>
                    <a:pt x="75" y="71"/>
                    <a:pt x="78" y="75"/>
                  </a:cubicBezTo>
                  <a:cubicBezTo>
                    <a:pt x="77" y="76"/>
                    <a:pt x="75" y="78"/>
                    <a:pt x="74" y="79"/>
                  </a:cubicBezTo>
                  <a:cubicBezTo>
                    <a:pt x="72" y="77"/>
                    <a:pt x="70" y="76"/>
                    <a:pt x="68" y="75"/>
                  </a:cubicBezTo>
                  <a:cubicBezTo>
                    <a:pt x="67" y="75"/>
                    <a:pt x="66" y="75"/>
                    <a:pt x="65" y="76"/>
                  </a:cubicBezTo>
                  <a:cubicBezTo>
                    <a:pt x="62" y="78"/>
                    <a:pt x="58" y="79"/>
                    <a:pt x="54" y="80"/>
                  </a:cubicBezTo>
                  <a:cubicBezTo>
                    <a:pt x="53" y="81"/>
                    <a:pt x="53" y="81"/>
                    <a:pt x="52" y="82"/>
                  </a:cubicBezTo>
                  <a:cubicBezTo>
                    <a:pt x="51" y="83"/>
                    <a:pt x="51" y="86"/>
                    <a:pt x="50" y="89"/>
                  </a:cubicBezTo>
                  <a:cubicBezTo>
                    <a:pt x="48" y="89"/>
                    <a:pt x="46" y="89"/>
                    <a:pt x="44" y="89"/>
                  </a:cubicBezTo>
                  <a:cubicBezTo>
                    <a:pt x="44" y="86"/>
                    <a:pt x="44" y="83"/>
                    <a:pt x="43" y="82"/>
                  </a:cubicBezTo>
                  <a:cubicBezTo>
                    <a:pt x="42" y="81"/>
                    <a:pt x="41" y="81"/>
                    <a:pt x="40" y="80"/>
                  </a:cubicBezTo>
                  <a:cubicBezTo>
                    <a:pt x="37" y="79"/>
                    <a:pt x="33" y="78"/>
                    <a:pt x="29" y="76"/>
                  </a:cubicBezTo>
                  <a:cubicBezTo>
                    <a:pt x="29" y="75"/>
                    <a:pt x="28" y="75"/>
                    <a:pt x="27" y="75"/>
                  </a:cubicBezTo>
                  <a:cubicBezTo>
                    <a:pt x="25" y="76"/>
                    <a:pt x="23" y="77"/>
                    <a:pt x="21" y="79"/>
                  </a:cubicBezTo>
                  <a:cubicBezTo>
                    <a:pt x="19" y="78"/>
                    <a:pt x="18" y="76"/>
                    <a:pt x="17" y="75"/>
                  </a:cubicBezTo>
                  <a:cubicBezTo>
                    <a:pt x="18" y="73"/>
                    <a:pt x="20" y="70"/>
                    <a:pt x="20" y="69"/>
                  </a:cubicBezTo>
                  <a:cubicBezTo>
                    <a:pt x="20" y="68"/>
                    <a:pt x="20" y="67"/>
                    <a:pt x="20" y="66"/>
                  </a:cubicBezTo>
                  <a:cubicBezTo>
                    <a:pt x="17" y="63"/>
                    <a:pt x="16" y="59"/>
                    <a:pt x="15" y="55"/>
                  </a:cubicBezTo>
                  <a:cubicBezTo>
                    <a:pt x="15" y="54"/>
                    <a:pt x="14" y="53"/>
                    <a:pt x="13" y="53"/>
                  </a:cubicBezTo>
                  <a:cubicBezTo>
                    <a:pt x="12" y="52"/>
                    <a:pt x="9" y="51"/>
                    <a:pt x="7" y="51"/>
                  </a:cubicBezTo>
                  <a:cubicBezTo>
                    <a:pt x="7" y="50"/>
                    <a:pt x="7" y="49"/>
                    <a:pt x="7" y="48"/>
                  </a:cubicBezTo>
                  <a:cubicBezTo>
                    <a:pt x="7" y="47"/>
                    <a:pt x="7" y="46"/>
                    <a:pt x="7" y="45"/>
                  </a:cubicBezTo>
                  <a:cubicBezTo>
                    <a:pt x="10" y="45"/>
                    <a:pt x="12" y="44"/>
                    <a:pt x="13" y="43"/>
                  </a:cubicBezTo>
                  <a:cubicBezTo>
                    <a:pt x="14" y="43"/>
                    <a:pt x="15" y="42"/>
                    <a:pt x="15" y="41"/>
                  </a:cubicBezTo>
                  <a:cubicBezTo>
                    <a:pt x="16" y="37"/>
                    <a:pt x="17" y="34"/>
                    <a:pt x="20" y="30"/>
                  </a:cubicBezTo>
                  <a:cubicBezTo>
                    <a:pt x="20" y="29"/>
                    <a:pt x="20" y="28"/>
                    <a:pt x="20" y="28"/>
                  </a:cubicBezTo>
                  <a:cubicBezTo>
                    <a:pt x="20" y="27"/>
                    <a:pt x="19" y="25"/>
                    <a:pt x="17" y="21"/>
                  </a:cubicBezTo>
                  <a:cubicBezTo>
                    <a:pt x="18" y="20"/>
                    <a:pt x="19" y="19"/>
                    <a:pt x="21" y="17"/>
                  </a:cubicBezTo>
                  <a:cubicBezTo>
                    <a:pt x="23" y="19"/>
                    <a:pt x="25" y="21"/>
                    <a:pt x="27" y="21"/>
                  </a:cubicBezTo>
                  <a:cubicBezTo>
                    <a:pt x="28" y="21"/>
                    <a:pt x="29" y="21"/>
                    <a:pt x="29" y="20"/>
                  </a:cubicBezTo>
                  <a:cubicBezTo>
                    <a:pt x="33" y="18"/>
                    <a:pt x="37" y="17"/>
                    <a:pt x="40" y="16"/>
                  </a:cubicBezTo>
                  <a:cubicBezTo>
                    <a:pt x="41" y="16"/>
                    <a:pt x="42" y="15"/>
                    <a:pt x="43" y="14"/>
                  </a:cubicBezTo>
                  <a:cubicBezTo>
                    <a:pt x="44" y="13"/>
                    <a:pt x="44" y="11"/>
                    <a:pt x="44" y="7"/>
                  </a:cubicBezTo>
                  <a:cubicBezTo>
                    <a:pt x="46" y="7"/>
                    <a:pt x="48" y="7"/>
                    <a:pt x="50" y="7"/>
                  </a:cubicBezTo>
                  <a:cubicBezTo>
                    <a:pt x="51" y="10"/>
                    <a:pt x="51" y="13"/>
                    <a:pt x="52" y="14"/>
                  </a:cubicBezTo>
                  <a:cubicBezTo>
                    <a:pt x="53" y="15"/>
                    <a:pt x="53" y="16"/>
                    <a:pt x="54" y="16"/>
                  </a:cubicBezTo>
                  <a:cubicBezTo>
                    <a:pt x="58" y="17"/>
                    <a:pt x="62" y="18"/>
                    <a:pt x="65" y="20"/>
                  </a:cubicBezTo>
                  <a:cubicBezTo>
                    <a:pt x="66" y="21"/>
                    <a:pt x="67" y="21"/>
                    <a:pt x="68" y="21"/>
                  </a:cubicBezTo>
                  <a:cubicBezTo>
                    <a:pt x="70" y="21"/>
                    <a:pt x="72" y="19"/>
                    <a:pt x="74" y="17"/>
                  </a:cubicBezTo>
                  <a:cubicBezTo>
                    <a:pt x="75" y="19"/>
                    <a:pt x="77" y="20"/>
                    <a:pt x="78" y="21"/>
                  </a:cubicBezTo>
                  <a:cubicBezTo>
                    <a:pt x="75" y="25"/>
                    <a:pt x="75" y="27"/>
                    <a:pt x="75" y="28"/>
                  </a:cubicBezTo>
                  <a:cubicBezTo>
                    <a:pt x="74" y="28"/>
                    <a:pt x="75" y="29"/>
                    <a:pt x="75" y="30"/>
                  </a:cubicBezTo>
                  <a:cubicBezTo>
                    <a:pt x="77" y="34"/>
                    <a:pt x="79" y="37"/>
                    <a:pt x="80" y="41"/>
                  </a:cubicBezTo>
                  <a:cubicBezTo>
                    <a:pt x="80" y="42"/>
                    <a:pt x="80" y="43"/>
                    <a:pt x="81" y="43"/>
                  </a:cubicBezTo>
                  <a:cubicBezTo>
                    <a:pt x="82" y="44"/>
                    <a:pt x="84" y="45"/>
                    <a:pt x="86" y="45"/>
                  </a:cubicBezTo>
                  <a:cubicBezTo>
                    <a:pt x="87" y="43"/>
                    <a:pt x="88" y="40"/>
                    <a:pt x="89" y="38"/>
                  </a:cubicBezTo>
                  <a:cubicBezTo>
                    <a:pt x="88" y="38"/>
                    <a:pt x="87" y="38"/>
                    <a:pt x="86" y="38"/>
                  </a:cubicBezTo>
                  <a:cubicBezTo>
                    <a:pt x="85" y="35"/>
                    <a:pt x="84" y="31"/>
                    <a:pt x="82" y="28"/>
                  </a:cubicBezTo>
                  <a:cubicBezTo>
                    <a:pt x="82" y="27"/>
                    <a:pt x="83" y="26"/>
                    <a:pt x="85" y="24"/>
                  </a:cubicBezTo>
                  <a:cubicBezTo>
                    <a:pt x="86" y="22"/>
                    <a:pt x="86" y="21"/>
                    <a:pt x="85" y="19"/>
                  </a:cubicBezTo>
                  <a:cubicBezTo>
                    <a:pt x="83" y="16"/>
                    <a:pt x="80" y="13"/>
                    <a:pt x="76" y="10"/>
                  </a:cubicBezTo>
                  <a:cubicBezTo>
                    <a:pt x="75" y="9"/>
                    <a:pt x="73" y="9"/>
                    <a:pt x="72" y="10"/>
                  </a:cubicBezTo>
                  <a:cubicBezTo>
                    <a:pt x="71" y="11"/>
                    <a:pt x="71" y="11"/>
                    <a:pt x="71" y="11"/>
                  </a:cubicBezTo>
                  <a:cubicBezTo>
                    <a:pt x="70" y="12"/>
                    <a:pt x="68" y="13"/>
                    <a:pt x="67" y="14"/>
                  </a:cubicBezTo>
                  <a:cubicBezTo>
                    <a:pt x="64" y="12"/>
                    <a:pt x="61" y="11"/>
                    <a:pt x="57" y="10"/>
                  </a:cubicBezTo>
                  <a:cubicBezTo>
                    <a:pt x="57" y="9"/>
                    <a:pt x="57" y="7"/>
                    <a:pt x="57" y="4"/>
                  </a:cubicBezTo>
                  <a:cubicBezTo>
                    <a:pt x="57" y="3"/>
                    <a:pt x="55" y="1"/>
                    <a:pt x="54" y="1"/>
                  </a:cubicBezTo>
                  <a:cubicBezTo>
                    <a:pt x="53" y="1"/>
                    <a:pt x="53" y="1"/>
                    <a:pt x="53" y="1"/>
                  </a:cubicBezTo>
                  <a:cubicBezTo>
                    <a:pt x="49" y="0"/>
                    <a:pt x="45" y="0"/>
                    <a:pt x="42" y="1"/>
                  </a:cubicBezTo>
                  <a:cubicBezTo>
                    <a:pt x="41" y="1"/>
                    <a:pt x="41" y="1"/>
                    <a:pt x="41" y="1"/>
                  </a:cubicBezTo>
                  <a:cubicBezTo>
                    <a:pt x="39" y="1"/>
                    <a:pt x="38" y="3"/>
                    <a:pt x="38" y="4"/>
                  </a:cubicBezTo>
                  <a:cubicBezTo>
                    <a:pt x="38" y="7"/>
                    <a:pt x="37" y="9"/>
                    <a:pt x="37" y="10"/>
                  </a:cubicBezTo>
                  <a:cubicBezTo>
                    <a:pt x="34" y="11"/>
                    <a:pt x="30" y="12"/>
                    <a:pt x="27" y="14"/>
                  </a:cubicBezTo>
                  <a:cubicBezTo>
                    <a:pt x="26" y="13"/>
                    <a:pt x="25" y="12"/>
                    <a:pt x="23" y="11"/>
                  </a:cubicBezTo>
                  <a:cubicBezTo>
                    <a:pt x="23" y="10"/>
                    <a:pt x="23" y="10"/>
                    <a:pt x="23" y="10"/>
                  </a:cubicBezTo>
                  <a:cubicBezTo>
                    <a:pt x="22" y="9"/>
                    <a:pt x="20" y="9"/>
                    <a:pt x="19" y="10"/>
                  </a:cubicBezTo>
                  <a:cubicBezTo>
                    <a:pt x="15" y="13"/>
                    <a:pt x="12" y="16"/>
                    <a:pt x="10" y="19"/>
                  </a:cubicBezTo>
                  <a:cubicBezTo>
                    <a:pt x="9" y="21"/>
                    <a:pt x="9" y="22"/>
                    <a:pt x="10" y="24"/>
                  </a:cubicBezTo>
                  <a:cubicBezTo>
                    <a:pt x="11" y="26"/>
                    <a:pt x="12" y="27"/>
                    <a:pt x="13" y="28"/>
                  </a:cubicBezTo>
                  <a:cubicBezTo>
                    <a:pt x="11" y="31"/>
                    <a:pt x="10" y="35"/>
                    <a:pt x="9" y="38"/>
                  </a:cubicBezTo>
                  <a:cubicBezTo>
                    <a:pt x="8" y="38"/>
                    <a:pt x="6" y="38"/>
                    <a:pt x="3" y="39"/>
                  </a:cubicBezTo>
                  <a:cubicBezTo>
                    <a:pt x="2" y="39"/>
                    <a:pt x="1" y="40"/>
                    <a:pt x="0" y="42"/>
                  </a:cubicBezTo>
                  <a:cubicBezTo>
                    <a:pt x="0" y="42"/>
                    <a:pt x="0" y="42"/>
                    <a:pt x="0" y="42"/>
                  </a:cubicBezTo>
                  <a:cubicBezTo>
                    <a:pt x="0" y="44"/>
                    <a:pt x="0" y="46"/>
                    <a:pt x="0" y="48"/>
                  </a:cubicBezTo>
                  <a:cubicBezTo>
                    <a:pt x="0" y="50"/>
                    <a:pt x="0" y="52"/>
                    <a:pt x="0" y="53"/>
                  </a:cubicBezTo>
                  <a:cubicBezTo>
                    <a:pt x="0" y="55"/>
                    <a:pt x="0" y="55"/>
                    <a:pt x="0" y="55"/>
                  </a:cubicBezTo>
                  <a:cubicBezTo>
                    <a:pt x="1" y="56"/>
                    <a:pt x="2" y="57"/>
                    <a:pt x="4" y="57"/>
                  </a:cubicBezTo>
                  <a:cubicBezTo>
                    <a:pt x="6" y="58"/>
                    <a:pt x="8" y="58"/>
                    <a:pt x="9" y="58"/>
                  </a:cubicBezTo>
                  <a:cubicBezTo>
                    <a:pt x="10" y="62"/>
                    <a:pt x="11" y="65"/>
                    <a:pt x="13" y="68"/>
                  </a:cubicBezTo>
                  <a:cubicBezTo>
                    <a:pt x="12" y="69"/>
                    <a:pt x="11" y="70"/>
                    <a:pt x="10" y="73"/>
                  </a:cubicBezTo>
                  <a:cubicBezTo>
                    <a:pt x="9" y="74"/>
                    <a:pt x="9" y="76"/>
                    <a:pt x="10" y="77"/>
                  </a:cubicBezTo>
                  <a:cubicBezTo>
                    <a:pt x="12" y="80"/>
                    <a:pt x="15" y="83"/>
                    <a:pt x="19" y="86"/>
                  </a:cubicBezTo>
                  <a:cubicBezTo>
                    <a:pt x="20" y="87"/>
                    <a:pt x="22" y="87"/>
                    <a:pt x="23" y="86"/>
                  </a:cubicBezTo>
                  <a:cubicBezTo>
                    <a:pt x="23" y="85"/>
                    <a:pt x="23" y="85"/>
                    <a:pt x="23" y="85"/>
                  </a:cubicBezTo>
                  <a:cubicBezTo>
                    <a:pt x="25" y="84"/>
                    <a:pt x="26" y="83"/>
                    <a:pt x="27" y="82"/>
                  </a:cubicBezTo>
                  <a:cubicBezTo>
                    <a:pt x="30" y="84"/>
                    <a:pt x="34" y="86"/>
                    <a:pt x="37" y="87"/>
                  </a:cubicBezTo>
                  <a:cubicBezTo>
                    <a:pt x="37" y="88"/>
                    <a:pt x="38" y="89"/>
                    <a:pt x="38" y="92"/>
                  </a:cubicBezTo>
                  <a:cubicBezTo>
                    <a:pt x="38" y="94"/>
                    <a:pt x="39" y="95"/>
                    <a:pt x="41" y="95"/>
                  </a:cubicBezTo>
                  <a:cubicBezTo>
                    <a:pt x="42" y="95"/>
                    <a:pt x="42" y="95"/>
                    <a:pt x="42" y="95"/>
                  </a:cubicBezTo>
                  <a:cubicBezTo>
                    <a:pt x="44" y="95"/>
                    <a:pt x="45" y="96"/>
                    <a:pt x="47" y="96"/>
                  </a:cubicBezTo>
                  <a:cubicBezTo>
                    <a:pt x="49" y="96"/>
                    <a:pt x="51" y="95"/>
                    <a:pt x="53" y="95"/>
                  </a:cubicBezTo>
                  <a:cubicBezTo>
                    <a:pt x="54" y="95"/>
                    <a:pt x="54" y="95"/>
                    <a:pt x="54" y="95"/>
                  </a:cubicBezTo>
                  <a:cubicBezTo>
                    <a:pt x="55" y="95"/>
                    <a:pt x="57" y="94"/>
                    <a:pt x="57" y="92"/>
                  </a:cubicBezTo>
                  <a:cubicBezTo>
                    <a:pt x="57" y="89"/>
                    <a:pt x="57" y="87"/>
                    <a:pt x="57" y="87"/>
                  </a:cubicBezTo>
                  <a:cubicBezTo>
                    <a:pt x="61" y="86"/>
                    <a:pt x="64" y="84"/>
                    <a:pt x="67" y="82"/>
                  </a:cubicBezTo>
                  <a:cubicBezTo>
                    <a:pt x="68" y="83"/>
                    <a:pt x="70" y="84"/>
                    <a:pt x="71" y="85"/>
                  </a:cubicBezTo>
                  <a:cubicBezTo>
                    <a:pt x="72" y="86"/>
                    <a:pt x="72" y="86"/>
                    <a:pt x="72" y="86"/>
                  </a:cubicBezTo>
                  <a:cubicBezTo>
                    <a:pt x="73" y="87"/>
                    <a:pt x="75" y="87"/>
                    <a:pt x="76" y="86"/>
                  </a:cubicBezTo>
                  <a:cubicBezTo>
                    <a:pt x="79" y="83"/>
                    <a:pt x="83" y="80"/>
                    <a:pt x="85" y="77"/>
                  </a:cubicBezTo>
                  <a:cubicBezTo>
                    <a:pt x="85" y="77"/>
                    <a:pt x="86" y="76"/>
                    <a:pt x="86" y="76"/>
                  </a:cubicBezTo>
                  <a:lnTo>
                    <a:pt x="86"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22" name="Group 421"/>
          <p:cNvGrpSpPr/>
          <p:nvPr/>
        </p:nvGrpSpPr>
        <p:grpSpPr>
          <a:xfrm>
            <a:off x="383006" y="1599918"/>
            <a:ext cx="11464082" cy="4875696"/>
            <a:chOff x="383006" y="1599918"/>
            <a:chExt cx="11464082" cy="4875696"/>
          </a:xfrm>
        </p:grpSpPr>
        <p:cxnSp>
          <p:nvCxnSpPr>
            <p:cNvPr id="423" name="Straight Connector 422"/>
            <p:cNvCxnSpPr>
              <a:stCxn id="487" idx="4"/>
              <a:endCxn id="452" idx="1"/>
            </p:cNvCxnSpPr>
            <p:nvPr/>
          </p:nvCxnSpPr>
          <p:spPr>
            <a:xfrm flipV="1">
              <a:off x="6409864" y="5283965"/>
              <a:ext cx="251801" cy="6199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24" name="Straight Connector 423"/>
            <p:cNvCxnSpPr/>
            <p:nvPr/>
          </p:nvCxnSpPr>
          <p:spPr>
            <a:xfrm>
              <a:off x="6381515" y="5975792"/>
              <a:ext cx="251801" cy="5620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25" name="Straight Connector 424"/>
            <p:cNvCxnSpPr>
              <a:stCxn id="490" idx="4"/>
              <a:endCxn id="446" idx="1"/>
            </p:cNvCxnSpPr>
            <p:nvPr/>
          </p:nvCxnSpPr>
          <p:spPr>
            <a:xfrm flipV="1">
              <a:off x="6415693" y="3787909"/>
              <a:ext cx="245972" cy="5550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26" name="Straight Connector 425"/>
            <p:cNvCxnSpPr/>
            <p:nvPr/>
          </p:nvCxnSpPr>
          <p:spPr>
            <a:xfrm>
              <a:off x="6387344" y="4463198"/>
              <a:ext cx="245972" cy="53169"/>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27" name="Straight Connector 426"/>
            <p:cNvCxnSpPr>
              <a:stCxn id="493" idx="4"/>
              <a:endCxn id="444" idx="1"/>
            </p:cNvCxnSpPr>
            <p:nvPr/>
          </p:nvCxnSpPr>
          <p:spPr>
            <a:xfrm flipV="1">
              <a:off x="6415693" y="2269047"/>
              <a:ext cx="245972" cy="66621"/>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28" name="Straight Connector 427"/>
            <p:cNvCxnSpPr/>
            <p:nvPr/>
          </p:nvCxnSpPr>
          <p:spPr>
            <a:xfrm>
              <a:off x="6415693" y="2975134"/>
              <a:ext cx="245972" cy="5819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grpSp>
          <p:nvGrpSpPr>
            <p:cNvPr id="429" name="Group 428"/>
            <p:cNvGrpSpPr/>
            <p:nvPr/>
          </p:nvGrpSpPr>
          <p:grpSpPr>
            <a:xfrm>
              <a:off x="1937268" y="2737620"/>
              <a:ext cx="1100760" cy="1134310"/>
              <a:chOff x="5104468" y="1364366"/>
              <a:chExt cx="1562659" cy="1605533"/>
            </a:xfrm>
          </p:grpSpPr>
          <p:sp>
            <p:nvSpPr>
              <p:cNvPr id="505" name="Block Arc 504"/>
              <p:cNvSpPr/>
              <p:nvPr/>
            </p:nvSpPr>
            <p:spPr bwMode="gray">
              <a:xfrm rot="10800000">
                <a:off x="5247569" y="1511393"/>
                <a:ext cx="1276456" cy="1311477"/>
              </a:xfrm>
              <a:prstGeom prst="blockArc">
                <a:avLst>
                  <a:gd name="adj1" fmla="val 19230586"/>
                  <a:gd name="adj2" fmla="val 13033067"/>
                  <a:gd name="adj3" fmla="val 1857"/>
                </a:avLst>
              </a:prstGeom>
              <a:solidFill>
                <a:schemeClr val="accent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dirty="0">
                  <a:ln>
                    <a:noFill/>
                  </a:ln>
                  <a:solidFill>
                    <a:prstClr val="white"/>
                  </a:solidFill>
                  <a:effectLst/>
                  <a:uLnTx/>
                  <a:uFillTx/>
                  <a:latin typeface="Verdana"/>
                  <a:ea typeface="+mn-ea"/>
                  <a:cs typeface="+mn-cs"/>
                </a:endParaRPr>
              </a:p>
            </p:txBody>
          </p:sp>
          <p:sp>
            <p:nvSpPr>
              <p:cNvPr id="506" name="Block Arc 505"/>
              <p:cNvSpPr/>
              <p:nvPr/>
            </p:nvSpPr>
            <p:spPr bwMode="gray">
              <a:xfrm>
                <a:off x="5169194" y="1430866"/>
                <a:ext cx="1433206" cy="1472532"/>
              </a:xfrm>
              <a:prstGeom prst="blockArc">
                <a:avLst>
                  <a:gd name="adj1" fmla="val 19230586"/>
                  <a:gd name="adj2" fmla="val 13149094"/>
                  <a:gd name="adj3" fmla="val 1522"/>
                </a:avLst>
              </a:prstGeom>
              <a:solidFill>
                <a:schemeClr val="accent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dirty="0">
                  <a:ln>
                    <a:noFill/>
                  </a:ln>
                  <a:solidFill>
                    <a:prstClr val="white"/>
                  </a:solidFill>
                  <a:effectLst/>
                  <a:uLnTx/>
                  <a:uFillTx/>
                  <a:latin typeface="Verdana"/>
                  <a:ea typeface="+mn-ea"/>
                  <a:cs typeface="+mn-cs"/>
                </a:endParaRPr>
              </a:p>
            </p:txBody>
          </p:sp>
          <p:sp>
            <p:nvSpPr>
              <p:cNvPr id="507" name="Oval 506"/>
              <p:cNvSpPr/>
              <p:nvPr/>
            </p:nvSpPr>
            <p:spPr bwMode="gray">
              <a:xfrm rot="10800000">
                <a:off x="5104468" y="1364366"/>
                <a:ext cx="1562659" cy="1605533"/>
              </a:xfrm>
              <a:prstGeom prst="ellipse">
                <a:avLst/>
              </a:prstGeom>
              <a:noFill/>
              <a:ln w="19050" algn="ctr">
                <a:solidFill>
                  <a:schemeClr val="accent4"/>
                </a:solidFill>
                <a:prstDash val="dash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dirty="0">
                  <a:ln>
                    <a:noFill/>
                  </a:ln>
                  <a:solidFill>
                    <a:prstClr val="white"/>
                  </a:solidFill>
                  <a:effectLst/>
                  <a:uLnTx/>
                  <a:uFillTx/>
                  <a:latin typeface="Verdana"/>
                  <a:ea typeface="+mn-ea"/>
                  <a:cs typeface="+mn-cs"/>
                </a:endParaRPr>
              </a:p>
            </p:txBody>
          </p:sp>
          <p:sp>
            <p:nvSpPr>
              <p:cNvPr id="508" name="Oval 507">
                <a:hlinkClick r:id="" action="ppaction://noaction"/>
              </p:cNvPr>
              <p:cNvSpPr/>
              <p:nvPr/>
            </p:nvSpPr>
            <p:spPr bwMode="gray">
              <a:xfrm>
                <a:off x="5352992" y="1622826"/>
                <a:ext cx="1065605" cy="1094842"/>
              </a:xfrm>
              <a:prstGeom prst="ellipse">
                <a:avLst/>
              </a:prstGeom>
              <a:solidFill>
                <a:schemeClr val="accent4"/>
              </a:solidFill>
              <a:ln w="19050" algn="ctr">
                <a:noFill/>
                <a:miter lim="800000"/>
                <a:headEnd/>
                <a:tailEnd/>
              </a:ln>
            </p:spPr>
            <p:txBody>
              <a:bodyPr wrap="non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600" b="1" i="0" u="none" strike="noStrike" kern="1200" cap="none" spc="0" normalizeH="0" baseline="0" noProof="0" dirty="0">
                  <a:ln>
                    <a:noFill/>
                  </a:ln>
                  <a:solidFill>
                    <a:prstClr val="white"/>
                  </a:solidFill>
                  <a:effectLst/>
                  <a:uLnTx/>
                  <a:uFillTx/>
                  <a:latin typeface="Verdana"/>
                  <a:ea typeface="+mn-ea"/>
                  <a:cs typeface="+mn-cs"/>
                </a:endParaRPr>
              </a:p>
            </p:txBody>
          </p:sp>
          <p:sp>
            <p:nvSpPr>
              <p:cNvPr id="509" name="Freeform 54">
                <a:hlinkClick r:id="" action="ppaction://noaction"/>
              </p:cNvPr>
              <p:cNvSpPr>
                <a:spLocks noChangeAspect="1" noEditPoints="1"/>
              </p:cNvSpPr>
              <p:nvPr/>
            </p:nvSpPr>
            <p:spPr bwMode="auto">
              <a:xfrm>
                <a:off x="5601288" y="1944981"/>
                <a:ext cx="613197" cy="444299"/>
              </a:xfrm>
              <a:custGeom>
                <a:avLst/>
                <a:gdLst>
                  <a:gd name="T0" fmla="*/ 560 w 588"/>
                  <a:gd name="T1" fmla="*/ 233 h 408"/>
                  <a:gd name="T2" fmla="*/ 560 w 588"/>
                  <a:gd name="T3" fmla="*/ 257 h 408"/>
                  <a:gd name="T4" fmla="*/ 560 w 588"/>
                  <a:gd name="T5" fmla="*/ 233 h 408"/>
                  <a:gd name="T6" fmla="*/ 560 w 588"/>
                  <a:gd name="T7" fmla="*/ 324 h 408"/>
                  <a:gd name="T8" fmla="*/ 560 w 588"/>
                  <a:gd name="T9" fmla="*/ 348 h 408"/>
                  <a:gd name="T10" fmla="*/ 560 w 588"/>
                  <a:gd name="T11" fmla="*/ 324 h 408"/>
                  <a:gd name="T12" fmla="*/ 27 w 588"/>
                  <a:gd name="T13" fmla="*/ 348 h 408"/>
                  <a:gd name="T14" fmla="*/ 27 w 588"/>
                  <a:gd name="T15" fmla="*/ 324 h 408"/>
                  <a:gd name="T16" fmla="*/ 27 w 588"/>
                  <a:gd name="T17" fmla="*/ 348 h 408"/>
                  <a:gd name="T18" fmla="*/ 27 w 588"/>
                  <a:gd name="T19" fmla="*/ 257 h 408"/>
                  <a:gd name="T20" fmla="*/ 27 w 588"/>
                  <a:gd name="T21" fmla="*/ 233 h 408"/>
                  <a:gd name="T22" fmla="*/ 27 w 588"/>
                  <a:gd name="T23" fmla="*/ 257 h 408"/>
                  <a:gd name="T24" fmla="*/ 27 w 588"/>
                  <a:gd name="T25" fmla="*/ 166 h 408"/>
                  <a:gd name="T26" fmla="*/ 27 w 588"/>
                  <a:gd name="T27" fmla="*/ 141 h 408"/>
                  <a:gd name="T28" fmla="*/ 27 w 588"/>
                  <a:gd name="T29" fmla="*/ 166 h 408"/>
                  <a:gd name="T30" fmla="*/ 27 w 588"/>
                  <a:gd name="T31" fmla="*/ 75 h 408"/>
                  <a:gd name="T32" fmla="*/ 27 w 588"/>
                  <a:gd name="T33" fmla="*/ 50 h 408"/>
                  <a:gd name="T34" fmla="*/ 27 w 588"/>
                  <a:gd name="T35" fmla="*/ 75 h 408"/>
                  <a:gd name="T36" fmla="*/ 560 w 588"/>
                  <a:gd name="T37" fmla="*/ 50 h 408"/>
                  <a:gd name="T38" fmla="*/ 560 w 588"/>
                  <a:gd name="T39" fmla="*/ 75 h 408"/>
                  <a:gd name="T40" fmla="*/ 560 w 588"/>
                  <a:gd name="T41" fmla="*/ 50 h 408"/>
                  <a:gd name="T42" fmla="*/ 560 w 588"/>
                  <a:gd name="T43" fmla="*/ 141 h 408"/>
                  <a:gd name="T44" fmla="*/ 560 w 588"/>
                  <a:gd name="T45" fmla="*/ 166 h 408"/>
                  <a:gd name="T46" fmla="*/ 560 w 588"/>
                  <a:gd name="T47" fmla="*/ 141 h 408"/>
                  <a:gd name="T48" fmla="*/ 535 w 588"/>
                  <a:gd name="T49" fmla="*/ 166 h 408"/>
                  <a:gd name="T50" fmla="*/ 588 w 588"/>
                  <a:gd name="T51" fmla="*/ 154 h 408"/>
                  <a:gd name="T52" fmla="*/ 535 w 588"/>
                  <a:gd name="T53" fmla="*/ 141 h 408"/>
                  <a:gd name="T54" fmla="*/ 501 w 588"/>
                  <a:gd name="T55" fmla="*/ 75 h 408"/>
                  <a:gd name="T56" fmla="*/ 560 w 588"/>
                  <a:gd name="T57" fmla="*/ 90 h 408"/>
                  <a:gd name="T58" fmla="*/ 560 w 588"/>
                  <a:gd name="T59" fmla="*/ 35 h 408"/>
                  <a:gd name="T60" fmla="*/ 501 w 588"/>
                  <a:gd name="T61" fmla="*/ 50 h 408"/>
                  <a:gd name="T62" fmla="*/ 450 w 588"/>
                  <a:gd name="T63" fmla="*/ 0 h 408"/>
                  <a:gd name="T64" fmla="*/ 86 w 588"/>
                  <a:gd name="T65" fmla="*/ 50 h 408"/>
                  <a:gd name="T66" fmla="*/ 52 w 588"/>
                  <a:gd name="T67" fmla="*/ 50 h 408"/>
                  <a:gd name="T68" fmla="*/ 0 w 588"/>
                  <a:gd name="T69" fmla="*/ 62 h 408"/>
                  <a:gd name="T70" fmla="*/ 52 w 588"/>
                  <a:gd name="T71" fmla="*/ 75 h 408"/>
                  <a:gd name="T72" fmla="*/ 86 w 588"/>
                  <a:gd name="T73" fmla="*/ 141 h 408"/>
                  <a:gd name="T74" fmla="*/ 27 w 588"/>
                  <a:gd name="T75" fmla="*/ 126 h 408"/>
                  <a:gd name="T76" fmla="*/ 27 w 588"/>
                  <a:gd name="T77" fmla="*/ 181 h 408"/>
                  <a:gd name="T78" fmla="*/ 86 w 588"/>
                  <a:gd name="T79" fmla="*/ 166 h 408"/>
                  <a:gd name="T80" fmla="*/ 52 w 588"/>
                  <a:gd name="T81" fmla="*/ 232 h 408"/>
                  <a:gd name="T82" fmla="*/ 0 w 588"/>
                  <a:gd name="T83" fmla="*/ 245 h 408"/>
                  <a:gd name="T84" fmla="*/ 52 w 588"/>
                  <a:gd name="T85" fmla="*/ 257 h 408"/>
                  <a:gd name="T86" fmla="*/ 86 w 588"/>
                  <a:gd name="T87" fmla="*/ 323 h 408"/>
                  <a:gd name="T88" fmla="*/ 27 w 588"/>
                  <a:gd name="T89" fmla="*/ 308 h 408"/>
                  <a:gd name="T90" fmla="*/ 27 w 588"/>
                  <a:gd name="T91" fmla="*/ 364 h 408"/>
                  <a:gd name="T92" fmla="*/ 86 w 588"/>
                  <a:gd name="T93" fmla="*/ 348 h 408"/>
                  <a:gd name="T94" fmla="*/ 91 w 588"/>
                  <a:gd name="T95" fmla="*/ 381 h 408"/>
                  <a:gd name="T96" fmla="*/ 218 w 588"/>
                  <a:gd name="T97" fmla="*/ 148 h 408"/>
                  <a:gd name="T98" fmla="*/ 350 w 588"/>
                  <a:gd name="T99" fmla="*/ 130 h 408"/>
                  <a:gd name="T100" fmla="*/ 368 w 588"/>
                  <a:gd name="T101" fmla="*/ 260 h 408"/>
                  <a:gd name="T102" fmla="*/ 244 w 588"/>
                  <a:gd name="T103" fmla="*/ 278 h 408"/>
                  <a:gd name="T104" fmla="*/ 136 w 588"/>
                  <a:gd name="T105" fmla="*/ 408 h 408"/>
                  <a:gd name="T106" fmla="*/ 501 w 588"/>
                  <a:gd name="T107" fmla="*/ 358 h 408"/>
                  <a:gd name="T108" fmla="*/ 535 w 588"/>
                  <a:gd name="T109" fmla="*/ 348 h 408"/>
                  <a:gd name="T110" fmla="*/ 588 w 588"/>
                  <a:gd name="T111" fmla="*/ 336 h 408"/>
                  <a:gd name="T112" fmla="*/ 535 w 588"/>
                  <a:gd name="T113" fmla="*/ 323 h 408"/>
                  <a:gd name="T114" fmla="*/ 501 w 588"/>
                  <a:gd name="T115" fmla="*/ 257 h 408"/>
                  <a:gd name="T116" fmla="*/ 560 w 588"/>
                  <a:gd name="T117" fmla="*/ 273 h 408"/>
                  <a:gd name="T118" fmla="*/ 560 w 588"/>
                  <a:gd name="T119" fmla="*/ 217 h 408"/>
                  <a:gd name="T120" fmla="*/ 501 w 588"/>
                  <a:gd name="T121" fmla="*/ 232 h 408"/>
                  <a:gd name="T122" fmla="*/ 535 w 588"/>
                  <a:gd name="T123" fmla="*/ 166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88" h="408">
                    <a:moveTo>
                      <a:pt x="560" y="233"/>
                    </a:moveTo>
                    <a:lnTo>
                      <a:pt x="560" y="233"/>
                    </a:lnTo>
                    <a:cubicBezTo>
                      <a:pt x="567" y="233"/>
                      <a:pt x="572" y="238"/>
                      <a:pt x="572" y="245"/>
                    </a:cubicBezTo>
                    <a:cubicBezTo>
                      <a:pt x="572" y="252"/>
                      <a:pt x="567" y="257"/>
                      <a:pt x="560" y="257"/>
                    </a:cubicBezTo>
                    <a:cubicBezTo>
                      <a:pt x="553" y="257"/>
                      <a:pt x="548" y="252"/>
                      <a:pt x="548" y="245"/>
                    </a:cubicBezTo>
                    <a:cubicBezTo>
                      <a:pt x="548" y="238"/>
                      <a:pt x="553" y="233"/>
                      <a:pt x="560" y="233"/>
                    </a:cubicBezTo>
                    <a:close/>
                    <a:moveTo>
                      <a:pt x="560" y="324"/>
                    </a:moveTo>
                    <a:lnTo>
                      <a:pt x="560" y="324"/>
                    </a:lnTo>
                    <a:cubicBezTo>
                      <a:pt x="567" y="324"/>
                      <a:pt x="572" y="329"/>
                      <a:pt x="572" y="336"/>
                    </a:cubicBezTo>
                    <a:cubicBezTo>
                      <a:pt x="572" y="343"/>
                      <a:pt x="567" y="348"/>
                      <a:pt x="560" y="348"/>
                    </a:cubicBezTo>
                    <a:cubicBezTo>
                      <a:pt x="553" y="348"/>
                      <a:pt x="548" y="343"/>
                      <a:pt x="548" y="336"/>
                    </a:cubicBezTo>
                    <a:cubicBezTo>
                      <a:pt x="548" y="329"/>
                      <a:pt x="553" y="324"/>
                      <a:pt x="560" y="324"/>
                    </a:cubicBezTo>
                    <a:close/>
                    <a:moveTo>
                      <a:pt x="27" y="348"/>
                    </a:moveTo>
                    <a:lnTo>
                      <a:pt x="27" y="348"/>
                    </a:lnTo>
                    <a:cubicBezTo>
                      <a:pt x="20" y="348"/>
                      <a:pt x="15" y="343"/>
                      <a:pt x="15" y="336"/>
                    </a:cubicBezTo>
                    <a:cubicBezTo>
                      <a:pt x="15" y="329"/>
                      <a:pt x="20" y="324"/>
                      <a:pt x="27" y="324"/>
                    </a:cubicBezTo>
                    <a:cubicBezTo>
                      <a:pt x="34" y="324"/>
                      <a:pt x="39" y="329"/>
                      <a:pt x="39" y="336"/>
                    </a:cubicBezTo>
                    <a:cubicBezTo>
                      <a:pt x="39" y="343"/>
                      <a:pt x="34" y="348"/>
                      <a:pt x="27" y="348"/>
                    </a:cubicBezTo>
                    <a:close/>
                    <a:moveTo>
                      <a:pt x="27" y="257"/>
                    </a:moveTo>
                    <a:lnTo>
                      <a:pt x="27" y="257"/>
                    </a:lnTo>
                    <a:cubicBezTo>
                      <a:pt x="20" y="257"/>
                      <a:pt x="15" y="252"/>
                      <a:pt x="15" y="245"/>
                    </a:cubicBezTo>
                    <a:cubicBezTo>
                      <a:pt x="15" y="238"/>
                      <a:pt x="20" y="233"/>
                      <a:pt x="27" y="233"/>
                    </a:cubicBezTo>
                    <a:cubicBezTo>
                      <a:pt x="34" y="233"/>
                      <a:pt x="39" y="238"/>
                      <a:pt x="39" y="245"/>
                    </a:cubicBezTo>
                    <a:cubicBezTo>
                      <a:pt x="39" y="252"/>
                      <a:pt x="34" y="257"/>
                      <a:pt x="27" y="257"/>
                    </a:cubicBezTo>
                    <a:close/>
                    <a:moveTo>
                      <a:pt x="27" y="166"/>
                    </a:moveTo>
                    <a:lnTo>
                      <a:pt x="27" y="166"/>
                    </a:lnTo>
                    <a:cubicBezTo>
                      <a:pt x="20" y="166"/>
                      <a:pt x="15" y="160"/>
                      <a:pt x="15" y="154"/>
                    </a:cubicBezTo>
                    <a:cubicBezTo>
                      <a:pt x="15" y="147"/>
                      <a:pt x="20" y="141"/>
                      <a:pt x="27" y="141"/>
                    </a:cubicBezTo>
                    <a:cubicBezTo>
                      <a:pt x="34" y="141"/>
                      <a:pt x="39" y="147"/>
                      <a:pt x="39" y="154"/>
                    </a:cubicBezTo>
                    <a:cubicBezTo>
                      <a:pt x="39" y="160"/>
                      <a:pt x="34" y="166"/>
                      <a:pt x="27" y="166"/>
                    </a:cubicBezTo>
                    <a:close/>
                    <a:moveTo>
                      <a:pt x="27" y="75"/>
                    </a:moveTo>
                    <a:lnTo>
                      <a:pt x="27" y="75"/>
                    </a:lnTo>
                    <a:cubicBezTo>
                      <a:pt x="20" y="75"/>
                      <a:pt x="15" y="69"/>
                      <a:pt x="15" y="62"/>
                    </a:cubicBezTo>
                    <a:cubicBezTo>
                      <a:pt x="15" y="56"/>
                      <a:pt x="20" y="50"/>
                      <a:pt x="27" y="50"/>
                    </a:cubicBezTo>
                    <a:cubicBezTo>
                      <a:pt x="34" y="50"/>
                      <a:pt x="39" y="56"/>
                      <a:pt x="39" y="62"/>
                    </a:cubicBezTo>
                    <a:cubicBezTo>
                      <a:pt x="39" y="69"/>
                      <a:pt x="34" y="75"/>
                      <a:pt x="27" y="75"/>
                    </a:cubicBezTo>
                    <a:close/>
                    <a:moveTo>
                      <a:pt x="560" y="50"/>
                    </a:moveTo>
                    <a:lnTo>
                      <a:pt x="560" y="50"/>
                    </a:lnTo>
                    <a:cubicBezTo>
                      <a:pt x="567" y="50"/>
                      <a:pt x="572" y="56"/>
                      <a:pt x="572" y="62"/>
                    </a:cubicBezTo>
                    <a:cubicBezTo>
                      <a:pt x="572" y="69"/>
                      <a:pt x="567" y="75"/>
                      <a:pt x="560" y="75"/>
                    </a:cubicBezTo>
                    <a:cubicBezTo>
                      <a:pt x="553" y="75"/>
                      <a:pt x="548" y="69"/>
                      <a:pt x="548" y="62"/>
                    </a:cubicBezTo>
                    <a:cubicBezTo>
                      <a:pt x="548" y="56"/>
                      <a:pt x="553" y="50"/>
                      <a:pt x="560" y="50"/>
                    </a:cubicBezTo>
                    <a:close/>
                    <a:moveTo>
                      <a:pt x="560" y="141"/>
                    </a:moveTo>
                    <a:lnTo>
                      <a:pt x="560" y="141"/>
                    </a:lnTo>
                    <a:cubicBezTo>
                      <a:pt x="567" y="141"/>
                      <a:pt x="572" y="147"/>
                      <a:pt x="572" y="154"/>
                    </a:cubicBezTo>
                    <a:cubicBezTo>
                      <a:pt x="572" y="160"/>
                      <a:pt x="567" y="166"/>
                      <a:pt x="560" y="166"/>
                    </a:cubicBezTo>
                    <a:cubicBezTo>
                      <a:pt x="553" y="166"/>
                      <a:pt x="548" y="160"/>
                      <a:pt x="548" y="154"/>
                    </a:cubicBezTo>
                    <a:cubicBezTo>
                      <a:pt x="548" y="147"/>
                      <a:pt x="553" y="141"/>
                      <a:pt x="560" y="141"/>
                    </a:cubicBezTo>
                    <a:close/>
                    <a:moveTo>
                      <a:pt x="535" y="166"/>
                    </a:moveTo>
                    <a:lnTo>
                      <a:pt x="535" y="166"/>
                    </a:lnTo>
                    <a:cubicBezTo>
                      <a:pt x="540" y="175"/>
                      <a:pt x="549" y="181"/>
                      <a:pt x="560" y="181"/>
                    </a:cubicBezTo>
                    <a:cubicBezTo>
                      <a:pt x="575" y="181"/>
                      <a:pt x="588" y="169"/>
                      <a:pt x="588" y="154"/>
                    </a:cubicBezTo>
                    <a:cubicBezTo>
                      <a:pt x="588" y="138"/>
                      <a:pt x="575" y="126"/>
                      <a:pt x="560" y="126"/>
                    </a:cubicBezTo>
                    <a:cubicBezTo>
                      <a:pt x="549" y="126"/>
                      <a:pt x="540" y="132"/>
                      <a:pt x="535" y="141"/>
                    </a:cubicBezTo>
                    <a:lnTo>
                      <a:pt x="501" y="141"/>
                    </a:lnTo>
                    <a:lnTo>
                      <a:pt x="501" y="75"/>
                    </a:lnTo>
                    <a:lnTo>
                      <a:pt x="535" y="75"/>
                    </a:lnTo>
                    <a:cubicBezTo>
                      <a:pt x="540" y="84"/>
                      <a:pt x="549" y="90"/>
                      <a:pt x="560" y="90"/>
                    </a:cubicBezTo>
                    <a:cubicBezTo>
                      <a:pt x="575" y="90"/>
                      <a:pt x="588" y="78"/>
                      <a:pt x="588" y="62"/>
                    </a:cubicBezTo>
                    <a:cubicBezTo>
                      <a:pt x="588" y="47"/>
                      <a:pt x="575" y="35"/>
                      <a:pt x="560" y="35"/>
                    </a:cubicBezTo>
                    <a:cubicBezTo>
                      <a:pt x="549" y="35"/>
                      <a:pt x="540" y="41"/>
                      <a:pt x="535" y="50"/>
                    </a:cubicBezTo>
                    <a:lnTo>
                      <a:pt x="501" y="50"/>
                    </a:lnTo>
                    <a:lnTo>
                      <a:pt x="501" y="50"/>
                    </a:lnTo>
                    <a:cubicBezTo>
                      <a:pt x="501" y="22"/>
                      <a:pt x="478" y="0"/>
                      <a:pt x="450" y="0"/>
                    </a:cubicBezTo>
                    <a:lnTo>
                      <a:pt x="136" y="0"/>
                    </a:lnTo>
                    <a:cubicBezTo>
                      <a:pt x="108" y="0"/>
                      <a:pt x="86" y="22"/>
                      <a:pt x="86" y="50"/>
                    </a:cubicBezTo>
                    <a:lnTo>
                      <a:pt x="86" y="50"/>
                    </a:lnTo>
                    <a:lnTo>
                      <a:pt x="52" y="50"/>
                    </a:lnTo>
                    <a:cubicBezTo>
                      <a:pt x="47" y="41"/>
                      <a:pt x="38" y="35"/>
                      <a:pt x="27" y="35"/>
                    </a:cubicBezTo>
                    <a:cubicBezTo>
                      <a:pt x="12" y="35"/>
                      <a:pt x="0" y="47"/>
                      <a:pt x="0" y="62"/>
                    </a:cubicBezTo>
                    <a:cubicBezTo>
                      <a:pt x="0" y="78"/>
                      <a:pt x="12" y="90"/>
                      <a:pt x="27" y="90"/>
                    </a:cubicBezTo>
                    <a:cubicBezTo>
                      <a:pt x="38" y="90"/>
                      <a:pt x="47" y="84"/>
                      <a:pt x="52" y="75"/>
                    </a:cubicBezTo>
                    <a:lnTo>
                      <a:pt x="86" y="75"/>
                    </a:lnTo>
                    <a:lnTo>
                      <a:pt x="86" y="141"/>
                    </a:lnTo>
                    <a:lnTo>
                      <a:pt x="52" y="141"/>
                    </a:lnTo>
                    <a:cubicBezTo>
                      <a:pt x="47" y="132"/>
                      <a:pt x="38" y="126"/>
                      <a:pt x="27" y="126"/>
                    </a:cubicBezTo>
                    <a:cubicBezTo>
                      <a:pt x="12" y="126"/>
                      <a:pt x="0" y="138"/>
                      <a:pt x="0" y="154"/>
                    </a:cubicBezTo>
                    <a:cubicBezTo>
                      <a:pt x="0" y="169"/>
                      <a:pt x="12" y="181"/>
                      <a:pt x="27" y="181"/>
                    </a:cubicBezTo>
                    <a:cubicBezTo>
                      <a:pt x="38" y="181"/>
                      <a:pt x="47" y="175"/>
                      <a:pt x="52" y="166"/>
                    </a:cubicBezTo>
                    <a:lnTo>
                      <a:pt x="86" y="166"/>
                    </a:lnTo>
                    <a:lnTo>
                      <a:pt x="86" y="232"/>
                    </a:lnTo>
                    <a:lnTo>
                      <a:pt x="52" y="232"/>
                    </a:lnTo>
                    <a:cubicBezTo>
                      <a:pt x="47" y="223"/>
                      <a:pt x="38" y="217"/>
                      <a:pt x="27" y="217"/>
                    </a:cubicBezTo>
                    <a:cubicBezTo>
                      <a:pt x="12" y="217"/>
                      <a:pt x="0" y="229"/>
                      <a:pt x="0" y="245"/>
                    </a:cubicBezTo>
                    <a:cubicBezTo>
                      <a:pt x="0" y="260"/>
                      <a:pt x="12" y="273"/>
                      <a:pt x="27" y="273"/>
                    </a:cubicBezTo>
                    <a:cubicBezTo>
                      <a:pt x="38" y="273"/>
                      <a:pt x="47" y="266"/>
                      <a:pt x="52" y="257"/>
                    </a:cubicBezTo>
                    <a:lnTo>
                      <a:pt x="86" y="257"/>
                    </a:lnTo>
                    <a:lnTo>
                      <a:pt x="86" y="323"/>
                    </a:lnTo>
                    <a:lnTo>
                      <a:pt x="52" y="323"/>
                    </a:lnTo>
                    <a:cubicBezTo>
                      <a:pt x="47" y="314"/>
                      <a:pt x="38" y="308"/>
                      <a:pt x="27" y="308"/>
                    </a:cubicBezTo>
                    <a:cubicBezTo>
                      <a:pt x="12" y="308"/>
                      <a:pt x="0" y="321"/>
                      <a:pt x="0" y="336"/>
                    </a:cubicBezTo>
                    <a:cubicBezTo>
                      <a:pt x="0" y="351"/>
                      <a:pt x="12" y="364"/>
                      <a:pt x="27" y="364"/>
                    </a:cubicBezTo>
                    <a:cubicBezTo>
                      <a:pt x="38" y="364"/>
                      <a:pt x="47" y="357"/>
                      <a:pt x="52" y="348"/>
                    </a:cubicBezTo>
                    <a:lnTo>
                      <a:pt x="86" y="348"/>
                    </a:lnTo>
                    <a:lnTo>
                      <a:pt x="86" y="358"/>
                    </a:lnTo>
                    <a:cubicBezTo>
                      <a:pt x="86" y="366"/>
                      <a:pt x="88" y="374"/>
                      <a:pt x="91" y="381"/>
                    </a:cubicBezTo>
                    <a:lnTo>
                      <a:pt x="218" y="254"/>
                    </a:lnTo>
                    <a:lnTo>
                      <a:pt x="218" y="148"/>
                    </a:lnTo>
                    <a:cubicBezTo>
                      <a:pt x="218" y="138"/>
                      <a:pt x="226" y="130"/>
                      <a:pt x="236" y="130"/>
                    </a:cubicBezTo>
                    <a:lnTo>
                      <a:pt x="350" y="130"/>
                    </a:lnTo>
                    <a:cubicBezTo>
                      <a:pt x="360" y="130"/>
                      <a:pt x="368" y="138"/>
                      <a:pt x="368" y="148"/>
                    </a:cubicBezTo>
                    <a:lnTo>
                      <a:pt x="368" y="260"/>
                    </a:lnTo>
                    <a:cubicBezTo>
                      <a:pt x="368" y="270"/>
                      <a:pt x="360" y="278"/>
                      <a:pt x="350" y="278"/>
                    </a:cubicBezTo>
                    <a:lnTo>
                      <a:pt x="244" y="278"/>
                    </a:lnTo>
                    <a:lnTo>
                      <a:pt x="118" y="405"/>
                    </a:lnTo>
                    <a:cubicBezTo>
                      <a:pt x="123" y="407"/>
                      <a:pt x="130" y="408"/>
                      <a:pt x="136" y="408"/>
                    </a:cubicBezTo>
                    <a:lnTo>
                      <a:pt x="450" y="408"/>
                    </a:lnTo>
                    <a:cubicBezTo>
                      <a:pt x="478" y="408"/>
                      <a:pt x="501" y="386"/>
                      <a:pt x="501" y="358"/>
                    </a:cubicBezTo>
                    <a:lnTo>
                      <a:pt x="501" y="348"/>
                    </a:lnTo>
                    <a:lnTo>
                      <a:pt x="535" y="348"/>
                    </a:lnTo>
                    <a:cubicBezTo>
                      <a:pt x="540" y="357"/>
                      <a:pt x="549" y="364"/>
                      <a:pt x="560" y="364"/>
                    </a:cubicBezTo>
                    <a:cubicBezTo>
                      <a:pt x="575" y="364"/>
                      <a:pt x="588" y="351"/>
                      <a:pt x="588" y="336"/>
                    </a:cubicBezTo>
                    <a:cubicBezTo>
                      <a:pt x="588" y="321"/>
                      <a:pt x="575" y="308"/>
                      <a:pt x="560" y="308"/>
                    </a:cubicBezTo>
                    <a:cubicBezTo>
                      <a:pt x="549" y="308"/>
                      <a:pt x="540" y="314"/>
                      <a:pt x="535" y="323"/>
                    </a:cubicBezTo>
                    <a:lnTo>
                      <a:pt x="501" y="323"/>
                    </a:lnTo>
                    <a:lnTo>
                      <a:pt x="501" y="257"/>
                    </a:lnTo>
                    <a:lnTo>
                      <a:pt x="535" y="257"/>
                    </a:lnTo>
                    <a:cubicBezTo>
                      <a:pt x="540" y="266"/>
                      <a:pt x="549" y="273"/>
                      <a:pt x="560" y="273"/>
                    </a:cubicBezTo>
                    <a:cubicBezTo>
                      <a:pt x="575" y="273"/>
                      <a:pt x="588" y="260"/>
                      <a:pt x="588" y="245"/>
                    </a:cubicBezTo>
                    <a:cubicBezTo>
                      <a:pt x="588" y="229"/>
                      <a:pt x="575" y="217"/>
                      <a:pt x="560" y="217"/>
                    </a:cubicBezTo>
                    <a:cubicBezTo>
                      <a:pt x="549" y="217"/>
                      <a:pt x="540" y="223"/>
                      <a:pt x="535" y="232"/>
                    </a:cubicBezTo>
                    <a:lnTo>
                      <a:pt x="501" y="232"/>
                    </a:lnTo>
                    <a:lnTo>
                      <a:pt x="501" y="166"/>
                    </a:lnTo>
                    <a:lnTo>
                      <a:pt x="535" y="166"/>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Verdana"/>
                  <a:ea typeface="+mn-ea"/>
                  <a:cs typeface="+mn-cs"/>
                </a:endParaRPr>
              </a:p>
            </p:txBody>
          </p:sp>
        </p:grpSp>
        <p:grpSp>
          <p:nvGrpSpPr>
            <p:cNvPr id="430" name="Group 429"/>
            <p:cNvGrpSpPr/>
            <p:nvPr/>
          </p:nvGrpSpPr>
          <p:grpSpPr>
            <a:xfrm>
              <a:off x="3389257" y="4905435"/>
              <a:ext cx="1118608" cy="1153332"/>
              <a:chOff x="4589609" y="2011953"/>
              <a:chExt cx="2684038" cy="2717064"/>
            </a:xfrm>
          </p:grpSpPr>
          <p:sp>
            <p:nvSpPr>
              <p:cNvPr id="501" name="Block Arc 500"/>
              <p:cNvSpPr/>
              <p:nvPr/>
            </p:nvSpPr>
            <p:spPr bwMode="gray">
              <a:xfrm rot="10800000">
                <a:off x="4835400" y="2260769"/>
                <a:ext cx="2192453" cy="2219430"/>
              </a:xfrm>
              <a:prstGeom prst="blockArc">
                <a:avLst>
                  <a:gd name="adj1" fmla="val 19230586"/>
                  <a:gd name="adj2" fmla="val 13033067"/>
                  <a:gd name="adj3" fmla="val 1857"/>
                </a:avLst>
              </a:prstGeom>
              <a:solidFill>
                <a:srgbClr val="005587"/>
              </a:solidFill>
              <a:ln w="19050" algn="ctr">
                <a:solidFill>
                  <a:srgbClr val="005587"/>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dirty="0">
                  <a:ln>
                    <a:noFill/>
                  </a:ln>
                  <a:solidFill>
                    <a:prstClr val="white"/>
                  </a:solidFill>
                  <a:effectLst/>
                  <a:uLnTx/>
                  <a:uFillTx/>
                  <a:latin typeface="Verdana"/>
                  <a:ea typeface="+mn-ea"/>
                  <a:cs typeface="+mn-cs"/>
                </a:endParaRPr>
              </a:p>
            </p:txBody>
          </p:sp>
          <p:sp>
            <p:nvSpPr>
              <p:cNvPr id="502" name="Block Arc 501"/>
              <p:cNvSpPr/>
              <p:nvPr/>
            </p:nvSpPr>
            <p:spPr bwMode="gray">
              <a:xfrm>
                <a:off x="4700782" y="2124492"/>
                <a:ext cx="2461688" cy="2491984"/>
              </a:xfrm>
              <a:prstGeom prst="blockArc">
                <a:avLst>
                  <a:gd name="adj1" fmla="val 19230586"/>
                  <a:gd name="adj2" fmla="val 13149094"/>
                  <a:gd name="adj3" fmla="val 1522"/>
                </a:avLst>
              </a:prstGeom>
              <a:solidFill>
                <a:srgbClr val="005587"/>
              </a:solidFill>
              <a:ln w="19050" algn="ctr">
                <a:solidFill>
                  <a:srgbClr val="005587"/>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dirty="0">
                  <a:ln>
                    <a:noFill/>
                  </a:ln>
                  <a:solidFill>
                    <a:prstClr val="white"/>
                  </a:solidFill>
                  <a:effectLst/>
                  <a:uLnTx/>
                  <a:uFillTx/>
                  <a:latin typeface="Verdana"/>
                  <a:ea typeface="+mn-ea"/>
                  <a:cs typeface="+mn-cs"/>
                </a:endParaRPr>
              </a:p>
            </p:txBody>
          </p:sp>
          <p:sp>
            <p:nvSpPr>
              <p:cNvPr id="503" name="Oval 502"/>
              <p:cNvSpPr/>
              <p:nvPr/>
            </p:nvSpPr>
            <p:spPr bwMode="gray">
              <a:xfrm rot="10800000">
                <a:off x="4589609" y="2011953"/>
                <a:ext cx="2684038" cy="2717064"/>
              </a:xfrm>
              <a:prstGeom prst="ellipse">
                <a:avLst/>
              </a:prstGeom>
              <a:noFill/>
              <a:ln w="19050" algn="ctr">
                <a:solidFill>
                  <a:srgbClr val="005587"/>
                </a:solidFill>
                <a:prstDash val="dash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dirty="0">
                  <a:ln>
                    <a:noFill/>
                  </a:ln>
                  <a:solidFill>
                    <a:prstClr val="white"/>
                  </a:solidFill>
                  <a:effectLst/>
                  <a:uLnTx/>
                  <a:uFillTx/>
                  <a:latin typeface="Verdana"/>
                  <a:ea typeface="+mn-ea"/>
                  <a:cs typeface="+mn-cs"/>
                </a:endParaRPr>
              </a:p>
            </p:txBody>
          </p:sp>
          <p:sp>
            <p:nvSpPr>
              <p:cNvPr id="504" name="Oval 503">
                <a:hlinkClick r:id="rId2" action="ppaction://hlinksldjump"/>
              </p:cNvPr>
              <p:cNvSpPr/>
              <p:nvPr/>
            </p:nvSpPr>
            <p:spPr bwMode="gray">
              <a:xfrm>
                <a:off x="5016480" y="2448518"/>
                <a:ext cx="1830294" cy="1852815"/>
              </a:xfrm>
              <a:prstGeom prst="ellipse">
                <a:avLst/>
              </a:prstGeom>
              <a:solidFill>
                <a:srgbClr val="005587"/>
              </a:solidFill>
              <a:ln w="19050" algn="ctr">
                <a:solidFill>
                  <a:srgbClr val="005587"/>
                </a:solidFill>
                <a:miter lim="800000"/>
                <a:headEnd/>
                <a:tailEnd/>
              </a:ln>
            </p:spPr>
            <p:txBody>
              <a:bodyPr wrap="non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600" b="1" i="0" u="none" strike="noStrike" kern="1200" cap="none" spc="0" normalizeH="0" baseline="0" noProof="0" dirty="0">
                  <a:ln>
                    <a:noFill/>
                  </a:ln>
                  <a:solidFill>
                    <a:prstClr val="white"/>
                  </a:solidFill>
                  <a:effectLst/>
                  <a:uLnTx/>
                  <a:uFillTx/>
                  <a:latin typeface="Verdana"/>
                  <a:ea typeface="+mn-ea"/>
                  <a:cs typeface="+mn-cs"/>
                </a:endParaRPr>
              </a:p>
            </p:txBody>
          </p:sp>
        </p:grpSp>
        <p:grpSp>
          <p:nvGrpSpPr>
            <p:cNvPr id="431" name="Group 430"/>
            <p:cNvGrpSpPr/>
            <p:nvPr/>
          </p:nvGrpSpPr>
          <p:grpSpPr>
            <a:xfrm>
              <a:off x="383006" y="4905435"/>
              <a:ext cx="1141357" cy="1161468"/>
              <a:chOff x="8131763" y="2011952"/>
              <a:chExt cx="2684038" cy="2717064"/>
            </a:xfrm>
          </p:grpSpPr>
          <p:sp>
            <p:nvSpPr>
              <p:cNvPr id="496" name="Block Arc 495"/>
              <p:cNvSpPr/>
              <p:nvPr/>
            </p:nvSpPr>
            <p:spPr bwMode="gray">
              <a:xfrm rot="10800000">
                <a:off x="8377554" y="2260768"/>
                <a:ext cx="2192453" cy="2219430"/>
              </a:xfrm>
              <a:prstGeom prst="blockArc">
                <a:avLst>
                  <a:gd name="adj1" fmla="val 19230586"/>
                  <a:gd name="adj2" fmla="val 13033067"/>
                  <a:gd name="adj3" fmla="val 1857"/>
                </a:avLst>
              </a:prstGeom>
              <a:solidFill>
                <a:srgbClr val="009A44"/>
              </a:solid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dirty="0">
                  <a:ln>
                    <a:noFill/>
                  </a:ln>
                  <a:solidFill>
                    <a:prstClr val="white"/>
                  </a:solidFill>
                  <a:effectLst/>
                  <a:uLnTx/>
                  <a:uFillTx/>
                  <a:latin typeface="Verdana"/>
                  <a:ea typeface="+mn-ea"/>
                  <a:cs typeface="+mn-cs"/>
                </a:endParaRPr>
              </a:p>
            </p:txBody>
          </p:sp>
          <p:sp>
            <p:nvSpPr>
              <p:cNvPr id="497" name="Block Arc 496"/>
              <p:cNvSpPr/>
              <p:nvPr/>
            </p:nvSpPr>
            <p:spPr bwMode="gray">
              <a:xfrm>
                <a:off x="8242936" y="2124491"/>
                <a:ext cx="2461688" cy="2491984"/>
              </a:xfrm>
              <a:prstGeom prst="blockArc">
                <a:avLst>
                  <a:gd name="adj1" fmla="val 19230586"/>
                  <a:gd name="adj2" fmla="val 13149094"/>
                  <a:gd name="adj3" fmla="val 1522"/>
                </a:avLst>
              </a:prstGeom>
              <a:solidFill>
                <a:srgbClr val="009A44"/>
              </a:solidFill>
              <a:ln w="19050" algn="ctr">
                <a:solidFill>
                  <a:srgbClr val="009A4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dirty="0">
                  <a:ln>
                    <a:noFill/>
                  </a:ln>
                  <a:solidFill>
                    <a:prstClr val="white"/>
                  </a:solidFill>
                  <a:effectLst/>
                  <a:uLnTx/>
                  <a:uFillTx/>
                  <a:latin typeface="Verdana"/>
                  <a:ea typeface="+mn-ea"/>
                  <a:cs typeface="+mn-cs"/>
                </a:endParaRPr>
              </a:p>
            </p:txBody>
          </p:sp>
          <p:sp>
            <p:nvSpPr>
              <p:cNvPr id="498" name="Oval 497"/>
              <p:cNvSpPr/>
              <p:nvPr/>
            </p:nvSpPr>
            <p:spPr bwMode="gray">
              <a:xfrm rot="10800000">
                <a:off x="8131763" y="2011952"/>
                <a:ext cx="2684038" cy="2717064"/>
              </a:xfrm>
              <a:prstGeom prst="ellipse">
                <a:avLst/>
              </a:prstGeom>
              <a:noFill/>
              <a:ln w="19050" algn="ctr">
                <a:solidFill>
                  <a:srgbClr val="009A44"/>
                </a:solidFill>
                <a:prstDash val="dash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dirty="0">
                  <a:ln>
                    <a:noFill/>
                  </a:ln>
                  <a:solidFill>
                    <a:prstClr val="white"/>
                  </a:solidFill>
                  <a:effectLst/>
                  <a:uLnTx/>
                  <a:uFillTx/>
                  <a:latin typeface="Verdana"/>
                  <a:ea typeface="+mn-ea"/>
                  <a:cs typeface="+mn-cs"/>
                </a:endParaRPr>
              </a:p>
            </p:txBody>
          </p:sp>
          <p:sp>
            <p:nvSpPr>
              <p:cNvPr id="499" name="Oval 498">
                <a:hlinkClick r:id="rId3" action="ppaction://hlinksldjump"/>
              </p:cNvPr>
              <p:cNvSpPr/>
              <p:nvPr/>
            </p:nvSpPr>
            <p:spPr bwMode="gray">
              <a:xfrm>
                <a:off x="8558634" y="2448517"/>
                <a:ext cx="1830294" cy="1852815"/>
              </a:xfrm>
              <a:prstGeom prst="ellipse">
                <a:avLst/>
              </a:prstGeom>
              <a:solidFill>
                <a:srgbClr val="009A44"/>
              </a:solidFill>
              <a:ln w="19050" algn="ctr">
                <a:noFill/>
                <a:miter lim="800000"/>
                <a:headEnd/>
                <a:tailEnd/>
              </a:ln>
            </p:spPr>
            <p:txBody>
              <a:bodyPr wrap="non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600" b="1" i="0" u="none" strike="noStrike" kern="1200" cap="none" spc="0" normalizeH="0" baseline="0" noProof="0" dirty="0">
                  <a:ln>
                    <a:noFill/>
                  </a:ln>
                  <a:solidFill>
                    <a:prstClr val="white"/>
                  </a:solidFill>
                  <a:effectLst/>
                  <a:uLnTx/>
                  <a:uFillTx/>
                  <a:latin typeface="Verdana"/>
                  <a:ea typeface="+mn-ea"/>
                  <a:cs typeface="+mn-cs"/>
                </a:endParaRPr>
              </a:p>
            </p:txBody>
          </p:sp>
          <p:sp>
            <p:nvSpPr>
              <p:cNvPr id="500" name="Freeform 5">
                <a:hlinkClick r:id="rId3" action="ppaction://hlinksldjump"/>
              </p:cNvPr>
              <p:cNvSpPr>
                <a:spLocks noChangeAspect="1" noEditPoints="1"/>
              </p:cNvSpPr>
              <p:nvPr/>
            </p:nvSpPr>
            <p:spPr bwMode="auto">
              <a:xfrm>
                <a:off x="8981499" y="2855836"/>
                <a:ext cx="984562" cy="906646"/>
              </a:xfrm>
              <a:custGeom>
                <a:avLst/>
                <a:gdLst>
                  <a:gd name="T0" fmla="*/ 630 w 676"/>
                  <a:gd name="T1" fmla="*/ 155 h 627"/>
                  <a:gd name="T2" fmla="*/ 520 w 676"/>
                  <a:gd name="T3" fmla="*/ 160 h 627"/>
                  <a:gd name="T4" fmla="*/ 378 w 676"/>
                  <a:gd name="T5" fmla="*/ 135 h 627"/>
                  <a:gd name="T6" fmla="*/ 299 w 676"/>
                  <a:gd name="T7" fmla="*/ 128 h 627"/>
                  <a:gd name="T8" fmla="*/ 153 w 676"/>
                  <a:gd name="T9" fmla="*/ 171 h 627"/>
                  <a:gd name="T10" fmla="*/ 45 w 676"/>
                  <a:gd name="T11" fmla="*/ 166 h 627"/>
                  <a:gd name="T12" fmla="*/ 0 w 676"/>
                  <a:gd name="T13" fmla="*/ 349 h 627"/>
                  <a:gd name="T14" fmla="*/ 30 w 676"/>
                  <a:gd name="T15" fmla="*/ 349 h 627"/>
                  <a:gd name="T16" fmla="*/ 50 w 676"/>
                  <a:gd name="T17" fmla="*/ 211 h 627"/>
                  <a:gd name="T18" fmla="*/ 81 w 676"/>
                  <a:gd name="T19" fmla="*/ 581 h 627"/>
                  <a:gd name="T20" fmla="*/ 131 w 676"/>
                  <a:gd name="T21" fmla="*/ 541 h 627"/>
                  <a:gd name="T22" fmla="*/ 150 w 676"/>
                  <a:gd name="T23" fmla="*/ 211 h 627"/>
                  <a:gd name="T24" fmla="*/ 165 w 676"/>
                  <a:gd name="T25" fmla="*/ 370 h 627"/>
                  <a:gd name="T26" fmla="*/ 179 w 676"/>
                  <a:gd name="T27" fmla="*/ 187 h 627"/>
                  <a:gd name="T28" fmla="*/ 198 w 676"/>
                  <a:gd name="T29" fmla="*/ 579 h 627"/>
                  <a:gd name="T30" fmla="*/ 271 w 676"/>
                  <a:gd name="T31" fmla="*/ 627 h 627"/>
                  <a:gd name="T32" fmla="*/ 304 w 676"/>
                  <a:gd name="T33" fmla="*/ 187 h 627"/>
                  <a:gd name="T34" fmla="*/ 323 w 676"/>
                  <a:gd name="T35" fmla="*/ 347 h 627"/>
                  <a:gd name="T36" fmla="*/ 350 w 676"/>
                  <a:gd name="T37" fmla="*/ 348 h 627"/>
                  <a:gd name="T38" fmla="*/ 369 w 676"/>
                  <a:gd name="T39" fmla="*/ 196 h 627"/>
                  <a:gd name="T40" fmla="*/ 408 w 676"/>
                  <a:gd name="T41" fmla="*/ 623 h 627"/>
                  <a:gd name="T42" fmla="*/ 479 w 676"/>
                  <a:gd name="T43" fmla="*/ 568 h 627"/>
                  <a:gd name="T44" fmla="*/ 498 w 676"/>
                  <a:gd name="T45" fmla="*/ 196 h 627"/>
                  <a:gd name="T46" fmla="*/ 511 w 676"/>
                  <a:gd name="T47" fmla="*/ 370 h 627"/>
                  <a:gd name="T48" fmla="*/ 528 w 676"/>
                  <a:gd name="T49" fmla="*/ 211 h 627"/>
                  <a:gd name="T50" fmla="*/ 546 w 676"/>
                  <a:gd name="T51" fmla="*/ 529 h 627"/>
                  <a:gd name="T52" fmla="*/ 604 w 676"/>
                  <a:gd name="T53" fmla="*/ 570 h 627"/>
                  <a:gd name="T54" fmla="*/ 628 w 676"/>
                  <a:gd name="T55" fmla="*/ 211 h 627"/>
                  <a:gd name="T56" fmla="*/ 647 w 676"/>
                  <a:gd name="T57" fmla="*/ 352 h 627"/>
                  <a:gd name="T58" fmla="*/ 676 w 676"/>
                  <a:gd name="T59" fmla="*/ 353 h 627"/>
                  <a:gd name="T60" fmla="*/ 630 w 676"/>
                  <a:gd name="T61" fmla="*/ 155 h 627"/>
                  <a:gd name="T62" fmla="*/ 584 w 676"/>
                  <a:gd name="T63" fmla="*/ 135 h 627"/>
                  <a:gd name="T64" fmla="*/ 584 w 676"/>
                  <a:gd name="T65" fmla="*/ 52 h 627"/>
                  <a:gd name="T66" fmla="*/ 584 w 676"/>
                  <a:gd name="T67" fmla="*/ 135 h 627"/>
                  <a:gd name="T68" fmla="*/ 88 w 676"/>
                  <a:gd name="T69" fmla="*/ 147 h 627"/>
                  <a:gd name="T70" fmla="*/ 88 w 676"/>
                  <a:gd name="T71" fmla="*/ 64 h 627"/>
                  <a:gd name="T72" fmla="*/ 88 w 676"/>
                  <a:gd name="T73" fmla="*/ 147 h 627"/>
                  <a:gd name="T74" fmla="*/ 423 w 676"/>
                  <a:gd name="T75" fmla="*/ 115 h 627"/>
                  <a:gd name="T76" fmla="*/ 423 w 676"/>
                  <a:gd name="T77" fmla="*/ 15 h 627"/>
                  <a:gd name="T78" fmla="*/ 423 w 676"/>
                  <a:gd name="T79" fmla="*/ 115 h 627"/>
                  <a:gd name="T80" fmla="*/ 250 w 676"/>
                  <a:gd name="T81" fmla="*/ 100 h 627"/>
                  <a:gd name="T82" fmla="*/ 250 w 676"/>
                  <a:gd name="T83" fmla="*/ 0 h 627"/>
                  <a:gd name="T84" fmla="*/ 250 w 676"/>
                  <a:gd name="T85" fmla="*/ 100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76" h="627">
                    <a:moveTo>
                      <a:pt x="630" y="155"/>
                    </a:moveTo>
                    <a:lnTo>
                      <a:pt x="630" y="155"/>
                    </a:lnTo>
                    <a:lnTo>
                      <a:pt x="538" y="155"/>
                    </a:lnTo>
                    <a:cubicBezTo>
                      <a:pt x="532" y="155"/>
                      <a:pt x="525" y="157"/>
                      <a:pt x="520" y="160"/>
                    </a:cubicBezTo>
                    <a:cubicBezTo>
                      <a:pt x="510" y="141"/>
                      <a:pt x="492" y="135"/>
                      <a:pt x="472" y="135"/>
                    </a:cubicBezTo>
                    <a:lnTo>
                      <a:pt x="378" y="135"/>
                    </a:lnTo>
                    <a:cubicBezTo>
                      <a:pt x="362" y="135"/>
                      <a:pt x="348" y="135"/>
                      <a:pt x="338" y="148"/>
                    </a:cubicBezTo>
                    <a:cubicBezTo>
                      <a:pt x="328" y="135"/>
                      <a:pt x="314" y="128"/>
                      <a:pt x="299" y="128"/>
                    </a:cubicBezTo>
                    <a:lnTo>
                      <a:pt x="204" y="128"/>
                    </a:lnTo>
                    <a:cubicBezTo>
                      <a:pt x="180" y="128"/>
                      <a:pt x="160" y="146"/>
                      <a:pt x="153" y="171"/>
                    </a:cubicBezTo>
                    <a:cubicBezTo>
                      <a:pt x="147" y="168"/>
                      <a:pt x="130" y="166"/>
                      <a:pt x="124" y="166"/>
                    </a:cubicBezTo>
                    <a:lnTo>
                      <a:pt x="45" y="166"/>
                    </a:lnTo>
                    <a:cubicBezTo>
                      <a:pt x="20" y="166"/>
                      <a:pt x="0" y="190"/>
                      <a:pt x="0" y="220"/>
                    </a:cubicBezTo>
                    <a:lnTo>
                      <a:pt x="0" y="349"/>
                    </a:lnTo>
                    <a:cubicBezTo>
                      <a:pt x="0" y="359"/>
                      <a:pt x="2" y="369"/>
                      <a:pt x="15" y="369"/>
                    </a:cubicBezTo>
                    <a:cubicBezTo>
                      <a:pt x="28" y="369"/>
                      <a:pt x="30" y="359"/>
                      <a:pt x="30" y="349"/>
                    </a:cubicBezTo>
                    <a:cubicBezTo>
                      <a:pt x="30" y="337"/>
                      <a:pt x="31" y="211"/>
                      <a:pt x="31" y="211"/>
                    </a:cubicBezTo>
                    <a:lnTo>
                      <a:pt x="50" y="211"/>
                    </a:lnTo>
                    <a:cubicBezTo>
                      <a:pt x="50" y="211"/>
                      <a:pt x="49" y="530"/>
                      <a:pt x="49" y="546"/>
                    </a:cubicBezTo>
                    <a:cubicBezTo>
                      <a:pt x="50" y="580"/>
                      <a:pt x="69" y="581"/>
                      <a:pt x="81" y="581"/>
                    </a:cubicBezTo>
                    <a:lnTo>
                      <a:pt x="101" y="581"/>
                    </a:lnTo>
                    <a:cubicBezTo>
                      <a:pt x="112" y="581"/>
                      <a:pt x="129" y="580"/>
                      <a:pt x="131" y="541"/>
                    </a:cubicBezTo>
                    <a:cubicBezTo>
                      <a:pt x="131" y="524"/>
                      <a:pt x="131" y="211"/>
                      <a:pt x="131" y="211"/>
                    </a:cubicBezTo>
                    <a:lnTo>
                      <a:pt x="150" y="211"/>
                    </a:lnTo>
                    <a:lnTo>
                      <a:pt x="150" y="353"/>
                    </a:lnTo>
                    <a:cubicBezTo>
                      <a:pt x="150" y="367"/>
                      <a:pt x="155" y="370"/>
                      <a:pt x="165" y="370"/>
                    </a:cubicBezTo>
                    <a:cubicBezTo>
                      <a:pt x="175" y="370"/>
                      <a:pt x="180" y="363"/>
                      <a:pt x="180" y="351"/>
                    </a:cubicBezTo>
                    <a:cubicBezTo>
                      <a:pt x="180" y="344"/>
                      <a:pt x="179" y="187"/>
                      <a:pt x="179" y="187"/>
                    </a:cubicBezTo>
                    <a:lnTo>
                      <a:pt x="198" y="187"/>
                    </a:lnTo>
                    <a:cubicBezTo>
                      <a:pt x="198" y="187"/>
                      <a:pt x="198" y="555"/>
                      <a:pt x="198" y="579"/>
                    </a:cubicBezTo>
                    <a:cubicBezTo>
                      <a:pt x="199" y="620"/>
                      <a:pt x="221" y="627"/>
                      <a:pt x="235" y="627"/>
                    </a:cubicBezTo>
                    <a:lnTo>
                      <a:pt x="271" y="627"/>
                    </a:lnTo>
                    <a:cubicBezTo>
                      <a:pt x="285" y="627"/>
                      <a:pt x="303" y="620"/>
                      <a:pt x="305" y="573"/>
                    </a:cubicBezTo>
                    <a:cubicBezTo>
                      <a:pt x="306" y="554"/>
                      <a:pt x="304" y="187"/>
                      <a:pt x="304" y="187"/>
                    </a:cubicBezTo>
                    <a:lnTo>
                      <a:pt x="323" y="187"/>
                    </a:lnTo>
                    <a:lnTo>
                      <a:pt x="323" y="347"/>
                    </a:lnTo>
                    <a:cubicBezTo>
                      <a:pt x="323" y="363"/>
                      <a:pt x="325" y="369"/>
                      <a:pt x="338" y="369"/>
                    </a:cubicBezTo>
                    <a:cubicBezTo>
                      <a:pt x="348" y="369"/>
                      <a:pt x="350" y="362"/>
                      <a:pt x="350" y="348"/>
                    </a:cubicBezTo>
                    <a:cubicBezTo>
                      <a:pt x="350" y="338"/>
                      <a:pt x="351" y="196"/>
                      <a:pt x="351" y="196"/>
                    </a:cubicBezTo>
                    <a:lnTo>
                      <a:pt x="369" y="196"/>
                    </a:lnTo>
                    <a:cubicBezTo>
                      <a:pt x="369" y="196"/>
                      <a:pt x="370" y="551"/>
                      <a:pt x="370" y="575"/>
                    </a:cubicBezTo>
                    <a:cubicBezTo>
                      <a:pt x="371" y="615"/>
                      <a:pt x="395" y="623"/>
                      <a:pt x="408" y="623"/>
                    </a:cubicBezTo>
                    <a:lnTo>
                      <a:pt x="445" y="623"/>
                    </a:lnTo>
                    <a:cubicBezTo>
                      <a:pt x="458" y="623"/>
                      <a:pt x="477" y="615"/>
                      <a:pt x="479" y="568"/>
                    </a:cubicBezTo>
                    <a:cubicBezTo>
                      <a:pt x="480" y="546"/>
                      <a:pt x="479" y="196"/>
                      <a:pt x="479" y="196"/>
                    </a:cubicBezTo>
                    <a:lnTo>
                      <a:pt x="498" y="196"/>
                    </a:lnTo>
                    <a:cubicBezTo>
                      <a:pt x="498" y="196"/>
                      <a:pt x="498" y="333"/>
                      <a:pt x="498" y="348"/>
                    </a:cubicBezTo>
                    <a:cubicBezTo>
                      <a:pt x="498" y="360"/>
                      <a:pt x="501" y="370"/>
                      <a:pt x="511" y="370"/>
                    </a:cubicBezTo>
                    <a:cubicBezTo>
                      <a:pt x="523" y="370"/>
                      <a:pt x="526" y="365"/>
                      <a:pt x="527" y="354"/>
                    </a:cubicBezTo>
                    <a:cubicBezTo>
                      <a:pt x="527" y="372"/>
                      <a:pt x="528" y="211"/>
                      <a:pt x="528" y="211"/>
                    </a:cubicBezTo>
                    <a:lnTo>
                      <a:pt x="546" y="211"/>
                    </a:lnTo>
                    <a:cubicBezTo>
                      <a:pt x="546" y="211"/>
                      <a:pt x="546" y="524"/>
                      <a:pt x="546" y="529"/>
                    </a:cubicBezTo>
                    <a:cubicBezTo>
                      <a:pt x="547" y="563"/>
                      <a:pt x="558" y="570"/>
                      <a:pt x="569" y="570"/>
                    </a:cubicBezTo>
                    <a:lnTo>
                      <a:pt x="604" y="570"/>
                    </a:lnTo>
                    <a:cubicBezTo>
                      <a:pt x="615" y="570"/>
                      <a:pt x="627" y="563"/>
                      <a:pt x="628" y="524"/>
                    </a:cubicBezTo>
                    <a:cubicBezTo>
                      <a:pt x="629" y="504"/>
                      <a:pt x="628" y="211"/>
                      <a:pt x="628" y="211"/>
                    </a:cubicBezTo>
                    <a:lnTo>
                      <a:pt x="647" y="211"/>
                    </a:lnTo>
                    <a:lnTo>
                      <a:pt x="647" y="352"/>
                    </a:lnTo>
                    <a:cubicBezTo>
                      <a:pt x="647" y="362"/>
                      <a:pt x="653" y="369"/>
                      <a:pt x="662" y="369"/>
                    </a:cubicBezTo>
                    <a:cubicBezTo>
                      <a:pt x="671" y="369"/>
                      <a:pt x="676" y="363"/>
                      <a:pt x="676" y="353"/>
                    </a:cubicBezTo>
                    <a:lnTo>
                      <a:pt x="676" y="215"/>
                    </a:lnTo>
                    <a:cubicBezTo>
                      <a:pt x="676" y="186"/>
                      <a:pt x="655" y="155"/>
                      <a:pt x="630" y="155"/>
                    </a:cubicBezTo>
                    <a:close/>
                    <a:moveTo>
                      <a:pt x="584" y="135"/>
                    </a:moveTo>
                    <a:lnTo>
                      <a:pt x="584" y="135"/>
                    </a:lnTo>
                    <a:cubicBezTo>
                      <a:pt x="607" y="135"/>
                      <a:pt x="626" y="116"/>
                      <a:pt x="626" y="93"/>
                    </a:cubicBezTo>
                    <a:cubicBezTo>
                      <a:pt x="626" y="70"/>
                      <a:pt x="607" y="52"/>
                      <a:pt x="584" y="52"/>
                    </a:cubicBezTo>
                    <a:cubicBezTo>
                      <a:pt x="562" y="52"/>
                      <a:pt x="543" y="70"/>
                      <a:pt x="543" y="93"/>
                    </a:cubicBezTo>
                    <a:cubicBezTo>
                      <a:pt x="543" y="116"/>
                      <a:pt x="562" y="135"/>
                      <a:pt x="584" y="135"/>
                    </a:cubicBezTo>
                    <a:close/>
                    <a:moveTo>
                      <a:pt x="88" y="147"/>
                    </a:moveTo>
                    <a:lnTo>
                      <a:pt x="88" y="147"/>
                    </a:lnTo>
                    <a:cubicBezTo>
                      <a:pt x="111" y="147"/>
                      <a:pt x="130" y="128"/>
                      <a:pt x="130" y="105"/>
                    </a:cubicBezTo>
                    <a:cubicBezTo>
                      <a:pt x="130" y="82"/>
                      <a:pt x="111" y="64"/>
                      <a:pt x="88" y="64"/>
                    </a:cubicBezTo>
                    <a:cubicBezTo>
                      <a:pt x="65" y="64"/>
                      <a:pt x="47" y="82"/>
                      <a:pt x="47" y="105"/>
                    </a:cubicBezTo>
                    <a:cubicBezTo>
                      <a:pt x="47" y="128"/>
                      <a:pt x="65" y="147"/>
                      <a:pt x="88" y="147"/>
                    </a:cubicBezTo>
                    <a:close/>
                    <a:moveTo>
                      <a:pt x="423" y="115"/>
                    </a:moveTo>
                    <a:lnTo>
                      <a:pt x="423" y="115"/>
                    </a:lnTo>
                    <a:cubicBezTo>
                      <a:pt x="451" y="115"/>
                      <a:pt x="473" y="93"/>
                      <a:pt x="473" y="65"/>
                    </a:cubicBezTo>
                    <a:cubicBezTo>
                      <a:pt x="473" y="37"/>
                      <a:pt x="451" y="15"/>
                      <a:pt x="423" y="15"/>
                    </a:cubicBezTo>
                    <a:cubicBezTo>
                      <a:pt x="396" y="15"/>
                      <a:pt x="373" y="37"/>
                      <a:pt x="373" y="65"/>
                    </a:cubicBezTo>
                    <a:cubicBezTo>
                      <a:pt x="373" y="93"/>
                      <a:pt x="396" y="115"/>
                      <a:pt x="423" y="115"/>
                    </a:cubicBezTo>
                    <a:close/>
                    <a:moveTo>
                      <a:pt x="250" y="100"/>
                    </a:moveTo>
                    <a:lnTo>
                      <a:pt x="250" y="100"/>
                    </a:lnTo>
                    <a:cubicBezTo>
                      <a:pt x="277" y="100"/>
                      <a:pt x="300" y="77"/>
                      <a:pt x="300" y="49"/>
                    </a:cubicBezTo>
                    <a:cubicBezTo>
                      <a:pt x="300" y="22"/>
                      <a:pt x="277" y="0"/>
                      <a:pt x="250" y="0"/>
                    </a:cubicBezTo>
                    <a:cubicBezTo>
                      <a:pt x="222" y="0"/>
                      <a:pt x="200" y="22"/>
                      <a:pt x="200" y="49"/>
                    </a:cubicBezTo>
                    <a:cubicBezTo>
                      <a:pt x="200" y="77"/>
                      <a:pt x="222" y="100"/>
                      <a:pt x="250" y="100"/>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Verdana"/>
                  <a:ea typeface="+mn-ea"/>
                  <a:cs typeface="+mn-cs"/>
                </a:endParaRPr>
              </a:p>
            </p:txBody>
          </p:sp>
        </p:grpSp>
        <p:sp>
          <p:nvSpPr>
            <p:cNvPr id="432" name="TextBox 431">
              <a:hlinkClick r:id="" action="ppaction://noaction"/>
            </p:cNvPr>
            <p:cNvSpPr txBox="1"/>
            <p:nvPr/>
          </p:nvSpPr>
          <p:spPr>
            <a:xfrm>
              <a:off x="1945087" y="2483503"/>
              <a:ext cx="1190423"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dirty="0">
                  <a:ln>
                    <a:noFill/>
                  </a:ln>
                  <a:solidFill>
                    <a:srgbClr val="313131"/>
                  </a:solidFill>
                  <a:effectLst/>
                  <a:uLnTx/>
                  <a:uFillTx/>
                  <a:latin typeface="Verdana"/>
                  <a:ea typeface="+mn-ea"/>
                  <a:cs typeface="+mn-cs"/>
                </a:rPr>
                <a:t>Technology</a:t>
              </a:r>
              <a:endParaRPr kumimoji="0" lang="en-IN" sz="1400" b="1" i="0" u="none" strike="noStrike" kern="1200" cap="none" spc="0" normalizeH="0" baseline="0" noProof="0" dirty="0">
                <a:ln>
                  <a:noFill/>
                </a:ln>
                <a:solidFill>
                  <a:srgbClr val="313131"/>
                </a:solidFill>
                <a:effectLst/>
                <a:uLnTx/>
                <a:uFillTx/>
                <a:latin typeface="Verdana"/>
                <a:ea typeface="+mn-ea"/>
                <a:cs typeface="+mn-cs"/>
              </a:endParaRPr>
            </a:p>
          </p:txBody>
        </p:sp>
        <p:sp>
          <p:nvSpPr>
            <p:cNvPr id="433" name="Oval 432"/>
            <p:cNvSpPr/>
            <p:nvPr/>
          </p:nvSpPr>
          <p:spPr bwMode="gray">
            <a:xfrm>
              <a:off x="1986812" y="4308374"/>
              <a:ext cx="977796" cy="976041"/>
            </a:xfrm>
            <a:prstGeom prst="ellipse">
              <a:avLst/>
            </a:prstGeom>
            <a:ln>
              <a:headEnd/>
              <a:tailEnd/>
            </a:ln>
          </p:spPr>
          <p:style>
            <a:lnRef idx="1">
              <a:schemeClr val="accent6"/>
            </a:lnRef>
            <a:fillRef idx="3">
              <a:schemeClr val="accent6"/>
            </a:fillRef>
            <a:effectRef idx="2">
              <a:schemeClr val="accent6"/>
            </a:effectRef>
            <a:fontRef idx="minor">
              <a:schemeClr val="lt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200" b="1" i="0" u="none" strike="noStrike" kern="1200" cap="none" spc="0" normalizeH="0" baseline="0" noProof="0" dirty="0">
                <a:ln>
                  <a:noFill/>
                </a:ln>
                <a:solidFill>
                  <a:prstClr val="white"/>
                </a:solidFill>
                <a:effectLst/>
                <a:uLnTx/>
                <a:uFillTx/>
                <a:latin typeface="Verdana"/>
                <a:ea typeface="+mn-ea"/>
                <a:cs typeface="+mn-cs"/>
              </a:endParaRPr>
            </a:p>
          </p:txBody>
        </p:sp>
        <p:sp>
          <p:nvSpPr>
            <p:cNvPr id="434" name="Oval 433"/>
            <p:cNvSpPr/>
            <p:nvPr/>
          </p:nvSpPr>
          <p:spPr bwMode="gray">
            <a:xfrm>
              <a:off x="2057664" y="4391705"/>
              <a:ext cx="835403" cy="800450"/>
            </a:xfrm>
            <a:prstGeom prst="ellipse">
              <a:avLst/>
            </a:prstGeom>
            <a:noFill/>
            <a:ln w="7620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200" b="1" i="0" u="none" strike="noStrike" kern="1200" cap="none" spc="0" normalizeH="0" baseline="0" noProof="0" dirty="0">
                <a:ln>
                  <a:noFill/>
                </a:ln>
                <a:solidFill>
                  <a:prstClr val="white"/>
                </a:solidFill>
                <a:effectLst/>
                <a:uLnTx/>
                <a:uFillTx/>
                <a:latin typeface="Verdana"/>
                <a:ea typeface="+mn-ea"/>
                <a:cs typeface="+mn-cs"/>
              </a:endParaRPr>
            </a:p>
          </p:txBody>
        </p:sp>
        <p:cxnSp>
          <p:nvCxnSpPr>
            <p:cNvPr id="435" name="Straight Connector 434"/>
            <p:cNvCxnSpPr>
              <a:stCxn id="433" idx="0"/>
            </p:cNvCxnSpPr>
            <p:nvPr/>
          </p:nvCxnSpPr>
          <p:spPr>
            <a:xfrm flipH="1" flipV="1">
              <a:off x="2473062" y="4096772"/>
              <a:ext cx="2648" cy="211601"/>
            </a:xfrm>
            <a:prstGeom prst="line">
              <a:avLst/>
            </a:prstGeom>
            <a:ln w="762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36" name="Straight Connector 435"/>
            <p:cNvCxnSpPr/>
            <p:nvPr/>
          </p:nvCxnSpPr>
          <p:spPr>
            <a:xfrm flipH="1" flipV="1">
              <a:off x="2911083" y="5033287"/>
              <a:ext cx="253892" cy="158869"/>
            </a:xfrm>
            <a:prstGeom prst="line">
              <a:avLst/>
            </a:prstGeom>
            <a:ln w="762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37" name="Straight Connector 436"/>
            <p:cNvCxnSpPr/>
            <p:nvPr/>
          </p:nvCxnSpPr>
          <p:spPr>
            <a:xfrm flipH="1">
              <a:off x="1761776" y="5018978"/>
              <a:ext cx="282348" cy="182973"/>
            </a:xfrm>
            <a:prstGeom prst="line">
              <a:avLst/>
            </a:prstGeom>
            <a:ln w="762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38" name="Oval 437"/>
            <p:cNvSpPr/>
            <p:nvPr/>
          </p:nvSpPr>
          <p:spPr bwMode="gray">
            <a:xfrm>
              <a:off x="2384690" y="3941660"/>
              <a:ext cx="176744" cy="189132"/>
            </a:xfrm>
            <a:prstGeom prst="ellipse">
              <a:avLst/>
            </a:prstGeom>
            <a:solidFill>
              <a:schemeClr val="tx1">
                <a:lumMod val="50000"/>
                <a:lumOff val="5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200" b="1" i="0" u="none" strike="noStrike" kern="1200" cap="none" spc="0" normalizeH="0" baseline="0" noProof="0" dirty="0">
                <a:ln>
                  <a:noFill/>
                </a:ln>
                <a:solidFill>
                  <a:prstClr val="white"/>
                </a:solidFill>
                <a:effectLst/>
                <a:uLnTx/>
                <a:uFillTx/>
                <a:latin typeface="Verdana"/>
                <a:ea typeface="+mn-ea"/>
                <a:cs typeface="+mn-cs"/>
              </a:endParaRPr>
            </a:p>
          </p:txBody>
        </p:sp>
        <p:sp>
          <p:nvSpPr>
            <p:cNvPr id="439" name="Oval 438"/>
            <p:cNvSpPr/>
            <p:nvPr/>
          </p:nvSpPr>
          <p:spPr bwMode="gray">
            <a:xfrm>
              <a:off x="3135510" y="5143807"/>
              <a:ext cx="176744" cy="189132"/>
            </a:xfrm>
            <a:prstGeom prst="ellipse">
              <a:avLst/>
            </a:prstGeom>
            <a:solidFill>
              <a:schemeClr val="tx1">
                <a:lumMod val="50000"/>
                <a:lumOff val="5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200" b="1" i="0" u="none" strike="noStrike" kern="1200" cap="none" spc="0" normalizeH="0" baseline="0" noProof="0" dirty="0">
                <a:ln>
                  <a:noFill/>
                </a:ln>
                <a:solidFill>
                  <a:prstClr val="white"/>
                </a:solidFill>
                <a:effectLst/>
                <a:uLnTx/>
                <a:uFillTx/>
                <a:latin typeface="Verdana"/>
                <a:ea typeface="+mn-ea"/>
                <a:cs typeface="+mn-cs"/>
              </a:endParaRPr>
            </a:p>
          </p:txBody>
        </p:sp>
        <p:sp>
          <p:nvSpPr>
            <p:cNvPr id="440" name="Oval 439"/>
            <p:cNvSpPr/>
            <p:nvPr/>
          </p:nvSpPr>
          <p:spPr bwMode="gray">
            <a:xfrm>
              <a:off x="1627069" y="5123435"/>
              <a:ext cx="176744" cy="189132"/>
            </a:xfrm>
            <a:prstGeom prst="ellipse">
              <a:avLst/>
            </a:prstGeom>
            <a:solidFill>
              <a:schemeClr val="tx1">
                <a:lumMod val="50000"/>
                <a:lumOff val="5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200" b="1" i="0" u="none" strike="noStrike" kern="1200" cap="none" spc="0" normalizeH="0" baseline="0" noProof="0" dirty="0">
                <a:ln>
                  <a:noFill/>
                </a:ln>
                <a:solidFill>
                  <a:prstClr val="white"/>
                </a:solidFill>
                <a:effectLst/>
                <a:uLnTx/>
                <a:uFillTx/>
                <a:latin typeface="Verdana"/>
                <a:ea typeface="+mn-ea"/>
                <a:cs typeface="+mn-cs"/>
              </a:endParaRPr>
            </a:p>
          </p:txBody>
        </p:sp>
        <p:sp>
          <p:nvSpPr>
            <p:cNvPr id="441" name="TextBox 440"/>
            <p:cNvSpPr txBox="1"/>
            <p:nvPr/>
          </p:nvSpPr>
          <p:spPr>
            <a:xfrm>
              <a:off x="1590208" y="5394935"/>
              <a:ext cx="1722046" cy="17433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dirty="0">
                  <a:ln>
                    <a:noFill/>
                  </a:ln>
                  <a:solidFill>
                    <a:srgbClr val="313131"/>
                  </a:solidFill>
                  <a:effectLst/>
                  <a:uLnTx/>
                  <a:uFillTx/>
                  <a:latin typeface="Verdana"/>
                  <a:ea typeface="+mn-ea"/>
                  <a:cs typeface="+mn-cs"/>
                </a:rPr>
                <a:t>SMART PMO</a:t>
              </a:r>
              <a:endParaRPr kumimoji="0" lang="en-IN" sz="1400" b="1" i="0" u="none" strike="noStrike" kern="1200" cap="none" spc="0" normalizeH="0" baseline="0" noProof="0" dirty="0">
                <a:ln>
                  <a:noFill/>
                </a:ln>
                <a:solidFill>
                  <a:srgbClr val="313131"/>
                </a:solidFill>
                <a:effectLst/>
                <a:uLnTx/>
                <a:uFillTx/>
                <a:latin typeface="Verdana"/>
                <a:ea typeface="+mn-ea"/>
                <a:cs typeface="+mn-cs"/>
              </a:endParaRPr>
            </a:p>
          </p:txBody>
        </p:sp>
        <p:sp>
          <p:nvSpPr>
            <p:cNvPr id="442" name="TextBox 441">
              <a:hlinkClick r:id="" action="ppaction://noaction"/>
            </p:cNvPr>
            <p:cNvSpPr txBox="1"/>
            <p:nvPr/>
          </p:nvSpPr>
          <p:spPr>
            <a:xfrm>
              <a:off x="3567160" y="6106771"/>
              <a:ext cx="838267"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dirty="0">
                  <a:ln>
                    <a:noFill/>
                  </a:ln>
                  <a:solidFill>
                    <a:srgbClr val="313131"/>
                  </a:solidFill>
                  <a:effectLst/>
                  <a:uLnTx/>
                  <a:uFillTx/>
                  <a:latin typeface="Verdana"/>
                  <a:ea typeface="+mn-ea"/>
                  <a:cs typeface="+mn-cs"/>
                </a:rPr>
                <a:t>Process</a:t>
              </a:r>
              <a:endParaRPr kumimoji="0" lang="en-IN" sz="1400" b="1" i="0" u="none" strike="noStrike" kern="1200" cap="none" spc="0" normalizeH="0" baseline="0" noProof="0" dirty="0">
                <a:ln>
                  <a:noFill/>
                </a:ln>
                <a:solidFill>
                  <a:srgbClr val="313131"/>
                </a:solidFill>
                <a:effectLst/>
                <a:uLnTx/>
                <a:uFillTx/>
                <a:latin typeface="Verdana"/>
                <a:ea typeface="+mn-ea"/>
                <a:cs typeface="+mn-cs"/>
              </a:endParaRPr>
            </a:p>
          </p:txBody>
        </p:sp>
        <p:sp>
          <p:nvSpPr>
            <p:cNvPr id="443" name="TextBox 442">
              <a:hlinkClick r:id="" action="ppaction://noaction"/>
            </p:cNvPr>
            <p:cNvSpPr txBox="1"/>
            <p:nvPr/>
          </p:nvSpPr>
          <p:spPr>
            <a:xfrm>
              <a:off x="659522" y="6106771"/>
              <a:ext cx="682445" cy="18357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dirty="0">
                  <a:ln>
                    <a:noFill/>
                  </a:ln>
                  <a:solidFill>
                    <a:srgbClr val="313131"/>
                  </a:solidFill>
                  <a:effectLst/>
                  <a:uLnTx/>
                  <a:uFillTx/>
                  <a:latin typeface="Verdana"/>
                  <a:ea typeface="+mn-ea"/>
                  <a:cs typeface="+mn-cs"/>
                </a:rPr>
                <a:t>People</a:t>
              </a:r>
              <a:endParaRPr kumimoji="0" lang="en-IN" sz="1400" b="1" i="0" u="none" strike="noStrike" kern="1200" cap="none" spc="0" normalizeH="0" baseline="0" noProof="0" dirty="0">
                <a:ln>
                  <a:noFill/>
                </a:ln>
                <a:solidFill>
                  <a:srgbClr val="313131"/>
                </a:solidFill>
                <a:effectLst/>
                <a:uLnTx/>
                <a:uFillTx/>
                <a:latin typeface="Verdana"/>
                <a:ea typeface="+mn-ea"/>
                <a:cs typeface="+mn-cs"/>
              </a:endParaRPr>
            </a:p>
          </p:txBody>
        </p:sp>
        <p:sp>
          <p:nvSpPr>
            <p:cNvPr id="444" name="Rounded Rectangle 443"/>
            <p:cNvSpPr/>
            <p:nvPr/>
          </p:nvSpPr>
          <p:spPr bwMode="gray">
            <a:xfrm>
              <a:off x="6661665" y="1933902"/>
              <a:ext cx="5139810" cy="670290"/>
            </a:xfrm>
            <a:prstGeom prst="roundRect">
              <a:avLst/>
            </a:prstGeom>
            <a:solidFill>
              <a:srgbClr val="012169"/>
            </a:solidFill>
            <a:ln>
              <a:headEnd/>
              <a:tailEnd/>
            </a:ln>
          </p:spPr>
          <p:style>
            <a:lnRef idx="3">
              <a:schemeClr val="lt1"/>
            </a:lnRef>
            <a:fillRef idx="1">
              <a:schemeClr val="dk1"/>
            </a:fillRef>
            <a:effectRef idx="1">
              <a:schemeClr val="dk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445" name="Rounded Rectangle 444"/>
            <p:cNvSpPr/>
            <p:nvPr/>
          </p:nvSpPr>
          <p:spPr bwMode="gray">
            <a:xfrm>
              <a:off x="6661665" y="2702971"/>
              <a:ext cx="5139810" cy="660490"/>
            </a:xfrm>
            <a:prstGeom prst="roundRect">
              <a:avLst/>
            </a:prstGeom>
            <a:solidFill>
              <a:srgbClr val="012169"/>
            </a:solidFill>
            <a:ln>
              <a:headEnd/>
              <a:tailEnd/>
            </a:ln>
          </p:spPr>
          <p:style>
            <a:lnRef idx="3">
              <a:schemeClr val="lt1"/>
            </a:lnRef>
            <a:fillRef idx="1">
              <a:schemeClr val="dk1"/>
            </a:fillRef>
            <a:effectRef idx="1">
              <a:schemeClr val="dk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446" name="Rounded Rectangle 445"/>
            <p:cNvSpPr/>
            <p:nvPr/>
          </p:nvSpPr>
          <p:spPr bwMode="gray">
            <a:xfrm>
              <a:off x="6661665" y="3462239"/>
              <a:ext cx="5139810" cy="651339"/>
            </a:xfrm>
            <a:prstGeom prst="roundRect">
              <a:avLst/>
            </a:prstGeom>
            <a:solidFill>
              <a:srgbClr val="005587"/>
            </a:solidFill>
            <a:ln>
              <a:headEnd/>
              <a:tailEnd/>
            </a:ln>
          </p:spPr>
          <p:style>
            <a:lnRef idx="3">
              <a:schemeClr val="lt1"/>
            </a:lnRef>
            <a:fillRef idx="1">
              <a:schemeClr val="dk1"/>
            </a:fillRef>
            <a:effectRef idx="1">
              <a:schemeClr val="dk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447" name="Rectangle 446"/>
            <p:cNvSpPr/>
            <p:nvPr/>
          </p:nvSpPr>
          <p:spPr>
            <a:xfrm>
              <a:off x="7132213" y="1975881"/>
              <a:ext cx="4714875" cy="800219"/>
            </a:xfrm>
            <a:prstGeom prst="rect">
              <a:avLst/>
            </a:prstGeom>
          </p:spPr>
          <p:txBody>
            <a:bodyPr wrap="square">
              <a:spAutoFit/>
            </a:bodyPr>
            <a:lstStyle/>
            <a:p>
              <a:r>
                <a:rPr lang="en-US" sz="1300" b="1" i="1" dirty="0">
                  <a:solidFill>
                    <a:schemeClr val="accent4">
                      <a:lumMod val="20000"/>
                      <a:lumOff val="80000"/>
                    </a:schemeClr>
                  </a:solidFill>
                  <a:latin typeface="Calibri" panose="020F0502020204030204" pitchFamily="34" charset="0"/>
                  <a:ea typeface="Calibri" panose="020F0502020204030204" pitchFamily="34" charset="0"/>
                </a:rPr>
                <a:t>Challenge: Inadequate visibility &amp; execution surprises</a:t>
              </a:r>
              <a:endParaRPr lang="en-IN" sz="1300" b="1" i="1" dirty="0">
                <a:solidFill>
                  <a:schemeClr val="accent4">
                    <a:lumMod val="20000"/>
                    <a:lumOff val="80000"/>
                  </a:schemeClr>
                </a:solidFill>
                <a:latin typeface="Calibri" panose="020F0502020204030204" pitchFamily="34" charset="0"/>
                <a:ea typeface="Calibri" panose="020F0502020204030204" pitchFamily="34" charset="0"/>
              </a:endParaRPr>
            </a:p>
            <a:p>
              <a:r>
                <a:rPr lang="en-US" sz="1050" b="1" dirty="0">
                  <a:solidFill>
                    <a:schemeClr val="bg1"/>
                  </a:solidFill>
                  <a:latin typeface="Calibri" panose="020F0502020204030204" pitchFamily="34" charset="0"/>
                  <a:ea typeface="Calibri" panose="020F0502020204030204" pitchFamily="34" charset="0"/>
                </a:rPr>
                <a:t>Solution: </a:t>
              </a:r>
              <a:r>
                <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Use of visualization based solutions to track project progress/potential constraints  </a:t>
              </a:r>
              <a:endParaRPr lang="en-IN" sz="1100" dirty="0">
                <a:solidFill>
                  <a:schemeClr val="bg1"/>
                </a:solidFill>
                <a:latin typeface="Calibri" panose="020F0502020204030204" pitchFamily="34" charset="0"/>
                <a:cs typeface="Calibri" panose="020F0502020204030204" pitchFamily="34" charset="0"/>
              </a:endParaRPr>
            </a:p>
            <a:p>
              <a:endParaRPr lang="en-IN" sz="1100" dirty="0">
                <a:solidFill>
                  <a:schemeClr val="bg1"/>
                </a:solidFill>
              </a:endParaRPr>
            </a:p>
          </p:txBody>
        </p:sp>
        <p:sp>
          <p:nvSpPr>
            <p:cNvPr id="448" name="Rectangle 447"/>
            <p:cNvSpPr/>
            <p:nvPr/>
          </p:nvSpPr>
          <p:spPr>
            <a:xfrm>
              <a:off x="7119030" y="2733134"/>
              <a:ext cx="4714875" cy="777136"/>
            </a:xfrm>
            <a:prstGeom prst="rect">
              <a:avLst/>
            </a:prstGeom>
          </p:spPr>
          <p:txBody>
            <a:bodyPr wrap="square">
              <a:spAutoFit/>
            </a:bodyPr>
            <a:lstStyle/>
            <a:p>
              <a:r>
                <a:rPr lang="en-US" sz="1300" b="1" i="1" dirty="0">
                  <a:solidFill>
                    <a:schemeClr val="accent4">
                      <a:lumMod val="20000"/>
                      <a:lumOff val="80000"/>
                    </a:schemeClr>
                  </a:solidFill>
                  <a:latin typeface="Calibri" panose="020F0502020204030204" pitchFamily="34" charset="0"/>
                  <a:ea typeface="Calibri" panose="020F0502020204030204" pitchFamily="34" charset="0"/>
                </a:rPr>
                <a:t>Challenge: Firefighting across multiple issues</a:t>
              </a:r>
              <a:endParaRPr lang="en-IN" sz="1300" b="1" i="1" dirty="0">
                <a:solidFill>
                  <a:schemeClr val="accent4">
                    <a:lumMod val="20000"/>
                    <a:lumOff val="80000"/>
                  </a:schemeClr>
                </a:solidFill>
                <a:latin typeface="Calibri" panose="020F0502020204030204" pitchFamily="34" charset="0"/>
                <a:ea typeface="Calibri" panose="020F0502020204030204" pitchFamily="34" charset="0"/>
              </a:endParaRPr>
            </a:p>
            <a:p>
              <a:r>
                <a:rPr lang="en-US" sz="1050" b="1" dirty="0">
                  <a:solidFill>
                    <a:schemeClr val="bg1"/>
                  </a:solidFill>
                  <a:latin typeface="Calibri" panose="020F0502020204030204" pitchFamily="34" charset="0"/>
                  <a:ea typeface="Calibri" panose="020F0502020204030204" pitchFamily="34" charset="0"/>
                </a:rPr>
                <a:t>Solution: </a:t>
              </a:r>
              <a:r>
                <a:rPr lang="en-US" sz="1050" dirty="0">
                  <a:solidFill>
                    <a:schemeClr val="bg1"/>
                  </a:solidFill>
                  <a:latin typeface="Calibri" panose="020F0502020204030204" pitchFamily="34" charset="0"/>
                  <a:ea typeface="Calibri" panose="020F0502020204030204" pitchFamily="34" charset="0"/>
                  <a:cs typeface="Calibri" panose="020F0502020204030204" pitchFamily="34" charset="0"/>
                </a:rPr>
                <a:t>Implementation of digital &amp; analytics enabled platform for proactive &amp; selective resolution of issues</a:t>
              </a:r>
              <a:endParaRPr lang="en-IN" sz="1050" dirty="0">
                <a:solidFill>
                  <a:schemeClr val="bg1"/>
                </a:solidFill>
                <a:latin typeface="Calibri" panose="020F0502020204030204" pitchFamily="34" charset="0"/>
                <a:cs typeface="Calibri" panose="020F0502020204030204" pitchFamily="34" charset="0"/>
              </a:endParaRPr>
            </a:p>
            <a:p>
              <a:r>
                <a:rPr lang="en-US" sz="1050" dirty="0">
                  <a:solidFill>
                    <a:schemeClr val="bg1"/>
                  </a:solidFill>
                  <a:latin typeface="Calibri" panose="020F0502020204030204" pitchFamily="34" charset="0"/>
                  <a:ea typeface="Calibri" panose="020F0502020204030204" pitchFamily="34" charset="0"/>
                </a:rPr>
                <a:t> </a:t>
              </a:r>
              <a:endParaRPr lang="en-IN" sz="1100" dirty="0">
                <a:solidFill>
                  <a:schemeClr val="bg1"/>
                </a:solidFill>
              </a:endParaRPr>
            </a:p>
          </p:txBody>
        </p:sp>
        <p:sp>
          <p:nvSpPr>
            <p:cNvPr id="449" name="Rounded Rectangle 448"/>
            <p:cNvSpPr/>
            <p:nvPr/>
          </p:nvSpPr>
          <p:spPr bwMode="gray">
            <a:xfrm>
              <a:off x="6661665" y="4210267"/>
              <a:ext cx="5139810" cy="651339"/>
            </a:xfrm>
            <a:prstGeom prst="roundRect">
              <a:avLst/>
            </a:prstGeom>
            <a:solidFill>
              <a:srgbClr val="005587"/>
            </a:solidFill>
            <a:ln>
              <a:headEnd/>
              <a:tailEnd/>
            </a:ln>
          </p:spPr>
          <p:style>
            <a:lnRef idx="3">
              <a:schemeClr val="lt1"/>
            </a:lnRef>
            <a:fillRef idx="1">
              <a:schemeClr val="dk1"/>
            </a:fillRef>
            <a:effectRef idx="1">
              <a:schemeClr val="dk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450" name="Rectangle 449"/>
            <p:cNvSpPr/>
            <p:nvPr/>
          </p:nvSpPr>
          <p:spPr>
            <a:xfrm>
              <a:off x="7132213" y="3487826"/>
              <a:ext cx="4714875" cy="615553"/>
            </a:xfrm>
            <a:prstGeom prst="rect">
              <a:avLst/>
            </a:prstGeom>
          </p:spPr>
          <p:txBody>
            <a:bodyPr wrap="square">
              <a:spAutoFit/>
            </a:bodyPr>
            <a:lstStyle/>
            <a:p>
              <a:r>
                <a:rPr lang="en-US" sz="1300" b="1" i="1" dirty="0">
                  <a:solidFill>
                    <a:schemeClr val="accent3">
                      <a:lumMod val="20000"/>
                      <a:lumOff val="80000"/>
                    </a:schemeClr>
                  </a:solidFill>
                  <a:latin typeface="Calibri" panose="020F0502020204030204" pitchFamily="34" charset="0"/>
                  <a:ea typeface="Calibri" panose="020F0502020204030204" pitchFamily="34" charset="0"/>
                </a:rPr>
                <a:t>Challenge: Coordination/ interface issues between stakeholders  </a:t>
              </a:r>
            </a:p>
            <a:p>
              <a:r>
                <a:rPr lang="en-US" sz="1050" b="1" dirty="0">
                  <a:solidFill>
                    <a:schemeClr val="bg1"/>
                  </a:solidFill>
                  <a:latin typeface="Calibri" panose="020F0502020204030204" pitchFamily="34" charset="0"/>
                  <a:ea typeface="Calibri" panose="020F0502020204030204" pitchFamily="34" charset="0"/>
                </a:rPr>
                <a:t>Solution: </a:t>
              </a:r>
              <a:r>
                <a:rPr lang="en-US" sz="1050" dirty="0">
                  <a:solidFill>
                    <a:schemeClr val="bg1"/>
                  </a:solidFill>
                  <a:latin typeface="Calibri" panose="020F0502020204030204" pitchFamily="34" charset="0"/>
                  <a:ea typeface="Calibri" panose="020F0502020204030204" pitchFamily="34" charset="0"/>
                  <a:cs typeface="Calibri" panose="020F0502020204030204" pitchFamily="34" charset="0"/>
                </a:rPr>
                <a:t>Application of integrated &amp; collaborative digital platform </a:t>
              </a:r>
              <a:r>
                <a:rPr lang="en-US" sz="1050" dirty="0">
                  <a:solidFill>
                    <a:schemeClr val="bg1"/>
                  </a:solidFill>
                  <a:latin typeface="Calibri" panose="020F0502020204030204" pitchFamily="34" charset="0"/>
                  <a:ea typeface="Calibri" panose="020F0502020204030204" pitchFamily="34" charset="0"/>
                </a:rPr>
                <a:t>for enabling project governance and coordination</a:t>
              </a:r>
            </a:p>
          </p:txBody>
        </p:sp>
        <p:sp>
          <p:nvSpPr>
            <p:cNvPr id="451" name="Rectangle 450"/>
            <p:cNvSpPr/>
            <p:nvPr/>
          </p:nvSpPr>
          <p:spPr>
            <a:xfrm>
              <a:off x="7114949" y="4231903"/>
              <a:ext cx="4714875" cy="615553"/>
            </a:xfrm>
            <a:prstGeom prst="rect">
              <a:avLst/>
            </a:prstGeom>
          </p:spPr>
          <p:txBody>
            <a:bodyPr wrap="square">
              <a:spAutoFit/>
            </a:bodyPr>
            <a:lstStyle/>
            <a:p>
              <a:r>
                <a:rPr lang="en-US" sz="1300" b="1" i="1" dirty="0">
                  <a:solidFill>
                    <a:schemeClr val="accent3">
                      <a:lumMod val="20000"/>
                      <a:lumOff val="80000"/>
                    </a:schemeClr>
                  </a:solidFill>
                  <a:latin typeface="Calibri" panose="020F0502020204030204" pitchFamily="34" charset="0"/>
                  <a:ea typeface="Calibri" panose="020F0502020204030204" pitchFamily="34" charset="0"/>
                </a:rPr>
                <a:t>Challenge: Lack of governance framework &amp; accountability</a:t>
              </a:r>
            </a:p>
            <a:p>
              <a:r>
                <a:rPr lang="en-US" sz="1050" b="1" dirty="0">
                  <a:solidFill>
                    <a:schemeClr val="bg1"/>
                  </a:solidFill>
                  <a:latin typeface="Calibri" panose="020F0502020204030204" pitchFamily="34" charset="0"/>
                  <a:ea typeface="Calibri" panose="020F0502020204030204" pitchFamily="34" charset="0"/>
                </a:rPr>
                <a:t>Solution: </a:t>
              </a:r>
              <a:r>
                <a:rPr lang="en-US" sz="1050" dirty="0">
                  <a:solidFill>
                    <a:schemeClr val="bg1"/>
                  </a:solidFill>
                  <a:latin typeface="Calibri" panose="020F0502020204030204" pitchFamily="34" charset="0"/>
                  <a:ea typeface="Calibri" panose="020F0502020204030204" pitchFamily="34" charset="0"/>
                </a:rPr>
                <a:t>Establishing a robust project governance framework, KPIs and execution management processes</a:t>
              </a:r>
            </a:p>
          </p:txBody>
        </p:sp>
        <p:sp>
          <p:nvSpPr>
            <p:cNvPr id="452" name="Rounded Rectangle 451"/>
            <p:cNvSpPr/>
            <p:nvPr/>
          </p:nvSpPr>
          <p:spPr bwMode="gray">
            <a:xfrm>
              <a:off x="6661665" y="4958295"/>
              <a:ext cx="5139810" cy="651339"/>
            </a:xfrm>
            <a:prstGeom prst="roundRect">
              <a:avLst/>
            </a:prstGeom>
            <a:solidFill>
              <a:srgbClr val="009A44"/>
            </a:solidFill>
            <a:ln>
              <a:headEnd/>
              <a:tailEnd/>
            </a:ln>
          </p:spPr>
          <p:style>
            <a:lnRef idx="3">
              <a:schemeClr val="lt1"/>
            </a:lnRef>
            <a:fillRef idx="1">
              <a:schemeClr val="dk1"/>
            </a:fillRef>
            <a:effectRef idx="1">
              <a:schemeClr val="dk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453" name="Rounded Rectangle 452"/>
            <p:cNvSpPr/>
            <p:nvPr/>
          </p:nvSpPr>
          <p:spPr bwMode="gray">
            <a:xfrm>
              <a:off x="6661665" y="5706323"/>
              <a:ext cx="5139810" cy="651339"/>
            </a:xfrm>
            <a:prstGeom prst="roundRect">
              <a:avLst/>
            </a:prstGeom>
            <a:solidFill>
              <a:srgbClr val="009A44"/>
            </a:solidFill>
            <a:ln>
              <a:headEnd/>
              <a:tailEnd/>
            </a:ln>
          </p:spPr>
          <p:style>
            <a:lnRef idx="3">
              <a:schemeClr val="lt1"/>
            </a:lnRef>
            <a:fillRef idx="1">
              <a:schemeClr val="dk1"/>
            </a:fillRef>
            <a:effectRef idx="1">
              <a:schemeClr val="dk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454" name="Rectangle 453"/>
            <p:cNvSpPr/>
            <p:nvPr/>
          </p:nvSpPr>
          <p:spPr>
            <a:xfrm>
              <a:off x="7114949" y="4988231"/>
              <a:ext cx="4714875" cy="615553"/>
            </a:xfrm>
            <a:prstGeom prst="rect">
              <a:avLst/>
            </a:prstGeom>
          </p:spPr>
          <p:txBody>
            <a:bodyPr wrap="square">
              <a:spAutoFit/>
            </a:bodyPr>
            <a:lstStyle/>
            <a:p>
              <a:r>
                <a:rPr lang="en-US" sz="1300" b="1" i="1" dirty="0">
                  <a:solidFill>
                    <a:schemeClr val="accent1">
                      <a:lumMod val="40000"/>
                      <a:lumOff val="60000"/>
                    </a:schemeClr>
                  </a:solidFill>
                  <a:latin typeface="Calibri" panose="020F0502020204030204" pitchFamily="34" charset="0"/>
                  <a:ea typeface="Calibri" panose="020F0502020204030204" pitchFamily="34" charset="0"/>
                </a:rPr>
                <a:t>Challenge: Stakeholder Management and Project Reporting</a:t>
              </a:r>
            </a:p>
            <a:p>
              <a:r>
                <a:rPr lang="en-US" sz="1050" b="1" dirty="0">
                  <a:solidFill>
                    <a:schemeClr val="bg1"/>
                  </a:solidFill>
                  <a:latin typeface="Calibri" panose="020F0502020204030204" pitchFamily="34" charset="0"/>
                  <a:ea typeface="Calibri" panose="020F0502020204030204" pitchFamily="34" charset="0"/>
                </a:rPr>
                <a:t>Solution: </a:t>
              </a:r>
              <a:r>
                <a:rPr lang="en-US" sz="1050" dirty="0">
                  <a:solidFill>
                    <a:schemeClr val="bg1"/>
                  </a:solidFill>
                  <a:latin typeface="Calibri" panose="020F0502020204030204" pitchFamily="34" charset="0"/>
                  <a:ea typeface="Calibri" panose="020F0502020204030204" pitchFamily="34" charset="0"/>
                </a:rPr>
                <a:t>Development &amp; implementation of alignment strategies with key stakeholders. Generation of uniform project priorities</a:t>
              </a:r>
            </a:p>
          </p:txBody>
        </p:sp>
        <p:sp>
          <p:nvSpPr>
            <p:cNvPr id="455" name="Rectangle 454"/>
            <p:cNvSpPr/>
            <p:nvPr/>
          </p:nvSpPr>
          <p:spPr>
            <a:xfrm>
              <a:off x="7132213" y="5731910"/>
              <a:ext cx="4714875" cy="615553"/>
            </a:xfrm>
            <a:prstGeom prst="rect">
              <a:avLst/>
            </a:prstGeom>
          </p:spPr>
          <p:txBody>
            <a:bodyPr wrap="square">
              <a:spAutoFit/>
            </a:bodyPr>
            <a:lstStyle/>
            <a:p>
              <a:r>
                <a:rPr lang="en-US" sz="1300" b="1" i="1" dirty="0">
                  <a:solidFill>
                    <a:schemeClr val="accent1">
                      <a:lumMod val="40000"/>
                      <a:lumOff val="60000"/>
                    </a:schemeClr>
                  </a:solidFill>
                  <a:latin typeface="Calibri" panose="020F0502020204030204" pitchFamily="34" charset="0"/>
                  <a:ea typeface="Calibri" panose="020F0502020204030204" pitchFamily="34" charset="0"/>
                </a:rPr>
                <a:t>Challenge: Limited bandwidth for planning &amp; analysis</a:t>
              </a:r>
            </a:p>
            <a:p>
              <a:r>
                <a:rPr lang="en-US" sz="1050" b="1" dirty="0">
                  <a:solidFill>
                    <a:schemeClr val="bg1"/>
                  </a:solidFill>
                  <a:latin typeface="Calibri" panose="020F0502020204030204" pitchFamily="34" charset="0"/>
                  <a:ea typeface="Calibri" panose="020F0502020204030204" pitchFamily="34" charset="0"/>
                </a:rPr>
                <a:t>Solution: </a:t>
              </a:r>
              <a:r>
                <a:rPr lang="en-US" sz="1050" dirty="0">
                  <a:solidFill>
                    <a:schemeClr val="bg1"/>
                  </a:solidFill>
                  <a:latin typeface="Calibri" panose="020F0502020204030204" pitchFamily="34" charset="0"/>
                  <a:ea typeface="Calibri" panose="020F0502020204030204" pitchFamily="34" charset="0"/>
                </a:rPr>
                <a:t>Implementation</a:t>
              </a:r>
              <a:r>
                <a:rPr lang="en-US" sz="1050" dirty="0">
                  <a:solidFill>
                    <a:schemeClr val="bg1"/>
                  </a:solidFill>
                  <a:latin typeface="Calibri" panose="020F0502020204030204" pitchFamily="34" charset="0"/>
                  <a:ea typeface="Calibri" panose="020F0502020204030204" pitchFamily="34" charset="0"/>
                  <a:cs typeface="Calibri" panose="020F0502020204030204" pitchFamily="34" charset="0"/>
                </a:rPr>
                <a:t> of capacity building plan &amp; initiatives to ramp up internal PM capabilities</a:t>
              </a:r>
              <a:endParaRPr lang="en-US" sz="1050" dirty="0">
                <a:solidFill>
                  <a:schemeClr val="bg1"/>
                </a:solidFill>
                <a:latin typeface="Calibri" panose="020F0502020204030204" pitchFamily="34" charset="0"/>
                <a:ea typeface="Calibri" panose="020F0502020204030204" pitchFamily="34" charset="0"/>
              </a:endParaRPr>
            </a:p>
          </p:txBody>
        </p:sp>
        <p:cxnSp>
          <p:nvCxnSpPr>
            <p:cNvPr id="456" name="Straight Connector 455"/>
            <p:cNvCxnSpPr/>
            <p:nvPr/>
          </p:nvCxnSpPr>
          <p:spPr>
            <a:xfrm>
              <a:off x="4998403" y="1751541"/>
              <a:ext cx="0" cy="4724073"/>
            </a:xfrm>
            <a:prstGeom prst="line">
              <a:avLst/>
            </a:prstGeom>
            <a:ln w="381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457" name="Group 456"/>
            <p:cNvGrpSpPr/>
            <p:nvPr/>
          </p:nvGrpSpPr>
          <p:grpSpPr>
            <a:xfrm>
              <a:off x="5372753" y="2074933"/>
              <a:ext cx="1042940" cy="1160826"/>
              <a:chOff x="4594367" y="3306829"/>
              <a:chExt cx="1513840" cy="1756054"/>
            </a:xfrm>
          </p:grpSpPr>
          <p:sp>
            <p:nvSpPr>
              <p:cNvPr id="493" name="Hexagon 492"/>
              <p:cNvSpPr/>
              <p:nvPr/>
            </p:nvSpPr>
            <p:spPr bwMode="gray">
              <a:xfrm rot="5400000">
                <a:off x="4473260" y="3427936"/>
                <a:ext cx="1756054" cy="1513840"/>
              </a:xfrm>
              <a:prstGeom prst="hexagon">
                <a:avLst/>
              </a:prstGeom>
              <a:solidFill>
                <a:srgbClr val="01216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dirty="0">
                  <a:solidFill>
                    <a:schemeClr val="bg1"/>
                  </a:solidFill>
                </a:endParaRPr>
              </a:p>
            </p:txBody>
          </p:sp>
          <p:sp>
            <p:nvSpPr>
              <p:cNvPr id="494" name="Hexagon 493"/>
              <p:cNvSpPr/>
              <p:nvPr/>
            </p:nvSpPr>
            <p:spPr bwMode="gray">
              <a:xfrm rot="5400000">
                <a:off x="4607065" y="3543285"/>
                <a:ext cx="1488445" cy="1283143"/>
              </a:xfrm>
              <a:prstGeom prst="hexagon">
                <a:avLst/>
              </a:prstGeom>
              <a:solidFill>
                <a:srgbClr val="005587"/>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dirty="0">
                  <a:solidFill>
                    <a:schemeClr val="bg1"/>
                  </a:solidFill>
                </a:endParaRPr>
              </a:p>
            </p:txBody>
          </p:sp>
          <p:sp>
            <p:nvSpPr>
              <p:cNvPr id="495" name="Hexagon 494"/>
              <p:cNvSpPr/>
              <p:nvPr/>
            </p:nvSpPr>
            <p:spPr bwMode="gray">
              <a:xfrm rot="5400000">
                <a:off x="4790178" y="3701141"/>
                <a:ext cx="1122218" cy="967431"/>
              </a:xfrm>
              <a:prstGeom prst="hexagon">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dirty="0">
                  <a:solidFill>
                    <a:schemeClr val="bg1"/>
                  </a:solidFill>
                </a:endParaRPr>
              </a:p>
            </p:txBody>
          </p:sp>
        </p:grpSp>
        <p:grpSp>
          <p:nvGrpSpPr>
            <p:cNvPr id="458" name="Group 457"/>
            <p:cNvGrpSpPr/>
            <p:nvPr/>
          </p:nvGrpSpPr>
          <p:grpSpPr>
            <a:xfrm>
              <a:off x="5372753" y="3582677"/>
              <a:ext cx="1042940" cy="1160826"/>
              <a:chOff x="4594367" y="3306829"/>
              <a:chExt cx="1513840" cy="1756054"/>
            </a:xfrm>
          </p:grpSpPr>
          <p:sp>
            <p:nvSpPr>
              <p:cNvPr id="490" name="Hexagon 489"/>
              <p:cNvSpPr/>
              <p:nvPr/>
            </p:nvSpPr>
            <p:spPr bwMode="gray">
              <a:xfrm rot="5400000">
                <a:off x="4473260" y="3427936"/>
                <a:ext cx="1756054" cy="1513840"/>
              </a:xfrm>
              <a:prstGeom prst="hexagon">
                <a:avLst/>
              </a:prstGeom>
              <a:solidFill>
                <a:srgbClr val="005587"/>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dirty="0">
                  <a:solidFill>
                    <a:schemeClr val="bg1"/>
                  </a:solidFill>
                </a:endParaRPr>
              </a:p>
            </p:txBody>
          </p:sp>
          <p:sp>
            <p:nvSpPr>
              <p:cNvPr id="491" name="Hexagon 490"/>
              <p:cNvSpPr/>
              <p:nvPr/>
            </p:nvSpPr>
            <p:spPr bwMode="gray">
              <a:xfrm rot="5400000">
                <a:off x="4607065" y="3543285"/>
                <a:ext cx="1488445" cy="1283143"/>
              </a:xfrm>
              <a:prstGeom prst="hexagon">
                <a:avLst/>
              </a:prstGeom>
              <a:solidFill>
                <a:srgbClr val="00B0F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dirty="0">
                  <a:solidFill>
                    <a:schemeClr val="bg1"/>
                  </a:solidFill>
                </a:endParaRPr>
              </a:p>
            </p:txBody>
          </p:sp>
          <p:sp>
            <p:nvSpPr>
              <p:cNvPr id="492" name="Hexagon 491"/>
              <p:cNvSpPr/>
              <p:nvPr/>
            </p:nvSpPr>
            <p:spPr bwMode="gray">
              <a:xfrm rot="5400000">
                <a:off x="4790178" y="3701141"/>
                <a:ext cx="1122218" cy="967431"/>
              </a:xfrm>
              <a:prstGeom prst="hexagon">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dirty="0">
                  <a:solidFill>
                    <a:schemeClr val="bg1"/>
                  </a:solidFill>
                </a:endParaRPr>
              </a:p>
            </p:txBody>
          </p:sp>
        </p:grpSp>
        <p:grpSp>
          <p:nvGrpSpPr>
            <p:cNvPr id="459" name="Group 458"/>
            <p:cNvGrpSpPr/>
            <p:nvPr/>
          </p:nvGrpSpPr>
          <p:grpSpPr>
            <a:xfrm>
              <a:off x="5366924" y="5085227"/>
              <a:ext cx="1042940" cy="1160826"/>
              <a:chOff x="4594367" y="3306829"/>
              <a:chExt cx="1513840" cy="1756054"/>
            </a:xfrm>
          </p:grpSpPr>
          <p:sp>
            <p:nvSpPr>
              <p:cNvPr id="487" name="Hexagon 486"/>
              <p:cNvSpPr/>
              <p:nvPr/>
            </p:nvSpPr>
            <p:spPr bwMode="gray">
              <a:xfrm rot="5400000">
                <a:off x="4473260" y="3427936"/>
                <a:ext cx="1756054" cy="1513840"/>
              </a:xfrm>
              <a:prstGeom prst="hexagon">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dirty="0">
                  <a:solidFill>
                    <a:schemeClr val="bg1"/>
                  </a:solidFill>
                </a:endParaRPr>
              </a:p>
            </p:txBody>
          </p:sp>
          <p:sp>
            <p:nvSpPr>
              <p:cNvPr id="488" name="Hexagon 487"/>
              <p:cNvSpPr/>
              <p:nvPr/>
            </p:nvSpPr>
            <p:spPr bwMode="gray">
              <a:xfrm rot="5400000">
                <a:off x="4607065" y="3543285"/>
                <a:ext cx="1488445" cy="1283143"/>
              </a:xfrm>
              <a:prstGeom prst="hexagon">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dirty="0">
                  <a:solidFill>
                    <a:schemeClr val="bg1"/>
                  </a:solidFill>
                </a:endParaRPr>
              </a:p>
            </p:txBody>
          </p:sp>
          <p:sp>
            <p:nvSpPr>
              <p:cNvPr id="489" name="Hexagon 488"/>
              <p:cNvSpPr/>
              <p:nvPr/>
            </p:nvSpPr>
            <p:spPr bwMode="gray">
              <a:xfrm rot="5400000">
                <a:off x="4790178" y="3701141"/>
                <a:ext cx="1122218" cy="967431"/>
              </a:xfrm>
              <a:prstGeom prst="hexagon">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dirty="0">
                  <a:solidFill>
                    <a:schemeClr val="bg1"/>
                  </a:solidFill>
                </a:endParaRPr>
              </a:p>
            </p:txBody>
          </p:sp>
        </p:grpSp>
        <p:sp>
          <p:nvSpPr>
            <p:cNvPr id="460" name="Freeform 54">
              <a:hlinkClick r:id="" action="ppaction://noaction"/>
            </p:cNvPr>
            <p:cNvSpPr>
              <a:spLocks noChangeAspect="1" noEditPoints="1"/>
            </p:cNvSpPr>
            <p:nvPr/>
          </p:nvSpPr>
          <p:spPr bwMode="auto">
            <a:xfrm>
              <a:off x="5646372" y="2483503"/>
              <a:ext cx="497198" cy="360426"/>
            </a:xfrm>
            <a:custGeom>
              <a:avLst/>
              <a:gdLst>
                <a:gd name="T0" fmla="*/ 560 w 588"/>
                <a:gd name="T1" fmla="*/ 233 h 408"/>
                <a:gd name="T2" fmla="*/ 560 w 588"/>
                <a:gd name="T3" fmla="*/ 257 h 408"/>
                <a:gd name="T4" fmla="*/ 560 w 588"/>
                <a:gd name="T5" fmla="*/ 233 h 408"/>
                <a:gd name="T6" fmla="*/ 560 w 588"/>
                <a:gd name="T7" fmla="*/ 324 h 408"/>
                <a:gd name="T8" fmla="*/ 560 w 588"/>
                <a:gd name="T9" fmla="*/ 348 h 408"/>
                <a:gd name="T10" fmla="*/ 560 w 588"/>
                <a:gd name="T11" fmla="*/ 324 h 408"/>
                <a:gd name="T12" fmla="*/ 27 w 588"/>
                <a:gd name="T13" fmla="*/ 348 h 408"/>
                <a:gd name="T14" fmla="*/ 27 w 588"/>
                <a:gd name="T15" fmla="*/ 324 h 408"/>
                <a:gd name="T16" fmla="*/ 27 w 588"/>
                <a:gd name="T17" fmla="*/ 348 h 408"/>
                <a:gd name="T18" fmla="*/ 27 w 588"/>
                <a:gd name="T19" fmla="*/ 257 h 408"/>
                <a:gd name="T20" fmla="*/ 27 w 588"/>
                <a:gd name="T21" fmla="*/ 233 h 408"/>
                <a:gd name="T22" fmla="*/ 27 w 588"/>
                <a:gd name="T23" fmla="*/ 257 h 408"/>
                <a:gd name="T24" fmla="*/ 27 w 588"/>
                <a:gd name="T25" fmla="*/ 166 h 408"/>
                <a:gd name="T26" fmla="*/ 27 w 588"/>
                <a:gd name="T27" fmla="*/ 141 h 408"/>
                <a:gd name="T28" fmla="*/ 27 w 588"/>
                <a:gd name="T29" fmla="*/ 166 h 408"/>
                <a:gd name="T30" fmla="*/ 27 w 588"/>
                <a:gd name="T31" fmla="*/ 75 h 408"/>
                <a:gd name="T32" fmla="*/ 27 w 588"/>
                <a:gd name="T33" fmla="*/ 50 h 408"/>
                <a:gd name="T34" fmla="*/ 27 w 588"/>
                <a:gd name="T35" fmla="*/ 75 h 408"/>
                <a:gd name="T36" fmla="*/ 560 w 588"/>
                <a:gd name="T37" fmla="*/ 50 h 408"/>
                <a:gd name="T38" fmla="*/ 560 w 588"/>
                <a:gd name="T39" fmla="*/ 75 h 408"/>
                <a:gd name="T40" fmla="*/ 560 w 588"/>
                <a:gd name="T41" fmla="*/ 50 h 408"/>
                <a:gd name="T42" fmla="*/ 560 w 588"/>
                <a:gd name="T43" fmla="*/ 141 h 408"/>
                <a:gd name="T44" fmla="*/ 560 w 588"/>
                <a:gd name="T45" fmla="*/ 166 h 408"/>
                <a:gd name="T46" fmla="*/ 560 w 588"/>
                <a:gd name="T47" fmla="*/ 141 h 408"/>
                <a:gd name="T48" fmla="*/ 535 w 588"/>
                <a:gd name="T49" fmla="*/ 166 h 408"/>
                <a:gd name="T50" fmla="*/ 588 w 588"/>
                <a:gd name="T51" fmla="*/ 154 h 408"/>
                <a:gd name="T52" fmla="*/ 535 w 588"/>
                <a:gd name="T53" fmla="*/ 141 h 408"/>
                <a:gd name="T54" fmla="*/ 501 w 588"/>
                <a:gd name="T55" fmla="*/ 75 h 408"/>
                <a:gd name="T56" fmla="*/ 560 w 588"/>
                <a:gd name="T57" fmla="*/ 90 h 408"/>
                <a:gd name="T58" fmla="*/ 560 w 588"/>
                <a:gd name="T59" fmla="*/ 35 h 408"/>
                <a:gd name="T60" fmla="*/ 501 w 588"/>
                <a:gd name="T61" fmla="*/ 50 h 408"/>
                <a:gd name="T62" fmla="*/ 450 w 588"/>
                <a:gd name="T63" fmla="*/ 0 h 408"/>
                <a:gd name="T64" fmla="*/ 86 w 588"/>
                <a:gd name="T65" fmla="*/ 50 h 408"/>
                <a:gd name="T66" fmla="*/ 52 w 588"/>
                <a:gd name="T67" fmla="*/ 50 h 408"/>
                <a:gd name="T68" fmla="*/ 0 w 588"/>
                <a:gd name="T69" fmla="*/ 62 h 408"/>
                <a:gd name="T70" fmla="*/ 52 w 588"/>
                <a:gd name="T71" fmla="*/ 75 h 408"/>
                <a:gd name="T72" fmla="*/ 86 w 588"/>
                <a:gd name="T73" fmla="*/ 141 h 408"/>
                <a:gd name="T74" fmla="*/ 27 w 588"/>
                <a:gd name="T75" fmla="*/ 126 h 408"/>
                <a:gd name="T76" fmla="*/ 27 w 588"/>
                <a:gd name="T77" fmla="*/ 181 h 408"/>
                <a:gd name="T78" fmla="*/ 86 w 588"/>
                <a:gd name="T79" fmla="*/ 166 h 408"/>
                <a:gd name="T80" fmla="*/ 52 w 588"/>
                <a:gd name="T81" fmla="*/ 232 h 408"/>
                <a:gd name="T82" fmla="*/ 0 w 588"/>
                <a:gd name="T83" fmla="*/ 245 h 408"/>
                <a:gd name="T84" fmla="*/ 52 w 588"/>
                <a:gd name="T85" fmla="*/ 257 h 408"/>
                <a:gd name="T86" fmla="*/ 86 w 588"/>
                <a:gd name="T87" fmla="*/ 323 h 408"/>
                <a:gd name="T88" fmla="*/ 27 w 588"/>
                <a:gd name="T89" fmla="*/ 308 h 408"/>
                <a:gd name="T90" fmla="*/ 27 w 588"/>
                <a:gd name="T91" fmla="*/ 364 h 408"/>
                <a:gd name="T92" fmla="*/ 86 w 588"/>
                <a:gd name="T93" fmla="*/ 348 h 408"/>
                <a:gd name="T94" fmla="*/ 91 w 588"/>
                <a:gd name="T95" fmla="*/ 381 h 408"/>
                <a:gd name="T96" fmla="*/ 218 w 588"/>
                <a:gd name="T97" fmla="*/ 148 h 408"/>
                <a:gd name="T98" fmla="*/ 350 w 588"/>
                <a:gd name="T99" fmla="*/ 130 h 408"/>
                <a:gd name="T100" fmla="*/ 368 w 588"/>
                <a:gd name="T101" fmla="*/ 260 h 408"/>
                <a:gd name="T102" fmla="*/ 244 w 588"/>
                <a:gd name="T103" fmla="*/ 278 h 408"/>
                <a:gd name="T104" fmla="*/ 136 w 588"/>
                <a:gd name="T105" fmla="*/ 408 h 408"/>
                <a:gd name="T106" fmla="*/ 501 w 588"/>
                <a:gd name="T107" fmla="*/ 358 h 408"/>
                <a:gd name="T108" fmla="*/ 535 w 588"/>
                <a:gd name="T109" fmla="*/ 348 h 408"/>
                <a:gd name="T110" fmla="*/ 588 w 588"/>
                <a:gd name="T111" fmla="*/ 336 h 408"/>
                <a:gd name="T112" fmla="*/ 535 w 588"/>
                <a:gd name="T113" fmla="*/ 323 h 408"/>
                <a:gd name="T114" fmla="*/ 501 w 588"/>
                <a:gd name="T115" fmla="*/ 257 h 408"/>
                <a:gd name="T116" fmla="*/ 560 w 588"/>
                <a:gd name="T117" fmla="*/ 273 h 408"/>
                <a:gd name="T118" fmla="*/ 560 w 588"/>
                <a:gd name="T119" fmla="*/ 217 h 408"/>
                <a:gd name="T120" fmla="*/ 501 w 588"/>
                <a:gd name="T121" fmla="*/ 232 h 408"/>
                <a:gd name="T122" fmla="*/ 535 w 588"/>
                <a:gd name="T123" fmla="*/ 166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88" h="408">
                  <a:moveTo>
                    <a:pt x="560" y="233"/>
                  </a:moveTo>
                  <a:lnTo>
                    <a:pt x="560" y="233"/>
                  </a:lnTo>
                  <a:cubicBezTo>
                    <a:pt x="567" y="233"/>
                    <a:pt x="572" y="238"/>
                    <a:pt x="572" y="245"/>
                  </a:cubicBezTo>
                  <a:cubicBezTo>
                    <a:pt x="572" y="252"/>
                    <a:pt x="567" y="257"/>
                    <a:pt x="560" y="257"/>
                  </a:cubicBezTo>
                  <a:cubicBezTo>
                    <a:pt x="553" y="257"/>
                    <a:pt x="548" y="252"/>
                    <a:pt x="548" y="245"/>
                  </a:cubicBezTo>
                  <a:cubicBezTo>
                    <a:pt x="548" y="238"/>
                    <a:pt x="553" y="233"/>
                    <a:pt x="560" y="233"/>
                  </a:cubicBezTo>
                  <a:close/>
                  <a:moveTo>
                    <a:pt x="560" y="324"/>
                  </a:moveTo>
                  <a:lnTo>
                    <a:pt x="560" y="324"/>
                  </a:lnTo>
                  <a:cubicBezTo>
                    <a:pt x="567" y="324"/>
                    <a:pt x="572" y="329"/>
                    <a:pt x="572" y="336"/>
                  </a:cubicBezTo>
                  <a:cubicBezTo>
                    <a:pt x="572" y="343"/>
                    <a:pt x="567" y="348"/>
                    <a:pt x="560" y="348"/>
                  </a:cubicBezTo>
                  <a:cubicBezTo>
                    <a:pt x="553" y="348"/>
                    <a:pt x="548" y="343"/>
                    <a:pt x="548" y="336"/>
                  </a:cubicBezTo>
                  <a:cubicBezTo>
                    <a:pt x="548" y="329"/>
                    <a:pt x="553" y="324"/>
                    <a:pt x="560" y="324"/>
                  </a:cubicBezTo>
                  <a:close/>
                  <a:moveTo>
                    <a:pt x="27" y="348"/>
                  </a:moveTo>
                  <a:lnTo>
                    <a:pt x="27" y="348"/>
                  </a:lnTo>
                  <a:cubicBezTo>
                    <a:pt x="20" y="348"/>
                    <a:pt x="15" y="343"/>
                    <a:pt x="15" y="336"/>
                  </a:cubicBezTo>
                  <a:cubicBezTo>
                    <a:pt x="15" y="329"/>
                    <a:pt x="20" y="324"/>
                    <a:pt x="27" y="324"/>
                  </a:cubicBezTo>
                  <a:cubicBezTo>
                    <a:pt x="34" y="324"/>
                    <a:pt x="39" y="329"/>
                    <a:pt x="39" y="336"/>
                  </a:cubicBezTo>
                  <a:cubicBezTo>
                    <a:pt x="39" y="343"/>
                    <a:pt x="34" y="348"/>
                    <a:pt x="27" y="348"/>
                  </a:cubicBezTo>
                  <a:close/>
                  <a:moveTo>
                    <a:pt x="27" y="257"/>
                  </a:moveTo>
                  <a:lnTo>
                    <a:pt x="27" y="257"/>
                  </a:lnTo>
                  <a:cubicBezTo>
                    <a:pt x="20" y="257"/>
                    <a:pt x="15" y="252"/>
                    <a:pt x="15" y="245"/>
                  </a:cubicBezTo>
                  <a:cubicBezTo>
                    <a:pt x="15" y="238"/>
                    <a:pt x="20" y="233"/>
                    <a:pt x="27" y="233"/>
                  </a:cubicBezTo>
                  <a:cubicBezTo>
                    <a:pt x="34" y="233"/>
                    <a:pt x="39" y="238"/>
                    <a:pt x="39" y="245"/>
                  </a:cubicBezTo>
                  <a:cubicBezTo>
                    <a:pt x="39" y="252"/>
                    <a:pt x="34" y="257"/>
                    <a:pt x="27" y="257"/>
                  </a:cubicBezTo>
                  <a:close/>
                  <a:moveTo>
                    <a:pt x="27" y="166"/>
                  </a:moveTo>
                  <a:lnTo>
                    <a:pt x="27" y="166"/>
                  </a:lnTo>
                  <a:cubicBezTo>
                    <a:pt x="20" y="166"/>
                    <a:pt x="15" y="160"/>
                    <a:pt x="15" y="154"/>
                  </a:cubicBezTo>
                  <a:cubicBezTo>
                    <a:pt x="15" y="147"/>
                    <a:pt x="20" y="141"/>
                    <a:pt x="27" y="141"/>
                  </a:cubicBezTo>
                  <a:cubicBezTo>
                    <a:pt x="34" y="141"/>
                    <a:pt x="39" y="147"/>
                    <a:pt x="39" y="154"/>
                  </a:cubicBezTo>
                  <a:cubicBezTo>
                    <a:pt x="39" y="160"/>
                    <a:pt x="34" y="166"/>
                    <a:pt x="27" y="166"/>
                  </a:cubicBezTo>
                  <a:close/>
                  <a:moveTo>
                    <a:pt x="27" y="75"/>
                  </a:moveTo>
                  <a:lnTo>
                    <a:pt x="27" y="75"/>
                  </a:lnTo>
                  <a:cubicBezTo>
                    <a:pt x="20" y="75"/>
                    <a:pt x="15" y="69"/>
                    <a:pt x="15" y="62"/>
                  </a:cubicBezTo>
                  <a:cubicBezTo>
                    <a:pt x="15" y="56"/>
                    <a:pt x="20" y="50"/>
                    <a:pt x="27" y="50"/>
                  </a:cubicBezTo>
                  <a:cubicBezTo>
                    <a:pt x="34" y="50"/>
                    <a:pt x="39" y="56"/>
                    <a:pt x="39" y="62"/>
                  </a:cubicBezTo>
                  <a:cubicBezTo>
                    <a:pt x="39" y="69"/>
                    <a:pt x="34" y="75"/>
                    <a:pt x="27" y="75"/>
                  </a:cubicBezTo>
                  <a:close/>
                  <a:moveTo>
                    <a:pt x="560" y="50"/>
                  </a:moveTo>
                  <a:lnTo>
                    <a:pt x="560" y="50"/>
                  </a:lnTo>
                  <a:cubicBezTo>
                    <a:pt x="567" y="50"/>
                    <a:pt x="572" y="56"/>
                    <a:pt x="572" y="62"/>
                  </a:cubicBezTo>
                  <a:cubicBezTo>
                    <a:pt x="572" y="69"/>
                    <a:pt x="567" y="75"/>
                    <a:pt x="560" y="75"/>
                  </a:cubicBezTo>
                  <a:cubicBezTo>
                    <a:pt x="553" y="75"/>
                    <a:pt x="548" y="69"/>
                    <a:pt x="548" y="62"/>
                  </a:cubicBezTo>
                  <a:cubicBezTo>
                    <a:pt x="548" y="56"/>
                    <a:pt x="553" y="50"/>
                    <a:pt x="560" y="50"/>
                  </a:cubicBezTo>
                  <a:close/>
                  <a:moveTo>
                    <a:pt x="560" y="141"/>
                  </a:moveTo>
                  <a:lnTo>
                    <a:pt x="560" y="141"/>
                  </a:lnTo>
                  <a:cubicBezTo>
                    <a:pt x="567" y="141"/>
                    <a:pt x="572" y="147"/>
                    <a:pt x="572" y="154"/>
                  </a:cubicBezTo>
                  <a:cubicBezTo>
                    <a:pt x="572" y="160"/>
                    <a:pt x="567" y="166"/>
                    <a:pt x="560" y="166"/>
                  </a:cubicBezTo>
                  <a:cubicBezTo>
                    <a:pt x="553" y="166"/>
                    <a:pt x="548" y="160"/>
                    <a:pt x="548" y="154"/>
                  </a:cubicBezTo>
                  <a:cubicBezTo>
                    <a:pt x="548" y="147"/>
                    <a:pt x="553" y="141"/>
                    <a:pt x="560" y="141"/>
                  </a:cubicBezTo>
                  <a:close/>
                  <a:moveTo>
                    <a:pt x="535" y="166"/>
                  </a:moveTo>
                  <a:lnTo>
                    <a:pt x="535" y="166"/>
                  </a:lnTo>
                  <a:cubicBezTo>
                    <a:pt x="540" y="175"/>
                    <a:pt x="549" y="181"/>
                    <a:pt x="560" y="181"/>
                  </a:cubicBezTo>
                  <a:cubicBezTo>
                    <a:pt x="575" y="181"/>
                    <a:pt x="588" y="169"/>
                    <a:pt x="588" y="154"/>
                  </a:cubicBezTo>
                  <a:cubicBezTo>
                    <a:pt x="588" y="138"/>
                    <a:pt x="575" y="126"/>
                    <a:pt x="560" y="126"/>
                  </a:cubicBezTo>
                  <a:cubicBezTo>
                    <a:pt x="549" y="126"/>
                    <a:pt x="540" y="132"/>
                    <a:pt x="535" y="141"/>
                  </a:cubicBezTo>
                  <a:lnTo>
                    <a:pt x="501" y="141"/>
                  </a:lnTo>
                  <a:lnTo>
                    <a:pt x="501" y="75"/>
                  </a:lnTo>
                  <a:lnTo>
                    <a:pt x="535" y="75"/>
                  </a:lnTo>
                  <a:cubicBezTo>
                    <a:pt x="540" y="84"/>
                    <a:pt x="549" y="90"/>
                    <a:pt x="560" y="90"/>
                  </a:cubicBezTo>
                  <a:cubicBezTo>
                    <a:pt x="575" y="90"/>
                    <a:pt x="588" y="78"/>
                    <a:pt x="588" y="62"/>
                  </a:cubicBezTo>
                  <a:cubicBezTo>
                    <a:pt x="588" y="47"/>
                    <a:pt x="575" y="35"/>
                    <a:pt x="560" y="35"/>
                  </a:cubicBezTo>
                  <a:cubicBezTo>
                    <a:pt x="549" y="35"/>
                    <a:pt x="540" y="41"/>
                    <a:pt x="535" y="50"/>
                  </a:cubicBezTo>
                  <a:lnTo>
                    <a:pt x="501" y="50"/>
                  </a:lnTo>
                  <a:lnTo>
                    <a:pt x="501" y="50"/>
                  </a:lnTo>
                  <a:cubicBezTo>
                    <a:pt x="501" y="22"/>
                    <a:pt x="478" y="0"/>
                    <a:pt x="450" y="0"/>
                  </a:cubicBezTo>
                  <a:lnTo>
                    <a:pt x="136" y="0"/>
                  </a:lnTo>
                  <a:cubicBezTo>
                    <a:pt x="108" y="0"/>
                    <a:pt x="86" y="22"/>
                    <a:pt x="86" y="50"/>
                  </a:cubicBezTo>
                  <a:lnTo>
                    <a:pt x="86" y="50"/>
                  </a:lnTo>
                  <a:lnTo>
                    <a:pt x="52" y="50"/>
                  </a:lnTo>
                  <a:cubicBezTo>
                    <a:pt x="47" y="41"/>
                    <a:pt x="38" y="35"/>
                    <a:pt x="27" y="35"/>
                  </a:cubicBezTo>
                  <a:cubicBezTo>
                    <a:pt x="12" y="35"/>
                    <a:pt x="0" y="47"/>
                    <a:pt x="0" y="62"/>
                  </a:cubicBezTo>
                  <a:cubicBezTo>
                    <a:pt x="0" y="78"/>
                    <a:pt x="12" y="90"/>
                    <a:pt x="27" y="90"/>
                  </a:cubicBezTo>
                  <a:cubicBezTo>
                    <a:pt x="38" y="90"/>
                    <a:pt x="47" y="84"/>
                    <a:pt x="52" y="75"/>
                  </a:cubicBezTo>
                  <a:lnTo>
                    <a:pt x="86" y="75"/>
                  </a:lnTo>
                  <a:lnTo>
                    <a:pt x="86" y="141"/>
                  </a:lnTo>
                  <a:lnTo>
                    <a:pt x="52" y="141"/>
                  </a:lnTo>
                  <a:cubicBezTo>
                    <a:pt x="47" y="132"/>
                    <a:pt x="38" y="126"/>
                    <a:pt x="27" y="126"/>
                  </a:cubicBezTo>
                  <a:cubicBezTo>
                    <a:pt x="12" y="126"/>
                    <a:pt x="0" y="138"/>
                    <a:pt x="0" y="154"/>
                  </a:cubicBezTo>
                  <a:cubicBezTo>
                    <a:pt x="0" y="169"/>
                    <a:pt x="12" y="181"/>
                    <a:pt x="27" y="181"/>
                  </a:cubicBezTo>
                  <a:cubicBezTo>
                    <a:pt x="38" y="181"/>
                    <a:pt x="47" y="175"/>
                    <a:pt x="52" y="166"/>
                  </a:cubicBezTo>
                  <a:lnTo>
                    <a:pt x="86" y="166"/>
                  </a:lnTo>
                  <a:lnTo>
                    <a:pt x="86" y="232"/>
                  </a:lnTo>
                  <a:lnTo>
                    <a:pt x="52" y="232"/>
                  </a:lnTo>
                  <a:cubicBezTo>
                    <a:pt x="47" y="223"/>
                    <a:pt x="38" y="217"/>
                    <a:pt x="27" y="217"/>
                  </a:cubicBezTo>
                  <a:cubicBezTo>
                    <a:pt x="12" y="217"/>
                    <a:pt x="0" y="229"/>
                    <a:pt x="0" y="245"/>
                  </a:cubicBezTo>
                  <a:cubicBezTo>
                    <a:pt x="0" y="260"/>
                    <a:pt x="12" y="273"/>
                    <a:pt x="27" y="273"/>
                  </a:cubicBezTo>
                  <a:cubicBezTo>
                    <a:pt x="38" y="273"/>
                    <a:pt x="47" y="266"/>
                    <a:pt x="52" y="257"/>
                  </a:cubicBezTo>
                  <a:lnTo>
                    <a:pt x="86" y="257"/>
                  </a:lnTo>
                  <a:lnTo>
                    <a:pt x="86" y="323"/>
                  </a:lnTo>
                  <a:lnTo>
                    <a:pt x="52" y="323"/>
                  </a:lnTo>
                  <a:cubicBezTo>
                    <a:pt x="47" y="314"/>
                    <a:pt x="38" y="308"/>
                    <a:pt x="27" y="308"/>
                  </a:cubicBezTo>
                  <a:cubicBezTo>
                    <a:pt x="12" y="308"/>
                    <a:pt x="0" y="321"/>
                    <a:pt x="0" y="336"/>
                  </a:cubicBezTo>
                  <a:cubicBezTo>
                    <a:pt x="0" y="351"/>
                    <a:pt x="12" y="364"/>
                    <a:pt x="27" y="364"/>
                  </a:cubicBezTo>
                  <a:cubicBezTo>
                    <a:pt x="38" y="364"/>
                    <a:pt x="47" y="357"/>
                    <a:pt x="52" y="348"/>
                  </a:cubicBezTo>
                  <a:lnTo>
                    <a:pt x="86" y="348"/>
                  </a:lnTo>
                  <a:lnTo>
                    <a:pt x="86" y="358"/>
                  </a:lnTo>
                  <a:cubicBezTo>
                    <a:pt x="86" y="366"/>
                    <a:pt x="88" y="374"/>
                    <a:pt x="91" y="381"/>
                  </a:cubicBezTo>
                  <a:lnTo>
                    <a:pt x="218" y="254"/>
                  </a:lnTo>
                  <a:lnTo>
                    <a:pt x="218" y="148"/>
                  </a:lnTo>
                  <a:cubicBezTo>
                    <a:pt x="218" y="138"/>
                    <a:pt x="226" y="130"/>
                    <a:pt x="236" y="130"/>
                  </a:cubicBezTo>
                  <a:lnTo>
                    <a:pt x="350" y="130"/>
                  </a:lnTo>
                  <a:cubicBezTo>
                    <a:pt x="360" y="130"/>
                    <a:pt x="368" y="138"/>
                    <a:pt x="368" y="148"/>
                  </a:cubicBezTo>
                  <a:lnTo>
                    <a:pt x="368" y="260"/>
                  </a:lnTo>
                  <a:cubicBezTo>
                    <a:pt x="368" y="270"/>
                    <a:pt x="360" y="278"/>
                    <a:pt x="350" y="278"/>
                  </a:cubicBezTo>
                  <a:lnTo>
                    <a:pt x="244" y="278"/>
                  </a:lnTo>
                  <a:lnTo>
                    <a:pt x="118" y="405"/>
                  </a:lnTo>
                  <a:cubicBezTo>
                    <a:pt x="123" y="407"/>
                    <a:pt x="130" y="408"/>
                    <a:pt x="136" y="408"/>
                  </a:cubicBezTo>
                  <a:lnTo>
                    <a:pt x="450" y="408"/>
                  </a:lnTo>
                  <a:cubicBezTo>
                    <a:pt x="478" y="408"/>
                    <a:pt x="501" y="386"/>
                    <a:pt x="501" y="358"/>
                  </a:cubicBezTo>
                  <a:lnTo>
                    <a:pt x="501" y="348"/>
                  </a:lnTo>
                  <a:lnTo>
                    <a:pt x="535" y="348"/>
                  </a:lnTo>
                  <a:cubicBezTo>
                    <a:pt x="540" y="357"/>
                    <a:pt x="549" y="364"/>
                    <a:pt x="560" y="364"/>
                  </a:cubicBezTo>
                  <a:cubicBezTo>
                    <a:pt x="575" y="364"/>
                    <a:pt x="588" y="351"/>
                    <a:pt x="588" y="336"/>
                  </a:cubicBezTo>
                  <a:cubicBezTo>
                    <a:pt x="588" y="321"/>
                    <a:pt x="575" y="308"/>
                    <a:pt x="560" y="308"/>
                  </a:cubicBezTo>
                  <a:cubicBezTo>
                    <a:pt x="549" y="308"/>
                    <a:pt x="540" y="314"/>
                    <a:pt x="535" y="323"/>
                  </a:cubicBezTo>
                  <a:lnTo>
                    <a:pt x="501" y="323"/>
                  </a:lnTo>
                  <a:lnTo>
                    <a:pt x="501" y="257"/>
                  </a:lnTo>
                  <a:lnTo>
                    <a:pt x="535" y="257"/>
                  </a:lnTo>
                  <a:cubicBezTo>
                    <a:pt x="540" y="266"/>
                    <a:pt x="549" y="273"/>
                    <a:pt x="560" y="273"/>
                  </a:cubicBezTo>
                  <a:cubicBezTo>
                    <a:pt x="575" y="273"/>
                    <a:pt x="588" y="260"/>
                    <a:pt x="588" y="245"/>
                  </a:cubicBezTo>
                  <a:cubicBezTo>
                    <a:pt x="588" y="229"/>
                    <a:pt x="575" y="217"/>
                    <a:pt x="560" y="217"/>
                  </a:cubicBezTo>
                  <a:cubicBezTo>
                    <a:pt x="549" y="217"/>
                    <a:pt x="540" y="223"/>
                    <a:pt x="535" y="232"/>
                  </a:cubicBezTo>
                  <a:lnTo>
                    <a:pt x="501" y="232"/>
                  </a:lnTo>
                  <a:lnTo>
                    <a:pt x="501" y="166"/>
                  </a:lnTo>
                  <a:lnTo>
                    <a:pt x="535" y="166"/>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Verdana"/>
                <a:ea typeface="+mn-ea"/>
                <a:cs typeface="+mn-cs"/>
              </a:endParaRPr>
            </a:p>
          </p:txBody>
        </p:sp>
        <p:sp>
          <p:nvSpPr>
            <p:cNvPr id="461" name="Freeform 5">
              <a:hlinkClick r:id="rId3" action="ppaction://hlinksldjump"/>
            </p:cNvPr>
            <p:cNvSpPr>
              <a:spLocks noChangeAspect="1" noEditPoints="1"/>
            </p:cNvSpPr>
            <p:nvPr/>
          </p:nvSpPr>
          <p:spPr bwMode="auto">
            <a:xfrm>
              <a:off x="5677311" y="5474538"/>
              <a:ext cx="435319" cy="400178"/>
            </a:xfrm>
            <a:custGeom>
              <a:avLst/>
              <a:gdLst>
                <a:gd name="T0" fmla="*/ 630 w 676"/>
                <a:gd name="T1" fmla="*/ 155 h 627"/>
                <a:gd name="T2" fmla="*/ 520 w 676"/>
                <a:gd name="T3" fmla="*/ 160 h 627"/>
                <a:gd name="T4" fmla="*/ 378 w 676"/>
                <a:gd name="T5" fmla="*/ 135 h 627"/>
                <a:gd name="T6" fmla="*/ 299 w 676"/>
                <a:gd name="T7" fmla="*/ 128 h 627"/>
                <a:gd name="T8" fmla="*/ 153 w 676"/>
                <a:gd name="T9" fmla="*/ 171 h 627"/>
                <a:gd name="T10" fmla="*/ 45 w 676"/>
                <a:gd name="T11" fmla="*/ 166 h 627"/>
                <a:gd name="T12" fmla="*/ 0 w 676"/>
                <a:gd name="T13" fmla="*/ 349 h 627"/>
                <a:gd name="T14" fmla="*/ 30 w 676"/>
                <a:gd name="T15" fmla="*/ 349 h 627"/>
                <a:gd name="T16" fmla="*/ 50 w 676"/>
                <a:gd name="T17" fmla="*/ 211 h 627"/>
                <a:gd name="T18" fmla="*/ 81 w 676"/>
                <a:gd name="T19" fmla="*/ 581 h 627"/>
                <a:gd name="T20" fmla="*/ 131 w 676"/>
                <a:gd name="T21" fmla="*/ 541 h 627"/>
                <a:gd name="T22" fmla="*/ 150 w 676"/>
                <a:gd name="T23" fmla="*/ 211 h 627"/>
                <a:gd name="T24" fmla="*/ 165 w 676"/>
                <a:gd name="T25" fmla="*/ 370 h 627"/>
                <a:gd name="T26" fmla="*/ 179 w 676"/>
                <a:gd name="T27" fmla="*/ 187 h 627"/>
                <a:gd name="T28" fmla="*/ 198 w 676"/>
                <a:gd name="T29" fmla="*/ 579 h 627"/>
                <a:gd name="T30" fmla="*/ 271 w 676"/>
                <a:gd name="T31" fmla="*/ 627 h 627"/>
                <a:gd name="T32" fmla="*/ 304 w 676"/>
                <a:gd name="T33" fmla="*/ 187 h 627"/>
                <a:gd name="T34" fmla="*/ 323 w 676"/>
                <a:gd name="T35" fmla="*/ 347 h 627"/>
                <a:gd name="T36" fmla="*/ 350 w 676"/>
                <a:gd name="T37" fmla="*/ 348 h 627"/>
                <a:gd name="T38" fmla="*/ 369 w 676"/>
                <a:gd name="T39" fmla="*/ 196 h 627"/>
                <a:gd name="T40" fmla="*/ 408 w 676"/>
                <a:gd name="T41" fmla="*/ 623 h 627"/>
                <a:gd name="T42" fmla="*/ 479 w 676"/>
                <a:gd name="T43" fmla="*/ 568 h 627"/>
                <a:gd name="T44" fmla="*/ 498 w 676"/>
                <a:gd name="T45" fmla="*/ 196 h 627"/>
                <a:gd name="T46" fmla="*/ 511 w 676"/>
                <a:gd name="T47" fmla="*/ 370 h 627"/>
                <a:gd name="T48" fmla="*/ 528 w 676"/>
                <a:gd name="T49" fmla="*/ 211 h 627"/>
                <a:gd name="T50" fmla="*/ 546 w 676"/>
                <a:gd name="T51" fmla="*/ 529 h 627"/>
                <a:gd name="T52" fmla="*/ 604 w 676"/>
                <a:gd name="T53" fmla="*/ 570 h 627"/>
                <a:gd name="T54" fmla="*/ 628 w 676"/>
                <a:gd name="T55" fmla="*/ 211 h 627"/>
                <a:gd name="T56" fmla="*/ 647 w 676"/>
                <a:gd name="T57" fmla="*/ 352 h 627"/>
                <a:gd name="T58" fmla="*/ 676 w 676"/>
                <a:gd name="T59" fmla="*/ 353 h 627"/>
                <a:gd name="T60" fmla="*/ 630 w 676"/>
                <a:gd name="T61" fmla="*/ 155 h 627"/>
                <a:gd name="T62" fmla="*/ 584 w 676"/>
                <a:gd name="T63" fmla="*/ 135 h 627"/>
                <a:gd name="T64" fmla="*/ 584 w 676"/>
                <a:gd name="T65" fmla="*/ 52 h 627"/>
                <a:gd name="T66" fmla="*/ 584 w 676"/>
                <a:gd name="T67" fmla="*/ 135 h 627"/>
                <a:gd name="T68" fmla="*/ 88 w 676"/>
                <a:gd name="T69" fmla="*/ 147 h 627"/>
                <a:gd name="T70" fmla="*/ 88 w 676"/>
                <a:gd name="T71" fmla="*/ 64 h 627"/>
                <a:gd name="T72" fmla="*/ 88 w 676"/>
                <a:gd name="T73" fmla="*/ 147 h 627"/>
                <a:gd name="T74" fmla="*/ 423 w 676"/>
                <a:gd name="T75" fmla="*/ 115 h 627"/>
                <a:gd name="T76" fmla="*/ 423 w 676"/>
                <a:gd name="T77" fmla="*/ 15 h 627"/>
                <a:gd name="T78" fmla="*/ 423 w 676"/>
                <a:gd name="T79" fmla="*/ 115 h 627"/>
                <a:gd name="T80" fmla="*/ 250 w 676"/>
                <a:gd name="T81" fmla="*/ 100 h 627"/>
                <a:gd name="T82" fmla="*/ 250 w 676"/>
                <a:gd name="T83" fmla="*/ 0 h 627"/>
                <a:gd name="T84" fmla="*/ 250 w 676"/>
                <a:gd name="T85" fmla="*/ 100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76" h="627">
                  <a:moveTo>
                    <a:pt x="630" y="155"/>
                  </a:moveTo>
                  <a:lnTo>
                    <a:pt x="630" y="155"/>
                  </a:lnTo>
                  <a:lnTo>
                    <a:pt x="538" y="155"/>
                  </a:lnTo>
                  <a:cubicBezTo>
                    <a:pt x="532" y="155"/>
                    <a:pt x="525" y="157"/>
                    <a:pt x="520" y="160"/>
                  </a:cubicBezTo>
                  <a:cubicBezTo>
                    <a:pt x="510" y="141"/>
                    <a:pt x="492" y="135"/>
                    <a:pt x="472" y="135"/>
                  </a:cubicBezTo>
                  <a:lnTo>
                    <a:pt x="378" y="135"/>
                  </a:lnTo>
                  <a:cubicBezTo>
                    <a:pt x="362" y="135"/>
                    <a:pt x="348" y="135"/>
                    <a:pt x="338" y="148"/>
                  </a:cubicBezTo>
                  <a:cubicBezTo>
                    <a:pt x="328" y="135"/>
                    <a:pt x="314" y="128"/>
                    <a:pt x="299" y="128"/>
                  </a:cubicBezTo>
                  <a:lnTo>
                    <a:pt x="204" y="128"/>
                  </a:lnTo>
                  <a:cubicBezTo>
                    <a:pt x="180" y="128"/>
                    <a:pt x="160" y="146"/>
                    <a:pt x="153" y="171"/>
                  </a:cubicBezTo>
                  <a:cubicBezTo>
                    <a:pt x="147" y="168"/>
                    <a:pt x="130" y="166"/>
                    <a:pt x="124" y="166"/>
                  </a:cubicBezTo>
                  <a:lnTo>
                    <a:pt x="45" y="166"/>
                  </a:lnTo>
                  <a:cubicBezTo>
                    <a:pt x="20" y="166"/>
                    <a:pt x="0" y="190"/>
                    <a:pt x="0" y="220"/>
                  </a:cubicBezTo>
                  <a:lnTo>
                    <a:pt x="0" y="349"/>
                  </a:lnTo>
                  <a:cubicBezTo>
                    <a:pt x="0" y="359"/>
                    <a:pt x="2" y="369"/>
                    <a:pt x="15" y="369"/>
                  </a:cubicBezTo>
                  <a:cubicBezTo>
                    <a:pt x="28" y="369"/>
                    <a:pt x="30" y="359"/>
                    <a:pt x="30" y="349"/>
                  </a:cubicBezTo>
                  <a:cubicBezTo>
                    <a:pt x="30" y="337"/>
                    <a:pt x="31" y="211"/>
                    <a:pt x="31" y="211"/>
                  </a:cubicBezTo>
                  <a:lnTo>
                    <a:pt x="50" y="211"/>
                  </a:lnTo>
                  <a:cubicBezTo>
                    <a:pt x="50" y="211"/>
                    <a:pt x="49" y="530"/>
                    <a:pt x="49" y="546"/>
                  </a:cubicBezTo>
                  <a:cubicBezTo>
                    <a:pt x="50" y="580"/>
                    <a:pt x="69" y="581"/>
                    <a:pt x="81" y="581"/>
                  </a:cubicBezTo>
                  <a:lnTo>
                    <a:pt x="101" y="581"/>
                  </a:lnTo>
                  <a:cubicBezTo>
                    <a:pt x="112" y="581"/>
                    <a:pt x="129" y="580"/>
                    <a:pt x="131" y="541"/>
                  </a:cubicBezTo>
                  <a:cubicBezTo>
                    <a:pt x="131" y="524"/>
                    <a:pt x="131" y="211"/>
                    <a:pt x="131" y="211"/>
                  </a:cubicBezTo>
                  <a:lnTo>
                    <a:pt x="150" y="211"/>
                  </a:lnTo>
                  <a:lnTo>
                    <a:pt x="150" y="353"/>
                  </a:lnTo>
                  <a:cubicBezTo>
                    <a:pt x="150" y="367"/>
                    <a:pt x="155" y="370"/>
                    <a:pt x="165" y="370"/>
                  </a:cubicBezTo>
                  <a:cubicBezTo>
                    <a:pt x="175" y="370"/>
                    <a:pt x="180" y="363"/>
                    <a:pt x="180" y="351"/>
                  </a:cubicBezTo>
                  <a:cubicBezTo>
                    <a:pt x="180" y="344"/>
                    <a:pt x="179" y="187"/>
                    <a:pt x="179" y="187"/>
                  </a:cubicBezTo>
                  <a:lnTo>
                    <a:pt x="198" y="187"/>
                  </a:lnTo>
                  <a:cubicBezTo>
                    <a:pt x="198" y="187"/>
                    <a:pt x="198" y="555"/>
                    <a:pt x="198" y="579"/>
                  </a:cubicBezTo>
                  <a:cubicBezTo>
                    <a:pt x="199" y="620"/>
                    <a:pt x="221" y="627"/>
                    <a:pt x="235" y="627"/>
                  </a:cubicBezTo>
                  <a:lnTo>
                    <a:pt x="271" y="627"/>
                  </a:lnTo>
                  <a:cubicBezTo>
                    <a:pt x="285" y="627"/>
                    <a:pt x="303" y="620"/>
                    <a:pt x="305" y="573"/>
                  </a:cubicBezTo>
                  <a:cubicBezTo>
                    <a:pt x="306" y="554"/>
                    <a:pt x="304" y="187"/>
                    <a:pt x="304" y="187"/>
                  </a:cubicBezTo>
                  <a:lnTo>
                    <a:pt x="323" y="187"/>
                  </a:lnTo>
                  <a:lnTo>
                    <a:pt x="323" y="347"/>
                  </a:lnTo>
                  <a:cubicBezTo>
                    <a:pt x="323" y="363"/>
                    <a:pt x="325" y="369"/>
                    <a:pt x="338" y="369"/>
                  </a:cubicBezTo>
                  <a:cubicBezTo>
                    <a:pt x="348" y="369"/>
                    <a:pt x="350" y="362"/>
                    <a:pt x="350" y="348"/>
                  </a:cubicBezTo>
                  <a:cubicBezTo>
                    <a:pt x="350" y="338"/>
                    <a:pt x="351" y="196"/>
                    <a:pt x="351" y="196"/>
                  </a:cubicBezTo>
                  <a:lnTo>
                    <a:pt x="369" y="196"/>
                  </a:lnTo>
                  <a:cubicBezTo>
                    <a:pt x="369" y="196"/>
                    <a:pt x="370" y="551"/>
                    <a:pt x="370" y="575"/>
                  </a:cubicBezTo>
                  <a:cubicBezTo>
                    <a:pt x="371" y="615"/>
                    <a:pt x="395" y="623"/>
                    <a:pt x="408" y="623"/>
                  </a:cubicBezTo>
                  <a:lnTo>
                    <a:pt x="445" y="623"/>
                  </a:lnTo>
                  <a:cubicBezTo>
                    <a:pt x="458" y="623"/>
                    <a:pt x="477" y="615"/>
                    <a:pt x="479" y="568"/>
                  </a:cubicBezTo>
                  <a:cubicBezTo>
                    <a:pt x="480" y="546"/>
                    <a:pt x="479" y="196"/>
                    <a:pt x="479" y="196"/>
                  </a:cubicBezTo>
                  <a:lnTo>
                    <a:pt x="498" y="196"/>
                  </a:lnTo>
                  <a:cubicBezTo>
                    <a:pt x="498" y="196"/>
                    <a:pt x="498" y="333"/>
                    <a:pt x="498" y="348"/>
                  </a:cubicBezTo>
                  <a:cubicBezTo>
                    <a:pt x="498" y="360"/>
                    <a:pt x="501" y="370"/>
                    <a:pt x="511" y="370"/>
                  </a:cubicBezTo>
                  <a:cubicBezTo>
                    <a:pt x="523" y="370"/>
                    <a:pt x="526" y="365"/>
                    <a:pt x="527" y="354"/>
                  </a:cubicBezTo>
                  <a:cubicBezTo>
                    <a:pt x="527" y="372"/>
                    <a:pt x="528" y="211"/>
                    <a:pt x="528" y="211"/>
                  </a:cubicBezTo>
                  <a:lnTo>
                    <a:pt x="546" y="211"/>
                  </a:lnTo>
                  <a:cubicBezTo>
                    <a:pt x="546" y="211"/>
                    <a:pt x="546" y="524"/>
                    <a:pt x="546" y="529"/>
                  </a:cubicBezTo>
                  <a:cubicBezTo>
                    <a:pt x="547" y="563"/>
                    <a:pt x="558" y="570"/>
                    <a:pt x="569" y="570"/>
                  </a:cubicBezTo>
                  <a:lnTo>
                    <a:pt x="604" y="570"/>
                  </a:lnTo>
                  <a:cubicBezTo>
                    <a:pt x="615" y="570"/>
                    <a:pt x="627" y="563"/>
                    <a:pt x="628" y="524"/>
                  </a:cubicBezTo>
                  <a:cubicBezTo>
                    <a:pt x="629" y="504"/>
                    <a:pt x="628" y="211"/>
                    <a:pt x="628" y="211"/>
                  </a:cubicBezTo>
                  <a:lnTo>
                    <a:pt x="647" y="211"/>
                  </a:lnTo>
                  <a:lnTo>
                    <a:pt x="647" y="352"/>
                  </a:lnTo>
                  <a:cubicBezTo>
                    <a:pt x="647" y="362"/>
                    <a:pt x="653" y="369"/>
                    <a:pt x="662" y="369"/>
                  </a:cubicBezTo>
                  <a:cubicBezTo>
                    <a:pt x="671" y="369"/>
                    <a:pt x="676" y="363"/>
                    <a:pt x="676" y="353"/>
                  </a:cubicBezTo>
                  <a:lnTo>
                    <a:pt x="676" y="215"/>
                  </a:lnTo>
                  <a:cubicBezTo>
                    <a:pt x="676" y="186"/>
                    <a:pt x="655" y="155"/>
                    <a:pt x="630" y="155"/>
                  </a:cubicBezTo>
                  <a:close/>
                  <a:moveTo>
                    <a:pt x="584" y="135"/>
                  </a:moveTo>
                  <a:lnTo>
                    <a:pt x="584" y="135"/>
                  </a:lnTo>
                  <a:cubicBezTo>
                    <a:pt x="607" y="135"/>
                    <a:pt x="626" y="116"/>
                    <a:pt x="626" y="93"/>
                  </a:cubicBezTo>
                  <a:cubicBezTo>
                    <a:pt x="626" y="70"/>
                    <a:pt x="607" y="52"/>
                    <a:pt x="584" y="52"/>
                  </a:cubicBezTo>
                  <a:cubicBezTo>
                    <a:pt x="562" y="52"/>
                    <a:pt x="543" y="70"/>
                    <a:pt x="543" y="93"/>
                  </a:cubicBezTo>
                  <a:cubicBezTo>
                    <a:pt x="543" y="116"/>
                    <a:pt x="562" y="135"/>
                    <a:pt x="584" y="135"/>
                  </a:cubicBezTo>
                  <a:close/>
                  <a:moveTo>
                    <a:pt x="88" y="147"/>
                  </a:moveTo>
                  <a:lnTo>
                    <a:pt x="88" y="147"/>
                  </a:lnTo>
                  <a:cubicBezTo>
                    <a:pt x="111" y="147"/>
                    <a:pt x="130" y="128"/>
                    <a:pt x="130" y="105"/>
                  </a:cubicBezTo>
                  <a:cubicBezTo>
                    <a:pt x="130" y="82"/>
                    <a:pt x="111" y="64"/>
                    <a:pt x="88" y="64"/>
                  </a:cubicBezTo>
                  <a:cubicBezTo>
                    <a:pt x="65" y="64"/>
                    <a:pt x="47" y="82"/>
                    <a:pt x="47" y="105"/>
                  </a:cubicBezTo>
                  <a:cubicBezTo>
                    <a:pt x="47" y="128"/>
                    <a:pt x="65" y="147"/>
                    <a:pt x="88" y="147"/>
                  </a:cubicBezTo>
                  <a:close/>
                  <a:moveTo>
                    <a:pt x="423" y="115"/>
                  </a:moveTo>
                  <a:lnTo>
                    <a:pt x="423" y="115"/>
                  </a:lnTo>
                  <a:cubicBezTo>
                    <a:pt x="451" y="115"/>
                    <a:pt x="473" y="93"/>
                    <a:pt x="473" y="65"/>
                  </a:cubicBezTo>
                  <a:cubicBezTo>
                    <a:pt x="473" y="37"/>
                    <a:pt x="451" y="15"/>
                    <a:pt x="423" y="15"/>
                  </a:cubicBezTo>
                  <a:cubicBezTo>
                    <a:pt x="396" y="15"/>
                    <a:pt x="373" y="37"/>
                    <a:pt x="373" y="65"/>
                  </a:cubicBezTo>
                  <a:cubicBezTo>
                    <a:pt x="373" y="93"/>
                    <a:pt x="396" y="115"/>
                    <a:pt x="423" y="115"/>
                  </a:cubicBezTo>
                  <a:close/>
                  <a:moveTo>
                    <a:pt x="250" y="100"/>
                  </a:moveTo>
                  <a:lnTo>
                    <a:pt x="250" y="100"/>
                  </a:lnTo>
                  <a:cubicBezTo>
                    <a:pt x="277" y="100"/>
                    <a:pt x="300" y="77"/>
                    <a:pt x="300" y="49"/>
                  </a:cubicBezTo>
                  <a:cubicBezTo>
                    <a:pt x="300" y="22"/>
                    <a:pt x="277" y="0"/>
                    <a:pt x="250" y="0"/>
                  </a:cubicBezTo>
                  <a:cubicBezTo>
                    <a:pt x="222" y="0"/>
                    <a:pt x="200" y="22"/>
                    <a:pt x="200" y="49"/>
                  </a:cubicBezTo>
                  <a:cubicBezTo>
                    <a:pt x="200" y="77"/>
                    <a:pt x="222" y="100"/>
                    <a:pt x="250" y="100"/>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Verdana"/>
                <a:ea typeface="+mn-ea"/>
                <a:cs typeface="+mn-cs"/>
              </a:endParaRPr>
            </a:p>
          </p:txBody>
        </p:sp>
        <p:grpSp>
          <p:nvGrpSpPr>
            <p:cNvPr id="462" name="Group 461"/>
            <p:cNvGrpSpPr>
              <a:grpSpLocks noChangeAspect="1"/>
            </p:cNvGrpSpPr>
            <p:nvPr/>
          </p:nvGrpSpPr>
          <p:grpSpPr bwMode="auto">
            <a:xfrm>
              <a:off x="6779623" y="2095733"/>
              <a:ext cx="367982" cy="367982"/>
              <a:chOff x="2962" y="2267"/>
              <a:chExt cx="340" cy="340"/>
            </a:xfrm>
            <a:solidFill>
              <a:schemeClr val="bg1"/>
            </a:solidFill>
          </p:grpSpPr>
          <p:sp>
            <p:nvSpPr>
              <p:cNvPr id="485" name="Freeform 484"/>
              <p:cNvSpPr>
                <a:spLocks noEditPoints="1"/>
              </p:cNvSpPr>
              <p:nvPr/>
            </p:nvSpPr>
            <p:spPr bwMode="auto">
              <a:xfrm>
                <a:off x="3032" y="2331"/>
                <a:ext cx="199" cy="184"/>
              </a:xfrm>
              <a:custGeom>
                <a:avLst/>
                <a:gdLst>
                  <a:gd name="T0" fmla="*/ 11 w 299"/>
                  <a:gd name="T1" fmla="*/ 149 h 277"/>
                  <a:gd name="T2" fmla="*/ 32 w 299"/>
                  <a:gd name="T3" fmla="*/ 128 h 277"/>
                  <a:gd name="T4" fmla="*/ 11 w 299"/>
                  <a:gd name="T5" fmla="*/ 170 h 277"/>
                  <a:gd name="T6" fmla="*/ 32 w 299"/>
                  <a:gd name="T7" fmla="*/ 192 h 277"/>
                  <a:gd name="T8" fmla="*/ 32 w 299"/>
                  <a:gd name="T9" fmla="*/ 213 h 277"/>
                  <a:gd name="T10" fmla="*/ 11 w 299"/>
                  <a:gd name="T11" fmla="*/ 234 h 277"/>
                  <a:gd name="T12" fmla="*/ 32 w 299"/>
                  <a:gd name="T13" fmla="*/ 213 h 277"/>
                  <a:gd name="T14" fmla="*/ 0 w 299"/>
                  <a:gd name="T15" fmla="*/ 266 h 277"/>
                  <a:gd name="T16" fmla="*/ 43 w 299"/>
                  <a:gd name="T17" fmla="*/ 266 h 277"/>
                  <a:gd name="T18" fmla="*/ 96 w 299"/>
                  <a:gd name="T19" fmla="*/ 170 h 277"/>
                  <a:gd name="T20" fmla="*/ 118 w 299"/>
                  <a:gd name="T21" fmla="*/ 192 h 277"/>
                  <a:gd name="T22" fmla="*/ 118 w 299"/>
                  <a:gd name="T23" fmla="*/ 213 h 277"/>
                  <a:gd name="T24" fmla="*/ 96 w 299"/>
                  <a:gd name="T25" fmla="*/ 234 h 277"/>
                  <a:gd name="T26" fmla="*/ 118 w 299"/>
                  <a:gd name="T27" fmla="*/ 213 h 277"/>
                  <a:gd name="T28" fmla="*/ 86 w 299"/>
                  <a:gd name="T29" fmla="*/ 266 h 277"/>
                  <a:gd name="T30" fmla="*/ 128 w 299"/>
                  <a:gd name="T31" fmla="*/ 266 h 277"/>
                  <a:gd name="T32" fmla="*/ 182 w 299"/>
                  <a:gd name="T33" fmla="*/ 170 h 277"/>
                  <a:gd name="T34" fmla="*/ 203 w 299"/>
                  <a:gd name="T35" fmla="*/ 192 h 277"/>
                  <a:gd name="T36" fmla="*/ 203 w 299"/>
                  <a:gd name="T37" fmla="*/ 213 h 277"/>
                  <a:gd name="T38" fmla="*/ 182 w 299"/>
                  <a:gd name="T39" fmla="*/ 234 h 277"/>
                  <a:gd name="T40" fmla="*/ 203 w 299"/>
                  <a:gd name="T41" fmla="*/ 213 h 277"/>
                  <a:gd name="T42" fmla="*/ 171 w 299"/>
                  <a:gd name="T43" fmla="*/ 266 h 277"/>
                  <a:gd name="T44" fmla="*/ 214 w 299"/>
                  <a:gd name="T45" fmla="*/ 266 h 277"/>
                  <a:gd name="T46" fmla="*/ 182 w 299"/>
                  <a:gd name="T47" fmla="*/ 42 h 277"/>
                  <a:gd name="T48" fmla="*/ 203 w 299"/>
                  <a:gd name="T49" fmla="*/ 64 h 277"/>
                  <a:gd name="T50" fmla="*/ 203 w 299"/>
                  <a:gd name="T51" fmla="*/ 85 h 277"/>
                  <a:gd name="T52" fmla="*/ 182 w 299"/>
                  <a:gd name="T53" fmla="*/ 106 h 277"/>
                  <a:gd name="T54" fmla="*/ 203 w 299"/>
                  <a:gd name="T55" fmla="*/ 85 h 277"/>
                  <a:gd name="T56" fmla="*/ 171 w 299"/>
                  <a:gd name="T57" fmla="*/ 138 h 277"/>
                  <a:gd name="T58" fmla="*/ 214 w 299"/>
                  <a:gd name="T59" fmla="*/ 138 h 277"/>
                  <a:gd name="T60" fmla="*/ 182 w 299"/>
                  <a:gd name="T61" fmla="*/ 0 h 277"/>
                  <a:gd name="T62" fmla="*/ 203 w 299"/>
                  <a:gd name="T63" fmla="*/ 21 h 277"/>
                  <a:gd name="T64" fmla="*/ 288 w 299"/>
                  <a:gd name="T65" fmla="*/ 170 h 277"/>
                  <a:gd name="T66" fmla="*/ 267 w 299"/>
                  <a:gd name="T67" fmla="*/ 192 h 277"/>
                  <a:gd name="T68" fmla="*/ 288 w 299"/>
                  <a:gd name="T69" fmla="*/ 170 h 277"/>
                  <a:gd name="T70" fmla="*/ 256 w 299"/>
                  <a:gd name="T71" fmla="*/ 224 h 277"/>
                  <a:gd name="T72" fmla="*/ 299 w 299"/>
                  <a:gd name="T73" fmla="*/ 224 h 277"/>
                  <a:gd name="T74" fmla="*/ 267 w 299"/>
                  <a:gd name="T75" fmla="*/ 256 h 277"/>
                  <a:gd name="T76" fmla="*/ 288 w 299"/>
                  <a:gd name="T77" fmla="*/ 277 h 277"/>
                  <a:gd name="T78" fmla="*/ 267 w 299"/>
                  <a:gd name="T79" fmla="*/ 106 h 277"/>
                  <a:gd name="T80" fmla="*/ 288 w 299"/>
                  <a:gd name="T81" fmla="*/ 85 h 277"/>
                  <a:gd name="T82" fmla="*/ 267 w 299"/>
                  <a:gd name="T83" fmla="*/ 106 h 277"/>
                  <a:gd name="T84" fmla="*/ 256 w 299"/>
                  <a:gd name="T85" fmla="*/ 138 h 277"/>
                  <a:gd name="T86" fmla="*/ 299 w 299"/>
                  <a:gd name="T87" fmla="*/ 138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99" h="277">
                    <a:moveTo>
                      <a:pt x="43" y="138"/>
                    </a:moveTo>
                    <a:cubicBezTo>
                      <a:pt x="43" y="144"/>
                      <a:pt x="38" y="149"/>
                      <a:pt x="32" y="149"/>
                    </a:cubicBezTo>
                    <a:cubicBezTo>
                      <a:pt x="11" y="149"/>
                      <a:pt x="11" y="149"/>
                      <a:pt x="11" y="149"/>
                    </a:cubicBezTo>
                    <a:cubicBezTo>
                      <a:pt x="5" y="149"/>
                      <a:pt x="0" y="144"/>
                      <a:pt x="0" y="138"/>
                    </a:cubicBezTo>
                    <a:cubicBezTo>
                      <a:pt x="0" y="132"/>
                      <a:pt x="5" y="128"/>
                      <a:pt x="11" y="128"/>
                    </a:cubicBezTo>
                    <a:cubicBezTo>
                      <a:pt x="32" y="128"/>
                      <a:pt x="32" y="128"/>
                      <a:pt x="32" y="128"/>
                    </a:cubicBezTo>
                    <a:cubicBezTo>
                      <a:pt x="38" y="128"/>
                      <a:pt x="43" y="132"/>
                      <a:pt x="43" y="138"/>
                    </a:cubicBezTo>
                    <a:close/>
                    <a:moveTo>
                      <a:pt x="32" y="170"/>
                    </a:moveTo>
                    <a:cubicBezTo>
                      <a:pt x="11" y="170"/>
                      <a:pt x="11" y="170"/>
                      <a:pt x="11" y="170"/>
                    </a:cubicBezTo>
                    <a:cubicBezTo>
                      <a:pt x="5" y="170"/>
                      <a:pt x="0" y="175"/>
                      <a:pt x="0" y="181"/>
                    </a:cubicBezTo>
                    <a:cubicBezTo>
                      <a:pt x="0" y="187"/>
                      <a:pt x="5" y="192"/>
                      <a:pt x="11" y="192"/>
                    </a:cubicBezTo>
                    <a:cubicBezTo>
                      <a:pt x="32" y="192"/>
                      <a:pt x="32" y="192"/>
                      <a:pt x="32" y="192"/>
                    </a:cubicBezTo>
                    <a:cubicBezTo>
                      <a:pt x="38" y="192"/>
                      <a:pt x="43" y="187"/>
                      <a:pt x="43" y="181"/>
                    </a:cubicBezTo>
                    <a:cubicBezTo>
                      <a:pt x="43" y="175"/>
                      <a:pt x="38" y="170"/>
                      <a:pt x="32" y="170"/>
                    </a:cubicBezTo>
                    <a:close/>
                    <a:moveTo>
                      <a:pt x="32" y="213"/>
                    </a:moveTo>
                    <a:cubicBezTo>
                      <a:pt x="11" y="213"/>
                      <a:pt x="11" y="213"/>
                      <a:pt x="11" y="213"/>
                    </a:cubicBezTo>
                    <a:cubicBezTo>
                      <a:pt x="5" y="213"/>
                      <a:pt x="0" y="218"/>
                      <a:pt x="0" y="224"/>
                    </a:cubicBezTo>
                    <a:cubicBezTo>
                      <a:pt x="0" y="230"/>
                      <a:pt x="5" y="234"/>
                      <a:pt x="11" y="234"/>
                    </a:cubicBezTo>
                    <a:cubicBezTo>
                      <a:pt x="32" y="234"/>
                      <a:pt x="32" y="234"/>
                      <a:pt x="32" y="234"/>
                    </a:cubicBezTo>
                    <a:cubicBezTo>
                      <a:pt x="38" y="234"/>
                      <a:pt x="43" y="230"/>
                      <a:pt x="43" y="224"/>
                    </a:cubicBezTo>
                    <a:cubicBezTo>
                      <a:pt x="43" y="218"/>
                      <a:pt x="38" y="213"/>
                      <a:pt x="32" y="213"/>
                    </a:cubicBezTo>
                    <a:close/>
                    <a:moveTo>
                      <a:pt x="32" y="256"/>
                    </a:moveTo>
                    <a:cubicBezTo>
                      <a:pt x="11" y="256"/>
                      <a:pt x="11" y="256"/>
                      <a:pt x="11" y="256"/>
                    </a:cubicBezTo>
                    <a:cubicBezTo>
                      <a:pt x="5" y="256"/>
                      <a:pt x="0" y="260"/>
                      <a:pt x="0" y="266"/>
                    </a:cubicBezTo>
                    <a:cubicBezTo>
                      <a:pt x="0" y="272"/>
                      <a:pt x="5" y="277"/>
                      <a:pt x="11" y="277"/>
                    </a:cubicBezTo>
                    <a:cubicBezTo>
                      <a:pt x="32" y="277"/>
                      <a:pt x="32" y="277"/>
                      <a:pt x="32" y="277"/>
                    </a:cubicBezTo>
                    <a:cubicBezTo>
                      <a:pt x="38" y="277"/>
                      <a:pt x="43" y="272"/>
                      <a:pt x="43" y="266"/>
                    </a:cubicBezTo>
                    <a:cubicBezTo>
                      <a:pt x="43" y="260"/>
                      <a:pt x="38" y="256"/>
                      <a:pt x="32" y="256"/>
                    </a:cubicBezTo>
                    <a:close/>
                    <a:moveTo>
                      <a:pt x="118" y="170"/>
                    </a:moveTo>
                    <a:cubicBezTo>
                      <a:pt x="96" y="170"/>
                      <a:pt x="96" y="170"/>
                      <a:pt x="96" y="170"/>
                    </a:cubicBezTo>
                    <a:cubicBezTo>
                      <a:pt x="90" y="170"/>
                      <a:pt x="86" y="175"/>
                      <a:pt x="86" y="181"/>
                    </a:cubicBezTo>
                    <a:cubicBezTo>
                      <a:pt x="86" y="187"/>
                      <a:pt x="90" y="192"/>
                      <a:pt x="96" y="192"/>
                    </a:cubicBezTo>
                    <a:cubicBezTo>
                      <a:pt x="118" y="192"/>
                      <a:pt x="118" y="192"/>
                      <a:pt x="118" y="192"/>
                    </a:cubicBezTo>
                    <a:cubicBezTo>
                      <a:pt x="124" y="192"/>
                      <a:pt x="128" y="187"/>
                      <a:pt x="128" y="181"/>
                    </a:cubicBezTo>
                    <a:cubicBezTo>
                      <a:pt x="128" y="175"/>
                      <a:pt x="124" y="170"/>
                      <a:pt x="118" y="170"/>
                    </a:cubicBezTo>
                    <a:close/>
                    <a:moveTo>
                      <a:pt x="118" y="213"/>
                    </a:moveTo>
                    <a:cubicBezTo>
                      <a:pt x="96" y="213"/>
                      <a:pt x="96" y="213"/>
                      <a:pt x="96" y="213"/>
                    </a:cubicBezTo>
                    <a:cubicBezTo>
                      <a:pt x="90" y="213"/>
                      <a:pt x="86" y="218"/>
                      <a:pt x="86" y="224"/>
                    </a:cubicBezTo>
                    <a:cubicBezTo>
                      <a:pt x="86" y="230"/>
                      <a:pt x="90" y="234"/>
                      <a:pt x="96" y="234"/>
                    </a:cubicBezTo>
                    <a:cubicBezTo>
                      <a:pt x="118" y="234"/>
                      <a:pt x="118" y="234"/>
                      <a:pt x="118" y="234"/>
                    </a:cubicBezTo>
                    <a:cubicBezTo>
                      <a:pt x="124" y="234"/>
                      <a:pt x="128" y="230"/>
                      <a:pt x="128" y="224"/>
                    </a:cubicBezTo>
                    <a:cubicBezTo>
                      <a:pt x="128" y="218"/>
                      <a:pt x="124" y="213"/>
                      <a:pt x="118" y="213"/>
                    </a:cubicBezTo>
                    <a:close/>
                    <a:moveTo>
                      <a:pt x="118" y="256"/>
                    </a:moveTo>
                    <a:cubicBezTo>
                      <a:pt x="96" y="256"/>
                      <a:pt x="96" y="256"/>
                      <a:pt x="96" y="256"/>
                    </a:cubicBezTo>
                    <a:cubicBezTo>
                      <a:pt x="90" y="256"/>
                      <a:pt x="86" y="260"/>
                      <a:pt x="86" y="266"/>
                    </a:cubicBezTo>
                    <a:cubicBezTo>
                      <a:pt x="86" y="272"/>
                      <a:pt x="90" y="277"/>
                      <a:pt x="96" y="277"/>
                    </a:cubicBezTo>
                    <a:cubicBezTo>
                      <a:pt x="118" y="277"/>
                      <a:pt x="118" y="277"/>
                      <a:pt x="118" y="277"/>
                    </a:cubicBezTo>
                    <a:cubicBezTo>
                      <a:pt x="124" y="277"/>
                      <a:pt x="128" y="272"/>
                      <a:pt x="128" y="266"/>
                    </a:cubicBezTo>
                    <a:cubicBezTo>
                      <a:pt x="128" y="260"/>
                      <a:pt x="124" y="256"/>
                      <a:pt x="118" y="256"/>
                    </a:cubicBezTo>
                    <a:close/>
                    <a:moveTo>
                      <a:pt x="203" y="170"/>
                    </a:moveTo>
                    <a:cubicBezTo>
                      <a:pt x="182" y="170"/>
                      <a:pt x="182" y="170"/>
                      <a:pt x="182" y="170"/>
                    </a:cubicBezTo>
                    <a:cubicBezTo>
                      <a:pt x="176" y="170"/>
                      <a:pt x="171" y="175"/>
                      <a:pt x="171" y="181"/>
                    </a:cubicBezTo>
                    <a:cubicBezTo>
                      <a:pt x="171" y="187"/>
                      <a:pt x="176" y="192"/>
                      <a:pt x="182" y="192"/>
                    </a:cubicBezTo>
                    <a:cubicBezTo>
                      <a:pt x="203" y="192"/>
                      <a:pt x="203" y="192"/>
                      <a:pt x="203" y="192"/>
                    </a:cubicBezTo>
                    <a:cubicBezTo>
                      <a:pt x="209" y="192"/>
                      <a:pt x="214" y="187"/>
                      <a:pt x="214" y="181"/>
                    </a:cubicBezTo>
                    <a:cubicBezTo>
                      <a:pt x="214" y="175"/>
                      <a:pt x="209" y="170"/>
                      <a:pt x="203" y="170"/>
                    </a:cubicBezTo>
                    <a:close/>
                    <a:moveTo>
                      <a:pt x="203" y="213"/>
                    </a:moveTo>
                    <a:cubicBezTo>
                      <a:pt x="182" y="213"/>
                      <a:pt x="182" y="213"/>
                      <a:pt x="182" y="213"/>
                    </a:cubicBezTo>
                    <a:cubicBezTo>
                      <a:pt x="176" y="213"/>
                      <a:pt x="171" y="218"/>
                      <a:pt x="171" y="224"/>
                    </a:cubicBezTo>
                    <a:cubicBezTo>
                      <a:pt x="171" y="230"/>
                      <a:pt x="176" y="234"/>
                      <a:pt x="182" y="234"/>
                    </a:cubicBezTo>
                    <a:cubicBezTo>
                      <a:pt x="203" y="234"/>
                      <a:pt x="203" y="234"/>
                      <a:pt x="203" y="234"/>
                    </a:cubicBezTo>
                    <a:cubicBezTo>
                      <a:pt x="209" y="234"/>
                      <a:pt x="214" y="230"/>
                      <a:pt x="214" y="224"/>
                    </a:cubicBezTo>
                    <a:cubicBezTo>
                      <a:pt x="214" y="218"/>
                      <a:pt x="209" y="213"/>
                      <a:pt x="203" y="213"/>
                    </a:cubicBezTo>
                    <a:close/>
                    <a:moveTo>
                      <a:pt x="203" y="256"/>
                    </a:moveTo>
                    <a:cubicBezTo>
                      <a:pt x="182" y="256"/>
                      <a:pt x="182" y="256"/>
                      <a:pt x="182" y="256"/>
                    </a:cubicBezTo>
                    <a:cubicBezTo>
                      <a:pt x="176" y="256"/>
                      <a:pt x="171" y="260"/>
                      <a:pt x="171" y="266"/>
                    </a:cubicBezTo>
                    <a:cubicBezTo>
                      <a:pt x="171" y="272"/>
                      <a:pt x="176" y="277"/>
                      <a:pt x="182" y="277"/>
                    </a:cubicBezTo>
                    <a:cubicBezTo>
                      <a:pt x="203" y="277"/>
                      <a:pt x="203" y="277"/>
                      <a:pt x="203" y="277"/>
                    </a:cubicBezTo>
                    <a:cubicBezTo>
                      <a:pt x="209" y="277"/>
                      <a:pt x="214" y="272"/>
                      <a:pt x="214" y="266"/>
                    </a:cubicBezTo>
                    <a:cubicBezTo>
                      <a:pt x="214" y="260"/>
                      <a:pt x="209" y="256"/>
                      <a:pt x="203" y="256"/>
                    </a:cubicBezTo>
                    <a:close/>
                    <a:moveTo>
                      <a:pt x="203" y="42"/>
                    </a:moveTo>
                    <a:cubicBezTo>
                      <a:pt x="182" y="42"/>
                      <a:pt x="182" y="42"/>
                      <a:pt x="182" y="42"/>
                    </a:cubicBezTo>
                    <a:cubicBezTo>
                      <a:pt x="176" y="42"/>
                      <a:pt x="171" y="47"/>
                      <a:pt x="171" y="53"/>
                    </a:cubicBezTo>
                    <a:cubicBezTo>
                      <a:pt x="171" y="59"/>
                      <a:pt x="176" y="64"/>
                      <a:pt x="182" y="64"/>
                    </a:cubicBezTo>
                    <a:cubicBezTo>
                      <a:pt x="203" y="64"/>
                      <a:pt x="203" y="64"/>
                      <a:pt x="203" y="64"/>
                    </a:cubicBezTo>
                    <a:cubicBezTo>
                      <a:pt x="209" y="64"/>
                      <a:pt x="214" y="59"/>
                      <a:pt x="214" y="53"/>
                    </a:cubicBezTo>
                    <a:cubicBezTo>
                      <a:pt x="214" y="47"/>
                      <a:pt x="209" y="42"/>
                      <a:pt x="203" y="42"/>
                    </a:cubicBezTo>
                    <a:close/>
                    <a:moveTo>
                      <a:pt x="203" y="85"/>
                    </a:moveTo>
                    <a:cubicBezTo>
                      <a:pt x="182" y="85"/>
                      <a:pt x="182" y="85"/>
                      <a:pt x="182" y="85"/>
                    </a:cubicBezTo>
                    <a:cubicBezTo>
                      <a:pt x="176" y="85"/>
                      <a:pt x="171" y="90"/>
                      <a:pt x="171" y="96"/>
                    </a:cubicBezTo>
                    <a:cubicBezTo>
                      <a:pt x="171" y="102"/>
                      <a:pt x="176" y="106"/>
                      <a:pt x="182" y="106"/>
                    </a:cubicBezTo>
                    <a:cubicBezTo>
                      <a:pt x="203" y="106"/>
                      <a:pt x="203" y="106"/>
                      <a:pt x="203" y="106"/>
                    </a:cubicBezTo>
                    <a:cubicBezTo>
                      <a:pt x="209" y="106"/>
                      <a:pt x="214" y="102"/>
                      <a:pt x="214" y="96"/>
                    </a:cubicBezTo>
                    <a:cubicBezTo>
                      <a:pt x="214" y="90"/>
                      <a:pt x="209" y="85"/>
                      <a:pt x="203" y="85"/>
                    </a:cubicBezTo>
                    <a:close/>
                    <a:moveTo>
                      <a:pt x="203" y="128"/>
                    </a:moveTo>
                    <a:cubicBezTo>
                      <a:pt x="182" y="128"/>
                      <a:pt x="182" y="128"/>
                      <a:pt x="182" y="128"/>
                    </a:cubicBezTo>
                    <a:cubicBezTo>
                      <a:pt x="176" y="128"/>
                      <a:pt x="171" y="132"/>
                      <a:pt x="171" y="138"/>
                    </a:cubicBezTo>
                    <a:cubicBezTo>
                      <a:pt x="171" y="144"/>
                      <a:pt x="176" y="149"/>
                      <a:pt x="182" y="149"/>
                    </a:cubicBezTo>
                    <a:cubicBezTo>
                      <a:pt x="203" y="149"/>
                      <a:pt x="203" y="149"/>
                      <a:pt x="203" y="149"/>
                    </a:cubicBezTo>
                    <a:cubicBezTo>
                      <a:pt x="209" y="149"/>
                      <a:pt x="214" y="144"/>
                      <a:pt x="214" y="138"/>
                    </a:cubicBezTo>
                    <a:cubicBezTo>
                      <a:pt x="214" y="132"/>
                      <a:pt x="209" y="128"/>
                      <a:pt x="203" y="128"/>
                    </a:cubicBezTo>
                    <a:close/>
                    <a:moveTo>
                      <a:pt x="203" y="0"/>
                    </a:moveTo>
                    <a:cubicBezTo>
                      <a:pt x="182" y="0"/>
                      <a:pt x="182" y="0"/>
                      <a:pt x="182" y="0"/>
                    </a:cubicBezTo>
                    <a:cubicBezTo>
                      <a:pt x="176" y="0"/>
                      <a:pt x="171" y="4"/>
                      <a:pt x="171" y="10"/>
                    </a:cubicBezTo>
                    <a:cubicBezTo>
                      <a:pt x="171" y="16"/>
                      <a:pt x="176" y="21"/>
                      <a:pt x="182" y="21"/>
                    </a:cubicBezTo>
                    <a:cubicBezTo>
                      <a:pt x="203" y="21"/>
                      <a:pt x="203" y="21"/>
                      <a:pt x="203" y="21"/>
                    </a:cubicBezTo>
                    <a:cubicBezTo>
                      <a:pt x="209" y="21"/>
                      <a:pt x="214" y="16"/>
                      <a:pt x="214" y="10"/>
                    </a:cubicBezTo>
                    <a:cubicBezTo>
                      <a:pt x="214" y="4"/>
                      <a:pt x="209" y="0"/>
                      <a:pt x="203" y="0"/>
                    </a:cubicBezTo>
                    <a:close/>
                    <a:moveTo>
                      <a:pt x="288" y="170"/>
                    </a:moveTo>
                    <a:cubicBezTo>
                      <a:pt x="267" y="170"/>
                      <a:pt x="267" y="170"/>
                      <a:pt x="267" y="170"/>
                    </a:cubicBezTo>
                    <a:cubicBezTo>
                      <a:pt x="261" y="170"/>
                      <a:pt x="256" y="175"/>
                      <a:pt x="256" y="181"/>
                    </a:cubicBezTo>
                    <a:cubicBezTo>
                      <a:pt x="256" y="187"/>
                      <a:pt x="261" y="192"/>
                      <a:pt x="267" y="192"/>
                    </a:cubicBezTo>
                    <a:cubicBezTo>
                      <a:pt x="288" y="192"/>
                      <a:pt x="288" y="192"/>
                      <a:pt x="288" y="192"/>
                    </a:cubicBezTo>
                    <a:cubicBezTo>
                      <a:pt x="294" y="192"/>
                      <a:pt x="299" y="187"/>
                      <a:pt x="299" y="181"/>
                    </a:cubicBezTo>
                    <a:cubicBezTo>
                      <a:pt x="299" y="175"/>
                      <a:pt x="294" y="170"/>
                      <a:pt x="288" y="170"/>
                    </a:cubicBezTo>
                    <a:close/>
                    <a:moveTo>
                      <a:pt x="288" y="213"/>
                    </a:moveTo>
                    <a:cubicBezTo>
                      <a:pt x="267" y="213"/>
                      <a:pt x="267" y="213"/>
                      <a:pt x="267" y="213"/>
                    </a:cubicBezTo>
                    <a:cubicBezTo>
                      <a:pt x="261" y="213"/>
                      <a:pt x="256" y="218"/>
                      <a:pt x="256" y="224"/>
                    </a:cubicBezTo>
                    <a:cubicBezTo>
                      <a:pt x="256" y="230"/>
                      <a:pt x="261" y="234"/>
                      <a:pt x="267" y="234"/>
                    </a:cubicBezTo>
                    <a:cubicBezTo>
                      <a:pt x="288" y="234"/>
                      <a:pt x="288" y="234"/>
                      <a:pt x="288" y="234"/>
                    </a:cubicBezTo>
                    <a:cubicBezTo>
                      <a:pt x="294" y="234"/>
                      <a:pt x="299" y="230"/>
                      <a:pt x="299" y="224"/>
                    </a:cubicBezTo>
                    <a:cubicBezTo>
                      <a:pt x="299" y="218"/>
                      <a:pt x="294" y="213"/>
                      <a:pt x="288" y="213"/>
                    </a:cubicBezTo>
                    <a:close/>
                    <a:moveTo>
                      <a:pt x="288" y="256"/>
                    </a:moveTo>
                    <a:cubicBezTo>
                      <a:pt x="267" y="256"/>
                      <a:pt x="267" y="256"/>
                      <a:pt x="267" y="256"/>
                    </a:cubicBezTo>
                    <a:cubicBezTo>
                      <a:pt x="261" y="256"/>
                      <a:pt x="256" y="260"/>
                      <a:pt x="256" y="266"/>
                    </a:cubicBezTo>
                    <a:cubicBezTo>
                      <a:pt x="256" y="272"/>
                      <a:pt x="261" y="277"/>
                      <a:pt x="267" y="277"/>
                    </a:cubicBezTo>
                    <a:cubicBezTo>
                      <a:pt x="288" y="277"/>
                      <a:pt x="288" y="277"/>
                      <a:pt x="288" y="277"/>
                    </a:cubicBezTo>
                    <a:cubicBezTo>
                      <a:pt x="294" y="277"/>
                      <a:pt x="299" y="272"/>
                      <a:pt x="299" y="266"/>
                    </a:cubicBezTo>
                    <a:cubicBezTo>
                      <a:pt x="299" y="260"/>
                      <a:pt x="294" y="256"/>
                      <a:pt x="288" y="256"/>
                    </a:cubicBezTo>
                    <a:close/>
                    <a:moveTo>
                      <a:pt x="267" y="106"/>
                    </a:moveTo>
                    <a:cubicBezTo>
                      <a:pt x="288" y="106"/>
                      <a:pt x="288" y="106"/>
                      <a:pt x="288" y="106"/>
                    </a:cubicBezTo>
                    <a:cubicBezTo>
                      <a:pt x="294" y="106"/>
                      <a:pt x="299" y="102"/>
                      <a:pt x="299" y="96"/>
                    </a:cubicBezTo>
                    <a:cubicBezTo>
                      <a:pt x="299" y="90"/>
                      <a:pt x="294" y="85"/>
                      <a:pt x="288" y="85"/>
                    </a:cubicBezTo>
                    <a:cubicBezTo>
                      <a:pt x="267" y="85"/>
                      <a:pt x="267" y="85"/>
                      <a:pt x="267" y="85"/>
                    </a:cubicBezTo>
                    <a:cubicBezTo>
                      <a:pt x="261" y="85"/>
                      <a:pt x="256" y="90"/>
                      <a:pt x="256" y="96"/>
                    </a:cubicBezTo>
                    <a:cubicBezTo>
                      <a:pt x="256" y="102"/>
                      <a:pt x="261" y="106"/>
                      <a:pt x="267" y="106"/>
                    </a:cubicBezTo>
                    <a:close/>
                    <a:moveTo>
                      <a:pt x="288" y="128"/>
                    </a:moveTo>
                    <a:cubicBezTo>
                      <a:pt x="267" y="128"/>
                      <a:pt x="267" y="128"/>
                      <a:pt x="267" y="128"/>
                    </a:cubicBezTo>
                    <a:cubicBezTo>
                      <a:pt x="261" y="128"/>
                      <a:pt x="256" y="132"/>
                      <a:pt x="256" y="138"/>
                    </a:cubicBezTo>
                    <a:cubicBezTo>
                      <a:pt x="256" y="144"/>
                      <a:pt x="261" y="149"/>
                      <a:pt x="267" y="149"/>
                    </a:cubicBezTo>
                    <a:cubicBezTo>
                      <a:pt x="288" y="149"/>
                      <a:pt x="288" y="149"/>
                      <a:pt x="288" y="149"/>
                    </a:cubicBezTo>
                    <a:cubicBezTo>
                      <a:pt x="294" y="149"/>
                      <a:pt x="299" y="144"/>
                      <a:pt x="299" y="138"/>
                    </a:cubicBezTo>
                    <a:cubicBezTo>
                      <a:pt x="299" y="132"/>
                      <a:pt x="294" y="128"/>
                      <a:pt x="288" y="12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86" name="Freeform 485"/>
              <p:cNvSpPr>
                <a:spLocks noEditPoints="1"/>
              </p:cNvSpPr>
              <p:nvPr/>
            </p:nvSpPr>
            <p:spPr bwMode="auto">
              <a:xfrm>
                <a:off x="2962" y="2267"/>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463" name="Group 144"/>
            <p:cNvGrpSpPr>
              <a:grpSpLocks noChangeAspect="1"/>
            </p:cNvGrpSpPr>
            <p:nvPr/>
          </p:nvGrpSpPr>
          <p:grpSpPr bwMode="auto">
            <a:xfrm>
              <a:off x="6768272" y="2847246"/>
              <a:ext cx="367631" cy="367631"/>
              <a:chOff x="2963" y="1300"/>
              <a:chExt cx="340" cy="340"/>
            </a:xfrm>
            <a:solidFill>
              <a:schemeClr val="bg1"/>
            </a:solidFill>
          </p:grpSpPr>
          <p:sp>
            <p:nvSpPr>
              <p:cNvPr id="483" name="Freeform 145"/>
              <p:cNvSpPr>
                <a:spLocks noEditPoints="1"/>
              </p:cNvSpPr>
              <p:nvPr/>
            </p:nvSpPr>
            <p:spPr bwMode="auto">
              <a:xfrm>
                <a:off x="2963" y="130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84" name="Freeform 146"/>
              <p:cNvSpPr>
                <a:spLocks noEditPoints="1"/>
              </p:cNvSpPr>
              <p:nvPr/>
            </p:nvSpPr>
            <p:spPr bwMode="auto">
              <a:xfrm>
                <a:off x="3041" y="1406"/>
                <a:ext cx="191" cy="128"/>
              </a:xfrm>
              <a:custGeom>
                <a:avLst/>
                <a:gdLst>
                  <a:gd name="T0" fmla="*/ 53 w 288"/>
                  <a:gd name="T1" fmla="*/ 0 h 192"/>
                  <a:gd name="T2" fmla="*/ 43 w 288"/>
                  <a:gd name="T3" fmla="*/ 42 h 192"/>
                  <a:gd name="T4" fmla="*/ 0 w 288"/>
                  <a:gd name="T5" fmla="*/ 53 h 192"/>
                  <a:gd name="T6" fmla="*/ 11 w 288"/>
                  <a:gd name="T7" fmla="*/ 192 h 192"/>
                  <a:gd name="T8" fmla="*/ 245 w 288"/>
                  <a:gd name="T9" fmla="*/ 181 h 192"/>
                  <a:gd name="T10" fmla="*/ 277 w 288"/>
                  <a:gd name="T11" fmla="*/ 149 h 192"/>
                  <a:gd name="T12" fmla="*/ 288 w 288"/>
                  <a:gd name="T13" fmla="*/ 10 h 192"/>
                  <a:gd name="T14" fmla="*/ 224 w 288"/>
                  <a:gd name="T15" fmla="*/ 170 h 192"/>
                  <a:gd name="T16" fmla="*/ 21 w 288"/>
                  <a:gd name="T17" fmla="*/ 64 h 192"/>
                  <a:gd name="T18" fmla="*/ 224 w 288"/>
                  <a:gd name="T19" fmla="*/ 170 h 192"/>
                  <a:gd name="T20" fmla="*/ 245 w 288"/>
                  <a:gd name="T21" fmla="*/ 128 h 192"/>
                  <a:gd name="T22" fmla="*/ 235 w 288"/>
                  <a:gd name="T23" fmla="*/ 42 h 192"/>
                  <a:gd name="T24" fmla="*/ 64 w 288"/>
                  <a:gd name="T25" fmla="*/ 21 h 192"/>
                  <a:gd name="T26" fmla="*/ 267 w 288"/>
                  <a:gd name="T27" fmla="*/ 128 h 192"/>
                  <a:gd name="T28" fmla="*/ 101 w 288"/>
                  <a:gd name="T29" fmla="*/ 100 h 192"/>
                  <a:gd name="T30" fmla="*/ 123 w 288"/>
                  <a:gd name="T31" fmla="*/ 82 h 192"/>
                  <a:gd name="T32" fmla="*/ 130 w 288"/>
                  <a:gd name="T33" fmla="*/ 74 h 192"/>
                  <a:gd name="T34" fmla="*/ 151 w 288"/>
                  <a:gd name="T35" fmla="*/ 87 h 192"/>
                  <a:gd name="T36" fmla="*/ 130 w 288"/>
                  <a:gd name="T37" fmla="*/ 95 h 192"/>
                  <a:gd name="T38" fmla="*/ 123 w 288"/>
                  <a:gd name="T39" fmla="*/ 95 h 192"/>
                  <a:gd name="T40" fmla="*/ 118 w 288"/>
                  <a:gd name="T41" fmla="*/ 104 h 192"/>
                  <a:gd name="T42" fmla="*/ 130 w 288"/>
                  <a:gd name="T43" fmla="*/ 110 h 192"/>
                  <a:gd name="T44" fmla="*/ 151 w 288"/>
                  <a:gd name="T45" fmla="*/ 122 h 192"/>
                  <a:gd name="T46" fmla="*/ 147 w 288"/>
                  <a:gd name="T47" fmla="*/ 143 h 192"/>
                  <a:gd name="T48" fmla="*/ 130 w 288"/>
                  <a:gd name="T49" fmla="*/ 160 h 192"/>
                  <a:gd name="T50" fmla="*/ 123 w 288"/>
                  <a:gd name="T51" fmla="*/ 149 h 192"/>
                  <a:gd name="T52" fmla="*/ 101 w 288"/>
                  <a:gd name="T53" fmla="*/ 132 h 192"/>
                  <a:gd name="T54" fmla="*/ 123 w 288"/>
                  <a:gd name="T55" fmla="*/ 137 h 192"/>
                  <a:gd name="T56" fmla="*/ 130 w 288"/>
                  <a:gd name="T57" fmla="*/ 137 h 192"/>
                  <a:gd name="T58" fmla="*/ 135 w 288"/>
                  <a:gd name="T59" fmla="*/ 127 h 192"/>
                  <a:gd name="T60" fmla="*/ 123 w 288"/>
                  <a:gd name="T61" fmla="*/ 122 h 192"/>
                  <a:gd name="T62" fmla="*/ 105 w 288"/>
                  <a:gd name="T63" fmla="*/ 1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8" h="192">
                    <a:moveTo>
                      <a:pt x="277" y="0"/>
                    </a:moveTo>
                    <a:cubicBezTo>
                      <a:pt x="53" y="0"/>
                      <a:pt x="53" y="0"/>
                      <a:pt x="53" y="0"/>
                    </a:cubicBezTo>
                    <a:cubicBezTo>
                      <a:pt x="47" y="0"/>
                      <a:pt x="43" y="4"/>
                      <a:pt x="43" y="10"/>
                    </a:cubicBezTo>
                    <a:cubicBezTo>
                      <a:pt x="43" y="42"/>
                      <a:pt x="43" y="42"/>
                      <a:pt x="43" y="42"/>
                    </a:cubicBezTo>
                    <a:cubicBezTo>
                      <a:pt x="11" y="42"/>
                      <a:pt x="11" y="42"/>
                      <a:pt x="11" y="42"/>
                    </a:cubicBezTo>
                    <a:cubicBezTo>
                      <a:pt x="5" y="42"/>
                      <a:pt x="0" y="47"/>
                      <a:pt x="0" y="53"/>
                    </a:cubicBezTo>
                    <a:cubicBezTo>
                      <a:pt x="0" y="181"/>
                      <a:pt x="0" y="181"/>
                      <a:pt x="0" y="181"/>
                    </a:cubicBezTo>
                    <a:cubicBezTo>
                      <a:pt x="0" y="187"/>
                      <a:pt x="5" y="192"/>
                      <a:pt x="11" y="192"/>
                    </a:cubicBezTo>
                    <a:cubicBezTo>
                      <a:pt x="235" y="192"/>
                      <a:pt x="235" y="192"/>
                      <a:pt x="235" y="192"/>
                    </a:cubicBezTo>
                    <a:cubicBezTo>
                      <a:pt x="241" y="192"/>
                      <a:pt x="245" y="187"/>
                      <a:pt x="245" y="181"/>
                    </a:cubicBezTo>
                    <a:cubicBezTo>
                      <a:pt x="245" y="149"/>
                      <a:pt x="245" y="149"/>
                      <a:pt x="245" y="149"/>
                    </a:cubicBezTo>
                    <a:cubicBezTo>
                      <a:pt x="277" y="149"/>
                      <a:pt x="277" y="149"/>
                      <a:pt x="277" y="149"/>
                    </a:cubicBezTo>
                    <a:cubicBezTo>
                      <a:pt x="283" y="149"/>
                      <a:pt x="288" y="144"/>
                      <a:pt x="288" y="138"/>
                    </a:cubicBezTo>
                    <a:cubicBezTo>
                      <a:pt x="288" y="10"/>
                      <a:pt x="288" y="10"/>
                      <a:pt x="288" y="10"/>
                    </a:cubicBezTo>
                    <a:cubicBezTo>
                      <a:pt x="288" y="4"/>
                      <a:pt x="283" y="0"/>
                      <a:pt x="277" y="0"/>
                    </a:cubicBezTo>
                    <a:close/>
                    <a:moveTo>
                      <a:pt x="224" y="170"/>
                    </a:moveTo>
                    <a:cubicBezTo>
                      <a:pt x="21" y="170"/>
                      <a:pt x="21" y="170"/>
                      <a:pt x="21" y="170"/>
                    </a:cubicBezTo>
                    <a:cubicBezTo>
                      <a:pt x="21" y="64"/>
                      <a:pt x="21" y="64"/>
                      <a:pt x="21" y="64"/>
                    </a:cubicBezTo>
                    <a:cubicBezTo>
                      <a:pt x="224" y="64"/>
                      <a:pt x="224" y="64"/>
                      <a:pt x="224" y="64"/>
                    </a:cubicBezTo>
                    <a:lnTo>
                      <a:pt x="224" y="170"/>
                    </a:lnTo>
                    <a:close/>
                    <a:moveTo>
                      <a:pt x="267" y="128"/>
                    </a:moveTo>
                    <a:cubicBezTo>
                      <a:pt x="245" y="128"/>
                      <a:pt x="245" y="128"/>
                      <a:pt x="245" y="128"/>
                    </a:cubicBezTo>
                    <a:cubicBezTo>
                      <a:pt x="245" y="53"/>
                      <a:pt x="245" y="53"/>
                      <a:pt x="245" y="53"/>
                    </a:cubicBezTo>
                    <a:cubicBezTo>
                      <a:pt x="245" y="47"/>
                      <a:pt x="241" y="42"/>
                      <a:pt x="235" y="42"/>
                    </a:cubicBezTo>
                    <a:cubicBezTo>
                      <a:pt x="64" y="42"/>
                      <a:pt x="64" y="42"/>
                      <a:pt x="64" y="42"/>
                    </a:cubicBezTo>
                    <a:cubicBezTo>
                      <a:pt x="64" y="21"/>
                      <a:pt x="64" y="21"/>
                      <a:pt x="64" y="21"/>
                    </a:cubicBezTo>
                    <a:cubicBezTo>
                      <a:pt x="267" y="21"/>
                      <a:pt x="267" y="21"/>
                      <a:pt x="267" y="21"/>
                    </a:cubicBezTo>
                    <a:lnTo>
                      <a:pt x="267" y="128"/>
                    </a:lnTo>
                    <a:close/>
                    <a:moveTo>
                      <a:pt x="105" y="112"/>
                    </a:moveTo>
                    <a:cubicBezTo>
                      <a:pt x="103" y="109"/>
                      <a:pt x="101" y="105"/>
                      <a:pt x="101" y="100"/>
                    </a:cubicBezTo>
                    <a:cubicBezTo>
                      <a:pt x="101" y="95"/>
                      <a:pt x="103" y="91"/>
                      <a:pt x="107" y="88"/>
                    </a:cubicBezTo>
                    <a:cubicBezTo>
                      <a:pt x="111" y="85"/>
                      <a:pt x="116" y="83"/>
                      <a:pt x="123" y="82"/>
                    </a:cubicBezTo>
                    <a:cubicBezTo>
                      <a:pt x="123" y="74"/>
                      <a:pt x="123" y="74"/>
                      <a:pt x="123" y="74"/>
                    </a:cubicBezTo>
                    <a:cubicBezTo>
                      <a:pt x="130" y="74"/>
                      <a:pt x="130" y="74"/>
                      <a:pt x="130" y="74"/>
                    </a:cubicBezTo>
                    <a:cubicBezTo>
                      <a:pt x="130" y="82"/>
                      <a:pt x="130" y="82"/>
                      <a:pt x="130" y="82"/>
                    </a:cubicBezTo>
                    <a:cubicBezTo>
                      <a:pt x="138" y="82"/>
                      <a:pt x="145" y="84"/>
                      <a:pt x="151" y="87"/>
                    </a:cubicBezTo>
                    <a:cubicBezTo>
                      <a:pt x="147" y="99"/>
                      <a:pt x="147" y="99"/>
                      <a:pt x="147" y="99"/>
                    </a:cubicBezTo>
                    <a:cubicBezTo>
                      <a:pt x="141" y="96"/>
                      <a:pt x="136" y="95"/>
                      <a:pt x="130" y="95"/>
                    </a:cubicBezTo>
                    <a:cubicBezTo>
                      <a:pt x="130" y="95"/>
                      <a:pt x="129" y="94"/>
                      <a:pt x="127" y="94"/>
                    </a:cubicBezTo>
                    <a:cubicBezTo>
                      <a:pt x="125" y="94"/>
                      <a:pt x="123" y="95"/>
                      <a:pt x="123" y="95"/>
                    </a:cubicBezTo>
                    <a:cubicBezTo>
                      <a:pt x="119" y="95"/>
                      <a:pt x="117" y="97"/>
                      <a:pt x="117" y="100"/>
                    </a:cubicBezTo>
                    <a:cubicBezTo>
                      <a:pt x="117" y="102"/>
                      <a:pt x="117" y="103"/>
                      <a:pt x="118" y="104"/>
                    </a:cubicBezTo>
                    <a:cubicBezTo>
                      <a:pt x="119" y="105"/>
                      <a:pt x="121" y="106"/>
                      <a:pt x="123" y="107"/>
                    </a:cubicBezTo>
                    <a:cubicBezTo>
                      <a:pt x="130" y="110"/>
                      <a:pt x="130" y="110"/>
                      <a:pt x="130" y="110"/>
                    </a:cubicBezTo>
                    <a:cubicBezTo>
                      <a:pt x="137" y="112"/>
                      <a:pt x="142" y="114"/>
                      <a:pt x="144" y="116"/>
                    </a:cubicBezTo>
                    <a:cubicBezTo>
                      <a:pt x="147" y="118"/>
                      <a:pt x="149" y="120"/>
                      <a:pt x="151" y="122"/>
                    </a:cubicBezTo>
                    <a:cubicBezTo>
                      <a:pt x="152" y="125"/>
                      <a:pt x="152" y="127"/>
                      <a:pt x="152" y="130"/>
                    </a:cubicBezTo>
                    <a:cubicBezTo>
                      <a:pt x="152" y="136"/>
                      <a:pt x="151" y="140"/>
                      <a:pt x="147" y="143"/>
                    </a:cubicBezTo>
                    <a:cubicBezTo>
                      <a:pt x="143" y="147"/>
                      <a:pt x="137" y="149"/>
                      <a:pt x="130" y="149"/>
                    </a:cubicBezTo>
                    <a:cubicBezTo>
                      <a:pt x="130" y="160"/>
                      <a:pt x="130" y="160"/>
                      <a:pt x="130" y="160"/>
                    </a:cubicBezTo>
                    <a:cubicBezTo>
                      <a:pt x="123" y="160"/>
                      <a:pt x="123" y="160"/>
                      <a:pt x="123" y="160"/>
                    </a:cubicBezTo>
                    <a:cubicBezTo>
                      <a:pt x="123" y="149"/>
                      <a:pt x="123" y="149"/>
                      <a:pt x="123" y="149"/>
                    </a:cubicBezTo>
                    <a:cubicBezTo>
                      <a:pt x="115" y="149"/>
                      <a:pt x="108" y="148"/>
                      <a:pt x="101" y="145"/>
                    </a:cubicBezTo>
                    <a:cubicBezTo>
                      <a:pt x="101" y="132"/>
                      <a:pt x="101" y="132"/>
                      <a:pt x="101" y="132"/>
                    </a:cubicBezTo>
                    <a:cubicBezTo>
                      <a:pt x="104" y="133"/>
                      <a:pt x="108" y="134"/>
                      <a:pt x="112" y="135"/>
                    </a:cubicBezTo>
                    <a:cubicBezTo>
                      <a:pt x="116" y="137"/>
                      <a:pt x="120" y="137"/>
                      <a:pt x="123" y="137"/>
                    </a:cubicBezTo>
                    <a:cubicBezTo>
                      <a:pt x="123" y="137"/>
                      <a:pt x="125" y="137"/>
                      <a:pt x="127" y="137"/>
                    </a:cubicBezTo>
                    <a:cubicBezTo>
                      <a:pt x="129" y="137"/>
                      <a:pt x="130" y="137"/>
                      <a:pt x="130" y="137"/>
                    </a:cubicBezTo>
                    <a:cubicBezTo>
                      <a:pt x="135" y="136"/>
                      <a:pt x="137" y="134"/>
                      <a:pt x="137" y="131"/>
                    </a:cubicBezTo>
                    <a:cubicBezTo>
                      <a:pt x="137" y="130"/>
                      <a:pt x="137" y="128"/>
                      <a:pt x="135" y="127"/>
                    </a:cubicBezTo>
                    <a:cubicBezTo>
                      <a:pt x="134" y="126"/>
                      <a:pt x="133" y="125"/>
                      <a:pt x="130" y="124"/>
                    </a:cubicBezTo>
                    <a:cubicBezTo>
                      <a:pt x="123" y="122"/>
                      <a:pt x="123" y="122"/>
                      <a:pt x="123" y="122"/>
                    </a:cubicBezTo>
                    <a:cubicBezTo>
                      <a:pt x="120" y="120"/>
                      <a:pt x="120" y="120"/>
                      <a:pt x="120" y="120"/>
                    </a:cubicBezTo>
                    <a:cubicBezTo>
                      <a:pt x="113" y="118"/>
                      <a:pt x="108" y="115"/>
                      <a:pt x="105" y="11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464" name="Group 376"/>
            <p:cNvGrpSpPr>
              <a:grpSpLocks noChangeAspect="1"/>
            </p:cNvGrpSpPr>
            <p:nvPr/>
          </p:nvGrpSpPr>
          <p:grpSpPr bwMode="auto">
            <a:xfrm>
              <a:off x="6764231" y="3590093"/>
              <a:ext cx="367982" cy="367982"/>
              <a:chOff x="3466" y="2823"/>
              <a:chExt cx="340" cy="340"/>
            </a:xfrm>
            <a:solidFill>
              <a:schemeClr val="bg1"/>
            </a:solidFill>
          </p:grpSpPr>
          <p:sp>
            <p:nvSpPr>
              <p:cNvPr id="481" name="Freeform 377"/>
              <p:cNvSpPr>
                <a:spLocks noEditPoints="1"/>
              </p:cNvSpPr>
              <p:nvPr/>
            </p:nvSpPr>
            <p:spPr bwMode="auto">
              <a:xfrm>
                <a:off x="3530" y="2915"/>
                <a:ext cx="212" cy="156"/>
              </a:xfrm>
              <a:custGeom>
                <a:avLst/>
                <a:gdLst>
                  <a:gd name="T0" fmla="*/ 320 w 320"/>
                  <a:gd name="T1" fmla="*/ 224 h 235"/>
                  <a:gd name="T2" fmla="*/ 309 w 320"/>
                  <a:gd name="T3" fmla="*/ 235 h 235"/>
                  <a:gd name="T4" fmla="*/ 10 w 320"/>
                  <a:gd name="T5" fmla="*/ 235 h 235"/>
                  <a:gd name="T6" fmla="*/ 0 w 320"/>
                  <a:gd name="T7" fmla="*/ 224 h 235"/>
                  <a:gd name="T8" fmla="*/ 0 w 320"/>
                  <a:gd name="T9" fmla="*/ 11 h 235"/>
                  <a:gd name="T10" fmla="*/ 10 w 320"/>
                  <a:gd name="T11" fmla="*/ 0 h 235"/>
                  <a:gd name="T12" fmla="*/ 21 w 320"/>
                  <a:gd name="T13" fmla="*/ 11 h 235"/>
                  <a:gd name="T14" fmla="*/ 21 w 320"/>
                  <a:gd name="T15" fmla="*/ 214 h 235"/>
                  <a:gd name="T16" fmla="*/ 309 w 320"/>
                  <a:gd name="T17" fmla="*/ 214 h 235"/>
                  <a:gd name="T18" fmla="*/ 320 w 320"/>
                  <a:gd name="T19" fmla="*/ 224 h 235"/>
                  <a:gd name="T20" fmla="*/ 53 w 320"/>
                  <a:gd name="T21" fmla="*/ 192 h 235"/>
                  <a:gd name="T22" fmla="*/ 64 w 320"/>
                  <a:gd name="T23" fmla="*/ 182 h 235"/>
                  <a:gd name="T24" fmla="*/ 64 w 320"/>
                  <a:gd name="T25" fmla="*/ 139 h 235"/>
                  <a:gd name="T26" fmla="*/ 53 w 320"/>
                  <a:gd name="T27" fmla="*/ 128 h 235"/>
                  <a:gd name="T28" fmla="*/ 42 w 320"/>
                  <a:gd name="T29" fmla="*/ 139 h 235"/>
                  <a:gd name="T30" fmla="*/ 42 w 320"/>
                  <a:gd name="T31" fmla="*/ 182 h 235"/>
                  <a:gd name="T32" fmla="*/ 53 w 320"/>
                  <a:gd name="T33" fmla="*/ 192 h 235"/>
                  <a:gd name="T34" fmla="*/ 96 w 320"/>
                  <a:gd name="T35" fmla="*/ 192 h 235"/>
                  <a:gd name="T36" fmla="*/ 106 w 320"/>
                  <a:gd name="T37" fmla="*/ 182 h 235"/>
                  <a:gd name="T38" fmla="*/ 106 w 320"/>
                  <a:gd name="T39" fmla="*/ 107 h 235"/>
                  <a:gd name="T40" fmla="*/ 96 w 320"/>
                  <a:gd name="T41" fmla="*/ 96 h 235"/>
                  <a:gd name="T42" fmla="*/ 85 w 320"/>
                  <a:gd name="T43" fmla="*/ 107 h 235"/>
                  <a:gd name="T44" fmla="*/ 85 w 320"/>
                  <a:gd name="T45" fmla="*/ 182 h 235"/>
                  <a:gd name="T46" fmla="*/ 96 w 320"/>
                  <a:gd name="T47" fmla="*/ 192 h 235"/>
                  <a:gd name="T48" fmla="*/ 138 w 320"/>
                  <a:gd name="T49" fmla="*/ 192 h 235"/>
                  <a:gd name="T50" fmla="*/ 149 w 320"/>
                  <a:gd name="T51" fmla="*/ 182 h 235"/>
                  <a:gd name="T52" fmla="*/ 149 w 320"/>
                  <a:gd name="T53" fmla="*/ 11 h 235"/>
                  <a:gd name="T54" fmla="*/ 138 w 320"/>
                  <a:gd name="T55" fmla="*/ 0 h 235"/>
                  <a:gd name="T56" fmla="*/ 128 w 320"/>
                  <a:gd name="T57" fmla="*/ 11 h 235"/>
                  <a:gd name="T58" fmla="*/ 128 w 320"/>
                  <a:gd name="T59" fmla="*/ 182 h 235"/>
                  <a:gd name="T60" fmla="*/ 138 w 320"/>
                  <a:gd name="T61" fmla="*/ 192 h 235"/>
                  <a:gd name="T62" fmla="*/ 181 w 320"/>
                  <a:gd name="T63" fmla="*/ 192 h 235"/>
                  <a:gd name="T64" fmla="*/ 192 w 320"/>
                  <a:gd name="T65" fmla="*/ 182 h 235"/>
                  <a:gd name="T66" fmla="*/ 192 w 320"/>
                  <a:gd name="T67" fmla="*/ 64 h 235"/>
                  <a:gd name="T68" fmla="*/ 181 w 320"/>
                  <a:gd name="T69" fmla="*/ 54 h 235"/>
                  <a:gd name="T70" fmla="*/ 170 w 320"/>
                  <a:gd name="T71" fmla="*/ 64 h 235"/>
                  <a:gd name="T72" fmla="*/ 170 w 320"/>
                  <a:gd name="T73" fmla="*/ 182 h 235"/>
                  <a:gd name="T74" fmla="*/ 181 w 320"/>
                  <a:gd name="T75" fmla="*/ 192 h 235"/>
                  <a:gd name="T76" fmla="*/ 224 w 320"/>
                  <a:gd name="T77" fmla="*/ 192 h 235"/>
                  <a:gd name="T78" fmla="*/ 234 w 320"/>
                  <a:gd name="T79" fmla="*/ 182 h 235"/>
                  <a:gd name="T80" fmla="*/ 234 w 320"/>
                  <a:gd name="T81" fmla="*/ 32 h 235"/>
                  <a:gd name="T82" fmla="*/ 224 w 320"/>
                  <a:gd name="T83" fmla="*/ 22 h 235"/>
                  <a:gd name="T84" fmla="*/ 213 w 320"/>
                  <a:gd name="T85" fmla="*/ 32 h 235"/>
                  <a:gd name="T86" fmla="*/ 213 w 320"/>
                  <a:gd name="T87" fmla="*/ 182 h 235"/>
                  <a:gd name="T88" fmla="*/ 224 w 320"/>
                  <a:gd name="T89" fmla="*/ 192 h 235"/>
                  <a:gd name="T90" fmla="*/ 266 w 320"/>
                  <a:gd name="T91" fmla="*/ 192 h 235"/>
                  <a:gd name="T92" fmla="*/ 277 w 320"/>
                  <a:gd name="T93" fmla="*/ 182 h 235"/>
                  <a:gd name="T94" fmla="*/ 277 w 320"/>
                  <a:gd name="T95" fmla="*/ 118 h 235"/>
                  <a:gd name="T96" fmla="*/ 266 w 320"/>
                  <a:gd name="T97" fmla="*/ 107 h 235"/>
                  <a:gd name="T98" fmla="*/ 256 w 320"/>
                  <a:gd name="T99" fmla="*/ 118 h 235"/>
                  <a:gd name="T100" fmla="*/ 256 w 320"/>
                  <a:gd name="T101" fmla="*/ 182 h 235"/>
                  <a:gd name="T102" fmla="*/ 266 w 320"/>
                  <a:gd name="T103" fmla="*/ 192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0" h="235">
                    <a:moveTo>
                      <a:pt x="320" y="224"/>
                    </a:moveTo>
                    <a:cubicBezTo>
                      <a:pt x="320" y="230"/>
                      <a:pt x="315" y="235"/>
                      <a:pt x="309" y="235"/>
                    </a:cubicBezTo>
                    <a:cubicBezTo>
                      <a:pt x="10" y="235"/>
                      <a:pt x="10" y="235"/>
                      <a:pt x="10" y="235"/>
                    </a:cubicBezTo>
                    <a:cubicBezTo>
                      <a:pt x="4" y="235"/>
                      <a:pt x="0" y="230"/>
                      <a:pt x="0" y="224"/>
                    </a:cubicBezTo>
                    <a:cubicBezTo>
                      <a:pt x="0" y="11"/>
                      <a:pt x="0" y="11"/>
                      <a:pt x="0" y="11"/>
                    </a:cubicBezTo>
                    <a:cubicBezTo>
                      <a:pt x="0" y="5"/>
                      <a:pt x="4" y="0"/>
                      <a:pt x="10" y="0"/>
                    </a:cubicBezTo>
                    <a:cubicBezTo>
                      <a:pt x="16" y="0"/>
                      <a:pt x="21" y="5"/>
                      <a:pt x="21" y="11"/>
                    </a:cubicBezTo>
                    <a:cubicBezTo>
                      <a:pt x="21" y="214"/>
                      <a:pt x="21" y="214"/>
                      <a:pt x="21" y="214"/>
                    </a:cubicBezTo>
                    <a:cubicBezTo>
                      <a:pt x="309" y="214"/>
                      <a:pt x="309" y="214"/>
                      <a:pt x="309" y="214"/>
                    </a:cubicBezTo>
                    <a:cubicBezTo>
                      <a:pt x="315" y="214"/>
                      <a:pt x="320" y="218"/>
                      <a:pt x="320" y="224"/>
                    </a:cubicBezTo>
                    <a:close/>
                    <a:moveTo>
                      <a:pt x="53" y="192"/>
                    </a:moveTo>
                    <a:cubicBezTo>
                      <a:pt x="59" y="192"/>
                      <a:pt x="64" y="188"/>
                      <a:pt x="64" y="182"/>
                    </a:cubicBezTo>
                    <a:cubicBezTo>
                      <a:pt x="64" y="139"/>
                      <a:pt x="64" y="139"/>
                      <a:pt x="64" y="139"/>
                    </a:cubicBezTo>
                    <a:cubicBezTo>
                      <a:pt x="64" y="133"/>
                      <a:pt x="59" y="128"/>
                      <a:pt x="53" y="128"/>
                    </a:cubicBezTo>
                    <a:cubicBezTo>
                      <a:pt x="47" y="128"/>
                      <a:pt x="42" y="133"/>
                      <a:pt x="42" y="139"/>
                    </a:cubicBezTo>
                    <a:cubicBezTo>
                      <a:pt x="42" y="182"/>
                      <a:pt x="42" y="182"/>
                      <a:pt x="42" y="182"/>
                    </a:cubicBezTo>
                    <a:cubicBezTo>
                      <a:pt x="42" y="188"/>
                      <a:pt x="47" y="192"/>
                      <a:pt x="53" y="192"/>
                    </a:cubicBezTo>
                    <a:close/>
                    <a:moveTo>
                      <a:pt x="96" y="192"/>
                    </a:moveTo>
                    <a:cubicBezTo>
                      <a:pt x="102" y="192"/>
                      <a:pt x="106" y="188"/>
                      <a:pt x="106" y="182"/>
                    </a:cubicBezTo>
                    <a:cubicBezTo>
                      <a:pt x="106" y="107"/>
                      <a:pt x="106" y="107"/>
                      <a:pt x="106" y="107"/>
                    </a:cubicBezTo>
                    <a:cubicBezTo>
                      <a:pt x="106" y="101"/>
                      <a:pt x="102" y="96"/>
                      <a:pt x="96" y="96"/>
                    </a:cubicBezTo>
                    <a:cubicBezTo>
                      <a:pt x="90" y="96"/>
                      <a:pt x="85" y="101"/>
                      <a:pt x="85" y="107"/>
                    </a:cubicBezTo>
                    <a:cubicBezTo>
                      <a:pt x="85" y="182"/>
                      <a:pt x="85" y="182"/>
                      <a:pt x="85" y="182"/>
                    </a:cubicBezTo>
                    <a:cubicBezTo>
                      <a:pt x="85" y="188"/>
                      <a:pt x="90" y="192"/>
                      <a:pt x="96" y="192"/>
                    </a:cubicBezTo>
                    <a:close/>
                    <a:moveTo>
                      <a:pt x="138" y="192"/>
                    </a:moveTo>
                    <a:cubicBezTo>
                      <a:pt x="144" y="192"/>
                      <a:pt x="149" y="188"/>
                      <a:pt x="149" y="182"/>
                    </a:cubicBezTo>
                    <a:cubicBezTo>
                      <a:pt x="149" y="11"/>
                      <a:pt x="149" y="11"/>
                      <a:pt x="149" y="11"/>
                    </a:cubicBezTo>
                    <a:cubicBezTo>
                      <a:pt x="149" y="5"/>
                      <a:pt x="144" y="0"/>
                      <a:pt x="138" y="0"/>
                    </a:cubicBezTo>
                    <a:cubicBezTo>
                      <a:pt x="132" y="0"/>
                      <a:pt x="128" y="5"/>
                      <a:pt x="128" y="11"/>
                    </a:cubicBezTo>
                    <a:cubicBezTo>
                      <a:pt x="128" y="182"/>
                      <a:pt x="128" y="182"/>
                      <a:pt x="128" y="182"/>
                    </a:cubicBezTo>
                    <a:cubicBezTo>
                      <a:pt x="128" y="188"/>
                      <a:pt x="132" y="192"/>
                      <a:pt x="138" y="192"/>
                    </a:cubicBezTo>
                    <a:close/>
                    <a:moveTo>
                      <a:pt x="181" y="192"/>
                    </a:moveTo>
                    <a:cubicBezTo>
                      <a:pt x="187" y="192"/>
                      <a:pt x="192" y="188"/>
                      <a:pt x="192" y="182"/>
                    </a:cubicBezTo>
                    <a:cubicBezTo>
                      <a:pt x="192" y="64"/>
                      <a:pt x="192" y="64"/>
                      <a:pt x="192" y="64"/>
                    </a:cubicBezTo>
                    <a:cubicBezTo>
                      <a:pt x="192" y="58"/>
                      <a:pt x="187" y="54"/>
                      <a:pt x="181" y="54"/>
                    </a:cubicBezTo>
                    <a:cubicBezTo>
                      <a:pt x="175" y="54"/>
                      <a:pt x="170" y="58"/>
                      <a:pt x="170" y="64"/>
                    </a:cubicBezTo>
                    <a:cubicBezTo>
                      <a:pt x="170" y="182"/>
                      <a:pt x="170" y="182"/>
                      <a:pt x="170" y="182"/>
                    </a:cubicBezTo>
                    <a:cubicBezTo>
                      <a:pt x="170" y="188"/>
                      <a:pt x="175" y="192"/>
                      <a:pt x="181" y="192"/>
                    </a:cubicBezTo>
                    <a:close/>
                    <a:moveTo>
                      <a:pt x="224" y="192"/>
                    </a:moveTo>
                    <a:cubicBezTo>
                      <a:pt x="230" y="192"/>
                      <a:pt x="234" y="188"/>
                      <a:pt x="234" y="182"/>
                    </a:cubicBezTo>
                    <a:cubicBezTo>
                      <a:pt x="234" y="32"/>
                      <a:pt x="234" y="32"/>
                      <a:pt x="234" y="32"/>
                    </a:cubicBezTo>
                    <a:cubicBezTo>
                      <a:pt x="234" y="26"/>
                      <a:pt x="230" y="22"/>
                      <a:pt x="224" y="22"/>
                    </a:cubicBezTo>
                    <a:cubicBezTo>
                      <a:pt x="218" y="22"/>
                      <a:pt x="213" y="26"/>
                      <a:pt x="213" y="32"/>
                    </a:cubicBezTo>
                    <a:cubicBezTo>
                      <a:pt x="213" y="182"/>
                      <a:pt x="213" y="182"/>
                      <a:pt x="213" y="182"/>
                    </a:cubicBezTo>
                    <a:cubicBezTo>
                      <a:pt x="213" y="188"/>
                      <a:pt x="218" y="192"/>
                      <a:pt x="224" y="192"/>
                    </a:cubicBezTo>
                    <a:close/>
                    <a:moveTo>
                      <a:pt x="266" y="192"/>
                    </a:moveTo>
                    <a:cubicBezTo>
                      <a:pt x="272" y="192"/>
                      <a:pt x="277" y="188"/>
                      <a:pt x="277" y="182"/>
                    </a:cubicBezTo>
                    <a:cubicBezTo>
                      <a:pt x="277" y="118"/>
                      <a:pt x="277" y="118"/>
                      <a:pt x="277" y="118"/>
                    </a:cubicBezTo>
                    <a:cubicBezTo>
                      <a:pt x="277" y="112"/>
                      <a:pt x="272" y="107"/>
                      <a:pt x="266" y="107"/>
                    </a:cubicBezTo>
                    <a:cubicBezTo>
                      <a:pt x="260" y="107"/>
                      <a:pt x="256" y="112"/>
                      <a:pt x="256" y="118"/>
                    </a:cubicBezTo>
                    <a:cubicBezTo>
                      <a:pt x="256" y="182"/>
                      <a:pt x="256" y="182"/>
                      <a:pt x="256" y="182"/>
                    </a:cubicBezTo>
                    <a:cubicBezTo>
                      <a:pt x="256" y="188"/>
                      <a:pt x="260" y="192"/>
                      <a:pt x="266" y="19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82" name="Freeform 378"/>
              <p:cNvSpPr>
                <a:spLocks noEditPoints="1"/>
              </p:cNvSpPr>
              <p:nvPr/>
            </p:nvSpPr>
            <p:spPr bwMode="auto">
              <a:xfrm>
                <a:off x="3466" y="282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465" name="Group 464"/>
            <p:cNvGrpSpPr>
              <a:grpSpLocks noChangeAspect="1"/>
            </p:cNvGrpSpPr>
            <p:nvPr/>
          </p:nvGrpSpPr>
          <p:grpSpPr bwMode="auto">
            <a:xfrm>
              <a:off x="6765172" y="4342803"/>
              <a:ext cx="367041" cy="368120"/>
              <a:chOff x="6522" y="1505"/>
              <a:chExt cx="340" cy="341"/>
            </a:xfrm>
            <a:solidFill>
              <a:schemeClr val="bg1"/>
            </a:solidFill>
          </p:grpSpPr>
          <p:sp>
            <p:nvSpPr>
              <p:cNvPr id="479" name="Freeform 478"/>
              <p:cNvSpPr>
                <a:spLocks noEditPoints="1"/>
              </p:cNvSpPr>
              <p:nvPr/>
            </p:nvSpPr>
            <p:spPr bwMode="auto">
              <a:xfrm>
                <a:off x="6522" y="1505"/>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80" name="Freeform 479"/>
              <p:cNvSpPr>
                <a:spLocks noEditPoints="1"/>
              </p:cNvSpPr>
              <p:nvPr/>
            </p:nvSpPr>
            <p:spPr bwMode="auto">
              <a:xfrm>
                <a:off x="6584" y="1576"/>
                <a:ext cx="216" cy="185"/>
              </a:xfrm>
              <a:custGeom>
                <a:avLst/>
                <a:gdLst>
                  <a:gd name="T0" fmla="*/ 314 w 326"/>
                  <a:gd name="T1" fmla="*/ 175 h 278"/>
                  <a:gd name="T2" fmla="*/ 291 w 326"/>
                  <a:gd name="T3" fmla="*/ 154 h 278"/>
                  <a:gd name="T4" fmla="*/ 248 w 326"/>
                  <a:gd name="T5" fmla="*/ 44 h 278"/>
                  <a:gd name="T6" fmla="*/ 231 w 326"/>
                  <a:gd name="T7" fmla="*/ 29 h 278"/>
                  <a:gd name="T8" fmla="*/ 195 w 326"/>
                  <a:gd name="T9" fmla="*/ 11 h 278"/>
                  <a:gd name="T10" fmla="*/ 141 w 326"/>
                  <a:gd name="T11" fmla="*/ 0 h 278"/>
                  <a:gd name="T12" fmla="*/ 131 w 326"/>
                  <a:gd name="T13" fmla="*/ 14 h 278"/>
                  <a:gd name="T14" fmla="*/ 83 w 326"/>
                  <a:gd name="T15" fmla="*/ 35 h 278"/>
                  <a:gd name="T16" fmla="*/ 77 w 326"/>
                  <a:gd name="T17" fmla="*/ 50 h 278"/>
                  <a:gd name="T18" fmla="*/ 35 w 326"/>
                  <a:gd name="T19" fmla="*/ 167 h 278"/>
                  <a:gd name="T20" fmla="*/ 4 w 326"/>
                  <a:gd name="T21" fmla="*/ 183 h 278"/>
                  <a:gd name="T22" fmla="*/ 24 w 326"/>
                  <a:gd name="T23" fmla="*/ 262 h 278"/>
                  <a:gd name="T24" fmla="*/ 163 w 326"/>
                  <a:gd name="T25" fmla="*/ 278 h 278"/>
                  <a:gd name="T26" fmla="*/ 301 w 326"/>
                  <a:gd name="T27" fmla="*/ 262 h 278"/>
                  <a:gd name="T28" fmla="*/ 321 w 326"/>
                  <a:gd name="T29" fmla="*/ 183 h 278"/>
                  <a:gd name="T30" fmla="*/ 77 w 326"/>
                  <a:gd name="T31" fmla="*/ 86 h 278"/>
                  <a:gd name="T32" fmla="*/ 88 w 326"/>
                  <a:gd name="T33" fmla="*/ 155 h 278"/>
                  <a:gd name="T34" fmla="*/ 99 w 326"/>
                  <a:gd name="T35" fmla="*/ 51 h 278"/>
                  <a:gd name="T36" fmla="*/ 131 w 326"/>
                  <a:gd name="T37" fmla="*/ 36 h 278"/>
                  <a:gd name="T38" fmla="*/ 124 w 326"/>
                  <a:gd name="T39" fmla="*/ 91 h 278"/>
                  <a:gd name="T40" fmla="*/ 142 w 326"/>
                  <a:gd name="T41" fmla="*/ 102 h 278"/>
                  <a:gd name="T42" fmla="*/ 152 w 326"/>
                  <a:gd name="T43" fmla="*/ 83 h 278"/>
                  <a:gd name="T44" fmla="*/ 152 w 326"/>
                  <a:gd name="T45" fmla="*/ 22 h 278"/>
                  <a:gd name="T46" fmla="*/ 173 w 326"/>
                  <a:gd name="T47" fmla="*/ 22 h 278"/>
                  <a:gd name="T48" fmla="*/ 173 w 326"/>
                  <a:gd name="T49" fmla="*/ 83 h 278"/>
                  <a:gd name="T50" fmla="*/ 184 w 326"/>
                  <a:gd name="T51" fmla="*/ 102 h 278"/>
                  <a:gd name="T52" fmla="*/ 202 w 326"/>
                  <a:gd name="T53" fmla="*/ 91 h 278"/>
                  <a:gd name="T54" fmla="*/ 195 w 326"/>
                  <a:gd name="T55" fmla="*/ 36 h 278"/>
                  <a:gd name="T56" fmla="*/ 227 w 326"/>
                  <a:gd name="T57" fmla="*/ 51 h 278"/>
                  <a:gd name="T58" fmla="*/ 237 w 326"/>
                  <a:gd name="T59" fmla="*/ 155 h 278"/>
                  <a:gd name="T60" fmla="*/ 248 w 326"/>
                  <a:gd name="T61" fmla="*/ 86 h 278"/>
                  <a:gd name="T62" fmla="*/ 269 w 326"/>
                  <a:gd name="T63" fmla="*/ 188 h 278"/>
                  <a:gd name="T64" fmla="*/ 227 w 326"/>
                  <a:gd name="T65" fmla="*/ 182 h 278"/>
                  <a:gd name="T66" fmla="*/ 99 w 326"/>
                  <a:gd name="T67" fmla="*/ 182 h 278"/>
                  <a:gd name="T68" fmla="*/ 56 w 326"/>
                  <a:gd name="T69" fmla="*/ 188 h 278"/>
                  <a:gd name="T70" fmla="*/ 205 w 326"/>
                  <a:gd name="T71" fmla="*/ 182 h 278"/>
                  <a:gd name="T72" fmla="*/ 120 w 326"/>
                  <a:gd name="T73" fmla="*/ 182 h 278"/>
                  <a:gd name="T74" fmla="*/ 205 w 326"/>
                  <a:gd name="T75" fmla="*/ 182 h 278"/>
                  <a:gd name="T76" fmla="*/ 284 w 326"/>
                  <a:gd name="T77" fmla="*/ 249 h 278"/>
                  <a:gd name="T78" fmla="*/ 41 w 326"/>
                  <a:gd name="T79" fmla="*/ 249 h 278"/>
                  <a:gd name="T80" fmla="*/ 24 w 326"/>
                  <a:gd name="T81" fmla="*/ 193 h 278"/>
                  <a:gd name="T82" fmla="*/ 35 w 326"/>
                  <a:gd name="T83" fmla="*/ 192 h 278"/>
                  <a:gd name="T84" fmla="*/ 114 w 326"/>
                  <a:gd name="T85" fmla="*/ 224 h 278"/>
                  <a:gd name="T86" fmla="*/ 115 w 326"/>
                  <a:gd name="T87" fmla="*/ 224 h 278"/>
                  <a:gd name="T88" fmla="*/ 210 w 326"/>
                  <a:gd name="T89" fmla="*/ 224 h 278"/>
                  <a:gd name="T90" fmla="*/ 212 w 326"/>
                  <a:gd name="T91" fmla="*/ 224 h 278"/>
                  <a:gd name="T92" fmla="*/ 291 w 326"/>
                  <a:gd name="T93" fmla="*/ 192 h 278"/>
                  <a:gd name="T94" fmla="*/ 302 w 326"/>
                  <a:gd name="T95" fmla="*/ 193 h 278"/>
                  <a:gd name="T96" fmla="*/ 131 w 326"/>
                  <a:gd name="T97" fmla="*/ 182 h 278"/>
                  <a:gd name="T98" fmla="*/ 195 w 326"/>
                  <a:gd name="T99" fmla="*/ 182 h 278"/>
                  <a:gd name="T100" fmla="*/ 131 w 326"/>
                  <a:gd name="T101" fmla="*/ 182 h 278"/>
                  <a:gd name="T102" fmla="*/ 163 w 326"/>
                  <a:gd name="T103" fmla="*/ 192 h 278"/>
                  <a:gd name="T104" fmla="*/ 163 w 326"/>
                  <a:gd name="T105" fmla="*/ 171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26" h="278">
                    <a:moveTo>
                      <a:pt x="321" y="183"/>
                    </a:moveTo>
                    <a:cubicBezTo>
                      <a:pt x="321" y="179"/>
                      <a:pt x="318" y="176"/>
                      <a:pt x="314" y="175"/>
                    </a:cubicBezTo>
                    <a:cubicBezTo>
                      <a:pt x="291" y="167"/>
                      <a:pt x="291" y="167"/>
                      <a:pt x="291" y="167"/>
                    </a:cubicBezTo>
                    <a:cubicBezTo>
                      <a:pt x="291" y="154"/>
                      <a:pt x="291" y="154"/>
                      <a:pt x="291" y="154"/>
                    </a:cubicBezTo>
                    <a:cubicBezTo>
                      <a:pt x="291" y="119"/>
                      <a:pt x="275" y="80"/>
                      <a:pt x="248" y="50"/>
                    </a:cubicBezTo>
                    <a:cubicBezTo>
                      <a:pt x="248" y="44"/>
                      <a:pt x="248" y="44"/>
                      <a:pt x="248" y="44"/>
                    </a:cubicBezTo>
                    <a:cubicBezTo>
                      <a:pt x="248" y="40"/>
                      <a:pt x="246" y="37"/>
                      <a:pt x="242" y="35"/>
                    </a:cubicBezTo>
                    <a:cubicBezTo>
                      <a:pt x="238" y="33"/>
                      <a:pt x="234" y="31"/>
                      <a:pt x="231" y="29"/>
                    </a:cubicBezTo>
                    <a:cubicBezTo>
                      <a:pt x="219" y="23"/>
                      <a:pt x="209" y="17"/>
                      <a:pt x="195" y="14"/>
                    </a:cubicBezTo>
                    <a:cubicBezTo>
                      <a:pt x="195" y="11"/>
                      <a:pt x="195" y="11"/>
                      <a:pt x="195" y="11"/>
                    </a:cubicBezTo>
                    <a:cubicBezTo>
                      <a:pt x="195" y="5"/>
                      <a:pt x="190" y="0"/>
                      <a:pt x="184" y="0"/>
                    </a:cubicBezTo>
                    <a:cubicBezTo>
                      <a:pt x="141" y="0"/>
                      <a:pt x="141" y="0"/>
                      <a:pt x="141" y="0"/>
                    </a:cubicBezTo>
                    <a:cubicBezTo>
                      <a:pt x="135" y="0"/>
                      <a:pt x="131" y="5"/>
                      <a:pt x="131" y="11"/>
                    </a:cubicBezTo>
                    <a:cubicBezTo>
                      <a:pt x="131" y="14"/>
                      <a:pt x="131" y="14"/>
                      <a:pt x="131" y="14"/>
                    </a:cubicBezTo>
                    <a:cubicBezTo>
                      <a:pt x="117" y="17"/>
                      <a:pt x="107" y="23"/>
                      <a:pt x="94" y="29"/>
                    </a:cubicBezTo>
                    <a:cubicBezTo>
                      <a:pt x="91" y="31"/>
                      <a:pt x="87" y="33"/>
                      <a:pt x="83" y="35"/>
                    </a:cubicBezTo>
                    <a:cubicBezTo>
                      <a:pt x="80" y="37"/>
                      <a:pt x="77" y="40"/>
                      <a:pt x="77" y="44"/>
                    </a:cubicBezTo>
                    <a:cubicBezTo>
                      <a:pt x="77" y="50"/>
                      <a:pt x="77" y="50"/>
                      <a:pt x="77" y="50"/>
                    </a:cubicBezTo>
                    <a:cubicBezTo>
                      <a:pt x="51" y="80"/>
                      <a:pt x="35" y="119"/>
                      <a:pt x="35" y="154"/>
                    </a:cubicBezTo>
                    <a:cubicBezTo>
                      <a:pt x="35" y="167"/>
                      <a:pt x="35" y="167"/>
                      <a:pt x="35" y="167"/>
                    </a:cubicBezTo>
                    <a:cubicBezTo>
                      <a:pt x="11" y="175"/>
                      <a:pt x="11" y="175"/>
                      <a:pt x="11" y="175"/>
                    </a:cubicBezTo>
                    <a:cubicBezTo>
                      <a:pt x="7" y="176"/>
                      <a:pt x="5" y="179"/>
                      <a:pt x="4" y="183"/>
                    </a:cubicBezTo>
                    <a:cubicBezTo>
                      <a:pt x="3" y="185"/>
                      <a:pt x="0" y="204"/>
                      <a:pt x="3" y="218"/>
                    </a:cubicBezTo>
                    <a:cubicBezTo>
                      <a:pt x="7" y="232"/>
                      <a:pt x="22" y="259"/>
                      <a:pt x="24" y="262"/>
                    </a:cubicBezTo>
                    <a:cubicBezTo>
                      <a:pt x="25" y="263"/>
                      <a:pt x="25" y="263"/>
                      <a:pt x="26" y="264"/>
                    </a:cubicBezTo>
                    <a:cubicBezTo>
                      <a:pt x="36" y="275"/>
                      <a:pt x="106" y="278"/>
                      <a:pt x="163" y="278"/>
                    </a:cubicBezTo>
                    <a:cubicBezTo>
                      <a:pt x="219" y="278"/>
                      <a:pt x="289" y="275"/>
                      <a:pt x="300" y="264"/>
                    </a:cubicBezTo>
                    <a:cubicBezTo>
                      <a:pt x="300" y="263"/>
                      <a:pt x="301" y="263"/>
                      <a:pt x="301" y="262"/>
                    </a:cubicBezTo>
                    <a:cubicBezTo>
                      <a:pt x="303" y="259"/>
                      <a:pt x="318" y="232"/>
                      <a:pt x="322" y="218"/>
                    </a:cubicBezTo>
                    <a:cubicBezTo>
                      <a:pt x="326" y="204"/>
                      <a:pt x="322" y="185"/>
                      <a:pt x="321" y="183"/>
                    </a:cubicBezTo>
                    <a:close/>
                    <a:moveTo>
                      <a:pt x="56" y="154"/>
                    </a:moveTo>
                    <a:cubicBezTo>
                      <a:pt x="56" y="126"/>
                      <a:pt x="67" y="103"/>
                      <a:pt x="77" y="86"/>
                    </a:cubicBezTo>
                    <a:cubicBezTo>
                      <a:pt x="77" y="144"/>
                      <a:pt x="77" y="144"/>
                      <a:pt x="77" y="144"/>
                    </a:cubicBezTo>
                    <a:cubicBezTo>
                      <a:pt x="77" y="150"/>
                      <a:pt x="82" y="155"/>
                      <a:pt x="88" y="155"/>
                    </a:cubicBezTo>
                    <a:cubicBezTo>
                      <a:pt x="94" y="155"/>
                      <a:pt x="99" y="150"/>
                      <a:pt x="99" y="144"/>
                    </a:cubicBezTo>
                    <a:cubicBezTo>
                      <a:pt x="99" y="51"/>
                      <a:pt x="99" y="51"/>
                      <a:pt x="99" y="51"/>
                    </a:cubicBezTo>
                    <a:cubicBezTo>
                      <a:pt x="101" y="50"/>
                      <a:pt x="102" y="49"/>
                      <a:pt x="104" y="48"/>
                    </a:cubicBezTo>
                    <a:cubicBezTo>
                      <a:pt x="114" y="43"/>
                      <a:pt x="122" y="39"/>
                      <a:pt x="131" y="36"/>
                    </a:cubicBezTo>
                    <a:cubicBezTo>
                      <a:pt x="131" y="80"/>
                      <a:pt x="131" y="80"/>
                      <a:pt x="131" y="80"/>
                    </a:cubicBezTo>
                    <a:cubicBezTo>
                      <a:pt x="124" y="91"/>
                      <a:pt x="124" y="91"/>
                      <a:pt x="124" y="91"/>
                    </a:cubicBezTo>
                    <a:cubicBezTo>
                      <a:pt x="121" y="96"/>
                      <a:pt x="122" y="102"/>
                      <a:pt x="127" y="105"/>
                    </a:cubicBezTo>
                    <a:cubicBezTo>
                      <a:pt x="132" y="108"/>
                      <a:pt x="139" y="107"/>
                      <a:pt x="142" y="102"/>
                    </a:cubicBezTo>
                    <a:cubicBezTo>
                      <a:pt x="150" y="88"/>
                      <a:pt x="150" y="88"/>
                      <a:pt x="150" y="88"/>
                    </a:cubicBezTo>
                    <a:cubicBezTo>
                      <a:pt x="151" y="87"/>
                      <a:pt x="152" y="85"/>
                      <a:pt x="152" y="83"/>
                    </a:cubicBezTo>
                    <a:cubicBezTo>
                      <a:pt x="152" y="23"/>
                      <a:pt x="152" y="23"/>
                      <a:pt x="152" y="23"/>
                    </a:cubicBezTo>
                    <a:cubicBezTo>
                      <a:pt x="152" y="23"/>
                      <a:pt x="152" y="23"/>
                      <a:pt x="152" y="22"/>
                    </a:cubicBezTo>
                    <a:cubicBezTo>
                      <a:pt x="152" y="22"/>
                      <a:pt x="152" y="22"/>
                      <a:pt x="152" y="22"/>
                    </a:cubicBezTo>
                    <a:cubicBezTo>
                      <a:pt x="173" y="22"/>
                      <a:pt x="173" y="22"/>
                      <a:pt x="173" y="22"/>
                    </a:cubicBezTo>
                    <a:cubicBezTo>
                      <a:pt x="173" y="23"/>
                      <a:pt x="173" y="23"/>
                      <a:pt x="173" y="23"/>
                    </a:cubicBezTo>
                    <a:cubicBezTo>
                      <a:pt x="173" y="83"/>
                      <a:pt x="173" y="83"/>
                      <a:pt x="173" y="83"/>
                    </a:cubicBezTo>
                    <a:cubicBezTo>
                      <a:pt x="173" y="85"/>
                      <a:pt x="174" y="87"/>
                      <a:pt x="175" y="88"/>
                    </a:cubicBezTo>
                    <a:cubicBezTo>
                      <a:pt x="184" y="102"/>
                      <a:pt x="184" y="102"/>
                      <a:pt x="184" y="102"/>
                    </a:cubicBezTo>
                    <a:cubicBezTo>
                      <a:pt x="187" y="107"/>
                      <a:pt x="193" y="108"/>
                      <a:pt x="198" y="105"/>
                    </a:cubicBezTo>
                    <a:cubicBezTo>
                      <a:pt x="203" y="102"/>
                      <a:pt x="205" y="96"/>
                      <a:pt x="202" y="91"/>
                    </a:cubicBezTo>
                    <a:cubicBezTo>
                      <a:pt x="195" y="80"/>
                      <a:pt x="195" y="80"/>
                      <a:pt x="195" y="80"/>
                    </a:cubicBezTo>
                    <a:cubicBezTo>
                      <a:pt x="195" y="36"/>
                      <a:pt x="195" y="36"/>
                      <a:pt x="195" y="36"/>
                    </a:cubicBezTo>
                    <a:cubicBezTo>
                      <a:pt x="204" y="39"/>
                      <a:pt x="211" y="43"/>
                      <a:pt x="221" y="48"/>
                    </a:cubicBezTo>
                    <a:cubicBezTo>
                      <a:pt x="223" y="49"/>
                      <a:pt x="225" y="50"/>
                      <a:pt x="227" y="51"/>
                    </a:cubicBezTo>
                    <a:cubicBezTo>
                      <a:pt x="227" y="144"/>
                      <a:pt x="227" y="144"/>
                      <a:pt x="227" y="144"/>
                    </a:cubicBezTo>
                    <a:cubicBezTo>
                      <a:pt x="227" y="150"/>
                      <a:pt x="231" y="155"/>
                      <a:pt x="237" y="155"/>
                    </a:cubicBezTo>
                    <a:cubicBezTo>
                      <a:pt x="243" y="155"/>
                      <a:pt x="248" y="150"/>
                      <a:pt x="248" y="144"/>
                    </a:cubicBezTo>
                    <a:cubicBezTo>
                      <a:pt x="248" y="86"/>
                      <a:pt x="248" y="86"/>
                      <a:pt x="248" y="86"/>
                    </a:cubicBezTo>
                    <a:cubicBezTo>
                      <a:pt x="259" y="103"/>
                      <a:pt x="269" y="126"/>
                      <a:pt x="269" y="154"/>
                    </a:cubicBezTo>
                    <a:cubicBezTo>
                      <a:pt x="269" y="188"/>
                      <a:pt x="269" y="188"/>
                      <a:pt x="269" y="188"/>
                    </a:cubicBezTo>
                    <a:cubicBezTo>
                      <a:pt x="265" y="191"/>
                      <a:pt x="252" y="197"/>
                      <a:pt x="224" y="201"/>
                    </a:cubicBezTo>
                    <a:cubicBezTo>
                      <a:pt x="226" y="195"/>
                      <a:pt x="227" y="189"/>
                      <a:pt x="227" y="182"/>
                    </a:cubicBezTo>
                    <a:cubicBezTo>
                      <a:pt x="227" y="146"/>
                      <a:pt x="198" y="118"/>
                      <a:pt x="163" y="118"/>
                    </a:cubicBezTo>
                    <a:cubicBezTo>
                      <a:pt x="127" y="118"/>
                      <a:pt x="99" y="146"/>
                      <a:pt x="99" y="182"/>
                    </a:cubicBezTo>
                    <a:cubicBezTo>
                      <a:pt x="99" y="189"/>
                      <a:pt x="100" y="195"/>
                      <a:pt x="102" y="201"/>
                    </a:cubicBezTo>
                    <a:cubicBezTo>
                      <a:pt x="73" y="197"/>
                      <a:pt x="60" y="191"/>
                      <a:pt x="56" y="188"/>
                    </a:cubicBezTo>
                    <a:lnTo>
                      <a:pt x="56" y="154"/>
                    </a:lnTo>
                    <a:close/>
                    <a:moveTo>
                      <a:pt x="205" y="182"/>
                    </a:moveTo>
                    <a:cubicBezTo>
                      <a:pt x="205" y="205"/>
                      <a:pt x="186" y="224"/>
                      <a:pt x="163" y="224"/>
                    </a:cubicBezTo>
                    <a:cubicBezTo>
                      <a:pt x="139" y="224"/>
                      <a:pt x="120" y="205"/>
                      <a:pt x="120" y="182"/>
                    </a:cubicBezTo>
                    <a:cubicBezTo>
                      <a:pt x="120" y="158"/>
                      <a:pt x="139" y="139"/>
                      <a:pt x="163" y="139"/>
                    </a:cubicBezTo>
                    <a:cubicBezTo>
                      <a:pt x="186" y="139"/>
                      <a:pt x="205" y="158"/>
                      <a:pt x="205" y="182"/>
                    </a:cubicBezTo>
                    <a:close/>
                    <a:moveTo>
                      <a:pt x="301" y="213"/>
                    </a:moveTo>
                    <a:cubicBezTo>
                      <a:pt x="299" y="221"/>
                      <a:pt x="289" y="239"/>
                      <a:pt x="284" y="249"/>
                    </a:cubicBezTo>
                    <a:cubicBezTo>
                      <a:pt x="278" y="251"/>
                      <a:pt x="252" y="256"/>
                      <a:pt x="163" y="256"/>
                    </a:cubicBezTo>
                    <a:cubicBezTo>
                      <a:pt x="74" y="256"/>
                      <a:pt x="47" y="251"/>
                      <a:pt x="41" y="249"/>
                    </a:cubicBezTo>
                    <a:cubicBezTo>
                      <a:pt x="36" y="239"/>
                      <a:pt x="26" y="221"/>
                      <a:pt x="24" y="213"/>
                    </a:cubicBezTo>
                    <a:cubicBezTo>
                      <a:pt x="23" y="207"/>
                      <a:pt x="23" y="199"/>
                      <a:pt x="24" y="193"/>
                    </a:cubicBezTo>
                    <a:cubicBezTo>
                      <a:pt x="35" y="190"/>
                      <a:pt x="35" y="190"/>
                      <a:pt x="35" y="190"/>
                    </a:cubicBezTo>
                    <a:cubicBezTo>
                      <a:pt x="35" y="192"/>
                      <a:pt x="35" y="192"/>
                      <a:pt x="35" y="192"/>
                    </a:cubicBezTo>
                    <a:cubicBezTo>
                      <a:pt x="35" y="195"/>
                      <a:pt x="35" y="197"/>
                      <a:pt x="37" y="198"/>
                    </a:cubicBezTo>
                    <a:cubicBezTo>
                      <a:pt x="39" y="202"/>
                      <a:pt x="53" y="218"/>
                      <a:pt x="114" y="224"/>
                    </a:cubicBezTo>
                    <a:cubicBezTo>
                      <a:pt x="114" y="224"/>
                      <a:pt x="115" y="224"/>
                      <a:pt x="115" y="224"/>
                    </a:cubicBezTo>
                    <a:cubicBezTo>
                      <a:pt x="115" y="224"/>
                      <a:pt x="115" y="224"/>
                      <a:pt x="115" y="224"/>
                    </a:cubicBezTo>
                    <a:cubicBezTo>
                      <a:pt x="127" y="237"/>
                      <a:pt x="144" y="246"/>
                      <a:pt x="163" y="246"/>
                    </a:cubicBezTo>
                    <a:cubicBezTo>
                      <a:pt x="182" y="246"/>
                      <a:pt x="199" y="237"/>
                      <a:pt x="210" y="224"/>
                    </a:cubicBezTo>
                    <a:cubicBezTo>
                      <a:pt x="210" y="224"/>
                      <a:pt x="210" y="224"/>
                      <a:pt x="210" y="224"/>
                    </a:cubicBezTo>
                    <a:cubicBezTo>
                      <a:pt x="211" y="224"/>
                      <a:pt x="211" y="224"/>
                      <a:pt x="212" y="224"/>
                    </a:cubicBezTo>
                    <a:cubicBezTo>
                      <a:pt x="272" y="218"/>
                      <a:pt x="286" y="202"/>
                      <a:pt x="289" y="198"/>
                    </a:cubicBezTo>
                    <a:cubicBezTo>
                      <a:pt x="290" y="197"/>
                      <a:pt x="291" y="195"/>
                      <a:pt x="291" y="192"/>
                    </a:cubicBezTo>
                    <a:cubicBezTo>
                      <a:pt x="291" y="190"/>
                      <a:pt x="291" y="190"/>
                      <a:pt x="291" y="190"/>
                    </a:cubicBezTo>
                    <a:cubicBezTo>
                      <a:pt x="302" y="193"/>
                      <a:pt x="302" y="193"/>
                      <a:pt x="302" y="193"/>
                    </a:cubicBezTo>
                    <a:cubicBezTo>
                      <a:pt x="302" y="199"/>
                      <a:pt x="303" y="207"/>
                      <a:pt x="301" y="213"/>
                    </a:cubicBezTo>
                    <a:close/>
                    <a:moveTo>
                      <a:pt x="131" y="182"/>
                    </a:moveTo>
                    <a:cubicBezTo>
                      <a:pt x="131" y="199"/>
                      <a:pt x="145" y="214"/>
                      <a:pt x="163" y="214"/>
                    </a:cubicBezTo>
                    <a:cubicBezTo>
                      <a:pt x="180" y="214"/>
                      <a:pt x="195" y="199"/>
                      <a:pt x="195" y="182"/>
                    </a:cubicBezTo>
                    <a:cubicBezTo>
                      <a:pt x="195" y="164"/>
                      <a:pt x="180" y="150"/>
                      <a:pt x="163" y="150"/>
                    </a:cubicBezTo>
                    <a:cubicBezTo>
                      <a:pt x="145" y="150"/>
                      <a:pt x="131" y="164"/>
                      <a:pt x="131" y="182"/>
                    </a:cubicBezTo>
                    <a:close/>
                    <a:moveTo>
                      <a:pt x="173" y="182"/>
                    </a:moveTo>
                    <a:cubicBezTo>
                      <a:pt x="173" y="188"/>
                      <a:pt x="169" y="192"/>
                      <a:pt x="163" y="192"/>
                    </a:cubicBezTo>
                    <a:cubicBezTo>
                      <a:pt x="157" y="192"/>
                      <a:pt x="152" y="188"/>
                      <a:pt x="152" y="182"/>
                    </a:cubicBezTo>
                    <a:cubicBezTo>
                      <a:pt x="152" y="176"/>
                      <a:pt x="157" y="171"/>
                      <a:pt x="163" y="171"/>
                    </a:cubicBezTo>
                    <a:cubicBezTo>
                      <a:pt x="169" y="171"/>
                      <a:pt x="173" y="176"/>
                      <a:pt x="173" y="18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466" name="Group 749"/>
            <p:cNvGrpSpPr>
              <a:grpSpLocks noChangeAspect="1"/>
            </p:cNvGrpSpPr>
            <p:nvPr/>
          </p:nvGrpSpPr>
          <p:grpSpPr bwMode="auto">
            <a:xfrm>
              <a:off x="6759484" y="5089755"/>
              <a:ext cx="369676" cy="369676"/>
              <a:chOff x="3520" y="2686"/>
              <a:chExt cx="340" cy="340"/>
            </a:xfrm>
            <a:solidFill>
              <a:schemeClr val="bg1"/>
            </a:solidFill>
          </p:grpSpPr>
          <p:sp>
            <p:nvSpPr>
              <p:cNvPr id="476" name="Freeform 750"/>
              <p:cNvSpPr>
                <a:spLocks noEditPoints="1"/>
              </p:cNvSpPr>
              <p:nvPr/>
            </p:nvSpPr>
            <p:spPr bwMode="auto">
              <a:xfrm>
                <a:off x="3520" y="268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77" name="Freeform 751"/>
              <p:cNvSpPr>
                <a:spLocks/>
              </p:cNvSpPr>
              <p:nvPr/>
            </p:nvSpPr>
            <p:spPr bwMode="auto">
              <a:xfrm>
                <a:off x="3582" y="2789"/>
                <a:ext cx="144" cy="137"/>
              </a:xfrm>
              <a:custGeom>
                <a:avLst/>
                <a:gdLst>
                  <a:gd name="T0" fmla="*/ 209 w 216"/>
                  <a:gd name="T1" fmla="*/ 187 h 207"/>
                  <a:gd name="T2" fmla="*/ 171 w 216"/>
                  <a:gd name="T3" fmla="*/ 179 h 207"/>
                  <a:gd name="T4" fmla="*/ 156 w 216"/>
                  <a:gd name="T5" fmla="*/ 177 h 207"/>
                  <a:gd name="T6" fmla="*/ 145 w 216"/>
                  <a:gd name="T7" fmla="*/ 147 h 207"/>
                  <a:gd name="T8" fmla="*/ 167 w 216"/>
                  <a:gd name="T9" fmla="*/ 96 h 207"/>
                  <a:gd name="T10" fmla="*/ 157 w 216"/>
                  <a:gd name="T11" fmla="*/ 22 h 207"/>
                  <a:gd name="T12" fmla="*/ 108 w 216"/>
                  <a:gd name="T13" fmla="*/ 0 h 207"/>
                  <a:gd name="T14" fmla="*/ 59 w 216"/>
                  <a:gd name="T15" fmla="*/ 22 h 207"/>
                  <a:gd name="T16" fmla="*/ 50 w 216"/>
                  <a:gd name="T17" fmla="*/ 96 h 207"/>
                  <a:gd name="T18" fmla="*/ 72 w 216"/>
                  <a:gd name="T19" fmla="*/ 147 h 207"/>
                  <a:gd name="T20" fmla="*/ 61 w 216"/>
                  <a:gd name="T21" fmla="*/ 177 h 207"/>
                  <a:gd name="T22" fmla="*/ 45 w 216"/>
                  <a:gd name="T23" fmla="*/ 179 h 207"/>
                  <a:gd name="T24" fmla="*/ 8 w 216"/>
                  <a:gd name="T25" fmla="*/ 187 h 207"/>
                  <a:gd name="T26" fmla="*/ 3 w 216"/>
                  <a:gd name="T27" fmla="*/ 201 h 207"/>
                  <a:gd name="T28" fmla="*/ 12 w 216"/>
                  <a:gd name="T29" fmla="*/ 207 h 207"/>
                  <a:gd name="T30" fmla="*/ 17 w 216"/>
                  <a:gd name="T31" fmla="*/ 206 h 207"/>
                  <a:gd name="T32" fmla="*/ 46 w 216"/>
                  <a:gd name="T33" fmla="*/ 200 h 207"/>
                  <a:gd name="T34" fmla="*/ 71 w 216"/>
                  <a:gd name="T35" fmla="*/ 195 h 207"/>
                  <a:gd name="T36" fmla="*/ 91 w 216"/>
                  <a:gd name="T37" fmla="*/ 162 h 207"/>
                  <a:gd name="T38" fmla="*/ 90 w 216"/>
                  <a:gd name="T39" fmla="*/ 135 h 207"/>
                  <a:gd name="T40" fmla="*/ 71 w 216"/>
                  <a:gd name="T41" fmla="*/ 91 h 207"/>
                  <a:gd name="T42" fmla="*/ 76 w 216"/>
                  <a:gd name="T43" fmla="*/ 36 h 207"/>
                  <a:gd name="T44" fmla="*/ 108 w 216"/>
                  <a:gd name="T45" fmla="*/ 22 h 207"/>
                  <a:gd name="T46" fmla="*/ 108 w 216"/>
                  <a:gd name="T47" fmla="*/ 21 h 207"/>
                  <a:gd name="T48" fmla="*/ 109 w 216"/>
                  <a:gd name="T49" fmla="*/ 22 h 207"/>
                  <a:gd name="T50" fmla="*/ 141 w 216"/>
                  <a:gd name="T51" fmla="*/ 36 h 207"/>
                  <a:gd name="T52" fmla="*/ 146 w 216"/>
                  <a:gd name="T53" fmla="*/ 91 h 207"/>
                  <a:gd name="T54" fmla="*/ 127 w 216"/>
                  <a:gd name="T55" fmla="*/ 135 h 207"/>
                  <a:gd name="T56" fmla="*/ 125 w 216"/>
                  <a:gd name="T57" fmla="*/ 162 h 207"/>
                  <a:gd name="T58" fmla="*/ 146 w 216"/>
                  <a:gd name="T59" fmla="*/ 195 h 207"/>
                  <a:gd name="T60" fmla="*/ 170 w 216"/>
                  <a:gd name="T61" fmla="*/ 200 h 207"/>
                  <a:gd name="T62" fmla="*/ 200 w 216"/>
                  <a:gd name="T63" fmla="*/ 206 h 207"/>
                  <a:gd name="T64" fmla="*/ 204 w 216"/>
                  <a:gd name="T65" fmla="*/ 207 h 207"/>
                  <a:gd name="T66" fmla="*/ 214 w 216"/>
                  <a:gd name="T67" fmla="*/ 201 h 207"/>
                  <a:gd name="T68" fmla="*/ 209 w 216"/>
                  <a:gd name="T69" fmla="*/ 187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6" h="207">
                    <a:moveTo>
                      <a:pt x="209" y="187"/>
                    </a:moveTo>
                    <a:cubicBezTo>
                      <a:pt x="194" y="180"/>
                      <a:pt x="182" y="180"/>
                      <a:pt x="171" y="179"/>
                    </a:cubicBezTo>
                    <a:cubicBezTo>
                      <a:pt x="165" y="179"/>
                      <a:pt x="159" y="179"/>
                      <a:pt x="156" y="177"/>
                    </a:cubicBezTo>
                    <a:cubicBezTo>
                      <a:pt x="149" y="173"/>
                      <a:pt x="143" y="153"/>
                      <a:pt x="145" y="147"/>
                    </a:cubicBezTo>
                    <a:cubicBezTo>
                      <a:pt x="153" y="134"/>
                      <a:pt x="162" y="114"/>
                      <a:pt x="167" y="96"/>
                    </a:cubicBezTo>
                    <a:cubicBezTo>
                      <a:pt x="174" y="64"/>
                      <a:pt x="171" y="39"/>
                      <a:pt x="157" y="22"/>
                    </a:cubicBezTo>
                    <a:cubicBezTo>
                      <a:pt x="139" y="0"/>
                      <a:pt x="111" y="0"/>
                      <a:pt x="108" y="0"/>
                    </a:cubicBezTo>
                    <a:cubicBezTo>
                      <a:pt x="106" y="0"/>
                      <a:pt x="77" y="0"/>
                      <a:pt x="59" y="22"/>
                    </a:cubicBezTo>
                    <a:cubicBezTo>
                      <a:pt x="45" y="39"/>
                      <a:pt x="42" y="64"/>
                      <a:pt x="50" y="96"/>
                    </a:cubicBezTo>
                    <a:cubicBezTo>
                      <a:pt x="54" y="114"/>
                      <a:pt x="63" y="134"/>
                      <a:pt x="72" y="147"/>
                    </a:cubicBezTo>
                    <a:cubicBezTo>
                      <a:pt x="73" y="153"/>
                      <a:pt x="67" y="173"/>
                      <a:pt x="61" y="177"/>
                    </a:cubicBezTo>
                    <a:cubicBezTo>
                      <a:pt x="57" y="179"/>
                      <a:pt x="52" y="179"/>
                      <a:pt x="45" y="179"/>
                    </a:cubicBezTo>
                    <a:cubicBezTo>
                      <a:pt x="35" y="180"/>
                      <a:pt x="22" y="180"/>
                      <a:pt x="8" y="187"/>
                    </a:cubicBezTo>
                    <a:cubicBezTo>
                      <a:pt x="2" y="189"/>
                      <a:pt x="0" y="196"/>
                      <a:pt x="3" y="201"/>
                    </a:cubicBezTo>
                    <a:cubicBezTo>
                      <a:pt x="4" y="205"/>
                      <a:pt x="8" y="207"/>
                      <a:pt x="12" y="207"/>
                    </a:cubicBezTo>
                    <a:cubicBezTo>
                      <a:pt x="14" y="207"/>
                      <a:pt x="15" y="207"/>
                      <a:pt x="17" y="206"/>
                    </a:cubicBezTo>
                    <a:cubicBezTo>
                      <a:pt x="28" y="201"/>
                      <a:pt x="37" y="201"/>
                      <a:pt x="46" y="200"/>
                    </a:cubicBezTo>
                    <a:cubicBezTo>
                      <a:pt x="55" y="200"/>
                      <a:pt x="63" y="200"/>
                      <a:pt x="71" y="195"/>
                    </a:cubicBezTo>
                    <a:cubicBezTo>
                      <a:pt x="85" y="188"/>
                      <a:pt x="90" y="168"/>
                      <a:pt x="91" y="162"/>
                    </a:cubicBezTo>
                    <a:cubicBezTo>
                      <a:pt x="93" y="153"/>
                      <a:pt x="95" y="142"/>
                      <a:pt x="90" y="135"/>
                    </a:cubicBezTo>
                    <a:cubicBezTo>
                      <a:pt x="82" y="125"/>
                      <a:pt x="74" y="106"/>
                      <a:pt x="71" y="91"/>
                    </a:cubicBezTo>
                    <a:cubicBezTo>
                      <a:pt x="65" y="66"/>
                      <a:pt x="66" y="47"/>
                      <a:pt x="76" y="36"/>
                    </a:cubicBezTo>
                    <a:cubicBezTo>
                      <a:pt x="87" y="21"/>
                      <a:pt x="108" y="22"/>
                      <a:pt x="108" y="22"/>
                    </a:cubicBezTo>
                    <a:cubicBezTo>
                      <a:pt x="108" y="22"/>
                      <a:pt x="108" y="21"/>
                      <a:pt x="108" y="21"/>
                    </a:cubicBezTo>
                    <a:cubicBezTo>
                      <a:pt x="108" y="21"/>
                      <a:pt x="108" y="22"/>
                      <a:pt x="109" y="22"/>
                    </a:cubicBezTo>
                    <a:cubicBezTo>
                      <a:pt x="109" y="22"/>
                      <a:pt x="129" y="21"/>
                      <a:pt x="141" y="36"/>
                    </a:cubicBezTo>
                    <a:cubicBezTo>
                      <a:pt x="150" y="47"/>
                      <a:pt x="152" y="66"/>
                      <a:pt x="146" y="91"/>
                    </a:cubicBezTo>
                    <a:cubicBezTo>
                      <a:pt x="142" y="106"/>
                      <a:pt x="134" y="125"/>
                      <a:pt x="127" y="135"/>
                    </a:cubicBezTo>
                    <a:cubicBezTo>
                      <a:pt x="122" y="142"/>
                      <a:pt x="123" y="153"/>
                      <a:pt x="125" y="162"/>
                    </a:cubicBezTo>
                    <a:cubicBezTo>
                      <a:pt x="126" y="168"/>
                      <a:pt x="132" y="188"/>
                      <a:pt x="146" y="195"/>
                    </a:cubicBezTo>
                    <a:cubicBezTo>
                      <a:pt x="154" y="200"/>
                      <a:pt x="162" y="200"/>
                      <a:pt x="170" y="200"/>
                    </a:cubicBezTo>
                    <a:cubicBezTo>
                      <a:pt x="179" y="201"/>
                      <a:pt x="189" y="201"/>
                      <a:pt x="200" y="206"/>
                    </a:cubicBezTo>
                    <a:cubicBezTo>
                      <a:pt x="201" y="207"/>
                      <a:pt x="203" y="207"/>
                      <a:pt x="204" y="207"/>
                    </a:cubicBezTo>
                    <a:cubicBezTo>
                      <a:pt x="208" y="207"/>
                      <a:pt x="212" y="205"/>
                      <a:pt x="214" y="201"/>
                    </a:cubicBezTo>
                    <a:cubicBezTo>
                      <a:pt x="216" y="196"/>
                      <a:pt x="214" y="189"/>
                      <a:pt x="209" y="18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78" name="Freeform 752"/>
              <p:cNvSpPr>
                <a:spLocks/>
              </p:cNvSpPr>
              <p:nvPr/>
            </p:nvSpPr>
            <p:spPr bwMode="auto">
              <a:xfrm>
                <a:off x="3702" y="2802"/>
                <a:ext cx="95" cy="111"/>
              </a:xfrm>
              <a:custGeom>
                <a:avLst/>
                <a:gdLst>
                  <a:gd name="T0" fmla="*/ 136 w 143"/>
                  <a:gd name="T1" fmla="*/ 147 h 167"/>
                  <a:gd name="T2" fmla="*/ 109 w 143"/>
                  <a:gd name="T3" fmla="*/ 139 h 167"/>
                  <a:gd name="T4" fmla="*/ 95 w 143"/>
                  <a:gd name="T5" fmla="*/ 136 h 167"/>
                  <a:gd name="T6" fmla="*/ 89 w 143"/>
                  <a:gd name="T7" fmla="*/ 118 h 167"/>
                  <a:gd name="T8" fmla="*/ 106 w 143"/>
                  <a:gd name="T9" fmla="*/ 78 h 167"/>
                  <a:gd name="T10" fmla="*/ 99 w 143"/>
                  <a:gd name="T11" fmla="*/ 20 h 167"/>
                  <a:gd name="T12" fmla="*/ 56 w 143"/>
                  <a:gd name="T13" fmla="*/ 1 h 167"/>
                  <a:gd name="T14" fmla="*/ 14 w 143"/>
                  <a:gd name="T15" fmla="*/ 20 h 167"/>
                  <a:gd name="T16" fmla="*/ 6 w 143"/>
                  <a:gd name="T17" fmla="*/ 78 h 167"/>
                  <a:gd name="T18" fmla="*/ 24 w 143"/>
                  <a:gd name="T19" fmla="*/ 118 h 167"/>
                  <a:gd name="T20" fmla="*/ 18 w 143"/>
                  <a:gd name="T21" fmla="*/ 136 h 167"/>
                  <a:gd name="T22" fmla="*/ 16 w 143"/>
                  <a:gd name="T23" fmla="*/ 151 h 167"/>
                  <a:gd name="T24" fmla="*/ 24 w 143"/>
                  <a:gd name="T25" fmla="*/ 155 h 167"/>
                  <a:gd name="T26" fmla="*/ 31 w 143"/>
                  <a:gd name="T27" fmla="*/ 153 h 167"/>
                  <a:gd name="T28" fmla="*/ 41 w 143"/>
                  <a:gd name="T29" fmla="*/ 107 h 167"/>
                  <a:gd name="T30" fmla="*/ 27 w 143"/>
                  <a:gd name="T31" fmla="*/ 73 h 167"/>
                  <a:gd name="T32" fmla="*/ 31 w 143"/>
                  <a:gd name="T33" fmla="*/ 33 h 167"/>
                  <a:gd name="T34" fmla="*/ 56 w 143"/>
                  <a:gd name="T35" fmla="*/ 22 h 167"/>
                  <a:gd name="T36" fmla="*/ 82 w 143"/>
                  <a:gd name="T37" fmla="*/ 33 h 167"/>
                  <a:gd name="T38" fmla="*/ 86 w 143"/>
                  <a:gd name="T39" fmla="*/ 73 h 167"/>
                  <a:gd name="T40" fmla="*/ 71 w 143"/>
                  <a:gd name="T41" fmla="*/ 107 h 167"/>
                  <a:gd name="T42" fmla="*/ 82 w 143"/>
                  <a:gd name="T43" fmla="*/ 153 h 167"/>
                  <a:gd name="T44" fmla="*/ 83 w 143"/>
                  <a:gd name="T45" fmla="*/ 154 h 167"/>
                  <a:gd name="T46" fmla="*/ 106 w 143"/>
                  <a:gd name="T47" fmla="*/ 160 h 167"/>
                  <a:gd name="T48" fmla="*/ 125 w 143"/>
                  <a:gd name="T49" fmla="*/ 165 h 167"/>
                  <a:gd name="T50" fmla="*/ 131 w 143"/>
                  <a:gd name="T51" fmla="*/ 167 h 167"/>
                  <a:gd name="T52" fmla="*/ 140 w 143"/>
                  <a:gd name="T53" fmla="*/ 162 h 167"/>
                  <a:gd name="T54" fmla="*/ 136 w 143"/>
                  <a:gd name="T55" fmla="*/ 14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3" h="167">
                    <a:moveTo>
                      <a:pt x="136" y="147"/>
                    </a:moveTo>
                    <a:cubicBezTo>
                      <a:pt x="128" y="142"/>
                      <a:pt x="118" y="140"/>
                      <a:pt x="109" y="139"/>
                    </a:cubicBezTo>
                    <a:cubicBezTo>
                      <a:pt x="104" y="138"/>
                      <a:pt x="98" y="137"/>
                      <a:pt x="95" y="136"/>
                    </a:cubicBezTo>
                    <a:cubicBezTo>
                      <a:pt x="89" y="131"/>
                      <a:pt x="88" y="121"/>
                      <a:pt x="89" y="118"/>
                    </a:cubicBezTo>
                    <a:cubicBezTo>
                      <a:pt x="96" y="109"/>
                      <a:pt x="103" y="93"/>
                      <a:pt x="106" y="78"/>
                    </a:cubicBezTo>
                    <a:cubicBezTo>
                      <a:pt x="112" y="53"/>
                      <a:pt x="110" y="34"/>
                      <a:pt x="99" y="20"/>
                    </a:cubicBezTo>
                    <a:cubicBezTo>
                      <a:pt x="83" y="0"/>
                      <a:pt x="58" y="1"/>
                      <a:pt x="56" y="1"/>
                    </a:cubicBezTo>
                    <a:cubicBezTo>
                      <a:pt x="54" y="1"/>
                      <a:pt x="30" y="0"/>
                      <a:pt x="14" y="20"/>
                    </a:cubicBezTo>
                    <a:cubicBezTo>
                      <a:pt x="3" y="34"/>
                      <a:pt x="0" y="53"/>
                      <a:pt x="6" y="78"/>
                    </a:cubicBezTo>
                    <a:cubicBezTo>
                      <a:pt x="10" y="93"/>
                      <a:pt x="17" y="109"/>
                      <a:pt x="24" y="118"/>
                    </a:cubicBezTo>
                    <a:cubicBezTo>
                      <a:pt x="25" y="121"/>
                      <a:pt x="24" y="132"/>
                      <a:pt x="18" y="136"/>
                    </a:cubicBezTo>
                    <a:cubicBezTo>
                      <a:pt x="13" y="140"/>
                      <a:pt x="12" y="146"/>
                      <a:pt x="16" y="151"/>
                    </a:cubicBezTo>
                    <a:cubicBezTo>
                      <a:pt x="18" y="154"/>
                      <a:pt x="21" y="155"/>
                      <a:pt x="24" y="155"/>
                    </a:cubicBezTo>
                    <a:cubicBezTo>
                      <a:pt x="26" y="155"/>
                      <a:pt x="29" y="155"/>
                      <a:pt x="31" y="153"/>
                    </a:cubicBezTo>
                    <a:cubicBezTo>
                      <a:pt x="45" y="142"/>
                      <a:pt x="49" y="118"/>
                      <a:pt x="41" y="107"/>
                    </a:cubicBezTo>
                    <a:cubicBezTo>
                      <a:pt x="36" y="99"/>
                      <a:pt x="30" y="85"/>
                      <a:pt x="27" y="73"/>
                    </a:cubicBezTo>
                    <a:cubicBezTo>
                      <a:pt x="23" y="55"/>
                      <a:pt x="24" y="42"/>
                      <a:pt x="31" y="33"/>
                    </a:cubicBezTo>
                    <a:cubicBezTo>
                      <a:pt x="39" y="22"/>
                      <a:pt x="55" y="22"/>
                      <a:pt x="56" y="22"/>
                    </a:cubicBezTo>
                    <a:cubicBezTo>
                      <a:pt x="58" y="22"/>
                      <a:pt x="73" y="22"/>
                      <a:pt x="82" y="33"/>
                    </a:cubicBezTo>
                    <a:cubicBezTo>
                      <a:pt x="89" y="42"/>
                      <a:pt x="90" y="55"/>
                      <a:pt x="86" y="73"/>
                    </a:cubicBezTo>
                    <a:cubicBezTo>
                      <a:pt x="83" y="85"/>
                      <a:pt x="77" y="99"/>
                      <a:pt x="71" y="107"/>
                    </a:cubicBezTo>
                    <a:cubicBezTo>
                      <a:pt x="63" y="118"/>
                      <a:pt x="67" y="142"/>
                      <a:pt x="82" y="153"/>
                    </a:cubicBezTo>
                    <a:cubicBezTo>
                      <a:pt x="82" y="153"/>
                      <a:pt x="83" y="154"/>
                      <a:pt x="83" y="154"/>
                    </a:cubicBezTo>
                    <a:cubicBezTo>
                      <a:pt x="90" y="158"/>
                      <a:pt x="98" y="159"/>
                      <a:pt x="106" y="160"/>
                    </a:cubicBezTo>
                    <a:cubicBezTo>
                      <a:pt x="113" y="161"/>
                      <a:pt x="121" y="162"/>
                      <a:pt x="125" y="165"/>
                    </a:cubicBezTo>
                    <a:cubicBezTo>
                      <a:pt x="127" y="166"/>
                      <a:pt x="129" y="167"/>
                      <a:pt x="131" y="167"/>
                    </a:cubicBezTo>
                    <a:cubicBezTo>
                      <a:pt x="134" y="167"/>
                      <a:pt x="138" y="165"/>
                      <a:pt x="140" y="162"/>
                    </a:cubicBezTo>
                    <a:cubicBezTo>
                      <a:pt x="143" y="157"/>
                      <a:pt x="141" y="150"/>
                      <a:pt x="136" y="14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467" name="Group 285"/>
            <p:cNvGrpSpPr>
              <a:grpSpLocks noChangeAspect="1"/>
            </p:cNvGrpSpPr>
            <p:nvPr/>
          </p:nvGrpSpPr>
          <p:grpSpPr bwMode="auto">
            <a:xfrm>
              <a:off x="6762840" y="5847154"/>
              <a:ext cx="370763" cy="369676"/>
              <a:chOff x="388" y="758"/>
              <a:chExt cx="341" cy="340"/>
            </a:xfrm>
            <a:solidFill>
              <a:schemeClr val="bg1"/>
            </a:solidFill>
          </p:grpSpPr>
          <p:sp>
            <p:nvSpPr>
              <p:cNvPr id="474" name="Freeform 286"/>
              <p:cNvSpPr>
                <a:spLocks noEditPoints="1"/>
              </p:cNvSpPr>
              <p:nvPr/>
            </p:nvSpPr>
            <p:spPr bwMode="auto">
              <a:xfrm>
                <a:off x="462" y="834"/>
                <a:ext cx="192" cy="192"/>
              </a:xfrm>
              <a:custGeom>
                <a:avLst/>
                <a:gdLst>
                  <a:gd name="T0" fmla="*/ 43 w 289"/>
                  <a:gd name="T1" fmla="*/ 289 h 289"/>
                  <a:gd name="T2" fmla="*/ 13 w 289"/>
                  <a:gd name="T3" fmla="*/ 276 h 289"/>
                  <a:gd name="T4" fmla="*/ 0 w 289"/>
                  <a:gd name="T5" fmla="*/ 246 h 289"/>
                  <a:gd name="T6" fmla="*/ 13 w 289"/>
                  <a:gd name="T7" fmla="*/ 216 h 289"/>
                  <a:gd name="T8" fmla="*/ 118 w 289"/>
                  <a:gd name="T9" fmla="*/ 111 h 289"/>
                  <a:gd name="T10" fmla="*/ 140 w 289"/>
                  <a:gd name="T11" fmla="*/ 29 h 289"/>
                  <a:gd name="T12" fmla="*/ 156 w 289"/>
                  <a:gd name="T13" fmla="*/ 16 h 289"/>
                  <a:gd name="T14" fmla="*/ 229 w 289"/>
                  <a:gd name="T15" fmla="*/ 9 h 289"/>
                  <a:gd name="T16" fmla="*/ 235 w 289"/>
                  <a:gd name="T17" fmla="*/ 16 h 289"/>
                  <a:gd name="T18" fmla="*/ 233 w 289"/>
                  <a:gd name="T19" fmla="*/ 26 h 289"/>
                  <a:gd name="T20" fmla="*/ 194 w 289"/>
                  <a:gd name="T21" fmla="*/ 65 h 289"/>
                  <a:gd name="T22" fmla="*/ 208 w 289"/>
                  <a:gd name="T23" fmla="*/ 81 h 289"/>
                  <a:gd name="T24" fmla="*/ 224 w 289"/>
                  <a:gd name="T25" fmla="*/ 95 h 289"/>
                  <a:gd name="T26" fmla="*/ 263 w 289"/>
                  <a:gd name="T27" fmla="*/ 56 h 289"/>
                  <a:gd name="T28" fmla="*/ 273 w 289"/>
                  <a:gd name="T29" fmla="*/ 54 h 289"/>
                  <a:gd name="T30" fmla="*/ 280 w 289"/>
                  <a:gd name="T31" fmla="*/ 60 h 289"/>
                  <a:gd name="T32" fmla="*/ 273 w 289"/>
                  <a:gd name="T33" fmla="*/ 133 h 289"/>
                  <a:gd name="T34" fmla="*/ 273 w 289"/>
                  <a:gd name="T35" fmla="*/ 133 h 289"/>
                  <a:gd name="T36" fmla="*/ 260 w 289"/>
                  <a:gd name="T37" fmla="*/ 149 h 289"/>
                  <a:gd name="T38" fmla="*/ 178 w 289"/>
                  <a:gd name="T39" fmla="*/ 171 h 289"/>
                  <a:gd name="T40" fmla="*/ 73 w 289"/>
                  <a:gd name="T41" fmla="*/ 276 h 289"/>
                  <a:gd name="T42" fmla="*/ 43 w 289"/>
                  <a:gd name="T43" fmla="*/ 289 h 289"/>
                  <a:gd name="T44" fmla="*/ 200 w 289"/>
                  <a:gd name="T45" fmla="*/ 25 h 289"/>
                  <a:gd name="T46" fmla="*/ 167 w 289"/>
                  <a:gd name="T47" fmla="*/ 34 h 289"/>
                  <a:gd name="T48" fmla="*/ 155 w 289"/>
                  <a:gd name="T49" fmla="*/ 44 h 289"/>
                  <a:gd name="T50" fmla="*/ 140 w 289"/>
                  <a:gd name="T51" fmla="*/ 110 h 289"/>
                  <a:gd name="T52" fmla="*/ 137 w 289"/>
                  <a:gd name="T53" fmla="*/ 122 h 289"/>
                  <a:gd name="T54" fmla="*/ 28 w 289"/>
                  <a:gd name="T55" fmla="*/ 231 h 289"/>
                  <a:gd name="T56" fmla="*/ 22 w 289"/>
                  <a:gd name="T57" fmla="*/ 246 h 289"/>
                  <a:gd name="T58" fmla="*/ 28 w 289"/>
                  <a:gd name="T59" fmla="*/ 261 h 289"/>
                  <a:gd name="T60" fmla="*/ 58 w 289"/>
                  <a:gd name="T61" fmla="*/ 261 h 289"/>
                  <a:gd name="T62" fmla="*/ 167 w 289"/>
                  <a:gd name="T63" fmla="*/ 152 h 289"/>
                  <a:gd name="T64" fmla="*/ 179 w 289"/>
                  <a:gd name="T65" fmla="*/ 149 h 289"/>
                  <a:gd name="T66" fmla="*/ 245 w 289"/>
                  <a:gd name="T67" fmla="*/ 134 h 289"/>
                  <a:gd name="T68" fmla="*/ 255 w 289"/>
                  <a:gd name="T69" fmla="*/ 122 h 289"/>
                  <a:gd name="T70" fmla="*/ 255 w 289"/>
                  <a:gd name="T71" fmla="*/ 122 h 289"/>
                  <a:gd name="T72" fmla="*/ 264 w 289"/>
                  <a:gd name="T73" fmla="*/ 85 h 289"/>
                  <a:gd name="T74" fmla="*/ 232 w 289"/>
                  <a:gd name="T75" fmla="*/ 117 h 289"/>
                  <a:gd name="T76" fmla="*/ 219 w 289"/>
                  <a:gd name="T77" fmla="*/ 118 h 289"/>
                  <a:gd name="T78" fmla="*/ 192 w 289"/>
                  <a:gd name="T79" fmla="*/ 96 h 289"/>
                  <a:gd name="T80" fmla="*/ 171 w 289"/>
                  <a:gd name="T81" fmla="*/ 70 h 289"/>
                  <a:gd name="T82" fmla="*/ 172 w 289"/>
                  <a:gd name="T83" fmla="*/ 56 h 289"/>
                  <a:gd name="T84" fmla="*/ 204 w 289"/>
                  <a:gd name="T85" fmla="*/ 25 h 289"/>
                  <a:gd name="T86" fmla="*/ 200 w 289"/>
                  <a:gd name="T87" fmla="*/ 25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9" h="289">
                    <a:moveTo>
                      <a:pt x="43" y="289"/>
                    </a:moveTo>
                    <a:cubicBezTo>
                      <a:pt x="32" y="289"/>
                      <a:pt x="21" y="284"/>
                      <a:pt x="13" y="276"/>
                    </a:cubicBezTo>
                    <a:cubicBezTo>
                      <a:pt x="5" y="268"/>
                      <a:pt x="0" y="257"/>
                      <a:pt x="0" y="246"/>
                    </a:cubicBezTo>
                    <a:cubicBezTo>
                      <a:pt x="0" y="235"/>
                      <a:pt x="5" y="224"/>
                      <a:pt x="13" y="216"/>
                    </a:cubicBezTo>
                    <a:cubicBezTo>
                      <a:pt x="118" y="111"/>
                      <a:pt x="118" y="111"/>
                      <a:pt x="118" y="111"/>
                    </a:cubicBezTo>
                    <a:cubicBezTo>
                      <a:pt x="110" y="82"/>
                      <a:pt x="118" y="50"/>
                      <a:pt x="140" y="29"/>
                    </a:cubicBezTo>
                    <a:cubicBezTo>
                      <a:pt x="144" y="24"/>
                      <a:pt x="150" y="20"/>
                      <a:pt x="156" y="16"/>
                    </a:cubicBezTo>
                    <a:cubicBezTo>
                      <a:pt x="178" y="3"/>
                      <a:pt x="204" y="0"/>
                      <a:pt x="229" y="9"/>
                    </a:cubicBezTo>
                    <a:cubicBezTo>
                      <a:pt x="232" y="10"/>
                      <a:pt x="235" y="13"/>
                      <a:pt x="235" y="16"/>
                    </a:cubicBezTo>
                    <a:cubicBezTo>
                      <a:pt x="236" y="20"/>
                      <a:pt x="235" y="24"/>
                      <a:pt x="233" y="26"/>
                    </a:cubicBezTo>
                    <a:cubicBezTo>
                      <a:pt x="194" y="65"/>
                      <a:pt x="194" y="65"/>
                      <a:pt x="194" y="65"/>
                    </a:cubicBezTo>
                    <a:cubicBezTo>
                      <a:pt x="198" y="71"/>
                      <a:pt x="203" y="76"/>
                      <a:pt x="208" y="81"/>
                    </a:cubicBezTo>
                    <a:cubicBezTo>
                      <a:pt x="213" y="86"/>
                      <a:pt x="218" y="91"/>
                      <a:pt x="224" y="95"/>
                    </a:cubicBezTo>
                    <a:cubicBezTo>
                      <a:pt x="263" y="56"/>
                      <a:pt x="263" y="56"/>
                      <a:pt x="263" y="56"/>
                    </a:cubicBezTo>
                    <a:cubicBezTo>
                      <a:pt x="265" y="54"/>
                      <a:pt x="269" y="53"/>
                      <a:pt x="273" y="54"/>
                    </a:cubicBezTo>
                    <a:cubicBezTo>
                      <a:pt x="276" y="54"/>
                      <a:pt x="279" y="57"/>
                      <a:pt x="280" y="60"/>
                    </a:cubicBezTo>
                    <a:cubicBezTo>
                      <a:pt x="289" y="85"/>
                      <a:pt x="286" y="111"/>
                      <a:pt x="273" y="133"/>
                    </a:cubicBezTo>
                    <a:cubicBezTo>
                      <a:pt x="273" y="133"/>
                      <a:pt x="273" y="133"/>
                      <a:pt x="273" y="133"/>
                    </a:cubicBezTo>
                    <a:cubicBezTo>
                      <a:pt x="269" y="139"/>
                      <a:pt x="265" y="145"/>
                      <a:pt x="260" y="149"/>
                    </a:cubicBezTo>
                    <a:cubicBezTo>
                      <a:pt x="239" y="171"/>
                      <a:pt x="207" y="179"/>
                      <a:pt x="178" y="171"/>
                    </a:cubicBezTo>
                    <a:cubicBezTo>
                      <a:pt x="73" y="276"/>
                      <a:pt x="73" y="276"/>
                      <a:pt x="73" y="276"/>
                    </a:cubicBezTo>
                    <a:cubicBezTo>
                      <a:pt x="65" y="284"/>
                      <a:pt x="54" y="289"/>
                      <a:pt x="43" y="289"/>
                    </a:cubicBezTo>
                    <a:close/>
                    <a:moveTo>
                      <a:pt x="200" y="25"/>
                    </a:moveTo>
                    <a:cubicBezTo>
                      <a:pt x="188" y="25"/>
                      <a:pt x="177" y="28"/>
                      <a:pt x="167" y="34"/>
                    </a:cubicBezTo>
                    <a:cubicBezTo>
                      <a:pt x="162" y="37"/>
                      <a:pt x="158" y="40"/>
                      <a:pt x="155" y="44"/>
                    </a:cubicBezTo>
                    <a:cubicBezTo>
                      <a:pt x="137" y="61"/>
                      <a:pt x="132" y="87"/>
                      <a:pt x="140" y="110"/>
                    </a:cubicBezTo>
                    <a:cubicBezTo>
                      <a:pt x="141" y="114"/>
                      <a:pt x="140" y="119"/>
                      <a:pt x="137" y="122"/>
                    </a:cubicBezTo>
                    <a:cubicBezTo>
                      <a:pt x="28" y="231"/>
                      <a:pt x="28" y="231"/>
                      <a:pt x="28" y="231"/>
                    </a:cubicBezTo>
                    <a:cubicBezTo>
                      <a:pt x="24" y="235"/>
                      <a:pt x="22" y="240"/>
                      <a:pt x="22" y="246"/>
                    </a:cubicBezTo>
                    <a:cubicBezTo>
                      <a:pt x="22" y="252"/>
                      <a:pt x="24" y="257"/>
                      <a:pt x="28" y="261"/>
                    </a:cubicBezTo>
                    <a:cubicBezTo>
                      <a:pt x="36" y="269"/>
                      <a:pt x="50" y="269"/>
                      <a:pt x="58" y="261"/>
                    </a:cubicBezTo>
                    <a:cubicBezTo>
                      <a:pt x="167" y="152"/>
                      <a:pt x="167" y="152"/>
                      <a:pt x="167" y="152"/>
                    </a:cubicBezTo>
                    <a:cubicBezTo>
                      <a:pt x="170" y="149"/>
                      <a:pt x="175" y="148"/>
                      <a:pt x="179" y="149"/>
                    </a:cubicBezTo>
                    <a:cubicBezTo>
                      <a:pt x="202" y="157"/>
                      <a:pt x="228" y="152"/>
                      <a:pt x="245" y="134"/>
                    </a:cubicBezTo>
                    <a:cubicBezTo>
                      <a:pt x="249" y="131"/>
                      <a:pt x="252" y="127"/>
                      <a:pt x="255" y="122"/>
                    </a:cubicBezTo>
                    <a:cubicBezTo>
                      <a:pt x="255" y="122"/>
                      <a:pt x="255" y="122"/>
                      <a:pt x="255" y="122"/>
                    </a:cubicBezTo>
                    <a:cubicBezTo>
                      <a:pt x="261" y="111"/>
                      <a:pt x="265" y="98"/>
                      <a:pt x="264" y="85"/>
                    </a:cubicBezTo>
                    <a:cubicBezTo>
                      <a:pt x="232" y="117"/>
                      <a:pt x="232" y="117"/>
                      <a:pt x="232" y="117"/>
                    </a:cubicBezTo>
                    <a:cubicBezTo>
                      <a:pt x="229" y="120"/>
                      <a:pt x="223" y="121"/>
                      <a:pt x="219" y="118"/>
                    </a:cubicBezTo>
                    <a:cubicBezTo>
                      <a:pt x="210" y="112"/>
                      <a:pt x="201" y="105"/>
                      <a:pt x="192" y="96"/>
                    </a:cubicBezTo>
                    <a:cubicBezTo>
                      <a:pt x="184" y="88"/>
                      <a:pt x="177" y="79"/>
                      <a:pt x="171" y="70"/>
                    </a:cubicBezTo>
                    <a:cubicBezTo>
                      <a:pt x="168" y="66"/>
                      <a:pt x="169" y="60"/>
                      <a:pt x="172" y="56"/>
                    </a:cubicBezTo>
                    <a:cubicBezTo>
                      <a:pt x="204" y="25"/>
                      <a:pt x="204" y="25"/>
                      <a:pt x="204" y="25"/>
                    </a:cubicBezTo>
                    <a:cubicBezTo>
                      <a:pt x="202" y="25"/>
                      <a:pt x="201" y="25"/>
                      <a:pt x="200" y="2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75" name="Freeform 287"/>
              <p:cNvSpPr>
                <a:spLocks noEditPoints="1"/>
              </p:cNvSpPr>
              <p:nvPr/>
            </p:nvSpPr>
            <p:spPr bwMode="auto">
              <a:xfrm>
                <a:off x="388" y="758"/>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468" name="TextBox 467"/>
            <p:cNvSpPr txBox="1"/>
            <p:nvPr/>
          </p:nvSpPr>
          <p:spPr>
            <a:xfrm>
              <a:off x="6852611" y="1599918"/>
              <a:ext cx="4362506" cy="215444"/>
            </a:xfrm>
            <a:prstGeom prst="rect">
              <a:avLst/>
            </a:prstGeom>
            <a:noFill/>
          </p:spPr>
          <p:txBody>
            <a:bodyPr wrap="square" lIns="0" tIns="0" rIns="0" bIns="0" rtlCol="0">
              <a:spAutoFit/>
            </a:bodyPr>
            <a:lstStyle/>
            <a:p>
              <a:pPr>
                <a:spcBef>
                  <a:spcPts val="600"/>
                </a:spcBef>
                <a:buSzPct val="100000"/>
              </a:pPr>
              <a:r>
                <a:rPr lang="en-IN" sz="1400" b="1" dirty="0">
                  <a:solidFill>
                    <a:srgbClr val="313131"/>
                  </a:solidFill>
                </a:rPr>
                <a:t>SMART PMO Framework</a:t>
              </a:r>
            </a:p>
          </p:txBody>
        </p:sp>
        <p:sp>
          <p:nvSpPr>
            <p:cNvPr id="469" name="Right Arrow 468"/>
            <p:cNvSpPr/>
            <p:nvPr/>
          </p:nvSpPr>
          <p:spPr bwMode="gray">
            <a:xfrm>
              <a:off x="4698480" y="3088768"/>
              <a:ext cx="904760" cy="673711"/>
            </a:xfrm>
            <a:prstGeom prst="rightArrow">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470" name="Right Arrow 469"/>
            <p:cNvSpPr/>
            <p:nvPr/>
          </p:nvSpPr>
          <p:spPr bwMode="gray">
            <a:xfrm>
              <a:off x="4694554" y="4576787"/>
              <a:ext cx="904760" cy="673711"/>
            </a:xfrm>
            <a:prstGeom prst="rightArrow">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471" name="Freeform 45"/>
            <p:cNvSpPr>
              <a:spLocks noChangeAspect="1" noEditPoints="1"/>
            </p:cNvSpPr>
            <p:nvPr/>
          </p:nvSpPr>
          <p:spPr bwMode="auto">
            <a:xfrm>
              <a:off x="3713171" y="5242723"/>
              <a:ext cx="458728" cy="475285"/>
            </a:xfrm>
            <a:custGeom>
              <a:avLst/>
              <a:gdLst>
                <a:gd name="T0" fmla="*/ 445 w 511"/>
                <a:gd name="T1" fmla="*/ 483 h 510"/>
                <a:gd name="T2" fmla="*/ 445 w 511"/>
                <a:gd name="T3" fmla="*/ 483 h 510"/>
                <a:gd name="T4" fmla="*/ 408 w 511"/>
                <a:gd name="T5" fmla="*/ 445 h 510"/>
                <a:gd name="T6" fmla="*/ 445 w 511"/>
                <a:gd name="T7" fmla="*/ 408 h 510"/>
                <a:gd name="T8" fmla="*/ 483 w 511"/>
                <a:gd name="T9" fmla="*/ 445 h 510"/>
                <a:gd name="T10" fmla="*/ 445 w 511"/>
                <a:gd name="T11" fmla="*/ 483 h 510"/>
                <a:gd name="T12" fmla="*/ 293 w 511"/>
                <a:gd name="T13" fmla="*/ 445 h 510"/>
                <a:gd name="T14" fmla="*/ 293 w 511"/>
                <a:gd name="T15" fmla="*/ 445 h 510"/>
                <a:gd name="T16" fmla="*/ 255 w 511"/>
                <a:gd name="T17" fmla="*/ 483 h 510"/>
                <a:gd name="T18" fmla="*/ 217 w 511"/>
                <a:gd name="T19" fmla="*/ 445 h 510"/>
                <a:gd name="T20" fmla="*/ 255 w 511"/>
                <a:gd name="T21" fmla="*/ 408 h 510"/>
                <a:gd name="T22" fmla="*/ 293 w 511"/>
                <a:gd name="T23" fmla="*/ 445 h 510"/>
                <a:gd name="T24" fmla="*/ 217 w 511"/>
                <a:gd name="T25" fmla="*/ 65 h 510"/>
                <a:gd name="T26" fmla="*/ 217 w 511"/>
                <a:gd name="T27" fmla="*/ 65 h 510"/>
                <a:gd name="T28" fmla="*/ 255 w 511"/>
                <a:gd name="T29" fmla="*/ 27 h 510"/>
                <a:gd name="T30" fmla="*/ 293 w 511"/>
                <a:gd name="T31" fmla="*/ 65 h 510"/>
                <a:gd name="T32" fmla="*/ 255 w 511"/>
                <a:gd name="T33" fmla="*/ 102 h 510"/>
                <a:gd name="T34" fmla="*/ 217 w 511"/>
                <a:gd name="T35" fmla="*/ 65 h 510"/>
                <a:gd name="T36" fmla="*/ 102 w 511"/>
                <a:gd name="T37" fmla="*/ 445 h 510"/>
                <a:gd name="T38" fmla="*/ 102 w 511"/>
                <a:gd name="T39" fmla="*/ 445 h 510"/>
                <a:gd name="T40" fmla="*/ 65 w 511"/>
                <a:gd name="T41" fmla="*/ 483 h 510"/>
                <a:gd name="T42" fmla="*/ 27 w 511"/>
                <a:gd name="T43" fmla="*/ 445 h 510"/>
                <a:gd name="T44" fmla="*/ 65 w 511"/>
                <a:gd name="T45" fmla="*/ 408 h 510"/>
                <a:gd name="T46" fmla="*/ 102 w 511"/>
                <a:gd name="T47" fmla="*/ 445 h 510"/>
                <a:gd name="T48" fmla="*/ 471 w 511"/>
                <a:gd name="T49" fmla="*/ 385 h 510"/>
                <a:gd name="T50" fmla="*/ 471 w 511"/>
                <a:gd name="T51" fmla="*/ 385 h 510"/>
                <a:gd name="T52" fmla="*/ 471 w 511"/>
                <a:gd name="T53" fmla="*/ 323 h 510"/>
                <a:gd name="T54" fmla="*/ 377 w 511"/>
                <a:gd name="T55" fmla="*/ 229 h 510"/>
                <a:gd name="T56" fmla="*/ 323 w 511"/>
                <a:gd name="T57" fmla="*/ 229 h 510"/>
                <a:gd name="T58" fmla="*/ 281 w 511"/>
                <a:gd name="T59" fmla="*/ 201 h 510"/>
                <a:gd name="T60" fmla="*/ 281 w 511"/>
                <a:gd name="T61" fmla="*/ 125 h 510"/>
                <a:gd name="T62" fmla="*/ 320 w 511"/>
                <a:gd name="T63" fmla="*/ 65 h 510"/>
                <a:gd name="T64" fmla="*/ 255 w 511"/>
                <a:gd name="T65" fmla="*/ 0 h 510"/>
                <a:gd name="T66" fmla="*/ 190 w 511"/>
                <a:gd name="T67" fmla="*/ 65 h 510"/>
                <a:gd name="T68" fmla="*/ 229 w 511"/>
                <a:gd name="T69" fmla="*/ 125 h 510"/>
                <a:gd name="T70" fmla="*/ 229 w 511"/>
                <a:gd name="T71" fmla="*/ 201 h 510"/>
                <a:gd name="T72" fmla="*/ 187 w 511"/>
                <a:gd name="T73" fmla="*/ 229 h 510"/>
                <a:gd name="T74" fmla="*/ 133 w 511"/>
                <a:gd name="T75" fmla="*/ 229 h 510"/>
                <a:gd name="T76" fmla="*/ 39 w 511"/>
                <a:gd name="T77" fmla="*/ 323 h 510"/>
                <a:gd name="T78" fmla="*/ 39 w 511"/>
                <a:gd name="T79" fmla="*/ 385 h 510"/>
                <a:gd name="T80" fmla="*/ 0 w 511"/>
                <a:gd name="T81" fmla="*/ 445 h 510"/>
                <a:gd name="T82" fmla="*/ 65 w 511"/>
                <a:gd name="T83" fmla="*/ 510 h 510"/>
                <a:gd name="T84" fmla="*/ 130 w 511"/>
                <a:gd name="T85" fmla="*/ 445 h 510"/>
                <a:gd name="T86" fmla="*/ 91 w 511"/>
                <a:gd name="T87" fmla="*/ 385 h 510"/>
                <a:gd name="T88" fmla="*/ 91 w 511"/>
                <a:gd name="T89" fmla="*/ 323 h 510"/>
                <a:gd name="T90" fmla="*/ 133 w 511"/>
                <a:gd name="T91" fmla="*/ 281 h 510"/>
                <a:gd name="T92" fmla="*/ 187 w 511"/>
                <a:gd name="T93" fmla="*/ 281 h 510"/>
                <a:gd name="T94" fmla="*/ 229 w 511"/>
                <a:gd name="T95" fmla="*/ 274 h 510"/>
                <a:gd name="T96" fmla="*/ 229 w 511"/>
                <a:gd name="T97" fmla="*/ 385 h 510"/>
                <a:gd name="T98" fmla="*/ 190 w 511"/>
                <a:gd name="T99" fmla="*/ 445 h 510"/>
                <a:gd name="T100" fmla="*/ 255 w 511"/>
                <a:gd name="T101" fmla="*/ 510 h 510"/>
                <a:gd name="T102" fmla="*/ 320 w 511"/>
                <a:gd name="T103" fmla="*/ 445 h 510"/>
                <a:gd name="T104" fmla="*/ 281 w 511"/>
                <a:gd name="T105" fmla="*/ 385 h 510"/>
                <a:gd name="T106" fmla="*/ 281 w 511"/>
                <a:gd name="T107" fmla="*/ 274 h 510"/>
                <a:gd name="T108" fmla="*/ 323 w 511"/>
                <a:gd name="T109" fmla="*/ 281 h 510"/>
                <a:gd name="T110" fmla="*/ 377 w 511"/>
                <a:gd name="T111" fmla="*/ 281 h 510"/>
                <a:gd name="T112" fmla="*/ 420 w 511"/>
                <a:gd name="T113" fmla="*/ 323 h 510"/>
                <a:gd name="T114" fmla="*/ 420 w 511"/>
                <a:gd name="T115" fmla="*/ 385 h 510"/>
                <a:gd name="T116" fmla="*/ 380 w 511"/>
                <a:gd name="T117" fmla="*/ 445 h 510"/>
                <a:gd name="T118" fmla="*/ 445 w 511"/>
                <a:gd name="T119" fmla="*/ 510 h 510"/>
                <a:gd name="T120" fmla="*/ 511 w 511"/>
                <a:gd name="T121" fmla="*/ 445 h 510"/>
                <a:gd name="T122" fmla="*/ 471 w 511"/>
                <a:gd name="T123" fmla="*/ 385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1" h="510">
                  <a:moveTo>
                    <a:pt x="445" y="483"/>
                  </a:moveTo>
                  <a:lnTo>
                    <a:pt x="445" y="483"/>
                  </a:lnTo>
                  <a:cubicBezTo>
                    <a:pt x="425" y="483"/>
                    <a:pt x="408" y="466"/>
                    <a:pt x="408" y="445"/>
                  </a:cubicBezTo>
                  <a:cubicBezTo>
                    <a:pt x="408" y="424"/>
                    <a:pt x="425" y="408"/>
                    <a:pt x="445" y="408"/>
                  </a:cubicBezTo>
                  <a:cubicBezTo>
                    <a:pt x="466" y="408"/>
                    <a:pt x="483" y="424"/>
                    <a:pt x="483" y="445"/>
                  </a:cubicBezTo>
                  <a:cubicBezTo>
                    <a:pt x="483" y="466"/>
                    <a:pt x="466" y="483"/>
                    <a:pt x="445" y="483"/>
                  </a:cubicBezTo>
                  <a:close/>
                  <a:moveTo>
                    <a:pt x="293" y="445"/>
                  </a:moveTo>
                  <a:lnTo>
                    <a:pt x="293" y="445"/>
                  </a:lnTo>
                  <a:cubicBezTo>
                    <a:pt x="293" y="466"/>
                    <a:pt x="276" y="483"/>
                    <a:pt x="255" y="483"/>
                  </a:cubicBezTo>
                  <a:cubicBezTo>
                    <a:pt x="234" y="483"/>
                    <a:pt x="217" y="466"/>
                    <a:pt x="217" y="445"/>
                  </a:cubicBezTo>
                  <a:cubicBezTo>
                    <a:pt x="217" y="424"/>
                    <a:pt x="234" y="408"/>
                    <a:pt x="255" y="408"/>
                  </a:cubicBezTo>
                  <a:cubicBezTo>
                    <a:pt x="276" y="408"/>
                    <a:pt x="293" y="424"/>
                    <a:pt x="293" y="445"/>
                  </a:cubicBezTo>
                  <a:close/>
                  <a:moveTo>
                    <a:pt x="217" y="65"/>
                  </a:moveTo>
                  <a:lnTo>
                    <a:pt x="217" y="65"/>
                  </a:lnTo>
                  <a:cubicBezTo>
                    <a:pt x="217" y="44"/>
                    <a:pt x="234" y="27"/>
                    <a:pt x="255" y="27"/>
                  </a:cubicBezTo>
                  <a:cubicBezTo>
                    <a:pt x="276" y="27"/>
                    <a:pt x="293" y="44"/>
                    <a:pt x="293" y="65"/>
                  </a:cubicBezTo>
                  <a:cubicBezTo>
                    <a:pt x="293" y="85"/>
                    <a:pt x="276" y="102"/>
                    <a:pt x="255" y="102"/>
                  </a:cubicBezTo>
                  <a:cubicBezTo>
                    <a:pt x="234" y="102"/>
                    <a:pt x="217" y="85"/>
                    <a:pt x="217" y="65"/>
                  </a:cubicBezTo>
                  <a:close/>
                  <a:moveTo>
                    <a:pt x="102" y="445"/>
                  </a:moveTo>
                  <a:lnTo>
                    <a:pt x="102" y="445"/>
                  </a:lnTo>
                  <a:cubicBezTo>
                    <a:pt x="102" y="466"/>
                    <a:pt x="86" y="483"/>
                    <a:pt x="65" y="483"/>
                  </a:cubicBezTo>
                  <a:cubicBezTo>
                    <a:pt x="44" y="483"/>
                    <a:pt x="27" y="466"/>
                    <a:pt x="27" y="445"/>
                  </a:cubicBezTo>
                  <a:cubicBezTo>
                    <a:pt x="27" y="424"/>
                    <a:pt x="44" y="408"/>
                    <a:pt x="65" y="408"/>
                  </a:cubicBezTo>
                  <a:cubicBezTo>
                    <a:pt x="86" y="408"/>
                    <a:pt x="102" y="424"/>
                    <a:pt x="102" y="445"/>
                  </a:cubicBezTo>
                  <a:close/>
                  <a:moveTo>
                    <a:pt x="471" y="385"/>
                  </a:moveTo>
                  <a:lnTo>
                    <a:pt x="471" y="385"/>
                  </a:lnTo>
                  <a:lnTo>
                    <a:pt x="471" y="323"/>
                  </a:lnTo>
                  <a:cubicBezTo>
                    <a:pt x="471" y="285"/>
                    <a:pt x="446" y="229"/>
                    <a:pt x="377" y="229"/>
                  </a:cubicBezTo>
                  <a:lnTo>
                    <a:pt x="323" y="229"/>
                  </a:lnTo>
                  <a:cubicBezTo>
                    <a:pt x="285" y="229"/>
                    <a:pt x="281" y="210"/>
                    <a:pt x="281" y="201"/>
                  </a:cubicBezTo>
                  <a:lnTo>
                    <a:pt x="281" y="125"/>
                  </a:lnTo>
                  <a:cubicBezTo>
                    <a:pt x="304" y="114"/>
                    <a:pt x="320" y="91"/>
                    <a:pt x="320" y="65"/>
                  </a:cubicBezTo>
                  <a:cubicBezTo>
                    <a:pt x="320" y="29"/>
                    <a:pt x="291" y="0"/>
                    <a:pt x="255" y="0"/>
                  </a:cubicBezTo>
                  <a:cubicBezTo>
                    <a:pt x="219" y="0"/>
                    <a:pt x="190" y="29"/>
                    <a:pt x="190" y="65"/>
                  </a:cubicBezTo>
                  <a:cubicBezTo>
                    <a:pt x="190" y="91"/>
                    <a:pt x="206" y="114"/>
                    <a:pt x="229" y="125"/>
                  </a:cubicBezTo>
                  <a:lnTo>
                    <a:pt x="229" y="201"/>
                  </a:lnTo>
                  <a:cubicBezTo>
                    <a:pt x="229" y="208"/>
                    <a:pt x="227" y="229"/>
                    <a:pt x="187" y="229"/>
                  </a:cubicBezTo>
                  <a:lnTo>
                    <a:pt x="133" y="229"/>
                  </a:lnTo>
                  <a:cubicBezTo>
                    <a:pt x="64" y="229"/>
                    <a:pt x="39" y="285"/>
                    <a:pt x="39" y="323"/>
                  </a:cubicBezTo>
                  <a:lnTo>
                    <a:pt x="39" y="385"/>
                  </a:lnTo>
                  <a:cubicBezTo>
                    <a:pt x="16" y="395"/>
                    <a:pt x="0" y="418"/>
                    <a:pt x="0" y="445"/>
                  </a:cubicBezTo>
                  <a:cubicBezTo>
                    <a:pt x="0" y="481"/>
                    <a:pt x="29" y="510"/>
                    <a:pt x="65" y="510"/>
                  </a:cubicBezTo>
                  <a:cubicBezTo>
                    <a:pt x="101" y="510"/>
                    <a:pt x="130" y="481"/>
                    <a:pt x="130" y="445"/>
                  </a:cubicBezTo>
                  <a:cubicBezTo>
                    <a:pt x="130" y="418"/>
                    <a:pt x="114" y="395"/>
                    <a:pt x="91" y="385"/>
                  </a:cubicBezTo>
                  <a:lnTo>
                    <a:pt x="91" y="323"/>
                  </a:lnTo>
                  <a:cubicBezTo>
                    <a:pt x="91" y="316"/>
                    <a:pt x="93" y="281"/>
                    <a:pt x="133" y="281"/>
                  </a:cubicBezTo>
                  <a:lnTo>
                    <a:pt x="187" y="281"/>
                  </a:lnTo>
                  <a:cubicBezTo>
                    <a:pt x="204" y="281"/>
                    <a:pt x="218" y="278"/>
                    <a:pt x="229" y="274"/>
                  </a:cubicBezTo>
                  <a:lnTo>
                    <a:pt x="229" y="385"/>
                  </a:lnTo>
                  <a:cubicBezTo>
                    <a:pt x="206" y="395"/>
                    <a:pt x="190" y="418"/>
                    <a:pt x="190" y="445"/>
                  </a:cubicBezTo>
                  <a:cubicBezTo>
                    <a:pt x="190" y="481"/>
                    <a:pt x="219" y="510"/>
                    <a:pt x="255" y="510"/>
                  </a:cubicBezTo>
                  <a:cubicBezTo>
                    <a:pt x="291" y="510"/>
                    <a:pt x="320" y="481"/>
                    <a:pt x="320" y="445"/>
                  </a:cubicBezTo>
                  <a:cubicBezTo>
                    <a:pt x="320" y="418"/>
                    <a:pt x="304" y="395"/>
                    <a:pt x="281" y="385"/>
                  </a:cubicBezTo>
                  <a:lnTo>
                    <a:pt x="281" y="274"/>
                  </a:lnTo>
                  <a:cubicBezTo>
                    <a:pt x="293" y="278"/>
                    <a:pt x="307" y="281"/>
                    <a:pt x="323" y="281"/>
                  </a:cubicBezTo>
                  <a:lnTo>
                    <a:pt x="377" y="281"/>
                  </a:lnTo>
                  <a:cubicBezTo>
                    <a:pt x="416" y="281"/>
                    <a:pt x="419" y="313"/>
                    <a:pt x="420" y="323"/>
                  </a:cubicBezTo>
                  <a:lnTo>
                    <a:pt x="420" y="385"/>
                  </a:lnTo>
                  <a:cubicBezTo>
                    <a:pt x="396" y="395"/>
                    <a:pt x="380" y="418"/>
                    <a:pt x="380" y="445"/>
                  </a:cubicBezTo>
                  <a:cubicBezTo>
                    <a:pt x="380" y="481"/>
                    <a:pt x="409" y="510"/>
                    <a:pt x="445" y="510"/>
                  </a:cubicBezTo>
                  <a:cubicBezTo>
                    <a:pt x="481" y="510"/>
                    <a:pt x="511" y="481"/>
                    <a:pt x="511" y="445"/>
                  </a:cubicBezTo>
                  <a:cubicBezTo>
                    <a:pt x="511" y="418"/>
                    <a:pt x="494" y="395"/>
                    <a:pt x="471" y="385"/>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50" dirty="0"/>
            </a:p>
          </p:txBody>
        </p:sp>
        <p:sp>
          <p:nvSpPr>
            <p:cNvPr id="472" name="Freeform 45"/>
            <p:cNvSpPr>
              <a:spLocks noChangeAspect="1" noEditPoints="1"/>
            </p:cNvSpPr>
            <p:nvPr/>
          </p:nvSpPr>
          <p:spPr bwMode="auto">
            <a:xfrm>
              <a:off x="5665606" y="3893149"/>
              <a:ext cx="458728" cy="475285"/>
            </a:xfrm>
            <a:custGeom>
              <a:avLst/>
              <a:gdLst>
                <a:gd name="T0" fmla="*/ 445 w 511"/>
                <a:gd name="T1" fmla="*/ 483 h 510"/>
                <a:gd name="T2" fmla="*/ 445 w 511"/>
                <a:gd name="T3" fmla="*/ 483 h 510"/>
                <a:gd name="T4" fmla="*/ 408 w 511"/>
                <a:gd name="T5" fmla="*/ 445 h 510"/>
                <a:gd name="T6" fmla="*/ 445 w 511"/>
                <a:gd name="T7" fmla="*/ 408 h 510"/>
                <a:gd name="T8" fmla="*/ 483 w 511"/>
                <a:gd name="T9" fmla="*/ 445 h 510"/>
                <a:gd name="T10" fmla="*/ 445 w 511"/>
                <a:gd name="T11" fmla="*/ 483 h 510"/>
                <a:gd name="T12" fmla="*/ 293 w 511"/>
                <a:gd name="T13" fmla="*/ 445 h 510"/>
                <a:gd name="T14" fmla="*/ 293 w 511"/>
                <a:gd name="T15" fmla="*/ 445 h 510"/>
                <a:gd name="T16" fmla="*/ 255 w 511"/>
                <a:gd name="T17" fmla="*/ 483 h 510"/>
                <a:gd name="T18" fmla="*/ 217 w 511"/>
                <a:gd name="T19" fmla="*/ 445 h 510"/>
                <a:gd name="T20" fmla="*/ 255 w 511"/>
                <a:gd name="T21" fmla="*/ 408 h 510"/>
                <a:gd name="T22" fmla="*/ 293 w 511"/>
                <a:gd name="T23" fmla="*/ 445 h 510"/>
                <a:gd name="T24" fmla="*/ 217 w 511"/>
                <a:gd name="T25" fmla="*/ 65 h 510"/>
                <a:gd name="T26" fmla="*/ 217 w 511"/>
                <a:gd name="T27" fmla="*/ 65 h 510"/>
                <a:gd name="T28" fmla="*/ 255 w 511"/>
                <a:gd name="T29" fmla="*/ 27 h 510"/>
                <a:gd name="T30" fmla="*/ 293 w 511"/>
                <a:gd name="T31" fmla="*/ 65 h 510"/>
                <a:gd name="T32" fmla="*/ 255 w 511"/>
                <a:gd name="T33" fmla="*/ 102 h 510"/>
                <a:gd name="T34" fmla="*/ 217 w 511"/>
                <a:gd name="T35" fmla="*/ 65 h 510"/>
                <a:gd name="T36" fmla="*/ 102 w 511"/>
                <a:gd name="T37" fmla="*/ 445 h 510"/>
                <a:gd name="T38" fmla="*/ 102 w 511"/>
                <a:gd name="T39" fmla="*/ 445 h 510"/>
                <a:gd name="T40" fmla="*/ 65 w 511"/>
                <a:gd name="T41" fmla="*/ 483 h 510"/>
                <a:gd name="T42" fmla="*/ 27 w 511"/>
                <a:gd name="T43" fmla="*/ 445 h 510"/>
                <a:gd name="T44" fmla="*/ 65 w 511"/>
                <a:gd name="T45" fmla="*/ 408 h 510"/>
                <a:gd name="T46" fmla="*/ 102 w 511"/>
                <a:gd name="T47" fmla="*/ 445 h 510"/>
                <a:gd name="T48" fmla="*/ 471 w 511"/>
                <a:gd name="T49" fmla="*/ 385 h 510"/>
                <a:gd name="T50" fmla="*/ 471 w 511"/>
                <a:gd name="T51" fmla="*/ 385 h 510"/>
                <a:gd name="T52" fmla="*/ 471 w 511"/>
                <a:gd name="T53" fmla="*/ 323 h 510"/>
                <a:gd name="T54" fmla="*/ 377 w 511"/>
                <a:gd name="T55" fmla="*/ 229 h 510"/>
                <a:gd name="T56" fmla="*/ 323 w 511"/>
                <a:gd name="T57" fmla="*/ 229 h 510"/>
                <a:gd name="T58" fmla="*/ 281 w 511"/>
                <a:gd name="T59" fmla="*/ 201 h 510"/>
                <a:gd name="T60" fmla="*/ 281 w 511"/>
                <a:gd name="T61" fmla="*/ 125 h 510"/>
                <a:gd name="T62" fmla="*/ 320 w 511"/>
                <a:gd name="T63" fmla="*/ 65 h 510"/>
                <a:gd name="T64" fmla="*/ 255 w 511"/>
                <a:gd name="T65" fmla="*/ 0 h 510"/>
                <a:gd name="T66" fmla="*/ 190 w 511"/>
                <a:gd name="T67" fmla="*/ 65 h 510"/>
                <a:gd name="T68" fmla="*/ 229 w 511"/>
                <a:gd name="T69" fmla="*/ 125 h 510"/>
                <a:gd name="T70" fmla="*/ 229 w 511"/>
                <a:gd name="T71" fmla="*/ 201 h 510"/>
                <a:gd name="T72" fmla="*/ 187 w 511"/>
                <a:gd name="T73" fmla="*/ 229 h 510"/>
                <a:gd name="T74" fmla="*/ 133 w 511"/>
                <a:gd name="T75" fmla="*/ 229 h 510"/>
                <a:gd name="T76" fmla="*/ 39 w 511"/>
                <a:gd name="T77" fmla="*/ 323 h 510"/>
                <a:gd name="T78" fmla="*/ 39 w 511"/>
                <a:gd name="T79" fmla="*/ 385 h 510"/>
                <a:gd name="T80" fmla="*/ 0 w 511"/>
                <a:gd name="T81" fmla="*/ 445 h 510"/>
                <a:gd name="T82" fmla="*/ 65 w 511"/>
                <a:gd name="T83" fmla="*/ 510 h 510"/>
                <a:gd name="T84" fmla="*/ 130 w 511"/>
                <a:gd name="T85" fmla="*/ 445 h 510"/>
                <a:gd name="T86" fmla="*/ 91 w 511"/>
                <a:gd name="T87" fmla="*/ 385 h 510"/>
                <a:gd name="T88" fmla="*/ 91 w 511"/>
                <a:gd name="T89" fmla="*/ 323 h 510"/>
                <a:gd name="T90" fmla="*/ 133 w 511"/>
                <a:gd name="T91" fmla="*/ 281 h 510"/>
                <a:gd name="T92" fmla="*/ 187 w 511"/>
                <a:gd name="T93" fmla="*/ 281 h 510"/>
                <a:gd name="T94" fmla="*/ 229 w 511"/>
                <a:gd name="T95" fmla="*/ 274 h 510"/>
                <a:gd name="T96" fmla="*/ 229 w 511"/>
                <a:gd name="T97" fmla="*/ 385 h 510"/>
                <a:gd name="T98" fmla="*/ 190 w 511"/>
                <a:gd name="T99" fmla="*/ 445 h 510"/>
                <a:gd name="T100" fmla="*/ 255 w 511"/>
                <a:gd name="T101" fmla="*/ 510 h 510"/>
                <a:gd name="T102" fmla="*/ 320 w 511"/>
                <a:gd name="T103" fmla="*/ 445 h 510"/>
                <a:gd name="T104" fmla="*/ 281 w 511"/>
                <a:gd name="T105" fmla="*/ 385 h 510"/>
                <a:gd name="T106" fmla="*/ 281 w 511"/>
                <a:gd name="T107" fmla="*/ 274 h 510"/>
                <a:gd name="T108" fmla="*/ 323 w 511"/>
                <a:gd name="T109" fmla="*/ 281 h 510"/>
                <a:gd name="T110" fmla="*/ 377 w 511"/>
                <a:gd name="T111" fmla="*/ 281 h 510"/>
                <a:gd name="T112" fmla="*/ 420 w 511"/>
                <a:gd name="T113" fmla="*/ 323 h 510"/>
                <a:gd name="T114" fmla="*/ 420 w 511"/>
                <a:gd name="T115" fmla="*/ 385 h 510"/>
                <a:gd name="T116" fmla="*/ 380 w 511"/>
                <a:gd name="T117" fmla="*/ 445 h 510"/>
                <a:gd name="T118" fmla="*/ 445 w 511"/>
                <a:gd name="T119" fmla="*/ 510 h 510"/>
                <a:gd name="T120" fmla="*/ 511 w 511"/>
                <a:gd name="T121" fmla="*/ 445 h 510"/>
                <a:gd name="T122" fmla="*/ 471 w 511"/>
                <a:gd name="T123" fmla="*/ 385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1" h="510">
                  <a:moveTo>
                    <a:pt x="445" y="483"/>
                  </a:moveTo>
                  <a:lnTo>
                    <a:pt x="445" y="483"/>
                  </a:lnTo>
                  <a:cubicBezTo>
                    <a:pt x="425" y="483"/>
                    <a:pt x="408" y="466"/>
                    <a:pt x="408" y="445"/>
                  </a:cubicBezTo>
                  <a:cubicBezTo>
                    <a:pt x="408" y="424"/>
                    <a:pt x="425" y="408"/>
                    <a:pt x="445" y="408"/>
                  </a:cubicBezTo>
                  <a:cubicBezTo>
                    <a:pt x="466" y="408"/>
                    <a:pt x="483" y="424"/>
                    <a:pt x="483" y="445"/>
                  </a:cubicBezTo>
                  <a:cubicBezTo>
                    <a:pt x="483" y="466"/>
                    <a:pt x="466" y="483"/>
                    <a:pt x="445" y="483"/>
                  </a:cubicBezTo>
                  <a:close/>
                  <a:moveTo>
                    <a:pt x="293" y="445"/>
                  </a:moveTo>
                  <a:lnTo>
                    <a:pt x="293" y="445"/>
                  </a:lnTo>
                  <a:cubicBezTo>
                    <a:pt x="293" y="466"/>
                    <a:pt x="276" y="483"/>
                    <a:pt x="255" y="483"/>
                  </a:cubicBezTo>
                  <a:cubicBezTo>
                    <a:pt x="234" y="483"/>
                    <a:pt x="217" y="466"/>
                    <a:pt x="217" y="445"/>
                  </a:cubicBezTo>
                  <a:cubicBezTo>
                    <a:pt x="217" y="424"/>
                    <a:pt x="234" y="408"/>
                    <a:pt x="255" y="408"/>
                  </a:cubicBezTo>
                  <a:cubicBezTo>
                    <a:pt x="276" y="408"/>
                    <a:pt x="293" y="424"/>
                    <a:pt x="293" y="445"/>
                  </a:cubicBezTo>
                  <a:close/>
                  <a:moveTo>
                    <a:pt x="217" y="65"/>
                  </a:moveTo>
                  <a:lnTo>
                    <a:pt x="217" y="65"/>
                  </a:lnTo>
                  <a:cubicBezTo>
                    <a:pt x="217" y="44"/>
                    <a:pt x="234" y="27"/>
                    <a:pt x="255" y="27"/>
                  </a:cubicBezTo>
                  <a:cubicBezTo>
                    <a:pt x="276" y="27"/>
                    <a:pt x="293" y="44"/>
                    <a:pt x="293" y="65"/>
                  </a:cubicBezTo>
                  <a:cubicBezTo>
                    <a:pt x="293" y="85"/>
                    <a:pt x="276" y="102"/>
                    <a:pt x="255" y="102"/>
                  </a:cubicBezTo>
                  <a:cubicBezTo>
                    <a:pt x="234" y="102"/>
                    <a:pt x="217" y="85"/>
                    <a:pt x="217" y="65"/>
                  </a:cubicBezTo>
                  <a:close/>
                  <a:moveTo>
                    <a:pt x="102" y="445"/>
                  </a:moveTo>
                  <a:lnTo>
                    <a:pt x="102" y="445"/>
                  </a:lnTo>
                  <a:cubicBezTo>
                    <a:pt x="102" y="466"/>
                    <a:pt x="86" y="483"/>
                    <a:pt x="65" y="483"/>
                  </a:cubicBezTo>
                  <a:cubicBezTo>
                    <a:pt x="44" y="483"/>
                    <a:pt x="27" y="466"/>
                    <a:pt x="27" y="445"/>
                  </a:cubicBezTo>
                  <a:cubicBezTo>
                    <a:pt x="27" y="424"/>
                    <a:pt x="44" y="408"/>
                    <a:pt x="65" y="408"/>
                  </a:cubicBezTo>
                  <a:cubicBezTo>
                    <a:pt x="86" y="408"/>
                    <a:pt x="102" y="424"/>
                    <a:pt x="102" y="445"/>
                  </a:cubicBezTo>
                  <a:close/>
                  <a:moveTo>
                    <a:pt x="471" y="385"/>
                  </a:moveTo>
                  <a:lnTo>
                    <a:pt x="471" y="385"/>
                  </a:lnTo>
                  <a:lnTo>
                    <a:pt x="471" y="323"/>
                  </a:lnTo>
                  <a:cubicBezTo>
                    <a:pt x="471" y="285"/>
                    <a:pt x="446" y="229"/>
                    <a:pt x="377" y="229"/>
                  </a:cubicBezTo>
                  <a:lnTo>
                    <a:pt x="323" y="229"/>
                  </a:lnTo>
                  <a:cubicBezTo>
                    <a:pt x="285" y="229"/>
                    <a:pt x="281" y="210"/>
                    <a:pt x="281" y="201"/>
                  </a:cubicBezTo>
                  <a:lnTo>
                    <a:pt x="281" y="125"/>
                  </a:lnTo>
                  <a:cubicBezTo>
                    <a:pt x="304" y="114"/>
                    <a:pt x="320" y="91"/>
                    <a:pt x="320" y="65"/>
                  </a:cubicBezTo>
                  <a:cubicBezTo>
                    <a:pt x="320" y="29"/>
                    <a:pt x="291" y="0"/>
                    <a:pt x="255" y="0"/>
                  </a:cubicBezTo>
                  <a:cubicBezTo>
                    <a:pt x="219" y="0"/>
                    <a:pt x="190" y="29"/>
                    <a:pt x="190" y="65"/>
                  </a:cubicBezTo>
                  <a:cubicBezTo>
                    <a:pt x="190" y="91"/>
                    <a:pt x="206" y="114"/>
                    <a:pt x="229" y="125"/>
                  </a:cubicBezTo>
                  <a:lnTo>
                    <a:pt x="229" y="201"/>
                  </a:lnTo>
                  <a:cubicBezTo>
                    <a:pt x="229" y="208"/>
                    <a:pt x="227" y="229"/>
                    <a:pt x="187" y="229"/>
                  </a:cubicBezTo>
                  <a:lnTo>
                    <a:pt x="133" y="229"/>
                  </a:lnTo>
                  <a:cubicBezTo>
                    <a:pt x="64" y="229"/>
                    <a:pt x="39" y="285"/>
                    <a:pt x="39" y="323"/>
                  </a:cubicBezTo>
                  <a:lnTo>
                    <a:pt x="39" y="385"/>
                  </a:lnTo>
                  <a:cubicBezTo>
                    <a:pt x="16" y="395"/>
                    <a:pt x="0" y="418"/>
                    <a:pt x="0" y="445"/>
                  </a:cubicBezTo>
                  <a:cubicBezTo>
                    <a:pt x="0" y="481"/>
                    <a:pt x="29" y="510"/>
                    <a:pt x="65" y="510"/>
                  </a:cubicBezTo>
                  <a:cubicBezTo>
                    <a:pt x="101" y="510"/>
                    <a:pt x="130" y="481"/>
                    <a:pt x="130" y="445"/>
                  </a:cubicBezTo>
                  <a:cubicBezTo>
                    <a:pt x="130" y="418"/>
                    <a:pt x="114" y="395"/>
                    <a:pt x="91" y="385"/>
                  </a:cubicBezTo>
                  <a:lnTo>
                    <a:pt x="91" y="323"/>
                  </a:lnTo>
                  <a:cubicBezTo>
                    <a:pt x="91" y="316"/>
                    <a:pt x="93" y="281"/>
                    <a:pt x="133" y="281"/>
                  </a:cubicBezTo>
                  <a:lnTo>
                    <a:pt x="187" y="281"/>
                  </a:lnTo>
                  <a:cubicBezTo>
                    <a:pt x="204" y="281"/>
                    <a:pt x="218" y="278"/>
                    <a:pt x="229" y="274"/>
                  </a:cubicBezTo>
                  <a:lnTo>
                    <a:pt x="229" y="385"/>
                  </a:lnTo>
                  <a:cubicBezTo>
                    <a:pt x="206" y="395"/>
                    <a:pt x="190" y="418"/>
                    <a:pt x="190" y="445"/>
                  </a:cubicBezTo>
                  <a:cubicBezTo>
                    <a:pt x="190" y="481"/>
                    <a:pt x="219" y="510"/>
                    <a:pt x="255" y="510"/>
                  </a:cubicBezTo>
                  <a:cubicBezTo>
                    <a:pt x="291" y="510"/>
                    <a:pt x="320" y="481"/>
                    <a:pt x="320" y="445"/>
                  </a:cubicBezTo>
                  <a:cubicBezTo>
                    <a:pt x="320" y="418"/>
                    <a:pt x="304" y="395"/>
                    <a:pt x="281" y="385"/>
                  </a:cubicBezTo>
                  <a:lnTo>
                    <a:pt x="281" y="274"/>
                  </a:lnTo>
                  <a:cubicBezTo>
                    <a:pt x="293" y="278"/>
                    <a:pt x="307" y="281"/>
                    <a:pt x="323" y="281"/>
                  </a:cubicBezTo>
                  <a:lnTo>
                    <a:pt x="377" y="281"/>
                  </a:lnTo>
                  <a:cubicBezTo>
                    <a:pt x="416" y="281"/>
                    <a:pt x="419" y="313"/>
                    <a:pt x="420" y="323"/>
                  </a:cubicBezTo>
                  <a:lnTo>
                    <a:pt x="420" y="385"/>
                  </a:lnTo>
                  <a:cubicBezTo>
                    <a:pt x="396" y="395"/>
                    <a:pt x="380" y="418"/>
                    <a:pt x="380" y="445"/>
                  </a:cubicBezTo>
                  <a:cubicBezTo>
                    <a:pt x="380" y="481"/>
                    <a:pt x="409" y="510"/>
                    <a:pt x="445" y="510"/>
                  </a:cubicBezTo>
                  <a:cubicBezTo>
                    <a:pt x="481" y="510"/>
                    <a:pt x="511" y="481"/>
                    <a:pt x="511" y="445"/>
                  </a:cubicBezTo>
                  <a:cubicBezTo>
                    <a:pt x="511" y="418"/>
                    <a:pt x="494" y="395"/>
                    <a:pt x="471" y="385"/>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50" dirty="0"/>
            </a:p>
          </p:txBody>
        </p:sp>
        <p:sp>
          <p:nvSpPr>
            <p:cNvPr id="473" name="Freeform 5"/>
            <p:cNvSpPr>
              <a:spLocks noChangeAspect="1"/>
            </p:cNvSpPr>
            <p:nvPr/>
          </p:nvSpPr>
          <p:spPr bwMode="auto">
            <a:xfrm>
              <a:off x="2262700" y="4609370"/>
              <a:ext cx="449891" cy="365120"/>
            </a:xfrm>
            <a:custGeom>
              <a:avLst/>
              <a:gdLst>
                <a:gd name="T0" fmla="*/ 5373 w 5480"/>
                <a:gd name="T1" fmla="*/ 2428 h 4448"/>
                <a:gd name="T2" fmla="*/ 5233 w 5480"/>
                <a:gd name="T3" fmla="*/ 2400 h 4448"/>
                <a:gd name="T4" fmla="*/ 5354 w 5480"/>
                <a:gd name="T5" fmla="*/ 2175 h 4448"/>
                <a:gd name="T6" fmla="*/ 5222 w 5480"/>
                <a:gd name="T7" fmla="*/ 2100 h 4448"/>
                <a:gd name="T8" fmla="*/ 4962 w 5480"/>
                <a:gd name="T9" fmla="*/ 2336 h 4448"/>
                <a:gd name="T10" fmla="*/ 5092 w 5480"/>
                <a:gd name="T11" fmla="*/ 1972 h 4448"/>
                <a:gd name="T12" fmla="*/ 4793 w 5480"/>
                <a:gd name="T13" fmla="*/ 2425 h 4448"/>
                <a:gd name="T14" fmla="*/ 4634 w 5480"/>
                <a:gd name="T15" fmla="*/ 2370 h 4448"/>
                <a:gd name="T16" fmla="*/ 4245 w 5480"/>
                <a:gd name="T17" fmla="*/ 3264 h 4448"/>
                <a:gd name="T18" fmla="*/ 3735 w 5480"/>
                <a:gd name="T19" fmla="*/ 2542 h 4448"/>
                <a:gd name="T20" fmla="*/ 4198 w 5480"/>
                <a:gd name="T21" fmla="*/ 2464 h 4448"/>
                <a:gd name="T22" fmla="*/ 4297 w 5480"/>
                <a:gd name="T23" fmla="*/ 2016 h 4448"/>
                <a:gd name="T24" fmla="*/ 4684 w 5480"/>
                <a:gd name="T25" fmla="*/ 1664 h 4448"/>
                <a:gd name="T26" fmla="*/ 4544 w 5480"/>
                <a:gd name="T27" fmla="*/ 1231 h 4448"/>
                <a:gd name="T28" fmla="*/ 4913 w 5480"/>
                <a:gd name="T29" fmla="*/ 620 h 4448"/>
                <a:gd name="T30" fmla="*/ 4252 w 5480"/>
                <a:gd name="T31" fmla="*/ 428 h 4448"/>
                <a:gd name="T32" fmla="*/ 3576 w 5480"/>
                <a:gd name="T33" fmla="*/ 1889 h 4448"/>
                <a:gd name="T34" fmla="*/ 3269 w 5480"/>
                <a:gd name="T35" fmla="*/ 1678 h 4448"/>
                <a:gd name="T36" fmla="*/ 3248 w 5480"/>
                <a:gd name="T37" fmla="*/ 1394 h 4448"/>
                <a:gd name="T38" fmla="*/ 2494 w 5480"/>
                <a:gd name="T39" fmla="*/ 872 h 4448"/>
                <a:gd name="T40" fmla="*/ 2468 w 5480"/>
                <a:gd name="T41" fmla="*/ 1143 h 4448"/>
                <a:gd name="T42" fmla="*/ 2400 w 5480"/>
                <a:gd name="T43" fmla="*/ 1565 h 4448"/>
                <a:gd name="T44" fmla="*/ 1936 w 5480"/>
                <a:gd name="T45" fmla="*/ 1242 h 4448"/>
                <a:gd name="T46" fmla="*/ 552 w 5480"/>
                <a:gd name="T47" fmla="*/ 403 h 4448"/>
                <a:gd name="T48" fmla="*/ 981 w 5480"/>
                <a:gd name="T49" fmla="*/ 1097 h 4448"/>
                <a:gd name="T50" fmla="*/ 783 w 5480"/>
                <a:gd name="T51" fmla="*/ 1475 h 4448"/>
                <a:gd name="T52" fmla="*/ 1154 w 5480"/>
                <a:gd name="T53" fmla="*/ 1893 h 4448"/>
                <a:gd name="T54" fmla="*/ 1177 w 5480"/>
                <a:gd name="T55" fmla="*/ 2317 h 4448"/>
                <a:gd name="T56" fmla="*/ 1664 w 5480"/>
                <a:gd name="T57" fmla="*/ 2497 h 4448"/>
                <a:gd name="T58" fmla="*/ 2002 w 5480"/>
                <a:gd name="T59" fmla="*/ 2794 h 4448"/>
                <a:gd name="T60" fmla="*/ 1332 w 5480"/>
                <a:gd name="T61" fmla="*/ 3302 h 4448"/>
                <a:gd name="T62" fmla="*/ 1022 w 5480"/>
                <a:gd name="T63" fmla="*/ 3031 h 4448"/>
                <a:gd name="T64" fmla="*/ 825 w 5480"/>
                <a:gd name="T65" fmla="*/ 2872 h 4448"/>
                <a:gd name="T66" fmla="*/ 542 w 5480"/>
                <a:gd name="T67" fmla="*/ 2638 h 4448"/>
                <a:gd name="T68" fmla="*/ 502 w 5480"/>
                <a:gd name="T69" fmla="*/ 2243 h 4448"/>
                <a:gd name="T70" fmla="*/ 341 w 5480"/>
                <a:gd name="T71" fmla="*/ 1835 h 4448"/>
                <a:gd name="T72" fmla="*/ 157 w 5480"/>
                <a:gd name="T73" fmla="*/ 2179 h 4448"/>
                <a:gd name="T74" fmla="*/ 34 w 5480"/>
                <a:gd name="T75" fmla="*/ 2549 h 4448"/>
                <a:gd name="T76" fmla="*/ 202 w 5480"/>
                <a:gd name="T77" fmla="*/ 3063 h 4448"/>
                <a:gd name="T78" fmla="*/ 660 w 5480"/>
                <a:gd name="T79" fmla="*/ 3492 h 4448"/>
                <a:gd name="T80" fmla="*/ 960 w 5480"/>
                <a:gd name="T81" fmla="*/ 3461 h 4448"/>
                <a:gd name="T82" fmla="*/ 1345 w 5480"/>
                <a:gd name="T83" fmla="*/ 3477 h 4448"/>
                <a:gd name="T84" fmla="*/ 2421 w 5480"/>
                <a:gd name="T85" fmla="*/ 3323 h 4448"/>
                <a:gd name="T86" fmla="*/ 2374 w 5480"/>
                <a:gd name="T87" fmla="*/ 4085 h 4448"/>
                <a:gd name="T88" fmla="*/ 2790 w 5480"/>
                <a:gd name="T89" fmla="*/ 4448 h 4448"/>
                <a:gd name="T90" fmla="*/ 3194 w 5480"/>
                <a:gd name="T91" fmla="*/ 4064 h 4448"/>
                <a:gd name="T92" fmla="*/ 3151 w 5480"/>
                <a:gd name="T93" fmla="*/ 3307 h 4448"/>
                <a:gd name="T94" fmla="*/ 4241 w 5480"/>
                <a:gd name="T95" fmla="*/ 3484 h 4448"/>
                <a:gd name="T96" fmla="*/ 3751 w 5480"/>
                <a:gd name="T97" fmla="*/ 3879 h 4448"/>
                <a:gd name="T98" fmla="*/ 3943 w 5480"/>
                <a:gd name="T99" fmla="*/ 4012 h 4448"/>
                <a:gd name="T100" fmla="*/ 4123 w 5480"/>
                <a:gd name="T101" fmla="*/ 4130 h 4448"/>
                <a:gd name="T102" fmla="*/ 4270 w 5480"/>
                <a:gd name="T103" fmla="*/ 4149 h 4448"/>
                <a:gd name="T104" fmla="*/ 4595 w 5480"/>
                <a:gd name="T105" fmla="*/ 3494 h 4448"/>
                <a:gd name="T106" fmla="*/ 5141 w 5480"/>
                <a:gd name="T107" fmla="*/ 2882 h 4448"/>
                <a:gd name="T108" fmla="*/ 5272 w 5480"/>
                <a:gd name="T109" fmla="*/ 2612 h 4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480" h="4448">
                  <a:moveTo>
                    <a:pt x="5246" y="2593"/>
                  </a:moveTo>
                  <a:lnTo>
                    <a:pt x="5246" y="2593"/>
                  </a:lnTo>
                  <a:lnTo>
                    <a:pt x="5059" y="2731"/>
                  </a:lnTo>
                  <a:lnTo>
                    <a:pt x="5373" y="2395"/>
                  </a:lnTo>
                  <a:lnTo>
                    <a:pt x="5373" y="2428"/>
                  </a:lnTo>
                  <a:lnTo>
                    <a:pt x="5480" y="2236"/>
                  </a:lnTo>
                  <a:lnTo>
                    <a:pt x="5297" y="2359"/>
                  </a:lnTo>
                  <a:lnTo>
                    <a:pt x="5321" y="2366"/>
                  </a:lnTo>
                  <a:lnTo>
                    <a:pt x="5177" y="2534"/>
                  </a:lnTo>
                  <a:lnTo>
                    <a:pt x="5233" y="2400"/>
                  </a:lnTo>
                  <a:lnTo>
                    <a:pt x="5084" y="2529"/>
                  </a:lnTo>
                  <a:lnTo>
                    <a:pt x="5104" y="2534"/>
                  </a:lnTo>
                  <a:lnTo>
                    <a:pt x="4926" y="2704"/>
                  </a:lnTo>
                  <a:lnTo>
                    <a:pt x="5337" y="2135"/>
                  </a:lnTo>
                  <a:lnTo>
                    <a:pt x="5354" y="2175"/>
                  </a:lnTo>
                  <a:lnTo>
                    <a:pt x="5416" y="1984"/>
                  </a:lnTo>
                  <a:lnTo>
                    <a:pt x="5252" y="2111"/>
                  </a:lnTo>
                  <a:lnTo>
                    <a:pt x="5293" y="2116"/>
                  </a:lnTo>
                  <a:lnTo>
                    <a:pt x="5158" y="2288"/>
                  </a:lnTo>
                  <a:lnTo>
                    <a:pt x="5222" y="2100"/>
                  </a:lnTo>
                  <a:lnTo>
                    <a:pt x="5068" y="2257"/>
                  </a:lnTo>
                  <a:lnTo>
                    <a:pt x="5102" y="2251"/>
                  </a:lnTo>
                  <a:lnTo>
                    <a:pt x="5018" y="2354"/>
                  </a:lnTo>
                  <a:lnTo>
                    <a:pt x="5033" y="2263"/>
                  </a:lnTo>
                  <a:lnTo>
                    <a:pt x="4962" y="2336"/>
                  </a:lnTo>
                  <a:lnTo>
                    <a:pt x="5136" y="1990"/>
                  </a:lnTo>
                  <a:lnTo>
                    <a:pt x="5160" y="2024"/>
                  </a:lnTo>
                  <a:lnTo>
                    <a:pt x="5183" y="1816"/>
                  </a:lnTo>
                  <a:lnTo>
                    <a:pt x="5048" y="1977"/>
                  </a:lnTo>
                  <a:lnTo>
                    <a:pt x="5092" y="1972"/>
                  </a:lnTo>
                  <a:lnTo>
                    <a:pt x="4965" y="2219"/>
                  </a:lnTo>
                  <a:lnTo>
                    <a:pt x="4988" y="2022"/>
                  </a:lnTo>
                  <a:lnTo>
                    <a:pt x="4858" y="2193"/>
                  </a:lnTo>
                  <a:lnTo>
                    <a:pt x="4892" y="2196"/>
                  </a:lnTo>
                  <a:lnTo>
                    <a:pt x="4793" y="2425"/>
                  </a:lnTo>
                  <a:lnTo>
                    <a:pt x="4788" y="2227"/>
                  </a:lnTo>
                  <a:lnTo>
                    <a:pt x="4673" y="2407"/>
                  </a:lnTo>
                  <a:lnTo>
                    <a:pt x="4713" y="2404"/>
                  </a:lnTo>
                  <a:lnTo>
                    <a:pt x="4655" y="2542"/>
                  </a:lnTo>
                  <a:lnTo>
                    <a:pt x="4634" y="2370"/>
                  </a:lnTo>
                  <a:lnTo>
                    <a:pt x="4559" y="2549"/>
                  </a:lnTo>
                  <a:lnTo>
                    <a:pt x="4590" y="2547"/>
                  </a:lnTo>
                  <a:lnTo>
                    <a:pt x="4447" y="3119"/>
                  </a:lnTo>
                  <a:cubicBezTo>
                    <a:pt x="4346" y="3056"/>
                    <a:pt x="4276" y="3075"/>
                    <a:pt x="4239" y="3124"/>
                  </a:cubicBezTo>
                  <a:cubicBezTo>
                    <a:pt x="4203" y="3173"/>
                    <a:pt x="4245" y="3264"/>
                    <a:pt x="4245" y="3264"/>
                  </a:cubicBezTo>
                  <a:lnTo>
                    <a:pt x="3974" y="3241"/>
                  </a:lnTo>
                  <a:cubicBezTo>
                    <a:pt x="3930" y="3062"/>
                    <a:pt x="3504" y="2796"/>
                    <a:pt x="3504" y="2796"/>
                  </a:cubicBezTo>
                  <a:cubicBezTo>
                    <a:pt x="3498" y="2729"/>
                    <a:pt x="3589" y="2622"/>
                    <a:pt x="3589" y="2622"/>
                  </a:cubicBezTo>
                  <a:cubicBezTo>
                    <a:pt x="3613" y="2656"/>
                    <a:pt x="3719" y="2726"/>
                    <a:pt x="3719" y="2726"/>
                  </a:cubicBezTo>
                  <a:cubicBezTo>
                    <a:pt x="3683" y="2700"/>
                    <a:pt x="3735" y="2542"/>
                    <a:pt x="3735" y="2542"/>
                  </a:cubicBezTo>
                  <a:cubicBezTo>
                    <a:pt x="3782" y="2614"/>
                    <a:pt x="3878" y="2643"/>
                    <a:pt x="3878" y="2643"/>
                  </a:cubicBezTo>
                  <a:cubicBezTo>
                    <a:pt x="3873" y="2612"/>
                    <a:pt x="3865" y="2484"/>
                    <a:pt x="3865" y="2484"/>
                  </a:cubicBezTo>
                  <a:cubicBezTo>
                    <a:pt x="3891" y="2510"/>
                    <a:pt x="4029" y="2568"/>
                    <a:pt x="4029" y="2568"/>
                  </a:cubicBezTo>
                  <a:cubicBezTo>
                    <a:pt x="4013" y="2518"/>
                    <a:pt x="4021" y="2407"/>
                    <a:pt x="4021" y="2407"/>
                  </a:cubicBezTo>
                  <a:cubicBezTo>
                    <a:pt x="4083" y="2451"/>
                    <a:pt x="4198" y="2464"/>
                    <a:pt x="4198" y="2464"/>
                  </a:cubicBezTo>
                  <a:cubicBezTo>
                    <a:pt x="4161" y="2440"/>
                    <a:pt x="4148" y="2287"/>
                    <a:pt x="4148" y="2287"/>
                  </a:cubicBezTo>
                  <a:cubicBezTo>
                    <a:pt x="4229" y="2313"/>
                    <a:pt x="4317" y="2287"/>
                    <a:pt x="4317" y="2287"/>
                  </a:cubicBezTo>
                  <a:cubicBezTo>
                    <a:pt x="4276" y="2269"/>
                    <a:pt x="4237" y="2170"/>
                    <a:pt x="4237" y="2170"/>
                  </a:cubicBezTo>
                  <a:cubicBezTo>
                    <a:pt x="4325" y="2196"/>
                    <a:pt x="4421" y="2170"/>
                    <a:pt x="4421" y="2170"/>
                  </a:cubicBezTo>
                  <a:cubicBezTo>
                    <a:pt x="4385" y="2154"/>
                    <a:pt x="4297" y="2016"/>
                    <a:pt x="4297" y="2016"/>
                  </a:cubicBezTo>
                  <a:cubicBezTo>
                    <a:pt x="4390" y="2014"/>
                    <a:pt x="4520" y="1977"/>
                    <a:pt x="4520" y="1977"/>
                  </a:cubicBezTo>
                  <a:cubicBezTo>
                    <a:pt x="4463" y="1951"/>
                    <a:pt x="4403" y="1858"/>
                    <a:pt x="4403" y="1858"/>
                  </a:cubicBezTo>
                  <a:cubicBezTo>
                    <a:pt x="4525" y="1858"/>
                    <a:pt x="4575" y="1814"/>
                    <a:pt x="4575" y="1814"/>
                  </a:cubicBezTo>
                  <a:cubicBezTo>
                    <a:pt x="4517" y="1801"/>
                    <a:pt x="4471" y="1730"/>
                    <a:pt x="4471" y="1730"/>
                  </a:cubicBezTo>
                  <a:cubicBezTo>
                    <a:pt x="4554" y="1741"/>
                    <a:pt x="4684" y="1664"/>
                    <a:pt x="4684" y="1664"/>
                  </a:cubicBezTo>
                  <a:cubicBezTo>
                    <a:pt x="4637" y="1668"/>
                    <a:pt x="4551" y="1564"/>
                    <a:pt x="4551" y="1564"/>
                  </a:cubicBezTo>
                  <a:cubicBezTo>
                    <a:pt x="4601" y="1559"/>
                    <a:pt x="4746" y="1447"/>
                    <a:pt x="4746" y="1447"/>
                  </a:cubicBezTo>
                  <a:cubicBezTo>
                    <a:pt x="4692" y="1460"/>
                    <a:pt x="4562" y="1390"/>
                    <a:pt x="4562" y="1390"/>
                  </a:cubicBezTo>
                  <a:cubicBezTo>
                    <a:pt x="4637" y="1377"/>
                    <a:pt x="4731" y="1296"/>
                    <a:pt x="4731" y="1296"/>
                  </a:cubicBezTo>
                  <a:cubicBezTo>
                    <a:pt x="4671" y="1299"/>
                    <a:pt x="4544" y="1231"/>
                    <a:pt x="4544" y="1231"/>
                  </a:cubicBezTo>
                  <a:cubicBezTo>
                    <a:pt x="4650" y="1205"/>
                    <a:pt x="4731" y="1088"/>
                    <a:pt x="4731" y="1088"/>
                  </a:cubicBezTo>
                  <a:cubicBezTo>
                    <a:pt x="4673" y="1101"/>
                    <a:pt x="4489" y="1101"/>
                    <a:pt x="4489" y="1101"/>
                  </a:cubicBezTo>
                  <a:cubicBezTo>
                    <a:pt x="4580" y="1060"/>
                    <a:pt x="4733" y="940"/>
                    <a:pt x="4733" y="940"/>
                  </a:cubicBezTo>
                  <a:cubicBezTo>
                    <a:pt x="4619" y="953"/>
                    <a:pt x="4494" y="917"/>
                    <a:pt x="4494" y="917"/>
                  </a:cubicBezTo>
                  <a:cubicBezTo>
                    <a:pt x="4726" y="839"/>
                    <a:pt x="4913" y="620"/>
                    <a:pt x="4913" y="620"/>
                  </a:cubicBezTo>
                  <a:cubicBezTo>
                    <a:pt x="4874" y="644"/>
                    <a:pt x="4694" y="620"/>
                    <a:pt x="4694" y="620"/>
                  </a:cubicBezTo>
                  <a:cubicBezTo>
                    <a:pt x="4791" y="576"/>
                    <a:pt x="4996" y="381"/>
                    <a:pt x="4996" y="381"/>
                  </a:cubicBezTo>
                  <a:cubicBezTo>
                    <a:pt x="4954" y="381"/>
                    <a:pt x="4869" y="345"/>
                    <a:pt x="4869" y="345"/>
                  </a:cubicBezTo>
                  <a:cubicBezTo>
                    <a:pt x="5038" y="290"/>
                    <a:pt x="5183" y="77"/>
                    <a:pt x="5183" y="77"/>
                  </a:cubicBezTo>
                  <a:cubicBezTo>
                    <a:pt x="4894" y="0"/>
                    <a:pt x="4481" y="277"/>
                    <a:pt x="4252" y="428"/>
                  </a:cubicBezTo>
                  <a:cubicBezTo>
                    <a:pt x="4024" y="579"/>
                    <a:pt x="3717" y="898"/>
                    <a:pt x="3714" y="948"/>
                  </a:cubicBezTo>
                  <a:cubicBezTo>
                    <a:pt x="3712" y="997"/>
                    <a:pt x="3613" y="1088"/>
                    <a:pt x="3602" y="1156"/>
                  </a:cubicBezTo>
                  <a:cubicBezTo>
                    <a:pt x="3591" y="1223"/>
                    <a:pt x="3618" y="1296"/>
                    <a:pt x="3696" y="1338"/>
                  </a:cubicBezTo>
                  <a:cubicBezTo>
                    <a:pt x="3774" y="1379"/>
                    <a:pt x="3735" y="1504"/>
                    <a:pt x="3751" y="1608"/>
                  </a:cubicBezTo>
                  <a:cubicBezTo>
                    <a:pt x="3766" y="1712"/>
                    <a:pt x="3621" y="1840"/>
                    <a:pt x="3576" y="1889"/>
                  </a:cubicBezTo>
                  <a:cubicBezTo>
                    <a:pt x="3532" y="1938"/>
                    <a:pt x="3450" y="1883"/>
                    <a:pt x="3450" y="1883"/>
                  </a:cubicBezTo>
                  <a:lnTo>
                    <a:pt x="3450" y="1784"/>
                  </a:lnTo>
                  <a:lnTo>
                    <a:pt x="3298" y="1783"/>
                  </a:lnTo>
                  <a:cubicBezTo>
                    <a:pt x="3297" y="1751"/>
                    <a:pt x="3284" y="1714"/>
                    <a:pt x="3272" y="1684"/>
                  </a:cubicBezTo>
                  <a:cubicBezTo>
                    <a:pt x="3271" y="1683"/>
                    <a:pt x="3270" y="1681"/>
                    <a:pt x="3269" y="1678"/>
                  </a:cubicBezTo>
                  <a:cubicBezTo>
                    <a:pt x="3256" y="1648"/>
                    <a:pt x="3243" y="1626"/>
                    <a:pt x="3243" y="1626"/>
                  </a:cubicBezTo>
                  <a:cubicBezTo>
                    <a:pt x="3243" y="1626"/>
                    <a:pt x="3246" y="1625"/>
                    <a:pt x="3250" y="1624"/>
                  </a:cubicBezTo>
                  <a:cubicBezTo>
                    <a:pt x="3248" y="1618"/>
                    <a:pt x="3247" y="1611"/>
                    <a:pt x="3245" y="1604"/>
                  </a:cubicBezTo>
                  <a:cubicBezTo>
                    <a:pt x="3234" y="1558"/>
                    <a:pt x="3269" y="1499"/>
                    <a:pt x="3252" y="1460"/>
                  </a:cubicBezTo>
                  <a:cubicBezTo>
                    <a:pt x="3241" y="1435"/>
                    <a:pt x="3245" y="1409"/>
                    <a:pt x="3248" y="1394"/>
                  </a:cubicBezTo>
                  <a:cubicBezTo>
                    <a:pt x="3231" y="1356"/>
                    <a:pt x="3173" y="1338"/>
                    <a:pt x="3173" y="1338"/>
                  </a:cubicBezTo>
                  <a:cubicBezTo>
                    <a:pt x="3173" y="1338"/>
                    <a:pt x="3156" y="1234"/>
                    <a:pt x="3159" y="1107"/>
                  </a:cubicBezTo>
                  <a:cubicBezTo>
                    <a:pt x="3163" y="981"/>
                    <a:pt x="3070" y="875"/>
                    <a:pt x="2895" y="839"/>
                  </a:cubicBezTo>
                  <a:cubicBezTo>
                    <a:pt x="2720" y="802"/>
                    <a:pt x="2673" y="821"/>
                    <a:pt x="2626" y="849"/>
                  </a:cubicBezTo>
                  <a:cubicBezTo>
                    <a:pt x="2591" y="869"/>
                    <a:pt x="2552" y="862"/>
                    <a:pt x="2494" y="872"/>
                  </a:cubicBezTo>
                  <a:cubicBezTo>
                    <a:pt x="2407" y="888"/>
                    <a:pt x="2345" y="904"/>
                    <a:pt x="2310" y="982"/>
                  </a:cubicBezTo>
                  <a:cubicBezTo>
                    <a:pt x="2293" y="1020"/>
                    <a:pt x="2284" y="1135"/>
                    <a:pt x="2316" y="1175"/>
                  </a:cubicBezTo>
                  <a:cubicBezTo>
                    <a:pt x="2316" y="1175"/>
                    <a:pt x="2322" y="1084"/>
                    <a:pt x="2396" y="1106"/>
                  </a:cubicBezTo>
                  <a:lnTo>
                    <a:pt x="2396" y="1106"/>
                  </a:lnTo>
                  <a:cubicBezTo>
                    <a:pt x="2419" y="1109"/>
                    <a:pt x="2447" y="1127"/>
                    <a:pt x="2468" y="1143"/>
                  </a:cubicBezTo>
                  <a:cubicBezTo>
                    <a:pt x="2468" y="1143"/>
                    <a:pt x="2618" y="1181"/>
                    <a:pt x="2660" y="1174"/>
                  </a:cubicBezTo>
                  <a:cubicBezTo>
                    <a:pt x="2660" y="1174"/>
                    <a:pt x="2662" y="1191"/>
                    <a:pt x="2641" y="1233"/>
                  </a:cubicBezTo>
                  <a:cubicBezTo>
                    <a:pt x="2621" y="1274"/>
                    <a:pt x="2573" y="1329"/>
                    <a:pt x="2553" y="1354"/>
                  </a:cubicBezTo>
                  <a:cubicBezTo>
                    <a:pt x="2514" y="1403"/>
                    <a:pt x="2430" y="1526"/>
                    <a:pt x="2414" y="1546"/>
                  </a:cubicBezTo>
                  <a:cubicBezTo>
                    <a:pt x="2403" y="1562"/>
                    <a:pt x="2400" y="1566"/>
                    <a:pt x="2400" y="1565"/>
                  </a:cubicBezTo>
                  <a:cubicBezTo>
                    <a:pt x="2341" y="1648"/>
                    <a:pt x="2292" y="1777"/>
                    <a:pt x="2292" y="1777"/>
                  </a:cubicBezTo>
                  <a:lnTo>
                    <a:pt x="2111" y="1776"/>
                  </a:lnTo>
                  <a:lnTo>
                    <a:pt x="2112" y="1905"/>
                  </a:lnTo>
                  <a:cubicBezTo>
                    <a:pt x="1920" y="1936"/>
                    <a:pt x="1782" y="1736"/>
                    <a:pt x="1774" y="1546"/>
                  </a:cubicBezTo>
                  <a:cubicBezTo>
                    <a:pt x="1767" y="1356"/>
                    <a:pt x="1904" y="1429"/>
                    <a:pt x="1936" y="1242"/>
                  </a:cubicBezTo>
                  <a:cubicBezTo>
                    <a:pt x="1967" y="1054"/>
                    <a:pt x="1655" y="740"/>
                    <a:pt x="1551" y="664"/>
                  </a:cubicBezTo>
                  <a:cubicBezTo>
                    <a:pt x="1447" y="589"/>
                    <a:pt x="937" y="243"/>
                    <a:pt x="797" y="173"/>
                  </a:cubicBezTo>
                  <a:cubicBezTo>
                    <a:pt x="656" y="103"/>
                    <a:pt x="367" y="86"/>
                    <a:pt x="367" y="86"/>
                  </a:cubicBezTo>
                  <a:cubicBezTo>
                    <a:pt x="390" y="170"/>
                    <a:pt x="670" y="384"/>
                    <a:pt x="670" y="384"/>
                  </a:cubicBezTo>
                  <a:cubicBezTo>
                    <a:pt x="639" y="391"/>
                    <a:pt x="552" y="403"/>
                    <a:pt x="552" y="403"/>
                  </a:cubicBezTo>
                  <a:cubicBezTo>
                    <a:pt x="656" y="528"/>
                    <a:pt x="826" y="660"/>
                    <a:pt x="826" y="660"/>
                  </a:cubicBezTo>
                  <a:cubicBezTo>
                    <a:pt x="764" y="698"/>
                    <a:pt x="639" y="660"/>
                    <a:pt x="639" y="660"/>
                  </a:cubicBezTo>
                  <a:cubicBezTo>
                    <a:pt x="684" y="726"/>
                    <a:pt x="1020" y="924"/>
                    <a:pt x="1020" y="924"/>
                  </a:cubicBezTo>
                  <a:cubicBezTo>
                    <a:pt x="974" y="951"/>
                    <a:pt x="769" y="932"/>
                    <a:pt x="769" y="932"/>
                  </a:cubicBezTo>
                  <a:cubicBezTo>
                    <a:pt x="785" y="996"/>
                    <a:pt x="981" y="1097"/>
                    <a:pt x="981" y="1097"/>
                  </a:cubicBezTo>
                  <a:cubicBezTo>
                    <a:pt x="960" y="1118"/>
                    <a:pt x="762" y="1126"/>
                    <a:pt x="762" y="1126"/>
                  </a:cubicBezTo>
                  <a:cubicBezTo>
                    <a:pt x="779" y="1158"/>
                    <a:pt x="962" y="1260"/>
                    <a:pt x="962" y="1260"/>
                  </a:cubicBezTo>
                  <a:cubicBezTo>
                    <a:pt x="927" y="1282"/>
                    <a:pt x="785" y="1307"/>
                    <a:pt x="785" y="1307"/>
                  </a:cubicBezTo>
                  <a:cubicBezTo>
                    <a:pt x="807" y="1339"/>
                    <a:pt x="936" y="1416"/>
                    <a:pt x="936" y="1416"/>
                  </a:cubicBezTo>
                  <a:cubicBezTo>
                    <a:pt x="887" y="1423"/>
                    <a:pt x="783" y="1475"/>
                    <a:pt x="783" y="1475"/>
                  </a:cubicBezTo>
                  <a:cubicBezTo>
                    <a:pt x="830" y="1520"/>
                    <a:pt x="977" y="1596"/>
                    <a:pt x="977" y="1596"/>
                  </a:cubicBezTo>
                  <a:cubicBezTo>
                    <a:pt x="897" y="1613"/>
                    <a:pt x="840" y="1676"/>
                    <a:pt x="840" y="1676"/>
                  </a:cubicBezTo>
                  <a:cubicBezTo>
                    <a:pt x="958" y="1740"/>
                    <a:pt x="1052" y="1747"/>
                    <a:pt x="1052" y="1747"/>
                  </a:cubicBezTo>
                  <a:cubicBezTo>
                    <a:pt x="982" y="1788"/>
                    <a:pt x="925" y="1849"/>
                    <a:pt x="925" y="1849"/>
                  </a:cubicBezTo>
                  <a:cubicBezTo>
                    <a:pt x="991" y="1893"/>
                    <a:pt x="1154" y="1893"/>
                    <a:pt x="1154" y="1893"/>
                  </a:cubicBezTo>
                  <a:cubicBezTo>
                    <a:pt x="1085" y="1922"/>
                    <a:pt x="986" y="2021"/>
                    <a:pt x="986" y="2021"/>
                  </a:cubicBezTo>
                  <a:cubicBezTo>
                    <a:pt x="1095" y="2057"/>
                    <a:pt x="1230" y="2036"/>
                    <a:pt x="1230" y="2036"/>
                  </a:cubicBezTo>
                  <a:cubicBezTo>
                    <a:pt x="1111" y="2080"/>
                    <a:pt x="1076" y="2179"/>
                    <a:pt x="1076" y="2179"/>
                  </a:cubicBezTo>
                  <a:cubicBezTo>
                    <a:pt x="1163" y="2194"/>
                    <a:pt x="1308" y="2177"/>
                    <a:pt x="1308" y="2177"/>
                  </a:cubicBezTo>
                  <a:cubicBezTo>
                    <a:pt x="1241" y="2203"/>
                    <a:pt x="1177" y="2317"/>
                    <a:pt x="1177" y="2317"/>
                  </a:cubicBezTo>
                  <a:cubicBezTo>
                    <a:pt x="1261" y="2366"/>
                    <a:pt x="1376" y="2321"/>
                    <a:pt x="1376" y="2321"/>
                  </a:cubicBezTo>
                  <a:cubicBezTo>
                    <a:pt x="1331" y="2357"/>
                    <a:pt x="1320" y="2494"/>
                    <a:pt x="1320" y="2494"/>
                  </a:cubicBezTo>
                  <a:cubicBezTo>
                    <a:pt x="1433" y="2499"/>
                    <a:pt x="1497" y="2423"/>
                    <a:pt x="1497" y="2423"/>
                  </a:cubicBezTo>
                  <a:cubicBezTo>
                    <a:pt x="1466" y="2491"/>
                    <a:pt x="1468" y="2593"/>
                    <a:pt x="1468" y="2593"/>
                  </a:cubicBezTo>
                  <a:cubicBezTo>
                    <a:pt x="1563" y="2567"/>
                    <a:pt x="1664" y="2497"/>
                    <a:pt x="1664" y="2497"/>
                  </a:cubicBezTo>
                  <a:cubicBezTo>
                    <a:pt x="1632" y="2560"/>
                    <a:pt x="1651" y="2674"/>
                    <a:pt x="1651" y="2674"/>
                  </a:cubicBezTo>
                  <a:cubicBezTo>
                    <a:pt x="1731" y="2660"/>
                    <a:pt x="1816" y="2551"/>
                    <a:pt x="1816" y="2551"/>
                  </a:cubicBezTo>
                  <a:cubicBezTo>
                    <a:pt x="1788" y="2643"/>
                    <a:pt x="1794" y="2747"/>
                    <a:pt x="1794" y="2747"/>
                  </a:cubicBezTo>
                  <a:cubicBezTo>
                    <a:pt x="1856" y="2731"/>
                    <a:pt x="1960" y="2624"/>
                    <a:pt x="1960" y="2624"/>
                  </a:cubicBezTo>
                  <a:cubicBezTo>
                    <a:pt x="1948" y="2711"/>
                    <a:pt x="2002" y="2794"/>
                    <a:pt x="2002" y="2794"/>
                  </a:cubicBezTo>
                  <a:cubicBezTo>
                    <a:pt x="2047" y="2785"/>
                    <a:pt x="2109" y="2709"/>
                    <a:pt x="2109" y="2709"/>
                  </a:cubicBezTo>
                  <a:lnTo>
                    <a:pt x="2109" y="2809"/>
                  </a:lnTo>
                  <a:cubicBezTo>
                    <a:pt x="1910" y="2827"/>
                    <a:pt x="1830" y="2995"/>
                    <a:pt x="1755" y="3050"/>
                  </a:cubicBezTo>
                  <a:cubicBezTo>
                    <a:pt x="1681" y="3106"/>
                    <a:pt x="1599" y="3272"/>
                    <a:pt x="1599" y="3272"/>
                  </a:cubicBezTo>
                  <a:lnTo>
                    <a:pt x="1332" y="3302"/>
                  </a:lnTo>
                  <a:cubicBezTo>
                    <a:pt x="1345" y="3269"/>
                    <a:pt x="1367" y="3191"/>
                    <a:pt x="1293" y="3141"/>
                  </a:cubicBezTo>
                  <a:cubicBezTo>
                    <a:pt x="1218" y="3090"/>
                    <a:pt x="1128" y="3200"/>
                    <a:pt x="1119" y="3189"/>
                  </a:cubicBezTo>
                  <a:cubicBezTo>
                    <a:pt x="1111" y="3179"/>
                    <a:pt x="1079" y="3180"/>
                    <a:pt x="1034" y="3161"/>
                  </a:cubicBezTo>
                  <a:cubicBezTo>
                    <a:pt x="989" y="3142"/>
                    <a:pt x="1029" y="3132"/>
                    <a:pt x="1029" y="3132"/>
                  </a:cubicBezTo>
                  <a:cubicBezTo>
                    <a:pt x="1069" y="3099"/>
                    <a:pt x="1022" y="3031"/>
                    <a:pt x="1022" y="3031"/>
                  </a:cubicBezTo>
                  <a:cubicBezTo>
                    <a:pt x="1119" y="2998"/>
                    <a:pt x="1228" y="2832"/>
                    <a:pt x="1235" y="2757"/>
                  </a:cubicBezTo>
                  <a:cubicBezTo>
                    <a:pt x="1242" y="2683"/>
                    <a:pt x="1305" y="2605"/>
                    <a:pt x="1305" y="2605"/>
                  </a:cubicBezTo>
                  <a:cubicBezTo>
                    <a:pt x="1196" y="2605"/>
                    <a:pt x="1045" y="2735"/>
                    <a:pt x="1045" y="2735"/>
                  </a:cubicBezTo>
                  <a:cubicBezTo>
                    <a:pt x="1064" y="2671"/>
                    <a:pt x="1026" y="2468"/>
                    <a:pt x="1026" y="2468"/>
                  </a:cubicBezTo>
                  <a:cubicBezTo>
                    <a:pt x="889" y="2572"/>
                    <a:pt x="825" y="2872"/>
                    <a:pt x="825" y="2872"/>
                  </a:cubicBezTo>
                  <a:cubicBezTo>
                    <a:pt x="809" y="2837"/>
                    <a:pt x="781" y="2851"/>
                    <a:pt x="781" y="2851"/>
                  </a:cubicBezTo>
                  <a:cubicBezTo>
                    <a:pt x="871" y="2723"/>
                    <a:pt x="812" y="2409"/>
                    <a:pt x="812" y="2409"/>
                  </a:cubicBezTo>
                  <a:cubicBezTo>
                    <a:pt x="648" y="2536"/>
                    <a:pt x="649" y="2666"/>
                    <a:pt x="649" y="2666"/>
                  </a:cubicBezTo>
                  <a:cubicBezTo>
                    <a:pt x="573" y="2679"/>
                    <a:pt x="580" y="2714"/>
                    <a:pt x="566" y="2716"/>
                  </a:cubicBezTo>
                  <a:cubicBezTo>
                    <a:pt x="552" y="2718"/>
                    <a:pt x="542" y="2638"/>
                    <a:pt x="542" y="2638"/>
                  </a:cubicBezTo>
                  <a:cubicBezTo>
                    <a:pt x="542" y="2638"/>
                    <a:pt x="625" y="2634"/>
                    <a:pt x="629" y="2553"/>
                  </a:cubicBezTo>
                  <a:cubicBezTo>
                    <a:pt x="632" y="2471"/>
                    <a:pt x="551" y="2463"/>
                    <a:pt x="551" y="2463"/>
                  </a:cubicBezTo>
                  <a:cubicBezTo>
                    <a:pt x="769" y="2362"/>
                    <a:pt x="689" y="2068"/>
                    <a:pt x="689" y="2100"/>
                  </a:cubicBezTo>
                  <a:cubicBezTo>
                    <a:pt x="689" y="2133"/>
                    <a:pt x="679" y="2135"/>
                    <a:pt x="611" y="2165"/>
                  </a:cubicBezTo>
                  <a:cubicBezTo>
                    <a:pt x="544" y="2194"/>
                    <a:pt x="502" y="2243"/>
                    <a:pt x="502" y="2243"/>
                  </a:cubicBezTo>
                  <a:cubicBezTo>
                    <a:pt x="471" y="2206"/>
                    <a:pt x="436" y="2205"/>
                    <a:pt x="436" y="2205"/>
                  </a:cubicBezTo>
                  <a:cubicBezTo>
                    <a:pt x="487" y="2166"/>
                    <a:pt x="604" y="2017"/>
                    <a:pt x="579" y="1960"/>
                  </a:cubicBezTo>
                  <a:cubicBezTo>
                    <a:pt x="552" y="1903"/>
                    <a:pt x="585" y="1783"/>
                    <a:pt x="585" y="1783"/>
                  </a:cubicBezTo>
                  <a:cubicBezTo>
                    <a:pt x="495" y="1802"/>
                    <a:pt x="419" y="1976"/>
                    <a:pt x="419" y="1976"/>
                  </a:cubicBezTo>
                  <a:cubicBezTo>
                    <a:pt x="414" y="1934"/>
                    <a:pt x="369" y="1856"/>
                    <a:pt x="341" y="1835"/>
                  </a:cubicBezTo>
                  <a:cubicBezTo>
                    <a:pt x="313" y="1815"/>
                    <a:pt x="247" y="1653"/>
                    <a:pt x="247" y="1653"/>
                  </a:cubicBezTo>
                  <a:cubicBezTo>
                    <a:pt x="244" y="1719"/>
                    <a:pt x="223" y="1884"/>
                    <a:pt x="213" y="1974"/>
                  </a:cubicBezTo>
                  <a:cubicBezTo>
                    <a:pt x="202" y="2064"/>
                    <a:pt x="253" y="2180"/>
                    <a:pt x="325" y="2212"/>
                  </a:cubicBezTo>
                  <a:cubicBezTo>
                    <a:pt x="398" y="2243"/>
                    <a:pt x="367" y="2314"/>
                    <a:pt x="367" y="2314"/>
                  </a:cubicBezTo>
                  <a:cubicBezTo>
                    <a:pt x="362" y="2281"/>
                    <a:pt x="251" y="2206"/>
                    <a:pt x="157" y="2179"/>
                  </a:cubicBezTo>
                  <a:cubicBezTo>
                    <a:pt x="64" y="2151"/>
                    <a:pt x="0" y="2088"/>
                    <a:pt x="0" y="2088"/>
                  </a:cubicBezTo>
                  <a:cubicBezTo>
                    <a:pt x="0" y="2088"/>
                    <a:pt x="8" y="2288"/>
                    <a:pt x="93" y="2366"/>
                  </a:cubicBezTo>
                  <a:cubicBezTo>
                    <a:pt x="178" y="2444"/>
                    <a:pt x="324" y="2477"/>
                    <a:pt x="324" y="2477"/>
                  </a:cubicBezTo>
                  <a:cubicBezTo>
                    <a:pt x="289" y="2491"/>
                    <a:pt x="277" y="2546"/>
                    <a:pt x="277" y="2546"/>
                  </a:cubicBezTo>
                  <a:cubicBezTo>
                    <a:pt x="190" y="2511"/>
                    <a:pt x="34" y="2549"/>
                    <a:pt x="34" y="2549"/>
                  </a:cubicBezTo>
                  <a:cubicBezTo>
                    <a:pt x="100" y="2572"/>
                    <a:pt x="178" y="2707"/>
                    <a:pt x="178" y="2707"/>
                  </a:cubicBezTo>
                  <a:cubicBezTo>
                    <a:pt x="138" y="2714"/>
                    <a:pt x="81" y="2813"/>
                    <a:pt x="81" y="2813"/>
                  </a:cubicBezTo>
                  <a:cubicBezTo>
                    <a:pt x="213" y="2761"/>
                    <a:pt x="286" y="2912"/>
                    <a:pt x="286" y="2912"/>
                  </a:cubicBezTo>
                  <a:cubicBezTo>
                    <a:pt x="254" y="2971"/>
                    <a:pt x="296" y="3012"/>
                    <a:pt x="296" y="3012"/>
                  </a:cubicBezTo>
                  <a:cubicBezTo>
                    <a:pt x="244" y="3017"/>
                    <a:pt x="202" y="3063"/>
                    <a:pt x="202" y="3063"/>
                  </a:cubicBezTo>
                  <a:cubicBezTo>
                    <a:pt x="265" y="3106"/>
                    <a:pt x="440" y="3134"/>
                    <a:pt x="440" y="3134"/>
                  </a:cubicBezTo>
                  <a:cubicBezTo>
                    <a:pt x="353" y="3172"/>
                    <a:pt x="296" y="3279"/>
                    <a:pt x="296" y="3279"/>
                  </a:cubicBezTo>
                  <a:cubicBezTo>
                    <a:pt x="481" y="3364"/>
                    <a:pt x="653" y="3231"/>
                    <a:pt x="653" y="3231"/>
                  </a:cubicBezTo>
                  <a:cubicBezTo>
                    <a:pt x="507" y="3395"/>
                    <a:pt x="518" y="3548"/>
                    <a:pt x="518" y="3548"/>
                  </a:cubicBezTo>
                  <a:cubicBezTo>
                    <a:pt x="601" y="3538"/>
                    <a:pt x="660" y="3492"/>
                    <a:pt x="660" y="3492"/>
                  </a:cubicBezTo>
                  <a:cubicBezTo>
                    <a:pt x="641" y="3586"/>
                    <a:pt x="703" y="3676"/>
                    <a:pt x="703" y="3676"/>
                  </a:cubicBezTo>
                  <a:cubicBezTo>
                    <a:pt x="871" y="3607"/>
                    <a:pt x="851" y="3352"/>
                    <a:pt x="854" y="3272"/>
                  </a:cubicBezTo>
                  <a:cubicBezTo>
                    <a:pt x="858" y="3193"/>
                    <a:pt x="944" y="3189"/>
                    <a:pt x="967" y="3212"/>
                  </a:cubicBezTo>
                  <a:cubicBezTo>
                    <a:pt x="989" y="3234"/>
                    <a:pt x="918" y="3283"/>
                    <a:pt x="901" y="3347"/>
                  </a:cubicBezTo>
                  <a:cubicBezTo>
                    <a:pt x="884" y="3411"/>
                    <a:pt x="960" y="3461"/>
                    <a:pt x="960" y="3461"/>
                  </a:cubicBezTo>
                  <a:cubicBezTo>
                    <a:pt x="941" y="3550"/>
                    <a:pt x="1073" y="3579"/>
                    <a:pt x="1073" y="3579"/>
                  </a:cubicBezTo>
                  <a:cubicBezTo>
                    <a:pt x="1157" y="3733"/>
                    <a:pt x="1313" y="3558"/>
                    <a:pt x="1313" y="3558"/>
                  </a:cubicBezTo>
                  <a:cubicBezTo>
                    <a:pt x="1440" y="3695"/>
                    <a:pt x="1428" y="3903"/>
                    <a:pt x="1459" y="3938"/>
                  </a:cubicBezTo>
                  <a:cubicBezTo>
                    <a:pt x="1490" y="3973"/>
                    <a:pt x="1546" y="3940"/>
                    <a:pt x="1546" y="3940"/>
                  </a:cubicBezTo>
                  <a:cubicBezTo>
                    <a:pt x="1586" y="3778"/>
                    <a:pt x="1345" y="3477"/>
                    <a:pt x="1345" y="3477"/>
                  </a:cubicBezTo>
                  <a:cubicBezTo>
                    <a:pt x="1345" y="3458"/>
                    <a:pt x="1326" y="3418"/>
                    <a:pt x="1326" y="3418"/>
                  </a:cubicBezTo>
                  <a:cubicBezTo>
                    <a:pt x="1326" y="3418"/>
                    <a:pt x="1468" y="3418"/>
                    <a:pt x="1593" y="3425"/>
                  </a:cubicBezTo>
                  <a:cubicBezTo>
                    <a:pt x="1717" y="3432"/>
                    <a:pt x="1707" y="3463"/>
                    <a:pt x="1877" y="3463"/>
                  </a:cubicBezTo>
                  <a:cubicBezTo>
                    <a:pt x="2047" y="3463"/>
                    <a:pt x="2277" y="3314"/>
                    <a:pt x="2277" y="3314"/>
                  </a:cubicBezTo>
                  <a:lnTo>
                    <a:pt x="2421" y="3323"/>
                  </a:lnTo>
                  <a:cubicBezTo>
                    <a:pt x="2423" y="3409"/>
                    <a:pt x="2461" y="3483"/>
                    <a:pt x="2461" y="3483"/>
                  </a:cubicBezTo>
                  <a:cubicBezTo>
                    <a:pt x="2120" y="3766"/>
                    <a:pt x="2105" y="3973"/>
                    <a:pt x="2105" y="3973"/>
                  </a:cubicBezTo>
                  <a:cubicBezTo>
                    <a:pt x="2158" y="3981"/>
                    <a:pt x="2268" y="3931"/>
                    <a:pt x="2268" y="3931"/>
                  </a:cubicBezTo>
                  <a:cubicBezTo>
                    <a:pt x="2194" y="4061"/>
                    <a:pt x="2213" y="4172"/>
                    <a:pt x="2213" y="4172"/>
                  </a:cubicBezTo>
                  <a:cubicBezTo>
                    <a:pt x="2298" y="4158"/>
                    <a:pt x="2374" y="4085"/>
                    <a:pt x="2374" y="4085"/>
                  </a:cubicBezTo>
                  <a:cubicBezTo>
                    <a:pt x="2333" y="4184"/>
                    <a:pt x="2374" y="4305"/>
                    <a:pt x="2374" y="4305"/>
                  </a:cubicBezTo>
                  <a:cubicBezTo>
                    <a:pt x="2470" y="4267"/>
                    <a:pt x="2534" y="4208"/>
                    <a:pt x="2534" y="4208"/>
                  </a:cubicBezTo>
                  <a:cubicBezTo>
                    <a:pt x="2513" y="4312"/>
                    <a:pt x="2556" y="4409"/>
                    <a:pt x="2556" y="4409"/>
                  </a:cubicBezTo>
                  <a:cubicBezTo>
                    <a:pt x="2625" y="4392"/>
                    <a:pt x="2705" y="4319"/>
                    <a:pt x="2705" y="4319"/>
                  </a:cubicBezTo>
                  <a:cubicBezTo>
                    <a:pt x="2724" y="4411"/>
                    <a:pt x="2790" y="4448"/>
                    <a:pt x="2790" y="4448"/>
                  </a:cubicBezTo>
                  <a:cubicBezTo>
                    <a:pt x="2832" y="4411"/>
                    <a:pt x="2872" y="4295"/>
                    <a:pt x="2872" y="4295"/>
                  </a:cubicBezTo>
                  <a:cubicBezTo>
                    <a:pt x="2901" y="4375"/>
                    <a:pt x="3000" y="4423"/>
                    <a:pt x="3000" y="4423"/>
                  </a:cubicBezTo>
                  <a:cubicBezTo>
                    <a:pt x="3050" y="4347"/>
                    <a:pt x="3043" y="4222"/>
                    <a:pt x="3043" y="4222"/>
                  </a:cubicBezTo>
                  <a:cubicBezTo>
                    <a:pt x="3104" y="4307"/>
                    <a:pt x="3191" y="4319"/>
                    <a:pt x="3191" y="4319"/>
                  </a:cubicBezTo>
                  <a:cubicBezTo>
                    <a:pt x="3244" y="4234"/>
                    <a:pt x="3194" y="4064"/>
                    <a:pt x="3194" y="4064"/>
                  </a:cubicBezTo>
                  <a:cubicBezTo>
                    <a:pt x="3289" y="4182"/>
                    <a:pt x="3364" y="4170"/>
                    <a:pt x="3364" y="4170"/>
                  </a:cubicBezTo>
                  <a:cubicBezTo>
                    <a:pt x="3397" y="4101"/>
                    <a:pt x="3319" y="3934"/>
                    <a:pt x="3319" y="3934"/>
                  </a:cubicBezTo>
                  <a:cubicBezTo>
                    <a:pt x="3388" y="4011"/>
                    <a:pt x="3483" y="3998"/>
                    <a:pt x="3483" y="3998"/>
                  </a:cubicBezTo>
                  <a:cubicBezTo>
                    <a:pt x="3519" y="3782"/>
                    <a:pt x="3124" y="3472"/>
                    <a:pt x="3124" y="3472"/>
                  </a:cubicBezTo>
                  <a:cubicBezTo>
                    <a:pt x="3189" y="3418"/>
                    <a:pt x="3151" y="3307"/>
                    <a:pt x="3151" y="3307"/>
                  </a:cubicBezTo>
                  <a:lnTo>
                    <a:pt x="3284" y="3309"/>
                  </a:lnTo>
                  <a:cubicBezTo>
                    <a:pt x="3310" y="3343"/>
                    <a:pt x="3490" y="3449"/>
                    <a:pt x="3681" y="3461"/>
                  </a:cubicBezTo>
                  <a:cubicBezTo>
                    <a:pt x="3872" y="3473"/>
                    <a:pt x="3997" y="3394"/>
                    <a:pt x="3997" y="3394"/>
                  </a:cubicBezTo>
                  <a:lnTo>
                    <a:pt x="4239" y="3394"/>
                  </a:lnTo>
                  <a:cubicBezTo>
                    <a:pt x="4220" y="3439"/>
                    <a:pt x="4241" y="3484"/>
                    <a:pt x="4241" y="3484"/>
                  </a:cubicBezTo>
                  <a:lnTo>
                    <a:pt x="4073" y="3616"/>
                  </a:lnTo>
                  <a:lnTo>
                    <a:pt x="3991" y="3622"/>
                  </a:lnTo>
                  <a:lnTo>
                    <a:pt x="3699" y="3831"/>
                  </a:lnTo>
                  <a:lnTo>
                    <a:pt x="3794" y="3839"/>
                  </a:lnTo>
                  <a:lnTo>
                    <a:pt x="3751" y="3879"/>
                  </a:lnTo>
                  <a:lnTo>
                    <a:pt x="3789" y="3882"/>
                  </a:lnTo>
                  <a:lnTo>
                    <a:pt x="3783" y="3979"/>
                  </a:lnTo>
                  <a:lnTo>
                    <a:pt x="3879" y="3929"/>
                  </a:lnTo>
                  <a:lnTo>
                    <a:pt x="3894" y="4049"/>
                  </a:lnTo>
                  <a:lnTo>
                    <a:pt x="3943" y="4012"/>
                  </a:lnTo>
                  <a:lnTo>
                    <a:pt x="3938" y="4063"/>
                  </a:lnTo>
                  <a:lnTo>
                    <a:pt x="4004" y="4052"/>
                  </a:lnTo>
                  <a:lnTo>
                    <a:pt x="4007" y="4116"/>
                  </a:lnTo>
                  <a:lnTo>
                    <a:pt x="4073" y="4078"/>
                  </a:lnTo>
                  <a:lnTo>
                    <a:pt x="4123" y="4130"/>
                  </a:lnTo>
                  <a:lnTo>
                    <a:pt x="4154" y="4082"/>
                  </a:lnTo>
                  <a:lnTo>
                    <a:pt x="4163" y="4179"/>
                  </a:lnTo>
                  <a:lnTo>
                    <a:pt x="4229" y="4130"/>
                  </a:lnTo>
                  <a:lnTo>
                    <a:pt x="4246" y="4179"/>
                  </a:lnTo>
                  <a:lnTo>
                    <a:pt x="4270" y="4149"/>
                  </a:lnTo>
                  <a:lnTo>
                    <a:pt x="4303" y="4220"/>
                  </a:lnTo>
                  <a:lnTo>
                    <a:pt x="4375" y="3589"/>
                  </a:lnTo>
                  <a:cubicBezTo>
                    <a:pt x="4375" y="3589"/>
                    <a:pt x="4414" y="3607"/>
                    <a:pt x="4466" y="3589"/>
                  </a:cubicBezTo>
                  <a:cubicBezTo>
                    <a:pt x="4517" y="3572"/>
                    <a:pt x="4503" y="3510"/>
                    <a:pt x="4503" y="3510"/>
                  </a:cubicBezTo>
                  <a:cubicBezTo>
                    <a:pt x="4503" y="3510"/>
                    <a:pt x="4557" y="3546"/>
                    <a:pt x="4595" y="3494"/>
                  </a:cubicBezTo>
                  <a:cubicBezTo>
                    <a:pt x="4633" y="3442"/>
                    <a:pt x="4605" y="3394"/>
                    <a:pt x="4605" y="3394"/>
                  </a:cubicBezTo>
                  <a:cubicBezTo>
                    <a:pt x="4605" y="3394"/>
                    <a:pt x="4645" y="3381"/>
                    <a:pt x="4671" y="3349"/>
                  </a:cubicBezTo>
                  <a:cubicBezTo>
                    <a:pt x="4697" y="3316"/>
                    <a:pt x="4650" y="3220"/>
                    <a:pt x="4650" y="3220"/>
                  </a:cubicBezTo>
                  <a:lnTo>
                    <a:pt x="5139" y="2848"/>
                  </a:lnTo>
                  <a:lnTo>
                    <a:pt x="5141" y="2882"/>
                  </a:lnTo>
                  <a:lnTo>
                    <a:pt x="5255" y="2735"/>
                  </a:lnTo>
                  <a:lnTo>
                    <a:pt x="5080" y="2820"/>
                  </a:lnTo>
                  <a:lnTo>
                    <a:pt x="5110" y="2823"/>
                  </a:lnTo>
                  <a:lnTo>
                    <a:pt x="4874" y="2983"/>
                  </a:lnTo>
                  <a:lnTo>
                    <a:pt x="5272" y="2612"/>
                  </a:lnTo>
                  <a:lnTo>
                    <a:pt x="5285" y="2650"/>
                  </a:lnTo>
                  <a:lnTo>
                    <a:pt x="5387" y="2477"/>
                  </a:lnTo>
                  <a:lnTo>
                    <a:pt x="5217" y="2582"/>
                  </a:lnTo>
                  <a:lnTo>
                    <a:pt x="5246" y="2593"/>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71708789"/>
      </p:ext>
    </p:extLst>
  </p:cSld>
  <p:clrMapOvr>
    <a:masterClrMapping/>
  </p:clrMapOvr>
  <p:transition>
    <p:fade/>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p:cNvSpPr>
            <a:spLocks noGrp="1"/>
          </p:cNvSpPr>
          <p:nvPr>
            <p:ph type="title"/>
          </p:nvPr>
        </p:nvSpPr>
        <p:spPr>
          <a:xfrm>
            <a:off x="501650" y="317500"/>
            <a:ext cx="11161713" cy="333375"/>
          </a:xfrm>
        </p:spPr>
        <p:txBody>
          <a:bodyPr wrap="square" numCol="1" compatLnSpc="1">
            <a:prstTxWarp prst="textNoShape">
              <a:avLst/>
            </a:prstTxWarp>
          </a:bodyPr>
          <a:lstStyle/>
          <a:p>
            <a:r>
              <a:rPr lang="en-US" sz="2000" b="1" dirty="0"/>
              <a:t>Integrated Project Management</a:t>
            </a:r>
            <a:r>
              <a:rPr lang="en-US" sz="2000" dirty="0"/>
              <a:t> enables synchronized execution and effective coordination across key stakeholders </a:t>
            </a:r>
            <a:endParaRPr lang="en-IN" altLang="en-US" sz="2000" dirty="0"/>
          </a:p>
        </p:txBody>
      </p:sp>
      <p:grpSp>
        <p:nvGrpSpPr>
          <p:cNvPr id="132" name="Group 131"/>
          <p:cNvGrpSpPr/>
          <p:nvPr/>
        </p:nvGrpSpPr>
        <p:grpSpPr>
          <a:xfrm>
            <a:off x="501650" y="791310"/>
            <a:ext cx="11161713" cy="5552581"/>
            <a:chOff x="129947" y="204904"/>
            <a:chExt cx="11973386" cy="6614851"/>
          </a:xfrm>
        </p:grpSpPr>
        <p:sp>
          <p:nvSpPr>
            <p:cNvPr id="7" name="TextBox 6"/>
            <p:cNvSpPr txBox="1">
              <a:spLocks/>
            </p:cNvSpPr>
            <p:nvPr/>
          </p:nvSpPr>
          <p:spPr>
            <a:xfrm>
              <a:off x="157615" y="574365"/>
              <a:ext cx="11844450" cy="5407582"/>
            </a:xfrm>
            <a:prstGeom prst="rect">
              <a:avLst/>
            </a:prstGeom>
            <a:noFill/>
            <a:ln w="19050">
              <a:solidFill>
                <a:srgbClr val="00D5E6"/>
              </a:solidFill>
            </a:ln>
          </p:spPr>
          <p:txBody>
            <a:bodyPr wrap="square" lIns="0" rIns="0" rtlCol="0" anchor="ctr" anchorCtr="0">
              <a:noAutofit/>
            </a:bodyPr>
            <a:lstStyle>
              <a:defPPr>
                <a:defRPr lang="en-US"/>
              </a:defPPr>
              <a:lvl1pPr algn="ctr">
                <a:defRPr sz="1200" b="1" spc="200">
                  <a:latin typeface="Calibri Light" panose="020F0302020204030204" pitchFamily="34" charset="0"/>
                  <a:cs typeface="Calibri Light" panose="020F0302020204030204" pitchFamily="34" charset="0"/>
                </a:defRPr>
              </a:lvl1pPr>
            </a:lstStyle>
            <a:p>
              <a:endParaRPr lang="en-IN" sz="1100" dirty="0"/>
            </a:p>
          </p:txBody>
        </p:sp>
        <p:sp>
          <p:nvSpPr>
            <p:cNvPr id="8" name="TextBox 7"/>
            <p:cNvSpPr txBox="1">
              <a:spLocks/>
            </p:cNvSpPr>
            <p:nvPr/>
          </p:nvSpPr>
          <p:spPr>
            <a:xfrm>
              <a:off x="9149948" y="2332022"/>
              <a:ext cx="2658640" cy="488321"/>
            </a:xfrm>
            <a:prstGeom prst="rect">
              <a:avLst/>
            </a:prstGeom>
            <a:solidFill>
              <a:schemeClr val="accent3">
                <a:lumMod val="75000"/>
              </a:schemeClr>
            </a:solidFill>
            <a:ln/>
          </p:spPr>
          <p:style>
            <a:lnRef idx="0">
              <a:schemeClr val="accent6"/>
            </a:lnRef>
            <a:fillRef idx="3">
              <a:schemeClr val="accent6"/>
            </a:fillRef>
            <a:effectRef idx="3">
              <a:schemeClr val="accent6"/>
            </a:effectRef>
            <a:fontRef idx="minor">
              <a:schemeClr val="lt1"/>
            </a:fontRef>
          </p:style>
          <p:txBody>
            <a:bodyPr wrap="square" rtlCol="0">
              <a:noAutofit/>
            </a:bodyPr>
            <a:lstStyle>
              <a:defPPr>
                <a:defRPr lang="en-US"/>
              </a:defPPr>
              <a:lvl1pPr algn="ctr">
                <a:defRPr sz="1100" b="1" spc="300">
                  <a:solidFill>
                    <a:schemeClr val="lt1"/>
                  </a:solidFill>
                  <a:latin typeface="Calibri Light" panose="020F0302020204030204" pitchFamily="34" charset="0"/>
                  <a:cs typeface="Calibri Light" panose="020F03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050" dirty="0"/>
                <a:t> </a:t>
              </a:r>
              <a:endParaRPr lang="en-IN" sz="1050" dirty="0"/>
            </a:p>
          </p:txBody>
        </p:sp>
        <p:sp>
          <p:nvSpPr>
            <p:cNvPr id="9" name="Title 1"/>
            <p:cNvSpPr txBox="1">
              <a:spLocks/>
            </p:cNvSpPr>
            <p:nvPr/>
          </p:nvSpPr>
          <p:spPr>
            <a:xfrm>
              <a:off x="129947" y="252130"/>
              <a:ext cx="7590108" cy="31045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IN" sz="1600" b="1" dirty="0">
                <a:latin typeface="Verdana" panose="020B0604030504040204" pitchFamily="34" charset="0"/>
                <a:ea typeface="Verdana" panose="020B0604030504040204" pitchFamily="34" charset="0"/>
                <a:cs typeface="Verdana" panose="020B0604030504040204" pitchFamily="34" charset="0"/>
              </a:endParaRPr>
            </a:p>
          </p:txBody>
        </p:sp>
        <p:sp>
          <p:nvSpPr>
            <p:cNvPr id="10" name="Title 1"/>
            <p:cNvSpPr txBox="1">
              <a:spLocks/>
            </p:cNvSpPr>
            <p:nvPr/>
          </p:nvSpPr>
          <p:spPr>
            <a:xfrm>
              <a:off x="10374180" y="204904"/>
              <a:ext cx="1729153" cy="352456"/>
            </a:xfrm>
            <a:prstGeom prst="rect">
              <a:avLst/>
            </a:prstGeom>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600" b="1" dirty="0">
                  <a:solidFill>
                    <a:srgbClr val="0076A8"/>
                  </a:solidFill>
                </a:rPr>
                <a:t>Indicative</a:t>
              </a:r>
              <a:endParaRPr lang="en-IN" sz="1600" b="1" dirty="0">
                <a:solidFill>
                  <a:srgbClr val="0076A8"/>
                </a:solidFill>
              </a:endParaRPr>
            </a:p>
          </p:txBody>
        </p:sp>
        <p:sp>
          <p:nvSpPr>
            <p:cNvPr id="11" name="TextBox 10"/>
            <p:cNvSpPr txBox="1">
              <a:spLocks/>
            </p:cNvSpPr>
            <p:nvPr/>
          </p:nvSpPr>
          <p:spPr>
            <a:xfrm>
              <a:off x="157615" y="6112549"/>
              <a:ext cx="11844449" cy="707206"/>
            </a:xfrm>
            <a:prstGeom prst="rect">
              <a:avLst/>
            </a:prstGeom>
            <a:noFill/>
            <a:ln w="19050">
              <a:solidFill>
                <a:srgbClr val="00D5E6"/>
              </a:solidFill>
            </a:ln>
          </p:spPr>
          <p:txBody>
            <a:bodyPr wrap="square" rtlCol="0" anchor="ctr" anchorCtr="0">
              <a:noAutofit/>
            </a:bodyPr>
            <a:lstStyle/>
            <a:p>
              <a:pPr algn="ctr"/>
              <a:endParaRPr lang="en-IN" sz="1100" b="1" spc="300" dirty="0">
                <a:latin typeface="Calibri Light" panose="020F0302020204030204" pitchFamily="34" charset="0"/>
                <a:cs typeface="Calibri Light" panose="020F0302020204030204" pitchFamily="34" charset="0"/>
              </a:endParaRPr>
            </a:p>
          </p:txBody>
        </p:sp>
        <p:sp>
          <p:nvSpPr>
            <p:cNvPr id="12" name="TextBox 11"/>
            <p:cNvSpPr txBox="1"/>
            <p:nvPr/>
          </p:nvSpPr>
          <p:spPr>
            <a:xfrm>
              <a:off x="4863544" y="3104270"/>
              <a:ext cx="1179217" cy="586653"/>
            </a:xfrm>
            <a:prstGeom prst="rect">
              <a:avLst/>
            </a:prstGeom>
            <a:solidFill>
              <a:schemeClr val="bg1"/>
            </a:solidFill>
          </p:spPr>
          <p:txBody>
            <a:bodyPr wrap="square" lIns="0" tIns="0" rIns="0" bIns="0" rtlCol="0">
              <a:spAutoFit/>
            </a:bodyPr>
            <a:lstStyle/>
            <a:p>
              <a:r>
                <a:rPr lang="en-IN" sz="800" dirty="0">
                  <a:latin typeface="Calibri Light" panose="020F0302020204030204" pitchFamily="34" charset="0"/>
                </a:rPr>
                <a:t>Management system of:</a:t>
              </a:r>
            </a:p>
            <a:p>
              <a:r>
                <a:rPr lang="en-IN" sz="800" dirty="0">
                  <a:latin typeface="Calibri Light" panose="020F0302020204030204" pitchFamily="34" charset="0"/>
                </a:rPr>
                <a:t>-EBOM &amp; M BOM</a:t>
              </a:r>
            </a:p>
            <a:p>
              <a:r>
                <a:rPr lang="en-IN" sz="800" dirty="0">
                  <a:latin typeface="Calibri Light" panose="020F0302020204030204" pitchFamily="34" charset="0"/>
                </a:rPr>
                <a:t>-Data </a:t>
              </a:r>
            </a:p>
            <a:p>
              <a:r>
                <a:rPr lang="en-IN" sz="800" dirty="0">
                  <a:latin typeface="Calibri Light" panose="020F0302020204030204" pitchFamily="34" charset="0"/>
                </a:rPr>
                <a:t>-Doc/ Dwg </a:t>
              </a:r>
            </a:p>
          </p:txBody>
        </p:sp>
        <p:sp>
          <p:nvSpPr>
            <p:cNvPr id="13" name="Rectangle 12"/>
            <p:cNvSpPr/>
            <p:nvPr/>
          </p:nvSpPr>
          <p:spPr>
            <a:xfrm rot="16200000">
              <a:off x="-896685" y="3791187"/>
              <a:ext cx="3872437" cy="396000"/>
            </a:xfrm>
            <a:prstGeom prst="rect">
              <a:avLst/>
            </a:prstGeom>
            <a:noFill/>
            <a:ln w="222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spc="150" dirty="0">
                  <a:solidFill>
                    <a:schemeClr val="tx1"/>
                  </a:solidFill>
                  <a:latin typeface="Calibri Light" panose="020F0302020204030204" pitchFamily="34" charset="0"/>
                  <a:ea typeface="Verdana" panose="020B0604030504040204" pitchFamily="34" charset="0"/>
                  <a:cs typeface="Calibri Light" panose="020F0302020204030204" pitchFamily="34" charset="0"/>
                </a:rPr>
                <a:t>Integration Layer (Extract Transform and Load)</a:t>
              </a:r>
            </a:p>
            <a:p>
              <a:pPr algn="ctr"/>
              <a:endParaRPr lang="en-IN" sz="1100" b="1" spc="150" dirty="0">
                <a:solidFill>
                  <a:schemeClr val="tx1"/>
                </a:solidFill>
                <a:latin typeface="Calibri Light" panose="020F0302020204030204" pitchFamily="34" charset="0"/>
                <a:ea typeface="Verdana" panose="020B0604030504040204" pitchFamily="34" charset="0"/>
                <a:cs typeface="Calibri Light" panose="020F0302020204030204" pitchFamily="34" charset="0"/>
              </a:endParaRPr>
            </a:p>
          </p:txBody>
        </p:sp>
        <p:sp>
          <p:nvSpPr>
            <p:cNvPr id="14" name="TextBox 13"/>
            <p:cNvSpPr txBox="1">
              <a:spLocks/>
            </p:cNvSpPr>
            <p:nvPr/>
          </p:nvSpPr>
          <p:spPr>
            <a:xfrm>
              <a:off x="9156721" y="1782804"/>
              <a:ext cx="2658640" cy="488321"/>
            </a:xfrm>
            <a:prstGeom prst="rect">
              <a:avLst/>
            </a:prstGeom>
            <a:solidFill>
              <a:schemeClr val="accent3">
                <a:lumMod val="75000"/>
              </a:schemeClr>
            </a:solidFill>
            <a:ln/>
          </p:spPr>
          <p:style>
            <a:lnRef idx="0">
              <a:schemeClr val="accent6"/>
            </a:lnRef>
            <a:fillRef idx="3">
              <a:schemeClr val="accent6"/>
            </a:fillRef>
            <a:effectRef idx="3">
              <a:schemeClr val="accent6"/>
            </a:effectRef>
            <a:fontRef idx="minor">
              <a:schemeClr val="lt1"/>
            </a:fontRef>
          </p:style>
          <p:txBody>
            <a:bodyPr wrap="square" rtlCol="0">
              <a:noAutofit/>
            </a:bodyPr>
            <a:lstStyle>
              <a:defPPr>
                <a:defRPr lang="en-US"/>
              </a:defPPr>
              <a:lvl1pPr algn="ctr">
                <a:defRPr sz="1100" b="1" spc="300">
                  <a:solidFill>
                    <a:schemeClr val="lt1"/>
                  </a:solidFill>
                  <a:latin typeface="Calibri Light" panose="020F0302020204030204" pitchFamily="34" charset="0"/>
                  <a:cs typeface="Calibri Light" panose="020F03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050" dirty="0"/>
                <a:t> </a:t>
              </a:r>
              <a:endParaRPr lang="en-IN" sz="1050" dirty="0"/>
            </a:p>
          </p:txBody>
        </p:sp>
        <p:sp>
          <p:nvSpPr>
            <p:cNvPr id="15" name="TextBox 14"/>
            <p:cNvSpPr txBox="1"/>
            <p:nvPr/>
          </p:nvSpPr>
          <p:spPr>
            <a:xfrm>
              <a:off x="8477588" y="1840345"/>
              <a:ext cx="570215" cy="128330"/>
            </a:xfrm>
            <a:prstGeom prst="rect">
              <a:avLst/>
            </a:prstGeom>
            <a:solidFill>
              <a:schemeClr val="bg1"/>
            </a:solidFill>
          </p:spPr>
          <p:txBody>
            <a:bodyPr wrap="square" lIns="0" tIns="0" rIns="0" bIns="0" rtlCol="0">
              <a:spAutoFit/>
            </a:bodyPr>
            <a:lstStyle/>
            <a:p>
              <a:pPr algn="ctr"/>
              <a:r>
                <a:rPr lang="en-IN" sz="700" dirty="0">
                  <a:latin typeface="Calibri Light" panose="020F0302020204030204" pitchFamily="34" charset="0"/>
                </a:rPr>
                <a:t>Tasks /Action</a:t>
              </a:r>
            </a:p>
          </p:txBody>
        </p:sp>
        <p:sp>
          <p:nvSpPr>
            <p:cNvPr id="16" name="TextBox 15"/>
            <p:cNvSpPr txBox="1">
              <a:spLocks/>
            </p:cNvSpPr>
            <p:nvPr/>
          </p:nvSpPr>
          <p:spPr>
            <a:xfrm>
              <a:off x="4050904" y="1740074"/>
              <a:ext cx="4359439" cy="1147419"/>
            </a:xfrm>
            <a:prstGeom prst="rect">
              <a:avLst/>
            </a:prstGeom>
            <a:noFill/>
            <a:ln w="19050">
              <a:solidFill>
                <a:srgbClr val="0076A8"/>
              </a:solidFill>
            </a:ln>
          </p:spPr>
          <p:txBody>
            <a:bodyPr wrap="square" rtlCol="0">
              <a:noAutofit/>
            </a:bodyPr>
            <a:lstStyle>
              <a:defPPr>
                <a:defRPr lang="en-US"/>
              </a:defPPr>
              <a:lvl1pPr algn="ctr">
                <a:defRPr sz="1600" b="1" spc="300">
                  <a:latin typeface="Calibri Light" panose="020F0302020204030204" pitchFamily="34" charset="0"/>
                  <a:cs typeface="Calibri Light" panose="020F0302020204030204" pitchFamily="34" charset="0"/>
                </a:defRPr>
              </a:lvl1pPr>
            </a:lstStyle>
            <a:p>
              <a:r>
                <a:rPr lang="en-US" sz="1200" dirty="0"/>
                <a:t>PROJECT COLLABORATION PORTAL</a:t>
              </a:r>
              <a:endParaRPr lang="en-IN" sz="1200" dirty="0"/>
            </a:p>
          </p:txBody>
        </p:sp>
        <p:sp>
          <p:nvSpPr>
            <p:cNvPr id="17" name="Freeform 180"/>
            <p:cNvSpPr>
              <a:spLocks noEditPoints="1"/>
            </p:cNvSpPr>
            <p:nvPr/>
          </p:nvSpPr>
          <p:spPr bwMode="auto">
            <a:xfrm>
              <a:off x="4426326" y="2052969"/>
              <a:ext cx="238812" cy="234950"/>
            </a:xfrm>
            <a:custGeom>
              <a:avLst/>
              <a:gdLst>
                <a:gd name="T0" fmla="*/ 6 w 317"/>
                <a:gd name="T1" fmla="*/ 0 h 296"/>
                <a:gd name="T2" fmla="*/ 4 w 317"/>
                <a:gd name="T3" fmla="*/ 1 h 296"/>
                <a:gd name="T4" fmla="*/ 2 w 317"/>
                <a:gd name="T5" fmla="*/ 4 h 296"/>
                <a:gd name="T6" fmla="*/ 0 w 317"/>
                <a:gd name="T7" fmla="*/ 241 h 296"/>
                <a:gd name="T8" fmla="*/ 2 w 317"/>
                <a:gd name="T9" fmla="*/ 242 h 296"/>
                <a:gd name="T10" fmla="*/ 4 w 317"/>
                <a:gd name="T11" fmla="*/ 245 h 296"/>
                <a:gd name="T12" fmla="*/ 123 w 317"/>
                <a:gd name="T13" fmla="*/ 245 h 296"/>
                <a:gd name="T14" fmla="*/ 88 w 317"/>
                <a:gd name="T15" fmla="*/ 286 h 296"/>
                <a:gd name="T16" fmla="*/ 85 w 317"/>
                <a:gd name="T17" fmla="*/ 286 h 296"/>
                <a:gd name="T18" fmla="*/ 82 w 317"/>
                <a:gd name="T19" fmla="*/ 289 h 296"/>
                <a:gd name="T20" fmla="*/ 82 w 317"/>
                <a:gd name="T21" fmla="*/ 292 h 296"/>
                <a:gd name="T22" fmla="*/ 84 w 317"/>
                <a:gd name="T23" fmla="*/ 294 h 296"/>
                <a:gd name="T24" fmla="*/ 88 w 317"/>
                <a:gd name="T25" fmla="*/ 296 h 296"/>
                <a:gd name="T26" fmla="*/ 190 w 317"/>
                <a:gd name="T27" fmla="*/ 296 h 296"/>
                <a:gd name="T28" fmla="*/ 230 w 317"/>
                <a:gd name="T29" fmla="*/ 296 h 296"/>
                <a:gd name="T30" fmla="*/ 234 w 317"/>
                <a:gd name="T31" fmla="*/ 294 h 296"/>
                <a:gd name="T32" fmla="*/ 235 w 317"/>
                <a:gd name="T33" fmla="*/ 292 h 296"/>
                <a:gd name="T34" fmla="*/ 235 w 317"/>
                <a:gd name="T35" fmla="*/ 289 h 296"/>
                <a:gd name="T36" fmla="*/ 233 w 317"/>
                <a:gd name="T37" fmla="*/ 286 h 296"/>
                <a:gd name="T38" fmla="*/ 195 w 317"/>
                <a:gd name="T39" fmla="*/ 286 h 296"/>
                <a:gd name="T40" fmla="*/ 312 w 317"/>
                <a:gd name="T41" fmla="*/ 245 h 296"/>
                <a:gd name="T42" fmla="*/ 313 w 317"/>
                <a:gd name="T43" fmla="*/ 245 h 296"/>
                <a:gd name="T44" fmla="*/ 316 w 317"/>
                <a:gd name="T45" fmla="*/ 242 h 296"/>
                <a:gd name="T46" fmla="*/ 317 w 317"/>
                <a:gd name="T47" fmla="*/ 5 h 296"/>
                <a:gd name="T48" fmla="*/ 316 w 317"/>
                <a:gd name="T49" fmla="*/ 4 h 296"/>
                <a:gd name="T50" fmla="*/ 313 w 317"/>
                <a:gd name="T51" fmla="*/ 1 h 296"/>
                <a:gd name="T52" fmla="*/ 312 w 317"/>
                <a:gd name="T53" fmla="*/ 0 h 296"/>
                <a:gd name="T54" fmla="*/ 299 w 317"/>
                <a:gd name="T55" fmla="*/ 220 h 296"/>
                <a:gd name="T56" fmla="*/ 296 w 317"/>
                <a:gd name="T57" fmla="*/ 224 h 296"/>
                <a:gd name="T58" fmla="*/ 293 w 317"/>
                <a:gd name="T59" fmla="*/ 226 h 296"/>
                <a:gd name="T60" fmla="*/ 25 w 317"/>
                <a:gd name="T61" fmla="*/ 226 h 296"/>
                <a:gd name="T62" fmla="*/ 22 w 317"/>
                <a:gd name="T63" fmla="*/ 224 h 296"/>
                <a:gd name="T64" fmla="*/ 19 w 317"/>
                <a:gd name="T65" fmla="*/ 220 h 296"/>
                <a:gd name="T66" fmla="*/ 19 w 317"/>
                <a:gd name="T67" fmla="*/ 26 h 296"/>
                <a:gd name="T68" fmla="*/ 22 w 317"/>
                <a:gd name="T69" fmla="*/ 22 h 296"/>
                <a:gd name="T70" fmla="*/ 25 w 317"/>
                <a:gd name="T71" fmla="*/ 20 h 296"/>
                <a:gd name="T72" fmla="*/ 293 w 317"/>
                <a:gd name="T73" fmla="*/ 20 h 296"/>
                <a:gd name="T74" fmla="*/ 296 w 317"/>
                <a:gd name="T75" fmla="*/ 22 h 296"/>
                <a:gd name="T76" fmla="*/ 299 w 317"/>
                <a:gd name="T77" fmla="*/ 2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7" h="296">
                  <a:moveTo>
                    <a:pt x="312" y="0"/>
                  </a:moveTo>
                  <a:lnTo>
                    <a:pt x="6" y="0"/>
                  </a:lnTo>
                  <a:lnTo>
                    <a:pt x="6" y="0"/>
                  </a:lnTo>
                  <a:lnTo>
                    <a:pt x="4" y="1"/>
                  </a:lnTo>
                  <a:lnTo>
                    <a:pt x="3" y="1"/>
                  </a:lnTo>
                  <a:lnTo>
                    <a:pt x="2" y="4"/>
                  </a:lnTo>
                  <a:lnTo>
                    <a:pt x="0" y="5"/>
                  </a:lnTo>
                  <a:lnTo>
                    <a:pt x="0" y="241"/>
                  </a:lnTo>
                  <a:lnTo>
                    <a:pt x="0" y="241"/>
                  </a:lnTo>
                  <a:lnTo>
                    <a:pt x="2" y="242"/>
                  </a:lnTo>
                  <a:lnTo>
                    <a:pt x="3" y="243"/>
                  </a:lnTo>
                  <a:lnTo>
                    <a:pt x="4" y="245"/>
                  </a:lnTo>
                  <a:lnTo>
                    <a:pt x="6" y="245"/>
                  </a:lnTo>
                  <a:lnTo>
                    <a:pt x="123" y="245"/>
                  </a:lnTo>
                  <a:lnTo>
                    <a:pt x="123" y="286"/>
                  </a:lnTo>
                  <a:lnTo>
                    <a:pt x="88" y="286"/>
                  </a:lnTo>
                  <a:lnTo>
                    <a:pt x="88" y="286"/>
                  </a:lnTo>
                  <a:lnTo>
                    <a:pt x="85" y="286"/>
                  </a:lnTo>
                  <a:lnTo>
                    <a:pt x="84" y="288"/>
                  </a:lnTo>
                  <a:lnTo>
                    <a:pt x="82" y="289"/>
                  </a:lnTo>
                  <a:lnTo>
                    <a:pt x="82" y="292"/>
                  </a:lnTo>
                  <a:lnTo>
                    <a:pt x="82" y="292"/>
                  </a:lnTo>
                  <a:lnTo>
                    <a:pt x="82" y="293"/>
                  </a:lnTo>
                  <a:lnTo>
                    <a:pt x="84" y="294"/>
                  </a:lnTo>
                  <a:lnTo>
                    <a:pt x="85" y="296"/>
                  </a:lnTo>
                  <a:lnTo>
                    <a:pt x="88" y="296"/>
                  </a:lnTo>
                  <a:lnTo>
                    <a:pt x="128" y="296"/>
                  </a:lnTo>
                  <a:lnTo>
                    <a:pt x="190" y="296"/>
                  </a:lnTo>
                  <a:lnTo>
                    <a:pt x="230" y="296"/>
                  </a:lnTo>
                  <a:lnTo>
                    <a:pt x="230" y="296"/>
                  </a:lnTo>
                  <a:lnTo>
                    <a:pt x="233" y="296"/>
                  </a:lnTo>
                  <a:lnTo>
                    <a:pt x="234" y="294"/>
                  </a:lnTo>
                  <a:lnTo>
                    <a:pt x="235" y="293"/>
                  </a:lnTo>
                  <a:lnTo>
                    <a:pt x="235" y="292"/>
                  </a:lnTo>
                  <a:lnTo>
                    <a:pt x="235" y="292"/>
                  </a:lnTo>
                  <a:lnTo>
                    <a:pt x="235" y="289"/>
                  </a:lnTo>
                  <a:lnTo>
                    <a:pt x="234" y="288"/>
                  </a:lnTo>
                  <a:lnTo>
                    <a:pt x="233" y="286"/>
                  </a:lnTo>
                  <a:lnTo>
                    <a:pt x="230" y="286"/>
                  </a:lnTo>
                  <a:lnTo>
                    <a:pt x="195" y="286"/>
                  </a:lnTo>
                  <a:lnTo>
                    <a:pt x="195" y="245"/>
                  </a:lnTo>
                  <a:lnTo>
                    <a:pt x="312" y="245"/>
                  </a:lnTo>
                  <a:lnTo>
                    <a:pt x="312" y="245"/>
                  </a:lnTo>
                  <a:lnTo>
                    <a:pt x="313" y="245"/>
                  </a:lnTo>
                  <a:lnTo>
                    <a:pt x="315" y="243"/>
                  </a:lnTo>
                  <a:lnTo>
                    <a:pt x="316" y="242"/>
                  </a:lnTo>
                  <a:lnTo>
                    <a:pt x="317" y="241"/>
                  </a:lnTo>
                  <a:lnTo>
                    <a:pt x="317" y="5"/>
                  </a:lnTo>
                  <a:lnTo>
                    <a:pt x="317" y="5"/>
                  </a:lnTo>
                  <a:lnTo>
                    <a:pt x="316" y="4"/>
                  </a:lnTo>
                  <a:lnTo>
                    <a:pt x="315" y="1"/>
                  </a:lnTo>
                  <a:lnTo>
                    <a:pt x="313" y="1"/>
                  </a:lnTo>
                  <a:lnTo>
                    <a:pt x="312" y="0"/>
                  </a:lnTo>
                  <a:lnTo>
                    <a:pt x="312" y="0"/>
                  </a:lnTo>
                  <a:close/>
                  <a:moveTo>
                    <a:pt x="299" y="220"/>
                  </a:moveTo>
                  <a:lnTo>
                    <a:pt x="299" y="220"/>
                  </a:lnTo>
                  <a:lnTo>
                    <a:pt x="297" y="223"/>
                  </a:lnTo>
                  <a:lnTo>
                    <a:pt x="296" y="224"/>
                  </a:lnTo>
                  <a:lnTo>
                    <a:pt x="295" y="226"/>
                  </a:lnTo>
                  <a:lnTo>
                    <a:pt x="293" y="226"/>
                  </a:lnTo>
                  <a:lnTo>
                    <a:pt x="25" y="226"/>
                  </a:lnTo>
                  <a:lnTo>
                    <a:pt x="25" y="226"/>
                  </a:lnTo>
                  <a:lnTo>
                    <a:pt x="23" y="226"/>
                  </a:lnTo>
                  <a:lnTo>
                    <a:pt x="22" y="224"/>
                  </a:lnTo>
                  <a:lnTo>
                    <a:pt x="21" y="223"/>
                  </a:lnTo>
                  <a:lnTo>
                    <a:pt x="19" y="220"/>
                  </a:lnTo>
                  <a:lnTo>
                    <a:pt x="19" y="26"/>
                  </a:lnTo>
                  <a:lnTo>
                    <a:pt x="19" y="26"/>
                  </a:lnTo>
                  <a:lnTo>
                    <a:pt x="21" y="23"/>
                  </a:lnTo>
                  <a:lnTo>
                    <a:pt x="22" y="22"/>
                  </a:lnTo>
                  <a:lnTo>
                    <a:pt x="23" y="20"/>
                  </a:lnTo>
                  <a:lnTo>
                    <a:pt x="25" y="20"/>
                  </a:lnTo>
                  <a:lnTo>
                    <a:pt x="293" y="20"/>
                  </a:lnTo>
                  <a:lnTo>
                    <a:pt x="293" y="20"/>
                  </a:lnTo>
                  <a:lnTo>
                    <a:pt x="295" y="20"/>
                  </a:lnTo>
                  <a:lnTo>
                    <a:pt x="296" y="22"/>
                  </a:lnTo>
                  <a:lnTo>
                    <a:pt x="297" y="23"/>
                  </a:lnTo>
                  <a:lnTo>
                    <a:pt x="299" y="26"/>
                  </a:lnTo>
                  <a:lnTo>
                    <a:pt x="299" y="2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Light" panose="020F0302020204030204" pitchFamily="34" charset="0"/>
              </a:endParaRPr>
            </a:p>
          </p:txBody>
        </p:sp>
        <p:sp>
          <p:nvSpPr>
            <p:cNvPr id="18" name="Freeform 180"/>
            <p:cNvSpPr>
              <a:spLocks noEditPoints="1"/>
            </p:cNvSpPr>
            <p:nvPr/>
          </p:nvSpPr>
          <p:spPr bwMode="auto">
            <a:xfrm>
              <a:off x="5478847" y="2052969"/>
              <a:ext cx="238812" cy="234950"/>
            </a:xfrm>
            <a:custGeom>
              <a:avLst/>
              <a:gdLst>
                <a:gd name="T0" fmla="*/ 6 w 317"/>
                <a:gd name="T1" fmla="*/ 0 h 296"/>
                <a:gd name="T2" fmla="*/ 4 w 317"/>
                <a:gd name="T3" fmla="*/ 1 h 296"/>
                <a:gd name="T4" fmla="*/ 2 w 317"/>
                <a:gd name="T5" fmla="*/ 4 h 296"/>
                <a:gd name="T6" fmla="*/ 0 w 317"/>
                <a:gd name="T7" fmla="*/ 241 h 296"/>
                <a:gd name="T8" fmla="*/ 2 w 317"/>
                <a:gd name="T9" fmla="*/ 242 h 296"/>
                <a:gd name="T10" fmla="*/ 4 w 317"/>
                <a:gd name="T11" fmla="*/ 245 h 296"/>
                <a:gd name="T12" fmla="*/ 123 w 317"/>
                <a:gd name="T13" fmla="*/ 245 h 296"/>
                <a:gd name="T14" fmla="*/ 88 w 317"/>
                <a:gd name="T15" fmla="*/ 286 h 296"/>
                <a:gd name="T16" fmla="*/ 85 w 317"/>
                <a:gd name="T17" fmla="*/ 286 h 296"/>
                <a:gd name="T18" fmla="*/ 82 w 317"/>
                <a:gd name="T19" fmla="*/ 289 h 296"/>
                <a:gd name="T20" fmla="*/ 82 w 317"/>
                <a:gd name="T21" fmla="*/ 292 h 296"/>
                <a:gd name="T22" fmla="*/ 84 w 317"/>
                <a:gd name="T23" fmla="*/ 294 h 296"/>
                <a:gd name="T24" fmla="*/ 88 w 317"/>
                <a:gd name="T25" fmla="*/ 296 h 296"/>
                <a:gd name="T26" fmla="*/ 190 w 317"/>
                <a:gd name="T27" fmla="*/ 296 h 296"/>
                <a:gd name="T28" fmla="*/ 230 w 317"/>
                <a:gd name="T29" fmla="*/ 296 h 296"/>
                <a:gd name="T30" fmla="*/ 234 w 317"/>
                <a:gd name="T31" fmla="*/ 294 h 296"/>
                <a:gd name="T32" fmla="*/ 235 w 317"/>
                <a:gd name="T33" fmla="*/ 292 h 296"/>
                <a:gd name="T34" fmla="*/ 235 w 317"/>
                <a:gd name="T35" fmla="*/ 289 h 296"/>
                <a:gd name="T36" fmla="*/ 233 w 317"/>
                <a:gd name="T37" fmla="*/ 286 h 296"/>
                <a:gd name="T38" fmla="*/ 195 w 317"/>
                <a:gd name="T39" fmla="*/ 286 h 296"/>
                <a:gd name="T40" fmla="*/ 312 w 317"/>
                <a:gd name="T41" fmla="*/ 245 h 296"/>
                <a:gd name="T42" fmla="*/ 313 w 317"/>
                <a:gd name="T43" fmla="*/ 245 h 296"/>
                <a:gd name="T44" fmla="*/ 316 w 317"/>
                <a:gd name="T45" fmla="*/ 242 h 296"/>
                <a:gd name="T46" fmla="*/ 317 w 317"/>
                <a:gd name="T47" fmla="*/ 5 h 296"/>
                <a:gd name="T48" fmla="*/ 316 w 317"/>
                <a:gd name="T49" fmla="*/ 4 h 296"/>
                <a:gd name="T50" fmla="*/ 313 w 317"/>
                <a:gd name="T51" fmla="*/ 1 h 296"/>
                <a:gd name="T52" fmla="*/ 312 w 317"/>
                <a:gd name="T53" fmla="*/ 0 h 296"/>
                <a:gd name="T54" fmla="*/ 299 w 317"/>
                <a:gd name="T55" fmla="*/ 220 h 296"/>
                <a:gd name="T56" fmla="*/ 296 w 317"/>
                <a:gd name="T57" fmla="*/ 224 h 296"/>
                <a:gd name="T58" fmla="*/ 293 w 317"/>
                <a:gd name="T59" fmla="*/ 226 h 296"/>
                <a:gd name="T60" fmla="*/ 25 w 317"/>
                <a:gd name="T61" fmla="*/ 226 h 296"/>
                <a:gd name="T62" fmla="*/ 22 w 317"/>
                <a:gd name="T63" fmla="*/ 224 h 296"/>
                <a:gd name="T64" fmla="*/ 19 w 317"/>
                <a:gd name="T65" fmla="*/ 220 h 296"/>
                <a:gd name="T66" fmla="*/ 19 w 317"/>
                <a:gd name="T67" fmla="*/ 26 h 296"/>
                <a:gd name="T68" fmla="*/ 22 w 317"/>
                <a:gd name="T69" fmla="*/ 22 h 296"/>
                <a:gd name="T70" fmla="*/ 25 w 317"/>
                <a:gd name="T71" fmla="*/ 20 h 296"/>
                <a:gd name="T72" fmla="*/ 293 w 317"/>
                <a:gd name="T73" fmla="*/ 20 h 296"/>
                <a:gd name="T74" fmla="*/ 296 w 317"/>
                <a:gd name="T75" fmla="*/ 22 h 296"/>
                <a:gd name="T76" fmla="*/ 299 w 317"/>
                <a:gd name="T77" fmla="*/ 2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7" h="296">
                  <a:moveTo>
                    <a:pt x="312" y="0"/>
                  </a:moveTo>
                  <a:lnTo>
                    <a:pt x="6" y="0"/>
                  </a:lnTo>
                  <a:lnTo>
                    <a:pt x="6" y="0"/>
                  </a:lnTo>
                  <a:lnTo>
                    <a:pt x="4" y="1"/>
                  </a:lnTo>
                  <a:lnTo>
                    <a:pt x="3" y="1"/>
                  </a:lnTo>
                  <a:lnTo>
                    <a:pt x="2" y="4"/>
                  </a:lnTo>
                  <a:lnTo>
                    <a:pt x="0" y="5"/>
                  </a:lnTo>
                  <a:lnTo>
                    <a:pt x="0" y="241"/>
                  </a:lnTo>
                  <a:lnTo>
                    <a:pt x="0" y="241"/>
                  </a:lnTo>
                  <a:lnTo>
                    <a:pt x="2" y="242"/>
                  </a:lnTo>
                  <a:lnTo>
                    <a:pt x="3" y="243"/>
                  </a:lnTo>
                  <a:lnTo>
                    <a:pt x="4" y="245"/>
                  </a:lnTo>
                  <a:lnTo>
                    <a:pt x="6" y="245"/>
                  </a:lnTo>
                  <a:lnTo>
                    <a:pt x="123" y="245"/>
                  </a:lnTo>
                  <a:lnTo>
                    <a:pt x="123" y="286"/>
                  </a:lnTo>
                  <a:lnTo>
                    <a:pt x="88" y="286"/>
                  </a:lnTo>
                  <a:lnTo>
                    <a:pt x="88" y="286"/>
                  </a:lnTo>
                  <a:lnTo>
                    <a:pt x="85" y="286"/>
                  </a:lnTo>
                  <a:lnTo>
                    <a:pt x="84" y="288"/>
                  </a:lnTo>
                  <a:lnTo>
                    <a:pt x="82" y="289"/>
                  </a:lnTo>
                  <a:lnTo>
                    <a:pt x="82" y="292"/>
                  </a:lnTo>
                  <a:lnTo>
                    <a:pt x="82" y="292"/>
                  </a:lnTo>
                  <a:lnTo>
                    <a:pt x="82" y="293"/>
                  </a:lnTo>
                  <a:lnTo>
                    <a:pt x="84" y="294"/>
                  </a:lnTo>
                  <a:lnTo>
                    <a:pt x="85" y="296"/>
                  </a:lnTo>
                  <a:lnTo>
                    <a:pt x="88" y="296"/>
                  </a:lnTo>
                  <a:lnTo>
                    <a:pt x="128" y="296"/>
                  </a:lnTo>
                  <a:lnTo>
                    <a:pt x="190" y="296"/>
                  </a:lnTo>
                  <a:lnTo>
                    <a:pt x="230" y="296"/>
                  </a:lnTo>
                  <a:lnTo>
                    <a:pt x="230" y="296"/>
                  </a:lnTo>
                  <a:lnTo>
                    <a:pt x="233" y="296"/>
                  </a:lnTo>
                  <a:lnTo>
                    <a:pt x="234" y="294"/>
                  </a:lnTo>
                  <a:lnTo>
                    <a:pt x="235" y="293"/>
                  </a:lnTo>
                  <a:lnTo>
                    <a:pt x="235" y="292"/>
                  </a:lnTo>
                  <a:lnTo>
                    <a:pt x="235" y="292"/>
                  </a:lnTo>
                  <a:lnTo>
                    <a:pt x="235" y="289"/>
                  </a:lnTo>
                  <a:lnTo>
                    <a:pt x="234" y="288"/>
                  </a:lnTo>
                  <a:lnTo>
                    <a:pt x="233" y="286"/>
                  </a:lnTo>
                  <a:lnTo>
                    <a:pt x="230" y="286"/>
                  </a:lnTo>
                  <a:lnTo>
                    <a:pt x="195" y="286"/>
                  </a:lnTo>
                  <a:lnTo>
                    <a:pt x="195" y="245"/>
                  </a:lnTo>
                  <a:lnTo>
                    <a:pt x="312" y="245"/>
                  </a:lnTo>
                  <a:lnTo>
                    <a:pt x="312" y="245"/>
                  </a:lnTo>
                  <a:lnTo>
                    <a:pt x="313" y="245"/>
                  </a:lnTo>
                  <a:lnTo>
                    <a:pt x="315" y="243"/>
                  </a:lnTo>
                  <a:lnTo>
                    <a:pt x="316" y="242"/>
                  </a:lnTo>
                  <a:lnTo>
                    <a:pt x="317" y="241"/>
                  </a:lnTo>
                  <a:lnTo>
                    <a:pt x="317" y="5"/>
                  </a:lnTo>
                  <a:lnTo>
                    <a:pt x="317" y="5"/>
                  </a:lnTo>
                  <a:lnTo>
                    <a:pt x="316" y="4"/>
                  </a:lnTo>
                  <a:lnTo>
                    <a:pt x="315" y="1"/>
                  </a:lnTo>
                  <a:lnTo>
                    <a:pt x="313" y="1"/>
                  </a:lnTo>
                  <a:lnTo>
                    <a:pt x="312" y="0"/>
                  </a:lnTo>
                  <a:lnTo>
                    <a:pt x="312" y="0"/>
                  </a:lnTo>
                  <a:close/>
                  <a:moveTo>
                    <a:pt x="299" y="220"/>
                  </a:moveTo>
                  <a:lnTo>
                    <a:pt x="299" y="220"/>
                  </a:lnTo>
                  <a:lnTo>
                    <a:pt x="297" y="223"/>
                  </a:lnTo>
                  <a:lnTo>
                    <a:pt x="296" y="224"/>
                  </a:lnTo>
                  <a:lnTo>
                    <a:pt x="295" y="226"/>
                  </a:lnTo>
                  <a:lnTo>
                    <a:pt x="293" y="226"/>
                  </a:lnTo>
                  <a:lnTo>
                    <a:pt x="25" y="226"/>
                  </a:lnTo>
                  <a:lnTo>
                    <a:pt x="25" y="226"/>
                  </a:lnTo>
                  <a:lnTo>
                    <a:pt x="23" y="226"/>
                  </a:lnTo>
                  <a:lnTo>
                    <a:pt x="22" y="224"/>
                  </a:lnTo>
                  <a:lnTo>
                    <a:pt x="21" y="223"/>
                  </a:lnTo>
                  <a:lnTo>
                    <a:pt x="19" y="220"/>
                  </a:lnTo>
                  <a:lnTo>
                    <a:pt x="19" y="26"/>
                  </a:lnTo>
                  <a:lnTo>
                    <a:pt x="19" y="26"/>
                  </a:lnTo>
                  <a:lnTo>
                    <a:pt x="21" y="23"/>
                  </a:lnTo>
                  <a:lnTo>
                    <a:pt x="22" y="22"/>
                  </a:lnTo>
                  <a:lnTo>
                    <a:pt x="23" y="20"/>
                  </a:lnTo>
                  <a:lnTo>
                    <a:pt x="25" y="20"/>
                  </a:lnTo>
                  <a:lnTo>
                    <a:pt x="293" y="20"/>
                  </a:lnTo>
                  <a:lnTo>
                    <a:pt x="293" y="20"/>
                  </a:lnTo>
                  <a:lnTo>
                    <a:pt x="295" y="20"/>
                  </a:lnTo>
                  <a:lnTo>
                    <a:pt x="296" y="22"/>
                  </a:lnTo>
                  <a:lnTo>
                    <a:pt x="297" y="23"/>
                  </a:lnTo>
                  <a:lnTo>
                    <a:pt x="299" y="26"/>
                  </a:lnTo>
                  <a:lnTo>
                    <a:pt x="299" y="2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Light" panose="020F0302020204030204" pitchFamily="34" charset="0"/>
              </a:endParaRPr>
            </a:p>
          </p:txBody>
        </p:sp>
        <p:sp>
          <p:nvSpPr>
            <p:cNvPr id="19" name="Freeform 180"/>
            <p:cNvSpPr>
              <a:spLocks noEditPoints="1"/>
            </p:cNvSpPr>
            <p:nvPr/>
          </p:nvSpPr>
          <p:spPr bwMode="auto">
            <a:xfrm>
              <a:off x="6509125" y="2052969"/>
              <a:ext cx="238812" cy="234950"/>
            </a:xfrm>
            <a:custGeom>
              <a:avLst/>
              <a:gdLst>
                <a:gd name="T0" fmla="*/ 6 w 317"/>
                <a:gd name="T1" fmla="*/ 0 h 296"/>
                <a:gd name="T2" fmla="*/ 4 w 317"/>
                <a:gd name="T3" fmla="*/ 1 h 296"/>
                <a:gd name="T4" fmla="*/ 2 w 317"/>
                <a:gd name="T5" fmla="*/ 4 h 296"/>
                <a:gd name="T6" fmla="*/ 0 w 317"/>
                <a:gd name="T7" fmla="*/ 241 h 296"/>
                <a:gd name="T8" fmla="*/ 2 w 317"/>
                <a:gd name="T9" fmla="*/ 242 h 296"/>
                <a:gd name="T10" fmla="*/ 4 w 317"/>
                <a:gd name="T11" fmla="*/ 245 h 296"/>
                <a:gd name="T12" fmla="*/ 123 w 317"/>
                <a:gd name="T13" fmla="*/ 245 h 296"/>
                <a:gd name="T14" fmla="*/ 88 w 317"/>
                <a:gd name="T15" fmla="*/ 286 h 296"/>
                <a:gd name="T16" fmla="*/ 85 w 317"/>
                <a:gd name="T17" fmla="*/ 286 h 296"/>
                <a:gd name="T18" fmla="*/ 82 w 317"/>
                <a:gd name="T19" fmla="*/ 289 h 296"/>
                <a:gd name="T20" fmla="*/ 82 w 317"/>
                <a:gd name="T21" fmla="*/ 292 h 296"/>
                <a:gd name="T22" fmla="*/ 84 w 317"/>
                <a:gd name="T23" fmla="*/ 294 h 296"/>
                <a:gd name="T24" fmla="*/ 88 w 317"/>
                <a:gd name="T25" fmla="*/ 296 h 296"/>
                <a:gd name="T26" fmla="*/ 190 w 317"/>
                <a:gd name="T27" fmla="*/ 296 h 296"/>
                <a:gd name="T28" fmla="*/ 230 w 317"/>
                <a:gd name="T29" fmla="*/ 296 h 296"/>
                <a:gd name="T30" fmla="*/ 234 w 317"/>
                <a:gd name="T31" fmla="*/ 294 h 296"/>
                <a:gd name="T32" fmla="*/ 235 w 317"/>
                <a:gd name="T33" fmla="*/ 292 h 296"/>
                <a:gd name="T34" fmla="*/ 235 w 317"/>
                <a:gd name="T35" fmla="*/ 289 h 296"/>
                <a:gd name="T36" fmla="*/ 233 w 317"/>
                <a:gd name="T37" fmla="*/ 286 h 296"/>
                <a:gd name="T38" fmla="*/ 195 w 317"/>
                <a:gd name="T39" fmla="*/ 286 h 296"/>
                <a:gd name="T40" fmla="*/ 312 w 317"/>
                <a:gd name="T41" fmla="*/ 245 h 296"/>
                <a:gd name="T42" fmla="*/ 313 w 317"/>
                <a:gd name="T43" fmla="*/ 245 h 296"/>
                <a:gd name="T44" fmla="*/ 316 w 317"/>
                <a:gd name="T45" fmla="*/ 242 h 296"/>
                <a:gd name="T46" fmla="*/ 317 w 317"/>
                <a:gd name="T47" fmla="*/ 5 h 296"/>
                <a:gd name="T48" fmla="*/ 316 w 317"/>
                <a:gd name="T49" fmla="*/ 4 h 296"/>
                <a:gd name="T50" fmla="*/ 313 w 317"/>
                <a:gd name="T51" fmla="*/ 1 h 296"/>
                <a:gd name="T52" fmla="*/ 312 w 317"/>
                <a:gd name="T53" fmla="*/ 0 h 296"/>
                <a:gd name="T54" fmla="*/ 299 w 317"/>
                <a:gd name="T55" fmla="*/ 220 h 296"/>
                <a:gd name="T56" fmla="*/ 296 w 317"/>
                <a:gd name="T57" fmla="*/ 224 h 296"/>
                <a:gd name="T58" fmla="*/ 293 w 317"/>
                <a:gd name="T59" fmla="*/ 226 h 296"/>
                <a:gd name="T60" fmla="*/ 25 w 317"/>
                <a:gd name="T61" fmla="*/ 226 h 296"/>
                <a:gd name="T62" fmla="*/ 22 w 317"/>
                <a:gd name="T63" fmla="*/ 224 h 296"/>
                <a:gd name="T64" fmla="*/ 19 w 317"/>
                <a:gd name="T65" fmla="*/ 220 h 296"/>
                <a:gd name="T66" fmla="*/ 19 w 317"/>
                <a:gd name="T67" fmla="*/ 26 h 296"/>
                <a:gd name="T68" fmla="*/ 22 w 317"/>
                <a:gd name="T69" fmla="*/ 22 h 296"/>
                <a:gd name="T70" fmla="*/ 25 w 317"/>
                <a:gd name="T71" fmla="*/ 20 h 296"/>
                <a:gd name="T72" fmla="*/ 293 w 317"/>
                <a:gd name="T73" fmla="*/ 20 h 296"/>
                <a:gd name="T74" fmla="*/ 296 w 317"/>
                <a:gd name="T75" fmla="*/ 22 h 296"/>
                <a:gd name="T76" fmla="*/ 299 w 317"/>
                <a:gd name="T77" fmla="*/ 2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7" h="296">
                  <a:moveTo>
                    <a:pt x="312" y="0"/>
                  </a:moveTo>
                  <a:lnTo>
                    <a:pt x="6" y="0"/>
                  </a:lnTo>
                  <a:lnTo>
                    <a:pt x="6" y="0"/>
                  </a:lnTo>
                  <a:lnTo>
                    <a:pt x="4" y="1"/>
                  </a:lnTo>
                  <a:lnTo>
                    <a:pt x="3" y="1"/>
                  </a:lnTo>
                  <a:lnTo>
                    <a:pt x="2" y="4"/>
                  </a:lnTo>
                  <a:lnTo>
                    <a:pt x="0" y="5"/>
                  </a:lnTo>
                  <a:lnTo>
                    <a:pt x="0" y="241"/>
                  </a:lnTo>
                  <a:lnTo>
                    <a:pt x="0" y="241"/>
                  </a:lnTo>
                  <a:lnTo>
                    <a:pt x="2" y="242"/>
                  </a:lnTo>
                  <a:lnTo>
                    <a:pt x="3" y="243"/>
                  </a:lnTo>
                  <a:lnTo>
                    <a:pt x="4" y="245"/>
                  </a:lnTo>
                  <a:lnTo>
                    <a:pt x="6" y="245"/>
                  </a:lnTo>
                  <a:lnTo>
                    <a:pt x="123" y="245"/>
                  </a:lnTo>
                  <a:lnTo>
                    <a:pt x="123" y="286"/>
                  </a:lnTo>
                  <a:lnTo>
                    <a:pt x="88" y="286"/>
                  </a:lnTo>
                  <a:lnTo>
                    <a:pt x="88" y="286"/>
                  </a:lnTo>
                  <a:lnTo>
                    <a:pt x="85" y="286"/>
                  </a:lnTo>
                  <a:lnTo>
                    <a:pt x="84" y="288"/>
                  </a:lnTo>
                  <a:lnTo>
                    <a:pt x="82" y="289"/>
                  </a:lnTo>
                  <a:lnTo>
                    <a:pt x="82" y="292"/>
                  </a:lnTo>
                  <a:lnTo>
                    <a:pt x="82" y="292"/>
                  </a:lnTo>
                  <a:lnTo>
                    <a:pt x="82" y="293"/>
                  </a:lnTo>
                  <a:lnTo>
                    <a:pt x="84" y="294"/>
                  </a:lnTo>
                  <a:lnTo>
                    <a:pt x="85" y="296"/>
                  </a:lnTo>
                  <a:lnTo>
                    <a:pt x="88" y="296"/>
                  </a:lnTo>
                  <a:lnTo>
                    <a:pt x="128" y="296"/>
                  </a:lnTo>
                  <a:lnTo>
                    <a:pt x="190" y="296"/>
                  </a:lnTo>
                  <a:lnTo>
                    <a:pt x="230" y="296"/>
                  </a:lnTo>
                  <a:lnTo>
                    <a:pt x="230" y="296"/>
                  </a:lnTo>
                  <a:lnTo>
                    <a:pt x="233" y="296"/>
                  </a:lnTo>
                  <a:lnTo>
                    <a:pt x="234" y="294"/>
                  </a:lnTo>
                  <a:lnTo>
                    <a:pt x="235" y="293"/>
                  </a:lnTo>
                  <a:lnTo>
                    <a:pt x="235" y="292"/>
                  </a:lnTo>
                  <a:lnTo>
                    <a:pt x="235" y="292"/>
                  </a:lnTo>
                  <a:lnTo>
                    <a:pt x="235" y="289"/>
                  </a:lnTo>
                  <a:lnTo>
                    <a:pt x="234" y="288"/>
                  </a:lnTo>
                  <a:lnTo>
                    <a:pt x="233" y="286"/>
                  </a:lnTo>
                  <a:lnTo>
                    <a:pt x="230" y="286"/>
                  </a:lnTo>
                  <a:lnTo>
                    <a:pt x="195" y="286"/>
                  </a:lnTo>
                  <a:lnTo>
                    <a:pt x="195" y="245"/>
                  </a:lnTo>
                  <a:lnTo>
                    <a:pt x="312" y="245"/>
                  </a:lnTo>
                  <a:lnTo>
                    <a:pt x="312" y="245"/>
                  </a:lnTo>
                  <a:lnTo>
                    <a:pt x="313" y="245"/>
                  </a:lnTo>
                  <a:lnTo>
                    <a:pt x="315" y="243"/>
                  </a:lnTo>
                  <a:lnTo>
                    <a:pt x="316" y="242"/>
                  </a:lnTo>
                  <a:lnTo>
                    <a:pt x="317" y="241"/>
                  </a:lnTo>
                  <a:lnTo>
                    <a:pt x="317" y="5"/>
                  </a:lnTo>
                  <a:lnTo>
                    <a:pt x="317" y="5"/>
                  </a:lnTo>
                  <a:lnTo>
                    <a:pt x="316" y="4"/>
                  </a:lnTo>
                  <a:lnTo>
                    <a:pt x="315" y="1"/>
                  </a:lnTo>
                  <a:lnTo>
                    <a:pt x="313" y="1"/>
                  </a:lnTo>
                  <a:lnTo>
                    <a:pt x="312" y="0"/>
                  </a:lnTo>
                  <a:lnTo>
                    <a:pt x="312" y="0"/>
                  </a:lnTo>
                  <a:close/>
                  <a:moveTo>
                    <a:pt x="299" y="220"/>
                  </a:moveTo>
                  <a:lnTo>
                    <a:pt x="299" y="220"/>
                  </a:lnTo>
                  <a:lnTo>
                    <a:pt x="297" y="223"/>
                  </a:lnTo>
                  <a:lnTo>
                    <a:pt x="296" y="224"/>
                  </a:lnTo>
                  <a:lnTo>
                    <a:pt x="295" y="226"/>
                  </a:lnTo>
                  <a:lnTo>
                    <a:pt x="293" y="226"/>
                  </a:lnTo>
                  <a:lnTo>
                    <a:pt x="25" y="226"/>
                  </a:lnTo>
                  <a:lnTo>
                    <a:pt x="25" y="226"/>
                  </a:lnTo>
                  <a:lnTo>
                    <a:pt x="23" y="226"/>
                  </a:lnTo>
                  <a:lnTo>
                    <a:pt x="22" y="224"/>
                  </a:lnTo>
                  <a:lnTo>
                    <a:pt x="21" y="223"/>
                  </a:lnTo>
                  <a:lnTo>
                    <a:pt x="19" y="220"/>
                  </a:lnTo>
                  <a:lnTo>
                    <a:pt x="19" y="26"/>
                  </a:lnTo>
                  <a:lnTo>
                    <a:pt x="19" y="26"/>
                  </a:lnTo>
                  <a:lnTo>
                    <a:pt x="21" y="23"/>
                  </a:lnTo>
                  <a:lnTo>
                    <a:pt x="22" y="22"/>
                  </a:lnTo>
                  <a:lnTo>
                    <a:pt x="23" y="20"/>
                  </a:lnTo>
                  <a:lnTo>
                    <a:pt x="25" y="20"/>
                  </a:lnTo>
                  <a:lnTo>
                    <a:pt x="293" y="20"/>
                  </a:lnTo>
                  <a:lnTo>
                    <a:pt x="293" y="20"/>
                  </a:lnTo>
                  <a:lnTo>
                    <a:pt x="295" y="20"/>
                  </a:lnTo>
                  <a:lnTo>
                    <a:pt x="296" y="22"/>
                  </a:lnTo>
                  <a:lnTo>
                    <a:pt x="297" y="23"/>
                  </a:lnTo>
                  <a:lnTo>
                    <a:pt x="299" y="26"/>
                  </a:lnTo>
                  <a:lnTo>
                    <a:pt x="299" y="2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Light" panose="020F0302020204030204" pitchFamily="34" charset="0"/>
              </a:endParaRPr>
            </a:p>
          </p:txBody>
        </p:sp>
        <p:sp>
          <p:nvSpPr>
            <p:cNvPr id="20" name="Freeform 180"/>
            <p:cNvSpPr>
              <a:spLocks noEditPoints="1"/>
            </p:cNvSpPr>
            <p:nvPr/>
          </p:nvSpPr>
          <p:spPr bwMode="auto">
            <a:xfrm>
              <a:off x="7518901" y="2052969"/>
              <a:ext cx="238812" cy="234950"/>
            </a:xfrm>
            <a:custGeom>
              <a:avLst/>
              <a:gdLst>
                <a:gd name="T0" fmla="*/ 6 w 317"/>
                <a:gd name="T1" fmla="*/ 0 h 296"/>
                <a:gd name="T2" fmla="*/ 4 w 317"/>
                <a:gd name="T3" fmla="*/ 1 h 296"/>
                <a:gd name="T4" fmla="*/ 2 w 317"/>
                <a:gd name="T5" fmla="*/ 4 h 296"/>
                <a:gd name="T6" fmla="*/ 0 w 317"/>
                <a:gd name="T7" fmla="*/ 241 h 296"/>
                <a:gd name="T8" fmla="*/ 2 w 317"/>
                <a:gd name="T9" fmla="*/ 242 h 296"/>
                <a:gd name="T10" fmla="*/ 4 w 317"/>
                <a:gd name="T11" fmla="*/ 245 h 296"/>
                <a:gd name="T12" fmla="*/ 123 w 317"/>
                <a:gd name="T13" fmla="*/ 245 h 296"/>
                <a:gd name="T14" fmla="*/ 88 w 317"/>
                <a:gd name="T15" fmla="*/ 286 h 296"/>
                <a:gd name="T16" fmla="*/ 85 w 317"/>
                <a:gd name="T17" fmla="*/ 286 h 296"/>
                <a:gd name="T18" fmla="*/ 82 w 317"/>
                <a:gd name="T19" fmla="*/ 289 h 296"/>
                <a:gd name="T20" fmla="*/ 82 w 317"/>
                <a:gd name="T21" fmla="*/ 292 h 296"/>
                <a:gd name="T22" fmla="*/ 84 w 317"/>
                <a:gd name="T23" fmla="*/ 294 h 296"/>
                <a:gd name="T24" fmla="*/ 88 w 317"/>
                <a:gd name="T25" fmla="*/ 296 h 296"/>
                <a:gd name="T26" fmla="*/ 190 w 317"/>
                <a:gd name="T27" fmla="*/ 296 h 296"/>
                <a:gd name="T28" fmla="*/ 230 w 317"/>
                <a:gd name="T29" fmla="*/ 296 h 296"/>
                <a:gd name="T30" fmla="*/ 234 w 317"/>
                <a:gd name="T31" fmla="*/ 294 h 296"/>
                <a:gd name="T32" fmla="*/ 235 w 317"/>
                <a:gd name="T33" fmla="*/ 292 h 296"/>
                <a:gd name="T34" fmla="*/ 235 w 317"/>
                <a:gd name="T35" fmla="*/ 289 h 296"/>
                <a:gd name="T36" fmla="*/ 233 w 317"/>
                <a:gd name="T37" fmla="*/ 286 h 296"/>
                <a:gd name="T38" fmla="*/ 195 w 317"/>
                <a:gd name="T39" fmla="*/ 286 h 296"/>
                <a:gd name="T40" fmla="*/ 312 w 317"/>
                <a:gd name="T41" fmla="*/ 245 h 296"/>
                <a:gd name="T42" fmla="*/ 313 w 317"/>
                <a:gd name="T43" fmla="*/ 245 h 296"/>
                <a:gd name="T44" fmla="*/ 316 w 317"/>
                <a:gd name="T45" fmla="*/ 242 h 296"/>
                <a:gd name="T46" fmla="*/ 317 w 317"/>
                <a:gd name="T47" fmla="*/ 5 h 296"/>
                <a:gd name="T48" fmla="*/ 316 w 317"/>
                <a:gd name="T49" fmla="*/ 4 h 296"/>
                <a:gd name="T50" fmla="*/ 313 w 317"/>
                <a:gd name="T51" fmla="*/ 1 h 296"/>
                <a:gd name="T52" fmla="*/ 312 w 317"/>
                <a:gd name="T53" fmla="*/ 0 h 296"/>
                <a:gd name="T54" fmla="*/ 299 w 317"/>
                <a:gd name="T55" fmla="*/ 220 h 296"/>
                <a:gd name="T56" fmla="*/ 296 w 317"/>
                <a:gd name="T57" fmla="*/ 224 h 296"/>
                <a:gd name="T58" fmla="*/ 293 w 317"/>
                <a:gd name="T59" fmla="*/ 226 h 296"/>
                <a:gd name="T60" fmla="*/ 25 w 317"/>
                <a:gd name="T61" fmla="*/ 226 h 296"/>
                <a:gd name="T62" fmla="*/ 22 w 317"/>
                <a:gd name="T63" fmla="*/ 224 h 296"/>
                <a:gd name="T64" fmla="*/ 19 w 317"/>
                <a:gd name="T65" fmla="*/ 220 h 296"/>
                <a:gd name="T66" fmla="*/ 19 w 317"/>
                <a:gd name="T67" fmla="*/ 26 h 296"/>
                <a:gd name="T68" fmla="*/ 22 w 317"/>
                <a:gd name="T69" fmla="*/ 22 h 296"/>
                <a:gd name="T70" fmla="*/ 25 w 317"/>
                <a:gd name="T71" fmla="*/ 20 h 296"/>
                <a:gd name="T72" fmla="*/ 293 w 317"/>
                <a:gd name="T73" fmla="*/ 20 h 296"/>
                <a:gd name="T74" fmla="*/ 296 w 317"/>
                <a:gd name="T75" fmla="*/ 22 h 296"/>
                <a:gd name="T76" fmla="*/ 299 w 317"/>
                <a:gd name="T77" fmla="*/ 2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7" h="296">
                  <a:moveTo>
                    <a:pt x="312" y="0"/>
                  </a:moveTo>
                  <a:lnTo>
                    <a:pt x="6" y="0"/>
                  </a:lnTo>
                  <a:lnTo>
                    <a:pt x="6" y="0"/>
                  </a:lnTo>
                  <a:lnTo>
                    <a:pt x="4" y="1"/>
                  </a:lnTo>
                  <a:lnTo>
                    <a:pt x="3" y="1"/>
                  </a:lnTo>
                  <a:lnTo>
                    <a:pt x="2" y="4"/>
                  </a:lnTo>
                  <a:lnTo>
                    <a:pt x="0" y="5"/>
                  </a:lnTo>
                  <a:lnTo>
                    <a:pt x="0" y="241"/>
                  </a:lnTo>
                  <a:lnTo>
                    <a:pt x="0" y="241"/>
                  </a:lnTo>
                  <a:lnTo>
                    <a:pt x="2" y="242"/>
                  </a:lnTo>
                  <a:lnTo>
                    <a:pt x="3" y="243"/>
                  </a:lnTo>
                  <a:lnTo>
                    <a:pt x="4" y="245"/>
                  </a:lnTo>
                  <a:lnTo>
                    <a:pt x="6" y="245"/>
                  </a:lnTo>
                  <a:lnTo>
                    <a:pt x="123" y="245"/>
                  </a:lnTo>
                  <a:lnTo>
                    <a:pt x="123" y="286"/>
                  </a:lnTo>
                  <a:lnTo>
                    <a:pt x="88" y="286"/>
                  </a:lnTo>
                  <a:lnTo>
                    <a:pt x="88" y="286"/>
                  </a:lnTo>
                  <a:lnTo>
                    <a:pt x="85" y="286"/>
                  </a:lnTo>
                  <a:lnTo>
                    <a:pt x="84" y="288"/>
                  </a:lnTo>
                  <a:lnTo>
                    <a:pt x="82" y="289"/>
                  </a:lnTo>
                  <a:lnTo>
                    <a:pt x="82" y="292"/>
                  </a:lnTo>
                  <a:lnTo>
                    <a:pt x="82" y="292"/>
                  </a:lnTo>
                  <a:lnTo>
                    <a:pt x="82" y="293"/>
                  </a:lnTo>
                  <a:lnTo>
                    <a:pt x="84" y="294"/>
                  </a:lnTo>
                  <a:lnTo>
                    <a:pt x="85" y="296"/>
                  </a:lnTo>
                  <a:lnTo>
                    <a:pt x="88" y="296"/>
                  </a:lnTo>
                  <a:lnTo>
                    <a:pt x="128" y="296"/>
                  </a:lnTo>
                  <a:lnTo>
                    <a:pt x="190" y="296"/>
                  </a:lnTo>
                  <a:lnTo>
                    <a:pt x="230" y="296"/>
                  </a:lnTo>
                  <a:lnTo>
                    <a:pt x="230" y="296"/>
                  </a:lnTo>
                  <a:lnTo>
                    <a:pt x="233" y="296"/>
                  </a:lnTo>
                  <a:lnTo>
                    <a:pt x="234" y="294"/>
                  </a:lnTo>
                  <a:lnTo>
                    <a:pt x="235" y="293"/>
                  </a:lnTo>
                  <a:lnTo>
                    <a:pt x="235" y="292"/>
                  </a:lnTo>
                  <a:lnTo>
                    <a:pt x="235" y="292"/>
                  </a:lnTo>
                  <a:lnTo>
                    <a:pt x="235" y="289"/>
                  </a:lnTo>
                  <a:lnTo>
                    <a:pt x="234" y="288"/>
                  </a:lnTo>
                  <a:lnTo>
                    <a:pt x="233" y="286"/>
                  </a:lnTo>
                  <a:lnTo>
                    <a:pt x="230" y="286"/>
                  </a:lnTo>
                  <a:lnTo>
                    <a:pt x="195" y="286"/>
                  </a:lnTo>
                  <a:lnTo>
                    <a:pt x="195" y="245"/>
                  </a:lnTo>
                  <a:lnTo>
                    <a:pt x="312" y="245"/>
                  </a:lnTo>
                  <a:lnTo>
                    <a:pt x="312" y="245"/>
                  </a:lnTo>
                  <a:lnTo>
                    <a:pt x="313" y="245"/>
                  </a:lnTo>
                  <a:lnTo>
                    <a:pt x="315" y="243"/>
                  </a:lnTo>
                  <a:lnTo>
                    <a:pt x="316" y="242"/>
                  </a:lnTo>
                  <a:lnTo>
                    <a:pt x="317" y="241"/>
                  </a:lnTo>
                  <a:lnTo>
                    <a:pt x="317" y="5"/>
                  </a:lnTo>
                  <a:lnTo>
                    <a:pt x="317" y="5"/>
                  </a:lnTo>
                  <a:lnTo>
                    <a:pt x="316" y="4"/>
                  </a:lnTo>
                  <a:lnTo>
                    <a:pt x="315" y="1"/>
                  </a:lnTo>
                  <a:lnTo>
                    <a:pt x="313" y="1"/>
                  </a:lnTo>
                  <a:lnTo>
                    <a:pt x="312" y="0"/>
                  </a:lnTo>
                  <a:lnTo>
                    <a:pt x="312" y="0"/>
                  </a:lnTo>
                  <a:close/>
                  <a:moveTo>
                    <a:pt x="299" y="220"/>
                  </a:moveTo>
                  <a:lnTo>
                    <a:pt x="299" y="220"/>
                  </a:lnTo>
                  <a:lnTo>
                    <a:pt x="297" y="223"/>
                  </a:lnTo>
                  <a:lnTo>
                    <a:pt x="296" y="224"/>
                  </a:lnTo>
                  <a:lnTo>
                    <a:pt x="295" y="226"/>
                  </a:lnTo>
                  <a:lnTo>
                    <a:pt x="293" y="226"/>
                  </a:lnTo>
                  <a:lnTo>
                    <a:pt x="25" y="226"/>
                  </a:lnTo>
                  <a:lnTo>
                    <a:pt x="25" y="226"/>
                  </a:lnTo>
                  <a:lnTo>
                    <a:pt x="23" y="226"/>
                  </a:lnTo>
                  <a:lnTo>
                    <a:pt x="22" y="224"/>
                  </a:lnTo>
                  <a:lnTo>
                    <a:pt x="21" y="223"/>
                  </a:lnTo>
                  <a:lnTo>
                    <a:pt x="19" y="220"/>
                  </a:lnTo>
                  <a:lnTo>
                    <a:pt x="19" y="26"/>
                  </a:lnTo>
                  <a:lnTo>
                    <a:pt x="19" y="26"/>
                  </a:lnTo>
                  <a:lnTo>
                    <a:pt x="21" y="23"/>
                  </a:lnTo>
                  <a:lnTo>
                    <a:pt x="22" y="22"/>
                  </a:lnTo>
                  <a:lnTo>
                    <a:pt x="23" y="20"/>
                  </a:lnTo>
                  <a:lnTo>
                    <a:pt x="25" y="20"/>
                  </a:lnTo>
                  <a:lnTo>
                    <a:pt x="293" y="20"/>
                  </a:lnTo>
                  <a:lnTo>
                    <a:pt x="293" y="20"/>
                  </a:lnTo>
                  <a:lnTo>
                    <a:pt x="295" y="20"/>
                  </a:lnTo>
                  <a:lnTo>
                    <a:pt x="296" y="22"/>
                  </a:lnTo>
                  <a:lnTo>
                    <a:pt x="297" y="23"/>
                  </a:lnTo>
                  <a:lnTo>
                    <a:pt x="299" y="26"/>
                  </a:lnTo>
                  <a:lnTo>
                    <a:pt x="299" y="2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Light" panose="020F0302020204030204" pitchFamily="34" charset="0"/>
              </a:endParaRPr>
            </a:p>
          </p:txBody>
        </p:sp>
        <p:sp>
          <p:nvSpPr>
            <p:cNvPr id="21" name="TextBox 20"/>
            <p:cNvSpPr txBox="1"/>
            <p:nvPr/>
          </p:nvSpPr>
          <p:spPr>
            <a:xfrm>
              <a:off x="4625197" y="2062722"/>
              <a:ext cx="720845" cy="256661"/>
            </a:xfrm>
            <a:prstGeom prst="rect">
              <a:avLst/>
            </a:prstGeom>
            <a:noFill/>
          </p:spPr>
          <p:txBody>
            <a:bodyPr wrap="none" rtlCol="0">
              <a:spAutoFit/>
            </a:bodyPr>
            <a:lstStyle/>
            <a:p>
              <a:r>
                <a:rPr lang="en-IN" sz="800" dirty="0">
                  <a:latin typeface="Calibri Light" panose="020F0302020204030204" pitchFamily="34" charset="0"/>
                </a:rPr>
                <a:t>Engineering</a:t>
              </a:r>
              <a:endParaRPr lang="en-IN" sz="1050" dirty="0">
                <a:latin typeface="Calibri Light" panose="020F0302020204030204" pitchFamily="34" charset="0"/>
              </a:endParaRPr>
            </a:p>
          </p:txBody>
        </p:sp>
        <p:sp>
          <p:nvSpPr>
            <p:cNvPr id="22" name="TextBox 21"/>
            <p:cNvSpPr txBox="1"/>
            <p:nvPr/>
          </p:nvSpPr>
          <p:spPr>
            <a:xfrm>
              <a:off x="5673403" y="2001167"/>
              <a:ext cx="725488" cy="403323"/>
            </a:xfrm>
            <a:prstGeom prst="rect">
              <a:avLst/>
            </a:prstGeom>
            <a:noFill/>
          </p:spPr>
          <p:txBody>
            <a:bodyPr wrap="square" rtlCol="0">
              <a:spAutoFit/>
            </a:bodyPr>
            <a:lstStyle/>
            <a:p>
              <a:r>
                <a:rPr lang="en-IN" sz="800" dirty="0">
                  <a:latin typeface="Calibri Light" panose="020F0302020204030204" pitchFamily="34" charset="0"/>
                </a:rPr>
                <a:t>Techno commercial</a:t>
              </a:r>
              <a:endParaRPr lang="en-IN" sz="1050" dirty="0">
                <a:latin typeface="Calibri Light" panose="020F0302020204030204" pitchFamily="34" charset="0"/>
              </a:endParaRPr>
            </a:p>
          </p:txBody>
        </p:sp>
        <p:sp>
          <p:nvSpPr>
            <p:cNvPr id="23" name="TextBox 22"/>
            <p:cNvSpPr txBox="1"/>
            <p:nvPr/>
          </p:nvSpPr>
          <p:spPr>
            <a:xfrm>
              <a:off x="4667646" y="2499041"/>
              <a:ext cx="363173" cy="256661"/>
            </a:xfrm>
            <a:prstGeom prst="rect">
              <a:avLst/>
            </a:prstGeom>
            <a:noFill/>
          </p:spPr>
          <p:txBody>
            <a:bodyPr wrap="none" rtlCol="0">
              <a:spAutoFit/>
            </a:bodyPr>
            <a:lstStyle/>
            <a:p>
              <a:r>
                <a:rPr lang="en-US" sz="800" dirty="0">
                  <a:latin typeface="Calibri Light" panose="020F0302020204030204" pitchFamily="34" charset="0"/>
                </a:rPr>
                <a:t>Site</a:t>
              </a:r>
              <a:endParaRPr lang="en-IN" sz="1050" dirty="0">
                <a:latin typeface="Calibri Light" panose="020F0302020204030204" pitchFamily="34" charset="0"/>
              </a:endParaRPr>
            </a:p>
          </p:txBody>
        </p:sp>
        <p:sp>
          <p:nvSpPr>
            <p:cNvPr id="24" name="TextBox 23"/>
            <p:cNvSpPr txBox="1"/>
            <p:nvPr/>
          </p:nvSpPr>
          <p:spPr>
            <a:xfrm>
              <a:off x="7720055" y="2062722"/>
              <a:ext cx="538571" cy="256661"/>
            </a:xfrm>
            <a:prstGeom prst="rect">
              <a:avLst/>
            </a:prstGeom>
            <a:noFill/>
          </p:spPr>
          <p:txBody>
            <a:bodyPr wrap="none" rtlCol="0">
              <a:spAutoFit/>
            </a:bodyPr>
            <a:lstStyle/>
            <a:p>
              <a:r>
                <a:rPr lang="en-IN" sz="800" dirty="0">
                  <a:latin typeface="Calibri Light" panose="020F0302020204030204" pitchFamily="34" charset="0"/>
                </a:rPr>
                <a:t>Finance</a:t>
              </a:r>
              <a:endParaRPr lang="en-IN" sz="1050" dirty="0">
                <a:latin typeface="Calibri Light" panose="020F0302020204030204" pitchFamily="34" charset="0"/>
              </a:endParaRPr>
            </a:p>
          </p:txBody>
        </p:sp>
        <p:sp>
          <p:nvSpPr>
            <p:cNvPr id="25" name="TextBox 24"/>
            <p:cNvSpPr txBox="1"/>
            <p:nvPr/>
          </p:nvSpPr>
          <p:spPr>
            <a:xfrm>
              <a:off x="6756677" y="1985646"/>
              <a:ext cx="853650" cy="379938"/>
            </a:xfrm>
            <a:prstGeom prst="rect">
              <a:avLst/>
            </a:prstGeom>
            <a:noFill/>
          </p:spPr>
          <p:txBody>
            <a:bodyPr wrap="square" lIns="36000" tIns="36000" rIns="36000" bIns="36000" rtlCol="0">
              <a:spAutoFit/>
            </a:bodyPr>
            <a:lstStyle/>
            <a:p>
              <a:r>
                <a:rPr lang="en-IN" sz="800" dirty="0">
                  <a:latin typeface="Calibri Light" panose="020F0302020204030204" pitchFamily="34" charset="0"/>
                </a:rPr>
                <a:t>Projects team (HO)</a:t>
              </a:r>
              <a:endParaRPr lang="en-IN" sz="1050" dirty="0">
                <a:latin typeface="Calibri Light" panose="020F0302020204030204" pitchFamily="34" charset="0"/>
              </a:endParaRPr>
            </a:p>
          </p:txBody>
        </p:sp>
        <p:sp>
          <p:nvSpPr>
            <p:cNvPr id="26" name="Freeform 180"/>
            <p:cNvSpPr>
              <a:spLocks noEditPoints="1"/>
            </p:cNvSpPr>
            <p:nvPr/>
          </p:nvSpPr>
          <p:spPr bwMode="auto">
            <a:xfrm>
              <a:off x="4426326" y="2500806"/>
              <a:ext cx="238812" cy="234950"/>
            </a:xfrm>
            <a:custGeom>
              <a:avLst/>
              <a:gdLst>
                <a:gd name="T0" fmla="*/ 6 w 317"/>
                <a:gd name="T1" fmla="*/ 0 h 296"/>
                <a:gd name="T2" fmla="*/ 4 w 317"/>
                <a:gd name="T3" fmla="*/ 1 h 296"/>
                <a:gd name="T4" fmla="*/ 2 w 317"/>
                <a:gd name="T5" fmla="*/ 4 h 296"/>
                <a:gd name="T6" fmla="*/ 0 w 317"/>
                <a:gd name="T7" fmla="*/ 241 h 296"/>
                <a:gd name="T8" fmla="*/ 2 w 317"/>
                <a:gd name="T9" fmla="*/ 242 h 296"/>
                <a:gd name="T10" fmla="*/ 4 w 317"/>
                <a:gd name="T11" fmla="*/ 245 h 296"/>
                <a:gd name="T12" fmla="*/ 123 w 317"/>
                <a:gd name="T13" fmla="*/ 245 h 296"/>
                <a:gd name="T14" fmla="*/ 88 w 317"/>
                <a:gd name="T15" fmla="*/ 286 h 296"/>
                <a:gd name="T16" fmla="*/ 85 w 317"/>
                <a:gd name="T17" fmla="*/ 286 h 296"/>
                <a:gd name="T18" fmla="*/ 82 w 317"/>
                <a:gd name="T19" fmla="*/ 289 h 296"/>
                <a:gd name="T20" fmla="*/ 82 w 317"/>
                <a:gd name="T21" fmla="*/ 292 h 296"/>
                <a:gd name="T22" fmla="*/ 84 w 317"/>
                <a:gd name="T23" fmla="*/ 294 h 296"/>
                <a:gd name="T24" fmla="*/ 88 w 317"/>
                <a:gd name="T25" fmla="*/ 296 h 296"/>
                <a:gd name="T26" fmla="*/ 190 w 317"/>
                <a:gd name="T27" fmla="*/ 296 h 296"/>
                <a:gd name="T28" fmla="*/ 230 w 317"/>
                <a:gd name="T29" fmla="*/ 296 h 296"/>
                <a:gd name="T30" fmla="*/ 234 w 317"/>
                <a:gd name="T31" fmla="*/ 294 h 296"/>
                <a:gd name="T32" fmla="*/ 235 w 317"/>
                <a:gd name="T33" fmla="*/ 292 h 296"/>
                <a:gd name="T34" fmla="*/ 235 w 317"/>
                <a:gd name="T35" fmla="*/ 289 h 296"/>
                <a:gd name="T36" fmla="*/ 233 w 317"/>
                <a:gd name="T37" fmla="*/ 286 h 296"/>
                <a:gd name="T38" fmla="*/ 195 w 317"/>
                <a:gd name="T39" fmla="*/ 286 h 296"/>
                <a:gd name="T40" fmla="*/ 312 w 317"/>
                <a:gd name="T41" fmla="*/ 245 h 296"/>
                <a:gd name="T42" fmla="*/ 313 w 317"/>
                <a:gd name="T43" fmla="*/ 245 h 296"/>
                <a:gd name="T44" fmla="*/ 316 w 317"/>
                <a:gd name="T45" fmla="*/ 242 h 296"/>
                <a:gd name="T46" fmla="*/ 317 w 317"/>
                <a:gd name="T47" fmla="*/ 5 h 296"/>
                <a:gd name="T48" fmla="*/ 316 w 317"/>
                <a:gd name="T49" fmla="*/ 4 h 296"/>
                <a:gd name="T50" fmla="*/ 313 w 317"/>
                <a:gd name="T51" fmla="*/ 1 h 296"/>
                <a:gd name="T52" fmla="*/ 312 w 317"/>
                <a:gd name="T53" fmla="*/ 0 h 296"/>
                <a:gd name="T54" fmla="*/ 299 w 317"/>
                <a:gd name="T55" fmla="*/ 220 h 296"/>
                <a:gd name="T56" fmla="*/ 296 w 317"/>
                <a:gd name="T57" fmla="*/ 224 h 296"/>
                <a:gd name="T58" fmla="*/ 293 w 317"/>
                <a:gd name="T59" fmla="*/ 226 h 296"/>
                <a:gd name="T60" fmla="*/ 25 w 317"/>
                <a:gd name="T61" fmla="*/ 226 h 296"/>
                <a:gd name="T62" fmla="*/ 22 w 317"/>
                <a:gd name="T63" fmla="*/ 224 h 296"/>
                <a:gd name="T64" fmla="*/ 19 w 317"/>
                <a:gd name="T65" fmla="*/ 220 h 296"/>
                <a:gd name="T66" fmla="*/ 19 w 317"/>
                <a:gd name="T67" fmla="*/ 26 h 296"/>
                <a:gd name="T68" fmla="*/ 22 w 317"/>
                <a:gd name="T69" fmla="*/ 22 h 296"/>
                <a:gd name="T70" fmla="*/ 25 w 317"/>
                <a:gd name="T71" fmla="*/ 20 h 296"/>
                <a:gd name="T72" fmla="*/ 293 w 317"/>
                <a:gd name="T73" fmla="*/ 20 h 296"/>
                <a:gd name="T74" fmla="*/ 296 w 317"/>
                <a:gd name="T75" fmla="*/ 22 h 296"/>
                <a:gd name="T76" fmla="*/ 299 w 317"/>
                <a:gd name="T77" fmla="*/ 2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7" h="296">
                  <a:moveTo>
                    <a:pt x="312" y="0"/>
                  </a:moveTo>
                  <a:lnTo>
                    <a:pt x="6" y="0"/>
                  </a:lnTo>
                  <a:lnTo>
                    <a:pt x="6" y="0"/>
                  </a:lnTo>
                  <a:lnTo>
                    <a:pt x="4" y="1"/>
                  </a:lnTo>
                  <a:lnTo>
                    <a:pt x="3" y="1"/>
                  </a:lnTo>
                  <a:lnTo>
                    <a:pt x="2" y="4"/>
                  </a:lnTo>
                  <a:lnTo>
                    <a:pt x="0" y="5"/>
                  </a:lnTo>
                  <a:lnTo>
                    <a:pt x="0" y="241"/>
                  </a:lnTo>
                  <a:lnTo>
                    <a:pt x="0" y="241"/>
                  </a:lnTo>
                  <a:lnTo>
                    <a:pt x="2" y="242"/>
                  </a:lnTo>
                  <a:lnTo>
                    <a:pt x="3" y="243"/>
                  </a:lnTo>
                  <a:lnTo>
                    <a:pt x="4" y="245"/>
                  </a:lnTo>
                  <a:lnTo>
                    <a:pt x="6" y="245"/>
                  </a:lnTo>
                  <a:lnTo>
                    <a:pt x="123" y="245"/>
                  </a:lnTo>
                  <a:lnTo>
                    <a:pt x="123" y="286"/>
                  </a:lnTo>
                  <a:lnTo>
                    <a:pt x="88" y="286"/>
                  </a:lnTo>
                  <a:lnTo>
                    <a:pt x="88" y="286"/>
                  </a:lnTo>
                  <a:lnTo>
                    <a:pt x="85" y="286"/>
                  </a:lnTo>
                  <a:lnTo>
                    <a:pt x="84" y="288"/>
                  </a:lnTo>
                  <a:lnTo>
                    <a:pt x="82" y="289"/>
                  </a:lnTo>
                  <a:lnTo>
                    <a:pt x="82" y="292"/>
                  </a:lnTo>
                  <a:lnTo>
                    <a:pt x="82" y="292"/>
                  </a:lnTo>
                  <a:lnTo>
                    <a:pt x="82" y="293"/>
                  </a:lnTo>
                  <a:lnTo>
                    <a:pt x="84" y="294"/>
                  </a:lnTo>
                  <a:lnTo>
                    <a:pt x="85" y="296"/>
                  </a:lnTo>
                  <a:lnTo>
                    <a:pt x="88" y="296"/>
                  </a:lnTo>
                  <a:lnTo>
                    <a:pt x="128" y="296"/>
                  </a:lnTo>
                  <a:lnTo>
                    <a:pt x="190" y="296"/>
                  </a:lnTo>
                  <a:lnTo>
                    <a:pt x="230" y="296"/>
                  </a:lnTo>
                  <a:lnTo>
                    <a:pt x="230" y="296"/>
                  </a:lnTo>
                  <a:lnTo>
                    <a:pt x="233" y="296"/>
                  </a:lnTo>
                  <a:lnTo>
                    <a:pt x="234" y="294"/>
                  </a:lnTo>
                  <a:lnTo>
                    <a:pt x="235" y="293"/>
                  </a:lnTo>
                  <a:lnTo>
                    <a:pt x="235" y="292"/>
                  </a:lnTo>
                  <a:lnTo>
                    <a:pt x="235" y="292"/>
                  </a:lnTo>
                  <a:lnTo>
                    <a:pt x="235" y="289"/>
                  </a:lnTo>
                  <a:lnTo>
                    <a:pt x="234" y="288"/>
                  </a:lnTo>
                  <a:lnTo>
                    <a:pt x="233" y="286"/>
                  </a:lnTo>
                  <a:lnTo>
                    <a:pt x="230" y="286"/>
                  </a:lnTo>
                  <a:lnTo>
                    <a:pt x="195" y="286"/>
                  </a:lnTo>
                  <a:lnTo>
                    <a:pt x="195" y="245"/>
                  </a:lnTo>
                  <a:lnTo>
                    <a:pt x="312" y="245"/>
                  </a:lnTo>
                  <a:lnTo>
                    <a:pt x="312" y="245"/>
                  </a:lnTo>
                  <a:lnTo>
                    <a:pt x="313" y="245"/>
                  </a:lnTo>
                  <a:lnTo>
                    <a:pt x="315" y="243"/>
                  </a:lnTo>
                  <a:lnTo>
                    <a:pt x="316" y="242"/>
                  </a:lnTo>
                  <a:lnTo>
                    <a:pt x="317" y="241"/>
                  </a:lnTo>
                  <a:lnTo>
                    <a:pt x="317" y="5"/>
                  </a:lnTo>
                  <a:lnTo>
                    <a:pt x="317" y="5"/>
                  </a:lnTo>
                  <a:lnTo>
                    <a:pt x="316" y="4"/>
                  </a:lnTo>
                  <a:lnTo>
                    <a:pt x="315" y="1"/>
                  </a:lnTo>
                  <a:lnTo>
                    <a:pt x="313" y="1"/>
                  </a:lnTo>
                  <a:lnTo>
                    <a:pt x="312" y="0"/>
                  </a:lnTo>
                  <a:lnTo>
                    <a:pt x="312" y="0"/>
                  </a:lnTo>
                  <a:close/>
                  <a:moveTo>
                    <a:pt x="299" y="220"/>
                  </a:moveTo>
                  <a:lnTo>
                    <a:pt x="299" y="220"/>
                  </a:lnTo>
                  <a:lnTo>
                    <a:pt x="297" y="223"/>
                  </a:lnTo>
                  <a:lnTo>
                    <a:pt x="296" y="224"/>
                  </a:lnTo>
                  <a:lnTo>
                    <a:pt x="295" y="226"/>
                  </a:lnTo>
                  <a:lnTo>
                    <a:pt x="293" y="226"/>
                  </a:lnTo>
                  <a:lnTo>
                    <a:pt x="25" y="226"/>
                  </a:lnTo>
                  <a:lnTo>
                    <a:pt x="25" y="226"/>
                  </a:lnTo>
                  <a:lnTo>
                    <a:pt x="23" y="226"/>
                  </a:lnTo>
                  <a:lnTo>
                    <a:pt x="22" y="224"/>
                  </a:lnTo>
                  <a:lnTo>
                    <a:pt x="21" y="223"/>
                  </a:lnTo>
                  <a:lnTo>
                    <a:pt x="19" y="220"/>
                  </a:lnTo>
                  <a:lnTo>
                    <a:pt x="19" y="26"/>
                  </a:lnTo>
                  <a:lnTo>
                    <a:pt x="19" y="26"/>
                  </a:lnTo>
                  <a:lnTo>
                    <a:pt x="21" y="23"/>
                  </a:lnTo>
                  <a:lnTo>
                    <a:pt x="22" y="22"/>
                  </a:lnTo>
                  <a:lnTo>
                    <a:pt x="23" y="20"/>
                  </a:lnTo>
                  <a:lnTo>
                    <a:pt x="25" y="20"/>
                  </a:lnTo>
                  <a:lnTo>
                    <a:pt x="293" y="20"/>
                  </a:lnTo>
                  <a:lnTo>
                    <a:pt x="293" y="20"/>
                  </a:lnTo>
                  <a:lnTo>
                    <a:pt x="295" y="20"/>
                  </a:lnTo>
                  <a:lnTo>
                    <a:pt x="296" y="22"/>
                  </a:lnTo>
                  <a:lnTo>
                    <a:pt x="297" y="23"/>
                  </a:lnTo>
                  <a:lnTo>
                    <a:pt x="299" y="26"/>
                  </a:lnTo>
                  <a:lnTo>
                    <a:pt x="299" y="2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Light" panose="020F0302020204030204" pitchFamily="34" charset="0"/>
              </a:endParaRPr>
            </a:p>
          </p:txBody>
        </p:sp>
        <p:sp>
          <p:nvSpPr>
            <p:cNvPr id="27" name="Freeform 180"/>
            <p:cNvSpPr>
              <a:spLocks noEditPoints="1"/>
            </p:cNvSpPr>
            <p:nvPr/>
          </p:nvSpPr>
          <p:spPr bwMode="auto">
            <a:xfrm>
              <a:off x="5478847" y="2500806"/>
              <a:ext cx="238812" cy="234950"/>
            </a:xfrm>
            <a:custGeom>
              <a:avLst/>
              <a:gdLst>
                <a:gd name="T0" fmla="*/ 6 w 317"/>
                <a:gd name="T1" fmla="*/ 0 h 296"/>
                <a:gd name="T2" fmla="*/ 4 w 317"/>
                <a:gd name="T3" fmla="*/ 1 h 296"/>
                <a:gd name="T4" fmla="*/ 2 w 317"/>
                <a:gd name="T5" fmla="*/ 4 h 296"/>
                <a:gd name="T6" fmla="*/ 0 w 317"/>
                <a:gd name="T7" fmla="*/ 241 h 296"/>
                <a:gd name="T8" fmla="*/ 2 w 317"/>
                <a:gd name="T9" fmla="*/ 242 h 296"/>
                <a:gd name="T10" fmla="*/ 4 w 317"/>
                <a:gd name="T11" fmla="*/ 245 h 296"/>
                <a:gd name="T12" fmla="*/ 123 w 317"/>
                <a:gd name="T13" fmla="*/ 245 h 296"/>
                <a:gd name="T14" fmla="*/ 88 w 317"/>
                <a:gd name="T15" fmla="*/ 286 h 296"/>
                <a:gd name="T16" fmla="*/ 85 w 317"/>
                <a:gd name="T17" fmla="*/ 286 h 296"/>
                <a:gd name="T18" fmla="*/ 82 w 317"/>
                <a:gd name="T19" fmla="*/ 289 h 296"/>
                <a:gd name="T20" fmla="*/ 82 w 317"/>
                <a:gd name="T21" fmla="*/ 292 h 296"/>
                <a:gd name="T22" fmla="*/ 84 w 317"/>
                <a:gd name="T23" fmla="*/ 294 h 296"/>
                <a:gd name="T24" fmla="*/ 88 w 317"/>
                <a:gd name="T25" fmla="*/ 296 h 296"/>
                <a:gd name="T26" fmla="*/ 190 w 317"/>
                <a:gd name="T27" fmla="*/ 296 h 296"/>
                <a:gd name="T28" fmla="*/ 230 w 317"/>
                <a:gd name="T29" fmla="*/ 296 h 296"/>
                <a:gd name="T30" fmla="*/ 234 w 317"/>
                <a:gd name="T31" fmla="*/ 294 h 296"/>
                <a:gd name="T32" fmla="*/ 235 w 317"/>
                <a:gd name="T33" fmla="*/ 292 h 296"/>
                <a:gd name="T34" fmla="*/ 235 w 317"/>
                <a:gd name="T35" fmla="*/ 289 h 296"/>
                <a:gd name="T36" fmla="*/ 233 w 317"/>
                <a:gd name="T37" fmla="*/ 286 h 296"/>
                <a:gd name="T38" fmla="*/ 195 w 317"/>
                <a:gd name="T39" fmla="*/ 286 h 296"/>
                <a:gd name="T40" fmla="*/ 312 w 317"/>
                <a:gd name="T41" fmla="*/ 245 h 296"/>
                <a:gd name="T42" fmla="*/ 313 w 317"/>
                <a:gd name="T43" fmla="*/ 245 h 296"/>
                <a:gd name="T44" fmla="*/ 316 w 317"/>
                <a:gd name="T45" fmla="*/ 242 h 296"/>
                <a:gd name="T46" fmla="*/ 317 w 317"/>
                <a:gd name="T47" fmla="*/ 5 h 296"/>
                <a:gd name="T48" fmla="*/ 316 w 317"/>
                <a:gd name="T49" fmla="*/ 4 h 296"/>
                <a:gd name="T50" fmla="*/ 313 w 317"/>
                <a:gd name="T51" fmla="*/ 1 h 296"/>
                <a:gd name="T52" fmla="*/ 312 w 317"/>
                <a:gd name="T53" fmla="*/ 0 h 296"/>
                <a:gd name="T54" fmla="*/ 299 w 317"/>
                <a:gd name="T55" fmla="*/ 220 h 296"/>
                <a:gd name="T56" fmla="*/ 296 w 317"/>
                <a:gd name="T57" fmla="*/ 224 h 296"/>
                <a:gd name="T58" fmla="*/ 293 w 317"/>
                <a:gd name="T59" fmla="*/ 226 h 296"/>
                <a:gd name="T60" fmla="*/ 25 w 317"/>
                <a:gd name="T61" fmla="*/ 226 h 296"/>
                <a:gd name="T62" fmla="*/ 22 w 317"/>
                <a:gd name="T63" fmla="*/ 224 h 296"/>
                <a:gd name="T64" fmla="*/ 19 w 317"/>
                <a:gd name="T65" fmla="*/ 220 h 296"/>
                <a:gd name="T66" fmla="*/ 19 w 317"/>
                <a:gd name="T67" fmla="*/ 26 h 296"/>
                <a:gd name="T68" fmla="*/ 22 w 317"/>
                <a:gd name="T69" fmla="*/ 22 h 296"/>
                <a:gd name="T70" fmla="*/ 25 w 317"/>
                <a:gd name="T71" fmla="*/ 20 h 296"/>
                <a:gd name="T72" fmla="*/ 293 w 317"/>
                <a:gd name="T73" fmla="*/ 20 h 296"/>
                <a:gd name="T74" fmla="*/ 296 w 317"/>
                <a:gd name="T75" fmla="*/ 22 h 296"/>
                <a:gd name="T76" fmla="*/ 299 w 317"/>
                <a:gd name="T77" fmla="*/ 2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7" h="296">
                  <a:moveTo>
                    <a:pt x="312" y="0"/>
                  </a:moveTo>
                  <a:lnTo>
                    <a:pt x="6" y="0"/>
                  </a:lnTo>
                  <a:lnTo>
                    <a:pt x="6" y="0"/>
                  </a:lnTo>
                  <a:lnTo>
                    <a:pt x="4" y="1"/>
                  </a:lnTo>
                  <a:lnTo>
                    <a:pt x="3" y="1"/>
                  </a:lnTo>
                  <a:lnTo>
                    <a:pt x="2" y="4"/>
                  </a:lnTo>
                  <a:lnTo>
                    <a:pt x="0" y="5"/>
                  </a:lnTo>
                  <a:lnTo>
                    <a:pt x="0" y="241"/>
                  </a:lnTo>
                  <a:lnTo>
                    <a:pt x="0" y="241"/>
                  </a:lnTo>
                  <a:lnTo>
                    <a:pt x="2" y="242"/>
                  </a:lnTo>
                  <a:lnTo>
                    <a:pt x="3" y="243"/>
                  </a:lnTo>
                  <a:lnTo>
                    <a:pt x="4" y="245"/>
                  </a:lnTo>
                  <a:lnTo>
                    <a:pt x="6" y="245"/>
                  </a:lnTo>
                  <a:lnTo>
                    <a:pt x="123" y="245"/>
                  </a:lnTo>
                  <a:lnTo>
                    <a:pt x="123" y="286"/>
                  </a:lnTo>
                  <a:lnTo>
                    <a:pt x="88" y="286"/>
                  </a:lnTo>
                  <a:lnTo>
                    <a:pt x="88" y="286"/>
                  </a:lnTo>
                  <a:lnTo>
                    <a:pt x="85" y="286"/>
                  </a:lnTo>
                  <a:lnTo>
                    <a:pt x="84" y="288"/>
                  </a:lnTo>
                  <a:lnTo>
                    <a:pt x="82" y="289"/>
                  </a:lnTo>
                  <a:lnTo>
                    <a:pt x="82" y="292"/>
                  </a:lnTo>
                  <a:lnTo>
                    <a:pt x="82" y="292"/>
                  </a:lnTo>
                  <a:lnTo>
                    <a:pt x="82" y="293"/>
                  </a:lnTo>
                  <a:lnTo>
                    <a:pt x="84" y="294"/>
                  </a:lnTo>
                  <a:lnTo>
                    <a:pt x="85" y="296"/>
                  </a:lnTo>
                  <a:lnTo>
                    <a:pt x="88" y="296"/>
                  </a:lnTo>
                  <a:lnTo>
                    <a:pt x="128" y="296"/>
                  </a:lnTo>
                  <a:lnTo>
                    <a:pt x="190" y="296"/>
                  </a:lnTo>
                  <a:lnTo>
                    <a:pt x="230" y="296"/>
                  </a:lnTo>
                  <a:lnTo>
                    <a:pt x="230" y="296"/>
                  </a:lnTo>
                  <a:lnTo>
                    <a:pt x="233" y="296"/>
                  </a:lnTo>
                  <a:lnTo>
                    <a:pt x="234" y="294"/>
                  </a:lnTo>
                  <a:lnTo>
                    <a:pt x="235" y="293"/>
                  </a:lnTo>
                  <a:lnTo>
                    <a:pt x="235" y="292"/>
                  </a:lnTo>
                  <a:lnTo>
                    <a:pt x="235" y="292"/>
                  </a:lnTo>
                  <a:lnTo>
                    <a:pt x="235" y="289"/>
                  </a:lnTo>
                  <a:lnTo>
                    <a:pt x="234" y="288"/>
                  </a:lnTo>
                  <a:lnTo>
                    <a:pt x="233" y="286"/>
                  </a:lnTo>
                  <a:lnTo>
                    <a:pt x="230" y="286"/>
                  </a:lnTo>
                  <a:lnTo>
                    <a:pt x="195" y="286"/>
                  </a:lnTo>
                  <a:lnTo>
                    <a:pt x="195" y="245"/>
                  </a:lnTo>
                  <a:lnTo>
                    <a:pt x="312" y="245"/>
                  </a:lnTo>
                  <a:lnTo>
                    <a:pt x="312" y="245"/>
                  </a:lnTo>
                  <a:lnTo>
                    <a:pt x="313" y="245"/>
                  </a:lnTo>
                  <a:lnTo>
                    <a:pt x="315" y="243"/>
                  </a:lnTo>
                  <a:lnTo>
                    <a:pt x="316" y="242"/>
                  </a:lnTo>
                  <a:lnTo>
                    <a:pt x="317" y="241"/>
                  </a:lnTo>
                  <a:lnTo>
                    <a:pt x="317" y="5"/>
                  </a:lnTo>
                  <a:lnTo>
                    <a:pt x="317" y="5"/>
                  </a:lnTo>
                  <a:lnTo>
                    <a:pt x="316" y="4"/>
                  </a:lnTo>
                  <a:lnTo>
                    <a:pt x="315" y="1"/>
                  </a:lnTo>
                  <a:lnTo>
                    <a:pt x="313" y="1"/>
                  </a:lnTo>
                  <a:lnTo>
                    <a:pt x="312" y="0"/>
                  </a:lnTo>
                  <a:lnTo>
                    <a:pt x="312" y="0"/>
                  </a:lnTo>
                  <a:close/>
                  <a:moveTo>
                    <a:pt x="299" y="220"/>
                  </a:moveTo>
                  <a:lnTo>
                    <a:pt x="299" y="220"/>
                  </a:lnTo>
                  <a:lnTo>
                    <a:pt x="297" y="223"/>
                  </a:lnTo>
                  <a:lnTo>
                    <a:pt x="296" y="224"/>
                  </a:lnTo>
                  <a:lnTo>
                    <a:pt x="295" y="226"/>
                  </a:lnTo>
                  <a:lnTo>
                    <a:pt x="293" y="226"/>
                  </a:lnTo>
                  <a:lnTo>
                    <a:pt x="25" y="226"/>
                  </a:lnTo>
                  <a:lnTo>
                    <a:pt x="25" y="226"/>
                  </a:lnTo>
                  <a:lnTo>
                    <a:pt x="23" y="226"/>
                  </a:lnTo>
                  <a:lnTo>
                    <a:pt x="22" y="224"/>
                  </a:lnTo>
                  <a:lnTo>
                    <a:pt x="21" y="223"/>
                  </a:lnTo>
                  <a:lnTo>
                    <a:pt x="19" y="220"/>
                  </a:lnTo>
                  <a:lnTo>
                    <a:pt x="19" y="26"/>
                  </a:lnTo>
                  <a:lnTo>
                    <a:pt x="19" y="26"/>
                  </a:lnTo>
                  <a:lnTo>
                    <a:pt x="21" y="23"/>
                  </a:lnTo>
                  <a:lnTo>
                    <a:pt x="22" y="22"/>
                  </a:lnTo>
                  <a:lnTo>
                    <a:pt x="23" y="20"/>
                  </a:lnTo>
                  <a:lnTo>
                    <a:pt x="25" y="20"/>
                  </a:lnTo>
                  <a:lnTo>
                    <a:pt x="293" y="20"/>
                  </a:lnTo>
                  <a:lnTo>
                    <a:pt x="293" y="20"/>
                  </a:lnTo>
                  <a:lnTo>
                    <a:pt x="295" y="20"/>
                  </a:lnTo>
                  <a:lnTo>
                    <a:pt x="296" y="22"/>
                  </a:lnTo>
                  <a:lnTo>
                    <a:pt x="297" y="23"/>
                  </a:lnTo>
                  <a:lnTo>
                    <a:pt x="299" y="26"/>
                  </a:lnTo>
                  <a:lnTo>
                    <a:pt x="299" y="2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Light" panose="020F0302020204030204" pitchFamily="34" charset="0"/>
              </a:endParaRPr>
            </a:p>
          </p:txBody>
        </p:sp>
        <p:sp>
          <p:nvSpPr>
            <p:cNvPr id="28" name="Freeform 180"/>
            <p:cNvSpPr>
              <a:spLocks noEditPoints="1"/>
            </p:cNvSpPr>
            <p:nvPr/>
          </p:nvSpPr>
          <p:spPr bwMode="auto">
            <a:xfrm>
              <a:off x="6509125" y="2500806"/>
              <a:ext cx="238812" cy="234950"/>
            </a:xfrm>
            <a:custGeom>
              <a:avLst/>
              <a:gdLst>
                <a:gd name="T0" fmla="*/ 6 w 317"/>
                <a:gd name="T1" fmla="*/ 0 h 296"/>
                <a:gd name="T2" fmla="*/ 4 w 317"/>
                <a:gd name="T3" fmla="*/ 1 h 296"/>
                <a:gd name="T4" fmla="*/ 2 w 317"/>
                <a:gd name="T5" fmla="*/ 4 h 296"/>
                <a:gd name="T6" fmla="*/ 0 w 317"/>
                <a:gd name="T7" fmla="*/ 241 h 296"/>
                <a:gd name="T8" fmla="*/ 2 w 317"/>
                <a:gd name="T9" fmla="*/ 242 h 296"/>
                <a:gd name="T10" fmla="*/ 4 w 317"/>
                <a:gd name="T11" fmla="*/ 245 h 296"/>
                <a:gd name="T12" fmla="*/ 123 w 317"/>
                <a:gd name="T13" fmla="*/ 245 h 296"/>
                <a:gd name="T14" fmla="*/ 88 w 317"/>
                <a:gd name="T15" fmla="*/ 286 h 296"/>
                <a:gd name="T16" fmla="*/ 85 w 317"/>
                <a:gd name="T17" fmla="*/ 286 h 296"/>
                <a:gd name="T18" fmla="*/ 82 w 317"/>
                <a:gd name="T19" fmla="*/ 289 h 296"/>
                <a:gd name="T20" fmla="*/ 82 w 317"/>
                <a:gd name="T21" fmla="*/ 292 h 296"/>
                <a:gd name="T22" fmla="*/ 84 w 317"/>
                <a:gd name="T23" fmla="*/ 294 h 296"/>
                <a:gd name="T24" fmla="*/ 88 w 317"/>
                <a:gd name="T25" fmla="*/ 296 h 296"/>
                <a:gd name="T26" fmla="*/ 190 w 317"/>
                <a:gd name="T27" fmla="*/ 296 h 296"/>
                <a:gd name="T28" fmla="*/ 230 w 317"/>
                <a:gd name="T29" fmla="*/ 296 h 296"/>
                <a:gd name="T30" fmla="*/ 234 w 317"/>
                <a:gd name="T31" fmla="*/ 294 h 296"/>
                <a:gd name="T32" fmla="*/ 235 w 317"/>
                <a:gd name="T33" fmla="*/ 292 h 296"/>
                <a:gd name="T34" fmla="*/ 235 w 317"/>
                <a:gd name="T35" fmla="*/ 289 h 296"/>
                <a:gd name="T36" fmla="*/ 233 w 317"/>
                <a:gd name="T37" fmla="*/ 286 h 296"/>
                <a:gd name="T38" fmla="*/ 195 w 317"/>
                <a:gd name="T39" fmla="*/ 286 h 296"/>
                <a:gd name="T40" fmla="*/ 312 w 317"/>
                <a:gd name="T41" fmla="*/ 245 h 296"/>
                <a:gd name="T42" fmla="*/ 313 w 317"/>
                <a:gd name="T43" fmla="*/ 245 h 296"/>
                <a:gd name="T44" fmla="*/ 316 w 317"/>
                <a:gd name="T45" fmla="*/ 242 h 296"/>
                <a:gd name="T46" fmla="*/ 317 w 317"/>
                <a:gd name="T47" fmla="*/ 5 h 296"/>
                <a:gd name="T48" fmla="*/ 316 w 317"/>
                <a:gd name="T49" fmla="*/ 4 h 296"/>
                <a:gd name="T50" fmla="*/ 313 w 317"/>
                <a:gd name="T51" fmla="*/ 1 h 296"/>
                <a:gd name="T52" fmla="*/ 312 w 317"/>
                <a:gd name="T53" fmla="*/ 0 h 296"/>
                <a:gd name="T54" fmla="*/ 299 w 317"/>
                <a:gd name="T55" fmla="*/ 220 h 296"/>
                <a:gd name="T56" fmla="*/ 296 w 317"/>
                <a:gd name="T57" fmla="*/ 224 h 296"/>
                <a:gd name="T58" fmla="*/ 293 w 317"/>
                <a:gd name="T59" fmla="*/ 226 h 296"/>
                <a:gd name="T60" fmla="*/ 25 w 317"/>
                <a:gd name="T61" fmla="*/ 226 h 296"/>
                <a:gd name="T62" fmla="*/ 22 w 317"/>
                <a:gd name="T63" fmla="*/ 224 h 296"/>
                <a:gd name="T64" fmla="*/ 19 w 317"/>
                <a:gd name="T65" fmla="*/ 220 h 296"/>
                <a:gd name="T66" fmla="*/ 19 w 317"/>
                <a:gd name="T67" fmla="*/ 26 h 296"/>
                <a:gd name="T68" fmla="*/ 22 w 317"/>
                <a:gd name="T69" fmla="*/ 22 h 296"/>
                <a:gd name="T70" fmla="*/ 25 w 317"/>
                <a:gd name="T71" fmla="*/ 20 h 296"/>
                <a:gd name="T72" fmla="*/ 293 w 317"/>
                <a:gd name="T73" fmla="*/ 20 h 296"/>
                <a:gd name="T74" fmla="*/ 296 w 317"/>
                <a:gd name="T75" fmla="*/ 22 h 296"/>
                <a:gd name="T76" fmla="*/ 299 w 317"/>
                <a:gd name="T77" fmla="*/ 2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7" h="296">
                  <a:moveTo>
                    <a:pt x="312" y="0"/>
                  </a:moveTo>
                  <a:lnTo>
                    <a:pt x="6" y="0"/>
                  </a:lnTo>
                  <a:lnTo>
                    <a:pt x="6" y="0"/>
                  </a:lnTo>
                  <a:lnTo>
                    <a:pt x="4" y="1"/>
                  </a:lnTo>
                  <a:lnTo>
                    <a:pt x="3" y="1"/>
                  </a:lnTo>
                  <a:lnTo>
                    <a:pt x="2" y="4"/>
                  </a:lnTo>
                  <a:lnTo>
                    <a:pt x="0" y="5"/>
                  </a:lnTo>
                  <a:lnTo>
                    <a:pt x="0" y="241"/>
                  </a:lnTo>
                  <a:lnTo>
                    <a:pt x="0" y="241"/>
                  </a:lnTo>
                  <a:lnTo>
                    <a:pt x="2" y="242"/>
                  </a:lnTo>
                  <a:lnTo>
                    <a:pt x="3" y="243"/>
                  </a:lnTo>
                  <a:lnTo>
                    <a:pt x="4" y="245"/>
                  </a:lnTo>
                  <a:lnTo>
                    <a:pt x="6" y="245"/>
                  </a:lnTo>
                  <a:lnTo>
                    <a:pt x="123" y="245"/>
                  </a:lnTo>
                  <a:lnTo>
                    <a:pt x="123" y="286"/>
                  </a:lnTo>
                  <a:lnTo>
                    <a:pt x="88" y="286"/>
                  </a:lnTo>
                  <a:lnTo>
                    <a:pt x="88" y="286"/>
                  </a:lnTo>
                  <a:lnTo>
                    <a:pt x="85" y="286"/>
                  </a:lnTo>
                  <a:lnTo>
                    <a:pt x="84" y="288"/>
                  </a:lnTo>
                  <a:lnTo>
                    <a:pt x="82" y="289"/>
                  </a:lnTo>
                  <a:lnTo>
                    <a:pt x="82" y="292"/>
                  </a:lnTo>
                  <a:lnTo>
                    <a:pt x="82" y="292"/>
                  </a:lnTo>
                  <a:lnTo>
                    <a:pt x="82" y="293"/>
                  </a:lnTo>
                  <a:lnTo>
                    <a:pt x="84" y="294"/>
                  </a:lnTo>
                  <a:lnTo>
                    <a:pt x="85" y="296"/>
                  </a:lnTo>
                  <a:lnTo>
                    <a:pt x="88" y="296"/>
                  </a:lnTo>
                  <a:lnTo>
                    <a:pt x="128" y="296"/>
                  </a:lnTo>
                  <a:lnTo>
                    <a:pt x="190" y="296"/>
                  </a:lnTo>
                  <a:lnTo>
                    <a:pt x="230" y="296"/>
                  </a:lnTo>
                  <a:lnTo>
                    <a:pt x="230" y="296"/>
                  </a:lnTo>
                  <a:lnTo>
                    <a:pt x="233" y="296"/>
                  </a:lnTo>
                  <a:lnTo>
                    <a:pt x="234" y="294"/>
                  </a:lnTo>
                  <a:lnTo>
                    <a:pt x="235" y="293"/>
                  </a:lnTo>
                  <a:lnTo>
                    <a:pt x="235" y="292"/>
                  </a:lnTo>
                  <a:lnTo>
                    <a:pt x="235" y="292"/>
                  </a:lnTo>
                  <a:lnTo>
                    <a:pt x="235" y="289"/>
                  </a:lnTo>
                  <a:lnTo>
                    <a:pt x="234" y="288"/>
                  </a:lnTo>
                  <a:lnTo>
                    <a:pt x="233" y="286"/>
                  </a:lnTo>
                  <a:lnTo>
                    <a:pt x="230" y="286"/>
                  </a:lnTo>
                  <a:lnTo>
                    <a:pt x="195" y="286"/>
                  </a:lnTo>
                  <a:lnTo>
                    <a:pt x="195" y="245"/>
                  </a:lnTo>
                  <a:lnTo>
                    <a:pt x="312" y="245"/>
                  </a:lnTo>
                  <a:lnTo>
                    <a:pt x="312" y="245"/>
                  </a:lnTo>
                  <a:lnTo>
                    <a:pt x="313" y="245"/>
                  </a:lnTo>
                  <a:lnTo>
                    <a:pt x="315" y="243"/>
                  </a:lnTo>
                  <a:lnTo>
                    <a:pt x="316" y="242"/>
                  </a:lnTo>
                  <a:lnTo>
                    <a:pt x="317" y="241"/>
                  </a:lnTo>
                  <a:lnTo>
                    <a:pt x="317" y="5"/>
                  </a:lnTo>
                  <a:lnTo>
                    <a:pt x="317" y="5"/>
                  </a:lnTo>
                  <a:lnTo>
                    <a:pt x="316" y="4"/>
                  </a:lnTo>
                  <a:lnTo>
                    <a:pt x="315" y="1"/>
                  </a:lnTo>
                  <a:lnTo>
                    <a:pt x="313" y="1"/>
                  </a:lnTo>
                  <a:lnTo>
                    <a:pt x="312" y="0"/>
                  </a:lnTo>
                  <a:lnTo>
                    <a:pt x="312" y="0"/>
                  </a:lnTo>
                  <a:close/>
                  <a:moveTo>
                    <a:pt x="299" y="220"/>
                  </a:moveTo>
                  <a:lnTo>
                    <a:pt x="299" y="220"/>
                  </a:lnTo>
                  <a:lnTo>
                    <a:pt x="297" y="223"/>
                  </a:lnTo>
                  <a:lnTo>
                    <a:pt x="296" y="224"/>
                  </a:lnTo>
                  <a:lnTo>
                    <a:pt x="295" y="226"/>
                  </a:lnTo>
                  <a:lnTo>
                    <a:pt x="293" y="226"/>
                  </a:lnTo>
                  <a:lnTo>
                    <a:pt x="25" y="226"/>
                  </a:lnTo>
                  <a:lnTo>
                    <a:pt x="25" y="226"/>
                  </a:lnTo>
                  <a:lnTo>
                    <a:pt x="23" y="226"/>
                  </a:lnTo>
                  <a:lnTo>
                    <a:pt x="22" y="224"/>
                  </a:lnTo>
                  <a:lnTo>
                    <a:pt x="21" y="223"/>
                  </a:lnTo>
                  <a:lnTo>
                    <a:pt x="19" y="220"/>
                  </a:lnTo>
                  <a:lnTo>
                    <a:pt x="19" y="26"/>
                  </a:lnTo>
                  <a:lnTo>
                    <a:pt x="19" y="26"/>
                  </a:lnTo>
                  <a:lnTo>
                    <a:pt x="21" y="23"/>
                  </a:lnTo>
                  <a:lnTo>
                    <a:pt x="22" y="22"/>
                  </a:lnTo>
                  <a:lnTo>
                    <a:pt x="23" y="20"/>
                  </a:lnTo>
                  <a:lnTo>
                    <a:pt x="25" y="20"/>
                  </a:lnTo>
                  <a:lnTo>
                    <a:pt x="293" y="20"/>
                  </a:lnTo>
                  <a:lnTo>
                    <a:pt x="293" y="20"/>
                  </a:lnTo>
                  <a:lnTo>
                    <a:pt x="295" y="20"/>
                  </a:lnTo>
                  <a:lnTo>
                    <a:pt x="296" y="22"/>
                  </a:lnTo>
                  <a:lnTo>
                    <a:pt x="297" y="23"/>
                  </a:lnTo>
                  <a:lnTo>
                    <a:pt x="299" y="26"/>
                  </a:lnTo>
                  <a:lnTo>
                    <a:pt x="299" y="2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Light" panose="020F0302020204030204" pitchFamily="34" charset="0"/>
              </a:endParaRPr>
            </a:p>
          </p:txBody>
        </p:sp>
        <p:sp>
          <p:nvSpPr>
            <p:cNvPr id="29" name="Freeform 180"/>
            <p:cNvSpPr>
              <a:spLocks noEditPoints="1"/>
            </p:cNvSpPr>
            <p:nvPr/>
          </p:nvSpPr>
          <p:spPr bwMode="auto">
            <a:xfrm>
              <a:off x="7518901" y="2500806"/>
              <a:ext cx="238812" cy="234950"/>
            </a:xfrm>
            <a:custGeom>
              <a:avLst/>
              <a:gdLst>
                <a:gd name="T0" fmla="*/ 6 w 317"/>
                <a:gd name="T1" fmla="*/ 0 h 296"/>
                <a:gd name="T2" fmla="*/ 4 w 317"/>
                <a:gd name="T3" fmla="*/ 1 h 296"/>
                <a:gd name="T4" fmla="*/ 2 w 317"/>
                <a:gd name="T5" fmla="*/ 4 h 296"/>
                <a:gd name="T6" fmla="*/ 0 w 317"/>
                <a:gd name="T7" fmla="*/ 241 h 296"/>
                <a:gd name="T8" fmla="*/ 2 w 317"/>
                <a:gd name="T9" fmla="*/ 242 h 296"/>
                <a:gd name="T10" fmla="*/ 4 w 317"/>
                <a:gd name="T11" fmla="*/ 245 h 296"/>
                <a:gd name="T12" fmla="*/ 123 w 317"/>
                <a:gd name="T13" fmla="*/ 245 h 296"/>
                <a:gd name="T14" fmla="*/ 88 w 317"/>
                <a:gd name="T15" fmla="*/ 286 h 296"/>
                <a:gd name="T16" fmla="*/ 85 w 317"/>
                <a:gd name="T17" fmla="*/ 286 h 296"/>
                <a:gd name="T18" fmla="*/ 82 w 317"/>
                <a:gd name="T19" fmla="*/ 289 h 296"/>
                <a:gd name="T20" fmla="*/ 82 w 317"/>
                <a:gd name="T21" fmla="*/ 292 h 296"/>
                <a:gd name="T22" fmla="*/ 84 w 317"/>
                <a:gd name="T23" fmla="*/ 294 h 296"/>
                <a:gd name="T24" fmla="*/ 88 w 317"/>
                <a:gd name="T25" fmla="*/ 296 h 296"/>
                <a:gd name="T26" fmla="*/ 190 w 317"/>
                <a:gd name="T27" fmla="*/ 296 h 296"/>
                <a:gd name="T28" fmla="*/ 230 w 317"/>
                <a:gd name="T29" fmla="*/ 296 h 296"/>
                <a:gd name="T30" fmla="*/ 234 w 317"/>
                <a:gd name="T31" fmla="*/ 294 h 296"/>
                <a:gd name="T32" fmla="*/ 235 w 317"/>
                <a:gd name="T33" fmla="*/ 292 h 296"/>
                <a:gd name="T34" fmla="*/ 235 w 317"/>
                <a:gd name="T35" fmla="*/ 289 h 296"/>
                <a:gd name="T36" fmla="*/ 233 w 317"/>
                <a:gd name="T37" fmla="*/ 286 h 296"/>
                <a:gd name="T38" fmla="*/ 195 w 317"/>
                <a:gd name="T39" fmla="*/ 286 h 296"/>
                <a:gd name="T40" fmla="*/ 312 w 317"/>
                <a:gd name="T41" fmla="*/ 245 h 296"/>
                <a:gd name="T42" fmla="*/ 313 w 317"/>
                <a:gd name="T43" fmla="*/ 245 h 296"/>
                <a:gd name="T44" fmla="*/ 316 w 317"/>
                <a:gd name="T45" fmla="*/ 242 h 296"/>
                <a:gd name="T46" fmla="*/ 317 w 317"/>
                <a:gd name="T47" fmla="*/ 5 h 296"/>
                <a:gd name="T48" fmla="*/ 316 w 317"/>
                <a:gd name="T49" fmla="*/ 4 h 296"/>
                <a:gd name="T50" fmla="*/ 313 w 317"/>
                <a:gd name="T51" fmla="*/ 1 h 296"/>
                <a:gd name="T52" fmla="*/ 312 w 317"/>
                <a:gd name="T53" fmla="*/ 0 h 296"/>
                <a:gd name="T54" fmla="*/ 299 w 317"/>
                <a:gd name="T55" fmla="*/ 220 h 296"/>
                <a:gd name="T56" fmla="*/ 296 w 317"/>
                <a:gd name="T57" fmla="*/ 224 h 296"/>
                <a:gd name="T58" fmla="*/ 293 w 317"/>
                <a:gd name="T59" fmla="*/ 226 h 296"/>
                <a:gd name="T60" fmla="*/ 25 w 317"/>
                <a:gd name="T61" fmla="*/ 226 h 296"/>
                <a:gd name="T62" fmla="*/ 22 w 317"/>
                <a:gd name="T63" fmla="*/ 224 h 296"/>
                <a:gd name="T64" fmla="*/ 19 w 317"/>
                <a:gd name="T65" fmla="*/ 220 h 296"/>
                <a:gd name="T66" fmla="*/ 19 w 317"/>
                <a:gd name="T67" fmla="*/ 26 h 296"/>
                <a:gd name="T68" fmla="*/ 22 w 317"/>
                <a:gd name="T69" fmla="*/ 22 h 296"/>
                <a:gd name="T70" fmla="*/ 25 w 317"/>
                <a:gd name="T71" fmla="*/ 20 h 296"/>
                <a:gd name="T72" fmla="*/ 293 w 317"/>
                <a:gd name="T73" fmla="*/ 20 h 296"/>
                <a:gd name="T74" fmla="*/ 296 w 317"/>
                <a:gd name="T75" fmla="*/ 22 h 296"/>
                <a:gd name="T76" fmla="*/ 299 w 317"/>
                <a:gd name="T77" fmla="*/ 2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7" h="296">
                  <a:moveTo>
                    <a:pt x="312" y="0"/>
                  </a:moveTo>
                  <a:lnTo>
                    <a:pt x="6" y="0"/>
                  </a:lnTo>
                  <a:lnTo>
                    <a:pt x="6" y="0"/>
                  </a:lnTo>
                  <a:lnTo>
                    <a:pt x="4" y="1"/>
                  </a:lnTo>
                  <a:lnTo>
                    <a:pt x="3" y="1"/>
                  </a:lnTo>
                  <a:lnTo>
                    <a:pt x="2" y="4"/>
                  </a:lnTo>
                  <a:lnTo>
                    <a:pt x="0" y="5"/>
                  </a:lnTo>
                  <a:lnTo>
                    <a:pt x="0" y="241"/>
                  </a:lnTo>
                  <a:lnTo>
                    <a:pt x="0" y="241"/>
                  </a:lnTo>
                  <a:lnTo>
                    <a:pt x="2" y="242"/>
                  </a:lnTo>
                  <a:lnTo>
                    <a:pt x="3" y="243"/>
                  </a:lnTo>
                  <a:lnTo>
                    <a:pt x="4" y="245"/>
                  </a:lnTo>
                  <a:lnTo>
                    <a:pt x="6" y="245"/>
                  </a:lnTo>
                  <a:lnTo>
                    <a:pt x="123" y="245"/>
                  </a:lnTo>
                  <a:lnTo>
                    <a:pt x="123" y="286"/>
                  </a:lnTo>
                  <a:lnTo>
                    <a:pt x="88" y="286"/>
                  </a:lnTo>
                  <a:lnTo>
                    <a:pt x="88" y="286"/>
                  </a:lnTo>
                  <a:lnTo>
                    <a:pt x="85" y="286"/>
                  </a:lnTo>
                  <a:lnTo>
                    <a:pt x="84" y="288"/>
                  </a:lnTo>
                  <a:lnTo>
                    <a:pt x="82" y="289"/>
                  </a:lnTo>
                  <a:lnTo>
                    <a:pt x="82" y="292"/>
                  </a:lnTo>
                  <a:lnTo>
                    <a:pt x="82" y="292"/>
                  </a:lnTo>
                  <a:lnTo>
                    <a:pt x="82" y="293"/>
                  </a:lnTo>
                  <a:lnTo>
                    <a:pt x="84" y="294"/>
                  </a:lnTo>
                  <a:lnTo>
                    <a:pt x="85" y="296"/>
                  </a:lnTo>
                  <a:lnTo>
                    <a:pt x="88" y="296"/>
                  </a:lnTo>
                  <a:lnTo>
                    <a:pt x="128" y="296"/>
                  </a:lnTo>
                  <a:lnTo>
                    <a:pt x="190" y="296"/>
                  </a:lnTo>
                  <a:lnTo>
                    <a:pt x="230" y="296"/>
                  </a:lnTo>
                  <a:lnTo>
                    <a:pt x="230" y="296"/>
                  </a:lnTo>
                  <a:lnTo>
                    <a:pt x="233" y="296"/>
                  </a:lnTo>
                  <a:lnTo>
                    <a:pt x="234" y="294"/>
                  </a:lnTo>
                  <a:lnTo>
                    <a:pt x="235" y="293"/>
                  </a:lnTo>
                  <a:lnTo>
                    <a:pt x="235" y="292"/>
                  </a:lnTo>
                  <a:lnTo>
                    <a:pt x="235" y="292"/>
                  </a:lnTo>
                  <a:lnTo>
                    <a:pt x="235" y="289"/>
                  </a:lnTo>
                  <a:lnTo>
                    <a:pt x="234" y="288"/>
                  </a:lnTo>
                  <a:lnTo>
                    <a:pt x="233" y="286"/>
                  </a:lnTo>
                  <a:lnTo>
                    <a:pt x="230" y="286"/>
                  </a:lnTo>
                  <a:lnTo>
                    <a:pt x="195" y="286"/>
                  </a:lnTo>
                  <a:lnTo>
                    <a:pt x="195" y="245"/>
                  </a:lnTo>
                  <a:lnTo>
                    <a:pt x="312" y="245"/>
                  </a:lnTo>
                  <a:lnTo>
                    <a:pt x="312" y="245"/>
                  </a:lnTo>
                  <a:lnTo>
                    <a:pt x="313" y="245"/>
                  </a:lnTo>
                  <a:lnTo>
                    <a:pt x="315" y="243"/>
                  </a:lnTo>
                  <a:lnTo>
                    <a:pt x="316" y="242"/>
                  </a:lnTo>
                  <a:lnTo>
                    <a:pt x="317" y="241"/>
                  </a:lnTo>
                  <a:lnTo>
                    <a:pt x="317" y="5"/>
                  </a:lnTo>
                  <a:lnTo>
                    <a:pt x="317" y="5"/>
                  </a:lnTo>
                  <a:lnTo>
                    <a:pt x="316" y="4"/>
                  </a:lnTo>
                  <a:lnTo>
                    <a:pt x="315" y="1"/>
                  </a:lnTo>
                  <a:lnTo>
                    <a:pt x="313" y="1"/>
                  </a:lnTo>
                  <a:lnTo>
                    <a:pt x="312" y="0"/>
                  </a:lnTo>
                  <a:lnTo>
                    <a:pt x="312" y="0"/>
                  </a:lnTo>
                  <a:close/>
                  <a:moveTo>
                    <a:pt x="299" y="220"/>
                  </a:moveTo>
                  <a:lnTo>
                    <a:pt x="299" y="220"/>
                  </a:lnTo>
                  <a:lnTo>
                    <a:pt x="297" y="223"/>
                  </a:lnTo>
                  <a:lnTo>
                    <a:pt x="296" y="224"/>
                  </a:lnTo>
                  <a:lnTo>
                    <a:pt x="295" y="226"/>
                  </a:lnTo>
                  <a:lnTo>
                    <a:pt x="293" y="226"/>
                  </a:lnTo>
                  <a:lnTo>
                    <a:pt x="25" y="226"/>
                  </a:lnTo>
                  <a:lnTo>
                    <a:pt x="25" y="226"/>
                  </a:lnTo>
                  <a:lnTo>
                    <a:pt x="23" y="226"/>
                  </a:lnTo>
                  <a:lnTo>
                    <a:pt x="22" y="224"/>
                  </a:lnTo>
                  <a:lnTo>
                    <a:pt x="21" y="223"/>
                  </a:lnTo>
                  <a:lnTo>
                    <a:pt x="19" y="220"/>
                  </a:lnTo>
                  <a:lnTo>
                    <a:pt x="19" y="26"/>
                  </a:lnTo>
                  <a:lnTo>
                    <a:pt x="19" y="26"/>
                  </a:lnTo>
                  <a:lnTo>
                    <a:pt x="21" y="23"/>
                  </a:lnTo>
                  <a:lnTo>
                    <a:pt x="22" y="22"/>
                  </a:lnTo>
                  <a:lnTo>
                    <a:pt x="23" y="20"/>
                  </a:lnTo>
                  <a:lnTo>
                    <a:pt x="25" y="20"/>
                  </a:lnTo>
                  <a:lnTo>
                    <a:pt x="293" y="20"/>
                  </a:lnTo>
                  <a:lnTo>
                    <a:pt x="293" y="20"/>
                  </a:lnTo>
                  <a:lnTo>
                    <a:pt x="295" y="20"/>
                  </a:lnTo>
                  <a:lnTo>
                    <a:pt x="296" y="22"/>
                  </a:lnTo>
                  <a:lnTo>
                    <a:pt x="297" y="23"/>
                  </a:lnTo>
                  <a:lnTo>
                    <a:pt x="299" y="26"/>
                  </a:lnTo>
                  <a:lnTo>
                    <a:pt x="299" y="2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latin typeface="Calibri Light" panose="020F0302020204030204" pitchFamily="34" charset="0"/>
              </a:endParaRPr>
            </a:p>
          </p:txBody>
        </p:sp>
        <p:sp>
          <p:nvSpPr>
            <p:cNvPr id="30" name="TextBox 29"/>
            <p:cNvSpPr txBox="1"/>
            <p:nvPr/>
          </p:nvSpPr>
          <p:spPr>
            <a:xfrm>
              <a:off x="5673403" y="2510559"/>
              <a:ext cx="608541" cy="256661"/>
            </a:xfrm>
            <a:prstGeom prst="rect">
              <a:avLst/>
            </a:prstGeom>
            <a:noFill/>
          </p:spPr>
          <p:txBody>
            <a:bodyPr wrap="square" rtlCol="0">
              <a:spAutoFit/>
            </a:bodyPr>
            <a:lstStyle/>
            <a:p>
              <a:r>
                <a:rPr lang="en-IN" sz="800" dirty="0">
                  <a:latin typeface="Calibri Light" panose="020F0302020204030204" pitchFamily="34" charset="0"/>
                </a:rPr>
                <a:t>BD</a:t>
              </a:r>
              <a:endParaRPr lang="en-IN" sz="1050" dirty="0">
                <a:latin typeface="Calibri Light" panose="020F0302020204030204" pitchFamily="34" charset="0"/>
              </a:endParaRPr>
            </a:p>
          </p:txBody>
        </p:sp>
        <p:sp>
          <p:nvSpPr>
            <p:cNvPr id="31" name="TextBox 30"/>
            <p:cNvSpPr txBox="1"/>
            <p:nvPr/>
          </p:nvSpPr>
          <p:spPr>
            <a:xfrm>
              <a:off x="6734063" y="2449004"/>
              <a:ext cx="642052" cy="403323"/>
            </a:xfrm>
            <a:prstGeom prst="rect">
              <a:avLst/>
            </a:prstGeom>
            <a:noFill/>
          </p:spPr>
          <p:txBody>
            <a:bodyPr wrap="square" rtlCol="0">
              <a:spAutoFit/>
            </a:bodyPr>
            <a:lstStyle/>
            <a:p>
              <a:r>
                <a:rPr lang="en-IN" sz="800" dirty="0">
                  <a:latin typeface="Calibri Light" panose="020F0302020204030204" pitchFamily="34" charset="0"/>
                </a:rPr>
                <a:t>Safety &amp; Security</a:t>
              </a:r>
              <a:endParaRPr lang="en-IN" sz="1050" dirty="0">
                <a:latin typeface="Calibri Light" panose="020F0302020204030204" pitchFamily="34" charset="0"/>
              </a:endParaRPr>
            </a:p>
          </p:txBody>
        </p:sp>
        <p:sp>
          <p:nvSpPr>
            <p:cNvPr id="32" name="TextBox 31"/>
            <p:cNvSpPr txBox="1"/>
            <p:nvPr/>
          </p:nvSpPr>
          <p:spPr>
            <a:xfrm>
              <a:off x="7720055" y="2510559"/>
              <a:ext cx="525327" cy="256661"/>
            </a:xfrm>
            <a:prstGeom prst="rect">
              <a:avLst/>
            </a:prstGeom>
            <a:noFill/>
          </p:spPr>
          <p:txBody>
            <a:bodyPr wrap="square" rtlCol="0">
              <a:spAutoFit/>
            </a:bodyPr>
            <a:lstStyle/>
            <a:p>
              <a:r>
                <a:rPr lang="en-IN" sz="800" dirty="0">
                  <a:latin typeface="Calibri Light" panose="020F0302020204030204" pitchFamily="34" charset="0"/>
                </a:rPr>
                <a:t>Quality</a:t>
              </a:r>
              <a:endParaRPr lang="en-IN" sz="1050" dirty="0">
                <a:latin typeface="Calibri Light" panose="020F0302020204030204" pitchFamily="34" charset="0"/>
              </a:endParaRPr>
            </a:p>
          </p:txBody>
        </p:sp>
        <p:sp>
          <p:nvSpPr>
            <p:cNvPr id="33" name="TextBox 32"/>
            <p:cNvSpPr txBox="1">
              <a:spLocks/>
            </p:cNvSpPr>
            <p:nvPr/>
          </p:nvSpPr>
          <p:spPr>
            <a:xfrm>
              <a:off x="1533931" y="4923585"/>
              <a:ext cx="1613156" cy="881676"/>
            </a:xfrm>
            <a:prstGeom prst="rect">
              <a:avLst/>
            </a:prstGeom>
            <a:solidFill>
              <a:schemeClr val="accent3">
                <a:lumMod val="75000"/>
              </a:schemeClr>
            </a:solidFill>
            <a:ln/>
          </p:spPr>
          <p:style>
            <a:lnRef idx="0">
              <a:schemeClr val="accent6"/>
            </a:lnRef>
            <a:fillRef idx="3">
              <a:schemeClr val="accent6"/>
            </a:fillRef>
            <a:effectRef idx="3">
              <a:schemeClr val="accent6"/>
            </a:effectRef>
            <a:fontRef idx="minor">
              <a:schemeClr val="lt1"/>
            </a:fontRef>
          </p:style>
          <p:txBody>
            <a:bodyPr wrap="square" rtlCol="0">
              <a:noAutofit/>
            </a:bodyPr>
            <a:lstStyle>
              <a:defPPr>
                <a:defRPr lang="en-US"/>
              </a:defPPr>
              <a:lvl1pPr algn="ctr">
                <a:defRPr sz="1100" b="1" spc="300">
                  <a:latin typeface="Calibri Light" panose="020F0302020204030204" pitchFamily="34" charset="0"/>
                  <a:cs typeface="Calibri Light" panose="020F0302020204030204" pitchFamily="34" charset="0"/>
                </a:defRPr>
              </a:lvl1pPr>
            </a:lstStyle>
            <a:p>
              <a:r>
                <a:rPr lang="en-IN" sz="1050" dirty="0"/>
                <a:t>Project Schedule Management (WBS)</a:t>
              </a:r>
            </a:p>
          </p:txBody>
        </p:sp>
        <p:cxnSp>
          <p:nvCxnSpPr>
            <p:cNvPr id="34" name="Elbow Connector 33"/>
            <p:cNvCxnSpPr>
              <a:cxnSpLocks/>
              <a:stCxn id="33" idx="0"/>
              <a:endCxn id="16" idx="1"/>
            </p:cNvCxnSpPr>
            <p:nvPr/>
          </p:nvCxnSpPr>
          <p:spPr>
            <a:xfrm rot="5400000" flipH="1" flipV="1">
              <a:off x="1890806" y="2763488"/>
              <a:ext cx="2609801" cy="171039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p:cNvSpPr txBox="1"/>
            <p:nvPr/>
          </p:nvSpPr>
          <p:spPr>
            <a:xfrm>
              <a:off x="1661009" y="3851398"/>
              <a:ext cx="1332770" cy="293326"/>
            </a:xfrm>
            <a:prstGeom prst="rect">
              <a:avLst/>
            </a:prstGeom>
            <a:solidFill>
              <a:schemeClr val="bg1"/>
            </a:solidFill>
          </p:spPr>
          <p:txBody>
            <a:bodyPr wrap="square" lIns="0" tIns="0" rIns="0" bIns="0" rtlCol="0">
              <a:spAutoFit/>
            </a:bodyPr>
            <a:lstStyle/>
            <a:p>
              <a:pPr algn="ctr"/>
              <a:r>
                <a:rPr lang="en-IN" sz="800" dirty="0">
                  <a:latin typeface="Calibri Light" panose="020F0302020204030204" pitchFamily="34" charset="0"/>
                </a:rPr>
                <a:t>Resource loaded Project activities ,</a:t>
              </a:r>
              <a:r>
                <a:rPr lang="en-US" sz="800" dirty="0">
                  <a:latin typeface="Calibri Light" panose="020F0302020204030204" pitchFamily="34" charset="0"/>
                </a:rPr>
                <a:t> </a:t>
              </a:r>
              <a:endParaRPr lang="en-IN" sz="800" dirty="0">
                <a:latin typeface="Calibri Light" panose="020F0302020204030204" pitchFamily="34" charset="0"/>
              </a:endParaRPr>
            </a:p>
          </p:txBody>
        </p:sp>
        <p:sp>
          <p:nvSpPr>
            <p:cNvPr id="36" name="TextBox 35"/>
            <p:cNvSpPr txBox="1">
              <a:spLocks/>
            </p:cNvSpPr>
            <p:nvPr/>
          </p:nvSpPr>
          <p:spPr>
            <a:xfrm>
              <a:off x="8676359" y="4634701"/>
              <a:ext cx="2854312" cy="1036382"/>
            </a:xfrm>
            <a:prstGeom prst="rect">
              <a:avLst/>
            </a:prstGeom>
            <a:noFill/>
            <a:ln w="19050">
              <a:solidFill>
                <a:srgbClr val="00B050"/>
              </a:solidFill>
            </a:ln>
          </p:spPr>
          <p:txBody>
            <a:bodyPr wrap="square" rtlCol="0">
              <a:noAutofit/>
            </a:bodyPr>
            <a:lstStyle/>
            <a:p>
              <a:pPr algn="ctr"/>
              <a:r>
                <a:rPr lang="en-IN" sz="1100" b="1" spc="300" dirty="0">
                  <a:latin typeface="Calibri Light" panose="020F0302020204030204" pitchFamily="34" charset="0"/>
                  <a:cs typeface="Calibri Light" panose="020F0302020204030204" pitchFamily="34" charset="0"/>
                </a:rPr>
                <a:t>Enterprise Systems</a:t>
              </a:r>
            </a:p>
          </p:txBody>
        </p:sp>
        <p:sp>
          <p:nvSpPr>
            <p:cNvPr id="37" name="TextBox 36"/>
            <p:cNvSpPr txBox="1">
              <a:spLocks/>
            </p:cNvSpPr>
            <p:nvPr/>
          </p:nvSpPr>
          <p:spPr>
            <a:xfrm>
              <a:off x="4108631" y="3921378"/>
              <a:ext cx="1468264" cy="643468"/>
            </a:xfrm>
            <a:prstGeom prst="rect">
              <a:avLst/>
            </a:prstGeom>
            <a:solidFill>
              <a:schemeClr val="accent3">
                <a:lumMod val="75000"/>
              </a:schemeClr>
            </a:solidFill>
            <a:ln/>
          </p:spPr>
          <p:style>
            <a:lnRef idx="0">
              <a:schemeClr val="accent6"/>
            </a:lnRef>
            <a:fillRef idx="3">
              <a:schemeClr val="accent6"/>
            </a:fillRef>
            <a:effectRef idx="3">
              <a:schemeClr val="accent6"/>
            </a:effectRef>
            <a:fontRef idx="minor">
              <a:schemeClr val="lt1"/>
            </a:fontRef>
          </p:style>
          <p:txBody>
            <a:bodyPr wrap="square" rtlCol="0">
              <a:noAutofit/>
            </a:bodyPr>
            <a:lstStyle>
              <a:defPPr>
                <a:defRPr lang="en-US"/>
              </a:defPPr>
              <a:lvl1pPr algn="ctr">
                <a:defRPr sz="1100" b="1" spc="300">
                  <a:latin typeface="Calibri Light" panose="020F0302020204030204" pitchFamily="34" charset="0"/>
                  <a:cs typeface="Calibri Light" panose="020F0302020204030204" pitchFamily="34" charset="0"/>
                </a:defRPr>
              </a:lvl1pPr>
            </a:lstStyle>
            <a:p>
              <a:r>
                <a:rPr lang="en-US" sz="1050" dirty="0"/>
                <a:t>Engineering Information Management</a:t>
              </a:r>
              <a:endParaRPr lang="en-IN" sz="1050" dirty="0"/>
            </a:p>
          </p:txBody>
        </p:sp>
        <p:sp>
          <p:nvSpPr>
            <p:cNvPr id="38" name="TextBox 37"/>
            <p:cNvSpPr txBox="1">
              <a:spLocks/>
            </p:cNvSpPr>
            <p:nvPr/>
          </p:nvSpPr>
          <p:spPr>
            <a:xfrm>
              <a:off x="4953367" y="4926500"/>
              <a:ext cx="1208846" cy="473919"/>
            </a:xfrm>
            <a:prstGeom prst="rect">
              <a:avLst/>
            </a:prstGeom>
            <a:solidFill>
              <a:schemeClr val="accent3">
                <a:lumMod val="75000"/>
              </a:schemeClr>
            </a:solidFill>
            <a:ln/>
          </p:spPr>
          <p:style>
            <a:lnRef idx="0">
              <a:schemeClr val="accent6"/>
            </a:lnRef>
            <a:fillRef idx="3">
              <a:schemeClr val="accent6"/>
            </a:fillRef>
            <a:effectRef idx="3">
              <a:schemeClr val="accent6"/>
            </a:effectRef>
            <a:fontRef idx="minor">
              <a:schemeClr val="lt1"/>
            </a:fontRef>
          </p:style>
          <p:txBody>
            <a:bodyPr wrap="square" rtlCol="0">
              <a:noAutofit/>
            </a:bodyPr>
            <a:lstStyle>
              <a:defPPr>
                <a:defRPr lang="en-US"/>
              </a:defPPr>
              <a:lvl1pPr algn="ctr">
                <a:defRPr sz="1100" b="1" spc="300">
                  <a:latin typeface="Calibri Light" panose="020F0302020204030204" pitchFamily="34" charset="0"/>
                  <a:cs typeface="Calibri Light" panose="020F0302020204030204" pitchFamily="34" charset="0"/>
                </a:defRPr>
              </a:lvl1pPr>
            </a:lstStyle>
            <a:p>
              <a:r>
                <a:rPr lang="en-US" sz="1050" dirty="0"/>
                <a:t>Cost Estimation</a:t>
              </a:r>
              <a:endParaRPr lang="en-IN" sz="1050" dirty="0"/>
            </a:p>
          </p:txBody>
        </p:sp>
        <p:cxnSp>
          <p:nvCxnSpPr>
            <p:cNvPr id="39" name="Elbow Connector 38"/>
            <p:cNvCxnSpPr>
              <a:stCxn id="16" idx="2"/>
              <a:endCxn id="38" idx="3"/>
            </p:cNvCxnSpPr>
            <p:nvPr/>
          </p:nvCxnSpPr>
          <p:spPr>
            <a:xfrm rot="5400000">
              <a:off x="5058436" y="3991271"/>
              <a:ext cx="2275967" cy="68411"/>
            </a:xfrm>
            <a:prstGeom prst="bentConnector2">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40" name="Straight Arrow Connector 39"/>
            <p:cNvCxnSpPr>
              <a:stCxn id="37" idx="0"/>
            </p:cNvCxnSpPr>
            <p:nvPr/>
          </p:nvCxnSpPr>
          <p:spPr>
            <a:xfrm flipV="1">
              <a:off x="4842763" y="2887491"/>
              <a:ext cx="0" cy="10338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p:cNvSpPr txBox="1">
              <a:spLocks/>
            </p:cNvSpPr>
            <p:nvPr/>
          </p:nvSpPr>
          <p:spPr>
            <a:xfrm>
              <a:off x="6359117" y="4894594"/>
              <a:ext cx="1063363" cy="537730"/>
            </a:xfrm>
            <a:prstGeom prst="rect">
              <a:avLst/>
            </a:prstGeom>
            <a:solidFill>
              <a:schemeClr val="accent3">
                <a:lumMod val="75000"/>
              </a:schemeClr>
            </a:solidFill>
            <a:ln/>
          </p:spPr>
          <p:style>
            <a:lnRef idx="0">
              <a:schemeClr val="accent6"/>
            </a:lnRef>
            <a:fillRef idx="3">
              <a:schemeClr val="accent6"/>
            </a:fillRef>
            <a:effectRef idx="3">
              <a:schemeClr val="accent6"/>
            </a:effectRef>
            <a:fontRef idx="minor">
              <a:schemeClr val="lt1"/>
            </a:fontRef>
          </p:style>
          <p:txBody>
            <a:bodyPr wrap="square" rtlCol="0">
              <a:noAutofit/>
            </a:bodyPr>
            <a:lstStyle>
              <a:defPPr>
                <a:defRPr lang="en-US"/>
              </a:defPPr>
              <a:lvl1pPr algn="ctr">
                <a:defRPr sz="1100" b="1" spc="300">
                  <a:latin typeface="Calibri Light" panose="020F0302020204030204" pitchFamily="34" charset="0"/>
                  <a:cs typeface="Calibri Light" panose="020F0302020204030204" pitchFamily="34" charset="0"/>
                </a:defRPr>
              </a:lvl1pPr>
            </a:lstStyle>
            <a:p>
              <a:r>
                <a:rPr lang="en-US" sz="1050" dirty="0"/>
                <a:t>Project Finance</a:t>
              </a:r>
              <a:endParaRPr lang="en-IN" sz="1050" dirty="0"/>
            </a:p>
          </p:txBody>
        </p:sp>
        <p:sp>
          <p:nvSpPr>
            <p:cNvPr id="43" name="Rectangle 42"/>
            <p:cNvSpPr/>
            <p:nvPr/>
          </p:nvSpPr>
          <p:spPr>
            <a:xfrm>
              <a:off x="3738520" y="3777828"/>
              <a:ext cx="3780381" cy="1895014"/>
            </a:xfrm>
            <a:prstGeom prst="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atin typeface="Calibri Light" panose="020F0302020204030204" pitchFamily="34" charset="0"/>
              </a:endParaRPr>
            </a:p>
          </p:txBody>
        </p:sp>
        <p:sp>
          <p:nvSpPr>
            <p:cNvPr id="44" name="TextBox 43"/>
            <p:cNvSpPr txBox="1">
              <a:spLocks/>
            </p:cNvSpPr>
            <p:nvPr/>
          </p:nvSpPr>
          <p:spPr>
            <a:xfrm>
              <a:off x="8813142" y="5003740"/>
              <a:ext cx="936946" cy="487834"/>
            </a:xfrm>
            <a:prstGeom prst="rect">
              <a:avLst/>
            </a:prstGeom>
            <a:solidFill>
              <a:schemeClr val="accent3">
                <a:lumMod val="75000"/>
              </a:schemeClr>
            </a:solidFill>
            <a:ln/>
          </p:spPr>
          <p:style>
            <a:lnRef idx="0">
              <a:schemeClr val="accent6"/>
            </a:lnRef>
            <a:fillRef idx="3">
              <a:schemeClr val="accent6"/>
            </a:fillRef>
            <a:effectRef idx="3">
              <a:schemeClr val="accent6"/>
            </a:effectRef>
            <a:fontRef idx="minor">
              <a:schemeClr val="lt1"/>
            </a:fontRef>
          </p:style>
          <p:txBody>
            <a:bodyPr wrap="square" rtlCol="0">
              <a:noAutofit/>
            </a:bodyPr>
            <a:lstStyle>
              <a:defPPr>
                <a:defRPr lang="en-US"/>
              </a:defPPr>
              <a:lvl1pPr algn="ctr">
                <a:defRPr sz="1100" b="1" spc="300">
                  <a:latin typeface="Calibri Light" panose="020F0302020204030204" pitchFamily="34" charset="0"/>
                  <a:cs typeface="Calibri Light" panose="020F0302020204030204" pitchFamily="34" charset="0"/>
                </a:defRPr>
              </a:lvl1pPr>
            </a:lstStyle>
            <a:p>
              <a:r>
                <a:rPr lang="en-US" sz="1050" dirty="0"/>
                <a:t>Vendor </a:t>
              </a:r>
              <a:r>
                <a:rPr lang="en-US" sz="1050" dirty="0" err="1"/>
                <a:t>Mgmt</a:t>
              </a:r>
              <a:endParaRPr lang="en-IN" sz="1050" dirty="0"/>
            </a:p>
          </p:txBody>
        </p:sp>
        <p:sp>
          <p:nvSpPr>
            <p:cNvPr id="45" name="TextBox 44"/>
            <p:cNvSpPr txBox="1">
              <a:spLocks/>
            </p:cNvSpPr>
            <p:nvPr/>
          </p:nvSpPr>
          <p:spPr>
            <a:xfrm>
              <a:off x="9871082" y="5003740"/>
              <a:ext cx="1528950" cy="487834"/>
            </a:xfrm>
            <a:prstGeom prst="rect">
              <a:avLst/>
            </a:prstGeom>
            <a:solidFill>
              <a:schemeClr val="accent3">
                <a:lumMod val="75000"/>
              </a:schemeClr>
            </a:solidFill>
            <a:ln/>
          </p:spPr>
          <p:style>
            <a:lnRef idx="0">
              <a:schemeClr val="accent6"/>
            </a:lnRef>
            <a:fillRef idx="3">
              <a:schemeClr val="accent6"/>
            </a:fillRef>
            <a:effectRef idx="3">
              <a:schemeClr val="accent6"/>
            </a:effectRef>
            <a:fontRef idx="minor">
              <a:schemeClr val="lt1"/>
            </a:fontRef>
          </p:style>
          <p:txBody>
            <a:bodyPr wrap="square" rtlCol="0">
              <a:noAutofit/>
            </a:bodyPr>
            <a:lstStyle>
              <a:defPPr>
                <a:defRPr lang="en-US"/>
              </a:defPPr>
              <a:lvl1pPr algn="ctr">
                <a:defRPr sz="1100" b="1" spc="300">
                  <a:latin typeface="Calibri Light" panose="020F0302020204030204" pitchFamily="34" charset="0"/>
                  <a:cs typeface="Calibri Light" panose="020F0302020204030204" pitchFamily="34" charset="0"/>
                </a:defRPr>
              </a:lvl1pPr>
            </a:lstStyle>
            <a:p>
              <a:r>
                <a:rPr lang="en-US" sz="1050" dirty="0"/>
                <a:t>Procurement </a:t>
              </a:r>
              <a:r>
                <a:rPr lang="en-US" sz="1050" dirty="0" err="1"/>
                <a:t>Mgmt</a:t>
              </a:r>
              <a:endParaRPr lang="en-IN" sz="1050" dirty="0"/>
            </a:p>
          </p:txBody>
        </p:sp>
        <p:sp>
          <p:nvSpPr>
            <p:cNvPr id="46" name="Rectangle 45"/>
            <p:cNvSpPr/>
            <p:nvPr/>
          </p:nvSpPr>
          <p:spPr>
            <a:xfrm rot="16200000">
              <a:off x="-1395787" y="3791187"/>
              <a:ext cx="3872438" cy="396000"/>
            </a:xfrm>
            <a:prstGeom prst="rect">
              <a:avLst/>
            </a:prstGeom>
            <a:noFill/>
            <a:ln w="222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1050" b="1" spc="300" dirty="0">
                  <a:solidFill>
                    <a:schemeClr val="tx1"/>
                  </a:solidFill>
                  <a:latin typeface="Calibri Light" panose="020F0302020204030204" pitchFamily="34" charset="0"/>
                  <a:ea typeface="Verdana" panose="020B0604030504040204" pitchFamily="34" charset="0"/>
                  <a:cs typeface="Calibri Light" panose="020F0302020204030204" pitchFamily="34" charset="0"/>
                </a:rPr>
                <a:t>BPM layer (Workflow management, Alerts, Prioritization etc.)</a:t>
              </a:r>
              <a:endParaRPr lang="en-IN" sz="1050" b="1" spc="300" dirty="0">
                <a:solidFill>
                  <a:schemeClr val="tx1"/>
                </a:solidFill>
                <a:latin typeface="Calibri Light" panose="020F0302020204030204" pitchFamily="34" charset="0"/>
                <a:ea typeface="Verdana" panose="020B0604030504040204" pitchFamily="34" charset="0"/>
                <a:cs typeface="Calibri Light" panose="020F0302020204030204" pitchFamily="34" charset="0"/>
              </a:endParaRPr>
            </a:p>
          </p:txBody>
        </p:sp>
        <p:sp>
          <p:nvSpPr>
            <p:cNvPr id="47" name="TextBox 46"/>
            <p:cNvSpPr txBox="1">
              <a:spLocks/>
            </p:cNvSpPr>
            <p:nvPr/>
          </p:nvSpPr>
          <p:spPr>
            <a:xfrm>
              <a:off x="2526152" y="3042795"/>
              <a:ext cx="1644205" cy="626747"/>
            </a:xfrm>
            <a:prstGeom prst="rect">
              <a:avLst/>
            </a:prstGeom>
            <a:solidFill>
              <a:schemeClr val="accent3">
                <a:lumMod val="75000"/>
              </a:schemeClr>
            </a:solidFill>
            <a:ln/>
          </p:spPr>
          <p:style>
            <a:lnRef idx="0">
              <a:schemeClr val="accent6"/>
            </a:lnRef>
            <a:fillRef idx="3">
              <a:schemeClr val="accent6"/>
            </a:fillRef>
            <a:effectRef idx="3">
              <a:schemeClr val="accent6"/>
            </a:effectRef>
            <a:fontRef idx="minor">
              <a:schemeClr val="lt1"/>
            </a:fontRef>
          </p:style>
          <p:txBody>
            <a:bodyPr wrap="square" rtlCol="0">
              <a:noAutofit/>
            </a:bodyPr>
            <a:lstStyle>
              <a:defPPr>
                <a:defRPr lang="en-US"/>
              </a:defPPr>
              <a:lvl1pPr algn="ctr">
                <a:defRPr sz="1400" b="1" spc="300">
                  <a:latin typeface="Calibri Light" panose="020F0302020204030204" pitchFamily="34" charset="0"/>
                  <a:cs typeface="Calibri Light" panose="020F0302020204030204" pitchFamily="34" charset="0"/>
                </a:defRPr>
              </a:lvl1pPr>
            </a:lstStyle>
            <a:p>
              <a:r>
                <a:rPr lang="en-IN" sz="1050" dirty="0"/>
                <a:t>Project Corresponding Management</a:t>
              </a:r>
            </a:p>
          </p:txBody>
        </p:sp>
        <p:cxnSp>
          <p:nvCxnSpPr>
            <p:cNvPr id="48" name="Elbow Connector 47"/>
            <p:cNvCxnSpPr>
              <a:cxnSpLocks/>
              <a:stCxn id="43" idx="1"/>
              <a:endCxn id="33" idx="3"/>
            </p:cNvCxnSpPr>
            <p:nvPr/>
          </p:nvCxnSpPr>
          <p:spPr>
            <a:xfrm rot="10800000" flipV="1">
              <a:off x="3147087" y="4725335"/>
              <a:ext cx="591433" cy="639088"/>
            </a:xfrm>
            <a:prstGeom prst="bent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1828967" y="4278884"/>
              <a:ext cx="943535" cy="403323"/>
            </a:xfrm>
            <a:prstGeom prst="rect">
              <a:avLst/>
            </a:prstGeom>
            <a:solidFill>
              <a:schemeClr val="bg1"/>
            </a:solidFill>
          </p:spPr>
          <p:txBody>
            <a:bodyPr wrap="square" lIns="0" rIns="36000" rtlCol="0">
              <a:spAutoFit/>
            </a:bodyPr>
            <a:lstStyle/>
            <a:p>
              <a:pPr algn="ctr"/>
              <a:r>
                <a:rPr lang="en-IN" sz="800" dirty="0">
                  <a:latin typeface="Calibri Light" panose="020F0302020204030204" pitchFamily="34" charset="0"/>
                </a:rPr>
                <a:t>Project Schedules and project plan</a:t>
              </a:r>
            </a:p>
          </p:txBody>
        </p:sp>
        <p:cxnSp>
          <p:nvCxnSpPr>
            <p:cNvPr id="50" name="Elbow Connector 49"/>
            <p:cNvCxnSpPr>
              <a:stCxn id="16" idx="2"/>
              <a:endCxn id="36" idx="0"/>
            </p:cNvCxnSpPr>
            <p:nvPr/>
          </p:nvCxnSpPr>
          <p:spPr>
            <a:xfrm rot="16200000" flipH="1">
              <a:off x="7293465" y="1824651"/>
              <a:ext cx="1747208" cy="3872891"/>
            </a:xfrm>
            <a:prstGeom prst="bentConnector3">
              <a:avLst>
                <a:gd name="adj1" fmla="val 31564"/>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51" name="Elbow Connector 50"/>
            <p:cNvCxnSpPr>
              <a:stCxn id="16" idx="2"/>
              <a:endCxn id="42" idx="1"/>
            </p:cNvCxnSpPr>
            <p:nvPr/>
          </p:nvCxnSpPr>
          <p:spPr>
            <a:xfrm rot="16200000" flipH="1">
              <a:off x="5156887" y="3961229"/>
              <a:ext cx="2275966" cy="128493"/>
            </a:xfrm>
            <a:prstGeom prst="bentConnector2">
              <a:avLst/>
            </a:prstGeom>
            <a:ln>
              <a:headEnd type="triangle"/>
              <a:tailEnd type="none"/>
            </a:ln>
          </p:spPr>
          <p:style>
            <a:lnRef idx="1">
              <a:schemeClr val="dk1"/>
            </a:lnRef>
            <a:fillRef idx="0">
              <a:schemeClr val="dk1"/>
            </a:fillRef>
            <a:effectRef idx="0">
              <a:schemeClr val="dk1"/>
            </a:effectRef>
            <a:fontRef idx="minor">
              <a:schemeClr val="tx1"/>
            </a:fontRef>
          </p:style>
        </p:cxnSp>
        <p:sp>
          <p:nvSpPr>
            <p:cNvPr id="52" name="TextBox 51"/>
            <p:cNvSpPr txBox="1">
              <a:spLocks/>
            </p:cNvSpPr>
            <p:nvPr/>
          </p:nvSpPr>
          <p:spPr>
            <a:xfrm>
              <a:off x="8003135" y="6368035"/>
              <a:ext cx="1363530" cy="338656"/>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nchor="ctr" anchorCtr="0">
              <a:noAutofit/>
            </a:bodyPr>
            <a:lstStyle>
              <a:defPPr>
                <a:defRPr lang="en-US"/>
              </a:defPPr>
              <a:lvl1pPr algn="ctr">
                <a:defRPr sz="1200" b="1" spc="300">
                  <a:solidFill>
                    <a:schemeClr val="dk1"/>
                  </a:solidFill>
                  <a:latin typeface="Calibri Light" panose="020F0302020204030204" pitchFamily="34" charset="0"/>
                  <a:cs typeface="Calibri Light" panose="020F0302020204030204"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1100" dirty="0"/>
                <a:t>WBSEDCL</a:t>
              </a:r>
              <a:endParaRPr lang="en-IN" sz="1100" dirty="0"/>
            </a:p>
          </p:txBody>
        </p:sp>
        <p:cxnSp>
          <p:nvCxnSpPr>
            <p:cNvPr id="53" name="Elbow Connector 52"/>
            <p:cNvCxnSpPr>
              <a:stCxn id="36" idx="1"/>
              <a:endCxn id="43" idx="3"/>
            </p:cNvCxnSpPr>
            <p:nvPr/>
          </p:nvCxnSpPr>
          <p:spPr>
            <a:xfrm rot="10800000">
              <a:off x="7518901" y="4725336"/>
              <a:ext cx="1157458" cy="427557"/>
            </a:xfrm>
            <a:prstGeom prst="bent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Elbow Connector 53"/>
            <p:cNvCxnSpPr>
              <a:stCxn id="16" idx="1"/>
              <a:endCxn id="47" idx="0"/>
            </p:cNvCxnSpPr>
            <p:nvPr/>
          </p:nvCxnSpPr>
          <p:spPr>
            <a:xfrm rot="10800000" flipV="1">
              <a:off x="3348255" y="2313784"/>
              <a:ext cx="702648" cy="72901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55" name="TextBox 54"/>
            <p:cNvSpPr txBox="1"/>
            <p:nvPr/>
          </p:nvSpPr>
          <p:spPr>
            <a:xfrm>
              <a:off x="2763824" y="2681179"/>
              <a:ext cx="1115252" cy="146663"/>
            </a:xfrm>
            <a:prstGeom prst="rect">
              <a:avLst/>
            </a:prstGeom>
            <a:solidFill>
              <a:schemeClr val="bg1"/>
            </a:solidFill>
          </p:spPr>
          <p:txBody>
            <a:bodyPr wrap="square" lIns="0" tIns="0" rIns="0" bIns="0" rtlCol="0">
              <a:spAutoFit/>
            </a:bodyPr>
            <a:lstStyle/>
            <a:p>
              <a:pPr algn="ctr"/>
              <a:r>
                <a:rPr lang="en-IN" sz="800" dirty="0">
                  <a:latin typeface="Calibri Light" panose="020F0302020204030204" pitchFamily="34" charset="0"/>
                </a:rPr>
                <a:t>Communication</a:t>
              </a:r>
            </a:p>
          </p:txBody>
        </p:sp>
        <p:sp>
          <p:nvSpPr>
            <p:cNvPr id="56" name="TextBox 55"/>
            <p:cNvSpPr txBox="1">
              <a:spLocks/>
            </p:cNvSpPr>
            <p:nvPr/>
          </p:nvSpPr>
          <p:spPr>
            <a:xfrm>
              <a:off x="10123463" y="6362676"/>
              <a:ext cx="1009744" cy="338656"/>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nchor="ctr" anchorCtr="0">
              <a:noAutofit/>
            </a:bodyPr>
            <a:lstStyle>
              <a:defPPr>
                <a:defRPr lang="en-US"/>
              </a:defPPr>
              <a:lvl1pPr algn="ctr">
                <a:defRPr sz="1200" b="1" spc="300">
                  <a:solidFill>
                    <a:schemeClr val="dk1"/>
                  </a:solidFill>
                  <a:latin typeface="Calibri Light" panose="020F0302020204030204" pitchFamily="34" charset="0"/>
                  <a:cs typeface="Calibri Light" panose="020F0302020204030204"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1100" dirty="0"/>
                <a:t>DPL</a:t>
              </a:r>
              <a:endParaRPr lang="en-IN" sz="1100" dirty="0"/>
            </a:p>
          </p:txBody>
        </p:sp>
        <p:sp>
          <p:nvSpPr>
            <p:cNvPr id="58" name="TextBox 57"/>
            <p:cNvSpPr txBox="1">
              <a:spLocks/>
            </p:cNvSpPr>
            <p:nvPr/>
          </p:nvSpPr>
          <p:spPr>
            <a:xfrm>
              <a:off x="1716852" y="735787"/>
              <a:ext cx="10098510" cy="772841"/>
            </a:xfrm>
            <a:prstGeom prst="rect">
              <a:avLst/>
            </a:prstGeom>
            <a:noFill/>
            <a:ln w="19050">
              <a:solidFill>
                <a:srgbClr val="0076A8"/>
              </a:solidFill>
            </a:ln>
          </p:spPr>
          <p:txBody>
            <a:bodyPr wrap="square" rtlCol="0">
              <a:noAutofit/>
            </a:bodyPr>
            <a:lstStyle/>
            <a:p>
              <a:pPr algn="ctr"/>
              <a:r>
                <a:rPr lang="en-US" sz="1400" b="1" spc="300" dirty="0">
                  <a:latin typeface="Calibri Light" panose="020F0302020204030204" pitchFamily="34" charset="0"/>
                  <a:cs typeface="Calibri Light" panose="020F0302020204030204" pitchFamily="34" charset="0"/>
                </a:rPr>
                <a:t>Enterprise MIS Dashboard</a:t>
              </a:r>
              <a:endParaRPr lang="en-IN" sz="1400" b="1" spc="300" dirty="0">
                <a:latin typeface="Calibri Light" panose="020F0302020204030204" pitchFamily="34" charset="0"/>
                <a:cs typeface="Calibri Light" panose="020F0302020204030204" pitchFamily="34" charset="0"/>
              </a:endParaRPr>
            </a:p>
          </p:txBody>
        </p:sp>
        <p:sp>
          <p:nvSpPr>
            <p:cNvPr id="59" name="TextBox 58"/>
            <p:cNvSpPr txBox="1"/>
            <p:nvPr/>
          </p:nvSpPr>
          <p:spPr>
            <a:xfrm>
              <a:off x="1720638" y="1258067"/>
              <a:ext cx="951347" cy="256661"/>
            </a:xfrm>
            <a:prstGeom prst="rect">
              <a:avLst/>
            </a:prstGeom>
            <a:noFill/>
          </p:spPr>
          <p:txBody>
            <a:bodyPr wrap="square" rtlCol="0">
              <a:spAutoFit/>
            </a:bodyPr>
            <a:lstStyle/>
            <a:p>
              <a:r>
                <a:rPr lang="en-IN" sz="800" dirty="0">
                  <a:latin typeface="Calibri Light" panose="020F0302020204030204" pitchFamily="34" charset="0"/>
                </a:rPr>
                <a:t>Project Indicator</a:t>
              </a:r>
              <a:endParaRPr lang="en-IN" sz="1050" dirty="0">
                <a:latin typeface="Calibri Light" panose="020F0302020204030204" pitchFamily="34" charset="0"/>
              </a:endParaRPr>
            </a:p>
          </p:txBody>
        </p:sp>
        <p:sp>
          <p:nvSpPr>
            <p:cNvPr id="60" name="TextBox 59"/>
            <p:cNvSpPr txBox="1"/>
            <p:nvPr/>
          </p:nvSpPr>
          <p:spPr>
            <a:xfrm>
              <a:off x="2703522" y="1258067"/>
              <a:ext cx="792925" cy="256661"/>
            </a:xfrm>
            <a:prstGeom prst="rect">
              <a:avLst/>
            </a:prstGeom>
            <a:noFill/>
          </p:spPr>
          <p:txBody>
            <a:bodyPr wrap="square" rtlCol="0">
              <a:spAutoFit/>
            </a:bodyPr>
            <a:lstStyle/>
            <a:p>
              <a:r>
                <a:rPr lang="en-IN" sz="800" dirty="0">
                  <a:latin typeface="Calibri Light" panose="020F0302020204030204" pitchFamily="34" charset="0"/>
                </a:rPr>
                <a:t>Project KPI</a:t>
              </a:r>
              <a:endParaRPr lang="en-IN" sz="1050" dirty="0">
                <a:latin typeface="Calibri Light" panose="020F0302020204030204" pitchFamily="34" charset="0"/>
              </a:endParaRPr>
            </a:p>
          </p:txBody>
        </p:sp>
        <p:sp>
          <p:nvSpPr>
            <p:cNvPr id="61" name="TextBox 60"/>
            <p:cNvSpPr txBox="1"/>
            <p:nvPr/>
          </p:nvSpPr>
          <p:spPr>
            <a:xfrm>
              <a:off x="3389441" y="1258067"/>
              <a:ext cx="866339" cy="256661"/>
            </a:xfrm>
            <a:prstGeom prst="rect">
              <a:avLst/>
            </a:prstGeom>
            <a:noFill/>
          </p:spPr>
          <p:txBody>
            <a:bodyPr wrap="square" rtlCol="0">
              <a:spAutoFit/>
            </a:bodyPr>
            <a:lstStyle/>
            <a:p>
              <a:r>
                <a:rPr lang="en-IN" sz="800" dirty="0">
                  <a:latin typeface="Calibri Light" panose="020F0302020204030204" pitchFamily="34" charset="0"/>
                </a:rPr>
                <a:t>Project Health</a:t>
              </a:r>
              <a:endParaRPr lang="en-IN" sz="1050" dirty="0">
                <a:latin typeface="Calibri Light" panose="020F0302020204030204" pitchFamily="34" charset="0"/>
              </a:endParaRPr>
            </a:p>
          </p:txBody>
        </p:sp>
        <p:sp>
          <p:nvSpPr>
            <p:cNvPr id="62" name="TextBox 61"/>
            <p:cNvSpPr txBox="1"/>
            <p:nvPr/>
          </p:nvSpPr>
          <p:spPr>
            <a:xfrm>
              <a:off x="4195178" y="1258067"/>
              <a:ext cx="1193119" cy="256661"/>
            </a:xfrm>
            <a:prstGeom prst="rect">
              <a:avLst/>
            </a:prstGeom>
            <a:noFill/>
          </p:spPr>
          <p:txBody>
            <a:bodyPr wrap="square" rtlCol="0">
              <a:spAutoFit/>
            </a:bodyPr>
            <a:lstStyle/>
            <a:p>
              <a:r>
                <a:rPr lang="en-US" sz="800" dirty="0">
                  <a:latin typeface="Calibri Light" panose="020F0302020204030204" pitchFamily="34" charset="0"/>
                </a:rPr>
                <a:t>Dependency alarms</a:t>
              </a:r>
              <a:endParaRPr lang="en-IN" sz="1050" dirty="0">
                <a:latin typeface="Calibri Light" panose="020F0302020204030204" pitchFamily="34" charset="0"/>
              </a:endParaRPr>
            </a:p>
          </p:txBody>
        </p:sp>
        <p:sp>
          <p:nvSpPr>
            <p:cNvPr id="63" name="TextBox 62"/>
            <p:cNvSpPr txBox="1"/>
            <p:nvPr/>
          </p:nvSpPr>
          <p:spPr>
            <a:xfrm>
              <a:off x="5241574" y="1255619"/>
              <a:ext cx="1193119" cy="256661"/>
            </a:xfrm>
            <a:prstGeom prst="rect">
              <a:avLst/>
            </a:prstGeom>
            <a:noFill/>
          </p:spPr>
          <p:txBody>
            <a:bodyPr wrap="square" rtlCol="0">
              <a:spAutoFit/>
            </a:bodyPr>
            <a:lstStyle/>
            <a:p>
              <a:r>
                <a:rPr lang="en-US" sz="800" dirty="0">
                  <a:latin typeface="Calibri Light" panose="020F0302020204030204" pitchFamily="34" charset="0"/>
                </a:rPr>
                <a:t>Predictive analytics</a:t>
              </a:r>
              <a:endParaRPr lang="en-IN" sz="1050" dirty="0">
                <a:latin typeface="Calibri Light" panose="020F0302020204030204" pitchFamily="34" charset="0"/>
              </a:endParaRPr>
            </a:p>
          </p:txBody>
        </p:sp>
        <p:sp>
          <p:nvSpPr>
            <p:cNvPr id="64" name="TextBox 63"/>
            <p:cNvSpPr txBox="1"/>
            <p:nvPr/>
          </p:nvSpPr>
          <p:spPr>
            <a:xfrm>
              <a:off x="6264206" y="1260461"/>
              <a:ext cx="1193119" cy="256661"/>
            </a:xfrm>
            <a:prstGeom prst="rect">
              <a:avLst/>
            </a:prstGeom>
            <a:noFill/>
          </p:spPr>
          <p:txBody>
            <a:bodyPr wrap="square" rtlCol="0">
              <a:spAutoFit/>
            </a:bodyPr>
            <a:lstStyle/>
            <a:p>
              <a:r>
                <a:rPr lang="en-US" sz="800" dirty="0">
                  <a:latin typeface="Calibri Light" panose="020F0302020204030204" pitchFamily="34" charset="0"/>
                </a:rPr>
                <a:t>Delays and  issues</a:t>
              </a:r>
              <a:endParaRPr lang="en-IN" sz="1050" dirty="0">
                <a:latin typeface="Calibri Light" panose="020F0302020204030204" pitchFamily="34" charset="0"/>
              </a:endParaRPr>
            </a:p>
          </p:txBody>
        </p:sp>
        <p:sp>
          <p:nvSpPr>
            <p:cNvPr id="65" name="TextBox 64"/>
            <p:cNvSpPr txBox="1"/>
            <p:nvPr/>
          </p:nvSpPr>
          <p:spPr>
            <a:xfrm>
              <a:off x="7256002" y="1268163"/>
              <a:ext cx="537955" cy="256661"/>
            </a:xfrm>
            <a:prstGeom prst="rect">
              <a:avLst/>
            </a:prstGeom>
            <a:noFill/>
          </p:spPr>
          <p:txBody>
            <a:bodyPr wrap="square" rtlCol="0">
              <a:spAutoFit/>
            </a:bodyPr>
            <a:lstStyle/>
            <a:p>
              <a:r>
                <a:rPr lang="en-US" sz="800" dirty="0">
                  <a:latin typeface="Calibri Light" panose="020F0302020204030204" pitchFamily="34" charset="0"/>
                </a:rPr>
                <a:t>S Curve</a:t>
              </a:r>
              <a:endParaRPr lang="en-IN" sz="1050" dirty="0">
                <a:latin typeface="Calibri Light" panose="020F0302020204030204" pitchFamily="34" charset="0"/>
              </a:endParaRPr>
            </a:p>
          </p:txBody>
        </p:sp>
        <p:sp>
          <p:nvSpPr>
            <p:cNvPr id="66" name="TextBox 65"/>
            <p:cNvSpPr txBox="1"/>
            <p:nvPr/>
          </p:nvSpPr>
          <p:spPr>
            <a:xfrm>
              <a:off x="7873332" y="1257206"/>
              <a:ext cx="1102438" cy="256661"/>
            </a:xfrm>
            <a:prstGeom prst="rect">
              <a:avLst/>
            </a:prstGeom>
            <a:noFill/>
          </p:spPr>
          <p:txBody>
            <a:bodyPr wrap="square" rtlCol="0">
              <a:spAutoFit/>
            </a:bodyPr>
            <a:lstStyle/>
            <a:p>
              <a:r>
                <a:rPr lang="en-US" sz="800" dirty="0">
                  <a:latin typeface="Calibri Light" panose="020F0302020204030204" pitchFamily="34" charset="0"/>
                </a:rPr>
                <a:t>Escalations Matrix</a:t>
              </a:r>
              <a:endParaRPr lang="en-IN" sz="1050" dirty="0">
                <a:latin typeface="Calibri Light" panose="020F0302020204030204" pitchFamily="34" charset="0"/>
              </a:endParaRPr>
            </a:p>
          </p:txBody>
        </p:sp>
        <p:sp>
          <p:nvSpPr>
            <p:cNvPr id="67" name="TextBox 66"/>
            <p:cNvSpPr txBox="1"/>
            <p:nvPr/>
          </p:nvSpPr>
          <p:spPr>
            <a:xfrm>
              <a:off x="8923322" y="1257210"/>
              <a:ext cx="945246" cy="256661"/>
            </a:xfrm>
            <a:prstGeom prst="rect">
              <a:avLst/>
            </a:prstGeom>
            <a:noFill/>
          </p:spPr>
          <p:txBody>
            <a:bodyPr wrap="square" rtlCol="0">
              <a:spAutoFit/>
            </a:bodyPr>
            <a:lstStyle/>
            <a:p>
              <a:r>
                <a:rPr lang="en-US" sz="800" dirty="0">
                  <a:latin typeface="Calibri Light" panose="020F0302020204030204" pitchFamily="34" charset="0"/>
                </a:rPr>
                <a:t>Cost overrun</a:t>
              </a:r>
              <a:endParaRPr lang="en-IN" sz="1050" dirty="0">
                <a:latin typeface="Calibri Light" panose="020F0302020204030204" pitchFamily="34" charset="0"/>
              </a:endParaRPr>
            </a:p>
          </p:txBody>
        </p:sp>
        <p:cxnSp>
          <p:nvCxnSpPr>
            <p:cNvPr id="68" name="Straight Arrow Connector 67"/>
            <p:cNvCxnSpPr/>
            <p:nvPr/>
          </p:nvCxnSpPr>
          <p:spPr>
            <a:xfrm flipV="1">
              <a:off x="6204689" y="1507450"/>
              <a:ext cx="3423" cy="231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extBox 68"/>
            <p:cNvSpPr txBox="1">
              <a:spLocks/>
            </p:cNvSpPr>
            <p:nvPr/>
          </p:nvSpPr>
          <p:spPr>
            <a:xfrm>
              <a:off x="4206839" y="6362676"/>
              <a:ext cx="1009744" cy="338656"/>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nchor="ctr" anchorCtr="0">
              <a:noAutofit/>
            </a:bodyPr>
            <a:lstStyle>
              <a:defPPr>
                <a:defRPr lang="en-US"/>
              </a:defPPr>
              <a:lvl1pPr algn="ctr">
                <a:defRPr sz="1200" b="1" spc="300">
                  <a:solidFill>
                    <a:schemeClr val="dk1"/>
                  </a:solidFill>
                  <a:latin typeface="Calibri Light" panose="020F0302020204030204" pitchFamily="34" charset="0"/>
                  <a:cs typeface="Calibri Light" panose="020F0302020204030204"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1000" dirty="0"/>
                <a:t>WBPDCL</a:t>
              </a:r>
              <a:endParaRPr lang="en-IN" sz="1000" dirty="0"/>
            </a:p>
          </p:txBody>
        </p:sp>
        <p:sp>
          <p:nvSpPr>
            <p:cNvPr id="70" name="TextBox 69"/>
            <p:cNvSpPr txBox="1">
              <a:spLocks/>
            </p:cNvSpPr>
            <p:nvPr/>
          </p:nvSpPr>
          <p:spPr>
            <a:xfrm>
              <a:off x="6040880" y="6379763"/>
              <a:ext cx="1175547" cy="338656"/>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nchor="ctr" anchorCtr="0">
              <a:noAutofit/>
            </a:bodyPr>
            <a:lstStyle>
              <a:defPPr>
                <a:defRPr lang="en-US"/>
              </a:defPPr>
              <a:lvl1pPr algn="ctr">
                <a:defRPr sz="1200" b="1" spc="300">
                  <a:solidFill>
                    <a:schemeClr val="dk1"/>
                  </a:solidFill>
                  <a:latin typeface="Calibri Light" panose="020F0302020204030204" pitchFamily="34" charset="0"/>
                  <a:cs typeface="Calibri Light" panose="020F0302020204030204"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1100" dirty="0"/>
                <a:t>WBSETCL</a:t>
              </a:r>
              <a:endParaRPr lang="en-IN" sz="1100" dirty="0"/>
            </a:p>
          </p:txBody>
        </p:sp>
        <p:sp>
          <p:nvSpPr>
            <p:cNvPr id="71" name="TextBox 70"/>
            <p:cNvSpPr txBox="1"/>
            <p:nvPr/>
          </p:nvSpPr>
          <p:spPr>
            <a:xfrm>
              <a:off x="4267194" y="6179346"/>
              <a:ext cx="949390" cy="128330"/>
            </a:xfrm>
            <a:prstGeom prst="rect">
              <a:avLst/>
            </a:prstGeom>
            <a:solidFill>
              <a:schemeClr val="bg1"/>
            </a:solidFill>
          </p:spPr>
          <p:txBody>
            <a:bodyPr wrap="square" lIns="0" tIns="0" rIns="0" bIns="0" rtlCol="0">
              <a:spAutoFit/>
            </a:bodyPr>
            <a:lstStyle/>
            <a:p>
              <a:r>
                <a:rPr lang="en-US" sz="700" dirty="0">
                  <a:latin typeface="Calibri Light" panose="020F0302020204030204" pitchFamily="34" charset="0"/>
                </a:rPr>
                <a:t>Stakeholder-1</a:t>
              </a:r>
              <a:endParaRPr lang="en-IN" sz="700" dirty="0">
                <a:latin typeface="Calibri Light" panose="020F0302020204030204" pitchFamily="34" charset="0"/>
              </a:endParaRPr>
            </a:p>
          </p:txBody>
        </p:sp>
        <p:sp>
          <p:nvSpPr>
            <p:cNvPr id="73" name="TextBox 72"/>
            <p:cNvSpPr txBox="1">
              <a:spLocks/>
            </p:cNvSpPr>
            <p:nvPr/>
          </p:nvSpPr>
          <p:spPr>
            <a:xfrm>
              <a:off x="332064" y="6346918"/>
              <a:ext cx="1363530" cy="338656"/>
            </a:xfrm>
            <a:prstGeom prst="rect">
              <a:avLst/>
            </a:prstGeom>
            <a:ln/>
          </p:spPr>
          <p:style>
            <a:lnRef idx="1">
              <a:schemeClr val="accent2"/>
            </a:lnRef>
            <a:fillRef idx="3">
              <a:schemeClr val="accent2"/>
            </a:fillRef>
            <a:effectRef idx="2">
              <a:schemeClr val="accent2"/>
            </a:effectRef>
            <a:fontRef idx="minor">
              <a:schemeClr val="lt1"/>
            </a:fontRef>
          </p:style>
          <p:txBody>
            <a:bodyPr wrap="square" rtlCol="0" anchor="ctr" anchorCtr="0">
              <a:noAutofit/>
            </a:bodyPr>
            <a:lstStyle/>
            <a:p>
              <a:pPr algn="ctr"/>
              <a:r>
                <a:rPr lang="en-US" sz="1100" b="1" spc="300" dirty="0">
                  <a:solidFill>
                    <a:schemeClr val="bg1"/>
                  </a:solidFill>
                  <a:latin typeface="Calibri Light" panose="020F0302020204030204" pitchFamily="34" charset="0"/>
                  <a:cs typeface="Calibri Light" panose="020F0302020204030204" pitchFamily="34" charset="0"/>
                </a:rPr>
                <a:t>Stakeholder</a:t>
              </a:r>
              <a:endParaRPr lang="en-IN" sz="1100" b="1" spc="300" dirty="0">
                <a:solidFill>
                  <a:schemeClr val="bg1"/>
                </a:solidFill>
                <a:latin typeface="Calibri Light" panose="020F0302020204030204" pitchFamily="34" charset="0"/>
                <a:cs typeface="Calibri Light" panose="020F0302020204030204" pitchFamily="34" charset="0"/>
              </a:endParaRPr>
            </a:p>
          </p:txBody>
        </p:sp>
        <p:sp>
          <p:nvSpPr>
            <p:cNvPr id="74" name="TextBox 73"/>
            <p:cNvSpPr txBox="1">
              <a:spLocks/>
            </p:cNvSpPr>
            <p:nvPr/>
          </p:nvSpPr>
          <p:spPr>
            <a:xfrm>
              <a:off x="238275" y="880897"/>
              <a:ext cx="1363530" cy="338656"/>
            </a:xfrm>
            <a:prstGeom prst="rect">
              <a:avLst/>
            </a:prstGeom>
            <a:solidFill>
              <a:srgbClr val="012169"/>
            </a:solidFill>
            <a:ln/>
          </p:spPr>
          <p:style>
            <a:lnRef idx="1">
              <a:schemeClr val="accent6"/>
            </a:lnRef>
            <a:fillRef idx="2">
              <a:schemeClr val="accent6"/>
            </a:fillRef>
            <a:effectRef idx="1">
              <a:schemeClr val="accent6"/>
            </a:effectRef>
            <a:fontRef idx="minor">
              <a:schemeClr val="dk1"/>
            </a:fontRef>
          </p:style>
          <p:txBody>
            <a:bodyPr wrap="square" rtlCol="0" anchor="ctr" anchorCtr="0">
              <a:noAutofit/>
            </a:bodyPr>
            <a:lstStyle/>
            <a:p>
              <a:pPr algn="ctr"/>
              <a:r>
                <a:rPr lang="en-US" sz="1100" b="1" spc="300" dirty="0">
                  <a:solidFill>
                    <a:schemeClr val="bg1"/>
                  </a:solidFill>
                  <a:latin typeface="Calibri Light" panose="020F0302020204030204" pitchFamily="34" charset="0"/>
                  <a:cs typeface="Calibri Light" panose="020F0302020204030204" pitchFamily="34" charset="0"/>
                </a:rPr>
                <a:t>Internal</a:t>
              </a:r>
              <a:endParaRPr lang="en-IN" sz="1100" b="1" spc="300" dirty="0">
                <a:solidFill>
                  <a:schemeClr val="bg1"/>
                </a:solidFill>
                <a:latin typeface="Calibri Light" panose="020F0302020204030204" pitchFamily="34" charset="0"/>
                <a:cs typeface="Calibri Light" panose="020F0302020204030204" pitchFamily="34" charset="0"/>
              </a:endParaRPr>
            </a:p>
          </p:txBody>
        </p:sp>
        <p:sp>
          <p:nvSpPr>
            <p:cNvPr id="75" name="TextBox 74"/>
            <p:cNvSpPr txBox="1"/>
            <p:nvPr/>
          </p:nvSpPr>
          <p:spPr>
            <a:xfrm>
              <a:off x="5866330" y="4048147"/>
              <a:ext cx="1056621" cy="439989"/>
            </a:xfrm>
            <a:prstGeom prst="rect">
              <a:avLst/>
            </a:prstGeom>
            <a:solidFill>
              <a:schemeClr val="bg1"/>
            </a:solidFill>
          </p:spPr>
          <p:txBody>
            <a:bodyPr wrap="square" lIns="0" tIns="0" rIns="0" bIns="0" rtlCol="0">
              <a:spAutoFit/>
            </a:bodyPr>
            <a:lstStyle/>
            <a:p>
              <a:r>
                <a:rPr lang="en-IN" sz="800" dirty="0">
                  <a:latin typeface="Calibri Light" panose="020F0302020204030204" pitchFamily="34" charset="0"/>
                </a:rPr>
                <a:t>- BOQ with estimates</a:t>
              </a:r>
            </a:p>
            <a:p>
              <a:r>
                <a:rPr lang="en-US" sz="800" dirty="0">
                  <a:latin typeface="Calibri Light" panose="020F0302020204030204" pitchFamily="34" charset="0"/>
                </a:rPr>
                <a:t>- Billing / Cost</a:t>
              </a:r>
            </a:p>
            <a:p>
              <a:r>
                <a:rPr lang="en-US" sz="800" dirty="0">
                  <a:latin typeface="Calibri Light" panose="020F0302020204030204" pitchFamily="34" charset="0"/>
                </a:rPr>
                <a:t>- Project Profitability</a:t>
              </a:r>
              <a:endParaRPr lang="en-IN" sz="800" dirty="0">
                <a:latin typeface="Calibri Light" panose="020F0302020204030204" pitchFamily="34" charset="0"/>
              </a:endParaRPr>
            </a:p>
          </p:txBody>
        </p:sp>
        <p:sp>
          <p:nvSpPr>
            <p:cNvPr id="76" name="TextBox 75"/>
            <p:cNvSpPr txBox="1"/>
            <p:nvPr/>
          </p:nvSpPr>
          <p:spPr>
            <a:xfrm>
              <a:off x="8442949" y="3327429"/>
              <a:ext cx="877412" cy="293326"/>
            </a:xfrm>
            <a:prstGeom prst="rect">
              <a:avLst/>
            </a:prstGeom>
            <a:solidFill>
              <a:schemeClr val="bg1"/>
            </a:solidFill>
          </p:spPr>
          <p:txBody>
            <a:bodyPr wrap="square" lIns="0" tIns="0" rIns="0" bIns="0" rtlCol="0">
              <a:spAutoFit/>
            </a:bodyPr>
            <a:lstStyle/>
            <a:p>
              <a:r>
                <a:rPr lang="en-IN" sz="800" dirty="0">
                  <a:latin typeface="Calibri Light" panose="020F0302020204030204" pitchFamily="34" charset="0"/>
                </a:rPr>
                <a:t>Contracts, POs, Invoice, GRN etc.</a:t>
              </a:r>
            </a:p>
          </p:txBody>
        </p:sp>
        <p:cxnSp>
          <p:nvCxnSpPr>
            <p:cNvPr id="77" name="Elbow Connector 76"/>
            <p:cNvCxnSpPr>
              <a:stCxn id="37" idx="2"/>
              <a:endCxn id="38" idx="0"/>
            </p:cNvCxnSpPr>
            <p:nvPr/>
          </p:nvCxnSpPr>
          <p:spPr>
            <a:xfrm rot="16200000" flipH="1">
              <a:off x="5019449" y="4388159"/>
              <a:ext cx="361654" cy="71502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TextBox 77"/>
            <p:cNvSpPr txBox="1"/>
            <p:nvPr/>
          </p:nvSpPr>
          <p:spPr>
            <a:xfrm>
              <a:off x="3773924" y="4772595"/>
              <a:ext cx="1176017" cy="733315"/>
            </a:xfrm>
            <a:prstGeom prst="rect">
              <a:avLst/>
            </a:prstGeom>
            <a:solidFill>
              <a:schemeClr val="bg1"/>
            </a:solidFill>
          </p:spPr>
          <p:txBody>
            <a:bodyPr wrap="square" lIns="0" tIns="0" rIns="0" bIns="0" rtlCol="0">
              <a:spAutoFit/>
            </a:bodyPr>
            <a:lstStyle/>
            <a:p>
              <a:r>
                <a:rPr lang="en-IN" sz="800" dirty="0">
                  <a:latin typeface="Calibri Light" panose="020F0302020204030204" pitchFamily="34" charset="0"/>
                </a:rPr>
                <a:t>Management system of:</a:t>
              </a:r>
            </a:p>
            <a:p>
              <a:r>
                <a:rPr lang="en-IN" sz="800" dirty="0">
                  <a:latin typeface="Calibri Light" panose="020F0302020204030204" pitchFamily="34" charset="0"/>
                </a:rPr>
                <a:t>-- Man-hours Planning </a:t>
              </a:r>
            </a:p>
            <a:p>
              <a:r>
                <a:rPr lang="en-IN" sz="800" dirty="0">
                  <a:latin typeface="Calibri Light" panose="020F0302020204030204" pitchFamily="34" charset="0"/>
                </a:rPr>
                <a:t>-- </a:t>
              </a:r>
              <a:r>
                <a:rPr lang="en-US" sz="800" dirty="0">
                  <a:latin typeface="Calibri Light" panose="020F0302020204030204" pitchFamily="34" charset="0"/>
                </a:rPr>
                <a:t>Cost planning</a:t>
              </a:r>
            </a:p>
            <a:p>
              <a:r>
                <a:rPr lang="en-US" sz="800" dirty="0">
                  <a:latin typeface="Calibri Light" panose="020F0302020204030204" pitchFamily="34" charset="0"/>
                </a:rPr>
                <a:t>-- Workflow</a:t>
              </a:r>
              <a:endParaRPr lang="en-IN" sz="800" dirty="0">
                <a:latin typeface="Calibri Light" panose="020F0302020204030204" pitchFamily="34" charset="0"/>
              </a:endParaRPr>
            </a:p>
            <a:p>
              <a:r>
                <a:rPr lang="en-US" sz="800" dirty="0">
                  <a:latin typeface="Calibri Light" panose="020F0302020204030204" pitchFamily="34" charset="0"/>
                </a:rPr>
                <a:t>-- Authorization</a:t>
              </a:r>
            </a:p>
          </p:txBody>
        </p:sp>
        <p:sp>
          <p:nvSpPr>
            <p:cNvPr id="79" name="Freeform 430"/>
            <p:cNvSpPr>
              <a:spLocks noChangeAspect="1" noEditPoints="1"/>
            </p:cNvSpPr>
            <p:nvPr/>
          </p:nvSpPr>
          <p:spPr bwMode="auto">
            <a:xfrm>
              <a:off x="2072242" y="1012765"/>
              <a:ext cx="251855" cy="251855"/>
            </a:xfrm>
            <a:custGeom>
              <a:avLst/>
              <a:gdLst>
                <a:gd name="T0" fmla="*/ 235 w 512"/>
                <a:gd name="T1" fmla="*/ 139 h 512"/>
                <a:gd name="T2" fmla="*/ 256 w 512"/>
                <a:gd name="T3" fmla="*/ 118 h 512"/>
                <a:gd name="T4" fmla="*/ 277 w 512"/>
                <a:gd name="T5" fmla="*/ 139 h 512"/>
                <a:gd name="T6" fmla="*/ 256 w 512"/>
                <a:gd name="T7" fmla="*/ 160 h 512"/>
                <a:gd name="T8" fmla="*/ 235 w 512"/>
                <a:gd name="T9" fmla="*/ 139 h 512"/>
                <a:gd name="T10" fmla="*/ 267 w 512"/>
                <a:gd name="T11" fmla="*/ 363 h 512"/>
                <a:gd name="T12" fmla="*/ 267 w 512"/>
                <a:gd name="T13" fmla="*/ 224 h 512"/>
                <a:gd name="T14" fmla="*/ 213 w 512"/>
                <a:gd name="T15" fmla="*/ 224 h 512"/>
                <a:gd name="T16" fmla="*/ 213 w 512"/>
                <a:gd name="T17" fmla="*/ 246 h 512"/>
                <a:gd name="T18" fmla="*/ 235 w 512"/>
                <a:gd name="T19" fmla="*/ 246 h 512"/>
                <a:gd name="T20" fmla="*/ 245 w 512"/>
                <a:gd name="T21" fmla="*/ 256 h 512"/>
                <a:gd name="T22" fmla="*/ 245 w 512"/>
                <a:gd name="T23" fmla="*/ 363 h 512"/>
                <a:gd name="T24" fmla="*/ 235 w 512"/>
                <a:gd name="T25" fmla="*/ 374 h 512"/>
                <a:gd name="T26" fmla="*/ 203 w 512"/>
                <a:gd name="T27" fmla="*/ 374 h 512"/>
                <a:gd name="T28" fmla="*/ 203 w 512"/>
                <a:gd name="T29" fmla="*/ 395 h 512"/>
                <a:gd name="T30" fmla="*/ 309 w 512"/>
                <a:gd name="T31" fmla="*/ 395 h 512"/>
                <a:gd name="T32" fmla="*/ 309 w 512"/>
                <a:gd name="T33" fmla="*/ 374 h 512"/>
                <a:gd name="T34" fmla="*/ 277 w 512"/>
                <a:gd name="T35" fmla="*/ 374 h 512"/>
                <a:gd name="T36" fmla="*/ 267 w 512"/>
                <a:gd name="T37" fmla="*/ 36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213 w 512"/>
                <a:gd name="T49" fmla="*/ 139 h 512"/>
                <a:gd name="T50" fmla="*/ 256 w 512"/>
                <a:gd name="T51" fmla="*/ 182 h 512"/>
                <a:gd name="T52" fmla="*/ 299 w 512"/>
                <a:gd name="T53" fmla="*/ 139 h 512"/>
                <a:gd name="T54" fmla="*/ 256 w 512"/>
                <a:gd name="T55" fmla="*/ 96 h 512"/>
                <a:gd name="T56" fmla="*/ 213 w 512"/>
                <a:gd name="T57" fmla="*/ 139 h 512"/>
                <a:gd name="T58" fmla="*/ 331 w 512"/>
                <a:gd name="T59" fmla="*/ 363 h 512"/>
                <a:gd name="T60" fmla="*/ 320 w 512"/>
                <a:gd name="T61" fmla="*/ 352 h 512"/>
                <a:gd name="T62" fmla="*/ 288 w 512"/>
                <a:gd name="T63" fmla="*/ 352 h 512"/>
                <a:gd name="T64" fmla="*/ 288 w 512"/>
                <a:gd name="T65" fmla="*/ 214 h 512"/>
                <a:gd name="T66" fmla="*/ 277 w 512"/>
                <a:gd name="T67" fmla="*/ 203 h 512"/>
                <a:gd name="T68" fmla="*/ 203 w 512"/>
                <a:gd name="T69" fmla="*/ 203 h 512"/>
                <a:gd name="T70" fmla="*/ 192 w 512"/>
                <a:gd name="T71" fmla="*/ 214 h 512"/>
                <a:gd name="T72" fmla="*/ 192 w 512"/>
                <a:gd name="T73" fmla="*/ 256 h 512"/>
                <a:gd name="T74" fmla="*/ 203 w 512"/>
                <a:gd name="T75" fmla="*/ 267 h 512"/>
                <a:gd name="T76" fmla="*/ 224 w 512"/>
                <a:gd name="T77" fmla="*/ 267 h 512"/>
                <a:gd name="T78" fmla="*/ 224 w 512"/>
                <a:gd name="T79" fmla="*/ 352 h 512"/>
                <a:gd name="T80" fmla="*/ 192 w 512"/>
                <a:gd name="T81" fmla="*/ 352 h 512"/>
                <a:gd name="T82" fmla="*/ 181 w 512"/>
                <a:gd name="T83" fmla="*/ 363 h 512"/>
                <a:gd name="T84" fmla="*/ 181 w 512"/>
                <a:gd name="T85" fmla="*/ 406 h 512"/>
                <a:gd name="T86" fmla="*/ 192 w 512"/>
                <a:gd name="T87" fmla="*/ 416 h 512"/>
                <a:gd name="T88" fmla="*/ 320 w 512"/>
                <a:gd name="T89" fmla="*/ 416 h 512"/>
                <a:gd name="T90" fmla="*/ 331 w 512"/>
                <a:gd name="T91" fmla="*/ 406 h 512"/>
                <a:gd name="T92" fmla="*/ 331 w 512"/>
                <a:gd name="T93" fmla="*/ 36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12" h="512">
                  <a:moveTo>
                    <a:pt x="235" y="139"/>
                  </a:moveTo>
                  <a:cubicBezTo>
                    <a:pt x="235" y="127"/>
                    <a:pt x="244" y="118"/>
                    <a:pt x="256" y="118"/>
                  </a:cubicBezTo>
                  <a:cubicBezTo>
                    <a:pt x="268" y="118"/>
                    <a:pt x="277" y="127"/>
                    <a:pt x="277" y="139"/>
                  </a:cubicBezTo>
                  <a:cubicBezTo>
                    <a:pt x="277" y="151"/>
                    <a:pt x="268" y="160"/>
                    <a:pt x="256" y="160"/>
                  </a:cubicBezTo>
                  <a:cubicBezTo>
                    <a:pt x="244" y="160"/>
                    <a:pt x="235" y="151"/>
                    <a:pt x="235" y="139"/>
                  </a:cubicBezTo>
                  <a:close/>
                  <a:moveTo>
                    <a:pt x="267" y="363"/>
                  </a:moveTo>
                  <a:cubicBezTo>
                    <a:pt x="267" y="224"/>
                    <a:pt x="267" y="224"/>
                    <a:pt x="267" y="224"/>
                  </a:cubicBezTo>
                  <a:cubicBezTo>
                    <a:pt x="213" y="224"/>
                    <a:pt x="213" y="224"/>
                    <a:pt x="213" y="224"/>
                  </a:cubicBezTo>
                  <a:cubicBezTo>
                    <a:pt x="213" y="246"/>
                    <a:pt x="213" y="246"/>
                    <a:pt x="213" y="246"/>
                  </a:cubicBezTo>
                  <a:cubicBezTo>
                    <a:pt x="235" y="246"/>
                    <a:pt x="235" y="246"/>
                    <a:pt x="235" y="246"/>
                  </a:cubicBezTo>
                  <a:cubicBezTo>
                    <a:pt x="241" y="246"/>
                    <a:pt x="245" y="250"/>
                    <a:pt x="245" y="256"/>
                  </a:cubicBezTo>
                  <a:cubicBezTo>
                    <a:pt x="245" y="363"/>
                    <a:pt x="245" y="363"/>
                    <a:pt x="245" y="363"/>
                  </a:cubicBezTo>
                  <a:cubicBezTo>
                    <a:pt x="245" y="369"/>
                    <a:pt x="241" y="374"/>
                    <a:pt x="235" y="374"/>
                  </a:cubicBezTo>
                  <a:cubicBezTo>
                    <a:pt x="203" y="374"/>
                    <a:pt x="203" y="374"/>
                    <a:pt x="203" y="374"/>
                  </a:cubicBezTo>
                  <a:cubicBezTo>
                    <a:pt x="203" y="395"/>
                    <a:pt x="203" y="395"/>
                    <a:pt x="203" y="395"/>
                  </a:cubicBezTo>
                  <a:cubicBezTo>
                    <a:pt x="309" y="395"/>
                    <a:pt x="309" y="395"/>
                    <a:pt x="309" y="395"/>
                  </a:cubicBezTo>
                  <a:cubicBezTo>
                    <a:pt x="309" y="374"/>
                    <a:pt x="309" y="374"/>
                    <a:pt x="309" y="374"/>
                  </a:cubicBezTo>
                  <a:cubicBezTo>
                    <a:pt x="277" y="374"/>
                    <a:pt x="277" y="374"/>
                    <a:pt x="277" y="374"/>
                  </a:cubicBezTo>
                  <a:cubicBezTo>
                    <a:pt x="271" y="374"/>
                    <a:pt x="267" y="369"/>
                    <a:pt x="267" y="363"/>
                  </a:cubicBezTo>
                  <a:close/>
                  <a:moveTo>
                    <a:pt x="512" y="256"/>
                  </a:moveTo>
                  <a:cubicBezTo>
                    <a:pt x="512" y="398"/>
                    <a:pt x="397" y="512"/>
                    <a:pt x="256" y="512"/>
                  </a:cubicBezTo>
                  <a:cubicBezTo>
                    <a:pt x="115" y="512"/>
                    <a:pt x="0" y="398"/>
                    <a:pt x="0" y="256"/>
                  </a:cubicBezTo>
                  <a:cubicBezTo>
                    <a:pt x="0" y="115"/>
                    <a:pt x="115" y="0"/>
                    <a:pt x="256" y="0"/>
                  </a:cubicBezTo>
                  <a:cubicBezTo>
                    <a:pt x="397" y="0"/>
                    <a:pt x="512" y="115"/>
                    <a:pt x="512" y="256"/>
                  </a:cubicBezTo>
                  <a:close/>
                  <a:moveTo>
                    <a:pt x="213" y="139"/>
                  </a:moveTo>
                  <a:cubicBezTo>
                    <a:pt x="213" y="163"/>
                    <a:pt x="232" y="182"/>
                    <a:pt x="256" y="182"/>
                  </a:cubicBezTo>
                  <a:cubicBezTo>
                    <a:pt x="280" y="182"/>
                    <a:pt x="299" y="163"/>
                    <a:pt x="299" y="139"/>
                  </a:cubicBezTo>
                  <a:cubicBezTo>
                    <a:pt x="299" y="115"/>
                    <a:pt x="280" y="96"/>
                    <a:pt x="256" y="96"/>
                  </a:cubicBezTo>
                  <a:cubicBezTo>
                    <a:pt x="232" y="96"/>
                    <a:pt x="213" y="115"/>
                    <a:pt x="213" y="139"/>
                  </a:cubicBezTo>
                  <a:close/>
                  <a:moveTo>
                    <a:pt x="331" y="363"/>
                  </a:moveTo>
                  <a:cubicBezTo>
                    <a:pt x="331" y="357"/>
                    <a:pt x="326" y="352"/>
                    <a:pt x="320" y="352"/>
                  </a:cubicBezTo>
                  <a:cubicBezTo>
                    <a:pt x="288" y="352"/>
                    <a:pt x="288" y="352"/>
                    <a:pt x="288" y="352"/>
                  </a:cubicBezTo>
                  <a:cubicBezTo>
                    <a:pt x="288" y="214"/>
                    <a:pt x="288" y="214"/>
                    <a:pt x="288" y="214"/>
                  </a:cubicBezTo>
                  <a:cubicBezTo>
                    <a:pt x="288" y="208"/>
                    <a:pt x="283" y="203"/>
                    <a:pt x="277" y="203"/>
                  </a:cubicBezTo>
                  <a:cubicBezTo>
                    <a:pt x="203" y="203"/>
                    <a:pt x="203" y="203"/>
                    <a:pt x="203" y="203"/>
                  </a:cubicBezTo>
                  <a:cubicBezTo>
                    <a:pt x="197" y="203"/>
                    <a:pt x="192" y="208"/>
                    <a:pt x="192" y="214"/>
                  </a:cubicBezTo>
                  <a:cubicBezTo>
                    <a:pt x="192" y="256"/>
                    <a:pt x="192" y="256"/>
                    <a:pt x="192" y="256"/>
                  </a:cubicBezTo>
                  <a:cubicBezTo>
                    <a:pt x="192" y="262"/>
                    <a:pt x="197" y="267"/>
                    <a:pt x="203" y="267"/>
                  </a:cubicBezTo>
                  <a:cubicBezTo>
                    <a:pt x="224" y="267"/>
                    <a:pt x="224" y="267"/>
                    <a:pt x="224" y="267"/>
                  </a:cubicBezTo>
                  <a:cubicBezTo>
                    <a:pt x="224" y="352"/>
                    <a:pt x="224" y="352"/>
                    <a:pt x="224" y="352"/>
                  </a:cubicBezTo>
                  <a:cubicBezTo>
                    <a:pt x="192" y="352"/>
                    <a:pt x="192" y="352"/>
                    <a:pt x="192" y="352"/>
                  </a:cubicBezTo>
                  <a:cubicBezTo>
                    <a:pt x="186" y="352"/>
                    <a:pt x="181" y="357"/>
                    <a:pt x="181" y="363"/>
                  </a:cubicBezTo>
                  <a:cubicBezTo>
                    <a:pt x="181" y="406"/>
                    <a:pt x="181" y="406"/>
                    <a:pt x="181" y="406"/>
                  </a:cubicBezTo>
                  <a:cubicBezTo>
                    <a:pt x="181" y="412"/>
                    <a:pt x="186" y="416"/>
                    <a:pt x="192" y="416"/>
                  </a:cubicBezTo>
                  <a:cubicBezTo>
                    <a:pt x="320" y="416"/>
                    <a:pt x="320" y="416"/>
                    <a:pt x="320" y="416"/>
                  </a:cubicBezTo>
                  <a:cubicBezTo>
                    <a:pt x="326" y="416"/>
                    <a:pt x="331" y="412"/>
                    <a:pt x="331" y="406"/>
                  </a:cubicBezTo>
                  <a:lnTo>
                    <a:pt x="331" y="363"/>
                  </a:lnTo>
                  <a:close/>
                </a:path>
              </a:pathLst>
            </a:cu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GB" sz="1600"/>
            </a:p>
          </p:txBody>
        </p:sp>
        <p:sp>
          <p:nvSpPr>
            <p:cNvPr id="80" name="Freeform 360"/>
            <p:cNvSpPr>
              <a:spLocks noChangeAspect="1" noEditPoints="1"/>
            </p:cNvSpPr>
            <p:nvPr/>
          </p:nvSpPr>
          <p:spPr bwMode="auto">
            <a:xfrm>
              <a:off x="5696351" y="1032024"/>
              <a:ext cx="231212" cy="231212"/>
            </a:xfrm>
            <a:custGeom>
              <a:avLst/>
              <a:gdLst>
                <a:gd name="T0" fmla="*/ 281 w 512"/>
                <a:gd name="T1" fmla="*/ 266 h 512"/>
                <a:gd name="T2" fmla="*/ 394 w 512"/>
                <a:gd name="T3" fmla="*/ 266 h 512"/>
                <a:gd name="T4" fmla="*/ 361 w 512"/>
                <a:gd name="T5" fmla="*/ 346 h 512"/>
                <a:gd name="T6" fmla="*/ 281 w 512"/>
                <a:gd name="T7" fmla="*/ 266 h 512"/>
                <a:gd name="T8" fmla="*/ 245 w 512"/>
                <a:gd name="T9" fmla="*/ 256 h 512"/>
                <a:gd name="T10" fmla="*/ 245 w 512"/>
                <a:gd name="T11" fmla="*/ 118 h 512"/>
                <a:gd name="T12" fmla="*/ 117 w 512"/>
                <a:gd name="T13" fmla="*/ 256 h 512"/>
                <a:gd name="T14" fmla="*/ 256 w 512"/>
                <a:gd name="T15" fmla="*/ 394 h 512"/>
                <a:gd name="T16" fmla="*/ 346 w 512"/>
                <a:gd name="T17" fmla="*/ 361 h 512"/>
                <a:gd name="T18" fmla="*/ 248 w 512"/>
                <a:gd name="T19" fmla="*/ 263 h 512"/>
                <a:gd name="T20" fmla="*/ 245 w 512"/>
                <a:gd name="T21" fmla="*/ 256 h 512"/>
                <a:gd name="T22" fmla="*/ 266 w 512"/>
                <a:gd name="T23" fmla="*/ 118 h 512"/>
                <a:gd name="T24" fmla="*/ 266 w 512"/>
                <a:gd name="T25" fmla="*/ 245 h 512"/>
                <a:gd name="T26" fmla="*/ 394 w 512"/>
                <a:gd name="T27" fmla="*/ 245 h 512"/>
                <a:gd name="T28" fmla="*/ 266 w 512"/>
                <a:gd name="T29" fmla="*/ 118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416 w 512"/>
                <a:gd name="T41" fmla="*/ 256 h 512"/>
                <a:gd name="T42" fmla="*/ 256 w 512"/>
                <a:gd name="T43" fmla="*/ 96 h 512"/>
                <a:gd name="T44" fmla="*/ 96 w 512"/>
                <a:gd name="T45" fmla="*/ 256 h 512"/>
                <a:gd name="T46" fmla="*/ 256 w 512"/>
                <a:gd name="T47" fmla="*/ 416 h 512"/>
                <a:gd name="T48" fmla="*/ 416 w 512"/>
                <a:gd name="T49" fmla="*/ 25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12" h="512">
                  <a:moveTo>
                    <a:pt x="281" y="266"/>
                  </a:moveTo>
                  <a:cubicBezTo>
                    <a:pt x="394" y="266"/>
                    <a:pt x="394" y="266"/>
                    <a:pt x="394" y="266"/>
                  </a:cubicBezTo>
                  <a:cubicBezTo>
                    <a:pt x="391" y="297"/>
                    <a:pt x="379" y="324"/>
                    <a:pt x="361" y="346"/>
                  </a:cubicBezTo>
                  <a:lnTo>
                    <a:pt x="281" y="266"/>
                  </a:lnTo>
                  <a:close/>
                  <a:moveTo>
                    <a:pt x="245" y="256"/>
                  </a:moveTo>
                  <a:cubicBezTo>
                    <a:pt x="245" y="118"/>
                    <a:pt x="245" y="118"/>
                    <a:pt x="245" y="118"/>
                  </a:cubicBezTo>
                  <a:cubicBezTo>
                    <a:pt x="174" y="123"/>
                    <a:pt x="117" y="183"/>
                    <a:pt x="117" y="256"/>
                  </a:cubicBezTo>
                  <a:cubicBezTo>
                    <a:pt x="117" y="332"/>
                    <a:pt x="179" y="394"/>
                    <a:pt x="256" y="394"/>
                  </a:cubicBezTo>
                  <a:cubicBezTo>
                    <a:pt x="290" y="394"/>
                    <a:pt x="322" y="382"/>
                    <a:pt x="346" y="361"/>
                  </a:cubicBezTo>
                  <a:cubicBezTo>
                    <a:pt x="248" y="263"/>
                    <a:pt x="248" y="263"/>
                    <a:pt x="248" y="263"/>
                  </a:cubicBezTo>
                  <a:cubicBezTo>
                    <a:pt x="246" y="261"/>
                    <a:pt x="245" y="259"/>
                    <a:pt x="245" y="256"/>
                  </a:cubicBezTo>
                  <a:close/>
                  <a:moveTo>
                    <a:pt x="266" y="118"/>
                  </a:moveTo>
                  <a:cubicBezTo>
                    <a:pt x="266" y="245"/>
                    <a:pt x="266" y="245"/>
                    <a:pt x="266" y="245"/>
                  </a:cubicBezTo>
                  <a:cubicBezTo>
                    <a:pt x="394" y="245"/>
                    <a:pt x="394" y="245"/>
                    <a:pt x="394" y="245"/>
                  </a:cubicBezTo>
                  <a:cubicBezTo>
                    <a:pt x="389" y="177"/>
                    <a:pt x="334" y="123"/>
                    <a:pt x="266" y="118"/>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256"/>
                  </a:moveTo>
                  <a:cubicBezTo>
                    <a:pt x="416" y="167"/>
                    <a:pt x="344" y="96"/>
                    <a:pt x="256" y="96"/>
                  </a:cubicBezTo>
                  <a:cubicBezTo>
                    <a:pt x="167" y="96"/>
                    <a:pt x="96" y="167"/>
                    <a:pt x="96" y="256"/>
                  </a:cubicBezTo>
                  <a:cubicBezTo>
                    <a:pt x="96" y="344"/>
                    <a:pt x="167" y="416"/>
                    <a:pt x="256" y="416"/>
                  </a:cubicBezTo>
                  <a:cubicBezTo>
                    <a:pt x="344" y="416"/>
                    <a:pt x="416" y="344"/>
                    <a:pt x="416" y="256"/>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GB" sz="1600"/>
            </a:p>
          </p:txBody>
        </p:sp>
        <p:sp>
          <p:nvSpPr>
            <p:cNvPr id="81" name="Freeform 141"/>
            <p:cNvSpPr>
              <a:spLocks noChangeAspect="1" noEditPoints="1"/>
            </p:cNvSpPr>
            <p:nvPr/>
          </p:nvSpPr>
          <p:spPr bwMode="auto">
            <a:xfrm>
              <a:off x="9146243" y="1020939"/>
              <a:ext cx="241352" cy="241352"/>
            </a:xfrm>
            <a:custGeom>
              <a:avLst/>
              <a:gdLst>
                <a:gd name="T0" fmla="*/ 341 w 512"/>
                <a:gd name="T1" fmla="*/ 330 h 512"/>
                <a:gd name="T2" fmla="*/ 138 w 512"/>
                <a:gd name="T3" fmla="*/ 224 h 512"/>
                <a:gd name="T4" fmla="*/ 224 w 512"/>
                <a:gd name="T5" fmla="*/ 248 h 512"/>
                <a:gd name="T6" fmla="*/ 240 w 512"/>
                <a:gd name="T7" fmla="*/ 234 h 512"/>
                <a:gd name="T8" fmla="*/ 247 w 512"/>
                <a:gd name="T9" fmla="*/ 242 h 512"/>
                <a:gd name="T10" fmla="*/ 264 w 512"/>
                <a:gd name="T11" fmla="*/ 259 h 512"/>
                <a:gd name="T12" fmla="*/ 244 w 512"/>
                <a:gd name="T13" fmla="*/ 254 h 512"/>
                <a:gd name="T14" fmla="*/ 234 w 512"/>
                <a:gd name="T15" fmla="*/ 260 h 512"/>
                <a:gd name="T16" fmla="*/ 240 w 512"/>
                <a:gd name="T17" fmla="*/ 267 h 512"/>
                <a:gd name="T18" fmla="*/ 261 w 512"/>
                <a:gd name="T19" fmla="*/ 276 h 512"/>
                <a:gd name="T20" fmla="*/ 269 w 512"/>
                <a:gd name="T21" fmla="*/ 290 h 512"/>
                <a:gd name="T22" fmla="*/ 247 w 512"/>
                <a:gd name="T23" fmla="*/ 309 h 512"/>
                <a:gd name="T24" fmla="*/ 240 w 512"/>
                <a:gd name="T25" fmla="*/ 320 h 512"/>
                <a:gd name="T26" fmla="*/ 218 w 512"/>
                <a:gd name="T27" fmla="*/ 305 h 512"/>
                <a:gd name="T28" fmla="*/ 229 w 512"/>
                <a:gd name="T29" fmla="*/ 295 h 512"/>
                <a:gd name="T30" fmla="*/ 244 w 512"/>
                <a:gd name="T31" fmla="*/ 297 h 512"/>
                <a:gd name="T32" fmla="*/ 254 w 512"/>
                <a:gd name="T33" fmla="*/ 291 h 512"/>
                <a:gd name="T34" fmla="*/ 247 w 512"/>
                <a:gd name="T35" fmla="*/ 284 h 512"/>
                <a:gd name="T36" fmla="*/ 237 w 512"/>
                <a:gd name="T37" fmla="*/ 280 h 512"/>
                <a:gd name="T38" fmla="*/ 218 w 512"/>
                <a:gd name="T39" fmla="*/ 260 h 512"/>
                <a:gd name="T40" fmla="*/ 181 w 512"/>
                <a:gd name="T41" fmla="*/ 181 h 512"/>
                <a:gd name="T42" fmla="*/ 384 w 512"/>
                <a:gd name="T43" fmla="*/ 288 h 512"/>
                <a:gd name="T44" fmla="*/ 362 w 512"/>
                <a:gd name="T45" fmla="*/ 213 h 512"/>
                <a:gd name="T46" fmla="*/ 181 w 512"/>
                <a:gd name="T47" fmla="*/ 202 h 512"/>
                <a:gd name="T48" fmla="*/ 256 w 512"/>
                <a:gd name="T49" fmla="*/ 0 h 512"/>
                <a:gd name="T50" fmla="*/ 256 w 512"/>
                <a:gd name="T51" fmla="*/ 512 h 512"/>
                <a:gd name="T52" fmla="*/ 256 w 512"/>
                <a:gd name="T53" fmla="*/ 0 h 512"/>
                <a:gd name="T54" fmla="*/ 394 w 512"/>
                <a:gd name="T55" fmla="*/ 309 h 512"/>
                <a:gd name="T56" fmla="*/ 362 w 512"/>
                <a:gd name="T57" fmla="*/ 341 h 512"/>
                <a:gd name="T58" fmla="*/ 128 w 512"/>
                <a:gd name="T59" fmla="*/ 352 h 512"/>
                <a:gd name="T60" fmla="*/ 117 w 512"/>
                <a:gd name="T61" fmla="*/ 213 h 512"/>
                <a:gd name="T62" fmla="*/ 160 w 512"/>
                <a:gd name="T63" fmla="*/ 202 h 512"/>
                <a:gd name="T64" fmla="*/ 170 w 512"/>
                <a:gd name="T65" fmla="*/ 160 h 512"/>
                <a:gd name="T66" fmla="*/ 405 w 512"/>
                <a:gd name="T67" fmla="*/ 1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138" y="330"/>
                  </a:moveTo>
                  <a:cubicBezTo>
                    <a:pt x="341" y="330"/>
                    <a:pt x="341" y="330"/>
                    <a:pt x="341" y="330"/>
                  </a:cubicBezTo>
                  <a:cubicBezTo>
                    <a:pt x="341" y="224"/>
                    <a:pt x="341" y="224"/>
                    <a:pt x="341" y="224"/>
                  </a:cubicBezTo>
                  <a:cubicBezTo>
                    <a:pt x="138" y="224"/>
                    <a:pt x="138" y="224"/>
                    <a:pt x="138" y="224"/>
                  </a:cubicBezTo>
                  <a:lnTo>
                    <a:pt x="138" y="330"/>
                  </a:lnTo>
                  <a:close/>
                  <a:moveTo>
                    <a:pt x="224" y="248"/>
                  </a:moveTo>
                  <a:cubicBezTo>
                    <a:pt x="228" y="245"/>
                    <a:pt x="233" y="243"/>
                    <a:pt x="240" y="242"/>
                  </a:cubicBezTo>
                  <a:cubicBezTo>
                    <a:pt x="240" y="234"/>
                    <a:pt x="240" y="234"/>
                    <a:pt x="240" y="234"/>
                  </a:cubicBezTo>
                  <a:cubicBezTo>
                    <a:pt x="247" y="234"/>
                    <a:pt x="247" y="234"/>
                    <a:pt x="247" y="234"/>
                  </a:cubicBezTo>
                  <a:cubicBezTo>
                    <a:pt x="247" y="242"/>
                    <a:pt x="247" y="242"/>
                    <a:pt x="247" y="242"/>
                  </a:cubicBezTo>
                  <a:cubicBezTo>
                    <a:pt x="255" y="242"/>
                    <a:pt x="262" y="244"/>
                    <a:pt x="268" y="247"/>
                  </a:cubicBezTo>
                  <a:cubicBezTo>
                    <a:pt x="264" y="259"/>
                    <a:pt x="264" y="259"/>
                    <a:pt x="264" y="259"/>
                  </a:cubicBezTo>
                  <a:cubicBezTo>
                    <a:pt x="258" y="256"/>
                    <a:pt x="253" y="255"/>
                    <a:pt x="247" y="255"/>
                  </a:cubicBezTo>
                  <a:cubicBezTo>
                    <a:pt x="247" y="255"/>
                    <a:pt x="246" y="254"/>
                    <a:pt x="244" y="254"/>
                  </a:cubicBezTo>
                  <a:cubicBezTo>
                    <a:pt x="242" y="254"/>
                    <a:pt x="240" y="255"/>
                    <a:pt x="240" y="255"/>
                  </a:cubicBezTo>
                  <a:cubicBezTo>
                    <a:pt x="236" y="255"/>
                    <a:pt x="234" y="257"/>
                    <a:pt x="234" y="260"/>
                  </a:cubicBezTo>
                  <a:cubicBezTo>
                    <a:pt x="234" y="262"/>
                    <a:pt x="234" y="263"/>
                    <a:pt x="235" y="264"/>
                  </a:cubicBezTo>
                  <a:cubicBezTo>
                    <a:pt x="236" y="265"/>
                    <a:pt x="238" y="266"/>
                    <a:pt x="240" y="267"/>
                  </a:cubicBezTo>
                  <a:cubicBezTo>
                    <a:pt x="247" y="270"/>
                    <a:pt x="247" y="270"/>
                    <a:pt x="247" y="270"/>
                  </a:cubicBezTo>
                  <a:cubicBezTo>
                    <a:pt x="254" y="272"/>
                    <a:pt x="259" y="274"/>
                    <a:pt x="261" y="276"/>
                  </a:cubicBezTo>
                  <a:cubicBezTo>
                    <a:pt x="264" y="278"/>
                    <a:pt x="266" y="280"/>
                    <a:pt x="268" y="282"/>
                  </a:cubicBezTo>
                  <a:cubicBezTo>
                    <a:pt x="269" y="285"/>
                    <a:pt x="269" y="287"/>
                    <a:pt x="269" y="290"/>
                  </a:cubicBezTo>
                  <a:cubicBezTo>
                    <a:pt x="269" y="296"/>
                    <a:pt x="268" y="300"/>
                    <a:pt x="264" y="303"/>
                  </a:cubicBezTo>
                  <a:cubicBezTo>
                    <a:pt x="260" y="307"/>
                    <a:pt x="254" y="309"/>
                    <a:pt x="247" y="309"/>
                  </a:cubicBezTo>
                  <a:cubicBezTo>
                    <a:pt x="247" y="320"/>
                    <a:pt x="247" y="320"/>
                    <a:pt x="247" y="320"/>
                  </a:cubicBezTo>
                  <a:cubicBezTo>
                    <a:pt x="240" y="320"/>
                    <a:pt x="240" y="320"/>
                    <a:pt x="240" y="320"/>
                  </a:cubicBezTo>
                  <a:cubicBezTo>
                    <a:pt x="240" y="309"/>
                    <a:pt x="240" y="309"/>
                    <a:pt x="240" y="309"/>
                  </a:cubicBezTo>
                  <a:cubicBezTo>
                    <a:pt x="232" y="309"/>
                    <a:pt x="225" y="308"/>
                    <a:pt x="218" y="305"/>
                  </a:cubicBezTo>
                  <a:cubicBezTo>
                    <a:pt x="218" y="292"/>
                    <a:pt x="218" y="292"/>
                    <a:pt x="218" y="292"/>
                  </a:cubicBezTo>
                  <a:cubicBezTo>
                    <a:pt x="221" y="293"/>
                    <a:pt x="225" y="294"/>
                    <a:pt x="229" y="295"/>
                  </a:cubicBezTo>
                  <a:cubicBezTo>
                    <a:pt x="233" y="297"/>
                    <a:pt x="237" y="297"/>
                    <a:pt x="240" y="297"/>
                  </a:cubicBezTo>
                  <a:cubicBezTo>
                    <a:pt x="240" y="297"/>
                    <a:pt x="242" y="297"/>
                    <a:pt x="244" y="297"/>
                  </a:cubicBezTo>
                  <a:cubicBezTo>
                    <a:pt x="246" y="297"/>
                    <a:pt x="247" y="297"/>
                    <a:pt x="247" y="297"/>
                  </a:cubicBezTo>
                  <a:cubicBezTo>
                    <a:pt x="252" y="296"/>
                    <a:pt x="254" y="294"/>
                    <a:pt x="254" y="291"/>
                  </a:cubicBezTo>
                  <a:cubicBezTo>
                    <a:pt x="254" y="290"/>
                    <a:pt x="254" y="288"/>
                    <a:pt x="252" y="287"/>
                  </a:cubicBezTo>
                  <a:cubicBezTo>
                    <a:pt x="251" y="286"/>
                    <a:pt x="250" y="285"/>
                    <a:pt x="247" y="284"/>
                  </a:cubicBezTo>
                  <a:cubicBezTo>
                    <a:pt x="240" y="282"/>
                    <a:pt x="240" y="282"/>
                    <a:pt x="240" y="282"/>
                  </a:cubicBezTo>
                  <a:cubicBezTo>
                    <a:pt x="237" y="280"/>
                    <a:pt x="237" y="280"/>
                    <a:pt x="237" y="280"/>
                  </a:cubicBezTo>
                  <a:cubicBezTo>
                    <a:pt x="230" y="278"/>
                    <a:pt x="225" y="275"/>
                    <a:pt x="222" y="272"/>
                  </a:cubicBezTo>
                  <a:cubicBezTo>
                    <a:pt x="220" y="269"/>
                    <a:pt x="218" y="265"/>
                    <a:pt x="218" y="260"/>
                  </a:cubicBezTo>
                  <a:cubicBezTo>
                    <a:pt x="218" y="255"/>
                    <a:pt x="220" y="251"/>
                    <a:pt x="224" y="248"/>
                  </a:cubicBezTo>
                  <a:close/>
                  <a:moveTo>
                    <a:pt x="181" y="181"/>
                  </a:moveTo>
                  <a:cubicBezTo>
                    <a:pt x="384" y="181"/>
                    <a:pt x="384" y="181"/>
                    <a:pt x="384" y="181"/>
                  </a:cubicBezTo>
                  <a:cubicBezTo>
                    <a:pt x="384" y="288"/>
                    <a:pt x="384" y="288"/>
                    <a:pt x="384" y="288"/>
                  </a:cubicBezTo>
                  <a:cubicBezTo>
                    <a:pt x="362" y="288"/>
                    <a:pt x="362" y="288"/>
                    <a:pt x="362" y="288"/>
                  </a:cubicBezTo>
                  <a:cubicBezTo>
                    <a:pt x="362" y="213"/>
                    <a:pt x="362" y="213"/>
                    <a:pt x="362" y="213"/>
                  </a:cubicBezTo>
                  <a:cubicBezTo>
                    <a:pt x="362" y="207"/>
                    <a:pt x="358" y="202"/>
                    <a:pt x="352" y="202"/>
                  </a:cubicBezTo>
                  <a:cubicBezTo>
                    <a:pt x="181" y="202"/>
                    <a:pt x="181" y="202"/>
                    <a:pt x="181" y="202"/>
                  </a:cubicBezTo>
                  <a:lnTo>
                    <a:pt x="181" y="181"/>
                  </a:ln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98"/>
                  </a:moveTo>
                  <a:cubicBezTo>
                    <a:pt x="405" y="304"/>
                    <a:pt x="400" y="309"/>
                    <a:pt x="394" y="309"/>
                  </a:cubicBezTo>
                  <a:cubicBezTo>
                    <a:pt x="362" y="309"/>
                    <a:pt x="362" y="309"/>
                    <a:pt x="362" y="309"/>
                  </a:cubicBezTo>
                  <a:cubicBezTo>
                    <a:pt x="362" y="341"/>
                    <a:pt x="362" y="341"/>
                    <a:pt x="362" y="341"/>
                  </a:cubicBezTo>
                  <a:cubicBezTo>
                    <a:pt x="362" y="347"/>
                    <a:pt x="358" y="352"/>
                    <a:pt x="352" y="352"/>
                  </a:cubicBezTo>
                  <a:cubicBezTo>
                    <a:pt x="128" y="352"/>
                    <a:pt x="128" y="352"/>
                    <a:pt x="128" y="352"/>
                  </a:cubicBezTo>
                  <a:cubicBezTo>
                    <a:pt x="122" y="352"/>
                    <a:pt x="117" y="347"/>
                    <a:pt x="117" y="341"/>
                  </a:cubicBezTo>
                  <a:cubicBezTo>
                    <a:pt x="117" y="213"/>
                    <a:pt x="117" y="213"/>
                    <a:pt x="117" y="213"/>
                  </a:cubicBezTo>
                  <a:cubicBezTo>
                    <a:pt x="117" y="207"/>
                    <a:pt x="122" y="202"/>
                    <a:pt x="128" y="202"/>
                  </a:cubicBezTo>
                  <a:cubicBezTo>
                    <a:pt x="160" y="202"/>
                    <a:pt x="160" y="202"/>
                    <a:pt x="160" y="202"/>
                  </a:cubicBezTo>
                  <a:cubicBezTo>
                    <a:pt x="160" y="170"/>
                    <a:pt x="160" y="170"/>
                    <a:pt x="160" y="170"/>
                  </a:cubicBezTo>
                  <a:cubicBezTo>
                    <a:pt x="160" y="164"/>
                    <a:pt x="164" y="160"/>
                    <a:pt x="170" y="160"/>
                  </a:cubicBezTo>
                  <a:cubicBezTo>
                    <a:pt x="394" y="160"/>
                    <a:pt x="394" y="160"/>
                    <a:pt x="394" y="160"/>
                  </a:cubicBezTo>
                  <a:cubicBezTo>
                    <a:pt x="400" y="160"/>
                    <a:pt x="405" y="164"/>
                    <a:pt x="405" y="170"/>
                  </a:cubicBezTo>
                  <a:lnTo>
                    <a:pt x="405" y="2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sz="1600"/>
            </a:p>
          </p:txBody>
        </p:sp>
        <p:grpSp>
          <p:nvGrpSpPr>
            <p:cNvPr id="82" name="Group 81"/>
            <p:cNvGrpSpPr/>
            <p:nvPr/>
          </p:nvGrpSpPr>
          <p:grpSpPr>
            <a:xfrm>
              <a:off x="6583734" y="1032882"/>
              <a:ext cx="240904" cy="240904"/>
              <a:chOff x="7256204" y="1033952"/>
              <a:chExt cx="240904" cy="240904"/>
            </a:xfrm>
          </p:grpSpPr>
          <p:sp>
            <p:nvSpPr>
              <p:cNvPr id="83" name="Freeform 499"/>
              <p:cNvSpPr>
                <a:spLocks noEditPoints="1"/>
              </p:cNvSpPr>
              <p:nvPr/>
            </p:nvSpPr>
            <p:spPr bwMode="auto">
              <a:xfrm>
                <a:off x="7256204" y="1033952"/>
                <a:ext cx="240904" cy="24090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4 w 512"/>
                  <a:gd name="T11" fmla="*/ 368 h 512"/>
                  <a:gd name="T12" fmla="*/ 405 w 512"/>
                  <a:gd name="T13" fmla="*/ 373 h 512"/>
                  <a:gd name="T14" fmla="*/ 106 w 512"/>
                  <a:gd name="T15" fmla="*/ 373 h 512"/>
                  <a:gd name="T16" fmla="*/ 97 w 512"/>
                  <a:gd name="T17" fmla="*/ 368 h 512"/>
                  <a:gd name="T18" fmla="*/ 97 w 512"/>
                  <a:gd name="T19" fmla="*/ 357 h 512"/>
                  <a:gd name="T20" fmla="*/ 247 w 512"/>
                  <a:gd name="T21" fmla="*/ 111 h 512"/>
                  <a:gd name="T22" fmla="*/ 265 w 512"/>
                  <a:gd name="T23" fmla="*/ 111 h 512"/>
                  <a:gd name="T24" fmla="*/ 414 w 512"/>
                  <a:gd name="T25" fmla="*/ 357 h 512"/>
                  <a:gd name="T26" fmla="*/ 414 w 512"/>
                  <a:gd name="T27" fmla="*/ 36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4" y="368"/>
                    </a:moveTo>
                    <a:cubicBezTo>
                      <a:pt x="412" y="371"/>
                      <a:pt x="409" y="373"/>
                      <a:pt x="405" y="373"/>
                    </a:cubicBezTo>
                    <a:cubicBezTo>
                      <a:pt x="106" y="373"/>
                      <a:pt x="106" y="373"/>
                      <a:pt x="106" y="373"/>
                    </a:cubicBezTo>
                    <a:cubicBezTo>
                      <a:pt x="102" y="373"/>
                      <a:pt x="99" y="371"/>
                      <a:pt x="97" y="368"/>
                    </a:cubicBezTo>
                    <a:cubicBezTo>
                      <a:pt x="95" y="364"/>
                      <a:pt x="95" y="360"/>
                      <a:pt x="97" y="357"/>
                    </a:cubicBezTo>
                    <a:cubicBezTo>
                      <a:pt x="247" y="111"/>
                      <a:pt x="247" y="111"/>
                      <a:pt x="247" y="111"/>
                    </a:cubicBezTo>
                    <a:cubicBezTo>
                      <a:pt x="250" y="105"/>
                      <a:pt x="261" y="105"/>
                      <a:pt x="265" y="111"/>
                    </a:cubicBezTo>
                    <a:cubicBezTo>
                      <a:pt x="414" y="357"/>
                      <a:pt x="414" y="357"/>
                      <a:pt x="414" y="357"/>
                    </a:cubicBezTo>
                    <a:cubicBezTo>
                      <a:pt x="416" y="360"/>
                      <a:pt x="416" y="364"/>
                      <a:pt x="414" y="368"/>
                    </a:cubicBezTo>
                    <a:close/>
                  </a:path>
                </a:pathLst>
              </a:custGeom>
              <a:solidFill>
                <a:srgbClr val="DA291C"/>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600"/>
              </a:p>
            </p:txBody>
          </p:sp>
          <p:sp>
            <p:nvSpPr>
              <p:cNvPr id="84" name="Freeform 500"/>
              <p:cNvSpPr>
                <a:spLocks noEditPoints="1"/>
              </p:cNvSpPr>
              <p:nvPr/>
            </p:nvSpPr>
            <p:spPr bwMode="auto">
              <a:xfrm>
                <a:off x="7315013" y="1099138"/>
                <a:ext cx="122578" cy="100613"/>
              </a:xfrm>
              <a:custGeom>
                <a:avLst/>
                <a:gdLst>
                  <a:gd name="T0" fmla="*/ 0 w 261"/>
                  <a:gd name="T1" fmla="*/ 214 h 214"/>
                  <a:gd name="T2" fmla="*/ 261 w 261"/>
                  <a:gd name="T3" fmla="*/ 214 h 214"/>
                  <a:gd name="T4" fmla="*/ 131 w 261"/>
                  <a:gd name="T5" fmla="*/ 0 h 214"/>
                  <a:gd name="T6" fmla="*/ 0 w 261"/>
                  <a:gd name="T7" fmla="*/ 214 h 214"/>
                  <a:gd name="T8" fmla="*/ 131 w 261"/>
                  <a:gd name="T9" fmla="*/ 192 h 214"/>
                  <a:gd name="T10" fmla="*/ 120 w 261"/>
                  <a:gd name="T11" fmla="*/ 182 h 214"/>
                  <a:gd name="T12" fmla="*/ 131 w 261"/>
                  <a:gd name="T13" fmla="*/ 171 h 214"/>
                  <a:gd name="T14" fmla="*/ 141 w 261"/>
                  <a:gd name="T15" fmla="*/ 182 h 214"/>
                  <a:gd name="T16" fmla="*/ 131 w 261"/>
                  <a:gd name="T17" fmla="*/ 192 h 214"/>
                  <a:gd name="T18" fmla="*/ 141 w 261"/>
                  <a:gd name="T19" fmla="*/ 64 h 214"/>
                  <a:gd name="T20" fmla="*/ 141 w 261"/>
                  <a:gd name="T21" fmla="*/ 139 h 214"/>
                  <a:gd name="T22" fmla="*/ 131 w 261"/>
                  <a:gd name="T23" fmla="*/ 150 h 214"/>
                  <a:gd name="T24" fmla="*/ 120 w 261"/>
                  <a:gd name="T25" fmla="*/ 139 h 214"/>
                  <a:gd name="T26" fmla="*/ 120 w 261"/>
                  <a:gd name="T27" fmla="*/ 64 h 214"/>
                  <a:gd name="T28" fmla="*/ 131 w 261"/>
                  <a:gd name="T29" fmla="*/ 54 h 214"/>
                  <a:gd name="T30" fmla="*/ 141 w 261"/>
                  <a:gd name="T31" fmla="*/ 6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1" h="214">
                    <a:moveTo>
                      <a:pt x="0" y="214"/>
                    </a:moveTo>
                    <a:cubicBezTo>
                      <a:pt x="261" y="214"/>
                      <a:pt x="261" y="214"/>
                      <a:pt x="261" y="214"/>
                    </a:cubicBezTo>
                    <a:cubicBezTo>
                      <a:pt x="131" y="0"/>
                      <a:pt x="131" y="0"/>
                      <a:pt x="131" y="0"/>
                    </a:cubicBezTo>
                    <a:lnTo>
                      <a:pt x="0" y="214"/>
                    </a:lnTo>
                    <a:close/>
                    <a:moveTo>
                      <a:pt x="131" y="192"/>
                    </a:moveTo>
                    <a:cubicBezTo>
                      <a:pt x="125" y="192"/>
                      <a:pt x="120" y="188"/>
                      <a:pt x="120" y="182"/>
                    </a:cubicBezTo>
                    <a:cubicBezTo>
                      <a:pt x="120" y="176"/>
                      <a:pt x="125" y="171"/>
                      <a:pt x="131" y="171"/>
                    </a:cubicBezTo>
                    <a:cubicBezTo>
                      <a:pt x="137" y="171"/>
                      <a:pt x="141" y="176"/>
                      <a:pt x="141" y="182"/>
                    </a:cubicBezTo>
                    <a:cubicBezTo>
                      <a:pt x="141" y="188"/>
                      <a:pt x="137" y="192"/>
                      <a:pt x="131" y="192"/>
                    </a:cubicBezTo>
                    <a:close/>
                    <a:moveTo>
                      <a:pt x="141" y="64"/>
                    </a:moveTo>
                    <a:cubicBezTo>
                      <a:pt x="141" y="139"/>
                      <a:pt x="141" y="139"/>
                      <a:pt x="141" y="139"/>
                    </a:cubicBezTo>
                    <a:cubicBezTo>
                      <a:pt x="141" y="145"/>
                      <a:pt x="137" y="150"/>
                      <a:pt x="131" y="150"/>
                    </a:cubicBezTo>
                    <a:cubicBezTo>
                      <a:pt x="125" y="150"/>
                      <a:pt x="120" y="145"/>
                      <a:pt x="120" y="139"/>
                    </a:cubicBezTo>
                    <a:cubicBezTo>
                      <a:pt x="120" y="64"/>
                      <a:pt x="120" y="64"/>
                      <a:pt x="120" y="64"/>
                    </a:cubicBezTo>
                    <a:cubicBezTo>
                      <a:pt x="120" y="58"/>
                      <a:pt x="125" y="54"/>
                      <a:pt x="131" y="54"/>
                    </a:cubicBezTo>
                    <a:cubicBezTo>
                      <a:pt x="137" y="54"/>
                      <a:pt x="141" y="58"/>
                      <a:pt x="141" y="64"/>
                    </a:cubicBezTo>
                    <a:close/>
                  </a:path>
                </a:pathLst>
              </a:custGeom>
              <a:solidFill>
                <a:srgbClr val="DA291C"/>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600"/>
              </a:p>
            </p:txBody>
          </p:sp>
        </p:grpSp>
        <p:sp>
          <p:nvSpPr>
            <p:cNvPr id="85" name="Freeform 942"/>
            <p:cNvSpPr>
              <a:spLocks noChangeAspect="1" noEditPoints="1"/>
            </p:cNvSpPr>
            <p:nvPr/>
          </p:nvSpPr>
          <p:spPr bwMode="auto">
            <a:xfrm>
              <a:off x="8208055" y="1028170"/>
              <a:ext cx="239286" cy="23858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81 w 512"/>
                <a:gd name="T11" fmla="*/ 221 h 512"/>
                <a:gd name="T12" fmla="*/ 274 w 512"/>
                <a:gd name="T13" fmla="*/ 327 h 512"/>
                <a:gd name="T14" fmla="*/ 262 w 512"/>
                <a:gd name="T15" fmla="*/ 330 h 512"/>
                <a:gd name="T16" fmla="*/ 256 w 512"/>
                <a:gd name="T17" fmla="*/ 320 h 512"/>
                <a:gd name="T18" fmla="*/ 256 w 512"/>
                <a:gd name="T19" fmla="*/ 266 h 512"/>
                <a:gd name="T20" fmla="*/ 181 w 512"/>
                <a:gd name="T21" fmla="*/ 341 h 512"/>
                <a:gd name="T22" fmla="*/ 209 w 512"/>
                <a:gd name="T23" fmla="*/ 397 h 512"/>
                <a:gd name="T24" fmla="*/ 211 w 512"/>
                <a:gd name="T25" fmla="*/ 411 h 512"/>
                <a:gd name="T26" fmla="*/ 202 w 512"/>
                <a:gd name="T27" fmla="*/ 416 h 512"/>
                <a:gd name="T28" fmla="*/ 198 w 512"/>
                <a:gd name="T29" fmla="*/ 415 h 512"/>
                <a:gd name="T30" fmla="*/ 117 w 512"/>
                <a:gd name="T31" fmla="*/ 288 h 512"/>
                <a:gd name="T32" fmla="*/ 256 w 512"/>
                <a:gd name="T33" fmla="*/ 149 h 512"/>
                <a:gd name="T34" fmla="*/ 256 w 512"/>
                <a:gd name="T35" fmla="*/ 106 h 512"/>
                <a:gd name="T36" fmla="*/ 262 w 512"/>
                <a:gd name="T37" fmla="*/ 96 h 512"/>
                <a:gd name="T38" fmla="*/ 274 w 512"/>
                <a:gd name="T39" fmla="*/ 99 h 512"/>
                <a:gd name="T40" fmla="*/ 381 w 512"/>
                <a:gd name="T41" fmla="*/ 205 h 512"/>
                <a:gd name="T42" fmla="*/ 381 w 512"/>
                <a:gd name="T43" fmla="*/ 221 h 512"/>
                <a:gd name="T44" fmla="*/ 277 w 512"/>
                <a:gd name="T45" fmla="*/ 132 h 512"/>
                <a:gd name="T46" fmla="*/ 358 w 512"/>
                <a:gd name="T47" fmla="*/ 213 h 512"/>
                <a:gd name="T48" fmla="*/ 277 w 512"/>
                <a:gd name="T49" fmla="*/ 294 h 512"/>
                <a:gd name="T50" fmla="*/ 277 w 512"/>
                <a:gd name="T51" fmla="*/ 256 h 512"/>
                <a:gd name="T52" fmla="*/ 266 w 512"/>
                <a:gd name="T53" fmla="*/ 245 h 512"/>
                <a:gd name="T54" fmla="*/ 256 w 512"/>
                <a:gd name="T55" fmla="*/ 245 h 512"/>
                <a:gd name="T56" fmla="*/ 160 w 512"/>
                <a:gd name="T57" fmla="*/ 341 h 512"/>
                <a:gd name="T58" fmla="*/ 162 w 512"/>
                <a:gd name="T59" fmla="*/ 360 h 512"/>
                <a:gd name="T60" fmla="*/ 138 w 512"/>
                <a:gd name="T61" fmla="*/ 288 h 512"/>
                <a:gd name="T62" fmla="*/ 256 w 512"/>
                <a:gd name="T63" fmla="*/ 170 h 512"/>
                <a:gd name="T64" fmla="*/ 266 w 512"/>
                <a:gd name="T65" fmla="*/ 170 h 512"/>
                <a:gd name="T66" fmla="*/ 277 w 512"/>
                <a:gd name="T67" fmla="*/ 160 h 512"/>
                <a:gd name="T68" fmla="*/ 277 w 512"/>
                <a:gd name="T69" fmla="*/ 13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81" y="221"/>
                  </a:moveTo>
                  <a:cubicBezTo>
                    <a:pt x="274" y="327"/>
                    <a:pt x="274" y="327"/>
                    <a:pt x="274" y="327"/>
                  </a:cubicBezTo>
                  <a:cubicBezTo>
                    <a:pt x="271" y="330"/>
                    <a:pt x="266" y="331"/>
                    <a:pt x="262" y="330"/>
                  </a:cubicBezTo>
                  <a:cubicBezTo>
                    <a:pt x="258" y="328"/>
                    <a:pt x="256" y="324"/>
                    <a:pt x="256" y="320"/>
                  </a:cubicBezTo>
                  <a:cubicBezTo>
                    <a:pt x="256" y="266"/>
                    <a:pt x="256" y="266"/>
                    <a:pt x="256" y="266"/>
                  </a:cubicBezTo>
                  <a:cubicBezTo>
                    <a:pt x="204" y="266"/>
                    <a:pt x="181" y="304"/>
                    <a:pt x="181" y="341"/>
                  </a:cubicBezTo>
                  <a:cubicBezTo>
                    <a:pt x="181" y="362"/>
                    <a:pt x="191" y="382"/>
                    <a:pt x="209" y="397"/>
                  </a:cubicBezTo>
                  <a:cubicBezTo>
                    <a:pt x="213" y="400"/>
                    <a:pt x="214" y="406"/>
                    <a:pt x="211" y="411"/>
                  </a:cubicBezTo>
                  <a:cubicBezTo>
                    <a:pt x="209" y="414"/>
                    <a:pt x="206" y="416"/>
                    <a:pt x="202" y="416"/>
                  </a:cubicBezTo>
                  <a:cubicBezTo>
                    <a:pt x="201" y="416"/>
                    <a:pt x="199" y="415"/>
                    <a:pt x="198" y="415"/>
                  </a:cubicBezTo>
                  <a:cubicBezTo>
                    <a:pt x="149" y="393"/>
                    <a:pt x="117" y="343"/>
                    <a:pt x="117" y="288"/>
                  </a:cubicBezTo>
                  <a:cubicBezTo>
                    <a:pt x="117" y="211"/>
                    <a:pt x="179" y="149"/>
                    <a:pt x="256" y="149"/>
                  </a:cubicBezTo>
                  <a:cubicBezTo>
                    <a:pt x="256" y="106"/>
                    <a:pt x="256" y="106"/>
                    <a:pt x="256" y="106"/>
                  </a:cubicBezTo>
                  <a:cubicBezTo>
                    <a:pt x="256" y="102"/>
                    <a:pt x="258" y="98"/>
                    <a:pt x="262" y="96"/>
                  </a:cubicBezTo>
                  <a:cubicBezTo>
                    <a:pt x="266" y="95"/>
                    <a:pt x="271" y="96"/>
                    <a:pt x="274" y="99"/>
                  </a:cubicBezTo>
                  <a:cubicBezTo>
                    <a:pt x="381" y="205"/>
                    <a:pt x="381" y="205"/>
                    <a:pt x="381" y="205"/>
                  </a:cubicBezTo>
                  <a:cubicBezTo>
                    <a:pt x="385" y="210"/>
                    <a:pt x="385" y="216"/>
                    <a:pt x="381" y="221"/>
                  </a:cubicBezTo>
                  <a:close/>
                  <a:moveTo>
                    <a:pt x="277" y="132"/>
                  </a:moveTo>
                  <a:cubicBezTo>
                    <a:pt x="358" y="213"/>
                    <a:pt x="358" y="213"/>
                    <a:pt x="358" y="213"/>
                  </a:cubicBezTo>
                  <a:cubicBezTo>
                    <a:pt x="277" y="294"/>
                    <a:pt x="277" y="294"/>
                    <a:pt x="277" y="294"/>
                  </a:cubicBezTo>
                  <a:cubicBezTo>
                    <a:pt x="277" y="256"/>
                    <a:pt x="277" y="256"/>
                    <a:pt x="277" y="256"/>
                  </a:cubicBezTo>
                  <a:cubicBezTo>
                    <a:pt x="277" y="250"/>
                    <a:pt x="272" y="245"/>
                    <a:pt x="266" y="245"/>
                  </a:cubicBezTo>
                  <a:cubicBezTo>
                    <a:pt x="256" y="245"/>
                    <a:pt x="256" y="245"/>
                    <a:pt x="256" y="245"/>
                  </a:cubicBezTo>
                  <a:cubicBezTo>
                    <a:pt x="199" y="245"/>
                    <a:pt x="160" y="284"/>
                    <a:pt x="160" y="341"/>
                  </a:cubicBezTo>
                  <a:cubicBezTo>
                    <a:pt x="160" y="348"/>
                    <a:pt x="161" y="354"/>
                    <a:pt x="162" y="360"/>
                  </a:cubicBezTo>
                  <a:cubicBezTo>
                    <a:pt x="147" y="340"/>
                    <a:pt x="138" y="315"/>
                    <a:pt x="138" y="288"/>
                  </a:cubicBezTo>
                  <a:cubicBezTo>
                    <a:pt x="138" y="223"/>
                    <a:pt x="191" y="170"/>
                    <a:pt x="256" y="170"/>
                  </a:cubicBezTo>
                  <a:cubicBezTo>
                    <a:pt x="266" y="170"/>
                    <a:pt x="266" y="170"/>
                    <a:pt x="266" y="170"/>
                  </a:cubicBezTo>
                  <a:cubicBezTo>
                    <a:pt x="272" y="170"/>
                    <a:pt x="277" y="166"/>
                    <a:pt x="277" y="160"/>
                  </a:cubicBezTo>
                  <a:lnTo>
                    <a:pt x="277" y="132"/>
                  </a:lnTo>
                  <a:close/>
                </a:path>
              </a:pathLst>
            </a:custGeom>
            <a:solidFill>
              <a:srgbClr val="43B02A"/>
            </a:solidFill>
            <a:ln>
              <a:noFill/>
            </a:ln>
          </p:spPr>
          <p:txBody>
            <a:bodyPr vert="horz" wrap="square" lIns="91440" tIns="45720" rIns="91440" bIns="45720" numCol="1" anchor="t" anchorCtr="0" compatLnSpc="1">
              <a:prstTxWarp prst="textNoShape">
                <a:avLst/>
              </a:prstTxWarp>
            </a:bodyPr>
            <a:lstStyle/>
            <a:p>
              <a:endParaRPr lang="en-GB" sz="1600"/>
            </a:p>
          </p:txBody>
        </p:sp>
        <p:sp>
          <p:nvSpPr>
            <p:cNvPr id="86" name="Freeform 364"/>
            <p:cNvSpPr>
              <a:spLocks noChangeAspect="1" noEditPoints="1"/>
            </p:cNvSpPr>
            <p:nvPr/>
          </p:nvSpPr>
          <p:spPr bwMode="auto">
            <a:xfrm>
              <a:off x="7399596" y="1036132"/>
              <a:ext cx="218633" cy="217992"/>
            </a:xfrm>
            <a:custGeom>
              <a:avLst/>
              <a:gdLst>
                <a:gd name="T0" fmla="*/ 0 w 512"/>
                <a:gd name="T1" fmla="*/ 256 h 512"/>
                <a:gd name="T2" fmla="*/ 512 w 512"/>
                <a:gd name="T3" fmla="*/ 256 h 512"/>
                <a:gd name="T4" fmla="*/ 117 w 512"/>
                <a:gd name="T5" fmla="*/ 362 h 512"/>
                <a:gd name="T6" fmla="*/ 96 w 512"/>
                <a:gd name="T7" fmla="*/ 362 h 512"/>
                <a:gd name="T8" fmla="*/ 106 w 512"/>
                <a:gd name="T9" fmla="*/ 330 h 512"/>
                <a:gd name="T10" fmla="*/ 117 w 512"/>
                <a:gd name="T11" fmla="*/ 362 h 512"/>
                <a:gd name="T12" fmla="*/ 149 w 512"/>
                <a:gd name="T13" fmla="*/ 373 h 512"/>
                <a:gd name="T14" fmla="*/ 138 w 512"/>
                <a:gd name="T15" fmla="*/ 320 h 512"/>
                <a:gd name="T16" fmla="*/ 160 w 512"/>
                <a:gd name="T17" fmla="*/ 320 h 512"/>
                <a:gd name="T18" fmla="*/ 202 w 512"/>
                <a:gd name="T19" fmla="*/ 362 h 512"/>
                <a:gd name="T20" fmla="*/ 181 w 512"/>
                <a:gd name="T21" fmla="*/ 362 h 512"/>
                <a:gd name="T22" fmla="*/ 192 w 512"/>
                <a:gd name="T23" fmla="*/ 277 h 512"/>
                <a:gd name="T24" fmla="*/ 202 w 512"/>
                <a:gd name="T25" fmla="*/ 362 h 512"/>
                <a:gd name="T26" fmla="*/ 234 w 512"/>
                <a:gd name="T27" fmla="*/ 373 h 512"/>
                <a:gd name="T28" fmla="*/ 224 w 512"/>
                <a:gd name="T29" fmla="*/ 277 h 512"/>
                <a:gd name="T30" fmla="*/ 245 w 512"/>
                <a:gd name="T31" fmla="*/ 277 h 512"/>
                <a:gd name="T32" fmla="*/ 288 w 512"/>
                <a:gd name="T33" fmla="*/ 362 h 512"/>
                <a:gd name="T34" fmla="*/ 266 w 512"/>
                <a:gd name="T35" fmla="*/ 362 h 512"/>
                <a:gd name="T36" fmla="*/ 277 w 512"/>
                <a:gd name="T37" fmla="*/ 266 h 512"/>
                <a:gd name="T38" fmla="*/ 288 w 512"/>
                <a:gd name="T39" fmla="*/ 362 h 512"/>
                <a:gd name="T40" fmla="*/ 320 w 512"/>
                <a:gd name="T41" fmla="*/ 373 h 512"/>
                <a:gd name="T42" fmla="*/ 309 w 512"/>
                <a:gd name="T43" fmla="*/ 245 h 512"/>
                <a:gd name="T44" fmla="*/ 330 w 512"/>
                <a:gd name="T45" fmla="*/ 245 h 512"/>
                <a:gd name="T46" fmla="*/ 373 w 512"/>
                <a:gd name="T47" fmla="*/ 362 h 512"/>
                <a:gd name="T48" fmla="*/ 352 w 512"/>
                <a:gd name="T49" fmla="*/ 362 h 512"/>
                <a:gd name="T50" fmla="*/ 362 w 512"/>
                <a:gd name="T51" fmla="*/ 202 h 512"/>
                <a:gd name="T52" fmla="*/ 373 w 512"/>
                <a:gd name="T53" fmla="*/ 362 h 512"/>
                <a:gd name="T54" fmla="*/ 384 w 512"/>
                <a:gd name="T55" fmla="*/ 181 h 512"/>
                <a:gd name="T56" fmla="*/ 373 w 512"/>
                <a:gd name="T57" fmla="*/ 153 h 512"/>
                <a:gd name="T58" fmla="*/ 277 w 512"/>
                <a:gd name="T59" fmla="*/ 245 h 512"/>
                <a:gd name="T60" fmla="*/ 113 w 512"/>
                <a:gd name="T61" fmla="*/ 307 h 512"/>
                <a:gd name="T62" fmla="*/ 98 w 512"/>
                <a:gd name="T63" fmla="*/ 305 h 512"/>
                <a:gd name="T64" fmla="*/ 185 w 512"/>
                <a:gd name="T65" fmla="*/ 226 h 512"/>
                <a:gd name="T66" fmla="*/ 273 w 512"/>
                <a:gd name="T67" fmla="*/ 224 h 512"/>
                <a:gd name="T68" fmla="*/ 341 w 512"/>
                <a:gd name="T69" fmla="*/ 138 h 512"/>
                <a:gd name="T70" fmla="*/ 341 w 512"/>
                <a:gd name="T71" fmla="*/ 117 h 512"/>
                <a:gd name="T72" fmla="*/ 388 w 512"/>
                <a:gd name="T73" fmla="*/ 118 h 512"/>
                <a:gd name="T74" fmla="*/ 394 w 512"/>
                <a:gd name="T75" fmla="*/ 12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17" y="362"/>
                  </a:moveTo>
                  <a:cubicBezTo>
                    <a:pt x="117" y="368"/>
                    <a:pt x="112" y="373"/>
                    <a:pt x="106" y="373"/>
                  </a:cubicBezTo>
                  <a:cubicBezTo>
                    <a:pt x="100" y="373"/>
                    <a:pt x="96" y="368"/>
                    <a:pt x="96" y="362"/>
                  </a:cubicBezTo>
                  <a:cubicBezTo>
                    <a:pt x="96" y="341"/>
                    <a:pt x="96" y="341"/>
                    <a:pt x="96" y="341"/>
                  </a:cubicBezTo>
                  <a:cubicBezTo>
                    <a:pt x="96" y="335"/>
                    <a:pt x="100" y="330"/>
                    <a:pt x="106" y="330"/>
                  </a:cubicBezTo>
                  <a:cubicBezTo>
                    <a:pt x="112" y="330"/>
                    <a:pt x="117" y="335"/>
                    <a:pt x="117" y="341"/>
                  </a:cubicBezTo>
                  <a:lnTo>
                    <a:pt x="117" y="362"/>
                  </a:lnTo>
                  <a:close/>
                  <a:moveTo>
                    <a:pt x="160" y="362"/>
                  </a:moveTo>
                  <a:cubicBezTo>
                    <a:pt x="160" y="368"/>
                    <a:pt x="155" y="373"/>
                    <a:pt x="149" y="373"/>
                  </a:cubicBezTo>
                  <a:cubicBezTo>
                    <a:pt x="143" y="373"/>
                    <a:pt x="138" y="368"/>
                    <a:pt x="138" y="362"/>
                  </a:cubicBezTo>
                  <a:cubicBezTo>
                    <a:pt x="138" y="320"/>
                    <a:pt x="138" y="320"/>
                    <a:pt x="138" y="320"/>
                  </a:cubicBezTo>
                  <a:cubicBezTo>
                    <a:pt x="138" y="314"/>
                    <a:pt x="143" y="309"/>
                    <a:pt x="149" y="309"/>
                  </a:cubicBezTo>
                  <a:cubicBezTo>
                    <a:pt x="155" y="309"/>
                    <a:pt x="160" y="314"/>
                    <a:pt x="160" y="320"/>
                  </a:cubicBezTo>
                  <a:lnTo>
                    <a:pt x="160" y="362"/>
                  </a:lnTo>
                  <a:close/>
                  <a:moveTo>
                    <a:pt x="202" y="362"/>
                  </a:moveTo>
                  <a:cubicBezTo>
                    <a:pt x="202" y="368"/>
                    <a:pt x="198" y="373"/>
                    <a:pt x="192" y="373"/>
                  </a:cubicBezTo>
                  <a:cubicBezTo>
                    <a:pt x="186" y="373"/>
                    <a:pt x="181" y="368"/>
                    <a:pt x="181" y="362"/>
                  </a:cubicBezTo>
                  <a:cubicBezTo>
                    <a:pt x="181" y="288"/>
                    <a:pt x="181" y="288"/>
                    <a:pt x="181" y="288"/>
                  </a:cubicBezTo>
                  <a:cubicBezTo>
                    <a:pt x="181" y="282"/>
                    <a:pt x="186" y="277"/>
                    <a:pt x="192" y="277"/>
                  </a:cubicBezTo>
                  <a:cubicBezTo>
                    <a:pt x="198" y="277"/>
                    <a:pt x="202" y="282"/>
                    <a:pt x="202" y="288"/>
                  </a:cubicBezTo>
                  <a:lnTo>
                    <a:pt x="202" y="362"/>
                  </a:lnTo>
                  <a:close/>
                  <a:moveTo>
                    <a:pt x="245" y="362"/>
                  </a:moveTo>
                  <a:cubicBezTo>
                    <a:pt x="245" y="368"/>
                    <a:pt x="240" y="373"/>
                    <a:pt x="234" y="373"/>
                  </a:cubicBezTo>
                  <a:cubicBezTo>
                    <a:pt x="228" y="373"/>
                    <a:pt x="224" y="368"/>
                    <a:pt x="224" y="362"/>
                  </a:cubicBezTo>
                  <a:cubicBezTo>
                    <a:pt x="224" y="277"/>
                    <a:pt x="224" y="277"/>
                    <a:pt x="224" y="277"/>
                  </a:cubicBezTo>
                  <a:cubicBezTo>
                    <a:pt x="224" y="271"/>
                    <a:pt x="228" y="266"/>
                    <a:pt x="234" y="266"/>
                  </a:cubicBezTo>
                  <a:cubicBezTo>
                    <a:pt x="240" y="266"/>
                    <a:pt x="245" y="271"/>
                    <a:pt x="245" y="277"/>
                  </a:cubicBezTo>
                  <a:lnTo>
                    <a:pt x="245" y="362"/>
                  </a:lnTo>
                  <a:close/>
                  <a:moveTo>
                    <a:pt x="288" y="362"/>
                  </a:moveTo>
                  <a:cubicBezTo>
                    <a:pt x="288" y="368"/>
                    <a:pt x="283" y="373"/>
                    <a:pt x="277" y="373"/>
                  </a:cubicBezTo>
                  <a:cubicBezTo>
                    <a:pt x="271" y="373"/>
                    <a:pt x="266" y="368"/>
                    <a:pt x="266" y="362"/>
                  </a:cubicBezTo>
                  <a:cubicBezTo>
                    <a:pt x="266" y="277"/>
                    <a:pt x="266" y="277"/>
                    <a:pt x="266" y="277"/>
                  </a:cubicBezTo>
                  <a:cubicBezTo>
                    <a:pt x="266" y="271"/>
                    <a:pt x="271" y="266"/>
                    <a:pt x="277" y="266"/>
                  </a:cubicBezTo>
                  <a:cubicBezTo>
                    <a:pt x="283" y="266"/>
                    <a:pt x="288" y="271"/>
                    <a:pt x="288" y="277"/>
                  </a:cubicBezTo>
                  <a:lnTo>
                    <a:pt x="288" y="362"/>
                  </a:lnTo>
                  <a:close/>
                  <a:moveTo>
                    <a:pt x="330" y="362"/>
                  </a:moveTo>
                  <a:cubicBezTo>
                    <a:pt x="330" y="368"/>
                    <a:pt x="326" y="373"/>
                    <a:pt x="320" y="373"/>
                  </a:cubicBezTo>
                  <a:cubicBezTo>
                    <a:pt x="314" y="373"/>
                    <a:pt x="309" y="368"/>
                    <a:pt x="309" y="362"/>
                  </a:cubicBezTo>
                  <a:cubicBezTo>
                    <a:pt x="309" y="245"/>
                    <a:pt x="309" y="245"/>
                    <a:pt x="309" y="245"/>
                  </a:cubicBezTo>
                  <a:cubicBezTo>
                    <a:pt x="309" y="239"/>
                    <a:pt x="314" y="234"/>
                    <a:pt x="320" y="234"/>
                  </a:cubicBezTo>
                  <a:cubicBezTo>
                    <a:pt x="326" y="234"/>
                    <a:pt x="330" y="239"/>
                    <a:pt x="330" y="245"/>
                  </a:cubicBezTo>
                  <a:lnTo>
                    <a:pt x="330" y="362"/>
                  </a:lnTo>
                  <a:close/>
                  <a:moveTo>
                    <a:pt x="373" y="362"/>
                  </a:moveTo>
                  <a:cubicBezTo>
                    <a:pt x="373" y="368"/>
                    <a:pt x="368" y="373"/>
                    <a:pt x="362" y="373"/>
                  </a:cubicBezTo>
                  <a:cubicBezTo>
                    <a:pt x="356" y="373"/>
                    <a:pt x="352" y="368"/>
                    <a:pt x="352" y="362"/>
                  </a:cubicBezTo>
                  <a:cubicBezTo>
                    <a:pt x="352" y="213"/>
                    <a:pt x="352" y="213"/>
                    <a:pt x="352" y="213"/>
                  </a:cubicBezTo>
                  <a:cubicBezTo>
                    <a:pt x="352" y="207"/>
                    <a:pt x="356" y="202"/>
                    <a:pt x="362" y="202"/>
                  </a:cubicBezTo>
                  <a:cubicBezTo>
                    <a:pt x="368" y="202"/>
                    <a:pt x="373" y="207"/>
                    <a:pt x="373" y="213"/>
                  </a:cubicBezTo>
                  <a:lnTo>
                    <a:pt x="373" y="362"/>
                  </a:lnTo>
                  <a:close/>
                  <a:moveTo>
                    <a:pt x="394" y="170"/>
                  </a:moveTo>
                  <a:cubicBezTo>
                    <a:pt x="394" y="176"/>
                    <a:pt x="390" y="181"/>
                    <a:pt x="384" y="181"/>
                  </a:cubicBezTo>
                  <a:cubicBezTo>
                    <a:pt x="378" y="181"/>
                    <a:pt x="373" y="176"/>
                    <a:pt x="373" y="170"/>
                  </a:cubicBezTo>
                  <a:cubicBezTo>
                    <a:pt x="373" y="153"/>
                    <a:pt x="373" y="153"/>
                    <a:pt x="373" y="153"/>
                  </a:cubicBezTo>
                  <a:cubicBezTo>
                    <a:pt x="285" y="242"/>
                    <a:pt x="285" y="242"/>
                    <a:pt x="285" y="242"/>
                  </a:cubicBezTo>
                  <a:cubicBezTo>
                    <a:pt x="283" y="244"/>
                    <a:pt x="280" y="245"/>
                    <a:pt x="277" y="245"/>
                  </a:cubicBezTo>
                  <a:cubicBezTo>
                    <a:pt x="195" y="245"/>
                    <a:pt x="195" y="245"/>
                    <a:pt x="195" y="245"/>
                  </a:cubicBezTo>
                  <a:cubicBezTo>
                    <a:pt x="113" y="307"/>
                    <a:pt x="113" y="307"/>
                    <a:pt x="113" y="307"/>
                  </a:cubicBezTo>
                  <a:cubicBezTo>
                    <a:pt x="111" y="308"/>
                    <a:pt x="109" y="309"/>
                    <a:pt x="106" y="309"/>
                  </a:cubicBezTo>
                  <a:cubicBezTo>
                    <a:pt x="103" y="309"/>
                    <a:pt x="100" y="308"/>
                    <a:pt x="98" y="305"/>
                  </a:cubicBezTo>
                  <a:cubicBezTo>
                    <a:pt x="94" y="300"/>
                    <a:pt x="95" y="293"/>
                    <a:pt x="100" y="290"/>
                  </a:cubicBezTo>
                  <a:cubicBezTo>
                    <a:pt x="185" y="226"/>
                    <a:pt x="185" y="226"/>
                    <a:pt x="185" y="226"/>
                  </a:cubicBezTo>
                  <a:cubicBezTo>
                    <a:pt x="187" y="224"/>
                    <a:pt x="189" y="224"/>
                    <a:pt x="192" y="224"/>
                  </a:cubicBezTo>
                  <a:cubicBezTo>
                    <a:pt x="273" y="224"/>
                    <a:pt x="273" y="224"/>
                    <a:pt x="273" y="224"/>
                  </a:cubicBezTo>
                  <a:cubicBezTo>
                    <a:pt x="358" y="138"/>
                    <a:pt x="358" y="138"/>
                    <a:pt x="358" y="138"/>
                  </a:cubicBezTo>
                  <a:cubicBezTo>
                    <a:pt x="341" y="138"/>
                    <a:pt x="341" y="138"/>
                    <a:pt x="341" y="138"/>
                  </a:cubicBezTo>
                  <a:cubicBezTo>
                    <a:pt x="335" y="138"/>
                    <a:pt x="330" y="134"/>
                    <a:pt x="330" y="128"/>
                  </a:cubicBezTo>
                  <a:cubicBezTo>
                    <a:pt x="330" y="122"/>
                    <a:pt x="335" y="117"/>
                    <a:pt x="341" y="117"/>
                  </a:cubicBezTo>
                  <a:cubicBezTo>
                    <a:pt x="384" y="117"/>
                    <a:pt x="384" y="117"/>
                    <a:pt x="384" y="117"/>
                  </a:cubicBezTo>
                  <a:cubicBezTo>
                    <a:pt x="385" y="117"/>
                    <a:pt x="386" y="117"/>
                    <a:pt x="388" y="118"/>
                  </a:cubicBezTo>
                  <a:cubicBezTo>
                    <a:pt x="390" y="119"/>
                    <a:pt x="392" y="121"/>
                    <a:pt x="394" y="124"/>
                  </a:cubicBezTo>
                  <a:cubicBezTo>
                    <a:pt x="394" y="125"/>
                    <a:pt x="394" y="126"/>
                    <a:pt x="394" y="128"/>
                  </a:cubicBezTo>
                  <a:lnTo>
                    <a:pt x="394" y="170"/>
                  </a:lnTo>
                  <a:close/>
                </a:path>
              </a:pathLst>
            </a:custGeom>
            <a:solidFill>
              <a:srgbClr val="007680"/>
            </a:solidFill>
            <a:ln>
              <a:noFill/>
            </a:ln>
          </p:spPr>
          <p:txBody>
            <a:bodyPr vert="horz" wrap="square" lIns="91440" tIns="45720" rIns="91440" bIns="45720" numCol="1" anchor="t" anchorCtr="0" compatLnSpc="1">
              <a:prstTxWarp prst="textNoShape">
                <a:avLst/>
              </a:prstTxWarp>
            </a:bodyPr>
            <a:lstStyle/>
            <a:p>
              <a:endParaRPr lang="en-GB" sz="1600"/>
            </a:p>
          </p:txBody>
        </p:sp>
        <p:sp>
          <p:nvSpPr>
            <p:cNvPr id="87" name="Freeform 331"/>
            <p:cNvSpPr>
              <a:spLocks noChangeAspect="1" noEditPoints="1"/>
            </p:cNvSpPr>
            <p:nvPr/>
          </p:nvSpPr>
          <p:spPr bwMode="auto">
            <a:xfrm>
              <a:off x="4656575" y="1030663"/>
              <a:ext cx="241488" cy="242198"/>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97 w 512"/>
                <a:gd name="T11" fmla="*/ 175 h 512"/>
                <a:gd name="T12" fmla="*/ 389 w 512"/>
                <a:gd name="T13" fmla="*/ 178 h 512"/>
                <a:gd name="T14" fmla="*/ 382 w 512"/>
                <a:gd name="T15" fmla="*/ 175 h 512"/>
                <a:gd name="T16" fmla="*/ 367 w 512"/>
                <a:gd name="T17" fmla="*/ 160 h 512"/>
                <a:gd name="T18" fmla="*/ 350 w 512"/>
                <a:gd name="T19" fmla="*/ 176 h 512"/>
                <a:gd name="T20" fmla="*/ 394 w 512"/>
                <a:gd name="T21" fmla="*/ 277 h 512"/>
                <a:gd name="T22" fmla="*/ 256 w 512"/>
                <a:gd name="T23" fmla="*/ 416 h 512"/>
                <a:gd name="T24" fmla="*/ 117 w 512"/>
                <a:gd name="T25" fmla="*/ 277 h 512"/>
                <a:gd name="T26" fmla="*/ 245 w 512"/>
                <a:gd name="T27" fmla="*/ 139 h 512"/>
                <a:gd name="T28" fmla="*/ 245 w 512"/>
                <a:gd name="T29" fmla="*/ 117 h 512"/>
                <a:gd name="T30" fmla="*/ 224 w 512"/>
                <a:gd name="T31" fmla="*/ 117 h 512"/>
                <a:gd name="T32" fmla="*/ 213 w 512"/>
                <a:gd name="T33" fmla="*/ 106 h 512"/>
                <a:gd name="T34" fmla="*/ 224 w 512"/>
                <a:gd name="T35" fmla="*/ 96 h 512"/>
                <a:gd name="T36" fmla="*/ 288 w 512"/>
                <a:gd name="T37" fmla="*/ 96 h 512"/>
                <a:gd name="T38" fmla="*/ 298 w 512"/>
                <a:gd name="T39" fmla="*/ 106 h 512"/>
                <a:gd name="T40" fmla="*/ 288 w 512"/>
                <a:gd name="T41" fmla="*/ 117 h 512"/>
                <a:gd name="T42" fmla="*/ 266 w 512"/>
                <a:gd name="T43" fmla="*/ 117 h 512"/>
                <a:gd name="T44" fmla="*/ 266 w 512"/>
                <a:gd name="T45" fmla="*/ 139 h 512"/>
                <a:gd name="T46" fmla="*/ 334 w 512"/>
                <a:gd name="T47" fmla="*/ 163 h 512"/>
                <a:gd name="T48" fmla="*/ 352 w 512"/>
                <a:gd name="T49" fmla="*/ 145 h 512"/>
                <a:gd name="T50" fmla="*/ 337 w 512"/>
                <a:gd name="T51" fmla="*/ 129 h 512"/>
                <a:gd name="T52" fmla="*/ 337 w 512"/>
                <a:gd name="T53" fmla="*/ 114 h 512"/>
                <a:gd name="T54" fmla="*/ 352 w 512"/>
                <a:gd name="T55" fmla="*/ 114 h 512"/>
                <a:gd name="T56" fmla="*/ 397 w 512"/>
                <a:gd name="T57" fmla="*/ 160 h 512"/>
                <a:gd name="T58" fmla="*/ 397 w 512"/>
                <a:gd name="T59" fmla="*/ 175 h 512"/>
                <a:gd name="T60" fmla="*/ 256 w 512"/>
                <a:gd name="T61" fmla="*/ 160 h 512"/>
                <a:gd name="T62" fmla="*/ 138 w 512"/>
                <a:gd name="T63" fmla="*/ 277 h 512"/>
                <a:gd name="T64" fmla="*/ 256 w 512"/>
                <a:gd name="T65" fmla="*/ 394 h 512"/>
                <a:gd name="T66" fmla="*/ 373 w 512"/>
                <a:gd name="T67" fmla="*/ 277 h 512"/>
                <a:gd name="T68" fmla="*/ 256 w 512"/>
                <a:gd name="T69" fmla="*/ 160 h 512"/>
                <a:gd name="T70" fmla="*/ 266 w 512"/>
                <a:gd name="T71" fmla="*/ 277 h 512"/>
                <a:gd name="T72" fmla="*/ 256 w 512"/>
                <a:gd name="T73" fmla="*/ 288 h 512"/>
                <a:gd name="T74" fmla="*/ 245 w 512"/>
                <a:gd name="T75" fmla="*/ 277 h 512"/>
                <a:gd name="T76" fmla="*/ 245 w 512"/>
                <a:gd name="T77" fmla="*/ 202 h 512"/>
                <a:gd name="T78" fmla="*/ 256 w 512"/>
                <a:gd name="T79" fmla="*/ 192 h 512"/>
                <a:gd name="T80" fmla="*/ 266 w 512"/>
                <a:gd name="T81" fmla="*/ 202 h 512"/>
                <a:gd name="T82" fmla="*/ 266 w 512"/>
                <a:gd name="T83" fmla="*/ 27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97" y="175"/>
                  </a:moveTo>
                  <a:cubicBezTo>
                    <a:pt x="395" y="177"/>
                    <a:pt x="392" y="178"/>
                    <a:pt x="389" y="178"/>
                  </a:cubicBezTo>
                  <a:cubicBezTo>
                    <a:pt x="387" y="178"/>
                    <a:pt x="384" y="177"/>
                    <a:pt x="382" y="175"/>
                  </a:cubicBezTo>
                  <a:cubicBezTo>
                    <a:pt x="367" y="160"/>
                    <a:pt x="367" y="160"/>
                    <a:pt x="367" y="160"/>
                  </a:cubicBezTo>
                  <a:cubicBezTo>
                    <a:pt x="350" y="176"/>
                    <a:pt x="350" y="176"/>
                    <a:pt x="350" y="176"/>
                  </a:cubicBezTo>
                  <a:cubicBezTo>
                    <a:pt x="377" y="201"/>
                    <a:pt x="394" y="237"/>
                    <a:pt x="394" y="277"/>
                  </a:cubicBezTo>
                  <a:cubicBezTo>
                    <a:pt x="394" y="353"/>
                    <a:pt x="332" y="416"/>
                    <a:pt x="256" y="416"/>
                  </a:cubicBezTo>
                  <a:cubicBezTo>
                    <a:pt x="179" y="416"/>
                    <a:pt x="117" y="353"/>
                    <a:pt x="117" y="277"/>
                  </a:cubicBezTo>
                  <a:cubicBezTo>
                    <a:pt x="117" y="204"/>
                    <a:pt x="174" y="144"/>
                    <a:pt x="245" y="139"/>
                  </a:cubicBezTo>
                  <a:cubicBezTo>
                    <a:pt x="245" y="117"/>
                    <a:pt x="245" y="117"/>
                    <a:pt x="245" y="117"/>
                  </a:cubicBezTo>
                  <a:cubicBezTo>
                    <a:pt x="224" y="117"/>
                    <a:pt x="224" y="117"/>
                    <a:pt x="224" y="117"/>
                  </a:cubicBezTo>
                  <a:cubicBezTo>
                    <a:pt x="218" y="117"/>
                    <a:pt x="213" y="112"/>
                    <a:pt x="213" y="106"/>
                  </a:cubicBezTo>
                  <a:cubicBezTo>
                    <a:pt x="213" y="100"/>
                    <a:pt x="218" y="96"/>
                    <a:pt x="224" y="96"/>
                  </a:cubicBezTo>
                  <a:cubicBezTo>
                    <a:pt x="288" y="96"/>
                    <a:pt x="288" y="96"/>
                    <a:pt x="288" y="96"/>
                  </a:cubicBezTo>
                  <a:cubicBezTo>
                    <a:pt x="294" y="96"/>
                    <a:pt x="298" y="100"/>
                    <a:pt x="298" y="106"/>
                  </a:cubicBezTo>
                  <a:cubicBezTo>
                    <a:pt x="298" y="112"/>
                    <a:pt x="294" y="117"/>
                    <a:pt x="288" y="117"/>
                  </a:cubicBezTo>
                  <a:cubicBezTo>
                    <a:pt x="266" y="117"/>
                    <a:pt x="266" y="117"/>
                    <a:pt x="266" y="117"/>
                  </a:cubicBezTo>
                  <a:cubicBezTo>
                    <a:pt x="266" y="139"/>
                    <a:pt x="266" y="139"/>
                    <a:pt x="266" y="139"/>
                  </a:cubicBezTo>
                  <a:cubicBezTo>
                    <a:pt x="291" y="141"/>
                    <a:pt x="314" y="149"/>
                    <a:pt x="334" y="163"/>
                  </a:cubicBezTo>
                  <a:cubicBezTo>
                    <a:pt x="352" y="145"/>
                    <a:pt x="352" y="145"/>
                    <a:pt x="352" y="145"/>
                  </a:cubicBezTo>
                  <a:cubicBezTo>
                    <a:pt x="337" y="129"/>
                    <a:pt x="337" y="129"/>
                    <a:pt x="337" y="129"/>
                  </a:cubicBezTo>
                  <a:cubicBezTo>
                    <a:pt x="332" y="125"/>
                    <a:pt x="332" y="119"/>
                    <a:pt x="337" y="114"/>
                  </a:cubicBezTo>
                  <a:cubicBezTo>
                    <a:pt x="341" y="110"/>
                    <a:pt x="348" y="110"/>
                    <a:pt x="352" y="114"/>
                  </a:cubicBezTo>
                  <a:cubicBezTo>
                    <a:pt x="397" y="160"/>
                    <a:pt x="397" y="160"/>
                    <a:pt x="397" y="160"/>
                  </a:cubicBezTo>
                  <a:cubicBezTo>
                    <a:pt x="401" y="164"/>
                    <a:pt x="401" y="171"/>
                    <a:pt x="397" y="175"/>
                  </a:cubicBezTo>
                  <a:close/>
                  <a:moveTo>
                    <a:pt x="256" y="160"/>
                  </a:moveTo>
                  <a:cubicBezTo>
                    <a:pt x="191" y="160"/>
                    <a:pt x="138" y="212"/>
                    <a:pt x="138" y="277"/>
                  </a:cubicBezTo>
                  <a:cubicBezTo>
                    <a:pt x="138" y="342"/>
                    <a:pt x="191" y="394"/>
                    <a:pt x="256" y="394"/>
                  </a:cubicBezTo>
                  <a:cubicBezTo>
                    <a:pt x="320" y="394"/>
                    <a:pt x="373" y="342"/>
                    <a:pt x="373" y="277"/>
                  </a:cubicBezTo>
                  <a:cubicBezTo>
                    <a:pt x="373" y="212"/>
                    <a:pt x="320" y="160"/>
                    <a:pt x="256" y="160"/>
                  </a:cubicBezTo>
                  <a:close/>
                  <a:moveTo>
                    <a:pt x="266" y="277"/>
                  </a:moveTo>
                  <a:cubicBezTo>
                    <a:pt x="266" y="283"/>
                    <a:pt x="262" y="288"/>
                    <a:pt x="256" y="288"/>
                  </a:cubicBezTo>
                  <a:cubicBezTo>
                    <a:pt x="250" y="288"/>
                    <a:pt x="245" y="283"/>
                    <a:pt x="245" y="277"/>
                  </a:cubicBezTo>
                  <a:cubicBezTo>
                    <a:pt x="245" y="202"/>
                    <a:pt x="245" y="202"/>
                    <a:pt x="245" y="202"/>
                  </a:cubicBezTo>
                  <a:cubicBezTo>
                    <a:pt x="245" y="196"/>
                    <a:pt x="250" y="192"/>
                    <a:pt x="256" y="192"/>
                  </a:cubicBezTo>
                  <a:cubicBezTo>
                    <a:pt x="262" y="192"/>
                    <a:pt x="266" y="196"/>
                    <a:pt x="266" y="202"/>
                  </a:cubicBezTo>
                  <a:lnTo>
                    <a:pt x="266" y="277"/>
                  </a:lnTo>
                  <a:close/>
                </a:path>
              </a:pathLst>
            </a:custGeom>
            <a:solidFill>
              <a:srgbClr val="005587"/>
            </a:solidFill>
            <a:ln>
              <a:noFill/>
            </a:ln>
          </p:spPr>
          <p:txBody>
            <a:bodyPr vert="horz" wrap="square" lIns="91440" tIns="45720" rIns="91440" bIns="45720" numCol="1" anchor="t" anchorCtr="0" compatLnSpc="1">
              <a:prstTxWarp prst="textNoShape">
                <a:avLst/>
              </a:prstTxWarp>
            </a:bodyPr>
            <a:lstStyle/>
            <a:p>
              <a:endParaRPr lang="en-GB" sz="1600"/>
            </a:p>
          </p:txBody>
        </p:sp>
        <p:sp>
          <p:nvSpPr>
            <p:cNvPr id="88" name="Freeform 249"/>
            <p:cNvSpPr>
              <a:spLocks noChangeAspect="1" noEditPoints="1"/>
            </p:cNvSpPr>
            <p:nvPr/>
          </p:nvSpPr>
          <p:spPr bwMode="auto">
            <a:xfrm>
              <a:off x="3685040" y="1015480"/>
              <a:ext cx="247719" cy="247719"/>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371 w 512"/>
                <a:gd name="T13" fmla="*/ 266 h 512"/>
                <a:gd name="T14" fmla="*/ 362 w 512"/>
                <a:gd name="T15" fmla="*/ 301 h 512"/>
                <a:gd name="T16" fmla="*/ 352 w 512"/>
                <a:gd name="T17" fmla="*/ 309 h 512"/>
                <a:gd name="T18" fmla="*/ 342 w 512"/>
                <a:gd name="T19" fmla="*/ 302 h 512"/>
                <a:gd name="T20" fmla="*/ 322 w 512"/>
                <a:gd name="T21" fmla="*/ 243 h 512"/>
                <a:gd name="T22" fmla="*/ 287 w 512"/>
                <a:gd name="T23" fmla="*/ 407 h 512"/>
                <a:gd name="T24" fmla="*/ 277 w 512"/>
                <a:gd name="T25" fmla="*/ 416 h 512"/>
                <a:gd name="T26" fmla="*/ 277 w 512"/>
                <a:gd name="T27" fmla="*/ 416 h 512"/>
                <a:gd name="T28" fmla="*/ 267 w 512"/>
                <a:gd name="T29" fmla="*/ 407 h 512"/>
                <a:gd name="T30" fmla="*/ 222 w 512"/>
                <a:gd name="T31" fmla="*/ 159 h 512"/>
                <a:gd name="T32" fmla="*/ 191 w 512"/>
                <a:gd name="T33" fmla="*/ 290 h 512"/>
                <a:gd name="T34" fmla="*/ 181 w 512"/>
                <a:gd name="T35" fmla="*/ 298 h 512"/>
                <a:gd name="T36" fmla="*/ 171 w 512"/>
                <a:gd name="T37" fmla="*/ 291 h 512"/>
                <a:gd name="T38" fmla="*/ 156 w 512"/>
                <a:gd name="T39" fmla="*/ 248 h 512"/>
                <a:gd name="T40" fmla="*/ 147 w 512"/>
                <a:gd name="T41" fmla="*/ 262 h 512"/>
                <a:gd name="T42" fmla="*/ 138 w 512"/>
                <a:gd name="T43" fmla="*/ 266 h 512"/>
                <a:gd name="T44" fmla="*/ 106 w 512"/>
                <a:gd name="T45" fmla="*/ 266 h 512"/>
                <a:gd name="T46" fmla="*/ 96 w 512"/>
                <a:gd name="T47" fmla="*/ 256 h 512"/>
                <a:gd name="T48" fmla="*/ 106 w 512"/>
                <a:gd name="T49" fmla="*/ 245 h 512"/>
                <a:gd name="T50" fmla="*/ 133 w 512"/>
                <a:gd name="T51" fmla="*/ 245 h 512"/>
                <a:gd name="T52" fmla="*/ 151 w 512"/>
                <a:gd name="T53" fmla="*/ 218 h 512"/>
                <a:gd name="T54" fmla="*/ 161 w 512"/>
                <a:gd name="T55" fmla="*/ 213 h 512"/>
                <a:gd name="T56" fmla="*/ 170 w 512"/>
                <a:gd name="T57" fmla="*/ 220 h 512"/>
                <a:gd name="T58" fmla="*/ 179 w 512"/>
                <a:gd name="T59" fmla="*/ 249 h 512"/>
                <a:gd name="T60" fmla="*/ 213 w 512"/>
                <a:gd name="T61" fmla="*/ 104 h 512"/>
                <a:gd name="T62" fmla="*/ 224 w 512"/>
                <a:gd name="T63" fmla="*/ 96 h 512"/>
                <a:gd name="T64" fmla="*/ 234 w 512"/>
                <a:gd name="T65" fmla="*/ 104 h 512"/>
                <a:gd name="T66" fmla="*/ 278 w 512"/>
                <a:gd name="T67" fmla="*/ 349 h 512"/>
                <a:gd name="T68" fmla="*/ 309 w 512"/>
                <a:gd name="T69" fmla="*/ 200 h 512"/>
                <a:gd name="T70" fmla="*/ 319 w 512"/>
                <a:gd name="T71" fmla="*/ 192 h 512"/>
                <a:gd name="T72" fmla="*/ 330 w 512"/>
                <a:gd name="T73" fmla="*/ 199 h 512"/>
                <a:gd name="T74" fmla="*/ 350 w 512"/>
                <a:gd name="T75" fmla="*/ 260 h 512"/>
                <a:gd name="T76" fmla="*/ 352 w 512"/>
                <a:gd name="T77" fmla="*/ 253 h 512"/>
                <a:gd name="T78" fmla="*/ 362 w 512"/>
                <a:gd name="T79" fmla="*/ 245 h 512"/>
                <a:gd name="T80" fmla="*/ 405 w 512"/>
                <a:gd name="T81" fmla="*/ 245 h 512"/>
                <a:gd name="T82" fmla="*/ 416 w 512"/>
                <a:gd name="T83" fmla="*/ 256 h 512"/>
                <a:gd name="T84" fmla="*/ 405 w 512"/>
                <a:gd name="T85"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371" y="266"/>
                    <a:pt x="371" y="266"/>
                    <a:pt x="371" y="266"/>
                  </a:cubicBezTo>
                  <a:cubicBezTo>
                    <a:pt x="362" y="301"/>
                    <a:pt x="362" y="301"/>
                    <a:pt x="362" y="301"/>
                  </a:cubicBezTo>
                  <a:cubicBezTo>
                    <a:pt x="361" y="306"/>
                    <a:pt x="357" y="309"/>
                    <a:pt x="352" y="309"/>
                  </a:cubicBezTo>
                  <a:cubicBezTo>
                    <a:pt x="347" y="309"/>
                    <a:pt x="343" y="306"/>
                    <a:pt x="342" y="302"/>
                  </a:cubicBezTo>
                  <a:cubicBezTo>
                    <a:pt x="322" y="243"/>
                    <a:pt x="322" y="243"/>
                    <a:pt x="322" y="243"/>
                  </a:cubicBezTo>
                  <a:cubicBezTo>
                    <a:pt x="287" y="407"/>
                    <a:pt x="287" y="407"/>
                    <a:pt x="287" y="407"/>
                  </a:cubicBezTo>
                  <a:cubicBezTo>
                    <a:pt x="286" y="412"/>
                    <a:pt x="282" y="416"/>
                    <a:pt x="277" y="416"/>
                  </a:cubicBezTo>
                  <a:cubicBezTo>
                    <a:pt x="277" y="416"/>
                    <a:pt x="277" y="416"/>
                    <a:pt x="277" y="416"/>
                  </a:cubicBezTo>
                  <a:cubicBezTo>
                    <a:pt x="272" y="416"/>
                    <a:pt x="267" y="412"/>
                    <a:pt x="267" y="407"/>
                  </a:cubicBezTo>
                  <a:cubicBezTo>
                    <a:pt x="222" y="159"/>
                    <a:pt x="222" y="159"/>
                    <a:pt x="222" y="159"/>
                  </a:cubicBezTo>
                  <a:cubicBezTo>
                    <a:pt x="191" y="290"/>
                    <a:pt x="191" y="290"/>
                    <a:pt x="191" y="290"/>
                  </a:cubicBezTo>
                  <a:cubicBezTo>
                    <a:pt x="190" y="295"/>
                    <a:pt x="186" y="298"/>
                    <a:pt x="181" y="298"/>
                  </a:cubicBezTo>
                  <a:cubicBezTo>
                    <a:pt x="177" y="299"/>
                    <a:pt x="172" y="296"/>
                    <a:pt x="171" y="291"/>
                  </a:cubicBezTo>
                  <a:cubicBezTo>
                    <a:pt x="156" y="248"/>
                    <a:pt x="156" y="248"/>
                    <a:pt x="156" y="248"/>
                  </a:cubicBezTo>
                  <a:cubicBezTo>
                    <a:pt x="147" y="262"/>
                    <a:pt x="147" y="262"/>
                    <a:pt x="147" y="262"/>
                  </a:cubicBezTo>
                  <a:cubicBezTo>
                    <a:pt x="145" y="265"/>
                    <a:pt x="142" y="266"/>
                    <a:pt x="138" y="266"/>
                  </a:cubicBezTo>
                  <a:cubicBezTo>
                    <a:pt x="106" y="266"/>
                    <a:pt x="106" y="266"/>
                    <a:pt x="106" y="266"/>
                  </a:cubicBezTo>
                  <a:cubicBezTo>
                    <a:pt x="100" y="266"/>
                    <a:pt x="96" y="262"/>
                    <a:pt x="96" y="256"/>
                  </a:cubicBezTo>
                  <a:cubicBezTo>
                    <a:pt x="96" y="250"/>
                    <a:pt x="100" y="245"/>
                    <a:pt x="106" y="245"/>
                  </a:cubicBezTo>
                  <a:cubicBezTo>
                    <a:pt x="133" y="245"/>
                    <a:pt x="133" y="245"/>
                    <a:pt x="133" y="245"/>
                  </a:cubicBezTo>
                  <a:cubicBezTo>
                    <a:pt x="151" y="218"/>
                    <a:pt x="151" y="218"/>
                    <a:pt x="151" y="218"/>
                  </a:cubicBezTo>
                  <a:cubicBezTo>
                    <a:pt x="153" y="214"/>
                    <a:pt x="157" y="213"/>
                    <a:pt x="161" y="213"/>
                  </a:cubicBezTo>
                  <a:cubicBezTo>
                    <a:pt x="165" y="214"/>
                    <a:pt x="168" y="216"/>
                    <a:pt x="170" y="220"/>
                  </a:cubicBezTo>
                  <a:cubicBezTo>
                    <a:pt x="179" y="249"/>
                    <a:pt x="179" y="249"/>
                    <a:pt x="179" y="249"/>
                  </a:cubicBezTo>
                  <a:cubicBezTo>
                    <a:pt x="213" y="104"/>
                    <a:pt x="213" y="104"/>
                    <a:pt x="213" y="104"/>
                  </a:cubicBezTo>
                  <a:cubicBezTo>
                    <a:pt x="214" y="99"/>
                    <a:pt x="219" y="96"/>
                    <a:pt x="224" y="96"/>
                  </a:cubicBezTo>
                  <a:cubicBezTo>
                    <a:pt x="229" y="96"/>
                    <a:pt x="233" y="99"/>
                    <a:pt x="234" y="104"/>
                  </a:cubicBezTo>
                  <a:cubicBezTo>
                    <a:pt x="278" y="349"/>
                    <a:pt x="278" y="349"/>
                    <a:pt x="278" y="349"/>
                  </a:cubicBezTo>
                  <a:cubicBezTo>
                    <a:pt x="309" y="200"/>
                    <a:pt x="309" y="200"/>
                    <a:pt x="309" y="200"/>
                  </a:cubicBezTo>
                  <a:cubicBezTo>
                    <a:pt x="310" y="195"/>
                    <a:pt x="314" y="192"/>
                    <a:pt x="319" y="192"/>
                  </a:cubicBezTo>
                  <a:cubicBezTo>
                    <a:pt x="324" y="191"/>
                    <a:pt x="328" y="194"/>
                    <a:pt x="330" y="199"/>
                  </a:cubicBezTo>
                  <a:cubicBezTo>
                    <a:pt x="350" y="260"/>
                    <a:pt x="350" y="260"/>
                    <a:pt x="350" y="260"/>
                  </a:cubicBezTo>
                  <a:cubicBezTo>
                    <a:pt x="352" y="253"/>
                    <a:pt x="352" y="253"/>
                    <a:pt x="352" y="253"/>
                  </a:cubicBezTo>
                  <a:cubicBezTo>
                    <a:pt x="353" y="248"/>
                    <a:pt x="357" y="245"/>
                    <a:pt x="362" y="245"/>
                  </a:cubicBezTo>
                  <a:cubicBezTo>
                    <a:pt x="405" y="245"/>
                    <a:pt x="405" y="245"/>
                    <a:pt x="405" y="245"/>
                  </a:cubicBezTo>
                  <a:cubicBezTo>
                    <a:pt x="411" y="245"/>
                    <a:pt x="416" y="250"/>
                    <a:pt x="416" y="256"/>
                  </a:cubicBezTo>
                  <a:cubicBezTo>
                    <a:pt x="416" y="262"/>
                    <a:pt x="411" y="266"/>
                    <a:pt x="405" y="266"/>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GB" sz="1600"/>
            </a:p>
          </p:txBody>
        </p:sp>
        <p:sp>
          <p:nvSpPr>
            <p:cNvPr id="89" name="Freeform 796"/>
            <p:cNvSpPr>
              <a:spLocks noChangeAspect="1" noEditPoints="1"/>
            </p:cNvSpPr>
            <p:nvPr/>
          </p:nvSpPr>
          <p:spPr bwMode="auto">
            <a:xfrm>
              <a:off x="2878005" y="1020955"/>
              <a:ext cx="241958" cy="24267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94 w 512"/>
                <a:gd name="T11" fmla="*/ 384 h 512"/>
                <a:gd name="T12" fmla="*/ 384 w 512"/>
                <a:gd name="T13" fmla="*/ 394 h 512"/>
                <a:gd name="T14" fmla="*/ 128 w 512"/>
                <a:gd name="T15" fmla="*/ 394 h 512"/>
                <a:gd name="T16" fmla="*/ 117 w 512"/>
                <a:gd name="T17" fmla="*/ 384 h 512"/>
                <a:gd name="T18" fmla="*/ 117 w 512"/>
                <a:gd name="T19" fmla="*/ 128 h 512"/>
                <a:gd name="T20" fmla="*/ 128 w 512"/>
                <a:gd name="T21" fmla="*/ 117 h 512"/>
                <a:gd name="T22" fmla="*/ 181 w 512"/>
                <a:gd name="T23" fmla="*/ 117 h 512"/>
                <a:gd name="T24" fmla="*/ 181 w 512"/>
                <a:gd name="T25" fmla="*/ 106 h 512"/>
                <a:gd name="T26" fmla="*/ 192 w 512"/>
                <a:gd name="T27" fmla="*/ 96 h 512"/>
                <a:gd name="T28" fmla="*/ 202 w 512"/>
                <a:gd name="T29" fmla="*/ 106 h 512"/>
                <a:gd name="T30" fmla="*/ 202 w 512"/>
                <a:gd name="T31" fmla="*/ 117 h 512"/>
                <a:gd name="T32" fmla="*/ 309 w 512"/>
                <a:gd name="T33" fmla="*/ 117 h 512"/>
                <a:gd name="T34" fmla="*/ 309 w 512"/>
                <a:gd name="T35" fmla="*/ 106 h 512"/>
                <a:gd name="T36" fmla="*/ 320 w 512"/>
                <a:gd name="T37" fmla="*/ 96 h 512"/>
                <a:gd name="T38" fmla="*/ 330 w 512"/>
                <a:gd name="T39" fmla="*/ 106 h 512"/>
                <a:gd name="T40" fmla="*/ 330 w 512"/>
                <a:gd name="T41" fmla="*/ 117 h 512"/>
                <a:gd name="T42" fmla="*/ 384 w 512"/>
                <a:gd name="T43" fmla="*/ 117 h 512"/>
                <a:gd name="T44" fmla="*/ 394 w 512"/>
                <a:gd name="T45" fmla="*/ 128 h 512"/>
                <a:gd name="T46" fmla="*/ 394 w 512"/>
                <a:gd name="T47" fmla="*/ 384 h 512"/>
                <a:gd name="T48" fmla="*/ 330 w 512"/>
                <a:gd name="T49" fmla="*/ 149 h 512"/>
                <a:gd name="T50" fmla="*/ 320 w 512"/>
                <a:gd name="T51" fmla="*/ 160 h 512"/>
                <a:gd name="T52" fmla="*/ 309 w 512"/>
                <a:gd name="T53" fmla="*/ 149 h 512"/>
                <a:gd name="T54" fmla="*/ 309 w 512"/>
                <a:gd name="T55" fmla="*/ 138 h 512"/>
                <a:gd name="T56" fmla="*/ 202 w 512"/>
                <a:gd name="T57" fmla="*/ 138 h 512"/>
                <a:gd name="T58" fmla="*/ 202 w 512"/>
                <a:gd name="T59" fmla="*/ 149 h 512"/>
                <a:gd name="T60" fmla="*/ 192 w 512"/>
                <a:gd name="T61" fmla="*/ 160 h 512"/>
                <a:gd name="T62" fmla="*/ 181 w 512"/>
                <a:gd name="T63" fmla="*/ 149 h 512"/>
                <a:gd name="T64" fmla="*/ 181 w 512"/>
                <a:gd name="T65" fmla="*/ 138 h 512"/>
                <a:gd name="T66" fmla="*/ 138 w 512"/>
                <a:gd name="T67" fmla="*/ 138 h 512"/>
                <a:gd name="T68" fmla="*/ 138 w 512"/>
                <a:gd name="T69" fmla="*/ 373 h 512"/>
                <a:gd name="T70" fmla="*/ 373 w 512"/>
                <a:gd name="T71" fmla="*/ 373 h 512"/>
                <a:gd name="T72" fmla="*/ 373 w 512"/>
                <a:gd name="T73" fmla="*/ 138 h 512"/>
                <a:gd name="T74" fmla="*/ 330 w 512"/>
                <a:gd name="T75" fmla="*/ 138 h 512"/>
                <a:gd name="T76" fmla="*/ 330 w 512"/>
                <a:gd name="T77" fmla="*/ 149 h 512"/>
                <a:gd name="T78" fmla="*/ 327 w 512"/>
                <a:gd name="T79" fmla="*/ 221 h 512"/>
                <a:gd name="T80" fmla="*/ 242 w 512"/>
                <a:gd name="T81" fmla="*/ 306 h 512"/>
                <a:gd name="T82" fmla="*/ 234 w 512"/>
                <a:gd name="T83" fmla="*/ 309 h 512"/>
                <a:gd name="T84" fmla="*/ 227 w 512"/>
                <a:gd name="T85" fmla="*/ 306 h 512"/>
                <a:gd name="T86" fmla="*/ 184 w 512"/>
                <a:gd name="T87" fmla="*/ 263 h 512"/>
                <a:gd name="T88" fmla="*/ 184 w 512"/>
                <a:gd name="T89" fmla="*/ 248 h 512"/>
                <a:gd name="T90" fmla="*/ 199 w 512"/>
                <a:gd name="T91" fmla="*/ 248 h 512"/>
                <a:gd name="T92" fmla="*/ 234 w 512"/>
                <a:gd name="T93" fmla="*/ 283 h 512"/>
                <a:gd name="T94" fmla="*/ 312 w 512"/>
                <a:gd name="T95" fmla="*/ 205 h 512"/>
                <a:gd name="T96" fmla="*/ 327 w 512"/>
                <a:gd name="T97" fmla="*/ 205 h 512"/>
                <a:gd name="T98" fmla="*/ 327 w 512"/>
                <a:gd name="T99" fmla="*/ 22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94" y="384"/>
                  </a:moveTo>
                  <a:cubicBezTo>
                    <a:pt x="394" y="390"/>
                    <a:pt x="390" y="394"/>
                    <a:pt x="384" y="394"/>
                  </a:cubicBezTo>
                  <a:cubicBezTo>
                    <a:pt x="128" y="394"/>
                    <a:pt x="128" y="394"/>
                    <a:pt x="128" y="394"/>
                  </a:cubicBezTo>
                  <a:cubicBezTo>
                    <a:pt x="122" y="394"/>
                    <a:pt x="117" y="390"/>
                    <a:pt x="117" y="384"/>
                  </a:cubicBezTo>
                  <a:cubicBezTo>
                    <a:pt x="117" y="128"/>
                    <a:pt x="117" y="128"/>
                    <a:pt x="117" y="128"/>
                  </a:cubicBezTo>
                  <a:cubicBezTo>
                    <a:pt x="117" y="122"/>
                    <a:pt x="122" y="117"/>
                    <a:pt x="128" y="117"/>
                  </a:cubicBezTo>
                  <a:cubicBezTo>
                    <a:pt x="181" y="117"/>
                    <a:pt x="181" y="117"/>
                    <a:pt x="181" y="117"/>
                  </a:cubicBezTo>
                  <a:cubicBezTo>
                    <a:pt x="181" y="106"/>
                    <a:pt x="181" y="106"/>
                    <a:pt x="181" y="106"/>
                  </a:cubicBezTo>
                  <a:cubicBezTo>
                    <a:pt x="181" y="100"/>
                    <a:pt x="186" y="96"/>
                    <a:pt x="192" y="96"/>
                  </a:cubicBezTo>
                  <a:cubicBezTo>
                    <a:pt x="198" y="96"/>
                    <a:pt x="202" y="100"/>
                    <a:pt x="202" y="106"/>
                  </a:cubicBezTo>
                  <a:cubicBezTo>
                    <a:pt x="202" y="117"/>
                    <a:pt x="202" y="117"/>
                    <a:pt x="202" y="117"/>
                  </a:cubicBezTo>
                  <a:cubicBezTo>
                    <a:pt x="309" y="117"/>
                    <a:pt x="309" y="117"/>
                    <a:pt x="309" y="117"/>
                  </a:cubicBezTo>
                  <a:cubicBezTo>
                    <a:pt x="309" y="106"/>
                    <a:pt x="309" y="106"/>
                    <a:pt x="309" y="106"/>
                  </a:cubicBezTo>
                  <a:cubicBezTo>
                    <a:pt x="309" y="100"/>
                    <a:pt x="314" y="96"/>
                    <a:pt x="320" y="96"/>
                  </a:cubicBezTo>
                  <a:cubicBezTo>
                    <a:pt x="326" y="96"/>
                    <a:pt x="330" y="100"/>
                    <a:pt x="330" y="106"/>
                  </a:cubicBezTo>
                  <a:cubicBezTo>
                    <a:pt x="330" y="117"/>
                    <a:pt x="330" y="117"/>
                    <a:pt x="330" y="117"/>
                  </a:cubicBezTo>
                  <a:cubicBezTo>
                    <a:pt x="384" y="117"/>
                    <a:pt x="384" y="117"/>
                    <a:pt x="384" y="117"/>
                  </a:cubicBezTo>
                  <a:cubicBezTo>
                    <a:pt x="390" y="117"/>
                    <a:pt x="394" y="122"/>
                    <a:pt x="394" y="128"/>
                  </a:cubicBezTo>
                  <a:lnTo>
                    <a:pt x="394" y="384"/>
                  </a:lnTo>
                  <a:close/>
                  <a:moveTo>
                    <a:pt x="330" y="149"/>
                  </a:moveTo>
                  <a:cubicBezTo>
                    <a:pt x="330" y="155"/>
                    <a:pt x="326" y="160"/>
                    <a:pt x="320" y="160"/>
                  </a:cubicBezTo>
                  <a:cubicBezTo>
                    <a:pt x="314" y="160"/>
                    <a:pt x="309" y="155"/>
                    <a:pt x="309" y="149"/>
                  </a:cubicBezTo>
                  <a:cubicBezTo>
                    <a:pt x="309" y="138"/>
                    <a:pt x="309" y="138"/>
                    <a:pt x="309" y="138"/>
                  </a:cubicBezTo>
                  <a:cubicBezTo>
                    <a:pt x="202" y="138"/>
                    <a:pt x="202" y="138"/>
                    <a:pt x="202" y="138"/>
                  </a:cubicBezTo>
                  <a:cubicBezTo>
                    <a:pt x="202" y="149"/>
                    <a:pt x="202" y="149"/>
                    <a:pt x="202" y="149"/>
                  </a:cubicBezTo>
                  <a:cubicBezTo>
                    <a:pt x="202" y="155"/>
                    <a:pt x="198" y="160"/>
                    <a:pt x="192" y="160"/>
                  </a:cubicBezTo>
                  <a:cubicBezTo>
                    <a:pt x="186" y="160"/>
                    <a:pt x="181" y="155"/>
                    <a:pt x="181" y="149"/>
                  </a:cubicBezTo>
                  <a:cubicBezTo>
                    <a:pt x="181" y="138"/>
                    <a:pt x="181" y="138"/>
                    <a:pt x="181" y="138"/>
                  </a:cubicBezTo>
                  <a:cubicBezTo>
                    <a:pt x="138" y="138"/>
                    <a:pt x="138" y="138"/>
                    <a:pt x="138" y="138"/>
                  </a:cubicBezTo>
                  <a:cubicBezTo>
                    <a:pt x="138" y="373"/>
                    <a:pt x="138" y="373"/>
                    <a:pt x="138" y="373"/>
                  </a:cubicBezTo>
                  <a:cubicBezTo>
                    <a:pt x="373" y="373"/>
                    <a:pt x="373" y="373"/>
                    <a:pt x="373" y="373"/>
                  </a:cubicBezTo>
                  <a:cubicBezTo>
                    <a:pt x="373" y="138"/>
                    <a:pt x="373" y="138"/>
                    <a:pt x="373" y="138"/>
                  </a:cubicBezTo>
                  <a:cubicBezTo>
                    <a:pt x="330" y="138"/>
                    <a:pt x="330" y="138"/>
                    <a:pt x="330" y="138"/>
                  </a:cubicBezTo>
                  <a:lnTo>
                    <a:pt x="330" y="149"/>
                  </a:lnTo>
                  <a:close/>
                  <a:moveTo>
                    <a:pt x="327" y="221"/>
                  </a:moveTo>
                  <a:cubicBezTo>
                    <a:pt x="242" y="306"/>
                    <a:pt x="242" y="306"/>
                    <a:pt x="242" y="306"/>
                  </a:cubicBezTo>
                  <a:cubicBezTo>
                    <a:pt x="240" y="308"/>
                    <a:pt x="237" y="309"/>
                    <a:pt x="234" y="309"/>
                  </a:cubicBezTo>
                  <a:cubicBezTo>
                    <a:pt x="232" y="309"/>
                    <a:pt x="229" y="308"/>
                    <a:pt x="227" y="306"/>
                  </a:cubicBezTo>
                  <a:cubicBezTo>
                    <a:pt x="184" y="263"/>
                    <a:pt x="184" y="263"/>
                    <a:pt x="184" y="263"/>
                  </a:cubicBezTo>
                  <a:cubicBezTo>
                    <a:pt x="180" y="259"/>
                    <a:pt x="180" y="252"/>
                    <a:pt x="184" y="248"/>
                  </a:cubicBezTo>
                  <a:cubicBezTo>
                    <a:pt x="188" y="244"/>
                    <a:pt x="195" y="244"/>
                    <a:pt x="199" y="248"/>
                  </a:cubicBezTo>
                  <a:cubicBezTo>
                    <a:pt x="234" y="283"/>
                    <a:pt x="234" y="283"/>
                    <a:pt x="234" y="283"/>
                  </a:cubicBezTo>
                  <a:cubicBezTo>
                    <a:pt x="312" y="205"/>
                    <a:pt x="312" y="205"/>
                    <a:pt x="312" y="205"/>
                  </a:cubicBezTo>
                  <a:cubicBezTo>
                    <a:pt x="316" y="201"/>
                    <a:pt x="323" y="201"/>
                    <a:pt x="327" y="205"/>
                  </a:cubicBezTo>
                  <a:cubicBezTo>
                    <a:pt x="331" y="210"/>
                    <a:pt x="331" y="216"/>
                    <a:pt x="327" y="221"/>
                  </a:cubicBezTo>
                  <a:close/>
                </a:path>
              </a:pathLst>
            </a:custGeom>
            <a:solidFill>
              <a:schemeClr val="tx1">
                <a:lumMod val="75000"/>
                <a:lumOff val="25000"/>
              </a:schemeClr>
            </a:solidFill>
            <a:ln>
              <a:noFill/>
            </a:ln>
          </p:spPr>
          <p:txBody>
            <a:bodyPr vert="horz" wrap="square" lIns="91440" tIns="45720" rIns="91440" bIns="45720" numCol="1" anchor="t" anchorCtr="0" compatLnSpc="1">
              <a:prstTxWarp prst="textNoShape">
                <a:avLst/>
              </a:prstTxWarp>
            </a:bodyPr>
            <a:lstStyle/>
            <a:p>
              <a:endParaRPr lang="en-GB" sz="1600"/>
            </a:p>
          </p:txBody>
        </p:sp>
        <p:grpSp>
          <p:nvGrpSpPr>
            <p:cNvPr id="90" name="Group 89"/>
            <p:cNvGrpSpPr/>
            <p:nvPr/>
          </p:nvGrpSpPr>
          <p:grpSpPr>
            <a:xfrm>
              <a:off x="6625149" y="4511106"/>
              <a:ext cx="429940" cy="323708"/>
              <a:chOff x="4617713" y="3323335"/>
              <a:chExt cx="617156" cy="488413"/>
            </a:xfrm>
          </p:grpSpPr>
          <p:sp>
            <p:nvSpPr>
              <p:cNvPr id="91" name="Freeform 90"/>
              <p:cNvSpPr>
                <a:spLocks/>
              </p:cNvSpPr>
              <p:nvPr/>
            </p:nvSpPr>
            <p:spPr bwMode="auto">
              <a:xfrm>
                <a:off x="4849090" y="3387256"/>
                <a:ext cx="154402" cy="154402"/>
              </a:xfrm>
              <a:custGeom>
                <a:avLst/>
                <a:gdLst>
                  <a:gd name="T0" fmla="*/ 24 w 48"/>
                  <a:gd name="T1" fmla="*/ 11 h 48"/>
                  <a:gd name="T2" fmla="*/ 36 w 48"/>
                  <a:gd name="T3" fmla="*/ 16 h 48"/>
                  <a:gd name="T4" fmla="*/ 48 w 48"/>
                  <a:gd name="T5" fmla="*/ 14 h 48"/>
                  <a:gd name="T6" fmla="*/ 32 w 48"/>
                  <a:gd name="T7" fmla="*/ 4 h 48"/>
                  <a:gd name="T8" fmla="*/ 32 w 48"/>
                  <a:gd name="T9" fmla="*/ 0 h 48"/>
                  <a:gd name="T10" fmla="*/ 16 w 48"/>
                  <a:gd name="T11" fmla="*/ 0 h 48"/>
                  <a:gd name="T12" fmla="*/ 16 w 48"/>
                  <a:gd name="T13" fmla="*/ 4 h 48"/>
                  <a:gd name="T14" fmla="*/ 0 w 48"/>
                  <a:gd name="T15" fmla="*/ 15 h 48"/>
                  <a:gd name="T16" fmla="*/ 22 w 48"/>
                  <a:gd name="T17" fmla="*/ 28 h 48"/>
                  <a:gd name="T18" fmla="*/ 37 w 48"/>
                  <a:gd name="T19" fmla="*/ 34 h 48"/>
                  <a:gd name="T20" fmla="*/ 24 w 48"/>
                  <a:gd name="T21" fmla="*/ 37 h 48"/>
                  <a:gd name="T22" fmla="*/ 12 w 48"/>
                  <a:gd name="T23" fmla="*/ 32 h 48"/>
                  <a:gd name="T24" fmla="*/ 0 w 48"/>
                  <a:gd name="T25" fmla="*/ 34 h 48"/>
                  <a:gd name="T26" fmla="*/ 16 w 48"/>
                  <a:gd name="T27" fmla="*/ 44 h 48"/>
                  <a:gd name="T28" fmla="*/ 16 w 48"/>
                  <a:gd name="T29" fmla="*/ 48 h 48"/>
                  <a:gd name="T30" fmla="*/ 32 w 48"/>
                  <a:gd name="T31" fmla="*/ 48 h 48"/>
                  <a:gd name="T32" fmla="*/ 32 w 48"/>
                  <a:gd name="T33" fmla="*/ 44 h 48"/>
                  <a:gd name="T34" fmla="*/ 48 w 48"/>
                  <a:gd name="T35" fmla="*/ 33 h 48"/>
                  <a:gd name="T36" fmla="*/ 26 w 48"/>
                  <a:gd name="T37" fmla="*/ 20 h 48"/>
                  <a:gd name="T38" fmla="*/ 11 w 48"/>
                  <a:gd name="T39" fmla="*/ 14 h 48"/>
                  <a:gd name="T40" fmla="*/ 24 w 48"/>
                  <a:gd name="T41" fmla="*/ 11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8" h="48">
                    <a:moveTo>
                      <a:pt x="24" y="11"/>
                    </a:moveTo>
                    <a:cubicBezTo>
                      <a:pt x="32" y="11"/>
                      <a:pt x="36" y="13"/>
                      <a:pt x="36" y="16"/>
                    </a:cubicBezTo>
                    <a:cubicBezTo>
                      <a:pt x="48" y="14"/>
                      <a:pt x="48" y="14"/>
                      <a:pt x="48" y="14"/>
                    </a:cubicBezTo>
                    <a:cubicBezTo>
                      <a:pt x="48" y="9"/>
                      <a:pt x="42" y="6"/>
                      <a:pt x="32" y="4"/>
                    </a:cubicBezTo>
                    <a:cubicBezTo>
                      <a:pt x="32" y="0"/>
                      <a:pt x="32" y="0"/>
                      <a:pt x="32" y="0"/>
                    </a:cubicBezTo>
                    <a:cubicBezTo>
                      <a:pt x="16" y="0"/>
                      <a:pt x="16" y="0"/>
                      <a:pt x="16" y="0"/>
                    </a:cubicBezTo>
                    <a:cubicBezTo>
                      <a:pt x="16" y="4"/>
                      <a:pt x="16" y="4"/>
                      <a:pt x="16" y="4"/>
                    </a:cubicBezTo>
                    <a:cubicBezTo>
                      <a:pt x="0" y="6"/>
                      <a:pt x="0" y="13"/>
                      <a:pt x="0" y="15"/>
                    </a:cubicBezTo>
                    <a:cubicBezTo>
                      <a:pt x="0" y="19"/>
                      <a:pt x="3" y="24"/>
                      <a:pt x="22" y="28"/>
                    </a:cubicBezTo>
                    <a:cubicBezTo>
                      <a:pt x="31" y="29"/>
                      <a:pt x="37" y="30"/>
                      <a:pt x="37" y="34"/>
                    </a:cubicBezTo>
                    <a:cubicBezTo>
                      <a:pt x="37" y="36"/>
                      <a:pt x="32" y="37"/>
                      <a:pt x="24" y="37"/>
                    </a:cubicBezTo>
                    <a:cubicBezTo>
                      <a:pt x="14" y="37"/>
                      <a:pt x="12" y="35"/>
                      <a:pt x="12" y="32"/>
                    </a:cubicBezTo>
                    <a:cubicBezTo>
                      <a:pt x="0" y="34"/>
                      <a:pt x="0" y="34"/>
                      <a:pt x="0" y="34"/>
                    </a:cubicBezTo>
                    <a:cubicBezTo>
                      <a:pt x="0" y="36"/>
                      <a:pt x="0" y="42"/>
                      <a:pt x="16" y="44"/>
                    </a:cubicBezTo>
                    <a:cubicBezTo>
                      <a:pt x="16" y="48"/>
                      <a:pt x="16" y="48"/>
                      <a:pt x="16" y="48"/>
                    </a:cubicBezTo>
                    <a:cubicBezTo>
                      <a:pt x="32" y="48"/>
                      <a:pt x="32" y="48"/>
                      <a:pt x="32" y="48"/>
                    </a:cubicBezTo>
                    <a:cubicBezTo>
                      <a:pt x="32" y="44"/>
                      <a:pt x="32" y="44"/>
                      <a:pt x="32" y="44"/>
                    </a:cubicBezTo>
                    <a:cubicBezTo>
                      <a:pt x="48" y="42"/>
                      <a:pt x="48" y="35"/>
                      <a:pt x="48" y="33"/>
                    </a:cubicBezTo>
                    <a:cubicBezTo>
                      <a:pt x="48" y="26"/>
                      <a:pt x="39" y="23"/>
                      <a:pt x="26" y="20"/>
                    </a:cubicBezTo>
                    <a:cubicBezTo>
                      <a:pt x="19" y="19"/>
                      <a:pt x="11" y="18"/>
                      <a:pt x="11" y="14"/>
                    </a:cubicBezTo>
                    <a:cubicBezTo>
                      <a:pt x="11" y="12"/>
                      <a:pt x="16" y="11"/>
                      <a:pt x="24" y="11"/>
                    </a:cubicBez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2" name="Rectangle 91"/>
              <p:cNvSpPr>
                <a:spLocks noChangeArrowheads="1"/>
              </p:cNvSpPr>
              <p:nvPr/>
            </p:nvSpPr>
            <p:spPr bwMode="auto">
              <a:xfrm>
                <a:off x="4617713" y="3631688"/>
                <a:ext cx="617156" cy="25659"/>
              </a:xfrm>
              <a:prstGeom prst="rect">
                <a:avLst/>
              </a:pr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3" name="Rectangle 92"/>
              <p:cNvSpPr>
                <a:spLocks noChangeArrowheads="1"/>
              </p:cNvSpPr>
              <p:nvPr/>
            </p:nvSpPr>
            <p:spPr bwMode="auto">
              <a:xfrm>
                <a:off x="4617713" y="3683005"/>
                <a:ext cx="617156" cy="25659"/>
              </a:xfrm>
              <a:prstGeom prst="rect">
                <a:avLst/>
              </a:pr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4" name="Rectangle 93"/>
              <p:cNvSpPr>
                <a:spLocks noChangeArrowheads="1"/>
              </p:cNvSpPr>
              <p:nvPr/>
            </p:nvSpPr>
            <p:spPr bwMode="auto">
              <a:xfrm>
                <a:off x="4617713" y="3734322"/>
                <a:ext cx="617156" cy="25659"/>
              </a:xfrm>
              <a:prstGeom prst="rect">
                <a:avLst/>
              </a:pr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5" name="Rectangle 94"/>
              <p:cNvSpPr>
                <a:spLocks noChangeArrowheads="1"/>
              </p:cNvSpPr>
              <p:nvPr/>
            </p:nvSpPr>
            <p:spPr bwMode="auto">
              <a:xfrm>
                <a:off x="4617713" y="3785639"/>
                <a:ext cx="617156" cy="26109"/>
              </a:xfrm>
              <a:prstGeom prst="rect">
                <a:avLst/>
              </a:pr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6" name="Oval 95"/>
              <p:cNvSpPr>
                <a:spLocks noChangeArrowheads="1"/>
              </p:cNvSpPr>
              <p:nvPr/>
            </p:nvSpPr>
            <p:spPr bwMode="auto">
              <a:xfrm>
                <a:off x="4759060" y="3425969"/>
                <a:ext cx="51317" cy="51317"/>
              </a:xfrm>
              <a:prstGeom prst="ellipse">
                <a:avLst/>
              </a:pr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7" name="Oval 96"/>
              <p:cNvSpPr>
                <a:spLocks noChangeArrowheads="1"/>
              </p:cNvSpPr>
              <p:nvPr/>
            </p:nvSpPr>
            <p:spPr bwMode="auto">
              <a:xfrm>
                <a:off x="5041754" y="3425969"/>
                <a:ext cx="51767" cy="51317"/>
              </a:xfrm>
              <a:prstGeom prst="ellipse">
                <a:avLst/>
              </a:pr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8" name="Freeform 97"/>
              <p:cNvSpPr>
                <a:spLocks noEditPoints="1"/>
              </p:cNvSpPr>
              <p:nvPr/>
            </p:nvSpPr>
            <p:spPr bwMode="auto">
              <a:xfrm>
                <a:off x="4617713" y="3323335"/>
                <a:ext cx="617156" cy="282694"/>
              </a:xfrm>
              <a:custGeom>
                <a:avLst/>
                <a:gdLst>
                  <a:gd name="T0" fmla="*/ 176 w 192"/>
                  <a:gd name="T1" fmla="*/ 0 h 88"/>
                  <a:gd name="T2" fmla="*/ 16 w 192"/>
                  <a:gd name="T3" fmla="*/ 0 h 88"/>
                  <a:gd name="T4" fmla="*/ 0 w 192"/>
                  <a:gd name="T5" fmla="*/ 88 h 88"/>
                  <a:gd name="T6" fmla="*/ 192 w 192"/>
                  <a:gd name="T7" fmla="*/ 88 h 88"/>
                  <a:gd name="T8" fmla="*/ 176 w 192"/>
                  <a:gd name="T9" fmla="*/ 0 h 88"/>
                  <a:gd name="T10" fmla="*/ 172 w 192"/>
                  <a:gd name="T11" fmla="*/ 64 h 88"/>
                  <a:gd name="T12" fmla="*/ 160 w 192"/>
                  <a:gd name="T13" fmla="*/ 76 h 88"/>
                  <a:gd name="T14" fmla="*/ 32 w 192"/>
                  <a:gd name="T15" fmla="*/ 76 h 88"/>
                  <a:gd name="T16" fmla="*/ 20 w 192"/>
                  <a:gd name="T17" fmla="*/ 64 h 88"/>
                  <a:gd name="T18" fmla="*/ 16 w 192"/>
                  <a:gd name="T19" fmla="*/ 65 h 88"/>
                  <a:gd name="T20" fmla="*/ 24 w 192"/>
                  <a:gd name="T21" fmla="*/ 21 h 88"/>
                  <a:gd name="T22" fmla="*/ 32 w 192"/>
                  <a:gd name="T23" fmla="*/ 24 h 88"/>
                  <a:gd name="T24" fmla="*/ 44 w 192"/>
                  <a:gd name="T25" fmla="*/ 12 h 88"/>
                  <a:gd name="T26" fmla="*/ 148 w 192"/>
                  <a:gd name="T27" fmla="*/ 12 h 88"/>
                  <a:gd name="T28" fmla="*/ 160 w 192"/>
                  <a:gd name="T29" fmla="*/ 24 h 88"/>
                  <a:gd name="T30" fmla="*/ 168 w 192"/>
                  <a:gd name="T31" fmla="*/ 21 h 88"/>
                  <a:gd name="T32" fmla="*/ 176 w 192"/>
                  <a:gd name="T33" fmla="*/ 65 h 88"/>
                  <a:gd name="T34" fmla="*/ 172 w 192"/>
                  <a:gd name="T35" fmla="*/ 6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88">
                    <a:moveTo>
                      <a:pt x="176" y="0"/>
                    </a:moveTo>
                    <a:cubicBezTo>
                      <a:pt x="16" y="0"/>
                      <a:pt x="16" y="0"/>
                      <a:pt x="16" y="0"/>
                    </a:cubicBezTo>
                    <a:cubicBezTo>
                      <a:pt x="0" y="88"/>
                      <a:pt x="0" y="88"/>
                      <a:pt x="0" y="88"/>
                    </a:cubicBezTo>
                    <a:cubicBezTo>
                      <a:pt x="192" y="88"/>
                      <a:pt x="192" y="88"/>
                      <a:pt x="192" y="88"/>
                    </a:cubicBezTo>
                    <a:lnTo>
                      <a:pt x="176" y="0"/>
                    </a:lnTo>
                    <a:close/>
                    <a:moveTo>
                      <a:pt x="172" y="64"/>
                    </a:moveTo>
                    <a:cubicBezTo>
                      <a:pt x="165" y="64"/>
                      <a:pt x="160" y="69"/>
                      <a:pt x="160" y="76"/>
                    </a:cubicBezTo>
                    <a:cubicBezTo>
                      <a:pt x="32" y="76"/>
                      <a:pt x="32" y="76"/>
                      <a:pt x="32" y="76"/>
                    </a:cubicBezTo>
                    <a:cubicBezTo>
                      <a:pt x="32" y="69"/>
                      <a:pt x="27" y="64"/>
                      <a:pt x="20" y="64"/>
                    </a:cubicBezTo>
                    <a:cubicBezTo>
                      <a:pt x="19" y="64"/>
                      <a:pt x="18" y="64"/>
                      <a:pt x="16" y="65"/>
                    </a:cubicBezTo>
                    <a:cubicBezTo>
                      <a:pt x="24" y="21"/>
                      <a:pt x="24" y="21"/>
                      <a:pt x="24" y="21"/>
                    </a:cubicBezTo>
                    <a:cubicBezTo>
                      <a:pt x="26" y="23"/>
                      <a:pt x="29" y="24"/>
                      <a:pt x="32" y="24"/>
                    </a:cubicBezTo>
                    <a:cubicBezTo>
                      <a:pt x="39" y="24"/>
                      <a:pt x="44" y="19"/>
                      <a:pt x="44" y="12"/>
                    </a:cubicBezTo>
                    <a:cubicBezTo>
                      <a:pt x="148" y="12"/>
                      <a:pt x="148" y="12"/>
                      <a:pt x="148" y="12"/>
                    </a:cubicBezTo>
                    <a:cubicBezTo>
                      <a:pt x="148" y="19"/>
                      <a:pt x="153" y="24"/>
                      <a:pt x="160" y="24"/>
                    </a:cubicBezTo>
                    <a:cubicBezTo>
                      <a:pt x="163" y="24"/>
                      <a:pt x="166" y="23"/>
                      <a:pt x="168" y="21"/>
                    </a:cubicBezTo>
                    <a:cubicBezTo>
                      <a:pt x="176" y="65"/>
                      <a:pt x="176" y="65"/>
                      <a:pt x="176" y="65"/>
                    </a:cubicBezTo>
                    <a:cubicBezTo>
                      <a:pt x="174" y="64"/>
                      <a:pt x="173" y="64"/>
                      <a:pt x="172" y="64"/>
                    </a:cubicBez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sp>
          <p:nvSpPr>
            <p:cNvPr id="99" name="Freeform 98"/>
            <p:cNvSpPr>
              <a:spLocks/>
            </p:cNvSpPr>
            <p:nvPr/>
          </p:nvSpPr>
          <p:spPr bwMode="auto">
            <a:xfrm>
              <a:off x="8838351" y="4700377"/>
              <a:ext cx="281383" cy="247707"/>
            </a:xfrm>
            <a:custGeom>
              <a:avLst/>
              <a:gdLst>
                <a:gd name="T0" fmla="*/ 0 w 104"/>
                <a:gd name="T1" fmla="*/ 104 h 104"/>
                <a:gd name="T2" fmla="*/ 6 w 104"/>
                <a:gd name="T3" fmla="*/ 84 h 104"/>
                <a:gd name="T4" fmla="*/ 34 w 104"/>
                <a:gd name="T5" fmla="*/ 70 h 104"/>
                <a:gd name="T6" fmla="*/ 40 w 104"/>
                <a:gd name="T7" fmla="*/ 63 h 104"/>
                <a:gd name="T8" fmla="*/ 40 w 104"/>
                <a:gd name="T9" fmla="*/ 57 h 104"/>
                <a:gd name="T10" fmla="*/ 35 w 104"/>
                <a:gd name="T11" fmla="*/ 45 h 104"/>
                <a:gd name="T12" fmla="*/ 29 w 104"/>
                <a:gd name="T13" fmla="*/ 38 h 104"/>
                <a:gd name="T14" fmla="*/ 32 w 104"/>
                <a:gd name="T15" fmla="*/ 28 h 104"/>
                <a:gd name="T16" fmla="*/ 32 w 104"/>
                <a:gd name="T17" fmla="*/ 16 h 104"/>
                <a:gd name="T18" fmla="*/ 37 w 104"/>
                <a:gd name="T19" fmla="*/ 7 h 104"/>
                <a:gd name="T20" fmla="*/ 51 w 104"/>
                <a:gd name="T21" fmla="*/ 0 h 104"/>
                <a:gd name="T22" fmla="*/ 69 w 104"/>
                <a:gd name="T23" fmla="*/ 6 h 104"/>
                <a:gd name="T24" fmla="*/ 72 w 104"/>
                <a:gd name="T25" fmla="*/ 16 h 104"/>
                <a:gd name="T26" fmla="*/ 72 w 104"/>
                <a:gd name="T27" fmla="*/ 28 h 104"/>
                <a:gd name="T28" fmla="*/ 75 w 104"/>
                <a:gd name="T29" fmla="*/ 38 h 104"/>
                <a:gd name="T30" fmla="*/ 69 w 104"/>
                <a:gd name="T31" fmla="*/ 45 h 104"/>
                <a:gd name="T32" fmla="*/ 64 w 104"/>
                <a:gd name="T33" fmla="*/ 57 h 104"/>
                <a:gd name="T34" fmla="*/ 64 w 104"/>
                <a:gd name="T35" fmla="*/ 63 h 104"/>
                <a:gd name="T36" fmla="*/ 70 w 104"/>
                <a:gd name="T37" fmla="*/ 70 h 104"/>
                <a:gd name="T38" fmla="*/ 98 w 104"/>
                <a:gd name="T39" fmla="*/ 84 h 104"/>
                <a:gd name="T40" fmla="*/ 104 w 104"/>
                <a:gd name="T41" fmla="*/ 104 h 104"/>
                <a:gd name="T42" fmla="*/ 0 w 104"/>
                <a:gd name="T43" fmla="*/ 10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04">
                  <a:moveTo>
                    <a:pt x="0" y="104"/>
                  </a:moveTo>
                  <a:cubicBezTo>
                    <a:pt x="0" y="98"/>
                    <a:pt x="2" y="89"/>
                    <a:pt x="6" y="84"/>
                  </a:cubicBezTo>
                  <a:cubicBezTo>
                    <a:pt x="9" y="80"/>
                    <a:pt x="17" y="77"/>
                    <a:pt x="34" y="70"/>
                  </a:cubicBezTo>
                  <a:cubicBezTo>
                    <a:pt x="40" y="68"/>
                    <a:pt x="40" y="65"/>
                    <a:pt x="40" y="63"/>
                  </a:cubicBezTo>
                  <a:cubicBezTo>
                    <a:pt x="40" y="60"/>
                    <a:pt x="40" y="57"/>
                    <a:pt x="40" y="57"/>
                  </a:cubicBezTo>
                  <a:cubicBezTo>
                    <a:pt x="38" y="55"/>
                    <a:pt x="35" y="45"/>
                    <a:pt x="35" y="45"/>
                  </a:cubicBezTo>
                  <a:cubicBezTo>
                    <a:pt x="33" y="46"/>
                    <a:pt x="30" y="42"/>
                    <a:pt x="29" y="38"/>
                  </a:cubicBezTo>
                  <a:cubicBezTo>
                    <a:pt x="28" y="33"/>
                    <a:pt x="30" y="29"/>
                    <a:pt x="32" y="28"/>
                  </a:cubicBezTo>
                  <a:cubicBezTo>
                    <a:pt x="32" y="28"/>
                    <a:pt x="32" y="21"/>
                    <a:pt x="32" y="16"/>
                  </a:cubicBezTo>
                  <a:cubicBezTo>
                    <a:pt x="32" y="9"/>
                    <a:pt x="32" y="8"/>
                    <a:pt x="37" y="7"/>
                  </a:cubicBezTo>
                  <a:cubicBezTo>
                    <a:pt x="39" y="4"/>
                    <a:pt x="43" y="0"/>
                    <a:pt x="51" y="0"/>
                  </a:cubicBezTo>
                  <a:cubicBezTo>
                    <a:pt x="58" y="0"/>
                    <a:pt x="62" y="6"/>
                    <a:pt x="69" y="6"/>
                  </a:cubicBezTo>
                  <a:cubicBezTo>
                    <a:pt x="72" y="6"/>
                    <a:pt x="72" y="10"/>
                    <a:pt x="72" y="16"/>
                  </a:cubicBezTo>
                  <a:cubicBezTo>
                    <a:pt x="72" y="22"/>
                    <a:pt x="72" y="28"/>
                    <a:pt x="72" y="28"/>
                  </a:cubicBezTo>
                  <a:cubicBezTo>
                    <a:pt x="74" y="29"/>
                    <a:pt x="76" y="33"/>
                    <a:pt x="75" y="38"/>
                  </a:cubicBezTo>
                  <a:cubicBezTo>
                    <a:pt x="74" y="42"/>
                    <a:pt x="71" y="46"/>
                    <a:pt x="69" y="45"/>
                  </a:cubicBezTo>
                  <a:cubicBezTo>
                    <a:pt x="69" y="45"/>
                    <a:pt x="66" y="55"/>
                    <a:pt x="64" y="57"/>
                  </a:cubicBezTo>
                  <a:cubicBezTo>
                    <a:pt x="64" y="57"/>
                    <a:pt x="64" y="61"/>
                    <a:pt x="64" y="63"/>
                  </a:cubicBezTo>
                  <a:cubicBezTo>
                    <a:pt x="64" y="66"/>
                    <a:pt x="64" y="68"/>
                    <a:pt x="70" y="70"/>
                  </a:cubicBezTo>
                  <a:cubicBezTo>
                    <a:pt x="87" y="77"/>
                    <a:pt x="95" y="80"/>
                    <a:pt x="98" y="84"/>
                  </a:cubicBezTo>
                  <a:cubicBezTo>
                    <a:pt x="102" y="89"/>
                    <a:pt x="104" y="98"/>
                    <a:pt x="104" y="104"/>
                  </a:cubicBezTo>
                  <a:lnTo>
                    <a:pt x="0" y="104"/>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nvGrpSpPr>
            <p:cNvPr id="100" name="Group 99"/>
            <p:cNvGrpSpPr/>
            <p:nvPr/>
          </p:nvGrpSpPr>
          <p:grpSpPr>
            <a:xfrm>
              <a:off x="2524965" y="2480008"/>
              <a:ext cx="366157" cy="460861"/>
              <a:chOff x="3344689" y="2179054"/>
              <a:chExt cx="488863" cy="617155"/>
            </a:xfrm>
            <a:solidFill>
              <a:srgbClr val="012169"/>
            </a:solidFill>
          </p:grpSpPr>
          <p:sp>
            <p:nvSpPr>
              <p:cNvPr id="101" name="Freeform 100"/>
              <p:cNvSpPr>
                <a:spLocks noEditPoints="1"/>
              </p:cNvSpPr>
              <p:nvPr/>
            </p:nvSpPr>
            <p:spPr bwMode="auto">
              <a:xfrm>
                <a:off x="3486036" y="2179054"/>
                <a:ext cx="205719" cy="128743"/>
              </a:xfrm>
              <a:custGeom>
                <a:avLst/>
                <a:gdLst>
                  <a:gd name="T0" fmla="*/ 48 w 64"/>
                  <a:gd name="T1" fmla="*/ 16 h 40"/>
                  <a:gd name="T2" fmla="*/ 32 w 64"/>
                  <a:gd name="T3" fmla="*/ 0 h 40"/>
                  <a:gd name="T4" fmla="*/ 16 w 64"/>
                  <a:gd name="T5" fmla="*/ 16 h 40"/>
                  <a:gd name="T6" fmla="*/ 0 w 64"/>
                  <a:gd name="T7" fmla="*/ 16 h 40"/>
                  <a:gd name="T8" fmla="*/ 0 w 64"/>
                  <a:gd name="T9" fmla="*/ 28 h 40"/>
                  <a:gd name="T10" fmla="*/ 12 w 64"/>
                  <a:gd name="T11" fmla="*/ 40 h 40"/>
                  <a:gd name="T12" fmla="*/ 52 w 64"/>
                  <a:gd name="T13" fmla="*/ 40 h 40"/>
                  <a:gd name="T14" fmla="*/ 64 w 64"/>
                  <a:gd name="T15" fmla="*/ 28 h 40"/>
                  <a:gd name="T16" fmla="*/ 64 w 64"/>
                  <a:gd name="T17" fmla="*/ 16 h 40"/>
                  <a:gd name="T18" fmla="*/ 48 w 64"/>
                  <a:gd name="T19" fmla="*/ 16 h 40"/>
                  <a:gd name="T20" fmla="*/ 32 w 64"/>
                  <a:gd name="T21" fmla="*/ 24 h 40"/>
                  <a:gd name="T22" fmla="*/ 24 w 64"/>
                  <a:gd name="T23" fmla="*/ 16 h 40"/>
                  <a:gd name="T24" fmla="*/ 32 w 64"/>
                  <a:gd name="T25" fmla="*/ 8 h 40"/>
                  <a:gd name="T26" fmla="*/ 40 w 64"/>
                  <a:gd name="T27" fmla="*/ 16 h 40"/>
                  <a:gd name="T28" fmla="*/ 32 w 64"/>
                  <a:gd name="T29"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4" h="40">
                    <a:moveTo>
                      <a:pt x="48" y="16"/>
                    </a:moveTo>
                    <a:cubicBezTo>
                      <a:pt x="48" y="7"/>
                      <a:pt x="41" y="0"/>
                      <a:pt x="32" y="0"/>
                    </a:cubicBezTo>
                    <a:cubicBezTo>
                      <a:pt x="23" y="0"/>
                      <a:pt x="16" y="7"/>
                      <a:pt x="16" y="16"/>
                    </a:cubicBezTo>
                    <a:cubicBezTo>
                      <a:pt x="0" y="16"/>
                      <a:pt x="0" y="16"/>
                      <a:pt x="0" y="16"/>
                    </a:cubicBezTo>
                    <a:cubicBezTo>
                      <a:pt x="0" y="28"/>
                      <a:pt x="0" y="28"/>
                      <a:pt x="0" y="28"/>
                    </a:cubicBezTo>
                    <a:cubicBezTo>
                      <a:pt x="0" y="35"/>
                      <a:pt x="5" y="40"/>
                      <a:pt x="12" y="40"/>
                    </a:cubicBezTo>
                    <a:cubicBezTo>
                      <a:pt x="52" y="40"/>
                      <a:pt x="52" y="40"/>
                      <a:pt x="52" y="40"/>
                    </a:cubicBezTo>
                    <a:cubicBezTo>
                      <a:pt x="59" y="40"/>
                      <a:pt x="64" y="35"/>
                      <a:pt x="64" y="28"/>
                    </a:cubicBezTo>
                    <a:cubicBezTo>
                      <a:pt x="64" y="16"/>
                      <a:pt x="64" y="16"/>
                      <a:pt x="64" y="16"/>
                    </a:cubicBezTo>
                    <a:lnTo>
                      <a:pt x="48" y="16"/>
                    </a:lnTo>
                    <a:close/>
                    <a:moveTo>
                      <a:pt x="32" y="24"/>
                    </a:moveTo>
                    <a:cubicBezTo>
                      <a:pt x="27" y="24"/>
                      <a:pt x="24" y="21"/>
                      <a:pt x="24" y="16"/>
                    </a:cubicBezTo>
                    <a:cubicBezTo>
                      <a:pt x="24" y="11"/>
                      <a:pt x="27" y="8"/>
                      <a:pt x="32" y="8"/>
                    </a:cubicBezTo>
                    <a:cubicBezTo>
                      <a:pt x="37" y="8"/>
                      <a:pt x="40" y="11"/>
                      <a:pt x="40" y="16"/>
                    </a:cubicBezTo>
                    <a:cubicBezTo>
                      <a:pt x="40" y="21"/>
                      <a:pt x="37" y="24"/>
                      <a:pt x="32" y="24"/>
                    </a:cubicBez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02" name="Freeform 101"/>
              <p:cNvSpPr>
                <a:spLocks noEditPoints="1"/>
              </p:cNvSpPr>
              <p:nvPr/>
            </p:nvSpPr>
            <p:spPr bwMode="auto">
              <a:xfrm>
                <a:off x="3344689" y="2230821"/>
                <a:ext cx="488863" cy="565388"/>
              </a:xfrm>
              <a:custGeom>
                <a:avLst/>
                <a:gdLst>
                  <a:gd name="T0" fmla="*/ 136 w 152"/>
                  <a:gd name="T1" fmla="*/ 0 h 176"/>
                  <a:gd name="T2" fmla="*/ 116 w 152"/>
                  <a:gd name="T3" fmla="*/ 0 h 176"/>
                  <a:gd name="T4" fmla="*/ 116 w 152"/>
                  <a:gd name="T5" fmla="*/ 12 h 176"/>
                  <a:gd name="T6" fmla="*/ 136 w 152"/>
                  <a:gd name="T7" fmla="*/ 12 h 176"/>
                  <a:gd name="T8" fmla="*/ 140 w 152"/>
                  <a:gd name="T9" fmla="*/ 16 h 176"/>
                  <a:gd name="T10" fmla="*/ 140 w 152"/>
                  <a:gd name="T11" fmla="*/ 120 h 176"/>
                  <a:gd name="T12" fmla="*/ 112 w 152"/>
                  <a:gd name="T13" fmla="*/ 120 h 176"/>
                  <a:gd name="T14" fmla="*/ 96 w 152"/>
                  <a:gd name="T15" fmla="*/ 136 h 176"/>
                  <a:gd name="T16" fmla="*/ 96 w 152"/>
                  <a:gd name="T17" fmla="*/ 164 h 176"/>
                  <a:gd name="T18" fmla="*/ 16 w 152"/>
                  <a:gd name="T19" fmla="*/ 164 h 176"/>
                  <a:gd name="T20" fmla="*/ 12 w 152"/>
                  <a:gd name="T21" fmla="*/ 160 h 176"/>
                  <a:gd name="T22" fmla="*/ 12 w 152"/>
                  <a:gd name="T23" fmla="*/ 16 h 176"/>
                  <a:gd name="T24" fmla="*/ 16 w 152"/>
                  <a:gd name="T25" fmla="*/ 12 h 176"/>
                  <a:gd name="T26" fmla="*/ 36 w 152"/>
                  <a:gd name="T27" fmla="*/ 12 h 176"/>
                  <a:gd name="T28" fmla="*/ 36 w 152"/>
                  <a:gd name="T29" fmla="*/ 0 h 176"/>
                  <a:gd name="T30" fmla="*/ 16 w 152"/>
                  <a:gd name="T31" fmla="*/ 0 h 176"/>
                  <a:gd name="T32" fmla="*/ 0 w 152"/>
                  <a:gd name="T33" fmla="*/ 16 h 176"/>
                  <a:gd name="T34" fmla="*/ 0 w 152"/>
                  <a:gd name="T35" fmla="*/ 160 h 176"/>
                  <a:gd name="T36" fmla="*/ 16 w 152"/>
                  <a:gd name="T37" fmla="*/ 176 h 176"/>
                  <a:gd name="T38" fmla="*/ 136 w 152"/>
                  <a:gd name="T39" fmla="*/ 176 h 176"/>
                  <a:gd name="T40" fmla="*/ 152 w 152"/>
                  <a:gd name="T41" fmla="*/ 160 h 176"/>
                  <a:gd name="T42" fmla="*/ 152 w 152"/>
                  <a:gd name="T43" fmla="*/ 16 h 176"/>
                  <a:gd name="T44" fmla="*/ 136 w 152"/>
                  <a:gd name="T45" fmla="*/ 0 h 176"/>
                  <a:gd name="T46" fmla="*/ 104 w 152"/>
                  <a:gd name="T47" fmla="*/ 164 h 176"/>
                  <a:gd name="T48" fmla="*/ 104 w 152"/>
                  <a:gd name="T49" fmla="*/ 136 h 176"/>
                  <a:gd name="T50" fmla="*/ 112 w 152"/>
                  <a:gd name="T51" fmla="*/ 128 h 176"/>
                  <a:gd name="T52" fmla="*/ 140 w 152"/>
                  <a:gd name="T53" fmla="*/ 128 h 176"/>
                  <a:gd name="T54" fmla="*/ 104 w 152"/>
                  <a:gd name="T55" fmla="*/ 164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2" h="176">
                    <a:moveTo>
                      <a:pt x="136" y="0"/>
                    </a:moveTo>
                    <a:cubicBezTo>
                      <a:pt x="116" y="0"/>
                      <a:pt x="116" y="0"/>
                      <a:pt x="116" y="0"/>
                    </a:cubicBezTo>
                    <a:cubicBezTo>
                      <a:pt x="116" y="12"/>
                      <a:pt x="116" y="12"/>
                      <a:pt x="116" y="12"/>
                    </a:cubicBezTo>
                    <a:cubicBezTo>
                      <a:pt x="136" y="12"/>
                      <a:pt x="136" y="12"/>
                      <a:pt x="136" y="12"/>
                    </a:cubicBezTo>
                    <a:cubicBezTo>
                      <a:pt x="138" y="12"/>
                      <a:pt x="140" y="14"/>
                      <a:pt x="140" y="16"/>
                    </a:cubicBezTo>
                    <a:cubicBezTo>
                      <a:pt x="140" y="120"/>
                      <a:pt x="140" y="120"/>
                      <a:pt x="140" y="120"/>
                    </a:cubicBezTo>
                    <a:cubicBezTo>
                      <a:pt x="112" y="120"/>
                      <a:pt x="112" y="120"/>
                      <a:pt x="112" y="120"/>
                    </a:cubicBezTo>
                    <a:cubicBezTo>
                      <a:pt x="103" y="120"/>
                      <a:pt x="96" y="127"/>
                      <a:pt x="96" y="136"/>
                    </a:cubicBezTo>
                    <a:cubicBezTo>
                      <a:pt x="96" y="164"/>
                      <a:pt x="96" y="164"/>
                      <a:pt x="96" y="164"/>
                    </a:cubicBezTo>
                    <a:cubicBezTo>
                      <a:pt x="16" y="164"/>
                      <a:pt x="16" y="164"/>
                      <a:pt x="16" y="164"/>
                    </a:cubicBezTo>
                    <a:cubicBezTo>
                      <a:pt x="14" y="164"/>
                      <a:pt x="12" y="162"/>
                      <a:pt x="12" y="160"/>
                    </a:cubicBezTo>
                    <a:cubicBezTo>
                      <a:pt x="12" y="16"/>
                      <a:pt x="12" y="16"/>
                      <a:pt x="12" y="16"/>
                    </a:cubicBezTo>
                    <a:cubicBezTo>
                      <a:pt x="12" y="14"/>
                      <a:pt x="14" y="12"/>
                      <a:pt x="16" y="12"/>
                    </a:cubicBezTo>
                    <a:cubicBezTo>
                      <a:pt x="36" y="12"/>
                      <a:pt x="36" y="12"/>
                      <a:pt x="36" y="12"/>
                    </a:cubicBezTo>
                    <a:cubicBezTo>
                      <a:pt x="36" y="0"/>
                      <a:pt x="36" y="0"/>
                      <a:pt x="36" y="0"/>
                    </a:cubicBezTo>
                    <a:cubicBezTo>
                      <a:pt x="16" y="0"/>
                      <a:pt x="16" y="0"/>
                      <a:pt x="16" y="0"/>
                    </a:cubicBezTo>
                    <a:cubicBezTo>
                      <a:pt x="7" y="0"/>
                      <a:pt x="0" y="7"/>
                      <a:pt x="0" y="16"/>
                    </a:cubicBezTo>
                    <a:cubicBezTo>
                      <a:pt x="0" y="160"/>
                      <a:pt x="0" y="160"/>
                      <a:pt x="0" y="160"/>
                    </a:cubicBezTo>
                    <a:cubicBezTo>
                      <a:pt x="0" y="169"/>
                      <a:pt x="7" y="176"/>
                      <a:pt x="16" y="176"/>
                    </a:cubicBezTo>
                    <a:cubicBezTo>
                      <a:pt x="136" y="176"/>
                      <a:pt x="136" y="176"/>
                      <a:pt x="136" y="176"/>
                    </a:cubicBezTo>
                    <a:cubicBezTo>
                      <a:pt x="145" y="176"/>
                      <a:pt x="152" y="169"/>
                      <a:pt x="152" y="160"/>
                    </a:cubicBezTo>
                    <a:cubicBezTo>
                      <a:pt x="152" y="16"/>
                      <a:pt x="152" y="16"/>
                      <a:pt x="152" y="16"/>
                    </a:cubicBezTo>
                    <a:cubicBezTo>
                      <a:pt x="152" y="7"/>
                      <a:pt x="145" y="0"/>
                      <a:pt x="136" y="0"/>
                    </a:cubicBezTo>
                    <a:close/>
                    <a:moveTo>
                      <a:pt x="104" y="164"/>
                    </a:moveTo>
                    <a:cubicBezTo>
                      <a:pt x="104" y="136"/>
                      <a:pt x="104" y="136"/>
                      <a:pt x="104" y="136"/>
                    </a:cubicBezTo>
                    <a:cubicBezTo>
                      <a:pt x="104" y="132"/>
                      <a:pt x="108" y="128"/>
                      <a:pt x="112" y="128"/>
                    </a:cubicBezTo>
                    <a:cubicBezTo>
                      <a:pt x="140" y="128"/>
                      <a:pt x="140" y="128"/>
                      <a:pt x="140" y="128"/>
                    </a:cubicBezTo>
                    <a:lnTo>
                      <a:pt x="104" y="164"/>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03" name="Oval 102"/>
              <p:cNvSpPr>
                <a:spLocks noChangeArrowheads="1"/>
              </p:cNvSpPr>
              <p:nvPr/>
            </p:nvSpPr>
            <p:spPr bwMode="auto">
              <a:xfrm>
                <a:off x="3460377" y="2359114"/>
                <a:ext cx="51317" cy="51317"/>
              </a:xfrm>
              <a:prstGeom prst="ellipse">
                <a:avLst/>
              </a:pr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04" name="Rectangle 103"/>
              <p:cNvSpPr>
                <a:spLocks noChangeArrowheads="1"/>
              </p:cNvSpPr>
              <p:nvPr/>
            </p:nvSpPr>
            <p:spPr bwMode="auto">
              <a:xfrm>
                <a:off x="3537803" y="2372168"/>
                <a:ext cx="179610" cy="25659"/>
              </a:xfrm>
              <a:prstGeom prst="rect">
                <a:avLst/>
              </a:pr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05" name="Oval 104"/>
              <p:cNvSpPr>
                <a:spLocks noChangeArrowheads="1"/>
              </p:cNvSpPr>
              <p:nvPr/>
            </p:nvSpPr>
            <p:spPr bwMode="auto">
              <a:xfrm>
                <a:off x="3460377" y="2449144"/>
                <a:ext cx="51317" cy="51317"/>
              </a:xfrm>
              <a:prstGeom prst="ellipse">
                <a:avLst/>
              </a:pr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06" name="Rectangle 105"/>
              <p:cNvSpPr>
                <a:spLocks noChangeArrowheads="1"/>
              </p:cNvSpPr>
              <p:nvPr/>
            </p:nvSpPr>
            <p:spPr bwMode="auto">
              <a:xfrm>
                <a:off x="3537803" y="2462198"/>
                <a:ext cx="179610" cy="25659"/>
              </a:xfrm>
              <a:prstGeom prst="rect">
                <a:avLst/>
              </a:pr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07" name="Oval 106"/>
              <p:cNvSpPr>
                <a:spLocks noChangeArrowheads="1"/>
              </p:cNvSpPr>
              <p:nvPr/>
            </p:nvSpPr>
            <p:spPr bwMode="auto">
              <a:xfrm>
                <a:off x="3460377" y="2539174"/>
                <a:ext cx="51317" cy="51317"/>
              </a:xfrm>
              <a:prstGeom prst="ellipse">
                <a:avLst/>
              </a:pr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08" name="Rectangle 107"/>
              <p:cNvSpPr>
                <a:spLocks noChangeArrowheads="1"/>
              </p:cNvSpPr>
              <p:nvPr/>
            </p:nvSpPr>
            <p:spPr bwMode="auto">
              <a:xfrm>
                <a:off x="3537803" y="2551778"/>
                <a:ext cx="179610" cy="26109"/>
              </a:xfrm>
              <a:prstGeom prst="rect">
                <a:avLst/>
              </a:pr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grpSp>
          <p:nvGrpSpPr>
            <p:cNvPr id="109" name="Group 108"/>
            <p:cNvGrpSpPr/>
            <p:nvPr/>
          </p:nvGrpSpPr>
          <p:grpSpPr>
            <a:xfrm>
              <a:off x="1421081" y="4448669"/>
              <a:ext cx="390184" cy="414272"/>
              <a:chOff x="3862272" y="1186470"/>
              <a:chExt cx="526518" cy="576690"/>
            </a:xfrm>
            <a:solidFill>
              <a:srgbClr val="00B050"/>
            </a:solidFill>
          </p:grpSpPr>
          <p:sp>
            <p:nvSpPr>
              <p:cNvPr id="110" name="Freeform 23"/>
              <p:cNvSpPr>
                <a:spLocks noEditPoints="1"/>
              </p:cNvSpPr>
              <p:nvPr/>
            </p:nvSpPr>
            <p:spPr bwMode="auto">
              <a:xfrm>
                <a:off x="3862272" y="1186470"/>
                <a:ext cx="322450" cy="576690"/>
              </a:xfrm>
              <a:custGeom>
                <a:avLst/>
                <a:gdLst>
                  <a:gd name="T0" fmla="*/ 236 w 572"/>
                  <a:gd name="T1" fmla="*/ 263 h 1023"/>
                  <a:gd name="T2" fmla="*/ 257 w 572"/>
                  <a:gd name="T3" fmla="*/ 237 h 1023"/>
                  <a:gd name="T4" fmla="*/ 283 w 572"/>
                  <a:gd name="T5" fmla="*/ 257 h 1023"/>
                  <a:gd name="T6" fmla="*/ 519 w 572"/>
                  <a:gd name="T7" fmla="*/ 357 h 1023"/>
                  <a:gd name="T8" fmla="*/ 540 w 572"/>
                  <a:gd name="T9" fmla="*/ 362 h 1023"/>
                  <a:gd name="T10" fmla="*/ 567 w 572"/>
                  <a:gd name="T11" fmla="*/ 394 h 1023"/>
                  <a:gd name="T12" fmla="*/ 572 w 572"/>
                  <a:gd name="T13" fmla="*/ 410 h 1023"/>
                  <a:gd name="T14" fmla="*/ 567 w 572"/>
                  <a:gd name="T15" fmla="*/ 431 h 1023"/>
                  <a:gd name="T16" fmla="*/ 540 w 572"/>
                  <a:gd name="T17" fmla="*/ 457 h 1023"/>
                  <a:gd name="T18" fmla="*/ 388 w 572"/>
                  <a:gd name="T19" fmla="*/ 462 h 1023"/>
                  <a:gd name="T20" fmla="*/ 304 w 572"/>
                  <a:gd name="T21" fmla="*/ 672 h 1023"/>
                  <a:gd name="T22" fmla="*/ 304 w 572"/>
                  <a:gd name="T23" fmla="*/ 966 h 1023"/>
                  <a:gd name="T24" fmla="*/ 299 w 572"/>
                  <a:gd name="T25" fmla="*/ 987 h 1023"/>
                  <a:gd name="T26" fmla="*/ 268 w 572"/>
                  <a:gd name="T27" fmla="*/ 1018 h 1023"/>
                  <a:gd name="T28" fmla="*/ 247 w 572"/>
                  <a:gd name="T29" fmla="*/ 1023 h 1023"/>
                  <a:gd name="T30" fmla="*/ 226 w 572"/>
                  <a:gd name="T31" fmla="*/ 1018 h 1023"/>
                  <a:gd name="T32" fmla="*/ 194 w 572"/>
                  <a:gd name="T33" fmla="*/ 987 h 1023"/>
                  <a:gd name="T34" fmla="*/ 189 w 572"/>
                  <a:gd name="T35" fmla="*/ 966 h 1023"/>
                  <a:gd name="T36" fmla="*/ 173 w 572"/>
                  <a:gd name="T37" fmla="*/ 1008 h 1023"/>
                  <a:gd name="T38" fmla="*/ 131 w 572"/>
                  <a:gd name="T39" fmla="*/ 1023 h 1023"/>
                  <a:gd name="T40" fmla="*/ 131 w 572"/>
                  <a:gd name="T41" fmla="*/ 1023 h 1023"/>
                  <a:gd name="T42" fmla="*/ 89 w 572"/>
                  <a:gd name="T43" fmla="*/ 1008 h 1023"/>
                  <a:gd name="T44" fmla="*/ 68 w 572"/>
                  <a:gd name="T45" fmla="*/ 966 h 1023"/>
                  <a:gd name="T46" fmla="*/ 68 w 572"/>
                  <a:gd name="T47" fmla="*/ 672 h 1023"/>
                  <a:gd name="T48" fmla="*/ 42 w 572"/>
                  <a:gd name="T49" fmla="*/ 661 h 1023"/>
                  <a:gd name="T50" fmla="*/ 5 w 572"/>
                  <a:gd name="T51" fmla="*/ 625 h 1023"/>
                  <a:gd name="T52" fmla="*/ 0 w 572"/>
                  <a:gd name="T53" fmla="*/ 452 h 1023"/>
                  <a:gd name="T54" fmla="*/ 0 w 572"/>
                  <a:gd name="T55" fmla="*/ 315 h 1023"/>
                  <a:gd name="T56" fmla="*/ 16 w 572"/>
                  <a:gd name="T57" fmla="*/ 294 h 1023"/>
                  <a:gd name="T58" fmla="*/ 95 w 572"/>
                  <a:gd name="T59" fmla="*/ 257 h 1023"/>
                  <a:gd name="T60" fmla="*/ 121 w 572"/>
                  <a:gd name="T61" fmla="*/ 237 h 1023"/>
                  <a:gd name="T62" fmla="*/ 189 w 572"/>
                  <a:gd name="T63" fmla="*/ 305 h 1023"/>
                  <a:gd name="T64" fmla="*/ 189 w 572"/>
                  <a:gd name="T65" fmla="*/ 0 h 1023"/>
                  <a:gd name="T66" fmla="*/ 168 w 572"/>
                  <a:gd name="T67" fmla="*/ 6 h 1023"/>
                  <a:gd name="T68" fmla="*/ 131 w 572"/>
                  <a:gd name="T69" fmla="*/ 21 h 1023"/>
                  <a:gd name="T70" fmla="*/ 110 w 572"/>
                  <a:gd name="T71" fmla="*/ 48 h 1023"/>
                  <a:gd name="T72" fmla="*/ 100 w 572"/>
                  <a:gd name="T73" fmla="*/ 105 h 1023"/>
                  <a:gd name="T74" fmla="*/ 100 w 572"/>
                  <a:gd name="T75" fmla="*/ 111 h 1023"/>
                  <a:gd name="T76" fmla="*/ 100 w 572"/>
                  <a:gd name="T77" fmla="*/ 116 h 1023"/>
                  <a:gd name="T78" fmla="*/ 95 w 572"/>
                  <a:gd name="T79" fmla="*/ 121 h 1023"/>
                  <a:gd name="T80" fmla="*/ 95 w 572"/>
                  <a:gd name="T81" fmla="*/ 142 h 1023"/>
                  <a:gd name="T82" fmla="*/ 105 w 572"/>
                  <a:gd name="T83" fmla="*/ 158 h 1023"/>
                  <a:gd name="T84" fmla="*/ 110 w 572"/>
                  <a:gd name="T85" fmla="*/ 158 h 1023"/>
                  <a:gd name="T86" fmla="*/ 121 w 572"/>
                  <a:gd name="T87" fmla="*/ 179 h 1023"/>
                  <a:gd name="T88" fmla="*/ 152 w 572"/>
                  <a:gd name="T89" fmla="*/ 226 h 1023"/>
                  <a:gd name="T90" fmla="*/ 189 w 572"/>
                  <a:gd name="T91" fmla="*/ 242 h 1023"/>
                  <a:gd name="T92" fmla="*/ 226 w 572"/>
                  <a:gd name="T93" fmla="*/ 226 h 1023"/>
                  <a:gd name="T94" fmla="*/ 257 w 572"/>
                  <a:gd name="T95" fmla="*/ 179 h 1023"/>
                  <a:gd name="T96" fmla="*/ 262 w 572"/>
                  <a:gd name="T97" fmla="*/ 158 h 1023"/>
                  <a:gd name="T98" fmla="*/ 273 w 572"/>
                  <a:gd name="T99" fmla="*/ 158 h 1023"/>
                  <a:gd name="T100" fmla="*/ 278 w 572"/>
                  <a:gd name="T101" fmla="*/ 142 h 1023"/>
                  <a:gd name="T102" fmla="*/ 283 w 572"/>
                  <a:gd name="T103" fmla="*/ 121 h 1023"/>
                  <a:gd name="T104" fmla="*/ 278 w 572"/>
                  <a:gd name="T105" fmla="*/ 116 h 1023"/>
                  <a:gd name="T106" fmla="*/ 278 w 572"/>
                  <a:gd name="T107" fmla="*/ 111 h 1023"/>
                  <a:gd name="T108" fmla="*/ 278 w 572"/>
                  <a:gd name="T109" fmla="*/ 105 h 1023"/>
                  <a:gd name="T110" fmla="*/ 268 w 572"/>
                  <a:gd name="T111" fmla="*/ 48 h 1023"/>
                  <a:gd name="T112" fmla="*/ 247 w 572"/>
                  <a:gd name="T113" fmla="*/ 21 h 1023"/>
                  <a:gd name="T114" fmla="*/ 210 w 572"/>
                  <a:gd name="T115" fmla="*/ 6 h 1023"/>
                  <a:gd name="T116" fmla="*/ 189 w 572"/>
                  <a:gd name="T117" fmla="*/ 0 h 10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72" h="1023">
                    <a:moveTo>
                      <a:pt x="189" y="305"/>
                    </a:moveTo>
                    <a:lnTo>
                      <a:pt x="236" y="263"/>
                    </a:lnTo>
                    <a:lnTo>
                      <a:pt x="257" y="237"/>
                    </a:lnTo>
                    <a:lnTo>
                      <a:pt x="257" y="237"/>
                    </a:lnTo>
                    <a:lnTo>
                      <a:pt x="268" y="247"/>
                    </a:lnTo>
                    <a:lnTo>
                      <a:pt x="283" y="257"/>
                    </a:lnTo>
                    <a:lnTo>
                      <a:pt x="409" y="357"/>
                    </a:lnTo>
                    <a:lnTo>
                      <a:pt x="519" y="357"/>
                    </a:lnTo>
                    <a:lnTo>
                      <a:pt x="519" y="357"/>
                    </a:lnTo>
                    <a:lnTo>
                      <a:pt x="540" y="362"/>
                    </a:lnTo>
                    <a:lnTo>
                      <a:pt x="556" y="373"/>
                    </a:lnTo>
                    <a:lnTo>
                      <a:pt x="567" y="394"/>
                    </a:lnTo>
                    <a:lnTo>
                      <a:pt x="572" y="410"/>
                    </a:lnTo>
                    <a:lnTo>
                      <a:pt x="572" y="410"/>
                    </a:lnTo>
                    <a:lnTo>
                      <a:pt x="572" y="410"/>
                    </a:lnTo>
                    <a:lnTo>
                      <a:pt x="567" y="431"/>
                    </a:lnTo>
                    <a:lnTo>
                      <a:pt x="556" y="446"/>
                    </a:lnTo>
                    <a:lnTo>
                      <a:pt x="540" y="457"/>
                    </a:lnTo>
                    <a:lnTo>
                      <a:pt x="519" y="462"/>
                    </a:lnTo>
                    <a:lnTo>
                      <a:pt x="388" y="462"/>
                    </a:lnTo>
                    <a:lnTo>
                      <a:pt x="304" y="399"/>
                    </a:lnTo>
                    <a:lnTo>
                      <a:pt x="304" y="672"/>
                    </a:lnTo>
                    <a:lnTo>
                      <a:pt x="304" y="819"/>
                    </a:lnTo>
                    <a:lnTo>
                      <a:pt x="304" y="966"/>
                    </a:lnTo>
                    <a:lnTo>
                      <a:pt x="304" y="966"/>
                    </a:lnTo>
                    <a:lnTo>
                      <a:pt x="299" y="987"/>
                    </a:lnTo>
                    <a:lnTo>
                      <a:pt x="289" y="1008"/>
                    </a:lnTo>
                    <a:lnTo>
                      <a:pt x="268" y="1018"/>
                    </a:lnTo>
                    <a:lnTo>
                      <a:pt x="247" y="1023"/>
                    </a:lnTo>
                    <a:lnTo>
                      <a:pt x="247" y="1023"/>
                    </a:lnTo>
                    <a:lnTo>
                      <a:pt x="247" y="1023"/>
                    </a:lnTo>
                    <a:lnTo>
                      <a:pt x="226" y="1018"/>
                    </a:lnTo>
                    <a:lnTo>
                      <a:pt x="205" y="1008"/>
                    </a:lnTo>
                    <a:lnTo>
                      <a:pt x="194" y="987"/>
                    </a:lnTo>
                    <a:lnTo>
                      <a:pt x="189" y="966"/>
                    </a:lnTo>
                    <a:lnTo>
                      <a:pt x="189" y="966"/>
                    </a:lnTo>
                    <a:lnTo>
                      <a:pt x="184" y="987"/>
                    </a:lnTo>
                    <a:lnTo>
                      <a:pt x="173" y="1008"/>
                    </a:lnTo>
                    <a:lnTo>
                      <a:pt x="152" y="1018"/>
                    </a:lnTo>
                    <a:lnTo>
                      <a:pt x="131" y="1023"/>
                    </a:lnTo>
                    <a:lnTo>
                      <a:pt x="131" y="1023"/>
                    </a:lnTo>
                    <a:lnTo>
                      <a:pt x="131" y="1023"/>
                    </a:lnTo>
                    <a:lnTo>
                      <a:pt x="105" y="1018"/>
                    </a:lnTo>
                    <a:lnTo>
                      <a:pt x="89" y="1008"/>
                    </a:lnTo>
                    <a:lnTo>
                      <a:pt x="74" y="987"/>
                    </a:lnTo>
                    <a:lnTo>
                      <a:pt x="68" y="966"/>
                    </a:lnTo>
                    <a:lnTo>
                      <a:pt x="68" y="672"/>
                    </a:lnTo>
                    <a:lnTo>
                      <a:pt x="68" y="672"/>
                    </a:lnTo>
                    <a:lnTo>
                      <a:pt x="68" y="672"/>
                    </a:lnTo>
                    <a:lnTo>
                      <a:pt x="42" y="661"/>
                    </a:lnTo>
                    <a:lnTo>
                      <a:pt x="21" y="646"/>
                    </a:lnTo>
                    <a:lnTo>
                      <a:pt x="5" y="625"/>
                    </a:lnTo>
                    <a:lnTo>
                      <a:pt x="0" y="598"/>
                    </a:lnTo>
                    <a:lnTo>
                      <a:pt x="0" y="452"/>
                    </a:lnTo>
                    <a:lnTo>
                      <a:pt x="0" y="315"/>
                    </a:lnTo>
                    <a:lnTo>
                      <a:pt x="0" y="315"/>
                    </a:lnTo>
                    <a:lnTo>
                      <a:pt x="5" y="305"/>
                    </a:lnTo>
                    <a:lnTo>
                      <a:pt x="16" y="294"/>
                    </a:lnTo>
                    <a:lnTo>
                      <a:pt x="95" y="257"/>
                    </a:lnTo>
                    <a:lnTo>
                      <a:pt x="95" y="257"/>
                    </a:lnTo>
                    <a:lnTo>
                      <a:pt x="110" y="247"/>
                    </a:lnTo>
                    <a:lnTo>
                      <a:pt x="121" y="237"/>
                    </a:lnTo>
                    <a:lnTo>
                      <a:pt x="137" y="263"/>
                    </a:lnTo>
                    <a:lnTo>
                      <a:pt x="189" y="305"/>
                    </a:lnTo>
                    <a:lnTo>
                      <a:pt x="189" y="305"/>
                    </a:lnTo>
                    <a:close/>
                    <a:moveTo>
                      <a:pt x="189" y="0"/>
                    </a:moveTo>
                    <a:lnTo>
                      <a:pt x="189" y="0"/>
                    </a:lnTo>
                    <a:lnTo>
                      <a:pt x="168" y="6"/>
                    </a:lnTo>
                    <a:lnTo>
                      <a:pt x="147" y="11"/>
                    </a:lnTo>
                    <a:lnTo>
                      <a:pt x="131" y="21"/>
                    </a:lnTo>
                    <a:lnTo>
                      <a:pt x="121" y="32"/>
                    </a:lnTo>
                    <a:lnTo>
                      <a:pt x="110" y="48"/>
                    </a:lnTo>
                    <a:lnTo>
                      <a:pt x="105" y="63"/>
                    </a:lnTo>
                    <a:lnTo>
                      <a:pt x="100" y="105"/>
                    </a:lnTo>
                    <a:lnTo>
                      <a:pt x="100" y="105"/>
                    </a:lnTo>
                    <a:lnTo>
                      <a:pt x="100" y="111"/>
                    </a:lnTo>
                    <a:lnTo>
                      <a:pt x="100" y="111"/>
                    </a:lnTo>
                    <a:lnTo>
                      <a:pt x="100" y="116"/>
                    </a:lnTo>
                    <a:lnTo>
                      <a:pt x="95" y="121"/>
                    </a:lnTo>
                    <a:lnTo>
                      <a:pt x="95" y="121"/>
                    </a:lnTo>
                    <a:lnTo>
                      <a:pt x="95" y="132"/>
                    </a:lnTo>
                    <a:lnTo>
                      <a:pt x="95" y="142"/>
                    </a:lnTo>
                    <a:lnTo>
                      <a:pt x="105" y="158"/>
                    </a:lnTo>
                    <a:lnTo>
                      <a:pt x="105" y="158"/>
                    </a:lnTo>
                    <a:lnTo>
                      <a:pt x="110" y="158"/>
                    </a:lnTo>
                    <a:lnTo>
                      <a:pt x="110" y="158"/>
                    </a:lnTo>
                    <a:lnTo>
                      <a:pt x="121" y="179"/>
                    </a:lnTo>
                    <a:lnTo>
                      <a:pt x="121" y="179"/>
                    </a:lnTo>
                    <a:lnTo>
                      <a:pt x="137" y="205"/>
                    </a:lnTo>
                    <a:lnTo>
                      <a:pt x="152" y="226"/>
                    </a:lnTo>
                    <a:lnTo>
                      <a:pt x="168" y="237"/>
                    </a:lnTo>
                    <a:lnTo>
                      <a:pt x="189" y="242"/>
                    </a:lnTo>
                    <a:lnTo>
                      <a:pt x="205" y="237"/>
                    </a:lnTo>
                    <a:lnTo>
                      <a:pt x="226" y="226"/>
                    </a:lnTo>
                    <a:lnTo>
                      <a:pt x="241" y="205"/>
                    </a:lnTo>
                    <a:lnTo>
                      <a:pt x="257" y="179"/>
                    </a:lnTo>
                    <a:lnTo>
                      <a:pt x="257" y="179"/>
                    </a:lnTo>
                    <a:lnTo>
                      <a:pt x="262" y="158"/>
                    </a:lnTo>
                    <a:lnTo>
                      <a:pt x="262" y="158"/>
                    </a:lnTo>
                    <a:lnTo>
                      <a:pt x="273" y="158"/>
                    </a:lnTo>
                    <a:lnTo>
                      <a:pt x="273" y="158"/>
                    </a:lnTo>
                    <a:lnTo>
                      <a:pt x="278" y="142"/>
                    </a:lnTo>
                    <a:lnTo>
                      <a:pt x="283" y="132"/>
                    </a:lnTo>
                    <a:lnTo>
                      <a:pt x="283" y="121"/>
                    </a:lnTo>
                    <a:lnTo>
                      <a:pt x="283" y="121"/>
                    </a:lnTo>
                    <a:lnTo>
                      <a:pt x="278" y="116"/>
                    </a:lnTo>
                    <a:lnTo>
                      <a:pt x="278" y="111"/>
                    </a:lnTo>
                    <a:lnTo>
                      <a:pt x="278" y="111"/>
                    </a:lnTo>
                    <a:lnTo>
                      <a:pt x="278" y="105"/>
                    </a:lnTo>
                    <a:lnTo>
                      <a:pt x="278" y="105"/>
                    </a:lnTo>
                    <a:lnTo>
                      <a:pt x="273" y="63"/>
                    </a:lnTo>
                    <a:lnTo>
                      <a:pt x="268" y="48"/>
                    </a:lnTo>
                    <a:lnTo>
                      <a:pt x="257" y="32"/>
                    </a:lnTo>
                    <a:lnTo>
                      <a:pt x="247" y="21"/>
                    </a:lnTo>
                    <a:lnTo>
                      <a:pt x="231" y="11"/>
                    </a:lnTo>
                    <a:lnTo>
                      <a:pt x="210" y="6"/>
                    </a:lnTo>
                    <a:lnTo>
                      <a:pt x="189" y="0"/>
                    </a:lnTo>
                    <a:lnTo>
                      <a:pt x="189"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11" name="Freeform 24"/>
              <p:cNvSpPr>
                <a:spLocks/>
              </p:cNvSpPr>
              <p:nvPr/>
            </p:nvSpPr>
            <p:spPr bwMode="auto">
              <a:xfrm>
                <a:off x="4101854" y="1308235"/>
                <a:ext cx="286936" cy="363602"/>
              </a:xfrm>
              <a:custGeom>
                <a:avLst/>
                <a:gdLst>
                  <a:gd name="T0" fmla="*/ 63 w 509"/>
                  <a:gd name="T1" fmla="*/ 0 h 645"/>
                  <a:gd name="T2" fmla="*/ 446 w 509"/>
                  <a:gd name="T3" fmla="*/ 0 h 645"/>
                  <a:gd name="T4" fmla="*/ 446 w 509"/>
                  <a:gd name="T5" fmla="*/ 0 h 645"/>
                  <a:gd name="T6" fmla="*/ 472 w 509"/>
                  <a:gd name="T7" fmla="*/ 5 h 645"/>
                  <a:gd name="T8" fmla="*/ 488 w 509"/>
                  <a:gd name="T9" fmla="*/ 15 h 645"/>
                  <a:gd name="T10" fmla="*/ 488 w 509"/>
                  <a:gd name="T11" fmla="*/ 15 h 645"/>
                  <a:gd name="T12" fmla="*/ 504 w 509"/>
                  <a:gd name="T13" fmla="*/ 36 h 645"/>
                  <a:gd name="T14" fmla="*/ 509 w 509"/>
                  <a:gd name="T15" fmla="*/ 62 h 645"/>
                  <a:gd name="T16" fmla="*/ 509 w 509"/>
                  <a:gd name="T17" fmla="*/ 582 h 645"/>
                  <a:gd name="T18" fmla="*/ 509 w 509"/>
                  <a:gd name="T19" fmla="*/ 582 h 645"/>
                  <a:gd name="T20" fmla="*/ 504 w 509"/>
                  <a:gd name="T21" fmla="*/ 608 h 645"/>
                  <a:gd name="T22" fmla="*/ 488 w 509"/>
                  <a:gd name="T23" fmla="*/ 624 h 645"/>
                  <a:gd name="T24" fmla="*/ 488 w 509"/>
                  <a:gd name="T25" fmla="*/ 624 h 645"/>
                  <a:gd name="T26" fmla="*/ 472 w 509"/>
                  <a:gd name="T27" fmla="*/ 639 h 645"/>
                  <a:gd name="T28" fmla="*/ 446 w 509"/>
                  <a:gd name="T29" fmla="*/ 645 h 645"/>
                  <a:gd name="T30" fmla="*/ 63 w 509"/>
                  <a:gd name="T31" fmla="*/ 645 h 645"/>
                  <a:gd name="T32" fmla="*/ 63 w 509"/>
                  <a:gd name="T33" fmla="*/ 645 h 645"/>
                  <a:gd name="T34" fmla="*/ 37 w 509"/>
                  <a:gd name="T35" fmla="*/ 639 h 645"/>
                  <a:gd name="T36" fmla="*/ 21 w 509"/>
                  <a:gd name="T37" fmla="*/ 624 h 645"/>
                  <a:gd name="T38" fmla="*/ 21 w 509"/>
                  <a:gd name="T39" fmla="*/ 624 h 645"/>
                  <a:gd name="T40" fmla="*/ 5 w 509"/>
                  <a:gd name="T41" fmla="*/ 608 h 645"/>
                  <a:gd name="T42" fmla="*/ 0 w 509"/>
                  <a:gd name="T43" fmla="*/ 582 h 645"/>
                  <a:gd name="T44" fmla="*/ 0 w 509"/>
                  <a:gd name="T45" fmla="*/ 278 h 645"/>
                  <a:gd name="T46" fmla="*/ 47 w 509"/>
                  <a:gd name="T47" fmla="*/ 278 h 645"/>
                  <a:gd name="T48" fmla="*/ 47 w 509"/>
                  <a:gd name="T49" fmla="*/ 582 h 645"/>
                  <a:gd name="T50" fmla="*/ 47 w 509"/>
                  <a:gd name="T51" fmla="*/ 582 h 645"/>
                  <a:gd name="T52" fmla="*/ 52 w 509"/>
                  <a:gd name="T53" fmla="*/ 592 h 645"/>
                  <a:gd name="T54" fmla="*/ 52 w 509"/>
                  <a:gd name="T55" fmla="*/ 592 h 645"/>
                  <a:gd name="T56" fmla="*/ 63 w 509"/>
                  <a:gd name="T57" fmla="*/ 597 h 645"/>
                  <a:gd name="T58" fmla="*/ 446 w 509"/>
                  <a:gd name="T59" fmla="*/ 597 h 645"/>
                  <a:gd name="T60" fmla="*/ 446 w 509"/>
                  <a:gd name="T61" fmla="*/ 597 h 645"/>
                  <a:gd name="T62" fmla="*/ 456 w 509"/>
                  <a:gd name="T63" fmla="*/ 592 h 645"/>
                  <a:gd name="T64" fmla="*/ 456 w 509"/>
                  <a:gd name="T65" fmla="*/ 592 h 645"/>
                  <a:gd name="T66" fmla="*/ 462 w 509"/>
                  <a:gd name="T67" fmla="*/ 582 h 645"/>
                  <a:gd name="T68" fmla="*/ 462 w 509"/>
                  <a:gd name="T69" fmla="*/ 62 h 645"/>
                  <a:gd name="T70" fmla="*/ 462 w 509"/>
                  <a:gd name="T71" fmla="*/ 62 h 645"/>
                  <a:gd name="T72" fmla="*/ 456 w 509"/>
                  <a:gd name="T73" fmla="*/ 52 h 645"/>
                  <a:gd name="T74" fmla="*/ 456 w 509"/>
                  <a:gd name="T75" fmla="*/ 52 h 645"/>
                  <a:gd name="T76" fmla="*/ 446 w 509"/>
                  <a:gd name="T77" fmla="*/ 47 h 645"/>
                  <a:gd name="T78" fmla="*/ 63 w 509"/>
                  <a:gd name="T79" fmla="*/ 47 h 645"/>
                  <a:gd name="T80" fmla="*/ 63 w 509"/>
                  <a:gd name="T81" fmla="*/ 47 h 645"/>
                  <a:gd name="T82" fmla="*/ 52 w 509"/>
                  <a:gd name="T83" fmla="*/ 52 h 645"/>
                  <a:gd name="T84" fmla="*/ 52 w 509"/>
                  <a:gd name="T85" fmla="*/ 52 h 645"/>
                  <a:gd name="T86" fmla="*/ 47 w 509"/>
                  <a:gd name="T87" fmla="*/ 62 h 645"/>
                  <a:gd name="T88" fmla="*/ 47 w 509"/>
                  <a:gd name="T89" fmla="*/ 115 h 645"/>
                  <a:gd name="T90" fmla="*/ 0 w 509"/>
                  <a:gd name="T91" fmla="*/ 115 h 645"/>
                  <a:gd name="T92" fmla="*/ 0 w 509"/>
                  <a:gd name="T93" fmla="*/ 62 h 645"/>
                  <a:gd name="T94" fmla="*/ 0 w 509"/>
                  <a:gd name="T95" fmla="*/ 62 h 645"/>
                  <a:gd name="T96" fmla="*/ 5 w 509"/>
                  <a:gd name="T97" fmla="*/ 36 h 645"/>
                  <a:gd name="T98" fmla="*/ 21 w 509"/>
                  <a:gd name="T99" fmla="*/ 15 h 645"/>
                  <a:gd name="T100" fmla="*/ 21 w 509"/>
                  <a:gd name="T101" fmla="*/ 15 h 645"/>
                  <a:gd name="T102" fmla="*/ 37 w 509"/>
                  <a:gd name="T103" fmla="*/ 5 h 645"/>
                  <a:gd name="T104" fmla="*/ 63 w 509"/>
                  <a:gd name="T105" fmla="*/ 0 h 645"/>
                  <a:gd name="T106" fmla="*/ 63 w 509"/>
                  <a:gd name="T107" fmla="*/ 0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09" h="645">
                    <a:moveTo>
                      <a:pt x="63" y="0"/>
                    </a:moveTo>
                    <a:lnTo>
                      <a:pt x="446" y="0"/>
                    </a:lnTo>
                    <a:lnTo>
                      <a:pt x="446" y="0"/>
                    </a:lnTo>
                    <a:lnTo>
                      <a:pt x="472" y="5"/>
                    </a:lnTo>
                    <a:lnTo>
                      <a:pt x="488" y="15"/>
                    </a:lnTo>
                    <a:lnTo>
                      <a:pt x="488" y="15"/>
                    </a:lnTo>
                    <a:lnTo>
                      <a:pt x="504" y="36"/>
                    </a:lnTo>
                    <a:lnTo>
                      <a:pt x="509" y="62"/>
                    </a:lnTo>
                    <a:lnTo>
                      <a:pt x="509" y="582"/>
                    </a:lnTo>
                    <a:lnTo>
                      <a:pt x="509" y="582"/>
                    </a:lnTo>
                    <a:lnTo>
                      <a:pt x="504" y="608"/>
                    </a:lnTo>
                    <a:lnTo>
                      <a:pt x="488" y="624"/>
                    </a:lnTo>
                    <a:lnTo>
                      <a:pt x="488" y="624"/>
                    </a:lnTo>
                    <a:lnTo>
                      <a:pt x="472" y="639"/>
                    </a:lnTo>
                    <a:lnTo>
                      <a:pt x="446" y="645"/>
                    </a:lnTo>
                    <a:lnTo>
                      <a:pt x="63" y="645"/>
                    </a:lnTo>
                    <a:lnTo>
                      <a:pt x="63" y="645"/>
                    </a:lnTo>
                    <a:lnTo>
                      <a:pt x="37" y="639"/>
                    </a:lnTo>
                    <a:lnTo>
                      <a:pt x="21" y="624"/>
                    </a:lnTo>
                    <a:lnTo>
                      <a:pt x="21" y="624"/>
                    </a:lnTo>
                    <a:lnTo>
                      <a:pt x="5" y="608"/>
                    </a:lnTo>
                    <a:lnTo>
                      <a:pt x="0" y="582"/>
                    </a:lnTo>
                    <a:lnTo>
                      <a:pt x="0" y="278"/>
                    </a:lnTo>
                    <a:lnTo>
                      <a:pt x="47" y="278"/>
                    </a:lnTo>
                    <a:lnTo>
                      <a:pt x="47" y="582"/>
                    </a:lnTo>
                    <a:lnTo>
                      <a:pt x="47" y="582"/>
                    </a:lnTo>
                    <a:lnTo>
                      <a:pt x="52" y="592"/>
                    </a:lnTo>
                    <a:lnTo>
                      <a:pt x="52" y="592"/>
                    </a:lnTo>
                    <a:lnTo>
                      <a:pt x="63" y="597"/>
                    </a:lnTo>
                    <a:lnTo>
                      <a:pt x="446" y="597"/>
                    </a:lnTo>
                    <a:lnTo>
                      <a:pt x="446" y="597"/>
                    </a:lnTo>
                    <a:lnTo>
                      <a:pt x="456" y="592"/>
                    </a:lnTo>
                    <a:lnTo>
                      <a:pt x="456" y="592"/>
                    </a:lnTo>
                    <a:lnTo>
                      <a:pt x="462" y="582"/>
                    </a:lnTo>
                    <a:lnTo>
                      <a:pt x="462" y="62"/>
                    </a:lnTo>
                    <a:lnTo>
                      <a:pt x="462" y="62"/>
                    </a:lnTo>
                    <a:lnTo>
                      <a:pt x="456" y="52"/>
                    </a:lnTo>
                    <a:lnTo>
                      <a:pt x="456" y="52"/>
                    </a:lnTo>
                    <a:lnTo>
                      <a:pt x="446" y="47"/>
                    </a:lnTo>
                    <a:lnTo>
                      <a:pt x="63" y="47"/>
                    </a:lnTo>
                    <a:lnTo>
                      <a:pt x="63" y="47"/>
                    </a:lnTo>
                    <a:lnTo>
                      <a:pt x="52" y="52"/>
                    </a:lnTo>
                    <a:lnTo>
                      <a:pt x="52" y="52"/>
                    </a:lnTo>
                    <a:lnTo>
                      <a:pt x="47" y="62"/>
                    </a:lnTo>
                    <a:lnTo>
                      <a:pt x="47" y="115"/>
                    </a:lnTo>
                    <a:lnTo>
                      <a:pt x="0" y="115"/>
                    </a:lnTo>
                    <a:lnTo>
                      <a:pt x="0" y="62"/>
                    </a:lnTo>
                    <a:lnTo>
                      <a:pt x="0" y="62"/>
                    </a:lnTo>
                    <a:lnTo>
                      <a:pt x="5" y="36"/>
                    </a:lnTo>
                    <a:lnTo>
                      <a:pt x="21" y="15"/>
                    </a:lnTo>
                    <a:lnTo>
                      <a:pt x="21" y="15"/>
                    </a:lnTo>
                    <a:lnTo>
                      <a:pt x="37" y="5"/>
                    </a:lnTo>
                    <a:lnTo>
                      <a:pt x="63" y="0"/>
                    </a:lnTo>
                    <a:lnTo>
                      <a:pt x="63"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12" name="Freeform 25"/>
              <p:cNvSpPr>
                <a:spLocks noEditPoints="1"/>
              </p:cNvSpPr>
              <p:nvPr/>
            </p:nvSpPr>
            <p:spPr bwMode="auto">
              <a:xfrm>
                <a:off x="4158227" y="1455931"/>
                <a:ext cx="174191" cy="168554"/>
              </a:xfrm>
              <a:custGeom>
                <a:avLst/>
                <a:gdLst>
                  <a:gd name="T0" fmla="*/ 251 w 309"/>
                  <a:gd name="T1" fmla="*/ 0 h 299"/>
                  <a:gd name="T2" fmla="*/ 288 w 309"/>
                  <a:gd name="T3" fmla="*/ 0 h 299"/>
                  <a:gd name="T4" fmla="*/ 288 w 309"/>
                  <a:gd name="T5" fmla="*/ 0 h 299"/>
                  <a:gd name="T6" fmla="*/ 304 w 309"/>
                  <a:gd name="T7" fmla="*/ 5 h 299"/>
                  <a:gd name="T8" fmla="*/ 309 w 309"/>
                  <a:gd name="T9" fmla="*/ 16 h 299"/>
                  <a:gd name="T10" fmla="*/ 309 w 309"/>
                  <a:gd name="T11" fmla="*/ 283 h 299"/>
                  <a:gd name="T12" fmla="*/ 309 w 309"/>
                  <a:gd name="T13" fmla="*/ 283 h 299"/>
                  <a:gd name="T14" fmla="*/ 304 w 309"/>
                  <a:gd name="T15" fmla="*/ 293 h 299"/>
                  <a:gd name="T16" fmla="*/ 288 w 309"/>
                  <a:gd name="T17" fmla="*/ 299 h 299"/>
                  <a:gd name="T18" fmla="*/ 251 w 309"/>
                  <a:gd name="T19" fmla="*/ 299 h 299"/>
                  <a:gd name="T20" fmla="*/ 251 w 309"/>
                  <a:gd name="T21" fmla="*/ 299 h 299"/>
                  <a:gd name="T22" fmla="*/ 236 w 309"/>
                  <a:gd name="T23" fmla="*/ 293 h 299"/>
                  <a:gd name="T24" fmla="*/ 230 w 309"/>
                  <a:gd name="T25" fmla="*/ 283 h 299"/>
                  <a:gd name="T26" fmla="*/ 230 w 309"/>
                  <a:gd name="T27" fmla="*/ 16 h 299"/>
                  <a:gd name="T28" fmla="*/ 230 w 309"/>
                  <a:gd name="T29" fmla="*/ 16 h 299"/>
                  <a:gd name="T30" fmla="*/ 236 w 309"/>
                  <a:gd name="T31" fmla="*/ 5 h 299"/>
                  <a:gd name="T32" fmla="*/ 251 w 309"/>
                  <a:gd name="T33" fmla="*/ 0 h 299"/>
                  <a:gd name="T34" fmla="*/ 251 w 309"/>
                  <a:gd name="T35" fmla="*/ 0 h 299"/>
                  <a:gd name="T36" fmla="*/ 21 w 309"/>
                  <a:gd name="T37" fmla="*/ 173 h 299"/>
                  <a:gd name="T38" fmla="*/ 57 w 309"/>
                  <a:gd name="T39" fmla="*/ 173 h 299"/>
                  <a:gd name="T40" fmla="*/ 57 w 309"/>
                  <a:gd name="T41" fmla="*/ 173 h 299"/>
                  <a:gd name="T42" fmla="*/ 73 w 309"/>
                  <a:gd name="T43" fmla="*/ 178 h 299"/>
                  <a:gd name="T44" fmla="*/ 78 w 309"/>
                  <a:gd name="T45" fmla="*/ 189 h 299"/>
                  <a:gd name="T46" fmla="*/ 78 w 309"/>
                  <a:gd name="T47" fmla="*/ 283 h 299"/>
                  <a:gd name="T48" fmla="*/ 78 w 309"/>
                  <a:gd name="T49" fmla="*/ 283 h 299"/>
                  <a:gd name="T50" fmla="*/ 73 w 309"/>
                  <a:gd name="T51" fmla="*/ 293 h 299"/>
                  <a:gd name="T52" fmla="*/ 57 w 309"/>
                  <a:gd name="T53" fmla="*/ 299 h 299"/>
                  <a:gd name="T54" fmla="*/ 21 w 309"/>
                  <a:gd name="T55" fmla="*/ 299 h 299"/>
                  <a:gd name="T56" fmla="*/ 21 w 309"/>
                  <a:gd name="T57" fmla="*/ 299 h 299"/>
                  <a:gd name="T58" fmla="*/ 5 w 309"/>
                  <a:gd name="T59" fmla="*/ 293 h 299"/>
                  <a:gd name="T60" fmla="*/ 0 w 309"/>
                  <a:gd name="T61" fmla="*/ 283 h 299"/>
                  <a:gd name="T62" fmla="*/ 0 w 309"/>
                  <a:gd name="T63" fmla="*/ 189 h 299"/>
                  <a:gd name="T64" fmla="*/ 0 w 309"/>
                  <a:gd name="T65" fmla="*/ 189 h 299"/>
                  <a:gd name="T66" fmla="*/ 5 w 309"/>
                  <a:gd name="T67" fmla="*/ 178 h 299"/>
                  <a:gd name="T68" fmla="*/ 21 w 309"/>
                  <a:gd name="T69" fmla="*/ 173 h 299"/>
                  <a:gd name="T70" fmla="*/ 21 w 309"/>
                  <a:gd name="T71" fmla="*/ 173 h 299"/>
                  <a:gd name="T72" fmla="*/ 136 w 309"/>
                  <a:gd name="T73" fmla="*/ 94 h 299"/>
                  <a:gd name="T74" fmla="*/ 173 w 309"/>
                  <a:gd name="T75" fmla="*/ 94 h 299"/>
                  <a:gd name="T76" fmla="*/ 173 w 309"/>
                  <a:gd name="T77" fmla="*/ 94 h 299"/>
                  <a:gd name="T78" fmla="*/ 189 w 309"/>
                  <a:gd name="T79" fmla="*/ 99 h 299"/>
                  <a:gd name="T80" fmla="*/ 194 w 309"/>
                  <a:gd name="T81" fmla="*/ 110 h 299"/>
                  <a:gd name="T82" fmla="*/ 194 w 309"/>
                  <a:gd name="T83" fmla="*/ 283 h 299"/>
                  <a:gd name="T84" fmla="*/ 194 w 309"/>
                  <a:gd name="T85" fmla="*/ 283 h 299"/>
                  <a:gd name="T86" fmla="*/ 189 w 309"/>
                  <a:gd name="T87" fmla="*/ 293 h 299"/>
                  <a:gd name="T88" fmla="*/ 173 w 309"/>
                  <a:gd name="T89" fmla="*/ 299 h 299"/>
                  <a:gd name="T90" fmla="*/ 136 w 309"/>
                  <a:gd name="T91" fmla="*/ 299 h 299"/>
                  <a:gd name="T92" fmla="*/ 136 w 309"/>
                  <a:gd name="T93" fmla="*/ 299 h 299"/>
                  <a:gd name="T94" fmla="*/ 120 w 309"/>
                  <a:gd name="T95" fmla="*/ 293 h 299"/>
                  <a:gd name="T96" fmla="*/ 115 w 309"/>
                  <a:gd name="T97" fmla="*/ 283 h 299"/>
                  <a:gd name="T98" fmla="*/ 115 w 309"/>
                  <a:gd name="T99" fmla="*/ 110 h 299"/>
                  <a:gd name="T100" fmla="*/ 115 w 309"/>
                  <a:gd name="T101" fmla="*/ 110 h 299"/>
                  <a:gd name="T102" fmla="*/ 120 w 309"/>
                  <a:gd name="T103" fmla="*/ 99 h 299"/>
                  <a:gd name="T104" fmla="*/ 136 w 309"/>
                  <a:gd name="T105" fmla="*/ 94 h 299"/>
                  <a:gd name="T106" fmla="*/ 136 w 309"/>
                  <a:gd name="T107" fmla="*/ 94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9" h="299">
                    <a:moveTo>
                      <a:pt x="251" y="0"/>
                    </a:moveTo>
                    <a:lnTo>
                      <a:pt x="288" y="0"/>
                    </a:lnTo>
                    <a:lnTo>
                      <a:pt x="288" y="0"/>
                    </a:lnTo>
                    <a:lnTo>
                      <a:pt x="304" y="5"/>
                    </a:lnTo>
                    <a:lnTo>
                      <a:pt x="309" y="16"/>
                    </a:lnTo>
                    <a:lnTo>
                      <a:pt x="309" y="283"/>
                    </a:lnTo>
                    <a:lnTo>
                      <a:pt x="309" y="283"/>
                    </a:lnTo>
                    <a:lnTo>
                      <a:pt x="304" y="293"/>
                    </a:lnTo>
                    <a:lnTo>
                      <a:pt x="288" y="299"/>
                    </a:lnTo>
                    <a:lnTo>
                      <a:pt x="251" y="299"/>
                    </a:lnTo>
                    <a:lnTo>
                      <a:pt x="251" y="299"/>
                    </a:lnTo>
                    <a:lnTo>
                      <a:pt x="236" y="293"/>
                    </a:lnTo>
                    <a:lnTo>
                      <a:pt x="230" y="283"/>
                    </a:lnTo>
                    <a:lnTo>
                      <a:pt x="230" y="16"/>
                    </a:lnTo>
                    <a:lnTo>
                      <a:pt x="230" y="16"/>
                    </a:lnTo>
                    <a:lnTo>
                      <a:pt x="236" y="5"/>
                    </a:lnTo>
                    <a:lnTo>
                      <a:pt x="251" y="0"/>
                    </a:lnTo>
                    <a:lnTo>
                      <a:pt x="251" y="0"/>
                    </a:lnTo>
                    <a:close/>
                    <a:moveTo>
                      <a:pt x="21" y="173"/>
                    </a:moveTo>
                    <a:lnTo>
                      <a:pt x="57" y="173"/>
                    </a:lnTo>
                    <a:lnTo>
                      <a:pt x="57" y="173"/>
                    </a:lnTo>
                    <a:lnTo>
                      <a:pt x="73" y="178"/>
                    </a:lnTo>
                    <a:lnTo>
                      <a:pt x="78" y="189"/>
                    </a:lnTo>
                    <a:lnTo>
                      <a:pt x="78" y="283"/>
                    </a:lnTo>
                    <a:lnTo>
                      <a:pt x="78" y="283"/>
                    </a:lnTo>
                    <a:lnTo>
                      <a:pt x="73" y="293"/>
                    </a:lnTo>
                    <a:lnTo>
                      <a:pt x="57" y="299"/>
                    </a:lnTo>
                    <a:lnTo>
                      <a:pt x="21" y="299"/>
                    </a:lnTo>
                    <a:lnTo>
                      <a:pt x="21" y="299"/>
                    </a:lnTo>
                    <a:lnTo>
                      <a:pt x="5" y="293"/>
                    </a:lnTo>
                    <a:lnTo>
                      <a:pt x="0" y="283"/>
                    </a:lnTo>
                    <a:lnTo>
                      <a:pt x="0" y="189"/>
                    </a:lnTo>
                    <a:lnTo>
                      <a:pt x="0" y="189"/>
                    </a:lnTo>
                    <a:lnTo>
                      <a:pt x="5" y="178"/>
                    </a:lnTo>
                    <a:lnTo>
                      <a:pt x="21" y="173"/>
                    </a:lnTo>
                    <a:lnTo>
                      <a:pt x="21" y="173"/>
                    </a:lnTo>
                    <a:close/>
                    <a:moveTo>
                      <a:pt x="136" y="94"/>
                    </a:moveTo>
                    <a:lnTo>
                      <a:pt x="173" y="94"/>
                    </a:lnTo>
                    <a:lnTo>
                      <a:pt x="173" y="94"/>
                    </a:lnTo>
                    <a:lnTo>
                      <a:pt x="189" y="99"/>
                    </a:lnTo>
                    <a:lnTo>
                      <a:pt x="194" y="110"/>
                    </a:lnTo>
                    <a:lnTo>
                      <a:pt x="194" y="283"/>
                    </a:lnTo>
                    <a:lnTo>
                      <a:pt x="194" y="283"/>
                    </a:lnTo>
                    <a:lnTo>
                      <a:pt x="189" y="293"/>
                    </a:lnTo>
                    <a:lnTo>
                      <a:pt x="173" y="299"/>
                    </a:lnTo>
                    <a:lnTo>
                      <a:pt x="136" y="299"/>
                    </a:lnTo>
                    <a:lnTo>
                      <a:pt x="136" y="299"/>
                    </a:lnTo>
                    <a:lnTo>
                      <a:pt x="120" y="293"/>
                    </a:lnTo>
                    <a:lnTo>
                      <a:pt x="115" y="283"/>
                    </a:lnTo>
                    <a:lnTo>
                      <a:pt x="115" y="110"/>
                    </a:lnTo>
                    <a:lnTo>
                      <a:pt x="115" y="110"/>
                    </a:lnTo>
                    <a:lnTo>
                      <a:pt x="120" y="99"/>
                    </a:lnTo>
                    <a:lnTo>
                      <a:pt x="136" y="94"/>
                    </a:lnTo>
                    <a:lnTo>
                      <a:pt x="136" y="94"/>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13" name="Freeform 26"/>
              <p:cNvSpPr>
                <a:spLocks/>
              </p:cNvSpPr>
              <p:nvPr/>
            </p:nvSpPr>
            <p:spPr bwMode="auto">
              <a:xfrm>
                <a:off x="4229256" y="1251862"/>
                <a:ext cx="32132" cy="44534"/>
              </a:xfrm>
              <a:custGeom>
                <a:avLst/>
                <a:gdLst>
                  <a:gd name="T0" fmla="*/ 31 w 57"/>
                  <a:gd name="T1" fmla="*/ 0 h 79"/>
                  <a:gd name="T2" fmla="*/ 31 w 57"/>
                  <a:gd name="T3" fmla="*/ 0 h 79"/>
                  <a:gd name="T4" fmla="*/ 31 w 57"/>
                  <a:gd name="T5" fmla="*/ 0 h 79"/>
                  <a:gd name="T6" fmla="*/ 42 w 57"/>
                  <a:gd name="T7" fmla="*/ 5 h 79"/>
                  <a:gd name="T8" fmla="*/ 47 w 57"/>
                  <a:gd name="T9" fmla="*/ 10 h 79"/>
                  <a:gd name="T10" fmla="*/ 57 w 57"/>
                  <a:gd name="T11" fmla="*/ 21 h 79"/>
                  <a:gd name="T12" fmla="*/ 57 w 57"/>
                  <a:gd name="T13" fmla="*/ 31 h 79"/>
                  <a:gd name="T14" fmla="*/ 57 w 57"/>
                  <a:gd name="T15" fmla="*/ 79 h 79"/>
                  <a:gd name="T16" fmla="*/ 0 w 57"/>
                  <a:gd name="T17" fmla="*/ 79 h 79"/>
                  <a:gd name="T18" fmla="*/ 0 w 57"/>
                  <a:gd name="T19" fmla="*/ 31 h 79"/>
                  <a:gd name="T20" fmla="*/ 0 w 57"/>
                  <a:gd name="T21" fmla="*/ 31 h 79"/>
                  <a:gd name="T22" fmla="*/ 5 w 57"/>
                  <a:gd name="T23" fmla="*/ 21 h 79"/>
                  <a:gd name="T24" fmla="*/ 10 w 57"/>
                  <a:gd name="T25" fmla="*/ 10 h 79"/>
                  <a:gd name="T26" fmla="*/ 15 w 57"/>
                  <a:gd name="T27" fmla="*/ 5 h 79"/>
                  <a:gd name="T28" fmla="*/ 31 w 57"/>
                  <a:gd name="T29" fmla="*/ 0 h 79"/>
                  <a:gd name="T30" fmla="*/ 31 w 57"/>
                  <a:gd name="T3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79">
                    <a:moveTo>
                      <a:pt x="31" y="0"/>
                    </a:moveTo>
                    <a:lnTo>
                      <a:pt x="31" y="0"/>
                    </a:lnTo>
                    <a:lnTo>
                      <a:pt x="31" y="0"/>
                    </a:lnTo>
                    <a:lnTo>
                      <a:pt x="42" y="5"/>
                    </a:lnTo>
                    <a:lnTo>
                      <a:pt x="47" y="10"/>
                    </a:lnTo>
                    <a:lnTo>
                      <a:pt x="57" y="21"/>
                    </a:lnTo>
                    <a:lnTo>
                      <a:pt x="57" y="31"/>
                    </a:lnTo>
                    <a:lnTo>
                      <a:pt x="57" y="79"/>
                    </a:lnTo>
                    <a:lnTo>
                      <a:pt x="0" y="79"/>
                    </a:lnTo>
                    <a:lnTo>
                      <a:pt x="0" y="31"/>
                    </a:lnTo>
                    <a:lnTo>
                      <a:pt x="0" y="31"/>
                    </a:lnTo>
                    <a:lnTo>
                      <a:pt x="5" y="21"/>
                    </a:lnTo>
                    <a:lnTo>
                      <a:pt x="10" y="10"/>
                    </a:lnTo>
                    <a:lnTo>
                      <a:pt x="15" y="5"/>
                    </a:lnTo>
                    <a:lnTo>
                      <a:pt x="31" y="0"/>
                    </a:lnTo>
                    <a:lnTo>
                      <a:pt x="31"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14" name="Freeform 27"/>
              <p:cNvSpPr>
                <a:spLocks/>
              </p:cNvSpPr>
              <p:nvPr/>
            </p:nvSpPr>
            <p:spPr bwMode="auto">
              <a:xfrm>
                <a:off x="4285065" y="1683675"/>
                <a:ext cx="62010" cy="79485"/>
              </a:xfrm>
              <a:custGeom>
                <a:avLst/>
                <a:gdLst>
                  <a:gd name="T0" fmla="*/ 53 w 110"/>
                  <a:gd name="T1" fmla="*/ 0 h 141"/>
                  <a:gd name="T2" fmla="*/ 110 w 110"/>
                  <a:gd name="T3" fmla="*/ 141 h 141"/>
                  <a:gd name="T4" fmla="*/ 58 w 110"/>
                  <a:gd name="T5" fmla="*/ 141 h 141"/>
                  <a:gd name="T6" fmla="*/ 0 w 110"/>
                  <a:gd name="T7" fmla="*/ 0 h 141"/>
                  <a:gd name="T8" fmla="*/ 53 w 110"/>
                  <a:gd name="T9" fmla="*/ 0 h 141"/>
                </a:gdLst>
                <a:ahLst/>
                <a:cxnLst>
                  <a:cxn ang="0">
                    <a:pos x="T0" y="T1"/>
                  </a:cxn>
                  <a:cxn ang="0">
                    <a:pos x="T2" y="T3"/>
                  </a:cxn>
                  <a:cxn ang="0">
                    <a:pos x="T4" y="T5"/>
                  </a:cxn>
                  <a:cxn ang="0">
                    <a:pos x="T6" y="T7"/>
                  </a:cxn>
                  <a:cxn ang="0">
                    <a:pos x="T8" y="T9"/>
                  </a:cxn>
                </a:cxnLst>
                <a:rect l="0" t="0" r="r" b="b"/>
                <a:pathLst>
                  <a:path w="110" h="141">
                    <a:moveTo>
                      <a:pt x="53" y="0"/>
                    </a:moveTo>
                    <a:lnTo>
                      <a:pt x="110" y="141"/>
                    </a:lnTo>
                    <a:lnTo>
                      <a:pt x="58" y="141"/>
                    </a:lnTo>
                    <a:lnTo>
                      <a:pt x="0" y="0"/>
                    </a:lnTo>
                    <a:lnTo>
                      <a:pt x="53"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15" name="Freeform 28"/>
              <p:cNvSpPr>
                <a:spLocks/>
              </p:cNvSpPr>
              <p:nvPr/>
            </p:nvSpPr>
            <p:spPr bwMode="auto">
              <a:xfrm>
                <a:off x="4152026" y="1683675"/>
                <a:ext cx="65392" cy="79485"/>
              </a:xfrm>
              <a:custGeom>
                <a:avLst/>
                <a:gdLst>
                  <a:gd name="T0" fmla="*/ 58 w 116"/>
                  <a:gd name="T1" fmla="*/ 0 h 141"/>
                  <a:gd name="T2" fmla="*/ 0 w 116"/>
                  <a:gd name="T3" fmla="*/ 141 h 141"/>
                  <a:gd name="T4" fmla="*/ 53 w 116"/>
                  <a:gd name="T5" fmla="*/ 141 h 141"/>
                  <a:gd name="T6" fmla="*/ 116 w 116"/>
                  <a:gd name="T7" fmla="*/ 0 h 141"/>
                  <a:gd name="T8" fmla="*/ 58 w 116"/>
                  <a:gd name="T9" fmla="*/ 0 h 141"/>
                </a:gdLst>
                <a:ahLst/>
                <a:cxnLst>
                  <a:cxn ang="0">
                    <a:pos x="T0" y="T1"/>
                  </a:cxn>
                  <a:cxn ang="0">
                    <a:pos x="T2" y="T3"/>
                  </a:cxn>
                  <a:cxn ang="0">
                    <a:pos x="T4" y="T5"/>
                  </a:cxn>
                  <a:cxn ang="0">
                    <a:pos x="T6" y="T7"/>
                  </a:cxn>
                  <a:cxn ang="0">
                    <a:pos x="T8" y="T9"/>
                  </a:cxn>
                </a:cxnLst>
                <a:rect l="0" t="0" r="r" b="b"/>
                <a:pathLst>
                  <a:path w="116" h="141">
                    <a:moveTo>
                      <a:pt x="58" y="0"/>
                    </a:moveTo>
                    <a:lnTo>
                      <a:pt x="0" y="141"/>
                    </a:lnTo>
                    <a:lnTo>
                      <a:pt x="53" y="141"/>
                    </a:lnTo>
                    <a:lnTo>
                      <a:pt x="116" y="0"/>
                    </a:lnTo>
                    <a:lnTo>
                      <a:pt x="58"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16" name="Freeform 29"/>
              <p:cNvSpPr>
                <a:spLocks/>
              </p:cNvSpPr>
              <p:nvPr/>
            </p:nvSpPr>
            <p:spPr bwMode="auto">
              <a:xfrm>
                <a:off x="4158227" y="1375882"/>
                <a:ext cx="153333" cy="142058"/>
              </a:xfrm>
              <a:custGeom>
                <a:avLst/>
                <a:gdLst>
                  <a:gd name="T0" fmla="*/ 230 w 272"/>
                  <a:gd name="T1" fmla="*/ 47 h 252"/>
                  <a:gd name="T2" fmla="*/ 230 w 272"/>
                  <a:gd name="T3" fmla="*/ 47 h 252"/>
                  <a:gd name="T4" fmla="*/ 220 w 272"/>
                  <a:gd name="T5" fmla="*/ 74 h 252"/>
                  <a:gd name="T6" fmla="*/ 204 w 272"/>
                  <a:gd name="T7" fmla="*/ 95 h 252"/>
                  <a:gd name="T8" fmla="*/ 183 w 272"/>
                  <a:gd name="T9" fmla="*/ 126 h 252"/>
                  <a:gd name="T10" fmla="*/ 152 w 272"/>
                  <a:gd name="T11" fmla="*/ 158 h 252"/>
                  <a:gd name="T12" fmla="*/ 110 w 272"/>
                  <a:gd name="T13" fmla="*/ 189 h 252"/>
                  <a:gd name="T14" fmla="*/ 63 w 272"/>
                  <a:gd name="T15" fmla="*/ 220 h 252"/>
                  <a:gd name="T16" fmla="*/ 5 w 272"/>
                  <a:gd name="T17" fmla="*/ 247 h 252"/>
                  <a:gd name="T18" fmla="*/ 5 w 272"/>
                  <a:gd name="T19" fmla="*/ 247 h 252"/>
                  <a:gd name="T20" fmla="*/ 0 w 272"/>
                  <a:gd name="T21" fmla="*/ 252 h 252"/>
                  <a:gd name="T22" fmla="*/ 5 w 272"/>
                  <a:gd name="T23" fmla="*/ 252 h 252"/>
                  <a:gd name="T24" fmla="*/ 5 w 272"/>
                  <a:gd name="T25" fmla="*/ 252 h 252"/>
                  <a:gd name="T26" fmla="*/ 52 w 272"/>
                  <a:gd name="T27" fmla="*/ 241 h 252"/>
                  <a:gd name="T28" fmla="*/ 84 w 272"/>
                  <a:gd name="T29" fmla="*/ 226 h 252"/>
                  <a:gd name="T30" fmla="*/ 115 w 272"/>
                  <a:gd name="T31" fmla="*/ 210 h 252"/>
                  <a:gd name="T32" fmla="*/ 147 w 272"/>
                  <a:gd name="T33" fmla="*/ 184 h 252"/>
                  <a:gd name="T34" fmla="*/ 183 w 272"/>
                  <a:gd name="T35" fmla="*/ 152 h 252"/>
                  <a:gd name="T36" fmla="*/ 215 w 272"/>
                  <a:gd name="T37" fmla="*/ 110 h 252"/>
                  <a:gd name="T38" fmla="*/ 246 w 272"/>
                  <a:gd name="T39" fmla="*/ 58 h 252"/>
                  <a:gd name="T40" fmla="*/ 257 w 272"/>
                  <a:gd name="T41" fmla="*/ 84 h 252"/>
                  <a:gd name="T42" fmla="*/ 272 w 272"/>
                  <a:gd name="T43" fmla="*/ 0 h 252"/>
                  <a:gd name="T44" fmla="*/ 209 w 272"/>
                  <a:gd name="T45" fmla="*/ 47 h 252"/>
                  <a:gd name="T46" fmla="*/ 230 w 272"/>
                  <a:gd name="T47" fmla="*/ 47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2" h="252">
                    <a:moveTo>
                      <a:pt x="230" y="47"/>
                    </a:moveTo>
                    <a:lnTo>
                      <a:pt x="230" y="47"/>
                    </a:lnTo>
                    <a:lnTo>
                      <a:pt x="220" y="74"/>
                    </a:lnTo>
                    <a:lnTo>
                      <a:pt x="204" y="95"/>
                    </a:lnTo>
                    <a:lnTo>
                      <a:pt x="183" y="126"/>
                    </a:lnTo>
                    <a:lnTo>
                      <a:pt x="152" y="158"/>
                    </a:lnTo>
                    <a:lnTo>
                      <a:pt x="110" y="189"/>
                    </a:lnTo>
                    <a:lnTo>
                      <a:pt x="63" y="220"/>
                    </a:lnTo>
                    <a:lnTo>
                      <a:pt x="5" y="247"/>
                    </a:lnTo>
                    <a:lnTo>
                      <a:pt x="5" y="247"/>
                    </a:lnTo>
                    <a:lnTo>
                      <a:pt x="0" y="252"/>
                    </a:lnTo>
                    <a:lnTo>
                      <a:pt x="5" y="252"/>
                    </a:lnTo>
                    <a:lnTo>
                      <a:pt x="5" y="252"/>
                    </a:lnTo>
                    <a:lnTo>
                      <a:pt x="52" y="241"/>
                    </a:lnTo>
                    <a:lnTo>
                      <a:pt x="84" y="226"/>
                    </a:lnTo>
                    <a:lnTo>
                      <a:pt x="115" y="210"/>
                    </a:lnTo>
                    <a:lnTo>
                      <a:pt x="147" y="184"/>
                    </a:lnTo>
                    <a:lnTo>
                      <a:pt x="183" y="152"/>
                    </a:lnTo>
                    <a:lnTo>
                      <a:pt x="215" y="110"/>
                    </a:lnTo>
                    <a:lnTo>
                      <a:pt x="246" y="58"/>
                    </a:lnTo>
                    <a:lnTo>
                      <a:pt x="257" y="84"/>
                    </a:lnTo>
                    <a:lnTo>
                      <a:pt x="272" y="0"/>
                    </a:lnTo>
                    <a:lnTo>
                      <a:pt x="209" y="47"/>
                    </a:lnTo>
                    <a:lnTo>
                      <a:pt x="230" y="47"/>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sp>
          <p:nvSpPr>
            <p:cNvPr id="117" name="TextBox 116"/>
            <p:cNvSpPr txBox="1">
              <a:spLocks/>
            </p:cNvSpPr>
            <p:nvPr/>
          </p:nvSpPr>
          <p:spPr>
            <a:xfrm>
              <a:off x="2376991" y="6362676"/>
              <a:ext cx="1009744" cy="338656"/>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nchor="ctr" anchorCtr="0">
              <a:noAutofit/>
            </a:bodyPr>
            <a:lstStyle>
              <a:defPPr>
                <a:defRPr lang="en-US"/>
              </a:defPPr>
              <a:lvl1pPr algn="ctr">
                <a:defRPr sz="1200" b="1" spc="300">
                  <a:solidFill>
                    <a:schemeClr val="dk1"/>
                  </a:solidFill>
                  <a:latin typeface="Calibri Light" panose="020F0302020204030204" pitchFamily="34" charset="0"/>
                  <a:cs typeface="Calibri Light" panose="020F0302020204030204"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1100" dirty="0"/>
                <a:t>DOP</a:t>
              </a:r>
              <a:endParaRPr lang="en-IN" sz="1100" dirty="0"/>
            </a:p>
          </p:txBody>
        </p:sp>
        <p:sp>
          <p:nvSpPr>
            <p:cNvPr id="118" name="TextBox 117"/>
            <p:cNvSpPr txBox="1"/>
            <p:nvPr/>
          </p:nvSpPr>
          <p:spPr>
            <a:xfrm>
              <a:off x="2642091" y="6179346"/>
              <a:ext cx="520321" cy="128330"/>
            </a:xfrm>
            <a:prstGeom prst="rect">
              <a:avLst/>
            </a:prstGeom>
            <a:solidFill>
              <a:schemeClr val="bg1"/>
            </a:solidFill>
          </p:spPr>
          <p:txBody>
            <a:bodyPr wrap="square" lIns="0" tIns="0" rIns="0" bIns="0" rtlCol="0">
              <a:spAutoFit/>
            </a:bodyPr>
            <a:lstStyle/>
            <a:p>
              <a:r>
                <a:rPr lang="en-US" sz="700" b="1" dirty="0">
                  <a:latin typeface="Calibri Light" panose="020F0302020204030204" pitchFamily="34" charset="0"/>
                </a:rPr>
                <a:t>Monitoring</a:t>
              </a:r>
              <a:endParaRPr lang="en-IN" sz="700" b="1" dirty="0">
                <a:latin typeface="Calibri Light" panose="020F0302020204030204" pitchFamily="34" charset="0"/>
              </a:endParaRPr>
            </a:p>
          </p:txBody>
        </p:sp>
        <p:grpSp>
          <p:nvGrpSpPr>
            <p:cNvPr id="119" name="Group 887"/>
            <p:cNvGrpSpPr>
              <a:grpSpLocks noChangeAspect="1"/>
            </p:cNvGrpSpPr>
            <p:nvPr/>
          </p:nvGrpSpPr>
          <p:grpSpPr bwMode="auto">
            <a:xfrm>
              <a:off x="9957886" y="1020008"/>
              <a:ext cx="250923" cy="250923"/>
              <a:chOff x="3302" y="3789"/>
              <a:chExt cx="340" cy="340"/>
            </a:xfrm>
            <a:solidFill>
              <a:srgbClr val="86BC25"/>
            </a:solidFill>
          </p:grpSpPr>
          <p:sp>
            <p:nvSpPr>
              <p:cNvPr id="120" name="Rectangle 888"/>
              <p:cNvSpPr>
                <a:spLocks noChangeArrowheads="1"/>
              </p:cNvSpPr>
              <p:nvPr/>
            </p:nvSpPr>
            <p:spPr bwMode="auto">
              <a:xfrm>
                <a:off x="3443" y="3889"/>
                <a:ext cx="58" cy="106"/>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600"/>
              </a:p>
            </p:txBody>
          </p:sp>
          <p:sp>
            <p:nvSpPr>
              <p:cNvPr id="121" name="Freeform 889"/>
              <p:cNvSpPr>
                <a:spLocks noEditPoints="1"/>
              </p:cNvSpPr>
              <p:nvPr/>
            </p:nvSpPr>
            <p:spPr bwMode="auto">
              <a:xfrm>
                <a:off x="3422" y="3867"/>
                <a:ext cx="100" cy="184"/>
              </a:xfrm>
              <a:custGeom>
                <a:avLst/>
                <a:gdLst>
                  <a:gd name="T0" fmla="*/ 148 w 150"/>
                  <a:gd name="T1" fmla="*/ 0 h 277"/>
                  <a:gd name="T2" fmla="*/ 2 w 150"/>
                  <a:gd name="T3" fmla="*/ 0 h 277"/>
                  <a:gd name="T4" fmla="*/ 0 w 150"/>
                  <a:gd name="T5" fmla="*/ 0 h 277"/>
                  <a:gd name="T6" fmla="*/ 0 w 150"/>
                  <a:gd name="T7" fmla="*/ 277 h 277"/>
                  <a:gd name="T8" fmla="*/ 0 w 150"/>
                  <a:gd name="T9" fmla="*/ 277 h 277"/>
                  <a:gd name="T10" fmla="*/ 2 w 150"/>
                  <a:gd name="T11" fmla="*/ 277 h 277"/>
                  <a:gd name="T12" fmla="*/ 148 w 150"/>
                  <a:gd name="T13" fmla="*/ 277 h 277"/>
                  <a:gd name="T14" fmla="*/ 150 w 150"/>
                  <a:gd name="T15" fmla="*/ 276 h 277"/>
                  <a:gd name="T16" fmla="*/ 150 w 150"/>
                  <a:gd name="T17" fmla="*/ 0 h 277"/>
                  <a:gd name="T18" fmla="*/ 148 w 150"/>
                  <a:gd name="T19" fmla="*/ 0 h 277"/>
                  <a:gd name="T20" fmla="*/ 75 w 150"/>
                  <a:gd name="T21" fmla="*/ 256 h 277"/>
                  <a:gd name="T22" fmla="*/ 64 w 150"/>
                  <a:gd name="T23" fmla="*/ 245 h 277"/>
                  <a:gd name="T24" fmla="*/ 75 w 150"/>
                  <a:gd name="T25" fmla="*/ 234 h 277"/>
                  <a:gd name="T26" fmla="*/ 86 w 150"/>
                  <a:gd name="T27" fmla="*/ 245 h 277"/>
                  <a:gd name="T28" fmla="*/ 75 w 150"/>
                  <a:gd name="T29" fmla="*/ 256 h 277"/>
                  <a:gd name="T30" fmla="*/ 139 w 150"/>
                  <a:gd name="T31" fmla="*/ 202 h 277"/>
                  <a:gd name="T32" fmla="*/ 128 w 150"/>
                  <a:gd name="T33" fmla="*/ 213 h 277"/>
                  <a:gd name="T34" fmla="*/ 22 w 150"/>
                  <a:gd name="T35" fmla="*/ 213 h 277"/>
                  <a:gd name="T36" fmla="*/ 11 w 150"/>
                  <a:gd name="T37" fmla="*/ 202 h 277"/>
                  <a:gd name="T38" fmla="*/ 11 w 150"/>
                  <a:gd name="T39" fmla="*/ 21 h 277"/>
                  <a:gd name="T40" fmla="*/ 22 w 150"/>
                  <a:gd name="T41" fmla="*/ 10 h 277"/>
                  <a:gd name="T42" fmla="*/ 128 w 150"/>
                  <a:gd name="T43" fmla="*/ 10 h 277"/>
                  <a:gd name="T44" fmla="*/ 139 w 150"/>
                  <a:gd name="T45" fmla="*/ 21 h 277"/>
                  <a:gd name="T46" fmla="*/ 139 w 150"/>
                  <a:gd name="T47" fmla="*/ 202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0" h="277">
                    <a:moveTo>
                      <a:pt x="148" y="0"/>
                    </a:moveTo>
                    <a:cubicBezTo>
                      <a:pt x="2" y="0"/>
                      <a:pt x="2" y="0"/>
                      <a:pt x="2" y="0"/>
                    </a:cubicBezTo>
                    <a:cubicBezTo>
                      <a:pt x="1" y="0"/>
                      <a:pt x="0" y="0"/>
                      <a:pt x="0" y="0"/>
                    </a:cubicBezTo>
                    <a:cubicBezTo>
                      <a:pt x="0" y="277"/>
                      <a:pt x="0" y="277"/>
                      <a:pt x="0" y="277"/>
                    </a:cubicBezTo>
                    <a:cubicBezTo>
                      <a:pt x="0" y="277"/>
                      <a:pt x="0" y="277"/>
                      <a:pt x="0" y="277"/>
                    </a:cubicBezTo>
                    <a:cubicBezTo>
                      <a:pt x="1" y="277"/>
                      <a:pt x="1" y="277"/>
                      <a:pt x="2" y="277"/>
                    </a:cubicBezTo>
                    <a:cubicBezTo>
                      <a:pt x="148" y="277"/>
                      <a:pt x="148" y="277"/>
                      <a:pt x="148" y="277"/>
                    </a:cubicBezTo>
                    <a:cubicBezTo>
                      <a:pt x="149" y="277"/>
                      <a:pt x="150" y="277"/>
                      <a:pt x="150" y="276"/>
                    </a:cubicBezTo>
                    <a:cubicBezTo>
                      <a:pt x="150" y="0"/>
                      <a:pt x="150" y="0"/>
                      <a:pt x="150" y="0"/>
                    </a:cubicBezTo>
                    <a:cubicBezTo>
                      <a:pt x="150" y="0"/>
                      <a:pt x="149" y="0"/>
                      <a:pt x="148" y="0"/>
                    </a:cubicBezTo>
                    <a:close/>
                    <a:moveTo>
                      <a:pt x="75" y="256"/>
                    </a:moveTo>
                    <a:cubicBezTo>
                      <a:pt x="69" y="256"/>
                      <a:pt x="64" y="251"/>
                      <a:pt x="64" y="245"/>
                    </a:cubicBezTo>
                    <a:cubicBezTo>
                      <a:pt x="64" y="239"/>
                      <a:pt x="69" y="234"/>
                      <a:pt x="75" y="234"/>
                    </a:cubicBezTo>
                    <a:cubicBezTo>
                      <a:pt x="81" y="234"/>
                      <a:pt x="86" y="239"/>
                      <a:pt x="86" y="245"/>
                    </a:cubicBezTo>
                    <a:cubicBezTo>
                      <a:pt x="86" y="251"/>
                      <a:pt x="81" y="256"/>
                      <a:pt x="75" y="256"/>
                    </a:cubicBezTo>
                    <a:close/>
                    <a:moveTo>
                      <a:pt x="139" y="202"/>
                    </a:moveTo>
                    <a:cubicBezTo>
                      <a:pt x="139" y="208"/>
                      <a:pt x="134" y="213"/>
                      <a:pt x="128" y="213"/>
                    </a:cubicBezTo>
                    <a:cubicBezTo>
                      <a:pt x="22" y="213"/>
                      <a:pt x="22" y="213"/>
                      <a:pt x="22" y="213"/>
                    </a:cubicBezTo>
                    <a:cubicBezTo>
                      <a:pt x="16" y="213"/>
                      <a:pt x="11" y="208"/>
                      <a:pt x="11" y="202"/>
                    </a:cubicBezTo>
                    <a:cubicBezTo>
                      <a:pt x="11" y="21"/>
                      <a:pt x="11" y="21"/>
                      <a:pt x="11" y="21"/>
                    </a:cubicBezTo>
                    <a:cubicBezTo>
                      <a:pt x="11" y="15"/>
                      <a:pt x="16" y="10"/>
                      <a:pt x="22" y="10"/>
                    </a:cubicBezTo>
                    <a:cubicBezTo>
                      <a:pt x="128" y="10"/>
                      <a:pt x="128" y="10"/>
                      <a:pt x="128" y="10"/>
                    </a:cubicBezTo>
                    <a:cubicBezTo>
                      <a:pt x="134" y="10"/>
                      <a:pt x="139" y="15"/>
                      <a:pt x="139" y="21"/>
                    </a:cubicBezTo>
                    <a:lnTo>
                      <a:pt x="139" y="2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600"/>
              </a:p>
            </p:txBody>
          </p:sp>
          <p:sp>
            <p:nvSpPr>
              <p:cNvPr id="122" name="Freeform 890"/>
              <p:cNvSpPr>
                <a:spLocks noEditPoints="1"/>
              </p:cNvSpPr>
              <p:nvPr/>
            </p:nvSpPr>
            <p:spPr bwMode="auto">
              <a:xfrm>
                <a:off x="3302" y="3789"/>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52 w 512"/>
                  <a:gd name="T11" fmla="*/ 395 h 512"/>
                  <a:gd name="T12" fmla="*/ 329 w 512"/>
                  <a:gd name="T13" fmla="*/ 416 h 512"/>
                  <a:gd name="T14" fmla="*/ 183 w 512"/>
                  <a:gd name="T15" fmla="*/ 416 h 512"/>
                  <a:gd name="T16" fmla="*/ 160 w 512"/>
                  <a:gd name="T17" fmla="*/ 395 h 512"/>
                  <a:gd name="T18" fmla="*/ 160 w 512"/>
                  <a:gd name="T19" fmla="*/ 118 h 512"/>
                  <a:gd name="T20" fmla="*/ 183 w 512"/>
                  <a:gd name="T21" fmla="*/ 96 h 512"/>
                  <a:gd name="T22" fmla="*/ 329 w 512"/>
                  <a:gd name="T23" fmla="*/ 96 h 512"/>
                  <a:gd name="T24" fmla="*/ 352 w 512"/>
                  <a:gd name="T25" fmla="*/ 118 h 512"/>
                  <a:gd name="T26" fmla="*/ 352 w 512"/>
                  <a:gd name="T27" fmla="*/ 39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352" y="395"/>
                    </a:moveTo>
                    <a:cubicBezTo>
                      <a:pt x="352" y="407"/>
                      <a:pt x="342" y="416"/>
                      <a:pt x="329" y="416"/>
                    </a:cubicBezTo>
                    <a:cubicBezTo>
                      <a:pt x="183" y="416"/>
                      <a:pt x="183" y="416"/>
                      <a:pt x="183" y="416"/>
                    </a:cubicBezTo>
                    <a:cubicBezTo>
                      <a:pt x="170" y="416"/>
                      <a:pt x="160" y="407"/>
                      <a:pt x="160" y="395"/>
                    </a:cubicBezTo>
                    <a:cubicBezTo>
                      <a:pt x="160" y="118"/>
                      <a:pt x="160" y="118"/>
                      <a:pt x="160" y="118"/>
                    </a:cubicBezTo>
                    <a:cubicBezTo>
                      <a:pt x="160" y="106"/>
                      <a:pt x="170" y="96"/>
                      <a:pt x="183" y="96"/>
                    </a:cubicBezTo>
                    <a:cubicBezTo>
                      <a:pt x="329" y="96"/>
                      <a:pt x="329" y="96"/>
                      <a:pt x="329" y="96"/>
                    </a:cubicBezTo>
                    <a:cubicBezTo>
                      <a:pt x="342" y="96"/>
                      <a:pt x="352" y="106"/>
                      <a:pt x="352" y="118"/>
                    </a:cubicBezTo>
                    <a:lnTo>
                      <a:pt x="352" y="39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600"/>
              </a:p>
            </p:txBody>
          </p:sp>
        </p:grpSp>
        <p:sp>
          <p:nvSpPr>
            <p:cNvPr id="123" name="TextBox 122"/>
            <p:cNvSpPr txBox="1"/>
            <p:nvPr/>
          </p:nvSpPr>
          <p:spPr>
            <a:xfrm>
              <a:off x="9753796" y="1254124"/>
              <a:ext cx="945246" cy="256661"/>
            </a:xfrm>
            <a:prstGeom prst="rect">
              <a:avLst/>
            </a:prstGeom>
            <a:noFill/>
          </p:spPr>
          <p:txBody>
            <a:bodyPr wrap="square" rtlCol="0">
              <a:spAutoFit/>
            </a:bodyPr>
            <a:lstStyle/>
            <a:p>
              <a:r>
                <a:rPr lang="en-US" sz="800" dirty="0">
                  <a:latin typeface="Calibri Light" panose="020F0302020204030204" pitchFamily="34" charset="0"/>
                </a:rPr>
                <a:t>Mobile Platform</a:t>
              </a:r>
              <a:endParaRPr lang="en-IN" sz="1050" dirty="0">
                <a:latin typeface="Calibri Light" panose="020F0302020204030204" pitchFamily="34" charset="0"/>
              </a:endParaRPr>
            </a:p>
          </p:txBody>
        </p:sp>
        <p:sp>
          <p:nvSpPr>
            <p:cNvPr id="124" name="Freeform 486"/>
            <p:cNvSpPr>
              <a:spLocks noChangeAspect="1" noEditPoints="1"/>
            </p:cNvSpPr>
            <p:nvPr/>
          </p:nvSpPr>
          <p:spPr bwMode="auto">
            <a:xfrm>
              <a:off x="10919387" y="1012965"/>
              <a:ext cx="249326" cy="249326"/>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117 w 512"/>
                <a:gd name="T11" fmla="*/ 160 h 512"/>
                <a:gd name="T12" fmla="*/ 128 w 512"/>
                <a:gd name="T13" fmla="*/ 149 h 512"/>
                <a:gd name="T14" fmla="*/ 384 w 512"/>
                <a:gd name="T15" fmla="*/ 149 h 512"/>
                <a:gd name="T16" fmla="*/ 394 w 512"/>
                <a:gd name="T17" fmla="*/ 160 h 512"/>
                <a:gd name="T18" fmla="*/ 394 w 512"/>
                <a:gd name="T19" fmla="*/ 309 h 512"/>
                <a:gd name="T20" fmla="*/ 384 w 512"/>
                <a:gd name="T21" fmla="*/ 320 h 512"/>
                <a:gd name="T22" fmla="*/ 128 w 512"/>
                <a:gd name="T23" fmla="*/ 320 h 512"/>
                <a:gd name="T24" fmla="*/ 117 w 512"/>
                <a:gd name="T25" fmla="*/ 309 h 512"/>
                <a:gd name="T26" fmla="*/ 117 w 512"/>
                <a:gd name="T27" fmla="*/ 160 h 512"/>
                <a:gd name="T28" fmla="*/ 405 w 512"/>
                <a:gd name="T29" fmla="*/ 362 h 512"/>
                <a:gd name="T30" fmla="*/ 106 w 512"/>
                <a:gd name="T31" fmla="*/ 362 h 512"/>
                <a:gd name="T32" fmla="*/ 96 w 512"/>
                <a:gd name="T33" fmla="*/ 352 h 512"/>
                <a:gd name="T34" fmla="*/ 106 w 512"/>
                <a:gd name="T35" fmla="*/ 341 h 512"/>
                <a:gd name="T36" fmla="*/ 405 w 512"/>
                <a:gd name="T37" fmla="*/ 341 h 512"/>
                <a:gd name="T38" fmla="*/ 416 w 512"/>
                <a:gd name="T39" fmla="*/ 352 h 512"/>
                <a:gd name="T40" fmla="*/ 405 w 512"/>
                <a:gd name="T41" fmla="*/ 362 h 512"/>
                <a:gd name="T42" fmla="*/ 373 w 512"/>
                <a:gd name="T43" fmla="*/ 298 h 512"/>
                <a:gd name="T44" fmla="*/ 138 w 512"/>
                <a:gd name="T45" fmla="*/ 298 h 512"/>
                <a:gd name="T46" fmla="*/ 138 w 512"/>
                <a:gd name="T47" fmla="*/ 170 h 512"/>
                <a:gd name="T48" fmla="*/ 373 w 512"/>
                <a:gd name="T49" fmla="*/ 170 h 512"/>
                <a:gd name="T50" fmla="*/ 373 w 512"/>
                <a:gd name="T51" fmla="*/ 29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17" y="160"/>
                  </a:moveTo>
                  <a:cubicBezTo>
                    <a:pt x="117" y="154"/>
                    <a:pt x="122" y="149"/>
                    <a:pt x="128" y="149"/>
                  </a:cubicBezTo>
                  <a:cubicBezTo>
                    <a:pt x="384" y="149"/>
                    <a:pt x="384" y="149"/>
                    <a:pt x="384" y="149"/>
                  </a:cubicBezTo>
                  <a:cubicBezTo>
                    <a:pt x="390" y="149"/>
                    <a:pt x="394" y="154"/>
                    <a:pt x="394" y="160"/>
                  </a:cubicBezTo>
                  <a:cubicBezTo>
                    <a:pt x="394" y="309"/>
                    <a:pt x="394" y="309"/>
                    <a:pt x="394" y="309"/>
                  </a:cubicBezTo>
                  <a:cubicBezTo>
                    <a:pt x="394" y="315"/>
                    <a:pt x="390" y="320"/>
                    <a:pt x="384" y="320"/>
                  </a:cubicBezTo>
                  <a:cubicBezTo>
                    <a:pt x="128" y="320"/>
                    <a:pt x="128" y="320"/>
                    <a:pt x="128" y="320"/>
                  </a:cubicBezTo>
                  <a:cubicBezTo>
                    <a:pt x="122" y="320"/>
                    <a:pt x="117" y="315"/>
                    <a:pt x="117" y="309"/>
                  </a:cubicBezTo>
                  <a:lnTo>
                    <a:pt x="117" y="160"/>
                  </a:lnTo>
                  <a:close/>
                  <a:moveTo>
                    <a:pt x="405" y="362"/>
                  </a:moveTo>
                  <a:cubicBezTo>
                    <a:pt x="106" y="362"/>
                    <a:pt x="106" y="362"/>
                    <a:pt x="106" y="362"/>
                  </a:cubicBezTo>
                  <a:cubicBezTo>
                    <a:pt x="100" y="362"/>
                    <a:pt x="96" y="358"/>
                    <a:pt x="96" y="352"/>
                  </a:cubicBezTo>
                  <a:cubicBezTo>
                    <a:pt x="96" y="346"/>
                    <a:pt x="100" y="341"/>
                    <a:pt x="106" y="341"/>
                  </a:cubicBezTo>
                  <a:cubicBezTo>
                    <a:pt x="405" y="341"/>
                    <a:pt x="405" y="341"/>
                    <a:pt x="405" y="341"/>
                  </a:cubicBezTo>
                  <a:cubicBezTo>
                    <a:pt x="411" y="341"/>
                    <a:pt x="416" y="346"/>
                    <a:pt x="416" y="352"/>
                  </a:cubicBezTo>
                  <a:cubicBezTo>
                    <a:pt x="416" y="358"/>
                    <a:pt x="411" y="362"/>
                    <a:pt x="405" y="362"/>
                  </a:cubicBezTo>
                  <a:close/>
                  <a:moveTo>
                    <a:pt x="373" y="298"/>
                  </a:moveTo>
                  <a:cubicBezTo>
                    <a:pt x="138" y="298"/>
                    <a:pt x="138" y="298"/>
                    <a:pt x="138" y="298"/>
                  </a:cubicBezTo>
                  <a:cubicBezTo>
                    <a:pt x="138" y="170"/>
                    <a:pt x="138" y="170"/>
                    <a:pt x="138" y="170"/>
                  </a:cubicBezTo>
                  <a:cubicBezTo>
                    <a:pt x="373" y="170"/>
                    <a:pt x="373" y="170"/>
                    <a:pt x="373" y="170"/>
                  </a:cubicBezTo>
                  <a:lnTo>
                    <a:pt x="373" y="298"/>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GB" sz="1600"/>
            </a:p>
          </p:txBody>
        </p:sp>
        <p:sp>
          <p:nvSpPr>
            <p:cNvPr id="125" name="TextBox 124"/>
            <p:cNvSpPr txBox="1"/>
            <p:nvPr/>
          </p:nvSpPr>
          <p:spPr>
            <a:xfrm>
              <a:off x="10690343" y="1258984"/>
              <a:ext cx="945246" cy="256661"/>
            </a:xfrm>
            <a:prstGeom prst="rect">
              <a:avLst/>
            </a:prstGeom>
            <a:noFill/>
          </p:spPr>
          <p:txBody>
            <a:bodyPr wrap="square" rtlCol="0">
              <a:spAutoFit/>
            </a:bodyPr>
            <a:lstStyle/>
            <a:p>
              <a:r>
                <a:rPr lang="en-US" sz="800" dirty="0">
                  <a:latin typeface="Calibri Light" panose="020F0302020204030204" pitchFamily="34" charset="0"/>
                </a:rPr>
                <a:t>Web Platform</a:t>
              </a:r>
              <a:endParaRPr lang="en-IN" sz="1050" dirty="0">
                <a:latin typeface="Calibri Light" panose="020F0302020204030204" pitchFamily="34" charset="0"/>
              </a:endParaRPr>
            </a:p>
          </p:txBody>
        </p:sp>
        <p:sp>
          <p:nvSpPr>
            <p:cNvPr id="126" name="TextBox 125"/>
            <p:cNvSpPr txBox="1"/>
            <p:nvPr/>
          </p:nvSpPr>
          <p:spPr>
            <a:xfrm>
              <a:off x="9835980" y="2503380"/>
              <a:ext cx="1885502" cy="128330"/>
            </a:xfrm>
            <a:prstGeom prst="rect">
              <a:avLst/>
            </a:prstGeom>
            <a:noFill/>
          </p:spPr>
          <p:txBody>
            <a:bodyPr wrap="square" lIns="0" tIns="0" rIns="0" bIns="0" rtlCol="0">
              <a:spAutoFit/>
            </a:bodyPr>
            <a:lstStyle/>
            <a:p>
              <a:pPr>
                <a:spcBef>
                  <a:spcPts val="600"/>
                </a:spcBef>
                <a:buSzPct val="100000"/>
              </a:pPr>
              <a:r>
                <a:rPr lang="en-US" sz="700" b="1" dirty="0">
                  <a:solidFill>
                    <a:schemeClr val="bg1"/>
                  </a:solidFill>
                </a:rPr>
                <a:t>Visualization</a:t>
              </a:r>
              <a:r>
                <a:rPr lang="en-US" sz="700" dirty="0">
                  <a:solidFill>
                    <a:schemeClr val="bg1"/>
                  </a:solidFill>
                </a:rPr>
                <a:t>- Drones and GIS</a:t>
              </a:r>
              <a:endParaRPr lang="en-IN" sz="700" dirty="0">
                <a:solidFill>
                  <a:schemeClr val="bg1"/>
                </a:solidFill>
              </a:endParaRPr>
            </a:p>
          </p:txBody>
        </p:sp>
        <p:sp>
          <p:nvSpPr>
            <p:cNvPr id="127" name="TextBox 126"/>
            <p:cNvSpPr txBox="1"/>
            <p:nvPr/>
          </p:nvSpPr>
          <p:spPr>
            <a:xfrm>
              <a:off x="9787138" y="1898047"/>
              <a:ext cx="1905613" cy="256661"/>
            </a:xfrm>
            <a:prstGeom prst="rect">
              <a:avLst/>
            </a:prstGeom>
            <a:noFill/>
          </p:spPr>
          <p:txBody>
            <a:bodyPr wrap="square" lIns="0" tIns="0" rIns="0" bIns="0" rtlCol="0">
              <a:spAutoFit/>
            </a:bodyPr>
            <a:lstStyle/>
            <a:p>
              <a:pPr>
                <a:spcBef>
                  <a:spcPts val="600"/>
                </a:spcBef>
                <a:buSzPct val="100000"/>
              </a:pPr>
              <a:r>
                <a:rPr lang="en-US" sz="700" b="1" dirty="0">
                  <a:solidFill>
                    <a:schemeClr val="bg1"/>
                  </a:solidFill>
                </a:rPr>
                <a:t>Analytics</a:t>
              </a:r>
              <a:r>
                <a:rPr lang="en-US" sz="700" dirty="0">
                  <a:solidFill>
                    <a:schemeClr val="bg1"/>
                  </a:solidFill>
                </a:rPr>
                <a:t>- BI Analytics/ Intelligent Platform </a:t>
              </a:r>
              <a:endParaRPr lang="en-IN" sz="700" dirty="0">
                <a:solidFill>
                  <a:schemeClr val="bg1"/>
                </a:solidFill>
              </a:endParaRPr>
            </a:p>
          </p:txBody>
        </p:sp>
        <p:cxnSp>
          <p:nvCxnSpPr>
            <p:cNvPr id="128" name="Elbow Connector 127"/>
            <p:cNvCxnSpPr>
              <a:stCxn id="16" idx="3"/>
            </p:cNvCxnSpPr>
            <p:nvPr/>
          </p:nvCxnSpPr>
          <p:spPr>
            <a:xfrm flipV="1">
              <a:off x="8410343" y="2026964"/>
              <a:ext cx="735900" cy="286820"/>
            </a:xfrm>
            <a:prstGeom prst="bentConnector3">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9" name="Elbow Connector 128"/>
            <p:cNvCxnSpPr>
              <a:stCxn id="16" idx="3"/>
              <a:endCxn id="8" idx="1"/>
            </p:cNvCxnSpPr>
            <p:nvPr/>
          </p:nvCxnSpPr>
          <p:spPr>
            <a:xfrm>
              <a:off x="8410343" y="2313784"/>
              <a:ext cx="739605" cy="262399"/>
            </a:xfrm>
            <a:prstGeom prst="bentConnector3">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0" name="Freeform 373"/>
            <p:cNvSpPr>
              <a:spLocks noChangeAspect="1" noEditPoints="1"/>
            </p:cNvSpPr>
            <p:nvPr/>
          </p:nvSpPr>
          <p:spPr bwMode="auto">
            <a:xfrm>
              <a:off x="9292792" y="1886646"/>
              <a:ext cx="269022" cy="269022"/>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52 w 512"/>
                <a:gd name="T11" fmla="*/ 256 h 512"/>
                <a:gd name="T12" fmla="*/ 362 w 512"/>
                <a:gd name="T13" fmla="*/ 245 h 512"/>
                <a:gd name="T14" fmla="*/ 373 w 512"/>
                <a:gd name="T15" fmla="*/ 256 h 512"/>
                <a:gd name="T16" fmla="*/ 373 w 512"/>
                <a:gd name="T17" fmla="*/ 320 h 512"/>
                <a:gd name="T18" fmla="*/ 362 w 512"/>
                <a:gd name="T19" fmla="*/ 330 h 512"/>
                <a:gd name="T20" fmla="*/ 352 w 512"/>
                <a:gd name="T21" fmla="*/ 320 h 512"/>
                <a:gd name="T22" fmla="*/ 352 w 512"/>
                <a:gd name="T23" fmla="*/ 256 h 512"/>
                <a:gd name="T24" fmla="*/ 309 w 512"/>
                <a:gd name="T25" fmla="*/ 170 h 512"/>
                <a:gd name="T26" fmla="*/ 320 w 512"/>
                <a:gd name="T27" fmla="*/ 160 h 512"/>
                <a:gd name="T28" fmla="*/ 330 w 512"/>
                <a:gd name="T29" fmla="*/ 170 h 512"/>
                <a:gd name="T30" fmla="*/ 330 w 512"/>
                <a:gd name="T31" fmla="*/ 320 h 512"/>
                <a:gd name="T32" fmla="*/ 320 w 512"/>
                <a:gd name="T33" fmla="*/ 330 h 512"/>
                <a:gd name="T34" fmla="*/ 309 w 512"/>
                <a:gd name="T35" fmla="*/ 320 h 512"/>
                <a:gd name="T36" fmla="*/ 309 w 512"/>
                <a:gd name="T37" fmla="*/ 170 h 512"/>
                <a:gd name="T38" fmla="*/ 266 w 512"/>
                <a:gd name="T39" fmla="*/ 202 h 512"/>
                <a:gd name="T40" fmla="*/ 277 w 512"/>
                <a:gd name="T41" fmla="*/ 192 h 512"/>
                <a:gd name="T42" fmla="*/ 288 w 512"/>
                <a:gd name="T43" fmla="*/ 202 h 512"/>
                <a:gd name="T44" fmla="*/ 288 w 512"/>
                <a:gd name="T45" fmla="*/ 320 h 512"/>
                <a:gd name="T46" fmla="*/ 277 w 512"/>
                <a:gd name="T47" fmla="*/ 330 h 512"/>
                <a:gd name="T48" fmla="*/ 266 w 512"/>
                <a:gd name="T49" fmla="*/ 320 h 512"/>
                <a:gd name="T50" fmla="*/ 266 w 512"/>
                <a:gd name="T51" fmla="*/ 202 h 512"/>
                <a:gd name="T52" fmla="*/ 224 w 512"/>
                <a:gd name="T53" fmla="*/ 149 h 512"/>
                <a:gd name="T54" fmla="*/ 234 w 512"/>
                <a:gd name="T55" fmla="*/ 138 h 512"/>
                <a:gd name="T56" fmla="*/ 245 w 512"/>
                <a:gd name="T57" fmla="*/ 149 h 512"/>
                <a:gd name="T58" fmla="*/ 245 w 512"/>
                <a:gd name="T59" fmla="*/ 320 h 512"/>
                <a:gd name="T60" fmla="*/ 234 w 512"/>
                <a:gd name="T61" fmla="*/ 330 h 512"/>
                <a:gd name="T62" fmla="*/ 224 w 512"/>
                <a:gd name="T63" fmla="*/ 320 h 512"/>
                <a:gd name="T64" fmla="*/ 224 w 512"/>
                <a:gd name="T65" fmla="*/ 149 h 512"/>
                <a:gd name="T66" fmla="*/ 181 w 512"/>
                <a:gd name="T67" fmla="*/ 245 h 512"/>
                <a:gd name="T68" fmla="*/ 192 w 512"/>
                <a:gd name="T69" fmla="*/ 234 h 512"/>
                <a:gd name="T70" fmla="*/ 202 w 512"/>
                <a:gd name="T71" fmla="*/ 245 h 512"/>
                <a:gd name="T72" fmla="*/ 202 w 512"/>
                <a:gd name="T73" fmla="*/ 320 h 512"/>
                <a:gd name="T74" fmla="*/ 192 w 512"/>
                <a:gd name="T75" fmla="*/ 330 h 512"/>
                <a:gd name="T76" fmla="*/ 181 w 512"/>
                <a:gd name="T77" fmla="*/ 320 h 512"/>
                <a:gd name="T78" fmla="*/ 181 w 512"/>
                <a:gd name="T79" fmla="*/ 245 h 512"/>
                <a:gd name="T80" fmla="*/ 138 w 512"/>
                <a:gd name="T81" fmla="*/ 277 h 512"/>
                <a:gd name="T82" fmla="*/ 149 w 512"/>
                <a:gd name="T83" fmla="*/ 266 h 512"/>
                <a:gd name="T84" fmla="*/ 160 w 512"/>
                <a:gd name="T85" fmla="*/ 277 h 512"/>
                <a:gd name="T86" fmla="*/ 160 w 512"/>
                <a:gd name="T87" fmla="*/ 320 h 512"/>
                <a:gd name="T88" fmla="*/ 149 w 512"/>
                <a:gd name="T89" fmla="*/ 330 h 512"/>
                <a:gd name="T90" fmla="*/ 138 w 512"/>
                <a:gd name="T91" fmla="*/ 320 h 512"/>
                <a:gd name="T92" fmla="*/ 138 w 512"/>
                <a:gd name="T93" fmla="*/ 277 h 512"/>
                <a:gd name="T94" fmla="*/ 405 w 512"/>
                <a:gd name="T95" fmla="*/ 373 h 512"/>
                <a:gd name="T96" fmla="*/ 106 w 512"/>
                <a:gd name="T97" fmla="*/ 373 h 512"/>
                <a:gd name="T98" fmla="*/ 96 w 512"/>
                <a:gd name="T99" fmla="*/ 362 h 512"/>
                <a:gd name="T100" fmla="*/ 96 w 512"/>
                <a:gd name="T101" fmla="*/ 149 h 512"/>
                <a:gd name="T102" fmla="*/ 106 w 512"/>
                <a:gd name="T103" fmla="*/ 138 h 512"/>
                <a:gd name="T104" fmla="*/ 117 w 512"/>
                <a:gd name="T105" fmla="*/ 149 h 512"/>
                <a:gd name="T106" fmla="*/ 117 w 512"/>
                <a:gd name="T107" fmla="*/ 352 h 512"/>
                <a:gd name="T108" fmla="*/ 405 w 512"/>
                <a:gd name="T109" fmla="*/ 352 h 512"/>
                <a:gd name="T110" fmla="*/ 416 w 512"/>
                <a:gd name="T111" fmla="*/ 362 h 512"/>
                <a:gd name="T112" fmla="*/ 405 w 512"/>
                <a:gd name="T113" fmla="*/ 37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52" y="256"/>
                  </a:moveTo>
                  <a:cubicBezTo>
                    <a:pt x="352" y="250"/>
                    <a:pt x="356" y="245"/>
                    <a:pt x="362" y="245"/>
                  </a:cubicBezTo>
                  <a:cubicBezTo>
                    <a:pt x="368" y="245"/>
                    <a:pt x="373" y="250"/>
                    <a:pt x="373" y="256"/>
                  </a:cubicBezTo>
                  <a:cubicBezTo>
                    <a:pt x="373" y="320"/>
                    <a:pt x="373" y="320"/>
                    <a:pt x="373" y="320"/>
                  </a:cubicBezTo>
                  <a:cubicBezTo>
                    <a:pt x="373" y="326"/>
                    <a:pt x="368" y="330"/>
                    <a:pt x="362" y="330"/>
                  </a:cubicBezTo>
                  <a:cubicBezTo>
                    <a:pt x="356" y="330"/>
                    <a:pt x="352" y="326"/>
                    <a:pt x="352" y="320"/>
                  </a:cubicBezTo>
                  <a:lnTo>
                    <a:pt x="352" y="256"/>
                  </a:lnTo>
                  <a:close/>
                  <a:moveTo>
                    <a:pt x="309" y="170"/>
                  </a:moveTo>
                  <a:cubicBezTo>
                    <a:pt x="309" y="164"/>
                    <a:pt x="314" y="160"/>
                    <a:pt x="320" y="160"/>
                  </a:cubicBezTo>
                  <a:cubicBezTo>
                    <a:pt x="326" y="160"/>
                    <a:pt x="330" y="164"/>
                    <a:pt x="330" y="170"/>
                  </a:cubicBezTo>
                  <a:cubicBezTo>
                    <a:pt x="330" y="320"/>
                    <a:pt x="330" y="320"/>
                    <a:pt x="330" y="320"/>
                  </a:cubicBezTo>
                  <a:cubicBezTo>
                    <a:pt x="330" y="326"/>
                    <a:pt x="326" y="330"/>
                    <a:pt x="320" y="330"/>
                  </a:cubicBezTo>
                  <a:cubicBezTo>
                    <a:pt x="314" y="330"/>
                    <a:pt x="309" y="326"/>
                    <a:pt x="309" y="320"/>
                  </a:cubicBezTo>
                  <a:lnTo>
                    <a:pt x="309" y="170"/>
                  </a:lnTo>
                  <a:close/>
                  <a:moveTo>
                    <a:pt x="266" y="202"/>
                  </a:moveTo>
                  <a:cubicBezTo>
                    <a:pt x="266" y="196"/>
                    <a:pt x="271" y="192"/>
                    <a:pt x="277" y="192"/>
                  </a:cubicBezTo>
                  <a:cubicBezTo>
                    <a:pt x="283" y="192"/>
                    <a:pt x="288" y="196"/>
                    <a:pt x="288" y="202"/>
                  </a:cubicBezTo>
                  <a:cubicBezTo>
                    <a:pt x="288" y="320"/>
                    <a:pt x="288" y="320"/>
                    <a:pt x="288" y="320"/>
                  </a:cubicBezTo>
                  <a:cubicBezTo>
                    <a:pt x="288" y="326"/>
                    <a:pt x="283" y="330"/>
                    <a:pt x="277" y="330"/>
                  </a:cubicBezTo>
                  <a:cubicBezTo>
                    <a:pt x="271" y="330"/>
                    <a:pt x="266" y="326"/>
                    <a:pt x="266" y="320"/>
                  </a:cubicBezTo>
                  <a:lnTo>
                    <a:pt x="266" y="202"/>
                  </a:lnTo>
                  <a:close/>
                  <a:moveTo>
                    <a:pt x="224" y="149"/>
                  </a:moveTo>
                  <a:cubicBezTo>
                    <a:pt x="224" y="143"/>
                    <a:pt x="228" y="138"/>
                    <a:pt x="234" y="138"/>
                  </a:cubicBezTo>
                  <a:cubicBezTo>
                    <a:pt x="240" y="138"/>
                    <a:pt x="245" y="143"/>
                    <a:pt x="245" y="149"/>
                  </a:cubicBezTo>
                  <a:cubicBezTo>
                    <a:pt x="245" y="320"/>
                    <a:pt x="245" y="320"/>
                    <a:pt x="245" y="320"/>
                  </a:cubicBezTo>
                  <a:cubicBezTo>
                    <a:pt x="245" y="326"/>
                    <a:pt x="240" y="330"/>
                    <a:pt x="234" y="330"/>
                  </a:cubicBezTo>
                  <a:cubicBezTo>
                    <a:pt x="228" y="330"/>
                    <a:pt x="224" y="326"/>
                    <a:pt x="224" y="320"/>
                  </a:cubicBezTo>
                  <a:lnTo>
                    <a:pt x="224" y="149"/>
                  </a:lnTo>
                  <a:close/>
                  <a:moveTo>
                    <a:pt x="181" y="245"/>
                  </a:moveTo>
                  <a:cubicBezTo>
                    <a:pt x="181" y="239"/>
                    <a:pt x="186" y="234"/>
                    <a:pt x="192" y="234"/>
                  </a:cubicBezTo>
                  <a:cubicBezTo>
                    <a:pt x="198" y="234"/>
                    <a:pt x="202" y="239"/>
                    <a:pt x="202" y="245"/>
                  </a:cubicBezTo>
                  <a:cubicBezTo>
                    <a:pt x="202" y="320"/>
                    <a:pt x="202" y="320"/>
                    <a:pt x="202" y="320"/>
                  </a:cubicBezTo>
                  <a:cubicBezTo>
                    <a:pt x="202" y="326"/>
                    <a:pt x="198" y="330"/>
                    <a:pt x="192" y="330"/>
                  </a:cubicBezTo>
                  <a:cubicBezTo>
                    <a:pt x="186" y="330"/>
                    <a:pt x="181" y="326"/>
                    <a:pt x="181" y="320"/>
                  </a:cubicBezTo>
                  <a:lnTo>
                    <a:pt x="181" y="245"/>
                  </a:lnTo>
                  <a:close/>
                  <a:moveTo>
                    <a:pt x="138" y="277"/>
                  </a:moveTo>
                  <a:cubicBezTo>
                    <a:pt x="138" y="271"/>
                    <a:pt x="143" y="266"/>
                    <a:pt x="149" y="266"/>
                  </a:cubicBezTo>
                  <a:cubicBezTo>
                    <a:pt x="155" y="266"/>
                    <a:pt x="160" y="271"/>
                    <a:pt x="160" y="277"/>
                  </a:cubicBezTo>
                  <a:cubicBezTo>
                    <a:pt x="160" y="320"/>
                    <a:pt x="160" y="320"/>
                    <a:pt x="160" y="320"/>
                  </a:cubicBezTo>
                  <a:cubicBezTo>
                    <a:pt x="160" y="326"/>
                    <a:pt x="155" y="330"/>
                    <a:pt x="149" y="330"/>
                  </a:cubicBezTo>
                  <a:cubicBezTo>
                    <a:pt x="143" y="330"/>
                    <a:pt x="138" y="326"/>
                    <a:pt x="138" y="320"/>
                  </a:cubicBezTo>
                  <a:lnTo>
                    <a:pt x="138" y="277"/>
                  </a:lnTo>
                  <a:close/>
                  <a:moveTo>
                    <a:pt x="405" y="373"/>
                  </a:moveTo>
                  <a:cubicBezTo>
                    <a:pt x="106" y="373"/>
                    <a:pt x="106" y="373"/>
                    <a:pt x="106" y="373"/>
                  </a:cubicBezTo>
                  <a:cubicBezTo>
                    <a:pt x="100" y="373"/>
                    <a:pt x="96" y="368"/>
                    <a:pt x="96" y="362"/>
                  </a:cubicBezTo>
                  <a:cubicBezTo>
                    <a:pt x="96" y="149"/>
                    <a:pt x="96" y="149"/>
                    <a:pt x="96" y="149"/>
                  </a:cubicBezTo>
                  <a:cubicBezTo>
                    <a:pt x="96" y="143"/>
                    <a:pt x="100" y="138"/>
                    <a:pt x="106" y="138"/>
                  </a:cubicBezTo>
                  <a:cubicBezTo>
                    <a:pt x="112" y="138"/>
                    <a:pt x="117" y="143"/>
                    <a:pt x="117" y="149"/>
                  </a:cubicBezTo>
                  <a:cubicBezTo>
                    <a:pt x="117" y="352"/>
                    <a:pt x="117" y="352"/>
                    <a:pt x="117" y="352"/>
                  </a:cubicBezTo>
                  <a:cubicBezTo>
                    <a:pt x="405" y="352"/>
                    <a:pt x="405" y="352"/>
                    <a:pt x="405" y="352"/>
                  </a:cubicBezTo>
                  <a:cubicBezTo>
                    <a:pt x="411" y="352"/>
                    <a:pt x="416" y="356"/>
                    <a:pt x="416" y="362"/>
                  </a:cubicBezTo>
                  <a:cubicBezTo>
                    <a:pt x="416" y="368"/>
                    <a:pt x="411" y="373"/>
                    <a:pt x="405" y="37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sz="1600"/>
            </a:p>
          </p:txBody>
        </p:sp>
        <p:sp>
          <p:nvSpPr>
            <p:cNvPr id="131" name="Freeform 765"/>
            <p:cNvSpPr>
              <a:spLocks noChangeAspect="1" noEditPoints="1"/>
            </p:cNvSpPr>
            <p:nvPr/>
          </p:nvSpPr>
          <p:spPr bwMode="auto">
            <a:xfrm>
              <a:off x="9292236" y="2441240"/>
              <a:ext cx="269022" cy="269813"/>
            </a:xfrm>
            <a:custGeom>
              <a:avLst/>
              <a:gdLst>
                <a:gd name="T0" fmla="*/ 265 w 512"/>
                <a:gd name="T1" fmla="*/ 264 h 512"/>
                <a:gd name="T2" fmla="*/ 325 w 512"/>
                <a:gd name="T3" fmla="*/ 174 h 512"/>
                <a:gd name="T4" fmla="*/ 274 w 512"/>
                <a:gd name="T5" fmla="*/ 194 h 512"/>
                <a:gd name="T6" fmla="*/ 219 w 512"/>
                <a:gd name="T7" fmla="*/ 99 h 512"/>
                <a:gd name="T8" fmla="*/ 205 w 512"/>
                <a:gd name="T9" fmla="*/ 174 h 512"/>
                <a:gd name="T10" fmla="*/ 274 w 512"/>
                <a:gd name="T11" fmla="*/ 194 h 512"/>
                <a:gd name="T12" fmla="*/ 315 w 512"/>
                <a:gd name="T13" fmla="*/ 244 h 512"/>
                <a:gd name="T14" fmla="*/ 370 w 512"/>
                <a:gd name="T15" fmla="*/ 340 h 512"/>
                <a:gd name="T16" fmla="*/ 385 w 512"/>
                <a:gd name="T17" fmla="*/ 264 h 512"/>
                <a:gd name="T18" fmla="*/ 512 w 512"/>
                <a:gd name="T19" fmla="*/ 256 h 512"/>
                <a:gd name="T20" fmla="*/ 0 w 512"/>
                <a:gd name="T21" fmla="*/ 256 h 512"/>
                <a:gd name="T22" fmla="*/ 512 w 512"/>
                <a:gd name="T23" fmla="*/ 256 h 512"/>
                <a:gd name="T24" fmla="*/ 257 w 512"/>
                <a:gd name="T25" fmla="*/ 394 h 512"/>
                <a:gd name="T26" fmla="*/ 167 w 512"/>
                <a:gd name="T27" fmla="*/ 357 h 512"/>
                <a:gd name="T28" fmla="*/ 117 w 512"/>
                <a:gd name="T29" fmla="*/ 247 h 512"/>
                <a:gd name="T30" fmla="*/ 105 w 512"/>
                <a:gd name="T31" fmla="*/ 258 h 512"/>
                <a:gd name="T32" fmla="*/ 257 w 512"/>
                <a:gd name="T33" fmla="*/ 416 h 512"/>
                <a:gd name="T34" fmla="*/ 268 w 512"/>
                <a:gd name="T35" fmla="*/ 405 h 512"/>
                <a:gd name="T36" fmla="*/ 181 w 512"/>
                <a:gd name="T37" fmla="*/ 257 h 512"/>
                <a:gd name="T38" fmla="*/ 194 w 512"/>
                <a:gd name="T39" fmla="*/ 327 h 512"/>
                <a:gd name="T40" fmla="*/ 254 w 512"/>
                <a:gd name="T41" fmla="*/ 352 h 512"/>
                <a:gd name="T42" fmla="*/ 256 w 512"/>
                <a:gd name="T43" fmla="*/ 331 h 512"/>
                <a:gd name="T44" fmla="*/ 254 w 512"/>
                <a:gd name="T45" fmla="*/ 330 h 512"/>
                <a:gd name="T46" fmla="*/ 190 w 512"/>
                <a:gd name="T47" fmla="*/ 268 h 512"/>
                <a:gd name="T48" fmla="*/ 438 w 512"/>
                <a:gd name="T49" fmla="*/ 302 h 512"/>
                <a:gd name="T50" fmla="*/ 438 w 512"/>
                <a:gd name="T51" fmla="*/ 287 h 512"/>
                <a:gd name="T52" fmla="*/ 395 w 512"/>
                <a:gd name="T53" fmla="*/ 245 h 512"/>
                <a:gd name="T54" fmla="*/ 355 w 512"/>
                <a:gd name="T55" fmla="*/ 204 h 512"/>
                <a:gd name="T56" fmla="*/ 355 w 512"/>
                <a:gd name="T57" fmla="*/ 174 h 512"/>
                <a:gd name="T58" fmla="*/ 310 w 512"/>
                <a:gd name="T59" fmla="*/ 159 h 512"/>
                <a:gd name="T60" fmla="*/ 269 w 512"/>
                <a:gd name="T61" fmla="*/ 119 h 512"/>
                <a:gd name="T62" fmla="*/ 227 w 512"/>
                <a:gd name="T63" fmla="*/ 76 h 512"/>
                <a:gd name="T64" fmla="*/ 151 w 512"/>
                <a:gd name="T65" fmla="*/ 136 h 512"/>
                <a:gd name="T66" fmla="*/ 151 w 512"/>
                <a:gd name="T67" fmla="*/ 151 h 512"/>
                <a:gd name="T68" fmla="*/ 195 w 512"/>
                <a:gd name="T69" fmla="*/ 193 h 512"/>
                <a:gd name="T70" fmla="*/ 234 w 512"/>
                <a:gd name="T71" fmla="*/ 234 h 512"/>
                <a:gd name="T72" fmla="*/ 234 w 512"/>
                <a:gd name="T73" fmla="*/ 264 h 512"/>
                <a:gd name="T74" fmla="*/ 265 w 512"/>
                <a:gd name="T75" fmla="*/ 286 h 512"/>
                <a:gd name="T76" fmla="*/ 299 w 512"/>
                <a:gd name="T77" fmla="*/ 261 h 512"/>
                <a:gd name="T78" fmla="*/ 323 w 512"/>
                <a:gd name="T79" fmla="*/ 323 h 512"/>
                <a:gd name="T80" fmla="*/ 370 w 512"/>
                <a:gd name="T81" fmla="*/ 366 h 512"/>
                <a:gd name="T82" fmla="*/ 438 w 512"/>
                <a:gd name="T83" fmla="*/ 3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340" y="189"/>
                  </a:moveTo>
                  <a:cubicBezTo>
                    <a:pt x="265" y="264"/>
                    <a:pt x="265" y="264"/>
                    <a:pt x="265" y="264"/>
                  </a:cubicBezTo>
                  <a:cubicBezTo>
                    <a:pt x="250" y="249"/>
                    <a:pt x="250" y="249"/>
                    <a:pt x="250" y="249"/>
                  </a:cubicBezTo>
                  <a:cubicBezTo>
                    <a:pt x="325" y="174"/>
                    <a:pt x="325" y="174"/>
                    <a:pt x="325" y="174"/>
                  </a:cubicBezTo>
                  <a:lnTo>
                    <a:pt x="340" y="189"/>
                  </a:lnTo>
                  <a:close/>
                  <a:moveTo>
                    <a:pt x="274" y="194"/>
                  </a:moveTo>
                  <a:cubicBezTo>
                    <a:pt x="250" y="129"/>
                    <a:pt x="250" y="129"/>
                    <a:pt x="250" y="129"/>
                  </a:cubicBezTo>
                  <a:cubicBezTo>
                    <a:pt x="219" y="99"/>
                    <a:pt x="219" y="99"/>
                    <a:pt x="219" y="99"/>
                  </a:cubicBezTo>
                  <a:cubicBezTo>
                    <a:pt x="174" y="144"/>
                    <a:pt x="174" y="144"/>
                    <a:pt x="174" y="144"/>
                  </a:cubicBezTo>
                  <a:cubicBezTo>
                    <a:pt x="205" y="174"/>
                    <a:pt x="205" y="174"/>
                    <a:pt x="205" y="174"/>
                  </a:cubicBezTo>
                  <a:cubicBezTo>
                    <a:pt x="270" y="199"/>
                    <a:pt x="270" y="199"/>
                    <a:pt x="270" y="199"/>
                  </a:cubicBezTo>
                  <a:lnTo>
                    <a:pt x="274" y="194"/>
                  </a:lnTo>
                  <a:close/>
                  <a:moveTo>
                    <a:pt x="320" y="240"/>
                  </a:moveTo>
                  <a:cubicBezTo>
                    <a:pt x="315" y="244"/>
                    <a:pt x="315" y="244"/>
                    <a:pt x="315" y="244"/>
                  </a:cubicBezTo>
                  <a:cubicBezTo>
                    <a:pt x="340" y="309"/>
                    <a:pt x="340" y="309"/>
                    <a:pt x="340" y="309"/>
                  </a:cubicBezTo>
                  <a:cubicBezTo>
                    <a:pt x="370" y="340"/>
                    <a:pt x="370" y="340"/>
                    <a:pt x="370" y="340"/>
                  </a:cubicBezTo>
                  <a:cubicBezTo>
                    <a:pt x="415" y="295"/>
                    <a:pt x="415" y="295"/>
                    <a:pt x="415" y="295"/>
                  </a:cubicBezTo>
                  <a:cubicBezTo>
                    <a:pt x="385" y="264"/>
                    <a:pt x="385" y="264"/>
                    <a:pt x="385" y="264"/>
                  </a:cubicBezTo>
                  <a:lnTo>
                    <a:pt x="320" y="24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68" y="405"/>
                  </a:moveTo>
                  <a:cubicBezTo>
                    <a:pt x="268" y="399"/>
                    <a:pt x="263" y="394"/>
                    <a:pt x="257" y="394"/>
                  </a:cubicBezTo>
                  <a:cubicBezTo>
                    <a:pt x="257" y="394"/>
                    <a:pt x="257" y="394"/>
                    <a:pt x="257" y="394"/>
                  </a:cubicBezTo>
                  <a:cubicBezTo>
                    <a:pt x="219" y="394"/>
                    <a:pt x="191" y="381"/>
                    <a:pt x="167" y="357"/>
                  </a:cubicBezTo>
                  <a:cubicBezTo>
                    <a:pt x="141" y="331"/>
                    <a:pt x="126" y="292"/>
                    <a:pt x="126" y="257"/>
                  </a:cubicBezTo>
                  <a:cubicBezTo>
                    <a:pt x="126" y="251"/>
                    <a:pt x="117" y="247"/>
                    <a:pt x="117" y="247"/>
                  </a:cubicBezTo>
                  <a:cubicBezTo>
                    <a:pt x="117" y="247"/>
                    <a:pt x="117" y="247"/>
                    <a:pt x="117" y="247"/>
                  </a:cubicBezTo>
                  <a:cubicBezTo>
                    <a:pt x="106" y="247"/>
                    <a:pt x="105" y="252"/>
                    <a:pt x="105" y="258"/>
                  </a:cubicBezTo>
                  <a:cubicBezTo>
                    <a:pt x="105" y="298"/>
                    <a:pt x="122" y="343"/>
                    <a:pt x="151" y="372"/>
                  </a:cubicBezTo>
                  <a:cubicBezTo>
                    <a:pt x="179" y="400"/>
                    <a:pt x="213" y="416"/>
                    <a:pt x="257" y="416"/>
                  </a:cubicBezTo>
                  <a:cubicBezTo>
                    <a:pt x="257" y="416"/>
                    <a:pt x="257" y="416"/>
                    <a:pt x="257" y="416"/>
                  </a:cubicBezTo>
                  <a:cubicBezTo>
                    <a:pt x="263" y="416"/>
                    <a:pt x="268" y="411"/>
                    <a:pt x="268" y="405"/>
                  </a:cubicBezTo>
                  <a:close/>
                  <a:moveTo>
                    <a:pt x="181" y="257"/>
                  </a:moveTo>
                  <a:cubicBezTo>
                    <a:pt x="181" y="257"/>
                    <a:pt x="181" y="257"/>
                    <a:pt x="181" y="257"/>
                  </a:cubicBezTo>
                  <a:cubicBezTo>
                    <a:pt x="170" y="257"/>
                    <a:pt x="169" y="261"/>
                    <a:pt x="169" y="267"/>
                  </a:cubicBezTo>
                  <a:cubicBezTo>
                    <a:pt x="169" y="288"/>
                    <a:pt x="178" y="311"/>
                    <a:pt x="194" y="327"/>
                  </a:cubicBezTo>
                  <a:cubicBezTo>
                    <a:pt x="210" y="343"/>
                    <a:pt x="232" y="352"/>
                    <a:pt x="254" y="352"/>
                  </a:cubicBezTo>
                  <a:cubicBezTo>
                    <a:pt x="254" y="352"/>
                    <a:pt x="254" y="352"/>
                    <a:pt x="254" y="352"/>
                  </a:cubicBezTo>
                  <a:cubicBezTo>
                    <a:pt x="260" y="352"/>
                    <a:pt x="265" y="347"/>
                    <a:pt x="265" y="341"/>
                  </a:cubicBezTo>
                  <a:cubicBezTo>
                    <a:pt x="265" y="336"/>
                    <a:pt x="256" y="331"/>
                    <a:pt x="256" y="331"/>
                  </a:cubicBezTo>
                  <a:cubicBezTo>
                    <a:pt x="256" y="330"/>
                    <a:pt x="256" y="330"/>
                    <a:pt x="256" y="330"/>
                  </a:cubicBezTo>
                  <a:cubicBezTo>
                    <a:pt x="256" y="330"/>
                    <a:pt x="254" y="330"/>
                    <a:pt x="254" y="330"/>
                  </a:cubicBezTo>
                  <a:cubicBezTo>
                    <a:pt x="238" y="330"/>
                    <a:pt x="221" y="324"/>
                    <a:pt x="209" y="312"/>
                  </a:cubicBezTo>
                  <a:cubicBezTo>
                    <a:pt x="197" y="300"/>
                    <a:pt x="190" y="283"/>
                    <a:pt x="190" y="268"/>
                  </a:cubicBezTo>
                  <a:cubicBezTo>
                    <a:pt x="190" y="262"/>
                    <a:pt x="181" y="257"/>
                    <a:pt x="181" y="257"/>
                  </a:cubicBezTo>
                  <a:close/>
                  <a:moveTo>
                    <a:pt x="438" y="302"/>
                  </a:moveTo>
                  <a:cubicBezTo>
                    <a:pt x="440" y="300"/>
                    <a:pt x="441" y="297"/>
                    <a:pt x="441" y="295"/>
                  </a:cubicBezTo>
                  <a:cubicBezTo>
                    <a:pt x="441" y="292"/>
                    <a:pt x="440" y="289"/>
                    <a:pt x="438" y="287"/>
                  </a:cubicBezTo>
                  <a:cubicBezTo>
                    <a:pt x="398" y="247"/>
                    <a:pt x="398" y="247"/>
                    <a:pt x="398" y="247"/>
                  </a:cubicBezTo>
                  <a:cubicBezTo>
                    <a:pt x="397" y="246"/>
                    <a:pt x="396" y="246"/>
                    <a:pt x="395" y="245"/>
                  </a:cubicBezTo>
                  <a:cubicBezTo>
                    <a:pt x="336" y="223"/>
                    <a:pt x="336" y="223"/>
                    <a:pt x="336" y="223"/>
                  </a:cubicBezTo>
                  <a:cubicBezTo>
                    <a:pt x="355" y="204"/>
                    <a:pt x="355" y="204"/>
                    <a:pt x="355" y="204"/>
                  </a:cubicBezTo>
                  <a:cubicBezTo>
                    <a:pt x="359" y="200"/>
                    <a:pt x="361" y="195"/>
                    <a:pt x="361" y="189"/>
                  </a:cubicBezTo>
                  <a:cubicBezTo>
                    <a:pt x="361" y="183"/>
                    <a:pt x="359" y="178"/>
                    <a:pt x="355" y="174"/>
                  </a:cubicBezTo>
                  <a:cubicBezTo>
                    <a:pt x="340" y="159"/>
                    <a:pt x="340" y="159"/>
                    <a:pt x="340" y="159"/>
                  </a:cubicBezTo>
                  <a:cubicBezTo>
                    <a:pt x="332" y="151"/>
                    <a:pt x="318" y="151"/>
                    <a:pt x="310" y="159"/>
                  </a:cubicBezTo>
                  <a:cubicBezTo>
                    <a:pt x="291" y="178"/>
                    <a:pt x="291" y="178"/>
                    <a:pt x="291" y="178"/>
                  </a:cubicBezTo>
                  <a:cubicBezTo>
                    <a:pt x="269" y="119"/>
                    <a:pt x="269" y="119"/>
                    <a:pt x="269" y="119"/>
                  </a:cubicBezTo>
                  <a:cubicBezTo>
                    <a:pt x="268" y="118"/>
                    <a:pt x="268" y="117"/>
                    <a:pt x="267" y="116"/>
                  </a:cubicBezTo>
                  <a:cubicBezTo>
                    <a:pt x="227" y="76"/>
                    <a:pt x="227" y="76"/>
                    <a:pt x="227" y="76"/>
                  </a:cubicBezTo>
                  <a:cubicBezTo>
                    <a:pt x="223" y="72"/>
                    <a:pt x="216" y="72"/>
                    <a:pt x="212" y="76"/>
                  </a:cubicBezTo>
                  <a:cubicBezTo>
                    <a:pt x="151" y="136"/>
                    <a:pt x="151" y="136"/>
                    <a:pt x="151" y="136"/>
                  </a:cubicBezTo>
                  <a:cubicBezTo>
                    <a:pt x="149" y="138"/>
                    <a:pt x="148" y="141"/>
                    <a:pt x="148" y="144"/>
                  </a:cubicBezTo>
                  <a:cubicBezTo>
                    <a:pt x="148" y="147"/>
                    <a:pt x="149" y="149"/>
                    <a:pt x="151" y="151"/>
                  </a:cubicBezTo>
                  <a:cubicBezTo>
                    <a:pt x="191" y="191"/>
                    <a:pt x="191" y="191"/>
                    <a:pt x="191" y="191"/>
                  </a:cubicBezTo>
                  <a:cubicBezTo>
                    <a:pt x="192" y="192"/>
                    <a:pt x="194" y="193"/>
                    <a:pt x="195" y="193"/>
                  </a:cubicBezTo>
                  <a:cubicBezTo>
                    <a:pt x="254" y="215"/>
                    <a:pt x="254" y="215"/>
                    <a:pt x="254" y="215"/>
                  </a:cubicBezTo>
                  <a:cubicBezTo>
                    <a:pt x="234" y="234"/>
                    <a:pt x="234" y="234"/>
                    <a:pt x="234" y="234"/>
                  </a:cubicBezTo>
                  <a:cubicBezTo>
                    <a:pt x="230" y="238"/>
                    <a:pt x="228" y="244"/>
                    <a:pt x="228" y="249"/>
                  </a:cubicBezTo>
                  <a:cubicBezTo>
                    <a:pt x="228" y="255"/>
                    <a:pt x="230" y="260"/>
                    <a:pt x="234" y="264"/>
                  </a:cubicBezTo>
                  <a:cubicBezTo>
                    <a:pt x="250" y="280"/>
                    <a:pt x="250" y="280"/>
                    <a:pt x="250" y="280"/>
                  </a:cubicBezTo>
                  <a:cubicBezTo>
                    <a:pt x="254" y="284"/>
                    <a:pt x="259" y="286"/>
                    <a:pt x="265" y="286"/>
                  </a:cubicBezTo>
                  <a:cubicBezTo>
                    <a:pt x="270" y="286"/>
                    <a:pt x="276" y="284"/>
                    <a:pt x="280" y="280"/>
                  </a:cubicBezTo>
                  <a:cubicBezTo>
                    <a:pt x="299" y="261"/>
                    <a:pt x="299" y="261"/>
                    <a:pt x="299" y="261"/>
                  </a:cubicBezTo>
                  <a:cubicBezTo>
                    <a:pt x="321" y="319"/>
                    <a:pt x="321" y="319"/>
                    <a:pt x="321" y="319"/>
                  </a:cubicBezTo>
                  <a:cubicBezTo>
                    <a:pt x="321" y="320"/>
                    <a:pt x="322" y="322"/>
                    <a:pt x="323" y="323"/>
                  </a:cubicBezTo>
                  <a:cubicBezTo>
                    <a:pt x="363" y="363"/>
                    <a:pt x="363" y="363"/>
                    <a:pt x="363" y="363"/>
                  </a:cubicBezTo>
                  <a:cubicBezTo>
                    <a:pt x="365" y="365"/>
                    <a:pt x="367" y="366"/>
                    <a:pt x="370" y="366"/>
                  </a:cubicBezTo>
                  <a:cubicBezTo>
                    <a:pt x="373" y="366"/>
                    <a:pt x="376" y="365"/>
                    <a:pt x="378" y="363"/>
                  </a:cubicBezTo>
                  <a:lnTo>
                    <a:pt x="438" y="30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sz="1600"/>
            </a:p>
          </p:txBody>
        </p:sp>
        <p:sp>
          <p:nvSpPr>
            <p:cNvPr id="134" name="TextBox 133">
              <a:extLst>
                <a:ext uri="{FF2B5EF4-FFF2-40B4-BE49-F238E27FC236}">
                  <a16:creationId xmlns:a16="http://schemas.microsoft.com/office/drawing/2014/main" id="{70277B96-B493-4665-8D75-80FBB08BCBC0}"/>
                </a:ext>
              </a:extLst>
            </p:cNvPr>
            <p:cNvSpPr txBox="1"/>
            <p:nvPr/>
          </p:nvSpPr>
          <p:spPr>
            <a:xfrm>
              <a:off x="6188506" y="6163355"/>
              <a:ext cx="949390" cy="128330"/>
            </a:xfrm>
            <a:prstGeom prst="rect">
              <a:avLst/>
            </a:prstGeom>
            <a:solidFill>
              <a:schemeClr val="bg1"/>
            </a:solidFill>
          </p:spPr>
          <p:txBody>
            <a:bodyPr wrap="square" lIns="0" tIns="0" rIns="0" bIns="0" rtlCol="0">
              <a:spAutoFit/>
            </a:bodyPr>
            <a:lstStyle/>
            <a:p>
              <a:r>
                <a:rPr lang="en-US" sz="700" dirty="0">
                  <a:latin typeface="Calibri Light" panose="020F0302020204030204" pitchFamily="34" charset="0"/>
                </a:rPr>
                <a:t>Stakeholder-2</a:t>
              </a:r>
              <a:endParaRPr lang="en-IN" sz="700" dirty="0">
                <a:latin typeface="Calibri Light" panose="020F0302020204030204" pitchFamily="34" charset="0"/>
              </a:endParaRPr>
            </a:p>
          </p:txBody>
        </p:sp>
        <p:sp>
          <p:nvSpPr>
            <p:cNvPr id="135" name="TextBox 134">
              <a:extLst>
                <a:ext uri="{FF2B5EF4-FFF2-40B4-BE49-F238E27FC236}">
                  <a16:creationId xmlns:a16="http://schemas.microsoft.com/office/drawing/2014/main" id="{CAD51C23-ADE3-42D9-A072-EAD0329410B8}"/>
                </a:ext>
              </a:extLst>
            </p:cNvPr>
            <p:cNvSpPr txBox="1"/>
            <p:nvPr/>
          </p:nvSpPr>
          <p:spPr>
            <a:xfrm>
              <a:off x="8231070" y="6174290"/>
              <a:ext cx="949390" cy="128330"/>
            </a:xfrm>
            <a:prstGeom prst="rect">
              <a:avLst/>
            </a:prstGeom>
            <a:solidFill>
              <a:schemeClr val="bg1"/>
            </a:solidFill>
          </p:spPr>
          <p:txBody>
            <a:bodyPr wrap="square" lIns="0" tIns="0" rIns="0" bIns="0" rtlCol="0">
              <a:spAutoFit/>
            </a:bodyPr>
            <a:lstStyle/>
            <a:p>
              <a:r>
                <a:rPr lang="en-US" sz="700" dirty="0">
                  <a:latin typeface="Calibri Light" panose="020F0302020204030204" pitchFamily="34" charset="0"/>
                </a:rPr>
                <a:t>Stakeholder-3</a:t>
              </a:r>
              <a:endParaRPr lang="en-IN" sz="700" dirty="0">
                <a:latin typeface="Calibri Light" panose="020F0302020204030204" pitchFamily="34" charset="0"/>
              </a:endParaRPr>
            </a:p>
          </p:txBody>
        </p:sp>
        <p:sp>
          <p:nvSpPr>
            <p:cNvPr id="136" name="TextBox 135">
              <a:extLst>
                <a:ext uri="{FF2B5EF4-FFF2-40B4-BE49-F238E27FC236}">
                  <a16:creationId xmlns:a16="http://schemas.microsoft.com/office/drawing/2014/main" id="{0F7595D5-62E0-4E9C-A49D-3C9F6B4FEC30}"/>
                </a:ext>
              </a:extLst>
            </p:cNvPr>
            <p:cNvSpPr txBox="1"/>
            <p:nvPr/>
          </p:nvSpPr>
          <p:spPr>
            <a:xfrm>
              <a:off x="10167588" y="6184941"/>
              <a:ext cx="949390" cy="128330"/>
            </a:xfrm>
            <a:prstGeom prst="rect">
              <a:avLst/>
            </a:prstGeom>
            <a:solidFill>
              <a:schemeClr val="bg1"/>
            </a:solidFill>
          </p:spPr>
          <p:txBody>
            <a:bodyPr wrap="square" lIns="0" tIns="0" rIns="0" bIns="0" rtlCol="0">
              <a:spAutoFit/>
            </a:bodyPr>
            <a:lstStyle/>
            <a:p>
              <a:r>
                <a:rPr lang="en-US" sz="700" dirty="0">
                  <a:latin typeface="Calibri Light" panose="020F0302020204030204" pitchFamily="34" charset="0"/>
                </a:rPr>
                <a:t>Stakeholder-4</a:t>
              </a:r>
              <a:endParaRPr lang="en-IN" sz="700" dirty="0">
                <a:latin typeface="Calibri Light" panose="020F0302020204030204" pitchFamily="34" charset="0"/>
              </a:endParaRPr>
            </a:p>
          </p:txBody>
        </p:sp>
      </p:grpSp>
    </p:spTree>
    <p:extLst>
      <p:ext uri="{BB962C8B-B14F-4D97-AF65-F5344CB8AC3E}">
        <p14:creationId xmlns:p14="http://schemas.microsoft.com/office/powerpoint/2010/main" val="588124334"/>
      </p:ext>
    </p:extLst>
  </p:cSld>
  <p:clrMapOvr>
    <a:masterClrMapping/>
  </p:clrMapOvr>
  <p:transition>
    <p:fade/>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p:cNvSpPr/>
          <p:nvPr/>
        </p:nvSpPr>
        <p:spPr bwMode="gray">
          <a:xfrm>
            <a:off x="443345" y="5421745"/>
            <a:ext cx="11203710" cy="951345"/>
          </a:xfrm>
          <a:prstGeom prst="roundRect">
            <a:avLst>
              <a:gd name="adj" fmla="val 6990"/>
            </a:avLst>
          </a:prstGeom>
          <a:solidFill>
            <a:srgbClr val="012169"/>
          </a:solidFill>
          <a:ln/>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ctr" anchorCtr="0" compatLnSpc="1">
            <a:prstTxWarp prst="textNoShape">
              <a:avLst/>
            </a:prstTxWarp>
          </a:bodyPr>
          <a:lstStyle/>
          <a:p>
            <a:endParaRPr lang="en-IN" sz="1100" b="1" kern="0" dirty="0">
              <a:solidFill>
                <a:schemeClr val="bg1"/>
              </a:solidFill>
              <a:latin typeface="Verdana" panose="020B0604030504040204" pitchFamily="34" charset="0"/>
              <a:ea typeface="Verdana" panose="020B0604030504040204" pitchFamily="34" charset="0"/>
              <a:cs typeface="Calibri" panose="020F0502020204030204" pitchFamily="34" charset="0"/>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43761" y="1708993"/>
            <a:ext cx="1972575" cy="30774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52898" y="1729537"/>
            <a:ext cx="1959406" cy="30569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98337" y="2479402"/>
            <a:ext cx="4657181" cy="23070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3" name="Picture 12"/>
          <p:cNvPicPr>
            <a:picLocks noChangeAspect="1"/>
          </p:cNvPicPr>
          <p:nvPr/>
        </p:nvPicPr>
        <p:blipFill rotWithShape="1">
          <a:blip r:embed="rId5" cstate="print">
            <a:extLst>
              <a:ext uri="{28A0092B-C50C-407E-A947-70E740481C1C}">
                <a14:useLocalDpi xmlns:a14="http://schemas.microsoft.com/office/drawing/2010/main" val="0"/>
              </a:ext>
            </a:extLst>
          </a:blip>
          <a:srcRect t="10543" b="6667"/>
          <a:stretch/>
        </p:blipFill>
        <p:spPr>
          <a:xfrm>
            <a:off x="504000" y="1618628"/>
            <a:ext cx="4574267" cy="280064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5" name="TextBox 14"/>
          <p:cNvSpPr txBox="1"/>
          <p:nvPr/>
        </p:nvSpPr>
        <p:spPr>
          <a:xfrm>
            <a:off x="1985820" y="4968154"/>
            <a:ext cx="3408218"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Web based monitoring dashboards</a:t>
            </a:r>
            <a:endParaRPr lang="en-IN" sz="1400" i="1" dirty="0">
              <a:solidFill>
                <a:srgbClr val="313131"/>
              </a:solidFill>
            </a:endParaRPr>
          </a:p>
        </p:txBody>
      </p:sp>
      <p:sp>
        <p:nvSpPr>
          <p:cNvPr id="16" name="TextBox 15"/>
          <p:cNvSpPr txBox="1"/>
          <p:nvPr/>
        </p:nvSpPr>
        <p:spPr>
          <a:xfrm>
            <a:off x="7848789" y="4968154"/>
            <a:ext cx="3408218"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Mobile based monitoring dashboards</a:t>
            </a:r>
            <a:endParaRPr lang="en-IN" sz="1400" i="1" dirty="0">
              <a:solidFill>
                <a:srgbClr val="313131"/>
              </a:solidFill>
            </a:endParaRPr>
          </a:p>
        </p:txBody>
      </p:sp>
      <p:sp>
        <p:nvSpPr>
          <p:cNvPr id="17" name="TextBox 16"/>
          <p:cNvSpPr txBox="1"/>
          <p:nvPr/>
        </p:nvSpPr>
        <p:spPr>
          <a:xfrm>
            <a:off x="494010" y="878811"/>
            <a:ext cx="11382557" cy="215444"/>
          </a:xfrm>
          <a:prstGeom prst="rect">
            <a:avLst/>
          </a:prstGeom>
          <a:noFill/>
        </p:spPr>
        <p:txBody>
          <a:bodyPr wrap="square" lIns="0" tIns="0" rIns="0" bIns="0" rtlCol="0">
            <a:spAutoFit/>
          </a:bodyPr>
          <a:lstStyle>
            <a:defPPr>
              <a:defRPr lang="en-US"/>
            </a:defPPr>
            <a:lvl1pPr>
              <a:spcBef>
                <a:spcPts val="600"/>
              </a:spcBef>
              <a:buSzPct val="100000"/>
              <a:defRPr sz="1050">
                <a:solidFill>
                  <a:schemeClr val="bg1"/>
                </a:solidFill>
              </a:defRPr>
            </a:lvl1pPr>
          </a:lstStyle>
          <a:p>
            <a:r>
              <a:rPr lang="en-US" sz="1400" dirty="0">
                <a:solidFill>
                  <a:schemeClr val="tx1"/>
                </a:solidFill>
              </a:rPr>
              <a:t>Web and mobile based are designed to enable early warning signals, visibility &amp; selective intervention from top management </a:t>
            </a:r>
          </a:p>
        </p:txBody>
      </p:sp>
      <p:sp>
        <p:nvSpPr>
          <p:cNvPr id="18" name="Freeform 9"/>
          <p:cNvSpPr>
            <a:spLocks noChangeAspect="1" noEditPoints="1"/>
          </p:cNvSpPr>
          <p:nvPr/>
        </p:nvSpPr>
        <p:spPr bwMode="auto">
          <a:xfrm>
            <a:off x="650832" y="5569527"/>
            <a:ext cx="684925" cy="646546"/>
          </a:xfrm>
          <a:custGeom>
            <a:avLst/>
            <a:gdLst>
              <a:gd name="T0" fmla="*/ 31 w 102"/>
              <a:gd name="T1" fmla="*/ 0 h 96"/>
              <a:gd name="T2" fmla="*/ 27 w 102"/>
              <a:gd name="T3" fmla="*/ 17 h 96"/>
              <a:gd name="T4" fmla="*/ 53 w 102"/>
              <a:gd name="T5" fmla="*/ 21 h 96"/>
              <a:gd name="T6" fmla="*/ 56 w 102"/>
              <a:gd name="T7" fmla="*/ 3 h 96"/>
              <a:gd name="T8" fmla="*/ 47 w 102"/>
              <a:gd name="T9" fmla="*/ 12 h 96"/>
              <a:gd name="T10" fmla="*/ 31 w 102"/>
              <a:gd name="T11" fmla="*/ 7 h 96"/>
              <a:gd name="T12" fmla="*/ 49 w 102"/>
              <a:gd name="T13" fmla="*/ 3 h 96"/>
              <a:gd name="T14" fmla="*/ 47 w 102"/>
              <a:gd name="T15" fmla="*/ 12 h 96"/>
              <a:gd name="T16" fmla="*/ 56 w 102"/>
              <a:gd name="T17" fmla="*/ 32 h 96"/>
              <a:gd name="T18" fmla="*/ 7 w 102"/>
              <a:gd name="T19" fmla="*/ 30 h 96"/>
              <a:gd name="T20" fmla="*/ 8 w 102"/>
              <a:gd name="T21" fmla="*/ 29 h 96"/>
              <a:gd name="T22" fmla="*/ 56 w 102"/>
              <a:gd name="T23" fmla="*/ 30 h 96"/>
              <a:gd name="T24" fmla="*/ 47 w 102"/>
              <a:gd name="T25" fmla="*/ 44 h 96"/>
              <a:gd name="T26" fmla="*/ 7 w 102"/>
              <a:gd name="T27" fmla="*/ 42 h 96"/>
              <a:gd name="T28" fmla="*/ 8 w 102"/>
              <a:gd name="T29" fmla="*/ 41 h 96"/>
              <a:gd name="T30" fmla="*/ 49 w 102"/>
              <a:gd name="T31" fmla="*/ 42 h 96"/>
              <a:gd name="T32" fmla="*/ 40 w 102"/>
              <a:gd name="T33" fmla="*/ 56 h 96"/>
              <a:gd name="T34" fmla="*/ 7 w 102"/>
              <a:gd name="T35" fmla="*/ 54 h 96"/>
              <a:gd name="T36" fmla="*/ 8 w 102"/>
              <a:gd name="T37" fmla="*/ 53 h 96"/>
              <a:gd name="T38" fmla="*/ 41 w 102"/>
              <a:gd name="T39" fmla="*/ 54 h 96"/>
              <a:gd name="T40" fmla="*/ 36 w 102"/>
              <a:gd name="T41" fmla="*/ 84 h 96"/>
              <a:gd name="T42" fmla="*/ 7 w 102"/>
              <a:gd name="T43" fmla="*/ 78 h 96"/>
              <a:gd name="T44" fmla="*/ 14 w 102"/>
              <a:gd name="T45" fmla="*/ 72 h 96"/>
              <a:gd name="T46" fmla="*/ 43 w 102"/>
              <a:gd name="T47" fmla="*/ 78 h 96"/>
              <a:gd name="T48" fmla="*/ 78 w 102"/>
              <a:gd name="T49" fmla="*/ 11 h 96"/>
              <a:gd name="T50" fmla="*/ 59 w 102"/>
              <a:gd name="T51" fmla="*/ 8 h 96"/>
              <a:gd name="T52" fmla="*/ 84 w 102"/>
              <a:gd name="T53" fmla="*/ 13 h 96"/>
              <a:gd name="T54" fmla="*/ 82 w 102"/>
              <a:gd name="T55" fmla="*/ 41 h 96"/>
              <a:gd name="T56" fmla="*/ 80 w 102"/>
              <a:gd name="T57" fmla="*/ 13 h 96"/>
              <a:gd name="T58" fmla="*/ 84 w 102"/>
              <a:gd name="T59" fmla="*/ 86 h 96"/>
              <a:gd name="T60" fmla="*/ 78 w 102"/>
              <a:gd name="T61" fmla="*/ 96 h 96"/>
              <a:gd name="T62" fmla="*/ 0 w 102"/>
              <a:gd name="T63" fmla="*/ 91 h 96"/>
              <a:gd name="T64" fmla="*/ 5 w 102"/>
              <a:gd name="T65" fmla="*/ 8 h 96"/>
              <a:gd name="T66" fmla="*/ 24 w 102"/>
              <a:gd name="T67" fmla="*/ 11 h 96"/>
              <a:gd name="T68" fmla="*/ 4 w 102"/>
              <a:gd name="T69" fmla="*/ 13 h 96"/>
              <a:gd name="T70" fmla="*/ 5 w 102"/>
              <a:gd name="T71" fmla="*/ 92 h 96"/>
              <a:gd name="T72" fmla="*/ 80 w 102"/>
              <a:gd name="T73" fmla="*/ 91 h 96"/>
              <a:gd name="T74" fmla="*/ 82 w 102"/>
              <a:gd name="T75" fmla="*/ 86 h 96"/>
              <a:gd name="T76" fmla="*/ 61 w 102"/>
              <a:gd name="T77" fmla="*/ 64 h 96"/>
              <a:gd name="T78" fmla="*/ 102 w 102"/>
              <a:gd name="T79" fmla="*/ 64 h 96"/>
              <a:gd name="T80" fmla="*/ 96 w 102"/>
              <a:gd name="T81" fmla="*/ 58 h 96"/>
              <a:gd name="T82" fmla="*/ 78 w 102"/>
              <a:gd name="T83" fmla="*/ 75 h 96"/>
              <a:gd name="T84" fmla="*/ 76 w 102"/>
              <a:gd name="T85" fmla="*/ 75 h 96"/>
              <a:gd name="T86" fmla="*/ 68 w 102"/>
              <a:gd name="T87" fmla="*/ 64 h 96"/>
              <a:gd name="T88" fmla="*/ 77 w 102"/>
              <a:gd name="T89" fmla="*/ 71 h 96"/>
              <a:gd name="T90" fmla="*/ 96 w 102"/>
              <a:gd name="T91" fmla="*/ 5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2" h="96">
                <a:moveTo>
                  <a:pt x="53" y="0"/>
                </a:moveTo>
                <a:cubicBezTo>
                  <a:pt x="31" y="0"/>
                  <a:pt x="31" y="0"/>
                  <a:pt x="31" y="0"/>
                </a:cubicBezTo>
                <a:cubicBezTo>
                  <a:pt x="29" y="0"/>
                  <a:pt x="27" y="2"/>
                  <a:pt x="27" y="3"/>
                </a:cubicBezTo>
                <a:cubicBezTo>
                  <a:pt x="27" y="17"/>
                  <a:pt x="27" y="17"/>
                  <a:pt x="27" y="17"/>
                </a:cubicBezTo>
                <a:cubicBezTo>
                  <a:pt x="27" y="19"/>
                  <a:pt x="29" y="21"/>
                  <a:pt x="31" y="21"/>
                </a:cubicBezTo>
                <a:cubicBezTo>
                  <a:pt x="53" y="21"/>
                  <a:pt x="53" y="21"/>
                  <a:pt x="53" y="21"/>
                </a:cubicBezTo>
                <a:cubicBezTo>
                  <a:pt x="55" y="21"/>
                  <a:pt x="56" y="19"/>
                  <a:pt x="56" y="17"/>
                </a:cubicBezTo>
                <a:cubicBezTo>
                  <a:pt x="56" y="3"/>
                  <a:pt x="56" y="3"/>
                  <a:pt x="56" y="3"/>
                </a:cubicBezTo>
                <a:cubicBezTo>
                  <a:pt x="56" y="2"/>
                  <a:pt x="55" y="0"/>
                  <a:pt x="53" y="0"/>
                </a:cubicBezTo>
                <a:close/>
                <a:moveTo>
                  <a:pt x="47" y="12"/>
                </a:moveTo>
                <a:cubicBezTo>
                  <a:pt x="37" y="12"/>
                  <a:pt x="37" y="12"/>
                  <a:pt x="37" y="12"/>
                </a:cubicBezTo>
                <a:cubicBezTo>
                  <a:pt x="36" y="12"/>
                  <a:pt x="31" y="9"/>
                  <a:pt x="31" y="7"/>
                </a:cubicBezTo>
                <a:cubicBezTo>
                  <a:pt x="31" y="5"/>
                  <a:pt x="33" y="3"/>
                  <a:pt x="35" y="3"/>
                </a:cubicBezTo>
                <a:cubicBezTo>
                  <a:pt x="49" y="3"/>
                  <a:pt x="49" y="3"/>
                  <a:pt x="49" y="3"/>
                </a:cubicBezTo>
                <a:cubicBezTo>
                  <a:pt x="50" y="3"/>
                  <a:pt x="52" y="5"/>
                  <a:pt x="52" y="7"/>
                </a:cubicBezTo>
                <a:cubicBezTo>
                  <a:pt x="52" y="9"/>
                  <a:pt x="48" y="12"/>
                  <a:pt x="47" y="12"/>
                </a:cubicBezTo>
                <a:close/>
                <a:moveTo>
                  <a:pt x="56" y="30"/>
                </a:moveTo>
                <a:cubicBezTo>
                  <a:pt x="56" y="31"/>
                  <a:pt x="56" y="32"/>
                  <a:pt x="56" y="32"/>
                </a:cubicBezTo>
                <a:cubicBezTo>
                  <a:pt x="8" y="32"/>
                  <a:pt x="8" y="32"/>
                  <a:pt x="8" y="32"/>
                </a:cubicBezTo>
                <a:cubicBezTo>
                  <a:pt x="8" y="32"/>
                  <a:pt x="7" y="31"/>
                  <a:pt x="7" y="30"/>
                </a:cubicBezTo>
                <a:cubicBezTo>
                  <a:pt x="7" y="30"/>
                  <a:pt x="7" y="30"/>
                  <a:pt x="7" y="30"/>
                </a:cubicBezTo>
                <a:cubicBezTo>
                  <a:pt x="7" y="29"/>
                  <a:pt x="8" y="29"/>
                  <a:pt x="8" y="29"/>
                </a:cubicBezTo>
                <a:cubicBezTo>
                  <a:pt x="56" y="29"/>
                  <a:pt x="56" y="29"/>
                  <a:pt x="56" y="29"/>
                </a:cubicBezTo>
                <a:cubicBezTo>
                  <a:pt x="56" y="29"/>
                  <a:pt x="56" y="29"/>
                  <a:pt x="56" y="30"/>
                </a:cubicBezTo>
                <a:close/>
                <a:moveTo>
                  <a:pt x="49" y="42"/>
                </a:moveTo>
                <a:cubicBezTo>
                  <a:pt x="49" y="43"/>
                  <a:pt x="48" y="44"/>
                  <a:pt x="47" y="44"/>
                </a:cubicBezTo>
                <a:cubicBezTo>
                  <a:pt x="8" y="44"/>
                  <a:pt x="8" y="44"/>
                  <a:pt x="8" y="44"/>
                </a:cubicBezTo>
                <a:cubicBezTo>
                  <a:pt x="8" y="44"/>
                  <a:pt x="7" y="43"/>
                  <a:pt x="7" y="42"/>
                </a:cubicBezTo>
                <a:cubicBezTo>
                  <a:pt x="7" y="42"/>
                  <a:pt x="7" y="42"/>
                  <a:pt x="7" y="42"/>
                </a:cubicBezTo>
                <a:cubicBezTo>
                  <a:pt x="7" y="41"/>
                  <a:pt x="8" y="41"/>
                  <a:pt x="8" y="41"/>
                </a:cubicBezTo>
                <a:cubicBezTo>
                  <a:pt x="47" y="41"/>
                  <a:pt x="47" y="41"/>
                  <a:pt x="47" y="41"/>
                </a:cubicBezTo>
                <a:cubicBezTo>
                  <a:pt x="48" y="41"/>
                  <a:pt x="49" y="41"/>
                  <a:pt x="49" y="42"/>
                </a:cubicBezTo>
                <a:close/>
                <a:moveTo>
                  <a:pt x="41" y="54"/>
                </a:moveTo>
                <a:cubicBezTo>
                  <a:pt x="41" y="55"/>
                  <a:pt x="40" y="56"/>
                  <a:pt x="40" y="56"/>
                </a:cubicBezTo>
                <a:cubicBezTo>
                  <a:pt x="8" y="56"/>
                  <a:pt x="8" y="56"/>
                  <a:pt x="8" y="56"/>
                </a:cubicBezTo>
                <a:cubicBezTo>
                  <a:pt x="7" y="56"/>
                  <a:pt x="7" y="55"/>
                  <a:pt x="7" y="54"/>
                </a:cubicBezTo>
                <a:cubicBezTo>
                  <a:pt x="7" y="54"/>
                  <a:pt x="7" y="54"/>
                  <a:pt x="7" y="54"/>
                </a:cubicBezTo>
                <a:cubicBezTo>
                  <a:pt x="7" y="53"/>
                  <a:pt x="7" y="53"/>
                  <a:pt x="8" y="53"/>
                </a:cubicBezTo>
                <a:cubicBezTo>
                  <a:pt x="40" y="53"/>
                  <a:pt x="40" y="53"/>
                  <a:pt x="40" y="53"/>
                </a:cubicBezTo>
                <a:cubicBezTo>
                  <a:pt x="40" y="53"/>
                  <a:pt x="41" y="53"/>
                  <a:pt x="41" y="54"/>
                </a:cubicBezTo>
                <a:close/>
                <a:moveTo>
                  <a:pt x="43" y="78"/>
                </a:moveTo>
                <a:cubicBezTo>
                  <a:pt x="43" y="82"/>
                  <a:pt x="39" y="84"/>
                  <a:pt x="36" y="84"/>
                </a:cubicBezTo>
                <a:cubicBezTo>
                  <a:pt x="14" y="84"/>
                  <a:pt x="14" y="84"/>
                  <a:pt x="14" y="84"/>
                </a:cubicBezTo>
                <a:cubicBezTo>
                  <a:pt x="10" y="84"/>
                  <a:pt x="7" y="82"/>
                  <a:pt x="7" y="78"/>
                </a:cubicBezTo>
                <a:cubicBezTo>
                  <a:pt x="7" y="78"/>
                  <a:pt x="7" y="78"/>
                  <a:pt x="7" y="78"/>
                </a:cubicBezTo>
                <a:cubicBezTo>
                  <a:pt x="7" y="75"/>
                  <a:pt x="10" y="72"/>
                  <a:pt x="14" y="72"/>
                </a:cubicBezTo>
                <a:cubicBezTo>
                  <a:pt x="36" y="72"/>
                  <a:pt x="36" y="72"/>
                  <a:pt x="36" y="72"/>
                </a:cubicBezTo>
                <a:cubicBezTo>
                  <a:pt x="39" y="72"/>
                  <a:pt x="43" y="75"/>
                  <a:pt x="43" y="78"/>
                </a:cubicBezTo>
                <a:close/>
                <a:moveTo>
                  <a:pt x="80" y="13"/>
                </a:moveTo>
                <a:cubicBezTo>
                  <a:pt x="80" y="12"/>
                  <a:pt x="79" y="11"/>
                  <a:pt x="78" y="11"/>
                </a:cubicBezTo>
                <a:cubicBezTo>
                  <a:pt x="78" y="11"/>
                  <a:pt x="78" y="11"/>
                  <a:pt x="59" y="11"/>
                </a:cubicBezTo>
                <a:cubicBezTo>
                  <a:pt x="59" y="11"/>
                  <a:pt x="59" y="11"/>
                  <a:pt x="59" y="8"/>
                </a:cubicBezTo>
                <a:cubicBezTo>
                  <a:pt x="59" y="8"/>
                  <a:pt x="59" y="8"/>
                  <a:pt x="78" y="8"/>
                </a:cubicBezTo>
                <a:cubicBezTo>
                  <a:pt x="82" y="8"/>
                  <a:pt x="84" y="10"/>
                  <a:pt x="84" y="13"/>
                </a:cubicBezTo>
                <a:cubicBezTo>
                  <a:pt x="84" y="13"/>
                  <a:pt x="84" y="13"/>
                  <a:pt x="84" y="41"/>
                </a:cubicBezTo>
                <a:cubicBezTo>
                  <a:pt x="83" y="41"/>
                  <a:pt x="83" y="41"/>
                  <a:pt x="82" y="41"/>
                </a:cubicBezTo>
                <a:cubicBezTo>
                  <a:pt x="81" y="41"/>
                  <a:pt x="81" y="41"/>
                  <a:pt x="80" y="41"/>
                </a:cubicBezTo>
                <a:cubicBezTo>
                  <a:pt x="80" y="41"/>
                  <a:pt x="80" y="41"/>
                  <a:pt x="80" y="13"/>
                </a:cubicBezTo>
                <a:close/>
                <a:moveTo>
                  <a:pt x="82" y="86"/>
                </a:moveTo>
                <a:cubicBezTo>
                  <a:pt x="83" y="86"/>
                  <a:pt x="83" y="86"/>
                  <a:pt x="84" y="86"/>
                </a:cubicBezTo>
                <a:cubicBezTo>
                  <a:pt x="84" y="86"/>
                  <a:pt x="84" y="86"/>
                  <a:pt x="84" y="91"/>
                </a:cubicBezTo>
                <a:cubicBezTo>
                  <a:pt x="84" y="93"/>
                  <a:pt x="82" y="96"/>
                  <a:pt x="78" y="96"/>
                </a:cubicBezTo>
                <a:cubicBezTo>
                  <a:pt x="78" y="96"/>
                  <a:pt x="78" y="96"/>
                  <a:pt x="5" y="96"/>
                </a:cubicBezTo>
                <a:cubicBezTo>
                  <a:pt x="2" y="96"/>
                  <a:pt x="0" y="93"/>
                  <a:pt x="0" y="91"/>
                </a:cubicBezTo>
                <a:cubicBezTo>
                  <a:pt x="0" y="91"/>
                  <a:pt x="0" y="91"/>
                  <a:pt x="0" y="13"/>
                </a:cubicBezTo>
                <a:cubicBezTo>
                  <a:pt x="0" y="10"/>
                  <a:pt x="2" y="8"/>
                  <a:pt x="5" y="8"/>
                </a:cubicBezTo>
                <a:cubicBezTo>
                  <a:pt x="5" y="8"/>
                  <a:pt x="5" y="8"/>
                  <a:pt x="24" y="8"/>
                </a:cubicBezTo>
                <a:cubicBezTo>
                  <a:pt x="24" y="8"/>
                  <a:pt x="24" y="8"/>
                  <a:pt x="24" y="11"/>
                </a:cubicBezTo>
                <a:cubicBezTo>
                  <a:pt x="24" y="11"/>
                  <a:pt x="24" y="11"/>
                  <a:pt x="5" y="11"/>
                </a:cubicBezTo>
                <a:cubicBezTo>
                  <a:pt x="5" y="11"/>
                  <a:pt x="4" y="12"/>
                  <a:pt x="4" y="13"/>
                </a:cubicBezTo>
                <a:cubicBezTo>
                  <a:pt x="4" y="13"/>
                  <a:pt x="4" y="13"/>
                  <a:pt x="4" y="91"/>
                </a:cubicBezTo>
                <a:cubicBezTo>
                  <a:pt x="4" y="92"/>
                  <a:pt x="5" y="92"/>
                  <a:pt x="5" y="92"/>
                </a:cubicBezTo>
                <a:cubicBezTo>
                  <a:pt x="5" y="92"/>
                  <a:pt x="5" y="92"/>
                  <a:pt x="78" y="92"/>
                </a:cubicBezTo>
                <a:cubicBezTo>
                  <a:pt x="79" y="92"/>
                  <a:pt x="80" y="92"/>
                  <a:pt x="80" y="91"/>
                </a:cubicBezTo>
                <a:cubicBezTo>
                  <a:pt x="80" y="91"/>
                  <a:pt x="80" y="91"/>
                  <a:pt x="80" y="86"/>
                </a:cubicBezTo>
                <a:cubicBezTo>
                  <a:pt x="81" y="86"/>
                  <a:pt x="81" y="86"/>
                  <a:pt x="82" y="86"/>
                </a:cubicBezTo>
                <a:close/>
                <a:moveTo>
                  <a:pt x="82" y="43"/>
                </a:moveTo>
                <a:cubicBezTo>
                  <a:pt x="70" y="43"/>
                  <a:pt x="61" y="52"/>
                  <a:pt x="61" y="64"/>
                </a:cubicBezTo>
                <a:cubicBezTo>
                  <a:pt x="61" y="75"/>
                  <a:pt x="70" y="84"/>
                  <a:pt x="82" y="84"/>
                </a:cubicBezTo>
                <a:cubicBezTo>
                  <a:pt x="93" y="84"/>
                  <a:pt x="102" y="75"/>
                  <a:pt x="102" y="64"/>
                </a:cubicBezTo>
                <a:cubicBezTo>
                  <a:pt x="102" y="52"/>
                  <a:pt x="93" y="43"/>
                  <a:pt x="82" y="43"/>
                </a:cubicBezTo>
                <a:close/>
                <a:moveTo>
                  <a:pt x="96" y="58"/>
                </a:moveTo>
                <a:cubicBezTo>
                  <a:pt x="79" y="75"/>
                  <a:pt x="79" y="75"/>
                  <a:pt x="79" y="75"/>
                </a:cubicBezTo>
                <a:cubicBezTo>
                  <a:pt x="78" y="75"/>
                  <a:pt x="78" y="75"/>
                  <a:pt x="78" y="75"/>
                </a:cubicBezTo>
                <a:cubicBezTo>
                  <a:pt x="78" y="75"/>
                  <a:pt x="78" y="75"/>
                  <a:pt x="78" y="75"/>
                </a:cubicBezTo>
                <a:cubicBezTo>
                  <a:pt x="78" y="76"/>
                  <a:pt x="76" y="76"/>
                  <a:pt x="76" y="75"/>
                </a:cubicBezTo>
                <a:cubicBezTo>
                  <a:pt x="68" y="67"/>
                  <a:pt x="68" y="67"/>
                  <a:pt x="68" y="67"/>
                </a:cubicBezTo>
                <a:cubicBezTo>
                  <a:pt x="67" y="66"/>
                  <a:pt x="67" y="65"/>
                  <a:pt x="68" y="64"/>
                </a:cubicBezTo>
                <a:cubicBezTo>
                  <a:pt x="69" y="64"/>
                  <a:pt x="69" y="64"/>
                  <a:pt x="70" y="64"/>
                </a:cubicBezTo>
                <a:cubicBezTo>
                  <a:pt x="77" y="71"/>
                  <a:pt x="77" y="71"/>
                  <a:pt x="77" y="71"/>
                </a:cubicBezTo>
                <a:cubicBezTo>
                  <a:pt x="93" y="55"/>
                  <a:pt x="93" y="55"/>
                  <a:pt x="93" y="55"/>
                </a:cubicBezTo>
                <a:cubicBezTo>
                  <a:pt x="94" y="54"/>
                  <a:pt x="95" y="54"/>
                  <a:pt x="96" y="55"/>
                </a:cubicBezTo>
                <a:cubicBezTo>
                  <a:pt x="96" y="56"/>
                  <a:pt x="96" y="57"/>
                  <a:pt x="96" y="5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9" name="TextBox 18"/>
          <p:cNvSpPr txBox="1"/>
          <p:nvPr/>
        </p:nvSpPr>
        <p:spPr>
          <a:xfrm>
            <a:off x="1625600" y="5634182"/>
            <a:ext cx="9631407" cy="369332"/>
          </a:xfrm>
          <a:prstGeom prst="rect">
            <a:avLst/>
          </a:prstGeom>
          <a:noFill/>
        </p:spPr>
        <p:txBody>
          <a:bodyPr wrap="square" lIns="0" tIns="0" rIns="0" bIns="0" rtlCol="0">
            <a:spAutoFit/>
          </a:bodyPr>
          <a:lstStyle/>
          <a:p>
            <a:pPr>
              <a:spcBef>
                <a:spcPts val="600"/>
              </a:spcBef>
              <a:buSzPct val="100000"/>
            </a:pPr>
            <a:r>
              <a:rPr lang="en-US" sz="1200" dirty="0">
                <a:solidFill>
                  <a:schemeClr val="bg1"/>
                </a:solidFill>
              </a:rPr>
              <a:t>The above information can be extensively implemented and used for managing project data, highlight critical issues, generate reports and keep track of permissions, tendering/ordering, procurement and related activities etc. </a:t>
            </a:r>
            <a:endParaRPr lang="en-IN" sz="1200" dirty="0">
              <a:solidFill>
                <a:schemeClr val="bg1"/>
              </a:solidFill>
            </a:endParaRPr>
          </a:p>
        </p:txBody>
      </p:sp>
      <p:sp>
        <p:nvSpPr>
          <p:cNvPr id="20" name="Content Placeholder 10"/>
          <p:cNvSpPr txBox="1">
            <a:spLocks/>
          </p:cNvSpPr>
          <p:nvPr/>
        </p:nvSpPr>
        <p:spPr>
          <a:xfrm>
            <a:off x="504000" y="338878"/>
            <a:ext cx="7925971" cy="470667"/>
          </a:xfrm>
        </p:spPr>
        <p:txBody>
          <a:bodyPr vert="horz" wrap="square" lIns="0" tIns="0" rIns="0" bIns="0" rtlCol="0" anchor="t" anchorCtr="0">
            <a:spAutoFit/>
          </a:bodyPr>
          <a:lstStyle>
            <a:defPPr>
              <a:defRPr lang="en-US"/>
            </a:defPPr>
            <a:lvl1pPr marL="12701">
              <a:lnSpc>
                <a:spcPts val="2750"/>
              </a:lnSpc>
              <a:spcBef>
                <a:spcPct val="0"/>
              </a:spcBef>
              <a:buNone/>
              <a:defRPr sz="2000" b="1" spc="-125">
                <a:solidFill>
                  <a:srgbClr val="012169"/>
                </a:solidFill>
                <a:latin typeface="+mj-lt"/>
                <a:cs typeface="Calibri" panose="020F0502020204030204" pitchFamily="34" charset="0"/>
              </a:defRPr>
            </a:lvl1pPr>
          </a:lstStyle>
          <a:p>
            <a:r>
              <a:rPr lang="en-ZA" dirty="0">
                <a:solidFill>
                  <a:schemeClr val="tx1"/>
                </a:solidFill>
                <a:ea typeface="+mj-ea"/>
                <a:cs typeface="+mj-cs"/>
              </a:rPr>
              <a:t>Sample Web/ Mobile Based Dashboard</a:t>
            </a:r>
          </a:p>
        </p:txBody>
      </p:sp>
      <p:sp>
        <p:nvSpPr>
          <p:cNvPr id="22" name="Title 1">
            <a:extLst>
              <a:ext uri="{FF2B5EF4-FFF2-40B4-BE49-F238E27FC236}">
                <a16:creationId xmlns:a16="http://schemas.microsoft.com/office/drawing/2014/main" id="{440A5905-BA52-4C4A-9C2F-248872C6ADC9}"/>
              </a:ext>
            </a:extLst>
          </p:cNvPr>
          <p:cNvSpPr txBox="1">
            <a:spLocks/>
          </p:cNvSpPr>
          <p:nvPr/>
        </p:nvSpPr>
        <p:spPr>
          <a:xfrm>
            <a:off x="9796245" y="1280410"/>
            <a:ext cx="1611934" cy="295856"/>
          </a:xfrm>
          <a:prstGeom prst="rect">
            <a:avLst/>
          </a:prstGeom>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600" b="1" dirty="0">
                <a:solidFill>
                  <a:srgbClr val="0076A8"/>
                </a:solidFill>
              </a:rPr>
              <a:t>Indicative</a:t>
            </a:r>
            <a:endParaRPr lang="en-IN" sz="1600" b="1" dirty="0">
              <a:solidFill>
                <a:srgbClr val="0076A8"/>
              </a:solidFill>
            </a:endParaRPr>
          </a:p>
        </p:txBody>
      </p:sp>
    </p:spTree>
    <p:extLst>
      <p:ext uri="{BB962C8B-B14F-4D97-AF65-F5344CB8AC3E}">
        <p14:creationId xmlns:p14="http://schemas.microsoft.com/office/powerpoint/2010/main" val="421491927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0"/>
          <p:cNvSpPr txBox="1">
            <a:spLocks/>
          </p:cNvSpPr>
          <p:nvPr/>
        </p:nvSpPr>
        <p:spPr>
          <a:xfrm>
            <a:off x="504000" y="342000"/>
            <a:ext cx="7925971" cy="470667"/>
          </a:xfrm>
        </p:spPr>
        <p:txBody>
          <a:bodyPr vert="horz" wrap="square" lIns="0" tIns="0" rIns="0" bIns="0" rtlCol="0" anchor="t" anchorCtr="0">
            <a:spAutoFit/>
          </a:bodyPr>
          <a:lstStyle>
            <a:defPPr>
              <a:defRPr lang="en-US"/>
            </a:defPPr>
            <a:lvl1pPr marL="12701">
              <a:lnSpc>
                <a:spcPts val="2750"/>
              </a:lnSpc>
              <a:spcBef>
                <a:spcPct val="0"/>
              </a:spcBef>
              <a:buNone/>
              <a:defRPr sz="2000" b="1" spc="-125">
                <a:solidFill>
                  <a:srgbClr val="012169"/>
                </a:solidFill>
                <a:latin typeface="+mj-lt"/>
                <a:cs typeface="Calibri" panose="020F0502020204030204" pitchFamily="34" charset="0"/>
              </a:defRPr>
            </a:lvl1pPr>
          </a:lstStyle>
          <a:p>
            <a:r>
              <a:rPr lang="en-ZA" dirty="0">
                <a:solidFill>
                  <a:schemeClr val="tx1"/>
                </a:solidFill>
                <a:ea typeface="+mj-ea"/>
                <a:cs typeface="+mj-cs"/>
              </a:rPr>
              <a:t>Sample Automated Reports</a:t>
            </a:r>
          </a:p>
        </p:txBody>
      </p:sp>
      <p:sp>
        <p:nvSpPr>
          <p:cNvPr id="3" name="TextBox 2"/>
          <p:cNvSpPr txBox="1"/>
          <p:nvPr/>
        </p:nvSpPr>
        <p:spPr>
          <a:xfrm>
            <a:off x="491799" y="946870"/>
            <a:ext cx="11491094" cy="430887"/>
          </a:xfrm>
          <a:prstGeom prst="rect">
            <a:avLst/>
          </a:prstGeom>
          <a:noFill/>
        </p:spPr>
        <p:txBody>
          <a:bodyPr wrap="square" lIns="0" tIns="0" rIns="0" bIns="0" rtlCol="0">
            <a:spAutoFit/>
          </a:bodyPr>
          <a:lstStyle/>
          <a:p>
            <a:pPr>
              <a:spcBef>
                <a:spcPts val="600"/>
              </a:spcBef>
              <a:buSzPct val="100000"/>
            </a:pPr>
            <a:r>
              <a:rPr lang="en-US" sz="1400" dirty="0"/>
              <a:t>Various automated reports for project monitoring and control. These reports help in limiting manual effort required for project monitoring and control. The requirement of reports shall be customized as per Department of Power, </a:t>
            </a:r>
            <a:r>
              <a:rPr lang="en-US" sz="1400" dirty="0" err="1"/>
              <a:t>GoWB</a:t>
            </a:r>
            <a:r>
              <a:rPr lang="en-US" sz="1400" dirty="0"/>
              <a:t> requirement.</a:t>
            </a:r>
          </a:p>
        </p:txBody>
      </p:sp>
      <p:pic>
        <p:nvPicPr>
          <p:cNvPr id="5" name="Picture 4"/>
          <p:cNvPicPr>
            <a:picLocks noChangeAspect="1"/>
          </p:cNvPicPr>
          <p:nvPr/>
        </p:nvPicPr>
        <p:blipFill rotWithShape="1">
          <a:blip r:embed="rId2"/>
          <a:srcRect t="11264" b="10807"/>
          <a:stretch/>
        </p:blipFill>
        <p:spPr>
          <a:xfrm>
            <a:off x="2095031" y="1867166"/>
            <a:ext cx="1315314" cy="1219769"/>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1799" y="1807222"/>
            <a:ext cx="1518772" cy="1267124"/>
          </a:xfrm>
          <a:prstGeom prst="rect">
            <a:avLst/>
          </a:prstGeom>
        </p:spPr>
      </p:pic>
      <p:grpSp>
        <p:nvGrpSpPr>
          <p:cNvPr id="9" name="Group 8"/>
          <p:cNvGrpSpPr/>
          <p:nvPr/>
        </p:nvGrpSpPr>
        <p:grpSpPr>
          <a:xfrm>
            <a:off x="1110482" y="1782955"/>
            <a:ext cx="1800176" cy="1615438"/>
            <a:chOff x="301558" y="1155709"/>
            <a:chExt cx="1809047" cy="1196308"/>
          </a:xfrm>
        </p:grpSpPr>
        <p:pic>
          <p:nvPicPr>
            <p:cNvPr id="6" name="Picture 5"/>
            <p:cNvPicPr>
              <a:picLocks noChangeAspect="1"/>
            </p:cNvPicPr>
            <p:nvPr/>
          </p:nvPicPr>
          <p:blipFill>
            <a:blip r:embed="rId4"/>
            <a:stretch>
              <a:fillRect/>
            </a:stretch>
          </p:blipFill>
          <p:spPr>
            <a:xfrm>
              <a:off x="301558" y="1155709"/>
              <a:ext cx="1809047" cy="1196308"/>
            </a:xfrm>
            <a:prstGeom prst="rect">
              <a:avLst/>
            </a:prstGeom>
          </p:spPr>
        </p:pic>
        <p:pic>
          <p:nvPicPr>
            <p:cNvPr id="7" name="Picture 6"/>
            <p:cNvPicPr>
              <a:picLocks noChangeAspect="1"/>
            </p:cNvPicPr>
            <p:nvPr/>
          </p:nvPicPr>
          <p:blipFill rotWithShape="1">
            <a:blip r:embed="rId5" cstate="print">
              <a:extLst>
                <a:ext uri="{28A0092B-C50C-407E-A947-70E740481C1C}">
                  <a14:useLocalDpi xmlns:a14="http://schemas.microsoft.com/office/drawing/2010/main" val="0"/>
                </a:ext>
              </a:extLst>
            </a:blip>
            <a:srcRect l="3148" t="12884" r="3084"/>
            <a:stretch/>
          </p:blipFill>
          <p:spPr>
            <a:xfrm>
              <a:off x="641131" y="1288257"/>
              <a:ext cx="1219200" cy="922918"/>
            </a:xfrm>
            <a:prstGeom prst="rect">
              <a:avLst/>
            </a:prstGeom>
          </p:spPr>
        </p:pic>
      </p:grpSp>
      <p:sp>
        <p:nvSpPr>
          <p:cNvPr id="10" name="TextBox 9"/>
          <p:cNvSpPr txBox="1"/>
          <p:nvPr/>
        </p:nvSpPr>
        <p:spPr>
          <a:xfrm>
            <a:off x="1251185" y="3536452"/>
            <a:ext cx="1275783" cy="128942"/>
          </a:xfrm>
          <a:prstGeom prst="rect">
            <a:avLst/>
          </a:prstGeom>
          <a:noFill/>
        </p:spPr>
        <p:txBody>
          <a:bodyPr wrap="square" lIns="0" tIns="0" rIns="0" bIns="0" rtlCol="0">
            <a:spAutoFit/>
          </a:bodyPr>
          <a:lstStyle/>
          <a:p>
            <a:pPr>
              <a:spcBef>
                <a:spcPts val="600"/>
              </a:spcBef>
              <a:buSzPct val="100000"/>
            </a:pPr>
            <a:r>
              <a:rPr lang="en-US" sz="1050" b="1" dirty="0">
                <a:solidFill>
                  <a:srgbClr val="313131"/>
                </a:solidFill>
              </a:rPr>
              <a:t>Smart Reporting</a:t>
            </a:r>
            <a:endParaRPr lang="en-IN" sz="1050" b="1" dirty="0">
              <a:solidFill>
                <a:srgbClr val="313131"/>
              </a:solidFill>
            </a:endParaRPr>
          </a:p>
        </p:txBody>
      </p:sp>
      <p:pic>
        <p:nvPicPr>
          <p:cNvPr id="14" name="Picture 1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12965" y="1961942"/>
            <a:ext cx="2224971" cy="1284286"/>
          </a:xfrm>
          <a:prstGeom prst="rect">
            <a:avLst/>
          </a:prstGeom>
        </p:spPr>
      </p:pic>
      <p:sp>
        <p:nvSpPr>
          <p:cNvPr id="15" name="TextBox 14"/>
          <p:cNvSpPr txBox="1"/>
          <p:nvPr/>
        </p:nvSpPr>
        <p:spPr>
          <a:xfrm>
            <a:off x="6973689" y="3536452"/>
            <a:ext cx="1667641" cy="128942"/>
          </a:xfrm>
          <a:prstGeom prst="rect">
            <a:avLst/>
          </a:prstGeom>
          <a:noFill/>
        </p:spPr>
        <p:txBody>
          <a:bodyPr wrap="square" lIns="0" tIns="0" rIns="0" bIns="0" rtlCol="0">
            <a:spAutoFit/>
          </a:bodyPr>
          <a:lstStyle/>
          <a:p>
            <a:pPr>
              <a:spcBef>
                <a:spcPts val="600"/>
              </a:spcBef>
              <a:buSzPct val="100000"/>
            </a:pPr>
            <a:r>
              <a:rPr lang="en-US" sz="1050" b="1" dirty="0">
                <a:solidFill>
                  <a:srgbClr val="313131"/>
                </a:solidFill>
              </a:rPr>
              <a:t>Critical Tender Report</a:t>
            </a:r>
            <a:endParaRPr lang="en-IN" sz="1050" b="1" dirty="0">
              <a:solidFill>
                <a:srgbClr val="313131"/>
              </a:solidFill>
            </a:endParaRPr>
          </a:p>
        </p:txBody>
      </p:sp>
      <p:pic>
        <p:nvPicPr>
          <p:cNvPr id="16" name="Picture 15"/>
          <p:cNvPicPr>
            <a:picLocks noChangeAspect="1"/>
          </p:cNvPicPr>
          <p:nvPr/>
        </p:nvPicPr>
        <p:blipFill rotWithShape="1">
          <a:blip r:embed="rId7" cstate="print">
            <a:extLst>
              <a:ext uri="{28A0092B-C50C-407E-A947-70E740481C1C}">
                <a14:useLocalDpi xmlns:a14="http://schemas.microsoft.com/office/drawing/2010/main" val="0"/>
              </a:ext>
            </a:extLst>
          </a:blip>
          <a:srcRect t="2762"/>
          <a:stretch/>
        </p:blipFill>
        <p:spPr>
          <a:xfrm>
            <a:off x="9414958" y="1947536"/>
            <a:ext cx="2319101" cy="1298691"/>
          </a:xfrm>
          <a:prstGeom prst="rect">
            <a:avLst/>
          </a:prstGeom>
        </p:spPr>
      </p:pic>
      <p:sp>
        <p:nvSpPr>
          <p:cNvPr id="17" name="TextBox 16"/>
          <p:cNvSpPr txBox="1"/>
          <p:nvPr/>
        </p:nvSpPr>
        <p:spPr>
          <a:xfrm>
            <a:off x="9956439" y="3536452"/>
            <a:ext cx="1667641" cy="128942"/>
          </a:xfrm>
          <a:prstGeom prst="rect">
            <a:avLst/>
          </a:prstGeom>
          <a:noFill/>
        </p:spPr>
        <p:txBody>
          <a:bodyPr wrap="square" lIns="0" tIns="0" rIns="0" bIns="0" rtlCol="0">
            <a:spAutoFit/>
          </a:bodyPr>
          <a:lstStyle/>
          <a:p>
            <a:pPr>
              <a:spcBef>
                <a:spcPts val="600"/>
              </a:spcBef>
              <a:buSzPct val="100000"/>
            </a:pPr>
            <a:r>
              <a:rPr lang="en-US" sz="1050" b="1" dirty="0">
                <a:solidFill>
                  <a:srgbClr val="313131"/>
                </a:solidFill>
              </a:rPr>
              <a:t>Look-ahead Plan</a:t>
            </a:r>
            <a:endParaRPr lang="en-IN" sz="1050" b="1" dirty="0">
              <a:solidFill>
                <a:srgbClr val="313131"/>
              </a:solidFill>
            </a:endParaRPr>
          </a:p>
        </p:txBody>
      </p:sp>
      <p:pic>
        <p:nvPicPr>
          <p:cNvPr id="18" name="Picture 1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926451" y="3952876"/>
            <a:ext cx="1483894" cy="1825353"/>
          </a:xfrm>
          <a:prstGeom prst="rect">
            <a:avLst/>
          </a:prstGeom>
        </p:spPr>
      </p:pic>
      <p:pic>
        <p:nvPicPr>
          <p:cNvPr id="19" name="Picture 1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91799" y="3952876"/>
            <a:ext cx="1247824" cy="1768447"/>
          </a:xfrm>
          <a:prstGeom prst="rect">
            <a:avLst/>
          </a:prstGeom>
        </p:spPr>
      </p:pic>
      <p:sp>
        <p:nvSpPr>
          <p:cNvPr id="20" name="TextBox 19"/>
          <p:cNvSpPr txBox="1"/>
          <p:nvPr/>
        </p:nvSpPr>
        <p:spPr>
          <a:xfrm>
            <a:off x="1140939" y="5874754"/>
            <a:ext cx="1496274" cy="128942"/>
          </a:xfrm>
          <a:prstGeom prst="rect">
            <a:avLst/>
          </a:prstGeom>
          <a:noFill/>
        </p:spPr>
        <p:txBody>
          <a:bodyPr wrap="square" lIns="0" tIns="0" rIns="0" bIns="0" rtlCol="0">
            <a:spAutoFit/>
          </a:bodyPr>
          <a:lstStyle/>
          <a:p>
            <a:pPr>
              <a:spcBef>
                <a:spcPts val="600"/>
              </a:spcBef>
              <a:buSzPct val="100000"/>
            </a:pPr>
            <a:r>
              <a:rPr lang="en-US" sz="1050" b="1" dirty="0">
                <a:solidFill>
                  <a:srgbClr val="313131"/>
                </a:solidFill>
              </a:rPr>
              <a:t>Summary Report</a:t>
            </a:r>
            <a:endParaRPr lang="en-IN" sz="1050" b="1" dirty="0">
              <a:solidFill>
                <a:srgbClr val="313131"/>
              </a:solidFill>
            </a:endParaRPr>
          </a:p>
        </p:txBody>
      </p:sp>
      <p:pic>
        <p:nvPicPr>
          <p:cNvPr id="22" name="Picture 2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658165" y="4246894"/>
            <a:ext cx="1651955" cy="1278417"/>
          </a:xfrm>
          <a:prstGeom prst="rect">
            <a:avLst/>
          </a:prstGeom>
        </p:spPr>
      </p:pic>
      <p:pic>
        <p:nvPicPr>
          <p:cNvPr id="21" name="Picture 20"/>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835271" y="4084021"/>
            <a:ext cx="1039181" cy="1663618"/>
          </a:xfrm>
          <a:prstGeom prst="rect">
            <a:avLst/>
          </a:prstGeom>
        </p:spPr>
      </p:pic>
      <p:sp>
        <p:nvSpPr>
          <p:cNvPr id="23" name="TextBox 22"/>
          <p:cNvSpPr txBox="1"/>
          <p:nvPr/>
        </p:nvSpPr>
        <p:spPr>
          <a:xfrm>
            <a:off x="4454784" y="5874754"/>
            <a:ext cx="1330339" cy="128942"/>
          </a:xfrm>
          <a:prstGeom prst="rect">
            <a:avLst/>
          </a:prstGeom>
          <a:noFill/>
        </p:spPr>
        <p:txBody>
          <a:bodyPr wrap="square" lIns="0" tIns="0" rIns="0" bIns="0" rtlCol="0">
            <a:spAutoFit/>
          </a:bodyPr>
          <a:lstStyle/>
          <a:p>
            <a:pPr>
              <a:spcBef>
                <a:spcPts val="600"/>
              </a:spcBef>
              <a:buSzPct val="100000"/>
            </a:pPr>
            <a:r>
              <a:rPr lang="en-US" sz="1050" b="1" dirty="0">
                <a:solidFill>
                  <a:srgbClr val="313131"/>
                </a:solidFill>
              </a:rPr>
              <a:t>Detailed Report</a:t>
            </a:r>
            <a:endParaRPr lang="en-IN" sz="1050" b="1" dirty="0">
              <a:solidFill>
                <a:srgbClr val="313131"/>
              </a:solidFill>
            </a:endParaRPr>
          </a:p>
        </p:txBody>
      </p:sp>
      <p:pic>
        <p:nvPicPr>
          <p:cNvPr id="27" name="Picture 2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785892" y="4011693"/>
            <a:ext cx="1130504" cy="1709628"/>
          </a:xfrm>
          <a:prstGeom prst="rect">
            <a:avLst/>
          </a:prstGeom>
        </p:spPr>
      </p:pic>
      <p:pic>
        <p:nvPicPr>
          <p:cNvPr id="28" name="Picture 27"/>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508999" y="4033701"/>
            <a:ext cx="1208797" cy="1709626"/>
          </a:xfrm>
          <a:prstGeom prst="rect">
            <a:avLst/>
          </a:prstGeom>
        </p:spPr>
      </p:pic>
      <p:sp>
        <p:nvSpPr>
          <p:cNvPr id="29" name="TextBox 28"/>
          <p:cNvSpPr txBox="1"/>
          <p:nvPr/>
        </p:nvSpPr>
        <p:spPr>
          <a:xfrm>
            <a:off x="7001852" y="5878334"/>
            <a:ext cx="1736084" cy="128942"/>
          </a:xfrm>
          <a:prstGeom prst="rect">
            <a:avLst/>
          </a:prstGeom>
          <a:noFill/>
        </p:spPr>
        <p:txBody>
          <a:bodyPr wrap="square" lIns="0" tIns="0" rIns="0" bIns="0" rtlCol="0">
            <a:spAutoFit/>
          </a:bodyPr>
          <a:lstStyle/>
          <a:p>
            <a:pPr>
              <a:spcBef>
                <a:spcPts val="600"/>
              </a:spcBef>
              <a:buSzPct val="100000"/>
            </a:pPr>
            <a:r>
              <a:rPr lang="en-US" sz="1050" b="1" dirty="0">
                <a:solidFill>
                  <a:srgbClr val="313131"/>
                </a:solidFill>
              </a:rPr>
              <a:t>Critical Issues Report</a:t>
            </a:r>
            <a:endParaRPr lang="en-IN" sz="1050" b="1" dirty="0">
              <a:solidFill>
                <a:srgbClr val="313131"/>
              </a:solidFill>
            </a:endParaRPr>
          </a:p>
        </p:txBody>
      </p:sp>
      <p:pic>
        <p:nvPicPr>
          <p:cNvPr id="30" name="Picture 29"/>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3629265" y="1797792"/>
            <a:ext cx="1897577" cy="1289143"/>
          </a:xfrm>
          <a:prstGeom prst="rect">
            <a:avLst/>
          </a:prstGeom>
        </p:spPr>
      </p:pic>
      <p:pic>
        <p:nvPicPr>
          <p:cNvPr id="31" name="Picture 3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764240" y="2154863"/>
            <a:ext cx="1462933" cy="1091365"/>
          </a:xfrm>
          <a:prstGeom prst="rect">
            <a:avLst/>
          </a:prstGeom>
        </p:spPr>
      </p:pic>
      <p:sp>
        <p:nvSpPr>
          <p:cNvPr id="32" name="TextBox 31"/>
          <p:cNvSpPr txBox="1"/>
          <p:nvPr/>
        </p:nvSpPr>
        <p:spPr>
          <a:xfrm>
            <a:off x="4043149" y="3536826"/>
            <a:ext cx="1963130" cy="161583"/>
          </a:xfrm>
          <a:prstGeom prst="rect">
            <a:avLst/>
          </a:prstGeom>
          <a:noFill/>
        </p:spPr>
        <p:txBody>
          <a:bodyPr wrap="square" lIns="0" tIns="0" rIns="0" bIns="0" rtlCol="0">
            <a:spAutoFit/>
          </a:bodyPr>
          <a:lstStyle/>
          <a:p>
            <a:pPr>
              <a:spcBef>
                <a:spcPts val="600"/>
              </a:spcBef>
              <a:buSzPct val="100000"/>
            </a:pPr>
            <a:r>
              <a:rPr lang="en-US" sz="1050" b="1" dirty="0">
                <a:solidFill>
                  <a:srgbClr val="313131"/>
                </a:solidFill>
              </a:rPr>
              <a:t>Utility Performance</a:t>
            </a:r>
            <a:endParaRPr lang="en-IN" sz="1050" b="1" dirty="0">
              <a:solidFill>
                <a:srgbClr val="313131"/>
              </a:solidFill>
            </a:endParaRPr>
          </a:p>
        </p:txBody>
      </p:sp>
      <p:pic>
        <p:nvPicPr>
          <p:cNvPr id="37" name="Picture 36"/>
          <p:cNvPicPr>
            <a:picLocks noChangeAspect="1"/>
          </p:cNvPicPr>
          <p:nvPr/>
        </p:nvPicPr>
        <p:blipFill rotWithShape="1">
          <a:blip r:embed="rId16" cstate="print">
            <a:extLst>
              <a:ext uri="{28A0092B-C50C-407E-A947-70E740481C1C}">
                <a14:useLocalDpi xmlns:a14="http://schemas.microsoft.com/office/drawing/2010/main" val="0"/>
              </a:ext>
            </a:extLst>
          </a:blip>
          <a:srcRect t="588"/>
          <a:stretch/>
        </p:blipFill>
        <p:spPr>
          <a:xfrm>
            <a:off x="9464117" y="4084020"/>
            <a:ext cx="2374148" cy="1637301"/>
          </a:xfrm>
          <a:prstGeom prst="rect">
            <a:avLst/>
          </a:prstGeom>
        </p:spPr>
      </p:pic>
      <p:sp>
        <p:nvSpPr>
          <p:cNvPr id="38" name="TextBox 37"/>
          <p:cNvSpPr txBox="1"/>
          <p:nvPr/>
        </p:nvSpPr>
        <p:spPr>
          <a:xfrm>
            <a:off x="10164884" y="5878334"/>
            <a:ext cx="1084556" cy="128942"/>
          </a:xfrm>
          <a:prstGeom prst="rect">
            <a:avLst/>
          </a:prstGeom>
          <a:noFill/>
        </p:spPr>
        <p:txBody>
          <a:bodyPr wrap="square" lIns="0" tIns="0" rIns="0" bIns="0" rtlCol="0">
            <a:spAutoFit/>
          </a:bodyPr>
          <a:lstStyle/>
          <a:p>
            <a:pPr>
              <a:spcBef>
                <a:spcPts val="600"/>
              </a:spcBef>
              <a:buSzPct val="100000"/>
            </a:pPr>
            <a:r>
              <a:rPr lang="en-US" sz="1050" b="1" dirty="0">
                <a:solidFill>
                  <a:srgbClr val="313131"/>
                </a:solidFill>
              </a:rPr>
              <a:t>Risk Register</a:t>
            </a:r>
            <a:endParaRPr lang="en-IN" sz="1050" b="1" dirty="0">
              <a:solidFill>
                <a:srgbClr val="313131"/>
              </a:solidFill>
            </a:endParaRPr>
          </a:p>
        </p:txBody>
      </p:sp>
      <p:sp>
        <p:nvSpPr>
          <p:cNvPr id="34" name="Title 1">
            <a:extLst>
              <a:ext uri="{FF2B5EF4-FFF2-40B4-BE49-F238E27FC236}">
                <a16:creationId xmlns:a16="http://schemas.microsoft.com/office/drawing/2014/main" id="{5FD8E804-0D8F-4C4F-B234-723C73A75A37}"/>
              </a:ext>
            </a:extLst>
          </p:cNvPr>
          <p:cNvSpPr txBox="1">
            <a:spLocks/>
          </p:cNvSpPr>
          <p:nvPr/>
        </p:nvSpPr>
        <p:spPr>
          <a:xfrm>
            <a:off x="9358917" y="1511960"/>
            <a:ext cx="1611934" cy="295856"/>
          </a:xfrm>
          <a:prstGeom prst="rect">
            <a:avLst/>
          </a:prstGeom>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600" b="1" dirty="0">
                <a:solidFill>
                  <a:srgbClr val="0076A8"/>
                </a:solidFill>
              </a:rPr>
              <a:t>Indicative</a:t>
            </a:r>
            <a:endParaRPr lang="en-IN" sz="1600" b="1" dirty="0">
              <a:solidFill>
                <a:srgbClr val="0076A8"/>
              </a:solidFill>
            </a:endParaRPr>
          </a:p>
        </p:txBody>
      </p:sp>
    </p:spTree>
    <p:extLst>
      <p:ext uri="{BB962C8B-B14F-4D97-AF65-F5344CB8AC3E}">
        <p14:creationId xmlns:p14="http://schemas.microsoft.com/office/powerpoint/2010/main" val="158875618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3"/>
          <p:cNvSpPr txBox="1">
            <a:spLocks/>
          </p:cNvSpPr>
          <p:nvPr/>
        </p:nvSpPr>
        <p:spPr>
          <a:xfrm>
            <a:off x="511071" y="699836"/>
            <a:ext cx="11193476" cy="421450"/>
          </a:xfrm>
          <a:prstGeom prst="rect">
            <a:avLst/>
          </a:prstGeom>
        </p:spPr>
        <p:txBody>
          <a:bodyPr vert="horz" lIns="0" tIns="0" rIns="0" bIns="0" rtlCol="0">
            <a:noAutofit/>
          </a:bodyPr>
          <a:lstStyle>
            <a:lvl1pPr marL="0" indent="0" algn="l" defTabSz="1036337" rtl="0" eaLnBrk="1" latinLnBrk="0" hangingPunct="1">
              <a:spcBef>
                <a:spcPts val="0"/>
              </a:spcBef>
              <a:spcAft>
                <a:spcPts val="1134"/>
              </a:spcAft>
              <a:buSzPct val="100000"/>
              <a:buFont typeface="Arial" panose="020B0604020202020204" pitchFamily="34" charset="0"/>
              <a:buNone/>
              <a:defRPr sz="1028" b="0" kern="1200">
                <a:solidFill>
                  <a:schemeClr val="tx1"/>
                </a:solidFill>
                <a:latin typeface="+mn-lt"/>
                <a:ea typeface="+mn-ea"/>
                <a:cs typeface="+mn-cs"/>
              </a:defRPr>
            </a:lvl1pPr>
            <a:lvl2pPr marL="0" indent="0" algn="l" defTabSz="1036337" rtl="0" eaLnBrk="1" latinLnBrk="0" hangingPunct="1">
              <a:spcBef>
                <a:spcPts val="0"/>
              </a:spcBef>
              <a:spcAft>
                <a:spcPts val="1134"/>
              </a:spcAft>
              <a:buClrTx/>
              <a:buSzPct val="100000"/>
              <a:buFont typeface="Arial"/>
              <a:buNone/>
              <a:defRPr lang="en-US" sz="1028" b="1" kern="1200" dirty="0" smtClean="0">
                <a:solidFill>
                  <a:schemeClr val="tx1"/>
                </a:solidFill>
                <a:latin typeface="+mn-lt"/>
                <a:ea typeface="+mn-ea"/>
                <a:cs typeface="+mn-cs"/>
              </a:defRPr>
            </a:lvl2pPr>
            <a:lvl3pPr marL="199924" indent="-199924" algn="l" defTabSz="1036337" rtl="0" eaLnBrk="1" latinLnBrk="0" hangingPunct="1">
              <a:spcBef>
                <a:spcPts val="0"/>
              </a:spcBef>
              <a:spcAft>
                <a:spcPts val="1134"/>
              </a:spcAft>
              <a:buClrTx/>
              <a:buSzPct val="100000"/>
              <a:buFont typeface="Arial" panose="020B0604020202020204" pitchFamily="34" charset="0"/>
              <a:buChar char="•"/>
              <a:defRPr lang="en-US" sz="1028" kern="1200" dirty="0" smtClean="0">
                <a:solidFill>
                  <a:schemeClr val="tx1"/>
                </a:solidFill>
                <a:latin typeface="+mn-lt"/>
                <a:ea typeface="+mn-ea"/>
                <a:cs typeface="+mn-cs"/>
              </a:defRPr>
            </a:lvl3pPr>
            <a:lvl4pPr marL="403927" indent="-199924" algn="l" defTabSz="1036337" rtl="0" eaLnBrk="1" latinLnBrk="0" hangingPunct="1">
              <a:spcBef>
                <a:spcPts val="0"/>
              </a:spcBef>
              <a:spcAft>
                <a:spcPts val="1134"/>
              </a:spcAft>
              <a:buClrTx/>
              <a:buSzPct val="100000"/>
              <a:buFont typeface="Verdana" panose="020B0604030504040204" pitchFamily="34" charset="0"/>
              <a:buChar char="−"/>
              <a:defRPr lang="en-US" sz="1028" kern="1200" baseline="0" dirty="0" smtClean="0">
                <a:solidFill>
                  <a:schemeClr val="tx1"/>
                </a:solidFill>
                <a:latin typeface="+mn-lt"/>
                <a:ea typeface="+mn-ea"/>
                <a:cs typeface="+mn-cs"/>
              </a:defRPr>
            </a:lvl4pPr>
            <a:lvl5pPr marL="603851" indent="-199924" algn="l" defTabSz="904996" rtl="0" eaLnBrk="1" latinLnBrk="0" hangingPunct="1">
              <a:spcBef>
                <a:spcPts val="0"/>
              </a:spcBef>
              <a:spcAft>
                <a:spcPts val="1134"/>
              </a:spcAft>
              <a:buClrTx/>
              <a:buSzPct val="100000"/>
              <a:buFont typeface="Verdana" panose="020B0604030504040204" pitchFamily="34" charset="0"/>
              <a:buChar char="−"/>
              <a:tabLst/>
              <a:defRPr lang="en-US" sz="1028" kern="1200" baseline="0" dirty="0" smtClean="0">
                <a:solidFill>
                  <a:schemeClr val="tx1"/>
                </a:solidFill>
                <a:latin typeface="+mn-lt"/>
                <a:ea typeface="+mn-ea"/>
                <a:cs typeface="+mn-cs"/>
              </a:defRPr>
            </a:lvl5pPr>
            <a:lvl6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6pPr>
            <a:lvl7pPr marL="603851" indent="-199924" algn="l" defTabSz="1036337" rtl="0" eaLnBrk="1" latinLnBrk="0" hangingPunct="1">
              <a:spcBef>
                <a:spcPts val="0"/>
              </a:spcBef>
              <a:spcAft>
                <a:spcPts val="1134"/>
              </a:spcAft>
              <a:buFont typeface="Verdana" panose="020B0604030504040204" pitchFamily="34" charset="0"/>
              <a:buChar char="−"/>
              <a:defRPr sz="1360" kern="1200">
                <a:solidFill>
                  <a:schemeClr val="tx1"/>
                </a:solidFill>
                <a:latin typeface="+mn-lt"/>
                <a:ea typeface="+mn-ea"/>
                <a:cs typeface="+mn-cs"/>
              </a:defRPr>
            </a:lvl7pPr>
            <a:lvl8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8pPr>
            <a:lvl9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9pPr>
          </a:lstStyle>
          <a:p>
            <a:pPr defTabSz="914464">
              <a:spcAft>
                <a:spcPts val="1001"/>
              </a:spcAft>
            </a:pPr>
            <a:r>
              <a:rPr lang="en-US" sz="1588" dirty="0">
                <a:solidFill>
                  <a:prstClr val="black"/>
                </a:solidFill>
                <a:latin typeface="Verdana"/>
              </a:rPr>
              <a:t>PMO Advisory for a large pipeline project for oil &amp; gas company</a:t>
            </a:r>
          </a:p>
        </p:txBody>
      </p:sp>
      <p:sp>
        <p:nvSpPr>
          <p:cNvPr id="17" name="Title 2"/>
          <p:cNvSpPr>
            <a:spLocks noGrp="1"/>
          </p:cNvSpPr>
          <p:nvPr>
            <p:ph type="title"/>
          </p:nvPr>
        </p:nvSpPr>
        <p:spPr>
          <a:xfrm>
            <a:off x="511070" y="242883"/>
            <a:ext cx="11193476" cy="334102"/>
          </a:xfrm>
        </p:spPr>
        <p:txBody>
          <a:bodyPr/>
          <a:lstStyle/>
          <a:p>
            <a:r>
              <a:rPr lang="en-US" sz="2000" b="1" dirty="0"/>
              <a:t>Case Study - 1 :</a:t>
            </a:r>
            <a:r>
              <a:rPr lang="en-US" sz="2000" spc="-75" dirty="0">
                <a:ea typeface="Verdana" panose="020B0604030504040204" pitchFamily="34" charset="0"/>
                <a:cs typeface="Verdana" panose="020B0604030504040204" pitchFamily="34" charset="0"/>
              </a:rPr>
              <a:t> </a:t>
            </a:r>
            <a:r>
              <a:rPr lang="en-US" sz="2000" b="1" dirty="0"/>
              <a:t>A leading public sector oil &amp; gas company in India</a:t>
            </a:r>
          </a:p>
        </p:txBody>
      </p:sp>
      <p:sp>
        <p:nvSpPr>
          <p:cNvPr id="110" name="Rectangle 109"/>
          <p:cNvSpPr/>
          <p:nvPr/>
        </p:nvSpPr>
        <p:spPr>
          <a:xfrm>
            <a:off x="3981920" y="1588896"/>
            <a:ext cx="7678425" cy="1118085"/>
          </a:xfrm>
          <a:prstGeom prst="rect">
            <a:avLst/>
          </a:prstGeom>
          <a:noFill/>
          <a:ln w="12700">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defRPr/>
            </a:pPr>
            <a:r>
              <a:rPr lang="en-US" sz="1050" i="1" dirty="0">
                <a:solidFill>
                  <a:prstClr val="black"/>
                </a:solidFill>
                <a:ea typeface="Verdana" panose="020B0604030504040204" pitchFamily="34" charset="0"/>
                <a:cs typeface="Verdana" panose="020B0604030504040204" pitchFamily="34" charset="0"/>
              </a:rPr>
              <a:t>One of the most prestigious projects executed by Government of India (PM’s </a:t>
            </a:r>
            <a:r>
              <a:rPr lang="en-US" sz="1050" i="1" dirty="0" err="1">
                <a:solidFill>
                  <a:prstClr val="black"/>
                </a:solidFill>
                <a:ea typeface="Verdana" panose="020B0604030504040204" pitchFamily="34" charset="0"/>
                <a:cs typeface="Verdana" panose="020B0604030504040204" pitchFamily="34" charset="0"/>
              </a:rPr>
              <a:t>Urja</a:t>
            </a:r>
            <a:r>
              <a:rPr lang="en-US" sz="1050" i="1" dirty="0">
                <a:solidFill>
                  <a:prstClr val="black"/>
                </a:solidFill>
                <a:ea typeface="Verdana" panose="020B0604030504040204" pitchFamily="34" charset="0"/>
                <a:cs typeface="Verdana" panose="020B0604030504040204" pitchFamily="34" charset="0"/>
              </a:rPr>
              <a:t> Ganga project) with planned CAPEX of US$2B, with objective to provide clean and green fuel to eastern India</a:t>
            </a:r>
          </a:p>
          <a:p>
            <a:pPr>
              <a:defRPr/>
            </a:pPr>
            <a:endParaRPr lang="en-US" sz="1050" i="1" dirty="0">
              <a:solidFill>
                <a:prstClr val="black"/>
              </a:solidFill>
              <a:ea typeface="Verdana" panose="020B0604030504040204" pitchFamily="34" charset="0"/>
              <a:cs typeface="Verdana" panose="020B0604030504040204" pitchFamily="34" charset="0"/>
            </a:endParaRPr>
          </a:p>
          <a:p>
            <a:pPr>
              <a:defRPr/>
            </a:pPr>
            <a:r>
              <a:rPr lang="en-US" sz="1050" i="1" dirty="0">
                <a:solidFill>
                  <a:prstClr val="black"/>
                </a:solidFill>
                <a:ea typeface="Verdana" panose="020B0604030504040204" pitchFamily="34" charset="0"/>
                <a:cs typeface="Verdana" panose="020B0604030504040204" pitchFamily="34" charset="0"/>
              </a:rPr>
              <a:t>Project entails portfolio of pipeline &amp; CGD sub-projects with pipeline network of 2600 </a:t>
            </a:r>
            <a:r>
              <a:rPr lang="en-US" sz="1050" i="1" dirty="0" err="1">
                <a:solidFill>
                  <a:prstClr val="black"/>
                </a:solidFill>
                <a:ea typeface="Verdana" panose="020B0604030504040204" pitchFamily="34" charset="0"/>
                <a:cs typeface="Verdana" panose="020B0604030504040204" pitchFamily="34" charset="0"/>
              </a:rPr>
              <a:t>Kms</a:t>
            </a:r>
            <a:r>
              <a:rPr lang="en-US" sz="1050" i="1" dirty="0">
                <a:solidFill>
                  <a:prstClr val="black"/>
                </a:solidFill>
                <a:ea typeface="Verdana" panose="020B0604030504040204" pitchFamily="34" charset="0"/>
                <a:cs typeface="Verdana" panose="020B0604030504040204" pitchFamily="34" charset="0"/>
              </a:rPr>
              <a:t>, spanning across 5 States, 50 Districts and also includes city gas distribution covering 7 cities</a:t>
            </a:r>
          </a:p>
        </p:txBody>
      </p:sp>
      <p:sp>
        <p:nvSpPr>
          <p:cNvPr id="111" name="Rectangle 110"/>
          <p:cNvSpPr/>
          <p:nvPr/>
        </p:nvSpPr>
        <p:spPr>
          <a:xfrm>
            <a:off x="771269" y="1764242"/>
            <a:ext cx="2501190" cy="606644"/>
          </a:xfrm>
          <a:prstGeom prst="rect">
            <a:avLst/>
          </a:prstGeom>
          <a:noFill/>
          <a:ln w="12700">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R="0" lvl="0" algn="l" defTabSz="914400" rtl="0" eaLnBrk="1" fontAlgn="auto" latinLnBrk="0" hangingPunct="1">
              <a:lnSpc>
                <a:spcPct val="150000"/>
              </a:lnSpc>
              <a:spcBef>
                <a:spcPts val="0"/>
              </a:spcBef>
              <a:spcAft>
                <a:spcPts val="0"/>
              </a:spcAft>
              <a:buClrTx/>
              <a:buSzTx/>
              <a:tabLst/>
              <a:defRPr/>
            </a:pPr>
            <a:r>
              <a:rPr kumimoji="0" lang="en-US" sz="1200" b="1" i="0" u="none" strike="noStrike" kern="1200" cap="none" spc="0" normalizeH="0" baseline="0" noProof="0" dirty="0">
                <a:ln>
                  <a:noFill/>
                </a:ln>
                <a:solidFill>
                  <a:prstClr val="black"/>
                </a:solidFill>
                <a:effectLst/>
                <a:uLnTx/>
                <a:uFillTx/>
                <a:latin typeface="Verdana"/>
              </a:rPr>
              <a:t>About the Client</a:t>
            </a:r>
          </a:p>
          <a:p>
            <a:pPr marR="0" lvl="0" algn="l" defTabSz="914400" rtl="0" eaLnBrk="1" fontAlgn="auto" latinLnBrk="0" hangingPunct="1">
              <a:lnSpc>
                <a:spcPct val="150000"/>
              </a:lnSpc>
              <a:spcBef>
                <a:spcPts val="0"/>
              </a:spcBef>
              <a:spcAft>
                <a:spcPts val="0"/>
              </a:spcAft>
              <a:buClrTx/>
              <a:buSzTx/>
              <a:tabLst/>
              <a:defRPr/>
            </a:pPr>
            <a:r>
              <a:rPr kumimoji="0" lang="en-US" sz="1050" b="1" i="0" u="none" strike="noStrike" kern="1200" cap="none" spc="0" normalizeH="0" baseline="0" noProof="0" dirty="0">
                <a:ln>
                  <a:noFill/>
                </a:ln>
                <a:solidFill>
                  <a:prstClr val="black"/>
                </a:solidFill>
                <a:effectLst/>
                <a:uLnTx/>
                <a:uFillTx/>
                <a:latin typeface="Verdana"/>
              </a:rPr>
              <a:t>Sector:</a:t>
            </a:r>
            <a:r>
              <a:rPr kumimoji="0" lang="en-US" sz="1050" b="0" i="0" u="none" strike="noStrike" kern="1200" cap="none" spc="0" normalizeH="0" baseline="0" noProof="0" dirty="0">
                <a:ln>
                  <a:noFill/>
                </a:ln>
                <a:solidFill>
                  <a:prstClr val="black"/>
                </a:solidFill>
                <a:effectLst/>
                <a:uLnTx/>
                <a:uFillTx/>
                <a:latin typeface="Verdana"/>
              </a:rPr>
              <a:t> Oil and</a:t>
            </a:r>
            <a:r>
              <a:rPr kumimoji="0" lang="en-US" sz="1050" b="0" i="0" u="none" strike="noStrike" kern="1200" cap="none" spc="0" normalizeH="0" noProof="0" dirty="0">
                <a:ln>
                  <a:noFill/>
                </a:ln>
                <a:solidFill>
                  <a:prstClr val="black"/>
                </a:solidFill>
                <a:effectLst/>
                <a:uLnTx/>
                <a:uFillTx/>
                <a:latin typeface="Verdana"/>
              </a:rPr>
              <a:t> Gas</a:t>
            </a:r>
            <a:endParaRPr kumimoji="0" lang="en-US" sz="1050" b="0" i="0" u="none" strike="noStrike" kern="1200" cap="none" spc="0" normalizeH="0" baseline="0" noProof="0" dirty="0">
              <a:ln>
                <a:noFill/>
              </a:ln>
              <a:solidFill>
                <a:prstClr val="black"/>
              </a:solidFill>
              <a:effectLst/>
              <a:uLnTx/>
              <a:uFillTx/>
              <a:latin typeface="Verdana"/>
            </a:endParaRPr>
          </a:p>
          <a:p>
            <a:pPr marR="0" lvl="0" algn="l" defTabSz="914400" rtl="0" eaLnBrk="1" fontAlgn="auto" latinLnBrk="0" hangingPunct="1">
              <a:lnSpc>
                <a:spcPct val="150000"/>
              </a:lnSpc>
              <a:spcBef>
                <a:spcPts val="0"/>
              </a:spcBef>
              <a:spcAft>
                <a:spcPts val="0"/>
              </a:spcAft>
              <a:buClrTx/>
              <a:buSzTx/>
              <a:tabLst/>
              <a:defRPr/>
            </a:pPr>
            <a:r>
              <a:rPr kumimoji="0" lang="en-US" sz="1050" b="1" i="0" u="none" strike="noStrike" kern="1200" cap="none" spc="0" normalizeH="0" baseline="0" noProof="0" dirty="0">
                <a:ln>
                  <a:noFill/>
                </a:ln>
                <a:solidFill>
                  <a:prstClr val="black"/>
                </a:solidFill>
                <a:effectLst/>
                <a:uLnTx/>
                <a:uFillTx/>
                <a:latin typeface="Verdana"/>
              </a:rPr>
              <a:t>Revenues (INR Cr.):</a:t>
            </a:r>
            <a:r>
              <a:rPr kumimoji="0" lang="en-US" sz="1050" b="0" i="0" u="none" strike="noStrike" kern="1200" cap="none" spc="0" normalizeH="0" baseline="0" noProof="0" dirty="0">
                <a:ln>
                  <a:noFill/>
                </a:ln>
                <a:solidFill>
                  <a:prstClr val="black"/>
                </a:solidFill>
                <a:effectLst/>
                <a:uLnTx/>
                <a:uFillTx/>
                <a:latin typeface="Verdana"/>
              </a:rPr>
              <a:t> USD 10 </a:t>
            </a:r>
            <a:r>
              <a:rPr lang="en-US" sz="1050" dirty="0">
                <a:solidFill>
                  <a:prstClr val="black"/>
                </a:solidFill>
                <a:latin typeface="Verdana"/>
              </a:rPr>
              <a:t>B</a:t>
            </a:r>
            <a:r>
              <a:rPr kumimoji="0" lang="en-US" sz="1050" b="0" i="0" u="none" strike="noStrike" kern="1200" cap="none" spc="0" normalizeH="0" baseline="0" noProof="0" dirty="0">
                <a:ln>
                  <a:noFill/>
                </a:ln>
                <a:solidFill>
                  <a:prstClr val="black"/>
                </a:solidFill>
                <a:effectLst/>
                <a:uLnTx/>
                <a:uFillTx/>
                <a:latin typeface="Verdana"/>
              </a:rPr>
              <a:t>n</a:t>
            </a:r>
          </a:p>
        </p:txBody>
      </p:sp>
      <p:grpSp>
        <p:nvGrpSpPr>
          <p:cNvPr id="112" name="Group 111"/>
          <p:cNvGrpSpPr/>
          <p:nvPr/>
        </p:nvGrpSpPr>
        <p:grpSpPr>
          <a:xfrm>
            <a:off x="810132" y="1059519"/>
            <a:ext cx="780010" cy="501783"/>
            <a:chOff x="3267347" y="5107610"/>
            <a:chExt cx="1254346" cy="884303"/>
          </a:xfrm>
          <a:solidFill>
            <a:srgbClr val="012169"/>
          </a:solidFill>
        </p:grpSpPr>
        <p:sp>
          <p:nvSpPr>
            <p:cNvPr id="113" name="Freeform 7"/>
            <p:cNvSpPr>
              <a:spLocks noEditPoints="1"/>
            </p:cNvSpPr>
            <p:nvPr/>
          </p:nvSpPr>
          <p:spPr bwMode="auto">
            <a:xfrm>
              <a:off x="3569195" y="5107610"/>
              <a:ext cx="952498" cy="878713"/>
            </a:xfrm>
            <a:custGeom>
              <a:avLst/>
              <a:gdLst>
                <a:gd name="T0" fmla="*/ 1641 w 1703"/>
                <a:gd name="T1" fmla="*/ 1193 h 1573"/>
                <a:gd name="T2" fmla="*/ 1586 w 1703"/>
                <a:gd name="T3" fmla="*/ 1177 h 1573"/>
                <a:gd name="T4" fmla="*/ 1493 w 1703"/>
                <a:gd name="T5" fmla="*/ 1174 h 1573"/>
                <a:gd name="T6" fmla="*/ 1166 w 1703"/>
                <a:gd name="T7" fmla="*/ 978 h 1573"/>
                <a:gd name="T8" fmla="*/ 1124 w 1703"/>
                <a:gd name="T9" fmla="*/ 955 h 1573"/>
                <a:gd name="T10" fmla="*/ 1067 w 1703"/>
                <a:gd name="T11" fmla="*/ 773 h 1573"/>
                <a:gd name="T12" fmla="*/ 1154 w 1703"/>
                <a:gd name="T13" fmla="*/ 724 h 1573"/>
                <a:gd name="T14" fmla="*/ 1090 w 1703"/>
                <a:gd name="T15" fmla="*/ 673 h 1573"/>
                <a:gd name="T16" fmla="*/ 1018 w 1703"/>
                <a:gd name="T17" fmla="*/ 348 h 1573"/>
                <a:gd name="T18" fmla="*/ 1029 w 1703"/>
                <a:gd name="T19" fmla="*/ 225 h 1573"/>
                <a:gd name="T20" fmla="*/ 942 w 1703"/>
                <a:gd name="T21" fmla="*/ 0 h 1573"/>
                <a:gd name="T22" fmla="*/ 222 w 1703"/>
                <a:gd name="T23" fmla="*/ 337 h 1573"/>
                <a:gd name="T24" fmla="*/ 189 w 1703"/>
                <a:gd name="T25" fmla="*/ 323 h 1573"/>
                <a:gd name="T26" fmla="*/ 111 w 1703"/>
                <a:gd name="T27" fmla="*/ 332 h 1573"/>
                <a:gd name="T28" fmla="*/ 12 w 1703"/>
                <a:gd name="T29" fmla="*/ 293 h 1573"/>
                <a:gd name="T30" fmla="*/ 0 w 1703"/>
                <a:gd name="T31" fmla="*/ 410 h 1573"/>
                <a:gd name="T32" fmla="*/ 10 w 1703"/>
                <a:gd name="T33" fmla="*/ 542 h 1573"/>
                <a:gd name="T34" fmla="*/ 65 w 1703"/>
                <a:gd name="T35" fmla="*/ 715 h 1573"/>
                <a:gd name="T36" fmla="*/ 134 w 1703"/>
                <a:gd name="T37" fmla="*/ 837 h 1573"/>
                <a:gd name="T38" fmla="*/ 143 w 1703"/>
                <a:gd name="T39" fmla="*/ 537 h 1573"/>
                <a:gd name="T40" fmla="*/ 1703 w 1703"/>
                <a:gd name="T41" fmla="*/ 1462 h 1573"/>
                <a:gd name="T42" fmla="*/ 453 w 1703"/>
                <a:gd name="T43" fmla="*/ 740 h 1573"/>
                <a:gd name="T44" fmla="*/ 376 w 1703"/>
                <a:gd name="T45" fmla="*/ 1334 h 1573"/>
                <a:gd name="T46" fmla="*/ 374 w 1703"/>
                <a:gd name="T47" fmla="*/ 1354 h 1573"/>
                <a:gd name="T48" fmla="*/ 446 w 1703"/>
                <a:gd name="T49" fmla="*/ 1437 h 1573"/>
                <a:gd name="T50" fmla="*/ 919 w 1703"/>
                <a:gd name="T51" fmla="*/ 675 h 1573"/>
                <a:gd name="T52" fmla="*/ 856 w 1703"/>
                <a:gd name="T53" fmla="*/ 727 h 1573"/>
                <a:gd name="T54" fmla="*/ 919 w 1703"/>
                <a:gd name="T55" fmla="*/ 796 h 1573"/>
                <a:gd name="T56" fmla="*/ 910 w 1703"/>
                <a:gd name="T57" fmla="*/ 1020 h 1573"/>
                <a:gd name="T58" fmla="*/ 902 w 1703"/>
                <a:gd name="T59" fmla="*/ 1087 h 1573"/>
                <a:gd name="T60" fmla="*/ 926 w 1703"/>
                <a:gd name="T61" fmla="*/ 157 h 1573"/>
                <a:gd name="T62" fmla="*/ 902 w 1703"/>
                <a:gd name="T63" fmla="*/ 262 h 1573"/>
                <a:gd name="T64" fmla="*/ 935 w 1703"/>
                <a:gd name="T65" fmla="*/ 630 h 1573"/>
                <a:gd name="T66" fmla="*/ 919 w 1703"/>
                <a:gd name="T67" fmla="*/ 675 h 1573"/>
                <a:gd name="T68" fmla="*/ 949 w 1703"/>
                <a:gd name="T69" fmla="*/ 895 h 1573"/>
                <a:gd name="T70" fmla="*/ 947 w 1703"/>
                <a:gd name="T71" fmla="*/ 885 h 1573"/>
                <a:gd name="T72" fmla="*/ 956 w 1703"/>
                <a:gd name="T73" fmla="*/ 879 h 1573"/>
                <a:gd name="T74" fmla="*/ 965 w 1703"/>
                <a:gd name="T75" fmla="*/ 888 h 1573"/>
                <a:gd name="T76" fmla="*/ 960 w 1703"/>
                <a:gd name="T77" fmla="*/ 897 h 1573"/>
                <a:gd name="T78" fmla="*/ 956 w 1703"/>
                <a:gd name="T79" fmla="*/ 810 h 1573"/>
                <a:gd name="T80" fmla="*/ 946 w 1703"/>
                <a:gd name="T81" fmla="*/ 802 h 1573"/>
                <a:gd name="T82" fmla="*/ 953 w 1703"/>
                <a:gd name="T83" fmla="*/ 793 h 1573"/>
                <a:gd name="T84" fmla="*/ 962 w 1703"/>
                <a:gd name="T85" fmla="*/ 795 h 1573"/>
                <a:gd name="T86" fmla="*/ 965 w 1703"/>
                <a:gd name="T87" fmla="*/ 805 h 1573"/>
                <a:gd name="T88" fmla="*/ 956 w 1703"/>
                <a:gd name="T89" fmla="*/ 810 h 1573"/>
                <a:gd name="T90" fmla="*/ 930 w 1703"/>
                <a:gd name="T91" fmla="*/ 267 h 1573"/>
                <a:gd name="T92" fmla="*/ 1029 w 1703"/>
                <a:gd name="T93" fmla="*/ 650 h 1573"/>
                <a:gd name="T94" fmla="*/ 999 w 1703"/>
                <a:gd name="T95" fmla="*/ 643 h 1573"/>
                <a:gd name="T96" fmla="*/ 954 w 1703"/>
                <a:gd name="T97" fmla="*/ 629 h 1573"/>
                <a:gd name="T98" fmla="*/ 1029 w 1703"/>
                <a:gd name="T99" fmla="*/ 907 h 1573"/>
                <a:gd name="T100" fmla="*/ 1018 w 1703"/>
                <a:gd name="T101" fmla="*/ 899 h 1573"/>
                <a:gd name="T102" fmla="*/ 1025 w 1703"/>
                <a:gd name="T103" fmla="*/ 890 h 1573"/>
                <a:gd name="T104" fmla="*/ 1034 w 1703"/>
                <a:gd name="T105" fmla="*/ 892 h 1573"/>
                <a:gd name="T106" fmla="*/ 1037 w 1703"/>
                <a:gd name="T107" fmla="*/ 902 h 1573"/>
                <a:gd name="T108" fmla="*/ 1029 w 1703"/>
                <a:gd name="T109" fmla="*/ 907 h 1573"/>
                <a:gd name="T110" fmla="*/ 1022 w 1703"/>
                <a:gd name="T111" fmla="*/ 817 h 1573"/>
                <a:gd name="T112" fmla="*/ 1020 w 1703"/>
                <a:gd name="T113" fmla="*/ 807 h 1573"/>
                <a:gd name="T114" fmla="*/ 1029 w 1703"/>
                <a:gd name="T115" fmla="*/ 802 h 1573"/>
                <a:gd name="T116" fmla="*/ 1037 w 1703"/>
                <a:gd name="T117" fmla="*/ 810 h 1573"/>
                <a:gd name="T118" fmla="*/ 1032 w 1703"/>
                <a:gd name="T119" fmla="*/ 819 h 1573"/>
                <a:gd name="T120" fmla="*/ 1113 w 1703"/>
                <a:gd name="T121" fmla="*/ 1437 h 1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03" h="1573">
                  <a:moveTo>
                    <a:pt x="1611" y="1462"/>
                  </a:moveTo>
                  <a:lnTo>
                    <a:pt x="1611" y="1419"/>
                  </a:lnTo>
                  <a:lnTo>
                    <a:pt x="1641" y="1370"/>
                  </a:lnTo>
                  <a:lnTo>
                    <a:pt x="1641" y="1193"/>
                  </a:lnTo>
                  <a:lnTo>
                    <a:pt x="1641" y="1193"/>
                  </a:lnTo>
                  <a:lnTo>
                    <a:pt x="1627" y="1188"/>
                  </a:lnTo>
                  <a:lnTo>
                    <a:pt x="1609" y="1183"/>
                  </a:lnTo>
                  <a:lnTo>
                    <a:pt x="1586" y="1177"/>
                  </a:lnTo>
                  <a:lnTo>
                    <a:pt x="1560" y="1174"/>
                  </a:lnTo>
                  <a:lnTo>
                    <a:pt x="1528" y="1172"/>
                  </a:lnTo>
                  <a:lnTo>
                    <a:pt x="1510" y="1172"/>
                  </a:lnTo>
                  <a:lnTo>
                    <a:pt x="1493" y="1174"/>
                  </a:lnTo>
                  <a:lnTo>
                    <a:pt x="1473" y="1177"/>
                  </a:lnTo>
                  <a:lnTo>
                    <a:pt x="1454" y="1181"/>
                  </a:lnTo>
                  <a:lnTo>
                    <a:pt x="1454" y="1232"/>
                  </a:lnTo>
                  <a:lnTo>
                    <a:pt x="1166" y="978"/>
                  </a:lnTo>
                  <a:lnTo>
                    <a:pt x="1166" y="978"/>
                  </a:lnTo>
                  <a:lnTo>
                    <a:pt x="1159" y="973"/>
                  </a:lnTo>
                  <a:lnTo>
                    <a:pt x="1138" y="960"/>
                  </a:lnTo>
                  <a:lnTo>
                    <a:pt x="1124" y="955"/>
                  </a:lnTo>
                  <a:lnTo>
                    <a:pt x="1106" y="950"/>
                  </a:lnTo>
                  <a:lnTo>
                    <a:pt x="1087" y="945"/>
                  </a:lnTo>
                  <a:lnTo>
                    <a:pt x="1067" y="943"/>
                  </a:lnTo>
                  <a:lnTo>
                    <a:pt x="1067" y="773"/>
                  </a:lnTo>
                  <a:lnTo>
                    <a:pt x="1161" y="773"/>
                  </a:lnTo>
                  <a:lnTo>
                    <a:pt x="1161" y="735"/>
                  </a:lnTo>
                  <a:lnTo>
                    <a:pt x="1161" y="735"/>
                  </a:lnTo>
                  <a:lnTo>
                    <a:pt x="1154" y="724"/>
                  </a:lnTo>
                  <a:lnTo>
                    <a:pt x="1143" y="713"/>
                  </a:lnTo>
                  <a:lnTo>
                    <a:pt x="1129" y="701"/>
                  </a:lnTo>
                  <a:lnTo>
                    <a:pt x="1112" y="687"/>
                  </a:lnTo>
                  <a:lnTo>
                    <a:pt x="1090" y="673"/>
                  </a:lnTo>
                  <a:lnTo>
                    <a:pt x="1066" y="660"/>
                  </a:lnTo>
                  <a:lnTo>
                    <a:pt x="1052" y="657"/>
                  </a:lnTo>
                  <a:lnTo>
                    <a:pt x="1036" y="652"/>
                  </a:lnTo>
                  <a:lnTo>
                    <a:pt x="1018" y="348"/>
                  </a:lnTo>
                  <a:lnTo>
                    <a:pt x="1025" y="348"/>
                  </a:lnTo>
                  <a:lnTo>
                    <a:pt x="1023" y="290"/>
                  </a:lnTo>
                  <a:lnTo>
                    <a:pt x="1029" y="292"/>
                  </a:lnTo>
                  <a:lnTo>
                    <a:pt x="1029" y="225"/>
                  </a:lnTo>
                  <a:lnTo>
                    <a:pt x="986" y="216"/>
                  </a:lnTo>
                  <a:lnTo>
                    <a:pt x="986" y="184"/>
                  </a:lnTo>
                  <a:lnTo>
                    <a:pt x="986" y="129"/>
                  </a:lnTo>
                  <a:lnTo>
                    <a:pt x="942" y="0"/>
                  </a:lnTo>
                  <a:lnTo>
                    <a:pt x="229" y="353"/>
                  </a:lnTo>
                  <a:lnTo>
                    <a:pt x="229" y="353"/>
                  </a:lnTo>
                  <a:lnTo>
                    <a:pt x="226" y="345"/>
                  </a:lnTo>
                  <a:lnTo>
                    <a:pt x="222" y="337"/>
                  </a:lnTo>
                  <a:lnTo>
                    <a:pt x="215" y="332"/>
                  </a:lnTo>
                  <a:lnTo>
                    <a:pt x="208" y="329"/>
                  </a:lnTo>
                  <a:lnTo>
                    <a:pt x="197" y="325"/>
                  </a:lnTo>
                  <a:lnTo>
                    <a:pt x="189" y="323"/>
                  </a:lnTo>
                  <a:lnTo>
                    <a:pt x="167" y="323"/>
                  </a:lnTo>
                  <a:lnTo>
                    <a:pt x="146" y="325"/>
                  </a:lnTo>
                  <a:lnTo>
                    <a:pt x="129" y="329"/>
                  </a:lnTo>
                  <a:lnTo>
                    <a:pt x="111" y="332"/>
                  </a:lnTo>
                  <a:lnTo>
                    <a:pt x="74" y="269"/>
                  </a:lnTo>
                  <a:lnTo>
                    <a:pt x="19" y="262"/>
                  </a:lnTo>
                  <a:lnTo>
                    <a:pt x="19" y="262"/>
                  </a:lnTo>
                  <a:lnTo>
                    <a:pt x="12" y="293"/>
                  </a:lnTo>
                  <a:lnTo>
                    <a:pt x="7" y="323"/>
                  </a:lnTo>
                  <a:lnTo>
                    <a:pt x="3" y="352"/>
                  </a:lnTo>
                  <a:lnTo>
                    <a:pt x="0" y="382"/>
                  </a:lnTo>
                  <a:lnTo>
                    <a:pt x="0" y="410"/>
                  </a:lnTo>
                  <a:lnTo>
                    <a:pt x="0" y="436"/>
                  </a:lnTo>
                  <a:lnTo>
                    <a:pt x="0" y="465"/>
                  </a:lnTo>
                  <a:lnTo>
                    <a:pt x="3" y="491"/>
                  </a:lnTo>
                  <a:lnTo>
                    <a:pt x="10" y="542"/>
                  </a:lnTo>
                  <a:lnTo>
                    <a:pt x="21" y="590"/>
                  </a:lnTo>
                  <a:lnTo>
                    <a:pt x="33" y="636"/>
                  </a:lnTo>
                  <a:lnTo>
                    <a:pt x="49" y="676"/>
                  </a:lnTo>
                  <a:lnTo>
                    <a:pt x="65" y="715"/>
                  </a:lnTo>
                  <a:lnTo>
                    <a:pt x="81" y="749"/>
                  </a:lnTo>
                  <a:lnTo>
                    <a:pt x="97" y="779"/>
                  </a:lnTo>
                  <a:lnTo>
                    <a:pt x="111" y="803"/>
                  </a:lnTo>
                  <a:lnTo>
                    <a:pt x="134" y="837"/>
                  </a:lnTo>
                  <a:lnTo>
                    <a:pt x="143" y="849"/>
                  </a:lnTo>
                  <a:lnTo>
                    <a:pt x="164" y="855"/>
                  </a:lnTo>
                  <a:lnTo>
                    <a:pt x="183" y="847"/>
                  </a:lnTo>
                  <a:lnTo>
                    <a:pt x="143" y="537"/>
                  </a:lnTo>
                  <a:lnTo>
                    <a:pt x="469" y="378"/>
                  </a:lnTo>
                  <a:lnTo>
                    <a:pt x="303" y="1573"/>
                  </a:lnTo>
                  <a:lnTo>
                    <a:pt x="1703" y="1573"/>
                  </a:lnTo>
                  <a:lnTo>
                    <a:pt x="1703" y="1462"/>
                  </a:lnTo>
                  <a:lnTo>
                    <a:pt x="1611" y="1462"/>
                  </a:lnTo>
                  <a:close/>
                  <a:moveTo>
                    <a:pt x="432" y="1119"/>
                  </a:moveTo>
                  <a:lnTo>
                    <a:pt x="404" y="1119"/>
                  </a:lnTo>
                  <a:lnTo>
                    <a:pt x="453" y="740"/>
                  </a:lnTo>
                  <a:lnTo>
                    <a:pt x="432" y="1119"/>
                  </a:lnTo>
                  <a:close/>
                  <a:moveTo>
                    <a:pt x="430" y="1133"/>
                  </a:moveTo>
                  <a:lnTo>
                    <a:pt x="418" y="1334"/>
                  </a:lnTo>
                  <a:lnTo>
                    <a:pt x="376" y="1334"/>
                  </a:lnTo>
                  <a:lnTo>
                    <a:pt x="402" y="1133"/>
                  </a:lnTo>
                  <a:lnTo>
                    <a:pt x="430" y="1133"/>
                  </a:lnTo>
                  <a:close/>
                  <a:moveTo>
                    <a:pt x="363" y="1437"/>
                  </a:moveTo>
                  <a:lnTo>
                    <a:pt x="374" y="1354"/>
                  </a:lnTo>
                  <a:lnTo>
                    <a:pt x="418" y="1354"/>
                  </a:lnTo>
                  <a:lnTo>
                    <a:pt x="413" y="1437"/>
                  </a:lnTo>
                  <a:lnTo>
                    <a:pt x="363" y="1437"/>
                  </a:lnTo>
                  <a:close/>
                  <a:moveTo>
                    <a:pt x="446" y="1437"/>
                  </a:moveTo>
                  <a:lnTo>
                    <a:pt x="513" y="562"/>
                  </a:lnTo>
                  <a:lnTo>
                    <a:pt x="722" y="1437"/>
                  </a:lnTo>
                  <a:lnTo>
                    <a:pt x="446" y="1437"/>
                  </a:lnTo>
                  <a:close/>
                  <a:moveTo>
                    <a:pt x="919" y="675"/>
                  </a:moveTo>
                  <a:lnTo>
                    <a:pt x="919" y="675"/>
                  </a:lnTo>
                  <a:lnTo>
                    <a:pt x="909" y="682"/>
                  </a:lnTo>
                  <a:lnTo>
                    <a:pt x="886" y="701"/>
                  </a:lnTo>
                  <a:lnTo>
                    <a:pt x="856" y="727"/>
                  </a:lnTo>
                  <a:lnTo>
                    <a:pt x="840" y="743"/>
                  </a:lnTo>
                  <a:lnTo>
                    <a:pt x="826" y="759"/>
                  </a:lnTo>
                  <a:lnTo>
                    <a:pt x="826" y="798"/>
                  </a:lnTo>
                  <a:lnTo>
                    <a:pt x="919" y="796"/>
                  </a:lnTo>
                  <a:lnTo>
                    <a:pt x="919" y="1003"/>
                  </a:lnTo>
                  <a:lnTo>
                    <a:pt x="919" y="1003"/>
                  </a:lnTo>
                  <a:lnTo>
                    <a:pt x="916" y="1006"/>
                  </a:lnTo>
                  <a:lnTo>
                    <a:pt x="910" y="1020"/>
                  </a:lnTo>
                  <a:lnTo>
                    <a:pt x="907" y="1033"/>
                  </a:lnTo>
                  <a:lnTo>
                    <a:pt x="905" y="1047"/>
                  </a:lnTo>
                  <a:lnTo>
                    <a:pt x="903" y="1066"/>
                  </a:lnTo>
                  <a:lnTo>
                    <a:pt x="902" y="1087"/>
                  </a:lnTo>
                  <a:lnTo>
                    <a:pt x="902" y="1433"/>
                  </a:lnTo>
                  <a:lnTo>
                    <a:pt x="771" y="1433"/>
                  </a:lnTo>
                  <a:lnTo>
                    <a:pt x="517" y="355"/>
                  </a:lnTo>
                  <a:lnTo>
                    <a:pt x="926" y="157"/>
                  </a:lnTo>
                  <a:lnTo>
                    <a:pt x="940" y="177"/>
                  </a:lnTo>
                  <a:lnTo>
                    <a:pt x="939" y="200"/>
                  </a:lnTo>
                  <a:lnTo>
                    <a:pt x="902" y="196"/>
                  </a:lnTo>
                  <a:lnTo>
                    <a:pt x="902" y="262"/>
                  </a:lnTo>
                  <a:lnTo>
                    <a:pt x="907" y="262"/>
                  </a:lnTo>
                  <a:lnTo>
                    <a:pt x="912" y="343"/>
                  </a:lnTo>
                  <a:lnTo>
                    <a:pt x="919" y="341"/>
                  </a:lnTo>
                  <a:lnTo>
                    <a:pt x="935" y="630"/>
                  </a:lnTo>
                  <a:lnTo>
                    <a:pt x="935" y="630"/>
                  </a:lnTo>
                  <a:lnTo>
                    <a:pt x="926" y="632"/>
                  </a:lnTo>
                  <a:lnTo>
                    <a:pt x="919" y="636"/>
                  </a:lnTo>
                  <a:lnTo>
                    <a:pt x="919" y="675"/>
                  </a:lnTo>
                  <a:close/>
                  <a:moveTo>
                    <a:pt x="956" y="897"/>
                  </a:moveTo>
                  <a:lnTo>
                    <a:pt x="956" y="897"/>
                  </a:lnTo>
                  <a:lnTo>
                    <a:pt x="953" y="897"/>
                  </a:lnTo>
                  <a:lnTo>
                    <a:pt x="949" y="895"/>
                  </a:lnTo>
                  <a:lnTo>
                    <a:pt x="947" y="892"/>
                  </a:lnTo>
                  <a:lnTo>
                    <a:pt x="946" y="888"/>
                  </a:lnTo>
                  <a:lnTo>
                    <a:pt x="946" y="888"/>
                  </a:lnTo>
                  <a:lnTo>
                    <a:pt x="947" y="885"/>
                  </a:lnTo>
                  <a:lnTo>
                    <a:pt x="949" y="881"/>
                  </a:lnTo>
                  <a:lnTo>
                    <a:pt x="953" y="879"/>
                  </a:lnTo>
                  <a:lnTo>
                    <a:pt x="956" y="879"/>
                  </a:lnTo>
                  <a:lnTo>
                    <a:pt x="956" y="879"/>
                  </a:lnTo>
                  <a:lnTo>
                    <a:pt x="960" y="879"/>
                  </a:lnTo>
                  <a:lnTo>
                    <a:pt x="962" y="881"/>
                  </a:lnTo>
                  <a:lnTo>
                    <a:pt x="965" y="885"/>
                  </a:lnTo>
                  <a:lnTo>
                    <a:pt x="965" y="888"/>
                  </a:lnTo>
                  <a:lnTo>
                    <a:pt x="965" y="888"/>
                  </a:lnTo>
                  <a:lnTo>
                    <a:pt x="965" y="892"/>
                  </a:lnTo>
                  <a:lnTo>
                    <a:pt x="962" y="895"/>
                  </a:lnTo>
                  <a:lnTo>
                    <a:pt x="960" y="897"/>
                  </a:lnTo>
                  <a:lnTo>
                    <a:pt x="956" y="897"/>
                  </a:lnTo>
                  <a:lnTo>
                    <a:pt x="956" y="897"/>
                  </a:lnTo>
                  <a:close/>
                  <a:moveTo>
                    <a:pt x="956" y="810"/>
                  </a:moveTo>
                  <a:lnTo>
                    <a:pt x="956" y="810"/>
                  </a:lnTo>
                  <a:lnTo>
                    <a:pt x="953" y="810"/>
                  </a:lnTo>
                  <a:lnTo>
                    <a:pt x="949" y="807"/>
                  </a:lnTo>
                  <a:lnTo>
                    <a:pt x="947" y="805"/>
                  </a:lnTo>
                  <a:lnTo>
                    <a:pt x="946" y="802"/>
                  </a:lnTo>
                  <a:lnTo>
                    <a:pt x="946" y="802"/>
                  </a:lnTo>
                  <a:lnTo>
                    <a:pt x="947" y="798"/>
                  </a:lnTo>
                  <a:lnTo>
                    <a:pt x="949" y="795"/>
                  </a:lnTo>
                  <a:lnTo>
                    <a:pt x="953" y="793"/>
                  </a:lnTo>
                  <a:lnTo>
                    <a:pt x="956" y="791"/>
                  </a:lnTo>
                  <a:lnTo>
                    <a:pt x="956" y="791"/>
                  </a:lnTo>
                  <a:lnTo>
                    <a:pt x="960" y="793"/>
                  </a:lnTo>
                  <a:lnTo>
                    <a:pt x="962" y="795"/>
                  </a:lnTo>
                  <a:lnTo>
                    <a:pt x="965" y="798"/>
                  </a:lnTo>
                  <a:lnTo>
                    <a:pt x="965" y="802"/>
                  </a:lnTo>
                  <a:lnTo>
                    <a:pt x="965" y="802"/>
                  </a:lnTo>
                  <a:lnTo>
                    <a:pt x="965" y="805"/>
                  </a:lnTo>
                  <a:lnTo>
                    <a:pt x="962" y="807"/>
                  </a:lnTo>
                  <a:lnTo>
                    <a:pt x="960" y="810"/>
                  </a:lnTo>
                  <a:lnTo>
                    <a:pt x="956" y="810"/>
                  </a:lnTo>
                  <a:lnTo>
                    <a:pt x="956" y="810"/>
                  </a:lnTo>
                  <a:close/>
                  <a:moveTo>
                    <a:pt x="942" y="629"/>
                  </a:moveTo>
                  <a:lnTo>
                    <a:pt x="926" y="341"/>
                  </a:lnTo>
                  <a:lnTo>
                    <a:pt x="933" y="341"/>
                  </a:lnTo>
                  <a:lnTo>
                    <a:pt x="930" y="267"/>
                  </a:lnTo>
                  <a:lnTo>
                    <a:pt x="1000" y="285"/>
                  </a:lnTo>
                  <a:lnTo>
                    <a:pt x="1004" y="350"/>
                  </a:lnTo>
                  <a:lnTo>
                    <a:pt x="1011" y="350"/>
                  </a:lnTo>
                  <a:lnTo>
                    <a:pt x="1029" y="650"/>
                  </a:lnTo>
                  <a:lnTo>
                    <a:pt x="1029" y="650"/>
                  </a:lnTo>
                  <a:lnTo>
                    <a:pt x="1004" y="646"/>
                  </a:lnTo>
                  <a:lnTo>
                    <a:pt x="1004" y="646"/>
                  </a:lnTo>
                  <a:lnTo>
                    <a:pt x="999" y="643"/>
                  </a:lnTo>
                  <a:lnTo>
                    <a:pt x="986" y="637"/>
                  </a:lnTo>
                  <a:lnTo>
                    <a:pt x="977" y="634"/>
                  </a:lnTo>
                  <a:lnTo>
                    <a:pt x="967" y="630"/>
                  </a:lnTo>
                  <a:lnTo>
                    <a:pt x="954" y="629"/>
                  </a:lnTo>
                  <a:lnTo>
                    <a:pt x="942" y="629"/>
                  </a:lnTo>
                  <a:lnTo>
                    <a:pt x="942" y="629"/>
                  </a:lnTo>
                  <a:close/>
                  <a:moveTo>
                    <a:pt x="1029" y="907"/>
                  </a:moveTo>
                  <a:lnTo>
                    <a:pt x="1029" y="907"/>
                  </a:lnTo>
                  <a:lnTo>
                    <a:pt x="1025" y="906"/>
                  </a:lnTo>
                  <a:lnTo>
                    <a:pt x="1022" y="904"/>
                  </a:lnTo>
                  <a:lnTo>
                    <a:pt x="1020" y="902"/>
                  </a:lnTo>
                  <a:lnTo>
                    <a:pt x="1018" y="899"/>
                  </a:lnTo>
                  <a:lnTo>
                    <a:pt x="1018" y="899"/>
                  </a:lnTo>
                  <a:lnTo>
                    <a:pt x="1020" y="893"/>
                  </a:lnTo>
                  <a:lnTo>
                    <a:pt x="1022" y="892"/>
                  </a:lnTo>
                  <a:lnTo>
                    <a:pt x="1025" y="890"/>
                  </a:lnTo>
                  <a:lnTo>
                    <a:pt x="1029" y="888"/>
                  </a:lnTo>
                  <a:lnTo>
                    <a:pt x="1029" y="888"/>
                  </a:lnTo>
                  <a:lnTo>
                    <a:pt x="1032" y="890"/>
                  </a:lnTo>
                  <a:lnTo>
                    <a:pt x="1034" y="892"/>
                  </a:lnTo>
                  <a:lnTo>
                    <a:pt x="1037" y="893"/>
                  </a:lnTo>
                  <a:lnTo>
                    <a:pt x="1037" y="899"/>
                  </a:lnTo>
                  <a:lnTo>
                    <a:pt x="1037" y="899"/>
                  </a:lnTo>
                  <a:lnTo>
                    <a:pt x="1037" y="902"/>
                  </a:lnTo>
                  <a:lnTo>
                    <a:pt x="1034" y="904"/>
                  </a:lnTo>
                  <a:lnTo>
                    <a:pt x="1032" y="906"/>
                  </a:lnTo>
                  <a:lnTo>
                    <a:pt x="1029" y="907"/>
                  </a:lnTo>
                  <a:lnTo>
                    <a:pt x="1029" y="907"/>
                  </a:lnTo>
                  <a:close/>
                  <a:moveTo>
                    <a:pt x="1029" y="821"/>
                  </a:moveTo>
                  <a:lnTo>
                    <a:pt x="1029" y="821"/>
                  </a:lnTo>
                  <a:lnTo>
                    <a:pt x="1025" y="819"/>
                  </a:lnTo>
                  <a:lnTo>
                    <a:pt x="1022" y="817"/>
                  </a:lnTo>
                  <a:lnTo>
                    <a:pt x="1020" y="814"/>
                  </a:lnTo>
                  <a:lnTo>
                    <a:pt x="1018" y="810"/>
                  </a:lnTo>
                  <a:lnTo>
                    <a:pt x="1018" y="810"/>
                  </a:lnTo>
                  <a:lnTo>
                    <a:pt x="1020" y="807"/>
                  </a:lnTo>
                  <a:lnTo>
                    <a:pt x="1022" y="803"/>
                  </a:lnTo>
                  <a:lnTo>
                    <a:pt x="1025" y="802"/>
                  </a:lnTo>
                  <a:lnTo>
                    <a:pt x="1029" y="802"/>
                  </a:lnTo>
                  <a:lnTo>
                    <a:pt x="1029" y="802"/>
                  </a:lnTo>
                  <a:lnTo>
                    <a:pt x="1032" y="802"/>
                  </a:lnTo>
                  <a:lnTo>
                    <a:pt x="1034" y="803"/>
                  </a:lnTo>
                  <a:lnTo>
                    <a:pt x="1037" y="807"/>
                  </a:lnTo>
                  <a:lnTo>
                    <a:pt x="1037" y="810"/>
                  </a:lnTo>
                  <a:lnTo>
                    <a:pt x="1037" y="810"/>
                  </a:lnTo>
                  <a:lnTo>
                    <a:pt x="1037" y="814"/>
                  </a:lnTo>
                  <a:lnTo>
                    <a:pt x="1034" y="817"/>
                  </a:lnTo>
                  <a:lnTo>
                    <a:pt x="1032" y="819"/>
                  </a:lnTo>
                  <a:lnTo>
                    <a:pt x="1029" y="821"/>
                  </a:lnTo>
                  <a:lnTo>
                    <a:pt x="1029" y="821"/>
                  </a:lnTo>
                  <a:close/>
                  <a:moveTo>
                    <a:pt x="1433" y="1437"/>
                  </a:moveTo>
                  <a:lnTo>
                    <a:pt x="1113" y="1437"/>
                  </a:lnTo>
                  <a:lnTo>
                    <a:pt x="1113" y="1214"/>
                  </a:lnTo>
                  <a:lnTo>
                    <a:pt x="1433" y="1417"/>
                  </a:lnTo>
                  <a:lnTo>
                    <a:pt x="1433" y="14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14" name="Freeform 8"/>
            <p:cNvSpPr>
              <a:spLocks noEditPoints="1"/>
            </p:cNvSpPr>
            <p:nvPr/>
          </p:nvSpPr>
          <p:spPr bwMode="auto">
            <a:xfrm>
              <a:off x="3267347" y="5693419"/>
              <a:ext cx="164340" cy="267192"/>
            </a:xfrm>
            <a:custGeom>
              <a:avLst/>
              <a:gdLst>
                <a:gd name="T0" fmla="*/ 21 w 293"/>
                <a:gd name="T1" fmla="*/ 347 h 476"/>
                <a:gd name="T2" fmla="*/ 19 w 293"/>
                <a:gd name="T3" fmla="*/ 347 h 476"/>
                <a:gd name="T4" fmla="*/ 9 w 293"/>
                <a:gd name="T5" fmla="*/ 353 h 476"/>
                <a:gd name="T6" fmla="*/ 3 w 293"/>
                <a:gd name="T7" fmla="*/ 361 h 476"/>
                <a:gd name="T8" fmla="*/ 3 w 293"/>
                <a:gd name="T9" fmla="*/ 368 h 476"/>
                <a:gd name="T10" fmla="*/ 3 w 293"/>
                <a:gd name="T11" fmla="*/ 413 h 476"/>
                <a:gd name="T12" fmla="*/ 9 w 293"/>
                <a:gd name="T13" fmla="*/ 446 h 476"/>
                <a:gd name="T14" fmla="*/ 16 w 293"/>
                <a:gd name="T15" fmla="*/ 467 h 476"/>
                <a:gd name="T16" fmla="*/ 77 w 293"/>
                <a:gd name="T17" fmla="*/ 476 h 476"/>
                <a:gd name="T18" fmla="*/ 72 w 293"/>
                <a:gd name="T19" fmla="*/ 458 h 476"/>
                <a:gd name="T20" fmla="*/ 70 w 293"/>
                <a:gd name="T21" fmla="*/ 441 h 476"/>
                <a:gd name="T22" fmla="*/ 74 w 293"/>
                <a:gd name="T23" fmla="*/ 418 h 476"/>
                <a:gd name="T24" fmla="*/ 79 w 293"/>
                <a:gd name="T25" fmla="*/ 398 h 476"/>
                <a:gd name="T26" fmla="*/ 104 w 293"/>
                <a:gd name="T27" fmla="*/ 363 h 476"/>
                <a:gd name="T28" fmla="*/ 139 w 293"/>
                <a:gd name="T29" fmla="*/ 338 h 476"/>
                <a:gd name="T30" fmla="*/ 160 w 293"/>
                <a:gd name="T31" fmla="*/ 331 h 476"/>
                <a:gd name="T32" fmla="*/ 182 w 293"/>
                <a:gd name="T33" fmla="*/ 330 h 476"/>
                <a:gd name="T34" fmla="*/ 194 w 293"/>
                <a:gd name="T35" fmla="*/ 331 h 476"/>
                <a:gd name="T36" fmla="*/ 215 w 293"/>
                <a:gd name="T37" fmla="*/ 335 h 476"/>
                <a:gd name="T38" fmla="*/ 245 w 293"/>
                <a:gd name="T39" fmla="*/ 349 h 476"/>
                <a:gd name="T40" fmla="*/ 287 w 293"/>
                <a:gd name="T41" fmla="*/ 361 h 476"/>
                <a:gd name="T42" fmla="*/ 293 w 293"/>
                <a:gd name="T43" fmla="*/ 0 h 476"/>
                <a:gd name="T44" fmla="*/ 204 w 293"/>
                <a:gd name="T45" fmla="*/ 3 h 476"/>
                <a:gd name="T46" fmla="*/ 132 w 293"/>
                <a:gd name="T47" fmla="*/ 10 h 476"/>
                <a:gd name="T48" fmla="*/ 72 w 293"/>
                <a:gd name="T49" fmla="*/ 23 h 476"/>
                <a:gd name="T50" fmla="*/ 69 w 293"/>
                <a:gd name="T51" fmla="*/ 24 h 476"/>
                <a:gd name="T52" fmla="*/ 54 w 293"/>
                <a:gd name="T53" fmla="*/ 38 h 476"/>
                <a:gd name="T54" fmla="*/ 40 w 293"/>
                <a:gd name="T55" fmla="*/ 63 h 476"/>
                <a:gd name="T56" fmla="*/ 40 w 293"/>
                <a:gd name="T57" fmla="*/ 93 h 476"/>
                <a:gd name="T58" fmla="*/ 35 w 293"/>
                <a:gd name="T59" fmla="*/ 114 h 476"/>
                <a:gd name="T60" fmla="*/ 16 w 293"/>
                <a:gd name="T61" fmla="*/ 195 h 476"/>
                <a:gd name="T62" fmla="*/ 9 w 293"/>
                <a:gd name="T63" fmla="*/ 257 h 476"/>
                <a:gd name="T64" fmla="*/ 9 w 293"/>
                <a:gd name="T65" fmla="*/ 284 h 476"/>
                <a:gd name="T66" fmla="*/ 3 w 293"/>
                <a:gd name="T67" fmla="*/ 287 h 476"/>
                <a:gd name="T68" fmla="*/ 0 w 293"/>
                <a:gd name="T69" fmla="*/ 296 h 476"/>
                <a:gd name="T70" fmla="*/ 0 w 293"/>
                <a:gd name="T71" fmla="*/ 301 h 476"/>
                <a:gd name="T72" fmla="*/ 0 w 293"/>
                <a:gd name="T73" fmla="*/ 319 h 476"/>
                <a:gd name="T74" fmla="*/ 3 w 293"/>
                <a:gd name="T75" fmla="*/ 331 h 476"/>
                <a:gd name="T76" fmla="*/ 10 w 293"/>
                <a:gd name="T77" fmla="*/ 337 h 476"/>
                <a:gd name="T78" fmla="*/ 42 w 293"/>
                <a:gd name="T79" fmla="*/ 199 h 476"/>
                <a:gd name="T80" fmla="*/ 44 w 293"/>
                <a:gd name="T81" fmla="*/ 169 h 476"/>
                <a:gd name="T82" fmla="*/ 49 w 293"/>
                <a:gd name="T83" fmla="*/ 130 h 476"/>
                <a:gd name="T84" fmla="*/ 53 w 293"/>
                <a:gd name="T85" fmla="*/ 120 h 476"/>
                <a:gd name="T86" fmla="*/ 58 w 293"/>
                <a:gd name="T87" fmla="*/ 114 h 476"/>
                <a:gd name="T88" fmla="*/ 77 w 293"/>
                <a:gd name="T89" fmla="*/ 109 h 476"/>
                <a:gd name="T90" fmla="*/ 146 w 293"/>
                <a:gd name="T91" fmla="*/ 105 h 476"/>
                <a:gd name="T92" fmla="*/ 157 w 293"/>
                <a:gd name="T93" fmla="*/ 109 h 476"/>
                <a:gd name="T94" fmla="*/ 159 w 293"/>
                <a:gd name="T95" fmla="*/ 114 h 476"/>
                <a:gd name="T96" fmla="*/ 159 w 293"/>
                <a:gd name="T97" fmla="*/ 180 h 476"/>
                <a:gd name="T98" fmla="*/ 157 w 293"/>
                <a:gd name="T99" fmla="*/ 187 h 476"/>
                <a:gd name="T100" fmla="*/ 144 w 293"/>
                <a:gd name="T101" fmla="*/ 195 h 476"/>
                <a:gd name="T102" fmla="*/ 137 w 293"/>
                <a:gd name="T103" fmla="*/ 197 h 476"/>
                <a:gd name="T104" fmla="*/ 118 w 293"/>
                <a:gd name="T105" fmla="*/ 201 h 476"/>
                <a:gd name="T106" fmla="*/ 67 w 293"/>
                <a:gd name="T107" fmla="*/ 211 h 476"/>
                <a:gd name="T108" fmla="*/ 49 w 293"/>
                <a:gd name="T109" fmla="*/ 215 h 476"/>
                <a:gd name="T110" fmla="*/ 46 w 293"/>
                <a:gd name="T111" fmla="*/ 213 h 476"/>
                <a:gd name="T112" fmla="*/ 42 w 293"/>
                <a:gd name="T113" fmla="*/ 199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93" h="476">
                  <a:moveTo>
                    <a:pt x="21" y="335"/>
                  </a:moveTo>
                  <a:lnTo>
                    <a:pt x="21" y="347"/>
                  </a:lnTo>
                  <a:lnTo>
                    <a:pt x="21" y="347"/>
                  </a:lnTo>
                  <a:lnTo>
                    <a:pt x="19" y="347"/>
                  </a:lnTo>
                  <a:lnTo>
                    <a:pt x="12" y="351"/>
                  </a:lnTo>
                  <a:lnTo>
                    <a:pt x="9" y="353"/>
                  </a:lnTo>
                  <a:lnTo>
                    <a:pt x="7" y="356"/>
                  </a:lnTo>
                  <a:lnTo>
                    <a:pt x="3" y="361"/>
                  </a:lnTo>
                  <a:lnTo>
                    <a:pt x="3" y="368"/>
                  </a:lnTo>
                  <a:lnTo>
                    <a:pt x="3" y="368"/>
                  </a:lnTo>
                  <a:lnTo>
                    <a:pt x="3" y="383"/>
                  </a:lnTo>
                  <a:lnTo>
                    <a:pt x="3" y="413"/>
                  </a:lnTo>
                  <a:lnTo>
                    <a:pt x="5" y="430"/>
                  </a:lnTo>
                  <a:lnTo>
                    <a:pt x="9" y="446"/>
                  </a:lnTo>
                  <a:lnTo>
                    <a:pt x="12" y="460"/>
                  </a:lnTo>
                  <a:lnTo>
                    <a:pt x="16" y="467"/>
                  </a:lnTo>
                  <a:lnTo>
                    <a:pt x="17" y="471"/>
                  </a:lnTo>
                  <a:lnTo>
                    <a:pt x="77" y="476"/>
                  </a:lnTo>
                  <a:lnTo>
                    <a:pt x="77" y="476"/>
                  </a:lnTo>
                  <a:lnTo>
                    <a:pt x="72" y="458"/>
                  </a:lnTo>
                  <a:lnTo>
                    <a:pt x="70" y="441"/>
                  </a:lnTo>
                  <a:lnTo>
                    <a:pt x="70" y="441"/>
                  </a:lnTo>
                  <a:lnTo>
                    <a:pt x="72" y="430"/>
                  </a:lnTo>
                  <a:lnTo>
                    <a:pt x="74" y="418"/>
                  </a:lnTo>
                  <a:lnTo>
                    <a:pt x="76" y="407"/>
                  </a:lnTo>
                  <a:lnTo>
                    <a:pt x="79" y="398"/>
                  </a:lnTo>
                  <a:lnTo>
                    <a:pt x="90" y="379"/>
                  </a:lnTo>
                  <a:lnTo>
                    <a:pt x="104" y="363"/>
                  </a:lnTo>
                  <a:lnTo>
                    <a:pt x="120" y="349"/>
                  </a:lnTo>
                  <a:lnTo>
                    <a:pt x="139" y="338"/>
                  </a:lnTo>
                  <a:lnTo>
                    <a:pt x="150" y="335"/>
                  </a:lnTo>
                  <a:lnTo>
                    <a:pt x="160" y="331"/>
                  </a:lnTo>
                  <a:lnTo>
                    <a:pt x="171" y="331"/>
                  </a:lnTo>
                  <a:lnTo>
                    <a:pt x="182" y="330"/>
                  </a:lnTo>
                  <a:lnTo>
                    <a:pt x="182" y="330"/>
                  </a:lnTo>
                  <a:lnTo>
                    <a:pt x="194" y="331"/>
                  </a:lnTo>
                  <a:lnTo>
                    <a:pt x="204" y="331"/>
                  </a:lnTo>
                  <a:lnTo>
                    <a:pt x="215" y="335"/>
                  </a:lnTo>
                  <a:lnTo>
                    <a:pt x="226" y="338"/>
                  </a:lnTo>
                  <a:lnTo>
                    <a:pt x="245" y="349"/>
                  </a:lnTo>
                  <a:lnTo>
                    <a:pt x="261" y="363"/>
                  </a:lnTo>
                  <a:lnTo>
                    <a:pt x="287" y="361"/>
                  </a:lnTo>
                  <a:lnTo>
                    <a:pt x="293" y="0"/>
                  </a:lnTo>
                  <a:lnTo>
                    <a:pt x="293" y="0"/>
                  </a:lnTo>
                  <a:lnTo>
                    <a:pt x="266" y="0"/>
                  </a:lnTo>
                  <a:lnTo>
                    <a:pt x="204" y="3"/>
                  </a:lnTo>
                  <a:lnTo>
                    <a:pt x="167" y="7"/>
                  </a:lnTo>
                  <a:lnTo>
                    <a:pt x="132" y="10"/>
                  </a:lnTo>
                  <a:lnTo>
                    <a:pt x="99" y="16"/>
                  </a:lnTo>
                  <a:lnTo>
                    <a:pt x="72" y="23"/>
                  </a:lnTo>
                  <a:lnTo>
                    <a:pt x="72" y="23"/>
                  </a:lnTo>
                  <a:lnTo>
                    <a:pt x="69" y="24"/>
                  </a:lnTo>
                  <a:lnTo>
                    <a:pt x="60" y="31"/>
                  </a:lnTo>
                  <a:lnTo>
                    <a:pt x="54" y="38"/>
                  </a:lnTo>
                  <a:lnTo>
                    <a:pt x="47" y="49"/>
                  </a:lnTo>
                  <a:lnTo>
                    <a:pt x="40" y="63"/>
                  </a:lnTo>
                  <a:lnTo>
                    <a:pt x="35" y="79"/>
                  </a:lnTo>
                  <a:lnTo>
                    <a:pt x="40" y="93"/>
                  </a:lnTo>
                  <a:lnTo>
                    <a:pt x="40" y="93"/>
                  </a:lnTo>
                  <a:lnTo>
                    <a:pt x="35" y="114"/>
                  </a:lnTo>
                  <a:lnTo>
                    <a:pt x="23" y="165"/>
                  </a:lnTo>
                  <a:lnTo>
                    <a:pt x="16" y="195"/>
                  </a:lnTo>
                  <a:lnTo>
                    <a:pt x="12" y="227"/>
                  </a:lnTo>
                  <a:lnTo>
                    <a:pt x="9" y="257"/>
                  </a:lnTo>
                  <a:lnTo>
                    <a:pt x="9" y="284"/>
                  </a:lnTo>
                  <a:lnTo>
                    <a:pt x="9" y="284"/>
                  </a:lnTo>
                  <a:lnTo>
                    <a:pt x="7" y="284"/>
                  </a:lnTo>
                  <a:lnTo>
                    <a:pt x="3" y="287"/>
                  </a:lnTo>
                  <a:lnTo>
                    <a:pt x="0" y="293"/>
                  </a:lnTo>
                  <a:lnTo>
                    <a:pt x="0" y="296"/>
                  </a:lnTo>
                  <a:lnTo>
                    <a:pt x="0" y="301"/>
                  </a:lnTo>
                  <a:lnTo>
                    <a:pt x="0" y="301"/>
                  </a:lnTo>
                  <a:lnTo>
                    <a:pt x="0" y="307"/>
                  </a:lnTo>
                  <a:lnTo>
                    <a:pt x="0" y="319"/>
                  </a:lnTo>
                  <a:lnTo>
                    <a:pt x="2" y="326"/>
                  </a:lnTo>
                  <a:lnTo>
                    <a:pt x="3" y="331"/>
                  </a:lnTo>
                  <a:lnTo>
                    <a:pt x="7" y="335"/>
                  </a:lnTo>
                  <a:lnTo>
                    <a:pt x="10" y="337"/>
                  </a:lnTo>
                  <a:lnTo>
                    <a:pt x="21" y="335"/>
                  </a:lnTo>
                  <a:close/>
                  <a:moveTo>
                    <a:pt x="42" y="199"/>
                  </a:moveTo>
                  <a:lnTo>
                    <a:pt x="42" y="199"/>
                  </a:lnTo>
                  <a:lnTo>
                    <a:pt x="44" y="169"/>
                  </a:lnTo>
                  <a:lnTo>
                    <a:pt x="47" y="143"/>
                  </a:lnTo>
                  <a:lnTo>
                    <a:pt x="49" y="130"/>
                  </a:lnTo>
                  <a:lnTo>
                    <a:pt x="53" y="120"/>
                  </a:lnTo>
                  <a:lnTo>
                    <a:pt x="53" y="120"/>
                  </a:lnTo>
                  <a:lnTo>
                    <a:pt x="54" y="118"/>
                  </a:lnTo>
                  <a:lnTo>
                    <a:pt x="58" y="114"/>
                  </a:lnTo>
                  <a:lnTo>
                    <a:pt x="65" y="111"/>
                  </a:lnTo>
                  <a:lnTo>
                    <a:pt x="77" y="109"/>
                  </a:lnTo>
                  <a:lnTo>
                    <a:pt x="146" y="105"/>
                  </a:lnTo>
                  <a:lnTo>
                    <a:pt x="146" y="105"/>
                  </a:lnTo>
                  <a:lnTo>
                    <a:pt x="152" y="105"/>
                  </a:lnTo>
                  <a:lnTo>
                    <a:pt x="157" y="109"/>
                  </a:lnTo>
                  <a:lnTo>
                    <a:pt x="159" y="114"/>
                  </a:lnTo>
                  <a:lnTo>
                    <a:pt x="159" y="114"/>
                  </a:lnTo>
                  <a:lnTo>
                    <a:pt x="159" y="180"/>
                  </a:lnTo>
                  <a:lnTo>
                    <a:pt x="159" y="180"/>
                  </a:lnTo>
                  <a:lnTo>
                    <a:pt x="159" y="183"/>
                  </a:lnTo>
                  <a:lnTo>
                    <a:pt x="157" y="187"/>
                  </a:lnTo>
                  <a:lnTo>
                    <a:pt x="152" y="192"/>
                  </a:lnTo>
                  <a:lnTo>
                    <a:pt x="144" y="195"/>
                  </a:lnTo>
                  <a:lnTo>
                    <a:pt x="137" y="197"/>
                  </a:lnTo>
                  <a:lnTo>
                    <a:pt x="137" y="197"/>
                  </a:lnTo>
                  <a:lnTo>
                    <a:pt x="118" y="201"/>
                  </a:lnTo>
                  <a:lnTo>
                    <a:pt x="118" y="201"/>
                  </a:lnTo>
                  <a:lnTo>
                    <a:pt x="67" y="211"/>
                  </a:lnTo>
                  <a:lnTo>
                    <a:pt x="67" y="211"/>
                  </a:lnTo>
                  <a:lnTo>
                    <a:pt x="58" y="215"/>
                  </a:lnTo>
                  <a:lnTo>
                    <a:pt x="49" y="215"/>
                  </a:lnTo>
                  <a:lnTo>
                    <a:pt x="49" y="215"/>
                  </a:lnTo>
                  <a:lnTo>
                    <a:pt x="46" y="213"/>
                  </a:lnTo>
                  <a:lnTo>
                    <a:pt x="44" y="210"/>
                  </a:lnTo>
                  <a:lnTo>
                    <a:pt x="42" y="199"/>
                  </a:lnTo>
                  <a:lnTo>
                    <a:pt x="42" y="1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15" name="Freeform 9"/>
            <p:cNvSpPr>
              <a:spLocks/>
            </p:cNvSpPr>
            <p:nvPr/>
          </p:nvSpPr>
          <p:spPr bwMode="auto">
            <a:xfrm>
              <a:off x="3445101" y="5732547"/>
              <a:ext cx="316382" cy="174401"/>
            </a:xfrm>
            <a:custGeom>
              <a:avLst/>
              <a:gdLst>
                <a:gd name="T0" fmla="*/ 78 w 567"/>
                <a:gd name="T1" fmla="*/ 0 h 313"/>
                <a:gd name="T2" fmla="*/ 78 w 567"/>
                <a:gd name="T3" fmla="*/ 0 h 313"/>
                <a:gd name="T4" fmla="*/ 59 w 567"/>
                <a:gd name="T5" fmla="*/ 0 h 313"/>
                <a:gd name="T6" fmla="*/ 59 w 567"/>
                <a:gd name="T7" fmla="*/ 0 h 313"/>
                <a:gd name="T8" fmla="*/ 52 w 567"/>
                <a:gd name="T9" fmla="*/ 0 h 313"/>
                <a:gd name="T10" fmla="*/ 46 w 567"/>
                <a:gd name="T11" fmla="*/ 2 h 313"/>
                <a:gd name="T12" fmla="*/ 36 w 567"/>
                <a:gd name="T13" fmla="*/ 9 h 313"/>
                <a:gd name="T14" fmla="*/ 25 w 567"/>
                <a:gd name="T15" fmla="*/ 20 h 313"/>
                <a:gd name="T16" fmla="*/ 16 w 567"/>
                <a:gd name="T17" fmla="*/ 34 h 313"/>
                <a:gd name="T18" fmla="*/ 9 w 567"/>
                <a:gd name="T19" fmla="*/ 52 h 313"/>
                <a:gd name="T20" fmla="*/ 4 w 567"/>
                <a:gd name="T21" fmla="*/ 71 h 313"/>
                <a:gd name="T22" fmla="*/ 2 w 567"/>
                <a:gd name="T23" fmla="*/ 92 h 313"/>
                <a:gd name="T24" fmla="*/ 0 w 567"/>
                <a:gd name="T25" fmla="*/ 115 h 313"/>
                <a:gd name="T26" fmla="*/ 0 w 567"/>
                <a:gd name="T27" fmla="*/ 198 h 313"/>
                <a:gd name="T28" fmla="*/ 0 w 567"/>
                <a:gd name="T29" fmla="*/ 198 h 313"/>
                <a:gd name="T30" fmla="*/ 0 w 567"/>
                <a:gd name="T31" fmla="*/ 219 h 313"/>
                <a:gd name="T32" fmla="*/ 4 w 567"/>
                <a:gd name="T33" fmla="*/ 239 h 313"/>
                <a:gd name="T34" fmla="*/ 9 w 567"/>
                <a:gd name="T35" fmla="*/ 258 h 313"/>
                <a:gd name="T36" fmla="*/ 15 w 567"/>
                <a:gd name="T37" fmla="*/ 274 h 313"/>
                <a:gd name="T38" fmla="*/ 23 w 567"/>
                <a:gd name="T39" fmla="*/ 288 h 313"/>
                <a:gd name="T40" fmla="*/ 32 w 567"/>
                <a:gd name="T41" fmla="*/ 299 h 313"/>
                <a:gd name="T42" fmla="*/ 41 w 567"/>
                <a:gd name="T43" fmla="*/ 307 h 313"/>
                <a:gd name="T44" fmla="*/ 52 w 567"/>
                <a:gd name="T45" fmla="*/ 311 h 313"/>
                <a:gd name="T46" fmla="*/ 52 w 567"/>
                <a:gd name="T47" fmla="*/ 311 h 313"/>
                <a:gd name="T48" fmla="*/ 59 w 567"/>
                <a:gd name="T49" fmla="*/ 299 h 313"/>
                <a:gd name="T50" fmla="*/ 69 w 567"/>
                <a:gd name="T51" fmla="*/ 286 h 313"/>
                <a:gd name="T52" fmla="*/ 80 w 567"/>
                <a:gd name="T53" fmla="*/ 276 h 313"/>
                <a:gd name="T54" fmla="*/ 92 w 567"/>
                <a:gd name="T55" fmla="*/ 265 h 313"/>
                <a:gd name="T56" fmla="*/ 106 w 567"/>
                <a:gd name="T57" fmla="*/ 258 h 313"/>
                <a:gd name="T58" fmla="*/ 120 w 567"/>
                <a:gd name="T59" fmla="*/ 253 h 313"/>
                <a:gd name="T60" fmla="*/ 136 w 567"/>
                <a:gd name="T61" fmla="*/ 249 h 313"/>
                <a:gd name="T62" fmla="*/ 152 w 567"/>
                <a:gd name="T63" fmla="*/ 249 h 313"/>
                <a:gd name="T64" fmla="*/ 152 w 567"/>
                <a:gd name="T65" fmla="*/ 249 h 313"/>
                <a:gd name="T66" fmla="*/ 168 w 567"/>
                <a:gd name="T67" fmla="*/ 249 h 313"/>
                <a:gd name="T68" fmla="*/ 184 w 567"/>
                <a:gd name="T69" fmla="*/ 253 h 313"/>
                <a:gd name="T70" fmla="*/ 198 w 567"/>
                <a:gd name="T71" fmla="*/ 258 h 313"/>
                <a:gd name="T72" fmla="*/ 212 w 567"/>
                <a:gd name="T73" fmla="*/ 267 h 313"/>
                <a:gd name="T74" fmla="*/ 225 w 567"/>
                <a:gd name="T75" fmla="*/ 276 h 313"/>
                <a:gd name="T76" fmla="*/ 235 w 567"/>
                <a:gd name="T77" fmla="*/ 286 h 313"/>
                <a:gd name="T78" fmla="*/ 244 w 567"/>
                <a:gd name="T79" fmla="*/ 299 h 313"/>
                <a:gd name="T80" fmla="*/ 253 w 567"/>
                <a:gd name="T81" fmla="*/ 313 h 313"/>
                <a:gd name="T82" fmla="*/ 445 w 567"/>
                <a:gd name="T83" fmla="*/ 313 h 313"/>
                <a:gd name="T84" fmla="*/ 445 w 567"/>
                <a:gd name="T85" fmla="*/ 313 h 313"/>
                <a:gd name="T86" fmla="*/ 452 w 567"/>
                <a:gd name="T87" fmla="*/ 300 h 313"/>
                <a:gd name="T88" fmla="*/ 461 w 567"/>
                <a:gd name="T89" fmla="*/ 288 h 313"/>
                <a:gd name="T90" fmla="*/ 472 w 567"/>
                <a:gd name="T91" fmla="*/ 277 h 313"/>
                <a:gd name="T92" fmla="*/ 482 w 567"/>
                <a:gd name="T93" fmla="*/ 269 h 313"/>
                <a:gd name="T94" fmla="*/ 495 w 567"/>
                <a:gd name="T95" fmla="*/ 262 h 313"/>
                <a:gd name="T96" fmla="*/ 507 w 567"/>
                <a:gd name="T97" fmla="*/ 256 h 313"/>
                <a:gd name="T98" fmla="*/ 521 w 567"/>
                <a:gd name="T99" fmla="*/ 251 h 313"/>
                <a:gd name="T100" fmla="*/ 535 w 567"/>
                <a:gd name="T101" fmla="*/ 249 h 313"/>
                <a:gd name="T102" fmla="*/ 567 w 567"/>
                <a:gd name="T103" fmla="*/ 0 h 313"/>
                <a:gd name="T104" fmla="*/ 78 w 567"/>
                <a:gd name="T105"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67" h="313">
                  <a:moveTo>
                    <a:pt x="78" y="0"/>
                  </a:moveTo>
                  <a:lnTo>
                    <a:pt x="78" y="0"/>
                  </a:lnTo>
                  <a:lnTo>
                    <a:pt x="59" y="0"/>
                  </a:lnTo>
                  <a:lnTo>
                    <a:pt x="59" y="0"/>
                  </a:lnTo>
                  <a:lnTo>
                    <a:pt x="52" y="0"/>
                  </a:lnTo>
                  <a:lnTo>
                    <a:pt x="46" y="2"/>
                  </a:lnTo>
                  <a:lnTo>
                    <a:pt x="36" y="9"/>
                  </a:lnTo>
                  <a:lnTo>
                    <a:pt x="25" y="20"/>
                  </a:lnTo>
                  <a:lnTo>
                    <a:pt x="16" y="34"/>
                  </a:lnTo>
                  <a:lnTo>
                    <a:pt x="9" y="52"/>
                  </a:lnTo>
                  <a:lnTo>
                    <a:pt x="4" y="71"/>
                  </a:lnTo>
                  <a:lnTo>
                    <a:pt x="2" y="92"/>
                  </a:lnTo>
                  <a:lnTo>
                    <a:pt x="0" y="115"/>
                  </a:lnTo>
                  <a:lnTo>
                    <a:pt x="0" y="198"/>
                  </a:lnTo>
                  <a:lnTo>
                    <a:pt x="0" y="198"/>
                  </a:lnTo>
                  <a:lnTo>
                    <a:pt x="0" y="219"/>
                  </a:lnTo>
                  <a:lnTo>
                    <a:pt x="4" y="239"/>
                  </a:lnTo>
                  <a:lnTo>
                    <a:pt x="9" y="258"/>
                  </a:lnTo>
                  <a:lnTo>
                    <a:pt x="15" y="274"/>
                  </a:lnTo>
                  <a:lnTo>
                    <a:pt x="23" y="288"/>
                  </a:lnTo>
                  <a:lnTo>
                    <a:pt x="32" y="299"/>
                  </a:lnTo>
                  <a:lnTo>
                    <a:pt x="41" y="307"/>
                  </a:lnTo>
                  <a:lnTo>
                    <a:pt x="52" y="311"/>
                  </a:lnTo>
                  <a:lnTo>
                    <a:pt x="52" y="311"/>
                  </a:lnTo>
                  <a:lnTo>
                    <a:pt x="59" y="299"/>
                  </a:lnTo>
                  <a:lnTo>
                    <a:pt x="69" y="286"/>
                  </a:lnTo>
                  <a:lnTo>
                    <a:pt x="80" y="276"/>
                  </a:lnTo>
                  <a:lnTo>
                    <a:pt x="92" y="265"/>
                  </a:lnTo>
                  <a:lnTo>
                    <a:pt x="106" y="258"/>
                  </a:lnTo>
                  <a:lnTo>
                    <a:pt x="120" y="253"/>
                  </a:lnTo>
                  <a:lnTo>
                    <a:pt x="136" y="249"/>
                  </a:lnTo>
                  <a:lnTo>
                    <a:pt x="152" y="249"/>
                  </a:lnTo>
                  <a:lnTo>
                    <a:pt x="152" y="249"/>
                  </a:lnTo>
                  <a:lnTo>
                    <a:pt x="168" y="249"/>
                  </a:lnTo>
                  <a:lnTo>
                    <a:pt x="184" y="253"/>
                  </a:lnTo>
                  <a:lnTo>
                    <a:pt x="198" y="258"/>
                  </a:lnTo>
                  <a:lnTo>
                    <a:pt x="212" y="267"/>
                  </a:lnTo>
                  <a:lnTo>
                    <a:pt x="225" y="276"/>
                  </a:lnTo>
                  <a:lnTo>
                    <a:pt x="235" y="286"/>
                  </a:lnTo>
                  <a:lnTo>
                    <a:pt x="244" y="299"/>
                  </a:lnTo>
                  <a:lnTo>
                    <a:pt x="253" y="313"/>
                  </a:lnTo>
                  <a:lnTo>
                    <a:pt x="445" y="313"/>
                  </a:lnTo>
                  <a:lnTo>
                    <a:pt x="445" y="313"/>
                  </a:lnTo>
                  <a:lnTo>
                    <a:pt x="452" y="300"/>
                  </a:lnTo>
                  <a:lnTo>
                    <a:pt x="461" y="288"/>
                  </a:lnTo>
                  <a:lnTo>
                    <a:pt x="472" y="277"/>
                  </a:lnTo>
                  <a:lnTo>
                    <a:pt x="482" y="269"/>
                  </a:lnTo>
                  <a:lnTo>
                    <a:pt x="495" y="262"/>
                  </a:lnTo>
                  <a:lnTo>
                    <a:pt x="507" y="256"/>
                  </a:lnTo>
                  <a:lnTo>
                    <a:pt x="521" y="251"/>
                  </a:lnTo>
                  <a:lnTo>
                    <a:pt x="535" y="249"/>
                  </a:lnTo>
                  <a:lnTo>
                    <a:pt x="567" y="0"/>
                  </a:lnTo>
                  <a:lnTo>
                    <a:pt x="7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16" name="Freeform 10"/>
            <p:cNvSpPr>
              <a:spLocks/>
            </p:cNvSpPr>
            <p:nvPr/>
          </p:nvSpPr>
          <p:spPr bwMode="auto">
            <a:xfrm>
              <a:off x="3578138" y="5710188"/>
              <a:ext cx="72668" cy="15651"/>
            </a:xfrm>
            <a:custGeom>
              <a:avLst/>
              <a:gdLst>
                <a:gd name="T0" fmla="*/ 5 w 128"/>
                <a:gd name="T1" fmla="*/ 0 h 28"/>
                <a:gd name="T2" fmla="*/ 123 w 128"/>
                <a:gd name="T3" fmla="*/ 0 h 28"/>
                <a:gd name="T4" fmla="*/ 123 w 128"/>
                <a:gd name="T5" fmla="*/ 0 h 28"/>
                <a:gd name="T6" fmla="*/ 125 w 128"/>
                <a:gd name="T7" fmla="*/ 1 h 28"/>
                <a:gd name="T8" fmla="*/ 127 w 128"/>
                <a:gd name="T9" fmla="*/ 5 h 28"/>
                <a:gd name="T10" fmla="*/ 128 w 128"/>
                <a:gd name="T11" fmla="*/ 16 h 28"/>
                <a:gd name="T12" fmla="*/ 128 w 128"/>
                <a:gd name="T13" fmla="*/ 28 h 28"/>
                <a:gd name="T14" fmla="*/ 0 w 128"/>
                <a:gd name="T15" fmla="*/ 28 h 28"/>
                <a:gd name="T16" fmla="*/ 0 w 128"/>
                <a:gd name="T17" fmla="*/ 16 h 28"/>
                <a:gd name="T18" fmla="*/ 0 w 128"/>
                <a:gd name="T19" fmla="*/ 16 h 28"/>
                <a:gd name="T20" fmla="*/ 1 w 128"/>
                <a:gd name="T21" fmla="*/ 5 h 28"/>
                <a:gd name="T22" fmla="*/ 3 w 128"/>
                <a:gd name="T23" fmla="*/ 1 h 28"/>
                <a:gd name="T24" fmla="*/ 5 w 128"/>
                <a:gd name="T25" fmla="*/ 0 h 28"/>
                <a:gd name="T26" fmla="*/ 5 w 128"/>
                <a:gd name="T2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8" h="28">
                  <a:moveTo>
                    <a:pt x="5" y="0"/>
                  </a:moveTo>
                  <a:lnTo>
                    <a:pt x="123" y="0"/>
                  </a:lnTo>
                  <a:lnTo>
                    <a:pt x="123" y="0"/>
                  </a:lnTo>
                  <a:lnTo>
                    <a:pt x="125" y="1"/>
                  </a:lnTo>
                  <a:lnTo>
                    <a:pt x="127" y="5"/>
                  </a:lnTo>
                  <a:lnTo>
                    <a:pt x="128" y="16"/>
                  </a:lnTo>
                  <a:lnTo>
                    <a:pt x="128" y="28"/>
                  </a:lnTo>
                  <a:lnTo>
                    <a:pt x="0" y="28"/>
                  </a:lnTo>
                  <a:lnTo>
                    <a:pt x="0" y="16"/>
                  </a:lnTo>
                  <a:lnTo>
                    <a:pt x="0" y="16"/>
                  </a:lnTo>
                  <a:lnTo>
                    <a:pt x="1" y="5"/>
                  </a:lnTo>
                  <a:lnTo>
                    <a:pt x="3" y="1"/>
                  </a:lnTo>
                  <a:lnTo>
                    <a:pt x="5" y="0"/>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17" name="Freeform 11"/>
            <p:cNvSpPr>
              <a:spLocks/>
            </p:cNvSpPr>
            <p:nvPr/>
          </p:nvSpPr>
          <p:spPr bwMode="auto">
            <a:xfrm>
              <a:off x="3588200" y="5911420"/>
              <a:ext cx="103970" cy="22359"/>
            </a:xfrm>
            <a:custGeom>
              <a:avLst/>
              <a:gdLst>
                <a:gd name="T0" fmla="*/ 0 w 186"/>
                <a:gd name="T1" fmla="*/ 0 h 38"/>
                <a:gd name="T2" fmla="*/ 186 w 186"/>
                <a:gd name="T3" fmla="*/ 0 h 38"/>
                <a:gd name="T4" fmla="*/ 186 w 186"/>
                <a:gd name="T5" fmla="*/ 0 h 38"/>
                <a:gd name="T6" fmla="*/ 180 w 186"/>
                <a:gd name="T7" fmla="*/ 17 h 38"/>
                <a:gd name="T8" fmla="*/ 179 w 186"/>
                <a:gd name="T9" fmla="*/ 35 h 38"/>
                <a:gd name="T10" fmla="*/ 179 w 186"/>
                <a:gd name="T11" fmla="*/ 35 h 38"/>
                <a:gd name="T12" fmla="*/ 179 w 186"/>
                <a:gd name="T13" fmla="*/ 38 h 38"/>
                <a:gd name="T14" fmla="*/ 7 w 186"/>
                <a:gd name="T15" fmla="*/ 38 h 38"/>
                <a:gd name="T16" fmla="*/ 7 w 186"/>
                <a:gd name="T17" fmla="*/ 38 h 38"/>
                <a:gd name="T18" fmla="*/ 7 w 186"/>
                <a:gd name="T19" fmla="*/ 35 h 38"/>
                <a:gd name="T20" fmla="*/ 7 w 186"/>
                <a:gd name="T21" fmla="*/ 35 h 38"/>
                <a:gd name="T22" fmla="*/ 6 w 186"/>
                <a:gd name="T23" fmla="*/ 17 h 38"/>
                <a:gd name="T24" fmla="*/ 0 w 186"/>
                <a:gd name="T25" fmla="*/ 0 h 38"/>
                <a:gd name="T26" fmla="*/ 0 w 186"/>
                <a:gd name="T2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6" h="38">
                  <a:moveTo>
                    <a:pt x="0" y="0"/>
                  </a:moveTo>
                  <a:lnTo>
                    <a:pt x="186" y="0"/>
                  </a:lnTo>
                  <a:lnTo>
                    <a:pt x="186" y="0"/>
                  </a:lnTo>
                  <a:lnTo>
                    <a:pt x="180" y="17"/>
                  </a:lnTo>
                  <a:lnTo>
                    <a:pt x="179" y="35"/>
                  </a:lnTo>
                  <a:lnTo>
                    <a:pt x="179" y="35"/>
                  </a:lnTo>
                  <a:lnTo>
                    <a:pt x="179" y="38"/>
                  </a:lnTo>
                  <a:lnTo>
                    <a:pt x="7" y="38"/>
                  </a:lnTo>
                  <a:lnTo>
                    <a:pt x="7" y="38"/>
                  </a:lnTo>
                  <a:lnTo>
                    <a:pt x="7" y="35"/>
                  </a:lnTo>
                  <a:lnTo>
                    <a:pt x="7" y="35"/>
                  </a:lnTo>
                  <a:lnTo>
                    <a:pt x="6" y="17"/>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18" name="Freeform 12"/>
            <p:cNvSpPr>
              <a:spLocks/>
            </p:cNvSpPr>
            <p:nvPr/>
          </p:nvSpPr>
          <p:spPr bwMode="auto">
            <a:xfrm>
              <a:off x="3452928" y="5911420"/>
              <a:ext cx="17887" cy="22359"/>
            </a:xfrm>
            <a:custGeom>
              <a:avLst/>
              <a:gdLst>
                <a:gd name="T0" fmla="*/ 0 w 31"/>
                <a:gd name="T1" fmla="*/ 0 h 38"/>
                <a:gd name="T2" fmla="*/ 31 w 31"/>
                <a:gd name="T3" fmla="*/ 0 h 38"/>
                <a:gd name="T4" fmla="*/ 31 w 31"/>
                <a:gd name="T5" fmla="*/ 0 h 38"/>
                <a:gd name="T6" fmla="*/ 28 w 31"/>
                <a:gd name="T7" fmla="*/ 17 h 38"/>
                <a:gd name="T8" fmla="*/ 26 w 31"/>
                <a:gd name="T9" fmla="*/ 35 h 38"/>
                <a:gd name="T10" fmla="*/ 26 w 31"/>
                <a:gd name="T11" fmla="*/ 35 h 38"/>
                <a:gd name="T12" fmla="*/ 26 w 31"/>
                <a:gd name="T13" fmla="*/ 38 h 38"/>
                <a:gd name="T14" fmla="*/ 0 w 31"/>
                <a:gd name="T15" fmla="*/ 38 h 38"/>
                <a:gd name="T16" fmla="*/ 0 w 31"/>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38">
                  <a:moveTo>
                    <a:pt x="0" y="0"/>
                  </a:moveTo>
                  <a:lnTo>
                    <a:pt x="31" y="0"/>
                  </a:lnTo>
                  <a:lnTo>
                    <a:pt x="31" y="0"/>
                  </a:lnTo>
                  <a:lnTo>
                    <a:pt x="28" y="17"/>
                  </a:lnTo>
                  <a:lnTo>
                    <a:pt x="26" y="35"/>
                  </a:lnTo>
                  <a:lnTo>
                    <a:pt x="26" y="35"/>
                  </a:lnTo>
                  <a:lnTo>
                    <a:pt x="26" y="38"/>
                  </a:lnTo>
                  <a:lnTo>
                    <a:pt x="0" y="38"/>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19" name="Freeform 13"/>
            <p:cNvSpPr>
              <a:spLocks noEditPoints="1"/>
            </p:cNvSpPr>
            <p:nvPr/>
          </p:nvSpPr>
          <p:spPr bwMode="auto">
            <a:xfrm>
              <a:off x="3316537" y="5884589"/>
              <a:ext cx="107324" cy="107324"/>
            </a:xfrm>
            <a:custGeom>
              <a:avLst/>
              <a:gdLst>
                <a:gd name="T0" fmla="*/ 0 w 191"/>
                <a:gd name="T1" fmla="*/ 95 h 191"/>
                <a:gd name="T2" fmla="*/ 7 w 191"/>
                <a:gd name="T3" fmla="*/ 132 h 191"/>
                <a:gd name="T4" fmla="*/ 28 w 191"/>
                <a:gd name="T5" fmla="*/ 162 h 191"/>
                <a:gd name="T6" fmla="*/ 58 w 191"/>
                <a:gd name="T7" fmla="*/ 183 h 191"/>
                <a:gd name="T8" fmla="*/ 95 w 191"/>
                <a:gd name="T9" fmla="*/ 191 h 191"/>
                <a:gd name="T10" fmla="*/ 115 w 191"/>
                <a:gd name="T11" fmla="*/ 189 h 191"/>
                <a:gd name="T12" fmla="*/ 148 w 191"/>
                <a:gd name="T13" fmla="*/ 175 h 191"/>
                <a:gd name="T14" fmla="*/ 175 w 191"/>
                <a:gd name="T15" fmla="*/ 148 h 191"/>
                <a:gd name="T16" fmla="*/ 189 w 191"/>
                <a:gd name="T17" fmla="*/ 115 h 191"/>
                <a:gd name="T18" fmla="*/ 191 w 191"/>
                <a:gd name="T19" fmla="*/ 95 h 191"/>
                <a:gd name="T20" fmla="*/ 184 w 191"/>
                <a:gd name="T21" fmla="*/ 58 h 191"/>
                <a:gd name="T22" fmla="*/ 162 w 191"/>
                <a:gd name="T23" fmla="*/ 28 h 191"/>
                <a:gd name="T24" fmla="*/ 132 w 191"/>
                <a:gd name="T25" fmla="*/ 7 h 191"/>
                <a:gd name="T26" fmla="*/ 95 w 191"/>
                <a:gd name="T27" fmla="*/ 0 h 191"/>
                <a:gd name="T28" fmla="*/ 76 w 191"/>
                <a:gd name="T29" fmla="*/ 2 h 191"/>
                <a:gd name="T30" fmla="*/ 42 w 191"/>
                <a:gd name="T31" fmla="*/ 16 h 191"/>
                <a:gd name="T32" fmla="*/ 16 w 191"/>
                <a:gd name="T33" fmla="*/ 42 h 191"/>
                <a:gd name="T34" fmla="*/ 2 w 191"/>
                <a:gd name="T35" fmla="*/ 76 h 191"/>
                <a:gd name="T36" fmla="*/ 0 w 191"/>
                <a:gd name="T37" fmla="*/ 95 h 191"/>
                <a:gd name="T38" fmla="*/ 48 w 191"/>
                <a:gd name="T39" fmla="*/ 95 h 191"/>
                <a:gd name="T40" fmla="*/ 51 w 191"/>
                <a:gd name="T41" fmla="*/ 78 h 191"/>
                <a:gd name="T42" fmla="*/ 62 w 191"/>
                <a:gd name="T43" fmla="*/ 62 h 191"/>
                <a:gd name="T44" fmla="*/ 76 w 191"/>
                <a:gd name="T45" fmla="*/ 51 h 191"/>
                <a:gd name="T46" fmla="*/ 95 w 191"/>
                <a:gd name="T47" fmla="*/ 48 h 191"/>
                <a:gd name="T48" fmla="*/ 104 w 191"/>
                <a:gd name="T49" fmla="*/ 49 h 191"/>
                <a:gd name="T50" fmla="*/ 122 w 191"/>
                <a:gd name="T51" fmla="*/ 56 h 191"/>
                <a:gd name="T52" fmla="*/ 134 w 191"/>
                <a:gd name="T53" fmla="*/ 69 h 191"/>
                <a:gd name="T54" fmla="*/ 141 w 191"/>
                <a:gd name="T55" fmla="*/ 86 h 191"/>
                <a:gd name="T56" fmla="*/ 143 w 191"/>
                <a:gd name="T57" fmla="*/ 95 h 191"/>
                <a:gd name="T58" fmla="*/ 139 w 191"/>
                <a:gd name="T59" fmla="*/ 115 h 191"/>
                <a:gd name="T60" fmla="*/ 129 w 191"/>
                <a:gd name="T61" fmla="*/ 129 h 191"/>
                <a:gd name="T62" fmla="*/ 113 w 191"/>
                <a:gd name="T63" fmla="*/ 139 h 191"/>
                <a:gd name="T64" fmla="*/ 95 w 191"/>
                <a:gd name="T65" fmla="*/ 143 h 191"/>
                <a:gd name="T66" fmla="*/ 85 w 191"/>
                <a:gd name="T67" fmla="*/ 143 h 191"/>
                <a:gd name="T68" fmla="*/ 69 w 191"/>
                <a:gd name="T69" fmla="*/ 136 h 191"/>
                <a:gd name="T70" fmla="*/ 55 w 191"/>
                <a:gd name="T71" fmla="*/ 122 h 191"/>
                <a:gd name="T72" fmla="*/ 48 w 191"/>
                <a:gd name="T73" fmla="*/ 106 h 191"/>
                <a:gd name="T74" fmla="*/ 48 w 191"/>
                <a:gd name="T75" fmla="*/ 95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1" h="191">
                  <a:moveTo>
                    <a:pt x="0" y="95"/>
                  </a:moveTo>
                  <a:lnTo>
                    <a:pt x="0" y="95"/>
                  </a:lnTo>
                  <a:lnTo>
                    <a:pt x="2" y="115"/>
                  </a:lnTo>
                  <a:lnTo>
                    <a:pt x="7" y="132"/>
                  </a:lnTo>
                  <a:lnTo>
                    <a:pt x="16" y="148"/>
                  </a:lnTo>
                  <a:lnTo>
                    <a:pt x="28" y="162"/>
                  </a:lnTo>
                  <a:lnTo>
                    <a:pt x="42" y="175"/>
                  </a:lnTo>
                  <a:lnTo>
                    <a:pt x="58" y="183"/>
                  </a:lnTo>
                  <a:lnTo>
                    <a:pt x="76" y="189"/>
                  </a:lnTo>
                  <a:lnTo>
                    <a:pt x="95" y="191"/>
                  </a:lnTo>
                  <a:lnTo>
                    <a:pt x="95" y="191"/>
                  </a:lnTo>
                  <a:lnTo>
                    <a:pt x="115" y="189"/>
                  </a:lnTo>
                  <a:lnTo>
                    <a:pt x="132" y="183"/>
                  </a:lnTo>
                  <a:lnTo>
                    <a:pt x="148" y="175"/>
                  </a:lnTo>
                  <a:lnTo>
                    <a:pt x="162" y="162"/>
                  </a:lnTo>
                  <a:lnTo>
                    <a:pt x="175" y="148"/>
                  </a:lnTo>
                  <a:lnTo>
                    <a:pt x="184" y="132"/>
                  </a:lnTo>
                  <a:lnTo>
                    <a:pt x="189" y="115"/>
                  </a:lnTo>
                  <a:lnTo>
                    <a:pt x="191" y="95"/>
                  </a:lnTo>
                  <a:lnTo>
                    <a:pt x="191" y="95"/>
                  </a:lnTo>
                  <a:lnTo>
                    <a:pt x="189" y="76"/>
                  </a:lnTo>
                  <a:lnTo>
                    <a:pt x="184" y="58"/>
                  </a:lnTo>
                  <a:lnTo>
                    <a:pt x="175" y="42"/>
                  </a:lnTo>
                  <a:lnTo>
                    <a:pt x="162" y="28"/>
                  </a:lnTo>
                  <a:lnTo>
                    <a:pt x="148" y="16"/>
                  </a:lnTo>
                  <a:lnTo>
                    <a:pt x="132" y="7"/>
                  </a:lnTo>
                  <a:lnTo>
                    <a:pt x="115" y="2"/>
                  </a:lnTo>
                  <a:lnTo>
                    <a:pt x="95" y="0"/>
                  </a:lnTo>
                  <a:lnTo>
                    <a:pt x="95" y="0"/>
                  </a:lnTo>
                  <a:lnTo>
                    <a:pt x="76" y="2"/>
                  </a:lnTo>
                  <a:lnTo>
                    <a:pt x="58" y="7"/>
                  </a:lnTo>
                  <a:lnTo>
                    <a:pt x="42" y="16"/>
                  </a:lnTo>
                  <a:lnTo>
                    <a:pt x="28" y="28"/>
                  </a:lnTo>
                  <a:lnTo>
                    <a:pt x="16" y="42"/>
                  </a:lnTo>
                  <a:lnTo>
                    <a:pt x="7" y="58"/>
                  </a:lnTo>
                  <a:lnTo>
                    <a:pt x="2" y="76"/>
                  </a:lnTo>
                  <a:lnTo>
                    <a:pt x="0" y="95"/>
                  </a:lnTo>
                  <a:lnTo>
                    <a:pt x="0" y="95"/>
                  </a:lnTo>
                  <a:close/>
                  <a:moveTo>
                    <a:pt x="48" y="95"/>
                  </a:moveTo>
                  <a:lnTo>
                    <a:pt x="48" y="95"/>
                  </a:lnTo>
                  <a:lnTo>
                    <a:pt x="48" y="86"/>
                  </a:lnTo>
                  <a:lnTo>
                    <a:pt x="51" y="78"/>
                  </a:lnTo>
                  <a:lnTo>
                    <a:pt x="55" y="69"/>
                  </a:lnTo>
                  <a:lnTo>
                    <a:pt x="62" y="62"/>
                  </a:lnTo>
                  <a:lnTo>
                    <a:pt x="69" y="56"/>
                  </a:lnTo>
                  <a:lnTo>
                    <a:pt x="76" y="51"/>
                  </a:lnTo>
                  <a:lnTo>
                    <a:pt x="85" y="49"/>
                  </a:lnTo>
                  <a:lnTo>
                    <a:pt x="95" y="48"/>
                  </a:lnTo>
                  <a:lnTo>
                    <a:pt x="95" y="48"/>
                  </a:lnTo>
                  <a:lnTo>
                    <a:pt x="104" y="49"/>
                  </a:lnTo>
                  <a:lnTo>
                    <a:pt x="113" y="51"/>
                  </a:lnTo>
                  <a:lnTo>
                    <a:pt x="122" y="56"/>
                  </a:lnTo>
                  <a:lnTo>
                    <a:pt x="129" y="62"/>
                  </a:lnTo>
                  <a:lnTo>
                    <a:pt x="134" y="69"/>
                  </a:lnTo>
                  <a:lnTo>
                    <a:pt x="139" y="78"/>
                  </a:lnTo>
                  <a:lnTo>
                    <a:pt x="141" y="86"/>
                  </a:lnTo>
                  <a:lnTo>
                    <a:pt x="143" y="95"/>
                  </a:lnTo>
                  <a:lnTo>
                    <a:pt x="143" y="95"/>
                  </a:lnTo>
                  <a:lnTo>
                    <a:pt x="141" y="106"/>
                  </a:lnTo>
                  <a:lnTo>
                    <a:pt x="139" y="115"/>
                  </a:lnTo>
                  <a:lnTo>
                    <a:pt x="134" y="122"/>
                  </a:lnTo>
                  <a:lnTo>
                    <a:pt x="129" y="129"/>
                  </a:lnTo>
                  <a:lnTo>
                    <a:pt x="122" y="136"/>
                  </a:lnTo>
                  <a:lnTo>
                    <a:pt x="113" y="139"/>
                  </a:lnTo>
                  <a:lnTo>
                    <a:pt x="104" y="143"/>
                  </a:lnTo>
                  <a:lnTo>
                    <a:pt x="95" y="143"/>
                  </a:lnTo>
                  <a:lnTo>
                    <a:pt x="95" y="143"/>
                  </a:lnTo>
                  <a:lnTo>
                    <a:pt x="85" y="143"/>
                  </a:lnTo>
                  <a:lnTo>
                    <a:pt x="76" y="139"/>
                  </a:lnTo>
                  <a:lnTo>
                    <a:pt x="69" y="136"/>
                  </a:lnTo>
                  <a:lnTo>
                    <a:pt x="62" y="129"/>
                  </a:lnTo>
                  <a:lnTo>
                    <a:pt x="55" y="122"/>
                  </a:lnTo>
                  <a:lnTo>
                    <a:pt x="51" y="115"/>
                  </a:lnTo>
                  <a:lnTo>
                    <a:pt x="48" y="106"/>
                  </a:lnTo>
                  <a:lnTo>
                    <a:pt x="48" y="95"/>
                  </a:lnTo>
                  <a:lnTo>
                    <a:pt x="48"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20" name="Freeform 14"/>
            <p:cNvSpPr>
              <a:spLocks/>
            </p:cNvSpPr>
            <p:nvPr/>
          </p:nvSpPr>
          <p:spPr bwMode="auto">
            <a:xfrm>
              <a:off x="3356783" y="5925954"/>
              <a:ext cx="26831" cy="25713"/>
            </a:xfrm>
            <a:custGeom>
              <a:avLst/>
              <a:gdLst>
                <a:gd name="T0" fmla="*/ 24 w 47"/>
                <a:gd name="T1" fmla="*/ 0 h 48"/>
                <a:gd name="T2" fmla="*/ 24 w 47"/>
                <a:gd name="T3" fmla="*/ 0 h 48"/>
                <a:gd name="T4" fmla="*/ 33 w 47"/>
                <a:gd name="T5" fmla="*/ 2 h 48"/>
                <a:gd name="T6" fmla="*/ 40 w 47"/>
                <a:gd name="T7" fmla="*/ 7 h 48"/>
                <a:gd name="T8" fmla="*/ 45 w 47"/>
                <a:gd name="T9" fmla="*/ 14 h 48"/>
                <a:gd name="T10" fmla="*/ 47 w 47"/>
                <a:gd name="T11" fmla="*/ 23 h 48"/>
                <a:gd name="T12" fmla="*/ 47 w 47"/>
                <a:gd name="T13" fmla="*/ 23 h 48"/>
                <a:gd name="T14" fmla="*/ 45 w 47"/>
                <a:gd name="T15" fmla="*/ 32 h 48"/>
                <a:gd name="T16" fmla="*/ 40 w 47"/>
                <a:gd name="T17" fmla="*/ 41 h 48"/>
                <a:gd name="T18" fmla="*/ 33 w 47"/>
                <a:gd name="T19" fmla="*/ 46 h 48"/>
                <a:gd name="T20" fmla="*/ 24 w 47"/>
                <a:gd name="T21" fmla="*/ 48 h 48"/>
                <a:gd name="T22" fmla="*/ 24 w 47"/>
                <a:gd name="T23" fmla="*/ 48 h 48"/>
                <a:gd name="T24" fmla="*/ 15 w 47"/>
                <a:gd name="T25" fmla="*/ 46 h 48"/>
                <a:gd name="T26" fmla="*/ 7 w 47"/>
                <a:gd name="T27" fmla="*/ 41 h 48"/>
                <a:gd name="T28" fmla="*/ 1 w 47"/>
                <a:gd name="T29" fmla="*/ 32 h 48"/>
                <a:gd name="T30" fmla="*/ 0 w 47"/>
                <a:gd name="T31" fmla="*/ 23 h 48"/>
                <a:gd name="T32" fmla="*/ 0 w 47"/>
                <a:gd name="T33" fmla="*/ 23 h 48"/>
                <a:gd name="T34" fmla="*/ 1 w 47"/>
                <a:gd name="T35" fmla="*/ 14 h 48"/>
                <a:gd name="T36" fmla="*/ 7 w 47"/>
                <a:gd name="T37" fmla="*/ 7 h 48"/>
                <a:gd name="T38" fmla="*/ 15 w 47"/>
                <a:gd name="T39" fmla="*/ 2 h 48"/>
                <a:gd name="T40" fmla="*/ 24 w 47"/>
                <a:gd name="T41" fmla="*/ 0 h 48"/>
                <a:gd name="T42" fmla="*/ 24 w 47"/>
                <a:gd name="T4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7" h="48">
                  <a:moveTo>
                    <a:pt x="24" y="0"/>
                  </a:moveTo>
                  <a:lnTo>
                    <a:pt x="24" y="0"/>
                  </a:lnTo>
                  <a:lnTo>
                    <a:pt x="33" y="2"/>
                  </a:lnTo>
                  <a:lnTo>
                    <a:pt x="40" y="7"/>
                  </a:lnTo>
                  <a:lnTo>
                    <a:pt x="45" y="14"/>
                  </a:lnTo>
                  <a:lnTo>
                    <a:pt x="47" y="23"/>
                  </a:lnTo>
                  <a:lnTo>
                    <a:pt x="47" y="23"/>
                  </a:lnTo>
                  <a:lnTo>
                    <a:pt x="45" y="32"/>
                  </a:lnTo>
                  <a:lnTo>
                    <a:pt x="40" y="41"/>
                  </a:lnTo>
                  <a:lnTo>
                    <a:pt x="33" y="46"/>
                  </a:lnTo>
                  <a:lnTo>
                    <a:pt x="24" y="48"/>
                  </a:lnTo>
                  <a:lnTo>
                    <a:pt x="24" y="48"/>
                  </a:lnTo>
                  <a:lnTo>
                    <a:pt x="15" y="46"/>
                  </a:lnTo>
                  <a:lnTo>
                    <a:pt x="7" y="41"/>
                  </a:lnTo>
                  <a:lnTo>
                    <a:pt x="1" y="32"/>
                  </a:lnTo>
                  <a:lnTo>
                    <a:pt x="0" y="23"/>
                  </a:lnTo>
                  <a:lnTo>
                    <a:pt x="0" y="23"/>
                  </a:lnTo>
                  <a:lnTo>
                    <a:pt x="1" y="14"/>
                  </a:lnTo>
                  <a:lnTo>
                    <a:pt x="7" y="7"/>
                  </a:lnTo>
                  <a:lnTo>
                    <a:pt x="15" y="2"/>
                  </a:lnTo>
                  <a:lnTo>
                    <a:pt x="24" y="0"/>
                  </a:lnTo>
                  <a:lnTo>
                    <a:pt x="2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21" name="Freeform 15"/>
            <p:cNvSpPr>
              <a:spLocks/>
            </p:cNvSpPr>
            <p:nvPr/>
          </p:nvSpPr>
          <p:spPr bwMode="auto">
            <a:xfrm>
              <a:off x="3697759" y="5885708"/>
              <a:ext cx="44718" cy="101734"/>
            </a:xfrm>
            <a:custGeom>
              <a:avLst/>
              <a:gdLst>
                <a:gd name="T0" fmla="*/ 48 w 80"/>
                <a:gd name="T1" fmla="*/ 93 h 181"/>
                <a:gd name="T2" fmla="*/ 48 w 80"/>
                <a:gd name="T3" fmla="*/ 93 h 181"/>
                <a:gd name="T4" fmla="*/ 50 w 80"/>
                <a:gd name="T5" fmla="*/ 81 h 181"/>
                <a:gd name="T6" fmla="*/ 55 w 80"/>
                <a:gd name="T7" fmla="*/ 69 h 181"/>
                <a:gd name="T8" fmla="*/ 62 w 80"/>
                <a:gd name="T9" fmla="*/ 58 h 181"/>
                <a:gd name="T10" fmla="*/ 73 w 80"/>
                <a:gd name="T11" fmla="*/ 51 h 181"/>
                <a:gd name="T12" fmla="*/ 80 w 80"/>
                <a:gd name="T13" fmla="*/ 0 h 181"/>
                <a:gd name="T14" fmla="*/ 80 w 80"/>
                <a:gd name="T15" fmla="*/ 0 h 181"/>
                <a:gd name="T16" fmla="*/ 64 w 80"/>
                <a:gd name="T17" fmla="*/ 3 h 181"/>
                <a:gd name="T18" fmla="*/ 48 w 80"/>
                <a:gd name="T19" fmla="*/ 10 h 181"/>
                <a:gd name="T20" fmla="*/ 35 w 80"/>
                <a:gd name="T21" fmla="*/ 19 h 181"/>
                <a:gd name="T22" fmla="*/ 23 w 80"/>
                <a:gd name="T23" fmla="*/ 31 h 181"/>
                <a:gd name="T24" fmla="*/ 13 w 80"/>
                <a:gd name="T25" fmla="*/ 46 h 181"/>
                <a:gd name="T26" fmla="*/ 5 w 80"/>
                <a:gd name="T27" fmla="*/ 60 h 181"/>
                <a:gd name="T28" fmla="*/ 2 w 80"/>
                <a:gd name="T29" fmla="*/ 76 h 181"/>
                <a:gd name="T30" fmla="*/ 0 w 80"/>
                <a:gd name="T31" fmla="*/ 93 h 181"/>
                <a:gd name="T32" fmla="*/ 0 w 80"/>
                <a:gd name="T33" fmla="*/ 93 h 181"/>
                <a:gd name="T34" fmla="*/ 2 w 80"/>
                <a:gd name="T35" fmla="*/ 107 h 181"/>
                <a:gd name="T36" fmla="*/ 4 w 80"/>
                <a:gd name="T37" fmla="*/ 121 h 181"/>
                <a:gd name="T38" fmla="*/ 9 w 80"/>
                <a:gd name="T39" fmla="*/ 134 h 181"/>
                <a:gd name="T40" fmla="*/ 16 w 80"/>
                <a:gd name="T41" fmla="*/ 146 h 181"/>
                <a:gd name="T42" fmla="*/ 25 w 80"/>
                <a:gd name="T43" fmla="*/ 157 h 181"/>
                <a:gd name="T44" fmla="*/ 34 w 80"/>
                <a:gd name="T45" fmla="*/ 166 h 181"/>
                <a:gd name="T46" fmla="*/ 44 w 80"/>
                <a:gd name="T47" fmla="*/ 174 h 181"/>
                <a:gd name="T48" fmla="*/ 57 w 80"/>
                <a:gd name="T49" fmla="*/ 181 h 181"/>
                <a:gd name="T50" fmla="*/ 64 w 80"/>
                <a:gd name="T51" fmla="*/ 129 h 181"/>
                <a:gd name="T52" fmla="*/ 64 w 80"/>
                <a:gd name="T53" fmla="*/ 129 h 181"/>
                <a:gd name="T54" fmla="*/ 57 w 80"/>
                <a:gd name="T55" fmla="*/ 121 h 181"/>
                <a:gd name="T56" fmla="*/ 51 w 80"/>
                <a:gd name="T57" fmla="*/ 113 h 181"/>
                <a:gd name="T58" fmla="*/ 50 w 80"/>
                <a:gd name="T59" fmla="*/ 104 h 181"/>
                <a:gd name="T60" fmla="*/ 48 w 80"/>
                <a:gd name="T61" fmla="*/ 93 h 181"/>
                <a:gd name="T62" fmla="*/ 48 w 80"/>
                <a:gd name="T63" fmla="*/ 93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181">
                  <a:moveTo>
                    <a:pt x="48" y="93"/>
                  </a:moveTo>
                  <a:lnTo>
                    <a:pt x="48" y="93"/>
                  </a:lnTo>
                  <a:lnTo>
                    <a:pt x="50" y="81"/>
                  </a:lnTo>
                  <a:lnTo>
                    <a:pt x="55" y="69"/>
                  </a:lnTo>
                  <a:lnTo>
                    <a:pt x="62" y="58"/>
                  </a:lnTo>
                  <a:lnTo>
                    <a:pt x="73" y="51"/>
                  </a:lnTo>
                  <a:lnTo>
                    <a:pt x="80" y="0"/>
                  </a:lnTo>
                  <a:lnTo>
                    <a:pt x="80" y="0"/>
                  </a:lnTo>
                  <a:lnTo>
                    <a:pt x="64" y="3"/>
                  </a:lnTo>
                  <a:lnTo>
                    <a:pt x="48" y="10"/>
                  </a:lnTo>
                  <a:lnTo>
                    <a:pt x="35" y="19"/>
                  </a:lnTo>
                  <a:lnTo>
                    <a:pt x="23" y="31"/>
                  </a:lnTo>
                  <a:lnTo>
                    <a:pt x="13" y="46"/>
                  </a:lnTo>
                  <a:lnTo>
                    <a:pt x="5" y="60"/>
                  </a:lnTo>
                  <a:lnTo>
                    <a:pt x="2" y="76"/>
                  </a:lnTo>
                  <a:lnTo>
                    <a:pt x="0" y="93"/>
                  </a:lnTo>
                  <a:lnTo>
                    <a:pt x="0" y="93"/>
                  </a:lnTo>
                  <a:lnTo>
                    <a:pt x="2" y="107"/>
                  </a:lnTo>
                  <a:lnTo>
                    <a:pt x="4" y="121"/>
                  </a:lnTo>
                  <a:lnTo>
                    <a:pt x="9" y="134"/>
                  </a:lnTo>
                  <a:lnTo>
                    <a:pt x="16" y="146"/>
                  </a:lnTo>
                  <a:lnTo>
                    <a:pt x="25" y="157"/>
                  </a:lnTo>
                  <a:lnTo>
                    <a:pt x="34" y="166"/>
                  </a:lnTo>
                  <a:lnTo>
                    <a:pt x="44" y="174"/>
                  </a:lnTo>
                  <a:lnTo>
                    <a:pt x="57" y="181"/>
                  </a:lnTo>
                  <a:lnTo>
                    <a:pt x="64" y="129"/>
                  </a:lnTo>
                  <a:lnTo>
                    <a:pt x="64" y="129"/>
                  </a:lnTo>
                  <a:lnTo>
                    <a:pt x="57" y="121"/>
                  </a:lnTo>
                  <a:lnTo>
                    <a:pt x="51" y="113"/>
                  </a:lnTo>
                  <a:lnTo>
                    <a:pt x="50" y="104"/>
                  </a:lnTo>
                  <a:lnTo>
                    <a:pt x="48" y="93"/>
                  </a:lnTo>
                  <a:lnTo>
                    <a:pt x="48" y="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22" name="Freeform 16"/>
            <p:cNvSpPr>
              <a:spLocks noEditPoints="1"/>
            </p:cNvSpPr>
            <p:nvPr/>
          </p:nvSpPr>
          <p:spPr bwMode="auto">
            <a:xfrm>
              <a:off x="3476404" y="5884589"/>
              <a:ext cx="107324" cy="107324"/>
            </a:xfrm>
            <a:custGeom>
              <a:avLst/>
              <a:gdLst>
                <a:gd name="T0" fmla="*/ 0 w 190"/>
                <a:gd name="T1" fmla="*/ 95 h 191"/>
                <a:gd name="T2" fmla="*/ 7 w 190"/>
                <a:gd name="T3" fmla="*/ 132 h 191"/>
                <a:gd name="T4" fmla="*/ 28 w 190"/>
                <a:gd name="T5" fmla="*/ 162 h 191"/>
                <a:gd name="T6" fmla="*/ 58 w 190"/>
                <a:gd name="T7" fmla="*/ 183 h 191"/>
                <a:gd name="T8" fmla="*/ 95 w 190"/>
                <a:gd name="T9" fmla="*/ 191 h 191"/>
                <a:gd name="T10" fmla="*/ 115 w 190"/>
                <a:gd name="T11" fmla="*/ 189 h 191"/>
                <a:gd name="T12" fmla="*/ 148 w 190"/>
                <a:gd name="T13" fmla="*/ 175 h 191"/>
                <a:gd name="T14" fmla="*/ 175 w 190"/>
                <a:gd name="T15" fmla="*/ 148 h 191"/>
                <a:gd name="T16" fmla="*/ 189 w 190"/>
                <a:gd name="T17" fmla="*/ 115 h 191"/>
                <a:gd name="T18" fmla="*/ 190 w 190"/>
                <a:gd name="T19" fmla="*/ 95 h 191"/>
                <a:gd name="T20" fmla="*/ 183 w 190"/>
                <a:gd name="T21" fmla="*/ 58 h 191"/>
                <a:gd name="T22" fmla="*/ 162 w 190"/>
                <a:gd name="T23" fmla="*/ 28 h 191"/>
                <a:gd name="T24" fmla="*/ 132 w 190"/>
                <a:gd name="T25" fmla="*/ 7 h 191"/>
                <a:gd name="T26" fmla="*/ 95 w 190"/>
                <a:gd name="T27" fmla="*/ 0 h 191"/>
                <a:gd name="T28" fmla="*/ 76 w 190"/>
                <a:gd name="T29" fmla="*/ 2 h 191"/>
                <a:gd name="T30" fmla="*/ 42 w 190"/>
                <a:gd name="T31" fmla="*/ 16 h 191"/>
                <a:gd name="T32" fmla="*/ 16 w 190"/>
                <a:gd name="T33" fmla="*/ 42 h 191"/>
                <a:gd name="T34" fmla="*/ 2 w 190"/>
                <a:gd name="T35" fmla="*/ 76 h 191"/>
                <a:gd name="T36" fmla="*/ 0 w 190"/>
                <a:gd name="T37" fmla="*/ 95 h 191"/>
                <a:gd name="T38" fmla="*/ 48 w 190"/>
                <a:gd name="T39" fmla="*/ 95 h 191"/>
                <a:gd name="T40" fmla="*/ 51 w 190"/>
                <a:gd name="T41" fmla="*/ 78 h 191"/>
                <a:gd name="T42" fmla="*/ 62 w 190"/>
                <a:gd name="T43" fmla="*/ 62 h 191"/>
                <a:gd name="T44" fmla="*/ 76 w 190"/>
                <a:gd name="T45" fmla="*/ 51 h 191"/>
                <a:gd name="T46" fmla="*/ 95 w 190"/>
                <a:gd name="T47" fmla="*/ 48 h 191"/>
                <a:gd name="T48" fmla="*/ 104 w 190"/>
                <a:gd name="T49" fmla="*/ 49 h 191"/>
                <a:gd name="T50" fmla="*/ 122 w 190"/>
                <a:gd name="T51" fmla="*/ 56 h 191"/>
                <a:gd name="T52" fmla="*/ 134 w 190"/>
                <a:gd name="T53" fmla="*/ 69 h 191"/>
                <a:gd name="T54" fmla="*/ 141 w 190"/>
                <a:gd name="T55" fmla="*/ 86 h 191"/>
                <a:gd name="T56" fmla="*/ 143 w 190"/>
                <a:gd name="T57" fmla="*/ 95 h 191"/>
                <a:gd name="T58" fmla="*/ 139 w 190"/>
                <a:gd name="T59" fmla="*/ 115 h 191"/>
                <a:gd name="T60" fmla="*/ 129 w 190"/>
                <a:gd name="T61" fmla="*/ 129 h 191"/>
                <a:gd name="T62" fmla="*/ 113 w 190"/>
                <a:gd name="T63" fmla="*/ 139 h 191"/>
                <a:gd name="T64" fmla="*/ 95 w 190"/>
                <a:gd name="T65" fmla="*/ 143 h 191"/>
                <a:gd name="T66" fmla="*/ 85 w 190"/>
                <a:gd name="T67" fmla="*/ 143 h 191"/>
                <a:gd name="T68" fmla="*/ 69 w 190"/>
                <a:gd name="T69" fmla="*/ 136 h 191"/>
                <a:gd name="T70" fmla="*/ 55 w 190"/>
                <a:gd name="T71" fmla="*/ 122 h 191"/>
                <a:gd name="T72" fmla="*/ 48 w 190"/>
                <a:gd name="T73" fmla="*/ 106 h 191"/>
                <a:gd name="T74" fmla="*/ 48 w 190"/>
                <a:gd name="T75" fmla="*/ 95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0" h="191">
                  <a:moveTo>
                    <a:pt x="0" y="95"/>
                  </a:moveTo>
                  <a:lnTo>
                    <a:pt x="0" y="95"/>
                  </a:lnTo>
                  <a:lnTo>
                    <a:pt x="2" y="115"/>
                  </a:lnTo>
                  <a:lnTo>
                    <a:pt x="7" y="132"/>
                  </a:lnTo>
                  <a:lnTo>
                    <a:pt x="16" y="148"/>
                  </a:lnTo>
                  <a:lnTo>
                    <a:pt x="28" y="162"/>
                  </a:lnTo>
                  <a:lnTo>
                    <a:pt x="42" y="175"/>
                  </a:lnTo>
                  <a:lnTo>
                    <a:pt x="58" y="183"/>
                  </a:lnTo>
                  <a:lnTo>
                    <a:pt x="76" y="189"/>
                  </a:lnTo>
                  <a:lnTo>
                    <a:pt x="95" y="191"/>
                  </a:lnTo>
                  <a:lnTo>
                    <a:pt x="95" y="191"/>
                  </a:lnTo>
                  <a:lnTo>
                    <a:pt x="115" y="189"/>
                  </a:lnTo>
                  <a:lnTo>
                    <a:pt x="132" y="183"/>
                  </a:lnTo>
                  <a:lnTo>
                    <a:pt x="148" y="175"/>
                  </a:lnTo>
                  <a:lnTo>
                    <a:pt x="162" y="162"/>
                  </a:lnTo>
                  <a:lnTo>
                    <a:pt x="175" y="148"/>
                  </a:lnTo>
                  <a:lnTo>
                    <a:pt x="183" y="132"/>
                  </a:lnTo>
                  <a:lnTo>
                    <a:pt x="189" y="115"/>
                  </a:lnTo>
                  <a:lnTo>
                    <a:pt x="190" y="95"/>
                  </a:lnTo>
                  <a:lnTo>
                    <a:pt x="190" y="95"/>
                  </a:lnTo>
                  <a:lnTo>
                    <a:pt x="189" y="76"/>
                  </a:lnTo>
                  <a:lnTo>
                    <a:pt x="183" y="58"/>
                  </a:lnTo>
                  <a:lnTo>
                    <a:pt x="175" y="42"/>
                  </a:lnTo>
                  <a:lnTo>
                    <a:pt x="162" y="28"/>
                  </a:lnTo>
                  <a:lnTo>
                    <a:pt x="148" y="16"/>
                  </a:lnTo>
                  <a:lnTo>
                    <a:pt x="132" y="7"/>
                  </a:lnTo>
                  <a:lnTo>
                    <a:pt x="115" y="2"/>
                  </a:lnTo>
                  <a:lnTo>
                    <a:pt x="95" y="0"/>
                  </a:lnTo>
                  <a:lnTo>
                    <a:pt x="95" y="0"/>
                  </a:lnTo>
                  <a:lnTo>
                    <a:pt x="76" y="2"/>
                  </a:lnTo>
                  <a:lnTo>
                    <a:pt x="58" y="7"/>
                  </a:lnTo>
                  <a:lnTo>
                    <a:pt x="42" y="16"/>
                  </a:lnTo>
                  <a:lnTo>
                    <a:pt x="28" y="28"/>
                  </a:lnTo>
                  <a:lnTo>
                    <a:pt x="16" y="42"/>
                  </a:lnTo>
                  <a:lnTo>
                    <a:pt x="7" y="58"/>
                  </a:lnTo>
                  <a:lnTo>
                    <a:pt x="2" y="76"/>
                  </a:lnTo>
                  <a:lnTo>
                    <a:pt x="0" y="95"/>
                  </a:lnTo>
                  <a:lnTo>
                    <a:pt x="0" y="95"/>
                  </a:lnTo>
                  <a:close/>
                  <a:moveTo>
                    <a:pt x="48" y="95"/>
                  </a:moveTo>
                  <a:lnTo>
                    <a:pt x="48" y="95"/>
                  </a:lnTo>
                  <a:lnTo>
                    <a:pt x="48" y="86"/>
                  </a:lnTo>
                  <a:lnTo>
                    <a:pt x="51" y="78"/>
                  </a:lnTo>
                  <a:lnTo>
                    <a:pt x="55" y="69"/>
                  </a:lnTo>
                  <a:lnTo>
                    <a:pt x="62" y="62"/>
                  </a:lnTo>
                  <a:lnTo>
                    <a:pt x="69" y="56"/>
                  </a:lnTo>
                  <a:lnTo>
                    <a:pt x="76" y="51"/>
                  </a:lnTo>
                  <a:lnTo>
                    <a:pt x="85" y="49"/>
                  </a:lnTo>
                  <a:lnTo>
                    <a:pt x="95" y="48"/>
                  </a:lnTo>
                  <a:lnTo>
                    <a:pt x="95" y="48"/>
                  </a:lnTo>
                  <a:lnTo>
                    <a:pt x="104" y="49"/>
                  </a:lnTo>
                  <a:lnTo>
                    <a:pt x="113" y="51"/>
                  </a:lnTo>
                  <a:lnTo>
                    <a:pt x="122" y="56"/>
                  </a:lnTo>
                  <a:lnTo>
                    <a:pt x="129" y="62"/>
                  </a:lnTo>
                  <a:lnTo>
                    <a:pt x="134" y="69"/>
                  </a:lnTo>
                  <a:lnTo>
                    <a:pt x="139" y="78"/>
                  </a:lnTo>
                  <a:lnTo>
                    <a:pt x="141" y="86"/>
                  </a:lnTo>
                  <a:lnTo>
                    <a:pt x="143" y="95"/>
                  </a:lnTo>
                  <a:lnTo>
                    <a:pt x="143" y="95"/>
                  </a:lnTo>
                  <a:lnTo>
                    <a:pt x="141" y="106"/>
                  </a:lnTo>
                  <a:lnTo>
                    <a:pt x="139" y="115"/>
                  </a:lnTo>
                  <a:lnTo>
                    <a:pt x="134" y="122"/>
                  </a:lnTo>
                  <a:lnTo>
                    <a:pt x="129" y="129"/>
                  </a:lnTo>
                  <a:lnTo>
                    <a:pt x="122" y="136"/>
                  </a:lnTo>
                  <a:lnTo>
                    <a:pt x="113" y="139"/>
                  </a:lnTo>
                  <a:lnTo>
                    <a:pt x="104" y="143"/>
                  </a:lnTo>
                  <a:lnTo>
                    <a:pt x="95" y="143"/>
                  </a:lnTo>
                  <a:lnTo>
                    <a:pt x="95" y="143"/>
                  </a:lnTo>
                  <a:lnTo>
                    <a:pt x="85" y="143"/>
                  </a:lnTo>
                  <a:lnTo>
                    <a:pt x="76" y="139"/>
                  </a:lnTo>
                  <a:lnTo>
                    <a:pt x="69" y="136"/>
                  </a:lnTo>
                  <a:lnTo>
                    <a:pt x="62" y="129"/>
                  </a:lnTo>
                  <a:lnTo>
                    <a:pt x="55" y="122"/>
                  </a:lnTo>
                  <a:lnTo>
                    <a:pt x="51" y="115"/>
                  </a:lnTo>
                  <a:lnTo>
                    <a:pt x="48" y="106"/>
                  </a:lnTo>
                  <a:lnTo>
                    <a:pt x="48" y="95"/>
                  </a:lnTo>
                  <a:lnTo>
                    <a:pt x="48"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23" name="Freeform 17"/>
            <p:cNvSpPr>
              <a:spLocks/>
            </p:cNvSpPr>
            <p:nvPr/>
          </p:nvSpPr>
          <p:spPr bwMode="auto">
            <a:xfrm>
              <a:off x="3516650" y="5925954"/>
              <a:ext cx="26831" cy="25713"/>
            </a:xfrm>
            <a:custGeom>
              <a:avLst/>
              <a:gdLst>
                <a:gd name="T0" fmla="*/ 25 w 48"/>
                <a:gd name="T1" fmla="*/ 0 h 48"/>
                <a:gd name="T2" fmla="*/ 25 w 48"/>
                <a:gd name="T3" fmla="*/ 0 h 48"/>
                <a:gd name="T4" fmla="*/ 34 w 48"/>
                <a:gd name="T5" fmla="*/ 2 h 48"/>
                <a:gd name="T6" fmla="*/ 41 w 48"/>
                <a:gd name="T7" fmla="*/ 7 h 48"/>
                <a:gd name="T8" fmla="*/ 46 w 48"/>
                <a:gd name="T9" fmla="*/ 14 h 48"/>
                <a:gd name="T10" fmla="*/ 48 w 48"/>
                <a:gd name="T11" fmla="*/ 23 h 48"/>
                <a:gd name="T12" fmla="*/ 48 w 48"/>
                <a:gd name="T13" fmla="*/ 23 h 48"/>
                <a:gd name="T14" fmla="*/ 46 w 48"/>
                <a:gd name="T15" fmla="*/ 32 h 48"/>
                <a:gd name="T16" fmla="*/ 41 w 48"/>
                <a:gd name="T17" fmla="*/ 41 h 48"/>
                <a:gd name="T18" fmla="*/ 34 w 48"/>
                <a:gd name="T19" fmla="*/ 46 h 48"/>
                <a:gd name="T20" fmla="*/ 25 w 48"/>
                <a:gd name="T21" fmla="*/ 48 h 48"/>
                <a:gd name="T22" fmla="*/ 25 w 48"/>
                <a:gd name="T23" fmla="*/ 48 h 48"/>
                <a:gd name="T24" fmla="*/ 16 w 48"/>
                <a:gd name="T25" fmla="*/ 46 h 48"/>
                <a:gd name="T26" fmla="*/ 8 w 48"/>
                <a:gd name="T27" fmla="*/ 41 h 48"/>
                <a:gd name="T28" fmla="*/ 2 w 48"/>
                <a:gd name="T29" fmla="*/ 32 h 48"/>
                <a:gd name="T30" fmla="*/ 0 w 48"/>
                <a:gd name="T31" fmla="*/ 23 h 48"/>
                <a:gd name="T32" fmla="*/ 0 w 48"/>
                <a:gd name="T33" fmla="*/ 23 h 48"/>
                <a:gd name="T34" fmla="*/ 2 w 48"/>
                <a:gd name="T35" fmla="*/ 14 h 48"/>
                <a:gd name="T36" fmla="*/ 8 w 48"/>
                <a:gd name="T37" fmla="*/ 7 h 48"/>
                <a:gd name="T38" fmla="*/ 16 w 48"/>
                <a:gd name="T39" fmla="*/ 2 h 48"/>
                <a:gd name="T40" fmla="*/ 25 w 48"/>
                <a:gd name="T41" fmla="*/ 0 h 48"/>
                <a:gd name="T42" fmla="*/ 25 w 48"/>
                <a:gd name="T4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 h="48">
                  <a:moveTo>
                    <a:pt x="25" y="0"/>
                  </a:moveTo>
                  <a:lnTo>
                    <a:pt x="25" y="0"/>
                  </a:lnTo>
                  <a:lnTo>
                    <a:pt x="34" y="2"/>
                  </a:lnTo>
                  <a:lnTo>
                    <a:pt x="41" y="7"/>
                  </a:lnTo>
                  <a:lnTo>
                    <a:pt x="46" y="14"/>
                  </a:lnTo>
                  <a:lnTo>
                    <a:pt x="48" y="23"/>
                  </a:lnTo>
                  <a:lnTo>
                    <a:pt x="48" y="23"/>
                  </a:lnTo>
                  <a:lnTo>
                    <a:pt x="46" y="32"/>
                  </a:lnTo>
                  <a:lnTo>
                    <a:pt x="41" y="41"/>
                  </a:lnTo>
                  <a:lnTo>
                    <a:pt x="34" y="46"/>
                  </a:lnTo>
                  <a:lnTo>
                    <a:pt x="25" y="48"/>
                  </a:lnTo>
                  <a:lnTo>
                    <a:pt x="25" y="48"/>
                  </a:lnTo>
                  <a:lnTo>
                    <a:pt x="16" y="46"/>
                  </a:lnTo>
                  <a:lnTo>
                    <a:pt x="8" y="41"/>
                  </a:lnTo>
                  <a:lnTo>
                    <a:pt x="2" y="32"/>
                  </a:lnTo>
                  <a:lnTo>
                    <a:pt x="0" y="23"/>
                  </a:lnTo>
                  <a:lnTo>
                    <a:pt x="0" y="23"/>
                  </a:lnTo>
                  <a:lnTo>
                    <a:pt x="2" y="14"/>
                  </a:lnTo>
                  <a:lnTo>
                    <a:pt x="8" y="7"/>
                  </a:lnTo>
                  <a:lnTo>
                    <a:pt x="16" y="2"/>
                  </a:lnTo>
                  <a:lnTo>
                    <a:pt x="25" y="0"/>
                  </a:lnTo>
                  <a:lnTo>
                    <a:pt x="2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grpSp>
      <p:sp>
        <p:nvSpPr>
          <p:cNvPr id="124" name="Rounded Rectangle 123"/>
          <p:cNvSpPr/>
          <p:nvPr/>
        </p:nvSpPr>
        <p:spPr bwMode="gray">
          <a:xfrm>
            <a:off x="423860" y="1664182"/>
            <a:ext cx="2848599" cy="1034844"/>
          </a:xfrm>
          <a:prstGeom prst="roundRect">
            <a:avLst/>
          </a:prstGeom>
          <a:noFill/>
          <a:ln w="28575" algn="ctr">
            <a:solidFill>
              <a:srgbClr val="01216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200" b="1" dirty="0">
              <a:solidFill>
                <a:schemeClr val="bg1"/>
              </a:solidFill>
            </a:endParaRPr>
          </a:p>
        </p:txBody>
      </p:sp>
      <p:sp>
        <p:nvSpPr>
          <p:cNvPr id="125" name="Freeform 124"/>
          <p:cNvSpPr>
            <a:spLocks noEditPoints="1"/>
          </p:cNvSpPr>
          <p:nvPr/>
        </p:nvSpPr>
        <p:spPr bwMode="auto">
          <a:xfrm>
            <a:off x="492688" y="2295226"/>
            <a:ext cx="186203" cy="203797"/>
          </a:xfrm>
          <a:custGeom>
            <a:avLst/>
            <a:gdLst>
              <a:gd name="T0" fmla="*/ 0 w 131"/>
              <a:gd name="T1" fmla="*/ 78 h 111"/>
              <a:gd name="T2" fmla="*/ 0 w 131"/>
              <a:gd name="T3" fmla="*/ 84 h 111"/>
              <a:gd name="T4" fmla="*/ 47 w 131"/>
              <a:gd name="T5" fmla="*/ 111 h 111"/>
              <a:gd name="T6" fmla="*/ 82 w 131"/>
              <a:gd name="T7" fmla="*/ 91 h 111"/>
              <a:gd name="T8" fmla="*/ 82 w 131"/>
              <a:gd name="T9" fmla="*/ 85 h 111"/>
              <a:gd name="T10" fmla="*/ 47 w 131"/>
              <a:gd name="T11" fmla="*/ 105 h 111"/>
              <a:gd name="T12" fmla="*/ 0 w 131"/>
              <a:gd name="T13" fmla="*/ 78 h 111"/>
              <a:gd name="T14" fmla="*/ 0 w 131"/>
              <a:gd name="T15" fmla="*/ 67 h 111"/>
              <a:gd name="T16" fmla="*/ 0 w 131"/>
              <a:gd name="T17" fmla="*/ 72 h 111"/>
              <a:gd name="T18" fmla="*/ 47 w 131"/>
              <a:gd name="T19" fmla="*/ 99 h 111"/>
              <a:gd name="T20" fmla="*/ 82 w 131"/>
              <a:gd name="T21" fmla="*/ 79 h 111"/>
              <a:gd name="T22" fmla="*/ 82 w 131"/>
              <a:gd name="T23" fmla="*/ 74 h 111"/>
              <a:gd name="T24" fmla="*/ 47 w 131"/>
              <a:gd name="T25" fmla="*/ 94 h 111"/>
              <a:gd name="T26" fmla="*/ 0 w 131"/>
              <a:gd name="T27" fmla="*/ 67 h 111"/>
              <a:gd name="T28" fmla="*/ 102 w 131"/>
              <a:gd name="T29" fmla="*/ 43 h 111"/>
              <a:gd name="T30" fmla="*/ 131 w 131"/>
              <a:gd name="T31" fmla="*/ 27 h 111"/>
              <a:gd name="T32" fmla="*/ 84 w 131"/>
              <a:gd name="T33" fmla="*/ 0 h 111"/>
              <a:gd name="T34" fmla="*/ 55 w 131"/>
              <a:gd name="T35" fmla="*/ 16 h 111"/>
              <a:gd name="T36" fmla="*/ 102 w 131"/>
              <a:gd name="T37" fmla="*/ 43 h 111"/>
              <a:gd name="T38" fmla="*/ 0 w 131"/>
              <a:gd name="T39" fmla="*/ 55 h 111"/>
              <a:gd name="T40" fmla="*/ 0 w 131"/>
              <a:gd name="T41" fmla="*/ 61 h 111"/>
              <a:gd name="T42" fmla="*/ 47 w 131"/>
              <a:gd name="T43" fmla="*/ 88 h 111"/>
              <a:gd name="T44" fmla="*/ 82 w 131"/>
              <a:gd name="T45" fmla="*/ 68 h 111"/>
              <a:gd name="T46" fmla="*/ 82 w 131"/>
              <a:gd name="T47" fmla="*/ 62 h 111"/>
              <a:gd name="T48" fmla="*/ 47 w 131"/>
              <a:gd name="T49" fmla="*/ 82 h 111"/>
              <a:gd name="T50" fmla="*/ 0 w 131"/>
              <a:gd name="T51" fmla="*/ 55 h 111"/>
              <a:gd name="T52" fmla="*/ 102 w 131"/>
              <a:gd name="T53" fmla="*/ 56 h 111"/>
              <a:gd name="T54" fmla="*/ 131 w 131"/>
              <a:gd name="T55" fmla="*/ 39 h 111"/>
              <a:gd name="T56" fmla="*/ 131 w 131"/>
              <a:gd name="T57" fmla="*/ 34 h 111"/>
              <a:gd name="T58" fmla="*/ 102 w 131"/>
              <a:gd name="T59" fmla="*/ 50 h 111"/>
              <a:gd name="T60" fmla="*/ 102 w 131"/>
              <a:gd name="T61" fmla="*/ 56 h 111"/>
              <a:gd name="T62" fmla="*/ 102 w 131"/>
              <a:gd name="T63" fmla="*/ 79 h 111"/>
              <a:gd name="T64" fmla="*/ 131 w 131"/>
              <a:gd name="T65" fmla="*/ 63 h 111"/>
              <a:gd name="T66" fmla="*/ 131 w 131"/>
              <a:gd name="T67" fmla="*/ 57 h 111"/>
              <a:gd name="T68" fmla="*/ 102 w 131"/>
              <a:gd name="T69" fmla="*/ 74 h 111"/>
              <a:gd name="T70" fmla="*/ 102 w 131"/>
              <a:gd name="T71" fmla="*/ 79 h 111"/>
              <a:gd name="T72" fmla="*/ 102 w 131"/>
              <a:gd name="T73" fmla="*/ 68 h 111"/>
              <a:gd name="T74" fmla="*/ 131 w 131"/>
              <a:gd name="T75" fmla="*/ 51 h 111"/>
              <a:gd name="T76" fmla="*/ 131 w 131"/>
              <a:gd name="T77" fmla="*/ 45 h 111"/>
              <a:gd name="T78" fmla="*/ 102 w 131"/>
              <a:gd name="T79" fmla="*/ 62 h 111"/>
              <a:gd name="T80" fmla="*/ 102 w 131"/>
              <a:gd name="T81" fmla="*/ 68 h 111"/>
              <a:gd name="T82" fmla="*/ 38 w 131"/>
              <a:gd name="T83" fmla="*/ 26 h 111"/>
              <a:gd name="T84" fmla="*/ 85 w 131"/>
              <a:gd name="T85" fmla="*/ 53 h 111"/>
              <a:gd name="T86" fmla="*/ 85 w 131"/>
              <a:gd name="T87" fmla="*/ 89 h 111"/>
              <a:gd name="T88" fmla="*/ 99 w 131"/>
              <a:gd name="T89" fmla="*/ 81 h 111"/>
              <a:gd name="T90" fmla="*/ 99 w 131"/>
              <a:gd name="T91" fmla="*/ 45 h 111"/>
              <a:gd name="T92" fmla="*/ 52 w 131"/>
              <a:gd name="T93" fmla="*/ 18 h 111"/>
              <a:gd name="T94" fmla="*/ 38 w 131"/>
              <a:gd name="T95" fmla="*/ 26 h 111"/>
              <a:gd name="T96" fmla="*/ 52 w 131"/>
              <a:gd name="T97" fmla="*/ 45 h 111"/>
              <a:gd name="T98" fmla="*/ 46 w 131"/>
              <a:gd name="T99" fmla="*/ 34 h 111"/>
              <a:gd name="T100" fmla="*/ 35 w 131"/>
              <a:gd name="T101" fmla="*/ 28 h 111"/>
              <a:gd name="T102" fmla="*/ 0 w 131"/>
              <a:gd name="T103" fmla="*/ 48 h 111"/>
              <a:gd name="T104" fmla="*/ 47 w 131"/>
              <a:gd name="T105" fmla="*/ 75 h 111"/>
              <a:gd name="T106" fmla="*/ 82 w 131"/>
              <a:gd name="T107" fmla="*/ 55 h 111"/>
              <a:gd name="T108" fmla="*/ 71 w 131"/>
              <a:gd name="T109" fmla="*/ 49 h 111"/>
              <a:gd name="T110" fmla="*/ 52 w 131"/>
              <a:gd name="T111" fmla="*/ 4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31" h="111">
                <a:moveTo>
                  <a:pt x="0" y="78"/>
                </a:moveTo>
                <a:cubicBezTo>
                  <a:pt x="0" y="84"/>
                  <a:pt x="0" y="84"/>
                  <a:pt x="0" y="84"/>
                </a:cubicBezTo>
                <a:cubicBezTo>
                  <a:pt x="47" y="111"/>
                  <a:pt x="47" y="111"/>
                  <a:pt x="47" y="111"/>
                </a:cubicBezTo>
                <a:cubicBezTo>
                  <a:pt x="82" y="91"/>
                  <a:pt x="82" y="91"/>
                  <a:pt x="82" y="91"/>
                </a:cubicBezTo>
                <a:cubicBezTo>
                  <a:pt x="82" y="85"/>
                  <a:pt x="82" y="85"/>
                  <a:pt x="82" y="85"/>
                </a:cubicBezTo>
                <a:cubicBezTo>
                  <a:pt x="47" y="105"/>
                  <a:pt x="47" y="105"/>
                  <a:pt x="47" y="105"/>
                </a:cubicBezTo>
                <a:lnTo>
                  <a:pt x="0" y="78"/>
                </a:lnTo>
                <a:close/>
                <a:moveTo>
                  <a:pt x="0" y="67"/>
                </a:moveTo>
                <a:cubicBezTo>
                  <a:pt x="0" y="72"/>
                  <a:pt x="0" y="72"/>
                  <a:pt x="0" y="72"/>
                </a:cubicBezTo>
                <a:cubicBezTo>
                  <a:pt x="47" y="99"/>
                  <a:pt x="47" y="99"/>
                  <a:pt x="47" y="99"/>
                </a:cubicBezTo>
                <a:cubicBezTo>
                  <a:pt x="82" y="79"/>
                  <a:pt x="82" y="79"/>
                  <a:pt x="82" y="79"/>
                </a:cubicBezTo>
                <a:cubicBezTo>
                  <a:pt x="82" y="74"/>
                  <a:pt x="82" y="74"/>
                  <a:pt x="82" y="74"/>
                </a:cubicBezTo>
                <a:cubicBezTo>
                  <a:pt x="47" y="94"/>
                  <a:pt x="47" y="94"/>
                  <a:pt x="47" y="94"/>
                </a:cubicBezTo>
                <a:lnTo>
                  <a:pt x="0" y="67"/>
                </a:lnTo>
                <a:close/>
                <a:moveTo>
                  <a:pt x="102" y="43"/>
                </a:moveTo>
                <a:cubicBezTo>
                  <a:pt x="131" y="27"/>
                  <a:pt x="131" y="27"/>
                  <a:pt x="131" y="27"/>
                </a:cubicBezTo>
                <a:cubicBezTo>
                  <a:pt x="84" y="0"/>
                  <a:pt x="84" y="0"/>
                  <a:pt x="84" y="0"/>
                </a:cubicBezTo>
                <a:cubicBezTo>
                  <a:pt x="55" y="16"/>
                  <a:pt x="55" y="16"/>
                  <a:pt x="55" y="16"/>
                </a:cubicBezTo>
                <a:cubicBezTo>
                  <a:pt x="102" y="43"/>
                  <a:pt x="102" y="43"/>
                  <a:pt x="102" y="43"/>
                </a:cubicBezTo>
                <a:close/>
                <a:moveTo>
                  <a:pt x="0" y="55"/>
                </a:moveTo>
                <a:cubicBezTo>
                  <a:pt x="0" y="61"/>
                  <a:pt x="0" y="61"/>
                  <a:pt x="0" y="61"/>
                </a:cubicBezTo>
                <a:cubicBezTo>
                  <a:pt x="47" y="88"/>
                  <a:pt x="47" y="88"/>
                  <a:pt x="47" y="88"/>
                </a:cubicBezTo>
                <a:cubicBezTo>
                  <a:pt x="82" y="68"/>
                  <a:pt x="82" y="68"/>
                  <a:pt x="82" y="68"/>
                </a:cubicBezTo>
                <a:cubicBezTo>
                  <a:pt x="82" y="62"/>
                  <a:pt x="82" y="62"/>
                  <a:pt x="82" y="62"/>
                </a:cubicBezTo>
                <a:cubicBezTo>
                  <a:pt x="47" y="82"/>
                  <a:pt x="47" y="82"/>
                  <a:pt x="47" y="82"/>
                </a:cubicBezTo>
                <a:lnTo>
                  <a:pt x="0" y="55"/>
                </a:lnTo>
                <a:close/>
                <a:moveTo>
                  <a:pt x="102" y="56"/>
                </a:moveTo>
                <a:cubicBezTo>
                  <a:pt x="131" y="39"/>
                  <a:pt x="131" y="39"/>
                  <a:pt x="131" y="39"/>
                </a:cubicBezTo>
                <a:cubicBezTo>
                  <a:pt x="131" y="34"/>
                  <a:pt x="131" y="34"/>
                  <a:pt x="131" y="34"/>
                </a:cubicBezTo>
                <a:cubicBezTo>
                  <a:pt x="102" y="50"/>
                  <a:pt x="102" y="50"/>
                  <a:pt x="102" y="50"/>
                </a:cubicBezTo>
                <a:lnTo>
                  <a:pt x="102" y="56"/>
                </a:lnTo>
                <a:close/>
                <a:moveTo>
                  <a:pt x="102" y="79"/>
                </a:moveTo>
                <a:cubicBezTo>
                  <a:pt x="131" y="63"/>
                  <a:pt x="131" y="63"/>
                  <a:pt x="131" y="63"/>
                </a:cubicBezTo>
                <a:cubicBezTo>
                  <a:pt x="131" y="57"/>
                  <a:pt x="131" y="57"/>
                  <a:pt x="131" y="57"/>
                </a:cubicBezTo>
                <a:cubicBezTo>
                  <a:pt x="102" y="74"/>
                  <a:pt x="102" y="74"/>
                  <a:pt x="102" y="74"/>
                </a:cubicBezTo>
                <a:lnTo>
                  <a:pt x="102" y="79"/>
                </a:lnTo>
                <a:close/>
                <a:moveTo>
                  <a:pt x="102" y="68"/>
                </a:moveTo>
                <a:cubicBezTo>
                  <a:pt x="131" y="51"/>
                  <a:pt x="131" y="51"/>
                  <a:pt x="131" y="51"/>
                </a:cubicBezTo>
                <a:cubicBezTo>
                  <a:pt x="131" y="45"/>
                  <a:pt x="131" y="45"/>
                  <a:pt x="131" y="45"/>
                </a:cubicBezTo>
                <a:cubicBezTo>
                  <a:pt x="102" y="62"/>
                  <a:pt x="102" y="62"/>
                  <a:pt x="102" y="62"/>
                </a:cubicBezTo>
                <a:lnTo>
                  <a:pt x="102" y="68"/>
                </a:lnTo>
                <a:close/>
                <a:moveTo>
                  <a:pt x="38" y="26"/>
                </a:moveTo>
                <a:cubicBezTo>
                  <a:pt x="85" y="53"/>
                  <a:pt x="85" y="53"/>
                  <a:pt x="85" y="53"/>
                </a:cubicBezTo>
                <a:cubicBezTo>
                  <a:pt x="85" y="89"/>
                  <a:pt x="85" y="89"/>
                  <a:pt x="85" y="89"/>
                </a:cubicBezTo>
                <a:cubicBezTo>
                  <a:pt x="99" y="81"/>
                  <a:pt x="99" y="81"/>
                  <a:pt x="99" y="81"/>
                </a:cubicBezTo>
                <a:cubicBezTo>
                  <a:pt x="99" y="45"/>
                  <a:pt x="99" y="45"/>
                  <a:pt x="99" y="45"/>
                </a:cubicBezTo>
                <a:cubicBezTo>
                  <a:pt x="52" y="18"/>
                  <a:pt x="52" y="18"/>
                  <a:pt x="52" y="18"/>
                </a:cubicBezTo>
                <a:lnTo>
                  <a:pt x="38" y="26"/>
                </a:lnTo>
                <a:close/>
                <a:moveTo>
                  <a:pt x="52" y="45"/>
                </a:moveTo>
                <a:cubicBezTo>
                  <a:pt x="47" y="42"/>
                  <a:pt x="45" y="38"/>
                  <a:pt x="46" y="34"/>
                </a:cubicBezTo>
                <a:cubicBezTo>
                  <a:pt x="35" y="28"/>
                  <a:pt x="35" y="28"/>
                  <a:pt x="35" y="28"/>
                </a:cubicBezTo>
                <a:cubicBezTo>
                  <a:pt x="0" y="48"/>
                  <a:pt x="0" y="48"/>
                  <a:pt x="0" y="48"/>
                </a:cubicBezTo>
                <a:cubicBezTo>
                  <a:pt x="47" y="75"/>
                  <a:pt x="47" y="75"/>
                  <a:pt x="47" y="75"/>
                </a:cubicBezTo>
                <a:cubicBezTo>
                  <a:pt x="82" y="55"/>
                  <a:pt x="82" y="55"/>
                  <a:pt x="82" y="55"/>
                </a:cubicBezTo>
                <a:cubicBezTo>
                  <a:pt x="71" y="49"/>
                  <a:pt x="71" y="49"/>
                  <a:pt x="71" y="49"/>
                </a:cubicBezTo>
                <a:cubicBezTo>
                  <a:pt x="65" y="49"/>
                  <a:pt x="58" y="48"/>
                  <a:pt x="52" y="45"/>
                </a:cubicBezTo>
                <a:close/>
              </a:path>
            </a:pathLst>
          </a:custGeom>
          <a:solidFill>
            <a:srgbClr val="009A44"/>
          </a:solidFill>
          <a:ln>
            <a:noFill/>
          </a:ln>
        </p:spPr>
        <p:txBody>
          <a:bodyPr vert="horz" wrap="square" lIns="91440" tIns="45720" rIns="91440" bIns="45720" numCol="1" anchor="t" anchorCtr="0" compatLnSpc="1">
            <a:prstTxWarp prst="textNoShape">
              <a:avLst/>
            </a:prstTxWarp>
          </a:bodyPr>
          <a:lstStyle/>
          <a:p>
            <a:endParaRPr lang="en-GB" sz="1400"/>
          </a:p>
        </p:txBody>
      </p:sp>
      <p:grpSp>
        <p:nvGrpSpPr>
          <p:cNvPr id="126" name="Group 125"/>
          <p:cNvGrpSpPr/>
          <p:nvPr/>
        </p:nvGrpSpPr>
        <p:grpSpPr>
          <a:xfrm>
            <a:off x="541062" y="2015969"/>
            <a:ext cx="120535" cy="205007"/>
            <a:chOff x="1690043" y="4882101"/>
            <a:chExt cx="635837" cy="1037865"/>
          </a:xfrm>
          <a:solidFill>
            <a:schemeClr val="tx1">
              <a:lumMod val="65000"/>
              <a:lumOff val="35000"/>
            </a:schemeClr>
          </a:solidFill>
        </p:grpSpPr>
        <p:sp>
          <p:nvSpPr>
            <p:cNvPr id="127" name="Freeform 126"/>
            <p:cNvSpPr>
              <a:spLocks noEditPoints="1"/>
            </p:cNvSpPr>
            <p:nvPr/>
          </p:nvSpPr>
          <p:spPr bwMode="auto">
            <a:xfrm>
              <a:off x="1690043" y="4882101"/>
              <a:ext cx="635837" cy="229921"/>
            </a:xfrm>
            <a:custGeom>
              <a:avLst/>
              <a:gdLst>
                <a:gd name="T0" fmla="*/ 107 w 213"/>
                <a:gd name="T1" fmla="*/ 70 h 70"/>
                <a:gd name="T2" fmla="*/ 213 w 213"/>
                <a:gd name="T3" fmla="*/ 35 h 70"/>
                <a:gd name="T4" fmla="*/ 107 w 213"/>
                <a:gd name="T5" fmla="*/ 0 h 70"/>
                <a:gd name="T6" fmla="*/ 0 w 213"/>
                <a:gd name="T7" fmla="*/ 35 h 70"/>
                <a:gd name="T8" fmla="*/ 107 w 213"/>
                <a:gd name="T9" fmla="*/ 70 h 70"/>
                <a:gd name="T10" fmla="*/ 107 w 213"/>
                <a:gd name="T11" fmla="*/ 7 h 70"/>
                <a:gd name="T12" fmla="*/ 206 w 213"/>
                <a:gd name="T13" fmla="*/ 35 h 70"/>
                <a:gd name="T14" fmla="*/ 107 w 213"/>
                <a:gd name="T15" fmla="*/ 62 h 70"/>
                <a:gd name="T16" fmla="*/ 7 w 213"/>
                <a:gd name="T17" fmla="*/ 35 h 70"/>
                <a:gd name="T18" fmla="*/ 107 w 213"/>
                <a:gd name="T19" fmla="*/ 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70">
                  <a:moveTo>
                    <a:pt x="107" y="70"/>
                  </a:moveTo>
                  <a:cubicBezTo>
                    <a:pt x="166" y="70"/>
                    <a:pt x="213" y="54"/>
                    <a:pt x="213" y="35"/>
                  </a:cubicBezTo>
                  <a:cubicBezTo>
                    <a:pt x="213" y="16"/>
                    <a:pt x="166" y="0"/>
                    <a:pt x="107" y="0"/>
                  </a:cubicBezTo>
                  <a:cubicBezTo>
                    <a:pt x="48" y="0"/>
                    <a:pt x="0" y="16"/>
                    <a:pt x="0" y="35"/>
                  </a:cubicBezTo>
                  <a:cubicBezTo>
                    <a:pt x="0" y="54"/>
                    <a:pt x="48" y="70"/>
                    <a:pt x="107" y="70"/>
                  </a:cubicBezTo>
                  <a:close/>
                  <a:moveTo>
                    <a:pt x="107" y="7"/>
                  </a:moveTo>
                  <a:cubicBezTo>
                    <a:pt x="167" y="7"/>
                    <a:pt x="206" y="24"/>
                    <a:pt x="206" y="35"/>
                  </a:cubicBezTo>
                  <a:cubicBezTo>
                    <a:pt x="206" y="46"/>
                    <a:pt x="167" y="62"/>
                    <a:pt x="107" y="62"/>
                  </a:cubicBezTo>
                  <a:cubicBezTo>
                    <a:pt x="46" y="62"/>
                    <a:pt x="7" y="46"/>
                    <a:pt x="7" y="35"/>
                  </a:cubicBezTo>
                  <a:cubicBezTo>
                    <a:pt x="7" y="24"/>
                    <a:pt x="46" y="7"/>
                    <a:pt x="10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28" name="Freeform 127"/>
            <p:cNvSpPr>
              <a:spLocks/>
            </p:cNvSpPr>
            <p:nvPr/>
          </p:nvSpPr>
          <p:spPr bwMode="auto">
            <a:xfrm>
              <a:off x="1690043" y="5259632"/>
              <a:ext cx="635837" cy="111742"/>
            </a:xfrm>
            <a:custGeom>
              <a:avLst/>
              <a:gdLst>
                <a:gd name="T0" fmla="*/ 0 w 213"/>
                <a:gd name="T1" fmla="*/ 0 h 34"/>
                <a:gd name="T2" fmla="*/ 0 w 213"/>
                <a:gd name="T3" fmla="*/ 8 h 34"/>
                <a:gd name="T4" fmla="*/ 107 w 213"/>
                <a:gd name="T5" fmla="*/ 34 h 34"/>
                <a:gd name="T6" fmla="*/ 213 w 213"/>
                <a:gd name="T7" fmla="*/ 8 h 34"/>
                <a:gd name="T8" fmla="*/ 213 w 213"/>
                <a:gd name="T9" fmla="*/ 0 h 34"/>
                <a:gd name="T10" fmla="*/ 107 w 213"/>
                <a:gd name="T11" fmla="*/ 27 h 34"/>
                <a:gd name="T12" fmla="*/ 0 w 213"/>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213" h="34">
                  <a:moveTo>
                    <a:pt x="0" y="0"/>
                  </a:moveTo>
                  <a:cubicBezTo>
                    <a:pt x="0" y="8"/>
                    <a:pt x="0" y="8"/>
                    <a:pt x="0" y="8"/>
                  </a:cubicBezTo>
                  <a:cubicBezTo>
                    <a:pt x="17" y="25"/>
                    <a:pt x="62" y="34"/>
                    <a:pt x="107" y="34"/>
                  </a:cubicBezTo>
                  <a:cubicBezTo>
                    <a:pt x="151" y="34"/>
                    <a:pt x="196" y="25"/>
                    <a:pt x="213" y="8"/>
                  </a:cubicBezTo>
                  <a:cubicBezTo>
                    <a:pt x="213" y="0"/>
                    <a:pt x="213" y="0"/>
                    <a:pt x="213" y="0"/>
                  </a:cubicBezTo>
                  <a:cubicBezTo>
                    <a:pt x="196" y="18"/>
                    <a:pt x="151" y="27"/>
                    <a:pt x="107" y="27"/>
                  </a:cubicBezTo>
                  <a:cubicBezTo>
                    <a:pt x="62" y="27"/>
                    <a:pt x="17" y="18"/>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29" name="Freeform 128"/>
            <p:cNvSpPr>
              <a:spLocks/>
            </p:cNvSpPr>
            <p:nvPr/>
          </p:nvSpPr>
          <p:spPr bwMode="auto">
            <a:xfrm>
              <a:off x="1690043" y="5046265"/>
              <a:ext cx="635837" cy="282343"/>
            </a:xfrm>
            <a:custGeom>
              <a:avLst/>
              <a:gdLst>
                <a:gd name="T0" fmla="*/ 0 w 213"/>
                <a:gd name="T1" fmla="*/ 0 h 86"/>
                <a:gd name="T2" fmla="*/ 0 w 213"/>
                <a:gd name="T3" fmla="*/ 57 h 86"/>
                <a:gd name="T4" fmla="*/ 4 w 213"/>
                <a:gd name="T5" fmla="*/ 61 h 86"/>
                <a:gd name="T6" fmla="*/ 107 w 213"/>
                <a:gd name="T7" fmla="*/ 86 h 86"/>
                <a:gd name="T8" fmla="*/ 209 w 213"/>
                <a:gd name="T9" fmla="*/ 61 h 86"/>
                <a:gd name="T10" fmla="*/ 213 w 213"/>
                <a:gd name="T11" fmla="*/ 57 h 86"/>
                <a:gd name="T12" fmla="*/ 213 w 213"/>
                <a:gd name="T13" fmla="*/ 0 h 86"/>
                <a:gd name="T14" fmla="*/ 107 w 213"/>
                <a:gd name="T15" fmla="*/ 27 h 86"/>
                <a:gd name="T16" fmla="*/ 0 w 213"/>
                <a:gd name="T17"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86">
                  <a:moveTo>
                    <a:pt x="0" y="0"/>
                  </a:moveTo>
                  <a:cubicBezTo>
                    <a:pt x="0" y="57"/>
                    <a:pt x="0" y="57"/>
                    <a:pt x="0" y="57"/>
                  </a:cubicBezTo>
                  <a:cubicBezTo>
                    <a:pt x="4" y="61"/>
                    <a:pt x="4" y="61"/>
                    <a:pt x="4" y="61"/>
                  </a:cubicBezTo>
                  <a:cubicBezTo>
                    <a:pt x="18" y="76"/>
                    <a:pt x="60" y="86"/>
                    <a:pt x="107" y="86"/>
                  </a:cubicBezTo>
                  <a:cubicBezTo>
                    <a:pt x="154" y="86"/>
                    <a:pt x="195" y="76"/>
                    <a:pt x="209" y="61"/>
                  </a:cubicBezTo>
                  <a:cubicBezTo>
                    <a:pt x="213" y="57"/>
                    <a:pt x="213" y="57"/>
                    <a:pt x="213" y="57"/>
                  </a:cubicBezTo>
                  <a:cubicBezTo>
                    <a:pt x="213" y="0"/>
                    <a:pt x="213" y="0"/>
                    <a:pt x="213" y="0"/>
                  </a:cubicBezTo>
                  <a:cubicBezTo>
                    <a:pt x="196" y="18"/>
                    <a:pt x="151" y="27"/>
                    <a:pt x="107" y="27"/>
                  </a:cubicBezTo>
                  <a:cubicBezTo>
                    <a:pt x="62" y="27"/>
                    <a:pt x="17" y="18"/>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30" name="Freeform 129"/>
            <p:cNvSpPr>
              <a:spLocks/>
            </p:cNvSpPr>
            <p:nvPr/>
          </p:nvSpPr>
          <p:spPr bwMode="auto">
            <a:xfrm>
              <a:off x="1946719" y="5430693"/>
              <a:ext cx="62706" cy="183937"/>
            </a:xfrm>
            <a:custGeom>
              <a:avLst/>
              <a:gdLst>
                <a:gd name="T0" fmla="*/ 0 w 21"/>
                <a:gd name="T1" fmla="*/ 35 h 56"/>
                <a:gd name="T2" fmla="*/ 0 w 21"/>
                <a:gd name="T3" fmla="*/ 39 h 56"/>
                <a:gd name="T4" fmla="*/ 9 w 21"/>
                <a:gd name="T5" fmla="*/ 56 h 56"/>
                <a:gd name="T6" fmla="*/ 6 w 21"/>
                <a:gd name="T7" fmla="*/ 41 h 56"/>
                <a:gd name="T8" fmla="*/ 6 w 21"/>
                <a:gd name="T9" fmla="*/ 37 h 56"/>
                <a:gd name="T10" fmla="*/ 21 w 21"/>
                <a:gd name="T11" fmla="*/ 0 h 56"/>
                <a:gd name="T12" fmla="*/ 21 w 21"/>
                <a:gd name="T13" fmla="*/ 0 h 56"/>
                <a:gd name="T14" fmla="*/ 0 w 21"/>
                <a:gd name="T15" fmla="*/ 35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56">
                  <a:moveTo>
                    <a:pt x="0" y="35"/>
                  </a:moveTo>
                  <a:cubicBezTo>
                    <a:pt x="0" y="36"/>
                    <a:pt x="0" y="37"/>
                    <a:pt x="0" y="39"/>
                  </a:cubicBezTo>
                  <a:cubicBezTo>
                    <a:pt x="0" y="46"/>
                    <a:pt x="3" y="53"/>
                    <a:pt x="9" y="56"/>
                  </a:cubicBezTo>
                  <a:cubicBezTo>
                    <a:pt x="7" y="52"/>
                    <a:pt x="6" y="47"/>
                    <a:pt x="6" y="41"/>
                  </a:cubicBezTo>
                  <a:cubicBezTo>
                    <a:pt x="6" y="40"/>
                    <a:pt x="6" y="38"/>
                    <a:pt x="6" y="37"/>
                  </a:cubicBezTo>
                  <a:cubicBezTo>
                    <a:pt x="8" y="27"/>
                    <a:pt x="15" y="11"/>
                    <a:pt x="21" y="0"/>
                  </a:cubicBezTo>
                  <a:cubicBezTo>
                    <a:pt x="21" y="0"/>
                    <a:pt x="21" y="0"/>
                    <a:pt x="21" y="0"/>
                  </a:cubicBezTo>
                  <a:cubicBezTo>
                    <a:pt x="16" y="6"/>
                    <a:pt x="3" y="24"/>
                    <a:pt x="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31" name="Freeform 130"/>
            <p:cNvSpPr>
              <a:spLocks noEditPoints="1"/>
            </p:cNvSpPr>
            <p:nvPr/>
          </p:nvSpPr>
          <p:spPr bwMode="auto">
            <a:xfrm>
              <a:off x="1690043" y="5312514"/>
              <a:ext cx="635837" cy="351319"/>
            </a:xfrm>
            <a:custGeom>
              <a:avLst/>
              <a:gdLst>
                <a:gd name="T0" fmla="*/ 0 w 213"/>
                <a:gd name="T1" fmla="*/ 0 h 107"/>
                <a:gd name="T2" fmla="*/ 0 w 213"/>
                <a:gd name="T3" fmla="*/ 41 h 107"/>
                <a:gd name="T4" fmla="*/ 0 w 213"/>
                <a:gd name="T5" fmla="*/ 78 h 107"/>
                <a:gd name="T6" fmla="*/ 4 w 213"/>
                <a:gd name="T7" fmla="*/ 83 h 107"/>
                <a:gd name="T8" fmla="*/ 107 w 213"/>
                <a:gd name="T9" fmla="*/ 107 h 107"/>
                <a:gd name="T10" fmla="*/ 169 w 213"/>
                <a:gd name="T11" fmla="*/ 101 h 107"/>
                <a:gd name="T12" fmla="*/ 209 w 213"/>
                <a:gd name="T13" fmla="*/ 83 h 107"/>
                <a:gd name="T14" fmla="*/ 213 w 213"/>
                <a:gd name="T15" fmla="*/ 78 h 107"/>
                <a:gd name="T16" fmla="*/ 213 w 213"/>
                <a:gd name="T17" fmla="*/ 0 h 107"/>
                <a:gd name="T18" fmla="*/ 107 w 213"/>
                <a:gd name="T19" fmla="*/ 24 h 107"/>
                <a:gd name="T20" fmla="*/ 0 w 213"/>
                <a:gd name="T21" fmla="*/ 0 h 107"/>
                <a:gd name="T22" fmla="*/ 126 w 213"/>
                <a:gd name="T23" fmla="*/ 86 h 107"/>
                <a:gd name="T24" fmla="*/ 107 w 213"/>
                <a:gd name="T25" fmla="*/ 97 h 107"/>
                <a:gd name="T26" fmla="*/ 84 w 213"/>
                <a:gd name="T27" fmla="*/ 75 h 107"/>
                <a:gd name="T28" fmla="*/ 85 w 213"/>
                <a:gd name="T29" fmla="*/ 70 h 107"/>
                <a:gd name="T30" fmla="*/ 107 w 213"/>
                <a:gd name="T31" fmla="*/ 33 h 107"/>
                <a:gd name="T32" fmla="*/ 129 w 213"/>
                <a:gd name="T33" fmla="*/ 75 h 107"/>
                <a:gd name="T34" fmla="*/ 126 w 213"/>
                <a:gd name="T35" fmla="*/ 86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 h="107">
                  <a:moveTo>
                    <a:pt x="0" y="0"/>
                  </a:moveTo>
                  <a:cubicBezTo>
                    <a:pt x="0" y="41"/>
                    <a:pt x="0" y="41"/>
                    <a:pt x="0" y="41"/>
                  </a:cubicBezTo>
                  <a:cubicBezTo>
                    <a:pt x="0" y="78"/>
                    <a:pt x="0" y="78"/>
                    <a:pt x="0" y="78"/>
                  </a:cubicBezTo>
                  <a:cubicBezTo>
                    <a:pt x="4" y="83"/>
                    <a:pt x="4" y="83"/>
                    <a:pt x="4" y="83"/>
                  </a:cubicBezTo>
                  <a:cubicBezTo>
                    <a:pt x="18" y="97"/>
                    <a:pt x="60" y="107"/>
                    <a:pt x="107" y="107"/>
                  </a:cubicBezTo>
                  <a:cubicBezTo>
                    <a:pt x="129" y="107"/>
                    <a:pt x="151" y="105"/>
                    <a:pt x="169" y="101"/>
                  </a:cubicBezTo>
                  <a:cubicBezTo>
                    <a:pt x="187" y="97"/>
                    <a:pt x="202" y="90"/>
                    <a:pt x="209" y="83"/>
                  </a:cubicBezTo>
                  <a:cubicBezTo>
                    <a:pt x="213" y="78"/>
                    <a:pt x="213" y="78"/>
                    <a:pt x="213" y="78"/>
                  </a:cubicBezTo>
                  <a:cubicBezTo>
                    <a:pt x="213" y="0"/>
                    <a:pt x="213" y="0"/>
                    <a:pt x="213" y="0"/>
                  </a:cubicBezTo>
                  <a:cubicBezTo>
                    <a:pt x="191" y="18"/>
                    <a:pt x="145" y="24"/>
                    <a:pt x="107" y="24"/>
                  </a:cubicBezTo>
                  <a:cubicBezTo>
                    <a:pt x="69" y="24"/>
                    <a:pt x="22" y="18"/>
                    <a:pt x="0" y="0"/>
                  </a:cubicBezTo>
                  <a:close/>
                  <a:moveTo>
                    <a:pt x="126" y="86"/>
                  </a:moveTo>
                  <a:cubicBezTo>
                    <a:pt x="123" y="93"/>
                    <a:pt x="115" y="97"/>
                    <a:pt x="107" y="97"/>
                  </a:cubicBezTo>
                  <a:cubicBezTo>
                    <a:pt x="94" y="97"/>
                    <a:pt x="84" y="87"/>
                    <a:pt x="84" y="75"/>
                  </a:cubicBezTo>
                  <a:cubicBezTo>
                    <a:pt x="84" y="73"/>
                    <a:pt x="84" y="72"/>
                    <a:pt x="85" y="70"/>
                  </a:cubicBezTo>
                  <a:cubicBezTo>
                    <a:pt x="88" y="56"/>
                    <a:pt x="107" y="33"/>
                    <a:pt x="107" y="33"/>
                  </a:cubicBezTo>
                  <a:cubicBezTo>
                    <a:pt x="107" y="33"/>
                    <a:pt x="129" y="62"/>
                    <a:pt x="129" y="75"/>
                  </a:cubicBezTo>
                  <a:cubicBezTo>
                    <a:pt x="129" y="79"/>
                    <a:pt x="128" y="83"/>
                    <a:pt x="126"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32" name="Freeform 131"/>
            <p:cNvSpPr>
              <a:spLocks/>
            </p:cNvSpPr>
            <p:nvPr/>
          </p:nvSpPr>
          <p:spPr bwMode="auto">
            <a:xfrm>
              <a:off x="1970547" y="5030170"/>
              <a:ext cx="74829" cy="42305"/>
            </a:xfrm>
            <a:custGeom>
              <a:avLst/>
              <a:gdLst>
                <a:gd name="T0" fmla="*/ 0 w 25"/>
                <a:gd name="T1" fmla="*/ 0 h 13"/>
                <a:gd name="T2" fmla="*/ 0 w 25"/>
                <a:gd name="T3" fmla="*/ 10 h 13"/>
                <a:gd name="T4" fmla="*/ 13 w 25"/>
                <a:gd name="T5" fmla="*/ 13 h 13"/>
                <a:gd name="T6" fmla="*/ 25 w 25"/>
                <a:gd name="T7" fmla="*/ 10 h 13"/>
                <a:gd name="T8" fmla="*/ 25 w 25"/>
                <a:gd name="T9" fmla="*/ 0 h 13"/>
                <a:gd name="T10" fmla="*/ 13 w 25"/>
                <a:gd name="T11" fmla="*/ 1 h 13"/>
                <a:gd name="T12" fmla="*/ 0 w 25"/>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25" h="13">
                  <a:moveTo>
                    <a:pt x="0" y="0"/>
                  </a:moveTo>
                  <a:cubicBezTo>
                    <a:pt x="0" y="10"/>
                    <a:pt x="0" y="10"/>
                    <a:pt x="0" y="10"/>
                  </a:cubicBezTo>
                  <a:cubicBezTo>
                    <a:pt x="0" y="11"/>
                    <a:pt x="6" y="13"/>
                    <a:pt x="13" y="13"/>
                  </a:cubicBezTo>
                  <a:cubicBezTo>
                    <a:pt x="20" y="13"/>
                    <a:pt x="25" y="11"/>
                    <a:pt x="25" y="10"/>
                  </a:cubicBezTo>
                  <a:cubicBezTo>
                    <a:pt x="25" y="0"/>
                    <a:pt x="25" y="0"/>
                    <a:pt x="25" y="0"/>
                  </a:cubicBezTo>
                  <a:cubicBezTo>
                    <a:pt x="20" y="1"/>
                    <a:pt x="15" y="1"/>
                    <a:pt x="13" y="1"/>
                  </a:cubicBezTo>
                  <a:cubicBezTo>
                    <a:pt x="11" y="1"/>
                    <a:pt x="5"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33" name="Oval 132"/>
            <p:cNvSpPr>
              <a:spLocks noChangeArrowheads="1"/>
            </p:cNvSpPr>
            <p:nvPr/>
          </p:nvSpPr>
          <p:spPr bwMode="auto">
            <a:xfrm>
              <a:off x="1955916" y="4997062"/>
              <a:ext cx="107436" cy="2943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34" name="Freeform 133"/>
            <p:cNvSpPr>
              <a:spLocks/>
            </p:cNvSpPr>
            <p:nvPr/>
          </p:nvSpPr>
          <p:spPr bwMode="auto">
            <a:xfrm>
              <a:off x="1690043" y="5647279"/>
              <a:ext cx="635837" cy="272687"/>
            </a:xfrm>
            <a:custGeom>
              <a:avLst/>
              <a:gdLst>
                <a:gd name="T0" fmla="*/ 107 w 213"/>
                <a:gd name="T1" fmla="*/ 25 h 83"/>
                <a:gd name="T2" fmla="*/ 0 w 213"/>
                <a:gd name="T3" fmla="*/ 0 h 83"/>
                <a:gd name="T4" fmla="*/ 0 w 213"/>
                <a:gd name="T5" fmla="*/ 48 h 83"/>
                <a:gd name="T6" fmla="*/ 107 w 213"/>
                <a:gd name="T7" fmla="*/ 83 h 83"/>
                <a:gd name="T8" fmla="*/ 213 w 213"/>
                <a:gd name="T9" fmla="*/ 48 h 83"/>
                <a:gd name="T10" fmla="*/ 213 w 213"/>
                <a:gd name="T11" fmla="*/ 12 h 83"/>
                <a:gd name="T12" fmla="*/ 213 w 213"/>
                <a:gd name="T13" fmla="*/ 0 h 83"/>
                <a:gd name="T14" fmla="*/ 200 w 213"/>
                <a:gd name="T15" fmla="*/ 9 h 83"/>
                <a:gd name="T16" fmla="*/ 107 w 213"/>
                <a:gd name="T17" fmla="*/ 2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83">
                  <a:moveTo>
                    <a:pt x="107" y="25"/>
                  </a:moveTo>
                  <a:cubicBezTo>
                    <a:pt x="69" y="25"/>
                    <a:pt x="22" y="18"/>
                    <a:pt x="0" y="0"/>
                  </a:cubicBezTo>
                  <a:cubicBezTo>
                    <a:pt x="0" y="48"/>
                    <a:pt x="0" y="48"/>
                    <a:pt x="0" y="48"/>
                  </a:cubicBezTo>
                  <a:cubicBezTo>
                    <a:pt x="0" y="67"/>
                    <a:pt x="48" y="83"/>
                    <a:pt x="107" y="83"/>
                  </a:cubicBezTo>
                  <a:cubicBezTo>
                    <a:pt x="166" y="83"/>
                    <a:pt x="213" y="67"/>
                    <a:pt x="213" y="48"/>
                  </a:cubicBezTo>
                  <a:cubicBezTo>
                    <a:pt x="213" y="12"/>
                    <a:pt x="213" y="12"/>
                    <a:pt x="213" y="12"/>
                  </a:cubicBezTo>
                  <a:cubicBezTo>
                    <a:pt x="213" y="0"/>
                    <a:pt x="213" y="0"/>
                    <a:pt x="213" y="0"/>
                  </a:cubicBezTo>
                  <a:cubicBezTo>
                    <a:pt x="210" y="3"/>
                    <a:pt x="205" y="6"/>
                    <a:pt x="200" y="9"/>
                  </a:cubicBezTo>
                  <a:cubicBezTo>
                    <a:pt x="175" y="20"/>
                    <a:pt x="138" y="25"/>
                    <a:pt x="107"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35" name="Freeform 134"/>
            <p:cNvSpPr>
              <a:spLocks/>
            </p:cNvSpPr>
            <p:nvPr/>
          </p:nvSpPr>
          <p:spPr bwMode="auto">
            <a:xfrm>
              <a:off x="1690043" y="5598076"/>
              <a:ext cx="635837" cy="111742"/>
            </a:xfrm>
            <a:custGeom>
              <a:avLst/>
              <a:gdLst>
                <a:gd name="T0" fmla="*/ 107 w 213"/>
                <a:gd name="T1" fmla="*/ 26 h 34"/>
                <a:gd name="T2" fmla="*/ 0 w 213"/>
                <a:gd name="T3" fmla="*/ 0 h 34"/>
                <a:gd name="T4" fmla="*/ 0 w 213"/>
                <a:gd name="T5" fmla="*/ 8 h 34"/>
                <a:gd name="T6" fmla="*/ 107 w 213"/>
                <a:gd name="T7" fmla="*/ 34 h 34"/>
                <a:gd name="T8" fmla="*/ 191 w 213"/>
                <a:gd name="T9" fmla="*/ 21 h 34"/>
                <a:gd name="T10" fmla="*/ 213 w 213"/>
                <a:gd name="T11" fmla="*/ 8 h 34"/>
                <a:gd name="T12" fmla="*/ 213 w 213"/>
                <a:gd name="T13" fmla="*/ 0 h 34"/>
                <a:gd name="T14" fmla="*/ 179 w 213"/>
                <a:gd name="T15" fmla="*/ 17 h 34"/>
                <a:gd name="T16" fmla="*/ 107 w 213"/>
                <a:gd name="T17" fmla="*/ 2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34">
                  <a:moveTo>
                    <a:pt x="107" y="26"/>
                  </a:moveTo>
                  <a:cubicBezTo>
                    <a:pt x="62" y="26"/>
                    <a:pt x="17" y="17"/>
                    <a:pt x="0" y="0"/>
                  </a:cubicBezTo>
                  <a:cubicBezTo>
                    <a:pt x="0" y="8"/>
                    <a:pt x="0" y="8"/>
                    <a:pt x="0" y="8"/>
                  </a:cubicBezTo>
                  <a:cubicBezTo>
                    <a:pt x="17" y="25"/>
                    <a:pt x="62" y="34"/>
                    <a:pt x="107" y="34"/>
                  </a:cubicBezTo>
                  <a:cubicBezTo>
                    <a:pt x="138" y="34"/>
                    <a:pt x="169" y="30"/>
                    <a:pt x="191" y="21"/>
                  </a:cubicBezTo>
                  <a:cubicBezTo>
                    <a:pt x="200" y="17"/>
                    <a:pt x="208" y="13"/>
                    <a:pt x="213" y="8"/>
                  </a:cubicBezTo>
                  <a:cubicBezTo>
                    <a:pt x="213" y="0"/>
                    <a:pt x="213" y="0"/>
                    <a:pt x="213" y="0"/>
                  </a:cubicBezTo>
                  <a:cubicBezTo>
                    <a:pt x="206" y="7"/>
                    <a:pt x="194" y="13"/>
                    <a:pt x="179" y="17"/>
                  </a:cubicBezTo>
                  <a:cubicBezTo>
                    <a:pt x="158" y="23"/>
                    <a:pt x="132" y="26"/>
                    <a:pt x="10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grpSp>
      <p:sp>
        <p:nvSpPr>
          <p:cNvPr id="136" name="TextBox 135"/>
          <p:cNvSpPr txBox="1"/>
          <p:nvPr/>
        </p:nvSpPr>
        <p:spPr>
          <a:xfrm>
            <a:off x="3760671" y="1340589"/>
            <a:ext cx="4003712" cy="184666"/>
          </a:xfrm>
          <a:prstGeom prst="rect">
            <a:avLst/>
          </a:prstGeom>
          <a:noFill/>
        </p:spPr>
        <p:txBody>
          <a:bodyPr wrap="square" lIns="0" tIns="0" rIns="0" bIns="0" rtlCol="0">
            <a:spAutoFit/>
          </a:bodyPr>
          <a:lstStyle/>
          <a:p>
            <a:pPr>
              <a:spcBef>
                <a:spcPts val="600"/>
              </a:spcBef>
              <a:buSzPct val="100000"/>
            </a:pPr>
            <a:r>
              <a:rPr lang="en-US" sz="1200" b="1" dirty="0">
                <a:solidFill>
                  <a:srgbClr val="313131"/>
                </a:solidFill>
              </a:rPr>
              <a:t>Background</a:t>
            </a:r>
            <a:endParaRPr lang="en-IN" sz="1200" b="1" dirty="0">
              <a:solidFill>
                <a:srgbClr val="313131"/>
              </a:solidFill>
            </a:endParaRPr>
          </a:p>
        </p:txBody>
      </p:sp>
      <p:sp>
        <p:nvSpPr>
          <p:cNvPr id="137" name="Rounded Rectangle 136"/>
          <p:cNvSpPr/>
          <p:nvPr/>
        </p:nvSpPr>
        <p:spPr bwMode="gray">
          <a:xfrm>
            <a:off x="3389661" y="1235457"/>
            <a:ext cx="8354308" cy="1457083"/>
          </a:xfrm>
          <a:prstGeom prst="roundRect">
            <a:avLst/>
          </a:prstGeom>
          <a:noFill/>
          <a:ln w="28575" algn="ctr">
            <a:solidFill>
              <a:srgbClr val="01216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200" b="1" dirty="0">
              <a:solidFill>
                <a:schemeClr val="bg1"/>
              </a:solidFill>
            </a:endParaRPr>
          </a:p>
        </p:txBody>
      </p:sp>
      <p:grpSp>
        <p:nvGrpSpPr>
          <p:cNvPr id="138" name="Group 137"/>
          <p:cNvGrpSpPr/>
          <p:nvPr/>
        </p:nvGrpSpPr>
        <p:grpSpPr>
          <a:xfrm>
            <a:off x="3539316" y="1741010"/>
            <a:ext cx="280969" cy="225605"/>
            <a:chOff x="15266988" y="13179425"/>
            <a:chExt cx="3529012" cy="3762376"/>
          </a:xfrm>
          <a:solidFill>
            <a:srgbClr val="0070C0"/>
          </a:solidFill>
        </p:grpSpPr>
        <p:sp>
          <p:nvSpPr>
            <p:cNvPr id="139" name="Freeform 137"/>
            <p:cNvSpPr>
              <a:spLocks/>
            </p:cNvSpPr>
            <p:nvPr/>
          </p:nvSpPr>
          <p:spPr bwMode="auto">
            <a:xfrm>
              <a:off x="15266988" y="15982950"/>
              <a:ext cx="847725" cy="639763"/>
            </a:xfrm>
            <a:custGeom>
              <a:avLst/>
              <a:gdLst>
                <a:gd name="T0" fmla="*/ 0 w 154"/>
                <a:gd name="T1" fmla="*/ 17 h 116"/>
                <a:gd name="T2" fmla="*/ 0 w 154"/>
                <a:gd name="T3" fmla="*/ 100 h 116"/>
                <a:gd name="T4" fmla="*/ 16 w 154"/>
                <a:gd name="T5" fmla="*/ 116 h 116"/>
                <a:gd name="T6" fmla="*/ 154 w 154"/>
                <a:gd name="T7" fmla="*/ 116 h 116"/>
                <a:gd name="T8" fmla="*/ 154 w 154"/>
                <a:gd name="T9" fmla="*/ 0 h 116"/>
                <a:gd name="T10" fmla="*/ 16 w 154"/>
                <a:gd name="T11" fmla="*/ 0 h 116"/>
                <a:gd name="T12" fmla="*/ 0 w 154"/>
                <a:gd name="T13" fmla="*/ 17 h 116"/>
              </a:gdLst>
              <a:ahLst/>
              <a:cxnLst>
                <a:cxn ang="0">
                  <a:pos x="T0" y="T1"/>
                </a:cxn>
                <a:cxn ang="0">
                  <a:pos x="T2" y="T3"/>
                </a:cxn>
                <a:cxn ang="0">
                  <a:pos x="T4" y="T5"/>
                </a:cxn>
                <a:cxn ang="0">
                  <a:pos x="T6" y="T7"/>
                </a:cxn>
                <a:cxn ang="0">
                  <a:pos x="T8" y="T9"/>
                </a:cxn>
                <a:cxn ang="0">
                  <a:pos x="T10" y="T11"/>
                </a:cxn>
                <a:cxn ang="0">
                  <a:pos x="T12" y="T13"/>
                </a:cxn>
              </a:cxnLst>
              <a:rect l="0" t="0" r="r" b="b"/>
              <a:pathLst>
                <a:path w="154" h="116">
                  <a:moveTo>
                    <a:pt x="0" y="17"/>
                  </a:moveTo>
                  <a:cubicBezTo>
                    <a:pt x="0" y="100"/>
                    <a:pt x="0" y="100"/>
                    <a:pt x="0" y="100"/>
                  </a:cubicBezTo>
                  <a:cubicBezTo>
                    <a:pt x="0" y="108"/>
                    <a:pt x="7" y="116"/>
                    <a:pt x="16" y="116"/>
                  </a:cubicBezTo>
                  <a:cubicBezTo>
                    <a:pt x="154" y="116"/>
                    <a:pt x="154" y="116"/>
                    <a:pt x="154" y="116"/>
                  </a:cubicBezTo>
                  <a:cubicBezTo>
                    <a:pt x="154" y="0"/>
                    <a:pt x="154" y="0"/>
                    <a:pt x="154" y="0"/>
                  </a:cubicBezTo>
                  <a:cubicBezTo>
                    <a:pt x="16" y="0"/>
                    <a:pt x="16" y="0"/>
                    <a:pt x="16" y="0"/>
                  </a:cubicBezTo>
                  <a:cubicBezTo>
                    <a:pt x="7" y="0"/>
                    <a:pt x="0" y="8"/>
                    <a:pt x="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40" name="Freeform 138"/>
            <p:cNvSpPr>
              <a:spLocks/>
            </p:cNvSpPr>
            <p:nvPr/>
          </p:nvSpPr>
          <p:spPr bwMode="auto">
            <a:xfrm>
              <a:off x="16152813" y="15663863"/>
              <a:ext cx="82550" cy="1277938"/>
            </a:xfrm>
            <a:custGeom>
              <a:avLst/>
              <a:gdLst>
                <a:gd name="T0" fmla="*/ 11 w 15"/>
                <a:gd name="T1" fmla="*/ 0 h 232"/>
                <a:gd name="T2" fmla="*/ 4 w 15"/>
                <a:gd name="T3" fmla="*/ 0 h 232"/>
                <a:gd name="T4" fmla="*/ 0 w 15"/>
                <a:gd name="T5" fmla="*/ 4 h 232"/>
                <a:gd name="T6" fmla="*/ 0 w 15"/>
                <a:gd name="T7" fmla="*/ 228 h 232"/>
                <a:gd name="T8" fmla="*/ 4 w 15"/>
                <a:gd name="T9" fmla="*/ 232 h 232"/>
                <a:gd name="T10" fmla="*/ 11 w 15"/>
                <a:gd name="T11" fmla="*/ 232 h 232"/>
                <a:gd name="T12" fmla="*/ 15 w 15"/>
                <a:gd name="T13" fmla="*/ 228 h 232"/>
                <a:gd name="T14" fmla="*/ 15 w 15"/>
                <a:gd name="T15" fmla="*/ 4 h 232"/>
                <a:gd name="T16" fmla="*/ 11 w 15"/>
                <a:gd name="T17" fmla="*/ 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232">
                  <a:moveTo>
                    <a:pt x="11" y="0"/>
                  </a:moveTo>
                  <a:cubicBezTo>
                    <a:pt x="4" y="0"/>
                    <a:pt x="4" y="0"/>
                    <a:pt x="4" y="0"/>
                  </a:cubicBezTo>
                  <a:cubicBezTo>
                    <a:pt x="2" y="0"/>
                    <a:pt x="0" y="2"/>
                    <a:pt x="0" y="4"/>
                  </a:cubicBezTo>
                  <a:cubicBezTo>
                    <a:pt x="0" y="228"/>
                    <a:pt x="0" y="228"/>
                    <a:pt x="0" y="228"/>
                  </a:cubicBezTo>
                  <a:cubicBezTo>
                    <a:pt x="0" y="230"/>
                    <a:pt x="2" y="232"/>
                    <a:pt x="4" y="232"/>
                  </a:cubicBezTo>
                  <a:cubicBezTo>
                    <a:pt x="11" y="232"/>
                    <a:pt x="11" y="232"/>
                    <a:pt x="11" y="232"/>
                  </a:cubicBezTo>
                  <a:cubicBezTo>
                    <a:pt x="13" y="232"/>
                    <a:pt x="15" y="230"/>
                    <a:pt x="15" y="228"/>
                  </a:cubicBezTo>
                  <a:cubicBezTo>
                    <a:pt x="15" y="4"/>
                    <a:pt x="15" y="4"/>
                    <a:pt x="15" y="4"/>
                  </a:cubicBezTo>
                  <a:cubicBezTo>
                    <a:pt x="15" y="2"/>
                    <a:pt x="13"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41" name="Freeform 139"/>
            <p:cNvSpPr>
              <a:spLocks/>
            </p:cNvSpPr>
            <p:nvPr/>
          </p:nvSpPr>
          <p:spPr bwMode="auto">
            <a:xfrm>
              <a:off x="16275050" y="15663863"/>
              <a:ext cx="158750" cy="1277938"/>
            </a:xfrm>
            <a:custGeom>
              <a:avLst/>
              <a:gdLst>
                <a:gd name="T0" fmla="*/ 21 w 29"/>
                <a:gd name="T1" fmla="*/ 0 h 232"/>
                <a:gd name="T2" fmla="*/ 8 w 29"/>
                <a:gd name="T3" fmla="*/ 0 h 232"/>
                <a:gd name="T4" fmla="*/ 0 w 29"/>
                <a:gd name="T5" fmla="*/ 8 h 232"/>
                <a:gd name="T6" fmla="*/ 0 w 29"/>
                <a:gd name="T7" fmla="*/ 224 h 232"/>
                <a:gd name="T8" fmla="*/ 8 w 29"/>
                <a:gd name="T9" fmla="*/ 232 h 232"/>
                <a:gd name="T10" fmla="*/ 21 w 29"/>
                <a:gd name="T11" fmla="*/ 232 h 232"/>
                <a:gd name="T12" fmla="*/ 29 w 29"/>
                <a:gd name="T13" fmla="*/ 224 h 232"/>
                <a:gd name="T14" fmla="*/ 29 w 29"/>
                <a:gd name="T15" fmla="*/ 8 h 232"/>
                <a:gd name="T16" fmla="*/ 21 w 29"/>
                <a:gd name="T17" fmla="*/ 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232">
                  <a:moveTo>
                    <a:pt x="21" y="0"/>
                  </a:moveTo>
                  <a:cubicBezTo>
                    <a:pt x="8" y="0"/>
                    <a:pt x="8" y="0"/>
                    <a:pt x="8" y="0"/>
                  </a:cubicBezTo>
                  <a:cubicBezTo>
                    <a:pt x="4" y="0"/>
                    <a:pt x="0" y="4"/>
                    <a:pt x="0" y="8"/>
                  </a:cubicBezTo>
                  <a:cubicBezTo>
                    <a:pt x="0" y="224"/>
                    <a:pt x="0" y="224"/>
                    <a:pt x="0" y="224"/>
                  </a:cubicBezTo>
                  <a:cubicBezTo>
                    <a:pt x="0" y="229"/>
                    <a:pt x="4" y="232"/>
                    <a:pt x="8" y="232"/>
                  </a:cubicBezTo>
                  <a:cubicBezTo>
                    <a:pt x="21" y="232"/>
                    <a:pt x="21" y="232"/>
                    <a:pt x="21" y="232"/>
                  </a:cubicBezTo>
                  <a:cubicBezTo>
                    <a:pt x="25" y="232"/>
                    <a:pt x="29" y="229"/>
                    <a:pt x="29" y="224"/>
                  </a:cubicBezTo>
                  <a:cubicBezTo>
                    <a:pt x="29" y="8"/>
                    <a:pt x="29" y="8"/>
                    <a:pt x="29" y="8"/>
                  </a:cubicBezTo>
                  <a:cubicBezTo>
                    <a:pt x="29" y="4"/>
                    <a:pt x="25"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42" name="Freeform 140"/>
            <p:cNvSpPr>
              <a:spLocks/>
            </p:cNvSpPr>
            <p:nvPr/>
          </p:nvSpPr>
          <p:spPr bwMode="auto">
            <a:xfrm>
              <a:off x="16605250" y="14100175"/>
              <a:ext cx="858838" cy="604838"/>
            </a:xfrm>
            <a:custGeom>
              <a:avLst/>
              <a:gdLst>
                <a:gd name="T0" fmla="*/ 0 w 156"/>
                <a:gd name="T1" fmla="*/ 110 h 110"/>
                <a:gd name="T2" fmla="*/ 78 w 156"/>
                <a:gd name="T3" fmla="*/ 110 h 110"/>
                <a:gd name="T4" fmla="*/ 156 w 156"/>
                <a:gd name="T5" fmla="*/ 110 h 110"/>
                <a:gd name="T6" fmla="*/ 144 w 156"/>
                <a:gd name="T7" fmla="*/ 72 h 110"/>
                <a:gd name="T8" fmla="*/ 112 w 156"/>
                <a:gd name="T9" fmla="*/ 48 h 110"/>
                <a:gd name="T10" fmla="*/ 109 w 156"/>
                <a:gd name="T11" fmla="*/ 48 h 110"/>
                <a:gd name="T12" fmla="*/ 104 w 156"/>
                <a:gd name="T13" fmla="*/ 43 h 110"/>
                <a:gd name="T14" fmla="*/ 104 w 156"/>
                <a:gd name="T15" fmla="*/ 37 h 110"/>
                <a:gd name="T16" fmla="*/ 109 w 156"/>
                <a:gd name="T17" fmla="*/ 32 h 110"/>
                <a:gd name="T18" fmla="*/ 121 w 156"/>
                <a:gd name="T19" fmla="*/ 32 h 110"/>
                <a:gd name="T20" fmla="*/ 134 w 156"/>
                <a:gd name="T21" fmla="*/ 19 h 110"/>
                <a:gd name="T22" fmla="*/ 134 w 156"/>
                <a:gd name="T23" fmla="*/ 4 h 110"/>
                <a:gd name="T24" fmla="*/ 129 w 156"/>
                <a:gd name="T25" fmla="*/ 0 h 110"/>
                <a:gd name="T26" fmla="*/ 78 w 156"/>
                <a:gd name="T27" fmla="*/ 0 h 110"/>
                <a:gd name="T28" fmla="*/ 27 w 156"/>
                <a:gd name="T29" fmla="*/ 0 h 110"/>
                <a:gd name="T30" fmla="*/ 22 w 156"/>
                <a:gd name="T31" fmla="*/ 4 h 110"/>
                <a:gd name="T32" fmla="*/ 22 w 156"/>
                <a:gd name="T33" fmla="*/ 19 h 110"/>
                <a:gd name="T34" fmla="*/ 35 w 156"/>
                <a:gd name="T35" fmla="*/ 32 h 110"/>
                <a:gd name="T36" fmla="*/ 47 w 156"/>
                <a:gd name="T37" fmla="*/ 32 h 110"/>
                <a:gd name="T38" fmla="*/ 52 w 156"/>
                <a:gd name="T39" fmla="*/ 37 h 110"/>
                <a:gd name="T40" fmla="*/ 52 w 156"/>
                <a:gd name="T41" fmla="*/ 43 h 110"/>
                <a:gd name="T42" fmla="*/ 47 w 156"/>
                <a:gd name="T43" fmla="*/ 48 h 110"/>
                <a:gd name="T44" fmla="*/ 44 w 156"/>
                <a:gd name="T45" fmla="*/ 48 h 110"/>
                <a:gd name="T46" fmla="*/ 12 w 156"/>
                <a:gd name="T47" fmla="*/ 72 h 110"/>
                <a:gd name="T48" fmla="*/ 0 w 156"/>
                <a:gd name="T49"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10">
                  <a:moveTo>
                    <a:pt x="0" y="110"/>
                  </a:moveTo>
                  <a:cubicBezTo>
                    <a:pt x="78" y="110"/>
                    <a:pt x="78" y="110"/>
                    <a:pt x="78" y="110"/>
                  </a:cubicBezTo>
                  <a:cubicBezTo>
                    <a:pt x="156" y="110"/>
                    <a:pt x="156" y="110"/>
                    <a:pt x="156" y="110"/>
                  </a:cubicBezTo>
                  <a:cubicBezTo>
                    <a:pt x="144" y="72"/>
                    <a:pt x="144" y="72"/>
                    <a:pt x="144" y="72"/>
                  </a:cubicBezTo>
                  <a:cubicBezTo>
                    <a:pt x="140" y="58"/>
                    <a:pt x="127" y="48"/>
                    <a:pt x="112" y="48"/>
                  </a:cubicBezTo>
                  <a:cubicBezTo>
                    <a:pt x="109" y="48"/>
                    <a:pt x="109" y="48"/>
                    <a:pt x="109" y="48"/>
                  </a:cubicBezTo>
                  <a:cubicBezTo>
                    <a:pt x="106" y="48"/>
                    <a:pt x="104" y="46"/>
                    <a:pt x="104" y="43"/>
                  </a:cubicBezTo>
                  <a:cubicBezTo>
                    <a:pt x="104" y="37"/>
                    <a:pt x="104" y="37"/>
                    <a:pt x="104" y="37"/>
                  </a:cubicBezTo>
                  <a:cubicBezTo>
                    <a:pt x="104" y="34"/>
                    <a:pt x="106" y="32"/>
                    <a:pt x="109" y="32"/>
                  </a:cubicBezTo>
                  <a:cubicBezTo>
                    <a:pt x="121" y="32"/>
                    <a:pt x="121" y="32"/>
                    <a:pt x="121" y="32"/>
                  </a:cubicBezTo>
                  <a:cubicBezTo>
                    <a:pt x="128" y="32"/>
                    <a:pt x="134" y="26"/>
                    <a:pt x="134" y="19"/>
                  </a:cubicBezTo>
                  <a:cubicBezTo>
                    <a:pt x="134" y="4"/>
                    <a:pt x="134" y="4"/>
                    <a:pt x="134" y="4"/>
                  </a:cubicBezTo>
                  <a:cubicBezTo>
                    <a:pt x="134" y="2"/>
                    <a:pt x="132" y="0"/>
                    <a:pt x="129" y="0"/>
                  </a:cubicBezTo>
                  <a:cubicBezTo>
                    <a:pt x="78" y="0"/>
                    <a:pt x="78" y="0"/>
                    <a:pt x="78" y="0"/>
                  </a:cubicBezTo>
                  <a:cubicBezTo>
                    <a:pt x="27" y="0"/>
                    <a:pt x="27" y="0"/>
                    <a:pt x="27" y="0"/>
                  </a:cubicBezTo>
                  <a:cubicBezTo>
                    <a:pt x="24" y="0"/>
                    <a:pt x="22" y="2"/>
                    <a:pt x="22" y="4"/>
                  </a:cubicBezTo>
                  <a:cubicBezTo>
                    <a:pt x="22" y="19"/>
                    <a:pt x="22" y="19"/>
                    <a:pt x="22" y="19"/>
                  </a:cubicBezTo>
                  <a:cubicBezTo>
                    <a:pt x="22" y="26"/>
                    <a:pt x="28" y="32"/>
                    <a:pt x="35" y="32"/>
                  </a:cubicBezTo>
                  <a:cubicBezTo>
                    <a:pt x="47" y="32"/>
                    <a:pt x="47" y="32"/>
                    <a:pt x="47" y="32"/>
                  </a:cubicBezTo>
                  <a:cubicBezTo>
                    <a:pt x="49" y="32"/>
                    <a:pt x="52" y="34"/>
                    <a:pt x="52" y="37"/>
                  </a:cubicBezTo>
                  <a:cubicBezTo>
                    <a:pt x="52" y="43"/>
                    <a:pt x="52" y="43"/>
                    <a:pt x="52" y="43"/>
                  </a:cubicBezTo>
                  <a:cubicBezTo>
                    <a:pt x="52" y="46"/>
                    <a:pt x="49" y="48"/>
                    <a:pt x="47" y="48"/>
                  </a:cubicBezTo>
                  <a:cubicBezTo>
                    <a:pt x="44" y="48"/>
                    <a:pt x="44" y="48"/>
                    <a:pt x="44" y="48"/>
                  </a:cubicBezTo>
                  <a:cubicBezTo>
                    <a:pt x="29" y="48"/>
                    <a:pt x="16" y="58"/>
                    <a:pt x="12" y="72"/>
                  </a:cubicBezTo>
                  <a:lnTo>
                    <a:pt x="0" y="1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43" name="Freeform 141"/>
            <p:cNvSpPr>
              <a:spLocks/>
            </p:cNvSpPr>
            <p:nvPr/>
          </p:nvSpPr>
          <p:spPr bwMode="auto">
            <a:xfrm>
              <a:off x="16897350" y="13923963"/>
              <a:ext cx="269875" cy="131763"/>
            </a:xfrm>
            <a:custGeom>
              <a:avLst/>
              <a:gdLst>
                <a:gd name="T0" fmla="*/ 0 w 170"/>
                <a:gd name="T1" fmla="*/ 0 h 83"/>
                <a:gd name="T2" fmla="*/ 0 w 170"/>
                <a:gd name="T3" fmla="*/ 83 h 83"/>
                <a:gd name="T4" fmla="*/ 86 w 170"/>
                <a:gd name="T5" fmla="*/ 83 h 83"/>
                <a:gd name="T6" fmla="*/ 170 w 170"/>
                <a:gd name="T7" fmla="*/ 83 h 83"/>
                <a:gd name="T8" fmla="*/ 170 w 170"/>
                <a:gd name="T9" fmla="*/ 0 h 83"/>
                <a:gd name="T10" fmla="*/ 86 w 170"/>
                <a:gd name="T11" fmla="*/ 0 h 83"/>
                <a:gd name="T12" fmla="*/ 0 w 170"/>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170" h="83">
                  <a:moveTo>
                    <a:pt x="0" y="0"/>
                  </a:moveTo>
                  <a:lnTo>
                    <a:pt x="0" y="83"/>
                  </a:lnTo>
                  <a:lnTo>
                    <a:pt x="86" y="83"/>
                  </a:lnTo>
                  <a:lnTo>
                    <a:pt x="170" y="83"/>
                  </a:lnTo>
                  <a:lnTo>
                    <a:pt x="170" y="0"/>
                  </a:lnTo>
                  <a:lnTo>
                    <a:pt x="86"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44" name="Freeform 142"/>
            <p:cNvSpPr>
              <a:spLocks/>
            </p:cNvSpPr>
            <p:nvPr/>
          </p:nvSpPr>
          <p:spPr bwMode="auto">
            <a:xfrm>
              <a:off x="16687800" y="13835063"/>
              <a:ext cx="693738" cy="44450"/>
            </a:xfrm>
            <a:custGeom>
              <a:avLst/>
              <a:gdLst>
                <a:gd name="T0" fmla="*/ 0 w 126"/>
                <a:gd name="T1" fmla="*/ 2 h 8"/>
                <a:gd name="T2" fmla="*/ 0 w 126"/>
                <a:gd name="T3" fmla="*/ 6 h 8"/>
                <a:gd name="T4" fmla="*/ 2 w 126"/>
                <a:gd name="T5" fmla="*/ 8 h 8"/>
                <a:gd name="T6" fmla="*/ 63 w 126"/>
                <a:gd name="T7" fmla="*/ 8 h 8"/>
                <a:gd name="T8" fmla="*/ 123 w 126"/>
                <a:gd name="T9" fmla="*/ 8 h 8"/>
                <a:gd name="T10" fmla="*/ 126 w 126"/>
                <a:gd name="T11" fmla="*/ 6 h 8"/>
                <a:gd name="T12" fmla="*/ 126 w 126"/>
                <a:gd name="T13" fmla="*/ 2 h 8"/>
                <a:gd name="T14" fmla="*/ 123 w 126"/>
                <a:gd name="T15" fmla="*/ 0 h 8"/>
                <a:gd name="T16" fmla="*/ 63 w 126"/>
                <a:gd name="T17" fmla="*/ 0 h 8"/>
                <a:gd name="T18" fmla="*/ 2 w 126"/>
                <a:gd name="T19" fmla="*/ 0 h 8"/>
                <a:gd name="T20" fmla="*/ 0 w 126"/>
                <a:gd name="T21" fmla="*/ 2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8">
                  <a:moveTo>
                    <a:pt x="0" y="2"/>
                  </a:moveTo>
                  <a:cubicBezTo>
                    <a:pt x="0" y="6"/>
                    <a:pt x="0" y="6"/>
                    <a:pt x="0" y="6"/>
                  </a:cubicBezTo>
                  <a:cubicBezTo>
                    <a:pt x="0" y="7"/>
                    <a:pt x="1" y="8"/>
                    <a:pt x="2" y="8"/>
                  </a:cubicBezTo>
                  <a:cubicBezTo>
                    <a:pt x="63" y="8"/>
                    <a:pt x="63" y="8"/>
                    <a:pt x="63" y="8"/>
                  </a:cubicBezTo>
                  <a:cubicBezTo>
                    <a:pt x="123" y="8"/>
                    <a:pt x="123" y="8"/>
                    <a:pt x="123" y="8"/>
                  </a:cubicBezTo>
                  <a:cubicBezTo>
                    <a:pt x="125" y="8"/>
                    <a:pt x="126" y="7"/>
                    <a:pt x="126" y="6"/>
                  </a:cubicBezTo>
                  <a:cubicBezTo>
                    <a:pt x="126" y="2"/>
                    <a:pt x="126" y="2"/>
                    <a:pt x="126" y="2"/>
                  </a:cubicBezTo>
                  <a:cubicBezTo>
                    <a:pt x="126" y="1"/>
                    <a:pt x="125" y="0"/>
                    <a:pt x="123" y="0"/>
                  </a:cubicBezTo>
                  <a:cubicBezTo>
                    <a:pt x="63" y="0"/>
                    <a:pt x="63" y="0"/>
                    <a:pt x="63" y="0"/>
                  </a:cubicBezTo>
                  <a:cubicBezTo>
                    <a:pt x="2" y="0"/>
                    <a:pt x="2" y="0"/>
                    <a:pt x="2" y="0"/>
                  </a:cubicBezTo>
                  <a:cubicBezTo>
                    <a:pt x="1"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45" name="Rectangle 143"/>
            <p:cNvSpPr>
              <a:spLocks noChangeArrowheads="1"/>
            </p:cNvSpPr>
            <p:nvPr/>
          </p:nvSpPr>
          <p:spPr bwMode="auto">
            <a:xfrm>
              <a:off x="16930688" y="13620750"/>
              <a:ext cx="203200" cy="176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46" name="Freeform 144"/>
            <p:cNvSpPr>
              <a:spLocks/>
            </p:cNvSpPr>
            <p:nvPr/>
          </p:nvSpPr>
          <p:spPr bwMode="auto">
            <a:xfrm>
              <a:off x="16048038" y="15730538"/>
              <a:ext cx="66675" cy="136525"/>
            </a:xfrm>
            <a:custGeom>
              <a:avLst/>
              <a:gdLst>
                <a:gd name="T0" fmla="*/ 9 w 12"/>
                <a:gd name="T1" fmla="*/ 0 h 25"/>
                <a:gd name="T2" fmla="*/ 2 w 12"/>
                <a:gd name="T3" fmla="*/ 0 h 25"/>
                <a:gd name="T4" fmla="*/ 0 w 12"/>
                <a:gd name="T5" fmla="*/ 3 h 25"/>
                <a:gd name="T6" fmla="*/ 0 w 12"/>
                <a:gd name="T7" fmla="*/ 22 h 25"/>
                <a:gd name="T8" fmla="*/ 2 w 12"/>
                <a:gd name="T9" fmla="*/ 25 h 25"/>
                <a:gd name="T10" fmla="*/ 9 w 12"/>
                <a:gd name="T11" fmla="*/ 25 h 25"/>
                <a:gd name="T12" fmla="*/ 12 w 12"/>
                <a:gd name="T13" fmla="*/ 22 h 25"/>
                <a:gd name="T14" fmla="*/ 12 w 12"/>
                <a:gd name="T15" fmla="*/ 3 h 25"/>
                <a:gd name="T16" fmla="*/ 9 w 12"/>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5">
                  <a:moveTo>
                    <a:pt x="9" y="0"/>
                  </a:moveTo>
                  <a:cubicBezTo>
                    <a:pt x="2" y="0"/>
                    <a:pt x="2" y="0"/>
                    <a:pt x="2" y="0"/>
                  </a:cubicBezTo>
                  <a:cubicBezTo>
                    <a:pt x="1" y="0"/>
                    <a:pt x="0" y="2"/>
                    <a:pt x="0" y="3"/>
                  </a:cubicBezTo>
                  <a:cubicBezTo>
                    <a:pt x="0" y="22"/>
                    <a:pt x="0" y="22"/>
                    <a:pt x="0" y="22"/>
                  </a:cubicBezTo>
                  <a:cubicBezTo>
                    <a:pt x="0" y="24"/>
                    <a:pt x="1" y="25"/>
                    <a:pt x="2" y="25"/>
                  </a:cubicBezTo>
                  <a:cubicBezTo>
                    <a:pt x="9" y="25"/>
                    <a:pt x="9" y="25"/>
                    <a:pt x="9" y="25"/>
                  </a:cubicBezTo>
                  <a:cubicBezTo>
                    <a:pt x="10" y="25"/>
                    <a:pt x="12" y="24"/>
                    <a:pt x="12" y="22"/>
                  </a:cubicBezTo>
                  <a:cubicBezTo>
                    <a:pt x="12" y="3"/>
                    <a:pt x="12" y="3"/>
                    <a:pt x="12" y="3"/>
                  </a:cubicBezTo>
                  <a:cubicBezTo>
                    <a:pt x="12" y="2"/>
                    <a:pt x="10"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47" name="Freeform 145"/>
            <p:cNvSpPr>
              <a:spLocks/>
            </p:cNvSpPr>
            <p:nvPr/>
          </p:nvSpPr>
          <p:spPr bwMode="auto">
            <a:xfrm>
              <a:off x="16400463" y="15139988"/>
              <a:ext cx="138113" cy="66675"/>
            </a:xfrm>
            <a:custGeom>
              <a:avLst/>
              <a:gdLst>
                <a:gd name="T0" fmla="*/ 25 w 25"/>
                <a:gd name="T1" fmla="*/ 9 h 12"/>
                <a:gd name="T2" fmla="*/ 25 w 25"/>
                <a:gd name="T3" fmla="*/ 2 h 12"/>
                <a:gd name="T4" fmla="*/ 22 w 25"/>
                <a:gd name="T5" fmla="*/ 0 h 12"/>
                <a:gd name="T6" fmla="*/ 3 w 25"/>
                <a:gd name="T7" fmla="*/ 0 h 12"/>
                <a:gd name="T8" fmla="*/ 0 w 25"/>
                <a:gd name="T9" fmla="*/ 2 h 12"/>
                <a:gd name="T10" fmla="*/ 0 w 25"/>
                <a:gd name="T11" fmla="*/ 9 h 12"/>
                <a:gd name="T12" fmla="*/ 3 w 25"/>
                <a:gd name="T13" fmla="*/ 12 h 12"/>
                <a:gd name="T14" fmla="*/ 22 w 25"/>
                <a:gd name="T15" fmla="*/ 12 h 12"/>
                <a:gd name="T16" fmla="*/ 25 w 25"/>
                <a:gd name="T17" fmla="*/ 9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2">
                  <a:moveTo>
                    <a:pt x="25" y="9"/>
                  </a:moveTo>
                  <a:cubicBezTo>
                    <a:pt x="25" y="2"/>
                    <a:pt x="25" y="2"/>
                    <a:pt x="25" y="2"/>
                  </a:cubicBezTo>
                  <a:cubicBezTo>
                    <a:pt x="25" y="1"/>
                    <a:pt x="23" y="0"/>
                    <a:pt x="22" y="0"/>
                  </a:cubicBezTo>
                  <a:cubicBezTo>
                    <a:pt x="3" y="0"/>
                    <a:pt x="3" y="0"/>
                    <a:pt x="3" y="0"/>
                  </a:cubicBezTo>
                  <a:cubicBezTo>
                    <a:pt x="1" y="0"/>
                    <a:pt x="0" y="1"/>
                    <a:pt x="0" y="2"/>
                  </a:cubicBezTo>
                  <a:cubicBezTo>
                    <a:pt x="0" y="9"/>
                    <a:pt x="0" y="9"/>
                    <a:pt x="0" y="9"/>
                  </a:cubicBezTo>
                  <a:cubicBezTo>
                    <a:pt x="0" y="10"/>
                    <a:pt x="1" y="12"/>
                    <a:pt x="3" y="12"/>
                  </a:cubicBezTo>
                  <a:cubicBezTo>
                    <a:pt x="22" y="12"/>
                    <a:pt x="22" y="12"/>
                    <a:pt x="22" y="12"/>
                  </a:cubicBezTo>
                  <a:cubicBezTo>
                    <a:pt x="23" y="12"/>
                    <a:pt x="25" y="10"/>
                    <a:pt x="2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48" name="Freeform 146"/>
            <p:cNvSpPr>
              <a:spLocks/>
            </p:cNvSpPr>
            <p:nvPr/>
          </p:nvSpPr>
          <p:spPr bwMode="auto">
            <a:xfrm>
              <a:off x="16473488" y="15730538"/>
              <a:ext cx="65088" cy="136525"/>
            </a:xfrm>
            <a:custGeom>
              <a:avLst/>
              <a:gdLst>
                <a:gd name="T0" fmla="*/ 3 w 12"/>
                <a:gd name="T1" fmla="*/ 25 h 25"/>
                <a:gd name="T2" fmla="*/ 9 w 12"/>
                <a:gd name="T3" fmla="*/ 25 h 25"/>
                <a:gd name="T4" fmla="*/ 12 w 12"/>
                <a:gd name="T5" fmla="*/ 22 h 25"/>
                <a:gd name="T6" fmla="*/ 12 w 12"/>
                <a:gd name="T7" fmla="*/ 3 h 25"/>
                <a:gd name="T8" fmla="*/ 9 w 12"/>
                <a:gd name="T9" fmla="*/ 0 h 25"/>
                <a:gd name="T10" fmla="*/ 3 w 12"/>
                <a:gd name="T11" fmla="*/ 0 h 25"/>
                <a:gd name="T12" fmla="*/ 0 w 12"/>
                <a:gd name="T13" fmla="*/ 3 h 25"/>
                <a:gd name="T14" fmla="*/ 0 w 12"/>
                <a:gd name="T15" fmla="*/ 22 h 25"/>
                <a:gd name="T16" fmla="*/ 3 w 12"/>
                <a:gd name="T17"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5">
                  <a:moveTo>
                    <a:pt x="3" y="25"/>
                  </a:moveTo>
                  <a:cubicBezTo>
                    <a:pt x="9" y="25"/>
                    <a:pt x="9" y="25"/>
                    <a:pt x="9" y="25"/>
                  </a:cubicBezTo>
                  <a:cubicBezTo>
                    <a:pt x="11" y="25"/>
                    <a:pt x="12" y="24"/>
                    <a:pt x="12" y="22"/>
                  </a:cubicBezTo>
                  <a:cubicBezTo>
                    <a:pt x="12" y="3"/>
                    <a:pt x="12" y="3"/>
                    <a:pt x="12" y="3"/>
                  </a:cubicBezTo>
                  <a:cubicBezTo>
                    <a:pt x="12" y="2"/>
                    <a:pt x="11" y="0"/>
                    <a:pt x="9" y="0"/>
                  </a:cubicBezTo>
                  <a:cubicBezTo>
                    <a:pt x="3" y="0"/>
                    <a:pt x="3" y="0"/>
                    <a:pt x="3" y="0"/>
                  </a:cubicBezTo>
                  <a:cubicBezTo>
                    <a:pt x="1" y="0"/>
                    <a:pt x="0" y="2"/>
                    <a:pt x="0" y="3"/>
                  </a:cubicBezTo>
                  <a:cubicBezTo>
                    <a:pt x="0" y="22"/>
                    <a:pt x="0" y="22"/>
                    <a:pt x="0" y="22"/>
                  </a:cubicBezTo>
                  <a:cubicBezTo>
                    <a:pt x="0" y="24"/>
                    <a:pt x="1" y="25"/>
                    <a:pt x="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49" name="Freeform 147"/>
            <p:cNvSpPr>
              <a:spLocks/>
            </p:cNvSpPr>
            <p:nvPr/>
          </p:nvSpPr>
          <p:spPr bwMode="auto">
            <a:xfrm>
              <a:off x="16549688" y="15757525"/>
              <a:ext cx="49213" cy="82550"/>
            </a:xfrm>
            <a:custGeom>
              <a:avLst/>
              <a:gdLst>
                <a:gd name="T0" fmla="*/ 0 w 9"/>
                <a:gd name="T1" fmla="*/ 0 h 15"/>
                <a:gd name="T2" fmla="*/ 0 w 9"/>
                <a:gd name="T3" fmla="*/ 15 h 15"/>
                <a:gd name="T4" fmla="*/ 7 w 9"/>
                <a:gd name="T5" fmla="*/ 15 h 15"/>
                <a:gd name="T6" fmla="*/ 9 w 9"/>
                <a:gd name="T7" fmla="*/ 13 h 15"/>
                <a:gd name="T8" fmla="*/ 9 w 9"/>
                <a:gd name="T9" fmla="*/ 3 h 15"/>
                <a:gd name="T10" fmla="*/ 7 w 9"/>
                <a:gd name="T11" fmla="*/ 0 h 15"/>
                <a:gd name="T12" fmla="*/ 0 w 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9" h="15">
                  <a:moveTo>
                    <a:pt x="0" y="0"/>
                  </a:moveTo>
                  <a:cubicBezTo>
                    <a:pt x="0" y="15"/>
                    <a:pt x="0" y="15"/>
                    <a:pt x="0" y="15"/>
                  </a:cubicBezTo>
                  <a:cubicBezTo>
                    <a:pt x="7" y="15"/>
                    <a:pt x="7" y="15"/>
                    <a:pt x="7" y="15"/>
                  </a:cubicBezTo>
                  <a:cubicBezTo>
                    <a:pt x="8" y="15"/>
                    <a:pt x="9" y="14"/>
                    <a:pt x="9" y="13"/>
                  </a:cubicBezTo>
                  <a:cubicBezTo>
                    <a:pt x="9" y="3"/>
                    <a:pt x="9" y="3"/>
                    <a:pt x="9" y="3"/>
                  </a:cubicBezTo>
                  <a:cubicBezTo>
                    <a:pt x="9" y="1"/>
                    <a:pt x="8" y="0"/>
                    <a:pt x="7"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50" name="Freeform 148"/>
            <p:cNvSpPr>
              <a:spLocks/>
            </p:cNvSpPr>
            <p:nvPr/>
          </p:nvSpPr>
          <p:spPr bwMode="auto">
            <a:xfrm>
              <a:off x="16400463" y="14639925"/>
              <a:ext cx="138113" cy="65088"/>
            </a:xfrm>
            <a:custGeom>
              <a:avLst/>
              <a:gdLst>
                <a:gd name="T0" fmla="*/ 0 w 25"/>
                <a:gd name="T1" fmla="*/ 3 h 12"/>
                <a:gd name="T2" fmla="*/ 0 w 25"/>
                <a:gd name="T3" fmla="*/ 9 h 12"/>
                <a:gd name="T4" fmla="*/ 3 w 25"/>
                <a:gd name="T5" fmla="*/ 12 h 12"/>
                <a:gd name="T6" fmla="*/ 22 w 25"/>
                <a:gd name="T7" fmla="*/ 12 h 12"/>
                <a:gd name="T8" fmla="*/ 25 w 25"/>
                <a:gd name="T9" fmla="*/ 9 h 12"/>
                <a:gd name="T10" fmla="*/ 25 w 25"/>
                <a:gd name="T11" fmla="*/ 3 h 12"/>
                <a:gd name="T12" fmla="*/ 22 w 25"/>
                <a:gd name="T13" fmla="*/ 0 h 12"/>
                <a:gd name="T14" fmla="*/ 3 w 25"/>
                <a:gd name="T15" fmla="*/ 0 h 12"/>
                <a:gd name="T16" fmla="*/ 0 w 25"/>
                <a:gd name="T17" fmla="*/ 3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2">
                  <a:moveTo>
                    <a:pt x="0" y="3"/>
                  </a:moveTo>
                  <a:cubicBezTo>
                    <a:pt x="0" y="9"/>
                    <a:pt x="0" y="9"/>
                    <a:pt x="0" y="9"/>
                  </a:cubicBezTo>
                  <a:cubicBezTo>
                    <a:pt x="0" y="11"/>
                    <a:pt x="1" y="12"/>
                    <a:pt x="3" y="12"/>
                  </a:cubicBezTo>
                  <a:cubicBezTo>
                    <a:pt x="22" y="12"/>
                    <a:pt x="22" y="12"/>
                    <a:pt x="22" y="12"/>
                  </a:cubicBezTo>
                  <a:cubicBezTo>
                    <a:pt x="23" y="12"/>
                    <a:pt x="25" y="11"/>
                    <a:pt x="25" y="9"/>
                  </a:cubicBezTo>
                  <a:cubicBezTo>
                    <a:pt x="25" y="3"/>
                    <a:pt x="25" y="3"/>
                    <a:pt x="25" y="3"/>
                  </a:cubicBezTo>
                  <a:cubicBezTo>
                    <a:pt x="25" y="1"/>
                    <a:pt x="23" y="0"/>
                    <a:pt x="22" y="0"/>
                  </a:cubicBezTo>
                  <a:cubicBezTo>
                    <a:pt x="3" y="0"/>
                    <a:pt x="3" y="0"/>
                    <a:pt x="3" y="0"/>
                  </a:cubicBezTo>
                  <a:cubicBezTo>
                    <a:pt x="1" y="0"/>
                    <a:pt x="0" y="1"/>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51" name="Freeform 149"/>
            <p:cNvSpPr>
              <a:spLocks/>
            </p:cNvSpPr>
            <p:nvPr/>
          </p:nvSpPr>
          <p:spPr bwMode="auto">
            <a:xfrm>
              <a:off x="16429038" y="14578013"/>
              <a:ext cx="82550" cy="50800"/>
            </a:xfrm>
            <a:custGeom>
              <a:avLst/>
              <a:gdLst>
                <a:gd name="T0" fmla="*/ 12 w 15"/>
                <a:gd name="T1" fmla="*/ 0 h 9"/>
                <a:gd name="T2" fmla="*/ 2 w 15"/>
                <a:gd name="T3" fmla="*/ 0 h 9"/>
                <a:gd name="T4" fmla="*/ 0 w 15"/>
                <a:gd name="T5" fmla="*/ 2 h 9"/>
                <a:gd name="T6" fmla="*/ 0 w 15"/>
                <a:gd name="T7" fmla="*/ 9 h 9"/>
                <a:gd name="T8" fmla="*/ 15 w 15"/>
                <a:gd name="T9" fmla="*/ 9 h 9"/>
                <a:gd name="T10" fmla="*/ 15 w 15"/>
                <a:gd name="T11" fmla="*/ 2 h 9"/>
                <a:gd name="T12" fmla="*/ 12 w 1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 h="9">
                  <a:moveTo>
                    <a:pt x="12" y="0"/>
                  </a:moveTo>
                  <a:cubicBezTo>
                    <a:pt x="2" y="0"/>
                    <a:pt x="2" y="0"/>
                    <a:pt x="2" y="0"/>
                  </a:cubicBezTo>
                  <a:cubicBezTo>
                    <a:pt x="1" y="0"/>
                    <a:pt x="0" y="1"/>
                    <a:pt x="0" y="2"/>
                  </a:cubicBezTo>
                  <a:cubicBezTo>
                    <a:pt x="0" y="9"/>
                    <a:pt x="0" y="9"/>
                    <a:pt x="0" y="9"/>
                  </a:cubicBezTo>
                  <a:cubicBezTo>
                    <a:pt x="15" y="9"/>
                    <a:pt x="15" y="9"/>
                    <a:pt x="15" y="9"/>
                  </a:cubicBezTo>
                  <a:cubicBezTo>
                    <a:pt x="15" y="2"/>
                    <a:pt x="15" y="2"/>
                    <a:pt x="15" y="2"/>
                  </a:cubicBezTo>
                  <a:cubicBezTo>
                    <a:pt x="15" y="1"/>
                    <a:pt x="14"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52" name="Freeform 150"/>
            <p:cNvSpPr>
              <a:spLocks/>
            </p:cNvSpPr>
            <p:nvPr/>
          </p:nvSpPr>
          <p:spPr bwMode="auto">
            <a:xfrm>
              <a:off x="16743363" y="13757275"/>
              <a:ext cx="71438" cy="39688"/>
            </a:xfrm>
            <a:custGeom>
              <a:avLst/>
              <a:gdLst>
                <a:gd name="T0" fmla="*/ 0 w 13"/>
                <a:gd name="T1" fmla="*/ 2 h 7"/>
                <a:gd name="T2" fmla="*/ 0 w 13"/>
                <a:gd name="T3" fmla="*/ 5 h 7"/>
                <a:gd name="T4" fmla="*/ 1 w 13"/>
                <a:gd name="T5" fmla="*/ 7 h 7"/>
                <a:gd name="T6" fmla="*/ 11 w 13"/>
                <a:gd name="T7" fmla="*/ 7 h 7"/>
                <a:gd name="T8" fmla="*/ 13 w 13"/>
                <a:gd name="T9" fmla="*/ 5 h 7"/>
                <a:gd name="T10" fmla="*/ 13 w 13"/>
                <a:gd name="T11" fmla="*/ 2 h 7"/>
                <a:gd name="T12" fmla="*/ 11 w 13"/>
                <a:gd name="T13" fmla="*/ 0 h 7"/>
                <a:gd name="T14" fmla="*/ 1 w 13"/>
                <a:gd name="T15" fmla="*/ 0 h 7"/>
                <a:gd name="T16" fmla="*/ 0 w 13"/>
                <a:gd name="T17"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7">
                  <a:moveTo>
                    <a:pt x="0" y="2"/>
                  </a:moveTo>
                  <a:cubicBezTo>
                    <a:pt x="0" y="5"/>
                    <a:pt x="0" y="5"/>
                    <a:pt x="0" y="5"/>
                  </a:cubicBezTo>
                  <a:cubicBezTo>
                    <a:pt x="0" y="6"/>
                    <a:pt x="0" y="7"/>
                    <a:pt x="1" y="7"/>
                  </a:cubicBezTo>
                  <a:cubicBezTo>
                    <a:pt x="11" y="7"/>
                    <a:pt x="11" y="7"/>
                    <a:pt x="11" y="7"/>
                  </a:cubicBezTo>
                  <a:cubicBezTo>
                    <a:pt x="12" y="7"/>
                    <a:pt x="13" y="6"/>
                    <a:pt x="13" y="5"/>
                  </a:cubicBezTo>
                  <a:cubicBezTo>
                    <a:pt x="13" y="2"/>
                    <a:pt x="13" y="2"/>
                    <a:pt x="13" y="2"/>
                  </a:cubicBezTo>
                  <a:cubicBezTo>
                    <a:pt x="13" y="1"/>
                    <a:pt x="12" y="0"/>
                    <a:pt x="11" y="0"/>
                  </a:cubicBezTo>
                  <a:cubicBezTo>
                    <a:pt x="1" y="0"/>
                    <a:pt x="1" y="0"/>
                    <a:pt x="1" y="0"/>
                  </a:cubicBezTo>
                  <a:cubicBezTo>
                    <a:pt x="0"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53" name="Freeform 151"/>
            <p:cNvSpPr>
              <a:spLocks/>
            </p:cNvSpPr>
            <p:nvPr/>
          </p:nvSpPr>
          <p:spPr bwMode="auto">
            <a:xfrm>
              <a:off x="16752888" y="13725525"/>
              <a:ext cx="44450" cy="26988"/>
            </a:xfrm>
            <a:custGeom>
              <a:avLst/>
              <a:gdLst>
                <a:gd name="T0" fmla="*/ 7 w 8"/>
                <a:gd name="T1" fmla="*/ 0 h 5"/>
                <a:gd name="T2" fmla="*/ 2 w 8"/>
                <a:gd name="T3" fmla="*/ 0 h 5"/>
                <a:gd name="T4" fmla="*/ 0 w 8"/>
                <a:gd name="T5" fmla="*/ 1 h 5"/>
                <a:gd name="T6" fmla="*/ 0 w 8"/>
                <a:gd name="T7" fmla="*/ 5 h 5"/>
                <a:gd name="T8" fmla="*/ 8 w 8"/>
                <a:gd name="T9" fmla="*/ 5 h 5"/>
                <a:gd name="T10" fmla="*/ 8 w 8"/>
                <a:gd name="T11" fmla="*/ 1 h 5"/>
                <a:gd name="T12" fmla="*/ 7 w 8"/>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8" h="5">
                  <a:moveTo>
                    <a:pt x="7" y="0"/>
                  </a:moveTo>
                  <a:cubicBezTo>
                    <a:pt x="2" y="0"/>
                    <a:pt x="2" y="0"/>
                    <a:pt x="2" y="0"/>
                  </a:cubicBezTo>
                  <a:cubicBezTo>
                    <a:pt x="1" y="0"/>
                    <a:pt x="0" y="1"/>
                    <a:pt x="0" y="1"/>
                  </a:cubicBezTo>
                  <a:cubicBezTo>
                    <a:pt x="0" y="5"/>
                    <a:pt x="0" y="5"/>
                    <a:pt x="0" y="5"/>
                  </a:cubicBezTo>
                  <a:cubicBezTo>
                    <a:pt x="8" y="5"/>
                    <a:pt x="8" y="5"/>
                    <a:pt x="8" y="5"/>
                  </a:cubicBezTo>
                  <a:cubicBezTo>
                    <a:pt x="8" y="1"/>
                    <a:pt x="8" y="1"/>
                    <a:pt x="8" y="1"/>
                  </a:cubicBezTo>
                  <a:cubicBezTo>
                    <a:pt x="8" y="1"/>
                    <a:pt x="8"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54" name="Freeform 152"/>
            <p:cNvSpPr>
              <a:spLocks/>
            </p:cNvSpPr>
            <p:nvPr/>
          </p:nvSpPr>
          <p:spPr bwMode="auto">
            <a:xfrm>
              <a:off x="16473488" y="16737013"/>
              <a:ext cx="65088" cy="138113"/>
            </a:xfrm>
            <a:custGeom>
              <a:avLst/>
              <a:gdLst>
                <a:gd name="T0" fmla="*/ 9 w 12"/>
                <a:gd name="T1" fmla="*/ 0 h 25"/>
                <a:gd name="T2" fmla="*/ 3 w 12"/>
                <a:gd name="T3" fmla="*/ 0 h 25"/>
                <a:gd name="T4" fmla="*/ 0 w 12"/>
                <a:gd name="T5" fmla="*/ 3 h 25"/>
                <a:gd name="T6" fmla="*/ 0 w 12"/>
                <a:gd name="T7" fmla="*/ 22 h 25"/>
                <a:gd name="T8" fmla="*/ 3 w 12"/>
                <a:gd name="T9" fmla="*/ 25 h 25"/>
                <a:gd name="T10" fmla="*/ 9 w 12"/>
                <a:gd name="T11" fmla="*/ 25 h 25"/>
                <a:gd name="T12" fmla="*/ 12 w 12"/>
                <a:gd name="T13" fmla="*/ 22 h 25"/>
                <a:gd name="T14" fmla="*/ 12 w 12"/>
                <a:gd name="T15" fmla="*/ 3 h 25"/>
                <a:gd name="T16" fmla="*/ 9 w 12"/>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5">
                  <a:moveTo>
                    <a:pt x="9" y="0"/>
                  </a:moveTo>
                  <a:cubicBezTo>
                    <a:pt x="3" y="0"/>
                    <a:pt x="3" y="0"/>
                    <a:pt x="3" y="0"/>
                  </a:cubicBezTo>
                  <a:cubicBezTo>
                    <a:pt x="1" y="0"/>
                    <a:pt x="0" y="1"/>
                    <a:pt x="0" y="3"/>
                  </a:cubicBezTo>
                  <a:cubicBezTo>
                    <a:pt x="0" y="22"/>
                    <a:pt x="0" y="22"/>
                    <a:pt x="0" y="22"/>
                  </a:cubicBezTo>
                  <a:cubicBezTo>
                    <a:pt x="0" y="24"/>
                    <a:pt x="1" y="25"/>
                    <a:pt x="3" y="25"/>
                  </a:cubicBezTo>
                  <a:cubicBezTo>
                    <a:pt x="9" y="25"/>
                    <a:pt x="9" y="25"/>
                    <a:pt x="9" y="25"/>
                  </a:cubicBezTo>
                  <a:cubicBezTo>
                    <a:pt x="11" y="25"/>
                    <a:pt x="12" y="24"/>
                    <a:pt x="12" y="22"/>
                  </a:cubicBezTo>
                  <a:cubicBezTo>
                    <a:pt x="12" y="3"/>
                    <a:pt x="12" y="3"/>
                    <a:pt x="12" y="3"/>
                  </a:cubicBezTo>
                  <a:cubicBezTo>
                    <a:pt x="12" y="1"/>
                    <a:pt x="11"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55" name="Freeform 153"/>
            <p:cNvSpPr>
              <a:spLocks/>
            </p:cNvSpPr>
            <p:nvPr/>
          </p:nvSpPr>
          <p:spPr bwMode="auto">
            <a:xfrm>
              <a:off x="16048038" y="16737013"/>
              <a:ext cx="66675" cy="138113"/>
            </a:xfrm>
            <a:custGeom>
              <a:avLst/>
              <a:gdLst>
                <a:gd name="T0" fmla="*/ 9 w 12"/>
                <a:gd name="T1" fmla="*/ 0 h 25"/>
                <a:gd name="T2" fmla="*/ 2 w 12"/>
                <a:gd name="T3" fmla="*/ 0 h 25"/>
                <a:gd name="T4" fmla="*/ 0 w 12"/>
                <a:gd name="T5" fmla="*/ 3 h 25"/>
                <a:gd name="T6" fmla="*/ 0 w 12"/>
                <a:gd name="T7" fmla="*/ 22 h 25"/>
                <a:gd name="T8" fmla="*/ 2 w 12"/>
                <a:gd name="T9" fmla="*/ 25 h 25"/>
                <a:gd name="T10" fmla="*/ 9 w 12"/>
                <a:gd name="T11" fmla="*/ 25 h 25"/>
                <a:gd name="T12" fmla="*/ 12 w 12"/>
                <a:gd name="T13" fmla="*/ 22 h 25"/>
                <a:gd name="T14" fmla="*/ 12 w 12"/>
                <a:gd name="T15" fmla="*/ 3 h 25"/>
                <a:gd name="T16" fmla="*/ 9 w 12"/>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5">
                  <a:moveTo>
                    <a:pt x="9" y="0"/>
                  </a:moveTo>
                  <a:cubicBezTo>
                    <a:pt x="2" y="0"/>
                    <a:pt x="2" y="0"/>
                    <a:pt x="2" y="0"/>
                  </a:cubicBezTo>
                  <a:cubicBezTo>
                    <a:pt x="1" y="0"/>
                    <a:pt x="0" y="1"/>
                    <a:pt x="0" y="3"/>
                  </a:cubicBezTo>
                  <a:cubicBezTo>
                    <a:pt x="0" y="22"/>
                    <a:pt x="0" y="22"/>
                    <a:pt x="0" y="22"/>
                  </a:cubicBezTo>
                  <a:cubicBezTo>
                    <a:pt x="0" y="24"/>
                    <a:pt x="1" y="25"/>
                    <a:pt x="2" y="25"/>
                  </a:cubicBezTo>
                  <a:cubicBezTo>
                    <a:pt x="9" y="25"/>
                    <a:pt x="9" y="25"/>
                    <a:pt x="9" y="25"/>
                  </a:cubicBezTo>
                  <a:cubicBezTo>
                    <a:pt x="10" y="25"/>
                    <a:pt x="12" y="24"/>
                    <a:pt x="12" y="22"/>
                  </a:cubicBezTo>
                  <a:cubicBezTo>
                    <a:pt x="12" y="3"/>
                    <a:pt x="12" y="3"/>
                    <a:pt x="12" y="3"/>
                  </a:cubicBezTo>
                  <a:cubicBezTo>
                    <a:pt x="12" y="1"/>
                    <a:pt x="10"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56" name="Freeform 154"/>
            <p:cNvSpPr>
              <a:spLocks/>
            </p:cNvSpPr>
            <p:nvPr/>
          </p:nvSpPr>
          <p:spPr bwMode="auto">
            <a:xfrm>
              <a:off x="16549688" y="16765588"/>
              <a:ext cx="49213" cy="82550"/>
            </a:xfrm>
            <a:custGeom>
              <a:avLst/>
              <a:gdLst>
                <a:gd name="T0" fmla="*/ 7 w 9"/>
                <a:gd name="T1" fmla="*/ 0 h 15"/>
                <a:gd name="T2" fmla="*/ 0 w 9"/>
                <a:gd name="T3" fmla="*/ 0 h 15"/>
                <a:gd name="T4" fmla="*/ 0 w 9"/>
                <a:gd name="T5" fmla="*/ 15 h 15"/>
                <a:gd name="T6" fmla="*/ 7 w 9"/>
                <a:gd name="T7" fmla="*/ 15 h 15"/>
                <a:gd name="T8" fmla="*/ 9 w 9"/>
                <a:gd name="T9" fmla="*/ 12 h 15"/>
                <a:gd name="T10" fmla="*/ 9 w 9"/>
                <a:gd name="T11" fmla="*/ 2 h 15"/>
                <a:gd name="T12" fmla="*/ 7 w 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9" h="15">
                  <a:moveTo>
                    <a:pt x="7" y="0"/>
                  </a:moveTo>
                  <a:cubicBezTo>
                    <a:pt x="0" y="0"/>
                    <a:pt x="0" y="0"/>
                    <a:pt x="0" y="0"/>
                  </a:cubicBezTo>
                  <a:cubicBezTo>
                    <a:pt x="0" y="15"/>
                    <a:pt x="0" y="15"/>
                    <a:pt x="0" y="15"/>
                  </a:cubicBezTo>
                  <a:cubicBezTo>
                    <a:pt x="7" y="15"/>
                    <a:pt x="7" y="15"/>
                    <a:pt x="7" y="15"/>
                  </a:cubicBezTo>
                  <a:cubicBezTo>
                    <a:pt x="8" y="15"/>
                    <a:pt x="9" y="14"/>
                    <a:pt x="9" y="12"/>
                  </a:cubicBezTo>
                  <a:cubicBezTo>
                    <a:pt x="9" y="2"/>
                    <a:pt x="9" y="2"/>
                    <a:pt x="9" y="2"/>
                  </a:cubicBezTo>
                  <a:cubicBezTo>
                    <a:pt x="9" y="1"/>
                    <a:pt x="8"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57" name="Rectangle 155"/>
            <p:cNvSpPr>
              <a:spLocks noChangeArrowheads="1"/>
            </p:cNvSpPr>
            <p:nvPr/>
          </p:nvSpPr>
          <p:spPr bwMode="auto">
            <a:xfrm>
              <a:off x="16752888" y="13923963"/>
              <a:ext cx="44450" cy="1317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58" name="Freeform 156"/>
            <p:cNvSpPr>
              <a:spLocks/>
            </p:cNvSpPr>
            <p:nvPr/>
          </p:nvSpPr>
          <p:spPr bwMode="auto">
            <a:xfrm>
              <a:off x="17954625" y="15982950"/>
              <a:ext cx="841375" cy="639763"/>
            </a:xfrm>
            <a:custGeom>
              <a:avLst/>
              <a:gdLst>
                <a:gd name="T0" fmla="*/ 137 w 153"/>
                <a:gd name="T1" fmla="*/ 0 h 116"/>
                <a:gd name="T2" fmla="*/ 0 w 153"/>
                <a:gd name="T3" fmla="*/ 0 h 116"/>
                <a:gd name="T4" fmla="*/ 0 w 153"/>
                <a:gd name="T5" fmla="*/ 116 h 116"/>
                <a:gd name="T6" fmla="*/ 137 w 153"/>
                <a:gd name="T7" fmla="*/ 116 h 116"/>
                <a:gd name="T8" fmla="*/ 153 w 153"/>
                <a:gd name="T9" fmla="*/ 100 h 116"/>
                <a:gd name="T10" fmla="*/ 153 w 153"/>
                <a:gd name="T11" fmla="*/ 17 h 116"/>
                <a:gd name="T12" fmla="*/ 137 w 153"/>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153" h="116">
                  <a:moveTo>
                    <a:pt x="137" y="0"/>
                  </a:moveTo>
                  <a:cubicBezTo>
                    <a:pt x="0" y="0"/>
                    <a:pt x="0" y="0"/>
                    <a:pt x="0" y="0"/>
                  </a:cubicBezTo>
                  <a:cubicBezTo>
                    <a:pt x="0" y="116"/>
                    <a:pt x="0" y="116"/>
                    <a:pt x="0" y="116"/>
                  </a:cubicBezTo>
                  <a:cubicBezTo>
                    <a:pt x="137" y="116"/>
                    <a:pt x="137" y="116"/>
                    <a:pt x="137" y="116"/>
                  </a:cubicBezTo>
                  <a:cubicBezTo>
                    <a:pt x="146" y="116"/>
                    <a:pt x="153" y="108"/>
                    <a:pt x="153" y="100"/>
                  </a:cubicBezTo>
                  <a:cubicBezTo>
                    <a:pt x="153" y="17"/>
                    <a:pt x="153" y="17"/>
                    <a:pt x="153" y="17"/>
                  </a:cubicBezTo>
                  <a:cubicBezTo>
                    <a:pt x="153" y="8"/>
                    <a:pt x="146" y="0"/>
                    <a:pt x="1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59" name="Freeform 157"/>
            <p:cNvSpPr>
              <a:spLocks/>
            </p:cNvSpPr>
            <p:nvPr/>
          </p:nvSpPr>
          <p:spPr bwMode="auto">
            <a:xfrm>
              <a:off x="17832388" y="15663863"/>
              <a:ext cx="82550" cy="1277938"/>
            </a:xfrm>
            <a:custGeom>
              <a:avLst/>
              <a:gdLst>
                <a:gd name="T0" fmla="*/ 10 w 15"/>
                <a:gd name="T1" fmla="*/ 0 h 232"/>
                <a:gd name="T2" fmla="*/ 4 w 15"/>
                <a:gd name="T3" fmla="*/ 0 h 232"/>
                <a:gd name="T4" fmla="*/ 0 w 15"/>
                <a:gd name="T5" fmla="*/ 4 h 232"/>
                <a:gd name="T6" fmla="*/ 0 w 15"/>
                <a:gd name="T7" fmla="*/ 228 h 232"/>
                <a:gd name="T8" fmla="*/ 4 w 15"/>
                <a:gd name="T9" fmla="*/ 232 h 232"/>
                <a:gd name="T10" fmla="*/ 10 w 15"/>
                <a:gd name="T11" fmla="*/ 232 h 232"/>
                <a:gd name="T12" fmla="*/ 15 w 15"/>
                <a:gd name="T13" fmla="*/ 228 h 232"/>
                <a:gd name="T14" fmla="*/ 15 w 15"/>
                <a:gd name="T15" fmla="*/ 4 h 232"/>
                <a:gd name="T16" fmla="*/ 10 w 15"/>
                <a:gd name="T17" fmla="*/ 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232">
                  <a:moveTo>
                    <a:pt x="10" y="0"/>
                  </a:moveTo>
                  <a:cubicBezTo>
                    <a:pt x="4" y="0"/>
                    <a:pt x="4" y="0"/>
                    <a:pt x="4" y="0"/>
                  </a:cubicBezTo>
                  <a:cubicBezTo>
                    <a:pt x="2" y="0"/>
                    <a:pt x="0" y="2"/>
                    <a:pt x="0" y="4"/>
                  </a:cubicBezTo>
                  <a:cubicBezTo>
                    <a:pt x="0" y="228"/>
                    <a:pt x="0" y="228"/>
                    <a:pt x="0" y="228"/>
                  </a:cubicBezTo>
                  <a:cubicBezTo>
                    <a:pt x="0" y="230"/>
                    <a:pt x="2" y="232"/>
                    <a:pt x="4" y="232"/>
                  </a:cubicBezTo>
                  <a:cubicBezTo>
                    <a:pt x="10" y="232"/>
                    <a:pt x="10" y="232"/>
                    <a:pt x="10" y="232"/>
                  </a:cubicBezTo>
                  <a:cubicBezTo>
                    <a:pt x="13" y="232"/>
                    <a:pt x="15" y="230"/>
                    <a:pt x="15" y="228"/>
                  </a:cubicBezTo>
                  <a:cubicBezTo>
                    <a:pt x="15" y="4"/>
                    <a:pt x="15" y="4"/>
                    <a:pt x="15" y="4"/>
                  </a:cubicBezTo>
                  <a:cubicBezTo>
                    <a:pt x="15" y="2"/>
                    <a:pt x="13"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60" name="Freeform 158"/>
            <p:cNvSpPr>
              <a:spLocks/>
            </p:cNvSpPr>
            <p:nvPr/>
          </p:nvSpPr>
          <p:spPr bwMode="auto">
            <a:xfrm>
              <a:off x="16473488" y="15139988"/>
              <a:ext cx="1122363" cy="1697038"/>
            </a:xfrm>
            <a:custGeom>
              <a:avLst/>
              <a:gdLst>
                <a:gd name="T0" fmla="*/ 172 w 204"/>
                <a:gd name="T1" fmla="*/ 127 h 308"/>
                <a:gd name="T2" fmla="*/ 180 w 204"/>
                <a:gd name="T3" fmla="*/ 0 h 308"/>
                <a:gd name="T4" fmla="*/ 107 w 204"/>
                <a:gd name="T5" fmla="*/ 0 h 308"/>
                <a:gd name="T6" fmla="*/ 102 w 204"/>
                <a:gd name="T7" fmla="*/ 0 h 308"/>
                <a:gd name="T8" fmla="*/ 97 w 204"/>
                <a:gd name="T9" fmla="*/ 0 h 308"/>
                <a:gd name="T10" fmla="*/ 24 w 204"/>
                <a:gd name="T11" fmla="*/ 0 h 308"/>
                <a:gd name="T12" fmla="*/ 31 w 204"/>
                <a:gd name="T13" fmla="*/ 127 h 308"/>
                <a:gd name="T14" fmla="*/ 12 w 204"/>
                <a:gd name="T15" fmla="*/ 147 h 308"/>
                <a:gd name="T16" fmla="*/ 0 w 204"/>
                <a:gd name="T17" fmla="*/ 147 h 308"/>
                <a:gd name="T18" fmla="*/ 0 w 204"/>
                <a:gd name="T19" fmla="*/ 275 h 308"/>
                <a:gd name="T20" fmla="*/ 30 w 204"/>
                <a:gd name="T21" fmla="*/ 275 h 308"/>
                <a:gd name="T22" fmla="*/ 35 w 204"/>
                <a:gd name="T23" fmla="*/ 277 h 308"/>
                <a:gd name="T24" fmla="*/ 54 w 204"/>
                <a:gd name="T25" fmla="*/ 300 h 308"/>
                <a:gd name="T26" fmla="*/ 71 w 204"/>
                <a:gd name="T27" fmla="*/ 308 h 308"/>
                <a:gd name="T28" fmla="*/ 102 w 204"/>
                <a:gd name="T29" fmla="*/ 308 h 308"/>
                <a:gd name="T30" fmla="*/ 132 w 204"/>
                <a:gd name="T31" fmla="*/ 308 h 308"/>
                <a:gd name="T32" fmla="*/ 149 w 204"/>
                <a:gd name="T33" fmla="*/ 300 h 308"/>
                <a:gd name="T34" fmla="*/ 169 w 204"/>
                <a:gd name="T35" fmla="*/ 277 h 308"/>
                <a:gd name="T36" fmla="*/ 174 w 204"/>
                <a:gd name="T37" fmla="*/ 275 h 308"/>
                <a:gd name="T38" fmla="*/ 204 w 204"/>
                <a:gd name="T39" fmla="*/ 275 h 308"/>
                <a:gd name="T40" fmla="*/ 204 w 204"/>
                <a:gd name="T41" fmla="*/ 147 h 308"/>
                <a:gd name="T42" fmla="*/ 191 w 204"/>
                <a:gd name="T43" fmla="*/ 147 h 308"/>
                <a:gd name="T44" fmla="*/ 172 w 204"/>
                <a:gd name="T45" fmla="*/ 127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4" h="308">
                  <a:moveTo>
                    <a:pt x="172" y="127"/>
                  </a:moveTo>
                  <a:cubicBezTo>
                    <a:pt x="180" y="0"/>
                    <a:pt x="180" y="0"/>
                    <a:pt x="180" y="0"/>
                  </a:cubicBezTo>
                  <a:cubicBezTo>
                    <a:pt x="107" y="0"/>
                    <a:pt x="107" y="0"/>
                    <a:pt x="107" y="0"/>
                  </a:cubicBezTo>
                  <a:cubicBezTo>
                    <a:pt x="102" y="0"/>
                    <a:pt x="102" y="0"/>
                    <a:pt x="102" y="0"/>
                  </a:cubicBezTo>
                  <a:cubicBezTo>
                    <a:pt x="97" y="0"/>
                    <a:pt x="97" y="0"/>
                    <a:pt x="97" y="0"/>
                  </a:cubicBezTo>
                  <a:cubicBezTo>
                    <a:pt x="24" y="0"/>
                    <a:pt x="24" y="0"/>
                    <a:pt x="24" y="0"/>
                  </a:cubicBezTo>
                  <a:cubicBezTo>
                    <a:pt x="31" y="127"/>
                    <a:pt x="31" y="127"/>
                    <a:pt x="31" y="127"/>
                  </a:cubicBezTo>
                  <a:cubicBezTo>
                    <a:pt x="32" y="138"/>
                    <a:pt x="23" y="147"/>
                    <a:pt x="12" y="147"/>
                  </a:cubicBezTo>
                  <a:cubicBezTo>
                    <a:pt x="0" y="147"/>
                    <a:pt x="0" y="147"/>
                    <a:pt x="0" y="147"/>
                  </a:cubicBezTo>
                  <a:cubicBezTo>
                    <a:pt x="0" y="275"/>
                    <a:pt x="0" y="275"/>
                    <a:pt x="0" y="275"/>
                  </a:cubicBezTo>
                  <a:cubicBezTo>
                    <a:pt x="30" y="275"/>
                    <a:pt x="30" y="275"/>
                    <a:pt x="30" y="275"/>
                  </a:cubicBezTo>
                  <a:cubicBezTo>
                    <a:pt x="32" y="275"/>
                    <a:pt x="34" y="276"/>
                    <a:pt x="35" y="277"/>
                  </a:cubicBezTo>
                  <a:cubicBezTo>
                    <a:pt x="54" y="300"/>
                    <a:pt x="54" y="300"/>
                    <a:pt x="54" y="300"/>
                  </a:cubicBezTo>
                  <a:cubicBezTo>
                    <a:pt x="59" y="305"/>
                    <a:pt x="65" y="308"/>
                    <a:pt x="71" y="308"/>
                  </a:cubicBezTo>
                  <a:cubicBezTo>
                    <a:pt x="102" y="308"/>
                    <a:pt x="102" y="308"/>
                    <a:pt x="102" y="308"/>
                  </a:cubicBezTo>
                  <a:cubicBezTo>
                    <a:pt x="132" y="308"/>
                    <a:pt x="132" y="308"/>
                    <a:pt x="132" y="308"/>
                  </a:cubicBezTo>
                  <a:cubicBezTo>
                    <a:pt x="139" y="308"/>
                    <a:pt x="145" y="305"/>
                    <a:pt x="149" y="300"/>
                  </a:cubicBezTo>
                  <a:cubicBezTo>
                    <a:pt x="169" y="277"/>
                    <a:pt x="169" y="277"/>
                    <a:pt x="169" y="277"/>
                  </a:cubicBezTo>
                  <a:cubicBezTo>
                    <a:pt x="170" y="276"/>
                    <a:pt x="172" y="275"/>
                    <a:pt x="174" y="275"/>
                  </a:cubicBezTo>
                  <a:cubicBezTo>
                    <a:pt x="204" y="275"/>
                    <a:pt x="204" y="275"/>
                    <a:pt x="204" y="275"/>
                  </a:cubicBezTo>
                  <a:cubicBezTo>
                    <a:pt x="204" y="147"/>
                    <a:pt x="204" y="147"/>
                    <a:pt x="204" y="147"/>
                  </a:cubicBezTo>
                  <a:cubicBezTo>
                    <a:pt x="191" y="147"/>
                    <a:pt x="191" y="147"/>
                    <a:pt x="191" y="147"/>
                  </a:cubicBezTo>
                  <a:cubicBezTo>
                    <a:pt x="180" y="147"/>
                    <a:pt x="172" y="138"/>
                    <a:pt x="172"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61" name="Freeform 159"/>
            <p:cNvSpPr>
              <a:spLocks/>
            </p:cNvSpPr>
            <p:nvPr/>
          </p:nvSpPr>
          <p:spPr bwMode="auto">
            <a:xfrm>
              <a:off x="17635538" y="15663863"/>
              <a:ext cx="153988" cy="1277938"/>
            </a:xfrm>
            <a:custGeom>
              <a:avLst/>
              <a:gdLst>
                <a:gd name="T0" fmla="*/ 21 w 28"/>
                <a:gd name="T1" fmla="*/ 0 h 232"/>
                <a:gd name="T2" fmla="*/ 7 w 28"/>
                <a:gd name="T3" fmla="*/ 0 h 232"/>
                <a:gd name="T4" fmla="*/ 0 w 28"/>
                <a:gd name="T5" fmla="*/ 8 h 232"/>
                <a:gd name="T6" fmla="*/ 0 w 28"/>
                <a:gd name="T7" fmla="*/ 224 h 232"/>
                <a:gd name="T8" fmla="*/ 7 w 28"/>
                <a:gd name="T9" fmla="*/ 232 h 232"/>
                <a:gd name="T10" fmla="*/ 21 w 28"/>
                <a:gd name="T11" fmla="*/ 232 h 232"/>
                <a:gd name="T12" fmla="*/ 28 w 28"/>
                <a:gd name="T13" fmla="*/ 224 h 232"/>
                <a:gd name="T14" fmla="*/ 28 w 28"/>
                <a:gd name="T15" fmla="*/ 8 h 232"/>
                <a:gd name="T16" fmla="*/ 21 w 28"/>
                <a:gd name="T17" fmla="*/ 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32">
                  <a:moveTo>
                    <a:pt x="21" y="0"/>
                  </a:moveTo>
                  <a:cubicBezTo>
                    <a:pt x="7" y="0"/>
                    <a:pt x="7" y="0"/>
                    <a:pt x="7" y="0"/>
                  </a:cubicBezTo>
                  <a:cubicBezTo>
                    <a:pt x="3" y="0"/>
                    <a:pt x="0" y="4"/>
                    <a:pt x="0" y="8"/>
                  </a:cubicBezTo>
                  <a:cubicBezTo>
                    <a:pt x="0" y="224"/>
                    <a:pt x="0" y="224"/>
                    <a:pt x="0" y="224"/>
                  </a:cubicBezTo>
                  <a:cubicBezTo>
                    <a:pt x="0" y="229"/>
                    <a:pt x="3" y="232"/>
                    <a:pt x="7" y="232"/>
                  </a:cubicBezTo>
                  <a:cubicBezTo>
                    <a:pt x="21" y="232"/>
                    <a:pt x="21" y="232"/>
                    <a:pt x="21" y="232"/>
                  </a:cubicBezTo>
                  <a:cubicBezTo>
                    <a:pt x="25" y="232"/>
                    <a:pt x="28" y="229"/>
                    <a:pt x="28" y="224"/>
                  </a:cubicBezTo>
                  <a:cubicBezTo>
                    <a:pt x="28" y="8"/>
                    <a:pt x="28" y="8"/>
                    <a:pt x="28" y="8"/>
                  </a:cubicBezTo>
                  <a:cubicBezTo>
                    <a:pt x="28" y="4"/>
                    <a:pt x="25"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62" name="Freeform 160"/>
            <p:cNvSpPr>
              <a:spLocks/>
            </p:cNvSpPr>
            <p:nvPr/>
          </p:nvSpPr>
          <p:spPr bwMode="auto">
            <a:xfrm>
              <a:off x="16324263" y="14941550"/>
              <a:ext cx="1414463" cy="155575"/>
            </a:xfrm>
            <a:custGeom>
              <a:avLst/>
              <a:gdLst>
                <a:gd name="T0" fmla="*/ 257 w 257"/>
                <a:gd name="T1" fmla="*/ 21 h 28"/>
                <a:gd name="T2" fmla="*/ 257 w 257"/>
                <a:gd name="T3" fmla="*/ 7 h 28"/>
                <a:gd name="T4" fmla="*/ 251 w 257"/>
                <a:gd name="T5" fmla="*/ 0 h 28"/>
                <a:gd name="T6" fmla="*/ 129 w 257"/>
                <a:gd name="T7" fmla="*/ 0 h 28"/>
                <a:gd name="T8" fmla="*/ 7 w 257"/>
                <a:gd name="T9" fmla="*/ 0 h 28"/>
                <a:gd name="T10" fmla="*/ 0 w 257"/>
                <a:gd name="T11" fmla="*/ 7 h 28"/>
                <a:gd name="T12" fmla="*/ 0 w 257"/>
                <a:gd name="T13" fmla="*/ 21 h 28"/>
                <a:gd name="T14" fmla="*/ 7 w 257"/>
                <a:gd name="T15" fmla="*/ 28 h 28"/>
                <a:gd name="T16" fmla="*/ 129 w 257"/>
                <a:gd name="T17" fmla="*/ 28 h 28"/>
                <a:gd name="T18" fmla="*/ 251 w 257"/>
                <a:gd name="T19" fmla="*/ 28 h 28"/>
                <a:gd name="T20" fmla="*/ 257 w 257"/>
                <a:gd name="T21"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7" h="28">
                  <a:moveTo>
                    <a:pt x="257" y="21"/>
                  </a:moveTo>
                  <a:cubicBezTo>
                    <a:pt x="257" y="7"/>
                    <a:pt x="257" y="7"/>
                    <a:pt x="257" y="7"/>
                  </a:cubicBezTo>
                  <a:cubicBezTo>
                    <a:pt x="257" y="3"/>
                    <a:pt x="254" y="0"/>
                    <a:pt x="251" y="0"/>
                  </a:cubicBezTo>
                  <a:cubicBezTo>
                    <a:pt x="129" y="0"/>
                    <a:pt x="129" y="0"/>
                    <a:pt x="129" y="0"/>
                  </a:cubicBezTo>
                  <a:cubicBezTo>
                    <a:pt x="7" y="0"/>
                    <a:pt x="7" y="0"/>
                    <a:pt x="7" y="0"/>
                  </a:cubicBezTo>
                  <a:cubicBezTo>
                    <a:pt x="3" y="0"/>
                    <a:pt x="0" y="3"/>
                    <a:pt x="0" y="7"/>
                  </a:cubicBezTo>
                  <a:cubicBezTo>
                    <a:pt x="0" y="21"/>
                    <a:pt x="0" y="21"/>
                    <a:pt x="0" y="21"/>
                  </a:cubicBezTo>
                  <a:cubicBezTo>
                    <a:pt x="0" y="25"/>
                    <a:pt x="3" y="28"/>
                    <a:pt x="7" y="28"/>
                  </a:cubicBezTo>
                  <a:cubicBezTo>
                    <a:pt x="129" y="28"/>
                    <a:pt x="129" y="28"/>
                    <a:pt x="129" y="28"/>
                  </a:cubicBezTo>
                  <a:cubicBezTo>
                    <a:pt x="251" y="28"/>
                    <a:pt x="251" y="28"/>
                    <a:pt x="251" y="28"/>
                  </a:cubicBezTo>
                  <a:cubicBezTo>
                    <a:pt x="254" y="28"/>
                    <a:pt x="257" y="25"/>
                    <a:pt x="25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63" name="Freeform 161"/>
            <p:cNvSpPr>
              <a:spLocks/>
            </p:cNvSpPr>
            <p:nvPr/>
          </p:nvSpPr>
          <p:spPr bwMode="auto">
            <a:xfrm>
              <a:off x="16324263" y="14743113"/>
              <a:ext cx="1414463" cy="160338"/>
            </a:xfrm>
            <a:custGeom>
              <a:avLst/>
              <a:gdLst>
                <a:gd name="T0" fmla="*/ 257 w 257"/>
                <a:gd name="T1" fmla="*/ 7 h 29"/>
                <a:gd name="T2" fmla="*/ 251 w 257"/>
                <a:gd name="T3" fmla="*/ 0 h 29"/>
                <a:gd name="T4" fmla="*/ 129 w 257"/>
                <a:gd name="T5" fmla="*/ 0 h 29"/>
                <a:gd name="T6" fmla="*/ 7 w 257"/>
                <a:gd name="T7" fmla="*/ 0 h 29"/>
                <a:gd name="T8" fmla="*/ 0 w 257"/>
                <a:gd name="T9" fmla="*/ 7 h 29"/>
                <a:gd name="T10" fmla="*/ 0 w 257"/>
                <a:gd name="T11" fmla="*/ 22 h 29"/>
                <a:gd name="T12" fmla="*/ 7 w 257"/>
                <a:gd name="T13" fmla="*/ 29 h 29"/>
                <a:gd name="T14" fmla="*/ 129 w 257"/>
                <a:gd name="T15" fmla="*/ 29 h 29"/>
                <a:gd name="T16" fmla="*/ 251 w 257"/>
                <a:gd name="T17" fmla="*/ 29 h 29"/>
                <a:gd name="T18" fmla="*/ 257 w 257"/>
                <a:gd name="T19" fmla="*/ 22 h 29"/>
                <a:gd name="T20" fmla="*/ 257 w 257"/>
                <a:gd name="T21" fmla="*/ 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7" h="29">
                  <a:moveTo>
                    <a:pt x="257" y="7"/>
                  </a:moveTo>
                  <a:cubicBezTo>
                    <a:pt x="257" y="3"/>
                    <a:pt x="254" y="0"/>
                    <a:pt x="251" y="0"/>
                  </a:cubicBezTo>
                  <a:cubicBezTo>
                    <a:pt x="129" y="0"/>
                    <a:pt x="129" y="0"/>
                    <a:pt x="129" y="0"/>
                  </a:cubicBezTo>
                  <a:cubicBezTo>
                    <a:pt x="7" y="0"/>
                    <a:pt x="7" y="0"/>
                    <a:pt x="7" y="0"/>
                  </a:cubicBezTo>
                  <a:cubicBezTo>
                    <a:pt x="3" y="0"/>
                    <a:pt x="0" y="3"/>
                    <a:pt x="0" y="7"/>
                  </a:cubicBezTo>
                  <a:cubicBezTo>
                    <a:pt x="0" y="22"/>
                    <a:pt x="0" y="22"/>
                    <a:pt x="0" y="22"/>
                  </a:cubicBezTo>
                  <a:cubicBezTo>
                    <a:pt x="0" y="26"/>
                    <a:pt x="3" y="29"/>
                    <a:pt x="7" y="29"/>
                  </a:cubicBezTo>
                  <a:cubicBezTo>
                    <a:pt x="129" y="29"/>
                    <a:pt x="129" y="29"/>
                    <a:pt x="129" y="29"/>
                  </a:cubicBezTo>
                  <a:cubicBezTo>
                    <a:pt x="251" y="29"/>
                    <a:pt x="251" y="29"/>
                    <a:pt x="251" y="29"/>
                  </a:cubicBezTo>
                  <a:cubicBezTo>
                    <a:pt x="254" y="29"/>
                    <a:pt x="257" y="26"/>
                    <a:pt x="257" y="22"/>
                  </a:cubicBezTo>
                  <a:lnTo>
                    <a:pt x="257"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64" name="Freeform 162"/>
            <p:cNvSpPr>
              <a:spLocks/>
            </p:cNvSpPr>
            <p:nvPr/>
          </p:nvSpPr>
          <p:spPr bwMode="auto">
            <a:xfrm>
              <a:off x="17954625" y="15730538"/>
              <a:ext cx="65088" cy="136525"/>
            </a:xfrm>
            <a:custGeom>
              <a:avLst/>
              <a:gdLst>
                <a:gd name="T0" fmla="*/ 3 w 12"/>
                <a:gd name="T1" fmla="*/ 0 h 25"/>
                <a:gd name="T2" fmla="*/ 0 w 12"/>
                <a:gd name="T3" fmla="*/ 3 h 25"/>
                <a:gd name="T4" fmla="*/ 0 w 12"/>
                <a:gd name="T5" fmla="*/ 22 h 25"/>
                <a:gd name="T6" fmla="*/ 3 w 12"/>
                <a:gd name="T7" fmla="*/ 25 h 25"/>
                <a:gd name="T8" fmla="*/ 9 w 12"/>
                <a:gd name="T9" fmla="*/ 25 h 25"/>
                <a:gd name="T10" fmla="*/ 12 w 12"/>
                <a:gd name="T11" fmla="*/ 22 h 25"/>
                <a:gd name="T12" fmla="*/ 12 w 12"/>
                <a:gd name="T13" fmla="*/ 3 h 25"/>
                <a:gd name="T14" fmla="*/ 9 w 12"/>
                <a:gd name="T15" fmla="*/ 0 h 25"/>
                <a:gd name="T16" fmla="*/ 3 w 12"/>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5">
                  <a:moveTo>
                    <a:pt x="3" y="0"/>
                  </a:moveTo>
                  <a:cubicBezTo>
                    <a:pt x="1" y="0"/>
                    <a:pt x="0" y="2"/>
                    <a:pt x="0" y="3"/>
                  </a:cubicBezTo>
                  <a:cubicBezTo>
                    <a:pt x="0" y="22"/>
                    <a:pt x="0" y="22"/>
                    <a:pt x="0" y="22"/>
                  </a:cubicBezTo>
                  <a:cubicBezTo>
                    <a:pt x="0" y="24"/>
                    <a:pt x="1" y="25"/>
                    <a:pt x="3" y="25"/>
                  </a:cubicBezTo>
                  <a:cubicBezTo>
                    <a:pt x="9" y="25"/>
                    <a:pt x="9" y="25"/>
                    <a:pt x="9" y="25"/>
                  </a:cubicBezTo>
                  <a:cubicBezTo>
                    <a:pt x="11" y="25"/>
                    <a:pt x="12" y="24"/>
                    <a:pt x="12" y="22"/>
                  </a:cubicBezTo>
                  <a:cubicBezTo>
                    <a:pt x="12" y="3"/>
                    <a:pt x="12" y="3"/>
                    <a:pt x="12" y="3"/>
                  </a:cubicBezTo>
                  <a:cubicBezTo>
                    <a:pt x="12" y="2"/>
                    <a:pt x="11" y="0"/>
                    <a:pt x="9" y="0"/>
                  </a:cubicBezTo>
                  <a:lnTo>
                    <a:pt x="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65" name="Freeform 163"/>
            <p:cNvSpPr>
              <a:spLocks/>
            </p:cNvSpPr>
            <p:nvPr/>
          </p:nvSpPr>
          <p:spPr bwMode="auto">
            <a:xfrm>
              <a:off x="17530763" y="15139988"/>
              <a:ext cx="136525" cy="66675"/>
            </a:xfrm>
            <a:custGeom>
              <a:avLst/>
              <a:gdLst>
                <a:gd name="T0" fmla="*/ 3 w 25"/>
                <a:gd name="T1" fmla="*/ 0 h 12"/>
                <a:gd name="T2" fmla="*/ 0 w 25"/>
                <a:gd name="T3" fmla="*/ 2 h 12"/>
                <a:gd name="T4" fmla="*/ 0 w 25"/>
                <a:gd name="T5" fmla="*/ 9 h 12"/>
                <a:gd name="T6" fmla="*/ 3 w 25"/>
                <a:gd name="T7" fmla="*/ 12 h 12"/>
                <a:gd name="T8" fmla="*/ 22 w 25"/>
                <a:gd name="T9" fmla="*/ 12 h 12"/>
                <a:gd name="T10" fmla="*/ 25 w 25"/>
                <a:gd name="T11" fmla="*/ 9 h 12"/>
                <a:gd name="T12" fmla="*/ 25 w 25"/>
                <a:gd name="T13" fmla="*/ 2 h 12"/>
                <a:gd name="T14" fmla="*/ 22 w 25"/>
                <a:gd name="T15" fmla="*/ 0 h 12"/>
                <a:gd name="T16" fmla="*/ 3 w 25"/>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2">
                  <a:moveTo>
                    <a:pt x="3" y="0"/>
                  </a:moveTo>
                  <a:cubicBezTo>
                    <a:pt x="1" y="0"/>
                    <a:pt x="0" y="1"/>
                    <a:pt x="0" y="2"/>
                  </a:cubicBezTo>
                  <a:cubicBezTo>
                    <a:pt x="0" y="9"/>
                    <a:pt x="0" y="9"/>
                    <a:pt x="0" y="9"/>
                  </a:cubicBezTo>
                  <a:cubicBezTo>
                    <a:pt x="0" y="10"/>
                    <a:pt x="1" y="12"/>
                    <a:pt x="3" y="12"/>
                  </a:cubicBezTo>
                  <a:cubicBezTo>
                    <a:pt x="22" y="12"/>
                    <a:pt x="22" y="12"/>
                    <a:pt x="22" y="12"/>
                  </a:cubicBezTo>
                  <a:cubicBezTo>
                    <a:pt x="24" y="12"/>
                    <a:pt x="25" y="10"/>
                    <a:pt x="25" y="9"/>
                  </a:cubicBezTo>
                  <a:cubicBezTo>
                    <a:pt x="25" y="2"/>
                    <a:pt x="25" y="2"/>
                    <a:pt x="25" y="2"/>
                  </a:cubicBezTo>
                  <a:cubicBezTo>
                    <a:pt x="25" y="1"/>
                    <a:pt x="24" y="0"/>
                    <a:pt x="22" y="0"/>
                  </a:cubicBezTo>
                  <a:lnTo>
                    <a:pt x="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66" name="Freeform 164"/>
            <p:cNvSpPr>
              <a:spLocks/>
            </p:cNvSpPr>
            <p:nvPr/>
          </p:nvSpPr>
          <p:spPr bwMode="auto">
            <a:xfrm>
              <a:off x="17530763" y="15730538"/>
              <a:ext cx="65088" cy="136525"/>
            </a:xfrm>
            <a:custGeom>
              <a:avLst/>
              <a:gdLst>
                <a:gd name="T0" fmla="*/ 9 w 12"/>
                <a:gd name="T1" fmla="*/ 0 h 25"/>
                <a:gd name="T2" fmla="*/ 2 w 12"/>
                <a:gd name="T3" fmla="*/ 0 h 25"/>
                <a:gd name="T4" fmla="*/ 0 w 12"/>
                <a:gd name="T5" fmla="*/ 3 h 25"/>
                <a:gd name="T6" fmla="*/ 0 w 12"/>
                <a:gd name="T7" fmla="*/ 22 h 25"/>
                <a:gd name="T8" fmla="*/ 2 w 12"/>
                <a:gd name="T9" fmla="*/ 25 h 25"/>
                <a:gd name="T10" fmla="*/ 9 w 12"/>
                <a:gd name="T11" fmla="*/ 25 h 25"/>
                <a:gd name="T12" fmla="*/ 12 w 12"/>
                <a:gd name="T13" fmla="*/ 22 h 25"/>
                <a:gd name="T14" fmla="*/ 12 w 12"/>
                <a:gd name="T15" fmla="*/ 3 h 25"/>
                <a:gd name="T16" fmla="*/ 9 w 12"/>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5">
                  <a:moveTo>
                    <a:pt x="9" y="0"/>
                  </a:moveTo>
                  <a:cubicBezTo>
                    <a:pt x="2" y="0"/>
                    <a:pt x="2" y="0"/>
                    <a:pt x="2" y="0"/>
                  </a:cubicBezTo>
                  <a:cubicBezTo>
                    <a:pt x="1" y="0"/>
                    <a:pt x="0" y="2"/>
                    <a:pt x="0" y="3"/>
                  </a:cubicBezTo>
                  <a:cubicBezTo>
                    <a:pt x="0" y="22"/>
                    <a:pt x="0" y="22"/>
                    <a:pt x="0" y="22"/>
                  </a:cubicBezTo>
                  <a:cubicBezTo>
                    <a:pt x="0" y="24"/>
                    <a:pt x="1" y="25"/>
                    <a:pt x="2" y="25"/>
                  </a:cubicBezTo>
                  <a:cubicBezTo>
                    <a:pt x="9" y="25"/>
                    <a:pt x="9" y="25"/>
                    <a:pt x="9" y="25"/>
                  </a:cubicBezTo>
                  <a:cubicBezTo>
                    <a:pt x="10" y="25"/>
                    <a:pt x="12" y="24"/>
                    <a:pt x="12" y="22"/>
                  </a:cubicBezTo>
                  <a:cubicBezTo>
                    <a:pt x="12" y="3"/>
                    <a:pt x="12" y="3"/>
                    <a:pt x="12" y="3"/>
                  </a:cubicBezTo>
                  <a:cubicBezTo>
                    <a:pt x="12" y="2"/>
                    <a:pt x="10"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67" name="Freeform 165"/>
            <p:cNvSpPr>
              <a:spLocks/>
            </p:cNvSpPr>
            <p:nvPr/>
          </p:nvSpPr>
          <p:spPr bwMode="auto">
            <a:xfrm>
              <a:off x="17464088" y="15757525"/>
              <a:ext cx="49213" cy="82550"/>
            </a:xfrm>
            <a:custGeom>
              <a:avLst/>
              <a:gdLst>
                <a:gd name="T0" fmla="*/ 0 w 9"/>
                <a:gd name="T1" fmla="*/ 3 h 15"/>
                <a:gd name="T2" fmla="*/ 0 w 9"/>
                <a:gd name="T3" fmla="*/ 13 h 15"/>
                <a:gd name="T4" fmla="*/ 2 w 9"/>
                <a:gd name="T5" fmla="*/ 15 h 15"/>
                <a:gd name="T6" fmla="*/ 9 w 9"/>
                <a:gd name="T7" fmla="*/ 15 h 15"/>
                <a:gd name="T8" fmla="*/ 9 w 9"/>
                <a:gd name="T9" fmla="*/ 0 h 15"/>
                <a:gd name="T10" fmla="*/ 2 w 9"/>
                <a:gd name="T11" fmla="*/ 0 h 15"/>
                <a:gd name="T12" fmla="*/ 0 w 9"/>
                <a:gd name="T13" fmla="*/ 3 h 15"/>
              </a:gdLst>
              <a:ahLst/>
              <a:cxnLst>
                <a:cxn ang="0">
                  <a:pos x="T0" y="T1"/>
                </a:cxn>
                <a:cxn ang="0">
                  <a:pos x="T2" y="T3"/>
                </a:cxn>
                <a:cxn ang="0">
                  <a:pos x="T4" y="T5"/>
                </a:cxn>
                <a:cxn ang="0">
                  <a:pos x="T6" y="T7"/>
                </a:cxn>
                <a:cxn ang="0">
                  <a:pos x="T8" y="T9"/>
                </a:cxn>
                <a:cxn ang="0">
                  <a:pos x="T10" y="T11"/>
                </a:cxn>
                <a:cxn ang="0">
                  <a:pos x="T12" y="T13"/>
                </a:cxn>
              </a:cxnLst>
              <a:rect l="0" t="0" r="r" b="b"/>
              <a:pathLst>
                <a:path w="9" h="15">
                  <a:moveTo>
                    <a:pt x="0" y="3"/>
                  </a:moveTo>
                  <a:cubicBezTo>
                    <a:pt x="0" y="13"/>
                    <a:pt x="0" y="13"/>
                    <a:pt x="0" y="13"/>
                  </a:cubicBezTo>
                  <a:cubicBezTo>
                    <a:pt x="0" y="14"/>
                    <a:pt x="1" y="15"/>
                    <a:pt x="2" y="15"/>
                  </a:cubicBezTo>
                  <a:cubicBezTo>
                    <a:pt x="9" y="15"/>
                    <a:pt x="9" y="15"/>
                    <a:pt x="9" y="15"/>
                  </a:cubicBezTo>
                  <a:cubicBezTo>
                    <a:pt x="9" y="0"/>
                    <a:pt x="9" y="0"/>
                    <a:pt x="9" y="0"/>
                  </a:cubicBezTo>
                  <a:cubicBezTo>
                    <a:pt x="2" y="0"/>
                    <a:pt x="2" y="0"/>
                    <a:pt x="2" y="0"/>
                  </a:cubicBezTo>
                  <a:cubicBezTo>
                    <a:pt x="1" y="0"/>
                    <a:pt x="0" y="1"/>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68" name="Freeform 166"/>
            <p:cNvSpPr>
              <a:spLocks/>
            </p:cNvSpPr>
            <p:nvPr/>
          </p:nvSpPr>
          <p:spPr bwMode="auto">
            <a:xfrm>
              <a:off x="17530763" y="14639925"/>
              <a:ext cx="136525" cy="65088"/>
            </a:xfrm>
            <a:custGeom>
              <a:avLst/>
              <a:gdLst>
                <a:gd name="T0" fmla="*/ 22 w 25"/>
                <a:gd name="T1" fmla="*/ 0 h 12"/>
                <a:gd name="T2" fmla="*/ 3 w 25"/>
                <a:gd name="T3" fmla="*/ 0 h 12"/>
                <a:gd name="T4" fmla="*/ 0 w 25"/>
                <a:gd name="T5" fmla="*/ 3 h 12"/>
                <a:gd name="T6" fmla="*/ 0 w 25"/>
                <a:gd name="T7" fmla="*/ 9 h 12"/>
                <a:gd name="T8" fmla="*/ 3 w 25"/>
                <a:gd name="T9" fmla="*/ 12 h 12"/>
                <a:gd name="T10" fmla="*/ 22 w 25"/>
                <a:gd name="T11" fmla="*/ 12 h 12"/>
                <a:gd name="T12" fmla="*/ 25 w 25"/>
                <a:gd name="T13" fmla="*/ 9 h 12"/>
                <a:gd name="T14" fmla="*/ 25 w 25"/>
                <a:gd name="T15" fmla="*/ 3 h 12"/>
                <a:gd name="T16" fmla="*/ 22 w 25"/>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2">
                  <a:moveTo>
                    <a:pt x="22" y="0"/>
                  </a:moveTo>
                  <a:cubicBezTo>
                    <a:pt x="3" y="0"/>
                    <a:pt x="3" y="0"/>
                    <a:pt x="3" y="0"/>
                  </a:cubicBezTo>
                  <a:cubicBezTo>
                    <a:pt x="1" y="0"/>
                    <a:pt x="0" y="1"/>
                    <a:pt x="0" y="3"/>
                  </a:cubicBezTo>
                  <a:cubicBezTo>
                    <a:pt x="0" y="9"/>
                    <a:pt x="0" y="9"/>
                    <a:pt x="0" y="9"/>
                  </a:cubicBezTo>
                  <a:cubicBezTo>
                    <a:pt x="0" y="11"/>
                    <a:pt x="1" y="12"/>
                    <a:pt x="3" y="12"/>
                  </a:cubicBezTo>
                  <a:cubicBezTo>
                    <a:pt x="22" y="12"/>
                    <a:pt x="22" y="12"/>
                    <a:pt x="22" y="12"/>
                  </a:cubicBezTo>
                  <a:cubicBezTo>
                    <a:pt x="24" y="12"/>
                    <a:pt x="25" y="11"/>
                    <a:pt x="25" y="9"/>
                  </a:cubicBezTo>
                  <a:cubicBezTo>
                    <a:pt x="25" y="3"/>
                    <a:pt x="25" y="3"/>
                    <a:pt x="25" y="3"/>
                  </a:cubicBezTo>
                  <a:cubicBezTo>
                    <a:pt x="25" y="1"/>
                    <a:pt x="24"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69" name="Freeform 167"/>
            <p:cNvSpPr>
              <a:spLocks/>
            </p:cNvSpPr>
            <p:nvPr/>
          </p:nvSpPr>
          <p:spPr bwMode="auto">
            <a:xfrm>
              <a:off x="17557750" y="14578013"/>
              <a:ext cx="82550" cy="50800"/>
            </a:xfrm>
            <a:custGeom>
              <a:avLst/>
              <a:gdLst>
                <a:gd name="T0" fmla="*/ 12 w 15"/>
                <a:gd name="T1" fmla="*/ 0 h 9"/>
                <a:gd name="T2" fmla="*/ 2 w 15"/>
                <a:gd name="T3" fmla="*/ 0 h 9"/>
                <a:gd name="T4" fmla="*/ 0 w 15"/>
                <a:gd name="T5" fmla="*/ 2 h 9"/>
                <a:gd name="T6" fmla="*/ 0 w 15"/>
                <a:gd name="T7" fmla="*/ 9 h 9"/>
                <a:gd name="T8" fmla="*/ 15 w 15"/>
                <a:gd name="T9" fmla="*/ 9 h 9"/>
                <a:gd name="T10" fmla="*/ 15 w 15"/>
                <a:gd name="T11" fmla="*/ 2 h 9"/>
                <a:gd name="T12" fmla="*/ 12 w 1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 h="9">
                  <a:moveTo>
                    <a:pt x="12" y="0"/>
                  </a:moveTo>
                  <a:cubicBezTo>
                    <a:pt x="2" y="0"/>
                    <a:pt x="2" y="0"/>
                    <a:pt x="2" y="0"/>
                  </a:cubicBezTo>
                  <a:cubicBezTo>
                    <a:pt x="1" y="0"/>
                    <a:pt x="0" y="1"/>
                    <a:pt x="0" y="2"/>
                  </a:cubicBezTo>
                  <a:cubicBezTo>
                    <a:pt x="0" y="9"/>
                    <a:pt x="0" y="9"/>
                    <a:pt x="0" y="9"/>
                  </a:cubicBezTo>
                  <a:cubicBezTo>
                    <a:pt x="15" y="9"/>
                    <a:pt x="15" y="9"/>
                    <a:pt x="15" y="9"/>
                  </a:cubicBezTo>
                  <a:cubicBezTo>
                    <a:pt x="15" y="2"/>
                    <a:pt x="15" y="2"/>
                    <a:pt x="15" y="2"/>
                  </a:cubicBezTo>
                  <a:cubicBezTo>
                    <a:pt x="15" y="1"/>
                    <a:pt x="14"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70" name="Freeform 168"/>
            <p:cNvSpPr>
              <a:spLocks/>
            </p:cNvSpPr>
            <p:nvPr/>
          </p:nvSpPr>
          <p:spPr bwMode="auto">
            <a:xfrm>
              <a:off x="17254538" y="13757275"/>
              <a:ext cx="71438" cy="39688"/>
            </a:xfrm>
            <a:custGeom>
              <a:avLst/>
              <a:gdLst>
                <a:gd name="T0" fmla="*/ 0 w 13"/>
                <a:gd name="T1" fmla="*/ 2 h 7"/>
                <a:gd name="T2" fmla="*/ 0 w 13"/>
                <a:gd name="T3" fmla="*/ 5 h 7"/>
                <a:gd name="T4" fmla="*/ 1 w 13"/>
                <a:gd name="T5" fmla="*/ 7 h 7"/>
                <a:gd name="T6" fmla="*/ 11 w 13"/>
                <a:gd name="T7" fmla="*/ 7 h 7"/>
                <a:gd name="T8" fmla="*/ 13 w 13"/>
                <a:gd name="T9" fmla="*/ 5 h 7"/>
                <a:gd name="T10" fmla="*/ 13 w 13"/>
                <a:gd name="T11" fmla="*/ 2 h 7"/>
                <a:gd name="T12" fmla="*/ 11 w 13"/>
                <a:gd name="T13" fmla="*/ 0 h 7"/>
                <a:gd name="T14" fmla="*/ 1 w 13"/>
                <a:gd name="T15" fmla="*/ 0 h 7"/>
                <a:gd name="T16" fmla="*/ 0 w 13"/>
                <a:gd name="T17"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7">
                  <a:moveTo>
                    <a:pt x="0" y="2"/>
                  </a:moveTo>
                  <a:cubicBezTo>
                    <a:pt x="0" y="5"/>
                    <a:pt x="0" y="5"/>
                    <a:pt x="0" y="5"/>
                  </a:cubicBezTo>
                  <a:cubicBezTo>
                    <a:pt x="0" y="6"/>
                    <a:pt x="0" y="7"/>
                    <a:pt x="1" y="7"/>
                  </a:cubicBezTo>
                  <a:cubicBezTo>
                    <a:pt x="11" y="7"/>
                    <a:pt x="11" y="7"/>
                    <a:pt x="11" y="7"/>
                  </a:cubicBezTo>
                  <a:cubicBezTo>
                    <a:pt x="12" y="7"/>
                    <a:pt x="13" y="6"/>
                    <a:pt x="13" y="5"/>
                  </a:cubicBezTo>
                  <a:cubicBezTo>
                    <a:pt x="13" y="2"/>
                    <a:pt x="13" y="2"/>
                    <a:pt x="13" y="2"/>
                  </a:cubicBezTo>
                  <a:cubicBezTo>
                    <a:pt x="13" y="1"/>
                    <a:pt x="12" y="0"/>
                    <a:pt x="11" y="0"/>
                  </a:cubicBezTo>
                  <a:cubicBezTo>
                    <a:pt x="1" y="0"/>
                    <a:pt x="1" y="0"/>
                    <a:pt x="1" y="0"/>
                  </a:cubicBezTo>
                  <a:cubicBezTo>
                    <a:pt x="0"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71" name="Freeform 169"/>
            <p:cNvSpPr>
              <a:spLocks/>
            </p:cNvSpPr>
            <p:nvPr/>
          </p:nvSpPr>
          <p:spPr bwMode="auto">
            <a:xfrm>
              <a:off x="17265650" y="13725525"/>
              <a:ext cx="44450" cy="26988"/>
            </a:xfrm>
            <a:custGeom>
              <a:avLst/>
              <a:gdLst>
                <a:gd name="T0" fmla="*/ 7 w 8"/>
                <a:gd name="T1" fmla="*/ 0 h 5"/>
                <a:gd name="T2" fmla="*/ 2 w 8"/>
                <a:gd name="T3" fmla="*/ 0 h 5"/>
                <a:gd name="T4" fmla="*/ 0 w 8"/>
                <a:gd name="T5" fmla="*/ 1 h 5"/>
                <a:gd name="T6" fmla="*/ 0 w 8"/>
                <a:gd name="T7" fmla="*/ 5 h 5"/>
                <a:gd name="T8" fmla="*/ 8 w 8"/>
                <a:gd name="T9" fmla="*/ 5 h 5"/>
                <a:gd name="T10" fmla="*/ 8 w 8"/>
                <a:gd name="T11" fmla="*/ 1 h 5"/>
                <a:gd name="T12" fmla="*/ 7 w 8"/>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8" h="5">
                  <a:moveTo>
                    <a:pt x="7" y="0"/>
                  </a:moveTo>
                  <a:cubicBezTo>
                    <a:pt x="2" y="0"/>
                    <a:pt x="2" y="0"/>
                    <a:pt x="2" y="0"/>
                  </a:cubicBezTo>
                  <a:cubicBezTo>
                    <a:pt x="1" y="0"/>
                    <a:pt x="0" y="1"/>
                    <a:pt x="0" y="1"/>
                  </a:cubicBezTo>
                  <a:cubicBezTo>
                    <a:pt x="0" y="5"/>
                    <a:pt x="0" y="5"/>
                    <a:pt x="0" y="5"/>
                  </a:cubicBezTo>
                  <a:cubicBezTo>
                    <a:pt x="8" y="5"/>
                    <a:pt x="8" y="5"/>
                    <a:pt x="8" y="5"/>
                  </a:cubicBezTo>
                  <a:cubicBezTo>
                    <a:pt x="8" y="1"/>
                    <a:pt x="8" y="1"/>
                    <a:pt x="8" y="1"/>
                  </a:cubicBezTo>
                  <a:cubicBezTo>
                    <a:pt x="8" y="1"/>
                    <a:pt x="8"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72" name="Freeform 170"/>
            <p:cNvSpPr>
              <a:spLocks/>
            </p:cNvSpPr>
            <p:nvPr/>
          </p:nvSpPr>
          <p:spPr bwMode="auto">
            <a:xfrm>
              <a:off x="17530763" y="16737013"/>
              <a:ext cx="65088" cy="138113"/>
            </a:xfrm>
            <a:custGeom>
              <a:avLst/>
              <a:gdLst>
                <a:gd name="T0" fmla="*/ 9 w 12"/>
                <a:gd name="T1" fmla="*/ 0 h 25"/>
                <a:gd name="T2" fmla="*/ 2 w 12"/>
                <a:gd name="T3" fmla="*/ 0 h 25"/>
                <a:gd name="T4" fmla="*/ 0 w 12"/>
                <a:gd name="T5" fmla="*/ 3 h 25"/>
                <a:gd name="T6" fmla="*/ 0 w 12"/>
                <a:gd name="T7" fmla="*/ 22 h 25"/>
                <a:gd name="T8" fmla="*/ 2 w 12"/>
                <a:gd name="T9" fmla="*/ 25 h 25"/>
                <a:gd name="T10" fmla="*/ 9 w 12"/>
                <a:gd name="T11" fmla="*/ 25 h 25"/>
                <a:gd name="T12" fmla="*/ 12 w 12"/>
                <a:gd name="T13" fmla="*/ 22 h 25"/>
                <a:gd name="T14" fmla="*/ 12 w 12"/>
                <a:gd name="T15" fmla="*/ 3 h 25"/>
                <a:gd name="T16" fmla="*/ 9 w 12"/>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5">
                  <a:moveTo>
                    <a:pt x="9" y="0"/>
                  </a:moveTo>
                  <a:cubicBezTo>
                    <a:pt x="2" y="0"/>
                    <a:pt x="2" y="0"/>
                    <a:pt x="2" y="0"/>
                  </a:cubicBezTo>
                  <a:cubicBezTo>
                    <a:pt x="1" y="0"/>
                    <a:pt x="0" y="1"/>
                    <a:pt x="0" y="3"/>
                  </a:cubicBezTo>
                  <a:cubicBezTo>
                    <a:pt x="0" y="22"/>
                    <a:pt x="0" y="22"/>
                    <a:pt x="0" y="22"/>
                  </a:cubicBezTo>
                  <a:cubicBezTo>
                    <a:pt x="0" y="24"/>
                    <a:pt x="1" y="25"/>
                    <a:pt x="2" y="25"/>
                  </a:cubicBezTo>
                  <a:cubicBezTo>
                    <a:pt x="9" y="25"/>
                    <a:pt x="9" y="25"/>
                    <a:pt x="9" y="25"/>
                  </a:cubicBezTo>
                  <a:cubicBezTo>
                    <a:pt x="10" y="25"/>
                    <a:pt x="12" y="24"/>
                    <a:pt x="12" y="22"/>
                  </a:cubicBezTo>
                  <a:cubicBezTo>
                    <a:pt x="12" y="3"/>
                    <a:pt x="12" y="3"/>
                    <a:pt x="12" y="3"/>
                  </a:cubicBezTo>
                  <a:cubicBezTo>
                    <a:pt x="12" y="1"/>
                    <a:pt x="10"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73" name="Freeform 171"/>
            <p:cNvSpPr>
              <a:spLocks/>
            </p:cNvSpPr>
            <p:nvPr/>
          </p:nvSpPr>
          <p:spPr bwMode="auto">
            <a:xfrm>
              <a:off x="17954625" y="16737013"/>
              <a:ext cx="65088" cy="138113"/>
            </a:xfrm>
            <a:custGeom>
              <a:avLst/>
              <a:gdLst>
                <a:gd name="T0" fmla="*/ 9 w 12"/>
                <a:gd name="T1" fmla="*/ 0 h 25"/>
                <a:gd name="T2" fmla="*/ 3 w 12"/>
                <a:gd name="T3" fmla="*/ 0 h 25"/>
                <a:gd name="T4" fmla="*/ 0 w 12"/>
                <a:gd name="T5" fmla="*/ 3 h 25"/>
                <a:gd name="T6" fmla="*/ 0 w 12"/>
                <a:gd name="T7" fmla="*/ 22 h 25"/>
                <a:gd name="T8" fmla="*/ 3 w 12"/>
                <a:gd name="T9" fmla="*/ 25 h 25"/>
                <a:gd name="T10" fmla="*/ 9 w 12"/>
                <a:gd name="T11" fmla="*/ 25 h 25"/>
                <a:gd name="T12" fmla="*/ 12 w 12"/>
                <a:gd name="T13" fmla="*/ 22 h 25"/>
                <a:gd name="T14" fmla="*/ 12 w 12"/>
                <a:gd name="T15" fmla="*/ 3 h 25"/>
                <a:gd name="T16" fmla="*/ 9 w 12"/>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5">
                  <a:moveTo>
                    <a:pt x="9" y="0"/>
                  </a:moveTo>
                  <a:cubicBezTo>
                    <a:pt x="3" y="0"/>
                    <a:pt x="3" y="0"/>
                    <a:pt x="3" y="0"/>
                  </a:cubicBezTo>
                  <a:cubicBezTo>
                    <a:pt x="1" y="0"/>
                    <a:pt x="0" y="1"/>
                    <a:pt x="0" y="3"/>
                  </a:cubicBezTo>
                  <a:cubicBezTo>
                    <a:pt x="0" y="22"/>
                    <a:pt x="0" y="22"/>
                    <a:pt x="0" y="22"/>
                  </a:cubicBezTo>
                  <a:cubicBezTo>
                    <a:pt x="0" y="24"/>
                    <a:pt x="1" y="25"/>
                    <a:pt x="3" y="25"/>
                  </a:cubicBezTo>
                  <a:cubicBezTo>
                    <a:pt x="9" y="25"/>
                    <a:pt x="9" y="25"/>
                    <a:pt x="9" y="25"/>
                  </a:cubicBezTo>
                  <a:cubicBezTo>
                    <a:pt x="11" y="25"/>
                    <a:pt x="12" y="24"/>
                    <a:pt x="12" y="22"/>
                  </a:cubicBezTo>
                  <a:cubicBezTo>
                    <a:pt x="12" y="3"/>
                    <a:pt x="12" y="3"/>
                    <a:pt x="12" y="3"/>
                  </a:cubicBezTo>
                  <a:cubicBezTo>
                    <a:pt x="12" y="1"/>
                    <a:pt x="11"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74" name="Freeform 172"/>
            <p:cNvSpPr>
              <a:spLocks/>
            </p:cNvSpPr>
            <p:nvPr/>
          </p:nvSpPr>
          <p:spPr bwMode="auto">
            <a:xfrm>
              <a:off x="17464088" y="16765588"/>
              <a:ext cx="49213" cy="82550"/>
            </a:xfrm>
            <a:custGeom>
              <a:avLst/>
              <a:gdLst>
                <a:gd name="T0" fmla="*/ 0 w 9"/>
                <a:gd name="T1" fmla="*/ 2 h 15"/>
                <a:gd name="T2" fmla="*/ 0 w 9"/>
                <a:gd name="T3" fmla="*/ 12 h 15"/>
                <a:gd name="T4" fmla="*/ 2 w 9"/>
                <a:gd name="T5" fmla="*/ 15 h 15"/>
                <a:gd name="T6" fmla="*/ 9 w 9"/>
                <a:gd name="T7" fmla="*/ 15 h 15"/>
                <a:gd name="T8" fmla="*/ 9 w 9"/>
                <a:gd name="T9" fmla="*/ 0 h 15"/>
                <a:gd name="T10" fmla="*/ 2 w 9"/>
                <a:gd name="T11" fmla="*/ 0 h 15"/>
                <a:gd name="T12" fmla="*/ 0 w 9"/>
                <a:gd name="T13" fmla="*/ 2 h 15"/>
              </a:gdLst>
              <a:ahLst/>
              <a:cxnLst>
                <a:cxn ang="0">
                  <a:pos x="T0" y="T1"/>
                </a:cxn>
                <a:cxn ang="0">
                  <a:pos x="T2" y="T3"/>
                </a:cxn>
                <a:cxn ang="0">
                  <a:pos x="T4" y="T5"/>
                </a:cxn>
                <a:cxn ang="0">
                  <a:pos x="T6" y="T7"/>
                </a:cxn>
                <a:cxn ang="0">
                  <a:pos x="T8" y="T9"/>
                </a:cxn>
                <a:cxn ang="0">
                  <a:pos x="T10" y="T11"/>
                </a:cxn>
                <a:cxn ang="0">
                  <a:pos x="T12" y="T13"/>
                </a:cxn>
              </a:cxnLst>
              <a:rect l="0" t="0" r="r" b="b"/>
              <a:pathLst>
                <a:path w="9" h="15">
                  <a:moveTo>
                    <a:pt x="0" y="2"/>
                  </a:moveTo>
                  <a:cubicBezTo>
                    <a:pt x="0" y="12"/>
                    <a:pt x="0" y="12"/>
                    <a:pt x="0" y="12"/>
                  </a:cubicBezTo>
                  <a:cubicBezTo>
                    <a:pt x="0" y="14"/>
                    <a:pt x="1" y="15"/>
                    <a:pt x="2" y="15"/>
                  </a:cubicBezTo>
                  <a:cubicBezTo>
                    <a:pt x="9" y="15"/>
                    <a:pt x="9" y="15"/>
                    <a:pt x="9" y="15"/>
                  </a:cubicBezTo>
                  <a:cubicBezTo>
                    <a:pt x="9" y="0"/>
                    <a:pt x="9" y="0"/>
                    <a:pt x="9" y="0"/>
                  </a:cubicBezTo>
                  <a:cubicBezTo>
                    <a:pt x="2" y="0"/>
                    <a:pt x="2" y="0"/>
                    <a:pt x="2" y="0"/>
                  </a:cubicBezTo>
                  <a:cubicBezTo>
                    <a:pt x="1"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75" name="Rectangle 173"/>
            <p:cNvSpPr>
              <a:spLocks noChangeArrowheads="1"/>
            </p:cNvSpPr>
            <p:nvPr/>
          </p:nvSpPr>
          <p:spPr bwMode="auto">
            <a:xfrm>
              <a:off x="17265650" y="13923963"/>
              <a:ext cx="44450" cy="1317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76" name="Freeform 174"/>
            <p:cNvSpPr>
              <a:spLocks/>
            </p:cNvSpPr>
            <p:nvPr/>
          </p:nvSpPr>
          <p:spPr bwMode="auto">
            <a:xfrm>
              <a:off x="16203613" y="13388975"/>
              <a:ext cx="247650" cy="187325"/>
            </a:xfrm>
            <a:custGeom>
              <a:avLst/>
              <a:gdLst>
                <a:gd name="T0" fmla="*/ 45 w 45"/>
                <a:gd name="T1" fmla="*/ 25 h 34"/>
                <a:gd name="T2" fmla="*/ 45 w 45"/>
                <a:gd name="T3" fmla="*/ 9 h 34"/>
                <a:gd name="T4" fmla="*/ 38 w 45"/>
                <a:gd name="T5" fmla="*/ 0 h 34"/>
                <a:gd name="T6" fmla="*/ 9 w 45"/>
                <a:gd name="T7" fmla="*/ 0 h 34"/>
                <a:gd name="T8" fmla="*/ 0 w 45"/>
                <a:gd name="T9" fmla="*/ 9 h 34"/>
                <a:gd name="T10" fmla="*/ 0 w 45"/>
                <a:gd name="T11" fmla="*/ 25 h 34"/>
                <a:gd name="T12" fmla="*/ 9 w 45"/>
                <a:gd name="T13" fmla="*/ 34 h 34"/>
                <a:gd name="T14" fmla="*/ 38 w 45"/>
                <a:gd name="T15" fmla="*/ 34 h 34"/>
                <a:gd name="T16" fmla="*/ 45 w 45"/>
                <a:gd name="T17" fmla="*/ 2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34">
                  <a:moveTo>
                    <a:pt x="45" y="25"/>
                  </a:moveTo>
                  <a:cubicBezTo>
                    <a:pt x="45" y="9"/>
                    <a:pt x="45" y="9"/>
                    <a:pt x="45" y="9"/>
                  </a:cubicBezTo>
                  <a:cubicBezTo>
                    <a:pt x="45" y="4"/>
                    <a:pt x="42" y="0"/>
                    <a:pt x="38" y="0"/>
                  </a:cubicBezTo>
                  <a:cubicBezTo>
                    <a:pt x="9" y="0"/>
                    <a:pt x="9" y="0"/>
                    <a:pt x="9" y="0"/>
                  </a:cubicBezTo>
                  <a:cubicBezTo>
                    <a:pt x="4" y="0"/>
                    <a:pt x="0" y="4"/>
                    <a:pt x="0" y="9"/>
                  </a:cubicBezTo>
                  <a:cubicBezTo>
                    <a:pt x="0" y="25"/>
                    <a:pt x="0" y="25"/>
                    <a:pt x="0" y="25"/>
                  </a:cubicBezTo>
                  <a:cubicBezTo>
                    <a:pt x="0" y="30"/>
                    <a:pt x="4" y="34"/>
                    <a:pt x="9" y="34"/>
                  </a:cubicBezTo>
                  <a:cubicBezTo>
                    <a:pt x="38" y="34"/>
                    <a:pt x="38" y="34"/>
                    <a:pt x="38" y="34"/>
                  </a:cubicBezTo>
                  <a:cubicBezTo>
                    <a:pt x="42" y="34"/>
                    <a:pt x="45" y="30"/>
                    <a:pt x="4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77" name="Freeform 175"/>
            <p:cNvSpPr>
              <a:spLocks/>
            </p:cNvSpPr>
            <p:nvPr/>
          </p:nvSpPr>
          <p:spPr bwMode="auto">
            <a:xfrm>
              <a:off x="16478250" y="13388975"/>
              <a:ext cx="1112838" cy="187325"/>
            </a:xfrm>
            <a:custGeom>
              <a:avLst/>
              <a:gdLst>
                <a:gd name="T0" fmla="*/ 2 w 202"/>
                <a:gd name="T1" fmla="*/ 25 h 34"/>
                <a:gd name="T2" fmla="*/ 0 w 202"/>
                <a:gd name="T3" fmla="*/ 34 h 34"/>
                <a:gd name="T4" fmla="*/ 202 w 202"/>
                <a:gd name="T5" fmla="*/ 34 h 34"/>
                <a:gd name="T6" fmla="*/ 200 w 202"/>
                <a:gd name="T7" fmla="*/ 25 h 34"/>
                <a:gd name="T8" fmla="*/ 200 w 202"/>
                <a:gd name="T9" fmla="*/ 9 h 34"/>
                <a:gd name="T10" fmla="*/ 202 w 202"/>
                <a:gd name="T11" fmla="*/ 0 h 34"/>
                <a:gd name="T12" fmla="*/ 0 w 202"/>
                <a:gd name="T13" fmla="*/ 0 h 34"/>
                <a:gd name="T14" fmla="*/ 2 w 202"/>
                <a:gd name="T15" fmla="*/ 9 h 34"/>
                <a:gd name="T16" fmla="*/ 2 w 202"/>
                <a:gd name="T17" fmla="*/ 2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2" h="34">
                  <a:moveTo>
                    <a:pt x="2" y="25"/>
                  </a:moveTo>
                  <a:cubicBezTo>
                    <a:pt x="2" y="29"/>
                    <a:pt x="1" y="32"/>
                    <a:pt x="0" y="34"/>
                  </a:cubicBezTo>
                  <a:cubicBezTo>
                    <a:pt x="202" y="34"/>
                    <a:pt x="202" y="34"/>
                    <a:pt x="202" y="34"/>
                  </a:cubicBezTo>
                  <a:cubicBezTo>
                    <a:pt x="200" y="32"/>
                    <a:pt x="200" y="29"/>
                    <a:pt x="200" y="25"/>
                  </a:cubicBezTo>
                  <a:cubicBezTo>
                    <a:pt x="200" y="9"/>
                    <a:pt x="200" y="9"/>
                    <a:pt x="200" y="9"/>
                  </a:cubicBezTo>
                  <a:cubicBezTo>
                    <a:pt x="200" y="5"/>
                    <a:pt x="200" y="2"/>
                    <a:pt x="202" y="0"/>
                  </a:cubicBezTo>
                  <a:cubicBezTo>
                    <a:pt x="0" y="0"/>
                    <a:pt x="0" y="0"/>
                    <a:pt x="0" y="0"/>
                  </a:cubicBezTo>
                  <a:cubicBezTo>
                    <a:pt x="1" y="2"/>
                    <a:pt x="2" y="5"/>
                    <a:pt x="2" y="9"/>
                  </a:cubicBezTo>
                  <a:lnTo>
                    <a:pt x="2"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78" name="Freeform 176"/>
            <p:cNvSpPr>
              <a:spLocks/>
            </p:cNvSpPr>
            <p:nvPr/>
          </p:nvSpPr>
          <p:spPr bwMode="auto">
            <a:xfrm>
              <a:off x="15663863" y="13388975"/>
              <a:ext cx="511175" cy="187325"/>
            </a:xfrm>
            <a:custGeom>
              <a:avLst/>
              <a:gdLst>
                <a:gd name="T0" fmla="*/ 18 w 93"/>
                <a:gd name="T1" fmla="*/ 34 h 34"/>
                <a:gd name="T2" fmla="*/ 93 w 93"/>
                <a:gd name="T3" fmla="*/ 34 h 34"/>
                <a:gd name="T4" fmla="*/ 91 w 93"/>
                <a:gd name="T5" fmla="*/ 25 h 34"/>
                <a:gd name="T6" fmla="*/ 91 w 93"/>
                <a:gd name="T7" fmla="*/ 9 h 34"/>
                <a:gd name="T8" fmla="*/ 93 w 93"/>
                <a:gd name="T9" fmla="*/ 0 h 34"/>
                <a:gd name="T10" fmla="*/ 18 w 93"/>
                <a:gd name="T11" fmla="*/ 0 h 34"/>
                <a:gd name="T12" fmla="*/ 0 w 93"/>
                <a:gd name="T13" fmla="*/ 17 h 34"/>
                <a:gd name="T14" fmla="*/ 0 w 93"/>
                <a:gd name="T15" fmla="*/ 17 h 34"/>
                <a:gd name="T16" fmla="*/ 18 w 93"/>
                <a:gd name="T17"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34">
                  <a:moveTo>
                    <a:pt x="18" y="34"/>
                  </a:moveTo>
                  <a:cubicBezTo>
                    <a:pt x="93" y="34"/>
                    <a:pt x="93" y="34"/>
                    <a:pt x="93" y="34"/>
                  </a:cubicBezTo>
                  <a:cubicBezTo>
                    <a:pt x="92" y="32"/>
                    <a:pt x="91" y="29"/>
                    <a:pt x="91" y="25"/>
                  </a:cubicBezTo>
                  <a:cubicBezTo>
                    <a:pt x="91" y="9"/>
                    <a:pt x="91" y="9"/>
                    <a:pt x="91" y="9"/>
                  </a:cubicBezTo>
                  <a:cubicBezTo>
                    <a:pt x="91" y="5"/>
                    <a:pt x="92" y="2"/>
                    <a:pt x="93" y="0"/>
                  </a:cubicBezTo>
                  <a:cubicBezTo>
                    <a:pt x="18" y="0"/>
                    <a:pt x="18" y="0"/>
                    <a:pt x="18" y="0"/>
                  </a:cubicBezTo>
                  <a:cubicBezTo>
                    <a:pt x="8" y="0"/>
                    <a:pt x="0" y="7"/>
                    <a:pt x="0" y="17"/>
                  </a:cubicBezTo>
                  <a:cubicBezTo>
                    <a:pt x="0" y="17"/>
                    <a:pt x="0" y="17"/>
                    <a:pt x="0" y="17"/>
                  </a:cubicBezTo>
                  <a:cubicBezTo>
                    <a:pt x="0" y="27"/>
                    <a:pt x="8" y="34"/>
                    <a:pt x="18"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79" name="Freeform 177"/>
            <p:cNvSpPr>
              <a:spLocks/>
            </p:cNvSpPr>
            <p:nvPr/>
          </p:nvSpPr>
          <p:spPr bwMode="auto">
            <a:xfrm>
              <a:off x="17887950" y="13388975"/>
              <a:ext cx="512763" cy="187325"/>
            </a:xfrm>
            <a:custGeom>
              <a:avLst/>
              <a:gdLst>
                <a:gd name="T0" fmla="*/ 3 w 93"/>
                <a:gd name="T1" fmla="*/ 25 h 34"/>
                <a:gd name="T2" fmla="*/ 0 w 93"/>
                <a:gd name="T3" fmla="*/ 34 h 34"/>
                <a:gd name="T4" fmla="*/ 76 w 93"/>
                <a:gd name="T5" fmla="*/ 34 h 34"/>
                <a:gd name="T6" fmla="*/ 93 w 93"/>
                <a:gd name="T7" fmla="*/ 17 h 34"/>
                <a:gd name="T8" fmla="*/ 93 w 93"/>
                <a:gd name="T9" fmla="*/ 17 h 34"/>
                <a:gd name="T10" fmla="*/ 76 w 93"/>
                <a:gd name="T11" fmla="*/ 0 h 34"/>
                <a:gd name="T12" fmla="*/ 0 w 93"/>
                <a:gd name="T13" fmla="*/ 0 h 34"/>
                <a:gd name="T14" fmla="*/ 3 w 93"/>
                <a:gd name="T15" fmla="*/ 9 h 34"/>
                <a:gd name="T16" fmla="*/ 3 w 93"/>
                <a:gd name="T17" fmla="*/ 2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34">
                  <a:moveTo>
                    <a:pt x="3" y="25"/>
                  </a:moveTo>
                  <a:cubicBezTo>
                    <a:pt x="3" y="29"/>
                    <a:pt x="2" y="32"/>
                    <a:pt x="0" y="34"/>
                  </a:cubicBezTo>
                  <a:cubicBezTo>
                    <a:pt x="76" y="34"/>
                    <a:pt x="76" y="34"/>
                    <a:pt x="76" y="34"/>
                  </a:cubicBezTo>
                  <a:cubicBezTo>
                    <a:pt x="85" y="34"/>
                    <a:pt x="93" y="27"/>
                    <a:pt x="93" y="17"/>
                  </a:cubicBezTo>
                  <a:cubicBezTo>
                    <a:pt x="93" y="17"/>
                    <a:pt x="93" y="17"/>
                    <a:pt x="93" y="17"/>
                  </a:cubicBezTo>
                  <a:cubicBezTo>
                    <a:pt x="93" y="7"/>
                    <a:pt x="85" y="0"/>
                    <a:pt x="76" y="0"/>
                  </a:cubicBezTo>
                  <a:cubicBezTo>
                    <a:pt x="0" y="0"/>
                    <a:pt x="0" y="0"/>
                    <a:pt x="0" y="0"/>
                  </a:cubicBezTo>
                  <a:cubicBezTo>
                    <a:pt x="2" y="2"/>
                    <a:pt x="3" y="5"/>
                    <a:pt x="3" y="9"/>
                  </a:cubicBezTo>
                  <a:lnTo>
                    <a:pt x="3"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80" name="Freeform 178"/>
            <p:cNvSpPr>
              <a:spLocks/>
            </p:cNvSpPr>
            <p:nvPr/>
          </p:nvSpPr>
          <p:spPr bwMode="auto">
            <a:xfrm>
              <a:off x="17618075" y="13388975"/>
              <a:ext cx="247650" cy="187325"/>
            </a:xfrm>
            <a:custGeom>
              <a:avLst/>
              <a:gdLst>
                <a:gd name="T0" fmla="*/ 45 w 45"/>
                <a:gd name="T1" fmla="*/ 25 h 34"/>
                <a:gd name="T2" fmla="*/ 45 w 45"/>
                <a:gd name="T3" fmla="*/ 9 h 34"/>
                <a:gd name="T4" fmla="*/ 36 w 45"/>
                <a:gd name="T5" fmla="*/ 0 h 34"/>
                <a:gd name="T6" fmla="*/ 7 w 45"/>
                <a:gd name="T7" fmla="*/ 0 h 34"/>
                <a:gd name="T8" fmla="*/ 0 w 45"/>
                <a:gd name="T9" fmla="*/ 9 h 34"/>
                <a:gd name="T10" fmla="*/ 0 w 45"/>
                <a:gd name="T11" fmla="*/ 25 h 34"/>
                <a:gd name="T12" fmla="*/ 7 w 45"/>
                <a:gd name="T13" fmla="*/ 34 h 34"/>
                <a:gd name="T14" fmla="*/ 36 w 45"/>
                <a:gd name="T15" fmla="*/ 34 h 34"/>
                <a:gd name="T16" fmla="*/ 45 w 45"/>
                <a:gd name="T17" fmla="*/ 2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34">
                  <a:moveTo>
                    <a:pt x="45" y="25"/>
                  </a:moveTo>
                  <a:cubicBezTo>
                    <a:pt x="45" y="9"/>
                    <a:pt x="45" y="9"/>
                    <a:pt x="45" y="9"/>
                  </a:cubicBezTo>
                  <a:cubicBezTo>
                    <a:pt x="45" y="4"/>
                    <a:pt x="41" y="0"/>
                    <a:pt x="36" y="0"/>
                  </a:cubicBezTo>
                  <a:cubicBezTo>
                    <a:pt x="7" y="0"/>
                    <a:pt x="7" y="0"/>
                    <a:pt x="7" y="0"/>
                  </a:cubicBezTo>
                  <a:cubicBezTo>
                    <a:pt x="2" y="0"/>
                    <a:pt x="0" y="4"/>
                    <a:pt x="0" y="9"/>
                  </a:cubicBezTo>
                  <a:cubicBezTo>
                    <a:pt x="0" y="25"/>
                    <a:pt x="0" y="25"/>
                    <a:pt x="0" y="25"/>
                  </a:cubicBezTo>
                  <a:cubicBezTo>
                    <a:pt x="0" y="30"/>
                    <a:pt x="2" y="34"/>
                    <a:pt x="7" y="34"/>
                  </a:cubicBezTo>
                  <a:cubicBezTo>
                    <a:pt x="36" y="34"/>
                    <a:pt x="36" y="34"/>
                    <a:pt x="36" y="34"/>
                  </a:cubicBezTo>
                  <a:cubicBezTo>
                    <a:pt x="41" y="34"/>
                    <a:pt x="45" y="30"/>
                    <a:pt x="4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81" name="Freeform 179"/>
            <p:cNvSpPr>
              <a:spLocks/>
            </p:cNvSpPr>
            <p:nvPr/>
          </p:nvSpPr>
          <p:spPr bwMode="auto">
            <a:xfrm>
              <a:off x="16968788" y="13179425"/>
              <a:ext cx="127000" cy="165100"/>
            </a:xfrm>
            <a:custGeom>
              <a:avLst/>
              <a:gdLst>
                <a:gd name="T0" fmla="*/ 23 w 23"/>
                <a:gd name="T1" fmla="*/ 9 h 30"/>
                <a:gd name="T2" fmla="*/ 13 w 23"/>
                <a:gd name="T3" fmla="*/ 0 h 30"/>
                <a:gd name="T4" fmla="*/ 10 w 23"/>
                <a:gd name="T5" fmla="*/ 0 h 30"/>
                <a:gd name="T6" fmla="*/ 0 w 23"/>
                <a:gd name="T7" fmla="*/ 9 h 30"/>
                <a:gd name="T8" fmla="*/ 0 w 23"/>
                <a:gd name="T9" fmla="*/ 30 h 30"/>
                <a:gd name="T10" fmla="*/ 23 w 23"/>
                <a:gd name="T11" fmla="*/ 30 h 30"/>
                <a:gd name="T12" fmla="*/ 23 w 23"/>
                <a:gd name="T13" fmla="*/ 9 h 30"/>
              </a:gdLst>
              <a:ahLst/>
              <a:cxnLst>
                <a:cxn ang="0">
                  <a:pos x="T0" y="T1"/>
                </a:cxn>
                <a:cxn ang="0">
                  <a:pos x="T2" y="T3"/>
                </a:cxn>
                <a:cxn ang="0">
                  <a:pos x="T4" y="T5"/>
                </a:cxn>
                <a:cxn ang="0">
                  <a:pos x="T6" y="T7"/>
                </a:cxn>
                <a:cxn ang="0">
                  <a:pos x="T8" y="T9"/>
                </a:cxn>
                <a:cxn ang="0">
                  <a:pos x="T10" y="T11"/>
                </a:cxn>
                <a:cxn ang="0">
                  <a:pos x="T12" y="T13"/>
                </a:cxn>
              </a:cxnLst>
              <a:rect l="0" t="0" r="r" b="b"/>
              <a:pathLst>
                <a:path w="23" h="30">
                  <a:moveTo>
                    <a:pt x="23" y="9"/>
                  </a:moveTo>
                  <a:cubicBezTo>
                    <a:pt x="23" y="4"/>
                    <a:pt x="18" y="0"/>
                    <a:pt x="13" y="0"/>
                  </a:cubicBezTo>
                  <a:cubicBezTo>
                    <a:pt x="10" y="0"/>
                    <a:pt x="10" y="0"/>
                    <a:pt x="10" y="0"/>
                  </a:cubicBezTo>
                  <a:cubicBezTo>
                    <a:pt x="5" y="0"/>
                    <a:pt x="0" y="4"/>
                    <a:pt x="0" y="9"/>
                  </a:cubicBezTo>
                  <a:cubicBezTo>
                    <a:pt x="0" y="30"/>
                    <a:pt x="0" y="30"/>
                    <a:pt x="0" y="30"/>
                  </a:cubicBezTo>
                  <a:cubicBezTo>
                    <a:pt x="23" y="30"/>
                    <a:pt x="23" y="30"/>
                    <a:pt x="23" y="30"/>
                  </a:cubicBezTo>
                  <a:lnTo>
                    <a:pt x="23"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grpSp>
      <p:grpSp>
        <p:nvGrpSpPr>
          <p:cNvPr id="182" name="Group 181"/>
          <p:cNvGrpSpPr/>
          <p:nvPr/>
        </p:nvGrpSpPr>
        <p:grpSpPr>
          <a:xfrm>
            <a:off x="3547012" y="2269169"/>
            <a:ext cx="264896" cy="168011"/>
            <a:chOff x="2026223" y="1290196"/>
            <a:chExt cx="635881" cy="369803"/>
          </a:xfrm>
          <a:solidFill>
            <a:srgbClr val="86BC25"/>
          </a:solidFill>
        </p:grpSpPr>
        <p:sp>
          <p:nvSpPr>
            <p:cNvPr id="183" name="Freeform 10"/>
            <p:cNvSpPr>
              <a:spLocks/>
            </p:cNvSpPr>
            <p:nvPr/>
          </p:nvSpPr>
          <p:spPr bwMode="auto">
            <a:xfrm>
              <a:off x="2555560" y="1290196"/>
              <a:ext cx="106544" cy="183210"/>
            </a:xfrm>
            <a:custGeom>
              <a:avLst/>
              <a:gdLst>
                <a:gd name="T0" fmla="*/ 79 w 189"/>
                <a:gd name="T1" fmla="*/ 0 h 325"/>
                <a:gd name="T2" fmla="*/ 79 w 189"/>
                <a:gd name="T3" fmla="*/ 0 h 325"/>
                <a:gd name="T4" fmla="*/ 10 w 189"/>
                <a:gd name="T5" fmla="*/ 26 h 325"/>
                <a:gd name="T6" fmla="*/ 10 w 189"/>
                <a:gd name="T7" fmla="*/ 26 h 325"/>
                <a:gd name="T8" fmla="*/ 0 w 189"/>
                <a:gd name="T9" fmla="*/ 32 h 325"/>
                <a:gd name="T10" fmla="*/ 0 w 189"/>
                <a:gd name="T11" fmla="*/ 53 h 325"/>
                <a:gd name="T12" fmla="*/ 0 w 189"/>
                <a:gd name="T13" fmla="*/ 73 h 325"/>
                <a:gd name="T14" fmla="*/ 10 w 189"/>
                <a:gd name="T15" fmla="*/ 110 h 325"/>
                <a:gd name="T16" fmla="*/ 10 w 189"/>
                <a:gd name="T17" fmla="*/ 110 h 325"/>
                <a:gd name="T18" fmla="*/ 37 w 189"/>
                <a:gd name="T19" fmla="*/ 194 h 325"/>
                <a:gd name="T20" fmla="*/ 68 w 189"/>
                <a:gd name="T21" fmla="*/ 278 h 325"/>
                <a:gd name="T22" fmla="*/ 68 w 189"/>
                <a:gd name="T23" fmla="*/ 278 h 325"/>
                <a:gd name="T24" fmla="*/ 84 w 189"/>
                <a:gd name="T25" fmla="*/ 304 h 325"/>
                <a:gd name="T26" fmla="*/ 94 w 189"/>
                <a:gd name="T27" fmla="*/ 320 h 325"/>
                <a:gd name="T28" fmla="*/ 105 w 189"/>
                <a:gd name="T29" fmla="*/ 325 h 325"/>
                <a:gd name="T30" fmla="*/ 110 w 189"/>
                <a:gd name="T31" fmla="*/ 325 h 325"/>
                <a:gd name="T32" fmla="*/ 110 w 189"/>
                <a:gd name="T33" fmla="*/ 325 h 325"/>
                <a:gd name="T34" fmla="*/ 110 w 189"/>
                <a:gd name="T35" fmla="*/ 325 h 325"/>
                <a:gd name="T36" fmla="*/ 115 w 189"/>
                <a:gd name="T37" fmla="*/ 325 h 325"/>
                <a:gd name="T38" fmla="*/ 115 w 189"/>
                <a:gd name="T39" fmla="*/ 325 h 325"/>
                <a:gd name="T40" fmla="*/ 189 w 189"/>
                <a:gd name="T41" fmla="*/ 299 h 325"/>
                <a:gd name="T42" fmla="*/ 189 w 189"/>
                <a:gd name="T43" fmla="*/ 299 h 325"/>
                <a:gd name="T44" fmla="*/ 189 w 189"/>
                <a:gd name="T45" fmla="*/ 299 h 325"/>
                <a:gd name="T46" fmla="*/ 79 w 189"/>
                <a:gd name="T47" fmla="*/ 0 h 325"/>
                <a:gd name="T48" fmla="*/ 79 w 189"/>
                <a:gd name="T49" fmla="*/ 0 h 325"/>
                <a:gd name="T50" fmla="*/ 79 w 189"/>
                <a:gd name="T51" fmla="*/ 0 h 325"/>
                <a:gd name="T52" fmla="*/ 79 w 189"/>
                <a:gd name="T53" fmla="*/ 0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9" h="325">
                  <a:moveTo>
                    <a:pt x="79" y="0"/>
                  </a:moveTo>
                  <a:lnTo>
                    <a:pt x="79" y="0"/>
                  </a:lnTo>
                  <a:lnTo>
                    <a:pt x="10" y="26"/>
                  </a:lnTo>
                  <a:lnTo>
                    <a:pt x="10" y="26"/>
                  </a:lnTo>
                  <a:lnTo>
                    <a:pt x="0" y="32"/>
                  </a:lnTo>
                  <a:lnTo>
                    <a:pt x="0" y="53"/>
                  </a:lnTo>
                  <a:lnTo>
                    <a:pt x="0" y="73"/>
                  </a:lnTo>
                  <a:lnTo>
                    <a:pt x="10" y="110"/>
                  </a:lnTo>
                  <a:lnTo>
                    <a:pt x="10" y="110"/>
                  </a:lnTo>
                  <a:lnTo>
                    <a:pt x="37" y="194"/>
                  </a:lnTo>
                  <a:lnTo>
                    <a:pt x="68" y="278"/>
                  </a:lnTo>
                  <a:lnTo>
                    <a:pt x="68" y="278"/>
                  </a:lnTo>
                  <a:lnTo>
                    <a:pt x="84" y="304"/>
                  </a:lnTo>
                  <a:lnTo>
                    <a:pt x="94" y="320"/>
                  </a:lnTo>
                  <a:lnTo>
                    <a:pt x="105" y="325"/>
                  </a:lnTo>
                  <a:lnTo>
                    <a:pt x="110" y="325"/>
                  </a:lnTo>
                  <a:lnTo>
                    <a:pt x="110" y="325"/>
                  </a:lnTo>
                  <a:lnTo>
                    <a:pt x="110" y="325"/>
                  </a:lnTo>
                  <a:lnTo>
                    <a:pt x="115" y="325"/>
                  </a:lnTo>
                  <a:lnTo>
                    <a:pt x="115" y="325"/>
                  </a:lnTo>
                  <a:lnTo>
                    <a:pt x="189" y="299"/>
                  </a:lnTo>
                  <a:lnTo>
                    <a:pt x="189" y="299"/>
                  </a:lnTo>
                  <a:lnTo>
                    <a:pt x="189" y="299"/>
                  </a:lnTo>
                  <a:lnTo>
                    <a:pt x="79" y="0"/>
                  </a:lnTo>
                  <a:lnTo>
                    <a:pt x="79" y="0"/>
                  </a:lnTo>
                  <a:lnTo>
                    <a:pt x="79" y="0"/>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84" name="Freeform 11"/>
            <p:cNvSpPr>
              <a:spLocks/>
            </p:cNvSpPr>
            <p:nvPr/>
          </p:nvSpPr>
          <p:spPr bwMode="auto">
            <a:xfrm>
              <a:off x="2026223" y="1290196"/>
              <a:ext cx="109362" cy="183210"/>
            </a:xfrm>
            <a:custGeom>
              <a:avLst/>
              <a:gdLst>
                <a:gd name="T0" fmla="*/ 110 w 194"/>
                <a:gd name="T1" fmla="*/ 0 h 325"/>
                <a:gd name="T2" fmla="*/ 110 w 194"/>
                <a:gd name="T3" fmla="*/ 0 h 325"/>
                <a:gd name="T4" fmla="*/ 110 w 194"/>
                <a:gd name="T5" fmla="*/ 0 h 325"/>
                <a:gd name="T6" fmla="*/ 0 w 194"/>
                <a:gd name="T7" fmla="*/ 299 h 325"/>
                <a:gd name="T8" fmla="*/ 0 w 194"/>
                <a:gd name="T9" fmla="*/ 299 h 325"/>
                <a:gd name="T10" fmla="*/ 0 w 194"/>
                <a:gd name="T11" fmla="*/ 299 h 325"/>
                <a:gd name="T12" fmla="*/ 0 w 194"/>
                <a:gd name="T13" fmla="*/ 299 h 325"/>
                <a:gd name="T14" fmla="*/ 73 w 194"/>
                <a:gd name="T15" fmla="*/ 325 h 325"/>
                <a:gd name="T16" fmla="*/ 73 w 194"/>
                <a:gd name="T17" fmla="*/ 325 h 325"/>
                <a:gd name="T18" fmla="*/ 79 w 194"/>
                <a:gd name="T19" fmla="*/ 325 h 325"/>
                <a:gd name="T20" fmla="*/ 79 w 194"/>
                <a:gd name="T21" fmla="*/ 325 h 325"/>
                <a:gd name="T22" fmla="*/ 84 w 194"/>
                <a:gd name="T23" fmla="*/ 325 h 325"/>
                <a:gd name="T24" fmla="*/ 94 w 194"/>
                <a:gd name="T25" fmla="*/ 320 h 325"/>
                <a:gd name="T26" fmla="*/ 105 w 194"/>
                <a:gd name="T27" fmla="*/ 304 h 325"/>
                <a:gd name="T28" fmla="*/ 121 w 194"/>
                <a:gd name="T29" fmla="*/ 278 h 325"/>
                <a:gd name="T30" fmla="*/ 121 w 194"/>
                <a:gd name="T31" fmla="*/ 278 h 325"/>
                <a:gd name="T32" fmla="*/ 152 w 194"/>
                <a:gd name="T33" fmla="*/ 194 h 325"/>
                <a:gd name="T34" fmla="*/ 178 w 194"/>
                <a:gd name="T35" fmla="*/ 110 h 325"/>
                <a:gd name="T36" fmla="*/ 178 w 194"/>
                <a:gd name="T37" fmla="*/ 110 h 325"/>
                <a:gd name="T38" fmla="*/ 189 w 194"/>
                <a:gd name="T39" fmla="*/ 73 h 325"/>
                <a:gd name="T40" fmla="*/ 194 w 194"/>
                <a:gd name="T41" fmla="*/ 53 h 325"/>
                <a:gd name="T42" fmla="*/ 189 w 194"/>
                <a:gd name="T43" fmla="*/ 32 h 325"/>
                <a:gd name="T44" fmla="*/ 178 w 194"/>
                <a:gd name="T45" fmla="*/ 26 h 325"/>
                <a:gd name="T46" fmla="*/ 178 w 194"/>
                <a:gd name="T47" fmla="*/ 26 h 325"/>
                <a:gd name="T48" fmla="*/ 110 w 194"/>
                <a:gd name="T49" fmla="*/ 0 h 325"/>
                <a:gd name="T50" fmla="*/ 110 w 194"/>
                <a:gd name="T51" fmla="*/ 0 h 325"/>
                <a:gd name="T52" fmla="*/ 110 w 194"/>
                <a:gd name="T53" fmla="*/ 0 h 325"/>
                <a:gd name="T54" fmla="*/ 110 w 194"/>
                <a:gd name="T55" fmla="*/ 0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4" h="325">
                  <a:moveTo>
                    <a:pt x="110" y="0"/>
                  </a:moveTo>
                  <a:lnTo>
                    <a:pt x="110" y="0"/>
                  </a:lnTo>
                  <a:lnTo>
                    <a:pt x="110" y="0"/>
                  </a:lnTo>
                  <a:lnTo>
                    <a:pt x="0" y="299"/>
                  </a:lnTo>
                  <a:lnTo>
                    <a:pt x="0" y="299"/>
                  </a:lnTo>
                  <a:lnTo>
                    <a:pt x="0" y="299"/>
                  </a:lnTo>
                  <a:lnTo>
                    <a:pt x="0" y="299"/>
                  </a:lnTo>
                  <a:lnTo>
                    <a:pt x="73" y="325"/>
                  </a:lnTo>
                  <a:lnTo>
                    <a:pt x="73" y="325"/>
                  </a:lnTo>
                  <a:lnTo>
                    <a:pt x="79" y="325"/>
                  </a:lnTo>
                  <a:lnTo>
                    <a:pt x="79" y="325"/>
                  </a:lnTo>
                  <a:lnTo>
                    <a:pt x="84" y="325"/>
                  </a:lnTo>
                  <a:lnTo>
                    <a:pt x="94" y="320"/>
                  </a:lnTo>
                  <a:lnTo>
                    <a:pt x="105" y="304"/>
                  </a:lnTo>
                  <a:lnTo>
                    <a:pt x="121" y="278"/>
                  </a:lnTo>
                  <a:lnTo>
                    <a:pt x="121" y="278"/>
                  </a:lnTo>
                  <a:lnTo>
                    <a:pt x="152" y="194"/>
                  </a:lnTo>
                  <a:lnTo>
                    <a:pt x="178" y="110"/>
                  </a:lnTo>
                  <a:lnTo>
                    <a:pt x="178" y="110"/>
                  </a:lnTo>
                  <a:lnTo>
                    <a:pt x="189" y="73"/>
                  </a:lnTo>
                  <a:lnTo>
                    <a:pt x="194" y="53"/>
                  </a:lnTo>
                  <a:lnTo>
                    <a:pt x="189" y="32"/>
                  </a:lnTo>
                  <a:lnTo>
                    <a:pt x="178" y="26"/>
                  </a:lnTo>
                  <a:lnTo>
                    <a:pt x="178" y="26"/>
                  </a:lnTo>
                  <a:lnTo>
                    <a:pt x="110" y="0"/>
                  </a:lnTo>
                  <a:lnTo>
                    <a:pt x="110" y="0"/>
                  </a:lnTo>
                  <a:lnTo>
                    <a:pt x="110" y="0"/>
                  </a:lnTo>
                  <a:lnTo>
                    <a:pt x="1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85" name="Freeform 12"/>
            <p:cNvSpPr>
              <a:spLocks/>
            </p:cNvSpPr>
            <p:nvPr/>
          </p:nvSpPr>
          <p:spPr bwMode="auto">
            <a:xfrm>
              <a:off x="2271443" y="1594607"/>
              <a:ext cx="47353" cy="50172"/>
            </a:xfrm>
            <a:custGeom>
              <a:avLst/>
              <a:gdLst>
                <a:gd name="T0" fmla="*/ 74 w 84"/>
                <a:gd name="T1" fmla="*/ 11 h 89"/>
                <a:gd name="T2" fmla="*/ 74 w 84"/>
                <a:gd name="T3" fmla="*/ 11 h 89"/>
                <a:gd name="T4" fmla="*/ 74 w 84"/>
                <a:gd name="T5" fmla="*/ 11 h 89"/>
                <a:gd name="T6" fmla="*/ 84 w 84"/>
                <a:gd name="T7" fmla="*/ 21 h 89"/>
                <a:gd name="T8" fmla="*/ 84 w 84"/>
                <a:gd name="T9" fmla="*/ 32 h 89"/>
                <a:gd name="T10" fmla="*/ 84 w 84"/>
                <a:gd name="T11" fmla="*/ 47 h 89"/>
                <a:gd name="T12" fmla="*/ 74 w 84"/>
                <a:gd name="T13" fmla="*/ 58 h 89"/>
                <a:gd name="T14" fmla="*/ 58 w 84"/>
                <a:gd name="T15" fmla="*/ 79 h 89"/>
                <a:gd name="T16" fmla="*/ 58 w 84"/>
                <a:gd name="T17" fmla="*/ 79 h 89"/>
                <a:gd name="T18" fmla="*/ 48 w 84"/>
                <a:gd name="T19" fmla="*/ 84 h 89"/>
                <a:gd name="T20" fmla="*/ 32 w 84"/>
                <a:gd name="T21" fmla="*/ 89 h 89"/>
                <a:gd name="T22" fmla="*/ 21 w 84"/>
                <a:gd name="T23" fmla="*/ 84 h 89"/>
                <a:gd name="T24" fmla="*/ 11 w 84"/>
                <a:gd name="T25" fmla="*/ 79 h 89"/>
                <a:gd name="T26" fmla="*/ 11 w 84"/>
                <a:gd name="T27" fmla="*/ 79 h 89"/>
                <a:gd name="T28" fmla="*/ 11 w 84"/>
                <a:gd name="T29" fmla="*/ 79 h 89"/>
                <a:gd name="T30" fmla="*/ 0 w 84"/>
                <a:gd name="T31" fmla="*/ 68 h 89"/>
                <a:gd name="T32" fmla="*/ 0 w 84"/>
                <a:gd name="T33" fmla="*/ 53 h 89"/>
                <a:gd name="T34" fmla="*/ 0 w 84"/>
                <a:gd name="T35" fmla="*/ 42 h 89"/>
                <a:gd name="T36" fmla="*/ 11 w 84"/>
                <a:gd name="T37" fmla="*/ 32 h 89"/>
                <a:gd name="T38" fmla="*/ 32 w 84"/>
                <a:gd name="T39" fmla="*/ 11 h 89"/>
                <a:gd name="T40" fmla="*/ 32 w 84"/>
                <a:gd name="T41" fmla="*/ 11 h 89"/>
                <a:gd name="T42" fmla="*/ 42 w 84"/>
                <a:gd name="T43" fmla="*/ 6 h 89"/>
                <a:gd name="T44" fmla="*/ 53 w 84"/>
                <a:gd name="T45" fmla="*/ 0 h 89"/>
                <a:gd name="T46" fmla="*/ 63 w 84"/>
                <a:gd name="T47" fmla="*/ 6 h 89"/>
                <a:gd name="T48" fmla="*/ 74 w 84"/>
                <a:gd name="T49" fmla="*/ 11 h 89"/>
                <a:gd name="T50" fmla="*/ 74 w 84"/>
                <a:gd name="T51" fmla="*/ 11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4" h="89">
                  <a:moveTo>
                    <a:pt x="74" y="11"/>
                  </a:moveTo>
                  <a:lnTo>
                    <a:pt x="74" y="11"/>
                  </a:lnTo>
                  <a:lnTo>
                    <a:pt x="74" y="11"/>
                  </a:lnTo>
                  <a:lnTo>
                    <a:pt x="84" y="21"/>
                  </a:lnTo>
                  <a:lnTo>
                    <a:pt x="84" y="32"/>
                  </a:lnTo>
                  <a:lnTo>
                    <a:pt x="84" y="47"/>
                  </a:lnTo>
                  <a:lnTo>
                    <a:pt x="74" y="58"/>
                  </a:lnTo>
                  <a:lnTo>
                    <a:pt x="58" y="79"/>
                  </a:lnTo>
                  <a:lnTo>
                    <a:pt x="58" y="79"/>
                  </a:lnTo>
                  <a:lnTo>
                    <a:pt x="48" y="84"/>
                  </a:lnTo>
                  <a:lnTo>
                    <a:pt x="32" y="89"/>
                  </a:lnTo>
                  <a:lnTo>
                    <a:pt x="21" y="84"/>
                  </a:lnTo>
                  <a:lnTo>
                    <a:pt x="11" y="79"/>
                  </a:lnTo>
                  <a:lnTo>
                    <a:pt x="11" y="79"/>
                  </a:lnTo>
                  <a:lnTo>
                    <a:pt x="11" y="79"/>
                  </a:lnTo>
                  <a:lnTo>
                    <a:pt x="0" y="68"/>
                  </a:lnTo>
                  <a:lnTo>
                    <a:pt x="0" y="53"/>
                  </a:lnTo>
                  <a:lnTo>
                    <a:pt x="0" y="42"/>
                  </a:lnTo>
                  <a:lnTo>
                    <a:pt x="11" y="32"/>
                  </a:lnTo>
                  <a:lnTo>
                    <a:pt x="32" y="11"/>
                  </a:lnTo>
                  <a:lnTo>
                    <a:pt x="32" y="11"/>
                  </a:lnTo>
                  <a:lnTo>
                    <a:pt x="42" y="6"/>
                  </a:lnTo>
                  <a:lnTo>
                    <a:pt x="53" y="0"/>
                  </a:lnTo>
                  <a:lnTo>
                    <a:pt x="63" y="6"/>
                  </a:lnTo>
                  <a:lnTo>
                    <a:pt x="74" y="11"/>
                  </a:lnTo>
                  <a:lnTo>
                    <a:pt x="7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86" name="Freeform 13"/>
            <p:cNvSpPr>
              <a:spLocks/>
            </p:cNvSpPr>
            <p:nvPr/>
          </p:nvSpPr>
          <p:spPr bwMode="auto">
            <a:xfrm>
              <a:off x="2221271" y="1547254"/>
              <a:ext cx="73848" cy="73848"/>
            </a:xfrm>
            <a:custGeom>
              <a:avLst/>
              <a:gdLst>
                <a:gd name="T0" fmla="*/ 121 w 131"/>
                <a:gd name="T1" fmla="*/ 11 h 131"/>
                <a:gd name="T2" fmla="*/ 121 w 131"/>
                <a:gd name="T3" fmla="*/ 11 h 131"/>
                <a:gd name="T4" fmla="*/ 121 w 131"/>
                <a:gd name="T5" fmla="*/ 11 h 131"/>
                <a:gd name="T6" fmla="*/ 131 w 131"/>
                <a:gd name="T7" fmla="*/ 21 h 131"/>
                <a:gd name="T8" fmla="*/ 131 w 131"/>
                <a:gd name="T9" fmla="*/ 32 h 131"/>
                <a:gd name="T10" fmla="*/ 131 w 131"/>
                <a:gd name="T11" fmla="*/ 48 h 131"/>
                <a:gd name="T12" fmla="*/ 121 w 131"/>
                <a:gd name="T13" fmla="*/ 58 h 131"/>
                <a:gd name="T14" fmla="*/ 58 w 131"/>
                <a:gd name="T15" fmla="*/ 121 h 131"/>
                <a:gd name="T16" fmla="*/ 58 w 131"/>
                <a:gd name="T17" fmla="*/ 121 h 131"/>
                <a:gd name="T18" fmla="*/ 47 w 131"/>
                <a:gd name="T19" fmla="*/ 131 h 131"/>
                <a:gd name="T20" fmla="*/ 32 w 131"/>
                <a:gd name="T21" fmla="*/ 131 h 131"/>
                <a:gd name="T22" fmla="*/ 21 w 131"/>
                <a:gd name="T23" fmla="*/ 131 h 131"/>
                <a:gd name="T24" fmla="*/ 11 w 131"/>
                <a:gd name="T25" fmla="*/ 121 h 131"/>
                <a:gd name="T26" fmla="*/ 11 w 131"/>
                <a:gd name="T27" fmla="*/ 121 h 131"/>
                <a:gd name="T28" fmla="*/ 11 w 131"/>
                <a:gd name="T29" fmla="*/ 121 h 131"/>
                <a:gd name="T30" fmla="*/ 0 w 131"/>
                <a:gd name="T31" fmla="*/ 111 h 131"/>
                <a:gd name="T32" fmla="*/ 0 w 131"/>
                <a:gd name="T33" fmla="*/ 100 h 131"/>
                <a:gd name="T34" fmla="*/ 0 w 131"/>
                <a:gd name="T35" fmla="*/ 90 h 131"/>
                <a:gd name="T36" fmla="*/ 11 w 131"/>
                <a:gd name="T37" fmla="*/ 79 h 131"/>
                <a:gd name="T38" fmla="*/ 79 w 131"/>
                <a:gd name="T39" fmla="*/ 11 h 131"/>
                <a:gd name="T40" fmla="*/ 79 w 131"/>
                <a:gd name="T41" fmla="*/ 11 h 131"/>
                <a:gd name="T42" fmla="*/ 89 w 131"/>
                <a:gd name="T43" fmla="*/ 0 h 131"/>
                <a:gd name="T44" fmla="*/ 100 w 131"/>
                <a:gd name="T45" fmla="*/ 0 h 131"/>
                <a:gd name="T46" fmla="*/ 110 w 131"/>
                <a:gd name="T47" fmla="*/ 0 h 131"/>
                <a:gd name="T48" fmla="*/ 121 w 131"/>
                <a:gd name="T49" fmla="*/ 11 h 131"/>
                <a:gd name="T50" fmla="*/ 121 w 131"/>
                <a:gd name="T51" fmla="*/ 1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1" h="131">
                  <a:moveTo>
                    <a:pt x="121" y="11"/>
                  </a:moveTo>
                  <a:lnTo>
                    <a:pt x="121" y="11"/>
                  </a:lnTo>
                  <a:lnTo>
                    <a:pt x="121" y="11"/>
                  </a:lnTo>
                  <a:lnTo>
                    <a:pt x="131" y="21"/>
                  </a:lnTo>
                  <a:lnTo>
                    <a:pt x="131" y="32"/>
                  </a:lnTo>
                  <a:lnTo>
                    <a:pt x="131" y="48"/>
                  </a:lnTo>
                  <a:lnTo>
                    <a:pt x="121" y="58"/>
                  </a:lnTo>
                  <a:lnTo>
                    <a:pt x="58" y="121"/>
                  </a:lnTo>
                  <a:lnTo>
                    <a:pt x="58" y="121"/>
                  </a:lnTo>
                  <a:lnTo>
                    <a:pt x="47" y="131"/>
                  </a:lnTo>
                  <a:lnTo>
                    <a:pt x="32" y="131"/>
                  </a:lnTo>
                  <a:lnTo>
                    <a:pt x="21" y="131"/>
                  </a:lnTo>
                  <a:lnTo>
                    <a:pt x="11" y="121"/>
                  </a:lnTo>
                  <a:lnTo>
                    <a:pt x="11" y="121"/>
                  </a:lnTo>
                  <a:lnTo>
                    <a:pt x="11" y="121"/>
                  </a:lnTo>
                  <a:lnTo>
                    <a:pt x="0" y="111"/>
                  </a:lnTo>
                  <a:lnTo>
                    <a:pt x="0" y="100"/>
                  </a:lnTo>
                  <a:lnTo>
                    <a:pt x="0" y="90"/>
                  </a:lnTo>
                  <a:lnTo>
                    <a:pt x="11" y="79"/>
                  </a:lnTo>
                  <a:lnTo>
                    <a:pt x="79" y="11"/>
                  </a:lnTo>
                  <a:lnTo>
                    <a:pt x="79" y="11"/>
                  </a:lnTo>
                  <a:lnTo>
                    <a:pt x="89" y="0"/>
                  </a:lnTo>
                  <a:lnTo>
                    <a:pt x="100" y="0"/>
                  </a:lnTo>
                  <a:lnTo>
                    <a:pt x="110" y="0"/>
                  </a:lnTo>
                  <a:lnTo>
                    <a:pt x="121" y="11"/>
                  </a:lnTo>
                  <a:lnTo>
                    <a:pt x="121"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87" name="Freeform 14"/>
            <p:cNvSpPr>
              <a:spLocks/>
            </p:cNvSpPr>
            <p:nvPr/>
          </p:nvSpPr>
          <p:spPr bwMode="auto">
            <a:xfrm>
              <a:off x="2189139" y="1517940"/>
              <a:ext cx="67647" cy="64828"/>
            </a:xfrm>
            <a:custGeom>
              <a:avLst/>
              <a:gdLst>
                <a:gd name="T0" fmla="*/ 110 w 120"/>
                <a:gd name="T1" fmla="*/ 5 h 115"/>
                <a:gd name="T2" fmla="*/ 110 w 120"/>
                <a:gd name="T3" fmla="*/ 5 h 115"/>
                <a:gd name="T4" fmla="*/ 110 w 120"/>
                <a:gd name="T5" fmla="*/ 5 h 115"/>
                <a:gd name="T6" fmla="*/ 115 w 120"/>
                <a:gd name="T7" fmla="*/ 16 h 115"/>
                <a:gd name="T8" fmla="*/ 120 w 120"/>
                <a:gd name="T9" fmla="*/ 31 h 115"/>
                <a:gd name="T10" fmla="*/ 115 w 120"/>
                <a:gd name="T11" fmla="*/ 42 h 115"/>
                <a:gd name="T12" fmla="*/ 110 w 120"/>
                <a:gd name="T13" fmla="*/ 52 h 115"/>
                <a:gd name="T14" fmla="*/ 57 w 120"/>
                <a:gd name="T15" fmla="*/ 105 h 115"/>
                <a:gd name="T16" fmla="*/ 57 w 120"/>
                <a:gd name="T17" fmla="*/ 105 h 115"/>
                <a:gd name="T18" fmla="*/ 41 w 120"/>
                <a:gd name="T19" fmla="*/ 115 h 115"/>
                <a:gd name="T20" fmla="*/ 31 w 120"/>
                <a:gd name="T21" fmla="*/ 115 h 115"/>
                <a:gd name="T22" fmla="*/ 20 w 120"/>
                <a:gd name="T23" fmla="*/ 115 h 115"/>
                <a:gd name="T24" fmla="*/ 10 w 120"/>
                <a:gd name="T25" fmla="*/ 105 h 115"/>
                <a:gd name="T26" fmla="*/ 10 w 120"/>
                <a:gd name="T27" fmla="*/ 105 h 115"/>
                <a:gd name="T28" fmla="*/ 10 w 120"/>
                <a:gd name="T29" fmla="*/ 105 h 115"/>
                <a:gd name="T30" fmla="*/ 0 w 120"/>
                <a:gd name="T31" fmla="*/ 94 h 115"/>
                <a:gd name="T32" fmla="*/ 0 w 120"/>
                <a:gd name="T33" fmla="*/ 84 h 115"/>
                <a:gd name="T34" fmla="*/ 0 w 120"/>
                <a:gd name="T35" fmla="*/ 73 h 115"/>
                <a:gd name="T36" fmla="*/ 10 w 120"/>
                <a:gd name="T37" fmla="*/ 63 h 115"/>
                <a:gd name="T38" fmla="*/ 62 w 120"/>
                <a:gd name="T39" fmla="*/ 5 h 115"/>
                <a:gd name="T40" fmla="*/ 62 w 120"/>
                <a:gd name="T41" fmla="*/ 5 h 115"/>
                <a:gd name="T42" fmla="*/ 73 w 120"/>
                <a:gd name="T43" fmla="*/ 0 h 115"/>
                <a:gd name="T44" fmla="*/ 83 w 120"/>
                <a:gd name="T45" fmla="*/ 0 h 115"/>
                <a:gd name="T46" fmla="*/ 99 w 120"/>
                <a:gd name="T47" fmla="*/ 0 h 115"/>
                <a:gd name="T48" fmla="*/ 110 w 120"/>
                <a:gd name="T49" fmla="*/ 5 h 115"/>
                <a:gd name="T50" fmla="*/ 110 w 120"/>
                <a:gd name="T51" fmla="*/ 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0" h="115">
                  <a:moveTo>
                    <a:pt x="110" y="5"/>
                  </a:moveTo>
                  <a:lnTo>
                    <a:pt x="110" y="5"/>
                  </a:lnTo>
                  <a:lnTo>
                    <a:pt x="110" y="5"/>
                  </a:lnTo>
                  <a:lnTo>
                    <a:pt x="115" y="16"/>
                  </a:lnTo>
                  <a:lnTo>
                    <a:pt x="120" y="31"/>
                  </a:lnTo>
                  <a:lnTo>
                    <a:pt x="115" y="42"/>
                  </a:lnTo>
                  <a:lnTo>
                    <a:pt x="110" y="52"/>
                  </a:lnTo>
                  <a:lnTo>
                    <a:pt x="57" y="105"/>
                  </a:lnTo>
                  <a:lnTo>
                    <a:pt x="57" y="105"/>
                  </a:lnTo>
                  <a:lnTo>
                    <a:pt x="41" y="115"/>
                  </a:lnTo>
                  <a:lnTo>
                    <a:pt x="31" y="115"/>
                  </a:lnTo>
                  <a:lnTo>
                    <a:pt x="20" y="115"/>
                  </a:lnTo>
                  <a:lnTo>
                    <a:pt x="10" y="105"/>
                  </a:lnTo>
                  <a:lnTo>
                    <a:pt x="10" y="105"/>
                  </a:lnTo>
                  <a:lnTo>
                    <a:pt x="10" y="105"/>
                  </a:lnTo>
                  <a:lnTo>
                    <a:pt x="0" y="94"/>
                  </a:lnTo>
                  <a:lnTo>
                    <a:pt x="0" y="84"/>
                  </a:lnTo>
                  <a:lnTo>
                    <a:pt x="0" y="73"/>
                  </a:lnTo>
                  <a:lnTo>
                    <a:pt x="10" y="63"/>
                  </a:lnTo>
                  <a:lnTo>
                    <a:pt x="62" y="5"/>
                  </a:lnTo>
                  <a:lnTo>
                    <a:pt x="62" y="5"/>
                  </a:lnTo>
                  <a:lnTo>
                    <a:pt x="73" y="0"/>
                  </a:lnTo>
                  <a:lnTo>
                    <a:pt x="83" y="0"/>
                  </a:lnTo>
                  <a:lnTo>
                    <a:pt x="99" y="0"/>
                  </a:lnTo>
                  <a:lnTo>
                    <a:pt x="110" y="5"/>
                  </a:lnTo>
                  <a:lnTo>
                    <a:pt x="11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88" name="Freeform 15"/>
            <p:cNvSpPr>
              <a:spLocks/>
            </p:cNvSpPr>
            <p:nvPr/>
          </p:nvSpPr>
          <p:spPr bwMode="auto">
            <a:xfrm>
              <a:off x="2159262" y="1488063"/>
              <a:ext cx="52990" cy="53554"/>
            </a:xfrm>
            <a:custGeom>
              <a:avLst/>
              <a:gdLst>
                <a:gd name="T0" fmla="*/ 84 w 94"/>
                <a:gd name="T1" fmla="*/ 11 h 95"/>
                <a:gd name="T2" fmla="*/ 84 w 94"/>
                <a:gd name="T3" fmla="*/ 11 h 95"/>
                <a:gd name="T4" fmla="*/ 84 w 94"/>
                <a:gd name="T5" fmla="*/ 11 h 95"/>
                <a:gd name="T6" fmla="*/ 89 w 94"/>
                <a:gd name="T7" fmla="*/ 21 h 95"/>
                <a:gd name="T8" fmla="*/ 94 w 94"/>
                <a:gd name="T9" fmla="*/ 37 h 95"/>
                <a:gd name="T10" fmla="*/ 89 w 94"/>
                <a:gd name="T11" fmla="*/ 48 h 95"/>
                <a:gd name="T12" fmla="*/ 84 w 94"/>
                <a:gd name="T13" fmla="*/ 58 h 95"/>
                <a:gd name="T14" fmla="*/ 58 w 94"/>
                <a:gd name="T15" fmla="*/ 84 h 95"/>
                <a:gd name="T16" fmla="*/ 58 w 94"/>
                <a:gd name="T17" fmla="*/ 84 h 95"/>
                <a:gd name="T18" fmla="*/ 47 w 94"/>
                <a:gd name="T19" fmla="*/ 95 h 95"/>
                <a:gd name="T20" fmla="*/ 32 w 94"/>
                <a:gd name="T21" fmla="*/ 95 h 95"/>
                <a:gd name="T22" fmla="*/ 21 w 94"/>
                <a:gd name="T23" fmla="*/ 95 h 95"/>
                <a:gd name="T24" fmla="*/ 11 w 94"/>
                <a:gd name="T25" fmla="*/ 84 h 95"/>
                <a:gd name="T26" fmla="*/ 11 w 94"/>
                <a:gd name="T27" fmla="*/ 84 h 95"/>
                <a:gd name="T28" fmla="*/ 11 w 94"/>
                <a:gd name="T29" fmla="*/ 84 h 95"/>
                <a:gd name="T30" fmla="*/ 0 w 94"/>
                <a:gd name="T31" fmla="*/ 74 h 95"/>
                <a:gd name="T32" fmla="*/ 0 w 94"/>
                <a:gd name="T33" fmla="*/ 63 h 95"/>
                <a:gd name="T34" fmla="*/ 0 w 94"/>
                <a:gd name="T35" fmla="*/ 48 h 95"/>
                <a:gd name="T36" fmla="*/ 11 w 94"/>
                <a:gd name="T37" fmla="*/ 37 h 95"/>
                <a:gd name="T38" fmla="*/ 37 w 94"/>
                <a:gd name="T39" fmla="*/ 11 h 95"/>
                <a:gd name="T40" fmla="*/ 37 w 94"/>
                <a:gd name="T41" fmla="*/ 11 h 95"/>
                <a:gd name="T42" fmla="*/ 47 w 94"/>
                <a:gd name="T43" fmla="*/ 6 h 95"/>
                <a:gd name="T44" fmla="*/ 58 w 94"/>
                <a:gd name="T45" fmla="*/ 0 h 95"/>
                <a:gd name="T46" fmla="*/ 73 w 94"/>
                <a:gd name="T47" fmla="*/ 6 h 95"/>
                <a:gd name="T48" fmla="*/ 84 w 94"/>
                <a:gd name="T49" fmla="*/ 11 h 95"/>
                <a:gd name="T50" fmla="*/ 84 w 94"/>
                <a:gd name="T51" fmla="*/ 1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4" h="95">
                  <a:moveTo>
                    <a:pt x="84" y="11"/>
                  </a:moveTo>
                  <a:lnTo>
                    <a:pt x="84" y="11"/>
                  </a:lnTo>
                  <a:lnTo>
                    <a:pt x="84" y="11"/>
                  </a:lnTo>
                  <a:lnTo>
                    <a:pt x="89" y="21"/>
                  </a:lnTo>
                  <a:lnTo>
                    <a:pt x="94" y="37"/>
                  </a:lnTo>
                  <a:lnTo>
                    <a:pt x="89" y="48"/>
                  </a:lnTo>
                  <a:lnTo>
                    <a:pt x="84" y="58"/>
                  </a:lnTo>
                  <a:lnTo>
                    <a:pt x="58" y="84"/>
                  </a:lnTo>
                  <a:lnTo>
                    <a:pt x="58" y="84"/>
                  </a:lnTo>
                  <a:lnTo>
                    <a:pt x="47" y="95"/>
                  </a:lnTo>
                  <a:lnTo>
                    <a:pt x="32" y="95"/>
                  </a:lnTo>
                  <a:lnTo>
                    <a:pt x="21" y="95"/>
                  </a:lnTo>
                  <a:lnTo>
                    <a:pt x="11" y="84"/>
                  </a:lnTo>
                  <a:lnTo>
                    <a:pt x="11" y="84"/>
                  </a:lnTo>
                  <a:lnTo>
                    <a:pt x="11" y="84"/>
                  </a:lnTo>
                  <a:lnTo>
                    <a:pt x="0" y="74"/>
                  </a:lnTo>
                  <a:lnTo>
                    <a:pt x="0" y="63"/>
                  </a:lnTo>
                  <a:lnTo>
                    <a:pt x="0" y="48"/>
                  </a:lnTo>
                  <a:lnTo>
                    <a:pt x="11" y="37"/>
                  </a:lnTo>
                  <a:lnTo>
                    <a:pt x="37" y="11"/>
                  </a:lnTo>
                  <a:lnTo>
                    <a:pt x="37" y="11"/>
                  </a:lnTo>
                  <a:lnTo>
                    <a:pt x="47" y="6"/>
                  </a:lnTo>
                  <a:lnTo>
                    <a:pt x="58" y="0"/>
                  </a:lnTo>
                  <a:lnTo>
                    <a:pt x="73" y="6"/>
                  </a:lnTo>
                  <a:lnTo>
                    <a:pt x="84" y="11"/>
                  </a:lnTo>
                  <a:lnTo>
                    <a:pt x="8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89" name="Freeform 16"/>
            <p:cNvSpPr>
              <a:spLocks/>
            </p:cNvSpPr>
            <p:nvPr/>
          </p:nvSpPr>
          <p:spPr bwMode="auto">
            <a:xfrm>
              <a:off x="2247767" y="1313872"/>
              <a:ext cx="343308" cy="213088"/>
            </a:xfrm>
            <a:custGeom>
              <a:avLst/>
              <a:gdLst>
                <a:gd name="T0" fmla="*/ 184 w 609"/>
                <a:gd name="T1" fmla="*/ 11 h 378"/>
                <a:gd name="T2" fmla="*/ 74 w 609"/>
                <a:gd name="T3" fmla="*/ 47 h 378"/>
                <a:gd name="T4" fmla="*/ 53 w 609"/>
                <a:gd name="T5" fmla="*/ 68 h 378"/>
                <a:gd name="T6" fmla="*/ 27 w 609"/>
                <a:gd name="T7" fmla="*/ 131 h 378"/>
                <a:gd name="T8" fmla="*/ 0 w 609"/>
                <a:gd name="T9" fmla="*/ 231 h 378"/>
                <a:gd name="T10" fmla="*/ 16 w 609"/>
                <a:gd name="T11" fmla="*/ 241 h 378"/>
                <a:gd name="T12" fmla="*/ 37 w 609"/>
                <a:gd name="T13" fmla="*/ 247 h 378"/>
                <a:gd name="T14" fmla="*/ 42 w 609"/>
                <a:gd name="T15" fmla="*/ 247 h 378"/>
                <a:gd name="T16" fmla="*/ 42 w 609"/>
                <a:gd name="T17" fmla="*/ 247 h 378"/>
                <a:gd name="T18" fmla="*/ 48 w 609"/>
                <a:gd name="T19" fmla="*/ 241 h 378"/>
                <a:gd name="T20" fmla="*/ 53 w 609"/>
                <a:gd name="T21" fmla="*/ 241 h 378"/>
                <a:gd name="T22" fmla="*/ 53 w 609"/>
                <a:gd name="T23" fmla="*/ 241 h 378"/>
                <a:gd name="T24" fmla="*/ 69 w 609"/>
                <a:gd name="T25" fmla="*/ 236 h 378"/>
                <a:gd name="T26" fmla="*/ 95 w 609"/>
                <a:gd name="T27" fmla="*/ 210 h 378"/>
                <a:gd name="T28" fmla="*/ 116 w 609"/>
                <a:gd name="T29" fmla="*/ 152 h 378"/>
                <a:gd name="T30" fmla="*/ 116 w 609"/>
                <a:gd name="T31" fmla="*/ 121 h 378"/>
                <a:gd name="T32" fmla="*/ 126 w 609"/>
                <a:gd name="T33" fmla="*/ 105 h 378"/>
                <a:gd name="T34" fmla="*/ 137 w 609"/>
                <a:gd name="T35" fmla="*/ 110 h 378"/>
                <a:gd name="T36" fmla="*/ 142 w 609"/>
                <a:gd name="T37" fmla="*/ 115 h 378"/>
                <a:gd name="T38" fmla="*/ 142 w 609"/>
                <a:gd name="T39" fmla="*/ 131 h 378"/>
                <a:gd name="T40" fmla="*/ 252 w 609"/>
                <a:gd name="T41" fmla="*/ 184 h 378"/>
                <a:gd name="T42" fmla="*/ 305 w 609"/>
                <a:gd name="T43" fmla="*/ 189 h 378"/>
                <a:gd name="T44" fmla="*/ 347 w 609"/>
                <a:gd name="T45" fmla="*/ 173 h 378"/>
                <a:gd name="T46" fmla="*/ 357 w 609"/>
                <a:gd name="T47" fmla="*/ 173 h 378"/>
                <a:gd name="T48" fmla="*/ 368 w 609"/>
                <a:gd name="T49" fmla="*/ 178 h 378"/>
                <a:gd name="T50" fmla="*/ 362 w 609"/>
                <a:gd name="T51" fmla="*/ 194 h 378"/>
                <a:gd name="T52" fmla="*/ 331 w 609"/>
                <a:gd name="T53" fmla="*/ 210 h 378"/>
                <a:gd name="T54" fmla="*/ 299 w 609"/>
                <a:gd name="T55" fmla="*/ 215 h 378"/>
                <a:gd name="T56" fmla="*/ 415 w 609"/>
                <a:gd name="T57" fmla="*/ 330 h 378"/>
                <a:gd name="T58" fmla="*/ 457 w 609"/>
                <a:gd name="T59" fmla="*/ 372 h 378"/>
                <a:gd name="T60" fmla="*/ 462 w 609"/>
                <a:gd name="T61" fmla="*/ 378 h 378"/>
                <a:gd name="T62" fmla="*/ 467 w 609"/>
                <a:gd name="T63" fmla="*/ 372 h 378"/>
                <a:gd name="T64" fmla="*/ 488 w 609"/>
                <a:gd name="T65" fmla="*/ 351 h 378"/>
                <a:gd name="T66" fmla="*/ 562 w 609"/>
                <a:gd name="T67" fmla="*/ 304 h 378"/>
                <a:gd name="T68" fmla="*/ 609 w 609"/>
                <a:gd name="T69" fmla="*/ 288 h 378"/>
                <a:gd name="T70" fmla="*/ 577 w 609"/>
                <a:gd name="T71" fmla="*/ 220 h 378"/>
                <a:gd name="T72" fmla="*/ 535 w 609"/>
                <a:gd name="T73" fmla="*/ 89 h 378"/>
                <a:gd name="T74" fmla="*/ 520 w 609"/>
                <a:gd name="T75" fmla="*/ 31 h 378"/>
                <a:gd name="T76" fmla="*/ 441 w 609"/>
                <a:gd name="T77" fmla="*/ 47 h 378"/>
                <a:gd name="T78" fmla="*/ 399 w 609"/>
                <a:gd name="T79" fmla="*/ 42 h 378"/>
                <a:gd name="T80" fmla="*/ 331 w 609"/>
                <a:gd name="T81" fmla="*/ 21 h 378"/>
                <a:gd name="T82" fmla="*/ 278 w 609"/>
                <a:gd name="T83" fmla="*/ 11 h 378"/>
                <a:gd name="T84" fmla="*/ 231 w 609"/>
                <a:gd name="T85" fmla="*/ 0 h 378"/>
                <a:gd name="T86" fmla="*/ 194 w 609"/>
                <a:gd name="T87" fmla="*/ 5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09" h="378">
                  <a:moveTo>
                    <a:pt x="184" y="11"/>
                  </a:moveTo>
                  <a:lnTo>
                    <a:pt x="184" y="11"/>
                  </a:lnTo>
                  <a:lnTo>
                    <a:pt x="100" y="31"/>
                  </a:lnTo>
                  <a:lnTo>
                    <a:pt x="74" y="47"/>
                  </a:lnTo>
                  <a:lnTo>
                    <a:pt x="63" y="58"/>
                  </a:lnTo>
                  <a:lnTo>
                    <a:pt x="53" y="68"/>
                  </a:lnTo>
                  <a:lnTo>
                    <a:pt x="53" y="68"/>
                  </a:lnTo>
                  <a:lnTo>
                    <a:pt x="27" y="131"/>
                  </a:lnTo>
                  <a:lnTo>
                    <a:pt x="27" y="131"/>
                  </a:lnTo>
                  <a:lnTo>
                    <a:pt x="0" y="231"/>
                  </a:lnTo>
                  <a:lnTo>
                    <a:pt x="0" y="231"/>
                  </a:lnTo>
                  <a:lnTo>
                    <a:pt x="16" y="241"/>
                  </a:lnTo>
                  <a:lnTo>
                    <a:pt x="27" y="241"/>
                  </a:lnTo>
                  <a:lnTo>
                    <a:pt x="37" y="247"/>
                  </a:lnTo>
                  <a:lnTo>
                    <a:pt x="37" y="247"/>
                  </a:lnTo>
                  <a:lnTo>
                    <a:pt x="42" y="247"/>
                  </a:lnTo>
                  <a:lnTo>
                    <a:pt x="42" y="247"/>
                  </a:lnTo>
                  <a:lnTo>
                    <a:pt x="42" y="247"/>
                  </a:lnTo>
                  <a:lnTo>
                    <a:pt x="42" y="247"/>
                  </a:lnTo>
                  <a:lnTo>
                    <a:pt x="48" y="241"/>
                  </a:lnTo>
                  <a:lnTo>
                    <a:pt x="48" y="241"/>
                  </a:lnTo>
                  <a:lnTo>
                    <a:pt x="53" y="241"/>
                  </a:lnTo>
                  <a:lnTo>
                    <a:pt x="53" y="241"/>
                  </a:lnTo>
                  <a:lnTo>
                    <a:pt x="53" y="241"/>
                  </a:lnTo>
                  <a:lnTo>
                    <a:pt x="53" y="241"/>
                  </a:lnTo>
                  <a:lnTo>
                    <a:pt x="69" y="236"/>
                  </a:lnTo>
                  <a:lnTo>
                    <a:pt x="84" y="220"/>
                  </a:lnTo>
                  <a:lnTo>
                    <a:pt x="95" y="210"/>
                  </a:lnTo>
                  <a:lnTo>
                    <a:pt x="100" y="189"/>
                  </a:lnTo>
                  <a:lnTo>
                    <a:pt x="116" y="152"/>
                  </a:lnTo>
                  <a:lnTo>
                    <a:pt x="116" y="121"/>
                  </a:lnTo>
                  <a:lnTo>
                    <a:pt x="116" y="121"/>
                  </a:lnTo>
                  <a:lnTo>
                    <a:pt x="121" y="110"/>
                  </a:lnTo>
                  <a:lnTo>
                    <a:pt x="126" y="105"/>
                  </a:lnTo>
                  <a:lnTo>
                    <a:pt x="126" y="105"/>
                  </a:lnTo>
                  <a:lnTo>
                    <a:pt x="137" y="110"/>
                  </a:lnTo>
                  <a:lnTo>
                    <a:pt x="142" y="115"/>
                  </a:lnTo>
                  <a:lnTo>
                    <a:pt x="142" y="115"/>
                  </a:lnTo>
                  <a:lnTo>
                    <a:pt x="142" y="131"/>
                  </a:lnTo>
                  <a:lnTo>
                    <a:pt x="142" y="131"/>
                  </a:lnTo>
                  <a:lnTo>
                    <a:pt x="200" y="163"/>
                  </a:lnTo>
                  <a:lnTo>
                    <a:pt x="252" y="184"/>
                  </a:lnTo>
                  <a:lnTo>
                    <a:pt x="278" y="189"/>
                  </a:lnTo>
                  <a:lnTo>
                    <a:pt x="305" y="189"/>
                  </a:lnTo>
                  <a:lnTo>
                    <a:pt x="326" y="184"/>
                  </a:lnTo>
                  <a:lnTo>
                    <a:pt x="347" y="173"/>
                  </a:lnTo>
                  <a:lnTo>
                    <a:pt x="347" y="173"/>
                  </a:lnTo>
                  <a:lnTo>
                    <a:pt x="357" y="173"/>
                  </a:lnTo>
                  <a:lnTo>
                    <a:pt x="368" y="178"/>
                  </a:lnTo>
                  <a:lnTo>
                    <a:pt x="368" y="178"/>
                  </a:lnTo>
                  <a:lnTo>
                    <a:pt x="368" y="189"/>
                  </a:lnTo>
                  <a:lnTo>
                    <a:pt x="362" y="194"/>
                  </a:lnTo>
                  <a:lnTo>
                    <a:pt x="362" y="194"/>
                  </a:lnTo>
                  <a:lnTo>
                    <a:pt x="331" y="210"/>
                  </a:lnTo>
                  <a:lnTo>
                    <a:pt x="299" y="215"/>
                  </a:lnTo>
                  <a:lnTo>
                    <a:pt x="299" y="215"/>
                  </a:lnTo>
                  <a:lnTo>
                    <a:pt x="299" y="215"/>
                  </a:lnTo>
                  <a:lnTo>
                    <a:pt x="415" y="330"/>
                  </a:lnTo>
                  <a:lnTo>
                    <a:pt x="415" y="330"/>
                  </a:lnTo>
                  <a:lnTo>
                    <a:pt x="457" y="372"/>
                  </a:lnTo>
                  <a:lnTo>
                    <a:pt x="457" y="372"/>
                  </a:lnTo>
                  <a:lnTo>
                    <a:pt x="462" y="378"/>
                  </a:lnTo>
                  <a:lnTo>
                    <a:pt x="462" y="378"/>
                  </a:lnTo>
                  <a:lnTo>
                    <a:pt x="467" y="372"/>
                  </a:lnTo>
                  <a:lnTo>
                    <a:pt x="467" y="372"/>
                  </a:lnTo>
                  <a:lnTo>
                    <a:pt x="488" y="351"/>
                  </a:lnTo>
                  <a:lnTo>
                    <a:pt x="520" y="330"/>
                  </a:lnTo>
                  <a:lnTo>
                    <a:pt x="562" y="304"/>
                  </a:lnTo>
                  <a:lnTo>
                    <a:pt x="583" y="299"/>
                  </a:lnTo>
                  <a:lnTo>
                    <a:pt x="609" y="288"/>
                  </a:lnTo>
                  <a:lnTo>
                    <a:pt x="609" y="288"/>
                  </a:lnTo>
                  <a:lnTo>
                    <a:pt x="577" y="220"/>
                  </a:lnTo>
                  <a:lnTo>
                    <a:pt x="551" y="152"/>
                  </a:lnTo>
                  <a:lnTo>
                    <a:pt x="535" y="89"/>
                  </a:lnTo>
                  <a:lnTo>
                    <a:pt x="520" y="31"/>
                  </a:lnTo>
                  <a:lnTo>
                    <a:pt x="520" y="31"/>
                  </a:lnTo>
                  <a:lnTo>
                    <a:pt x="488" y="42"/>
                  </a:lnTo>
                  <a:lnTo>
                    <a:pt x="441" y="47"/>
                  </a:lnTo>
                  <a:lnTo>
                    <a:pt x="441" y="47"/>
                  </a:lnTo>
                  <a:lnTo>
                    <a:pt x="399" y="42"/>
                  </a:lnTo>
                  <a:lnTo>
                    <a:pt x="399" y="42"/>
                  </a:lnTo>
                  <a:lnTo>
                    <a:pt x="331" y="21"/>
                  </a:lnTo>
                  <a:lnTo>
                    <a:pt x="331" y="21"/>
                  </a:lnTo>
                  <a:lnTo>
                    <a:pt x="278" y="11"/>
                  </a:lnTo>
                  <a:lnTo>
                    <a:pt x="252" y="5"/>
                  </a:lnTo>
                  <a:lnTo>
                    <a:pt x="231" y="0"/>
                  </a:lnTo>
                  <a:lnTo>
                    <a:pt x="231" y="0"/>
                  </a:lnTo>
                  <a:lnTo>
                    <a:pt x="194" y="5"/>
                  </a:lnTo>
                  <a:lnTo>
                    <a:pt x="18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90" name="Freeform 17"/>
            <p:cNvSpPr>
              <a:spLocks/>
            </p:cNvSpPr>
            <p:nvPr/>
          </p:nvSpPr>
          <p:spPr bwMode="auto">
            <a:xfrm>
              <a:off x="2322178" y="1606445"/>
              <a:ext cx="52990" cy="53554"/>
            </a:xfrm>
            <a:custGeom>
              <a:avLst/>
              <a:gdLst>
                <a:gd name="T0" fmla="*/ 47 w 94"/>
                <a:gd name="T1" fmla="*/ 26 h 95"/>
                <a:gd name="T2" fmla="*/ 47 w 94"/>
                <a:gd name="T3" fmla="*/ 26 h 95"/>
                <a:gd name="T4" fmla="*/ 21 w 94"/>
                <a:gd name="T5" fmla="*/ 0 h 95"/>
                <a:gd name="T6" fmla="*/ 21 w 94"/>
                <a:gd name="T7" fmla="*/ 0 h 95"/>
                <a:gd name="T8" fmla="*/ 21 w 94"/>
                <a:gd name="T9" fmla="*/ 16 h 95"/>
                <a:gd name="T10" fmla="*/ 21 w 94"/>
                <a:gd name="T11" fmla="*/ 16 h 95"/>
                <a:gd name="T12" fmla="*/ 15 w 94"/>
                <a:gd name="T13" fmla="*/ 37 h 95"/>
                <a:gd name="T14" fmla="*/ 5 w 94"/>
                <a:gd name="T15" fmla="*/ 58 h 95"/>
                <a:gd name="T16" fmla="*/ 0 w 94"/>
                <a:gd name="T17" fmla="*/ 58 h 95"/>
                <a:gd name="T18" fmla="*/ 0 w 94"/>
                <a:gd name="T19" fmla="*/ 58 h 95"/>
                <a:gd name="T20" fmla="*/ 15 w 94"/>
                <a:gd name="T21" fmla="*/ 74 h 95"/>
                <a:gd name="T22" fmla="*/ 15 w 94"/>
                <a:gd name="T23" fmla="*/ 74 h 95"/>
                <a:gd name="T24" fmla="*/ 52 w 94"/>
                <a:gd name="T25" fmla="*/ 89 h 95"/>
                <a:gd name="T26" fmla="*/ 78 w 94"/>
                <a:gd name="T27" fmla="*/ 95 h 95"/>
                <a:gd name="T28" fmla="*/ 78 w 94"/>
                <a:gd name="T29" fmla="*/ 95 h 95"/>
                <a:gd name="T30" fmla="*/ 94 w 94"/>
                <a:gd name="T31" fmla="*/ 95 h 95"/>
                <a:gd name="T32" fmla="*/ 94 w 94"/>
                <a:gd name="T33" fmla="*/ 95 h 95"/>
                <a:gd name="T34" fmla="*/ 94 w 94"/>
                <a:gd name="T35" fmla="*/ 84 h 95"/>
                <a:gd name="T36" fmla="*/ 94 w 94"/>
                <a:gd name="T37" fmla="*/ 74 h 95"/>
                <a:gd name="T38" fmla="*/ 94 w 94"/>
                <a:gd name="T39" fmla="*/ 74 h 95"/>
                <a:gd name="T40" fmla="*/ 47 w 94"/>
                <a:gd name="T41" fmla="*/ 26 h 95"/>
                <a:gd name="T42" fmla="*/ 47 w 94"/>
                <a:gd name="T43" fmla="*/ 26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4" h="95">
                  <a:moveTo>
                    <a:pt x="47" y="26"/>
                  </a:moveTo>
                  <a:lnTo>
                    <a:pt x="47" y="26"/>
                  </a:lnTo>
                  <a:lnTo>
                    <a:pt x="21" y="0"/>
                  </a:lnTo>
                  <a:lnTo>
                    <a:pt x="21" y="0"/>
                  </a:lnTo>
                  <a:lnTo>
                    <a:pt x="21" y="16"/>
                  </a:lnTo>
                  <a:lnTo>
                    <a:pt x="21" y="16"/>
                  </a:lnTo>
                  <a:lnTo>
                    <a:pt x="15" y="37"/>
                  </a:lnTo>
                  <a:lnTo>
                    <a:pt x="5" y="58"/>
                  </a:lnTo>
                  <a:lnTo>
                    <a:pt x="0" y="58"/>
                  </a:lnTo>
                  <a:lnTo>
                    <a:pt x="0" y="58"/>
                  </a:lnTo>
                  <a:lnTo>
                    <a:pt x="15" y="74"/>
                  </a:lnTo>
                  <a:lnTo>
                    <a:pt x="15" y="74"/>
                  </a:lnTo>
                  <a:lnTo>
                    <a:pt x="52" y="89"/>
                  </a:lnTo>
                  <a:lnTo>
                    <a:pt x="78" y="95"/>
                  </a:lnTo>
                  <a:lnTo>
                    <a:pt x="78" y="95"/>
                  </a:lnTo>
                  <a:lnTo>
                    <a:pt x="94" y="95"/>
                  </a:lnTo>
                  <a:lnTo>
                    <a:pt x="94" y="95"/>
                  </a:lnTo>
                  <a:lnTo>
                    <a:pt x="94" y="84"/>
                  </a:lnTo>
                  <a:lnTo>
                    <a:pt x="94" y="74"/>
                  </a:lnTo>
                  <a:lnTo>
                    <a:pt x="94" y="74"/>
                  </a:lnTo>
                  <a:lnTo>
                    <a:pt x="47" y="26"/>
                  </a:lnTo>
                  <a:lnTo>
                    <a:pt x="4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sp>
          <p:nvSpPr>
            <p:cNvPr id="191" name="Freeform 18"/>
            <p:cNvSpPr>
              <a:spLocks/>
            </p:cNvSpPr>
            <p:nvPr/>
          </p:nvSpPr>
          <p:spPr bwMode="auto">
            <a:xfrm>
              <a:off x="2097252" y="1331348"/>
              <a:ext cx="416592" cy="322450"/>
            </a:xfrm>
            <a:custGeom>
              <a:avLst/>
              <a:gdLst>
                <a:gd name="T0" fmla="*/ 666 w 739"/>
                <a:gd name="T1" fmla="*/ 315 h 572"/>
                <a:gd name="T2" fmla="*/ 530 w 739"/>
                <a:gd name="T3" fmla="*/ 179 h 572"/>
                <a:gd name="T4" fmla="*/ 404 w 739"/>
                <a:gd name="T5" fmla="*/ 126 h 572"/>
                <a:gd name="T6" fmla="*/ 378 w 739"/>
                <a:gd name="T7" fmla="*/ 195 h 572"/>
                <a:gd name="T8" fmla="*/ 336 w 739"/>
                <a:gd name="T9" fmla="*/ 231 h 572"/>
                <a:gd name="T10" fmla="*/ 304 w 739"/>
                <a:gd name="T11" fmla="*/ 237 h 572"/>
                <a:gd name="T12" fmla="*/ 262 w 739"/>
                <a:gd name="T13" fmla="*/ 226 h 572"/>
                <a:gd name="T14" fmla="*/ 241 w 739"/>
                <a:gd name="T15" fmla="*/ 200 h 572"/>
                <a:gd name="T16" fmla="*/ 283 w 739"/>
                <a:gd name="T17" fmla="*/ 63 h 572"/>
                <a:gd name="T18" fmla="*/ 309 w 739"/>
                <a:gd name="T19" fmla="*/ 11 h 572"/>
                <a:gd name="T20" fmla="*/ 262 w 739"/>
                <a:gd name="T21" fmla="*/ 6 h 572"/>
                <a:gd name="T22" fmla="*/ 210 w 739"/>
                <a:gd name="T23" fmla="*/ 11 h 572"/>
                <a:gd name="T24" fmla="*/ 168 w 739"/>
                <a:gd name="T25" fmla="*/ 16 h 572"/>
                <a:gd name="T26" fmla="*/ 89 w 739"/>
                <a:gd name="T27" fmla="*/ 0 h 572"/>
                <a:gd name="T28" fmla="*/ 26 w 739"/>
                <a:gd name="T29" fmla="*/ 195 h 572"/>
                <a:gd name="T30" fmla="*/ 26 w 739"/>
                <a:gd name="T31" fmla="*/ 268 h 572"/>
                <a:gd name="T32" fmla="*/ 100 w 739"/>
                <a:gd name="T33" fmla="*/ 305 h 572"/>
                <a:gd name="T34" fmla="*/ 126 w 739"/>
                <a:gd name="T35" fmla="*/ 273 h 572"/>
                <a:gd name="T36" fmla="*/ 168 w 739"/>
                <a:gd name="T37" fmla="*/ 257 h 572"/>
                <a:gd name="T38" fmla="*/ 210 w 739"/>
                <a:gd name="T39" fmla="*/ 273 h 572"/>
                <a:gd name="T40" fmla="*/ 225 w 739"/>
                <a:gd name="T41" fmla="*/ 310 h 572"/>
                <a:gd name="T42" fmla="*/ 267 w 739"/>
                <a:gd name="T43" fmla="*/ 310 h 572"/>
                <a:gd name="T44" fmla="*/ 299 w 739"/>
                <a:gd name="T45" fmla="*/ 341 h 572"/>
                <a:gd name="T46" fmla="*/ 320 w 739"/>
                <a:gd name="T47" fmla="*/ 362 h 572"/>
                <a:gd name="T48" fmla="*/ 362 w 739"/>
                <a:gd name="T49" fmla="*/ 378 h 572"/>
                <a:gd name="T50" fmla="*/ 378 w 739"/>
                <a:gd name="T51" fmla="*/ 420 h 572"/>
                <a:gd name="T52" fmla="*/ 378 w 739"/>
                <a:gd name="T53" fmla="*/ 420 h 572"/>
                <a:gd name="T54" fmla="*/ 482 w 739"/>
                <a:gd name="T55" fmla="*/ 520 h 572"/>
                <a:gd name="T56" fmla="*/ 514 w 739"/>
                <a:gd name="T57" fmla="*/ 546 h 572"/>
                <a:gd name="T58" fmla="*/ 514 w 739"/>
                <a:gd name="T59" fmla="*/ 546 h 572"/>
                <a:gd name="T60" fmla="*/ 545 w 739"/>
                <a:gd name="T61" fmla="*/ 567 h 572"/>
                <a:gd name="T62" fmla="*/ 577 w 739"/>
                <a:gd name="T63" fmla="*/ 567 h 572"/>
                <a:gd name="T64" fmla="*/ 593 w 739"/>
                <a:gd name="T65" fmla="*/ 546 h 572"/>
                <a:gd name="T66" fmla="*/ 435 w 739"/>
                <a:gd name="T67" fmla="*/ 378 h 572"/>
                <a:gd name="T68" fmla="*/ 435 w 739"/>
                <a:gd name="T69" fmla="*/ 362 h 572"/>
                <a:gd name="T70" fmla="*/ 598 w 739"/>
                <a:gd name="T71" fmla="*/ 504 h 572"/>
                <a:gd name="T72" fmla="*/ 598 w 739"/>
                <a:gd name="T73" fmla="*/ 509 h 572"/>
                <a:gd name="T74" fmla="*/ 598 w 739"/>
                <a:gd name="T75" fmla="*/ 509 h 572"/>
                <a:gd name="T76" fmla="*/ 624 w 739"/>
                <a:gd name="T77" fmla="*/ 520 h 572"/>
                <a:gd name="T78" fmla="*/ 656 w 739"/>
                <a:gd name="T79" fmla="*/ 509 h 572"/>
                <a:gd name="T80" fmla="*/ 666 w 739"/>
                <a:gd name="T81" fmla="*/ 483 h 572"/>
                <a:gd name="T82" fmla="*/ 524 w 739"/>
                <a:gd name="T83" fmla="*/ 326 h 572"/>
                <a:gd name="T84" fmla="*/ 524 w 739"/>
                <a:gd name="T85" fmla="*/ 310 h 572"/>
                <a:gd name="T86" fmla="*/ 545 w 739"/>
                <a:gd name="T87" fmla="*/ 310 h 572"/>
                <a:gd name="T88" fmla="*/ 703 w 739"/>
                <a:gd name="T89" fmla="*/ 452 h 572"/>
                <a:gd name="T90" fmla="*/ 729 w 739"/>
                <a:gd name="T91" fmla="*/ 436 h 572"/>
                <a:gd name="T92" fmla="*/ 739 w 739"/>
                <a:gd name="T93" fmla="*/ 415 h 572"/>
                <a:gd name="T94" fmla="*/ 708 w 739"/>
                <a:gd name="T95" fmla="*/ 357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39" h="572">
                  <a:moveTo>
                    <a:pt x="708" y="357"/>
                  </a:moveTo>
                  <a:lnTo>
                    <a:pt x="708" y="357"/>
                  </a:lnTo>
                  <a:lnTo>
                    <a:pt x="666" y="315"/>
                  </a:lnTo>
                  <a:lnTo>
                    <a:pt x="666" y="315"/>
                  </a:lnTo>
                  <a:lnTo>
                    <a:pt x="530" y="179"/>
                  </a:lnTo>
                  <a:lnTo>
                    <a:pt x="530" y="179"/>
                  </a:lnTo>
                  <a:lnTo>
                    <a:pt x="498" y="174"/>
                  </a:lnTo>
                  <a:lnTo>
                    <a:pt x="467" y="158"/>
                  </a:lnTo>
                  <a:lnTo>
                    <a:pt x="404" y="126"/>
                  </a:lnTo>
                  <a:lnTo>
                    <a:pt x="404" y="126"/>
                  </a:lnTo>
                  <a:lnTo>
                    <a:pt x="393" y="163"/>
                  </a:lnTo>
                  <a:lnTo>
                    <a:pt x="378" y="195"/>
                  </a:lnTo>
                  <a:lnTo>
                    <a:pt x="367" y="210"/>
                  </a:lnTo>
                  <a:lnTo>
                    <a:pt x="357" y="221"/>
                  </a:lnTo>
                  <a:lnTo>
                    <a:pt x="336" y="231"/>
                  </a:lnTo>
                  <a:lnTo>
                    <a:pt x="320" y="237"/>
                  </a:lnTo>
                  <a:lnTo>
                    <a:pt x="320" y="237"/>
                  </a:lnTo>
                  <a:lnTo>
                    <a:pt x="304" y="237"/>
                  </a:lnTo>
                  <a:lnTo>
                    <a:pt x="304" y="237"/>
                  </a:lnTo>
                  <a:lnTo>
                    <a:pt x="278" y="237"/>
                  </a:lnTo>
                  <a:lnTo>
                    <a:pt x="262" y="226"/>
                  </a:lnTo>
                  <a:lnTo>
                    <a:pt x="241" y="210"/>
                  </a:lnTo>
                  <a:lnTo>
                    <a:pt x="241" y="210"/>
                  </a:lnTo>
                  <a:lnTo>
                    <a:pt x="241" y="200"/>
                  </a:lnTo>
                  <a:lnTo>
                    <a:pt x="241" y="200"/>
                  </a:lnTo>
                  <a:lnTo>
                    <a:pt x="262" y="121"/>
                  </a:lnTo>
                  <a:lnTo>
                    <a:pt x="283" y="63"/>
                  </a:lnTo>
                  <a:lnTo>
                    <a:pt x="299" y="21"/>
                  </a:lnTo>
                  <a:lnTo>
                    <a:pt x="299" y="21"/>
                  </a:lnTo>
                  <a:lnTo>
                    <a:pt x="309" y="11"/>
                  </a:lnTo>
                  <a:lnTo>
                    <a:pt x="309" y="11"/>
                  </a:lnTo>
                  <a:lnTo>
                    <a:pt x="288" y="6"/>
                  </a:lnTo>
                  <a:lnTo>
                    <a:pt x="262" y="6"/>
                  </a:lnTo>
                  <a:lnTo>
                    <a:pt x="262" y="6"/>
                  </a:lnTo>
                  <a:lnTo>
                    <a:pt x="210" y="11"/>
                  </a:lnTo>
                  <a:lnTo>
                    <a:pt x="210" y="11"/>
                  </a:lnTo>
                  <a:lnTo>
                    <a:pt x="168" y="16"/>
                  </a:lnTo>
                  <a:lnTo>
                    <a:pt x="168" y="16"/>
                  </a:lnTo>
                  <a:lnTo>
                    <a:pt x="168" y="16"/>
                  </a:lnTo>
                  <a:lnTo>
                    <a:pt x="121" y="11"/>
                  </a:lnTo>
                  <a:lnTo>
                    <a:pt x="89" y="0"/>
                  </a:lnTo>
                  <a:lnTo>
                    <a:pt x="89" y="0"/>
                  </a:lnTo>
                  <a:lnTo>
                    <a:pt x="73" y="63"/>
                  </a:lnTo>
                  <a:lnTo>
                    <a:pt x="52" y="132"/>
                  </a:lnTo>
                  <a:lnTo>
                    <a:pt x="26" y="195"/>
                  </a:lnTo>
                  <a:lnTo>
                    <a:pt x="0" y="257"/>
                  </a:lnTo>
                  <a:lnTo>
                    <a:pt x="0" y="257"/>
                  </a:lnTo>
                  <a:lnTo>
                    <a:pt x="26" y="268"/>
                  </a:lnTo>
                  <a:lnTo>
                    <a:pt x="52" y="278"/>
                  </a:lnTo>
                  <a:lnTo>
                    <a:pt x="100" y="305"/>
                  </a:lnTo>
                  <a:lnTo>
                    <a:pt x="100" y="305"/>
                  </a:lnTo>
                  <a:lnTo>
                    <a:pt x="100" y="305"/>
                  </a:lnTo>
                  <a:lnTo>
                    <a:pt x="126" y="273"/>
                  </a:lnTo>
                  <a:lnTo>
                    <a:pt x="126" y="273"/>
                  </a:lnTo>
                  <a:lnTo>
                    <a:pt x="147" y="263"/>
                  </a:lnTo>
                  <a:lnTo>
                    <a:pt x="168" y="257"/>
                  </a:lnTo>
                  <a:lnTo>
                    <a:pt x="168" y="257"/>
                  </a:lnTo>
                  <a:lnTo>
                    <a:pt x="189" y="263"/>
                  </a:lnTo>
                  <a:lnTo>
                    <a:pt x="210" y="273"/>
                  </a:lnTo>
                  <a:lnTo>
                    <a:pt x="210" y="273"/>
                  </a:lnTo>
                  <a:lnTo>
                    <a:pt x="220" y="294"/>
                  </a:lnTo>
                  <a:lnTo>
                    <a:pt x="225" y="310"/>
                  </a:lnTo>
                  <a:lnTo>
                    <a:pt x="225" y="310"/>
                  </a:lnTo>
                  <a:lnTo>
                    <a:pt x="246" y="305"/>
                  </a:lnTo>
                  <a:lnTo>
                    <a:pt x="246" y="305"/>
                  </a:lnTo>
                  <a:lnTo>
                    <a:pt x="267" y="310"/>
                  </a:lnTo>
                  <a:lnTo>
                    <a:pt x="288" y="326"/>
                  </a:lnTo>
                  <a:lnTo>
                    <a:pt x="288" y="326"/>
                  </a:lnTo>
                  <a:lnTo>
                    <a:pt x="299" y="341"/>
                  </a:lnTo>
                  <a:lnTo>
                    <a:pt x="304" y="362"/>
                  </a:lnTo>
                  <a:lnTo>
                    <a:pt x="304" y="362"/>
                  </a:lnTo>
                  <a:lnTo>
                    <a:pt x="320" y="362"/>
                  </a:lnTo>
                  <a:lnTo>
                    <a:pt x="320" y="362"/>
                  </a:lnTo>
                  <a:lnTo>
                    <a:pt x="341" y="368"/>
                  </a:lnTo>
                  <a:lnTo>
                    <a:pt x="362" y="378"/>
                  </a:lnTo>
                  <a:lnTo>
                    <a:pt x="362" y="378"/>
                  </a:lnTo>
                  <a:lnTo>
                    <a:pt x="372" y="399"/>
                  </a:lnTo>
                  <a:lnTo>
                    <a:pt x="378" y="420"/>
                  </a:lnTo>
                  <a:lnTo>
                    <a:pt x="378" y="420"/>
                  </a:lnTo>
                  <a:lnTo>
                    <a:pt x="378" y="420"/>
                  </a:lnTo>
                  <a:lnTo>
                    <a:pt x="378" y="420"/>
                  </a:lnTo>
                  <a:lnTo>
                    <a:pt x="383" y="425"/>
                  </a:lnTo>
                  <a:lnTo>
                    <a:pt x="383" y="425"/>
                  </a:lnTo>
                  <a:lnTo>
                    <a:pt x="482" y="520"/>
                  </a:lnTo>
                  <a:lnTo>
                    <a:pt x="514" y="546"/>
                  </a:lnTo>
                  <a:lnTo>
                    <a:pt x="514" y="546"/>
                  </a:lnTo>
                  <a:lnTo>
                    <a:pt x="514" y="546"/>
                  </a:lnTo>
                  <a:lnTo>
                    <a:pt x="514" y="546"/>
                  </a:lnTo>
                  <a:lnTo>
                    <a:pt x="514" y="546"/>
                  </a:lnTo>
                  <a:lnTo>
                    <a:pt x="514" y="546"/>
                  </a:lnTo>
                  <a:lnTo>
                    <a:pt x="530" y="562"/>
                  </a:lnTo>
                  <a:lnTo>
                    <a:pt x="530" y="562"/>
                  </a:lnTo>
                  <a:lnTo>
                    <a:pt x="545" y="567"/>
                  </a:lnTo>
                  <a:lnTo>
                    <a:pt x="561" y="572"/>
                  </a:lnTo>
                  <a:lnTo>
                    <a:pt x="561" y="572"/>
                  </a:lnTo>
                  <a:lnTo>
                    <a:pt x="577" y="567"/>
                  </a:lnTo>
                  <a:lnTo>
                    <a:pt x="587" y="556"/>
                  </a:lnTo>
                  <a:lnTo>
                    <a:pt x="587" y="556"/>
                  </a:lnTo>
                  <a:lnTo>
                    <a:pt x="593" y="546"/>
                  </a:lnTo>
                  <a:lnTo>
                    <a:pt x="587" y="530"/>
                  </a:lnTo>
                  <a:lnTo>
                    <a:pt x="435" y="378"/>
                  </a:lnTo>
                  <a:lnTo>
                    <a:pt x="435" y="378"/>
                  </a:lnTo>
                  <a:lnTo>
                    <a:pt x="430" y="373"/>
                  </a:lnTo>
                  <a:lnTo>
                    <a:pt x="435" y="362"/>
                  </a:lnTo>
                  <a:lnTo>
                    <a:pt x="435" y="362"/>
                  </a:lnTo>
                  <a:lnTo>
                    <a:pt x="446" y="357"/>
                  </a:lnTo>
                  <a:lnTo>
                    <a:pt x="451" y="362"/>
                  </a:lnTo>
                  <a:lnTo>
                    <a:pt x="598" y="504"/>
                  </a:lnTo>
                  <a:lnTo>
                    <a:pt x="598" y="504"/>
                  </a:lnTo>
                  <a:lnTo>
                    <a:pt x="598" y="509"/>
                  </a:lnTo>
                  <a:lnTo>
                    <a:pt x="598" y="509"/>
                  </a:lnTo>
                  <a:lnTo>
                    <a:pt x="598" y="509"/>
                  </a:lnTo>
                  <a:lnTo>
                    <a:pt x="598" y="509"/>
                  </a:lnTo>
                  <a:lnTo>
                    <a:pt x="598" y="509"/>
                  </a:lnTo>
                  <a:lnTo>
                    <a:pt x="608" y="514"/>
                  </a:lnTo>
                  <a:lnTo>
                    <a:pt x="608" y="514"/>
                  </a:lnTo>
                  <a:lnTo>
                    <a:pt x="624" y="520"/>
                  </a:lnTo>
                  <a:lnTo>
                    <a:pt x="624" y="520"/>
                  </a:lnTo>
                  <a:lnTo>
                    <a:pt x="645" y="514"/>
                  </a:lnTo>
                  <a:lnTo>
                    <a:pt x="656" y="509"/>
                  </a:lnTo>
                  <a:lnTo>
                    <a:pt x="661" y="499"/>
                  </a:lnTo>
                  <a:lnTo>
                    <a:pt x="661" y="499"/>
                  </a:lnTo>
                  <a:lnTo>
                    <a:pt x="666" y="483"/>
                  </a:lnTo>
                  <a:lnTo>
                    <a:pt x="661" y="462"/>
                  </a:lnTo>
                  <a:lnTo>
                    <a:pt x="524" y="326"/>
                  </a:lnTo>
                  <a:lnTo>
                    <a:pt x="524" y="326"/>
                  </a:lnTo>
                  <a:lnTo>
                    <a:pt x="524" y="320"/>
                  </a:lnTo>
                  <a:lnTo>
                    <a:pt x="524" y="320"/>
                  </a:lnTo>
                  <a:lnTo>
                    <a:pt x="524" y="310"/>
                  </a:lnTo>
                  <a:lnTo>
                    <a:pt x="524" y="310"/>
                  </a:lnTo>
                  <a:lnTo>
                    <a:pt x="535" y="305"/>
                  </a:lnTo>
                  <a:lnTo>
                    <a:pt x="545" y="310"/>
                  </a:lnTo>
                  <a:lnTo>
                    <a:pt x="677" y="446"/>
                  </a:lnTo>
                  <a:lnTo>
                    <a:pt x="677" y="446"/>
                  </a:lnTo>
                  <a:lnTo>
                    <a:pt x="703" y="452"/>
                  </a:lnTo>
                  <a:lnTo>
                    <a:pt x="703" y="452"/>
                  </a:lnTo>
                  <a:lnTo>
                    <a:pt x="724" y="446"/>
                  </a:lnTo>
                  <a:lnTo>
                    <a:pt x="729" y="436"/>
                  </a:lnTo>
                  <a:lnTo>
                    <a:pt x="734" y="431"/>
                  </a:lnTo>
                  <a:lnTo>
                    <a:pt x="734" y="431"/>
                  </a:lnTo>
                  <a:lnTo>
                    <a:pt x="739" y="415"/>
                  </a:lnTo>
                  <a:lnTo>
                    <a:pt x="734" y="394"/>
                  </a:lnTo>
                  <a:lnTo>
                    <a:pt x="724" y="378"/>
                  </a:lnTo>
                  <a:lnTo>
                    <a:pt x="708" y="357"/>
                  </a:lnTo>
                  <a:lnTo>
                    <a:pt x="708" y="3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p>
          </p:txBody>
        </p:sp>
      </p:grpSp>
      <p:sp>
        <p:nvSpPr>
          <p:cNvPr id="192" name="Rectangle 191"/>
          <p:cNvSpPr/>
          <p:nvPr/>
        </p:nvSpPr>
        <p:spPr bwMode="gray">
          <a:xfrm>
            <a:off x="480274" y="4528398"/>
            <a:ext cx="3634233" cy="1933440"/>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200" b="1" dirty="0">
              <a:solidFill>
                <a:schemeClr val="bg1"/>
              </a:solidFill>
            </a:endParaRPr>
          </a:p>
        </p:txBody>
      </p:sp>
      <p:sp>
        <p:nvSpPr>
          <p:cNvPr id="193" name="Rectangle 192"/>
          <p:cNvSpPr/>
          <p:nvPr/>
        </p:nvSpPr>
        <p:spPr bwMode="gray">
          <a:xfrm>
            <a:off x="4340577" y="4528398"/>
            <a:ext cx="7319769" cy="1933440"/>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200" b="1" dirty="0">
              <a:solidFill>
                <a:schemeClr val="bg1"/>
              </a:solidFill>
            </a:endParaRPr>
          </a:p>
        </p:txBody>
      </p:sp>
      <p:sp>
        <p:nvSpPr>
          <p:cNvPr id="194" name="Rectangle 193"/>
          <p:cNvSpPr/>
          <p:nvPr/>
        </p:nvSpPr>
        <p:spPr>
          <a:xfrm>
            <a:off x="393074" y="3065406"/>
            <a:ext cx="11350896" cy="3412719"/>
          </a:xfrm>
          <a:prstGeom prst="rect">
            <a:avLst/>
          </a:prstGeom>
          <a:noFill/>
          <a:ln w="12700">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76200" marR="0" lvl="1" indent="0" algn="l" defTabSz="914400" rtl="0" eaLnBrk="1" fontAlgn="b" latinLnBrk="0" hangingPunct="1">
              <a:lnSpc>
                <a:spcPct val="100000"/>
              </a:lnSpc>
              <a:spcBef>
                <a:spcPts val="0"/>
              </a:spcBef>
              <a:spcAft>
                <a:spcPts val="0"/>
              </a:spcAft>
              <a:buClrTx/>
              <a:buSzPct val="65000"/>
              <a:buFontTx/>
              <a:buNone/>
              <a:tabLst/>
              <a:defRPr/>
            </a:pPr>
            <a:endParaRPr kumimoji="0" lang="en-US" sz="900" b="1" i="1" u="sng" strike="noStrike" kern="1200" cap="none" spc="0" normalizeH="0" baseline="0" noProof="0" dirty="0">
              <a:ln>
                <a:noFill/>
              </a:ln>
              <a:solidFill>
                <a:srgbClr val="000000"/>
              </a:solidFill>
              <a:effectLst/>
              <a:uLnTx/>
              <a:uFillTx/>
              <a:latin typeface="Verdana"/>
              <a:ea typeface="+mn-ea"/>
              <a:cs typeface="Arial" panose="020B0604020202020204" pitchFamily="34" charset="0"/>
            </a:endParaRPr>
          </a:p>
          <a:p>
            <a:pPr marL="76200" marR="0" lvl="1" indent="0" algn="l" defTabSz="914400" rtl="0" eaLnBrk="1" fontAlgn="b" latinLnBrk="0" hangingPunct="1">
              <a:lnSpc>
                <a:spcPct val="100000"/>
              </a:lnSpc>
              <a:spcBef>
                <a:spcPts val="0"/>
              </a:spcBef>
              <a:spcAft>
                <a:spcPts val="0"/>
              </a:spcAft>
              <a:buClrTx/>
              <a:buSzPct val="65000"/>
              <a:buFontTx/>
              <a:buNone/>
              <a:tabLst/>
              <a:defRPr/>
            </a:pPr>
            <a:endParaRPr kumimoji="0" lang="en-US" sz="900" b="1" i="1" u="sng" strike="noStrike" kern="1200" cap="none" spc="0" normalizeH="0" baseline="0" noProof="0" dirty="0">
              <a:ln>
                <a:noFill/>
              </a:ln>
              <a:solidFill>
                <a:srgbClr val="000000"/>
              </a:solidFill>
              <a:effectLst/>
              <a:uLnTx/>
              <a:uFillTx/>
              <a:latin typeface="Verdana"/>
              <a:ea typeface="+mn-ea"/>
              <a:cs typeface="Arial" panose="020B0604020202020204" pitchFamily="34" charset="0"/>
            </a:endParaRPr>
          </a:p>
          <a:p>
            <a:pPr marL="76200" marR="0" lvl="1" indent="0" algn="l" defTabSz="914400" rtl="0" eaLnBrk="1" fontAlgn="b" latinLnBrk="0" hangingPunct="1">
              <a:lnSpc>
                <a:spcPct val="100000"/>
              </a:lnSpc>
              <a:spcBef>
                <a:spcPts val="0"/>
              </a:spcBef>
              <a:spcAft>
                <a:spcPts val="0"/>
              </a:spcAft>
              <a:buClrTx/>
              <a:buSzPct val="65000"/>
              <a:buFontTx/>
              <a:buNone/>
              <a:tabLst/>
              <a:defRPr/>
            </a:pPr>
            <a:endParaRPr kumimoji="0" lang="en-US" sz="900" b="1" i="1" u="sng" strike="noStrike" kern="1200" cap="none" spc="0" normalizeH="0" baseline="0" noProof="0" dirty="0">
              <a:ln>
                <a:noFill/>
              </a:ln>
              <a:solidFill>
                <a:srgbClr val="000000"/>
              </a:solidFill>
              <a:effectLst/>
              <a:uLnTx/>
              <a:uFillTx/>
              <a:latin typeface="Verdana"/>
              <a:ea typeface="+mn-ea"/>
              <a:cs typeface="Arial" panose="020B0604020202020204" pitchFamily="34" charset="0"/>
            </a:endParaRPr>
          </a:p>
          <a:p>
            <a:pPr marL="76200" marR="0" lvl="1" indent="0" algn="l" defTabSz="914400" rtl="0" eaLnBrk="1" fontAlgn="b" latinLnBrk="0" hangingPunct="1">
              <a:lnSpc>
                <a:spcPct val="100000"/>
              </a:lnSpc>
              <a:spcBef>
                <a:spcPts val="0"/>
              </a:spcBef>
              <a:spcAft>
                <a:spcPts val="0"/>
              </a:spcAft>
              <a:buClrTx/>
              <a:buSzPct val="65000"/>
              <a:buFontTx/>
              <a:buNone/>
              <a:tabLst/>
              <a:defRPr/>
            </a:pPr>
            <a:endParaRPr kumimoji="0" lang="en-US" sz="900" b="1" i="1" u="sng" strike="noStrike" kern="1200" cap="none" spc="0" normalizeH="0" baseline="0" noProof="0" dirty="0">
              <a:ln>
                <a:noFill/>
              </a:ln>
              <a:solidFill>
                <a:srgbClr val="000000"/>
              </a:solidFill>
              <a:effectLst/>
              <a:uLnTx/>
              <a:uFillTx/>
              <a:latin typeface="Verdana"/>
              <a:ea typeface="+mn-ea"/>
              <a:cs typeface="Arial" panose="020B0604020202020204" pitchFamily="34" charset="0"/>
            </a:endParaRPr>
          </a:p>
          <a:p>
            <a:pPr marL="76200" marR="0" lvl="1" indent="0" algn="l" defTabSz="914400" rtl="0" eaLnBrk="1" fontAlgn="b" latinLnBrk="0" hangingPunct="1">
              <a:lnSpc>
                <a:spcPct val="100000"/>
              </a:lnSpc>
              <a:spcBef>
                <a:spcPts val="0"/>
              </a:spcBef>
              <a:spcAft>
                <a:spcPts val="0"/>
              </a:spcAft>
              <a:buClrTx/>
              <a:buSzPct val="65000"/>
              <a:buFontTx/>
              <a:buNone/>
              <a:tabLst/>
              <a:defRPr/>
            </a:pPr>
            <a:endParaRPr kumimoji="0" lang="en-US" sz="900" b="1" i="1" u="sng" strike="noStrike" kern="1200" cap="none" spc="0" normalizeH="0" baseline="0" noProof="0" dirty="0">
              <a:ln>
                <a:noFill/>
              </a:ln>
              <a:solidFill>
                <a:srgbClr val="000000"/>
              </a:solidFill>
              <a:effectLst/>
              <a:uLnTx/>
              <a:uFillTx/>
              <a:latin typeface="Verdana"/>
              <a:ea typeface="+mn-ea"/>
              <a:cs typeface="Arial" panose="020B0604020202020204" pitchFamily="34" charset="0"/>
            </a:endParaRPr>
          </a:p>
          <a:p>
            <a:pPr marL="76200" marR="0" lvl="1" indent="0" algn="l" defTabSz="914400" rtl="0" eaLnBrk="1" fontAlgn="b" latinLnBrk="0" hangingPunct="1">
              <a:lnSpc>
                <a:spcPct val="100000"/>
              </a:lnSpc>
              <a:spcBef>
                <a:spcPts val="0"/>
              </a:spcBef>
              <a:spcAft>
                <a:spcPts val="0"/>
              </a:spcAft>
              <a:buClrTx/>
              <a:buSzPct val="65000"/>
              <a:buFontTx/>
              <a:buNone/>
              <a:tabLst/>
              <a:defRPr/>
            </a:pPr>
            <a:endParaRPr kumimoji="0" lang="en-US" sz="900" b="1" i="1" u="sng" strike="noStrike" kern="1200" cap="none" spc="0" normalizeH="0" baseline="0" noProof="0" dirty="0">
              <a:ln>
                <a:noFill/>
              </a:ln>
              <a:solidFill>
                <a:srgbClr val="000000"/>
              </a:solidFill>
              <a:effectLst/>
              <a:uLnTx/>
              <a:uFillTx/>
              <a:latin typeface="Verdana"/>
              <a:ea typeface="+mn-ea"/>
              <a:cs typeface="Arial" panose="020B0604020202020204" pitchFamily="34" charset="0"/>
            </a:endParaRPr>
          </a:p>
          <a:p>
            <a:pPr marL="76200" marR="0" lvl="1" indent="0" algn="l" defTabSz="914400" rtl="0" eaLnBrk="1" fontAlgn="b" latinLnBrk="0" hangingPunct="1">
              <a:lnSpc>
                <a:spcPct val="100000"/>
              </a:lnSpc>
              <a:spcBef>
                <a:spcPts val="0"/>
              </a:spcBef>
              <a:spcAft>
                <a:spcPts val="0"/>
              </a:spcAft>
              <a:buClrTx/>
              <a:buSzPct val="65000"/>
              <a:buFontTx/>
              <a:buNone/>
              <a:tabLst/>
              <a:defRPr/>
            </a:pPr>
            <a:endParaRPr kumimoji="0" lang="en-US" sz="900" b="1" i="1" u="sng" strike="noStrike" kern="1200" cap="none" spc="0" normalizeH="0" baseline="0" noProof="0" dirty="0">
              <a:ln>
                <a:noFill/>
              </a:ln>
              <a:solidFill>
                <a:srgbClr val="000000"/>
              </a:solidFill>
              <a:effectLst/>
              <a:uLnTx/>
              <a:uFillTx/>
              <a:latin typeface="Verdana"/>
              <a:ea typeface="+mn-ea"/>
              <a:cs typeface="Arial" panose="020B0604020202020204" pitchFamily="34" charset="0"/>
            </a:endParaRPr>
          </a:p>
          <a:p>
            <a:pPr marL="76200" marR="0" lvl="1" indent="0" algn="l" defTabSz="914400" rtl="0" eaLnBrk="1" fontAlgn="b" latinLnBrk="0" hangingPunct="1">
              <a:lnSpc>
                <a:spcPct val="100000"/>
              </a:lnSpc>
              <a:spcBef>
                <a:spcPts val="0"/>
              </a:spcBef>
              <a:spcAft>
                <a:spcPts val="0"/>
              </a:spcAft>
              <a:buClrTx/>
              <a:buSzPct val="65000"/>
              <a:buFontTx/>
              <a:buNone/>
              <a:tabLst/>
              <a:defRPr/>
            </a:pPr>
            <a:endParaRPr kumimoji="0" lang="en-US" sz="900" b="1" i="0" u="none" strike="noStrike" kern="1200" cap="none" spc="0" normalizeH="0" baseline="0" noProof="0" dirty="0">
              <a:ln>
                <a:noFill/>
              </a:ln>
              <a:solidFill>
                <a:srgbClr val="000000"/>
              </a:solidFill>
              <a:effectLst/>
              <a:uLnTx/>
              <a:uFillTx/>
              <a:latin typeface="Verdana"/>
              <a:ea typeface="+mn-ea"/>
              <a:cs typeface="Arial" panose="020B0604020202020204" pitchFamily="34" charset="0"/>
            </a:endParaRPr>
          </a:p>
          <a:p>
            <a:pPr marL="76200" marR="0" lvl="1" indent="0" algn="l" defTabSz="914400" rtl="0" eaLnBrk="1" fontAlgn="b" latinLnBrk="0" hangingPunct="1">
              <a:lnSpc>
                <a:spcPct val="100000"/>
              </a:lnSpc>
              <a:spcBef>
                <a:spcPts val="0"/>
              </a:spcBef>
              <a:spcAft>
                <a:spcPts val="0"/>
              </a:spcAft>
              <a:buClrTx/>
              <a:buSzPct val="65000"/>
              <a:buFontTx/>
              <a:buNone/>
              <a:tabLst/>
              <a:defRPr/>
            </a:pPr>
            <a:endParaRPr kumimoji="0" lang="en-US" sz="900" b="1" i="0" u="none" strike="noStrike" kern="1200" cap="none" spc="0" normalizeH="0" baseline="0" noProof="0" dirty="0">
              <a:ln>
                <a:noFill/>
              </a:ln>
              <a:solidFill>
                <a:srgbClr val="000000"/>
              </a:solidFill>
              <a:effectLst/>
              <a:uLnTx/>
              <a:uFillTx/>
              <a:latin typeface="Verdana"/>
              <a:ea typeface="+mn-ea"/>
              <a:cs typeface="Arial" panose="020B0604020202020204" pitchFamily="34" charset="0"/>
            </a:endParaRPr>
          </a:p>
          <a:p>
            <a:pPr marL="76200" marR="0" lvl="1" indent="0" algn="l" defTabSz="914400" rtl="0" eaLnBrk="1" fontAlgn="b" latinLnBrk="0" hangingPunct="1">
              <a:lnSpc>
                <a:spcPct val="100000"/>
              </a:lnSpc>
              <a:spcBef>
                <a:spcPts val="0"/>
              </a:spcBef>
              <a:spcAft>
                <a:spcPts val="0"/>
              </a:spcAft>
              <a:buClrTx/>
              <a:buSzPct val="65000"/>
              <a:buFontTx/>
              <a:buNone/>
              <a:tabLst/>
              <a:defRPr/>
            </a:pPr>
            <a:endParaRPr kumimoji="0" lang="en-US" sz="900" b="1" i="0" u="none" strike="noStrike" kern="1200" cap="none" spc="0" normalizeH="0" baseline="0" noProof="0" dirty="0">
              <a:ln>
                <a:noFill/>
              </a:ln>
              <a:solidFill>
                <a:srgbClr val="000000"/>
              </a:solidFill>
              <a:effectLst/>
              <a:uLnTx/>
              <a:uFillTx/>
              <a:latin typeface="Verdana"/>
              <a:ea typeface="+mn-ea"/>
              <a:cs typeface="Arial" panose="020B0604020202020204" pitchFamily="34" charset="0"/>
            </a:endParaRPr>
          </a:p>
          <a:p>
            <a:pPr marL="76200" marR="0" lvl="1" indent="0" algn="l" defTabSz="914400" rtl="0" eaLnBrk="1" fontAlgn="b" latinLnBrk="0" hangingPunct="1">
              <a:lnSpc>
                <a:spcPct val="100000"/>
              </a:lnSpc>
              <a:spcBef>
                <a:spcPts val="0"/>
              </a:spcBef>
              <a:spcAft>
                <a:spcPts val="0"/>
              </a:spcAft>
              <a:buClrTx/>
              <a:buSzPct val="65000"/>
              <a:buFontTx/>
              <a:buNone/>
              <a:tabLst/>
              <a:defRPr/>
            </a:pPr>
            <a:endParaRPr kumimoji="0" lang="en-US" sz="400" b="1" i="0" u="none" strike="noStrike" kern="1200" cap="none" spc="0" normalizeH="0" baseline="0" noProof="0" dirty="0">
              <a:ln>
                <a:noFill/>
              </a:ln>
              <a:solidFill>
                <a:srgbClr val="000000"/>
              </a:solidFill>
              <a:effectLst/>
              <a:uLnTx/>
              <a:uFillTx/>
              <a:latin typeface="Verdana"/>
              <a:ea typeface="+mn-ea"/>
              <a:cs typeface="Arial" panose="020B0604020202020204" pitchFamily="34" charset="0"/>
            </a:endParaRPr>
          </a:p>
        </p:txBody>
      </p:sp>
      <p:sp>
        <p:nvSpPr>
          <p:cNvPr id="195" name="Rectangle 194"/>
          <p:cNvSpPr/>
          <p:nvPr/>
        </p:nvSpPr>
        <p:spPr>
          <a:xfrm>
            <a:off x="393074" y="2763750"/>
            <a:ext cx="11350895" cy="251237"/>
          </a:xfrm>
          <a:prstGeom prst="rect">
            <a:avLst/>
          </a:prstGeom>
          <a:solidFill>
            <a:srgbClr val="012169"/>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u="none" strike="noStrike" kern="1200" cap="none" spc="0" normalizeH="0" baseline="0" noProof="0" dirty="0">
                <a:ln>
                  <a:noFill/>
                </a:ln>
                <a:solidFill>
                  <a:srgbClr val="FFFFFF"/>
                </a:solidFill>
                <a:effectLst/>
                <a:uLnTx/>
                <a:uFillTx/>
                <a:latin typeface="Verdana"/>
                <a:ea typeface="+mn-ea"/>
                <a:cs typeface="+mn-cs"/>
              </a:rPr>
              <a:t>Scope and Approach</a:t>
            </a:r>
            <a:endParaRPr kumimoji="0" lang="en-IN" sz="1100" b="1" u="none" strike="noStrike" kern="1200" cap="none" spc="0" normalizeH="0" baseline="0" noProof="0" dirty="0">
              <a:ln>
                <a:noFill/>
              </a:ln>
              <a:solidFill>
                <a:srgbClr val="FFFFFF"/>
              </a:solidFill>
              <a:effectLst/>
              <a:uLnTx/>
              <a:uFillTx/>
              <a:latin typeface="Verdana"/>
              <a:ea typeface="+mn-ea"/>
              <a:cs typeface="+mn-cs"/>
            </a:endParaRPr>
          </a:p>
        </p:txBody>
      </p:sp>
      <p:sp>
        <p:nvSpPr>
          <p:cNvPr id="196" name="Rectangle 195"/>
          <p:cNvSpPr/>
          <p:nvPr/>
        </p:nvSpPr>
        <p:spPr bwMode="gray">
          <a:xfrm>
            <a:off x="613405" y="3680473"/>
            <a:ext cx="3055668" cy="847924"/>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IN" sz="1100" b="1" noProof="0" dirty="0">
                <a:solidFill>
                  <a:srgbClr val="046A38"/>
                </a:solidFill>
                <a:latin typeface="Verdana"/>
              </a:rPr>
              <a:t>Phase</a:t>
            </a:r>
            <a:r>
              <a:rPr kumimoji="0" lang="en-IN" sz="1100" b="1" i="0" u="none" strike="noStrike" kern="1200" cap="none" spc="0" normalizeH="0" baseline="0" noProof="0" dirty="0">
                <a:ln>
                  <a:noFill/>
                </a:ln>
                <a:solidFill>
                  <a:srgbClr val="046A38"/>
                </a:solidFill>
                <a:effectLst/>
                <a:uLnTx/>
                <a:uFillTx/>
                <a:latin typeface="Verdana"/>
              </a:rPr>
              <a:t> 1</a:t>
            </a:r>
          </a:p>
          <a:p>
            <a:pPr lvl="0" algn="ctr">
              <a:lnSpc>
                <a:spcPct val="106000"/>
              </a:lnSpc>
              <a:defRPr/>
            </a:pPr>
            <a:r>
              <a:rPr lang="en-US" sz="1050" b="1" dirty="0">
                <a:solidFill>
                  <a:prstClr val="black">
                    <a:lumMod val="75000"/>
                    <a:lumOff val="25000"/>
                  </a:prstClr>
                </a:solidFill>
              </a:rPr>
              <a:t>Design &amp; formulate the project governance framework</a:t>
            </a:r>
          </a:p>
          <a:p>
            <a:pPr algn="ctr">
              <a:lnSpc>
                <a:spcPct val="106000"/>
              </a:lnSpc>
              <a:defRPr/>
            </a:pPr>
            <a:endParaRPr lang="en-US" sz="1050" i="1" dirty="0">
              <a:solidFill>
                <a:prstClr val="black">
                  <a:lumMod val="75000"/>
                  <a:lumOff val="25000"/>
                </a:prstClr>
              </a:solidFill>
              <a:latin typeface="Verdana"/>
            </a:endParaRPr>
          </a:p>
          <a:p>
            <a:pPr algn="ctr">
              <a:lnSpc>
                <a:spcPct val="106000"/>
              </a:lnSpc>
              <a:defRPr/>
            </a:pPr>
            <a:r>
              <a:rPr lang="en-US" sz="1000" b="1" i="1" dirty="0">
                <a:solidFill>
                  <a:prstClr val="black">
                    <a:lumMod val="75000"/>
                    <a:lumOff val="25000"/>
                  </a:prstClr>
                </a:solidFill>
                <a:latin typeface="Verdana"/>
              </a:rPr>
              <a:t>6 months</a:t>
            </a:r>
            <a:endParaRPr lang="en-IN" sz="1000" b="1" i="1" dirty="0">
              <a:solidFill>
                <a:prstClr val="black">
                  <a:lumMod val="75000"/>
                  <a:lumOff val="25000"/>
                </a:prstClr>
              </a:solidFill>
              <a:latin typeface="Verdana"/>
            </a:endParaRPr>
          </a:p>
        </p:txBody>
      </p:sp>
      <p:sp>
        <p:nvSpPr>
          <p:cNvPr id="197" name="Rectangle 196"/>
          <p:cNvSpPr/>
          <p:nvPr/>
        </p:nvSpPr>
        <p:spPr bwMode="gray">
          <a:xfrm>
            <a:off x="4539665" y="3680473"/>
            <a:ext cx="6999670" cy="847924"/>
          </a:xfrm>
          <a:prstGeom prst="rect">
            <a:avLst/>
          </a:prstGeom>
          <a:solidFill>
            <a:schemeClr val="bg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IN" sz="1100" b="1" i="0" u="none" strike="noStrike" kern="1200" cap="none" spc="0" normalizeH="0" baseline="0" noProof="0" dirty="0">
                <a:ln>
                  <a:noFill/>
                </a:ln>
                <a:solidFill>
                  <a:srgbClr val="046A38"/>
                </a:solidFill>
                <a:effectLst/>
                <a:uLnTx/>
                <a:uFillTx/>
                <a:latin typeface="Verdana"/>
                <a:ea typeface="+mn-ea"/>
                <a:cs typeface="+mn-cs"/>
              </a:rPr>
              <a:t>Phase 2</a:t>
            </a:r>
          </a:p>
          <a:p>
            <a:pPr lvl="0" algn="ctr">
              <a:lnSpc>
                <a:spcPct val="106000"/>
              </a:lnSpc>
              <a:defRPr/>
            </a:pPr>
            <a:r>
              <a:rPr lang="en-US" sz="1050" b="1" dirty="0">
                <a:solidFill>
                  <a:prstClr val="black">
                    <a:lumMod val="75000"/>
                    <a:lumOff val="25000"/>
                  </a:prstClr>
                </a:solidFill>
              </a:rPr>
              <a:t>Project Monitoring &amp; Control  </a:t>
            </a:r>
          </a:p>
          <a:p>
            <a:pPr lvl="0" algn="ctr">
              <a:lnSpc>
                <a:spcPct val="106000"/>
              </a:lnSpc>
              <a:defRPr/>
            </a:pPr>
            <a:r>
              <a:rPr lang="en-US" sz="1050" b="1" dirty="0">
                <a:solidFill>
                  <a:prstClr val="black">
                    <a:lumMod val="75000"/>
                    <a:lumOff val="25000"/>
                  </a:prstClr>
                </a:solidFill>
              </a:rPr>
              <a:t>(ongoing)</a:t>
            </a:r>
          </a:p>
          <a:p>
            <a:pPr lvl="0" algn="ctr">
              <a:lnSpc>
                <a:spcPct val="106000"/>
              </a:lnSpc>
              <a:defRPr/>
            </a:pPr>
            <a:endParaRPr lang="en-US" sz="1050" dirty="0">
              <a:solidFill>
                <a:prstClr val="black">
                  <a:lumMod val="75000"/>
                  <a:lumOff val="25000"/>
                </a:prstClr>
              </a:solidFill>
            </a:endParaRPr>
          </a:p>
          <a:p>
            <a:pPr lvl="0" algn="ctr">
              <a:lnSpc>
                <a:spcPct val="106000"/>
              </a:lnSpc>
              <a:defRPr/>
            </a:pPr>
            <a:r>
              <a:rPr lang="en-US" sz="1000" b="1" i="1" dirty="0">
                <a:solidFill>
                  <a:prstClr val="black">
                    <a:lumMod val="75000"/>
                    <a:lumOff val="25000"/>
                  </a:prstClr>
                </a:solidFill>
                <a:latin typeface="Verdana"/>
              </a:rPr>
              <a:t>30 months</a:t>
            </a:r>
            <a:endParaRPr kumimoji="0" lang="en-IN" sz="1000" b="1" i="1" u="none" strike="noStrike" kern="1200" cap="none" spc="0" normalizeH="0" baseline="0" noProof="0" dirty="0">
              <a:ln>
                <a:noFill/>
              </a:ln>
              <a:solidFill>
                <a:prstClr val="black">
                  <a:lumMod val="75000"/>
                  <a:lumOff val="25000"/>
                </a:prstClr>
              </a:solidFill>
              <a:effectLst/>
              <a:uLnTx/>
              <a:uFillTx/>
              <a:latin typeface="Verdana"/>
            </a:endParaRPr>
          </a:p>
        </p:txBody>
      </p:sp>
      <p:sp>
        <p:nvSpPr>
          <p:cNvPr id="198" name="Rectangle 197"/>
          <p:cNvSpPr/>
          <p:nvPr/>
        </p:nvSpPr>
        <p:spPr bwMode="gray">
          <a:xfrm>
            <a:off x="565305" y="4452851"/>
            <a:ext cx="3628163" cy="1029629"/>
          </a:xfrm>
          <a:prstGeom prst="rect">
            <a:avLst/>
          </a:prstGeom>
          <a:noFill/>
          <a:ln w="6350" algn="ctr">
            <a:noFill/>
            <a:miter lim="800000"/>
            <a:headEnd/>
            <a:tailEnd/>
          </a:ln>
        </p:spPr>
        <p:txBody>
          <a:bodyPr wrap="square" lIns="36000" tIns="36000" rIns="36000" bIns="36000" rtlCol="0" anchor="t">
            <a:noAutofit/>
          </a:bodyPr>
          <a:lstStyle/>
          <a:p>
            <a:pPr marL="171450" indent="-171450">
              <a:lnSpc>
                <a:spcPct val="150000"/>
              </a:lnSpc>
              <a:spcBef>
                <a:spcPts val="200"/>
              </a:spcBef>
              <a:buSzPct val="100000"/>
              <a:buFont typeface="Arial" panose="020B0604020202020204" pitchFamily="34" charset="0"/>
              <a:buChar char="•"/>
            </a:pPr>
            <a:r>
              <a:rPr lang="en-US" sz="1000" dirty="0">
                <a:solidFill>
                  <a:srgbClr val="001035"/>
                </a:solidFill>
                <a:cs typeface="Arial" panose="020B0604020202020204" pitchFamily="34" charset="0"/>
              </a:rPr>
              <a:t>Develop </a:t>
            </a:r>
            <a:r>
              <a:rPr lang="en-US" sz="1000" b="1" dirty="0">
                <a:solidFill>
                  <a:srgbClr val="001035"/>
                </a:solidFill>
                <a:cs typeface="Arial" panose="020B0604020202020204" pitchFamily="34" charset="0"/>
              </a:rPr>
              <a:t>integrated schedule </a:t>
            </a:r>
          </a:p>
          <a:p>
            <a:pPr marL="171450" indent="-171450">
              <a:lnSpc>
                <a:spcPct val="150000"/>
              </a:lnSpc>
              <a:spcBef>
                <a:spcPts val="200"/>
              </a:spcBef>
              <a:buSzPct val="100000"/>
              <a:buFont typeface="Arial" panose="020B0604020202020204" pitchFamily="34" charset="0"/>
              <a:buChar char="•"/>
            </a:pPr>
            <a:r>
              <a:rPr lang="en-US" sz="1000" dirty="0">
                <a:solidFill>
                  <a:srgbClr val="001035"/>
                </a:solidFill>
                <a:cs typeface="Arial" panose="020B0604020202020204" pitchFamily="34" charset="0"/>
              </a:rPr>
              <a:t>Design &amp; implement </a:t>
            </a:r>
            <a:r>
              <a:rPr lang="en-US" sz="1000" b="1" dirty="0">
                <a:solidFill>
                  <a:srgbClr val="001035"/>
                </a:solidFill>
                <a:cs typeface="Arial" panose="020B0604020202020204" pitchFamily="34" charset="0"/>
              </a:rPr>
              <a:t>web and mobile based project monitoring platform</a:t>
            </a:r>
          </a:p>
          <a:p>
            <a:pPr marL="171450" indent="-171450">
              <a:lnSpc>
                <a:spcPct val="150000"/>
              </a:lnSpc>
              <a:spcBef>
                <a:spcPts val="200"/>
              </a:spcBef>
              <a:buSzPct val="100000"/>
              <a:buFont typeface="Arial" panose="020B0604020202020204" pitchFamily="34" charset="0"/>
              <a:buChar char="•"/>
            </a:pPr>
            <a:r>
              <a:rPr lang="en-US" sz="1000" dirty="0">
                <a:solidFill>
                  <a:srgbClr val="001035"/>
                </a:solidFill>
                <a:cs typeface="Arial" panose="020B0604020202020204" pitchFamily="34" charset="0"/>
              </a:rPr>
              <a:t>Define </a:t>
            </a:r>
            <a:r>
              <a:rPr lang="en-US" sz="1000" b="1" dirty="0">
                <a:solidFill>
                  <a:srgbClr val="001035"/>
                </a:solidFill>
                <a:cs typeface="Arial" panose="020B0604020202020204" pitchFamily="34" charset="0"/>
              </a:rPr>
              <a:t>project governance processes</a:t>
            </a:r>
          </a:p>
          <a:p>
            <a:pPr marL="171450" indent="-171450">
              <a:lnSpc>
                <a:spcPct val="150000"/>
              </a:lnSpc>
              <a:spcBef>
                <a:spcPts val="200"/>
              </a:spcBef>
              <a:buSzPct val="100000"/>
              <a:buFont typeface="Arial" panose="020B0604020202020204" pitchFamily="34" charset="0"/>
              <a:buChar char="•"/>
            </a:pPr>
            <a:r>
              <a:rPr lang="en-US" sz="1000" dirty="0">
                <a:solidFill>
                  <a:srgbClr val="001035"/>
                </a:solidFill>
                <a:cs typeface="Arial" panose="020B0604020202020204" pitchFamily="34" charset="0"/>
              </a:rPr>
              <a:t>Develop </a:t>
            </a:r>
            <a:r>
              <a:rPr lang="en-US" sz="1000" b="1" dirty="0">
                <a:solidFill>
                  <a:srgbClr val="001035"/>
                </a:solidFill>
                <a:cs typeface="Arial" panose="020B0604020202020204" pitchFamily="34" charset="0"/>
              </a:rPr>
              <a:t>risk management </a:t>
            </a:r>
            <a:r>
              <a:rPr lang="en-US" sz="1000" dirty="0">
                <a:solidFill>
                  <a:srgbClr val="001035"/>
                </a:solidFill>
                <a:cs typeface="Arial" panose="020B0604020202020204" pitchFamily="34" charset="0"/>
              </a:rPr>
              <a:t>framework &amp; conduct risk identification workshops</a:t>
            </a:r>
          </a:p>
          <a:p>
            <a:pPr marL="171450" indent="-171450">
              <a:lnSpc>
                <a:spcPct val="150000"/>
              </a:lnSpc>
              <a:spcBef>
                <a:spcPts val="200"/>
              </a:spcBef>
              <a:buSzPct val="100000"/>
              <a:buFont typeface="Arial" panose="020B0604020202020204" pitchFamily="34" charset="0"/>
              <a:buChar char="•"/>
            </a:pPr>
            <a:r>
              <a:rPr lang="en-US" sz="1000" dirty="0">
                <a:solidFill>
                  <a:srgbClr val="001035"/>
                </a:solidFill>
                <a:cs typeface="Arial" panose="020B0604020202020204" pitchFamily="34" charset="0"/>
              </a:rPr>
              <a:t>Develop </a:t>
            </a:r>
            <a:r>
              <a:rPr lang="en-US" sz="1000" b="1" dirty="0">
                <a:solidFill>
                  <a:srgbClr val="001035"/>
                </a:solidFill>
                <a:cs typeface="Arial" panose="020B0604020202020204" pitchFamily="34" charset="0"/>
              </a:rPr>
              <a:t>MIS reporting system &amp; processes</a:t>
            </a:r>
          </a:p>
          <a:p>
            <a:pPr marL="171450" indent="-171450">
              <a:lnSpc>
                <a:spcPct val="150000"/>
              </a:lnSpc>
              <a:spcBef>
                <a:spcPts val="200"/>
              </a:spcBef>
              <a:buSzPct val="100000"/>
              <a:buFont typeface="Arial" panose="020B0604020202020204" pitchFamily="34" charset="0"/>
              <a:buChar char="•"/>
            </a:pPr>
            <a:r>
              <a:rPr lang="en-US" sz="1000" dirty="0">
                <a:solidFill>
                  <a:srgbClr val="001035"/>
                </a:solidFill>
                <a:cs typeface="Arial" panose="020B0604020202020204" pitchFamily="34" charset="0"/>
              </a:rPr>
              <a:t>Facilitate </a:t>
            </a:r>
            <a:r>
              <a:rPr lang="en-US" sz="1000" b="1" dirty="0">
                <a:solidFill>
                  <a:srgbClr val="001035"/>
                </a:solidFill>
                <a:cs typeface="Arial" panose="020B0604020202020204" pitchFamily="34" charset="0"/>
              </a:rPr>
              <a:t>stakeholder alignment </a:t>
            </a:r>
          </a:p>
        </p:txBody>
      </p:sp>
      <p:sp>
        <p:nvSpPr>
          <p:cNvPr id="199" name="Rectangle 198"/>
          <p:cNvSpPr/>
          <p:nvPr/>
        </p:nvSpPr>
        <p:spPr bwMode="gray">
          <a:xfrm>
            <a:off x="4374464" y="4477979"/>
            <a:ext cx="3803818" cy="1750233"/>
          </a:xfrm>
          <a:prstGeom prst="rect">
            <a:avLst/>
          </a:prstGeom>
          <a:noFill/>
          <a:ln w="6350" algn="ctr">
            <a:noFill/>
            <a:miter lim="800000"/>
            <a:headEnd/>
            <a:tailEnd/>
          </a:ln>
        </p:spPr>
        <p:txBody>
          <a:bodyPr wrap="square" lIns="36000" tIns="36000" rIns="36000" bIns="36000" rtlCol="0" anchor="t">
            <a:noAutofit/>
          </a:bodyPr>
          <a:lstStyle/>
          <a:p>
            <a:pPr marL="171450" indent="-171450">
              <a:lnSpc>
                <a:spcPct val="150000"/>
              </a:lnSpc>
              <a:spcBef>
                <a:spcPts val="200"/>
              </a:spcBef>
              <a:buSzPct val="100000"/>
              <a:buFont typeface="Arial" panose="020B0604020202020204" pitchFamily="34" charset="0"/>
              <a:buChar char="•"/>
            </a:pPr>
            <a:r>
              <a:rPr lang="en-US" sz="1000" dirty="0">
                <a:solidFill>
                  <a:srgbClr val="001035"/>
                </a:solidFill>
                <a:cs typeface="Arial" panose="020B0604020202020204" pitchFamily="34" charset="0"/>
              </a:rPr>
              <a:t>Generation </a:t>
            </a:r>
            <a:r>
              <a:rPr lang="en-US" sz="1000" b="1" dirty="0">
                <a:solidFill>
                  <a:srgbClr val="001035"/>
                </a:solidFill>
                <a:cs typeface="Arial" panose="020B0604020202020204" pitchFamily="34" charset="0"/>
              </a:rPr>
              <a:t>of automated reports highlighting project progress</a:t>
            </a:r>
            <a:r>
              <a:rPr lang="en-US" sz="1000" dirty="0">
                <a:solidFill>
                  <a:srgbClr val="001035"/>
                </a:solidFill>
                <a:cs typeface="Arial" panose="020B0604020202020204" pitchFamily="34" charset="0"/>
              </a:rPr>
              <a:t> &amp; potential constraints</a:t>
            </a:r>
          </a:p>
          <a:p>
            <a:pPr marL="171450" indent="-171450">
              <a:lnSpc>
                <a:spcPct val="150000"/>
              </a:lnSpc>
              <a:spcBef>
                <a:spcPts val="200"/>
              </a:spcBef>
              <a:buSzPct val="100000"/>
              <a:buFont typeface="Arial" panose="020B0604020202020204" pitchFamily="34" charset="0"/>
              <a:buChar char="•"/>
            </a:pPr>
            <a:r>
              <a:rPr lang="en-US" sz="1000" dirty="0">
                <a:solidFill>
                  <a:srgbClr val="001035"/>
                </a:solidFill>
                <a:cs typeface="Arial" panose="020B0604020202020204" pitchFamily="34" charset="0"/>
              </a:rPr>
              <a:t>Securing </a:t>
            </a:r>
            <a:r>
              <a:rPr lang="en-US" sz="1000" b="1" dirty="0">
                <a:solidFill>
                  <a:srgbClr val="001035"/>
                </a:solidFill>
                <a:cs typeface="Arial" panose="020B0604020202020204" pitchFamily="34" charset="0"/>
              </a:rPr>
              <a:t>selective intervention </a:t>
            </a:r>
            <a:r>
              <a:rPr lang="en-US" sz="1000" dirty="0">
                <a:solidFill>
                  <a:srgbClr val="001035"/>
                </a:solidFill>
                <a:cs typeface="Arial" panose="020B0604020202020204" pitchFamily="34" charset="0"/>
              </a:rPr>
              <a:t>of top management on critical issues</a:t>
            </a:r>
          </a:p>
          <a:p>
            <a:pPr marL="171450" indent="-171450">
              <a:lnSpc>
                <a:spcPct val="150000"/>
              </a:lnSpc>
              <a:spcBef>
                <a:spcPts val="200"/>
              </a:spcBef>
              <a:buSzPct val="100000"/>
              <a:buFont typeface="Arial" panose="020B0604020202020204" pitchFamily="34" charset="0"/>
              <a:buChar char="•"/>
            </a:pPr>
            <a:r>
              <a:rPr lang="en-US" sz="1000" dirty="0">
                <a:solidFill>
                  <a:srgbClr val="001035"/>
                </a:solidFill>
                <a:cs typeface="Arial" panose="020B0604020202020204" pitchFamily="34" charset="0"/>
              </a:rPr>
              <a:t>Facilitating </a:t>
            </a:r>
            <a:r>
              <a:rPr lang="en-US" sz="1000" b="1" dirty="0">
                <a:solidFill>
                  <a:srgbClr val="001035"/>
                </a:solidFill>
                <a:cs typeface="Arial" panose="020B0604020202020204" pitchFamily="34" charset="0"/>
              </a:rPr>
              <a:t>resolution of potential bottlenecks </a:t>
            </a:r>
          </a:p>
          <a:p>
            <a:pPr marL="171450" indent="-171450">
              <a:lnSpc>
                <a:spcPct val="150000"/>
              </a:lnSpc>
              <a:spcBef>
                <a:spcPts val="200"/>
              </a:spcBef>
              <a:buSzPct val="100000"/>
              <a:buFont typeface="Arial" panose="020B0604020202020204" pitchFamily="34" charset="0"/>
              <a:buChar char="•"/>
            </a:pPr>
            <a:r>
              <a:rPr lang="en-US" sz="1000" dirty="0">
                <a:solidFill>
                  <a:srgbClr val="001035"/>
                </a:solidFill>
                <a:cs typeface="Arial" panose="020B0604020202020204" pitchFamily="34" charset="0"/>
              </a:rPr>
              <a:t>Implementation of various</a:t>
            </a:r>
            <a:r>
              <a:rPr lang="en-US" sz="1000" b="1" dirty="0">
                <a:solidFill>
                  <a:srgbClr val="001035"/>
                </a:solidFill>
                <a:cs typeface="Arial" panose="020B0604020202020204" pitchFamily="34" charset="0"/>
              </a:rPr>
              <a:t> management processes </a:t>
            </a:r>
            <a:r>
              <a:rPr lang="en-US" sz="1000" dirty="0">
                <a:solidFill>
                  <a:srgbClr val="001035"/>
                </a:solidFill>
                <a:cs typeface="Arial" panose="020B0604020202020204" pitchFamily="34" charset="0"/>
              </a:rPr>
              <a:t>focused on preparation &amp; control</a:t>
            </a:r>
          </a:p>
          <a:p>
            <a:pPr marL="171450" indent="-171450">
              <a:lnSpc>
                <a:spcPct val="150000"/>
              </a:lnSpc>
              <a:spcBef>
                <a:spcPts val="200"/>
              </a:spcBef>
              <a:buSzPct val="100000"/>
              <a:buFont typeface="Arial" panose="020B0604020202020204" pitchFamily="34" charset="0"/>
              <a:buChar char="•"/>
            </a:pPr>
            <a:r>
              <a:rPr lang="en-US" sz="1000" dirty="0">
                <a:solidFill>
                  <a:srgbClr val="001035"/>
                </a:solidFill>
                <a:cs typeface="Arial" panose="020B0604020202020204" pitchFamily="34" charset="0"/>
              </a:rPr>
              <a:t>Periodic </a:t>
            </a:r>
            <a:r>
              <a:rPr lang="en-US" sz="1000" b="1" dirty="0">
                <a:solidFill>
                  <a:srgbClr val="001035"/>
                </a:solidFill>
                <a:cs typeface="Arial" panose="020B0604020202020204" pitchFamily="34" charset="0"/>
              </a:rPr>
              <a:t>updates of project schedule </a:t>
            </a:r>
          </a:p>
        </p:txBody>
      </p:sp>
      <p:sp>
        <p:nvSpPr>
          <p:cNvPr id="200" name="Rectangle 199"/>
          <p:cNvSpPr/>
          <p:nvPr/>
        </p:nvSpPr>
        <p:spPr bwMode="gray">
          <a:xfrm>
            <a:off x="8277625" y="4516678"/>
            <a:ext cx="3382720" cy="1750234"/>
          </a:xfrm>
          <a:prstGeom prst="rect">
            <a:avLst/>
          </a:prstGeom>
          <a:noFill/>
          <a:ln w="6350" algn="ctr">
            <a:noFill/>
            <a:miter lim="800000"/>
            <a:headEnd/>
            <a:tailEnd/>
          </a:ln>
        </p:spPr>
        <p:txBody>
          <a:bodyPr wrap="square" lIns="36000" tIns="36000" rIns="36000" bIns="36000" rtlCol="0" anchor="t">
            <a:noAutofit/>
          </a:bodyPr>
          <a:lstStyle/>
          <a:p>
            <a:pPr marL="171450" indent="-171450">
              <a:lnSpc>
                <a:spcPct val="150000"/>
              </a:lnSpc>
              <a:spcBef>
                <a:spcPts val="200"/>
              </a:spcBef>
              <a:buSzPct val="100000"/>
              <a:buFont typeface="Arial" panose="020B0604020202020204" pitchFamily="34" charset="0"/>
              <a:buChar char="•"/>
            </a:pPr>
            <a:r>
              <a:rPr lang="en-US" sz="1000" dirty="0">
                <a:solidFill>
                  <a:srgbClr val="001035"/>
                </a:solidFill>
                <a:cs typeface="Arial" panose="020B0604020202020204" pitchFamily="34" charset="0"/>
              </a:rPr>
              <a:t>Conducting regular interaction with </a:t>
            </a:r>
            <a:r>
              <a:rPr lang="en-US" sz="1000" b="1" dirty="0">
                <a:solidFill>
                  <a:srgbClr val="001035"/>
                </a:solidFill>
                <a:cs typeface="Arial" panose="020B0604020202020204" pitchFamily="34" charset="0"/>
              </a:rPr>
              <a:t>various stakeholders </a:t>
            </a:r>
          </a:p>
          <a:p>
            <a:pPr marL="171450" indent="-171450">
              <a:lnSpc>
                <a:spcPct val="150000"/>
              </a:lnSpc>
              <a:spcBef>
                <a:spcPts val="200"/>
              </a:spcBef>
              <a:buSzPct val="100000"/>
              <a:buFont typeface="Arial" panose="020B0604020202020204" pitchFamily="34" charset="0"/>
              <a:buChar char="•"/>
            </a:pPr>
            <a:r>
              <a:rPr lang="en-US" sz="1000" dirty="0">
                <a:solidFill>
                  <a:srgbClr val="001035"/>
                </a:solidFill>
                <a:cs typeface="Arial" panose="020B0604020202020204" pitchFamily="34" charset="0"/>
              </a:rPr>
              <a:t>Carry out robust </a:t>
            </a:r>
            <a:r>
              <a:rPr lang="en-US" sz="1000" b="1" dirty="0">
                <a:solidFill>
                  <a:srgbClr val="001035"/>
                </a:solidFill>
                <a:cs typeface="Arial" panose="020B0604020202020204" pitchFamily="34" charset="0"/>
              </a:rPr>
              <a:t>risk management through workshops &amp; risk registers</a:t>
            </a:r>
          </a:p>
          <a:p>
            <a:pPr marL="171450" indent="-171450">
              <a:lnSpc>
                <a:spcPct val="150000"/>
              </a:lnSpc>
              <a:spcBef>
                <a:spcPts val="200"/>
              </a:spcBef>
              <a:buSzPct val="100000"/>
              <a:buFont typeface="Arial" panose="020B0604020202020204" pitchFamily="34" charset="0"/>
              <a:buChar char="•"/>
            </a:pPr>
            <a:r>
              <a:rPr lang="en-US" sz="1000" dirty="0">
                <a:solidFill>
                  <a:srgbClr val="001035"/>
                </a:solidFill>
                <a:cs typeface="Arial" panose="020B0604020202020204" pitchFamily="34" charset="0"/>
              </a:rPr>
              <a:t>Application of analytics to </a:t>
            </a:r>
            <a:r>
              <a:rPr lang="en-US" sz="1000" b="1" dirty="0">
                <a:solidFill>
                  <a:srgbClr val="001035"/>
                </a:solidFill>
                <a:cs typeface="Arial" panose="020B0604020202020204" pitchFamily="34" charset="0"/>
              </a:rPr>
              <a:t>monitor variances &amp; develop catch- up plans</a:t>
            </a:r>
          </a:p>
          <a:p>
            <a:pPr marL="171450" indent="-171450">
              <a:lnSpc>
                <a:spcPct val="150000"/>
              </a:lnSpc>
              <a:spcBef>
                <a:spcPts val="200"/>
              </a:spcBef>
              <a:buSzPct val="100000"/>
              <a:buFont typeface="Arial" panose="020B0604020202020204" pitchFamily="34" charset="0"/>
              <a:buChar char="•"/>
            </a:pPr>
            <a:r>
              <a:rPr lang="en-US" sz="1000" dirty="0">
                <a:solidFill>
                  <a:srgbClr val="001035"/>
                </a:solidFill>
                <a:cs typeface="Arial" panose="020B0604020202020204" pitchFamily="34" charset="0"/>
              </a:rPr>
              <a:t>Update of web/mobile platform to enable </a:t>
            </a:r>
            <a:r>
              <a:rPr lang="en-US" sz="1000" b="1" dirty="0">
                <a:solidFill>
                  <a:srgbClr val="001035"/>
                </a:solidFill>
                <a:cs typeface="Arial" panose="020B0604020202020204" pitchFamily="34" charset="0"/>
              </a:rPr>
              <a:t>visualization &amp; early warning signals</a:t>
            </a:r>
          </a:p>
        </p:txBody>
      </p:sp>
      <p:sp>
        <p:nvSpPr>
          <p:cNvPr id="201" name="Freeform 56"/>
          <p:cNvSpPr>
            <a:spLocks noChangeAspect="1" noEditPoints="1"/>
          </p:cNvSpPr>
          <p:nvPr/>
        </p:nvSpPr>
        <p:spPr bwMode="auto">
          <a:xfrm>
            <a:off x="2238101" y="3140098"/>
            <a:ext cx="349752" cy="451428"/>
          </a:xfrm>
          <a:custGeom>
            <a:avLst/>
            <a:gdLst>
              <a:gd name="T0" fmla="*/ 390 w 445"/>
              <a:gd name="T1" fmla="*/ 570 h 661"/>
              <a:gd name="T2" fmla="*/ 349 w 445"/>
              <a:gd name="T3" fmla="*/ 584 h 661"/>
              <a:gd name="T4" fmla="*/ 335 w 445"/>
              <a:gd name="T5" fmla="*/ 364 h 661"/>
              <a:gd name="T6" fmla="*/ 377 w 445"/>
              <a:gd name="T7" fmla="*/ 350 h 661"/>
              <a:gd name="T8" fmla="*/ 390 w 445"/>
              <a:gd name="T9" fmla="*/ 570 h 661"/>
              <a:gd name="T10" fmla="*/ 268 w 445"/>
              <a:gd name="T11" fmla="*/ 399 h 661"/>
              <a:gd name="T12" fmla="*/ 268 w 445"/>
              <a:gd name="T13" fmla="*/ 350 h 661"/>
              <a:gd name="T14" fmla="*/ 268 w 445"/>
              <a:gd name="T15" fmla="*/ 399 h 661"/>
              <a:gd name="T16" fmla="*/ 268 w 445"/>
              <a:gd name="T17" fmla="*/ 493 h 661"/>
              <a:gd name="T18" fmla="*/ 268 w 445"/>
              <a:gd name="T19" fmla="*/ 444 h 661"/>
              <a:gd name="T20" fmla="*/ 268 w 445"/>
              <a:gd name="T21" fmla="*/ 493 h 661"/>
              <a:gd name="T22" fmla="*/ 268 w 445"/>
              <a:gd name="T23" fmla="*/ 587 h 661"/>
              <a:gd name="T24" fmla="*/ 268 w 445"/>
              <a:gd name="T25" fmla="*/ 538 h 661"/>
              <a:gd name="T26" fmla="*/ 268 w 445"/>
              <a:gd name="T27" fmla="*/ 587 h 661"/>
              <a:gd name="T28" fmla="*/ 175 w 445"/>
              <a:gd name="T29" fmla="*/ 399 h 661"/>
              <a:gd name="T30" fmla="*/ 175 w 445"/>
              <a:gd name="T31" fmla="*/ 350 h 661"/>
              <a:gd name="T32" fmla="*/ 175 w 445"/>
              <a:gd name="T33" fmla="*/ 399 h 661"/>
              <a:gd name="T34" fmla="*/ 175 w 445"/>
              <a:gd name="T35" fmla="*/ 493 h 661"/>
              <a:gd name="T36" fmla="*/ 175 w 445"/>
              <a:gd name="T37" fmla="*/ 444 h 661"/>
              <a:gd name="T38" fmla="*/ 175 w 445"/>
              <a:gd name="T39" fmla="*/ 493 h 661"/>
              <a:gd name="T40" fmla="*/ 175 w 445"/>
              <a:gd name="T41" fmla="*/ 587 h 661"/>
              <a:gd name="T42" fmla="*/ 175 w 445"/>
              <a:gd name="T43" fmla="*/ 538 h 661"/>
              <a:gd name="T44" fmla="*/ 175 w 445"/>
              <a:gd name="T45" fmla="*/ 587 h 661"/>
              <a:gd name="T46" fmla="*/ 82 w 445"/>
              <a:gd name="T47" fmla="*/ 303 h 661"/>
              <a:gd name="T48" fmla="*/ 82 w 445"/>
              <a:gd name="T49" fmla="*/ 254 h 661"/>
              <a:gd name="T50" fmla="*/ 82 w 445"/>
              <a:gd name="T51" fmla="*/ 303 h 661"/>
              <a:gd name="T52" fmla="*/ 82 w 445"/>
              <a:gd name="T53" fmla="*/ 399 h 661"/>
              <a:gd name="T54" fmla="*/ 82 w 445"/>
              <a:gd name="T55" fmla="*/ 350 h 661"/>
              <a:gd name="T56" fmla="*/ 82 w 445"/>
              <a:gd name="T57" fmla="*/ 399 h 661"/>
              <a:gd name="T58" fmla="*/ 82 w 445"/>
              <a:gd name="T59" fmla="*/ 493 h 661"/>
              <a:gd name="T60" fmla="*/ 82 w 445"/>
              <a:gd name="T61" fmla="*/ 444 h 661"/>
              <a:gd name="T62" fmla="*/ 82 w 445"/>
              <a:gd name="T63" fmla="*/ 493 h 661"/>
              <a:gd name="T64" fmla="*/ 82 w 445"/>
              <a:gd name="T65" fmla="*/ 587 h 661"/>
              <a:gd name="T66" fmla="*/ 82 w 445"/>
              <a:gd name="T67" fmla="*/ 538 h 661"/>
              <a:gd name="T68" fmla="*/ 82 w 445"/>
              <a:gd name="T69" fmla="*/ 587 h 661"/>
              <a:gd name="T70" fmla="*/ 199 w 445"/>
              <a:gd name="T71" fmla="*/ 278 h 661"/>
              <a:gd name="T72" fmla="*/ 150 w 445"/>
              <a:gd name="T73" fmla="*/ 278 h 661"/>
              <a:gd name="T74" fmla="*/ 199 w 445"/>
              <a:gd name="T75" fmla="*/ 278 h 661"/>
              <a:gd name="T76" fmla="*/ 292 w 445"/>
              <a:gd name="T77" fmla="*/ 278 h 661"/>
              <a:gd name="T78" fmla="*/ 243 w 445"/>
              <a:gd name="T79" fmla="*/ 278 h 661"/>
              <a:gd name="T80" fmla="*/ 292 w 445"/>
              <a:gd name="T81" fmla="*/ 278 h 661"/>
              <a:gd name="T82" fmla="*/ 385 w 445"/>
              <a:gd name="T83" fmla="*/ 278 h 661"/>
              <a:gd name="T84" fmla="*/ 337 w 445"/>
              <a:gd name="T85" fmla="*/ 278 h 661"/>
              <a:gd name="T86" fmla="*/ 385 w 445"/>
              <a:gd name="T87" fmla="*/ 278 h 661"/>
              <a:gd name="T88" fmla="*/ 56 w 445"/>
              <a:gd name="T89" fmla="*/ 95 h 661"/>
              <a:gd name="T90" fmla="*/ 365 w 445"/>
              <a:gd name="T91" fmla="*/ 72 h 661"/>
              <a:gd name="T92" fmla="*/ 388 w 445"/>
              <a:gd name="T93" fmla="*/ 161 h 661"/>
              <a:gd name="T94" fmla="*/ 79 w 445"/>
              <a:gd name="T95" fmla="*/ 184 h 661"/>
              <a:gd name="T96" fmla="*/ 56 w 445"/>
              <a:gd name="T97" fmla="*/ 95 h 661"/>
              <a:gd name="T98" fmla="*/ 389 w 445"/>
              <a:gd name="T99" fmla="*/ 0 h 661"/>
              <a:gd name="T100" fmla="*/ 0 w 445"/>
              <a:gd name="T101" fmla="*/ 54 h 661"/>
              <a:gd name="T102" fmla="*/ 55 w 445"/>
              <a:gd name="T103" fmla="*/ 661 h 661"/>
              <a:gd name="T104" fmla="*/ 445 w 445"/>
              <a:gd name="T105" fmla="*/ 606 h 661"/>
              <a:gd name="T106" fmla="*/ 389 w 445"/>
              <a:gd name="T107" fmla="*/ 0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45" h="661">
                <a:moveTo>
                  <a:pt x="390" y="570"/>
                </a:moveTo>
                <a:lnTo>
                  <a:pt x="390" y="570"/>
                </a:lnTo>
                <a:cubicBezTo>
                  <a:pt x="390" y="578"/>
                  <a:pt x="384" y="584"/>
                  <a:pt x="377" y="584"/>
                </a:cubicBezTo>
                <a:lnTo>
                  <a:pt x="349" y="584"/>
                </a:lnTo>
                <a:cubicBezTo>
                  <a:pt x="341" y="584"/>
                  <a:pt x="335" y="578"/>
                  <a:pt x="335" y="570"/>
                </a:cubicBezTo>
                <a:lnTo>
                  <a:pt x="335" y="364"/>
                </a:lnTo>
                <a:cubicBezTo>
                  <a:pt x="335" y="356"/>
                  <a:pt x="341" y="350"/>
                  <a:pt x="349" y="350"/>
                </a:cubicBezTo>
                <a:lnTo>
                  <a:pt x="377" y="350"/>
                </a:lnTo>
                <a:cubicBezTo>
                  <a:pt x="384" y="350"/>
                  <a:pt x="390" y="356"/>
                  <a:pt x="390" y="364"/>
                </a:cubicBezTo>
                <a:lnTo>
                  <a:pt x="390" y="570"/>
                </a:lnTo>
                <a:close/>
                <a:moveTo>
                  <a:pt x="268" y="399"/>
                </a:moveTo>
                <a:lnTo>
                  <a:pt x="268" y="399"/>
                </a:lnTo>
                <a:cubicBezTo>
                  <a:pt x="254" y="399"/>
                  <a:pt x="243" y="388"/>
                  <a:pt x="243" y="374"/>
                </a:cubicBezTo>
                <a:cubicBezTo>
                  <a:pt x="243" y="361"/>
                  <a:pt x="254" y="350"/>
                  <a:pt x="268" y="350"/>
                </a:cubicBezTo>
                <a:cubicBezTo>
                  <a:pt x="281" y="350"/>
                  <a:pt x="292" y="361"/>
                  <a:pt x="292" y="374"/>
                </a:cubicBezTo>
                <a:cubicBezTo>
                  <a:pt x="292" y="388"/>
                  <a:pt x="281" y="399"/>
                  <a:pt x="268" y="399"/>
                </a:cubicBezTo>
                <a:close/>
                <a:moveTo>
                  <a:pt x="268" y="493"/>
                </a:moveTo>
                <a:lnTo>
                  <a:pt x="268" y="493"/>
                </a:lnTo>
                <a:cubicBezTo>
                  <a:pt x="254" y="493"/>
                  <a:pt x="243" y="482"/>
                  <a:pt x="243" y="468"/>
                </a:cubicBezTo>
                <a:cubicBezTo>
                  <a:pt x="243" y="455"/>
                  <a:pt x="254" y="444"/>
                  <a:pt x="268" y="444"/>
                </a:cubicBezTo>
                <a:cubicBezTo>
                  <a:pt x="281" y="444"/>
                  <a:pt x="292" y="455"/>
                  <a:pt x="292" y="468"/>
                </a:cubicBezTo>
                <a:cubicBezTo>
                  <a:pt x="292" y="482"/>
                  <a:pt x="281" y="493"/>
                  <a:pt x="268" y="493"/>
                </a:cubicBezTo>
                <a:close/>
                <a:moveTo>
                  <a:pt x="268" y="587"/>
                </a:moveTo>
                <a:lnTo>
                  <a:pt x="268" y="587"/>
                </a:lnTo>
                <a:cubicBezTo>
                  <a:pt x="254" y="587"/>
                  <a:pt x="243" y="576"/>
                  <a:pt x="243" y="563"/>
                </a:cubicBezTo>
                <a:cubicBezTo>
                  <a:pt x="243" y="549"/>
                  <a:pt x="254" y="538"/>
                  <a:pt x="268" y="538"/>
                </a:cubicBezTo>
                <a:cubicBezTo>
                  <a:pt x="281" y="538"/>
                  <a:pt x="292" y="549"/>
                  <a:pt x="292" y="563"/>
                </a:cubicBezTo>
                <a:cubicBezTo>
                  <a:pt x="292" y="576"/>
                  <a:pt x="281" y="587"/>
                  <a:pt x="268" y="587"/>
                </a:cubicBezTo>
                <a:close/>
                <a:moveTo>
                  <a:pt x="175" y="399"/>
                </a:moveTo>
                <a:lnTo>
                  <a:pt x="175" y="399"/>
                </a:lnTo>
                <a:cubicBezTo>
                  <a:pt x="161" y="399"/>
                  <a:pt x="150" y="388"/>
                  <a:pt x="150" y="374"/>
                </a:cubicBezTo>
                <a:cubicBezTo>
                  <a:pt x="150" y="361"/>
                  <a:pt x="161" y="350"/>
                  <a:pt x="175" y="350"/>
                </a:cubicBezTo>
                <a:cubicBezTo>
                  <a:pt x="188" y="350"/>
                  <a:pt x="199" y="361"/>
                  <a:pt x="199" y="374"/>
                </a:cubicBezTo>
                <a:cubicBezTo>
                  <a:pt x="199" y="388"/>
                  <a:pt x="188" y="399"/>
                  <a:pt x="175" y="399"/>
                </a:cubicBezTo>
                <a:close/>
                <a:moveTo>
                  <a:pt x="175" y="493"/>
                </a:moveTo>
                <a:lnTo>
                  <a:pt x="175" y="493"/>
                </a:lnTo>
                <a:cubicBezTo>
                  <a:pt x="161" y="493"/>
                  <a:pt x="150" y="482"/>
                  <a:pt x="150" y="468"/>
                </a:cubicBezTo>
                <a:cubicBezTo>
                  <a:pt x="150" y="455"/>
                  <a:pt x="161" y="444"/>
                  <a:pt x="175" y="444"/>
                </a:cubicBezTo>
                <a:cubicBezTo>
                  <a:pt x="188" y="444"/>
                  <a:pt x="199" y="455"/>
                  <a:pt x="199" y="468"/>
                </a:cubicBezTo>
                <a:cubicBezTo>
                  <a:pt x="199" y="482"/>
                  <a:pt x="188" y="493"/>
                  <a:pt x="175" y="493"/>
                </a:cubicBezTo>
                <a:close/>
                <a:moveTo>
                  <a:pt x="175" y="587"/>
                </a:moveTo>
                <a:lnTo>
                  <a:pt x="175" y="587"/>
                </a:lnTo>
                <a:cubicBezTo>
                  <a:pt x="161" y="587"/>
                  <a:pt x="150" y="576"/>
                  <a:pt x="150" y="563"/>
                </a:cubicBezTo>
                <a:cubicBezTo>
                  <a:pt x="150" y="549"/>
                  <a:pt x="161" y="538"/>
                  <a:pt x="175" y="538"/>
                </a:cubicBezTo>
                <a:cubicBezTo>
                  <a:pt x="188" y="538"/>
                  <a:pt x="199" y="549"/>
                  <a:pt x="199" y="563"/>
                </a:cubicBezTo>
                <a:cubicBezTo>
                  <a:pt x="199" y="576"/>
                  <a:pt x="188" y="587"/>
                  <a:pt x="175" y="587"/>
                </a:cubicBezTo>
                <a:close/>
                <a:moveTo>
                  <a:pt x="82" y="303"/>
                </a:moveTo>
                <a:lnTo>
                  <a:pt x="82" y="303"/>
                </a:lnTo>
                <a:cubicBezTo>
                  <a:pt x="68" y="303"/>
                  <a:pt x="57" y="292"/>
                  <a:pt x="57" y="278"/>
                </a:cubicBezTo>
                <a:cubicBezTo>
                  <a:pt x="57" y="265"/>
                  <a:pt x="68" y="254"/>
                  <a:pt x="82" y="254"/>
                </a:cubicBezTo>
                <a:cubicBezTo>
                  <a:pt x="95" y="254"/>
                  <a:pt x="106" y="265"/>
                  <a:pt x="106" y="278"/>
                </a:cubicBezTo>
                <a:cubicBezTo>
                  <a:pt x="106" y="292"/>
                  <a:pt x="95" y="303"/>
                  <a:pt x="82" y="303"/>
                </a:cubicBezTo>
                <a:close/>
                <a:moveTo>
                  <a:pt x="82" y="399"/>
                </a:moveTo>
                <a:lnTo>
                  <a:pt x="82" y="399"/>
                </a:lnTo>
                <a:cubicBezTo>
                  <a:pt x="68" y="399"/>
                  <a:pt x="57" y="388"/>
                  <a:pt x="57" y="374"/>
                </a:cubicBezTo>
                <a:cubicBezTo>
                  <a:pt x="57" y="361"/>
                  <a:pt x="68" y="350"/>
                  <a:pt x="82" y="350"/>
                </a:cubicBezTo>
                <a:cubicBezTo>
                  <a:pt x="95" y="350"/>
                  <a:pt x="106" y="361"/>
                  <a:pt x="106" y="374"/>
                </a:cubicBezTo>
                <a:cubicBezTo>
                  <a:pt x="106" y="388"/>
                  <a:pt x="95" y="399"/>
                  <a:pt x="82" y="399"/>
                </a:cubicBezTo>
                <a:close/>
                <a:moveTo>
                  <a:pt x="82" y="493"/>
                </a:moveTo>
                <a:lnTo>
                  <a:pt x="82" y="493"/>
                </a:lnTo>
                <a:cubicBezTo>
                  <a:pt x="68" y="493"/>
                  <a:pt x="57" y="482"/>
                  <a:pt x="57" y="468"/>
                </a:cubicBezTo>
                <a:cubicBezTo>
                  <a:pt x="57" y="455"/>
                  <a:pt x="68" y="444"/>
                  <a:pt x="82" y="444"/>
                </a:cubicBezTo>
                <a:cubicBezTo>
                  <a:pt x="95" y="444"/>
                  <a:pt x="106" y="455"/>
                  <a:pt x="106" y="468"/>
                </a:cubicBezTo>
                <a:cubicBezTo>
                  <a:pt x="106" y="482"/>
                  <a:pt x="95" y="493"/>
                  <a:pt x="82" y="493"/>
                </a:cubicBezTo>
                <a:close/>
                <a:moveTo>
                  <a:pt x="82" y="587"/>
                </a:moveTo>
                <a:lnTo>
                  <a:pt x="82" y="587"/>
                </a:lnTo>
                <a:cubicBezTo>
                  <a:pt x="68" y="587"/>
                  <a:pt x="57" y="576"/>
                  <a:pt x="57" y="563"/>
                </a:cubicBezTo>
                <a:cubicBezTo>
                  <a:pt x="57" y="549"/>
                  <a:pt x="68" y="538"/>
                  <a:pt x="82" y="538"/>
                </a:cubicBezTo>
                <a:cubicBezTo>
                  <a:pt x="95" y="538"/>
                  <a:pt x="106" y="549"/>
                  <a:pt x="106" y="563"/>
                </a:cubicBezTo>
                <a:cubicBezTo>
                  <a:pt x="106" y="576"/>
                  <a:pt x="95" y="587"/>
                  <a:pt x="82" y="587"/>
                </a:cubicBezTo>
                <a:close/>
                <a:moveTo>
                  <a:pt x="199" y="278"/>
                </a:moveTo>
                <a:lnTo>
                  <a:pt x="199" y="278"/>
                </a:lnTo>
                <a:cubicBezTo>
                  <a:pt x="199" y="292"/>
                  <a:pt x="188" y="303"/>
                  <a:pt x="175" y="303"/>
                </a:cubicBezTo>
                <a:cubicBezTo>
                  <a:pt x="161" y="303"/>
                  <a:pt x="150" y="292"/>
                  <a:pt x="150" y="278"/>
                </a:cubicBezTo>
                <a:cubicBezTo>
                  <a:pt x="150" y="265"/>
                  <a:pt x="161" y="254"/>
                  <a:pt x="175" y="254"/>
                </a:cubicBezTo>
                <a:cubicBezTo>
                  <a:pt x="188" y="254"/>
                  <a:pt x="199" y="265"/>
                  <a:pt x="199" y="278"/>
                </a:cubicBezTo>
                <a:close/>
                <a:moveTo>
                  <a:pt x="292" y="278"/>
                </a:moveTo>
                <a:lnTo>
                  <a:pt x="292" y="278"/>
                </a:lnTo>
                <a:cubicBezTo>
                  <a:pt x="292" y="292"/>
                  <a:pt x="281" y="303"/>
                  <a:pt x="268" y="303"/>
                </a:cubicBezTo>
                <a:cubicBezTo>
                  <a:pt x="254" y="303"/>
                  <a:pt x="243" y="292"/>
                  <a:pt x="243" y="278"/>
                </a:cubicBezTo>
                <a:cubicBezTo>
                  <a:pt x="243" y="265"/>
                  <a:pt x="254" y="254"/>
                  <a:pt x="268" y="254"/>
                </a:cubicBezTo>
                <a:cubicBezTo>
                  <a:pt x="281" y="254"/>
                  <a:pt x="292" y="265"/>
                  <a:pt x="292" y="278"/>
                </a:cubicBezTo>
                <a:close/>
                <a:moveTo>
                  <a:pt x="385" y="278"/>
                </a:moveTo>
                <a:lnTo>
                  <a:pt x="385" y="278"/>
                </a:lnTo>
                <a:cubicBezTo>
                  <a:pt x="385" y="292"/>
                  <a:pt x="375" y="303"/>
                  <a:pt x="361" y="303"/>
                </a:cubicBezTo>
                <a:cubicBezTo>
                  <a:pt x="348" y="303"/>
                  <a:pt x="337" y="292"/>
                  <a:pt x="337" y="278"/>
                </a:cubicBezTo>
                <a:cubicBezTo>
                  <a:pt x="337" y="265"/>
                  <a:pt x="348" y="254"/>
                  <a:pt x="361" y="254"/>
                </a:cubicBezTo>
                <a:cubicBezTo>
                  <a:pt x="375" y="254"/>
                  <a:pt x="385" y="265"/>
                  <a:pt x="385" y="278"/>
                </a:cubicBezTo>
                <a:close/>
                <a:moveTo>
                  <a:pt x="56" y="95"/>
                </a:moveTo>
                <a:lnTo>
                  <a:pt x="56" y="95"/>
                </a:lnTo>
                <a:cubicBezTo>
                  <a:pt x="56" y="82"/>
                  <a:pt x="66" y="72"/>
                  <a:pt x="79" y="72"/>
                </a:cubicBezTo>
                <a:lnTo>
                  <a:pt x="365" y="72"/>
                </a:lnTo>
                <a:cubicBezTo>
                  <a:pt x="377" y="72"/>
                  <a:pt x="388" y="82"/>
                  <a:pt x="388" y="95"/>
                </a:cubicBezTo>
                <a:lnTo>
                  <a:pt x="388" y="161"/>
                </a:lnTo>
                <a:cubicBezTo>
                  <a:pt x="388" y="174"/>
                  <a:pt x="377" y="184"/>
                  <a:pt x="365" y="184"/>
                </a:cubicBezTo>
                <a:lnTo>
                  <a:pt x="79" y="184"/>
                </a:lnTo>
                <a:cubicBezTo>
                  <a:pt x="66" y="184"/>
                  <a:pt x="56" y="174"/>
                  <a:pt x="56" y="161"/>
                </a:cubicBezTo>
                <a:lnTo>
                  <a:pt x="56" y="95"/>
                </a:lnTo>
                <a:close/>
                <a:moveTo>
                  <a:pt x="389" y="0"/>
                </a:moveTo>
                <a:lnTo>
                  <a:pt x="389" y="0"/>
                </a:lnTo>
                <a:lnTo>
                  <a:pt x="55" y="0"/>
                </a:lnTo>
                <a:cubicBezTo>
                  <a:pt x="24" y="0"/>
                  <a:pt x="0" y="24"/>
                  <a:pt x="0" y="54"/>
                </a:cubicBezTo>
                <a:lnTo>
                  <a:pt x="0" y="606"/>
                </a:lnTo>
                <a:cubicBezTo>
                  <a:pt x="0" y="637"/>
                  <a:pt x="24" y="661"/>
                  <a:pt x="55" y="661"/>
                </a:cubicBezTo>
                <a:lnTo>
                  <a:pt x="389" y="661"/>
                </a:lnTo>
                <a:cubicBezTo>
                  <a:pt x="420" y="661"/>
                  <a:pt x="445" y="637"/>
                  <a:pt x="445" y="606"/>
                </a:cubicBezTo>
                <a:lnTo>
                  <a:pt x="445" y="54"/>
                </a:lnTo>
                <a:cubicBezTo>
                  <a:pt x="445" y="24"/>
                  <a:pt x="420" y="0"/>
                  <a:pt x="389" y="0"/>
                </a:cubicBezTo>
                <a:close/>
              </a:path>
            </a:pathLst>
          </a:custGeom>
          <a:solidFill>
            <a:schemeClr val="accent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p>
        </p:txBody>
      </p:sp>
      <p:sp>
        <p:nvSpPr>
          <p:cNvPr id="202" name="Freeform 57"/>
          <p:cNvSpPr>
            <a:spLocks noChangeAspect="1" noEditPoints="1"/>
          </p:cNvSpPr>
          <p:nvPr/>
        </p:nvSpPr>
        <p:spPr bwMode="auto">
          <a:xfrm>
            <a:off x="1624030" y="3154098"/>
            <a:ext cx="517466" cy="442121"/>
          </a:xfrm>
          <a:custGeom>
            <a:avLst/>
            <a:gdLst>
              <a:gd name="T0" fmla="*/ 3621 w 5796"/>
              <a:gd name="T1" fmla="*/ 3138 h 5310"/>
              <a:gd name="T2" fmla="*/ 2898 w 5796"/>
              <a:gd name="T3" fmla="*/ 3379 h 5310"/>
              <a:gd name="T4" fmla="*/ 967 w 5796"/>
              <a:gd name="T5" fmla="*/ 1931 h 5310"/>
              <a:gd name="T6" fmla="*/ 1931 w 5796"/>
              <a:gd name="T7" fmla="*/ 2413 h 5310"/>
              <a:gd name="T8" fmla="*/ 967 w 5796"/>
              <a:gd name="T9" fmla="*/ 1931 h 5310"/>
              <a:gd name="T10" fmla="*/ 724 w 5796"/>
              <a:gd name="T11" fmla="*/ 3620 h 5310"/>
              <a:gd name="T12" fmla="*/ 967 w 5796"/>
              <a:gd name="T13" fmla="*/ 4587 h 5310"/>
              <a:gd name="T14" fmla="*/ 1208 w 5796"/>
              <a:gd name="T15" fmla="*/ 3620 h 5310"/>
              <a:gd name="T16" fmla="*/ 2172 w 5796"/>
              <a:gd name="T17" fmla="*/ 3379 h 5310"/>
              <a:gd name="T18" fmla="*/ 967 w 5796"/>
              <a:gd name="T19" fmla="*/ 2654 h 5310"/>
              <a:gd name="T20" fmla="*/ 2172 w 5796"/>
              <a:gd name="T21" fmla="*/ 1931 h 5310"/>
              <a:gd name="T22" fmla="*/ 3380 w 5796"/>
              <a:gd name="T23" fmla="*/ 2897 h 5310"/>
              <a:gd name="T24" fmla="*/ 2657 w 5796"/>
              <a:gd name="T25" fmla="*/ 3620 h 5310"/>
              <a:gd name="T26" fmla="*/ 3621 w 5796"/>
              <a:gd name="T27" fmla="*/ 4344 h 5310"/>
              <a:gd name="T28" fmla="*/ 1690 w 5796"/>
              <a:gd name="T29" fmla="*/ 4587 h 5310"/>
              <a:gd name="T30" fmla="*/ 3863 w 5796"/>
              <a:gd name="T31" fmla="*/ 2897 h 5310"/>
              <a:gd name="T32" fmla="*/ 3621 w 5796"/>
              <a:gd name="T33" fmla="*/ 1689 h 5310"/>
              <a:gd name="T34" fmla="*/ 0 w 5796"/>
              <a:gd name="T35" fmla="*/ 964 h 5310"/>
              <a:gd name="T36" fmla="*/ 4588 w 5796"/>
              <a:gd name="T37" fmla="*/ 3861 h 5310"/>
              <a:gd name="T38" fmla="*/ 4914 w 5796"/>
              <a:gd name="T39" fmla="*/ 3867 h 5310"/>
              <a:gd name="T40" fmla="*/ 5074 w 5796"/>
              <a:gd name="T41" fmla="*/ 3904 h 5310"/>
              <a:gd name="T42" fmla="*/ 5218 w 5796"/>
              <a:gd name="T43" fmla="*/ 3974 h 5310"/>
              <a:gd name="T44" fmla="*/ 5341 w 5796"/>
              <a:gd name="T45" fmla="*/ 4074 h 5310"/>
              <a:gd name="T46" fmla="*/ 5440 w 5796"/>
              <a:gd name="T47" fmla="*/ 4198 h 5310"/>
              <a:gd name="T48" fmla="*/ 5510 w 5796"/>
              <a:gd name="T49" fmla="*/ 4342 h 5310"/>
              <a:gd name="T50" fmla="*/ 5549 w 5796"/>
              <a:gd name="T51" fmla="*/ 4502 h 5310"/>
              <a:gd name="T52" fmla="*/ 5549 w 5796"/>
              <a:gd name="T53" fmla="*/ 4671 h 5310"/>
              <a:gd name="T54" fmla="*/ 5510 w 5796"/>
              <a:gd name="T55" fmla="*/ 4829 h 5310"/>
              <a:gd name="T56" fmla="*/ 5440 w 5796"/>
              <a:gd name="T57" fmla="*/ 4974 h 5310"/>
              <a:gd name="T58" fmla="*/ 5341 w 5796"/>
              <a:gd name="T59" fmla="*/ 5099 h 5310"/>
              <a:gd name="T60" fmla="*/ 5218 w 5796"/>
              <a:gd name="T61" fmla="*/ 5197 h 5310"/>
              <a:gd name="T62" fmla="*/ 5074 w 5796"/>
              <a:gd name="T63" fmla="*/ 5268 h 5310"/>
              <a:gd name="T64" fmla="*/ 4914 w 5796"/>
              <a:gd name="T65" fmla="*/ 5305 h 5310"/>
              <a:gd name="T66" fmla="*/ 0 w 5796"/>
              <a:gd name="T67" fmla="*/ 5310 h 5310"/>
              <a:gd name="T68" fmla="*/ 4829 w 5796"/>
              <a:gd name="T69" fmla="*/ 0 h 5310"/>
              <a:gd name="T70" fmla="*/ 5025 w 5796"/>
              <a:gd name="T71" fmla="*/ 19 h 5310"/>
              <a:gd name="T72" fmla="*/ 5206 w 5796"/>
              <a:gd name="T73" fmla="*/ 75 h 5310"/>
              <a:gd name="T74" fmla="*/ 5370 w 5796"/>
              <a:gd name="T75" fmla="*/ 163 h 5310"/>
              <a:gd name="T76" fmla="*/ 5512 w 5796"/>
              <a:gd name="T77" fmla="*/ 281 h 5310"/>
              <a:gd name="T78" fmla="*/ 5630 w 5796"/>
              <a:gd name="T79" fmla="*/ 426 h 5310"/>
              <a:gd name="T80" fmla="*/ 5720 w 5796"/>
              <a:gd name="T81" fmla="*/ 589 h 5310"/>
              <a:gd name="T82" fmla="*/ 5775 w 5796"/>
              <a:gd name="T83" fmla="*/ 771 h 5310"/>
              <a:gd name="T84" fmla="*/ 5796 w 5796"/>
              <a:gd name="T85" fmla="*/ 964 h 5310"/>
              <a:gd name="T86" fmla="*/ 5768 w 5796"/>
              <a:gd name="T87" fmla="*/ 4256 h 5310"/>
              <a:gd name="T88" fmla="*/ 5688 w 5796"/>
              <a:gd name="T89" fmla="*/ 4085 h 5310"/>
              <a:gd name="T90" fmla="*/ 5581 w 5796"/>
              <a:gd name="T91" fmla="*/ 3934 h 5310"/>
              <a:gd name="T92" fmla="*/ 5447 w 5796"/>
              <a:gd name="T93" fmla="*/ 3805 h 5310"/>
              <a:gd name="T94" fmla="*/ 5292 w 5796"/>
              <a:gd name="T95" fmla="*/ 3703 h 5310"/>
              <a:gd name="T96" fmla="*/ 5118 w 5796"/>
              <a:gd name="T97" fmla="*/ 3633 h 5310"/>
              <a:gd name="T98" fmla="*/ 4928 w 5796"/>
              <a:gd name="T99" fmla="*/ 3596 h 5310"/>
              <a:gd name="T100" fmla="*/ 4829 w 5796"/>
              <a:gd name="T101" fmla="*/ 0 h 5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796" h="5310">
                <a:moveTo>
                  <a:pt x="2898" y="3138"/>
                </a:moveTo>
                <a:lnTo>
                  <a:pt x="3621" y="3138"/>
                </a:lnTo>
                <a:lnTo>
                  <a:pt x="3621" y="3379"/>
                </a:lnTo>
                <a:lnTo>
                  <a:pt x="2898" y="3379"/>
                </a:lnTo>
                <a:lnTo>
                  <a:pt x="2898" y="3138"/>
                </a:lnTo>
                <a:close/>
                <a:moveTo>
                  <a:pt x="967" y="1931"/>
                </a:moveTo>
                <a:lnTo>
                  <a:pt x="1931" y="1931"/>
                </a:lnTo>
                <a:lnTo>
                  <a:pt x="1931" y="2413"/>
                </a:lnTo>
                <a:lnTo>
                  <a:pt x="967" y="2413"/>
                </a:lnTo>
                <a:lnTo>
                  <a:pt x="967" y="1931"/>
                </a:lnTo>
                <a:close/>
                <a:moveTo>
                  <a:pt x="724" y="1689"/>
                </a:moveTo>
                <a:lnTo>
                  <a:pt x="724" y="3620"/>
                </a:lnTo>
                <a:lnTo>
                  <a:pt x="967" y="3620"/>
                </a:lnTo>
                <a:lnTo>
                  <a:pt x="967" y="4587"/>
                </a:lnTo>
                <a:lnTo>
                  <a:pt x="1208" y="4587"/>
                </a:lnTo>
                <a:lnTo>
                  <a:pt x="1208" y="3620"/>
                </a:lnTo>
                <a:lnTo>
                  <a:pt x="2172" y="3620"/>
                </a:lnTo>
                <a:lnTo>
                  <a:pt x="2172" y="3379"/>
                </a:lnTo>
                <a:lnTo>
                  <a:pt x="967" y="3379"/>
                </a:lnTo>
                <a:lnTo>
                  <a:pt x="967" y="2654"/>
                </a:lnTo>
                <a:lnTo>
                  <a:pt x="2172" y="2654"/>
                </a:lnTo>
                <a:lnTo>
                  <a:pt x="2172" y="1931"/>
                </a:lnTo>
                <a:lnTo>
                  <a:pt x="3380" y="1931"/>
                </a:lnTo>
                <a:lnTo>
                  <a:pt x="3380" y="2897"/>
                </a:lnTo>
                <a:lnTo>
                  <a:pt x="2657" y="2897"/>
                </a:lnTo>
                <a:lnTo>
                  <a:pt x="2657" y="3620"/>
                </a:lnTo>
                <a:lnTo>
                  <a:pt x="3621" y="3620"/>
                </a:lnTo>
                <a:lnTo>
                  <a:pt x="3621" y="4344"/>
                </a:lnTo>
                <a:lnTo>
                  <a:pt x="1690" y="4344"/>
                </a:lnTo>
                <a:lnTo>
                  <a:pt x="1690" y="4587"/>
                </a:lnTo>
                <a:lnTo>
                  <a:pt x="3863" y="4587"/>
                </a:lnTo>
                <a:lnTo>
                  <a:pt x="3863" y="2897"/>
                </a:lnTo>
                <a:lnTo>
                  <a:pt x="3621" y="2897"/>
                </a:lnTo>
                <a:lnTo>
                  <a:pt x="3621" y="1689"/>
                </a:lnTo>
                <a:lnTo>
                  <a:pt x="724" y="1689"/>
                </a:lnTo>
                <a:close/>
                <a:moveTo>
                  <a:pt x="0" y="964"/>
                </a:moveTo>
                <a:lnTo>
                  <a:pt x="4588" y="964"/>
                </a:lnTo>
                <a:lnTo>
                  <a:pt x="4588" y="3861"/>
                </a:lnTo>
                <a:lnTo>
                  <a:pt x="4829" y="3861"/>
                </a:lnTo>
                <a:lnTo>
                  <a:pt x="4914" y="3867"/>
                </a:lnTo>
                <a:lnTo>
                  <a:pt x="4995" y="3881"/>
                </a:lnTo>
                <a:lnTo>
                  <a:pt x="5074" y="3904"/>
                </a:lnTo>
                <a:lnTo>
                  <a:pt x="5148" y="3935"/>
                </a:lnTo>
                <a:lnTo>
                  <a:pt x="5218" y="3974"/>
                </a:lnTo>
                <a:lnTo>
                  <a:pt x="5282" y="4022"/>
                </a:lnTo>
                <a:lnTo>
                  <a:pt x="5341" y="4074"/>
                </a:lnTo>
                <a:lnTo>
                  <a:pt x="5394" y="4132"/>
                </a:lnTo>
                <a:lnTo>
                  <a:pt x="5440" y="4198"/>
                </a:lnTo>
                <a:lnTo>
                  <a:pt x="5481" y="4268"/>
                </a:lnTo>
                <a:lnTo>
                  <a:pt x="5510" y="4342"/>
                </a:lnTo>
                <a:lnTo>
                  <a:pt x="5535" y="4419"/>
                </a:lnTo>
                <a:lnTo>
                  <a:pt x="5549" y="4502"/>
                </a:lnTo>
                <a:lnTo>
                  <a:pt x="5553" y="4587"/>
                </a:lnTo>
                <a:lnTo>
                  <a:pt x="5549" y="4671"/>
                </a:lnTo>
                <a:lnTo>
                  <a:pt x="5535" y="4752"/>
                </a:lnTo>
                <a:lnTo>
                  <a:pt x="5510" y="4829"/>
                </a:lnTo>
                <a:lnTo>
                  <a:pt x="5481" y="4905"/>
                </a:lnTo>
                <a:lnTo>
                  <a:pt x="5440" y="4974"/>
                </a:lnTo>
                <a:lnTo>
                  <a:pt x="5394" y="5039"/>
                </a:lnTo>
                <a:lnTo>
                  <a:pt x="5341" y="5099"/>
                </a:lnTo>
                <a:lnTo>
                  <a:pt x="5282" y="5152"/>
                </a:lnTo>
                <a:lnTo>
                  <a:pt x="5218" y="5197"/>
                </a:lnTo>
                <a:lnTo>
                  <a:pt x="5148" y="5236"/>
                </a:lnTo>
                <a:lnTo>
                  <a:pt x="5074" y="5268"/>
                </a:lnTo>
                <a:lnTo>
                  <a:pt x="4995" y="5291"/>
                </a:lnTo>
                <a:lnTo>
                  <a:pt x="4914" y="5305"/>
                </a:lnTo>
                <a:lnTo>
                  <a:pt x="4829" y="5310"/>
                </a:lnTo>
                <a:lnTo>
                  <a:pt x="0" y="5310"/>
                </a:lnTo>
                <a:lnTo>
                  <a:pt x="0" y="964"/>
                </a:lnTo>
                <a:close/>
                <a:moveTo>
                  <a:pt x="4829" y="0"/>
                </a:moveTo>
                <a:lnTo>
                  <a:pt x="4928" y="5"/>
                </a:lnTo>
                <a:lnTo>
                  <a:pt x="5025" y="19"/>
                </a:lnTo>
                <a:lnTo>
                  <a:pt x="5116" y="42"/>
                </a:lnTo>
                <a:lnTo>
                  <a:pt x="5206" y="75"/>
                </a:lnTo>
                <a:lnTo>
                  <a:pt x="5289" y="116"/>
                </a:lnTo>
                <a:lnTo>
                  <a:pt x="5370" y="163"/>
                </a:lnTo>
                <a:lnTo>
                  <a:pt x="5444" y="220"/>
                </a:lnTo>
                <a:lnTo>
                  <a:pt x="5512" y="281"/>
                </a:lnTo>
                <a:lnTo>
                  <a:pt x="5574" y="350"/>
                </a:lnTo>
                <a:lnTo>
                  <a:pt x="5630" y="426"/>
                </a:lnTo>
                <a:lnTo>
                  <a:pt x="5678" y="505"/>
                </a:lnTo>
                <a:lnTo>
                  <a:pt x="5720" y="589"/>
                </a:lnTo>
                <a:lnTo>
                  <a:pt x="5752" y="677"/>
                </a:lnTo>
                <a:lnTo>
                  <a:pt x="5775" y="771"/>
                </a:lnTo>
                <a:lnTo>
                  <a:pt x="5790" y="866"/>
                </a:lnTo>
                <a:lnTo>
                  <a:pt x="5796" y="964"/>
                </a:lnTo>
                <a:lnTo>
                  <a:pt x="5796" y="4347"/>
                </a:lnTo>
                <a:lnTo>
                  <a:pt x="5768" y="4256"/>
                </a:lnTo>
                <a:lnTo>
                  <a:pt x="5732" y="4168"/>
                </a:lnTo>
                <a:lnTo>
                  <a:pt x="5688" y="4085"/>
                </a:lnTo>
                <a:lnTo>
                  <a:pt x="5639" y="4008"/>
                </a:lnTo>
                <a:lnTo>
                  <a:pt x="5581" y="3934"/>
                </a:lnTo>
                <a:lnTo>
                  <a:pt x="5518" y="3867"/>
                </a:lnTo>
                <a:lnTo>
                  <a:pt x="5447" y="3805"/>
                </a:lnTo>
                <a:lnTo>
                  <a:pt x="5371" y="3751"/>
                </a:lnTo>
                <a:lnTo>
                  <a:pt x="5292" y="3703"/>
                </a:lnTo>
                <a:lnTo>
                  <a:pt x="5206" y="3664"/>
                </a:lnTo>
                <a:lnTo>
                  <a:pt x="5118" y="3633"/>
                </a:lnTo>
                <a:lnTo>
                  <a:pt x="5025" y="3610"/>
                </a:lnTo>
                <a:lnTo>
                  <a:pt x="4928" y="3596"/>
                </a:lnTo>
                <a:lnTo>
                  <a:pt x="4829" y="3590"/>
                </a:lnTo>
                <a:lnTo>
                  <a:pt x="4829" y="0"/>
                </a:lnTo>
                <a:close/>
              </a:path>
            </a:pathLst>
          </a:custGeom>
          <a:solidFill>
            <a:srgbClr val="43B02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rgbClr val="000000"/>
              </a:solidFill>
            </a:endParaRPr>
          </a:p>
        </p:txBody>
      </p:sp>
      <p:cxnSp>
        <p:nvCxnSpPr>
          <p:cNvPr id="203" name="Straight Connector 202"/>
          <p:cNvCxnSpPr/>
          <p:nvPr/>
        </p:nvCxnSpPr>
        <p:spPr>
          <a:xfrm>
            <a:off x="4207345" y="3252039"/>
            <a:ext cx="0" cy="3146862"/>
          </a:xfrm>
          <a:prstGeom prst="line">
            <a:avLst/>
          </a:prstGeom>
          <a:ln w="190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204" name="Freeform 272"/>
          <p:cNvSpPr>
            <a:spLocks noChangeAspect="1" noEditPoints="1"/>
          </p:cNvSpPr>
          <p:nvPr/>
        </p:nvSpPr>
        <p:spPr bwMode="auto">
          <a:xfrm>
            <a:off x="8178282" y="3210552"/>
            <a:ext cx="525717" cy="388523"/>
          </a:xfrm>
          <a:custGeom>
            <a:avLst/>
            <a:gdLst>
              <a:gd name="T0" fmla="*/ 4966 w 5954"/>
              <a:gd name="T1" fmla="*/ 4258 h 5070"/>
              <a:gd name="T2" fmla="*/ 5543 w 5954"/>
              <a:gd name="T3" fmla="*/ 4093 h 5070"/>
              <a:gd name="T4" fmla="*/ 1186 w 5954"/>
              <a:gd name="T5" fmla="*/ 2719 h 5070"/>
              <a:gd name="T6" fmla="*/ 1700 w 5954"/>
              <a:gd name="T7" fmla="*/ 3382 h 5070"/>
              <a:gd name="T8" fmla="*/ 1186 w 5954"/>
              <a:gd name="T9" fmla="*/ 2719 h 5070"/>
              <a:gd name="T10" fmla="*/ 2722 w 5954"/>
              <a:gd name="T11" fmla="*/ 2308 h 5070"/>
              <a:gd name="T12" fmla="*/ 2210 w 5954"/>
              <a:gd name="T13" fmla="*/ 3382 h 5070"/>
              <a:gd name="T14" fmla="*/ 3232 w 5954"/>
              <a:gd name="T15" fmla="*/ 1539 h 5070"/>
              <a:gd name="T16" fmla="*/ 3745 w 5954"/>
              <a:gd name="T17" fmla="*/ 3382 h 5070"/>
              <a:gd name="T18" fmla="*/ 3232 w 5954"/>
              <a:gd name="T19" fmla="*/ 1539 h 5070"/>
              <a:gd name="T20" fmla="*/ 4767 w 5954"/>
              <a:gd name="T21" fmla="*/ 1118 h 5070"/>
              <a:gd name="T22" fmla="*/ 4255 w 5954"/>
              <a:gd name="T23" fmla="*/ 3382 h 5070"/>
              <a:gd name="T24" fmla="*/ 412 w 5954"/>
              <a:gd name="T25" fmla="*/ 412 h 5070"/>
              <a:gd name="T26" fmla="*/ 5541 w 5954"/>
              <a:gd name="T27" fmla="*/ 3977 h 5070"/>
              <a:gd name="T28" fmla="*/ 412 w 5954"/>
              <a:gd name="T29" fmla="*/ 412 h 5070"/>
              <a:gd name="T30" fmla="*/ 5747 w 5954"/>
              <a:gd name="T31" fmla="*/ 0 h 5070"/>
              <a:gd name="T32" fmla="*/ 5838 w 5954"/>
              <a:gd name="T33" fmla="*/ 20 h 5070"/>
              <a:gd name="T34" fmla="*/ 5908 w 5954"/>
              <a:gd name="T35" fmla="*/ 76 h 5070"/>
              <a:gd name="T36" fmla="*/ 5948 w 5954"/>
              <a:gd name="T37" fmla="*/ 159 h 5070"/>
              <a:gd name="T38" fmla="*/ 5954 w 5954"/>
              <a:gd name="T39" fmla="*/ 4184 h 5070"/>
              <a:gd name="T40" fmla="*/ 5934 w 5954"/>
              <a:gd name="T41" fmla="*/ 4274 h 5070"/>
              <a:gd name="T42" fmla="*/ 5878 w 5954"/>
              <a:gd name="T43" fmla="*/ 4345 h 5070"/>
              <a:gd name="T44" fmla="*/ 5794 w 5954"/>
              <a:gd name="T45" fmla="*/ 4384 h 5070"/>
              <a:gd name="T46" fmla="*/ 3650 w 5954"/>
              <a:gd name="T47" fmla="*/ 4390 h 5070"/>
              <a:gd name="T48" fmla="*/ 4597 w 5954"/>
              <a:gd name="T49" fmla="*/ 4779 h 5070"/>
              <a:gd name="T50" fmla="*/ 1358 w 5954"/>
              <a:gd name="T51" fmla="*/ 5070 h 5070"/>
              <a:gd name="T52" fmla="*/ 2306 w 5954"/>
              <a:gd name="T53" fmla="*/ 4779 h 5070"/>
              <a:gd name="T54" fmla="*/ 206 w 5954"/>
              <a:gd name="T55" fmla="*/ 4390 h 5070"/>
              <a:gd name="T56" fmla="*/ 116 w 5954"/>
              <a:gd name="T57" fmla="*/ 4368 h 5070"/>
              <a:gd name="T58" fmla="*/ 45 w 5954"/>
              <a:gd name="T59" fmla="*/ 4312 h 5070"/>
              <a:gd name="T60" fmla="*/ 5 w 5954"/>
              <a:gd name="T61" fmla="*/ 4231 h 5070"/>
              <a:gd name="T62" fmla="*/ 0 w 5954"/>
              <a:gd name="T63" fmla="*/ 206 h 5070"/>
              <a:gd name="T64" fmla="*/ 22 w 5954"/>
              <a:gd name="T65" fmla="*/ 116 h 5070"/>
              <a:gd name="T66" fmla="*/ 78 w 5954"/>
              <a:gd name="T67" fmla="*/ 45 h 5070"/>
              <a:gd name="T68" fmla="*/ 159 w 5954"/>
              <a:gd name="T69" fmla="*/ 5 h 50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954" h="5070">
                <a:moveTo>
                  <a:pt x="4966" y="4093"/>
                </a:moveTo>
                <a:lnTo>
                  <a:pt x="4966" y="4258"/>
                </a:lnTo>
                <a:lnTo>
                  <a:pt x="5543" y="4258"/>
                </a:lnTo>
                <a:lnTo>
                  <a:pt x="5543" y="4093"/>
                </a:lnTo>
                <a:lnTo>
                  <a:pt x="4966" y="4093"/>
                </a:lnTo>
                <a:close/>
                <a:moveTo>
                  <a:pt x="1186" y="2719"/>
                </a:moveTo>
                <a:lnTo>
                  <a:pt x="1700" y="2719"/>
                </a:lnTo>
                <a:lnTo>
                  <a:pt x="1700" y="3382"/>
                </a:lnTo>
                <a:lnTo>
                  <a:pt x="1186" y="3382"/>
                </a:lnTo>
                <a:lnTo>
                  <a:pt x="1186" y="2719"/>
                </a:lnTo>
                <a:close/>
                <a:moveTo>
                  <a:pt x="2210" y="2308"/>
                </a:moveTo>
                <a:lnTo>
                  <a:pt x="2722" y="2308"/>
                </a:lnTo>
                <a:lnTo>
                  <a:pt x="2722" y="3382"/>
                </a:lnTo>
                <a:lnTo>
                  <a:pt x="2210" y="3382"/>
                </a:lnTo>
                <a:lnTo>
                  <a:pt x="2210" y="2308"/>
                </a:lnTo>
                <a:close/>
                <a:moveTo>
                  <a:pt x="3232" y="1539"/>
                </a:moveTo>
                <a:lnTo>
                  <a:pt x="3745" y="1539"/>
                </a:lnTo>
                <a:lnTo>
                  <a:pt x="3745" y="3382"/>
                </a:lnTo>
                <a:lnTo>
                  <a:pt x="3232" y="3382"/>
                </a:lnTo>
                <a:lnTo>
                  <a:pt x="3232" y="1539"/>
                </a:lnTo>
                <a:close/>
                <a:moveTo>
                  <a:pt x="4255" y="1118"/>
                </a:moveTo>
                <a:lnTo>
                  <a:pt x="4767" y="1118"/>
                </a:lnTo>
                <a:lnTo>
                  <a:pt x="4767" y="3382"/>
                </a:lnTo>
                <a:lnTo>
                  <a:pt x="4255" y="3382"/>
                </a:lnTo>
                <a:lnTo>
                  <a:pt x="4255" y="1118"/>
                </a:lnTo>
                <a:close/>
                <a:moveTo>
                  <a:pt x="412" y="412"/>
                </a:moveTo>
                <a:lnTo>
                  <a:pt x="412" y="3977"/>
                </a:lnTo>
                <a:lnTo>
                  <a:pt x="5541" y="3977"/>
                </a:lnTo>
                <a:lnTo>
                  <a:pt x="5541" y="412"/>
                </a:lnTo>
                <a:lnTo>
                  <a:pt x="412" y="412"/>
                </a:lnTo>
                <a:close/>
                <a:moveTo>
                  <a:pt x="206" y="0"/>
                </a:moveTo>
                <a:lnTo>
                  <a:pt x="5747" y="0"/>
                </a:lnTo>
                <a:lnTo>
                  <a:pt x="5794" y="5"/>
                </a:lnTo>
                <a:lnTo>
                  <a:pt x="5838" y="20"/>
                </a:lnTo>
                <a:lnTo>
                  <a:pt x="5878" y="45"/>
                </a:lnTo>
                <a:lnTo>
                  <a:pt x="5908" y="76"/>
                </a:lnTo>
                <a:lnTo>
                  <a:pt x="5934" y="116"/>
                </a:lnTo>
                <a:lnTo>
                  <a:pt x="5948" y="159"/>
                </a:lnTo>
                <a:lnTo>
                  <a:pt x="5954" y="206"/>
                </a:lnTo>
                <a:lnTo>
                  <a:pt x="5954" y="4184"/>
                </a:lnTo>
                <a:lnTo>
                  <a:pt x="5948" y="4231"/>
                </a:lnTo>
                <a:lnTo>
                  <a:pt x="5934" y="4274"/>
                </a:lnTo>
                <a:lnTo>
                  <a:pt x="5908" y="4312"/>
                </a:lnTo>
                <a:lnTo>
                  <a:pt x="5878" y="4345"/>
                </a:lnTo>
                <a:lnTo>
                  <a:pt x="5838" y="4368"/>
                </a:lnTo>
                <a:lnTo>
                  <a:pt x="5794" y="4384"/>
                </a:lnTo>
                <a:lnTo>
                  <a:pt x="5747" y="4390"/>
                </a:lnTo>
                <a:lnTo>
                  <a:pt x="3650" y="4390"/>
                </a:lnTo>
                <a:lnTo>
                  <a:pt x="3650" y="4779"/>
                </a:lnTo>
                <a:lnTo>
                  <a:pt x="4597" y="4779"/>
                </a:lnTo>
                <a:lnTo>
                  <a:pt x="4597" y="5070"/>
                </a:lnTo>
                <a:lnTo>
                  <a:pt x="1358" y="5070"/>
                </a:lnTo>
                <a:lnTo>
                  <a:pt x="1358" y="4779"/>
                </a:lnTo>
                <a:lnTo>
                  <a:pt x="2306" y="4779"/>
                </a:lnTo>
                <a:lnTo>
                  <a:pt x="2306" y="4390"/>
                </a:lnTo>
                <a:lnTo>
                  <a:pt x="206" y="4390"/>
                </a:lnTo>
                <a:lnTo>
                  <a:pt x="159" y="4384"/>
                </a:lnTo>
                <a:lnTo>
                  <a:pt x="116" y="4368"/>
                </a:lnTo>
                <a:lnTo>
                  <a:pt x="78" y="4345"/>
                </a:lnTo>
                <a:lnTo>
                  <a:pt x="45" y="4312"/>
                </a:lnTo>
                <a:lnTo>
                  <a:pt x="22" y="4274"/>
                </a:lnTo>
                <a:lnTo>
                  <a:pt x="5" y="4231"/>
                </a:lnTo>
                <a:lnTo>
                  <a:pt x="0" y="4184"/>
                </a:lnTo>
                <a:lnTo>
                  <a:pt x="0" y="206"/>
                </a:lnTo>
                <a:lnTo>
                  <a:pt x="5" y="159"/>
                </a:lnTo>
                <a:lnTo>
                  <a:pt x="22" y="116"/>
                </a:lnTo>
                <a:lnTo>
                  <a:pt x="45" y="76"/>
                </a:lnTo>
                <a:lnTo>
                  <a:pt x="78" y="45"/>
                </a:lnTo>
                <a:lnTo>
                  <a:pt x="116" y="20"/>
                </a:lnTo>
                <a:lnTo>
                  <a:pt x="159" y="5"/>
                </a:lnTo>
                <a:lnTo>
                  <a:pt x="206" y="0"/>
                </a:lnTo>
                <a:close/>
              </a:path>
            </a:pathLst>
          </a:custGeom>
          <a:solidFill>
            <a:srgbClr val="0076A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rgbClr val="000000"/>
              </a:solidFill>
            </a:endParaRPr>
          </a:p>
        </p:txBody>
      </p:sp>
      <p:sp>
        <p:nvSpPr>
          <p:cNvPr id="205" name="Freeform 164"/>
          <p:cNvSpPr>
            <a:spLocks noChangeAspect="1" noEditPoints="1"/>
          </p:cNvSpPr>
          <p:nvPr/>
        </p:nvSpPr>
        <p:spPr bwMode="auto">
          <a:xfrm>
            <a:off x="3995858" y="3273197"/>
            <a:ext cx="456606" cy="263233"/>
          </a:xfrm>
          <a:custGeom>
            <a:avLst/>
            <a:gdLst>
              <a:gd name="T0" fmla="*/ 128 w 130"/>
              <a:gd name="T1" fmla="*/ 39 h 86"/>
              <a:gd name="T2" fmla="*/ 73 w 130"/>
              <a:gd name="T3" fmla="*/ 3 h 86"/>
              <a:gd name="T4" fmla="*/ 65 w 130"/>
              <a:gd name="T5" fmla="*/ 7 h 86"/>
              <a:gd name="T6" fmla="*/ 65 w 130"/>
              <a:gd name="T7" fmla="*/ 78 h 86"/>
              <a:gd name="T8" fmla="*/ 73 w 130"/>
              <a:gd name="T9" fmla="*/ 83 h 86"/>
              <a:gd name="T10" fmla="*/ 128 w 130"/>
              <a:gd name="T11" fmla="*/ 46 h 86"/>
              <a:gd name="T12" fmla="*/ 130 w 130"/>
              <a:gd name="T13" fmla="*/ 43 h 86"/>
              <a:gd name="T14" fmla="*/ 128 w 130"/>
              <a:gd name="T15" fmla="*/ 39 h 86"/>
              <a:gd name="T16" fmla="*/ 61 w 130"/>
              <a:gd name="T17" fmla="*/ 39 h 86"/>
              <a:gd name="T18" fmla="*/ 8 w 130"/>
              <a:gd name="T19" fmla="*/ 3 h 86"/>
              <a:gd name="T20" fmla="*/ 0 w 130"/>
              <a:gd name="T21" fmla="*/ 7 h 86"/>
              <a:gd name="T22" fmla="*/ 0 w 130"/>
              <a:gd name="T23" fmla="*/ 78 h 86"/>
              <a:gd name="T24" fmla="*/ 8 w 130"/>
              <a:gd name="T25" fmla="*/ 83 h 86"/>
              <a:gd name="T26" fmla="*/ 61 w 130"/>
              <a:gd name="T27" fmla="*/ 46 h 86"/>
              <a:gd name="T28" fmla="*/ 63 w 130"/>
              <a:gd name="T29" fmla="*/ 43 h 86"/>
              <a:gd name="T30" fmla="*/ 61 w 130"/>
              <a:gd name="T31" fmla="*/ 39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0" h="86">
                <a:moveTo>
                  <a:pt x="128" y="39"/>
                </a:moveTo>
                <a:cubicBezTo>
                  <a:pt x="73" y="3"/>
                  <a:pt x="73" y="3"/>
                  <a:pt x="73" y="3"/>
                </a:cubicBezTo>
                <a:cubicBezTo>
                  <a:pt x="69" y="0"/>
                  <a:pt x="65" y="2"/>
                  <a:pt x="65" y="7"/>
                </a:cubicBezTo>
                <a:cubicBezTo>
                  <a:pt x="65" y="78"/>
                  <a:pt x="65" y="78"/>
                  <a:pt x="65" y="78"/>
                </a:cubicBezTo>
                <a:cubicBezTo>
                  <a:pt x="65" y="84"/>
                  <a:pt x="69" y="86"/>
                  <a:pt x="73" y="83"/>
                </a:cubicBezTo>
                <a:cubicBezTo>
                  <a:pt x="128" y="46"/>
                  <a:pt x="128" y="46"/>
                  <a:pt x="128" y="46"/>
                </a:cubicBezTo>
                <a:cubicBezTo>
                  <a:pt x="128" y="46"/>
                  <a:pt x="130" y="45"/>
                  <a:pt x="130" y="43"/>
                </a:cubicBezTo>
                <a:cubicBezTo>
                  <a:pt x="130" y="41"/>
                  <a:pt x="128" y="39"/>
                  <a:pt x="128" y="39"/>
                </a:cubicBezTo>
                <a:close/>
                <a:moveTo>
                  <a:pt x="61" y="39"/>
                </a:moveTo>
                <a:cubicBezTo>
                  <a:pt x="8" y="3"/>
                  <a:pt x="8" y="3"/>
                  <a:pt x="8" y="3"/>
                </a:cubicBezTo>
                <a:cubicBezTo>
                  <a:pt x="4" y="0"/>
                  <a:pt x="0" y="2"/>
                  <a:pt x="0" y="7"/>
                </a:cubicBezTo>
                <a:cubicBezTo>
                  <a:pt x="0" y="78"/>
                  <a:pt x="0" y="78"/>
                  <a:pt x="0" y="78"/>
                </a:cubicBezTo>
                <a:cubicBezTo>
                  <a:pt x="0" y="84"/>
                  <a:pt x="4" y="86"/>
                  <a:pt x="8" y="83"/>
                </a:cubicBezTo>
                <a:cubicBezTo>
                  <a:pt x="61" y="46"/>
                  <a:pt x="61" y="46"/>
                  <a:pt x="61" y="46"/>
                </a:cubicBezTo>
                <a:cubicBezTo>
                  <a:pt x="61" y="46"/>
                  <a:pt x="63" y="45"/>
                  <a:pt x="63" y="43"/>
                </a:cubicBezTo>
                <a:cubicBezTo>
                  <a:pt x="63" y="41"/>
                  <a:pt x="61" y="39"/>
                  <a:pt x="61" y="39"/>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1400" dirty="0"/>
          </a:p>
        </p:txBody>
      </p:sp>
      <p:cxnSp>
        <p:nvCxnSpPr>
          <p:cNvPr id="206" name="Straight Connector 205"/>
          <p:cNvCxnSpPr/>
          <p:nvPr/>
        </p:nvCxnSpPr>
        <p:spPr>
          <a:xfrm>
            <a:off x="2877722" y="3404814"/>
            <a:ext cx="98409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p:nvCxnSpPr>
        <p:spPr>
          <a:xfrm>
            <a:off x="4590595" y="3404814"/>
            <a:ext cx="98409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208" name="Freeform 164"/>
          <p:cNvSpPr>
            <a:spLocks noChangeAspect="1" noEditPoints="1"/>
          </p:cNvSpPr>
          <p:nvPr/>
        </p:nvSpPr>
        <p:spPr bwMode="auto">
          <a:xfrm>
            <a:off x="5728630" y="3273197"/>
            <a:ext cx="456606" cy="263233"/>
          </a:xfrm>
          <a:custGeom>
            <a:avLst/>
            <a:gdLst>
              <a:gd name="T0" fmla="*/ 128 w 130"/>
              <a:gd name="T1" fmla="*/ 39 h 86"/>
              <a:gd name="T2" fmla="*/ 73 w 130"/>
              <a:gd name="T3" fmla="*/ 3 h 86"/>
              <a:gd name="T4" fmla="*/ 65 w 130"/>
              <a:gd name="T5" fmla="*/ 7 h 86"/>
              <a:gd name="T6" fmla="*/ 65 w 130"/>
              <a:gd name="T7" fmla="*/ 78 h 86"/>
              <a:gd name="T8" fmla="*/ 73 w 130"/>
              <a:gd name="T9" fmla="*/ 83 h 86"/>
              <a:gd name="T10" fmla="*/ 128 w 130"/>
              <a:gd name="T11" fmla="*/ 46 h 86"/>
              <a:gd name="T12" fmla="*/ 130 w 130"/>
              <a:gd name="T13" fmla="*/ 43 h 86"/>
              <a:gd name="T14" fmla="*/ 128 w 130"/>
              <a:gd name="T15" fmla="*/ 39 h 86"/>
              <a:gd name="T16" fmla="*/ 61 w 130"/>
              <a:gd name="T17" fmla="*/ 39 h 86"/>
              <a:gd name="T18" fmla="*/ 8 w 130"/>
              <a:gd name="T19" fmla="*/ 3 h 86"/>
              <a:gd name="T20" fmla="*/ 0 w 130"/>
              <a:gd name="T21" fmla="*/ 7 h 86"/>
              <a:gd name="T22" fmla="*/ 0 w 130"/>
              <a:gd name="T23" fmla="*/ 78 h 86"/>
              <a:gd name="T24" fmla="*/ 8 w 130"/>
              <a:gd name="T25" fmla="*/ 83 h 86"/>
              <a:gd name="T26" fmla="*/ 61 w 130"/>
              <a:gd name="T27" fmla="*/ 46 h 86"/>
              <a:gd name="T28" fmla="*/ 63 w 130"/>
              <a:gd name="T29" fmla="*/ 43 h 86"/>
              <a:gd name="T30" fmla="*/ 61 w 130"/>
              <a:gd name="T31" fmla="*/ 39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0" h="86">
                <a:moveTo>
                  <a:pt x="128" y="39"/>
                </a:moveTo>
                <a:cubicBezTo>
                  <a:pt x="73" y="3"/>
                  <a:pt x="73" y="3"/>
                  <a:pt x="73" y="3"/>
                </a:cubicBezTo>
                <a:cubicBezTo>
                  <a:pt x="69" y="0"/>
                  <a:pt x="65" y="2"/>
                  <a:pt x="65" y="7"/>
                </a:cubicBezTo>
                <a:cubicBezTo>
                  <a:pt x="65" y="78"/>
                  <a:pt x="65" y="78"/>
                  <a:pt x="65" y="78"/>
                </a:cubicBezTo>
                <a:cubicBezTo>
                  <a:pt x="65" y="84"/>
                  <a:pt x="69" y="86"/>
                  <a:pt x="73" y="83"/>
                </a:cubicBezTo>
                <a:cubicBezTo>
                  <a:pt x="128" y="46"/>
                  <a:pt x="128" y="46"/>
                  <a:pt x="128" y="46"/>
                </a:cubicBezTo>
                <a:cubicBezTo>
                  <a:pt x="128" y="46"/>
                  <a:pt x="130" y="45"/>
                  <a:pt x="130" y="43"/>
                </a:cubicBezTo>
                <a:cubicBezTo>
                  <a:pt x="130" y="41"/>
                  <a:pt x="128" y="39"/>
                  <a:pt x="128" y="39"/>
                </a:cubicBezTo>
                <a:close/>
                <a:moveTo>
                  <a:pt x="61" y="39"/>
                </a:moveTo>
                <a:cubicBezTo>
                  <a:pt x="8" y="3"/>
                  <a:pt x="8" y="3"/>
                  <a:pt x="8" y="3"/>
                </a:cubicBezTo>
                <a:cubicBezTo>
                  <a:pt x="4" y="0"/>
                  <a:pt x="0" y="2"/>
                  <a:pt x="0" y="7"/>
                </a:cubicBezTo>
                <a:cubicBezTo>
                  <a:pt x="0" y="78"/>
                  <a:pt x="0" y="78"/>
                  <a:pt x="0" y="78"/>
                </a:cubicBezTo>
                <a:cubicBezTo>
                  <a:pt x="0" y="84"/>
                  <a:pt x="4" y="86"/>
                  <a:pt x="8" y="83"/>
                </a:cubicBezTo>
                <a:cubicBezTo>
                  <a:pt x="61" y="46"/>
                  <a:pt x="61" y="46"/>
                  <a:pt x="61" y="46"/>
                </a:cubicBezTo>
                <a:cubicBezTo>
                  <a:pt x="61" y="46"/>
                  <a:pt x="63" y="45"/>
                  <a:pt x="63" y="43"/>
                </a:cubicBezTo>
                <a:cubicBezTo>
                  <a:pt x="63" y="41"/>
                  <a:pt x="61" y="39"/>
                  <a:pt x="61" y="39"/>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1400" dirty="0"/>
          </a:p>
        </p:txBody>
      </p:sp>
      <p:cxnSp>
        <p:nvCxnSpPr>
          <p:cNvPr id="209" name="Straight Connector 208"/>
          <p:cNvCxnSpPr/>
          <p:nvPr/>
        </p:nvCxnSpPr>
        <p:spPr>
          <a:xfrm>
            <a:off x="6333313" y="3404814"/>
            <a:ext cx="98409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210" name="Freeform 79"/>
          <p:cNvSpPr>
            <a:spLocks noChangeAspect="1" noEditPoints="1"/>
          </p:cNvSpPr>
          <p:nvPr/>
        </p:nvSpPr>
        <p:spPr bwMode="auto">
          <a:xfrm>
            <a:off x="7571833" y="3175667"/>
            <a:ext cx="467667" cy="459248"/>
          </a:xfrm>
          <a:custGeom>
            <a:avLst/>
            <a:gdLst>
              <a:gd name="T0" fmla="*/ 104 w 118"/>
              <a:gd name="T1" fmla="*/ 0 h 133"/>
              <a:gd name="T2" fmla="*/ 15 w 118"/>
              <a:gd name="T3" fmla="*/ 0 h 133"/>
              <a:gd name="T4" fmla="*/ 0 w 118"/>
              <a:gd name="T5" fmla="*/ 15 h 133"/>
              <a:gd name="T6" fmla="*/ 0 w 118"/>
              <a:gd name="T7" fmla="*/ 118 h 133"/>
              <a:gd name="T8" fmla="*/ 15 w 118"/>
              <a:gd name="T9" fmla="*/ 133 h 133"/>
              <a:gd name="T10" fmla="*/ 104 w 118"/>
              <a:gd name="T11" fmla="*/ 133 h 133"/>
              <a:gd name="T12" fmla="*/ 118 w 118"/>
              <a:gd name="T13" fmla="*/ 118 h 133"/>
              <a:gd name="T14" fmla="*/ 118 w 118"/>
              <a:gd name="T15" fmla="*/ 15 h 133"/>
              <a:gd name="T16" fmla="*/ 104 w 118"/>
              <a:gd name="T17" fmla="*/ 0 h 133"/>
              <a:gd name="T18" fmla="*/ 104 w 118"/>
              <a:gd name="T19" fmla="*/ 118 h 133"/>
              <a:gd name="T20" fmla="*/ 15 w 118"/>
              <a:gd name="T21" fmla="*/ 118 h 133"/>
              <a:gd name="T22" fmla="*/ 15 w 118"/>
              <a:gd name="T23" fmla="*/ 15 h 133"/>
              <a:gd name="T24" fmla="*/ 104 w 118"/>
              <a:gd name="T25" fmla="*/ 15 h 133"/>
              <a:gd name="T26" fmla="*/ 104 w 118"/>
              <a:gd name="T27" fmla="*/ 118 h 133"/>
              <a:gd name="T28" fmla="*/ 67 w 118"/>
              <a:gd name="T29" fmla="*/ 81 h 133"/>
              <a:gd name="T30" fmla="*/ 30 w 118"/>
              <a:gd name="T31" fmla="*/ 81 h 133"/>
              <a:gd name="T32" fmla="*/ 30 w 118"/>
              <a:gd name="T33" fmla="*/ 89 h 133"/>
              <a:gd name="T34" fmla="*/ 67 w 118"/>
              <a:gd name="T35" fmla="*/ 89 h 133"/>
              <a:gd name="T36" fmla="*/ 67 w 118"/>
              <a:gd name="T37" fmla="*/ 81 h 133"/>
              <a:gd name="T38" fmla="*/ 89 w 118"/>
              <a:gd name="T39" fmla="*/ 52 h 133"/>
              <a:gd name="T40" fmla="*/ 59 w 118"/>
              <a:gd name="T41" fmla="*/ 52 h 133"/>
              <a:gd name="T42" fmla="*/ 59 w 118"/>
              <a:gd name="T43" fmla="*/ 59 h 133"/>
              <a:gd name="T44" fmla="*/ 89 w 118"/>
              <a:gd name="T45" fmla="*/ 59 h 133"/>
              <a:gd name="T46" fmla="*/ 89 w 118"/>
              <a:gd name="T47" fmla="*/ 52 h 133"/>
              <a:gd name="T48" fmla="*/ 59 w 118"/>
              <a:gd name="T49" fmla="*/ 44 h 133"/>
              <a:gd name="T50" fmla="*/ 89 w 118"/>
              <a:gd name="T51" fmla="*/ 44 h 133"/>
              <a:gd name="T52" fmla="*/ 89 w 118"/>
              <a:gd name="T53" fmla="*/ 30 h 133"/>
              <a:gd name="T54" fmla="*/ 59 w 118"/>
              <a:gd name="T55" fmla="*/ 30 h 133"/>
              <a:gd name="T56" fmla="*/ 59 w 118"/>
              <a:gd name="T57" fmla="*/ 44 h 133"/>
              <a:gd name="T58" fmla="*/ 52 w 118"/>
              <a:gd name="T59" fmla="*/ 30 h 133"/>
              <a:gd name="T60" fmla="*/ 30 w 118"/>
              <a:gd name="T61" fmla="*/ 30 h 133"/>
              <a:gd name="T62" fmla="*/ 30 w 118"/>
              <a:gd name="T63" fmla="*/ 59 h 133"/>
              <a:gd name="T64" fmla="*/ 52 w 118"/>
              <a:gd name="T65" fmla="*/ 59 h 133"/>
              <a:gd name="T66" fmla="*/ 52 w 118"/>
              <a:gd name="T67" fmla="*/ 30 h 133"/>
              <a:gd name="T68" fmla="*/ 44 w 118"/>
              <a:gd name="T69" fmla="*/ 66 h 133"/>
              <a:gd name="T70" fmla="*/ 30 w 118"/>
              <a:gd name="T71" fmla="*/ 66 h 133"/>
              <a:gd name="T72" fmla="*/ 30 w 118"/>
              <a:gd name="T73" fmla="*/ 74 h 133"/>
              <a:gd name="T74" fmla="*/ 44 w 118"/>
              <a:gd name="T75" fmla="*/ 74 h 133"/>
              <a:gd name="T76" fmla="*/ 44 w 118"/>
              <a:gd name="T77" fmla="*/ 66 h 133"/>
              <a:gd name="T78" fmla="*/ 52 w 118"/>
              <a:gd name="T79" fmla="*/ 74 h 133"/>
              <a:gd name="T80" fmla="*/ 89 w 118"/>
              <a:gd name="T81" fmla="*/ 74 h 133"/>
              <a:gd name="T82" fmla="*/ 89 w 118"/>
              <a:gd name="T83" fmla="*/ 66 h 133"/>
              <a:gd name="T84" fmla="*/ 52 w 118"/>
              <a:gd name="T85" fmla="*/ 66 h 133"/>
              <a:gd name="T86" fmla="*/ 52 w 118"/>
              <a:gd name="T87" fmla="*/ 74 h 133"/>
              <a:gd name="T88" fmla="*/ 89 w 118"/>
              <a:gd name="T89" fmla="*/ 96 h 133"/>
              <a:gd name="T90" fmla="*/ 30 w 118"/>
              <a:gd name="T91" fmla="*/ 96 h 133"/>
              <a:gd name="T92" fmla="*/ 30 w 118"/>
              <a:gd name="T93" fmla="*/ 103 h 133"/>
              <a:gd name="T94" fmla="*/ 89 w 118"/>
              <a:gd name="T95" fmla="*/ 103 h 133"/>
              <a:gd name="T96" fmla="*/ 89 w 118"/>
              <a:gd name="T97" fmla="*/ 96 h 133"/>
              <a:gd name="T98" fmla="*/ 74 w 118"/>
              <a:gd name="T99" fmla="*/ 89 h 133"/>
              <a:gd name="T100" fmla="*/ 89 w 118"/>
              <a:gd name="T101" fmla="*/ 89 h 133"/>
              <a:gd name="T102" fmla="*/ 89 w 118"/>
              <a:gd name="T103" fmla="*/ 81 h 133"/>
              <a:gd name="T104" fmla="*/ 74 w 118"/>
              <a:gd name="T105" fmla="*/ 81 h 133"/>
              <a:gd name="T106" fmla="*/ 74 w 118"/>
              <a:gd name="T107" fmla="*/ 8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8" h="133">
                <a:moveTo>
                  <a:pt x="104" y="0"/>
                </a:moveTo>
                <a:cubicBezTo>
                  <a:pt x="15" y="0"/>
                  <a:pt x="15" y="0"/>
                  <a:pt x="15" y="0"/>
                </a:cubicBezTo>
                <a:cubicBezTo>
                  <a:pt x="7" y="0"/>
                  <a:pt x="0" y="7"/>
                  <a:pt x="0" y="15"/>
                </a:cubicBezTo>
                <a:cubicBezTo>
                  <a:pt x="0" y="118"/>
                  <a:pt x="0" y="118"/>
                  <a:pt x="0" y="118"/>
                </a:cubicBezTo>
                <a:cubicBezTo>
                  <a:pt x="0" y="126"/>
                  <a:pt x="7" y="133"/>
                  <a:pt x="15" y="133"/>
                </a:cubicBezTo>
                <a:cubicBezTo>
                  <a:pt x="104" y="133"/>
                  <a:pt x="104" y="133"/>
                  <a:pt x="104" y="133"/>
                </a:cubicBezTo>
                <a:cubicBezTo>
                  <a:pt x="112" y="133"/>
                  <a:pt x="118" y="126"/>
                  <a:pt x="118" y="118"/>
                </a:cubicBezTo>
                <a:cubicBezTo>
                  <a:pt x="118" y="15"/>
                  <a:pt x="118" y="15"/>
                  <a:pt x="118" y="15"/>
                </a:cubicBezTo>
                <a:cubicBezTo>
                  <a:pt x="118" y="7"/>
                  <a:pt x="112" y="0"/>
                  <a:pt x="104" y="0"/>
                </a:cubicBezTo>
                <a:close/>
                <a:moveTo>
                  <a:pt x="104" y="118"/>
                </a:moveTo>
                <a:cubicBezTo>
                  <a:pt x="15" y="118"/>
                  <a:pt x="15" y="118"/>
                  <a:pt x="15" y="118"/>
                </a:cubicBezTo>
                <a:cubicBezTo>
                  <a:pt x="15" y="15"/>
                  <a:pt x="15" y="15"/>
                  <a:pt x="15" y="15"/>
                </a:cubicBezTo>
                <a:cubicBezTo>
                  <a:pt x="104" y="15"/>
                  <a:pt x="104" y="15"/>
                  <a:pt x="104" y="15"/>
                </a:cubicBezTo>
                <a:lnTo>
                  <a:pt x="104" y="118"/>
                </a:lnTo>
                <a:close/>
                <a:moveTo>
                  <a:pt x="67" y="81"/>
                </a:moveTo>
                <a:cubicBezTo>
                  <a:pt x="30" y="81"/>
                  <a:pt x="30" y="81"/>
                  <a:pt x="30" y="81"/>
                </a:cubicBezTo>
                <a:cubicBezTo>
                  <a:pt x="30" y="89"/>
                  <a:pt x="30" y="89"/>
                  <a:pt x="30" y="89"/>
                </a:cubicBezTo>
                <a:cubicBezTo>
                  <a:pt x="67" y="89"/>
                  <a:pt x="67" y="89"/>
                  <a:pt x="67" y="89"/>
                </a:cubicBezTo>
                <a:lnTo>
                  <a:pt x="67" y="81"/>
                </a:lnTo>
                <a:close/>
                <a:moveTo>
                  <a:pt x="89" y="52"/>
                </a:moveTo>
                <a:cubicBezTo>
                  <a:pt x="59" y="52"/>
                  <a:pt x="59" y="52"/>
                  <a:pt x="59" y="52"/>
                </a:cubicBezTo>
                <a:cubicBezTo>
                  <a:pt x="59" y="59"/>
                  <a:pt x="59" y="59"/>
                  <a:pt x="59" y="59"/>
                </a:cubicBezTo>
                <a:cubicBezTo>
                  <a:pt x="89" y="59"/>
                  <a:pt x="89" y="59"/>
                  <a:pt x="89" y="59"/>
                </a:cubicBezTo>
                <a:lnTo>
                  <a:pt x="89" y="52"/>
                </a:lnTo>
                <a:close/>
                <a:moveTo>
                  <a:pt x="59" y="44"/>
                </a:moveTo>
                <a:cubicBezTo>
                  <a:pt x="89" y="44"/>
                  <a:pt x="89" y="44"/>
                  <a:pt x="89" y="44"/>
                </a:cubicBezTo>
                <a:cubicBezTo>
                  <a:pt x="89" y="30"/>
                  <a:pt x="89" y="30"/>
                  <a:pt x="89" y="30"/>
                </a:cubicBezTo>
                <a:cubicBezTo>
                  <a:pt x="59" y="30"/>
                  <a:pt x="59" y="30"/>
                  <a:pt x="59" y="30"/>
                </a:cubicBezTo>
                <a:lnTo>
                  <a:pt x="59" y="44"/>
                </a:lnTo>
                <a:close/>
                <a:moveTo>
                  <a:pt x="52" y="30"/>
                </a:moveTo>
                <a:cubicBezTo>
                  <a:pt x="30" y="30"/>
                  <a:pt x="30" y="30"/>
                  <a:pt x="30" y="30"/>
                </a:cubicBezTo>
                <a:cubicBezTo>
                  <a:pt x="30" y="59"/>
                  <a:pt x="30" y="59"/>
                  <a:pt x="30" y="59"/>
                </a:cubicBezTo>
                <a:cubicBezTo>
                  <a:pt x="52" y="59"/>
                  <a:pt x="52" y="59"/>
                  <a:pt x="52" y="59"/>
                </a:cubicBezTo>
                <a:lnTo>
                  <a:pt x="52" y="30"/>
                </a:lnTo>
                <a:close/>
                <a:moveTo>
                  <a:pt x="44" y="66"/>
                </a:moveTo>
                <a:cubicBezTo>
                  <a:pt x="30" y="66"/>
                  <a:pt x="30" y="66"/>
                  <a:pt x="30" y="66"/>
                </a:cubicBezTo>
                <a:cubicBezTo>
                  <a:pt x="30" y="74"/>
                  <a:pt x="30" y="74"/>
                  <a:pt x="30" y="74"/>
                </a:cubicBezTo>
                <a:cubicBezTo>
                  <a:pt x="44" y="74"/>
                  <a:pt x="44" y="74"/>
                  <a:pt x="44" y="74"/>
                </a:cubicBezTo>
                <a:lnTo>
                  <a:pt x="44" y="66"/>
                </a:lnTo>
                <a:close/>
                <a:moveTo>
                  <a:pt x="52" y="74"/>
                </a:moveTo>
                <a:cubicBezTo>
                  <a:pt x="89" y="74"/>
                  <a:pt x="89" y="74"/>
                  <a:pt x="89" y="74"/>
                </a:cubicBezTo>
                <a:cubicBezTo>
                  <a:pt x="89" y="66"/>
                  <a:pt x="89" y="66"/>
                  <a:pt x="89" y="66"/>
                </a:cubicBezTo>
                <a:cubicBezTo>
                  <a:pt x="52" y="66"/>
                  <a:pt x="52" y="66"/>
                  <a:pt x="52" y="66"/>
                </a:cubicBezTo>
                <a:lnTo>
                  <a:pt x="52" y="74"/>
                </a:lnTo>
                <a:close/>
                <a:moveTo>
                  <a:pt x="89" y="96"/>
                </a:moveTo>
                <a:cubicBezTo>
                  <a:pt x="30" y="96"/>
                  <a:pt x="30" y="96"/>
                  <a:pt x="30" y="96"/>
                </a:cubicBezTo>
                <a:cubicBezTo>
                  <a:pt x="30" y="103"/>
                  <a:pt x="30" y="103"/>
                  <a:pt x="30" y="103"/>
                </a:cubicBezTo>
                <a:cubicBezTo>
                  <a:pt x="89" y="103"/>
                  <a:pt x="89" y="103"/>
                  <a:pt x="89" y="103"/>
                </a:cubicBezTo>
                <a:lnTo>
                  <a:pt x="89" y="96"/>
                </a:lnTo>
                <a:close/>
                <a:moveTo>
                  <a:pt x="74" y="89"/>
                </a:moveTo>
                <a:cubicBezTo>
                  <a:pt x="89" y="89"/>
                  <a:pt x="89" y="89"/>
                  <a:pt x="89" y="89"/>
                </a:cubicBezTo>
                <a:cubicBezTo>
                  <a:pt x="89" y="81"/>
                  <a:pt x="89" y="81"/>
                  <a:pt x="89" y="81"/>
                </a:cubicBezTo>
                <a:cubicBezTo>
                  <a:pt x="74" y="81"/>
                  <a:pt x="74" y="81"/>
                  <a:pt x="74" y="81"/>
                </a:cubicBezTo>
                <a:lnTo>
                  <a:pt x="74" y="89"/>
                </a:lnTo>
                <a:close/>
              </a:path>
            </a:pathLst>
          </a:custGeom>
          <a:solidFill>
            <a:srgbClr val="86BC25"/>
          </a:solidFill>
          <a:ln>
            <a:noFill/>
          </a:ln>
        </p:spPr>
        <p:txBody>
          <a:bodyPr vert="horz" wrap="square" lIns="91440" tIns="45720" rIns="91440" bIns="45720" numCol="1" anchor="t" anchorCtr="0" compatLnSpc="1">
            <a:prstTxWarp prst="textNoShape">
              <a:avLst/>
            </a:prstTxWarp>
          </a:bodyPr>
          <a:lstStyle/>
          <a:p>
            <a:endParaRPr lang="en-US" sz="1400"/>
          </a:p>
        </p:txBody>
      </p:sp>
    </p:spTree>
    <p:extLst>
      <p:ext uri="{BB962C8B-B14F-4D97-AF65-F5344CB8AC3E}">
        <p14:creationId xmlns:p14="http://schemas.microsoft.com/office/powerpoint/2010/main" val="9380509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3"/>
          <p:cNvSpPr txBox="1">
            <a:spLocks/>
          </p:cNvSpPr>
          <p:nvPr/>
        </p:nvSpPr>
        <p:spPr>
          <a:xfrm>
            <a:off x="511071" y="862074"/>
            <a:ext cx="11193476" cy="421450"/>
          </a:xfrm>
          <a:prstGeom prst="rect">
            <a:avLst/>
          </a:prstGeom>
        </p:spPr>
        <p:txBody>
          <a:bodyPr vert="horz" lIns="0" tIns="0" rIns="0" bIns="0" rtlCol="0">
            <a:noAutofit/>
          </a:bodyPr>
          <a:lstStyle>
            <a:lvl1pPr marL="0" indent="0" algn="l" defTabSz="1036337" rtl="0" eaLnBrk="1" latinLnBrk="0" hangingPunct="1">
              <a:spcBef>
                <a:spcPts val="0"/>
              </a:spcBef>
              <a:spcAft>
                <a:spcPts val="1134"/>
              </a:spcAft>
              <a:buSzPct val="100000"/>
              <a:buFont typeface="Arial" panose="020B0604020202020204" pitchFamily="34" charset="0"/>
              <a:buNone/>
              <a:defRPr sz="1028" b="0" kern="1200">
                <a:solidFill>
                  <a:schemeClr val="tx1"/>
                </a:solidFill>
                <a:latin typeface="+mn-lt"/>
                <a:ea typeface="+mn-ea"/>
                <a:cs typeface="+mn-cs"/>
              </a:defRPr>
            </a:lvl1pPr>
            <a:lvl2pPr marL="0" indent="0" algn="l" defTabSz="1036337" rtl="0" eaLnBrk="1" latinLnBrk="0" hangingPunct="1">
              <a:spcBef>
                <a:spcPts val="0"/>
              </a:spcBef>
              <a:spcAft>
                <a:spcPts val="1134"/>
              </a:spcAft>
              <a:buClrTx/>
              <a:buSzPct val="100000"/>
              <a:buFont typeface="Arial"/>
              <a:buNone/>
              <a:defRPr lang="en-US" sz="1028" b="1" kern="1200" dirty="0" smtClean="0">
                <a:solidFill>
                  <a:schemeClr val="tx1"/>
                </a:solidFill>
                <a:latin typeface="+mn-lt"/>
                <a:ea typeface="+mn-ea"/>
                <a:cs typeface="+mn-cs"/>
              </a:defRPr>
            </a:lvl2pPr>
            <a:lvl3pPr marL="199924" indent="-199924" algn="l" defTabSz="1036337" rtl="0" eaLnBrk="1" latinLnBrk="0" hangingPunct="1">
              <a:spcBef>
                <a:spcPts val="0"/>
              </a:spcBef>
              <a:spcAft>
                <a:spcPts val="1134"/>
              </a:spcAft>
              <a:buClrTx/>
              <a:buSzPct val="100000"/>
              <a:buFont typeface="Arial" panose="020B0604020202020204" pitchFamily="34" charset="0"/>
              <a:buChar char="•"/>
              <a:defRPr lang="en-US" sz="1028" kern="1200" dirty="0" smtClean="0">
                <a:solidFill>
                  <a:schemeClr val="tx1"/>
                </a:solidFill>
                <a:latin typeface="+mn-lt"/>
                <a:ea typeface="+mn-ea"/>
                <a:cs typeface="+mn-cs"/>
              </a:defRPr>
            </a:lvl3pPr>
            <a:lvl4pPr marL="403927" indent="-199924" algn="l" defTabSz="1036337" rtl="0" eaLnBrk="1" latinLnBrk="0" hangingPunct="1">
              <a:spcBef>
                <a:spcPts val="0"/>
              </a:spcBef>
              <a:spcAft>
                <a:spcPts val="1134"/>
              </a:spcAft>
              <a:buClrTx/>
              <a:buSzPct val="100000"/>
              <a:buFont typeface="Verdana" panose="020B0604030504040204" pitchFamily="34" charset="0"/>
              <a:buChar char="−"/>
              <a:defRPr lang="en-US" sz="1028" kern="1200" baseline="0" dirty="0" smtClean="0">
                <a:solidFill>
                  <a:schemeClr val="tx1"/>
                </a:solidFill>
                <a:latin typeface="+mn-lt"/>
                <a:ea typeface="+mn-ea"/>
                <a:cs typeface="+mn-cs"/>
              </a:defRPr>
            </a:lvl4pPr>
            <a:lvl5pPr marL="603851" indent="-199924" algn="l" defTabSz="904996" rtl="0" eaLnBrk="1" latinLnBrk="0" hangingPunct="1">
              <a:spcBef>
                <a:spcPts val="0"/>
              </a:spcBef>
              <a:spcAft>
                <a:spcPts val="1134"/>
              </a:spcAft>
              <a:buClrTx/>
              <a:buSzPct val="100000"/>
              <a:buFont typeface="Verdana" panose="020B0604030504040204" pitchFamily="34" charset="0"/>
              <a:buChar char="−"/>
              <a:tabLst/>
              <a:defRPr lang="en-US" sz="1028" kern="1200" baseline="0" dirty="0" smtClean="0">
                <a:solidFill>
                  <a:schemeClr val="tx1"/>
                </a:solidFill>
                <a:latin typeface="+mn-lt"/>
                <a:ea typeface="+mn-ea"/>
                <a:cs typeface="+mn-cs"/>
              </a:defRPr>
            </a:lvl5pPr>
            <a:lvl6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6pPr>
            <a:lvl7pPr marL="603851" indent="-199924" algn="l" defTabSz="1036337" rtl="0" eaLnBrk="1" latinLnBrk="0" hangingPunct="1">
              <a:spcBef>
                <a:spcPts val="0"/>
              </a:spcBef>
              <a:spcAft>
                <a:spcPts val="1134"/>
              </a:spcAft>
              <a:buFont typeface="Verdana" panose="020B0604030504040204" pitchFamily="34" charset="0"/>
              <a:buChar char="−"/>
              <a:defRPr sz="1360" kern="1200">
                <a:solidFill>
                  <a:schemeClr val="tx1"/>
                </a:solidFill>
                <a:latin typeface="+mn-lt"/>
                <a:ea typeface="+mn-ea"/>
                <a:cs typeface="+mn-cs"/>
              </a:defRPr>
            </a:lvl7pPr>
            <a:lvl8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8pPr>
            <a:lvl9pPr marL="603851" indent="-199924" algn="l" defTabSz="1036337" rtl="0" eaLnBrk="1" latinLnBrk="0" hangingPunct="1">
              <a:spcBef>
                <a:spcPts val="0"/>
              </a:spcBef>
              <a:spcAft>
                <a:spcPts val="1134"/>
              </a:spcAft>
              <a:buFont typeface="Verdana" panose="020B0604030504040204" pitchFamily="34" charset="0"/>
              <a:buChar char="−"/>
              <a:defRPr sz="1360" kern="1200" baseline="0">
                <a:solidFill>
                  <a:schemeClr val="tx1"/>
                </a:solidFill>
                <a:latin typeface="+mn-lt"/>
                <a:ea typeface="+mn-ea"/>
                <a:cs typeface="+mn-cs"/>
              </a:defRPr>
            </a:lvl9pPr>
          </a:lstStyle>
          <a:p>
            <a:pPr defTabSz="914464">
              <a:spcAft>
                <a:spcPts val="1001"/>
              </a:spcAft>
            </a:pPr>
            <a:r>
              <a:rPr lang="en-US" sz="1588" dirty="0">
                <a:solidFill>
                  <a:prstClr val="black"/>
                </a:solidFill>
                <a:latin typeface="Verdana"/>
              </a:rPr>
              <a:t>PMO for refinery upgradation project</a:t>
            </a:r>
          </a:p>
          <a:p>
            <a:pPr defTabSz="914464">
              <a:spcAft>
                <a:spcPts val="1001"/>
              </a:spcAft>
            </a:pPr>
            <a:endParaRPr lang="en-US" sz="1588" b="1" dirty="0">
              <a:solidFill>
                <a:prstClr val="black"/>
              </a:solidFill>
              <a:latin typeface="Verdana"/>
            </a:endParaRPr>
          </a:p>
        </p:txBody>
      </p:sp>
      <p:sp>
        <p:nvSpPr>
          <p:cNvPr id="17" name="Title 2"/>
          <p:cNvSpPr>
            <a:spLocks noGrp="1"/>
          </p:cNvSpPr>
          <p:nvPr>
            <p:ph type="title"/>
          </p:nvPr>
        </p:nvSpPr>
        <p:spPr>
          <a:xfrm>
            <a:off x="511070" y="324773"/>
            <a:ext cx="11193476" cy="334102"/>
          </a:xfrm>
        </p:spPr>
        <p:txBody>
          <a:bodyPr/>
          <a:lstStyle/>
          <a:p>
            <a:pPr defTabSz="914464">
              <a:spcBef>
                <a:spcPts val="0"/>
              </a:spcBef>
              <a:spcAft>
                <a:spcPts val="1001"/>
              </a:spcAft>
              <a:buSzPct val="100000"/>
            </a:pPr>
            <a:r>
              <a:rPr lang="en-US" sz="2000" b="1" dirty="0"/>
              <a:t>Case Study – 2: A leading public sector OMC in India</a:t>
            </a:r>
          </a:p>
        </p:txBody>
      </p:sp>
      <p:grpSp>
        <p:nvGrpSpPr>
          <p:cNvPr id="3" name="Group 2"/>
          <p:cNvGrpSpPr/>
          <p:nvPr/>
        </p:nvGrpSpPr>
        <p:grpSpPr>
          <a:xfrm>
            <a:off x="6113942" y="3697091"/>
            <a:ext cx="5559255" cy="2686007"/>
            <a:chOff x="6684843" y="4282633"/>
            <a:chExt cx="6300489" cy="3044141"/>
          </a:xfrm>
        </p:grpSpPr>
        <p:sp>
          <p:nvSpPr>
            <p:cNvPr id="29" name="Rectangle 28"/>
            <p:cNvSpPr/>
            <p:nvPr/>
          </p:nvSpPr>
          <p:spPr bwMode="gray">
            <a:xfrm>
              <a:off x="6684843" y="4282633"/>
              <a:ext cx="6300489" cy="3044141"/>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wrap="square" lIns="78441" tIns="78441" rIns="78441" bIns="78441" rtlCol="0" anchor="ctr"/>
            <a:lstStyle/>
            <a:p>
              <a:pPr algn="ctr" defTabSz="1088376">
                <a:lnSpc>
                  <a:spcPct val="106000"/>
                </a:lnSpc>
              </a:pPr>
              <a:endParaRPr lang="en-IN" sz="1235" b="1" dirty="0">
                <a:solidFill>
                  <a:prstClr val="white"/>
                </a:solidFill>
                <a:latin typeface="Verdana"/>
              </a:endParaRPr>
            </a:p>
          </p:txBody>
        </p:sp>
        <p:sp>
          <p:nvSpPr>
            <p:cNvPr id="18" name="Rectangle 17"/>
            <p:cNvSpPr/>
            <p:nvPr/>
          </p:nvSpPr>
          <p:spPr>
            <a:xfrm>
              <a:off x="6720370" y="4392239"/>
              <a:ext cx="4654682" cy="383694"/>
            </a:xfrm>
            <a:prstGeom prst="rect">
              <a:avLst/>
            </a:prstGeom>
          </p:spPr>
          <p:txBody>
            <a:bodyPr wrap="square">
              <a:spAutoFit/>
            </a:bodyPr>
            <a:lstStyle/>
            <a:p>
              <a:pPr defTabSz="1088376"/>
              <a:r>
                <a:rPr lang="en-US" sz="1600" b="1" dirty="0">
                  <a:solidFill>
                    <a:srgbClr val="86BC25"/>
                  </a:solidFill>
                  <a:latin typeface="Verdana"/>
                </a:rPr>
                <a:t>Illustrative Outputs</a:t>
              </a:r>
            </a:p>
          </p:txBody>
        </p:sp>
      </p:grpSp>
      <p:grpSp>
        <p:nvGrpSpPr>
          <p:cNvPr id="45" name="Group 44"/>
          <p:cNvGrpSpPr/>
          <p:nvPr/>
        </p:nvGrpSpPr>
        <p:grpSpPr>
          <a:xfrm>
            <a:off x="511068" y="3697093"/>
            <a:ext cx="5498395" cy="2798670"/>
            <a:chOff x="6684843" y="4282633"/>
            <a:chExt cx="6300489" cy="3171824"/>
          </a:xfrm>
        </p:grpSpPr>
        <p:sp>
          <p:nvSpPr>
            <p:cNvPr id="46" name="Rectangle 45"/>
            <p:cNvSpPr/>
            <p:nvPr/>
          </p:nvSpPr>
          <p:spPr bwMode="gray">
            <a:xfrm>
              <a:off x="6684843" y="4282633"/>
              <a:ext cx="6300489" cy="3044141"/>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wrap="square" lIns="78441" tIns="78441" rIns="78441" bIns="78441" rtlCol="0" anchor="ctr"/>
            <a:lstStyle/>
            <a:p>
              <a:pPr algn="ctr" defTabSz="1088376">
                <a:lnSpc>
                  <a:spcPct val="106000"/>
                </a:lnSpc>
              </a:pPr>
              <a:endParaRPr lang="en-IN" sz="1235" b="1" dirty="0">
                <a:solidFill>
                  <a:prstClr val="white"/>
                </a:solidFill>
                <a:latin typeface="Verdana"/>
              </a:endParaRPr>
            </a:p>
          </p:txBody>
        </p:sp>
        <p:sp>
          <p:nvSpPr>
            <p:cNvPr id="48" name="Rectangle 47"/>
            <p:cNvSpPr/>
            <p:nvPr/>
          </p:nvSpPr>
          <p:spPr>
            <a:xfrm>
              <a:off x="6725229" y="4392239"/>
              <a:ext cx="6260103" cy="3062218"/>
            </a:xfrm>
            <a:prstGeom prst="rect">
              <a:avLst/>
            </a:prstGeom>
          </p:spPr>
          <p:txBody>
            <a:bodyPr wrap="square">
              <a:spAutoFit/>
            </a:bodyPr>
            <a:lstStyle/>
            <a:p>
              <a:pPr defTabSz="1088376"/>
              <a:r>
                <a:rPr lang="en-US" sz="1600" b="1" dirty="0">
                  <a:solidFill>
                    <a:srgbClr val="86BC25"/>
                  </a:solidFill>
                  <a:latin typeface="Verdana"/>
                </a:rPr>
                <a:t>Capabilities Demonstrated, Benefits Realized</a:t>
              </a:r>
            </a:p>
            <a:p>
              <a:pPr marL="151176" indent="-151176" defTabSz="806268" fontAlgn="base">
                <a:spcBef>
                  <a:spcPct val="50000"/>
                </a:spcBef>
                <a:spcAft>
                  <a:spcPct val="0"/>
                </a:spcAft>
                <a:buFont typeface="Arial" panose="020B0604020202020204" pitchFamily="34" charset="0"/>
                <a:buChar char="•"/>
              </a:pPr>
              <a:r>
                <a:rPr lang="en-US" altLang="en-US" sz="1059" b="1" dirty="0">
                  <a:solidFill>
                    <a:prstClr val="black"/>
                  </a:solidFill>
                  <a:latin typeface="Verdana"/>
                </a:rPr>
                <a:t>Phase 1</a:t>
              </a:r>
              <a:r>
                <a:rPr lang="en-US" altLang="en-US" sz="1059" dirty="0">
                  <a:solidFill>
                    <a:prstClr val="black"/>
                  </a:solidFill>
                  <a:latin typeface="Verdana"/>
                </a:rPr>
                <a:t> – Design and formulate the monitoring strategy and overall framework</a:t>
              </a:r>
            </a:p>
            <a:p>
              <a:pPr marL="151176" indent="-151176" defTabSz="806268" fontAlgn="base">
                <a:spcBef>
                  <a:spcPct val="50000"/>
                </a:spcBef>
                <a:spcAft>
                  <a:spcPct val="0"/>
                </a:spcAft>
                <a:buFont typeface="Arial" panose="020B0604020202020204" pitchFamily="34" charset="0"/>
                <a:buChar char="•"/>
              </a:pPr>
              <a:r>
                <a:rPr lang="en-US" altLang="en-US" sz="1059" b="1" dirty="0">
                  <a:solidFill>
                    <a:prstClr val="black"/>
                  </a:solidFill>
                  <a:latin typeface="Verdana"/>
                </a:rPr>
                <a:t>Phase 2</a:t>
              </a:r>
              <a:r>
                <a:rPr lang="en-US" altLang="en-US" sz="1059" dirty="0">
                  <a:solidFill>
                    <a:prstClr val="black"/>
                  </a:solidFill>
                  <a:latin typeface="Verdana"/>
                </a:rPr>
                <a:t> – Handholding and capability development to OMC team</a:t>
              </a:r>
            </a:p>
            <a:p>
              <a:pPr marL="151176" indent="-151176" defTabSz="806268" fontAlgn="base">
                <a:spcBef>
                  <a:spcPct val="50000"/>
                </a:spcBef>
                <a:spcAft>
                  <a:spcPct val="0"/>
                </a:spcAft>
                <a:buFont typeface="Arial" panose="020B0604020202020204" pitchFamily="34" charset="0"/>
                <a:buChar char="•"/>
              </a:pPr>
              <a:r>
                <a:rPr lang="en-US" sz="1059" b="1" dirty="0">
                  <a:solidFill>
                    <a:prstClr val="black"/>
                  </a:solidFill>
                  <a:latin typeface="Verdana"/>
                  <a:sym typeface="Calibri" panose="020F0502020204030204" pitchFamily="34" charset="0"/>
                </a:rPr>
                <a:t>Phase 3</a:t>
              </a:r>
              <a:r>
                <a:rPr lang="en-US" sz="1059" dirty="0">
                  <a:solidFill>
                    <a:prstClr val="black"/>
                  </a:solidFill>
                  <a:latin typeface="Verdana"/>
                  <a:sym typeface="Calibri" panose="020F0502020204030204" pitchFamily="34" charset="0"/>
                </a:rPr>
                <a:t> – Independent review of project progress using digital project management tools &amp; systems</a:t>
              </a:r>
            </a:p>
            <a:p>
              <a:pPr marL="151176" indent="-151176" defTabSz="806268" fontAlgn="base">
                <a:spcBef>
                  <a:spcPct val="50000"/>
                </a:spcBef>
                <a:spcAft>
                  <a:spcPct val="0"/>
                </a:spcAft>
                <a:buFont typeface="Arial" panose="020B0604020202020204" pitchFamily="34" charset="0"/>
                <a:buChar char="•"/>
              </a:pPr>
              <a:endParaRPr lang="en-US" sz="1059" dirty="0">
                <a:solidFill>
                  <a:prstClr val="black"/>
                </a:solidFill>
                <a:latin typeface="Verdana"/>
                <a:sym typeface="Calibri" panose="020F0502020204030204" pitchFamily="34" charset="0"/>
              </a:endParaRPr>
            </a:p>
            <a:p>
              <a:pPr defTabSz="806268" fontAlgn="base">
                <a:spcBef>
                  <a:spcPct val="50000"/>
                </a:spcBef>
                <a:spcAft>
                  <a:spcPct val="0"/>
                </a:spcAft>
              </a:pPr>
              <a:r>
                <a:rPr lang="en-US" altLang="en-US" sz="1059" b="1" dirty="0">
                  <a:solidFill>
                    <a:prstClr val="black"/>
                  </a:solidFill>
                  <a:latin typeface="Verdana"/>
                </a:rPr>
                <a:t>Result</a:t>
              </a:r>
            </a:p>
            <a:p>
              <a:pPr marL="151176" indent="-151176" defTabSz="806268" fontAlgn="base">
                <a:spcBef>
                  <a:spcPct val="50000"/>
                </a:spcBef>
                <a:spcAft>
                  <a:spcPct val="0"/>
                </a:spcAft>
                <a:buFont typeface="Arial" panose="020B0604020202020204" pitchFamily="34" charset="0"/>
                <a:buChar char="•"/>
              </a:pPr>
              <a:r>
                <a:rPr lang="en-US" altLang="en-US" sz="1059" dirty="0">
                  <a:solidFill>
                    <a:prstClr val="black"/>
                  </a:solidFill>
                  <a:latin typeface="Verdana"/>
                </a:rPr>
                <a:t>Efficient project governance framework &amp; application of digital PM tools has enabled BPCL to maintain project control despite various </a:t>
              </a:r>
              <a:r>
                <a:rPr lang="en-US" altLang="en-US" sz="1059" dirty="0">
                  <a:solidFill>
                    <a:prstClr val="black"/>
                  </a:solidFill>
                </a:rPr>
                <a:t>uncertainties </a:t>
              </a:r>
              <a:endParaRPr lang="en-US" sz="1059" dirty="0">
                <a:solidFill>
                  <a:prstClr val="black"/>
                </a:solidFill>
                <a:sym typeface="Calibri" panose="020F0502020204030204" pitchFamily="34" charset="0"/>
              </a:endParaRPr>
            </a:p>
            <a:p>
              <a:pPr marL="151176" indent="-151176" defTabSz="806268" fontAlgn="base">
                <a:spcBef>
                  <a:spcPct val="50000"/>
                </a:spcBef>
                <a:spcAft>
                  <a:spcPct val="0"/>
                </a:spcAft>
                <a:buFont typeface="Arial" panose="020B0604020202020204" pitchFamily="34" charset="0"/>
                <a:buChar char="•"/>
              </a:pPr>
              <a:r>
                <a:rPr lang="en-US" altLang="en-US" sz="1059" dirty="0">
                  <a:solidFill>
                    <a:prstClr val="black"/>
                  </a:solidFill>
                  <a:latin typeface="Verdana"/>
                </a:rPr>
                <a:t>Standardization of project governance frameworks have enabled BPCL team to take up future expansions more efficiently</a:t>
              </a:r>
            </a:p>
          </p:txBody>
        </p:sp>
      </p:grpSp>
      <p:sp>
        <p:nvSpPr>
          <p:cNvPr id="51" name="Rectangle 50"/>
          <p:cNvSpPr/>
          <p:nvPr/>
        </p:nvSpPr>
        <p:spPr>
          <a:xfrm>
            <a:off x="493141" y="1447712"/>
            <a:ext cx="5498394" cy="1957564"/>
          </a:xfrm>
          <a:prstGeom prst="rect">
            <a:avLst/>
          </a:prstGeom>
        </p:spPr>
        <p:txBody>
          <a:bodyPr wrap="square" lIns="80622" tIns="40311" rIns="80622" bIns="40311" anchor="ctr">
            <a:spAutoFit/>
          </a:bodyPr>
          <a:lstStyle/>
          <a:p>
            <a:pPr defTabSz="1088376" fontAlgn="base">
              <a:spcBef>
                <a:spcPct val="50000"/>
              </a:spcBef>
              <a:spcAft>
                <a:spcPct val="0"/>
              </a:spcAft>
            </a:pPr>
            <a:r>
              <a:rPr lang="en-US" altLang="en-US" sz="1600" b="1" dirty="0">
                <a:solidFill>
                  <a:srgbClr val="86BC25"/>
                </a:solidFill>
                <a:latin typeface="Verdana"/>
              </a:rPr>
              <a:t>Business Background and Key Challenges</a:t>
            </a:r>
          </a:p>
          <a:p>
            <a:pPr marL="151176" indent="-151176" defTabSz="806268" fontAlgn="base">
              <a:spcBef>
                <a:spcPct val="50000"/>
              </a:spcBef>
              <a:spcAft>
                <a:spcPct val="0"/>
              </a:spcAft>
              <a:buFont typeface="Arial" panose="020B0604020202020204" pitchFamily="34" charset="0"/>
              <a:buChar char="•"/>
            </a:pPr>
            <a:r>
              <a:rPr lang="en-US" altLang="en-US" sz="1059" dirty="0">
                <a:solidFill>
                  <a:prstClr val="black"/>
                </a:solidFill>
                <a:latin typeface="Verdana"/>
              </a:rPr>
              <a:t>One of the OMC's has undertaken an upgradation project at its refinery' to maximize and upgrade Motor Spirit and diesel processing capabilities to meet BS VI fuel specifications by 1st April 2020. The project will be implemented partly by LSTK route and partly by conventional project execution methodology. </a:t>
            </a:r>
          </a:p>
          <a:p>
            <a:pPr marL="151176" indent="-151176" defTabSz="806268" fontAlgn="base">
              <a:spcBef>
                <a:spcPct val="50000"/>
              </a:spcBef>
              <a:spcAft>
                <a:spcPct val="0"/>
              </a:spcAft>
              <a:buFont typeface="Arial" panose="020B0604020202020204" pitchFamily="34" charset="0"/>
              <a:buChar char="•"/>
            </a:pPr>
            <a:r>
              <a:rPr lang="en-US" altLang="en-US" sz="1059" dirty="0">
                <a:solidFill>
                  <a:prstClr val="black"/>
                </a:solidFill>
                <a:latin typeface="Verdana"/>
              </a:rPr>
              <a:t>The OMC has engaged Deloitte for designing, setting up and operating a Project Management Office (PMO). PMO will be responsible for planning, scheduling, monitoring, reporting and controlling the project related activities of all stake holders </a:t>
            </a:r>
          </a:p>
        </p:txBody>
      </p:sp>
      <p:sp>
        <p:nvSpPr>
          <p:cNvPr id="52" name="Rectangle 51"/>
          <p:cNvSpPr/>
          <p:nvPr/>
        </p:nvSpPr>
        <p:spPr>
          <a:xfrm>
            <a:off x="6211238" y="1470237"/>
            <a:ext cx="5559256" cy="2120557"/>
          </a:xfrm>
          <a:prstGeom prst="rect">
            <a:avLst/>
          </a:prstGeom>
        </p:spPr>
        <p:txBody>
          <a:bodyPr wrap="square" lIns="80622" tIns="40311" rIns="80622" bIns="40311" anchor="ctr">
            <a:spAutoFit/>
          </a:bodyPr>
          <a:lstStyle/>
          <a:p>
            <a:pPr defTabSz="1088376" fontAlgn="base">
              <a:spcAft>
                <a:spcPct val="0"/>
              </a:spcAft>
            </a:pPr>
            <a:r>
              <a:rPr lang="en-US" altLang="en-US" sz="1600" b="1" dirty="0">
                <a:solidFill>
                  <a:srgbClr val="86BC25"/>
                </a:solidFill>
                <a:latin typeface="Verdana"/>
              </a:rPr>
              <a:t>Scope and Approach</a:t>
            </a:r>
          </a:p>
          <a:p>
            <a:pPr marL="151287" indent="-151287" algn="just" defTabSz="1088376">
              <a:buFont typeface="Arial" panose="020B0604020202020204" pitchFamily="34" charset="0"/>
              <a:buChar char="•"/>
            </a:pPr>
            <a:endParaRPr lang="en-US" sz="1059" dirty="0">
              <a:solidFill>
                <a:prstClr val="black"/>
              </a:solidFill>
              <a:latin typeface="Verdana"/>
              <a:ea typeface="Verdana" panose="020B0604030504040204" pitchFamily="34" charset="0"/>
              <a:cs typeface="Verdana" panose="020B0604030504040204" pitchFamily="34" charset="0"/>
            </a:endParaRPr>
          </a:p>
          <a:p>
            <a:pPr marL="151287" indent="-151287" algn="just" defTabSz="1088376">
              <a:buFont typeface="Arial" panose="020B0604020202020204" pitchFamily="34" charset="0"/>
              <a:buChar char="•"/>
            </a:pPr>
            <a:r>
              <a:rPr lang="en-US" sz="1059" dirty="0">
                <a:solidFill>
                  <a:prstClr val="black"/>
                </a:solidFill>
                <a:latin typeface="Verdana"/>
                <a:ea typeface="Verdana" panose="020B0604030504040204" pitchFamily="34" charset="0"/>
                <a:cs typeface="Verdana" panose="020B0604030504040204" pitchFamily="34" charset="0"/>
              </a:rPr>
              <a:t>Deloitte was engaged a consultant for designing, setting up and operating a PMO. PMO will be responsible for planning, scheduling, monitoring, reporting and controlling the project related activities of all stake holders.</a:t>
            </a:r>
          </a:p>
          <a:p>
            <a:pPr algn="just" defTabSz="1088376"/>
            <a:endParaRPr lang="en-US" sz="1059" dirty="0">
              <a:solidFill>
                <a:prstClr val="black"/>
              </a:solidFill>
              <a:latin typeface="Verdana"/>
              <a:ea typeface="Verdana" panose="020B0604030504040204" pitchFamily="34" charset="0"/>
              <a:cs typeface="Verdana" panose="020B0604030504040204" pitchFamily="34" charset="0"/>
            </a:endParaRPr>
          </a:p>
          <a:p>
            <a:pPr marL="151287" indent="-151287" algn="just" defTabSz="1088376">
              <a:buFont typeface="Arial" panose="020B0604020202020204" pitchFamily="34" charset="0"/>
              <a:buChar char="•"/>
            </a:pPr>
            <a:r>
              <a:rPr lang="en-US" sz="1059" dirty="0">
                <a:solidFill>
                  <a:prstClr val="black"/>
                </a:solidFill>
                <a:latin typeface="Verdana"/>
                <a:ea typeface="Verdana" panose="020B0604030504040204" pitchFamily="34" charset="0"/>
              </a:rPr>
              <a:t>Key tasks include-</a:t>
            </a:r>
          </a:p>
          <a:p>
            <a:pPr marL="628650" lvl="1" indent="-171450" algn="just" defTabSz="1088376">
              <a:buFont typeface="Courier New" panose="02070309020205020404" pitchFamily="49" charset="0"/>
              <a:buChar char="o"/>
            </a:pPr>
            <a:r>
              <a:rPr lang="en-US" sz="1059" dirty="0">
                <a:solidFill>
                  <a:prstClr val="black"/>
                </a:solidFill>
                <a:latin typeface="Verdana"/>
                <a:ea typeface="Verdana" panose="020B0604030504040204" pitchFamily="34" charset="0"/>
              </a:rPr>
              <a:t>Creation of an integrated project schedule</a:t>
            </a:r>
          </a:p>
          <a:p>
            <a:pPr marL="628650" lvl="1" indent="-171450" algn="just" defTabSz="1088376">
              <a:buFont typeface="Courier New" panose="02070309020205020404" pitchFamily="49" charset="0"/>
              <a:buChar char="o"/>
            </a:pPr>
            <a:r>
              <a:rPr lang="en-US" sz="1059" dirty="0">
                <a:solidFill>
                  <a:prstClr val="black"/>
                </a:solidFill>
                <a:latin typeface="Verdana"/>
                <a:ea typeface="Verdana" panose="020B0604030504040204" pitchFamily="34" charset="0"/>
              </a:rPr>
              <a:t>Application of digital PM tools for constructability &amp; visualization</a:t>
            </a:r>
          </a:p>
          <a:p>
            <a:pPr marL="628650" lvl="1" indent="-171450" algn="just" defTabSz="1088376">
              <a:buFont typeface="Courier New" panose="02070309020205020404" pitchFamily="49" charset="0"/>
              <a:buChar char="o"/>
            </a:pPr>
            <a:r>
              <a:rPr lang="en-US" sz="1059" dirty="0">
                <a:solidFill>
                  <a:prstClr val="black"/>
                </a:solidFill>
                <a:latin typeface="Verdana"/>
                <a:ea typeface="Verdana" panose="020B0604030504040204" pitchFamily="34" charset="0"/>
              </a:rPr>
              <a:t>Carry out risk management and monitoring exercise</a:t>
            </a:r>
          </a:p>
          <a:p>
            <a:pPr marL="628650" lvl="1" indent="-171450" algn="just" defTabSz="1088376">
              <a:buFont typeface="Courier New" panose="02070309020205020404" pitchFamily="49" charset="0"/>
              <a:buChar char="o"/>
            </a:pPr>
            <a:r>
              <a:rPr lang="en-US" sz="1059" dirty="0">
                <a:solidFill>
                  <a:prstClr val="black"/>
                </a:solidFill>
                <a:latin typeface="Verdana"/>
                <a:ea typeface="Verdana" panose="020B0604030504040204" pitchFamily="34" charset="0"/>
              </a:rPr>
              <a:t>Coordination across consultants, vendors &amp; suppliers</a:t>
            </a:r>
          </a:p>
          <a:p>
            <a:pPr marL="628650" lvl="1" indent="-171450" algn="just" defTabSz="1088376">
              <a:buFont typeface="Courier New" panose="02070309020205020404" pitchFamily="49" charset="0"/>
              <a:buChar char="o"/>
            </a:pPr>
            <a:r>
              <a:rPr lang="en-US" sz="1059" dirty="0">
                <a:solidFill>
                  <a:prstClr val="black"/>
                </a:solidFill>
                <a:latin typeface="Verdana"/>
                <a:ea typeface="Verdana" panose="020B0604030504040204" pitchFamily="34" charset="0"/>
              </a:rPr>
              <a:t>Escalation of execution issues and suggesting mitigation strategies</a:t>
            </a:r>
            <a:endParaRPr lang="en-AU" sz="1059" dirty="0">
              <a:solidFill>
                <a:srgbClr val="000000"/>
              </a:solidFill>
              <a:latin typeface="Verdana"/>
            </a:endParaRPr>
          </a:p>
        </p:txBody>
      </p:sp>
      <p:sp>
        <p:nvSpPr>
          <p:cNvPr id="53" name="Isosceles Triangle 52"/>
          <p:cNvSpPr/>
          <p:nvPr/>
        </p:nvSpPr>
        <p:spPr bwMode="auto">
          <a:xfrm rot="10800000">
            <a:off x="3887253" y="3591627"/>
            <a:ext cx="4208564" cy="146753"/>
          </a:xfrm>
          <a:prstGeom prst="triangle">
            <a:avLst>
              <a:gd name="adj" fmla="val 50426"/>
            </a:avLst>
          </a:prstGeom>
          <a:solidFill>
            <a:srgbClr val="FFFFFF">
              <a:lumMod val="85000"/>
            </a:srgbClr>
          </a:solidFill>
          <a:ln w="12700" cap="flat" cmpd="sng" algn="ctr">
            <a:noFill/>
            <a:prstDash val="solid"/>
            <a:round/>
            <a:headEnd type="none" w="med" len="med"/>
            <a:tailEnd type="none" w="med" len="med"/>
          </a:ln>
          <a:effectLst/>
        </p:spPr>
        <p:txBody>
          <a:bodyPr vert="horz" wrap="square" lIns="72000" tIns="72000" rIns="72000" bIns="72000" numCol="1" rtlCol="0" anchor="ctr" anchorCtr="1" compatLnSpc="1">
            <a:prstTxWarp prst="textNoShape">
              <a:avLst/>
            </a:prstTxWarp>
          </a:bodyPr>
          <a:lstStyle/>
          <a:p>
            <a:pPr algn="ctr" defTabSz="1088376" eaLnBrk="0" fontAlgn="base" hangingPunct="0">
              <a:lnSpc>
                <a:spcPct val="106000"/>
              </a:lnSpc>
              <a:spcBef>
                <a:spcPct val="0"/>
              </a:spcBef>
              <a:spcAft>
                <a:spcPct val="0"/>
              </a:spcAft>
              <a:defRPr/>
            </a:pPr>
            <a:endParaRPr lang="en-US" sz="927" kern="0" dirty="0">
              <a:solidFill>
                <a:srgbClr val="000000"/>
              </a:solidFill>
              <a:latin typeface="Verdana"/>
              <a:cs typeface="Arial" charset="0"/>
              <a:sym typeface="Calibri" panose="020F0502020204030204" pitchFamily="34" charset="0"/>
            </a:endParaRPr>
          </a:p>
        </p:txBody>
      </p:sp>
      <p:cxnSp>
        <p:nvCxnSpPr>
          <p:cNvPr id="54" name="Straight Connector 53"/>
          <p:cNvCxnSpPr/>
          <p:nvPr/>
        </p:nvCxnSpPr>
        <p:spPr>
          <a:xfrm>
            <a:off x="5999249" y="1552564"/>
            <a:ext cx="0" cy="1969610"/>
          </a:xfrm>
          <a:prstGeom prst="line">
            <a:avLst/>
          </a:prstGeom>
          <a:noFill/>
          <a:ln w="15875">
            <a:solidFill>
              <a:schemeClr val="accent2"/>
            </a:solidFill>
            <a:prstDash val="dash"/>
            <a:miter lim="800000"/>
          </a:ln>
        </p:spPr>
        <p:style>
          <a:lnRef idx="2">
            <a:schemeClr val="accent1">
              <a:shade val="50000"/>
            </a:schemeClr>
          </a:lnRef>
          <a:fillRef idx="1">
            <a:schemeClr val="accent1"/>
          </a:fillRef>
          <a:effectRef idx="0">
            <a:schemeClr val="accent1"/>
          </a:effectRef>
          <a:fontRef idx="minor">
            <a:schemeClr val="lt1"/>
          </a:fontRef>
        </p:style>
      </p:cxnSp>
      <p:cxnSp>
        <p:nvCxnSpPr>
          <p:cNvPr id="55" name="Straight Connector 54"/>
          <p:cNvCxnSpPr/>
          <p:nvPr/>
        </p:nvCxnSpPr>
        <p:spPr>
          <a:xfrm>
            <a:off x="5984770" y="3820910"/>
            <a:ext cx="0" cy="2603154"/>
          </a:xfrm>
          <a:prstGeom prst="line">
            <a:avLst/>
          </a:prstGeom>
          <a:noFill/>
          <a:ln w="15875">
            <a:solidFill>
              <a:schemeClr val="accent2"/>
            </a:solidFill>
            <a:prstDash val="dash"/>
            <a:miter lim="800000"/>
          </a:ln>
        </p:spPr>
        <p:style>
          <a:lnRef idx="2">
            <a:schemeClr val="accent1">
              <a:shade val="50000"/>
            </a:schemeClr>
          </a:lnRef>
          <a:fillRef idx="1">
            <a:schemeClr val="accent1"/>
          </a:fillRef>
          <a:effectRef idx="0">
            <a:schemeClr val="accent1"/>
          </a:effectRef>
          <a:fontRef idx="minor">
            <a:schemeClr val="lt1"/>
          </a:fontRef>
        </p:style>
      </p:cxnSp>
      <p:grpSp>
        <p:nvGrpSpPr>
          <p:cNvPr id="36" name="Group 35"/>
          <p:cNvGrpSpPr/>
          <p:nvPr/>
        </p:nvGrpSpPr>
        <p:grpSpPr>
          <a:xfrm>
            <a:off x="6145289" y="4307848"/>
            <a:ext cx="2425136" cy="1388249"/>
            <a:chOff x="6523454" y="3515061"/>
            <a:chExt cx="2947198" cy="1649793"/>
          </a:xfrm>
        </p:grpSpPr>
        <p:grpSp>
          <p:nvGrpSpPr>
            <p:cNvPr id="37" name="Group 36"/>
            <p:cNvGrpSpPr/>
            <p:nvPr/>
          </p:nvGrpSpPr>
          <p:grpSpPr>
            <a:xfrm>
              <a:off x="6523454" y="3515061"/>
              <a:ext cx="2947198" cy="1649793"/>
              <a:chOff x="6523454" y="3515061"/>
              <a:chExt cx="2947198" cy="1649793"/>
            </a:xfrm>
          </p:grpSpPr>
          <p:sp>
            <p:nvSpPr>
              <p:cNvPr id="39" name="Rounded Rectangle 38"/>
              <p:cNvSpPr/>
              <p:nvPr/>
            </p:nvSpPr>
            <p:spPr bwMode="gray">
              <a:xfrm>
                <a:off x="6523454" y="3515061"/>
                <a:ext cx="2947198" cy="1649793"/>
              </a:xfrm>
              <a:prstGeom prst="roundRect">
                <a:avLst>
                  <a:gd name="adj" fmla="val 6630"/>
                </a:avLst>
              </a:prstGeom>
              <a:solidFill>
                <a:schemeClr val="bg1"/>
              </a:solidFill>
              <a:ln w="19050" algn="ctr">
                <a:solidFill>
                  <a:schemeClr val="accent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40" name="TextBox 39"/>
              <p:cNvSpPr txBox="1"/>
              <p:nvPr/>
            </p:nvSpPr>
            <p:spPr>
              <a:xfrm>
                <a:off x="6710059" y="3577520"/>
                <a:ext cx="2550269" cy="153888"/>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000" b="1" i="0" u="none" strike="noStrike" kern="1200" cap="none" spc="0" normalizeH="0" baseline="0" noProof="0" dirty="0">
                    <a:ln>
                      <a:noFill/>
                    </a:ln>
                    <a:solidFill>
                      <a:srgbClr val="313131"/>
                    </a:solidFill>
                    <a:effectLst/>
                    <a:uLnTx/>
                    <a:uFillTx/>
                    <a:latin typeface="Verdana"/>
                    <a:ea typeface="+mn-ea"/>
                    <a:cs typeface="+mn-cs"/>
                  </a:rPr>
                  <a:t>Critical Path Analysis</a:t>
                </a:r>
                <a:endParaRPr kumimoji="0" lang="en-IN" sz="1000" b="1" i="0" u="none" strike="noStrike" kern="1200" cap="none" spc="0" normalizeH="0" baseline="0" noProof="0" dirty="0">
                  <a:ln>
                    <a:noFill/>
                  </a:ln>
                  <a:solidFill>
                    <a:srgbClr val="313131"/>
                  </a:solidFill>
                  <a:effectLst/>
                  <a:uLnTx/>
                  <a:uFillTx/>
                  <a:latin typeface="Verdana"/>
                  <a:ea typeface="+mn-ea"/>
                  <a:cs typeface="+mn-cs"/>
                </a:endParaRPr>
              </a:p>
            </p:txBody>
          </p:sp>
        </p:grpSp>
        <p:pic>
          <p:nvPicPr>
            <p:cNvPr id="38" name="Picture 3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41555" y="3767707"/>
              <a:ext cx="2892141" cy="1332328"/>
            </a:xfrm>
            <a:prstGeom prst="rect">
              <a:avLst/>
            </a:prstGeom>
            <a:solidFill>
              <a:srgbClr val="012169"/>
            </a:solidFill>
            <a:ln w="12700">
              <a:solidFill>
                <a:schemeClr val="tx2"/>
              </a:solidFill>
            </a:ln>
          </p:spPr>
        </p:pic>
      </p:grpSp>
      <p:grpSp>
        <p:nvGrpSpPr>
          <p:cNvPr id="32" name="Group 31"/>
          <p:cNvGrpSpPr/>
          <p:nvPr/>
        </p:nvGrpSpPr>
        <p:grpSpPr>
          <a:xfrm>
            <a:off x="6612467" y="4986223"/>
            <a:ext cx="2425136" cy="1388249"/>
            <a:chOff x="8155912" y="2496840"/>
            <a:chExt cx="2947198" cy="1649793"/>
          </a:xfrm>
        </p:grpSpPr>
        <p:sp>
          <p:nvSpPr>
            <p:cNvPr id="33" name="Rounded Rectangle 32"/>
            <p:cNvSpPr/>
            <p:nvPr/>
          </p:nvSpPr>
          <p:spPr bwMode="gray">
            <a:xfrm>
              <a:off x="8155912" y="2496840"/>
              <a:ext cx="2947198" cy="1649793"/>
            </a:xfrm>
            <a:prstGeom prst="roundRect">
              <a:avLst>
                <a:gd name="adj" fmla="val 6630"/>
              </a:avLst>
            </a:prstGeom>
            <a:solidFill>
              <a:schemeClr val="bg1"/>
            </a:solidFill>
            <a:ln w="19050" algn="ctr">
              <a:solidFill>
                <a:schemeClr val="accent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34" name="TextBox 33"/>
            <p:cNvSpPr txBox="1"/>
            <p:nvPr/>
          </p:nvSpPr>
          <p:spPr>
            <a:xfrm>
              <a:off x="8496043" y="2519574"/>
              <a:ext cx="2550269" cy="153888"/>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000" b="1" i="0" u="none" strike="noStrike" kern="1200" cap="none" spc="0" normalizeH="0" baseline="0" noProof="0" dirty="0">
                  <a:ln>
                    <a:noFill/>
                  </a:ln>
                  <a:solidFill>
                    <a:srgbClr val="313131"/>
                  </a:solidFill>
                  <a:effectLst/>
                  <a:uLnTx/>
                  <a:uFillTx/>
                  <a:latin typeface="Verdana"/>
                  <a:ea typeface="+mn-ea"/>
                  <a:cs typeface="+mn-cs"/>
                </a:rPr>
                <a:t>Integrated Progress Dashboard</a:t>
              </a:r>
              <a:endParaRPr kumimoji="0" lang="en-IN" sz="1000" b="1" i="0" u="none" strike="noStrike" kern="1200" cap="none" spc="0" normalizeH="0" baseline="0" noProof="0" dirty="0">
                <a:ln>
                  <a:noFill/>
                </a:ln>
                <a:solidFill>
                  <a:srgbClr val="313131"/>
                </a:solidFill>
                <a:effectLst/>
                <a:uLnTx/>
                <a:uFillTx/>
                <a:latin typeface="Verdana"/>
                <a:ea typeface="+mn-ea"/>
                <a:cs typeface="+mn-cs"/>
              </a:endParaRPr>
            </a:p>
          </p:txBody>
        </p:sp>
        <p:pic>
          <p:nvPicPr>
            <p:cNvPr id="35" name="Picture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40044" y="2719784"/>
              <a:ext cx="2806268" cy="1346824"/>
            </a:xfrm>
            <a:prstGeom prst="rect">
              <a:avLst/>
            </a:prstGeom>
            <a:solidFill>
              <a:srgbClr val="012169"/>
            </a:solidFill>
            <a:ln w="12700">
              <a:solidFill>
                <a:schemeClr val="tx2"/>
              </a:solidFill>
            </a:ln>
          </p:spPr>
        </p:pic>
      </p:grpSp>
      <p:grpSp>
        <p:nvGrpSpPr>
          <p:cNvPr id="49" name="Group 48"/>
          <p:cNvGrpSpPr/>
          <p:nvPr/>
        </p:nvGrpSpPr>
        <p:grpSpPr>
          <a:xfrm>
            <a:off x="9371533" y="4955152"/>
            <a:ext cx="2426400" cy="1389600"/>
            <a:chOff x="8724563" y="3521045"/>
            <a:chExt cx="2947198" cy="1649793"/>
          </a:xfrm>
        </p:grpSpPr>
        <p:grpSp>
          <p:nvGrpSpPr>
            <p:cNvPr id="50" name="Group 49"/>
            <p:cNvGrpSpPr/>
            <p:nvPr/>
          </p:nvGrpSpPr>
          <p:grpSpPr>
            <a:xfrm>
              <a:off x="8724563" y="3521045"/>
              <a:ext cx="2947198" cy="1649793"/>
              <a:chOff x="8155912" y="4556871"/>
              <a:chExt cx="2947198" cy="1649793"/>
            </a:xfrm>
          </p:grpSpPr>
          <p:sp>
            <p:nvSpPr>
              <p:cNvPr id="57" name="Rounded Rectangle 56"/>
              <p:cNvSpPr/>
              <p:nvPr/>
            </p:nvSpPr>
            <p:spPr bwMode="gray">
              <a:xfrm>
                <a:off x="8155912" y="4556871"/>
                <a:ext cx="2947198" cy="1649793"/>
              </a:xfrm>
              <a:prstGeom prst="roundRect">
                <a:avLst>
                  <a:gd name="adj" fmla="val 6630"/>
                </a:avLst>
              </a:prstGeom>
              <a:solidFill>
                <a:schemeClr val="bg1"/>
              </a:solidFill>
              <a:ln w="19050" algn="ctr">
                <a:solidFill>
                  <a:schemeClr val="accent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58" name="TextBox 57"/>
              <p:cNvSpPr txBox="1"/>
              <p:nvPr/>
            </p:nvSpPr>
            <p:spPr>
              <a:xfrm>
                <a:off x="8459734" y="4611076"/>
                <a:ext cx="2550269" cy="153888"/>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000" b="1" i="0" u="none" strike="noStrike" kern="1200" cap="none" spc="0" normalizeH="0" baseline="0" noProof="0" dirty="0">
                    <a:ln>
                      <a:noFill/>
                    </a:ln>
                    <a:solidFill>
                      <a:srgbClr val="313131"/>
                    </a:solidFill>
                    <a:effectLst/>
                    <a:uLnTx/>
                    <a:uFillTx/>
                    <a:latin typeface="Verdana"/>
                    <a:ea typeface="+mn-ea"/>
                    <a:cs typeface="+mn-cs"/>
                  </a:rPr>
                  <a:t>Risk Monitoring</a:t>
                </a:r>
                <a:endParaRPr kumimoji="0" lang="en-IN" sz="1000" b="1" i="0" u="none" strike="noStrike" kern="1200" cap="none" spc="0" normalizeH="0" baseline="0" noProof="0" dirty="0">
                  <a:ln>
                    <a:noFill/>
                  </a:ln>
                  <a:solidFill>
                    <a:srgbClr val="313131"/>
                  </a:solidFill>
                  <a:effectLst/>
                  <a:uLnTx/>
                  <a:uFillTx/>
                  <a:latin typeface="Verdana"/>
                  <a:ea typeface="+mn-ea"/>
                  <a:cs typeface="+mn-cs"/>
                </a:endParaRPr>
              </a:p>
            </p:txBody>
          </p:sp>
        </p:grpSp>
        <p:pic>
          <p:nvPicPr>
            <p:cNvPr id="56" name="Picture 5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06543" y="3744194"/>
              <a:ext cx="2782996" cy="1344995"/>
            </a:xfrm>
            <a:prstGeom prst="rect">
              <a:avLst/>
            </a:prstGeom>
          </p:spPr>
        </p:pic>
      </p:grpSp>
      <p:grpSp>
        <p:nvGrpSpPr>
          <p:cNvPr id="71" name="Group 70"/>
          <p:cNvGrpSpPr/>
          <p:nvPr/>
        </p:nvGrpSpPr>
        <p:grpSpPr>
          <a:xfrm>
            <a:off x="8819897" y="4285687"/>
            <a:ext cx="2425136" cy="1388249"/>
            <a:chOff x="8155912" y="4556871"/>
            <a:chExt cx="2947198" cy="1649793"/>
          </a:xfrm>
        </p:grpSpPr>
        <p:grpSp>
          <p:nvGrpSpPr>
            <p:cNvPr id="72" name="Group 71"/>
            <p:cNvGrpSpPr/>
            <p:nvPr/>
          </p:nvGrpSpPr>
          <p:grpSpPr>
            <a:xfrm>
              <a:off x="8155912" y="4556871"/>
              <a:ext cx="2947198" cy="1649793"/>
              <a:chOff x="8155912" y="4556871"/>
              <a:chExt cx="2947198" cy="1649793"/>
            </a:xfrm>
          </p:grpSpPr>
          <p:sp>
            <p:nvSpPr>
              <p:cNvPr id="74" name="Rounded Rectangle 73"/>
              <p:cNvSpPr/>
              <p:nvPr/>
            </p:nvSpPr>
            <p:spPr bwMode="gray">
              <a:xfrm>
                <a:off x="8155912" y="4556871"/>
                <a:ext cx="2947198" cy="1649793"/>
              </a:xfrm>
              <a:prstGeom prst="roundRect">
                <a:avLst>
                  <a:gd name="adj" fmla="val 6630"/>
                </a:avLst>
              </a:prstGeom>
              <a:solidFill>
                <a:schemeClr val="bg1"/>
              </a:solidFill>
              <a:ln w="19050" algn="ctr">
                <a:solidFill>
                  <a:schemeClr val="accent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75" name="TextBox 74"/>
              <p:cNvSpPr txBox="1"/>
              <p:nvPr/>
            </p:nvSpPr>
            <p:spPr>
              <a:xfrm>
                <a:off x="8459734" y="4611076"/>
                <a:ext cx="2550269" cy="153888"/>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000" b="1" i="0" u="none" strike="noStrike" kern="1200" cap="none" spc="0" normalizeH="0" baseline="0" noProof="0" dirty="0">
                    <a:ln>
                      <a:noFill/>
                    </a:ln>
                    <a:solidFill>
                      <a:srgbClr val="313131"/>
                    </a:solidFill>
                    <a:effectLst/>
                    <a:uLnTx/>
                    <a:uFillTx/>
                    <a:latin typeface="Verdana"/>
                    <a:ea typeface="+mn-ea"/>
                    <a:cs typeface="+mn-cs"/>
                  </a:rPr>
                  <a:t>Financial Progress Tracking</a:t>
                </a:r>
                <a:endParaRPr kumimoji="0" lang="en-IN" sz="1000" b="1" i="0" u="none" strike="noStrike" kern="1200" cap="none" spc="0" normalizeH="0" baseline="0" noProof="0" dirty="0">
                  <a:ln>
                    <a:noFill/>
                  </a:ln>
                  <a:solidFill>
                    <a:srgbClr val="313131"/>
                  </a:solidFill>
                  <a:effectLst/>
                  <a:uLnTx/>
                  <a:uFillTx/>
                  <a:latin typeface="Verdana"/>
                  <a:ea typeface="+mn-ea"/>
                  <a:cs typeface="+mn-cs"/>
                </a:endParaRPr>
              </a:p>
            </p:txBody>
          </p:sp>
        </p:grpSp>
        <p:pic>
          <p:nvPicPr>
            <p:cNvPr id="73" name="Picture 7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256284" y="4802987"/>
              <a:ext cx="2775491" cy="1346670"/>
            </a:xfrm>
            <a:prstGeom prst="rect">
              <a:avLst/>
            </a:prstGeom>
            <a:solidFill>
              <a:srgbClr val="012169"/>
            </a:solidFill>
            <a:ln w="12700">
              <a:solidFill>
                <a:schemeClr val="tx2"/>
              </a:solidFill>
            </a:ln>
          </p:spPr>
        </p:pic>
      </p:grpSp>
    </p:spTree>
    <p:extLst>
      <p:ext uri="{BB962C8B-B14F-4D97-AF65-F5344CB8AC3E}">
        <p14:creationId xmlns:p14="http://schemas.microsoft.com/office/powerpoint/2010/main" val="20823666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p:cNvPicPr>
            <a:picLocks noGrp="1" noChangeAspect="1"/>
          </p:cNvPicPr>
          <p:nvPr>
            <p:ph type="pic" sz="quarter" idx="14"/>
          </p:nvPr>
        </p:nvPicPr>
        <p:blipFill>
          <a:blip r:embed="rId4" cstate="email">
            <a:extLst>
              <a:ext uri="{28A0092B-C50C-407E-A947-70E740481C1C}">
                <a14:useLocalDpi xmlns:a14="http://schemas.microsoft.com/office/drawing/2010/main"/>
              </a:ext>
            </a:extLst>
          </a:blip>
          <a:srcRect/>
          <a:stretch>
            <a:fillRect/>
          </a:stretch>
        </p:blipFill>
        <p:spPr>
          <a:xfrm>
            <a:off x="5583731" y="1504300"/>
            <a:ext cx="5537835" cy="4119522"/>
          </a:xfrm>
        </p:spPr>
      </p:pic>
      <p:sp>
        <p:nvSpPr>
          <p:cNvPr id="4" name="Rectangle 3"/>
          <p:cNvSpPr/>
          <p:nvPr/>
        </p:nvSpPr>
        <p:spPr>
          <a:xfrm>
            <a:off x="381000" y="1432572"/>
            <a:ext cx="5405873" cy="4178195"/>
          </a:xfrm>
          <a:prstGeom prst="rect">
            <a:avLst/>
          </a:prstGeom>
        </p:spPr>
        <p:txBody>
          <a:bodyPr wrap="square">
            <a:spAutoFit/>
          </a:bodyPr>
          <a:lstStyle/>
          <a:p>
            <a:pPr defTabSz="885948">
              <a:spcAft>
                <a:spcPts val="522"/>
              </a:spcAft>
              <a:buClr>
                <a:srgbClr val="000000"/>
              </a:buClr>
              <a:buSzPct val="80000"/>
            </a:pPr>
            <a:r>
              <a:rPr lang="en-US" sz="957" noProof="1">
                <a:solidFill>
                  <a:srgbClr val="000000"/>
                </a:solidFill>
                <a:latin typeface="Verdana"/>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defTabSz="885948">
              <a:spcAft>
                <a:spcPts val="522"/>
              </a:spcAft>
              <a:buClr>
                <a:srgbClr val="000000"/>
              </a:buClr>
              <a:buSzPct val="80000"/>
            </a:pPr>
            <a:r>
              <a:rPr lang="en-US" sz="957" noProof="1">
                <a:solidFill>
                  <a:srgbClr val="000000"/>
                </a:solidFill>
                <a:latin typeface="Verdana"/>
              </a:rPr>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defTabSz="885948">
              <a:spcAft>
                <a:spcPts val="522"/>
              </a:spcAft>
              <a:buClr>
                <a:srgbClr val="000000"/>
              </a:buClr>
              <a:buSzPct val="80000"/>
            </a:pPr>
            <a:r>
              <a:rPr lang="en-US" sz="957" noProof="1">
                <a:solidFill>
                  <a:srgbClr val="000000"/>
                </a:solidFill>
                <a:latin typeface="Verdana"/>
              </a:rPr>
              <a:t>Nothing in this material creates any contractual relationship between DTTILLP and you. Any mutually binding legal obligationsorrights may only be created between you and DTTILLP upon execution of a legally binding contract. By using this material and any information contained in it, the user accepts this entire notice and terms of use.</a:t>
            </a:r>
          </a:p>
          <a:p>
            <a:pPr defTabSz="885948">
              <a:spcAft>
                <a:spcPts val="522"/>
              </a:spcAft>
              <a:buClr>
                <a:srgbClr val="000000"/>
              </a:buClr>
              <a:buSzPct val="80000"/>
            </a:pPr>
            <a:r>
              <a:rPr lang="en-US" sz="957" noProof="1">
                <a:solidFill>
                  <a:srgbClr val="000000"/>
                </a:solidFill>
                <a:latin typeface="Verdana"/>
              </a:rPr>
              <a:t>©2022 Deloitte Touche Tohmatsu India LLP. Member of Deloitte Touche Tohmatsu Limited</a:t>
            </a:r>
          </a:p>
          <a:p>
            <a:pPr defTabSz="885948">
              <a:spcAft>
                <a:spcPts val="522"/>
              </a:spcAft>
              <a:buClr>
                <a:srgbClr val="000000"/>
              </a:buClr>
              <a:buSzPct val="80000"/>
            </a:pPr>
            <a:r>
              <a:rPr lang="en-US" sz="957" noProof="1">
                <a:solidFill>
                  <a:srgbClr val="000000"/>
                </a:solidFill>
                <a:latin typeface="Verdana"/>
              </a:rPr>
              <a:t>Deloitte Touche Tohmatsu India Private Limited (U74140MH199 5PTC093339), a private company limited by shares, was converted into Deloitte Touche Tohmatsu India LLP, a limited liability partnership (LLP Identification No. AAE-8458),with effect from October 1, 2015.</a:t>
            </a:r>
          </a:p>
        </p:txBody>
      </p:sp>
    </p:spTree>
    <p:custDataLst>
      <p:tags r:id="rId1"/>
    </p:custDataLst>
    <p:extLst>
      <p:ext uri="{BB962C8B-B14F-4D97-AF65-F5344CB8AC3E}">
        <p14:creationId xmlns:p14="http://schemas.microsoft.com/office/powerpoint/2010/main" val="2378693763"/>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5121&quot;/&gt;&lt;CPresentation id=&quot;1&quot;&gt;&lt;m_precDefaultNumber&gt;&lt;m_bNumberIsYear val=&quot;1&quot;/&gt;&lt;m_chMinusSymbol&gt;-&lt;/m_chMinusSymbol&gt;&lt;m_chDecimalSymbol17909&gt;.&lt;/m_chDecimalSymbol17909&gt;&lt;m_nGroupingDigits17909 val=&quot;2147483647&quot;/&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2147483647&quot;/&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YCeo1uxhS2SIlrhC9JZAF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EMPLAFYSLIDEID" val="636090605918013724"/>
</p:tagLst>
</file>

<file path=ppt/theme/theme1.xml><?xml version="1.0" encoding="utf-8"?>
<a:theme xmlns:a="http://schemas.openxmlformats.org/drawingml/2006/main" name="1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2.xml><?xml version="1.0" encoding="utf-8"?>
<a:theme xmlns:a="http://schemas.openxmlformats.org/drawingml/2006/main" name="1_Deloitte_UK_Onscreen">
  <a:themeElements>
    <a:clrScheme name="Deloitte colors">
      <a:dk1>
        <a:srgbClr val="000000"/>
      </a:dk1>
      <a:lt1>
        <a:srgbClr val="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solidFill>
            <a:schemeClr val="accent3"/>
          </a:solidFill>
          <a:miter lim="800000"/>
          <a:headEnd/>
          <a:tailEnd/>
        </a:ln>
      </a:spPr>
      <a:bodyPr wrap="square" lIns="88900" tIns="88900" rIns="88900" bIns="88900" rtlCol="0" anchor="ctr"/>
      <a:lstStyle>
        <a:defPPr algn="ctr">
          <a:lnSpc>
            <a:spcPct val="106000"/>
          </a:lnSpc>
          <a:buFont typeface="Wingdings 2" pitchFamily="18" charset="2"/>
          <a:buNone/>
          <a:defRPr sz="1600" b="1" noProof="0" dirty="0" err="1">
            <a:solidFill>
              <a:schemeClr val="bg1"/>
            </a:solidFill>
          </a:defRPr>
        </a:defPPr>
      </a:lstStyle>
    </a:spDef>
    <a:lnDef>
      <a:spPr>
        <a:ln>
          <a:solidFill>
            <a:srgbClr val="44546A"/>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34000" indent="-234000">
          <a:spcBef>
            <a:spcPts val="0"/>
          </a:spcBef>
          <a:spcAft>
            <a:spcPts val="1333"/>
          </a:spcAft>
          <a:buSzPct val="100000"/>
          <a:buFont typeface="Arial"/>
          <a:buChar char="•"/>
          <a:defRPr sz="1200" noProof="0" dirty="0" err="1">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 widescreen (16-9).potx" id="{D15CC715-B911-44C1-9E94-DDBA3AD356C4}" vid="{6A3836AB-5DCF-4D2F-8285-FE1EF7A8334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F6439018-8AEA-4477-99C3-B19010BC3A19}"/>
</file>

<file path=customXml/itemProps2.xml><?xml version="1.0" encoding="utf-8"?>
<ds:datastoreItem xmlns:ds="http://schemas.openxmlformats.org/officeDocument/2006/customXml" ds:itemID="{124D7DF5-2DEA-4939-A487-A40714D422A9}">
  <ds:schemaRefs>
    <ds:schemaRef ds:uri="http://schemas.microsoft.com/sharepoint/v3/contenttype/forms"/>
  </ds:schemaRefs>
</ds:datastoreItem>
</file>

<file path=customXml/itemProps3.xml><?xml version="1.0" encoding="utf-8"?>
<ds:datastoreItem xmlns:ds="http://schemas.openxmlformats.org/officeDocument/2006/customXml" ds:itemID="{B054D36E-9EF4-45FB-A110-F5062C6023D7}">
  <ds:schemaRefs>
    <ds:schemaRef ds:uri="http://purl.org/dc/elements/1.1/"/>
    <ds:schemaRef ds:uri="http://schemas.microsoft.com/office/2006/documentManagement/types"/>
    <ds:schemaRef ds:uri="56e355e2-a369-4830-a51e-04ce08b6bb22"/>
    <ds:schemaRef ds:uri="http://purl.org/dc/terms/"/>
    <ds:schemaRef ds:uri="http://www.w3.org/XML/1998/namespace"/>
    <ds:schemaRef ds:uri="http://purl.org/dc/dcmitype/"/>
    <ds:schemaRef ds:uri="86e0598b-b165-4e10-9942-c445ed7b2dd4"/>
    <ds:schemaRef ds:uri="http://schemas.microsoft.com/office/2006/metadata/properties"/>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4_3 Deloitte Consulting PPT Template</Template>
  <TotalTime>70588</TotalTime>
  <Words>31583</Words>
  <Application>Microsoft Office PowerPoint</Application>
  <PresentationFormat>Widescreen</PresentationFormat>
  <Paragraphs>5185</Paragraphs>
  <Slides>170</Slides>
  <Notes>36</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2</vt:i4>
      </vt:variant>
      <vt:variant>
        <vt:lpstr>Slide Titles</vt:lpstr>
      </vt:variant>
      <vt:variant>
        <vt:i4>170</vt:i4>
      </vt:variant>
    </vt:vector>
  </HeadingPairs>
  <TitlesOfParts>
    <vt:vector size="187" baseType="lpstr">
      <vt:lpstr>Arial</vt:lpstr>
      <vt:lpstr>Arimo</vt:lpstr>
      <vt:lpstr>Calibri</vt:lpstr>
      <vt:lpstr>Calibri Light</vt:lpstr>
      <vt:lpstr>Calisto MT</vt:lpstr>
      <vt:lpstr>Courier New</vt:lpstr>
      <vt:lpstr>Libre Franklin Thin</vt:lpstr>
      <vt:lpstr>Open Sans Light</vt:lpstr>
      <vt:lpstr>Symbol</vt:lpstr>
      <vt:lpstr>Verdana</vt:lpstr>
      <vt:lpstr>Verdana (Body)</vt:lpstr>
      <vt:lpstr>Wingdings</vt:lpstr>
      <vt:lpstr>Wingdings 2</vt:lpstr>
      <vt:lpstr>1_Deloitte 16_9 onscreen</vt:lpstr>
      <vt:lpstr>1_Deloitte_UK_Onscreen</vt:lpstr>
      <vt:lpstr>think-cell Slide</vt:lpstr>
      <vt:lpstr>Worksheet</vt:lpstr>
      <vt:lpstr>PowerPoint Presentation</vt:lpstr>
      <vt:lpstr>Contents</vt:lpstr>
      <vt:lpstr>Introduction</vt:lpstr>
      <vt:lpstr>Summary: Ongoing Schemes/ Funded Projects for WBSEDCL- Capex Flow As on 2021-22</vt:lpstr>
      <vt:lpstr>Review of Programs /Schemes Completed, Ongoing and Proposed under Central and State level Schemes</vt:lpstr>
      <vt:lpstr>Progress Status of Rajiv Gandhi Gramin Vidyutikaran Yogona ( RGGVY) &amp; Deen Dayal Upadhyaya Gram Jyoti Yojana (DDUGJY) &amp; 'SAUBHAGYA' Scheme</vt:lpstr>
      <vt:lpstr>Salient Feature of Rural Electrification (RE) Scheme under RGGVY</vt:lpstr>
      <vt:lpstr>Financial Progress of the Rural Electrification(RE) Scheme under RGGVY</vt:lpstr>
      <vt:lpstr>Salient Feature of DDUGJY</vt:lpstr>
      <vt:lpstr>Financial Progress Status of DDUGJY : New Project </vt:lpstr>
      <vt:lpstr>Physical Progress Status of DDUGJY : New Project </vt:lpstr>
      <vt:lpstr>Last Mile Connectivity under 'SAUBHAGYA' Scheme</vt:lpstr>
      <vt:lpstr>Progress Status of Integrated Power Development Scheme (IPDS)</vt:lpstr>
      <vt:lpstr>R-APDRP Component of IPDS </vt:lpstr>
      <vt:lpstr>Salient Feature of IPDS</vt:lpstr>
      <vt:lpstr>Progress Status of IPDS</vt:lpstr>
      <vt:lpstr>Progress Status of National Electricity Fund Scheme (NEF)</vt:lpstr>
      <vt:lpstr>Salient Feature of NEF Scheme</vt:lpstr>
      <vt:lpstr>Flow Chart : : NEF (INTEREST SUBSIDY) SCHEME</vt:lpstr>
      <vt:lpstr>Progress Status of NEF Scheme </vt:lpstr>
      <vt:lpstr>Progress Status of Rapid Electrification of Agricultural Pump Sets (REAPS) Scheme</vt:lpstr>
      <vt:lpstr>REAPS Scheme – Phase I</vt:lpstr>
      <vt:lpstr>REAPS Scheme – Phase II &amp; III</vt:lpstr>
      <vt:lpstr>Details of Revamped Distribution Sector Scheme (RDSS)</vt:lpstr>
      <vt:lpstr>Background of RDSS - Reforms-based and Results-linked Scheme</vt:lpstr>
      <vt:lpstr>PowerPoint Presentation</vt:lpstr>
      <vt:lpstr>PowerPoint Presentation</vt:lpstr>
      <vt:lpstr>PowerPoint Presentation</vt:lpstr>
      <vt:lpstr>PowerPoint Presentation</vt:lpstr>
      <vt:lpstr>PowerPoint Presentation</vt:lpstr>
      <vt:lpstr>Key Business Targets to be met under RDSS Scheme</vt:lpstr>
      <vt:lpstr>Distribution’s Modernization &amp; Loss Reduction Investments under RDSS</vt:lpstr>
      <vt:lpstr>Financing Arrangement Proposed</vt:lpstr>
      <vt:lpstr>Estimated Project Cost And Funding Arrangement For RDSS</vt:lpstr>
      <vt:lpstr>Loss Reduction Work – Priority wise break up</vt:lpstr>
      <vt:lpstr>Year on Year Phasing of Project Cost (1/3)</vt:lpstr>
      <vt:lpstr>Year on Year Phasing of Project Cost (2/3)</vt:lpstr>
      <vt:lpstr>Year on Year Phasing of Project Cost (3/3)</vt:lpstr>
      <vt:lpstr>Progress Status of Power System Development Fund (PSDF) Scheme</vt:lpstr>
      <vt:lpstr>Background of PSDF Scheme </vt:lpstr>
      <vt:lpstr>Summary Status of the PSDF as on 26.05.2022 for WBSETCL (1/2)  </vt:lpstr>
      <vt:lpstr>Summary Status of the PSDF as on 26.05.2022 for WBSETCL (2/2)  </vt:lpstr>
      <vt:lpstr>Summary Status of the PSDF as on 26.05.2022 for WBPDCL</vt:lpstr>
      <vt:lpstr>Distribution Sector Performance Improvement Projects</vt:lpstr>
      <vt:lpstr>DSIS (Distribution System Improvement Scheme) (REC Loan)</vt:lpstr>
      <vt:lpstr>Background of DSIS Scheme</vt:lpstr>
      <vt:lpstr>Background of DSIS Scheme</vt:lpstr>
      <vt:lpstr>Distribution Network Strengthening and Grid Modernization in its distribution system (WORLD BANK)</vt:lpstr>
      <vt:lpstr>Background Of Distribution Network Strengthening and Grid Modernization </vt:lpstr>
      <vt:lpstr>Project Phasing including Implementation Details </vt:lpstr>
      <vt:lpstr>Phase Wise Project Details </vt:lpstr>
      <vt:lpstr>HVDS WORK UNDER SPECIAL INFRASTRUCTURE PROJECT (SIP) under P&amp;NES, GoWB</vt:lpstr>
      <vt:lpstr>Progress of Special Infrastructure Project Scheme as on 31.11.2020 </vt:lpstr>
      <vt:lpstr>UG CABLING WORK UNDER GREEN CITY MISSION </vt:lpstr>
      <vt:lpstr>Progress of Green City Mission Scheme as on 31.11.2020 </vt:lpstr>
      <vt:lpstr>SEEDN (Strengthening &amp; Extending Electricity Distribution Network)</vt:lpstr>
      <vt:lpstr>Background of Strengthening &amp; Extending Electricity Distribution Network Scheme</vt:lpstr>
      <vt:lpstr>Background of Strengthening &amp; Extending Electricity Distribution Network Scheme</vt:lpstr>
      <vt:lpstr>Power Generation Upcoming Projects</vt:lpstr>
      <vt:lpstr>Status of Rooftop Solar (RTS) Grid Connected Solar PV Power Plant-WBSEDCL in FY 21</vt:lpstr>
      <vt:lpstr>Status of Ground Mounted Grid Connected Solar PV Power Plant-WBSEDCL in FY 21 (1/3)</vt:lpstr>
      <vt:lpstr>PowerPoint Presentation</vt:lpstr>
      <vt:lpstr>Status of Ground Mounted Grid Connected Solar PV Power Plant-WBSEDCL in FY 21 (3/3)</vt:lpstr>
      <vt:lpstr>Details of Upcoming Projects for WBSEDCL</vt:lpstr>
      <vt:lpstr>Details of Upcoming Project for WBPDCL</vt:lpstr>
      <vt:lpstr>Overview of Nayachar Solar Power Park Project- As per Nayachar PFR Report</vt:lpstr>
      <vt:lpstr>Objectives and End goals of the Project - As per Nayachar PFR Report</vt:lpstr>
      <vt:lpstr>Project Cost details (infrastructure and material) - As per Nayachar PFR Report</vt:lpstr>
      <vt:lpstr>Financing Plan to develop Ultra Mega Solar Power projects</vt:lpstr>
      <vt:lpstr>Steps Forward - As per Nayachar PFR Report</vt:lpstr>
      <vt:lpstr>Long Term PPAs with CGS and IPPs within and outside West Bengal</vt:lpstr>
      <vt:lpstr>Season-wise average hourly load-generation balance (in MW) for WBSEDCL for FY 2018-19 </vt:lpstr>
      <vt:lpstr>Season-wise average hourly load-generation balance (in MW) for WBSEDCL for FY 2019-20</vt:lpstr>
      <vt:lpstr>Season-wise average hourly load-generation balance (in MW) for WBSEDCL for FY 2020-21</vt:lpstr>
      <vt:lpstr>Season-wise average hourly load-generation balance (in MW) for WBSEDCL for FY 2021-22</vt:lpstr>
      <vt:lpstr>As per Clause No. 5.10.6 (Pg No. 40) of WBSEDCL 7th MYT Tariff Order issued by WBERC – “Considerable surplus power throughout the day even during the peak hours. The major reason is the already entered long-term PPA by WBSEDCL in recent years, when generation from WBPDCL was low due to poor availability of coal”</vt:lpstr>
      <vt:lpstr>Details of PPA and Share of generating station for WBSEDCL (1/3) </vt:lpstr>
      <vt:lpstr>Details of PPA and Share of generating station for WBSEDCL (2/3) </vt:lpstr>
      <vt:lpstr>Details of PPA and Share of generating station for WBSEDCL (3/3) </vt:lpstr>
      <vt:lpstr>Window of Opportunity for exiting High Cost PPA for WBSEDCL ( Rates are as per Issued Tariff Order of WBERC Pertaining to FY 2020-21) </vt:lpstr>
      <vt:lpstr>Power Purchase Portfolio Management needs a Focused Optimization and Real Time Management based on Tariff Order for FY 2020-21 of 7th Control Period for WBSEDCL</vt:lpstr>
      <vt:lpstr>MOP Guideline dated 22.03.2021 for Exit of PPA for DISCOMS after completion of term of PPA  i.e beyond 25 years or a period specified in PPA  (1/2) </vt:lpstr>
      <vt:lpstr>MOP Guideline dated 22.03.2021 for Exit of PPA for DISCOMS after completion of term of PPA  i.e beyond 25 years or a period specified in PPA  (2/2) </vt:lpstr>
      <vt:lpstr>MOP Guideline for Replacement of Thermal Plants with Renewable Energy </vt:lpstr>
      <vt:lpstr>Steps to Consider for PPA Optimization Decision for WBSEDCL</vt:lpstr>
      <vt:lpstr>Conversion of Agriculture Water Pumps to Solar Energy based Pumps</vt:lpstr>
      <vt:lpstr>PM-KUSUM (Pradhan Mantri Kisan Urja Suraksha evam Utthaan Mahabhiyan)</vt:lpstr>
      <vt:lpstr>Components of KUSUM Scheme – Details- At National Level</vt:lpstr>
      <vt:lpstr>Kusum Scheme – Financial Outlay of Component C</vt:lpstr>
      <vt:lpstr>PowerPoint Presentation</vt:lpstr>
      <vt:lpstr>RIDF Scheme for Agriculture Solar Pump</vt:lpstr>
      <vt:lpstr> Review of status of schemes sanctioned under different RIDF Tranche (1/6)</vt:lpstr>
      <vt:lpstr> Review of status of schemes sanctioned under different RIDF Tranche (2/6)</vt:lpstr>
      <vt:lpstr> Review of status of schemes sanctioned under different RIDF Tranche (3/6)</vt:lpstr>
      <vt:lpstr> Review of status of schemes sanctioned under different RIDF Tranche (4/6)</vt:lpstr>
      <vt:lpstr> Review of status of schemes sanctioned under different RIDF Tranche (5/6)</vt:lpstr>
      <vt:lpstr> Review of status of schemes sanctioned under different RIDF Tranche (6/6)</vt:lpstr>
      <vt:lpstr>Identification of Policy and Regulatory Interventions to accelerate Grid Connected and off grid RE Projects</vt:lpstr>
      <vt:lpstr>RE Integration Low in West Bengal- Significant scope for improvement</vt:lpstr>
      <vt:lpstr>West Bengal State Owned Power Utility wise RE Installation Status  as on 31.03.2021</vt:lpstr>
      <vt:lpstr>Target RPOs – Comparison among Rajasthan, Gujarat and West Bengal</vt:lpstr>
      <vt:lpstr>Reduction in Bulk Power Purchase Cost through fulfilling RPO - Illustration</vt:lpstr>
      <vt:lpstr>West Bengal Draft Solar Policy Highlights (1/3)</vt:lpstr>
      <vt:lpstr>West Bengal Draft Solar Policy Highlights (2/3)</vt:lpstr>
      <vt:lpstr>West Bengal Draft Solar Policy Highlights (3/3)</vt:lpstr>
      <vt:lpstr>Key Provisions -Rooftop Solar Projects in Draft West Bengal RE Policy 2022</vt:lpstr>
      <vt:lpstr>Promotion of Innovative Solar Technologies Proposed in Draft WB RE Policy 2022 </vt:lpstr>
      <vt:lpstr>PowerPoint Presentation</vt:lpstr>
      <vt:lpstr>PowerPoint Presentation</vt:lpstr>
      <vt:lpstr>Status of Rooftop Solar Progress -West Bengal vs other states as on May 2022</vt:lpstr>
      <vt:lpstr>PowerPoint Presentation</vt:lpstr>
      <vt:lpstr>PowerPoint Presentation</vt:lpstr>
      <vt:lpstr>Solar Policy Comparison (1/2)</vt:lpstr>
      <vt:lpstr>Solar Policy Comparison (2/2)</vt:lpstr>
      <vt:lpstr>RTS - Key Policy Comparison of some states</vt:lpstr>
      <vt:lpstr>Snapshot of Non-exhaustive Policy and Regulatory intervention options for accelerating RE in West Bengal (1/2)</vt:lpstr>
      <vt:lpstr>Snapshot of Non-exhaustive Policy and Regulatory intervention options for accelerating RE in West Bengal (2/2)</vt:lpstr>
      <vt:lpstr>Proposed Schemes</vt:lpstr>
      <vt:lpstr>Convergence Scheme of Agriculture Pump Solarization                                                                 (REAPS+ RIDF+ PM KUSUM)</vt:lpstr>
      <vt:lpstr>Background of Convergence Scheme</vt:lpstr>
      <vt:lpstr>Integrating Multiple State Dept.-Different initiatives- Common Objective: Agri pump Electrification and Solarization </vt:lpstr>
      <vt:lpstr>Rajasthan Case Study : Convergence Scheme for Solar Water Pump with Drip Irrigation</vt:lpstr>
      <vt:lpstr>Need for Convergence Scheme for Agri Pump Solarization in West Bengal</vt:lpstr>
      <vt:lpstr>Green Tariff Introduction by WBSEDCL for C&amp;I Consumers </vt:lpstr>
      <vt:lpstr>Green Tariff Scheme - Background</vt:lpstr>
      <vt:lpstr>Drivers for procuring RE by C&amp;I consumers (2/2)</vt:lpstr>
      <vt:lpstr>RE100 -Initiative to Bring together Businesses all around the globe to transition to 100% Renewable Electricity</vt:lpstr>
      <vt:lpstr>Impact of RE 100 and resultant Rise of Corporate RE Procurement Market in India </vt:lpstr>
      <vt:lpstr>Green Tariff – Operational Principle</vt:lpstr>
      <vt:lpstr>Estimation of Potential of Additional Electricity Demand</vt:lpstr>
      <vt:lpstr>High Industrial Tariff- Trend of Customer shift towards RE- Expected increase in Demand among key factors that can motivate introduction of Green Tariff in West Bengal</vt:lpstr>
      <vt:lpstr>Precedence Cases – Andhra Pradesh</vt:lpstr>
      <vt:lpstr>Precedence cases – Karnataka (1/2)</vt:lpstr>
      <vt:lpstr>Precedence Cases – Karnataka (2/2)</vt:lpstr>
      <vt:lpstr>Precedence Cases – Maharashtra (1/2)</vt:lpstr>
      <vt:lpstr>Precedence Cases – Maharashtra (2/2)</vt:lpstr>
      <vt:lpstr>Precedence Cases – Madhya Pradesh (1/2)</vt:lpstr>
      <vt:lpstr>Precedence Cases – Madhya Pradesh (2/2)</vt:lpstr>
      <vt:lpstr>Best Practices for Designing Green Tariff (1/4)</vt:lpstr>
      <vt:lpstr>Best Practices for Designing Green Tariff (2/4)</vt:lpstr>
      <vt:lpstr>Best Practices for Designing Green Tariff (3/4)</vt:lpstr>
      <vt:lpstr>Best Practices for Designing Green Tariff (4/4)</vt:lpstr>
      <vt:lpstr>Implementation of Cloud based Advanced Metering Infrastructure (AMI)</vt:lpstr>
      <vt:lpstr>Introduction</vt:lpstr>
      <vt:lpstr>Background and Objective</vt:lpstr>
      <vt:lpstr>AMI - Rationale for implementation</vt:lpstr>
      <vt:lpstr>Utilization of Smart Meter Data</vt:lpstr>
      <vt:lpstr>Benefits to WBSEDCL (1/2)</vt:lpstr>
      <vt:lpstr>Benefits to WBSEDCL (2/2)</vt:lpstr>
      <vt:lpstr>Important contributor to Operation and Maintenance (O&amp;M) activities</vt:lpstr>
      <vt:lpstr>Significant Cost Reduction can be achieved by Commercial Losses Reduction (1/2)</vt:lpstr>
      <vt:lpstr>Significant Cost Reduction can be achieved by Commercial Losses Reduction (2/2)</vt:lpstr>
      <vt:lpstr>Demand/Fixed Charge Rationalization – Domestic Consumers</vt:lpstr>
      <vt:lpstr>Domestic LV Fixed charges for West Bengal is much lesser as compared to other states </vt:lpstr>
      <vt:lpstr>Domestic HV Fixed Charge Comparison</vt:lpstr>
      <vt:lpstr>Opportunity for WBSEDCL for higher FC recovery from idle consumers with negligible consumption</vt:lpstr>
      <vt:lpstr>Industrial Tariff Rationalization</vt:lpstr>
      <vt:lpstr>PowerPoint Presentation</vt:lpstr>
      <vt:lpstr>Industrial Consumer Growth Analysis for WBSEDCL : Case Scenario 1 (1/2) </vt:lpstr>
      <vt:lpstr>Industrial Consumer Growth Illustrative Analysis for WBSEDCL–Case Scenario 1 (2/2) </vt:lpstr>
      <vt:lpstr>Industrial Consumer Growth Analysis for WBSEDCL : Case Scenario 2</vt:lpstr>
      <vt:lpstr>Way Forward</vt:lpstr>
      <vt:lpstr>Requirement of Project Monitoring Unit for Department of Power, West Bengal</vt:lpstr>
      <vt:lpstr>Overview of Smart Project Monitoring Office</vt:lpstr>
      <vt:lpstr>Integrated Project Management enables synchronized execution and effective coordination across key stakeholders </vt:lpstr>
      <vt:lpstr>PowerPoint Presentation</vt:lpstr>
      <vt:lpstr>PowerPoint Presentation</vt:lpstr>
      <vt:lpstr>Case Study - 1 : A leading public sector oil &amp; gas company in India</vt:lpstr>
      <vt:lpstr>Case Study – 2: A leading public sector OMC in India</vt:lpstr>
      <vt:lpstr>PowerPoint Presentation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subject/>
  <dc:creator>Chirag Kadam</dc:creator>
  <cp:keywords/>
  <cp:lastModifiedBy>Sinha, Arnab Kumar</cp:lastModifiedBy>
  <cp:revision>3585</cp:revision>
  <cp:lastPrinted>2014-06-25T02:16:22Z</cp:lastPrinted>
  <dcterms:created xsi:type="dcterms:W3CDTF">2016-11-09T03:29:25Z</dcterms:created>
  <dcterms:modified xsi:type="dcterms:W3CDTF">2022-06-30T09:34:43Z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Local Content Type">
    <vt:lpwstr/>
  </property>
  <property fmtid="{D5CDD505-2E9C-101B-9397-08002B2CF9AE}" pid="4" name="TaxKeyword">
    <vt:lpwstr/>
  </property>
  <property fmtid="{D5CDD505-2E9C-101B-9397-08002B2CF9AE}" pid="5" name="Global Client Services">
    <vt:lpwstr/>
  </property>
  <property fmtid="{D5CDD505-2E9C-101B-9397-08002B2CF9AE}" pid="6" name="Geography">
    <vt:lpwstr>19;#Global (2542)|163e196f-7511-4639-90b6-ed85c9d9c37c</vt:lpwstr>
  </property>
  <property fmtid="{D5CDD505-2E9C-101B-9397-08002B2CF9AE}" pid="7" name="Local Industry">
    <vt:lpwstr/>
  </property>
  <property fmtid="{D5CDD505-2E9C-101B-9397-08002B2CF9AE}" pid="8" name="Global Industry">
    <vt:lpwstr/>
  </property>
  <property fmtid="{D5CDD505-2E9C-101B-9397-08002B2CF9AE}" pid="9" name="Global Content Type">
    <vt:lpwstr/>
  </property>
  <property fmtid="{D5CDD505-2E9C-101B-9397-08002B2CF9AE}" pid="10" name="LanguageB">
    <vt:lpwstr>2;#English|b169a262-1aaa-4ccb-9acf-78a36c1d9bab</vt:lpwstr>
  </property>
  <property fmtid="{D5CDD505-2E9C-101B-9397-08002B2CF9AE}" pid="11" name="Local Client Services">
    <vt:lpwstr/>
  </property>
  <property fmtid="{D5CDD505-2E9C-101B-9397-08002B2CF9AE}" pid="12" name="MSIP_Label_ea60d57e-af5b-4752-ac57-3e4f28ca11dc_Enabled">
    <vt:lpwstr>true</vt:lpwstr>
  </property>
  <property fmtid="{D5CDD505-2E9C-101B-9397-08002B2CF9AE}" pid="13" name="MSIP_Label_ea60d57e-af5b-4752-ac57-3e4f28ca11dc_SetDate">
    <vt:lpwstr>2021-09-20T06:35:08Z</vt:lpwstr>
  </property>
  <property fmtid="{D5CDD505-2E9C-101B-9397-08002B2CF9AE}" pid="14" name="MSIP_Label_ea60d57e-af5b-4752-ac57-3e4f28ca11dc_Method">
    <vt:lpwstr>Standard</vt:lpwstr>
  </property>
  <property fmtid="{D5CDD505-2E9C-101B-9397-08002B2CF9AE}" pid="15" name="MSIP_Label_ea60d57e-af5b-4752-ac57-3e4f28ca11dc_Name">
    <vt:lpwstr>ea60d57e-af5b-4752-ac57-3e4f28ca11dc</vt:lpwstr>
  </property>
  <property fmtid="{D5CDD505-2E9C-101B-9397-08002B2CF9AE}" pid="16" name="MSIP_Label_ea60d57e-af5b-4752-ac57-3e4f28ca11dc_SiteId">
    <vt:lpwstr>36da45f1-dd2c-4d1f-af13-5abe46b99921</vt:lpwstr>
  </property>
  <property fmtid="{D5CDD505-2E9C-101B-9397-08002B2CF9AE}" pid="17" name="MSIP_Label_ea60d57e-af5b-4752-ac57-3e4f28ca11dc_ActionId">
    <vt:lpwstr>5720a868-5efd-4ec3-aaf1-a573081570eb</vt:lpwstr>
  </property>
  <property fmtid="{D5CDD505-2E9C-101B-9397-08002B2CF9AE}" pid="18" name="MSIP_Label_ea60d57e-af5b-4752-ac57-3e4f28ca11dc_ContentBits">
    <vt:lpwstr>0</vt:lpwstr>
  </property>
</Properties>
</file>